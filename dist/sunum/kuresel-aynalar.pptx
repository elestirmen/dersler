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
Kapak görseli: Köşenin arkasını görmek. Kör virajlardaki trafik aynası tümsektir: görüntüyü küçültür ama çok geniş bir alanı tek bakışa sığdırır. Aynadaki araba ve bisikletli gerçekte göründüklerinden daha yakındır. Küçültme ile geniş görüş aynı sebepten doğar: yüzeyin dışa doğru bükülmüş olması.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kaşığa ve aynalara bak, çukur ile tümseği ayır, odak ile merkezin ne olduğunu kavra. Hesap yok denecek kadar az.
   01 Önce gözlemle: kaşıkta neden baş aşağısın?
   02 Temel kavramlar: çukur ve tümsek ayna
   03 Odak: ışınları toplayan nokta
2. Orta —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
3. İleri — Derinleşme: yan aynadaki uyarının hesabı, küresel aynanın sınırları ve küresel aynaların iş başında olduğu yerler.
   10 Yan aynadaki uyarının hesabı
   11 Modelin sınırları: küresel sapma ve parabolik ayna
   12 Küresel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kaşığa ve aynalara bak, çukur ile tümseği ayır, odak ile merkezin ne olduğunu kavra. Hesap yok denecek kadar az.
01 Önce gözlemle: kaşıkta neden baş aşağısın?
02 Temel kavramlar: çukur ve tümsek ayna
03 Odak: ışınları toplayan nokta
Görsel: Kaşığın çukur yüzü bir küresel ayna gibi davranır. Yüz kaşıktan oldukça uzakta olduğu için görüntü ters ve küçük oluşur: ışınlar yansıdıktan sonra gerçekten kesişir. Kaşığı ters çevirip tümsek yüzüne baksaydın görüntü düz ve yine küçük olurdu; aradaki farkı ikinci basamakta ışın çizerek açıklayacağız.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Kısaca: İçe bükük bir yüzey uzaktaki cismi ters, çok yakındakini düz ve büyük gösterir; dışa bükük bir yüzey ise her şeyi düz ve küçük ama geniş bir alanla gösterir.
Parlak bir çorba kaşığını kolunu uzatarak tut ve iç yüzüne bak. Yüzün küçülmüş ve baş aşağı görünür. Kaşığı yavaşça gözüne yaklaştır: ters görüntü büyür, bir noktadan sonra bulanıklaşıp dağılır. Şimdi kaşığı çevir ve dış yüzüne bak: yüzün düz ve küçüktür, arkandaki odanın neredeyse tamamı da o küçük yüzeye sığmıştır. Kaşığı ne kadar yaklaştırıp uzaklaştırırsan uzaklaştır, dış yüzdeki görüntü hiç ters dönmez.
Görsel: Kaşığın çukur yüzü bir küresel ayna gibi davranır. Yüz kaşıktan oldukça uzakta olduğu için görüntü ters ve küçük oluşur: ışınlar yansıdıktan sonra gerçekten kesişir. Kaşığı ters çevirip tümsek yüzüne baksaydın görüntü düz ve yine küçük olurdu; aradaki farkı ikinci basamakta ışın çizerek açıklayacağız.
Aynı ikilik başka aynalarda da vardır. Banyodaki makyaj ya da tıraş aynasına yakından bakınca yüzün büyük ve düz görünür, odanın öbür ucundan bakınca ters döner. Arabaların yan aynaları ve market köşelerindeki aynalar ise her şeyi düz ve küçük gösterir. Gözlemlerini şöyle toplayabilirsin:
• İçe bükük yüzeye uzaktan bakınca: görüntü ters ve çoğu zaman küçüktür.
• İçe bükük yüzeye çok yakından bakınca: görüntü düz ve büyüktür (makyaj aynası).
• Dışa bükük yüzeyde: görüntü her uzaklıkta düz ve küçüktür, ama çok geniş bir alan görünür.
• Kenarlara doğru: görüntü çarpılır; düz çizgiler eğri görünür.
Düşün: Kaşığın iç yüzünde baş aşağı görünüyorsun. Kaşığı ters çevirip dış yüzüne bakarsan ne değişir?
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Kaşığın iç yüzünde baş aşağı görünüyorsun. Kaşığı ters çevirip dış yüzüne bakarsan ne değişir?
Sınıfa sorun, birkaç tahmin alın; sonra cevap slaytına geçin.
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Kısaca: Küresel ayna bir küre parçasıdır: içi yansıtıcıysa çukur, dışı yansıtıcıysa tümsek. Her noktanın normali merkezden geçer ve odak, tepe ile merkezin tam ortasındadır: f = r/2.
Küresel ayna, bir kürenin parçası biçimindeki aynadır. İç yüzeyi yansıtıcıysa çukur (konkav), dış yüzeyi yansıtıcıysa tümsek (konveks) ayna denir. İçi boş parlak bir top düşün ve ondan bir kapak kes: kapağın içi çukur, dışı tümsek aynadır.
• Tepe noktası (T): aynanın orta noktası.
• Merkez (M): aynanın ait olduğu kürenin merkezi.
• Odak (F): tepe ile merkezin tam ortası.
• Asal eksen: tepe ile merkezden geçen doğru.
• Eğrilik yarıçapı (r): tepe ile merkez arası uzaklık.
f = r / 2
Küresel aynayı çok küçük düzlem ayna parçalarından yapılmış gibi düşünebilirsin. Her parçada yansıma yasası (gelme açısı = yansıma açısı) aynen geçerlidir; yalnızca her parçanın normali farklı yöne bakar. Kürenin yarıçapı yüzeyine her noktada dik olduğu için her noktanın normali merkezden geçer. Eğrilik yarıçapı büyüdükçe ayna düzleşir; r çok büyük olunca küresel ayna düzlem aynaya dönüşür.
Görsel: Küresel ayna, bir kürenin küçük bir parçasıdır. Merkez (M) o kürenin merkezi, tepe (T) aynanın ortası, odak (F) ise ikisinin tam ortasıdır. Asal eksene paralel gelen bütün ışınlar yansıdıktan sonra odaktan geçer — bu yüzden odak, aynanın "toplama noktası"dır. Odak uzaklığı aynanın yarıçapının yarısıdır: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Kısaca: Çukur ayna paralel ışınları gerçek bir odakta toplar, tümsek ayna ise sanal bir odaktan geliyormuş gibi dağıtır. Işığın yolu tersinir olduğu için odaktaki kaynak paralel bir demet verir.
Çukur aynada asal eksene paralel gelen ışınlar yansıdıktan sonra odakta toplanır. Tümsek aynada ise ışınlar dağılır; uzantıları aynanın arkasındaki odakta kesişir. Bu yüzden çukur ayna toplayıcı, tümsek ayna dağıtıcıdır. Uzaktaki bir cisimden, örneğin Güneş'ten gelen ışınlar birbirine paralel sayılır; bu yüzden çukur ayna güneş ışığını odağında küçük, parlak bir lekeye toplar.
Işığın yolu tersinirdir: bir ışın bir yolu izleyebiliyorsa, ters yönde gönderilen ışın aynı yolu geri izler. Paralel ışınlar odakta toplanıyorsa, odağa konan bir ampulün ışınları da yansıdıktan sonra paralel bir demet olur. El fenerleri ve araba farları böyle çalışır.
• Çukur aynada odak gerçektir: ışınlar oradan gerçekten geçer; odağa kâğıt tutarsan ışık lekesi oluşur.
• Tümsek aynada odak sanaldır: ışınlar oradan geçmez, yalnızca oradan geliyormuş gibi dağılır.
• Tersinirlik: odaktan çıkan ışınlar paralel yansır; paralel gelenler odakta toplanır.
Güneş'e tutulan çukur ayna tehlikelidir. Odakta toplanan güneş ışığı kâğıdı tutuşturacak kadar yoğunlaşabilir. Aynanın yansıttığı güneş ışığına ve odaktaki parlak lekeye doğrudan bakma; deney yapacaksan ışığı bir kartona düşür.
Düşün: El fenerinin ampulü odaktan biraz aynaya doğru kaydırılırsa ışık demeti nasıl değişir?
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ampulü odaktan biraz aynaya doğru kaydırılırsa ışık demeti nasıl değişir?
Sınıfa sorun, birkaç tahmin alın; sonra cevap slaytına geçin.
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Kısaca: Paralel gelen ışın odaktan, odaktan gelen paralel, tepeye gelen simetrik, merkezden gelen kendi üzerinden yansır; ikisinin kesiştiği yer görüntüdür. Işınlar kesişirse görüntü gerçek, uzantılar kesişirse sanaldır.
Cismin bir noktasından sayısız ışın çıkar, ama bunlardan bazılarının yansıdıktan sonra nereye gideceğini hesapsız biliriz. Bunlara asal ışınlar denir. Görüntüyü çizmek için ikisi yeter:
• Asal eksene paralel gelen ışın, yansıdıktan sonra odaktan geçer (tümsekte odaktan geliyormuş gibi görünür).
• Odaktan geçerek gelen ışın, yansıdıktan sonra asal eksene paralel gider.
• Tepe noktasına gelen ışın, asal eksene göre simetrik yansır.
• Merkezden geçen ışın, aynaya dik geldiği için kendi üzerinden geri döner.
Görüntü nerede? İki ışının kendisi kesişiyorsa görüntü gerçektir ve perdeye düşürülebilir. Yalnızca uzantıları kesişiyorsa görüntü sanaldır.
Odak neden tam ortada?
• Normal: Eksene paralel bir ışın aynaya A noktasında çarpsın. AM doğrusu yarıçaptır, yani A'daki normaldir.
• Açılar: Gelen ışın normalle i açısı yapar; ışın eksene paralel olduğundan normal de eksenle i açısı yapar.
• İkizkenar üçgen: Yansıyan ışın ekseni F'de kessin. AFM üçgeninin A ve M köşelerindeki açılar i'dir; demek ki FA = FM.
• Sonuç: Işın eksene yakınsa FA ile FT hemen hemen eşittir; F, T ile M'nin tam ortasına düşer: f = r/2.
Görsel: Görüntüyü bulmak için üç ışından ikisi yeter: 1 eksene paralel gelir, yansıyınca odaktan geçer; 2 odaktan geçerek gelir, yansıyınca eksene paralel olur; 3 tepe noktasına gelir, eksene göre simetrik yansır. Üçü de aynı noktada kesişir ve orası görüntünün yeridir. Işınlar gerçekten kesişiyorsa görüntü gerçektir ve perdeye düşer.
Sayfanın 01 numaralı bölümündeki ışın çizimi laboratuvarında ayna türünü, yarıçapı ve cismin yerini değiştirerek asal ışınların görüntüyü nasıl bulduğunu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Kısaca: Çukur aynada cisim odağın dışındayken görüntü gerçek ve terstir, cisim yaklaştıkça uzaklaşır ve büyür. Cisim odaktayken görüntü oluşmaz, odağın içindeyken sanal, düz ve büyüktür.
Asal ışınları cismin farklı konumları için çizersen yalnızca beş farklı sonuç çıkar. Bunları bir tabloda toplamak, çukur ayna sorularının çoğunu çizim yapmadan cevaplamanı sağlar:
Cismin yeri | Görüntünün yeri | Özellikleri
Merkezin ötesinde | odak – merkez arası | gerçek, ters, küçük
Merkezde | merkezde | gerçek, ters, eşit
Merkez – odak arası | merkezin ötesinde | gerçek, ters, büyük
Odakta | sonsuzda | görüntü oluşmaz
Odak ile tepe arası | aynanın arkasında | sanal, düz, büyük
Sıradaki düzen kolay hatırlanır: cisim aynaya yaklaştıkça görüntü uzaklaşır ve büyür. Cisim odağa geldiğinde yansıyan ışınlar paralel olur, görüntü oluşmaz. Tablonun ilk ve üçüncü satırları birbirinin tersidir: cisim merkezin ötesindeyken görüntü odak ile merkez arasına düşüyorsa, cismi o noktaya koyduğunda görüntü eski yerine gider. Bu, ışığın tersinirliğinin sonucudur. Merkez bu yüzden bir simetri noktasıdır.
Görsel: Cismi aynaya yaklaştırdıkça görüntü uzaklaşır ve büyür. Merkezde iken cisimle görüntü aynı yerde ve aynı boydadır — bu, kuralın simetri noktasıdır. Cisim odağa gelince yansıyan ışınlar paralelleşir ve görüntü sonsuza gider. Odağın içine girdiğinde ışınlar artık kesişmez; yalnızca uzantıları kesişir ve görüntü sanal, düz ve büyük olur — makyaj aynasının çalışma bölgesi burasıdır.
Sayfanın 02 numaralı bölümünde “Sırayla göster” düğmesine basarak cismin bu beş konumdan geçişini ve görüntünün nasıl koştuğunu izleyebilirsin.
Düşün: Cisim merkezin çok ötesinden odağa doğru yürürken görüntü nereye gider, boyu nasıl değişir?
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Cisim merkezin çok ötesinden odağa doğru yürürken görüntü nereye gider, boyu nasıl değişir?
Sınıfa sorun, birkaç tahmin alın; sonra cevap slaytına geçin.
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Kısaca: Tümsek aynada odak ve merkez aynanın arkasındadır; yansıyan ışınlar dağıldığı için görüntü her zaman sanal, düz, küçüktür ve tepe ile odak arasında oluşur.
Tümsek aynada odak ve merkez aynanın arkasındadır. Asal ışınlar burada da kullanılır, ama yönleri uzantılarla tanımlanır: eksene paralel gelen ışın, arkadaki odaktan geliyormuş gibi yansır; arkadaki odağa doğru gelen ışın eksene paralel yansır; merkeze doğru gelen ışın kendi üzerinden döner. Yansıyan ışınlar hep dağıldığı için hiçbir zaman kesişmez; yalnızca uzantıları aynanın arkasında kesişir. Cisim nerede olursa olsun görüntü her zaman:
• sanaldır (aynanın arkasında),
• düzdür,
• cisimden küçüktür,
• tepe ile odak arasında oluşur.
Görüntü küçüldüğü için aynı aynaya çok daha geniş bir alan sığar. Market ve otopark aynaları, araç yan aynaları bu yüzden tümsektir. Yan aynalardaki “cisimler göründüğünden daha yakındır” uyarısı da bu küçültmenin sonucudur. Sayfanın 03 numaralı bölümünde tümsek aynanın görüş alanını aynı boydaki düzlem aynanınkiyle karşılaştırabilirsin.
Görsel: Tümsek aynada paralel ışınlar toplanmaz, dağılır; uzantıları aynanın arkasındaki odakta buluşur. Bu yüzden cisim nerede olursa olsun görüntü hep aynı türdedir: sanal, düz ve küçük. Görüntü küçük olduğu için aynaya çok daha geniş bir alan sığar — market ve otopark güvenlik aynalarının tümsek olmasının sebebi budur.
Düşün: Tümsek aynada cismi aynaya iyice yaklaştırırsan görüntü ters döner ya da cisimden büyük olur mu?
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Tümsek aynada cismi aynaya iyice yaklaştırırsan görüntü ters döner ya da cisimden büyük olur mu?
Sınıfa sorun, birkaç tahmin alın; sonra cevap slaytına geçin.
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Kısaca: 1/f = 1/a + 1/b, benzer üçgenlerden çıkar ve çukur, tümsek, gerçek, sanal bütün durumlarda aynıdır. İşaret kuralı sonucu yorumlar: çukurda f &gt; 0, tümsekte f &lt; 0; b &lt; 0 ise görüntü sanaldır.
Çizim görüntünün yerini gösterir, ama tam uzaklığı söylemek için bir denkleme ihtiyaç var. Cismin aynaya uzaklığı a, görüntünün aynaya uzaklığı b, odak uzaklığı f olmak üzere:
1/f = 1/a + 1/b   f = r/2
Denklem nereden geliyor?
• Tepe ışını: Tepeye gelen ışın simetrik yansır; cisim, görüntü ve tepe iki benzer üçgen kurar: h′/h = b/a.
• Paralel ışın: Eksene paralel gelen ışın odaktan geçer; odakta birleşen iki benzer üçgenden h′/h = (b − f)/f.
• Eşitle: b/a = (b − f)/f, yani b·f = a·b − a·f.
• Böl: Her terimi a·b·f'ye bölünce 1/a = 1/f − 1/b, yani 1/f = 1/a + 1/b.
Burada h cismin, h′ görüntünün boyudur ve ayna, eksene yakın ışınlar için tepe noktasında düz bir çizgi gibi alınmıştır. Denklemi sınamanın kolay bir yolu var: cisim merkezdeyse (a = 2f) görüntü de merkezde olmalı. Gerçekten 1/(2f) + 1/(2f) = 1/f çıkar ✓.
İşaret kuralı (bu sayfada kullanılan):
• Çukur ayna: f pozitif. Tümsek ayna: f negatif.
• b pozitif: görüntü aynanın önünde, gerçek.
• b negatif: görüntü aynanın arkasında, sanal.
Görsel: Ayna denklemi bütün durumlar için aynıdır; işini gören şey işaret kuralıdır. Aynanın önünde çıkan her şey pozitiftir ve gerçektir; arkasında çıkan her şey negatiftir ve sanaldır. Hesabın sonunda b negatif çıkıyorsa bu bir hata değildir — görüntünün aynanın arkasında olduğunu, yani sanal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Kısaca: Büyütme görüntü boyunun cisim boyuna oranıdır ve m = |b/a| ile hesaplanır. Gerçek görüntü hep ters, sanal görüntü hep düzdür.
Denklemin türetilmesindeki ilk adım bize bedava bir sonuç daha verdi: görüntü boyunun cisim boyuna oranı, uzaklıkların oranına eşittir. Bu orana büyütme denir:
m = |b / a|   m = boy(görüntü)/boy(cisim)
• m &gt; 1: görüntü cisimden büyük.
• m = 1: eşit (cisim merkezdeyken).
• m &lt; 1: görüntü küçük.
Gerçek görüntüler daima ters, sanal görüntüler daima düzdür. Bu iki cümle, çizim yapmadan da yönü söyler. Sayfanın 01 numaralı bölümü açıldığında gördüğün durum bir örnektir: r = 60 cm, a = 90 cm için b = 45 cm çıkar; m = 45/90 = 0,5 olduğundan 24 cm'lik cismin görüntüsü 12 cm'dir.
İstenen büyütme için cisim nereye?
Gerçek görüntüde b = m·a, sanal görüntüde b = −m·a yazıp denklemde yerine koyarsan cismin konması gereken yeri doğrudan bulursun. Sayfanın 04 numaralı bölümündeki hedef büyütme oyunu bu ipucunu verir:
gerçek: a = f·(m + 1)/m   sanal: a = f·(m − 1)/m
Görsel: Büyütme, görüntü boyunun cisim boyuna oranıdır ve aynı zamanda uzaklıkların oranına eşittir: m = |b/a|. Görüntü aynadan cisimden daha uzaktaysa büyür, daha yakınsa küçülür. m = 1 olan tek durum cismin merkezde olmasıdır. İşaretiyle yazıldığında (m = −b/a) eksi değer ters, artı değer düz görüntü demektir.
Düşün: Gerçek görüntü neden hep ters, sanal görüntü neden hep düzdür?
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Gerçek görüntü neden hep ters, sanal görüntü neden hep düzdür?
Sınıfa sorun, birkaç tahmin alın; sonra cevap slaytına geçin.
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yaklaşırken görüntü nereye kaçar?
Kısaca: Cisim uzaktan odağa yaklaşırken görüntü odaktan sonsuza kaçar ve büyür; odağın içinde sanal olur. Ayna denklemi simetrik olduğu için cisim ile görüntünün yerleri değiştirilebilir.
Beş durum tablosunu gerçek sayılarla dolduralım. Eğrilik yarıçapı 40 cm olan (f = 20 cm) bir çukur aynanın önünde cismi adım adım yaklaştıralım ve her konumda ayna denklemini çözelim:
Cisim (a) | Görüntü (b) | Büyütme | Görüntü
100 cm | 25 cm | 0,25 | gerçek, ters, küçük
40 cm | 40 cm | 1 | gerçek, ters, eşit
25 cm | 100 cm | 4 | gerçek, ters, büyük
20 cm | — | — | oluşmaz (sonsuzda)
10 cm | −20 cm | 2 | sanal, düz, büyük
Tablodan üç düzen okunur. Birincisi, a ile b yer değiştirebilir: 100 cm'deki cisim 25 cm'de, 25 cm'deki cisim 100 cm'de görüntü verir; denklem a ile b'ye göre simetriktir. İkincisi, odağın yakınında görüntü uçup gider: cisim 25 cm'den 22 cm'ye gelince görüntü 100 cm'den 220 cm'ye, 21 cm'ye gelince 420 cm'ye fırlar ve büyütme 20 kata çıkar. Üçüncüsü, işaretin değiştiği tek yer odaktır: odağın içinde b negatif, görüntü sanaldır.
Düşün: f = 20 cm için a = 30 cm'de b = 60 cm çıkıyor. Cisim 60 cm'ye konursa görüntü nerede oluşur?
Cevap: 30 cm'de, hesap yapmadan. Ayna denklemi a ile b'ye göre simetrik olduğu için ikisi yer değiştirebilir. Kontrol: 1/b = 1/20 − 1/60 = 2/60, b = 30 cm ✓. Bu kez büyütme 0,5'tir: görüntü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yan aynadaki uyarının hesabı, küresel aynanın sınırları ve küresel aynaların iş başında olduğu yerler.
10 Yan aynadaki uyarının hesabı
11 Modelin sınırları: küresel sapma ve parabolik ayna
12 Küresel aynalar gerçek dünyada
Görsel: Güneşi bir noktaya toplamak.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Kısaca: Tümsek yan ayna uzaktaki arabanın görüntüsünü çok küçültür; beyin boydan uzaklık tahmin ettiği için arabayı olduğundan uzak sanır. Geniş görüş alanı bu yanılgıya değer.
Yan aynalardaki “cisimler göründüğünden daha yakındır” yazısını sayılarla sınayalım. Eğrilik yarıçapı 2 m olan (f = −1 m) bir tümsek ayna düşün ve arkadan gelen bir arabanın farklı uzaklıklardaki görüntüsünü ayna denklemiyle bulalım:
Araba (a) | Görüntü (b) | Büyütme
5 m | −0,83 m | 0,17
10 m | −0,91 m | 0,091
20 m | −0,95 m | 0,048
40 m | −0,98 m | 0,024
Görüntü hep aynanın 1 m gerisindeki odak ile tepe arasında kalır; araba uzaklaştıkça yalnızca odağa biraz yaklaşır. Büyütme ise hızla küçülür. Sürücünün gözü aynadan 1 m uzaktaysa, 20 m gerideki arabanın görüntüsü gözüne, düzlem aynada 40 m gerideki bir arabanın görüneceği kadar küçük görünür. Beyin uzaklığı büyük ölçüde görünen boydan tahmin ettiği için arabayı olduğundan yaklaşık iki kat uzakta sanar. Uyarı yazısı tam olarak bu yanılgı içindir.
Bedeli bilinerek ödenir: aynı boydaki düzlem ayna yalnızca dar bir şeridi gösterirken tümsek ayna yan şeridi, kör noktaya yakın bölgeyi ve kaldırımı birlikte gösterir. Güvenlik için geniş görüş, küçük görüntüden daha değerlidir.
Düşün: Yan aynalar tümsek olduğu hâlde arabanın iç dikiz aynası neden genellikle düzdür?
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Yan aynalar tümsek olduğu hâlde arabanın iç dikiz aynası neden genellikle düzdür?
Sınıfa sorun, birkaç tahmin alın; sonra cevap slaytına geçin.
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Kısaca: Ayna denklemi eksene yakın ışınlar için geçerlidir; kenardan gelen ışınlar aynaya daha yakın kesişir ve odak bulanıklaşır (küresel sapma). Parabolik aynalar bütün paralel ışınları tek noktada toplar.
f = r/2 ve ayna denklemi, asal eksene yakın ışınlar için doğrudur. Odak türetmesinin son adımında FA ile FT'yi eşit saymıştık; bu yalnızca ışın eksene yakınken geçerlidir. Eksenden uzak gelen ışınlar ekseni aynaya daha yakın bir noktada keser. Eğrilik yarıçapı 60 cm (f = 30 cm) olan bir çukur aynada, eksene paralel gelen ışınların ekseni kestiği noktanın tepeye uzaklığı:
Işının eksenden yüksekliği | Ekseni kestiği yer (T'den)
3 cm | 29,96 cm
15 cm | 29,02 cm
30 cm | 25,36 cm
45 cm | 14,64 cm
Eksene yakın ışınlar neredeyse tam 30 cm'de buluşurken kenardan gelenler çok daha önde kesişir. Sonuçta odak bir nokta değil, bulanık bir leke olur. Bu kusura küresel sapma denir. Çözüm, aynayı küre yerine paraboloit biçiminde yapmaktır: parabolik ayna eksene paralel gelen bütün ışınları, eksenden ne kadar uzak olursa olsun, tek bir noktada toplar. Küçük ve sığ aynalarda küre ile parabol neredeyse aynıdır; fark büyük ve derin aynalarda önem kazanır.
Hubble'ın gözlüğü: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
Düşün: Çukur aynanın kenarlarını kartonla kapatıp yalnızca ortasını açık bırakırsan odaktaki leke nasıl değişir?
Cevap: Leke daha keskin olur, çünkü odaktan en çok sapan kenar ışınları kesilmiştir. Buna karşılık ayna daha az ışık toplar ve odağa ulaşan toplam ışık azalır. Keskinlik ile toplanan ışık arasındaki bu takas optik aletlerin tasarımında hep karşına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Kısaca: Çukur aynalar ışığı toplar (teleskop, güneş fırını) ya da odaktaki kaynağı paralel demete çevirir (far); tümsek aynalar geniş görüş için kullanılır (yan ayna, güvenlik aynası).
Çukur ve tümsek aynanın bütün kullanım alanları, bu konudaki üç fikre dayanır: odak içindeki cismin büyütülmüş sanal görüntüsü, odaktaki kaynağın paralel demeti ve tümsek aynanın geniş görüşü.
Görsel: Aynı iki ayna türü, üç farklı işi aynı geometriyle yapar. Odak içine konan cisim çukur aynada büyütülmüş sanal görüntü verir — diş hekimi ve makyaj aynası. Odağa konan kaynak ise ışığı paralel bir demet hâline getirir — el feneri ve araba farı. Tümsek ayna geniş bir alanı küçülterek tek bakışa sığdırır — güvenlik ve yan aynalar. Bu yüzden yan aynada "cisimler göründüğünden daha yakındır" yazar.
Görsel: Güneşi bir noktaya toplamak.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
• Çukur ayna: diş hekimi aynası, makyaj aynası, el feneri ve far yansıtıcısı, teleskop, güneş fırını.
• Tümsek ayna: araç yan aynası, market ve otopark güvenlik aynası, ATM aynaları.
• Güneş'in görüntüsü: Güneş gökte yaklaşık 0,53° genişliktedir; odak uzaklığı 5 m olan bir çanak onun yaklaşık 4,6 cm çapında gerçek bir görüntüsünü oluşturur.
• Teleskoplar: Newton 1668'de ilk kullanışlı yansıtmalı teleskoplardan birini yaptı. Hubble'ın aynası 2,4 m, James Webb'inki 18 altıgen parçadan oluşan 6,5 m'lik bir aynadır.
• Güneş fırınları: dev parabolik aynalar ışığı öyle yoğunlaştırır ki odakta 3000 °C'yi aşan sıcaklıklara ulaşılabilir.
• Uydu çanakları: radyo dalgalarını da ayna gibi yansıtır ve odaktaki alıcıda toplar.
El fenerinde ampul odağa yerleştirilir: odaktan çıkan ışınlar yansıdıktan sonra asal eksene paralel gider ve ışık uzağa taşınır. Güneş fırını bunun tersidir: paralel gelen güneş ışınları odakta toplanır. Teleskopta ise çukur ayna uzaktaki bir yıldızın zayıf ışığını geniş bir yüzeyden toplayıp odakta birleştirir; ayna ne kadar büyükse o kadar sönük cisimler görülebilir.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Merkezdeki cisim (kolay)
Aşağıdaki çözümlerde işaret kuralı sayfadaki gibidir: çukur aynada f &gt; 0, tümsek aynada f &lt; 0; b &gt; 0 gerçek, b &lt; 0 sanal görüntü demektir.
Eğrilik yarıçapı 40 cm olan çukur aynanın 40 cm önüne bir cisim konuyor. Görüntünün yeri, türü ve boyu nedir?
1. f = r/2 = 40/2 = 20 cm; cisim 2f = 40 cm'de, yani merkezde.
2. 1/20 = 1/40 + 1/b → 1/b = 1/20 − 1/40 = 1/40 → b = 40 cm
3. m = 40/40 = 1: görüntü gerçek, ters ve cisimle eşit boyda.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Çizmeden tanı (kolay)
Aşağıdaki çözümlerde işaret kuralı sayfadaki gibidir: çukur aynada f &gt; 0, tümsek aynada f &lt; 0; b &gt; 0 gerçek, b &lt; 0 sanal görüntü demektir.
Odak uzaklığı 15 cm olan çukur aynanın önüne bir cisim sırayla 50 cm, 22 cm ve 8 cm uzaklığa konuyor. Her durumda görüntünün türünü denklem çözmeden söyleyiniz.
1. Sınırlar: f = 15 cm, merkez 2f = 30 cm.
2. 50 cm &gt; 30 cm (merkezin ötesi) → gerçek, ters, küçük
3. 15 cm &lt; 22 cm &lt; 30 cm (merkez–odak arası) → gerçek, ters, büyük
4. 8 cm &lt; 15 cm (odağın içi) → sanal, düz, büyük
5. Kontrol: denklem sırasıyla b ≈ 21,4 cm, 47,1 cm ve −17,1 cm verir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Çukur aynada gerçek görüntü (orta)
Aşağıdaki çözümlerde işaret kuralı sayfadaki gibidir: çukur aynada f &gt; 0, tümsek aynada f &lt; 0; b &gt; 0 gerçek, b &lt; 0 sanal görüntü demektir.
Eğrilik yarıçapı 60 cm olan çukur aynanın önüne, 45 cm uzaklığa bir cisim konuyor. Görüntünün yerini ve büyütmesini bulunuz.
1. f = r/2 = 60/2 = 30 cm
2. 1/30 = 1/45 + 1/b → 1/b = 1/30 − 1/45 = (3 − 2)/90 = 1/90
3. b = 90 cm (pozitif → gerçek görüntü, aynanın önünde)
4. m = |b/a| = 90/45 = 2 kat; görüntü ters ve iki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Odağın içinde: büyüteç etkisi (orta)
Aşağıdaki çözümlerde işaret kuralı sayfadaki gibidir: çukur aynada f &gt; 0, tümsek aynada f &lt; 0; b &gt; 0 gerçek, b &lt; 0 sanal görüntü demektir.
Odak uzaklığı 20 cm olan çukur aynanın önüne 10 cm uzaklığa bir cisim konuyor. Görüntü nerede oluşur?
1. 1/20 = 1/10 + 1/b → 1/b = 1/20 − 1/10 = −1/20
2. b = −20 cm: eksi işaret görüntünün aynanın arkasında olduğunu gösterir, yani sanal.
3. m = |−20/10| = 2 kat, görüntü düz ve büyüktür.
4. Makyaj ve tıraş aynaları tam olarak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Tümsek ayna (orta)
Aşağıdaki çözümlerde işaret kuralı sayfadaki gibidir: çukur aynada f &gt; 0, tümsek aynada f &lt; 0; b &gt; 0 gerçek, b &lt; 0 sanal görüntü demektir.
Eğrilik yarıçapı 40 cm olan tümsek aynanın 60 cm önünde bir cisim vardır. Görüntünün yeri ve büyütmesi nedir?
1. Tümsek aynada f = −r/2 = −20 cm
2. 1/(−20) = 1/60 + 1/b → 1/b = −1/20 − 1/60 = (−3 − 1)/60 = −4/60
3. b = −15 cm → sanal, aynanın arkasında
4. m = |−15/60| = 0,25; görüntü düz ve dörtte bir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İstenen büyütmeyi sağlamak (zor)
Aşağıdaki çözümlerde işaret kuralı sayfadaki gibidir: çukur aynada f &gt; 0, tümsek aynada f &lt; 0; b &gt; 0 gerçek, b &lt; 0 sanal görüntü demektir.
Odak uzaklığı 15 cm olan çukur aynada, cismin 3 katı büyüklükte gerçek bir görüntü isteniyor. Cisim aynadan kaç cm uzağa konmalıdır?
1. Gerçek görüntüde b = m·a = 3a
2. 1/15 = 1/a + 1/(3a) = (3 + 1)/(3a) = 4/(3a)
3. 3a = 60 → a = 20 cm
4. Kontrol: b = 60 cm, m = 60/20 = 3 ✓ (a, f ile 2f arasında olduğu için görüntü gerçek, ters ve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Makyaj aynası tasarlamak (zor)
Aşağıdaki çözümlerde işaret kuralı sayfadaki gibidir: çukur aynada f &gt; 0, tümsek aynada f &lt; 0; b &gt; 0 gerçek, b &lt; 0 sanal görüntü demektir.
Yüzünü aynadan 15 cm uzakta tutan biri, yüzünün 3 kat büyük ve düz görüntüsünü görmek istiyor. Çukur aynanın eğrilik yarıçapı ne olmalıdır?
1. Düz ve büyük görüntü sanaldır: b = −m·a = −3 · 15 = −45 cm
2. 1/f = 1/15 + 1/(−45) = (3 − 1)/45 = 2/45
3. f = 45/2 = 22,5 cm → r = 2f = 45 cm
4. Kontrol: a = 15 cm &lt; f = 22,5 cm, yani yüz odağın içinde ✓. Sanal formülüyle de a = f·(m − 1)/m = 22,5 · 2/3 = 15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Perdeye düşen görüntü (zor)
Aşağıdaki çözümlerde işaret kuralı sayfadaki gibidir: çukur aynada f &gt; 0, tümsek aynada f &lt; 0; b &gt; 0 gerçek, b &lt; 0 sanal görüntü demektir.
Çukur bir aynanın önündeki mumun 2 kat büyük görüntüsü, aynaya mumdan 30 cm daha uzak olan bir perdede net olarak oluşuyor. Aynanın odak uzaklığı kaç cm'dir?
1. Görüntü perdeye düştüğüne göre gerçektir: b = 2a
2. Perde mumdan 30 cm uzakta: b − a = 30 → 2a − a = 30 → a = 30 cm, b = 60 cm
3. 1/f = 1/30 + 1/60 = (2 + 1)/60 = 3/60 → f = 20 cm
4. Kontrol: a = 30 cm, f = 20 ile 2f = 40 cm arasında; görüntü gerçek, ters ve büyük olmalı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 = r sanmak. Odak uzaklığı yarıçapın yarısıdır.
• Tümsek aynada gerçek görüntü aramak. Tümsek aynada görüntü her zaman sanal, düz ve küçüktür.
• Tümsek aynada f'yi pozitif yazmak. Tümsek aynanın odağı arkadadır: f = −r/2 alınmazsa sonuç yanlış çıkar.
• Çukur aynanın her zaman ters görüntü verdiğini sanmak. Cisim odağın içindeyse görüntü sanal,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Sanal görüntü perdede oluşmaz; yalnızca aynaya bakarak görülür.
• İşaretleri karıştırmak. b'nin negatif çıkması hata değildir; görüntünün aynanın arkasında olduğunu söyler.
• Cisim odaktayken görüntü “odakta oluşur” demek. Yansıyan ışınlar paralel olur; görüntü sonsuzdadır, yani oluşmaz.
• Büyütmeyi boy farkı sanmak. Büyütme bir orandır: görüntü boyunun cisim boyuna bölümü.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Odak f = r / 2 · Denklem 1/f = 1/a + 1/b · Büyütme |b / a| · Tümsekte hep sanal
f = r / 2 — odak uzaklığı
1/f = 1/a + 1/b — ayna denklemi
m = |b / a| — büyütme
b &lt; 0 → sanal — aynanın arkasında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kuresel-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Küresel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Çukur ayna ışığı bir noktada toplar, tümsek ayna dağıtır. Görüntünün nerede oluşacağını, ne kadar büyük ve hangi yönde olacağını üç asal ışın ya da tek bir denklem söyler: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Bir kaşık seni neden baş aşağı gösterir de ters çevirince düzeltir?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Kaşığın iç yüzüne bakınca başın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ters</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dış yüzüne bakınca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düz ve küçük</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görünür.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Aynı metal, aynı ışık — değişen tek şey yüzeyin hangi yöne büküldüğü.</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Küresel aynalar düzlem aynadan tek bir noktada ayrılır: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paralel gelen ışınları bir noktada toplarlar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(ya da tek bir noktadan geliyormuş gibi dağıtırlar).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Odak dediğimiz o nokta, bu konunun tamamının anahtarıdır.</a:t>
            </a:r>
            <a:endParaRPr lang="en-US" sz="21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kaşıkta neden baş aşağısın?</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kavramlar: çukur ve tümsek ayna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Odak: ışınları toplayan nokta</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Asal ışınlar ve görüntü çizimi</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Çukur aynada beş durum</a:t>
            </a:r>
            <a:endParaRPr lang="en-US" sz="110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Tümsek ayna: her zaman düz ve küçük</a:t>
            </a:r>
            <a:endParaRPr lang="en-US" sz="105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Ayna denklemi ve işaret kuralı</a:t>
            </a:r>
            <a:endParaRPr lang="en-US" sz="10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Büyütme</a:t>
            </a:r>
            <a:endParaRPr lang="en-US" sz="12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cisim yaklaşırken görüntü nereye kaçar?</a:t>
            </a:r>
            <a:endParaRPr lang="en-US" sz="10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Yan aynadaki uyarının hesabı</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Modelin sınırları: küresel sapma ve parabolik ayna</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Küresel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kaşıkta neden baş aşağısın?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Temel kavramlar: çukur ve tümsek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Odak: ışınları toplayan nokta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kuresel-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Kaşığın çukur 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küresel ayna gibi davranır. Yüz kaşıktan oldukça uzakta olduğu için görüntü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ve küçük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oluşur: ışınlar yansıdıktan sonra gerçekten kesişir. Kaşığı ters çevirip tümsek yüzüne baksaydın görüntü düz ve yine küçük olurdu; aradaki farkı ikinci basamakta ışın çizerek açıklayacağız.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İçe bükük bir yüzey uzaktaki cismi ters, çok yakındakini düz ve büyük gösterir; dışa bükük bir yüzey ise her şeyi düz ve küçük ama geniş bir alanla gösterir.</a:t>
            </a:r>
            <a:endParaRPr lang="en-US" sz="1900" dirty="0"/>
          </a:p>
        </p:txBody>
      </p:sp>
      <p:sp>
        <p:nvSpPr>
          <p:cNvPr id="9" name="Text 7"/>
          <p:cNvSpPr txBox="1"/>
          <p:nvPr/>
        </p:nvSpPr>
        <p:spPr>
          <a:xfrm>
            <a:off x="640080" y="2294534"/>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 bükük yüzeye uzaktan bakınca: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ters ve çoğu zaman küçüktür.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 bükük yüzeye çok yakından bakınca: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düz ve büyüktür (makyaj aynası).</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Dışa bükük yüzeyde: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her uzaklıkta düz ve küçüktür, ama çok geniş bir alan görünür.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Kenarlara doğru:</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çarpılır; düz çizgiler eğri görünür.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Kaşığın iç yüzünde baş aşağı görünüyorsun. Kaşığı ters çevirip dış yüzüne bakarsan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kaşıkta neden baş aşağısın?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Kaşığın iç yüzünde baş aşağı görünüyorsun. Kaşığı ters çevirip dış yüzüne bakarsan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Görüntü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düzelir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Küresel ayna bir küre parçasıdır: içi yansıtıcıysa çukur, dışı yansıtıcıysa tümsek. Her noktanın normali merkezden geçer ve odak, tepe ile merkezin tam ortasındadır: f = r/2.</a:t>
            </a:r>
            <a:endParaRPr lang="en-US" sz="1850" dirty="0"/>
          </a:p>
        </p:txBody>
      </p:sp>
      <p:sp>
        <p:nvSpPr>
          <p:cNvPr id="9" name="Text 7"/>
          <p:cNvSpPr txBox="1"/>
          <p:nvPr/>
        </p:nvSpPr>
        <p:spPr>
          <a:xfrm>
            <a:off x="640080" y="2593238"/>
            <a:ext cx="5486400" cy="20025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Tepe noktası (T):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orta noktası.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Merkez (M):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ait olduğu kürenin merkezi.</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Odak (F):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merkezin tam ortası.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merkezden geçen doğru.</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Eğrilik yarıçapı (r):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 arası uzaklık.</a:t>
            </a:r>
            <a:endParaRPr lang="en-US" sz="1600" dirty="0"/>
          </a:p>
        </p:txBody>
      </p:sp>
      <p:sp>
        <p:nvSpPr>
          <p:cNvPr id="10" name="Shape 8"/>
          <p:cNvSpPr/>
          <p:nvPr/>
        </p:nvSpPr>
        <p:spPr>
          <a:xfrm>
            <a:off x="640080" y="4705502"/>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705502"/>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 / 2</a:t>
            </a:r>
            <a:endParaRPr lang="en-US" sz="1300" dirty="0"/>
          </a:p>
        </p:txBody>
      </p:sp>
      <p:sp>
        <p:nvSpPr>
          <p:cNvPr id="12" name="Shape 10"/>
          <p:cNvSpPr/>
          <p:nvPr/>
        </p:nvSpPr>
        <p:spPr>
          <a:xfrm>
            <a:off x="6419088" y="2593238"/>
            <a:ext cx="5132527" cy="3528591"/>
          </a:xfrm>
          <a:prstGeom prst="roundRect">
            <a:avLst>
              <a:gd name="adj" fmla="val 41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kuresel-aynalar-01.png">    </p:cNvPr>
          <p:cNvPicPr>
            <a:picLocks noChangeAspect="1"/>
          </p:cNvPicPr>
          <p:nvPr/>
        </p:nvPicPr>
        <p:blipFill>
          <a:blip r:embed="rId1"/>
          <a:stretch>
            <a:fillRect/>
          </a:stretch>
        </p:blipFill>
        <p:spPr>
          <a:xfrm>
            <a:off x="6601968" y="2776118"/>
            <a:ext cx="4766767" cy="2065551"/>
          </a:xfrm>
          <a:prstGeom prst="rect">
            <a:avLst/>
          </a:prstGeom>
        </p:spPr>
      </p:pic>
      <p:sp>
        <p:nvSpPr>
          <p:cNvPr id="14" name="Shape 11"/>
          <p:cNvSpPr/>
          <p:nvPr/>
        </p:nvSpPr>
        <p:spPr>
          <a:xfrm>
            <a:off x="6601968" y="4933110"/>
            <a:ext cx="4766767" cy="0"/>
          </a:xfrm>
          <a:prstGeom prst="line">
            <a:avLst/>
          </a:prstGeom>
          <a:noFill/>
          <a:ln w="9525">
            <a:solidFill>
              <a:srgbClr val="E1E5EE"/>
            </a:solidFill>
            <a:prstDash val="dash"/>
          </a:ln>
        </p:spPr>
      </p:sp>
      <p:sp>
        <p:nvSpPr>
          <p:cNvPr id="15" name="Text 12"/>
          <p:cNvSpPr txBox="1"/>
          <p:nvPr/>
        </p:nvSpPr>
        <p:spPr>
          <a:xfrm>
            <a:off x="6601968" y="498797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Küresel ayna, bir kürenin küçük bir parçasıdır.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Merkez (M)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kürenin merkezi,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ortası,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ikisinin tam ortasıdır. Asal eksene paralel gelen bütün ışınlar yansıdıktan sonra odaktan geçer — bu yüzden odak, aynanın "toplama noktası"dır. Odak uzaklığı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yarıçapının yarısıdır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 = r/2.</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 paralel ışınları gerçek bir odakta toplar, tümsek ayna ise sanal bir odaktan geliyormuş gibi dağıtır. Işığın yolu tersinir olduğu için odaktaki kaynak paralel bir demet verir.</a:t>
            </a:r>
            <a:endParaRPr lang="en-US" sz="1850" dirty="0"/>
          </a:p>
        </p:txBody>
      </p:sp>
      <p:sp>
        <p:nvSpPr>
          <p:cNvPr id="9" name="Text 7"/>
          <p:cNvSpPr txBox="1"/>
          <p:nvPr/>
        </p:nvSpPr>
        <p:spPr>
          <a:xfrm>
            <a:off x="640080" y="2593238"/>
            <a:ext cx="10911535" cy="13837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Çukur aynada odak gerçektir: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ışınlar oradan gerçekten geçer; odağa kâğıt tutarsan ışık lekesi oluşur.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Tümsek aynada odak sanaldır: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ışınlar oradan geçmez, yalnızca oradan geliyormuş gibi dağılır.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odaktan çıkan ışınlar paralel yansır; paralel gelenler odakta toplanır.</a:t>
            </a:r>
            <a:endParaRPr lang="en-US" sz="1700" dirty="0"/>
          </a:p>
        </p:txBody>
      </p:sp>
      <p:sp>
        <p:nvSpPr>
          <p:cNvPr id="10" name="Shape 8"/>
          <p:cNvSpPr/>
          <p:nvPr/>
        </p:nvSpPr>
        <p:spPr>
          <a:xfrm>
            <a:off x="640080" y="4086758"/>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233062"/>
            <a:ext cx="45720" cy="950976"/>
          </a:xfrm>
          <a:prstGeom prst="rect">
            <a:avLst/>
          </a:prstGeom>
          <a:solidFill>
            <a:srgbClr val="A56209"/>
          </a:solidFill>
          <a:ln/>
        </p:spPr>
      </p:sp>
      <p:sp>
        <p:nvSpPr>
          <p:cNvPr id="12" name="Text 10"/>
          <p:cNvSpPr txBox="1"/>
          <p:nvPr/>
        </p:nvSpPr>
        <p:spPr>
          <a:xfrm>
            <a:off x="914400" y="4196486"/>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Güneş'e tutulan çukur ayna tehlikelidir.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Odakta toplanan güneş ışığı kâğıdı tutuşturacak kadar yoğunlaşabilir. Aynanın yansıttığı güneş ışığına ve odaktaki parlak lekeye doğrudan bakma; deney yapacaksan ışığı bir kartona düşür.</a:t>
            </a:r>
            <a:endParaRPr lang="en-US" sz="16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ampulü odaktan biraz aynaya doğru kaydırılırsa ışık demeti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Odak: ışınları toplayan nokta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ampulü odaktan biraz aynaya doğru kaydırılırsa ışık demeti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Yansıyan ışınlar artık paralel olmaz,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dağılır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Demet geniş bir alanı aydınlatır ama uzağa ulaşan ışık azalır. Ayarlanabilir fenerler ampul ile yansıtıcı arasındaki uzaklığı değiştirerek dar ya da geniş demet elde eder.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Asal ışınlar ve görüntü çizimi</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Çukur aynada beş durum</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Tümsek ayna: her zaman düz ve küçük</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Ayna denklemi ve işaret kuralı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Büyütme</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cisim yaklaşırken görüntü nereye kaçar?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r / 2</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8" name="Text 16"/>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4" name="Text 22"/>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gelen ışın odaktan, odaktan gelen paralel, tepeye gelen simetrik, merkezden gelen kendi üzerinden yansır; ikisinin kesiştiği yer görüntüdür. Işınlar kesişirse görüntü gerçek, uzantılar kesişirse sanaldır.</a:t>
            </a:r>
            <a:endParaRPr lang="en-US" sz="1850" dirty="0"/>
          </a:p>
        </p:txBody>
      </p:sp>
      <p:sp>
        <p:nvSpPr>
          <p:cNvPr id="9" name="Text 7"/>
          <p:cNvSpPr txBox="1"/>
          <p:nvPr/>
        </p:nvSpPr>
        <p:spPr>
          <a:xfrm>
            <a:off x="640080" y="2593238"/>
            <a:ext cx="6675120"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yansıdıktan sonra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geçer (tümsekte odaktan geliyormuş gibi görünür).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yansıdıktan sonra asal eksene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gider.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noktasına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asal eksene göre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simetrik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Merkezden geçen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aynaya dik geldiği için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kendi üzerinden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geri döner.</a:t>
            </a:r>
            <a:endParaRPr lang="en-US" sz="1300" dirty="0"/>
          </a:p>
        </p:txBody>
      </p:sp>
      <p:sp>
        <p:nvSpPr>
          <p:cNvPr id="10" name="Shape 8"/>
          <p:cNvSpPr/>
          <p:nvPr/>
        </p:nvSpPr>
        <p:spPr>
          <a:xfrm>
            <a:off x="7607808" y="2593238"/>
            <a:ext cx="3943807" cy="3401717"/>
          </a:xfrm>
          <a:prstGeom prst="roundRect">
            <a:avLst>
              <a:gd name="adj" fmla="val 43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uresel-aynalar-02.png">    </p:cNvPr>
          <p:cNvPicPr>
            <a:picLocks noChangeAspect="1"/>
          </p:cNvPicPr>
          <p:nvPr/>
        </p:nvPicPr>
        <p:blipFill>
          <a:blip r:embed="rId1"/>
          <a:stretch>
            <a:fillRect/>
          </a:stretch>
        </p:blipFill>
        <p:spPr>
          <a:xfrm>
            <a:off x="7790688" y="2776118"/>
            <a:ext cx="3578047" cy="1580233"/>
          </a:xfrm>
          <a:prstGeom prst="rect">
            <a:avLst/>
          </a:prstGeom>
        </p:spPr>
      </p:pic>
      <p:sp>
        <p:nvSpPr>
          <p:cNvPr id="12" name="Shape 9"/>
          <p:cNvSpPr/>
          <p:nvPr/>
        </p:nvSpPr>
        <p:spPr>
          <a:xfrm>
            <a:off x="7790688" y="4447791"/>
            <a:ext cx="3578047" cy="0"/>
          </a:xfrm>
          <a:prstGeom prst="line">
            <a:avLst/>
          </a:prstGeom>
          <a:noFill/>
          <a:ln w="9525">
            <a:solidFill>
              <a:srgbClr val="E1E5EE"/>
            </a:solidFill>
            <a:prstDash val="dash"/>
          </a:ln>
        </p:spPr>
      </p:sp>
      <p:sp>
        <p:nvSpPr>
          <p:cNvPr id="13" name="Text 10"/>
          <p:cNvSpPr txBox="1"/>
          <p:nvPr/>
        </p:nvSpPr>
        <p:spPr>
          <a:xfrm>
            <a:off x="7790688" y="4502655"/>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bulmak için üç ışından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ikisi yeter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1</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eksene paralel gelir, yansıyınca odaktan geçer;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odaktan geçerek gelir, yansıyınca eksene paralel olur;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tepe noktasına gelir, eksene göre simetrik yansır. Üçü de aynı noktada kesişir ve orası görüntünün yeridir. Işınlar gerçekten kesişiyorsa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gerçektir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perdeye düşer.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530352"/>
          </a:xfrm>
          <a:prstGeom prst="rect">
            <a:avLst/>
          </a:prstGeom>
          <a:solidFill>
            <a:srgbClr val="3C8C21"/>
          </a:solidFill>
          <a:ln/>
        </p:spPr>
      </p:sp>
      <p:sp>
        <p:nvSpPr>
          <p:cNvPr id="8" name="Text 6"/>
          <p:cNvSpPr txBox="1"/>
          <p:nvPr/>
        </p:nvSpPr>
        <p:spPr>
          <a:xfrm>
            <a:off x="914400" y="1591056"/>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Görüntü nerede?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İki ışının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kendisi</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kesişiyorsa görüntü gerçektir ve perdeye düşürülebilir. Yalnızca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uzantıları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kesişiyorsa görüntü sanaldır.</a:t>
            </a:r>
            <a:endParaRPr lang="en-US" sz="1200" dirty="0"/>
          </a:p>
        </p:txBody>
      </p:sp>
      <p:sp>
        <p:nvSpPr>
          <p:cNvPr id="9" name="Text 7"/>
          <p:cNvSpPr txBox="1"/>
          <p:nvPr/>
        </p:nvSpPr>
        <p:spPr>
          <a:xfrm>
            <a:off x="640080" y="2450592"/>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Odak neden tam ortada?</a:t>
            </a:r>
            <a:endParaRPr lang="en-US" sz="1350" dirty="0"/>
          </a:p>
        </p:txBody>
      </p:sp>
      <p:sp>
        <p:nvSpPr>
          <p:cNvPr id="10" name="Text 8"/>
          <p:cNvSpPr txBox="1"/>
          <p:nvPr/>
        </p:nvSpPr>
        <p:spPr>
          <a:xfrm>
            <a:off x="640080" y="2761488"/>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Eksene paralel bir ışın aynaya A noktasında çarpsın. AM doğrusu yarıçaptır, yani A'daki normaldir.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normalle i açısı yapar; ışın eksene paralel olduğundan normal de eksenle i açısı yapar.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İkizkenar üçgen: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Yansıyan ışın ekseni F'de kessin. AFM üçgeninin A ve M köşelerindeki açılar i'dir; demek ki FA = FM.</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Işın eksene yakınsa FA ile FT hemen hemen eşittir; F, T ile M'nin tam ortasına düşer: f = r/2.</a:t>
            </a:r>
            <a:endParaRPr lang="en-US" sz="13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aynada cisim odağın dışındayken görüntü gerçek ve terstir, cisim yaklaştıkça uzaklaşır ve büyür. Cisim odaktayken görüntü oluşmaz, odağın içindeyken sanal, düz ve büyüktür.</a:t>
            </a:r>
            <a:endParaRPr lang="en-US" sz="1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1828800"/>
                <a:gridCol w="1828800"/>
                <a:gridCol w="18288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Cismin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Görüntünün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Özellikleri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odak – merkez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 – odak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görüntü oluşmaz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 ile tepe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uresel-aynalar-03.png">    </p:cNvPr>
          <p:cNvPicPr>
            <a:picLocks noChangeAspect="1"/>
          </p:cNvPicPr>
          <p:nvPr/>
        </p:nvPicPr>
        <p:blipFill>
          <a:blip r:embed="rId1"/>
          <a:stretch>
            <a:fillRect/>
          </a:stretch>
        </p:blipFill>
        <p:spPr>
          <a:xfrm>
            <a:off x="7253125" y="2776118"/>
            <a:ext cx="3464453" cy="1890979"/>
          </a:xfrm>
          <a:prstGeom prst="rect">
            <a:avLst/>
          </a:prstGeom>
        </p:spPr>
      </p:pic>
      <p:sp>
        <p:nvSpPr>
          <p:cNvPr id="12" name="Shape 8"/>
          <p:cNvSpPr/>
          <p:nvPr/>
        </p:nvSpPr>
        <p:spPr>
          <a:xfrm>
            <a:off x="6601968" y="4758538"/>
            <a:ext cx="4766767" cy="0"/>
          </a:xfrm>
          <a:prstGeom prst="line">
            <a:avLst/>
          </a:prstGeom>
          <a:noFill/>
          <a:ln w="9525">
            <a:solidFill>
              <a:srgbClr val="E1E5EE"/>
            </a:solidFill>
            <a:prstDash val="dash"/>
          </a:ln>
        </p:spPr>
      </p:sp>
      <p:sp>
        <p:nvSpPr>
          <p:cNvPr id="13" name="Text 9"/>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 aynaya yaklaştırdıkça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uzaklaşır ve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Merkezde iken cisimle görüntü aynı yerde ve aynı boydadır — bu, kuralın simetri noktasıdır. Cisim odağa gelince yansıyan ışınlar paralelleşir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 gider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Odağın içine girdiğinde ışınlar artık kesişmez; yalnızca uzantıları kesişir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büyük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 makyaj aynasının çalışma bölgesi burasıdır.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Cisim merkezin çok ötesinden odağa doğru yürürken görüntü nereye gider, boyu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Çukur aynada beş durum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Cisim merkezin çok ötesinden odağa doğru yürürken görüntü nereye gider, boyu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Görüntü odağın hemen yanından yola çıkar, aynadan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uzaklaşarak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merkezi geçer ve cisim odağa varınca sonsuza kaçar. Bu sırada boyu küçükten eşite, eşitten büyüğe doğru artar. Görüntü baştan sona gerçek ve terstir.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Tümsek aynada odak ve merkez aynanın arkasındadır; yansıyan ışınlar dağıldığı için görüntü her zaman sanal, düz, küçüktür ve tepe ile odak arasında oluşur.</a:t>
            </a:r>
            <a:endParaRPr lang="en-US" sz="1900" dirty="0"/>
          </a:p>
        </p:txBody>
      </p:sp>
      <p:sp>
        <p:nvSpPr>
          <p:cNvPr id="9" name="Text 7"/>
          <p:cNvSpPr txBox="1"/>
          <p:nvPr/>
        </p:nvSpPr>
        <p:spPr>
          <a:xfrm>
            <a:off x="640080" y="2294534"/>
            <a:ext cx="5486400" cy="13776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arkasında),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cisimden küçüktür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tepe ile odak arasında oluşur.</a:t>
            </a:r>
            <a:endParaRPr lang="en-US" sz="1600" dirty="0"/>
          </a:p>
        </p:txBody>
      </p:sp>
      <p:sp>
        <p:nvSpPr>
          <p:cNvPr id="10" name="Shape 8"/>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uresel-aynalar-04.png">    </p:cNvPr>
          <p:cNvPicPr>
            <a:picLocks noChangeAspect="1"/>
          </p:cNvPicPr>
          <p:nvPr/>
        </p:nvPicPr>
        <p:blipFill>
          <a:blip r:embed="rId1"/>
          <a:stretch>
            <a:fillRect/>
          </a:stretch>
        </p:blipFill>
        <p:spPr>
          <a:xfrm>
            <a:off x="6601968" y="2477414"/>
            <a:ext cx="4766767" cy="2025876"/>
          </a:xfrm>
          <a:prstGeom prst="rect">
            <a:avLst/>
          </a:prstGeom>
        </p:spPr>
      </p:pic>
      <p:sp>
        <p:nvSpPr>
          <p:cNvPr id="12" name="Shape 9"/>
          <p:cNvSpPr/>
          <p:nvPr/>
        </p:nvSpPr>
        <p:spPr>
          <a:xfrm>
            <a:off x="6601968" y="4594730"/>
            <a:ext cx="4766767" cy="0"/>
          </a:xfrm>
          <a:prstGeom prst="line">
            <a:avLst/>
          </a:prstGeom>
          <a:noFill/>
          <a:ln w="9525">
            <a:solidFill>
              <a:srgbClr val="E1E5EE"/>
            </a:solidFill>
            <a:prstDash val="dash"/>
          </a:ln>
        </p:spPr>
      </p:sp>
      <p:sp>
        <p:nvSpPr>
          <p:cNvPr id="13" name="Text 10"/>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Tümsek aynada paralel ışınlar toplanmaz,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uzantıları aynanın arkasındaki odakta buluşur. Bu yüzden cisim nerede olursa olsun görüntü hep aynı türdedir: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küçük olduğu için aynaya çok daha geniş bir alan sığar — market ve otopark güvenlik aynalarının tümsek olmasının sebebi budur.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Tümsek aynada cismi aynaya iyice yaklaştırırsan görüntü ters döner ya da cisimden büyük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Tümsek ayna: her zaman düz ve küçük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Tümsek aynada cismi aynaya iyice yaklaştırırsan görüntü ters döner ya da cisimden büyük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Görüntü yaklaştıkça büyür ve boyu cismin boyuna yaklaşır, ama hiçbir zaman onu geçmez; hep sanal ve düz kalır. Tümsek ayna ışınları her durumda dağıttığı için gerçek, ters ya da büyütülmüş bir görüntü veremez.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1/f = 1/a + 1/b, benzer üçgenlerden çıkar ve çukur, tümsek, gerçek, sanal bütün durumlarda aynıdır. İşaret kuralı sonucu yorumlar: çukurda f &gt; 0, tümsekte f &lt; 0; b &lt; 0 ise görüntü sanaldır.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1/f = 1/a + 1/b</a:t>
            </a:r>
            <a:endParaRPr lang="en-US" sz="1300" dirty="0"/>
          </a:p>
        </p:txBody>
      </p:sp>
      <p:sp>
        <p:nvSpPr>
          <p:cNvPr id="11" name="Shape 9"/>
          <p:cNvSpPr/>
          <p:nvPr/>
        </p:nvSpPr>
        <p:spPr>
          <a:xfrm>
            <a:off x="2688336" y="2593238"/>
            <a:ext cx="1148486"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593238"/>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r/2</a:t>
            </a:r>
            <a:endParaRPr lang="en-US" sz="1300" dirty="0"/>
          </a:p>
        </p:txBody>
      </p:sp>
      <p:sp>
        <p:nvSpPr>
          <p:cNvPr id="13" name="Text 11"/>
          <p:cNvSpPr txBox="1"/>
          <p:nvPr/>
        </p:nvSpPr>
        <p:spPr>
          <a:xfrm>
            <a:off x="640080" y="3251606"/>
            <a:ext cx="7223760" cy="274320"/>
          </a:xfrm>
          <a:prstGeom prst="rect">
            <a:avLst/>
          </a:prstGeom>
          <a:noFill/>
          <a:ln/>
        </p:spPr>
        <p:txBody>
          <a:bodyPr wrap="square" lIns="0" tIns="0" rIns="0" bIns="0" rtlCol="0" anchor="ctr"/>
          <a:lstStyle/>
          <a:p>
            <a:pPr indent="0" marL="0">
              <a:buNone/>
            </a:pPr>
            <a:r>
              <a:rPr lang="en-US" sz="1250" b="1" dirty="0">
                <a:solidFill>
                  <a:srgbClr val="2957D4"/>
                </a:solidFill>
                <a:latin typeface="Calibri" pitchFamily="34" charset="0"/>
                <a:ea typeface="Calibri" pitchFamily="34" charset="-122"/>
                <a:cs typeface="Calibri" pitchFamily="34" charset="-120"/>
              </a:rPr>
              <a:t>Denklem nereden geliyor?</a:t>
            </a:r>
            <a:endParaRPr lang="en-US" sz="1250" dirty="0"/>
          </a:p>
        </p:txBody>
      </p:sp>
      <p:sp>
        <p:nvSpPr>
          <p:cNvPr id="14" name="Text 12"/>
          <p:cNvSpPr txBox="1"/>
          <p:nvPr/>
        </p:nvSpPr>
        <p:spPr>
          <a:xfrm>
            <a:off x="640080" y="3562502"/>
            <a:ext cx="7223760" cy="151790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Tepe ışını: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Tepeye gelen ışın simetrik yansır; cisim, görüntü ve tepe iki benzer üçgen kurar: h′/h = b/a.</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Paralel ışın:</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Eksene paralel gelen ışın odaktan geçer; odakta birleşen iki benzer üçgenden h′/h = (b − f)/f.</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b/a = (b − f)/f, yani b·f = a·b − a·f.</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Her terimi a·b·f'ye bölünce 1/a = 1/f − 1/b, yani 1/f = 1/a + 1/b.</a:t>
            </a:r>
            <a:endParaRPr lang="en-US" sz="1200" dirty="0"/>
          </a:p>
        </p:txBody>
      </p:sp>
      <p:sp>
        <p:nvSpPr>
          <p:cNvPr id="15" name="Text 13"/>
          <p:cNvSpPr txBox="1"/>
          <p:nvPr/>
        </p:nvSpPr>
        <p:spPr>
          <a:xfrm>
            <a:off x="640080" y="5190134"/>
            <a:ext cx="7223760" cy="8229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pozitif.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negatif.</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görüntü aynanın önünde,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görüntü aynanın arkasında,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8156448" y="2593238"/>
            <a:ext cx="3395167" cy="3033248"/>
          </a:xfrm>
          <a:prstGeom prst="roundRect">
            <a:avLst>
              <a:gd name="adj" fmla="val 48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kuresel-aynalar-05.png">    </p:cNvPr>
          <p:cNvPicPr>
            <a:picLocks noChangeAspect="1"/>
          </p:cNvPicPr>
          <p:nvPr/>
        </p:nvPicPr>
        <p:blipFill>
          <a:blip r:embed="rId1"/>
          <a:stretch>
            <a:fillRect/>
          </a:stretch>
        </p:blipFill>
        <p:spPr>
          <a:xfrm>
            <a:off x="8339328" y="2776118"/>
            <a:ext cx="3029407" cy="1211763"/>
          </a:xfrm>
          <a:prstGeom prst="rect">
            <a:avLst/>
          </a:prstGeom>
        </p:spPr>
      </p:pic>
      <p:sp>
        <p:nvSpPr>
          <p:cNvPr id="18" name="Shape 15"/>
          <p:cNvSpPr/>
          <p:nvPr/>
        </p:nvSpPr>
        <p:spPr>
          <a:xfrm>
            <a:off x="8339328" y="4079321"/>
            <a:ext cx="3029407" cy="0"/>
          </a:xfrm>
          <a:prstGeom prst="line">
            <a:avLst/>
          </a:prstGeom>
          <a:noFill/>
          <a:ln w="9525">
            <a:solidFill>
              <a:srgbClr val="E1E5EE"/>
            </a:solidFill>
            <a:prstDash val="dash"/>
          </a:ln>
        </p:spPr>
      </p:sp>
      <p:sp>
        <p:nvSpPr>
          <p:cNvPr id="19" name="Text 16"/>
          <p:cNvSpPr txBox="1"/>
          <p:nvPr/>
        </p:nvSpPr>
        <p:spPr>
          <a:xfrm>
            <a:off x="8339328" y="4134185"/>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Ayna denklemi bütün durumlar için aynıdır; işini gören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işaret kuralıdır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önünde çıkan her şey pozitiftir ve gerçektir; arkasında çıkan her şey negatiftir ve sanaldır. Hesabın sonunda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 negatif çıkıyorsa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bir hata değildir — görüntünün aynanın arkasında olduğunu, yani sanal olduğunu söyler.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Büyütme görüntü boyunun cisim boyuna oranıdır ve m = |b/a| ile hesaplanır. Gerçek görüntü hep ters, sanal görüntü hep düzdür.</a:t>
            </a:r>
            <a:endParaRPr lang="en-US" sz="1900" dirty="0"/>
          </a:p>
        </p:txBody>
      </p:sp>
      <p:sp>
        <p:nvSpPr>
          <p:cNvPr id="9" name="Shape 7"/>
          <p:cNvSpPr/>
          <p:nvPr/>
        </p:nvSpPr>
        <p:spPr>
          <a:xfrm>
            <a:off x="640080" y="2294534"/>
            <a:ext cx="154350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 / a|</a:t>
            </a:r>
            <a:endParaRPr lang="en-US" sz="1300" dirty="0"/>
          </a:p>
        </p:txBody>
      </p:sp>
      <p:sp>
        <p:nvSpPr>
          <p:cNvPr id="11" name="Shape 9"/>
          <p:cNvSpPr/>
          <p:nvPr/>
        </p:nvSpPr>
        <p:spPr>
          <a:xfrm>
            <a:off x="2293315" y="2294534"/>
            <a:ext cx="312359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293315" y="2294534"/>
            <a:ext cx="312359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boy(görüntü)/boy(cisim)</a:t>
            </a:r>
            <a:endParaRPr lang="en-US" sz="1300" dirty="0"/>
          </a:p>
        </p:txBody>
      </p:sp>
      <p:sp>
        <p:nvSpPr>
          <p:cNvPr id="13" name="Text 11"/>
          <p:cNvSpPr txBox="1"/>
          <p:nvPr/>
        </p:nvSpPr>
        <p:spPr>
          <a:xfrm>
            <a:off x="640080" y="2916326"/>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&gt;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cisimden büyük.</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eşit (cisim merkezdeyken).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&lt;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küçük.</a:t>
            </a:r>
            <a:endParaRPr lang="en-US" sz="1600" dirty="0"/>
          </a:p>
        </p:txBody>
      </p:sp>
      <p:sp>
        <p:nvSpPr>
          <p:cNvPr id="14" name="Text 12"/>
          <p:cNvSpPr txBox="1"/>
          <p:nvPr/>
        </p:nvSpPr>
        <p:spPr>
          <a:xfrm>
            <a:off x="640080" y="4095902"/>
            <a:ext cx="5486400" cy="274320"/>
          </a:xfrm>
          <a:prstGeom prst="rect">
            <a:avLst/>
          </a:prstGeom>
          <a:noFill/>
          <a:ln/>
        </p:spPr>
        <p:txBody>
          <a:bodyPr wrap="square" lIns="0" tIns="0" rIns="0" bIns="0" rtlCol="0" anchor="ctr"/>
          <a:lstStyle/>
          <a:p>
            <a:pPr indent="0" marL="0">
              <a:buNone/>
            </a:pPr>
            <a:r>
              <a:rPr lang="en-US" sz="1650" b="1" dirty="0">
                <a:solidFill>
                  <a:srgbClr val="2957D4"/>
                </a:solidFill>
                <a:latin typeface="Calibri" pitchFamily="34" charset="0"/>
                <a:ea typeface="Calibri" pitchFamily="34" charset="-122"/>
                <a:cs typeface="Calibri" pitchFamily="34" charset="-120"/>
              </a:rPr>
              <a:t>İstenen büyütme için cisim nereye?</a:t>
            </a:r>
            <a:endParaRPr lang="en-US" sz="1650" dirty="0"/>
          </a:p>
        </p:txBody>
      </p:sp>
      <p:sp>
        <p:nvSpPr>
          <p:cNvPr id="15" name="Shape 13"/>
          <p:cNvSpPr/>
          <p:nvPr/>
        </p:nvSpPr>
        <p:spPr>
          <a:xfrm>
            <a:off x="640080" y="4406798"/>
            <a:ext cx="2728570"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440679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gerçek: a = f·(m + 1)/m</a:t>
            </a:r>
            <a:endParaRPr lang="en-US" sz="1300" dirty="0"/>
          </a:p>
        </p:txBody>
      </p:sp>
      <p:sp>
        <p:nvSpPr>
          <p:cNvPr id="17" name="Shape 15"/>
          <p:cNvSpPr/>
          <p:nvPr/>
        </p:nvSpPr>
        <p:spPr>
          <a:xfrm>
            <a:off x="3478378" y="4406798"/>
            <a:ext cx="2629814"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3478378" y="440679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sanal: a = f·(m − 1)/m</a:t>
            </a:r>
            <a:endParaRPr lang="en-US" sz="1300" dirty="0"/>
          </a:p>
        </p:txBody>
      </p:sp>
      <p:sp>
        <p:nvSpPr>
          <p:cNvPr id="19" name="Shape 17"/>
          <p:cNvSpPr/>
          <p:nvPr/>
        </p:nvSpPr>
        <p:spPr>
          <a:xfrm>
            <a:off x="6419088" y="2294534"/>
            <a:ext cx="5132527" cy="3310162"/>
          </a:xfrm>
          <a:prstGeom prst="roundRect">
            <a:avLst>
              <a:gd name="adj" fmla="val 44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kuresel-aynalar-06.png">    </p:cNvPr>
          <p:cNvPicPr>
            <a:picLocks noChangeAspect="1"/>
          </p:cNvPicPr>
          <p:nvPr/>
        </p:nvPicPr>
        <p:blipFill>
          <a:blip r:embed="rId1"/>
          <a:stretch>
            <a:fillRect/>
          </a:stretch>
        </p:blipFill>
        <p:spPr>
          <a:xfrm>
            <a:off x="6601968" y="2477414"/>
            <a:ext cx="4766767" cy="1847122"/>
          </a:xfrm>
          <a:prstGeom prst="rect">
            <a:avLst/>
          </a:prstGeom>
        </p:spPr>
      </p:pic>
      <p:sp>
        <p:nvSpPr>
          <p:cNvPr id="21" name="Shape 18"/>
          <p:cNvSpPr/>
          <p:nvPr/>
        </p:nvSpPr>
        <p:spPr>
          <a:xfrm>
            <a:off x="6601968" y="4415977"/>
            <a:ext cx="4766767" cy="0"/>
          </a:xfrm>
          <a:prstGeom prst="line">
            <a:avLst/>
          </a:prstGeom>
          <a:noFill/>
          <a:ln w="9525">
            <a:solidFill>
              <a:srgbClr val="E1E5EE"/>
            </a:solidFill>
            <a:prstDash val="dash"/>
          </a:ln>
        </p:spPr>
      </p:sp>
      <p:sp>
        <p:nvSpPr>
          <p:cNvPr id="22" name="Text 19"/>
          <p:cNvSpPr txBox="1"/>
          <p:nvPr/>
        </p:nvSpPr>
        <p:spPr>
          <a:xfrm>
            <a:off x="6601968" y="447084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Büyütme, görüntü boyunun cisim boyuna oranıdır ve aynı zamanda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uzaklıkların oranına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eşittir: m = |b/a|. Görüntü aynadan cisimden daha uzaktaysa büyür, daha yakınsa küçülür. m = 1 olan tek durum cismin merkezde olmasıdır. İşaretiyle yazıldığında (m = −b/a) eksi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artı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demektir.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Gerçek görüntü neden hep ters, sanal görüntü neden hep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Büyütme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Gerçek görüntü neden hep ters, sanal görüntü neden hep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Gerçek görüntüde cismin tepesinden çıkan ışınlar yansıdıktan sonra asal ekseni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keserek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öbür tarafta buluşur; bu yüzden tepe aşağıya düşer. Sanal görüntüde ise yansıyan ışınların uzantıları aynanın arkasında, ekseni kesmeden buluşur; tepe yukarıda kalır.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Cisim uzaktan odağa yaklaşırken görüntü odaktan sonsuza kaçar ve büyür; odağın içinde sanal olur. Ayna denklemi simetrik olduğu için cisim ile görüntünün yerleri değiştirilebilir.</a:t>
            </a:r>
            <a:endParaRPr lang="en-US" sz="1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134866"/>
                <a:gridCol w="2609280"/>
                <a:gridCol w="1660451"/>
                <a:gridCol w="450693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 (a)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(b)</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Büyütme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oluşmaz (sonsuzda)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Yan aynadaki uyarının hesabı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küresel sapma ve parabolik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Küresel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kuresel-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Güneşi bir noktaya toplamak.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5F4BD8"/>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Tümsek yan ayna uzaktaki arabanın görüntüsünü çok küçültür; beyin boydan uzaklık tahmin ettiği için arabayı olduğundan uzak sanır. Geniş görüş alanı bu yanılgıya değer.</a:t>
            </a:r>
            <a:endParaRPr lang="en-US" sz="1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277466"/>
          <a:ext cx="10911535" cy="914400"/>
        </p:xfrm>
        <a:graphic>
          <a:graphicData uri="http://schemas.openxmlformats.org/drawingml/2006/table">
            <a:tbl>
              <a:tblPr/>
              <a:tblGrid>
                <a:gridCol w="3637178"/>
                <a:gridCol w="4445440"/>
                <a:gridCol w="282891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Araba (a)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(b)</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Büyütme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0,091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−0,98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Yan aynalar tümsek olduğu hâlde arabanın iç dikiz aynası neden genellikle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Yan aynadaki uyarının hesabı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Yan aynalar tümsek olduğu hâlde arabanın iç dikiz aynası neden genellikle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Ayna denklemi eksene yakın ışınlar için geçerlidir; kenardan gelen ışınlar aynaya daha yakın kesişir ve odak bulanıklaşır (küresel sapma). Parabolik aynalar bütün paralel ışınları tek noktada toplar.</a:t>
            </a:r>
            <a:endParaRPr lang="en-US" sz="18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5455768"/>
                <a:gridCol w="545576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Işının eksenden yüksekliği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Ekseni kestiği yer (T'den)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29,96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29,02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25,36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14,64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4412894"/>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59198"/>
            <a:ext cx="45720" cy="950976"/>
          </a:xfrm>
          <a:prstGeom prst="rect">
            <a:avLst/>
          </a:prstGeom>
          <a:solidFill>
            <a:srgbClr val="3C8C21"/>
          </a:solidFill>
          <a:ln/>
        </p:spPr>
      </p:sp>
      <p:sp>
        <p:nvSpPr>
          <p:cNvPr id="12" name="Text 9"/>
          <p:cNvSpPr txBox="1"/>
          <p:nvPr/>
        </p:nvSpPr>
        <p:spPr>
          <a:xfrm>
            <a:off x="914400" y="4522622"/>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Hubble'ın gözlüğü:</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aynalar ışığı toplar (teleskop, güneş fırını) ya da odaktaki kaynağı paralel demete çevirir (far); tümsek aynalar geniş görüş için kullanılır (yan ayna, güvenlik aynası).</a:t>
            </a:r>
            <a:endParaRPr lang="en-US" sz="1850" dirty="0"/>
          </a:p>
        </p:txBody>
      </p:sp>
      <p:sp>
        <p:nvSpPr>
          <p:cNvPr id="9" name="Text 7"/>
          <p:cNvSpPr txBox="1"/>
          <p:nvPr/>
        </p:nvSpPr>
        <p:spPr>
          <a:xfrm>
            <a:off x="640080" y="2593238"/>
            <a:ext cx="6949440" cy="301294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diş hekimi aynası, makyaj aynası, el feneri ve far yansıtıcısı, teleskop, güneş fırını.</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araç yan aynası, market ve otopark güvenlik aynası, ATM aynaları.</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Güneş'in görüntüsü:</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Güneş gökte yaklaşık 0,53° genişliktedir; odak uzaklığı 5 m olan bir çanak onun yaklaşık 4,6 cm çapında gerçek bir görüntüsünü oluşturur.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Teleskoplar: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Newton 1668'de ilk kullanışlı yansıtmalı teleskoplardan birini yaptı. Hubble'ın aynası 2,4 m, James Webb'inki 18 altıgen parçadan oluşan 6,5 m'lik bir aynadır.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Güneş fırınları:</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dev parabolik aynalar ışığı öyle yoğunlaştırır ki odakta 3000 °C'yi aşan sıcaklıklara ulaşılabilir.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Uydu çanakları:</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radyo dalgalarını da ayna gibi yansıtır ve odaktaki alıcıda toplar.</a:t>
            </a:r>
            <a:endParaRPr lang="en-US" sz="1250" dirty="0"/>
          </a:p>
        </p:txBody>
      </p:sp>
      <p:sp>
        <p:nvSpPr>
          <p:cNvPr id="10" name="Shape 8"/>
          <p:cNvSpPr/>
          <p:nvPr/>
        </p:nvSpPr>
        <p:spPr>
          <a:xfrm>
            <a:off x="7882128" y="2593238"/>
            <a:ext cx="3669487" cy="3584014"/>
          </a:xfrm>
          <a:prstGeom prst="roundRect">
            <a:avLst>
              <a:gd name="adj" fmla="val 40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uresel-aynalar-07.png">    </p:cNvPr>
          <p:cNvPicPr>
            <a:picLocks noChangeAspect="1"/>
          </p:cNvPicPr>
          <p:nvPr/>
        </p:nvPicPr>
        <p:blipFill>
          <a:blip r:embed="rId1"/>
          <a:stretch>
            <a:fillRect/>
          </a:stretch>
        </p:blipFill>
        <p:spPr>
          <a:xfrm>
            <a:off x="8065008" y="2776118"/>
            <a:ext cx="3303727" cy="1404084"/>
          </a:xfrm>
          <a:prstGeom prst="rect">
            <a:avLst/>
          </a:prstGeom>
        </p:spPr>
      </p:pic>
      <p:sp>
        <p:nvSpPr>
          <p:cNvPr id="12" name="Shape 9"/>
          <p:cNvSpPr/>
          <p:nvPr/>
        </p:nvSpPr>
        <p:spPr>
          <a:xfrm>
            <a:off x="8065008" y="4271642"/>
            <a:ext cx="3303727" cy="0"/>
          </a:xfrm>
          <a:prstGeom prst="line">
            <a:avLst/>
          </a:prstGeom>
          <a:noFill/>
          <a:ln w="9525">
            <a:solidFill>
              <a:srgbClr val="E1E5EE"/>
            </a:solidFill>
            <a:prstDash val="dash"/>
          </a:ln>
        </p:spPr>
      </p:sp>
      <p:sp>
        <p:nvSpPr>
          <p:cNvPr id="13" name="Text 10"/>
          <p:cNvSpPr txBox="1"/>
          <p:nvPr/>
        </p:nvSpPr>
        <p:spPr>
          <a:xfrm>
            <a:off x="8065008" y="4326506"/>
            <a:ext cx="3303727" cy="166786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iki ayna türü, üç farklı işi aynı geometriyle yapar.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içine konan cisim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çukur aynada büyütülmüş sanal görüntü verir — diş hekimi ve makyaj aynası.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Odağa konan kaynak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ışığı paralel bir demet hâline getirir — el feneri ve araba farı.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Tümsek ayna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alanı küçülterek tek bakışa sığdırır — güvenlik ve yan aynalar. Bu yüzden yan aynada "cisimler göründüğünden daha yakındır" yazar.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Merkezdeki cisim</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Çizmeden tanı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Çukur aynada gerçek görüntü</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Odağın içinde: büyüteç etkisi</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Tümsek ayna</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İstenen büyütmeyi sağlamak</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Makyaj aynası tasarlamak</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Perdeye düşen görüntü</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Merkezdeki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40 cm olan çukur aynanın 40 cm önüne bir cisim konuyor. Görüntünün yeri, türü ve boyu nedir?</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r/2 = 40/2 = 20 cm; cisim 2f = 40 cm'de,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merkezde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1/40 + 1/b → 1/b = 1/20 − 1/40 = 1/40 → 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cm</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40/40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gerçek, ters ve cisimle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eşit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boyda.</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Çizmeden tanı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çukur aynanın önüne bir cisim sırayla 50 cm, 22 cm ve 8 cm uzaklığa konuyor. Her durumda görüntünün türünü denklem çözmeden söyleyiniz.</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Sınırlar: f = 15 cm, merkez 2f = 30 cm.</a:t>
            </a:r>
            <a:endParaRPr lang="en-US" sz="1600" dirty="0"/>
          </a:p>
        </p:txBody>
      </p:sp>
      <p:sp>
        <p:nvSpPr>
          <p:cNvPr id="15" name="Shape 13"/>
          <p:cNvSpPr/>
          <p:nvPr/>
        </p:nvSpPr>
        <p:spPr>
          <a:xfrm>
            <a:off x="5212080" y="2388018"/>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46620"/>
            <a:ext cx="384048" cy="384048"/>
          </a:xfrm>
          <a:prstGeom prst="roundRect">
            <a:avLst>
              <a:gd name="adj" fmla="val 26000"/>
            </a:avLst>
          </a:prstGeom>
          <a:solidFill>
            <a:srgbClr val="A56209"/>
          </a:solidFill>
          <a:ln/>
        </p:spPr>
      </p:sp>
      <p:sp>
        <p:nvSpPr>
          <p:cNvPr id="17" name="Text 15"/>
          <p:cNvSpPr txBox="1"/>
          <p:nvPr/>
        </p:nvSpPr>
        <p:spPr>
          <a:xfrm>
            <a:off x="5449824" y="264662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50 cm &gt; 30 cm (merkezin ötesi)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gerçek, ters, küçük</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15 cm &lt; 22 cm &lt; 30 cm (merkez–odak arası)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gerçek, ters, büyük</a:t>
            </a:r>
            <a:endParaRPr lang="en-US" sz="1600" dirty="0"/>
          </a:p>
        </p:txBody>
      </p:sp>
      <p:sp>
        <p:nvSpPr>
          <p:cNvPr id="23" name="Shape 21"/>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98147"/>
            <a:ext cx="384048" cy="384048"/>
          </a:xfrm>
          <a:prstGeom prst="roundRect">
            <a:avLst>
              <a:gd name="adj" fmla="val 26000"/>
            </a:avLst>
          </a:prstGeom>
          <a:solidFill>
            <a:srgbClr val="A56209"/>
          </a:solidFill>
          <a:ln/>
        </p:spPr>
      </p:sp>
      <p:sp>
        <p:nvSpPr>
          <p:cNvPr id="25" name="Text 23"/>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8 cm &lt; 15 cm (odağın içi)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 düz, büyük</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denklem sırasıyla b ≈ 21,4 cm, 47,1 cm ve −17,1 cm verir ✓</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60 cm olan çukur aynanın önüne, 45 cm uzaklığa bir cisim konuyor. Görüntünün yerini ve büyütmesini bulunuz.</a:t>
            </a:r>
            <a:endParaRPr lang="en-US" sz="1600" dirty="0"/>
          </a:p>
        </p:txBody>
      </p:sp>
      <p:sp>
        <p:nvSpPr>
          <p:cNvPr id="11" name="Shape 9"/>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13017"/>
            <a:ext cx="384048" cy="384048"/>
          </a:xfrm>
          <a:prstGeom prst="roundRect">
            <a:avLst>
              <a:gd name="adj" fmla="val 26000"/>
            </a:avLst>
          </a:prstGeom>
          <a:solidFill>
            <a:srgbClr val="A56209"/>
          </a:solidFill>
          <a:ln/>
        </p:spPr>
      </p:sp>
      <p:sp>
        <p:nvSpPr>
          <p:cNvPr id="13" name="Text 11"/>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r/2 = 60/2 = 30 cm</a:t>
            </a:r>
            <a:endParaRPr lang="en-US" sz="1600" dirty="0"/>
          </a:p>
        </p:txBody>
      </p:sp>
      <p:sp>
        <p:nvSpPr>
          <p:cNvPr id="15" name="Shape 13"/>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90631"/>
            <a:ext cx="384048" cy="384048"/>
          </a:xfrm>
          <a:prstGeom prst="roundRect">
            <a:avLst>
              <a:gd name="adj" fmla="val 26000"/>
            </a:avLst>
          </a:prstGeom>
          <a:solidFill>
            <a:srgbClr val="A56209"/>
          </a:solidFill>
          <a:ln/>
        </p:spPr>
      </p:sp>
      <p:sp>
        <p:nvSpPr>
          <p:cNvPr id="17" name="Text 15"/>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1/30 = 1/45 + 1/b → 1/b = 1/30 − 1/45 = (3 − 2)/90 = 1/90</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(pozitif → gerçek görüntü, aynanın önünde)</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|b/a| = 90/45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ters ve iki kat büyüktür.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20 cm olan çukur aynanın önüne 10 cm uzaklığa bir cisim konuyor. Görüntü nerede oluşur?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1/10 + 1/b → 1/b = 1/20 − 1/10 = −1/20</a:t>
            </a:r>
            <a:endParaRPr lang="en-US" sz="1600" dirty="0"/>
          </a:p>
        </p:txBody>
      </p:sp>
      <p:sp>
        <p:nvSpPr>
          <p:cNvPr id="15" name="Shape 13"/>
          <p:cNvSpPr/>
          <p:nvPr/>
        </p:nvSpPr>
        <p:spPr>
          <a:xfrm>
            <a:off x="5212080" y="268677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64606"/>
            <a:ext cx="384048" cy="384048"/>
          </a:xfrm>
          <a:prstGeom prst="roundRect">
            <a:avLst>
              <a:gd name="adj" fmla="val 26000"/>
            </a:avLst>
          </a:prstGeom>
          <a:solidFill>
            <a:srgbClr val="A56209"/>
          </a:solidFill>
          <a:ln/>
        </p:spPr>
      </p:sp>
      <p:sp>
        <p:nvSpPr>
          <p:cNvPr id="17" name="Text 15"/>
          <p:cNvSpPr txBox="1"/>
          <p:nvPr/>
        </p:nvSpPr>
        <p:spPr>
          <a:xfrm>
            <a:off x="5449824" y="31646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eksi işaret görüntünün aynanın arkasında olduğunu gösterir,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|−20/10|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büyüktür.</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Makyaj ve tıraş aynaları tam olarak böyle çalışır.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40 cm olan tümsek aynanın 60 cm önünde bir cisim vardır. Görüntünün yeri ve büyütmesi nedir?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Tümsek aynada f = −r/2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1/60 + 1/b → 1/b = −1/20 − 1/60 = (−3 − 1)/60 = −4/60</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sanal, aynanın arkasında</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|−15/60|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dörtte bir boyunda.</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çukur aynada, cismin 3 katı büyüklükte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gerçek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bir görüntü isteniyor. Cisim aynadan kaç cm uzağa konmalıdır?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Gerçek görüntüde b = m·a = 3a</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1/15 = 1/a + 1/(3a) = (3 + 1)/(3a) = 4/(3a)</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3a = 60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b = 60 cm, m = 60/20 = 3 ✓ (a, f ile 2f arasında olduğu için görüntü gerçek, ters ve büyük.)</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Makyaj aynası tasarlamak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Yüzünü aynadan 15 cm uzakta tutan biri, yüzünün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3 kat büyük ve düz</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görüntüsünü görmek istiyor. Çukur aynanın eğrilik yarıçapı ne olmalıdır?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Düz ve büyük görüntü sanaldır: b = −m·a = −3 · 15 = −45 cm</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1/f = 1/15 + 1/(−45) = (3 − 1)/45 = 2/45</a:t>
            </a:r>
            <a:endParaRPr lang="en-US" sz="1600" dirty="0"/>
          </a:p>
        </p:txBody>
      </p:sp>
      <p:sp>
        <p:nvSpPr>
          <p:cNvPr id="19" name="Shape 17"/>
          <p:cNvSpPr/>
          <p:nvPr/>
        </p:nvSpPr>
        <p:spPr>
          <a:xfrm>
            <a:off x="5212080" y="378286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68245"/>
            <a:ext cx="384048" cy="384048"/>
          </a:xfrm>
          <a:prstGeom prst="roundRect">
            <a:avLst>
              <a:gd name="adj" fmla="val 26000"/>
            </a:avLst>
          </a:prstGeom>
          <a:solidFill>
            <a:srgbClr val="A56209"/>
          </a:solidFill>
          <a:ln/>
        </p:spPr>
      </p:sp>
      <p:sp>
        <p:nvSpPr>
          <p:cNvPr id="21" name="Text 19"/>
          <p:cNvSpPr txBox="1"/>
          <p:nvPr/>
        </p:nvSpPr>
        <p:spPr>
          <a:xfrm>
            <a:off x="5449824" y="39682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45/2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22,5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r = 2f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cm</a:t>
            </a:r>
            <a:endParaRPr lang="en-US" sz="1600" dirty="0"/>
          </a:p>
        </p:txBody>
      </p:sp>
      <p:sp>
        <p:nvSpPr>
          <p:cNvPr id="23" name="Shape 21"/>
          <p:cNvSpPr/>
          <p:nvPr/>
        </p:nvSpPr>
        <p:spPr>
          <a:xfrm>
            <a:off x="5212080" y="468398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22351"/>
            <a:ext cx="384048" cy="384048"/>
          </a:xfrm>
          <a:prstGeom prst="roundRect">
            <a:avLst>
              <a:gd name="adj" fmla="val 26000"/>
            </a:avLst>
          </a:prstGeom>
          <a:solidFill>
            <a:srgbClr val="A56209"/>
          </a:solidFill>
          <a:ln/>
        </p:spPr>
      </p:sp>
      <p:sp>
        <p:nvSpPr>
          <p:cNvPr id="25" name="Text 23"/>
          <p:cNvSpPr txBox="1"/>
          <p:nvPr/>
        </p:nvSpPr>
        <p:spPr>
          <a:xfrm>
            <a:off x="5449824" y="52223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738846"/>
            <a:ext cx="5379415" cy="135105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a = 15 cm &lt; f = 22,5 cm, yani yüz odağın içinde ✓. Sanal formülüyle de a = f·(m − 1)/m = 22,5 · 2/3 = 15 cm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Perdeye düşen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Çukur bir aynanın önündeki mumun 2 kat büyük görüntüsü, aynaya mumdan 30 cm daha uzak olan bir perdede net olarak oluşuyor. Aynanın odak uzaklığı kaç cm'dir?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Görüntü perdeye düştüğüne göre gerçektir: b = 2a</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Perde mumdan 30 cm uzakta: b − a = 30 → 2a − a = 30 → a = 30 cm, b = 60 cm</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1/f = 1/30 + 1/60 = (2 + 1)/60 = 3/60 → f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a = 30 cm, f = 20 ile 2f = 40 cm arasında; görüntü gerçek, ters ve büyük olmalı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 = 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Odak uzaklığı yarıçapın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yarısıdır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Tümsek aynada gerçek görüntü aramak.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Tümsek aynada görüntü her zaman sanal, düz ve küçüktür.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Tümsek aynada f'yi pozitif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Tümsek aynanın odağı arkadadır: f = −r/2 alınmazsa sonuç yanlış çıkar.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Çukur aynanın her zaman ters görüntü verdiğini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Cisim odağın içindeyse görüntü sanal, düz ve büyüktür.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Sanal görüntüyü perdeye düşürmeye çalışmak.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Sanal görüntü perdede oluşmaz; yalnızca aynaya bakarak görülür.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İşaretleri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b'nin negatif çıkması hata değildir; görüntünün aynanın arkasında olduğunu söyler.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Cisim odaktayken görüntü “odakta oluşur” demek.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Yansıyan ışınlar paralel olur; görüntü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sonsuzda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dır, yani oluşmaz.</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Büyütmeyi boy farkı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Büyütme bir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orandır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boyunun cisim boyuna bölümü.</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Odak </a:t>
            </a:r>
            <a:pPr indent="0" marL="0">
              <a:buNone/>
            </a:pPr>
            <a:r>
              <a:rPr lang="en-US" sz="1500" b="1" dirty="0">
                <a:solidFill>
                  <a:srgbClr val="FFFFFF"/>
                </a:solidFill>
                <a:latin typeface="Calibri" pitchFamily="34" charset="0"/>
                <a:ea typeface="Calibri" pitchFamily="34" charset="-122"/>
                <a:cs typeface="Calibri" pitchFamily="34" charset="-120"/>
              </a:rPr>
              <a:t>f = r / 2</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Denklem </a:t>
            </a:r>
            <a:pPr indent="0" marL="0">
              <a:buNone/>
            </a:pPr>
            <a:r>
              <a:rPr lang="en-US" sz="1500" b="1" dirty="0">
                <a:solidFill>
                  <a:srgbClr val="FFFFFF"/>
                </a:solidFill>
                <a:latin typeface="Calibri" pitchFamily="34" charset="0"/>
                <a:ea typeface="Calibri" pitchFamily="34" charset="-122"/>
                <a:cs typeface="Calibri" pitchFamily="34" charset="-120"/>
              </a:rPr>
              <a:t>1/f = 1/a + 1/b</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 / a|</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Tümsekte </a:t>
            </a:r>
            <a:pPr indent="0" marL="0">
              <a:buNone/>
            </a:pPr>
            <a:r>
              <a:rPr lang="en-US" sz="1500" b="1" dirty="0">
                <a:solidFill>
                  <a:srgbClr val="FFFFFF"/>
                </a:solidFill>
                <a:latin typeface="Calibri" pitchFamily="34" charset="0"/>
                <a:ea typeface="Calibri" pitchFamily="34" charset="-122"/>
                <a:cs typeface="Calibri" pitchFamily="34" charset="-120"/>
              </a:rPr>
              <a:t>hep sanal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r / 2</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dersler.perinet.org/kuresel-aynalar.html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Kırılma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Küresel aynalar — Dersler</dc:title>
  <dc:subject>Fizik · Optik</dc:subject>
  <dc:creator>Dersler</dc:creator>
  <cp:lastModifiedBy>Dersler</cp:lastModifiedBy>
  <cp:revision>1</cp:revision>
  <dcterms:created xsi:type="dcterms:W3CDTF">2026-09-30T06:40:39Z</dcterms:created>
  <dcterms:modified xsi:type="dcterms:W3CDTF">2026-09-30T06:40:39Z</dcterms:modified>
</cp:coreProperties>
</file>