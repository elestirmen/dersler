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Lst>
  <p:notesMasterIdLst>
    <p:notesMasterId r:id="rId1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notesMaster" Target="notesMasters/notesMaster1.xml"/><Relationship Id="rId145" Type="http://schemas.openxmlformats.org/officeDocument/2006/relationships/presProps" Target="presProps.xml"/><Relationship Id="rId146" Type="http://schemas.openxmlformats.org/officeDocument/2006/relationships/viewProps" Target="viewProps.xml"/><Relationship Id="rId147" Type="http://schemas.openxmlformats.org/officeDocument/2006/relationships/theme" Target="theme/theme1.xml"/><Relationship Id="rId1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kaşık seni neden baş aşağı gösterir de ters çevirince düzeltir? Kaşığın iç yüzüne bakınca başın ters, dış yüzüne bakınca düz ve küçük görünür. Aynı metal, aynı ışık — değişen tek şey yüzeyin hangi yöne büküldüğü. Küresel aynalar düzlem aynadan tek bir noktada ayrılır: paralel gelen ışınları bir noktada toplarlar (ya da tek bir noktadan geliyormuş gibi dağıtırlar). Odak dediğimiz o nokta, bu konunun tamamının anahtarıdır. Anlatım dört basamakta ilerliyor: önce kaşığa ve trafik aynasına bakıp çukur ile tümsek aynayı, odağı ve merkezi tanıyacaksın; sonra asal ışınlarla görüntü çizip beş cisim konumunu, ayna denklemini ve büyütmeyi türeteceksin; ardından yan aynadaki uyarının hesabına, küresel aynanın sınırlarına ve teleskoptan güneş fırınına uzanan uygulamalara geçeceksin. En sonda kolaydan zora sıralanmış örnekler var.
Kapak görseli: Köşenin arkasını görmek. Kör virajlardaki trafik aynası tümsektir: görüntüyü küçültür ama çok geniş bir alanı tek bakışa sığdırır. Aynadaki araba ve bisikletli gerçekte göründüklerinden daha yakındır. Küçültme ile geniş görüş aynı sebepten doğar: yüzeyin dışa doğru bükülmüş olması.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Bir kaşık seni neden baş aşağı gösterir de ters çevirince düzeltir? Kaşığın iç yüzüne bakınca başın ters, dış yüzüne bakınca düz ve küçük görünür. Aynı metal, aynı ışık — değişen tek şey yüzeyin hangi yöne büküldüğü. Küresel aynalar düzlem aynadan tek bir noktada ayrılır: paralel gelen ışınları bir noktada toplarlar (ya da tek bir noktadan geliyormuş gibi dağıtırlar). Odak dediğimiz o nokta, bu konunun tamamının anahtarıdır. Anlatım dört basamakta ilerliyor: önce kaşığa ve trafik aynasına bakıp çukur ile tümsek aynayı, odağı ve merkezi tanıyacaksın; sonra asal ışınlarla görüntü çizip beş cisim konumunu, ayna denklemini ve büyütmeyi türeteceksin; ardından yan aynadaki uyarının hesabına, küresel aynanın sınırlarına ve teleskoptan güneş fırınına uzanan uygulamalara geçeceksin. En sonda kolaydan zora sıralanmış örnekler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kaşığa ve aynalara bak, çukur ile tümseği ayır, odak ile merkezin ne olduğunu kavra. Hesap yok denecek kadar az.
   01 Önce gözlemle: kaşıkta neden baş aşağısın?
   02 Temel kavramlar: çukur ve tümsek ayna
   03 Odak: ışınları toplayan nokta
2. Orta — Işın çiziminden denkleme: görüntünün yerini, türünü ve boyunu önce çizerek, sonra hesaplayarak bul.
   04 Asal ışınlar ve görüntü çizimi
   05 Çukur aynada beş durum
   06 Tümsek ayna: her zaman düz ve küçük
   07 Ayna denklemi ve işaret kuralı
   08 Büyütme
   09 Sayılarla hisset: cisim yaklaşırken görüntü nereye kaçar?
3. İleri — Derinleşme: yan aynadaki uyarının hesabı, küresel aynanın sınırları ve küresel aynaların iş başında olduğu yerler.
   10 Yan aynadaki uyarının hesabı
   11 Modelin sınırları: küresel sapma ve parabolik ayna
   12 Küresel aynalar gerçek dünyada
4. Pekiştir —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Yansıma yasası: ışık aynaya çarpınca gelme açısı yansıma açısına eşit olur (i = r). İki açı da yüzeye dik çizilen normalden ölçülür.
• Gerçek ve sanal görüntü: ışınların kendisi bir noktada buluşursa görüntü gerçektir ve perdeye düşer. Yalnızca uzantıları buluşursa sanaldır; düzlem aynadaki görüntün böyledir.
• Merkez ve yarıçap: bir kürenin merkezinden yüzeyine olan uzaklık yarıçaptır ve çapın yarısıdır. Çapı 40 cm olan bir topun yarıçapı 20 cm'dir.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Kesirlerle işlem: paydaları eşitle, sonra payları topla ya da çıkar: 1/20 − 1/40 = 2/40 − 1/40 = 1/40. Sonuç eksi de çıkabilir: 1/20 − 1/10 = −1/20.
• Oran: bir sayının ötekinin kaç katı olduğu. 12 cm'lik bir boy, 24 cm'lik bir boyun 12 / 24 = 0,5 katı, yani yarısıdır.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kaşığa ve aynalara bak, çukur ile tümseği ayır, odak ile merkezin ne olduğunu kavra. Hesap yok denecek kadar az.
01 Önce gözlemle: kaşıkta neden baş aşağısın?
02 Temel kavramlar: çukur ve tümsek ayna
03 Odak: ışınları toplayan nokta
Görsel: Kaşığın çukur yüzü bir küresel ayna gibi davranır. Yüz kaşıktan oldukça uzakta olduğu için görüntü ters ve küçük oluşur: ışınlar yansıdıktan sonra gerçekten kesişir. Kaşığı ters çevirip tümsek yüzüne baksaydın görüntü düz ve yine küçük olurdu; aradaki farkı ikinci basamakta ışın çizerek açıklayacağız.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kaşıkta neden baş aşağısın? — adım 1/5
• Parlak bir çorba kaşığını kolunu uzatarak tut ve iç yüzüne bak.
• Yüzün küçülmüş ve baş aşağı görünür.
• Kaşığı yavaşça gözüne yaklaştır: ters görüntü büyür, bir noktadan sonra bulanıklaşıp dağılır.
• Şimdi kaşığı çevir ve dış yüzüne bak: yüzün düz ve küçüktür, arkandaki odanın neredeyse tamamı da o küçük yüzeye sığmıştır.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kaşıkta neden baş aşağısın? — adım 2/5
• Kaşığı ne kadar yaklaştırıp uzaklaştırırsan uzaklaştır, dış yüzdeki görüntü hiç ters dönmez.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kaşıkta neden baş aşağısın? — adım 3/5
• Aynı ikilik başka aynalarda da vardır.
• Banyodaki makyaj ya da tıraş aynasına yakından bakınca yüzün büyük ve düz görünür, odanın öbür ucundan bakınca ters döner.
• Arabaların yan aynaları ve market köşelerindeki aynalar ise her şeyi düz ve küçük gösterir.
• Gözlemlerini şöyle toplayabilirsin: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kaşıkta neden baş aşağısın? — adım 4/5
• İçe bükük yüzeye uzaktan bakınca: görüntü ters ve çoğu zaman küçüktür.
• İçe bükük yüzeye çok yakından bakınca: görüntü düz ve büyüktür (makyaj aynası).
• Dışa bükük yüzeyde: görüntü her uzaklıkta düz ve küçüktür, ama çok geniş bir alan görünür.
• Kenarlara doğru: görüntü çarpılır; düz çizgiler eğri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kaşıkta neden baş aşağısın? — şekil
Aynı yüz, üç farklı yüzeyde. Kaşığın iç yüzü içe büküktür; uzaktan bakınca seni baş aşağı ve küçük gösterir. Dış yüzü dışa büküktür, seni her uzaklıkta düz ve küçük gösterir. İçe bükük makyaj aynasına yakından bakınca ise yüzün düz ve büyük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İçe bükük bir yüzey uzaktaki cismi ters, çok yakındakini düz ve büyük gösterir; dışa bükük bir yüzey ise her şeyi düz ve küçük ama geniş bir alanla gösterir.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Kaşığın iç yüzünde baş aşağı görünüyorsun. Kaşığı ters çevirip dış yüzüne bakarsan ne değişir?
Sınıfa sorun, birkaç tahmin alın; sonra cevap slaytına geçin.
Cevap: Görüntü düzelir ve küçük kalır. Dış yüz dışa doğru bükülmüştür; ışınları toplamak yerine dağıtır ve bu yüzden görüntü hiçbir uzaklıkta ters dönmez. Aynı metal parçasının iki yüzü, bu konunun iki ayna türünü, çukur ve tümsek aynayı temsil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Görüntü düzelir ve küçük kalır. Dış yüz dışa doğru bükülmüştür; ışınları toplamak yerine dağıtır ve bu yüzden görüntü hiçbir uzaklıkta ters dönmez. Aynı metal parçasının iki yüzü, bu konunun iki ayna türünü, çukur ve tümsek aynayı temsil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kavramlar: çukur ve tümsek ayna — adım 1/4
• Küresel ayna, bir kürenin parçası biçimindeki aynadır.
• İç yüzeyi yansıtıcıysa çukur (konkav), dış yüzeyi yansıtıcıysa tümsek (konveks) ayna denir.
• İçi boş parlak bir top düşün ve ondan bir kapak kes: kapağın içi çukur, dışı tümsek aynadır.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kavramlar: çukur ve tümsek ayna — adım 2/4
• Tepe noktası (T): aynanın orta noktası.
• Merkez (M): aynanın ait olduğu kürenin merkezi.
• Odak (F): tepe ile merkezin tam ortası.
• Asal eksen: tepe ile merkezden geçen doğru.
• Eğrilik yarıçapı (r): tepe ile merkez arası uzaklık.
f = r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kavramlar: çukur ve tümsek ayna — adım 3/4
• Küresel aynayı çok küçük düzlem ayna parçalarından yapılmış gibi düşünebilirsin.
• Her parçada yansıma yasası (gelme açısı = yansıma açısı) aynen geçerlidir; yalnızca her parçanın normali farklı yöne bakar.
• Kürenin yarıçapı yüzeyine her noktada dik olduğu için her noktanın normali merkezden geçer.
• Eğrilik yarıçapı büyüdükçe ayna düzleşir; r çok büyük olunca küresel ayna düzlem aynaya dönüşür.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kavramlar: çukur ve tümsek ayna — şekil
Küresel ayna, bir kürenin küçük bir parçasıdır. Merkez (M) o kürenin merkezi, tepe (T) aynanın ortası, odak (F) ise ikisinin tam ortasıdır. Asal eksene paralel gelen bütün ışınlar yansıdıktan sonra odaktan geçer — bu yüzden odak, aynanın "toplama noktası"dır. Odak uzaklığı aynanın yarıçapının yarısıdır: f = 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Küresel ayna bir küre parçasıdır: içi yansıtıcıysa çukur, dışı yansıtıcıysa tümsek. Her noktanın normali merkezden geçer ve odak, tepe ile merkezin tam ortasındadır: f = r/2.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Odak: ışınları toplayan nokta — adım 1/6
• Çukur aynada asal eksene paralel gelen ışınlar yansıdıktan sonra odakta toplanır.
• Tümsek aynada ise ışınlar dağılır; uzantıları aynanın arkasındaki odakta kesişir.
• Bu yüzden çukur ayna toplayıcı, tümsek ayna dağıtıcıdır.
• Uzaktaki bir cisimden, örneğin Güneş'ten gelen ışınlar birbirine paralel sayılır; bu yüzden çukur ayna güneş ışığını odağında küçük, parlak bir lekeye toplar.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Odak: ışınları toplayan nokta — şekil
Üstte çukur aynaya asal eksene paralel gelen ışınlar, yansıdıktan sonra odakta (F) buluşur; ışınlar oradan gerçekten geçtiği için bu odak gerçektir. Altta tümsek aynaya gelen paralel ışınlar yansıyınca dağılır. Kesikli uzantıları aynanın arkasındaki sanal odakta kesişir: ışınlar oradan geliyormuş gibi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Odak: ışınları toplayan nokta — adım 3/6
• Işığın yolu tersinirdir: bir ışın bir yolu izleyebiliyorsa, ters yönde gönderilen ışın aynı yolu geri izler.
• Paralel ışınlar odakta toplanıyorsa, odağa konan bir ampulün ışınları da yansıdıktan sonra paralel bir demet olur.
• El fenerleri ve araba farları böyle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Odak: ışınları toplayan nokta — adım 4/6
• Çukur aynada odak gerçektir: ışınlar oradan gerçekten geçer; odağa kâğıt tutarsan ışık lekesi oluşur.
• Tümsek aynada odak sanaldır: ışınlar oradan geçmez, yalnızca oradan geliyormuş gibi dağılır.
• Tersinirlik: odaktan çıkan ışınlar paralel yansır; paralel gelenler odakta toplanır.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Odak: ışınları toplayan nokta — adım 5/6
Güneş'e tutulan çukur ayna tehlikelidir. Odakta toplanan güneş ışığı kâğıdı tutuşturacak kadar yoğunlaşabilir. Aynanın yansıttığı güneş ışığına ve odaktaki parlak lekeye doğrudan bakma; deney yapacaksan ışığı bir kartona düşür.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Odak: ışınları toplayan nokta — şekil
Çukur ayna Güneş'ten gelen paralel ışınları odağında toplar; karton odağa getirildiğinde ışık küçük ve çok parlak bir lekede birikir. Işınlar oradan gerçekten geçtiği için çukur aynanın odağı gerçektir. Bu lekeye ve aynanın yansıttığı güneşe doğrudan bakma.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Çukur ayna paralel ışınları gerçek bir odakta toplar, tümsek ayna ise sanal bir odaktan geliyormuş gibi dağıtır. Işığın yolu tersinir olduğu için odaktaki kaynak paralel bir demet verir.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El fenerinin ampulü odaktan biraz aynaya doğru kaydırılırsa ışık demeti nasıl değişir?
Sınıfa sorun, birkaç tahmin alın; sonra cevap slaytına geçin.
Cevap: Yansıyan ışınlar artık paralel olmaz, dağılır. Demet geniş bir alanı aydınlatır ama uzağa ulaşan ışık azalır. Ayarlanabilir fenerler ampul ile yansıtıcı arasındaki uzaklığı değiştirerek dar ya da geniş demet elde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Yansıyan ışınlar artık paralel olmaz, dağılır. Demet geniş bir alanı aydınlatır ama uzağa ulaşan ışık azalır. Ayarlanabilir fenerler ampul ile yansıtıcı arasındaki uzaklığı değiştirerek dar ya da geniş demet elde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Işın çiziminden denkleme: görüntünün yerini, türünü ve boyunu önce çizerek, sonra hesaplayarak bul.
04 Asal ışınlar ve görüntü çizimi
05 Çukur aynada beş durum
06 Tümsek ayna: her zaman düz ve küçük
07 Ayna denklemi ve işaret kuralı
08 Büyütme
09 Sayılarla hisset: cisim yaklaşırken görüntü nereye kaçar?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Asal ışınlar ve görüntü çizimi — adım 1/5
• Cismin bir noktasından sayısız ışın çıkar, ama bunlardan bazılarının yansıdıktan sonra nereye gideceğini hesapsız biliriz.
• Bunlara asal ışınlar denir.
• Görüntüyü çizmek için ikisi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Asal ışınlar ve görüntü çizimi — adım 2/5
• Asal eksene paralel gelen ışın, yansıdıktan sonra odaktan geçer (tümsekte odaktan geliyormuş gibi görünür).
• Odaktan geçerek gelen ışın, yansıdıktan sonra asal eksene paralel gider.
• Tepe noktasına gelen ışın, asal eksene göre simetrik yansır.
• Merkezden geçen ışın, aynaya dik geldiği için kendi üzerinden geri döner.
Görüntü nerede? İki ışının kendisi kesişiyorsa görüntü gerçektir ve perdeye düşürülebilir. Yalnızca uzantıları kesişiyorsa görüntü sanaldır.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Asal ışınlar ve görüntü çizimi — adım 3/5
Odak neden tam ortada?
• Normal: Eksene paralel bir ışın aynaya A noktasında çarpsın. AM doğrusu yarıçaptır, yani A'daki normaldir.
• Açılar: Gelen ışın normalle i açısı yapar; ışın eksene paralel olduğundan normal de eksenle i açısı yapar.
• İkizkenar üçgen: Yansıyan ışın ekseni F'de kessin. AFM üçgeninin A ve M köşelerindeki açılar i'dir; demek ki FA = FM.
• Sonuç: Işın eksene yakınsa FA ile FT hemen hemen eşittir; F, T ile M'nin tam ortasına düşer: f = 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Asal ışınlar ve görüntü çizimi — şekil
Görüntüyü bulmak için üç ışından ikisi yeter: 1 eksene paralel gelir, yansıyınca odaktan geçer; 2 odaktan geçerek gelir, yansıyınca eksene paralel olur; 3 tepe noktasına gelir, eksene göre simetrik yansır. Üçü de aynı noktada kesişir ve orası görüntünün yeridir. Işınlar gerçekten kesişiyorsa görüntü gerçektir ve perdeye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Asal ışınlar ve görüntü çizimi — adım 5/5
• Sayfanın 01 numaralı bölümündeki ışın çizimi laboratuvarında ayna türünü, yarıçapı ve cismin yerini değiştirerek asal ışınların görüntüyü nasıl bulduğunu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Paralel gelen ışın odaktan, odaktan gelen paralel, tepeye gelen simetrik, merkezden gelen kendi üzerinden yansır; ikisinin kesiştiği yer görüntüdür. Işınlar kesişirse görüntü gerçek, uzantılar kesişirse sanaldır.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Çukur aynada beş durum — adım 1/5
• Asal ışınları cismin farklı konumları için çizersen yalnızca beş farklı sonuç çıkar.
• Bunları bir tabloda toplamak, çukur ayna sorularının çoğunu çizim yapmadan cevaplamanı sağlar: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Çukur aynada beş durum — adım 2/5
Cismin yeri | Görüntünün yeri | Özellikleri
Merkezin ötesinde | odak – merkez arası | gerçek, ters, küçük
Merkezde | merkezde | gerçek, ters, eşit
Merkez – odak arası | merkezin ötesinde | gerçek, ters, büyük
Odakta | sonsuzda | görüntü oluşmaz
Odak ile tepe arası | aynanın arkasında | sanal, düz, büyük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Çukur aynada beş durum — adım 3/5
• Sıradaki düzen kolay hatırlanır: cisim aynaya yaklaştıkça görüntü uzaklaşır ve büyür.
• Cisim odağa geldiğinde yansıyan ışınlar paralel olur, görüntü oluşmaz.
• Tablonun ilk ve üçüncü satırları birbirinin tersidir: cisim merkezin ötesindeyken görüntü odak ile merkez arasına düşüyorsa, cismi o noktaya koyduğunda görüntü eski yerine gider.
• Bu, ışığın tersinirliğinin sonucudur.
• Merkez bu yüzden bir simetri noktasıdır.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Çukur aynada beş durum — şekil
Cismi aynaya yaklaştırdıkça görüntü uzaklaşır ve büyür. Merkezde iken cisimle görüntü aynı yerde ve aynı boydadır — bu, kuralın simetri noktasıdır. Cisim odağa gelince yansıyan ışınlar paralelleşir ve görüntü sonsuza gider. Odağın içine girdiğinde ışınlar artık kesişmez; yalnızca uzantıları kesişir ve görüntü sanal, düz ve büyük olur — makyaj aynasının çalışma bölgesi burasıdır.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Çukur aynada beş durum — adım 5/5
• Sayfanın 02 numaralı bölümünde “Sırayla göster” düğmesine basarak cismin bu beş konumdan geçişini ve görüntünün nasıl koştuğunu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Çukur aynada cisim odağın dışındayken görüntü gerçek ve terstir, cisim yaklaştıkça uzaklaşır ve büyür. Cisim odaktayken görüntü oluşmaz, odağın içindeyken sanal, düz ve büyüktür.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Cisim merkezin çok ötesinden odağa doğru yürürken görüntü nereye gider, boyu nasıl değişir?
Sınıfa sorun, birkaç tahmin alın; sonra cevap slaytına geçin.
Cevap: Görüntü odağın hemen yanından yola çıkar, aynadan uzaklaşarak merkezi geçer ve cisim odağa varınca sonsuza kaçar. Bu sırada boyu küçükten eşite, eşitten büyüğe doğru artar. Görüntü baştan sona gerçek ve terstir.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Görüntü odağın hemen yanından yola çıkar, aynadan uzaklaşarak merkezi geçer ve cisim odağa varınca sonsuza kaçar. Bu sırada boyu küçükten eşite, eşitten büyüğe doğru artar. Görüntü baştan sona gerçek ve terstir.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Tümsek ayna: her zaman düz ve küçük — adım 1/4
• Tümsek aynada odak ve merkez aynanın arkasındadır.
• Asal ışınlar burada da kullanılır, ama yönleri uzantılarla tanımlanır: eksene paralel gelen ışın, arkadaki odaktan geliyormuş gibi yansır; arkadaki odağa doğru gelen ışın eksene paralel yansır; merkeze doğru gelen ışın kendi üzerinden döner.
• Yansıyan ışınlar hep dağıldığı için hiçbir zaman kesişmez; yalnızca uzantıları aynanın arkasında kesişir.
• Cisim nerede olursa olsun görüntü her zaman: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Tümsek ayna: her zaman düz ve küçük — adım 2/4
• sanaldır (aynanın arkasında),
• düzdür,
• cisimden küçüktür,
• tepe ile odak arasında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Tümsek ayna: her zaman düz ve küçük — adım 3/4
• Görüntü küçüldüğü için aynı aynaya çok daha geniş bir alan sığar.
• Market ve otopark aynaları, araç yan aynaları bu yüzden tümsektir.
• Yan aynalardaki “cisimler göründüğünden daha yakındır” uyarısı da bu küçültmenin sonucudur.
• Sayfanın 03 numaralı bölümünde tümsek aynanın görüş alanını aynı boydaki düzlem aynanınkiyle karşılaştırabilirsin.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Tümsek ayna: her zaman düz ve küçük — şekil
Tümsek aynada paralel ışınlar toplanmaz, dağılır; uzantıları aynanın arkasındaki odakta buluşur. Bu yüzden cisim nerede olursa olsun görüntü hep aynı türdedir: sanal, düz ve küçük. Görüntü küçük olduğu için aynaya çok daha geniş bir alan sığar — market ve otopark güvenlik aynalarının tümsek olmasının sebebi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Tümsek aynada odak ve merkez aynanın arkasındadır; yansıyan ışınlar dağıldığı için görüntü her zaman sanal, düz, küçüktür ve tepe ile odak arasında oluşur.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Tümsek aynada cismi aynaya iyice yaklaştırırsan görüntü ters döner ya da cisimden büyük olur mu?
Sınıfa sorun, birkaç tahmin alın; sonra cevap slaytına geçin.
Cevap: Hayır. Görüntü yaklaştıkça büyür ve boyu cismin boyuna yaklaşır, ama hiçbir zaman onu geçmez; hep sanal ve düz kalır. Tümsek ayna ışınları her durumda dağıttığı için gerçek, ters ya da büyütülmüş bir görüntü veremez.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Görüntü yaklaştıkça büyür ve boyu cismin boyuna yaklaşır, ama hiçbir zaman onu geçmez; hep sanal ve düz kalır. Tümsek ayna ışınları her durumda dağıttığı için gerçek, ters ya da büyütülmüş bir görüntü veremez.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denklemi ve işaret kuralı — adım 1/6
• Çizim görüntünün yerini gösterir, ama tam uzaklığı söylemek için bir denkleme ihtiyaç var.
• Cismin aynaya uzaklığı a, görüntünün aynaya uzaklığı b, odak uzaklığı f olmak üzere:
1/f = 1/a + 1/b   f = 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denklemi ve işaret kuralı — adım 2/6
Formüldeki harfler ne anlama geliyor?
Sembol | Anlamı | Birimi
f | odak uzaklığı: odak ile tepe arası (çukurda +, tümsekte −) | cm
r | eğrilik yarıçapı: merkez ile tepe arası | cm
a | cismin aynaya uzaklığı | cm
b | görüntünün aynaya uzaklığı (+ ise önde ve gerçek, − ise arkada ve sanal) | cm
h | cismin boyu | cm
h′ | görüntünün boyu |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denklemi ve işaret kuralı — adım 3/6
Denklem nereden geliyor?
• Tepe ışını: Tepeye gelen ışın simetrik yansır; cisim, görüntü ve tepe iki benzer üçgen kurar: h′/h = b/a.
• Paralel ışın: Eksene paralel gelen ışın odaktan geçer; odakta birleşen iki benzer üçgenden h′/h = (b − f)/f.
• Eşitle: b/a = (b − f)/f, yani b·f = a·b − a·f.
• Böl: Her terimi a·b·f'ye bölünce 1/a = 1/f − 1/b, yani 1/f = 1/a + 1/b.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denklemi ve işaret kuralı — adım 4/6
• Burada h cismin, h′ görüntünün boyudur ve ayna, eksene yakın ışınlar için tepe noktasında düz bir çizgi gibi alınmıştır.
• Denklemi sınamanın kolay bir yolu var: cisim merkezdeyse (a = 2f) görüntü de merkezde olmalı.
• Gerçekten 1/(2f) + 1/(2f) = 1/f çıkar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denklemi ve işaret kuralı — adım 5/6
• İşaret kuralı (bu sayfada kullanılan):
• Çukur ayna: f pozitif. Tümsek ayna: f negatif.
• b pozitif: görüntü aynanın önünde, gerçek.
• b negatif: görüntü aynanın arkasında, sanal.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denklemi ve işaret kuralı — şekil
Ayna denklemi bütün durumlar için aynıdır; işini gören şey işaret kuralıdır. Aynanın önünde çıkan her şey pozitiftir ve gerçektir; arkasında çıkan her şey negatiftir ve sanaldır. Hesabın sonunda b negatif çıkıyorsa bu bir hata değildir — görüntünün aynanın arkasında olduğunu, yani sanal olduğunu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1/f = 1/a + 1/b, benzer üçgenlerden çıkar ve çukur, tümsek, gerçek, sanal bütün durumlarda aynıdır. İşaret kuralı sonucu yorumlar: çukurda f &gt; 0, tümsekte f &lt; 0; b &lt; 0 ise görüntü sanaldır.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Büyütme — adım 1/5
• Denklemin türetilmesindeki ilk adım bize bedava bir sonuç daha verdi: görüntü boyunun cisim boyuna oranı, uzaklıkların oranına eşittir.
• Bu orana büyütme denir:
m = |b / a|   m = boy(görüntü)/boy(cisim)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Büyütme — adım 2/5
• m &gt; 1: görüntü cisimden büyük.
• m = 1: eşit (cisim merkezdeyken).
• m &lt; 1: görüntü küçük.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Büyütme — adım 3/5
• Gerçek görüntüler daima ters, sanal görüntüler daima düzdür.
• Bu iki cümle, çizim yapmadan da yönü söyler.
• Sayfanın 01 numaralı bölümü açıldığında gördüğün durum bir örnektir: r = 60 cm, a = 90 cm için b = 45 cm çıkar; m = 45/90 = 0,5 olduğundan 24 cm'lik cismin görüntüsü 12 cm'dir.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Büyütme — adım 4/5
İstenen büyütme için cisim nereye?
• Gerçek görüntüde b = m·a, sanal görüntüde b = −m·a yazıp denklemde yerine koyarsan cismin konması gereken yeri doğrudan bulursun.
• Sayfanın 04 numaralı bölümündeki hedef büyütme oyunu bu ipucunu verir:
gerçek: a = f·(m + 1)/m   sanal: a = f·(m − 1)/m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Büyütme — şekil
Büyütme, görüntü boyunun cisim boyuna oranıdır ve aynı zamanda uzaklıkların oranına eşittir: m = |b/a|. Görüntü aynadan cisimden daha uzaktaysa büyür, daha yakınsa küçülür. m = 1 olan tek durum cismin merkezde olmasıdır. İşaretiyle yazıldığında (m = −b/a) eksi değer ters, artı değer düz görüntü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Büyütme görüntü boyunun cisim boyuna oranıdır ve m = |b/a| ile hesaplanır. Gerçek görüntü hep ters, sanal görüntü hep düzdür.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Gerçek görüntü neden hep ters, sanal görüntü neden hep düzdür?
Sınıfa sorun, birkaç tahmin alın; sonra cevap slaytına geçin.
Cevap: Gerçek görüntüde cismin tepesinden çıkan ışınlar yansıdıktan sonra asal ekseni keserek öbür tarafta buluşur; bu yüzden tepe aşağıya düşer. Sanal görüntüde ise yansıyan ışınların uzantıları aynanın arkasında, ekseni kesmeden buluşur; tepe yukarıda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Gerçek görüntüde cismin tepesinden çıkan ışınlar yansıdıktan sonra asal ekseni keserek öbür tarafta buluşur; bu yüzden tepe aşağıya düşer. Sanal görüntüde ise yansıyan ışınların uzantıları aynanın arkasında, ekseni kesmeden buluşur; tepe yukarıda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cisim yaklaşırken görüntü nereye kaçar? — adım 1/4
• Beş durum tablosunu gerçek sayılarla dolduralım.
• Eğrilik yarıçapı 40 cm olan (f = 20 cm) bir çukur aynanın önünde cismi adım adım yaklaştıralım ve her konumda ayna denklemini çözelim: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cisim yaklaşırken görüntü nereye kaçar? — adım 2/4
Cisim (a) | Görüntü (b) | Büyütme | Görüntü
100 cm | 25 cm | 0,25 | gerçek, ters, küçük
40 cm | 40 cm | 1 | gerçek, ters, eşit
25 cm | 100 cm | 4 | gerçek, ters, büyük
20 cm | — | — | oluşmaz (sonsuzda)
10 cm | −20 cm | 2 | sanal, düz, büyük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cisim yaklaşırken görüntü nereye kaçar? — adım 3/4
• Tablodan üç düzen okunur.
• Birincisi, a ile b yer değiştirebilir: 100 cm'deki cisim 25 cm'de, 25 cm'deki cisim 100 cm'de görüntü verir; denklem a ile b'ye göre simetriktir.
• İkincisi, odağın yakınında görüntü uçup gider: cisim 25 cm'den 22 cm'ye gelince görüntü 100 cm'den 220 cm'ye, 21 cm'ye gelince 420 cm'ye fırlar ve büyütme 20 kata çıkar.
• Üçüncüsü, işaretin değiştiği tek yer odaktır: odağın içinde b negatif, görüntü sanaldır.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cisim yaklaşırken görüntü nereye kaçar? — şekil
Tablonun her satırı bir ok: üst çizgide cismin yeri, alt çizgide görüntünün yeri. 100 cm ile 25 cm'den çıkan oklar çapraz kesişir: cisim ile görüntü yer değiştirebilir. Cisim odağa (20 cm) gelince ok sonsuza kaçar. Odağın içindeki 10 cm'lik cismin görüntüsü ise aynanın arkasına düşer, yani sanaldır.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Cisim uzaktan odağa yaklaşırken görüntü odaktan sonsuza kaçar ve büyür; odağın içinde sanal olur. Ayna denklemi simetrik olduğu için cisim ile görüntünün yerleri değiştirilebilir.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f = 20 cm için a = 30 cm'de b = 60 cm çıkıyor. Cisim 60 cm'ye konursa görüntü nerede oluşur?
Sınıfa sorun, birkaç tahmin alın; sonra cevap slaytına geçin.
Cevap: 30 cm'de, hesap yapmadan. Ayna denklemi a ile b'ye göre simetrik olduğu için ikisi yer değiştirebilir. Kontrol: 1/b = 1/20 − 1/60 = 2/60, b = 30 cm ✓. Bu kez büyütme 0,5'tir: görüntü küçük.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30 cm'de, hesap yapmadan. Ayna denklemi a ile b'ye göre simetrik olduğu için ikisi yer değiştirebilir. Kontrol: 1/b = 1/20 − 1/60 = 2/60, b = 30 cm ✓. Bu kez büyütme 0,5'tir: görüntü küçük.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yan aynadaki uyarının hesabı, küresel aynanın sınırları ve küresel aynaların iş başında olduğu yerler.
10 Yan aynadaki uyarının hesabı
11 Modelin sınırları: küresel sapma ve parabolik ayna
12 Küresel aynalar gerçek dünyada
Görsel: Güneşi bir noktaya toplamak. Parabolik güneş yoğunlaştırıcısı, Güneş'ten paralel gelen ışınları odağındaki küçük alıcıda toplar. Çanak tek parça değil, birçok ayna parçasından yapılmıştır; her parça ışığı aynı odağa yollayacak biçimde eğilmiştir. Alıcıda biriken ısı elektrik üretmek ya da bir maddeyi ısıtmak için kullanılır.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 aynadaki uyarının hesabı — adım 1/6
• Yan aynalardaki “cisimler göründüğünden daha yakındır” yazısını sayılarla sınayalım.
• Eğrilik yarıçapı 2 m olan (f = −1 m) bir tümsek ayna düşün ve arkadan gelen bir arabanın farklı uzaklıklardaki görüntüsünü ayna denklemiyle bulalım: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 aynadaki uyarının hesabı — adım 2/6
Araba (a) | Görüntü (b) | Büyütme
5 m | −0,83 m | 0,17
10 m | −0,91 m | 0,091
20 m | −0,95 m | 0,048
40 m | −0,98 m | 0,024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 aynadaki uyarının hesabı — adım 3/6
• Görüntü hep aynanın 1 m gerisindeki odak ile tepe arasında kalır; araba uzaklaştıkça yalnızca odağa biraz yaklaşır.
• Büyütme ise hızla küçülür.
• Sürücünün gözü aynadan 1 m uzaktaysa, 20 m gerideki arabanın görüntüsü gözüne, düzlem aynada 40 m gerideki bir arabanın görüneceği kadar küçük görünür.
• Beyin uzaklığı büyük ölçüde görünen boydan tahmin ettiği için arabayı olduğundan yaklaşık iki kat uzakta sanır.
• Uyarı yazısı tam olarak bu yanılgı içindir.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 aynadaki uyarının hesabı — şekil
20 m gerideki araba tümsek aynada çok küçük görünür: büyütme yalnızca 0,05 kadardır. Düzlem aynada bu kadar küçük görünen bir araba yaklaşık 40 m geride olurdu; beynin arabayı mor kesikli yerde sanır. Gerçekte araba, göründüğünün yarısı kadar uzaktadır. Uyarı yazısı bu yanılgı için oradadır.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 aynadaki uyarının hesabı — adım 5/6
• Bedeli bilinerek ödenir: aynı boydaki düzlem ayna yalnızca dar bir şeridi gösterirken tümsek ayna yan şeridi, kör noktaya yakın bölgeyi ve kaldırımı birlikte gösterir.
• Güvenlik için geniş görüş, küçük görüntüden daha değerlidir.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 aynadaki uyarının hesabı — şekil
Tümsek yan ayna arkadaki yolu küçülterek gösterir; bu sayede tek bakışta yan şerit ve yol kenarı da görünür. Görüntü küçük olduğu için beyin arkadaki arabayı olduğundan daha uzakta sanır; yan aynalardaki “cisimler göründüğünden daha yakındır” uyarısı bu yanılgı içindir.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Tümsek yan ayna uzaktaki arabanın görüntüsünü çok küçültür; beyin boydan uzaklık tahmin ettiği için arabayı olduğundan uzak sanır. Geniş görüş alanı bu yanılgıya değer.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Yan aynalar tümsek olduğu hâlde arabanın iç dikiz aynası neden genellikle düzdür?
Sınıfa sorun, birkaç tahmin alın; sonra cevap slaytına geçin.
Cevap: İç ayna zaten arka camın çerçevesinden görünen alanı gösterir; geniş görüşe o kadar ihtiyaç yoktur. Düzlem aynada arkadaki araç gözüne gerçekte olduğu kadar uzakta ve o uzaklığa uygun boyda görünür; sürücü uzaklığı doğru tahmin eder. Yan ayna geniş alanı, iç ayna doğru uzaklığı sağlar.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İç ayna zaten arka camın çerçevesinden görünen alanı gösterir; geniş görüşe o kadar ihtiyaç yoktur. Düzlem aynada arkadaki araç gözüne gerçekte olduğu kadar uzakta ve o uzaklığa uygun boyda görünür; sürücü uzaklığı doğru tahmin eder. Yan ayna geniş alanı, iç ayna doğru uzaklığı sağlar.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 sınırları: küresel sapma ve parabolik ayna — adım 1/6
• f = r/2 ve ayna denklemi, asal eksene yakın ışınlar için doğrudur.
• Odak türetmesinin son adımında FA ile FT'yi eşit saymıştık; bu yalnızca ışın eksene yakınken geçerlidir.
• Eksenden uzak gelen ışınlar ekseni aynaya daha yakın bir noktada keser.
• Eğrilik yarıçapı 60 cm (f = 30 cm) olan bir çukur aynada, eksene paralel gelen ışınların ekseni kestiği noktanın tepeye uzaklığı: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 sınırları: küresel sapma ve parabolik ayna — adım 2/6
Işının eksenden yüksekliği | Ekseni kestiği yer (T'den)
3 cm | 29,96 cm
15 cm | 29,02 cm
30 cm | 25,36 cm
45 cm | 14,64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 sınırları: küresel sapma ve parabolik ayna — adım 3/6
• Eksene yakın ışınlar neredeyse tam 30 cm'de buluşurken kenardan gelenler çok daha önde kesişir.
• Sonuçta odak bir nokta değil, bulanık bir leke olur.
• Bu kusura küresel sapma denir.
• Çözüm, aynayı küre yerine paraboloit biçiminde yapmaktır: parabolik ayna eksene paralel gelen bütün ışınları, eksenden ne kadar uzak olursa olsun, tek bir noktada toplar.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 sınırları: küresel sapma ve parabolik ayna — adım 4/6
• Küçük ve sığ aynalarda küre ile parabol neredeyse aynıdır; fark büyük ve derin aynalarda önem kazanır.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 sınırları: küresel sapma ve parabolik ayna — şekil
Solda küresel aynaya (r = 60 cm) eksenden 15, 30 ve 45 cm yükseklikte paralel ışınlar geliyor. Kenardan gelen ışın ekseni aynaya daha yakın keser; kesişme noktaları yayılır ve odak bulanık bir leke olur. Sağda parabolik ayna aynı ışınların hepsini tek bir noktada toplar.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 sınırları: küresel sapma ve parabolik ayna — adım 6/6
Hubble'ın gözlüğü: Hubble Uzay Teleskobu 1990'da fırlatıldığında görüntüleri bulanık çıktı: 2,4 m'lik ana aynası kenarlarda, bir saç telinin kalınlığından çok daha az (yaklaşık 2 mikrometre) yanlış biçimlendirilmişti. Küresel sapma 1993'te astronotların taktığı düzeltici optikle giderildi.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Ayna denklemi eksene yakın ışınlar için geçerlidir; kenardan gelen ışınlar aynaya daha yakın kesişir ve odak bulanıklaşır (küresel sapma). Parabolik aynalar bütün paralel ışınları tek noktada toplar.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Çukur aynanın kenarlarını kartonla kapatıp yalnızca ortasını açık bırakırsan odaktaki leke nasıl değişir?
Sınıfa sorun, birkaç tahmin alın; sonra cevap slaytına geçin.
Cevap: Leke daha keskin olur, çünkü odaktan en çok sapan kenar ışınları kesilmiştir. Buna karşılık ayna daha az ışık toplar ve odağa ulaşan toplam ışık azalır. Keskinlik ile toplanan ışık arasındaki bu takas optik aletlerin tasarımında hep karşına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Leke daha keskin olur, çünkü odaktan en çok sapan kenar ışınları kesilmiştir. Buna karşılık ayna daha az ışık toplar ve odağa ulaşan toplam ışık azalır. Keskinlik ile toplanan ışık arasındaki bu takas optik aletlerin tasarımında hep karşına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Küresel aynalar gerçek dünyada — adım 1/5
• Çukur ve tümsek aynanın bütün kullanım alanları, bu konudaki üç fikre dayanır: odak içindeki cismin büyütülmüş sanal görüntüsü, odaktaki kaynağın paralel demeti ve tümsek aynanın geniş görüşü.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Küresel aynalar gerçek dünyada — şekil
Aynı iki ayna türü, üç farklı işi aynı geometriyle yapar. Odak içine konan cisim çukur aynada büyütülmüş sanal görüntü verir; yansıyan ışınların uzantıları aynanın arkasında kesişir — diş hekimi ve makyaj aynası. Odağa konan kaynak ise ışığı paralel bir demet hâline getirir — el feneri ve araba farı. Tümsek ayna iki yandaki cisimlerden gelen ışınları bile göze yansıtır; geniş bir alanı küçülterek tek bakışa sığdırır — güvenlik ve yan aynalar. Bu yüzden yan aynada "cisimler göründüğünden daha yakındır" yazar.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Küresel aynalar gerçek dünyada — adım 3/5
• Çukur ayna: diş hekimi aynası, makyaj aynası, el feneri ve far yansıtıcısı, teleskop, güneş fırını.
• Tümsek ayna: araç yan aynası, market ve otopark güvenlik aynası, ATM aynaları.
• Güneş'in görüntüsü: Güneş gökte yaklaşık 0,53° genişliktedir; odak uzaklığı 5 m olan bir çanak onun yaklaşık 4,6 cm çapında gerçek bir görüntüsünü oluşturur.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Küresel aynalar gerçek dünyada — adım 4/5
• Teleskoplar: Newton 1668'de ilk kullanışlı yansıtmalı teleskoplardan birini yaptı. Hubble'ın aynası 2,4 m, James Webb'inki 18 altıgen parçadan oluşan 6,5 m'lik bir aynadır.
• Güneş fırınları: dev parabolik aynalar ışığı öyle yoğunlaştırır ki odakta 3000 °C'yi aşan sıcaklıklara ulaşılabilir.
• Uydu çanakları: radyo dalgalarını da ayna gibi yansıtır ve odaktaki alıcıda toplar.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Küresel aynalar gerçek dünyada — adım 5/5
• El fenerinde ampul odağa yerleştirilir: odaktan çıkan ışınlar yansıdıktan sonra asal eksene paralel gider ve ışık uzağa taşınır.
• Güneş fırını bunun tersidir: paralel gelen güneş ışınları odakta toplanır.
• Teleskopta ise çukur ayna uzaktaki bir yıldızın zayıf ışığını geniş bir yüzeyden toplayıp odakta birleştirir; ayna ne kadar büyükse o kadar sönük cisimler görülebilir.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Çukur aynalar ışığı toplar (teleskop, güneş fırını) ya da odaktaki kaynağı paralel demete çevirir (far); tümsek aynalar geniş görüş için kullanılır (yan ayna, güvenlik aynası).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Merkezdeki cisim
Eğrilik yarıçapı 40 cm olan çukur aynanın 40 cm önüne bir cisim konuyor. Görüntünün yeri, türü ve boyu nedir?
Durum çizimi: Durum: eğrilik yarıçapı 40 cm olan çukur aynanın 40 cm önünde bir cisim duruyor; M aynanın merkezi. Görüntünün yeri b, türü ve büyütmesi m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Merkezdeki cisim
Eğrilik yarıçapı 40 cm olan çukur aynanın 40 cm önüne bir cisim konuyor. Görüntünün yeri, türü ve boyu nedir?
Verilenler: çukur ayna · r = 40 cm · a = 40 cm
İstenen: görüntünün yeri b · türü · boyu (büyütme m)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Merkezdeki cisim — çözüm
1. f = r/2 = 40/2 = 20 cm; cisim 2f = 40 cm'de, yani merkezde.
2. 1/20 = 1/40 + 1/b → 1/b = 1/20 − 1/40 = 1/40 → b = 40 cm
3. m = 40/40 = 1: görüntü gerçek, ters ve cisimle eşit boyda.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Çizmeden tanı
Odak uzaklığı 15 cm olan çukur aynanın önüne bir cisim sırayla 50 cm, 22 cm ve 8 cm uzaklığa konuyor. Her durumda görüntünün türünü denklem çözmeden söyleyiniz.
Durum çizimi: Durum: odak uzaklığı 15 cm olan çukur aynanın önüne aynı cisim üç ayrı kez konuyor: 8 cm, 22 cm ve 50 cm uzağa. Her durumda görüntünün türü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Çizmeden tanı
Odak uzaklığı 15 cm olan çukur aynanın önüne bir cisim sırayla 50 cm, 22 cm ve 8 cm uzaklığa konuyor. Her durumda görüntünün türünü denklem çözmeden söyleyiniz.
Verilenler: çukur ayna · f = 15 cm · üç ayrı durumda a = 50 cm, 22 cm ve 8 cm
İstenen: her durumda görüntünün türü (denklem çözmeden)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Çizmeden tanı — çözüm
1. Sınırlar: f = 15 cm, merkez 2f = 30 cm.
2. 50 cm &gt; 30 cm (merkezin ötesi) → gerçek, ters, küçük
3. 15 cm &lt; 22 cm &lt; 30 cm (merkez–odak arası) → gerçek, ters, büyük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Çizmeden tanı — çözüm
4. 8 cm &lt; 15 cm (odağın içi) → sanal, düz, büyük
5. Kontrol: denklem sırasıyla b ≈ 21,4 cm, 47,1 cm ve −17,1 cm verir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Çukur aynada gerçek görüntü
Eğrilik yarıçapı 60 cm olan çukur aynanın önüne, 45 cm uzaklığa bir cisim konuyor. Görüntünün yerini ve büyütmesini bulunuz.
Durum çizimi: Durum: eğrilik yarıçapı 60 cm olan çukur aynanın 45 cm önünde bir cisim var. Görüntünün yeri b ve büyütme m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Çukur aynada gerçek görüntü
Eğrilik yarıçapı 60 cm olan çukur aynanın önüne, 45 cm uzaklığa bir cisim konuyor. Görüntünün yerini ve büyütmesini bulunuz.
Verilenler: çukur ayna · r = 60 cm · a = 45 cm
İstenen: görüntünün yeri b · büyütme m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Çukur aynada gerçek görüntü — çözüm
1. f = r/2 = 60/2 = 30 cm
2. 1/30 = 1/45 + 1/b → 1/b = 1/30 − 1/45 = (3 − 2)/90 = 1/90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Çukur aynada gerçek görüntü — çözüm
3. b = 90 cm (pozitif → gerçek görüntü, aynanın önünde)
4. m = |b/a| = 90/45 = 2 kat; görüntü ters ve iki kat büyüktür.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Odağın içinde: büyüteç etkisi
Odak uzaklığı 20 cm olan çukur aynanın önüne 10 cm uzaklığa bir cisim konuyor. Görüntü nerede oluşur?
Durum çizimi: Durum: odak uzaklığı 20 cm olan çukur aynanın 10 cm önüne bir cisim konuyor. Görüntünün yeri b ve türü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Odağın içinde: büyüteç etkisi
Odak uzaklığı 20 cm olan çukur aynanın önüne 10 cm uzaklığa bir cisim konuyor. Görüntü nerede oluşur?
Verilenler: çukur ayna · f = 20 cm · a = 10 cm
İstenen: görüntünün yeri b ve türü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Odağın içinde: büyüteç etkisi — çözüm
1. 1/20 = 1/10 + 1/b → 1/b = 1/20 − 1/10 = −1/20
2. b = −20 cm: eksi işaret görüntünün aynanın arkasında olduğunu gösterir, yani sanal.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Odağın içinde: büyüteç etkisi — çözüm
3. m = |−20/10| = 2 kat, görüntü düz ve büyüktür.
4. Makyaj ve tıraş aynaları tam olarak böyle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Tümsek ayna
Eğrilik yarıçapı 40 cm olan tümsek aynanın 60 cm önünde bir cisim vardır. Görüntünün yeri ve büyütmesi nedir?
Durum çizimi: Durum: eğrilik yarıçapı 40 cm olan tümsek aynanın 60 cm önünde bir cisim var; tümsek aynanın merkezi M aynanın arkasındadır. Görüntünün yeri b ve büyütme m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Tümsek ayna
Eğrilik yarıçapı 40 cm olan tümsek aynanın 60 cm önünde bir cisim vardır. Görüntünün yeri ve büyütmesi nedir?
Verilenler: tümsek ayna (f negatif alınır) · r = 40 cm · a = 60 cm
İstenen: görüntünün yeri b · büyütme m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Tümsek ayna — çözüm
1. Tümsek aynada f = −r/2 = −20 cm
2. 1/(−20) = 1/60 + 1/b → 1/b = −1/20 − 1/60 = (−3 − 1)/60 = −4/60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Tümsek ayna — çözüm
3. b = −15 cm → sanal, aynanın arkasında
4. m = |−15/60| = 0,25; görüntü düz ve dörtte bir boyunda.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İstenen büyütmeyi sağlamak
Odak uzaklığı 15 cm olan çukur aynada, cismin 3 katı büyüklükte gerçek bir görüntü isteniyor. Cisim aynadan kaç cm uzağa konmalıdır?
Durum çizimi: Durum: odak uzaklığı 15 cm olan çukur aynanın önüne bir cisim konacak. Sağda istenen görüntü var: gerçek ve cismin 3 katı boyda. Cismin aynaya uzaklığı a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İstenen büyütmeyi sağlamak
Odak uzaklığı 15 cm olan çukur aynada, cismin 3 katı büyüklükte gerçek bir görüntü isteniyor. Cisim aynadan kaç cm uzağa konmalıdır?
Verilenler: çukur ayna · f = 15 cm · m = 3 · görüntü gerçek (b &gt; 0)
İstenen: cismin aynaya uzaklığı a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İstenen büyütmeyi sağlamak — çözüm
1. Gerçek görüntüde b = m·a = 3a
2. 1/15 = 1/a + 1/(3a) = (3 + 1)/(3a) = 4/(3a)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İstenen büyütmeyi sağlamak — çözüm
3. 3a = 60 → a = 20 cm
4. Kontrol: b = 60 cm, m = 60/20 = 3 ✓ (a, f ile 2f arasında olduğu için görüntü gerçek, ters ve büyük.)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Makyaj aynası tasarlamak
Yüzünü aynadan 15 cm uzakta tutan biri, yüzünün 3 kat büyük ve düz görüntüsünü görmek istiyor. Çukur aynanın eğrilik yarıçapı ne olmalıdır?
Durum çizimi: Durum: yüz çukur aynanın 15 cm önünde. Sağda istenen görüntü var: düz ve yüzün 3 katı boyda. Aynanın eğrilik yarıçapı r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Makyaj aynası tasarlamak
Yüzünü aynadan 15 cm uzakta tutan biri, yüzünün 3 kat büyük ve düz görüntüsünü görmek istiyor. Çukur aynanın eğrilik yarıçapı ne olmalıdır?
Verilenler: çukur ayna · a = 15 cm · m = 3 · görüntü düz, yani sanal (b &lt; 0)
İstenen: aynanın eğrilik yarıçapı r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Makyaj aynası tasarlamak — çözüm
1. Düz ve büyük görüntü sanaldır: b = −m·a = −3 · 15 = −45 cm
2. 1/f = 1/15 + 1/(−45) = (3 − 1)/45 = 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Makyaj aynası tasarlamak — çözüm
3. f = 45/2 = 22,5 cm → r = 2f = 45 cm
4. Kontrol: a = 15 cm &lt; f = 22,5 cm, yani yüz odağın içinde ✓. Sanal formülüyle de a = f·(m − 1)/m = 22,5 · 2/3 = 15 cm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Perdeye düşen görüntü
Çukur bir aynanın önündeki mumun 2 kat büyük görüntüsü, aynaya mumdan 30 cm daha uzak olan bir perdede net olarak oluşuyor. Aynanın odak uzaklığı kaç cm'dir?
Durum çizimi: Durum: mum çukur aynanın önünde; perde mumdan 30 cm daha uzakta ve mumun 2 kat büyük görüntüsü perdede net. Ayna ile mum arasındaki uzaklık bilinmediği için o aralık kesik çizildi. Aynanın odak uzaklığı f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Perdeye düşen görüntü
Çukur bir aynanın önündeki mumun 2 kat büyük görüntüsü, aynaya mumdan 30 cm daha uzak olan bir perdede net olarak oluşuyor. Aynanın odak uzaklığı kaç cm'dir?
Verilenler: çukur ayna · m = 2 · görüntü perdede, yani gerçek (b &gt; 0) · perde aynaya mumdan 30 cm daha uzak: b − a = 30 cm
İstenen: aynanın odak uzaklığı f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Perdeye düşen görüntü — çözüm
1. Görüntü perdeye düştüğüne göre gerçektir: b = 2a
2. Perde mumdan 30 cm uzakta: b − a = 30 → 2a − a = 30 → a = 30 cm, b = 60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Perdeye düşen görüntü — çözüm
3. 1/f = 1/30 + 1/60 = (2 + 1)/60 = 3/60 → f = 20 cm
4. Kontrol: a = 30 cm, f = 20 ile 2f = 40 cm arasında; görüntü gerçek, ters ve büyük olmalı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Odak uzaklığı 10 cm olan çukur aynanın 30 cm önüne bir cisim konuyor. Görüntü aynadan kaç cm uzakta oluşur?
Öğrencilere 2–3 dakika verin; sonra cevap slaytını açın.
Cevap: Cevap: 1/f = 1/a + 1/b → 1/10 = 1/30 + 1/b → 1/b = 3/30 − 1/30 = 2/30 → b = 15 cm (pozitif: aynanın önünde, gerçek görüntü).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1/f = 1/a + 1/b → 1/10 = 1/30 + 1/b → 1/b = 3/30 − 1/30 = 2/30 → b = 15 cm (pozitif: aynanın önünde, gerçek görüntü).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Çukur aynanın 20 cm önündeki bir cismin görüntüsü aynanın 60 cm önünde oluşuyor. Büyütme kaçtır? Görüntü ters mi, düz mü?
Öğrencilere 2–3 dakika verin; sonra cevap slaytını açın.
Cevap: Cevap: m = |b / a| = 60 / 20 = 3. Görüntü aynanın önünde, yani gerçektir; gerçek görüntü her zaman terstir.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m = |b / a| = 60 / 20 = 3. Görüntü aynanın önünde, yani gerçektir; gerçek görüntü her zaman terstir.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Eğrilik yarıçapı 60 cm olan tümsek aynanın 30 cm önünde bir cisim var. Görüntünün yeri ve büyütmesi nedir?
Öğrencilere 2–3 dakika verin; sonra cevap slaytını açın.
Cevap: Cevap: Tümsekte f = −r / 2 = −30 cm. 1/b = 1/f − 1/a = −1/30 − 1/30 = −2/30 → b = −15 cm (aynanın arkasında, sanal). m = 15 / 30 = 0,5: görüntü düz ve cismin yarısı boyunda.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Tümsekte f = −r / 2 = −30 cm. 1/b = 1/f − 1/a = −1/30 − 1/30 = −2/30 → b = −15 cm (aynanın arkasında, sanal). m = 15 / 30 = 0,5: görüntü düz ve cismin yarısı boyunda.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Odak uzaklığı 30 cm olan çukur aynanın 20 cm önüne bir cisim konuyor. Görüntünün yeri, türü ve büyütmesi nedir?
Öğrencilere 2–3 dakika verin; sonra cevap slaytını açın.
Cevap: Cevap: 1/b = 1/30 − 1/20 = 2/60 − 3/60 = −1/60 → b = −60 cm: görüntü aynanın arkasında, sanal ve düz. m = 60 / 20 = 3. Cisim odağın içinde olduğu için böyle çıktı.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1/b = 1/30 − 1/20 = 2/60 − 3/60 = −1/60 → b = −60 cm: görüntü aynanın arkasında, sanal ve düz. m = 60 / 20 = 3. Cisim odağın içinde olduğu için böyle çıktı.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Çukur aynanın 60 cm önündeki bir cismin görüntüsü ters ve cismin yarısı boyunda. Aynanın eğrilik yarıçapı kaç cm'dir?
Öğrencilere 2–3 dakika verin; sonra cevap slaytını açın.
Cevap: Cevap: Ters görüntü gerçektir: b = m · a = 0,5 · 60 = 30 cm. 1/f = 1/60 + 1/30 = 1/60 + 2/60 = 3/60 → f = 20 cm → r = 2f = 40 cm. Kontrol: a = 60 cm, 2f = 40 cm'den büyük; merkezin ötesindeki cisim gerçek, ters ve küçük görüntü verir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Ters görüntü gerçektir: b = m · a = 0,5 · 60 = 30 cm. 1/f = 1/60 + 1/30 = 1/60 + 2/60 = 3/60 → f = 20 cm → r = 2f = 40 cm. Kontrol: a = 60 cm, 2f = 40 cm'den büyük; merkezin ötesindeki cisim gerçek, ters ve küçük görüntü verir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f = r sanmak. Odak uzaklığı yarıçapın yarısıdır.
• Tümsek aynada gerçek görüntü aramak. Tümsek aynada görüntü her zaman sanal, düz ve küçüktür.
• Tümsek aynada f'yi pozitif yazmak. Tümsek aynanın odağı arkadadır: f = −r/2 alınmazsa sonuç yanlış çıkar.
• Çukur aynanın her zaman ters görüntü verdiğini sanmak. Cisim odağın içindeyse görüntü sanal, düz ve büyüktür.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Sanal görüntüyü perdeye düşürmeye çalışmak. Sanal görüntü perdede oluşmaz; yalnızca aynaya bakarak görülür.
• İşaretleri karıştırmak. b'nin negatif çıkması hata değildir; görüntünün aynanın arkasında olduğunu söyler.
• Cisim odaktayken görüntü “odakta oluşur” demek. Yansıyan ışınlar paralel olur; görüntü sonsuzdadır, yani oluşmaz.
• Büyütmeyi boy farkı sanmak. Büyütme bir orandır: görüntü boyunun cisim boyuna bölümü.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Odak f = r / 2 · Denklem 1/f = 1/a + 1/b · Büyütme |b / a| · Tümsekte hep sanal
f = r / 2 — odak uzaklığı
1/f = 1/a + 1/b — ayna denklemi
m = |b / a| — büyütme
b &lt; 0 → sanal — aynanın arkasında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dersler-sekiller/kuresel-aynalar-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OPTİK · KONU 03</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Küresel aynalar</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500" dirty="0">
                <a:solidFill>
                  <a:srgbClr val="C3CEE8"/>
                </a:solidFill>
                <a:latin typeface="Calibri" pitchFamily="34" charset="0"/>
                <a:ea typeface="Calibri" pitchFamily="34" charset="-122"/>
                <a:cs typeface="Calibri" pitchFamily="34" charset="-120"/>
              </a:rPr>
              <a:t>Çukur ayna ışığı bir noktada toplar, tümsek ayna dağıtır. Görüntünün nerede oluşacağını, ne kadar büyük ve hangi yönde olacağını üç asal ışın ya da tek bir denklem söyler: 1/f = 1/a + 1/b.</a:t>
            </a:r>
            <a:endParaRPr lang="en-US" sz="15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dersler.perinet.org/kuresel-aynalar.html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Bir kaşık seni neden baş aşağı gösterir de ters çevirince düzeltir?</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Kaşığın iç yüzüne bakınca başın </a:t>
            </a:r>
            <a:pPr indent="0" marL="0">
              <a:lnSpc>
                <a:spcPct val="130000"/>
              </a:lnSpc>
              <a:buNone/>
            </a:pPr>
            <a:r>
              <a:rPr lang="en-US" sz="2100" b="1" dirty="0">
                <a:solidFill>
                  <a:srgbClr val="5F4BD8"/>
                </a:solidFill>
                <a:latin typeface="Cambria" pitchFamily="34" charset="0"/>
                <a:ea typeface="Cambria" pitchFamily="34" charset="-122"/>
                <a:cs typeface="Cambria" pitchFamily="34" charset="-120"/>
              </a:rPr>
              <a:t>ters</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 dış yüzüne bakınca </a:t>
            </a:r>
            <a:pPr indent="0" marL="0">
              <a:lnSpc>
                <a:spcPct val="130000"/>
              </a:lnSpc>
              <a:buNone/>
            </a:pPr>
            <a:r>
              <a:rPr lang="en-US" sz="2100" b="1" dirty="0">
                <a:solidFill>
                  <a:srgbClr val="5F4BD8"/>
                </a:solidFill>
                <a:latin typeface="Cambria" pitchFamily="34" charset="0"/>
                <a:ea typeface="Cambria" pitchFamily="34" charset="-122"/>
                <a:cs typeface="Cambria" pitchFamily="34" charset="-120"/>
              </a:rPr>
              <a:t>düz ve küçük</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 görünür.</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Aynı metal, aynı ışık — değişen tek şey yüzeyin hangi yöne büküldüğü.</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Küresel aynalar düzlem aynadan tek bir noktada ayrılır: </a:t>
            </a:r>
            <a:pPr indent="0" marL="0">
              <a:lnSpc>
                <a:spcPct val="130000"/>
              </a:lnSpc>
              <a:buNone/>
            </a:pPr>
            <a:r>
              <a:rPr lang="en-US" sz="2100" b="1" dirty="0">
                <a:solidFill>
                  <a:srgbClr val="5F4BD8"/>
                </a:solidFill>
                <a:latin typeface="Cambria" pitchFamily="34" charset="0"/>
                <a:ea typeface="Cambria" pitchFamily="34" charset="-122"/>
                <a:cs typeface="Cambria" pitchFamily="34" charset="-120"/>
              </a:rPr>
              <a:t>paralel gelen ışınları bir noktada toplarlar</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 (ya da tek bir noktadan geliyormuş gibi dağıtırlar).</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100" dirty="0">
                <a:solidFill>
                  <a:srgbClr val="0E1426"/>
                </a:solidFill>
                <a:latin typeface="Cambria" pitchFamily="34" charset="0"/>
                <a:ea typeface="Cambria" pitchFamily="34" charset="-122"/>
                <a:cs typeface="Cambria" pitchFamily="34" charset="-120"/>
              </a:rPr>
              <a:t>Odak dediğimiz o nokta, bu konunun tamamının anahtarıdır.</a:t>
            </a:r>
            <a:endParaRPr lang="en-US" sz="21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kaşığa ve aynalara bak, çukur ile tümseği ayır, odak ile merkezin ne olduğunu kavra.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kaşıkta neden baş aşağısın?</a:t>
            </a:r>
            <a:endParaRPr lang="en-US" sz="120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Temel kavramlar: çukur ve tümsek ayna</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Odak: ışınları toplayan nokta</a:t>
            </a:r>
            <a:endParaRPr lang="en-US" sz="125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Işın çiziminden denkleme: görüntünün yerini, türünü ve boyunu önce çizerek, sonra hesaplayarak bul.</a:t>
            </a:r>
            <a:endParaRPr lang="en-US" sz="115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Asal ışınlar ve görüntü çizimi</a:t>
            </a:r>
            <a:endParaRPr lang="en-US" sz="1050" dirty="0"/>
          </a:p>
        </p:txBody>
      </p:sp>
      <p:sp>
        <p:nvSpPr>
          <p:cNvPr id="28" name="Text 26"/>
          <p:cNvSpPr txBox="1"/>
          <p:nvPr/>
        </p:nvSpPr>
        <p:spPr>
          <a:xfrm>
            <a:off x="3637712" y="3988308"/>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988308"/>
            <a:ext cx="1754048" cy="367284"/>
          </a:xfrm>
          <a:prstGeom prst="rect">
            <a:avLst/>
          </a:prstGeom>
          <a:noFill/>
          <a:ln/>
        </p:spPr>
        <p:txBody>
          <a:bodyPr wrap="square" lIns="0" tIns="0" rIns="0" bIns="0" rtlCol="0" anchor="t"/>
          <a:lstStyle/>
          <a:p>
            <a:pPr indent="0" marL="0">
              <a:lnSpc>
                <a:spcPct val="105000"/>
              </a:lnSpc>
              <a:buNone/>
            </a:pPr>
            <a:r>
              <a:rPr lang="en-US" sz="1100" b="1" dirty="0">
                <a:solidFill>
                  <a:srgbClr val="0E1426"/>
                </a:solidFill>
                <a:latin typeface="Calibri" pitchFamily="34" charset="0"/>
                <a:ea typeface="Calibri" pitchFamily="34" charset="-122"/>
                <a:cs typeface="Calibri" pitchFamily="34" charset="-120"/>
              </a:rPr>
              <a:t>Çukur aynada beş durum</a:t>
            </a:r>
            <a:endParaRPr lang="en-US" sz="1100" dirty="0"/>
          </a:p>
        </p:txBody>
      </p:sp>
      <p:sp>
        <p:nvSpPr>
          <p:cNvPr id="30" name="Text 28"/>
          <p:cNvSpPr txBox="1"/>
          <p:nvPr/>
        </p:nvSpPr>
        <p:spPr>
          <a:xfrm>
            <a:off x="3637712" y="4410456"/>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410456"/>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Tümsek ayna: her zaman düz ve küçük</a:t>
            </a:r>
            <a:endParaRPr lang="en-US" sz="1050" dirty="0"/>
          </a:p>
        </p:txBody>
      </p:sp>
      <p:sp>
        <p:nvSpPr>
          <p:cNvPr id="32" name="Text 30"/>
          <p:cNvSpPr txBox="1"/>
          <p:nvPr/>
        </p:nvSpPr>
        <p:spPr>
          <a:xfrm>
            <a:off x="3637712" y="4832604"/>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Ayna denklemi ve işaret kuralı</a:t>
            </a:r>
            <a:endParaRPr lang="en-US" sz="1050" dirty="0"/>
          </a:p>
        </p:txBody>
      </p:sp>
      <p:sp>
        <p:nvSpPr>
          <p:cNvPr id="34" name="Text 32"/>
          <p:cNvSpPr txBox="1"/>
          <p:nvPr/>
        </p:nvSpPr>
        <p:spPr>
          <a:xfrm>
            <a:off x="3637712" y="5254752"/>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254752"/>
            <a:ext cx="1754048" cy="36728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Büyütme</a:t>
            </a:r>
            <a:endParaRPr lang="en-US" sz="1250" dirty="0"/>
          </a:p>
        </p:txBody>
      </p:sp>
      <p:sp>
        <p:nvSpPr>
          <p:cNvPr id="36" name="Text 34"/>
          <p:cNvSpPr txBox="1"/>
          <p:nvPr/>
        </p:nvSpPr>
        <p:spPr>
          <a:xfrm>
            <a:off x="3637712" y="5676900"/>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676900"/>
            <a:ext cx="1754048" cy="367284"/>
          </a:xfrm>
          <a:prstGeom prst="rect">
            <a:avLst/>
          </a:prstGeom>
          <a:noFill/>
          <a:ln/>
        </p:spPr>
        <p:txBody>
          <a:bodyPr wrap="square" lIns="0" tIns="0" rIns="0" bIns="0" rtlCol="0" anchor="t"/>
          <a:lstStyle/>
          <a:p>
            <a:pPr indent="0" marL="0">
              <a:lnSpc>
                <a:spcPct val="105000"/>
              </a:lnSpc>
              <a:buNone/>
            </a:pPr>
            <a:r>
              <a:rPr lang="en-US" sz="1000" b="1" dirty="0">
                <a:solidFill>
                  <a:srgbClr val="0E1426"/>
                </a:solidFill>
                <a:latin typeface="Calibri" pitchFamily="34" charset="0"/>
                <a:ea typeface="Calibri" pitchFamily="34" charset="-122"/>
                <a:cs typeface="Calibri" pitchFamily="34" charset="-120"/>
              </a:rPr>
              <a:t>Sayılarla hisset: cisim yaklaşırken görüntü nereye kaçar?</a:t>
            </a:r>
            <a:endParaRPr lang="en-US" sz="100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Calibri" pitchFamily="34" charset="0"/>
                <a:ea typeface="Calibri" pitchFamily="34" charset="-122"/>
                <a:cs typeface="Calibri" pitchFamily="34" charset="-120"/>
              </a:rPr>
              <a:t>Derinleşme: yan aynadaki uyarının hesabı, küresel aynanın sınırları ve küresel aynaların iş başında olduğu yerler.</a:t>
            </a:r>
            <a:endParaRPr lang="en-US" sz="110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Yan aynadaki uyarının hesabı</a:t>
            </a:r>
            <a:endParaRPr lang="en-US" sz="1250" dirty="0"/>
          </a:p>
        </p:txBody>
      </p:sp>
      <p:sp>
        <p:nvSpPr>
          <p:cNvPr id="47" name="Text 45"/>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Modelin sınırları: küresel sapma ve parabolik ayna</a:t>
            </a:r>
            <a:endParaRPr lang="en-US" sz="1200" dirty="0"/>
          </a:p>
        </p:txBody>
      </p:sp>
      <p:sp>
        <p:nvSpPr>
          <p:cNvPr id="49" name="Text 47"/>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Küresel aynalar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Yansıma yasası: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ışık aynaya çarpınca gelme açısı yansıma açısına eşit olur (i = r). İki açı da yüzeye dik çizilen normalden ölçülür.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Gerçek ve sanal görüntü:</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ışınların kendisi bir noktada buluşursa görüntü gerçektir ve perdeye düşer. Yalnızca uzantıları buluşursa sanaldır; düzlem aynadaki görüntün böyledir.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Merkez ve yarıçap:</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kürenin merkezinden yüzeyine olan uzaklık yarıçaptır ve çapın yarısıdır. Çapı 40 cm olan bir topun yarıçapı 20 cm'dir.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Kesirlerle işlem:</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paydaları eşitle, sonra payları topla ya da çıkar: 1/20 − 1/40 = 2/40 − 1/40 = 1/40. Sonuç eksi de çıkabilir: 1/20 − 1/10 = −1/20.</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Oran:</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sayının ötekinin kaç katı olduğu. 12 cm'lik bir boy, 24 cm'lik bir boyun 12 / 24 = 0,5 katı, yani yarısıdır.</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kaşığa ve aynalara bak, çukur ile tümseği ayır, odak ile merkezin ne olduğunu kavra. Hesap yok denecek kadar az.</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kaşıkta neden baş aşağısın?</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Temel kavramlar: çukur ve tümsek ayna</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Odak: ışınları toplayan nokta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dersler-sekiller/kuresel-aynalar-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Kaşığın çukur yüzü</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bir küresel ayna gibi davranır. Yüz kaşıktan oldukça uzakta olduğu için görüntü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ters ve küçük</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oluşur: ışınlar yansıdıktan sonra gerçekten kesişir. Kaşığı ters çevirip tümsek yüzüne baksaydın görüntü düz ve yine küçük olurdu; aradaki farkı ikinci basamakta ışın çizerek açıklayacağız.</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dersler.perinet.org/kuresel-aynalar.html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kaşıkta neden baş aşağısın?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Parlak bir çorba kaşığını kolunu uzatarak tut ve iç yüzüne bak.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Yüzün küçülmüş ve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baş aşağı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Kaşığı yavaşça gözüne yaklaştır: ters görüntü büyür, bir noktadan sonra bulanıklaşıp dağılır.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Şimdi kaşığı çevir ve dış yüzüne bak: yüzün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düz</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küçüktür, arkandaki odanın neredeyse tamamı da o küçük yüzeye sığmıştır.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kaşıkta neden baş aşağısın?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Kaşığı ne kadar yaklaştırıp uzaklaştırırsan uzaklaştır, dış yüzdeki görüntü hiç ters dönmez.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kaşıkta neden baş aşağısın?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ikilik başka aynalarda da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Banyodaki makyaj ya da tıraş aynasına yakından bakınca yüzün büyük ve düz görünür, odanın öbür ucundan bakınca ters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Arabaların yan aynaları ve market köşelerindeki aynalar ise her şeyi düz ve küçük gösterir.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Gözlemlerini şöyle toplayabilirsin: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kaşıkta neden baş aşağısın?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574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İçe bükük yüzeye uzaktan bakınca: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ters ve çoğu zaman küçüktür.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İçe bükük yüzeye çok yakından bakınca: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düz ve büyüktür (makyaj aynası).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Dışa bükük yüzeyde: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her uzaklıkta düz ve küçüktür, ama çok geniş bir alan görünür.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Kenarlara doğru: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çarpılır; düz çizgiler eğri görünür.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kaşıkta neden baş aşağısın?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628413" y="1234440"/>
            <a:ext cx="693487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1.png">    </p:cNvPr>
          <p:cNvPicPr>
            <a:picLocks noChangeAspect="1"/>
          </p:cNvPicPr>
          <p:nvPr/>
        </p:nvPicPr>
        <p:blipFill>
          <a:blip r:embed="rId1"/>
          <a:stretch>
            <a:fillRect/>
          </a:stretch>
        </p:blipFill>
        <p:spPr>
          <a:xfrm>
            <a:off x="2857013" y="1325880"/>
            <a:ext cx="647767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yüz, üç farklı yüzeyde.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Kaşığın iç yüzü</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içe büküktür; uzaktan bakınca seni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baş aşağı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küçük gösterir.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Dış yüzü</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dışa büküktür, seni her uzaklıkta düz ve küçük gösterir. İçe bükük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makyaj aynasına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yakından bakınca ise yüzün düz ve büyük görünür.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kaşıkta neden baş aşağısın?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İçe bükük bir yüzey uzaktaki cismi ters, çok yakındakini düz ve büyük gösterir; dışa bükük bir yüzey ise her şeyi düz ve küçük ama geniş bir alanla gösterir.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Kaşığın iç yüzünde baş aşağı görünüyorsun. Kaşığı ters çevirip dış yüzüne bakarsan ne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kaşıkta neden baş aşağısın?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Kaşığın iç yüzünde baş aşağı görünüyorsun. Kaşığı ters çevirip dış yüzüne bakarsan ne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Görüntü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düzelir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ve küçük kalır. Dış yüz dışa doğru bükülmüştür; ışınları toplamak yerine dağıtır ve bu yüzden görüntü hiçbir uzaklıkta ters dönmez. Aynı metal parçasının iki yüzü, bu konunun iki ayna türünü, çukur ve tümsek aynayı temsil eder.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kavramlar: çukur ve tümsek ayna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Küresel ayna, bir kürenin parçası biçimindeki aynadır.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İç yüzeyi yansıtıcıysa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çukur (konkav)</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dış yüzeyi yansıtıcıysa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tümsek (konveks)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ayna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İçi boş parlak bir top düşün ve ondan bir kapak kes: kapağın içi çukur, dışı tümsek aynadır.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kavramlar: çukur ve tümsek ayna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183794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Tepe noktası (T):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aynanın orta noktası.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Merkez (M):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aynanın ait olduğu kürenin merkezi.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Odak (F):</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tepe ile merkezin tam ortası.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Asal eksen: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tepe ile merkezden geçen doğru.</a:t>
            </a:r>
            <a:endParaRPr lang="en-US" sz="2100" dirty="0"/>
          </a:p>
        </p:txBody>
      </p:sp>
      <p:sp>
        <p:nvSpPr>
          <p:cNvPr id="7" name="Text 5"/>
          <p:cNvSpPr txBox="1"/>
          <p:nvPr/>
        </p:nvSpPr>
        <p:spPr>
          <a:xfrm>
            <a:off x="640080" y="3364992"/>
            <a:ext cx="10911535" cy="45948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Eğrilik yarıçapı (r):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tepe ile merkez arası uzaklık.</a:t>
            </a:r>
            <a:endParaRPr lang="en-US" sz="2100" dirty="0"/>
          </a:p>
        </p:txBody>
      </p:sp>
      <p:sp>
        <p:nvSpPr>
          <p:cNvPr id="8" name="Shape 6"/>
          <p:cNvSpPr/>
          <p:nvPr/>
        </p:nvSpPr>
        <p:spPr>
          <a:xfrm>
            <a:off x="640080" y="4025646"/>
            <a:ext cx="1799539"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640080" y="4025646"/>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 = r / 2</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kavramlar: çukur ve tümsek ayna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Küresel aynayı çok küçük düzlem ayna parçalarından yapılmış gibi düşünebilirsin.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parçada yansıma yasası (gelme açısı = yansıma açısı) aynen geçerlidir; yalnızca her parçanın normali farklı yöne bakar.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Kürenin yarıçapı yüzeyine her noktada dik olduğu için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her noktanın normali merkezden geçer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Eğrilik yarıçapı büyüdükçe ayna düzleşir; r çok büyük olunca küresel ayna düzlem aynaya dönüşür.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kavramlar: çukur ve tümsek ayna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600682" y="1234440"/>
            <a:ext cx="899033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2.png">    </p:cNvPr>
          <p:cNvPicPr>
            <a:picLocks noChangeAspect="1"/>
          </p:cNvPicPr>
          <p:nvPr/>
        </p:nvPicPr>
        <p:blipFill>
          <a:blip r:embed="rId1"/>
          <a:stretch>
            <a:fillRect/>
          </a:stretch>
        </p:blipFill>
        <p:spPr>
          <a:xfrm>
            <a:off x="1829282" y="1325880"/>
            <a:ext cx="853313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Küresel ayna, bir kürenin küçük bir parçasıdır.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Merkez (M)</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 kürenin merkezi,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tepe (T)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aynanın ortası,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odak (F)</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ise ikisinin tam ortasıdır. Asal eksene paralel gelen bütün ışınlar yansıdıktan sonra odaktan geçer — bu yüzden odak, aynanın "toplama noktası"dır. Odak uzaklığı aynanın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yarıçapının yarısıdır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f = r/2.</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kavramlar: çukur ve tümsek ayna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Küresel ayna bir küre parçasıdır: içi yansıtıcıysa çukur, dışı yansıtıcıysa tümsek. Her noktanın normali merkezden geçer ve odak, tepe ile merkezin tam ortasındadır: f = r/2.</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Odak: ışınları toplayan nokta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Çukur aynada asal eksene paralel gelen ışınlar yansıdıktan sonra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odakta toplanır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Tümsek aynada ise ışınlar dağılır; uzantıları aynanın arkasındaki odakta kesişir.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çukur ayna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toplayıcı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tümsek ayna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dağıtıcı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Uzaktaki bir cisimden, örneğin Güneş'ten gelen ışınlar birbirine paralel sayılır; bu yüzden çukur ayna güneş ışığını odağında küçük, parlak bir lekeye toplar.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Odak: ışınları toplayan nokta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Shape 4"/>
          <p:cNvSpPr/>
          <p:nvPr/>
        </p:nvSpPr>
        <p:spPr>
          <a:xfrm>
            <a:off x="3178080" y="1234440"/>
            <a:ext cx="583553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3.png">    </p:cNvPr>
          <p:cNvPicPr>
            <a:picLocks noChangeAspect="1"/>
          </p:cNvPicPr>
          <p:nvPr/>
        </p:nvPicPr>
        <p:blipFill>
          <a:blip r:embed="rId1"/>
          <a:stretch>
            <a:fillRect/>
          </a:stretch>
        </p:blipFill>
        <p:spPr>
          <a:xfrm>
            <a:off x="3406680" y="1325880"/>
            <a:ext cx="537833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Üstte çukur aynaya asal eksene paralel gelen ışınlar, yansıdıktan sonra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odakta (F) buluşur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ışınlar oradan gerçekten geçtiği için bu odak gerçektir. Altta tümsek aynaya gelen paralel ışınlar yansıyınca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dağılır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Kesikli uzantıları aynanın arkasındaki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sanal odakta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kesişir: ışınlar oradan geliyormuş gibi görünür.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Odak: ışınları toplayan nokta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Işığın yolu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tersinirdir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ışın bir yolu izleyebiliyorsa, ters yönde gönderilen ışın aynı yolu geri izler.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Paralel ışınlar odakta toplanıyorsa, odağa konan bir ampulün ışınları da yansıdıktan sonra paralel bir demet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El fenerleri ve araba farları böyle çalışır.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Odak: ışınları toplayan nokta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Çukur aynada odak gerçektir: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ışınlar oradan gerçekten geçer; odağa kâğıt tutarsan ışık lekesi oluşur.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Tümsek aynada odak sanaldır: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ışınlar oradan geçmez, yalnızca oradan geliyormuş gibi dağılır.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Tersinirlik: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odaktan çıkan ışınlar paralel yansır; paralel gelenler odakta toplanır.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Odak: ışınları toplayan nokta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A56209"/>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Güneş'e tutulan çukur ayna tehlikelidir.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Odakta toplanan güneş ışığı kâğıdı tutuşturacak kadar yoğunlaşabilir. Aynanın yansıttığı güneş ışığına ve odaktaki parlak lekeye doğrudan bakma; deney yapacaksan ışığı bir kartona düşür.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Odak: ışınları toplayan nokta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ek1-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Çukur ayna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Güneş'ten gelen paralel ışınları odağında toplar; karton odağa getirildiğinde ışık küçük ve çok parlak bir lekede birikir. Işınlar oradan gerçekten geçtiği için çukur aynanın odağı gerçektir. Bu lekeye ve aynanın yansıttığı güneşe doğrudan bakma.</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Odak: ışınları toplayan nokta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Çukur ayna paralel ışınları gerçek bir odakta toplar, tümsek ayna ise sanal bir odaktan geliyormuş gibi dağıtır. Işığın yolu tersinir olduğu için odaktaki kaynak paralel bir demet verir.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El fenerinin ampulü odaktan biraz aynaya doğru kaydırılırsa ışık demeti nasıl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Odak: ışınları toplayan nokta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El fenerinin ampulü odaktan biraz aynaya doğru kaydırılırsa ışık demeti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Yansıyan ışınlar artık paralel olmaz,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dağılır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Demet geniş bir alanı aydınlatır ama uzağa ulaşan ışık azalır. Ayarlanabilir fenerler ampul ile yansıtıcı arasındaki uzaklığı değiştirerek dar ya da geniş demet elde eder.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Işın çiziminden denkleme: görüntünün yerini, türünü ve boyunu önce çizerek, sonra hesaplayarak bul.</a:t>
            </a:r>
            <a:endParaRPr lang="en-US" sz="1600" dirty="0"/>
          </a:p>
        </p:txBody>
      </p:sp>
      <p:sp>
        <p:nvSpPr>
          <p:cNvPr id="6" name="Text 4"/>
          <p:cNvSpPr txBox="1"/>
          <p:nvPr/>
        </p:nvSpPr>
        <p:spPr>
          <a:xfrm>
            <a:off x="731520" y="45720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04   </a:t>
            </a:r>
            <a:pPr indent="0" marL="0">
              <a:buNone/>
            </a:pPr>
            <a:r>
              <a:rPr lang="en-US" sz="1150" dirty="0">
                <a:solidFill>
                  <a:srgbClr val="FFFFFF"/>
                </a:solidFill>
                <a:latin typeface="Calibri" pitchFamily="34" charset="0"/>
                <a:ea typeface="Calibri" pitchFamily="34" charset="-122"/>
                <a:cs typeface="Calibri" pitchFamily="34" charset="-120"/>
              </a:rPr>
              <a:t>Asal ışınlar ve görüntü çizimi</a:t>
            </a:r>
            <a:endParaRPr lang="en-US" sz="1150" dirty="0"/>
          </a:p>
        </p:txBody>
      </p:sp>
      <p:sp>
        <p:nvSpPr>
          <p:cNvPr id="7" name="Text 5"/>
          <p:cNvSpPr txBox="1"/>
          <p:nvPr/>
        </p:nvSpPr>
        <p:spPr>
          <a:xfrm>
            <a:off x="731520" y="48387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05   </a:t>
            </a:r>
            <a:pPr indent="0" marL="0">
              <a:buNone/>
            </a:pPr>
            <a:r>
              <a:rPr lang="en-US" sz="1150" dirty="0">
                <a:solidFill>
                  <a:srgbClr val="FFFFFF"/>
                </a:solidFill>
                <a:latin typeface="Calibri" pitchFamily="34" charset="0"/>
                <a:ea typeface="Calibri" pitchFamily="34" charset="-122"/>
                <a:cs typeface="Calibri" pitchFamily="34" charset="-120"/>
              </a:rPr>
              <a:t>Çukur aynada beş durum</a:t>
            </a:r>
            <a:endParaRPr lang="en-US" sz="1150" dirty="0"/>
          </a:p>
        </p:txBody>
      </p:sp>
      <p:sp>
        <p:nvSpPr>
          <p:cNvPr id="8" name="Text 6"/>
          <p:cNvSpPr txBox="1"/>
          <p:nvPr/>
        </p:nvSpPr>
        <p:spPr>
          <a:xfrm>
            <a:off x="731520" y="51054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06   </a:t>
            </a:r>
            <a:pPr indent="0" marL="0">
              <a:buNone/>
            </a:pPr>
            <a:r>
              <a:rPr lang="en-US" sz="1150" dirty="0">
                <a:solidFill>
                  <a:srgbClr val="FFFFFF"/>
                </a:solidFill>
                <a:latin typeface="Calibri" pitchFamily="34" charset="0"/>
                <a:ea typeface="Calibri" pitchFamily="34" charset="-122"/>
                <a:cs typeface="Calibri" pitchFamily="34" charset="-120"/>
              </a:rPr>
              <a:t>Tümsek ayna: her zaman düz ve küçük</a:t>
            </a:r>
            <a:endParaRPr lang="en-US" sz="1150" dirty="0"/>
          </a:p>
        </p:txBody>
      </p:sp>
      <p:sp>
        <p:nvSpPr>
          <p:cNvPr id="9" name="Text 7"/>
          <p:cNvSpPr txBox="1"/>
          <p:nvPr/>
        </p:nvSpPr>
        <p:spPr>
          <a:xfrm>
            <a:off x="731520" y="53721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07   </a:t>
            </a:r>
            <a:pPr indent="0" marL="0">
              <a:buNone/>
            </a:pPr>
            <a:r>
              <a:rPr lang="en-US" sz="1150" dirty="0">
                <a:solidFill>
                  <a:srgbClr val="FFFFFF"/>
                </a:solidFill>
                <a:latin typeface="Calibri" pitchFamily="34" charset="0"/>
                <a:ea typeface="Calibri" pitchFamily="34" charset="-122"/>
                <a:cs typeface="Calibri" pitchFamily="34" charset="-120"/>
              </a:rPr>
              <a:t>Ayna denklemi ve işaret kuralı</a:t>
            </a:r>
            <a:endParaRPr lang="en-US" sz="1150" dirty="0"/>
          </a:p>
        </p:txBody>
      </p:sp>
      <p:sp>
        <p:nvSpPr>
          <p:cNvPr id="10" name="Text 8"/>
          <p:cNvSpPr txBox="1"/>
          <p:nvPr/>
        </p:nvSpPr>
        <p:spPr>
          <a:xfrm>
            <a:off x="731520" y="56388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08   </a:t>
            </a:r>
            <a:pPr indent="0" marL="0">
              <a:buNone/>
            </a:pPr>
            <a:r>
              <a:rPr lang="en-US" sz="1150" dirty="0">
                <a:solidFill>
                  <a:srgbClr val="FFFFFF"/>
                </a:solidFill>
                <a:latin typeface="Calibri" pitchFamily="34" charset="0"/>
                <a:ea typeface="Calibri" pitchFamily="34" charset="-122"/>
                <a:cs typeface="Calibri" pitchFamily="34" charset="-120"/>
              </a:rPr>
              <a:t>Büyütme</a:t>
            </a:r>
            <a:endParaRPr lang="en-US" sz="1150" dirty="0"/>
          </a:p>
        </p:txBody>
      </p:sp>
      <p:sp>
        <p:nvSpPr>
          <p:cNvPr id="11" name="Text 9"/>
          <p:cNvSpPr txBox="1"/>
          <p:nvPr/>
        </p:nvSpPr>
        <p:spPr>
          <a:xfrm>
            <a:off x="731520" y="59055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09   </a:t>
            </a:r>
            <a:pPr indent="0" marL="0">
              <a:buNone/>
            </a:pPr>
            <a:r>
              <a:rPr lang="en-US" sz="1150" dirty="0">
                <a:solidFill>
                  <a:srgbClr val="FFFFFF"/>
                </a:solidFill>
                <a:latin typeface="Calibri" pitchFamily="34" charset="0"/>
                <a:ea typeface="Calibri" pitchFamily="34" charset="-122"/>
                <a:cs typeface="Calibri" pitchFamily="34" charset="-120"/>
              </a:rPr>
              <a:t>Sayılarla hisset: cisim yaklaşırken görüntü nereye kaçar?</a:t>
            </a:r>
            <a:endParaRPr lang="en-US" sz="1150" dirty="0"/>
          </a:p>
        </p:txBody>
      </p:sp>
      <p:sp>
        <p:nvSpPr>
          <p:cNvPr id="12" name="Text 10"/>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3" name="Shape 11"/>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4" name="Text 12"/>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 = r / 2</a:t>
            </a:r>
            <a:endParaRPr lang="en-US" sz="1500" dirty="0"/>
          </a:p>
        </p:txBody>
      </p:sp>
      <p:sp>
        <p:nvSpPr>
          <p:cNvPr id="15" name="Text 13"/>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odak uzaklığı</a:t>
            </a:r>
            <a:endParaRPr lang="en-US" sz="1200" dirty="0"/>
          </a:p>
        </p:txBody>
      </p:sp>
      <p:sp>
        <p:nvSpPr>
          <p:cNvPr id="16" name="Shape 14"/>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7" name="Text 15"/>
          <p:cNvSpPr txBox="1"/>
          <p:nvPr/>
        </p:nvSpPr>
        <p:spPr>
          <a:xfrm>
            <a:off x="6400800" y="235000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1/f = 1/a + 1/b</a:t>
            </a:r>
            <a:endParaRPr lang="en-US" sz="1500" dirty="0"/>
          </a:p>
        </p:txBody>
      </p:sp>
      <p:sp>
        <p:nvSpPr>
          <p:cNvPr id="18" name="Text 16"/>
          <p:cNvSpPr txBox="1"/>
          <p:nvPr/>
        </p:nvSpPr>
        <p:spPr>
          <a:xfrm>
            <a:off x="8549640" y="235000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ayna denklemi</a:t>
            </a:r>
            <a:endParaRPr lang="en-US" sz="1200" dirty="0"/>
          </a:p>
        </p:txBody>
      </p:sp>
      <p:sp>
        <p:nvSpPr>
          <p:cNvPr id="19" name="Shape 17"/>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20" name="Text 18"/>
          <p:cNvSpPr txBox="1"/>
          <p:nvPr/>
        </p:nvSpPr>
        <p:spPr>
          <a:xfrm>
            <a:off x="6400800" y="321868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m = |b / a|</a:t>
            </a:r>
            <a:endParaRPr lang="en-US" sz="1500" dirty="0"/>
          </a:p>
        </p:txBody>
      </p:sp>
      <p:sp>
        <p:nvSpPr>
          <p:cNvPr id="21" name="Text 19"/>
          <p:cNvSpPr txBox="1"/>
          <p:nvPr/>
        </p:nvSpPr>
        <p:spPr>
          <a:xfrm>
            <a:off x="8138160" y="321868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büyütme</a:t>
            </a:r>
            <a:endParaRPr lang="en-US" sz="1200" dirty="0"/>
          </a:p>
        </p:txBody>
      </p:sp>
      <p:sp>
        <p:nvSpPr>
          <p:cNvPr id="22" name="Shape 20"/>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3" name="Text 21"/>
          <p:cNvSpPr txBox="1"/>
          <p:nvPr/>
        </p:nvSpPr>
        <p:spPr>
          <a:xfrm>
            <a:off x="6400800" y="4087368"/>
            <a:ext cx="181965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b &lt; 0 → sanal</a:t>
            </a:r>
            <a:endParaRPr lang="en-US" sz="1500" dirty="0"/>
          </a:p>
        </p:txBody>
      </p:sp>
      <p:sp>
        <p:nvSpPr>
          <p:cNvPr id="24" name="Text 22"/>
          <p:cNvSpPr txBox="1"/>
          <p:nvPr/>
        </p:nvSpPr>
        <p:spPr>
          <a:xfrm>
            <a:off x="8311896" y="4087368"/>
            <a:ext cx="305683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aynanın arkasında</a:t>
            </a:r>
            <a:endParaRPr lang="en-US" sz="1200" dirty="0"/>
          </a:p>
        </p:txBody>
      </p:sp>
      <p:sp>
        <p:nvSpPr>
          <p:cNvPr id="25" name="Shape 23"/>
          <p:cNvSpPr/>
          <p:nvPr/>
        </p:nvSpPr>
        <p:spPr>
          <a:xfrm>
            <a:off x="640080" y="6382512"/>
            <a:ext cx="128016" cy="128016"/>
          </a:xfrm>
          <a:prstGeom prst="roundRect">
            <a:avLst>
              <a:gd name="adj" fmla="val 28571"/>
            </a:avLst>
          </a:prstGeom>
          <a:solidFill>
            <a:srgbClr val="C6F36B"/>
          </a:solidFill>
          <a:ln/>
        </p:spPr>
      </p:sp>
      <p:sp>
        <p:nvSpPr>
          <p:cNvPr id="26" name="Text 2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dersler.perinet.org/kuresel-aynalar.html</a:t>
            </a:r>
            <a:endParaRPr lang="en-US" sz="1050" dirty="0"/>
          </a:p>
        </p:txBody>
      </p:sp>
      <p:sp>
        <p:nvSpPr>
          <p:cNvPr id="27" name="Text 2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Asal ışınlar ve görüntü çizimi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Cismin bir noktasından sayısız ışın çıkar, ama bunlardan bazılarının yansıdıktan sonra nereye gideceğini hesapsız biliriz.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Bunlara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asal ışınlar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Görüntüyü çizmek için ikisi yeter: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Asal ışınlar ve görüntü çizimi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20599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Asal eksene paralel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gelen ışın, yansıdıktan sonra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odaktan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geçer (tümsekte odaktan geliyormuş gibi görünür).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Odaktan geçerek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gelen ışın, yansıdıktan sonra asal eksene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paralel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gider.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Tepe noktasına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gelen ışın, asal eksene göre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simetrik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yansır.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Merkezden geçen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ışın, aynaya dik geldiği için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kendi üzerinden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geri döner.</a:t>
            </a:r>
            <a:endParaRPr lang="en-US" sz="2100" dirty="0"/>
          </a:p>
        </p:txBody>
      </p:sp>
      <p:sp>
        <p:nvSpPr>
          <p:cNvPr id="7" name="Shape 5"/>
          <p:cNvSpPr/>
          <p:nvPr/>
        </p:nvSpPr>
        <p:spPr>
          <a:xfrm>
            <a:off x="640080" y="3733038"/>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3897630"/>
            <a:ext cx="54864" cy="704088"/>
          </a:xfrm>
          <a:prstGeom prst="rect">
            <a:avLst/>
          </a:prstGeom>
          <a:solidFill>
            <a:srgbClr val="3C8C21"/>
          </a:solidFill>
          <a:ln/>
        </p:spPr>
      </p:sp>
      <p:sp>
        <p:nvSpPr>
          <p:cNvPr id="9" name="Text 7"/>
          <p:cNvSpPr txBox="1"/>
          <p:nvPr/>
        </p:nvSpPr>
        <p:spPr>
          <a:xfrm>
            <a:off x="950976" y="3861054"/>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Görüntü nerede?</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İki ışının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kendisi</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kesişiyorsa görüntü gerçektir ve perdeye düşürülebilir. Yalnızca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uzantıları</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kesişiyorsa görüntü sanaldır.</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Asal ışınlar ve görüntü çizimi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Odak neden tam ortada?</a:t>
            </a:r>
            <a:endParaRPr lang="en-US" sz="2200" dirty="0"/>
          </a:p>
        </p:txBody>
      </p:sp>
      <p:sp>
        <p:nvSpPr>
          <p:cNvPr id="8" name="Text 6"/>
          <p:cNvSpPr txBox="1"/>
          <p:nvPr/>
        </p:nvSpPr>
        <p:spPr>
          <a:xfrm>
            <a:off x="640080" y="1892808"/>
            <a:ext cx="10911535" cy="331012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Normal: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Eksene paralel bir ışın aynaya A noktasında çarpsın. AM doğrusu yarıçaptır, yani A'daki normaldir.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Açılar: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Gelen ışın normalle i açısı yapar; ışın eksene paralel olduğundan normal de eksenle i açısı yapar.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İkizkenar üçgen: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Yansıyan ışın ekseni F'de kessin. AFM üçgeninin A ve M köşelerindeki açılar i'dir; demek ki FA = FM.</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Sonuç:</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Işın eksene yakınsa FA ile FT hemen hemen eşittir; F, T ile M'nin tam ortasına düşer: f = r/2.</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Asal ışınlar ve görüntü çizimi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1948952" y="1234440"/>
            <a:ext cx="8293791"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4.png">    </p:cNvPr>
          <p:cNvPicPr>
            <a:picLocks noChangeAspect="1"/>
          </p:cNvPicPr>
          <p:nvPr/>
        </p:nvPicPr>
        <p:blipFill>
          <a:blip r:embed="rId1"/>
          <a:stretch>
            <a:fillRect/>
          </a:stretch>
        </p:blipFill>
        <p:spPr>
          <a:xfrm>
            <a:off x="2177552" y="1325880"/>
            <a:ext cx="7836591"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Görüntüyü bulmak için üç ışından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ikisi yeter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eksene paralel gelir, yansıyınca odaktan geçer;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odaktan geçerek gelir, yansıyınca eksene paralel olur;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3</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tepe noktasına gelir, eksene göre simetrik yansır. Üçü de aynı noktada kesişir ve orası görüntünün yeridir. Işınlar gerçekten kesişiyorsa görüntü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gerçektir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perdeye düşer.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Asal ışınlar ve görüntü çizimi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bölümündeki ışın çizimi laboratuvarında ayna türünü, yarıçapı ve cismin yerini değiştirerek asal ışınların görüntüyü nasıl bulduğunu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Asal ışınlar ve görüntü çizimi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Paralel gelen ışın odaktan, odaktan gelen paralel, tepeye gelen simetrik, merkezden gelen kendi üzerinden yansır; ikisinin kesiştiği yer görüntüdür. Işınlar kesişirse görüntü gerçek, uzantılar kesişirse sanaldır.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Çukur aynada beş durum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Asal ışınları cismin farklı konumları için çizersen yalnızca beş farklı sonuç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Bunları bir tabloda toplamak, çukur ayna sorularının çoğunu çizim yapmadan cevaplamanı sağlar: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Çukur aynada beş durum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637178"/>
                <a:gridCol w="3637178"/>
                <a:gridCol w="363717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Cismin yeri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Görüntünün yeri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Özellikleri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Merkezin ötesinde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odak – merkez arası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gerçek, ters, küçük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Merkezde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merkezde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gerçek, ters, eşit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Merkez – odak arası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merkezin ötesinde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gerçek, ters, büyük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Odakta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sonsuzda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görüntü oluşmaz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Odak ile tepe arası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aynanın arkasında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sanal, düz, büyük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Çukur aynada beş durum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Sıradaki düzen kolay hatırlanır: cisim aynaya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yaklaştıkça görüntü uzaklaşır ve büyür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odağa geldiğinde yansıyan ışınlar paralel olur, görüntü oluşmaz.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Tablonun ilk ve üçüncü satırları birbirinin tersidir: cisim merkezin ötesindeyken görüntü odak ile merkez arasına düşüyorsa, cismi o noktaya koyduğunda görüntü eski yerine gider.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ışığın tersinirliğinin sonucudur.</a:t>
            </a:r>
            <a:endParaRPr lang="en-US" sz="2200" dirty="0"/>
          </a:p>
        </p:txBody>
      </p:sp>
      <p:sp>
        <p:nvSpPr>
          <p:cNvPr id="7" name="Text 5"/>
          <p:cNvSpPr txBox="1"/>
          <p:nvPr/>
        </p:nvSpPr>
        <p:spPr>
          <a:xfrm>
            <a:off x="640080" y="4591812"/>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Merkez bu yüzden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simetri noktasıdır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Çukur aynada beş durum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696804" y="1234440"/>
            <a:ext cx="679808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5.png">    </p:cNvPr>
          <p:cNvPicPr>
            <a:picLocks noChangeAspect="1"/>
          </p:cNvPicPr>
          <p:nvPr/>
        </p:nvPicPr>
        <p:blipFill>
          <a:blip r:embed="rId1"/>
          <a:stretch>
            <a:fillRect/>
          </a:stretch>
        </p:blipFill>
        <p:spPr>
          <a:xfrm>
            <a:off x="2925404" y="1325880"/>
            <a:ext cx="634088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Cismi aynaya yaklaştırdıkça görüntü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uzaklaşır ve büyür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Merkezde iken cisimle görüntü aynı yerde ve aynı boydadır — bu, kuralın simetri noktasıdır. Cisim odağa gelince yansıyan ışınlar paralelleşir ve görüntü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sonsuza gider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Odağın içine girdiğinde ışınlar artık kesişmez; yalnızca uzantıları kesişir ve görüntü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sanal, düz ve büyük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olur — makyaj aynasının çalışma bölgesi burasıdır.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Çukur aynada beş durum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“Sırayla göster” düğmesine basarak cismin bu beş konumdan geçişini ve görüntünün nasıl koştuğunu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Çukur aynada beş durum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Çukur aynada cisim odağın dışındayken görüntü gerçek ve terstir, cisim yaklaştıkça uzaklaşır ve büyür. Cisim odaktayken görüntü oluşmaz, odağın içindeyken sanal, düz ve büyüktür.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Cisim merkezin çok ötesinden odağa doğru yürürken görüntü nereye gider, boyu nasıl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Çukur aynada beş durum</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Cisim merkezin çok ötesinden odağa doğru yürürken görüntü nereye gider, boyu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Görüntü odağın hemen yanından yola çıkar, aynadan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uzaklaşarak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merkezi geçer ve cisim odağa varınca sonsuza kaçar. Bu sırada boyu küçükten eşite, eşitten büyüğe doğru artar. Görüntü baştan sona gerçek ve terstir.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Tümsek ayna: her zaman düz ve küçük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Tümsek aynada odak ve merkez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aynanın arkasındadır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Asal ışınlar burada da kullanılır, ama yönleri uzantılarla tanımlanır: eksene paralel gelen ışın, arkadaki odaktan geliyormuş gibi yansır; arkadaki odağa doğru gelen ışın eksene paralel yansır; merkeze doğru gelen ışın kendi üzerinden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Yansıyan ışınlar hep dağıldığı için hiçbir zaman kesişmez; yalnızca uzantıları aynanın arkasında kesişir.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nerede olursa olsun görüntü her zaman: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Tümsek ayna: her zaman düz ve küçük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183794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sanaldır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(aynanın arkasında),</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düzdür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cisimden küçüktür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tepe ile odak arasında oluşur.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Tümsek ayna: her zaman düz ve küçük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Görüntü küçüldüğü için aynı aynaya çok daha geniş bir alan sığar.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Market ve otopark aynaları, araç yan aynaları bu yüzden tümsektir.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 aynalardaki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“cisimler göründüğünden daha yakındır”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uyarısı da bu küçültmenin sonucudur.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tümsek aynanın görüş alanını aynı boydaki düzlem aynanınkiyle karşılaştırabilirsin.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Tümsek ayna: her zaman düz ve küçük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517124" y="1234440"/>
            <a:ext cx="915744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6.png">    </p:cNvPr>
          <p:cNvPicPr>
            <a:picLocks noChangeAspect="1"/>
          </p:cNvPicPr>
          <p:nvPr/>
        </p:nvPicPr>
        <p:blipFill>
          <a:blip r:embed="rId1"/>
          <a:stretch>
            <a:fillRect/>
          </a:stretch>
        </p:blipFill>
        <p:spPr>
          <a:xfrm>
            <a:off x="1745724" y="1325880"/>
            <a:ext cx="870024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Tümsek aynada paralel ışınlar toplanmaz,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dağılır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uzantıları aynanın arkasındaki odakta buluşur. Bu yüzden cisim nerede olursa olsun görüntü hep aynı türdedir: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sanal, düz ve küçük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Görüntü küçük olduğu için aynaya çok daha geniş bir alan sığar — market ve otopark güvenlik aynalarının tümsek olmasının sebebi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Tümsek ayna: her zaman düz ve küçük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Tümsek aynada odak ve merkez aynanın arkasındadır; yansıyan ışınlar dağıldığı için görüntü her zaman sanal, düz, küçüktür ve tepe ile odak arasında oluşur.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Tümsek aynada cismi aynaya iyice yaklaştırırsan görüntü ters döner ya da cisimden büyük olur mu?</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Tümsek ayna: her zaman düz ve küçük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Tümsek aynada cismi aynaya iyice yaklaştırırsan görüntü ters döner ya da cisimden büyük olur mu?</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Hayır.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Görüntü yaklaştıkça büyür ve boyu cismin boyuna yaklaşır, ama hiçbir zaman onu geçmez; hep sanal ve düz kalır. Tümsek ayna ışınları her durumda dağıttığı için gerçek, ters ya da büyütülmüş bir görüntü veremez.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denklemi ve işaret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Çizim görüntünün yerini gösterir, ama tam uzaklığı söylemek için bir denkleme ihtiyaç var.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Cismin aynaya uzaklığı a, görüntünün aynaya uzaklığı b, odak uzaklığı f olmak üzere:</a:t>
            </a:r>
            <a:endParaRPr lang="en-US" sz="2200" dirty="0"/>
          </a:p>
        </p:txBody>
      </p:sp>
      <p:sp>
        <p:nvSpPr>
          <p:cNvPr id="7" name="Shape 5"/>
          <p:cNvSpPr/>
          <p:nvPr/>
        </p:nvSpPr>
        <p:spPr>
          <a:xfrm>
            <a:off x="640080" y="3252216"/>
            <a:ext cx="263347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252216"/>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1/f = 1/a + 1/b</a:t>
            </a:r>
            <a:endParaRPr lang="en-US" sz="1800" dirty="0"/>
          </a:p>
        </p:txBody>
      </p:sp>
      <p:sp>
        <p:nvSpPr>
          <p:cNvPr id="9" name="Shape 7"/>
          <p:cNvSpPr/>
          <p:nvPr/>
        </p:nvSpPr>
        <p:spPr>
          <a:xfrm>
            <a:off x="3419856" y="3252216"/>
            <a:ext cx="1521562"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419856" y="3252216"/>
            <a:ext cx="152156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 = r/2</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denklemi ve işaret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259023"/>
                <a:gridCol w="8393489"/>
                <a:gridCol w="125902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f</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odak uzaklığı: odak ile tepe arası (çukurda +, tümsekte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eğrilik yarıçapı: merkez ile tepe arası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cismin aynaya uzaklığı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görüntünün aynaya uzaklığı (+ ise önde ve gerçek, − ise arkada ve sanal)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cismin boyu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görüntünün boyu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denklemi ve işaret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Denklem nereden geliyor?</a:t>
            </a:r>
            <a:endParaRPr lang="en-US" sz="2200" dirty="0"/>
          </a:p>
        </p:txBody>
      </p:sp>
      <p:sp>
        <p:nvSpPr>
          <p:cNvPr id="8" name="Text 6"/>
          <p:cNvSpPr txBox="1"/>
          <p:nvPr/>
        </p:nvSpPr>
        <p:spPr>
          <a:xfrm>
            <a:off x="640080" y="1892808"/>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Tepe ışını: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Tepeye gelen ışın simetrik yansır; cisim, görüntü ve tepe iki benzer üçgen kurar: h′/h = b/a.</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Paralel ışın: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Eksene paralel gelen ışın odaktan geçer; odakta birleşen iki benzer üçgenden h′/h = (b − f)/f.</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Eşitle: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b/a = (b − f)/f, yani b·f = a·b − a·f.</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Böl: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Her terimi a·b·f'ye bölünce 1/a = 1/f − 1/b, yani 1/f = 1/a + 1/b.</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denklemi ve işaret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Burada h cismin, h′ görüntünün boyudur ve ayna, eksene yakın ışınlar için tepe noktasında düz bir çizgi gibi alınmıştır.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Denklemi sınamanın kolay bir yolu var: cisim merkezdeyse (a = 2f) görüntü de merkezde olmalı.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Gerçekten 1/(2f) + 1/(2f) = 1/f çıkar ✓.</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denklemi ve işaret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İşaret kuralı (bu sayfada kullanılan):</a:t>
            </a:r>
            <a:endParaRPr lang="en-US" sz="2200" dirty="0"/>
          </a:p>
        </p:txBody>
      </p:sp>
      <p:sp>
        <p:nvSpPr>
          <p:cNvPr id="7" name="Text 5"/>
          <p:cNvSpPr txBox="1"/>
          <p:nvPr/>
        </p:nvSpPr>
        <p:spPr>
          <a:xfrm>
            <a:off x="640080" y="200406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Çukur ayna: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f pozitif.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Tümsek ayna: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f negatif.</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 pozitif:</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aynanın önünde,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gerçek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 negatif:</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aynanın arkasında,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sanal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denklemi ve işaret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1245241" y="1234440"/>
            <a:ext cx="970121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7.png">    </p:cNvPr>
          <p:cNvPicPr>
            <a:picLocks noChangeAspect="1"/>
          </p:cNvPicPr>
          <p:nvPr/>
        </p:nvPicPr>
        <p:blipFill>
          <a:blip r:embed="rId1"/>
          <a:stretch>
            <a:fillRect/>
          </a:stretch>
        </p:blipFill>
        <p:spPr>
          <a:xfrm>
            <a:off x="1473841" y="1325880"/>
            <a:ext cx="924401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Ayna denklemi bütün durumlar için aynıdır; işini gören şey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işaret kuralıdır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Aynanın önünde çıkan her şey pozitiftir ve gerçektir; arkasında çıkan her şey negatiftir ve sanaldır. Hesabın sonunda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 negatif çıkıyorsa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bu bir hata değildir — görüntünün aynanın arkasında olduğunu, yani sanal olduğunu söyler.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denklemi ve işaret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1/f = 1/a + 1/b, benzer üçgenlerden çıkar ve çukur, tümsek, gerçek, sanal bütün durumlarda aynıdır. İşaret kuralı sonucu yorumlar: çukurda f &gt; 0, tümsekte f &lt; 0; b &lt; 0 ise görüntü sanaldır.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Büyütme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Denklemin türetilmesindeki ilk adım bize bedava bir sonuç daha verdi: görüntü boyunun cisim boyuna oranı, uzaklıkların oranına eşittir.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orana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büyütme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p:txBody>
      </p:sp>
      <p:sp>
        <p:nvSpPr>
          <p:cNvPr id="7" name="Shape 5"/>
          <p:cNvSpPr/>
          <p:nvPr/>
        </p:nvSpPr>
        <p:spPr>
          <a:xfrm>
            <a:off x="640080" y="2866644"/>
            <a:ext cx="2077517"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207751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m = |b / a|</a:t>
            </a:r>
            <a:endParaRPr lang="en-US" sz="1800" dirty="0"/>
          </a:p>
        </p:txBody>
      </p:sp>
      <p:sp>
        <p:nvSpPr>
          <p:cNvPr id="9" name="Shape 7"/>
          <p:cNvSpPr/>
          <p:nvPr/>
        </p:nvSpPr>
        <p:spPr>
          <a:xfrm>
            <a:off x="2863901" y="2866644"/>
            <a:ext cx="4301338"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863901" y="2866644"/>
            <a:ext cx="43013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m = boy(görüntü)/boy(cisim)</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Büyütme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 &gt; 1:</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cisimden büyük.</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 = 1:</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eşit (cisim merkezdeyken).</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 &lt; 1:</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küçük.</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Büyütme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görüntüler daima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ters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sanal görüntüler daima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düzdür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iki cümle, çizim yapmadan da yönü söyler.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bölümü açıldığında gördüğün durum bir örnektir: r = 60 cm, a = 90 cm için b = 45 cm çıkar; m = 45/90 = 0,5 olduğundan 24 cm'lik cismin görüntüsü 12 cm'dir.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Büyütme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İstenen büyütme için cisim nereye?</a:t>
            </a:r>
            <a:endParaRPr lang="en-US" sz="2200" dirty="0"/>
          </a:p>
        </p:txBody>
      </p:sp>
      <p:sp>
        <p:nvSpPr>
          <p:cNvPr id="8" name="Text 6"/>
          <p:cNvSpPr txBox="1"/>
          <p:nvPr/>
        </p:nvSpPr>
        <p:spPr>
          <a:xfrm>
            <a:off x="640080" y="1892808"/>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görüntüde b = m·a, sanal görüntüde b = −m·a yazıp denklemde yerine koyarsan cismin konması gereken yeri doğrudan bulursun.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bölümündeki hedef büyütme oyunu bu ipucunu verir:</a:t>
            </a:r>
            <a:endParaRPr lang="en-US" sz="2200" dirty="0"/>
          </a:p>
        </p:txBody>
      </p:sp>
      <p:sp>
        <p:nvSpPr>
          <p:cNvPr id="9" name="Shape 7"/>
          <p:cNvSpPr/>
          <p:nvPr/>
        </p:nvSpPr>
        <p:spPr>
          <a:xfrm>
            <a:off x="640080" y="3433572"/>
            <a:ext cx="3745382"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640080" y="3433572"/>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gerçek: a = f·(m + 1)/m</a:t>
            </a:r>
            <a:endParaRPr lang="en-US" sz="1800" dirty="0"/>
          </a:p>
        </p:txBody>
      </p:sp>
      <p:sp>
        <p:nvSpPr>
          <p:cNvPr id="11" name="Shape 9"/>
          <p:cNvSpPr/>
          <p:nvPr/>
        </p:nvSpPr>
        <p:spPr>
          <a:xfrm>
            <a:off x="4531766" y="3433572"/>
            <a:ext cx="3606394"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4531766" y="3433572"/>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sanal: a = f·(m − 1)/m</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Büyütme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096144" y="1234440"/>
            <a:ext cx="999940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8.png">    </p:cNvPr>
          <p:cNvPicPr>
            <a:picLocks noChangeAspect="1"/>
          </p:cNvPicPr>
          <p:nvPr/>
        </p:nvPicPr>
        <p:blipFill>
          <a:blip r:embed="rId1"/>
          <a:stretch>
            <a:fillRect/>
          </a:stretch>
        </p:blipFill>
        <p:spPr>
          <a:xfrm>
            <a:off x="1324744" y="1325880"/>
            <a:ext cx="954220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Büyütme, görüntü boyunun cisim boyuna oranıdır ve aynı zamanda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uzaklıkların oranına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eşittir: m = |b/a|. Görüntü aynadan cisimden daha uzaktaysa büyür, daha yakınsa küçülür. m = 1 olan tek durum cismin merkezde olmasıdır. İşaretiyle yazıldığında (m = −b/a) eksi değer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ters</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artı değer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düz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görüntü demektir.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Büyütme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Büyütme görüntü boyunun cisim boyuna oranıdır ve m = |b/a| ile hesaplanır. Gerçek görüntü hep ters, sanal görüntü hep düzdür.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Gerçek görüntü neden hep ters, sanal görüntü neden hep düzdür?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Büyütme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Gerçek görüntü neden hep ters, sanal görüntü neden hep düzdür?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Gerçek görüntüde cismin tepesinden çıkan ışınlar yansıdıktan sonra asal ekseni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keserek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öbür tarafta buluşur; bu yüzden tepe aşağıya düşer. Sanal görüntüde ise yansıyan ışınların uzantıları aynanın arkasında, ekseni kesmeden buluşur; tepe yukarıda kalır.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cisim yaklaşırken görüntü nereye kaçar?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Beş durum tablosunu gerçek sayılarla dolduralım.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Eğrilik yarıçapı 40 cm olan (f = 20 cm) bir çukur aynanın önünde cismi adım adım yaklaştıralım ve her konumda ayna denklemini çözelim: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cisim yaklaşırken görüntü nereye kaçar?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134866"/>
                <a:gridCol w="2609280"/>
                <a:gridCol w="1660451"/>
                <a:gridCol w="450693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Cisim (a)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Görüntü (b)</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Büyütme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Görüntü</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0,25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gerçek, ters, küçük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gerçek, ters, eşit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gerçek, ters, büyük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oluşmaz (sonsuzda)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sanal, düz, büyük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cisim yaklaşırken görüntü nereye kaçar?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üç düzen okunur.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Birincisi,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 ile b yer değiştirebilir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100 cm'deki cisim 25 cm'de, 25 cm'deki cisim 100 cm'de görüntü verir; denklem a ile b'ye göre simetriktir.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İkincisi,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odağın yakınında görüntü uçup gider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cisim 25 cm'den 22 cm'ye gelince görüntü 100 cm'den 220 cm'ye, 21 cm'ye gelince 420 cm'ye fırlar ve büyütme 20 kata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Üçüncüsü, işaretin değiştiği tek yer odaktır: odağın içinde b negatif, görüntü sanaldır.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cisim yaklaşırken görüntü nereye kaçar?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400678" y="1234440"/>
            <a:ext cx="739034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09.png">    </p:cNvPr>
          <p:cNvPicPr>
            <a:picLocks noChangeAspect="1"/>
          </p:cNvPicPr>
          <p:nvPr/>
        </p:nvPicPr>
        <p:blipFill>
          <a:blip r:embed="rId1"/>
          <a:stretch>
            <a:fillRect/>
          </a:stretch>
        </p:blipFill>
        <p:spPr>
          <a:xfrm>
            <a:off x="2629278" y="1325880"/>
            <a:ext cx="693314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Tablonun her satırı bir ok: üst çizgide cismin yeri, alt çizgide görüntünün yeri. 100 cm ile 25 cm'den çıkan oklar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çapraz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kesişir: cisim ile görüntü yer değiştirebilir. Cisim odağa (20 cm) gelince ok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sonsuza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kaçar. Odağın içindeki 10 cm'lik cismin görüntüsü ise aynanın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arkasına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düşer, yani sanaldır.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cisim yaklaşırken görüntü nereye kaçar?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Cisim uzaktan odağa yaklaşırken görüntü odaktan sonsuza kaçar ve büyür; odağın içinde sanal olur. Ayna denklemi simetrik olduğu için cisim ile görüntünün yerleri değiştirilebilir.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f = 20 cm için a = 30 cm'de b = 60 cm çıkıyor. Cisim 60 cm'ye konursa görüntü nerede oluşur?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Sayılarla hisset: cisim yaklaşırken görüntü nereye kaçar?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f = 20 cm için a = 30 cm'de b = 60 cm çıkıyor. Cisim 60 cm'ye konursa görüntü nerede oluşur?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30 cm'de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hesap yapmadan. Ayna denklemi a ile b'ye göre simetrik olduğu için ikisi yer değiştirebilir. Kontrol: 1/b = 1/20 − 1/60 = 2/60, b = 30 cm ✓. Bu kez büyütme 0,5'tir: görüntü küçük.</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yan aynadaki uyarının hesabı, küresel aynanın sınırları ve küresel aynaların iş başında olduğu yerler.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Yan aynadaki uyarının hesabı</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Modelin sınırları: küresel sapma ve parabolik ayna</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Küresel aynalar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dersler-sekiller/kuresel-aynalar-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Güneşi bir noktaya toplamak.</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Parabolik güneş yoğunlaştırıcısı, Güneş'ten paralel gelen ışınları odağındaki küçük alıcıda toplar. Çanak tek parça değil, birçok ayna parçasından yapılmıştır; her parça ışığı aynı odağa yollayacak biçimde eğilmiştir. Alıcıda biriken ısı elektrik üretmek ya da bir maddeyi ısıtmak için kullanılır.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dersler.perinet.org/kuresel-aynalar.html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 aynadaki uyarının hesabı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 aynalardaki “cisimler göründüğünden daha yakındır” yazısını sayılarla sınayalım.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Eğrilik yarıçapı 2 m olan (f = −1 m) bir tümsek ayna düşün ve arkadan gelen bir arabanın farklı uzaklıklardaki görüntüsünü ayna denklemiyle bulalım: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 aynadaki uyarının hesabı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637178"/>
                <a:gridCol w="4445440"/>
                <a:gridCol w="2828917"/>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Araba (a)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Görüntü (b)</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Büyütme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−0,83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0,17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−0,91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0,091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−0,95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0,048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−0,98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0,024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 aynadaki uyarının hesabı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Görüntü hep aynanın 1 m gerisindeki odak ile tepe arasında kalır; araba uzaklaştıkça yalnızca odağa biraz yaklaşır.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Büyütme ise hızla küçülür.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Sürücünün gözü aynadan 1 m uzaktaysa, 20 m gerideki arabanın görüntüsü gözüne, düzlem aynada 40 m gerideki bir arabanın görüneceği kadar küçük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Beyin uzaklığı büyük ölçüde görünen boydan tahmin ettiği için arabayı olduğundan yaklaşık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iki kat uzakta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sanır.</a:t>
            </a:r>
            <a:endParaRPr lang="en-US" sz="2200" dirty="0"/>
          </a:p>
        </p:txBody>
      </p:sp>
      <p:sp>
        <p:nvSpPr>
          <p:cNvPr id="7" name="Text 5"/>
          <p:cNvSpPr txBox="1"/>
          <p:nvPr/>
        </p:nvSpPr>
        <p:spPr>
          <a:xfrm>
            <a:off x="640080" y="4977384"/>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Uyarı yazısı tam olarak bu yanılgı içindir.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 aynadaki uyarının hesabı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2169643" y="1234440"/>
            <a:ext cx="785241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10.png">    </p:cNvPr>
          <p:cNvPicPr>
            <a:picLocks noChangeAspect="1"/>
          </p:cNvPicPr>
          <p:nvPr/>
        </p:nvPicPr>
        <p:blipFill>
          <a:blip r:embed="rId1"/>
          <a:stretch>
            <a:fillRect/>
          </a:stretch>
        </p:blipFill>
        <p:spPr>
          <a:xfrm>
            <a:off x="2398243" y="1325880"/>
            <a:ext cx="739521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20 m gerideki araba tümsek aynada çok küçük görünür: büyütme yalnızca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0,05</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kadardır. Düzlem aynada bu kadar küçük görünen bir araba yaklaşık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40 m</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geride olurdu; beynin arabayı mor kesikli yerde sanır. Gerçekte araba, göründüğünün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yarısı kadar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uzaktadır. Uyarı yazısı bu yanılgı için oradadır.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 aynadaki uyarının hesabı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Bedeli bilinerek ödenir: aynı boydaki düzlem ayna yalnızca dar bir şeridi gösterirken tümsek ayna yan şeridi, kör noktaya yakın bölgeyi ve kaldırımı birlikte gösterir.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Güvenlik için geniş görüş, küçük görüntüden daha değerlidir.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 aynadaki uyarının hesabı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ek2-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Tümsek yan ayna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arkadaki yolu küçülterek gösterir; bu sayede tek bakışta yan şerit ve yol kenarı da görünür. Görüntü küçük olduğu için beyin arkadaki arabayı olduğundan daha uzakta sanır; yan aynalardaki “cisimler göründüğünden daha yakındır” uyarısı bu yanılgı içindir.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 aynadaki uyarının hesabı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Tümsek yan ayna uzaktaki arabanın görüntüsünü çok küçültür; beyin boydan uzaklık tahmin ettiği için arabayı olduğundan uzak sanır. Geniş görüş alanı bu yanılgıya değer.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Yan aynalar tümsek olduğu hâlde arabanın iç dikiz aynası neden genellikle düzdür?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Yan aynadaki uyarının hesabı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Yan aynalar tümsek olduğu hâlde arabanın iç dikiz aynası neden genellikle düzdür?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İç ayna zaten arka camın çerçevesinden görünen alanı gösterir; geniş görüşe o kadar ihtiyaç yoktur. Düzlem aynada arkadaki araç gözüne gerçekte olduğu kadar uzakta ve o uzaklığa uygun boyda görünür; sürücü uzaklığı doğru tahmin eder. Yan ayna geniş alanı, iç ayna doğru uzaklığı sağlar.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Modelin sınırları: küresel sapma ve parabolik ayna</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 = r/2 ve ayna denklemi,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asal eksene yakın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ışınlar için doğrudur.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Odak türetmesinin son adımında FA ile FT'yi eşit saymıştık; bu yalnızca ışın eksene yakınken geçerlidir.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Eksenden uzak gelen ışınlar ekseni aynaya daha yakın bir noktada keser.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Eğrilik yarıçapı 60 cm (f = 30 cm) olan bir çukur aynada, eksene paralel gelen ışınların ekseni kestiği noktanın tepeye uzaklığı: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Modelin sınırları: küresel sapma ve parabolik ayna</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5455768"/>
                <a:gridCol w="545576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Işının eksenden yüksekliği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Ekseni kestiği yer (T'den)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29,96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29,02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25,36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14,64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Modelin sınırları: küresel sapma ve parabolik ayna</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Eksene yakın ışınlar neredeyse tam 30 cm'de buluşurken kenardan gelenler çok daha önde kesişir.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Sonuçta odak bir nokta değil, bulanık bir leke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kusura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küresel sapma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Çözüm, aynayı küre yerine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paraboloit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biçiminde yapmaktır: parabolik ayna eksene paralel gelen bütün ışınları, eksenden ne kadar uzak olursa olsun, tek bir noktada toplar.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Modelin sınırları: küresel sapma ve parabolik ayna</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Küçük ve sığ aynalarda küre ile parabol neredeyse aynıdır; fark büyük ve derin aynalarda önem kazanır.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Modelin sınırları: küresel sapma ve parabolik ayna</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2928660" y="1234440"/>
            <a:ext cx="633437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11.png">    </p:cNvPr>
          <p:cNvPicPr>
            <a:picLocks noChangeAspect="1"/>
          </p:cNvPicPr>
          <p:nvPr/>
        </p:nvPicPr>
        <p:blipFill>
          <a:blip r:embed="rId1"/>
          <a:stretch>
            <a:fillRect/>
          </a:stretch>
        </p:blipFill>
        <p:spPr>
          <a:xfrm>
            <a:off x="3157260" y="1325880"/>
            <a:ext cx="587717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 küresel aynaya (r = 60 cm) eksenden 15, 30 ve 45 cm yükseklikte paralel ışınlar geliyor. Kenardan gelen ışın ekseni aynaya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daha yakın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keser; kesişme noktaları yayılır ve odak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bulanık bir leke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olur. Sağda parabolik ayna aynı ışınların hepsini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tek bir noktada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toplar.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Modelin sınırları: küresel sapma ve parabolik ayna</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640080" y="1325880"/>
            <a:ext cx="10911535" cy="1664208"/>
          </a:xfrm>
          <a:prstGeom prst="roundRect">
            <a:avLst>
              <a:gd name="adj" fmla="val 76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335024"/>
          </a:xfrm>
          <a:prstGeom prst="rect">
            <a:avLst/>
          </a:prstGeom>
          <a:solidFill>
            <a:srgbClr val="3C8C21"/>
          </a:solidFill>
          <a:ln/>
        </p:spPr>
      </p:sp>
      <p:sp>
        <p:nvSpPr>
          <p:cNvPr id="8" name="Text 6"/>
          <p:cNvSpPr txBox="1"/>
          <p:nvPr/>
        </p:nvSpPr>
        <p:spPr>
          <a:xfrm>
            <a:off x="950976" y="1453896"/>
            <a:ext cx="10399471" cy="1408176"/>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Hubble'ın gözlüğü:</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Hubble Uzay Teleskobu 1990'da fırlatıldığında görüntüleri bulanık çıktı: 2,4 m'lik ana aynası kenarlarda, bir saç telinin kalınlığından çok daha az (yaklaşık 2 mikrometre) yanlış biçimlendirilmişti. Küresel sapma 1993'te astronotların taktığı düzeltici optikle giderildi.</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Modelin sınırları: küresel sapma ve parabolik ayna</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Ayna denklemi eksene yakın ışınlar için geçerlidir; kenardan gelen ışınlar aynaya daha yakın kesişir ve odak bulanıklaşır (küresel sapma). Parabolik aynalar bütün paralel ışınları tek noktada toplar.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Çukur aynanın kenarlarını kartonla kapatıp yalnızca ortasını açık bırakırsan odaktaki leke nasıl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Modelin sınırları: küresel sapma ve parabolik ayna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Çukur aynanın kenarlarını kartonla kapatıp yalnızca ortasını açık bırakırsan odaktaki leke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Leke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daha keskin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olur, çünkü odaktan en çok sapan kenar ışınları kesilmiştir. Buna karşılık ayna daha az ışık toplar ve odağa ulaşan toplam ışık azalır. Keskinlik ile toplanan ışık arasındaki bu takas optik aletlerin tasarımında hep karşına çıkar.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Küresel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Çukur ve tümsek aynanın bütün kullanım alanları, bu konudaki üç fikre dayanır: odak içindeki cismin büyütülmüş sanal görüntüsü, odaktaki kaynağın paralel demeti ve tümsek aynanın geniş görüşü.</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Küresel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Shape 4"/>
          <p:cNvSpPr/>
          <p:nvPr/>
        </p:nvSpPr>
        <p:spPr>
          <a:xfrm>
            <a:off x="2073832" y="1234440"/>
            <a:ext cx="8044031" cy="3407283"/>
          </a:xfrm>
          <a:prstGeom prst="roundRect">
            <a:avLst>
              <a:gd name="adj" fmla="val 429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kuresel-aynalar-12.png">    </p:cNvPr>
          <p:cNvPicPr>
            <a:picLocks noChangeAspect="1"/>
          </p:cNvPicPr>
          <p:nvPr/>
        </p:nvPicPr>
        <p:blipFill>
          <a:blip r:embed="rId1"/>
          <a:stretch>
            <a:fillRect/>
          </a:stretch>
        </p:blipFill>
        <p:spPr>
          <a:xfrm>
            <a:off x="2302432" y="1325880"/>
            <a:ext cx="7586831" cy="3224403"/>
          </a:xfrm>
          <a:prstGeom prst="rect">
            <a:avLst/>
          </a:prstGeom>
        </p:spPr>
      </p:pic>
      <p:sp>
        <p:nvSpPr>
          <p:cNvPr id="8" name="Text 5"/>
          <p:cNvSpPr txBox="1"/>
          <p:nvPr/>
        </p:nvSpPr>
        <p:spPr>
          <a:xfrm>
            <a:off x="1249528" y="4824603"/>
            <a:ext cx="9692640" cy="1320165"/>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iki ayna türü, üç farklı işi aynı geometriyle yapar.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Odak içine konan cisim</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çukur aynada büyütülmüş sanal görüntü verir; yansıyan ışınların uzantıları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aynanın arkasında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kesişir — diş hekimi ve makyaj aynası.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Odağa konan kaynak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ise ışığı paralel bir demet hâline getirir — el feneri ve araba farı.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Tümsek ayna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iki yandaki cisimlerden gelen ışınları bile göze yansıtır; geniş bir alanı küçülterek tek bakışa sığdırır — güvenlik ve yan aynalar. Bu yüzden yan aynada "cisimler göründüğünden daha yakındır" yazar.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Küresel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Çukur ayna: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diş hekimi aynası, makyaj aynası, el feneri ve far yansıtıcısı, teleskop, güneş fırını.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Tümsek ayna: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araç yan aynası, market ve otopark güvenlik aynası, ATM aynaları.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Güneş'in görüntüsü: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Güneş gökte yaklaşık 0,53° genişliktedir; odak uzaklığı 5 m olan bir çanak onun yaklaşık 4,6 cm çapında gerçek bir görüntüsünü oluşturur.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Küresel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Teleskoplar: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Newton 1668'de ilk kullanışlı yansıtmalı teleskoplardan birini yaptı. Hubble'ın aynası 2,4 m, James Webb'inki 18 altıgen parçadan oluşan 6,5 m'lik bir aynadır.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Güneş fırınları: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dev parabolik aynalar ışığı öyle yoğunlaştırır ki odakta 3000 °C'yi aşan sıcaklıklara ulaşılabilir.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Uydu çanakları: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radyo dalgalarını da ayna gibi yansıtır ve odaktaki alıcıda toplar.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Küresel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El fenerinde ampul odağa yerleştirilir: odaktan çıkan ışınlar yansıdıktan sonra asal eksene paralel gider ve ışık uzağa taşınır.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Güneş fırını bunun tersidir: paralel gelen güneş ışınları odakta toplanır.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Teleskopta ise çukur ayna uzaktaki bir yıldızın zayıf ışığını geniş bir yüzeyden toplayıp odakta birleştirir; ayna ne kadar büyükse o kadar sönük cisimler görülebilir.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Küresel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Çukur aynalar ışığı toplar (teleskop, güneş fırını) ya da odaktaki kaynağı paralel demete çevirir (far); tümsek aynalar geniş görüş için kullanılır (yan ayna, güvenlik aynası).</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8 ÇÖZÜMLÜ ÖRNEK</a:t>
            </a:r>
            <a:endParaRPr lang="en-US" sz="1050" dirty="0"/>
          </a:p>
        </p:txBody>
      </p:sp>
      <p:sp>
        <p:nvSpPr>
          <p:cNvPr id="9" name="Shape 7"/>
          <p:cNvSpPr/>
          <p:nvPr/>
        </p:nvSpPr>
        <p:spPr>
          <a:xfrm>
            <a:off x="6172200" y="1481328"/>
            <a:ext cx="5379415" cy="468630"/>
          </a:xfrm>
          <a:prstGeom prst="roundRect">
            <a:avLst>
              <a:gd name="adj" fmla="val 19512"/>
            </a:avLst>
          </a:prstGeom>
          <a:solidFill>
            <a:srgbClr val="1C2542"/>
          </a:solidFill>
          <a:ln w="9525">
            <a:solidFill>
              <a:srgbClr val="2C3860"/>
            </a:solidFill>
            <a:prstDash val="solid"/>
          </a:ln>
        </p:spPr>
      </p:sp>
      <p:sp>
        <p:nvSpPr>
          <p:cNvPr id="10" name="Text 8"/>
          <p:cNvSpPr txBox="1"/>
          <p:nvPr/>
        </p:nvSpPr>
        <p:spPr>
          <a:xfrm>
            <a:off x="6400800" y="148132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Merkezdeki cisim</a:t>
            </a:r>
            <a:endParaRPr lang="en-US" sz="1300" dirty="0"/>
          </a:p>
        </p:txBody>
      </p:sp>
      <p:sp>
        <p:nvSpPr>
          <p:cNvPr id="11" name="Text 9"/>
          <p:cNvSpPr txBox="1"/>
          <p:nvPr/>
        </p:nvSpPr>
        <p:spPr>
          <a:xfrm>
            <a:off x="10362895" y="148132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41398"/>
            <a:ext cx="5379415" cy="468630"/>
          </a:xfrm>
          <a:prstGeom prst="roundRect">
            <a:avLst>
              <a:gd name="adj" fmla="val 19512"/>
            </a:avLst>
          </a:prstGeom>
          <a:solidFill>
            <a:srgbClr val="1C2542"/>
          </a:solidFill>
          <a:ln w="9525">
            <a:solidFill>
              <a:srgbClr val="2C3860"/>
            </a:solidFill>
            <a:prstDash val="solid"/>
          </a:ln>
        </p:spPr>
      </p:sp>
      <p:sp>
        <p:nvSpPr>
          <p:cNvPr id="13" name="Text 11"/>
          <p:cNvSpPr txBox="1"/>
          <p:nvPr/>
        </p:nvSpPr>
        <p:spPr>
          <a:xfrm>
            <a:off x="6400800" y="204139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Çizmeden tanı</a:t>
            </a:r>
            <a:endParaRPr lang="en-US" sz="1300" dirty="0"/>
          </a:p>
        </p:txBody>
      </p:sp>
      <p:sp>
        <p:nvSpPr>
          <p:cNvPr id="14" name="Text 12"/>
          <p:cNvSpPr txBox="1"/>
          <p:nvPr/>
        </p:nvSpPr>
        <p:spPr>
          <a:xfrm>
            <a:off x="10362895" y="204139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01468"/>
            <a:ext cx="5379415" cy="468630"/>
          </a:xfrm>
          <a:prstGeom prst="roundRect">
            <a:avLst>
              <a:gd name="adj" fmla="val 19512"/>
            </a:avLst>
          </a:prstGeom>
          <a:solidFill>
            <a:srgbClr val="1C2542"/>
          </a:solidFill>
          <a:ln w="9525">
            <a:solidFill>
              <a:srgbClr val="2C3860"/>
            </a:solidFill>
            <a:prstDash val="solid"/>
          </a:ln>
        </p:spPr>
      </p:sp>
      <p:sp>
        <p:nvSpPr>
          <p:cNvPr id="16" name="Text 14"/>
          <p:cNvSpPr txBox="1"/>
          <p:nvPr/>
        </p:nvSpPr>
        <p:spPr>
          <a:xfrm>
            <a:off x="6400800" y="260146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Çukur aynada gerçek görüntü</a:t>
            </a:r>
            <a:endParaRPr lang="en-US" sz="1300" dirty="0"/>
          </a:p>
        </p:txBody>
      </p:sp>
      <p:sp>
        <p:nvSpPr>
          <p:cNvPr id="17" name="Text 15"/>
          <p:cNvSpPr txBox="1"/>
          <p:nvPr/>
        </p:nvSpPr>
        <p:spPr>
          <a:xfrm>
            <a:off x="10362895" y="260146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161538"/>
            <a:ext cx="5379415" cy="468630"/>
          </a:xfrm>
          <a:prstGeom prst="roundRect">
            <a:avLst>
              <a:gd name="adj" fmla="val 19512"/>
            </a:avLst>
          </a:prstGeom>
          <a:solidFill>
            <a:srgbClr val="1C2542"/>
          </a:solidFill>
          <a:ln w="9525">
            <a:solidFill>
              <a:srgbClr val="2C3860"/>
            </a:solidFill>
            <a:prstDash val="solid"/>
          </a:ln>
        </p:spPr>
      </p:sp>
      <p:sp>
        <p:nvSpPr>
          <p:cNvPr id="19" name="Text 17"/>
          <p:cNvSpPr txBox="1"/>
          <p:nvPr/>
        </p:nvSpPr>
        <p:spPr>
          <a:xfrm>
            <a:off x="6400800" y="316153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Odağın içinde: büyüteç etkisi</a:t>
            </a:r>
            <a:endParaRPr lang="en-US" sz="1300" dirty="0"/>
          </a:p>
        </p:txBody>
      </p:sp>
      <p:sp>
        <p:nvSpPr>
          <p:cNvPr id="20" name="Text 18"/>
          <p:cNvSpPr txBox="1"/>
          <p:nvPr/>
        </p:nvSpPr>
        <p:spPr>
          <a:xfrm>
            <a:off x="10362895" y="316153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721608"/>
            <a:ext cx="5379415" cy="468630"/>
          </a:xfrm>
          <a:prstGeom prst="roundRect">
            <a:avLst>
              <a:gd name="adj" fmla="val 19512"/>
            </a:avLst>
          </a:prstGeom>
          <a:solidFill>
            <a:srgbClr val="1C2542"/>
          </a:solidFill>
          <a:ln w="9525">
            <a:solidFill>
              <a:srgbClr val="2C3860"/>
            </a:solidFill>
            <a:prstDash val="solid"/>
          </a:ln>
        </p:spPr>
      </p:sp>
      <p:sp>
        <p:nvSpPr>
          <p:cNvPr id="22" name="Text 20"/>
          <p:cNvSpPr txBox="1"/>
          <p:nvPr/>
        </p:nvSpPr>
        <p:spPr>
          <a:xfrm>
            <a:off x="6400800" y="372160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Tümsek ayna</a:t>
            </a:r>
            <a:endParaRPr lang="en-US" sz="1300" dirty="0"/>
          </a:p>
        </p:txBody>
      </p:sp>
      <p:sp>
        <p:nvSpPr>
          <p:cNvPr id="23" name="Text 21"/>
          <p:cNvSpPr txBox="1"/>
          <p:nvPr/>
        </p:nvSpPr>
        <p:spPr>
          <a:xfrm>
            <a:off x="10362895" y="372160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281678"/>
            <a:ext cx="5379415" cy="468630"/>
          </a:xfrm>
          <a:prstGeom prst="roundRect">
            <a:avLst>
              <a:gd name="adj" fmla="val 19512"/>
            </a:avLst>
          </a:prstGeom>
          <a:solidFill>
            <a:srgbClr val="1C2542"/>
          </a:solidFill>
          <a:ln w="9525">
            <a:solidFill>
              <a:srgbClr val="2C3860"/>
            </a:solidFill>
            <a:prstDash val="solid"/>
          </a:ln>
        </p:spPr>
      </p:sp>
      <p:sp>
        <p:nvSpPr>
          <p:cNvPr id="25" name="Text 23"/>
          <p:cNvSpPr txBox="1"/>
          <p:nvPr/>
        </p:nvSpPr>
        <p:spPr>
          <a:xfrm>
            <a:off x="6400800" y="428167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İstenen büyütmeyi sağlamak</a:t>
            </a:r>
            <a:endParaRPr lang="en-US" sz="1300" dirty="0"/>
          </a:p>
        </p:txBody>
      </p:sp>
      <p:sp>
        <p:nvSpPr>
          <p:cNvPr id="26" name="Text 24"/>
          <p:cNvSpPr txBox="1"/>
          <p:nvPr/>
        </p:nvSpPr>
        <p:spPr>
          <a:xfrm>
            <a:off x="10362895" y="428167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4841748"/>
            <a:ext cx="5379415" cy="468630"/>
          </a:xfrm>
          <a:prstGeom prst="roundRect">
            <a:avLst>
              <a:gd name="adj" fmla="val 19512"/>
            </a:avLst>
          </a:prstGeom>
          <a:solidFill>
            <a:srgbClr val="1C2542"/>
          </a:solidFill>
          <a:ln w="9525">
            <a:solidFill>
              <a:srgbClr val="2C3860"/>
            </a:solidFill>
            <a:prstDash val="solid"/>
          </a:ln>
        </p:spPr>
      </p:sp>
      <p:sp>
        <p:nvSpPr>
          <p:cNvPr id="28" name="Text 26"/>
          <p:cNvSpPr txBox="1"/>
          <p:nvPr/>
        </p:nvSpPr>
        <p:spPr>
          <a:xfrm>
            <a:off x="6400800" y="484174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Makyaj aynası tasarlamak</a:t>
            </a:r>
            <a:endParaRPr lang="en-US" sz="1300" dirty="0"/>
          </a:p>
        </p:txBody>
      </p:sp>
      <p:sp>
        <p:nvSpPr>
          <p:cNvPr id="29" name="Text 27"/>
          <p:cNvSpPr txBox="1"/>
          <p:nvPr/>
        </p:nvSpPr>
        <p:spPr>
          <a:xfrm>
            <a:off x="10362895" y="484174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172200" y="5401818"/>
            <a:ext cx="5379415" cy="468630"/>
          </a:xfrm>
          <a:prstGeom prst="roundRect">
            <a:avLst>
              <a:gd name="adj" fmla="val 19512"/>
            </a:avLst>
          </a:prstGeom>
          <a:solidFill>
            <a:srgbClr val="1C2542"/>
          </a:solidFill>
          <a:ln w="9525">
            <a:solidFill>
              <a:srgbClr val="2C3860"/>
            </a:solidFill>
            <a:prstDash val="solid"/>
          </a:ln>
        </p:spPr>
      </p:sp>
      <p:sp>
        <p:nvSpPr>
          <p:cNvPr id="31" name="Text 29"/>
          <p:cNvSpPr txBox="1"/>
          <p:nvPr/>
        </p:nvSpPr>
        <p:spPr>
          <a:xfrm>
            <a:off x="6400800" y="540181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8   Perdeye düşen görüntü</a:t>
            </a:r>
            <a:endParaRPr lang="en-US" sz="1300" dirty="0"/>
          </a:p>
        </p:txBody>
      </p:sp>
      <p:sp>
        <p:nvSpPr>
          <p:cNvPr id="32" name="Text 30"/>
          <p:cNvSpPr txBox="1"/>
          <p:nvPr/>
        </p:nvSpPr>
        <p:spPr>
          <a:xfrm>
            <a:off x="10362895" y="540181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3" name="Shape 31"/>
          <p:cNvSpPr/>
          <p:nvPr/>
        </p:nvSpPr>
        <p:spPr>
          <a:xfrm>
            <a:off x="640080" y="6382512"/>
            <a:ext cx="128016" cy="128016"/>
          </a:xfrm>
          <a:prstGeom prst="roundRect">
            <a:avLst>
              <a:gd name="adj" fmla="val 28571"/>
            </a:avLst>
          </a:prstGeom>
          <a:solidFill>
            <a:srgbClr val="C6F36B"/>
          </a:solidFill>
          <a:ln/>
        </p:spPr>
      </p:sp>
      <p:sp>
        <p:nvSpPr>
          <p:cNvPr id="34" name="Text 3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dersler.perinet.org/kuresel-aynalar.html</a:t>
            </a:r>
            <a:endParaRPr lang="en-US" sz="1050" dirty="0"/>
          </a:p>
        </p:txBody>
      </p:sp>
      <p:sp>
        <p:nvSpPr>
          <p:cNvPr id="35" name="Text 3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Merkezdeki cisim</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Eğrilik yarıçapı 40 cm olan çukur aynanın 40 cm önüne bir cisim konuyor. Görüntünün yeri, türü ve boyu nedir?</a:t>
            </a:r>
            <a:endParaRPr lang="en-US" sz="2000" dirty="0"/>
          </a:p>
        </p:txBody>
      </p:sp>
      <p:sp>
        <p:nvSpPr>
          <p:cNvPr id="11" name="Shape 9"/>
          <p:cNvSpPr/>
          <p:nvPr/>
        </p:nvSpPr>
        <p:spPr>
          <a:xfrm>
            <a:off x="2599262" y="3121152"/>
            <a:ext cx="6993170"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kuresel-aynalar-13.png">    </p:cNvPr>
          <p:cNvPicPr>
            <a:picLocks noChangeAspect="1"/>
          </p:cNvPicPr>
          <p:nvPr/>
        </p:nvPicPr>
        <p:blipFill>
          <a:blip r:embed="rId1"/>
          <a:stretch>
            <a:fillRect/>
          </a:stretch>
        </p:blipFill>
        <p:spPr>
          <a:xfrm>
            <a:off x="2827862" y="3230880"/>
            <a:ext cx="6535970"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Merkezdeki cisim</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Eğrilik yarıçapı 40 cm olan çukur aynanın 40 cm önüne bir cisim konuyor. Görüntünün yeri, türü ve boyu nedir?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çukur ayna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 40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40 cm</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görüntünün yeri b</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türü</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boyu (büyütme m)</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Merkezdeki cisim</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f = r/2 = 40/2 = 20 cm; cisim 2f = 40 cm'de, yani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merkezde</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1/20 = 1/40 + 1/b → 1/b = 1/20 − 1/40 = 1/40 → b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40 cm</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 = 40/40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görüntü gerçek, ters ve cisimle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eşit</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boyda.</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Çizmeden tanı</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Odak uzaklığı 15 cm olan çukur aynanın önüne bir cisim sırayla 50 cm, 22 cm ve 8 cm uzaklığa konuyor. Her durumda görüntünün türünü denklem çözmeden söyleyiniz.</a:t>
            </a:r>
            <a:endParaRPr lang="en-US" sz="2000" dirty="0"/>
          </a:p>
        </p:txBody>
      </p:sp>
      <p:sp>
        <p:nvSpPr>
          <p:cNvPr id="11" name="Shape 9"/>
          <p:cNvSpPr/>
          <p:nvPr/>
        </p:nvSpPr>
        <p:spPr>
          <a:xfrm>
            <a:off x="2995796" y="3474720"/>
            <a:ext cx="6200103"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kuresel-aynalar-14.png">    </p:cNvPr>
          <p:cNvPicPr>
            <a:picLocks noChangeAspect="1"/>
          </p:cNvPicPr>
          <p:nvPr/>
        </p:nvPicPr>
        <p:blipFill>
          <a:blip r:embed="rId1"/>
          <a:stretch>
            <a:fillRect/>
          </a:stretch>
        </p:blipFill>
        <p:spPr>
          <a:xfrm>
            <a:off x="3224396" y="3584448"/>
            <a:ext cx="5742903"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Çizmeden tanı</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Odak uzaklığı 15 cm olan çukur aynanın önüne bir cisim sırayla 50 cm, 22 cm ve 8 cm uzaklığa konuyor. Her durumda görüntünün türünü denklem çözmeden söyleyiniz.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çukur ayna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f = 15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üç ayrı durumda a = 50 cm, 22 cm ve 8 cm</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her durumda görüntünün türü (denklem çözmeden)</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Çizmeden tanı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Sınırlar: f = 15 cm, merkez 2f = 30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50 cm &gt; 30 cm (merkezin ötesi)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gerçek, ters, küçük</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15 cm &lt; 22 cm &lt; 30 cm (merkez–odak arası)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gerçek, ters, büyük</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Çizmeden tanı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8 cm &lt; 15 cm (odağın içi)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sanal, düz, büyük</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denklem sırasıyla b ≈ 21,4 cm, 47,1 cm ve −17,1 cm verir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Çukur aynada gerçek görüntü</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Eğrilik yarıçapı 60 cm olan çukur aynanın önüne, 45 cm uzaklığa bir cisim konuyor. Görüntünün yerini ve büyütmesini bulunuz.</a:t>
            </a:r>
            <a:endParaRPr lang="en-US" sz="2000" dirty="0"/>
          </a:p>
        </p:txBody>
      </p:sp>
      <p:sp>
        <p:nvSpPr>
          <p:cNvPr id="11" name="Shape 9"/>
          <p:cNvSpPr/>
          <p:nvPr/>
        </p:nvSpPr>
        <p:spPr>
          <a:xfrm>
            <a:off x="2599262" y="3121152"/>
            <a:ext cx="6993170"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kuresel-aynalar-15.png">    </p:cNvPr>
          <p:cNvPicPr>
            <a:picLocks noChangeAspect="1"/>
          </p:cNvPicPr>
          <p:nvPr/>
        </p:nvPicPr>
        <p:blipFill>
          <a:blip r:embed="rId1"/>
          <a:stretch>
            <a:fillRect/>
          </a:stretch>
        </p:blipFill>
        <p:spPr>
          <a:xfrm>
            <a:off x="2827862" y="3230880"/>
            <a:ext cx="6535970"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Çukur aynada gerçek görüntü</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Eğrilik yarıçapı 60 cm olan çukur aynanın önüne, 45 cm uzaklığa bir cisim konuyor. Görüntünün yerini ve büyütmesini bulunuz.</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çukur ayna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 60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45 cm</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görüntünün yeri b</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büyütme m</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Çukur aynada gerçek görüntü</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f = r/2 = 60/2 = 30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1/30 = 1/45 + 1/b → 1/b = 1/30 − 1/45 = (3 − 2)/90 = 1/90</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Çukur aynada gerçek görüntü</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90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(pozitif → gerçek görüntü, aynanın önünde)</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 = |b/a| = 90/45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 kat</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görüntü ters ve iki kat büyüktür.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Odağın içinde: büyüteç etkisi</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Odak uzaklığı 20 cm olan çukur aynanın önüne 10 cm uzaklığa bir cisim konuyor. Görüntü nerede oluşur?</a:t>
            </a:r>
            <a:endParaRPr lang="en-US" sz="2000" dirty="0"/>
          </a:p>
        </p:txBody>
      </p:sp>
      <p:sp>
        <p:nvSpPr>
          <p:cNvPr id="11" name="Shape 9"/>
          <p:cNvSpPr/>
          <p:nvPr/>
        </p:nvSpPr>
        <p:spPr>
          <a:xfrm>
            <a:off x="2599262" y="3121152"/>
            <a:ext cx="6993170"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kuresel-aynalar-16.png">    </p:cNvPr>
          <p:cNvPicPr>
            <a:picLocks noChangeAspect="1"/>
          </p:cNvPicPr>
          <p:nvPr/>
        </p:nvPicPr>
        <p:blipFill>
          <a:blip r:embed="rId1"/>
          <a:stretch>
            <a:fillRect/>
          </a:stretch>
        </p:blipFill>
        <p:spPr>
          <a:xfrm>
            <a:off x="2827862" y="3230880"/>
            <a:ext cx="6535970"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Odağın içinde: büyüteç etkisi</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Odak uzaklığı 20 cm olan çukur aynanın önüne 10 cm uzaklığa bir cisim konuyor. Görüntü nerede oluşur?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çukur ayna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f = 20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10 cm</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görüntünün yeri b ve türü</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Odağın içinde: büyüteç etkisi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1/20 = 1/10 + 1/b → 1/b = 1/20 − 1/10 = −1/20</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eksi işaret görüntünün aynanın arkasında olduğunu gösterir, yani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sanal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Odağın içinde: büyüteç etkisi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 = |−20/10|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 kat</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görüntü düz ve büyüktür.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Makyaj ve tıraş aynaları tam olarak böyle çalışır.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Tümsek ayna</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Eğrilik yarıçapı 40 cm olan tümsek aynanın 60 cm önünde bir cisim vardır. Görüntünün yeri ve büyütmesi nedir?</a:t>
            </a:r>
            <a:endParaRPr lang="en-US" sz="2000" dirty="0"/>
          </a:p>
        </p:txBody>
      </p:sp>
      <p:sp>
        <p:nvSpPr>
          <p:cNvPr id="11" name="Shape 9"/>
          <p:cNvSpPr/>
          <p:nvPr/>
        </p:nvSpPr>
        <p:spPr>
          <a:xfrm>
            <a:off x="2599262" y="3121152"/>
            <a:ext cx="6993170"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kuresel-aynalar-17.png">    </p:cNvPr>
          <p:cNvPicPr>
            <a:picLocks noChangeAspect="1"/>
          </p:cNvPicPr>
          <p:nvPr/>
        </p:nvPicPr>
        <p:blipFill>
          <a:blip r:embed="rId1"/>
          <a:stretch>
            <a:fillRect/>
          </a:stretch>
        </p:blipFill>
        <p:spPr>
          <a:xfrm>
            <a:off x="2827862" y="3230880"/>
            <a:ext cx="6535970"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Tümsek ayna</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Eğrilik yarıçapı 40 cm olan tümsek aynanın 60 cm önünde bir cisim vardır. Görüntünün yeri ve büyütmesi nedir?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tümsek ayna (f negatif alınır)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 40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60 cm</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görüntünün yeri b</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büyütme m</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Tümsek ayna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Tümsek aynada f = −r/2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1/(−20) = 1/60 + 1/b → 1/b = −1/20 − 1/60 = (−3 − 1)/60 = −4/60</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Tümsek ayna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sanal, aynanın arkasında</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 = |−15/60|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0,25</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görüntü düz ve dörtte bir boyunda.</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İstenen büyütmeyi sağlamak</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Odak uzaklığı 15 cm olan çukur aynada, cismin 3 katı büyüklükte </a:t>
            </a:r>
            <a:pPr indent="0" marL="0">
              <a:lnSpc>
                <a:spcPct val="116000"/>
              </a:lnSpc>
              <a:buNone/>
            </a:pPr>
            <a:r>
              <a:rPr lang="en-US" sz="2000" b="1" dirty="0">
                <a:solidFill>
                  <a:srgbClr val="0E1426"/>
                </a:solidFill>
                <a:latin typeface="Calibri" pitchFamily="34" charset="0"/>
                <a:ea typeface="Calibri" pitchFamily="34" charset="-122"/>
                <a:cs typeface="Calibri" pitchFamily="34" charset="-120"/>
              </a:rPr>
              <a:t>gerçek</a:t>
            </a:r>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 bir görüntü isteniyor. Cisim aynadan kaç cm uzağa konmalıdır?</a:t>
            </a:r>
            <a:endParaRPr lang="en-US" sz="2000" dirty="0"/>
          </a:p>
        </p:txBody>
      </p:sp>
      <p:sp>
        <p:nvSpPr>
          <p:cNvPr id="11" name="Shape 9"/>
          <p:cNvSpPr/>
          <p:nvPr/>
        </p:nvSpPr>
        <p:spPr>
          <a:xfrm>
            <a:off x="2717098" y="3121152"/>
            <a:ext cx="6757498"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kuresel-aynalar-18.png">    </p:cNvPr>
          <p:cNvPicPr>
            <a:picLocks noChangeAspect="1"/>
          </p:cNvPicPr>
          <p:nvPr/>
        </p:nvPicPr>
        <p:blipFill>
          <a:blip r:embed="rId1"/>
          <a:stretch>
            <a:fillRect/>
          </a:stretch>
        </p:blipFill>
        <p:spPr>
          <a:xfrm>
            <a:off x="2945698" y="3230880"/>
            <a:ext cx="6300298"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İstenen büyütmeyi sağlamak</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Odak uzaklığı 15 cm olan çukur aynada, cismin 3 katı büyüklükte </a:t>
            </a:r>
            <a:pPr indent="0" marL="0">
              <a:lnSpc>
                <a:spcPct val="118000"/>
              </a:lnSpc>
              <a:buNone/>
            </a:pPr>
            <a:r>
              <a:rPr lang="en-US" sz="2000" b="1" dirty="0">
                <a:solidFill>
                  <a:srgbClr val="0E1426"/>
                </a:solidFill>
                <a:latin typeface="Calibri" pitchFamily="34" charset="0"/>
                <a:ea typeface="Calibri" pitchFamily="34" charset="-122"/>
                <a:cs typeface="Calibri" pitchFamily="34" charset="-120"/>
              </a:rPr>
              <a:t>gerçek</a:t>
            </a:r>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 bir görüntü isteniyor. Cisim aynadan kaç cm uzağa konmalıdır?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çukur ayna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f = 15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 = 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görüntü gerçek (b &gt; 0)</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cismin aynaya uzaklığı a</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İstenen büyütmeyi sağlamak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Gerçek görüntüde b = m·a = 3a</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1/15 = 1/a + 1/(3a) = (3 + 1)/(3a) = 4/(3a)</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İstenen büyütmeyi sağlamak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3a = 60 → a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cm</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b = 60 cm, m = 60/20 = 3 ✓ (a, f ile 2f arasında olduğu için görüntü gerçek, ters ve büyük.)</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Makyaj aynası tasarlamak</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Yüzünü aynadan 15 cm uzakta tutan biri, yüzünün </a:t>
            </a:r>
            <a:pPr indent="0" marL="0">
              <a:lnSpc>
                <a:spcPct val="116000"/>
              </a:lnSpc>
              <a:buNone/>
            </a:pPr>
            <a:r>
              <a:rPr lang="en-US" sz="2000" b="1" dirty="0">
                <a:solidFill>
                  <a:srgbClr val="0E1426"/>
                </a:solidFill>
                <a:latin typeface="Calibri" pitchFamily="34" charset="0"/>
                <a:ea typeface="Calibri" pitchFamily="34" charset="-122"/>
                <a:cs typeface="Calibri" pitchFamily="34" charset="-120"/>
              </a:rPr>
              <a:t>3 kat büyük ve düz</a:t>
            </a:r>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 görüntüsünü görmek istiyor. Çukur aynanın eğrilik yarıçapı ne olmalıdır?</a:t>
            </a:r>
            <a:endParaRPr lang="en-US" sz="2000" dirty="0"/>
          </a:p>
        </p:txBody>
      </p:sp>
      <p:sp>
        <p:nvSpPr>
          <p:cNvPr id="11" name="Shape 9"/>
          <p:cNvSpPr/>
          <p:nvPr/>
        </p:nvSpPr>
        <p:spPr>
          <a:xfrm>
            <a:off x="2717098" y="3121152"/>
            <a:ext cx="6757498"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kuresel-aynalar-19.png">    </p:cNvPr>
          <p:cNvPicPr>
            <a:picLocks noChangeAspect="1"/>
          </p:cNvPicPr>
          <p:nvPr/>
        </p:nvPicPr>
        <p:blipFill>
          <a:blip r:embed="rId1"/>
          <a:stretch>
            <a:fillRect/>
          </a:stretch>
        </p:blipFill>
        <p:spPr>
          <a:xfrm>
            <a:off x="2945698" y="3230880"/>
            <a:ext cx="6300298"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Makyaj aynası tasarlamak</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Yüzünü aynadan 15 cm uzakta tutan biri, yüzünün </a:t>
            </a:r>
            <a:pPr indent="0" marL="0">
              <a:lnSpc>
                <a:spcPct val="118000"/>
              </a:lnSpc>
              <a:buNone/>
            </a:pPr>
            <a:r>
              <a:rPr lang="en-US" sz="2000" b="1" dirty="0">
                <a:solidFill>
                  <a:srgbClr val="0E1426"/>
                </a:solidFill>
                <a:latin typeface="Calibri" pitchFamily="34" charset="0"/>
                <a:ea typeface="Calibri" pitchFamily="34" charset="-122"/>
                <a:cs typeface="Calibri" pitchFamily="34" charset="-120"/>
              </a:rPr>
              <a:t>3 kat büyük ve düz</a:t>
            </a:r>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 görüntüsünü görmek istiyor. Çukur aynanın eğrilik yarıçapı ne olmalıdır?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çukur ayna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15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 = 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görüntü düz, yani sanal (b &lt; 0)</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aynanın eğrilik yarıçapı r</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Makyaj aynası tasarlamak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Düz ve büyük görüntü sanaldır: b = −m·a = −3 · 15 = −45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1/f = 1/15 + 1/(−45) = (3 − 1)/45 = 2/45</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Makyaj aynası tasarlamak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f = 45/2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22,5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r = 2f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45 cm</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a = 15 cm &lt; f = 22,5 cm, yani yüz odağın içinde ✓. Sanal formülüyle de a = f·(m − 1)/m = 22,5 · 2/3 = 15 cm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Perdeye düşen görüntü</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Çukur bir aynanın önündeki mumun 2 kat büyük görüntüsü, aynaya mumdan 30 cm daha uzak olan bir perdede net olarak oluşuyor. Aynanın odak uzaklığı kaç cm'dir?</a:t>
            </a:r>
            <a:endParaRPr lang="en-US" sz="2000" dirty="0"/>
          </a:p>
        </p:txBody>
      </p:sp>
      <p:sp>
        <p:nvSpPr>
          <p:cNvPr id="11" name="Shape 9"/>
          <p:cNvSpPr/>
          <p:nvPr/>
        </p:nvSpPr>
        <p:spPr>
          <a:xfrm>
            <a:off x="3099334" y="3474720"/>
            <a:ext cx="5993027"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kuresel-aynalar-20.png">    </p:cNvPr>
          <p:cNvPicPr>
            <a:picLocks noChangeAspect="1"/>
          </p:cNvPicPr>
          <p:nvPr/>
        </p:nvPicPr>
        <p:blipFill>
          <a:blip r:embed="rId1"/>
          <a:stretch>
            <a:fillRect/>
          </a:stretch>
        </p:blipFill>
        <p:spPr>
          <a:xfrm>
            <a:off x="3327934" y="3584448"/>
            <a:ext cx="5535827"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Perdeye düşen görüntü</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Çukur bir aynanın önündeki mumun 2 kat büyük görüntüsü, aynaya mumdan 30 cm daha uzak olan bir perdede net olarak oluşuyor. Aynanın odak uzaklığı kaç cm'dir?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çukur ayna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 = 2</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görüntü perdede, yani gerçek (b &gt; 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perde aynaya mumdan 30 cm daha uzak: b − a = 30 cm</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aynanın odak uzaklığı f</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Perdeye düşen görüntü</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Görüntü perdeye düştüğüne göre gerçektir: b = 2a</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Perde mumdan 30 cm uzakta: b − a = 30 → 2a − a = 30 → a = 30 cm, b = 60 cm</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Perdeye düşen görüntü</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1/f = 1/30 + 1/60 = (2 + 1)/60 = 3/60 → f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cm</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a = 30 cm, f = 20 ile 2f = 40 cm arasında; görüntü gerçek, ters ve büyük olmalı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Odak uzaklığı 10 cm olan çukur aynanın 30 cm önüne bir cisim konuyor. Görüntü aynadan kaç cm uzakta oluşur?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(Çukur aynada f &gt; 0, tümsek aynada f &lt; 0; b &lt; 0 çıkarsa görüntü sanaldır.)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Odak uzaklığı 10 cm olan çukur aynanın 30 cm önüne bir cisim konuyor. Görüntü aynadan kaç cm uzakta oluşur?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1/f = 1/a + 1/b → 1/10 = 1/30 + 1/b → 1/b = 3/30 − 1/30 = 2/30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b = 15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(pozitif: aynanın önünde, gerçek görüntü).</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Çukur aynanın 20 cm önündeki bir cismin görüntüsü aynanın 60 cm önünde oluşuyor. Büyütme kaçtır? Görüntü ters mi, düz mü?</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(Çukur aynada f &gt; 0, tümsek aynada f &lt; 0; b &lt; 0 çıkarsa görüntü sanaldır.)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Çukur aynanın 20 cm önündeki bir cismin görüntüsü aynanın 60 cm önünde oluşuyor. Büyütme kaçtır? Görüntü ters mi, düz mü?</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m = |b / a| = 60 / 20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Görüntü aynanın önünde, yani gerçektir; gerçek görüntü her zaman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terstir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Eğrilik yarıçapı 60 cm olan tümsek aynanın 30 cm önünde bir cisim var. Görüntünün yeri ve büyütmesi nedir?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(Çukur aynada f &gt; 0, tümsek aynada f &lt; 0; b &lt; 0 çıkarsa görüntü sanaldır.)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Eğrilik yarıçapı 60 cm olan tümsek aynanın 30 cm önünde bir cisim var. Görüntünün yeri ve büyütmesi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Tümsekte f = −r / 2 = −30 cm. 1/b = 1/f − 1/a = −1/30 − 1/30 = −2/30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b = −15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(aynanın arkasında, sanal). m = 15 / 30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0,5</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görüntü düz ve cismin yarısı boyunda.</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Odak uzaklığı 30 cm olan çukur aynanın 20 cm önüne bir cisim konuyor. Görüntünün yeri, türü ve büyütmesi nedir?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(Çukur aynada f &gt; 0, tümsek aynada f &lt; 0; b &lt; 0 çıkarsa görüntü sanaldır.)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Odak uzaklığı 30 cm olan çukur aynanın 20 cm önüne bir cisim konuyor. Görüntünün yeri, türü ve büyütmesi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1/b = 1/30 − 1/20 = 2/60 − 3/60 = −1/60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b = −60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görüntü aynanın arkasında,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sanal ve düz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m = 60 / 20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Cisim odağın içinde olduğu için böyle çıktı.</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Çukur aynanın 60 cm önündeki bir cismin görüntüsü ters ve cismin yarısı boyunda. Aynanın eğrilik yarıçapı kaç cm'dir?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(Çukur aynada f &gt; 0, tümsek aynada f &lt; 0; b &lt; 0 çıkarsa görüntü sanaldır.)</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Çukur aynanın 60 cm önündeki bir cismin görüntüsü ters ve cismin yarısı boyunda. Aynanın eğrilik yarıçapı kaç cm'dir?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Ters görüntü gerçektir: b = m · a = 0,5 · 60 = 30 cm. 1/f = 1/60 + 1/30 = 1/60 + 2/60 = 3/60 → f = 20 cm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r = 2f = 40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a = 60 cm, 2f = 40 cm'den büyük; merkezin ötesindeki cisim gerçek, ters ve küçük görüntü verir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f = r sanmak.</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Odak uzaklığı yarıçapın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yarısıdır</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Tümsek aynada gerçek görüntü aramak.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Tümsek aynada görüntü her zaman sanal, düz ve küçüktür.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Tümsek aynada f'yi pozitif yazmak.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Tümsek aynanın odağı arkadadır: f = −r/2 alınmazsa sonuç yanlış çıkar.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Çukur aynanın her zaman ters görüntü verdiğini sanmak.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Cisim odağın içindeyse görüntü sanal, düz ve büyüktür.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Sanal görüntüyü perdeye düşürmeye çalışmak.</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Sanal görüntü perdede oluşmaz; yalnızca aynaya bakarak görülür.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İşaretleri karıştırmak.</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b'nin negatif çıkması hata değildir; görüntünün aynanın arkasında olduğunu söyler.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Cisim odaktayken görüntü “odakta oluşur” demek.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Yansıyan ışınlar paralel olur; görüntü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sonsuzda</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dır, yani oluşmaz.</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Büyütmeyi boy farkı sanmak.</a:t>
            </a:r>
            <a:endParaRPr lang="en-US" sz="1900" dirty="0"/>
          </a:p>
        </p:txBody>
      </p:sp>
      <p:sp>
        <p:nvSpPr>
          <p:cNvPr id="32" name="Shape 30"/>
          <p:cNvSpPr/>
          <p:nvPr/>
        </p:nvSpPr>
        <p:spPr>
          <a:xfrm>
            <a:off x="6406744" y="4612386"/>
            <a:ext cx="310896" cy="310896"/>
          </a:xfrm>
          <a:prstGeom prst="roundRect">
            <a:avLst>
              <a:gd name="adj" fmla="val 26471"/>
            </a:avLst>
          </a:prstGeom>
          <a:solidFill>
            <a:srgbClr val="EAF7DC"/>
          </a:solidFill>
          <a:ln/>
        </p:spPr>
      </p:sp>
      <p:sp>
        <p:nvSpPr>
          <p:cNvPr id="33" name="Text 31"/>
          <p:cNvSpPr txBox="1"/>
          <p:nvPr/>
        </p:nvSpPr>
        <p:spPr>
          <a:xfrm>
            <a:off x="6406744"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Büyütme bir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orandır</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görüntü boyunun cisim boyuna bölümü.</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dersler.perinet.org/kuresel-aynalar.html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Odak </a:t>
            </a:r>
            <a:pPr indent="0" marL="0">
              <a:buNone/>
            </a:pPr>
            <a:r>
              <a:rPr lang="en-US" sz="1500" b="1" dirty="0">
                <a:solidFill>
                  <a:srgbClr val="FFFFFF"/>
                </a:solidFill>
                <a:latin typeface="Calibri" pitchFamily="34" charset="0"/>
                <a:ea typeface="Calibri" pitchFamily="34" charset="-122"/>
                <a:cs typeface="Calibri" pitchFamily="34" charset="-120"/>
              </a:rPr>
              <a:t>f = r / 2</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Denklem </a:t>
            </a:r>
            <a:pPr indent="0" marL="0">
              <a:buNone/>
            </a:pPr>
            <a:r>
              <a:rPr lang="en-US" sz="1500" b="1" dirty="0">
                <a:solidFill>
                  <a:srgbClr val="FFFFFF"/>
                </a:solidFill>
                <a:latin typeface="Calibri" pitchFamily="34" charset="0"/>
                <a:ea typeface="Calibri" pitchFamily="34" charset="-122"/>
                <a:cs typeface="Calibri" pitchFamily="34" charset="-120"/>
              </a:rPr>
              <a:t>1/f = 1/a + 1/b</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Büyütme </a:t>
            </a:r>
            <a:pPr indent="0" marL="0">
              <a:buNone/>
            </a:pPr>
            <a:r>
              <a:rPr lang="en-US" sz="1500" b="1" dirty="0">
                <a:solidFill>
                  <a:srgbClr val="FFFFFF"/>
                </a:solidFill>
                <a:latin typeface="Calibri" pitchFamily="34" charset="0"/>
                <a:ea typeface="Calibri" pitchFamily="34" charset="-122"/>
                <a:cs typeface="Calibri" pitchFamily="34" charset="-120"/>
              </a:rPr>
              <a:t>|b / a|</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Tümsekte </a:t>
            </a:r>
            <a:pPr indent="0" marL="0">
              <a:buNone/>
            </a:pPr>
            <a:r>
              <a:rPr lang="en-US" sz="1500" b="1" dirty="0">
                <a:solidFill>
                  <a:srgbClr val="FFFFFF"/>
                </a:solidFill>
                <a:latin typeface="Calibri" pitchFamily="34" charset="0"/>
                <a:ea typeface="Calibri" pitchFamily="34" charset="-122"/>
                <a:cs typeface="Calibri" pitchFamily="34" charset="-120"/>
              </a:rPr>
              <a:t>hep sanal</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 = r / 2</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odak uzaklığı</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1/f = 1/a + 1/b</a:t>
            </a:r>
            <a:endParaRPr lang="en-US" sz="1350" dirty="0"/>
          </a:p>
        </p:txBody>
      </p:sp>
      <p:sp>
        <p:nvSpPr>
          <p:cNvPr id="19" name="Text 17"/>
          <p:cNvSpPr txBox="1"/>
          <p:nvPr/>
        </p:nvSpPr>
        <p:spPr>
          <a:xfrm>
            <a:off x="8572500" y="321868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ayna denklemi</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m = |b / a|</a:t>
            </a:r>
            <a:endParaRPr lang="en-US" sz="1350" dirty="0"/>
          </a:p>
        </p:txBody>
      </p:sp>
      <p:sp>
        <p:nvSpPr>
          <p:cNvPr id="22" name="Text 20"/>
          <p:cNvSpPr txBox="1"/>
          <p:nvPr/>
        </p:nvSpPr>
        <p:spPr>
          <a:xfrm>
            <a:off x="8183880" y="404164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büyütme</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64134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b &lt; 0 → sanal</a:t>
            </a:r>
            <a:endParaRPr lang="en-US" sz="1350" dirty="0"/>
          </a:p>
        </p:txBody>
      </p:sp>
      <p:sp>
        <p:nvSpPr>
          <p:cNvPr id="25" name="Text 23"/>
          <p:cNvSpPr txBox="1"/>
          <p:nvPr/>
        </p:nvSpPr>
        <p:spPr>
          <a:xfrm>
            <a:off x="8362188" y="4864608"/>
            <a:ext cx="300654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aynanın arkasında</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dersler.perinet.org/kuresel-aynalar.html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04 · Kırılma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142</Slides>
  <Notes>142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142</vt:i4>
      </vt:variant>
    </vt:vector>
  </HeadingPairs>
  <TitlesOfParts>
    <vt:vector size="1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Küresel aynalar — Dersler</dc:title>
  <dc:subject>Fizik · Optik</dc:subject>
  <dc:creator>Dersler</dc:creator>
  <cp:lastModifiedBy>Dersler</cp:lastModifiedBy>
  <cp:revision>1</cp:revision>
  <dcterms:created xsi:type="dcterms:W3CDTF">2026-09-30T12:20:50Z</dcterms:created>
  <dcterms:modified xsi:type="dcterms:W3CDTF">2026-09-30T12:20:50Z</dcterms:modified>
</cp:coreProperties>
</file>