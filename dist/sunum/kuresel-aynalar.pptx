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f = 20 cm olan çukur aynada görüntü uzaklığı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</c:v>
                </c:pt>
              </c:strCache>
            </c:strRef>
          </c:tx>
          <c:spPr>
            <a:solidFill>
              <a:srgbClr val="A56209"/>
            </a:solidFill>
            <a:ln w="31750" cap="flat">
              <a:solidFill>
                <a:srgbClr val="A56209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A56209"/>
              </a:solidFill>
              <a:ln w="9525" cap="flat">
                <a:solidFill>
                  <a:srgbClr val="A56209"/>
                </a:solidFill>
                <a:prstDash val="solid"/>
                <a:round/>
              </a:ln>
              <a:effectLst/>
            </c:spPr>
          </c:marker>
          <c:xVal>
            <c:numRef>
              <c:f>Sheet1!$A$2:$A$181</c:f>
              <c:numCache>
                <c:formatCode>General</c:formatCode>
                <c:ptCount val="180"/>
                <c:pt idx="0">
                  <c:v>21</c:v>
                </c:pt>
                <c:pt idx="1">
                  <c:v>22</c:v>
                </c:pt>
                <c:pt idx="2">
                  <c:v>23</c:v>
                </c:pt>
                <c:pt idx="3">
                  <c:v>24</c:v>
                </c:pt>
                <c:pt idx="4">
                  <c:v>25</c:v>
                </c:pt>
                <c:pt idx="5">
                  <c:v>26</c:v>
                </c:pt>
                <c:pt idx="6">
                  <c:v>27</c:v>
                </c:pt>
                <c:pt idx="7">
                  <c:v>28</c:v>
                </c:pt>
                <c:pt idx="8">
                  <c:v>29</c:v>
                </c:pt>
                <c:pt idx="9">
                  <c:v>30</c:v>
                </c:pt>
                <c:pt idx="10">
                  <c:v>31</c:v>
                </c:pt>
                <c:pt idx="11">
                  <c:v>32</c:v>
                </c:pt>
                <c:pt idx="12">
                  <c:v>33</c:v>
                </c:pt>
                <c:pt idx="13">
                  <c:v>34</c:v>
                </c:pt>
                <c:pt idx="14">
                  <c:v>35</c:v>
                </c:pt>
                <c:pt idx="15">
                  <c:v>36</c:v>
                </c:pt>
                <c:pt idx="16">
                  <c:v>37</c:v>
                </c:pt>
                <c:pt idx="17">
                  <c:v>38</c:v>
                </c:pt>
                <c:pt idx="18">
                  <c:v>39</c:v>
                </c:pt>
                <c:pt idx="19">
                  <c:v>40</c:v>
                </c:pt>
                <c:pt idx="20">
                  <c:v>41</c:v>
                </c:pt>
                <c:pt idx="21">
                  <c:v>42</c:v>
                </c:pt>
                <c:pt idx="22">
                  <c:v>43</c:v>
                </c:pt>
                <c:pt idx="23">
                  <c:v>44</c:v>
                </c:pt>
                <c:pt idx="24">
                  <c:v>45</c:v>
                </c:pt>
                <c:pt idx="25">
                  <c:v>46</c:v>
                </c:pt>
                <c:pt idx="26">
                  <c:v>47</c:v>
                </c:pt>
                <c:pt idx="27">
                  <c:v>48</c:v>
                </c:pt>
                <c:pt idx="28">
                  <c:v>49</c:v>
                </c:pt>
                <c:pt idx="29">
                  <c:v>50</c:v>
                </c:pt>
                <c:pt idx="30">
                  <c:v>51</c:v>
                </c:pt>
                <c:pt idx="31">
                  <c:v>52</c:v>
                </c:pt>
                <c:pt idx="32">
                  <c:v>53</c:v>
                </c:pt>
                <c:pt idx="33">
                  <c:v>54</c:v>
                </c:pt>
                <c:pt idx="34">
                  <c:v>55</c:v>
                </c:pt>
                <c:pt idx="35">
                  <c:v>56</c:v>
                </c:pt>
                <c:pt idx="36">
                  <c:v>57</c:v>
                </c:pt>
                <c:pt idx="37">
                  <c:v>58</c:v>
                </c:pt>
                <c:pt idx="38">
                  <c:v>59</c:v>
                </c:pt>
                <c:pt idx="39">
                  <c:v>60</c:v>
                </c:pt>
                <c:pt idx="40">
                  <c:v>61</c:v>
                </c:pt>
                <c:pt idx="41">
                  <c:v>62</c:v>
                </c:pt>
                <c:pt idx="42">
                  <c:v>63</c:v>
                </c:pt>
                <c:pt idx="43">
                  <c:v>64</c:v>
                </c:pt>
                <c:pt idx="44">
                  <c:v>65</c:v>
                </c:pt>
                <c:pt idx="45">
                  <c:v>66</c:v>
                </c:pt>
                <c:pt idx="46">
                  <c:v>67</c:v>
                </c:pt>
                <c:pt idx="47">
                  <c:v>68</c:v>
                </c:pt>
                <c:pt idx="48">
                  <c:v>69</c:v>
                </c:pt>
                <c:pt idx="49">
                  <c:v>70</c:v>
                </c:pt>
                <c:pt idx="50">
                  <c:v>71</c:v>
                </c:pt>
                <c:pt idx="51">
                  <c:v>72</c:v>
                </c:pt>
                <c:pt idx="52">
                  <c:v>73</c:v>
                </c:pt>
                <c:pt idx="53">
                  <c:v>74</c:v>
                </c:pt>
                <c:pt idx="54">
                  <c:v>75</c:v>
                </c:pt>
                <c:pt idx="55">
                  <c:v>76</c:v>
                </c:pt>
                <c:pt idx="56">
                  <c:v>77</c:v>
                </c:pt>
                <c:pt idx="57">
                  <c:v>78</c:v>
                </c:pt>
                <c:pt idx="58">
                  <c:v>79</c:v>
                </c:pt>
                <c:pt idx="59">
                  <c:v>80</c:v>
                </c:pt>
                <c:pt idx="60">
                  <c:v>81</c:v>
                </c:pt>
                <c:pt idx="61">
                  <c:v>82</c:v>
                </c:pt>
                <c:pt idx="62">
                  <c:v>83</c:v>
                </c:pt>
                <c:pt idx="63">
                  <c:v>84</c:v>
                </c:pt>
                <c:pt idx="64">
                  <c:v>85</c:v>
                </c:pt>
                <c:pt idx="65">
                  <c:v>86</c:v>
                </c:pt>
                <c:pt idx="66">
                  <c:v>87</c:v>
                </c:pt>
                <c:pt idx="67">
                  <c:v>88</c:v>
                </c:pt>
                <c:pt idx="68">
                  <c:v>89</c:v>
                </c:pt>
                <c:pt idx="69">
                  <c:v>90</c:v>
                </c:pt>
                <c:pt idx="70">
                  <c:v>91</c:v>
                </c:pt>
                <c:pt idx="71">
                  <c:v>92</c:v>
                </c:pt>
                <c:pt idx="72">
                  <c:v>93</c:v>
                </c:pt>
                <c:pt idx="73">
                  <c:v>94</c:v>
                </c:pt>
                <c:pt idx="74">
                  <c:v>95</c:v>
                </c:pt>
                <c:pt idx="75">
                  <c:v>96</c:v>
                </c:pt>
                <c:pt idx="76">
                  <c:v>97</c:v>
                </c:pt>
                <c:pt idx="77">
                  <c:v>98</c:v>
                </c:pt>
                <c:pt idx="78">
                  <c:v>99</c:v>
                </c:pt>
                <c:pt idx="79">
                  <c:v>100</c:v>
                </c:pt>
                <c:pt idx="80">
                  <c:v>101</c:v>
                </c:pt>
                <c:pt idx="81">
                  <c:v>102</c:v>
                </c:pt>
                <c:pt idx="82">
                  <c:v>103</c:v>
                </c:pt>
                <c:pt idx="83">
                  <c:v>104</c:v>
                </c:pt>
                <c:pt idx="84">
                  <c:v>105</c:v>
                </c:pt>
                <c:pt idx="85">
                  <c:v>106</c:v>
                </c:pt>
                <c:pt idx="86">
                  <c:v>107</c:v>
                </c:pt>
                <c:pt idx="87">
                  <c:v>108</c:v>
                </c:pt>
                <c:pt idx="88">
                  <c:v>109</c:v>
                </c:pt>
                <c:pt idx="89">
                  <c:v>110</c:v>
                </c:pt>
                <c:pt idx="90">
                  <c:v>111</c:v>
                </c:pt>
                <c:pt idx="91">
                  <c:v>112</c:v>
                </c:pt>
                <c:pt idx="92">
                  <c:v>113</c:v>
                </c:pt>
                <c:pt idx="93">
                  <c:v>114</c:v>
                </c:pt>
                <c:pt idx="94">
                  <c:v>115</c:v>
                </c:pt>
                <c:pt idx="95">
                  <c:v>116</c:v>
                </c:pt>
                <c:pt idx="96">
                  <c:v>117</c:v>
                </c:pt>
                <c:pt idx="97">
                  <c:v>118</c:v>
                </c:pt>
                <c:pt idx="98">
                  <c:v>119</c:v>
                </c:pt>
                <c:pt idx="99">
                  <c:v>120</c:v>
                </c:pt>
                <c:pt idx="100">
                  <c:v>121</c:v>
                </c:pt>
                <c:pt idx="101">
                  <c:v>122</c:v>
                </c:pt>
                <c:pt idx="102">
                  <c:v>123</c:v>
                </c:pt>
                <c:pt idx="103">
                  <c:v>124</c:v>
                </c:pt>
                <c:pt idx="104">
                  <c:v>125</c:v>
                </c:pt>
                <c:pt idx="105">
                  <c:v>126</c:v>
                </c:pt>
                <c:pt idx="106">
                  <c:v>127</c:v>
                </c:pt>
                <c:pt idx="107">
                  <c:v>128</c:v>
                </c:pt>
                <c:pt idx="108">
                  <c:v>129</c:v>
                </c:pt>
                <c:pt idx="109">
                  <c:v>130</c:v>
                </c:pt>
                <c:pt idx="110">
                  <c:v>131</c:v>
                </c:pt>
                <c:pt idx="111">
                  <c:v>132</c:v>
                </c:pt>
                <c:pt idx="112">
                  <c:v>133</c:v>
                </c:pt>
                <c:pt idx="113">
                  <c:v>134</c:v>
                </c:pt>
                <c:pt idx="114">
                  <c:v>135</c:v>
                </c:pt>
                <c:pt idx="115">
                  <c:v>136</c:v>
                </c:pt>
                <c:pt idx="116">
                  <c:v>137</c:v>
                </c:pt>
                <c:pt idx="117">
                  <c:v>138</c:v>
                </c:pt>
                <c:pt idx="118">
                  <c:v>139</c:v>
                </c:pt>
                <c:pt idx="119">
                  <c:v>140</c:v>
                </c:pt>
                <c:pt idx="120">
                  <c:v>141</c:v>
                </c:pt>
                <c:pt idx="121">
                  <c:v>142</c:v>
                </c:pt>
                <c:pt idx="122">
                  <c:v>143</c:v>
                </c:pt>
                <c:pt idx="123">
                  <c:v>144</c:v>
                </c:pt>
                <c:pt idx="124">
                  <c:v>145</c:v>
                </c:pt>
                <c:pt idx="125">
                  <c:v>146</c:v>
                </c:pt>
                <c:pt idx="126">
                  <c:v>147</c:v>
                </c:pt>
                <c:pt idx="127">
                  <c:v>148</c:v>
                </c:pt>
                <c:pt idx="128">
                  <c:v>149</c:v>
                </c:pt>
                <c:pt idx="129">
                  <c:v>150</c:v>
                </c:pt>
                <c:pt idx="130">
                  <c:v>151</c:v>
                </c:pt>
                <c:pt idx="131">
                  <c:v>152</c:v>
                </c:pt>
                <c:pt idx="132">
                  <c:v>153</c:v>
                </c:pt>
                <c:pt idx="133">
                  <c:v>154</c:v>
                </c:pt>
                <c:pt idx="134">
                  <c:v>155</c:v>
                </c:pt>
                <c:pt idx="135">
                  <c:v>156</c:v>
                </c:pt>
                <c:pt idx="136">
                  <c:v>157</c:v>
                </c:pt>
                <c:pt idx="137">
                  <c:v>158</c:v>
                </c:pt>
                <c:pt idx="138">
                  <c:v>159</c:v>
                </c:pt>
                <c:pt idx="139">
                  <c:v>160</c:v>
                </c:pt>
                <c:pt idx="140">
                  <c:v>161</c:v>
                </c:pt>
                <c:pt idx="141">
                  <c:v>162</c:v>
                </c:pt>
                <c:pt idx="142">
                  <c:v>163</c:v>
                </c:pt>
                <c:pt idx="143">
                  <c:v>164</c:v>
                </c:pt>
                <c:pt idx="144">
                  <c:v>165</c:v>
                </c:pt>
                <c:pt idx="145">
                  <c:v>166</c:v>
                </c:pt>
                <c:pt idx="146">
                  <c:v>167</c:v>
                </c:pt>
                <c:pt idx="147">
                  <c:v>168</c:v>
                </c:pt>
                <c:pt idx="148">
                  <c:v>169</c:v>
                </c:pt>
                <c:pt idx="149">
                  <c:v>170</c:v>
                </c:pt>
                <c:pt idx="150">
                  <c:v>171</c:v>
                </c:pt>
                <c:pt idx="151">
                  <c:v>172</c:v>
                </c:pt>
                <c:pt idx="152">
                  <c:v>173</c:v>
                </c:pt>
                <c:pt idx="153">
                  <c:v>174</c:v>
                </c:pt>
                <c:pt idx="154">
                  <c:v>175</c:v>
                </c:pt>
                <c:pt idx="155">
                  <c:v>176</c:v>
                </c:pt>
                <c:pt idx="156">
                  <c:v>177</c:v>
                </c:pt>
                <c:pt idx="157">
                  <c:v>178</c:v>
                </c:pt>
                <c:pt idx="158">
                  <c:v>179</c:v>
                </c:pt>
                <c:pt idx="159">
                  <c:v>180</c:v>
                </c:pt>
                <c:pt idx="160">
                  <c:v>181</c:v>
                </c:pt>
                <c:pt idx="161">
                  <c:v>182</c:v>
                </c:pt>
                <c:pt idx="162">
                  <c:v>183</c:v>
                </c:pt>
                <c:pt idx="163">
                  <c:v>184</c:v>
                </c:pt>
                <c:pt idx="164">
                  <c:v>185</c:v>
                </c:pt>
                <c:pt idx="165">
                  <c:v>186</c:v>
                </c:pt>
                <c:pt idx="166">
                  <c:v>187</c:v>
                </c:pt>
                <c:pt idx="167">
                  <c:v>188</c:v>
                </c:pt>
                <c:pt idx="168">
                  <c:v>189</c:v>
                </c:pt>
                <c:pt idx="169">
                  <c:v>190</c:v>
                </c:pt>
                <c:pt idx="170">
                  <c:v>191</c:v>
                </c:pt>
                <c:pt idx="171">
                  <c:v>192</c:v>
                </c:pt>
                <c:pt idx="172">
                  <c:v>193</c:v>
                </c:pt>
                <c:pt idx="173">
                  <c:v>194</c:v>
                </c:pt>
                <c:pt idx="174">
                  <c:v>195</c:v>
                </c:pt>
                <c:pt idx="175">
                  <c:v>196</c:v>
                </c:pt>
                <c:pt idx="176">
                  <c:v>197</c:v>
                </c:pt>
                <c:pt idx="177">
                  <c:v>198</c:v>
                </c:pt>
                <c:pt idx="178">
                  <c:v>199</c:v>
                </c:pt>
                <c:pt idx="179">
                  <c:v>200</c:v>
                </c:pt>
              </c:numCache>
            </c:numRef>
          </c:xVal>
          <c:yVal>
            <c:numRef>
              <c:f>Sheet1!$B$2:$B$181</c:f>
              <c:numCache>
                <c:formatCode>General</c:formatCode>
                <c:ptCount val="180"/>
                <c:pt idx="0">
                  <c:v>420</c:v>
                </c:pt>
                <c:pt idx="1">
                  <c:v>220</c:v>
                </c:pt>
                <c:pt idx="2">
                  <c:v>153.3</c:v>
                </c:pt>
                <c:pt idx="3">
                  <c:v>120</c:v>
                </c:pt>
                <c:pt idx="4">
                  <c:v>100</c:v>
                </c:pt>
                <c:pt idx="5">
                  <c:v>86.7</c:v>
                </c:pt>
                <c:pt idx="6">
                  <c:v>77.1</c:v>
                </c:pt>
                <c:pt idx="7">
                  <c:v>70</c:v>
                </c:pt>
                <c:pt idx="8">
                  <c:v>64.4</c:v>
                </c:pt>
                <c:pt idx="9">
                  <c:v>60</c:v>
                </c:pt>
                <c:pt idx="10">
                  <c:v>56.4</c:v>
                </c:pt>
                <c:pt idx="11">
                  <c:v>53.3</c:v>
                </c:pt>
                <c:pt idx="12">
                  <c:v>50.8</c:v>
                </c:pt>
                <c:pt idx="13">
                  <c:v>48.6</c:v>
                </c:pt>
                <c:pt idx="14">
                  <c:v>46.7</c:v>
                </c:pt>
                <c:pt idx="15">
                  <c:v>45</c:v>
                </c:pt>
                <c:pt idx="16">
                  <c:v>43.5</c:v>
                </c:pt>
                <c:pt idx="17">
                  <c:v>42.2</c:v>
                </c:pt>
                <c:pt idx="18">
                  <c:v>41.1</c:v>
                </c:pt>
                <c:pt idx="19">
                  <c:v>40</c:v>
                </c:pt>
                <c:pt idx="20">
                  <c:v>39</c:v>
                </c:pt>
                <c:pt idx="21">
                  <c:v>38.2</c:v>
                </c:pt>
                <c:pt idx="22">
                  <c:v>37.4</c:v>
                </c:pt>
                <c:pt idx="23">
                  <c:v>36.7</c:v>
                </c:pt>
                <c:pt idx="24">
                  <c:v>36</c:v>
                </c:pt>
                <c:pt idx="25">
                  <c:v>35.4</c:v>
                </c:pt>
                <c:pt idx="26">
                  <c:v>34.8</c:v>
                </c:pt>
                <c:pt idx="27">
                  <c:v>34.3</c:v>
                </c:pt>
                <c:pt idx="28">
                  <c:v>33.8</c:v>
                </c:pt>
                <c:pt idx="29">
                  <c:v>33.3</c:v>
                </c:pt>
                <c:pt idx="30">
                  <c:v>32.9</c:v>
                </c:pt>
                <c:pt idx="31">
                  <c:v>32.5</c:v>
                </c:pt>
                <c:pt idx="32">
                  <c:v>32.1</c:v>
                </c:pt>
                <c:pt idx="33">
                  <c:v>31.8</c:v>
                </c:pt>
                <c:pt idx="34">
                  <c:v>31.4</c:v>
                </c:pt>
                <c:pt idx="35">
                  <c:v>31.1</c:v>
                </c:pt>
                <c:pt idx="36">
                  <c:v>30.8</c:v>
                </c:pt>
                <c:pt idx="37">
                  <c:v>30.5</c:v>
                </c:pt>
                <c:pt idx="38">
                  <c:v>30.3</c:v>
                </c:pt>
                <c:pt idx="39">
                  <c:v>30</c:v>
                </c:pt>
                <c:pt idx="40">
                  <c:v>29.8</c:v>
                </c:pt>
                <c:pt idx="41">
                  <c:v>29.5</c:v>
                </c:pt>
                <c:pt idx="42">
                  <c:v>29.3</c:v>
                </c:pt>
                <c:pt idx="43">
                  <c:v>29.1</c:v>
                </c:pt>
                <c:pt idx="44">
                  <c:v>28.9</c:v>
                </c:pt>
                <c:pt idx="45">
                  <c:v>28.7</c:v>
                </c:pt>
                <c:pt idx="46">
                  <c:v>28.5</c:v>
                </c:pt>
                <c:pt idx="47">
                  <c:v>28.3</c:v>
                </c:pt>
                <c:pt idx="48">
                  <c:v>28.2</c:v>
                </c:pt>
                <c:pt idx="49">
                  <c:v>28</c:v>
                </c:pt>
                <c:pt idx="50">
                  <c:v>27.8</c:v>
                </c:pt>
                <c:pt idx="51">
                  <c:v>27.7</c:v>
                </c:pt>
                <c:pt idx="52">
                  <c:v>27.5</c:v>
                </c:pt>
                <c:pt idx="53">
                  <c:v>27.4</c:v>
                </c:pt>
                <c:pt idx="54">
                  <c:v>27.3</c:v>
                </c:pt>
                <c:pt idx="55">
                  <c:v>27.1</c:v>
                </c:pt>
                <c:pt idx="56">
                  <c:v>27</c:v>
                </c:pt>
                <c:pt idx="57">
                  <c:v>26.9</c:v>
                </c:pt>
                <c:pt idx="58">
                  <c:v>26.8</c:v>
                </c:pt>
                <c:pt idx="59">
                  <c:v>26.7</c:v>
                </c:pt>
                <c:pt idx="60">
                  <c:v>26.6</c:v>
                </c:pt>
                <c:pt idx="61">
                  <c:v>26.5</c:v>
                </c:pt>
                <c:pt idx="62">
                  <c:v>26.3</c:v>
                </c:pt>
                <c:pt idx="63">
                  <c:v>26.3</c:v>
                </c:pt>
                <c:pt idx="64">
                  <c:v>26.2</c:v>
                </c:pt>
                <c:pt idx="65">
                  <c:v>26.1</c:v>
                </c:pt>
                <c:pt idx="66">
                  <c:v>26</c:v>
                </c:pt>
                <c:pt idx="67">
                  <c:v>25.9</c:v>
                </c:pt>
                <c:pt idx="68">
                  <c:v>25.8</c:v>
                </c:pt>
                <c:pt idx="69">
                  <c:v>25.7</c:v>
                </c:pt>
                <c:pt idx="70">
                  <c:v>25.6</c:v>
                </c:pt>
                <c:pt idx="71">
                  <c:v>25.6</c:v>
                </c:pt>
                <c:pt idx="72">
                  <c:v>25.5</c:v>
                </c:pt>
                <c:pt idx="73">
                  <c:v>25.4</c:v>
                </c:pt>
                <c:pt idx="74">
                  <c:v>25.3</c:v>
                </c:pt>
                <c:pt idx="75">
                  <c:v>25.3</c:v>
                </c:pt>
                <c:pt idx="76">
                  <c:v>25.2</c:v>
                </c:pt>
                <c:pt idx="77">
                  <c:v>25.1</c:v>
                </c:pt>
                <c:pt idx="78">
                  <c:v>25.1</c:v>
                </c:pt>
                <c:pt idx="79">
                  <c:v>25</c:v>
                </c:pt>
                <c:pt idx="80">
                  <c:v>24.9</c:v>
                </c:pt>
                <c:pt idx="81">
                  <c:v>24.9</c:v>
                </c:pt>
                <c:pt idx="82">
                  <c:v>24.8</c:v>
                </c:pt>
                <c:pt idx="83">
                  <c:v>24.8</c:v>
                </c:pt>
                <c:pt idx="84">
                  <c:v>24.7</c:v>
                </c:pt>
                <c:pt idx="85">
                  <c:v>24.7</c:v>
                </c:pt>
                <c:pt idx="86">
                  <c:v>24.6</c:v>
                </c:pt>
                <c:pt idx="87">
                  <c:v>24.5</c:v>
                </c:pt>
                <c:pt idx="88">
                  <c:v>24.5</c:v>
                </c:pt>
                <c:pt idx="89">
                  <c:v>24.4</c:v>
                </c:pt>
                <c:pt idx="90">
                  <c:v>24.4</c:v>
                </c:pt>
                <c:pt idx="91">
                  <c:v>24.3</c:v>
                </c:pt>
                <c:pt idx="92">
                  <c:v>24.3</c:v>
                </c:pt>
                <c:pt idx="93">
                  <c:v>24.3</c:v>
                </c:pt>
                <c:pt idx="94">
                  <c:v>24.2</c:v>
                </c:pt>
                <c:pt idx="95">
                  <c:v>24.2</c:v>
                </c:pt>
                <c:pt idx="96">
                  <c:v>24.1</c:v>
                </c:pt>
                <c:pt idx="97">
                  <c:v>24.1</c:v>
                </c:pt>
                <c:pt idx="98">
                  <c:v>24</c:v>
                </c:pt>
                <c:pt idx="99">
                  <c:v>24</c:v>
                </c:pt>
                <c:pt idx="100">
                  <c:v>24</c:v>
                </c:pt>
                <c:pt idx="101">
                  <c:v>23.9</c:v>
                </c:pt>
                <c:pt idx="102">
                  <c:v>23.9</c:v>
                </c:pt>
                <c:pt idx="103">
                  <c:v>23.8</c:v>
                </c:pt>
                <c:pt idx="104">
                  <c:v>23.8</c:v>
                </c:pt>
                <c:pt idx="105">
                  <c:v>23.8</c:v>
                </c:pt>
                <c:pt idx="106">
                  <c:v>23.7</c:v>
                </c:pt>
                <c:pt idx="107">
                  <c:v>23.7</c:v>
                </c:pt>
                <c:pt idx="108">
                  <c:v>23.7</c:v>
                </c:pt>
                <c:pt idx="109">
                  <c:v>23.6</c:v>
                </c:pt>
                <c:pt idx="110">
                  <c:v>23.6</c:v>
                </c:pt>
                <c:pt idx="111">
                  <c:v>23.6</c:v>
                </c:pt>
                <c:pt idx="112">
                  <c:v>23.5</c:v>
                </c:pt>
                <c:pt idx="113">
                  <c:v>23.5</c:v>
                </c:pt>
                <c:pt idx="114">
                  <c:v>23.5</c:v>
                </c:pt>
                <c:pt idx="115">
                  <c:v>23.4</c:v>
                </c:pt>
                <c:pt idx="116">
                  <c:v>23.4</c:v>
                </c:pt>
                <c:pt idx="117">
                  <c:v>23.4</c:v>
                </c:pt>
                <c:pt idx="118">
                  <c:v>23.4</c:v>
                </c:pt>
                <c:pt idx="119">
                  <c:v>23.3</c:v>
                </c:pt>
                <c:pt idx="120">
                  <c:v>23.3</c:v>
                </c:pt>
                <c:pt idx="121">
                  <c:v>23.3</c:v>
                </c:pt>
                <c:pt idx="122">
                  <c:v>23.3</c:v>
                </c:pt>
                <c:pt idx="123">
                  <c:v>23.2</c:v>
                </c:pt>
                <c:pt idx="124">
                  <c:v>23.2</c:v>
                </c:pt>
                <c:pt idx="125">
                  <c:v>23.2</c:v>
                </c:pt>
                <c:pt idx="126">
                  <c:v>23.1</c:v>
                </c:pt>
                <c:pt idx="127">
                  <c:v>23.1</c:v>
                </c:pt>
                <c:pt idx="128">
                  <c:v>23.1</c:v>
                </c:pt>
                <c:pt idx="129">
                  <c:v>23.1</c:v>
                </c:pt>
                <c:pt idx="130">
                  <c:v>23.1</c:v>
                </c:pt>
                <c:pt idx="131">
                  <c:v>23</c:v>
                </c:pt>
                <c:pt idx="132">
                  <c:v>23</c:v>
                </c:pt>
                <c:pt idx="133">
                  <c:v>23</c:v>
                </c:pt>
                <c:pt idx="134">
                  <c:v>23</c:v>
                </c:pt>
                <c:pt idx="135">
                  <c:v>22.9</c:v>
                </c:pt>
                <c:pt idx="136">
                  <c:v>22.9</c:v>
                </c:pt>
                <c:pt idx="137">
                  <c:v>22.9</c:v>
                </c:pt>
                <c:pt idx="138">
                  <c:v>22.9</c:v>
                </c:pt>
                <c:pt idx="139">
                  <c:v>22.9</c:v>
                </c:pt>
                <c:pt idx="140">
                  <c:v>22.8</c:v>
                </c:pt>
                <c:pt idx="141">
                  <c:v>22.8</c:v>
                </c:pt>
                <c:pt idx="142">
                  <c:v>22.8</c:v>
                </c:pt>
                <c:pt idx="143">
                  <c:v>22.8</c:v>
                </c:pt>
                <c:pt idx="144">
                  <c:v>22.8</c:v>
                </c:pt>
                <c:pt idx="145">
                  <c:v>22.7</c:v>
                </c:pt>
                <c:pt idx="146">
                  <c:v>22.7</c:v>
                </c:pt>
                <c:pt idx="147">
                  <c:v>22.7</c:v>
                </c:pt>
                <c:pt idx="148">
                  <c:v>22.7</c:v>
                </c:pt>
                <c:pt idx="149">
                  <c:v>22.7</c:v>
                </c:pt>
                <c:pt idx="150">
                  <c:v>22.6</c:v>
                </c:pt>
                <c:pt idx="151">
                  <c:v>22.6</c:v>
                </c:pt>
                <c:pt idx="152">
                  <c:v>22.6</c:v>
                </c:pt>
                <c:pt idx="153">
                  <c:v>22.6</c:v>
                </c:pt>
                <c:pt idx="154">
                  <c:v>22.6</c:v>
                </c:pt>
                <c:pt idx="155">
                  <c:v>22.6</c:v>
                </c:pt>
                <c:pt idx="156">
                  <c:v>22.5</c:v>
                </c:pt>
                <c:pt idx="157">
                  <c:v>22.5</c:v>
                </c:pt>
                <c:pt idx="158">
                  <c:v>22.5</c:v>
                </c:pt>
                <c:pt idx="159">
                  <c:v>22.5</c:v>
                </c:pt>
                <c:pt idx="160">
                  <c:v>22.5</c:v>
                </c:pt>
                <c:pt idx="161">
                  <c:v>22.5</c:v>
                </c:pt>
                <c:pt idx="162">
                  <c:v>22.5</c:v>
                </c:pt>
                <c:pt idx="163">
                  <c:v>22.4</c:v>
                </c:pt>
                <c:pt idx="164">
                  <c:v>22.4</c:v>
                </c:pt>
                <c:pt idx="165">
                  <c:v>22.4</c:v>
                </c:pt>
                <c:pt idx="166">
                  <c:v>22.4</c:v>
                </c:pt>
                <c:pt idx="167">
                  <c:v>22.4</c:v>
                </c:pt>
                <c:pt idx="168">
                  <c:v>22.4</c:v>
                </c:pt>
                <c:pt idx="169">
                  <c:v>22.4</c:v>
                </c:pt>
                <c:pt idx="170">
                  <c:v>22.3</c:v>
                </c:pt>
                <c:pt idx="171">
                  <c:v>22.3</c:v>
                </c:pt>
                <c:pt idx="172">
                  <c:v>22.3</c:v>
                </c:pt>
                <c:pt idx="173">
                  <c:v>22.3</c:v>
                </c:pt>
                <c:pt idx="174">
                  <c:v>22.3</c:v>
                </c:pt>
                <c:pt idx="175">
                  <c:v>22.3</c:v>
                </c:pt>
                <c:pt idx="176">
                  <c:v>22.3</c:v>
                </c:pt>
                <c:pt idx="177">
                  <c:v>22.2</c:v>
                </c:pt>
                <c:pt idx="178">
                  <c:v>22.2</c:v>
                </c:pt>
                <c:pt idx="179">
                  <c:v>22.2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cisim uzaklığı a (cm)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görüntü uzaklığı b (cm)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Açılışta çukur kaşığın iç ve dış yüzüne baktır: biri ters, öteki düz görüntü verir.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Çizim ve denklem birbirini doğrular; ikisini de her örnekte yan yana kullan.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 = r/2 bağıntısı bu konunun en çok unutulan ayrıntısı; tahtada bir kez türetmeye değer.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Üçüncü ışın çizimi kontrol etmek için idealdir: üçü de aynı noktada kesişmeli.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Tabloyu ezberletmek yerine 'cisim yaklaşır → görüntü uzaklaşır ve büyür' kuralını tekrarlat.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Grafikteki dikey asimptot a = f'dir; öğrenciye 'burada ne oluyor?' diye 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Yan aynadaki 'cisimler göründüğünden daha yakındır' uyarısını sınıfa sor: neden yazıyor?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Cisim f ile 2f arasında olduğu için sonucun 'gerçek, ters, büyük' çıkması beklenir.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Eksi işaretin 'hata' değil 'bilgi' olduğunu vurgula.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Tümsek aynada sonucun her zaman sanal-düz-küçük çıkması bir kontrol noktasıdır.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Birinci ve dördüncü madde en sık görülenler; sınav öncesi tekrar ettir.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Kapanışta beş durum turunu oynat: cisim yürürken görüntünün nasıl kaçtığını izlesinler.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5544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OPTİK · KONU 03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9202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Küresel aynalar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291840"/>
            <a:ext cx="6766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Çukur ayna ışığı toplar, tümsek ayna dağıtır. Görüntünün yerini, boyunu ve yönünü üç asal ışın ya da tek bir denklem söyler.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617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E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r / 2          1/f = 1/a + 1/b          m = |b / a|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dersler.perinet.org/kuresel-aynalar.html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 rot="5400000">
            <a:off x="9692640" y="2286000"/>
            <a:ext cx="2011680" cy="2377440"/>
          </a:xfrm>
          <a:prstGeom prst="arc">
            <a:avLst/>
          </a:prstGeom>
          <a:noFill/>
          <a:ln w="63500">
            <a:solidFill>
              <a:srgbClr val="82AA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503920" y="3474720"/>
            <a:ext cx="2194560" cy="0"/>
          </a:xfrm>
          <a:prstGeom prst="line">
            <a:avLst/>
          </a:prstGeom>
          <a:noFill/>
          <a:ln w="12700">
            <a:solidFill>
              <a:srgbClr val="6A7798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9646920" y="3364992"/>
            <a:ext cx="219456" cy="219456"/>
          </a:xfrm>
          <a:prstGeom prst="ellipse">
            <a:avLst/>
          </a:prstGeom>
          <a:solidFill>
            <a:srgbClr val="FF8FA3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509760" y="3611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77824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E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r / 2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derste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Altı başlık: odak noktasından güvenlik aynasına.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039112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Temel kavramlar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Tepe, merkez, odak ve asal eksen; f = r/2.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98264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54296" y="2039112"/>
            <a:ext cx="384048" cy="3840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54296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175504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Asal ışınlar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72584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 ışından ikisi görüntüyü bulmaya yeter.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56448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0" y="2039112"/>
            <a:ext cx="384048" cy="384048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33688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Beş cisim konumu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430768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Merkezin ötesinden odak içine.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96112" y="4123944"/>
            <a:ext cx="384048" cy="384048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Ayna denklemi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1/f = 1/a + 1/b ve işaret kuralı.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398264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54296" y="4123944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654296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175504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Büyütme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672584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|b/a|; gerçek görüntü ters, sanal düz.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156448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412480" y="4123944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412480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933688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Tümsek ayna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430768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zaman sanal, düz, küçük; geniş görüş.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03 · Küresel aynalar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Temel kavramlar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Küresel aynanın haritası.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6492240" cy="694944"/>
          </a:xfrm>
          <a:prstGeom prst="roundRect">
            <a:avLst>
              <a:gd name="adj" fmla="val 18421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1783080"/>
            <a:ext cx="2651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Tepe noktası (T)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1783080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aynanın orta noktası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587752"/>
            <a:ext cx="6492240" cy="694944"/>
          </a:xfrm>
          <a:prstGeom prst="roundRect">
            <a:avLst>
              <a:gd name="adj" fmla="val 18421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14400" y="2587752"/>
            <a:ext cx="2651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Merkez (M)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587752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aynanın ait olduğu kürenin merkezi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392424"/>
            <a:ext cx="6492240" cy="694944"/>
          </a:xfrm>
          <a:prstGeom prst="roundRect">
            <a:avLst>
              <a:gd name="adj" fmla="val 18421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4400" y="3392424"/>
            <a:ext cx="2651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Odak (F)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392424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tepe ile merkezin tam ortası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197096"/>
            <a:ext cx="6492240" cy="694944"/>
          </a:xfrm>
          <a:prstGeom prst="roundRect">
            <a:avLst>
              <a:gd name="adj" fmla="val 18421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14400" y="4197096"/>
            <a:ext cx="2651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Asal eksen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4197096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tepe ile merkezden geçen doğru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5001768"/>
            <a:ext cx="6492240" cy="694944"/>
          </a:xfrm>
          <a:prstGeom prst="roundRect">
            <a:avLst>
              <a:gd name="adj" fmla="val 18421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14400" y="5001768"/>
            <a:ext cx="2651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Eğrilik yarıçapı (r)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5001768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tepe ile merkez arası uzaklık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452360" y="1783080"/>
            <a:ext cx="4099255" cy="2011680"/>
          </a:xfrm>
          <a:prstGeom prst="roundRect">
            <a:avLst>
              <a:gd name="adj" fmla="val 6364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772400" y="19659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Çukur ayna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2377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 yüzeyi yansıtıcıdır. Asal eksene paralel gelen ışınları odakta toplar: toplayıcı aynadır. Odak ve merkez aynanın önündedir.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452360" y="3931920"/>
            <a:ext cx="4099255" cy="1920240"/>
          </a:xfrm>
          <a:prstGeom prst="roundRect">
            <a:avLst>
              <a:gd name="adj" fmla="val 6667"/>
            </a:avLst>
          </a:prstGeom>
          <a:solidFill>
            <a:srgbClr val="FCECF0"/>
          </a:solidFill>
          <a:ln w="12700">
            <a:solidFill>
              <a:srgbClr val="F3C9D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772400" y="4114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Tümsek ayna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0" y="45262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Dış yüzeyi yansıtıcıdır. Işınları dağıtır; uzantıları aynanın arkasındaki odakta kesişir. Odak ve merkez aynanın arkasındadır.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5760720"/>
            <a:ext cx="6492240" cy="411480"/>
          </a:xfrm>
          <a:prstGeom prst="roundRect">
            <a:avLst>
              <a:gd name="adj" fmla="val 22222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760720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r / 2   ·   çukur aynada f &gt; 0, tümsek aynada f &lt; 0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03 · Küresel aynalar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Asal ışınlar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 ışından ikisi görüntüyü bulmaya yeter.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911535" cy="1051560"/>
          </a:xfrm>
          <a:prstGeom prst="roundRect">
            <a:avLst>
              <a:gd name="adj" fmla="val 12174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2103120"/>
            <a:ext cx="411480" cy="411480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103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18928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Asal eksene paralel gelen ışın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89280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yansıdıktan sonra odaktan geçer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35000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tümsekte odaktan geliyormuş gibi görünür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71800"/>
            <a:ext cx="10911535" cy="1051560"/>
          </a:xfrm>
          <a:prstGeom prst="roundRect">
            <a:avLst>
              <a:gd name="adj" fmla="val 12174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60120" y="3291840"/>
            <a:ext cx="411480" cy="411480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0120" y="3291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308152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Odaktan geçerek gelen ışın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212080" y="308152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yansıdıktan sonra asal eksene paralel gider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353872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fenerinin çalışma ilkesi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160520"/>
            <a:ext cx="10911535" cy="1051560"/>
          </a:xfrm>
          <a:prstGeom prst="roundRect">
            <a:avLst>
              <a:gd name="adj" fmla="val 12174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60120" y="4480560"/>
            <a:ext cx="411480" cy="411480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60120" y="4480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554480" y="42702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Merkezden geçen ışın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5212080" y="427024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aynaya dik geldiği için kendi üzerinden döner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554480" y="472744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kolay çizilen ışın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394960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EAF7DC"/>
          </a:solidFill>
          <a:ln w="12700">
            <a:solidFill>
              <a:srgbClr val="CFE8B2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60120" y="539496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 nerede? </a:t>
            </a:r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ışının kendisi kesişiyorsa görüntü gerçektir ve perdeye düşürülebilir. Yalnızca uzantıları kesişiyorsa görüntü sanaldır.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03 · Küresel aynalar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3C8C21"/>
          </a:solidFill>
          <a:ln w="12700">
            <a:solidFill>
              <a:srgbClr val="3C8C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Çukur aynada beş cisim konumu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 aynaya yaklaştıkça görüntü uzaklaşır ve büyür.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828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Cismin yeri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1828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Görüntünün yeri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18288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Türü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18288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Yönü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950976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Boyu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2542032"/>
            <a:ext cx="10911535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254203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Merkezin ötesinde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40480" y="254203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odak – merkez arası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542032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254203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9509760" y="2542032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küçük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3255264"/>
            <a:ext cx="10911535" cy="640080"/>
          </a:xfrm>
          <a:prstGeom prst="roundRect">
            <a:avLst>
              <a:gd name="adj" fmla="val 11429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3255264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Merkezde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3255264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merkezde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766560" y="3255264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325526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ters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9509760" y="3255264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eşit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3968496"/>
            <a:ext cx="10911535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96849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Merkez – odak arası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3840480" y="396849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merkezin ötesinde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3968496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396849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ters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9509760" y="3968496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büyük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0080" y="4681728"/>
            <a:ext cx="10911535" cy="640080"/>
          </a:xfrm>
          <a:prstGeom prst="roundRect">
            <a:avLst>
              <a:gd name="adj" fmla="val 11429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4400" y="468172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Odakta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3840480" y="468172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sonsuzda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468172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468172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9509760" y="4681728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 yok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5394960"/>
            <a:ext cx="10911535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14400" y="53949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Odak ile tepe arası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3840480" y="53949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aynanın arkasında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6766560" y="5394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sanal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53949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düz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9509760" y="53949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büyük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40080" y="5486400"/>
            <a:ext cx="10911535" cy="548640"/>
          </a:xfrm>
          <a:prstGeom prst="roundRect">
            <a:avLst>
              <a:gd name="adj" fmla="val 23333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Kural: </a:t>
            </a:r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görüntüler her zaman ters, sanal görüntüler her zaman düzdür. Bu iki cümle, çizim yapmadan da yönü söyler.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03 · Küresel aynalar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Ayna denklemi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Çizim olmadan da görüntünün yeri bulunur.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83080"/>
          <a:ext cx="603504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995160" y="1783080"/>
            <a:ext cx="4556455" cy="868680"/>
          </a:xfrm>
          <a:prstGeom prst="roundRect">
            <a:avLst>
              <a:gd name="adj" fmla="val 10526"/>
            </a:avLst>
          </a:prstGeom>
          <a:solidFill>
            <a:srgbClr val="FDF4E3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95160" y="1783080"/>
            <a:ext cx="45564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1/f = 1/a + 1/b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= |b / a|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995160" y="2834640"/>
            <a:ext cx="455645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Çukur aynada f pozitif, tümsek aynada negatiftir.</a:t>
            </a:r>
            <a:endParaRPr lang="en-US" sz="125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pozitifse görüntü aynanın önünde ve gerçektir.</a:t>
            </a:r>
            <a:endParaRPr lang="en-US" sz="125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negatifse görüntü aynanın arkasında ve sanaldır.</a:t>
            </a:r>
            <a:endParaRPr lang="en-US" sz="125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odak uzaklığına yaklaşınca b sonsuza gider.</a:t>
            </a:r>
            <a:endParaRPr lang="en-US" sz="1250" dirty="0"/>
          </a:p>
          <a:p>
            <a:pPr marL="342900" indent="-342900">
              <a:spcAft>
                <a:spcPts val="15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2f iken b = 2f ve m = 1 olur.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03 · Küresel aynalar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Nerede kullanılır?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Çukur ayna toplar, tümsek ayna geniş açı verir.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19842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Diş hekimi aynası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4414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Çukur ayna; diş odak içinde kalır, büyük ve düz görünür.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246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çukur · sanal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8264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672584" y="19842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Makyaj aynası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672584" y="24414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Yüz odak içindeyken büyütülmüş düz görüntü verir.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72584" y="3246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çukur · sanal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56448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430768" y="19842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feneri ve far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430768" y="24414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Ampul odağa konur; yansıyan ışınlar paralel çıkar.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430768" y="3246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çukur · paralel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14400" y="4069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Güneş fırını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45262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 gelen güneş ışınları odakta toplanır.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53309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çukur · gerçek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98264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672584" y="4069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Araç yan aynası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672584" y="45262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Tümsek ayna; görüntü küçük ama görüş alanı geniştir.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72584" y="53309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tümsek · sanal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156448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430768" y="4069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Güvenlik aynası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430768" y="45262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ve otopark köşelerinde geniş alanı tek bakışta gösterir.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430768" y="53309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tümsek · sanal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03 · Küresel aynalar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çukur aynada gerçek görüntü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Önce f = r/2.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Eğrilik yarıçapı 60 cm olan çukur aynanın önüne 45 cm uzaklığa bir cisim konuyor.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Görüntünün yerini ve büyütmesini bulunuz.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90 cm · m = 2 (gerçek, ters)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r/2 = 60/2 = 30 cm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1/30 = 1/45 + 1/b → 1/b = 1/30 − 1/45 = (3 − 2)/90 = 1/90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90 cm; pozitif olduğu için görüntü gerçek ve aynanın önünde.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|b/a| = 90/45 = 2 → görüntü ters ve iki kat büyüktür.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03 · Küresel aynalar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odağın içinde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Eksi işaret ne anlatır?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Odak uzaklığı 20 cm olan çukur aynanın önüne 10 cm uzaklığa bir cisim konuyor.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 nerede oluşur ve nasıldır?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−20 cm · m = 2 (sanal, düz)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1/20 = 1/10 + 1/b → 1/b = 1/20 − 1/10 = −1/20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−20 cm: eksi işaret görüntünün aynanın arkasında olduğunu gösterir.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|−20/10| = 2 → düz ve iki kat büyük.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Makyaj ve tıraş aynaları tam olarak böyle çalışır.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03 · Küresel aynalar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tümsek ayna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Tümsek aynada f negatiftir.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Eğrilik yarıçapı 40 cm olan tümsek aynanın 60 cm önünde bir cisim vardır.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Görüntünün yeri ve büyütmesi nedir?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−15 cm · m = 0,25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Tümsek aynada f = −r/2 = −20 cm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1/(−20) = 1/60 + 1/b → 1/b = −1/20 − 1/60 = −4/60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−15 cm → sanal, aynanın arkasında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|−15/60| = 0,25 → düz ve dörtte bir boyunda.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03 · Küresel aynalar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Sık yapılan hatalar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Sınavda puan kaybettiren altı klasik.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r sanmak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Odak uzaklığı yarıçapın yarısıdır: f = r/2.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28232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21424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Tümsek aynada gerçek görüntü aramak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21424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Tümsek aynada görüntü her zaman sanal, düz, küçüktür.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Sanal görüntüyü perdeye düşürmek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Sanal görüntü perdede oluşmaz; yalnızca aynada görülür.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9632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21424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Eksi işareti hata sanmak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21424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&lt; 0, görüntünün aynanın arkasında olduğunu söyler.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68680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261872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 odaktayken görüntü odakta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261872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Yansıyan ışınlar paralel olur; görüntü sonsuzdadır.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99632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428232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21424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Büyütmeyi boy farkı sanmak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428232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821424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Büyütme bir orandır: görüntü boyu / cisim boyu.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Optik · Konu 03 · Küresel aynalar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05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Özetle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2103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06654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Odak yarıçapın yarısıdır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5715000" y="206654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r/2; çukurda pozitif, tümsekte negatif.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99923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asal ışın yeter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5715000" y="29992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 → odaktan; merkezden → kendi üzerinden.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96849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9319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denklem her şeyi verir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5715000" y="393192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1/f = 1/a + 1/b ve m = |b/a|.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90118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86460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Tümsek ayna hep aynı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5715000" y="486460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Sanal, düz, küçük; ama görüş alanı geniş.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68680" y="5806440"/>
            <a:ext cx="10058400" cy="566928"/>
          </a:xfrm>
          <a:prstGeom prst="roundRect">
            <a:avLst>
              <a:gd name="adj" fmla="val 16129"/>
            </a:avLst>
          </a:prstGeom>
          <a:solidFill>
            <a:srgbClr val="1B2544"/>
          </a:solidFill>
          <a:ln w="12700">
            <a:solidFill>
              <a:srgbClr val="2C386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5806440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Işın çizimi laboratuvarı, beş durum ve güvenlik aynası:  </a:t>
            </a:r>
            <a:pPr indent="0" marL="0">
              <a:buNone/>
            </a:pPr>
            <a:r>
              <a:rPr lang="en-US" sz="1300" b="1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dersler.perinet.org/kuresel-aynalar.html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dersler.perinet.org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Küresel aynalar</dc:title>
  <dc:subject>Fizik · Optik</dc:subject>
  <dc:creator>Dersler</dc:creator>
  <cp:lastModifiedBy>Dersler</cp:lastModifiedBy>
  <cp:revision>1</cp:revision>
  <dcterms:created xsi:type="dcterms:W3CDTF">2026-09-18T21:53:25Z</dcterms:created>
  <dcterms:modified xsi:type="dcterms:W3CDTF">2026-09-18T21:53:25Z</dcterms:modified>
</cp:coreProperties>
</file>