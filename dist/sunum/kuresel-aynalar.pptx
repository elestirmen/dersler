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kavramlar
2. Asal ışınlar
3. Çukur aynada beş durum
4. Tümsek ayna
5. Ayna denklemi
6. Büyütme
7. Nerede kullanılır?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Küresel ayna, bir kürenin parçası biçimindeki aynadır. İç yüzeyi yansıtıcıysa çukur (konkav), dış yüzeyi yansıtıcıysa tümsek (konveks) ayna denir.
• Tepe noktası (T): aynanın orta noktası.
• Merkez (M): aynanın ait olduğu kürenin merkezi.
• Odak (F): tepe ile merkezin tam ortası.
• Asal eksen: tepe ile merkezden geçen doğru.
• Eğrilik yarıçapı (r): tepe ile merkez arası uzaklık.
f = r / 2
Çukur aynada asal eksene paralel gelen ışınlar yansıdıktan sonra odakta toplanır. Tümsek aynada ise ışınlar dağılır; uzantıları aynanın arkasındaki odakta kesişir. Bu yüzden çukur ayna toplayıcı, tümsek ayna dağıtıcıdır.
Çizim: Küresel ayna, bir kürenin küçük bir parçasıdır. Merkez (M) o kürenin merkezi, tepe (T) aynanın ortası, odak (F) ise ikisinin tam ortasıdır. Asal eksene paralel gelen bütün ışınlar yansıdıktan sonra odaktan geçer — bu yüzden odak, aynanın "toplama noktası"dır. Odak uzaklığı aynanın yarıçapının yarısıdır: f = 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Görüntüyü çizmek için üç ışından ikisi yeter:
• Asal eksene paralel gelen ışın, yansıdıktan sonra odaktan geçer (tümsekte odaktan geliyormuş gibi görünür).
• Odaktan geçerek gelen ışın, yansıdıktan sonra asal eksene paralel gider.
• Merkezden geçen ışın, aynaya dik geldiği için kendi üzerinden geri döner.
Görüntü nerede? İki ışının kendisi kesişiyorsa görüntü gerçektir ve perdeye düşürülebilir. Yalnızca uzantıları kesişiyorsa görüntü sanaldır.
Çizim: Görüntüyü bulmak için üç ışından ikisi yeter: 1 eksene paralel gelir, yansıyınca odaktan geçer; 2 odaktan geçerek gelir, yansıyınca eksene paralel olur; 3 tepe noktasına gelir, eksene göre simetrik yansır. Üçü de aynı noktada kesişir ve orası görüntünün yeridir. Işınlar gerçekten kesişiyorsa görüntü gerçektir ve perdeye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Cismin yeri | Görüntünün yeri | Özellikleri
Merkezin ötesinde | odak – merkez arası | gerçek, ters, küçük
Merkezde | merkezde | gerçek, ters, eşit
Merkez – odak arası | merkezin ötesinde | gerçek, ters, büyük
Odakta | sonsuzda | görüntü oluşmaz
Odak ile tepe arası | aynanın arkasında | sanal, düz, büyük
Sıradaki düzen kolay hatırlanır: cisim aynaya yaklaştıkça görüntü uzaklaşır ve büyür. Cisim odağa geldiğinde yansıyan ışınlar paralel olur, görüntü oluşmaz.
Çizim: Cismi aynaya yaklaştırdıkça görüntü uzaklaşır ve büyür. Merkezde iken cisimle görüntü aynı yerde ve aynı boydadır — bu, kuralın simetri noktasıdır. Cisim odağa gelince yansıyan ışınlar paralelleşir ve görüntü sonsuza gider. Odağın içine girdiğinde ışınlar artık kesişmez; yalnızca uzantıları kesişir ve görüntü sanal, düz ve büyük olur — makyaj aynasının çalışma bölgesi burasıdır.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Tümsek aynada odak ve merkez aynanın arkasındadır. Cisim nerede olursa olsun görüntü her zaman:
• sanaldır (aynanın arkasında),
• düzdür,
• cisimden küçüktür,
• tepe ile odak arasında oluşur.
Görüntü küçüldüğü için aynı aynaya çok daha geniş bir alan sığar. Market ve otopark aynaları, araç yan aynaları bu yüzden tümsektir. Yan aynalardaki “cisimler göründüğünden daha yakındır” uyarısı da bu küçültmenin sonucudur.
Çizim: Tümsek aynada paralel ışınlar toplanmaz, dağılır; uzantıları aynanın arkasındaki odakta buluşur. Bu yüzden cisim nerede olursa olsun görüntü hep aynı türdedir: sanal, düz ve küçük. Görüntü küçük olduğu için aynaya çok daha geniş bir alan sığar — market ve otopark güvenlik aynalarının tümsek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1/f = 1/a + 1/b   f = r/2
İşaret kuralı (bu sayfada kullanılan):
• Çukur ayna: f pozitif. Tümsek ayna: f negatif.
• b pozitif: görüntü aynanın önünde, gerçek.
• b negatif: görüntü aynanın arkasında, sanal.
Çizim: Ayna denklemi bütün durumlar için aynıdır; işini gören şey işaret kuralıdır. Aynanın önünde çıkan her şey pozitiftir ve gerçektir; arkasında çıkan her şey negatiftir ve sanaldır. Hesabın sonunda b negatif çıkıyorsa bu bir hata değildir — görüntünün aynanın arkasında olduğunu, yani sanal olduğunu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m = |b / a|   m = boy(görüntü) / boy(cisim)
• m &gt; 1: görüntü cisimden büyük.
• m = 1: eşit (cisim merkezdeyken).
• m &lt; 1: görüntü küçük.
Gerçek görüntüler daima ters, sanal görüntüler daima düzdür. Bu iki cümle, çizim yapmadan da yönü söyler.
Çizim: Büyütme, görüntü boyunun cisim boyuna oranıdır ve aynı zamanda uzaklıkların oranına eşittir: m = |b/a|. Görüntü aynadan cisimden daha uzaktaysa büyür, daha yakınsa küçülür. m = 1 olan tek durum cismin merkezde olmasıdır. İşaretiyle yazıldığında (m = −b/a) eksi değer ters, artı değer düz görüntü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Nerede kullanılır?
• Çukur ayna: diş hekimi aynası, makyaj aynası, el feneri ve far yansıtıcısı, teleskop, güneş fırını.
• Tümsek ayna: araç yan aynası, market ve otopark güvenlik aynası, ATM aynaları.
El fenerinde ampul odağa yerleştirilir: odaktan çıkan ışınlar yansıdıktan sonra asal eksene paralel gider ve ışık uzağa taşınır. Güneş fırını bunun tersidir: paralel gelen güneş ışınları odakta toplanır.
Çizim: Aynı iki ayna türü, üç farklı işi aynı geometriyle yapar. Odak içine konan cisim çukur aynada büyütülmüş sanal görüntü verir — diş hekimi ve makyaj aynası. Odağa konan kaynak ise ışığı paralel bir demet hâline getirir — el feneri ve araba farı. Tümsek ayna geniş bir alanı küçülterek tek bakışa sığdırır — güvenlik ve yan aynalar. Bu yüzden yan aynada "cisimler göründüğünden daha yakındır" yazar.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Çukur aynada gerçek görüntü
Eğrilik yarıçapı 60 cm olan çukur aynanın önüne, 45 cm uzaklığa bir cisim konuyor. Görüntünün yerini ve büyütmesini bulunuz.
1. f = r/2 = 60/2 = 30 cm
2. 1/30 = 1/45 + 1/b → 1/b = 1/30 − 1/45 = (3 − 2)/90 = 1/90
3. b = 90 cm (pozitif → gerçek görüntü, aynanın önünde)
4. m = |b/a| = 90/45 = 2 kat; görüntü ters ve iki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Odağın içinde: büyüteç etkisi
Odak uzaklığı 20 cm olan çukur aynanın önüne 10 cm uzaklığa bir cisim konuyor. Görüntü nerede oluşur?
1. 1/20 = 1/10 + 1/b → 1/b = 1/20 − 1/10 = −1/20
2. b = −20 cm: eksi işaret görüntünün aynanın arkasında olduğunu gösterir, yani sanal.
3. m = |−20/10| = 2 kat, görüntü düz ve büyüktür.
4. Makyaj ve tıraş aynaları tam olarak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Tümsek ayna
Eğrilik yarıçapı 40 cm olan tümsek aynanın 60 cm önünde bir cisim vardır. Görüntünün yeri ve büyütmesi nedir?
1. Tümsek aynada f = −r/2 = −20 cm
2. 1/(−20) = 1/60 + 1/b → 1/b = −1/20 − 1/60 = (−3 − 1)/60 = −4/60
3. b = −15 cm → sanal, aynanın arkasında
4. m = |−15/60| = 0,25; görüntü düz ve dörtte bir boyunda.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İstenen büyütmeyi sağlamak
Odak uzaklığı 15 cm olan çukur aynada, cismin 3 katı büyüklükte gerçek bir görüntü isteniyor. Cisim aynadan kaç cm uzağa konmalıdır?
1. Gerçek görüntüde b = m·a = 3a
2. 1/15 = 1/a + 1/(3a) = (3 + 1)/(3a) = 4/(3a)
3. 3a = 60 → a = 20 cm
4. Kontrol: b = 60 cm, m = 60/20 = 3 ✓ (a, f ile 2f arasında olduğu için görüntü gerçek, ters ve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 = r sanmak. Odak uzaklığı yarıçapın yarısıdır.
• Tümsek aynada gerçek görüntü aramak. Tümsek aynada görüntü her zaman sanal, düz ve küçüktür.
• Sanal görüntüyü perdeye düşürmeye çalışmak. Sanal görüntü perdede oluşmaz; yalnızca aynaya bakarak görülür.
• İşaretleri karıştırmak. b'nin negatif çıkması hata değildir; görüntünün aynanın arkasında olduğunu söyler.
• Cisim odaktayken görüntü “odakta oluşur” demek. Yansıyan ışınlar paralel olur; görüntü sonsuzdadır, yani oluşmaz.
• Büyütmeyi boy farkı sanmak. Büyütme bir orandır: görüntü boyunun cisim boyuna bölümü.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Odak f = r / 2 · Denklem 1/f = 1/a + 1/b · Büyütme |b / a| · Tümsekte hep sanal
f = r / 2 — odak uzaklığı
1/f = 1/a + 1/b — ayna denklemi
m = |b / a| — büyütme
b &lt; 0 → sanal — aynanın arkasında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03</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Küresel aynalar</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550" dirty="0">
                <a:solidFill>
                  <a:srgbClr val="C3CEE8"/>
                </a:solidFill>
                <a:latin typeface="Calibri" pitchFamily="34" charset="0"/>
                <a:ea typeface="Calibri" pitchFamily="34" charset="-122"/>
                <a:cs typeface="Calibri" pitchFamily="34" charset="-120"/>
              </a:rPr>
              <a:t>Çukur ayna ışığı bir noktada toplar, tümsek ayna dağıtır. Görüntünün nerede oluşacağını, ne kadar büyük ve hangi yönde olacağını üç asal ışın ya da tek bir denklem söyler: 1/f = 1/a + 1/b.</a:t>
            </a:r>
            <a:endParaRPr lang="en-US" sz="15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r / 2   ·   1/f = 1/a + 1/b   ·   m = |b / a|</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Kaşığın iç yüzüne bakınca başın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ters</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dış yüzüne bakınca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düz ve küçük</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görünür. Aynı metal, aynı ışık — değişen tek şey yüzeyin hangi yöne büküldüğü. Küresel aynalar düzlem aynadan tek bir noktada ayrılır: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paralel gelen ışınları bir noktada toplarlar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(ya da tek bir noktadan geliyormuş gibi dağıtırlar). Odak dediğimiz o nokta, bu konunun tamamının anahtarıdır.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Temel kavramlar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Küresel ayna, bir kürenin parçası biçimindeki aynadır.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Asal ışınlar</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Görüntüyü çizmek için üç ışından ikisi yeter: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Çukur aynada beş durum</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Sıradaki düzen kolay hatırlanır: cisim aynaya yaklaştıkça görüntü uzaklaşır ve büyür.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Tümsek ayna</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Tümsek aynada odak ve merkez aynanın arkasındadır.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Ayna denklemi</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İşaret kuralı (bu sayfada kullanılan):</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Büyütme</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Gerçek görüntüler daima ters, sanal görüntüler daima düzdür.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Nerede kullanılır?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El fenerinde ampul odağa yerleştirilir: odaktan çıkan ışınlar yansıdıktan sonra asal…</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Küresel ayna, bir kürenin parçası biçimindeki aynadır.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İç yüzeyi yansıtıcıysa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çukur (konkav)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dış yüzeyi yansıtıcıysa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tümsek (konveks)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ayna denir.</a:t>
            </a:r>
            <a:endParaRPr lang="en-US" sz="1300" dirty="0"/>
          </a:p>
        </p:txBody>
      </p:sp>
      <p:sp>
        <p:nvSpPr>
          <p:cNvPr id="6" name="Text 4"/>
          <p:cNvSpPr txBox="1"/>
          <p:nvPr/>
        </p:nvSpPr>
        <p:spPr>
          <a:xfrm>
            <a:off x="640080" y="2402586"/>
            <a:ext cx="6675120" cy="14592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Tepe noktası (T):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aynanın orta noktası.</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Merkez (M):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aynanın ait olduğu kürenin merkezi.</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Odak (F):</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 ile merkezin tam ortası.</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Asal eksen: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 ile merkezden geçen doğru.</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Eğrilik yarıçapı (r):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 ile merkez arası uzaklık.</a:t>
            </a:r>
            <a:endParaRPr lang="en-US" sz="1300" dirty="0"/>
          </a:p>
        </p:txBody>
      </p:sp>
      <p:sp>
        <p:nvSpPr>
          <p:cNvPr id="7" name="Shape 5"/>
          <p:cNvSpPr/>
          <p:nvPr/>
        </p:nvSpPr>
        <p:spPr>
          <a:xfrm>
            <a:off x="640080" y="3971544"/>
            <a:ext cx="1345997" cy="457200"/>
          </a:xfrm>
          <a:prstGeom prst="roundRect">
            <a:avLst>
              <a:gd name="adj" fmla="val 24000"/>
            </a:avLst>
          </a:prstGeom>
          <a:solidFill>
            <a:srgbClr val="EEF2FC"/>
          </a:solidFill>
          <a:ln w="9525">
            <a:solidFill>
              <a:srgbClr val="CBD7F4"/>
            </a:solidFill>
            <a:prstDash val="solid"/>
          </a:ln>
        </p:spPr>
      </p:sp>
      <p:sp>
        <p:nvSpPr>
          <p:cNvPr id="8" name="Text 6"/>
          <p:cNvSpPr txBox="1"/>
          <p:nvPr/>
        </p:nvSpPr>
        <p:spPr>
          <a:xfrm>
            <a:off x="640080" y="397154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r / 2</a:t>
            </a:r>
            <a:endParaRPr lang="en-US" sz="1300" dirty="0"/>
          </a:p>
        </p:txBody>
      </p:sp>
      <p:sp>
        <p:nvSpPr>
          <p:cNvPr id="9" name="Text 7"/>
          <p:cNvSpPr txBox="1"/>
          <p:nvPr/>
        </p:nvSpPr>
        <p:spPr>
          <a:xfrm>
            <a:off x="640080" y="4593336"/>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Çukur aynada asal eksene paralel gelen ışınlar yansıdıktan sonra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odakta toplanır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Tümsek aynada ise ışınlar dağılır; uzantıları aynanın arkasındaki odakta kesişir.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yüzden çukur ayna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toplayıcı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tümsek ayna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dağıtıcı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dır.</a:t>
            </a:r>
            <a:endParaRPr lang="en-US" sz="1300" dirty="0"/>
          </a:p>
        </p:txBody>
      </p:sp>
      <p:sp>
        <p:nvSpPr>
          <p:cNvPr id="10" name="Shape 8"/>
          <p:cNvSpPr/>
          <p:nvPr/>
        </p:nvSpPr>
        <p:spPr>
          <a:xfrm>
            <a:off x="7607808" y="1481328"/>
            <a:ext cx="3943807" cy="3371936"/>
          </a:xfrm>
          <a:prstGeom prst="roundRect">
            <a:avLst>
              <a:gd name="adj" fmla="val 43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kuresel-aynalar-01.png">    </p:cNvPr>
          <p:cNvPicPr>
            <a:picLocks noChangeAspect="1"/>
          </p:cNvPicPr>
          <p:nvPr/>
        </p:nvPicPr>
        <p:blipFill>
          <a:blip r:embed="rId1"/>
          <a:stretch>
            <a:fillRect/>
          </a:stretch>
        </p:blipFill>
        <p:spPr>
          <a:xfrm>
            <a:off x="7790688" y="1664208"/>
            <a:ext cx="3578047" cy="1550451"/>
          </a:xfrm>
          <a:prstGeom prst="rect">
            <a:avLst/>
          </a:prstGeom>
        </p:spPr>
      </p:pic>
      <p:sp>
        <p:nvSpPr>
          <p:cNvPr id="12" name="Shape 9"/>
          <p:cNvSpPr/>
          <p:nvPr/>
        </p:nvSpPr>
        <p:spPr>
          <a:xfrm>
            <a:off x="7790688" y="3306099"/>
            <a:ext cx="3578047" cy="0"/>
          </a:xfrm>
          <a:prstGeom prst="line">
            <a:avLst/>
          </a:prstGeom>
          <a:noFill/>
          <a:ln w="9525">
            <a:solidFill>
              <a:srgbClr val="E1E5EE"/>
            </a:solidFill>
            <a:prstDash val="dash"/>
          </a:ln>
        </p:spPr>
      </p:sp>
      <p:sp>
        <p:nvSpPr>
          <p:cNvPr id="13" name="Text 10"/>
          <p:cNvSpPr txBox="1"/>
          <p:nvPr/>
        </p:nvSpPr>
        <p:spPr>
          <a:xfrm>
            <a:off x="7790688" y="3360963"/>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Küresel ayna, bir kürenin küçük bir parçasıdır.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Merkez (M)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 kürenin merkezi,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tepe (T)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aynanın ortası,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odak (F)</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ikisinin tam ortasıdır. Asal eksene paralel gelen bütün ışınlar yansıdıktan sonra odaktan geçer — bu yüzden odak, aynanın "toplama noktası"dır. Odak uzaklığı aynanın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yarıçapının yarısıdır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 = r/2.</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a:t>
            </a:r>
            <a:endParaRPr lang="en-US" sz="3200" dirty="0"/>
          </a:p>
        </p:txBody>
      </p:sp>
      <p:sp>
        <p:nvSpPr>
          <p:cNvPr id="5" name="Text 3"/>
          <p:cNvSpPr txBox="1"/>
          <p:nvPr/>
        </p:nvSpPr>
        <p:spPr>
          <a:xfrm>
            <a:off x="640080" y="1481328"/>
            <a:ext cx="5486400" cy="280416"/>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Görüntüyü çizmek için üç ışından ikisi yeter:</a:t>
            </a:r>
            <a:endParaRPr lang="en-US" sz="1600" dirty="0"/>
          </a:p>
        </p:txBody>
      </p:sp>
      <p:sp>
        <p:nvSpPr>
          <p:cNvPr id="6" name="Text 4"/>
          <p:cNvSpPr txBox="1"/>
          <p:nvPr/>
        </p:nvSpPr>
        <p:spPr>
          <a:xfrm>
            <a:off x="640080" y="1889760"/>
            <a:ext cx="5486400" cy="215493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yansıdıktan sonra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geçer (tümsekte odaktan geliyormuş gibi görünür).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yansıdıktan sonra asal eksene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gider.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Merkezden geçen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ışın, aynaya dik geldiği için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kendi üzerinden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 döner.</a:t>
            </a:r>
            <a:endParaRPr lang="en-US" sz="1600" dirty="0"/>
          </a:p>
        </p:txBody>
      </p:sp>
      <p:sp>
        <p:nvSpPr>
          <p:cNvPr id="7" name="Shape 5"/>
          <p:cNvSpPr/>
          <p:nvPr/>
        </p:nvSpPr>
        <p:spPr>
          <a:xfrm>
            <a:off x="640080" y="4154424"/>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300728"/>
            <a:ext cx="45720" cy="898398"/>
          </a:xfrm>
          <a:prstGeom prst="rect">
            <a:avLst/>
          </a:prstGeom>
          <a:solidFill>
            <a:srgbClr val="3C8C21"/>
          </a:solidFill>
          <a:ln/>
        </p:spPr>
      </p:sp>
      <p:sp>
        <p:nvSpPr>
          <p:cNvPr id="9" name="Text 7"/>
          <p:cNvSpPr txBox="1"/>
          <p:nvPr/>
        </p:nvSpPr>
        <p:spPr>
          <a:xfrm>
            <a:off x="914400" y="4264152"/>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Görüntü nerede?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İki ışının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kendisi</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kesişiyorsa görüntü gerçektir ve perdeye düşürülebilir. Yalnızca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uzantıları</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kesişiyorsa görüntü sanaldır.</a:t>
            </a:r>
            <a:endParaRPr lang="en-US" sz="1500" dirty="0"/>
          </a:p>
        </p:txBody>
      </p:sp>
      <p:sp>
        <p:nvSpPr>
          <p:cNvPr id="10" name="Shape 8"/>
          <p:cNvSpPr/>
          <p:nvPr/>
        </p:nvSpPr>
        <p:spPr>
          <a:xfrm>
            <a:off x="6419088" y="1481328"/>
            <a:ext cx="5132527" cy="3568267"/>
          </a:xfrm>
          <a:prstGeom prst="roundRect">
            <a:avLst>
              <a:gd name="adj" fmla="val 410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kuresel-aynalar-02.png">    </p:cNvPr>
          <p:cNvPicPr>
            <a:picLocks noChangeAspect="1"/>
          </p:cNvPicPr>
          <p:nvPr/>
        </p:nvPicPr>
        <p:blipFill>
          <a:blip r:embed="rId1"/>
          <a:stretch>
            <a:fillRect/>
          </a:stretch>
        </p:blipFill>
        <p:spPr>
          <a:xfrm>
            <a:off x="6601968" y="1664208"/>
            <a:ext cx="4766767" cy="2105227"/>
          </a:xfrm>
          <a:prstGeom prst="rect">
            <a:avLst/>
          </a:prstGeom>
        </p:spPr>
      </p:pic>
      <p:sp>
        <p:nvSpPr>
          <p:cNvPr id="12" name="Shape 9"/>
          <p:cNvSpPr/>
          <p:nvPr/>
        </p:nvSpPr>
        <p:spPr>
          <a:xfrm>
            <a:off x="6601968" y="3860875"/>
            <a:ext cx="4766767" cy="0"/>
          </a:xfrm>
          <a:prstGeom prst="line">
            <a:avLst/>
          </a:prstGeom>
          <a:noFill/>
          <a:ln w="9525">
            <a:solidFill>
              <a:srgbClr val="E1E5EE"/>
            </a:solidFill>
            <a:prstDash val="dash"/>
          </a:ln>
        </p:spPr>
      </p:sp>
      <p:sp>
        <p:nvSpPr>
          <p:cNvPr id="13" name="Text 10"/>
          <p:cNvSpPr txBox="1"/>
          <p:nvPr/>
        </p:nvSpPr>
        <p:spPr>
          <a:xfrm>
            <a:off x="6601968" y="3915739"/>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Görüntüyü bulmak için üç ışından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ikisi yeter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1</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eksene paralel gelir, yansıyınca odaktan geçer;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odaktan geçerek gelir, yansıyınca eksene paralel olur;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tepe noktasına gelir, eksene göre simetrik yansır. Üçü de aynı noktada kesişir ve orası görüntünün yeridir. Işınlar gerçekten kesişiyorsa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gerçektir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perdeye düşer.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1828800"/>
                <a:gridCol w="1828800"/>
                <a:gridCol w="18288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Cismin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Görüntünün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Özellikleri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Merkezin ötesinde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odak – merkez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 – odak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merkezin ötesinde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sonsuzda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görüntü oluşmaz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 ile tepe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aynanın arkasında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40080" y="3639312"/>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Sıradaki düzen kolay hatırlanır: cisim aynaya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yaklaştıkça görüntü uzaklaşır ve büyür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Cisim odağa geldiğinde yansıyan ışınlar paralel olur, görüntü oluşmaz.</a:t>
            </a:r>
            <a:endParaRPr lang="en-US" sz="1600" dirty="0"/>
          </a:p>
        </p:txBody>
      </p:sp>
      <p:sp>
        <p:nvSpPr>
          <p:cNvPr id="7" name="Shape 4"/>
          <p:cNvSpPr/>
          <p:nvPr/>
        </p:nvSpPr>
        <p:spPr>
          <a:xfrm>
            <a:off x="6419088" y="1481328"/>
            <a:ext cx="5132527" cy="4244075"/>
          </a:xfrm>
          <a:prstGeom prst="roundRect">
            <a:avLst>
              <a:gd name="adj" fmla="val 34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kuresel-aynalar-03.png">    </p:cNvPr>
          <p:cNvPicPr>
            <a:picLocks noChangeAspect="1"/>
          </p:cNvPicPr>
          <p:nvPr/>
        </p:nvPicPr>
        <p:blipFill>
          <a:blip r:embed="rId1"/>
          <a:stretch>
            <a:fillRect/>
          </a:stretch>
        </p:blipFill>
        <p:spPr>
          <a:xfrm>
            <a:off x="6601968" y="1664208"/>
            <a:ext cx="4766767" cy="2601813"/>
          </a:xfrm>
          <a:prstGeom prst="rect">
            <a:avLst/>
          </a:prstGeom>
        </p:spPr>
      </p:pic>
      <p:sp>
        <p:nvSpPr>
          <p:cNvPr id="9" name="Shape 5"/>
          <p:cNvSpPr/>
          <p:nvPr/>
        </p:nvSpPr>
        <p:spPr>
          <a:xfrm>
            <a:off x="6601968" y="4357461"/>
            <a:ext cx="4766767" cy="0"/>
          </a:xfrm>
          <a:prstGeom prst="line">
            <a:avLst/>
          </a:prstGeom>
          <a:noFill/>
          <a:ln w="9525">
            <a:solidFill>
              <a:srgbClr val="E1E5EE"/>
            </a:solidFill>
            <a:prstDash val="dash"/>
          </a:ln>
        </p:spPr>
      </p:sp>
      <p:sp>
        <p:nvSpPr>
          <p:cNvPr id="10" name="Text 6"/>
          <p:cNvSpPr txBox="1"/>
          <p:nvPr/>
        </p:nvSpPr>
        <p:spPr>
          <a:xfrm>
            <a:off x="6601968" y="4412325"/>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Cismi aynaya yaklaştırdıkça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uzaklaşır ve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Merkezde iken cisimle görüntü aynı yerde ve aynı boydadır — bu, kuralın simetri noktasıdır. Cisim odağa gelince yansıyan ışınlar paralelleşir ve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 gider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Odağın içine girdiğinde ışınlar artık kesişmez; yalnızca uzantıları kesişir ve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 düz ve büyük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 makyaj aynasının çalışma bölgesi burasıdır.</a:t>
            </a:r>
            <a:endParaRPr lang="en-US" sz="105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a:t>
            </a:r>
            <a:endParaRPr lang="en-US" sz="3200" dirty="0"/>
          </a:p>
        </p:txBody>
      </p:sp>
      <p:sp>
        <p:nvSpPr>
          <p:cNvPr id="5" name="Text 3"/>
          <p:cNvSpPr txBox="1"/>
          <p:nvPr/>
        </p:nvSpPr>
        <p:spPr>
          <a:xfrm>
            <a:off x="640080" y="1481328"/>
            <a:ext cx="5852160" cy="6537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Tümsek aynada odak ve merkez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aynanın arkasındadır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Cisim nerede olursa olsun görüntü her zaman:</a:t>
            </a:r>
            <a:endParaRPr lang="en-US" sz="1500" dirty="0"/>
          </a:p>
        </p:txBody>
      </p:sp>
      <p:sp>
        <p:nvSpPr>
          <p:cNvPr id="6" name="Text 4"/>
          <p:cNvSpPr txBox="1"/>
          <p:nvPr/>
        </p:nvSpPr>
        <p:spPr>
          <a:xfrm>
            <a:off x="640080" y="2244852"/>
            <a:ext cx="5852160" cy="13075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(aynanın arkasında),</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düzdür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cisimden küçüktür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tepe ile odak arasında oluşur.</a:t>
            </a:r>
            <a:endParaRPr lang="en-US" sz="1500" dirty="0"/>
          </a:p>
        </p:txBody>
      </p:sp>
      <p:sp>
        <p:nvSpPr>
          <p:cNvPr id="7" name="Text 5"/>
          <p:cNvSpPr txBox="1"/>
          <p:nvPr/>
        </p:nvSpPr>
        <p:spPr>
          <a:xfrm>
            <a:off x="640080" y="3662172"/>
            <a:ext cx="5852160" cy="17693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Görüntü küçüldüğü için aynı aynaya çok daha geniş bir alan sığar.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Market ve otopark aynaları, araç yan aynaları bu yüzden tümsektir.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Yan aynalardaki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“cisimler göründüğünden daha yakındır”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uyarısı da bu küçültmenin sonucudur.</a:t>
            </a:r>
            <a:endParaRPr lang="en-US" sz="1500" dirty="0"/>
          </a:p>
        </p:txBody>
      </p:sp>
      <p:sp>
        <p:nvSpPr>
          <p:cNvPr id="8" name="Shape 6"/>
          <p:cNvSpPr/>
          <p:nvPr/>
        </p:nvSpPr>
        <p:spPr>
          <a:xfrm>
            <a:off x="6784848" y="1481328"/>
            <a:ext cx="4766767" cy="3333468"/>
          </a:xfrm>
          <a:prstGeom prst="roundRect">
            <a:avLst>
              <a:gd name="adj" fmla="val 4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9" name="Image 0" descr="/tmp/claude-1000/-opt-dersler/a4dee546-de71-4ec2-8add-be39dd273d29/scratchpad/sekiller/kuresel-aynalar-04.png">    </p:cNvPr>
          <p:cNvPicPr>
            <a:picLocks noChangeAspect="1"/>
          </p:cNvPicPr>
          <p:nvPr/>
        </p:nvPicPr>
        <p:blipFill>
          <a:blip r:embed="rId1"/>
          <a:stretch>
            <a:fillRect/>
          </a:stretch>
        </p:blipFill>
        <p:spPr>
          <a:xfrm>
            <a:off x="6967728" y="1664208"/>
            <a:ext cx="4401007" cy="1870428"/>
          </a:xfrm>
          <a:prstGeom prst="rect">
            <a:avLst/>
          </a:prstGeom>
        </p:spPr>
      </p:pic>
      <p:sp>
        <p:nvSpPr>
          <p:cNvPr id="10" name="Shape 7"/>
          <p:cNvSpPr/>
          <p:nvPr/>
        </p:nvSpPr>
        <p:spPr>
          <a:xfrm>
            <a:off x="6967728" y="3626076"/>
            <a:ext cx="4401007" cy="0"/>
          </a:xfrm>
          <a:prstGeom prst="line">
            <a:avLst/>
          </a:prstGeom>
          <a:noFill/>
          <a:ln w="9525">
            <a:solidFill>
              <a:srgbClr val="E1E5EE"/>
            </a:solidFill>
            <a:prstDash val="dash"/>
          </a:ln>
        </p:spPr>
      </p:sp>
      <p:sp>
        <p:nvSpPr>
          <p:cNvPr id="11" name="Text 8"/>
          <p:cNvSpPr txBox="1"/>
          <p:nvPr/>
        </p:nvSpPr>
        <p:spPr>
          <a:xfrm>
            <a:off x="6967728" y="3680940"/>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Tümsek aynada paralel ışınlar toplanmaz,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dağılır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uzantıları aynanın arkasındaki odakta buluşur. Bu yüzden cisim nerede olursa olsun görüntü hep aynı türdedir: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 düz ve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Görüntü küçük olduğu için aynaya çok daha geniş bir alan sığar — market ve otopark güvenlik aynalarının tümsek olmasının sebebi budur.</a:t>
            </a:r>
            <a:endParaRPr lang="en-US" sz="105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a:t>
            </a:r>
            <a:endParaRPr lang="en-US" sz="3200" dirty="0"/>
          </a:p>
        </p:txBody>
      </p:sp>
      <p:sp>
        <p:nvSpPr>
          <p:cNvPr id="5" name="Shape 3"/>
          <p:cNvSpPr/>
          <p:nvPr/>
        </p:nvSpPr>
        <p:spPr>
          <a:xfrm>
            <a:off x="640080" y="1481328"/>
            <a:ext cx="1938528" cy="457200"/>
          </a:xfrm>
          <a:prstGeom prst="roundRect">
            <a:avLst>
              <a:gd name="adj" fmla="val 24000"/>
            </a:avLst>
          </a:prstGeom>
          <a:solidFill>
            <a:srgbClr val="EEF2FC"/>
          </a:solidFill>
          <a:ln w="9525">
            <a:solidFill>
              <a:srgbClr val="CBD7F4"/>
            </a:solidFill>
            <a:prstDash val="solid"/>
          </a:ln>
        </p:spPr>
      </p:sp>
      <p:sp>
        <p:nvSpPr>
          <p:cNvPr id="6" name="Text 4"/>
          <p:cNvSpPr txBox="1"/>
          <p:nvPr/>
        </p:nvSpPr>
        <p:spPr>
          <a:xfrm>
            <a:off x="640080" y="148132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1/f = 1/a + 1/b</a:t>
            </a:r>
            <a:endParaRPr lang="en-US" sz="1300" dirty="0"/>
          </a:p>
        </p:txBody>
      </p:sp>
      <p:sp>
        <p:nvSpPr>
          <p:cNvPr id="7" name="Shape 5"/>
          <p:cNvSpPr/>
          <p:nvPr/>
        </p:nvSpPr>
        <p:spPr>
          <a:xfrm>
            <a:off x="2688336" y="1481328"/>
            <a:ext cx="1148486" cy="457200"/>
          </a:xfrm>
          <a:prstGeom prst="roundRect">
            <a:avLst>
              <a:gd name="adj" fmla="val 24000"/>
            </a:avLst>
          </a:prstGeom>
          <a:solidFill>
            <a:srgbClr val="EEF2FC"/>
          </a:solidFill>
          <a:ln w="9525">
            <a:solidFill>
              <a:srgbClr val="CBD7F4"/>
            </a:solidFill>
            <a:prstDash val="solid"/>
          </a:ln>
        </p:spPr>
      </p:sp>
      <p:sp>
        <p:nvSpPr>
          <p:cNvPr id="8" name="Text 6"/>
          <p:cNvSpPr txBox="1"/>
          <p:nvPr/>
        </p:nvSpPr>
        <p:spPr>
          <a:xfrm>
            <a:off x="2688336" y="1481328"/>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r/2</a:t>
            </a:r>
            <a:endParaRPr lang="en-US" sz="1300" dirty="0"/>
          </a:p>
        </p:txBody>
      </p:sp>
      <p:sp>
        <p:nvSpPr>
          <p:cNvPr id="9" name="Text 7"/>
          <p:cNvSpPr txBox="1"/>
          <p:nvPr/>
        </p:nvSpPr>
        <p:spPr>
          <a:xfrm>
            <a:off x="640080" y="2103120"/>
            <a:ext cx="5486400" cy="280416"/>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İşaret kuralı (bu sayfada kullanılan):</a:t>
            </a:r>
            <a:endParaRPr lang="en-US" sz="1600" dirty="0"/>
          </a:p>
        </p:txBody>
      </p:sp>
      <p:sp>
        <p:nvSpPr>
          <p:cNvPr id="10" name="Text 8"/>
          <p:cNvSpPr txBox="1"/>
          <p:nvPr/>
        </p:nvSpPr>
        <p:spPr>
          <a:xfrm>
            <a:off x="640080" y="2511552"/>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f pozitif.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f negatif.</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aynanın önünde,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aynanın arkasında,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6419088" y="1481328"/>
            <a:ext cx="5132527" cy="3369747"/>
          </a:xfrm>
          <a:prstGeom prst="roundRect">
            <a:avLst>
              <a:gd name="adj" fmla="val 43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kuresel-aynalar-05.png">    </p:cNvPr>
          <p:cNvPicPr>
            <a:picLocks noChangeAspect="1"/>
          </p:cNvPicPr>
          <p:nvPr/>
        </p:nvPicPr>
        <p:blipFill>
          <a:blip r:embed="rId1"/>
          <a:stretch>
            <a:fillRect/>
          </a:stretch>
        </p:blipFill>
        <p:spPr>
          <a:xfrm>
            <a:off x="6601968" y="1664208"/>
            <a:ext cx="4766767" cy="1906707"/>
          </a:xfrm>
          <a:prstGeom prst="rect">
            <a:avLst/>
          </a:prstGeom>
        </p:spPr>
      </p:pic>
      <p:sp>
        <p:nvSpPr>
          <p:cNvPr id="13" name="Shape 10"/>
          <p:cNvSpPr/>
          <p:nvPr/>
        </p:nvSpPr>
        <p:spPr>
          <a:xfrm>
            <a:off x="6601968" y="3662355"/>
            <a:ext cx="4766767" cy="0"/>
          </a:xfrm>
          <a:prstGeom prst="line">
            <a:avLst/>
          </a:prstGeom>
          <a:noFill/>
          <a:ln w="9525">
            <a:solidFill>
              <a:srgbClr val="E1E5EE"/>
            </a:solidFill>
            <a:prstDash val="dash"/>
          </a:ln>
        </p:spPr>
      </p:sp>
      <p:sp>
        <p:nvSpPr>
          <p:cNvPr id="14" name="Text 11"/>
          <p:cNvSpPr txBox="1"/>
          <p:nvPr/>
        </p:nvSpPr>
        <p:spPr>
          <a:xfrm>
            <a:off x="6601968" y="3717219"/>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Ayna denklemi bütün durumlar için aynıdır; işini gören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işaret kuralıdır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Aynanın önünde çıkan her şey pozitiftir ve gerçektir; arkasında çıkan her şey negatiftir ve sanaldır. Hesabın sonunda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 negatif çıkıyorsa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bir hata değildir — görüntünün aynanın arkasında olduğunu, yani sanal olduğunu söyler.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Shape 3"/>
          <p:cNvSpPr/>
          <p:nvPr/>
        </p:nvSpPr>
        <p:spPr>
          <a:xfrm>
            <a:off x="640080" y="1481328"/>
            <a:ext cx="1543507" cy="457200"/>
          </a:xfrm>
          <a:prstGeom prst="roundRect">
            <a:avLst>
              <a:gd name="adj" fmla="val 24000"/>
            </a:avLst>
          </a:prstGeom>
          <a:solidFill>
            <a:srgbClr val="EEF2FC"/>
          </a:solidFill>
          <a:ln w="9525">
            <a:solidFill>
              <a:srgbClr val="CBD7F4"/>
            </a:solidFill>
            <a:prstDash val="solid"/>
          </a:ln>
        </p:spPr>
      </p:sp>
      <p:sp>
        <p:nvSpPr>
          <p:cNvPr id="6" name="Text 4"/>
          <p:cNvSpPr txBox="1"/>
          <p:nvPr/>
        </p:nvSpPr>
        <p:spPr>
          <a:xfrm>
            <a:off x="640080" y="1481328"/>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 / a|</a:t>
            </a:r>
            <a:endParaRPr lang="en-US" sz="1300" dirty="0"/>
          </a:p>
        </p:txBody>
      </p:sp>
      <p:sp>
        <p:nvSpPr>
          <p:cNvPr id="7" name="Shape 5"/>
          <p:cNvSpPr/>
          <p:nvPr/>
        </p:nvSpPr>
        <p:spPr>
          <a:xfrm>
            <a:off x="2293315" y="1481328"/>
            <a:ext cx="3321101" cy="457200"/>
          </a:xfrm>
          <a:prstGeom prst="roundRect">
            <a:avLst>
              <a:gd name="adj" fmla="val 24000"/>
            </a:avLst>
          </a:prstGeom>
          <a:solidFill>
            <a:srgbClr val="EEF2FC"/>
          </a:solidFill>
          <a:ln w="9525">
            <a:solidFill>
              <a:srgbClr val="CBD7F4"/>
            </a:solidFill>
            <a:prstDash val="solid"/>
          </a:ln>
        </p:spPr>
      </p:sp>
      <p:sp>
        <p:nvSpPr>
          <p:cNvPr id="8" name="Text 6"/>
          <p:cNvSpPr txBox="1"/>
          <p:nvPr/>
        </p:nvSpPr>
        <p:spPr>
          <a:xfrm>
            <a:off x="2293315" y="1481328"/>
            <a:ext cx="3321101"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boy(görüntü) / boy(cisim)</a:t>
            </a:r>
            <a:endParaRPr lang="en-US" sz="1300" dirty="0"/>
          </a:p>
        </p:txBody>
      </p:sp>
      <p:sp>
        <p:nvSpPr>
          <p:cNvPr id="9" name="Text 7"/>
          <p:cNvSpPr txBox="1"/>
          <p:nvPr/>
        </p:nvSpPr>
        <p:spPr>
          <a:xfrm>
            <a:off x="640080" y="2103120"/>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&gt;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cisimden büyük.</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eşit (cisim merkezdeyken).</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&lt;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küçük.</a:t>
            </a:r>
            <a:endParaRPr lang="en-US" sz="1600" dirty="0"/>
          </a:p>
        </p:txBody>
      </p:sp>
      <p:sp>
        <p:nvSpPr>
          <p:cNvPr id="10" name="Text 8"/>
          <p:cNvSpPr txBox="1"/>
          <p:nvPr/>
        </p:nvSpPr>
        <p:spPr>
          <a:xfrm>
            <a:off x="640080" y="3246120"/>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Gerçek görüntüler daima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ters</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sanal görüntüler daima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düzdür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iki cümle, çizim yapmadan da yönü söyler.</a:t>
            </a:r>
            <a:endParaRPr lang="en-US" sz="1600" dirty="0"/>
          </a:p>
        </p:txBody>
      </p:sp>
      <p:sp>
        <p:nvSpPr>
          <p:cNvPr id="11" name="Shape 9"/>
          <p:cNvSpPr/>
          <p:nvPr/>
        </p:nvSpPr>
        <p:spPr>
          <a:xfrm>
            <a:off x="6419088" y="1481328"/>
            <a:ext cx="5132527" cy="3310162"/>
          </a:xfrm>
          <a:prstGeom prst="roundRect">
            <a:avLst>
              <a:gd name="adj" fmla="val 44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kuresel-aynalar-06.png">    </p:cNvPr>
          <p:cNvPicPr>
            <a:picLocks noChangeAspect="1"/>
          </p:cNvPicPr>
          <p:nvPr/>
        </p:nvPicPr>
        <p:blipFill>
          <a:blip r:embed="rId1"/>
          <a:stretch>
            <a:fillRect/>
          </a:stretch>
        </p:blipFill>
        <p:spPr>
          <a:xfrm>
            <a:off x="6601968" y="1664208"/>
            <a:ext cx="4766767" cy="1847122"/>
          </a:xfrm>
          <a:prstGeom prst="rect">
            <a:avLst/>
          </a:prstGeom>
        </p:spPr>
      </p:pic>
      <p:sp>
        <p:nvSpPr>
          <p:cNvPr id="13" name="Shape 10"/>
          <p:cNvSpPr/>
          <p:nvPr/>
        </p:nvSpPr>
        <p:spPr>
          <a:xfrm>
            <a:off x="6601968" y="3602770"/>
            <a:ext cx="4766767" cy="0"/>
          </a:xfrm>
          <a:prstGeom prst="line">
            <a:avLst/>
          </a:prstGeom>
          <a:noFill/>
          <a:ln w="9525">
            <a:solidFill>
              <a:srgbClr val="E1E5EE"/>
            </a:solidFill>
            <a:prstDash val="dash"/>
          </a:ln>
        </p:spPr>
      </p:sp>
      <p:sp>
        <p:nvSpPr>
          <p:cNvPr id="14" name="Text 11"/>
          <p:cNvSpPr txBox="1"/>
          <p:nvPr/>
        </p:nvSpPr>
        <p:spPr>
          <a:xfrm>
            <a:off x="6601968" y="365763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Büyütme, görüntü boyunun cisim boyuna oranıdır ve aynı zamanda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uzaklıkların oranına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eşittir: m = |b/a|. Görüntü aynadan cisimden daha uzaktaysa büyür, daha yakınsa küçülür. m = 1 olan tek durum cismin merkezde olmasıdır. İşaretiyle yazıldığında (m = −b/a) eksi değer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artı değer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görüntü demektir.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Nerede kullanılır?</a:t>
            </a:r>
            <a:endParaRPr lang="en-US" sz="3200" dirty="0"/>
          </a:p>
        </p:txBody>
      </p:sp>
      <p:sp>
        <p:nvSpPr>
          <p:cNvPr id="5" name="Text 3"/>
          <p:cNvSpPr txBox="1"/>
          <p:nvPr/>
        </p:nvSpPr>
        <p:spPr>
          <a:xfrm>
            <a:off x="640080" y="1481328"/>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diş hekimi aynası, makyaj aynası, el feneri ve far yansıtıcısı, teleskop, güneş fırını.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araç yan aynası, market ve otopark güvenlik aynası, ATM aynaları.</a:t>
            </a:r>
            <a:endParaRPr lang="en-US" sz="1600" dirty="0"/>
          </a:p>
        </p:txBody>
      </p:sp>
      <p:sp>
        <p:nvSpPr>
          <p:cNvPr id="6" name="Text 4"/>
          <p:cNvSpPr txBox="1"/>
          <p:nvPr/>
        </p:nvSpPr>
        <p:spPr>
          <a:xfrm>
            <a:off x="640080" y="3121152"/>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El fenerinde ampul odağa yerleştirilir: odaktan çıkan ışınlar yansıdıktan sonra asal eksene paralel gider ve ışık uzağa taşınır.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Güneş fırını bunun tersidir: paralel gelen güneş ışınları odakta toplanır.</a:t>
            </a:r>
            <a:endParaRPr lang="en-US" sz="1600" dirty="0"/>
          </a:p>
        </p:txBody>
      </p:sp>
      <p:sp>
        <p:nvSpPr>
          <p:cNvPr id="7" name="Shape 5"/>
          <p:cNvSpPr/>
          <p:nvPr/>
        </p:nvSpPr>
        <p:spPr>
          <a:xfrm>
            <a:off x="6419088" y="1481328"/>
            <a:ext cx="5132527" cy="3668138"/>
          </a:xfrm>
          <a:prstGeom prst="roundRect">
            <a:avLst>
              <a:gd name="adj" fmla="val 39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kuresel-aynalar-07.png">    </p:cNvPr>
          <p:cNvPicPr>
            <a:picLocks noChangeAspect="1"/>
          </p:cNvPicPr>
          <p:nvPr/>
        </p:nvPicPr>
        <p:blipFill>
          <a:blip r:embed="rId1"/>
          <a:stretch>
            <a:fillRect/>
          </a:stretch>
        </p:blipFill>
        <p:spPr>
          <a:xfrm>
            <a:off x="6601968" y="1664208"/>
            <a:ext cx="4766767" cy="2025876"/>
          </a:xfrm>
          <a:prstGeom prst="rect">
            <a:avLst/>
          </a:prstGeom>
        </p:spPr>
      </p:pic>
      <p:sp>
        <p:nvSpPr>
          <p:cNvPr id="9" name="Shape 6"/>
          <p:cNvSpPr/>
          <p:nvPr/>
        </p:nvSpPr>
        <p:spPr>
          <a:xfrm>
            <a:off x="6601968" y="3781524"/>
            <a:ext cx="4766767" cy="0"/>
          </a:xfrm>
          <a:prstGeom prst="line">
            <a:avLst/>
          </a:prstGeom>
          <a:noFill/>
          <a:ln w="9525">
            <a:solidFill>
              <a:srgbClr val="E1E5EE"/>
            </a:solidFill>
            <a:prstDash val="dash"/>
          </a:ln>
        </p:spPr>
      </p:sp>
      <p:sp>
        <p:nvSpPr>
          <p:cNvPr id="10" name="Text 7"/>
          <p:cNvSpPr txBox="1"/>
          <p:nvPr/>
        </p:nvSpPr>
        <p:spPr>
          <a:xfrm>
            <a:off x="6601968" y="3836388"/>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iki ayna türü, üç farklı işi aynı geometriyle yapar.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Odak içine konan cisim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çukur aynada büyütülmüş sanal görüntü verir — diş hekimi ve makyaj aynası.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Odağa konan kaynak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ışığı paralel bir demet hâline getirir — el feneri ve araba farı.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Tümsek ayna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geniş bir alanı küçülterek tek bakışa sığdırır — güvenlik ve yan aynalar. Bu yüzden yan aynada "cisimler göründüğünden daha yakındır" yazar.</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Çukur aynada gerçek görüntü</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60 cm olan çukur aynanın önüne, 45 cm uzaklığa bir cisim konuyor. Görüntünün yerini ve büyütmesini bulunuz.</a:t>
            </a:r>
            <a:endParaRPr lang="en-US" sz="1600" dirty="0"/>
          </a:p>
        </p:txBody>
      </p:sp>
      <p:sp>
        <p:nvSpPr>
          <p:cNvPr id="9" name="Shape 7"/>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13017"/>
            <a:ext cx="384048" cy="384048"/>
          </a:xfrm>
          <a:prstGeom prst="roundRect">
            <a:avLst>
              <a:gd name="adj" fmla="val 26000"/>
            </a:avLst>
          </a:prstGeom>
          <a:solidFill>
            <a:srgbClr val="A56209"/>
          </a:solidFill>
          <a:ln/>
        </p:spPr>
      </p:sp>
      <p:sp>
        <p:nvSpPr>
          <p:cNvPr id="11" name="Text 9"/>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r/2 = 60/2 = 30 cm</a:t>
            </a:r>
            <a:endParaRPr lang="en-US" sz="1600" dirty="0"/>
          </a:p>
        </p:txBody>
      </p:sp>
      <p:sp>
        <p:nvSpPr>
          <p:cNvPr id="13" name="Shape 11"/>
          <p:cNvSpPr/>
          <p:nvPr/>
        </p:nvSpPr>
        <p:spPr>
          <a:xfrm>
            <a:off x="5212080" y="252875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890631"/>
            <a:ext cx="384048" cy="384048"/>
          </a:xfrm>
          <a:prstGeom prst="roundRect">
            <a:avLst>
              <a:gd name="adj" fmla="val 26000"/>
            </a:avLst>
          </a:prstGeom>
          <a:solidFill>
            <a:srgbClr val="A56209"/>
          </a:solidFill>
          <a:ln/>
        </p:spPr>
      </p:sp>
      <p:sp>
        <p:nvSpPr>
          <p:cNvPr id="15" name="Text 13"/>
          <p:cNvSpPr txBox="1"/>
          <p:nvPr/>
        </p:nvSpPr>
        <p:spPr>
          <a:xfrm>
            <a:off x="5449824" y="28906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58361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1/30 = 1/45 + 1/b → 1/b = 1/30 − 1/45 = (3 − 2)/90 = 1/90</a:t>
            </a:r>
            <a:endParaRPr lang="en-US" sz="1600" dirty="0"/>
          </a:p>
        </p:txBody>
      </p:sp>
      <p:sp>
        <p:nvSpPr>
          <p:cNvPr id="17" name="Shape 15"/>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44737"/>
            <a:ext cx="384048" cy="384048"/>
          </a:xfrm>
          <a:prstGeom prst="roundRect">
            <a:avLst>
              <a:gd name="adj" fmla="val 26000"/>
            </a:avLst>
          </a:prstGeom>
          <a:solidFill>
            <a:srgbClr val="A56209"/>
          </a:solidFill>
          <a:ln/>
        </p:spPr>
      </p:sp>
      <p:sp>
        <p:nvSpPr>
          <p:cNvPr id="19" name="Text 17"/>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(pozitif → gerçek görüntü, aynanın önünde)</a:t>
            </a:r>
            <a:endParaRPr lang="en-US" sz="1600" dirty="0"/>
          </a:p>
        </p:txBody>
      </p:sp>
      <p:sp>
        <p:nvSpPr>
          <p:cNvPr id="21" name="Shape 19"/>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98843"/>
            <a:ext cx="384048" cy="384048"/>
          </a:xfrm>
          <a:prstGeom prst="roundRect">
            <a:avLst>
              <a:gd name="adj" fmla="val 26000"/>
            </a:avLst>
          </a:prstGeom>
          <a:solidFill>
            <a:srgbClr val="A56209"/>
          </a:solidFill>
          <a:ln/>
        </p:spPr>
      </p:sp>
      <p:sp>
        <p:nvSpPr>
          <p:cNvPr id="23" name="Text 21"/>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|b/a| = 90/45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ters ve iki kat büyüktür.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Odağın içinde: büyüteç etkisi</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20 cm olan çukur aynanın önüne 10 cm uzaklığa bir cisim konuyor. Görüntü nerede oluşur?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1/10 + 1/b → 1/b = 1/20 − 1/10 = −1/20</a:t>
            </a:r>
            <a:endParaRPr lang="en-US" sz="1600" dirty="0"/>
          </a:p>
        </p:txBody>
      </p:sp>
      <p:sp>
        <p:nvSpPr>
          <p:cNvPr id="13" name="Shape 11"/>
          <p:cNvSpPr/>
          <p:nvPr/>
        </p:nvSpPr>
        <p:spPr>
          <a:xfrm>
            <a:off x="5212080" y="268677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64606"/>
            <a:ext cx="384048" cy="384048"/>
          </a:xfrm>
          <a:prstGeom prst="roundRect">
            <a:avLst>
              <a:gd name="adj" fmla="val 26000"/>
            </a:avLst>
          </a:prstGeom>
          <a:solidFill>
            <a:srgbClr val="A56209"/>
          </a:solidFill>
          <a:ln/>
        </p:spPr>
      </p:sp>
      <p:sp>
        <p:nvSpPr>
          <p:cNvPr id="15" name="Text 13"/>
          <p:cNvSpPr txBox="1"/>
          <p:nvPr/>
        </p:nvSpPr>
        <p:spPr>
          <a:xfrm>
            <a:off x="5449824" y="31646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eksi işaret görüntünün aynanın arkasında olduğunu gösterir, yani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437186"/>
            <a:ext cx="384048" cy="384048"/>
          </a:xfrm>
          <a:prstGeom prst="roundRect">
            <a:avLst>
              <a:gd name="adj" fmla="val 26000"/>
            </a:avLst>
          </a:prstGeom>
          <a:solidFill>
            <a:srgbClr val="A56209"/>
          </a:solidFill>
          <a:ln/>
        </p:spPr>
      </p:sp>
      <p:sp>
        <p:nvSpPr>
          <p:cNvPr id="19" name="Text 17"/>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|−20/10|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büyüktür.</a:t>
            </a:r>
            <a:endParaRPr lang="en-US" sz="1600" dirty="0"/>
          </a:p>
        </p:txBody>
      </p:sp>
      <p:sp>
        <p:nvSpPr>
          <p:cNvPr id="21" name="Shape 19"/>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96326"/>
            <a:ext cx="384048" cy="384048"/>
          </a:xfrm>
          <a:prstGeom prst="roundRect">
            <a:avLst>
              <a:gd name="adj" fmla="val 26000"/>
            </a:avLst>
          </a:prstGeom>
          <a:solidFill>
            <a:srgbClr val="A56209"/>
          </a:solidFill>
          <a:ln/>
        </p:spPr>
      </p:sp>
      <p:sp>
        <p:nvSpPr>
          <p:cNvPr id="23" name="Text 21"/>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Makyaj ve tıraş aynaları tam olarak böyle çalışır.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Tümsek ayna</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40 cm olan tümsek aynanın 60 cm önünde bir cisim vardır. Görüntünün yeri ve büyütmesi nedir?</a:t>
            </a:r>
            <a:endParaRPr lang="en-US" sz="1600" dirty="0"/>
          </a:p>
        </p:txBody>
      </p:sp>
      <p:sp>
        <p:nvSpPr>
          <p:cNvPr id="9" name="Shape 7"/>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48778"/>
            <a:ext cx="384048" cy="384048"/>
          </a:xfrm>
          <a:prstGeom prst="roundRect">
            <a:avLst>
              <a:gd name="adj" fmla="val 26000"/>
            </a:avLst>
          </a:prstGeom>
          <a:solidFill>
            <a:srgbClr val="A56209"/>
          </a:solidFill>
          <a:ln/>
        </p:spPr>
      </p:sp>
      <p:sp>
        <p:nvSpPr>
          <p:cNvPr id="11" name="Text 9"/>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Tümsek aynada f = −r/2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13" name="Shape 11"/>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014638"/>
            <a:ext cx="384048" cy="384048"/>
          </a:xfrm>
          <a:prstGeom prst="roundRect">
            <a:avLst>
              <a:gd name="adj" fmla="val 26000"/>
            </a:avLst>
          </a:prstGeom>
          <a:solidFill>
            <a:srgbClr val="A56209"/>
          </a:solidFill>
          <a:ln/>
        </p:spPr>
      </p:sp>
      <p:sp>
        <p:nvSpPr>
          <p:cNvPr id="15" name="Text 13"/>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1/60 + 1/b → 1/b = −1/20 − 1/60 = (−3 − 1)/60 = −4/60</a:t>
            </a:r>
            <a:endParaRPr lang="en-US" sz="1600" dirty="0"/>
          </a:p>
        </p:txBody>
      </p:sp>
      <p:sp>
        <p:nvSpPr>
          <p:cNvPr id="17" name="Shape 15"/>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80498"/>
            <a:ext cx="384048" cy="384048"/>
          </a:xfrm>
          <a:prstGeom prst="roundRect">
            <a:avLst>
              <a:gd name="adj" fmla="val 26000"/>
            </a:avLst>
          </a:prstGeom>
          <a:solidFill>
            <a:srgbClr val="A56209"/>
          </a:solidFill>
          <a:ln/>
        </p:spPr>
      </p:sp>
      <p:sp>
        <p:nvSpPr>
          <p:cNvPr id="19" name="Text 17"/>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sanal, aynanın arkasında</a:t>
            </a:r>
            <a:endParaRPr lang="en-US" sz="1600" dirty="0"/>
          </a:p>
        </p:txBody>
      </p:sp>
      <p:sp>
        <p:nvSpPr>
          <p:cNvPr id="21" name="Shape 19"/>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46358"/>
            <a:ext cx="384048" cy="384048"/>
          </a:xfrm>
          <a:prstGeom prst="roundRect">
            <a:avLst>
              <a:gd name="adj" fmla="val 26000"/>
            </a:avLst>
          </a:prstGeom>
          <a:solidFill>
            <a:srgbClr val="A56209"/>
          </a:solidFill>
          <a:ln/>
        </p:spPr>
      </p:sp>
      <p:sp>
        <p:nvSpPr>
          <p:cNvPr id="23" name="Text 21"/>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|−15/60|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0,25</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dörtte bir boyunda.</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İstenen büyütmeyi sağlamak</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15 cm olan çukur aynada, cismin 3 katı büyüklükte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gerçek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bir görüntü isteniyor. Cisim aynadan kaç cm uzağa konmalıdır?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Gerçek görüntüde b = m·a = 3a</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1/15 = 1/a + 1/(3a) = (3 + 1)/(3a) = 4/(3a)</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3a = 60 → 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b = 60 cm, m = 60/20 = 3 ✓ (a, f ile 2f arasında olduğu için görüntü gerçek, ters ve büyük.)</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f = r sanmak.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Odak uzaklığı yarıçapın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yarısıdır</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Tümsek aynada gerçek görüntü aramak.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Tümsek aynada görüntü her zaman sanal, düz ve küçüktür.</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Sanal görüntüyü perdeye düşürmeye çalışmak.</a:t>
            </a:r>
            <a:endParaRPr lang="en-US" sz="1500" dirty="0"/>
          </a:p>
        </p:txBody>
      </p:sp>
      <p:sp>
        <p:nvSpPr>
          <p:cNvPr id="24" name="Shape 22"/>
          <p:cNvSpPr/>
          <p:nvPr/>
        </p:nvSpPr>
        <p:spPr>
          <a:xfrm>
            <a:off x="841248" y="3954780"/>
            <a:ext cx="274320" cy="274320"/>
          </a:xfrm>
          <a:prstGeom prst="roundRect">
            <a:avLst>
              <a:gd name="adj" fmla="val 26667"/>
            </a:avLst>
          </a:prstGeom>
          <a:solidFill>
            <a:srgbClr val="EAF7DC"/>
          </a:solidFill>
          <a:ln/>
        </p:spPr>
      </p:sp>
      <p:sp>
        <p:nvSpPr>
          <p:cNvPr id="25" name="Text 23"/>
          <p:cNvSpPr txBox="1"/>
          <p:nvPr/>
        </p:nvSpPr>
        <p:spPr>
          <a:xfrm>
            <a:off x="841248" y="395478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93649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Sanal görüntü perdede oluşmaz; yalnızca aynaya bakarak görülür.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İşaretleri karıştırmak.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b'nin negatif çıkması hata değildir; görüntünün aynanın arkasında olduğunu söyler.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Cisim odaktayken görüntü “odakta oluşur” demek.</a:t>
            </a:r>
            <a:endParaRPr lang="en-US" sz="1500" dirty="0"/>
          </a:p>
        </p:txBody>
      </p:sp>
      <p:sp>
        <p:nvSpPr>
          <p:cNvPr id="38" name="Shape 36"/>
          <p:cNvSpPr/>
          <p:nvPr/>
        </p:nvSpPr>
        <p:spPr>
          <a:xfrm>
            <a:off x="841248" y="5509260"/>
            <a:ext cx="274320" cy="274320"/>
          </a:xfrm>
          <a:prstGeom prst="roundRect">
            <a:avLst>
              <a:gd name="adj" fmla="val 26667"/>
            </a:avLst>
          </a:prstGeom>
          <a:solidFill>
            <a:srgbClr val="EAF7DC"/>
          </a:solidFill>
          <a:ln/>
        </p:spPr>
      </p:sp>
      <p:sp>
        <p:nvSpPr>
          <p:cNvPr id="39" name="Text 37"/>
          <p:cNvSpPr txBox="1"/>
          <p:nvPr/>
        </p:nvSpPr>
        <p:spPr>
          <a:xfrm>
            <a:off x="841248"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Yansıyan ışınlar paralel olur; görüntü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sonsuzda</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dır, yani oluşmaz.</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Büyütmeyi boy farkı sanmak.</a:t>
            </a:r>
            <a:endParaRPr lang="en-US" sz="1500" dirty="0"/>
          </a:p>
        </p:txBody>
      </p:sp>
      <p:sp>
        <p:nvSpPr>
          <p:cNvPr id="45" name="Shape 43"/>
          <p:cNvSpPr/>
          <p:nvPr/>
        </p:nvSpPr>
        <p:spPr>
          <a:xfrm>
            <a:off x="6406744" y="5246370"/>
            <a:ext cx="274320" cy="274320"/>
          </a:xfrm>
          <a:prstGeom prst="roundRect">
            <a:avLst>
              <a:gd name="adj" fmla="val 26667"/>
            </a:avLst>
          </a:prstGeom>
          <a:solidFill>
            <a:srgbClr val="EAF7DC"/>
          </a:solidFill>
          <a:ln/>
        </p:spPr>
      </p:sp>
      <p:sp>
        <p:nvSpPr>
          <p:cNvPr id="46" name="Text 44"/>
          <p:cNvSpPr txBox="1"/>
          <p:nvPr/>
        </p:nvSpPr>
        <p:spPr>
          <a:xfrm>
            <a:off x="6406744" y="524637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22808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Büyütme bir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orandır</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görüntü boyunun cisim boyuna bölümü.</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Odak </a:t>
            </a:r>
            <a:pPr indent="0" marL="0">
              <a:buNone/>
            </a:pPr>
            <a:r>
              <a:rPr lang="en-US" sz="1500" b="1" dirty="0">
                <a:solidFill>
                  <a:srgbClr val="FFFFFF"/>
                </a:solidFill>
                <a:latin typeface="Calibri" pitchFamily="34" charset="0"/>
                <a:ea typeface="Calibri" pitchFamily="34" charset="-122"/>
                <a:cs typeface="Calibri" pitchFamily="34" charset="-120"/>
              </a:rPr>
              <a:t>f = r / 2</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Denklem </a:t>
            </a:r>
            <a:pPr indent="0" marL="0">
              <a:buNone/>
            </a:pPr>
            <a:r>
              <a:rPr lang="en-US" sz="1500" b="1" dirty="0">
                <a:solidFill>
                  <a:srgbClr val="FFFFFF"/>
                </a:solidFill>
                <a:latin typeface="Calibri" pitchFamily="34" charset="0"/>
                <a:ea typeface="Calibri" pitchFamily="34" charset="-122"/>
                <a:cs typeface="Calibri" pitchFamily="34" charset="-120"/>
              </a:rPr>
              <a:t>1/f = 1/a + 1/b</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 / a|</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Tümsekte </a:t>
            </a:r>
            <a:pPr indent="0" marL="0">
              <a:buNone/>
            </a:pPr>
            <a:r>
              <a:rPr lang="en-US" sz="1500" b="1" dirty="0">
                <a:solidFill>
                  <a:srgbClr val="FFFFFF"/>
                </a:solidFill>
                <a:latin typeface="Calibri" pitchFamily="34" charset="0"/>
                <a:ea typeface="Calibri" pitchFamily="34" charset="-122"/>
                <a:cs typeface="Calibri" pitchFamily="34" charset="-120"/>
              </a:rPr>
              <a:t>hep sanal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r / 2</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dersler.perinet.org/kuresel-aynalar.html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Kırılma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Küresel aynalar — Dersler</dc:title>
  <dc:subject>Fizik · Optik</dc:subject>
  <dc:creator>Dersler</dc:creator>
  <cp:lastModifiedBy>Dersler</cp:lastModifiedBy>
  <cp:revision>1</cp:revision>
  <dcterms:created xsi:type="dcterms:W3CDTF">2026-09-20T18:42:39Z</dcterms:created>
  <dcterms:modified xsi:type="dcterms:W3CDTF">2026-09-20T18:42:39Z</dcterms:modified>
</cp:coreProperties>
</file>