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q₁ = q₂ = 1 µC için kuvvet – uzaklık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5</c:v>
                </c:pt>
                <c:pt idx="1">
                  <c:v>6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11</c:v>
                </c:pt>
                <c:pt idx="7">
                  <c:v>12</c:v>
                </c:pt>
                <c:pt idx="8">
                  <c:v>13</c:v>
                </c:pt>
                <c:pt idx="9">
                  <c:v>14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18</c:v>
                </c:pt>
                <c:pt idx="14">
                  <c:v>19</c:v>
                </c:pt>
                <c:pt idx="15">
                  <c:v>20</c:v>
                </c:pt>
                <c:pt idx="16">
                  <c:v>21</c:v>
                </c:pt>
                <c:pt idx="17">
                  <c:v>22</c:v>
                </c:pt>
                <c:pt idx="18">
                  <c:v>23</c:v>
                </c:pt>
                <c:pt idx="19">
                  <c:v>24</c:v>
                </c:pt>
                <c:pt idx="20">
                  <c:v>25</c:v>
                </c:pt>
                <c:pt idx="21">
                  <c:v>26</c:v>
                </c:pt>
                <c:pt idx="22">
                  <c:v>27</c:v>
                </c:pt>
                <c:pt idx="23">
                  <c:v>28</c:v>
                </c:pt>
                <c:pt idx="24">
                  <c:v>29</c:v>
                </c:pt>
                <c:pt idx="25">
                  <c:v>30</c:v>
                </c:pt>
                <c:pt idx="26">
                  <c:v>31</c:v>
                </c:pt>
                <c:pt idx="27">
                  <c:v>32</c:v>
                </c:pt>
                <c:pt idx="28">
                  <c:v>33</c:v>
                </c:pt>
                <c:pt idx="29">
                  <c:v>34</c:v>
                </c:pt>
                <c:pt idx="30">
                  <c:v>35</c:v>
                </c:pt>
                <c:pt idx="31">
                  <c:v>36</c:v>
                </c:pt>
                <c:pt idx="32">
                  <c:v>37</c:v>
                </c:pt>
                <c:pt idx="33">
                  <c:v>38</c:v>
                </c:pt>
                <c:pt idx="34">
                  <c:v>39</c:v>
                </c:pt>
                <c:pt idx="35">
                  <c:v>40</c:v>
                </c:pt>
                <c:pt idx="36">
                  <c:v>41</c:v>
                </c:pt>
                <c:pt idx="37">
                  <c:v>42</c:v>
                </c:pt>
                <c:pt idx="38">
                  <c:v>43</c:v>
                </c:pt>
                <c:pt idx="39">
                  <c:v>44</c:v>
                </c:pt>
                <c:pt idx="40">
                  <c:v>45</c:v>
                </c:pt>
                <c:pt idx="41">
                  <c:v>46</c:v>
                </c:pt>
                <c:pt idx="42">
                  <c:v>47</c:v>
                </c:pt>
                <c:pt idx="43">
                  <c:v>48</c:v>
                </c:pt>
                <c:pt idx="44">
                  <c:v>49</c:v>
                </c:pt>
                <c:pt idx="45">
                  <c:v>50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3.6</c:v>
                </c:pt>
                <c:pt idx="1">
                  <c:v>2.5</c:v>
                </c:pt>
                <c:pt idx="2">
                  <c:v>1.837</c:v>
                </c:pt>
                <c:pt idx="3">
                  <c:v>1.406</c:v>
                </c:pt>
                <c:pt idx="4">
                  <c:v>1.111</c:v>
                </c:pt>
                <c:pt idx="5">
                  <c:v>0.9</c:v>
                </c:pt>
                <c:pt idx="6">
                  <c:v>0.744</c:v>
                </c:pt>
                <c:pt idx="7">
                  <c:v>0.625</c:v>
                </c:pt>
                <c:pt idx="8">
                  <c:v>0.533</c:v>
                </c:pt>
                <c:pt idx="9">
                  <c:v>0.459</c:v>
                </c:pt>
                <c:pt idx="10">
                  <c:v>0.4</c:v>
                </c:pt>
                <c:pt idx="11">
                  <c:v>0.352</c:v>
                </c:pt>
                <c:pt idx="12">
                  <c:v>0.311</c:v>
                </c:pt>
                <c:pt idx="13">
                  <c:v>0.278</c:v>
                </c:pt>
                <c:pt idx="14">
                  <c:v>0.249</c:v>
                </c:pt>
                <c:pt idx="15">
                  <c:v>0.225</c:v>
                </c:pt>
                <c:pt idx="16">
                  <c:v>0.204</c:v>
                </c:pt>
                <c:pt idx="17">
                  <c:v>0.186</c:v>
                </c:pt>
                <c:pt idx="18">
                  <c:v>0.17</c:v>
                </c:pt>
                <c:pt idx="19">
                  <c:v>0.156</c:v>
                </c:pt>
                <c:pt idx="20">
                  <c:v>0.144</c:v>
                </c:pt>
                <c:pt idx="21">
                  <c:v>0.133</c:v>
                </c:pt>
                <c:pt idx="22">
                  <c:v>0.123</c:v>
                </c:pt>
                <c:pt idx="23">
                  <c:v>0.115</c:v>
                </c:pt>
                <c:pt idx="24">
                  <c:v>0.107</c:v>
                </c:pt>
                <c:pt idx="25">
                  <c:v>0.1</c:v>
                </c:pt>
                <c:pt idx="26">
                  <c:v>0.094</c:v>
                </c:pt>
                <c:pt idx="27">
                  <c:v>0.088</c:v>
                </c:pt>
                <c:pt idx="28">
                  <c:v>0.083</c:v>
                </c:pt>
                <c:pt idx="29">
                  <c:v>0.078</c:v>
                </c:pt>
                <c:pt idx="30">
                  <c:v>0.073</c:v>
                </c:pt>
                <c:pt idx="31">
                  <c:v>0.069</c:v>
                </c:pt>
                <c:pt idx="32">
                  <c:v>0.066</c:v>
                </c:pt>
                <c:pt idx="33">
                  <c:v>0.062</c:v>
                </c:pt>
                <c:pt idx="34">
                  <c:v>0.059</c:v>
                </c:pt>
                <c:pt idx="35">
                  <c:v>0.056</c:v>
                </c:pt>
                <c:pt idx="36">
                  <c:v>0.054</c:v>
                </c:pt>
                <c:pt idx="37">
                  <c:v>0.051</c:v>
                </c:pt>
                <c:pt idx="38">
                  <c:v>0.049</c:v>
                </c:pt>
                <c:pt idx="39">
                  <c:v>0.046</c:v>
                </c:pt>
                <c:pt idx="40">
                  <c:v>0.044</c:v>
                </c:pt>
                <c:pt idx="41">
                  <c:v>0.043</c:v>
                </c:pt>
                <c:pt idx="42">
                  <c:v>0.041</c:v>
                </c:pt>
                <c:pt idx="43">
                  <c:v>0.039</c:v>
                </c:pt>
                <c:pt idx="44">
                  <c:v>0.037</c:v>
                </c:pt>
                <c:pt idx="45">
                  <c:v>0.036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uzaklık r (cm)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F (N)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Nokta yükün alanı: uzaklıkla azalır, yükle büyür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 = 1 µC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5</c:v>
                </c:pt>
                <c:pt idx="1">
                  <c:v>6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11</c:v>
                </c:pt>
                <c:pt idx="7">
                  <c:v>12</c:v>
                </c:pt>
                <c:pt idx="8">
                  <c:v>13</c:v>
                </c:pt>
                <c:pt idx="9">
                  <c:v>14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18</c:v>
                </c:pt>
                <c:pt idx="14">
                  <c:v>19</c:v>
                </c:pt>
                <c:pt idx="15">
                  <c:v>20</c:v>
                </c:pt>
                <c:pt idx="16">
                  <c:v>21</c:v>
                </c:pt>
                <c:pt idx="17">
                  <c:v>22</c:v>
                </c:pt>
                <c:pt idx="18">
                  <c:v>23</c:v>
                </c:pt>
                <c:pt idx="19">
                  <c:v>24</c:v>
                </c:pt>
                <c:pt idx="20">
                  <c:v>25</c:v>
                </c:pt>
                <c:pt idx="21">
                  <c:v>26</c:v>
                </c:pt>
                <c:pt idx="22">
                  <c:v>27</c:v>
                </c:pt>
                <c:pt idx="23">
                  <c:v>28</c:v>
                </c:pt>
                <c:pt idx="24">
                  <c:v>29</c:v>
                </c:pt>
                <c:pt idx="25">
                  <c:v>30</c:v>
                </c:pt>
                <c:pt idx="26">
                  <c:v>31</c:v>
                </c:pt>
                <c:pt idx="27">
                  <c:v>32</c:v>
                </c:pt>
                <c:pt idx="28">
                  <c:v>33</c:v>
                </c:pt>
                <c:pt idx="29">
                  <c:v>34</c:v>
                </c:pt>
                <c:pt idx="30">
                  <c:v>35</c:v>
                </c:pt>
                <c:pt idx="31">
                  <c:v>36</c:v>
                </c:pt>
                <c:pt idx="32">
                  <c:v>37</c:v>
                </c:pt>
                <c:pt idx="33">
                  <c:v>38</c:v>
                </c:pt>
                <c:pt idx="34">
                  <c:v>39</c:v>
                </c:pt>
                <c:pt idx="35">
                  <c:v>40</c:v>
                </c:pt>
                <c:pt idx="36">
                  <c:v>41</c:v>
                </c:pt>
                <c:pt idx="37">
                  <c:v>42</c:v>
                </c:pt>
                <c:pt idx="38">
                  <c:v>43</c:v>
                </c:pt>
                <c:pt idx="39">
                  <c:v>44</c:v>
                </c:pt>
                <c:pt idx="40">
                  <c:v>45</c:v>
                </c:pt>
                <c:pt idx="41">
                  <c:v>46</c:v>
                </c:pt>
                <c:pt idx="42">
                  <c:v>47</c:v>
                </c:pt>
                <c:pt idx="43">
                  <c:v>48</c:v>
                </c:pt>
                <c:pt idx="44">
                  <c:v>49</c:v>
                </c:pt>
                <c:pt idx="45">
                  <c:v>50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3600</c:v>
                </c:pt>
                <c:pt idx="1">
                  <c:v>2500</c:v>
                </c:pt>
                <c:pt idx="2">
                  <c:v>1836.73</c:v>
                </c:pt>
                <c:pt idx="3">
                  <c:v>1406.25</c:v>
                </c:pt>
                <c:pt idx="4">
                  <c:v>1111.11</c:v>
                </c:pt>
                <c:pt idx="5">
                  <c:v>900</c:v>
                </c:pt>
                <c:pt idx="6">
                  <c:v>743.8</c:v>
                </c:pt>
                <c:pt idx="7">
                  <c:v>625</c:v>
                </c:pt>
                <c:pt idx="8">
                  <c:v>532.54</c:v>
                </c:pt>
                <c:pt idx="9">
                  <c:v>459.18</c:v>
                </c:pt>
                <c:pt idx="10">
                  <c:v>400</c:v>
                </c:pt>
                <c:pt idx="11">
                  <c:v>351.56</c:v>
                </c:pt>
                <c:pt idx="12">
                  <c:v>311.42</c:v>
                </c:pt>
                <c:pt idx="13">
                  <c:v>277.78</c:v>
                </c:pt>
                <c:pt idx="14">
                  <c:v>249.31</c:v>
                </c:pt>
                <c:pt idx="15">
                  <c:v>225</c:v>
                </c:pt>
                <c:pt idx="16">
                  <c:v>204.08</c:v>
                </c:pt>
                <c:pt idx="17">
                  <c:v>185.95</c:v>
                </c:pt>
                <c:pt idx="18">
                  <c:v>170.13</c:v>
                </c:pt>
                <c:pt idx="19">
                  <c:v>156.25</c:v>
                </c:pt>
                <c:pt idx="20">
                  <c:v>144</c:v>
                </c:pt>
                <c:pt idx="21">
                  <c:v>133.14</c:v>
                </c:pt>
                <c:pt idx="22">
                  <c:v>123.46</c:v>
                </c:pt>
                <c:pt idx="23">
                  <c:v>114.8</c:v>
                </c:pt>
                <c:pt idx="24">
                  <c:v>107.02</c:v>
                </c:pt>
                <c:pt idx="25">
                  <c:v>100</c:v>
                </c:pt>
                <c:pt idx="26">
                  <c:v>93.65</c:v>
                </c:pt>
                <c:pt idx="27">
                  <c:v>87.89</c:v>
                </c:pt>
                <c:pt idx="28">
                  <c:v>82.64</c:v>
                </c:pt>
                <c:pt idx="29">
                  <c:v>77.85</c:v>
                </c:pt>
                <c:pt idx="30">
                  <c:v>73.47</c:v>
                </c:pt>
                <c:pt idx="31">
                  <c:v>69.44</c:v>
                </c:pt>
                <c:pt idx="32">
                  <c:v>65.74</c:v>
                </c:pt>
                <c:pt idx="33">
                  <c:v>62.33</c:v>
                </c:pt>
                <c:pt idx="34">
                  <c:v>59.17</c:v>
                </c:pt>
                <c:pt idx="35">
                  <c:v>56.25</c:v>
                </c:pt>
                <c:pt idx="36">
                  <c:v>53.54</c:v>
                </c:pt>
                <c:pt idx="37">
                  <c:v>51.02</c:v>
                </c:pt>
                <c:pt idx="38">
                  <c:v>48.67</c:v>
                </c:pt>
                <c:pt idx="39">
                  <c:v>46.49</c:v>
                </c:pt>
                <c:pt idx="40">
                  <c:v>44.44</c:v>
                </c:pt>
                <c:pt idx="41">
                  <c:v>42.53</c:v>
                </c:pt>
                <c:pt idx="42">
                  <c:v>40.74</c:v>
                </c:pt>
                <c:pt idx="43">
                  <c:v>39.06</c:v>
                </c:pt>
                <c:pt idx="44">
                  <c:v>37.48</c:v>
                </c:pt>
                <c:pt idx="45">
                  <c:v>36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 = 2 µC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5</c:v>
                </c:pt>
                <c:pt idx="1">
                  <c:v>6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11</c:v>
                </c:pt>
                <c:pt idx="7">
                  <c:v>12</c:v>
                </c:pt>
                <c:pt idx="8">
                  <c:v>13</c:v>
                </c:pt>
                <c:pt idx="9">
                  <c:v>14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18</c:v>
                </c:pt>
                <c:pt idx="14">
                  <c:v>19</c:v>
                </c:pt>
                <c:pt idx="15">
                  <c:v>20</c:v>
                </c:pt>
                <c:pt idx="16">
                  <c:v>21</c:v>
                </c:pt>
                <c:pt idx="17">
                  <c:v>22</c:v>
                </c:pt>
                <c:pt idx="18">
                  <c:v>23</c:v>
                </c:pt>
                <c:pt idx="19">
                  <c:v>24</c:v>
                </c:pt>
                <c:pt idx="20">
                  <c:v>25</c:v>
                </c:pt>
                <c:pt idx="21">
                  <c:v>26</c:v>
                </c:pt>
                <c:pt idx="22">
                  <c:v>27</c:v>
                </c:pt>
                <c:pt idx="23">
                  <c:v>28</c:v>
                </c:pt>
                <c:pt idx="24">
                  <c:v>29</c:v>
                </c:pt>
                <c:pt idx="25">
                  <c:v>30</c:v>
                </c:pt>
                <c:pt idx="26">
                  <c:v>31</c:v>
                </c:pt>
                <c:pt idx="27">
                  <c:v>32</c:v>
                </c:pt>
                <c:pt idx="28">
                  <c:v>33</c:v>
                </c:pt>
                <c:pt idx="29">
                  <c:v>34</c:v>
                </c:pt>
                <c:pt idx="30">
                  <c:v>35</c:v>
                </c:pt>
                <c:pt idx="31">
                  <c:v>36</c:v>
                </c:pt>
                <c:pt idx="32">
                  <c:v>37</c:v>
                </c:pt>
                <c:pt idx="33">
                  <c:v>38</c:v>
                </c:pt>
                <c:pt idx="34">
                  <c:v>39</c:v>
                </c:pt>
                <c:pt idx="35">
                  <c:v>40</c:v>
                </c:pt>
                <c:pt idx="36">
                  <c:v>41</c:v>
                </c:pt>
                <c:pt idx="37">
                  <c:v>42</c:v>
                </c:pt>
                <c:pt idx="38">
                  <c:v>43</c:v>
                </c:pt>
                <c:pt idx="39">
                  <c:v>44</c:v>
                </c:pt>
                <c:pt idx="40">
                  <c:v>45</c:v>
                </c:pt>
                <c:pt idx="41">
                  <c:v>46</c:v>
                </c:pt>
                <c:pt idx="42">
                  <c:v>47</c:v>
                </c:pt>
                <c:pt idx="43">
                  <c:v>48</c:v>
                </c:pt>
                <c:pt idx="44">
                  <c:v>49</c:v>
                </c:pt>
                <c:pt idx="45">
                  <c:v>50</c:v>
                </c:pt>
              </c:numCache>
            </c:numRef>
          </c:xVal>
          <c:yVal>
            <c:numRef>
              <c:f>Sheet1!$C$2:$C$47</c:f>
              <c:numCache>
                <c:formatCode>General</c:formatCode>
                <c:ptCount val="46"/>
                <c:pt idx="0">
                  <c:v>7200</c:v>
                </c:pt>
                <c:pt idx="1">
                  <c:v>5000</c:v>
                </c:pt>
                <c:pt idx="2">
                  <c:v>3673.47</c:v>
                </c:pt>
                <c:pt idx="3">
                  <c:v>2812.5</c:v>
                </c:pt>
                <c:pt idx="4">
                  <c:v>2222.22</c:v>
                </c:pt>
                <c:pt idx="5">
                  <c:v>1800</c:v>
                </c:pt>
                <c:pt idx="6">
                  <c:v>1487.6</c:v>
                </c:pt>
                <c:pt idx="7">
                  <c:v>1250</c:v>
                </c:pt>
                <c:pt idx="8">
                  <c:v>1065.09</c:v>
                </c:pt>
                <c:pt idx="9">
                  <c:v>918.37</c:v>
                </c:pt>
                <c:pt idx="10">
                  <c:v>800</c:v>
                </c:pt>
                <c:pt idx="11">
                  <c:v>703.13</c:v>
                </c:pt>
                <c:pt idx="12">
                  <c:v>622.84</c:v>
                </c:pt>
                <c:pt idx="13">
                  <c:v>555.56</c:v>
                </c:pt>
                <c:pt idx="14">
                  <c:v>498.61</c:v>
                </c:pt>
                <c:pt idx="15">
                  <c:v>450</c:v>
                </c:pt>
                <c:pt idx="16">
                  <c:v>408.16</c:v>
                </c:pt>
                <c:pt idx="17">
                  <c:v>371.9</c:v>
                </c:pt>
                <c:pt idx="18">
                  <c:v>340.26</c:v>
                </c:pt>
                <c:pt idx="19">
                  <c:v>312.5</c:v>
                </c:pt>
                <c:pt idx="20">
                  <c:v>288</c:v>
                </c:pt>
                <c:pt idx="21">
                  <c:v>266.27</c:v>
                </c:pt>
                <c:pt idx="22">
                  <c:v>246.91</c:v>
                </c:pt>
                <c:pt idx="23">
                  <c:v>229.59</c:v>
                </c:pt>
                <c:pt idx="24">
                  <c:v>214.03</c:v>
                </c:pt>
                <c:pt idx="25">
                  <c:v>200</c:v>
                </c:pt>
                <c:pt idx="26">
                  <c:v>187.3</c:v>
                </c:pt>
                <c:pt idx="27">
                  <c:v>175.78</c:v>
                </c:pt>
                <c:pt idx="28">
                  <c:v>165.29</c:v>
                </c:pt>
                <c:pt idx="29">
                  <c:v>155.71</c:v>
                </c:pt>
                <c:pt idx="30">
                  <c:v>146.94</c:v>
                </c:pt>
                <c:pt idx="31">
                  <c:v>138.89</c:v>
                </c:pt>
                <c:pt idx="32">
                  <c:v>131.48</c:v>
                </c:pt>
                <c:pt idx="33">
                  <c:v>124.65</c:v>
                </c:pt>
                <c:pt idx="34">
                  <c:v>118.34</c:v>
                </c:pt>
                <c:pt idx="35">
                  <c:v>112.5</c:v>
                </c:pt>
                <c:pt idx="36">
                  <c:v>107.08</c:v>
                </c:pt>
                <c:pt idx="37">
                  <c:v>102.04</c:v>
                </c:pt>
                <c:pt idx="38">
                  <c:v>97.35</c:v>
                </c:pt>
                <c:pt idx="39">
                  <c:v>92.98</c:v>
                </c:pt>
                <c:pt idx="40">
                  <c:v>88.89</c:v>
                </c:pt>
                <c:pt idx="41">
                  <c:v>85.07</c:v>
                </c:pt>
                <c:pt idx="42">
                  <c:v>81.48</c:v>
                </c:pt>
                <c:pt idx="43">
                  <c:v>78.13</c:v>
                </c:pt>
                <c:pt idx="44">
                  <c:v>74.97</c:v>
                </c:pt>
                <c:pt idx="45">
                  <c:v>72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uzaklık r (cm)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E (kN/C)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Açılış: 'Yükler birbirine dokunmadan nasıl kuvvet uyguluyor?' Alan kavramı bu sorunun cevabı.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ünite, kuvvet kavramını temastan uzaklaştırıp alan kavramına geçiriyor.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Etki ile elektriklenme, sonraki ünitedeki indüksiyonla karıştırılmamalı: burada yük ayrışması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Ters kare yasası: kütle çekimiyle aynı matematiksel yapı. Fark, elektriksel kuvvetin itici de olabilmesi.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= F/q tanımı, E = kq/r² formülüyle karıştırılmamalı: biri tanım, öteki nokta yük için sonuç.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Tahtada dipol ve iki aynı yük çizimini de ekle: nötr nokta kavramı oradan çıkıyor.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Paralel levha, yatay atışın elektriksel kopyasıdır; kinematik bilgisi burada aynen kullanılır.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Yıldırım değeri havanın delinme dayanımıdır: 3 MV/m. Sınıfta 'kaç volt?' sorusuna buradan geçilebilir.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Öğrencilere 'hangi yüke daha büyük kuvvet etki eder?' diye sor: cevap eşit — Newton'un 3. yasası.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Karekök adımını atlamak en sık hata. Ayrıca 'alan sıfır' demek 'kuvvet sıfır' demektir, potansiyel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Bu, Millikan'ın yağ damlası deneyinin basitleştirilmiş hâli: elektron yükü böyle ölçüldü.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iki madde Coulomb yasasının yapısını anlamamaktan geliyor; tahtada birim analizi yaptır.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alanın sıfırlandığı nokta bölümünde yükleri değiştirerek nötr noktayı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ELEKTRİK VE MANYETİZMA · KONU 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Elektriksel kuvvet ve alan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birbirine dokunmadan kuvvet uygular. Bu kuvveti taşıyan şey, her yükün çevresinde kurduğu görünmez örtüdür: elektriksel alan.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k · |q₁·q₂| / r²          E = F / q          E = k · |q| / r²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052560" y="3017520"/>
            <a:ext cx="640080" cy="640080"/>
          </a:xfrm>
          <a:prstGeom prst="ellipse">
            <a:avLst/>
          </a:prstGeom>
          <a:solidFill>
            <a:srgbClr val="FF8F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052560" y="3017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698480" y="3017520"/>
            <a:ext cx="640080" cy="640080"/>
          </a:xfrm>
          <a:prstGeom prst="ellipse">
            <a:avLst/>
          </a:prstGeom>
          <a:solidFill>
            <a:srgbClr val="FF8F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0" y="3017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 flipH="1">
            <a:off x="8229600" y="3337560"/>
            <a:ext cx="731520" cy="0"/>
          </a:xfrm>
          <a:prstGeom prst="line">
            <a:avLst/>
          </a:prstGeom>
          <a:noFill/>
          <a:ln w="3810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1430000" y="3337560"/>
            <a:ext cx="731520" cy="0"/>
          </a:xfrm>
          <a:prstGeom prst="line">
            <a:avLst/>
          </a:prstGeom>
          <a:noFill/>
          <a:ln w="3810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822960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işaret → itme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elektrik yükünden paralel levhalara.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yükü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Korunur, kuantumludur; birimi coulomb.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Coulomb yasası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yüklerle doğru, uzaklığın karesiyle ters.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Elektriksel alan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yüke etki eden kuvvet: E = F/q.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görünür kılan haritalar; asla kesişmez.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levhalar arasında E = V/d.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Yüklü parçacık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alanda yörünge parabolüdür.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Elektrik yükü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Maddenin, elektriksel etkileşime giren temel özelliği.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766560" cy="1024128"/>
          </a:xfrm>
          <a:prstGeom prst="roundRect">
            <a:avLst>
              <a:gd name="adj" fmla="val 125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78308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çeşittir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(proton) ve negatif (elektron). Aynı işaretliler iter, zıt işaretliler çeker.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6766560" cy="1024128"/>
          </a:xfrm>
          <a:prstGeom prst="roundRect">
            <a:avLst>
              <a:gd name="adj" fmla="val 125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2953512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Korunur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1363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 yoktan var edilemez, yok edilemez; yalnızca yer değiştirir. Yalıtılmış bir sistemin toplam yükü sabittir.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123944"/>
            <a:ext cx="6766560" cy="1024128"/>
          </a:xfrm>
          <a:prstGeom prst="roundRect">
            <a:avLst>
              <a:gd name="adj" fmla="val 125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4123944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Kuantumludur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430682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yük, elektronun yükünün tam katıdır: q = n·e. Yarım elektron yükü diye bir şey yoktur.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349240"/>
            <a:ext cx="6766560" cy="685800"/>
          </a:xfrm>
          <a:prstGeom prst="roundRect">
            <a:avLst>
              <a:gd name="adj" fmla="val 13333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534924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1,6 · 10⁻¹⁹ C        q = n · e        1 C = 6,25 · 10¹⁸ elektron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26680" y="1783080"/>
            <a:ext cx="3824935" cy="4251960"/>
          </a:xfrm>
          <a:prstGeom prst="roundRect">
            <a:avLst>
              <a:gd name="adj" fmla="val 334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0" y="2011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İletken · yalıtkan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5146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İletkende yükler serbestçe hareket eder (metaller, çözeltiler).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Yalıtkanda yükler bulundukları yerde kalır (cam, plastik).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Dokundurma: iki iletken küre eşit yük paylaşır.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(indüksiyon): yaklaştırılan yük, karşı yüzeyde zıt yük toplar — dokunma yoktur.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Topraklama: fazla yükün toprağa akmasıdır.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Coulomb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nokta yük arasındaki kuvvet: yüklerle doğru, uzaklığın karesiyle ters orantılı.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k · |q₁ · q₂| / r²          k = 9 · 10⁹ N·m²/C²</a:t>
            </a:r>
            <a:endParaRPr lang="en-US" sz="17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03720" y="2697480"/>
            <a:ext cx="4647895" cy="658368"/>
          </a:xfrm>
          <a:prstGeom prst="roundRect">
            <a:avLst>
              <a:gd name="adj" fmla="val 1944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78040" y="26974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2 katına çıkarsa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509760" y="2697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dörtte bire iner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903720" y="3483864"/>
            <a:ext cx="4647895" cy="658368"/>
          </a:xfrm>
          <a:prstGeom prst="roundRect">
            <a:avLst>
              <a:gd name="adj" fmla="val 1944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178040" y="348386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yarıya inerse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509760" y="348386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dört katına çıkar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903720" y="4270248"/>
            <a:ext cx="4647895" cy="658368"/>
          </a:xfrm>
          <a:prstGeom prst="roundRect">
            <a:avLst>
              <a:gd name="adj" fmla="val 1944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178040" y="42702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q₁ 3 katına çıkarsa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9509760" y="427024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3 katına çıkar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903720" y="5120640"/>
            <a:ext cx="4647895" cy="731520"/>
          </a:xfrm>
          <a:prstGeom prst="roundRect">
            <a:avLst>
              <a:gd name="adj" fmla="val 1750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178040" y="51206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– tepki: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yük birbirine eşit büyüklükte, zıt yönde kuvvet uygular — yükleri farklı olsa bile.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Elektriksel alan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Kuvvetin kendisi değil, kuvvet uygulama yeteneği: birim yüke düşen kuvvet.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92240" cy="731520"/>
          </a:xfrm>
          <a:prstGeom prst="roundRect">
            <a:avLst>
              <a:gd name="adj" fmla="val 125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F / q          E = k · |q| / r²          birimi: N/C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649224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452360" y="1783080"/>
            <a:ext cx="4099255" cy="4069080"/>
          </a:xfrm>
          <a:prstGeom prst="roundRect">
            <a:avLst>
              <a:gd name="adj" fmla="val 314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Alanın yönü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51460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noktadaki alanın yönü, oraya konan pozitif test yükünün itileceği yöndür.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yükün alanı dışa doğrudur; negatif yükünki içe doğru.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yüke etki eden kuvvet, alana zıt yöndedir: F = q·E.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çok yük varsa alanlar vektörel toplanır.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Alan, yükün yarattığı bir özelliktir: test yükü kaldırılsa da orada durur.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Alan çizgileri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gözle görülür yapan harita: teğeti alanın yönünü, sıklığı büyüklüğünü verir.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yükten çıkar, negatif yükte son bulur.</a:t>
            </a:r>
            <a:endParaRPr lang="en-US" sz="1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Çizgilerin sıklaştığı yerde alan güçlüdür.</a:t>
            </a:r>
            <a:endParaRPr lang="en-US" sz="1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noktadan yalnız bir çizgi geçer: çizgiler asla kesişmez.</a:t>
            </a:r>
            <a:endParaRPr lang="en-US" sz="1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İletken yüzeyine her zaman diktir.</a:t>
            </a:r>
            <a:endParaRPr lang="en-US" sz="1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 yoksa çizgi başlamaz ya da bitmez.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069080"/>
            <a:ext cx="4754880" cy="868680"/>
          </a:xfrm>
          <a:prstGeom prst="roundRect">
            <a:avLst>
              <a:gd name="adj" fmla="val 14737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40690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kesişmez?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Kesişselerdi o noktada alanın iki farklı yönü olurdu; bir noktada alanın tek bir yönü vardır.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4754880" cy="777240"/>
          </a:xfrm>
          <a:prstGeom prst="roundRect">
            <a:avLst>
              <a:gd name="adj" fmla="val 1647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50749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Nötr nokta: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işaretli iki yükün arasında, bileşke alanın sıfır olduğu bir nokta vardır; orada hiçbir çizgi geçmez.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1783080"/>
            <a:ext cx="2834640" cy="4069080"/>
          </a:xfrm>
          <a:prstGeom prst="roundRect">
            <a:avLst>
              <a:gd name="adj" fmla="val 451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52360" y="3566160"/>
            <a:ext cx="548640" cy="0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6355080" y="3566160"/>
            <a:ext cx="548640" cy="0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178040" y="3840480"/>
            <a:ext cx="0" cy="548640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7178040" y="2743200"/>
            <a:ext cx="0" cy="548640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79208" y="3767328"/>
            <a:ext cx="384048" cy="384048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592824" y="3767328"/>
            <a:ext cx="384048" cy="384048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7379208" y="2980944"/>
            <a:ext cx="384048" cy="384048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 flipV="1">
            <a:off x="6592824" y="2980944"/>
            <a:ext cx="384048" cy="384048"/>
          </a:xfrm>
          <a:prstGeom prst="line">
            <a:avLst/>
          </a:prstGeom>
          <a:noFill/>
          <a:ln w="22860">
            <a:solidFill>
              <a:srgbClr val="C5345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86016" y="3374136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yük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çizgiler dışa doğru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732520" y="1783080"/>
            <a:ext cx="2819095" cy="4069080"/>
          </a:xfrm>
          <a:prstGeom prst="roundRect">
            <a:avLst>
              <a:gd name="adj" fmla="val 454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32720" y="3566160"/>
            <a:ext cx="548640" cy="0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26" name="Shape 24"/>
          <p:cNvSpPr/>
          <p:nvPr/>
        </p:nvSpPr>
        <p:spPr>
          <a:xfrm flipH="1">
            <a:off x="9235440" y="3566160"/>
            <a:ext cx="548640" cy="0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27" name="Shape 25"/>
          <p:cNvSpPr/>
          <p:nvPr/>
        </p:nvSpPr>
        <p:spPr>
          <a:xfrm>
            <a:off x="10058400" y="3840480"/>
            <a:ext cx="0" cy="548640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10058400" y="2743200"/>
            <a:ext cx="0" cy="548640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29" name="Shape 27"/>
          <p:cNvSpPr/>
          <p:nvPr/>
        </p:nvSpPr>
        <p:spPr>
          <a:xfrm>
            <a:off x="10259568" y="3767328"/>
            <a:ext cx="384048" cy="384048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30" name="Shape 28"/>
          <p:cNvSpPr/>
          <p:nvPr/>
        </p:nvSpPr>
        <p:spPr>
          <a:xfrm flipH="1">
            <a:off x="9473184" y="3767328"/>
            <a:ext cx="384048" cy="384048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259568" y="2980944"/>
            <a:ext cx="384048" cy="384048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 flipH="1" flipV="1">
            <a:off x="9473184" y="2980944"/>
            <a:ext cx="384048" cy="384048"/>
          </a:xfrm>
          <a:prstGeom prst="line">
            <a:avLst/>
          </a:prstGeom>
          <a:noFill/>
          <a:ln w="22860">
            <a:solidFill>
              <a:srgbClr val="2A5FD6"/>
            </a:solidFill>
            <a:prstDash val="solid"/>
            <a:headEnd type="triangle"/>
          </a:ln>
        </p:spPr>
      </p:sp>
      <p:sp>
        <p:nvSpPr>
          <p:cNvPr id="33" name="Shape 31"/>
          <p:cNvSpPr/>
          <p:nvPr/>
        </p:nvSpPr>
        <p:spPr>
          <a:xfrm>
            <a:off x="9866376" y="3374136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866376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732520" y="1965960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yük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732520" y="5120640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çizgiler içe doğru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Düzgün alan: paralel levhalar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Levhalar arasında alan her noktada aynı büyüklükte ve aynı yöndedir.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731520"/>
          </a:xfrm>
          <a:prstGeom prst="roundRect">
            <a:avLst>
              <a:gd name="adj" fmla="val 12500"/>
            </a:avLst>
          </a:prstGeom>
          <a:solidFill>
            <a:srgbClr val="FCECF0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V / d          F = q · E          a = q·E / 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5852160" cy="3154680"/>
          </a:xfrm>
          <a:prstGeom prst="roundRect">
            <a:avLst>
              <a:gd name="adj" fmla="val 405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25880" y="3063240"/>
            <a:ext cx="4480560" cy="146304"/>
          </a:xfrm>
          <a:prstGeom prst="rect">
            <a:avLst/>
          </a:prstGeom>
          <a:solidFill>
            <a:srgbClr val="C53455"/>
          </a:solidFill>
          <a:ln/>
        </p:spPr>
      </p:sp>
      <p:sp>
        <p:nvSpPr>
          <p:cNvPr id="10" name="Shape 8"/>
          <p:cNvSpPr/>
          <p:nvPr/>
        </p:nvSpPr>
        <p:spPr>
          <a:xfrm>
            <a:off x="1325880" y="5166360"/>
            <a:ext cx="4480560" cy="146304"/>
          </a:xfrm>
          <a:prstGeom prst="rect">
            <a:avLst/>
          </a:prstGeom>
          <a:solidFill>
            <a:srgbClr val="2A5F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25880" y="27432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+ + + + + + + + +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53492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 −  −  −  −  −  −  −  −  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691640" y="3291840"/>
            <a:ext cx="0" cy="1737360"/>
          </a:xfrm>
          <a:prstGeom prst="line">
            <a:avLst/>
          </a:prstGeom>
          <a:noFill/>
          <a:ln w="2032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450592" y="3291840"/>
            <a:ext cx="0" cy="1737360"/>
          </a:xfrm>
          <a:prstGeom prst="line">
            <a:avLst/>
          </a:prstGeom>
          <a:noFill/>
          <a:ln w="2032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209544" y="3291840"/>
            <a:ext cx="0" cy="1737360"/>
          </a:xfrm>
          <a:prstGeom prst="line">
            <a:avLst/>
          </a:prstGeom>
          <a:noFill/>
          <a:ln w="2032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68496" y="3291840"/>
            <a:ext cx="0" cy="1737360"/>
          </a:xfrm>
          <a:prstGeom prst="line">
            <a:avLst/>
          </a:prstGeom>
          <a:noFill/>
          <a:ln w="2032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27448" y="3291840"/>
            <a:ext cx="0" cy="1737360"/>
          </a:xfrm>
          <a:prstGeom prst="line">
            <a:avLst/>
          </a:prstGeom>
          <a:noFill/>
          <a:ln w="2032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0" y="3291840"/>
            <a:ext cx="0" cy="1737360"/>
          </a:xfrm>
          <a:prstGeom prst="line">
            <a:avLst/>
          </a:prstGeom>
          <a:noFill/>
          <a:ln w="2032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89788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1828800"/>
            <a:ext cx="47393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7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 paralel ve eşit aralıklıdır: her noktada aynı E.</a:t>
            </a:r>
            <a:endParaRPr lang="en-US" sz="1300" dirty="0"/>
          </a:p>
          <a:p>
            <a:pPr marL="342900" indent="-342900">
              <a:spcAft>
                <a:spcPts val="17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Levhalara paralel giren yüklü parçacık, yatay atış gibi parabol çizer.</a:t>
            </a:r>
            <a:endParaRPr lang="en-US" sz="1300" dirty="0"/>
          </a:p>
          <a:p>
            <a:pPr marL="342900" indent="-342900">
              <a:spcAft>
                <a:spcPts val="17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 sabit hız, düşeyde sabit ivme vardır.</a:t>
            </a:r>
            <a:endParaRPr lang="en-US" sz="1300" dirty="0"/>
          </a:p>
          <a:p>
            <a:pPr marL="342900" indent="-342900">
              <a:spcAft>
                <a:spcPts val="17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yük alan yönünde, negatif yük ters yönde sapar.</a:t>
            </a:r>
            <a:endParaRPr lang="en-US" sz="1300" dirty="0"/>
          </a:p>
          <a:p>
            <a:pPr marL="342900" indent="-342900">
              <a:spcAft>
                <a:spcPts val="17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alanda elektron protondan ≈ 1836 kat büyük ivme kazanır.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4434840"/>
            <a:ext cx="4739335" cy="1417320"/>
          </a:xfrm>
          <a:prstGeom prst="roundRect">
            <a:avLst>
              <a:gd name="adj" fmla="val 9032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086600" y="443484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 örnek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100 V ve d = 2 cm ise E = 100 / 0,02 = 5000 N/C olur. Bu alandaki bir elektrona F = q·E = 1,6·10⁻¹⁹ · 5000 = 8·10⁻¹⁶ N kuvvet etki eder; ivmesi 10¹⁵ m/s² mertebesindedir.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Nerede karşımıza çıkar?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Elektriksel kuvvet, günlük hayatta gördüğümüz pek çok olayın arkasındadır.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Yıldırım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 ile yer arasında biriken yük, havanın yalıtkanlığını yenince boşalır.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 · 10⁶ N/C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72584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Fotokopi ve lazer yazıcı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Yüklü tambur, toner tozunu elektriksel kuvvetle tutar.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toner çekimi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3076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 püskürtme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Yüklenen boya taneleri, zıt yüklü yüzeye kendiliğinden yapışır.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az israf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Elektrostatik filtre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Bacadaki tozu yükleyip levhalarda toplar.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 temizleme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72584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Dokunmatik ekran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Parmağın yükü, ekrandaki alanı bozar; konum böyle ölçülür.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kapasitif algı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30768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 zarı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430768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Zarın iki yüzü arasındaki gerilim ≈ 70 mV; alan 10⁷ N/C mertebesindedir.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30768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biyofizik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Coulomb kuvveti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k = 9·10⁹ N·m²/C² ve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q₁ = +4 µC ve q₂ = −2 µC yükleri havada 30 cm aralıkla duruyor.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Aralarındaki kuvvetin büyüklüğü ve türü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Uzaklık 60 cm yapılırsa kuvvet ne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0,8 N çekme · (b) 0,2 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k·|q₁·q₂|/r² = 9·10⁹ · (4·10⁻⁶ · 2·10⁻⁶) / (0,3)²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9·10⁹ · 8·10⁻¹² / 0,09 = 0,072 / 0,09 = 0,8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zıt işaretli olduğu için kuvvet çekmedir.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2 katına çıkınca F dörtte bire iner: 0,8 / 4 = 0,2 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alanın sıfırlandığı nokta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k = 9·10⁹ N·m²/C² ve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q₁ = +4q yükü orijinde, q₂ = +q yükü ondan 30 cm sağdadır.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Bileşke elektriksel alanın sıfır olduğu nokta neresidir?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q₁'den 20 cm sağda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işaretli yüklerde nötr nokta, yükler arasında ve küçük yüke yakındır.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uzaklığı q₁'den ölçülürse: k·4q/x² = k·q/(0,3 − x)²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Karekök alınır: 2/x = 1/(0,3 − x) → 0,6 − 2x = x → x = 0,2 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Zıt işaretli yüklerde nötr nokta yüklerin dışında, küçük yükün ötesinde olur.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paralel levhalar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k = 9·10⁹ N·m²/C² ve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Aralarındaki uzaklık 2 cm olan paralel levhalara 100 V uygulanıyor.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Levhalar arasındaki alan kaç N/C'dur?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Kütlesi 2·10⁻⁶ kg olan toz tanesi havada asılı kalıyorsa yükü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5000 N/C · (b) 4·10⁻⁹ 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V/d = 100 / 0,02 = 5000 N/C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Asılı kalma şartı: elektriksel kuvvet = ağırlık → q·E = m·g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m·g / E = (2·10⁻⁶ · 10) / 5000 = 2·10⁻⁵ / 5000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4·10⁻⁹ C. Yükün işareti, alanın yönüne göre yukarı kuvvet verecek şekilde olmalıdır.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yüke büyük kuvvet etki eder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eşit büyüklükte ve zıt yönlüdür.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uzaklıkla ters orantılıdır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Uzaklığın karesiyle ters orantılıdır.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Alan, kuvvetin başka adıdır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birim yüke düşen kuvvettir; birimi N/C.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 kesişebilir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Kesişseydi bir noktada iki yön olurdu; asla kesişmez.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yük alan yönünde hareket eder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Alanın tersi yönde kuvvet görür.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yükü kaldırılınca alan biter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kaynak yükün özelliğidir, orada durmaya devam eder.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01 · Elektriksel kuvvet ve alan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ters kare yasasına uyar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623560" y="206654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k·q₁·q₂/r²: uzaklık 2 katına çıkarsa kuvvet dörtte bire.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Alan, birim yüke düşen kuvvettir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99923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F/q; yönü pozitif test yükünün itildiği yöndür.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Çizgiler alanı görünür yapar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393192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Sıklık büyüklüğü, teğet yönü verir; asla kesişmezler.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alanda yörünge paraboldür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48646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V/d sabittir; hareket yatay atışın aynısıdır.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Coulomb laboratuvarı, alan haritası ve paralel levhalar: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Elektriksel kuvvet ve elektriksel alan</dc:title>
  <dc:subject>Fizik · Elektrik ve Manyetizma</dc:subject>
  <dc:creator>Dersler</dc:creator>
  <cp:lastModifiedBy>Dersler</cp:lastModifiedBy>
  <cp:revision>1</cp:revision>
  <dcterms:created xsi:type="dcterms:W3CDTF">2026-09-18T20:07:42Z</dcterms:created>
  <dcterms:modified xsi:type="dcterms:W3CDTF">2026-09-18T20:07:42Z</dcterms:modified>
</cp:coreProperties>
</file>