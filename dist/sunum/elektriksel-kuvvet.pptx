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Kapı koluna dokununca çarpılman, saçının tarağa yapışması ve gökyüzünü yaran şimşek — üçü de aynı kuvvetin eseri. Elektriksel kuvvet öyle güçlüdür ki iki proton arasında yerçekiminden 10³⁶ kat büyüktür. Onu her an hissetmememizin tek sebebi, artı ve eksi yüklerin çevremizde neredeyse kusursuz biçimde dengelenmiş olmasıdır. Bu dengeyi azıcık bozduğunda ortaya çıkan şeyi bu konuda hesaplamayı öğreneceğiz.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Açılış sorusu — sınıfa sorup birkaç cevap alın, sonra konuya geçin.
Kapı koluna dokununca çarpılman, saçının tarağa yapışması ve gökyüzünü yaran şimşek — üçü de aynı kuvvetin eseri. Elektriksel kuvvet öyle güçlüdür ki iki proton arasında yerçekiminden 10³⁶ kat büyüktür. Onu her an hissetmememizin tek sebebi, artı ve eksi yüklerin çevremizde neredeyse kusursuz biçimde dengelenmiş olmasıdır. Bu dengeyi azıcık bozduğunda ortaya çıkan şeyi bu konuda hesaplamayı öğreneceğiz.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derste:
1. Elektrik yükü
2. Coulomb yasası
3. Birden fazla yük: kuvvetlerin toplamı
4. Elektriksel alan
5. Alan çizgileri
6. Düzgün alan: paralel levhalar
7. Düzgün alanda yüklü parçacığın hareketi
8. Çözümlü örnekler
9. Sık yapılan hatalar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Elektrik yükü
Maddenin temel özelliklerinden biri olan elektrik yükü iki çeşittir: pozitif ve negatif. Aynı işaretli yükler birbirini iter, zıt işaretli yükler birbirini çeker.
• Yükün birimi coulomb (C)'dur. Günlük deneylerde µC (10⁻⁶ C) ölçeğinde çalışılır.
• En küçük yük birimi elektronun yüküdür: e = 1,6·10⁻¹⁹ C. Her yük bunun tam katıdır (yük kuantumludur).
• Yük korunumludur: yaratılamaz ve yok edilemez, yalnızca aktarılır.
Cisimler sürtünme, dokunma ve etki (indüksiyon) yoluyla yüklenir. Sürtünmede yük aktarılır: biri elektron kaybederek (+), diğeri kazanarak (−) yüklenir; toplam yük değişmez.
Yalıtkan ve iletken: İletkenlerde yükler serbestçe hareket eder ve yüzeye dağılır; yalıtkanlarda ise bulundukları yerde kalır. Bu yüzden bir iletkeni topraklamak onu nötrlerken, yalıtkanda yük bölgesel kalır.
Çizim: Yükler arasındaki kuvvet her zaman çift hâlinde ortaya çıkar: iki yüke etkiyen kuvvetlerin büyüklüğü eşit, yönleri zıttır — yükleri çok farklı olsa bile. Bu, Newton'un üçüncü yasasının elektrikteki yüzüdür. Aynı işaretliler birbirini iter, zıt işaretliler çeker; kuvvet daima iki yükü birleştiren doğru boyuncadır.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Coulomb yasası
İki noktasal yük arasındaki elektriksel kuvvetin büyüklüğü, yüklerin çarpımıyla doğru, aralarındaki uzaklığın karesiyle ters orantılıdır:
F = k · q₁ · q₂ / r²   k = 9 · 10⁹ N·m²/C²
Kuvvet, yükleri birleştiren doğru üzerindedir: aynı işaretlilerde itici, zıt işaretlilerde çekici. Yükler farklı büyüklükte olsa bile birbirlerine uyguladıkları kuvvetler eşit ve zıttır — Newton'un 3. yasası burada da geçerlidir.
Çizim: Uzaklık iki katına çıkınca kuvvet yarıya değil, dörtte bire iner; üç katına çıkınca dokuzda bire. Sebebi basit bir geometri: kaynaktan yayılan etki, yarıçapı r olan bir kürenin yüzeyine dağılır ve o yüzey r² ile büyür. Aynı geometri yerçekiminde ve ışık şiddetinde de karşımıza çıkar.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Coulomb yasası
Değişen | Kuvvet
Yüklerden biri 2 katına çıkar | 2 katına çıkar
İkisi de 2 katına çıkar | 4 katına çıkar
Uzaklık 2 katına çıkar | 4'te birine iner
Uzaklık yarıya iner | 4 katına çıkar
Coulomb yasası noktasal yükler içindir. Küresel simetrik yüklü küreler için de geçerlidir; bu durumda r, merkezler arası uzaklıktır.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Birden fazla yük: kuvvetlerin toplamı
Bir yüke birden çok yük etki ediyorsa, her biriyle olan kuvvet ayrı ayrı hesaplanır ve vektörel olarak toplanır. Buna üst üste binme (süperpozisyon) ilkesi denir.
F(net) = F₁ + F₂ + F₃ + …   aynı doğrultuda: toplama/çıkarma   dik ise: √(F₁² + F₂²)
Bir yükün varlığı, diğer ikisi arasındaki kuvveti değiştirmez. Her çift birbirini "görmez"; toplam etki, tek tek etkilerin vektörel toplamıdır.
Çizim: Birden fazla yük varsa, her biri sanki ötekiler yokmuş gibi kendi kuvvetini uygular; sonucu bulmak için bu kuvvetleri vektörel olarak toplarız. Burada q₁ iterek sağa, q₂ çekerek sola-yukarı bir kuvvet uygular; yatay bileşenler birbirini götürdüğü için bileşke tam yukarı bakar. Sayılar değil, oklar toplanır.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Elektriksel alan
Yükler birbirine dokunmadan kuvvet uygular. Bu "uzaktan etki"yi anlatmak için alan kavramı kullanılır: yük, çevresindeki uzayı değiştirir; başka bir yük oraya geldiğinde bu değişimi kuvvet olarak hisseder.
E = F / q   E = k · q / r²   F = q · E
Alan bir vektördür; birimi N/C'dur. Yönü, o noktaya konacak pozitif bir yükün iteceği yöndür. Bu yüzden pozitif yükün alanı dışarı doğru, negatif yükün alanı içeri doğrudur.
Alan, test yükünden bağımsızdır. E = F/q oranında hem F hem q test yüküyle orantılı değişir; oran sabit kalır. Alan, yalnızca alanı oluşturan yüklere ve konuma bağlıdır.
Çizim: Alanı ölçmek için oraya küçük bir test yükü koyarız ve gördüğü kuvveti yüke böleriz. Ama alan test yükünden bağımsızdır: test yükünü iki katına çıkarırsan kuvvet de iki katına çıkar, oran değişmez. Test yükünü tamamen kaldırsan bile o noktada bir alan vardır — uzayın kendisi, kaynak yük tarafından değiştirilmiştir.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Alan çizgileri
Alanı görselleştirmenin en kullanışlı yolu alan çizgileridir. Kuralları:
• Pozitif yükten çıkar, negatif yükte son bulur.
• Herhangi bir noktada alan vektörü, çizgiye teğettir.
• Çizgilerin sıklığı alanın şiddetini gösterir: sık çizgi = güçlü alan.
• Çizgiler asla kesişmez (kesişse o noktada alanın iki yönü olurdu).
• İletken yüzeyine daima diktir.
Sayfadaki 02 numaralı haritada üç dizilimi karşılaştırabilirsin: tek yük, zıt ikili (dipol) ve aynı işaretli ikili. Aynı işaretli ikilide, tam ortadaki noktada alan sıfırdır.
Çizim: Alan çizgileri alanın haritasıdır: teğetleri o noktadaki alanın yönünü, sıklıkları ise büyüklüğünü verir. Çizgiler pozitiften çıkıp negatifte biter ve asla kesişmez — kesişselerdi aynı noktada iki farklı alan yönü olurdu. Aynı işaretli iki yükün tam ortasında çizgiler birbirini iter ve alanın sıfırlandığı bir nokta doğar.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Düzgün alan: paralel levhalar
Aralarına gerilim uygulanan iki paralel levha arasında alan her noktada aynı büyüklük ve yöndedir; buna düzgün alan denir.
E = V / d   F = q · E = q·V / d
Burada V levhalar arasındaki potansiyel fark (gerilim), d ise levhalar arası uzaklıktır. Alan çizgileri birbirine paralel, eşit aralıklı doğrulardır ve pozitif levhadan negatif levhaya doğrudur.
Çizim: Zıt yüklü iki paralel levha arasındaki alan, kenarlardan uzakta her noktada aynı büyüklükte ve aynı yöndedir; çizgiler birbirine paralel ve eşit aralıklıdır. Bu yüzden bir yük nereye konursa konsun aynı kuvveti görür. Alanı ölçmenin en pratik yolu E = V/d'dir: levhalar arası gerilimi aralarındaki uzaklığa bölmek yeter.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Düzgün alanda yüklü parçacığın hareketi
Sabit alan sabit kuvvet, sabit kuvvet de sabit ivme demektir: a = qE/m. Parçacık alana dik girerse hareket, yatay atışın birebir aynısıdır:
x = v₀ · t   y = ½ · (qE/m) · t²   y = q·E·L² / (2·m·v₀²)
Yörünge paraboldür. Sapma miktarı alanla ve levha uzunluğunun karesiyle artar; giriş hızının karesiyle ve kütleyle azalır. Katot ışınlı tüplerde ve mürekkep püskürtmeli yazıcılarda kullanılan ilke budur.
Yerçekimini ihmal ediyoruz. Elektron için elektriksel kuvvet, ağırlığının tipik olarak 10¹³ katı mertebesindedir; bu yüzden yerçekimi hesaba katılmaz.
Çizim: Levhalar arasına yatay giren yüklü parçacık, yatayda sabit hızla ilerlerken düşeyde sabit bir kuvvetle ivmelenir — yani tam olarak bir atış hareketi yapar, yalnızca yerçekiminin yerini elektriksel kuvvet almıştır. Yörünge bu yüzden paraboldür ve sapma y = qEL²/(2mv₀²) ile bulunur. Elektron negatif olduğu için alanın tersi yönde, artı levhaya doğru sapar.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Örnek 1 — İki yük arasındaki kuvvet
Havada birbirinden 30 cm uzaklıkta duran q₁ = +2 µC ve q₂ = −3 µC yükleri arasındaki kuvvetin büyüklüğünü ve türünü bulunuz.
1. Birimleri çevir: q₁ = 2·10⁻⁶ C, q₂ = 3·10⁻⁶ C, r = 0,3 m
2. F = k·q₁·q₂/r² = 9·10⁹ · (2·10⁻⁶ · 3·10⁻⁶) / 0,09
3. F = 9·10⁹ · 6·10⁻¹² / 0,09 = 54·10⁻³ / 0,09 = 0,6 N
4. Yükler zıt işaretli olduğu için kuvvet çekicidir ve her iki yüke de 0,6 N etki eder.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Örnek 2 — Uzaklık değişirse
İki nokta yük arasındaki kuvvet 36 N'dur. Yükler değiştirilmeden aralarındaki uzaklık 3 katına çıkarılırsa kuvvet ne olur? Uzaklık aynı kalıp yüklerden biri 2 katına çıkarılsaydı?
1. F ∼ 1/r² → r 3 katına çıkarsa F, 9'da birine iner: 36/9 = 4 N
2. F ∼ q₁·q₂ → yüklerden biri 2 katına çıkarsa F de 2 katına çıkar: 72 N
3. Her iki değişiklik birlikte yapılsaydı: 36 · 2 / 9 = 8 N olurdu.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Örnek 3 — Alanın sıfırlandığı nokta
Aralarında 30 cm bulunan q₁ = +4 µC ve q₂ = +1 µC yükleri için, aralarındaki doğru üzerinde alanın sıfır olduğu noktayı bulunuz.
1. Aynı işaretli yüklerde sıfır noktası aralarındadır ve küçük yüke daha yakındır.
2. q₁'den x uzaklıkta olsun: k·4/x² = k·1/(30−x)²
3. 4·(30−x)² = x² → 2·(30 − x) = x → 60 = 3x → x = 20 cm
4. Nokta q₁'den 20 cm, q₂'den 10 cm uzaktadır — beklendiği gibi küçük yüke yakın.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Örnek 4 — Paralel levhalar arasında elektron
Aralarında 2 cm bulunan paralel levhalara 200 V uygulanıyor. Levhalar arasına, levhalara paralel olarak 6·10⁶ m/s hızla giren bir elektron için: (a) alan şiddeti, (b) elektrona etki eden kuvvet, (c) 8 cm'lik levhaları geçerken sapması nedir? (e = 1,6·10⁻¹⁹ C · m = 9,1·10⁻³¹ kg)
1. (a) E = V/d = 200 / 0,02 = 10⁴ N/C
2. (b) F = q·E = 1,6·10⁻¹⁹ · 10⁴ = 1,6·10⁻¹⁵ N
3. İvme: a = F/m = 1,6·10⁻¹⁵ / 9,1·10⁻³¹ ≈ 1,76·10¹⁵ m/s²
4. Levhalarda geçen süre: t = L/v₀ = 0,08 / 6·10⁶ ≈ 1,33·10⁻⁸ s
5. (c) y = ½·a·t² = 0,5 · 1,76·10¹⁵ · (1,33·10⁻⁸)² ≈ 1,6·10⁻¹ m — bu, 1 cm'lik boşluktan çok büyük olduğu için elektron levhaya çarpar. Sapmayı küçültmek için gerilimi azaltmak ya da giriş hızını artırmak gerekir.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Sık yapılan hatalar
• “Büyük yük küçük yüke daha büyük kuvvet uygular.” Kuvvetler eşittir; farklı olan ivmelerdir (a = F/m).
• Birimleri çevirmeyi unutmak. µC → 10⁻⁶ C, cm → 10⁻² m. Coulomb yasasında r metre olmalıdır.
• “Uzaklık 2 katına çıkınca kuvvet yarıya iner.” Ters kare: dörtte bire iner.
• Alanı test yüküne bağlı sanmak. E = F/q oranı test yükünden bağımsızdır.
• Alan çizgilerini yörünge sanmak. Çizgi, kuvvetin yönünü verir; parçacığın izleyeceği yol değildir (ilk hızı varsa yörünge farklıdır).
• Negatif yükün alan yönünü karıştırmak. Alan yönü daima pozitif test yükünün iteleceği yöndür; negatif yüke etki eden kuvvet alana zıttır.
• Düzgün alanda kuvveti uzaklığa bağlı sanmak. Levhalar arasında E her noktada aynıdır; F = qE değişmez.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Özet: Kuvvet 1/r² ile azalır · Alan E = F/q · Çizgiler +'dan −'ye · Düzgün alanda parabol
F = k·q₁·q₂ / r² — Coulomb yasası
E = F / q = k·q / r² — elektriksel alan
E = V / d — paralel levhalar arası
k = 9·10⁹ N·m²/C² — Coulomb sabiti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2651760"/>
            <a:ext cx="1828800" cy="1828800"/>
          </a:xfrm>
          <a:prstGeom prst="ellipse">
            <a:avLst/>
          </a:prstGeom>
          <a:ln w="9525">
            <a:solidFill>
              <a:srgbClr val="82AAFF">
                <a:alpha val="16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0" y="1828800"/>
            <a:ext cx="3474720" cy="3474720"/>
          </a:xfrm>
          <a:prstGeom prst="ellipse">
            <a:avLst/>
          </a:prstGeom>
          <a:ln w="9525">
            <a:solidFill>
              <a:srgbClr val="A093FF">
                <a:alpha val="1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1005840"/>
            <a:ext cx="5120640" cy="5120640"/>
          </a:xfrm>
          <a:prstGeom prst="ellipse">
            <a:avLst/>
          </a:prstGeom>
          <a:ln w="9525">
            <a:solidFill>
              <a:srgbClr val="82AAFF">
                <a:alpha val="1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61504" y="5541264"/>
            <a:ext cx="73152" cy="73152"/>
          </a:xfrm>
          <a:prstGeom prst="ellipse">
            <a:avLst/>
          </a:prstGeom>
          <a:solidFill>
            <a:srgbClr val="82AAFF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885684" y="4707862"/>
            <a:ext cx="78232" cy="78232"/>
          </a:xfrm>
          <a:prstGeom prst="ellipse">
            <a:avLst/>
          </a:prstGeom>
          <a:solidFill>
            <a:srgbClr val="82AAFF">
              <a:alpha val="48889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8309864" y="4082175"/>
            <a:ext cx="83312" cy="83312"/>
          </a:xfrm>
          <a:prstGeom prst="ellipse">
            <a:avLst/>
          </a:prstGeom>
          <a:solidFill>
            <a:srgbClr val="82AAFF">
              <a:alpha val="52778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8734044" y="3664204"/>
            <a:ext cx="88392" cy="88392"/>
          </a:xfrm>
          <a:prstGeom prst="ellipse">
            <a:avLst/>
          </a:prstGeom>
          <a:solidFill>
            <a:srgbClr val="82AAFF">
              <a:alpha val="56667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9158224" y="3453948"/>
            <a:ext cx="93472" cy="93472"/>
          </a:xfrm>
          <a:prstGeom prst="ellipse">
            <a:avLst/>
          </a:prstGeom>
          <a:solidFill>
            <a:srgbClr val="82AAFF">
              <a:alpha val="60556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9582404" y="3451408"/>
            <a:ext cx="98552" cy="98552"/>
          </a:xfrm>
          <a:prstGeom prst="ellipse">
            <a:avLst/>
          </a:prstGeom>
          <a:solidFill>
            <a:srgbClr val="82AAFF">
              <a:alpha val="64444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0006584" y="3656584"/>
            <a:ext cx="103632" cy="103632"/>
          </a:xfrm>
          <a:prstGeom prst="ellipse">
            <a:avLst/>
          </a:prstGeom>
          <a:solidFill>
            <a:srgbClr val="82AAFF">
              <a:alpha val="68333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0430764" y="4069475"/>
            <a:ext cx="108712" cy="108712"/>
          </a:xfrm>
          <a:prstGeom prst="ellipse">
            <a:avLst/>
          </a:prstGeom>
          <a:solidFill>
            <a:srgbClr val="82AAFF">
              <a:alpha val="72222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854944" y="4690082"/>
            <a:ext cx="113792" cy="113792"/>
          </a:xfrm>
          <a:prstGeom prst="ellipse">
            <a:avLst/>
          </a:prstGeom>
          <a:solidFill>
            <a:srgbClr val="82AAFF">
              <a:alpha val="76111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279124" y="5518404"/>
            <a:ext cx="118872" cy="118872"/>
          </a:xfrm>
          <a:prstGeom prst="ellipse">
            <a:avLst/>
          </a:prstGeom>
          <a:solidFill>
            <a:srgbClr val="C6F36B"/>
          </a:solidFill>
          <a:ln/>
        </p:spPr>
      </p:sp>
      <p:sp>
        <p:nvSpPr>
          <p:cNvPr id="15" name="Shape 13"/>
          <p:cNvSpPr/>
          <p:nvPr/>
        </p:nvSpPr>
        <p:spPr>
          <a:xfrm>
            <a:off x="868680" y="822960"/>
            <a:ext cx="310896" cy="310896"/>
          </a:xfrm>
          <a:prstGeom prst="roundRect">
            <a:avLst>
              <a:gd name="adj" fmla="val 29412"/>
            </a:avLst>
          </a:prstGeom>
          <a:solidFill>
            <a:srgbClr val="A9E64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280160" y="82296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Dersler</a:t>
            </a:r>
            <a:pPr indent="0" marL="0">
              <a:buNone/>
            </a:pPr>
            <a:r>
              <a:rPr lang="en-US" sz="1250" dirty="0">
                <a:solidFill>
                  <a:srgbClr val="8D97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fizik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" y="1965960"/>
            <a:ext cx="54864" cy="1097280"/>
          </a:xfrm>
          <a:prstGeom prst="rect">
            <a:avLst/>
          </a:prstGeom>
          <a:solidFill>
            <a:srgbClr val="C6F36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68680" y="155448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6F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ELEKTRİK VE MANYETİZMA · KONU 01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192024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spc="-1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Elektriksel kuvvet ve elektriksel alan</a:t>
            </a:r>
            <a:endParaRPr lang="en-US" sz="3400" dirty="0"/>
          </a:p>
        </p:txBody>
      </p:sp>
      <p:sp>
        <p:nvSpPr>
          <p:cNvPr id="20" name="Text 18"/>
          <p:cNvSpPr txBox="1"/>
          <p:nvPr/>
        </p:nvSpPr>
        <p:spPr>
          <a:xfrm>
            <a:off x="868680" y="3291840"/>
            <a:ext cx="6766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C3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Yükler birbirine dokunmadan kuvvet uygular. Bu kuvvetin büyüklüğünü Coulomb yasası, nasıl iletildiğini ise elektriksel alan anlatır: uzayın her noktasında, oraya konacak bir yükün ne hissedeceğini söyleyen bir harita.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868680" y="4553712"/>
            <a:ext cx="7680960" cy="566928"/>
          </a:xfrm>
          <a:prstGeom prst="roundRect">
            <a:avLst>
              <a:gd name="adj" fmla="val 16129"/>
            </a:avLst>
          </a:prstGeom>
          <a:solidFill>
            <a:srgbClr val="1C2542"/>
          </a:solidFill>
          <a:ln w="9525">
            <a:solidFill>
              <a:srgbClr val="2C386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7280" y="4553712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6F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= k·q₁·q₂ / r²   ·   E = F / q = k·q / r²   ·   E = V / d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640080" y="6382512"/>
            <a:ext cx="128016" cy="128016"/>
          </a:xfrm>
          <a:prstGeom prst="roundRect">
            <a:avLst>
              <a:gd name="adj" fmla="val 28571"/>
            </a:avLst>
          </a:prstGeom>
          <a:solidFill>
            <a:srgbClr val="C6F36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59536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A77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dersler.perinet.org/elektriksel-kuvvet.html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roundRect">
            <a:avLst>
              <a:gd name="adj" fmla="val 25926"/>
            </a:avLst>
          </a:prstGeom>
          <a:solidFill>
            <a:srgbClr val="5F4BD8"/>
          </a:solidFill>
          <a:ln/>
          <a:effectLst>
            <a:outerShdw sx="100000" sy="100000" kx="0" ky="0" algn="bl" rotWithShape="0" blurRad="101600" dist="25400" dir="5400000">
              <a:srgbClr val="5F4BD8">
                <a:alpha val="28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spc="-50" kern="0" dirty="0">
                <a:solidFill>
                  <a:srgbClr val="0E1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Başlarken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Konuya günlük bir soruyla giriyoruz.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1188720" y="1828800"/>
            <a:ext cx="9814255" cy="3931920"/>
          </a:xfrm>
          <a:prstGeom prst="roundRect">
            <a:avLst>
              <a:gd name="adj" fmla="val 5116"/>
            </a:avLst>
          </a:prstGeom>
          <a:solidFill>
            <a:srgbClr val="FFFFFF"/>
          </a:solidFill>
          <a:ln w="9525">
            <a:solidFill>
              <a:srgbClr val="CFC8F5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225296" y="2286000"/>
            <a:ext cx="64008" cy="3017520"/>
          </a:xfrm>
          <a:prstGeom prst="rect">
            <a:avLst/>
          </a:prstGeom>
          <a:solidFill>
            <a:srgbClr val="5F4BD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828800" y="2194560"/>
            <a:ext cx="853409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0E1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Kapı koluna dokununca çarpılman, saçının tarağa yapışması ve gökyüzünü yaran şimşek — üçü de aynı kuvvetin eseri. Elektriksel kuvvet öyle güçlüdür ki iki proton arasında yerçekiminden </a:t>
            </a:r>
            <a:pPr indent="0" marL="0">
              <a:lnSpc>
                <a:spcPct val="130000"/>
              </a:lnSpc>
              <a:buNone/>
            </a:pPr>
            <a:r>
              <a:rPr lang="en-US" sz="2200" b="1" dirty="0">
                <a:solidFill>
                  <a:srgbClr val="5F4B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10³⁶ kat</a:t>
            </a:r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0E1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büyüktür. Onu her an hissetmememizin tek sebebi, artı ve eksi yüklerin çevremizde neredeyse </a:t>
            </a:r>
            <a:pPr indent="0" marL="0">
              <a:lnSpc>
                <a:spcPct val="130000"/>
              </a:lnSpc>
              <a:buNone/>
            </a:pPr>
            <a:r>
              <a:rPr lang="en-US" sz="2200" b="1" dirty="0">
                <a:solidFill>
                  <a:srgbClr val="5F4B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kusursuz biçimde dengelenmiş</a:t>
            </a:r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0E1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olmasıdır. Bu dengeyi azıcık bozduğunda ortaya çıkan şeyi bu konuda hesaplamayı öğreneceğiz.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40080" y="6382512"/>
            <a:ext cx="128016" cy="128016"/>
          </a:xfrm>
          <a:prstGeom prst="roundRect">
            <a:avLst>
              <a:gd name="adj" fmla="val 28571"/>
            </a:avLst>
          </a:prstGeom>
          <a:solidFill>
            <a:srgbClr val="A9E64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59536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dersler.perinet.org/elektriksel-kuvvet.html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spc="100" kern="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roundRect">
            <a:avLst>
              <a:gd name="adj" fmla="val 25926"/>
            </a:avLst>
          </a:prstGeom>
          <a:solidFill>
            <a:srgbClr val="2957D4"/>
          </a:solidFill>
          <a:ln/>
          <a:effectLst>
            <a:outerShdw sx="100000" sy="100000" kx="0" ky="0" algn="bl" rotWithShape="0" blurRad="101600" dist="25400" dir="5400000">
              <a:srgbClr val="2957D4">
                <a:alpha val="28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≡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spc="-50" kern="0" dirty="0">
                <a:solidFill>
                  <a:srgbClr val="0E1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 derste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Konu anlatımının dokuz başlığı, sırasıyla.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572768"/>
            <a:ext cx="3392424" cy="1298448"/>
          </a:xfrm>
          <a:prstGeom prst="roundRect">
            <a:avLst>
              <a:gd name="adj" fmla="val 11268"/>
            </a:avLst>
          </a:prstGeom>
          <a:solidFill>
            <a:srgbClr val="F4F5F9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77824" y="1792224"/>
            <a:ext cx="365760" cy="365760"/>
          </a:xfrm>
          <a:prstGeom prst="roundRect">
            <a:avLst>
              <a:gd name="adj" fmla="val 26000"/>
            </a:avLst>
          </a:prstGeom>
          <a:solidFill>
            <a:srgbClr val="2957D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77824" y="17922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1755648"/>
            <a:ext cx="24780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Elektrik yükü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249424"/>
            <a:ext cx="2916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Maddenin temel özelliklerinden biri olan elektrik yükü iki çeşittir: pozitif ve negatif.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98264" y="1572768"/>
            <a:ext cx="3392424" cy="1298448"/>
          </a:xfrm>
          <a:prstGeom prst="roundRect">
            <a:avLst>
              <a:gd name="adj" fmla="val 11268"/>
            </a:avLst>
          </a:prstGeom>
          <a:solidFill>
            <a:srgbClr val="F4F5F9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36008" y="1792224"/>
            <a:ext cx="365760" cy="365760"/>
          </a:xfrm>
          <a:prstGeom prst="roundRect">
            <a:avLst>
              <a:gd name="adj" fmla="val 26000"/>
            </a:avLst>
          </a:prstGeom>
          <a:solidFill>
            <a:srgbClr val="5F4B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36008" y="17922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129784" y="1755648"/>
            <a:ext cx="24780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Coulomb yasası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654296" y="2249424"/>
            <a:ext cx="2916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İki noktasal yük arasındaki elektriksel kuvvetin büyüklüğü, yüklerin çarpımıyla doğru,…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156448" y="1572768"/>
            <a:ext cx="3392424" cy="1298448"/>
          </a:xfrm>
          <a:prstGeom prst="roundRect">
            <a:avLst>
              <a:gd name="adj" fmla="val 11268"/>
            </a:avLst>
          </a:prstGeom>
          <a:solidFill>
            <a:srgbClr val="F4F5F9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94192" y="1792224"/>
            <a:ext cx="365760" cy="365760"/>
          </a:xfrm>
          <a:prstGeom prst="roundRect">
            <a:avLst>
              <a:gd name="adj" fmla="val 26000"/>
            </a:avLst>
          </a:prstGeom>
          <a:solidFill>
            <a:srgbClr val="3C8C2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394192" y="17922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887968" y="1755648"/>
            <a:ext cx="24780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Birden fazla yük: kuvvetlerin toplamı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412480" y="2249424"/>
            <a:ext cx="2916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yüke birden çok yük etki ediyorsa, her biriyle olan kuvvet ayrı ayrı hesaplanır ve…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054096"/>
            <a:ext cx="3392424" cy="1298448"/>
          </a:xfrm>
          <a:prstGeom prst="roundRect">
            <a:avLst>
              <a:gd name="adj" fmla="val 11268"/>
            </a:avLst>
          </a:prstGeom>
          <a:solidFill>
            <a:srgbClr val="F4F5F9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77824" y="3273552"/>
            <a:ext cx="365760" cy="365760"/>
          </a:xfrm>
          <a:prstGeom prst="roundRect">
            <a:avLst>
              <a:gd name="adj" fmla="val 26000"/>
            </a:avLst>
          </a:prstGeom>
          <a:solidFill>
            <a:srgbClr val="A5620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77824" y="3273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1371600" y="3236976"/>
            <a:ext cx="24780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Elektriksel alan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896112" y="3730752"/>
            <a:ext cx="2916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Yükler birbirine dokunmadan kuvvet uygular.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398264" y="3054096"/>
            <a:ext cx="3392424" cy="1298448"/>
          </a:xfrm>
          <a:prstGeom prst="roundRect">
            <a:avLst>
              <a:gd name="adj" fmla="val 11268"/>
            </a:avLst>
          </a:prstGeom>
          <a:solidFill>
            <a:srgbClr val="F4F5F9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36008" y="3273552"/>
            <a:ext cx="365760" cy="365760"/>
          </a:xfrm>
          <a:prstGeom prst="roundRect">
            <a:avLst>
              <a:gd name="adj" fmla="val 26000"/>
            </a:avLst>
          </a:prstGeom>
          <a:solidFill>
            <a:srgbClr val="2957D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636008" y="3273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5129784" y="3236976"/>
            <a:ext cx="24780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Alan çizgileri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654296" y="3730752"/>
            <a:ext cx="2916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Alanı görselleştirmenin en kullanışlı yolu alan çizgileridir.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156448" y="3054096"/>
            <a:ext cx="3392424" cy="1298448"/>
          </a:xfrm>
          <a:prstGeom prst="roundRect">
            <a:avLst>
              <a:gd name="adj" fmla="val 11268"/>
            </a:avLst>
          </a:prstGeom>
          <a:solidFill>
            <a:srgbClr val="F4F5F9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394192" y="3273552"/>
            <a:ext cx="365760" cy="365760"/>
          </a:xfrm>
          <a:prstGeom prst="roundRect">
            <a:avLst>
              <a:gd name="adj" fmla="val 26000"/>
            </a:avLst>
          </a:prstGeom>
          <a:solidFill>
            <a:srgbClr val="5F4BD8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394192" y="3273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8887968" y="3236976"/>
            <a:ext cx="24780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Düzgün alan: paralel levhalar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8412480" y="3730752"/>
            <a:ext cx="2916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Aralarına gerilim uygulanan iki paralel levha arasında alan her noktada aynı büyüklük ve…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40080" y="4535424"/>
            <a:ext cx="3392424" cy="1298448"/>
          </a:xfrm>
          <a:prstGeom prst="roundRect">
            <a:avLst>
              <a:gd name="adj" fmla="val 11268"/>
            </a:avLst>
          </a:prstGeom>
          <a:solidFill>
            <a:srgbClr val="F4F5F9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877824" y="4754880"/>
            <a:ext cx="365760" cy="365760"/>
          </a:xfrm>
          <a:prstGeom prst="roundRect">
            <a:avLst>
              <a:gd name="adj" fmla="val 26000"/>
            </a:avLst>
          </a:prstGeom>
          <a:solidFill>
            <a:srgbClr val="3C8C21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77824" y="4754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1371600" y="4718304"/>
            <a:ext cx="24780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Düzgün alanda yüklü parçacığın hareketi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896112" y="5212080"/>
            <a:ext cx="2916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Sabit alan sabit kuvvet, sabit kuvvet de sabit ivme demektir: a = qE/m.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4398264" y="4535424"/>
            <a:ext cx="3392424" cy="1298448"/>
          </a:xfrm>
          <a:prstGeom prst="roundRect">
            <a:avLst>
              <a:gd name="adj" fmla="val 11268"/>
            </a:avLst>
          </a:prstGeom>
          <a:solidFill>
            <a:srgbClr val="F4F5F9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4636008" y="4754880"/>
            <a:ext cx="365760" cy="365760"/>
          </a:xfrm>
          <a:prstGeom prst="roundRect">
            <a:avLst>
              <a:gd name="adj" fmla="val 26000"/>
            </a:avLst>
          </a:prstGeom>
          <a:solidFill>
            <a:srgbClr val="A56209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636008" y="4754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50" dirty="0"/>
          </a:p>
        </p:txBody>
      </p:sp>
      <p:sp>
        <p:nvSpPr>
          <p:cNvPr id="44" name="Text 42"/>
          <p:cNvSpPr txBox="1"/>
          <p:nvPr/>
        </p:nvSpPr>
        <p:spPr>
          <a:xfrm>
            <a:off x="5129784" y="4718304"/>
            <a:ext cx="24780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Çözümlü örnekler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654296" y="5212080"/>
            <a:ext cx="2916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çözümlü örnek, adım adım; g ve yaklaşık değerler anlatımla aynı.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8156448" y="4535424"/>
            <a:ext cx="3392424" cy="1298448"/>
          </a:xfrm>
          <a:prstGeom prst="roundRect">
            <a:avLst>
              <a:gd name="adj" fmla="val 11268"/>
            </a:avLst>
          </a:prstGeom>
          <a:solidFill>
            <a:srgbClr val="F4F5F9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8394192" y="4754880"/>
            <a:ext cx="365760" cy="365760"/>
          </a:xfrm>
          <a:prstGeom prst="roundRect">
            <a:avLst>
              <a:gd name="adj" fmla="val 26000"/>
            </a:avLst>
          </a:prstGeom>
          <a:solidFill>
            <a:srgbClr val="C53455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8394192" y="4754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50" dirty="0"/>
          </a:p>
        </p:txBody>
      </p:sp>
      <p:sp>
        <p:nvSpPr>
          <p:cNvPr id="49" name="Text 47"/>
          <p:cNvSpPr txBox="1"/>
          <p:nvPr/>
        </p:nvSpPr>
        <p:spPr>
          <a:xfrm>
            <a:off x="8887968" y="4718304"/>
            <a:ext cx="24780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Sık yapılan hatalar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8412480" y="5212080"/>
            <a:ext cx="2916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yaygın yanılgı ve her birinin doğrusu.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640080" y="6382512"/>
            <a:ext cx="128016" cy="128016"/>
          </a:xfrm>
          <a:prstGeom prst="roundRect">
            <a:avLst>
              <a:gd name="adj" fmla="val 28571"/>
            </a:avLst>
          </a:prstGeom>
          <a:solidFill>
            <a:srgbClr val="A9E648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859536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dersler.perinet.org/elektriksel-kuvvet.html</a:t>
            </a:r>
            <a:endParaRPr lang="en-US" sz="1050" dirty="0"/>
          </a:p>
        </p:txBody>
      </p:sp>
      <p:sp>
        <p:nvSpPr>
          <p:cNvPr id="53" name="Text 51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spc="100" kern="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roundRect">
            <a:avLst>
              <a:gd name="adj" fmla="val 25926"/>
            </a:avLst>
          </a:prstGeom>
          <a:solidFill>
            <a:srgbClr val="2957D4"/>
          </a:solidFill>
          <a:ln/>
          <a:effectLst>
            <a:outerShdw sx="100000" sy="100000" kx="0" ky="0" algn="bl" rotWithShape="0" blurRad="101600" dist="25400" dir="5400000">
              <a:srgbClr val="2957D4">
                <a:alpha val="28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spc="-50" kern="0" dirty="0">
                <a:solidFill>
                  <a:srgbClr val="0E1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Elektrik yükü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81328"/>
            <a:ext cx="6675120" cy="811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3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Maddenin temel özelliklerinden biri olan elektrik yükü iki çeşittir: </a:t>
            </a:r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pozitif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ve </a:t>
            </a:r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negatif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marL="203200" indent="-2032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3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Aynı işaretli yükler birbirini iter, zıt işaretli yükler birbirini çeker.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402586"/>
            <a:ext cx="6675120" cy="1331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3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Yükün birimi </a:t>
            </a:r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coulomb (C)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'dur. Günlük deneylerde µC (10⁻⁶ C) ölçeğinde çalışılır.</a:t>
            </a:r>
            <a:endParaRPr lang="en-US" sz="1300" dirty="0"/>
          </a:p>
          <a:p>
            <a:pPr marL="203200" indent="-2032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3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küçük yük birimi elektronun yüküdür: </a:t>
            </a:r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= 1,6·10⁻¹⁹ C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Her yük bunun tam katıdır (yük kuantumludur).</a:t>
            </a:r>
            <a:endParaRPr lang="en-US" sz="1300" dirty="0"/>
          </a:p>
          <a:p>
            <a:pPr marL="203200" indent="-2032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3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Yük korunumludur: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yaratılamaz ve yok edilemez, yalnızca aktarılır.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843528"/>
            <a:ext cx="6675120" cy="811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3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Cisimler sürtünme, dokunma ve etki (indüksiyon) yoluyla yüklenir.</a:t>
            </a:r>
            <a:endParaRPr lang="en-US" sz="1300" dirty="0"/>
          </a:p>
          <a:p>
            <a:pPr marL="203200" indent="-2032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3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Sürtünmede yük </a:t>
            </a:r>
            <a:pPr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aktarılır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biri elektron kaybederek (+), diğeri kazanarak (−) yüklenir; toplam yük değişmez.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4764786"/>
            <a:ext cx="6675120" cy="1033272"/>
          </a:xfrm>
          <a:prstGeom prst="roundRect">
            <a:avLst>
              <a:gd name="adj" fmla="val 10619"/>
            </a:avLst>
          </a:prstGeom>
          <a:solidFill>
            <a:srgbClr val="FFFFFF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8368" y="4911090"/>
            <a:ext cx="45720" cy="740664"/>
          </a:xfrm>
          <a:prstGeom prst="rect">
            <a:avLst/>
          </a:prstGeom>
          <a:solidFill>
            <a:srgbClr val="3C8C2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4874514"/>
            <a:ext cx="621792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Yalıtkan ve iletken: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İletkenlerde yükler serbestçe hareket eder ve yüzeye dağılır; yalıtkanlarda ise bulundukları yerde kalır. Bu yüzden bir iletkeni topraklamak onu nötrlerken, yalıtkanda yük bölgesel kalır.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607808" y="1481328"/>
            <a:ext cx="3943807" cy="3163253"/>
          </a:xfrm>
          <a:prstGeom prst="roundRect">
            <a:avLst>
              <a:gd name="adj" fmla="val 4625"/>
            </a:avLst>
          </a:prstGeom>
          <a:solidFill>
            <a:srgbClr val="FFFFFF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pic>
        <p:nvPicPr>
          <p:cNvPr id="12" name="Image 0" descr="/tmp/claude-1000/-opt-dersler/a4dee546-de71-4ec2-8add-be39dd273d29/scratchpad/sekiller/elektriksel-kuvvet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90688" y="1664208"/>
            <a:ext cx="3578047" cy="134176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7790688" y="3097416"/>
            <a:ext cx="3578047" cy="0"/>
          </a:xfrm>
          <a:prstGeom prst="line">
            <a:avLst/>
          </a:prstGeom>
          <a:noFill/>
          <a:ln w="9525">
            <a:solidFill>
              <a:srgbClr val="E1E5EE"/>
            </a:solidFill>
            <a:prstDash val="dash"/>
          </a:ln>
        </p:spPr>
      </p:sp>
      <p:sp>
        <p:nvSpPr>
          <p:cNvPr id="14" name="Text 11"/>
          <p:cNvSpPr txBox="1"/>
          <p:nvPr/>
        </p:nvSpPr>
        <p:spPr>
          <a:xfrm>
            <a:off x="7790688" y="3152280"/>
            <a:ext cx="3578047" cy="13094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Yükler arasındaki kuvvet </a:t>
            </a:r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zaman çift hâlinde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ortaya çıkar: iki yüke etkiyen kuvvetlerin büyüklüğü eşit, yönleri zıttır — yükleri çok farklı olsa bile. Bu, Newton'un üçüncü yasasının elektrikteki yüzüdür. Aynı işaretliler birbirini iter, zıt işaretliler çeker; kuvvet daima </a:t>
            </a:r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iki yükü birleştiren doğru boyunca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dır.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40080" y="6382512"/>
            <a:ext cx="128016" cy="128016"/>
          </a:xfrm>
          <a:prstGeom prst="roundRect">
            <a:avLst>
              <a:gd name="adj" fmla="val 28571"/>
            </a:avLst>
          </a:prstGeom>
          <a:solidFill>
            <a:srgbClr val="A9E64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59536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dersler.perinet.org/elektriksel-kuvvet.html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spc="100" kern="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roundRect">
            <a:avLst>
              <a:gd name="adj" fmla="val 25926"/>
            </a:avLst>
          </a:prstGeom>
          <a:solidFill>
            <a:srgbClr val="5F4BD8"/>
          </a:solidFill>
          <a:ln/>
          <a:effectLst>
            <a:outerShdw sx="100000" sy="100000" kx="0" ky="0" algn="bl" rotWithShape="0" blurRad="101600" dist="25400" dir="5400000">
              <a:srgbClr val="5F4BD8">
                <a:alpha val="28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spc="-50" kern="0" dirty="0">
                <a:solidFill>
                  <a:srgbClr val="0E1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Coulomb yasası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81328"/>
            <a:ext cx="6675120" cy="455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İki </a:t>
            </a:r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noktasal yük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arasındaki elektriksel kuvvetin büyüklüğü, yüklerin çarpımıyla </a:t>
            </a:r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doğru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aralarındaki uzaklığın karesiyle </a:t>
            </a:r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ters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orantılıdır: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065020"/>
            <a:ext cx="2432304" cy="457200"/>
          </a:xfrm>
          <a:prstGeom prst="roundRect">
            <a:avLst>
              <a:gd name="adj" fmla="val 24000"/>
            </a:avLst>
          </a:prstGeom>
          <a:solidFill>
            <a:srgbClr val="EEF2FC"/>
          </a:solidFill>
          <a:ln w="9525">
            <a:solidFill>
              <a:srgbClr val="CBD7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065020"/>
            <a:ext cx="2432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957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= k · q₁ · q₂ / r²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182112" y="2065020"/>
            <a:ext cx="2333549" cy="457200"/>
          </a:xfrm>
          <a:prstGeom prst="roundRect">
            <a:avLst>
              <a:gd name="adj" fmla="val 24000"/>
            </a:avLst>
          </a:prstGeom>
          <a:solidFill>
            <a:srgbClr val="EEF2FC"/>
          </a:solidFill>
          <a:ln w="9525">
            <a:solidFill>
              <a:srgbClr val="CBD7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182112" y="2065020"/>
            <a:ext cx="23335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957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 = 9 · 10⁹ N·m²/C²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686812"/>
            <a:ext cx="6675120" cy="1039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3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Kuvvet, yükleri birleştiren doğru üzerindedir: aynı işaretlilerde </a:t>
            </a:r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itici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zıt işaretlilerde </a:t>
            </a:r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çekici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marL="203200" indent="-2032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3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Yükler farklı büyüklükte olsa bile </a:t>
            </a:r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birbirlerine uyguladıkları kuvvetler eşit ve zıttır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Newton'un 3. yasası burada da geçerlidir.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607808" y="1481328"/>
            <a:ext cx="3943807" cy="3043593"/>
          </a:xfrm>
          <a:prstGeom prst="roundRect">
            <a:avLst>
              <a:gd name="adj" fmla="val 4807"/>
            </a:avLst>
          </a:prstGeom>
          <a:solidFill>
            <a:srgbClr val="FFFFFF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pic>
        <p:nvPicPr>
          <p:cNvPr id="12" name="Image 0" descr="/tmp/claude-1000/-opt-dersler/a4dee546-de71-4ec2-8add-be39dd273d29/scratchpad/sekiller/elektriksel-kuvvet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90688" y="1664208"/>
            <a:ext cx="3578047" cy="140133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7790688" y="3156978"/>
            <a:ext cx="3578047" cy="0"/>
          </a:xfrm>
          <a:prstGeom prst="line">
            <a:avLst/>
          </a:prstGeom>
          <a:noFill/>
          <a:ln w="9525">
            <a:solidFill>
              <a:srgbClr val="E1E5EE"/>
            </a:solidFill>
            <a:prstDash val="dash"/>
          </a:ln>
        </p:spPr>
      </p:sp>
      <p:sp>
        <p:nvSpPr>
          <p:cNvPr id="14" name="Text 11"/>
          <p:cNvSpPr txBox="1"/>
          <p:nvPr/>
        </p:nvSpPr>
        <p:spPr>
          <a:xfrm>
            <a:off x="7790688" y="3211842"/>
            <a:ext cx="3578047" cy="11301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Uzaklık iki katına çıkınca kuvvet yarıya değil, </a:t>
            </a:r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dörtte bire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iner; üç katına çıkınca dokuzda bire. Sebebi basit bir geometri: kaynaktan yayılan etki, yarıçapı r olan bir kürenin yüzeyine dağılır ve o yüzey </a:t>
            </a:r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ile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büyür. Aynı geometri yerçekiminde ve ışık şiddetinde de karşımıza çıkar.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40080" y="6382512"/>
            <a:ext cx="128016" cy="128016"/>
          </a:xfrm>
          <a:prstGeom prst="roundRect">
            <a:avLst>
              <a:gd name="adj" fmla="val 28571"/>
            </a:avLst>
          </a:prstGeom>
          <a:solidFill>
            <a:srgbClr val="A9E64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59536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dersler.perinet.org/elektriksel-kuvvet.html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spc="100" kern="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roundRect">
            <a:avLst>
              <a:gd name="adj" fmla="val 25926"/>
            </a:avLst>
          </a:prstGeom>
          <a:solidFill>
            <a:srgbClr val="5F4BD8"/>
          </a:solidFill>
          <a:ln/>
          <a:effectLst>
            <a:outerShdw sx="100000" sy="100000" kx="0" ky="0" algn="bl" rotWithShape="0" blurRad="101600" dist="25400" dir="5400000">
              <a:srgbClr val="5F4BD8">
                <a:alpha val="28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spc="-50" kern="0" dirty="0">
                <a:solidFill>
                  <a:srgbClr val="0E1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Coulomb yasası · devam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81328"/>
          <a:ext cx="8869680" cy="914400"/>
        </p:xfrm>
        <a:graphic>
          <a:graphicData uri="http://schemas.openxmlformats.org/drawingml/2006/table">
            <a:tbl>
              <a:tblPr/>
              <a:tblGrid>
                <a:gridCol w="5716016"/>
                <a:gridCol w="3153664"/>
              </a:tblGrid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B84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Değişen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B84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Kuvvet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C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E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Yüklerden biri 2 katına çıkar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katına çıkar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E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İkisi de 2 katına çıkar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katına çıkar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E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Uzaklık 2 katına çıkar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4'te birine iner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E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Uzaklık yarıya iner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katına çıkar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3300984"/>
            <a:ext cx="886968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58368" y="3447288"/>
            <a:ext cx="45720" cy="530352"/>
          </a:xfrm>
          <a:prstGeom prst="rect">
            <a:avLst/>
          </a:prstGeom>
          <a:solidFill>
            <a:srgbClr val="A56209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14400" y="3410712"/>
            <a:ext cx="8412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Coulomb yasası noktasal yükler içindir.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Küresel simetrik yüklü küreler için de geçerlidir; bu durumda r, </a:t>
            </a:r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merkezler arası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uzaklıktır.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40080" y="6382512"/>
            <a:ext cx="128016" cy="128016"/>
          </a:xfrm>
          <a:prstGeom prst="roundRect">
            <a:avLst>
              <a:gd name="adj" fmla="val 28571"/>
            </a:avLst>
          </a:prstGeom>
          <a:solidFill>
            <a:srgbClr val="A9E64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59536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dersler.perinet.org/elektriksel-kuvvet.html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spc="100" kern="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roundRect">
            <a:avLst>
              <a:gd name="adj" fmla="val 25926"/>
            </a:avLst>
          </a:prstGeom>
          <a:solidFill>
            <a:srgbClr val="3C8C21"/>
          </a:solidFill>
          <a:ln/>
          <a:effectLst>
            <a:outerShdw sx="100000" sy="100000" kx="0" ky="0" algn="bl" rotWithShape="0" blurRad="101600" dist="25400" dir="5400000">
              <a:srgbClr val="3C8C21">
                <a:alpha val="28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spc="-50" kern="0" dirty="0">
                <a:solidFill>
                  <a:srgbClr val="0E1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Birden fazla yük: kuvvetlerin toplamı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81328"/>
            <a:ext cx="5852160" cy="916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5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yüke birden çok yük etki ediyorsa, her biriyle olan kuvvet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ayrı ayrı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hesaplanır ve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vektörel olarak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toplanır.</a:t>
            </a:r>
            <a:endParaRPr lang="en-US" sz="1500" dirty="0"/>
          </a:p>
          <a:p>
            <a:pPr marL="203200" indent="-2032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5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Buna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üst üste binme (süperpozisyon) ilkesi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denir.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507742"/>
            <a:ext cx="2926080" cy="457200"/>
          </a:xfrm>
          <a:prstGeom prst="roundRect">
            <a:avLst>
              <a:gd name="adj" fmla="val 24000"/>
            </a:avLst>
          </a:prstGeom>
          <a:solidFill>
            <a:srgbClr val="EEF2FC"/>
          </a:solidFill>
          <a:ln w="9525">
            <a:solidFill>
              <a:srgbClr val="CBD7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50774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957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F(net) = F₁ + F₂ + F₃ + …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074670"/>
            <a:ext cx="3617366" cy="457200"/>
          </a:xfrm>
          <a:prstGeom prst="roundRect">
            <a:avLst>
              <a:gd name="adj" fmla="val 24000"/>
            </a:avLst>
          </a:prstGeom>
          <a:solidFill>
            <a:srgbClr val="EEF2FC"/>
          </a:solidFill>
          <a:ln w="9525">
            <a:solidFill>
              <a:srgbClr val="CBD7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3074670"/>
            <a:ext cx="36173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957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aynı doğrultuda: toplama/çıkarma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641598"/>
            <a:ext cx="2531059" cy="457200"/>
          </a:xfrm>
          <a:prstGeom prst="roundRect">
            <a:avLst>
              <a:gd name="adj" fmla="val 24000"/>
            </a:avLst>
          </a:prstGeom>
          <a:solidFill>
            <a:srgbClr val="EEF2FC"/>
          </a:solidFill>
          <a:ln w="9525">
            <a:solidFill>
              <a:srgbClr val="CBD7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641598"/>
            <a:ext cx="25310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957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dik ise: √(F₁² + F₂²)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4263390"/>
            <a:ext cx="585216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5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yükün varlığı, diğer ikisi arasındaki kuvveti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değiştirmez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00" dirty="0"/>
          </a:p>
          <a:p>
            <a:pPr marL="203200" indent="-2032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5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çift birbirini "görmez"; toplam etki, tek tek etkilerin vektörel toplamıdır.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784848" y="1481328"/>
            <a:ext cx="4766767" cy="3461743"/>
          </a:xfrm>
          <a:prstGeom prst="roundRect">
            <a:avLst>
              <a:gd name="adj" fmla="val 4226"/>
            </a:avLst>
          </a:prstGeom>
          <a:solidFill>
            <a:srgbClr val="FFFFFF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pic>
        <p:nvPicPr>
          <p:cNvPr id="14" name="Image 0" descr="/tmp/claude-1000/-opt-dersler/a4dee546-de71-4ec2-8add-be39dd273d29/scratchpad/sekiller/elektriksel-kuvvet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7728" y="1664208"/>
            <a:ext cx="4401007" cy="1998703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6967728" y="3754351"/>
            <a:ext cx="4401007" cy="0"/>
          </a:xfrm>
          <a:prstGeom prst="line">
            <a:avLst/>
          </a:prstGeom>
          <a:noFill/>
          <a:ln w="9525">
            <a:solidFill>
              <a:srgbClr val="E1E5EE"/>
            </a:solidFill>
            <a:prstDash val="dash"/>
          </a:ln>
        </p:spPr>
      </p:sp>
      <p:sp>
        <p:nvSpPr>
          <p:cNvPr id="16" name="Text 13"/>
          <p:cNvSpPr txBox="1"/>
          <p:nvPr/>
        </p:nvSpPr>
        <p:spPr>
          <a:xfrm>
            <a:off x="6967728" y="3809215"/>
            <a:ext cx="440100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Birden fazla yük varsa, her biri </a:t>
            </a:r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sanki ötekiler yokmuş gibi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kendi kuvvetini uygular; sonucu bulmak için bu kuvvetleri </a:t>
            </a:r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vektörel olarak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toplarız. Burada q₁ iterek sağa, q₂ çekerek sola-yukarı bir kuvvet uygular; yatay bileşenler birbirini götürdüğü için bileşke tam yukarı bakar. Sayılar değil, oklar toplanır.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40080" y="6382512"/>
            <a:ext cx="128016" cy="128016"/>
          </a:xfrm>
          <a:prstGeom prst="roundRect">
            <a:avLst>
              <a:gd name="adj" fmla="val 28571"/>
            </a:avLst>
          </a:prstGeom>
          <a:solidFill>
            <a:srgbClr val="A9E64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59536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dersler.perinet.org/elektriksel-kuvvet.html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spc="100" kern="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roundRect">
            <a:avLst>
              <a:gd name="adj" fmla="val 25926"/>
            </a:avLst>
          </a:prstGeom>
          <a:solidFill>
            <a:srgbClr val="A56209"/>
          </a:solidFill>
          <a:ln/>
          <a:effectLst>
            <a:outerShdw sx="100000" sy="100000" kx="0" ky="0" algn="bl" rotWithShape="0" blurRad="101600" dist="25400" dir="5400000">
              <a:srgbClr val="A56209">
                <a:alpha val="28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spc="-50" kern="0" dirty="0">
                <a:solidFill>
                  <a:srgbClr val="0E1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Elektriksel alan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81328"/>
            <a:ext cx="6309360" cy="1109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4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Yükler birbirine dokunmadan kuvvet uygular.</a:t>
            </a:r>
            <a:endParaRPr lang="en-US" sz="1400" dirty="0"/>
          </a:p>
          <a:p>
            <a:pPr marL="203200" indent="-2032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4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"uzaktan etki"yi anlatmak için 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alan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kavramı kullanılır: yük, çevresindeki uzayı değiştirir; başka bir yük oraya geldiğinde bu değişimi kuvvet olarak hisseder.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700528"/>
            <a:ext cx="1345997" cy="457200"/>
          </a:xfrm>
          <a:prstGeom prst="roundRect">
            <a:avLst>
              <a:gd name="adj" fmla="val 24000"/>
            </a:avLst>
          </a:prstGeom>
          <a:solidFill>
            <a:srgbClr val="EEF2FC"/>
          </a:solidFill>
          <a:ln w="9525">
            <a:solidFill>
              <a:srgbClr val="CBD7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700528"/>
            <a:ext cx="134599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957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 = F / q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095805" y="2700528"/>
            <a:ext cx="1839773" cy="457200"/>
          </a:xfrm>
          <a:prstGeom prst="roundRect">
            <a:avLst>
              <a:gd name="adj" fmla="val 24000"/>
            </a:avLst>
          </a:prstGeom>
          <a:solidFill>
            <a:srgbClr val="EEF2FC"/>
          </a:solidFill>
          <a:ln w="9525">
            <a:solidFill>
              <a:srgbClr val="CBD7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095805" y="2700528"/>
            <a:ext cx="183977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957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 = k · q / r²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045306" y="2700528"/>
            <a:ext cx="1345997" cy="457200"/>
          </a:xfrm>
          <a:prstGeom prst="roundRect">
            <a:avLst>
              <a:gd name="adj" fmla="val 24000"/>
            </a:avLst>
          </a:prstGeom>
          <a:solidFill>
            <a:srgbClr val="EEF2FC"/>
          </a:solidFill>
          <a:ln w="9525">
            <a:solidFill>
              <a:srgbClr val="CBD7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045306" y="2700528"/>
            <a:ext cx="134599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957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= q · 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322320"/>
            <a:ext cx="6309360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4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Alan bir 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vektördür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birimi 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N/C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'dur.</a:t>
            </a:r>
            <a:endParaRPr lang="en-US" sz="1400" dirty="0"/>
          </a:p>
          <a:p>
            <a:pPr marL="203200" indent="-2032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4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Yönü, o noktaya konacak 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pozitif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bir yükün iteceği yöndür.</a:t>
            </a:r>
            <a:endParaRPr lang="en-US" sz="1400" dirty="0"/>
          </a:p>
          <a:p>
            <a:pPr marL="203200" indent="-2032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4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yüzden pozitif yükün alanı dışarı doğru, negatif yükün alanı içeri doğrudur.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4605528"/>
            <a:ext cx="6309360" cy="1085850"/>
          </a:xfrm>
          <a:prstGeom prst="roundRect">
            <a:avLst>
              <a:gd name="adj" fmla="val 10105"/>
            </a:avLst>
          </a:prstGeom>
          <a:solidFill>
            <a:srgbClr val="FFFFFF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58368" y="4751832"/>
            <a:ext cx="45720" cy="793242"/>
          </a:xfrm>
          <a:prstGeom prst="rect">
            <a:avLst/>
          </a:prstGeom>
          <a:solidFill>
            <a:srgbClr val="3C8C2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14400" y="4715256"/>
            <a:ext cx="5852160" cy="866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Alan, test yükünden bağımsızdır.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= F/q oranında hem F hem q test yüküyle orantılı değişir; oran sabit kalır. Alan, yalnızca 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alanı oluşturan yüklere ve konuma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bağlıdır.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242048" y="1481328"/>
            <a:ext cx="4309567" cy="3252611"/>
          </a:xfrm>
          <a:prstGeom prst="roundRect">
            <a:avLst>
              <a:gd name="adj" fmla="val 4498"/>
            </a:avLst>
          </a:prstGeom>
          <a:solidFill>
            <a:srgbClr val="FFFFFF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pic>
        <p:nvPicPr>
          <p:cNvPr id="17" name="Image 0" descr="/tmp/claude-1000/-opt-dersler/a4dee546-de71-4ec2-8add-be39dd273d29/scratchpad/sekiller/elektriksel-kuvvet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4928" y="1664208"/>
            <a:ext cx="3943807" cy="1610348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7424928" y="3365996"/>
            <a:ext cx="3943807" cy="0"/>
          </a:xfrm>
          <a:prstGeom prst="line">
            <a:avLst/>
          </a:prstGeom>
          <a:noFill/>
          <a:ln w="9525">
            <a:solidFill>
              <a:srgbClr val="E1E5EE"/>
            </a:solidFill>
            <a:prstDash val="dash"/>
          </a:ln>
        </p:spPr>
      </p:sp>
      <p:sp>
        <p:nvSpPr>
          <p:cNvPr id="19" name="Text 16"/>
          <p:cNvSpPr txBox="1"/>
          <p:nvPr/>
        </p:nvSpPr>
        <p:spPr>
          <a:xfrm>
            <a:off x="7424928" y="3420860"/>
            <a:ext cx="3943807" cy="11301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Alanı ölçmek için oraya küçük bir test yükü koyarız ve gördüğü kuvveti yüke böleriz. Ama </a:t>
            </a:r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alan test yükünden bağımsızdır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test yükünü iki katına çıkarırsan kuvvet de iki katına çıkar, oran değişmez. Test yükünü tamamen kaldırsan bile o noktada bir alan vardır — </a:t>
            </a:r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uzayın kendisi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kaynak yük tarafından değiştirilmiştir.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40080" y="6382512"/>
            <a:ext cx="128016" cy="128016"/>
          </a:xfrm>
          <a:prstGeom prst="roundRect">
            <a:avLst>
              <a:gd name="adj" fmla="val 28571"/>
            </a:avLst>
          </a:prstGeom>
          <a:solidFill>
            <a:srgbClr val="A9E648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59536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dersler.perinet.org/elektriksel-kuvvet.html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spc="100" kern="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roundRect">
            <a:avLst>
              <a:gd name="adj" fmla="val 25926"/>
            </a:avLst>
          </a:prstGeom>
          <a:solidFill>
            <a:srgbClr val="2957D4"/>
          </a:solidFill>
          <a:ln/>
          <a:effectLst>
            <a:outerShdw sx="100000" sy="100000" kx="0" ky="0" algn="bl" rotWithShape="0" blurRad="101600" dist="25400" dir="5400000">
              <a:srgbClr val="2957D4">
                <a:alpha val="28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spc="-50" kern="0" dirty="0">
                <a:solidFill>
                  <a:srgbClr val="0E1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Alan çizgileri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81328"/>
            <a:ext cx="6309360" cy="618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4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Alanı görselleştirmenin en kullanışlı yolu alan çizgileridir.</a:t>
            </a:r>
            <a:endParaRPr lang="en-US" sz="1400" dirty="0"/>
          </a:p>
          <a:p>
            <a:pPr marL="203200" indent="-2032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4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Kuralları: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09800"/>
            <a:ext cx="6309360" cy="2037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4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Pozitif yükten çıkar, negatif yükte son bulur.</a:t>
            </a:r>
            <a:endParaRPr lang="en-US" sz="1400" dirty="0"/>
          </a:p>
          <a:p>
            <a:pPr marL="203200" indent="-2032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4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Herhangi bir noktada alan vektörü, çizgiye 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teğettir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marL="203200" indent="-2032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4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Çizgilerin 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sıklığı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alanın şiddetini gösterir: sık çizgi = güçlü alan.</a:t>
            </a:r>
            <a:endParaRPr lang="en-US" sz="1400" dirty="0"/>
          </a:p>
          <a:p>
            <a:pPr marL="203200" indent="-2032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4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Çizgiler 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asla kesişmez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(kesişse o noktada alanın iki yönü olurdu).</a:t>
            </a:r>
            <a:endParaRPr lang="en-US" sz="1400" dirty="0"/>
          </a:p>
          <a:p>
            <a:pPr marL="203200" indent="-2032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4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İletken yüzeyine daima 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diktir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357116"/>
            <a:ext cx="630936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4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Sayfadaki 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numaralı haritada üç dizilimi karşılaştırabilirsin: tek yük, zıt ikili (dipol) ve aynı işaretli ikili.</a:t>
            </a:r>
            <a:endParaRPr lang="en-US" sz="1400" dirty="0"/>
          </a:p>
          <a:p>
            <a:pPr marL="203200" indent="-2032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4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Aynı işaretli ikilide, tam ortadaki noktada alan 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sıfırdır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42048" y="1481328"/>
            <a:ext cx="4309567" cy="3318380"/>
          </a:xfrm>
          <a:prstGeom prst="roundRect">
            <a:avLst>
              <a:gd name="adj" fmla="val 4409"/>
            </a:avLst>
          </a:prstGeom>
          <a:solidFill>
            <a:srgbClr val="FFFFFF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pic>
        <p:nvPicPr>
          <p:cNvPr id="9" name="Image 0" descr="/tmp/claude-1000/-opt-dersler/a4dee546-de71-4ec2-8add-be39dd273d29/scratchpad/sekiller/elektriksel-kuvvet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4928" y="1664208"/>
            <a:ext cx="3943807" cy="167611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7424928" y="3431766"/>
            <a:ext cx="3943807" cy="0"/>
          </a:xfrm>
          <a:prstGeom prst="line">
            <a:avLst/>
          </a:prstGeom>
          <a:noFill/>
          <a:ln w="9525">
            <a:solidFill>
              <a:srgbClr val="E1E5EE"/>
            </a:solidFill>
            <a:prstDash val="dash"/>
          </a:ln>
        </p:spPr>
      </p:sp>
      <p:sp>
        <p:nvSpPr>
          <p:cNvPr id="11" name="Text 8"/>
          <p:cNvSpPr txBox="1"/>
          <p:nvPr/>
        </p:nvSpPr>
        <p:spPr>
          <a:xfrm>
            <a:off x="7424928" y="3486630"/>
            <a:ext cx="3943807" cy="11301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Alan çizgileri alanın </a:t>
            </a:r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haritasıdır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teğetleri o noktadaki alanın yönünü, sıklıkları ise büyüklüğünü verir. Çizgiler pozitiften çıkıp negatifte biter ve </a:t>
            </a:r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asla kesişmez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kesişselerdi aynı noktada iki farklı alan yönü olurdu. Aynı işaretli iki yükün tam ortasında çizgiler birbirini iter ve alanın sıfırlandığı bir nokta doğar.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40080" y="6382512"/>
            <a:ext cx="128016" cy="128016"/>
          </a:xfrm>
          <a:prstGeom prst="roundRect">
            <a:avLst>
              <a:gd name="adj" fmla="val 28571"/>
            </a:avLst>
          </a:prstGeom>
          <a:solidFill>
            <a:srgbClr val="A9E64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59536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dersler.perinet.org/elektriksel-kuvvet.html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spc="100" kern="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roundRect">
            <a:avLst>
              <a:gd name="adj" fmla="val 25926"/>
            </a:avLst>
          </a:prstGeom>
          <a:solidFill>
            <a:srgbClr val="5F4BD8"/>
          </a:solidFill>
          <a:ln/>
          <a:effectLst>
            <a:outerShdw sx="100000" sy="100000" kx="0" ky="0" algn="bl" rotWithShape="0" blurRad="101600" dist="25400" dir="5400000">
              <a:srgbClr val="5F4BD8">
                <a:alpha val="28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spc="-50" kern="0" dirty="0">
                <a:solidFill>
                  <a:srgbClr val="0E1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Düzgün alan: paralel levhalar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81328"/>
            <a:ext cx="5486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Aralarına gerilim uygulanan iki paralel levha arasında alan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noktada aynı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büyüklük ve yöndedir; buna düzgün alan denir.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450592"/>
            <a:ext cx="1345997" cy="457200"/>
          </a:xfrm>
          <a:prstGeom prst="roundRect">
            <a:avLst>
              <a:gd name="adj" fmla="val 24000"/>
            </a:avLst>
          </a:prstGeom>
          <a:solidFill>
            <a:srgbClr val="EEF2FC"/>
          </a:solidFill>
          <a:ln w="9525">
            <a:solidFill>
              <a:srgbClr val="CBD7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450592"/>
            <a:ext cx="134599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957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 = V / 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095805" y="2450592"/>
            <a:ext cx="2333549" cy="457200"/>
          </a:xfrm>
          <a:prstGeom prst="roundRect">
            <a:avLst>
              <a:gd name="adj" fmla="val 24000"/>
            </a:avLst>
          </a:prstGeom>
          <a:solidFill>
            <a:srgbClr val="EEF2FC"/>
          </a:solidFill>
          <a:ln w="9525">
            <a:solidFill>
              <a:srgbClr val="CBD7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095805" y="2450592"/>
            <a:ext cx="23335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957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= q · E = q·V / d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072384"/>
            <a:ext cx="5486400" cy="1530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6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Burada V levhalar arasındaki potansiyel fark (gerilim), d ise levhalar arası uzaklıktır.</a:t>
            </a:r>
            <a:endParaRPr lang="en-US" sz="1600" dirty="0"/>
          </a:p>
          <a:p>
            <a:pPr marL="203200" indent="-2032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6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Alan çizgileri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birbirine paralel, eşit aralıklı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doğrulardır ve pozitif levhadan negatif levhaya doğrudur.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19088" y="1481328"/>
            <a:ext cx="5132527" cy="3449098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pic>
        <p:nvPicPr>
          <p:cNvPr id="12" name="Image 0" descr="/tmp/claude-1000/-opt-dersler/a4dee546-de71-4ec2-8add-be39dd273d29/scratchpad/sekiller/elektriksel-kuvvet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1968" y="1664208"/>
            <a:ext cx="4766767" cy="198605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601968" y="3741706"/>
            <a:ext cx="4766767" cy="0"/>
          </a:xfrm>
          <a:prstGeom prst="line">
            <a:avLst/>
          </a:prstGeom>
          <a:noFill/>
          <a:ln w="9525">
            <a:solidFill>
              <a:srgbClr val="E1E5EE"/>
            </a:solidFill>
            <a:prstDash val="dash"/>
          </a:ln>
        </p:spPr>
      </p:sp>
      <p:sp>
        <p:nvSpPr>
          <p:cNvPr id="14" name="Text 11"/>
          <p:cNvSpPr txBox="1"/>
          <p:nvPr/>
        </p:nvSpPr>
        <p:spPr>
          <a:xfrm>
            <a:off x="6601968" y="3796570"/>
            <a:ext cx="476676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Zıt yüklü iki paralel levha arasındaki alan, kenarlardan uzakta </a:t>
            </a:r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noktada aynı büyüklükte ve aynı yöndedir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çizgiler birbirine paralel ve eşit aralıklıdır. Bu yüzden bir yük nereye konursa konsun aynı kuvveti görür. Alanı ölçmenin en pratik yolu E = V/d'dir: levhalar arası gerilimi aralarındaki uzaklığa bölmek yeter.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40080" y="6382512"/>
            <a:ext cx="128016" cy="128016"/>
          </a:xfrm>
          <a:prstGeom prst="roundRect">
            <a:avLst>
              <a:gd name="adj" fmla="val 28571"/>
            </a:avLst>
          </a:prstGeom>
          <a:solidFill>
            <a:srgbClr val="A9E64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59536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dersler.perinet.org/elektriksel-kuvvet.html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spc="100" kern="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roundRect">
            <a:avLst>
              <a:gd name="adj" fmla="val 25926"/>
            </a:avLst>
          </a:prstGeom>
          <a:solidFill>
            <a:srgbClr val="3C8C21"/>
          </a:solidFill>
          <a:ln/>
          <a:effectLst>
            <a:outerShdw sx="100000" sy="100000" kx="0" ky="0" algn="bl" rotWithShape="0" blurRad="101600" dist="25400" dir="5400000">
              <a:srgbClr val="3C8C21">
                <a:alpha val="28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spc="-50" kern="0" dirty="0">
                <a:solidFill>
                  <a:srgbClr val="0E1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Düzgün alanda yüklü parçacığın hareketi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81328"/>
            <a:ext cx="6675120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3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Sabit alan sabit kuvvet, sabit kuvvet de </a:t>
            </a:r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sabit ivme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demektir: a = qE/m.</a:t>
            </a:r>
            <a:endParaRPr lang="en-US" sz="1300" dirty="0"/>
          </a:p>
          <a:p>
            <a:pPr marL="203200" indent="-2032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3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Parçacık alana dik girerse hareket, </a:t>
            </a:r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yatay atışın birebir aynısıdır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174748"/>
            <a:ext cx="1444752" cy="457200"/>
          </a:xfrm>
          <a:prstGeom prst="roundRect">
            <a:avLst>
              <a:gd name="adj" fmla="val 24000"/>
            </a:avLst>
          </a:prstGeom>
          <a:solidFill>
            <a:srgbClr val="EEF2FC"/>
          </a:solidFill>
          <a:ln w="9525">
            <a:solidFill>
              <a:srgbClr val="CBD7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174748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957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v₀ · 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194560" y="2174748"/>
            <a:ext cx="2333549" cy="457200"/>
          </a:xfrm>
          <a:prstGeom prst="roundRect">
            <a:avLst>
              <a:gd name="adj" fmla="val 24000"/>
            </a:avLst>
          </a:prstGeom>
          <a:solidFill>
            <a:srgbClr val="EEF2FC"/>
          </a:solidFill>
          <a:ln w="9525">
            <a:solidFill>
              <a:srgbClr val="CBD7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194560" y="2174748"/>
            <a:ext cx="23335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957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 = ½ · (qE/m) · t²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37837" y="2174748"/>
            <a:ext cx="2629814" cy="457200"/>
          </a:xfrm>
          <a:prstGeom prst="roundRect">
            <a:avLst>
              <a:gd name="adj" fmla="val 24000"/>
            </a:avLst>
          </a:prstGeom>
          <a:solidFill>
            <a:srgbClr val="EEF2FC"/>
          </a:solidFill>
          <a:ln w="9525">
            <a:solidFill>
              <a:srgbClr val="CBD7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37837" y="2174748"/>
            <a:ext cx="26298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957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 = q·E·L² / (2·m·v₀²)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2796540"/>
            <a:ext cx="6675120" cy="1331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3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Yörünge </a:t>
            </a:r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paraboldür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marL="203200" indent="-2032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3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Sapma miktarı alanla ve levha uzunluğunun karesiyle artar; giriş hızının karesiyle ve kütleyle azalır.</a:t>
            </a:r>
            <a:endParaRPr lang="en-US" sz="1300" dirty="0"/>
          </a:p>
          <a:p>
            <a:pPr marL="203200" indent="-2032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3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Katot ışınlı tüplerde ve mürekkep püskürtmeli yazıcılarda kullanılan ilke budur.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237482"/>
            <a:ext cx="667512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58368" y="4383786"/>
            <a:ext cx="45720" cy="530352"/>
          </a:xfrm>
          <a:prstGeom prst="rect">
            <a:avLst/>
          </a:prstGeom>
          <a:solidFill>
            <a:srgbClr val="A5620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14400" y="4347210"/>
            <a:ext cx="6217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Yerçekimini ihmal ediyoruz.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Elektron için elektriksel kuvvet, ağırlığının tipik olarak 10¹³ katı mertebesindedir; bu yüzden yerçekimi hesaba katılmaz.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607808" y="1481328"/>
            <a:ext cx="3943807" cy="3312266"/>
          </a:xfrm>
          <a:prstGeom prst="roundRect">
            <a:avLst>
              <a:gd name="adj" fmla="val 4417"/>
            </a:avLst>
          </a:prstGeom>
          <a:solidFill>
            <a:srgbClr val="FFFFFF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pic>
        <p:nvPicPr>
          <p:cNvPr id="17" name="Image 0" descr="/tmp/claude-1000/-opt-dersler/a4dee546-de71-4ec2-8add-be39dd273d29/scratchpad/sekiller/elektriksel-kuvvet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90688" y="1664208"/>
            <a:ext cx="3578047" cy="1490781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7790688" y="3246429"/>
            <a:ext cx="3578047" cy="0"/>
          </a:xfrm>
          <a:prstGeom prst="line">
            <a:avLst/>
          </a:prstGeom>
          <a:noFill/>
          <a:ln w="9525">
            <a:solidFill>
              <a:srgbClr val="E1E5EE"/>
            </a:solidFill>
            <a:prstDash val="dash"/>
          </a:ln>
        </p:spPr>
      </p:sp>
      <p:sp>
        <p:nvSpPr>
          <p:cNvPr id="19" name="Text 16"/>
          <p:cNvSpPr txBox="1"/>
          <p:nvPr/>
        </p:nvSpPr>
        <p:spPr>
          <a:xfrm>
            <a:off x="7790688" y="3301293"/>
            <a:ext cx="3578047" cy="13094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Levhalar arasına yatay giren yüklü parçacık, yatayda sabit hızla ilerlerken düşeyde sabit bir kuvvetle ivmelenir — yani </a:t>
            </a:r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 olarak bir atış hareketi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yapar, yalnızca yerçekiminin yerini elektriksel kuvvet almıştır. Yörünge bu yüzden paraboldür ve sapma y = qEL²/(2mv₀²) ile bulunur. Elektron negatif olduğu için alanın </a:t>
            </a:r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tersi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yönde, artı levhaya doğru sapar.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40080" y="6382512"/>
            <a:ext cx="128016" cy="128016"/>
          </a:xfrm>
          <a:prstGeom prst="roundRect">
            <a:avLst>
              <a:gd name="adj" fmla="val 28571"/>
            </a:avLst>
          </a:prstGeom>
          <a:solidFill>
            <a:srgbClr val="A9E648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59536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dersler.perinet.org/elektriksel-kuvvet.html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spc="100" kern="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roundRect">
            <a:avLst>
              <a:gd name="adj" fmla="val 25926"/>
            </a:avLst>
          </a:prstGeom>
          <a:solidFill>
            <a:srgbClr val="A56209"/>
          </a:solidFill>
          <a:ln/>
          <a:effectLst>
            <a:outerShdw sx="100000" sy="100000" kx="0" ky="0" algn="bl" rotWithShape="0" blurRad="101600" dist="25400" dir="5400000">
              <a:srgbClr val="A56209">
                <a:alpha val="28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spc="-50" kern="0" dirty="0">
                <a:solidFill>
                  <a:srgbClr val="0E1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Çözümlü örnek 1 / 4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İki yük arasındaki kuvvet  ·  Hesaplarda k = 9·10⁹ N·m²/C² alınmıştır.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627632"/>
            <a:ext cx="4297680" cy="4517136"/>
          </a:xfrm>
          <a:prstGeom prst="roundRect">
            <a:avLst>
              <a:gd name="adj" fmla="val 3404"/>
            </a:avLst>
          </a:prstGeom>
          <a:solidFill>
            <a:srgbClr val="F8F9FC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32688" y="184708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A5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932688" y="2176272"/>
            <a:ext cx="3712464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Havada birbirinden 30 cm uzaklıkta duran q₁ = +2 µC ve q₂ = −3 µC yükleri arasındaki kuvvetin büyüklüğünü ve türünü bulunuz.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212080" y="1627632"/>
            <a:ext cx="6339535" cy="1107802"/>
          </a:xfrm>
          <a:prstGeom prst="roundRect">
            <a:avLst>
              <a:gd name="adj" fmla="val 13207"/>
            </a:avLst>
          </a:prstGeom>
          <a:solidFill>
            <a:srgbClr val="F4F5F9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49824" y="1989509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A5620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49824" y="198950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989320" y="1682496"/>
            <a:ext cx="5379415" cy="9980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Birimleri çevir: q₁ = 2·10⁻⁶ C, q₂ = 3·10⁻⁶ C, r = 0,3 m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212080" y="2881738"/>
            <a:ext cx="6339535" cy="754818"/>
          </a:xfrm>
          <a:prstGeom prst="roundRect">
            <a:avLst>
              <a:gd name="adj" fmla="val 19383"/>
            </a:avLst>
          </a:prstGeom>
          <a:solidFill>
            <a:srgbClr val="F4F5F9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49824" y="3067123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A5620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49824" y="306712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989320" y="2936602"/>
            <a:ext cx="5379415" cy="645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= k·q₁·q₂/r² = 9·10⁹ · (2·10⁻⁶ · 3·10⁻⁶) / 0,09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212080" y="3782860"/>
            <a:ext cx="6339535" cy="1107802"/>
          </a:xfrm>
          <a:prstGeom prst="roundRect">
            <a:avLst>
              <a:gd name="adj" fmla="val 13207"/>
            </a:avLst>
          </a:prstGeom>
          <a:solidFill>
            <a:srgbClr val="F4F5F9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49824" y="4144737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A56209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49824" y="414473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989320" y="3837724"/>
            <a:ext cx="5379415" cy="9980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= 9·10⁹ · 6·10⁻¹² / 0,09 = 54·10⁻³ / 0,09 = </a:t>
            </a:r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0,6 N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212080" y="5036966"/>
            <a:ext cx="6339535" cy="1107802"/>
          </a:xfrm>
          <a:prstGeom prst="roundRect">
            <a:avLst>
              <a:gd name="adj" fmla="val 13207"/>
            </a:avLst>
          </a:prstGeom>
          <a:solidFill>
            <a:srgbClr val="F4F5F9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449824" y="5398843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A5620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49824" y="539884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5091830"/>
            <a:ext cx="5379415" cy="9980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Yükler zıt işaretli olduğu için kuvvet </a:t>
            </a:r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çekicidir</a:t>
            </a:r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ve her iki yüke de 0,6 N etki eder.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40080" y="6382512"/>
            <a:ext cx="128016" cy="128016"/>
          </a:xfrm>
          <a:prstGeom prst="roundRect">
            <a:avLst>
              <a:gd name="adj" fmla="val 28571"/>
            </a:avLst>
          </a:prstGeom>
          <a:solidFill>
            <a:srgbClr val="A9E64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59536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dersler.perinet.org/elektriksel-kuvvet.html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spc="100" kern="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roundRect">
            <a:avLst>
              <a:gd name="adj" fmla="val 25926"/>
            </a:avLst>
          </a:prstGeom>
          <a:solidFill>
            <a:srgbClr val="A56209"/>
          </a:solidFill>
          <a:ln/>
          <a:effectLst>
            <a:outerShdw sx="100000" sy="100000" kx="0" ky="0" algn="bl" rotWithShape="0" blurRad="101600" dist="25400" dir="5400000">
              <a:srgbClr val="A56209">
                <a:alpha val="28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spc="-50" kern="0" dirty="0">
                <a:solidFill>
                  <a:srgbClr val="0E1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Çözümlü örnek 2 / 4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Uzaklık değişirse  ·  Hesaplarda k = 9·10⁹ N·m²/C² alınmıştır.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627632"/>
            <a:ext cx="4297680" cy="4517136"/>
          </a:xfrm>
          <a:prstGeom prst="roundRect">
            <a:avLst>
              <a:gd name="adj" fmla="val 3404"/>
            </a:avLst>
          </a:prstGeom>
          <a:solidFill>
            <a:srgbClr val="F8F9FC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32688" y="184708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A5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932688" y="2176272"/>
            <a:ext cx="3712464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İki nokta yük arasındaki kuvvet 36 N'dur. Yükler değiştirilmeden aralarındaki uzaklık 3 katına çıkarılırsa kuvvet ne olur? Uzaklık aynı kalıp yüklerden biri 2 katına çıkarılsaydı?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212080" y="1627632"/>
            <a:ext cx="6339535" cy="1408176"/>
          </a:xfrm>
          <a:prstGeom prst="roundRect">
            <a:avLst>
              <a:gd name="adj" fmla="val 10390"/>
            </a:avLst>
          </a:prstGeom>
          <a:solidFill>
            <a:srgbClr val="F4F5F9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49824" y="2139696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A5620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49824" y="2139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989320" y="1682496"/>
            <a:ext cx="5379415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∼ 1/r² → r 3 katına çıkarsa F, 9'da birine iner: 36/9 = </a:t>
            </a:r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212080" y="3182112"/>
            <a:ext cx="6339535" cy="1408176"/>
          </a:xfrm>
          <a:prstGeom prst="roundRect">
            <a:avLst>
              <a:gd name="adj" fmla="val 10390"/>
            </a:avLst>
          </a:prstGeom>
          <a:solidFill>
            <a:srgbClr val="F4F5F9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49824" y="3694176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A5620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49824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989320" y="3236976"/>
            <a:ext cx="5379415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∼ q₁·q₂ → yüklerden biri 2 katına çıkarsa F de 2 katına çıkar: </a:t>
            </a:r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 N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212080" y="4736592"/>
            <a:ext cx="6339535" cy="1408176"/>
          </a:xfrm>
          <a:prstGeom prst="roundRect">
            <a:avLst>
              <a:gd name="adj" fmla="val 10390"/>
            </a:avLst>
          </a:prstGeom>
          <a:solidFill>
            <a:srgbClr val="F4F5F9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49824" y="5248656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A56209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49824" y="5248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989320" y="4791456"/>
            <a:ext cx="5379415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iki değişiklik birlikte yapılsaydı: 36 · 2 / 9 = 8 N olurdu.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40080" y="6382512"/>
            <a:ext cx="128016" cy="128016"/>
          </a:xfrm>
          <a:prstGeom prst="roundRect">
            <a:avLst>
              <a:gd name="adj" fmla="val 28571"/>
            </a:avLst>
          </a:prstGeom>
          <a:solidFill>
            <a:srgbClr val="A9E64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59536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dersler.perinet.org/elektriksel-kuvvet.html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spc="100" kern="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roundRect">
            <a:avLst>
              <a:gd name="adj" fmla="val 25926"/>
            </a:avLst>
          </a:prstGeom>
          <a:solidFill>
            <a:srgbClr val="A56209"/>
          </a:solidFill>
          <a:ln/>
          <a:effectLst>
            <a:outerShdw sx="100000" sy="100000" kx="0" ky="0" algn="bl" rotWithShape="0" blurRad="101600" dist="25400" dir="5400000">
              <a:srgbClr val="A56209">
                <a:alpha val="28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spc="-50" kern="0" dirty="0">
                <a:solidFill>
                  <a:srgbClr val="0E1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Çözümlü örnek 3 / 4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Alanın sıfırlandığı nokta  ·  Hesaplarda k = 9·10⁹ N·m²/C² alınmıştır.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627632"/>
            <a:ext cx="4297680" cy="4517136"/>
          </a:xfrm>
          <a:prstGeom prst="roundRect">
            <a:avLst>
              <a:gd name="adj" fmla="val 3404"/>
            </a:avLst>
          </a:prstGeom>
          <a:solidFill>
            <a:srgbClr val="F8F9FC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32688" y="184708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A5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932688" y="2176272"/>
            <a:ext cx="3712464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Aralarında 30 cm bulunan q₁ = +4 µC ve q₂ = +1 µC yükleri için, aralarındaki doğru üzerinde alanın sıfır olduğu noktayı bulunuz.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212080" y="1627632"/>
            <a:ext cx="6339535" cy="1107802"/>
          </a:xfrm>
          <a:prstGeom prst="roundRect">
            <a:avLst>
              <a:gd name="adj" fmla="val 13207"/>
            </a:avLst>
          </a:prstGeom>
          <a:solidFill>
            <a:srgbClr val="F4F5F9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49824" y="1989509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A5620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49824" y="198950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989320" y="1682496"/>
            <a:ext cx="5379415" cy="9980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Aynı işaretli yüklerde sıfır noktası </a:t>
            </a:r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aralarındadır</a:t>
            </a:r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ve küçük yüke daha yakındır.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212080" y="2881738"/>
            <a:ext cx="6339535" cy="754818"/>
          </a:xfrm>
          <a:prstGeom prst="roundRect">
            <a:avLst>
              <a:gd name="adj" fmla="val 19383"/>
            </a:avLst>
          </a:prstGeom>
          <a:solidFill>
            <a:srgbClr val="F4F5F9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49824" y="3067123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A5620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49824" y="306712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989320" y="2936602"/>
            <a:ext cx="5379415" cy="645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q₁'den x uzaklıkta olsun: k·4/x² = k·1/(30−x)²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212080" y="3782860"/>
            <a:ext cx="6339535" cy="1107802"/>
          </a:xfrm>
          <a:prstGeom prst="roundRect">
            <a:avLst>
              <a:gd name="adj" fmla="val 13207"/>
            </a:avLst>
          </a:prstGeom>
          <a:solidFill>
            <a:srgbClr val="F4F5F9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49824" y="4144737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A56209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49824" y="414473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989320" y="3837724"/>
            <a:ext cx="5379415" cy="9980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4·(30−x)² = x² → 2·(30 − x) = x → 60 = 3x → </a:t>
            </a:r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20 cm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212080" y="5036966"/>
            <a:ext cx="6339535" cy="1107802"/>
          </a:xfrm>
          <a:prstGeom prst="roundRect">
            <a:avLst>
              <a:gd name="adj" fmla="val 13207"/>
            </a:avLst>
          </a:prstGeom>
          <a:solidFill>
            <a:srgbClr val="F4F5F9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449824" y="5398843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A5620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49824" y="539884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5091830"/>
            <a:ext cx="5379415" cy="9980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Nokta q₁'den 20 cm, q₂'den 10 cm uzaktadır — beklendiği gibi küçük yüke yakın.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40080" y="6382512"/>
            <a:ext cx="128016" cy="128016"/>
          </a:xfrm>
          <a:prstGeom prst="roundRect">
            <a:avLst>
              <a:gd name="adj" fmla="val 28571"/>
            </a:avLst>
          </a:prstGeom>
          <a:solidFill>
            <a:srgbClr val="A9E64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59536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dersler.perinet.org/elektriksel-kuvvet.html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spc="100" kern="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roundRect">
            <a:avLst>
              <a:gd name="adj" fmla="val 25926"/>
            </a:avLst>
          </a:prstGeom>
          <a:solidFill>
            <a:srgbClr val="A56209"/>
          </a:solidFill>
          <a:ln/>
          <a:effectLst>
            <a:outerShdw sx="100000" sy="100000" kx="0" ky="0" algn="bl" rotWithShape="0" blurRad="101600" dist="25400" dir="5400000">
              <a:srgbClr val="A56209">
                <a:alpha val="28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spc="-50" kern="0" dirty="0">
                <a:solidFill>
                  <a:srgbClr val="0E1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Çözümlü örnek 4 / 4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Paralel levhalar arasında elektron  ·  Hesaplarda k = 9·10⁹ N·m²/C² alınmıştır.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627632"/>
            <a:ext cx="4297680" cy="4517136"/>
          </a:xfrm>
          <a:prstGeom prst="roundRect">
            <a:avLst>
              <a:gd name="adj" fmla="val 3404"/>
            </a:avLst>
          </a:prstGeom>
          <a:solidFill>
            <a:srgbClr val="F8F9FC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32688" y="184708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A5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932688" y="2176272"/>
            <a:ext cx="3712464" cy="2334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Aralarında 2 cm bulunan paralel levhalara 200 V uygulanıyor. Levhalar arasına, levhalara paralel olarak 6·10⁶ m/s hızla giren bir elektron için: (a) alan şiddeti, (b) elektrona etki eden kuvvet, (c) 8 cm'lik levhaları geçerken sapması nedir? (e = 1,6·10⁻¹⁹ C · m = 9,1·10⁻³¹ kg)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212080" y="1627632"/>
            <a:ext cx="6339535" cy="577675"/>
          </a:xfrm>
          <a:prstGeom prst="roundRect">
            <a:avLst>
              <a:gd name="adj" fmla="val 25326"/>
            </a:avLst>
          </a:prstGeom>
          <a:solidFill>
            <a:srgbClr val="F4F5F9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49824" y="1724446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A5620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49824" y="172444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989320" y="1682496"/>
            <a:ext cx="5379415" cy="4679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</a:t>
            </a:r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= V/d = 200 / 0,02 = </a:t>
            </a:r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10⁴ N/C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212080" y="2351611"/>
            <a:ext cx="6339535" cy="577675"/>
          </a:xfrm>
          <a:prstGeom prst="roundRect">
            <a:avLst>
              <a:gd name="adj" fmla="val 25326"/>
            </a:avLst>
          </a:prstGeom>
          <a:solidFill>
            <a:srgbClr val="F4F5F9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49824" y="2448425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A5620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49824" y="244842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989320" y="2406475"/>
            <a:ext cx="5379415" cy="4679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</a:t>
            </a:r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 = q·E = 1,6·10⁻¹⁹ · 10⁴ = </a:t>
            </a:r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1,6·10⁻¹⁵ N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212080" y="3075591"/>
            <a:ext cx="6339535" cy="577675"/>
          </a:xfrm>
          <a:prstGeom prst="roundRect">
            <a:avLst>
              <a:gd name="adj" fmla="val 25326"/>
            </a:avLst>
          </a:prstGeom>
          <a:solidFill>
            <a:srgbClr val="F4F5F9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49824" y="3172405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A56209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49824" y="317240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989320" y="3130455"/>
            <a:ext cx="5379415" cy="4679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İvme: a = F/m = 1,6·10⁻¹⁵ / 9,1·10⁻³¹ ≈ 1,76·10¹⁵ m/s²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212080" y="3799570"/>
            <a:ext cx="6339535" cy="838561"/>
          </a:xfrm>
          <a:prstGeom prst="roundRect">
            <a:avLst>
              <a:gd name="adj" fmla="val 17447"/>
            </a:avLst>
          </a:prstGeom>
          <a:solidFill>
            <a:srgbClr val="F4F5F9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449824" y="4026827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A5620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49824" y="402682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3854434"/>
            <a:ext cx="5379415" cy="728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Levhalarda geçen süre: t = L/v₀ = 0,08 / 6·10⁶ ≈ 1,33·10⁻⁸ s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5212080" y="4784435"/>
            <a:ext cx="6339535" cy="1360333"/>
          </a:xfrm>
          <a:prstGeom prst="roundRect">
            <a:avLst>
              <a:gd name="adj" fmla="val 10755"/>
            </a:avLst>
          </a:prstGeom>
          <a:solidFill>
            <a:srgbClr val="F4F5F9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449824" y="5272578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A56209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449824" y="527257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5989320" y="4839299"/>
            <a:ext cx="5379415" cy="1250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(c)</a:t>
            </a:r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= ½·a·t² = 0,5 · 1,76·10¹⁵ · (1,33·10⁻⁸)² ≈ </a:t>
            </a:r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1,6·10⁻¹ m</a:t>
            </a:r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bu, 1 cm'lik boşluktan çok büyük olduğu için elektron </a:t>
            </a:r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levhaya çarpar</a:t>
            </a:r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Sapmayı küçültmek için gerilimi azaltmak ya da giriş hızını artırmak gerekir.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640080" y="6382512"/>
            <a:ext cx="128016" cy="128016"/>
          </a:xfrm>
          <a:prstGeom prst="roundRect">
            <a:avLst>
              <a:gd name="adj" fmla="val 28571"/>
            </a:avLst>
          </a:prstGeom>
          <a:solidFill>
            <a:srgbClr val="A9E648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59536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dersler.perinet.org/elektriksel-kuvvet.html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spc="100" kern="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roundRect">
            <a:avLst>
              <a:gd name="adj" fmla="val 25926"/>
            </a:avLst>
          </a:prstGeom>
          <a:solidFill>
            <a:srgbClr val="C53455"/>
          </a:solidFill>
          <a:ln/>
          <a:effectLst>
            <a:outerShdw sx="100000" sy="100000" kx="0" ky="0" algn="bl" rotWithShape="0" blurRad="101600" dist="25400" dir="5400000">
              <a:srgbClr val="C53455">
                <a:alpha val="28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spc="-50" kern="0" dirty="0">
                <a:solidFill>
                  <a:srgbClr val="0E1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Sık yapılan hatalar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Sınavda puan kaybettiren klasikler ve doğrusu.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627632"/>
            <a:ext cx="5346040" cy="1019556"/>
          </a:xfrm>
          <a:prstGeom prst="roundRect">
            <a:avLst>
              <a:gd name="adj" fmla="val 14350"/>
            </a:avLst>
          </a:prstGeom>
          <a:solidFill>
            <a:srgbClr val="FFFFFF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41248" y="1773936"/>
            <a:ext cx="274320" cy="274320"/>
          </a:xfrm>
          <a:prstGeom prst="roundRect">
            <a:avLst>
              <a:gd name="adj" fmla="val 26667"/>
            </a:avLst>
          </a:prstGeom>
          <a:solidFill>
            <a:srgbClr val="FBE9E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41248" y="17739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225296" y="1746504"/>
            <a:ext cx="4559656" cy="2739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“Büyük yük küçük yüke daha büyük kuvvet uygular.”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41248" y="2093595"/>
            <a:ext cx="274320" cy="274320"/>
          </a:xfrm>
          <a:prstGeom prst="roundRect">
            <a:avLst>
              <a:gd name="adj" fmla="val 26667"/>
            </a:avLst>
          </a:prstGeom>
          <a:solidFill>
            <a:srgbClr val="EAF7D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41248" y="20935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225296" y="2075307"/>
            <a:ext cx="4559656" cy="462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Kuvvetler eşittir; farklı olan </a:t>
            </a:r>
            <a:pPr indent="0" marL="0">
              <a:lnSpc>
                <a:spcPct val="108000"/>
              </a:lnSpc>
              <a:buNone/>
            </a:pPr>
            <a:r>
              <a:rPr lang="en-US" sz="1150" i="1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ivmelerdir</a:t>
            </a:r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 = F/m).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05576" y="1627632"/>
            <a:ext cx="5346040" cy="1019556"/>
          </a:xfrm>
          <a:prstGeom prst="roundRect">
            <a:avLst>
              <a:gd name="adj" fmla="val 14350"/>
            </a:avLst>
          </a:prstGeom>
          <a:solidFill>
            <a:srgbClr val="FFFFFF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6744" y="1773936"/>
            <a:ext cx="274320" cy="274320"/>
          </a:xfrm>
          <a:prstGeom prst="roundRect">
            <a:avLst>
              <a:gd name="adj" fmla="val 26667"/>
            </a:avLst>
          </a:prstGeom>
          <a:solidFill>
            <a:srgbClr val="FBE9E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6744" y="17739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790792" y="1746504"/>
            <a:ext cx="4559656" cy="2739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Birimleri çevirmeyi unutmak.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6744" y="2093595"/>
            <a:ext cx="274320" cy="274320"/>
          </a:xfrm>
          <a:prstGeom prst="roundRect">
            <a:avLst>
              <a:gd name="adj" fmla="val 26667"/>
            </a:avLst>
          </a:prstGeom>
          <a:solidFill>
            <a:srgbClr val="EAF7D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6744" y="20935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790792" y="2075307"/>
            <a:ext cx="4559656" cy="462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µC → 10⁻⁶ C, cm → 10⁻² m. Coulomb yasasında r </a:t>
            </a:r>
            <a:pPr indent="0" marL="0">
              <a:lnSpc>
                <a:spcPct val="108000"/>
              </a:lnSpc>
              <a:buNone/>
            </a:pPr>
            <a:r>
              <a:rPr lang="en-US" sz="1150" i="1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metre</a:t>
            </a:r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olmalıdır.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2793492"/>
            <a:ext cx="5346040" cy="1019556"/>
          </a:xfrm>
          <a:prstGeom prst="roundRect">
            <a:avLst>
              <a:gd name="adj" fmla="val 14350"/>
            </a:avLst>
          </a:prstGeom>
          <a:solidFill>
            <a:srgbClr val="FFFFFF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41248" y="2939796"/>
            <a:ext cx="274320" cy="274320"/>
          </a:xfrm>
          <a:prstGeom prst="roundRect">
            <a:avLst>
              <a:gd name="adj" fmla="val 26667"/>
            </a:avLst>
          </a:prstGeom>
          <a:solidFill>
            <a:srgbClr val="FBE9E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41248" y="29397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225296" y="2912364"/>
            <a:ext cx="4559656" cy="2739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“Uzaklık 2 katına çıkınca kuvvet yarıya iner.”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41248" y="3259455"/>
            <a:ext cx="274320" cy="274320"/>
          </a:xfrm>
          <a:prstGeom prst="roundRect">
            <a:avLst>
              <a:gd name="adj" fmla="val 26667"/>
            </a:avLst>
          </a:prstGeom>
          <a:solidFill>
            <a:srgbClr val="EAF7D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41248" y="32594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1225296" y="3241167"/>
            <a:ext cx="4559656" cy="462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Ters </a:t>
            </a:r>
            <a:pPr indent="0" marL="0">
              <a:lnSpc>
                <a:spcPct val="108000"/>
              </a:lnSpc>
              <a:buNone/>
            </a:pPr>
            <a:r>
              <a:rPr lang="en-US" sz="1150" i="1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kare</a:t>
            </a:r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dörtte bire iner.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205576" y="2793492"/>
            <a:ext cx="5346040" cy="1019556"/>
          </a:xfrm>
          <a:prstGeom prst="roundRect">
            <a:avLst>
              <a:gd name="adj" fmla="val 14350"/>
            </a:avLst>
          </a:prstGeom>
          <a:solidFill>
            <a:srgbClr val="FFFFFF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406744" y="2939796"/>
            <a:ext cx="274320" cy="274320"/>
          </a:xfrm>
          <a:prstGeom prst="roundRect">
            <a:avLst>
              <a:gd name="adj" fmla="val 26667"/>
            </a:avLst>
          </a:prstGeom>
          <a:solidFill>
            <a:srgbClr val="FBE9EE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406744" y="29397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6790792" y="2912364"/>
            <a:ext cx="4559656" cy="2739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Alanı test yüküne bağlı sanmak.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6744" y="3259455"/>
            <a:ext cx="274320" cy="274320"/>
          </a:xfrm>
          <a:prstGeom prst="roundRect">
            <a:avLst>
              <a:gd name="adj" fmla="val 26667"/>
            </a:avLst>
          </a:prstGeom>
          <a:solidFill>
            <a:srgbClr val="EAF7DC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406744" y="32594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6790792" y="3241167"/>
            <a:ext cx="4559656" cy="462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= F/q oranı test yükünden bağımsızdır.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40080" y="3959352"/>
            <a:ext cx="5346040" cy="1019556"/>
          </a:xfrm>
          <a:prstGeom prst="roundRect">
            <a:avLst>
              <a:gd name="adj" fmla="val 14350"/>
            </a:avLst>
          </a:prstGeom>
          <a:solidFill>
            <a:srgbClr val="FFFFFF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41248" y="4105656"/>
            <a:ext cx="274320" cy="274320"/>
          </a:xfrm>
          <a:prstGeom prst="roundRect">
            <a:avLst>
              <a:gd name="adj" fmla="val 26667"/>
            </a:avLst>
          </a:prstGeom>
          <a:solidFill>
            <a:srgbClr val="FBE9EE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41248" y="41056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50" dirty="0"/>
          </a:p>
        </p:txBody>
      </p:sp>
      <p:sp>
        <p:nvSpPr>
          <p:cNvPr id="37" name="Text 35"/>
          <p:cNvSpPr txBox="1"/>
          <p:nvPr/>
        </p:nvSpPr>
        <p:spPr>
          <a:xfrm>
            <a:off x="1225296" y="4078224"/>
            <a:ext cx="4559656" cy="2739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Alan çizgilerini yörünge sanmak.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841248" y="4425315"/>
            <a:ext cx="274320" cy="274320"/>
          </a:xfrm>
          <a:prstGeom prst="roundRect">
            <a:avLst>
              <a:gd name="adj" fmla="val 26667"/>
            </a:avLst>
          </a:prstGeom>
          <a:solidFill>
            <a:srgbClr val="EAF7DC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841248" y="442531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50" dirty="0"/>
          </a:p>
        </p:txBody>
      </p:sp>
      <p:sp>
        <p:nvSpPr>
          <p:cNvPr id="40" name="Text 38"/>
          <p:cNvSpPr txBox="1"/>
          <p:nvPr/>
        </p:nvSpPr>
        <p:spPr>
          <a:xfrm>
            <a:off x="1225296" y="4407027"/>
            <a:ext cx="4559656" cy="462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Çizgi, kuvvetin </a:t>
            </a:r>
            <a:pPr indent="0" marL="0">
              <a:lnSpc>
                <a:spcPct val="108000"/>
              </a:lnSpc>
              <a:buNone/>
            </a:pPr>
            <a:r>
              <a:rPr lang="en-US" sz="1150" i="1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yönünü</a:t>
            </a:r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verir; parçacığın izleyeceği yol değildir (ilk hızı varsa yörünge farklıdır).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6205576" y="3959352"/>
            <a:ext cx="5346040" cy="1019556"/>
          </a:xfrm>
          <a:prstGeom prst="roundRect">
            <a:avLst>
              <a:gd name="adj" fmla="val 14350"/>
            </a:avLst>
          </a:prstGeom>
          <a:solidFill>
            <a:srgbClr val="FFFFFF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406744" y="4105656"/>
            <a:ext cx="274320" cy="274320"/>
          </a:xfrm>
          <a:prstGeom prst="roundRect">
            <a:avLst>
              <a:gd name="adj" fmla="val 26667"/>
            </a:avLst>
          </a:prstGeom>
          <a:solidFill>
            <a:srgbClr val="FBE9EE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406744" y="41056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50" dirty="0"/>
          </a:p>
        </p:txBody>
      </p:sp>
      <p:sp>
        <p:nvSpPr>
          <p:cNvPr id="44" name="Text 42"/>
          <p:cNvSpPr txBox="1"/>
          <p:nvPr/>
        </p:nvSpPr>
        <p:spPr>
          <a:xfrm>
            <a:off x="6790792" y="4078224"/>
            <a:ext cx="4559656" cy="2739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Negatif yükün alan yönünü karıştırmak.</a:t>
            </a:r>
            <a:endParaRPr lang="en-US" sz="1250" dirty="0"/>
          </a:p>
        </p:txBody>
      </p:sp>
      <p:sp>
        <p:nvSpPr>
          <p:cNvPr id="45" name="Shape 43"/>
          <p:cNvSpPr/>
          <p:nvPr/>
        </p:nvSpPr>
        <p:spPr>
          <a:xfrm>
            <a:off x="6406744" y="4425315"/>
            <a:ext cx="274320" cy="274320"/>
          </a:xfrm>
          <a:prstGeom prst="roundRect">
            <a:avLst>
              <a:gd name="adj" fmla="val 26667"/>
            </a:avLst>
          </a:prstGeom>
          <a:solidFill>
            <a:srgbClr val="EAF7DC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406744" y="442531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50" dirty="0"/>
          </a:p>
        </p:txBody>
      </p:sp>
      <p:sp>
        <p:nvSpPr>
          <p:cNvPr id="47" name="Text 45"/>
          <p:cNvSpPr txBox="1"/>
          <p:nvPr/>
        </p:nvSpPr>
        <p:spPr>
          <a:xfrm>
            <a:off x="6790792" y="4407027"/>
            <a:ext cx="4559656" cy="462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Alan yönü daima </a:t>
            </a:r>
            <a:pPr indent="0" marL="0">
              <a:lnSpc>
                <a:spcPct val="108000"/>
              </a:lnSpc>
              <a:buNone/>
            </a:pPr>
            <a:r>
              <a:rPr lang="en-US" sz="1150" i="1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pozitif</a:t>
            </a:r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test yükünün iteleceği yöndür; negatif yüke etki eden kuvvet alana </a:t>
            </a:r>
            <a:pPr indent="0" marL="0">
              <a:lnSpc>
                <a:spcPct val="108000"/>
              </a:lnSpc>
              <a:buNone/>
            </a:pPr>
            <a:r>
              <a:rPr lang="en-US" sz="1150" i="1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zıttır</a:t>
            </a:r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640080" y="5125212"/>
            <a:ext cx="5346040" cy="1019556"/>
          </a:xfrm>
          <a:prstGeom prst="roundRect">
            <a:avLst>
              <a:gd name="adj" fmla="val 14350"/>
            </a:avLst>
          </a:prstGeom>
          <a:solidFill>
            <a:srgbClr val="FFFFFF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841248" y="5271516"/>
            <a:ext cx="274320" cy="274320"/>
          </a:xfrm>
          <a:prstGeom prst="roundRect">
            <a:avLst>
              <a:gd name="adj" fmla="val 26667"/>
            </a:avLst>
          </a:prstGeom>
          <a:solidFill>
            <a:srgbClr val="FBE9EE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841248" y="52715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50" dirty="0"/>
          </a:p>
        </p:txBody>
      </p:sp>
      <p:sp>
        <p:nvSpPr>
          <p:cNvPr id="51" name="Text 49"/>
          <p:cNvSpPr txBox="1"/>
          <p:nvPr/>
        </p:nvSpPr>
        <p:spPr>
          <a:xfrm>
            <a:off x="1225296" y="5244084"/>
            <a:ext cx="4559656" cy="2739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Düzgün alanda kuvveti uzaklığa bağlı sanmak.</a:t>
            </a:r>
            <a:endParaRPr lang="en-US" sz="1250" dirty="0"/>
          </a:p>
        </p:txBody>
      </p:sp>
      <p:sp>
        <p:nvSpPr>
          <p:cNvPr id="52" name="Shape 50"/>
          <p:cNvSpPr/>
          <p:nvPr/>
        </p:nvSpPr>
        <p:spPr>
          <a:xfrm>
            <a:off x="841248" y="5591175"/>
            <a:ext cx="274320" cy="274320"/>
          </a:xfrm>
          <a:prstGeom prst="roundRect">
            <a:avLst>
              <a:gd name="adj" fmla="val 26667"/>
            </a:avLst>
          </a:prstGeom>
          <a:solidFill>
            <a:srgbClr val="EAF7DC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841248" y="559117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50" dirty="0"/>
          </a:p>
        </p:txBody>
      </p:sp>
      <p:sp>
        <p:nvSpPr>
          <p:cNvPr id="54" name="Text 52"/>
          <p:cNvSpPr txBox="1"/>
          <p:nvPr/>
        </p:nvSpPr>
        <p:spPr>
          <a:xfrm>
            <a:off x="1225296" y="5572887"/>
            <a:ext cx="4559656" cy="462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Levhalar arasında E her noktada aynıdır; F = qE değişmez.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640080" y="6382512"/>
            <a:ext cx="128016" cy="128016"/>
          </a:xfrm>
          <a:prstGeom prst="roundRect">
            <a:avLst>
              <a:gd name="adj" fmla="val 28571"/>
            </a:avLst>
          </a:prstGeom>
          <a:solidFill>
            <a:srgbClr val="A9E648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859536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dersler.perinet.org/elektriksel-kuvvet.html</a:t>
            </a:r>
            <a:endParaRPr lang="en-US" sz="1050" dirty="0"/>
          </a:p>
        </p:txBody>
      </p:sp>
      <p:sp>
        <p:nvSpPr>
          <p:cNvPr id="57" name="Text 55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spc="100" kern="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E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" y="1143000"/>
            <a:ext cx="54864" cy="548640"/>
          </a:xfrm>
          <a:prstGeom prst="rect">
            <a:avLst/>
          </a:prstGeom>
          <a:solidFill>
            <a:srgbClr val="C6F36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97280" y="10058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spc="-1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Özetle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2057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D97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AKLINDA KALSIN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5059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6F3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45059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3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1/r² ile</a:t>
            </a:r>
            <a:pPr indent="0" marL="0">
              <a:buNone/>
            </a:pPr>
            <a:r>
              <a:rPr lang="en-US" sz="1500" dirty="0">
                <a:solidFill>
                  <a:srgbClr val="C3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azalır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23697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6F3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3236976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3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Alan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= F/q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40233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6F3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40233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3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Çizgiler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+'dan −'ye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480974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6F3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480974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3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Düzgün alanda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parabol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2057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D97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TEMEL BAĞINTILAR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46520" y="2395728"/>
            <a:ext cx="5105095" cy="694944"/>
          </a:xfrm>
          <a:prstGeom prst="roundRect">
            <a:avLst>
              <a:gd name="adj" fmla="val 13158"/>
            </a:avLst>
          </a:prstGeom>
          <a:solidFill>
            <a:srgbClr val="1C2542"/>
          </a:solidFill>
          <a:ln w="9525">
            <a:solidFill>
              <a:srgbClr val="2C386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647688" y="2395728"/>
            <a:ext cx="195681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6F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= k·q₁·q₂ / r²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8677656" y="2395728"/>
            <a:ext cx="269107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Coulomb yasası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46520" y="3218688"/>
            <a:ext cx="5105095" cy="694944"/>
          </a:xfrm>
          <a:prstGeom prst="roundRect">
            <a:avLst>
              <a:gd name="adj" fmla="val 13158"/>
            </a:avLst>
          </a:prstGeom>
          <a:solidFill>
            <a:srgbClr val="1C2542"/>
          </a:solidFill>
          <a:ln w="9525">
            <a:solidFill>
              <a:srgbClr val="2C386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647688" y="3218688"/>
            <a:ext cx="23774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6F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 = F / q = k·q / r²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9098280" y="3218688"/>
            <a:ext cx="227045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elektriksel alan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46520" y="4041648"/>
            <a:ext cx="5105095" cy="694944"/>
          </a:xfrm>
          <a:prstGeom prst="roundRect">
            <a:avLst>
              <a:gd name="adj" fmla="val 13158"/>
            </a:avLst>
          </a:prstGeom>
          <a:solidFill>
            <a:srgbClr val="1C2542"/>
          </a:solidFill>
          <a:ln w="9525">
            <a:solidFill>
              <a:srgbClr val="2C386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647688" y="4041648"/>
            <a:ext cx="14630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6F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 = V / d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8183880" y="4041648"/>
            <a:ext cx="318485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paralel levhalar arası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46520" y="4864608"/>
            <a:ext cx="5105095" cy="694944"/>
          </a:xfrm>
          <a:prstGeom prst="roundRect">
            <a:avLst>
              <a:gd name="adj" fmla="val 13158"/>
            </a:avLst>
          </a:prstGeom>
          <a:solidFill>
            <a:srgbClr val="1C2542"/>
          </a:solidFill>
          <a:ln w="9525">
            <a:solidFill>
              <a:srgbClr val="2C386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647688" y="4864608"/>
            <a:ext cx="20619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6F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 = 9·10⁹ N·m²/C²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8782812" y="4864608"/>
            <a:ext cx="2585923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Coulomb sabiti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68680" y="5806440"/>
            <a:ext cx="10058400" cy="566928"/>
          </a:xfrm>
          <a:prstGeom prst="roundRect">
            <a:avLst>
              <a:gd name="adj" fmla="val 16129"/>
            </a:avLst>
          </a:prstGeom>
          <a:solidFill>
            <a:srgbClr val="1C2542"/>
          </a:solidFill>
          <a:ln w="9525">
            <a:solidFill>
              <a:srgbClr val="2C386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188720" y="5806440"/>
            <a:ext cx="9418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Etkileşimli deneyler, canlı grafikler ve hızlı test:  </a:t>
            </a:r>
            <a:pPr indent="0" marL="0">
              <a:buNone/>
            </a:pPr>
            <a:r>
              <a:rPr lang="en-US" sz="1300" b="1" dirty="0">
                <a:solidFill>
                  <a:srgbClr val="C6F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dersler.perinet.org/elektriksel-kuvvet.html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852160" y="1078992"/>
            <a:ext cx="5699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8D97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SIRADAKİ KONU  </a:t>
            </a:r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Manyetik alan ve manyetik kuvvet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dersler.perinet.org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Elektriksel kuvvet ve elektriksel alan — Dersler</dc:title>
  <dc:subject>Fizik · Elektrik ve Manyetizma</dc:subject>
  <dc:creator>Dersler</dc:creator>
  <cp:lastModifiedBy>Dersler</cp:lastModifiedBy>
  <cp:revision>1</cp:revision>
  <dcterms:created xsi:type="dcterms:W3CDTF">2026-09-20T18:42:25Z</dcterms:created>
  <dcterms:modified xsi:type="dcterms:W3CDTF">2026-09-20T18:42:25Z</dcterms:modified>
</cp:coreProperties>
</file>