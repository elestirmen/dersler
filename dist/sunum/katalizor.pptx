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Lst>
  <p:notesMasterIdLst>
    <p:notesMasterId r:id="rId1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notesMaster" Target="notesMasters/notesMaster1.xml"/><Relationship Id="rId149" Type="http://schemas.openxmlformats.org/officeDocument/2006/relationships/presProps" Target="presProps.xml"/><Relationship Id="rId150" Type="http://schemas.openxmlformats.org/officeDocument/2006/relationships/viewProps" Target="viewProps.xml"/><Relationship Id="rId151" Type="http://schemas.openxmlformats.org/officeDocument/2006/relationships/theme" Target="theme/theme1.xml"/><Relationship Id="rId1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Eczaneden aldığın oksijenli su dolapta aylarca bozulmadan durur; aynı sıvıyı bir dilim çiğ patatesin üstüne dökünce neden saniyeler içinde köpürür? Kalın bir kütük saatlerce için için yanarken aynı odunun talaşı neden bir anda parlar? Arabaların egzozundaki bal peteği gibi seramikte ne olur? Katalizör, dağın tepesinden aşan eski yolun yanına alçak bir geçitten yeni bir yol açan yol yapıcıya benzer: varılan köy aynıdır, yalnızca tırmanış kısalır. Temas yüzeyi ise stadyumun kapı sayısı gibidir: kalabalık aynı kalır, kapı çoğaldıkça içeri giriş hızlanır. Anlatım dört basamakta ilerliyor: önce köpüren peroksit, patates ve talaşla katalizörü, temas yüzeyini ve enzimleri tanıyacağız; sonra katalizörün enerji grafiğinde ve enerji dağılımında neyi değiştirdiğini görüp yüzeyi hesaplayacağız; ardından homojen ve heterojen katalizörlere, inhibitörlere ve katalizörün değiştiremediklerine geçeceğiz. En sonda kolaydan zora örneklerle hepsini birlikte kullanacağız.
Kapak görseli: Fil diş macunu. Derişik hidrojen peroksite biraz bulaşık deterjanı ve bir tutam katalizör (potasyum iyodür ya da maya) eklenince peroksit saniyeler içinde su ve oksijen gazına ayrışır. Oksijen deterjanlı sıvıyı köpüğe çevirir; köpük silindirden taşıp tepsiye akar. Köpükten yükselen buhar tepkimenin ısı verdiğini gösterir. Aynı peroksit katalizörsüz kalsaydı bu kadar oksijeni ancak aylar içinde verirdi.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Eczaneden aldığın oksijenli su dolapta aylarca bozulmadan durur; aynı sıvıyı bir dilim çiğ patatesin üstüne dökünce neden saniyeler içinde köpürür? Kalın bir kütük saatlerce için için yanarken aynı odunun talaşı neden bir anda parlar? Arabaların egzozundaki bal peteği gibi seramikte ne olur? Katalizör, dağın tepesinden aşan eski yolun yanına alçak bir geçitten yeni bir yol açan yol yapıcıya benzer: varılan köy aynıdır, yalnızca tırmanış kısalır. Temas yüzeyi ise stadyumun kapı sayısı gibidir: kalabalık aynı kalır, kapı çoğaldıkça içeri giriş hızlanır. Anlatım dört basamakta ilerliyor: önce köpüren peroksit, patates ve talaşla katalizörü, temas yüzeyini ve enzimleri tanıyacağız; sonra katalizörün enerji grafiğinde ve enerji dağılımında neyi değiştirdiğini görüp yüzeyi hesaplayacağız; ardından homojen ve heterojen katalizörlere, inhibitörlere ve katalizörün değiştiremediklerine geçeceğiz. En sonda kolaydan zora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köpüren peroksitte, patateste ve talaşta tepkimeyi hızlandıran iki yolu gözle; katalizörün, temas yüzeyinin ve enzimlerin ne olduğunu formülsüz kavra.
   01 Önce gözlemle: köpüren peroksit
   02 Katalizör nedir?
   03 Temas yüzeyi: parçaladıkça hızlanır
   04 Enzimler: canlıların katalizörleri
2. Orta — Bağıntılar: katalizörün enerji grafiğinde ve enerji dağılımında neyi değiştirdiğini gör, Ea ile ΔH arasındaki bağı kullan, temas yüzeyini küplerle hesapla.
   05 Katalizör enerji yolunu nasıl değiştirir?
   06 Enerji dağılımında katalizör
   07 Temas yüzeyini hesaplamak
   08 Sayılarla hisset
3. İleri — Derinleşme: katalizörün hâline göre türleri, tepkimeyi yavaşlatan maddeler, katalizörün hiç değiştiremedikleri ve fabrikadan egzoza katalizörler.
   09 Homojen ve heterojen katalizör
   10 İnhibitörler: tepkimeyi yavaşlatanlar
   11 Katalizör neyi değiştirmez?
   12 Katalizör ve yüzey gerçek dünyada
4. Pekiştir — Kolaydan zora çözümlü örnekler ve katalizör, temas yüzeyi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Tepkime hızı: birim zamanda harcanan ya da oluşan madde miktarı. Aynı miktar ürün daha kısa sürede oluşuyorsa tepkime daha hızlıdır.
• Etkin çarpışma: ürün veren çarpışma. Tanecikler yeterli enerjiyle ve uygun yönelimle çarpışmalıdır; çarpışmaların çoğu etkisiz geçer.
• Aktifleşme enerjisi (Ea): girenlerin ürüne dönüşmek için aşması gereken enerji tepesi. Tepe ne kadar yüksekse tepkime o kadar yavaştır.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Tepkime entalpisi (ΔH): ürünlerle girenlerin enerji farkı. Isı veren (ekzotermik) tepkimede ΔH negatif, ısı alan (endotermik) tepkimede pozitiftir.
• Mol ve gaz hacmi: kütle n = m / M ile mole çevrilir. Normal koşullarda (0 °C, 1 atm) 1 mol gaz 22,4 L yer kaplar.
• Yüzey alanı: küpün altı kare yüzü vardır, her yüz kenar × kenar kadardır. Kenarı 2 cm olan küpün yüzeyi 6 · 2 · 2 = 24 cm²'dir.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köpüren peroksitte, patateste ve talaşta tepkimeyi hızlandıran iki yolu gözle; katalizörün, temas yüzeyinin ve enzimlerin ne olduğunu formülsüz kavra.
01 Önce gözlemle: köpüren peroksit
02 Katalizör nedir?
03 Temas yüzeyi: parçaladıkça hızlanır
04 Enzimler: canlıların katalizörleri
Görsel: Peroksitle köpüren patates. Çiğ patatesin hücrelerinde katalaz adlı bir enzim vardır. Dilimlerin kesik yüzüne değen hidrojen peroksit bu enzim sayesinde saniyeler içinde su ve oksijene ayrışır; kabarcıklar bu oksijendir. Köpük en çok kenarlarda ve kesik yüzlerde toplanır, çünkü peroksit enzimle en kolay orada buluşur. Köpürme bitince dilimler yerinde durur: enzim harcanmaz, yalnızca işini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adım 1/6
• Eczanelerde satılan oksijenli su, suda çözünmüş yaklaşık %3'lük hidrojen peroksittir (H₂O₂).
• Kendi kendine yavaş yavaş su ve oksijen gazına ayrışır; ama bu o kadar yavaştır ki şişe dolapta aylarca bozulmadan durur.
• Aşağıdaki gözlemlerin hepsinde bir olay (peroksitin ayrışması, yanma ya da çözünme), içine bir şey katılınca ya da madde ufalanınca birden hızlanıyor: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adım 2/6
• Yaraya dökülen oksijenli su köpürür: kanın ve yaralı dokunun içindeki bir madde peroksiti hızla ayrıştırır; sağlam cilde dökülünce neredeyse hiç köpürmez.
• Çiğ patates köpürtür: dilimin kesik yüzünde saniyeler içinde ince bir köpük oluşur; patatesi rendelersen köpürme daha da artar.
• Bir tutam toz yeter: peroksite azıcık mangan dioksit (MnO₂) tozu atınca sıvı fokurdar; köpürme bitince toz kabın dibinde aynen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adım 3/6
• Talaş kütükten hızlı yanar: kalın bir kütüğü tutuşturmak zordur; aynı odunun talaşı ya da çırası kibritle hemen alev alır.
• Toz şeker çabuk çözünür: sıcak çaya atılan toz şeker, aynı kütledeki küp şekerden önce çözünür.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adım 4/6
• Bu gözlemlerde iki ayrı hızlandırıcı var.
• İlk üçünde tepkimeye bir yardımcı madde katılıyor: patatesteki bir protein, kandaki aynı türden bir madde ya da mangan dioksit.
• Bu yardımcı tepkimeyi hızlandırıyor ama tükenmiyor; adına katalizör denir.
• Son ikisinde ise yeni bir madde eklenmiyor; katı ufalanıyor ve çevresindeki hava ya da sıvıyla değdiği yüzey büyüyor.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adım 5/6
• Buna temas yüzeyi diyeceğiz.
• Rendelenmiş patates ikisini birleştirir: katalizör aynıdır, ama yüzey büyüdüğü için köpürme artar.
• Sayfanın 02 numaralı bölümünde bunu farklı katalizörlerle dene.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köpüren peroksit — şekil
Üç kapta aynı peroksit var. Yalnız peroksitte birkaç kabarcık görünür, ayrışma çok yavaştır. Patates dilimi eklenince kabarcıklar çoğalır: patatesteki katalaz katalizördür. Rendelenmiş patateste aynı enzim çok daha geniş bir yüzeyle peroksite açılır; köpük kabın ağzına kadar çıkar. Yeşil halkalar oksijen kabarcıklarıdır.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Hidrojen peroksit kendi başına çok yavaş ayrışır; patates, kan ya da biraz MnO₂ ile saniyeler içinde köpürür. Tepkimeyi hızlandırmanın iki yolu var: tükenmeyen bir yardımcı madde, yani katalizör eklemek ya da katıyı ufalayıp temas yüzeyini büyütmek.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Yaraya dökülen oksijenli su köpürürken sağlam cilde dökülen neden köpürmez?
Sınıfa sorun, birkaç tahmin alın; sonra cevap slaytına geçin.
Cevap: Köpürmeyi sağlayan katalaz enzimi hücrelerin içinde, özellikle kandaki alyuvarlarda bol bulunur. Yarada kan ve parçalanmış hücreler peroksitle doğrudan buluşur, katalaz peroksiti hızla su ve oksijene ayırır. Sağlam derinin en dış katmanı ölü, sert hücrelerden oluşur; peroksit enzime ulaşamaz ve ayrışma yine çok yavaş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Köpürmeyi sağlayan katalaz enzimi hücrelerin içinde, özellikle kandaki alyuvarlarda bol bulunur. Yarada kan ve parçalanmış hücreler peroksitle doğrudan buluşur, katalaz peroksiti hızla su ve oksijene ayırır. Sağlam derinin en dış katmanı ölü, sert hücrelerden oluşur; peroksit enzime ulaşamaz ve ayrışma yine çok yavaş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nedir? — adım 1/4
• Katalizör, bir tepkimeyi hızlandıran, tepkime bittiğinde ise kimyasal olarak değişmeden ve aynı miktarda geri kazanılan maddedir.
• Peroksite atılan mangan dioksit tozu iyi bir örnektir: köpürme bitince sıvı süzülür, toz kurutulup tartılır ve kütlesinin değişmediği görülür.
• Aynı toz yeni bir peroksite atılınca onu da yeniden köpürtür.
• Tepkimeyi hızlandıran katalizöre pozitif katalizör de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nedir? — adım 2/4
• Katalizör tepkimenin dışında durup seyretmez: girenlerle geçici olarak birleşir, onları yeni bir yoldan ürüne götürür ve sonunda yeniden serbest kalır.
• Sudaki iyodür iyonu (I⁻) bir peroksitten bir oksijen atomu alır, bu atomu ikinci bir peroksite verip geri çıkar.
• Bir adımda oluşup sonraki adımda harcanan türe ara ürün denir.
• Katalizör başta harcanıp sonda geri oluştuğu için net denklemde yer almaz; istenirse okun üstüne yazılır:
2H₂O₂(suda) —I⁻→ 2H₂O(s) + O₂(g)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nedir? — şekil
İyodür iyonu (mor halka) birinci adımda harcanır: peroksitten bir O atomu alıp IO⁻ olur. İkinci adımda geri oluşur: IO⁻ bu atomu ikinci bir peroksite verir, O₂ ve su çıkar. İki adımı toplayınca I⁻ ve IO⁻ iki taraftan sadeleşir; geriye 2H₂O₂ → 2H₂O + O₂ kalır. Katalizör tepkimeye katılır, ama net denklemde görünmez.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nedir? — adım 4/4
• Harcanmaz: sonunda aynı miktarda geri kazanılır; bu yüzden çok az bir katalizör, kendisinden çok daha büyük bir madde yığınını dönüştürebilir.
• Ürünü değiştirmez: katalizörlü ya da katalizörsüz, aynı girenlerden aynı ürünler aynı miktarda oluşur.
• Seçicidir: her katalizör her tepkimeyi hızlandırmaz. Katalaz peroksiti ayrıştırır ama nişastaya dokunmaz; nişastayı tükürükteki başka bir enzim parçalar.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Katalizör tepkimeyi hızlandıran, tepkimeye katılıp sonunda değişmeden geri çıkan maddedir. Net denklemde yer almaz, okun üstüne yazılır; ürünün türünü ve miktarını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Katalizör harcanmıyorsa, neden bazen bir tutam yerine daha fazlası eklenir?
Sınıfa sorun, birkaç tahmin alın; sonra cevap slaytına geçin.
Cevap: Katalizör tükenmez, ama her an yalnızca belirli sayıda tanecikle iş görebilir. Katı bir katalizörde iş yüzeyde döner; daha çok katalizör daha geniş yüzey, yani aynı anda çalışan daha çok nokta demektir. Bu yüzden katalizör miktarını artırmak hızı artırabilir. Oluşacak ürünün miktarını ise hiçbir zaman artırmaz; o, girenlerin miktarına bağlıdır.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Katalizör tükenmez, ama her an yalnızca belirli sayıda tanecikle iş görebilir. Katı bir katalizörde iş yüzeyde döner; daha çok katalizör daha geniş yüzey, yani aynı anda çalışan daha çok nokta demektir. Bu yüzden katalizör miktarını artırmak hızı artırabilir. Oluşacak ürünün miktarını ise hiçbir zaman artırmaz; o, girenlerin miktarına bağlıdır.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 parçaladıkça hızlanır — adım 1/5
• Bir katı, çevresindeki sıvı ya da gazla yalnızca yüzeyinden tepkimeye girebilir.
• Mermer parçasını asite attığında asidin tanecikleri yalnızca dışarıdaki mermer taneciklerine çarpabilir; içerideki tanecikler, üstlerindeki katmanlar tükenene kadar sıralarını bekler.
• Katının öteki maddeye değdiği bu alana temas yüzeyi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 parçaladıkça hızlanır — adım 2/5
• Katıyı parçalayınca içerideki tanecikler de dışarı çıkar: madde aynı, kütle aynı, ama yüzeyde duran tanecik sayısı artar.
• Birim zamandaki çarpışma sayısı arttığı için tepkime hızlanır.
• Toz, aynı kütledeki parçadan; talaş, aynı odunun kütüğünden hızlı tepkir.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 parçaladıkça hızlanır — şekil
Tanecikleri bir kesitte düşün. Tek parçada 36 taneciğin yalnızca dış sıradaki 20'si asitle çarpışabilir; içteki 16'sı bekler. Aynı 36 tanecik dokuz küçük parçaya ayrılınca hepsi yüzeye çıkar. Madde aynıdır, ama aynı anda çarpışabilen tanecik sayısı artar ve tepkime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 parçaladıkça hızlanır — adım 4/5
• Katı + sıvı: mermer tozu asitte parçadan hızlı köpürür; çinko tozu asitte çinko levhadan hızlı hidrojen verir.
• Katı + gaz: ince talaş kütükten, kömür tozu kömür parçasından hızlı yanar.
• Sıvı + gaz: motorda yakıt ince damlacıklar hâlinde püskürtülür; damla küçüldükçe havayla teması büyür.
• Tek faz: gaz karışımında ya da tek bir çözeltinin içinde tanecikler zaten her yerde karışıktır; orada “temas yüzeyi” diye bir şey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 parçaladıkça hızlanır — şekil
Kütük ve talaş. Odun havadaki oksijenle yalnızca yüzeyinden yanar. Kalın kütükte oksijen molekülleri yalnızca dış kabuktaki odun taneciklerine çarpabilir; içerisi sırasını bekler ve kütük yavaşça kömürleşir. Aynı odunu talaşa çevirince her yonganın iki yüzü de havaya açılır: aynı kütlede çok daha fazla tanecik oksijenle temas eder, birim zamandaki çarpışma sayısı katlanır ve talaş gür bir alevle hızla yanıp 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Katı yalnızca yüzeyindeki taneciklerle çarpışabilir. Parçalandıkça yüzeyde duran tanecik sayısı, dolayısıyla çarpışma sayısı ve hız artar; madde miktarı aynı kaldığı için ürün miktarı değişmez.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kütlede küp şeker ve toz şeker iki bardak sıcak çaya atılıyor. Hangisi önce çözünür, hangi çay daha tatlı olur?
Sınıfa sorun, birkaç tahmin alın; sonra cevap slaytına geçin.
Cevap: Toz şeker önce çözünür, çünkü suyla değen yüzeyi çok daha büyüktür. Ama ikisi de tamamen çözündükten sonra iki çay aynı tatlılıktadır: şekerin miktarı aynıdır. Yüzey olayın hızını değiştirir, sonucunu değiştirmez. Çözünme kimyasal değil fiziksel bir olaydır, ama yüzeyin etkisi tepkimelerdeki ile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Toz şeker önce çözünür, çünkü suyla değen yüzeyi çok daha büyüktür. Ama ikisi de tamamen çözündükten sonra iki çay aynı tatlılıktadır: şekerin miktarı aynıdır. Yüzey olayın hızını değiştirir, sonucunu değiştirmez. Çözünme kimyasal değil fiziksel bir olaydır, ama yüzeyin etkisi tepkimelerdeki ile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Enzimler: canlıların katalizörleri — adım 1/5
• Vücudundaki tepkimeler 37 °C gibi ılık bir sıcaklıkta, suyun içinde yürür.
• Bu koşullarda yardımsız kalsalar çoğu yıllar sürerdi; oysa saniyeler içinde biterler.
• Bunu sağlayan, hücrelerin ürettiği enzimlerdir.
• Enzimler çoğunlukla büyük protein molekülleridir ve canlıların katalizörleridir: tepkimeyi hızlandırır, sonunda değişmeden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Enzimler: canlıların katalizörleri — adım 2/5
• Bir enzimin yüzeyinde yalnızca belirli bir molekülün oturabileceği bir cep bulunur; buna aktif bölge denir.
• Giren molekül bu cebe, anahtarın kilide girmesi gibi oturur; cebin içinde bağları zayıflar ve ürünlere ayrılır.
• Ürünler cepten çıkınca enzim aynı biçimiyle yeni bir molekülü bekler.
• Bu yüzden enzimler çok seçicidir: her enzim yalnızca bir ya da birkaç benzer tepkimeyi hızlandırır.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Enzimler: canlıların katalizörleri — şekil
Anahtar–kilit modeli. Giren molekül (mavi) enzimin cebine tam oturur; cebin içinde bağları zayıflar ve iki ürüne (yeşil) ayrılır. Ürünler ayrılınca cep boşalır ve enzim ilk biçimiyle yeni bir molekülü bekler. Cebe uymayan bir molekül oturamaz; enzimin seçiciliği buradan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Enzimler: canlıların katalizörleri — adım 4/5
• Katalaz: karaciğerde, kanda ve patateste bulunur; hücrede oluşan zararlı hidrojen peroksiti su ve oksijene ayırır.
• Amilaz: tükürükte bulunur, nişastayı şekere parçalar. Ekmeği uzun süre çiğneyince ağzında tatlanması bundandır.
• Pepsin: midenin asitli ortamında proteinleri küçük parçalara böler.
• Maya enzimleri: hamurdaki şekeri etanole ve karbon dioksite çevirir; hamur bu gazla kabarır.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Enzimler: canlıların katalizörleri — adım 5/5
• Enzimin cebi, proteinin katlanmış biçimine bağlıdır.
• Çok ısıtılınca (çoğu enzim için 50–60 °C'den sonra) bu biçim bozulur ve enzim işe yaramaz hâle gelir.
• Her enzimin çalıştığı bir pH aralığı da vardır (pepsin asitte, amilaz nötre yakın ortamda); bu aralığın dışında da biçimi bozulur.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Enzimler canlı hücrelerin ürettiği, çoğu protein yapılı katalizörlerdir. Aktif bölgelerine yalnızca uygun molekül oturur; çok yüksek sıcaklıkta ve uygun olmayan pH'ta biçimleri bozulur, işe yaramaz olurlar.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Haşlanmış patates dilimine hidrojen peroksit dökülürse neden köpürmez?
Sınıfa sorun, birkaç tahmin alın; sonra cevap slaytına geçin.
Cevap: Kaynatma, katalazın protein yapısını kalıcı olarak bozar; aktif bölge artık peroksiti tutamaz. Isı çoğu tepkimeyi hızlandırır ama enzimin kendisini de bozabilir. Haşlanmış patatesteki peroksit bu yüzden yine çok yavaş, katalizörsüz yoldan ayrışır.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Kaynatma, katalazın protein yapısını kalıcı olarak bozar; aktif bölge artık peroksiti tutamaz. Isı çoğu tepkimeyi hızlandırır ama enzimin kendisini de bozabilir. Haşlanmış patatesteki peroksit bu yüzden yine çok yavaş, katalizörsüz yoldan ayrışır.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katalizörün enerji grafiğinde ve enerji dağılımında neyi değiştirdiğini gör, Ea ile ΔH arasındaki bağı kullan, temas yüzeyini küplerle hesapla.
05 Katalizör enerji yolunu nasıl değiştirir?
06 Enerji dağılımında katalizör
07 Temas yüzeyini hesaplamak
08 Sayılarla hisset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adım 1/6
• Enerji tepesinin girenlerden yüksekliği ileri aktifleşme (aktivasyon) enerjisi, Ea(ileri); ürünlerden yüksekliği geri aktifleşme enerjisi, Ea(geri)'dir.
• Katalizör girenleri de ürünleri de değiştirmez; aynı iki seviye arasında daha alçak bir tepeden geçen yeni bir yol açar: tepkimenin izlediği yolu, yani mekanizmasını değiştirir.
• Katalizörlü yolun değerlerini Ea′ ile göstereceğiz.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adım 2/6
Ea′(ileri) = Ea(ileri) − x   Ea′(geri) = Ea(geri) − x   ΔH = Ea(ileri) − Ea(geri)   ΔH = Ea′(ileri) − Ea′(geri)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adım 3/6
Formüldeki harfler ne anlama geliyor?
Sembol | Anlamı | Birimi
Ea(ileri) | katalizörsüz yolda girenlerden tepeye çıkış | kJ
Ea(geri) | katalizörsüz yolda ürünlerden tepeye çıkış | kJ
Ea′(ileri), Ea′(geri) | aynı çıkışlar, katalizörlü yolda | kJ
x | katalizörün tepeyi alçalttığı miktar | kJ
ΔH | ürünlerin enerjisi eksi girenlerin enerjisi |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adım 4/6
İki Ea neden aynı miktar azalır?
• Seviyeler yerinde: katalizör girenlerin ve ürünlerin kendisini değiştirmez; iki seviyenin enerjisi aynı kalır.
• Tepe alçalır: katalizörlü yolun tepesi, katalizörsüz tepeden x kadar aşağıdadır.
• İleri: Ea(ileri) = tepe − girenler. Tepe x kadar inince Ea(ileri) de x kadar azalır.
• Geri: Ea(geri) = tepe − ürünler. Aynı tepe, aynı x: Ea(geri) de x kadar azalır.
• ΔH: ürünler − girenler farkında tepe hiç yer almaz; ΔH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şekil
İki yol aynı girenlerden başlar, aynı ürünlerde biter. Katalizörlü yolun (mor kesik) tepesi 50 kJ alçaktır; bu yüzden soldaki ileri oklar 120'den 70'e, sağdaki geri oklar 180'den 130'a, yani ikisi de 50 kJ kısalır. Girenlerden ürünlere inen ΔH oku tepeye hiç uğramaz: iki yolda da −60 kJ'dir.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enerji yolunu nasıl değiştirir? — adım 6/6
• Grafiğin sayılarıyla dene: katalizörsüz yolda ΔH = 120 − 180 = −60 kJ, katalizörlü yolda ΔH = 70 − 130 = −60 kJ; yine aynı.
• Hepsi kJ olduğu için farklar da kJ'dir.
• Gerçekte katalizörlü yol çoğu zaman iki ya da daha çok küçük tepeden oluşur, çünkü katalizör önce bir ara ürün oluşturur; lisede bu yolu tek ve alçak bir tepeyle çizeriz.
• Önemli olan, yolun en yüksek tepesinin alçalmasıdır.
• Sayfanın 01 numaralı laboratuvarında tepeyi kendin alçaltabilirsin.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Katalizör girenleri ve ürünleri yerinde bırakır, yalnızca enerji tepesini alçaltır. Bu yüzden Ea(ileri) ve Ea(geri) aynı miktar azalır; ΔH = Ea(ileri) − Ea(geri) değişmez.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Katalizör ileri tepkimeyi hızlandırırken geri tepkimeyi yavaşlatır mı?
Sınıfa sorun, birkaç tahmin alın; sonra cevap slaytına geçin.
Cevap: Hayır. İleri ve geri tepkime aynı tepeden geçer; tepe alçalınca ikisinin de aktifleşme enerjisi aynı miktar azalır ve ikisi de hızlanır. Bu yüzden katalizör, iki yönde de yürüyebilen tepkimelerde sonuca daha çabuk varılmasını sağlar, ama varılan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İleri ve geri tepkime aynı tepeden geçer; tepe alçalınca ikisinin de aktifleşme enerjisi aynı miktar azalır ve ikisi de hızlanır. Bu yüzden katalizör, iki yönde de yürüyebilen tepkimelerde sonuca daha çabuk varılmasını sağlar, ama varılan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adım 1/6
• Taneciklerin hepsi aynı hızla hareket etmez: bazıları yavaş, çoğu orta hızda, birkaçı çok hızlıdır.
• Tanecik sayısı–kinetik enerji grafiği bu dağılımı gösterir.
• Etkin çarpışma için çarpışan taneciklerin kinetik enerjileri toplamı eşik enerjisini aşmalıdır; eşik enerjisi sayıca Ea'ya eşittir.
• Grafikte eşik dikey bir çizgidir; sağındaki alan, tepkimeye girebilecek kadar enerjili taneciklerin sayısıdır.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adım 2/6
• Katalizör eklemek taneciklere enerji vermez; sıcaklık değişmediği için eğri olduğu gibi kalır.
• Değişen, eşiğin yeridir: Ea düştüğü için eşik çizgisi sola kayar.
• Daha önce yetmeyen orta enerjili tanecikler de artık eşiği aşar; etkin çarpışma sayısı ve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şekil
Sıcaklık aynı olduğu için tek eğri var. Katalizörsüz eşik Ea'nın sağındaki kırmızı alan, katalizör yokken de tepkimeye girebilen taneciklerdir. Katalizörlü eşik Ea′ sola kayınca iki çizgi arasındaki mor alan da eklenir: katalizörlü eşiği aşan taneciklerin tamamı mor ve kırmızı alanın toplamıdır. Bu çizimin ölçeğinde eşiği aşanların payı yaklaşık %9'dan %31'e çıkıyor.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adım 4/6
• Dağılımın sağ kuyruğu çok hızlı incelir; bu yüzden eşikteki küçük bir kayma bile eşiği aşan tanecik sayısını kat kat artırır.
• Gerçek tepkimelerde artış, sonraki bölümde göreceğin gibi, binlerce kat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adım 5/6
Sıcaklıktan farkı
Ne olur? | Sıcaklığı artırmak | Katalizör eklemek
Dağılım eğrisi | sağa yayılır, basıklaşır | değişmez
Ortalama kinetik enerji | artar | değişmez
Eşik enerjisi (Ea) | değişmez | azalır, sola kayar
Eşiği aşan tanecik sayısı | artar | artar
ΔH | biraz değişir (sınavlarda: değişir) |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dağılımında katalizör — adım 6/6
• ΔH sıcaklıkla çok az değişir; hızdaki büyük artışı bu küçük değişim açıklamaz.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Katalizör eklenince sıcaklık ve dağılım eğrisi değişmez, eşik enerjisi sola kayar ve eşiği aşan tanecik sayısı artar. Sıcaklık artışında ise tersine eşik yerinde kalır, eğri sağa yayılır.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öğrenci “Katalizör taneciklere enerji verdiği için tepkime hızlanır” diyor. Doğru mu?
Sınıfa sorun, birkaç tahmin alın; sonra cevap slaytına geçin.
Cevap: Hayır. Taneciklerin enerjisini sıcaklık belirler; katalizör eklenince sıcaklık da dağılım eğrisi de değişmez. Katalizör, taneciklerin aşması gereken engeli alçaltır. Aynı enerjiyle daha çok tanecik bu alçak engeli aşabildiği için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Taneciklerin enerjisini sıcaklık belirler; katalizör eklenince sıcaklık da dağılım eğrisi de değişmez. Katalizör, taneciklerin aşması gereken engeli alçaltır. Aynı enerjiyle daha çok tanecik bu alçak engeli aşabildiği için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adım 1/7
• Yüzeyin ne kadar büyüdüğünü küplerle hesaplayabilirsin.
• Kenarı L olan küpün altı kare yüzü vardır, yüzeyi 6 · L²'dir.
• Şimdi her kenarı k eşit parçaya böldüğünü düşün:
A₁ = 6 · L²   parça sayısı = k³   A(toplam) = 6 · L² · k = k · A₁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adım 2/7
Bu formüllerdeki harfler
Sembol | Anlamı | Birimi
L | büyük küpün kenar uzunluğu | cm
k | her kenarın bölündüğü eşit parça sayısı (sonraki konudaki hız sabiti k ile karıştırma) | —
k³ | oluşan küçük küp sayısı | —
A₁ | büyük küpün yüzey alanı | cm²
A(toplam) | küçük küplerin toplam yüzey alanı | cm²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adım 3/7
Bağıntı nereden geliyor?
• Parça sayısı: her kenar k parçaya bölününce boyda k, enine k, derinlikte k küp olur: k · k · k = k³ küp.
• Bir parçanın yüzeyi: küçük küpün kenarı L/k'dir; yüzeyi 6 · (L/k)² = 6 · L²/k².
• Toplam: k³ · 6 · L²/k² = 6 · L² · k. Yüzey tam k katına çıkar.
• Madde aynı: toplam hacim k³ · (L/k)³ = L³; kütle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adım 4/7
k | Parça sayısı | Parça kenarı | Toplam yüzey
1 | 1 | 2 cm | 24 cm²
2 | 8 | 1 cm | 48 cm²
3 | 27 | ≈ 0,67 cm | 72 cm²
5 | 125 | 0,4 cm | 120 cm²
10 | 1000 | 0,2 cm | 240 cm²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şekil
Kenarı 2 cm olan küp her kenarından k parçaya bölünüyor. Parça sayısı küp gibi büyür (1, 8, 27), toplam yüzey ise yalnızca k gibi: 24, 48, 72 cm². Yeni yüzeyler, kesim yerlerinde açılan iç yüzlerdir; toplam hacim ve kütle hep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adım 6/7
• Hız yüzeyle orantılıysa, k = 3'te tepkimenin başlangıç hızı yaklaşık 3 katına çıkar.
• Ama tepkimeye giren mermerin kütlesi değişmediği için açığa çıkan CO₂ aynıdır: toz yalnızca bu miktara daha çabuk ulaşır.
• Lisede temas yüzeyinin büyümesi, bir sonraki konuda tanıyacağın hız sabitinin büyümesi olarak kabul edilir.
• Sayfanın 03 numaralı bölümünde küpü kendin bölebilirsin.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yüzeyini hesaplamak — şekil
Açık bir kapta 5,0 g mermer (CaCO₃) asit fazlasıyla tepkimeye giriyor: CaCO₃(k) + 2HCl(suda) → CaCl₂(suda) + H₂O(s) + CO₂(g). Kaçan CO₂ kabın kütlesini azaltır. Toz eğrisi başta çok daha diktir, ama iki eğri de aynı yükseklikte, 2,2 g'da düzleşir: 0,050 mol CaCO₃'tan 0,050 mol, yani 2,2 g CO₂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Kenarı L olan küp her kenarından k parçaya bölünürse k³ küçük küp oluşur ve toplam yüzey k katına çıkar: A = 6 · L² · k. Kütle değişmediği için ürün miktarı aynıdır; yalnızca hız artar.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Kenarı 2 cm olan mermer küpü 8 parçaya böldün. Tepkime boyunca hız hep 2 kat mı kalır?
Sınıfa sorun, birkaç tahmin alın; sonra cevap slaytına geçin.
Cevap: Hayır, “2 kat” yalnızca başlangıç için iyi bir tahmindir. Tepkime ilerledikçe parçalar küçülür, yüzeyleri değişir; asit de harcandıkça seyrelir. İki deneyde de hız zamanla azalır. Değişmeyen şey, tepkime bittiğinde açığa çıkan CO₂ miktarıdır.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“2 kat” yalnızca başlangıç için iyi bir tahmindir. Tepkime ilerledikçe parçalar küçülür, yüzeyleri değişir; asit de harcandıkça seyrelir. İki deneyde de hız zamanla azalır. Değişmeyen şey, tepkime bittiğinde açığa çıkan CO₂ miktarıdır.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adım 1/6
• Katalizörün gücünü tanıdık sayılarla görelim.
• İlk tablo hidrojen peroksitin ayrışmasının farklı yollarını karşılaştırıyor.
• Son sütun, eşik enerjisini aşan tanecik sayısının katalizörsüz, 25 °C'deki duruma göre kaç katına çıktığını, sayfadaki enerji dağılımı modeliyle kabaca hesaplıyor.
• Karşılaştırma için sıcaklığı 10 °C artırmanın etkisi de yazıldı.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adım 2/6
Durum | Ea (kJ/mol, yaklaşık) | Eşiği aşan tanecik sayısı
Katalizörsüz, 25 °C | 75 | 1 (karşılaştırma)
Katalizörsüz, 35 °C | 75 | ≈ 2,6 katı
İyodür (KI) ile, 25 °C | 56 | ≈ 1900 katı
Katalaz ile, 25 °C | ≈ 23 (bazı ölçümlerde daha az) | yüz milyonlarca katı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şekil
Aynı tepkimenin üç yolu, gerçek değerlerle ölçekli çizildi (1 mol H₂O₂ için). Üçü de aynı girenlerden başlayıp aynı ürünlerde biter; yalnızca tepeler farklıdır: 75, 56 ve 23 kJ. Açığa çıkan ısı, yani ΔH, üç yolda da yaklaşık −98 kJ'dir; katalaz tepeyi o kadar alçaltır ki engel, açığa çıkan ısının dörtte birinden azdır.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adım 4/6
• Tablodan üç sonuç çıkar:
• Küçük düşüş, büyük etki: Ea'nın 75'ten 56'ya, yani yalnızca dörtte bir oranında düşmesi, eşiği aşan tanecik sayısını yaklaşık 1900 katına çıkarıyor.
• Isıtmak bu kadarını yapamaz: 10 °C ısıtmak hızı ancak 2–3 katına çıkarır. Aynı modelle, iyodürün sağladığı artışı yalnız ısıtarak elde etmek için peroksiti 125 °C dolayına çıkarmak gerekirdi.
• ΔH hep aynı: üç yolda da 1 mol H₂O₂ ayrışırken yaklaşık 98 kJ ısı açığa çıkar (oluşum entalpileri tablosundaki sıvı H₂O₂ değeriyle).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adım 5/6
• Temas yüzeyi de şaşırtıcı büyüklüklere ulaşır.
• İkinci tablo, bir zar büyüklüğündeki 1 cm³'lük bir küp şekerin ya da kömürün gittikçe küçülen küplere ayrılmasını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 adım 6/6
Parça kenarı | Parça sayısı | Toplam yüzey | Neye benzer?
1 cm | 1 | 6 cm² | bir zarın yüzeyi
1 mm | 1000 | 60 cm² | bir kibrit kutusunun dışı
0,1 mm (un tanesi) | 1 milyon | 600 cm² | bir A4 kâğıdının bir yüzü
0,01 mm | 1 milyar | 0,6 m² | bir okul sırasının üstü
0,001 mm | 10¹² | 6 m² | 2 m × 3 m'lik bir halı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Ea'daki küçük bir düşüş, eşiği aşan tanecik sayısını binlerce, enzimle yüz milyonlarca kat artırabilir; ısıtmak bunun yanında küçük kalır. Bir santimetreküplük katı toz hâline gelince yüzeyi metrekarelere ulaşır.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katalizörün hâline göre türleri, tepkimeyi yavaşlatan maddeler, katalizörün hiç değiştiremedikleri ve fabrikadan egzoza katalizörler.
09 Homojen ve heterojen katalizör
10 İnhibitörler: tepkimeyi yavaşlatanlar
11 Katalizör neyi değiştirmez?
12 Katalizör ve yüzey gerçek dünyada
Görsel: Katalitik konvertör. Egzoz gazı bal peteğindeki binlerce ince kanaldan geçerken kanal duvarlarındaki platin, paladyum ve rodyum kaplamaya değer. Kanallar ve duvarlardaki gözenekli kaplama, küçük bir kutunun içine çok büyük bir temas yüzeyi sığdırır. Zehirli karbon monoksit, yanmamış yakıt ve azot oksitler bu yüzeyde saniyenin küçük bir kesrinde CO₂, su buharı ve N₂'ye dönüşür; metaller ise yerinde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Homojen ve heterojen katalizör — adım 1/4
• Katalizörleri bulundukları hâle, yani faza göre ikiye ayırırız.
• Katalizör girenlerle aynı fazdaysa homojen, farklı fazdaysa heterojen katalizördür.
• Peroksit de iyodür de suda çözünmüştür: iyodür homojendir.
• Mangan dioksit suda çözünmeyen bir katıdır ve peroksiti kendi yüzeyinde ayrıştırır: heterojendir.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Homojen ve heterojen katalizör — şekil
Homojen katalizörde (solda) iyodür iyonları peroksit molekülleriyle aynı çözeltiye dağılmıştır; kabarcıklar her yerde oluşur. Heterojen katalizörde (sağda) MnO₂ dipte katı olarak durur; peroksit ancak katının yüzeyine değince ayrışır ve kabarcıklar yalnızca oradan yükselir.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Homojen ve heterojen katalizör — adım 3/4
2H₂O₂(suda) —I⁻(suda)→ 2H₂O(s) + O₂(g)   N₂(g) + 3H₂(g) —Fe(k)→ 2NH₃(g)
• Homojen örnekleri: sudaki iyodürle peroksitin ayrışması; yüksek atmosferde klor atomlarının ozonu parçalaması (klor da ozon da gazdır).
• Heterojen örnekleri: katı MnO₂ ile peroksit; katı demirle amonyak üretimi; egzozdaki platin, paladyum ve rodyumla zehirli gazların dönüşümü; katı nikelle sıvı yağların margarine dönüştürülmesi.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Homojen ve heterojen katalizör — adım 4/4
• Heterojen katalizörde iş yüzeyde döner ve dört adımda yürür: tanecikler katının yüzeyine tutunur, bağları zayıflar ya da kopar, yan yana gelen parçalar yeni bağ kurar, ürün yüzeyden ayrılır ve yer boşalır.
• Bu yüzden heterojen katalizör toz, gözenekli kütle ya da ince kaplama hâlinde kullanılır; temas yüzeyi burada da belirleyicidir.
• Bu adımları basamağın son bölümünde, egzozdaki platin yüzeyinde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Katalizör girenlerle aynı fazdaysa homojen, farklı fazdaysa heterojendir. Heterojen katalizörde tepkime katının yüzeyinde tutunma, bağ kopması, yeni bağ ve ayrılma adımlarıyla yürür; bu yüzden geniş yüzey önemlidir.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Tepkimeden sonra homojen bir katalizörü geri almak mı kolaydır, heterojen bir katalizörü mü?
Sınıfa sorun, birkaç tahmin alın; sonra cevap slaytına geçin.
Cevap: Heterojen katalizörü. Katı MnO₂ süzgeç kâğıdında kalır, kurutulup yeniden kullanılır; egzozdaki platin yerinden hiç ayrılmaz. Suda çözünmüş iyodür ise ürünlerle aynı çözeltidedir ve onu ayırmak ek işlem ister. Fabrikaların çoğunun katı katalizör kullanmasının bir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Heterojen katalizörü. Katı MnO₂ süzgeç kâğıdında kalır, kurutulup yeniden kullanılır; egzozdaki platin yerinden hiç ayrılmaz. Suda çözünmüş iyodür ise ürünlerle aynı çözeltidedir ve onu ayırmak ek işlem ister. Fabrikaların çoğunun katı katalizör kullanmasının bir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adım 1/6
• Bazen amaç tepkimeyi hızlandırmak değil, yavaşlatmaktır: yağın acımasını, ilacın bozulmasını, metalin paslanmasını geciktirmek isteriz.
• Tepkimeyi yavaşlatan maddelere inhibitör denir; kitaplarda “negatif katalizör” adı da geçer.
• İnhibitörler çoğunlukla tepkimenin kullandığı kolay yolu kapatarak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adım 2/6
• Katalizörü etkisizleştirir: gıdalardaki sitrik asit ve sitratlar, yağların oksitlenmesini hızlandıran eser metal iyonlarını bağlar. Kurşun da egzozdaki platinin yüzeyini kaplayıp “zehirler”.
• Ara ürünü yakalar: yağın acıması zincirleme yürür; her adımda oluşan çok etkin bir ara ürün bir sonraki adımı başlatır. E ve C vitamini gibi antioksidanlar bu ara ürünlerle birleşip zinciri koparır.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adım 3/6
• Enzimi durdurur: limon suyu sıkılan elma dilimi geç kararır; asitlik ve C vitamini, kararmayı hızlandıran enzimin işini bozar. Aspirin de ağrı ve ateşe yol açan maddeleri üreten bir enzimi etkisizleştirir.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adım 4/6
• Hepsinde ortak nokta şu: inhibitör, tepkimenin o ana kadar kullandığı alçak tepeli yolu, yani katalizör ya da ara ürün üzerinden giden yolu kapatır.
• Tepkime durmaz, ama geriye kalan, tepesi daha yüksek yoldan yürümek zorunda kalır.
• Sınavlardaki “negatif katalizör aktifleşme enerjisini yükseltir” cümlesinin anlamı budur: tepkimenin izlediği yolun aktifleşme enerjisi büyür.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şekil
Birçok tepkime, ortamdaki eser bir katalizör ya da zincirleme oluşan ara ürünler sayesinde kolay bir yoldan (mor kesik, Ea = 50 kJ) yürür. İnhibitör bu yolu kapatır (kırmızı çarpı); tepkime artık yalnızca yüksek tepeli yoldan (mavi, Ea = 115 kJ) yürüyebilir ve yavaşlar. Girenler ve ürünler aynı kaldığı için ΔH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İnhibitörler: tepkimeyi yavaşlatanlar — adım 6/6
• İnhibitörü katalizörden ayıran önemli bir fark daha var: çoğu inhibitör iş görürken harcanır.
• Zinciri koparan antioksidan, ara ürünle birleşip tükenir; gıdalardaki koruyucuların bir raf ömrü olması bundandır.
• Eczanedeki oksijenli suya da az miktarda kararlı kılıcı eklenir ve şişe ışık geçirmeyen koyu renkte yapılır; ikisi de ayrışmayı yavaşlatır.
• İnhibitörler de katalizörler gibi ΔH'yi değiştirmez; yalnızca hızı düşürür.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İnhibitörler katalizörü ya da ara ürünü etkisizleştirerek tepkimenin kolay yolunu kapatır; tepkime daha yüksek Ea'lı yoldan yavaş yürür. Çoğu inhibitör harcanır ve ΔH'yi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İnhibitör eklenen bir yağ hiç acımaz mı?
Sınıfa sorun, birkaç tahmin alın; sonra cevap slaytına geçin.
Cevap: Acır, ama çok daha geç. İnhibitör tepkimeyi durdurmaz, yalnızca kolay yolu kapatır; tepkime yüksek tepeli yoldan yavaşça sürer. Üstelik antioksidan harcandıkça etkisi azalır. Ambalajdaki son tüketim tarihi bu yüzden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Acır, ama çok daha geç. İnhibitör tepkimeyi durdurmaz, yalnızca kolay yolu kapatır; tepkime yüksek tepeli yoldan yavaşça sürer. Üstelik antioksidan harcandıkça etkisi azalır. Ambalajdaki son tüketim tarihi bu yüzden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neyi değiştirmez? — adım 1/5
• Katalizör güçlüdür, ama sınırları kesindir.
• Katalizör eklenince ya da katı toz hâline gelince neyin değiştiğini, neyin aynı kaldığını bilmek bu konudaki soruların çoğunu çözer: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neyi değiştirmez? — adım 2/5
Nicelik | Katalizör eklenince | Temas yüzeyi artınca
Tepkime hızı | artar | artar
Aktifleşme enerjisi | azalır (ileri ve geri aynı miktar) | değişmez
Birim zamandaki etkin çarpışma | artar | artar
Hız sabiti (lise kabulü) | artar | artar
ΔH, girenlerin ve ürünlerin enerjisi | değişmez | değişmez
Ürünün türü, miktarı ve verim | değişmez |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neyi değiştirmez? — şekil
Aynı peroksit çözeltisinden üç örnek: biri katalizörsüz, ikisi farklı miktarda katalizörlü. Katalizör çoğaldıkça eğri dikleşir, ama katalizörlü iki eğri de aynı hacimde düzleşir: 0,010 mol H₂O₂ her durumda 0,005 mol, yani normal koşullarda 112 mL O₂ verir. Katalizörsüz eğri bu sürede tabanda neredeyse düz kalır; o da aynı 112 mL'yi ancak aylar içinde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neyi değiştirmez? — adım 4/5
• İmkânsızı mümkün kılmaz: katalizör yalnızca zaten yürüyebilen bir tepkimeyi hızlandırır; kendiliğinden yürüyemeyen bir tepkimeyi yürütemez. Suyu hidrojen ve oksijene ayırmak için enerji vermek gerekir; hiçbir katalizör bu enerjinin yerini tutmaz.
• Daha çok ürün vermez: sonunda oluşan ürün miktarı girenlerin miktarına bağlıdır. Katalizör aynı ürüne daha kısa sürede ulaştırır; grafikte eğri dikleşir, ama aynı yükseklikte düzleşir.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neyi değiştirmez? — adım 5/5
• Isıyı değiştirmez: ekzotermik bir tepkimede katalizörle daha çok ısı açığa çıkmaz; aynı ısı daha kısa sürede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Katalizör hızı, Ea'yı ve hız sabitini değiştirir; ΔH'yi, girenlerin ve ürünlerin enerjisini, ürünün türünü ve miktarını, verimi değiştirmez. Kendiliğinden yürüyemeyen bir tepkimeyi de yürütemez.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ΔH değişmediği hâlde katalizör eklenen ekzotermik bir tepkimenin kabı neden daha çok ısınır?
Sınıfa sorun, birkaç tahmin alın; sonra cevap slaytına geçin.
Cevap: Açığa çıkan toplam ısı aynıdır, ama çok daha kısa sürede çıkar. Isı çevreye dağılmaya fırsat bulamadan birikir ve sıcaklık daha çok yükselir. Fil diş macunu deneyinde köpüğün buhar tütmesi bundandır; mol başına ΔH ise yine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Açığa çıkan toplam ısı aynıdır, ama çok daha kısa sürede çıkar. Isı çevreye dağılmaya fırsat bulamadan birikir ve sıcaklık daha çok yükselir. Fil diş macunu deneyinde köpüğün buhar tütmesi bundandır; mol başına ΔH ise yine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ve yüzey gerçek dünyada — adım 1/4
• Kimya sanayisindeki üretim süreçlerinin yaklaşık onda dokuzu en az bir adımda katalizör kullanır.
• Katalizör aynı ürünü daha düşük sıcaklıkta ve daha kısa sürede verir; istenen tepkimeyi seçerek hızlandırdığı için yan ürün veren başka tepkimelere fırsat bırakmaz.
• Bu, tek bir tepkimenin verimini değiştirmek demek değildir.
• Temas yüzeyi ise hem işe yarar hem tehlike yaratabilir.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ve yüzey gerçek dünyada — adım 2/4
• Katalitik konvertör: 2CO + O₂ → 2CO₂ ve 2NO + 2CO → N₂ + 2CO₂ gibi tepkimeler sıcak egzozda, metal yüzeyinde yürür. Konvertör yaklaşık 250 °C'ye ısınmadan iyi çalışmaz; kirliliğin önemli bir kısmı motor soğukken çıkar. Kurşunlu benzin yüzeyi zehirlediği için konvertörlü araçlarda kullanılamaz.
• Haber–Bosch yöntemi: N₂ + 3H₂ → 2NH₃ tepkimesi demir katalizörle, 400–450 °C'de ve yüksek basınçta yürütülür. Bu amonyaktan yapılan gübreler, bugün dünyadaki insanların yaklaşık yarısını besleyen ürünlerin yetişmesini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ve yüzey gerçek dünyada — adım 3/4
• Deterjan enzimleri: çamaşır deterjanlarındaki enzimler kan ve yumurta gibi protein lekelerini, yağı ve nişastayı parçalar; çamaşır 30–40 °C'de temizlenir, enerji tasarrufu sağlanır.
• Toz patlamaları: un, şeker ya da kömür tozu havada asılı kalınca çok büyük bir yüzeyle oksijene açılır; bir kıvılcım, alevin bütün bulutu bir anda sarmasına yeter. Değirmenler ve madenler bu yüzden tozu ve kıvılcımı sıkı denetler.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Katalizör ve yüzey gerçek dünyada — şekil
Konvertörün içinde, platin yüzeyinde 2CO + O₂ → 2CO₂: 1 O₂ yüzeye tutunur, CO yaklaşır; 2 O₂'nin bağı kopar, iki O atomu yüzeye dağılır, CO de yüzeye tutunur; 3 CO ile bir O atomu yeni bağ kurar; 4 CO₂ yüzeyden ayrılır. Platin atomları hiç değişmez; kalan O atomu ikinci CO molekülünü bekler. Sayfanın 04 numaralı bölümünde bu yüzeyi canlı izleyebilir, bölgeleri “zehirleyip” hızın düşüşünü görebilirsin.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Konvertörde, Haber–Bosch'ta ve deterjanlarda katalizörler aynı ürünü daha hızlı ve daha düşük sıcaklıkta, yani daha az yakıt harcayarak verir. Geniş temas yüzeyi konvertörü verimli kılar; havadaki ince toz ise aynı nedenle patlayabilir.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katalizör, temas yüzeyi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Katalizörlü enerji grafiği
Bir tepkimenin katalizörsüz yolunda ileri aktifleşme enerjisi 90 kJ, tepkime entalpisi ΔH = −40 kJ'dir. Uygun bir katalizör ileri aktifleşme enerjisini 55 kJ'e düşürüyor. (a) Katalizörsüz geri aktifleşme enerjisi kaç kJ'dir? (b) Katalizör tepeyi kaç kJ alçaltmıştır? (c) Katalizörlü geri aktifleşme enerjisi kaç kJ'dir?
Durum çizimi: Durum: katalizörsüz ve katalizörlü yollar aynı girenlerden ve aynı ürünlerden geçiyor. İleri aktifleşme enerjileri (90 ve 55 kJ) ile ΔH = −40 kJ verilmiş; sağdaki iki geri aktifleşme enerjisi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Katalizörlü enerji grafiği
Bir tepkimenin katalizörsüz yolunda ileri aktifleşme enerjisi 90 kJ, tepkime entalpisi ΔH = −40 kJ'dir. Uygun bir katalizör ileri aktifleşme enerjisini 55 kJ'e düşürüyor. (a) Katalizörsüz geri aktifleşme enerjisi kaç kJ'dir? (b) Katalizör tepeyi kaç kJ alçaltmıştır? (c) Katalizörlü geri aktifleşme enerjisi kaç kJ'dir?
Verilenler: Ea(ileri) = 90 kJ · ΔH = −40 kJ · Ea′(ileri) = 55 kJ (katalizörlü)
İstenen: (a) Ea(geri) · (b) tepenin alçalma miktarı x · (c) Ea′(geri)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Katalizörlü enerji grafiği — çözüm
1. ΔH = Ea(ileri) − Ea(geri) → −40 = 90 − Ea(geri) → Ea(geri) = 130 kJ
2. Tepenin alçalması: x = 90 − 55 = 35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Katalizörlü enerji grafiği — çözüm
3. Geri yol da aynı tepeden geçer: Ea′(geri) = 130 − 35 = 95 kJ
4. Kontrol: Ea′(ileri) − Ea′(geri) = 55 − 95 = −40 kJ ✓ ΔH değişmedi.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Peroksitten ne kadar oksijen?
İçinde 0,17 g H₂O₂ bulunan bir çözeltiye 0,50 g MnO₂ tozu ekleniyor; köpürme 4 dakikada bitiyor. (a) Normal koşullarda kaç mL O₂ toplanır? (b) Süzülüp kurutulan MnO₂ kaç gramdır? (c) MnO₂ eklenmeseydi, peroksitin tamamı ayrıştığında kaç mL O₂ oluşurdu?
Durum çizimi: Durum: erlende 0,17 g H₂O₂ içeren çözelti ve dipte 0,50 g MnO₂ var; çıkan gaz şırıngada toplanıyor ve köpürme 4 dakika sürüyor. Toplanan O₂ hacmi ve deney sonundaki MnO₂ kütlesi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Peroksitten ne kadar oksijen?
İçinde 0,17 g H₂O₂ bulunan bir çözeltiye 0,50 g MnO₂ tozu ekleniyor; köpürme 4 dakikada bitiyor. (a) Normal koşullarda kaç mL O₂ toplanır? (b) Süzülüp kurutulan MnO₂ kaç gramdır? (c) MnO₂ eklenmeseydi, peroksitin tamamı ayrıştığında kaç mL O₂ oluşurdu?
Verilenler: m(H₂O₂) = 0,17 g · M(H₂O₂) = 2 · 1 + 2 · 16 = 34 g/mol · m(MnO₂) = 0,50 g · 2H₂O₂ → 2H₂O + O₂ · 1 mol gaz = 22,4 L
İstenen: (a) V(O₂) · (b) deney sonunda MnO₂ kütlesi · (c) katalizörsüz V(O₂)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Peroksitten ne kadar oksijen? — çözüm
1. n(H₂O₂) = 0,17 / 34 = 0,0050 mol
2. Katsayılar 2 : 1 → n(O₂) = 0,0050 / 2 = 0,0025 mol
3. V(O₂) = 0,0025 · 22,4 L = 0,056 L = 56 mL; 100 mL'lik şırıngaya rahatça sığar.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Peroksitten ne kadar oksijen? — çözüm
4. MnO₂ katalizördür, harcanmaz: süzülen toz yine 0,50 g.
5. Katalizörsüz de 56 mL oluşur; yalnızca çok daha uzun sürede.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Mermer küpü bölmek
Kenarı 3 cm olan bir mermer (CaCO₃) küpün her kenarı üç eşit parçaya bölünerek küçük küpler elde ediliyor. (a) Kaç küçük küp oluşur? (b) Büyük küpün ve küçük küplerin toplam yüzeyi kaç cm²'dir? (c) Hız yüzeyle orantılıysa, asitle tepkimenin başlangıç hızı kaç katına çıkar? (d) Asit fazlayken açığa çıkan CO₂ miktarı değişir mi?
Durum çizimi: Durum: kenarı 3 cm olan küpün görünen yüzlerine kesim çizgileri çizilmiş; her kenar üç eşit parçaya bölünecek. Parça sayısı, iki yüzey alanı ve hızın kaç katına çıkacağı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Mermer küpü bölmek
Kenarı 3 cm olan bir mermer (CaCO₃) küpün her kenarı üç eşit parçaya bölünerek küçük küpler elde ediliyor. (a) Kaç küçük küp oluşur? (b) Büyük küpün ve küçük küplerin toplam yüzeyi kaç cm²'dir? (c) Hız yüzeyle orantılıysa, asitle tepkimenin başlangıç hızı kaç katına çıkar? (d) Asit fazlayken açığa çıkan CO₂ miktarı değişir mi?
Verilenler: L = 3 cm · her kenar k = 3 parçaya bölünüyor · hız yüzeyle orantılı · asit fazla
İstenen: (a) küçük küp sayısı · (b) A₁ ve A₂ · (c) hız oranı · (d) CO₂ miktarı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Mermer küpü bölmek — çözüm
1. Parça sayısı k³ = 3³ = 27; her küçük küpün kenarı 1 cm.
2. A₁ = 6 · L² = 6 · 3² = 54 cm²
3. A₂ = 27 · 6 · 1² = 162 cm² (kısa yol: 6 · L² · k = 54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Mermer küpü bölmek — çözüm
4. Hız oranı = A₂ / A₁ = 162 / 54 = 3: başlangıç hızı 3 katına çıkar.
5. CO₂ miktarı değişmez: CaCO₃'ın kütlesi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Enerji dağılımı grafiğini okumak
Gaz fazındaki bir tepkimeye sabit sıcaklıkta bir işlem uygulanıyor. Tanecik sayısı–kinetik enerji grafiğinde dağılım eğrisi değişmiyor, eşik enerjisi E₁'den E₂'ye iniyor. (a) Uygulanan işlem nedir? (b) Ortalama kinetik enerji, eşiği aşan tanecik sayısı, ΔH ve tepkime hızı nasıl değişir?
Durum çizimi: Durum: sabit sıcaklıkta tek bir dağılım eğrisi var; eşik enerjisi E₁'den daha küçük E₂'ye kayıyor. Bu kaymayı hangi işlemin yaptığı ve nelerin değiştiği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Enerji dağılımı grafiğini okumak
Gaz fazındaki bir tepkimeye sabit sıcaklıkta bir işlem uygulanıyor. Tanecik sayısı–kinetik enerji grafiğinde dağılım eğrisi değişmiyor, eşik enerjisi E₁'den E₂'ye iniyor. (a) Uygulanan işlem nedir? (b) Ortalama kinetik enerji, eşiği aşan tanecik sayısı, ΔH ve tepkime hızı nasıl değişir?
Verilenler: sıcaklık sabit · dağılım eğrisi aynı · eşik enerjisi E₁ → E₂ (E₂ &lt; E₁)
İstenen: (a) işlemin adı · (b) ortalama kinetik enerji, eşiği aşan tanecik sayısı, ΔH ve hızdaki değişim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Enerji dağılımı grafiğini okumak — çözüm
1. Eğri değişmemiş → sıcaklık aynı → ortalama kinetik enerji değişmez.
2. Eşik sola kaymış → Ea düşmüş → tepkimeye katalizör eklenmiştir.
3. E₂'nin sağındaki alan E₁'in sağındakinden büyük → eşiği aşan tanecik sayısı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Enerji dağılımı grafiğini okumak — çözüm
4. Etkin çarpışma artar → tepkime hızı artar.
5. Girenler ve ürünler aynı → ΔH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Toz ve parça çinko
Kütlesi 0,26 g olan iki çinko örneğinden biri tek parça, öteki toz hâlinde; ikisi de aynı sıcaklıkta, aynı derişimdeki HCl fazlasına atılıyor. Toplanan H₂ hacmi–zaman grafiğinde A eğrisi 20. saniyede 60 mL'yi, B eğrisi 20 mL'yi gösteriyor. (a) Hangi eğri toz çinkoya aittir? (b) İki deneyde de en sonda kaç mL H₂ toplanır? (c) A için ilk 20 saniyedeki ortalama hız kaç mL/s'dir?
Durum çizimi: Durum: iki eğri de aynı kütlede çinkoya ait. 20. saniyede A eğrisi 60 mL, B eğrisi 20 mL gösteriyor; iki eğri de sonunda aynı seviyede düzleşiyor. Hangi eğrinin toz çinkoya ait olduğu ve bu son hacim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Toz ve parça çinko
Kütlesi 0,26 g olan iki çinko örneğinden biri tek parça, öteki toz hâlinde; ikisi de aynı sıcaklıkta, aynı derişimdeki HCl fazlasına atılıyor. Toplanan H₂ hacmi–zaman grafiğinde A eğrisi 20. saniyede 60 mL'yi, B eğrisi 20 mL'yi gösteriyor. (a) Hangi eğri toz çinkoya aittir? (b) İki deneyde de en sonda kaç mL H₂ toplanır? (c) A için ilk 20 saniyedeki ortalama hız kaç mL/s'dir?
Verilenler: m(Zn) = 0,26 g (iki örnekte de) · M(Zn) = 65 g/mol · HCl fazla · 20 s'de A: 60 mL, B: 20 mL · Zn(k) + 2HCl(suda) → ZnCl₂(suda) + H₂(g)
İstenen: (a) tozun eğrisi · (b) son H₂ hacmi · (c) A'nın ilk 20 s'deki ortalama hızı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Toz ve parça çinko — çözüm
1. Toz, aynı kütlede daha geniş yüzeylidir; daha hızlı tepkir → toz çinkonun eğrisi A.
2. n(Zn) = 0,26 / 65 = 0,004 mol → katsayılar 1 : 1 → n(H₂) = 0,004 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Toz ve parça çinko — çözüm
3. V(H₂) = 0,004 · 22 400 mL = 89,6 mL; çinko aynı, asit fazla olduğu için iki deneyde de aynı.
4. A'nın ortalama hızı: 60 mL / 20 s = 3 mL/s (B'nin: 20 / 20 = 1 mL/s).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Dört kap, hangisi önde?
25 °C'de dört kapta hidrojen peroksit çözeltisi var: (1) 20 mL 1 M, katalizörsüz; (2) 20 mL 1 M + 0,5 g parça MnO₂; (3) 20 mL 1 M + 0,5 g toz MnO₂; (4) 40 mL 0,5 M + 0,5 g toz MnO₂. (a) Hangi kapların başlangıç hızları kesin olarak sıralanabilir? (b) Tepkimeler bittiğinde her kapta kaç mL O₂ oluşur?
Durum çizimi: Durum: dört kabın hacmi, derişimi ve katalizörü farklı; sıcaklık aynı. Başlangıç hızlarının sırası ve tepkime bitince oluşacak O₂ hacmi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Dört kap, hangisi önde?
25 °C'de dört kapta hidrojen peroksit çözeltisi var: (1) 20 mL 1 M, katalizörsüz; (2) 20 mL 1 M + 0,5 g parça MnO₂; (3) 20 mL 1 M + 0,5 g toz MnO₂; (4) 40 mL 0,5 M + 0,5 g toz MnO₂. (a) Hangi kapların başlangıç hızları kesin olarak sıralanabilir? (b) Tepkimeler bittiğinde her kapta kaç mL O₂ oluşur?
Verilenler: hacimler ve derişimler kaplarda yazılı · sıcaklık hepsinde 25 °C · katalizör kütlesi 2, 3 ve 4'te aynı · 2H₂O₂ → 2H₂O + O₂
İstenen: (a) kesin hız sıralamaları · (b) her kaptaki toplam O₂ hacmi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Dört kap, hangisi önde? — çözüm
1. Mol sayısı n = M · V: 1, 2 ve 3'te 1 · 0,020 = 0,020 mol; 4'te 0,5 · 0,040 = 0,020 mol. Dördü de aynı.
2. Her kapta n(O₂) = 0,010 mol → 224 mL; katalizör ve derişim son hacmi değiştirmez.
3. Tek farklı çiftler kesin sıralanır: 3 &gt; 2 (toz yüzeyi büyük), 2 &gt; 1 (katalizör var), 3 &gt; 4 (aynı toz, 4'te derişim yarı).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Dört kap, hangisi önde? — çözüm
4. 2 ile 4 iki farkla ayrılır: toz hızlandırır, seyreltik çözelti yavaşlatır. Verilen bilgiyle karşılaştırılamaz.
5. 1 ile 4 de iki farkla ayrılır; ama katalizörsüz peroksit oda sıcaklığında neredeyse hiç ayrışmadığı için pratikte 4 &gt; 1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Ozonu parçalayan klor
Yüksek atmosferde, soğutucu gazlardan kopan klor atomları ozonu iki basamakta parçalar: 1. Cl(g) + O₃(g) → ClO(g) + O₂(g); 2. ClO(g) + O(g) → Cl(g) + O₂(g). (a) Net tepkimeyi yazınız. (b) Katalizör ve ara ürün hangisidir? (c) Katalizör homojen mi, heterojen mi? (d) Bir Cl atomu ortalama 100 000 O₃ molekülünü parçalayabiliyorsa, 1 mol Cl atomu kaç kilogram O₃ parçalar?
Durum çizimi: Durum: birinci basamakta klor atomu ozonla, ikinci basamakta ClO bir oksijen atomuyla tepkimeye giriyor. Net tepkime, katalizör ve ara ürün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Ozonu parçalayan klor
Yüksek atmosferde, soğutucu gazlardan kopan klor atomları ozonu iki basamakta parçalar: 1. Cl(g) + O₃(g) → ClO(g) + O₂(g); 2. ClO(g) + O(g) → Cl(g) + O₂(g). (a) Net tepkimeyi yazınız. (b) Katalizör ve ara ürün hangisidir? (c) Katalizör homojen mi, heterojen mi? (d) Bir Cl atomu ortalama 100 000 O₃ molekülünü parçalayabiliyorsa, 1 mol Cl atomu kaç kilogram O₃ parçalar?
Verilenler: iki basamak (yukarıda) · hepsi gaz · 1 Cl atomu ≈ 100 000 O₃ · M(O₃) = 3 · 16 = 48 g/mol
İstenen: (a) net tepkime · (b) katalizör ve ara ürün · (c) katalizörün türü · (d) parçalanan O₃ kütlesi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Ozonu parçalayan klor — çözüm
1. Basamakları topla: Cl + O₃ + ClO + O → ClO + O₂ + Cl + O₂
2. İki yanda da bulunan Cl ve ClO sadeleşir: net O₃ + O → 2O₂ (O: 4 = 4 ✓)
3. Cl önce harcanıp sonra geri oluşur → katalizör; ClO önce oluşup sonra harcanır → ara ürün.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Ozonu parçalayan klor — çözüm
4. Katalizör de girenler de gaz → homojen katalizör.
5. 1 mol Cl → 100 000 mol O₃ → 100 000 · 48 g = 4,8·10⁶ g = 4800 kg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Katalizörsüz Ea(ileri) = 100 kJ, ΔH = −30 kJ olan bir tepkimede katalizör Ea(ileri)'yi 60 kJ'e indiriyor. Katalizörlü Ea(geri) kaç kJ'dir?
Öğrencilere 2–3 dakika verin; sonra cevap slaytını açın.
Cevap: Cevap: Önce katalizörsüz Ea(geri) = Ea(ileri) − ΔH = 100 − (−30) = 130 kJ. Tepe 100 − 60 = 40 kJ alçaldığı için Ea′(geri) = 130 − 40 = 90 kJ. Kontrol: 60 − 90 = −30 kJ ✓ ΔH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Önce katalizörsüz Ea(geri) = Ea(ileri) − ΔH = 100 − (−30) = 130 kJ. Tepe 100 − 60 = 40 kJ alçaldığı için Ea′(geri) = 130 − 40 = 90 kJ. Kontrol: 60 − 90 = −30 kJ ✓ ΔH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Kenarı 2 cm olan bir küp şeker ile kenarı 1 cm olan 8 küp şekerin toplam yüzeyleri kaçar cm²'dir? Hangisi sıcak çayda daha çabuk çözünür?
Öğrencilere 2–3 dakika verin; sonra cevap slaytını açın.
Cevap: Cevap: Büyük küp 6 · 2² = 24 cm², küçükler 8 · 6 · 1² = 48 cm². Yüzeyi 2 katı olan küçük küpler daha çabuk çözünür. Şekerin hacmi (8 cm³) ve kütlesi aynı olduğu için çay sonunda aynı tatlılıkta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Büyük küp 6 · 2² = 24 cm², küçükler 8 · 6 · 1² = 48 cm². Yüzeyi 2 katı olan küçük küpler daha çabuk çözünür. Şekerin hacmi (8 cm³) ve kütlesi aynı olduğu için çay sonunda aynı tatlılıkta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Sabit sıcaklıkta bir tepkimeye katalizör ekleniyor. Ea(geri), ΔH, ortalama kinetik enerji, eşiği aşan tanecik sayısı ve ürün miktarı nasıl değişir?
Öğrencilere 2–3 dakika verin; sonra cevap slaytını açın.
Cevap: Cevap: Ea(geri) azalır (Ea(ileri) ile aynı miktar); ΔH değişmez; ortalama kinetik enerji değişmez, çünkü sıcaklık aynı; eşiği aşan tanecik sayısı artar; ürün miktarı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Ea(geri) azalır (Ea(ileri) ile aynı miktar); ΔH değişmez; ortalama kinetik enerji değişmez, çünkü sıcaklık aynı; eşiği aşan tanecik sayısı artar; ürün miktarı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0,34 g H₂O₂ katalaz enzimiyle 50 saniyede tamamen ayrışıyor. Normal koşullarda kaç mL O₂ oluşur, ortalama oluşma hızı kaç mL/s'dir?
Öğrencilere 2–3 dakika verin; sonra cevap slaytını açın.
Cevap: Cevap: n(H₂O₂) = 0,34 / 34 = 0,010 mol → n(O₂) = 0,005 mol → V = 0,005 · 22 400 = 112 mL. Ortalama hız = 112 mL / 50 s = 2,24 mL/s.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n(H₂O₂) = 0,34 / 34 = 0,010 mol → n(O₂) = 0,005 mol → V = 0,005 · 22 400 = 112 mL. Ortalama hız = 112 mL / 50 s = 2,24 mL/s.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Kenarı 6 cm olan bir mermer küp, kenarı 1 cm olan küplere bölünüyor ve küçük küplerin yalnızca yarısı asit fazlasına atılıyor. Bütün küpün atıldığı duruma göre başlangıç hızı ve CO₂ miktarı nasıl değişir?
Öğrencilere 2–3 dakika verin; sonra cevap slaytını açın.
Cevap: Cevap: Büyük küpün yüzeyi 6 · 6² = 216 cm². k = 6 olduğu için 6³ = 216 küçük küp oluşur, toplam yüzey 216 · 6 = 1296 cm². Yarısı, yani 108 küp, 648 cm² yüzey taşır: 648 / 216 = 3, başlangıç hızı yaklaşık 3 katına çıkar. Ama mermerin yarısı kullanıldığı için oluşan CO₂ yarıya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Büyük küpün yüzeyi 6 · 6² = 216 cm². k = 6 olduğu için 6³ = 216 küçük küp oluşur, toplam yüzey 216 · 6 = 1296 cm². Yarısı, yani 108 küp, 648 cm² yüzey taşır: 648 / 216 = 3, başlangıç hızı yaklaşık 3 katına çıkar. Ama mermerin yarısı kullanıldığı için oluşan CO₂ yarıya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“Katalizör tepkimeye girmez.” Girer: girenlerle geçici bağlar kurar ya da ara ürünler oluşturur, sonunda aynen geri oluşur. Bu yüzden net denklemde yazılmaz, okun üstüne yazılır.
• “Katalizör daha çok ürün verir.” Ürünün türü ve miktarı, tepkimenin verimi değişmez; aynı miktara daha kısa sürede ulaşılır. Katalizörün miktarını artırmak da ürünü artırmaz.
• “Katalizör ΔH'yi küçültür, ekzotermik tepkimede daha çok ısı çıkar.” Girenlerin ve ürünlerin enerjisi aynı kaldığı için ΔH değişmez; aynı ısı yalnızca daha kısa sürede açığa çıkar.
• “Katalizör yalnızca ileri tepkimeyi hızlandırır.” Tepe ortaktır: Ea(ileri) ve Ea(geri) aynı miktar azalır, geri tepkime de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“Katalizör taneciklere enerji verir.” Sıcaklık değişmediği için dağılım eğrisi ve ortalama kinetik enerji aynıdır; değişen, eşiğin yeridir.
• “Toz hâline getirmek ürün miktarını artırır.” Kütle aynıysa ürün aynıdır, yalnız hız artar. Grafikte toz eğrisi daha diktir ama aynı yükseklikte düzleşir.
• “İnhibitör, Ea'sı yüksek bir katalizördür ve harcanmaz.” Çoğu inhibitör katalizörü ya da ara ürünü etkisizleştirirken kendisi de harcanır; tepkime geriye kalan yüksek tepeli yoldan yürür.
• “Uygun katalizör her tepkimeyi gerçekleştirir.” Katalizör yalnızca zaten yürüyebilen bir tepkimeyi hızlandırır; kendiliğinden yürüyemeyen bir tepkimeyi mümkün kılmaz.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Katalizör Ea'yı düşürür · ΔH değişmez · Katalizör harcanmaz · Toz, parçadan hızlı
Ea(katalizörlü) &lt; Ea(katalizörsüz) — daha alçak bir tepeden geçilir
ΔH(katalizörlü) = ΔH — girenler ve ürünler aynı seviyede
2H₂O₂ → 2H₂O + O₂ — MnO₂, KI ya da katalazla hızlanır
A = 6·L²·k — küp k³ parçaya bölününce yüzey k katı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katalizo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HIZ · KONU 04</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Katalizör ve temas yüzeyi</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Katalizör tepkimeye daha alçak bir enerji tepesinden geçen yeni bir yol açar; harcanmaz, ürünü ve ΔH'yi değiştirmez. Bir katıyı toz hâline getirmek ise temas yüzeyini büyütür, çarpışmaları çoğaltır.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dersler.perinet.org/katalizor.html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Eczaneden aldığın oksijenli su dolapta aylarca bozulmadan durur; aynı sıvıyı bir dilim çiğ patatesin üstüne dökünce neden saniyeler içinde köpürür?</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Kalın bir kütük saatlerce için için yanarken aynı odunun talaşı neden bir anda parlar?</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Arabaların egzozundaki bal peteği gibi seramikte ne olur?</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800" b="1" dirty="0">
                <a:solidFill>
                  <a:srgbClr val="5F4BD8"/>
                </a:solidFill>
                <a:latin typeface="Cambria" pitchFamily="34" charset="0"/>
                <a:ea typeface="Cambria" pitchFamily="34" charset="-122"/>
                <a:cs typeface="Cambria" pitchFamily="34" charset="-120"/>
              </a:rPr>
              <a:t>Katalizör</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dağın tepesinden aşan eski yolun yanına alçak bir geçitten yeni bir yol açan yol yapıcıya benzer: varılan köy aynıdır, yalnızca tırmanış kısalır.</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800" b="1" dirty="0">
                <a:solidFill>
                  <a:srgbClr val="5F4BD8"/>
                </a:solidFill>
                <a:latin typeface="Cambria" pitchFamily="34" charset="0"/>
                <a:ea typeface="Cambria" pitchFamily="34" charset="-122"/>
                <a:cs typeface="Cambria" pitchFamily="34" charset="-120"/>
              </a:rPr>
              <a:t>Temas yüzeyi</a:t>
            </a:r>
            <a:pPr indent="0" marL="0">
              <a:lnSpc>
                <a:spcPct val="130000"/>
              </a:lnSpc>
              <a:buNone/>
            </a:pPr>
            <a:r>
              <a:rPr lang="en-US" sz="1800" dirty="0">
                <a:solidFill>
                  <a:srgbClr val="0E1426"/>
                </a:solidFill>
                <a:latin typeface="Cambria" pitchFamily="34" charset="0"/>
                <a:ea typeface="Cambria" pitchFamily="34" charset="-122"/>
                <a:cs typeface="Cambria" pitchFamily="34" charset="-120"/>
              </a:rPr>
              <a:t> ise stadyumun kapı sayısı gibidir: kalabalık aynı kalır, kapı çoğaldıkça içeri giriş hızlanır.</a:t>
            </a:r>
            <a:endParaRPr lang="en-US" sz="18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Önce sezgi: köpüren peroksitte, patateste ve talaşta tepkimeyi hızlandıran iki yolu gözle; katalizörün, temas yüzeyinin ve enzimlerin ne olduğunu formülsüz kavra.</a:t>
            </a:r>
            <a:endParaRPr lang="en-US" sz="9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köpüren peroksit</a:t>
            </a:r>
            <a:endParaRPr lang="en-US" sz="12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Katalizör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Temas yüzeyi: parçaladıkça hızlanır</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Enzimler: canlıların katalizörleri</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katalizörün enerji grafiğinde ve enerji dağılımında neyi değiştirdiğini gör, Ea ile ΔH arasındaki bağı kullan, temas yüzeyini küplerle hesapla.</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Katalizör enerji yolunu nasıl değiştirir?</a:t>
            </a:r>
            <a:endParaRPr lang="en-US" sz="120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Enerji dağılımında katalizör</a:t>
            </a:r>
            <a:endParaRPr lang="en-US" sz="12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Temas yüzeyini hesaplamak</a:t>
            </a:r>
            <a:endParaRPr lang="en-US" sz="12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katalizörün hâline göre türleri, tepkimeyi yavaşlatan maddeler, katalizörün hiç değiştiremedikleri ve fabrikadan egzoza katalizörler.</a:t>
            </a:r>
            <a:endParaRPr lang="en-US" sz="100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Homojen ve heterojen katalizör</a:t>
            </a:r>
            <a:endParaRPr lang="en-US" sz="125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İnhibitörler: tepkimeyi yavaşlatanlar</a:t>
            </a:r>
            <a:endParaRPr lang="en-US" sz="125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Katalizör neyi değiştirmez?</a:t>
            </a:r>
            <a:endParaRPr lang="en-US" sz="12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Katalizör ve yüzey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katalizör, temas yüzeyi sorularında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Tepkime hızı: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birim zamanda harcanan ya da oluşan madde miktarı. Aynı miktar ürün daha kısa sürede oluşuyorsa tepkime daha hızlıdır.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Etkin çarpışma: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ürün veren çarpışma. Tanecikler yeterli enerjiyle ve uygun yönelimle çarpışmalıdır; çarpışmaların çoğu etkisiz geçer.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Aktifleşme enerjisi (Ea):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girenlerin ürüne dönüşmek için aşması gereken enerji tepesi. Tepe ne kadar yüksekse tepkime o kadar yavaştır.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Tepkime entalpisi (ΔH):</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ürünlerle girenlerin enerji farkı. Isı veren (ekzotermik) tepkimede ΔH negatif, ısı alan (endotermik) tepkimede pozitiftir.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 ve gaz hacmi: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kütle n = m / M ile mole çevrilir. Normal koşullarda (0 °C, 1 atm) 1 mol gaz 22,4 L yer kaplar.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Yüzey alanı: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küpün altı kare yüzü vardır, her yüz kenar × kenar kadardır. Kenarı 2 cm olan küpün yüzeyi 6 · 2 · 2 = 24 cm²'dir.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50" dirty="0">
                <a:solidFill>
                  <a:srgbClr val="C3CEE8"/>
                </a:solidFill>
                <a:latin typeface="Calibri" pitchFamily="34" charset="0"/>
                <a:ea typeface="Calibri" pitchFamily="34" charset="-122"/>
                <a:cs typeface="Calibri" pitchFamily="34" charset="-120"/>
              </a:rPr>
              <a:t>Önce sezgi: köpüren peroksitte, patateste ve talaşta tepkimeyi hızlandıran iki yolu gözle; katalizörün, temas yüzeyinin ve enzimlerin ne olduğunu formülsüz kavra.</a:t>
            </a:r>
            <a:endParaRPr lang="en-US" sz="13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köpüren peroksit</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Katalizör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Temas yüzeyi: parçaladıkça hızlanır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Enzimler: canlıların katalizörleri</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katalizo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Peroksitle köpüren patates.</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Çiğ patatesin hücrelerinde katalaz adlı bir enzim vardır. Dilimlerin kesik yüzüne değen hidrojen peroksit bu enzim sayesinde saniyeler içinde su ve oksijene ayrışır; kabarcıklar bu oksijendir. Köpük en çok kenarlarda ve kesik yüzlerde toplanır, çünkü peroksit enzimle en kolay orada buluşur. Köpürme bitince dilimler yerinde durur: enzim harcanmaz, yalnızca işini yapar.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Eczanelerde satılan oksijenli su, suda çözünmüş yaklaşık %3'lük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hidrojen peroksittir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(H₂O₂).</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Kendi kendine yavaş yavaş su ve oksijen gazına ayrışır; ama bu o kadar yavaştır ki şişe dolapta aylarca bozulmadan durur.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gözlemlerin hepsinde bir olay (peroksitin ayrışması, yanma ya da çözünme), içine bir şey katılınca ya da madde ufalanınca birden hızlanıyor: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Yaraya dökülen oksijenli su köpürür: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kanın ve yaralı dokunun içindeki bir madde peroksiti hızla ayrıştırır; sağlam cilde dökülünce neredeyse hiç köpürmez.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Çiğ patates köpürtür: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dilimin kesik yüzünde saniyeler içinde ince bir köpük oluşur; patatesi rendelersen köpürme daha da artar.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tutam toz yeter: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peroksite azıcık mangan dioksit (MnO₂) tozu atınca sıvı fokurdar; köpürme bitince toz kabın dibinde aynen durur.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Talaş kütükten hızlı yanar: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kalın bir kütüğü tutuşturmak zordur; aynı odunun talaşı ya da çırası kibritle hemen alev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Toz şeker çabuk çözünür: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sıcak çaya atılan toz şeker, aynı kütledeki küp şekerden önce çözünür.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gözlemlerde iki ayrı hızlandırıcı var.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üçünde tepkimeye bir yardımcı madde katılıyor: patatesteki bir protein, kandaki aynı türden bir madde ya da mangan dioksit.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yardımcı tepkimeyi hızlandırıyor ama tükenmiyor; adına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katalizör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ikisinde ise yeni bir madde eklenmiyor; katı ufalanıyor ve çevresindeki hava ya da sıvıyla değdiği yüzey büyüyor.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temas yüzeyi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diyeceğiz.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Rendelenmiş patates ikisini birleştirir: katalizör aynıdır, ama yüzey büyüdüğü için köpürme artar.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bunu farklı katalizörlerle dene.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317479" y="1234440"/>
            <a:ext cx="755673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1.png">    </p:cNvPr>
          <p:cNvPicPr>
            <a:picLocks noChangeAspect="1"/>
          </p:cNvPicPr>
          <p:nvPr/>
        </p:nvPicPr>
        <p:blipFill>
          <a:blip r:embed="rId1"/>
          <a:stretch>
            <a:fillRect/>
          </a:stretch>
        </p:blipFill>
        <p:spPr>
          <a:xfrm>
            <a:off x="2546079" y="1325880"/>
            <a:ext cx="709953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Üç kapta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peroksit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var. Yalnız peroksitte birkaç kabarcık görünür, ayrışma çok yavaştır. Patates dilimi eklenince kabarcıklar çoğalır: patatesteki katalaz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katalizördür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Rendelenmiş patateste aynı enzim çok daha geniş bir yüzeyle peroksite açılır; köpük kabın ağzına kadar çıkar. Yeşil halkalar oksijen kabarcıklarıdır.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köpüren peroksit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00" dirty="0">
                <a:solidFill>
                  <a:srgbClr val="0E1426"/>
                </a:solidFill>
                <a:latin typeface="Cambria" pitchFamily="34" charset="0"/>
                <a:ea typeface="Cambria" pitchFamily="34" charset="-122"/>
                <a:cs typeface="Cambria" pitchFamily="34" charset="-120"/>
              </a:rPr>
              <a:t>Hidrojen peroksit kendi başına çok yavaş ayrışır; patates, kan ya da biraz MnO₂ ile saniyeler içinde köpürür. Tepkimeyi hızlandırmanın iki yolu var: tükenmeyen bir yardımcı madde, yani katalizör eklemek ya da katıyı ufalayıp temas yüzeyini büyütmek.</a:t>
            </a:r>
            <a:endParaRPr lang="en-US" sz="2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Yaraya dökülen oksijenli su köpürürken sağlam cilde dökülen neden köpürmez?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köpüren peroksit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Yaraya dökülen oksijenli su köpürürken sağlam cilde dökülen neden köpürmez?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Köpürmeyi sağlayan katalaz enzimi hücrelerin içinde, özellikle kandaki alyuvarlarda bol bulunur. Yarada kan ve parçalanmış hücreler peroksitle doğrudan buluşur, katalaz peroksiti hızla su ve oksijene ayırır. Sağlam derinin en dış katmanı ölü, sert hücrelerden oluşur; peroksit enzime ulaşamaz ve ayrışma yine çok yavaş kalır.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Katalizör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tepkimeyi hızlandıran, tepkime bittiğinde ise kimyasal olarak değişmeden ve aynı miktarda geri kazanılan maddedir.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Peroksite atılan mangan dioksit tozu iyi bir örnektir: köpürme bitince sıvı süzülür, toz kurutulup tartılır ve kütlesinin değişmediği görülür.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toz yeni bir peroksite atılınca onu da yeniden köpürtür.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Tepkimeyi hızlandıran katalizöre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pozitif katalizör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 denir.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tepkimenin dışında durup seyretmez: girenlerle geçici olarak birleşir, onları yeni bir yoldan ürüne götürür ve sonunda yeniden serbest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Sudaki iyodür iyonu (I⁻) bir peroksitten bir oksijen atomu alır, bu atomu ikinci bir peroksite verip geri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adımda oluşup sonraki adımda harcanan türe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ara ürün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başta harcanıp sonda geri oluştuğu için net denklemde yer almaz; istenirse okun üstüne yazılır:</a:t>
            </a:r>
            <a:endParaRPr lang="en-US" sz="2200" dirty="0"/>
          </a:p>
        </p:txBody>
      </p:sp>
      <p:sp>
        <p:nvSpPr>
          <p:cNvPr id="7" name="Shape 5"/>
          <p:cNvSpPr/>
          <p:nvPr/>
        </p:nvSpPr>
        <p:spPr>
          <a:xfrm>
            <a:off x="640080" y="4977384"/>
            <a:ext cx="49962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977384"/>
            <a:ext cx="49962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2H₂O₂(suda) —I⁻→ 2H₂O(s) + O₂(g)</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651939" y="1234440"/>
            <a:ext cx="688781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2.png">    </p:cNvPr>
          <p:cNvPicPr>
            <a:picLocks noChangeAspect="1"/>
          </p:cNvPicPr>
          <p:nvPr/>
        </p:nvPicPr>
        <p:blipFill>
          <a:blip r:embed="rId1"/>
          <a:stretch>
            <a:fillRect/>
          </a:stretch>
        </p:blipFill>
        <p:spPr>
          <a:xfrm>
            <a:off x="2880539" y="1325880"/>
            <a:ext cx="643061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İyodür iyonu (mor halka)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birinci adımda harcanır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peroksitten bir O atomu alıp IO⁻ olur.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İkinci adımda geri oluşur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IO⁻ bu atomu ikinci bir peroksite verir, O₂ ve su çıkar. İki adımı toplayınca I⁻ ve IO⁻ iki taraftan sadeleşir; geriye 2H₂O₂ → 2H₂O + O₂ kalır. Katalizör tepkimeye katılır, ama net denklemde görünmez.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Harcanmaz: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sonunda aynı miktarda geri kazanılır; bu yüzden çok az bir katalizör, kendisinden çok daha büyük bir madde yığınını dönüştürebilir.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Ürünü değiştirmez: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katalizörlü ya da katalizörsüz, aynı girenlerden aynı ürünler aynı miktarda oluşur.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Seçicidir: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katalizör her tepkimeyi hızlandırmaz. Katalaz peroksiti ayrıştırır ama nişastaya dokunmaz; nişastayı tükürükteki başka bir enzim parçalar.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Katalizör tepkimeyi hızlandıran, tepkimeye katılıp sonunda değişmeden geri çıkan maddedir. Net denklemde yer almaz, okun üstüne yazılır; ürünün türünü ve miktarını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Katalizör harcanmıyorsa, neden bazen bir tutam yerine daha fazlası eklenir?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Katalizör nedir?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Katalizör harcanmıyorsa, neden bazen bir tutam yerine daha fazlası eklenir?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Katalizör tükenmez, ama her an yalnızca belirli sayıda tanecikle iş görebilir. Katı bir katalizörde iş yüzeyde döner; daha çok katalizör daha geniş yüzey, yani aynı anda çalışan daha çok nokta demektir. Bu yüzden katalizör miktarını artırmak hızı artırabilir. Oluşacak ürünün miktarını ise hiçbir zaman artırmaz; o, girenlerin miktarına bağlıdır.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katı, çevresindeki sıvı ya da gazla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yüzeyinden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tepkimeye girebilir.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Mermer parçasını asite attığında asidin tanecikleri yalnızca dışarıdaki mermer taneciklerine çarpabilir; içerideki tanecikler, üstlerindeki katmanlar tükenene kadar sıralarını bekler.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Katının öteki maddeye değdiği bu alana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temas yüzeyi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Katıyı parçalayınca içerideki tanecikler de dışarı çıkar: madde aynı, kütle aynı, ama yüzeyde duran tanecik sayısı artar.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 zamandaki çarpışma sayısı arttığı için tepkime hızlanır.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Toz, aynı kütledeki parçadan; talaş, aynı odunun kütüğünden hızlı tepkir.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317479" y="1234440"/>
            <a:ext cx="755673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3.png">    </p:cNvPr>
          <p:cNvPicPr>
            <a:picLocks noChangeAspect="1"/>
          </p:cNvPicPr>
          <p:nvPr/>
        </p:nvPicPr>
        <p:blipFill>
          <a:blip r:embed="rId1"/>
          <a:stretch>
            <a:fillRect/>
          </a:stretch>
        </p:blipFill>
        <p:spPr>
          <a:xfrm>
            <a:off x="2546079" y="1325880"/>
            <a:ext cx="709953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Tanecikleri bir kesitte düşün. Tek parçada 36 taneciğin yalnızca dış sıradaki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20'si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asitle çarpışabilir; içteki 16'sı bekler. Aynı 36 tanecik dokuz küçük parçaya ayrılınca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hepsi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yüzeye çıkar. Madde aynıdır, ama aynı anda çarpışabilen tanecik sayısı artar ve tepkime hızlanır.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Katı + sıvı: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mermer tozu asitte parçadan hızlı köpürür; çinko tozu asitte çinko levhadan hızlı hidrojen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Katı + gaz: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ince talaş kütükten, kömür tozu kömür parçasından hızlı yanar.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Sıvı + gaz: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motorda yakıt ince damlacıklar hâlinde püskürtülür; damla küçüldükçe havayla teması büyür.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Tek faz: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gaz karışımında ya da tek bir çözeltinin içinde tanecikler zaten her yerde karışıktır; orada “temas yüzeyi” diye bir şey yoktur.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Kütük ve talaş.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Odun havadaki oksijenle yalnızca yüzeyinden yanar. Kalın kütükte oksijen molekülleri yalnızca dış kabuktaki odun taneciklerine çarpabilir; içerisi sırasını bekler ve kütük yavaşça kömürleşir. Aynı odunu talaşa çevirince her yonganın iki yüzü de havaya açılır: aynı kütlede çok daha fazla tanecik oksijenle temas eder, birim zamandaki çarpışma sayısı katlanır ve talaş gür bir alevle hızla yanıp biter.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 parçaladıkça hızlanır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Katı yalnızca yüzeyindeki taneciklerle çarpışabilir. Parçalandıkça yüzeyde duran tanecik sayısı, dolayısıyla çarpışma sayısı ve hız artar; madde miktarı aynı kaldığı için ürün miktarı değişmez.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kütlede küp şeker ve toz şeker iki bardak sıcak çaya atılıyor. Hangisi önce çözünür, hangi çay daha tatlı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Temas yüzeyi: parçaladıkça hızlanır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kütlede küp şeker ve toz şeker iki bardak sıcak çaya atılıyor. Hangisi önce çözünür, hangi çay daha tatlı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Toz şeker önce çözünür, çünkü suyla değen yüzeyi çok daha büyüktür. Ama ikisi de tamamen çözündükten sonra iki çay aynı tatlılıktadır: şekerin miktarı aynıdır. Yüzey olayın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hızını</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değiştirir,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sonucunu</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değiştirmez. Çözünme kimyasal değil fiziksel bir olaydır, ama yüzeyin etkisi tepkimelerdeki ile aynıdır.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Vücudundaki tepkimeler 37 °C gibi ılık bir sıcaklıkta, suyun içinde yürür.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koşullarda yardımsız kalsalar çoğu yıllar sürerdi; oysa saniyeler içinde biterler.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sağlayan, hücrelerin ürettiği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enzimlerdir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Enzimler çoğunlukla büyük protein molekülleridir ve canlıların katalizörleridir: tepkimeyi hızlandırır, sonunda değişmeden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enzimin yüzeyinde yalnızca belirli bir molekülün oturabileceği bir cep bulunur; buna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aktif bölge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Giren molekül bu cebe, anahtarın kilide girmesi gibi oturur; cebin içinde bağları zayıflar ve ürünlere ayrılır.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Ürünler cepten çıkınca enzim aynı biçimiyle yeni bir molekülü bekler.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enzimler çok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seçicidir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her enzim yalnızca bir ya da birkaç benzer tepkimeyi hızlandırır.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4.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Anahtar–kilit modeli.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Giren molekül (mavi) enzimin cebine tam oturur; cebin içinde bağları zayıflar ve iki ürüne (yeşil) ayrılır. Ürünler ayrılınca cep boşalır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enzim ilk biçimiyle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yeni bir molekülü bekler. Cebe uymayan bir molekül oturamaz; enzimin seçiciliği buradan gelir.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Katalaz: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karaciğerde, kanda ve patateste bulunur; hücrede oluşan zararlı hidrojen peroksiti su ve oksijene ayırır.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Amilaz: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tükürükte bulunur, nişastayı şekere parçalar. Ekmeği uzun süre çiğneyince ağzında tatlanması bundandır.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Pepsin: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midenin asitli ortamında proteinleri küçük parçalara böler.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Maya enzimleri: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hamurdaki şekeri etanole ve karbon dioksite çevirir; hamur bu gazla kabarır.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Enzimin cebi, proteinin katlanmış biçimine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Çok ısıtılınca (çoğu enzim için 50–60 °C'den sonra) bu biçim bozulur ve enzim işe yaramaz hâle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enzimin çalıştığı bir pH aralığı da vardır (pepsin asitte, amilaz nötre yakın ortamda); bu aralığın dışında da biçimi bozulur.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Enzimler: canlıların katalizörleri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Enzimler canlı hücrelerin ürettiği, çoğu protein yapılı katalizörlerdir. Aktif bölgelerine yalnızca uygun molekül oturur; çok yüksek sıcaklıkta ve uygun olmayan pH'ta biçimleri bozulur, işe yaramaz olurlar.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Haşlanmış patates dilimine hidrojen peroksit dökülürse neden köpürmez?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Enzimler: canlıların katalizörleri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Haşlanmış patates dilimine hidrojen peroksit dökülürse neden köpürmez?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Kaynatma, katalazın protein yapısını kalıcı olarak bozar; aktif bölge artık peroksiti tutamaz. Isı çoğu tepkimeyi hızlandırır ama enzimin kendisini de bozabilir. Haşlanmış patatesteki peroksit bu yüzden yine çok yavaş, katalizörsüz yoldan ayrışır.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00" dirty="0">
                <a:solidFill>
                  <a:srgbClr val="C3CEE8"/>
                </a:solidFill>
                <a:latin typeface="Calibri" pitchFamily="34" charset="0"/>
                <a:ea typeface="Calibri" pitchFamily="34" charset="-122"/>
                <a:cs typeface="Calibri" pitchFamily="34" charset="-120"/>
              </a:rPr>
              <a:t>Bağıntılar: katalizörün enerji grafiğinde ve enerji dağılımında neyi değiştirdiğini gör, Ea ile ΔH arasındaki bağı kullan, temas yüzeyini küplerle hesapla.</a:t>
            </a:r>
            <a:endParaRPr lang="en-US" sz="14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Katalizör enerji yolunu nasıl değiştirir?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Enerji dağılımında katalizör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Temas yüzeyini hesaplamak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Ea(katalizörlü) &lt; Ea(katalizörsüz)</a:t>
            </a:r>
            <a:endParaRPr lang="en-US" sz="1500" dirty="0"/>
          </a:p>
        </p:txBody>
      </p:sp>
      <p:sp>
        <p:nvSpPr>
          <p:cNvPr id="13" name="Text 11"/>
          <p:cNvSpPr txBox="1"/>
          <p:nvPr/>
        </p:nvSpPr>
        <p:spPr>
          <a:xfrm>
            <a:off x="9768535" y="148132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daha alçak bir tepeden geçilir</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265176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ΔH(katalizörlü) = ΔH</a:t>
            </a:r>
            <a:endParaRPr lang="en-US" sz="1500" dirty="0"/>
          </a:p>
        </p:txBody>
      </p:sp>
      <p:sp>
        <p:nvSpPr>
          <p:cNvPr id="16" name="Text 14"/>
          <p:cNvSpPr txBox="1"/>
          <p:nvPr/>
        </p:nvSpPr>
        <p:spPr>
          <a:xfrm>
            <a:off x="9144000" y="2350008"/>
            <a:ext cx="222473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girenler ve ürünler aynı seviyede</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2H₂O₂ → 2H₂O + O₂</a:t>
            </a:r>
            <a:endParaRPr lang="en-US" sz="1500" dirty="0"/>
          </a:p>
        </p:txBody>
      </p:sp>
      <p:sp>
        <p:nvSpPr>
          <p:cNvPr id="19" name="Text 17"/>
          <p:cNvSpPr txBox="1"/>
          <p:nvPr/>
        </p:nvSpPr>
        <p:spPr>
          <a:xfrm>
            <a:off x="8787384" y="321868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MnO₂, KI ya da katalazla hızlanır</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A = 6·L²·k</a:t>
            </a:r>
            <a:endParaRPr lang="en-US" sz="1500" dirty="0"/>
          </a:p>
        </p:txBody>
      </p:sp>
      <p:sp>
        <p:nvSpPr>
          <p:cNvPr id="22" name="Text 20"/>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küp k³ parçaya bölününce yüzey k katı</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dersler.perinet.org/katalizor.html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tepesinin girenlerden yüksekliği ileri aktifleşme (aktivasyon) enerjisi,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Ea(ileri)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ürünlerden yüksekliği geri aktifleşme enerjisi,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Ea(geri)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girenleri de ürünleri de değiştirmez; aynı iki seviye arasında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daha alçak bir tepeden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geçen yeni bir yol açar: tepkimenin izlediği yolu,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mekanizmasını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Katalizörlü yolun değerlerini Ea′ ile göstereceğiz.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25880"/>
            <a:ext cx="4162349" cy="585216"/>
          </a:xfrm>
          <a:prstGeom prst="roundRect">
            <a:avLst>
              <a:gd name="adj" fmla="val 18750"/>
            </a:avLst>
          </a:prstGeom>
          <a:solidFill>
            <a:srgbClr val="EEF2FC"/>
          </a:solidFill>
          <a:ln w="9525">
            <a:solidFill>
              <a:srgbClr val="CBD7F4"/>
            </a:solidFill>
            <a:prstDash val="solid"/>
          </a:ln>
        </p:spPr>
      </p:sp>
      <p:sp>
        <p:nvSpPr>
          <p:cNvPr id="7" name="Text 5"/>
          <p:cNvSpPr txBox="1"/>
          <p:nvPr/>
        </p:nvSpPr>
        <p:spPr>
          <a:xfrm>
            <a:off x="640080" y="1325880"/>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Ea′(ileri) = Ea(ileri) − x</a:t>
            </a:r>
            <a:endParaRPr lang="en-US" sz="1800" dirty="0"/>
          </a:p>
        </p:txBody>
      </p:sp>
      <p:sp>
        <p:nvSpPr>
          <p:cNvPr id="8" name="Shape 6"/>
          <p:cNvSpPr/>
          <p:nvPr/>
        </p:nvSpPr>
        <p:spPr>
          <a:xfrm>
            <a:off x="4948733" y="1325880"/>
            <a:ext cx="3884371"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4948733" y="1325880"/>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Ea′(geri) = Ea(geri) − x</a:t>
            </a:r>
            <a:endParaRPr lang="en-US" sz="1800" dirty="0"/>
          </a:p>
        </p:txBody>
      </p:sp>
      <p:sp>
        <p:nvSpPr>
          <p:cNvPr id="10" name="Shape 8"/>
          <p:cNvSpPr/>
          <p:nvPr/>
        </p:nvSpPr>
        <p:spPr>
          <a:xfrm>
            <a:off x="640080" y="2039112"/>
            <a:ext cx="4023360"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640080" y="2039112"/>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Ea(ileri) − Ea(geri)</a:t>
            </a:r>
            <a:endParaRPr lang="en-US" sz="1800" dirty="0"/>
          </a:p>
        </p:txBody>
      </p:sp>
      <p:sp>
        <p:nvSpPr>
          <p:cNvPr id="12" name="Shape 10"/>
          <p:cNvSpPr/>
          <p:nvPr/>
        </p:nvSpPr>
        <p:spPr>
          <a:xfrm>
            <a:off x="4809744" y="2039112"/>
            <a:ext cx="4301338" cy="585216"/>
          </a:xfrm>
          <a:prstGeom prst="roundRect">
            <a:avLst>
              <a:gd name="adj" fmla="val 18750"/>
            </a:avLst>
          </a:prstGeom>
          <a:solidFill>
            <a:srgbClr val="EEF2FC"/>
          </a:solidFill>
          <a:ln w="9525">
            <a:solidFill>
              <a:srgbClr val="CBD7F4"/>
            </a:solidFill>
            <a:prstDash val="solid"/>
          </a:ln>
        </p:spPr>
      </p:sp>
      <p:sp>
        <p:nvSpPr>
          <p:cNvPr id="13" name="Text 11"/>
          <p:cNvSpPr txBox="1"/>
          <p:nvPr/>
        </p:nvSpPr>
        <p:spPr>
          <a:xfrm>
            <a:off x="4809744" y="2039112"/>
            <a:ext cx="43013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Ea′(ileri) − Ea′(geri)</a:t>
            </a:r>
            <a:endParaRPr lang="en-US" sz="1800" dirty="0"/>
          </a:p>
        </p:txBody>
      </p:sp>
      <p:sp>
        <p:nvSpPr>
          <p:cNvPr id="15" name="Shape 12"/>
          <p:cNvSpPr/>
          <p:nvPr/>
        </p:nvSpPr>
        <p:spPr>
          <a:xfrm>
            <a:off x="640080" y="6382512"/>
            <a:ext cx="128016" cy="128016"/>
          </a:xfrm>
          <a:prstGeom prst="roundRect">
            <a:avLst>
              <a:gd name="adj" fmla="val 28571"/>
            </a:avLst>
          </a:prstGeom>
          <a:solidFill>
            <a:srgbClr val="A9E648"/>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3411065"/>
                <a:gridCol w="6497267"/>
                <a:gridCol w="100320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Ea(ileri)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katalizörsüz yolda girenlerden tepeye çıkış</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Ea(geri)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katalizörsüz yolda ürünlerden tepeye çıkış</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Ea′(ileri), Ea′(geri)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aynı çıkışlar, katalizörlü yolda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katalizörün tepeyi alçalttığı miktar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ürünlerin enerjisi eksi girenlerin enerjisi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İki Ea neden aynı miktar azalır?</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Seviyeler yerinde: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katalizör girenlerin ve ürünlerin kendisini değiştirmez; iki seviyenin enerjisi aynı kalır.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alçalır: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katalizörlü yolun tepesi, katalizörsüz tepeden x kadar aşağıdadır.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Ea(ileri) = tepe − girenler. Tepe x kadar inince Ea(ileri) de x kadar azalır.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Ea(geri) = tepe − ürünler. Aynı tepe, aynı x: Ea(geri) de x kadar azalır.</a:t>
            </a:r>
            <a:endParaRPr lang="en-US" sz="2100" dirty="0"/>
          </a:p>
        </p:txBody>
      </p:sp>
      <p:sp>
        <p:nvSpPr>
          <p:cNvPr id="9" name="Text 7"/>
          <p:cNvSpPr txBox="1"/>
          <p:nvPr/>
        </p:nvSpPr>
        <p:spPr>
          <a:xfrm>
            <a:off x="640080" y="5404104"/>
            <a:ext cx="10911535" cy="459486"/>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5"/>
            </a:pPr>
            <a:r>
              <a:rPr lang="en-US" sz="2100" b="1" dirty="0">
                <a:solidFill>
                  <a:srgbClr val="0E1426"/>
                </a:solidFill>
                <a:latin typeface="Calibri" pitchFamily="34" charset="0"/>
                <a:ea typeface="Calibri" pitchFamily="34" charset="-122"/>
                <a:cs typeface="Calibri" pitchFamily="34" charset="-120"/>
              </a:rPr>
              <a:t>ΔH: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 girenler farkında tepe hiç yer almaz; ΔH değişmez.</a:t>
            </a:r>
            <a:endParaRPr lang="en-US" sz="21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2869092" y="1234440"/>
            <a:ext cx="645351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5.png">    </p:cNvPr>
          <p:cNvPicPr>
            <a:picLocks noChangeAspect="1"/>
          </p:cNvPicPr>
          <p:nvPr/>
        </p:nvPicPr>
        <p:blipFill>
          <a:blip r:embed="rId1"/>
          <a:stretch>
            <a:fillRect/>
          </a:stretch>
        </p:blipFill>
        <p:spPr>
          <a:xfrm>
            <a:off x="3097692" y="1325880"/>
            <a:ext cx="599631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yol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girenlerden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başlar,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ürünlerde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biter. Katalizörlü yolun (mor kesik) tepesi 50 kJ alçaktır; bu yüzden soldaki ileri oklar 120'den 70'e, sağdaki geri oklar 180'den 130'a, yani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ikisi de 50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kısalır. Girenlerden ürünlere inen ΔH oku tepeye hiç uğramaz: iki yolda da −60 kJ'dir.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Grafiğin sayılarıyla dene: katalizörsüz yolda ΔH = 120 − 180 = −60 kJ, katalizörlü yolda ΔH = 70 − 130 = −60 kJ; yine aynı.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 kJ olduğu için farklar da kJ'dir.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Gerçekte katalizörlü yol çoğu zaman iki ya da daha çok küçük tepeden oluşur, çünkü katalizör önce bir ara ürün oluşturur; lisede bu yolu tek ve alçak bir tepeyle çizeriz.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Önemli olan, yolun en yüksek tepesinin alçalmasıdır.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 tepeyi kendin alçaltabilirsin.</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enerji yolunu nasıl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Katalizör girenleri ve ürünleri yerinde bırakır, yalnızca enerji tepesini alçaltır. Bu yüzden Ea(ileri) ve Ea(geri) aynı miktar azalır; ΔH = Ea(ileri) − Ea(geri) değişmez.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Katalizör ileri tepkimeyi hızlandırırken geri tepkimeyi yavaşlatır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Katalizör enerji yolunu nasıl değiştirir?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Katalizör ileri tepkimeyi hızlandırırken geri tepkimeyi yavaşlatır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İleri ve geri tepkime aynı tepeden geçer; tepe alçalınca ikisinin de aktifleşme enerjisi aynı miktar azalır ve ikisi de hızlanır. Bu yüzden katalizör, iki yönde de yürüyebilen tepkimelerde sonuca daha çabuk varılmasını sağlar, ama varılan sonucu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Taneciklerin hepsi aynı hızla hareket etmez: bazıları yavaş, çoğu orta hızda, birkaçı çok hızlıdır.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Tanecik sayısı–kinetik enerji grafiği bu dağılımı gösterir.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Etkin çarpışma için çarpışan taneciklerin kinetik enerjileri toplamı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eşik enerjisini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aşmalıdır; eşik enerjisi sayıca Ea'ya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Grafikte eşik dikey bir çizgidir; sağındaki alan, tepkimeye girebilecek kadar enerjili taneciklerin sayısıdır.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eklemek taneciklere enerji vermez; sıcaklık değişmediği için eğri olduğu gibi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Değişen, eşiğin yeridir: Ea düştüğü için eşik çizgisi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sola kayar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Daha önce yetmeyen orta enerjili tanecikler de artık eşiği aşar; etkin çarpışma sayısı ve hız artar.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490658" y="1234440"/>
            <a:ext cx="721037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6.png">    </p:cNvPr>
          <p:cNvPicPr>
            <a:picLocks noChangeAspect="1"/>
          </p:cNvPicPr>
          <p:nvPr/>
        </p:nvPicPr>
        <p:blipFill>
          <a:blip r:embed="rId1"/>
          <a:stretch>
            <a:fillRect/>
          </a:stretch>
        </p:blipFill>
        <p:spPr>
          <a:xfrm>
            <a:off x="2719258" y="1325880"/>
            <a:ext cx="675317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Sıcaklık aynı olduğu için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tek eğri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var. Katalizörsüz eşik Ea'nın sağındaki kırmızı alan, katalizör yokken de tepkimeye girebilen taneciklerdir. Katalizörlü eşik Ea′ sola kayınca iki çizgi arasındaki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mor alan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da eklenir: katalizörlü eşiği aşan taneciklerin tamamı mor ve kırmızı alanın toplamıdır. Bu çizimin ölçeğinde eşiği aşanların payı yaklaşık %9'dan %31'e çıkıyor.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Dağılımın sağ kuyruğu çok hızlı incelir; bu yüzden eşikteki küçük bir kayma bile eşiği aşan tanecik sayısını kat kat artırır.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tepkimelerde artış, sonraki bölümde göreceğin gibi, binlerce kat olabilir.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Sıcaklıktan farkı</a:t>
            </a:r>
            <a:endParaRPr lang="en-US" sz="2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3497287"/>
                <a:gridCol w="4896202"/>
                <a:gridCol w="251804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 olur?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Sıcaklığı artırmak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Katalizör eklemek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Dağılım eğrisi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sağa yayılır, basıklaşır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Ortalama kinetik enerji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Eşik enerjisi (Ea)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azalır, sola kayar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Eşiği aşan tanecik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biraz değişir (sınavlarda: değişir)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ΔH sıcaklıkla çok az değişir; hızdaki büyük artışı bu küçük değişim açıklamaz.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dağılımında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Katalizör eklenince sıcaklık ve dağılım eğrisi değişmez, eşik enerjisi sola kayar ve eşiği aşan tanecik sayısı artar. Sıcaklık artışında ise tersine eşik yerinde kalır, eğri sağa yayılır.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öğrenci “Katalizör taneciklere enerji verdiği için tepkime hızlanır” diyor. Doğru mu?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Enerji dağılımında katalizör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öğrenci “Katalizör taneciklere enerji verdiği için tepkime hızlanır” diyor. Doğru mu?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Taneciklerin enerjisini sıcaklık belirler; katalizör eklenince sıcaklık da dağılım eğrisi de değişmez. Katalizör, taneciklerin aşması gereken engeli alçaltır. Aynı enerjiyle daha çok tanecik bu alçak engeli aşabildiği için hız artar.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431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Yüzeyin ne kadar büyüdüğünü küplerle hesaplayabilirsin.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Kenarı L olan küpün altı kare yüzü vardır, yüzeyi 6 · L²'dir.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her kenarı k eşit parçaya böldüğünü düşün:</a:t>
            </a:r>
            <a:endParaRPr lang="en-US" sz="2200" dirty="0"/>
          </a:p>
        </p:txBody>
      </p:sp>
      <p:sp>
        <p:nvSpPr>
          <p:cNvPr id="7" name="Shape 5"/>
          <p:cNvSpPr/>
          <p:nvPr/>
        </p:nvSpPr>
        <p:spPr>
          <a:xfrm>
            <a:off x="640080" y="2958084"/>
            <a:ext cx="2077517"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958084"/>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A₁ = 6 · L²</a:t>
            </a:r>
            <a:endParaRPr lang="en-US" sz="1800" dirty="0"/>
          </a:p>
        </p:txBody>
      </p:sp>
      <p:sp>
        <p:nvSpPr>
          <p:cNvPr id="9" name="Shape 7"/>
          <p:cNvSpPr/>
          <p:nvPr/>
        </p:nvSpPr>
        <p:spPr>
          <a:xfrm>
            <a:off x="2863901" y="2958084"/>
            <a:ext cx="291145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863901" y="2958084"/>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parça sayısı = k³</a:t>
            </a:r>
            <a:endParaRPr lang="en-US" sz="1800" dirty="0"/>
          </a:p>
        </p:txBody>
      </p:sp>
      <p:sp>
        <p:nvSpPr>
          <p:cNvPr id="11" name="Shape 9"/>
          <p:cNvSpPr/>
          <p:nvPr/>
        </p:nvSpPr>
        <p:spPr>
          <a:xfrm>
            <a:off x="5921654" y="2958084"/>
            <a:ext cx="4857293"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5921654" y="2958084"/>
            <a:ext cx="485729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A(toplam) = 6 · L² · k = k · A₁</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Bu formüllerdeki harfler</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785524"/>
                <a:gridCol w="7935662"/>
                <a:gridCol w="119034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büyük küpün kenar uzunluğu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her kenarın bölündüğü eşit parça sayısı (sonraki konudaki hız sabiti k ile karıştırma)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k³</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oluşan küçük küp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A₁</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büyük küpün yüzey alanı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A(toplam)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küçük küplerin toplam yüzey alanı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Parça sayısı: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kenar k parçaya bölününce boyda k, enine k, derinlikte k küp olur: k · k · k = k³ küp.</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Bir parçanın yüzeyi: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küçük küpün kenarı L/k'dir; yüzeyi 6 · (L/k)² = 6 · L²/k².</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Toplam: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k³ · 6 · L²/k² = 6 · L² · k. Yüzey tam k katına çıkar.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Madde aynı: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toplam hacim k³ · (L/k)³ = L³; kütle değişmez.</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967573"/>
                <a:gridCol w="3314654"/>
                <a:gridCol w="3314654"/>
                <a:gridCol w="331465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Parça 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Parça kenarı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yüzey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48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0,67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72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0,4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120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240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2317479" y="1234440"/>
            <a:ext cx="755673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7.png">    </p:cNvPr>
          <p:cNvPicPr>
            <a:picLocks noChangeAspect="1"/>
          </p:cNvPicPr>
          <p:nvPr/>
        </p:nvPicPr>
        <p:blipFill>
          <a:blip r:embed="rId1"/>
          <a:stretch>
            <a:fillRect/>
          </a:stretch>
        </p:blipFill>
        <p:spPr>
          <a:xfrm>
            <a:off x="2546079" y="1325880"/>
            <a:ext cx="709953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Kenarı 2 cm olan küp her kenarından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parçaya bölünüyor. Parça sayısı küp gibi büyür (1, 8, 27), toplam yüzey ise yalnızca k gibi: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24, 48, 72 cm²</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Yeni yüzeyler, kesim yerlerinde açılan iç yüzlerdir; toplam hacim ve kütle hep aynıdır.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yüzeyle orantılıysa, k = 3'te tepkimenin başlangıç hızı yaklaşık 3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tepkimeye giren mermerin kütlesi değişmediği için açığa çıkan CO₂ aynıdır: toz yalnızca bu miktara daha çabuk ulaşır.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Lisede temas yüzeyinin büyümesi, bir sonraki konuda tanıyacağın hız sabitinin büyümesi olarak kabul edilir.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küpü kendin bölebilirsin.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169643" y="1234440"/>
            <a:ext cx="785241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8.png">    </p:cNvPr>
          <p:cNvPicPr>
            <a:picLocks noChangeAspect="1"/>
          </p:cNvPicPr>
          <p:nvPr/>
        </p:nvPicPr>
        <p:blipFill>
          <a:blip r:embed="rId1"/>
          <a:stretch>
            <a:fillRect/>
          </a:stretch>
        </p:blipFill>
        <p:spPr>
          <a:xfrm>
            <a:off x="2398243" y="1325880"/>
            <a:ext cx="739521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Açık bir kapta 5,0 g mermer (CaCO₃) asit fazlasıyla tepkimeye giriyor: CaCO₃(k) + 2HCl(suda) → CaCl₂(suda) + H₂O(s) + CO₂(g). Kaçan CO₂ kabın kütlesini azaltır.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Toz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eğrisi başta çok daha diktir, ama iki eğri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yükseklikte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2,2 g'da düzleşir: 0,050 mol CaCO₃'tan 0,050 mol, yani 2,2 g CO₂ çıkar.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Temas yüzeyini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Kenarı L olan küp her kenarından k parçaya bölünürse k³ küçük küp oluşur ve toplam yüzey k katına çıkar: A = 6 · L² · k. Kütle değişmediği için ürün miktarı aynıdır; yalnızca hız artar.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Kenarı 2 cm olan mermer küpü 8 parçaya böldün. Tepkime boyunca hız hep 2 kat mı kalır?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Temas yüzeyini hesaplamak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Kenarı 2 cm olan mermer küpü 8 parçaya böldün. Tepkime boyunca hız hep 2 kat mı kalır?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“2 kat” yalnızca başlangıç için iyi bir tahmindir. Tepkime ilerledikçe parçalar küçülür, yüzeyleri değişir; asit de harcandıkça seyrelir. İki deneyde de hız zamanla azalır. Değişmeyen şey, tepkime bittiğinde açığa çıkan CO₂ miktarıdır.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Katalizörün gücünü tanıdık sayılarla görelim.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tablo hidrojen peroksitin ayrışmasının farklı yollarını karşılaştırıyor.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sütun, eşik enerjisini aşan tanecik sayısının katalizörsüz, 25 °C'deki duruma göre kaç katına çıktığını, sayfadaki enerji dağılımı modeliyle kabaca hesaplıyor.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Karşılaştırma için sıcaklığı 10 °C artırmanın etkisi de yazıldı.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117581"/>
                <a:gridCol w="4251247"/>
                <a:gridCol w="354270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Durum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Ea (kJ/mol, yaklaşık)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Eşiği aşan tanecik 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Katalizörsüz, 25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(karşılaştırma)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Katalizörsüz, 35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2,6 katı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İyodür (KI) ile, 25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1900 katı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Katalaz ile, 25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23 (bazı ölçümlerde daha 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yüz milyonlarca katı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09.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tepkimenin üç yolu, gerçek değerlerle ölçekli çizildi (1 mol H₂O₂ için). Üçü de aynı girenlerden başlayıp aynı ürünlerde biter; yalnızca tepeler farklıdır: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75, 56 ve 23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Açığa çıkan ısı, yani ΔH, üç yolda da yaklaşık −98 kJ'dir; katalaz tepeyi o kadar alçaltır ki engel, açığa çıkan ısının dörtte birinden azdır.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üç sonuç çıkar:</a:t>
            </a:r>
            <a:endParaRPr lang="en-US" sz="2200" dirty="0"/>
          </a:p>
        </p:txBody>
      </p:sp>
      <p:sp>
        <p:nvSpPr>
          <p:cNvPr id="7" name="Text 5"/>
          <p:cNvSpPr txBox="1"/>
          <p:nvPr/>
        </p:nvSpPr>
        <p:spPr>
          <a:xfrm>
            <a:off x="640080" y="200406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Küçük düşüş, büyük etki: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Ea'nın 75'ten 56'ya, yani yalnızca dörtte bir oranında düşmesi, eşiği aşan tanecik sayısını yaklaşık 1900 katına çıkarıyor.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Isıtmak bu kadarını yapamaz: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10 °C ısıtmak hızı ancak 2–3 katına çıkarır. Aynı modelle, iyodürün sağladığı artışı yalnız ısıtarak elde etmek için peroksiti 125 °C dolayına çıkarmak gerekirdi.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ΔH hep aynı: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üç yolda da 1 mol H₂O₂ ayrışırken yaklaşık 98 kJ ısı açığa çıkar (oluşum entalpileri tablosundaki sıvı H₂O₂ değeriyle).</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Temas yüzeyi de şaşırtıcı büyüklüklere ulaşır.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tablo, bir zar büyüklüğündeki 1 cm³'lük bir küp şekerin ya da kömürün gittikçe küçülen küplere ayrılmasını gösteriyor: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931457"/>
                <a:gridCol w="1954305"/>
                <a:gridCol w="1954305"/>
                <a:gridCol w="407146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Parça kenarı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Parça 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yüzey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Neye benzer?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 zarın yüzeyi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 mm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 kibrit kutusunun dışı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0,1 mm (un tanesi)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milyon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600 cm²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 A4 kâğıdının bir yüzü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0,01 mm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milyar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 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 okul sırasının üstü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0,001 mm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10¹²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 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m × 3 m'lik bir halı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Ea'daki küçük bir düşüş, eşiği aşan tanecik sayısını binlerce, enzimle yüz milyonlarca kat artırabilir; ısıtmak bunun yanında küçük kalır. Bir santimetreküplük katı toz hâline gelince yüzeyi metrekarelere ulaşır.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00" dirty="0">
                <a:solidFill>
                  <a:srgbClr val="C3CEE8"/>
                </a:solidFill>
                <a:latin typeface="Calibri" pitchFamily="34" charset="0"/>
                <a:ea typeface="Calibri" pitchFamily="34" charset="-122"/>
                <a:cs typeface="Calibri" pitchFamily="34" charset="-120"/>
              </a:rPr>
              <a:t>Derinleşme: katalizörün hâline göre türleri, tepkimeyi yavaşlatan maddeler, katalizörün hiç değiştiremedikleri ve fabrikadan egzoza katalizörler.</a:t>
            </a:r>
            <a:endParaRPr lang="en-US" sz="15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Homojen ve heterojen katalizör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İnhibitörler: tepkimeyi yavaşlatanlar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Katalizör neyi değiştirmez?</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Katalizör ve yüzey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katalizo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Katalitik konvertör.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Egzoz gazı bal peteğindeki binlerce ince kanaldan geçerken kanal duvarlarındaki platin, paladyum ve rodyum kaplamaya değer. Kanallar ve duvarlardaki gözenekli kaplama, küçük bir kutunun içine çok büyük bir temas yüzeyi sığdırır. Zehirli karbon monoksit, yanmamış yakıt ve azot oksitler bu yüzeyde saniyenin küçük bir kesrinde CO₂, su buharı ve N₂'ye dönüşür; metaller ise yerinde kalır.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Homojen ve heterojen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Katalizörleri bulundukları hâle, yani faza göre ikiye ayırırız.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girenlerle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fazdaysa homojen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farklı fazdaysa heterojen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katalizördür.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Peroksit de iyodür de suda çözünmüştür: iyodür homojendir.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Mangan dioksit suda çözünmeyen bir katıdır ve peroksiti kendi yüzeyinde ayrıştırır: heterojendir.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Homojen ve heterojen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10.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Homojen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katalizörde (solda) iyodür iyonları peroksit molekülleriyle aynı çözeltiye dağılmıştır; kabarcıklar her yerde oluşur.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Heterojen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katalizörde (sağda) MnO₂ dipte katı olarak durur; peroksit ancak katının yüzeyine değince ayrışır ve kabarcıklar yalnızca oradan yükselir.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Homojen ve heterojen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640080" y="1325880"/>
            <a:ext cx="5830214" cy="585216"/>
          </a:xfrm>
          <a:prstGeom prst="roundRect">
            <a:avLst>
              <a:gd name="adj" fmla="val 18750"/>
            </a:avLst>
          </a:prstGeom>
          <a:solidFill>
            <a:srgbClr val="EEF2FC"/>
          </a:solidFill>
          <a:ln w="9525">
            <a:solidFill>
              <a:srgbClr val="CBD7F4"/>
            </a:solidFill>
            <a:prstDash val="solid"/>
          </a:ln>
        </p:spPr>
      </p:sp>
      <p:sp>
        <p:nvSpPr>
          <p:cNvPr id="7" name="Text 5"/>
          <p:cNvSpPr txBox="1"/>
          <p:nvPr/>
        </p:nvSpPr>
        <p:spPr>
          <a:xfrm>
            <a:off x="640080" y="1325880"/>
            <a:ext cx="583021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2H₂O₂(suda) —I⁻(suda)→ 2H₂O(s) + O₂(g)</a:t>
            </a:r>
            <a:endParaRPr lang="en-US" sz="1800" dirty="0"/>
          </a:p>
        </p:txBody>
      </p:sp>
      <p:sp>
        <p:nvSpPr>
          <p:cNvPr id="8" name="Shape 6"/>
          <p:cNvSpPr/>
          <p:nvPr/>
        </p:nvSpPr>
        <p:spPr>
          <a:xfrm>
            <a:off x="6616598" y="1325880"/>
            <a:ext cx="4718304"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616598" y="1325880"/>
            <a:ext cx="471830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N₂(g) + 3H₂(g) —Fe(k)→ 2NH₃(g)</a:t>
            </a:r>
            <a:endParaRPr lang="en-US" sz="1800" dirty="0"/>
          </a:p>
        </p:txBody>
      </p:sp>
      <p:sp>
        <p:nvSpPr>
          <p:cNvPr id="10" name="Text 8"/>
          <p:cNvSpPr txBox="1"/>
          <p:nvPr/>
        </p:nvSpPr>
        <p:spPr>
          <a:xfrm>
            <a:off x="640080" y="214884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Homojen örnekleri: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sudaki iyodürle peroksitin ayrışması; yüksek atmosferde klor atomlarının ozonu parçalaması (klor da ozon da gazdır).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Heterojen örnekleri: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katı MnO₂ ile peroksit; katı demirle amonyak üretimi; egzozdaki platin, paladyum ve rodyumla zehirli gazların dönüşümü; katı nikelle sıvı yağların margarine dönüştürülmesi.</a:t>
            </a:r>
            <a:endParaRPr lang="en-US" sz="21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Homojen ve heterojen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Heterojen katalizörde iş yüzeyde döner ve dört adımda yürür: tanecikler katının yüzeyine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tutunur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bağları zayıflar ya 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kopar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yan yana gelen parçalar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yeni bağ</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kurar, ürün yüzeyden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ayrılır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yer boşalır.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heterojen katalizör toz, gözenekli kütle ya da ince kaplama hâlinde kullanılır; temas yüzeyi burada da belirleyicidir.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adımları basamağın son bölümünde, egzozdaki platin yüzeyinde göreceğiz.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Homojen ve heterojen katalizör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Katalizör girenlerle aynı fazdaysa homojen, farklı fazdaysa heterojendir. Heterojen katalizörde tepkime katının yüzeyinde tutunma, bağ kopması, yeni bağ ve ayrılma adımlarıyla yürür; bu yüzden geniş yüzey önemlidir.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Tepkimeden sonra homojen bir katalizörü geri almak mı kolaydır, heterojen bir katalizörü mü?</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Homojen ve heterojen katalizör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Tepkimeden sonra homojen bir katalizörü geri almak mı kolaydır, heterojen bir katalizörü mü?</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Heterojen katalizörü. Katı MnO₂ süzgeç kâğıdında kalır, kurutulup yeniden kullanılır; egzozdaki platin yerinden hiç ayrılmaz. Suda çözünmüş iyodür ise ürünlerle aynı çözeltidedir ve onu ayırmak ek işlem ister. Fabrikaların çoğunun katı katalizör kullanmasının bir nedeni budur.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Bazen amaç tepkimeyi hızlandırmak değil, yavaşlatmaktır: yağın acımasını, ilacın bozulmasını, metalin paslanmasını geciktirmek isteriz.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Tepkimeyi yavaşlatan maddelere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inhibitör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kitaplarda “negatif katalizör” adı da geçer.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İnhibitörler çoğunlukla tepkimenin kullandığı kolay yolu kapatarak çalışır: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Katalizörü etkisizleştirir: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gıdalardaki sitrik asit ve sitratlar, yağların oksitlenmesini hızlandıran eser metal iyonlarını bağlar. Kurşun da egzozdaki platinin yüzeyini kaplayıp “zehirler”.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Ara ürünü yakalar: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yağın acıması zincirleme yürür; her adımda oluşan çok etkin bir ara ürün bir sonraki adımı başlatır. E ve C vitamini gibi antioksidanlar bu ara ürünlerle birleşip zinciri koparır.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19557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Enzimi durdurur: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limon suyu sıkılan elma dilimi geç kararır; asitlik ve C vitamini, kararmayı hızlandıran enzimin işini bozar. Aspirin de ağrı ve ateşe yol açan maddeleri üreten bir enzimi etkisizleştirir.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Hepsinde ortak nokta şu: inhibitör, tepkimenin o ana kadar kullandığı alçak tepeli yolu, yani katalizör ya da ara ürün üzerinden giden yolu kapatır.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durmaz, ama geriye kalan, tepesi daha yüksek yoldan yürümek zorunda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Sınavlardaki “negatif katalizör aktifleşme enerjisini yükseltir” cümlesinin anlamı budur: tepkimenin izlediği yolun aktifleşme enerjisi büyür.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11.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Birçok tepkime, ortamdaki eser bir katalizör ya da zincirleme oluşan ara ürünler sayesinde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kolay bir yoldan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(mor kesik, Ea = 50 kJ) yürür. İnhibitör bu yolu kapatır (kırmızı çarpı); tepkime artık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yüksek tepeli yoldan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(mavi, Ea = 115 kJ) yürüyebilir ve yavaşlar. Girenler ve ürünler aynı kaldığı için ΔH değişmez.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İnhibitörü katalizörden ayıran önemli bir fark daha var: çoğu inhibitör iş görürken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harcanır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Zinciri koparan antioksidan, ara ürünle birleşip tükenir; gıdalardaki koruyucuların bir raf ömrü olması bundandır.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Eczanedeki oksijenli suya da az miktarda kararlı kılıcı eklenir ve şişe ışık geçirmeyen koyu renkte yapılır; ikisi de ayrışmayı yavaşlatır.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İnhibitörler de katalizörler gibi ΔH'yi değiştirmez; yalnızca hızı düşürür.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İnhibitörler: tepkimeyi yavaşlatanlar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İnhibitörler katalizörü ya da ara ürünü etkisizleştirerek tepkimenin kolay yolunu kapatır; tepkime daha yüksek Ea'lı yoldan yavaş yürür. Çoğu inhibitör harcanır ve ΔH'yi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İnhibitör eklenen bir yağ hiç acımaz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İnhibitörler: tepkimeyi yavaşlatanlar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İnhibitör eklenen bir yağ hiç acımaz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Acır, ama çok daha geç. İnhibitör tepkimeyi durdurmaz, yalnızca kolay yolu kapatır; tepkime yüksek tepeli yoldan yavaşça sürer. Üstelik antioksidan harcandıkça etkisi azalır. Ambalajdaki son tüketim tarihi bu yüzden vardır.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güçlüdür, ama sınırları kesindir.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eklenince ya da katı toz hâline gelince neyin değiştiğini, neyin aynı kaldığını bilmek bu konudaki soruların çoğunu çözer: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364614"/>
                <a:gridCol w="4122136"/>
                <a:gridCol w="2424786"/>
              </a:tblGrid>
              <a:tr h="690372">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Nicelik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Katalizör eklenince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Temas yüzeyi artınca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Tepkime hızı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Aktifleşme enerjisi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azalır (ileri ve geri aynı miktar)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Birim zamandaki etkin çarpışma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 sabiti (lise kabulü)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 girenlerin ve ürünlerin enerjisi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Ürünün türü, miktarı ve verim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462914" y="1234440"/>
            <a:ext cx="726586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12.png">    </p:cNvPr>
          <p:cNvPicPr>
            <a:picLocks noChangeAspect="1"/>
          </p:cNvPicPr>
          <p:nvPr/>
        </p:nvPicPr>
        <p:blipFill>
          <a:blip r:embed="rId1"/>
          <a:stretch>
            <a:fillRect/>
          </a:stretch>
        </p:blipFill>
        <p:spPr>
          <a:xfrm>
            <a:off x="2691514" y="1325880"/>
            <a:ext cx="680866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peroksit çözeltisinden üç örnek: biri katalizörsüz, ikisi farklı miktarda katalizörlü. Katalizör çoğaldıkça eğri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dikleşir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ama katalizörlü iki eğri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hacimde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düzleşir: 0,010 mol H₂O₂ her durumda 0,005 mol, yani normal koşullarda 112 mL O₂ verir. Katalizörsüz eğri bu sürede tabanda neredeyse düz kalır; o da aynı 112 mL'yi ancak aylar içinde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İmkânsızı mümkün kılmaz: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katalizör yalnızca zaten yürüyebilen bir tepkimeyi hızlandırır; kendiliğinden yürüyemeyen bir tepkimeyi yürütemez. Suyu hidrojen ve oksijene ayırmak için enerji vermek gerekir; hiçbir katalizör bu enerjinin yerini tutmaz.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Daha çok ürün vermez: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sonunda oluşan ürün miktarı girenlerin miktarına bağlıdır. Katalizör aynı ürüne daha kısa sürede ulaştırır; grafikte eğri dikleşir, ama aynı yükseklikte düzleşir.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Isıyı değiştirmez: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ekzotermik bir tepkimede katalizörle daha çok ısı açığa çıkmaz; aynı ısı daha kısa sürede çıkar.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Katalizör hızı, Ea'yı ve hız sabitini değiştirir; ΔH'yi, girenlerin ve ürünlerin enerjisini, ürünün türünü ve miktarını, verimi değiştirmez. Kendiliğinden yürüyemeyen bir tepkimeyi de yürütemez.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ΔH değişmediği hâlde katalizör eklenen ekzotermik bir tepkimenin kabı neden daha çok ısınır?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Katalizör neyi değiştirmez?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ΔH değişmediği hâlde katalizör eklenen ekzotermik bir tepkimenin kabı neden daha çok ısınır?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Açığa çıkan toplam ısı aynıdır, ama çok daha kısa sürede çıkar. Isı çevreye dağılmaya fırsat bulamadan birikir ve sıcaklık daha çok yükselir. Fil diş macunu deneyinde köpüğün buhar tütmesi bundandır; mol başına ΔH ise yine aynıdır.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ve yüzey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 sanayisindeki üretim süreçlerinin yaklaşık onda dokuzu en az bir adımda katalizör kullanır.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Katalizör aynı ürünü daha düşük sıcaklıkta ve daha kısa sürede verir; istenen tepkimeyi seçerek hızlandırdığı için yan ürün veren başka tepkimelere fırsat bırakmaz.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tek bir tepkimenin verimini değiştirmek demek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Temas yüzeyi ise hem işe yarar hem tehlike yaratabilir.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ve yüzey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Katalitik konvertör: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2CO + O₂ → 2CO₂ ve 2NO + 2CO → N₂ + 2CO₂ gibi tepkimeler sıcak egzozda, metal yüzeyinde yürür. Konvertör yaklaşık 250 °C'ye ısınmadan iyi çalışmaz; kirliliğin önemli bir kısmı motor soğukken çıkar. Kurşunlu benzin yüzeyi zehirlediği için konvertörlü araçlarda kullanılamaz.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Haber–Bosch yöntemi: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N₂ + 3H₂ → 2NH₃ tepkimesi demir katalizörle, 400–450 °C'de ve yüksek basınçta yürütülür. Bu amonyaktan yapılan gübreler, bugün dünyadaki insanların yaklaşık yarısını besleyen ürünlerin yetişmesini sağlar.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ve yüzey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Deterjan enzimleri: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çamaşır deterjanlarındaki enzimler kan ve yumurta gibi protein lekelerini, yağı ve nişastayı parçalar; çamaşır 30–40 °C'de temizlenir, enerji tasarrufu sağlanır.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Toz patlamaları: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un, şeker ya da kömür tozu havada asılı kalınca çok büyük bir yüzeyle oksijene açılır; bir kıvılcım, alevin bütün bulutu bir anda sarmasına yeter. Değirmenler ve madenler bu yüzden tozu ve kıvılcımı sıkı denetler.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ve yüzey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152735" y="1234440"/>
            <a:ext cx="588622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katalizor-13.png">    </p:cNvPr>
          <p:cNvPicPr>
            <a:picLocks noChangeAspect="1"/>
          </p:cNvPicPr>
          <p:nvPr/>
        </p:nvPicPr>
        <p:blipFill>
          <a:blip r:embed="rId1"/>
          <a:stretch>
            <a:fillRect/>
          </a:stretch>
        </p:blipFill>
        <p:spPr>
          <a:xfrm>
            <a:off x="3381335" y="1325880"/>
            <a:ext cx="542902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Konvertörün içinde, platin yüzeyinde 2CO + O₂ → 2CO₂: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O₂ yüzeye tutunur, CO yaklaşır;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O₂'nin bağı kopar, iki O atomu yüzeye dağılır, CO de yüzeye tutunur;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CO ile bir O atomu yeni bağ kurar;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CO₂ yüzeyden ayrılır. Platin atomları hiç değişmez; kalan O atomu ikinci CO molekülünü bekler. Sayfanın 04 numaralı bölümünde bu yüzeyi canlı izleyebilir, bölgeleri “zehirleyip” hızın düşüşünü görebilirsin.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Katalizör ve yüzey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Konvertörde, Haber–Bosch'ta ve deterjanlarda katalizörler aynı ürünü daha hızlı ve daha düşük sıcaklıkta, yani daha az yakıt harcayarak verir. Geniş temas yüzeyi konvertörü verimli kılar; havadaki ince toz ise aynı nedenle patlayabilir.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katalizör, temas yüzeyi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Katalizörlü enerji grafiği</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Peroksitten ne kadar oksijen?</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Mermer küpü bölmek</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Enerji dağılımı grafiğini okumak</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Toz ve parça çinko</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Dört kap, hangisi önde?</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Ozonu parçalayan klor</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dersler.perinet.org/katalizor.html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Katalizörlü enerji grafiği</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Bir tepkimenin katalizörsüz yolunda ileri aktifleşme enerjisi 90 kJ, tepkime entalpisi ΔH = −40 kJ'dir. Uygun bir katalizör ileri aktifleşme enerjisini 55 kJ'e düşürüyor. (a) Katalizörsüz geri aktifleşme enerjisi kaç kJ'dir? (b) Katalizör tepeyi kaç kJ alçaltmıştır? (c) Katalizörlü geri aktifleşme enerjisi kaç kJ'dir?</a:t>
            </a:r>
            <a:endParaRPr lang="en-US" sz="1900" dirty="0"/>
          </a:p>
        </p:txBody>
      </p:sp>
      <p:sp>
        <p:nvSpPr>
          <p:cNvPr id="11" name="Shape 9"/>
          <p:cNvSpPr/>
          <p:nvPr/>
        </p:nvSpPr>
        <p:spPr>
          <a:xfrm>
            <a:off x="3915101" y="3757574"/>
            <a:ext cx="4361494"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4.png">    </p:cNvPr>
          <p:cNvPicPr>
            <a:picLocks noChangeAspect="1"/>
          </p:cNvPicPr>
          <p:nvPr/>
        </p:nvPicPr>
        <p:blipFill>
          <a:blip r:embed="rId1"/>
          <a:stretch>
            <a:fillRect/>
          </a:stretch>
        </p:blipFill>
        <p:spPr>
          <a:xfrm>
            <a:off x="4143701" y="3867302"/>
            <a:ext cx="3904294"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Katalizörlü enerji grafiği</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tepkimenin katalizörsüz yolunda ileri aktifleşme enerjisi 90 kJ, tepkime entalpisi ΔH = −40 kJ'dir. Uygun bir katalizör ileri aktifleşme enerjisini 55 kJ'e düşürüyor. (a) Katalizörsüz geri aktifleşme enerjisi kaç kJ'dir? (b) Katalizör tepeyi kaç kJ alçaltmıştır? (c) Katalizörlü geri aktifleşme enerjisi kaç kJ'dir?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Ea(ileri) = 90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 −40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Ea′(ileri) = 55 kJ (katalizörlü)</a:t>
            </a:r>
            <a:endParaRPr lang="en-US" sz="180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Ea(geri)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tepenin alçalma miktarı 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Ea′(geri)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Katalizörlü enerji grafiği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Ea(ileri) − Ea(geri) → −40 = 90 − Ea(geri) → Ea(geri)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130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Tepenin alçalması: x = 90 − 55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35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Katalizörlü enerji grafiği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Geri yol da aynı tepeden geçer: Ea′(geri) = 130 − 35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95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Ea′(ileri) − Ea′(geri) = 55 − 95 = −40 kJ ✓ ΔH değişmedi.</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Peroksitten ne kadar oksijen?</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İçinde 0,17 g H₂O₂ bulunan bir çözeltiye 0,50 g MnO₂ tozu ekleniyor; köpürme 4 dakikada bitiyor. (a) Normal koşullarda kaç mL O₂ toplanır? (b) Süzülüp kurutulan MnO₂ kaç gramdır? (c) MnO₂ eklenmeseydi, peroksitin tamamı ayrıştığında kaç mL O₂ oluşurdu?</a:t>
            </a:r>
            <a:endParaRPr lang="en-US" sz="1900" dirty="0"/>
          </a:p>
        </p:txBody>
      </p:sp>
      <p:sp>
        <p:nvSpPr>
          <p:cNvPr id="11" name="Shape 9"/>
          <p:cNvSpPr/>
          <p:nvPr/>
        </p:nvSpPr>
        <p:spPr>
          <a:xfrm>
            <a:off x="3680839" y="3757574"/>
            <a:ext cx="4830018"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5.png">    </p:cNvPr>
          <p:cNvPicPr>
            <a:picLocks noChangeAspect="1"/>
          </p:cNvPicPr>
          <p:nvPr/>
        </p:nvPicPr>
        <p:blipFill>
          <a:blip r:embed="rId1"/>
          <a:stretch>
            <a:fillRect/>
          </a:stretch>
        </p:blipFill>
        <p:spPr>
          <a:xfrm>
            <a:off x="3909439" y="3867302"/>
            <a:ext cx="4372818"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Peroksitten ne kadar oksijen?</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İçinde 0,17 g H₂O₂ bulunan bir çözeltiye 0,50 g MnO₂ tozu ekleniyor; köpürme 4 dakikada bitiyor. (a) Normal koşullarda kaç mL O₂ toplanır? (b) Süzülüp kurutulan MnO₂ kaç gramdır? (c) MnO₂ eklenmeseydi, peroksitin tamamı ayrıştığında kaç mL O₂ oluşurdu?</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m(H₂O₂) = 0,17 g</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M(H₂O₂) = 2</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1 + 2</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16 = 34 g/mol</a:t>
            </a:r>
            <a:endParaRPr lang="en-US" sz="160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m(MnO₂) = 0,50 g</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2H₂O₂ → 2H₂O + O₂</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1 mol gaz = 22,4 L</a:t>
            </a:r>
            <a:endParaRPr lang="en-US" sz="160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V(O₂)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deney sonunda MnO₂ kütlesi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katalizörsüz V(O₂)</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Peroksitten ne kadar oksijen?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n(H₂O₂) = 0,17 / 34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0,0050 mol</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Katsayılar 2 : 1 → n(O₂) = 0,0050 / 2 = 0,0025 mol</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V(O₂) = 0,0025 · 22,4 L = 0,056 L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56 mL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100 mL'lik şırıngaya rahatça sığar.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Peroksitten ne kadar oksijen?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MnO₂ katalizördür, harcanmaz: süzülen toz yine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0,50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Katalizörsüz de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56 mL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oluşur; yalnızca çok daha uzun sürede.</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küpü bölmek</a:t>
            </a:r>
            <a:endParaRPr lang="en-US" sz="1450" dirty="0"/>
          </a:p>
        </p:txBody>
      </p:sp>
      <p:sp>
        <p:nvSpPr>
          <p:cNvPr id="8" name="Shape 6"/>
          <p:cNvSpPr/>
          <p:nvPr/>
        </p:nvSpPr>
        <p:spPr>
          <a:xfrm>
            <a:off x="640080" y="1645920"/>
            <a:ext cx="10911535" cy="1875130"/>
          </a:xfrm>
          <a:prstGeom prst="roundRect">
            <a:avLst>
              <a:gd name="adj" fmla="val 780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17930"/>
          </a:xfrm>
          <a:prstGeom prst="rect">
            <a:avLst/>
          </a:prstGeom>
          <a:noFill/>
          <a:ln/>
        </p:spPr>
        <p:txBody>
          <a:bodyPr wrap="square" lIns="0" tIns="0" rIns="0" bIns="0" rtlCol="0" anchor="t"/>
          <a:lstStyle/>
          <a:p>
            <a:pPr indent="0" marL="0">
              <a:lnSpc>
                <a:spcPct val="116000"/>
              </a:lnSpc>
              <a:buNone/>
            </a:pPr>
            <a:r>
              <a:rPr lang="en-US" sz="1850" dirty="0">
                <a:solidFill>
                  <a:srgbClr val="0E1426"/>
                </a:solidFill>
                <a:latin typeface="Calibri" pitchFamily="34" charset="0"/>
                <a:ea typeface="Calibri" pitchFamily="34" charset="-122"/>
                <a:cs typeface="Calibri" pitchFamily="34" charset="-120"/>
              </a:rPr>
              <a:t>Kenarı 3 cm olan bir mermer (CaCO₃) küpün her kenarı üç eşit parçaya bölünerek küçük küpler elde ediliyor. (a) Kaç küçük küp oluşur? (b) Büyük küpün ve küçük küplerin toplam yüzeyi kaç cm²'dir? (c) Hız yüzeyle orantılıysa, asitle tepkimenin başlangıç hızı kaç katına çıkar? (d) Asit fazlayken açığa çıkan CO₂ miktarı değişir mi?</a:t>
            </a:r>
            <a:endParaRPr lang="en-US" sz="1850" dirty="0"/>
          </a:p>
        </p:txBody>
      </p:sp>
      <p:sp>
        <p:nvSpPr>
          <p:cNvPr id="11" name="Shape 9"/>
          <p:cNvSpPr/>
          <p:nvPr/>
        </p:nvSpPr>
        <p:spPr>
          <a:xfrm>
            <a:off x="3610836" y="3722218"/>
            <a:ext cx="4970024" cy="2532278"/>
          </a:xfrm>
          <a:prstGeom prst="roundRect">
            <a:avLst>
              <a:gd name="adj" fmla="val 577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6.png">    </p:cNvPr>
          <p:cNvPicPr>
            <a:picLocks noChangeAspect="1"/>
          </p:cNvPicPr>
          <p:nvPr/>
        </p:nvPicPr>
        <p:blipFill>
          <a:blip r:embed="rId1"/>
          <a:stretch>
            <a:fillRect/>
          </a:stretch>
        </p:blipFill>
        <p:spPr>
          <a:xfrm>
            <a:off x="3839436" y="3831946"/>
            <a:ext cx="4512824" cy="2312822"/>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küpü bölmek</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Kenarı 3 cm olan bir mermer (CaCO₃) küpün her kenarı üç eşit parçaya bölünerek küçük küpler elde ediliyor. (a) Kaç küçük küp oluşur? (b) Büyük küpün ve küçük küplerin toplam yüzeyi kaç cm²'dir? (c) Hız yüzeyle orantılıysa, asitle tepkimenin başlangıç hızı kaç katına çıkar? (d) Asit fazlayken açığa çıkan CO₂ miktarı değişir mi?</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L = 3 cm</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her kenar k = 3 parçaya bölünüyor</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hız yüzeyle orantılı</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asit fazla</a:t>
            </a:r>
            <a:endParaRPr lang="en-US" sz="15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(a) küçük küp sayısı</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(b) A₁ ve A₂</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(c) hız oranı</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(d) CO₂ miktarı</a:t>
            </a:r>
            <a:endParaRPr lang="en-US" sz="155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küpü bölmek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Parça sayısı k³ = 3³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27</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her küçük küpün kenarı 1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A₁ = 6 · L² = 6 · 3²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54 cm²</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A₂ = 27 · 6 · 1²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162 cm²</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(kısa yol: 6 · L² · k = 54 · 3)</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küpü bölmek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oranı = A₂ / A₁ = 162 / 54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başlangıç hızı 3 katına çıkar.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CO₂ miktarı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CaCO₃'ın kütlesi aynıdır.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 grafiğini okumak</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Gaz fazındaki bir tepkimeye sabit sıcaklıkta bir işlem uygulanıyor. Tanecik sayısı–kinetik enerji grafiğinde dağılım eğrisi değişmiyor, eşik enerjisi E₁'den E₂'ye iniyor. (a) Uygulanan işlem nedir? (b) Ortalama kinetik enerji, eşiği aşan tanecik sayısı, ΔH ve tepkime hızı nasıl değişir?</a:t>
            </a:r>
            <a:endParaRPr lang="en-US" sz="1900" dirty="0"/>
          </a:p>
        </p:txBody>
      </p:sp>
      <p:sp>
        <p:nvSpPr>
          <p:cNvPr id="11" name="Shape 9"/>
          <p:cNvSpPr/>
          <p:nvPr/>
        </p:nvSpPr>
        <p:spPr>
          <a:xfrm>
            <a:off x="3645330" y="3757574"/>
            <a:ext cx="490103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7.png">    </p:cNvPr>
          <p:cNvPicPr>
            <a:picLocks noChangeAspect="1"/>
          </p:cNvPicPr>
          <p:nvPr/>
        </p:nvPicPr>
        <p:blipFill>
          <a:blip r:embed="rId1"/>
          <a:stretch>
            <a:fillRect/>
          </a:stretch>
        </p:blipFill>
        <p:spPr>
          <a:xfrm>
            <a:off x="3873930" y="3867302"/>
            <a:ext cx="444383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 grafiğini okumak</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Gaz fazındaki bir tepkimeye sabit sıcaklıkta bir işlem uygulanıyor. Tanecik sayısı–kinetik enerji grafiğinde dağılım eğrisi değişmiyor, eşik enerjisi E₁'den E₂'ye iniyor. (a) Uygulanan işlem nedir? (b) Ortalama kinetik enerji, eşiği aşan tanecik sayısı, ΔH ve tepkime hızı nasıl değişir?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sıcaklık sabit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dağılım eğrisi aynı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eşik enerjisi E₁ → E₂ (E₂ &lt; E₁)</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işlemin adı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ortalama kinetik enerji, eşiği aşan tanecik sayısı, ΔH ve hızdaki değişim</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 grafiğini okumak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Eğri değişmemiş → sıcaklık aynı → ortalama kinetik enerji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Eşik sola kaymış → Ea düşmüş → tepkimeye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katalizör eklenmiştir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E₂'nin sağındaki alan E₁'in sağındakinden büyük → eşiği aşan tanecik sayısı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 grafiğini okumak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Etkin çarpışma artar → tepkime hızı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Girenler ve ürünler aynı → ΔH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Toz ve parça çinko</a:t>
            </a:r>
            <a:endParaRPr lang="en-US" sz="1450" dirty="0"/>
          </a:p>
        </p:txBody>
      </p:sp>
      <p:sp>
        <p:nvSpPr>
          <p:cNvPr id="8" name="Shape 6"/>
          <p:cNvSpPr/>
          <p:nvPr/>
        </p:nvSpPr>
        <p:spPr>
          <a:xfrm>
            <a:off x="640080" y="1645920"/>
            <a:ext cx="10911535" cy="1698346"/>
          </a:xfrm>
          <a:prstGeom prst="roundRect">
            <a:avLst>
              <a:gd name="adj" fmla="val 861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241146"/>
          </a:xfrm>
          <a:prstGeom prst="rect">
            <a:avLst/>
          </a:prstGeom>
          <a:noFill/>
          <a:ln/>
        </p:spPr>
        <p:txBody>
          <a:bodyPr wrap="square" lIns="0" tIns="0" rIns="0" bIns="0" rtlCol="0" anchor="t"/>
          <a:lstStyle/>
          <a:p>
            <a:pPr indent="0" marL="0">
              <a:lnSpc>
                <a:spcPct val="116000"/>
              </a:lnSpc>
              <a:buNone/>
            </a:pPr>
            <a:r>
              <a:rPr lang="en-US" sz="1600" dirty="0">
                <a:solidFill>
                  <a:srgbClr val="0E1426"/>
                </a:solidFill>
                <a:latin typeface="Calibri" pitchFamily="34" charset="0"/>
                <a:ea typeface="Calibri" pitchFamily="34" charset="-122"/>
                <a:cs typeface="Calibri" pitchFamily="34" charset="-120"/>
              </a:rPr>
              <a:t>Kütlesi 0,26 g olan iki çinko örneğinden biri tek parça, öteki toz hâlinde; ikisi de aynı sıcaklıkta, aynı derişimdeki HCl fazlasına atılıyor. Toplanan H₂ hacmi–zaman grafiğinde A eğrisi 20. saniyede 60 mL'yi, B eğrisi 20 mL'yi gösteriyor. (a) Hangi eğri toz çinkoya aittir? (b) İki deneyde de en sonda kaç mL H₂ toplanır? (c) A için ilk 20 saniyedeki ortalama hız kaç mL/s'dir?</a:t>
            </a:r>
            <a:endParaRPr lang="en-US" sz="1600" dirty="0"/>
          </a:p>
        </p:txBody>
      </p:sp>
      <p:sp>
        <p:nvSpPr>
          <p:cNvPr id="11" name="Shape 9"/>
          <p:cNvSpPr/>
          <p:nvPr/>
        </p:nvSpPr>
        <p:spPr>
          <a:xfrm>
            <a:off x="3418406" y="3545434"/>
            <a:ext cx="5354883" cy="2709062"/>
          </a:xfrm>
          <a:prstGeom prst="roundRect">
            <a:avLst>
              <a:gd name="adj" fmla="val 540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8.png">    </p:cNvPr>
          <p:cNvPicPr>
            <a:picLocks noChangeAspect="1"/>
          </p:cNvPicPr>
          <p:nvPr/>
        </p:nvPicPr>
        <p:blipFill>
          <a:blip r:embed="rId1"/>
          <a:stretch>
            <a:fillRect/>
          </a:stretch>
        </p:blipFill>
        <p:spPr>
          <a:xfrm>
            <a:off x="3647006" y="3655162"/>
            <a:ext cx="4897683" cy="248960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Toz ve parça çinko</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Kütlesi 0,26 g olan iki çinko örneğinden biri tek parça, öteki toz hâlinde; ikisi de aynı sıcaklıkta, aynı derişimdeki HCl fazlasına atılıyor. Toplanan H₂ hacmi–zaman grafiğinde A eğrisi 20. saniyede 60 mL'yi, B eğrisi 20 mL'yi gösteriyor. (a) Hangi eğri toz çinkoya aittir? (b) İki deneyde de en sonda kaç mL H₂ toplanır? (c) A için ilk 20 saniyedeki ortalama hız kaç mL/s'dir?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m(Zn) = 0,26 g (iki örnekte de)</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M(Zn) = 65 g/mol</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HCl fazla</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20 s'de A: 60 mL, B: 20 mL</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Zn(k) + 2HCl(suda) → ZnCl₂(suda) + H₂(g)</a:t>
            </a:r>
            <a:endParaRPr lang="en-US" sz="11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tozun eğrisi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son H₂ hacmi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A'nın ilk 20 s'deki ortalama hızı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Toz ve parça çinko</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Toz, aynı kütlede daha geniş yüzeylidir; daha hızlı tepkir → toz çinkonun eğrisi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n(Zn) = 0,26 / 65 = 0,004 mol → katsayılar 1 : 1 → n(H₂) = 0,004 mol</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Toz ve parça çinko</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V(H₂) = 0,004 · 22 400 mL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89,6 mL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çinko aynı, asit fazla olduğu için iki deneyde de aynı.</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A'nın ortalama hızı: 60 mL / 20 s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mL/s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(B'nin: 20 / 20 = 1 mL/s).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kap, hangisi önde?</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25 °C'de dört kapta hidrojen peroksit çözeltisi var: (1) 20 mL 1 M, katalizörsüz; (2) 20 mL 1 M + 0,5 g parça MnO₂; (3) 20 mL 1 M + 0,5 g toz MnO₂; (4) 40 mL 0,5 M + 0,5 g toz MnO₂. (a) Hangi kapların başlangıç hızları kesin olarak sıralanabilir? (b) Tepkimeler bittiğinde her kapta kaç mL O₂ oluşur?</a:t>
            </a:r>
            <a:endParaRPr lang="en-US" sz="1900" dirty="0"/>
          </a:p>
        </p:txBody>
      </p:sp>
      <p:sp>
        <p:nvSpPr>
          <p:cNvPr id="11" name="Shape 9"/>
          <p:cNvSpPr/>
          <p:nvPr/>
        </p:nvSpPr>
        <p:spPr>
          <a:xfrm>
            <a:off x="3748675" y="3757574"/>
            <a:ext cx="469434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19.png">    </p:cNvPr>
          <p:cNvPicPr>
            <a:picLocks noChangeAspect="1"/>
          </p:cNvPicPr>
          <p:nvPr/>
        </p:nvPicPr>
        <p:blipFill>
          <a:blip r:embed="rId1"/>
          <a:stretch>
            <a:fillRect/>
          </a:stretch>
        </p:blipFill>
        <p:spPr>
          <a:xfrm>
            <a:off x="3977275" y="3867302"/>
            <a:ext cx="423714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kap, hangisi önde?</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25 °C'de dört kapta hidrojen peroksit çözeltisi var: (1) 20 mL 1 M, katalizörsüz; (2) 20 mL 1 M + 0,5 g parça MnO₂; (3) 20 mL 1 M + 0,5 g toz MnO₂; (4) 40 mL 0,5 M + 0,5 g toz MnO₂. (a) Hangi kapların başlangıç hızları kesin olarak sıralanabilir? (b) Tepkimeler bittiğinde her kapta kaç mL O₂ oluşur?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hacimler ve derişimler kaplarda yazılı</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sıcaklık hepsinde 25 °C</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katalizör kütlesi 2, 3 ve 4'te aynı</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2H₂O₂ → 2H₂O + O₂</a:t>
            </a:r>
            <a:endParaRPr lang="en-US" sz="17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kesin hız sıralamaları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her kaptaki toplam O₂ hacmi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kap, hangisi önde?</a:t>
            </a:r>
            <a:endParaRPr lang="en-US" sz="1450" dirty="0"/>
          </a:p>
        </p:txBody>
      </p:sp>
      <p:sp>
        <p:nvSpPr>
          <p:cNvPr id="8" name="Shape 6"/>
          <p:cNvSpPr/>
          <p:nvPr/>
        </p:nvSpPr>
        <p:spPr>
          <a:xfrm>
            <a:off x="640080" y="164592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130552"/>
            <a:ext cx="420624" cy="420624"/>
          </a:xfrm>
          <a:prstGeom prst="roundRect">
            <a:avLst>
              <a:gd name="adj" fmla="val 26000"/>
            </a:avLst>
          </a:prstGeom>
          <a:solidFill>
            <a:srgbClr val="A56209"/>
          </a:solidFill>
          <a:ln/>
        </p:spPr>
      </p:sp>
      <p:sp>
        <p:nvSpPr>
          <p:cNvPr id="10" name="Text 8"/>
          <p:cNvSpPr txBox="1"/>
          <p:nvPr/>
        </p:nvSpPr>
        <p:spPr>
          <a:xfrm>
            <a:off x="914400" y="21305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Mol sayısı n = M · V: 1, 2 ve 3'te 1 · 0,020 = 0,020 mol; 4'te 0,5 · 0,040 = 0,020 mol. Dördü de aynı.</a:t>
            </a:r>
            <a:endParaRPr lang="en-US" sz="2000" dirty="0"/>
          </a:p>
        </p:txBody>
      </p:sp>
      <p:sp>
        <p:nvSpPr>
          <p:cNvPr id="12" name="Shape 10"/>
          <p:cNvSpPr/>
          <p:nvPr/>
        </p:nvSpPr>
        <p:spPr>
          <a:xfrm>
            <a:off x="640080" y="320040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25526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Her kapta n(O₂) = 0,010 mol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224 mL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katalizör ve derişim son hacmi değiştirmez.</a:t>
            </a:r>
            <a:endParaRPr lang="en-US" sz="2000" dirty="0"/>
          </a:p>
        </p:txBody>
      </p:sp>
      <p:sp>
        <p:nvSpPr>
          <p:cNvPr id="16" name="Shape 14"/>
          <p:cNvSpPr/>
          <p:nvPr/>
        </p:nvSpPr>
        <p:spPr>
          <a:xfrm>
            <a:off x="640080" y="475488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239512"/>
            <a:ext cx="420624" cy="420624"/>
          </a:xfrm>
          <a:prstGeom prst="roundRect">
            <a:avLst>
              <a:gd name="adj" fmla="val 26000"/>
            </a:avLst>
          </a:prstGeom>
          <a:solidFill>
            <a:srgbClr val="A56209"/>
          </a:solidFill>
          <a:ln/>
        </p:spPr>
      </p:sp>
      <p:sp>
        <p:nvSpPr>
          <p:cNvPr id="18" name="Text 16"/>
          <p:cNvSpPr txBox="1"/>
          <p:nvPr/>
        </p:nvSpPr>
        <p:spPr>
          <a:xfrm>
            <a:off x="914400" y="5239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80974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Tek farklı çiftler kesin sıralanır: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&gt; 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(toz yüzeyi büyük),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&gt; 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(katalizör var),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&gt; 4</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(aynı toz, 4'te derişim yarı).</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kap, hangisi önde?</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 ile 4 iki farkla ayrılır: toz hızlandırır, seyreltik çözelti yavaşlatır. Verilen bilgiyle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karşılaştırılamaz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ile 4 de iki farkla ayrılır; ama katalizörsüz peroksit oda sıcaklığında neredeyse hiç ayrışmadığı için pratikte 4 &gt; 1 olur.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Ozonu parçalayan klor</a:t>
            </a:r>
            <a:endParaRPr lang="en-US" sz="1450" dirty="0"/>
          </a:p>
        </p:txBody>
      </p:sp>
      <p:sp>
        <p:nvSpPr>
          <p:cNvPr id="8" name="Shape 6"/>
          <p:cNvSpPr/>
          <p:nvPr/>
        </p:nvSpPr>
        <p:spPr>
          <a:xfrm>
            <a:off x="640080" y="1645920"/>
            <a:ext cx="10911535" cy="1733702"/>
          </a:xfrm>
          <a:prstGeom prst="roundRect">
            <a:avLst>
              <a:gd name="adj" fmla="val 843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276502"/>
          </a:xfrm>
          <a:prstGeom prst="rect">
            <a:avLst/>
          </a:prstGeom>
          <a:noFill/>
          <a:ln/>
        </p:spPr>
        <p:txBody>
          <a:bodyPr wrap="square" lIns="0" tIns="0" rIns="0" bIns="0" rtlCol="0" anchor="t"/>
          <a:lstStyle/>
          <a:p>
            <a:pPr indent="0" marL="0">
              <a:lnSpc>
                <a:spcPct val="116000"/>
              </a:lnSpc>
              <a:buNone/>
            </a:pPr>
            <a:r>
              <a:rPr lang="en-US" sz="1650" dirty="0">
                <a:solidFill>
                  <a:srgbClr val="0E1426"/>
                </a:solidFill>
                <a:latin typeface="Calibri" pitchFamily="34" charset="0"/>
                <a:ea typeface="Calibri" pitchFamily="34" charset="-122"/>
                <a:cs typeface="Calibri" pitchFamily="34" charset="-120"/>
              </a:rPr>
              <a:t>Yüksek atmosferde, soğutucu gazlardan kopan klor atomları ozonu iki basamakta parçalar: 1. Cl(g) + O₃(g) → ClO(g) + O₂(g); 2. ClO(g) + O(g) → Cl(g) + O₂(g). (a) Net tepkimeyi yazınız. (b) Katalizör ve ara ürün hangisidir? (c) Katalizör homojen mi, heterojen mi? (d) Bir Cl atomu ortalama 100 000 O₃ molekülünü parçalayabiliyorsa, 1 mol Cl atomu kaç kilogram O₃ parçalar?</a:t>
            </a:r>
            <a:endParaRPr lang="en-US" sz="1650" dirty="0"/>
          </a:p>
        </p:txBody>
      </p:sp>
      <p:sp>
        <p:nvSpPr>
          <p:cNvPr id="11" name="Shape 9"/>
          <p:cNvSpPr/>
          <p:nvPr/>
        </p:nvSpPr>
        <p:spPr>
          <a:xfrm>
            <a:off x="3619039" y="3580790"/>
            <a:ext cx="4953618" cy="2673706"/>
          </a:xfrm>
          <a:prstGeom prst="roundRect">
            <a:avLst>
              <a:gd name="adj" fmla="val 547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katalizor-20.png">    </p:cNvPr>
          <p:cNvPicPr>
            <a:picLocks noChangeAspect="1"/>
          </p:cNvPicPr>
          <p:nvPr/>
        </p:nvPicPr>
        <p:blipFill>
          <a:blip r:embed="rId1"/>
          <a:stretch>
            <a:fillRect/>
          </a:stretch>
        </p:blipFill>
        <p:spPr>
          <a:xfrm>
            <a:off x="3847639" y="3690518"/>
            <a:ext cx="4496418" cy="245425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Ozonu parçalayan klor</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Yüksek atmosferde, soğutucu gazlardan kopan klor atomları ozonu iki basamakta parçalar: 1. Cl(g) + O₃(g) → ClO(g) + O₂(g); 2. ClO(g) + O(g) → Cl(g) + O₂(g). (a) Net tepkimeyi yazınız. (b) Katalizör ve ara ürün hangisidir? (c) Katalizör homojen mi, heterojen mi? (d) Bir Cl atomu ortalama 100 000 O₃ molekülünü parçalayabiliyorsa, 1 mol Cl atomu kaç kilogram O₃ parçalar?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iki basamak (yukarıda)</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hepsi gaz</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1 Cl atomu ≈ 100 000 O₃</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M(O₃) = 3</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16 = 48 g/mol</a:t>
            </a:r>
            <a:endParaRPr lang="en-US" sz="11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(a) net tepkime</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(b) katalizör ve ara ürün</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(c) katalizörün türü</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(d) parçalanan O₃ kütlesi</a:t>
            </a:r>
            <a:endParaRPr lang="en-US" sz="155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Ozonu parçalayan klor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Basamakları topla: Cl + O₃ + ClO + O → ClO + O₂ + Cl + O₂</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İki yanda da bulunan Cl ve ClO sadeleşir: net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O₃ + O → 2O₂</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 4 = 4 ✓)</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Cl önce harcanıp sonra geri oluşur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katalizör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ClO önce oluşup sonra harcanır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ara ürün</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Ozonu parçalayan klor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Katalizör de girenler de gaz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homojen</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katalizör.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mol Cl → 100 000 mol O₃ → 100 000 · 48 g = 4,8·10⁶ g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4800 kg</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Katalizörsüz Ea(ileri) = 100 kJ, ΔH = −30 kJ olan bir tepkimede katalizör Ea(ileri)'yi 60 kJ'e indiriyor. Katalizörlü Ea(geri) kaç kJ'dir?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(H₂O₂ = 34 g/mol; normal koşullarda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Katalizörsüz Ea(ileri) = 100 kJ, ΔH = −30 kJ olan bir tepkimede katalizör Ea(ileri)'yi 60 kJ'e indiriyor. Katalizörlü Ea(geri) kaç kJ'dir?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Önce katalizörsüz Ea(geri) = Ea(ileri) − ΔH = 100 − (−30) = 130 kJ. Tepe 100 − 60 = 40 kJ alçaldığı için Ea′(geri) = 130 − 40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90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60 − 90 = −30 kJ ✓ ΔH aynı.</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Kenarı 2 cm olan bir küp şeker ile kenarı 1 cm olan 8 küp şekerin toplam yüzeyleri kaçar cm²'dir? Hangisi sıcak çayda daha çabuk çözünür?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(H₂O₂ = 34 g/mol; normal koşullarda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Kenarı 2 cm olan bir küp şeker ile kenarı 1 cm olan 8 küp şekerin toplam yüzeyleri kaçar cm²'dir? Hangisi sıcak çayda daha çabuk çözünür?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Büyük küp 6 · 2² = 24 cm², küçükler 8 · 6 · 1²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48 cm²</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Yüzeyi 2 katı olan küçük küpler daha çabuk çözünür. Şekerin hacmi (8 cm³) ve kütlesi aynı olduğu için çay sonunda aynı tatlılıkta olur.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Sabit sıcaklıkta bir tepkimeye katalizör ekleniyor. Ea(geri), ΔH, ortalama kinetik enerji, eşiği aşan tanecik sayısı ve ürün miktarı nasıl değişir?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(H₂O₂ = 34 g/mol; normal koşullarda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Sabit sıcaklıkta bir tepkimeye katalizör ekleniyor. Ea(geri), ΔH, ortalama kinetik enerji, eşiği aşan tanecik sayısı ve ürün miktarı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Ea(geri)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azalır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(Ea(ileri) ile aynı miktar); ΔH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ortalama kinetik enerji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çünkü sıcaklık aynı; eşiği aşan tanecik sayısı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ürün miktarı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0,34 g H₂O₂ katalaz enzimiyle 50 saniyede tamamen ayrışıyor. Normal koşullarda kaç mL O₂ oluşur, ortalama oluşma hızı kaç mL/s'dir?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(H₂O₂ = 34 g/mol; normal koşullarda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0,34 g H₂O₂ katalaz enzimiyle 50 saniyede tamamen ayrışıyor. Normal koşullarda kaç mL O₂ oluşur, ortalama oluşma hızı kaç mL/s'dir?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n(H₂O₂) = 0,34 / 34 = 0,010 mol → n(O₂) = 0,005 mol → V = 0,005 · 22 400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112 mL</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Ortalama hız = 112 mL / 50 s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2,24 mL/s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150" dirty="0">
                <a:solidFill>
                  <a:srgbClr val="0E1426"/>
                </a:solidFill>
                <a:latin typeface="Cambria" pitchFamily="34" charset="0"/>
                <a:ea typeface="Cambria" pitchFamily="34" charset="-122"/>
                <a:cs typeface="Cambria" pitchFamily="34" charset="-120"/>
              </a:rPr>
              <a:t>Kenarı 6 cm olan bir mermer küp, kenarı 1 cm olan küplere bölünüyor ve küçük küplerin yalnızca yarısı asit fazlasına atılıyor. Bütün küpün atıldığı duruma göre başlangıç hızı ve CO₂ miktarı nasıl değişir?</a:t>
            </a:r>
            <a:endParaRPr lang="en-US" sz="315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(H₂O₂ = 34 g/mol; normal koşullarda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500" i="1" dirty="0">
                <a:solidFill>
                  <a:srgbClr val="7B849E"/>
                </a:solidFill>
                <a:latin typeface="Calibri" pitchFamily="34" charset="0"/>
                <a:ea typeface="Calibri" pitchFamily="34" charset="-122"/>
                <a:cs typeface="Calibri" pitchFamily="34" charset="-120"/>
              </a:rPr>
              <a:t>Kenarı 6 cm olan bir mermer küp, kenarı 1 cm olan küplere bölünüyor ve küçük küplerin yalnızca yarısı asit fazlasına atılıyor. Bütün küpün atıldığı duruma göre başlangıç hızı ve CO₂ miktarı nasıl değişir?</a:t>
            </a:r>
            <a:endParaRPr lang="en-US" sz="15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Büyük küpün yüzeyi 6 · 6² = 216 cm². k = 6 olduğu için 6³ = 216 küçük küp oluşur, toplam yüzey 216 · 6 = 1296 cm². Yarısı, yani 108 küp, 648 cm² yüzey taşır: 648 / 216 = 3, başlangıç hızı yaklaşık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 katına çıkar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Ama mermerin yarısı kullanıldığı için oluşan CO₂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yarıya iner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97383"/>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“Katalizör tepkimeye girmez.”</a:t>
            </a:r>
            <a:endParaRPr lang="en-US" sz="1850" dirty="0"/>
          </a:p>
        </p:txBody>
      </p:sp>
      <p:sp>
        <p:nvSpPr>
          <p:cNvPr id="11" name="Shape 9"/>
          <p:cNvSpPr/>
          <p:nvPr/>
        </p:nvSpPr>
        <p:spPr>
          <a:xfrm>
            <a:off x="841248" y="2262759"/>
            <a:ext cx="310896" cy="310896"/>
          </a:xfrm>
          <a:prstGeom prst="roundRect">
            <a:avLst>
              <a:gd name="adj" fmla="val 26471"/>
            </a:avLst>
          </a:prstGeom>
          <a:solidFill>
            <a:srgbClr val="EAF7DC"/>
          </a:solidFill>
          <a:ln/>
        </p:spPr>
      </p:sp>
      <p:sp>
        <p:nvSpPr>
          <p:cNvPr id="12" name="Text 10"/>
          <p:cNvSpPr txBox="1"/>
          <p:nvPr/>
        </p:nvSpPr>
        <p:spPr>
          <a:xfrm>
            <a:off x="841248" y="2262759"/>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44471"/>
            <a:ext cx="4523080" cy="1431417"/>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Girer: girenlerle geçici bağlar kurar ya da ara ürünler oluşturur, sonunda aynen geri oluşur. Bu yüzden net denklemde yazılmaz, okun üstüne yazılır.</a:t>
            </a:r>
            <a:endParaRPr lang="en-US" sz="16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397383"/>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“Katalizör daha çok ürün verir.”</a:t>
            </a:r>
            <a:endParaRPr lang="en-US" sz="1850" dirty="0"/>
          </a:p>
        </p:txBody>
      </p:sp>
      <p:sp>
        <p:nvSpPr>
          <p:cNvPr id="18" name="Shape 16"/>
          <p:cNvSpPr/>
          <p:nvPr/>
        </p:nvSpPr>
        <p:spPr>
          <a:xfrm>
            <a:off x="6406744" y="2262759"/>
            <a:ext cx="310896" cy="310896"/>
          </a:xfrm>
          <a:prstGeom prst="roundRect">
            <a:avLst>
              <a:gd name="adj" fmla="val 26471"/>
            </a:avLst>
          </a:prstGeom>
          <a:solidFill>
            <a:srgbClr val="EAF7DC"/>
          </a:solidFill>
          <a:ln/>
        </p:spPr>
      </p:sp>
      <p:sp>
        <p:nvSpPr>
          <p:cNvPr id="19" name="Text 17"/>
          <p:cNvSpPr txBox="1"/>
          <p:nvPr/>
        </p:nvSpPr>
        <p:spPr>
          <a:xfrm>
            <a:off x="6406744" y="2262759"/>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44471"/>
            <a:ext cx="4523080" cy="1431417"/>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Ürünün türü ve miktarı, tepkimenin verimi değişmez; aynı miktara daha kısa sürede ulaşılır. Katalizörün miktarını artırmak da ürünü artırmaz.</a:t>
            </a:r>
            <a:endParaRPr lang="en-US" sz="16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21614"/>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“Katalizör ΔH'yi küçültür, ekzotermik tepkimede daha çok ısı çıkar.”</a:t>
            </a:r>
            <a:endParaRPr lang="en-US" sz="1850" dirty="0"/>
          </a:p>
        </p:txBody>
      </p:sp>
      <p:sp>
        <p:nvSpPr>
          <p:cNvPr id="25" name="Shape 23"/>
          <p:cNvSpPr/>
          <p:nvPr/>
        </p:nvSpPr>
        <p:spPr>
          <a:xfrm>
            <a:off x="841248" y="4927854"/>
            <a:ext cx="310896" cy="310896"/>
          </a:xfrm>
          <a:prstGeom prst="roundRect">
            <a:avLst>
              <a:gd name="adj" fmla="val 26471"/>
            </a:avLst>
          </a:prstGeom>
          <a:solidFill>
            <a:srgbClr val="EAF7DC"/>
          </a:solidFill>
          <a:ln/>
        </p:spPr>
      </p:sp>
      <p:sp>
        <p:nvSpPr>
          <p:cNvPr id="26" name="Text 24"/>
          <p:cNvSpPr txBox="1"/>
          <p:nvPr/>
        </p:nvSpPr>
        <p:spPr>
          <a:xfrm>
            <a:off x="841248" y="492785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09566"/>
            <a:ext cx="4523080" cy="1107186"/>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Girenlerin ve ürünlerin enerjisi aynı kaldığı için ΔH değişmez; aynı ısı yalnızca daha kısa sürede açığa çıkar.</a:t>
            </a:r>
            <a:endParaRPr lang="en-US" sz="16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21614"/>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“Katalizör yalnızca ileri tepkimeyi hızlandırır.”</a:t>
            </a:r>
            <a:endParaRPr lang="en-US" sz="1850" dirty="0"/>
          </a:p>
        </p:txBody>
      </p:sp>
      <p:sp>
        <p:nvSpPr>
          <p:cNvPr id="32" name="Shape 30"/>
          <p:cNvSpPr/>
          <p:nvPr/>
        </p:nvSpPr>
        <p:spPr>
          <a:xfrm>
            <a:off x="6406744" y="4927854"/>
            <a:ext cx="310896" cy="310896"/>
          </a:xfrm>
          <a:prstGeom prst="roundRect">
            <a:avLst>
              <a:gd name="adj" fmla="val 26471"/>
            </a:avLst>
          </a:prstGeom>
          <a:solidFill>
            <a:srgbClr val="EAF7DC"/>
          </a:solidFill>
          <a:ln/>
        </p:spPr>
      </p:sp>
      <p:sp>
        <p:nvSpPr>
          <p:cNvPr id="33" name="Text 31"/>
          <p:cNvSpPr txBox="1"/>
          <p:nvPr/>
        </p:nvSpPr>
        <p:spPr>
          <a:xfrm>
            <a:off x="6406744" y="492785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09566"/>
            <a:ext cx="4523080" cy="1107186"/>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Tepe ortaktır: Ea(ileri) ve Ea(geri) aynı miktar azalır, geri tepkime de hızlanır.</a:t>
            </a:r>
            <a:endParaRPr lang="en-US" sz="16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144</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“Katalizör taneciklere enerji verir.”</a:t>
            </a:r>
            <a:endParaRPr lang="en-US" sz="1750" dirty="0"/>
          </a:p>
        </p:txBody>
      </p:sp>
      <p:sp>
        <p:nvSpPr>
          <p:cNvPr id="11" name="Shape 9"/>
          <p:cNvSpPr/>
          <p:nvPr/>
        </p:nvSpPr>
        <p:spPr>
          <a:xfrm>
            <a:off x="841248" y="2245233"/>
            <a:ext cx="310896" cy="310896"/>
          </a:xfrm>
          <a:prstGeom prst="roundRect">
            <a:avLst>
              <a:gd name="adj" fmla="val 26471"/>
            </a:avLst>
          </a:prstGeom>
          <a:solidFill>
            <a:srgbClr val="EAF7DC"/>
          </a:solidFill>
          <a:ln/>
        </p:spPr>
      </p:sp>
      <p:sp>
        <p:nvSpPr>
          <p:cNvPr id="12" name="Text 10"/>
          <p:cNvSpPr txBox="1"/>
          <p:nvPr/>
        </p:nvSpPr>
        <p:spPr>
          <a:xfrm>
            <a:off x="841248"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Sıcaklık değişmediği için dağılım eğrisi ve ortalama kinetik enerji aynıdır; değişen, eşiğin yeridir.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“Toz hâline getirmek ürün miktarını artırır.”</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Kütle aynıysa ürün aynıdır, yalnız hız artar. Grafikte toz eğrisi daha diktir ama aynı yükseklikte düzleşir.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“İnhibitör, Ea'sı yüksek bir katalizördür ve harcanmaz.”</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Çoğu inhibitör katalizörü ya da ara ürünü etkisizleştirirken kendisi de harcanır; tepkime geriye kalan yüksek tepeli yoldan yürür.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“Uygun katalizör her tepkimeyi gerçekleştirir.”</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Katalizör yalnızca zaten yürüyebilen bir tepkimeyi hızlandırır; kendiliğinden yürüyemeyen bir tepkimeyi mümkün kılmaz.</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dersler.perinet.org/katalizor.html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145</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Katalizör </a:t>
            </a:r>
            <a:pPr indent="0" marL="0">
              <a:buNone/>
            </a:pPr>
            <a:r>
              <a:rPr lang="en-US" sz="1500" b="1" dirty="0">
                <a:solidFill>
                  <a:srgbClr val="FFFFFF"/>
                </a:solidFill>
                <a:latin typeface="Calibri" pitchFamily="34" charset="0"/>
                <a:ea typeface="Calibri" pitchFamily="34" charset="-122"/>
                <a:cs typeface="Calibri" pitchFamily="34" charset="-120"/>
              </a:rPr>
              <a:t>Ea'yı düşürür</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ΔH </a:t>
            </a:r>
            <a:pPr indent="0" marL="0">
              <a:buNone/>
            </a:pPr>
            <a:r>
              <a:rPr lang="en-US" sz="1500" b="1" dirty="0">
                <a:solidFill>
                  <a:srgbClr val="FFFFFF"/>
                </a:solidFill>
                <a:latin typeface="Calibri" pitchFamily="34" charset="0"/>
                <a:ea typeface="Calibri" pitchFamily="34" charset="-122"/>
                <a:cs typeface="Calibri" pitchFamily="34" charset="-120"/>
              </a:rPr>
              <a:t>değişmez</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Katalizör </a:t>
            </a:r>
            <a:pPr indent="0" marL="0">
              <a:buNone/>
            </a:pPr>
            <a:r>
              <a:rPr lang="en-US" sz="1500" b="1" dirty="0">
                <a:solidFill>
                  <a:srgbClr val="FFFFFF"/>
                </a:solidFill>
                <a:latin typeface="Calibri" pitchFamily="34" charset="0"/>
                <a:ea typeface="Calibri" pitchFamily="34" charset="-122"/>
                <a:cs typeface="Calibri" pitchFamily="34" charset="-120"/>
              </a:rPr>
              <a:t>harcanmaz</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Toz, parçadan </a:t>
            </a:r>
            <a:pPr indent="0" marL="0">
              <a:buNone/>
            </a:pPr>
            <a:r>
              <a:rPr lang="en-US" sz="1500" b="1" dirty="0">
                <a:solidFill>
                  <a:srgbClr val="FFFFFF"/>
                </a:solidFill>
                <a:latin typeface="Calibri" pitchFamily="34" charset="0"/>
                <a:ea typeface="Calibri" pitchFamily="34" charset="-122"/>
                <a:cs typeface="Calibri" pitchFamily="34" charset="-120"/>
              </a:rPr>
              <a:t>hızlı</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Ea(katalizörlü) &lt; Ea(katalizörsüz)</a:t>
            </a:r>
            <a:endParaRPr lang="en-US" sz="1350" dirty="0"/>
          </a:p>
        </p:txBody>
      </p:sp>
      <p:sp>
        <p:nvSpPr>
          <p:cNvPr id="16" name="Text 14"/>
          <p:cNvSpPr txBox="1"/>
          <p:nvPr/>
        </p:nvSpPr>
        <p:spPr>
          <a:xfrm>
            <a:off x="9631375" y="239572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daha alçak bir tepeden geçilir</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3774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ΔH(katalizörlü) = ΔH</a:t>
            </a:r>
            <a:endParaRPr lang="en-US" sz="1350" dirty="0"/>
          </a:p>
        </p:txBody>
      </p:sp>
      <p:sp>
        <p:nvSpPr>
          <p:cNvPr id="19" name="Text 17"/>
          <p:cNvSpPr txBox="1"/>
          <p:nvPr/>
        </p:nvSpPr>
        <p:spPr>
          <a:xfrm>
            <a:off x="9098280" y="3218688"/>
            <a:ext cx="22704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girenler ve ürünler aynı seviyede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2H₂O₂ → 2H₂O + O₂</a:t>
            </a:r>
            <a:endParaRPr lang="en-US" sz="1350" dirty="0"/>
          </a:p>
        </p:txBody>
      </p:sp>
      <p:sp>
        <p:nvSpPr>
          <p:cNvPr id="22" name="Text 20"/>
          <p:cNvSpPr txBox="1"/>
          <p:nvPr/>
        </p:nvSpPr>
        <p:spPr>
          <a:xfrm>
            <a:off x="8782812" y="404164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MnO₂, KI ya da katalazla hızlanır</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A = 6·L²·k</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küp k³ parçaya bölününce yüzey k katı</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dersler.perinet.org/katalizor.html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05 · Hız denklemi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146</Slides>
  <Notes>146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146</vt:i4>
      </vt:variant>
    </vt:vector>
  </HeadingPairs>
  <TitlesOfParts>
    <vt:vector size="1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Katalizör ve temas yüzeyi — Dersler</dc:title>
  <dc:subject>Kimya · Kimyasal Tepkimelerde Hız</dc:subject>
  <dc:creator>Dersler</dc:creator>
  <cp:lastModifiedBy>Dersler</cp:lastModifiedBy>
  <cp:revision>1</cp:revision>
  <dcterms:created xsi:type="dcterms:W3CDTF">2026-10-02T16:21:17Z</dcterms:created>
  <dcterms:modified xsi:type="dcterms:W3CDTF">2026-10-02T16:21:17Z</dcterms:modified>
</cp:coreProperties>
</file>