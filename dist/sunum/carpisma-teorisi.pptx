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Lst>
  <p:notesMasterIdLst>
    <p:notesMasterId r:id="rId1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notesMaster" Target="notesMasters/notesMaster1.xml"/><Relationship Id="rId149" Type="http://schemas.openxmlformats.org/officeDocument/2006/relationships/presProps" Target="presProps.xml"/><Relationship Id="rId150" Type="http://schemas.openxmlformats.org/officeDocument/2006/relationships/viewProps" Target="viewProps.xml"/><Relationship Id="rId151" Type="http://schemas.openxmlformats.org/officeDocument/2006/relationships/theme" Target="theme/theme1.xml"/><Relationship Id="rId1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Şömineye dizilmiş odun, havanın oksijeniyle iç içe durduğu hâlde neden kendiliğinden tutuşmaz? Kibrit neden cebinde değil de kutunun yanına sürtülünce bir anda alev alır? Bir tepkimenin olması için taneciklerin çarpışması gerekir, ama her çarpışma ürün vermez. Yalnızca yeterince sert ve doğru açıyla çarpışan tanecikler önlerindeki bir enerji tepesini aşabilir; tıpkı tepenin öbür yanına geçmesi için güçlü bir itiş bekleyen bir top gibi. Anlatım dört basamakta ilerliyor: önce yakılmamış bir şömine ve kibritle tepkimelerin neden kendiliğinden başlamadığını sezecek, etkin çarpışmayı ve eşik enerjisini tanıyacağız; sonra aktifleşme enerjisini ve potansiyel enerji grafiklerini sayılarla okuyacağız; ardından taneciklerin enerji dağılımına, aktifleşme enerjisinin hızla bağına ve kendini sürdüren tepkimelere geçeceğiz. En sonda kolaydan zora sıralanmış örneklerle hepsini birlikte kullanacağız.
Kapak görseli: Kibritin tutuştuğu an. Kibrit başı kutunun içinde aylarca tutuşmadan bekler. Sürtünme, küçük bir bölgeyi bir anlığına çok ısıtır; bu ısı ilk taneciklerin enerji tepesini aşmasına yeter. Tepkime başlayınca açığa çıkan ısı yanındaki tanecikleri de tutuşturur ve alev kibritin tahta çöpüne yayılır. Konunun iki büyük sorusu bu sahnede saklı: tepkime neden kendiliğinden başlamaz, başlayınca neden kendi kendine sürer?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Şömineye dizilmiş odun, havanın oksijeniyle iç içe durduğu hâlde neden kendiliğinden tutuşmaz? Kibrit neden cebinde değil de kutunun yanına sürtülünce bir anda alev alır? Bir tepkimenin olması için taneciklerin çarpışması gerekir, ama her çarpışma ürün vermez. Yalnızca yeterince sert ve doğru açıyla çarpışan tanecikler önlerindeki bir enerji tepesini aşabilir; tıpkı tepenin öbür yanına geçmesi için güçlü bir itiş bekleyen bir top gibi. Anlatım dört basamakta ilerliyor: önce yakılmamış bir şömine ve kibritle tepkimelerin neden kendiliğinden başlamadığını sezecek, etkin çarpışmayı ve eşik enerjisini tanıyacağız; sonra aktifleşme enerjisini ve potansiyel enerji grafiklerini sayılarla okuyacağız; ardından taneciklerin enerji dağılımına, aktifleşme enerjisinin hızla bağına ve kendini sürdüren tepkimelere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tepkimelerin neden kendiliğinden başlamadığını gözle; taneciklerin çarpışmasını ve hangi çarpışmanın ürün verdiğini formülsüz kavra.
   01 Önce gözlemle: odun neden kendiliğinden yanmaz?
   02 Çarpışma teorisi: önce temas, sonra tepkime
   03 Etkin çarpışma: enerji ve yönelim
   04 Eşik enerjisi: ne kadar sert çarpışmalı?
2. Orta — Bağıntılar: enerji tepesini potansiyel enerji grafiğine dök; Ea(ileri), Ea(geri) ve ΔH'yi grafikten oku, aralarındaki bağı türet ve gerçek tepkimelerin sayılarıyla dene.
   05 Aktifleşme enerjisi ve aktifleşmiş kompleks
   06 Ekzotermik tepkimenin enerji grafiği
   07 Endotermik tepkimenin enerji grafiği
   08 ΔH ile aktifleşme enerjileri arasındaki bağ
   09 Sayılarla hisset: tepeler ne kadar yüksek?
3. İleri — İnce durumlar: taneciklerin enerji dağılımından eşiği aşan payı oku, aktifleşme enerjisinin hızı nasıl belirlediğini sayılarla gör, kendini sürdüren tepkimeleri ve gerçek dünyadaki uygulamaları incele.
   10 Enerji dağılımı: kaç tanecik eşiği aşar?
   11 Aktifleşme enerjisi ve hız
   12 Neden bazı tepkimeler kendiliğinden sürer?
   13 Gerçekleşme şartları gerçek dünyada
4. Pekiştir — Kolaydan zora çözümlü örnekler, kendin deneyebileceğin sorular ve bu konuda en çok puan kaybettiren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Tanecik: atom, molekül ya da iyon. Maddeyi oluşturan, gözle görülemeyecek kadar küçük yapı taşları; bir bardak suda yaklaşık 7·10²⁴ su molekülü vardır.
• Kinetik enerji: hareket enerjisi. Daha hızlı hareket eden tanecik daha çok kinetik enerji taşır.
• Sıcaklık: taneciklerin ortalama kinetik enerjisinin ölçüsü. Sıcak çaydaki su molekülleri, soğuk sudakilerden ortalamada daha hızlıdır.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Potansiyel enerji: depolanmış enerji. Tepedeki top yuvarlanınca bu enerji harekete dönüşür; kimyada enerji bağlarda ve birbirini iten, çeken taneciklerde depolanır.
• Kimyasal bağ: atomları bir arada tutan çekim. Bağ kırmak enerji ister, bağ kurmak enerji verir.
• ΔH: tepkime entalpisi, tepkimede alınan ya da verilen ısı. ΔH &lt; 0 ise tepkime ekzotermiktir (ısı verir), ΔH &gt; 0 ise endotermiktir (ısı alır).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tepkimelerin neden kendiliğinden başlamadığını gözle; taneciklerin çarpışmasını ve hangi çarpışmanın ürün verdiğini formülsüz kavra.
01 Önce gözlemle: odun neden kendiliğinden yanmaz?
02 Çarpışma teorisi: önce temas, sonra tepkime
03 Etkin çarpışma: enerji ve yönelim
04 Eşik enerjisi: ne kadar sert çarpışmalı?
Görsel: Hazır ama yanmayan şömine. Odun, çıra ve kâğıt havadaki oksijenle iç içe duruyor; yanma çok ısı veren bir tepkime olduğu hâlde kendiliğinden başlamıyor. Eksik olan, ilk taneciklerin enerji tepesini aşmasını sağlayacak başlangıç enerjisi. Sekideki kutudan çıkacak tek bir kibritin küçük alevi bu enerjiyi önce ince kâğıda, sonra çıralara, en sonda kalın odunlara aktaracak.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odun neden kendiliğinden yanmaz? — adım 1/5
• Odunun yanması çevresine bol ısı veren bir tepkimedir ve odun havanın oksijeniyle her an temas hâlindedir.
• Öyleyse odun neden kendi kendine tutuşmuyor?
• Çevrene bakınca bunun bir istisna değil, neredeyse bir kural olduğunu görürsün: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odun neden kendiliğinden yanmaz? — adım 2/5
• Şöminedeki odun: odun, çıra ve kâğıt havayla sarmaş dolaş durur; kibrit çakılmadıkça günlerce, aylarca yanmaz.
• Ocaktaki doğal gaz: musluğu açınca metan havayla karışır, ama çakmak çakılmadan alev almaz. Gaz kaçağı bu yüzden tehlikelidir: küçük bir kıvılcım yeter.
• Şekerlik: şeker de havada yanabilen bir maddedir, ama şekerlikte yıllarca durur.
• Kibrit kutusu: kibrit başları kutunun içinde aylarca bekler; sürtülmeden tutuşmaz.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odun neden kendiliğinden yanmaz? — adım 3/5
• Karbonat ve sirke: buna karşılık bazı tepkimeler hemen başlar: karbonata sirke dökünce anında köpürür.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odun neden kendiliğinden yanmaz? — adım 4/5
• Bu sahnelerin ortak yanı şu: tepkimeye girecek maddeler hazır, üstelik tepkime ısı veriyor; ama bir şey eksik.
• Eksik olan, tepkimeyi başlatacak ilk enerjidir.
• Tepkimeyi, bir topu tepenin öbür yanındaki daha alçak bir vadiye yuvarlamaya benzetebilirsin.
• Vadi daha alçakta olsa da top kendiliğinden tepeyi aşamaz; biri ona ilk itişi vermelidir.
• Kibrit tam da bu işi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odun neden kendiliğinden yanmaz? — şekil
Tepkimeyi bir arazi kesiti gibi düşün. Odun ve oksijen soldaki vadide durur; ürünler (CO₂ ve su buharı) sağdaki daha alçak vadidedir, bu yüzden yanma ısı verir. Ama arada bir enerji engeli vardır ve top onu kendiliğinden aşamaz. Kibrit ilk itişi verir; top bir kez tepeyi aşınca alçak vadiye kendiliğinden yuvarlanır.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Tepkimeye girecek maddelerin yan yana durması yetmez. Odun, şeker ve doğal gaz havayla karışık durur ama yanmaz; tepkimenin başlaması için önce bir enerji engelinin, bir tepenin aşılması gerekir.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Yanma ısı veren bir tepkimeyse, odun neden kendi ısısıyla tutuşmuyor?
Sınıfa sorun, birkaç tahmin alın; sonra cevap slaytına geçin.
Cevap: Isı vermesi için önce başlaması gerekir. Oda sıcaklığında odun ile oksijen tanecikleri çarpışır, ama bu çarpışmaların neredeyse hiçbiri enerji tepesini aşacak kadar sert değildir. Tepkime başlamadığı için ısı da çıkmaz. Kibrit küçük bir bölgeyi yüzlerce dereceye ısıtınca orada tepkime başlar; açığa çıkan ısı da yanındaki odunu tutuşturur.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Isı vermesi için önce başlaması gerekir. Oda sıcaklığında odun ile oksijen tanecikleri çarpışır, ama bu çarpışmaların neredeyse hiçbiri enerji tepesini aşacak kadar sert değildir. Tepkime başlamadığı için ısı da çıkmaz. Kibrit küçük bir bölgeyi yüzlerce dereceye ısıtınca orada tepkime başlar; açığa çıkan ısı da yanındaki odunu tutuşturur.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Çarpışma teorisi: önce temas, sonra tepkime — adım 1/5
• Maddeler atom, molekül ya da iyon gibi taneciklerden oluşur ve bu tanecikler hiç durmadan hareket eder.
• Bir tepkimede eski bağlar kırılıp yenileri kurulacaksa, tepkimeye girecek tanecikler önce birbirine değmelidir.
• Kimyacılar bu basit fikri çarpışma teorisi adıyla üç maddede toplar: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Çarpışma teorisi: önce temas, sonra tepkime — adım 2/5
• Çarpışma şart: tepkime için tanecikler çarpışmalıdır. Ayrı kaplarda duran iki gaz tepkimeye giremez.
• Her çarpışma ürün vermez: çarpışmaların çoğunda tanecikler değişmeden birbirinden seker. Ürün veren çarpışmalara etkin çarpışma denir.
• Hızı etkin çarpışmalar belirler: bir saniyede ne kadar çok etkin çarpışma olursa tepkime o kadar hızlı yürür.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Çarpışma teorisi: önce temas, sonra tepkime — adım 3/5
• Çarpışmalar ne kadar sık olur?
• Oda sıcaklığında havadaki bir azot molekülü saniyede ortalama 475 metre yol alır; bu, bir yolcu uçağının hızının neredeyse iki katıdır.
• Her saniye yaklaşık 7 milyar kez başka bir molekülle çarpışır.
• Bu çarpışmaların hepsi ürün verseydi her gaz tepkimesi saniyenin milyarda biri gibi kısa bir sürede biterdi.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Çarpışma teorisi: önce temas, sonra tepkime — adım 4/5
• Oysa bir hidrojen–oksijen karışımı, kıvılcım almadıkça yıllarca tepkimeye girmeden durabilir.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Çarpışma teorisi: önce temas, sonra tepkime — şekil
Bir gazdaki tanecikler her yöne hızla hareket eder ve sürekli çarpışır; oklar hareket yönünü gösteriyor. Çizimde üç çarpışma işaretli: 1 ve 2'de moleküller çarpışıp hiçbir şey olmamış gibi ayrılıyor; yalnızca 3'te bağlar yeniden düzenlenip iki AB molekülü oluşuyor. Gerçek bir gazda etkin çarpışmaların payı bu çizimdekinden çok daha küçüktür.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Çarpışma teorisine göre tepkime için tanecikler çarpışmalıdır, ama çarpışmaların yalnızca çok küçük bir kısmı ürün verir. Tepkimenin hızını birim zamandaki etkin çarpışma sayısı belirler.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Havadaki azot ve oksijen molekülleri saniyede milyarlarca kez çarpışıyorsa, soluduğun hava neden azot okside dönüşmüyor?
Sınıfa sorun, birkaç tahmin alın; sonra cevap slaytına geçin.
Cevap: Çünkü bu çarpışmaların neredeyse hiçbiri etkin değildir. N₂ + O₂ → 2NO tepkimesi için azot molekülündeki çok sağlam üçlü bağın (945 kJ/mol) sarsılması gerekir; oda sıcaklığındaki çarpışmalar buna yetmez. Üstelik bu tepkime endotermiktir (ΔH = +180,6 kJ): kendini sürdüremez, ancak dışarıdan sürekli enerji verildikçe yürür. Bu yüzden azot oksit yalnızca şimşekte ya da motor silindirinde olduğu gibi sürekli çok yüksek sıcaklıkta, az miktarda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bu çarpışmaların neredeyse hiçbiri etkin değildir. N₂ + O₂ → 2NO tepkimesi için azot molekülündeki çok sağlam üçlü bağın (945 kJ/mol) sarsılması gerekir; oda sıcaklığındaki çarpışmalar buna yetmez. Üstelik bu tepkime endotermiktir (ΔH = +180,6 kJ): kendini sürdüremez, ancak dışarıdan sürekli enerji verildikçe yürür. Bu yüzden azot oksit yalnızca şimşekte ya da motor silindirinde olduğu gibi sürekli çok yüksek sıcaklıkta, az miktarda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Etkin çarpışma: enerji ve yönelim — adım 1/5
• Bir çarpışmanın etkin olması için iki şart birden sağlanmalıdır.
• Bunu bir çiviyi tahtaya çakmaya benzetebilirsin: çekiç hem yeterince sert inmeli hem de çivinin başına tam gelmelidir.
• Hafif vurursan çivi girmez; sert ama yandan vurursan çivi eğilir, yine girmez.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Etkin çarpışma: enerji ve yönelim — adım 2/5
• Yeterli enerji: çarpışan taneciklerin hareket enerjisi, eski bağları gevşetip yeni bağların kurulmasını başlatacak kadar büyük olmalıdır. Yavaş tanecikler birbirine değip geri seker.
• Uygun yönelim: tanecikler birbirine doğru uçlarından çarpmalıdır; yeni bağı kuracak atomlar karşı karşıya gelmelidir.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Etkin çarpışma: enerji ve yönelim — adım 3/5
• Gerçek bir örneğe bak: karbon monoksit ile azot dioksit arasındaki CO + NO₂ → CO₂ + NO tepkimesi.
• Bu tepkimede NO₂'deki oksijen atomlarından biri CO'ya geçer.
• Bunun için CO'nun karbon ucu, NO₂'nin bir oksijenine çarpmalıdır.
• CO oksijen ucuyla gelirse ya da karbon NO₂'nin azotuna çarparsa, ne kadar hızlı olursa olsun tepkime olmaz.
• Doğru uçla ama yavaş gelirse de olmaz.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Etkin çarpışma: enerji ve yönelim — şekil
CO + NO₂ → CO₂ + NO tepkimesinde NO₂'nin oksijenlerinden biri CO'ya geçer. Bu yüzden CO'nun karbon ucu bir oksijene, yeterince hızlı çarpmalıdır (üst sıra). Oksijen ucuyla gelen CO ne kadar hızlı olursa olsun seker (orta sıra); doğru uçla ama yavaş gelen CO da seker (alt sıra). Okların uzunluğu hızı gösterir. Sekmelerde enerji ve momentum korunur: hafif CO yavaşça geri döner, ağır NO₂ ileri itilir. Tepkimede ise açığa çıkan enerji yüzünden ürünler toplamda daha hızlıdır.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Etkin çarpışma: enerji ve yönelim — adım 5/5
• Yönelim şartı molekül büyüdükçe zorlaşır.
• Küre gibi tek atomlu iki tanecik hangi yönden çarparsa çarpsın aynı biçimde karşılaşır; büyük ve karmaşık moleküllerde ise “doğru yerin” payı küçülür.
• Sayfadaki 02 numaralı Doğru uç, doğru yön bölümünde CO'yu kendin yönlendirip çarpıştırabilirsin.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Etkin çarpışmanın iki şartı vardır: tanecikler yeterli enerjiyle ve uygun yönelimle çarpışmalıdır. Şartlardan biri bile eksikse tanecikler değişmeden seker ve ürün oluşmaz.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Eşik enerjisi: ne kadar sert çarpışmalı? — adım 1/6
• Etkin çarpışma için gereken enerjinin bir alt sınırı vardır.
• Çarpışan iki taneciğin kinetik enerjileri toplamının aşması gereken bu en küçük değere eşik enerjisi denir.
• Eşiğin altında kalan çarpışmalar, yönelim ne kadar uygun olursa olsun ürün vermez.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Eşik enerjisi: ne kadar sert çarpışmalı? — adım 2/6
• Burada önemli olan toplam enerjidir.
• Biri hızlı, öteki yavaş iki tanecik de kafa kafaya çarpışırsa eşiği aşabilir; iki yavaş tanecik aşamaz.
• Çarpışmanın biçimi de önemlidir: kafa kafaya bir çarpışma, birbirini sıyırıp geçen iki taneciğin çarpışmasından çok daha fazla enerjiyi işe koşar.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Eşik enerjisi: ne kadar sert çarpışmalı? — adım 3/6
• Duran bir taneciğe çarpan hızlı taneciğin enerjisinin ise ancak bir kısmı (kütleler eşitse yarısı) işe yarar: çarpışmadan sonra da ikisinin ortak bir ileri hareketi sürer ve bu hareketin enerjisi bağlara aktarılamaz.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Eşik enerjisi: ne kadar sert çarpışmalı? — adım 4/6
• Aynı kaptaki taneciklerin hepsi aynı hızda değildir.
• Bir sınıftaki öğrencilerin boyları gibi: çoğu ortalamaya yakındır, birkaçı çok kısa, birkaçı çok uzundur.
• Bu yüzden aynı sıcaklıkta bile bazı çarpışmalar eşiği aşar, çoğu aşamaz.
• Sıcaklık artınca tanecikler ortalamada hızlanır ve eşiği aşan çarpışmaların payı büyür; eşiğin kendisi ise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Eşik enerjisi: ne kadar sert çarpışmalı? — adım 5/6
• Ama enerji dağılımı boylar gibi simetrik değildir: sağa doğru uzun bir kuyruğu vardır.
• Bunu üçüncü basamakta, enerji dağılımı bölümünde göreceksin.
• Sayfadaki 01 numaralı Çarpışma kutusu bölümünde eşiği değiştirip kaç çarpışmanın eşiği aştığını sayabilirsin.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Eşik enerjisi: ne kadar sert çarpışmalı? — şekil
Kafa kafaya çarpışan üç çiftin kinetik enerjileri üst üste konmuş; sayıları mol başına kJ olarak düşünebilirsin, eşik 50. Birinci çiftin toplamı 32: eşiğe ulaşmaz, seker. İkinci çift 60 ile eşiği aşar. Üçüncü çiftte A hızlı, B yavaştır; ama kafa kafaya çarpıştıkları için toplam 55 ile o da eşiği aşar. Eşiği aşan çiftler ancak yönelimleri de uygunsa ürün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Eşik enerjisi, çarpışan taneciklerin kinetik enerjileri toplamının etkin çarpışma için aşması gereken en küçük değerdir. Aynı sıcaklıkta tanecikler farklı hızlardadır; yalnızca eşiği aşan çarpışmalar ürün verebilir.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Biri hızlı, öteki yavaş iki tanecik kafa kafaya çarpışırsa etkin bir çarpışma yapabilir mi?
Sınıfa sorun, birkaç tahmin alın; sonra cevap slaytına geçin.
Cevap: Evet. Eşik enerjisi çarpışan taneciklerin kinetik enerjileri toplamıyla ilgilidir. Çizimdeki 3. çift böyledir: 40 + 15 = 55, eşik ise 50; yönelim de uygunsa çarpışma etkin olabilir. Ama yavaş tanecik neredeyse dursaydı hızlı taneciğin enerjisinin ancak bir kısmı işe yarardı; toplam 50'yi geçse bile eşik aşılmayabilirdi.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Evet. Eşik enerjisi çarpışan taneciklerin kinetik enerjileri toplamıyla ilgilidir. Çizimdeki 3. çift böyledir: 40 + 15 = 55, eşik ise 50; yönelim de uygunsa çarpışma etkin olabilir. Ama yavaş tanecik neredeyse dursaydı hızlı taneciğin enerjisinin ancak bir kısmı işe yarardı; toplam 50'yi geçse bile eşik aşılmayabilirdi.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enerji tepesini potansiyel enerji grafiğine dök; Ea(ileri), Ea(geri) ve ΔH'yi grafikten oku, aralarındaki bağı türet ve gerçek tepkimelerin sayılarıyla dene.
05 Aktifleşme enerjisi ve aktifleşmiş kompleks
06 Ekzotermik tepkimenin enerji grafiği
07 Endotermik tepkimenin enerji grafiği
08 ΔH ile aktifleşme enerjileri arasındaki bağ
09 Sayılarla hisset: tepeler ne kadar yüksek?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aktifleşmiş kompleks — adım 1/6
• Çarpışan iki taneciğe neler olur?
• Tanecikler yaklaştıkça elektron bulutları birbirini iter ve tanecikler yavaşlar.
• Yokuş yukarı yuvarlanan bir top gibi, hareket enerjileri depolanmış enerjiye, yani potansiyel enerjiye dönüşür.
• Bu sırada eski bağ uzar ve zayıflar, yeni bağ kurulmaya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aktifleşmiş kompleks — adım 2/6
• Yolun en yüksek noktasında, eski bağın yarı kırıldığı, yeni bağın yarı kurulduğu bir yapı oluşur: aktifleşmiş kompleks.
• Bu yapı çok kararsızdır, yaklaşık 10⁻¹³ saniye yaşar ve şişeye konup saklanamaz.
• Kompleks ya ürünlere dönüşüp öbür yamaçtan iner ya da dağılıp yeniden girenlere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aktifleşmiş kompleks — adım 3/6
• Aktifleşmiş kompleksin, yani tepenin potansiyel enerjisine E(tepe) diyelim.
• Girenlerin potansiyel enerjisi ile E(tepe) arasındaki farka aktifleşme enerjisi (Ea) denir.
• Ürünlerden girenlere giden geri yolun tepesi de aynı tepedir; bu yüzden iki aktifleşme enerjisi tanımlanır:
Ea(ileri) = E(tepe) − E(giren)   Ea(geri) = E(tepe) − E(ürün)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aktifleşmiş kompleks — adım 4/6
Formüldeki harfler ne anlama geliyor?
Sembol | Anlamı | Birimi
E(giren) | girenlerin potansiyel enerjisi: grafikte soldaki düzlük | kJ
E(tepe) | aktifleşmiş kompleksin potansiyel enerjisi: tepenin en üstü | kJ
E(ürün) | ürünlerin potansiyel enerjisi: grafikte sağdaki düzlük | kJ
Ea(ileri) | ileri tepkimenin aktifleşme enerjisi: girenlerden tepeye | kJ
Ea(geri) | geri tepkimenin aktifleşme enerjisi: ürünlerden tepeye | kJ
ΔH | tepkime entalpisi: E(ürün) − E(giren) |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aktifleşmiş kompleks — adım 5/6
• Aktifleşme enerjisi her zaman sıfırdan büyüktür: her tepkimenin, ısı verenlerin bile, aşılması gereken bir tepesi vardır.
• Odunun kibritsiz yanmaması bunun gündelik kanıtıdır.
• Eşik enerjisi ile aktifleşme enerjisi sayıca eşittir, ama farklı şeyleri anlatır: eşik, çarpışan taneciklerin getirmesi gereken kinetik enerjidir; aktifleşme enerjisi, bu enerjinin dönüştüğü potansiyel enerji tepesinin yüksekliğidir.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aktifleşmiş kompleks — şekil
X + Y–Z → X–Y + Z türünden bir tepkimenin yolu. Tanecikler yaklaştıkça yavaşlar, kinetik enerjileri potansiyel enerjiye dönüşür ve eğri yükselir. Tepede aktifleşmiş kompleks X···Y···Z oluşur: yeşil kesikli bağ kuruluyor, kırmızı kesikli bağ kırılıyor. Girenlerden tepeye olan yükseklik ileri aktifleşme enerjisidir; kompleks buradan ürünlere iner ya da girenlere geri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Çarpışmada kinetik enerji potansiyel enerjiye dönüşür. Tepedeki kararsız yapı aktifleşmiş komplekstir; girenlerden tepeye olan fark Ea(ileri), ürünlerden tepeye olan fark Ea(geri)'dir. Ea her zaman sıfırdan büyüktür.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Aktifleşmiş kompleksi bir kapta toplayıp inceleyebilir miyiz?
Sınıfa sorun, birkaç tahmin alın; sonra cevap slaytına geçin.
Cevap: Hayır. Aktifleşmiş kompleks rafta duran bir madde değil, tepkime yolunun en yüksek noktasındaki geçiş anıdır: eski bağ yarı kırık, yeni bağ yarı kuruludur ve yapı yaklaşık 10⁻¹³ saniyede ya ürünlere ya girenlere dağılır. Kimyacılar onu ancak son derece kısa lazer atımlarıyla, oluşup dağılırken “görebilir”; 1999 Nobel Kimya Ödülü bu çalışmalara verildi.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Aktifleşmiş kompleks rafta duran bir madde değil, tepkime yolunun en yüksek noktasındaki geçiş anıdır: eski bağ yarı kırık, yeni bağ yarı kuruludur ve yapı yaklaşık 10⁻¹³ saniyede ya ürünlere ya girenlere dağılır. Kimyacılar onu ancak son derece kısa lazer atımlarıyla, oluşup dağılırken “görebilir”; 1999 Nobel Kimya Ödülü bu çalışmalara verildi.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Ekzotermik tepkimenin enerji grafiği — adım 1/5
• Potansiyel enerji grafiğinde yatay eksen tepkime koordinatıdır: tepkimenin ne kadar ilerlediğini gösterir, zaman değildir.
• Dikey eksen potansiyel enerjidir.
• Soldaki düzlük girenler, sağdaki düzlük ürünler, aradaki tepe aktifleşmiş komplekstir.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Ekzotermik tepkimenin enerji grafiği — adım 2/5
• Yönelimini incelediğimiz CO + NO₂ → CO₂ + NO tepkimesinin grafiğine bak.
• Ölçümlere göre ileri aktifleşme enerjisi yaklaşık 130 kJ'dür; oluşum entalpilerinden hesaplanan ΔH ise −226 kJ'dür.
• Grafik bu değerlerle ölçekli çizildi.
• Ondan dört şey okunur: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Ekzotermik tepkimenin enerji grafiği — adım 3/5
• Ürünler girenlerden alçakta: ΔH = E(ürün) − E(giren) &lt; 0; aradaki fark çevreye ısı olarak verilir.
• Ea(ileri) &lt; Ea(geri): girenlerin tırmanacağı yokuş (≈ 130 kJ), ürünlerinkinden (≈ 356 kJ) kısadır.
• Ürünler enerjice daha kararlı: ürünlerin geri dönmek için aşması gereken tepe çok yüksektir; geri tepkime çok yavaştır.
• Tepkime kendiliğinden sürebilir: tepeyi aşan her çift aldığından fazlasını geri verir; açığa çıkan ısı yeni çiftlerin tepeyi aşmasına yardım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Ekzotermik tepkimenin enerji grafiği — şekil
CO + NO₂ tepkimesinin enerji grafiği ölçekli çizildi: okların boyları 130 : 356 : 226 oranında. Girenler yaklaşık 130 kJ'lik bir tepeyi aşar, ürünlere inerken 356 kJ bırakır. Ürünler girenlerden 226 kJ aşağıda olduğu için tepkime ekzotermiktir; ürünlerin geri dönmesi için 356 kJ'lik çok daha yüksek bir yokuş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Ekzotermik tepkimenin enerji grafiği — adım 5/5
• ΔH'yi grafikten iki yolla bulabilirsin: iki düzlüğün farkından ya da iki aktifleşme enerjisinin farkından.
• İkinci yol iki bölüm sonra, ΔH ile aktifleşme enerjileri arasındaki bağda.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Ekzotermik tepkimede ürünler girenlerden alçaktadır; ΔH &lt; 0 ve Ea(ileri) &lt; Ea(geri). CO + NO₂ tepkimesinde girenler yaklaşık 130 kJ'lik tepeyi aşar, inerken 356 kJ geri verir; aradaki 226 kJ ısı olarak açığa çıkar.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tepkimenin enerji grafiği — adım 1/5
• Endotermik tepkimede ürünler girenlerden daha yüksek enerjidedir.
• Örnek olarak A₂ + B₂ → 2AB tepkimesinin grafiğini dikey eksendeki sayılarla birlikte oku.
• Grafikten değer okurken her zaman iki seviyenin farkı alınır: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tepkimenin enerji grafiği — adım 2/5
• İleri tepe: girenler 50 kJ'de, tepe 210 kJ'de: Ea(ileri) = 210 − 50 = 160 kJ.
• Geri tepe: ürünler 120 kJ'de: Ea(geri) = 210 − 120 = 90 kJ.
• Tepkime ısısı: ΔH = E(ürün) − E(giren) = 120 − 50 = +70 kJ; tepkime endotermiktir.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tepkimenin enerji grafiği — şekil
Endotermik tepkimede ürünler girenlerden yüksektedir. Değerleri dikey eksenden oku ve her zaman iki seviyenin farkını al: Ea(ileri) = 210 − 50 = 160 kJ, Ea(geri) = 210 − 120 = 90 kJ, ΔH = 120 − 50 = +70 kJ. Ea(ileri) &gt; Ea(geri) olması endotermik tepkimenin işaretidir.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tepkimenin enerji grafiği — adım 4/5
• Endotermik tepkimenin üç belirgin özelliği vardır.
• İleri aktifleşme enerjisi geridekinden büyüktür: Ea(ileri) &gt; Ea(geri).
• Ürünler daha yüksekte durduğu için girenler enerjice daha kararlıdır.
• Tepeyi aşan her mol çift aldığı 160 kJ'nin yalnızca 90 kJ'sini geri verir, aradaki 70 kJ'yi çevreden çeker.
• Bu yüzden tepkimenin sürmesi için dışarıdan sürekli enerji verilmelidir: kireç taşı (CaCO₃) ancak fırın yandıkça sönmemiş kirece (CaO) dönüşür.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tepkimenin enerji grafiği — adım 5/5
• Sayfadaki 03 numaralı Enerji tepesi bölümünde topu farklı enerjilerle gönderip tepeyi aşıp aşmadığını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Endotermik tepkimede ürünler girenlerden yüksektedir; ΔH &gt; 0 ve Ea(ileri) &gt; Ea(geri). Grafikten değer okurken hep iki seviyenin farkını al: Ea(ileri) = 210 − 50 = 160 kJ, ΔH = 120 − 50 = +70 kJ.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ΔH ile aktifleşme enerjileri arasındaki bağ — adım 1/4
• İki grafikte de üç ok arasında bir düzen var: okların ikisi her zaman üçüncüsünü verir.
• Bu düzeni üç adımda çıkarabilirsin:
• ΔH'nin tanımı: ΔH = E(ürün) − E(giren).
• Tepeyi araya koy: E(tepe)'yi bir ekleyip bir çıkar; değer değişmez: ΔH = [E(tepe) − E(giren)] − [E(tepe) − E(ürün)].
• Parantezleri tanı: birinci parantez Ea(ileri), ikincisi Ea(geri)'dir.
ΔH = Ea(ileri) − Ea(geri)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ΔH ile aktifleşme enerjileri arasındaki bağ — adım 2/4
• Bağıntıyı iki grafikle sına: CO + NO₂ için 130 − 356 = −226 kJ, A₂ + B₂ için 160 − 90 = +70 kJ.
• İkisi de grafiklerden okunan ΔH ile aynı.
• Bağıntıdan dört sonuç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ΔH ile aktifleşme enerjileri arasındaki bağ — adım 3/4
• İşaret karşılaştırmadan okunur: Ea(ileri) &lt; Ea(geri) ise tepkime ekzotermik, Ea(ileri) &gt; Ea(geri) ise endotermiktir; ikisi eşitse ΔH = 0.
• Endotermikte Ea(ileri) &gt; ΔH: Ea(geri) sıfırdan büyük olduğu için Ea(ileri) = ΔH + Ea(geri), ΔH'den her zaman büyüktür. Ürünlere çıkmak için en az ürünlerin yüksekliği kadar tırmanmak gerekir.
• Ekzotermikte Ea(geri) &gt; |ΔH|: Ea(geri) = Ea(ileri) + |ΔH|.
• Geri yönde roller değişir: ürünler giren olur; ileri tepkimenin Ea(geri)'si geri tepkimenin Ea(ileri)'si olur, ΔH işaret değiştirir.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ΔH ile aktifleşme enerjileri arasındaki bağ — şekil
Aynı ölçekte iki grafik. Ekzotermik tepkimede soldaki sütunda Ea(ileri) ile |ΔH| uç uca eklenince sağdaki Ea(geri) kadar olur: 130 + 226 = 356. Endotermikte ΔH ile Ea(geri) uç uca eklenince Ea(ileri) kadar olur: 70 + 90 = 160. İkisi de tek bağıntının sonucudur: ΔH = Ea(ileri) − Ea(geri).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ΔH = Ea(ileri) − Ea(geri). Ekzotermikte Ea(ileri) &lt; Ea(geri), endotermikte Ea(ileri) &gt; Ea(geri). Endotermik bir tepkimenin ileri aktifleşme enerjisi ΔH'den her zaman büyüktür.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İleri ve geri aktifleşme enerjileri eşit olan bir tepkimenin ΔH'si kaçtır?
Sınıfa sorun, birkaç tahmin alın; sonra cevap slaytına geçin.
Cevap: Sıfır: ΔH = Ea(ileri) − Ea(geri) = 0. Girenler ile ürünler aynı yükseklikte durur ve tepe iki yandan da aynı uzaklıktadır. Bir sonraki bölümdeki H + H₂ → H₂ + H tepkimesi böyledir: atomlar yer değiştirir, ama enerji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Sıfır: ΔH = Ea(ileri) − Ea(geri) = 0. Girenler ile ürünler aynı yükseklikte durur ve tepe iki yandan da aynı uzaklıktadır. Bir sonraki bölümdeki H + H₂ → H₂ + H tepkimesi böyledir: atomlar yer değiştirir, ama enerji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tepeler ne kadar yüksek? — adım 1/6
• Gerçek tepkimelerin tepeleri ne kadar yüksek?
• Aşağıdaki tablo, tek bir çarpışmayla yürüyen gaz tepkimelerinin ölçülen aktifleşme enerjilerini (yaklaşık) ve oluşum entalpilerinden hesaplanan ΔH değerlerini gösteriyor.
• Ea(geri) sütunu ΔH = Ea(ileri) − Ea(geri) bağıntısıyla bulundu.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tepeler ne kadar yüksek? — adım 2/6
Tepkime | ΔH (kJ) | Ea(ileri) (kJ) | Ea(geri) (kJ)
H + H₂ → H₂ + H | 0 | ≈ 40 | ≈ 40
NO + O₃ → NO₂ + O₂ | −199,8 | ≈ 12 | ≈ 212
CO + NO₂ → CO₂ + NO | −225,9 | ≈ 130 | ≈ 356
CO₂ + NO → CO + NO₂ | +225,9 | ≈ 356 | ≈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tepeler ne kadar yüksek? — adım 3/6
• Tablodan dört düzen okunur:
• Ters yönde değerler yer değiştirir: CO + NO₂'nin Ea(geri)'si, ters tepkimenin Ea(ileri)'sidir; ΔH yalnızca işaret değiştirir.
• ΔH = 0 ise tepeler eşit: H + H₂'de bir H atomu molekülün öbür ucundaki H'nin yerini alır; giren ile ürün aynı enerjidedir.
• Çok ısı, hızlı tepkime demek değil: NO + O₃ ile CO + NO₂ birbirine yakın ısı verir (−199,8 ve −225,9 kJ), ama tepeleri 12 ve 130 kJ. Oda sıcaklığında ilki çabucak yürür, ikincisi fark edilmeyecek kadar yavaştır.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tepeler ne kadar yüksek? — adım 4/6
• Tepe, kırılan bağdan alçak: H–H bağını tamamen koparmak 436 kJ ister, ama tepe yalnızca ≈ 40 kJ'dür; yeni bağ, eski bağ tam kopmadan kurulmaya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tepeler ne kadar yüksek? — şekil
Her tepkimede kırılan bağı tamamen koparmak için gereken enerji (açık kırmızı) ile ölçülen aktifleşme enerjisi (koyu kırmızı) yan yana; değerler mol başına kJ, bağ enerjileri oluşum entalpilerinden hesaplandı. Aktifleşme enerjisi kırılan bağın enerjisinin kabaca onda biri ile beşte ikisi arasında (%9–%42): aktifleşmiş komplekste yeni bağ, eski bağ tam kopmadan kurulmaya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tepeler ne kadar yüksek? — adım 6/6
• Bu yüzden aktifleşme enerjisi, ΔH gibi bağ enerjilerinden hesaplanamaz; deneyle ölçülür.
• Tablodaki CO + NO₂ değerleri bu tepkimenin yüksek sıcaklıkta izlediği tek çarpışmalı yol içindir; oda sıcaklığında tepkime başka bir yoldan ve çok yavaş yürür.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Gerçek tepkimelerde Ea birkaç kJ'den yüzlerce kJ'ye kadar değişir; ΔH tepkimenin ne kadar ısı verdiğini, Ea ne kadar kolay başladığını söyler. Ters yönde Ea değerleri yer değiştirir; tepe, kırılan bağın enerjisinden çok daha alçaktır.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İnce durumlar: taneciklerin enerji dağılımından eşiği aşan payı oku, aktifleşme enerjisinin hızı nasıl belirlediğini sayılarla gör, kendini sürdüren tepkimeleri ve gerçek dünyadaki uygulamaları incele.
10 Enerji dağılımı: kaç tanecik eşiği aşar?
11 Aktifleşme enerjisi ve hız
12 Neden bazı tepkimeler kendiliğinden sürer?
13 Gerçekleşme şartları gerçek dünyada
Görsel: Göz kırpmaktan hızlı. Çarpışma sensörü ani yavaşlamayı algılayınca küçük bir elektrikli ateşleyici, direksiyon göbeğindeki şişiricinin katı yakıtını ısıtır; bu ısı tepkimenin aktifleşme enerjisini sağlar. Başlayan tepkime çok hızlı yürür ve ürettiği gaz yastığı yaklaşık 30 milisaniyede şişirir. Havadaki toz, katlanmış yastığın kumaşına sürülen ince toz ile yakıtın katı kalıntılarıdır.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dağılımı: kaç tanecik eşiği aşar? — adım 1/4
• Bir gazdaki taneciklerin kinetik enerjilerini tek tek ölçüp bir grafiğe dökseydin, aşağıdaki eğriyi elde ederdin.
• Yatay eksen kinetik enerji, dikey eksen o enerjideki tanecik sayısıdır.
• Eğri sıfırdan başlar; hızla yükselip düşük enerjilerde bir tepe yapar, sonra sağa doğru uzun bir kuyrukla azalır.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dağılımı: kaç tanecik eşiği aşar? — adım 2/4
• Eğrinin altındaki alanın tamamı bütün tanecikleri temsil eder.
• Eşik enerjisinin sağında kalan taralı alan, etkin çarpışma yapabilecek kadar enerjili taneciklerdir.
• Çizimde bu pay yaklaşık %7'dir, çünkü eşik görülebilsin diye ortalama enerjinin yalnızca 2,3 katına konmuştur.
• Gerçek tepkimelerde eşik çok daha sağdadır ve taralı alan çizgi kalınlığından bile ince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dağılımı: kaç tanecik eşiği aşar? — adım 3/4
• Eşik sağa kaydıkça pay hızla küçülür: kuyruk sağa doğru inceldiği için eşiği biraz yükseltmek, aşan tanecik sayısını çok azaltır.
• Ortalama tanecik eşiği aşmaz: oda sıcaklığında taneciklerin ortalama kinetik enerjisi mol başına yalnızca yaklaşık 3,7 kJ'dür. Tepkimeleri yürüten, kuyruktaki az sayıdaki hızlı taneciktir.
• Sıcaklık eğriyi değiştirir, eşiği değiştirmez: ısıtınca eğri yayvanlaşıp sağa kayar, kuyruk kalınlaşır; eşik aynı yerde kalır. Bunu “Tepkime hızına etki eden faktörler” konusunda ayrıntılı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dağılımı: kaç tanecik eşiği aşar? — şekil
Aynı sıcaklıktaki taneciklerin kinetik enerji dağılımı; eğri gazlar için bilinen dağılım bağıntısıyla hesaplandı. Çoğu tanecik düşük ve orta enerjilerdedir; sağa uzanan ince kuyrukta az sayıda çok hızlı tanecik vardır. Taralı alan eşik enerjisini aşanlardır. Eşik, alan görülebilsin diye ortalama enerjinin yalnızca 2,3 katına konmuştur; bu ölçekte taneciklerin yaklaşık %7'si eşiği aşıyor.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Aynı sıcaklıkta taneciklerin enerjileri bir dağılım gösterir; yalnızca eşik enerjisinin sağındaki kuyrukta kalanlar etkin çarpışma yapabilir. Sıcaklık bu dağılımı değiştirir, eşiği değiştirmez.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Sıcaklık artınca eşik enerjisi değişir mi?
Sınıfa sorun, birkaç tahmin alın; sonra cevap slaytına geçin.
Cevap: Hayır. Eşik enerjisi tepkimenin kendisine bağlıdır: hangi bağların gevşeyip hangilerinin kurulacağı onu belirler. Sıcaklık yalnızca taneciklerin enerji dağılımını değiştirir; eğri sağa yayılır, eşiği aşan tanecik payı büyür. Eşiği ve aktifleşme enerjisini düşüren şey sıcaklık değil katalizördür; onu “Katalizör ve temas yüzeyi” konusunda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Eşik enerjisi tepkimenin kendisine bağlıdır: hangi bağların gevşeyip hangilerinin kurulacağı onu belirler. Sıcaklık yalnızca taneciklerin enerji dağılımını değiştirir; eğri sağa yayılır, eşiği aşan tanecik payı büyür. Eşiği ve aktifleşme enerjisini düşüren şey sıcaklık değil katalizördür; onu “Katalizör ve temas yüzeyi” konusunda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hız — adım 1/6
• Eşik ne kadar yüksekse kuyruğun o kadar ince bir ucu eşiği aşar; etkin çarpışma azalır, tepkime yavaşlar.
• Çarpışma teorisi bu payı hesaplayabilir.
• Aşağıdaki tablo 25 °C'deki bir gaz için yapılmış kaba bir hesabın sonucudur: her satırda, çarpışmaların kaçta birinin eşiği aşacak enerjiye sahip olduğu yazıyor.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hız — adım 2/6
Ea (kJ) | Yeterli enerjili çarpışma | Bir molekül ortalama ne kadar bekler?
25 | 24 000 çarpışmada 1 | ≈ 3 mikrosaniye
50 | 575 milyon çarpışmada 1 | ≈ 0,08 saniye
75 | 14 trilyon çarpışmada 1 | ≈ 30 dakika
100 | 3·10¹⁷ çarpışmada 1 | ≈ 1,5 yıl
130 | 6·10²² çarpışmada 1 | ≈ 270 000 yıl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hız — adım 3/6
• Son sütun bir düşünce deneyidir: havadaki bir molekülün saniyedeki yaklaşık 7 milyar çarpışmasının hepsinin uygun bir eşle ve uygun yönelimle olduğunu varsayar.
• Yine de sonuç çarpıcıdır: Ea 25 kJ'den 130 kJ'ye çıkınca bekleme süresi mikrosaniyelerden yüz binlerce yıla uzar.
• CO + NO₂ tepkimesinin oda sıcaklığında neden fark edilmediği de buradan anlaşılır.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hız — şekil
Aynı dağılım, iki farklı eşik. Eşik düşükken (küçük Ea) taneciklerin yaklaşık dörtte biri eşiği aşıyor; eşik yükselince (büyük Ea) yalnızca yüzde üçü. Eşik ortalama enerjinin 1,3 katından 3 katına çıktı, eşiği aşan pay ise yaklaşık 9 kat küçüldü. Gerçek tepkimelerin eşikleri çok daha yüksektir; orada fark binlerce, milyonlarca kata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hız — adım 5/6
• Tablo, aktifleşme enerjisini düşürmenin neden bu kadar güçlü olduğunu da söyler.
• Hidrojen peroksidin ayrışmasının (2H₂O₂ → 2H₂O + O₂) Ea'sı yaklaşık 75 kJ'dür; şişedeki peroksit aylarca dayanır.
• Biraz potasyum iyodür eklenince Ea yaklaşık 56 kJ'ye iner ve peroksit köpürerek ayrışır: yalnızca 19 kJ'lik düşüş, hızı kabaca 2000 katına çıkarır.
• Karaciğerdeki katalaz enzimi Ea'yı 8–23 kJ arasına indirir.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Aktifleşme enerjisi ve hız — adım 6/6
• Ea'yı düşüren bu maddelere katalizör denir; onları “Katalizör ve temas yüzeyi” konusunda ayrıntılı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Aktifleşme enerjisi büyüdükçe eşiği aşan çarpışmaların payı katlanarak küçülür ve tepkime yavaşlar. Ea'daki birkaç on kJ'lik fark, hızı binlerce, hatta milyarlarca kat değiştirebilir.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bazı tepkimeler kendiliğinden sürer? — adım 1/5
• Kibrit söndükten sonra şömine neden yanmaya devam eder?
• Bir ekzotermik tepkimenin enerji hesabını yap: CO + NO₂ örneğinde çarpışan çiftler tepeyi aşmak için mol başına yaklaşık 130 kJ “ödünç” alır, ürünlere inerken 356 kJ geri verir.
• Her mol çiftten geriye 226 kJ artar ve bu enerji ısı olarak çevreye yayılır.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bazı tepkimeler kendiliğinden sürer? — adım 2/5
• Açığa çıkan ısı ortamın sıcaklığını yükseltir.
• Sıcaklık artınca eşiği aşan taneciklerin payı büyür, tepkime hızlanır, daha çok ısı çıkar.
• Bu kendini besleyen döngü sayesinde ekzotermik bir tepkime bir kez başlayınca dışarıdan yardım istemeden sürebilir.
• Kibritin işi yalnızca ilk taneciklerin tepeyi aşmasını sağlamaktır.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bazı tepkimeler kendiliğinden sürer? — adım 3/5
• Endotermik tepkimede hesap terstir: A₂ + B₂ örneğinde her mol çift 160 kJ alıp yalnızca 90 kJ geri verir.
• Tepkime çevresinden ısı çeker ve onu soğutur; eşiği aşan pay küçülür.
• Isıtıcı kapanınca tepkime durur.
• Enerji ısı yerine elektrikle verildiğinde de durum aynıdır: suyun elektrolizinde akım kesildiği an hidrojen ve oksijen çıkışı biter.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bazı tepkimeler kendiliğinden sürer? — şekil
Üst sırada bir kıvılcım ilk hücreyi tutuşturdu. Ekzotermik tepkimenin açığa çıkardığı ısı yanındaki hücrenin eşiği aşmasını sağlıyor; ısı komşuya ulaştığı sürece tepkime hücreden hücreye kendiliğinden yayılıyor. Alt sırada tepkime endotermik: yalnızca ısıtıcının ısıttığı hücreler tepkimiş. Tepkime yan hücrelere yayılmaz; ısıtıcı kapanırsa tamamen durur. Sayfadaki 04 numaralı bölümde iki durumu da deneyebilirsin.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bazı tepkimeler kendiliğinden sürer? — adım 5/5
• Ekzotermik olmak tek başına yetmez; ısının komşulara ulaşması da gerekir.
• Şömineyi kâğıt ve ince çırayla yakmanın nedeni budur: ince parçalar az ısıyla çabuk ısınır, kalın kütük ise ısıyı içine çekip dağıtır.
• Tersine, ısı kaçamazsa yavaş bir tepkime bile kendini hızlandırabilir.
• Keten yağına bulanmış bezler bir yığın hâlinde bırakılırsa, yağın havayla yavaş tepkimesinin ısısı birikir ve bezler kendiliğinden tutuşabilir.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Ekzotermik tepkimede tepeyi aşan çiftler aldıklarından fazla enerji geri verir; açığa çıkan ısı yeni taneciklere ulaşırsa onları eşiğin üstüne taşır ve tepkime kendiliğinden sürebilir. Endotermik tepkime çevresini soğutur; dışarıdan enerji kesilince durur.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Demirin paslanması da ekzotermikse paslanan bir çivi neden ısınıp alev almaz?
Sınıfa sorun, birkaç tahmin alın; sonra cevap slaytına geçin.
Cevap: Paslanma çok yavaştır; bir çivide her saniye açığa çıkan ısı çok küçüktür ve hemen havaya dağılır. Sıcaklık yükselmediği için tepkime de hızlanmaz. Demir ince toz hâline getirilip ısının kaçması engellenince durum değişir: el ısıtıcı paketlerindeki demir tozu havayla tepkimeye girerek saatlerce sıcak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Paslanma çok yavaştır; bir çivide her saniye açığa çıkan ısı çok küçüktür ve hemen havaya dağılır. Sıcaklık yükselmediği için tepkime de hızlanmaz. Demir ince toz hâline getirilip ısının kaçması engellenince durum değişir: el ısıtıcı paketlerindeki demir tozu havayla tepkimeye girerek saatlerce sıcak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Gerçekleşme şartları gerçek dünyada — adım 1/7
• Bir tepkimeyi başlatmak, durdurmak ya da tam istenen anda tetiklemek, bu konudaki şartları yönetmek demektir.
• Üç örnek: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Gerçekleşme şartları gerçek dünyada — adım 2/7
• Kibrit.
• Kutunun yanındaki şeritte kırmızı fosfor ve cam tozu, kibrit başında ise oksijen veren potasyum klorat (KClO₃) ile kükürt bulunur.
• Sürtünme, şeritteki fosforun bir kısmını tutuşturacak kadar ısı üretir.
• Bu küçük alev kibrit başındaki tepkimenin aktifleşme enerjisini karşılar, kibrit başının ısısı da tahta çöpü tutuşturur.
• Her basamağın ısısı bir sonrakinin tepeyi aşmasını sağlar.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Gerçekleşme şartları gerçek dünyada — adım 3/7
• Hava yastığı.
• Direksiyon göbeğindeki şişiricinin katı yakıtı, otomobil yıllarca yol alırken hiç tepkimeye girmeden bekler: aktifleşme enerjisi, kazadan başka bir şeyin onu tetiklemesine izin vermeyecek kadar yüksektir.
• Kaza anında ateşleyicinin ısısı tepeyi aştırır; tepkime ekzotermik olduğu için kendi kendine çok hızlı ilerler ve büyük hacimde azot gazı üretir.
• Eski tip yastıklarda bu yakıt sodyum azürdü; bugün daha az zehirli yakıtlar kullanılıyor, ama ilke aynı:
2NaN₃(k) → 2Na(k) + 3N₂(g)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Gerçekleşme şartları gerçek dünyada — adım 4/7
• Yangın üçgeni.
• Bir yanmanın sürmesi için üç şey birden gerekir: yakıt, oksijen ve tepkimeyi sürdürecek ısı.
• Her yakıtın bir tutuşma sıcaklığı vardır; kâğıt yaklaşık 230 °C'de, kuru odun 300 °C civarında tutuşur.
• Söndürmek, üçünden birini kesmektir.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Gerçekleşme şartları gerçek dünyada — adım 5/7
• Su alevi soğutur: sıcaklık düşünce eşiği aşan taneciklerin payı o kadar küçülür ki tepkime kendini sürdüremez.
• Yangın battaniyesi, köpük ya da karbon dioksit havayı keser.
• Gaz vanasını kapatmak ya da orman yangınında ağaçsız bir şerit açmak yakıtı keser.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Gerçekleşme şartları gerçek dünyada — şekil
Yangın üçgeni: yanma için yakıt, oksijen ve tepkimeyi sürdürecek ısı birlikte gerekir. Bir kenar eksilince üçgen kapanmaz ve yangın söner. Her kenarın yanında kırmızıyla o kenarı kesen söndürme yolu yazılı.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Gerçekleşme şartları gerçek dünyada — adım 7/7
• Kızgın yağ yangınına ise su dökülmez: su yağın altında anında buharlaşır ve yanan yağı çevreye saçar.
• Yağ yangınında tencerenin kapağı kapatılır ve ocak söndürülür; oksijen ve ısı birlikte kesilir.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Kibrit sürtünmeyle, hava yastığı elektrikli ateşleyiciyle tepkimenin aktifleşme enerjisini sağlar; sonra ekzotermik tepkime açığa çıkardığı ısıyla kendini sürdürür. Yangın söndürmek de yakıt, oksijen ve ısıdan birini keserek tepkimenin şartlarını bozmaktır.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kendin deneyebileceğin sorular ve bu konuda en çok puan kaybettiren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Hangi çarpışma etkin?
A₂ + B₂ → 2AB tepkimesinde moleküllerin yan yana, paralel duruşta çarpışması gerekir; eşik enerjisi 60 kJ/mol'dür. Çizimdeki üç çarpışmadan hangisi ya da hangileri ürün verebilir?
Durum çizimi: Durum: A₂ ve B₂ molekülleri üç farklı biçimde çarpışıyor. I ve III'te moleküller yan yana, II'de uç uca geliyor; her çarpışmanın toplam kinetik enerjisi sağda yazılı. Eşik 60 kJ/mol; hangi çarpışmanın etkin olabileceği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Hangi çarpışma etkin?
A₂ + B₂ → 2AB tepkimesinde moleküllerin yan yana, paralel duruşta çarpışması gerekir; eşik enerjisi 60 kJ/mol'dür. Çizimdeki üç çarpışmadan hangisi ya da hangileri ürün verebilir?
Verilenler: eşik enerjisi = 60 kJ/mol · uygun yönelim: yan yana · I: yan yana, 75 kJ/mol · II: uç uca, 90 kJ/mol · III: yan yana, 40 kJ/mol
İstenen: etkin olabilecek çarpışma ya da çarpışmalar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Hangi çarpışma etkin? — çözüm
1. Etkin çarpışmanın iki şartı var: toplam kinetik enerji ≥ eşik ve uygun yönelim.
2. I: 75 &gt; 60 ✓, yönelim uygun ✓ → etkin olabilir.
3. II: 90 &gt; 60 ✓, ama moleküller uç uca çarpışıyor ✗ → enerji fazla olsa da ürün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Hangi çarpışma etkin? — çözüm
4. III: yönelim uygun ✓, ama 40 &lt; 60 ✗ → moleküller geri seker.
5. Cevap: yalnızca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Grafikten Ea ve ΔH okumak
Bir tepkimenin potansiyel enerji grafiğinde girenler 70 kJ'de, aktifleşmiş kompleks 160 kJ'de, ürünler 25 kJ'de duruyor. Ea(ileri), Ea(geri) ve ΔH kaç kJ'dür? Tepkime ekzotermik mi, endotermik mi?
Durum çizimi: Durum: grafikte girenler 70 kJ'de, aktifleşmiş kompleks 160 kJ'de, ürünler 25 kJ'de. Üç ok da soru işaretli: ileri ve geri aktifleşme enerjileri ile ΔH isteniyor.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Grafikten Ea ve ΔH okumak
Bir tepkimenin potansiyel enerji grafiğinde girenler 70 kJ'de, aktifleşmiş kompleks 160 kJ'de, ürünler 25 kJ'de duruyor. Ea(ileri), Ea(geri) ve ΔH kaç kJ'dür? Tepkime ekzotermik mi, endotermik mi?
Verilenler: E(giren) = 70 kJ · E(tepe) = 160 kJ · E(ürün) = 25 kJ
İstenen: Ea(ileri) · Ea(geri) · ΔH · tepkimenin türü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Grafikten Ea ve ΔH okumak — çözüm
1. Ea(ileri) = E(tepe) − E(giren) = 160 − 70 = 90 kJ
2. Ea(geri) = E(tepe) − E(ürün) = 160 − 25 = 135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Grafikten Ea ve ΔH okumak — çözüm
3. ΔH = E(ürün) − E(giren) = 25 − 70 = −45 kJ → tepkime ekzotermik.
4. Kontrol: ΔH = Ea(ileri) − Ea(geri) = 90 − 135 = −45 kJ ✓; Ea(ileri) &lt; Ea(geri), ekzotermiğe uygun.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Eksik seviyeleri bulmak
Endotermik bir tepkimede ΔH = +55 kJ, geri aktifleşme enerjisi 70 kJ'dür. Girenlerin potansiyel enerjisi 40 kJ olduğuna göre ileri aktifleşme enerjisini, ürünlerin ve aktifleşmiş kompleksin potansiyel enerjilerini bulunuz.
Durum çizimi: Durum: girenler 40 kJ'de; ΔH = +55 kJ ve Ea(geri) = 70 kJ verilmiş. Dikey eksendeki iki soru işareti istenen seviyeler: ürünlerin ve aktifleşmiş kompleksin potansiyel enerjisi. Ea(ileri) de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Eksik seviyeleri bulmak
Endotermik bir tepkimede ΔH = +55 kJ, geri aktifleşme enerjisi 70 kJ'dür. Girenlerin potansiyel enerjisi 40 kJ olduğuna göre ileri aktifleşme enerjisini, ürünlerin ve aktifleşmiş kompleksin potansiyel enerjilerini bulunuz.
Verilenler: ΔH = +55 kJ · Ea(geri) = 70 kJ · E(giren) = 40 kJ
İstenen: Ea(ileri) · E(ürün) · E(tepe)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Eksik seviyeleri bulmak — çözüm
1. ΔH = Ea(ileri) − Ea(geri) → 55 = Ea(ileri) − 70 → Ea(ileri) = 125 kJ
2. E(ürün) = E(giren) + ΔH = 40 + 55 = 95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Eksik seviyeleri bulmak — çözüm
3. E(tepe) = E(giren) + Ea(ileri) = 40 + 125 = 165 kJ
4. Kontrol: E(tepe) − E(ürün) = 165 − 95 = 70 kJ = Ea(geri) ✓. Endotermikte Ea(ileri) &gt; ΔH olmalı: 125 &gt; 55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Geri yöndeki tepkime
X → Y tepkimesinin ileri aktifleşme enerjisi 95 kJ, ΔH'si −60 kJ'dür. Y → X tepkimesinin aktifleşme enerjisi ve ΔH'si nedir? Aynı sıcaklıkta hangi yön daha hızlıdır; hangisi başladıktan sonra kendiliğinden sürebilir?
Durum çizimi: Durum: X → Y tepkimesi için Ea(ileri) = 95 kJ ve ΔH = −60 kJ verilmiş. Mor kesikli ok ters yönü gösteriyor: Y'den aynı tepeye tırmanan Y → X tepkimesinin aktifleşme enerjisi ve ΔH'si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Geri yöndeki tepkime
X → Y tepkimesinin ileri aktifleşme enerjisi 95 kJ, ΔH'si −60 kJ'dür. Y → X tepkimesinin aktifleşme enerjisi ve ΔH'si nedir? Aynı sıcaklıkta hangi yön daha hızlıdır; hangisi başladıktan sonra kendiliğinden sürebilir?
Verilenler: X → Y için Ea(ileri) = 95 kJ · ΔH = −60 kJ
İstenen: Y → X için Ea ve ΔH · hızlı yön · kendiliğinden sürebilecek yön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Geri yöndeki tepkime — çözüm
1. X → Y'nin Ea(geri)'si: −60 = 95 − Ea(geri) → Ea(geri) = 155 kJ
2. Y → X aynı tepeden ters yönde geçer: Ea = 155 kJ, ΔH = +60 kJ (endotermik).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Geri yöndeki tepkime — çözüm
3. Öteki şartlar benzerse tepesi alçak olan yön hızlıdır: 95 &lt; 155 → X → Y daha hızlı.
4. X → Y ekzotermik olduğu için başladıktan sonra kendiliğinden sürebilir (açığa çıkan ısı yeni taneciklere ulaşırsa); Y → X sürekli enerji 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Enerji dağılımından hız karşılaştırması
Aynı sıcaklıkta yürüyen I ve II tepkimelerinin eşik enerjileri, taneciklerin kinetik enerji dağılımı üzerinde gösterilmiştir. (a) Hangi tepkime daha hızlıdır? (b) Hangisinin aktifleşme enerjisi büyüktür? (c) Sıcaklık artırılırsa eşikler değişir mi?
Durum çizimi: Durum: aynı sıcaklıktaki taneciklerin enerji dağılımı üzerinde iki tepkimenin eşikleri: I daha düşük, II daha yüksek enerjide. Hangi tepkimenin hızlı olduğu, hangisinin Ea'sının büyük olduğu ve sıcaklığın eşikleri değiştirip değiştirmediği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Enerji dağılımından hız karşılaştırması
Aynı sıcaklıkta yürüyen I ve II tepkimelerinin eşik enerjileri, taneciklerin kinetik enerji dağılımı üzerinde gösterilmiştir. (a) Hangi tepkime daha hızlıdır? (b) Hangisinin aktifleşme enerjisi büyüktür? (c) Sıcaklık artırılırsa eşikler değişir mi?
Verilenler: aynı sıcaklık, aynı dağılım · I'in eşiği II'ninkinden daha düşük enerjide
İstenen: (a) hızlı olan tepkime · (b) Ea'sı büyük olan · (c) sıcaklığın eşiklere etkisi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Enerji dağılımından hız karşılaştırması — çözüm
1. Bir eşiğin sağındaki alan, o eşiği aşan taneciklerdir. I'in eşiği daha solda olduğu için sağındaki alan daha büyüktür.
2. (a) Eşiği aşan tanecik çok → etkin çarpışma çok → I daha hızlıdır (yönelim şartları benzerse).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Enerji dağılımından hız karşılaştırması — çözüm
3. (b) Eşik enerjisi sayıca Ea'ya eşittir: eşiği yüksek olan II'nin Ea'sı büyüktür.
4. (c) Hayır. Sıcaklık eğriyi sağa yayar ve iki eşiğin sağındaki alanı da büyütür; eşikler yerinde kalır, iki tepkime de hızlanır.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İki tepkimeyi karşılaştırmak
Çizimde I ve II tepkimelerinin potansiyel enerji grafikleri aynı ölçekte verilmiştir. (a) Aynı sıcaklıkta hangisinin ileri tepkimesi daha hızlıdır? (b) Hangisinin geri tepkimesi daha hızlıdır? (c) Hangisi başladıktan sonra kendiliğinden sürebilir?
Durum çizimi: Durum: I ve II tepkimelerinin grafikleri aynı ölçekte; ikisinin de girenleri 40 kJ'de. Soru işaretli oklar, karşılaştırma için bulunması gereken ileri ve geri aktifleşme enerjileri.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İki tepkimeyi karşılaştırmak
Çizimde I ve II tepkimelerinin potansiyel enerji grafikleri aynı ölçekte verilmiştir. (a) Aynı sıcaklıkta hangisinin ileri tepkimesi daha hızlıdır? (b) Hangisinin geri tepkimesi daha hızlıdır? (c) Hangisi başladıktan sonra kendiliğinden sürebilir?
Verilenler: I: girenler 40 kJ, kompleks 100 kJ, ürünler −15 kJ · II: girenler 40 kJ, kompleks 150 kJ, ürünler 115 kJ
İstenen: (a) hızlı ileri tepkime · (b) hızlı geri tepkime · (c) kendiliğinden sürebilecek tepkime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İki tepkimeyi karşılaştırmak — çözüm
1. I: Ea(ileri) = 100 − 40 = 60 kJ · Ea(geri) = 100 − (−15) = 115 kJ · ΔH = −15 − 40 = −55 kJ
2. II: Ea(ileri) = 150 − 40 = 110 kJ · Ea(geri) = 150 − 115 = 35 kJ · ΔH = 115 − 40 = +75 kJ
3. (a) 60 &lt; 110 → I'in ileri tepkimesi daha hızlıdır.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İki tepkimeyi karşılaştırmak — çözüm
4. (b) 35 &lt; 115 → II'nin geri tepkimesi daha hızlıdır. II'de geri yön ileri yönden bile hızlıdır (35 &lt; 110): oluşan ürünler kolayca girenlere döner.
5. (c) I ekzotermik (ΔH &lt; 0) → I kendiliğinden sürebilir (açığa çıkan ısı yeni taneciklere ulaşırsa); II endotermik, sürekli enerji ister.
6. Kontrol: I için 60 − 115 = −55 kJ ✓ · II için 110 − 35 = +75 kJ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Çarpışma enerjisi ve tepenin aşılması
Bir tepkimenin ileri aktifleşme enerjisi 80 kJ/mol, ΔH'si −30 kJ/mol'dür. Uygun yönelimle çarpışan üç grup çiftin kinetik enerjileri toplamı I'de 50, II'de 95, III'te 120 kJ/mol'dür. (a) Hangi gruplar ürün verir? (b) Ürün veren gruplarda ürün taneciklerinin kinetik enerjileri toplamı kaç kJ/mol olur?
Durum çizimi: Durum: soldaki mavi oklar üç grup çiftin kinetik enerjisi; hepsi girenler seviyesinden başlıyor. Tepe girenlerden 80 kJ/mol yukarıda, ürünler 30 kJ/mol aşağıda. Tepeyi hangi grupların aştığı ve ürünlerin kinetik enerjisi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Çarpışma enerjisi ve tepenin aşılması
Bir tepkimenin ileri aktifleşme enerjisi 80 kJ/mol, ΔH'si −30 kJ/mol'dür. Uygun yönelimle çarpışan üç grup çiftin kinetik enerjileri toplamı I'de 50, II'de 95, III'te 120 kJ/mol'dür. (a) Hangi gruplar ürün verir? (b) Ürün veren gruplarda ürün taneciklerinin kinetik enerjileri toplamı kaç kJ/mol olur?
Verilenler: Ea(ileri) = 80 kJ/mol · ΔH = −30 kJ/mol · yönelimler uygun · kinetik enerji: I = 50, II = 95, III = 120 kJ/mol
İstenen: (a) tepeyi aşan gruplar · (b) ürünlerin kinetik enerjileri toplamı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Çarpışma enerjisi ve tepenin aşılması — çözüm
1. Tepeyi aşmak için kinetik enerji en az Ea(ileri) = 80 kJ/mol olmalı (eşik enerjisi sayıca Ea'ya eşit).
2. (a) I: 50 &lt; 80 → tepeye varamadan geri döner; çiftler 50 kJ/mol ile seker. II (95) ve III (120) ürün verir.
3. Enerji korunur: kinetik ve potansiyel enerjinin toplamı değişmez. Ürünlerin potansiyel enerjisi 30 kJ/mol düşük olduğu için bu 30 kJ/mol kinetik enerjiye eklenir.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Çarpışma enerjisi ve tepenin aşılması — çözüm
4. (b) II: 95 + 30 = 125 kJ/mol · III: 120 + 30 = 150 kJ/mol
5. Ürünler girenlerden hızlı hareket eder; çarpışmalarla çevreye dağılan bu fazla hareket enerjisi, ekzotermik tepkimenin ortamı ısıtmasıdır.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Bir tepkimede girenlerin potansiyel enerjisi 30 kJ, aktifleşmiş kompleksinki 115 kJ'dür. İleri aktifleşme enerjisi kaç kJ'dür?
Öğrencilere 2–3 dakika verin; sonra cevap slaytını açın.
Cevap: Cevap: Ea(ileri) = E(tepe) − E(giren) = 115 − 30 = 85 kJ. Tepenin yüksekliği sıfırdan değil, girenler seviyesinden ölçülür.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Ea(ileri) = E(tepe) − E(giren) = 115 − 30 = 85 kJ. Tepenin yüksekliği sıfırdan değil, girenler seviyesinden ölçülür.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Tanecikler eşik enerjisinden büyük bir enerjiyle çarpıştığı hâlde ürün oluşmadı. Bunun nedeni ne olabilir?
Öğrencilere 2–3 dakika verin; sonra cevap slaytını açın.
Cevap: Cevap: Yönelim uygun değildir: yeni bağı kuracak atomlar karşı karşıya gelmemiştir. Etkin çarpışma için yeterli enerji ile uygun yönelim birlikte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Yönelim uygun değildir: yeni bağı kuracak atomlar karşı karşıya gelmemiştir. Etkin çarpışma için yeterli enerji ile uygun yönelim birlikte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ΔH'si −40 kJ, geri aktifleşme enerjisi 110 kJ olan bir tepkimenin ileri aktifleşme enerjisi kaç kJ'dür?
Öğrencilere 2–3 dakika verin; sonra cevap slaytını açın.
Cevap: Cevap: ΔH = Ea(ileri) − Ea(geri) → −40 = Ea(ileri) − 110 → Ea(ileri) = 70 kJ. Ea(ileri) &lt; Ea(geri) çıktı; ekzotermik tepkimeye uygun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ΔH = Ea(ileri) − Ea(geri) → −40 = Ea(ileri) − 110 → Ea(ileri) = 70 kJ. Ea(ileri) &lt; Ea(geri) çıktı; ekzotermik tepkimeye uygun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Bir öğrenci, ΔH'si +90 kJ olan bir tepkimenin ileri aktifleşme enerjisini 60 kJ buldu. Bu sonuç neden olanaksızdır?
Öğrencilere 2–3 dakika verin; sonra cevap slaytını açın.
Cevap: Cevap: Ea(geri) = Ea(ileri) − ΔH = 60 − 90 = −30 kJ çıkardı; aktifleşme enerjisi negatif olamaz. Ürünler girenlerden 90 kJ yukarıda olduğu için tepe de en az o kadar yüksek olmalıdır: Ea(ileri) &gt; 90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Ea(geri) = Ea(ileri) − ΔH = 60 − 90 = −30 kJ çıkardı; aktifleşme enerjisi negatif olamaz. Ürünler girenlerden 90 kJ yukarıda olduğu için tepe de en az o kadar yüksek olmalıdır: Ea(ileri) &gt; 90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Bir tepkimede Ea(geri), Ea(ileri)'nin 3 katıdır ve ΔH = −84 kJ'dür. Girenler 20 kJ'de ise aktifleşmiş kompleks ve ürünler kaç kJ'dedir?
Öğrencilere 2–3 dakika verin; sonra cevap slaytını açın.
Cevap: Cevap: Ea(ileri) = x, Ea(geri) = 3x olsun: −84 = x − 3x = −2x → x = 42. Ea(ileri) = 42 kJ, Ea(geri) = 126 kJ. E(tepe) = 20 + 42 = 62 kJ; E(ürün) = 20 − 84 = −64 kJ. Kontrol: 62 − (−64) = 126 kJ = Ea(geri)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Ea(ileri) = x, Ea(geri) = 3x olsun: −84 = x − 3x = −2x → x = 42. Ea(ileri) = 42 kJ, Ea(geri) = 126 kJ. E(tepe) = 20 + 42 = 62 kJ; E(ürün) = 20 − 84 = −64 kJ. Kontrol: 62 − (−64) = 126 kJ = Ea(geri)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Her çarpışmanın ürün verdiğini sanmak. Çarpışmaların çok küçük bir kısmı etkindir; çoğunda tanecikler değişmeden seker.
• Yeterli enerjinin tek şart olduğunu düşünmek. Yönelim de uygun olmalıdır: CO, NO₂'ye oksijen ucuyla çarparsa ne kadar hızlı olursa olsun ürün çıkmaz.
• Ekzotermik tepkimelerin aktifleşme enerjisi olmadığını sanmak. Ea her zaman sıfırdan büyüktür. Odunun yanması çok ekzotermiktir, ama kibrit olmadan başlamaz.
• Eşik enerjisini potansiyel, aktifleşme enerjisini kinetik enerji sanmak. Tersi doğrudur: eşik, çarpışan taneciklerin getirmesi gereken kinetik enerjidir; Ea, potansiyel enerji tepesinin yüksekliğidir. İkisi sayıca eşittir.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Ea'yı tepenin eksenden yüksekliği sanmak. Ea(ileri) girenler seviyesinden, Ea(geri) ürünler seviyesinden ölçülür; ikisi de iki seviyenin farkıdır.
• ΔH'yi Ea(geri) − Ea(ileri) diye yazmak. Doğrusu ΔH = Ea(ileri) − Ea(geri). Kontrol et: ekzotermik tepkimede Ea(ileri) küçük olduğu için sonuç negatif çıkmalıdır.
• Sıcaklık artınca aktifleşme enerjisinin düştüğünü sanmak. Sıcaklık eşiği ve Ea'yı değiştirmez, eşiği aşan tanecik payını artırır. Ea'yı düşüren katalizördür.
• Çok ısı veren tepkimenin hızlı olacağını sanmak. Aynı koşullarda hızı ΔH değil Ea belirler. NO + O₃ ile CO + NO₂ birbirine yakın ısı verir, ama tepeleri 12 ve 130 kJ'dür: biri çabucak yürür, öteki oda sıcaklığında fark edilmeyecek kadar yavaştır.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Etkin çarpışma: enerji + yönelim · Ea her zaman &gt; 0 · ΔH = Ea(ileri) − Ea(geri) · Büyük Ea: yavaş tepkime
ΔH = Ea(ileri) − Ea(geri) — tepkime entalpisi
Ea(ileri) = E(tepe) − E(giren) — E(tepe): aktifleşmiş kompleksin enerjisi
Ea(geri) = E(tepe) − E(ürün) — geri aktifleşme enerjisi
Hız ∝ birim zamandaki etkin çarpışma sayısı — çarpışma teorisi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1d623a45-0112-427a-9abb-0c648368bda2/scratchpad/sunum/sekiller/carpisma-teoris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kimya</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KİMYASAL TEPKİMELERDE HIZ · KONU 01</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Tepkimelerin gerçekleşme şartları</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Bir tepkime için tanecikler çarpışmalı; ama her çarpışma ürün vermez. Yeterli enerjiyle ve uygun yönelimle olan etkin çarpışmalar tepkimeyi yürütür. Aşılması gereken enerji tepesinin yüksekliğine aktifleşme enerjisi denir.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dersler.perinet.org/carpisma-teorisi.html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Şömineye dizilmiş odun, havanın oksijeniyle iç içe durduğu hâlde neden kendiliğinden tutuşmaz?</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Kibrit neden cebinde değil de kutunun yanına sürtülünce bir anda alev alır?</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Bir tepkimenin olması için taneciklerin </a:t>
            </a:r>
            <a:pPr indent="0" marL="0">
              <a:lnSpc>
                <a:spcPct val="130000"/>
              </a:lnSpc>
              <a:buNone/>
            </a:pPr>
            <a:r>
              <a:rPr lang="en-US" sz="2050" b="1" dirty="0">
                <a:solidFill>
                  <a:srgbClr val="5F4BD8"/>
                </a:solidFill>
                <a:latin typeface="Cambria" pitchFamily="34" charset="0"/>
                <a:ea typeface="Cambria" pitchFamily="34" charset="-122"/>
                <a:cs typeface="Cambria" pitchFamily="34" charset="-120"/>
              </a:rPr>
              <a:t>çarpışması</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 gerekir, ama her çarpışma ürün vermez.</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Yalnızca yeterince sert ve doğru açıyla çarpışan tanecikler önlerindeki bir </a:t>
            </a:r>
            <a:pPr indent="0" marL="0">
              <a:lnSpc>
                <a:spcPct val="130000"/>
              </a:lnSpc>
              <a:buNone/>
            </a:pPr>
            <a:r>
              <a:rPr lang="en-US" sz="2050" b="1" dirty="0">
                <a:solidFill>
                  <a:srgbClr val="5F4BD8"/>
                </a:solidFill>
                <a:latin typeface="Cambria" pitchFamily="34" charset="0"/>
                <a:ea typeface="Cambria" pitchFamily="34" charset="-122"/>
                <a:cs typeface="Cambria" pitchFamily="34" charset="-120"/>
              </a:rPr>
              <a:t>enerji tepesini</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 aşabilir; tıpkı tepenin öbür yanına geçmesi için güçlü bir itiş bekleyen bir top gibi.</a:t>
            </a:r>
            <a:endParaRPr lang="en-US" sz="205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tepkimelerin neden kendiliğinden başlamadığını gözle; taneciklerin çarpışmasını ve hangi çarpışmanın ürün verdiğini formülsüz kavra.</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Önce gözlemle: odun neden kendiliğinden yanmaz?</a:t>
            </a:r>
            <a:endParaRPr lang="en-US" sz="11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Çarpışma teorisi: önce temas, sonra tepkime</a:t>
            </a:r>
            <a:endParaRPr lang="en-US" sz="11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Etkin çarpışma: enerji ve yönelim</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Eşik enerjisi: ne kadar sert çarpışmalı?</a:t>
            </a:r>
            <a:endParaRPr lang="en-US" sz="120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Calibri" pitchFamily="34" charset="0"/>
                <a:ea typeface="Calibri" pitchFamily="34" charset="-122"/>
                <a:cs typeface="Calibri" pitchFamily="34" charset="-120"/>
              </a:rPr>
              <a:t>Bağıntılar: enerji tepesini potansiyel enerji grafiğine dök; Ea(ileri), Ea(geri) ve ΔH'yi grafikten oku, aralarındaki bağı türet ve gerçek tepkimelerin sayılarıyla dene.</a:t>
            </a:r>
            <a:endParaRPr lang="en-US" sz="95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451714"/>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Aktifleşme enerjisi ve aktifleşmiş kompleks</a:t>
            </a:r>
            <a:endParaRPr lang="en-US" sz="1150" dirty="0"/>
          </a:p>
        </p:txBody>
      </p:sp>
      <p:sp>
        <p:nvSpPr>
          <p:cNvPr id="30" name="Text 28"/>
          <p:cNvSpPr txBox="1"/>
          <p:nvPr/>
        </p:nvSpPr>
        <p:spPr>
          <a:xfrm>
            <a:off x="3637712" y="4072738"/>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072738"/>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Ekzotermik tepkimenin enerji grafiği</a:t>
            </a:r>
            <a:endParaRPr lang="en-US" sz="1250" dirty="0"/>
          </a:p>
        </p:txBody>
      </p:sp>
      <p:sp>
        <p:nvSpPr>
          <p:cNvPr id="32" name="Text 30"/>
          <p:cNvSpPr txBox="1"/>
          <p:nvPr/>
        </p:nvSpPr>
        <p:spPr>
          <a:xfrm>
            <a:off x="3637712" y="4579315"/>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579315"/>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Endotermik tepkimenin enerji grafiği</a:t>
            </a:r>
            <a:endParaRPr lang="en-US" sz="1250" dirty="0"/>
          </a:p>
        </p:txBody>
      </p:sp>
      <p:sp>
        <p:nvSpPr>
          <p:cNvPr id="34" name="Text 32"/>
          <p:cNvSpPr txBox="1"/>
          <p:nvPr/>
        </p:nvSpPr>
        <p:spPr>
          <a:xfrm>
            <a:off x="3637712" y="5085893"/>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085893"/>
            <a:ext cx="1754048" cy="451714"/>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ΔH ile aktifleşme enerjileri arasındaki bağ</a:t>
            </a:r>
            <a:endParaRPr lang="en-US" sz="1150" dirty="0"/>
          </a:p>
        </p:txBody>
      </p:sp>
      <p:sp>
        <p:nvSpPr>
          <p:cNvPr id="36" name="Text 34"/>
          <p:cNvSpPr txBox="1"/>
          <p:nvPr/>
        </p:nvSpPr>
        <p:spPr>
          <a:xfrm>
            <a:off x="3637712" y="559247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592470"/>
            <a:ext cx="1754048" cy="451714"/>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Sayılarla hisset: tepeler ne kadar yüksek?</a:t>
            </a:r>
            <a:endParaRPr lang="en-US" sz="1150" dirty="0"/>
          </a:p>
        </p:txBody>
      </p:sp>
      <p:sp>
        <p:nvSpPr>
          <p:cNvPr id="38" name="Shape 36"/>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9" name="Shape 37"/>
          <p:cNvSpPr/>
          <p:nvPr/>
        </p:nvSpPr>
        <p:spPr>
          <a:xfrm>
            <a:off x="6379312" y="1645920"/>
            <a:ext cx="2211248" cy="64008"/>
          </a:xfrm>
          <a:prstGeom prst="rect">
            <a:avLst/>
          </a:prstGeom>
          <a:solidFill>
            <a:srgbClr val="5F4BD8"/>
          </a:solidFill>
          <a:ln/>
        </p:spPr>
      </p:sp>
      <p:sp>
        <p:nvSpPr>
          <p:cNvPr id="40" name="Shape 38"/>
          <p:cNvSpPr/>
          <p:nvPr/>
        </p:nvSpPr>
        <p:spPr>
          <a:xfrm>
            <a:off x="6415888" y="1920240"/>
            <a:ext cx="420624" cy="420624"/>
          </a:xfrm>
          <a:prstGeom prst="roundRect">
            <a:avLst>
              <a:gd name="adj" fmla="val 26000"/>
            </a:avLst>
          </a:prstGeom>
          <a:solidFill>
            <a:srgbClr val="5F4BD8"/>
          </a:solidFill>
          <a:ln/>
        </p:spPr>
      </p:sp>
      <p:sp>
        <p:nvSpPr>
          <p:cNvPr id="41" name="Text 39"/>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3" name="Text 41"/>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Calibri" pitchFamily="34" charset="0"/>
                <a:ea typeface="Calibri" pitchFamily="34" charset="-122"/>
                <a:cs typeface="Calibri" pitchFamily="34" charset="-120"/>
              </a:rPr>
              <a:t>İnce durumlar: taneciklerin enerji dağılımından eşiği aşan payı oku, aktifleşme enerjisinin hızı nasıl belirlediğini sayılarla gör, kendini sürdüren tepkimeleri ve gerçek dünyadaki uygulamaları incele.</a:t>
            </a:r>
            <a:endParaRPr lang="en-US" sz="950" dirty="0"/>
          </a:p>
        </p:txBody>
      </p:sp>
      <p:sp>
        <p:nvSpPr>
          <p:cNvPr id="44" name="Shape 42"/>
          <p:cNvSpPr/>
          <p:nvPr/>
        </p:nvSpPr>
        <p:spPr>
          <a:xfrm>
            <a:off x="6415888" y="3429000"/>
            <a:ext cx="2138096" cy="0"/>
          </a:xfrm>
          <a:prstGeom prst="line">
            <a:avLst/>
          </a:prstGeom>
          <a:noFill/>
          <a:ln w="9525">
            <a:solidFill>
              <a:srgbClr val="E1E5EE"/>
            </a:solidFill>
            <a:prstDash val="dash"/>
          </a:ln>
        </p:spPr>
      </p:sp>
      <p:sp>
        <p:nvSpPr>
          <p:cNvPr id="45" name="Text 43"/>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Enerji dağılımı: kaç tanecik eşiği aşar?</a:t>
            </a:r>
            <a:endParaRPr lang="en-US" sz="1200" dirty="0"/>
          </a:p>
        </p:txBody>
      </p:sp>
      <p:sp>
        <p:nvSpPr>
          <p:cNvPr id="47" name="Text 45"/>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Aktifleşme enerjisi ve hız</a:t>
            </a:r>
            <a:endParaRPr lang="en-US" sz="1250" dirty="0"/>
          </a:p>
        </p:txBody>
      </p:sp>
      <p:sp>
        <p:nvSpPr>
          <p:cNvPr id="49" name="Text 47"/>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Neden bazı tepkimeler kendiliğinden sürer?</a:t>
            </a:r>
            <a:endParaRPr lang="en-US" sz="1150" dirty="0"/>
          </a:p>
        </p:txBody>
      </p:sp>
      <p:sp>
        <p:nvSpPr>
          <p:cNvPr id="51" name="Text 49"/>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13</a:t>
            </a:r>
            <a:endParaRPr lang="en-US" sz="1100" dirty="0"/>
          </a:p>
        </p:txBody>
      </p:sp>
      <p:sp>
        <p:nvSpPr>
          <p:cNvPr id="52" name="Text 50"/>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Gerçekleşme şartları gerçek dünyada</a:t>
            </a:r>
            <a:endParaRPr lang="en-US" sz="1250" dirty="0"/>
          </a:p>
        </p:txBody>
      </p:sp>
      <p:sp>
        <p:nvSpPr>
          <p:cNvPr id="53" name="Shape 51"/>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4" name="Shape 52"/>
          <p:cNvSpPr/>
          <p:nvPr/>
        </p:nvSpPr>
        <p:spPr>
          <a:xfrm>
            <a:off x="9157487" y="1645920"/>
            <a:ext cx="2211248" cy="64008"/>
          </a:xfrm>
          <a:prstGeom prst="rect">
            <a:avLst/>
          </a:prstGeom>
          <a:solidFill>
            <a:srgbClr val="A56209"/>
          </a:solidFill>
          <a:ln/>
        </p:spPr>
      </p:sp>
      <p:sp>
        <p:nvSpPr>
          <p:cNvPr id="55" name="Shape 53"/>
          <p:cNvSpPr/>
          <p:nvPr/>
        </p:nvSpPr>
        <p:spPr>
          <a:xfrm>
            <a:off x="9194063" y="1920240"/>
            <a:ext cx="420624" cy="420624"/>
          </a:xfrm>
          <a:prstGeom prst="roundRect">
            <a:avLst>
              <a:gd name="adj" fmla="val 26000"/>
            </a:avLst>
          </a:prstGeom>
          <a:solidFill>
            <a:srgbClr val="A56209"/>
          </a:solidFill>
          <a:ln/>
        </p:spPr>
      </p:sp>
      <p:sp>
        <p:nvSpPr>
          <p:cNvPr id="56" name="Text 54"/>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7" name="Text 55"/>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8" name="Text 56"/>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kendin deneyebileceğin sorular ve bu konuda en çok puan kaybettiren hatalar.</a:t>
            </a:r>
            <a:endParaRPr lang="en-US" sz="1150" dirty="0"/>
          </a:p>
        </p:txBody>
      </p:sp>
      <p:sp>
        <p:nvSpPr>
          <p:cNvPr id="59" name="Shape 57"/>
          <p:cNvSpPr/>
          <p:nvPr/>
        </p:nvSpPr>
        <p:spPr>
          <a:xfrm>
            <a:off x="9194063" y="3429000"/>
            <a:ext cx="2138096" cy="0"/>
          </a:xfrm>
          <a:prstGeom prst="line">
            <a:avLst/>
          </a:prstGeom>
          <a:noFill/>
          <a:ln w="9525">
            <a:solidFill>
              <a:srgbClr val="E1E5EE"/>
            </a:solidFill>
            <a:prstDash val="dash"/>
          </a:ln>
        </p:spPr>
      </p:sp>
      <p:sp>
        <p:nvSpPr>
          <p:cNvPr id="60" name="Text 58"/>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2" name="Text 60"/>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15</a:t>
            </a:r>
            <a:endParaRPr lang="en-US" sz="1100" dirty="0"/>
          </a:p>
        </p:txBody>
      </p:sp>
      <p:sp>
        <p:nvSpPr>
          <p:cNvPr id="63" name="Text 61"/>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4" name="Shape 62"/>
          <p:cNvSpPr/>
          <p:nvPr/>
        </p:nvSpPr>
        <p:spPr>
          <a:xfrm>
            <a:off x="640080" y="6382512"/>
            <a:ext cx="128016" cy="128016"/>
          </a:xfrm>
          <a:prstGeom prst="roundRect">
            <a:avLst>
              <a:gd name="adj" fmla="val 28571"/>
            </a:avLst>
          </a:prstGeom>
          <a:solidFill>
            <a:srgbClr val="A9E648"/>
          </a:solidFill>
          <a:ln/>
        </p:spPr>
      </p:sp>
      <p:sp>
        <p:nvSpPr>
          <p:cNvPr id="65" name="Text 6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66" name="Text 6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Tanecik: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atom, molekül ya da iyon. Maddeyi oluşturan, gözle görülemeyecek kadar küçük yapı taşları; bir bardak suda yaklaşık 7·10²⁴ su molekülü vardır.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Kinetik enerji:</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hareket enerjisi. Daha hızlı hareket eden tanecik daha çok kinetik enerji taşır.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Sıcaklık: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taneciklerin ortalama kinetik enerjisinin ölçüsü. Sıcak çaydaki su molekülleri, soğuk sudakilerden ortalamada daha hızlıdır.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Potansiyel enerji:</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depolanmış enerji. Tepedeki top yuvarlanınca bu enerji harekete dönüşür; kimyada enerji bağlarda ve birbirini iten, çeken taneciklerde depolanır.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Kimyasal bağ:</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atomları bir arada tutan çekim. Bağ kırmak enerji ister, bağ kurmak enerji verir.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ΔH:</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tepkime entalpisi, tepkimede alınan ya da verilen ısı. ΔH &lt; 0 ise tepkime ekzotermiktir (ısı verir), ΔH &gt; 0 ise endotermiktir (ısı alır).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500" dirty="0">
                <a:solidFill>
                  <a:srgbClr val="C3CEE8"/>
                </a:solidFill>
                <a:latin typeface="Calibri" pitchFamily="34" charset="0"/>
                <a:ea typeface="Calibri" pitchFamily="34" charset="-122"/>
                <a:cs typeface="Calibri" pitchFamily="34" charset="-120"/>
              </a:rPr>
              <a:t>Önce sezgi: tepkimelerin neden kendiliğinden başlamadığını gözle; taneciklerin çarpışmasını ve hangi çarpışmanın ürün verdiğini formülsüz kavra.</a:t>
            </a:r>
            <a:endParaRPr lang="en-US" sz="15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odun neden kendiliğinden yanmaz?</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Çarpışma teorisi: önce temas, sonra tepkime</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Etkin çarpışma: enerji ve yönelim</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Eşik enerjisi: ne kadar sert çarpışmalı?</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carpisma-teoris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Hazır ama yanmayan şömine.</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Odun, çıra ve kâğıt havadaki oksijenle iç içe duruyor; yanma çok ısı veren bir tepkime olduğu hâlde kendiliğinden başlamıyor. Eksik olan, ilk taneciklerin enerji tepesini aşmasını sağlayacak başlangıç enerjisi. Sekideki kutudan çıkacak tek bir kibritin küçük alevi bu enerjiyi önce ince kâğıda, sonra çıralara, en sonda kalın odunlara aktaracak.</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dersler.perinet.org/carpisma-teorisi.html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Önce gözlemle: odun neden kendiliğinden yanmaz?</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Odunun yanması çevresine bol ısı veren bir tepkimedir ve odun havanın oksijeniyle her an temas hâlindedir.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Öyleyse odun neden kendi kendine tutuşmuyor?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Çevrene bakınca bunun bir istisna değil, neredeyse bir kural olduğunu görürsün: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Önce gözlemle: odun neden kendiliğinden yanmaz?</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Şöminedeki odun: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odun, çıra ve kâğıt havayla sarmaş dolaş durur; kibrit çakılmadıkça günlerce, aylarca yanmaz.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Ocaktaki doğal gaz: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musluğu açınca metan havayla karışır, ama çakmak çakılmadan alev almaz. Gaz kaçağı bu yüzden tehlikelidir: küçük bir kıvılcım yeter.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Şekerlik: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şeker de havada yanabilen bir maddedir, ama şekerlikte yıllarca durur.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Kibrit kutusu:</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kibrit başları kutunun içinde aylarca bekler; sürtülmeden tutuşmaz.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Önce gözlemle: odun neden kendiliğinden yanmaz?</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Karbonat ve sirke: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buna karşılık bazı tepkimeler hemen başlar: karbonata sirke dökünce anında köpürür.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Önce gözlemle: odun neden kendiliğinden yanmaz?</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sahnelerin ortak yanı şu: tepkimeye girecek maddeler hazır, üstelik tepkime ısı veriyor; ama bir şey eksik.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Eksik olan, tepkimeyi başlatacak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ilk enerjidir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Tepkimeyi, bir topu tepenin öbür yanındaki daha alçak bir vadiye yuvarlamaya benzetebilirsin.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Vadi daha alçakta olsa da top kendiliğinden tepeyi aşamaz; biri ona ilk itişi vermelidir.</a:t>
            </a:r>
            <a:endParaRPr lang="en-US" sz="2200" dirty="0"/>
          </a:p>
        </p:txBody>
      </p:sp>
      <p:sp>
        <p:nvSpPr>
          <p:cNvPr id="7" name="Text 5"/>
          <p:cNvSpPr txBox="1"/>
          <p:nvPr/>
        </p:nvSpPr>
        <p:spPr>
          <a:xfrm>
            <a:off x="640080" y="4591812"/>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Kibrit tam da bu işi görür.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Önce gözlemle: odun neden kendiliğinden yanmaz?</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008716" y="1234440"/>
            <a:ext cx="8174263"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01.png">    </p:cNvPr>
          <p:cNvPicPr>
            <a:picLocks noChangeAspect="1"/>
          </p:cNvPicPr>
          <p:nvPr/>
        </p:nvPicPr>
        <p:blipFill>
          <a:blip r:embed="rId1"/>
          <a:stretch>
            <a:fillRect/>
          </a:stretch>
        </p:blipFill>
        <p:spPr>
          <a:xfrm>
            <a:off x="2237316" y="1325880"/>
            <a:ext cx="7717063"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Tepkimeyi bir arazi kesiti gibi düşün. Odun ve oksijen soldaki vadide durur; ürünler (CO₂ ve su buharı) sağdaki daha alçak vadidedir, bu yüzden yanma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ısı verir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Ama arada bir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enerji engeli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vardır ve top onu kendiliğinden aşamaz. Kibrit ilk itişi verir; top bir kez tepeyi aşınca alçak vadiye kendiliğinden yuvarlanır.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Önce gözlemle: odun neden kendiliğinden yanmaz?</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Tepkimeye girecek maddelerin yan yana durması yetmez. Odun, şeker ve doğal gaz havayla karışık durur ama yanmaz; tepkimenin başlaması için önce bir enerji engelinin, bir tepenin aşılması gerekir.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Yanma ısı veren bir tepkimeyse, odun neden kendi ısısıyla tutuşmuyor?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odun neden kendiliğinden yanmaz?</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Yanma ısı veren bir tepkimeyse, odun neden kendi ısısıyla tutuşmuyor?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Isı vermesi için önce başlaması gerekir. Oda sıcaklığında odun ile oksijen tanecikleri çarpışır, ama bu çarpışmaların neredeyse hiçbiri enerji tepesini aşacak kadar sert değildir. Tepkime başlamadığı için ısı da çıkmaz. Kibrit küçük bir bölgeyi yüzlerce dereceye ısıtınca orada tepkime başlar; açığa çıkan ısı da yanındaki odunu tutuşturur.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Çarpışma teorisi: önce temas, sonra tepkime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Maddeler atom, molekül ya da iyon gibi taneciklerden oluşur ve bu tanecikler hiç durmadan hareket eder.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tepkimede eski bağlar kırılıp yenileri kurulacaksa, tepkimeye girecek tanecikler önce birbirine değmelidir.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Kimyacılar bu basit fikri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çarpışma teorisi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adıyla üç maddede toplar: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Çarpışma teorisi: önce temas, sonra tepkime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Çarpışma şart: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tepkime için tanecikler çarpışmalıdır. Ayrı kaplarda duran iki gaz tepkimeye giremez.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Her çarpışma ürün vermez: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çarpışmaların çoğunda tanecikler değişmeden birbirinden seker. Ürün veren çarpışmalara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etkin çarpışma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denir.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Hızı etkin çarpışmalar belirler: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saniyede ne kadar çok etkin çarpışma olursa tepkime o kadar hızlı yürür.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Çarpışma teorisi: önce temas, sonra tepkime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Çarpışmalar ne kadar sık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Oda sıcaklığında havadaki bir azot molekülü saniyede ortalama 475 metre yol alır; bu, bir yolcu uçağının hızının neredeyse iki katıdır.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saniye yaklaşık 7 milyar kez başka bir molekülle çarpışır.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çarpışmaların hepsi ürün verseydi her gaz tepkimesi saniyenin milyarda biri gibi kısa bir sürede biterdi.</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Çarpışma teorisi: önce temas, sonra tepkime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Oysa bir hidrojen–oksijen karışımı, kıvılcım almadıkça yıllarca tepkimeye girmeden durabilir.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Çarpışma teorisi: önce temas, sonra tepkime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571053" y="1234440"/>
            <a:ext cx="704958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02.png">    </p:cNvPr>
          <p:cNvPicPr>
            <a:picLocks noChangeAspect="1"/>
          </p:cNvPicPr>
          <p:nvPr/>
        </p:nvPicPr>
        <p:blipFill>
          <a:blip r:embed="rId1"/>
          <a:stretch>
            <a:fillRect/>
          </a:stretch>
        </p:blipFill>
        <p:spPr>
          <a:xfrm>
            <a:off x="2799653" y="1325880"/>
            <a:ext cx="659238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Bir gazdaki tanecikler her yöne hızla hareket eder ve sürekli çarpışır; oklar hareket yönünü gösteriyor. Çizimde üç çarpışma işaretli: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'de moleküller çarpışıp hiçbir şey olmamış gibi ayrılıyor; yalnızca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3</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'te bağlar yeniden düzenlenip iki AB molekülü oluşuyor. Gerçek bir gazda etkin çarpışmaların payı bu çizimdekinden çok daha küçüktür.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Çarpışma teorisi: önce temas, sonra tepkime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Çarpışma teorisine göre tepkime için tanecikler çarpışmalıdır, ama çarpışmaların yalnızca çok küçük bir kısmı ürün verir. Tepkimenin hızını birim zamandaki etkin çarpışma sayısı belirler.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Havadaki azot ve oksijen molekülleri saniyede milyarlarca kez çarpışıyorsa, soluduğun hava neden azot okside dönüşmüyor?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02 · Çarpışma teorisi: önce temas, sonra tepkime</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Havadaki azot ve oksijen molekülleri saniyede milyarlarca kez çarpışıyorsa, soluduğun hava neden azot okside dönüşmüyor?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350" dirty="0">
                <a:solidFill>
                  <a:srgbClr val="0E1426"/>
                </a:solidFill>
                <a:latin typeface="Calibri" pitchFamily="34" charset="0"/>
                <a:ea typeface="Calibri" pitchFamily="34" charset="-122"/>
                <a:cs typeface="Calibri" pitchFamily="34" charset="-120"/>
              </a:rPr>
              <a:t>Çünkü bu çarpışmaların neredeyse hiçbiri etkin değildir. N₂ + O₂ → 2NO tepkimesi için azot molekülündeki çok sağlam üçlü bağın (945 kJ/mol) sarsılması gerekir; oda sıcaklığındaki çarpışmalar buna yetmez. Üstelik bu tepkime endotermiktir (ΔH = +180,6 kJ): kendini sürdüremez, ancak dışarıdan sürekli enerji verildikçe yürür. Bu yüzden azot oksit yalnızca şimşekte ya da motor silindirinde olduğu gibi sürekli çok yüksek sıcaklıkta, az miktarda oluşur.</a:t>
            </a:r>
            <a:endParaRPr lang="en-US" sz="23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Etkin çarpışma: enerji ve yönelim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çarpışmanın etkin olması için iki şart birden sağlanmalıdır.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 bir çiviyi tahtaya çakmaya benzetebilirsin: çekiç hem yeterince sert inmeli hem de çivinin başına tam gelmelidir.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Hafif vurursan çivi girmez; sert ama yandan vurursan çivi eğilir, yine girmez.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Etkin çarpışma: enerji ve yönelim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02311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Yeterli enerji: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çarpışan taneciklerin hareket enerjisi, eski bağları gevşetip yeni bağların kurulmasını başlatacak kadar büyük olmalıdır. Yavaş tanecikler birbirine değip geri seker.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Uygun yönelim: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tanecikler birbirine doğru uçlarından çarpmalıdır; yeni bağı kuracak atomlar karşı karşıya gelmelidir.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Etkin çarpışma: enerji ve yönelim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 bir örneğe bak: karbon monoksit ile azot dioksit arasındaki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CO + NO₂ → CO₂ + NO</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tepkimesi.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tepkimede NO₂'deki oksijen atomlarından biri CO'ya geçer.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Bunun için CO'nun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karbon ucu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NO₂'nin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bir oksijenine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çarpmalıdır.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CO oksijen ucuyla gelirse ya da karbon NO₂'nin azotuna çarparsa, ne kadar hızlı olursa olsun tepkime olmaz.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Doğru uçla ama yavaş gelirse de olmaz.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Etkin çarpışma: enerji ve yönelim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3433736" y="1234440"/>
            <a:ext cx="5324223" cy="3407283"/>
          </a:xfrm>
          <a:prstGeom prst="roundRect">
            <a:avLst>
              <a:gd name="adj" fmla="val 429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03.png">    </p:cNvPr>
          <p:cNvPicPr>
            <a:picLocks noChangeAspect="1"/>
          </p:cNvPicPr>
          <p:nvPr/>
        </p:nvPicPr>
        <p:blipFill>
          <a:blip r:embed="rId1"/>
          <a:stretch>
            <a:fillRect/>
          </a:stretch>
        </p:blipFill>
        <p:spPr>
          <a:xfrm>
            <a:off x="3662336" y="1325880"/>
            <a:ext cx="4867023" cy="3224403"/>
          </a:xfrm>
          <a:prstGeom prst="rect">
            <a:avLst/>
          </a:prstGeom>
        </p:spPr>
      </p:pic>
      <p:sp>
        <p:nvSpPr>
          <p:cNvPr id="8" name="Text 5"/>
          <p:cNvSpPr txBox="1"/>
          <p:nvPr/>
        </p:nvSpPr>
        <p:spPr>
          <a:xfrm>
            <a:off x="1249528" y="4824603"/>
            <a:ext cx="9692640" cy="1320165"/>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CO + NO₂ → CO₂ + NO tepkimesinde NO₂'nin oksijenlerinden biri CO'ya geçer. Bu yüzden CO'nun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karbon ucu</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bir oksijene,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yeterince hızlı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çarpmalıdır (üst sıra). Oksijen ucuyla gelen CO ne kadar hızlı olursa olsun seker (orta sıra); doğru uçla ama yavaş gelen CO da seker (alt sıra). Okların uzunluğu hızı gösterir. Sekmelerde enerji ve momentum korunur: hafif CO yavaşça geri döner, ağır NO₂ ileri itilir. Tepkimede ise açığa çıkan enerji yüzünden ürünler toplamda daha hızlıdır.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Etkin çarpışma: enerji ve yönelim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Yönelim şartı molekül büyüdükçe zorlaşır.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Küre gibi tek atomlu iki tanecik hangi yönden çarparsa çarpsın aynı biçimde karşılaşır; büyük ve karmaşık moleküllerde ise “doğru yerin” payı küçülür.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Sayfadaki 02 numaralı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Doğru uç, doğru yön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bölümünde CO'yu kendin yönlendirip çarpıştırabilirsin.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Etkin çarpışma: enerji ve yönelim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Etkin çarpışmanın iki şartı vardır: tanecikler yeterli enerjiyle ve uygun yönelimle çarpışmalıdır. Şartlardan biri bile eksikse tanecikler değişmeden seker ve ürün oluşmaz.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Eşik enerjisi: ne kadar sert çarpışmalı?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Etkin çarpışma için gereken enerjinin bir alt sınırı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Çarpışan iki taneciğin kinetik enerjileri toplamının aşması gereken bu en küçük değere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eşik enerjisi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Eşiğin altında kalan çarpışmalar, yönelim ne kadar uygun olursa olsun ürün vermez.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Eşik enerjisi: ne kadar sert çarpışmalı?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Burada önemli olan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toplam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enerjidir.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 hızlı, öteki yavaş iki tanecik de kafa kafaya çarpışırsa eşiği aşabilir; iki yavaş tanecik aşamaz.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Çarpışmanın biçimi de önemlidir: kafa kafaya bir çarpışma, birbirini sıyırıp geçen iki taneciğin çarpışmasından çok daha fazla enerjiyi işe koşar.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Eşik enerjisi: ne kadar sert çarpışmalı?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Duran bir taneciğe çarpan hızlı taneciğin enerjisinin ise ancak bir kısmı (kütleler eşitse yarısı) işe yarar: çarpışmadan sonra da ikisinin ortak bir ileri hareketi sürer ve bu hareketin enerjisi bağlara aktarılamaz.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Eşik enerjisi: ne kadar sert çarpışmalı?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kaptaki taneciklerin hepsi aynı hızda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sınıftaki öğrencilerin boyları gibi: çoğu ortalamaya yakındır, birkaçı çok kısa, birkaçı çok uzundur.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aynı sıcaklıkta bile bazı çarpışmalar eşiği aşar, çoğu aşamaz.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Sıcaklık artınca tanecikler ortalamada hızlanır ve eşiği aşan çarpışmaların payı büyür; eşiğin kendisi ise değişmez.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Eşik enerjisi: ne kadar sert çarpışmalı?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enerji dağılımı boylar gibi simetrik değildir: sağa doğru uzun bir kuyruğu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 üçüncü basamakta, enerji dağılımı bölümünde göreceksin.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Sayfadaki 01 numaralı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Çarpışma kutusu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bölümünde eşiği değiştirip kaç çarpışmanın eşiği aştığını sayabilirsin.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Eşik enerjisi: ne kadar sert çarpışmalı?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596884" y="1234440"/>
            <a:ext cx="6997928"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04.png">    </p:cNvPr>
          <p:cNvPicPr>
            <a:picLocks noChangeAspect="1"/>
          </p:cNvPicPr>
          <p:nvPr/>
        </p:nvPicPr>
        <p:blipFill>
          <a:blip r:embed="rId1"/>
          <a:stretch>
            <a:fillRect/>
          </a:stretch>
        </p:blipFill>
        <p:spPr>
          <a:xfrm>
            <a:off x="2825484" y="1325880"/>
            <a:ext cx="6540728"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Kafa kafaya çarpışan üç çiftin kinetik enerjileri üst üste konmuş; sayıları mol başına kJ olarak düşünebilirsin, eşik 50. Birinci çiftin toplamı 32: eşiğe ulaşmaz, seker. İkinci çift 60 ile eşiği aşar. Üçüncü çiftte A hızlı, B yavaştır; ama kafa kafaya çarpıştıkları için toplam 55 ile o da eşiği aşar. Eşiği aşan çiftler ancak yönelimleri de uygunsa ürün verir.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Eşik enerjisi: ne kadar sert çarpışmalı?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Eşik enerjisi, çarpışan taneciklerin kinetik enerjileri toplamının etkin çarpışma için aşması gereken en küçük değerdir. Aynı sıcaklıkta tanecikler farklı hızlardadır; yalnızca eşiği aşan çarpışmalar ürün verebilir.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Biri hızlı, öteki yavaş iki tanecik kafa kafaya çarpışırsa etkin bir çarpışma yapabilir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Eşik enerjisi: ne kadar sert çarpışmalı?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Biri hızlı, öteki yavaş iki tanecik kafa kafaya çarpışırsa etkin bir çarpışma yapabilir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Evet. Eşik enerjisi çarpışan taneciklerin kinetik enerjileri toplamıyla ilgilidir. Çizimdeki 3. çift böyledir: 40 + 15 = 55, eşik ise 50; yönelim de uygunsa çarpışma etkin olabilir. Ama yavaş tanecik neredeyse dursaydı hızlı taneciğin enerjisinin ancak bir kısmı işe yarardı; toplam 50'yi geçse bile eşik aşılmayabilirdi.</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250" dirty="0">
                <a:solidFill>
                  <a:srgbClr val="C3CEE8"/>
                </a:solidFill>
                <a:latin typeface="Calibri" pitchFamily="34" charset="0"/>
                <a:ea typeface="Calibri" pitchFamily="34" charset="-122"/>
                <a:cs typeface="Calibri" pitchFamily="34" charset="-120"/>
              </a:rPr>
              <a:t>Bağıntılar: enerji tepesini potansiyel enerji grafiğine dök; Ea(ileri), Ea(geri) ve ΔH'yi grafikten oku, aralarındaki bağı türet ve gerçek tepkimelerin sayılarıyla dene.</a:t>
            </a:r>
            <a:endParaRPr lang="en-US" sz="125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Aktifleşme enerjisi ve aktifleşmiş kompleks</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Ekzotermik tepkimenin enerji grafiği</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Endotermik tepkimenin enerji grafiği</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ΔH ile aktifleşme enerjileri arasındaki bağ</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Sayılarla hisset: tepeler ne kadar yüksek?</a:t>
            </a:r>
            <a:endParaRPr lang="en-US" sz="1300" dirty="0"/>
          </a:p>
        </p:txBody>
      </p:sp>
      <p:sp>
        <p:nvSpPr>
          <p:cNvPr id="11" name="Text 9"/>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2" name="Shape 10"/>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3" name="Text 11"/>
          <p:cNvSpPr txBox="1"/>
          <p:nvPr/>
        </p:nvSpPr>
        <p:spPr>
          <a:xfrm>
            <a:off x="6400800" y="1481328"/>
            <a:ext cx="32461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ΔH = Ea(ileri) − Ea(geri)</a:t>
            </a:r>
            <a:endParaRPr lang="en-US" sz="1500" dirty="0"/>
          </a:p>
        </p:txBody>
      </p:sp>
      <p:sp>
        <p:nvSpPr>
          <p:cNvPr id="14" name="Text 12"/>
          <p:cNvSpPr txBox="1"/>
          <p:nvPr/>
        </p:nvSpPr>
        <p:spPr>
          <a:xfrm>
            <a:off x="9738360" y="1481328"/>
            <a:ext cx="16303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tepkime entalpisi</a:t>
            </a:r>
            <a:endParaRPr lang="en-US" sz="1200" dirty="0"/>
          </a:p>
        </p:txBody>
      </p:sp>
      <p:sp>
        <p:nvSpPr>
          <p:cNvPr id="15" name="Shape 13"/>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6" name="Text 14"/>
          <p:cNvSpPr txBox="1"/>
          <p:nvPr/>
        </p:nvSpPr>
        <p:spPr>
          <a:xfrm>
            <a:off x="6400800" y="235000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Ea(ileri) = E(tepe) − E(giren)</a:t>
            </a:r>
            <a:endParaRPr lang="en-US" sz="1500" dirty="0"/>
          </a:p>
        </p:txBody>
      </p:sp>
      <p:sp>
        <p:nvSpPr>
          <p:cNvPr id="17" name="Text 15"/>
          <p:cNvSpPr txBox="1"/>
          <p:nvPr/>
        </p:nvSpPr>
        <p:spPr>
          <a:xfrm>
            <a:off x="9768535" y="235000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E(tepe): aktifleşmiş kompleksin enerjisi</a:t>
            </a:r>
            <a:endParaRPr lang="en-US" sz="1200" dirty="0"/>
          </a:p>
        </p:txBody>
      </p:sp>
      <p:sp>
        <p:nvSpPr>
          <p:cNvPr id="18" name="Shape 16"/>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9" name="Text 17"/>
          <p:cNvSpPr txBox="1"/>
          <p:nvPr/>
        </p:nvSpPr>
        <p:spPr>
          <a:xfrm>
            <a:off x="6400800" y="321868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Ea(geri) = E(tepe) − E(ürün)</a:t>
            </a:r>
            <a:endParaRPr lang="en-US" sz="1500" dirty="0"/>
          </a:p>
        </p:txBody>
      </p:sp>
      <p:sp>
        <p:nvSpPr>
          <p:cNvPr id="20" name="Text 18"/>
          <p:cNvSpPr txBox="1"/>
          <p:nvPr/>
        </p:nvSpPr>
        <p:spPr>
          <a:xfrm>
            <a:off x="9768535" y="321868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geri aktifleşme enerjisi</a:t>
            </a:r>
            <a:endParaRPr lang="en-US" sz="1200" dirty="0"/>
          </a:p>
        </p:txBody>
      </p:sp>
      <p:sp>
        <p:nvSpPr>
          <p:cNvPr id="21" name="Shape 19"/>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2" name="Text 20"/>
          <p:cNvSpPr txBox="1"/>
          <p:nvPr/>
        </p:nvSpPr>
        <p:spPr>
          <a:xfrm>
            <a:off x="6400800" y="408736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Hız ∝ birim zamandaki etkin çarpışma sayısı</a:t>
            </a:r>
            <a:endParaRPr lang="en-US" sz="1500" dirty="0"/>
          </a:p>
        </p:txBody>
      </p:sp>
      <p:sp>
        <p:nvSpPr>
          <p:cNvPr id="23" name="Text 21"/>
          <p:cNvSpPr txBox="1"/>
          <p:nvPr/>
        </p:nvSpPr>
        <p:spPr>
          <a:xfrm>
            <a:off x="9768535" y="408736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çarpışma teorisi</a:t>
            </a:r>
            <a:endParaRPr lang="en-US" sz="1200" dirty="0"/>
          </a:p>
        </p:txBody>
      </p:sp>
      <p:sp>
        <p:nvSpPr>
          <p:cNvPr id="24" name="Shape 22"/>
          <p:cNvSpPr/>
          <p:nvPr/>
        </p:nvSpPr>
        <p:spPr>
          <a:xfrm>
            <a:off x="640080" y="6382512"/>
            <a:ext cx="128016" cy="128016"/>
          </a:xfrm>
          <a:prstGeom prst="roundRect">
            <a:avLst>
              <a:gd name="adj" fmla="val 28571"/>
            </a:avLst>
          </a:prstGeom>
          <a:solidFill>
            <a:srgbClr val="C6F36B"/>
          </a:solidFill>
          <a:ln/>
        </p:spPr>
      </p:sp>
      <p:sp>
        <p:nvSpPr>
          <p:cNvPr id="25" name="Text 2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dersler.perinet.org/carpisma-teorisi.html</a:t>
            </a:r>
            <a:endParaRPr lang="en-US" sz="1050" dirty="0"/>
          </a:p>
        </p:txBody>
      </p:sp>
      <p:sp>
        <p:nvSpPr>
          <p:cNvPr id="26" name="Text 2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aktifleşmiş kompleks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Çarpışan iki taneciğe neler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Tanecikler yaklaştıkça elektron bulutları birbirini iter ve tanecikler yavaşlar.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Yokuş yukarı yuvarlanan bir top gibi, hareket enerjileri depolanmış enerjiye,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potansiyel enerjiye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dönüşür.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sırada eski bağ uzar ve zayıflar, yeni bağ kurulmaya başlar.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aktifleşmiş kompleks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Yolun en yüksek noktasında, eski bağın yarı kırıldığı, yeni bağın yarı kurulduğu bir yapı oluşur: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aktifleşmiş kompleks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yapı çok kararsızdır, yaklaşık 10⁻¹³ saniye yaşar ve şişeye konup saklanamaz.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Kompleks ya ürünlere dönüşüp öbür yamaçtan iner ya da dağılıp yeniden girenlere döner.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aktifleşmiş kompleks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Aktifleşmiş kompleksin, yani tepenin potansiyel enerjisine E(tepe) diyelim.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Girenlerin potansiyel enerjisi ile E(tepe) arasındaki farka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aktifleşme enerjisi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(Ea)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Ürünlerden girenlere giden geri yolun tepesi de aynı tepedir; bu yüzden iki aktifleşme enerjisi tanımlanır:</a:t>
            </a:r>
            <a:endParaRPr lang="en-US" sz="2200" dirty="0"/>
          </a:p>
        </p:txBody>
      </p:sp>
      <p:sp>
        <p:nvSpPr>
          <p:cNvPr id="7" name="Shape 5"/>
          <p:cNvSpPr/>
          <p:nvPr/>
        </p:nvSpPr>
        <p:spPr>
          <a:xfrm>
            <a:off x="640080" y="4114800"/>
            <a:ext cx="4718304"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114800"/>
            <a:ext cx="471830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Ea(ileri) = E(tepe) − E(giren)</a:t>
            </a:r>
            <a:endParaRPr lang="en-US" sz="1800" dirty="0"/>
          </a:p>
        </p:txBody>
      </p:sp>
      <p:sp>
        <p:nvSpPr>
          <p:cNvPr id="9" name="Shape 7"/>
          <p:cNvSpPr/>
          <p:nvPr/>
        </p:nvSpPr>
        <p:spPr>
          <a:xfrm>
            <a:off x="5504688" y="4114800"/>
            <a:ext cx="4440326"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5504688" y="4114800"/>
            <a:ext cx="444032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Ea(geri) = E(tepe) − E(ürün)</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aktifleşmiş kompleks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785524"/>
                <a:gridCol w="7935662"/>
                <a:gridCol w="1190349"/>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E(giren)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girenlerin potansiyel enerjisi: grafikte soldaki düzlük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E(tepe)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aktifleşmiş kompleksin potansiyel enerjisi: tepenin en üstü</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E(ürün)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ürünlerin potansiyel enerjisi: grafikte sağdaki düzlük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Ea(ileri)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ileri tepkimenin aktifleşme enerjisi: girenlerden tepeye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Ea(geri)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geri tepkimenin aktifleşme enerjisi: ürünlerden tepeye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tepkime entalpisi: E(ürün) − E(giren)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aktifleşmiş kompleks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Aktifleşme enerjisi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her zaman sıfırdan büyüktür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her tepkimenin, ısı verenlerin bile, aşılması gereken bir tepesi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Odunun kibritsiz yanmaması bunun gündelik kanıtıdır.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Eşik enerjisi ile aktifleşme enerjisi sayıca eşittir, ama farklı şeyleri anlatır: eşik, çarpışan taneciklerin getirmesi gereken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kinetik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enerjidir; aktifleşme enerjisi, bu enerjinin dönüştüğü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potansiyel</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enerji tepesinin yüksekliğidir.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aktifleşmiş kompleks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3098444" y="1234440"/>
            <a:ext cx="5994806"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05.png">    </p:cNvPr>
          <p:cNvPicPr>
            <a:picLocks noChangeAspect="1"/>
          </p:cNvPicPr>
          <p:nvPr/>
        </p:nvPicPr>
        <p:blipFill>
          <a:blip r:embed="rId1"/>
          <a:stretch>
            <a:fillRect/>
          </a:stretch>
        </p:blipFill>
        <p:spPr>
          <a:xfrm>
            <a:off x="3327044" y="1325880"/>
            <a:ext cx="5537606"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X + Y–Z → X–Y + Z türünden bir tepkimenin yolu. Tanecikler yaklaştıkça yavaşlar, kinetik enerjileri potansiyel enerjiye dönüşür ve eğri yükselir. Tepede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aktifleşmiş kompleks</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X···Y···Z oluşur: yeşil kesikli bağ kuruluyor, kırmızı kesikli bağ kırılıyor. Girenlerden tepeye olan yükseklik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ileri aktifleşme enerjisidir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kompleks buradan ürünlere iner ya da girenlere geri döner.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aktifleşmiş kompleks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Çarpışmada kinetik enerji potansiyel enerjiye dönüşür. Tepedeki kararsız yapı aktifleşmiş komplekstir; girenlerden tepeye olan fark Ea(ileri), ürünlerden tepeye olan fark Ea(geri)'dir. Ea her zaman sıfırdan büyüktür.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Aktifleşmiş kompleksi bir kapta toplayıp inceleyebilir miyiz?</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Aktifleşme enerjisi ve aktifleşmiş kompleks</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Aktifleşmiş kompleksi bir kapta toplayıp inceleyebilir miyiz?</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Aktifleşmiş kompleks rafta duran bir madde değil, tepkime yolunun en yüksek noktasındaki geçiş anıdır: eski bağ yarı kırık, yeni bağ yarı kuruludur ve yapı yaklaşık 10⁻¹³ saniyede ya ürünlere ya girenlere dağılır. Kimyacılar onu ancak son derece kısa lazer atımlarıyla, oluşup dağılırken “görebilir”; 1999 Nobel Kimya Ödülü bu çalışmalara verildi.</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Potansiyel enerji grafiğinde yatay eksen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tepkime koordinatıdır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tepkimenin ne kadar ilerlediğini gösterir, zaman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Dikey eksen potansiyel enerjidir.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Soldaki düzlük girenler, sağdaki düzlük ürünler, aradaki tepe aktifleşmiş komplekstir.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29362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Yönelimini incelediğimiz CO + NO₂ → CO₂ + NO tepkimesinin grafiğine bak.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Ölçümlere göre ileri aktifleşme enerjisi yaklaşık 130 kJ'dür; oluşum entalpilerinden hesaplanan ΔH ise −226 kJ'dür.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Grafik bu değerlerle ölçekli çizildi.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Ondan dört şey okunur: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Ürünler girenlerden alçakta: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ΔH = E(ürün) − E(giren) &lt; 0; aradaki fark çevreye ısı olarak verilir.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Ea(ileri) &lt; Ea(geri):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girenlerin tırmanacağı yokuş (≈ 130 kJ), ürünlerinkinden (≈ 356 kJ) kısadır.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Ürünler enerjice daha kararlı: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ürünlerin geri dönmek için aşması gereken tepe çok yüksektir; geri tepkime çok yavaştır.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Tepkime kendiliğinden sürebilir: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tepeyi aşan her çift aldığından fazlasını geri verir; açığa çıkan ısı yeni çiftlerin tepeyi aşmasına yardım eder.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3022936" y="1234440"/>
            <a:ext cx="6145823"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06.png">    </p:cNvPr>
          <p:cNvPicPr>
            <a:picLocks noChangeAspect="1"/>
          </p:cNvPicPr>
          <p:nvPr/>
        </p:nvPicPr>
        <p:blipFill>
          <a:blip r:embed="rId1"/>
          <a:stretch>
            <a:fillRect/>
          </a:stretch>
        </p:blipFill>
        <p:spPr>
          <a:xfrm>
            <a:off x="3251536" y="1325880"/>
            <a:ext cx="5688623"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CO + NO₂ tepkimesinin enerji grafiği ölçekli çizildi: okların boyları 130 : 356 : 226 oranında. Girenler yaklaşık 130 kJ'lik bir tepeyi aşar, ürünlere inerken 356 kJ bırakır. Ürünler girenlerden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226 kJ aşağıda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olduğu için tepkime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ekzotermiktir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ürünlerin geri dönmesi için 356 kJ'lik çok daha yüksek bir yokuş gerekir.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ΔH'yi grafikten iki yolla bulabilirsin: iki düzlüğün farkından ya da iki aktifleşme enerjisinin farkından.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İkinci yol iki bölüm sonra, ΔH ile aktifleşme enerjileri arasındaki bağda.</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Ekzotermik tepkimede ürünler girenlerden alçaktadır; ΔH &lt; 0 ve Ea(ileri) &lt; Ea(geri). CO + NO₂ tepkimesinde girenler yaklaşık 130 kJ'lik tepeyi aşar, inerken 356 kJ geri verir; aradaki 226 kJ ısı olarak açığa çıkar.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Endotermik tepkimede ürünler girenlerden daha yüksek enerjidedir.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Örnek olarak A₂ + B₂ → 2AB tepkimesinin grafiğini dikey eksendeki sayılarla birlikte oku.</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Grafikten değer okurken her zaman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iki seviyenin farkı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alınır: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İleri tepe: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girenler 50 kJ'de, tepe 210 kJ'de: Ea(ileri) = 210 − 50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160 kJ</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Geri tepe: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ürünler 120 kJ'de: Ea(geri) = 210 − 120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90 kJ</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Tepkime ısısı: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ΔH = E(ürün) − E(giren) = 120 − 50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+70 kJ</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tepkime endotermiktir.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2807059" y="1234440"/>
            <a:ext cx="657757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07.png">    </p:cNvPr>
          <p:cNvPicPr>
            <a:picLocks noChangeAspect="1"/>
          </p:cNvPicPr>
          <p:nvPr/>
        </p:nvPicPr>
        <p:blipFill>
          <a:blip r:embed="rId1"/>
          <a:stretch>
            <a:fillRect/>
          </a:stretch>
        </p:blipFill>
        <p:spPr>
          <a:xfrm>
            <a:off x="3035659" y="1325880"/>
            <a:ext cx="612037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Endotermik tepkimede ürünler girenlerden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yüksektedir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Değerleri dikey eksenden oku ve her zaman iki seviyenin farkını al: Ea(ileri) = 210 − 50 = 160 kJ, Ea(geri) = 210 − 120 = 90 kJ, ΔH = 120 − 50 = +70 kJ. Ea(ileri) &gt; Ea(geri) olması endotermik tepkimenin işaretidir.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Endotermik tepkimenin üç belirgin özelliği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İleri aktifleşme enerjisi geridekinden büyüktür: Ea(ileri) &gt; Ea(geri).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Ürünler daha yüksekte durduğu için girenler enerjice daha kararlıdır.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Tepeyi aşan her mol çift aldığı 160 kJ'nin yalnızca 90 kJ'sini geri verir, aradaki 70 kJ'yi çevreden çeker.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tepkimenin sürmesi için dışarıdan sürekli enerji verilmelidir: kireç taşı (CaCO₃) ancak fırın yandıkça sönmemiş kirece (CaO) dönüşür.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Sayfadaki 03 numaralı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Enerji tepesi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bölümünde topu farklı enerjilerle gönderip tepeyi aşıp aşmadığını izleyebilirsin.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tepkimenin enerji grafiği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Endotermik tepkimede ürünler girenlerden yüksektedir; ΔH &gt; 0 ve Ea(ileri) &gt; Ea(geri). Grafikten değer okurken hep iki seviyenin farkını al: Ea(ileri) = 210 − 50 = 160 kJ, ΔH = 120 − 50 = +70 kJ.</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ΔH ile aktifleşme enerjileri arasındaki bağ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grafikte de üç ok arasında bir düzen var: okların ikisi her zaman üçüncüsünü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düzeni üç adımda çıkarabilirsin:</a:t>
            </a:r>
            <a:endParaRPr lang="en-US" sz="2200" dirty="0"/>
          </a:p>
        </p:txBody>
      </p:sp>
      <p:sp>
        <p:nvSpPr>
          <p:cNvPr id="7" name="Text 5"/>
          <p:cNvSpPr txBox="1"/>
          <p:nvPr/>
        </p:nvSpPr>
        <p:spPr>
          <a:xfrm>
            <a:off x="640080" y="2866644"/>
            <a:ext cx="10911535" cy="1746504"/>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ΔH'nin tanımı: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ΔH = E(ürün) − E(giren).</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Tepeyi araya koy: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E(tepe)'yi bir ekleyip bir çıkar; değer değişmez: ΔH = [E(tepe) − E(giren)] − [E(tepe) − E(ürün)].</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Parantezleri tanı: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birinci parantez Ea(ileri), ikincisi Ea(geri)'dir.</a:t>
            </a:r>
            <a:endParaRPr lang="en-US" sz="2100" dirty="0"/>
          </a:p>
        </p:txBody>
      </p:sp>
      <p:sp>
        <p:nvSpPr>
          <p:cNvPr id="8" name="Shape 6"/>
          <p:cNvSpPr/>
          <p:nvPr/>
        </p:nvSpPr>
        <p:spPr>
          <a:xfrm>
            <a:off x="640080" y="4814316"/>
            <a:ext cx="4023360"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640080" y="4814316"/>
            <a:ext cx="402336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Ea(ileri) − Ea(geri)</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ΔH ile aktifleşme enerjileri arasındaki bağ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Bağıntıyı iki grafikle sına: CO + NO₂ için 130 − 356 = −226 kJ, A₂ + B₂ için 160 − 90 = +70 kJ.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İkisi de grafiklerden okunan ΔH ile aynı.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Bağıntıdan dört sonuç çıkar: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ΔH ile aktifleşme enerjileri arasındaki bağ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İşaret karşılaştırmadan okunur: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Ea(ileri) &lt; Ea(geri) ise tepkime ekzotermik, Ea(ileri) &gt; Ea(geri) ise endotermiktir; ikisi eşitse ΔH = 0.</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Endotermikte Ea(ileri) &gt; ΔH:</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Ea(geri) sıfırdan büyük olduğu için Ea(ileri) = ΔH + Ea(geri), ΔH'den her zaman büyüktür. Ürünlere çıkmak için en az ürünlerin yüksekliği kadar tırmanmak gerekir.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Ekzotermikte Ea(geri) &gt; |ΔH|:</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Ea(geri) = Ea(ileri) + |ΔH|.</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Geri yönde roller değişir: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ürünler giren olur; ileri tepkimenin Ea(geri)'si geri tepkimenin Ea(ileri)'si olur, ΔH işaret değiştirir.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ΔH ile aktifleşme enerjileri arasındaki bağ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651939" y="1234440"/>
            <a:ext cx="688781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08.png">    </p:cNvPr>
          <p:cNvPicPr>
            <a:picLocks noChangeAspect="1"/>
          </p:cNvPicPr>
          <p:nvPr/>
        </p:nvPicPr>
        <p:blipFill>
          <a:blip r:embed="rId1"/>
          <a:stretch>
            <a:fillRect/>
          </a:stretch>
        </p:blipFill>
        <p:spPr>
          <a:xfrm>
            <a:off x="2880539" y="1325880"/>
            <a:ext cx="643061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ölçekte iki grafik. Ekzotermik tepkimede soldaki sütunda Ea(ileri) ile |ΔH| uç uca eklenince sağdaki Ea(geri) kadar olur: 130 + 226 = 356. Endotermikte ΔH ile Ea(geri) uç uca eklenince Ea(ileri) kadar olur: 70 + 90 = 160. İkisi de tek bağıntının sonucudur: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ΔH = Ea(ileri) − Ea(geri)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ΔH ile aktifleşme enerjileri arasındaki bağ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ΔH = Ea(ileri) − Ea(geri). Ekzotermikte Ea(ileri) &lt; Ea(geri), endotermikte Ea(ileri) &gt; Ea(geri). Endotermik bir tepkimenin ileri aktifleşme enerjisi ΔH'den her zaman büyüktür.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İleri ve geri aktifleşme enerjileri eşit olan bir tepkimenin ΔH'si kaçtır?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ΔH ile aktifleşme enerjileri arasındaki bağ</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İleri ve geri aktifleşme enerjileri eşit olan bir tepkimenin ΔH'si kaçtır?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Sıfır: ΔH = Ea(ileri) − Ea(geri) = 0. Girenler ile ürünler aynı yükseklikte durur ve tepe iki yandan da aynı uzaklıktadır. Bir sonraki bölümdeki H + H₂ → H₂ + H tepkimesi böyledir: atomlar yer değiştirir, ama enerji değişmez.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tepeler ne kadar yüksek?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 tepkimelerin tepeleri ne kadar yüksek?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Aşağıdaki tablo, tek bir çarpışmayla yürüyen gaz tepkimelerinin ölçülen aktifleşme enerjilerini (yaklaşık) ve oluşum entalpilerinden hesaplanan ΔH değerlerini gösteriyor.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Ea(geri) sütunu ΔH = Ea(ileri) − Ea(geri) bağıntısıyla bulundu.</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tepeler ne kadar yüksek?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911682"/>
                <a:gridCol w="1441146"/>
                <a:gridCol w="2882292"/>
                <a:gridCol w="267641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Tepkime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 (kJ)</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Ea(ileri) (kJ)</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Ea(geri) (kJ)</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 + H₂ → H₂ + 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40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40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NO + O₃ → NO₂ + O₂</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−199,8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212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CO + NO₂ → CO₂ + NO</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−225,9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356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CO₂ + NO → CO + NO₂</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+225,9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356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tepeler ne kadar yüksek?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dört düzen okunur:</a:t>
            </a:r>
            <a:endParaRPr lang="en-US" sz="2200" dirty="0"/>
          </a:p>
        </p:txBody>
      </p:sp>
      <p:sp>
        <p:nvSpPr>
          <p:cNvPr id="7" name="Text 5"/>
          <p:cNvSpPr txBox="1"/>
          <p:nvPr/>
        </p:nvSpPr>
        <p:spPr>
          <a:xfrm>
            <a:off x="640080" y="200406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Ters yönde değerler yer değiştirir: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CO + NO₂'nin Ea(geri)'si, ters tepkimenin Ea(ileri)'sidir; ΔH yalnızca işaret değiştirir.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ΔH = 0 ise tepeler eşit: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 + H₂'de bir H atomu molekülün öbür ucundaki H'nin yerini alır; giren ile ürün aynı enerjidedir.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Çok ısı, hızlı tepkime demek değil: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NO + O₃ ile CO + NO₂ birbirine yakın ısı verir (−199,8 ve −225,9 kJ), ama tepeleri 12 ve 130 kJ. Oda sıcaklığında ilki çabucak yürür, ikincisi fark edilmeyecek kadar yavaştır.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tepeler ne kadar yüksek?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Tepe, kırılan bağdan alçak: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H–H bağını tamamen koparmak 436 kJ ister, ama tepe yalnızca ≈ 40 kJ'dür; yeni bağ, eski bağ tam kopmadan kurulmaya başlar.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tepeler ne kadar yüksek?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2125622" y="1234440"/>
            <a:ext cx="7940452"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09.png">    </p:cNvPr>
          <p:cNvPicPr>
            <a:picLocks noChangeAspect="1"/>
          </p:cNvPicPr>
          <p:nvPr/>
        </p:nvPicPr>
        <p:blipFill>
          <a:blip r:embed="rId1"/>
          <a:stretch>
            <a:fillRect/>
          </a:stretch>
        </p:blipFill>
        <p:spPr>
          <a:xfrm>
            <a:off x="2354222" y="1325880"/>
            <a:ext cx="7483252"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Her tepkimede kırılan bağı tamamen koparmak için gereken enerji (açık kırmızı) ile ölçülen aktifleşme enerjisi (koyu kırmızı) yan yana; değerler mol başına kJ, bağ enerjileri oluşum entalpilerinden hesaplandı. Aktifleşme enerjisi kırılan bağın enerjisinin kabaca onda biri ile beşte ikisi arasında (%9–%42): aktifleşmiş komplekste yeni bağ, eski bağ tam kopmadan kurulmaya başlar.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tepeler ne kadar yüksek?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aktifleşme enerjisi, ΔH gibi bağ enerjilerinden hesaplanamaz; deneyle ölçülür.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Tablodaki CO + NO₂ değerleri bu tepkimenin yüksek sıcaklıkta izlediği tek çarpışmalı yol içindir; oda sıcaklığında tepkime başka bir yoldan ve çok yavaş yürür.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tepeler ne kadar yüksek?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Gerçek tepkimelerde Ea birkaç kJ'den yüzlerce kJ'ye kadar değişir; ΔH tepkimenin ne kadar ısı verdiğini, Ea ne kadar kolay başladığını söyler. Ters yönde Ea değerleri yer değiştirir; tepe, kırılan bağın enerjisinden çok daha alçaktır.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250" dirty="0">
                <a:solidFill>
                  <a:srgbClr val="C3CEE8"/>
                </a:solidFill>
                <a:latin typeface="Calibri" pitchFamily="34" charset="0"/>
                <a:ea typeface="Calibri" pitchFamily="34" charset="-122"/>
                <a:cs typeface="Calibri" pitchFamily="34" charset="-120"/>
              </a:rPr>
              <a:t>İnce durumlar: taneciklerin enerji dağılımından eşiği aşan payı oku, aktifleşme enerjisinin hızı nasıl belirlediğini sayılarla gör, kendini sürdüren tepkimeleri ve gerçek dünyadaki uygulamaları incele.</a:t>
            </a:r>
            <a:endParaRPr lang="en-US" sz="12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Enerji dağılımı: kaç tanecik eşiği aşar?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Aktifleşme enerjisi ve hız</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Neden bazı tepkimeler kendiliğinden sürer?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Gerçekleşme şartları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carpisma-teoris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Göz kırpmaktan hızlı.</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Çarpışma sensörü ani yavaşlamayı algılayınca küçük bir elektrikli ateşleyici, direksiyon göbeğindeki şişiricinin katı yakıtını ısıtır; bu ısı tepkimenin aktifleşme enerjisini sağlar. Başlayan tepkime çok hızlı yürür ve ürettiği gaz yastığı yaklaşık 30 milisaniyede şişirir. Havadaki toz, katlanmış yastığın kumaşına sürülen ince toz ile yakıtın katı kalıntılarıdır.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dersler.perinet.org/carpisma-teorisi.html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 kaç tanecik eşiği aşar?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gazdaki taneciklerin kinetik enerjilerini tek tek ölçüp bir grafiğe dökseydin, aşağıdaki eğriyi elde ederdin.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Yatay eksen kinetik enerji, dikey eksen o enerjideki tanecik sayısıdır.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Eğri sıfırdan başlar; hızla yükselip düşük enerjilerde bir tepe yapar, sonra sağa doğru uzun bir kuyrukla azalır.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 kaç tanecik eşiği aşar?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Eğrinin altındaki alanın tamamı bütün tanecikleri temsil eder.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Eşik enerjisinin sağında kalan taralı alan, etkin çarpışma yapabilecek kadar enerjili taneciklerdir.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Çizimde bu pay yaklaşık %7'dir, çünkü eşik görülebilsin diye ortalama enerjinin yalnızca 2,3 katına konmuştur.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 tepkimelerde eşik çok daha sağdadır ve taralı alan çizgi kalınlığından bile ince kalır.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 kaç tanecik eşiği aşar?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21868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Eşik sağa kaydıkça pay hızla küçülür: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kuyruk sağa doğru inceldiği için eşiği biraz yükseltmek, aşan tanecik sayısını çok azaltır.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Ortalama tanecik eşiği aşmaz: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oda sıcaklığında taneciklerin ortalama kinetik enerjisi mol başına yalnızca yaklaşık 3,7 kJ'dür. Tepkimeleri yürüten, kuyruktaki az sayıdaki hızlı taneciktir.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Sıcaklık eğriyi değiştirir, eşiği değiştirmez: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ısıtınca eğri yayvanlaşıp sağa kayar, kuyruk kalınlaşır; eşik aynı yerde kalır. Bunu “Tepkime hızına etki eden faktörler” konusunda ayrıntılı göreceksin.</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 kaç tanecik eşiği aşar?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571053" y="1234440"/>
            <a:ext cx="704958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10.png">    </p:cNvPr>
          <p:cNvPicPr>
            <a:picLocks noChangeAspect="1"/>
          </p:cNvPicPr>
          <p:nvPr/>
        </p:nvPicPr>
        <p:blipFill>
          <a:blip r:embed="rId1"/>
          <a:stretch>
            <a:fillRect/>
          </a:stretch>
        </p:blipFill>
        <p:spPr>
          <a:xfrm>
            <a:off x="2799653" y="1325880"/>
            <a:ext cx="659238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sıcaklıktaki taneciklerin kinetik enerji dağılımı; eğri gazlar için bilinen dağılım bağıntısıyla hesaplandı. Çoğu tanecik düşük ve orta enerjilerdedir; sağa uzanan ince kuyrukta az sayıda çok hızlı tanecik vardır. Taralı alan eşik enerjisini aşanlardır. Eşik, alan görülebilsin diye ortalama enerjinin yalnızca 2,3 katına konmuştur; bu ölçekte taneciklerin yaklaşık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%7</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'si eşiği aşıyor.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dağılımı: kaç tanecik eşiği aşar?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Aynı sıcaklıkta taneciklerin enerjileri bir dağılım gösterir; yalnızca eşik enerjisinin sağındaki kuyrukta kalanlar etkin çarpışma yapabilir. Sıcaklık bu dağılımı değiştirir, eşiği değiştirmez.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Sıcaklık artınca eşik enerjisi değişir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Enerji dağılımı: kaç tanecik eşiği aşar?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Sıcaklık artınca eşik enerjisi değişir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Eşik enerjisi tepkimenin kendisine bağlıdır: hangi bağların gevşeyip hangilerinin kurulacağı onu belirler. Sıcaklık yalnızca taneciklerin enerji dağılımını değiştirir; eğri sağa yayılır, eşiği aşan tanecik payı büyür. Eşiği ve aktifleşme enerjisini düşüren şey sıcaklık değil katalizördür; onu “Katalizör ve temas yüzeyi” konusunda göreceksin.</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Eşik ne kadar yüksekse kuyruğun o kadar ince bir ucu eşiği aşar; etkin çarpışma azalır, tepkime yavaşlar.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Çarpışma teorisi bu payı hesaplayabilir.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Aşağıdaki tablo 25 °C'deki bir gaz için yapılmış kaba bir hesabın sonucudur: her satırda, çarpışmaların kaçta birinin eşiği aşacak enerjiye sahip olduğu yazıyor.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106967"/>
                <a:gridCol w="3953455"/>
                <a:gridCol w="585111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Ea (kJ)</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Yeterli enerjili çarpışma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 molekül ortalama ne kadar bekler?</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24 000 çarpışmada 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3 mikrosaniye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50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575 milyon çarpışmada 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0,08 saniye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75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 trilyon çarpışmada 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30 dakika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100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3·10¹⁷ çarpışmada 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1,5 yıl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6·10²² çarpışmada 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270 000 yıl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sütun bir düşünce deneyidir: havadaki bir molekülün saniyedeki yaklaşık 7 milyar çarpışmasının hepsinin uygun bir eşle ve uygun yönelimle olduğunu varsayar.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Yine de sonuç çarpıcıdır: Ea 25 kJ'den 130 kJ'ye çıkınca bekleme süresi mikrosaniyelerden yüz binlerce yıla uzar.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CO + NO₂ tepkimesinin oda sıcaklığında neden fark edilmediği de buradan anlaşılır.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2347439" y="1234440"/>
            <a:ext cx="749681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11.png">    </p:cNvPr>
          <p:cNvPicPr>
            <a:picLocks noChangeAspect="1"/>
          </p:cNvPicPr>
          <p:nvPr/>
        </p:nvPicPr>
        <p:blipFill>
          <a:blip r:embed="rId1"/>
          <a:stretch>
            <a:fillRect/>
          </a:stretch>
        </p:blipFill>
        <p:spPr>
          <a:xfrm>
            <a:off x="2576039" y="1325880"/>
            <a:ext cx="703961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dağılım, iki farklı eşik. Eşik düşükken (küçük Ea) taneciklerin yaklaşık dörtte biri eşiği aşıyor; eşik yükselince (büyük Ea) yalnızca yüzde üçü. Eşik ortalama enerjinin 1,3 katından 3 katına çıktı, eşiği aşan pay ise yaklaşık 9 kat küçüldü. Gerçek tepkimelerin eşikleri çok daha yüksektir; orada fark binlerce, milyonlarca kata çıkar.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 aktifleşme enerjisini düşürmenin neden bu kadar güçlü olduğunu da söyler.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Hidrojen peroksidin ayrışmasının (2H₂O₂ → 2H₂O + O₂) Ea'sı yaklaşık 75 kJ'dür; şişedeki peroksit aylarca dayanır.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Biraz potasyum iyodür eklenince Ea yaklaşık 56 kJ'ye iner ve peroksit köpürerek ayrışır: yalnızca 19 kJ'lik düşüş, hızı kabaca 2000 katına çıkarır.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Karaciğerdeki katalaz enzimi Ea'yı 8–23 kJ arasına indirir.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Ea'yı düşüren bu maddelere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katalizör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 onları “Katalizör ve temas yüzeyi” konusunda ayrıntılı göreceksin.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Aktifleşme enerjisi ve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Aktifleşme enerjisi büyüdükçe eşiği aşan çarpışmaların payı katlanarak küçülür ve tepkime yavaşlar. Ea'daki birkaç on kJ'lik fark, hızı binlerce, hatta milyarlarca kat değiştirebilir.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bazı tepkimeler kendiliğinden sürer?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Kibrit söndükten sonra şömine neden yanmaya devam eder?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ekzotermik tepkimenin enerji hesabını yap: CO + NO₂ örneğinde çarpışan çiftler tepeyi aşmak için mol başına yaklaşık 130 kJ “ödünç” alır, ürünlere inerken 356 kJ geri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mol çiftten geriye 226 kJ artar ve bu enerji ısı olarak çevreye yayılır.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bazı tepkimeler kendiliğinden sürer?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Açığa çıkan ısı ortamın sıcaklığını yükseltir.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Sıcaklık artınca eşiği aşan taneciklerin payı büyür, tepkime hızlanır, daha çok ısı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kendini besleyen döngü sayesinde ekzotermik bir tepkime bir kez başlayınca dışarıdan yardım istemeden sürebilir.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Kibritin işi yalnızca ilk taneciklerin tepeyi aşmasını sağlamaktır.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bazı tepkimeler kendiliğinden sürer?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Endotermik tepkimede hesap terstir: A₂ + B₂ örneğinde her mol çift 160 kJ alıp yalnızca 90 kJ geri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 çevresinden ısı çeker ve onu soğutur; eşiği aşan pay küçülür.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Isıtıcı kapanınca tepkime durur.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Enerji ısı yerine elektrikle verildiğinde de durum aynıdır: suyun elektrolizinde akım kesildiği an hidrojen ve oksijen çıkışı biter.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bazı tepkimeler kendiliğinden sürer?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2813313" y="1234440"/>
            <a:ext cx="6565070"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12.png">    </p:cNvPr>
          <p:cNvPicPr>
            <a:picLocks noChangeAspect="1"/>
          </p:cNvPicPr>
          <p:nvPr/>
        </p:nvPicPr>
        <p:blipFill>
          <a:blip r:embed="rId1"/>
          <a:stretch>
            <a:fillRect/>
          </a:stretch>
        </p:blipFill>
        <p:spPr>
          <a:xfrm>
            <a:off x="3041913" y="1325880"/>
            <a:ext cx="6107870"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Üst sırada bir kıvılcım ilk hücreyi tutuşturdu. Ekzotermik tepkimenin açığa çıkardığı ısı yanındaki hücrenin eşiği aşmasını sağlıyor; ısı komşuya ulaştığı sürece tepkime hücreden hücreye kendiliğinden yayılıyor. Alt sırada tepkime endotermik: yalnızca ısıtıcının ısıttığı hücreler tepkimiş. Tepkime yan hücrelere yayılmaz; ısıtıcı kapanırsa tamamen durur. Sayfadaki 04 numaralı bölümde iki durumu da deneyebilirsin.</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bazı tepkimeler kendiliğinden sürer?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Ekzotermik olmak tek başına yetmez; ısının komşulara ulaşması da gerekir.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Şömineyi kâğıt ve ince çırayla yakmanın nedeni budur: ince parçalar az ısıyla çabuk ısınır, kalın kütük ise ısıyı içine çekip dağıtır.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Tersine, ısı kaçamazsa yavaş bir tepkime bile kendini hızlandırabilir.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Keten yağına bulanmış bezler bir yığın hâlinde bırakılırsa, yağın havayla yavaş tepkimesinin ısısı birikir ve bezler kendiliğinden tutuşabilir.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bazı tepkimeler kendiliğinden sürer?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650" dirty="0">
                <a:solidFill>
                  <a:srgbClr val="0E1426"/>
                </a:solidFill>
                <a:latin typeface="Cambria" pitchFamily="34" charset="0"/>
                <a:ea typeface="Cambria" pitchFamily="34" charset="-122"/>
                <a:cs typeface="Cambria" pitchFamily="34" charset="-120"/>
              </a:rPr>
              <a:t>Ekzotermik tepkimede tepeyi aşan çiftler aldıklarından fazla enerji geri verir; açığa çıkan ısı yeni taneciklere ulaşırsa onları eşiğin üstüne taşır ve tepkime kendiliğinden sürebilir. Endotermik tepkime çevresini soğutur; dışarıdan enerji kesilince durur.</a:t>
            </a:r>
            <a:endParaRPr lang="en-US" sz="26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Demirin paslanması da ekzotermikse paslanan bir çivi neden ısınıp alev almaz?</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Neden bazı tepkimeler kendiliğinden sürer?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Demirin paslanması da ekzotermikse paslanan bir çivi neden ısınıp alev almaz?</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Paslanma çok yavaştır; bir çivide her saniye açığa çıkan ısı çok küçüktür ve hemen havaya dağılır. Sıcaklık yükselmediği için tepkime de hızlanmaz. Demir ince toz hâline getirilip ısının kaçması engellenince durum değişir: el ısıtıcı paketlerindeki demir tozu havayla tepkimeye girerek saatlerce sıcak kalır.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Gerçekleşme şartları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tepkimeyi başlatmak, durdurmak ya da tam istenen anda tetiklemek, bu konudaki şartları yönetmek demektir.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Üç örnek:</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Gerçekleşme şartları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Kibrit.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Kutunun yanındaki şeritte kırmızı fosfor ve cam tozu, kibrit başında ise oksijen veren potasyum klorat (KClO₃) ile kükürt bulunur.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Sürtünme, şeritteki fosforun bir kısmını tutuşturacak kadar ısı üretir.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küçük alev kibrit başındaki tepkimenin aktifleşme enerjisini karşılar, kibrit başının ısısı da tahta çöpü tutuşturur.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basamağın ısısı bir sonrakinin tepeyi aşmasını sağlar.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Gerçekleşme şartları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Hava yastığı.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Direksiyon göbeğindeki şişiricinin katı yakıtı, otomobil yıllarca yol alırken hiç tepkimeye girmeden bekler: aktifleşme enerjisi, kazadan başka bir şeyin onu tetiklemesine izin vermeyecek kadar yüksektir.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Kaza anında ateşleyicinin ısısı tepeyi aştırır; tepkime ekzotermik olduğu için kendi kendine çok hızlı ilerler ve büyük hacimde azot gazı üretir.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Eski tip yastıklarda bu yakıt sodyum azürdü; bugün daha az zehirli yakıtlar kullanılıyor, ama ilke aynı:</a:t>
            </a:r>
            <a:endParaRPr lang="en-US" sz="2200" dirty="0"/>
          </a:p>
        </p:txBody>
      </p:sp>
      <p:sp>
        <p:nvSpPr>
          <p:cNvPr id="7" name="Shape 5"/>
          <p:cNvSpPr/>
          <p:nvPr/>
        </p:nvSpPr>
        <p:spPr>
          <a:xfrm>
            <a:off x="640080" y="4977384"/>
            <a:ext cx="4162349"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977384"/>
            <a:ext cx="416234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2NaN₃(k) → 2Na(k) + 3N₂(g)</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Gerçekleşme şartları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Yangın üçgeni.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yanmanın sürmesi için üç şey birden gerekir: yakıt, oksijen ve tepkimeyi sürdürecek ısı.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yakıtın bir tutuşma sıcaklığı vardır; kâğıt yaklaşık 230 °C'de, kuru odun 300 °C civarında tutuşur.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Söndürmek, üçünden birini kesmektir.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Gerçekleşme şartları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alevi soğutur: sıcaklık düşünce eşiği aşan taneciklerin payı o kadar küçülür ki tepkime kendini sürdüremez.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Yangın battaniyesi, köpük ya da karbon dioksit havayı keser.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Gaz vanasını kapatmak ya da orman yangınında ağaçsız bir şerit açmak yakıtı keser.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Gerçekleşme şartları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Shape 4"/>
          <p:cNvSpPr/>
          <p:nvPr/>
        </p:nvSpPr>
        <p:spPr>
          <a:xfrm>
            <a:off x="2344015" y="1234440"/>
            <a:ext cx="7503666" cy="4117086"/>
          </a:xfrm>
          <a:prstGeom prst="roundRect">
            <a:avLst>
              <a:gd name="adj" fmla="val 355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carpisma-teorisi-13.png">    </p:cNvPr>
          <p:cNvPicPr>
            <a:picLocks noChangeAspect="1"/>
          </p:cNvPicPr>
          <p:nvPr/>
        </p:nvPicPr>
        <p:blipFill>
          <a:blip r:embed="rId1"/>
          <a:stretch>
            <a:fillRect/>
          </a:stretch>
        </p:blipFill>
        <p:spPr>
          <a:xfrm>
            <a:off x="2572615" y="1325880"/>
            <a:ext cx="7046466" cy="3934206"/>
          </a:xfrm>
          <a:prstGeom prst="rect">
            <a:avLst/>
          </a:prstGeom>
        </p:spPr>
      </p:pic>
      <p:sp>
        <p:nvSpPr>
          <p:cNvPr id="8" name="Text 5"/>
          <p:cNvSpPr txBox="1"/>
          <p:nvPr/>
        </p:nvSpPr>
        <p:spPr>
          <a:xfrm>
            <a:off x="1249528" y="5534406"/>
            <a:ext cx="9692640" cy="610362"/>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Yangın üçgeni: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yanma için yakıt, oksijen ve tepkimeyi sürdürecek ısı birlikte gerekir. Bir kenar eksilince üçgen kapanmaz ve yangın söner. Her kenarın yanında kırmızıyla o kenarı kesen söndürme yolu yazılı.</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Gerçekleşme şartları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Kızgın yağ yangınına ise su dökülmez: su yağın altında anında buharlaşır ve yanan yağı çevreye saçar.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Yağ yangınında tencerenin kapağı kapatılır ve ocak söndürülür; oksijen ve ısı birlikte kesilir.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Gerçekleşme şartları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650" dirty="0">
                <a:solidFill>
                  <a:srgbClr val="0E1426"/>
                </a:solidFill>
                <a:latin typeface="Cambria" pitchFamily="34" charset="0"/>
                <a:ea typeface="Cambria" pitchFamily="34" charset="-122"/>
                <a:cs typeface="Cambria" pitchFamily="34" charset="-120"/>
              </a:rPr>
              <a:t>Kibrit sürtünmeyle, hava yastığı elektrikli ateşleyiciyle tepkimenin aktifleşme enerjisini sağlar; sonra ekzotermik tepkime açığa çıkardığı ısıyla kendini sürdürür. Yangın söndürmek de yakıt, oksijen ve ısıdan birini keserek tepkimenin şartlarını bozmaktır.</a:t>
            </a:r>
            <a:endParaRPr lang="en-US" sz="26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kendin deneyebileceğin sorular ve bu konuda en çok puan kaybettiren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15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Hangi çarpışma etkin?</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Grafikten Ea ve ΔH okumak</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Eksik seviyeleri bulmak</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Geri yöndeki tepkime</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Enerji dağılımından hız karşılaştırması</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İki tepkimeyi karşılaştırmak</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Çarpışma enerjisi ve tepenin aşılması</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dersler.perinet.org/carpisma-teorisi.html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Hangi çarpışma etkin?</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A₂ + B₂ → 2AB tepkimesinde moleküllerin yan yana, paralel duruşta çarpışması gerekir; eşik enerjisi 60 kJ/mol'dür. Çizimdeki üç çarpışmadan hangisi ya da hangileri ürün verebilir?</a:t>
            </a:r>
            <a:endParaRPr lang="en-US" sz="2000" dirty="0"/>
          </a:p>
        </p:txBody>
      </p:sp>
      <p:sp>
        <p:nvSpPr>
          <p:cNvPr id="11" name="Shape 9"/>
          <p:cNvSpPr/>
          <p:nvPr/>
        </p:nvSpPr>
        <p:spPr>
          <a:xfrm>
            <a:off x="3574383" y="3474720"/>
            <a:ext cx="504293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carpisma-teorisi-14.png">    </p:cNvPr>
          <p:cNvPicPr>
            <a:picLocks noChangeAspect="1"/>
          </p:cNvPicPr>
          <p:nvPr/>
        </p:nvPicPr>
        <p:blipFill>
          <a:blip r:embed="rId1"/>
          <a:stretch>
            <a:fillRect/>
          </a:stretch>
        </p:blipFill>
        <p:spPr>
          <a:xfrm>
            <a:off x="3802983" y="3584448"/>
            <a:ext cx="458573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Hangi çarpışma etkin?</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A₂ + B₂ → 2AB tepkimesinde moleküllerin yan yana, paralel duruşta çarpışması gerekir; eşik enerjisi 60 kJ/mol'dür. Çizimdeki üç çarpışmadan hangisi ya da hangileri ürün verebilir?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eşik enerjisi = 60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uygun yönelim: yan yana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yan yana, 75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II: uç uca, 90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III: yan yana, 40 kJ/mol</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etkin olabilecek çarpışma ya da çarpışmalar</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Hangi çarpışma etkin?</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Etkin çarpışmanın iki şartı var: toplam kinetik enerji ≥ eşik ve uygun yönelim.</a:t>
            </a:r>
            <a:endParaRPr lang="en-US" sz="2000" dirty="0"/>
          </a:p>
        </p:txBody>
      </p:sp>
      <p:sp>
        <p:nvSpPr>
          <p:cNvPr id="12" name="Shape 10"/>
          <p:cNvSpPr/>
          <p:nvPr/>
        </p:nvSpPr>
        <p:spPr>
          <a:xfrm>
            <a:off x="640080" y="3376494"/>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 75 &gt; 60 ✓, yönelim uygun ✓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etkin olabilir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II: 90 &gt; 60 ✓, ama moleküller uç uca çarpışıyor ✗ → enerji fazla olsa da ürün yok.</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Hangi çarpışma etkin?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III: yönelim uygun ✓, ama 40 &lt; 60 ✗ → moleküller geri seker.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Cevap: yalnızca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Ea ve ΔH okumak</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tepkimenin potansiyel enerji grafiğinde girenler 70 kJ'de, aktifleşmiş kompleks 160 kJ'de, ürünler 25 kJ'de duruyor. Ea(ileri), Ea(geri) ve ΔH kaç kJ'dür? Tepkime ekzotermik mi, endotermik mi?</a:t>
            </a:r>
            <a:endParaRPr lang="en-US" sz="2000" dirty="0"/>
          </a:p>
        </p:txBody>
      </p:sp>
      <p:sp>
        <p:nvSpPr>
          <p:cNvPr id="11" name="Shape 9"/>
          <p:cNvSpPr/>
          <p:nvPr/>
        </p:nvSpPr>
        <p:spPr>
          <a:xfrm>
            <a:off x="3656823" y="3474720"/>
            <a:ext cx="4878049"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carpisma-teorisi-15.png">    </p:cNvPr>
          <p:cNvPicPr>
            <a:picLocks noChangeAspect="1"/>
          </p:cNvPicPr>
          <p:nvPr/>
        </p:nvPicPr>
        <p:blipFill>
          <a:blip r:embed="rId1"/>
          <a:stretch>
            <a:fillRect/>
          </a:stretch>
        </p:blipFill>
        <p:spPr>
          <a:xfrm>
            <a:off x="3885423" y="3584448"/>
            <a:ext cx="4420849"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Ea ve ΔH okumak</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tepkimenin potansiyel enerji grafiğinde girenler 70 kJ'de, aktifleşmiş kompleks 160 kJ'de, ürünler 25 kJ'de duruyor. Ea(ileri), Ea(geri) ve ΔH kaç kJ'dür? Tepkime ekzotermik mi, endotermik mi?</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E(giren) = 70 kJ</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E(tepe) = 160 kJ</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E(ürün) = 25 kJ</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Ea(ileri)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Ea(geri)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tepkimenin türü</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Ea ve ΔH okumak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Ea(ileri) = E(tepe) − E(giren) = 160 − 70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90 kJ</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Ea(geri) = E(tepe) − E(ürün) = 160 − 25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135 kJ</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Ea ve ΔH okumak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E(ürün) − E(giren) = 25 − 70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−45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tepkime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ekzotermik</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ΔH = Ea(ileri) − Ea(geri) = 90 − 135 = −45 kJ ✓; Ea(ileri) &lt; Ea(geri), ekzotermiğe uygun.</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Eksik seviyeleri bulmak</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Endotermik bir tepkimede ΔH = +55 kJ, geri aktifleşme enerjisi 70 kJ'dür. Girenlerin potansiyel enerjisi 40 kJ olduğuna göre ileri aktifleşme enerjisini, ürünlerin ve aktifleşmiş kompleksin potansiyel enerjilerini bulunuz.</a:t>
            </a:r>
            <a:endParaRPr lang="en-US" sz="2000" dirty="0"/>
          </a:p>
        </p:txBody>
      </p:sp>
      <p:sp>
        <p:nvSpPr>
          <p:cNvPr id="11" name="Shape 9"/>
          <p:cNvSpPr/>
          <p:nvPr/>
        </p:nvSpPr>
        <p:spPr>
          <a:xfrm>
            <a:off x="3640882" y="3474720"/>
            <a:ext cx="490993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carpisma-teorisi-16.png">    </p:cNvPr>
          <p:cNvPicPr>
            <a:picLocks noChangeAspect="1"/>
          </p:cNvPicPr>
          <p:nvPr/>
        </p:nvPicPr>
        <p:blipFill>
          <a:blip r:embed="rId1"/>
          <a:stretch>
            <a:fillRect/>
          </a:stretch>
        </p:blipFill>
        <p:spPr>
          <a:xfrm>
            <a:off x="3869482" y="3584448"/>
            <a:ext cx="445273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Eksik seviyeleri bulmak</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Endotermik bir tepkimede ΔH = +55 kJ, geri aktifleşme enerjisi 70 kJ'dür. Girenlerin potansiyel enerjisi 40 kJ olduğuna göre ileri aktifleşme enerjisini, ürünlerin ve aktifleşmiş kompleksin potansiyel enerjilerini bulunuz.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 = +55 kJ</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Ea(geri) = 70 kJ</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E(giren) = 40 kJ</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Ea(ileri)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E(ürün)</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E(tepe)</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Eksik seviyeleri bulmak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Ea(ileri) − Ea(geri) → 55 = Ea(ileri) − 70 → Ea(ileri)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125 kJ</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E(ürün) = E(giren) + ΔH = 40 + 55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95 kJ</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Eksik seviyeleri bulmak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E(tepe) = E(giren) + Ea(ileri) = 40 + 125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165 kJ</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E(tepe) − E(ürün) = 165 − 95 = 70 kJ = Ea(geri) ✓. Endotermikte Ea(ileri) &gt; ΔH olmalı: 125 &gt; 55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Geri yöndeki tepkime</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X → Y tepkimesinin ileri aktifleşme enerjisi 95 kJ, ΔH'si −60 kJ'dür. Y → X tepkimesinin aktifleşme enerjisi ve ΔH'si nedir? Aynı sıcaklıkta hangi yön daha hızlıdır; hangisi başladıktan sonra kendiliğinden sürebilir?</a:t>
            </a:r>
            <a:endParaRPr lang="en-US" sz="2000" dirty="0"/>
          </a:p>
        </p:txBody>
      </p:sp>
      <p:sp>
        <p:nvSpPr>
          <p:cNvPr id="11" name="Shape 9"/>
          <p:cNvSpPr/>
          <p:nvPr/>
        </p:nvSpPr>
        <p:spPr>
          <a:xfrm>
            <a:off x="3656823" y="3474720"/>
            <a:ext cx="4878049"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carpisma-teorisi-17.png">    </p:cNvPr>
          <p:cNvPicPr>
            <a:picLocks noChangeAspect="1"/>
          </p:cNvPicPr>
          <p:nvPr/>
        </p:nvPicPr>
        <p:blipFill>
          <a:blip r:embed="rId1"/>
          <a:stretch>
            <a:fillRect/>
          </a:stretch>
        </p:blipFill>
        <p:spPr>
          <a:xfrm>
            <a:off x="3885423" y="3584448"/>
            <a:ext cx="4420849"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Geri yöndeki tepkime</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X → Y tepkimesinin ileri aktifleşme enerjisi 95 kJ, ΔH'si −60 kJ'dür. Y → X tepkimesinin aktifleşme enerjisi ve ΔH'si nedir? Aynı sıcaklıkta hangi yön daha hızlıdır; hangisi başladıktan sonra kendiliğinden sürebilir?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X → Y için Ea(ileri) = 95 kJ</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 = −60 kJ</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 → X için Ea ve ΔH</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hızlı yön</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kendiliğinden sürebilecek yön</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Geri yöndeki tepkime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X → Y'nin Ea(geri)'si: −60 = 95 − Ea(geri) → Ea(geri)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155 kJ</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 → X aynı tepeden ters yönde geçer: Ea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155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ΔH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+60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(endotermik).</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Geri yöndeki tepkime</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Öteki şartlar benzerse tepesi alçak olan yön hızlıdır: 95 &lt; 155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X → Y</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daha hızlı.</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X → Y ekzotermik olduğu için başladıktan sonra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kendiliğinden sürebilir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(açığa çıkan ısı yeni taneciklere ulaşırsa); Y → X sürekli enerji ister.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Enerji dağılımından hız karşılaştırması</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Aynı sıcaklıkta yürüyen I ve II tepkimelerinin eşik enerjileri, taneciklerin kinetik enerji dağılımı üzerinde gösterilmiştir. (a) Hangi tepkime daha hızlıdır? (b) Hangisinin aktifleşme enerjisi büyüktür? (c) Sıcaklık artırılırsa eşikler değişir mi?</a:t>
            </a:r>
            <a:endParaRPr lang="en-US" sz="1900" dirty="0"/>
          </a:p>
        </p:txBody>
      </p:sp>
      <p:sp>
        <p:nvSpPr>
          <p:cNvPr id="11" name="Shape 9"/>
          <p:cNvSpPr/>
          <p:nvPr/>
        </p:nvSpPr>
        <p:spPr>
          <a:xfrm>
            <a:off x="3511200" y="3757574"/>
            <a:ext cx="5169295"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carpisma-teorisi-18.png">    </p:cNvPr>
          <p:cNvPicPr>
            <a:picLocks noChangeAspect="1"/>
          </p:cNvPicPr>
          <p:nvPr/>
        </p:nvPicPr>
        <p:blipFill>
          <a:blip r:embed="rId1"/>
          <a:stretch>
            <a:fillRect/>
          </a:stretch>
        </p:blipFill>
        <p:spPr>
          <a:xfrm>
            <a:off x="3739800" y="3867302"/>
            <a:ext cx="4712095"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Enerji dağılımından hız karşılaştırması</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Aynı sıcaklıkta yürüyen I ve II tepkimelerinin eşik enerjileri, taneciklerin kinetik enerji dağılımı üzerinde gösterilmiştir. (a) Hangi tepkime daha hızlıdır? (b) Hangisinin aktifleşme enerjisi büyüktür? (c) Sıcaklık artırılırsa eşikler değişir mi?</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aynı sıcaklık, aynı dağılım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I'in eşiği II'ninkinden daha düşük enerjide</a:t>
            </a:r>
            <a:endParaRPr lang="en-US" sz="180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hızlı olan tepkime</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Ea'sı büyük olan</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sıcaklığın eşiklere etkisi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Enerji dağılımından hız karşılaştırması</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Bir eşiğin sağındaki alan, o eşiği aşan taneciklerdir. I'in eşiği daha solda olduğu için sağındaki alan daha büyüktür.</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Eşiği aşan tanecik çok → etkin çarpışma çok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 daha hızlıdır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(yönelim şartları benzerse).</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Enerji dağılımından hız karşılaştırması</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Eşik enerjisi sayıca Ea'ya eşittir: eşiği yüksek olan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II'nin Ea'sı büyüktür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Hayır.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Sıcaklık eğriyi sağa yayar ve iki eşiğin sağındaki alanı da büyütür; eşikler yerinde kalır, iki tepkime de hızlanır.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tepkimeyi karşılaştırmak</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Çizimde I ve II tepkimelerinin potansiyel enerji grafikleri aynı ölçekte verilmiştir. (a) Aynı sıcaklıkta hangisinin ileri tepkimesi daha hızlıdır? (b) Hangisinin geri tepkimesi daha hızlıdır? (c) Hangisi başladıktan sonra kendiliğinden sürebilir?</a:t>
            </a:r>
            <a:endParaRPr lang="en-US" sz="1900" dirty="0"/>
          </a:p>
        </p:txBody>
      </p:sp>
      <p:sp>
        <p:nvSpPr>
          <p:cNvPr id="11" name="Shape 9"/>
          <p:cNvSpPr/>
          <p:nvPr/>
        </p:nvSpPr>
        <p:spPr>
          <a:xfrm>
            <a:off x="3827690" y="3757574"/>
            <a:ext cx="4536316"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carpisma-teorisi-19.png">    </p:cNvPr>
          <p:cNvPicPr>
            <a:picLocks noChangeAspect="1"/>
          </p:cNvPicPr>
          <p:nvPr/>
        </p:nvPicPr>
        <p:blipFill>
          <a:blip r:embed="rId1"/>
          <a:stretch>
            <a:fillRect/>
          </a:stretch>
        </p:blipFill>
        <p:spPr>
          <a:xfrm>
            <a:off x="4056290" y="3867302"/>
            <a:ext cx="4079116"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tepkimeyi karşılaştırmak</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Çizimde I ve II tepkimelerinin potansiyel enerji grafikleri aynı ölçekte verilmiştir. (a) Aynı sıcaklıkta hangisinin ileri tepkimesi daha hızlıdır? (b) Hangisinin geri tepkimesi daha hızlıdır? (c) Hangisi başladıktan sonra kendiliğinden sürebilir?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girenler 40 kJ, kompleks 100 kJ, ürünler −15 kJ</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II: girenler 40 kJ, kompleks 150 kJ, ürünler 115 kJ</a:t>
            </a:r>
            <a:endParaRPr lang="en-US" sz="180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hızlı ileri tepkime</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hızlı geri tepkime</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kendiliğinden sürebilecek tepkime</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tepkimeyi karşılaştırmak</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 Ea(ileri) = 100 − 40 = 60 kJ · Ea(geri) = 100 − (−15) = 115 kJ · ΔH = −15 − 40 = −55 kJ</a:t>
            </a:r>
            <a:endParaRPr lang="en-US" sz="2000" dirty="0"/>
          </a:p>
        </p:txBody>
      </p:sp>
      <p:sp>
        <p:nvSpPr>
          <p:cNvPr id="12" name="Shape 10"/>
          <p:cNvSpPr/>
          <p:nvPr/>
        </p:nvSpPr>
        <p:spPr>
          <a:xfrm>
            <a:off x="640080" y="3376494"/>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949174"/>
            <a:ext cx="420624" cy="420624"/>
          </a:xfrm>
          <a:prstGeom prst="roundRect">
            <a:avLst>
              <a:gd name="adj" fmla="val 26000"/>
            </a:avLst>
          </a:prstGeom>
          <a:solidFill>
            <a:srgbClr val="A56209"/>
          </a:solidFill>
          <a:ln/>
        </p:spPr>
      </p:sp>
      <p:sp>
        <p:nvSpPr>
          <p:cNvPr id="14" name="Text 12"/>
          <p:cNvSpPr txBox="1"/>
          <p:nvPr/>
        </p:nvSpPr>
        <p:spPr>
          <a:xfrm>
            <a:off x="914400" y="394917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II: Ea(ileri) = 150 − 40 = 110 kJ · Ea(geri) = 150 − 115 = 35 kJ · ΔH = 115 − 40 = +75 kJ</a:t>
            </a:r>
            <a:endParaRPr lang="en-US" sz="2000" dirty="0"/>
          </a:p>
        </p:txBody>
      </p:sp>
      <p:sp>
        <p:nvSpPr>
          <p:cNvPr id="16" name="Shape 14"/>
          <p:cNvSpPr/>
          <p:nvPr/>
        </p:nvSpPr>
        <p:spPr>
          <a:xfrm>
            <a:off x="640080" y="5107069"/>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415606"/>
            <a:ext cx="420624" cy="420624"/>
          </a:xfrm>
          <a:prstGeom prst="roundRect">
            <a:avLst>
              <a:gd name="adj" fmla="val 26000"/>
            </a:avLst>
          </a:prstGeom>
          <a:solidFill>
            <a:srgbClr val="A56209"/>
          </a:solidFill>
          <a:ln/>
        </p:spPr>
      </p:sp>
      <p:sp>
        <p:nvSpPr>
          <p:cNvPr id="18" name="Text 16"/>
          <p:cNvSpPr txBox="1"/>
          <p:nvPr/>
        </p:nvSpPr>
        <p:spPr>
          <a:xfrm>
            <a:off x="914400" y="541560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5161933"/>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60 &lt; 110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I'in ileri tepkimesi</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daha hızlıdır.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tepkimeyi karşılaştırmak</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35 &lt; 115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II'nin geri tepkimesi</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daha hızlıdır. II'de geri yön ileri yönden bile hızlıdır (35 &lt; 110): oluşan ürünler kolayca girenlere döner.</a:t>
            </a:r>
            <a:endParaRPr lang="en-US" sz="2000" dirty="0"/>
          </a:p>
        </p:txBody>
      </p:sp>
      <p:sp>
        <p:nvSpPr>
          <p:cNvPr id="12" name="Shape 10"/>
          <p:cNvSpPr/>
          <p:nvPr/>
        </p:nvSpPr>
        <p:spPr>
          <a:xfrm>
            <a:off x="640080" y="3376494"/>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949174"/>
            <a:ext cx="420624" cy="420624"/>
          </a:xfrm>
          <a:prstGeom prst="roundRect">
            <a:avLst>
              <a:gd name="adj" fmla="val 26000"/>
            </a:avLst>
          </a:prstGeom>
          <a:solidFill>
            <a:srgbClr val="A56209"/>
          </a:solidFill>
          <a:ln/>
        </p:spPr>
      </p:sp>
      <p:sp>
        <p:nvSpPr>
          <p:cNvPr id="14" name="Text 12"/>
          <p:cNvSpPr txBox="1"/>
          <p:nvPr/>
        </p:nvSpPr>
        <p:spPr>
          <a:xfrm>
            <a:off x="914400" y="394917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31358"/>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I ekzotermik (ΔH &lt; 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kendiliğinden sürebilir (açığa çıkan ısı yeni taneciklere ulaşırsa); II endotermik, sürekli enerji ister.</a:t>
            </a:r>
            <a:endParaRPr lang="en-US" sz="2000" dirty="0"/>
          </a:p>
        </p:txBody>
      </p:sp>
      <p:sp>
        <p:nvSpPr>
          <p:cNvPr id="16" name="Shape 14"/>
          <p:cNvSpPr/>
          <p:nvPr/>
        </p:nvSpPr>
        <p:spPr>
          <a:xfrm>
            <a:off x="640080" y="5107069"/>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415606"/>
            <a:ext cx="420624" cy="420624"/>
          </a:xfrm>
          <a:prstGeom prst="roundRect">
            <a:avLst>
              <a:gd name="adj" fmla="val 26000"/>
            </a:avLst>
          </a:prstGeom>
          <a:solidFill>
            <a:srgbClr val="A56209"/>
          </a:solidFill>
          <a:ln/>
        </p:spPr>
      </p:sp>
      <p:sp>
        <p:nvSpPr>
          <p:cNvPr id="18" name="Text 16"/>
          <p:cNvSpPr txBox="1"/>
          <p:nvPr/>
        </p:nvSpPr>
        <p:spPr>
          <a:xfrm>
            <a:off x="914400" y="541560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9" name="Text 17"/>
          <p:cNvSpPr txBox="1"/>
          <p:nvPr/>
        </p:nvSpPr>
        <p:spPr>
          <a:xfrm>
            <a:off x="1508760" y="5161933"/>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I için 60 − 115 = −55 kJ ✓ · II için 110 − 35 = +75 kJ ✓</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Çarpışma enerjisi ve tepenin aşılması</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Bir tepkimenin ileri aktifleşme enerjisi 80 kJ/mol, ΔH'si −30 kJ/mol'dür. Uygun yönelimle çarpışan üç grup çiftin kinetik enerjileri toplamı I'de 50, II'de 95, III'te 120 kJ/mol'dür. (a) Hangi gruplar ürün verir? (b) Ürün veren gruplarda ürün taneciklerinin kinetik enerjileri toplamı kaç kJ/mol olur?</a:t>
            </a:r>
            <a:endParaRPr lang="en-US" sz="1900" dirty="0"/>
          </a:p>
        </p:txBody>
      </p:sp>
      <p:sp>
        <p:nvSpPr>
          <p:cNvPr id="11" name="Shape 9"/>
          <p:cNvSpPr/>
          <p:nvPr/>
        </p:nvSpPr>
        <p:spPr>
          <a:xfrm>
            <a:off x="3748675" y="3757574"/>
            <a:ext cx="4694345"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carpisma-teorisi-20.png">    </p:cNvPr>
          <p:cNvPicPr>
            <a:picLocks noChangeAspect="1"/>
          </p:cNvPicPr>
          <p:nvPr/>
        </p:nvPicPr>
        <p:blipFill>
          <a:blip r:embed="rId1"/>
          <a:stretch>
            <a:fillRect/>
          </a:stretch>
        </p:blipFill>
        <p:spPr>
          <a:xfrm>
            <a:off x="3977275" y="3867302"/>
            <a:ext cx="4237145"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Çarpışma enerjisi ve tepenin aşılması</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tepkimenin ileri aktifleşme enerjisi 80 kJ/mol, ΔH'si −30 kJ/mol'dür. Uygun yönelimle çarpışan üç grup çiftin kinetik enerjileri toplamı I'de 50, II'de 95, III'te 120 kJ/mol'dür. (a) Hangi gruplar ürün verir? (b) Ürün veren gruplarda ürün taneciklerinin kinetik enerjileri toplamı kaç kJ/mol olur?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Ea(ileri) = 80 kJ/mol</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ΔH = −30 kJ/mol</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yönelimler uygun</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kinetik enerji: I = 50, II = 95, III = 120 kJ/mol</a:t>
            </a:r>
            <a:endParaRPr lang="en-US" sz="155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tepeyi aşan gruplar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ürünlerin kinetik enerjileri toplamı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Çarpışma enerjisi ve tepenin aşılması</a:t>
            </a:r>
            <a:endParaRPr lang="en-US" sz="1450" dirty="0"/>
          </a:p>
        </p:txBody>
      </p:sp>
      <p:sp>
        <p:nvSpPr>
          <p:cNvPr id="8" name="Shape 6"/>
          <p:cNvSpPr/>
          <p:nvPr/>
        </p:nvSpPr>
        <p:spPr>
          <a:xfrm>
            <a:off x="640080" y="1645920"/>
            <a:ext cx="10911535" cy="1249394"/>
          </a:xfrm>
          <a:prstGeom prst="roundRect">
            <a:avLst>
              <a:gd name="adj" fmla="val 1171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060305"/>
            <a:ext cx="420624" cy="420624"/>
          </a:xfrm>
          <a:prstGeom prst="roundRect">
            <a:avLst>
              <a:gd name="adj" fmla="val 26000"/>
            </a:avLst>
          </a:prstGeom>
          <a:solidFill>
            <a:srgbClr val="A56209"/>
          </a:solidFill>
          <a:ln/>
        </p:spPr>
      </p:sp>
      <p:sp>
        <p:nvSpPr>
          <p:cNvPr id="10" name="Text 8"/>
          <p:cNvSpPr txBox="1"/>
          <p:nvPr/>
        </p:nvSpPr>
        <p:spPr>
          <a:xfrm>
            <a:off x="914400" y="206030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139666"/>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Tepeyi aşmak için kinetik enerji en az Ea(ileri) = 80 kJ/mol olmalı (eşik enerjisi sayıca Ea'ya eşit).</a:t>
            </a:r>
            <a:endParaRPr lang="en-US" sz="2000" dirty="0"/>
          </a:p>
        </p:txBody>
      </p:sp>
      <p:sp>
        <p:nvSpPr>
          <p:cNvPr id="12" name="Shape 10"/>
          <p:cNvSpPr/>
          <p:nvPr/>
        </p:nvSpPr>
        <p:spPr>
          <a:xfrm>
            <a:off x="640080" y="3059906"/>
            <a:ext cx="10911535" cy="1249394"/>
          </a:xfrm>
          <a:prstGeom prst="roundRect">
            <a:avLst>
              <a:gd name="adj" fmla="val 1171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74291"/>
            <a:ext cx="420624" cy="420624"/>
          </a:xfrm>
          <a:prstGeom prst="roundRect">
            <a:avLst>
              <a:gd name="adj" fmla="val 26000"/>
            </a:avLst>
          </a:prstGeom>
          <a:solidFill>
            <a:srgbClr val="A56209"/>
          </a:solidFill>
          <a:ln/>
        </p:spPr>
      </p:sp>
      <p:sp>
        <p:nvSpPr>
          <p:cNvPr id="14" name="Text 12"/>
          <p:cNvSpPr txBox="1"/>
          <p:nvPr/>
        </p:nvSpPr>
        <p:spPr>
          <a:xfrm>
            <a:off x="914400" y="3474291"/>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114770"/>
            <a:ext cx="9859975" cy="1139666"/>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I: 50 &lt; 80 → tepeye varamadan geri döner; çiftler 50 kJ/mol ile seker. II (95) ve III (120)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ürün verir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473892"/>
            <a:ext cx="10911535" cy="1670876"/>
          </a:xfrm>
          <a:prstGeom prst="roundRect">
            <a:avLst>
              <a:gd name="adj" fmla="val 875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099018"/>
            <a:ext cx="420624" cy="420624"/>
          </a:xfrm>
          <a:prstGeom prst="roundRect">
            <a:avLst>
              <a:gd name="adj" fmla="val 26000"/>
            </a:avLst>
          </a:prstGeom>
          <a:solidFill>
            <a:srgbClr val="A56209"/>
          </a:solidFill>
          <a:ln/>
        </p:spPr>
      </p:sp>
      <p:sp>
        <p:nvSpPr>
          <p:cNvPr id="18" name="Text 16"/>
          <p:cNvSpPr txBox="1"/>
          <p:nvPr/>
        </p:nvSpPr>
        <p:spPr>
          <a:xfrm>
            <a:off x="914400" y="509901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528756"/>
            <a:ext cx="9859975" cy="156114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Enerji korunur: kinetik ve potansiyel enerjinin toplamı değişmez. Ürünlerin potansiyel enerjisi 30 kJ/mol düşük olduğu için bu 30 kJ/mol kinetik enerjiye eklenir.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Çarpışma enerjisi ve tepenin aşılması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II: 95 + 30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125 kJ/mol</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III: 120 + 30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150 kJ/mol</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Ürünler girenlerden hızlı hareket eder; çarpışmalarla çevreye dağılan bu fazla hareket enerjisi, ekzotermik tepkimenin ortamı ısıtmasıdır.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tepkimede girenlerin potansiyel enerjisi 30 kJ, aktifleşmiş kompleksinki 115 kJ'dür. İleri aktifleşme enerjisi kaç kJ'dür?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grafik sorularında küçük bir taslak çiz.</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tepkimede girenlerin potansiyel enerjisi 30 kJ, aktifleşmiş kompleksinki 115 kJ'dür. İleri aktifleşme enerjisi kaç kJ'dür?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Ea(ileri) = E(tepe) − E(giren) = 115 − 30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85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Tepenin yüksekliği sıfırdan değil, girenler seviyesinden ölçülür.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Tanecikler eşik enerjisinden büyük bir enerjiyle çarpıştığı hâlde ürün oluşmadı. Bunun nedeni ne olabilir?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grafik sorularında küçük bir taslak çiz.</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Tanecikler eşik enerjisinden büyük bir enerjiyle çarpıştığı hâlde ürün oluşmadı. Bunun nedeni ne olabilir?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Yönelim uygun değildir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yeni bağı kuracak atomlar karşı karşıya gelmemiştir. Etkin çarpışma için yeterli enerji ile uygun yönelim birlikte gerekir.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ΔH'si −40 kJ, geri aktifleşme enerjisi 110 kJ olan bir tepkimenin ileri aktifleşme enerjisi kaç kJ'dür?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grafik sorularında küçük bir taslak çiz.</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138</a:t>
            </a:r>
            <a:endParaRPr lang="en-US" sz="10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ΔH'si −40 kJ, geri aktifleşme enerjisi 110 kJ olan bir tepkimenin ileri aktifleşme enerjisi kaç kJ'dür?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ΔH = Ea(ileri) − Ea(geri) → −40 = Ea(ileri) − 110 → Ea(ileri)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70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Ea(ileri) &lt; Ea(geri) çıktı; ekzotermik tepkimeye uygun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139</a:t>
            </a:r>
            <a:endParaRPr lang="en-US" sz="10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öğrenci, ΔH'si +90 kJ olan bir tepkimenin ileri aktifleşme enerjisini 60 kJ buldu. Bu sonuç neden olanaksızdır?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grafik sorularında küçük bir taslak çiz.</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140</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öğrenci, ΔH'si +90 kJ olan bir tepkimenin ileri aktifleşme enerjisini 60 kJ buldu. Bu sonuç neden olanaksızdır?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Ea(geri) = Ea(ileri) − ΔH = 60 − 90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−30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çıkardı; aktifleşme enerjisi negatif olamaz. Ürünler girenlerden 90 kJ yukarıda olduğu için tepe de en az o kadar yüksek olmalıdır: Ea(ileri) &gt; 90 kJ.</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141</a:t>
            </a:r>
            <a:endParaRPr lang="en-US" sz="10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tepkimede Ea(geri), Ea(ileri)'nin 3 katıdır ve ΔH = −84 kJ'dür. Girenler 20 kJ'de ise aktifleşmiş kompleks ve ürünler kaç kJ'dedir?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grafik sorularında küçük bir taslak çiz.</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142</a:t>
            </a:r>
            <a:endParaRPr lang="en-US" sz="10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tepkimede Ea(geri), Ea(ileri)'nin 3 katıdır ve ΔH = −84 kJ'dür. Girenler 20 kJ'de ise aktifleşmiş kompleks ve ürünler kaç kJ'dedir?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Ea(ileri) = x, Ea(geri) = 3x olsun: −84 = x − 3x = −2x → x = 42. Ea(ileri) = 42 kJ, Ea(geri) = 126 kJ. E(tepe) = 20 + 42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62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E(ürün) = 20 − 84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−64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Kontrol: 62 − (−64) = 126 kJ = Ea(geri)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143</a:t>
            </a:r>
            <a:endParaRPr lang="en-US" sz="10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Her çarpışmanın ürün verdiğini sanmak.</a:t>
            </a:r>
            <a:endParaRPr lang="en-US" sz="1750" dirty="0"/>
          </a:p>
        </p:txBody>
      </p:sp>
      <p:sp>
        <p:nvSpPr>
          <p:cNvPr id="11" name="Shape 9"/>
          <p:cNvSpPr/>
          <p:nvPr/>
        </p:nvSpPr>
        <p:spPr>
          <a:xfrm>
            <a:off x="841248" y="2551938"/>
            <a:ext cx="310896" cy="310896"/>
          </a:xfrm>
          <a:prstGeom prst="roundRect">
            <a:avLst>
              <a:gd name="adj" fmla="val 26471"/>
            </a:avLst>
          </a:prstGeom>
          <a:solidFill>
            <a:srgbClr val="EAF7DC"/>
          </a:solidFill>
          <a:ln/>
        </p:spPr>
      </p:sp>
      <p:sp>
        <p:nvSpPr>
          <p:cNvPr id="12" name="Text 10"/>
          <p:cNvSpPr txBox="1"/>
          <p:nvPr/>
        </p:nvSpPr>
        <p:spPr>
          <a:xfrm>
            <a:off x="841248" y="255193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33650"/>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Çarpışmaların çok küçük bir kısmı etkindir; çoğunda tanecikler değişmeden seker.</a:t>
            </a:r>
            <a:endParaRPr lang="en-US" sz="15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Yeterli enerjinin tek şart olduğunu düşünmek.</a:t>
            </a:r>
            <a:endParaRPr lang="en-US" sz="1750" dirty="0"/>
          </a:p>
        </p:txBody>
      </p:sp>
      <p:sp>
        <p:nvSpPr>
          <p:cNvPr id="18" name="Shape 16"/>
          <p:cNvSpPr/>
          <p:nvPr/>
        </p:nvSpPr>
        <p:spPr>
          <a:xfrm>
            <a:off x="6406744" y="2551938"/>
            <a:ext cx="310896" cy="310896"/>
          </a:xfrm>
          <a:prstGeom prst="roundRect">
            <a:avLst>
              <a:gd name="adj" fmla="val 26471"/>
            </a:avLst>
          </a:prstGeom>
          <a:solidFill>
            <a:srgbClr val="EAF7DC"/>
          </a:solidFill>
          <a:ln/>
        </p:spPr>
      </p:sp>
      <p:sp>
        <p:nvSpPr>
          <p:cNvPr id="19" name="Text 17"/>
          <p:cNvSpPr txBox="1"/>
          <p:nvPr/>
        </p:nvSpPr>
        <p:spPr>
          <a:xfrm>
            <a:off x="6406744" y="255193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33650"/>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Yönelim de uygun olmalıdır: CO, NO₂'ye oksijen ucuyla çarparsa ne kadar hızlı olursa olsun ürün çıkmaz.</a:t>
            </a:r>
            <a:endParaRPr lang="en-US" sz="15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Ekzotermik tepkimelerin aktifleşme enerjisi olmadığını sanmak.</a:t>
            </a:r>
            <a:endParaRPr lang="en-US" sz="1750" dirty="0"/>
          </a:p>
        </p:txBody>
      </p:sp>
      <p:sp>
        <p:nvSpPr>
          <p:cNvPr id="25" name="Shape 23"/>
          <p:cNvSpPr/>
          <p:nvPr/>
        </p:nvSpPr>
        <p:spPr>
          <a:xfrm>
            <a:off x="841248" y="4892802"/>
            <a:ext cx="310896" cy="310896"/>
          </a:xfrm>
          <a:prstGeom prst="roundRect">
            <a:avLst>
              <a:gd name="adj" fmla="val 26471"/>
            </a:avLst>
          </a:prstGeom>
          <a:solidFill>
            <a:srgbClr val="EAF7DC"/>
          </a:solidFill>
          <a:ln/>
        </p:spPr>
      </p:sp>
      <p:sp>
        <p:nvSpPr>
          <p:cNvPr id="26" name="Text 24"/>
          <p:cNvSpPr txBox="1"/>
          <p:nvPr/>
        </p:nvSpPr>
        <p:spPr>
          <a:xfrm>
            <a:off x="841248"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Ea her zaman sıfırdan büyüktür. Odunun yanması çok ekzotermiktir, ama kibrit olmadan başlamaz.</a:t>
            </a:r>
            <a:endParaRPr lang="en-US" sz="15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Eşik enerjisini potansiyel, aktifleşme enerjisini kinetik enerji sanmak.</a:t>
            </a:r>
            <a:endParaRPr lang="en-US" sz="1750" dirty="0"/>
          </a:p>
        </p:txBody>
      </p:sp>
      <p:sp>
        <p:nvSpPr>
          <p:cNvPr id="32" name="Shape 30"/>
          <p:cNvSpPr/>
          <p:nvPr/>
        </p:nvSpPr>
        <p:spPr>
          <a:xfrm>
            <a:off x="6406744" y="4892802"/>
            <a:ext cx="310896" cy="310896"/>
          </a:xfrm>
          <a:prstGeom prst="roundRect">
            <a:avLst>
              <a:gd name="adj" fmla="val 26471"/>
            </a:avLst>
          </a:prstGeom>
          <a:solidFill>
            <a:srgbClr val="EAF7DC"/>
          </a:solidFill>
          <a:ln/>
        </p:spPr>
      </p:sp>
      <p:sp>
        <p:nvSpPr>
          <p:cNvPr id="33" name="Text 31"/>
          <p:cNvSpPr txBox="1"/>
          <p:nvPr/>
        </p:nvSpPr>
        <p:spPr>
          <a:xfrm>
            <a:off x="6406744"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Tersi doğrudur: eşik, çarpışan taneciklerin getirmesi gereken kinetik enerjidir; Ea, potansiyel enerji tepesinin yüksekliğidir. İkisi sayıca eşittir.</a:t>
            </a:r>
            <a:endParaRPr lang="en-US" sz="15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144</a:t>
            </a:r>
            <a:endParaRPr lang="en-US" sz="10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616458"/>
          </a:xfrm>
          <a:prstGeom prst="rect">
            <a:avLst/>
          </a:prstGeom>
          <a:noFill/>
          <a:ln/>
        </p:spPr>
        <p:txBody>
          <a:bodyPr wrap="square" lIns="0" tIns="0" rIns="0" bIns="0" rtlCol="0" anchor="t"/>
          <a:lstStyle/>
          <a:p>
            <a:pPr indent="0" marL="0">
              <a:lnSpc>
                <a:spcPct val="108000"/>
              </a:lnSpc>
              <a:buNone/>
            </a:pPr>
            <a:r>
              <a:rPr lang="en-US" sz="1550" b="1" dirty="0">
                <a:solidFill>
                  <a:srgbClr val="0E1426"/>
                </a:solidFill>
                <a:latin typeface="Calibri" pitchFamily="34" charset="0"/>
                <a:ea typeface="Calibri" pitchFamily="34" charset="-122"/>
                <a:cs typeface="Calibri" pitchFamily="34" charset="-120"/>
              </a:rPr>
              <a:t>Ea'yı tepenin eksenden yüksekliği sanmak.</a:t>
            </a:r>
            <a:endParaRPr lang="en-US" sz="1550" dirty="0"/>
          </a:p>
        </p:txBody>
      </p:sp>
      <p:sp>
        <p:nvSpPr>
          <p:cNvPr id="11" name="Shape 9"/>
          <p:cNvSpPr/>
          <p:nvPr/>
        </p:nvSpPr>
        <p:spPr>
          <a:xfrm>
            <a:off x="841248" y="2481834"/>
            <a:ext cx="310896" cy="310896"/>
          </a:xfrm>
          <a:prstGeom prst="roundRect">
            <a:avLst>
              <a:gd name="adj" fmla="val 26471"/>
            </a:avLst>
          </a:prstGeom>
          <a:solidFill>
            <a:srgbClr val="EAF7DC"/>
          </a:solidFill>
          <a:ln/>
        </p:spPr>
      </p:sp>
      <p:sp>
        <p:nvSpPr>
          <p:cNvPr id="12" name="Text 10"/>
          <p:cNvSpPr txBox="1"/>
          <p:nvPr/>
        </p:nvSpPr>
        <p:spPr>
          <a:xfrm>
            <a:off x="841248" y="2481834"/>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463546"/>
            <a:ext cx="4523080" cy="1212342"/>
          </a:xfrm>
          <a:prstGeom prst="rect">
            <a:avLst/>
          </a:prstGeom>
          <a:noFill/>
          <a:ln/>
        </p:spPr>
        <p:txBody>
          <a:bodyPr wrap="square" lIns="0" tIns="0" rIns="0" bIns="0" rtlCol="0" anchor="t"/>
          <a:lstStyle/>
          <a:p>
            <a:pPr indent="0" marL="0">
              <a:lnSpc>
                <a:spcPct val="108000"/>
              </a:lnSpc>
              <a:buNone/>
            </a:pPr>
            <a:r>
              <a:rPr lang="en-US" sz="1350" dirty="0">
                <a:solidFill>
                  <a:srgbClr val="4A5470"/>
                </a:solidFill>
                <a:latin typeface="Calibri" pitchFamily="34" charset="0"/>
                <a:ea typeface="Calibri" pitchFamily="34" charset="-122"/>
                <a:cs typeface="Calibri" pitchFamily="34" charset="-120"/>
              </a:rPr>
              <a:t> Ea(ileri) girenler seviyesinden, Ea(geri) ürünler seviyesinden ölçülür; ikisi de iki seviyenin farkıdır.</a:t>
            </a:r>
            <a:endParaRPr lang="en-US" sz="13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344805"/>
          </a:xfrm>
          <a:prstGeom prst="rect">
            <a:avLst/>
          </a:prstGeom>
          <a:noFill/>
          <a:ln/>
        </p:spPr>
        <p:txBody>
          <a:bodyPr wrap="square" lIns="0" tIns="0" rIns="0" bIns="0" rtlCol="0" anchor="t"/>
          <a:lstStyle/>
          <a:p>
            <a:pPr indent="0" marL="0">
              <a:lnSpc>
                <a:spcPct val="108000"/>
              </a:lnSpc>
              <a:buNone/>
            </a:pPr>
            <a:r>
              <a:rPr lang="en-US" sz="1550" b="1" dirty="0">
                <a:solidFill>
                  <a:srgbClr val="0E1426"/>
                </a:solidFill>
                <a:latin typeface="Calibri" pitchFamily="34" charset="0"/>
                <a:ea typeface="Calibri" pitchFamily="34" charset="-122"/>
                <a:cs typeface="Calibri" pitchFamily="34" charset="-120"/>
              </a:rPr>
              <a:t>ΔH'yi Ea(geri) − Ea(ileri) diye yazmak.</a:t>
            </a:r>
            <a:endParaRPr lang="en-US" sz="1550" dirty="0"/>
          </a:p>
        </p:txBody>
      </p:sp>
      <p:sp>
        <p:nvSpPr>
          <p:cNvPr id="18" name="Shape 16"/>
          <p:cNvSpPr/>
          <p:nvPr/>
        </p:nvSpPr>
        <p:spPr>
          <a:xfrm>
            <a:off x="6406744" y="2210181"/>
            <a:ext cx="310896" cy="310896"/>
          </a:xfrm>
          <a:prstGeom prst="roundRect">
            <a:avLst>
              <a:gd name="adj" fmla="val 26471"/>
            </a:avLst>
          </a:prstGeom>
          <a:solidFill>
            <a:srgbClr val="EAF7DC"/>
          </a:solidFill>
          <a:ln/>
        </p:spPr>
      </p:sp>
      <p:sp>
        <p:nvSpPr>
          <p:cNvPr id="19" name="Text 17"/>
          <p:cNvSpPr txBox="1"/>
          <p:nvPr/>
        </p:nvSpPr>
        <p:spPr>
          <a:xfrm>
            <a:off x="6406744" y="2210181"/>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191893"/>
            <a:ext cx="4523080" cy="1483995"/>
          </a:xfrm>
          <a:prstGeom prst="rect">
            <a:avLst/>
          </a:prstGeom>
          <a:noFill/>
          <a:ln/>
        </p:spPr>
        <p:txBody>
          <a:bodyPr wrap="square" lIns="0" tIns="0" rIns="0" bIns="0" rtlCol="0" anchor="t"/>
          <a:lstStyle/>
          <a:p>
            <a:pPr indent="0" marL="0">
              <a:lnSpc>
                <a:spcPct val="108000"/>
              </a:lnSpc>
              <a:buNone/>
            </a:pPr>
            <a:r>
              <a:rPr lang="en-US" sz="1350" dirty="0">
                <a:solidFill>
                  <a:srgbClr val="4A5470"/>
                </a:solidFill>
                <a:latin typeface="Calibri" pitchFamily="34" charset="0"/>
                <a:ea typeface="Calibri" pitchFamily="34" charset="-122"/>
                <a:cs typeface="Calibri" pitchFamily="34" charset="-120"/>
              </a:rPr>
              <a:t> Doğrusu ΔH = Ea(ileri) − Ea(geri). Kontrol et: ekzotermik tepkimede Ea(ileri) küçük olduğu için sonuç negatif çıkmalıdır.</a:t>
            </a:r>
            <a:endParaRPr lang="en-US" sz="13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616458"/>
          </a:xfrm>
          <a:prstGeom prst="rect">
            <a:avLst/>
          </a:prstGeom>
          <a:noFill/>
          <a:ln/>
        </p:spPr>
        <p:txBody>
          <a:bodyPr wrap="square" lIns="0" tIns="0" rIns="0" bIns="0" rtlCol="0" anchor="t"/>
          <a:lstStyle/>
          <a:p>
            <a:pPr indent="0" marL="0">
              <a:lnSpc>
                <a:spcPct val="108000"/>
              </a:lnSpc>
              <a:buNone/>
            </a:pPr>
            <a:r>
              <a:rPr lang="en-US" sz="1550" b="1" dirty="0">
                <a:solidFill>
                  <a:srgbClr val="0E1426"/>
                </a:solidFill>
                <a:latin typeface="Calibri" pitchFamily="34" charset="0"/>
                <a:ea typeface="Calibri" pitchFamily="34" charset="-122"/>
                <a:cs typeface="Calibri" pitchFamily="34" charset="-120"/>
              </a:rPr>
              <a:t>Sıcaklık artınca aktifleşme enerjisinin düştüğünü sanmak.</a:t>
            </a:r>
            <a:endParaRPr lang="en-US" sz="1550" dirty="0"/>
          </a:p>
        </p:txBody>
      </p:sp>
      <p:sp>
        <p:nvSpPr>
          <p:cNvPr id="25" name="Shape 23"/>
          <p:cNvSpPr/>
          <p:nvPr/>
        </p:nvSpPr>
        <p:spPr>
          <a:xfrm>
            <a:off x="841248" y="4822698"/>
            <a:ext cx="310896" cy="310896"/>
          </a:xfrm>
          <a:prstGeom prst="roundRect">
            <a:avLst>
              <a:gd name="adj" fmla="val 26471"/>
            </a:avLst>
          </a:prstGeom>
          <a:solidFill>
            <a:srgbClr val="EAF7DC"/>
          </a:solidFill>
          <a:ln/>
        </p:spPr>
      </p:sp>
      <p:sp>
        <p:nvSpPr>
          <p:cNvPr id="26" name="Text 24"/>
          <p:cNvSpPr txBox="1"/>
          <p:nvPr/>
        </p:nvSpPr>
        <p:spPr>
          <a:xfrm>
            <a:off x="841248" y="482269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04410"/>
            <a:ext cx="4523080" cy="1212342"/>
          </a:xfrm>
          <a:prstGeom prst="rect">
            <a:avLst/>
          </a:prstGeom>
          <a:noFill/>
          <a:ln/>
        </p:spPr>
        <p:txBody>
          <a:bodyPr wrap="square" lIns="0" tIns="0" rIns="0" bIns="0" rtlCol="0" anchor="t"/>
          <a:lstStyle/>
          <a:p>
            <a:pPr indent="0" marL="0">
              <a:lnSpc>
                <a:spcPct val="108000"/>
              </a:lnSpc>
              <a:buNone/>
            </a:pPr>
            <a:r>
              <a:rPr lang="en-US" sz="1350" dirty="0">
                <a:solidFill>
                  <a:srgbClr val="4A5470"/>
                </a:solidFill>
                <a:latin typeface="Calibri" pitchFamily="34" charset="0"/>
                <a:ea typeface="Calibri" pitchFamily="34" charset="-122"/>
                <a:cs typeface="Calibri" pitchFamily="34" charset="-120"/>
              </a:rPr>
              <a:t> Sıcaklık eşiği ve Ea'yı değiştirmez, eşiği aşan tanecik payını artırır. Ea'yı düşüren katalizördür.</a:t>
            </a:r>
            <a:endParaRPr lang="en-US" sz="13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616458"/>
          </a:xfrm>
          <a:prstGeom prst="rect">
            <a:avLst/>
          </a:prstGeom>
          <a:noFill/>
          <a:ln/>
        </p:spPr>
        <p:txBody>
          <a:bodyPr wrap="square" lIns="0" tIns="0" rIns="0" bIns="0" rtlCol="0" anchor="t"/>
          <a:lstStyle/>
          <a:p>
            <a:pPr indent="0" marL="0">
              <a:lnSpc>
                <a:spcPct val="108000"/>
              </a:lnSpc>
              <a:buNone/>
            </a:pPr>
            <a:r>
              <a:rPr lang="en-US" sz="1550" b="1" dirty="0">
                <a:solidFill>
                  <a:srgbClr val="0E1426"/>
                </a:solidFill>
                <a:latin typeface="Calibri" pitchFamily="34" charset="0"/>
                <a:ea typeface="Calibri" pitchFamily="34" charset="-122"/>
                <a:cs typeface="Calibri" pitchFamily="34" charset="-120"/>
              </a:rPr>
              <a:t>Çok ısı veren tepkimenin hızlı olacağını sanmak.</a:t>
            </a:r>
            <a:endParaRPr lang="en-US" sz="1550" dirty="0"/>
          </a:p>
        </p:txBody>
      </p:sp>
      <p:sp>
        <p:nvSpPr>
          <p:cNvPr id="32" name="Shape 30"/>
          <p:cNvSpPr/>
          <p:nvPr/>
        </p:nvSpPr>
        <p:spPr>
          <a:xfrm>
            <a:off x="6406744" y="4822698"/>
            <a:ext cx="310896" cy="310896"/>
          </a:xfrm>
          <a:prstGeom prst="roundRect">
            <a:avLst>
              <a:gd name="adj" fmla="val 26471"/>
            </a:avLst>
          </a:prstGeom>
          <a:solidFill>
            <a:srgbClr val="EAF7DC"/>
          </a:solidFill>
          <a:ln/>
        </p:spPr>
      </p:sp>
      <p:sp>
        <p:nvSpPr>
          <p:cNvPr id="33" name="Text 31"/>
          <p:cNvSpPr txBox="1"/>
          <p:nvPr/>
        </p:nvSpPr>
        <p:spPr>
          <a:xfrm>
            <a:off x="6406744" y="482269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804410"/>
            <a:ext cx="4523080" cy="1212342"/>
          </a:xfrm>
          <a:prstGeom prst="rect">
            <a:avLst/>
          </a:prstGeom>
          <a:noFill/>
          <a:ln/>
        </p:spPr>
        <p:txBody>
          <a:bodyPr wrap="square" lIns="0" tIns="0" rIns="0" bIns="0" rtlCol="0" anchor="t"/>
          <a:lstStyle/>
          <a:p>
            <a:pPr indent="0" marL="0">
              <a:lnSpc>
                <a:spcPct val="108000"/>
              </a:lnSpc>
              <a:buNone/>
            </a:pPr>
            <a:r>
              <a:rPr lang="en-US" sz="1350" dirty="0">
                <a:solidFill>
                  <a:srgbClr val="4A5470"/>
                </a:solidFill>
                <a:latin typeface="Calibri" pitchFamily="34" charset="0"/>
                <a:ea typeface="Calibri" pitchFamily="34" charset="-122"/>
                <a:cs typeface="Calibri" pitchFamily="34" charset="-120"/>
              </a:rPr>
              <a:t> Aynı koşullarda hızı ΔH değil Ea belirler. NO + O₃ ile CO + NO₂ birbirine yakın ısı verir, ama tepeleri 12 ve 130 kJ'dür: biri çabucak yürür, öteki oda sıcaklığında fark edilmeyecek kadar yavaştır.</a:t>
            </a:r>
            <a:endParaRPr lang="en-US" sz="13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dersler.perinet.org/carpisma-teorisi.html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145</a:t>
            </a:r>
            <a:endParaRPr lang="en-US" sz="10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Etkin çarpışma: </a:t>
            </a:r>
            <a:pPr indent="0" marL="0">
              <a:buNone/>
            </a:pPr>
            <a:r>
              <a:rPr lang="en-US" sz="1500" b="1" dirty="0">
                <a:solidFill>
                  <a:srgbClr val="FFFFFF"/>
                </a:solidFill>
                <a:latin typeface="Calibri" pitchFamily="34" charset="0"/>
                <a:ea typeface="Calibri" pitchFamily="34" charset="-122"/>
                <a:cs typeface="Calibri" pitchFamily="34" charset="-120"/>
              </a:rPr>
              <a:t>enerji + yönelim</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Ea her zaman </a:t>
            </a:r>
            <a:pPr indent="0" marL="0">
              <a:buNone/>
            </a:pPr>
            <a:r>
              <a:rPr lang="en-US" sz="1500" b="1" dirty="0">
                <a:solidFill>
                  <a:srgbClr val="FFFFFF"/>
                </a:solidFill>
                <a:latin typeface="Calibri" pitchFamily="34" charset="0"/>
                <a:ea typeface="Calibri" pitchFamily="34" charset="-122"/>
                <a:cs typeface="Calibri" pitchFamily="34" charset="-120"/>
              </a:rPr>
              <a:t>&gt; 0</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ΔH = Ea(ileri) − Ea(geri)</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Büyük Ea: </a:t>
            </a:r>
            <a:pPr indent="0" marL="0">
              <a:buNone/>
            </a:pPr>
            <a:r>
              <a:rPr lang="en-US" sz="1500" b="1" dirty="0">
                <a:solidFill>
                  <a:srgbClr val="FFFFFF"/>
                </a:solidFill>
                <a:latin typeface="Calibri" pitchFamily="34" charset="0"/>
                <a:ea typeface="Calibri" pitchFamily="34" charset="-122"/>
                <a:cs typeface="Calibri" pitchFamily="34" charset="-120"/>
              </a:rPr>
              <a:t>yavaş</a:t>
            </a:r>
            <a:pPr indent="0" marL="0">
              <a:buNone/>
            </a:pPr>
            <a:r>
              <a:rPr lang="en-US" sz="1500" dirty="0">
                <a:solidFill>
                  <a:srgbClr val="C3CEE8"/>
                </a:solidFill>
                <a:latin typeface="Calibri" pitchFamily="34" charset="0"/>
                <a:ea typeface="Calibri" pitchFamily="34" charset="-122"/>
                <a:cs typeface="Calibri" pitchFamily="34" charset="-120"/>
              </a:rPr>
              <a:t> tepkime</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90322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ΔH = Ea(ileri) − Ea(geri)</a:t>
            </a:r>
            <a:endParaRPr lang="en-US" sz="1350" dirty="0"/>
          </a:p>
        </p:txBody>
      </p:sp>
      <p:sp>
        <p:nvSpPr>
          <p:cNvPr id="16" name="Text 14"/>
          <p:cNvSpPr txBox="1"/>
          <p:nvPr/>
        </p:nvSpPr>
        <p:spPr>
          <a:xfrm>
            <a:off x="9624060" y="2395728"/>
            <a:ext cx="174467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tepkime entalpisi</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Ea(ileri) = E(tepe) − E(giren)</a:t>
            </a:r>
            <a:endParaRPr lang="en-US" sz="1350" dirty="0"/>
          </a:p>
        </p:txBody>
      </p:sp>
      <p:sp>
        <p:nvSpPr>
          <p:cNvPr id="19" name="Text 17"/>
          <p:cNvSpPr txBox="1"/>
          <p:nvPr/>
        </p:nvSpPr>
        <p:spPr>
          <a:xfrm>
            <a:off x="9631375" y="321868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E(tepe): aktifleşmiş kompleksin enerjisi</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Ea(geri) = E(tepe) − E(ürün)</a:t>
            </a:r>
            <a:endParaRPr lang="en-US" sz="1350" dirty="0"/>
          </a:p>
        </p:txBody>
      </p:sp>
      <p:sp>
        <p:nvSpPr>
          <p:cNvPr id="22" name="Text 20"/>
          <p:cNvSpPr txBox="1"/>
          <p:nvPr/>
        </p:nvSpPr>
        <p:spPr>
          <a:xfrm>
            <a:off x="9631375" y="404164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geri aktifleşme enerjisi</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Hız ∝ birim zamandaki etkin çarpışma sayısı</a:t>
            </a:r>
            <a:endParaRPr lang="en-US" sz="1350" dirty="0"/>
          </a:p>
        </p:txBody>
      </p:sp>
      <p:sp>
        <p:nvSpPr>
          <p:cNvPr id="25" name="Text 23"/>
          <p:cNvSpPr txBox="1"/>
          <p:nvPr/>
        </p:nvSpPr>
        <p:spPr>
          <a:xfrm>
            <a:off x="9631375" y="486460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çarpışma teorisi</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dersler.perinet.org/carpisma-teorisi.html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02 · Ortalama tepkime hızı</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146</Slides>
  <Notes>146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146</vt:i4>
      </vt:variant>
    </vt:vector>
  </HeadingPairs>
  <TitlesOfParts>
    <vt:vector size="1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Tepkimelerin gerçekleşme şartları — Dersler</dc:title>
  <dc:subject>Kimya · Kimyasal Tepkimelerde Hız</dc:subject>
  <dc:creator>Dersler</dc:creator>
  <cp:lastModifiedBy>Dersler</cp:lastModifiedBy>
  <cp:revision>1</cp:revision>
  <dcterms:created xsi:type="dcterms:W3CDTF">2026-10-02T16:20:34Z</dcterms:created>
  <dcterms:modified xsi:type="dcterms:W3CDTF">2026-10-02T16:20:34Z</dcterms:modified>
</cp:coreProperties>
</file>