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Lst>
  <p:notesMasterIdLst>
    <p:notesMasterId r:id="rId1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notesMaster" Target="notesMasters/notesMaster1.xml"/><Relationship Id="rId147" Type="http://schemas.openxmlformats.org/officeDocument/2006/relationships/presProps" Target="presProps.xml"/><Relationship Id="rId148" Type="http://schemas.openxmlformats.org/officeDocument/2006/relationships/viewProps" Target="viewProps.xml"/><Relationship Id="rId149" Type="http://schemas.openxmlformats.org/officeDocument/2006/relationships/theme" Target="theme/theme1.xml"/><Relationship Id="rId1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Süt neden buzdolabında günlerce dayanır da yaz sıcağında masada bir günde ekşir? Aynı ışık çubuğu neden sıcak suda göz kamaştırır, buzlu suda sönük kalır? Lunaparktaki çarpışan arabaları düşün: piste ne kadar çok araba girerse ve arabalar ne kadar hızlı giderse o kadar sık, o kadar sert tokuşurlar. Tepkimenin hızını da birim zamandaki etkin çarpışma sayısı belirler; bu sayıyı tepkenlerin cinsi, fiziksel hâli, derişimi ve sıcaklık ayarlar. Anlatım dört basamakta ilerliyor: önce mutfaktaki gözlemlerle bu düğmeleri formülsüz tanıyacağız, sonra derişimi ve kinetik enerji dağılımını sayılarla inceleyeceğiz, ardından sıcaklığın neyi değiştirip neyi değiştirmediğini ve ürün–zaman grafiklerini okuyacağız, en sonda kolaydan zora örneklerle hepsini birlikte kullanacağız. Katalizör ve temas yüzeyi ise bir sonraki konunun işi.
Kapak görseli: Sıcak ve buzlu suda iki ışık çubuğu. Çubuğu bükünce içindeki ince cam tüp kırılır, iki sıvı karışır ve enerjisini ışık olarak veren bir tepkime başlar. Sıcak sudaki çubukta tepkime daha hızlı yürür: birim zamanda daha çok tanecik tepkir, ışık daha parlaktır. Buzlu sudaki çubuk sönük yanar, ama kimyasalları daha yavaş harcandığı için daha uzun süre ışıldar.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Süt neden buzdolabında günlerce dayanır da yaz sıcağında masada bir günde ekşir? Aynı ışık çubuğu neden sıcak suda göz kamaştırır, buzlu suda sönük kalır? Lunaparktaki çarpışan arabaları düşün: piste ne kadar çok araba girerse ve arabalar ne kadar hızlı giderse o kadar sık, o kadar sert tokuşurlar. Tepkimenin hızını da birim zamandaki etkin çarpışma sayısı belirler; bu sayıyı tepkenlerin cinsi, fiziksel hâli, derişimi ve sıcaklık ayarlar. Anlatım dört basamakta ilerliyor: önce mutfaktaki gözlemlerle bu düğmeleri formülsüz tanıyacağız, sonra derişimi ve kinetik enerji dağılımını sayılarla inceleyeceğiz, ardından sıcaklığın neyi değiştirip neyi değiştirmediğini ve ürün–zaman grafiklerini okuyacağız, en sonda kolaydan zora örneklerle hepsini birlikte kullanacağız. Katalizör ve temas yüzeyi ise bir sonraki konunun işi.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aynı tepkimenin neden bazen hızlı, bazen yavaş yürüdüğünü gündelik gözlemlerle gör; maddenin cinsini, fiziksel hâlini ve derişimi formülsüz tanı.
   01 Önce gözlemle: aynı tepkime, farklı hızlar
   02 Maddenin cinsi: her tepkimenin kendi hızı
   03 Fiziksel hâl: tanecikler ne kadar serbest?
   04 Derişim: kalabalık arttıkça çarpışma artar
2. Orta — Bağıntılar ve grafikler: derişimi hesapla ve değiştirmenin yollarını gör, kinetik enerji dağılımını oku, eşiği aşan taneciklerin sıcaklıkla nasıl çoğaldığını sayılarla hisset.
   05 Derişim nasıl artırılır?
   06 Sıcaklık ve kinetik enerji dağılımı
   07 Eşiği aşan tanecikler
   08 Sayılarla hisset: sıcaklık ne kadar fark eder?
3. İleri — Derinleşme: sıcaklığın neyi değiştirip neyi değiştirmediğini ayır, ürün–zaman grafiklerinden faktörleri oku, bütün faktörleri tek şemada topla ve gerçek hayatta nasıl kullanıldıklarını gör.
   09 Sıcaklık neyi değiştirir, neyi değiştirmez?
   10 Grafikleri karşılaştırmak: ürün–zaman eğrileri
   11 Faktörler bir arada
   12 Hız faktörleri gerçek dünyada
4. Pekiştir — Kolaydan zora çözümlü örnekler, kendin çözeceğin sorular ve hız faktörleri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Tepkime hızı: birim zamanda harcanan tepken ya da oluşan ürün miktarı. Bir önceki konuda ölçmüştün: örneğin her saniye kaç mL gaz çıktığı.
• Etkin çarpışma: ürün veren çarpışma. Tanecikler yeterli enerjiyle ve uygun yönelimle çarpışmalıdır; çarpışmaların çoğu boşa gider.
• Aktifleşme enerjisi (Ea): tepkimenin aşması gereken enerji tepesi. Tepe ne kadar yüksekse onu aşabilen çarpışma o kadar azdır.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Derişim: 1 litrede kaç mol madde bulunduğu: [X] = n / V, birimi mol/L (M). 2 L çözeltide 1 mol şeker varsa derişim 0,5 M'dir.
• Sıcaklık: taneciklerin ortalama hareket (kinetik) enerjisinin ölçüsü. Sıcak çaydaki su molekülleri soğuk sudakilerden ortalamada daha hızlı koşuşturur.
• Fiziksel hâl: maddenin katı (k), sıvı (s), gaz (g) ya da suda çözünmüş (suda) olması.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aynı tepkimenin neden bazen hızlı, bazen yavaş yürüdüğünü gündelik gözlemlerle gör; maddenin cinsini, fiziksel hâlini ve derişimi formülsüz tanı.
01 Önce gözlemle: aynı tepkime, farklı hızlar
02 Maddenin cinsi: her tepkimenin kendi hızı
03 Fiziksel hâl: tanecikler ne kadar serbest?
04 Derişim: kalabalık arttıkça çarpışma artar
Görsel: Buzdolabı bir hız düğmesidir. İçerisi yaklaşık 4 °C'dedir. Bu sıcaklıkta sütü ekşiten, meyveyi olgunlaştıran tepkimeler de, yemeği bozan mikropların çoğalması da yavaşlar: aktifleşme enerjisi 50 kJ/mol olan bir tepkime 4 °C'de, 25 °C'dekinden yaklaşık 4–5 kat yavaş yürür. Soğuk tepkimeleri durdurmaz, yalnızca ağırlaştırır.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aynı tepkime, farklı hızlar — adım 1/5
• Bir tepkimenin hızı onun değişmez bir özelliği değildir.
• Aynı tepkime bir yerde ağır ağır, başka bir yerde göz açıp kapayıncaya kadar yürüyebilir.
• Mutfağına ve çevrene bir 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aynı tepkime, farklı hızlar — adım 2/5
• Süt: buzdolabında günlerce taze kalır, yaz sıcağında masada bir günde ekşir.
• Ekmek: tezgâhta (ekmek dolabında) birkaç günde küflenir, dondurucuda aylarca dayanır.
• Mangal: sönmeye yüz tutmuş kömürü yelpazelersen kor yeniden kızarır; yüzeyine taze hava, yani taze oksijen gelir.
• Metaller: yeni kesilmiş sodyum havada birkaç dakikada matlaşır; demir bir çivinin paslanması ise haftalar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aynı tepkime, farklı hızlar — adım 3/5
• Efervesan tablet: kuru kutusunda yıllarca durur, suya atınca saniyeler içinde köpürür.
• Bu örneklerde dört farklı düğme çevrildi: sıcaklık (süt, ekmek), derişim (mangal), maddenin cinsi (sodyum ve demir) ve fiziksel hâl (tablet).
• Dördünün de yaptığı iş aynıdır: birim zamanda gerçekleşen etkin çarpışma sayısını değiştirirler.
• Etkin çarpışma çoğalırsa tepkime hızlanır, azalırsa yavaşlar.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aynı tepkime, farklı hızlar — adım 4/5
• Giriş görselindeki ışık çubuklarında hızı gözle görürsün: içlerindeki tepkime ışık yayar ve parlaklık, saniyede kaç taneciğin tepkidiğini ele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aynı tepkime, farklı hızlar — şekil
Işık çubuğundaki tepkime ışık yayar; parlaklık tepkimenin hızını gösterir. Sıcak sudaki çubuk çok parlak başlar ama çabuk söner; buzlu sudaki sönük yanar ama uzun süre ışıldar. İki çubukta aynı miktarda kimyasal vardır; çizimde eğrilerin altındaki alanlar bu yüzden eşittir. Sıcaklık ne kadar ürün oluşacağını değil, ne kadar çabuk oluşacağını değiştirir.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Aynı tepkime koşullara göre hızlı ya da yavaş yürür. Sıcaklık, derişim, maddenin cinsi ve fiziksel hâl, birim zamandaki etkin çarpışma sayısını değiştirerek hızı ayarlar.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Buzdolabındaki yemek de sonunda bozulur. Soğuk tepkimeleri durdurur mu, yoksa yalnızca yavaşlatır mı?
Sınıfa sorun, birkaç tahmin alın; sonra cevap slaytına geçin.
Cevap: Yalnızca yavaşlatır. Soğukta da taneciklerin küçük bir kısmı eşiği aşacak kadar enerjiye sahiptir; yalnızca sayıları azdır. Bozulma tepkimeleri bu yüzden durmaz, ağırlaşır. Dondurucu daha da yavaşlatır ama hızı sıfıra indirmez: dondurucudaki yiyeceğin de bir son kullanma tarihi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Yalnızca yavaşlatır. Soğukta da taneciklerin küçük bir kısmı eşiği aşacak kadar enerjiye sahiptir; yalnızca sayıları azdır. Bozulma tepkimeleri bu yüzden durmaz, ağırlaşır. Dondurucu daha da yavaşlatır ama hızı sıfıra indirmez: dondurucudaki yiyeceğin de bir son kullanma tarihi vardır.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Maddenin cinsi: her tepkimenin kendi hızı — adım 1/5
• Aynı koşullarda bile bazı tepkimeler anında biter, bazıları yıllar sürer.
• Fark, tepkimeye giren maddelerin cinsinden gelir: her tepkimenin kendine özgü bir aktifleşme enerjisi vardır.
• Bu tepenin yüksekliği, hangi bağların kırılıp kurulacağına ve taneciklerin nasıl buluşması gerektiğine bağlıdır.
• İşine yarayacak dört eğilim: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Maddenin cinsi: her tepkimenin kendi hızı — adım 2/5
• Zıt yüklü iyonlar çok hızlı tepkir. Suda Ag⁺ ile Cl⁻, ya da H⁺ ile OH⁻ birbirini çeker ve kırılması gereken bir bağ yoktur. Çökelme ve nötrleşme tepkimeleri bu yüzden çözeltiler karıştığı anda olur.
• Çok bağın kırılması gerekiyorsa tepkime genellikle yavaştır. Ocaktaki metan oda sıcaklığında havadaki oksijenle yan yana yıllarca durur; kıvılcım olmadan fark edilir bir hızla yanmaz.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Maddenin cinsi: her tepkimenin kendi hızı — adım 3/5
• Çok taneciğin aynı anda buluşması gerekiyorsa tepkime yavaştır. Üç ya da dört taneciğin aynı anda ve doğru yönelimle çarpışması çok düşük bir olasılıktır.
• Aktif metaller daha hızlı tepkir. Aynı asitte magnezyum çok hızlı köpürür, demir çok yavaş tepkir.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Maddenin cinsi: her tepkimenin kendi hızı — şekil
Dört metal aynı asitte, aynı boyda şeritlerle deneniyor; değişen tek şey metalin cinsi. Magnezyum çok hızlı köpürür, çinko yavaş, demir çok yavaş tepkir. Bakır bu asitle hiç tepkimeye girmez; bunun nedeni yavaşlık değil, bakırın asitteki hidrojeni açığa çıkaracak kadar aktif olmamasıdır. Kabarcık sayıları yalnızca sıralamayı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Maddenin cinsi: her tepkimenin kendi hızı — adım 5/5
• Bunlar kesin kural değil, birer eğilimdir; son sözü deney söyler.
• Sayfanın 03 numaralı bölümünde metallerin köpürmesini ve gümüş klorürün anında çöküşünü sırayla deneyip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Her tepkimenin kendine özgü bir aktifleşme enerjisi vardır. Zıt yüklü iyonlar arasındaki tepkimeler çok hızlı; çok bağ kırılan ya da çok taneciğin buluşmasını gerektiren tepkimeler genellikle yavaştır. Aktif metaller daha hızlı tepkir.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Yeni kesilmiş sodyum havada birkaç dakikada matlaşırken demir bir çivi neden haftalarca parlak kalabilir?
Sınıfa sorun, birkaç tahmin alın; sonra cevap slaytına geçin.
Cevap: İkisi de aynı havanın oksijeni ve nemiyle karşı karşıyadır; fark metalin cinsindedir. Sodyum çok aktif bir metaldir: oksijen ve suyla tepkimesinin enerji tepesi alçaktır, çarpışmaların önemli bir kısmı ürün verir. Demirin tepkimesi ise çok daha yavaş yürür. Bu yüzden sodyum gaz yağı altında saklanır, demir çivi rafta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 de aynı havanın oksijeni ve nemiyle karşı karşıyadır; fark metalin cinsindedir. Sodyum çok aktif bir metaldir: oksijen ve suyla tepkimesinin enerji tepesi alçaktır, çarpışmaların önemli bir kısmı ürün verir. Demirin tepkimesi ise çok daha yavaş yürür. Bu yüzden sodyum gaz yağı altında saklanır, demir çivi rafta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tanecikler ne kadar serbest? — adım 1/5
• Bir tepkime için tepkenlerin tanecikleri önce karşılaşmalıdır.
• Bu da taneciklerin ne kadar serbest hareket ettiğine bağlıdır.
• Katıda tanecikler yerlerine kilitlidir, yalnızca titreşirler.
• Sıvıda birbirlerinin üstünden kayarak dolaşırlar.
• Gazda hızla uçuşur ve kabın her yerine yayılırlar.
• Suda çözünmüş bir maddenin tanecikleri de suyun içinde serbestçe dolaşır.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tanecikler ne kadar serbest? — adım 2/5
• Kurşun(II) nitrat ile potasyum iyodür tozlarını düşün; ikisi de beyazdır.
• Onları havanda karıştırırsan yalnızca tozların birbirine değdiği yerlerde yavaş yavaş sarı bir renk belirir.
• Aynı iki maddeyi önce ayrı ayrı suda çözüp sonra karıştırırsan, döktüğün anda bütün kap sapsarı bir bulanıklıkla dolar:
Pb(NO₃)₂(suda) + 2KI(suda) →   PbI₂(k) + 2KNO₃(suda)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tanecikler ne kadar serbest? — şekil
Kurşun(II) iyonları (Pb²⁺) iyodür iyonlarıyla (I⁻) buluşunca sarı PbI₂ çöker. Katılarda iyonlar yerinde sabittir: PbI₂ yalnızca iki kristalin değdiği ince sınırda oluşur. Çözeltide iyonlar serbestçe dolaşır, her yerde karşılaşır ve sarı bulanıklık bir anda bütün kabı doldurur. Seyirci iyonlar (K⁺, NO₃⁻) çizilmedi.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tanecikler ne kadar serbest? — adım 4/5
• Buradan genel bir eğilim çıkar (kesin kural değil):
• Gaz &gt; sıvı &gt; katı: aynı maddeler için tepkime genellikle gaz hâlde en hızlı, katı hâlde en yavaştır.
• Çözeltiler hızlıdır: çözünmüş tanecikler en küçük ölçekte karışır ve çarpışma kabın her yerinde olur.
• Katı yalnızca yüzeyinden tepkir: iki katı ancak değdikleri yerde, bir katı ile bir sıvı ya da gaz ancak katının yüzeyinde buluşur.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Fiziksel hâl: tanecikler ne kadar serbest? — adım 5/5
• Son madde bir sonraki konuya kapı aralar: katıyı toz hâline getirmek yüzeyini, yani temas yüzeyini büyütür.
• Sayfanın 04 numaralı bölümünde iki karıştırma yolunu sırayla deneyip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Tepkenlerin tanecikleri ne kadar serbest hareket ediyorsa o kadar kolay karşılaşır. Gaz ve çözelti tepkimeleri genellikle hızlı, katıların tepkimeleri yavaştır; katı yalnızca yüzeyinden tepkir.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Efervesan tabletin içinde hem asit hem karbonat vardır. Tablet kutusunda neden köpürmez de suya atılınca hemen köpürür?
Sınıfa sorun, birkaç tahmin alın; sonra cevap slaytına geçin.
Cevap: Tabletteki sitrik asit ve sodyum hidrojen karbonat katıdır; tanecikleri yerinde sabittir ve birbirine ancak değdikleri küçük noktalarda ulaşır. Suya atınca ikisi de çözünür, iyonları serbestçe dolaşıp buluşur ve CO₂ kabarcıkları çıkar. Kutunun kuru tutulması bu yüzdendir: içeri giren nem, tabletleri kutuda yavaş yavaş tepkimeye sokar.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Tabletteki sitrik asit ve sodyum hidrojen karbonat katıdır; tanecikleri yerinde sabittir ve birbirine ancak değdikleri küçük noktalarda ulaşır. Suya atınca ikisi de çözünür, iyonları serbestçe dolaşıp buluşur ve CO₂ kabarcıkları çıkar. Kutunun kuru tutulması bu yüzdendir: içeri giren nem, tabletleri kutuda yavaş yavaş tepkimeye sokar.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adım 1/6
• Çarpışan arabalara dönelim.
• Piste iki araba girerse arada bir tokuşurlar; yirmi araba girerse çarpışmaların ardı arkası kesilmez.
• Pist aynı, arabaların hızı aynı; değişen yalnızca kalabalıktır.
• Tepkenlerde de durum böyledir: birim hacimdeki tanecik sayısı, yani derişim arttıkça tanecikler birbirine daha sık çarpar.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adım 2/6
• Bunu sayarak da görebilirsin.
• Bir kapta X ve Y tanecikleri olsun.
• Her X, kaptaki her Y ile karşılaşabilir: 3 X ve 3 Y varsa 3 · 3 = 9 farklı X–Y çifti vardır.
• Kabın hacmi aynı kalırken X'leri iki katına çıkarırsan çift sayısı da iki katına çıkar; ikisini birden iki katına çıkarırsan dört katına.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şekil
Her X, kaptaki her Y ile çarpışabilir; olası X–Y çiftlerinin sayısı X ve Y sayılarının çarpımıdır. Hacim aynı kaldıkça X'i iki katına çıkarmak çarpışmaları iki katına, X ile Y'yi birlikte iki katına çıkarmak dört katına çıkarır. Kabın içi kalabalıklaştıkça derişim de artmıştır.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adım 4/6
• Sıcaklık aynı kaldıkça çarpışmaların yine aynı payı etkindir; çarpışma çoğalınca etkin çarpışma da çoğalır.
• Sonuç: derişim artınca tepkime hızlanır.
• Önceki konudaki “hız zamanla azalır” gözleminin nedeni de budur: tepkenler harcandıkça derişimleri düşer, çarpışmalar seyrekleşir.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şekil
Çelik yünü havada ve saf oksijende. Havanın yalnızca yaklaşık %21'i oksijendir; saf oksijende O₂ derişimi bunun yaklaşık 5 katıdır. Aynı ince demir telleri havada tek bir noktada sönük bir korla yanarken oksijen dolu kavanozda kıvılcımlar saçarak hızla yanar: birim zamanda demir yüzeyine çarpan O₂ molekülü çok artmıştır.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kalabalık arttıkça çarpışma artar — adım 6/6
• Hastanelerde oksijen tüplerinin yanında ateş yakılmaz: oksijen derişimi yüksek havada her şey çok daha hızlı yanar.
• İki kat derişimin her zaman iki kat hız verip vermediğini ise deneyler gösterir; bunu hız denklemi konusunda göreceksin.
• Sayfanın 01 numaralı laboratuvarında tanecik sayısını ve kabın hacmini değiştirip çarpışmaları sayabilirsin.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Derişim, birim hacimdeki tanecik sayısıdır. Derişim artınca tanecikler daha sık çarpışır, etkin çarpışma da çoğalır ve tepkime hızlanır. Tepkenler harcandıkça derişim düştüğü için hız zamanla azalır.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sayıda tanecikle aynı tepkimeyi iki kat büyük bir kapta yaparsan ne olur?
Sınıfa sorun, birkaç tahmin alın; sonra cevap slaytına geçin.
Cevap: Tanecik sayısı aynı, hacim iki katı olduğu için derişimler yarıya iner. Tanecikler birbirini daha seyrek bulur, çarpışmalar azalır ve tepkime yavaşlar. Yani derişimi değiştirmek için madde eklemek ya da çıkarmak şart değildir; hacmi değiştirmek de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Tanecik sayısı aynı, hacim iki katı olduğu için derişimler yarıya iner. Tanecikler birbirini daha seyrek bulur, çarpışmalar azalır ve tepkime yavaşlar. Yani derişimi değiştirmek için madde eklemek ya da çıkarmak şart değildir; hacmi değiştirmek de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ve grafikler: derişimi hesapla ve değiştirmenin yollarını gör, kinetik enerji dağılımını oku, eşiği aşan taneciklerin sıcaklıkla nasıl çoğaldığını sayılarla hisset.
05 Derişim nasıl artırılır?
06 Sıcaklık ve kinetik enerji dağılımı
07 Eşiği aşan tanecikler
08 Sayılarla hisset: sıcaklık ne kadar fark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1/7
• Derişim, bir litredeki mol sayısıdır.
• Bağıntısı derişimi artırmanın iki yolunu birden gösterir: ya kaptaki tepken miktarını artırırsın ya da aynı miktarı daha küçük bir hacme sığdırırsın.
[X] = n / V   birim: mol/L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2/7
Formüldeki harfler ne anlama geliyor?
Sembol | Anlamı | Birimi
[X] | X maddesinin derişimi (molar derişim) | mol/L (M)
n | X'in mol sayısı | mol
V | gazın bulunduğu kabın ya da çözeltinin hacmi | L
T | mutlak sıcaklık: T = t(°C) + 273 | K
Ea | aktifleşme enerjisi; eşik enerjisi sayıca buna eşittir | kJ/mol
Hız | birim zamanda derişimdeki değişim |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3/7
• Örneğin 2 L'lik bir kapta 0,4 mol gaz varsa derişim 0,4 / 2 = 0,2 M'dir.
• Aynı kaba 0,4 mol daha eklersen 0,8 / 2 = 0,4 M olur.
• Hiç gaz eklemeden pistonu itip hacmi 1 L'ye indirirsen de 0,4 / 1 = 0,4 M olur.
• İki yol da derişimi iki katına çıkarır.
• Tepkenin hâline göre yollar şöyle: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4/7
• Gazlarda: sabit hacimde aynı gazdan eklemek ya da pistonla hacmi küçültmek. Hacim küçülünce kaptaki bütün gazların derişimi aynı oranda artar; basınç da artar.
• Çözeltilerde: çözünen madde eklemek ya da suyun bir kısmını buharlaştırmak (çözünen kapta kalır, hacim küçülür). Tersine, su eklemek çözeltiyi seyreltir ve tepkimeyi yavaşlatır.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5/7
• Katı ve saf sıvılarda: derişim değişmez. Bir katının ya da saf bir sıvının birim hacmindeki tanecik sayısını yoğunluğu belirler; ne kadar eklersen ekle aynı kalır.
• Tepkimeye katılmayan gazda: sabit hacimli kaba helyum eklemek toplam basıncı artırır ama tepkenlerin derişimini değiştirmez; hız da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şekil
Derişim, kaptaki tanecik sıklığıdır. Üst sırada gaz: aynı kaba gaz eklemek de hacmi yarıya indirmek de X'in derişimini iki katına çıkarır; helyum eklemek ise X'leri sıklaştırmaz. Gaz ve helyum eklenen kaplarda piston pimlerle sabitlenmiştir, hacim değişmez. Alt sırada çözelti: suyun yarısı buharlaşınca derişim iki katına çıkar, su eklenince yarıya iner. Kaba katı bir tepken eklemek X'in derişimini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Derişim nasıl artırılır? — adım 7/7
Dikkat: Katı eklemek derişimi değiştirmez. Hızı değiştirebilecek olan, katının tepkimeye açık yüzeyidir: ikinci bir parça eklersen yüzey de büyür ve hız artabilir. Bu ayrı bir faktördür (temas yüzeyi, sonraki konu). Yüzey aynı kaldıkça katının miktarı hızı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Derişim [X] = n / V'dir; tepken eklenerek ya da hacim küçültülerek artırılır, su eklenince azalır. Katı ve saf sıvı eklemek, sabit hacimde tepkimeye katılmayan bir gaz eklemek derişimi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Pistonu serbestçe kayabilen bir kapta tepkime yürürken kaba helyum eklenirse hız değişir mi?
Sınıfa sorun, birkaç tahmin alın; sonra cevap slaytına geçin.
Cevap: Azalır. Piston serbest olduğu için kaptaki basınç dış basınca eşit kalır; eklenen helyuma yer açmak için piston yükselir ve hacim büyür. Tepkenlerin derişimi düşer, tanecikler birbirini daha seyrek bulur. Sabit hacimli kapta ise helyum hızı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Azalır. Piston serbest olduğu için kaptaki basınç dış basınca eşit kalır; eklenen helyuma yer açmak için piston yükselir ve hacim büyür. Tepkenlerin derişimi düşer, tanecikler birbirini daha seyrek bulur. Sabit hacimli kapta ise helyum hızı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ve kinetik enerji dağılımı — adım 1/5
• Bir kaptaki gaz moleküllerinin hepsi aynı hızla gitmez.
• Çarpıştıkça bazıları hızlanır, bazıları yavaşlar.
• Herhangi bir anda çoğunun enerjisi orta değerlerdedir; çok yavaş olanlar da çok hızlı olanlar da azdır.
• Sınıftaki boy dağılımını düşün: çoğu öğrenci orta boydadır, çok kısa ve çok uzun olanlar azdır.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ve kinetik enerji dağılımı — adım 2/5
• Kaç taneciğin hangi kinetik enerjiye sahip olduğunu gösteren grafiğe kinetik enerji dağılımı denir.
• Grafiği okumanın üç kuralı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ve kinetik enerji dağılımı — adım 3/5
• Eğri sıfırdan başlar: enerjisi sıfıra çok yakın tanecik neredeyse yoktur.
• Tepe, en çok taneciğin sahip olduğu enerjiyi gösterir. Ortalama enerji tepenin sağındadır, çünkü eğrinin sağa doğru uzun bir kuyruğu vardır.
• Eğrinin altındaki alan, toplam tanecik sayısıdır. Aynı kaptaki aynı tanecikler için alan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ve kinetik enerji dağılımı — adım 4/5
• Sıcaklık artınca taneciklerin ortalama kinetik enerjisi artar ve eğri sağa kayar.
• Tanecik sayısı aynı kaldığı için eğri aynı zamanda yayılır ve tepesi alçalır.
• Ortalama kinetik enerji mutlak sıcaklıkla orantılıdır: sıcaklık 300 K'den 450 K'e çıkarsa ortalama kinetik enerji de 1,5 katına çıkar.
ortalama KE ∝ T   T (K) = t (°C) + 273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ve kinetik enerji dağılımı — şekil
Mavi eğri düşük sıcaklıkta (T₁), mor eğri 1,5 kat yüksek mutlak sıcaklıkta (T₂) aynı tanecik topluluğunu gösterir. Sıcakta tepe alçalır ve sağa kayar, eğri genişler. İki eğrinin altındaki alan eşittir, çünkü tanecik sayısı değişmemiştir; yalnızca enerjiler daha geniş bir aralığa yayılmıştır.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Bir örnekteki taneciklerin enerjileri farklıdır; dağılım eğrisinin altındaki alan tanecik sayısıdır. Sıcaklık artınca ortalama kinetik enerji artar, eğri sağa kayıp yayılır ve tepesi alçalır; alan aynı kalır.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Sıcaklık artınca dağılım eğrisinin tepesi neden alçalır? Tanecikler enerji kaybetmiyor ki?
Sınıfa sorun, birkaç tahmin alın; sonra cevap slaytına geçin.
Cevap: Tepenin alçalması tanecik ya da enerji kaybı değildir. Alan, yani tanecik sayısı değişmez; sıcaklık artınca tanecikler daha geniş bir enerji aralığına yayılır ve her enerji değerine düşen tanecik azalır. Aynı hamuru daha geniş bir tepsiye açmak gibi: hamur azalmaz, incelir.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Tepenin alçalması tanecik ya da enerji kaybı değildir. Alan, yani tanecik sayısı değişmez; sıcaklık artınca tanecikler daha geniş bir enerji aralığına yayılır ve her enerji değerine düşen tanecik azalır. Aynı hamuru daha geniş bir tepsiye açmak gibi: hamur azalmaz, incelir.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Eşiği aşan tanecikler — adım 1/4
• Çarpışan iki taneciğin tepkimeye girebilmesi için kinetik enerjilerinin toplamı eşik enerjisini aşmalıdır.
• Eşik enerjisi sayıca aktifleşme enerjisine (Ea) eşittir.
• Dağılım grafiğinde eşiği dikey bir çizgiyle gösteririz: çizginin sağında, eğrinin altında kalan alan, enerjisi yeten taneciklerin sayısıdır.
• Şimdi sıcaklığı artır ve neyin değiştiğine bak: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Eşiği aşan tanecikler — adım 2/4
• Eşik çizgisi yerinde kalır. Ea tepkimenin kendi özelliğidir; sıcaklık onu değiştirmez.
• Eşiğin sağındaki alan büyür. Eğri sağa kaydığı için kuyruk kalınlaşır; eşiği aşan tanecik sayısı katlanarak artar.
• Çarpışma sayısı da artar, ama az. Tanecikler biraz daha hızlı gider ve biraz daha sık çarpışır.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Eşiği aşan tanecikler — şekil
Eşik çizgisi iki sıcaklıkta da aynı yerdedir: sıcaklık Ea'yı değiştirmez. Değişen, çizginin sağındaki alandır. Çizimde T₂ = 1,5·T₁ alındı (örneğin 300 K ve 450 K) ve eşik, görünsün diye gerçek tepkimelerdekinden daha sola çizildi. Bu değerlerle eşiği aşan tanecikler T₁'de %5,7, T₂'de %17'dir, yani yaklaşık 3 katı.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Eşiği aşan tanecikler — adım 4/4
• Hızın sıcaklıkla bu kadar artmasının asıl nedeni ikinci maddedir.
• 25 °C'den 35 °C'ye çıkınca taneciklerin ortalama kinetik enerjisi yalnızca %3, birim zamandaki çarpışma sayısı yaklaşık %2 artar; ama Ea'sı 50 kJ/mol olan bir tepkimede eşiği aşan çarpışmaların sayısı neredeyse iki katına çıkar.
• Sayfanın 02 numaralı bölümünde sıcaklığı kaydırıp eşiğin sağındaki alanın nasıl büyüdüğünü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Eşiği aşan tanecikler, dağılım eğrisinde eşik çizgisinin sağında kalan alandır. Sıcaklık artınca eşik yerinde kalır, bu alan ise çok büyür. Hızın artmasının asıl nedeni budur; çarpışma sayısı yalnızca biraz artar.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Aktifleşme enerjisi daha büyük bir tepkimede sıcaklığı 10 °C artırmanın etkisi daha mı büyük olur, daha mı küçük?
Sınıfa sorun, birkaç tahmin alın; sonra cevap slaytına geçin.
Cevap: Daha büyük. Eşik sağa kaydıkça onu aşan tanecikler kuyruğun daha ince ucunda kalır ve sıcaklık artınca kuyruğun en ucu en çok kalınlaşır. 25 °C'den 35 °C'ye çıkınca hız, Ea = 50 kJ/mol olan bir tepkimede yaklaşık 1,9 katına, Ea = 100 kJ/mol olan bir tepkimede yaklaşık 3,7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Daha büyük. Eşik sağa kaydıkça onu aşan tanecikler kuyruğun daha ince ucunda kalır ve sıcaklık artınca kuyruğun en ucu en çok kalınlaşır. 25 °C'den 35 °C'ye çıkınca hız, Ea = 50 kJ/mol olan bir tepkimede yaklaşık 1,9 katına, Ea = 100 kJ/mol olan bir tepkimede yaklaşık 3,7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sıcaklık ne kadar fark eder? — adım 1/5
• Ea'sı 50 kJ/mol olan bir tepkime düşün; gündelik tepkimeler için tipik bir değer.
• Oda sıcaklığında bu tepkimede çarpışmaların yalnızca milyarda birkaçı eşiği aşar.
• Aşağıdaki çarpanlar 1. tepkime (Ea = 50 kJ/mol) ve 2. tepkime (Ea = 75 kJ/mol) için kimyacıların kullandığı Arrhenius bağıntısıyla hesaplandı; bağıntıyı bilmen gerekmiyor, düzene bak.
• 25 °C'deki değerler 1 alındı.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sıcaklık ne kadar fark eder? — adım 2/5
Sıcaklık | Ortalama KE | 1. tepkimenin hızı | 2. tepkimenin hızı
4 °C · buzdolabı | 0,93 | 0,22 | 0,10
25 °C · oda | 1 | 1 | 1
35 °C | 1,03 | 1,9 | 2,7
39 °C · ateşli hasta | 1,05 | 2,5 | 3,9
100 °C · kaynar su | 1,25 | ≈ 58 | ≈ 440
120 °C · düdüklü tencere | 1,32 | ≈ 130 | ≈ 1500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sıcaklık ne kadar fark eder? — adım 3/5
• Tablodan dört düzen okunur:
• Ortalama enerji az değişir: 4 °C'den 39 °C'ye çıkınca ortalama kinetik enerji yalnızca %13 artıyor (277 K'den 312 K'e).
• Hız çok değişir: aynı aralıkta 1. tepkimenin hızı 0,22'den 2,5'e, yani yaklaşık 11 katına çıkıyor.
• “10 °C kuralı” yaklaşıktır: 25 °C'den 35 °C'ye çıkınca hız 1. tepkimede 1,9, 2. tepkimede 2,7 katına çıkıyor. Oda sıcaklığı civarında birçok tepkimenin hızı her 10 °C'de yaklaşık 2–3 katına çıkar; bu kesin bir yasa değil, kaba bir gözlemdir.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sıcaklık ne kadar fark eder? — adım 4/5
• Ea büyükse sıcaklık daha etkilidir: her satırda 2. tepkimenin sütunu daha uç değerler taşıyor.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sıcaklık ne kadar fark eder? — şekil
Sıcaklık 4 °C'den 39 °C'ye çıkarken turuncu çubuklar, yani ortalama kinetik enerji, neredeyse yerinde sayar; mavi çubuklar, yani hız, yaklaşık 11 katına çıkar. Hızı belirleyen ortalama değil, eşiği aşan küçük kuyruktur. Değerler Ea = 50 kJ/mol olan bir tepkime için hesaplandı ve 25 °C'dekilere bölündü.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25 °C'den 35 °C'ye çıkınca ortalama kinetik enerji yalnızca %3 artar, ama Ea'sı 50 kJ/mol olan bir tepkimenin hızı yaklaşık iki katına çıkar. “Her 10 °C'de 2–3 kat” yaklaşık bir gözlemdir; çarpan Ea'ya bağlıdır.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sıcaklığın neyi değiştirip neyi değiştirmediğini ayır, ürün–zaman grafiklerinden faktörleri oku, bütün faktörleri tek şemada topla ve gerçek hayatta nasıl kullanıldıklarını gör.
09 Sıcaklık neyi değiştirir, neyi değiştirmez?
10 Grafikleri karşılaştırmak: ürün–zaman eğrileri
11 Faktörler bir arada
12 Hız faktörleri gerçek dünyada
Görsel: Düdüklü tencerede kuru fasulye. Kapak kilitlenince buhar dışarı kaçamaz, içerideki basınç yaklaşık iki katına çıkar ve su ancak 120 °C civarında kaynar. Açık tencerede yemek 100 °C'yi geçemezdi. Bu 20 °C'lik fark pişmeyi sağlayan tepkimeleri kabaca 2–3 kat hızlandırır ve kuru fasulye çok daha kısa sürede pişer. Vanadan fışkıran buhar, fazla basıncın güvenle dışarı atıldığını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neyi değiştirir, neyi değiştirmez? — adım 1/5
• Sıcaklık tepkime hızının en güçlü düğmesidir, ama her şeyi değiştirmez; sorularda en çok karıştırılan nokta da budur.
• Tepkimenin enerji grafiğini düşün: girenler bir enerji tepesine tırmanıp öbür yandan ürünlere iner.
• Sıcaklık bu tepeyi alçaltmaz; tepeye tırmanmaya çalışan taneciklerin enerjisini artırır.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neyi değiştirir, neyi değiştirmez? — adım 2/5
Sıcaklık artınca | Ne olur?
Ortalama kinetik enerji | artar (mutlak sıcaklıkla orantılı)
Birim zamandaki çarpışma sayısı | artar (biraz)
Eşiği aşan tanecik sayısı | artar (çok)
Tepkime hızı, hız sabiti k | artar
Aktifleşme enerjisi, eşik enerjisi | değişmez
Tepkimenin yolu, aktifleşmiş kompleks | değişmez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neyi değiştirir, neyi değiştirmez? — adım 3/5
Sıcaklık artınca | Ne olur?
Tepkime entalpisi ΔH | biraz değişir (sorularda “değişir” kabul edilir); bu küçük değişim hız artışını açıklamaz
Oluşan ürünün son miktarı | değişmez (tam verimli tepkimede)
• Tablodaki hız sabiti k, bir tepkimenin belli bir sıcaklıktaki “hızlılık katsayısıdır”: derişimlerden bağımsızdır, sıcaklıkla (ve bir sonraki konudaki katalizörle ve temas yüzeyiyle) değişir.
• Onu hız denklemi konusunda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neyi değiştirir, neyi değiştirmez? — adım 4/5
• İkinci önemli sonuç: sıcaklık bütün tepkimeleri hızlandırır, ekzotermik olanları da.
• “Ekzotermik tepkime zaten ısı veriyor, ısıtınca yavaşlar” düşüncesi yanlıştır.
• Ekzotermik tepkimenin de aşılması gereken bir Ea'sı vardır; ısıtınca onun da eşiği aşan tanecik sayısı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Sıcaklık neyi değiştirir, neyi değiştirmez? — şekil
İki tepkimede de girenler önce bir enerji tepesini aşmalıdır: Ea her zaman sıfırdan büyüktür. Sıcaklık bu tepeyi alçaltmaz; ΔH'yi yalnızca biraz değiştirir ve hızı artıran bu değişim değildir: sıcaklık tepeyi aşabilen taneciklerin sayısını artırır. Bu yüzden ekzotermik tepkime de endotermik tepkime de ısıtınca hızlanır. Çizimde iki tepkimenin Ea'sı eşit seçildi; ok boyları değerlerle orantılı.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Sıcaklık artınca ortalama kinetik enerji, çarpışma sayısı, eşiği aşan tanecik sayısı, hız ve k artar. Ea, eşik enerjisi, tepkimenin yolu ve ürünün son miktarı değişmez; ΔH biraz değişir ama hız artışını açıklamaz. Isıtmak ekzotermik tepkimeleri de hızlandırır.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Tepkime kabı soğutulursa aktifleşme enerjisi büyür mü?
Sınıfa sorun, birkaç tahmin alın; sonra cevap slaytına geçin.
Cevap: Hayır. Ea tepkimenin kendi özelliğidir; enerji tepesi soğukta da aynı yüksekliktedir. Soğutunca değişen, tepeye ulaşabilecek kadar hızlı taneciklerin sayısıdır: dağılım eğrisi sola kayar, eşiğin sağındaki alan küçülür ve tepkime yavaşlar. Ea'yı değiştirebilen tek faktör, bir sonraki konudaki katalizördür.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Ea tepkimenin kendi özelliğidir; enerji tepesi soğukta da aynı yüksekliktedir. Soğutunca değişen, tepeye ulaşabilecek kadar hızlı taneciklerin sayısıdır: dağılım eğrisi sola kayar, eşiğin sağındaki alan küçülür ve tepkime yavaşlar. Ea'yı değiştirebilen tek faktör, bir sonraki konudaki katalizördür.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Grafikleri karşılaştırmak: ürün–zaman eğrileri — adım 1/5
• Faktörler sorularda çoğu zaman bir ürün–zaman grafiğiyle gelir: aynı tepkime farklı koşullarda yapılmıştır.
• Böyle bir grafikte iki şeye ayrı ayrı bakılır:
• Başlangıçtaki eğim hızı gösterir. Eğri ne kadar dik başlıyorsa tepkime o kadar hızlıdır. Sıcaklık ve derişim (bir sonraki konuda katalizör ve temas yüzeyi de) eğimi değiştirir.
• Eğrinin düzleştiği yükseklik ürünün son miktarını gösterir. Bu miktarı hız değil, sınırlayıcı tepkenin, yani önce tükenen tepkenin miktarı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Grafikleri karşılaştırmak: ürün–zaman eğrileri — adım 2/5
• Bir örnek alalım: X(suda) + Y(suda) → Z(suda).
• Kapta 0,1 mol X ve bundan çok daha fazla Y olsun.
• X sınırlayıcıdır; en çok 0,1 mol Z oluşabilir.
• Koşulları tek tek değiştirelim: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Grafikleri karşılaştırmak: ürün–zaman eğrileri — adım 3/5
• Daha sıcakta: eğri daha dik başlar, yine 0,1 molde düzleşir.
• Su eklenirse: derişimler düşer ve eğri daha yatık başlar; X'in mol sayısı değişmediği için daha geç de olsa yine 0,1 molde düzleşir.
• Aşırı olan Y'den eklenirse: Y'nin derişimi artar, eğri daha dik başlar; son miktar yine 0,1 moldür, çünkü X değişmedi.
• Sınırlayıcı X'ten eklenirse: eğri hem daha dik başlar hem daha yüksekte, 0,2 molde düzleşir.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Grafikleri karşılaştırmak: ürün–zaman eğrileri — şekil
Solda X'in miktarı aynı: ısıtmak eğriyi dikleştirir, su eklemek yatıklaştırır, ama üç eğri de 0,1 molde düzleşir. Sağda sınırlayıcı tepken X iki katına çıkarılınca eğri daha dik başlar ve 0,2 molde düzleşir. Eğim hızı, son yükseklik sınırlayıcı tepkenin miktarını gösterir. Eğriler, Y'nin X'ten çok daha fazla olduğu kabulüyle hesaplandı.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Grafikleri karşılaştırmak: ürün–zaman eğrileri — adım 5/5
• Kısa yol: “Kaç mol ürün oluşur?” sorusunu stokiyometriyle, yani sınırlayıcı tepkenle; “hangisi önce biter?” sorusunu hız faktörleriyle çöz.
• Bu iki soruyu birbirinden ayırmak, bu konudaki en önemli beceridir.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Ürün–zaman grafiğinde başlangıç eğimi hızı, eğrinin düzleştiği yükseklik ürünün son miktarını gösterir. Hız faktörleri eğimi değiştirir; son miktarı yalnızca sınırlayıcı tepkenin miktarı belirler.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İki deneyin ürün–zaman eğrileri farklı eğimle başlayıp aynı yükseklikte düzleşiyorsa iki deneyde ne aynıdır?
Sınıfa sorun, birkaç tahmin alın; sonra cevap slaytına geçin.
Cevap: Sınırlayıcı tepkenin mol sayısı aynıdır; son ürün miktarını o belirler. Eğimlerin farklı olması ise deneylerin sıcaklığının ya da derişiminin farklı olduğunu gösterir. Örneğin aynı miktar asit bir deneyde derişik, öbüründe seyreltik bir çözelti hâlinde kullanılmış olabilir: asidin molü aynı, derişimi farklıdır.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Sınırlayıcı tepkenin mol sayısı aynıdır; son ürün miktarını o belirler. Eğimlerin farklı olması ise deneylerin sıcaklığının ya da derişiminin farklı olduğunu gösterir. Örneğin aynı miktar asit bir deneyde derişik, öbüründe seyreltik bir çözelti hâlinde kullanılmış olabilir: asidin molü aynı, derişimi farklıdır.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Faktörler bir arada — adım 1/5
• Dört faktör de aynı kapıdan geçer: birim zamandaki etkin çarpışma sayısı.
• Ama kapıya farklı yollardan ulaşırlar.
• Derişim ve fiziksel hâl çarpışmaların sayısını değiştirir; sıcaklık hem çarpışma sayısını hem de eşiği aşan taneciklerin payını değiştirir; maddenin cinsi ise eşiğin kendisini, yani Ea'yı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Faktörler bir arada — şekil
Bütün yollar aynı yere çıkar: birim zamandaki etkin çarpışma sayısına. Derişim ve fiziksel hâl çarpışmaları çoğaltır; sıcaklık çarpışmaları biraz, eşiği aşan taneciklerin payını çok artırır; maddenin cinsi Ea'yı ve dolayısıyla eşiği aşan payı belirler. Katalizör ve temas yüzeyi bir sonraki konuda bu şemaya eklenecek.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Faktörler bir arada — adım 3/5
• Aynı tepkimede derişimin ve sıcaklığın etkilerini yan yana koyalım: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Faktörler bir arada — adım 4/5
Nicelik | Derişim ↑ | Sıcaklık ↑
Birim zamanda çarpışma sayısı | artar | artar (biraz)
Ortalama kinetik enerji | değişmez | artar
Eşiği aşan tanecik payı | değişmez | artar (çok)
Aktifleşme enerjisi Ea | değişmez | değişmez
Hız sabiti k | değişmez | artar
Tepkime hızı | artar |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Faktörler bir arada — adım 5/5
• “Eşiği aşan tanecik payı” ile “sayısı” arasındaki farka dikkat et.
• Derişim artınca kaptaki tanecik sayısı artar, eşiği aşanların sayısı da artar; ama payı, yani yüzdesi aynı kalır.
• Sıcaklık ise payın kendisini büyütür.
• Bir sonraki konudaki katalizör de k'yı artırır, ama bunu sıcaklıktan farklı olarak Ea'yı düşürerek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Derişim ve fiziksel hâl çarpışma sayısını, sıcaklık hem çarpışma sayısını hem eşiği aşan payı değiştirir; maddenin cinsi Ea'yı belirler. Derişim k'yı değiştirmez; sıcaklık k'yı artırır ama Ea'yı değiştirmez.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faktörleri gerçek dünyada — adım 1/5
• İnsanlar tepkime hızını yüzyıllardır bilerek ayarlar: kimi zaman bozulmayı geciktirmek, kimi zaman pişirmeyi ya da yakmayı hızlandırmak için.
• Mutfaktaki en bilinen örnek düdüklü tenceredir.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faktörleri gerçek dünyada — adım 2/5
• Buzdolabı ve dondurucu: 4 °C'de bozulma tepkimeleri oda sıcaklığındakine göre birkaç kat, −18 °C'lik dondurucuda onlarca kat yavaş yürür. Yiyecek yine bozulur, ama çok daha geç.
• Düdüklü tencere: 100 °C'den 120 °C'ye çıkmak, Ea'sı 50 kJ/mol olan bir tepkimeyi yaklaşık 2,3 kat, 75 kJ/mol olanı yaklaşık 3,4 kat hızlandırır. Yüksek sıcaklıkta aynı 10 °C'nin etkisi küçülür: 100 °C civarında her 10 °C hızı ≈ 1,5–1,9 katına çıkarır; “2–3 kat” kuralı oda sıcaklığı içindir.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faktörleri gerçek dünyada — adım 3/5
• Saf oksijende yanma: oksijen derişimi havadakinin yaklaşık 5 katı olunca közlü bir kıymık alev alır, çelik yünü kıvılcım saçar. Kaynakçılar bu yüzden asetileni havayla değil saf oksijenle yakar.
• Ateşli hastalık: vücut sıcaklığı 37 °C'den 39 °C'ye çıkınca birçok tepkime yaklaşık %10–20 hızlanır; kalp ve solunum hızlanır, vücut daha çok enerji harcar. Çok yüksek ateş ise tepkimeleri yöneten enzimlerin yapısını bozabilir; bu yüzden tehlikelidir.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faktörleri gerçek dünyada — adım 4/5
• Paketleme: cips paketleri azotla doldurulur. Paketteki oksijen derişimi çok düştüğü için yağların oksijenle bozulması, yani acıması yavaşlar; vakumlu paketler de aynı işi görür.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Hız faktörleri gerçek dünyada — şekil
Dört gündelik araç, iki düğme. Buzdolabı ve düdüklü tencere sıcaklığı, saf oksijen ve azotlu paket derişimi değiştirir. Hepsi aynı ilkeyle çalışır: birim zamandaki etkin çarpışma sayısını azaltmak ya da artırmak.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Buzdolabı sıcaklığı düşürüp bozulmayı yavaşlatır, düdüklü tencere sıcaklığı yükseltip pişmeyi hızlandırır. Saf oksijen yanmayı hızlandırır, azotlu paket oksijeni azaltıp bozulmayı geciktirir; ateş vücuttaki tepkimeleri hızlandırır.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Düdüklü tencere yüksek bir dağ köyünde neden daha da çok işe yarar?
Sınıfa sorun, birkaç tahmin alın; sonra cevap slaytına geçin.
Cevap: Yükseklerde hava basıncı düşüktür ve açık tencerede su 100 °C'ye ulaşmadan kaynar; örneğin 3000 m yükseklikte yaklaşık 90 °C'de. Yemek bu daha düşük sıcaklıkta çok yavaş pişer. Düdüklü tencere içerideki basıncı yükselterek suyun sıcaklığını yeniden 100 °C'nin üstüne çıkarır.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Yükseklerde hava basıncı düşüktür ve açık tencerede su 100 °C'ye ulaşmadan kaynar; örneğin 3000 m yükseklikte yaklaşık 90 °C'de. Yemek bu daha düşük sıcaklıkta çok yavaş pişer. Düdüklü tencere içerideki basıncı yükselterek suyun sıcaklığını yeniden 100 °C'nin üstüne çıkarır.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kendin çözeceğin sorular ve hız faktörleri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Üç kapta hız sıralaması
Aynı sıcaklıktaki üç kapta X(g) + Y(g) → Z(g) tepkimesi yürüyor: kap I (1 L) 0,2 mol X ve 0,4 mol Y, kap II (1 L) 0,4 mol X ve 0,4 mol Y, kap III (2 L) 0,4 mol X ve 0,4 mol Y içeriyor. Başlangıç hızlarını büyükten küçüğe sıralayınız.
Durum çizimi: Durum: I ve II eşit hacimli, III iki kat büyük kaplardır; her tanecik 0,1 molü gösterir. Tanecik sayıları verildi, kaplardaki hızların sırası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Üç kapta hız sıralaması
Aynı sıcaklıktaki üç kapta X(g) + Y(g) → Z(g) tepkimesi yürüyor: kap I (1 L) 0,2 mol X ve 0,4 mol Y, kap II (1 L) 0,4 mol X ve 0,4 mol Y, kap III (2 L) 0,4 mol X ve 0,4 mol Y içeriyor. Başlangıç hızlarını büyükten küçüğe sıralayınız.
Verilenler: I: V = 1 L, n(X) = 0,2 mol, n(Y) = 0,4 mol · II: V = 1 L, n(X) = 0,4 mol, n(Y) = 0,4 mol · III: V = 2 L, n(X) = 0,4 mol, n(Y) = 0,4 mol · sıcaklık aynı
İstenen: üç kaptaki başlangıç hızlarının büyükten küçüğe sırası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Üç kapta hız sıralaması — çözüm
1. Derişimleri bul, [X] = n / V: I'de [X] = 0,2 M, [Y] = 0,4 M; II'de [X] = 0,4 M, [Y] = 0,4 M; III'te [X] = 0,2 M, [Y] = 0,2 M.
2. II ile I: [Y] eşit, [X] II'de büyük → II &gt; I.
3. I ile III: [X] eşit, [Y] I'de büyük → I &gt; 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Üç kapta hız sıralaması — çözüm
4. Sıralama: II &gt; I &gt; III.
5. Kontrol: III'te tanecik sayısı II ile aynı, ama hacim iki katı: tanecikler seyrek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Çözeltiye ne eklenirse hız artar?
Bir beherde 100 mL 1 M HCl çözeltisine magnezyum şerit atılmış ve Mg(k) + 2HCl(suda) → MgCl₂(suda) + H₂(g) tepkimesi yürüyor. Aşağıdaki işlemler ayrı ayrı yapılırsa tepkime hızı nasıl değişir? I. 100 mL saf su eklemek. II. 100 mL 1 M HCl eklemek. III. 100 mL 2 M HCl eklemek. IV. Beheri sıcak su banyosuna koymak.
Durum çizimi: Durum: beherde 100 mL 1 M HCl ve bir magnezyum şerit var. Dört işlem ayrı ayrı deneniyor; her birinden sonra hızın nasıl değişeceği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Çözeltiye ne eklenirse hız artar?
Bir beherde 100 mL 1 M HCl çözeltisine magnezyum şerit atılmış ve Mg(k) + 2HCl(suda) → MgCl₂(suda) + H₂(g) tepkimesi yürüyor. Aşağıdaki işlemler ayrı ayrı yapılırsa tepkime hızı nasıl değişir? I. 100 mL saf su eklemek. II. 100 mL 1 M HCl eklemek. III. 100 mL 2 M HCl eklemek. IV. Beheri sıcak su banyosuna koymak.
Verilenler: başlangıç: 100 mL, 1 M HCl → n(HCl) = 0,1 mol · Mg şerit aynı kalıyor · eklenen her çözelti 100 mL
İstenen: dört işlemin her birinde hızın artıp azaldığı ya da değişmediği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Çözeltiye ne eklenirse hız artar? — çözüm
1. Mg katıdır; hızı asidin derişimi ve sıcaklık belirler. Her işlemden sonra yeni derişimi bul: [HCl] = n / V.
2. I: 0,1 mol / 0,2 L = 0,5 M → derişim yarıya iner, hız azalır.
3. II: (0,1 + 0,1) mol / 0,2 L = 1 M → derişim aynı, hız değişmez; yalnızca toplam asit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Çözeltiye ne eklenirse hız artar? — çözüm
4. III: (0,1 + 0,2) mol / 0,2 L = 1,5 M → derişim artar, hız artar.
5. IV: sıcaklık artınca eşiği aşan tanecik sayısı artar →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Pistonlu kap ve helyum
Pistonlu bir kapta, yüksek ve sabit bir sıcaklıkta H₂(g) + I₂(g) → 2HI(g) tepkimesi yürüyor. Aşağıdaki işlemler ayrı ayrı yapılırsa tepkime hızı nasıl değişir? I. Pistonu itip hacmi yarıya indirmek. II. Pistonu sabitleyip kaba He eklemek. III. Piston serbestken kaba He eklemek. IV. Pistonu sabitleyip kaba H₂ eklemek.
Durum çizimi: Durum: pistonlu kapta H₂ ve I₂ molekülleri var. Dört işlem ayrı ayrı uygulanıyor; her birinden sonra hızın nasıl değişeceği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Pistonlu kap ve helyum
Pistonlu bir kapta, yüksek ve sabit bir sıcaklıkta H₂(g) + I₂(g) → 2HI(g) tepkimesi yürüyor. Aşağıdaki işlemler ayrı ayrı yapılırsa tepkime hızı nasıl değişir? I. Pistonu itip hacmi yarıya indirmek. II. Pistonu sabitleyip kaba He eklemek. III. Piston serbestken kaba He eklemek. IV. Pistonu sabitleyip kaba H₂ eklemek.
Verilenler: tepkenler H₂ ve I₂ gazları · sıcaklık sabit · He tepkimeye katılmaz · serbest piston, kaptaki basıncı dış basınca eşit tutar
İstenen: dört işlemin her birinde hızın değişimi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Pistonlu kap ve helyum — çözüm
1. Hızı tepkenlerin derişimleri belirler: [X] = n / V. Her işlemde H₂ ve I₂'nin n'sine ve kabın V'sine bak.
2. I: n aynı, V yarıya iniyor → [H₂] ve [I₂] iki katına çıkar → hız artar.
3. II: V sabit, H₂ ve I₂'nin molü aynı → derişimler aynı → hız değişmez (toplam basınç artsa 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Pistonlu kap ve helyum — çözüm
4. III: basınç sabit kalsın diye piston yükselir, V büyür → derişimler düşer → hız azalır.
5. IV: V sabit, n(H₂) artıyor → [H₂] artar →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Dağılım grafiğini okumak
Aynı gaz örneğinin iki farklı sıcaklıktaki kinetik enerji dağılımı grafikte 1 ve 2 numaralı eğrilerle gösterilmiştir; dikey çizgi tepkimenin eşik enerjisidir. (a) Hangi eğri daha yüksek sıcaklığa aittir? (b) Eşik enerjisi iki durumda farklı mıdır? (c) Hangi durumda tepkime daha hızlıdır? (d) İki eğrinin altındaki alanlar nasıldır?
Durum çizimi: Durum: aynı gaz örneğinin iki dağılım eğrisi ve tepkimenin eşik enerjisi verildi. Hangi eğrinin daha sıcak olduğu ve hangi durumda tepkimenin daha hızlı yürüdüğü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Dağılım grafiğini okumak
Aynı gaz örneğinin iki farklı sıcaklıktaki kinetik enerji dağılımı grafikte 1 ve 2 numaralı eğrilerle gösterilmiştir; dikey çizgi tepkimenin eşik enerjisidir. (a) Hangi eğri daha yüksek sıcaklığa aittir? (b) Eşik enerjisi iki durumda farklı mıdır? (c) Hangi durumda tepkime daha hızlıdır? (d) İki eğrinin altındaki alanlar nasıldır?
Verilenler: aynı örnek, iki sıcaklık · eğri 1'in tepesi yüksek ve solda · eğri 2'nin tepesi alçak, sağda ve eğri yayvan · tek bir eşik çizgisi
İstenen: (a) sıcak olan eğri · (b) eşik enerjisinin değişip değişmediği · (c) hızlı olan durum · (d) alanların karşılaştırması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Dağılım grafiğini okumak — çözüm
1. (a) Sıcaklık artınca eğri sağa kayar, yayılır ve tepesi alçalır → eğri 2 daha yüksek sıcaklıktadır.
2. (b) Eşik enerjisi sayıca Ea'ya eşittir ve sıcaklıkla değişmez → iki durumda aynıdır; grafikte de tek bir eşik çizgisi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Dağılım grafiğini okumak — çözüm
3. (c) Eşiğin sağında eğri 2'nin altında kalan alan daha büyük → eşiği aşan tanecik daha çok → tepkime eğri 2'nin sıcaklığında daha hızlıdır.
4. (d) İki eğri de aynı örneğin toplam tanecik sayısını gösterir → alanlar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“Her 10 °C'de 2 kat” kabulüyle süre
Bir tepkime 20 °C'de 40 dakikada tamamlanıyor. Bu sıcaklık aralığında hızın her 10 °C'lik artışta 2 katına çıktığı kabul ediliyor. Aynı madde miktarlarıyla tepkime (a) 40 °C'de, (b) 10 °C'de yaklaşık kaç dakikada tamamlanır?
Durum çizimi: Durum: tepkime 20 °C'de 40 dakika sürüyor. Aynı tepkimenin 40 °C'de ve 10 °C'de ne kadar süreceği soruluyor; her 10 °C'de hızın 2 katına çıktığı kabul ediliyor.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“Her 10 °C'de 2 kat” kabulüyle süre
Bir tepkime 20 °C'de 40 dakikada tamamlanıyor. Bu sıcaklık aralığında hızın her 10 °C'lik artışta 2 katına çıktığı kabul ediliyor. Aynı madde miktarlarıyla tepkime (a) 40 °C'de, (b) 10 °C'de yaklaşık kaç dakikada tamamlanır?
Verilenler: 20 °C'de süre 40 dk · her +10 °C'de hız ×2 (sorunun kabulü) · madde miktarları aynı
İstenen: (a) 40 °C'deki süre · (b) 10 °C'deki süre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“Her 10 °C'de 2 kat” kabulüyle süre — çözüm
1. Madde miktarı aynı olduğu için hız kaç katına çıkarsa süre o kadar kısalır: süre hızla ters orantılıdır.
2. (a) 20 °C'den 40 °C'ye iki tane 10 °C'lik adım var → hız 2 · 2 = 4 katına çıkar.
3. Süre: 40 / 4 = 10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“Her 10 °C'de 2 kat” kabulüyle süre — çözüm
4. (b) 20 °C'den 10 °C'ye bir adım aşağı → hız yarıya iner, süre iki katına çıkar: 40 · 2 = 80 dakika.
5. Not: “her 10 °C'de 2 kat” bu sorunun kabulüdür; gerçek çarpan tepkimenin Ea'sına bağlıdır ve çoğunlukla 2 ile 3 arasındadır.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Mermer ve asit: eğrileri eşleştir
Aşırı miktarda (20 g) mermer parçalarına üç deneyde HCl çözeltisi ekleniyor: CaCO₃(k) + 2HCl(suda) → CaCl₂(suda) + H₂O(s) + CO₂(g). Deney 1: 100 mL 1 M HCl, 25 °C. Deney 2: 100 mL 2 M HCl, 25 °C. Deney 3: 100 mL 1 M HCl, 45 °C. Mermer parçaları her deneyde aynı büyüklüktedir. Grafikteki a, b ve c eğrilerini deneylerle eşleştiriniz ve her deneyde oluşan CO₂'nin kütlesini bulunuz. (CaCO₃ = 100 g/mol, CO₂ = 44 g/mol)
Durum çizimi: Durum: üç deneyde oluşan CO₂ kütlesinin zamanla değişimi a, b ve c eğrileriyle verildi. Eğrilerin hangi deneye ait olduğu ve eğrilerin düzleştiği iki kütle değeri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Mermer ve asit: eğrileri eşleştir
Aşırı miktarda (20 g) mermer parçalarına üç deneyde HCl çözeltisi ekleniyor: CaCO₃(k) + 2HCl(suda) → CaCl₂(suda) + H₂O(s) + CO₂(g). Deney 1: 100 mL 1 M HCl, 25 °C. Deney 2: 100 mL 2 M HCl, 25 °C. Deney 3: 100 mL 1 M HCl, 45 °C. Mermer parçaları her deneyde aynı büyüklüktedir. Grafikteki a, b ve c eğrilerini deneylerle eşleştiriniz ve her deneyde oluşan CO₂'nin kütlesini bulunuz. (CaCO₃ = 100 g/mol, CO₂ = 44 g/mol)
Verilenler: m(CaCO₃) = 20 g (aşırı) · D1: 0,1 L, 1 M, 25 °C · D2: 0,1 L, 2 M, 25 °C · D3: 0,1 L, 1 M, 45 °C · mermer parçaları aynı · M(CaCO₃) = 100 g/mol, M(CO₂) = 44 g/mol
İstenen: a, b, c eğrilerinin hangi deneye ait olduğu · her deneyde oluşan CO₂ kütlesi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Mermer ve asit: eğrileri eşleştir — çözüm
1. Mol sayıları: n(HCl) = M · V → D1: 0,1 mol; D2: 0,2 mol; D3: 0,1 mol. Mermer: 20 / 100 = 0,2 mol; en çok 0,1 mol gerekir, her deneyde aşırıdır.
2. HCl sınırlayıcıdır: n(CO₂) = n(HCl) / 2 → D1 ve D3'te 0,05 mol, D2'de 0,10 mol.
3. Kütleler: 0,05 · 44 = 2,2 g (D1 ve D3); 0,10 · 44 = 4,4 g (D2).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Mermer ve asit: eğrileri eşleştir — çözüm
4. En yüksekte düzleşen b eğrisi D2'dir. a ile c aynı yükseklikte, 2,2 g'da düzleşir: daha dik başlayan a, sıcak olan D3'tür; c ise D1'dir.
5. Kontrol: D2'de asit hem daha çok hem daha derişik; b bu yüzden c'den dik başlar ve iki kat yüksekte düzleşir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Hızlı başlayan, çok ürün verir mi?
Aynı sıcaklıktaki iki kapta X(g) + 2Y(g) → Z(g) tepkimesi tam verimle yürüyor: kap I (1 L) 0,2 mol X ve 0,6 mol Y, kap II (2 L) 0,4 mol X ve 0,6 mol Y içeriyor. (a) Hangi kapta tepkime daha hızlı başlar? (b) Tepkime bitince her kapta kaç mol Z oluşur? (c) Hangi kapta daha çok ürün oluşur?
Durum çizimi: Durum: 1 L'lik kap I'de 2 X ve 6 Y, 2 L'lik kap II'de 4 X ve 6 Y tanecik var; her tanecik 0,1 mol. Hangi kapta tepkimenin daha hızlı başlayacağı ve her kapta kaç mol Z oluşacağı soruluyor.
Önce çizimi birlikte okuyun: ne verilmiş, ne soruluyor?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Hızlı başlayan, çok ürün verir mi?
Aynı sıcaklıktaki iki kapta X(g) + 2Y(g) → Z(g) tepkimesi tam verimle yürüyor: kap I (1 L) 0,2 mol X ve 0,6 mol Y, kap II (2 L) 0,4 mol X ve 0,6 mol Y içeriyor. (a) Hangi kapta tepkime daha hızlı başlar? (b) Tepkime bitince her kapta kaç mol Z oluşur? (c) Hangi kapta daha çok ürün oluşur?
Verilenler: I: V = 1 L, n(X) = 0,2 mol, n(Y) = 0,6 mol · II: V = 2 L, n(X) = 0,4 mol, n(Y) = 0,6 mol · katsayılar 1 : 2 : 1 · tam verim
İstenen: (a) hızlı başlayan kap · (b) her kapta oluşan Z (mol) · (c) çok ürün veren kap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Hızlı başlayan, çok ürün verir mi? — çözüm
1. Derişimler: I'de [X] = 0,2 M, [Y] = 0,6 M; II'de [X] = 0,4 / 2 = 0,2 M, [Y] = 0,6 / 2 = 0,3 M.
2. (a) [X] eşit, [Y] I'de büyük → tepkime kap I'de daha hızlı başlar.
3. (b) Kap I: 0,2 mol X için 0,4 mol Y gerekir, 0,6 mol var → X sınırlayıcıdır → 0,2 mol 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Hızlı başlayan, çok ürün verir mi? — çözüm
4. Kap II: 0,4 mol X için 0,8 mol Y gerekir, yalnızca 0,6 mol var → Y sınırlayıcıdır → 0,6 / 2 = 0,3 mol Z; 0,1 mol X artar.
5. (c) Daha çok ürün kap II'de oluşur (0,3 mol &gt; 0,2 mol), oysa kap I daha hızlıdır: hız ile ürün miktarı ayrı sorulardır.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Aynı koşullarda hangisi daha hızlı yürür: Ba²⁺(suda) + SO₄²⁻(suda) → BaSO₄(k) mi, bir demir çivinin paslanması mı?
Öğrencilere 2–3 dakika verin; sonra cevap slaytını açın.
Cevap: Cevap: Baryum sülfatın çökmesi. Zıt yüklü iyonlar çözeltide birbirini çeker ve kırılacak bir bağ yoktur; tepkime çözeltiler karıştığı anda olur. Paslanma ise katı bir yüzeyde, bağların kırılmasını gerektiren yavaş bir tepkimedir.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Baryum sülfatın çökmesi. Zıt yüklü iyonlar çözeltide birbirini çeker ve kırılacak bir bağ yoktur; tepkime çözeltiler karıştığı anda olur. Paslanma ise katı bir yüzeyde, bağların kırılmasını gerektiren yavaş bir tepkimedir.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3 L'lik bir kapta 0,6 mol gaz var. Piston itilerek hacim 1 L'ye indirilirse gazın derişimi kaç M olur, hız nasıl değişir?
Öğrencilere 2–3 dakika verin; sonra cevap slaytını açın.
Cevap: Cevap: Önce [X] = 0,6 / 3 = 0,2 M, sonra 0,6 / 1 = 0,6 M. Derişim 3 katına çıkar; tanecikler daha sık çarpışır ve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Önce [X] = 0,6 / 3 = 0,2 M, sonra 0,6 / 1 = 0,6 M. Derişim 3 katına çıkar; tanecikler daha sık çarpışır ve hız artar.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Hızı her 10 °C'de yaklaşık 3 katına çıkan bir tepkime 30 °C'de 6 dakikada bitiyor. 10 °C'de yaklaşık kaç dakikada biter?
Öğrencilere 2–3 dakika verin; sonra cevap slaytını açın.
Cevap: Cevap: 30 °C'den 10 °C'ye iki adım iner: hız 3 · 3 = 9'da birine düşer, süre 9 katına çıkar: 6 · 9 = 54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30 °C'den 10 °C'ye iki adım iner: hız 3 · 3 = 9'da birine düşer, süre 9 katına çıkar: 6 · 9 = 54 dakika.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Ekzotermik bir tepkimenin sıcaklığı 20 °C'den 40 °C'ye çıkarılıyor. Ea, ΔH ve tepkime hızı nasıl değişir?
Öğrencilere 2–3 dakika verin; sonra cevap slaytını açın.
Cevap: Cevap: Ea değişmez; ΔH sıcaklıkla biraz değişir (sorularda “değişir” kabul edilir), ama bu küçük değişim hız artışını açıklamaz; hız artar, çünkü eşiği aşan tanecik payı büyür. Tepkimenin ekzotermik olması bunu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Ea değişmez; ΔH sıcaklıkla biraz değişir (sorularda “değişir” kabul edilir), ama bu küçük değişim hız artışını açıklamaz; hız artar, çünkü eşiği aşan tanecik payı büyür. Tepkimenin ekzotermik olması bunu değiştirmez.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0,24 g Mg şerit 50 mL 0,2 M HCl ile tepkimeye giriyor. Aynı şerit 50 mL 0,4 M HCl'ye atılsaydı hız ve oluşan H₂'nin mol sayısı nasıl değişirdi? (Mg = 24 g/mol)
Öğrencilere 2–3 dakika verin; sonra cevap slaytını açın.
Cevap: Cevap: n(Mg) = 0,24 / 24 = 0,01 mol. 0,2 M'de n(HCl) = 0,2 · 0,05 = 0,01 mol; 0,01 mol Mg için 0,02 mol HCl gerekir, HCl sınırlayıcıdır: n(H₂) = 0,01 / 2 = 0,005 mol. 0,4 M'de n(HCl) = 0,02 mol ve tam yeter: n(H₂) = 0,01 mol. Derişim iki katı olduğu için hız artar; H₂ de iki katına, 0,005 molden 0,01 mole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n(Mg) = 0,24 / 24 = 0,01 mol. 0,2 M'de n(HCl) = 0,2 · 0,05 = 0,01 mol; 0,01 mol Mg için 0,02 mol HCl gerekir, HCl sınırlayıcıdır: n(H₂) = 0,01 / 2 = 0,005 mol. 0,4 M'de n(HCl) = 0,02 mol ve tam yeter: n(H₂) = 0,01 mol. Derişim iki katı olduğu için hız artar; H₂ de iki katına, 0,005 molden 0,01 mole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“Katı tepken eklemek hızı artırır.” Katının derişimi değişmez; yüzeyi aynı kaldıkça katı eklemek hızı değiştirmez. Yüzey büyürse hız artabilir, ama bu temas yüzeyinin etkisidir (sonraki konu).
• “Sıcaklık aktifleşme enerjisini düşürür.” Ea ve eşik enerjisi sıcaklıkla değişmez; değişen, eşiği aşabilen taneciklerin sayısıdır. Ea'yı düşüren katalizördür.
• “Ekzotermik tepkime ısıtılınca yavaşlar.” Her tepkimenin bir Ea'sı vardır; sıcaklık artınca ekzotermik ya da endotermik, bütün tepkimeler hızlanır.
• “Sıcaklık hızı yalnızca çarpışmaları çoğaltarak artırır.” Çarpışma sayısı biraz artar (+10 °C'de yaklaşık %2); asıl etki, eşiği aşan tanecik payının katlanmasıdır.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“Sıcak eğrinin tepesi daha yüksektir.” Sıcaklık artınca dağılımın tepesi alçalır ve sağa kayar; eğrinin altındaki alan aynı kalır.
• “Hızlı yürüyen tepkime daha çok ürün verir.” Son ürün miktarını sınırlayıcı tepken belirler; hız yalnızca ürünün ne kadar çabuk oluştuğunu söyler.
• “Aynı derişimde çözelti eklemek hızı artırır.” Derişim değişmediği için hız da değişmez; yalnızca toplam tepken miktarı artar.
• “Sabit hacimli kaba helyum eklemek basıncı artırdığı için hızı artırır.” Tepkenlerin derişimi değişmez, hız da değişmez. Pistonu serbest bir kapta ise hacim büyür ve hız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İyonlar arası: çok hızlı · Gaz &gt; sıvı &gt; katı · Derişim ↑: çarpışma ↑ · Sıcaklık ↑: her tepkime hızlanır
Hız ∝ etkin çarpışma sayısı — bütün faktörlerin ortak yolu
[X] = n / V — molar derişim (mol/L)
Sıcaklık ↑ → eşiği aşan pay ↑ — enerji dağılımı yayılır
+10 °C → hız ≈ 2–3 katı — oda sıcaklığında, yaklaşık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pn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pn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slideLayout" Target="../slideLayouts/slideLayout1.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pn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1d623a45-0112-427a-9abb-0c648368bda2/scratchpad/sunum/sekiller/hiz-faktorler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kimya</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KİMYASAL TEPKİMELERDE HIZ · KONU 03</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Tepkime hızına etki eden faktörler</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Aynı tepkime buzdolabında yavaş, sıcakta hızlı yürür; seyreltik çözeltide ağır, derişikte çabuk ilerler. Tepkenlerin cinsi ve fiziksel hâli, derişim ve sıcaklık: hepsi birim zamandaki etkin çarpışma sayısını değiştirir.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dersler.perinet.org/hiz-faktorleri.html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Süt neden buzdolabında günlerce dayanır da yaz sıcağında masada bir günde ekşir?</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Aynı ışık çubuğu neden sıcak suda göz kamaştırır, buzlu suda sönük kalır?</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Lunaparktaki çarpışan arabaları düşün: piste ne kadar çok araba girerse ve arabalar ne kadar hızlı giderse o kadar sık, o kadar sert tokuşurlar.</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Tepkimenin hızını da birim zamandaki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etkin çarpışma</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sayısı belirler; bu sayıyı tepkenlerin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cinsi</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fiziksel hâli</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derişimi</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ve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sıcaklık</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ayarlar.</a:t>
            </a:r>
            <a:endParaRPr lang="en-US" sz="20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aynı tepkimenin neden bazen hızlı, bazen yavaş yürüdüğünü gündelik gözlemlerle gör; maddenin cinsini, fiziksel hâlini ve derişimi formülsüz tanı.</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aynı tepkime, farklı hızlar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Maddenin cinsi: her tepkimenin kendi hızı</a:t>
            </a:r>
            <a:endParaRPr lang="en-US" sz="120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Fiziksel hâl: tanecikler ne kadar serbest?</a:t>
            </a:r>
            <a:endParaRPr lang="en-US" sz="11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Derişim: kalabalık arttıkça çarpışma artar</a:t>
            </a:r>
            <a:endParaRPr lang="en-US" sz="11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Bağıntılar ve grafikler: derişimi hesapla ve değiştirmenin yollarını gör, kinetik enerji dağılımını oku, eşiği aşan taneciklerin sıcaklıkla nasıl çoğaldığını sayılarla hisset.</a:t>
            </a:r>
            <a:endParaRPr lang="en-US" sz="9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Derişim nasıl artırılır?</a:t>
            </a:r>
            <a:endParaRPr lang="en-US" sz="125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Sıcaklık ve kinetik enerji dağılımı</a:t>
            </a:r>
            <a:endParaRPr lang="en-US" sz="12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Eşiği aşan tanecikler</a:t>
            </a:r>
            <a:endParaRPr lang="en-US" sz="12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sıcaklık ne kadar fark eder?</a:t>
            </a:r>
            <a:endParaRPr lang="en-US" sz="11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950" dirty="0">
                <a:solidFill>
                  <a:srgbClr val="4A5470"/>
                </a:solidFill>
                <a:latin typeface="Calibri" pitchFamily="34" charset="0"/>
                <a:ea typeface="Calibri" pitchFamily="34" charset="-122"/>
                <a:cs typeface="Calibri" pitchFamily="34" charset="-120"/>
              </a:rPr>
              <a:t>Derinleşme: sıcaklığın neyi değiştirip neyi değiştirmediğini ayır, ürün–zaman grafiklerinden faktörleri oku, bütün faktörleri tek şemada topla ve gerçek hayatta nasıl kullanıldıklarını gör.</a:t>
            </a:r>
            <a:endParaRPr lang="en-US" sz="95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Sıcaklık neyi değiştirir, neyi değiştirmez?</a:t>
            </a:r>
            <a:endParaRPr lang="en-US" sz="115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Grafikleri karşılaştırmak: ürün–zaman eğrileri</a:t>
            </a:r>
            <a:endParaRPr lang="en-US" sz="115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Faktörler bir arada</a:t>
            </a:r>
            <a:endParaRPr lang="en-US" sz="12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Hız faktörleri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Kolaydan zora çözümlü örnekler, kendin çözeceğin sorular ve hız faktörleri sorularında puan kaybettiren klasik hatalar.</a:t>
            </a:r>
            <a:endParaRPr lang="en-US" sz="10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Tepkime hızı: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birim zamanda harcanan tepken ya da oluşan ürün miktarı. Bir önceki konuda ölçmüştün: örneğin her saniye kaç mL gaz çıktığı.</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Etkin çarpışma: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ürün veren çarpışma. Tanecikler yeterli enerjiyle ve uygun yönelimle çarpışmalıdır; çarpışmaların çoğu boşa gider.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Aktifleşme enerjisi (Ea):</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tepkimenin aşması gereken enerji tepesi. Tepe ne kadar yüksekse onu aşabilen çarpışma o kadar azdır.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Derişim:</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1 litrede kaç mol madde bulunduğu: [X] = n / V, birimi mol/L (M). 2 L çözeltide 1 mol şeker varsa derişim 0,5 M'dir.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Sıcaklık: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taneciklerin ortalama hareket (kinetik) enerjisinin ölçüsü. Sıcak çaydaki su molekülleri soğuk sudakilerden ortalamada daha hızlı koşuşturur.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Fiziksel hâl:</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maddenin katı (k), sıvı (s), gaz (g) ya da suda çözünmüş (suda) olması.</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350" dirty="0">
                <a:solidFill>
                  <a:srgbClr val="C3CEE8"/>
                </a:solidFill>
                <a:latin typeface="Calibri" pitchFamily="34" charset="0"/>
                <a:ea typeface="Calibri" pitchFamily="34" charset="-122"/>
                <a:cs typeface="Calibri" pitchFamily="34" charset="-120"/>
              </a:rPr>
              <a:t>Önce sezgi: aynı tepkimenin neden bazen hızlı, bazen yavaş yürüdüğünü gündelik gözlemlerle gör; maddenin cinsini, fiziksel hâlini ve derişimi formülsüz tanı.</a:t>
            </a:r>
            <a:endParaRPr lang="en-US" sz="13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aynı tepkime, farklı hızlar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Maddenin cinsi: her tepkimenin kendi hızı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Fiziksel hâl: tanecikler ne kadar serbest?</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Derişim: kalabalık arttıkça çarpışma artar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hiz-faktorler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Buzdolabı bir hız düğmesidir.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İçerisi yaklaşık 4 °C'dedir. Bu sıcaklıkta sütü ekşiten, meyveyi olgunlaştıran tepkimeler de, yemeği bozan mikropların çoğalması da yavaşlar: aktifleşme enerjisi 50 kJ/mol olan bir tepkime 4 °C'de, 25 °C'dekinden yaklaşık 4–5 kat yavaş yürür. Soğuk tepkimeleri durdurmaz, yalnızca ağırlaştırır.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tepkimenin hızı onun değişmez bir özelliği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tepkime bir yerde ağır ağır, başka bir yerde göz açıp kapayıncaya kadar yürüyebilir.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Mutfağına ve çevrene bir bak: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Süt: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buzdolabında günlerce taze kalır, yaz sıcağında masada bir günde ekşir.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Ekmek: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tezgâhta (ekmek dolabında) birkaç günde küflenir, dondurucuda aylarca dayanır.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Mangal: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sönmeye yüz tutmuş kömürü yelpazelersen kor yeniden kızarır; yüzeyine taze hava, yani taze oksijen gelir.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Metaller: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yeni kesilmiş sodyum havada birkaç dakikada matlaşır; demir bir çivinin paslanması ise haftalar sürer.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Efervesan tablet: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kuru kutusunda yıllarca durur, suya atınca saniyeler içinde köpürür.</a:t>
            </a:r>
            <a:endParaRPr lang="en-US" sz="2100" dirty="0"/>
          </a:p>
        </p:txBody>
      </p:sp>
      <p:sp>
        <p:nvSpPr>
          <p:cNvPr id="7" name="Text 5"/>
          <p:cNvSpPr txBox="1"/>
          <p:nvPr/>
        </p:nvSpPr>
        <p:spPr>
          <a:xfrm>
            <a:off x="640080" y="23545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örneklerde dört farklı düğme çevrildi: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sıcaklık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(süt, ekmek),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derişim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(mangal),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maddenin cinsi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(sodyum ve demir)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fiziksel hâl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(tablet).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Dördünün de yaptığı iş aynıdır: birim zamanda gerçekleşen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etkin çarpışma sayısını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değiştirirler.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Etkin çarpışma çoğalırsa tepkime hızlanır, azalırsa yavaşlar.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Giriş görselindeki ışık çubuklarında hızı gözle görürsün: içlerindeki tepkime ışık yayar ve parlaklık, saniyede kaç taneciğin tepkidiğini ele verir.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06244" y="1234440"/>
            <a:ext cx="737920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1.png">    </p:cNvPr>
          <p:cNvPicPr>
            <a:picLocks noChangeAspect="1"/>
          </p:cNvPicPr>
          <p:nvPr/>
        </p:nvPicPr>
        <p:blipFill>
          <a:blip r:embed="rId1"/>
          <a:stretch>
            <a:fillRect/>
          </a:stretch>
        </p:blipFill>
        <p:spPr>
          <a:xfrm>
            <a:off x="2634844" y="1325880"/>
            <a:ext cx="692200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Işık çubuğundaki tepkime ışık yayar; parlaklık tepkimenin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hızını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gösterir. Sıcak sudaki çubuk çok parlak başlar ama çabuk söner; buzlu sudaki sönük yanar ama uzun süre ışıldar. İki çubukta aynı miktarda kimyasal vardır; çizimde eğrilerin altındaki alanlar bu yüzden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eşittir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Sıcaklık ne kadar ürün oluşacağını değil, ne kadar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çabuk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oluşacağını değiştirir.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aynı tepkime, farklı hızlar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Aynı tepkime koşullara göre hızlı ya da yavaş yürür. Sıcaklık, derişim, maddenin cinsi ve fiziksel hâl, birim zamandaki etkin çarpışma sayısını değiştirerek hızı ayarlar.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Buzdolabındaki yemek de sonunda bozulur. Soğuk tepkimeleri durdurur mu, yoksa yalnızca yavaşlatır mı?</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aynı tepkime, farklı hızlar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Buzdolabındaki yemek de sonunda bozulur. Soğuk tepkimeleri durdurur mu, yoksa yalnızca yavaşlatır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Yalnızca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yavaşlatır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Soğukta da taneciklerin küçük bir kısmı eşiği aşacak kadar enerjiye sahiptir; yalnızca sayıları azdır. Bozulma tepkimeleri bu yüzden durmaz, ağırlaşır. Dondurucu daha da yavaşlatır ama hızı sıfıra indirmez: dondurucudaki yiyeceğin de bir son kullanma tarihi vardır.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koşullarda bile bazı tepkimeler anında biter, bazıları yıllar sürer.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Fark, tepkimeye giren maddelerin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cinsinden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gelir: her tepkimenin kendine özgü bir aktifleşme enerjisi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tepenin yüksekliği, hangi bağların kırılıp kurulacağına ve taneciklerin nasıl buluşması gerektiğine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İşine yarayacak dört eğilim: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Zıt yüklü iyonlar çok hızlı tepkir.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Suda Ag⁺ ile Cl⁻, ya da H⁺ ile OH⁻ birbirini çeker ve kırılması gereken bir bağ yoktur. Çökelme ve nötrleşme tepkimeleri bu yüzden çözeltiler karıştığı anda 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Çok bağın kırılması gerekiyorsa tepkime genellikle yavaştır.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Ocaktaki metan oda sıcaklığında havadaki oksijenle yan yana yıllarca durur; kıvılcım olmadan fark edilir bir hızla yanmaz.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Çok taneciğin aynı anda buluşması gerekiyorsa tepkime yavaştır.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Üç ya da dört taneciğin aynı anda ve doğru yönelimle çarpışması çok düşük bir olasılıktır.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Aktif metaller daha hızlı tepkir.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asitte magnezyum çok hızlı köpürür, demir çok yavaş tepkir.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596884" y="1234440"/>
            <a:ext cx="6997928"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2.png">    </p:cNvPr>
          <p:cNvPicPr>
            <a:picLocks noChangeAspect="1"/>
          </p:cNvPicPr>
          <p:nvPr/>
        </p:nvPicPr>
        <p:blipFill>
          <a:blip r:embed="rId1"/>
          <a:stretch>
            <a:fillRect/>
          </a:stretch>
        </p:blipFill>
        <p:spPr>
          <a:xfrm>
            <a:off x="2825484" y="1325880"/>
            <a:ext cx="6540728"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Dört metal aynı asitte, aynı boyda şeritlerle deneniyor; değişen tek şey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metalin cinsi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Magnezyum çok hızlı köpürür, çinko yavaş, demir çok yavaş tepkir. Bakır bu asitle hiç tepkimeye girmez; bunun nedeni yavaşlık değil, bakırın asitteki hidrojeni açığa çıkaracak kadar aktif olmamasıdır. Kabarcık sayıları yalnızca sıralamayı gösterir.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Bunlar kesin kural değil, birer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eğilimdir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son sözü deney söyler.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 metallerin köpürmesini ve gümüş klorürün anında çöküşünü sırayla deneyip karşılaştırabilirsin.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Maddenin cinsi: her tepkimenin kendi hızı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Her tepkimenin kendine özgü bir aktifleşme enerjisi vardır. Zıt yüklü iyonlar arasındaki tepkimeler çok hızlı; çok bağ kırılan ya da çok taneciğin buluşmasını gerektiren tepkimeler genellikle yavaştır. Aktif metaller daha hızlı tepkir.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Yeni kesilmiş sodyum havada birkaç dakikada matlaşırken demir bir çivi neden haftalarca parlak kalabilir?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Maddenin cinsi: her tepkimenin kendi hızı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Yeni kesilmiş sodyum havada birkaç dakikada matlaşırken demir bir çivi neden haftalarca parlak kalabilir?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İkisi de aynı havanın oksijeni ve nemiyle karşı karşıyadır; fark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metalin cinsindedir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Sodyum çok aktif bir metaldir: oksijen ve suyla tepkimesinin enerji tepesi alçaktır, çarpışmaların önemli bir kısmı ürün verir. Demirin tepkimesi ise çok daha yavaş yürür. Bu yüzden sodyum gaz yağı altında saklanır, demir çivi rafta durur.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24764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tepkime için tepkenlerin tanecikleri önce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karşılaşmalıdır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da taneciklerin ne kadar serbest hareket ettiğine bağlıdır.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Katıda tanecikler yerlerine kilitlidir, yalnızca titreşirler.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Sıvıda birbirlerinin üstünden kayarak dolaşırlar.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Gazda hızla uçuşur ve kabın her yerine yayılırlar.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Suda çözünmüş bir maddenin tanecikleri de suyun içinde serbestçe dolaşır.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Kurşun(II) nitrat ile potasyum iyodür tozlarını düşün; ikisi de beyazdır.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Onları havanda karıştırırsan yalnızca tozların birbirine değdiği yerlerde yavaş yavaş sarı bir renk belirir.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iki maddeyi önce ayrı ayrı suda çözüp sonra karıştırırsan, döktüğün anda bütün kap sapsarı bir bulanıklıkla dolar:</a:t>
            </a:r>
            <a:endParaRPr lang="en-US" sz="2200" dirty="0"/>
          </a:p>
        </p:txBody>
      </p:sp>
      <p:sp>
        <p:nvSpPr>
          <p:cNvPr id="7" name="Shape 5"/>
          <p:cNvSpPr/>
          <p:nvPr/>
        </p:nvSpPr>
        <p:spPr>
          <a:xfrm>
            <a:off x="640080" y="4114800"/>
            <a:ext cx="4440326"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444032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Pb(NO₃)₂(suda) + 2KI(suda) →</a:t>
            </a:r>
            <a:endParaRPr lang="en-US" sz="1800" dirty="0"/>
          </a:p>
        </p:txBody>
      </p:sp>
      <p:sp>
        <p:nvSpPr>
          <p:cNvPr id="9" name="Shape 7"/>
          <p:cNvSpPr/>
          <p:nvPr/>
        </p:nvSpPr>
        <p:spPr>
          <a:xfrm>
            <a:off x="5226710" y="4114800"/>
            <a:ext cx="3467405"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5226710" y="4114800"/>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PbI₂(k) + 2KNO₃(suda)</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505789" y="1234440"/>
            <a:ext cx="718011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3.png">    </p:cNvPr>
          <p:cNvPicPr>
            <a:picLocks noChangeAspect="1"/>
          </p:cNvPicPr>
          <p:nvPr/>
        </p:nvPicPr>
        <p:blipFill>
          <a:blip r:embed="rId1"/>
          <a:stretch>
            <a:fillRect/>
          </a:stretch>
        </p:blipFill>
        <p:spPr>
          <a:xfrm>
            <a:off x="2734389" y="1325880"/>
            <a:ext cx="672291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Kurşun(II) iyonları (Pb²⁺) iyodür iyonlarıyla (I⁻) buluşunca sarı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PbI₂</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çöker. Katılarda iyonlar yerinde sabittir: PbI₂ yalnızca iki kristalin değdiği ince sınırda oluşur. Çözeltide iyonlar serbestçe dolaşır, her yerde karşılaşır ve sarı bulanıklık bir anda bütün kabı doldurur. Seyirci iyonlar (K⁺, NO₃⁻) çizilmedi.</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Buradan genel bir eğilim çıkar (kesin kural değil):</a:t>
            </a:r>
            <a:endParaRPr lang="en-US" sz="2200" dirty="0"/>
          </a:p>
        </p:txBody>
      </p:sp>
      <p:sp>
        <p:nvSpPr>
          <p:cNvPr id="7" name="Text 5"/>
          <p:cNvSpPr txBox="1"/>
          <p:nvPr/>
        </p:nvSpPr>
        <p:spPr>
          <a:xfrm>
            <a:off x="640080" y="200406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Gaz &gt; sıvı &gt; katı: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maddeler için tepkime genellikle gaz hâlde en hızlı, katı hâlde en yavaştır.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Çözeltiler hızlıdır: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çözünmüş tanecikler en küçük ölçekte karışır ve çarpışma kabın her yerinde 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Katı yalnızca yüzeyinden tepkir: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katı ancak değdikleri yerde, bir katı ile bir sıvı ya da gaz ancak katının yüzeyinde buluşur.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 bir sonraki konuya kapı aralar: katıyı toz hâline getirmek yüzeyini,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temas yüzeyini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büyütür.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 iki karıştırma yolunu sırayla deneyip karşılaştırabilirsin.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Fiziksel hâl: tanecikler ne kadar serbest?</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Tepkenlerin tanecikleri ne kadar serbest hareket ediyorsa o kadar kolay karşılaşır. Gaz ve çözelti tepkimeleri genellikle hızlı, katıların tepkimeleri yavaştır; katı yalnızca yüzeyinden tepkir.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Efervesan tabletin içinde hem asit hem karbonat vardır. Tablet kutusunda neden köpürmez de suya atılınca hemen köpürür?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Fiziksel hâl: tanecikler ne kadar serbest?</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Efervesan tabletin içinde hem asit hem karbonat vardır. Tablet kutusunda neden köpürmez de suya atılınca hemen köpürür?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Tabletteki sitrik asit ve sodyum hidrojen karbonat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katıdır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tanecikleri yerinde sabittir ve birbirine ancak değdikleri küçük noktalarda ulaşır. Suya atınca ikisi de çözünür, iyonları serbestçe dolaşıp buluşur ve CO₂ kabarcıkları çıkar. Kutunun kuru tutulması bu yüzdendir: içeri giren nem, tabletleri kutuda yavaş yavaş tepkimeye sokar.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Çarpışan arabalara dönelim.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Piste iki araba girerse arada bir tokuşurlar; yirmi araba girerse çarpışmaların ardı arkası kesilmez.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Pist aynı, arabaların hızı aynı; değişen yalnızca kalabalıktır.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Tepkenlerde de durum böyledir: birim hacimdeki tanecik sayısı,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derişim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arttıkça tanecikler birbirine daha sık çarpar.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Bunu sayarak da görebilirsin.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kapta X ve Y tanecikleri olsun.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X, kaptaki her Y ile karşılaşabilir: 3 X ve 3 Y varsa 3 · 3 = 9 farklı X–Y çifti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Kabın hacmi aynı kalırken X'leri iki katına çıkarırsan çift sayısı da iki katına çıkar; ikisini birden iki katına çıkarırsan dört katına.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4.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Her X, kaptaki her Y ile çarpışabilir; olası X–Y çiftlerinin sayısı X ve Y sayılarının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çarpımıdır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Hacim aynı kaldıkça X'i iki katına çıkarmak çarpışmaları iki katına, X ile Y'yi birlikte iki katına çıkarmak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dört katına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çıkarır. Kabın içi kalabalıklaştıkça derişim de artmıştır.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aynı kaldıkça çarpışmaların yine aynı payı etkindir; çarpışma çoğalınca etkin çarpışma da çoğalır.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Sonuç: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derişim artınca tepkime hızlanır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Önceki konudaki “hız zamanla azalır” gözleminin nedeni de budur: tepkenler harcandıkça derişimleri düşer, çarpışmalar seyrekleşir.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Çelik yünü havada ve saf oksijende.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Havanın yalnızca yaklaşık %21'i oksijendir; saf oksijende O₂ derişimi bunun yaklaşık 5 katıdır. Aynı ince demir telleri havada tek bir noktada sönük bir korla yanarken oksijen dolu kavanozda kıvılcımlar saçarak hızla yanar: birim zamanda demir yüzeyine çarpan O₂ molekülü çok artmıştır.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Hastanelerde oksijen tüplerinin yanında ateş yakılmaz: oksijen derişimi yüksek havada her şey çok daha hızlı yanar.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kat derişimin her zaman iki kat hız verip vermediğini ise deneyler gösterir; bunu hız denklemi konusunda göreceksin.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 tanecik sayısını ve kabın hacmini değiştirip çarpışmaları sayabilirsin.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kalabalık arttıkça çarpışma artar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Derişim, birim hacimdeki tanecik sayısıdır. Derişim artınca tanecikler daha sık çarpışır, etkin çarpışma da çoğalır ve tepkime hızlanır. Tepkenler harcandıkça derişim düştüğü için hız zamanla azalır.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sayıda tanecikle aynı tepkimeyi iki kat büyük bir kapta yaparsan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Derişim: kalabalık arttıkça çarpışma artar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sayıda tanecikle aynı tepkimeyi iki kat büyük bir kapta yaparsan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Tanecik sayısı aynı, hacim iki katı olduğu için derişimler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yarıya iner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Tanecikler birbirini daha seyrek bulur, çarpışmalar azalır ve tepkime yavaşlar. Yani derişimi değiştirmek için madde eklemek ya da çıkarmak şart değildir; hacmi değiştirmek de yeter.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Bağıntılar ve grafikler: derişimi hesapla ve değiştirmenin yollarını gör, kinetik enerji dağılımını oku, eşiği aşan taneciklerin sıcaklıkla nasıl çoğaldığını sayılarla hisset.</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Derişim nasıl artırılır?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Sıcaklık ve kinetik enerji dağılımı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Eşiği aşan tanecikler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 sıcaklık ne kadar fark eder?</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Hız ∝ etkin çarpışma sayısı</a:t>
            </a:r>
            <a:endParaRPr lang="en-US" sz="1500" dirty="0"/>
          </a:p>
        </p:txBody>
      </p:sp>
      <p:sp>
        <p:nvSpPr>
          <p:cNvPr id="13" name="Text 11"/>
          <p:cNvSpPr txBox="1"/>
          <p:nvPr/>
        </p:nvSpPr>
        <p:spPr>
          <a:xfrm>
            <a:off x="9768535" y="148132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bütün faktörlerin ortak yolu</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[X] = n / V</a:t>
            </a:r>
            <a:endParaRPr lang="en-US" sz="1500" dirty="0"/>
          </a:p>
        </p:txBody>
      </p:sp>
      <p:sp>
        <p:nvSpPr>
          <p:cNvPr id="16" name="Text 14"/>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molar derişim (mol/L)</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3276295"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Sıcaklık ↑ → eşiği aşan pay ↑</a:t>
            </a:r>
            <a:endParaRPr lang="en-US" sz="1500" dirty="0"/>
          </a:p>
        </p:txBody>
      </p:sp>
      <p:sp>
        <p:nvSpPr>
          <p:cNvPr id="19" name="Text 17"/>
          <p:cNvSpPr txBox="1"/>
          <p:nvPr/>
        </p:nvSpPr>
        <p:spPr>
          <a:xfrm>
            <a:off x="9768535" y="3218688"/>
            <a:ext cx="1600200"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enerji dağılımı yayılır</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300837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+10 °C → hız ≈ 2–3 katı</a:t>
            </a:r>
            <a:endParaRPr lang="en-US" sz="1500" dirty="0"/>
          </a:p>
        </p:txBody>
      </p:sp>
      <p:sp>
        <p:nvSpPr>
          <p:cNvPr id="22" name="Text 20"/>
          <p:cNvSpPr txBox="1"/>
          <p:nvPr/>
        </p:nvSpPr>
        <p:spPr>
          <a:xfrm>
            <a:off x="9500616" y="4087368"/>
            <a:ext cx="186811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oda sıcaklığında, yaklaşık</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dersler.perinet.org/hiz-faktorleri.html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7</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Derişim, bir litredeki mol sayısıdır.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Bağıntısı derişimi artırmanın iki yolunu birden gösterir: ya kaptaki tepken miktarını artırırsın ya da aynı miktarı daha küçük bir hacme sığdırırsın.</a:t>
            </a:r>
            <a:endParaRPr lang="en-US" sz="2200" dirty="0"/>
          </a:p>
        </p:txBody>
      </p:sp>
      <p:sp>
        <p:nvSpPr>
          <p:cNvPr id="7" name="Shape 5"/>
          <p:cNvSpPr/>
          <p:nvPr/>
        </p:nvSpPr>
        <p:spPr>
          <a:xfrm>
            <a:off x="640080" y="3252216"/>
            <a:ext cx="2077517"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252216"/>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[X] = n / V</a:t>
            </a:r>
            <a:endParaRPr lang="en-US" sz="1800" dirty="0"/>
          </a:p>
        </p:txBody>
      </p:sp>
      <p:sp>
        <p:nvSpPr>
          <p:cNvPr id="9" name="Shape 7"/>
          <p:cNvSpPr/>
          <p:nvPr/>
        </p:nvSpPr>
        <p:spPr>
          <a:xfrm>
            <a:off x="2863901" y="3252216"/>
            <a:ext cx="2772461"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863901" y="3252216"/>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birim: mol/L = M</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7</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190349"/>
                <a:gridCol w="7935662"/>
                <a:gridCol w="178552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 maddesinin derişimi (molar derişim)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mol/L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X'in mol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gazın bulunduğu kabın ya da çözeltinin hacmi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mutlak sıcaklık: T = t(°C) + 273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aktifleşme enerjisi; eşik enerjisi sayıca buna eşittir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kJ/mol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birim zamanda derişimdeki değişim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7</a:t>
            </a:r>
            <a:endParaRPr lang="en-US" sz="950" dirty="0"/>
          </a:p>
        </p:txBody>
      </p:sp>
      <p:sp>
        <p:nvSpPr>
          <p:cNvPr id="6" name="Text 4"/>
          <p:cNvSpPr txBox="1"/>
          <p:nvPr/>
        </p:nvSpPr>
        <p:spPr>
          <a:xfrm>
            <a:off x="640080" y="1325880"/>
            <a:ext cx="10911535" cy="27706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Örneğin 2 L'lik bir kapta 0,4 mol gaz varsa derişim 0,4 / 2 = 0,2 M'dir.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kaba 0,4 mol daha eklersen 0,8 / 2 = 0,4 M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Hiç gaz eklemeden pistonu itip hacmi 1 L'ye indirirsen de 0,4 / 1 = 0,4 M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yol da derişimi iki katına çıkarır.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Tepkenin hâline göre yollar şöyle: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7</a:t>
            </a:r>
            <a:endParaRPr lang="en-US" sz="950" dirty="0"/>
          </a:p>
        </p:txBody>
      </p:sp>
      <p:sp>
        <p:nvSpPr>
          <p:cNvPr id="6" name="Text 4"/>
          <p:cNvSpPr txBox="1"/>
          <p:nvPr/>
        </p:nvSpPr>
        <p:spPr>
          <a:xfrm>
            <a:off x="640080" y="1325880"/>
            <a:ext cx="10911535" cy="2391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Gazlarda: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sabit hacimde aynı gazdan eklemek ya da pistonla hacmi küçültmek. Hacim küçülünce kaptaki </a:t>
            </a:r>
            <a:pPr indent="0" marL="0">
              <a:lnSpc>
                <a:spcPct val="115000"/>
              </a:lnSpc>
              <a:buNone/>
            </a:pPr>
            <a:r>
              <a:rPr lang="en-US" sz="2100" i="1" dirty="0">
                <a:solidFill>
                  <a:srgbClr val="0E1426"/>
                </a:solidFill>
                <a:latin typeface="Calibri" pitchFamily="34" charset="0"/>
                <a:ea typeface="Calibri" pitchFamily="34" charset="-122"/>
                <a:cs typeface="Calibri" pitchFamily="34" charset="-120"/>
              </a:rPr>
              <a:t>bütün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gazların derişimi aynı oranda artar; basınç da artar.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Çözeltilerde: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çözünen madde eklemek ya da suyun bir kısmını buharlaştırmak (çözünen kapta kalır, hacim küçülür). Tersine, su eklemek çözeltiyi seyreltir ve tepkimeyi yavaşlatır.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7</a:t>
            </a:r>
            <a:endParaRPr lang="en-US" sz="950" dirty="0"/>
          </a:p>
        </p:txBody>
      </p:sp>
      <p:sp>
        <p:nvSpPr>
          <p:cNvPr id="6" name="Text 4"/>
          <p:cNvSpPr txBox="1"/>
          <p:nvPr/>
        </p:nvSpPr>
        <p:spPr>
          <a:xfrm>
            <a:off x="640080" y="1325880"/>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Katı ve saf sıvılarda: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derişim değişmez. Bir katının ya da saf bir sıvının birim hacmindeki tanecik sayısını yoğunluğu belirler; ne kadar eklersen ekle aynı kalır.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Tepkimeye katılmayan gazda: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sabit hacimli kaba helyum eklemek toplam basıncı artırır ama tepkenlerin derişimini değiştirmez; hız da değişmez.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7</a:t>
            </a:r>
            <a:endParaRPr lang="en-US" sz="950" dirty="0"/>
          </a:p>
        </p:txBody>
      </p:sp>
      <p:sp>
        <p:nvSpPr>
          <p:cNvPr id="6" name="Shape 4"/>
          <p:cNvSpPr/>
          <p:nvPr/>
        </p:nvSpPr>
        <p:spPr>
          <a:xfrm>
            <a:off x="3271417" y="1234440"/>
            <a:ext cx="5648862"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5.png">    </p:cNvPr>
          <p:cNvPicPr>
            <a:picLocks noChangeAspect="1"/>
          </p:cNvPicPr>
          <p:nvPr/>
        </p:nvPicPr>
        <p:blipFill>
          <a:blip r:embed="rId1"/>
          <a:stretch>
            <a:fillRect/>
          </a:stretch>
        </p:blipFill>
        <p:spPr>
          <a:xfrm>
            <a:off x="3500017" y="1325880"/>
            <a:ext cx="5191662"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Derişim, kaptaki tanecik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sıklığıdır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Üst sırada gaz: aynı kaba gaz eklemek de hacmi yarıya indirmek de X'in derişimini iki katına çıkarır; helyum eklemek ise X'leri sıklaştırmaz. Gaz ve helyum eklenen kaplarda piston pimlerle sabitlenmiştir, hacim değişmez. Alt sırada çözelti: suyun yarısı buharlaşınca derişim iki katına çıkar, su eklenince yarıya iner. Kaba katı bir tepken eklemek X'in derişimini değiştirmez.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7 / 7</a:t>
            </a:r>
            <a:endParaRPr lang="en-US" sz="950" dirty="0"/>
          </a:p>
        </p:txBody>
      </p:sp>
      <p:sp>
        <p:nvSpPr>
          <p:cNvPr id="6" name="Shape 4"/>
          <p:cNvSpPr/>
          <p:nvPr/>
        </p:nvSpPr>
        <p:spPr>
          <a:xfrm>
            <a:off x="640080" y="1325880"/>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335024"/>
          </a:xfrm>
          <a:prstGeom prst="rect">
            <a:avLst/>
          </a:prstGeom>
          <a:solidFill>
            <a:srgbClr val="3C8C21"/>
          </a:solidFill>
          <a:ln/>
        </p:spPr>
      </p:sp>
      <p:sp>
        <p:nvSpPr>
          <p:cNvPr id="8" name="Text 6"/>
          <p:cNvSpPr txBox="1"/>
          <p:nvPr/>
        </p:nvSpPr>
        <p:spPr>
          <a:xfrm>
            <a:off x="950976" y="1453896"/>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Dikkat:</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Katı eklemek derişimi değiştirmez. Hızı değiştirebilecek olan, katının tepkimeye açık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yüzeyidir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ikinci bir parça eklersen yüzey de büyür ve hız artabilir. Bu ayrı bir faktördür (temas yüzeyi, sonraki konu). Yüzey aynı kaldıkça katının miktarı hızı değiştirmez.</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Derişim nasıl artırılır?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Derişim [X] = n / V'dir; tepken eklenerek ya da hacim küçültülerek artırılır, su eklenince azalır. Katı ve saf sıvı eklemek, sabit hacimde tepkimeye katılmayan bir gaz eklemek derişimi değiştirmez.</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Pistonu serbestçe kayabilen bir kapta tepkime yürürken kaba helyum eklenirse hız değişir mi?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Derişim nasıl artırılır?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Pistonu serbestçe kayabilen bir kapta tepkime yürürken kaba helyum eklenirse hız değişir mi?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Azalır.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Piston serbest olduğu için kaptaki basınç dış basınca eşit kalır; eklenen helyuma yer açmak için piston yükselir ve hacim büyür. Tepkenlerin derişimi düşer, tanecikler birbirini daha seyrek bulur. Sabit hacimli kapta ise helyum hızı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kaptaki gaz moleküllerinin hepsi aynı hızla gitmez.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Çarpıştıkça bazıları hızlanır, bazıları yavaşlar.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Herhangi bir anda çoğunun enerjisi orta değerlerdedir; çok yavaş olanlar da çok hızlı olanlar da azdır.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Sınıftaki boy dağılımını düşün: çoğu öğrenci orta boydadır, çok kısa ve çok uzun olanlar azdır.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Kaç taneciğin hangi kinetik enerjiye sahip olduğunu gösteren grafiğe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kinetik enerji dağılımı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Grafiği okumanın üç kuralı var: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Eğri sıfırdan başlar: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enerjisi sıfıra çok yakın tanecik neredeyse yoktur.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Tepe, en çok taneciğin sahip olduğu enerjiyi gösterir.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Ortalama enerji tepenin sağındadır, çünkü eğrinin sağa doğru uzun bir kuyruğu vardır.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Eğrinin altındaki alan, toplam tanecik sayısıdır.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kaptaki aynı tanecikler için alan değişmez.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artınca taneciklerin ortalama kinetik enerjisi artar ve eğri sağa kayar.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Tanecik sayısı aynı kaldığı için eğri aynı zamanda yayılır ve tepesi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alçalır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Ortalama kinetik enerji mutlak sıcaklıkla orantılıdır: sıcaklık 300 K'den 450 K'e çıkarsa ortalama kinetik enerji de 1,5 katına çıkar.</a:t>
            </a:r>
            <a:endParaRPr lang="en-US" sz="2200" dirty="0"/>
          </a:p>
        </p:txBody>
      </p:sp>
      <p:sp>
        <p:nvSpPr>
          <p:cNvPr id="7" name="Shape 5"/>
          <p:cNvSpPr/>
          <p:nvPr/>
        </p:nvSpPr>
        <p:spPr>
          <a:xfrm>
            <a:off x="640080" y="4114800"/>
            <a:ext cx="2633472"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263347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ortalama KE ∝ T</a:t>
            </a:r>
            <a:endParaRPr lang="en-US" sz="1800" dirty="0"/>
          </a:p>
        </p:txBody>
      </p:sp>
      <p:sp>
        <p:nvSpPr>
          <p:cNvPr id="9" name="Shape 7"/>
          <p:cNvSpPr/>
          <p:nvPr/>
        </p:nvSpPr>
        <p:spPr>
          <a:xfrm>
            <a:off x="3419856" y="4114800"/>
            <a:ext cx="3328416"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419856" y="4114800"/>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 (K) = t (°C) + 273</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505789" y="1234440"/>
            <a:ext cx="7180118"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6.png">    </p:cNvPr>
          <p:cNvPicPr>
            <a:picLocks noChangeAspect="1"/>
          </p:cNvPicPr>
          <p:nvPr/>
        </p:nvPicPr>
        <p:blipFill>
          <a:blip r:embed="rId1"/>
          <a:stretch>
            <a:fillRect/>
          </a:stretch>
        </p:blipFill>
        <p:spPr>
          <a:xfrm>
            <a:off x="2734389" y="1325880"/>
            <a:ext cx="6722918"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Mavi eğri düşük sıcaklıkta (T₁), mor eğri 1,5 kat yüksek mutlak sıcaklıkta (T₂) aynı tanecik topluluğunu gösterir. Sıcakta tepe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alçalır ve sağa kayar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eğri genişler. İki eğrinin altındaki alan eşittir, çünkü tanecik sayısı değişmemiştir; yalnızca enerjiler daha geniş bir aralığa yayılmıştır.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ve kinetik enerji dağılımı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Bir örnekteki taneciklerin enerjileri farklıdır; dağılım eğrisinin altındaki alan tanecik sayısıdır. Sıcaklık artınca ortalama kinetik enerji artar, eğri sağa kayıp yayılır ve tepesi alçalır; alan aynı kalır.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Sıcaklık artınca dağılım eğrisinin tepesi neden alçalır? Tanecikler enerji kaybetmiyor ki?</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Sıcaklık ve kinetik enerji dağılımı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Sıcaklık artınca dağılım eğrisinin tepesi neden alçalır? Tanecikler enerji kaybetmiyor ki?</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Tepenin alçalması tanecik ya da enerji kaybı değildir. Alan, yani tanecik sayısı değişmez; sıcaklık artınca tanecikler daha geniş bir enerji aralığına yayılır ve her enerji değerine düşen tanecik azalır. Aynı hamuru daha geniş bir tepsiye açmak gibi: hamur azalmaz, incelir.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Eşiği aşan tanecikler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Çarpışan iki taneciğin tepkimeye girebilmesi için kinetik enerjilerinin toplamı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eşik enerjisini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aşmalıdır.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Eşik enerjisi sayıca aktifleşme enerjisine (Ea) eşittir.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Dağılım grafiğinde eşiği dikey bir çizgiyle gösteririz: çizginin sağında, eğrinin altında kalan alan, enerjisi yeten taneciklerin sayısıdır.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sıcaklığı artır ve neyin değiştiğine bak:</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Eşiği aşan tanecikler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Eşik çizgisi yerinde kalır.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Ea tepkimenin kendi özelliğidir; sıcaklık onu değiştirmez.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Eşiğin sağındaki alan büyür.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Eğri sağa kaydığı için kuyruk kalınlaşır; eşiği aşan tanecik sayısı katlanarak artar.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Çarpışma sayısı da artar, ama 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Tanecikler biraz daha hızlı gider ve biraz daha sık çarpışır.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Eşiği aşan tanecikler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Shape 4"/>
          <p:cNvSpPr/>
          <p:nvPr/>
        </p:nvSpPr>
        <p:spPr>
          <a:xfrm>
            <a:off x="2604540" y="1234440"/>
            <a:ext cx="698261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7.png">    </p:cNvPr>
          <p:cNvPicPr>
            <a:picLocks noChangeAspect="1"/>
          </p:cNvPicPr>
          <p:nvPr/>
        </p:nvPicPr>
        <p:blipFill>
          <a:blip r:embed="rId1"/>
          <a:stretch>
            <a:fillRect/>
          </a:stretch>
        </p:blipFill>
        <p:spPr>
          <a:xfrm>
            <a:off x="2833140" y="1325880"/>
            <a:ext cx="652541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Eşik çizgisi iki sıcaklıkta 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aynı yerdedir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sıcaklık Ea'yı değiştirmez. Değişen, çizginin sağındaki alandır. Çizimde T₂ = 1,5·T₁ alındı (örneğin 300 K ve 450 K) ve eşik, görünsün diye gerçek tepkimelerdekinden daha sola çizildi. Bu değerlerle eşiği aşan tanecikler T₁'de %5,7, T₂'de %17'dir, yani yaklaşık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 katı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Eşiği aşan tanecikler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Hızın sıcaklıkla bu kadar artmasının asıl nedeni ikinci maddedir.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25 °C'den 35 °C'ye çıkınca taneciklerin ortalama kinetik enerjisi yalnızca %3, birim zamandaki çarpışma sayısı yaklaşık %2 artar; ama Ea'sı 50 kJ/mol olan bir tepkimede eşiği aşan çarpışmaların sayısı neredeyse iki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sıcaklığı kaydırıp eşiğin sağındaki alanın nasıl büyüdüğünü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Eşiği aşan tanecikler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Eşiği aşan tanecikler, dağılım eğrisinde eşik çizgisinin sağında kalan alandır. Sıcaklık artınca eşik yerinde kalır, bu alan ise çok büyür. Hızın artmasının asıl nedeni budur; çarpışma sayısı yalnızca biraz artar.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Aktifleşme enerjisi daha büyük bir tepkimede sıcaklığı 10 °C artırmanın etkisi daha mı büyük olur, daha mı küçük?</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Eşiği aşan tanecikler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Aktifleşme enerjisi daha büyük bir tepkimede sıcaklığı 10 °C artırmanın etkisi daha mı büyük olur, daha mı küçük?</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büyük.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Eşik sağa kaydıkça onu aşan tanecikler kuyruğun daha ince ucunda kalır ve sıcaklık artınca kuyruğun en ucu en çok kalınlaşır. 25 °C'den 35 °C'ye çıkınca hız, Ea = 50 kJ/mol olan bir tepkimede yaklaşık 1,9 katına, Ea = 100 kJ/mol olan bir tepkimede yaklaşık 3,7 katına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4503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Ea'sı 50 kJ/mol olan bir tepkime düşün; gündelik tepkimeler için tipik bir değer.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Oda sıcaklığında bu tepkimede çarpışmaların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milyarda birkaçı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eşiği aşar.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Aşağıdaki çarpanlar 1. tepkime (Ea = 50 kJ/mol) ve 2. tepkime (Ea = 75 kJ/mol) için kimyacıların kullandığı Arrhenius bağıntısıyla hesaplandı; bağıntıyı bilmen gerekmiyor, düzene bak.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25 °C'deki değerler 1 alındı.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688406"/>
                <a:gridCol w="1690520"/>
                <a:gridCol w="2766305"/>
                <a:gridCol w="276630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Sıcaklık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Ortalama KE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1. tepkimenin hızı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2. tepkimenin hızı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4 °C · buzdolabı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0,93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25 °C · oda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35 °C</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39 °C · ateşli hasta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3,9</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100 °C · kaynar su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1,25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58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440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120 °C · düdüklü tencere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1,32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130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1500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dört düzen okunur:</a:t>
            </a:r>
            <a:endParaRPr lang="en-US" sz="2200" dirty="0"/>
          </a:p>
        </p:txBody>
      </p:sp>
      <p:sp>
        <p:nvSpPr>
          <p:cNvPr id="7" name="Text 5"/>
          <p:cNvSpPr txBox="1"/>
          <p:nvPr/>
        </p:nvSpPr>
        <p:spPr>
          <a:xfrm>
            <a:off x="640080" y="200406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Ortalama enerji az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 °C'den 39 °C'ye çıkınca ortalama kinetik enerji yalnızca %13 artıyor (277 K'den 312 K'e).</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Hız çok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aynı aralıkta 1. tepkimenin hızı 0,22'den 2,5'e, yani yaklaşık 11 katına çıkıyor.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“10 °C kuralı” yaklaşıktır: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25 °C'den 35 °C'ye çıkınca hız 1. tepkimede 1,9, 2. tepkimede 2,7 katına çıkıyor. Oda sıcaklığı civarında birçok tepkimenin hızı her 10 °C'de yaklaşık 2–3 katına çıkar; bu kesin bir yasa değil, kaba bir gözlemdir.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Ea büyükse sıcaklık daha etkilidir: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her satırda 2. tepkimenin sütunu daha uç değerler taşıyor.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80066" y="1234440"/>
            <a:ext cx="7231562"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8.png">    </p:cNvPr>
          <p:cNvPicPr>
            <a:picLocks noChangeAspect="1"/>
          </p:cNvPicPr>
          <p:nvPr/>
        </p:nvPicPr>
        <p:blipFill>
          <a:blip r:embed="rId1"/>
          <a:stretch>
            <a:fillRect/>
          </a:stretch>
        </p:blipFill>
        <p:spPr>
          <a:xfrm>
            <a:off x="2708666" y="1325880"/>
            <a:ext cx="6774362"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Sıcaklık 4 °C'den 39 °C'ye çıkarken turuncu çubuklar, yani ortalama kinetik enerji, neredeyse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yerinde sayar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mavi çubuklar, yani hız, yaklaşık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11 katına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çıkar. Hızı belirleyen ortalama değil, eşiği aşan küçük kuyruktur. Değerler Ea = 50 kJ/mol olan bir tepkime için hesaplandı ve 25 °C'dekilere bölündü.</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Sayılarla hisset: sıcaklık ne kadar fark eder?</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25 °C'den 35 °C'ye çıkınca ortalama kinetik enerji yalnızca %3 artar, ama Ea'sı 50 kJ/mol olan bir tepkimenin hızı yaklaşık iki katına çıkar. “Her 10 °C'de 2–3 kat” yaklaşık bir gözlemdir; çarpan Ea'ya bağlıdır.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250" dirty="0">
                <a:solidFill>
                  <a:srgbClr val="C3CEE8"/>
                </a:solidFill>
                <a:latin typeface="Calibri" pitchFamily="34" charset="0"/>
                <a:ea typeface="Calibri" pitchFamily="34" charset="-122"/>
                <a:cs typeface="Calibri" pitchFamily="34" charset="-120"/>
              </a:rPr>
              <a:t>Derinleşme: sıcaklığın neyi değiştirip neyi değiştirmediğini ayır, ürün–zaman grafiklerinden faktörleri oku, bütün faktörleri tek şemada topla ve gerçek hayatta nasıl kullanıldıklarını gör.</a:t>
            </a:r>
            <a:endParaRPr lang="en-US" sz="12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Sıcaklık neyi değiştirir, neyi değiştirmez?</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Grafikleri karşılaştırmak: ürün–zaman eğrileri</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Faktörler bir arada</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Hız faktörleri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1d623a45-0112-427a-9abb-0c648368bda2/scratchpad/sunum/sekiller/hiz-faktorler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Düdüklü tencerede kuru fasulye.</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Kapak kilitlenince buhar dışarı kaçamaz, içerideki basınç yaklaşık iki katına çıkar ve su ancak 120 °C civarında kaynar. Açık tencerede yemek 100 °C'yi geçemezdi. Bu 20 °C'lik fark pişmeyi sağlayan tepkimeleri kabaca 2–3 kat hızlandırır ve kuru fasulye çok daha kısa sürede pişer. Vanadan fışkıran buhar, fazla basıncın güvenle dışarı atıldığını gösterir.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tepkime hızının en güçlü düğmesidir, ama her şeyi değiştirmez; sorularda en çok karıştırılan nokta da budur.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Tepkimenin enerji grafiğini düşün: girenler bir enerji tepesine tırmanıp öbür yandan ürünlere iner.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bu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tepeyi alçaltmaz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tepeye tırmanmaya çalışan taneciklerin enerjisini artırır.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686293"/>
                <a:gridCol w="522524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Sıcaklık artınca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 olur?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Ortalama kinetik enerji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 (mutlak sıcaklıkla orantılı)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Birim zamandaki çarpışma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 (biraz)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Eşiği aşan tanecik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 (çok)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Tepkime hızı, hız sabiti 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Aktifleşme enerjisi, eşik enerjisi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Tepkimenin yolu, aktifleşmiş kompleks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196744"/>
                <a:gridCol w="6714791"/>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Sıcaklık artınca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 olur?</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Tepkime entalpisi ΔH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biraz değişir (sorularda “değişir” kabul edilir); bu küçük değişim hız artışını açıklamaz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Oluşan ürünün son miktarı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 (tam verimli tepkimede)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Text 4"/>
          <p:cNvSpPr txBox="1"/>
          <p:nvPr/>
        </p:nvSpPr>
        <p:spPr>
          <a:xfrm>
            <a:off x="640080" y="3072384"/>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 sabiti 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tepkimenin belli bir sıcaklıktaki “hızlılık katsayısıdır”: derişimlerden bağımsızdır, sıcaklıkla (ve bir sonraki konudaki katalizörle ve temas yüzeyiyle)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Onu hız denklemi konusunda kullanacağız.</a:t>
            </a:r>
            <a:endParaRPr lang="en-US" sz="2200" dirty="0"/>
          </a:p>
        </p:txBody>
      </p:sp>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İkinci önemli sonuç: sıcaklık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bütün tepkimeleri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hızlandırır, ekzotermik olanları da.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“Ekzotermik tepkime zaten ısı veriyor, ısıtınca yavaşlar” düşüncesi yanlıştır.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Ekzotermik tepkimenin de aşılması gereken bir Ea'sı vardır; ısıtınca onun da eşiği aşan tanecik sayısı artar.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720880" y="1234440"/>
            <a:ext cx="6749935"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09.png">    </p:cNvPr>
          <p:cNvPicPr>
            <a:picLocks noChangeAspect="1"/>
          </p:cNvPicPr>
          <p:nvPr/>
        </p:nvPicPr>
        <p:blipFill>
          <a:blip r:embed="rId1"/>
          <a:stretch>
            <a:fillRect/>
          </a:stretch>
        </p:blipFill>
        <p:spPr>
          <a:xfrm>
            <a:off x="2949480" y="1325880"/>
            <a:ext cx="6292735"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İki tepkimede de girenler önce bir enerji tepesini aşmalıdır: Ea her zaman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sıfırdan büyüktür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Sıcaklık bu tepeyi alçaltmaz; ΔH'yi yalnızca biraz değiştirir ve hızı artıran bu değişim değildir: sıcaklık tepeyi aşabilen taneciklerin sayısını artırır. Bu yüzden ekzotermik tepkime de endotermik tepkime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ısıtınca hızlanır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Çizimde iki tepkimenin Ea'sı eşit seçildi; ok boyları değerlerle orantılı.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Sıcaklık neyi değiştirir, neyi değiştirmez?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600" dirty="0">
                <a:solidFill>
                  <a:srgbClr val="0E1426"/>
                </a:solidFill>
                <a:latin typeface="Cambria" pitchFamily="34" charset="0"/>
                <a:ea typeface="Cambria" pitchFamily="34" charset="-122"/>
                <a:cs typeface="Cambria" pitchFamily="34" charset="-120"/>
              </a:rPr>
              <a:t>Sıcaklık artınca ortalama kinetik enerji, çarpışma sayısı, eşiği aşan tanecik sayısı, hız ve k artar. Ea, eşik enerjisi, tepkimenin yolu ve ürünün son miktarı değişmez; ΔH biraz değişir ama hız artışını açıklamaz. Isıtmak ekzotermik tepkimeleri de hızlandırır.</a:t>
            </a:r>
            <a:endParaRPr lang="en-US" sz="26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Tepkime kabı soğutulursa aktifleşme enerjisi büyür mü?</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Sıcaklık neyi değiştirir, neyi değiştirmez?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Tepkime kabı soğutulursa aktifleşme enerjisi büyür mü?</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Hayır.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 tepkimenin kendi özelliğidir; enerji tepesi soğukta da aynı yüksekliktedir. Soğutunca değişen, tepeye ulaşabilecek kadar hızlı taneciklerin sayısıdır: dağılım eğrisi sola kayar, eşiğin sağındaki alan küçülür ve tepkime yavaşlar. Ea'yı değiştirebilen tek faktör, bir sonraki konudaki katalizördür.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Faktörler sorularda çoğu zaman bir ürün–zaman grafiğiyle gelir: aynı tepkime farklı koşullarda yapılmıştır.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Böyle bir grafikte iki şeye ayrı ayrı bakılır:</a:t>
            </a:r>
            <a:endParaRPr lang="en-US" sz="2200" dirty="0"/>
          </a:p>
        </p:txBody>
      </p:sp>
      <p:sp>
        <p:nvSpPr>
          <p:cNvPr id="7" name="Text 5"/>
          <p:cNvSpPr txBox="1"/>
          <p:nvPr/>
        </p:nvSpPr>
        <p:spPr>
          <a:xfrm>
            <a:off x="640080" y="2866644"/>
            <a:ext cx="10911535" cy="202311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Başlangıçtaki eğim hızı gösterir.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Eğri ne kadar dik başlıyorsa tepkime o kadar hızlıdır. Sıcaklık ve derişim (bir sonraki konuda katalizör ve temas yüzeyi de) eğimi değiştirir.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Eğrinin düzleştiği yükseklik ürünün son miktarını gösterir.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Bu miktarı hız değil,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sınırlayıcı tepkenin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yani önce tükenen tepkenin miktarı belirler.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90804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örnek alalım: X(suda) + Y(suda) → Z(suda).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Kapta 0,1 mol X ve bundan çok daha fazla Y olsun.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X sınırlayıcıdır; en çok 0,1 mol Z oluşabilir.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Koşulları tek tek değiştirelim: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Daha sıcakta: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eğri daha dik başlar, yine 0,1 molde düzleşir.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Su eklenirse: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derişimler düşer ve eğri daha yatık başlar; X'in mol sayısı değişmediği için daha geç de olsa yine 0,1 molde düzleşir.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Aşırı olan Y'den eklenirse: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Y'nin derişimi artar, eğri daha dik başlar; son miktar yine 0,1 moldür, çünkü X değişmedi.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Sınırlayıcı X'ten eklenirse: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eğri hem daha dik başlar hem daha yüksekte, 0,2 molde düzleşir.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696804" y="1234440"/>
            <a:ext cx="679808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10.png">    </p:cNvPr>
          <p:cNvPicPr>
            <a:picLocks noChangeAspect="1"/>
          </p:cNvPicPr>
          <p:nvPr/>
        </p:nvPicPr>
        <p:blipFill>
          <a:blip r:embed="rId1"/>
          <a:stretch>
            <a:fillRect/>
          </a:stretch>
        </p:blipFill>
        <p:spPr>
          <a:xfrm>
            <a:off x="2925404" y="1325880"/>
            <a:ext cx="634088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Solda X'in miktarı aynı: ısıtmak eğriyi dikleştirir, su eklemek yatıklaştırır, ama üç eğri de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0,1 molde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düzleşir. Sağda sınırlayıcı tepken X iki katına çıkarılınca eğri daha dik başlar ve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0,2 molde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düzleşir. Eğim hızı, son yükseklik sınırlayıcı tepkenin miktarını gösterir. Eğriler, Y'nin X'ten çok daha fazla olduğu kabulüyle hesaplandı.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Kısa yol: “Kaç mol ürün oluşur?” sorusunu stokiyometriyle, yani sınırlayıcı tepkenle; “hangisi önce biter?” sorusunu hız faktörleriyle çöz.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iki soruyu birbirinden ayırmak, bu konudaki en önemli beceridir.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100" b="1" spc="-50" kern="0" dirty="0">
                <a:solidFill>
                  <a:srgbClr val="0E1426"/>
                </a:solidFill>
                <a:latin typeface="Cambria" pitchFamily="34" charset="0"/>
                <a:ea typeface="Cambria" pitchFamily="34" charset="-122"/>
                <a:cs typeface="Cambria" pitchFamily="34" charset="-120"/>
              </a:rPr>
              <a:t>Grafikleri karşılaştırmak: ürün–zaman eğrileri</a:t>
            </a:r>
            <a:endParaRPr lang="en-US" sz="31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Ürün–zaman grafiğinde başlangıç eğimi hızı, eğrinin düzleştiği yükseklik ürünün son miktarını gösterir. Hız faktörleri eğimi değiştirir; son miktarı yalnızca sınırlayıcı tepkenin miktarı belirler.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İki deneyin ürün–zaman eğrileri farklı eğimle başlayıp aynı yükseklikte düzleşiyorsa iki deneyde ne aynıdır?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Grafikleri karşılaştırmak: ürün–zaman eğrileri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İki deneyin ürün–zaman eğrileri farklı eğimle başlayıp aynı yükseklikte düzleşiyorsa iki deneyde ne aynıdır?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Sınırlayıcı tepkenin mol sayısı</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aynıdır; son ürün miktarını o belirler. Eğimlerin farklı olması ise deneylerin sıcaklığının ya da derişiminin farklı olduğunu gösterir. Örneğin aynı miktar asit bir deneyde derişik, öbüründe seyreltik bir çözelti hâlinde kullanılmış olabilir: asidin molü aynı, derişimi farklıdır.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Dört faktör de aynı kapıdan geçer: birim zamandaki etkin çarpışma sayısı.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 kapıya farklı yollardan ulaşırlar.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Derişim ve fiziksel hâl çarpışmaların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sayısını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değiştirir; sıcaklık hem çarpışma sayısını hem de eşiği aşan taneciklerin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payını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değiştirir; maddenin cinsi ise eşiğin kendisini, yani Ea'yı belirler.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2869092" y="1234440"/>
            <a:ext cx="645351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11.png">    </p:cNvPr>
          <p:cNvPicPr>
            <a:picLocks noChangeAspect="1"/>
          </p:cNvPicPr>
          <p:nvPr/>
        </p:nvPicPr>
        <p:blipFill>
          <a:blip r:embed="rId1"/>
          <a:stretch>
            <a:fillRect/>
          </a:stretch>
        </p:blipFill>
        <p:spPr>
          <a:xfrm>
            <a:off x="3097692" y="1325880"/>
            <a:ext cx="599631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Bütün yollar aynı yere çıkar: birim zamandaki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etkin çarpışma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sayısına. Derişim ve fiziksel hâl çarpışmaları çoğaltır; sıcaklık çarpışmaları biraz, eşiği aşan taneciklerin payını çok artırır; maddenin cinsi Ea'yı ve dolayısıyla eşiği aşan payı belirler. Katalizör ve temas yüzeyi bir sonraki konuda bu şemaya eklenecek.</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tepkimede derişimin ve sıcaklığın etkilerini yan yana koyalım: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204598"/>
                <a:gridCol w="1925565"/>
                <a:gridCol w="278137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Nicelik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Derişim ↑</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Sıcaklık ↑</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Birim zamanda çarpışma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 (biraz)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Ortalama kinetik enerji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Eşiği aşan tanecik payı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 (çok)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Aktifleşme enerjisi Ea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Hız sabiti 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değişmez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Tepkime hızı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artar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“Eşiği aşan tanecik payı” ile “sayısı” arasındaki farka dikkat et.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Derişim artınca kaptaki tanecik sayısı artar, eşiği aşanların </a:t>
            </a:r>
            <a:pPr indent="0" marL="0">
              <a:lnSpc>
                <a:spcPct val="115000"/>
              </a:lnSpc>
              <a:buNone/>
            </a:pPr>
            <a:r>
              <a:rPr lang="en-US" sz="2200" i="1" dirty="0">
                <a:solidFill>
                  <a:srgbClr val="0E1426"/>
                </a:solidFill>
                <a:latin typeface="Calibri" pitchFamily="34" charset="0"/>
                <a:ea typeface="Calibri" pitchFamily="34" charset="-122"/>
                <a:cs typeface="Calibri" pitchFamily="34" charset="-120"/>
              </a:rPr>
              <a:t>sayısı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da artar; ama </a:t>
            </a:r>
            <a:pPr indent="0" marL="0">
              <a:lnSpc>
                <a:spcPct val="115000"/>
              </a:lnSpc>
              <a:buNone/>
            </a:pPr>
            <a:r>
              <a:rPr lang="en-US" sz="2200" i="1" dirty="0">
                <a:solidFill>
                  <a:srgbClr val="0E1426"/>
                </a:solidFill>
                <a:latin typeface="Calibri" pitchFamily="34" charset="0"/>
                <a:ea typeface="Calibri" pitchFamily="34" charset="-122"/>
                <a:cs typeface="Calibri" pitchFamily="34" charset="-120"/>
              </a:rPr>
              <a:t>payı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yani yüzdesi aynı kalır.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Sıcaklık ise payın kendisini büyütür.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sonraki konudaki katalizör de k'yı artırır, ama bunu sıcaklıktan farklı olarak Ea'yı düşürerek yapar.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Faktörler bir arada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Derişim ve fiziksel hâl çarpışma sayısını, sıcaklık hem çarpışma sayısını hem eşiği aşan payı değiştirir; maddenin cinsi Ea'yı belirler. Derişim k'yı değiştirmez; sıcaklık k'yı artırır ama Ea'yı değiştirmez.</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İnsanlar tepkime hızını yüzyıllardır bilerek ayarlar: kimi zaman bozulmayı geciktirmek, kimi zaman pişirmeyi ya da yakmayı hızlandırmak için.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Mutfaktaki en bilinen örnek düdüklü tenceredir.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Buzdolabı ve dondurucu:</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4 °C'de bozulma tepkimeleri oda sıcaklığındakine göre birkaç kat, −18 °C'lik dondurucuda onlarca kat yavaş yürür. Yiyecek yine bozulur, ama çok daha geç.</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Düdüklü tencere: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100 °C'den 120 °C'ye çıkmak, Ea'sı 50 kJ/mol olan bir tepkimeyi yaklaşık 2,3 kat, 75 kJ/mol olanı yaklaşık 3,4 kat hızlandırır. Yüksek sıcaklıkta aynı 10 °C'nin etkisi küçülür: 100 °C civarında her 10 °C hızı ≈ 1,5–1,9 katına çıkarır; “2–3 kat” kuralı oda sıcaklığı içindir.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75920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Saf oksijende yanma: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oksijen derişimi havadakinin yaklaşık 5 katı olunca közlü bir kıymık alev alır, çelik yünü kıvılcım saçar. Kaynakçılar bu yüzden asetileni havayla değil saf oksijenle yakar.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Ateşli hastalık: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vücut sıcaklığı 37 °C'den 39 °C'ye çıkınca birçok tepkime yaklaşık %10–20 hızlanır; kalp ve solunum hızlanır, vücut daha çok enerji harcar. Çok yüksek ateş ise tepkimeleri yöneten enzimlerin yapısını bozabilir; bu yüzden tehlikelidir.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19557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Paketleme: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cips paketleri azotla doldurulur. Paketteki oksijen derişimi çok düştüğü için yağların oksijenle bozulması, yani acıması yavaşlar; vakumlu paketler de aynı işi görür.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290697" y="1234440"/>
            <a:ext cx="7610302" cy="4117086"/>
          </a:xfrm>
          <a:prstGeom prst="roundRect">
            <a:avLst>
              <a:gd name="adj" fmla="val 355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1d623a45-0112-427a-9abb-0c648368bda2/scratchpad/sunum/sekiller/hiz-faktorleri-12.png">    </p:cNvPr>
          <p:cNvPicPr>
            <a:picLocks noChangeAspect="1"/>
          </p:cNvPicPr>
          <p:nvPr/>
        </p:nvPicPr>
        <p:blipFill>
          <a:blip r:embed="rId1"/>
          <a:stretch>
            <a:fillRect/>
          </a:stretch>
        </p:blipFill>
        <p:spPr>
          <a:xfrm>
            <a:off x="2519297" y="1325880"/>
            <a:ext cx="7153102" cy="3934206"/>
          </a:xfrm>
          <a:prstGeom prst="rect">
            <a:avLst/>
          </a:prstGeom>
        </p:spPr>
      </p:pic>
      <p:sp>
        <p:nvSpPr>
          <p:cNvPr id="8" name="Text 5"/>
          <p:cNvSpPr txBox="1"/>
          <p:nvPr/>
        </p:nvSpPr>
        <p:spPr>
          <a:xfrm>
            <a:off x="1249528" y="5534406"/>
            <a:ext cx="9692640" cy="610362"/>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Dört gündelik araç, iki düğme. Buzdolabı ve düdüklü tencere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sıcaklığı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saf oksijen ve azotlu paket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derişimi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değiştirir. Hepsi aynı ilkeyle çalışır: birim zamandaki etkin çarpışma sayısını azaltmak ya da artırmak.</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Hız faktörleri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750" dirty="0">
                <a:solidFill>
                  <a:srgbClr val="0E1426"/>
                </a:solidFill>
                <a:latin typeface="Cambria" pitchFamily="34" charset="0"/>
                <a:ea typeface="Cambria" pitchFamily="34" charset="-122"/>
                <a:cs typeface="Cambria" pitchFamily="34" charset="-120"/>
              </a:rPr>
              <a:t>Buzdolabı sıcaklığı düşürüp bozulmayı yavaşlatır, düdüklü tencere sıcaklığı yükseltip pişmeyi hızlandırır. Saf oksijen yanmayı hızlandırır, azotlu paket oksijeni azaltıp bozulmayı geciktirir; ateş vücuttaki tepkimeleri hızlandırır.</a:t>
            </a:r>
            <a:endParaRPr lang="en-US" sz="275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Düdüklü tencere yüksek bir dağ köyünde neden daha da çok işe yarar?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Hız faktörleri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Düdüklü tencere yüksek bir dağ köyünde neden daha da çok işe yarar?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Yükseklerde hava basıncı düşüktür ve açık tencerede su 100 °C'ye ulaşmadan kaynar; örneğin 3000 m yükseklikte yaklaşık 90 °C'de. Yemek bu daha düşük sıcaklıkta çok yavaş pişer. Düdüklü tencere içerideki basıncı yükselterek suyun sıcaklığını yeniden 100 °C'nin üstüne çıkarır.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kendin çözeceğin sorular ve hız faktörleri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Üç kapta hız sıralaması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Çözeltiye ne eklenirse hız artar?</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Pistonlu kap ve helyum</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Dağılım grafiğini okumak</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“Her 10 °C'de 2 kat” kabulüyle süre</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Mermer ve asit: eğrileri eşleştir</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Hızlı başlayan, çok ürün verir mi?</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dersler.perinet.org/hiz-faktorleri.html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kapta hız sıralaması</a:t>
            </a:r>
            <a:endParaRPr lang="en-US" sz="1450" dirty="0"/>
          </a:p>
        </p:txBody>
      </p:sp>
      <p:sp>
        <p:nvSpPr>
          <p:cNvPr id="8" name="Shape 6"/>
          <p:cNvSpPr/>
          <p:nvPr/>
        </p:nvSpPr>
        <p:spPr>
          <a:xfrm>
            <a:off x="640080" y="1645920"/>
            <a:ext cx="10911535" cy="1601114"/>
          </a:xfrm>
          <a:prstGeom prst="roundRect">
            <a:avLst>
              <a:gd name="adj" fmla="val 913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43914"/>
          </a:xfrm>
          <a:prstGeom prst="rect">
            <a:avLst/>
          </a:prstGeom>
          <a:noFill/>
          <a:ln/>
        </p:spPr>
        <p:txBody>
          <a:bodyPr wrap="square" lIns="0" tIns="0" rIns="0" bIns="0" rtlCol="0" anchor="t"/>
          <a:lstStyle/>
          <a:p>
            <a:pPr indent="0" marL="0">
              <a:lnSpc>
                <a:spcPct val="116000"/>
              </a:lnSpc>
              <a:buNone/>
            </a:pPr>
            <a:r>
              <a:rPr lang="en-US" sz="1950" dirty="0">
                <a:solidFill>
                  <a:srgbClr val="0E1426"/>
                </a:solidFill>
                <a:latin typeface="Calibri" pitchFamily="34" charset="0"/>
                <a:ea typeface="Calibri" pitchFamily="34" charset="-122"/>
                <a:cs typeface="Calibri" pitchFamily="34" charset="-120"/>
              </a:rPr>
              <a:t>Aynı sıcaklıktaki üç kapta X(g) + Y(g) → Z(g) tepkimesi yürüyor: kap I (1 L) 0,2 mol X ve 0,4 mol Y, kap II (1 L) 0,4 mol X ve 0,4 mol Y, kap III (2 L) 0,4 mol X ve 0,4 mol Y içeriyor. Başlangıç hızlarını büyükten küçüğe sıralayınız.</a:t>
            </a:r>
            <a:endParaRPr lang="en-US" sz="1950" dirty="0"/>
          </a:p>
        </p:txBody>
      </p:sp>
      <p:sp>
        <p:nvSpPr>
          <p:cNvPr id="11" name="Shape 9"/>
          <p:cNvSpPr/>
          <p:nvPr/>
        </p:nvSpPr>
        <p:spPr>
          <a:xfrm>
            <a:off x="2938619" y="3448202"/>
            <a:ext cx="6314456" cy="2806294"/>
          </a:xfrm>
          <a:prstGeom prst="roundRect">
            <a:avLst>
              <a:gd name="adj" fmla="val 521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3.png">    </p:cNvPr>
          <p:cNvPicPr>
            <a:picLocks noChangeAspect="1"/>
          </p:cNvPicPr>
          <p:nvPr/>
        </p:nvPicPr>
        <p:blipFill>
          <a:blip r:embed="rId1"/>
          <a:stretch>
            <a:fillRect/>
          </a:stretch>
        </p:blipFill>
        <p:spPr>
          <a:xfrm>
            <a:off x="3167219" y="3557930"/>
            <a:ext cx="5857256" cy="258683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kapta hız sıralaması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Aynı sıcaklıktaki üç kapta X(g) + Y(g) → Z(g) tepkimesi yürüyor: kap I (1 L) 0,2 mol X ve 0,4 mol Y, kap II (1 L) 0,4 mol X ve 0,4 mol Y, kap III (2 L) 0,4 mol X ve 0,4 mol Y içeriyor. Başlangıç hızlarını büyükten küçüğe sıralayınız.</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I: V = 1 L, n(X) = 0,2 mol, n(Y) = 0,4 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II: V = 1 L, n(X) = 0,4 mol, n(Y) = 0,4 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III: V = 2 L, n(X) = 0,4 mol, n(Y) = 0,4 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sıcaklık aynı</a:t>
            </a:r>
            <a:endParaRPr lang="en-US" sz="15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üç kaptaki başlangıç hızlarının büyükten küçüğe sırası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kapta hız sıralaması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Derişimleri bul, [X] = n / V: I'de [X] = 0,2 M, [Y] = 0,4 M; II'de [X] = 0,4 M, [Y] = 0,4 M; III'te [X] = 0,2 M, [Y] = 0,2 M.</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 ile I: [Y] eşit, [X] II'de büyük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II &gt; 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 ile III: [X] eşit, [Y] I'de büyük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 &gt; III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Üç kapta hız sıralaması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Sıralama: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II &gt; I &gt; III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III'te tanecik sayısı II ile aynı, ama hacim iki katı: tanecikler seyrek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Çözeltiye ne eklenirse hız artar?</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Bir beherde 100 mL 1 M HCl çözeltisine magnezyum şerit atılmış ve Mg(k) + 2HCl(suda) → MgCl₂(suda) + H₂(g) tepkimesi yürüyor. Aşağıdaki işlemler ayrı ayrı yapılırsa tepkime hızı nasıl değişir? I. 100 mL saf su eklemek. II. 100 mL 1 M HCl eklemek. III. 100 mL 2 M HCl eklemek. IV. Beheri sıcak su banyosuna koymak.</a:t>
            </a:r>
            <a:endParaRPr lang="en-US" sz="1900" dirty="0"/>
          </a:p>
        </p:txBody>
      </p:sp>
      <p:sp>
        <p:nvSpPr>
          <p:cNvPr id="11" name="Shape 9"/>
          <p:cNvSpPr/>
          <p:nvPr/>
        </p:nvSpPr>
        <p:spPr>
          <a:xfrm>
            <a:off x="3336730" y="3757574"/>
            <a:ext cx="551823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4.png">    </p:cNvPr>
          <p:cNvPicPr>
            <a:picLocks noChangeAspect="1"/>
          </p:cNvPicPr>
          <p:nvPr/>
        </p:nvPicPr>
        <p:blipFill>
          <a:blip r:embed="rId1"/>
          <a:stretch>
            <a:fillRect/>
          </a:stretch>
        </p:blipFill>
        <p:spPr>
          <a:xfrm>
            <a:off x="3565330" y="3867302"/>
            <a:ext cx="506103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Çözeltiye ne eklenirse hız artar?</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beherde 100 mL 1 M HCl çözeltisine magnezyum şerit atılmış ve Mg(k) + 2HCl(suda) → MgCl₂(suda) + H₂(g) tepkimesi yürüyor. Aşağıdaki işlemler ayrı ayrı yapılırsa tepkime hızı nasıl değişir? I. 100 mL saf su eklemek. II. 100 mL 1 M HCl eklemek. III. 100 mL 2 M HCl eklemek. IV. Beheri sıcak su banyosuna koymak.</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başlangıç: 100 mL, 1 M HCl → n(HCl) = 0,1 mol</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Mg şerit aynı kalıyor</a:t>
            </a:r>
            <a:endParaRPr lang="en-US" sz="1650" dirty="0"/>
          </a:p>
          <a:p>
            <a:pPr marL="203200" indent="-203200">
              <a:lnSpc>
                <a:spcPct val="110000"/>
              </a:lnSpc>
              <a:spcAft>
                <a:spcPts val="500"/>
              </a:spcAft>
              <a:buSzPct val="100000"/>
              <a:buChar char="▪"/>
            </a:pPr>
            <a:r>
              <a:rPr lang="en-US" sz="1650" dirty="0">
                <a:solidFill>
                  <a:srgbClr val="0E1426"/>
                </a:solidFill>
                <a:latin typeface="Calibri" pitchFamily="34" charset="0"/>
                <a:ea typeface="Calibri" pitchFamily="34" charset="-122"/>
                <a:cs typeface="Calibri" pitchFamily="34" charset="-120"/>
              </a:rPr>
              <a:t>eklenen her çözelti 100 mL</a:t>
            </a:r>
            <a:endParaRPr lang="en-US" sz="16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dört işlemin her birinde hızın artıp azaldığı ya da değişmediği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Çözeltiye ne eklenirse hız artar?</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Mg katıdır; hızı asidin derişimi ve sıcaklık belirler. Her işlemden sonra yeni derişimi bul: [HCl] = n / V.</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 0,1 mol / 0,2 L = 0,5 M → derişim yarıya iner,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azalır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 (0,1 + 0,1) mol / 0,2 L = 1 M → derişim aynı,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yalnızca toplam asit artar.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Çözeltiye ne eklenirse hız artar?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III: (0,1 + 0,2) mol / 0,2 L = 1,5 M → derişim artar,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IV: sıcaklık artınca eşiği aşan tanecik sayısı artar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Pistonlu kap ve helyum</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Pistonlu bir kapta, yüksek ve sabit bir sıcaklıkta H₂(g) + I₂(g) → 2HI(g) tepkimesi yürüyor. Aşağıdaki işlemler ayrı ayrı yapılırsa tepkime hızı nasıl değişir? I. Pistonu itip hacmi yarıya indirmek. II. Pistonu sabitleyip kaba He eklemek. III. Piston serbestken kaba He eklemek. IV. Pistonu sabitleyip kaba H₂ eklemek.</a:t>
            </a:r>
            <a:endParaRPr lang="en-US" sz="1900" dirty="0"/>
          </a:p>
        </p:txBody>
      </p:sp>
      <p:sp>
        <p:nvSpPr>
          <p:cNvPr id="11" name="Shape 9"/>
          <p:cNvSpPr/>
          <p:nvPr/>
        </p:nvSpPr>
        <p:spPr>
          <a:xfrm>
            <a:off x="3551087" y="3757574"/>
            <a:ext cx="5089522"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5.png">    </p:cNvPr>
          <p:cNvPicPr>
            <a:picLocks noChangeAspect="1"/>
          </p:cNvPicPr>
          <p:nvPr/>
        </p:nvPicPr>
        <p:blipFill>
          <a:blip r:embed="rId1"/>
          <a:stretch>
            <a:fillRect/>
          </a:stretch>
        </p:blipFill>
        <p:spPr>
          <a:xfrm>
            <a:off x="3779687" y="3867302"/>
            <a:ext cx="4632322"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Pistonlu kap ve helyum</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Pistonlu bir kapta, yüksek ve sabit bir sıcaklıkta H₂(g) + I₂(g) → 2HI(g) tepkimesi yürüyor. Aşağıdaki işlemler ayrı ayrı yapılırsa tepkime hızı nasıl değişir? I. Pistonu itip hacmi yarıya indirmek. II. Pistonu sabitleyip kaba He eklemek. III. Piston serbestken kaba He eklemek. IV. Pistonu sabitleyip kaba H₂ eklemek.</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tepkenler H₂ ve I₂ gazları</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sıcaklık sabit</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He tepkimeye katılmaz</a:t>
            </a:r>
            <a:endParaRPr lang="en-US" sz="1250" dirty="0"/>
          </a:p>
          <a:p>
            <a:pPr marL="203200" indent="-203200">
              <a:lnSpc>
                <a:spcPct val="110000"/>
              </a:lnSpc>
              <a:spcAft>
                <a:spcPts val="500"/>
              </a:spcAft>
              <a:buSzPct val="100000"/>
              <a:buChar char="▪"/>
            </a:pPr>
            <a:r>
              <a:rPr lang="en-US" sz="1250" dirty="0">
                <a:solidFill>
                  <a:srgbClr val="0E1426"/>
                </a:solidFill>
                <a:latin typeface="Calibri" pitchFamily="34" charset="0"/>
                <a:ea typeface="Calibri" pitchFamily="34" charset="-122"/>
                <a:cs typeface="Calibri" pitchFamily="34" charset="-120"/>
              </a:rPr>
              <a:t>serbest piston, kaptaki basıncı dış basınca eşit tutar</a:t>
            </a:r>
            <a:endParaRPr lang="en-US" sz="125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dört işlemin her birinde hızın değişimi</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Pistonlu kap ve helyum</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Hızı tepkenlerin derişimleri belirler: [X] = n / V. Her işlemde H₂ ve I₂'nin n'sine ve kabın V'sine bak.</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 n aynı, V yarıya iniyor → [H₂] ve [I₂] iki katına çıkar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 V sabit, H₂ ve I₂'nin molü aynı → derişimler aynı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değişmez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(toplam basınç artsa da).</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Pistonlu kap ve helyum</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III: basınç sabit kalsın diye piston yükselir, V büyür → derişimler düşer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azalır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IV: V sabit, n(H₂) artıyor → [H₂] artar → hız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Dağılım grafiğini okumak</a:t>
            </a:r>
            <a:endParaRPr lang="en-US" sz="1450" dirty="0"/>
          </a:p>
        </p:txBody>
      </p:sp>
      <p:sp>
        <p:nvSpPr>
          <p:cNvPr id="8" name="Shape 6"/>
          <p:cNvSpPr/>
          <p:nvPr/>
        </p:nvSpPr>
        <p:spPr>
          <a:xfrm>
            <a:off x="640080" y="1645920"/>
            <a:ext cx="10911535" cy="1875130"/>
          </a:xfrm>
          <a:prstGeom prst="roundRect">
            <a:avLst>
              <a:gd name="adj" fmla="val 780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17930"/>
          </a:xfrm>
          <a:prstGeom prst="rect">
            <a:avLst/>
          </a:prstGeom>
          <a:noFill/>
          <a:ln/>
        </p:spPr>
        <p:txBody>
          <a:bodyPr wrap="square" lIns="0" tIns="0" rIns="0" bIns="0" rtlCol="0" anchor="t"/>
          <a:lstStyle/>
          <a:p>
            <a:pPr indent="0" marL="0">
              <a:lnSpc>
                <a:spcPct val="116000"/>
              </a:lnSpc>
              <a:buNone/>
            </a:pPr>
            <a:r>
              <a:rPr lang="en-US" sz="1850" dirty="0">
                <a:solidFill>
                  <a:srgbClr val="0E1426"/>
                </a:solidFill>
                <a:latin typeface="Calibri" pitchFamily="34" charset="0"/>
                <a:ea typeface="Calibri" pitchFamily="34" charset="-122"/>
                <a:cs typeface="Calibri" pitchFamily="34" charset="-120"/>
              </a:rPr>
              <a:t>Aynı gaz örneğinin iki farklı sıcaklıktaki kinetik enerji dağılımı grafikte 1 ve 2 numaralı eğrilerle gösterilmiştir; dikey çizgi tepkimenin eşik enerjisidir. (a) Hangi eğri daha yüksek sıcaklığa aittir? (b) Eşik enerjisi iki durumda farklı mıdır? (c) Hangi durumda tepkime daha hızlıdır? (d) İki eğrinin altındaki alanlar nasıldır?</a:t>
            </a:r>
            <a:endParaRPr lang="en-US" sz="1850" dirty="0"/>
          </a:p>
        </p:txBody>
      </p:sp>
      <p:sp>
        <p:nvSpPr>
          <p:cNvPr id="11" name="Shape 9"/>
          <p:cNvSpPr/>
          <p:nvPr/>
        </p:nvSpPr>
        <p:spPr>
          <a:xfrm>
            <a:off x="3698936" y="3722218"/>
            <a:ext cx="4793823" cy="2532278"/>
          </a:xfrm>
          <a:prstGeom prst="roundRect">
            <a:avLst>
              <a:gd name="adj" fmla="val 577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6.png">    </p:cNvPr>
          <p:cNvPicPr>
            <a:picLocks noChangeAspect="1"/>
          </p:cNvPicPr>
          <p:nvPr/>
        </p:nvPicPr>
        <p:blipFill>
          <a:blip r:embed="rId1"/>
          <a:stretch>
            <a:fillRect/>
          </a:stretch>
        </p:blipFill>
        <p:spPr>
          <a:xfrm>
            <a:off x="3927536" y="3831946"/>
            <a:ext cx="4336623" cy="2312822"/>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Dağılım grafiğini okumak</a:t>
            </a:r>
            <a:endParaRPr lang="en-US" sz="1450" dirty="0"/>
          </a:p>
        </p:txBody>
      </p:sp>
      <p:sp>
        <p:nvSpPr>
          <p:cNvPr id="8" name="Shape 6"/>
          <p:cNvSpPr/>
          <p:nvPr/>
        </p:nvSpPr>
        <p:spPr>
          <a:xfrm>
            <a:off x="640080" y="1645920"/>
            <a:ext cx="10911535" cy="2377440"/>
          </a:xfrm>
          <a:prstGeom prst="roundRect">
            <a:avLst>
              <a:gd name="adj" fmla="val 615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28800"/>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Aynı gaz örneğinin iki farklı sıcaklıktaki kinetik enerji dağılımı grafikte 1 ve 2 numaralı eğrilerle gösterilmiştir; dikey çizgi tepkimenin eşik enerjisidir. (a) Hangi eğri daha yüksek sıcaklığa aittir? (b) Eşik enerjisi iki durumda farklı mıdır? (c) Hangi durumda tepkime daha hızlıdır? (d) İki eğrinin altındaki alanlar nasıldır?</a:t>
            </a:r>
            <a:endParaRPr lang="en-US" sz="2000" dirty="0"/>
          </a:p>
        </p:txBody>
      </p:sp>
      <p:sp>
        <p:nvSpPr>
          <p:cNvPr id="11" name="Shape 9"/>
          <p:cNvSpPr/>
          <p:nvPr/>
        </p:nvSpPr>
        <p:spPr>
          <a:xfrm>
            <a:off x="640080"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89120"/>
            <a:ext cx="54864" cy="1591056"/>
          </a:xfrm>
          <a:prstGeom prst="rect">
            <a:avLst/>
          </a:prstGeom>
          <a:solidFill>
            <a:srgbClr val="2957D4"/>
          </a:solidFill>
          <a:ln/>
        </p:spPr>
      </p:sp>
      <p:sp>
        <p:nvSpPr>
          <p:cNvPr id="13" name="Text 11"/>
          <p:cNvSpPr txBox="1"/>
          <p:nvPr/>
        </p:nvSpPr>
        <p:spPr>
          <a:xfrm>
            <a:off x="914400" y="4370832"/>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aynı örnek, iki sıcaklık</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eğri 1'in tepesi yüksek ve solda</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eğri 2'nin tepesi alçak, sağda ve eğri yayvan</a:t>
            </a:r>
            <a:endParaRPr lang="en-US" sz="1500" dirty="0"/>
          </a:p>
          <a:p>
            <a:pPr marL="203200" indent="-203200">
              <a:lnSpc>
                <a:spcPct val="110000"/>
              </a:lnSpc>
              <a:spcAft>
                <a:spcPts val="500"/>
              </a:spcAft>
              <a:buSzPct val="100000"/>
              <a:buChar char="▪"/>
            </a:pPr>
            <a:r>
              <a:rPr lang="en-US" sz="1500" dirty="0">
                <a:solidFill>
                  <a:srgbClr val="0E1426"/>
                </a:solidFill>
                <a:latin typeface="Calibri" pitchFamily="34" charset="0"/>
                <a:ea typeface="Calibri" pitchFamily="34" charset="-122"/>
                <a:cs typeface="Calibri" pitchFamily="34" charset="-120"/>
              </a:rPr>
              <a:t>tek bir eşik çizgisi</a:t>
            </a:r>
            <a:endParaRPr lang="en-US" sz="1500" dirty="0"/>
          </a:p>
        </p:txBody>
      </p:sp>
      <p:sp>
        <p:nvSpPr>
          <p:cNvPr id="15" name="Shape 13"/>
          <p:cNvSpPr/>
          <p:nvPr/>
        </p:nvSpPr>
        <p:spPr>
          <a:xfrm>
            <a:off x="6233008" y="4224528"/>
            <a:ext cx="5318608" cy="1920240"/>
          </a:xfrm>
          <a:prstGeom prst="roundRect">
            <a:avLst>
              <a:gd name="adj" fmla="val 7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389120"/>
            <a:ext cx="54864" cy="1591056"/>
          </a:xfrm>
          <a:prstGeom prst="rect">
            <a:avLst/>
          </a:prstGeom>
          <a:solidFill>
            <a:srgbClr val="5F4BD8"/>
          </a:solidFill>
          <a:ln/>
        </p:spPr>
      </p:sp>
      <p:sp>
        <p:nvSpPr>
          <p:cNvPr id="17" name="Text 15"/>
          <p:cNvSpPr txBox="1"/>
          <p:nvPr/>
        </p:nvSpPr>
        <p:spPr>
          <a:xfrm>
            <a:off x="6507328" y="4370832"/>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700016"/>
            <a:ext cx="4769968" cy="1316736"/>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(a) sıcak olan eğri</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(b) eşik enerjisinin değişip değişmediği</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(c) hızlı olan durum</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(d) alanların karşılaştırması</a:t>
            </a:r>
            <a:endParaRPr lang="en-US" sz="155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Dağılım grafiğini okumak</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Sıcaklık artınca eğri sağa kayar, yayılır ve tepesi alçalır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eğri 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daha yüksek sıcaklıktadır.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Eşik enerjisi sayıca Ea'ya eşittir ve sıcaklıkla değişmez → iki durumda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aynıdır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grafikte de tek bir eşik çizgisi var.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Dağılım grafiğini okumak</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Eşiğin sağında eğri 2'nin altında kalan alan daha büyük → eşiği aşan tanecik daha çok →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eğri 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'nin sıcaklığında daha hızlıdır.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İki eğri de aynı örneğin toplam tanecik sayısını gösterir → alanlar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eşittir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“Her 10 °C'de 2 kat” kabulüyle süre</a:t>
            </a:r>
            <a:endParaRPr lang="en-US" sz="1450" dirty="0"/>
          </a:p>
        </p:txBody>
      </p:sp>
      <p:sp>
        <p:nvSpPr>
          <p:cNvPr id="8" name="Shape 6"/>
          <p:cNvSpPr/>
          <p:nvPr/>
        </p:nvSpPr>
        <p:spPr>
          <a:xfrm>
            <a:off x="640080" y="1645920"/>
            <a:ext cx="10911535" cy="1627632"/>
          </a:xfrm>
          <a:prstGeom prst="roundRect">
            <a:avLst>
              <a:gd name="adj" fmla="val 8989"/>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170432"/>
          </a:xfrm>
          <a:prstGeom prst="rect">
            <a:avLst/>
          </a:prstGeom>
          <a:noFill/>
          <a:ln/>
        </p:spPr>
        <p:txBody>
          <a:bodyPr wrap="square" lIns="0" tIns="0" rIns="0" bIns="0" rtlCol="0" anchor="t"/>
          <a:lstStyle/>
          <a:p>
            <a:pPr indent="0" marL="0">
              <a:lnSpc>
                <a:spcPct val="116000"/>
              </a:lnSpc>
              <a:buNone/>
            </a:pPr>
            <a:r>
              <a:rPr lang="en-US" sz="2000" dirty="0">
                <a:solidFill>
                  <a:srgbClr val="0E1426"/>
                </a:solidFill>
                <a:latin typeface="Calibri" pitchFamily="34" charset="0"/>
                <a:ea typeface="Calibri" pitchFamily="34" charset="-122"/>
                <a:cs typeface="Calibri" pitchFamily="34" charset="-120"/>
              </a:rPr>
              <a:t>Bir tepkime 20 °C'de 40 dakikada tamamlanıyor. Bu sıcaklık aralığında hızın her 10 °C'lik artışta 2 katına çıktığı kabul ediliyor. Aynı madde miktarlarıyla tepkime (a) 40 °C'de, (b) 10 °C'de yaklaşık kaç dakikada tamamlanır?</a:t>
            </a:r>
            <a:endParaRPr lang="en-US" sz="2000" dirty="0"/>
          </a:p>
        </p:txBody>
      </p:sp>
      <p:sp>
        <p:nvSpPr>
          <p:cNvPr id="11" name="Shape 9"/>
          <p:cNvSpPr/>
          <p:nvPr/>
        </p:nvSpPr>
        <p:spPr>
          <a:xfrm>
            <a:off x="2968641" y="3474720"/>
            <a:ext cx="6254414" cy="2779776"/>
          </a:xfrm>
          <a:prstGeom prst="roundRect">
            <a:avLst>
              <a:gd name="adj" fmla="val 526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7.png">    </p:cNvPr>
          <p:cNvPicPr>
            <a:picLocks noChangeAspect="1"/>
          </p:cNvPicPr>
          <p:nvPr/>
        </p:nvPicPr>
        <p:blipFill>
          <a:blip r:embed="rId1"/>
          <a:stretch>
            <a:fillRect/>
          </a:stretch>
        </p:blipFill>
        <p:spPr>
          <a:xfrm>
            <a:off x="3197241" y="3584448"/>
            <a:ext cx="5797214" cy="2560320"/>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“Her 10 °C'de 2 kat” kabulüyle süre</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tepkime 20 °C'de 40 dakikada tamamlanıyor. Bu sıcaklık aralığında hızın her 10 °C'lik artışta 2 katına çıktığı kabul ediliyor. Aynı madde miktarlarıyla tepkime (a) 40 °C'de, (b) 10 °C'de yaklaşık kaç dakikada tamamlanır?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20 °C'de süre 40 dk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+10 °C'de hız ×2 (sorunun kabulü)</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madde miktarları aynı</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40 °C'deki süre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10 °C'deki süre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“Her 10 °C'de 2 kat” kabulüyle süre</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Madde miktarı aynı olduğu için hız kaç katına çıkarsa süre o kadar kısalır: süre hızla ters orantılıdır.</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20 °C'den 40 °C'ye iki tane 10 °C'lik adım var → hız 2 · 2 = 4 katına çıkar.</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Süre: 40 / 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 dakika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“Her 10 °C'de 2 kat” kabulüyle süre</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20 °C'den 10 °C'ye bir adım aşağı → hız yarıya iner, süre iki katına çıkar: 40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80 dakika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Not: “her 10 °C'de 2 kat” bu sorunun kabulüdür; gerçek çarpan tepkimenin Ea'sına bağlıdır ve çoğunlukla 2 ile 3 arasındadır.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ve asit: eğrileri eşleştir</a:t>
            </a:r>
            <a:endParaRPr lang="en-US" sz="1450" dirty="0"/>
          </a:p>
        </p:txBody>
      </p:sp>
      <p:sp>
        <p:nvSpPr>
          <p:cNvPr id="8" name="Shape 6"/>
          <p:cNvSpPr/>
          <p:nvPr/>
        </p:nvSpPr>
        <p:spPr>
          <a:xfrm>
            <a:off x="640080" y="1645920"/>
            <a:ext cx="10911535" cy="1937004"/>
          </a:xfrm>
          <a:prstGeom prst="roundRect">
            <a:avLst>
              <a:gd name="adj" fmla="val 755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79804"/>
          </a:xfrm>
          <a:prstGeom prst="rect">
            <a:avLst/>
          </a:prstGeom>
          <a:noFill/>
          <a:ln/>
        </p:spPr>
        <p:txBody>
          <a:bodyPr wrap="square" lIns="0" tIns="0" rIns="0" bIns="0" rtlCol="0" anchor="t"/>
          <a:lstStyle/>
          <a:p>
            <a:pPr indent="0" marL="0">
              <a:lnSpc>
                <a:spcPct val="116000"/>
              </a:lnSpc>
              <a:buNone/>
            </a:pPr>
            <a:r>
              <a:rPr lang="en-US" sz="1550" dirty="0">
                <a:solidFill>
                  <a:srgbClr val="0E1426"/>
                </a:solidFill>
                <a:latin typeface="Calibri" pitchFamily="34" charset="0"/>
                <a:ea typeface="Calibri" pitchFamily="34" charset="-122"/>
                <a:cs typeface="Calibri" pitchFamily="34" charset="-120"/>
              </a:rPr>
              <a:t>Aşırı miktarda (20 g) mermer parçalarına üç deneyde HCl çözeltisi ekleniyor: CaCO₃(k) + 2HCl(suda) → CaCl₂(suda) + H₂O(s) + CO₂(g). Deney 1: 100 mL 1 M HCl, 25 °C. Deney 2: 100 mL 2 M HCl, 25 °C. Deney 3: 100 mL 1 M HCl, 45 °C. Mermer parçaları her deneyde aynı büyüklüktedir. Grafikteki a, b ve c eğrilerini deneylerle eşleştiriniz ve her deneyde oluşan CO₂'nin kütlesini bulunuz. (CaCO₃ = 100 g/mol, CO₂ = 44 g/mol)</a:t>
            </a:r>
            <a:endParaRPr lang="en-US" sz="1550" dirty="0"/>
          </a:p>
        </p:txBody>
      </p:sp>
      <p:sp>
        <p:nvSpPr>
          <p:cNvPr id="11" name="Shape 9"/>
          <p:cNvSpPr/>
          <p:nvPr/>
        </p:nvSpPr>
        <p:spPr>
          <a:xfrm>
            <a:off x="3706296" y="3784092"/>
            <a:ext cx="4779103" cy="2470404"/>
          </a:xfrm>
          <a:prstGeom prst="roundRect">
            <a:avLst>
              <a:gd name="adj" fmla="val 592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8.png">    </p:cNvPr>
          <p:cNvPicPr>
            <a:picLocks noChangeAspect="1"/>
          </p:cNvPicPr>
          <p:nvPr/>
        </p:nvPicPr>
        <p:blipFill>
          <a:blip r:embed="rId1"/>
          <a:stretch>
            <a:fillRect/>
          </a:stretch>
        </p:blipFill>
        <p:spPr>
          <a:xfrm>
            <a:off x="3934896" y="3893820"/>
            <a:ext cx="4321903" cy="2250948"/>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ve asit: eğrileri eşleştir</a:t>
            </a:r>
            <a:endParaRPr lang="en-US" sz="1450" dirty="0"/>
          </a:p>
        </p:txBody>
      </p:sp>
      <p:sp>
        <p:nvSpPr>
          <p:cNvPr id="8" name="Shape 6"/>
          <p:cNvSpPr/>
          <p:nvPr/>
        </p:nvSpPr>
        <p:spPr>
          <a:xfrm>
            <a:off x="640080" y="1645920"/>
            <a:ext cx="10911535" cy="2349246"/>
          </a:xfrm>
          <a:prstGeom prst="roundRect">
            <a:avLst>
              <a:gd name="adj" fmla="val 622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800606"/>
          </a:xfrm>
          <a:prstGeom prst="rect">
            <a:avLst/>
          </a:prstGeom>
          <a:noFill/>
          <a:ln/>
        </p:spPr>
        <p:txBody>
          <a:bodyPr wrap="square" lIns="0" tIns="0" rIns="0" bIns="0" rtlCol="0" anchor="t"/>
          <a:lstStyle/>
          <a:p>
            <a:pPr indent="0" marL="0">
              <a:lnSpc>
                <a:spcPct val="118000"/>
              </a:lnSpc>
              <a:buNone/>
            </a:pPr>
            <a:r>
              <a:rPr lang="en-US" sz="1850" dirty="0">
                <a:solidFill>
                  <a:srgbClr val="0E1426"/>
                </a:solidFill>
                <a:latin typeface="Calibri" pitchFamily="34" charset="0"/>
                <a:ea typeface="Calibri" pitchFamily="34" charset="-122"/>
                <a:cs typeface="Calibri" pitchFamily="34" charset="-120"/>
              </a:rPr>
              <a:t>Aşırı miktarda (20 g) mermer parçalarına üç deneyde HCl çözeltisi ekleniyor: CaCO₃(k) + 2HCl(suda) → CaCl₂(suda) + H₂O(s) + CO₂(g). Deney 1: 100 mL 1 M HCl, 25 °C. Deney 2: 100 mL 2 M HCl, 25 °C. Deney 3: 100 mL 1 M HCl, 45 °C. Mermer parçaları her deneyde aynı büyüklüktedir. Grafikteki a, b ve c eğrilerini deneylerle eşleştiriniz ve her deneyde oluşan CO₂'nin kütlesini bulunuz. (CaCO₃ = 100 g/mol, CO₂ = 44 g/mol)</a:t>
            </a:r>
            <a:endParaRPr lang="en-US" sz="1850" dirty="0"/>
          </a:p>
        </p:txBody>
      </p:sp>
      <p:sp>
        <p:nvSpPr>
          <p:cNvPr id="11" name="Shape 9"/>
          <p:cNvSpPr/>
          <p:nvPr/>
        </p:nvSpPr>
        <p:spPr>
          <a:xfrm>
            <a:off x="640080" y="4196334"/>
            <a:ext cx="5318608" cy="1948434"/>
          </a:xfrm>
          <a:prstGeom prst="roundRect">
            <a:avLst>
              <a:gd name="adj" fmla="val 750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360926"/>
            <a:ext cx="54864" cy="1619250"/>
          </a:xfrm>
          <a:prstGeom prst="rect">
            <a:avLst/>
          </a:prstGeom>
          <a:solidFill>
            <a:srgbClr val="2957D4"/>
          </a:solidFill>
          <a:ln/>
        </p:spPr>
      </p:sp>
      <p:sp>
        <p:nvSpPr>
          <p:cNvPr id="13" name="Text 11"/>
          <p:cNvSpPr txBox="1"/>
          <p:nvPr/>
        </p:nvSpPr>
        <p:spPr>
          <a:xfrm>
            <a:off x="914400" y="434263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671822"/>
            <a:ext cx="2339264" cy="134493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m(CaCO₃) = 20 g (aşırı)</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D1: 0,1 L, 1 M, 25 °C</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D2: 0,1 L, 2 M, 25 °C</a:t>
            </a:r>
            <a:endParaRPr lang="en-US" sz="1450" dirty="0"/>
          </a:p>
        </p:txBody>
      </p:sp>
      <p:sp>
        <p:nvSpPr>
          <p:cNvPr id="15" name="Text 13"/>
          <p:cNvSpPr txBox="1"/>
          <p:nvPr/>
        </p:nvSpPr>
        <p:spPr>
          <a:xfrm>
            <a:off x="3381680" y="4671822"/>
            <a:ext cx="2339264" cy="134493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D3: 0,1 L, 1 M, 45 °C</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mermer parçaları aynı</a:t>
            </a:r>
            <a:endParaRPr lang="en-US" sz="1450" dirty="0"/>
          </a:p>
          <a:p>
            <a:pPr marL="203200" indent="-203200">
              <a:lnSpc>
                <a:spcPct val="110000"/>
              </a:lnSpc>
              <a:spcAft>
                <a:spcPts val="500"/>
              </a:spcAft>
              <a:buSzPct val="100000"/>
              <a:buChar char="▪"/>
            </a:pPr>
            <a:r>
              <a:rPr lang="en-US" sz="1450" dirty="0">
                <a:solidFill>
                  <a:srgbClr val="0E1426"/>
                </a:solidFill>
                <a:latin typeface="Calibri" pitchFamily="34" charset="0"/>
                <a:ea typeface="Calibri" pitchFamily="34" charset="-122"/>
                <a:cs typeface="Calibri" pitchFamily="34" charset="-120"/>
              </a:rPr>
              <a:t>M(CaCO₃) = 100 g/mol, M(CO₂) = 44 g/mol</a:t>
            </a:r>
            <a:endParaRPr lang="en-US" sz="1450" dirty="0"/>
          </a:p>
        </p:txBody>
      </p:sp>
      <p:sp>
        <p:nvSpPr>
          <p:cNvPr id="16" name="Shape 14"/>
          <p:cNvSpPr/>
          <p:nvPr/>
        </p:nvSpPr>
        <p:spPr>
          <a:xfrm>
            <a:off x="6233008" y="4196334"/>
            <a:ext cx="5318608" cy="1948434"/>
          </a:xfrm>
          <a:prstGeom prst="roundRect">
            <a:avLst>
              <a:gd name="adj" fmla="val 750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360926"/>
            <a:ext cx="54864" cy="1619250"/>
          </a:xfrm>
          <a:prstGeom prst="rect">
            <a:avLst/>
          </a:prstGeom>
          <a:solidFill>
            <a:srgbClr val="5F4BD8"/>
          </a:solidFill>
          <a:ln/>
        </p:spPr>
      </p:sp>
      <p:sp>
        <p:nvSpPr>
          <p:cNvPr id="18" name="Text 16"/>
          <p:cNvSpPr txBox="1"/>
          <p:nvPr/>
        </p:nvSpPr>
        <p:spPr>
          <a:xfrm>
            <a:off x="6507328" y="434263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671822"/>
            <a:ext cx="4769968" cy="134493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b, c eğrilerinin hangi deneye ait olduğu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deneyde oluşan CO₂ kütlesi</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ve asit: eğrileri eşleştir</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Mol sayıları: n(HCl) = M · V → D1: 0,1 mol; D2: 0,2 mol; D3: 0,1 mol. Mermer: 20 / 100 = 0,2 mol; en çok 0,1 mol gerekir, her deneyde aşırıdır.</a:t>
            </a:r>
            <a:endParaRPr lang="en-US" sz="2000" dirty="0"/>
          </a:p>
        </p:txBody>
      </p:sp>
      <p:sp>
        <p:nvSpPr>
          <p:cNvPr id="12" name="Shape 10"/>
          <p:cNvSpPr/>
          <p:nvPr/>
        </p:nvSpPr>
        <p:spPr>
          <a:xfrm>
            <a:off x="640080" y="3376494"/>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949174"/>
            <a:ext cx="420624" cy="420624"/>
          </a:xfrm>
          <a:prstGeom prst="roundRect">
            <a:avLst>
              <a:gd name="adj" fmla="val 26000"/>
            </a:avLst>
          </a:prstGeom>
          <a:solidFill>
            <a:srgbClr val="A56209"/>
          </a:solidFill>
          <a:ln/>
        </p:spPr>
      </p:sp>
      <p:sp>
        <p:nvSpPr>
          <p:cNvPr id="14" name="Text 12"/>
          <p:cNvSpPr txBox="1"/>
          <p:nvPr/>
        </p:nvSpPr>
        <p:spPr>
          <a:xfrm>
            <a:off x="914400" y="394917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HCl sınırlayıcıdır: n(CO₂) = n(HCl) / 2 → D1 ve D3'te 0,05 mol, D2'de 0,10 mol.</a:t>
            </a:r>
            <a:endParaRPr lang="en-US" sz="2000" dirty="0"/>
          </a:p>
        </p:txBody>
      </p:sp>
      <p:sp>
        <p:nvSpPr>
          <p:cNvPr id="16" name="Shape 14"/>
          <p:cNvSpPr/>
          <p:nvPr/>
        </p:nvSpPr>
        <p:spPr>
          <a:xfrm>
            <a:off x="640080" y="5107069"/>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415606"/>
            <a:ext cx="420624" cy="420624"/>
          </a:xfrm>
          <a:prstGeom prst="roundRect">
            <a:avLst>
              <a:gd name="adj" fmla="val 26000"/>
            </a:avLst>
          </a:prstGeom>
          <a:solidFill>
            <a:srgbClr val="A56209"/>
          </a:solidFill>
          <a:ln/>
        </p:spPr>
      </p:sp>
      <p:sp>
        <p:nvSpPr>
          <p:cNvPr id="18" name="Text 16"/>
          <p:cNvSpPr txBox="1"/>
          <p:nvPr/>
        </p:nvSpPr>
        <p:spPr>
          <a:xfrm>
            <a:off x="914400" y="541560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5161933"/>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Kütleler: 0,05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2,2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(D1 ve D3); 0,10 · 44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4,4 g</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(D2).</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Mermer ve asit: eğrileri eşleştir</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En yüksekte düzleşen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 eğrisi D2</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'dir. a ile c aynı yükseklikte, 2,2 g'da düzleşir: daha dik başlayan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sıcak olan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D3</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'tür;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ise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D1</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D2'de asit hem daha çok hem daha derişik; b bu yüzden c'den dik başlar ve iki kat yüksekte düzleşir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Hızlı başlayan, çok ürün verir mi?</a:t>
            </a:r>
            <a:endParaRPr lang="en-US" sz="1450" dirty="0"/>
          </a:p>
        </p:txBody>
      </p:sp>
      <p:sp>
        <p:nvSpPr>
          <p:cNvPr id="8" name="Shape 6"/>
          <p:cNvSpPr/>
          <p:nvPr/>
        </p:nvSpPr>
        <p:spPr>
          <a:xfrm>
            <a:off x="640080" y="1645920"/>
            <a:ext cx="10911535" cy="1910486"/>
          </a:xfrm>
          <a:prstGeom prst="roundRect">
            <a:avLst>
              <a:gd name="adj" fmla="val 7658"/>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773936"/>
            <a:ext cx="2743200" cy="237744"/>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029968"/>
            <a:ext cx="10271455" cy="1453286"/>
          </a:xfrm>
          <a:prstGeom prst="rect">
            <a:avLst/>
          </a:prstGeom>
          <a:noFill/>
          <a:ln/>
        </p:spPr>
        <p:txBody>
          <a:bodyPr wrap="square" lIns="0" tIns="0" rIns="0" bIns="0" rtlCol="0" anchor="t"/>
          <a:lstStyle/>
          <a:p>
            <a:pPr indent="0" marL="0">
              <a:lnSpc>
                <a:spcPct val="116000"/>
              </a:lnSpc>
              <a:buNone/>
            </a:pPr>
            <a:r>
              <a:rPr lang="en-US" sz="1900" dirty="0">
                <a:solidFill>
                  <a:srgbClr val="0E1426"/>
                </a:solidFill>
                <a:latin typeface="Calibri" pitchFamily="34" charset="0"/>
                <a:ea typeface="Calibri" pitchFamily="34" charset="-122"/>
                <a:cs typeface="Calibri" pitchFamily="34" charset="-120"/>
              </a:rPr>
              <a:t>Aynı sıcaklıktaki iki kapta X(g) + 2Y(g) → Z(g) tepkimesi tam verimle yürüyor: kap I (1 L) 0,2 mol X ve 0,6 mol Y, kap II (2 L) 0,4 mol X ve 0,6 mol Y içeriyor. (a) Hangi kapta tepkime daha hızlı başlar? (b) Tepkime bitince her kapta kaç mol Z oluşur? (c) Hangi kapta daha çok ürün oluşur?</a:t>
            </a:r>
            <a:endParaRPr lang="en-US" sz="1900" dirty="0"/>
          </a:p>
        </p:txBody>
      </p:sp>
      <p:sp>
        <p:nvSpPr>
          <p:cNvPr id="11" name="Shape 9"/>
          <p:cNvSpPr/>
          <p:nvPr/>
        </p:nvSpPr>
        <p:spPr>
          <a:xfrm>
            <a:off x="3336730" y="3757574"/>
            <a:ext cx="5518235" cy="2496922"/>
          </a:xfrm>
          <a:prstGeom prst="roundRect">
            <a:avLst>
              <a:gd name="adj" fmla="val 585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1d623a45-0112-427a-9abb-0c648368bda2/scratchpad/sunum/sekiller/hiz-faktorleri-19.png">    </p:cNvPr>
          <p:cNvPicPr>
            <a:picLocks noChangeAspect="1"/>
          </p:cNvPicPr>
          <p:nvPr/>
        </p:nvPicPr>
        <p:blipFill>
          <a:blip r:embed="rId1"/>
          <a:stretch>
            <a:fillRect/>
          </a:stretch>
        </p:blipFill>
        <p:spPr>
          <a:xfrm>
            <a:off x="3565330" y="3867302"/>
            <a:ext cx="5061035" cy="2277466"/>
          </a:xfrm>
          <a:prstGeom prst="rect">
            <a:avLst/>
          </a:prstGeom>
        </p:spPr>
      </p:pic>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Verilenler ve istenen</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Hızlı başlayan, çok ürün verir mi?</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Aynı sıcaklıktaki iki kapta X(g) + 2Y(g) → Z(g) tepkimesi tam verimle yürüyor: kap I (1 L) 0,2 mol X ve 0,6 mol Y, kap II (2 L) 0,4 mol X ve 0,6 mol Y içeriyor. (a) Hangi kapta tepkime daha hızlı başlar? (b) Tepkime bitince her kapta kaç mol Z oluşur? (c) Hangi kapta daha çok ürün oluşur?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I: V = 1 L, n(X) = 0,2 mol, n(Y) = 0,6 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II: V = 2 L, n(X) = 0,4 mol, n(Y) = 0,6 mol</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katsayılar 1 : 2 : 1</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tam verim</a:t>
            </a:r>
            <a:endParaRPr lang="en-US" sz="155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hızlı başlayan kap</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her kapta oluşan Z (mol)</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çok ürün veren kap</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Hızlı başlayan, çok ürün verir mi?</a:t>
            </a:r>
            <a:endParaRPr lang="en-US" sz="1450" dirty="0"/>
          </a:p>
        </p:txBody>
      </p:sp>
      <p:sp>
        <p:nvSpPr>
          <p:cNvPr id="8" name="Shape 6"/>
          <p:cNvSpPr/>
          <p:nvPr/>
        </p:nvSpPr>
        <p:spPr>
          <a:xfrm>
            <a:off x="640080" y="1645920"/>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18599"/>
            <a:ext cx="420624" cy="420624"/>
          </a:xfrm>
          <a:prstGeom prst="roundRect">
            <a:avLst>
              <a:gd name="adj" fmla="val 26000"/>
            </a:avLst>
          </a:prstGeom>
          <a:solidFill>
            <a:srgbClr val="A56209"/>
          </a:solidFill>
          <a:ln/>
        </p:spPr>
      </p:sp>
      <p:sp>
        <p:nvSpPr>
          <p:cNvPr id="10" name="Text 8"/>
          <p:cNvSpPr txBox="1"/>
          <p:nvPr/>
        </p:nvSpPr>
        <p:spPr>
          <a:xfrm>
            <a:off x="914400" y="2218599"/>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Derişimler: I'de [X] = 0,2 M, [Y] = 0,6 M; II'de [X] = 0,4 / 2 = 0,2 M, [Y] = 0,6 / 2 = 0,3 M.</a:t>
            </a:r>
            <a:endParaRPr lang="en-US" sz="2000" dirty="0"/>
          </a:p>
        </p:txBody>
      </p:sp>
      <p:sp>
        <p:nvSpPr>
          <p:cNvPr id="12" name="Shape 10"/>
          <p:cNvSpPr/>
          <p:nvPr/>
        </p:nvSpPr>
        <p:spPr>
          <a:xfrm>
            <a:off x="640080" y="3376494"/>
            <a:ext cx="10911535" cy="1037699"/>
          </a:xfrm>
          <a:prstGeom prst="roundRect">
            <a:avLst>
              <a:gd name="adj" fmla="val 14099"/>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685032"/>
            <a:ext cx="420624" cy="420624"/>
          </a:xfrm>
          <a:prstGeom prst="roundRect">
            <a:avLst>
              <a:gd name="adj" fmla="val 26000"/>
            </a:avLst>
          </a:prstGeom>
          <a:solidFill>
            <a:srgbClr val="A56209"/>
          </a:solidFill>
          <a:ln/>
        </p:spPr>
      </p:sp>
      <p:sp>
        <p:nvSpPr>
          <p:cNvPr id="14" name="Text 12"/>
          <p:cNvSpPr txBox="1"/>
          <p:nvPr/>
        </p:nvSpPr>
        <p:spPr>
          <a:xfrm>
            <a:off x="914400" y="3685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31358"/>
            <a:ext cx="9859975" cy="927971"/>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[X] eşit, [Y] I'de büyük → tepkime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kap 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 daha hızlı başlar.</a:t>
            </a:r>
            <a:endParaRPr lang="en-US" sz="2000" dirty="0"/>
          </a:p>
        </p:txBody>
      </p:sp>
      <p:sp>
        <p:nvSpPr>
          <p:cNvPr id="16" name="Shape 14"/>
          <p:cNvSpPr/>
          <p:nvPr/>
        </p:nvSpPr>
        <p:spPr>
          <a:xfrm>
            <a:off x="640080" y="4578786"/>
            <a:ext cx="10911535" cy="1565982"/>
          </a:xfrm>
          <a:prstGeom prst="roundRect">
            <a:avLst>
              <a:gd name="adj" fmla="val 93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5151465"/>
            <a:ext cx="420624" cy="420624"/>
          </a:xfrm>
          <a:prstGeom prst="roundRect">
            <a:avLst>
              <a:gd name="adj" fmla="val 26000"/>
            </a:avLst>
          </a:prstGeom>
          <a:solidFill>
            <a:srgbClr val="A56209"/>
          </a:solidFill>
          <a:ln/>
        </p:spPr>
      </p:sp>
      <p:sp>
        <p:nvSpPr>
          <p:cNvPr id="18" name="Text 16"/>
          <p:cNvSpPr txBox="1"/>
          <p:nvPr/>
        </p:nvSpPr>
        <p:spPr>
          <a:xfrm>
            <a:off x="914400" y="515146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633650"/>
            <a:ext cx="9859975" cy="1456254"/>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Kap I: 0,2 mol X için 0,4 mol Y gerekir, 0,6 mol var → X sınırlayıcıdır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0,2 mol 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130</a:t>
            </a:r>
            <a:endParaRPr lang="en-US" sz="10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Hızlı başlayan, çok ürün verir mi?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Kap II: 0,4 mol X için 0,8 mol Y gerekir, yalnızca 0,6 mol var → Y sınırlayıcıdır → 0,6 / 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0,3 mol 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0,1 mol X artar.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(c) Daha çok ürün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kap II</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'de oluşur (0,3 mol &gt; 0,2 mol), oysa kap I daha hızlıdır: hız ile ürün miktarı ayrı sorulardır.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131</a:t>
            </a:r>
            <a:endParaRPr lang="en-US" sz="10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koşullarda hangisi daha hızlı yürür: Ba²⁺(suda) + SO₄²⁻(suda) → BaSO₄(k) mi, bir demir çivinin paslanması mı?</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132</a:t>
            </a:r>
            <a:endParaRPr lang="en-US" sz="10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koşullarda hangisi daha hızlı yürür: Ba²⁺(suda) + SO₄²⁻(suda) → BaSO₄(k) mi, bir demir çivinin paslanması mı?</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Baryum sülfatın çökmesi.</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Zıt yüklü iyonlar çözeltide birbirini çeker ve kırılacak bir bağ yoktur; tepkime çözeltiler karıştığı anda olur. Paslanma ise katı bir yüzeyde, bağların kırılmasını gerektiren yavaş bir tepkimedir.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133</a:t>
            </a:r>
            <a:endParaRPr lang="en-US" sz="10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3 L'lik bir kapta 0,6 mol gaz var. Piston itilerek hacim 1 L'ye indirilirse gazın derişimi kaç M olur, hız nasıl değişir?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134</a:t>
            </a:r>
            <a:endParaRPr lang="en-US" sz="10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3 L'lik bir kapta 0,6 mol gaz var. Piston itilerek hacim 1 L'ye indirilirse gazın derişimi kaç M olur, hız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Önce [X] = 0,6 / 3 = 0,2 M, sonra 0,6 / 1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0,6 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Derişim 3 katına çıkar; tanecikler daha sık çarpışır ve hız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135</a:t>
            </a:r>
            <a:endParaRPr lang="en-US" sz="10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Hızı her 10 °C'de yaklaşık 3 katına çıkan bir tepkime 30 °C'de 6 dakikada bitiyor. 10 °C'de yaklaşık kaç dakikada biter?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136</a:t>
            </a:r>
            <a:endParaRPr lang="en-US" sz="10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Hızı her 10 °C'de yaklaşık 3 katına çıkan bir tepkime 30 °C'de 6 dakikada bitiyor. 10 °C'de yaklaşık kaç dakikada biter?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30 °C'den 10 °C'ye iki adım iner: hız 3 · 3 = 9'da birine düşer, süre 9 katına çıkar: 6 · 9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54 dakika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137</a:t>
            </a:r>
            <a:endParaRPr lang="en-US" sz="10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Ekzotermik bir tepkimenin sıcaklığı 20 °C'den 40 °C'ye çıkarılıyor. Ea, ΔH ve tepkime hızı nasıl değişir?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138</a:t>
            </a:r>
            <a:endParaRPr lang="en-US" sz="10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Ekzotermik bir tepkimenin sıcaklığı 20 °C'den 40 °C'ye çıkarılıyor. Ea, ΔH ve tepkime hızı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Ea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değişmez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ΔH sıcaklıkla biraz değişir (sorularda “değişir” kabul edilir), ama bu küçük değişim hız artışını açıklamaz; hız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çünkü eşiği aşan tanecik payı büyür. Tepkimenin ekzotermik olması bunu değiştirmez.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139</a:t>
            </a:r>
            <a:endParaRPr lang="en-US" sz="10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0,24 g Mg şerit 50 mL 0,2 M HCl ile tepkimeye giriyor. Aynı şerit 50 mL 0,4 M HCl'ye atılsaydı hız ve oluşan H₂'nin mol sayısı nasıl değişirdi? (Mg = 24 g/mol)</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140</a:t>
            </a:r>
            <a:endParaRPr lang="en-US" sz="10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0,24 g Mg şerit 50 mL 0,2 M HCl ile tepkimeye giriyor. Aynı şerit 50 mL 0,4 M HCl'ye atılsaydı hız ve oluşan H₂'nin mol sayısı nasıl değişirdi? (Mg = 24 g/mol)</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n(Mg) = 0,24 / 24 = 0,01 mol. 0,2 M'de n(HCl) = 0,2 · 0,05 = 0,01 mol; 0,01 mol Mg için 0,02 mol HCl gerekir, HCl sınırlayıcıdır: n(H₂) = 0,01 / 2 = 0,005 mol. 0,4 M'de n(HCl) = 0,02 mol ve tam yeter: n(H₂) = 0,01 mol. Derişim iki katı olduğu için hız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artar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H₂ de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iki katına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0,005 molden 0,01 mole çıkar.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141</a:t>
            </a:r>
            <a:endParaRPr lang="en-US" sz="10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88620"/>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“Katı tepken eklemek hızı artırır.”</a:t>
            </a:r>
            <a:endParaRPr lang="en-US" sz="1800" dirty="0"/>
          </a:p>
        </p:txBody>
      </p:sp>
      <p:sp>
        <p:nvSpPr>
          <p:cNvPr id="11" name="Shape 9"/>
          <p:cNvSpPr/>
          <p:nvPr/>
        </p:nvSpPr>
        <p:spPr>
          <a:xfrm>
            <a:off x="841248" y="2253996"/>
            <a:ext cx="310896" cy="310896"/>
          </a:xfrm>
          <a:prstGeom prst="roundRect">
            <a:avLst>
              <a:gd name="adj" fmla="val 26471"/>
            </a:avLst>
          </a:prstGeom>
          <a:solidFill>
            <a:srgbClr val="EAF7DC"/>
          </a:solidFill>
          <a:ln/>
        </p:spPr>
      </p:sp>
      <p:sp>
        <p:nvSpPr>
          <p:cNvPr id="12" name="Text 10"/>
          <p:cNvSpPr txBox="1"/>
          <p:nvPr/>
        </p:nvSpPr>
        <p:spPr>
          <a:xfrm>
            <a:off x="841248" y="225399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35708"/>
            <a:ext cx="4523080" cy="1440180"/>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Katının derişimi değişmez; yüzeyi aynı kaldıkça katı eklemek hızı değiştirmez. Yüzey büyürse hız artabilir, ama bu temas yüzeyinin etkisidir (sonraki konu).</a:t>
            </a:r>
            <a:endParaRPr lang="en-US" sz="16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“Sıcaklık aktifleşme enerjisini düşürür.”</a:t>
            </a:r>
            <a:endParaRPr lang="en-US" sz="1800" dirty="0"/>
          </a:p>
        </p:txBody>
      </p:sp>
      <p:sp>
        <p:nvSpPr>
          <p:cNvPr id="18" name="Shape 16"/>
          <p:cNvSpPr/>
          <p:nvPr/>
        </p:nvSpPr>
        <p:spPr>
          <a:xfrm>
            <a:off x="6406744" y="2569464"/>
            <a:ext cx="310896" cy="310896"/>
          </a:xfrm>
          <a:prstGeom prst="roundRect">
            <a:avLst>
              <a:gd name="adj" fmla="val 26471"/>
            </a:avLst>
          </a:prstGeom>
          <a:solidFill>
            <a:srgbClr val="EAF7DC"/>
          </a:solidFill>
          <a:ln/>
        </p:spPr>
      </p:sp>
      <p:sp>
        <p:nvSpPr>
          <p:cNvPr id="19" name="Text 17"/>
          <p:cNvSpPr txBox="1"/>
          <p:nvPr/>
        </p:nvSpPr>
        <p:spPr>
          <a:xfrm>
            <a:off x="6406744" y="2569464"/>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51176"/>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Ea ve eşik enerjisi sıcaklıkla değişmez; değişen, eşiği aşabilen taneciklerin sayısıdır. Ea'yı düşüren katalizördür.</a:t>
            </a:r>
            <a:endParaRPr lang="en-US" sz="16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“Ekzotermik tepkime ısıtılınca yavaşlar.”</a:t>
            </a:r>
            <a:endParaRPr lang="en-US" sz="1800" dirty="0"/>
          </a:p>
        </p:txBody>
      </p:sp>
      <p:sp>
        <p:nvSpPr>
          <p:cNvPr id="25" name="Shape 23"/>
          <p:cNvSpPr/>
          <p:nvPr/>
        </p:nvSpPr>
        <p:spPr>
          <a:xfrm>
            <a:off x="841248" y="4910328"/>
            <a:ext cx="310896" cy="310896"/>
          </a:xfrm>
          <a:prstGeom prst="roundRect">
            <a:avLst>
              <a:gd name="adj" fmla="val 26471"/>
            </a:avLst>
          </a:prstGeom>
          <a:solidFill>
            <a:srgbClr val="EAF7DC"/>
          </a:solidFill>
          <a:ln/>
        </p:spPr>
      </p:sp>
      <p:sp>
        <p:nvSpPr>
          <p:cNvPr id="26" name="Text 24"/>
          <p:cNvSpPr txBox="1"/>
          <p:nvPr/>
        </p:nvSpPr>
        <p:spPr>
          <a:xfrm>
            <a:off x="841248" y="491032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92040"/>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Her tepkimenin bir Ea'sı vardır; sıcaklık artınca ekzotermik ya da endotermik, bütün tepkimeler hızlanır.</a:t>
            </a:r>
            <a:endParaRPr lang="en-US" sz="16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04088"/>
          </a:xfrm>
          <a:prstGeom prst="rect">
            <a:avLst/>
          </a:prstGeom>
          <a:noFill/>
          <a:ln/>
        </p:spPr>
        <p:txBody>
          <a:bodyPr wrap="square" lIns="0" tIns="0" rIns="0" bIns="0" rtlCol="0" anchor="t"/>
          <a:lstStyle/>
          <a:p>
            <a:pPr indent="0" marL="0">
              <a:lnSpc>
                <a:spcPct val="108000"/>
              </a:lnSpc>
              <a:buNone/>
            </a:pPr>
            <a:r>
              <a:rPr lang="en-US" sz="1800" b="1" dirty="0">
                <a:solidFill>
                  <a:srgbClr val="0E1426"/>
                </a:solidFill>
                <a:latin typeface="Calibri" pitchFamily="34" charset="0"/>
                <a:ea typeface="Calibri" pitchFamily="34" charset="-122"/>
                <a:cs typeface="Calibri" pitchFamily="34" charset="-120"/>
              </a:rPr>
              <a:t>“Sıcaklık hızı yalnızca çarpışmaları çoğaltarak artırır.”</a:t>
            </a:r>
            <a:endParaRPr lang="en-US" sz="1800" dirty="0"/>
          </a:p>
        </p:txBody>
      </p:sp>
      <p:sp>
        <p:nvSpPr>
          <p:cNvPr id="32" name="Shape 30"/>
          <p:cNvSpPr/>
          <p:nvPr/>
        </p:nvSpPr>
        <p:spPr>
          <a:xfrm>
            <a:off x="6406744" y="4910328"/>
            <a:ext cx="310896" cy="310896"/>
          </a:xfrm>
          <a:prstGeom prst="roundRect">
            <a:avLst>
              <a:gd name="adj" fmla="val 26471"/>
            </a:avLst>
          </a:prstGeom>
          <a:solidFill>
            <a:srgbClr val="EAF7DC"/>
          </a:solidFill>
          <a:ln/>
        </p:spPr>
      </p:sp>
      <p:sp>
        <p:nvSpPr>
          <p:cNvPr id="33" name="Text 31"/>
          <p:cNvSpPr txBox="1"/>
          <p:nvPr/>
        </p:nvSpPr>
        <p:spPr>
          <a:xfrm>
            <a:off x="6406744" y="491032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92040"/>
            <a:ext cx="4523080" cy="1124712"/>
          </a:xfrm>
          <a:prstGeom prst="rect">
            <a:avLst/>
          </a:prstGeom>
          <a:noFill/>
          <a:ln/>
        </p:spPr>
        <p:txBody>
          <a:bodyPr wrap="square" lIns="0" tIns="0" rIns="0" bIns="0" rtlCol="0" anchor="t"/>
          <a:lstStyle/>
          <a:p>
            <a:pPr indent="0" marL="0">
              <a:lnSpc>
                <a:spcPct val="108000"/>
              </a:lnSpc>
              <a:buNone/>
            </a:pPr>
            <a:r>
              <a:rPr lang="en-US" sz="1600" dirty="0">
                <a:solidFill>
                  <a:srgbClr val="4A5470"/>
                </a:solidFill>
                <a:latin typeface="Calibri" pitchFamily="34" charset="0"/>
                <a:ea typeface="Calibri" pitchFamily="34" charset="-122"/>
                <a:cs typeface="Calibri" pitchFamily="34" charset="-120"/>
              </a:rPr>
              <a:t> Çarpışma sayısı biraz artar (+10 °C'de yaklaşık %2); asıl etki, eşiği aşan tanecik payının katlanmasıdır.</a:t>
            </a:r>
            <a:endParaRPr lang="en-US" sz="16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142</a:t>
            </a:r>
            <a:endParaRPr lang="en-US" sz="10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379857"/>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“Sıcak eğrinin tepesi daha yüksektir.”</a:t>
            </a:r>
            <a:endParaRPr lang="en-US" sz="1750" dirty="0"/>
          </a:p>
        </p:txBody>
      </p:sp>
      <p:sp>
        <p:nvSpPr>
          <p:cNvPr id="11" name="Shape 9"/>
          <p:cNvSpPr/>
          <p:nvPr/>
        </p:nvSpPr>
        <p:spPr>
          <a:xfrm>
            <a:off x="841248" y="2245233"/>
            <a:ext cx="310896" cy="310896"/>
          </a:xfrm>
          <a:prstGeom prst="roundRect">
            <a:avLst>
              <a:gd name="adj" fmla="val 26471"/>
            </a:avLst>
          </a:prstGeom>
          <a:solidFill>
            <a:srgbClr val="EAF7DC"/>
          </a:solidFill>
          <a:ln/>
        </p:spPr>
      </p:sp>
      <p:sp>
        <p:nvSpPr>
          <p:cNvPr id="12" name="Text 10"/>
          <p:cNvSpPr txBox="1"/>
          <p:nvPr/>
        </p:nvSpPr>
        <p:spPr>
          <a:xfrm>
            <a:off x="841248" y="2245233"/>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26945"/>
            <a:ext cx="4523080" cy="1448943"/>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Sıcaklık artınca dağılımın tepesi alçalır ve sağa kayar; eğrinin altındaki alan aynı kalır.</a:t>
            </a:r>
            <a:endParaRPr lang="en-US" sz="155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“Hızlı yürüyen tepkime daha çok ürün verir.”</a:t>
            </a:r>
            <a:endParaRPr lang="en-US" sz="1750" dirty="0"/>
          </a:p>
        </p:txBody>
      </p:sp>
      <p:sp>
        <p:nvSpPr>
          <p:cNvPr id="18" name="Shape 16"/>
          <p:cNvSpPr/>
          <p:nvPr/>
        </p:nvSpPr>
        <p:spPr>
          <a:xfrm>
            <a:off x="6406744" y="2551938"/>
            <a:ext cx="310896" cy="310896"/>
          </a:xfrm>
          <a:prstGeom prst="roundRect">
            <a:avLst>
              <a:gd name="adj" fmla="val 26471"/>
            </a:avLst>
          </a:prstGeom>
          <a:solidFill>
            <a:srgbClr val="EAF7DC"/>
          </a:solidFill>
          <a:ln/>
        </p:spPr>
      </p:sp>
      <p:sp>
        <p:nvSpPr>
          <p:cNvPr id="19" name="Text 17"/>
          <p:cNvSpPr txBox="1"/>
          <p:nvPr/>
        </p:nvSpPr>
        <p:spPr>
          <a:xfrm>
            <a:off x="6406744" y="2551938"/>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33650"/>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Son ürün miktarını sınırlayıcı tepken belirler; hız yalnızca ürünün ne kadar çabuk oluştuğunu söyler.</a:t>
            </a:r>
            <a:endParaRPr lang="en-US" sz="155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“Aynı derişimde çözelti eklemek hızı artırır.”</a:t>
            </a:r>
            <a:endParaRPr lang="en-US" sz="1750" dirty="0"/>
          </a:p>
        </p:txBody>
      </p:sp>
      <p:sp>
        <p:nvSpPr>
          <p:cNvPr id="25" name="Shape 23"/>
          <p:cNvSpPr/>
          <p:nvPr/>
        </p:nvSpPr>
        <p:spPr>
          <a:xfrm>
            <a:off x="841248" y="4892802"/>
            <a:ext cx="310896" cy="310896"/>
          </a:xfrm>
          <a:prstGeom prst="roundRect">
            <a:avLst>
              <a:gd name="adj" fmla="val 26471"/>
            </a:avLst>
          </a:prstGeom>
          <a:solidFill>
            <a:srgbClr val="EAF7DC"/>
          </a:solidFill>
          <a:ln/>
        </p:spPr>
      </p:sp>
      <p:sp>
        <p:nvSpPr>
          <p:cNvPr id="26" name="Text 24"/>
          <p:cNvSpPr txBox="1"/>
          <p:nvPr/>
        </p:nvSpPr>
        <p:spPr>
          <a:xfrm>
            <a:off x="841248"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Derişim değişmediği için hız da değişmez; yalnızca toplam tepken miktarı artar.</a:t>
            </a:r>
            <a:endParaRPr lang="en-US" sz="155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686562"/>
          </a:xfrm>
          <a:prstGeom prst="rect">
            <a:avLst/>
          </a:prstGeom>
          <a:noFill/>
          <a:ln/>
        </p:spPr>
        <p:txBody>
          <a:bodyPr wrap="square" lIns="0" tIns="0" rIns="0" bIns="0" rtlCol="0" anchor="t"/>
          <a:lstStyle/>
          <a:p>
            <a:pPr indent="0" marL="0">
              <a:lnSpc>
                <a:spcPct val="108000"/>
              </a:lnSpc>
              <a:buNone/>
            </a:pPr>
            <a:r>
              <a:rPr lang="en-US" sz="1750" b="1" dirty="0">
                <a:solidFill>
                  <a:srgbClr val="0E1426"/>
                </a:solidFill>
                <a:latin typeface="Calibri" pitchFamily="34" charset="0"/>
                <a:ea typeface="Calibri" pitchFamily="34" charset="-122"/>
                <a:cs typeface="Calibri" pitchFamily="34" charset="-120"/>
              </a:rPr>
              <a:t>“Sabit hacimli kaba helyum eklemek basıncı artırdığı için hızı artırır.”</a:t>
            </a:r>
            <a:endParaRPr lang="en-US" sz="1750" dirty="0"/>
          </a:p>
        </p:txBody>
      </p:sp>
      <p:sp>
        <p:nvSpPr>
          <p:cNvPr id="32" name="Shape 30"/>
          <p:cNvSpPr/>
          <p:nvPr/>
        </p:nvSpPr>
        <p:spPr>
          <a:xfrm>
            <a:off x="6406744" y="4892802"/>
            <a:ext cx="310896" cy="310896"/>
          </a:xfrm>
          <a:prstGeom prst="roundRect">
            <a:avLst>
              <a:gd name="adj" fmla="val 26471"/>
            </a:avLst>
          </a:prstGeom>
          <a:solidFill>
            <a:srgbClr val="EAF7DC"/>
          </a:solidFill>
          <a:ln/>
        </p:spPr>
      </p:sp>
      <p:sp>
        <p:nvSpPr>
          <p:cNvPr id="33" name="Text 31"/>
          <p:cNvSpPr txBox="1"/>
          <p:nvPr/>
        </p:nvSpPr>
        <p:spPr>
          <a:xfrm>
            <a:off x="6406744" y="489280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874514"/>
            <a:ext cx="4523080" cy="1142238"/>
          </a:xfrm>
          <a:prstGeom prst="rect">
            <a:avLst/>
          </a:prstGeom>
          <a:noFill/>
          <a:ln/>
        </p:spPr>
        <p:txBody>
          <a:bodyPr wrap="square" lIns="0" tIns="0" rIns="0" bIns="0" rtlCol="0" anchor="t"/>
          <a:lstStyle/>
          <a:p>
            <a:pPr indent="0" marL="0">
              <a:lnSpc>
                <a:spcPct val="108000"/>
              </a:lnSpc>
              <a:buNone/>
            </a:pPr>
            <a:r>
              <a:rPr lang="en-US" sz="1550" dirty="0">
                <a:solidFill>
                  <a:srgbClr val="4A5470"/>
                </a:solidFill>
                <a:latin typeface="Calibri" pitchFamily="34" charset="0"/>
                <a:ea typeface="Calibri" pitchFamily="34" charset="-122"/>
                <a:cs typeface="Calibri" pitchFamily="34" charset="-120"/>
              </a:rPr>
              <a:t> Tepkenlerin derişimi değişmez, hız da değişmez. Pistonu serbest bir kapta ise hacim büyür ve hız azalır.</a:t>
            </a:r>
            <a:endParaRPr lang="en-US" sz="155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dersler.perinet.org/hiz-faktorleri.html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143</a:t>
            </a:r>
            <a:endParaRPr lang="en-US" sz="10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İyonlar arası: </a:t>
            </a:r>
            <a:pPr indent="0" marL="0">
              <a:buNone/>
            </a:pPr>
            <a:r>
              <a:rPr lang="en-US" sz="1500" b="1" dirty="0">
                <a:solidFill>
                  <a:srgbClr val="FFFFFF"/>
                </a:solidFill>
                <a:latin typeface="Calibri" pitchFamily="34" charset="0"/>
                <a:ea typeface="Calibri" pitchFamily="34" charset="-122"/>
                <a:cs typeface="Calibri" pitchFamily="34" charset="-120"/>
              </a:rPr>
              <a:t>çok hızlı</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Gaz &gt; sıvı &gt; </a:t>
            </a:r>
            <a:pPr indent="0" marL="0">
              <a:buNone/>
            </a:pPr>
            <a:r>
              <a:rPr lang="en-US" sz="1500" b="1" dirty="0">
                <a:solidFill>
                  <a:srgbClr val="FFFFFF"/>
                </a:solidFill>
                <a:latin typeface="Calibri" pitchFamily="34" charset="0"/>
                <a:ea typeface="Calibri" pitchFamily="34" charset="-122"/>
                <a:cs typeface="Calibri" pitchFamily="34" charset="-120"/>
              </a:rPr>
              <a:t>katı</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Derişim ↑: </a:t>
            </a:r>
            <a:pPr indent="0" marL="0">
              <a:buNone/>
            </a:pPr>
            <a:r>
              <a:rPr lang="en-US" sz="1500" b="1" dirty="0">
                <a:solidFill>
                  <a:srgbClr val="FFFFFF"/>
                </a:solidFill>
                <a:latin typeface="Calibri" pitchFamily="34" charset="0"/>
                <a:ea typeface="Calibri" pitchFamily="34" charset="-122"/>
                <a:cs typeface="Calibri" pitchFamily="34" charset="-120"/>
              </a:rPr>
              <a:t>çarpışma ↑</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Sıcaklık ↑: </a:t>
            </a:r>
            <a:pPr indent="0" marL="0">
              <a:buNone/>
            </a:pPr>
            <a:r>
              <a:rPr lang="en-US" sz="1500" b="1" dirty="0">
                <a:solidFill>
                  <a:srgbClr val="FFFFFF"/>
                </a:solidFill>
                <a:latin typeface="Calibri" pitchFamily="34" charset="0"/>
                <a:ea typeface="Calibri" pitchFamily="34" charset="-122"/>
                <a:cs typeface="Calibri" pitchFamily="34" charset="-120"/>
              </a:rPr>
              <a:t>her tepkime hızlanır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Hız ∝ etkin çarpışma sayısı</a:t>
            </a:r>
            <a:endParaRPr lang="en-US" sz="1350" dirty="0"/>
          </a:p>
        </p:txBody>
      </p:sp>
      <p:sp>
        <p:nvSpPr>
          <p:cNvPr id="16" name="Text 14"/>
          <p:cNvSpPr txBox="1"/>
          <p:nvPr/>
        </p:nvSpPr>
        <p:spPr>
          <a:xfrm>
            <a:off x="9631375" y="239572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bütün faktörlerin ortak yolu</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[X] = n / V</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molar derişim (mol/L)</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910535"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Sıcaklık ↑ → eşiği aşan pay ↑</a:t>
            </a:r>
            <a:endParaRPr lang="en-US" sz="1350" dirty="0"/>
          </a:p>
        </p:txBody>
      </p:sp>
      <p:sp>
        <p:nvSpPr>
          <p:cNvPr id="22" name="Text 20"/>
          <p:cNvSpPr txBox="1"/>
          <p:nvPr/>
        </p:nvSpPr>
        <p:spPr>
          <a:xfrm>
            <a:off x="9631375" y="4041648"/>
            <a:ext cx="1737360"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enerji dağılımı yayılır</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69290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+10 °C → hız ≈ 2–3 katı</a:t>
            </a:r>
            <a:endParaRPr lang="en-US" sz="1350" dirty="0"/>
          </a:p>
        </p:txBody>
      </p:sp>
      <p:sp>
        <p:nvSpPr>
          <p:cNvPr id="25" name="Text 23"/>
          <p:cNvSpPr txBox="1"/>
          <p:nvPr/>
        </p:nvSpPr>
        <p:spPr>
          <a:xfrm>
            <a:off x="9413748" y="4864608"/>
            <a:ext cx="195498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oda sıcaklığında, yaklaşık</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dersler.perinet.org/hiz-faktorleri.html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04 · Katalizör ve temas yüzeyi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144</Slides>
  <Notes>144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144</vt:i4>
      </vt:variant>
    </vt:vector>
  </HeadingPairs>
  <TitlesOfParts>
    <vt:vector size="1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Tepkime hızına etki eden faktörler — Dersler</dc:title>
  <dc:subject>Kimya · Kimyasal Tepkimelerde Hız</dc:subject>
  <dc:creator>Dersler</dc:creator>
  <cp:lastModifiedBy>Dersler</cp:lastModifiedBy>
  <cp:revision>1</cp:revision>
  <dcterms:created xsi:type="dcterms:W3CDTF">2026-10-02T16:21:02Z</dcterms:created>
  <dcterms:modified xsi:type="dcterms:W3CDTF">2026-10-02T16:21:02Z</dcterms:modified>
</cp:coreProperties>
</file>