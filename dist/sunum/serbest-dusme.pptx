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a – t · ivme</a:t>
            </a:r>
          </a:p>
        </c:rich>
      </c:tx>
      <c:layout/>
      <c:overlay val="0"/>
    </c:title>
    <c:autoTitleDeleted val="0"/>
    <c:plotArea>
      <c:layout/>
      <c:scatterChart>
        <c:scatterStyle val="lineMarker"/>
        <c:varyColors val="0"/>
        <c:ser>
          <c:idx val="0"/>
          <c:order val="0"/>
          <c:tx>
            <c:strRef>
              <c:f>Sheet1!$B$1</c:f>
              <c:strCache>
                <c:ptCount val="1"/>
                <c:pt idx="0">
                  <c:v>a – t · ivme</c:v>
                </c:pt>
              </c:strCache>
            </c:strRef>
          </c:tx>
          <c:spPr>
            <a:solidFill>
              <a:srgbClr val="6348D4"/>
            </a:solidFill>
            <a:ln w="38100" cap="flat">
              <a:solidFill>
                <a:srgbClr val="6348D4"/>
              </a:solidFill>
              <a:prstDash val="solid"/>
              <a:round/>
            </a:ln>
            <a:effectLst/>
          </c:spPr>
          <c:marker>
            <c:symbol val="none"/>
            <c:size val="6"/>
            <c:spPr>
              <a:solidFill>
                <a:srgbClr val="6348D4"/>
              </a:solidFill>
              <a:ln w="9525" cap="flat">
                <a:solidFill>
                  <a:srgbClr val="6348D4"/>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9.81</c:v>
                </c:pt>
                <c:pt idx="1">
                  <c:v>9.81</c:v>
                </c:pt>
                <c:pt idx="2">
                  <c:v>9.81</c:v>
                </c:pt>
                <c:pt idx="3">
                  <c:v>9.81</c:v>
                </c:pt>
                <c:pt idx="4">
                  <c:v>9.81</c:v>
                </c:pt>
                <c:pt idx="5">
                  <c:v>9.81</c:v>
                </c:pt>
                <c:pt idx="6">
                  <c:v>9.81</c:v>
                </c:pt>
                <c:pt idx="7">
                  <c:v>9.81</c:v>
                </c:pt>
                <c:pt idx="8">
                  <c:v>9.81</c:v>
                </c:pt>
                <c:pt idx="9">
                  <c:v>9.81</c:v>
                </c:pt>
                <c:pt idx="10">
                  <c:v>9.81</c:v>
                </c:pt>
                <c:pt idx="11">
                  <c:v>9.81</c:v>
                </c:pt>
                <c:pt idx="12">
                  <c:v>9.81</c:v>
                </c:pt>
                <c:pt idx="13">
                  <c:v>9.81</c:v>
                </c:pt>
                <c:pt idx="14">
                  <c:v>9.81</c:v>
                </c:pt>
                <c:pt idx="15">
                  <c:v>9.81</c:v>
                </c:pt>
                <c:pt idx="16">
                  <c:v>9.81</c:v>
                </c:pt>
                <c:pt idx="17">
                  <c:v>9.81</c:v>
                </c:pt>
                <c:pt idx="18">
                  <c:v>9.81</c:v>
                </c:pt>
                <c:pt idx="19">
                  <c:v>9.81</c:v>
                </c:pt>
                <c:pt idx="20">
                  <c:v>9.81</c:v>
                </c:pt>
                <c:pt idx="21">
                  <c:v>9.81</c:v>
                </c:pt>
                <c:pt idx="22">
                  <c:v>9.81</c:v>
                </c:pt>
                <c:pt idx="23">
                  <c:v>9.81</c:v>
                </c:pt>
                <c:pt idx="24">
                  <c:v>9.81</c:v>
                </c:pt>
                <c:pt idx="25">
                  <c:v>9.81</c:v>
                </c:pt>
                <c:pt idx="26">
                  <c:v>9.81</c:v>
                </c:pt>
                <c:pt idx="27">
                  <c:v>9.81</c:v>
                </c:pt>
                <c:pt idx="28">
                  <c:v>9.81</c:v>
                </c:pt>
                <c:pt idx="29">
                  <c:v>9.81</c:v>
                </c:pt>
                <c:pt idx="30">
                  <c:v>9.81</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m/s²</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v – t · hız</a:t>
            </a:r>
          </a:p>
        </c:rich>
      </c:tx>
      <c:layout/>
      <c:overlay val="0"/>
    </c:title>
    <c:autoTitleDeleted val="0"/>
    <c:plotArea>
      <c:layout/>
      <c:scatterChart>
        <c:scatterStyle val="lineMarker"/>
        <c:varyColors val="0"/>
        <c:ser>
          <c:idx val="0"/>
          <c:order val="0"/>
          <c:tx>
            <c:strRef>
              <c:f>Sheet1!$B$1</c:f>
              <c:strCache>
                <c:ptCount val="1"/>
                <c:pt idx="0">
                  <c:v>v – t · hız</c:v>
                </c:pt>
              </c:strCache>
            </c:strRef>
          </c:tx>
          <c:spPr>
            <a:solidFill>
              <a:srgbClr val="3C8C21"/>
            </a:solidFill>
            <a:ln w="38100" cap="flat">
              <a:solidFill>
                <a:srgbClr val="3C8C21"/>
              </a:solidFill>
              <a:prstDash val="solid"/>
              <a:round/>
            </a:ln>
            <a:effectLst/>
          </c:spPr>
          <c:marker>
            <c:symbol val="none"/>
            <c:size val="6"/>
            <c:spPr>
              <a:solidFill>
                <a:srgbClr val="3C8C21"/>
              </a:solidFill>
              <a:ln w="9525" cap="flat">
                <a:solidFill>
                  <a:srgbClr val="3C8C21"/>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0</c:v>
                </c:pt>
                <c:pt idx="1">
                  <c:v>0.98</c:v>
                </c:pt>
                <c:pt idx="2">
                  <c:v>1.96</c:v>
                </c:pt>
                <c:pt idx="3">
                  <c:v>2.94</c:v>
                </c:pt>
                <c:pt idx="4">
                  <c:v>3.92</c:v>
                </c:pt>
                <c:pt idx="5">
                  <c:v>4.91</c:v>
                </c:pt>
                <c:pt idx="6">
                  <c:v>5.89</c:v>
                </c:pt>
                <c:pt idx="7">
                  <c:v>6.87</c:v>
                </c:pt>
                <c:pt idx="8">
                  <c:v>7.85</c:v>
                </c:pt>
                <c:pt idx="9">
                  <c:v>8.83</c:v>
                </c:pt>
                <c:pt idx="10">
                  <c:v>9.81</c:v>
                </c:pt>
                <c:pt idx="11">
                  <c:v>10.79</c:v>
                </c:pt>
                <c:pt idx="12">
                  <c:v>11.77</c:v>
                </c:pt>
                <c:pt idx="13">
                  <c:v>12.75</c:v>
                </c:pt>
                <c:pt idx="14">
                  <c:v>13.73</c:v>
                </c:pt>
                <c:pt idx="15">
                  <c:v>14.71</c:v>
                </c:pt>
                <c:pt idx="16">
                  <c:v>15.7</c:v>
                </c:pt>
                <c:pt idx="17">
                  <c:v>16.68</c:v>
                </c:pt>
                <c:pt idx="18">
                  <c:v>17.66</c:v>
                </c:pt>
                <c:pt idx="19">
                  <c:v>18.64</c:v>
                </c:pt>
                <c:pt idx="20">
                  <c:v>19.62</c:v>
                </c:pt>
                <c:pt idx="21">
                  <c:v>20.6</c:v>
                </c:pt>
                <c:pt idx="22">
                  <c:v>21.58</c:v>
                </c:pt>
                <c:pt idx="23">
                  <c:v>22.56</c:v>
                </c:pt>
                <c:pt idx="24">
                  <c:v>23.54</c:v>
                </c:pt>
                <c:pt idx="25">
                  <c:v>24.53</c:v>
                </c:pt>
                <c:pt idx="26">
                  <c:v>25.51</c:v>
                </c:pt>
                <c:pt idx="27">
                  <c:v>26.49</c:v>
                </c:pt>
                <c:pt idx="28">
                  <c:v>27.47</c:v>
                </c:pt>
                <c:pt idx="29">
                  <c:v>28.45</c:v>
                </c:pt>
                <c:pt idx="30">
                  <c:v>29.43</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h – t · alınan yol</a:t>
            </a:r>
          </a:p>
        </c:rich>
      </c:tx>
      <c:layout/>
      <c:overlay val="0"/>
    </c:title>
    <c:autoTitleDeleted val="0"/>
    <c:plotArea>
      <c:layout/>
      <c:scatterChart>
        <c:scatterStyle val="lineMarker"/>
        <c:varyColors val="0"/>
        <c:ser>
          <c:idx val="0"/>
          <c:order val="0"/>
          <c:tx>
            <c:strRef>
              <c:f>Sheet1!$B$1</c:f>
              <c:strCache>
                <c:ptCount val="1"/>
                <c:pt idx="0">
                  <c:v>h – t · alınan yol</c:v>
                </c:pt>
              </c:strCache>
            </c:strRef>
          </c:tx>
          <c:spPr>
            <a:solidFill>
              <a:srgbClr val="2A5FD6"/>
            </a:solidFill>
            <a:ln w="38100" cap="flat">
              <a:solidFill>
                <a:srgbClr val="2A5FD6"/>
              </a:solidFill>
              <a:prstDash val="solid"/>
              <a:round/>
            </a:ln>
            <a:effectLst/>
          </c:spPr>
          <c:marker>
            <c:symbol val="none"/>
            <c:size val="6"/>
            <c:spPr>
              <a:solidFill>
                <a:srgbClr val="2A5FD6"/>
              </a:solidFill>
              <a:ln w="9525" cap="flat">
                <a:solidFill>
                  <a:srgbClr val="2A5FD6"/>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0</c:v>
                </c:pt>
                <c:pt idx="1">
                  <c:v>0.05</c:v>
                </c:pt>
                <c:pt idx="2">
                  <c:v>0.2</c:v>
                </c:pt>
                <c:pt idx="3">
                  <c:v>0.44</c:v>
                </c:pt>
                <c:pt idx="4">
                  <c:v>0.78</c:v>
                </c:pt>
                <c:pt idx="5">
                  <c:v>1.23</c:v>
                </c:pt>
                <c:pt idx="6">
                  <c:v>1.77</c:v>
                </c:pt>
                <c:pt idx="7">
                  <c:v>2.4</c:v>
                </c:pt>
                <c:pt idx="8">
                  <c:v>3.14</c:v>
                </c:pt>
                <c:pt idx="9">
                  <c:v>3.97</c:v>
                </c:pt>
                <c:pt idx="10">
                  <c:v>4.91</c:v>
                </c:pt>
                <c:pt idx="11">
                  <c:v>5.94</c:v>
                </c:pt>
                <c:pt idx="12">
                  <c:v>7.06</c:v>
                </c:pt>
                <c:pt idx="13">
                  <c:v>8.29</c:v>
                </c:pt>
                <c:pt idx="14">
                  <c:v>9.61</c:v>
                </c:pt>
                <c:pt idx="15">
                  <c:v>11.04</c:v>
                </c:pt>
                <c:pt idx="16">
                  <c:v>12.56</c:v>
                </c:pt>
                <c:pt idx="17">
                  <c:v>14.18</c:v>
                </c:pt>
                <c:pt idx="18">
                  <c:v>15.89</c:v>
                </c:pt>
                <c:pt idx="19">
                  <c:v>17.71</c:v>
                </c:pt>
                <c:pt idx="20">
                  <c:v>19.62</c:v>
                </c:pt>
                <c:pt idx="21">
                  <c:v>21.63</c:v>
                </c:pt>
                <c:pt idx="22">
                  <c:v>23.74</c:v>
                </c:pt>
                <c:pt idx="23">
                  <c:v>25.95</c:v>
                </c:pt>
                <c:pt idx="24">
                  <c:v>28.25</c:v>
                </c:pt>
                <c:pt idx="25">
                  <c:v>30.66</c:v>
                </c:pt>
                <c:pt idx="26">
                  <c:v>33.16</c:v>
                </c:pt>
                <c:pt idx="27">
                  <c:v>35.76</c:v>
                </c:pt>
                <c:pt idx="28">
                  <c:v>38.46</c:v>
                </c:pt>
                <c:pt idx="29">
                  <c:v>41.25</c:v>
                </c:pt>
                <c:pt idx="30">
                  <c:v>44.14</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Her aralıkta alınan yol · 1 : 3 : 5 : 7 : 9</a:t>
            </a:r>
          </a:p>
        </c:rich>
      </c:tx>
      <c:layout/>
      <c:overlay val="0"/>
    </c:title>
    <c:autoTitleDeleted val="0"/>
    <c:plotArea>
      <c:layout/>
      <c:barChart>
        <c:barDir val="col"/>
        <c:grouping val="clustered"/>
        <c:varyColors val="0"/>
        <c:ser>
          <c:idx val="0"/>
          <c:order val="0"/>
          <c:tx>
            <c:strRef>
              <c:f>Sheet1!$B$1</c:f>
              <c:strCache>
                <c:ptCount val="1"/>
                <c:pt idx="0">
                  <c:v>O aralıkta alınan yol (m)</c:v>
                </c:pt>
              </c:strCache>
            </c:strRef>
          </c:tx>
          <c:spPr>
            <a:solidFill>
              <a:srgbClr val="C53455"/>
            </a:solidFill>
            <a:ln w="9525" cap="flat">
              <a:solidFill>
                <a:srgbClr val="FFFFFF"/>
              </a:solidFill>
              <a:prstDash val="solid"/>
              <a:round/>
            </a:ln>
            <a:effectLst/>
          </c:spPr>
          <c:invertIfNegative val="0"/>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cat>
            <c:multiLvlStrRef>
              <c:f>Sheet1!$A$2:$A$6</c:f>
              <c:multiLvlStrCache>
                <c:ptCount val="5"/>
                <c:lvl>
                  <c:pt idx="0">
                    <c:v>1. saniye</c:v>
                  </c:pt>
                  <c:pt idx="1">
                    <c:v>2. saniye</c:v>
                  </c:pt>
                  <c:pt idx="2">
                    <c:v>3. saniye</c:v>
                  </c:pt>
                  <c:pt idx="3">
                    <c:v>4. saniye</c:v>
                  </c:pt>
                  <c:pt idx="4">
                    <c:v>5. saniye</c:v>
                  </c:pt>
                </c:lvl>
              </c:multiLvlStrCache>
            </c:multiLvlStrRef>
          </c:cat>
          <c:val>
            <c:numRef>
              <c:f>Sheet1!$B$2:$B$6</c:f>
              <c:numCache>
                <c:formatCode>General</c:formatCode>
                <c:ptCount val="5"/>
                <c:pt idx="0">
                  <c:v>5</c:v>
                </c:pt>
                <c:pt idx="1">
                  <c:v>15</c:v>
                </c:pt>
                <c:pt idx="2">
                  <c:v>25</c:v>
                </c:pt>
                <c:pt idx="3">
                  <c:v>35</c:v>
                </c:pt>
                <c:pt idx="4">
                  <c:v>45</c:v>
                </c:pt>
              </c:numCache>
            </c:numRef>
          </c:val>
        </c:ser>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eşit süreli dilimler</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catAx>
      <c:valAx>
        <c:axId val="2094734552"/>
        <c:scaling>
          <c:orientation val="minMax"/>
          <c:max val="52"/>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Yerçekimi ivmesi</a:t>
            </a:r>
          </a:p>
        </c:rich>
      </c:tx>
      <c:layout/>
      <c:overlay val="0"/>
    </c:title>
    <c:autoTitleDeleted val="0"/>
    <c:plotArea>
      <c:layout/>
      <c:barChart>
        <c:barDir val="col"/>
        <c:grouping val="clustered"/>
        <c:varyColors val="0"/>
        <c:ser>
          <c:idx val="0"/>
          <c:order val="0"/>
          <c:tx>
            <c:strRef>
              <c:f>Sheet1!$B$1</c:f>
              <c:strCache>
                <c:ptCount val="1"/>
                <c:pt idx="0">
                  <c:v>g (m/s²)</c:v>
                </c:pt>
              </c:strCache>
            </c:strRef>
          </c:tx>
          <c:spPr>
            <a:solidFill>
              <a:srgbClr val="6348D4"/>
            </a:solidFill>
            <a:ln w="9525" cap="flat">
              <a:solidFill>
                <a:srgbClr val="FFFFFF"/>
              </a:solidFill>
              <a:prstDash val="solid"/>
              <a:round/>
            </a:ln>
            <a:effectLst/>
          </c:spPr>
          <c:invertIfNegative val="0"/>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dPt>
            <c:idx val="0"/>
            <c:invertIfNegative val="0"/>
            <c:bubble3D val="0"/>
            <c:spPr>
              <a:solidFill>
                <a:srgbClr val="6348D4"/>
              </a:solidFill>
              <a:effectLst/>
            </c:spPr>
          </c:dPt>
          <c:dPt>
            <c:idx val="1"/>
            <c:invertIfNegative val="0"/>
            <c:bubble3D val="0"/>
            <c:spPr>
              <a:solidFill>
                <a:srgbClr val="C53455"/>
              </a:solidFill>
              <a:effectLst/>
            </c:spPr>
          </c:dPt>
          <c:dPt>
            <c:idx val="2"/>
            <c:invertIfNegative val="0"/>
            <c:bubble3D val="0"/>
            <c:spPr>
              <a:solidFill>
                <a:srgbClr val="3C8C21"/>
              </a:solidFill>
              <a:effectLst/>
            </c:spPr>
          </c:dPt>
          <c:dPt>
            <c:idx val="3"/>
            <c:invertIfNegative val="0"/>
            <c:bubble3D val="0"/>
            <c:spPr>
              <a:solidFill>
                <a:srgbClr val="A56209"/>
              </a:solidFill>
              <a:effectLst/>
            </c:spPr>
          </c:dPt>
          <c:cat>
            <c:multiLvlStrRef>
              <c:f>Sheet1!$A$2:$A$5</c:f>
              <c:multiLvlStrCache>
                <c:ptCount val="4"/>
                <c:lvl>
                  <c:pt idx="0">
                    <c:v>Ay</c:v>
                  </c:pt>
                  <c:pt idx="1">
                    <c:v>Mars</c:v>
                  </c:pt>
                  <c:pt idx="2">
                    <c:v>Dünya</c:v>
                  </c:pt>
                  <c:pt idx="3">
                    <c:v>Jüpiter</c:v>
                  </c:pt>
                </c:lvl>
              </c:multiLvlStrCache>
            </c:multiLvlStrRef>
          </c:cat>
          <c:val>
            <c:numRef>
              <c:f>Sheet1!$B$2:$B$5</c:f>
              <c:numCache>
                <c:formatCode>General</c:formatCode>
                <c:ptCount val="4"/>
                <c:pt idx="0">
                  <c:v>1.62</c:v>
                </c:pt>
                <c:pt idx="1">
                  <c:v>3.72</c:v>
                </c:pt>
                <c:pt idx="2">
                  <c:v>9.81</c:v>
                </c:pt>
                <c:pt idx="3">
                  <c:v>24.79</c:v>
                </c:pt>
              </c:numCache>
            </c:numRef>
          </c:val>
        </c:ser>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Axis Title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catAx>
      <c:valAx>
        <c:axId val="2094734552"/>
        <c:scaling>
          <c:orientation val="minMax"/>
          <c:max val="28"/>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m/s²</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cismi bırakınca ne olduğunu herkes biliyor; asıl soru NEDEN kütlenin fark etmediği. Sağdaki noktalar eşit zaman aralıklarıyla çekilmiş bir strobo fotoğrafı: aralar büyüyor, çünkü hız artıyor.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Dersin haritası. Öğrenciye sırayla nereye gideceğimizi söyle; 5. başlık sınavda en çok soru çıkan 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koşulu tek tek sor: 'Yukarı attığım taş serbest düşme yapıyor mu?' Cevap: çıkarken de inerken de ivmesi g, ama ilk hızı sıfır olmadığı için adı düşey atış.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Tahtada m'leri sadeleştirerek göster. Ardından sor: 'Ağır cisme daha büyük kuvvet etki ediyorsa neden daha hızlı düşmüyor?' Cevap eylemsizlik.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bağıntının üçü bağımsız; dördüncüsü ikincinin t'ye göre çözülmüş hâli. Öğrenciye 'hangi büyüklük verilmiş, hangisi isteniyor' diye sordur.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grafiği birbirine bağla: a–t'nin altındaki alan hız değişimi, v–t'nin altındaki alan yol. Sınavda en sık 'v–t'nin eğimi nedir' diye sorulur: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Çubukların boyları tek sayılar; farkları hep 10 m (= g·Δt²). Öğrenciye 'son saniyede 45 m düşen cisim kaç saniyede indi' diye sor: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Klasik sınav tuzağı burada: tepe noktada v = 0 ama a = g. Simetriyi kullanarak 'kaç saniye sonra aynı hızla geçer' sorularını hızlıca çözdür.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Buradaki mesaj: derste 'ihmal ediyoruz' dediğimiz şey gerçek hayatta paraşütü çalıştıran şeydir. Limit hız formülü müfredat dışı, sayısal örnek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Süre g'nin kareköküyle ters orantılı. Jüpiter'de g 15 kat büyük ama süre yalnızca ~4 kat kısa; kökü vurgula.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şıkkı üç farklı bağıntıyla çözdük. (c) şıkkında iki yolu da göster: fark alma ve tek sayılar kuralı.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soru tipi her yıl çıkıyor. Kısa yolu ezberletme, nereden geldiğini 7. slayttaki çubuklarla bağla.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slaytı ders sonunda tekrar aç; öğrencilerden kendi yaptıkları hatayı söylemelerini 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Kapanış: dört maddeyi öğrencilere tekrar ettir, sonra siteyi açıp laboratuvarda yüksekliği değiştirerek süre–yükseklik ilişkisini canlı gösterebilirsin.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30"/>
        </a:solidFill>
      </p:bgPr>
    </p:bg>
    <p:spTree>
      <p:nvGrpSpPr>
        <p:cNvPr id="1" name=""/>
        <p:cNvGrpSpPr/>
        <p:nvPr/>
      </p:nvGrpSpPr>
      <p:grpSpPr>
        <a:xfrm>
          <a:off x="0" y="0"/>
          <a:ext cx="0" cy="0"/>
          <a:chOff x="0" y="0"/>
          <a:chExt cx="0" cy="0"/>
        </a:xfrm>
      </p:grpSpPr>
      <p:sp>
        <p:nvSpPr>
          <p:cNvPr id="2" name="Text 0"/>
          <p:cNvSpPr txBox="1"/>
          <p:nvPr/>
        </p:nvSpPr>
        <p:spPr>
          <a:xfrm>
            <a:off x="868680" y="1600200"/>
            <a:ext cx="5486400" cy="320040"/>
          </a:xfrm>
          <a:prstGeom prst="rect">
            <a:avLst/>
          </a:prstGeom>
          <a:noFill/>
          <a:ln/>
        </p:spPr>
        <p:txBody>
          <a:bodyPr wrap="square" lIns="0" tIns="0" rIns="0" bIns="0" rtlCol="0" anchor="ctr"/>
          <a:lstStyle/>
          <a:p>
            <a:pPr indent="0" marL="0">
              <a:buNone/>
            </a:pPr>
            <a:r>
              <a:rPr lang="en-US" sz="1300" b="1" spc="300" kern="0" dirty="0">
                <a:solidFill>
                  <a:srgbClr val="B9EE63"/>
                </a:solidFill>
                <a:latin typeface="Calibri" pitchFamily="34" charset="0"/>
                <a:ea typeface="Calibri" pitchFamily="34" charset="-122"/>
                <a:cs typeface="Calibri" pitchFamily="34" charset="-120"/>
              </a:rPr>
              <a:t>KUVVET VE HAREKET · KONU 01</a:t>
            </a:r>
            <a:endParaRPr lang="en-US" sz="1300" dirty="0"/>
          </a:p>
        </p:txBody>
      </p:sp>
      <p:sp>
        <p:nvSpPr>
          <p:cNvPr id="3" name="Text 1"/>
          <p:cNvSpPr txBox="1"/>
          <p:nvPr/>
        </p:nvSpPr>
        <p:spPr>
          <a:xfrm>
            <a:off x="822960" y="1965960"/>
            <a:ext cx="7498080" cy="128016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Serbest düşme</a:t>
            </a:r>
            <a:endParaRPr lang="en-US" sz="5400" dirty="0"/>
          </a:p>
        </p:txBody>
      </p:sp>
      <p:sp>
        <p:nvSpPr>
          <p:cNvPr id="4" name="Text 2"/>
          <p:cNvSpPr txBox="1"/>
          <p:nvPr/>
        </p:nvSpPr>
        <p:spPr>
          <a:xfrm>
            <a:off x="868680" y="3429000"/>
            <a:ext cx="6309360" cy="1005840"/>
          </a:xfrm>
          <a:prstGeom prst="rect">
            <a:avLst/>
          </a:prstGeom>
          <a:noFill/>
          <a:ln/>
        </p:spPr>
        <p:txBody>
          <a:bodyPr wrap="square" lIns="0" tIns="0" rIns="0" bIns="0" rtlCol="0" anchor="ctr"/>
          <a:lstStyle/>
          <a:p>
            <a:pPr indent="0" marL="0">
              <a:lnSpc>
                <a:spcPct val="125000"/>
              </a:lnSpc>
              <a:buNone/>
            </a:pPr>
            <a:r>
              <a:rPr lang="en-US" sz="1550" dirty="0">
                <a:solidFill>
                  <a:srgbClr val="C3CEE8"/>
                </a:solidFill>
                <a:latin typeface="Calibri" pitchFamily="34" charset="0"/>
                <a:ea typeface="Calibri" pitchFamily="34" charset="-122"/>
                <a:cs typeface="Calibri" pitchFamily="34" charset="-120"/>
              </a:rPr>
              <a:t>Hava direncinin ihmal edildiği yerde bırakılan her cisim, kütlesi ne olursa olsun aynı ivmeyle düşer. Bu dersin tamamı bu tek cümlenin sonuçlarıdır.</a:t>
            </a:r>
            <a:endParaRPr lang="en-US" sz="1550" dirty="0"/>
          </a:p>
        </p:txBody>
      </p:sp>
      <p:sp>
        <p:nvSpPr>
          <p:cNvPr id="5" name="Text 3"/>
          <p:cNvSpPr txBox="1"/>
          <p:nvPr/>
        </p:nvSpPr>
        <p:spPr>
          <a:xfrm>
            <a:off x="868680" y="4617720"/>
            <a:ext cx="6400800" cy="457200"/>
          </a:xfrm>
          <a:prstGeom prst="rect">
            <a:avLst/>
          </a:prstGeom>
          <a:noFill/>
          <a:ln/>
        </p:spPr>
        <p:txBody>
          <a:bodyPr wrap="square" lIns="0" tIns="0" rIns="0" bIns="0" rtlCol="0" anchor="ctr"/>
          <a:lstStyle/>
          <a:p>
            <a:pPr indent="0" marL="0">
              <a:buNone/>
            </a:pPr>
            <a:r>
              <a:rPr lang="en-US" sz="1400" b="1" dirty="0">
                <a:solidFill>
                  <a:srgbClr val="B9EE63"/>
                </a:solidFill>
                <a:latin typeface="Courier New" pitchFamily="34" charset="0"/>
                <a:ea typeface="Courier New" pitchFamily="34" charset="-122"/>
                <a:cs typeface="Courier New" pitchFamily="34" charset="-120"/>
              </a:rPr>
              <a:t>g = 9,81 m/s²   ·   v = g·t   ·   h = ½·g·t²</a:t>
            </a:r>
            <a:endParaRPr lang="en-US" sz="1400" dirty="0"/>
          </a:p>
        </p:txBody>
      </p:sp>
      <p:sp>
        <p:nvSpPr>
          <p:cNvPr id="6" name="Shape 4"/>
          <p:cNvSpPr/>
          <p:nvPr/>
        </p:nvSpPr>
        <p:spPr>
          <a:xfrm>
            <a:off x="9921240" y="685800"/>
            <a:ext cx="292608" cy="292608"/>
          </a:xfrm>
          <a:prstGeom prst="ellipse">
            <a:avLst/>
          </a:prstGeom>
          <a:solidFill>
            <a:srgbClr val="B9EE63">
              <a:alpha val="40000"/>
            </a:srgbClr>
          </a:solidFill>
          <a:ln/>
        </p:spPr>
      </p:sp>
      <p:sp>
        <p:nvSpPr>
          <p:cNvPr id="7" name="Shape 5"/>
          <p:cNvSpPr/>
          <p:nvPr/>
        </p:nvSpPr>
        <p:spPr>
          <a:xfrm>
            <a:off x="9921240" y="1085523"/>
            <a:ext cx="292608" cy="292608"/>
          </a:xfrm>
          <a:prstGeom prst="ellipse">
            <a:avLst/>
          </a:prstGeom>
          <a:solidFill>
            <a:srgbClr val="B9EE63">
              <a:alpha val="52000"/>
            </a:srgbClr>
          </a:solidFill>
          <a:ln/>
        </p:spPr>
      </p:sp>
      <p:sp>
        <p:nvSpPr>
          <p:cNvPr id="8" name="Shape 6"/>
          <p:cNvSpPr/>
          <p:nvPr/>
        </p:nvSpPr>
        <p:spPr>
          <a:xfrm>
            <a:off x="9921240" y="1751729"/>
            <a:ext cx="292608" cy="292608"/>
          </a:xfrm>
          <a:prstGeom prst="ellipse">
            <a:avLst/>
          </a:prstGeom>
          <a:solidFill>
            <a:srgbClr val="B9EE63">
              <a:alpha val="64000"/>
            </a:srgbClr>
          </a:solidFill>
          <a:ln/>
        </p:spPr>
      </p:sp>
      <p:sp>
        <p:nvSpPr>
          <p:cNvPr id="9" name="Shape 7"/>
          <p:cNvSpPr/>
          <p:nvPr/>
        </p:nvSpPr>
        <p:spPr>
          <a:xfrm>
            <a:off x="9921240" y="2684417"/>
            <a:ext cx="292608" cy="292608"/>
          </a:xfrm>
          <a:prstGeom prst="ellipse">
            <a:avLst/>
          </a:prstGeom>
          <a:solidFill>
            <a:srgbClr val="B9EE63">
              <a:alpha val="76000"/>
            </a:srgbClr>
          </a:solidFill>
          <a:ln/>
        </p:spPr>
      </p:sp>
      <p:sp>
        <p:nvSpPr>
          <p:cNvPr id="10" name="Shape 8"/>
          <p:cNvSpPr/>
          <p:nvPr/>
        </p:nvSpPr>
        <p:spPr>
          <a:xfrm>
            <a:off x="9921240" y="3883587"/>
            <a:ext cx="292608" cy="292608"/>
          </a:xfrm>
          <a:prstGeom prst="ellipse">
            <a:avLst/>
          </a:prstGeom>
          <a:solidFill>
            <a:srgbClr val="B9EE63">
              <a:alpha val="88000"/>
            </a:srgbClr>
          </a:solidFill>
          <a:ln/>
        </p:spPr>
      </p:sp>
      <p:sp>
        <p:nvSpPr>
          <p:cNvPr id="11" name="Shape 9"/>
          <p:cNvSpPr/>
          <p:nvPr/>
        </p:nvSpPr>
        <p:spPr>
          <a:xfrm>
            <a:off x="9921240" y="5349240"/>
            <a:ext cx="292608" cy="292608"/>
          </a:xfrm>
          <a:prstGeom prst="ellipse">
            <a:avLst/>
          </a:prstGeom>
          <a:solidFill>
            <a:srgbClr val="B9EE63"/>
          </a:solidFill>
          <a:ln/>
        </p:spPr>
      </p:sp>
      <p:sp>
        <p:nvSpPr>
          <p:cNvPr id="12" name="Text 10"/>
          <p:cNvSpPr txBox="1"/>
          <p:nvPr/>
        </p:nvSpPr>
        <p:spPr>
          <a:xfrm>
            <a:off x="8229600" y="5806440"/>
            <a:ext cx="3108960" cy="274320"/>
          </a:xfrm>
          <a:prstGeom prst="rect">
            <a:avLst/>
          </a:prstGeom>
          <a:noFill/>
          <a:ln/>
        </p:spPr>
        <p:txBody>
          <a:bodyPr wrap="square" lIns="0" tIns="0" rIns="0" bIns="0" rtlCol="0" anchor="ctr"/>
          <a:lstStyle/>
          <a:p>
            <a:pPr algn="r" indent="0" marL="0">
              <a:buNone/>
            </a:pPr>
            <a:r>
              <a:rPr lang="en-US" sz="1050" dirty="0">
                <a:solidFill>
                  <a:srgbClr val="6A7798"/>
                </a:solidFill>
                <a:latin typeface="Calibri" pitchFamily="34" charset="0"/>
                <a:ea typeface="Calibri" pitchFamily="34" charset="-122"/>
                <a:cs typeface="Calibri" pitchFamily="34" charset="-120"/>
              </a:rPr>
              <a:t>eşit zaman aralıkları</a:t>
            </a:r>
            <a:endParaRPr lang="en-US" sz="1050" dirty="0"/>
          </a:p>
        </p:txBody>
      </p:sp>
      <p:sp>
        <p:nvSpPr>
          <p:cNvPr id="13" name="Text 11"/>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Altı başlık: tanımdan başlayıp çözümlü örneklere kadar.</a:t>
            </a:r>
            <a:endParaRPr lang="en-US" sz="1450" dirty="0"/>
          </a:p>
        </p:txBody>
      </p:sp>
      <p:sp>
        <p:nvSpPr>
          <p:cNvPr id="6" name="Shape 4"/>
          <p:cNvSpPr/>
          <p:nvPr/>
        </p:nvSpPr>
        <p:spPr>
          <a:xfrm>
            <a:off x="640080"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Shape 5"/>
          <p:cNvSpPr/>
          <p:nvPr/>
        </p:nvSpPr>
        <p:spPr>
          <a:xfrm>
            <a:off x="896112" y="2039112"/>
            <a:ext cx="384048" cy="384048"/>
          </a:xfrm>
          <a:prstGeom prst="ellipse">
            <a:avLst/>
          </a:prstGeom>
          <a:solidFill>
            <a:srgbClr val="2A5FD6"/>
          </a:solidFill>
          <a:ln/>
        </p:spPr>
      </p:sp>
      <p:sp>
        <p:nvSpPr>
          <p:cNvPr id="8" name="Text 6"/>
          <p:cNvSpPr txBox="1"/>
          <p:nvPr/>
        </p:nvSpPr>
        <p:spPr>
          <a:xfrm>
            <a:off x="896112"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417320"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Tanım ve koşullar</a:t>
            </a:r>
            <a:endParaRPr lang="en-US" sz="1500" dirty="0"/>
          </a:p>
        </p:txBody>
      </p:sp>
      <p:sp>
        <p:nvSpPr>
          <p:cNvPr id="10" name="Text 8"/>
          <p:cNvSpPr txBox="1"/>
          <p:nvPr/>
        </p:nvSpPr>
        <p:spPr>
          <a:xfrm>
            <a:off x="914400"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İlk hız sıfır, tek kuvvet ağırlık, ivme sabit.</a:t>
            </a:r>
            <a:endParaRPr lang="en-US" sz="1250" dirty="0"/>
          </a:p>
        </p:txBody>
      </p:sp>
      <p:sp>
        <p:nvSpPr>
          <p:cNvPr id="11" name="Shape 9"/>
          <p:cNvSpPr/>
          <p:nvPr/>
        </p:nvSpPr>
        <p:spPr>
          <a:xfrm>
            <a:off x="4398264"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Shape 10"/>
          <p:cNvSpPr/>
          <p:nvPr/>
        </p:nvSpPr>
        <p:spPr>
          <a:xfrm>
            <a:off x="4654296" y="2039112"/>
            <a:ext cx="384048" cy="384048"/>
          </a:xfrm>
          <a:prstGeom prst="ellipse">
            <a:avLst/>
          </a:prstGeom>
          <a:solidFill>
            <a:srgbClr val="6348D4"/>
          </a:solidFill>
          <a:ln/>
        </p:spPr>
      </p:sp>
      <p:sp>
        <p:nvSpPr>
          <p:cNvPr id="13" name="Text 11"/>
          <p:cNvSpPr txBox="1"/>
          <p:nvPr/>
        </p:nvSpPr>
        <p:spPr>
          <a:xfrm>
            <a:off x="4654296"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75504"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Kütle neden fark etmez</a:t>
            </a:r>
            <a:endParaRPr lang="en-US" sz="1500" dirty="0"/>
          </a:p>
        </p:txBody>
      </p:sp>
      <p:sp>
        <p:nvSpPr>
          <p:cNvPr id="15" name="Text 13"/>
          <p:cNvSpPr txBox="1"/>
          <p:nvPr/>
        </p:nvSpPr>
        <p:spPr>
          <a:xfrm>
            <a:off x="4672584"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Newton'un ikinci yasasında kütlenin sadeleşmesi.</a:t>
            </a:r>
            <a:endParaRPr lang="en-US" sz="1250" dirty="0"/>
          </a:p>
        </p:txBody>
      </p:sp>
      <p:sp>
        <p:nvSpPr>
          <p:cNvPr id="16" name="Shape 14"/>
          <p:cNvSpPr/>
          <p:nvPr/>
        </p:nvSpPr>
        <p:spPr>
          <a:xfrm>
            <a:off x="8156448"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8412480" y="2039112"/>
            <a:ext cx="384048" cy="384048"/>
          </a:xfrm>
          <a:prstGeom prst="ellipse">
            <a:avLst/>
          </a:prstGeom>
          <a:solidFill>
            <a:srgbClr val="3C8C21"/>
          </a:solidFill>
          <a:ln/>
        </p:spPr>
      </p:sp>
      <p:sp>
        <p:nvSpPr>
          <p:cNvPr id="18" name="Text 16"/>
          <p:cNvSpPr txBox="1"/>
          <p:nvPr/>
        </p:nvSpPr>
        <p:spPr>
          <a:xfrm>
            <a:off x="8412480"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933688"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Temel bağıntılar</a:t>
            </a:r>
            <a:endParaRPr lang="en-US" sz="1500" dirty="0"/>
          </a:p>
        </p:txBody>
      </p:sp>
      <p:sp>
        <p:nvSpPr>
          <p:cNvPr id="20" name="Text 18"/>
          <p:cNvSpPr txBox="1"/>
          <p:nvPr/>
        </p:nvSpPr>
        <p:spPr>
          <a:xfrm>
            <a:off x="8430768"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v = g·t, h = ½g·t², v² = 2gh ve türetmeleri.</a:t>
            </a:r>
            <a:endParaRPr lang="en-US" sz="1250" dirty="0"/>
          </a:p>
        </p:txBody>
      </p:sp>
      <p:sp>
        <p:nvSpPr>
          <p:cNvPr id="21" name="Shape 19"/>
          <p:cNvSpPr/>
          <p:nvPr/>
        </p:nvSpPr>
        <p:spPr>
          <a:xfrm>
            <a:off x="640080"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Shape 20"/>
          <p:cNvSpPr/>
          <p:nvPr/>
        </p:nvSpPr>
        <p:spPr>
          <a:xfrm>
            <a:off x="896112" y="4123944"/>
            <a:ext cx="384048" cy="384048"/>
          </a:xfrm>
          <a:prstGeom prst="ellipse">
            <a:avLst/>
          </a:prstGeom>
          <a:solidFill>
            <a:srgbClr val="A56209"/>
          </a:solidFill>
          <a:ln/>
        </p:spPr>
      </p:sp>
      <p:sp>
        <p:nvSpPr>
          <p:cNvPr id="23" name="Text 21"/>
          <p:cNvSpPr txBox="1"/>
          <p:nvPr/>
        </p:nvSpPr>
        <p:spPr>
          <a:xfrm>
            <a:off x="896112"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417320"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Grafik yorumu</a:t>
            </a:r>
            <a:endParaRPr lang="en-US" sz="1500" dirty="0"/>
          </a:p>
        </p:txBody>
      </p:sp>
      <p:sp>
        <p:nvSpPr>
          <p:cNvPr id="25" name="Text 23"/>
          <p:cNvSpPr txBox="1"/>
          <p:nvPr/>
        </p:nvSpPr>
        <p:spPr>
          <a:xfrm>
            <a:off x="914400"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a–t, v–t, h–t: eğim ve alan ilişkisi.</a:t>
            </a:r>
            <a:endParaRPr lang="en-US" sz="1250" dirty="0"/>
          </a:p>
        </p:txBody>
      </p:sp>
      <p:sp>
        <p:nvSpPr>
          <p:cNvPr id="26" name="Shape 24"/>
          <p:cNvSpPr/>
          <p:nvPr/>
        </p:nvSpPr>
        <p:spPr>
          <a:xfrm>
            <a:off x="4398264"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7" name="Shape 25"/>
          <p:cNvSpPr/>
          <p:nvPr/>
        </p:nvSpPr>
        <p:spPr>
          <a:xfrm>
            <a:off x="4654296" y="4123944"/>
            <a:ext cx="384048" cy="384048"/>
          </a:xfrm>
          <a:prstGeom prst="ellipse">
            <a:avLst/>
          </a:prstGeom>
          <a:solidFill>
            <a:srgbClr val="C53455"/>
          </a:solidFill>
          <a:ln/>
        </p:spPr>
      </p:sp>
      <p:sp>
        <p:nvSpPr>
          <p:cNvPr id="28" name="Text 26"/>
          <p:cNvSpPr txBox="1"/>
          <p:nvPr/>
        </p:nvSpPr>
        <p:spPr>
          <a:xfrm>
            <a:off x="4654296"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75504"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 : 3 : 5 kuralı</a:t>
            </a:r>
            <a:endParaRPr lang="en-US" sz="1500" dirty="0"/>
          </a:p>
        </p:txBody>
      </p:sp>
      <p:sp>
        <p:nvSpPr>
          <p:cNvPr id="30" name="Text 28"/>
          <p:cNvSpPr txBox="1"/>
          <p:nvPr/>
        </p:nvSpPr>
        <p:spPr>
          <a:xfrm>
            <a:off x="4672584"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Eşit sürelerde alınan yollar ve toplamları.</a:t>
            </a:r>
            <a:endParaRPr lang="en-US" sz="1250" dirty="0"/>
          </a:p>
        </p:txBody>
      </p:sp>
      <p:sp>
        <p:nvSpPr>
          <p:cNvPr id="31" name="Shape 29"/>
          <p:cNvSpPr/>
          <p:nvPr/>
        </p:nvSpPr>
        <p:spPr>
          <a:xfrm>
            <a:off x="8156448"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32" name="Shape 30"/>
          <p:cNvSpPr/>
          <p:nvPr/>
        </p:nvSpPr>
        <p:spPr>
          <a:xfrm>
            <a:off x="8412480" y="4123944"/>
            <a:ext cx="384048" cy="384048"/>
          </a:xfrm>
          <a:prstGeom prst="ellipse">
            <a:avLst/>
          </a:prstGeom>
          <a:solidFill>
            <a:srgbClr val="2A5FD6"/>
          </a:solidFill>
          <a:ln/>
        </p:spPr>
      </p:sp>
      <p:sp>
        <p:nvSpPr>
          <p:cNvPr id="33" name="Text 31"/>
          <p:cNvSpPr txBox="1"/>
          <p:nvPr/>
        </p:nvSpPr>
        <p:spPr>
          <a:xfrm>
            <a:off x="8412480"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933688"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Düşey atış · limit hız</a:t>
            </a:r>
            <a:endParaRPr lang="en-US" sz="1500" dirty="0"/>
          </a:p>
        </p:txBody>
      </p:sp>
      <p:sp>
        <p:nvSpPr>
          <p:cNvPr id="35" name="Text 33"/>
          <p:cNvSpPr txBox="1"/>
          <p:nvPr/>
        </p:nvSpPr>
        <p:spPr>
          <a:xfrm>
            <a:off x="8430768"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Yukarı atış simetrisi ve gerçekte hava direnci.</a:t>
            </a:r>
            <a:endParaRPr lang="en-US" sz="125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Bir hareketin serbest düşme sayılması için üç koşul birden aranır.</a:t>
            </a:r>
            <a:endParaRPr lang="en-US" sz="1450" dirty="0"/>
          </a:p>
        </p:txBody>
      </p:sp>
      <p:sp>
        <p:nvSpPr>
          <p:cNvPr id="6" name="Shape 4"/>
          <p:cNvSpPr/>
          <p:nvPr/>
        </p:nvSpPr>
        <p:spPr>
          <a:xfrm>
            <a:off x="640080"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32688"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İlk hız sıfırdır</a:t>
            </a:r>
            <a:endParaRPr lang="en-US" sz="1550" dirty="0"/>
          </a:p>
        </p:txBody>
      </p:sp>
      <p:sp>
        <p:nvSpPr>
          <p:cNvPr id="8" name="Shape 6"/>
          <p:cNvSpPr/>
          <p:nvPr/>
        </p:nvSpPr>
        <p:spPr>
          <a:xfrm>
            <a:off x="932688" y="2395728"/>
            <a:ext cx="1417320" cy="438912"/>
          </a:xfrm>
          <a:prstGeom prst="roundRect">
            <a:avLst>
              <a:gd name="adj" fmla="val 20833"/>
            </a:avLst>
          </a:prstGeom>
          <a:solidFill>
            <a:srgbClr val="FFFFFF"/>
          </a:solidFill>
          <a:ln w="12700">
            <a:solidFill>
              <a:srgbClr val="C7D7F7"/>
            </a:solidFill>
            <a:prstDash val="solid"/>
          </a:ln>
        </p:spPr>
      </p:sp>
      <p:sp>
        <p:nvSpPr>
          <p:cNvPr id="9" name="Text 7"/>
          <p:cNvSpPr txBox="1"/>
          <p:nvPr/>
        </p:nvSpPr>
        <p:spPr>
          <a:xfrm>
            <a:off x="932688" y="2395728"/>
            <a:ext cx="1417320" cy="438912"/>
          </a:xfrm>
          <a:prstGeom prst="rect">
            <a:avLst/>
          </a:prstGeom>
          <a:noFill/>
          <a:ln/>
        </p:spPr>
        <p:txBody>
          <a:bodyPr wrap="square" lIns="0" tIns="0" rIns="0" bIns="0" rtlCol="0" anchor="ctr"/>
          <a:lstStyle/>
          <a:p>
            <a:pPr algn="ctr" indent="0" marL="0">
              <a:buNone/>
            </a:pPr>
            <a:r>
              <a:rPr lang="en-US" sz="1400" b="1" dirty="0">
                <a:solidFill>
                  <a:srgbClr val="2A5FD6"/>
                </a:solidFill>
                <a:latin typeface="Courier New" pitchFamily="34" charset="0"/>
                <a:ea typeface="Courier New" pitchFamily="34" charset="-122"/>
                <a:cs typeface="Courier New" pitchFamily="34" charset="-120"/>
              </a:rPr>
              <a:t>v₀ = 0</a:t>
            </a:r>
            <a:endParaRPr lang="en-US" sz="1400" dirty="0"/>
          </a:p>
        </p:txBody>
      </p:sp>
      <p:sp>
        <p:nvSpPr>
          <p:cNvPr id="10" name="Text 8"/>
          <p:cNvSpPr txBox="1"/>
          <p:nvPr/>
        </p:nvSpPr>
        <p:spPr>
          <a:xfrm>
            <a:off x="932688"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Cisim atılmaz, bırakılır. İlk hız varsa hareketin adı düşey atıştır.</a:t>
            </a:r>
            <a:endParaRPr lang="en-US" sz="1250" dirty="0"/>
          </a:p>
        </p:txBody>
      </p:sp>
      <p:sp>
        <p:nvSpPr>
          <p:cNvPr id="11" name="Shape 9"/>
          <p:cNvSpPr/>
          <p:nvPr/>
        </p:nvSpPr>
        <p:spPr>
          <a:xfrm>
            <a:off x="4398264"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Text 10"/>
          <p:cNvSpPr txBox="1"/>
          <p:nvPr/>
        </p:nvSpPr>
        <p:spPr>
          <a:xfrm>
            <a:off x="4690872"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Tek kuvvet ağırlıktır</a:t>
            </a:r>
            <a:endParaRPr lang="en-US" sz="1550" dirty="0"/>
          </a:p>
        </p:txBody>
      </p:sp>
      <p:sp>
        <p:nvSpPr>
          <p:cNvPr id="13" name="Shape 11"/>
          <p:cNvSpPr/>
          <p:nvPr/>
        </p:nvSpPr>
        <p:spPr>
          <a:xfrm>
            <a:off x="4690872" y="2395728"/>
            <a:ext cx="1417320" cy="438912"/>
          </a:xfrm>
          <a:prstGeom prst="roundRect">
            <a:avLst>
              <a:gd name="adj" fmla="val 20833"/>
            </a:avLst>
          </a:prstGeom>
          <a:solidFill>
            <a:srgbClr val="FFFFFF"/>
          </a:solidFill>
          <a:ln w="12700">
            <a:solidFill>
              <a:srgbClr val="C7D7F7"/>
            </a:solidFill>
            <a:prstDash val="solid"/>
          </a:ln>
        </p:spPr>
      </p:sp>
      <p:sp>
        <p:nvSpPr>
          <p:cNvPr id="14" name="Text 12"/>
          <p:cNvSpPr txBox="1"/>
          <p:nvPr/>
        </p:nvSpPr>
        <p:spPr>
          <a:xfrm>
            <a:off x="4690872" y="2395728"/>
            <a:ext cx="1417320" cy="438912"/>
          </a:xfrm>
          <a:prstGeom prst="rect">
            <a:avLst/>
          </a:prstGeom>
          <a:noFill/>
          <a:ln/>
        </p:spPr>
        <p:txBody>
          <a:bodyPr wrap="square" lIns="0" tIns="0" rIns="0" bIns="0" rtlCol="0" anchor="ctr"/>
          <a:lstStyle/>
          <a:p>
            <a:pPr algn="ctr" indent="0" marL="0">
              <a:buNone/>
            </a:pPr>
            <a:r>
              <a:rPr lang="en-US" sz="1400" b="1" dirty="0">
                <a:solidFill>
                  <a:srgbClr val="6348D4"/>
                </a:solidFill>
                <a:latin typeface="Courier New" pitchFamily="34" charset="0"/>
                <a:ea typeface="Courier New" pitchFamily="34" charset="-122"/>
                <a:cs typeface="Courier New" pitchFamily="34" charset="-120"/>
              </a:rPr>
              <a:t>G = m·g</a:t>
            </a:r>
            <a:endParaRPr lang="en-US" sz="1400" dirty="0"/>
          </a:p>
        </p:txBody>
      </p:sp>
      <p:sp>
        <p:nvSpPr>
          <p:cNvPr id="15" name="Text 13"/>
          <p:cNvSpPr txBox="1"/>
          <p:nvPr/>
        </p:nvSpPr>
        <p:spPr>
          <a:xfrm>
            <a:off x="4690872"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Hava direnci ihmal edilir; sürtünme, itme, kaldırma kuvveti yoktur.</a:t>
            </a:r>
            <a:endParaRPr lang="en-US" sz="1250" dirty="0"/>
          </a:p>
        </p:txBody>
      </p:sp>
      <p:sp>
        <p:nvSpPr>
          <p:cNvPr id="16" name="Shape 14"/>
          <p:cNvSpPr/>
          <p:nvPr/>
        </p:nvSpPr>
        <p:spPr>
          <a:xfrm>
            <a:off x="8156448"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Text 15"/>
          <p:cNvSpPr txBox="1"/>
          <p:nvPr/>
        </p:nvSpPr>
        <p:spPr>
          <a:xfrm>
            <a:off x="8449056"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İvme sabittir</a:t>
            </a:r>
            <a:endParaRPr lang="en-US" sz="1550" dirty="0"/>
          </a:p>
        </p:txBody>
      </p:sp>
      <p:sp>
        <p:nvSpPr>
          <p:cNvPr id="18" name="Shape 16"/>
          <p:cNvSpPr/>
          <p:nvPr/>
        </p:nvSpPr>
        <p:spPr>
          <a:xfrm>
            <a:off x="8449056" y="2395728"/>
            <a:ext cx="1417320" cy="438912"/>
          </a:xfrm>
          <a:prstGeom prst="roundRect">
            <a:avLst>
              <a:gd name="adj" fmla="val 20833"/>
            </a:avLst>
          </a:prstGeom>
          <a:solidFill>
            <a:srgbClr val="FFFFFF"/>
          </a:solidFill>
          <a:ln w="12700">
            <a:solidFill>
              <a:srgbClr val="C7D7F7"/>
            </a:solidFill>
            <a:prstDash val="solid"/>
          </a:ln>
        </p:spPr>
      </p:sp>
      <p:sp>
        <p:nvSpPr>
          <p:cNvPr id="19" name="Text 17"/>
          <p:cNvSpPr txBox="1"/>
          <p:nvPr/>
        </p:nvSpPr>
        <p:spPr>
          <a:xfrm>
            <a:off x="8449056" y="2395728"/>
            <a:ext cx="1417320" cy="438912"/>
          </a:xfrm>
          <a:prstGeom prst="rect">
            <a:avLst/>
          </a:prstGeom>
          <a:noFill/>
          <a:ln/>
        </p:spPr>
        <p:txBody>
          <a:bodyPr wrap="square" lIns="0" tIns="0" rIns="0" bIns="0" rtlCol="0" anchor="ctr"/>
          <a:lstStyle/>
          <a:p>
            <a:pPr algn="ctr" indent="0" marL="0">
              <a:buNone/>
            </a:pPr>
            <a:r>
              <a:rPr lang="en-US" sz="1400" b="1" dirty="0">
                <a:solidFill>
                  <a:srgbClr val="3C8C21"/>
                </a:solidFill>
                <a:latin typeface="Courier New" pitchFamily="34" charset="0"/>
                <a:ea typeface="Courier New" pitchFamily="34" charset="-122"/>
                <a:cs typeface="Courier New" pitchFamily="34" charset="-120"/>
              </a:rPr>
              <a:t>a = g</a:t>
            </a:r>
            <a:endParaRPr lang="en-US" sz="1400" dirty="0"/>
          </a:p>
        </p:txBody>
      </p:sp>
      <p:sp>
        <p:nvSpPr>
          <p:cNvPr id="20" name="Text 18"/>
          <p:cNvSpPr txBox="1"/>
          <p:nvPr/>
        </p:nvSpPr>
        <p:spPr>
          <a:xfrm>
            <a:off x="8449056"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Büyüklüğü g, yönü daima yerin merkezine doğrudur.</a:t>
            </a:r>
            <a:endParaRPr lang="en-US" sz="1250" dirty="0"/>
          </a:p>
        </p:txBody>
      </p:sp>
      <p:sp>
        <p:nvSpPr>
          <p:cNvPr id="21" name="Shape 19"/>
          <p:cNvSpPr/>
          <p:nvPr/>
        </p:nvSpPr>
        <p:spPr>
          <a:xfrm>
            <a:off x="640080" y="4224528"/>
            <a:ext cx="10911535" cy="1600200"/>
          </a:xfrm>
          <a:prstGeom prst="roundRect">
            <a:avLst>
              <a:gd name="adj" fmla="val 8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Text 20"/>
          <p:cNvSpPr txBox="1"/>
          <p:nvPr/>
        </p:nvSpPr>
        <p:spPr>
          <a:xfrm>
            <a:off x="960120" y="4389120"/>
            <a:ext cx="548640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Yerçekimi ivmesi her gökcisminde farklıdır</a:t>
            </a:r>
            <a:endParaRPr lang="en-US" sz="1500" dirty="0"/>
          </a:p>
        </p:txBody>
      </p:sp>
      <p:sp>
        <p:nvSpPr>
          <p:cNvPr id="23" name="Text 21"/>
          <p:cNvSpPr txBox="1"/>
          <p:nvPr/>
        </p:nvSpPr>
        <p:spPr>
          <a:xfrm>
            <a:off x="960120" y="4791456"/>
            <a:ext cx="5394960" cy="82296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Dünya yüzeyinde ortalama 9,81 m/s²; ekvatorda 9,78, kutuplarda 9,83. Problemlerde işlem kolaylığı için çoğunlukla g = 10 m/s² alınır.</a:t>
            </a:r>
            <a:endParaRPr lang="en-US" sz="1250" dirty="0"/>
          </a:p>
        </p:txBody>
      </p:sp>
      <p:sp>
        <p:nvSpPr>
          <p:cNvPr id="24" name="Text 22"/>
          <p:cNvSpPr txBox="1"/>
          <p:nvPr/>
        </p:nvSpPr>
        <p:spPr>
          <a:xfrm>
            <a:off x="6675120"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1,62</a:t>
            </a:r>
            <a:endParaRPr lang="en-US" sz="2100" dirty="0"/>
          </a:p>
        </p:txBody>
      </p:sp>
      <p:sp>
        <p:nvSpPr>
          <p:cNvPr id="25" name="Text 23"/>
          <p:cNvSpPr txBox="1"/>
          <p:nvPr/>
        </p:nvSpPr>
        <p:spPr>
          <a:xfrm>
            <a:off x="6675120"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Ay</a:t>
            </a:r>
            <a:endParaRPr lang="en-US" sz="1150" dirty="0"/>
          </a:p>
        </p:txBody>
      </p:sp>
      <p:sp>
        <p:nvSpPr>
          <p:cNvPr id="26" name="Text 24"/>
          <p:cNvSpPr txBox="1"/>
          <p:nvPr/>
        </p:nvSpPr>
        <p:spPr>
          <a:xfrm>
            <a:off x="6675120"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27" name="Text 25"/>
          <p:cNvSpPr txBox="1"/>
          <p:nvPr/>
        </p:nvSpPr>
        <p:spPr>
          <a:xfrm>
            <a:off x="7845552"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3,72</a:t>
            </a:r>
            <a:endParaRPr lang="en-US" sz="2100" dirty="0"/>
          </a:p>
        </p:txBody>
      </p:sp>
      <p:sp>
        <p:nvSpPr>
          <p:cNvPr id="28" name="Text 26"/>
          <p:cNvSpPr txBox="1"/>
          <p:nvPr/>
        </p:nvSpPr>
        <p:spPr>
          <a:xfrm>
            <a:off x="7845552"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Mars</a:t>
            </a:r>
            <a:endParaRPr lang="en-US" sz="1150" dirty="0"/>
          </a:p>
        </p:txBody>
      </p:sp>
      <p:sp>
        <p:nvSpPr>
          <p:cNvPr id="29" name="Text 27"/>
          <p:cNvSpPr txBox="1"/>
          <p:nvPr/>
        </p:nvSpPr>
        <p:spPr>
          <a:xfrm>
            <a:off x="7845552"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0" name="Text 28"/>
          <p:cNvSpPr txBox="1"/>
          <p:nvPr/>
        </p:nvSpPr>
        <p:spPr>
          <a:xfrm>
            <a:off x="9015984" y="4526280"/>
            <a:ext cx="1097280" cy="457200"/>
          </a:xfrm>
          <a:prstGeom prst="rect">
            <a:avLst/>
          </a:prstGeom>
          <a:noFill/>
          <a:ln/>
        </p:spPr>
        <p:txBody>
          <a:bodyPr wrap="square" lIns="0" tIns="0" rIns="0" bIns="0" rtlCol="0" anchor="ctr"/>
          <a:lstStyle/>
          <a:p>
            <a:pPr algn="ctr" indent="0" marL="0">
              <a:buNone/>
            </a:pPr>
            <a:r>
              <a:rPr lang="en-US" sz="2100" b="1" dirty="0">
                <a:solidFill>
                  <a:srgbClr val="3C8C21"/>
                </a:solidFill>
                <a:latin typeface="Cambria" pitchFamily="34" charset="0"/>
                <a:ea typeface="Cambria" pitchFamily="34" charset="-122"/>
                <a:cs typeface="Cambria" pitchFamily="34" charset="-120"/>
              </a:rPr>
              <a:t>9,81</a:t>
            </a:r>
            <a:endParaRPr lang="en-US" sz="2100" dirty="0"/>
          </a:p>
        </p:txBody>
      </p:sp>
      <p:sp>
        <p:nvSpPr>
          <p:cNvPr id="31" name="Text 29"/>
          <p:cNvSpPr txBox="1"/>
          <p:nvPr/>
        </p:nvSpPr>
        <p:spPr>
          <a:xfrm>
            <a:off x="9015984"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Dünya</a:t>
            </a:r>
            <a:endParaRPr lang="en-US" sz="1150" dirty="0"/>
          </a:p>
        </p:txBody>
      </p:sp>
      <p:sp>
        <p:nvSpPr>
          <p:cNvPr id="32" name="Text 30"/>
          <p:cNvSpPr txBox="1"/>
          <p:nvPr/>
        </p:nvSpPr>
        <p:spPr>
          <a:xfrm>
            <a:off x="9015984"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3" name="Text 31"/>
          <p:cNvSpPr txBox="1"/>
          <p:nvPr/>
        </p:nvSpPr>
        <p:spPr>
          <a:xfrm>
            <a:off x="10186416"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24,79</a:t>
            </a:r>
            <a:endParaRPr lang="en-US" sz="2100" dirty="0"/>
          </a:p>
        </p:txBody>
      </p:sp>
      <p:sp>
        <p:nvSpPr>
          <p:cNvPr id="34" name="Text 32"/>
          <p:cNvSpPr txBox="1"/>
          <p:nvPr/>
        </p:nvSpPr>
        <p:spPr>
          <a:xfrm>
            <a:off x="10186416"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Jüpiter</a:t>
            </a:r>
            <a:endParaRPr lang="en-US" sz="1150" dirty="0"/>
          </a:p>
        </p:txBody>
      </p:sp>
      <p:sp>
        <p:nvSpPr>
          <p:cNvPr id="35" name="Text 33"/>
          <p:cNvSpPr txBox="1"/>
          <p:nvPr/>
        </p:nvSpPr>
        <p:spPr>
          <a:xfrm>
            <a:off x="10186416"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Sezgi 'ağır olan önce düşer' der; Newton'un ikinci yasası tersini söyler.</a:t>
            </a:r>
            <a:endParaRPr lang="en-US" sz="1450" dirty="0"/>
          </a:p>
        </p:txBody>
      </p:sp>
      <p:sp>
        <p:nvSpPr>
          <p:cNvPr id="6" name="Shape 4"/>
          <p:cNvSpPr/>
          <p:nvPr/>
        </p:nvSpPr>
        <p:spPr>
          <a:xfrm>
            <a:off x="640080" y="1828800"/>
            <a:ext cx="3108960" cy="685800"/>
          </a:xfrm>
          <a:prstGeom prst="roundRect">
            <a:avLst>
              <a:gd name="adj" fmla="val 13333"/>
            </a:avLst>
          </a:prstGeom>
          <a:solidFill>
            <a:srgbClr val="EAF0FD"/>
          </a:solidFill>
          <a:ln w="12700">
            <a:solidFill>
              <a:srgbClr val="C7D7F7"/>
            </a:solidFill>
            <a:prstDash val="solid"/>
          </a:ln>
        </p:spPr>
      </p:sp>
      <p:sp>
        <p:nvSpPr>
          <p:cNvPr id="7" name="Text 5"/>
          <p:cNvSpPr txBox="1"/>
          <p:nvPr/>
        </p:nvSpPr>
        <p:spPr>
          <a:xfrm>
            <a:off x="640080" y="1828800"/>
            <a:ext cx="3108960" cy="685800"/>
          </a:xfrm>
          <a:prstGeom prst="rect">
            <a:avLst/>
          </a:prstGeom>
          <a:noFill/>
          <a:ln/>
        </p:spPr>
        <p:txBody>
          <a:bodyPr wrap="square" lIns="0" tIns="0" rIns="0" bIns="0" rtlCol="0" anchor="ctr"/>
          <a:lstStyle/>
          <a:p>
            <a:pPr algn="ctr" indent="0" marL="0">
              <a:buNone/>
            </a:pPr>
            <a:r>
              <a:rPr lang="en-US" sz="1700" b="1" dirty="0">
                <a:solidFill>
                  <a:srgbClr val="2A5FD6"/>
                </a:solidFill>
                <a:latin typeface="Courier New" pitchFamily="34" charset="0"/>
                <a:ea typeface="Courier New" pitchFamily="34" charset="-122"/>
                <a:cs typeface="Courier New" pitchFamily="34" charset="-120"/>
              </a:rPr>
              <a:t>F = m · a</a:t>
            </a:r>
            <a:endParaRPr lang="en-US" sz="1700" dirty="0"/>
          </a:p>
        </p:txBody>
      </p:sp>
      <p:sp>
        <p:nvSpPr>
          <p:cNvPr id="8" name="Shape 6"/>
          <p:cNvSpPr/>
          <p:nvPr/>
        </p:nvSpPr>
        <p:spPr>
          <a:xfrm>
            <a:off x="640080" y="2697480"/>
            <a:ext cx="3108960" cy="685800"/>
          </a:xfrm>
          <a:prstGeom prst="roundRect">
            <a:avLst>
              <a:gd name="adj" fmla="val 13333"/>
            </a:avLst>
          </a:prstGeom>
          <a:solidFill>
            <a:srgbClr val="EAF0FD"/>
          </a:solidFill>
          <a:ln w="12700">
            <a:solidFill>
              <a:srgbClr val="C7D7F7"/>
            </a:solidFill>
            <a:prstDash val="solid"/>
          </a:ln>
        </p:spPr>
      </p:sp>
      <p:sp>
        <p:nvSpPr>
          <p:cNvPr id="9" name="Text 7"/>
          <p:cNvSpPr txBox="1"/>
          <p:nvPr/>
        </p:nvSpPr>
        <p:spPr>
          <a:xfrm>
            <a:off x="640080" y="2697480"/>
            <a:ext cx="3108960" cy="685800"/>
          </a:xfrm>
          <a:prstGeom prst="rect">
            <a:avLst/>
          </a:prstGeom>
          <a:noFill/>
          <a:ln/>
        </p:spPr>
        <p:txBody>
          <a:bodyPr wrap="square" lIns="0" tIns="0" rIns="0" bIns="0" rtlCol="0" anchor="ctr"/>
          <a:lstStyle/>
          <a:p>
            <a:pPr algn="ctr" indent="0" marL="0">
              <a:buNone/>
            </a:pPr>
            <a:r>
              <a:rPr lang="en-US" sz="1700" b="1" dirty="0">
                <a:solidFill>
                  <a:srgbClr val="2A5FD6"/>
                </a:solidFill>
                <a:latin typeface="Courier New" pitchFamily="34" charset="0"/>
                <a:ea typeface="Courier New" pitchFamily="34" charset="-122"/>
                <a:cs typeface="Courier New" pitchFamily="34" charset="-120"/>
              </a:rPr>
              <a:t>m · g = m · a</a:t>
            </a:r>
            <a:endParaRPr lang="en-US" sz="1700" dirty="0"/>
          </a:p>
        </p:txBody>
      </p:sp>
      <p:sp>
        <p:nvSpPr>
          <p:cNvPr id="10" name="Shape 8"/>
          <p:cNvSpPr/>
          <p:nvPr/>
        </p:nvSpPr>
        <p:spPr>
          <a:xfrm>
            <a:off x="640080" y="3566160"/>
            <a:ext cx="3108960" cy="685800"/>
          </a:xfrm>
          <a:prstGeom prst="roundRect">
            <a:avLst>
              <a:gd name="adj" fmla="val 13333"/>
            </a:avLst>
          </a:prstGeom>
          <a:solidFill>
            <a:srgbClr val="EAF7DC"/>
          </a:solidFill>
          <a:ln w="12700">
            <a:solidFill>
              <a:srgbClr val="C7D7F7"/>
            </a:solidFill>
            <a:prstDash val="solid"/>
          </a:ln>
        </p:spPr>
      </p:sp>
      <p:sp>
        <p:nvSpPr>
          <p:cNvPr id="11" name="Text 9"/>
          <p:cNvSpPr txBox="1"/>
          <p:nvPr/>
        </p:nvSpPr>
        <p:spPr>
          <a:xfrm>
            <a:off x="640080" y="3566160"/>
            <a:ext cx="3108960" cy="685800"/>
          </a:xfrm>
          <a:prstGeom prst="rect">
            <a:avLst/>
          </a:prstGeom>
          <a:noFill/>
          <a:ln/>
        </p:spPr>
        <p:txBody>
          <a:bodyPr wrap="square" lIns="0" tIns="0" rIns="0" bIns="0" rtlCol="0" anchor="ctr"/>
          <a:lstStyle/>
          <a:p>
            <a:pPr algn="ctr" indent="0" marL="0">
              <a:buNone/>
            </a:pPr>
            <a:r>
              <a:rPr lang="en-US" sz="1700" b="1" dirty="0">
                <a:solidFill>
                  <a:srgbClr val="3C8C21"/>
                </a:solidFill>
                <a:latin typeface="Courier New" pitchFamily="34" charset="0"/>
                <a:ea typeface="Courier New" pitchFamily="34" charset="-122"/>
                <a:cs typeface="Courier New" pitchFamily="34" charset="-120"/>
              </a:rPr>
              <a:t>a = g</a:t>
            </a:r>
            <a:endParaRPr lang="en-US" sz="1700" dirty="0"/>
          </a:p>
        </p:txBody>
      </p:sp>
      <p:sp>
        <p:nvSpPr>
          <p:cNvPr id="12" name="Text 10"/>
          <p:cNvSpPr txBox="1"/>
          <p:nvPr/>
        </p:nvSpPr>
        <p:spPr>
          <a:xfrm>
            <a:off x="640080" y="4526280"/>
            <a:ext cx="3108960" cy="137160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Kütle eşitliğin iki yanında da bulunduğu için sadeleşir. Ağır cisme daha büyük kuvvet etki eder, ama eylemsizliği de o oranda fazladır; iki etki birbirini tam olarak götürür.</a:t>
            </a:r>
            <a:endParaRPr lang="en-US" sz="1300" dirty="0"/>
          </a:p>
        </p:txBody>
      </p:sp>
      <p:sp>
        <p:nvSpPr>
          <p:cNvPr id="13" name="Shape 11"/>
          <p:cNvSpPr/>
          <p:nvPr/>
        </p:nvSpPr>
        <p:spPr>
          <a:xfrm>
            <a:off x="4206240" y="1783080"/>
            <a:ext cx="3200400" cy="4114800"/>
          </a:xfrm>
          <a:prstGeom prst="roundRect">
            <a:avLst>
              <a:gd name="adj" fmla="val 4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4" name="Shape 12"/>
          <p:cNvSpPr/>
          <p:nvPr/>
        </p:nvSpPr>
        <p:spPr>
          <a:xfrm>
            <a:off x="4709160" y="2240280"/>
            <a:ext cx="384048" cy="384048"/>
          </a:xfrm>
          <a:prstGeom prst="ellipse">
            <a:avLst/>
          </a:prstGeom>
          <a:solidFill>
            <a:srgbClr val="2A5FD6"/>
          </a:solidFill>
          <a:ln/>
        </p:spPr>
      </p:sp>
      <p:sp>
        <p:nvSpPr>
          <p:cNvPr id="15" name="Shape 13"/>
          <p:cNvSpPr/>
          <p:nvPr/>
        </p:nvSpPr>
        <p:spPr>
          <a:xfrm>
            <a:off x="5989320" y="2103120"/>
            <a:ext cx="658368" cy="658368"/>
          </a:xfrm>
          <a:prstGeom prst="ellipse">
            <a:avLst/>
          </a:prstGeom>
          <a:solidFill>
            <a:srgbClr val="6348D4"/>
          </a:solidFill>
          <a:ln/>
        </p:spPr>
      </p:sp>
      <p:sp>
        <p:nvSpPr>
          <p:cNvPr id="16" name="Text 14"/>
          <p:cNvSpPr txBox="1"/>
          <p:nvPr/>
        </p:nvSpPr>
        <p:spPr>
          <a:xfrm>
            <a:off x="3886200" y="2231136"/>
            <a:ext cx="777240" cy="402336"/>
          </a:xfrm>
          <a:prstGeom prst="rect">
            <a:avLst/>
          </a:prstGeom>
          <a:noFill/>
          <a:ln/>
        </p:spPr>
        <p:txBody>
          <a:bodyPr wrap="square" lIns="0" tIns="0" rIns="0" bIns="0" rtlCol="0" anchor="ctr"/>
          <a:lstStyle/>
          <a:p>
            <a:pPr algn="r" indent="0" marL="0">
              <a:buNone/>
            </a:pPr>
            <a:r>
              <a:rPr lang="en-US" sz="1150" b="1" dirty="0">
                <a:solidFill>
                  <a:srgbClr val="2A5FD6"/>
                </a:solidFill>
                <a:latin typeface="Calibri" pitchFamily="34" charset="0"/>
                <a:ea typeface="Calibri" pitchFamily="34" charset="-122"/>
                <a:cs typeface="Calibri" pitchFamily="34" charset="-120"/>
              </a:rPr>
              <a:t>1 kg</a:t>
            </a:r>
            <a:endParaRPr lang="en-US" sz="1150" dirty="0"/>
          </a:p>
        </p:txBody>
      </p:sp>
      <p:sp>
        <p:nvSpPr>
          <p:cNvPr id="17" name="Text 15"/>
          <p:cNvSpPr txBox="1"/>
          <p:nvPr/>
        </p:nvSpPr>
        <p:spPr>
          <a:xfrm>
            <a:off x="6720840" y="2231136"/>
            <a:ext cx="777240" cy="402336"/>
          </a:xfrm>
          <a:prstGeom prst="rect">
            <a:avLst/>
          </a:prstGeom>
          <a:noFill/>
          <a:ln/>
        </p:spPr>
        <p:txBody>
          <a:bodyPr wrap="square" lIns="0" tIns="0" rIns="0" bIns="0" rtlCol="0" anchor="ctr"/>
          <a:lstStyle/>
          <a:p>
            <a:pPr algn="l" indent="0" marL="0">
              <a:buNone/>
            </a:pPr>
            <a:r>
              <a:rPr lang="en-US" sz="1150" b="1" dirty="0">
                <a:solidFill>
                  <a:srgbClr val="6348D4"/>
                </a:solidFill>
                <a:latin typeface="Calibri" pitchFamily="34" charset="0"/>
                <a:ea typeface="Calibri" pitchFamily="34" charset="-122"/>
                <a:cs typeface="Calibri" pitchFamily="34" charset="-120"/>
              </a:rPr>
              <a:t>8 kg</a:t>
            </a:r>
            <a:endParaRPr lang="en-US" sz="1150" dirty="0"/>
          </a:p>
        </p:txBody>
      </p:sp>
      <p:sp>
        <p:nvSpPr>
          <p:cNvPr id="18" name="Shape 16"/>
          <p:cNvSpPr/>
          <p:nvPr/>
        </p:nvSpPr>
        <p:spPr>
          <a:xfrm>
            <a:off x="4480560" y="4800600"/>
            <a:ext cx="2651760" cy="0"/>
          </a:xfrm>
          <a:prstGeom prst="line">
            <a:avLst/>
          </a:prstGeom>
          <a:noFill/>
          <a:ln w="25400">
            <a:solidFill>
              <a:srgbClr val="3C8C21"/>
            </a:solidFill>
            <a:prstDash val="solid"/>
          </a:ln>
        </p:spPr>
      </p:sp>
      <p:sp>
        <p:nvSpPr>
          <p:cNvPr id="19" name="Text 17"/>
          <p:cNvSpPr txBox="1"/>
          <p:nvPr/>
        </p:nvSpPr>
        <p:spPr>
          <a:xfrm>
            <a:off x="4480560" y="4892040"/>
            <a:ext cx="2651760" cy="32004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aynı anda yere iner</a:t>
            </a:r>
            <a:endParaRPr lang="en-US" sz="1250" dirty="0"/>
          </a:p>
        </p:txBody>
      </p:sp>
      <p:sp>
        <p:nvSpPr>
          <p:cNvPr id="20" name="Shape 18"/>
          <p:cNvSpPr/>
          <p:nvPr/>
        </p:nvSpPr>
        <p:spPr>
          <a:xfrm>
            <a:off x="4901184" y="2697480"/>
            <a:ext cx="0" cy="2057400"/>
          </a:xfrm>
          <a:prstGeom prst="line">
            <a:avLst/>
          </a:prstGeom>
          <a:noFill/>
          <a:ln w="19050">
            <a:solidFill>
              <a:srgbClr val="2A5FD6"/>
            </a:solidFill>
            <a:prstDash val="dash"/>
          </a:ln>
        </p:spPr>
      </p:sp>
      <p:sp>
        <p:nvSpPr>
          <p:cNvPr id="21" name="Shape 19"/>
          <p:cNvSpPr/>
          <p:nvPr/>
        </p:nvSpPr>
        <p:spPr>
          <a:xfrm>
            <a:off x="6318504" y="2788920"/>
            <a:ext cx="0" cy="1965960"/>
          </a:xfrm>
          <a:prstGeom prst="line">
            <a:avLst/>
          </a:prstGeom>
          <a:noFill/>
          <a:ln w="19050">
            <a:solidFill>
              <a:srgbClr val="6348D4"/>
            </a:solidFill>
            <a:prstDash val="dash"/>
          </a:ln>
        </p:spPr>
      </p:sp>
      <p:sp>
        <p:nvSpPr>
          <p:cNvPr id="22" name="Text 20"/>
          <p:cNvSpPr txBox="1"/>
          <p:nvPr/>
        </p:nvSpPr>
        <p:spPr>
          <a:xfrm>
            <a:off x="4343400" y="5321808"/>
            <a:ext cx="2926080" cy="274320"/>
          </a:xfrm>
          <a:prstGeom prst="rect">
            <a:avLst/>
          </a:prstGeom>
          <a:noFill/>
          <a:ln/>
        </p:spPr>
        <p:txBody>
          <a:bodyPr wrap="square" lIns="0" tIns="0" rIns="0" bIns="0" rtlCol="0" anchor="ctr"/>
          <a:lstStyle/>
          <a:p>
            <a:pPr algn="ctr" indent="0" marL="0">
              <a:buNone/>
            </a:pPr>
            <a:r>
              <a:rPr lang="en-US" sz="1050" dirty="0">
                <a:solidFill>
                  <a:srgbClr val="78829F"/>
                </a:solidFill>
                <a:latin typeface="Calibri" pitchFamily="34" charset="0"/>
                <a:ea typeface="Calibri" pitchFamily="34" charset="-122"/>
                <a:cs typeface="Calibri" pitchFamily="34" charset="-120"/>
              </a:rPr>
              <a:t>hava direnci ihmal edildiğinde</a:t>
            </a:r>
            <a:endParaRPr lang="en-US" sz="1050" dirty="0"/>
          </a:p>
        </p:txBody>
      </p:sp>
      <p:sp>
        <p:nvSpPr>
          <p:cNvPr id="23" name="Shape 21"/>
          <p:cNvSpPr/>
          <p:nvPr/>
        </p:nvSpPr>
        <p:spPr>
          <a:xfrm>
            <a:off x="7772400" y="1783080"/>
            <a:ext cx="3779215" cy="4114800"/>
          </a:xfrm>
          <a:prstGeom prst="roundRect">
            <a:avLst>
              <a:gd name="adj" fmla="val 338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4" name="Text 22"/>
          <p:cNvSpPr txBox="1"/>
          <p:nvPr/>
        </p:nvSpPr>
        <p:spPr>
          <a:xfrm>
            <a:off x="8092440" y="2011680"/>
            <a:ext cx="30175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1971 · Apollo 15</a:t>
            </a:r>
            <a:endParaRPr lang="en-US" sz="1500" dirty="0"/>
          </a:p>
        </p:txBody>
      </p:sp>
      <p:sp>
        <p:nvSpPr>
          <p:cNvPr id="25" name="Text 23"/>
          <p:cNvSpPr txBox="1"/>
          <p:nvPr/>
        </p:nvSpPr>
        <p:spPr>
          <a:xfrm>
            <a:off x="8092440" y="2468880"/>
            <a:ext cx="3017520" cy="132588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Astronot David Scott, havasız Ay yüzeyinde bir şahin tüyü ile alüminyum bir çekici aynı anda bıraktı. İkisi de aynı anda toza değdi.</a:t>
            </a:r>
            <a:endParaRPr lang="en-US" sz="1300" dirty="0"/>
          </a:p>
        </p:txBody>
      </p:sp>
      <p:sp>
        <p:nvSpPr>
          <p:cNvPr id="26" name="Text 24"/>
          <p:cNvSpPr txBox="1"/>
          <p:nvPr/>
        </p:nvSpPr>
        <p:spPr>
          <a:xfrm>
            <a:off x="8092440" y="3840480"/>
            <a:ext cx="3017520" cy="128016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Günlük hayatta tüyün geride kalmasının sebebi kütlesi değil, hava direncidir. Havası boşaltılmış bir tüpte bu fark tamamen kaybolur.</a:t>
            </a:r>
            <a:endParaRPr lang="en-US" sz="1300" dirty="0"/>
          </a:p>
        </p:txBody>
      </p:sp>
      <p:sp>
        <p:nvSpPr>
          <p:cNvPr id="27" name="Shape 25"/>
          <p:cNvSpPr/>
          <p:nvPr/>
        </p:nvSpPr>
        <p:spPr>
          <a:xfrm>
            <a:off x="8092440" y="5212080"/>
            <a:ext cx="3017520" cy="457200"/>
          </a:xfrm>
          <a:prstGeom prst="roundRect">
            <a:avLst>
              <a:gd name="adj" fmla="val 20000"/>
            </a:avLst>
          </a:prstGeom>
          <a:solidFill>
            <a:srgbClr val="F1EDFB"/>
          </a:solidFill>
          <a:ln w="12700">
            <a:solidFill>
              <a:srgbClr val="C7D7F7"/>
            </a:solidFill>
            <a:prstDash val="solid"/>
          </a:ln>
        </p:spPr>
      </p:sp>
      <p:sp>
        <p:nvSpPr>
          <p:cNvPr id="28" name="Text 26"/>
          <p:cNvSpPr txBox="1"/>
          <p:nvPr/>
        </p:nvSpPr>
        <p:spPr>
          <a:xfrm>
            <a:off x="8092440" y="5212080"/>
            <a:ext cx="3017520" cy="457200"/>
          </a:xfrm>
          <a:prstGeom prst="rect">
            <a:avLst/>
          </a:prstGeom>
          <a:noFill/>
          <a:ln/>
        </p:spPr>
        <p:txBody>
          <a:bodyPr wrap="square" lIns="0" tIns="0" rIns="0" bIns="0" rtlCol="0" anchor="ctr"/>
          <a:lstStyle/>
          <a:p>
            <a:pPr algn="ctr" indent="0" marL="0">
              <a:buNone/>
            </a:pPr>
            <a:r>
              <a:rPr lang="en-US" sz="1200" b="1" dirty="0">
                <a:solidFill>
                  <a:srgbClr val="6348D4"/>
                </a:solidFill>
                <a:latin typeface="Courier New" pitchFamily="34" charset="0"/>
                <a:ea typeface="Courier New" pitchFamily="34" charset="-122"/>
                <a:cs typeface="Courier New" pitchFamily="34" charset="-120"/>
              </a:rPr>
              <a:t>Galileo, 1600'ler</a:t>
            </a:r>
            <a:endParaRPr lang="en-US" sz="1200" dirty="0"/>
          </a:p>
        </p:txBody>
      </p:sp>
      <p:sp>
        <p:nvSpPr>
          <p:cNvPr id="29" name="Text 27"/>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30" name="Text 2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3C8C21"/>
          </a:solidFill>
          <a:ln w="12700">
            <a:solidFill>
              <a:srgbClr val="3C8C21"/>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Aşağı yön pozitif, v₀ = 0 ve a = g alındığında sabit ivmeli hareket denklemleri sadeleşir.</a:t>
            </a:r>
            <a:endParaRPr lang="en-US" sz="1450" dirty="0"/>
          </a:p>
        </p:txBody>
      </p:sp>
      <p:sp>
        <p:nvSpPr>
          <p:cNvPr id="6" name="Shape 4"/>
          <p:cNvSpPr/>
          <p:nvPr/>
        </p:nvSpPr>
        <p:spPr>
          <a:xfrm>
            <a:off x="640080" y="1783080"/>
            <a:ext cx="2587752" cy="868680"/>
          </a:xfrm>
          <a:prstGeom prst="roundRect">
            <a:avLst>
              <a:gd name="adj" fmla="val 10526"/>
            </a:avLst>
          </a:prstGeom>
          <a:solidFill>
            <a:srgbClr val="EAF0FD"/>
          </a:solidFill>
          <a:ln w="12700">
            <a:solidFill>
              <a:srgbClr val="C7D7F7"/>
            </a:solidFill>
            <a:prstDash val="solid"/>
          </a:ln>
        </p:spPr>
      </p:sp>
      <p:sp>
        <p:nvSpPr>
          <p:cNvPr id="7" name="Text 5"/>
          <p:cNvSpPr txBox="1"/>
          <p:nvPr/>
        </p:nvSpPr>
        <p:spPr>
          <a:xfrm>
            <a:off x="640080"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v = g · t</a:t>
            </a:r>
            <a:endParaRPr lang="en-US" sz="1600" dirty="0"/>
          </a:p>
        </p:txBody>
      </p:sp>
      <p:sp>
        <p:nvSpPr>
          <p:cNvPr id="8" name="Text 6"/>
          <p:cNvSpPr txBox="1"/>
          <p:nvPr/>
        </p:nvSpPr>
        <p:spPr>
          <a:xfrm>
            <a:off x="640080"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hız</a:t>
            </a:r>
            <a:endParaRPr lang="en-US" sz="1150" dirty="0"/>
          </a:p>
        </p:txBody>
      </p:sp>
      <p:sp>
        <p:nvSpPr>
          <p:cNvPr id="9" name="Shape 7"/>
          <p:cNvSpPr/>
          <p:nvPr/>
        </p:nvSpPr>
        <p:spPr>
          <a:xfrm>
            <a:off x="3529584" y="1783080"/>
            <a:ext cx="2587752" cy="868680"/>
          </a:xfrm>
          <a:prstGeom prst="roundRect">
            <a:avLst>
              <a:gd name="adj" fmla="val 10526"/>
            </a:avLst>
          </a:prstGeom>
          <a:solidFill>
            <a:srgbClr val="EAF0FD"/>
          </a:solidFill>
          <a:ln w="12700">
            <a:solidFill>
              <a:srgbClr val="C7D7F7"/>
            </a:solidFill>
            <a:prstDash val="solid"/>
          </a:ln>
        </p:spPr>
      </p:sp>
      <p:sp>
        <p:nvSpPr>
          <p:cNvPr id="10" name="Text 8"/>
          <p:cNvSpPr txBox="1"/>
          <p:nvPr/>
        </p:nvSpPr>
        <p:spPr>
          <a:xfrm>
            <a:off x="3529584"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h = ½ · g · t²</a:t>
            </a:r>
            <a:endParaRPr lang="en-US" sz="1600" dirty="0"/>
          </a:p>
        </p:txBody>
      </p:sp>
      <p:sp>
        <p:nvSpPr>
          <p:cNvPr id="11" name="Text 9"/>
          <p:cNvSpPr txBox="1"/>
          <p:nvPr/>
        </p:nvSpPr>
        <p:spPr>
          <a:xfrm>
            <a:off x="3529584"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alınan yol</a:t>
            </a:r>
            <a:endParaRPr lang="en-US" sz="1150" dirty="0"/>
          </a:p>
        </p:txBody>
      </p:sp>
      <p:sp>
        <p:nvSpPr>
          <p:cNvPr id="12" name="Shape 10"/>
          <p:cNvSpPr/>
          <p:nvPr/>
        </p:nvSpPr>
        <p:spPr>
          <a:xfrm>
            <a:off x="6419088" y="1783080"/>
            <a:ext cx="2587752" cy="868680"/>
          </a:xfrm>
          <a:prstGeom prst="roundRect">
            <a:avLst>
              <a:gd name="adj" fmla="val 10526"/>
            </a:avLst>
          </a:prstGeom>
          <a:solidFill>
            <a:srgbClr val="EAF0FD"/>
          </a:solidFill>
          <a:ln w="12700">
            <a:solidFill>
              <a:srgbClr val="C7D7F7"/>
            </a:solidFill>
            <a:prstDash val="solid"/>
          </a:ln>
        </p:spPr>
      </p:sp>
      <p:sp>
        <p:nvSpPr>
          <p:cNvPr id="13" name="Text 11"/>
          <p:cNvSpPr txBox="1"/>
          <p:nvPr/>
        </p:nvSpPr>
        <p:spPr>
          <a:xfrm>
            <a:off x="6419088"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v² = 2 · g · h</a:t>
            </a:r>
            <a:endParaRPr lang="en-US" sz="1600" dirty="0"/>
          </a:p>
        </p:txBody>
      </p:sp>
      <p:sp>
        <p:nvSpPr>
          <p:cNvPr id="14" name="Text 12"/>
          <p:cNvSpPr txBox="1"/>
          <p:nvPr/>
        </p:nvSpPr>
        <p:spPr>
          <a:xfrm>
            <a:off x="6419088"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süre bilinmiyorsa</a:t>
            </a:r>
            <a:endParaRPr lang="en-US" sz="1150" dirty="0"/>
          </a:p>
        </p:txBody>
      </p:sp>
      <p:sp>
        <p:nvSpPr>
          <p:cNvPr id="15" name="Shape 13"/>
          <p:cNvSpPr/>
          <p:nvPr/>
        </p:nvSpPr>
        <p:spPr>
          <a:xfrm>
            <a:off x="9308592" y="1783080"/>
            <a:ext cx="2587752" cy="868680"/>
          </a:xfrm>
          <a:prstGeom prst="roundRect">
            <a:avLst>
              <a:gd name="adj" fmla="val 10526"/>
            </a:avLst>
          </a:prstGeom>
          <a:solidFill>
            <a:srgbClr val="EAF0FD"/>
          </a:solidFill>
          <a:ln w="12700">
            <a:solidFill>
              <a:srgbClr val="C7D7F7"/>
            </a:solidFill>
            <a:prstDash val="solid"/>
          </a:ln>
        </p:spPr>
      </p:sp>
      <p:sp>
        <p:nvSpPr>
          <p:cNvPr id="16" name="Text 14"/>
          <p:cNvSpPr txBox="1"/>
          <p:nvPr/>
        </p:nvSpPr>
        <p:spPr>
          <a:xfrm>
            <a:off x="9308592"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t = √(2h / g)</a:t>
            </a:r>
            <a:endParaRPr lang="en-US" sz="1600" dirty="0"/>
          </a:p>
        </p:txBody>
      </p:sp>
      <p:sp>
        <p:nvSpPr>
          <p:cNvPr id="17" name="Text 15"/>
          <p:cNvSpPr txBox="1"/>
          <p:nvPr/>
        </p:nvSpPr>
        <p:spPr>
          <a:xfrm>
            <a:off x="9308592"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düşme süresi</a:t>
            </a:r>
            <a:endParaRPr lang="en-US" sz="1150" dirty="0"/>
          </a:p>
        </p:txBody>
      </p:sp>
      <p:sp>
        <p:nvSpPr>
          <p:cNvPr id="18" name="Shape 16"/>
          <p:cNvSpPr/>
          <p:nvPr/>
        </p:nvSpPr>
        <p:spPr>
          <a:xfrm>
            <a:off x="640080" y="3291840"/>
            <a:ext cx="5303520" cy="2560320"/>
          </a:xfrm>
          <a:prstGeom prst="roundRect">
            <a:avLst>
              <a:gd name="adj" fmla="val 5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960120" y="3520440"/>
            <a:ext cx="466344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Üçüncü bağıntı nereden geliyor?</a:t>
            </a:r>
            <a:endParaRPr lang="en-US" sz="1500" dirty="0"/>
          </a:p>
        </p:txBody>
      </p:sp>
      <p:sp>
        <p:nvSpPr>
          <p:cNvPr id="20" name="Text 18"/>
          <p:cNvSpPr txBox="1"/>
          <p:nvPr/>
        </p:nvSpPr>
        <p:spPr>
          <a:xfrm>
            <a:off x="960120" y="3931920"/>
            <a:ext cx="4663440" cy="54864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İlk iki bağıntıdan süreyi yok edelim. v = g·t ifadesinden t = v/g yazıp ikinciye koyarsak:</a:t>
            </a:r>
            <a:endParaRPr lang="en-US" sz="1300" dirty="0"/>
          </a:p>
        </p:txBody>
      </p:sp>
      <p:sp>
        <p:nvSpPr>
          <p:cNvPr id="21" name="Shape 19"/>
          <p:cNvSpPr/>
          <p:nvPr/>
        </p:nvSpPr>
        <p:spPr>
          <a:xfrm>
            <a:off x="960120" y="4526280"/>
            <a:ext cx="4663440" cy="548640"/>
          </a:xfrm>
          <a:prstGeom prst="roundRect">
            <a:avLst>
              <a:gd name="adj" fmla="val 16667"/>
            </a:avLst>
          </a:prstGeom>
          <a:solidFill>
            <a:srgbClr val="FFFFFF"/>
          </a:solidFill>
          <a:ln w="12700">
            <a:solidFill>
              <a:srgbClr val="C7D7F7"/>
            </a:solidFill>
            <a:prstDash val="solid"/>
          </a:ln>
        </p:spPr>
      </p:sp>
      <p:sp>
        <p:nvSpPr>
          <p:cNvPr id="22" name="Text 20"/>
          <p:cNvSpPr txBox="1"/>
          <p:nvPr/>
        </p:nvSpPr>
        <p:spPr>
          <a:xfrm>
            <a:off x="960120" y="4526280"/>
            <a:ext cx="4663440" cy="54864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h = ½·g·(v/g)² = v²/(2g)   →   v² = 2·g·h</a:t>
            </a:r>
            <a:endParaRPr lang="en-US" sz="1250" dirty="0"/>
          </a:p>
        </p:txBody>
      </p:sp>
      <p:sp>
        <p:nvSpPr>
          <p:cNvPr id="23" name="Text 21"/>
          <p:cNvSpPr txBox="1"/>
          <p:nvPr/>
        </p:nvSpPr>
        <p:spPr>
          <a:xfrm>
            <a:off x="960120" y="5212080"/>
            <a:ext cx="4663440" cy="45720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Süre sorulmayan sorularda en kısa yol budur.</a:t>
            </a:r>
            <a:endParaRPr lang="en-US" sz="1250" dirty="0"/>
          </a:p>
        </p:txBody>
      </p:sp>
      <p:sp>
        <p:nvSpPr>
          <p:cNvPr id="24" name="Shape 22"/>
          <p:cNvSpPr/>
          <p:nvPr/>
        </p:nvSpPr>
        <p:spPr>
          <a:xfrm>
            <a:off x="6245352" y="3291840"/>
            <a:ext cx="5306263" cy="2560320"/>
          </a:xfrm>
          <a:prstGeom prst="roundRect">
            <a:avLst>
              <a:gd name="adj" fmla="val 5000"/>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5" name="Text 23"/>
          <p:cNvSpPr txBox="1"/>
          <p:nvPr/>
        </p:nvSpPr>
        <p:spPr>
          <a:xfrm>
            <a:off x="6565392" y="3520440"/>
            <a:ext cx="466344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Hemen okunacak üç sonuç</a:t>
            </a:r>
            <a:endParaRPr lang="en-US" sz="1500" dirty="0"/>
          </a:p>
        </p:txBody>
      </p:sp>
      <p:sp>
        <p:nvSpPr>
          <p:cNvPr id="26" name="Text 24"/>
          <p:cNvSpPr txBox="1"/>
          <p:nvPr/>
        </p:nvSpPr>
        <p:spPr>
          <a:xfrm>
            <a:off x="6565392" y="3977640"/>
            <a:ext cx="4572000" cy="1737360"/>
          </a:xfrm>
          <a:prstGeom prst="rect">
            <a:avLst/>
          </a:prstGeom>
          <a:noFill/>
          <a:ln/>
        </p:spPr>
        <p:txBody>
          <a:bodyPr wrap="square" lIns="0" tIns="0" rIns="0" bIns="0" rtlCol="0" anchor="t"/>
          <a:lstStyle/>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Düşme süresi yüksekliğin kareköküyle artar: 4 kat yükseklik → 2 kat süre.</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Çarpma hızı da yüksekliğin kareköküyle artar.</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Alınan yol ise sürenin karesiyle büyür.</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Kütle hiçbir bağıntıda yer almaz.</a:t>
            </a:r>
            <a:endParaRPr lang="en-US" sz="1300" dirty="0"/>
          </a:p>
        </p:txBody>
      </p:sp>
      <p:sp>
        <p:nvSpPr>
          <p:cNvPr id="27" name="Text 25"/>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28" name="Text 2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A56209"/>
          </a:solidFill>
          <a:ln w="12700">
            <a:solidFill>
              <a:srgbClr val="A56209"/>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Ezberlemek yerine eğim–alan ilişkisini kurmak yeterli (g = 9,81 m/s², ilk 3 saniye).</a:t>
            </a:r>
            <a:endParaRPr lang="en-US" sz="1450" dirty="0"/>
          </a:p>
        </p:txBody>
      </p:sp>
      <p:graphicFrame>
        <p:nvGraphicFramePr>
          <p:cNvPr id="6" name="Chart 0" descr=""/>
          <p:cNvGraphicFramePr/>
          <p:nvPr/>
        </p:nvGraphicFramePr>
        <p:xfrm>
          <a:off x="640080" y="1737360"/>
          <a:ext cx="3392424"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Zaman eksenine paralel doğru. Eğim sıfır, ivme hiç değişmez.</a:t>
            </a:r>
            <a:endParaRPr lang="en-US" sz="1200" dirty="0"/>
          </a:p>
        </p:txBody>
      </p:sp>
      <p:graphicFrame>
        <p:nvGraphicFramePr>
          <p:cNvPr id="8" name="Chart 1" descr=""/>
          <p:cNvGraphicFramePr/>
          <p:nvPr/>
        </p:nvGraphicFramePr>
        <p:xfrm>
          <a:off x="4398264" y="1737360"/>
          <a:ext cx="3392424" cy="274320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4443984"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Orijinden geçen doğru. Eğimi g; altındaki alan alınan yolu verir.</a:t>
            </a:r>
            <a:endParaRPr lang="en-US" sz="1200" dirty="0"/>
          </a:p>
        </p:txBody>
      </p:sp>
      <p:graphicFrame>
        <p:nvGraphicFramePr>
          <p:cNvPr id="10" name="Chart 2" descr=""/>
          <p:cNvGraphicFramePr/>
          <p:nvPr/>
        </p:nvGraphicFramePr>
        <p:xfrm>
          <a:off x="8156448" y="1737360"/>
          <a:ext cx="3392424" cy="2743200"/>
        </p:xfrm>
        <a:graphic xmlns:a="http://schemas.openxmlformats.org/drawingml/2006/main">
          <a:graphicData uri="http://schemas.openxmlformats.org/drawingml/2006/chart">
            <c:chart xmlns:c="http://schemas.openxmlformats.org/drawingml/2006/chart" r:id="rId3"/>
          </a:graphicData>
        </a:graphic>
      </p:graphicFrame>
      <p:sp>
        <p:nvSpPr>
          <p:cNvPr id="11" name="Text 6"/>
          <p:cNvSpPr txBox="1"/>
          <p:nvPr/>
        </p:nvSpPr>
        <p:spPr>
          <a:xfrm>
            <a:off x="8202168"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Parabol. Herhangi bir noktadaki eğim, o andaki anlık hızdır.</a:t>
            </a:r>
            <a:endParaRPr lang="en-US" sz="1200" dirty="0"/>
          </a:p>
        </p:txBody>
      </p:sp>
      <p:sp>
        <p:nvSpPr>
          <p:cNvPr id="12" name="Shape 7"/>
          <p:cNvSpPr/>
          <p:nvPr/>
        </p:nvSpPr>
        <p:spPr>
          <a:xfrm>
            <a:off x="640080" y="5486400"/>
            <a:ext cx="10911535" cy="566928"/>
          </a:xfrm>
          <a:prstGeom prst="roundRect">
            <a:avLst>
              <a:gd name="adj" fmla="val 22581"/>
            </a:avLst>
          </a:prstGeom>
          <a:solidFill>
            <a:srgbClr val="F7F9FE"/>
          </a:solidFill>
          <a:ln w="12700">
            <a:solidFill>
              <a:srgbClr val="DDE3F1"/>
            </a:solidFill>
            <a:prstDash val="solid"/>
          </a:ln>
        </p:spPr>
      </p:sp>
      <p:sp>
        <p:nvSpPr>
          <p:cNvPr id="13" name="Text 8"/>
          <p:cNvSpPr txBox="1"/>
          <p:nvPr/>
        </p:nvSpPr>
        <p:spPr>
          <a:xfrm>
            <a:off x="914400" y="5486400"/>
            <a:ext cx="10362895" cy="566928"/>
          </a:xfrm>
          <a:prstGeom prst="rect">
            <a:avLst/>
          </a:prstGeom>
          <a:noFill/>
          <a:ln/>
        </p:spPr>
        <p:txBody>
          <a:bodyPr wrap="square" lIns="0" tIns="0" rIns="0" bIns="0" rtlCol="0" anchor="ctr"/>
          <a:lstStyle/>
          <a:p>
            <a:pPr algn="l" indent="0" marL="0">
              <a:lnSpc>
                <a:spcPct val="118000"/>
              </a:lnSpc>
              <a:buNone/>
            </a:pPr>
            <a:r>
              <a:rPr lang="en-US" sz="1250" dirty="0">
                <a:solidFill>
                  <a:srgbClr val="0F1730"/>
                </a:solidFill>
                <a:latin typeface="Calibri" pitchFamily="34" charset="0"/>
                <a:ea typeface="Calibri" pitchFamily="34" charset="-122"/>
                <a:cs typeface="Calibri" pitchFamily="34" charset="-120"/>
              </a:rPr>
              <a:t>v – t doğrusunun altındaki üçgenin alanı ½·t·(g·t) = ½·g·t² eder — bu da tam olarak alınan yoldur. Grafikler birbirini böyle doğrular.</a:t>
            </a:r>
            <a:endParaRPr lang="en-US" sz="1250" dirty="0"/>
          </a:p>
        </p:txBody>
      </p:sp>
      <p:sp>
        <p:nvSpPr>
          <p:cNvPr id="14" name="Text 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15"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C53455"/>
          </a:solidFill>
          <a:ln w="12700">
            <a:solidFill>
              <a:srgbClr val="C53455"/>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Eşit zamanlarda 1 : 3 : 5</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Düşüşü eşit süreli dilimlere bölelim (Δt = 1 s, g = 10 m/s²).</a:t>
            </a:r>
            <a:endParaRPr lang="en-US" sz="1450" dirty="0"/>
          </a:p>
        </p:txBody>
      </p:sp>
      <p:graphicFrame>
        <p:nvGraphicFramePr>
          <p:cNvPr id="6" name="Chart 0" descr=""/>
          <p:cNvGraphicFramePr/>
          <p:nvPr/>
        </p:nvGraphicFramePr>
        <p:xfrm>
          <a:off x="640080" y="1783080"/>
          <a:ext cx="630936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69480" y="1783080"/>
            <a:ext cx="4282135" cy="1874520"/>
          </a:xfrm>
          <a:prstGeom prst="roundRect">
            <a:avLst>
              <a:gd name="adj" fmla="val 6829"/>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8" name="Text 5"/>
          <p:cNvSpPr txBox="1"/>
          <p:nvPr/>
        </p:nvSpPr>
        <p:spPr>
          <a:xfrm>
            <a:off x="7589520" y="1965960"/>
            <a:ext cx="3657600" cy="320040"/>
          </a:xfrm>
          <a:prstGeom prst="rect">
            <a:avLst/>
          </a:prstGeom>
          <a:noFill/>
          <a:ln/>
        </p:spPr>
        <p:txBody>
          <a:bodyPr wrap="square" lIns="0" tIns="0" rIns="0" bIns="0" rtlCol="0" anchor="ctr"/>
          <a:lstStyle/>
          <a:p>
            <a:pPr indent="0" marL="0">
              <a:buNone/>
            </a:pPr>
            <a:r>
              <a:rPr lang="en-US" sz="1450" b="1" dirty="0">
                <a:solidFill>
                  <a:srgbClr val="0F1730"/>
                </a:solidFill>
                <a:latin typeface="Calibri" pitchFamily="34" charset="0"/>
                <a:ea typeface="Calibri" pitchFamily="34" charset="-122"/>
                <a:cs typeface="Calibri" pitchFamily="34" charset="-120"/>
              </a:rPr>
              <a:t>Toplam yollar</a:t>
            </a:r>
            <a:endParaRPr lang="en-US" sz="1450" dirty="0"/>
          </a:p>
        </p:txBody>
      </p:sp>
      <p:sp>
        <p:nvSpPr>
          <p:cNvPr id="9" name="Shape 6"/>
          <p:cNvSpPr/>
          <p:nvPr/>
        </p:nvSpPr>
        <p:spPr>
          <a:xfrm>
            <a:off x="7589520" y="2359152"/>
            <a:ext cx="3383280" cy="457200"/>
          </a:xfrm>
          <a:prstGeom prst="roundRect">
            <a:avLst>
              <a:gd name="adj" fmla="val 20000"/>
            </a:avLst>
          </a:prstGeom>
          <a:solidFill>
            <a:srgbClr val="FFFFFF"/>
          </a:solidFill>
          <a:ln w="12700">
            <a:solidFill>
              <a:srgbClr val="C7D7F7"/>
            </a:solidFill>
            <a:prstDash val="solid"/>
          </a:ln>
        </p:spPr>
      </p:sp>
      <p:sp>
        <p:nvSpPr>
          <p:cNvPr id="10" name="Text 7"/>
          <p:cNvSpPr txBox="1"/>
          <p:nvPr/>
        </p:nvSpPr>
        <p:spPr>
          <a:xfrm>
            <a:off x="7589520" y="2359152"/>
            <a:ext cx="3383280" cy="45720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5 · 20 · 45 · 80 · 125 m</a:t>
            </a:r>
            <a:endParaRPr lang="en-US" sz="1250" dirty="0"/>
          </a:p>
        </p:txBody>
      </p:sp>
      <p:sp>
        <p:nvSpPr>
          <p:cNvPr id="11" name="Text 8"/>
          <p:cNvSpPr txBox="1"/>
          <p:nvPr/>
        </p:nvSpPr>
        <p:spPr>
          <a:xfrm>
            <a:off x="7589520" y="2907792"/>
            <a:ext cx="3383280" cy="59436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yani 1 : 4 : 9 : 16 : 25 — sürenin karesiyle orantılı (h = ½·g·t²).</a:t>
            </a:r>
            <a:endParaRPr lang="en-US" sz="1250" dirty="0"/>
          </a:p>
        </p:txBody>
      </p:sp>
      <p:sp>
        <p:nvSpPr>
          <p:cNvPr id="12" name="Shape 9"/>
          <p:cNvSpPr/>
          <p:nvPr/>
        </p:nvSpPr>
        <p:spPr>
          <a:xfrm>
            <a:off x="7269480" y="3931920"/>
            <a:ext cx="4282135"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Text 10"/>
          <p:cNvSpPr txBox="1"/>
          <p:nvPr/>
        </p:nvSpPr>
        <p:spPr>
          <a:xfrm>
            <a:off x="7589520" y="4114800"/>
            <a:ext cx="3657600" cy="320040"/>
          </a:xfrm>
          <a:prstGeom prst="rect">
            <a:avLst/>
          </a:prstGeom>
          <a:noFill/>
          <a:ln/>
        </p:spPr>
        <p:txBody>
          <a:bodyPr wrap="square" lIns="0" tIns="0" rIns="0" bIns="0" rtlCol="0" anchor="ctr"/>
          <a:lstStyle/>
          <a:p>
            <a:pPr indent="0" marL="0">
              <a:buNone/>
            </a:pPr>
            <a:r>
              <a:rPr lang="en-US" sz="1450" b="1" dirty="0">
                <a:solidFill>
                  <a:srgbClr val="C53455"/>
                </a:solidFill>
                <a:latin typeface="Calibri" pitchFamily="34" charset="0"/>
                <a:ea typeface="Calibri" pitchFamily="34" charset="-122"/>
                <a:cs typeface="Calibri" pitchFamily="34" charset="-120"/>
              </a:rPr>
              <a:t>Karıştırma!</a:t>
            </a:r>
            <a:endParaRPr lang="en-US" sz="1450" dirty="0"/>
          </a:p>
        </p:txBody>
      </p:sp>
      <p:sp>
        <p:nvSpPr>
          <p:cNvPr id="14" name="Text 11"/>
          <p:cNvSpPr txBox="1"/>
          <p:nvPr/>
        </p:nvSpPr>
        <p:spPr>
          <a:xfrm>
            <a:off x="7589520" y="4526280"/>
            <a:ext cx="3383280" cy="118872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3 : 5 → her aralıkta alınan yol</a:t>
            </a:r>
            <a:endParaRPr lang="en-US" sz="1250" dirty="0"/>
          </a:p>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4 : 9 → baştan itibaren toplam yol</a:t>
            </a:r>
            <a:endParaRPr lang="en-US" sz="1250" dirty="0"/>
          </a:p>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2 : 3 → aralık sonlarındaki hızlar</a:t>
            </a:r>
            <a:endParaRPr lang="en-US" sz="1250" dirty="0"/>
          </a:p>
        </p:txBody>
      </p:sp>
      <p:sp>
        <p:nvSpPr>
          <p:cNvPr id="15" name="Text 12"/>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Düşey atış: yukarı fırlatınca</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İvme yine g'dir ve yine aşağı yöndedir; değişen tek şey ilk hızın olması.</a:t>
            </a:r>
            <a:endParaRPr lang="en-US" sz="1450" dirty="0"/>
          </a:p>
        </p:txBody>
      </p:sp>
      <p:sp>
        <p:nvSpPr>
          <p:cNvPr id="6" name="Shape 4"/>
          <p:cNvSpPr/>
          <p:nvPr/>
        </p:nvSpPr>
        <p:spPr>
          <a:xfrm>
            <a:off x="640080" y="1783080"/>
            <a:ext cx="3931920" cy="640080"/>
          </a:xfrm>
          <a:prstGeom prst="roundRect">
            <a:avLst>
              <a:gd name="adj" fmla="val 14286"/>
            </a:avLst>
          </a:prstGeom>
          <a:solidFill>
            <a:srgbClr val="EAF0FD"/>
          </a:solidFill>
          <a:ln w="12700">
            <a:solidFill>
              <a:srgbClr val="C7D7F7"/>
            </a:solidFill>
            <a:prstDash val="solid"/>
          </a:ln>
        </p:spPr>
      </p:sp>
      <p:sp>
        <p:nvSpPr>
          <p:cNvPr id="7" name="Text 5"/>
          <p:cNvSpPr txBox="1"/>
          <p:nvPr/>
        </p:nvSpPr>
        <p:spPr>
          <a:xfrm>
            <a:off x="640080" y="1783080"/>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h(maks) = v₀² / (2g)</a:t>
            </a:r>
            <a:endParaRPr lang="en-US" sz="1450" dirty="0"/>
          </a:p>
        </p:txBody>
      </p:sp>
      <p:sp>
        <p:nvSpPr>
          <p:cNvPr id="8" name="Text 6"/>
          <p:cNvSpPr txBox="1"/>
          <p:nvPr/>
        </p:nvSpPr>
        <p:spPr>
          <a:xfrm>
            <a:off x="4709160" y="1783080"/>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çıkılan en yüksek nokta</a:t>
            </a:r>
            <a:endParaRPr lang="en-US" sz="1150" dirty="0"/>
          </a:p>
        </p:txBody>
      </p:sp>
      <p:sp>
        <p:nvSpPr>
          <p:cNvPr id="9" name="Shape 7"/>
          <p:cNvSpPr/>
          <p:nvPr/>
        </p:nvSpPr>
        <p:spPr>
          <a:xfrm>
            <a:off x="640080" y="2807208"/>
            <a:ext cx="3931920" cy="640080"/>
          </a:xfrm>
          <a:prstGeom prst="roundRect">
            <a:avLst>
              <a:gd name="adj" fmla="val 14286"/>
            </a:avLst>
          </a:prstGeom>
          <a:solidFill>
            <a:srgbClr val="EAF0FD"/>
          </a:solidFill>
          <a:ln w="12700">
            <a:solidFill>
              <a:srgbClr val="C7D7F7"/>
            </a:solidFill>
            <a:prstDash val="solid"/>
          </a:ln>
        </p:spPr>
      </p:sp>
      <p:sp>
        <p:nvSpPr>
          <p:cNvPr id="10" name="Text 8"/>
          <p:cNvSpPr txBox="1"/>
          <p:nvPr/>
        </p:nvSpPr>
        <p:spPr>
          <a:xfrm>
            <a:off x="640080" y="2807208"/>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t(çıkış) = v₀ / g</a:t>
            </a:r>
            <a:endParaRPr lang="en-US" sz="1450" dirty="0"/>
          </a:p>
        </p:txBody>
      </p:sp>
      <p:sp>
        <p:nvSpPr>
          <p:cNvPr id="11" name="Text 9"/>
          <p:cNvSpPr txBox="1"/>
          <p:nvPr/>
        </p:nvSpPr>
        <p:spPr>
          <a:xfrm>
            <a:off x="4709160" y="2807208"/>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tepe noktasına kadar</a:t>
            </a:r>
            <a:endParaRPr lang="en-US" sz="1150" dirty="0"/>
          </a:p>
        </p:txBody>
      </p:sp>
      <p:sp>
        <p:nvSpPr>
          <p:cNvPr id="12" name="Shape 10"/>
          <p:cNvSpPr/>
          <p:nvPr/>
        </p:nvSpPr>
        <p:spPr>
          <a:xfrm>
            <a:off x="640080" y="3831336"/>
            <a:ext cx="3931920" cy="640080"/>
          </a:xfrm>
          <a:prstGeom prst="roundRect">
            <a:avLst>
              <a:gd name="adj" fmla="val 14286"/>
            </a:avLst>
          </a:prstGeom>
          <a:solidFill>
            <a:srgbClr val="EAF0FD"/>
          </a:solidFill>
          <a:ln w="12700">
            <a:solidFill>
              <a:srgbClr val="C7D7F7"/>
            </a:solidFill>
            <a:prstDash val="solid"/>
          </a:ln>
        </p:spPr>
      </p:sp>
      <p:sp>
        <p:nvSpPr>
          <p:cNvPr id="13" name="Text 11"/>
          <p:cNvSpPr txBox="1"/>
          <p:nvPr/>
        </p:nvSpPr>
        <p:spPr>
          <a:xfrm>
            <a:off x="640080" y="3831336"/>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t(toplam) = 2·v₀ / g</a:t>
            </a:r>
            <a:endParaRPr lang="en-US" sz="1450" dirty="0"/>
          </a:p>
        </p:txBody>
      </p:sp>
      <p:sp>
        <p:nvSpPr>
          <p:cNvPr id="14" name="Text 12"/>
          <p:cNvSpPr txBox="1"/>
          <p:nvPr/>
        </p:nvSpPr>
        <p:spPr>
          <a:xfrm>
            <a:off x="4709160" y="3831336"/>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havada kalma süresi</a:t>
            </a:r>
            <a:endParaRPr lang="en-US" sz="1150" dirty="0"/>
          </a:p>
        </p:txBody>
      </p:sp>
      <p:sp>
        <p:nvSpPr>
          <p:cNvPr id="15" name="Shape 13"/>
          <p:cNvSpPr/>
          <p:nvPr/>
        </p:nvSpPr>
        <p:spPr>
          <a:xfrm>
            <a:off x="7040880" y="1783080"/>
            <a:ext cx="4510735" cy="2697480"/>
          </a:xfrm>
          <a:prstGeom prst="roundRect">
            <a:avLst>
              <a:gd name="adj" fmla="val 47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6" name="Text 14"/>
          <p:cNvSpPr txBox="1"/>
          <p:nvPr/>
        </p:nvSpPr>
        <p:spPr>
          <a:xfrm>
            <a:off x="7360920" y="1965960"/>
            <a:ext cx="39319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Hareket simetriktir</a:t>
            </a:r>
            <a:endParaRPr lang="en-US" sz="1500" dirty="0"/>
          </a:p>
        </p:txBody>
      </p:sp>
      <p:sp>
        <p:nvSpPr>
          <p:cNvPr id="17" name="Text 15"/>
          <p:cNvSpPr txBox="1"/>
          <p:nvPr/>
        </p:nvSpPr>
        <p:spPr>
          <a:xfrm>
            <a:off x="7360920" y="2395728"/>
            <a:ext cx="3840480" cy="192024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Çıkış süresi iniş süresine eşittir.</a:t>
            </a:r>
            <a:endParaRPr lang="en-US" sz="1300" dirty="0"/>
          </a:p>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Aynı yükseklikten geçerken süratler eşit, yönler terstir.</a:t>
            </a:r>
            <a:endParaRPr lang="en-US" sz="1300" dirty="0"/>
          </a:p>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Atıldığı noktaya döndüğünde sürati v₀'a eşittir.</a:t>
            </a:r>
            <a:endParaRPr lang="en-US" sz="1300" dirty="0"/>
          </a:p>
        </p:txBody>
      </p:sp>
      <p:sp>
        <p:nvSpPr>
          <p:cNvPr id="18" name="Shape 16"/>
          <p:cNvSpPr/>
          <p:nvPr/>
        </p:nvSpPr>
        <p:spPr>
          <a:xfrm>
            <a:off x="640080" y="4983480"/>
            <a:ext cx="10911535" cy="914400"/>
          </a:xfrm>
          <a:prstGeom prst="roundRect">
            <a:avLst>
              <a:gd name="adj" fmla="val 14000"/>
            </a:avLst>
          </a:prstGeom>
          <a:solidFill>
            <a:srgbClr val="FDF4E3"/>
          </a:solidFill>
          <a:ln w="12700">
            <a:solidFill>
              <a:srgbClr val="F0DCB4"/>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914400" y="5138928"/>
            <a:ext cx="457200" cy="457200"/>
          </a:xfrm>
          <a:prstGeom prst="rect">
            <a:avLst/>
          </a:prstGeom>
          <a:noFill/>
          <a:ln/>
        </p:spPr>
        <p:txBody>
          <a:bodyPr wrap="square" lIns="0" tIns="0" rIns="0" bIns="0" rtlCol="0" anchor="ctr"/>
          <a:lstStyle/>
          <a:p>
            <a:pPr algn="ctr" indent="0" marL="0">
              <a:buNone/>
            </a:pPr>
            <a:r>
              <a:rPr lang="en-US" sz="2200" b="1" dirty="0">
                <a:solidFill>
                  <a:srgbClr val="A56209"/>
                </a:solidFill>
                <a:latin typeface="Cambria" pitchFamily="34" charset="0"/>
                <a:ea typeface="Cambria" pitchFamily="34" charset="-122"/>
                <a:cs typeface="Cambria" pitchFamily="34" charset="-120"/>
              </a:rPr>
              <a:t>!</a:t>
            </a:r>
            <a:endParaRPr lang="en-US" sz="2200" dirty="0"/>
          </a:p>
        </p:txBody>
      </p:sp>
      <p:sp>
        <p:nvSpPr>
          <p:cNvPr id="20" name="Text 18"/>
          <p:cNvSpPr txBox="1"/>
          <p:nvPr/>
        </p:nvSpPr>
        <p:spPr>
          <a:xfrm>
            <a:off x="1463040" y="4983480"/>
            <a:ext cx="9814255" cy="914400"/>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Tepe noktada ivme sıfır değildir. </a:t>
            </a:r>
            <a:pPr indent="0" marL="0">
              <a:buNone/>
            </a:pPr>
            <a:r>
              <a:rPr lang="en-US" sz="1350" dirty="0">
                <a:solidFill>
                  <a:srgbClr val="4C5775"/>
                </a:solidFill>
                <a:latin typeface="Calibri" pitchFamily="34" charset="0"/>
                <a:ea typeface="Calibri" pitchFamily="34" charset="-122"/>
                <a:cs typeface="Calibri" pitchFamily="34" charset="-120"/>
              </a:rPr>
              <a:t>Sıfır olan hızdır; ivme hâlâ g'dir ve aşağı doğrudur. İvme sıfır olsaydı cisim orada asılı kalırdı.</a:t>
            </a:r>
            <a:endParaRPr lang="en-US" sz="1350" dirty="0"/>
          </a:p>
        </p:txBody>
      </p:sp>
      <p:sp>
        <p:nvSpPr>
          <p:cNvPr id="21"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Hava direnci hıza bağlı olarak artar; ağırlığa eşitlendiği anda ivme biter.</a:t>
            </a:r>
            <a:endParaRPr lang="en-US" sz="1450" dirty="0"/>
          </a:p>
        </p:txBody>
      </p:sp>
      <p:sp>
        <p:nvSpPr>
          <p:cNvPr id="6" name="Shape 4"/>
          <p:cNvSpPr/>
          <p:nvPr/>
        </p:nvSpPr>
        <p:spPr>
          <a:xfrm>
            <a:off x="640080"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1920240"/>
            <a:ext cx="2743200" cy="713232"/>
          </a:xfrm>
          <a:prstGeom prst="rect">
            <a:avLst/>
          </a:prstGeom>
          <a:noFill/>
          <a:ln/>
        </p:spPr>
        <p:txBody>
          <a:bodyPr wrap="square" lIns="0" tIns="0" rIns="0" bIns="0" rtlCol="0" anchor="b"/>
          <a:lstStyle/>
          <a:p>
            <a:pPr algn="l" indent="0" marL="0">
              <a:buNone/>
            </a:pPr>
            <a:r>
              <a:rPr lang="en-US" sz="3200" b="1" dirty="0">
                <a:solidFill>
                  <a:srgbClr val="2A5FD6"/>
                </a:solidFill>
                <a:latin typeface="Cambria" pitchFamily="34" charset="0"/>
                <a:ea typeface="Cambria" pitchFamily="34" charset="-122"/>
                <a:cs typeface="Cambria" pitchFamily="34" charset="-120"/>
              </a:rPr>
              <a:t>≈ 9 m/s</a:t>
            </a:r>
            <a:endParaRPr lang="en-US" sz="3200" dirty="0"/>
          </a:p>
        </p:txBody>
      </p:sp>
      <p:sp>
        <p:nvSpPr>
          <p:cNvPr id="8" name="Text 6"/>
          <p:cNvSpPr txBox="1"/>
          <p:nvPr/>
        </p:nvSpPr>
        <p:spPr>
          <a:xfrm>
            <a:off x="960120"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Yağmur damlası</a:t>
            </a:r>
            <a:endParaRPr lang="en-US" sz="1250" dirty="0"/>
          </a:p>
        </p:txBody>
      </p:sp>
      <p:sp>
        <p:nvSpPr>
          <p:cNvPr id="9" name="Shape 7"/>
          <p:cNvSpPr/>
          <p:nvPr/>
        </p:nvSpPr>
        <p:spPr>
          <a:xfrm>
            <a:off x="4398264"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0" name="Text 8"/>
          <p:cNvSpPr txBox="1"/>
          <p:nvPr/>
        </p:nvSpPr>
        <p:spPr>
          <a:xfrm>
            <a:off x="4718304" y="1920240"/>
            <a:ext cx="2743200" cy="713232"/>
          </a:xfrm>
          <a:prstGeom prst="rect">
            <a:avLst/>
          </a:prstGeom>
          <a:noFill/>
          <a:ln/>
        </p:spPr>
        <p:txBody>
          <a:bodyPr wrap="square" lIns="0" tIns="0" rIns="0" bIns="0" rtlCol="0" anchor="b"/>
          <a:lstStyle/>
          <a:p>
            <a:pPr algn="l" indent="0" marL="0">
              <a:buNone/>
            </a:pPr>
            <a:r>
              <a:rPr lang="en-US" sz="3200" b="1" dirty="0">
                <a:solidFill>
                  <a:srgbClr val="6348D4"/>
                </a:solidFill>
                <a:latin typeface="Cambria" pitchFamily="34" charset="0"/>
                <a:ea typeface="Cambria" pitchFamily="34" charset="-122"/>
                <a:cs typeface="Cambria" pitchFamily="34" charset="-120"/>
              </a:rPr>
              <a:t>≈ 55 m/s</a:t>
            </a:r>
            <a:endParaRPr lang="en-US" sz="3200" dirty="0"/>
          </a:p>
        </p:txBody>
      </p:sp>
      <p:sp>
        <p:nvSpPr>
          <p:cNvPr id="11" name="Text 9"/>
          <p:cNvSpPr txBox="1"/>
          <p:nvPr/>
        </p:nvSpPr>
        <p:spPr>
          <a:xfrm>
            <a:off x="4718304"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Paraşütsüz atlayan insan</a:t>
            </a:r>
            <a:endParaRPr lang="en-US" sz="1250" dirty="0"/>
          </a:p>
        </p:txBody>
      </p:sp>
      <p:sp>
        <p:nvSpPr>
          <p:cNvPr id="12" name="Shape 10"/>
          <p:cNvSpPr/>
          <p:nvPr/>
        </p:nvSpPr>
        <p:spPr>
          <a:xfrm>
            <a:off x="8156448"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Text 11"/>
          <p:cNvSpPr txBox="1"/>
          <p:nvPr/>
        </p:nvSpPr>
        <p:spPr>
          <a:xfrm>
            <a:off x="8476488" y="1920240"/>
            <a:ext cx="2743200" cy="713232"/>
          </a:xfrm>
          <a:prstGeom prst="rect">
            <a:avLst/>
          </a:prstGeom>
          <a:noFill/>
          <a:ln/>
        </p:spPr>
        <p:txBody>
          <a:bodyPr wrap="square" lIns="0" tIns="0" rIns="0" bIns="0" rtlCol="0" anchor="b"/>
          <a:lstStyle/>
          <a:p>
            <a:pPr algn="l" indent="0" marL="0">
              <a:buNone/>
            </a:pPr>
            <a:r>
              <a:rPr lang="en-US" sz="3200" b="1" dirty="0">
                <a:solidFill>
                  <a:srgbClr val="3C8C21"/>
                </a:solidFill>
                <a:latin typeface="Cambria" pitchFamily="34" charset="0"/>
                <a:ea typeface="Cambria" pitchFamily="34" charset="-122"/>
                <a:cs typeface="Cambria" pitchFamily="34" charset="-120"/>
              </a:rPr>
              <a:t>≈ 5 m/s</a:t>
            </a:r>
            <a:endParaRPr lang="en-US" sz="3200" dirty="0"/>
          </a:p>
        </p:txBody>
      </p:sp>
      <p:sp>
        <p:nvSpPr>
          <p:cNvPr id="14" name="Text 12"/>
          <p:cNvSpPr txBox="1"/>
          <p:nvPr/>
        </p:nvSpPr>
        <p:spPr>
          <a:xfrm>
            <a:off x="8476488"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Paraşüt açıldığında</a:t>
            </a:r>
            <a:endParaRPr lang="en-US" sz="1250" dirty="0"/>
          </a:p>
        </p:txBody>
      </p:sp>
      <p:sp>
        <p:nvSpPr>
          <p:cNvPr id="15" name="Shape 13"/>
          <p:cNvSpPr/>
          <p:nvPr/>
        </p:nvSpPr>
        <p:spPr>
          <a:xfrm>
            <a:off x="640080" y="3794760"/>
            <a:ext cx="6766560" cy="2057400"/>
          </a:xfrm>
          <a:prstGeom prst="roundRect">
            <a:avLst>
              <a:gd name="adj" fmla="val 6222"/>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6" name="Text 14"/>
          <p:cNvSpPr txBox="1"/>
          <p:nvPr/>
        </p:nvSpPr>
        <p:spPr>
          <a:xfrm>
            <a:off x="960120" y="4005072"/>
            <a:ext cx="594360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Limit hız nasıl oluşur?</a:t>
            </a:r>
            <a:endParaRPr lang="en-US" sz="1500" dirty="0"/>
          </a:p>
        </p:txBody>
      </p:sp>
      <p:sp>
        <p:nvSpPr>
          <p:cNvPr id="17" name="Text 15"/>
          <p:cNvSpPr txBox="1"/>
          <p:nvPr/>
        </p:nvSpPr>
        <p:spPr>
          <a:xfrm>
            <a:off x="960120" y="4434840"/>
            <a:ext cx="6035040" cy="123444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Cisim hızlandıkça direnç büyür. Direnç ağırlığa eşitlendiğinde net kuvvet sıfırlanır, ivme biter ve cisim sabit hızla düşmeye devam eder. Yüzey alanı büyük, kütlesi küçük cisimler (tüy, kâğıt) limit hıza çok çabuk ulaşır; bu yüzden 'yavaş düşüyor' gibi görünürler.</a:t>
            </a:r>
            <a:endParaRPr lang="en-US" sz="1300" dirty="0"/>
          </a:p>
        </p:txBody>
      </p:sp>
      <p:sp>
        <p:nvSpPr>
          <p:cNvPr id="18" name="Shape 16"/>
          <p:cNvSpPr/>
          <p:nvPr/>
        </p:nvSpPr>
        <p:spPr>
          <a:xfrm>
            <a:off x="7726680" y="3794760"/>
            <a:ext cx="3824935" cy="2057400"/>
          </a:xfrm>
          <a:prstGeom prst="roundRect">
            <a:avLst>
              <a:gd name="adj" fmla="val 6222"/>
            </a:avLst>
          </a:prstGeom>
          <a:solidFill>
            <a:srgbClr val="EAF7DC"/>
          </a:solidFill>
          <a:ln w="12700">
            <a:solidFill>
              <a:srgbClr val="CFE8B2"/>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8046720" y="4005072"/>
            <a:ext cx="3200400" cy="365760"/>
          </a:xfrm>
          <a:prstGeom prst="rect">
            <a:avLst/>
          </a:prstGeom>
          <a:noFill/>
          <a:ln/>
        </p:spPr>
        <p:txBody>
          <a:bodyPr wrap="square" lIns="0" tIns="0" rIns="0" bIns="0" rtlCol="0" anchor="ctr"/>
          <a:lstStyle/>
          <a:p>
            <a:pPr indent="0" marL="0">
              <a:buNone/>
            </a:pPr>
            <a:r>
              <a:rPr lang="en-US" sz="1500" b="1" dirty="0">
                <a:solidFill>
                  <a:srgbClr val="3C8C21"/>
                </a:solidFill>
                <a:latin typeface="Calibri" pitchFamily="34" charset="0"/>
                <a:ea typeface="Calibri" pitchFamily="34" charset="-122"/>
                <a:cs typeface="Calibri" pitchFamily="34" charset="-120"/>
              </a:rPr>
              <a:t>Vakumda fark yok</a:t>
            </a:r>
            <a:endParaRPr lang="en-US" sz="1500" dirty="0"/>
          </a:p>
        </p:txBody>
      </p:sp>
      <p:sp>
        <p:nvSpPr>
          <p:cNvPr id="20" name="Text 18"/>
          <p:cNvSpPr txBox="1"/>
          <p:nvPr/>
        </p:nvSpPr>
        <p:spPr>
          <a:xfrm>
            <a:off x="8046720" y="4434840"/>
            <a:ext cx="3017520" cy="118872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Havası boşaltılmış bir tüpte tüy ile bilye yan yana iner. Fark hava direncinden gelir, kütleden değil.</a:t>
            </a:r>
            <a:endParaRPr lang="en-US" sz="1300" dirty="0"/>
          </a:p>
        </p:txBody>
      </p:sp>
      <p:sp>
        <p:nvSpPr>
          <p:cNvPr id="21"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A56209"/>
          </a:solidFill>
          <a:ln w="12700">
            <a:solidFill>
              <a:srgbClr val="A56209"/>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Aynı yükseklik, farklı gökcismi</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10 m yüksekten bırakılan bir cisim: t = √(2h / g).</a:t>
            </a:r>
            <a:endParaRPr lang="en-US" sz="1450" dirty="0"/>
          </a:p>
        </p:txBody>
      </p:sp>
      <p:graphicFrame>
        <p:nvGraphicFramePr>
          <p:cNvPr id="6" name="Chart 0" descr=""/>
          <p:cNvGraphicFramePr/>
          <p:nvPr/>
        </p:nvGraphicFramePr>
        <p:xfrm>
          <a:off x="640080" y="1783080"/>
          <a:ext cx="585216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783080"/>
            <a:ext cx="4647895" cy="4023360"/>
          </a:xfrm>
          <a:prstGeom prst="roundRect">
            <a:avLst>
              <a:gd name="adj" fmla="val 3182"/>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8" name="Text 5"/>
          <p:cNvSpPr txBox="1"/>
          <p:nvPr/>
        </p:nvSpPr>
        <p:spPr>
          <a:xfrm>
            <a:off x="7223760" y="2011680"/>
            <a:ext cx="39319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10 m'den düşme süresi</a:t>
            </a:r>
            <a:endParaRPr lang="en-US" sz="1500" dirty="0"/>
          </a:p>
        </p:txBody>
      </p:sp>
      <p:sp>
        <p:nvSpPr>
          <p:cNvPr id="9" name="Shape 6"/>
          <p:cNvSpPr/>
          <p:nvPr/>
        </p:nvSpPr>
        <p:spPr>
          <a:xfrm>
            <a:off x="7223760" y="2514600"/>
            <a:ext cx="3931920" cy="530352"/>
          </a:xfrm>
          <a:prstGeom prst="roundRect">
            <a:avLst>
              <a:gd name="adj" fmla="val 13793"/>
            </a:avLst>
          </a:prstGeom>
          <a:solidFill>
            <a:srgbClr val="FFFFFF"/>
          </a:solidFill>
          <a:ln w="12700">
            <a:solidFill>
              <a:srgbClr val="DDE3F1"/>
            </a:solidFill>
            <a:prstDash val="solid"/>
          </a:ln>
        </p:spPr>
      </p:sp>
      <p:sp>
        <p:nvSpPr>
          <p:cNvPr id="10" name="Text 7"/>
          <p:cNvSpPr txBox="1"/>
          <p:nvPr/>
        </p:nvSpPr>
        <p:spPr>
          <a:xfrm>
            <a:off x="7452360" y="2514600"/>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Ay</a:t>
            </a:r>
            <a:endParaRPr lang="en-US" sz="1350" dirty="0"/>
          </a:p>
        </p:txBody>
      </p:sp>
      <p:sp>
        <p:nvSpPr>
          <p:cNvPr id="11" name="Text 8"/>
          <p:cNvSpPr txBox="1"/>
          <p:nvPr/>
        </p:nvSpPr>
        <p:spPr>
          <a:xfrm>
            <a:off x="8869680" y="2514600"/>
            <a:ext cx="2057400" cy="530352"/>
          </a:xfrm>
          <a:prstGeom prst="rect">
            <a:avLst/>
          </a:prstGeom>
          <a:noFill/>
          <a:ln/>
        </p:spPr>
        <p:txBody>
          <a:bodyPr wrap="square" lIns="0" tIns="0" rIns="0" bIns="0" rtlCol="0" anchor="ctr"/>
          <a:lstStyle/>
          <a:p>
            <a:pPr algn="r" indent="0" marL="0">
              <a:buNone/>
            </a:pPr>
            <a:r>
              <a:rPr lang="en-US" sz="1400" b="1" dirty="0">
                <a:solidFill>
                  <a:srgbClr val="6348D4"/>
                </a:solidFill>
                <a:latin typeface="Calibri" pitchFamily="34" charset="0"/>
                <a:ea typeface="Calibri" pitchFamily="34" charset="-122"/>
                <a:cs typeface="Calibri" pitchFamily="34" charset="-120"/>
              </a:rPr>
              <a:t>3,51 s</a:t>
            </a:r>
            <a:endParaRPr lang="en-US" sz="1400" dirty="0"/>
          </a:p>
        </p:txBody>
      </p:sp>
      <p:sp>
        <p:nvSpPr>
          <p:cNvPr id="12" name="Shape 9"/>
          <p:cNvSpPr/>
          <p:nvPr/>
        </p:nvSpPr>
        <p:spPr>
          <a:xfrm>
            <a:off x="7223760" y="3172968"/>
            <a:ext cx="3931920" cy="530352"/>
          </a:xfrm>
          <a:prstGeom prst="roundRect">
            <a:avLst>
              <a:gd name="adj" fmla="val 13793"/>
            </a:avLst>
          </a:prstGeom>
          <a:solidFill>
            <a:srgbClr val="F7F9FE"/>
          </a:solidFill>
          <a:ln w="12700">
            <a:solidFill>
              <a:srgbClr val="DDE3F1"/>
            </a:solidFill>
            <a:prstDash val="solid"/>
          </a:ln>
        </p:spPr>
      </p:sp>
      <p:sp>
        <p:nvSpPr>
          <p:cNvPr id="13" name="Text 10"/>
          <p:cNvSpPr txBox="1"/>
          <p:nvPr/>
        </p:nvSpPr>
        <p:spPr>
          <a:xfrm>
            <a:off x="7452360" y="3172968"/>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Mars</a:t>
            </a:r>
            <a:endParaRPr lang="en-US" sz="1350" dirty="0"/>
          </a:p>
        </p:txBody>
      </p:sp>
      <p:sp>
        <p:nvSpPr>
          <p:cNvPr id="14" name="Text 11"/>
          <p:cNvSpPr txBox="1"/>
          <p:nvPr/>
        </p:nvSpPr>
        <p:spPr>
          <a:xfrm>
            <a:off x="8869680" y="3172968"/>
            <a:ext cx="2057400" cy="530352"/>
          </a:xfrm>
          <a:prstGeom prst="rect">
            <a:avLst/>
          </a:prstGeom>
          <a:noFill/>
          <a:ln/>
        </p:spPr>
        <p:txBody>
          <a:bodyPr wrap="square" lIns="0" tIns="0" rIns="0" bIns="0" rtlCol="0" anchor="ctr"/>
          <a:lstStyle/>
          <a:p>
            <a:pPr algn="r" indent="0" marL="0">
              <a:buNone/>
            </a:pPr>
            <a:r>
              <a:rPr lang="en-US" sz="1400" b="1" dirty="0">
                <a:solidFill>
                  <a:srgbClr val="C53455"/>
                </a:solidFill>
                <a:latin typeface="Calibri" pitchFamily="34" charset="0"/>
                <a:ea typeface="Calibri" pitchFamily="34" charset="-122"/>
                <a:cs typeface="Calibri" pitchFamily="34" charset="-120"/>
              </a:rPr>
              <a:t>2,32 s</a:t>
            </a:r>
            <a:endParaRPr lang="en-US" sz="1400" dirty="0"/>
          </a:p>
        </p:txBody>
      </p:sp>
      <p:sp>
        <p:nvSpPr>
          <p:cNvPr id="15" name="Shape 12"/>
          <p:cNvSpPr/>
          <p:nvPr/>
        </p:nvSpPr>
        <p:spPr>
          <a:xfrm>
            <a:off x="7223760" y="3831336"/>
            <a:ext cx="3931920" cy="530352"/>
          </a:xfrm>
          <a:prstGeom prst="roundRect">
            <a:avLst>
              <a:gd name="adj" fmla="val 13793"/>
            </a:avLst>
          </a:prstGeom>
          <a:solidFill>
            <a:srgbClr val="FFFFFF"/>
          </a:solidFill>
          <a:ln w="12700">
            <a:solidFill>
              <a:srgbClr val="DDE3F1"/>
            </a:solidFill>
            <a:prstDash val="solid"/>
          </a:ln>
        </p:spPr>
      </p:sp>
      <p:sp>
        <p:nvSpPr>
          <p:cNvPr id="16" name="Text 13"/>
          <p:cNvSpPr txBox="1"/>
          <p:nvPr/>
        </p:nvSpPr>
        <p:spPr>
          <a:xfrm>
            <a:off x="7452360" y="3831336"/>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Dünya</a:t>
            </a:r>
            <a:endParaRPr lang="en-US" sz="1350" dirty="0"/>
          </a:p>
        </p:txBody>
      </p:sp>
      <p:sp>
        <p:nvSpPr>
          <p:cNvPr id="17" name="Text 14"/>
          <p:cNvSpPr txBox="1"/>
          <p:nvPr/>
        </p:nvSpPr>
        <p:spPr>
          <a:xfrm>
            <a:off x="8869680" y="3831336"/>
            <a:ext cx="2057400" cy="530352"/>
          </a:xfrm>
          <a:prstGeom prst="rect">
            <a:avLst/>
          </a:prstGeom>
          <a:noFill/>
          <a:ln/>
        </p:spPr>
        <p:txBody>
          <a:bodyPr wrap="square" lIns="0" tIns="0" rIns="0" bIns="0" rtlCol="0" anchor="ctr"/>
          <a:lstStyle/>
          <a:p>
            <a:pPr algn="r" indent="0" marL="0">
              <a:buNone/>
            </a:pPr>
            <a:r>
              <a:rPr lang="en-US" sz="1400" b="1" dirty="0">
                <a:solidFill>
                  <a:srgbClr val="3C8C21"/>
                </a:solidFill>
                <a:latin typeface="Calibri" pitchFamily="34" charset="0"/>
                <a:ea typeface="Calibri" pitchFamily="34" charset="-122"/>
                <a:cs typeface="Calibri" pitchFamily="34" charset="-120"/>
              </a:rPr>
              <a:t>1,43 s</a:t>
            </a:r>
            <a:endParaRPr lang="en-US" sz="1400" dirty="0"/>
          </a:p>
        </p:txBody>
      </p:sp>
      <p:sp>
        <p:nvSpPr>
          <p:cNvPr id="18" name="Shape 15"/>
          <p:cNvSpPr/>
          <p:nvPr/>
        </p:nvSpPr>
        <p:spPr>
          <a:xfrm>
            <a:off x="7223760" y="4489704"/>
            <a:ext cx="3931920" cy="530352"/>
          </a:xfrm>
          <a:prstGeom prst="roundRect">
            <a:avLst>
              <a:gd name="adj" fmla="val 13793"/>
            </a:avLst>
          </a:prstGeom>
          <a:solidFill>
            <a:srgbClr val="F7F9FE"/>
          </a:solidFill>
          <a:ln w="12700">
            <a:solidFill>
              <a:srgbClr val="DDE3F1"/>
            </a:solidFill>
            <a:prstDash val="solid"/>
          </a:ln>
        </p:spPr>
      </p:sp>
      <p:sp>
        <p:nvSpPr>
          <p:cNvPr id="19" name="Text 16"/>
          <p:cNvSpPr txBox="1"/>
          <p:nvPr/>
        </p:nvSpPr>
        <p:spPr>
          <a:xfrm>
            <a:off x="7452360" y="4489704"/>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Jüpiter</a:t>
            </a:r>
            <a:endParaRPr lang="en-US" sz="1350" dirty="0"/>
          </a:p>
        </p:txBody>
      </p:sp>
      <p:sp>
        <p:nvSpPr>
          <p:cNvPr id="20" name="Text 17"/>
          <p:cNvSpPr txBox="1"/>
          <p:nvPr/>
        </p:nvSpPr>
        <p:spPr>
          <a:xfrm>
            <a:off x="8869680" y="4489704"/>
            <a:ext cx="2057400" cy="530352"/>
          </a:xfrm>
          <a:prstGeom prst="rect">
            <a:avLst/>
          </a:prstGeom>
          <a:noFill/>
          <a:ln/>
        </p:spPr>
        <p:txBody>
          <a:bodyPr wrap="square" lIns="0" tIns="0" rIns="0" bIns="0" rtlCol="0" anchor="ctr"/>
          <a:lstStyle/>
          <a:p>
            <a:pPr algn="r" indent="0" marL="0">
              <a:buNone/>
            </a:pPr>
            <a:r>
              <a:rPr lang="en-US" sz="1400" b="1" dirty="0">
                <a:solidFill>
                  <a:srgbClr val="A56209"/>
                </a:solidFill>
                <a:latin typeface="Calibri" pitchFamily="34" charset="0"/>
                <a:ea typeface="Calibri" pitchFamily="34" charset="-122"/>
                <a:cs typeface="Calibri" pitchFamily="34" charset="-120"/>
              </a:rPr>
              <a:t>0,90 s</a:t>
            </a:r>
            <a:endParaRPr lang="en-US" sz="1400" dirty="0"/>
          </a:p>
        </p:txBody>
      </p:sp>
      <p:sp>
        <p:nvSpPr>
          <p:cNvPr id="21" name="Text 18"/>
          <p:cNvSpPr txBox="1"/>
          <p:nvPr/>
        </p:nvSpPr>
        <p:spPr>
          <a:xfrm>
            <a:off x="7223760" y="5257800"/>
            <a:ext cx="3931920" cy="45720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Ay'da düşüş, Dünya'dakinden yaklaşık 2,5 kat uzun sürer: √(9,81 / 1,62) ≈ 2,46.</a:t>
            </a:r>
            <a:endParaRPr lang="en-US" sz="1250" dirty="0"/>
          </a:p>
        </p:txBody>
      </p:sp>
      <p:sp>
        <p:nvSpPr>
          <p:cNvPr id="22"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23"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Çözümlü örnek · 45 metre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Çözümlerde g = 10 m/s² alınmıştır.</a:t>
            </a:r>
            <a:endParaRPr lang="en-US" sz="1450" dirty="0"/>
          </a:p>
        </p:txBody>
      </p:sp>
      <p:sp>
        <p:nvSpPr>
          <p:cNvPr id="6" name="Shape 4"/>
          <p:cNvSpPr/>
          <p:nvPr/>
        </p:nvSpPr>
        <p:spPr>
          <a:xfrm>
            <a:off x="640080" y="1783080"/>
            <a:ext cx="4114800" cy="4069080"/>
          </a:xfrm>
          <a:prstGeom prst="roundRect">
            <a:avLst>
              <a:gd name="adj" fmla="val 31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2011680"/>
            <a:ext cx="3474720" cy="274320"/>
          </a:xfrm>
          <a:prstGeom prst="rect">
            <a:avLst/>
          </a:prstGeom>
          <a:noFill/>
          <a:ln/>
        </p:spPr>
        <p:txBody>
          <a:bodyPr wrap="square" lIns="0" tIns="0" rIns="0" bIns="0" rtlCol="0" anchor="ctr"/>
          <a:lstStyle/>
          <a:p>
            <a:pPr indent="0" marL="0">
              <a:buNone/>
            </a:pPr>
            <a:r>
              <a:rPr lang="en-US" sz="1100" b="1" spc="200" kern="0" dirty="0">
                <a:solidFill>
                  <a:srgbClr val="2A5FD6"/>
                </a:solidFill>
                <a:latin typeface="Calibri" pitchFamily="34" charset="0"/>
                <a:ea typeface="Calibri" pitchFamily="34" charset="-122"/>
                <a:cs typeface="Calibri" pitchFamily="34" charset="-120"/>
              </a:rPr>
              <a:t>SORU</a:t>
            </a:r>
            <a:endParaRPr lang="en-US" sz="1100" dirty="0"/>
          </a:p>
        </p:txBody>
      </p:sp>
      <p:sp>
        <p:nvSpPr>
          <p:cNvPr id="8" name="Text 6"/>
          <p:cNvSpPr txBox="1"/>
          <p:nvPr/>
        </p:nvSpPr>
        <p:spPr>
          <a:xfrm>
            <a:off x="960120" y="2377440"/>
            <a:ext cx="3474720" cy="2651760"/>
          </a:xfrm>
          <a:prstGeom prst="rect">
            <a:avLst/>
          </a:prstGeom>
          <a:noFill/>
          <a:ln/>
        </p:spPr>
        <p:txBody>
          <a:bodyPr wrap="square" lIns="0" tIns="0" rIns="0" bIns="0" rtlCol="0" anchor="t"/>
          <a:lstStyle/>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45 m yükseklikten serbest bırakılan bir cisim için:</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(a) düşme süresini,</a:t>
            </a: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(b) yere çarpma hızını,</a:t>
            </a: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(c) hareketin 2. saniyesinde aldığı yolu bulunuz.</a:t>
            </a:r>
            <a:endParaRPr lang="en-US" sz="1400" dirty="0"/>
          </a:p>
        </p:txBody>
      </p:sp>
      <p:sp>
        <p:nvSpPr>
          <p:cNvPr id="9" name="Text 7"/>
          <p:cNvSpPr txBox="1"/>
          <p:nvPr/>
        </p:nvSpPr>
        <p:spPr>
          <a:xfrm>
            <a:off x="960120" y="5074920"/>
            <a:ext cx="3474720" cy="256032"/>
          </a:xfrm>
          <a:prstGeom prst="rect">
            <a:avLst/>
          </a:prstGeom>
          <a:noFill/>
          <a:ln/>
        </p:spPr>
        <p:txBody>
          <a:bodyPr wrap="square" lIns="0" tIns="0" rIns="0" bIns="0" rtlCol="0" anchor="ctr"/>
          <a:lstStyle/>
          <a:p>
            <a:pPr indent="0" marL="0">
              <a:buNone/>
            </a:pPr>
            <a:r>
              <a:rPr lang="en-US" sz="1000" b="1" spc="200" kern="0" dirty="0">
                <a:solidFill>
                  <a:srgbClr val="78829F"/>
                </a:solidFill>
                <a:latin typeface="Calibri" pitchFamily="34" charset="0"/>
                <a:ea typeface="Calibri" pitchFamily="34" charset="-122"/>
                <a:cs typeface="Calibri" pitchFamily="34" charset="-120"/>
              </a:rPr>
              <a:t>CEVAPLAR</a:t>
            </a:r>
            <a:endParaRPr lang="en-US" sz="1000" dirty="0"/>
          </a:p>
        </p:txBody>
      </p:sp>
      <p:sp>
        <p:nvSpPr>
          <p:cNvPr id="10" name="Shape 8"/>
          <p:cNvSpPr/>
          <p:nvPr/>
        </p:nvSpPr>
        <p:spPr>
          <a:xfrm>
            <a:off x="960120" y="5349240"/>
            <a:ext cx="3474720" cy="457200"/>
          </a:xfrm>
          <a:prstGeom prst="roundRect">
            <a:avLst>
              <a:gd name="adj" fmla="val 20000"/>
            </a:avLst>
          </a:prstGeom>
          <a:solidFill>
            <a:srgbClr val="FFFFFF"/>
          </a:solidFill>
          <a:ln w="12700">
            <a:solidFill>
              <a:srgbClr val="C7D7F7"/>
            </a:solidFill>
            <a:prstDash val="solid"/>
          </a:ln>
        </p:spPr>
      </p:sp>
      <p:sp>
        <p:nvSpPr>
          <p:cNvPr id="11" name="Text 9"/>
          <p:cNvSpPr txBox="1"/>
          <p:nvPr/>
        </p:nvSpPr>
        <p:spPr>
          <a:xfrm>
            <a:off x="960120" y="5349240"/>
            <a:ext cx="3474720" cy="45720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t = 3 s · v = 30 m/s · 15 m</a:t>
            </a:r>
            <a:endParaRPr lang="en-US" sz="1250" dirty="0"/>
          </a:p>
        </p:txBody>
      </p:sp>
      <p:sp>
        <p:nvSpPr>
          <p:cNvPr id="12" name="Shape 10"/>
          <p:cNvSpPr/>
          <p:nvPr/>
        </p:nvSpPr>
        <p:spPr>
          <a:xfrm>
            <a:off x="5074920" y="178308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Shape 11"/>
          <p:cNvSpPr/>
          <p:nvPr/>
        </p:nvSpPr>
        <p:spPr>
          <a:xfrm>
            <a:off x="5349240" y="2183892"/>
            <a:ext cx="402336" cy="402336"/>
          </a:xfrm>
          <a:prstGeom prst="ellipse">
            <a:avLst/>
          </a:prstGeom>
          <a:solidFill>
            <a:srgbClr val="2A5FD6"/>
          </a:solidFill>
          <a:ln/>
        </p:spPr>
      </p:sp>
      <p:sp>
        <p:nvSpPr>
          <p:cNvPr id="14" name="Text 12"/>
          <p:cNvSpPr txBox="1"/>
          <p:nvPr/>
        </p:nvSpPr>
        <p:spPr>
          <a:xfrm>
            <a:off x="5349240" y="218389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15" name="Text 13"/>
          <p:cNvSpPr txBox="1"/>
          <p:nvPr/>
        </p:nvSpPr>
        <p:spPr>
          <a:xfrm>
            <a:off x="5943600" y="178308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h = ½·g·t²  →  45 = 5·t²  →  t² = 9  →  t = 3 s</a:t>
            </a:r>
            <a:endParaRPr lang="en-US" sz="1350" dirty="0"/>
          </a:p>
        </p:txBody>
      </p:sp>
      <p:sp>
        <p:nvSpPr>
          <p:cNvPr id="16" name="Shape 14"/>
          <p:cNvSpPr/>
          <p:nvPr/>
        </p:nvSpPr>
        <p:spPr>
          <a:xfrm>
            <a:off x="5074920" y="321564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5349240" y="3616452"/>
            <a:ext cx="402336" cy="402336"/>
          </a:xfrm>
          <a:prstGeom prst="ellipse">
            <a:avLst/>
          </a:prstGeom>
          <a:solidFill>
            <a:srgbClr val="2A5FD6"/>
          </a:solidFill>
          <a:ln/>
        </p:spPr>
      </p:sp>
      <p:sp>
        <p:nvSpPr>
          <p:cNvPr id="18" name="Text 16"/>
          <p:cNvSpPr txBox="1"/>
          <p:nvPr/>
        </p:nvSpPr>
        <p:spPr>
          <a:xfrm>
            <a:off x="5349240" y="361645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9" name="Text 17"/>
          <p:cNvSpPr txBox="1"/>
          <p:nvPr/>
        </p:nvSpPr>
        <p:spPr>
          <a:xfrm>
            <a:off x="5943600" y="321564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v = g·t = 10 · 3 = 30 m/s</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Kontrol: v² = 2gh = 2·10·45 = 900  →  v = 30 m/s ✓</a:t>
            </a:r>
            <a:endParaRPr lang="en-US" sz="1350" dirty="0"/>
          </a:p>
        </p:txBody>
      </p:sp>
      <p:sp>
        <p:nvSpPr>
          <p:cNvPr id="20" name="Shape 18"/>
          <p:cNvSpPr/>
          <p:nvPr/>
        </p:nvSpPr>
        <p:spPr>
          <a:xfrm>
            <a:off x="5074920" y="464820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1" name="Shape 19"/>
          <p:cNvSpPr/>
          <p:nvPr/>
        </p:nvSpPr>
        <p:spPr>
          <a:xfrm>
            <a:off x="5349240" y="5049012"/>
            <a:ext cx="402336" cy="402336"/>
          </a:xfrm>
          <a:prstGeom prst="ellipse">
            <a:avLst/>
          </a:prstGeom>
          <a:solidFill>
            <a:srgbClr val="2A5FD6"/>
          </a:solidFill>
          <a:ln/>
        </p:spPr>
      </p:sp>
      <p:sp>
        <p:nvSpPr>
          <p:cNvPr id="22" name="Text 20"/>
          <p:cNvSpPr txBox="1"/>
          <p:nvPr/>
        </p:nvSpPr>
        <p:spPr>
          <a:xfrm>
            <a:off x="5349240" y="50490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3" name="Text 21"/>
          <p:cNvSpPr txBox="1"/>
          <p:nvPr/>
        </p:nvSpPr>
        <p:spPr>
          <a:xfrm>
            <a:off x="5943600" y="464820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İlk 2 s'de 20 m, ilk 1 s'de 5 m alınır; fark 15 m.</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1 : 3 : 5 kuralıyla da 2. saniyenin payı 3h = 3·5 = 15 m.</a:t>
            </a:r>
            <a:endParaRPr lang="en-US" sz="1350" dirty="0"/>
          </a:p>
        </p:txBody>
      </p:sp>
      <p:sp>
        <p:nvSpPr>
          <p:cNvPr id="24" name="Text 22"/>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Çözümlü örnek · son 1 saniye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Çözümlerde g = 10 m/s² alınmıştır.</a:t>
            </a:r>
            <a:endParaRPr lang="en-US" sz="1450" dirty="0"/>
          </a:p>
        </p:txBody>
      </p:sp>
      <p:sp>
        <p:nvSpPr>
          <p:cNvPr id="6" name="Shape 4"/>
          <p:cNvSpPr/>
          <p:nvPr/>
        </p:nvSpPr>
        <p:spPr>
          <a:xfrm>
            <a:off x="640080" y="1783080"/>
            <a:ext cx="4114800" cy="4069080"/>
          </a:xfrm>
          <a:prstGeom prst="roundRect">
            <a:avLst>
              <a:gd name="adj" fmla="val 31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2011680"/>
            <a:ext cx="3474720" cy="274320"/>
          </a:xfrm>
          <a:prstGeom prst="rect">
            <a:avLst/>
          </a:prstGeom>
          <a:noFill/>
          <a:ln/>
        </p:spPr>
        <p:txBody>
          <a:bodyPr wrap="square" lIns="0" tIns="0" rIns="0" bIns="0" rtlCol="0" anchor="ctr"/>
          <a:lstStyle/>
          <a:p>
            <a:pPr indent="0" marL="0">
              <a:buNone/>
            </a:pPr>
            <a:r>
              <a:rPr lang="en-US" sz="1100" b="1" spc="200" kern="0" dirty="0">
                <a:solidFill>
                  <a:srgbClr val="6348D4"/>
                </a:solidFill>
                <a:latin typeface="Calibri" pitchFamily="34" charset="0"/>
                <a:ea typeface="Calibri" pitchFamily="34" charset="-122"/>
                <a:cs typeface="Calibri" pitchFamily="34" charset="-120"/>
              </a:rPr>
              <a:t>SORU</a:t>
            </a:r>
            <a:endParaRPr lang="en-US" sz="1100" dirty="0"/>
          </a:p>
        </p:txBody>
      </p:sp>
      <p:sp>
        <p:nvSpPr>
          <p:cNvPr id="8" name="Text 6"/>
          <p:cNvSpPr txBox="1"/>
          <p:nvPr/>
        </p:nvSpPr>
        <p:spPr>
          <a:xfrm>
            <a:off x="960120" y="2377440"/>
            <a:ext cx="3474720" cy="2651760"/>
          </a:xfrm>
          <a:prstGeom prst="rect">
            <a:avLst/>
          </a:prstGeom>
          <a:noFill/>
          <a:ln/>
        </p:spPr>
        <p:txBody>
          <a:bodyPr wrap="square" lIns="0" tIns="0" rIns="0" bIns="0" rtlCol="0" anchor="t"/>
          <a:lstStyle/>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Serbest bırakılan bir cisim, yere çarpmadan önceki son 1 saniyede 25 m yol alıyor.</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Cisim kaç metreden bırakılmıştır?</a:t>
            </a:r>
            <a:endParaRPr lang="en-US" sz="1400" dirty="0"/>
          </a:p>
        </p:txBody>
      </p:sp>
      <p:sp>
        <p:nvSpPr>
          <p:cNvPr id="9" name="Text 7"/>
          <p:cNvSpPr txBox="1"/>
          <p:nvPr/>
        </p:nvSpPr>
        <p:spPr>
          <a:xfrm>
            <a:off x="960120" y="5074920"/>
            <a:ext cx="3474720" cy="256032"/>
          </a:xfrm>
          <a:prstGeom prst="rect">
            <a:avLst/>
          </a:prstGeom>
          <a:noFill/>
          <a:ln/>
        </p:spPr>
        <p:txBody>
          <a:bodyPr wrap="square" lIns="0" tIns="0" rIns="0" bIns="0" rtlCol="0" anchor="ctr"/>
          <a:lstStyle/>
          <a:p>
            <a:pPr indent="0" marL="0">
              <a:buNone/>
            </a:pPr>
            <a:r>
              <a:rPr lang="en-US" sz="1000" b="1" spc="200" kern="0" dirty="0">
                <a:solidFill>
                  <a:srgbClr val="78829F"/>
                </a:solidFill>
                <a:latin typeface="Calibri" pitchFamily="34" charset="0"/>
                <a:ea typeface="Calibri" pitchFamily="34" charset="-122"/>
                <a:cs typeface="Calibri" pitchFamily="34" charset="-120"/>
              </a:rPr>
              <a:t>CEVAPLAR</a:t>
            </a:r>
            <a:endParaRPr lang="en-US" sz="1000" dirty="0"/>
          </a:p>
        </p:txBody>
      </p:sp>
      <p:sp>
        <p:nvSpPr>
          <p:cNvPr id="10" name="Shape 8"/>
          <p:cNvSpPr/>
          <p:nvPr/>
        </p:nvSpPr>
        <p:spPr>
          <a:xfrm>
            <a:off x="960120" y="5349240"/>
            <a:ext cx="3474720" cy="457200"/>
          </a:xfrm>
          <a:prstGeom prst="roundRect">
            <a:avLst>
              <a:gd name="adj" fmla="val 20000"/>
            </a:avLst>
          </a:prstGeom>
          <a:solidFill>
            <a:srgbClr val="FFFFFF"/>
          </a:solidFill>
          <a:ln w="12700">
            <a:solidFill>
              <a:srgbClr val="C7D7F7"/>
            </a:solidFill>
            <a:prstDash val="solid"/>
          </a:ln>
        </p:spPr>
      </p:sp>
      <p:sp>
        <p:nvSpPr>
          <p:cNvPr id="11" name="Text 9"/>
          <p:cNvSpPr txBox="1"/>
          <p:nvPr/>
        </p:nvSpPr>
        <p:spPr>
          <a:xfrm>
            <a:off x="960120" y="5349240"/>
            <a:ext cx="3474720" cy="457200"/>
          </a:xfrm>
          <a:prstGeom prst="rect">
            <a:avLst/>
          </a:prstGeom>
          <a:noFill/>
          <a:ln/>
        </p:spPr>
        <p:txBody>
          <a:bodyPr wrap="square" lIns="0" tIns="0" rIns="0" bIns="0" rtlCol="0" anchor="ctr"/>
          <a:lstStyle/>
          <a:p>
            <a:pPr algn="ctr" indent="0" marL="0">
              <a:buNone/>
            </a:pPr>
            <a:r>
              <a:rPr lang="en-US" sz="1250" b="1" dirty="0">
                <a:solidFill>
                  <a:srgbClr val="6348D4"/>
                </a:solidFill>
                <a:latin typeface="Courier New" pitchFamily="34" charset="0"/>
                <a:ea typeface="Courier New" pitchFamily="34" charset="-122"/>
                <a:cs typeface="Courier New" pitchFamily="34" charset="-120"/>
              </a:rPr>
              <a:t>h = 45 m</a:t>
            </a:r>
            <a:endParaRPr lang="en-US" sz="1250" dirty="0"/>
          </a:p>
        </p:txBody>
      </p:sp>
      <p:sp>
        <p:nvSpPr>
          <p:cNvPr id="12" name="Shape 10"/>
          <p:cNvSpPr/>
          <p:nvPr/>
        </p:nvSpPr>
        <p:spPr>
          <a:xfrm>
            <a:off x="5074920" y="178308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Shape 11"/>
          <p:cNvSpPr/>
          <p:nvPr/>
        </p:nvSpPr>
        <p:spPr>
          <a:xfrm>
            <a:off x="5349240" y="2004822"/>
            <a:ext cx="402336" cy="402336"/>
          </a:xfrm>
          <a:prstGeom prst="ellipse">
            <a:avLst/>
          </a:prstGeom>
          <a:solidFill>
            <a:srgbClr val="6348D4"/>
          </a:solidFill>
          <a:ln/>
        </p:spPr>
      </p:sp>
      <p:sp>
        <p:nvSpPr>
          <p:cNvPr id="14" name="Text 12"/>
          <p:cNvSpPr txBox="1"/>
          <p:nvPr/>
        </p:nvSpPr>
        <p:spPr>
          <a:xfrm>
            <a:off x="5349240" y="200482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5943600" y="178308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Toplam süreye t diyelim: h(t) − h(t−1) = 25 m</a:t>
            </a:r>
            <a:endParaRPr lang="en-US" sz="1350" dirty="0"/>
          </a:p>
        </p:txBody>
      </p:sp>
      <p:sp>
        <p:nvSpPr>
          <p:cNvPr id="16" name="Shape 14"/>
          <p:cNvSpPr/>
          <p:nvPr/>
        </p:nvSpPr>
        <p:spPr>
          <a:xfrm>
            <a:off x="5074920" y="285750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5349240" y="3079242"/>
            <a:ext cx="402336" cy="402336"/>
          </a:xfrm>
          <a:prstGeom prst="ellipse">
            <a:avLst/>
          </a:prstGeom>
          <a:solidFill>
            <a:srgbClr val="6348D4"/>
          </a:solidFill>
          <a:ln/>
        </p:spPr>
      </p:sp>
      <p:sp>
        <p:nvSpPr>
          <p:cNvPr id="18" name="Text 16"/>
          <p:cNvSpPr txBox="1"/>
          <p:nvPr/>
        </p:nvSpPr>
        <p:spPr>
          <a:xfrm>
            <a:off x="5349240" y="307924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5943600" y="285750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5t² − 5(t−1)² = 25  →  5(2t − 1) = 25  →  2t − 1 = 5  →  t = 3 s</a:t>
            </a:r>
            <a:endParaRPr lang="en-US" sz="1350" dirty="0"/>
          </a:p>
        </p:txBody>
      </p:sp>
      <p:sp>
        <p:nvSpPr>
          <p:cNvPr id="20" name="Shape 18"/>
          <p:cNvSpPr/>
          <p:nvPr/>
        </p:nvSpPr>
        <p:spPr>
          <a:xfrm>
            <a:off x="5074920" y="393192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1" name="Shape 19"/>
          <p:cNvSpPr/>
          <p:nvPr/>
        </p:nvSpPr>
        <p:spPr>
          <a:xfrm>
            <a:off x="5349240" y="4153662"/>
            <a:ext cx="402336" cy="402336"/>
          </a:xfrm>
          <a:prstGeom prst="ellipse">
            <a:avLst/>
          </a:prstGeom>
          <a:solidFill>
            <a:srgbClr val="6348D4"/>
          </a:solidFill>
          <a:ln/>
        </p:spPr>
      </p:sp>
      <p:sp>
        <p:nvSpPr>
          <p:cNvPr id="22" name="Text 20"/>
          <p:cNvSpPr txBox="1"/>
          <p:nvPr/>
        </p:nvSpPr>
        <p:spPr>
          <a:xfrm>
            <a:off x="5349240" y="415366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5943600" y="393192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h = 5 · 3² = 45 m</a:t>
            </a:r>
            <a:endParaRPr lang="en-US" sz="1350" dirty="0"/>
          </a:p>
        </p:txBody>
      </p:sp>
      <p:sp>
        <p:nvSpPr>
          <p:cNvPr id="24" name="Shape 22"/>
          <p:cNvSpPr/>
          <p:nvPr/>
        </p:nvSpPr>
        <p:spPr>
          <a:xfrm>
            <a:off x="5074920" y="500634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5" name="Shape 23"/>
          <p:cNvSpPr/>
          <p:nvPr/>
        </p:nvSpPr>
        <p:spPr>
          <a:xfrm>
            <a:off x="5349240" y="5228082"/>
            <a:ext cx="402336" cy="402336"/>
          </a:xfrm>
          <a:prstGeom prst="ellipse">
            <a:avLst/>
          </a:prstGeom>
          <a:solidFill>
            <a:srgbClr val="6348D4"/>
          </a:solidFill>
          <a:ln/>
        </p:spPr>
      </p:sp>
      <p:sp>
        <p:nvSpPr>
          <p:cNvPr id="26" name="Text 24"/>
          <p:cNvSpPr txBox="1"/>
          <p:nvPr/>
        </p:nvSpPr>
        <p:spPr>
          <a:xfrm>
            <a:off x="5349240" y="522808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5943600" y="500634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Kısa yol: 1 : 3 : 5 kuralında son terim 5h = 25 m ise h = 5 m,</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toplam (1+3+5)·5 = 45 m.</a:t>
            </a:r>
            <a:endParaRPr lang="en-US" sz="1350" dirty="0"/>
          </a:p>
        </p:txBody>
      </p:sp>
      <p:sp>
        <p:nvSpPr>
          <p:cNvPr id="28" name="Text 26"/>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C53455"/>
          </a:solidFill>
          <a:ln w="12700">
            <a:solidFill>
              <a:srgbClr val="C53455"/>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Sınavda puan kaybettiren altı klasik.</a:t>
            </a:r>
            <a:endParaRPr lang="en-US" sz="1450" dirty="0"/>
          </a:p>
        </p:txBody>
      </p:sp>
      <p:sp>
        <p:nvSpPr>
          <p:cNvPr id="6" name="Shape 4"/>
          <p:cNvSpPr/>
          <p:nvPr/>
        </p:nvSpPr>
        <p:spPr>
          <a:xfrm>
            <a:off x="640080" y="1783080"/>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868680" y="1947672"/>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8" name="Text 6"/>
          <p:cNvSpPr txBox="1"/>
          <p:nvPr/>
        </p:nvSpPr>
        <p:spPr>
          <a:xfrm>
            <a:off x="1261872" y="1920240"/>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Ağır cisim önce düşer</a:t>
            </a:r>
            <a:endParaRPr lang="en-US" sz="1350" dirty="0"/>
          </a:p>
        </p:txBody>
      </p:sp>
      <p:sp>
        <p:nvSpPr>
          <p:cNvPr id="9" name="Text 7"/>
          <p:cNvSpPr txBox="1"/>
          <p:nvPr/>
        </p:nvSpPr>
        <p:spPr>
          <a:xfrm>
            <a:off x="868680" y="2404872"/>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10" name="Text 8"/>
          <p:cNvSpPr txBox="1"/>
          <p:nvPr/>
        </p:nvSpPr>
        <p:spPr>
          <a:xfrm>
            <a:off x="1261872" y="2350008"/>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Hava direnci ihmal edildiğinde kütle hiç rol oynamaz.</a:t>
            </a:r>
            <a:endParaRPr lang="en-US" sz="1250" dirty="0"/>
          </a:p>
        </p:txBody>
      </p:sp>
      <p:sp>
        <p:nvSpPr>
          <p:cNvPr id="11" name="Shape 9"/>
          <p:cNvSpPr/>
          <p:nvPr/>
        </p:nvSpPr>
        <p:spPr>
          <a:xfrm>
            <a:off x="6199632" y="1783080"/>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Text 10"/>
          <p:cNvSpPr txBox="1"/>
          <p:nvPr/>
        </p:nvSpPr>
        <p:spPr>
          <a:xfrm>
            <a:off x="6428232" y="1947672"/>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13" name="Text 11"/>
          <p:cNvSpPr txBox="1"/>
          <p:nvPr/>
        </p:nvSpPr>
        <p:spPr>
          <a:xfrm>
            <a:off x="6821424" y="1920240"/>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Tepe noktada ivme sıfırdır</a:t>
            </a:r>
            <a:endParaRPr lang="en-US" sz="1350" dirty="0"/>
          </a:p>
        </p:txBody>
      </p:sp>
      <p:sp>
        <p:nvSpPr>
          <p:cNvPr id="14" name="Text 12"/>
          <p:cNvSpPr txBox="1"/>
          <p:nvPr/>
        </p:nvSpPr>
        <p:spPr>
          <a:xfrm>
            <a:off x="6428232" y="2404872"/>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821424" y="2350008"/>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Sıfır olan hızdır; ivme orada da g'dir.</a:t>
            </a:r>
            <a:endParaRPr lang="en-US" sz="1250" dirty="0"/>
          </a:p>
        </p:txBody>
      </p:sp>
      <p:sp>
        <p:nvSpPr>
          <p:cNvPr id="16" name="Shape 14"/>
          <p:cNvSpPr/>
          <p:nvPr/>
        </p:nvSpPr>
        <p:spPr>
          <a:xfrm>
            <a:off x="640080" y="3172968"/>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Text 15"/>
          <p:cNvSpPr txBox="1"/>
          <p:nvPr/>
        </p:nvSpPr>
        <p:spPr>
          <a:xfrm>
            <a:off x="868680" y="3337560"/>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1261872" y="3310128"/>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v = 2gh</a:t>
            </a:r>
            <a:endParaRPr lang="en-US" sz="1350" dirty="0"/>
          </a:p>
        </p:txBody>
      </p:sp>
      <p:sp>
        <p:nvSpPr>
          <p:cNvPr id="19" name="Text 17"/>
          <p:cNvSpPr txBox="1"/>
          <p:nvPr/>
        </p:nvSpPr>
        <p:spPr>
          <a:xfrm>
            <a:off x="868680" y="3794760"/>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1261872" y="3739896"/>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Doğrusu v² = 2gh; karekök almayı unutma.</a:t>
            </a:r>
            <a:endParaRPr lang="en-US" sz="1250" dirty="0"/>
          </a:p>
        </p:txBody>
      </p:sp>
      <p:sp>
        <p:nvSpPr>
          <p:cNvPr id="21" name="Shape 19"/>
          <p:cNvSpPr/>
          <p:nvPr/>
        </p:nvSpPr>
        <p:spPr>
          <a:xfrm>
            <a:off x="6199632" y="3172968"/>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Text 20"/>
          <p:cNvSpPr txBox="1"/>
          <p:nvPr/>
        </p:nvSpPr>
        <p:spPr>
          <a:xfrm>
            <a:off x="6428232" y="3337560"/>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821424" y="3310128"/>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İlk hızlı hareket de serbest düşmedir</a:t>
            </a:r>
            <a:endParaRPr lang="en-US" sz="1350" dirty="0"/>
          </a:p>
        </p:txBody>
      </p:sp>
      <p:sp>
        <p:nvSpPr>
          <p:cNvPr id="24" name="Text 22"/>
          <p:cNvSpPr txBox="1"/>
          <p:nvPr/>
        </p:nvSpPr>
        <p:spPr>
          <a:xfrm>
            <a:off x="6428232" y="3794760"/>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25" name="Text 23"/>
          <p:cNvSpPr txBox="1"/>
          <p:nvPr/>
        </p:nvSpPr>
        <p:spPr>
          <a:xfrm>
            <a:off x="6821424" y="3739896"/>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v₀ ≠ 0 ise hareketin adı düşey atıştır.</a:t>
            </a:r>
            <a:endParaRPr lang="en-US" sz="1250" dirty="0"/>
          </a:p>
        </p:txBody>
      </p:sp>
      <p:sp>
        <p:nvSpPr>
          <p:cNvPr id="26" name="Shape 24"/>
          <p:cNvSpPr/>
          <p:nvPr/>
        </p:nvSpPr>
        <p:spPr>
          <a:xfrm>
            <a:off x="640080" y="4562856"/>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7" name="Text 25"/>
          <p:cNvSpPr txBox="1"/>
          <p:nvPr/>
        </p:nvSpPr>
        <p:spPr>
          <a:xfrm>
            <a:off x="868680" y="4727448"/>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28" name="Text 26"/>
          <p:cNvSpPr txBox="1"/>
          <p:nvPr/>
        </p:nvSpPr>
        <p:spPr>
          <a:xfrm>
            <a:off x="1261872" y="4700016"/>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1 : 3 : 5 ile 1 : 4 : 9 aynı şey</a:t>
            </a:r>
            <a:endParaRPr lang="en-US" sz="1350" dirty="0"/>
          </a:p>
        </p:txBody>
      </p:sp>
      <p:sp>
        <p:nvSpPr>
          <p:cNvPr id="29" name="Text 27"/>
          <p:cNvSpPr txBox="1"/>
          <p:nvPr/>
        </p:nvSpPr>
        <p:spPr>
          <a:xfrm>
            <a:off x="868680" y="5184648"/>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30" name="Text 28"/>
          <p:cNvSpPr txBox="1"/>
          <p:nvPr/>
        </p:nvSpPr>
        <p:spPr>
          <a:xfrm>
            <a:off x="1261872" y="5129784"/>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Birincisi her aralıkta, ikincisi baştan itibaren toplam yol.</a:t>
            </a:r>
            <a:endParaRPr lang="en-US" sz="1250" dirty="0"/>
          </a:p>
        </p:txBody>
      </p:sp>
      <p:sp>
        <p:nvSpPr>
          <p:cNvPr id="31" name="Shape 29"/>
          <p:cNvSpPr/>
          <p:nvPr/>
        </p:nvSpPr>
        <p:spPr>
          <a:xfrm>
            <a:off x="6199632" y="4562856"/>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32" name="Text 30"/>
          <p:cNvSpPr txBox="1"/>
          <p:nvPr/>
        </p:nvSpPr>
        <p:spPr>
          <a:xfrm>
            <a:off x="6428232" y="4727448"/>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33" name="Text 31"/>
          <p:cNvSpPr txBox="1"/>
          <p:nvPr/>
        </p:nvSpPr>
        <p:spPr>
          <a:xfrm>
            <a:off x="6821424" y="4700016"/>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Yükseklik 2 katına çıkınca süre de 2 katına çıkar</a:t>
            </a:r>
            <a:endParaRPr lang="en-US" sz="1350" dirty="0"/>
          </a:p>
        </p:txBody>
      </p:sp>
      <p:sp>
        <p:nvSpPr>
          <p:cNvPr id="34" name="Text 32"/>
          <p:cNvSpPr txBox="1"/>
          <p:nvPr/>
        </p:nvSpPr>
        <p:spPr>
          <a:xfrm>
            <a:off x="6428232" y="5184648"/>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35" name="Text 33"/>
          <p:cNvSpPr txBox="1"/>
          <p:nvPr/>
        </p:nvSpPr>
        <p:spPr>
          <a:xfrm>
            <a:off x="6821424" y="5129784"/>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Süre karekökle artar: 4 kat yükseklik → 2 kat süre.</a:t>
            </a:r>
            <a:endParaRPr lang="en-US" sz="125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01 · Serbest düşme</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30"/>
        </a:solidFill>
      </p:bgPr>
    </p:bg>
    <p:spTree>
      <p:nvGrpSpPr>
        <p:cNvPr id="1" name=""/>
        <p:cNvGrpSpPr/>
        <p:nvPr/>
      </p:nvGrpSpPr>
      <p:grpSpPr>
        <a:xfrm>
          <a:off x="0" y="0"/>
          <a:ext cx="0" cy="0"/>
          <a:chOff x="0" y="0"/>
          <a:chExt cx="0" cy="0"/>
        </a:xfrm>
      </p:grpSpPr>
      <p:sp>
        <p:nvSpPr>
          <p:cNvPr id="2" name="Text 0"/>
          <p:cNvSpPr txBox="1"/>
          <p:nvPr/>
        </p:nvSpPr>
        <p:spPr>
          <a:xfrm>
            <a:off x="868680" y="1005840"/>
            <a:ext cx="5486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Özetle</a:t>
            </a:r>
            <a:endParaRPr lang="en-US" sz="4000" dirty="0"/>
          </a:p>
        </p:txBody>
      </p:sp>
      <p:sp>
        <p:nvSpPr>
          <p:cNvPr id="3" name="Text 1"/>
          <p:cNvSpPr txBox="1"/>
          <p:nvPr/>
        </p:nvSpPr>
        <p:spPr>
          <a:xfrm>
            <a:off x="868680" y="2103120"/>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01</a:t>
            </a:r>
            <a:endParaRPr lang="en-US" sz="1900" dirty="0"/>
          </a:p>
        </p:txBody>
      </p:sp>
      <p:sp>
        <p:nvSpPr>
          <p:cNvPr id="4" name="Text 2"/>
          <p:cNvSpPr txBox="1"/>
          <p:nvPr/>
        </p:nvSpPr>
        <p:spPr>
          <a:xfrm>
            <a:off x="1600200" y="2066544"/>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Kütle fark etmez</a:t>
            </a:r>
            <a:endParaRPr lang="en-US" sz="1550" dirty="0"/>
          </a:p>
        </p:txBody>
      </p:sp>
      <p:sp>
        <p:nvSpPr>
          <p:cNvPr id="5" name="Text 3"/>
          <p:cNvSpPr txBox="1"/>
          <p:nvPr/>
        </p:nvSpPr>
        <p:spPr>
          <a:xfrm>
            <a:off x="4983480" y="2066544"/>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Hava direnci yoksa bütün cisimler aynı g ivmesiyle düşer.</a:t>
            </a:r>
            <a:endParaRPr lang="en-US" sz="1350" dirty="0"/>
          </a:p>
        </p:txBody>
      </p:sp>
      <p:sp>
        <p:nvSpPr>
          <p:cNvPr id="6" name="Text 4"/>
          <p:cNvSpPr txBox="1"/>
          <p:nvPr/>
        </p:nvSpPr>
        <p:spPr>
          <a:xfrm>
            <a:off x="868680" y="3035808"/>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02</a:t>
            </a:r>
            <a:endParaRPr lang="en-US" sz="1900" dirty="0"/>
          </a:p>
        </p:txBody>
      </p:sp>
      <p:sp>
        <p:nvSpPr>
          <p:cNvPr id="7" name="Text 5"/>
          <p:cNvSpPr txBox="1"/>
          <p:nvPr/>
        </p:nvSpPr>
        <p:spPr>
          <a:xfrm>
            <a:off x="1600200" y="2999232"/>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Hız doğrusal, yol karesel</a:t>
            </a:r>
            <a:endParaRPr lang="en-US" sz="1550" dirty="0"/>
          </a:p>
        </p:txBody>
      </p:sp>
      <p:sp>
        <p:nvSpPr>
          <p:cNvPr id="8" name="Text 6"/>
          <p:cNvSpPr txBox="1"/>
          <p:nvPr/>
        </p:nvSpPr>
        <p:spPr>
          <a:xfrm>
            <a:off x="4983480" y="2999232"/>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v = g·t doğrusal artar; h = ½g·t² sürenin karesiyle büyür.</a:t>
            </a:r>
            <a:endParaRPr lang="en-US" sz="1350" dirty="0"/>
          </a:p>
        </p:txBody>
      </p:sp>
      <p:sp>
        <p:nvSpPr>
          <p:cNvPr id="9" name="Text 7"/>
          <p:cNvSpPr txBox="1"/>
          <p:nvPr/>
        </p:nvSpPr>
        <p:spPr>
          <a:xfrm>
            <a:off x="868680" y="3968496"/>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03</a:t>
            </a:r>
            <a:endParaRPr lang="en-US" sz="1900" dirty="0"/>
          </a:p>
        </p:txBody>
      </p:sp>
      <p:sp>
        <p:nvSpPr>
          <p:cNvPr id="10" name="Text 8"/>
          <p:cNvSpPr txBox="1"/>
          <p:nvPr/>
        </p:nvSpPr>
        <p:spPr>
          <a:xfrm>
            <a:off x="1600200" y="3931920"/>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Eşit sürelerde tek sayılar</a:t>
            </a:r>
            <a:endParaRPr lang="en-US" sz="1550" dirty="0"/>
          </a:p>
        </p:txBody>
      </p:sp>
      <p:sp>
        <p:nvSpPr>
          <p:cNvPr id="11" name="Text 9"/>
          <p:cNvSpPr txBox="1"/>
          <p:nvPr/>
        </p:nvSpPr>
        <p:spPr>
          <a:xfrm>
            <a:off x="4983480" y="3931920"/>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Aralıklarda 1 : 3 : 5, toplamda 1 : 4 : 9.</a:t>
            </a:r>
            <a:endParaRPr lang="en-US" sz="1350" dirty="0"/>
          </a:p>
        </p:txBody>
      </p:sp>
      <p:sp>
        <p:nvSpPr>
          <p:cNvPr id="12" name="Text 10"/>
          <p:cNvSpPr txBox="1"/>
          <p:nvPr/>
        </p:nvSpPr>
        <p:spPr>
          <a:xfrm>
            <a:off x="868680" y="4901184"/>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04</a:t>
            </a:r>
            <a:endParaRPr lang="en-US" sz="1900" dirty="0"/>
          </a:p>
        </p:txBody>
      </p:sp>
      <p:sp>
        <p:nvSpPr>
          <p:cNvPr id="13" name="Text 11"/>
          <p:cNvSpPr txBox="1"/>
          <p:nvPr/>
        </p:nvSpPr>
        <p:spPr>
          <a:xfrm>
            <a:off x="1600200" y="4864608"/>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İvme hiç değişmez</a:t>
            </a:r>
            <a:endParaRPr lang="en-US" sz="1550" dirty="0"/>
          </a:p>
        </p:txBody>
      </p:sp>
      <p:sp>
        <p:nvSpPr>
          <p:cNvPr id="14" name="Text 12"/>
          <p:cNvSpPr txBox="1"/>
          <p:nvPr/>
        </p:nvSpPr>
        <p:spPr>
          <a:xfrm>
            <a:off x="4983480" y="4864608"/>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Yukarı atışta da, tepe noktada da, inişte de a = g.</a:t>
            </a:r>
            <a:endParaRPr lang="en-US" sz="1350" dirty="0"/>
          </a:p>
        </p:txBody>
      </p:sp>
      <p:sp>
        <p:nvSpPr>
          <p:cNvPr id="15" name="Shape 13"/>
          <p:cNvSpPr/>
          <p:nvPr/>
        </p:nvSpPr>
        <p:spPr>
          <a:xfrm>
            <a:off x="868680" y="5806440"/>
            <a:ext cx="10058400" cy="566928"/>
          </a:xfrm>
          <a:prstGeom prst="roundRect">
            <a:avLst>
              <a:gd name="adj" fmla="val 16129"/>
            </a:avLst>
          </a:prstGeom>
          <a:solidFill>
            <a:srgbClr val="1B2544"/>
          </a:solidFill>
          <a:ln w="12700">
            <a:solidFill>
              <a:srgbClr val="2C3860"/>
            </a:solidFill>
            <a:prstDash val="solid"/>
          </a:ln>
        </p:spPr>
      </p:sp>
      <p:sp>
        <p:nvSpPr>
          <p:cNvPr id="16" name="Text 14"/>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ders, canlı grafikler ve cetvel deneyi:  </a:t>
            </a:r>
            <a:pPr indent="0" marL="0">
              <a:buNone/>
            </a:pPr>
            <a:r>
              <a:rPr lang="en-US" sz="1300" b="1" dirty="0">
                <a:solidFill>
                  <a:srgbClr val="B9EE63"/>
                </a:solidFill>
                <a:latin typeface="Calibri" pitchFamily="34" charset="0"/>
                <a:ea typeface="Calibri" pitchFamily="34" charset="-122"/>
                <a:cs typeface="Calibri" pitchFamily="34" charset="-120"/>
              </a:rPr>
              <a:t>dersler.perinet.org/serbest-dusme.html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Serbest düşme</dc:title>
  <dc:subject>Fizik · Kuvvet ve Hareket</dc:subject>
  <dc:creator>Dersler</dc:creator>
  <cp:lastModifiedBy>Dersler</cp:lastModifiedBy>
  <cp:revision>1</cp:revision>
  <dcterms:created xsi:type="dcterms:W3CDTF">2026-09-18T16:33:19Z</dcterms:created>
  <dcterms:modified xsi:type="dcterms:W3CDTF">2026-09-18T16:33:19Z</dcterms:modified>
</cp:coreProperties>
</file>