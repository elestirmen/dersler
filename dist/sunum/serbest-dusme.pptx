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Bir kuş tüyünü ve bir çelik bilyeyi aynı anda bıraksan hangisi önce yere iner? Havası boşaltılmış bir cam tüpte ikisi de tam olarak aynı anda düşer — Ay'da bu deney 1971'de gerçekten yapıldı. Demek ki düşüşü belirleyen şey cismin ağırlığı değil; yalnızca geçen süre. Bu anlatım dört basamakta ilerliyor: önce düşen bir cismi gözleyip adını koyacağız, sonra süreyi, hızı ve yolu birbirine bağlayan bağıntıları çıkaracağız, ardından yukarı atışa ve hava direncine geçeceğiz. En sonda kolaydan zora sıralanmış örneklerle hepsini birlikte kullanacağız.
Kapak görseli: Apollo 15, 1971. Astronot David Scott Ay'da bir çekiçle bir şahin tüyünü aynı anda bıraktı. Ay'da onları yavaşlatacak hava olmadığı için ikisi yan yana düştü ve toza aynı anda değdi. Bu anlatımın bütün hikâyesi bu sahnede saklı: düşüşü kütle değil, yalnızca yerçekimi ve geçen süre belirler.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Bir kuş tüyünü ve bir çelik bilyeyi aynı anda bıraksan hangisi önce yere iner? Havası boşaltılmış bir cam tüpte ikisi de tam olarak aynı anda düşer — Ay'da bu deney 1971'de gerçekten yapıldı. Demek ki düşüşü belirleyen şey cismin ağırlığı değil; yalnızca geçen süre. Bu anlatım dört basamakta ilerliyor: önce düşen bir cismi gözleyip adını koyacağız, sonra süreyi, hızı ve yolu birbirine bağlayan bağıntıları çıkaracağız, ardından yukarı atışa ve hava direncine geçeceğiz. En sonda kolaydan zora sıralanmış örneklerle hepsini birlikte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düşen bir cisme bak, ne yaptığını gör ve adını koy. Bu basamakta hesap yok denecek kadar az.
   01 Önce gözlemle: düşen bir cisim ne yapar?
   02 Serbest düşme nedir?
   03 Kütle neden fark etmez?
2. Orta — Bağıntılar ve grafikler: gözlediğini sayılara dök, bir büyüklükten ötekine geç.
   04 Temel bağıntılar
   05 Sayılarla hisset: ne kadar hızlı, ne kadar sürede?
   06 Grafikler ve yorumu
   07 Eşit zaman aralıkları: 1 : 3 : 5 kuralı
3. İleri — Derinleşme: cisim atılınca, hava işe karışınca ve serbest düşme gerçek hayata çıkınca ne olur?
   08 Düşey atış: yukarı fırlatınca ne değişir?
   09 Gerçekte hava direnci ve limit hız
   10 Serbest düşme gerçek dünyada
4. Pekiştir — Kolaydan zora çözümlü örnekler ve sınavda puan kaybettiren klasik hatalar.
   11 Çözümlü örnekler
   12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düşen bir cisme bak, ne yaptığını gör ve adını koy. Bu basamakta hesap yok denecek kadar az.
01 Önce gözlemle: düşen bir cisim ne yapar?
02 Serbest düşme nedir?
03 Kütle neden fark etmez?
Görsel: Düşen bir elmanın eşit zaman aralıklarıyla çekilmiş görüntüleri. Elma her aralıkta bir öncekinden daha uzun yol alıyor; ilk görüntüler neredeyse üst üste binerken sonrakiler iyice açılıyor. Bu görselde aralıklar tam olarak 1 : 3 : 5 oranında: elmaların konumları y = ½·g·t² bağıntısına göre yerleştirildi. Bu kuralı ikinci basamakta kanıtlayacağız.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düşen bir cisim ne yapar?
Kısaca: Düşen bir cisim düşey doğrultuda ve giderek hızlanarak iner. Eşit sürelerde alınan yolların büyümesi bu hızlanmanın izidir.
Elindeki anahtarı bırak. Önce yavaş ayrılır, sonra giderek hızlanarak yere çarpar. Bu hızlanmayı gözle izlemek zordur, çünkü her şey bir saniyeden kısa sürer. Fizikçiler bu yüzden düşüşü strobo fotoğrafla incelemeyi sever: karanlık bir odada, eşit aralıklarla (örneğin saniyede on kez) yanıp sönen bir ışık altında tek bir fotoğraf çekilir ve cismin her an bulunduğu yer aynı karede üst üste görünür.
Böyle bir fotoğrafta ilk dikkat çeken şey şudur: görüntüler arasındaki boşluklar eşit değildir, aşağı indikçe açılır. Eşit sürelerde giderek daha uzun yol alınıyorsa cisim hızlanıyor demektir. Sabit hızla giden bir araba aynı yöntemle fotoğraflansaydı görüntüler cetvel çizgileri gibi eşit aralıklı dizilirdi.
Görsel: Düşen bir elmanın eşit zaman aralıklarıyla çekilmiş görüntüleri. Elma her aralıkta bir öncekinden daha uzun yol alıyor; ilk görüntüler neredeyse üst üste binerken sonrakiler iyice açılıyor. Bu görselde aralıklar tam olarak 1 : 3 : 5 oranında: elmaların konumları y = ½·g·t² bağıntısına göre yerleştirildi. Bu kuralı ikinci basamakta kanıtlayacağız.
Düşen her cisimde, hava direnci küçük kaldığı sürece, aynı üç şey gözlenir:
• Doğrultu düşeydir: cisim şakül ipi gibi dümdüz aşağı iner.
• Hız sürekli artar: her saniye bir önceki saniyeden daha hızlıdır.
• Hızlanma herkes için aynıdır: bilye de taş da anahtar da aynı biçimde hızlanır.
Üçüncü madde sezgimize en ters gelenidir; bu yüzden ona ayrı bir başlık ayıracağız. Önce gözlediğimiz harekete bir ad verelim.
Düşün: Musluktan eşit aralıklarla damlayan su damlaları aşağı indikçe neden birbirinden uzaklaşır?
Cevap: Her damla ötekinden biraz önce yola çıkmıştır, yani her an ondan daha hızlıdır. Öndeki damla arkadakinden hep daha hızlı gittiği için aradaki boşluk sürekli büyür. Damlalar eşit zaman aralıklarıyla kopsa da aralarındaki uzaklık eşit kalmaz — tam da strobo fotoğraftaki gibi.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Musluktan eşit aralıklarla damlayan su damlaları aşağı indikçe neden birbirinden uzaklaşır?
Sınıfa sorun, birkaç tahmin alın; sonra cevap slaytına geçin.
Cevap: Her damla ötekinden biraz önce yola çıkmıştır, yani her an ondan daha hızlıdır. Öndeki damla arkadakinden hep daha hızlı gittiği için aradaki boşluk sürekli büyür. Damlalar eşit zaman aralıklarıyla kopsa da aralarındaki uzaklık eşit kalmaz — tam da strobo fotoğraftaki gibi.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Her damla ötekinden biraz önce yola çıkmıştır, yani her an ondan daha hızlıdır. Öndeki damla arkadakinden hep daha hızlı gittiği için aradaki boşluk sürekli büyür. Damlalar eşit zaman aralıklarıyla kopsa da aralarındaki uzaklık eşit kalmaz — tam da strobo fotoğraftaki gibi.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düşme nedir?
Kısaca: Serbest düşme, ilk hızsız bırakılan ve yalnızca ağırlığın etkisindeki bir cismin hareketidir. İvmesi sabittir ve g'ye eşittir: hız her saniye yaklaşık 10 m/s artar.
Bir cisim ilk hızsız olarak bırakıldığında ve üzerine yalnızca yerçekimi kuvveti etki ettiğinde yaptığı harekete serbest düşme denir. Hareket düşey doğrultudadır, aşağı yöndedir ve ivmesi sabittir. “Serbest” sözcüğü cismin hiçbir şeye (ipe, ele, havaya) takılmadan, yalnızca yerçekimine bırakıldığını anlatır.
Bir hareketin “serbest düşme” sayılması için üç koşul aranır:
• İlk hız sıfırdır (v₀ = 0): cisim atılmaz, bırakılır.
• Hava direnci ihmal edilir; tek kuvvet ağırlıktır (G = m·g).
• İvme sabittir ve yerçekimi ivmesi g'ye eşittir.
İvme ne demek?
İvme, hızın her saniye ne kadar değiştiğini söyler. Dünya'da g yaklaşık 10 m/s²'dir: bunu “her saniye hız 10 m/s artar” diye okuyabilirsin. Serbest bırakılan bir cismin hızını saniye saniye yazmak için hiçbir formül gerekmez, yalnızca her saniye 10 eklemek yeter:
Geçen süre | Hız | O saniyede alınan yol | Toplam yol
0 s | 0 m/s | — | 0 m
1 s | 10 m/s | 5 m | 5 m
2 s | 20 m/s | 15 m | 20 m
3 s | 30 m/s | 25 m | 45 m
4 s | 40 m/s | 35 m | 80 m
Her saniye alınan yol, o saniyenin ortalama hızı kadardır: ilk saniyede hız 0'dan 10'a çıktığı için ortalama 5 m/s, yol 5 m; ikinci saniyede 10'dan 20'ye, ortalama 15 m/s, yol 15 m. Tablonun son sütunu, bir sonraki basamakta çıkaracağımız formülün sonucunu şimdiden veriyor.
g ne kadar? Dünya yüzeyinde ortalama 9,81 m/s²'dir; ekvatorda 9,78, kutuplarda 9,83 civarına iner-çıkar. İşlem kolaylığı için problemlerde çoğunlukla g = 10 m/s² alınır. Ay'da 1,62 · Mars'ta 3,72 · Jüpiter'de 24,79 m/s².
Görsel: Üç koşul tek karede: cisim ilk hızsız bırakılır, üzerindeki tek kuvvet ağırlıktır, bu yüzden ivmesi sabit kalır ve g'ye eşit olur. Eşit sürelerle çekilmiş strobo görüntülerinin arası sürekli açılıyor; çünkü hız her saniye aynı miktarda büyüyor.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düşme nedir?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Kütle neden fark etmez?
Kısaca: Hava direnci yoksa bütün cisimler aynı ivmeyle düşer, çünkü ağırlık ve eylemsizlik kütleyle aynı oranda büyür ve m·g = m·a eşitliğinde kütle sadeleşir.
Sezgi “ağır olan daha hızlı düşer” der. Aristoteles de böyle düşünüyordu ve bu fikir yaklaşık iki bin yıl boyunca genel kabul gördü. Galileo ise 1600'lerde bunu basit bir düşünce deneyiyle çürüttü: ağır bir taşla hafif bir taşı iple birbirine bağlayalım. Hafif taş daha yavaş düşmek isteyeceği için ağır olanı frenler; o zaman ikili, ağır taştan yavaş düşmeli. Ama ikili tek başına ağır taştan daha ağırdır; o zaman daha hızlı düşmeli. Aynı öncül iki zıt sonuç veriyorsa öncül yanlıştır: düşüş hızı ağırlığa bağlı olamaz.
Newton'un ikinci yasası aynı sonucu hesapla gösterir. Düşen cisme etki eden tek kuvvet ağırlığıdır:
F = m · a   m · g = m · a   a = g
Kütle eşitliğin iki yanında da bulunduğu için sadeleşir. Ağır cisim daha çok çekilir, ama aynı oranda da harekete direnir (eylemsizliği fazladır); iki etki birbirini tam olarak götürür. Sonuç: 10 gramlık bilye ile 10 kiloluk gülle aynı anda yere düşer.
1971'de Apollo 15 astronotu David Scott, havasız Ay yüzeyinde bir şahin tüyü ile alüminyum çekici aynı anda bıraktı; ikisi de aynı anda toza değdi. Günlük hayatta tüyün geride kalmasının sebebi kütlesi değil, hava direncidir: tüy çok hafif ama yüzeyi geniştir, bu yüzden hava onu ağırlığına oranla çok daha güçlü frenler.
Görsel: Ağır cisim daha büyük bir kuvvetle çekilir (m·g), ama tam o oranda harekete de direnir (m·a). Kütle eşitliğin iki yanında da bulunduğu için sadeleşir ve geriye yalnızca a = g kalır. Bu yüzden 8 kat ağır olan cisim, hafif olanla hep aynı hizada düşer.
Düşün: Ağır cisme daha büyük bir kuvvet etki ediyorsa, neden daha hızlı düşmüyor?
Cevap: Çünkü onu hızlandırmak da o kadar zordur. 8 kat ağır bir cisme 8 kat büyük kuvvet etki eder, ama onun hızını değiştirmek için de 8 kat büyük kuvvet gerekir. Kuvvetin kütleye oranı (F/m) ikisinde de aynıdır ve bu oran tam olarak g'dir. İvmeyi belirleyen kuvvetin kendisi değil, kuvvetin kütleye oranıdır.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Ağır cisme daha büyük bir kuvvet etki ediyorsa, neden daha hızlı düşmüyor?
Sınıfa sorun, birkaç tahmin alın; sonra cevap slaytına geçin.
Cevap: Çünkü onu hızlandırmak da o kadar zordur. 8 kat ağır bir cisme 8 kat büyük kuvvet etki eder, ama onun hızını değiştirmek için de 8 kat büyük kuvvet gerekir. Kuvvetin kütleye oranı (F/m) ikisinde de aynıdır ve bu oran tam olarak g'dir. İvmeyi belirleyen kuvvetin kendisi değil, kuvvetin kütleye oranıdır.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Çünkü onu hızlandırmak da o kadar zordur. 8 kat ağır bir cisme 8 kat büyük kuvvet etki eder, ama onun hızını değiştirmek için de 8 kat büyük kuvvet gerekir. Kuvvetin kütleye oranı (F/m) ikisinde de aynıdır ve bu oran tam olarak g'dir. İvmeyi belirleyen kuvvetin kendisi değil, kuvvetin kütleye oranıdır.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ve grafikler: gözlediğini sayılara dök, bir büyüklükten ötekine geç.
04 Temel bağıntılar
05 Sayılarla hisset: ne kadar hızlı, ne kadar sürede?
06 Grafikler ve yorumu
07 Eşit zaman aralıkları: 1 : 3 : 5 kuralı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Temel bağıntılar
Kısaca: v = g·t, h = ½·g·t² ve v² = 2·g·h ivmenin tanımından çıkar. Soruda hangi iki büyüklük geçiyorsa onları bağlayan bağıntıyı seç; süre yoksa v² = 2gh.
Aşağı yönü pozitif alalım: v₀ = 0, a = g. Sabit ivmeli hareketin denklemleri doğrudan serbest düşmenin denklemlerine dönüşür (h: alınan yol, t: düşme süresi):
v = g · t   h = ½ · g · t²   v² = 2 · g · h   t = √(2h / g)   vort = h / t = v / 2
Bağıntılar nereden geliyor?
Hiçbirini ezberlemek gerekmez; üçü de ivmenin tanımından adım adım çıkar.
• Hız: İvme “her saniye hıza eklenen miktar” olduğuna göre t saniye sonra hız g'nin t katıdır: v = g·t. Tablodaki 10, 20, 30 m/s tam olarak budur.
• Yol: Hız düzgün arttığı için ortalama hız, ilk ve son hızın ortalamasıdır: (0 + g·t)/2. Yol = ortalama hız × süre = (g·t/2)·t, yani h = ½·g·t².
• Süresiz bağıntı: İlk bağıntıdan t = v/g yazıp ikinciye koyarsak h = ½·g·(v/g)² = v²/(2g), yani v² = 2·g·h. Süre sorulmayan sorularda doğrudan bu bağıntıyı kullanmak en kısa yoldur.
Birim kontrolü: Bir bağıntıyı doğru hatırlayıp hatırlamadığını birimlerle sınayabilirsin. g·t için (m/s²)·s = m/s çıkar, bu bir hızdır ✓. ½·g·t² için (m/s²)·s² = m çıkar, bu bir yoldur ✓. “v = 2gh” yazsaydın sağ taraf m²/s² çıkardı; hız değil hızın karesi — hatanı birim yakalar.
Görsel: Serbest düşmede üç büyüklük vardır ve her ikisini birbirine bir kenar bağlar. Soruda hangi ikisi geçiyorsa o kenardaki bağıntıyı kullan: süre ile hız arasında v = g·t, süre ile yol arasında h = ½g·t², sürenin hiç geçmediği sorularda v² = 2gh.
Soruda verilenler | İstenen | Kullan
Süre | Hız | v = g·t
Süre | Yükseklik | h = ½·g·t²
Yükseklik | Çarpma hızı | v² = 2·g·h
Yükseklik | Düşme süresi | t = √(2h/g)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Temel bağıntılar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hızlı, ne kadar sürede?
Kısaca: Süre ve çarpma hızı yüksekliğin kareköküyle büyür: 4 kat yükseklik 2 kat süre ve 2 kat hız demektir. 5 m'den düşüş 1 s, 45 m'den düşüş 3 s sürer.
Formüller soyut kalmasın; tanıdık yüksekliklerden bırakılan bir cismin ne kadar sürede ve hangi hızla yere ulaştığına bakalım (g = 10 m/s², hava direnci yok):
Nereden | Yükseklik | Düşme süresi | Çarpma hızı
Masadan | 0,8 m | 0,4 s | 4 m/s (14 km/h)
İkinci kat balkonundan | 5 m | 1 s | 10 m/s (36 km/h)
Altı katlı binadan | 20 m | 2 s | 20 m/s (72 km/h)
On beş katlı binadan | 45 m | 3 s | 30 m/s (108 km/h)
Kırk katlı binadan | 125 m | 5 s | 50 m/s (180 km/h)
Tablodan hemen okunan bir düzen var: yükseklik 4 katına çıkınca süre ve hız yalnızca 2 katına çıkıyor (5 m → 20 m: 1 s → 2 s). Çünkü süre de hız da yüksekliğin kareköküyle büyür. 125 m, 5 m'nin 25 katıdır; süre ise √25 = 5 katıdır.
Bu tabloyu tersinden de okuyabilirsin: çarpma hızını ikiye katlamak için yüksekliği dört katına çıkarmak gerekir. Bir de süreye bak: 125 metrelik düşüş bile yalnızca 5 saniye sürüyor. Serbest düşme, gündelik hayatta gördüğümüz en hızlı gelişen hareketlerden biridir.
Kendi tepki süreni ölç: Sayfanın 04 numaralı bölümündeki cetvel deneyi bu tabloyu tersine kullanır. Bir arkadaşın cetveli habersizce bıraktığında onu kaç santimetre sonra yakaladığını ölçersin; t = √(2d/g) bağıntısı düşme mesafesini tepki süresine çevirir. 20 cm yaklaşık 0,2 saniye demektir.
Düşün: 5 m yükseklikten düşüş 1 s sürüyorsa, 20 m yükseklikten kaç saniye sürer?
Cevap: Dört değil, iki saniye. Yükseklik 4 katına çıkınca süre √4 = 2 katına çıkar. Kontrol: h = ½·10·2² = 20 m ✓. “Yükseklik kaç kat, süre de o kat” diye düşünmek serbest düşmedeki en yaygın tuzaktır.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5 m yükseklikten düşüş 1 s sürüyorsa, 20 m yükseklikten kaç saniye sürer?
Sınıfa sorun, birkaç tahmin alın; sonra cevap slaytına geçin.
Cevap: Dört değil, iki saniye. Yükseklik 4 katına çıkınca süre √4 = 2 katına çıkar. Kontrol: h = ½·10·2² = 20 m ✓. “Yükseklik kaç kat, süre de o kat” diye düşünmek serbest düşmedeki en yaygın tuzaktır.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Dört değil, iki saniye. Yükseklik 4 katına çıkınca süre √4 = 2 katına çıkar. Kontrol: h = ½·10·2² = 20 m ✓. “Yükseklik kaç kat, süre de o kat” diye düşünmek serbest düşmedeki en yaygın tuzaktır.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Grafikler ve yorumu
Kısaca: Serbest düşmede a–t yatay, v–t orijinden geçen eğik bir doğru, h–t yukarı açılan bir paraboldür. Eğim bir üst büyüklüğü, alan bir alt büyüklüğü verir.
Sayfadaki laboratuvarın altında bu üç grafik canlı çiziliyor. Ezberlemek yerine eğim–alan ilişkisini kurmak yeterli: bir grafiğin eğimi bir üstteki büyüklüğü, altındaki alan bir alttaki büyüklüğü verir.
Görsel: Üç grafiği ezberlemek yerine birbirine bağla: bir grafiğin eğimi bir üsttekini, altındaki alan bir alttakini verir. v–t doğrusunun altındaki üçgenin alanı ½·t·(g·t) = ½g·t²'dir — yani tam olarak alınan yol. Sayfadaki laboratuvarın altında bu üç grafik sen izlerken çiziliyor.
Grafik | Şekli | Eğimi | Altındaki alan
a – t | Zaman eksenine paralel doğru (a = g) | Sıfır | Hız değişimi (Δv)
v – t | Orijinden geçen doğru (v = g·t) | İvme, g | Alınan yol (h)
h – t | Yukarı açılan parabol (h = ½g·t²) | O andaki anlık hız | —
v – t doğrusunun altındaki üçgenin alanı ½·t·(g·t) = ½·g·t² eder; bu da tam olarak alınan yoldur. Grafikler birbirini böyle doğrular. Bir grafik sorusunda üç adımı sırayla uygula:
• Eksenleri oku: düşey eksende ne var (a, v, h)? Birimi ne?
• Şekli tanı: yatay doğru sabit, eğik doğru düzgün değişen, parabol karesel büyüyen bir büyüklük demektir.
• Eğime ya da alana bak: soru bir üst büyüklüğü soruyorsa eğim, bir alt büyüklüğü soruyorsa alan hesapla.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Eşit zaman aralıkları: 1 : 3 : 5 kuralı
Kısaca: Eşit süre dilimlerinde alınan yollar 1 : 3 : 5 : 7, baştan itibaren toplam yollar 1 : 4 : 9 : 16, hızlar 1 : 2 : 3 : 4 oranında gider.
Düşüşü eşit süreli dilimlere bölelim (her biri Δt). İlk dilimde alınan yol h = ½·g·Δt² olsun. O zaman ardışık dilimlerde alınan yollar:
1h : 3h : 5h : 7h : 9h   (tek sayılar)
Baştan itibaren toplam yollar ise 1h, 4h, 9h, 16h, 25h olur — yani 1 : 4 : 9 : 16, sürenin karesiyle orantılı. İki dizi de aynı şeyi söyler: toplam yollardaki farkları alırsan tek sayıları bulursun. Neden tek sayılar? Çünkü ardışık iki karenin farkı her zaman tek sayıdır: n² − (n−1)² = 2n − 1. 4 − 1 = 3, 9 − 4 = 5, 16 − 9 = 7…
Hızlar da eşit sürelerde eşit miktarda artar: Δt sonunda g·Δt, 2Δt sonunda 2g·Δt… yani 1 : 2 : 3 : 4. Bu üç diziyi karıştırmamak sınavda zaman kazandırır.
Görsel: Aynı düşüşün üç ayrı okuması. Her aralıkta alınan yollar tek sayılarla gider (1 : 3 : 5 : 7); baştan itibaren toplam yol sürenin karesiyle büyür (1 : 4 : 9 : 16); hız ise eşit adımlarla artar (1 : 2 : 3 : 4). Toplam yollardaki farkları alırsan tek sayıları bulursun — üç dizi aynı hareketi anlatır.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cisim atılınca, hava işe karışınca ve serbest düşme gerçek hayata çıkınca ne olur?
08 Düşey atış: yukarı fırlatınca ne değişir?
09 Gerçekte hava direnci ve limit hız
10 Serbest düşme gerçek dünyada
Görsel: Lunaparktaki düşme kulesi, serbest düşmeyi birkaç saniyeliğine yaşatır. 45 metrelik bir düşüş yaklaşık 3 saniye sürer ve koltuklar 108 km/h hıza ulaşır; ardından mıknatıslı frenler yumuşakça devreye girer. Düşüş boyunca koltuk yolcuyu itmez, yolcu kendini ağırlıksız hisseder.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Düşey atış: yukarı fırlatınca ne değişir?
Kısaca: Düşey atışta ivme her an g'dir ve aşağı yönlüdür; çıkış iniş simetriktir, tepe noktada yalnızca hız sıfırlanır. Başta seçtiğin pozitif yönü soru boyunca koru.
Cismi v₀ hızıyla yukarı atarsan artık “serbest düşme” değil düşey atış olur; ama ivme yine g'dir ve yine aşağı yöndedir. Yukarı çıkarken hız ile ivme zıt yönlü olduğu için cisim yavaşlayarak çıkar: her saniye hızından 10 m/s kaybeder. Tepe noktada hızı sıfırlanır, sonra serbest düşmeye başlar.
hmaks = v₀² / (2g)   tçıkış = v₀ / g   ttoplam = 2v₀ / g
Hareket simetriktir: çıkış süresi iniş süresine eşittir ve cisim aynı yükseklikten geçerken hızının büyüklüğü çıkışta da inişte de aynıdır, yalnızca yönü terstir. Atıldığı noktaya döndüğünde sürati v₀'a eşittir.
İşaret seçimi
Atış problemlerinde en sık hata işaretlerde yapılır. Başta bir yönü pozitif seç ve soru boyunca değiştirme. Yukarıyı pozitif seçersen v₀ pozitif, g negatif olur: v = v₀ − g·t ve h = v₀·t − ½·g·t². Bu denklemlerde h negatif çıkarsa cisim atıldığı noktanın altına inmiş demektir; bu bir hata değil, balkondan atışlarda beklenen sonuçtur.
Cisim aşağı doğru v₀ hızıyla atılırsa hız ile ivme aynı yöndedir; cisim baştan itibaren hızlanır. Aşağıyı pozitif alarak v = v₀ + g·t ve h = v₀·t + ½·g·t² yazılır. Serbest düşme, bu denklemlerin v₀ = 0 olduğu özel hâlidir.
Tepe noktada ivme sıfır değildir. Hız sıfırdır, ivme hâlâ g'dir ve aşağı doğrudur. İvme sıfır olsaydı cisim orada asılı kalırdı.
Görsel: Düşey atış, serbest düşmenin aynadaki görüntüsüdür: çıkış süresi iniş süresine eşittir ve cisim aynı yükseklikten geçerken süratinin büyüklüğü iki geçişte de aynıdır. Tepe noktada hız sıfırlanır ama ivme sıfırlanmaz — sarı oklar her yerde aynı boydadır. İvme orada gerçekten sıfır olsaydı cisim havada asılı kalırdı.
Düşün: Balkondan bir top aynı süratle bir kez yukarı, bir kez aşağı atılıyor. Hangisi yere daha hızlı çarpar?
Cevap: İkisi de aynı süratle çarpar. Yukarı atılan top simetri gereği balkon hizasına v₀ süratiyle ve aşağı doğru hareket ederek döner; o andan sonra tam olarak aşağı atılan top gibi davranır. Fark yalnızca süredir: yukarı atılan top havada 2v₀/g kadar daha uzun kalır. Aynı sonucu v² = v₀² + 2gh da verir; bu bağıntıda atış yönü hiç geçmez.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Balkondan bir top aynı süratle bir kez yukarı, bir kez aşağı atılıyor. Hangisi yere daha hızlı çarpar?
Sınıfa sorun, birkaç tahmin alın; sonra cevap slaytına geçin.
Cevap: İkisi de aynı süratle çarpar. Yukarı atılan top simetri gereği balkon hizasına v₀ süratiyle ve aşağı doğru hareket ederek döner; o andan sonra tam olarak aşağı atılan top gibi davranır. Fark yalnızca süredir: yukarı atılan top havada 2v₀/g kadar daha uzun kalır. Aynı sonucu v² = v₀² + 2gh da verir; bu bağıntıda atış yönü hiç geçmez.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İkisi de aynı süratle çarpar. Yukarı atılan top simetri gereği balkon hizasına v₀ süratiyle ve aşağı doğru hareket ederek döner; o andan sonra tam olarak aşağı atılan top gibi davranır. Fark yalnızca süredir: yukarı atılan top havada 2v₀/g kadar daha uzun kalır. Aynı sonucu v² = v₀² + 2gh da verir; bu bağıntıda atış yönü hiç geçmez.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Gerçekte hava direnci ve limit hız
Kısaca: Havada düşen bir cisimde direnç hızla büyür ve ağırlığa eşitlenince cisim limit hızla sabit düşer. Kısa düşüşlerde ve yoğun cisimlerde bu etki küçüktür; serbest düşme iyi bir yaklaşımdır.
Şimdiye kadar hava direncini ihmal ettik. Hava direnci hıza bağlı olarak artan, harekete ters yönlü bir kuvvettir. Cisim hızlandıkça direnç büyür; ağırlığa eşitlendiği anda net kuvvet sıfırlanır, ivme biter ve cisim sabit hızla düşmeye devam eder. Bu sabit hıza limit hız denir.
Bu kuvvet olmasaydı yağmurun altında durmak hayli tehlikeli olurdu: yağmur bulutları yaklaşık 2 km yüksekte olduğuna göre, damlalar yere v = √(2·9,81·2000) ≈ 198 m/s hızla — saatte 700 kilometreyi aşan bir hızla — çarpardı. Hava direnci sayesinde bu hız 8–9 m/s'de kalıyor.
• Yağmur damlası: yaklaşık 8–9 m/s
• Paraşütsüz atlayan bir insan: yaklaşık 55 m/s
• Paraşüt açıldığında: yaklaşık 5 m/s
Yüzey alanı büyük, kütlesi küçük cisimler (tüy, kâğıt, tüy topu) limit hıza çok çabuk ulaşır; bu yüzden “yavaş düşüyor” gibi görünürler. Havası boşaltılmış bir tüpte bu fark tamamen kaybolur. Günlük hızlarda (birkaç metreden bırakılan bilye, taş, top) hava direnci ağırlığın yanında küçük kalır; serbest düşme bağıntıları bu yüzden gerçek sonuca çok yakın sonuç verir. Hava direncinin ayrıntıları bu ünitenin “Limit hız” konusunda.
Görsel: Hava direnci hız arttıkça büyür. Ağırlığa eşitlendiği anda net kuvvet sıfırlanır, ivme biter ve cisim sabit hızla düşmeye devam eder. v–t eğrisi bu yüzden düz bir doğru olarak başlayıp yatay bir çizgiye doğru yatar; mor kesikli çizgi hava direnci hiç olmasaydı hızın nereye gideceğini gösteriyor.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düşme gerçek dünyada
Kısaca: Aynı ivmeyle birlikte düşen cisimler birbirine bastırmaz ve ağırlıksızlık hissedilir. Düşme kuleleri, parabolik uçuşlar ve uzay istasyonu bu ilkeyle çalışır.
Serbest düşme yalnızca ders kitabı problemi değildir; lunaparktan uzay araştırmalarına kadar bilerek kullanılır. Ortak noktaları şu: cisim ve içindeki her şey aynı ivmeyle düştüğü sürece birbirine bastırmaz. Bu duyguya ağırlıksızlık denir.
Görsel: Lunaparktaki düşme kulesi, serbest düşmeyi birkaç saniyeliğine yaşatır. 45 metrelik bir düşüş yaklaşık 3 saniye sürer ve koltuklar 108 km/h hıza ulaşır; ardından mıknatıslı frenler yumuşakça devreye girer. Düşüş boyunca koltuk yolcuyu itmez, yolcu kendini ağırlıksız hisseder.
• Düşme kuleleri ve tüpleri: Araştırma merkezlerinde havası boşaltılmış yüz metreden uzun tüplerin içine deney kapsülleri bırakılır. Kapsülün düştüğü birkaç saniye boyunca içindeki deney ağırlıksız ortamda çalışır; alevlerin, sıvıların ve kristallerin yerçekimsiz davranışı böyle incelenir.
• Parabolik uçuşlar: Astronot adayları, bir uçağın motor gücünü ayarlayarak kendisini bir atış yörüngesine bıraktığı uçuşlarda, her seferinde yaklaşık 20 saniye ağırlıksız kalır. Uçak ve içindekiler birlikte serbest hareket eder.
• g'yi ölçmek: Bir cismin bilinen bir yüksekliği kaç saniyede düştüğü ölçülürse g = 2h/t² ile yerçekimi ivmesi bulunur. Jeologlar g'deki çok küçük farkları ölçerek yer altındaki maden ve petrol yataklarını arar.
Uzay istasyonundaki astronotlar da aynı nedenle süzülür. İstasyonun bulunduğu yaklaşık 400 km yükseklikte yerçekimi ivmesi hâlâ 8,7 m/s² civarındadır, yani yeryüzündekinin yaklaşık %89'u. İstasyon ve içindeki her şey Dünya'nın çevresinde sürekli olarak birlikte düşer; yalnızca yana doğru o kadar hızlı gider ki yere hiç ulaşamaz.
Düşün: Düşen bir asansörün içinde elinden bıraktığın anahtar ne yapar?
Cevap: Anahtar da sen de asansör de aynı ivmeyle, g ile düştüğünüz için anahtar elinin yanında asılı kalıyormuş gibi görünür. Yere göre düşmeye devam eder, ama sana göre hareketsizdir. Ağırlıksızlık yerçekiminin yokluğu değil, herkesin birlikte serbest düşmesidir.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Düşen bir asansörün içinde elinden bıraktığın anahtar ne yapar?
Sınıfa sorun, birkaç tahmin alın; sonra cevap slaytına geçin.
Cevap: Anahtar da sen de asansör de aynı ivmeyle, g ile düştüğünüz için anahtar elinin yanında asılı kalıyormuş gibi görünür. Yere göre düşmeye devam eder, ama sana göre hareketsizdir. Ağırlıksızlık yerçekiminin yokluğu değil, herkesin birlikte serbest düşmesidir.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Anahtar da sen de asansör de aynı ivmeyle, g ile düştüğünüz için anahtar elinin yanında asılı kalıyormuş gibi görünür. Yere göre düşmeye devam eder, ama sana göre hareketsizdir. Ağırlıksızlık yerçekiminin yokluğu değil, herkesin birlikte serbest düşmesidir.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sınavda puan kaybettiren klasik hatalar.
11 Çözümlü örnekler
12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2 saniye sonra hız ve yol (kolay)
Aşağıdaki çözümlerde g = 10 m/s² alınmış, hava direnci ihmal edilmiştir.
Bir köprüden serbest bırakılan taş 2 saniye sonra suya çarpıyor. (a) Taşın suya çarpma hızını, (b) köprünün su yüzeyinden yüksekliğini bulunuz.
1. (a) Hız her saniye 10 m/s artar: v = g·t = 10 · 2 = 20 m/s
2. (b) h = ½·g·t² = ½ · 10 · 2² = 20 m
3. Kontrol: ortalama hız (0 + 20)/2 = 10 m/s, 2 saniyede 10 · 2 = 20 m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45 m yükseklikten bırakılan cisim (kolay)
Aşağıdaki çözümlerde g = 10 m/s² alınmış, hava direnci ihmal edilmiştir.
45 m yüksekten serbest bırakılan bir cisim için: (a) düşme süresini, (b) yere çarpma hızını, (c) hareketin 2. saniyesinde aldığı yolu bulunuz.
1. (a) h = ½·g·t² → 45 = ½·10·t² → t² = 9 → t = 3 s
2. (b) v = g·t = 10 · 3 → v = 30 m/s (kontrol: v² = 2gh = 2·10·45 = 900 → v = 30 m/s ✓)
3. (c) İlk 2 s'de 20 m, ilk 1 s'de 5 m alınır; fark 15 m'dir. 1 : 3 : 5 kuralıyla da ikinci saniyenin payı 3h = 3·5 = 15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Aynı yükseklik, farklı gökcismi (orta)
Aşağıdaki çözümlerde g = 10 m/s² alınmış, hava direnci ihmal edilmiştir.
10 m yüksekten bırakılan bir cisim Dünya'da ve Ay'da kaç saniyede yere iner? (gDünya = 9,81 m/s², gAy = 1,62 m/s²)
1. t = √(2h / g) bağıntısı kullanılır.
2. Dünya: t = √(20 / 9,81) ≈ 1,43 s
3. Ay: t = √(20 / 1,62) ≈ 3,51 s
4. Oran: √(9,81 / 1,62) ≈ 2,46 → Ay'da düşüş yaklaşık 2,5 kat uzun sürer. Laboratuvardaki gökcismi düğmeleriyle bunu deneyebilirsin.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20 m/s ile yukarı atılan cisim (orta)
Aşağıdaki çözümlerde g = 10 m/s² alınmış, hava direnci ihmal edilmiştir.
Yerden 20 m/s hızla düşey yukarı atılan cisim için: (a) çıkabileceği en büyük yüksekliği, (b) havada kalma süresini, (c) 15 m yükseklikteki süratini bulunuz.
1. (a) hmaks = v₀² / (2g) = 400 / 20 = 20 m
2. (b) tçıkış = v₀ / g = 2 s → toplam 4 s
3. (c) v² = v₀² − 2·g·h = 400 − 300 = 100 → v = 10 m/s. Cisim 15 m'den biri çıkarken biri inerken iki kez geçer; sürat iki geçişte de aynıdır.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Son 1 saniyede 25 m düşen cisim (zor)
Aşağıdaki çözümlerde g = 10 m/s² alınmış, hava direnci ihmal edilmiştir.
Serbest bırakılan bir cisim, yere çarpmadan önceki son 1 saniyede 25 m yol alıyor. Cisim kaç metreden bırakılmıştır?
1. Toplam süreye t diyelim. Son saniyedeki yol = h(t) − h(t−1) = 25 m.
2. 5t² − 5(t−1)² = 25 → 5(2t − 1) = 25 → 2t − 1 = 5 → t = 3 s
3. h = 5 · 3² = 45 m
Kısa yol: 1 : 3 : 5 kuralında son terim 5h = 25 m ise h = 5 m, toplam (1+3+5)·5 = 45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Balkondan yukarı atılan top (zor)
Aşağıdaki çözümlerde g = 10 m/s² alınmış, hava direnci ihmal edilmiştir.
Bir balkondan 10 m/s hızla düşey yukarı atılan top, atıldıktan 3 s sonra yere çarpıyor. (a) Balkonun yerden yüksekliğini, (b) topun yere çarpma süratini bulunuz.
1. Yukarıyı pozitif seçelim: v₀ = +10 m/s, ivme −10 m/s². Konum: y = v₀·t − ½·g·t².
2. t = 3 s'de y = 10·3 − 5·9 = 30 − 45 = −15 m. Eksi işaret topun balkonun 15 m altında olduğunu söyler: balkon 15 m yüksekte.
3. Hız: v = v₀ − g·t = 10 − 30 = −20 m/s → yere 20 m/s süratle, aşağı doğru çarpar.
4. Kontrol: v² = v₀² + 2·g·h = 100 + 2·10·15 = 400 → v = 20 m/s ✓. Top 1 s çıkıp 5 m yükselir, sonra 20 m'den serbest düşer: 2 s. Toplam 3 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“Ağır cisim önce düşer.” Hava direnci ihmal edildiğinde kütle hiç rol oynamaz.
• “Tepe noktada ivme sıfırdır.” Sıfır olan hızdır; ivme orada da g'dir.
• v = 2gh yazmak. Doğrusu v² = 2gh; karekök almayı unutma. Birim kontrolü bu hatayı hemen yakalar.
• İlk hızlı hareketi serbest düşme sanmak. v₀ ≠ 0 ise hareket düşey atıştır.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1 : 3 : 5 ile 1 : 4 : 9'u karıştırmak. Birincisi her aralıkta, ikincisi baştan itibaren toplam alınan yoldur.
• İşaretleri karıştırmak. Başta bir yön pozitif seçilir ve soru boyunca değiştirilmez. Aşağı pozitif seçtiysen yukarı hızlar negatif yazılır.
• Yüksekliği iki katına çıkarınca sürenin de iki katına çıktığını sanmak. Süre karekökle artar: 4 kat yükseklik → 2 kat süre.
• “Ağırlıksız hisseden astronotun ağırlığı yoktur.” Yerçekimi oradadır; ağırlıksızlık, astronotun ve istasyonun birlikte serbest düşmesinden doğar.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Dünya'da g = 9,81 m/s² · Kütle fark etmez · Yol t² ile artar · Eşit sürelerde 1 : 3 : 5
v = g · t — hız, süreyle doğru orantılı
h = ½ · g · t² — yol, sürenin karesiyle
v² = 2 · g · h — süre bilinmiyorsa
t = √(2h / g) — düşme süresi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claude-1000/-opt-dersler/8a8328c3-841c-44fa-b76f-82572d338d3d/scratchpad/d5/sek/serbest-dusme-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KUVVET VE HAREKET · KONU 01</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Serbest düşme</a:t>
            </a:r>
            <a:endParaRPr lang="en-US" sz="46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500" dirty="0">
                <a:solidFill>
                  <a:srgbClr val="C3CEE8"/>
                </a:solidFill>
                <a:latin typeface="Calibri" pitchFamily="34" charset="0"/>
                <a:ea typeface="Calibri" pitchFamily="34" charset="-122"/>
                <a:cs typeface="Calibri" pitchFamily="34" charset="-120"/>
              </a:rPr>
              <a:t>Hava direncinin ihmal edildiği yerde bırakılan her cisim, kütlesi ne olursa olsun aynı ivmeyle düşer. Aşağıdaki dört deneyde bunu kendin ayarla, bırak ve ölç; grafikler sen izlerken çizilsin.</a:t>
            </a:r>
            <a:endParaRPr lang="en-US" sz="15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640080" y="6382512"/>
            <a:ext cx="128016" cy="128016"/>
          </a:xfrm>
          <a:prstGeom prst="roundRect">
            <a:avLst>
              <a:gd name="adj" fmla="val 28571"/>
            </a:avLst>
          </a:prstGeom>
          <a:solidFill>
            <a:srgbClr val="C6F36B"/>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dersler.perinet.org/serbest-dusme.html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Bir kuş tüyünü ve bir çelik bilyeyi aynı anda bıraksan hangisi önce yere iner?</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Havası boşaltılmış bir cam tüpte ikisi de </a:t>
            </a:r>
            <a:pPr indent="0" marL="0">
              <a:lnSpc>
                <a:spcPct val="130000"/>
              </a:lnSpc>
              <a:buNone/>
            </a:pPr>
            <a:r>
              <a:rPr lang="en-US" sz="2400" b="1" dirty="0">
                <a:solidFill>
                  <a:srgbClr val="5F4BD8"/>
                </a:solidFill>
                <a:latin typeface="Cambria" pitchFamily="34" charset="0"/>
                <a:ea typeface="Cambria" pitchFamily="34" charset="-122"/>
                <a:cs typeface="Cambria" pitchFamily="34" charset="-120"/>
              </a:rPr>
              <a:t>tam olarak aynı anda</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 düşer — Ay'da bu deney 1971'de gerçekten yapıldı.</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Demek ki düşüşü belirleyen şey cismin ağırlığı değil; </a:t>
            </a:r>
            <a:pPr indent="0" marL="0">
              <a:lnSpc>
                <a:spcPct val="130000"/>
              </a:lnSpc>
              <a:buNone/>
            </a:pPr>
            <a:r>
              <a:rPr lang="en-US" sz="2400" b="1" dirty="0">
                <a:solidFill>
                  <a:srgbClr val="5F4BD8"/>
                </a:solidFill>
                <a:latin typeface="Cambria" pitchFamily="34" charset="0"/>
                <a:ea typeface="Cambria" pitchFamily="34" charset="-122"/>
                <a:cs typeface="Cambria" pitchFamily="34" charset="-120"/>
              </a:rPr>
              <a:t>yalnızca geçen süre</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a:t>
            </a:r>
            <a:endParaRPr lang="en-US" sz="24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Önce sezgi: düşen bir cisme bak, ne yaptığını gör ve adını koy. Bu basamakta hesap yok denecek kadar az.</a:t>
            </a:r>
            <a:endParaRPr lang="en-US" sz="115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Önce gözlemle: düşen bir cisim ne yapar?</a:t>
            </a:r>
            <a:endParaRPr lang="en-US" sz="1200" dirty="0"/>
          </a:p>
        </p:txBody>
      </p:sp>
      <p:sp>
        <p:nvSpPr>
          <p:cNvPr id="15" name="Text 13"/>
          <p:cNvSpPr txBox="1"/>
          <p:nvPr/>
        </p:nvSpPr>
        <p:spPr>
          <a:xfrm>
            <a:off x="859536" y="4224528"/>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Serbest düşme nedir?</a:t>
            </a:r>
            <a:endParaRPr lang="en-US" sz="1250" dirty="0"/>
          </a:p>
        </p:txBody>
      </p:sp>
      <p:sp>
        <p:nvSpPr>
          <p:cNvPr id="17" name="Text 15"/>
          <p:cNvSpPr txBox="1"/>
          <p:nvPr/>
        </p:nvSpPr>
        <p:spPr>
          <a:xfrm>
            <a:off x="859536" y="4882896"/>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Kütle neden fark etmez?</a:t>
            </a:r>
            <a:endParaRPr lang="en-US" sz="1250" dirty="0"/>
          </a:p>
        </p:txBody>
      </p:sp>
      <p:sp>
        <p:nvSpPr>
          <p:cNvPr id="19" name="Shape 17"/>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3601136" y="1645920"/>
            <a:ext cx="2211248" cy="64008"/>
          </a:xfrm>
          <a:prstGeom prst="rect">
            <a:avLst/>
          </a:prstGeom>
          <a:solidFill>
            <a:srgbClr val="2957D4"/>
          </a:solidFill>
          <a:ln/>
        </p:spPr>
      </p:sp>
      <p:sp>
        <p:nvSpPr>
          <p:cNvPr id="21" name="Shape 19"/>
          <p:cNvSpPr/>
          <p:nvPr/>
        </p:nvSpPr>
        <p:spPr>
          <a:xfrm>
            <a:off x="3637712" y="1920240"/>
            <a:ext cx="420624" cy="420624"/>
          </a:xfrm>
          <a:prstGeom prst="roundRect">
            <a:avLst>
              <a:gd name="adj" fmla="val 26000"/>
            </a:avLst>
          </a:prstGeom>
          <a:solidFill>
            <a:srgbClr val="2957D4"/>
          </a:solidFill>
          <a:ln/>
        </p:spPr>
      </p:sp>
      <p:sp>
        <p:nvSpPr>
          <p:cNvPr id="22" name="Text 20"/>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3" name="Text 21"/>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4" name="Text 22"/>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Bağıntılar ve grafikler: gözlediğini sayılara dök, bir büyüklükten ötekine geç.</a:t>
            </a:r>
            <a:endParaRPr lang="en-US" sz="1150" dirty="0"/>
          </a:p>
        </p:txBody>
      </p:sp>
      <p:sp>
        <p:nvSpPr>
          <p:cNvPr id="25" name="Shape 23"/>
          <p:cNvSpPr/>
          <p:nvPr/>
        </p:nvSpPr>
        <p:spPr>
          <a:xfrm>
            <a:off x="3637712" y="3429000"/>
            <a:ext cx="2138096" cy="0"/>
          </a:xfrm>
          <a:prstGeom prst="line">
            <a:avLst/>
          </a:prstGeom>
          <a:noFill/>
          <a:ln w="9525">
            <a:solidFill>
              <a:srgbClr val="E1E5EE"/>
            </a:solidFill>
            <a:prstDash val="dash"/>
          </a:ln>
        </p:spPr>
      </p:sp>
      <p:sp>
        <p:nvSpPr>
          <p:cNvPr id="26" name="Text 24"/>
          <p:cNvSpPr txBox="1"/>
          <p:nvPr/>
        </p:nvSpPr>
        <p:spPr>
          <a:xfrm>
            <a:off x="3637712" y="3566160"/>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04</a:t>
            </a:r>
            <a:endParaRPr lang="en-US" sz="1100" dirty="0"/>
          </a:p>
        </p:txBody>
      </p:sp>
      <p:sp>
        <p:nvSpPr>
          <p:cNvPr id="27" name="Text 25"/>
          <p:cNvSpPr txBox="1"/>
          <p:nvPr/>
        </p:nvSpPr>
        <p:spPr>
          <a:xfrm>
            <a:off x="4021760" y="3566160"/>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Temel bağıntılar</a:t>
            </a:r>
            <a:endParaRPr lang="en-US" sz="1250" dirty="0"/>
          </a:p>
        </p:txBody>
      </p:sp>
      <p:sp>
        <p:nvSpPr>
          <p:cNvPr id="28" name="Text 26"/>
          <p:cNvSpPr txBox="1"/>
          <p:nvPr/>
        </p:nvSpPr>
        <p:spPr>
          <a:xfrm>
            <a:off x="3637712" y="4199382"/>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4199382"/>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Sayılarla hisset: ne kadar hızlı, ne kadar sürede?</a:t>
            </a:r>
            <a:endParaRPr lang="en-US" sz="1150" dirty="0"/>
          </a:p>
        </p:txBody>
      </p:sp>
      <p:sp>
        <p:nvSpPr>
          <p:cNvPr id="30" name="Text 28"/>
          <p:cNvSpPr txBox="1"/>
          <p:nvPr/>
        </p:nvSpPr>
        <p:spPr>
          <a:xfrm>
            <a:off x="3637712" y="4832604"/>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832604"/>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Grafikler ve yorumu</a:t>
            </a:r>
            <a:endParaRPr lang="en-US" sz="1250" dirty="0"/>
          </a:p>
        </p:txBody>
      </p:sp>
      <p:sp>
        <p:nvSpPr>
          <p:cNvPr id="32" name="Text 30"/>
          <p:cNvSpPr txBox="1"/>
          <p:nvPr/>
        </p:nvSpPr>
        <p:spPr>
          <a:xfrm>
            <a:off x="3637712" y="5465826"/>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5465826"/>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Eşit zaman aralıkları: 1 : 3 : 5 kuralı</a:t>
            </a:r>
            <a:endParaRPr lang="en-US" sz="1250" dirty="0"/>
          </a:p>
        </p:txBody>
      </p:sp>
      <p:sp>
        <p:nvSpPr>
          <p:cNvPr id="34" name="Shape 32"/>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5" name="Shape 33"/>
          <p:cNvSpPr/>
          <p:nvPr/>
        </p:nvSpPr>
        <p:spPr>
          <a:xfrm>
            <a:off x="6379312" y="1645920"/>
            <a:ext cx="2211248" cy="64008"/>
          </a:xfrm>
          <a:prstGeom prst="rect">
            <a:avLst/>
          </a:prstGeom>
          <a:solidFill>
            <a:srgbClr val="5F4BD8"/>
          </a:solidFill>
          <a:ln/>
        </p:spPr>
      </p:sp>
      <p:sp>
        <p:nvSpPr>
          <p:cNvPr id="36" name="Shape 34"/>
          <p:cNvSpPr/>
          <p:nvPr/>
        </p:nvSpPr>
        <p:spPr>
          <a:xfrm>
            <a:off x="6415888" y="1920240"/>
            <a:ext cx="420624" cy="420624"/>
          </a:xfrm>
          <a:prstGeom prst="roundRect">
            <a:avLst>
              <a:gd name="adj" fmla="val 26000"/>
            </a:avLst>
          </a:prstGeom>
          <a:solidFill>
            <a:srgbClr val="5F4BD8"/>
          </a:solidFill>
          <a:ln/>
        </p:spPr>
      </p:sp>
      <p:sp>
        <p:nvSpPr>
          <p:cNvPr id="37" name="Text 35"/>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8" name="Text 36"/>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39" name="Text 37"/>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Derinleşme: cisim atılınca, hava işe karışınca ve serbest düşme gerçek hayata çıkınca ne olur?</a:t>
            </a:r>
            <a:endParaRPr lang="en-US" sz="1150" dirty="0"/>
          </a:p>
        </p:txBody>
      </p:sp>
      <p:sp>
        <p:nvSpPr>
          <p:cNvPr id="40" name="Shape 38"/>
          <p:cNvSpPr/>
          <p:nvPr/>
        </p:nvSpPr>
        <p:spPr>
          <a:xfrm>
            <a:off x="6415888" y="3429000"/>
            <a:ext cx="2138096" cy="0"/>
          </a:xfrm>
          <a:prstGeom prst="line">
            <a:avLst/>
          </a:prstGeom>
          <a:noFill/>
          <a:ln w="9525">
            <a:solidFill>
              <a:srgbClr val="E1E5EE"/>
            </a:solidFill>
            <a:prstDash val="dash"/>
          </a:ln>
        </p:spPr>
      </p:sp>
      <p:sp>
        <p:nvSpPr>
          <p:cNvPr id="41" name="Text 39"/>
          <p:cNvSpPr txBox="1"/>
          <p:nvPr/>
        </p:nvSpPr>
        <p:spPr>
          <a:xfrm>
            <a:off x="6415888" y="3566160"/>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08</a:t>
            </a:r>
            <a:endParaRPr lang="en-US" sz="1100" dirty="0"/>
          </a:p>
        </p:txBody>
      </p:sp>
      <p:sp>
        <p:nvSpPr>
          <p:cNvPr id="42" name="Text 40"/>
          <p:cNvSpPr txBox="1"/>
          <p:nvPr/>
        </p:nvSpPr>
        <p:spPr>
          <a:xfrm>
            <a:off x="6799936" y="3566160"/>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Düşey atış: yukarı fırlatınca ne değişir?</a:t>
            </a:r>
            <a:endParaRPr lang="en-US" sz="1200" dirty="0"/>
          </a:p>
        </p:txBody>
      </p:sp>
      <p:sp>
        <p:nvSpPr>
          <p:cNvPr id="43" name="Text 41"/>
          <p:cNvSpPr txBox="1"/>
          <p:nvPr/>
        </p:nvSpPr>
        <p:spPr>
          <a:xfrm>
            <a:off x="6415888" y="4224528"/>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09</a:t>
            </a:r>
            <a:endParaRPr lang="en-US" sz="1100" dirty="0"/>
          </a:p>
        </p:txBody>
      </p:sp>
      <p:sp>
        <p:nvSpPr>
          <p:cNvPr id="44" name="Text 42"/>
          <p:cNvSpPr txBox="1"/>
          <p:nvPr/>
        </p:nvSpPr>
        <p:spPr>
          <a:xfrm>
            <a:off x="6799936"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Gerçekte hava direnci ve limit hız</a:t>
            </a:r>
            <a:endParaRPr lang="en-US" sz="1250" dirty="0"/>
          </a:p>
        </p:txBody>
      </p:sp>
      <p:sp>
        <p:nvSpPr>
          <p:cNvPr id="45" name="Text 43"/>
          <p:cNvSpPr txBox="1"/>
          <p:nvPr/>
        </p:nvSpPr>
        <p:spPr>
          <a:xfrm>
            <a:off x="6415888" y="4882896"/>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Serbest düşme gerçek dünyada</a:t>
            </a:r>
            <a:endParaRPr lang="en-US" sz="1250" dirty="0"/>
          </a:p>
        </p:txBody>
      </p:sp>
      <p:sp>
        <p:nvSpPr>
          <p:cNvPr id="47" name="Shape 45"/>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8" name="Shape 46"/>
          <p:cNvSpPr/>
          <p:nvPr/>
        </p:nvSpPr>
        <p:spPr>
          <a:xfrm>
            <a:off x="9157487" y="1645920"/>
            <a:ext cx="2211248" cy="64008"/>
          </a:xfrm>
          <a:prstGeom prst="rect">
            <a:avLst/>
          </a:prstGeom>
          <a:solidFill>
            <a:srgbClr val="A56209"/>
          </a:solidFill>
          <a:ln/>
        </p:spPr>
      </p:sp>
      <p:sp>
        <p:nvSpPr>
          <p:cNvPr id="49" name="Shape 47"/>
          <p:cNvSpPr/>
          <p:nvPr/>
        </p:nvSpPr>
        <p:spPr>
          <a:xfrm>
            <a:off x="9194063" y="1920240"/>
            <a:ext cx="420624" cy="420624"/>
          </a:xfrm>
          <a:prstGeom prst="roundRect">
            <a:avLst>
              <a:gd name="adj" fmla="val 26000"/>
            </a:avLst>
          </a:prstGeom>
          <a:solidFill>
            <a:srgbClr val="A56209"/>
          </a:solidFill>
          <a:ln/>
        </p:spPr>
      </p:sp>
      <p:sp>
        <p:nvSpPr>
          <p:cNvPr id="50" name="Text 48"/>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1" name="Text 49"/>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2" name="Text 50"/>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sınavda puan kaybettiren klasik hatalar.</a:t>
            </a:r>
            <a:endParaRPr lang="en-US" sz="1150" dirty="0"/>
          </a:p>
        </p:txBody>
      </p:sp>
      <p:sp>
        <p:nvSpPr>
          <p:cNvPr id="53" name="Shape 51"/>
          <p:cNvSpPr/>
          <p:nvPr/>
        </p:nvSpPr>
        <p:spPr>
          <a:xfrm>
            <a:off x="9194063" y="3429000"/>
            <a:ext cx="2138096" cy="0"/>
          </a:xfrm>
          <a:prstGeom prst="line">
            <a:avLst/>
          </a:prstGeom>
          <a:noFill/>
          <a:ln w="9525">
            <a:solidFill>
              <a:srgbClr val="E1E5EE"/>
            </a:solidFill>
            <a:prstDash val="dash"/>
          </a:ln>
        </p:spPr>
      </p:sp>
      <p:sp>
        <p:nvSpPr>
          <p:cNvPr id="54" name="Text 52"/>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11</a:t>
            </a:r>
            <a:endParaRPr lang="en-US" sz="1100" dirty="0"/>
          </a:p>
        </p:txBody>
      </p:sp>
      <p:sp>
        <p:nvSpPr>
          <p:cNvPr id="55" name="Text 53"/>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56" name="Text 54"/>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12</a:t>
            </a:r>
            <a:endParaRPr lang="en-US" sz="1100" dirty="0"/>
          </a:p>
        </p:txBody>
      </p:sp>
      <p:sp>
        <p:nvSpPr>
          <p:cNvPr id="57" name="Text 55"/>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58" name="Shape 56"/>
          <p:cNvSpPr/>
          <p:nvPr/>
        </p:nvSpPr>
        <p:spPr>
          <a:xfrm>
            <a:off x="640080" y="6382512"/>
            <a:ext cx="128016" cy="128016"/>
          </a:xfrm>
          <a:prstGeom prst="roundRect">
            <a:avLst>
              <a:gd name="adj" fmla="val 28571"/>
            </a:avLst>
          </a:prstGeom>
          <a:solidFill>
            <a:srgbClr val="A9E648"/>
          </a:solidFill>
          <a:ln/>
        </p:spPr>
      </p:sp>
      <p:sp>
        <p:nvSpPr>
          <p:cNvPr id="59" name="Text 5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60" name="Text 5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Önce sezgi: düşen bir cisme bak, ne yaptığını gör ve adını koy. Bu basamakta hesap yok denecek kadar az.</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düşen bir cisim ne yapar?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Serbest düşme nedir?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Kütle neden fark etmez?</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5/sek/serbest-dusme-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Düşen bir elmanın eşit zaman aralıklarıyla çekilmiş görüntüleri. Elma her aralıkta bir öncekinden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daha uzun yol</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alıyor; ilk görüntüler neredeyse üst üste binerken sonrakiler iyice açılıyor. Bu görselde aralıklar tam olarak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1 : 3 : 5</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oranında: elmaların konumları y = ½·g·t² bağıntısına göre yerleştirildi. Bu kuralı ikinci basamakta kanıtlayacağız.</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dersler.perinet.org/serbest-dusme.html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düşen bir cisim ne yapar?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3C8C21"/>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Düşen bir cisim düşey doğrultuda ve giderek hızlanarak iner. Eşit sürelerde alınan yolların büyümesi bu hızlanmanın izidir.</a:t>
            </a:r>
            <a:endParaRPr lang="en-US" sz="1900" dirty="0"/>
          </a:p>
        </p:txBody>
      </p:sp>
      <p:sp>
        <p:nvSpPr>
          <p:cNvPr id="9" name="Text 7"/>
          <p:cNvSpPr txBox="1"/>
          <p:nvPr/>
        </p:nvSpPr>
        <p:spPr>
          <a:xfrm>
            <a:off x="640080" y="2294534"/>
            <a:ext cx="10911535" cy="168173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Böyle bir fotoğrafta ilk dikkat çeken şey şudur: görüntüler arasındaki boşluklar </a:t>
            </a:r>
            <a:pPr indent="0" marL="0">
              <a:lnSpc>
                <a:spcPct val="115000"/>
              </a:lnSpc>
              <a:buNone/>
            </a:pPr>
            <a:r>
              <a:rPr lang="en-US" sz="1700" b="1" dirty="0">
                <a:solidFill>
                  <a:srgbClr val="0E1426"/>
                </a:solidFill>
                <a:latin typeface="Calibri" pitchFamily="34" charset="0"/>
                <a:ea typeface="Calibri" pitchFamily="34" charset="-122"/>
                <a:cs typeface="Calibri" pitchFamily="34" charset="-120"/>
              </a:rPr>
              <a:t>eşit değildir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aşağı indikçe açılır.</a:t>
            </a:r>
            <a:endParaRPr lang="en-US" sz="1700" dirty="0"/>
          </a:p>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Eşit sürelerde giderek daha uzun yol alınıyorsa cisim </a:t>
            </a:r>
            <a:pPr indent="0" marL="0">
              <a:lnSpc>
                <a:spcPct val="115000"/>
              </a:lnSpc>
              <a:buNone/>
            </a:pPr>
            <a:r>
              <a:rPr lang="en-US" sz="1700" b="1" dirty="0">
                <a:solidFill>
                  <a:srgbClr val="0E1426"/>
                </a:solidFill>
                <a:latin typeface="Calibri" pitchFamily="34" charset="0"/>
                <a:ea typeface="Calibri" pitchFamily="34" charset="-122"/>
                <a:cs typeface="Calibri" pitchFamily="34" charset="-120"/>
              </a:rPr>
              <a:t>hızlanıyor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demektir.</a:t>
            </a:r>
            <a:endParaRPr lang="en-US" sz="1700" dirty="0"/>
          </a:p>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Sabit hızla giden bir araba aynı yöntemle fotoğraflansaydı görüntüler cetvel çizgileri gibi eşit aralıklı dizilirdi.</a:t>
            </a:r>
            <a:endParaRPr lang="en-US" sz="1700" dirty="0"/>
          </a:p>
        </p:txBody>
      </p:sp>
      <p:sp>
        <p:nvSpPr>
          <p:cNvPr id="10" name="Text 8"/>
          <p:cNvSpPr txBox="1"/>
          <p:nvPr/>
        </p:nvSpPr>
        <p:spPr>
          <a:xfrm>
            <a:off x="640080" y="4085996"/>
            <a:ext cx="10911535" cy="108585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Doğrultu düşeydir: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cisim şakül ipi gibi dümdüz aşağı iner.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Hız sürekli artar: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her saniye bir önceki saniyeden daha hızlıdır.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Hızlanma herkes için aynıdır: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bilye de taş da anahtar da aynı biçimde hızlanır.</a:t>
            </a:r>
            <a:endParaRPr lang="en-US" sz="1700" dirty="0"/>
          </a:p>
        </p:txBody>
      </p:sp>
      <p:sp>
        <p:nvSpPr>
          <p:cNvPr id="11" name="Shape 9"/>
          <p:cNvSpPr/>
          <p:nvPr/>
        </p:nvSpPr>
        <p:spPr>
          <a:xfrm>
            <a:off x="640080" y="6382512"/>
            <a:ext cx="128016" cy="128016"/>
          </a:xfrm>
          <a:prstGeom prst="roundRect">
            <a:avLst>
              <a:gd name="adj" fmla="val 28571"/>
            </a:avLst>
          </a:prstGeom>
          <a:solidFill>
            <a:srgbClr val="A9E648"/>
          </a:solidFill>
          <a:ln/>
        </p:spPr>
      </p:sp>
      <p:sp>
        <p:nvSpPr>
          <p:cNvPr id="12"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3"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Musluktan eşit aralıklarla damlayan su damlaları aşağı indikçe neden birbirinden uzaklaşır?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düşen bir cisim ne yapar?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Musluktan eşit aralıklarla damlayan su damlaları aşağı indikçe neden birbirinden uzaklaşır?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Her damla ötekinden biraz önce yola çıkmıştır, yani her an ondan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daha hızlıdır</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Öndeki damla arkadakinden hep daha hızlı gittiği için aradaki boşluk sürekli büyür. Damlalar eşit zaman aralıklarıyla kopsa da aralarındaki uzaklık eşit kalmaz — tam da strobo fotoğraftaki gibi.</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Serbest düşme nedir?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3C8C21"/>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Serbest düşme, ilk hızsız bırakılan ve yalnızca ağırlığın etkisindeki bir cismin hareketidir. İvmesi sabittir ve g'ye eşittir: hız her saniye yaklaşık 10 m/s artar.</a:t>
            </a:r>
            <a:endParaRPr lang="en-US" sz="1900" dirty="0"/>
          </a:p>
        </p:txBody>
      </p:sp>
      <p:sp>
        <p:nvSpPr>
          <p:cNvPr id="9" name="Text 7"/>
          <p:cNvSpPr txBox="1"/>
          <p:nvPr/>
        </p:nvSpPr>
        <p:spPr>
          <a:xfrm>
            <a:off x="640080" y="2294534"/>
            <a:ext cx="6675120" cy="87553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İlk hız sıfırdır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(v₀ = 0): cisim atılmaz, bırakılır.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Hava direnci ihmal edilir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tek kuvvet ağırlıktır (G = m·g).</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İvme sabittir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ve yerçekimi ivmesi g'ye eşittir.</a:t>
            </a:r>
            <a:endParaRPr lang="en-US" sz="1300" dirty="0"/>
          </a:p>
        </p:txBody>
      </p:sp>
      <p:sp>
        <p:nvSpPr>
          <p:cNvPr id="10" name="Text 8"/>
          <p:cNvSpPr txBox="1"/>
          <p:nvPr/>
        </p:nvSpPr>
        <p:spPr>
          <a:xfrm>
            <a:off x="640080" y="3316376"/>
            <a:ext cx="6675120" cy="274320"/>
          </a:xfrm>
          <a:prstGeom prst="rect">
            <a:avLst/>
          </a:prstGeom>
          <a:noFill/>
          <a:ln/>
        </p:spPr>
        <p:txBody>
          <a:bodyPr wrap="square" lIns="0" tIns="0" rIns="0" bIns="0" rtlCol="0" anchor="ctr"/>
          <a:lstStyle/>
          <a:p>
            <a:pPr indent="0" marL="0">
              <a:buNone/>
            </a:pPr>
            <a:r>
              <a:rPr lang="en-US" sz="1350" b="1" dirty="0">
                <a:solidFill>
                  <a:srgbClr val="3C8C21"/>
                </a:solidFill>
                <a:latin typeface="Calibri" pitchFamily="34" charset="0"/>
                <a:ea typeface="Calibri" pitchFamily="34" charset="-122"/>
                <a:cs typeface="Calibri" pitchFamily="34" charset="-120"/>
              </a:rPr>
              <a:t>İvme ne demek?</a:t>
            </a:r>
            <a:endParaRPr lang="en-US" sz="1350" dirty="0"/>
          </a:p>
        </p:txBody>
      </p:sp>
      <p:sp>
        <p:nvSpPr>
          <p:cNvPr id="11" name="Shape 9"/>
          <p:cNvSpPr/>
          <p:nvPr/>
        </p:nvSpPr>
        <p:spPr>
          <a:xfrm>
            <a:off x="7607808" y="2294534"/>
            <a:ext cx="3943807" cy="3341515"/>
          </a:xfrm>
          <a:prstGeom prst="roundRect">
            <a:avLst>
              <a:gd name="adj" fmla="val 437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claude-1000/-opt-dersler/8a8328c3-841c-44fa-b76f-82572d338d3d/scratchpad/d5/sek/serbest-dusme-01.png">    </p:cNvPr>
          <p:cNvPicPr>
            <a:picLocks noChangeAspect="1"/>
          </p:cNvPicPr>
          <p:nvPr/>
        </p:nvPicPr>
        <p:blipFill>
          <a:blip r:embed="rId1"/>
          <a:stretch>
            <a:fillRect/>
          </a:stretch>
        </p:blipFill>
        <p:spPr>
          <a:xfrm>
            <a:off x="7790688" y="2477414"/>
            <a:ext cx="3578047" cy="1878475"/>
          </a:xfrm>
          <a:prstGeom prst="rect">
            <a:avLst/>
          </a:prstGeom>
        </p:spPr>
      </p:pic>
      <p:sp>
        <p:nvSpPr>
          <p:cNvPr id="13" name="Shape 10"/>
          <p:cNvSpPr/>
          <p:nvPr/>
        </p:nvSpPr>
        <p:spPr>
          <a:xfrm>
            <a:off x="7790688" y="4447329"/>
            <a:ext cx="3578047" cy="0"/>
          </a:xfrm>
          <a:prstGeom prst="line">
            <a:avLst/>
          </a:prstGeom>
          <a:noFill/>
          <a:ln w="9525">
            <a:solidFill>
              <a:srgbClr val="E1E5EE"/>
            </a:solidFill>
            <a:prstDash val="dash"/>
          </a:ln>
        </p:spPr>
      </p:sp>
      <p:sp>
        <p:nvSpPr>
          <p:cNvPr id="14" name="Text 11"/>
          <p:cNvSpPr txBox="1"/>
          <p:nvPr/>
        </p:nvSpPr>
        <p:spPr>
          <a:xfrm>
            <a:off x="7790688" y="4502193"/>
            <a:ext cx="357804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Üç koşul tek karede: cisim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ilk hızsız bırakılır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üzerindeki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tek kuvvet ağırlıktır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bu yüzden ivmesi sabit kalır ve g'ye eşit olur. Eşit sürelerle çekilmiş strobo görüntülerinin arası sürekli açılıyor; çünkü hız her saniye aynı miktarda büyüyor.</a:t>
            </a:r>
            <a:endParaRPr lang="en-US" sz="1050" dirty="0"/>
          </a:p>
        </p:txBody>
      </p:sp>
      <p:sp>
        <p:nvSpPr>
          <p:cNvPr id="15" name="Shape 12"/>
          <p:cNvSpPr/>
          <p:nvPr/>
        </p:nvSpPr>
        <p:spPr>
          <a:xfrm>
            <a:off x="640080" y="6382512"/>
            <a:ext cx="128016" cy="128016"/>
          </a:xfrm>
          <a:prstGeom prst="roundRect">
            <a:avLst>
              <a:gd name="adj" fmla="val 28571"/>
            </a:avLst>
          </a:prstGeom>
          <a:solidFill>
            <a:srgbClr val="A9E648"/>
          </a:solidFill>
          <a:ln/>
        </p:spPr>
      </p:sp>
      <p:sp>
        <p:nvSpPr>
          <p:cNvPr id="16"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7"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Serbest düşme nedir? · devam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0080" y="1481328"/>
          <a:ext cx="10911535" cy="914400"/>
        </p:xfrm>
        <a:graphic>
          <a:graphicData uri="http://schemas.openxmlformats.org/drawingml/2006/table">
            <a:tbl>
              <a:tblPr/>
              <a:tblGrid>
                <a:gridCol w="2321603"/>
                <a:gridCol w="1392962"/>
                <a:gridCol w="4875367"/>
                <a:gridCol w="2321603"/>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Geçen süre</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Hız</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O saniyede alınan yol</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Toplam yol</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0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1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5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5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2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15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3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30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25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45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4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40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35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80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7" name="Shape 4"/>
          <p:cNvSpPr/>
          <p:nvPr/>
        </p:nvSpPr>
        <p:spPr>
          <a:xfrm>
            <a:off x="640080" y="3639312"/>
            <a:ext cx="10911535" cy="822960"/>
          </a:xfrm>
          <a:prstGeom prst="roundRect">
            <a:avLst>
              <a:gd name="adj" fmla="val 1333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5"/>
          <p:cNvSpPr/>
          <p:nvPr/>
        </p:nvSpPr>
        <p:spPr>
          <a:xfrm>
            <a:off x="658368" y="3785616"/>
            <a:ext cx="45720" cy="530352"/>
          </a:xfrm>
          <a:prstGeom prst="rect">
            <a:avLst/>
          </a:prstGeom>
          <a:solidFill>
            <a:srgbClr val="3C8C21"/>
          </a:solidFill>
          <a:ln/>
        </p:spPr>
      </p:sp>
      <p:sp>
        <p:nvSpPr>
          <p:cNvPr id="9" name="Text 6"/>
          <p:cNvSpPr txBox="1"/>
          <p:nvPr/>
        </p:nvSpPr>
        <p:spPr>
          <a:xfrm>
            <a:off x="914400" y="3749040"/>
            <a:ext cx="10454335" cy="603504"/>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g ne kadar?</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Dünya yüzeyinde ortalama </a:t>
            </a:r>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9,81 m/s²</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'dir; ekvatorda 9,78, kutuplarda 9,83 civarına iner-çıkar. İşlem kolaylığı için problemlerde çoğunlukla </a:t>
            </a:r>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g = 10 m/s²</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alınır. Ay'da 1,62 · Mars'ta 3,72 · Jüpiter'de 24,79 m/s².</a:t>
            </a:r>
            <a:endParaRPr lang="en-US" sz="12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Kütle neden fark etmez?</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3C8C21"/>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Hava direnci yoksa bütün cisimler aynı ivmeyle düşer, çünkü ağırlık ve eylemsizlik kütleyle aynı oranda büyür ve m·g = m·a eşitliğinde kütle sadeleşir.</a:t>
            </a:r>
            <a:endParaRPr lang="en-US" sz="1900" dirty="0"/>
          </a:p>
        </p:txBody>
      </p:sp>
      <p:sp>
        <p:nvSpPr>
          <p:cNvPr id="9" name="Text 7"/>
          <p:cNvSpPr txBox="1"/>
          <p:nvPr/>
        </p:nvSpPr>
        <p:spPr>
          <a:xfrm>
            <a:off x="640080" y="2294534"/>
            <a:ext cx="5486400" cy="96926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Newton'un ikinci yasası aynı sonucu hesapla gösterir.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Düşen cisme etki eden tek kuvvet ağırlığıdır:</a:t>
            </a:r>
            <a:endParaRPr lang="en-US" sz="1600" dirty="0"/>
          </a:p>
        </p:txBody>
      </p:sp>
      <p:sp>
        <p:nvSpPr>
          <p:cNvPr id="10" name="Shape 8"/>
          <p:cNvSpPr/>
          <p:nvPr/>
        </p:nvSpPr>
        <p:spPr>
          <a:xfrm>
            <a:off x="640080" y="3373526"/>
            <a:ext cx="1345997"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640080" y="3373526"/>
            <a:ext cx="134599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 = m · a</a:t>
            </a:r>
            <a:endParaRPr lang="en-US" sz="1300" dirty="0"/>
          </a:p>
        </p:txBody>
      </p:sp>
      <p:sp>
        <p:nvSpPr>
          <p:cNvPr id="12" name="Shape 10"/>
          <p:cNvSpPr/>
          <p:nvPr/>
        </p:nvSpPr>
        <p:spPr>
          <a:xfrm>
            <a:off x="2095805" y="3373526"/>
            <a:ext cx="1741018" cy="457200"/>
          </a:xfrm>
          <a:prstGeom prst="roundRect">
            <a:avLst>
              <a:gd name="adj" fmla="val 24000"/>
            </a:avLst>
          </a:prstGeom>
          <a:solidFill>
            <a:srgbClr val="EEF2FC"/>
          </a:solidFill>
          <a:ln w="9525">
            <a:solidFill>
              <a:srgbClr val="CBD7F4"/>
            </a:solidFill>
            <a:prstDash val="solid"/>
          </a:ln>
        </p:spPr>
      </p:sp>
      <p:sp>
        <p:nvSpPr>
          <p:cNvPr id="13" name="Text 11"/>
          <p:cNvSpPr txBox="1"/>
          <p:nvPr/>
        </p:nvSpPr>
        <p:spPr>
          <a:xfrm>
            <a:off x="2095805" y="3373526"/>
            <a:ext cx="174101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m · g = m · a</a:t>
            </a:r>
            <a:endParaRPr lang="en-US" sz="1300" dirty="0"/>
          </a:p>
        </p:txBody>
      </p:sp>
      <p:sp>
        <p:nvSpPr>
          <p:cNvPr id="14" name="Shape 12"/>
          <p:cNvSpPr/>
          <p:nvPr/>
        </p:nvSpPr>
        <p:spPr>
          <a:xfrm>
            <a:off x="3946550" y="3373526"/>
            <a:ext cx="950976" cy="457200"/>
          </a:xfrm>
          <a:prstGeom prst="roundRect">
            <a:avLst>
              <a:gd name="adj" fmla="val 24000"/>
            </a:avLst>
          </a:prstGeom>
          <a:solidFill>
            <a:srgbClr val="EEF2FC"/>
          </a:solidFill>
          <a:ln w="9525">
            <a:solidFill>
              <a:srgbClr val="CBD7F4"/>
            </a:solidFill>
            <a:prstDash val="solid"/>
          </a:ln>
        </p:spPr>
      </p:sp>
      <p:sp>
        <p:nvSpPr>
          <p:cNvPr id="15" name="Text 13"/>
          <p:cNvSpPr txBox="1"/>
          <p:nvPr/>
        </p:nvSpPr>
        <p:spPr>
          <a:xfrm>
            <a:off x="3946550" y="3373526"/>
            <a:ext cx="950976"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a = g</a:t>
            </a:r>
            <a:endParaRPr lang="en-US" sz="1300" dirty="0"/>
          </a:p>
        </p:txBody>
      </p:sp>
      <p:sp>
        <p:nvSpPr>
          <p:cNvPr id="16" name="Shape 14"/>
          <p:cNvSpPr/>
          <p:nvPr/>
        </p:nvSpPr>
        <p:spPr>
          <a:xfrm>
            <a:off x="6419088" y="2294534"/>
            <a:ext cx="5132527" cy="3831946"/>
          </a:xfrm>
          <a:prstGeom prst="roundRect">
            <a:avLst>
              <a:gd name="adj" fmla="val 381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7" name="Image 0" descr="/tmp/claude-1000/-opt-dersler/8a8328c3-841c-44fa-b76f-82572d338d3d/scratchpad/d5/sek/serbest-dusme-02.png">    </p:cNvPr>
          <p:cNvPicPr>
            <a:picLocks noChangeAspect="1"/>
          </p:cNvPicPr>
          <p:nvPr/>
        </p:nvPicPr>
        <p:blipFill>
          <a:blip r:embed="rId1"/>
          <a:stretch>
            <a:fillRect/>
          </a:stretch>
        </p:blipFill>
        <p:spPr>
          <a:xfrm>
            <a:off x="6720349" y="2477414"/>
            <a:ext cx="4530005" cy="2548128"/>
          </a:xfrm>
          <a:prstGeom prst="rect">
            <a:avLst/>
          </a:prstGeom>
        </p:spPr>
      </p:pic>
      <p:sp>
        <p:nvSpPr>
          <p:cNvPr id="18" name="Shape 15"/>
          <p:cNvSpPr/>
          <p:nvPr/>
        </p:nvSpPr>
        <p:spPr>
          <a:xfrm>
            <a:off x="6601968" y="5116982"/>
            <a:ext cx="4766767" cy="0"/>
          </a:xfrm>
          <a:prstGeom prst="line">
            <a:avLst/>
          </a:prstGeom>
          <a:noFill/>
          <a:ln w="9525">
            <a:solidFill>
              <a:srgbClr val="E1E5EE"/>
            </a:solidFill>
            <a:prstDash val="dash"/>
          </a:ln>
        </p:spPr>
      </p:sp>
      <p:sp>
        <p:nvSpPr>
          <p:cNvPr id="19" name="Text 16"/>
          <p:cNvSpPr txBox="1"/>
          <p:nvPr/>
        </p:nvSpPr>
        <p:spPr>
          <a:xfrm>
            <a:off x="6601968" y="5171846"/>
            <a:ext cx="4766767" cy="771754"/>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Ağır cisim daha büyük bir kuvvetle çekilir (m·g), ama tam o oranda harekete de direnir (m·a).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Kütle eşitliğin iki yanında da bulunduğu için sadeleşir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ve geriye yalnızca a = g kalır. Bu yüzden 8 kat ağır olan cisim, hafif olanla hep aynı hizada düşer.</a:t>
            </a:r>
            <a:endParaRPr lang="en-US" sz="1050" dirty="0"/>
          </a:p>
        </p:txBody>
      </p:sp>
      <p:sp>
        <p:nvSpPr>
          <p:cNvPr id="20" name="Shape 17"/>
          <p:cNvSpPr/>
          <p:nvPr/>
        </p:nvSpPr>
        <p:spPr>
          <a:xfrm>
            <a:off x="640080" y="6382512"/>
            <a:ext cx="128016" cy="128016"/>
          </a:xfrm>
          <a:prstGeom prst="roundRect">
            <a:avLst>
              <a:gd name="adj" fmla="val 28571"/>
            </a:avLst>
          </a:prstGeom>
          <a:solidFill>
            <a:srgbClr val="A9E648"/>
          </a:solidFill>
          <a:ln/>
        </p:spPr>
      </p:sp>
      <p:sp>
        <p:nvSpPr>
          <p:cNvPr id="21"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22"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Ağır cisme daha büyük bir kuvvet etki ediyorsa, neden daha hızlı düşmüyor?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03 · Kütle neden fark etmez?</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Ağır cisme daha büyük bir kuvvet etki ediyorsa, neden daha hızlı düşmüyor?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Çünkü onu hızlandırmak da o kadar zordur. 8 kat ağır bir cisme 8 kat büyük kuvvet etki eder, ama onun hızını değiştirmek için de 8 kat büyük kuvvet gerekir. Kuvvetin kütleye oranı (F/m) ikisinde de aynıdır ve bu oran tam olarak g'dir. İvmeyi belirleyen kuvvetin kendisi değil,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kuvvetin kütleye oranıdır</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ve grafikler: gözlediğini sayılara dök, bir büyüklükten ötekine geç.</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04   </a:t>
            </a:r>
            <a:pPr indent="0" marL="0">
              <a:buNone/>
            </a:pPr>
            <a:r>
              <a:rPr lang="en-US" sz="1300" dirty="0">
                <a:solidFill>
                  <a:srgbClr val="FFFFFF"/>
                </a:solidFill>
                <a:latin typeface="Calibri" pitchFamily="34" charset="0"/>
                <a:ea typeface="Calibri" pitchFamily="34" charset="-122"/>
                <a:cs typeface="Calibri" pitchFamily="34" charset="-120"/>
              </a:rPr>
              <a:t>Temel bağıntılar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05   </a:t>
            </a:r>
            <a:pPr indent="0" marL="0">
              <a:buNone/>
            </a:pPr>
            <a:r>
              <a:rPr lang="en-US" sz="1300" dirty="0">
                <a:solidFill>
                  <a:srgbClr val="FFFFFF"/>
                </a:solidFill>
                <a:latin typeface="Calibri" pitchFamily="34" charset="0"/>
                <a:ea typeface="Calibri" pitchFamily="34" charset="-122"/>
                <a:cs typeface="Calibri" pitchFamily="34" charset="-120"/>
              </a:rPr>
              <a:t>Sayılarla hisset: ne kadar hızlı, ne kadar sürede?</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06   </a:t>
            </a:r>
            <a:pPr indent="0" marL="0">
              <a:buNone/>
            </a:pPr>
            <a:r>
              <a:rPr lang="en-US" sz="1300" dirty="0">
                <a:solidFill>
                  <a:srgbClr val="FFFFFF"/>
                </a:solidFill>
                <a:latin typeface="Calibri" pitchFamily="34" charset="0"/>
                <a:ea typeface="Calibri" pitchFamily="34" charset="-122"/>
                <a:cs typeface="Calibri" pitchFamily="34" charset="-120"/>
              </a:rPr>
              <a:t>Grafikler ve yorumu</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07   </a:t>
            </a:r>
            <a:pPr indent="0" marL="0">
              <a:buNone/>
            </a:pPr>
            <a:r>
              <a:rPr lang="en-US" sz="1300" dirty="0">
                <a:solidFill>
                  <a:srgbClr val="FFFFFF"/>
                </a:solidFill>
                <a:latin typeface="Calibri" pitchFamily="34" charset="0"/>
                <a:ea typeface="Calibri" pitchFamily="34" charset="-122"/>
                <a:cs typeface="Calibri" pitchFamily="34" charset="-120"/>
              </a:rPr>
              <a:t>Eşit zaman aralıkları: 1 : 3 : 5 kuralı</a:t>
            </a:r>
            <a:endParaRPr lang="en-US" sz="1300" dirty="0"/>
          </a:p>
        </p:txBody>
      </p:sp>
      <p:sp>
        <p:nvSpPr>
          <p:cNvPr id="10" name="Text 8"/>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1" name="Shape 9"/>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2" name="Text 10"/>
          <p:cNvSpPr txBox="1"/>
          <p:nvPr/>
        </p:nvSpPr>
        <p:spPr>
          <a:xfrm>
            <a:off x="6400800" y="148132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v = g · t</a:t>
            </a:r>
            <a:endParaRPr lang="en-US" sz="1500" dirty="0"/>
          </a:p>
        </p:txBody>
      </p:sp>
      <p:sp>
        <p:nvSpPr>
          <p:cNvPr id="13" name="Text 11"/>
          <p:cNvSpPr txBox="1"/>
          <p:nvPr/>
        </p:nvSpPr>
        <p:spPr>
          <a:xfrm>
            <a:off x="8138160" y="148132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hız, süreyle doğru orantılı</a:t>
            </a:r>
            <a:endParaRPr lang="en-US" sz="1200" dirty="0"/>
          </a:p>
        </p:txBody>
      </p:sp>
      <p:sp>
        <p:nvSpPr>
          <p:cNvPr id="14" name="Shape 12"/>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5" name="Text 13"/>
          <p:cNvSpPr txBox="1"/>
          <p:nvPr/>
        </p:nvSpPr>
        <p:spPr>
          <a:xfrm>
            <a:off x="6400800" y="2350008"/>
            <a:ext cx="1938528"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h = ½ · g · t²</a:t>
            </a:r>
            <a:endParaRPr lang="en-US" sz="1500" dirty="0"/>
          </a:p>
        </p:txBody>
      </p:sp>
      <p:sp>
        <p:nvSpPr>
          <p:cNvPr id="16" name="Text 14"/>
          <p:cNvSpPr txBox="1"/>
          <p:nvPr/>
        </p:nvSpPr>
        <p:spPr>
          <a:xfrm>
            <a:off x="8430768" y="2350008"/>
            <a:ext cx="2937967"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yol, sürenin karesiyle</a:t>
            </a:r>
            <a:endParaRPr lang="en-US" sz="1200" dirty="0"/>
          </a:p>
        </p:txBody>
      </p:sp>
      <p:sp>
        <p:nvSpPr>
          <p:cNvPr id="17" name="Shape 15"/>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18" name="Text 16"/>
          <p:cNvSpPr txBox="1"/>
          <p:nvPr/>
        </p:nvSpPr>
        <p:spPr>
          <a:xfrm>
            <a:off x="6400800" y="3218688"/>
            <a:ext cx="1938528"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v² = 2 · g · h</a:t>
            </a:r>
            <a:endParaRPr lang="en-US" sz="1500" dirty="0"/>
          </a:p>
        </p:txBody>
      </p:sp>
      <p:sp>
        <p:nvSpPr>
          <p:cNvPr id="19" name="Text 17"/>
          <p:cNvSpPr txBox="1"/>
          <p:nvPr/>
        </p:nvSpPr>
        <p:spPr>
          <a:xfrm>
            <a:off x="8430768" y="3218688"/>
            <a:ext cx="2937967"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süre bilinmiyorsa</a:t>
            </a:r>
            <a:endParaRPr lang="en-US" sz="1200" dirty="0"/>
          </a:p>
        </p:txBody>
      </p:sp>
      <p:sp>
        <p:nvSpPr>
          <p:cNvPr id="20" name="Shape 18"/>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1" name="Text 19"/>
          <p:cNvSpPr txBox="1"/>
          <p:nvPr/>
        </p:nvSpPr>
        <p:spPr>
          <a:xfrm>
            <a:off x="6400800" y="4087368"/>
            <a:ext cx="1819656"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t = √(2h / g)</a:t>
            </a:r>
            <a:endParaRPr lang="en-US" sz="1500" dirty="0"/>
          </a:p>
        </p:txBody>
      </p:sp>
      <p:sp>
        <p:nvSpPr>
          <p:cNvPr id="22" name="Text 20"/>
          <p:cNvSpPr txBox="1"/>
          <p:nvPr/>
        </p:nvSpPr>
        <p:spPr>
          <a:xfrm>
            <a:off x="8311896" y="4087368"/>
            <a:ext cx="3056839"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düşme süresi</a:t>
            </a:r>
            <a:endParaRPr lang="en-US" sz="1200" dirty="0"/>
          </a:p>
        </p:txBody>
      </p:sp>
      <p:sp>
        <p:nvSpPr>
          <p:cNvPr id="23" name="Shape 21"/>
          <p:cNvSpPr/>
          <p:nvPr/>
        </p:nvSpPr>
        <p:spPr>
          <a:xfrm>
            <a:off x="640080" y="6382512"/>
            <a:ext cx="128016" cy="128016"/>
          </a:xfrm>
          <a:prstGeom prst="roundRect">
            <a:avLst>
              <a:gd name="adj" fmla="val 28571"/>
            </a:avLst>
          </a:prstGeom>
          <a:solidFill>
            <a:srgbClr val="C6F36B"/>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dersler.perinet.org/serbest-dusme.html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Temel bağıntılar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v = g·t, h = ½·g·t² ve v² = 2·g·h ivmenin tanımından çıkar. Soruda hangi iki büyüklük geçiyorsa onları bağlayan bağıntıyı seç; süre yoksa v² = 2gh.</a:t>
            </a:r>
            <a:endParaRPr lang="en-US" sz="1900" dirty="0"/>
          </a:p>
        </p:txBody>
      </p:sp>
      <p:sp>
        <p:nvSpPr>
          <p:cNvPr id="9" name="Shape 7"/>
          <p:cNvSpPr/>
          <p:nvPr/>
        </p:nvSpPr>
        <p:spPr>
          <a:xfrm>
            <a:off x="640080" y="2294534"/>
            <a:ext cx="1345997"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134599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 = g · t</a:t>
            </a:r>
            <a:endParaRPr lang="en-US" sz="1300" dirty="0"/>
          </a:p>
        </p:txBody>
      </p:sp>
      <p:sp>
        <p:nvSpPr>
          <p:cNvPr id="11" name="Shape 9"/>
          <p:cNvSpPr/>
          <p:nvPr/>
        </p:nvSpPr>
        <p:spPr>
          <a:xfrm>
            <a:off x="2095805" y="2294534"/>
            <a:ext cx="1839773"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095805" y="2294534"/>
            <a:ext cx="1839773"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h = ½ · g · t²</a:t>
            </a:r>
            <a:endParaRPr lang="en-US" sz="1300" dirty="0"/>
          </a:p>
        </p:txBody>
      </p:sp>
      <p:sp>
        <p:nvSpPr>
          <p:cNvPr id="13" name="Shape 11"/>
          <p:cNvSpPr/>
          <p:nvPr/>
        </p:nvSpPr>
        <p:spPr>
          <a:xfrm>
            <a:off x="4045306" y="2294534"/>
            <a:ext cx="1839773" cy="457200"/>
          </a:xfrm>
          <a:prstGeom prst="roundRect">
            <a:avLst>
              <a:gd name="adj" fmla="val 24000"/>
            </a:avLst>
          </a:prstGeom>
          <a:solidFill>
            <a:srgbClr val="EEF2FC"/>
          </a:solidFill>
          <a:ln w="9525">
            <a:solidFill>
              <a:srgbClr val="CBD7F4"/>
            </a:solidFill>
            <a:prstDash val="solid"/>
          </a:ln>
        </p:spPr>
      </p:sp>
      <p:sp>
        <p:nvSpPr>
          <p:cNvPr id="14" name="Text 12"/>
          <p:cNvSpPr txBox="1"/>
          <p:nvPr/>
        </p:nvSpPr>
        <p:spPr>
          <a:xfrm>
            <a:off x="4045306" y="2294534"/>
            <a:ext cx="1839773"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v² = 2 · g · h</a:t>
            </a:r>
            <a:endParaRPr lang="en-US" sz="1300" dirty="0"/>
          </a:p>
        </p:txBody>
      </p:sp>
      <p:sp>
        <p:nvSpPr>
          <p:cNvPr id="15" name="Shape 13"/>
          <p:cNvSpPr/>
          <p:nvPr/>
        </p:nvSpPr>
        <p:spPr>
          <a:xfrm>
            <a:off x="640080" y="2861462"/>
            <a:ext cx="1741018" cy="457200"/>
          </a:xfrm>
          <a:prstGeom prst="roundRect">
            <a:avLst>
              <a:gd name="adj" fmla="val 24000"/>
            </a:avLst>
          </a:prstGeom>
          <a:solidFill>
            <a:srgbClr val="EEF2FC"/>
          </a:solidFill>
          <a:ln w="9525">
            <a:solidFill>
              <a:srgbClr val="CBD7F4"/>
            </a:solidFill>
            <a:prstDash val="solid"/>
          </a:ln>
        </p:spPr>
      </p:sp>
      <p:sp>
        <p:nvSpPr>
          <p:cNvPr id="16" name="Text 14"/>
          <p:cNvSpPr txBox="1"/>
          <p:nvPr/>
        </p:nvSpPr>
        <p:spPr>
          <a:xfrm>
            <a:off x="640080" y="2861462"/>
            <a:ext cx="174101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t = √(2h / g)</a:t>
            </a:r>
            <a:endParaRPr lang="en-US" sz="1300" dirty="0"/>
          </a:p>
        </p:txBody>
      </p:sp>
      <p:sp>
        <p:nvSpPr>
          <p:cNvPr id="17" name="Shape 15"/>
          <p:cNvSpPr/>
          <p:nvPr/>
        </p:nvSpPr>
        <p:spPr>
          <a:xfrm>
            <a:off x="2490826" y="2861462"/>
            <a:ext cx="2432304" cy="457200"/>
          </a:xfrm>
          <a:prstGeom prst="roundRect">
            <a:avLst>
              <a:gd name="adj" fmla="val 24000"/>
            </a:avLst>
          </a:prstGeom>
          <a:solidFill>
            <a:srgbClr val="EEF2FC"/>
          </a:solidFill>
          <a:ln w="9525">
            <a:solidFill>
              <a:srgbClr val="CBD7F4"/>
            </a:solidFill>
            <a:prstDash val="solid"/>
          </a:ln>
        </p:spPr>
      </p:sp>
      <p:sp>
        <p:nvSpPr>
          <p:cNvPr id="18" name="Text 16"/>
          <p:cNvSpPr txBox="1"/>
          <p:nvPr/>
        </p:nvSpPr>
        <p:spPr>
          <a:xfrm>
            <a:off x="2490826" y="2861462"/>
            <a:ext cx="243230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vort = h / t = v / 2</a:t>
            </a:r>
            <a:endParaRPr lang="en-US" sz="1300" dirty="0"/>
          </a:p>
        </p:txBody>
      </p:sp>
      <p:sp>
        <p:nvSpPr>
          <p:cNvPr id="19" name="Text 17"/>
          <p:cNvSpPr txBox="1"/>
          <p:nvPr/>
        </p:nvSpPr>
        <p:spPr>
          <a:xfrm>
            <a:off x="640080" y="3519830"/>
            <a:ext cx="6675120" cy="274320"/>
          </a:xfrm>
          <a:prstGeom prst="rect">
            <a:avLst/>
          </a:prstGeom>
          <a:noFill/>
          <a:ln/>
        </p:spPr>
        <p:txBody>
          <a:bodyPr wrap="square" lIns="0" tIns="0" rIns="0" bIns="0" rtlCol="0" anchor="ctr"/>
          <a:lstStyle/>
          <a:p>
            <a:pPr indent="0" marL="0">
              <a:buNone/>
            </a:pPr>
            <a:r>
              <a:rPr lang="en-US" sz="1350" b="1" dirty="0">
                <a:solidFill>
                  <a:srgbClr val="2957D4"/>
                </a:solidFill>
                <a:latin typeface="Calibri" pitchFamily="34" charset="0"/>
                <a:ea typeface="Calibri" pitchFamily="34" charset="-122"/>
                <a:cs typeface="Calibri" pitchFamily="34" charset="-120"/>
              </a:rPr>
              <a:t>Bağıntılar nereden geliyor?</a:t>
            </a:r>
            <a:endParaRPr lang="en-US" sz="1350" dirty="0"/>
          </a:p>
        </p:txBody>
      </p:sp>
      <p:sp>
        <p:nvSpPr>
          <p:cNvPr id="20" name="Text 18"/>
          <p:cNvSpPr txBox="1"/>
          <p:nvPr/>
        </p:nvSpPr>
        <p:spPr>
          <a:xfrm>
            <a:off x="640080" y="3830726"/>
            <a:ext cx="6675120" cy="1786890"/>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Hız:</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İvme “her saniye hıza eklenen miktar” olduğuna göre t saniye sonra hız g'nin t katıdır: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v = g·t</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Tablodaki 10, 20, 30 m/s tam olarak budur.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Yol:</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Hız düzgün arttığı için ortalama hız, ilk ve son hızın ortalamasıdır: (0 + g·t)/2. Yol = ortalama hız × süre = (g·t/2)·t, yani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h = ½·g·t²</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Süresiz bağıntı:</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İlk bağıntıdan t = v/g yazıp ikinciye koyarsak h = ½·g·(v/g)² = v²/(2g), yani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v² = 2·g·h</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Süre sorulmayan sorularda doğrudan bu bağıntıyı kullanmak en kısa yoldur.</a:t>
            </a:r>
            <a:endParaRPr lang="en-US" sz="1300" dirty="0"/>
          </a:p>
        </p:txBody>
      </p:sp>
      <p:sp>
        <p:nvSpPr>
          <p:cNvPr id="21" name="Shape 19"/>
          <p:cNvSpPr/>
          <p:nvPr/>
        </p:nvSpPr>
        <p:spPr>
          <a:xfrm>
            <a:off x="7607808" y="2294534"/>
            <a:ext cx="3943807" cy="3296789"/>
          </a:xfrm>
          <a:prstGeom prst="roundRect">
            <a:avLst>
              <a:gd name="adj" fmla="val 44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22" name="Image 0" descr="/tmp/claude-1000/-opt-dersler/8a8328c3-841c-44fa-b76f-82572d338d3d/scratchpad/d5/sek/serbest-dusme-03.png">    </p:cNvPr>
          <p:cNvPicPr>
            <a:picLocks noChangeAspect="1"/>
          </p:cNvPicPr>
          <p:nvPr/>
        </p:nvPicPr>
        <p:blipFill>
          <a:blip r:embed="rId1"/>
          <a:stretch>
            <a:fillRect/>
          </a:stretch>
        </p:blipFill>
        <p:spPr>
          <a:xfrm>
            <a:off x="7790688" y="2477414"/>
            <a:ext cx="3578047" cy="1833749"/>
          </a:xfrm>
          <a:prstGeom prst="rect">
            <a:avLst/>
          </a:prstGeom>
        </p:spPr>
      </p:pic>
      <p:sp>
        <p:nvSpPr>
          <p:cNvPr id="23" name="Shape 20"/>
          <p:cNvSpPr/>
          <p:nvPr/>
        </p:nvSpPr>
        <p:spPr>
          <a:xfrm>
            <a:off x="7790688" y="4402604"/>
            <a:ext cx="3578047" cy="0"/>
          </a:xfrm>
          <a:prstGeom prst="line">
            <a:avLst/>
          </a:prstGeom>
          <a:noFill/>
          <a:ln w="9525">
            <a:solidFill>
              <a:srgbClr val="E1E5EE"/>
            </a:solidFill>
            <a:prstDash val="dash"/>
          </a:ln>
        </p:spPr>
      </p:sp>
      <p:sp>
        <p:nvSpPr>
          <p:cNvPr id="24" name="Text 21"/>
          <p:cNvSpPr txBox="1"/>
          <p:nvPr/>
        </p:nvSpPr>
        <p:spPr>
          <a:xfrm>
            <a:off x="7790688" y="4457468"/>
            <a:ext cx="357804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Serbest düşmede üç büyüklük vardır ve her ikisini birbirine bir kenar bağlar. Soruda hangi ikisi geçiyorsa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o kenardaki bağıntıyı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kullan: süre ile hız arasında v = g·t, süre ile yol arasında h = ½g·t²,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sürenin hiç geçmediği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sorularda v² = 2gh.</a:t>
            </a:r>
            <a:endParaRPr lang="en-US" sz="1050" dirty="0"/>
          </a:p>
        </p:txBody>
      </p:sp>
      <p:sp>
        <p:nvSpPr>
          <p:cNvPr id="25" name="Shape 22"/>
          <p:cNvSpPr/>
          <p:nvPr/>
        </p:nvSpPr>
        <p:spPr>
          <a:xfrm>
            <a:off x="640080" y="6382512"/>
            <a:ext cx="128016" cy="128016"/>
          </a:xfrm>
          <a:prstGeom prst="roundRect">
            <a:avLst>
              <a:gd name="adj" fmla="val 28571"/>
            </a:avLst>
          </a:prstGeom>
          <a:solidFill>
            <a:srgbClr val="A9E648"/>
          </a:solidFill>
          <a:ln/>
        </p:spPr>
      </p:sp>
      <p:sp>
        <p:nvSpPr>
          <p:cNvPr id="26" name="Text 2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27" name="Text 2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Temel bağıntılar · devam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481328"/>
            <a:ext cx="10911535" cy="1033272"/>
          </a:xfrm>
          <a:prstGeom prst="roundRect">
            <a:avLst>
              <a:gd name="adj" fmla="val 1061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627632"/>
            <a:ext cx="45720" cy="740664"/>
          </a:xfrm>
          <a:prstGeom prst="rect">
            <a:avLst/>
          </a:prstGeom>
          <a:solidFill>
            <a:srgbClr val="3C8C21"/>
          </a:solidFill>
          <a:ln/>
        </p:spPr>
      </p:sp>
      <p:sp>
        <p:nvSpPr>
          <p:cNvPr id="8" name="Text 6"/>
          <p:cNvSpPr txBox="1"/>
          <p:nvPr/>
        </p:nvSpPr>
        <p:spPr>
          <a:xfrm>
            <a:off x="914400" y="1591056"/>
            <a:ext cx="10454335" cy="813816"/>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Birim kontrolü:</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Bir bağıntıyı doğru hatırlayıp hatırlamadığını birimlerle sınayabilirsin. g·t için (m/s²)·s = m/s çıkar, bu bir hızdır ✓. ½·g·t² için (m/s²)·s² = m çıkar, bu bir yoldur ✓. “v = 2gh” yazsaydın sağ taraf m²/s² çıkardı; hız değil hızın karesi — hatanı birim yakalar.</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2624328"/>
          <a:ext cx="10911535" cy="914400"/>
        </p:xfrm>
        <a:graphic>
          <a:graphicData uri="http://schemas.openxmlformats.org/drawingml/2006/table">
            <a:tbl>
              <a:tblPr/>
              <a:tblGrid>
                <a:gridCol w="4637402"/>
                <a:gridCol w="3273461"/>
                <a:gridCol w="3000672"/>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Soruda verilenler</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İstenen</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Kullan</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Süre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Hız</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v = g·t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Süre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Yükseklik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h = ½·g·t²</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Yükseklik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Çarpma hızı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v² = 2·g·h</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Yükseklik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Düşme süresi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t = √(2h/g)</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800" b="1" spc="-50" kern="0" dirty="0">
                <a:solidFill>
                  <a:srgbClr val="0E1426"/>
                </a:solidFill>
                <a:latin typeface="Cambria" pitchFamily="34" charset="0"/>
                <a:ea typeface="Cambria" pitchFamily="34" charset="-122"/>
                <a:cs typeface="Cambria" pitchFamily="34" charset="-120"/>
              </a:rPr>
              <a:t>Sayılarla hisset: ne kadar hızlı, ne kadar sürede?</a:t>
            </a:r>
            <a:endParaRPr lang="en-US" sz="28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Süre ve çarpma hızı yüksekliğin kareköküyle büyür: 4 kat yükseklik 2 kat süre ve 2 kat hız demektir. 5 m'den düşüş 1 s, 45 m'den düşüş 3 s sürer.</a:t>
            </a:r>
            <a:endParaRPr lang="en-US" sz="19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2294534"/>
          <a:ext cx="10911535" cy="914400"/>
        </p:xfrm>
        <a:graphic>
          <a:graphicData uri="http://schemas.openxmlformats.org/drawingml/2006/table">
            <a:tbl>
              <a:tblPr/>
              <a:tblGrid>
                <a:gridCol w="4000896"/>
                <a:gridCol w="1636730"/>
                <a:gridCol w="2182307"/>
                <a:gridCol w="3091602"/>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Nereden</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Yükseklik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Düşme süresi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Çarpma hızı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Masadan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0,8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0,4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 m/s (14 km/h)</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İkinci kat balkonundan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5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 m/s (36 km/h)</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Altı katlı binadan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 m/s (72 km/h)</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On beş katlı binadan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45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30 m/s (108 km/h)</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Kırk katlı binadan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125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5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50 m/s (180 km/h)</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Shape 7"/>
          <p:cNvSpPr/>
          <p:nvPr/>
        </p:nvSpPr>
        <p:spPr>
          <a:xfrm>
            <a:off x="640080" y="4452518"/>
            <a:ext cx="10911535" cy="1243584"/>
          </a:xfrm>
          <a:prstGeom prst="roundRect">
            <a:avLst>
              <a:gd name="adj" fmla="val 882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8"/>
          <p:cNvSpPr/>
          <p:nvPr/>
        </p:nvSpPr>
        <p:spPr>
          <a:xfrm>
            <a:off x="658368" y="4598822"/>
            <a:ext cx="45720" cy="950976"/>
          </a:xfrm>
          <a:prstGeom prst="rect">
            <a:avLst/>
          </a:prstGeom>
          <a:solidFill>
            <a:srgbClr val="3C8C21"/>
          </a:solidFill>
          <a:ln/>
        </p:spPr>
      </p:sp>
      <p:sp>
        <p:nvSpPr>
          <p:cNvPr id="12" name="Text 9"/>
          <p:cNvSpPr txBox="1"/>
          <p:nvPr/>
        </p:nvSpPr>
        <p:spPr>
          <a:xfrm>
            <a:off x="914400" y="4562246"/>
            <a:ext cx="10454335" cy="102412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Kendi tepki süreni ölç:</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Sayfanın 04 numaralı bölümündeki cetvel deneyi bu tabloyu tersine kullanır. Bir arkadaşın cetveli habersizce bıraktığında onu kaç santimetre sonra yakaladığını ölçersin; t = √(2d/g) bağıntısı düşme mesafesini tepki süresine çevirir. 20 cm yaklaşık 0,2 saniye demektir.</a:t>
            </a:r>
            <a:endParaRPr lang="en-US" sz="1600" dirty="0"/>
          </a:p>
        </p:txBody>
      </p:sp>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5 m yükseklikten düşüş 1 s sürüyorsa, 20 m yükseklikten kaç saniye sürer?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05 · Sayılarla hisset: ne kadar hızlı, ne kadar sürede?</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5 m yükseklikten düşüş 1 s sürüyorsa, 20 m yükseklikten kaç saniye sürer?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Dört değil,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iki saniye</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Yükseklik 4 katına çıkınca süre √4 = 2 katına çıkar. Kontrol: h = ½·10·2² = 20 m ✓. “Yükseklik kaç kat, süre de o kat” diye düşünmek serbest düşmedeki en yaygın tuzaktır.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Grafikler ve yorumu</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Serbest düşmede a–t yatay, v–t orijinden geçen eğik bir doğru, h–t yukarı açılan bir paraboldür. Eğim bir üst büyüklüğü, alan bir alt büyüklüğü verir.</a:t>
            </a:r>
            <a:endParaRPr lang="en-US" sz="19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2294534"/>
          <a:ext cx="6309360" cy="914400"/>
        </p:xfrm>
        <a:graphic>
          <a:graphicData uri="http://schemas.openxmlformats.org/drawingml/2006/table">
            <a:tbl>
              <a:tblPr/>
              <a:tblGrid>
                <a:gridCol w="930043"/>
                <a:gridCol w="2727541"/>
                <a:gridCol w="1363770"/>
                <a:gridCol w="1288005"/>
              </a:tblGrid>
              <a:tr h="530352">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Grafik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Şekli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Eğimi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Altındaki alan</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530352">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 – 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Zaman eksenine paralel doğru (a = g)</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Sıfır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Hız değişimi (Δv)</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530352">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v – 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Orijinden geçen doğru (v = g·t)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İvme, g</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Alınan yol (h)</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530352">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h – 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Yukarı açılan parabol (h = ½g·t²)</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O andaki anlık hız</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Text 7"/>
          <p:cNvSpPr txBox="1"/>
          <p:nvPr/>
        </p:nvSpPr>
        <p:spPr>
          <a:xfrm>
            <a:off x="640080" y="4543958"/>
            <a:ext cx="6309360" cy="1418844"/>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Eksenleri oku:</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düşey eksende ne var (a, v, h)? Birimi ne?</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Şekli tanı:</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yatay doğru sabit, eğik doğru düzgün değişen, parabol karesel büyüyen bir büyüklük demektir.</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Eğime ya da alana bak:</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soru bir üst büyüklüğü soruyorsa eğim, bir alt büyüklüğü soruyorsa alan hesapla.</a:t>
            </a:r>
            <a:endParaRPr lang="en-US" sz="1400" dirty="0"/>
          </a:p>
        </p:txBody>
      </p:sp>
      <p:sp>
        <p:nvSpPr>
          <p:cNvPr id="11" name="Shape 8"/>
          <p:cNvSpPr/>
          <p:nvPr/>
        </p:nvSpPr>
        <p:spPr>
          <a:xfrm>
            <a:off x="7242048" y="2294534"/>
            <a:ext cx="4309567" cy="2958321"/>
          </a:xfrm>
          <a:prstGeom prst="roundRect">
            <a:avLst>
              <a:gd name="adj" fmla="val 494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claude-1000/-opt-dersler/8a8328c3-841c-44fa-b76f-82572d338d3d/scratchpad/d5/sek/serbest-dusme-04.png">    </p:cNvPr>
          <p:cNvPicPr>
            <a:picLocks noChangeAspect="1"/>
          </p:cNvPicPr>
          <p:nvPr/>
        </p:nvPicPr>
        <p:blipFill>
          <a:blip r:embed="rId1"/>
          <a:stretch>
            <a:fillRect/>
          </a:stretch>
        </p:blipFill>
        <p:spPr>
          <a:xfrm>
            <a:off x="7424928" y="2477414"/>
            <a:ext cx="3943807" cy="1495281"/>
          </a:xfrm>
          <a:prstGeom prst="rect">
            <a:avLst/>
          </a:prstGeom>
        </p:spPr>
      </p:pic>
      <p:sp>
        <p:nvSpPr>
          <p:cNvPr id="13" name="Shape 9"/>
          <p:cNvSpPr/>
          <p:nvPr/>
        </p:nvSpPr>
        <p:spPr>
          <a:xfrm>
            <a:off x="7424928" y="4064136"/>
            <a:ext cx="3943807" cy="0"/>
          </a:xfrm>
          <a:prstGeom prst="line">
            <a:avLst/>
          </a:prstGeom>
          <a:noFill/>
          <a:ln w="9525">
            <a:solidFill>
              <a:srgbClr val="E1E5EE"/>
            </a:solidFill>
            <a:prstDash val="dash"/>
          </a:ln>
        </p:spPr>
      </p:sp>
      <p:sp>
        <p:nvSpPr>
          <p:cNvPr id="14" name="Text 10"/>
          <p:cNvSpPr txBox="1"/>
          <p:nvPr/>
        </p:nvSpPr>
        <p:spPr>
          <a:xfrm>
            <a:off x="7424928" y="4119000"/>
            <a:ext cx="394380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Üç grafiği ezberlemek yerine birbirine bağla: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bir grafiğin eğimi bir üsttekini, altındaki alan bir alttakini verir.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v–t doğrusunun altındaki üçgenin alanı ½·t·(g·t) = ½g·t²'dir — yani tam olarak alınan yol. Sayfadaki laboratuvarın altında bu üç grafik sen izlerken çiziliyor.</a:t>
            </a:r>
            <a:endParaRPr lang="en-US" sz="1050" dirty="0"/>
          </a:p>
        </p:txBody>
      </p:sp>
      <p:sp>
        <p:nvSpPr>
          <p:cNvPr id="15" name="Shape 11"/>
          <p:cNvSpPr/>
          <p:nvPr/>
        </p:nvSpPr>
        <p:spPr>
          <a:xfrm>
            <a:off x="640080" y="6382512"/>
            <a:ext cx="128016" cy="128016"/>
          </a:xfrm>
          <a:prstGeom prst="roundRect">
            <a:avLst>
              <a:gd name="adj" fmla="val 28571"/>
            </a:avLst>
          </a:prstGeom>
          <a:solidFill>
            <a:srgbClr val="A9E648"/>
          </a:solidFill>
          <a:ln/>
        </p:spPr>
      </p:sp>
      <p:sp>
        <p:nvSpPr>
          <p:cNvPr id="16"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7"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Eşit zaman aralıkları: 1 : 3 : 5 kuralı</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Eşit süre dilimlerinde alınan yollar 1 : 3 : 5 : 7, baştan itibaren toplam yollar 1 : 4 : 9 : 16, hızlar 1 : 2 : 3 : 4 oranında gider.</a:t>
            </a:r>
            <a:endParaRPr lang="en-US" sz="1900" dirty="0"/>
          </a:p>
        </p:txBody>
      </p:sp>
      <p:sp>
        <p:nvSpPr>
          <p:cNvPr id="9" name="Text 7"/>
          <p:cNvSpPr txBox="1"/>
          <p:nvPr/>
        </p:nvSpPr>
        <p:spPr>
          <a:xfrm>
            <a:off x="640080" y="2294534"/>
            <a:ext cx="5852160" cy="98069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Düşüşü eşit süreli dilimlere bölelim (her biri Δt).</a:t>
            </a:r>
            <a:endParaRPr lang="en-US" sz="1500" dirty="0"/>
          </a:p>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İlk dilimde alınan yol h = ½·g·Δt² olsun.</a:t>
            </a:r>
            <a:endParaRPr lang="en-US" sz="1500" dirty="0"/>
          </a:p>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O zaman ardışık dilimlerde alınan yollar:</a:t>
            </a:r>
            <a:endParaRPr lang="en-US" sz="1500" dirty="0"/>
          </a:p>
        </p:txBody>
      </p:sp>
      <p:sp>
        <p:nvSpPr>
          <p:cNvPr id="10" name="Shape 8"/>
          <p:cNvSpPr/>
          <p:nvPr/>
        </p:nvSpPr>
        <p:spPr>
          <a:xfrm>
            <a:off x="640080" y="3384956"/>
            <a:ext cx="2629814"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640080" y="3384956"/>
            <a:ext cx="262981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1h : 3h : 5h : 7h : 9h</a:t>
            </a:r>
            <a:endParaRPr lang="en-US" sz="1300" dirty="0"/>
          </a:p>
        </p:txBody>
      </p:sp>
      <p:sp>
        <p:nvSpPr>
          <p:cNvPr id="12" name="Shape 10"/>
          <p:cNvSpPr/>
          <p:nvPr/>
        </p:nvSpPr>
        <p:spPr>
          <a:xfrm>
            <a:off x="3379622" y="3384956"/>
            <a:ext cx="1741018" cy="457200"/>
          </a:xfrm>
          <a:prstGeom prst="roundRect">
            <a:avLst>
              <a:gd name="adj" fmla="val 24000"/>
            </a:avLst>
          </a:prstGeom>
          <a:solidFill>
            <a:srgbClr val="EEF2FC"/>
          </a:solidFill>
          <a:ln w="9525">
            <a:solidFill>
              <a:srgbClr val="CBD7F4"/>
            </a:solidFill>
            <a:prstDash val="solid"/>
          </a:ln>
        </p:spPr>
      </p:sp>
      <p:sp>
        <p:nvSpPr>
          <p:cNvPr id="13" name="Text 11"/>
          <p:cNvSpPr txBox="1"/>
          <p:nvPr/>
        </p:nvSpPr>
        <p:spPr>
          <a:xfrm>
            <a:off x="3379622" y="3384956"/>
            <a:ext cx="174101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(tek sayılar)</a:t>
            </a:r>
            <a:endParaRPr lang="en-US" sz="1300" dirty="0"/>
          </a:p>
        </p:txBody>
      </p:sp>
      <p:sp>
        <p:nvSpPr>
          <p:cNvPr id="14" name="Text 12"/>
          <p:cNvSpPr txBox="1"/>
          <p:nvPr/>
        </p:nvSpPr>
        <p:spPr>
          <a:xfrm>
            <a:off x="640080" y="4006748"/>
            <a:ext cx="5852160" cy="91668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Hızlar da eşit sürelerde eşit miktarda artar: Δt sonunda g·Δt, 2Δt sonunda 2g·Δt… yani </a:t>
            </a:r>
            <a:pPr indent="0" marL="0">
              <a:lnSpc>
                <a:spcPct val="115000"/>
              </a:lnSpc>
              <a:buNone/>
            </a:pPr>
            <a:r>
              <a:rPr lang="en-US" sz="1500" b="1" dirty="0">
                <a:solidFill>
                  <a:srgbClr val="0E1426"/>
                </a:solidFill>
                <a:latin typeface="Calibri" pitchFamily="34" charset="0"/>
                <a:ea typeface="Calibri" pitchFamily="34" charset="-122"/>
                <a:cs typeface="Calibri" pitchFamily="34" charset="-120"/>
              </a:rPr>
              <a:t>1 : 2 : 3 : 4</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a:t>
            </a:r>
            <a:endParaRPr lang="en-US" sz="1500" dirty="0"/>
          </a:p>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Bu üç diziyi karıştırmamak sınavda zaman kazandırır.</a:t>
            </a:r>
            <a:endParaRPr lang="en-US" sz="1500" dirty="0"/>
          </a:p>
        </p:txBody>
      </p:sp>
      <p:sp>
        <p:nvSpPr>
          <p:cNvPr id="15" name="Shape 13"/>
          <p:cNvSpPr/>
          <p:nvPr/>
        </p:nvSpPr>
        <p:spPr>
          <a:xfrm>
            <a:off x="6784848" y="2294534"/>
            <a:ext cx="4766767" cy="3831946"/>
          </a:xfrm>
          <a:prstGeom prst="roundRect">
            <a:avLst>
              <a:gd name="adj" fmla="val 381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6" name="Image 0" descr="/tmp/claude-1000/-opt-dersler/8a8328c3-841c-44fa-b76f-82572d338d3d/scratchpad/d5/sek/serbest-dusme-05.png">    </p:cNvPr>
          <p:cNvPicPr>
            <a:picLocks noChangeAspect="1"/>
          </p:cNvPicPr>
          <p:nvPr/>
        </p:nvPicPr>
        <p:blipFill>
          <a:blip r:embed="rId1"/>
          <a:stretch>
            <a:fillRect/>
          </a:stretch>
        </p:blipFill>
        <p:spPr>
          <a:xfrm>
            <a:off x="7194144" y="2477414"/>
            <a:ext cx="3948176" cy="2368906"/>
          </a:xfrm>
          <a:prstGeom prst="rect">
            <a:avLst/>
          </a:prstGeom>
        </p:spPr>
      </p:pic>
      <p:sp>
        <p:nvSpPr>
          <p:cNvPr id="17" name="Shape 14"/>
          <p:cNvSpPr/>
          <p:nvPr/>
        </p:nvSpPr>
        <p:spPr>
          <a:xfrm>
            <a:off x="6967728" y="4937760"/>
            <a:ext cx="4401007" cy="0"/>
          </a:xfrm>
          <a:prstGeom prst="line">
            <a:avLst/>
          </a:prstGeom>
          <a:noFill/>
          <a:ln w="9525">
            <a:solidFill>
              <a:srgbClr val="E1E5EE"/>
            </a:solidFill>
            <a:prstDash val="dash"/>
          </a:ln>
        </p:spPr>
      </p:sp>
      <p:sp>
        <p:nvSpPr>
          <p:cNvPr id="18" name="Text 15"/>
          <p:cNvSpPr txBox="1"/>
          <p:nvPr/>
        </p:nvSpPr>
        <p:spPr>
          <a:xfrm>
            <a:off x="6967728" y="4992624"/>
            <a:ext cx="440100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Aynı düşüşün üç ayrı okuması.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Her aralıkta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alınan yollar tek sayılarla gider (1 : 3 : 5 : 7);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baştan itibaren toplam</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yol sürenin karesiyle büyür (1 : 4 : 9 : 16);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hız</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ise eşit adımlarla artar (1 : 2 : 3 : 4). Toplam yollardaki farkları alırsan tek sayıları bulursun — üç dizi aynı hareketi anlatır.</a:t>
            </a:r>
            <a:endParaRPr lang="en-US" sz="1050" dirty="0"/>
          </a:p>
        </p:txBody>
      </p:sp>
      <p:sp>
        <p:nvSpPr>
          <p:cNvPr id="19" name="Shape 16"/>
          <p:cNvSpPr/>
          <p:nvPr/>
        </p:nvSpPr>
        <p:spPr>
          <a:xfrm>
            <a:off x="640080" y="6382512"/>
            <a:ext cx="128016" cy="128016"/>
          </a:xfrm>
          <a:prstGeom prst="roundRect">
            <a:avLst>
              <a:gd name="adj" fmla="val 28571"/>
            </a:avLst>
          </a:prstGeom>
          <a:solidFill>
            <a:srgbClr val="A9E648"/>
          </a:solidFill>
          <a:ln/>
        </p:spPr>
      </p:sp>
      <p:sp>
        <p:nvSpPr>
          <p:cNvPr id="20" name="Text 1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21" name="Text 1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cisim atılınca, hava işe karışınca ve serbest düşme gerçek hayata çıkınca ne olur?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08   </a:t>
            </a:r>
            <a:pPr indent="0" marL="0">
              <a:buNone/>
            </a:pPr>
            <a:r>
              <a:rPr lang="en-US" sz="1300" dirty="0">
                <a:solidFill>
                  <a:srgbClr val="FFFFFF"/>
                </a:solidFill>
                <a:latin typeface="Calibri" pitchFamily="34" charset="0"/>
                <a:ea typeface="Calibri" pitchFamily="34" charset="-122"/>
                <a:cs typeface="Calibri" pitchFamily="34" charset="-120"/>
              </a:rPr>
              <a:t>Düşey atış: yukarı fırlatınca ne değişir?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09   </a:t>
            </a:r>
            <a:pPr indent="0" marL="0">
              <a:buNone/>
            </a:pPr>
            <a:r>
              <a:rPr lang="en-US" sz="1300" dirty="0">
                <a:solidFill>
                  <a:srgbClr val="FFFFFF"/>
                </a:solidFill>
                <a:latin typeface="Calibri" pitchFamily="34" charset="0"/>
                <a:ea typeface="Calibri" pitchFamily="34" charset="-122"/>
                <a:cs typeface="Calibri" pitchFamily="34" charset="-120"/>
              </a:rPr>
              <a:t>Gerçekte hava direnci ve limit hız</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Serbest düşme gerçek dünyada</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5/sek/serbest-dusme-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Lunaparktaki düşme kulesi, serbest düşmeyi birkaç saniyeliğine yaşatır. 45 metrelik bir düşüş yaklaşık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3 saniye</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sürer ve koltuklar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108 km/h</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hıza ulaşır; ardından mıknatıslı frenler yumuşakça devreye girer. Düşüş boyunca koltuk yolcuyu itmez, yolcu kendini ağırlıksız hisseder.</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dersler.perinet.org/serbest-dusme.html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Düşey atış: yukarı fırlatınca ne değişir?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5F4BD8"/>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Düşey atışta ivme her an g'dir ve aşağı yönlüdür; çıkış iniş simetriktir, tepe noktada yalnızca hız sıfırlanır. Başta seçtiğin pozitif yönü soru boyunca koru.</a:t>
            </a:r>
            <a:endParaRPr lang="en-US" sz="1900" dirty="0"/>
          </a:p>
        </p:txBody>
      </p:sp>
      <p:sp>
        <p:nvSpPr>
          <p:cNvPr id="9" name="Shape 7"/>
          <p:cNvSpPr/>
          <p:nvPr/>
        </p:nvSpPr>
        <p:spPr>
          <a:xfrm>
            <a:off x="640080" y="2294534"/>
            <a:ext cx="2234794"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223479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hmaks = v₀² / (2g)</a:t>
            </a:r>
            <a:endParaRPr lang="en-US" sz="1300" dirty="0"/>
          </a:p>
        </p:txBody>
      </p:sp>
      <p:sp>
        <p:nvSpPr>
          <p:cNvPr id="11" name="Shape 9"/>
          <p:cNvSpPr/>
          <p:nvPr/>
        </p:nvSpPr>
        <p:spPr>
          <a:xfrm>
            <a:off x="2984602" y="2294534"/>
            <a:ext cx="1938528"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984602" y="2294534"/>
            <a:ext cx="193852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tçıkış = v₀ / g</a:t>
            </a:r>
            <a:endParaRPr lang="en-US" sz="1300" dirty="0"/>
          </a:p>
        </p:txBody>
      </p:sp>
      <p:sp>
        <p:nvSpPr>
          <p:cNvPr id="13" name="Shape 11"/>
          <p:cNvSpPr/>
          <p:nvPr/>
        </p:nvSpPr>
        <p:spPr>
          <a:xfrm>
            <a:off x="640080" y="2861462"/>
            <a:ext cx="2136038" cy="457200"/>
          </a:xfrm>
          <a:prstGeom prst="roundRect">
            <a:avLst>
              <a:gd name="adj" fmla="val 24000"/>
            </a:avLst>
          </a:prstGeom>
          <a:solidFill>
            <a:srgbClr val="EEF2FC"/>
          </a:solidFill>
          <a:ln w="9525">
            <a:solidFill>
              <a:srgbClr val="CBD7F4"/>
            </a:solidFill>
            <a:prstDash val="solid"/>
          </a:ln>
        </p:spPr>
      </p:sp>
      <p:sp>
        <p:nvSpPr>
          <p:cNvPr id="14" name="Text 12"/>
          <p:cNvSpPr txBox="1"/>
          <p:nvPr/>
        </p:nvSpPr>
        <p:spPr>
          <a:xfrm>
            <a:off x="640080" y="2861462"/>
            <a:ext cx="213603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ttoplam = 2v₀ / g</a:t>
            </a:r>
            <a:endParaRPr lang="en-US" sz="1300" dirty="0"/>
          </a:p>
        </p:txBody>
      </p:sp>
      <p:sp>
        <p:nvSpPr>
          <p:cNvPr id="15" name="Text 13"/>
          <p:cNvSpPr txBox="1"/>
          <p:nvPr/>
        </p:nvSpPr>
        <p:spPr>
          <a:xfrm>
            <a:off x="640080" y="3519830"/>
            <a:ext cx="5486400" cy="274320"/>
          </a:xfrm>
          <a:prstGeom prst="rect">
            <a:avLst/>
          </a:prstGeom>
          <a:noFill/>
          <a:ln/>
        </p:spPr>
        <p:txBody>
          <a:bodyPr wrap="square" lIns="0" tIns="0" rIns="0" bIns="0" rtlCol="0" anchor="ctr"/>
          <a:lstStyle/>
          <a:p>
            <a:pPr indent="0" marL="0">
              <a:buNone/>
            </a:pPr>
            <a:r>
              <a:rPr lang="en-US" sz="1650" b="1" dirty="0">
                <a:solidFill>
                  <a:srgbClr val="5F4BD8"/>
                </a:solidFill>
                <a:latin typeface="Calibri" pitchFamily="34" charset="0"/>
                <a:ea typeface="Calibri" pitchFamily="34" charset="-122"/>
                <a:cs typeface="Calibri" pitchFamily="34" charset="-120"/>
              </a:rPr>
              <a:t>İşaret seçimi</a:t>
            </a:r>
            <a:endParaRPr lang="en-US" sz="1650" dirty="0"/>
          </a:p>
        </p:txBody>
      </p:sp>
      <p:sp>
        <p:nvSpPr>
          <p:cNvPr id="16" name="Shape 14"/>
          <p:cNvSpPr/>
          <p:nvPr/>
        </p:nvSpPr>
        <p:spPr>
          <a:xfrm>
            <a:off x="640080" y="3830726"/>
            <a:ext cx="5486400" cy="1191006"/>
          </a:xfrm>
          <a:prstGeom prst="roundRect">
            <a:avLst>
              <a:gd name="adj" fmla="val 921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658368" y="3977030"/>
            <a:ext cx="45720" cy="898398"/>
          </a:xfrm>
          <a:prstGeom prst="rect">
            <a:avLst/>
          </a:prstGeom>
          <a:solidFill>
            <a:srgbClr val="A56209"/>
          </a:solidFill>
          <a:ln/>
        </p:spPr>
      </p:sp>
      <p:sp>
        <p:nvSpPr>
          <p:cNvPr id="18" name="Text 16"/>
          <p:cNvSpPr txBox="1"/>
          <p:nvPr/>
        </p:nvSpPr>
        <p:spPr>
          <a:xfrm>
            <a:off x="914400" y="3940454"/>
            <a:ext cx="5029200" cy="971550"/>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Tepe noktada ivme sıfır değildir.</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Hız sıfırdır, ivme hâlâ g'dir ve aşağı doğrudur. İvme sıfır olsaydı cisim orada asılı kalırdı.</a:t>
            </a:r>
            <a:endParaRPr lang="en-US" sz="1500" dirty="0"/>
          </a:p>
        </p:txBody>
      </p:sp>
      <p:sp>
        <p:nvSpPr>
          <p:cNvPr id="19" name="Shape 17"/>
          <p:cNvSpPr/>
          <p:nvPr/>
        </p:nvSpPr>
        <p:spPr>
          <a:xfrm>
            <a:off x="6419088" y="2294534"/>
            <a:ext cx="5132527" cy="3831946"/>
          </a:xfrm>
          <a:prstGeom prst="roundRect">
            <a:avLst>
              <a:gd name="adj" fmla="val 381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20" name="Image 0" descr="/tmp/claude-1000/-opt-dersler/8a8328c3-841c-44fa-b76f-82572d338d3d/scratchpad/d5/sek/serbest-dusme-06.png">    </p:cNvPr>
          <p:cNvPicPr>
            <a:picLocks noChangeAspect="1"/>
          </p:cNvPicPr>
          <p:nvPr/>
        </p:nvPicPr>
        <p:blipFill>
          <a:blip r:embed="rId1"/>
          <a:stretch>
            <a:fillRect/>
          </a:stretch>
        </p:blipFill>
        <p:spPr>
          <a:xfrm>
            <a:off x="6729251" y="2477414"/>
            <a:ext cx="4512201" cy="2368906"/>
          </a:xfrm>
          <a:prstGeom prst="rect">
            <a:avLst/>
          </a:prstGeom>
        </p:spPr>
      </p:pic>
      <p:sp>
        <p:nvSpPr>
          <p:cNvPr id="21" name="Shape 18"/>
          <p:cNvSpPr/>
          <p:nvPr/>
        </p:nvSpPr>
        <p:spPr>
          <a:xfrm>
            <a:off x="6601968" y="4937760"/>
            <a:ext cx="4766767" cy="0"/>
          </a:xfrm>
          <a:prstGeom prst="line">
            <a:avLst/>
          </a:prstGeom>
          <a:noFill/>
          <a:ln w="9525">
            <a:solidFill>
              <a:srgbClr val="E1E5EE"/>
            </a:solidFill>
            <a:prstDash val="dash"/>
          </a:ln>
        </p:spPr>
      </p:sp>
      <p:sp>
        <p:nvSpPr>
          <p:cNvPr id="22" name="Text 19"/>
          <p:cNvSpPr txBox="1"/>
          <p:nvPr/>
        </p:nvSpPr>
        <p:spPr>
          <a:xfrm>
            <a:off x="6601968" y="4992624"/>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Düşey atış, serbest düşmenin aynadaki görüntüsüdür: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çıkış süresi iniş süresine eşittir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ve cisim aynı yükseklikten geçerken süratinin büyüklüğü iki geçişte de aynıdır. Tepe noktada hız sıfırlanır ama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ivme sıfırlanmaz</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 sarı oklar her yerde aynı boydadır. İvme orada gerçekten sıfır olsaydı cisim havada asılı kalırdı.</a:t>
            </a:r>
            <a:endParaRPr lang="en-US" sz="1050" dirty="0"/>
          </a:p>
        </p:txBody>
      </p:sp>
      <p:sp>
        <p:nvSpPr>
          <p:cNvPr id="23" name="Shape 20"/>
          <p:cNvSpPr/>
          <p:nvPr/>
        </p:nvSpPr>
        <p:spPr>
          <a:xfrm>
            <a:off x="640080" y="6382512"/>
            <a:ext cx="128016" cy="128016"/>
          </a:xfrm>
          <a:prstGeom prst="roundRect">
            <a:avLst>
              <a:gd name="adj" fmla="val 28571"/>
            </a:avLst>
          </a:prstGeom>
          <a:solidFill>
            <a:srgbClr val="A9E648"/>
          </a:solidFill>
          <a:ln/>
        </p:spPr>
      </p:sp>
      <p:sp>
        <p:nvSpPr>
          <p:cNvPr id="24" name="Text 2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25" name="Text 2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Balkondan bir top aynı süratle bir kez yukarı, bir kez aşağı atılıyor. Hangisi yere daha hızlı çarpar?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08 · Düşey atış: yukarı fırlatınca ne değişir?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Balkondan bir top aynı süratle bir kez yukarı, bir kez aşağı atılıyor. Hangisi yere daha hızlı çarpar?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İkisi de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aynı süratle</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çarpar. Yukarı atılan top simetri gereği balkon hizasına v₀ süratiyle ve aşağı doğru hareket ederek döner; o andan sonra tam olarak aşağı atılan top gibi davranır. Fark yalnızca süredir: yukarı atılan top havada 2v₀/g kadar daha uzun kalır. Aynı sonucu v² = v₀² + 2gh da verir; bu bağıntıda atış yönü hiç geçmez.</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Gerçekte hava direnci ve limit hız</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Havada düşen bir cisimde direnç hızla büyür ve ağırlığa eşitlenince cisim limit hızla sabit düşer. Kısa düşüşlerde ve yoğun cisimlerde bu etki küçüktür; serbest düşme iyi bir yaklaşımdır.</a:t>
            </a:r>
            <a:endParaRPr lang="en-US" sz="1850" dirty="0"/>
          </a:p>
        </p:txBody>
      </p:sp>
      <p:sp>
        <p:nvSpPr>
          <p:cNvPr id="9" name="Text 7"/>
          <p:cNvSpPr txBox="1"/>
          <p:nvPr/>
        </p:nvSpPr>
        <p:spPr>
          <a:xfrm>
            <a:off x="640080" y="2593238"/>
            <a:ext cx="5486400" cy="181051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Bu kuvvet olmasaydı yağmurun altında durmak hayli tehlikeli olurdu: yağmur bulutları yaklaşık 2 km yüksekte olduğuna göre, damlalar yere v = √(2·9,81·2000) ≈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198 m/s</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hızla — saatte 700 kilometreyi aşan bir hızla — çarpardı.</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Hava direnci sayesinde bu hız 8–9 m/s'de kalıyor.</a:t>
            </a:r>
            <a:endParaRPr lang="en-US" sz="1600" dirty="0"/>
          </a:p>
        </p:txBody>
      </p:sp>
      <p:sp>
        <p:nvSpPr>
          <p:cNvPr id="10" name="Text 8"/>
          <p:cNvSpPr txBox="1"/>
          <p:nvPr/>
        </p:nvSpPr>
        <p:spPr>
          <a:xfrm>
            <a:off x="640080" y="4513478"/>
            <a:ext cx="5486400" cy="103327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Yağmur damlası: yaklaşık 8–9 m/s</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Paraşütsüz atlayan bir insan: yaklaşık 55 m/s</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Paraşüt açıldığında: yaklaşık 5 m/s</a:t>
            </a:r>
            <a:endParaRPr lang="en-US" sz="1600" dirty="0"/>
          </a:p>
        </p:txBody>
      </p:sp>
      <p:sp>
        <p:nvSpPr>
          <p:cNvPr id="11" name="Shape 9"/>
          <p:cNvSpPr/>
          <p:nvPr/>
        </p:nvSpPr>
        <p:spPr>
          <a:xfrm>
            <a:off x="6419088" y="2593238"/>
            <a:ext cx="5132527" cy="3533242"/>
          </a:xfrm>
          <a:prstGeom prst="roundRect">
            <a:avLst>
              <a:gd name="adj" fmla="val 414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claude-1000/-opt-dersler/8a8328c3-841c-44fa-b76f-82572d338d3d/scratchpad/d5/sek/serbest-dusme-07.png">    </p:cNvPr>
          <p:cNvPicPr>
            <a:picLocks noChangeAspect="1"/>
          </p:cNvPicPr>
          <p:nvPr/>
        </p:nvPicPr>
        <p:blipFill>
          <a:blip r:embed="rId1"/>
          <a:stretch>
            <a:fillRect/>
          </a:stretch>
        </p:blipFill>
        <p:spPr>
          <a:xfrm>
            <a:off x="6685128" y="2776118"/>
            <a:ext cx="4600448" cy="2070202"/>
          </a:xfrm>
          <a:prstGeom prst="rect">
            <a:avLst/>
          </a:prstGeom>
        </p:spPr>
      </p:pic>
      <p:sp>
        <p:nvSpPr>
          <p:cNvPr id="13" name="Shape 10"/>
          <p:cNvSpPr/>
          <p:nvPr/>
        </p:nvSpPr>
        <p:spPr>
          <a:xfrm>
            <a:off x="6601968" y="4937760"/>
            <a:ext cx="4766767" cy="0"/>
          </a:xfrm>
          <a:prstGeom prst="line">
            <a:avLst/>
          </a:prstGeom>
          <a:noFill/>
          <a:ln w="9525">
            <a:solidFill>
              <a:srgbClr val="E1E5EE"/>
            </a:solidFill>
            <a:prstDash val="dash"/>
          </a:ln>
        </p:spPr>
      </p:sp>
      <p:sp>
        <p:nvSpPr>
          <p:cNvPr id="14" name="Text 11"/>
          <p:cNvSpPr txBox="1"/>
          <p:nvPr/>
        </p:nvSpPr>
        <p:spPr>
          <a:xfrm>
            <a:off x="6601968" y="4992624"/>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Hava direnci hız arttıkça büyür. Ağırlığa eşitlendiği anda net kuvvet sıfırlanır, ivme biter ve cisim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sabit hızla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düşmeye devam eder. v–t eğrisi bu yüzden düz bir doğru olarak başlayıp yatay bir çizgiye doğru yatar; mor kesikli çizgi hava direnci hiç olmasaydı hızın nereye gideceğini gösteriyor.</a:t>
            </a:r>
            <a:endParaRPr lang="en-US" sz="1050" dirty="0"/>
          </a:p>
        </p:txBody>
      </p:sp>
      <p:sp>
        <p:nvSpPr>
          <p:cNvPr id="15" name="Shape 12"/>
          <p:cNvSpPr/>
          <p:nvPr/>
        </p:nvSpPr>
        <p:spPr>
          <a:xfrm>
            <a:off x="640080" y="6382512"/>
            <a:ext cx="128016" cy="128016"/>
          </a:xfrm>
          <a:prstGeom prst="roundRect">
            <a:avLst>
              <a:gd name="adj" fmla="val 28571"/>
            </a:avLst>
          </a:prstGeom>
          <a:solidFill>
            <a:srgbClr val="A9E648"/>
          </a:solidFill>
          <a:ln/>
        </p:spPr>
      </p:sp>
      <p:sp>
        <p:nvSpPr>
          <p:cNvPr id="16"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7"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Serbest düşme gerçek dünyada</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5F4BD8"/>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Aynı ivmeyle birlikte düşen cisimler birbirine bastırmaz ve ağırlıksızlık hissedilir. Düşme kuleleri, parabolik uçuşlar ve uzay istasyonu bu ilkeyle çalışır.</a:t>
            </a:r>
            <a:endParaRPr lang="en-US" sz="1900" dirty="0"/>
          </a:p>
        </p:txBody>
      </p:sp>
      <p:sp>
        <p:nvSpPr>
          <p:cNvPr id="9" name="Text 7"/>
          <p:cNvSpPr txBox="1"/>
          <p:nvPr/>
        </p:nvSpPr>
        <p:spPr>
          <a:xfrm>
            <a:off x="640080" y="2294534"/>
            <a:ext cx="10911535" cy="317144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Düşme kuleleri ve tüpleri:</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Araştırma merkezlerinde havası boşaltılmış yüz metreden uzun tüplerin içine deney kapsülleri bırakılır. Kapsülün düştüğü birkaç saniye boyunca içindeki deney ağırlıksız ortamda çalışır; alevlerin, sıvıların ve kristallerin yerçekimsiz davranışı böyle incelenir.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Parabolik uçuşlar: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Astronot adayları, bir uçağın motor gücünü ayarlayarak kendisini bir atış yörüngesine bıraktığı uçuşlarda, her seferinde yaklaşık 20 saniye ağırlıksız kalır. Uçak ve içindekiler birlikte serbest hareket eder.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g'yi ölçmek:</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Bir cismin bilinen bir yüksekliği kaç saniyede düştüğü ölçülürse g = 2h/t² ile yerçekimi ivmesi bulunur. Jeologlar g'deki çok küçük farkları ölçerek yer altındaki maden ve petrol yataklarını arar.</a:t>
            </a:r>
            <a:endParaRPr lang="en-US" sz="17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Düşen bir asansörün içinde elinden bıraktığın anahtar ne yapar?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10 · Serbest düşme gerçek dünyada</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Düşen bir asansörün içinde elinden bıraktığın anahtar ne yapar?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Anahtar da sen de asansör de aynı ivmeyle, g ile düştüğünüz için anahtar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elinin yanında asılı kalıyormuş gibi</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görünür. Yere göre düşmeye devam eder, ama sana göre hareketsizdir. Ağırlıksızlık yerçekiminin yokluğu değil, herkesin birlikte serbest düşmesidir.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sınavda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6 ÇÖZÜMLÜ ÖRNEK</a:t>
            </a:r>
            <a:endParaRPr lang="en-US" sz="1050" dirty="0"/>
          </a:p>
        </p:txBody>
      </p:sp>
      <p:sp>
        <p:nvSpPr>
          <p:cNvPr id="9" name="Shape 7"/>
          <p:cNvSpPr/>
          <p:nvPr/>
        </p:nvSpPr>
        <p:spPr>
          <a:xfrm>
            <a:off x="6172200" y="1481328"/>
            <a:ext cx="5379415" cy="512064"/>
          </a:xfrm>
          <a:prstGeom prst="roundRect">
            <a:avLst>
              <a:gd name="adj" fmla="val 17857"/>
            </a:avLst>
          </a:prstGeom>
          <a:solidFill>
            <a:srgbClr val="1C2542"/>
          </a:solidFill>
          <a:ln w="9525">
            <a:solidFill>
              <a:srgbClr val="2C3860"/>
            </a:solidFill>
            <a:prstDash val="solid"/>
          </a:ln>
        </p:spPr>
      </p:sp>
      <p:sp>
        <p:nvSpPr>
          <p:cNvPr id="10" name="Text 8"/>
          <p:cNvSpPr txBox="1"/>
          <p:nvPr/>
        </p:nvSpPr>
        <p:spPr>
          <a:xfrm>
            <a:off x="6400800" y="148132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2 saniye sonra hız ve yol</a:t>
            </a:r>
            <a:endParaRPr lang="en-US" sz="1300" dirty="0"/>
          </a:p>
        </p:txBody>
      </p:sp>
      <p:sp>
        <p:nvSpPr>
          <p:cNvPr id="11" name="Text 9"/>
          <p:cNvSpPr txBox="1"/>
          <p:nvPr/>
        </p:nvSpPr>
        <p:spPr>
          <a:xfrm>
            <a:off x="10362895" y="1481328"/>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84832"/>
            <a:ext cx="5379415" cy="512064"/>
          </a:xfrm>
          <a:prstGeom prst="roundRect">
            <a:avLst>
              <a:gd name="adj" fmla="val 17857"/>
            </a:avLst>
          </a:prstGeom>
          <a:solidFill>
            <a:srgbClr val="1C2542"/>
          </a:solidFill>
          <a:ln w="9525">
            <a:solidFill>
              <a:srgbClr val="2C3860"/>
            </a:solidFill>
            <a:prstDash val="solid"/>
          </a:ln>
        </p:spPr>
      </p:sp>
      <p:sp>
        <p:nvSpPr>
          <p:cNvPr id="13" name="Text 11"/>
          <p:cNvSpPr txBox="1"/>
          <p:nvPr/>
        </p:nvSpPr>
        <p:spPr>
          <a:xfrm>
            <a:off x="6400800" y="208483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45 m yükseklikten bırakılan cisim</a:t>
            </a:r>
            <a:endParaRPr lang="en-US" sz="1300" dirty="0"/>
          </a:p>
        </p:txBody>
      </p:sp>
      <p:sp>
        <p:nvSpPr>
          <p:cNvPr id="14" name="Text 12"/>
          <p:cNvSpPr txBox="1"/>
          <p:nvPr/>
        </p:nvSpPr>
        <p:spPr>
          <a:xfrm>
            <a:off x="10362895" y="2084832"/>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88336"/>
            <a:ext cx="5379415" cy="512064"/>
          </a:xfrm>
          <a:prstGeom prst="roundRect">
            <a:avLst>
              <a:gd name="adj" fmla="val 17857"/>
            </a:avLst>
          </a:prstGeom>
          <a:solidFill>
            <a:srgbClr val="1C2542"/>
          </a:solidFill>
          <a:ln w="9525">
            <a:solidFill>
              <a:srgbClr val="2C3860"/>
            </a:solidFill>
            <a:prstDash val="solid"/>
          </a:ln>
        </p:spPr>
      </p:sp>
      <p:sp>
        <p:nvSpPr>
          <p:cNvPr id="16" name="Text 14"/>
          <p:cNvSpPr txBox="1"/>
          <p:nvPr/>
        </p:nvSpPr>
        <p:spPr>
          <a:xfrm>
            <a:off x="6400800" y="2688336"/>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Aynı yükseklik, farklı gökcismi</a:t>
            </a:r>
            <a:endParaRPr lang="en-US" sz="1300" dirty="0"/>
          </a:p>
        </p:txBody>
      </p:sp>
      <p:sp>
        <p:nvSpPr>
          <p:cNvPr id="17" name="Text 15"/>
          <p:cNvSpPr txBox="1"/>
          <p:nvPr/>
        </p:nvSpPr>
        <p:spPr>
          <a:xfrm>
            <a:off x="10362895" y="2688336"/>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18" name="Shape 16"/>
          <p:cNvSpPr/>
          <p:nvPr/>
        </p:nvSpPr>
        <p:spPr>
          <a:xfrm>
            <a:off x="6172200" y="3291840"/>
            <a:ext cx="5379415" cy="512064"/>
          </a:xfrm>
          <a:prstGeom prst="roundRect">
            <a:avLst>
              <a:gd name="adj" fmla="val 17857"/>
            </a:avLst>
          </a:prstGeom>
          <a:solidFill>
            <a:srgbClr val="1C2542"/>
          </a:solidFill>
          <a:ln w="9525">
            <a:solidFill>
              <a:srgbClr val="2C3860"/>
            </a:solidFill>
            <a:prstDash val="solid"/>
          </a:ln>
        </p:spPr>
      </p:sp>
      <p:sp>
        <p:nvSpPr>
          <p:cNvPr id="19" name="Text 17"/>
          <p:cNvSpPr txBox="1"/>
          <p:nvPr/>
        </p:nvSpPr>
        <p:spPr>
          <a:xfrm>
            <a:off x="6400800" y="3291840"/>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20 m/s ile yukarı atılan cisim</a:t>
            </a:r>
            <a:endParaRPr lang="en-US" sz="1300" dirty="0"/>
          </a:p>
        </p:txBody>
      </p:sp>
      <p:sp>
        <p:nvSpPr>
          <p:cNvPr id="20" name="Text 18"/>
          <p:cNvSpPr txBox="1"/>
          <p:nvPr/>
        </p:nvSpPr>
        <p:spPr>
          <a:xfrm>
            <a:off x="10362895" y="3291840"/>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895344"/>
            <a:ext cx="5379415" cy="512064"/>
          </a:xfrm>
          <a:prstGeom prst="roundRect">
            <a:avLst>
              <a:gd name="adj" fmla="val 17857"/>
            </a:avLst>
          </a:prstGeom>
          <a:solidFill>
            <a:srgbClr val="1C2542"/>
          </a:solidFill>
          <a:ln w="9525">
            <a:solidFill>
              <a:srgbClr val="2C3860"/>
            </a:solidFill>
            <a:prstDash val="solid"/>
          </a:ln>
        </p:spPr>
      </p:sp>
      <p:sp>
        <p:nvSpPr>
          <p:cNvPr id="22" name="Text 20"/>
          <p:cNvSpPr txBox="1"/>
          <p:nvPr/>
        </p:nvSpPr>
        <p:spPr>
          <a:xfrm>
            <a:off x="6400800" y="3895344"/>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Son 1 saniyede 25 m düşen cisim</a:t>
            </a:r>
            <a:endParaRPr lang="en-US" sz="1300" dirty="0"/>
          </a:p>
        </p:txBody>
      </p:sp>
      <p:sp>
        <p:nvSpPr>
          <p:cNvPr id="23" name="Text 21"/>
          <p:cNvSpPr txBox="1"/>
          <p:nvPr/>
        </p:nvSpPr>
        <p:spPr>
          <a:xfrm>
            <a:off x="10362895" y="3895344"/>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4" name="Shape 22"/>
          <p:cNvSpPr/>
          <p:nvPr/>
        </p:nvSpPr>
        <p:spPr>
          <a:xfrm>
            <a:off x="6172200" y="4498848"/>
            <a:ext cx="5379415" cy="512064"/>
          </a:xfrm>
          <a:prstGeom prst="roundRect">
            <a:avLst>
              <a:gd name="adj" fmla="val 17857"/>
            </a:avLst>
          </a:prstGeom>
          <a:solidFill>
            <a:srgbClr val="1C2542"/>
          </a:solidFill>
          <a:ln w="9525">
            <a:solidFill>
              <a:srgbClr val="2C3860"/>
            </a:solidFill>
            <a:prstDash val="solid"/>
          </a:ln>
        </p:spPr>
      </p:sp>
      <p:sp>
        <p:nvSpPr>
          <p:cNvPr id="25" name="Text 23"/>
          <p:cNvSpPr txBox="1"/>
          <p:nvPr/>
        </p:nvSpPr>
        <p:spPr>
          <a:xfrm>
            <a:off x="6400800" y="449884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Balkondan yukarı atılan top</a:t>
            </a:r>
            <a:endParaRPr lang="en-US" sz="1300" dirty="0"/>
          </a:p>
        </p:txBody>
      </p:sp>
      <p:sp>
        <p:nvSpPr>
          <p:cNvPr id="26" name="Text 24"/>
          <p:cNvSpPr txBox="1"/>
          <p:nvPr/>
        </p:nvSpPr>
        <p:spPr>
          <a:xfrm>
            <a:off x="10362895" y="4498848"/>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40080" y="6382512"/>
            <a:ext cx="128016" cy="128016"/>
          </a:xfrm>
          <a:prstGeom prst="roundRect">
            <a:avLst>
              <a:gd name="adj" fmla="val 28571"/>
            </a:avLst>
          </a:prstGeom>
          <a:solidFill>
            <a:srgbClr val="C6F36B"/>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dersler.perinet.org/serbest-dusme.html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1 / 6</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2 saniye sonra hız ve yol  ·  Aşağıdaki çözümlerde g = 10 m/s² alınmış, hava direnci ihmal edilmiştir.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Bir köprüden serbest bırakılan taş 2 saniye sonra suya çarpıyor. (a) Taşın suya çarpma hızını, (b) köprünün su yüzeyinden yüksekliğini bulunuz.</a:t>
            </a:r>
            <a:endParaRPr lang="en-US" sz="1600" dirty="0"/>
          </a:p>
        </p:txBody>
      </p:sp>
      <p:sp>
        <p:nvSpPr>
          <p:cNvPr id="11" name="Shape 9"/>
          <p:cNvSpPr/>
          <p:nvPr/>
        </p:nvSpPr>
        <p:spPr>
          <a:xfrm>
            <a:off x="5212080" y="1627632"/>
            <a:ext cx="6339535" cy="1575514"/>
          </a:xfrm>
          <a:prstGeom prst="roundRect">
            <a:avLst>
              <a:gd name="adj" fmla="val 928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223365"/>
            <a:ext cx="384048" cy="384048"/>
          </a:xfrm>
          <a:prstGeom prst="roundRect">
            <a:avLst>
              <a:gd name="adj" fmla="val 26000"/>
            </a:avLst>
          </a:prstGeom>
          <a:solidFill>
            <a:srgbClr val="A56209"/>
          </a:solidFill>
          <a:ln/>
        </p:spPr>
      </p:sp>
      <p:sp>
        <p:nvSpPr>
          <p:cNvPr id="13" name="Text 11"/>
          <p:cNvSpPr txBox="1"/>
          <p:nvPr/>
        </p:nvSpPr>
        <p:spPr>
          <a:xfrm>
            <a:off x="5449824" y="222336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465786"/>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Hız her saniye 10 m/s artar: v = g·t = 10 · 2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20 m/s</a:t>
            </a:r>
            <a:endParaRPr lang="en-US" sz="1600" dirty="0"/>
          </a:p>
        </p:txBody>
      </p:sp>
      <p:sp>
        <p:nvSpPr>
          <p:cNvPr id="15" name="Shape 13"/>
          <p:cNvSpPr/>
          <p:nvPr/>
        </p:nvSpPr>
        <p:spPr>
          <a:xfrm>
            <a:off x="5212080" y="3349450"/>
            <a:ext cx="6339535" cy="1073501"/>
          </a:xfrm>
          <a:prstGeom prst="roundRect">
            <a:avLst>
              <a:gd name="adj" fmla="val 1362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694176"/>
            <a:ext cx="384048" cy="384048"/>
          </a:xfrm>
          <a:prstGeom prst="roundRect">
            <a:avLst>
              <a:gd name="adj" fmla="val 26000"/>
            </a:avLst>
          </a:prstGeom>
          <a:solidFill>
            <a:srgbClr val="A56209"/>
          </a:solidFill>
          <a:ln/>
        </p:spPr>
      </p:sp>
      <p:sp>
        <p:nvSpPr>
          <p:cNvPr id="17" name="Text 15"/>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404314"/>
            <a:ext cx="5379415" cy="963773"/>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h = ½·g·t² = ½ · 10 · 2²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20 m</a:t>
            </a:r>
            <a:endParaRPr lang="en-US" sz="1600" dirty="0"/>
          </a:p>
        </p:txBody>
      </p:sp>
      <p:sp>
        <p:nvSpPr>
          <p:cNvPr id="19" name="Shape 17"/>
          <p:cNvSpPr/>
          <p:nvPr/>
        </p:nvSpPr>
        <p:spPr>
          <a:xfrm>
            <a:off x="5212080" y="4569254"/>
            <a:ext cx="6339535" cy="1575514"/>
          </a:xfrm>
          <a:prstGeom prst="roundRect">
            <a:avLst>
              <a:gd name="adj" fmla="val 928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5164987"/>
            <a:ext cx="384048" cy="384048"/>
          </a:xfrm>
          <a:prstGeom prst="roundRect">
            <a:avLst>
              <a:gd name="adj" fmla="val 26000"/>
            </a:avLst>
          </a:prstGeom>
          <a:solidFill>
            <a:srgbClr val="A56209"/>
          </a:solidFill>
          <a:ln/>
        </p:spPr>
      </p:sp>
      <p:sp>
        <p:nvSpPr>
          <p:cNvPr id="21" name="Text 19"/>
          <p:cNvSpPr txBox="1"/>
          <p:nvPr/>
        </p:nvSpPr>
        <p:spPr>
          <a:xfrm>
            <a:off x="5449824" y="516498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624118"/>
            <a:ext cx="5379415" cy="146578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Kontrol: ortalama hız (0 + 20)/2 = 10 m/s, 2 saniyede 10 · 2 = 20 m ✓</a:t>
            </a:r>
            <a:endParaRPr lang="en-US" sz="16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2 / 6</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45 m yükseklikten bırakılan cisim</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45 m yüksekten serbest bırakılan bir cisim için: (a) düşme süresini, (b) yere çarpma hızını, (c) hareketin 2. saniyesinde aldığı yolu bulunuz.</a:t>
            </a:r>
            <a:endParaRPr lang="en-US" sz="1600" dirty="0"/>
          </a:p>
        </p:txBody>
      </p:sp>
      <p:sp>
        <p:nvSpPr>
          <p:cNvPr id="11" name="Shape 9"/>
          <p:cNvSpPr/>
          <p:nvPr/>
        </p:nvSpPr>
        <p:spPr>
          <a:xfrm>
            <a:off x="5212080" y="1627632"/>
            <a:ext cx="6339535" cy="959483"/>
          </a:xfrm>
          <a:prstGeom prst="roundRect">
            <a:avLst>
              <a:gd name="adj" fmla="val 1524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915349"/>
            <a:ext cx="384048" cy="384048"/>
          </a:xfrm>
          <a:prstGeom prst="roundRect">
            <a:avLst>
              <a:gd name="adj" fmla="val 26000"/>
            </a:avLst>
          </a:prstGeom>
          <a:solidFill>
            <a:srgbClr val="A56209"/>
          </a:solidFill>
          <a:ln/>
        </p:spPr>
      </p:sp>
      <p:sp>
        <p:nvSpPr>
          <p:cNvPr id="13" name="Text 11"/>
          <p:cNvSpPr txBox="1"/>
          <p:nvPr/>
        </p:nvSpPr>
        <p:spPr>
          <a:xfrm>
            <a:off x="5449824" y="191534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849755"/>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h = ½·g·t² → 45 = ½·10·t² → t² = 9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t = 3 s</a:t>
            </a:r>
            <a:endParaRPr lang="en-US" sz="1600" dirty="0"/>
          </a:p>
        </p:txBody>
      </p:sp>
      <p:sp>
        <p:nvSpPr>
          <p:cNvPr id="15" name="Shape 13"/>
          <p:cNvSpPr/>
          <p:nvPr/>
        </p:nvSpPr>
        <p:spPr>
          <a:xfrm>
            <a:off x="5212080" y="2733419"/>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245483"/>
            <a:ext cx="384048" cy="384048"/>
          </a:xfrm>
          <a:prstGeom prst="roundRect">
            <a:avLst>
              <a:gd name="adj" fmla="val 26000"/>
            </a:avLst>
          </a:prstGeom>
          <a:solidFill>
            <a:srgbClr val="A56209"/>
          </a:solidFill>
          <a:ln/>
        </p:spPr>
      </p:sp>
      <p:sp>
        <p:nvSpPr>
          <p:cNvPr id="17" name="Text 15"/>
          <p:cNvSpPr txBox="1"/>
          <p:nvPr/>
        </p:nvSpPr>
        <p:spPr>
          <a:xfrm>
            <a:off x="5449824" y="324548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788283"/>
            <a:ext cx="5379415" cy="129844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v = g·t = 10 · 3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v = 30 m/s</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(kontrol: v² = 2gh = 2·10·45 = 900 → v = 30 m/s ✓)</a:t>
            </a:r>
            <a:endParaRPr lang="en-US" sz="1600" dirty="0"/>
          </a:p>
        </p:txBody>
      </p:sp>
      <p:sp>
        <p:nvSpPr>
          <p:cNvPr id="19" name="Shape 17"/>
          <p:cNvSpPr/>
          <p:nvPr/>
        </p:nvSpPr>
        <p:spPr>
          <a:xfrm>
            <a:off x="5212080" y="4287899"/>
            <a:ext cx="6339535" cy="1856869"/>
          </a:xfrm>
          <a:prstGeom prst="roundRect">
            <a:avLst>
              <a:gd name="adj" fmla="val 787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5024309"/>
            <a:ext cx="384048" cy="384048"/>
          </a:xfrm>
          <a:prstGeom prst="roundRect">
            <a:avLst>
              <a:gd name="adj" fmla="val 26000"/>
            </a:avLst>
          </a:prstGeom>
          <a:solidFill>
            <a:srgbClr val="A56209"/>
          </a:solidFill>
          <a:ln/>
        </p:spPr>
      </p:sp>
      <p:sp>
        <p:nvSpPr>
          <p:cNvPr id="21" name="Text 19"/>
          <p:cNvSpPr txBox="1"/>
          <p:nvPr/>
        </p:nvSpPr>
        <p:spPr>
          <a:xfrm>
            <a:off x="5449824" y="502430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342763"/>
            <a:ext cx="5379415" cy="1747141"/>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İlk 2 s'de 20 m, ilk 1 s'de 5 m alınır; fark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15 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'dir. 1 : 3 : 5 kuralıyla da ikinci saniyenin payı 3h = 3·5 = 15 m.</a:t>
            </a:r>
            <a:endParaRPr lang="en-US" sz="16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3 / 6</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Aynı yükseklik, farklı gökcismi</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10 m yüksekten bırakılan bir cisim Dünya'da ve Ay'da kaç saniyede yere iner? (g</a:t>
            </a:r>
            <a:pPr indent="0" marL="0">
              <a:lnSpc>
                <a:spcPct val="118000"/>
              </a:lnSpc>
              <a:buNone/>
            </a:pPr>
            <a:r>
              <a:rPr lang="en-US" sz="1600" baseline="-40000" dirty="0">
                <a:solidFill>
                  <a:srgbClr val="0E1426"/>
                </a:solidFill>
                <a:latin typeface="Calibri" pitchFamily="34" charset="0"/>
                <a:ea typeface="Calibri" pitchFamily="34" charset="-122"/>
                <a:cs typeface="Calibri" pitchFamily="34" charset="-120"/>
              </a:rPr>
              <a:t>Dünya</a:t>
            </a:r>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 = 9,81 m/s², g</a:t>
            </a:r>
            <a:pPr indent="0" marL="0">
              <a:lnSpc>
                <a:spcPct val="118000"/>
              </a:lnSpc>
              <a:buNone/>
            </a:pPr>
            <a:r>
              <a:rPr lang="en-US" sz="1600" baseline="-40000" dirty="0">
                <a:solidFill>
                  <a:srgbClr val="0E1426"/>
                </a:solidFill>
                <a:latin typeface="Calibri" pitchFamily="34" charset="0"/>
                <a:ea typeface="Calibri" pitchFamily="34" charset="-122"/>
                <a:cs typeface="Calibri" pitchFamily="34" charset="-120"/>
              </a:rPr>
              <a:t>Ay</a:t>
            </a:r>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 = 1,62 m/s²)</a:t>
            </a:r>
            <a:endParaRPr lang="en-US" sz="1600" dirty="0"/>
          </a:p>
        </p:txBody>
      </p:sp>
      <p:sp>
        <p:nvSpPr>
          <p:cNvPr id="11" name="Shape 9"/>
          <p:cNvSpPr/>
          <p:nvPr/>
        </p:nvSpPr>
        <p:spPr>
          <a:xfrm>
            <a:off x="5212080" y="1627632"/>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48778"/>
            <a:ext cx="384048" cy="384048"/>
          </a:xfrm>
          <a:prstGeom prst="roundRect">
            <a:avLst>
              <a:gd name="adj" fmla="val 26000"/>
            </a:avLst>
          </a:prstGeom>
          <a:solidFill>
            <a:srgbClr val="A56209"/>
          </a:solidFill>
          <a:ln/>
        </p:spPr>
      </p:sp>
      <p:sp>
        <p:nvSpPr>
          <p:cNvPr id="13" name="Text 11"/>
          <p:cNvSpPr txBox="1"/>
          <p:nvPr/>
        </p:nvSpPr>
        <p:spPr>
          <a:xfrm>
            <a:off x="5449824" y="184877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t = √(2h / g) bağıntısı kullanılır.</a:t>
            </a:r>
            <a:endParaRPr lang="en-US" sz="1600" dirty="0"/>
          </a:p>
        </p:txBody>
      </p:sp>
      <p:sp>
        <p:nvSpPr>
          <p:cNvPr id="15" name="Shape 13"/>
          <p:cNvSpPr/>
          <p:nvPr/>
        </p:nvSpPr>
        <p:spPr>
          <a:xfrm>
            <a:off x="5212080" y="2600277"/>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821423"/>
            <a:ext cx="384048" cy="384048"/>
          </a:xfrm>
          <a:prstGeom prst="roundRect">
            <a:avLst>
              <a:gd name="adj" fmla="val 26000"/>
            </a:avLst>
          </a:prstGeom>
          <a:solidFill>
            <a:srgbClr val="A56209"/>
          </a:solidFill>
          <a:ln/>
        </p:spPr>
      </p:sp>
      <p:sp>
        <p:nvSpPr>
          <p:cNvPr id="17" name="Text 15"/>
          <p:cNvSpPr txBox="1"/>
          <p:nvPr/>
        </p:nvSpPr>
        <p:spPr>
          <a:xfrm>
            <a:off x="5449824" y="282142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655141"/>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Dünya: t = √(20 / 9,81)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1,43 s</a:t>
            </a:r>
            <a:endParaRPr lang="en-US" sz="1600" dirty="0"/>
          </a:p>
        </p:txBody>
      </p:sp>
      <p:sp>
        <p:nvSpPr>
          <p:cNvPr id="19" name="Shape 17"/>
          <p:cNvSpPr/>
          <p:nvPr/>
        </p:nvSpPr>
        <p:spPr>
          <a:xfrm>
            <a:off x="5212080" y="3572921"/>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3794068"/>
            <a:ext cx="384048" cy="384048"/>
          </a:xfrm>
          <a:prstGeom prst="roundRect">
            <a:avLst>
              <a:gd name="adj" fmla="val 26000"/>
            </a:avLst>
          </a:prstGeom>
          <a:solidFill>
            <a:srgbClr val="A56209"/>
          </a:solidFill>
          <a:ln/>
        </p:spPr>
      </p:sp>
      <p:sp>
        <p:nvSpPr>
          <p:cNvPr id="21" name="Text 19"/>
          <p:cNvSpPr txBox="1"/>
          <p:nvPr/>
        </p:nvSpPr>
        <p:spPr>
          <a:xfrm>
            <a:off x="5449824" y="379406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627785"/>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Ay: t = √(20 / 1,62)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3,51 s</a:t>
            </a:r>
            <a:endParaRPr lang="en-US" sz="1600" dirty="0"/>
          </a:p>
        </p:txBody>
      </p:sp>
      <p:sp>
        <p:nvSpPr>
          <p:cNvPr id="23" name="Shape 21"/>
          <p:cNvSpPr/>
          <p:nvPr/>
        </p:nvSpPr>
        <p:spPr>
          <a:xfrm>
            <a:off x="5212080" y="4545566"/>
            <a:ext cx="6339535" cy="1599202"/>
          </a:xfrm>
          <a:prstGeom prst="roundRect">
            <a:avLst>
              <a:gd name="adj" fmla="val 914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153143"/>
            <a:ext cx="384048" cy="384048"/>
          </a:xfrm>
          <a:prstGeom prst="roundRect">
            <a:avLst>
              <a:gd name="adj" fmla="val 26000"/>
            </a:avLst>
          </a:prstGeom>
          <a:solidFill>
            <a:srgbClr val="A56209"/>
          </a:solidFill>
          <a:ln/>
        </p:spPr>
      </p:sp>
      <p:sp>
        <p:nvSpPr>
          <p:cNvPr id="25" name="Text 23"/>
          <p:cNvSpPr txBox="1"/>
          <p:nvPr/>
        </p:nvSpPr>
        <p:spPr>
          <a:xfrm>
            <a:off x="5449824" y="515314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600430"/>
            <a:ext cx="5379415" cy="14894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Oran: √(9,81 / 1,62) ≈ 2,46 → Ay'da düşüş yaklaşık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2,5 kat</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uzun sürer. Laboratuvardaki gökcismi düğmeleriyle bunu deneyebilirsin.</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4 / 6</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20 m/s ile yukarı atılan cisim</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Yerden 20 m/s hızla düşey yukarı atılan cisim için: (a) çıkabileceği en büyük yüksekliği, (b) havada kalma süresini, (c) 15 m yükseklikteki süratini bulunuz.</a:t>
            </a:r>
            <a:endParaRPr lang="en-US" sz="1600" dirty="0"/>
          </a:p>
        </p:txBody>
      </p:sp>
      <p:sp>
        <p:nvSpPr>
          <p:cNvPr id="11" name="Shape 9"/>
          <p:cNvSpPr/>
          <p:nvPr/>
        </p:nvSpPr>
        <p:spPr>
          <a:xfrm>
            <a:off x="5212080" y="1627632"/>
            <a:ext cx="6339535" cy="1073501"/>
          </a:xfrm>
          <a:prstGeom prst="roundRect">
            <a:avLst>
              <a:gd name="adj" fmla="val 1362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972358"/>
            <a:ext cx="384048" cy="384048"/>
          </a:xfrm>
          <a:prstGeom prst="roundRect">
            <a:avLst>
              <a:gd name="adj" fmla="val 26000"/>
            </a:avLst>
          </a:prstGeom>
          <a:solidFill>
            <a:srgbClr val="A56209"/>
          </a:solidFill>
          <a:ln/>
        </p:spPr>
      </p:sp>
      <p:sp>
        <p:nvSpPr>
          <p:cNvPr id="13" name="Text 11"/>
          <p:cNvSpPr txBox="1"/>
          <p:nvPr/>
        </p:nvSpPr>
        <p:spPr>
          <a:xfrm>
            <a:off x="5449824" y="197235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963773"/>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h</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maks</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v₀² / (2g) = 400 / 20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20 m</a:t>
            </a:r>
            <a:endParaRPr lang="en-US" sz="1600" dirty="0"/>
          </a:p>
        </p:txBody>
      </p:sp>
      <p:sp>
        <p:nvSpPr>
          <p:cNvPr id="15" name="Shape 13"/>
          <p:cNvSpPr/>
          <p:nvPr/>
        </p:nvSpPr>
        <p:spPr>
          <a:xfrm>
            <a:off x="5212080" y="2847437"/>
            <a:ext cx="6339535" cy="1073501"/>
          </a:xfrm>
          <a:prstGeom prst="roundRect">
            <a:avLst>
              <a:gd name="adj" fmla="val 1362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192163"/>
            <a:ext cx="384048" cy="384048"/>
          </a:xfrm>
          <a:prstGeom prst="roundRect">
            <a:avLst>
              <a:gd name="adj" fmla="val 26000"/>
            </a:avLst>
          </a:prstGeom>
          <a:solidFill>
            <a:srgbClr val="A56209"/>
          </a:solidFill>
          <a:ln/>
        </p:spPr>
      </p:sp>
      <p:sp>
        <p:nvSpPr>
          <p:cNvPr id="17" name="Text 15"/>
          <p:cNvSpPr txBox="1"/>
          <p:nvPr/>
        </p:nvSpPr>
        <p:spPr>
          <a:xfrm>
            <a:off x="5449824" y="319216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902301"/>
            <a:ext cx="5379415" cy="963773"/>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t</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çıkış</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v₀ / g = 2 s → toplam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 s</a:t>
            </a:r>
            <a:endParaRPr lang="en-US" sz="1600" dirty="0"/>
          </a:p>
        </p:txBody>
      </p:sp>
      <p:sp>
        <p:nvSpPr>
          <p:cNvPr id="19" name="Shape 17"/>
          <p:cNvSpPr/>
          <p:nvPr/>
        </p:nvSpPr>
        <p:spPr>
          <a:xfrm>
            <a:off x="5212080" y="4067241"/>
            <a:ext cx="6339535" cy="2077527"/>
          </a:xfrm>
          <a:prstGeom prst="roundRect">
            <a:avLst>
              <a:gd name="adj" fmla="val 7042"/>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913981"/>
            <a:ext cx="384048" cy="384048"/>
          </a:xfrm>
          <a:prstGeom prst="roundRect">
            <a:avLst>
              <a:gd name="adj" fmla="val 26000"/>
            </a:avLst>
          </a:prstGeom>
          <a:solidFill>
            <a:srgbClr val="A56209"/>
          </a:solidFill>
          <a:ln/>
        </p:spPr>
      </p:sp>
      <p:sp>
        <p:nvSpPr>
          <p:cNvPr id="21" name="Text 19"/>
          <p:cNvSpPr txBox="1"/>
          <p:nvPr/>
        </p:nvSpPr>
        <p:spPr>
          <a:xfrm>
            <a:off x="5449824" y="491398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122105"/>
            <a:ext cx="5379415" cy="1967799"/>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v² = v₀² − 2·g·h = 400 − 300 = 100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v = 10 m/s</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Cisim 15 m'den biri çıkarken biri inerken iki kez geçer; sürat iki geçişte de aynıdır.</a:t>
            </a:r>
            <a:endParaRPr lang="en-US" sz="16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5 / 6</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Son 1 saniyede 25 m düşen cisim</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Serbest bırakılan bir cisim, yere çarpmadan önceki son 1 saniyede 25 m yol alıyor. Cisim kaç metreden bırakılmıştır?</a:t>
            </a:r>
            <a:endParaRPr lang="en-US" sz="1600" dirty="0"/>
          </a:p>
        </p:txBody>
      </p:sp>
      <p:sp>
        <p:nvSpPr>
          <p:cNvPr id="11" name="Text 9"/>
          <p:cNvSpPr txBox="1"/>
          <p:nvPr/>
        </p:nvSpPr>
        <p:spPr>
          <a:xfrm>
            <a:off x="932688" y="3617976"/>
            <a:ext cx="2743200" cy="219456"/>
          </a:xfrm>
          <a:prstGeom prst="rect">
            <a:avLst/>
          </a:prstGeom>
          <a:noFill/>
          <a:ln/>
        </p:spPr>
        <p:txBody>
          <a:bodyPr wrap="square" lIns="0" tIns="0" rIns="0" bIns="0" rtlCol="0" anchor="ctr"/>
          <a:lstStyle/>
          <a:p>
            <a:pPr indent="0" marL="0">
              <a:buNone/>
            </a:pPr>
            <a:r>
              <a:rPr lang="en-US" sz="950" b="1" spc="200" kern="0" dirty="0">
                <a:solidFill>
                  <a:srgbClr val="7B849E"/>
                </a:solidFill>
                <a:latin typeface="Calibri" pitchFamily="34" charset="0"/>
                <a:ea typeface="Calibri" pitchFamily="34" charset="-122"/>
                <a:cs typeface="Calibri" pitchFamily="34" charset="-120"/>
              </a:rPr>
              <a:t>NOT</a:t>
            </a:r>
            <a:endParaRPr lang="en-US" sz="950" dirty="0"/>
          </a:p>
        </p:txBody>
      </p:sp>
      <p:sp>
        <p:nvSpPr>
          <p:cNvPr id="12" name="Text 10"/>
          <p:cNvSpPr txBox="1"/>
          <p:nvPr/>
        </p:nvSpPr>
        <p:spPr>
          <a:xfrm>
            <a:off x="932688" y="3874008"/>
            <a:ext cx="3712464" cy="447446"/>
          </a:xfrm>
          <a:prstGeom prst="rect">
            <a:avLst/>
          </a:prstGeom>
          <a:noFill/>
          <a:ln/>
        </p:spPr>
        <p:txBody>
          <a:bodyPr wrap="square" lIns="0" tIns="0" rIns="0" bIns="0" rtlCol="0" anchor="t"/>
          <a:lstStyle/>
          <a:p>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Kısa yol: 1 : 3 : 5 kuralında son terim 5h = 25 m ise h = 5 m, toplam (1+3+5)·5 = 45 m.</a:t>
            </a:r>
            <a:endParaRPr lang="en-US" sz="1150" dirty="0"/>
          </a:p>
        </p:txBody>
      </p:sp>
      <p:sp>
        <p:nvSpPr>
          <p:cNvPr id="13" name="Shape 11"/>
          <p:cNvSpPr/>
          <p:nvPr/>
        </p:nvSpPr>
        <p:spPr>
          <a:xfrm>
            <a:off x="5212080" y="1627632"/>
            <a:ext cx="6339535" cy="1575514"/>
          </a:xfrm>
          <a:prstGeom prst="roundRect">
            <a:avLst>
              <a:gd name="adj" fmla="val 928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2223365"/>
            <a:ext cx="384048" cy="384048"/>
          </a:xfrm>
          <a:prstGeom prst="roundRect">
            <a:avLst>
              <a:gd name="adj" fmla="val 26000"/>
            </a:avLst>
          </a:prstGeom>
          <a:solidFill>
            <a:srgbClr val="A56209"/>
          </a:solidFill>
          <a:ln/>
        </p:spPr>
      </p:sp>
      <p:sp>
        <p:nvSpPr>
          <p:cNvPr id="15" name="Text 13"/>
          <p:cNvSpPr txBox="1"/>
          <p:nvPr/>
        </p:nvSpPr>
        <p:spPr>
          <a:xfrm>
            <a:off x="5449824" y="222336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6" name="Text 14"/>
          <p:cNvSpPr txBox="1"/>
          <p:nvPr/>
        </p:nvSpPr>
        <p:spPr>
          <a:xfrm>
            <a:off x="5989320" y="1682496"/>
            <a:ext cx="5379415" cy="146578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Toplam süreye t diyelim. Son saniyedeki yol = h(t) − h(t−1) = 25 m.</a:t>
            </a:r>
            <a:endParaRPr lang="en-US" sz="1600" dirty="0"/>
          </a:p>
        </p:txBody>
      </p:sp>
      <p:sp>
        <p:nvSpPr>
          <p:cNvPr id="17" name="Shape 15"/>
          <p:cNvSpPr/>
          <p:nvPr/>
        </p:nvSpPr>
        <p:spPr>
          <a:xfrm>
            <a:off x="5212080" y="3349450"/>
            <a:ext cx="6339535" cy="1575514"/>
          </a:xfrm>
          <a:prstGeom prst="roundRect">
            <a:avLst>
              <a:gd name="adj" fmla="val 928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3945182"/>
            <a:ext cx="384048" cy="384048"/>
          </a:xfrm>
          <a:prstGeom prst="roundRect">
            <a:avLst>
              <a:gd name="adj" fmla="val 26000"/>
            </a:avLst>
          </a:prstGeom>
          <a:solidFill>
            <a:srgbClr val="A56209"/>
          </a:solidFill>
          <a:ln/>
        </p:spPr>
      </p:sp>
      <p:sp>
        <p:nvSpPr>
          <p:cNvPr id="19" name="Text 17"/>
          <p:cNvSpPr txBox="1"/>
          <p:nvPr/>
        </p:nvSpPr>
        <p:spPr>
          <a:xfrm>
            <a:off x="5449824" y="394518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0" name="Text 18"/>
          <p:cNvSpPr txBox="1"/>
          <p:nvPr/>
        </p:nvSpPr>
        <p:spPr>
          <a:xfrm>
            <a:off x="5989320" y="3404314"/>
            <a:ext cx="5379415" cy="146578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5t² − 5(t−1)² = 25 → 5(2t − 1) = 25 → 2t − 1 = 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t = 3 s</a:t>
            </a:r>
            <a:endParaRPr lang="en-US" sz="1600" dirty="0"/>
          </a:p>
        </p:txBody>
      </p:sp>
      <p:sp>
        <p:nvSpPr>
          <p:cNvPr id="21" name="Shape 19"/>
          <p:cNvSpPr/>
          <p:nvPr/>
        </p:nvSpPr>
        <p:spPr>
          <a:xfrm>
            <a:off x="5212080" y="5071267"/>
            <a:ext cx="6339535" cy="1073501"/>
          </a:xfrm>
          <a:prstGeom prst="roundRect">
            <a:avLst>
              <a:gd name="adj" fmla="val 1362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5415994"/>
            <a:ext cx="384048" cy="384048"/>
          </a:xfrm>
          <a:prstGeom prst="roundRect">
            <a:avLst>
              <a:gd name="adj" fmla="val 26000"/>
            </a:avLst>
          </a:prstGeom>
          <a:solidFill>
            <a:srgbClr val="A56209"/>
          </a:solidFill>
          <a:ln/>
        </p:spPr>
      </p:sp>
      <p:sp>
        <p:nvSpPr>
          <p:cNvPr id="23" name="Text 21"/>
          <p:cNvSpPr txBox="1"/>
          <p:nvPr/>
        </p:nvSpPr>
        <p:spPr>
          <a:xfrm>
            <a:off x="5449824" y="541599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4" name="Text 22"/>
          <p:cNvSpPr txBox="1"/>
          <p:nvPr/>
        </p:nvSpPr>
        <p:spPr>
          <a:xfrm>
            <a:off x="5989320" y="5126131"/>
            <a:ext cx="5379415" cy="96377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h = 5 · 3²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45 m</a:t>
            </a:r>
            <a:endParaRPr lang="en-US" sz="1600" dirty="0"/>
          </a:p>
        </p:txBody>
      </p:sp>
      <p:sp>
        <p:nvSpPr>
          <p:cNvPr id="25" name="Shape 23"/>
          <p:cNvSpPr/>
          <p:nvPr/>
        </p:nvSpPr>
        <p:spPr>
          <a:xfrm>
            <a:off x="640080" y="6382512"/>
            <a:ext cx="128016" cy="128016"/>
          </a:xfrm>
          <a:prstGeom prst="roundRect">
            <a:avLst>
              <a:gd name="adj" fmla="val 28571"/>
            </a:avLst>
          </a:prstGeom>
          <a:solidFill>
            <a:srgbClr val="A9E648"/>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6 / 6</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Balkondan yukarı atılan top  ·  Aşağıdaki çözümlerde g = 10 m/s² alınmış, hava direnci ihmal edilmiştir.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Bir balkondan 10 m/s hızla düşey yukarı atılan top, atıldıktan 3 s sonra yere çarpıyor. (a) Balkonun yerden yüksekliğini, (b) topun yere çarpma süratini bulunuz.</a:t>
            </a:r>
            <a:endParaRPr lang="en-US" sz="1600" dirty="0"/>
          </a:p>
        </p:txBody>
      </p:sp>
      <p:sp>
        <p:nvSpPr>
          <p:cNvPr id="11" name="Shape 9"/>
          <p:cNvSpPr/>
          <p:nvPr/>
        </p:nvSpPr>
        <p:spPr>
          <a:xfrm>
            <a:off x="5212080" y="1627632"/>
            <a:ext cx="6339535" cy="879445"/>
          </a:xfrm>
          <a:prstGeom prst="roundRect">
            <a:avLst>
              <a:gd name="adj" fmla="val 16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75331"/>
            <a:ext cx="384048" cy="384048"/>
          </a:xfrm>
          <a:prstGeom prst="roundRect">
            <a:avLst>
              <a:gd name="adj" fmla="val 26000"/>
            </a:avLst>
          </a:prstGeom>
          <a:solidFill>
            <a:srgbClr val="A56209"/>
          </a:solidFill>
          <a:ln/>
        </p:spPr>
      </p:sp>
      <p:sp>
        <p:nvSpPr>
          <p:cNvPr id="13" name="Text 11"/>
          <p:cNvSpPr txBox="1"/>
          <p:nvPr/>
        </p:nvSpPr>
        <p:spPr>
          <a:xfrm>
            <a:off x="5449824" y="187533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769717"/>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Yukarıyı pozitif seçelim: v₀ = +10 m/s, ivme −10 m/s². Konum: y = v₀·t − ½·g·t².</a:t>
            </a:r>
            <a:endParaRPr lang="en-US" sz="1600" dirty="0"/>
          </a:p>
        </p:txBody>
      </p:sp>
      <p:sp>
        <p:nvSpPr>
          <p:cNvPr id="15" name="Shape 13"/>
          <p:cNvSpPr/>
          <p:nvPr/>
        </p:nvSpPr>
        <p:spPr>
          <a:xfrm>
            <a:off x="5212080" y="2653381"/>
            <a:ext cx="6339535" cy="1159667"/>
          </a:xfrm>
          <a:prstGeom prst="roundRect">
            <a:avLst>
              <a:gd name="adj" fmla="val 1261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041191"/>
            <a:ext cx="384048" cy="384048"/>
          </a:xfrm>
          <a:prstGeom prst="roundRect">
            <a:avLst>
              <a:gd name="adj" fmla="val 26000"/>
            </a:avLst>
          </a:prstGeom>
          <a:solidFill>
            <a:srgbClr val="A56209"/>
          </a:solidFill>
          <a:ln/>
        </p:spPr>
      </p:sp>
      <p:sp>
        <p:nvSpPr>
          <p:cNvPr id="17" name="Text 15"/>
          <p:cNvSpPr txBox="1"/>
          <p:nvPr/>
        </p:nvSpPr>
        <p:spPr>
          <a:xfrm>
            <a:off x="5449824" y="304119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708245"/>
            <a:ext cx="5379415" cy="1049939"/>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t = 3 s'de y = 10·3 − 5·9 = 30 − 45 = −15 m. Eksi işaret topun balkonun 15 m altında olduğunu söyler: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balkon 15 m yüksekte</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19" name="Shape 17"/>
          <p:cNvSpPr/>
          <p:nvPr/>
        </p:nvSpPr>
        <p:spPr>
          <a:xfrm>
            <a:off x="5212080" y="3959352"/>
            <a:ext cx="6339535" cy="879445"/>
          </a:xfrm>
          <a:prstGeom prst="roundRect">
            <a:avLst>
              <a:gd name="adj" fmla="val 16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207051"/>
            <a:ext cx="384048" cy="384048"/>
          </a:xfrm>
          <a:prstGeom prst="roundRect">
            <a:avLst>
              <a:gd name="adj" fmla="val 26000"/>
            </a:avLst>
          </a:prstGeom>
          <a:solidFill>
            <a:srgbClr val="A56209"/>
          </a:solidFill>
          <a:ln/>
        </p:spPr>
      </p:sp>
      <p:sp>
        <p:nvSpPr>
          <p:cNvPr id="21" name="Text 19"/>
          <p:cNvSpPr txBox="1"/>
          <p:nvPr/>
        </p:nvSpPr>
        <p:spPr>
          <a:xfrm>
            <a:off x="5449824" y="420705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014216"/>
            <a:ext cx="5379415" cy="769717"/>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Hız: v = v₀ − g·t = 10 − 30 = −20 m/s → yere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20 m/s</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süratle, aşağı doğru çarpar.</a:t>
            </a:r>
            <a:endParaRPr lang="en-US" sz="1600" dirty="0"/>
          </a:p>
        </p:txBody>
      </p:sp>
      <p:sp>
        <p:nvSpPr>
          <p:cNvPr id="23" name="Shape 21"/>
          <p:cNvSpPr/>
          <p:nvPr/>
        </p:nvSpPr>
        <p:spPr>
          <a:xfrm>
            <a:off x="5212080" y="4985101"/>
            <a:ext cx="6339535" cy="1159667"/>
          </a:xfrm>
          <a:prstGeom prst="roundRect">
            <a:avLst>
              <a:gd name="adj" fmla="val 1261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372911"/>
            <a:ext cx="384048" cy="384048"/>
          </a:xfrm>
          <a:prstGeom prst="roundRect">
            <a:avLst>
              <a:gd name="adj" fmla="val 26000"/>
            </a:avLst>
          </a:prstGeom>
          <a:solidFill>
            <a:srgbClr val="A56209"/>
          </a:solidFill>
          <a:ln/>
        </p:spPr>
      </p:sp>
      <p:sp>
        <p:nvSpPr>
          <p:cNvPr id="25" name="Text 23"/>
          <p:cNvSpPr txBox="1"/>
          <p:nvPr/>
        </p:nvSpPr>
        <p:spPr>
          <a:xfrm>
            <a:off x="5449824" y="537291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5039965"/>
            <a:ext cx="5379415" cy="1049939"/>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Kontrol: v² = v₀² + 2·g·h = 100 + 2·10·15 = 400 → v = 20 m/s ✓. Top 1 s çıkıp 5 m yükselir, sonra 20 m'den serbest düşer: 2 s. Toplam 3 s ✓</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“Ağır cisim önce düşer.”</a:t>
            </a:r>
            <a:endParaRPr lang="en-US" sz="1600" dirty="0"/>
          </a:p>
        </p:txBody>
      </p:sp>
      <p:sp>
        <p:nvSpPr>
          <p:cNvPr id="11" name="Shape 9"/>
          <p:cNvSpPr/>
          <p:nvPr/>
        </p:nvSpPr>
        <p:spPr>
          <a:xfrm>
            <a:off x="841248" y="2154936"/>
            <a:ext cx="274320" cy="274320"/>
          </a:xfrm>
          <a:prstGeom prst="roundRect">
            <a:avLst>
              <a:gd name="adj" fmla="val 26667"/>
            </a:avLst>
          </a:prstGeom>
          <a:solidFill>
            <a:srgbClr val="EAF7DC"/>
          </a:solidFill>
          <a:ln/>
        </p:spPr>
      </p:sp>
      <p:sp>
        <p:nvSpPr>
          <p:cNvPr id="12" name="Text 10"/>
          <p:cNvSpPr txBox="1"/>
          <p:nvPr/>
        </p:nvSpPr>
        <p:spPr>
          <a:xfrm>
            <a:off x="841248"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Hava direnci ihmal edildiğinde kütle hiç rol oynamaz.</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“Tepe noktada ivme sıfırdır.”</a:t>
            </a:r>
            <a:endParaRPr lang="en-US" sz="1600" dirty="0"/>
          </a:p>
        </p:txBody>
      </p:sp>
      <p:sp>
        <p:nvSpPr>
          <p:cNvPr id="18" name="Shape 16"/>
          <p:cNvSpPr/>
          <p:nvPr/>
        </p:nvSpPr>
        <p:spPr>
          <a:xfrm>
            <a:off x="6406744" y="2154936"/>
            <a:ext cx="274320" cy="274320"/>
          </a:xfrm>
          <a:prstGeom prst="roundRect">
            <a:avLst>
              <a:gd name="adj" fmla="val 26667"/>
            </a:avLst>
          </a:prstGeom>
          <a:solidFill>
            <a:srgbClr val="EAF7DC"/>
          </a:solidFill>
          <a:ln/>
        </p:spPr>
      </p:sp>
      <p:sp>
        <p:nvSpPr>
          <p:cNvPr id="19" name="Text 17"/>
          <p:cNvSpPr txBox="1"/>
          <p:nvPr/>
        </p:nvSpPr>
        <p:spPr>
          <a:xfrm>
            <a:off x="6406744"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Sıfır olan hızdır; ivme orada da g'dir.</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v = 2gh yazmak.</a:t>
            </a:r>
            <a:endParaRPr lang="en-US" sz="1600" dirty="0"/>
          </a:p>
        </p:txBody>
      </p:sp>
      <p:sp>
        <p:nvSpPr>
          <p:cNvPr id="25" name="Shape 23"/>
          <p:cNvSpPr/>
          <p:nvPr/>
        </p:nvSpPr>
        <p:spPr>
          <a:xfrm>
            <a:off x="841248" y="4486656"/>
            <a:ext cx="274320" cy="274320"/>
          </a:xfrm>
          <a:prstGeom prst="roundRect">
            <a:avLst>
              <a:gd name="adj" fmla="val 26667"/>
            </a:avLst>
          </a:prstGeom>
          <a:solidFill>
            <a:srgbClr val="EAF7DC"/>
          </a:solidFill>
          <a:ln/>
        </p:spPr>
      </p:sp>
      <p:sp>
        <p:nvSpPr>
          <p:cNvPr id="26" name="Text 24"/>
          <p:cNvSpPr txBox="1"/>
          <p:nvPr/>
        </p:nvSpPr>
        <p:spPr>
          <a:xfrm>
            <a:off x="841248"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Doğrusu </a:t>
            </a:r>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v² = 2gh</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karekök almayı unutma. Birim kontrolü bu hatayı hemen yakalar.</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İlk hızlı hareketi serbest düşme sanmak.</a:t>
            </a:r>
            <a:endParaRPr lang="en-US" sz="1600" dirty="0"/>
          </a:p>
        </p:txBody>
      </p:sp>
      <p:sp>
        <p:nvSpPr>
          <p:cNvPr id="32" name="Shape 30"/>
          <p:cNvSpPr/>
          <p:nvPr/>
        </p:nvSpPr>
        <p:spPr>
          <a:xfrm>
            <a:off x="6406744" y="4767072"/>
            <a:ext cx="274320" cy="274320"/>
          </a:xfrm>
          <a:prstGeom prst="roundRect">
            <a:avLst>
              <a:gd name="adj" fmla="val 26667"/>
            </a:avLst>
          </a:prstGeom>
          <a:solidFill>
            <a:srgbClr val="EAF7DC"/>
          </a:solidFill>
          <a:ln/>
        </p:spPr>
      </p:sp>
      <p:sp>
        <p:nvSpPr>
          <p:cNvPr id="33" name="Text 31"/>
          <p:cNvSpPr txBox="1"/>
          <p:nvPr/>
        </p:nvSpPr>
        <p:spPr>
          <a:xfrm>
            <a:off x="6406744"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v₀ ≠ 0 ise hareket düşey atıştır.</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1 : 3 : 5 ile 1 : 4 : 9'u karıştırmak.</a:t>
            </a:r>
            <a:endParaRPr lang="en-US" sz="1600" dirty="0"/>
          </a:p>
        </p:txBody>
      </p:sp>
      <p:sp>
        <p:nvSpPr>
          <p:cNvPr id="11" name="Shape 9"/>
          <p:cNvSpPr/>
          <p:nvPr/>
        </p:nvSpPr>
        <p:spPr>
          <a:xfrm>
            <a:off x="841248" y="2154936"/>
            <a:ext cx="274320" cy="274320"/>
          </a:xfrm>
          <a:prstGeom prst="roundRect">
            <a:avLst>
              <a:gd name="adj" fmla="val 26667"/>
            </a:avLst>
          </a:prstGeom>
          <a:solidFill>
            <a:srgbClr val="EAF7DC"/>
          </a:solidFill>
          <a:ln/>
        </p:spPr>
      </p:sp>
      <p:sp>
        <p:nvSpPr>
          <p:cNvPr id="12" name="Text 10"/>
          <p:cNvSpPr txBox="1"/>
          <p:nvPr/>
        </p:nvSpPr>
        <p:spPr>
          <a:xfrm>
            <a:off x="841248"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Birincisi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her aralıkta</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ikincisi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baştan itibaren toplam</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alınan yoldur.</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İşaretleri karıştırmak.</a:t>
            </a:r>
            <a:endParaRPr lang="en-US" sz="1600" dirty="0"/>
          </a:p>
        </p:txBody>
      </p:sp>
      <p:sp>
        <p:nvSpPr>
          <p:cNvPr id="18" name="Shape 16"/>
          <p:cNvSpPr/>
          <p:nvPr/>
        </p:nvSpPr>
        <p:spPr>
          <a:xfrm>
            <a:off x="6406744" y="2154936"/>
            <a:ext cx="274320" cy="274320"/>
          </a:xfrm>
          <a:prstGeom prst="roundRect">
            <a:avLst>
              <a:gd name="adj" fmla="val 26667"/>
            </a:avLst>
          </a:prstGeom>
          <a:solidFill>
            <a:srgbClr val="EAF7DC"/>
          </a:solidFill>
          <a:ln/>
        </p:spPr>
      </p:sp>
      <p:sp>
        <p:nvSpPr>
          <p:cNvPr id="19" name="Text 17"/>
          <p:cNvSpPr txBox="1"/>
          <p:nvPr/>
        </p:nvSpPr>
        <p:spPr>
          <a:xfrm>
            <a:off x="6406744"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Başta bir yön pozitif seçilir ve soru boyunca değiştirilmez. Aşağı pozitif seçtiysen yukarı hızlar negatif yazılır.</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Yüksekliği iki katına çıkarınca sürenin de iki katına çıktığını sanmak.</a:t>
            </a:r>
            <a:endParaRPr lang="en-US" sz="1600" dirty="0"/>
          </a:p>
        </p:txBody>
      </p:sp>
      <p:sp>
        <p:nvSpPr>
          <p:cNvPr id="25" name="Shape 23"/>
          <p:cNvSpPr/>
          <p:nvPr/>
        </p:nvSpPr>
        <p:spPr>
          <a:xfrm>
            <a:off x="841248" y="4767072"/>
            <a:ext cx="274320" cy="274320"/>
          </a:xfrm>
          <a:prstGeom prst="roundRect">
            <a:avLst>
              <a:gd name="adj" fmla="val 26667"/>
            </a:avLst>
          </a:prstGeom>
          <a:solidFill>
            <a:srgbClr val="EAF7DC"/>
          </a:solidFill>
          <a:ln/>
        </p:spPr>
      </p:sp>
      <p:sp>
        <p:nvSpPr>
          <p:cNvPr id="26" name="Text 24"/>
          <p:cNvSpPr txBox="1"/>
          <p:nvPr/>
        </p:nvSpPr>
        <p:spPr>
          <a:xfrm>
            <a:off x="841248"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Süre karekökle artar: 4 kat yükseklik → 2 kat süre.</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“Ağırlıksız hisseden astronotun ağırlığı yoktur.”</a:t>
            </a:r>
            <a:endParaRPr lang="en-US" sz="1600" dirty="0"/>
          </a:p>
        </p:txBody>
      </p:sp>
      <p:sp>
        <p:nvSpPr>
          <p:cNvPr id="32" name="Shape 30"/>
          <p:cNvSpPr/>
          <p:nvPr/>
        </p:nvSpPr>
        <p:spPr>
          <a:xfrm>
            <a:off x="6406744" y="4767072"/>
            <a:ext cx="274320" cy="274320"/>
          </a:xfrm>
          <a:prstGeom prst="roundRect">
            <a:avLst>
              <a:gd name="adj" fmla="val 26667"/>
            </a:avLst>
          </a:prstGeom>
          <a:solidFill>
            <a:srgbClr val="EAF7DC"/>
          </a:solidFill>
          <a:ln/>
        </p:spPr>
      </p:sp>
      <p:sp>
        <p:nvSpPr>
          <p:cNvPr id="33" name="Text 31"/>
          <p:cNvSpPr txBox="1"/>
          <p:nvPr/>
        </p:nvSpPr>
        <p:spPr>
          <a:xfrm>
            <a:off x="6406744"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Yerçekimi oradadır; ağırlıksızlık, astronotun ve istasyonun birlikte serbest düşmesinden doğar.</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Dünya'da </a:t>
            </a:r>
            <a:pPr indent="0" marL="0">
              <a:buNone/>
            </a:pPr>
            <a:r>
              <a:rPr lang="en-US" sz="1500" b="1" dirty="0">
                <a:solidFill>
                  <a:srgbClr val="FFFFFF"/>
                </a:solidFill>
                <a:latin typeface="Calibri" pitchFamily="34" charset="0"/>
                <a:ea typeface="Calibri" pitchFamily="34" charset="-122"/>
                <a:cs typeface="Calibri" pitchFamily="34" charset="-120"/>
              </a:rPr>
              <a:t>g = 9,81 m/s²</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Kütle </a:t>
            </a:r>
            <a:pPr indent="0" marL="0">
              <a:buNone/>
            </a:pPr>
            <a:r>
              <a:rPr lang="en-US" sz="1500" b="1" dirty="0">
                <a:solidFill>
                  <a:srgbClr val="FFFFFF"/>
                </a:solidFill>
                <a:latin typeface="Calibri" pitchFamily="34" charset="0"/>
                <a:ea typeface="Calibri" pitchFamily="34" charset="-122"/>
                <a:cs typeface="Calibri" pitchFamily="34" charset="-120"/>
              </a:rPr>
              <a:t>fark etmez</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Yol </a:t>
            </a:r>
            <a:pPr indent="0" marL="0">
              <a:buNone/>
            </a:pPr>
            <a:r>
              <a:rPr lang="en-US" sz="1500" b="1" dirty="0">
                <a:solidFill>
                  <a:srgbClr val="FFFFFF"/>
                </a:solidFill>
                <a:latin typeface="Calibri" pitchFamily="34" charset="0"/>
                <a:ea typeface="Calibri" pitchFamily="34" charset="-122"/>
                <a:cs typeface="Calibri" pitchFamily="34" charset="-120"/>
              </a:rPr>
              <a:t>t² ile</a:t>
            </a:r>
            <a:pPr indent="0" marL="0">
              <a:buNone/>
            </a:pPr>
            <a:r>
              <a:rPr lang="en-US" sz="1500" dirty="0">
                <a:solidFill>
                  <a:srgbClr val="C3CEE8"/>
                </a:solidFill>
                <a:latin typeface="Calibri" pitchFamily="34" charset="0"/>
                <a:ea typeface="Calibri" pitchFamily="34" charset="-122"/>
                <a:cs typeface="Calibri" pitchFamily="34" charset="-120"/>
              </a:rPr>
              <a:t> artar</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Eşit sürelerde </a:t>
            </a:r>
            <a:pPr indent="0" marL="0">
              <a:buNone/>
            </a:pPr>
            <a:r>
              <a:rPr lang="en-US" sz="1500" b="1" dirty="0">
                <a:solidFill>
                  <a:srgbClr val="FFFFFF"/>
                </a:solidFill>
                <a:latin typeface="Calibri" pitchFamily="34" charset="0"/>
                <a:ea typeface="Calibri" pitchFamily="34" charset="-122"/>
                <a:cs typeface="Calibri" pitchFamily="34" charset="-120"/>
              </a:rPr>
              <a:t>1 : 3 : 5</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v = g · t</a:t>
            </a:r>
            <a:endParaRPr lang="en-US" sz="1350" dirty="0"/>
          </a:p>
        </p:txBody>
      </p:sp>
      <p:sp>
        <p:nvSpPr>
          <p:cNvPr id="16" name="Text 14"/>
          <p:cNvSpPr txBox="1"/>
          <p:nvPr/>
        </p:nvSpPr>
        <p:spPr>
          <a:xfrm>
            <a:off x="8183880" y="239572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hız, süreyle doğru orantılı</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1746504"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h = ½ · g · t²</a:t>
            </a:r>
            <a:endParaRPr lang="en-US" sz="1350" dirty="0"/>
          </a:p>
        </p:txBody>
      </p:sp>
      <p:sp>
        <p:nvSpPr>
          <p:cNvPr id="19" name="Text 17"/>
          <p:cNvSpPr txBox="1"/>
          <p:nvPr/>
        </p:nvSpPr>
        <p:spPr>
          <a:xfrm>
            <a:off x="8467344" y="3218688"/>
            <a:ext cx="2901391"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yol, sürenin karesiyle</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746504"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v² = 2 · g · h</a:t>
            </a:r>
            <a:endParaRPr lang="en-US" sz="1350" dirty="0"/>
          </a:p>
        </p:txBody>
      </p:sp>
      <p:sp>
        <p:nvSpPr>
          <p:cNvPr id="22" name="Text 20"/>
          <p:cNvSpPr txBox="1"/>
          <p:nvPr/>
        </p:nvSpPr>
        <p:spPr>
          <a:xfrm>
            <a:off x="8467344" y="4041648"/>
            <a:ext cx="2901391"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süre bilinmiyorsa</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641348"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t = √(2h / g)</a:t>
            </a:r>
            <a:endParaRPr lang="en-US" sz="1350" dirty="0"/>
          </a:p>
        </p:txBody>
      </p:sp>
      <p:sp>
        <p:nvSpPr>
          <p:cNvPr id="25" name="Text 23"/>
          <p:cNvSpPr txBox="1"/>
          <p:nvPr/>
        </p:nvSpPr>
        <p:spPr>
          <a:xfrm>
            <a:off x="8362188" y="4864608"/>
            <a:ext cx="3006547"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düşme süresi</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dersler.perinet.org/serbest-dusme.html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02 · İki boyutta sabit ivmeli hareket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Serbest düşme — Dersler</dc:title>
  <dc:subject>Fizik · Kuvvet ve Hareket</dc:subject>
  <dc:creator>Dersler</dc:creator>
  <cp:lastModifiedBy>Dersler</cp:lastModifiedBy>
  <cp:revision>1</cp:revision>
  <dcterms:created xsi:type="dcterms:W3CDTF">2026-09-30T06:41:00Z</dcterms:created>
  <dcterms:modified xsi:type="dcterms:W3CDTF">2026-09-30T06:41:00Z</dcterms:modified>
</cp:coreProperties>
</file>