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Lst>
  <p:notesMasterIdLst>
    <p:notesMasterId r:id="rId10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notesMaster" Target="notesMasters/notesMaster1.xml"/><Relationship Id="rId110" Type="http://schemas.openxmlformats.org/officeDocument/2006/relationships/presProps" Target="presProps.xml"/><Relationship Id="rId111" Type="http://schemas.openxmlformats.org/officeDocument/2006/relationships/viewProps" Target="viewProps.xml"/><Relationship Id="rId112" Type="http://schemas.openxmlformats.org/officeDocument/2006/relationships/theme" Target="theme/theme1.xml"/><Relationship Id="rId1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
Kapak görseli: Apollo 15, 1971. Astronot David Scott Ay'da bir çekiçle bir şahin tüyünü aynı anda bıraktı. Ay'da onları yavaşlatacak hava olmadığı için ikisi yan yana düştü ve toza aynı anda değdi. Bu anlatımın bütün hikâyesi bu sahnede saklı: düşüşü kütle değil, yalnızca yerçekimi ve geçen süre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düşen bir cisme bak, ne yaptığını gör ve adını koy. Bu basamakta hesap yok denecek kadar az.
   01 Önce gözlemle: düşen bir cisim ne yapar?
   02 Serbest düşme nedir?
   03 Kütle neden fark etmez?
2. Orta — Bağıntılar ve grafikler: gözlediğini sayılara dök, bir büyüklükten ötekine geç.
   04 Temel bağıntılar
   05 Sayılarla hisset: ne kadar hızlı, ne kadar sürede?
   06 Grafikler ve yorumu
   07 Eşit zaman aralıkları: 1 : 3 : 5 kuralı
3. İleri — Derinleşme: cisim atılınca, hava işe karışınca ve serbest düşme gerçek hayata çıkınca ne olur?
   08 Düşey atış: yukarı fırlatınca ne değişir?
   09 Gerçekte hava direnci ve limit hız
   10 Serbest düşme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bir cismin bir saniyede aldığı yol. Metre/saniye (m/s) ile ölçülür; 10 m/s, “her saniye 10 metre” demektir.
• Hızlanmak: hızın zamanla artması. Yokuş aşağı bırakılan bir bisiklet kendiliğinden giderek hızlanır.
• Kuvvet: bir cismi itmek ya da çekmek. Newton (N) ile ölçülür; bir cisme kuvvet uygulanınca hızı değişir.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Ağırlık: Dünya'nın bir cismi kendine doğru çekme kuvveti. Kütlesi büyük olan cismin ağırlığı da büyüktür.
• Kare ve karekök: 3² = 3 · 3 = 9 ve √9 = 3. Formüllerde t² “t'nin karesi” diye okunur.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düşen bir cisme bak, ne yaptığını gör ve adını koy. Bu basamakta hesap yok denecek kadar az.
01 Önce gözlemle: düşen bir cisim ne yapar?
02 Serbest düşme nedir?
03 Kütle neden fark etmez?
Görsel: Düşen bir elmanın eşit zaman aralıklarıyla çekilmiş görüntüleri. Elma her aralıkta bir öncekinden daha uzun yol alıyor; ilk görüntüler neredeyse üst üste binerken sonrakiler iyice açılıyor. Bu görselde aralıklar tam olarak 1 : 3 : 5 oranında: elmaların konumları y = ½·g·t² bağıntısına göre yerleştirildi. Bu kuralı ikinci basamakta kanıtlayacağız.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 adım 1/4
• Elindeki anahtarı bırak.
• Önce yavaş ayrılır, sonra giderek hızlanarak yere çarpar.
• Bu hızlanmayı gözle izlemek zordur, çünkü her şey bir saniyeden kısa sürer.
• Fizikçiler bu yüzden düşüşü strobo fotoğrafla incelemeyi sever: karanlık bir odada, eşit aralıklarla (örneğin saniyede on kez) yanıp sönen bir ışık altında tek bir fotoğraf çekilir ve cismin her an bulunduğu yer aynı karede üst üste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 adım 2/4
• Böyle bir fotoğrafta ilk dikkat çeken şey şudur: görüntüler arasındaki boşluklar eşit değildir, aşağı indikçe açılır.
• Eşit sürelerde giderek daha uzun yol alınıyorsa cisim hızlanıyor demektir.
• Sabit hızla giden bir araba aynı yöntemle fotoğraflansaydı görüntüler cetvel çizgileri gibi eşit aralıklı dizilirdi.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 adım 3/4
• Düşen her cisimde, hava direnci küçük kaldığı sürece, aynı üç şey gözlenir:
• Doğrultu düşeydir: cisim şakül ipi gibi dümdüz aşağı iner.
• Hız sürekli artar: her saniye bir önceki saniyeden daha hızlıdır.
• Hızlanma herkes için aynıdır: bilye de taş da anahtar da aynı biçimde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 adım 4/4
• Üçüncü madde sezgimize en ters gelenidir; bu yüzden ona ayrı bir başlık ayıracağız.
• Önce gözlediğimiz harekete bir ad verelim.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Düşen bir cisim düşey doğrultuda ve giderek hızlanarak iner. Eşit sürelerde alınan yolların büyümesi bu hızlanmanın izidir.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Musluktan eşit aralıklarla damlayan su damlaları aşağı indikçe neden birbirinden uzaklaşır?
Sınıfa sorun, birkaç tahmin alın; sonra cevap slaytına geçin.
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1/7
• Bir cisim ilk hızsız olarak bırakıldığında ve üzerine yalnızca yerçekimi kuvveti etki ettiğinde yaptığı harekete serbest düşme denir.
• Hareket düşey doğrultudadır, aşağı yöndedir ve ivmesi sabittir.
• “Serbest” sözcüğü cismin hiçbir şeye (ipe, ele, havaya) takılmadan, yalnızca yerçekimine bırakıldığını anlatır.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2/7
• Bir hareketin “serbest düşme” sayılması için üç koşul aranır:
• İlk hız sıfırdır (v₀ = 0): cisim atılmaz, bırakılır.
• Hava direnci ihmal edilir; tek kuvvet ağırlıktır (G = m·g).
• İvme sabittir ve yerçekimi ivmesi g'ye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3/7
İvme ne demek?
• İvme, hızın her saniye ne kadar değiştiğini söyler.
• Dünya'da g yaklaşık 10 m/s²'dir: bunu “her saniye hız 10 m/s artar” diye okuyabilirsin.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4/7
• Serbest bırakılan bir cismin hızını saniye saniye yazmak için hiçbir formül gerekmez, yalnızca her saniye 10 eklemek yeter:
Geçen süre | Hız | O saniyede alınan yol | Toplam yol
0 s | 0 m/s | — | 0 m
1 s | 10 m/s | 5 m | 5 m
2 s | 20 m/s | 15 m | 20 m
3 s | 30 m/s | 25 m | 45 m
4 s | 40 m/s | 35 m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5/7
• Her saniye alınan yol, o saniyenin ortalama hızı kadardır: ilk saniyede hız 0'dan 10'a çıktığı için ortalama 5 m/s, yol 5 m; ikinci saniyede 10'dan 20'ye, ortalama 15 m/s, yol 15 m.
• Tablonun son sütunu, bir sonraki basamakta çıkaracağımız formülün sonucunu şimdiden veriyor.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adım 6/7
g ne kadar? Dünya yüzeyinde ortalama 9,81 m/s²'dir; ekvatorda 9,78, kutuplarda 9,83 civarına iner-çıkar. İşlem kolaylığı için problemlerde çoğunlukla g = 10 m/s² alınır. Ay'da 1,62 · Mars'ta 3,72 · Jüpiter'de 24,79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 şekil
Üç koşul tek karede: cisim ilk hızsız bırakılır, üzerindeki tek kuvvet ağırlıktır, bu yüzden ivmesi sabit kalır ve g'ye eşit olur. Eşit sürelerle çekilmiş strobo görüntülerinin arası sürekli açılıyor; çünkü hız her saniye aynı miktarda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Serbest düşme, ilk hızsız bırakılan ve yalnızca ağırlığın etkisindeki bir cismin hareketidir. İvmesi sabittir ve g'ye eşittir: hız her saniye yaklaşık 10 m/s artar.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 adım 1/5
• Sezgi “ağır olan daha hızlı düşer” der.
• Aristoteles de böyle düşünüyordu ve bu fikir yaklaşık iki bin yıl boyunca genel kabul gördü.
• Galileo ise 1600'lerde bunu basit bir düşünce deneyiyle çürüttü: ağır bir taşla hafif bir taşı iple birbirine bağlayalım.
• Hafif taş daha yavaş düşmek isteyeceği için ağır olanı frenler; o zaman ikili, ağır taştan yavaş düşmeli.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 adım 2/5
• Ama ikili tek başına ağır taştan daha ağırdır; o zaman daha hızlı düşmeli.
• Aynı öncül iki zıt sonuç veriyorsa öncül yanlıştır: düşüş hızı ağırlığa bağlı olamaz.
• Newton'un ikinci yasası aynı sonucu hesapla gösterir.
• Düşen cisme etki eden tek kuvvet ağırlığıdır:
F = m · a   m · g = m · a   a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 adım 3/5
• Kütle eşitliğin iki yanında da bulunduğu için sadeleşir.
• Ağır cisim daha çok çekilir, ama aynı oranda da harekete direnir (eylemsizliği fazladır); iki etki birbirini tam olarak götürür.
• Sonuç: 10 gramlık bilye ile 10 kiloluk gülle aynı anda yere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 adım 4/5
• 1971'de Apollo 15 astronotu David Scott, havasız Ay yüzeyinde bir şahin tüyü ile alüminyum çekici aynı anda bıraktı; ikisi de aynı anda toza değdi.
• Günlük hayatta tüyün geride kalmasının sebebi kütlesi değil, hava direncidir: tüy çok hafif ama yüzeyi geniştir, bu yüzden hava onu ağırlığına oranla çok daha güçlü frenler.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 şekil
Ağır cisim daha büyük bir kuvvetle çekilir (m·g), ama tam o oranda harekete de direnir (m·a). Kütle eşitliğin iki yanında da bulunduğu için sadeleşir ve geriye yalnızca a = g kalır. Bu yüzden 8 kat ağır olan cisim, hafif olanla hep aynı hizada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 direnci yoksa bütün cisimler aynı ivmeyle düşer, çünkü ağırlık ve eylemsizlik kütleyle aynı oranda büyür ve m·g = m·a eşitliğinde kütle sadeleşir.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Ağır cisme daha büyük bir kuvvet etki ediyorsa, neden daha hızlı düşmüyor?
Sınıfa sorun, birkaç tahmin alın; sonra cevap slaytına geçin.
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ve grafikler: gözlediğini sayılara dök, bir büyüklükten ötekine geç.
04 Temel bağıntılar
05 Sayılarla hisset: ne kadar hızlı, ne kadar sürede?
06 Grafikler ve yorumu
07 Eşit zaman aralıkları: 1 : 3 : 5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1/7
• Aşağı yönü pozitif alalım: v₀ = 0, a = g.
• Sabit ivmeli hareketin denklemleri doğrudan serbest düşmenin denklemlerine dönüşür (h: alınan yol, t: düşme süresi):
v = g · t   h = ½ · g · t²   v² = 2 · g · h   t = √(2h / g)   vort = h / t = v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2/7
Formüldeki harfler ne anlama geliyor?
Sembol | Anlamı | Birimi
v | cismin o anki hızı | m/s
g | yerçekimi ivmesi (Dünya'da yaklaşık 10) | m/s²
t | cisim bırakıldığından beri geçen süre | s
h | alınan yol, yani düşülen yükseklik | m
v₀ | ilk hız (serbest düşmede sıfır) |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3/7
Bağıntılar nereden geliyor?
• Hiçbirini ezberlemek gerekmez; üçü de ivmenin tanımından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4/7
• Hız: İvme “her saniye hıza eklenen miktar” olduğuna göre t saniye sonra hız g'nin t katıdır: v = g·t. Tablodaki 10, 20, 30 m/s tam olarak budur.
• Yol: Hız düzgün arttığı için ortalama hız, ilk ve son hızın ortalamasıdır: (0 + g·t)/2. Yol = ortalama hız × süre = (g·t/2)·t, yani h = ½·g·t².
• Süresiz bağıntı: İlk bağıntıdan t = v/g yazıp ikinciye koyarsak h = ½·g·(v/g)² = v²/(2g), yani v² = 2·g·h. Süre sorulmayan sorularda doğrudan bu bağıntıyı kullanmak en kısa yoldur.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5/7
Birim kontrolü: Bir bağıntıyı doğru hatırlayıp hatırlamadığını birimlerle sınayabilirsin. g·t için (m/s²)·s = m/s çıkar, bu bir hızdır ✓. ½·g·t² için (m/s²)·s² = m çıkar, bu bir yoldur ✓. “v = 2gh” yazsaydın sağ taraf m²/s² çıkardı; hız değil hızın karesi — hatanı birim yakalar.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şekil
Serbest düşmede üç büyüklük vardır ve her ikisini birbirine bir kenar bağlar. Soruda hangi ikisi geçiyorsa o kenardaki bağıntıyı kullan: süre ile hız arasında v = g·t, süre ile yol arasında h = ½g·t², sürenin hiç geçmediği sorularda v² = 2gh.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 adım 7/7
Soruda verilenler | İstenen | Kullan
Süre | Hız | v = g·t
Süre | Yükseklik | h = ½·g·t²
Yükseklik | Çarpma hızı | v² = 2·g·h
Yükseklik | Düşme süresi | t = √(2h/g)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v = g·t, h = ½·g·t² ve v² = 2·g·h ivmenin tanımından çıkar. Soruda hangi iki büyüklük geçiyorsa onları bağlayan bağıntıyı seç; süre yoksa v² = 2gh.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adım 1/6
• Formüller soyut kalmasın; tanıdık yüksekliklerden bırakılan bir cismin ne kadar sürede ve hangi hızla yere ulaştığına bakalım (g = 10 m/s², hava direnci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adım 2/6
Nereden | Yükseklik | Düşme süresi | Çarpma hızı
Masadan | 0,8 m | 0,4 s | 4 m/s (14 km/h)
İkinci kat balkonundan | 5 m | 1 s | 10 m/s (36 km/h)
Altı katlı binadan | 20 m | 2 s | 20 m/s (72 km/h)
On beş katlı binadan | 45 m | 3 s | 30 m/s (108 km/h)
Kırk katlı binadan | 125 m | 5 s | 50 m/s (180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adım 3/6
• Tablodan hemen okunan bir düzen var: yükseklik 4 katına çıkınca süre ve hız yalnızca 2 katına çıkıyor (5 m → 20 m: 1 s → 2 s).
• Çünkü süre de hız da yüksekliğin kareköküyle büyür.
• 125 m, 5 m'nin 25 katıdır; süre ise √25 = 5 katıdır.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adım 4/6
• Bu tabloyu tersinden de okuyabilirsin: çarpma hızını ikiye katlamak için yüksekliği dört katına çıkarmak gerekir.
• Bir de süreye bak: 125 metrelik düşüş bile yalnızca 5 saniye sürüyor.
• Serbest düşme, gündelik hayatta gördüğümüz en hızlı gelişen hareketlerden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adım 5/6
Kendi tepki süreni ölç: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 şekil
Cetvel bırakıldığı anda serbest düşmeye başlar ve yakalanana kadar düştüğü mesafe, geçen süreyi söyler: t = √(2d / g). Cetvel parmaklarının arasından ne kadar çok kayarsa tepki süren o kadar uzundur; 20 cm yaklaşık 0,2 saniye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Süre ve çarpma hızı yüksekliğin kareköküyle büyür: 4 kat yükseklik 2 kat süre ve 2 kat hız demektir. 5 m'den düşüş 1 s, 45 m'den düşüş 3 s sürer.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5 m yükseklikten düşüş 1 s sürüyorsa, 20 m yükseklikten kaç saniye sürer?
Sınıfa sorun, birkaç tahmin alın; sonra cevap slaytına geçin.
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 adım 1/5
• Sayfadaki laboratuvarın altında bu üç grafik canlı çiziliyor.
• Ezberlemek yerine eğim–alan ilişkisini kurmak yeterli: bir grafiğin eğimi bir üstteki büyüklüğü, altındaki alan bir alttaki büyüklüğü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 şekil
Üç grafiği ezberlemek yerine birbirine bağla: bir grafiğin eğimi bir üsttekini, altındaki alan bir alttakini verir. v–t doğrusunun altındaki üçgenin alanı ½·t·(g·t) = ½g·t²'dir — yani tam olarak alınan yol. Sayfadaki laboratuvarın altında bu üç grafik sen izlerken çiziliyor.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 adım 3/5
Grafik | Şekli | Eğimi | Altındaki alan
a – t | Zaman eksenine paralel doğru (a = g) | Sıfır | Hız değişimi (Δv)
v – t | Orijinden geçen doğru (v = g·t) | İvme, g | Alınan yol (h)
h – t | Yukarı açılan parabol (h = ½g·t²) | O andaki anlık hız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 adım 4/5
• v – t doğrusunun altındaki üçgenin alanı ½·t·(g·t) = ½·g·t² eder; bu da tam olarak alınan yoldur.
• Grafikler birbirini böyle doğrular.
• Bir grafik sorusunda üç adımı sırayla uygula: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 adım 5/5
• Eksenleri oku: düşey eksende ne var (a, v, h)? Birimi ne?
• Şekli tanı: yatay doğru sabit, eğik doğru düzgün değişen, parabol karesel büyüyen bir büyüklük demektir.
• Eğime ya da alana bak: soru bir üst büyüklüğü soruyorsa eğim, bir alt büyüklüğü soruyorsa alan hesapla.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Serbest düşmede a–t yatay, v–t orijinden geçen eğik bir doğru, h–t yukarı açılan bir paraboldür. Eğim bir üst büyüklüğü, alan bir alt büyüklüğü verir.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 adım 1/4
• Düşüşü eşit süreli dilimlere bölelim (her biri Δt).
• İlk dilimde alınan yol h = ½·g·Δt² olsun.
• O zaman ardışık dilimlerde alınan yollar:
1h : 3h : 5h : 7h : 9h   (tek sayılar)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 adım 2/4
• Baştan itibaren toplam yollar ise 1h, 4h, 9h, 16h, 25h olur — yani 1 : 4 : 9 : 16, sürenin karesiyle orantılı.
• İki dizi de aynı şeyi söyler: toplam yollardaki farkları alırsan tek sayıları bulursun.
• Neden tek sayılar?
• Çünkü ardışık iki karenin farkı her zaman tek sayıdır: n² − (n−1)² = 2n − 1.
• 4 − 1 = 3, 9 − 4 = 5, 16 − 9 =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 adım 3/4
• Hızlar da eşit sürelerde eşit miktarda artar: Δt sonunda g·Δt, 2Δt sonunda 2g·Δt… yani 1 : 2 : 3 : 4.
• Bu üç diziyi karıştırmamak sınavda zaman kazandırır.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 şekil
Aynı düşüşün üç ayrı okuması. Her aralıkta alınan yollar tek sayılarla gider (1 : 3 : 5 : 7); baştan itibaren toplam yol sürenin karesiyle büyür (1 : 4 : 9 : 16); hız ise eşit adımlarla artar (1 : 2 : 3 : 4). Toplam yollardaki farkları alırsan tek sayıları bulursun — üç dizi aynı hareketi anlatır.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Eşit süre dilimlerinde alınan yollar 1 : 3 : 5 : 7, baştan itibaren toplam yollar 1 : 4 : 9 : 16, hızlar 1 : 2 : 3 : 4 oranında gider.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cisim atılınca, hava işe karışınca ve serbest düşme gerçek hayata çıkınca ne olur?
08 Düşey atış: yukarı fırlatınca ne değişir?
09 Gerçekte hava direnci ve limit hız
10 Serbest düşme gerçek dünyada
Görsel: Lunaparktaki düşme kulesi, serbest düşmeyi birkaç saniyeliğine yaşatır. 45 metrelik bir düşüş yaklaşık 3 saniye sürer ve koltuklar 108 km/h hıza ulaşır; ardından mıknatıslı frenler yumuşakça devreye girer. Düşüş boyunca koltuk yolcuyu itmez, yolcu kendini ağırlıksız hisseder.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 adım 1/5
• Cismi v₀ hızıyla yukarı atarsan artık “serbest düşme” değil düşey atış olur; ama ivme yine g'dir ve yine aşağı yöndedir.
• Yukarı çıkarken hız ile ivme zıt yönlü olduğu için cisim yavaşlayarak çıkar: her saniye hızından 10 m/s kaybeder.
• Tepe noktada hızı sıfırlanır, sonra serbest düşmeye başlar.
hmaks = v₀² / (2g)   tçıkış = v₀ / g   ttoplam = 2v₀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 adım 2/5
• Hareket simetriktir: çıkış süresi iniş süresine eşittir ve cisim aynı yükseklikten geçerken hızının büyüklüğü çıkışta da inişte de aynıdır, yalnızca yönü terstir.
• Atıldığı noktaya döndüğünde sürati v₀'a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 adım 3/5
İşaret seçimi
• Atış problemlerinde en sık hata işaretlerde yapılır.
• Başta bir yönü pozitif seç ve soru boyunca değiştirme.
• Yukarıyı pozitif seçersen v₀ pozitif, g negatif olur: v = v₀ − g·t ve h = v₀·t − ½·g·t².
• Bu denklemlerde h negatif çıkarsa cisim atıldığı noktanın altına inmiş demektir; bu bir hata değil, balkondan atışlarda beklenen sonuçtur.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 adım 4/5
• Cisim aşağı doğru v₀ hızıyla atılırsa hız ile ivme aynı yöndedir; cisim baştan itibaren hızlanır.
• Aşağıyı pozitif alarak v = v₀ + g·t ve h = v₀·t + ½·g·t² yazılır.
• Serbest düşme, bu denklemlerin v₀ = 0 olduğu özel hâlidir.
Tepe noktada ivme sıfır değildir. Hız sıfırdır, ivme hâlâ g'dir ve aşağı doğrudur. İvme sıfır olsaydı cisim orada asılı kalırdı.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 şekil
Düşey atış, serbest düşmenin aynadaki görüntüsüdür: çıkış süresi iniş süresine eşittir ve cisim aynı yükseklikten geçerken süratinin büyüklüğü iki geçişte de aynıdır. Tepe noktada hız sıfırlanır ama ivme sıfırlanmaz — sarı oklar her yerde aynı boydadır. İvme orada gerçekten sıfır olsaydı cisim havada asılı kalırdı.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Düşey atışta ivme her an g'dir ve aşağı yönlüdür; çıkış iniş simetriktir, tepe noktada yalnızca hız sıfırlanır. Başta seçtiğin pozitif yönü soru boyunca koru.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Balkondan bir top aynı süratle bir kez yukarı, bir kez aşağı atılıyor. Hangisi yere daha hızlı çarpar?
Sınıfa sorun, birkaç tahmin alın; sonra cevap slaytına geçin.
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 adım 1/5
• Şimdiye kadar hava direncini ihmal ettik.
• Hava direnci hıza bağlı olarak artan, harekete ters yönlü bir kuvvettir.
• Cisim hızlandıkça direnç büyür; ağırlığa eşitlendiği anda net kuvvet sıfırlanır, ivme biter ve cisim sabit hızla düşmeye devam eder.
• Bu sabit hıza limit hız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 adım 2/5
• Bu kuvvet olmasaydı yağmurun altında durmak hayli tehlikeli olurdu: yağmur bulutları yaklaşık 2 km yüksekte olduğuna göre, damlalar yere v = √(2·9,81·2000) ≈ 198 m/s hızla — saatte 700 kilometreyi aşan bir hızla — çarpardı.
• Hava direnci sayesinde bu hız 8–9 m/s'de kalıyor.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 adım 3/5
• Yağmur damlası: yaklaşık 8–9 m/s
• Paraşütsüz atlayan bir insan: yaklaşık 55 m/s
• Paraşüt açıldığında: yaklaşık 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 adım 4/5
• Yüzey alanı büyük, kütlesi küçük cisimler (tüy, kâğıt, tüy topu) limit hıza çok çabuk ulaşır; bu yüzden “yavaş düşüyor” gibi görünürler.
• Havası boşaltılmış bir tüpte bu fark tamamen kaybolur.
• Günlük hızlarda (birkaç metreden bırakılan bilye, taş, top) hava direnci ağırlığın yanında küçük kalır; serbest düşme bağıntıları bu yüzden gerçek sonuca çok yakın sonuç verir.
• Hava direncinin ayrıntıları bu ünitenin “Limit hız” konusunda.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 şekil
Hava direnci hız arttıkça büyür. Ağırlığa eşitlendiği anda net kuvvet sıfırlanır, ivme biter ve cisim sabit hızla düşmeye devam eder. v–t eğrisi bu yüzden düz bir doğru olarak başlayıp yatay bir çizgiye doğru yatar; mor kesikli çizgi hava direnci hiç olmasaydı hızın nereye gideceğini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Havada düşen bir cisimde direnç hızla büyür ve ağırlığa eşitlenince cisim limit hızla sabit düşer. Kısa düşüşlerde ve yoğun cisimlerde bu etki küçüktür; serbest düşme iyi bir yaklaşımdır.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gerçek dünyada — adım 1/3
• Serbest düşme yalnızca ders kitabı problemi değildir; lunaparktan uzay araştırmalarına kadar bilerek kullanılır.
• Ortak noktaları şu: cisim ve içindeki her şey aynı ivmeyle düştüğü sürece birbirine bastırmaz.
• Bu duyguya ağırlıksızlık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gerçek dünyada — adım 2/3
• Düşme kuleleri ve tüpleri: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
• Parabolik uçuşlar: Astronot adayları, bir uçağın motor gücünü ayarlayarak kendisini bir atış yörüngesine bıraktığı uçuşlarda, her seferinde yaklaşık 20 saniye ağırlıksız kalır. Uçak ve içindekiler birlikte serbest hareket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gerçek dünyada — adım 3/3
• g'yi ölçmek: Bir cismin bilinen bir yüksekliği kaç saniyede düştüğü ölçülürse g = 2h/t² ile yerçekimi ivmesi bulunur. Jeologlar g'deki çok küçük farkları ölçerek yer altındaki maden ve petrol yataklarını arar.
• Uzay istasyonundaki astronotlar da aynı nedenle süzülür.
• İstasyonun bulunduğu yaklaşık 400 km yükseklikte yerçekimi ivmesi hâlâ 8,7 m/s² civarındadır, yani yeryüzündekinin yaklaşık %89'u.
• İstasyon ve içindeki her şey Dünya'nın çevresinde sürekli olarak birlikte düşer; yalnızca yana doğru o kadar hızlı gider ki yere hiç ulaşamaz.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ivmeyle birlikte düşen cisimler birbirine bastırmaz ve ağırlıksızlık hissedilir. Düşme kuleleri, parabolik uçuşlar ve uzay istasyonu bu ilkeyle çalışır.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Düşen bir asansörün içinde elinden bıraktığın anahtar ne yapar?
Sınıfa sorun, birkaç tahmin alın; sonra cevap slaytına geçin.
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2 saniye sonra hız ve yol
Bir köprüden serbest bırakılan taş 2 saniye sonra suya çarpıyor. (a) Taşın suya çarpma hızını, (b) köprünün su yüzeyinden yüksekliğini bulunuz.
Verilenler: v₀ = 0 (taş serbest bırakılıyor) · t = 2 s · g = 10 m/s²
İstenen: (a) suya çarpma hızı v · (b) köprünün yüksekliği 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2 saniye sonra hız ve yol — çözüm
1. (a) Hız her saniye 10 m/s artar: v = g·t = 10 · 2 = 20 m/s
2. (b) h = ½·g·t² = ½ · 10 · 2² = 20 m
3. Kontrol: ortalama hız (0 + 20)/2 = 10 m/s, 2 saniyede 10 · 2 = 20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45 m yükseklikten bırakılan cisim
45 m yüksekten serbest bırakılan bir cisim için: (a) düşme süresini, (b) yere çarpma hızını, (c) hareketin 2. saniyesinde aldığı yolu bulunuz.
Verilenler: h = 45 m · v₀ = 0 · g = 10 m/s²
İstenen: (a) düşme süresi t · (b) çarpma hızı v · (c) 2. saniyede alınan yol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45 m yükseklikten bırakılan cisim — çözüm
1. (a) h = ½·g·t² → 45 = ½·10·t² → t² = 9 → t = 3 s
2. (b) v = g·t = 10 · 3 → v = 30 m/s (kontrol: v² = 2gh = 2·10·45 = 900 → v = 30 m/s ✓)
3. (c) İlk 2 s'de 20 m, ilk 1 s'de 5 m alınır; fark 15 m'dir. 1 : 3 : 5 kuralıyla da ikinci saniyenin payı 3h = 3·5 = 15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yükseklik, farklı gökcismi
10 m yüksekten bırakılan bir cisim Dünya'da ve Ay'da kaç saniyede yere iner? (gDünya = 9,81 m/s², gAy = 1,62 m/s²)
Verilenler: h = 10 m · v₀ = 0 · gDünya = 9,81 m/s² · gAy = 1,62 m/s²
İstenen: iki gökcisminde düşme süreleri ve oranları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yükseklik, farklı gökcismi — çözüm
1. t = √(2h / g) bağıntısı kullanılır.
2. Dünya: t = √(20 / 9,81) ≈ 1,43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yükseklik, farklı gökcismi — çözüm
3. Ay: t = √(20 / 1,62) ≈ 3,51 s
4. Oran: √(9,81 / 1,62) ≈ 2,46 → Ay'da düşüş yaklaşık 2,5 kat uzun sürer. Laboratuvardaki gökcismi düğmeleriyle bunu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20 m/s ile yukarı atılan cisim
Yerden 20 m/s hızla düşey yukarı atılan cisim için: (a) çıkabileceği en büyük yüksekliği, (b) havada kalma süresini, (c) 15 m yükseklikteki süratini bulunuz.
Verilenler: v₀ = 20 m/s (yukarı) · g = 10 m/s² (aşağı)
İstenen: (a) en büyük yükseklik hmaks · (b) havada kalma süresi · (c) 15 m'deki sürat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20 m/s ile yukarı atılan cisim — çözüm
1. (a) hmaks = v₀² / (2g) = 400 / 20 = 20 m
2. (b) tçıkış = v₀ / g = 2 s → toplam 4 s
3. (c) v² = v₀² − 2·g·h = 400 − 300 = 100 → v = 10 m/s. Cisim 15 m'den biri çıkarken biri inerken iki kez geçer; sürat iki geçişte 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Son 1 saniyede 25 m düşen cisim
Serbest bırakılan bir cisim, yere çarpmadan önceki son 1 saniyede 25 m yol alıyor. Cisim kaç metreden bırakılmıştır?
Verilenler: v₀ = 0 · son 1 saniyedeki yol = 25 m · g = 10 m/s²
İstenen: cismin bırakıldığı yükseklik 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Son 1 saniyede 25 m düşen cisim — çözüm
1. Toplam süreye t diyelim. Son saniyedeki yol = h(t) − h(t−1) = 25 m.
2. 5t² − 5(t−1)² = 25 → 5(2t − 1) = 25 → 2t − 1 = 5 → t = 3 s
3. h = 5 · 3² = 45 m
Kısa yol: 1 : 3 : 5 kuralında son terim 5h = 25 m ise h = 5 m, toplam (1+3+5)·5 = 45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Balkondan yukarı atılan top
Bir balkondan 10 m/s hızla düşey yukarı atılan top, atıldıktan 3 s sonra yere çarpıyor. (a) Balkonun yerden yüksekliğini, (b) topun yere çarpma süratini bulunuz.
Verilenler: v₀ = 10 m/s (yukarı) · topun havada kaldığı süre t = 3 s · g = 10 m/s²
İstenen: (a) balkonun yerden yüksekliği · (b) topun yere çarpma sürati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Balkondan yukarı atılan top — çözüm
1. Yukarıyı pozitif seçelim: v₀ = +10 m/s, ivme −10 m/s². Konum: y = v₀·t − ½·g·t².
2. t = 3 s'de y = 10·3 − 5·9 = 30 − 45 = −15 m. Eksi işaret topun balkonun 15 m altında olduğunu söyler: balkon 15 m yüksekte.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Balkondan yukarı atılan top — çözüm
3. Hız: v = v₀ − g·t = 10 − 30 = −20 m/s → yere 20 m/s süratle, aşağı doğru çarpar.
4. Kontrol: v² = v₀² + 2·g·h = 100 + 2·10·15 = 400 → v = 20 m/s ✓. Top 1 s çıkıp 5 m yükselir, sonra 20 m'den serbest düşer: 2 s. Toplam 3 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Serbest bırakılan bir taşın hızı 3 saniye sonra kaç m/s olur?
Öğrencilere 2–3 dakika verin; sonra cevap slaytını açın.
Cevap: Cevap: Hız her saniye 10 m/s artar: v = g · t = 10 · 3 = 30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Hız her saniye 10 m/s artar: v = g · t = 10 · 3 = 30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20 m yükseklikten bırakılan bir cisim kaç saniyede yere düşer?
Öğrencilere 2–3 dakika verin; sonra cevap slaytını açın.
Cevap: Cevap: h = ½ · g · t² → 20 = 5 · t² → t² = 4 → t =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h = ½ · g · t² → 20 = 5 · t² → t² = 4 → t =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80 m yükseklikten bırakılan bir top yere kaç m/s hızla çarpar?
Öğrencilere 2–3 dakika verin; sonra cevap slaytını açın.
Cevap: Cevap: Süre sorulmadığı için v² = 2 · g · h: v² = 2 · 10 · 80 = 1600 → v = 40 m/s. Kontrol: 80 = 5 · t² → t = 4 s ve v = 10 · 4 = 40 m/s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Süre sorulmadığı için v² = 2 · g · h: v² = 2 · 10 · 80 = 1600 → v = 40 m/s. Kontrol: 80 = 5 · t² → t = 4 s ve v = 10 · 4 = 40 m/s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30 m/s hızla yukarı atılan bir top en fazla kaç metre yükselir ve kaç saniye sonra atıldığı yere döner?
Öğrencilere 2–3 dakika verin; sonra cevap slaytını açın.
Cevap: Cevap: hmaks = v₀² / (2g) = 900 / 20 = 45 m. Çıkış 30 / 10 = 3 s, iniş de 3 s sürer: 6 s sonra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hmaks = v₀² / (2g) = 900 / 20 = 45 m. Çıkış 30 / 10 = 3 s, iniş de 3 s sürer: 6 s sonra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Serbest bırakılan bir cisim hareketinin 4. saniyesinde kaç metre yol alır?
Öğrencilere 2–3 dakika verin; sonra cevap slaytını açın.
Cevap: Cevap: İlk 4 saniyede 5 · 4² = 80 m, ilk 3 saniyede 5 · 3² = 45 m yol alır. 4. saniyedeki yol farktır: 80 − 45 = 35 m. 1 : 3 : 5 : 7 kuralıyla da aynı sonuç çıkar: 7 · 5 = 35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İlk 4 saniyede 5 · 4² = 80 m, ilk 3 saniyede 5 · 3² = 45 m yol alır. 4. saniyedeki yol farktır: 80 − 45 = 35 m. 1 : 3 : 5 : 7 kuralıyla da aynı sonuç çıkar: 7 · 5 = 35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“Ağır cisim önce düşer.” Hava direnci ihmal edildiğinde kütle hiç rol oynamaz.
• “Tepe noktada ivme sıfırdır.” Sıfır olan hızdır; ivme orada da g'dir.
• v = 2gh yazmak. Doğrusu v² = 2gh; karekök almayı unutma. Birim kontrolü bu hatayı hemen yakalar.
• İlk hızlı hareketi serbest düşme sanmak. v₀ ≠ 0 ise hareket düşey atıştır.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1 : 3 : 5 ile 1 : 4 : 9'u karıştırmak. Birincisi her aralıkta, ikincisi baştan itibaren toplam alınan yoldur.
• İşaretleri karıştırmak. Başta bir yön pozitif seçilir ve soru boyunca değiştirilmez. Aşağı pozitif seçtiysen yukarı hızlar negatif yazılır.
• Yüksekliği iki katına çıkarınca sürenin de iki katına çıktığını sanmak. Süre karekökle artar: 4 kat yükseklik → 2 kat süre.
• “Ağırlıksız hisseden astronotun ağırlığı yoktur.” Yerçekimi oradadır; ağırlıksızlık, astronotun ve istasyonun birlikte serbest düşmesinden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Dünya'da g = 9,81 m/s² · Kütle fark etmez · Yol t² ile artar · Eşit sürelerde 1 : 3 : 5
v = g · t — hız, süreyle doğru orantılı
h = ½ · g · t² — yol, sürenin karesiyle
v² = 2 · g · h — süre bilinmiyorsa
t = √(2h / g) — düşme süresi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serbest-dusme-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Serbest düşme</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Aşağıdaki dört deneyde bunu kendin ayarla, bırak ve ölç; grafikler sen izlerken çizilsin.</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kuş tüyünü ve bir çelik bilyeyi aynı anda bıraksan hangisi önce yere iner?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Havası boşaltılmış bir cam tüpte ikisi de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tam olarak 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düşer — Ay'da bu deney 1971'de gerçekten yapıldı.</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Demek ki düşüşü belirleyen şey cismin ağırlığı değil;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yalnızca geçen süre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düşen bir cisim ne yapar?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neden fark etmez?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ve grafikler: gözlediğini sayılara dök, bir büyüklükten ötekine geç.</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bağıntılar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sürede?</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Grafikler ve yorumu</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Eşit zaman aralıkları: 1 : 3 : 5 kuralı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Düşey atış: yukarı fırlatınca ne değişir?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Gerçekte hava direnci ve limit hız</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cismin bir saniyede aldığı yol. Metre/saniye (m/s) ile ölçülür; 10 m/s, “her saniye 10 metre” demektir.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Hızlanmak: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hızın zamanla artması. Yokuş aşağı bırakılan bir bisiklet kendiliğinden giderek hızlanır.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cismi itmek ya da çekmek. Newton (N) ile ölçülür; bir cisme kuvvet uygulanınca hızı değişir.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Dünya'nın bir cismi kendine doğru çekme kuvveti. Kütlesi büyük olan cismin ağırlığı da büyüktür.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Kare ve karekök: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3² = 3 · 3 = 9 ve √9 = 3. Formüllerde t² “t'nin karesi” diye okunur.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düşen bir cisim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Serbest düşme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Kütle neden fark etmez?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serbest-dusme-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Düşen bir elmanın eşit zaman aralıklarıyla çekilmiş görüntüleri. Elma her aralıkta bir öncekinden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daha uzun yol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alıyor; ilk görüntüler neredeyse üst üste binerken sonrakiler iyice açılıyor. Bu görselde aralıklar tam olarak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 : 3 : 5</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oranında: elmaların konumları y = ½·g·t² bağıntısına göre yerleştirildi. Bu kuralı ikinci basamakta kanıtlayacağız.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Elindeki anahtarı bırak.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yavaş ayrılır, sonra giderek hızlanarak yere çarpar.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hızlanmayı gözle izlemek zordur, çünkü her şey bir saniyeden kısa sürer.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Fizikçiler bu yüzden düşüşü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strobo fotoğrafla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incelemeyi sever: karanlık bir odada, eşit aralıklarla (örneğin saniyede on kez) yanıp sönen bir ışık altında tek bir fotoğraf çekilir ve cismin her an bulunduğu yer aynı karede üst üste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Böyle bir fotoğrafta ilk dikkat çeken şey şudur: görüntüler arasındaki boşluklar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eşit değildir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aşağı indikçe açılır.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Eşit sürelerde giderek daha uzun yol alınıyorsa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hızlanıyor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Sabit hızla giden bir araba aynı yöntemle fotoğraflansaydı görüntüler cetvel çizgileri gibi eşit aralıklı dizilirdi.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her cisimde, hava direnci küçük kaldığı sürece, aynı üç şey gözlenir:</a:t>
            </a:r>
            <a:endParaRPr lang="en-US" sz="2200" dirty="0"/>
          </a:p>
        </p:txBody>
      </p:sp>
      <p:sp>
        <p:nvSpPr>
          <p:cNvPr id="7" name="Text 5"/>
          <p:cNvSpPr txBox="1"/>
          <p:nvPr/>
        </p:nvSpPr>
        <p:spPr>
          <a:xfrm>
            <a:off x="640080" y="2389632"/>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Doğrultu düşeydir: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şakül ipi gibi dümdüz aşağı iner.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 sürekli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saniye bir önceki saniyeden daha hızlıdır.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Hızlanma herkes için aynıdır: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bilye de taş da anahtar da aynı biçimde hızlanır.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 madde sezgimize en ters gelenidir; bu yüzden ona ayrı bir başlık ayıracağız.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gözlediğimiz harekete bir ad verelim.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Düşen bir cisim düşey doğrultuda ve giderek hızlanarak iner. Eşit sürelerde alınan yolların büyümesi bu hızlanmanın izidir.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Musluktan eşit aralıklarla damlayan su damlaları aşağı indikçe neden birbirinden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düşen bir cisim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Musluktan eşit aralıklarla damlayan su damlaları aşağı indikçe neden birbirinden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Her damla ötekinden biraz önce yola çıkmıştır, yani her an ondan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daha hızlıdır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Öndeki damla arkadakinden hep daha hızlı gittiği için aradaki boşluk sürekli büyür. Damlalar eşit zaman aralıklarıyla kopsa da aralarındaki uzaklık eşit kalmaz — tam da strobo fotoğraftaki gibi.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ilk hızsız olarak bırakıldığında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üzerine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yerçekimi kuvveti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etki ettiğinde yaptığı harekete serbest düşme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 düşey doğrultudadır, aşağı yöndedir ve ivmesi sabittir.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sözcüğü cismin hiçbir şeye (ipe, ele, havaya) takılmadan, yalnızca yerçekimine bırakıldığını anlatır.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hareketin “serbest düşme” sayılması için üç koşul aranır:</a:t>
            </a:r>
            <a:endParaRPr lang="en-US" sz="2200" dirty="0"/>
          </a:p>
        </p:txBody>
      </p:sp>
      <p:sp>
        <p:nvSpPr>
          <p:cNvPr id="7" name="Text 5"/>
          <p:cNvSpPr txBox="1"/>
          <p:nvPr/>
        </p:nvSpPr>
        <p:spPr>
          <a:xfrm>
            <a:off x="640080" y="200406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İlk hız sıfırdır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(v₀ = 0): cisim atılmaz, bırakılır.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 direnci ihmal edilir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tek kuvvet ağırlıktır (G = m·g).</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İvme sabittir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ve yerçekimi ivmesi g'ye eşittir.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3C8C21"/>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İvme ne demek?</a:t>
            </a:r>
            <a:endParaRPr lang="en-US" sz="2200" dirty="0"/>
          </a:p>
        </p:txBody>
      </p:sp>
      <p:sp>
        <p:nvSpPr>
          <p:cNvPr id="8" name="Text 6"/>
          <p:cNvSpPr txBox="1"/>
          <p:nvPr/>
        </p:nvSpPr>
        <p:spPr>
          <a:xfrm>
            <a:off x="640080" y="1892808"/>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İvme, hızın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saniye ne kadar değiştiğini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Dünya'da g yaklaşık 10 m/s²'dir: bunu “her saniye hız 10 m/s artar” diye okuyabilirsin.</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bırakılan bir cismin hızını saniye saniye yazmak için hiçbir formül gerekmez, yalnızca her saniye 10 eklemek yeter:</a:t>
            </a:r>
            <a:endParaRPr lang="en-US" sz="2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2321603"/>
                <a:gridCol w="1392962"/>
                <a:gridCol w="4875367"/>
                <a:gridCol w="232160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Geçen süre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 saniyede alınan 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Toplam 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saniye alınan yol, o saniyenin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ortalama hızı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kadardır: ilk saniyede hız 0'dan 10'a çıktığı için ortalama 5 m/s, yol 5 m; ikinci saniyede 10'dan 20'ye, ortalama 15 m/s, yol 15 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Tablonun son sütunu, bir sonraki basamakta çıkaracağımız formülün sonucunu şimdiden veriyor.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 ne kadar?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Dünya yüzeyinde ortalama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9,81 m/s²</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'dir; ekvatorda 9,78, kutuplarda 9,83 civarına iner-çıkar. İşlem kolaylığı için problemlerde çoğunlukla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 = 10 m/s²</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alınır. Ay'da 1,62 · Mars'ta 3,72 · Jüpiter'de 24,79 m/s².</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345719" y="1234440"/>
            <a:ext cx="750025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1.png">    </p:cNvPr>
          <p:cNvPicPr>
            <a:picLocks noChangeAspect="1"/>
          </p:cNvPicPr>
          <p:nvPr/>
        </p:nvPicPr>
        <p:blipFill>
          <a:blip r:embed="rId1"/>
          <a:stretch>
            <a:fillRect/>
          </a:stretch>
        </p:blipFill>
        <p:spPr>
          <a:xfrm>
            <a:off x="2574319" y="1325880"/>
            <a:ext cx="704305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Üç koşul tek karede: cisim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ilk hızsız bırakılır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üzerindeki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kuvvet ağırlıktır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ivmesi sabit kalır ve g'ye eşit olur. Eşit sürelerle çekilmiş strobo görüntülerinin arası sürekli açılıyor; çünkü hız her saniye aynı miktarda büyüyor.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Serbest düşme, ilk hızsız bırakılan ve yalnızca ağırlığın etkisindeki bir cismin hareketidir. İvmesi sabittir ve g'ye eşittir: hız her saniye yaklaşık 10 m/s artar.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Sezgi “ağır olan daha hızlı düşer” 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Aristoteles de böyle düşünüyordu ve bu fikir yaklaşık iki bin yıl boyunca genel kabul gördü.</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Galileo ise 1600'lerde bunu basit bir düşünce deneyiyle çürüttü: ağır bir taşla hafif bir taşı iple birbirine bağlayalım.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Hafif taş daha yavaş düşmek isteyeceği için ağır olanı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frenler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 zaman ikili, ağır taştan yavaş düşmeli.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ikili tek başına ağır taştan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ağırdır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 zaman daha hızlı düşmeli.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öncül iki zıt sonuç veriyorsa öncül yanlıştır: düşüş hızı ağırlığa bağlı olamaz.</a:t>
            </a:r>
            <a:endParaRPr lang="en-US" sz="2200" dirty="0"/>
          </a:p>
        </p:txBody>
      </p:sp>
      <p:sp>
        <p:nvSpPr>
          <p:cNvPr id="7" name="Text 5"/>
          <p:cNvSpPr txBox="1"/>
          <p:nvPr/>
        </p:nvSpPr>
        <p:spPr>
          <a:xfrm>
            <a:off x="640080" y="3252216"/>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ikinci yasası aynı sonucu hesapla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Düşen cisme etki eden tek kuvvet ağırlığıdır:</a:t>
            </a:r>
            <a:endParaRPr lang="en-US" sz="2200" dirty="0"/>
          </a:p>
        </p:txBody>
      </p:sp>
      <p:sp>
        <p:nvSpPr>
          <p:cNvPr id="8" name="Shape 6"/>
          <p:cNvSpPr/>
          <p:nvPr/>
        </p:nvSpPr>
        <p:spPr>
          <a:xfrm>
            <a:off x="640080" y="4407408"/>
            <a:ext cx="1799539"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407408"/>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m · a</a:t>
            </a:r>
            <a:endParaRPr lang="en-US" sz="1800" dirty="0"/>
          </a:p>
        </p:txBody>
      </p:sp>
      <p:sp>
        <p:nvSpPr>
          <p:cNvPr id="10" name="Shape 8"/>
          <p:cNvSpPr/>
          <p:nvPr/>
        </p:nvSpPr>
        <p:spPr>
          <a:xfrm>
            <a:off x="2585923" y="4407408"/>
            <a:ext cx="2355494"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2585923" y="4407408"/>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g = m · a</a:t>
            </a:r>
            <a:endParaRPr lang="en-US" sz="1800" dirty="0"/>
          </a:p>
        </p:txBody>
      </p:sp>
      <p:sp>
        <p:nvSpPr>
          <p:cNvPr id="12" name="Shape 10"/>
          <p:cNvSpPr/>
          <p:nvPr/>
        </p:nvSpPr>
        <p:spPr>
          <a:xfrm>
            <a:off x="5087722" y="4407408"/>
            <a:ext cx="1243584" cy="585216"/>
          </a:xfrm>
          <a:prstGeom prst="roundRect">
            <a:avLst>
              <a:gd name="adj" fmla="val 18750"/>
            </a:avLst>
          </a:prstGeom>
          <a:solidFill>
            <a:srgbClr val="EEF2FC"/>
          </a:solidFill>
          <a:ln w="9525">
            <a:solidFill>
              <a:srgbClr val="CBD7F4"/>
            </a:solidFill>
            <a:prstDash val="solid"/>
          </a:ln>
        </p:spPr>
      </p:sp>
      <p:sp>
        <p:nvSpPr>
          <p:cNvPr id="13" name="Text 11"/>
          <p:cNvSpPr txBox="1"/>
          <p:nvPr/>
        </p:nvSpPr>
        <p:spPr>
          <a:xfrm>
            <a:off x="5087722" y="4407408"/>
            <a:ext cx="124358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g</a:t>
            </a:r>
            <a:endParaRPr lang="en-US" sz="180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Kütle eşitliğin iki yanında da bulunduğu için sadeleşir.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Ağır cisim daha çok çekilir, ama aynı oranda da harekete direnir (eylemsizliği fazladır); iki etki birbirini tam olarak götürür.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gramlık bilye ile 10 kiloluk gülle aynı anda yere düşer.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1971'de Apollo 15 astronotu David Scott, havasız Ay yüzeyinde bir şahin tüyü ile alüminyum çekici aynı anda bıraktı; ikisi de aynı anda toza değdi.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hayatta tüyün geride kalmasının sebebi kütlesi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hava direnci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 tüy çok hafif ama yüzeyi geniştir, bu yüzden hava onu ağırlığına oranla çok daha güçlü frenler.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580488" y="1234440"/>
            <a:ext cx="70307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2.png">    </p:cNvPr>
          <p:cNvPicPr>
            <a:picLocks noChangeAspect="1"/>
          </p:cNvPicPr>
          <p:nvPr/>
        </p:nvPicPr>
        <p:blipFill>
          <a:blip r:embed="rId1"/>
          <a:stretch>
            <a:fillRect/>
          </a:stretch>
        </p:blipFill>
        <p:spPr>
          <a:xfrm>
            <a:off x="2809088" y="1325880"/>
            <a:ext cx="65735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Ağır cisim daha büyük bir kuvvetle çekilir (m·g), ama tam o oranda harekete de direnir (m·a).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 eşitliğin iki yanında da bulunduğu için sadeleşir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geriye yalnızca a = g kalır. Bu yüzden 8 kat ağır olan cisim, hafif olanla hep aynı hizada düşer.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 direnci yoksa bütün cisimler aynı ivmeyle düşer, çünkü ağırlık ve eylemsizlik kütleyle aynı oranda büyür ve m·g = m·a eşitliğinde kütle sadeleşir.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Ağır cisme daha büyük bir kuvvet etki ediyorsa, neden daha hızlı düşmüyor?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Kütle neden fark etmez?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Ağır cisme daha büyük bir kuvvet etki ediyorsa, neden daha hızlı düşmüyor?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kuvvetin kütleye oranıdır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ve grafikler: gözlediğini sayılara dök, bir büyüklükten ötekine geç.</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Temel bağıntılar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sürede?</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Grafikler ve yorumu</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Eşit zaman aralıkları: 1 : 3 : 5 kuralı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g · t</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½ · g · t²</a:t>
            </a:r>
            <a:endParaRPr lang="en-US" sz="1500" dirty="0"/>
          </a:p>
        </p:txBody>
      </p:sp>
      <p:sp>
        <p:nvSpPr>
          <p:cNvPr id="16" name="Text 14"/>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v² = 2 · g · h</a:t>
            </a:r>
            <a:endParaRPr lang="en-US" sz="1500" dirty="0"/>
          </a:p>
        </p:txBody>
      </p:sp>
      <p:sp>
        <p:nvSpPr>
          <p:cNvPr id="19" name="Text 17"/>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 = √(2h / g)</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 yönü pozitif alalım: v₀ = 0, a = g.</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Sabit ivmeli hareketin denklemleri doğrudan serbest düşmenin denklemlerine dönüşür (h: alınan yol, t: düşme süresi):</a:t>
            </a:r>
            <a:endParaRPr lang="en-US" sz="2200" dirty="0"/>
          </a:p>
        </p:txBody>
      </p:sp>
      <p:sp>
        <p:nvSpPr>
          <p:cNvPr id="7" name="Shape 5"/>
          <p:cNvSpPr/>
          <p:nvPr/>
        </p:nvSpPr>
        <p:spPr>
          <a:xfrm>
            <a:off x="640080" y="2866644"/>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g · t</a:t>
            </a:r>
            <a:endParaRPr lang="en-US" sz="1800" dirty="0"/>
          </a:p>
        </p:txBody>
      </p:sp>
      <p:sp>
        <p:nvSpPr>
          <p:cNvPr id="9" name="Shape 7"/>
          <p:cNvSpPr/>
          <p:nvPr/>
        </p:nvSpPr>
        <p:spPr>
          <a:xfrm>
            <a:off x="2585923" y="2866644"/>
            <a:ext cx="2494483"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2866644"/>
            <a:ext cx="249448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½ · g · t²</a:t>
            </a:r>
            <a:endParaRPr lang="en-US" sz="1800" dirty="0"/>
          </a:p>
        </p:txBody>
      </p:sp>
      <p:sp>
        <p:nvSpPr>
          <p:cNvPr id="11" name="Shape 9"/>
          <p:cNvSpPr/>
          <p:nvPr/>
        </p:nvSpPr>
        <p:spPr>
          <a:xfrm>
            <a:off x="5226710" y="2866644"/>
            <a:ext cx="2494483"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226710" y="2866644"/>
            <a:ext cx="249448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v² = 2 · g · h</a:t>
            </a:r>
            <a:endParaRPr lang="en-US" sz="1800" dirty="0"/>
          </a:p>
        </p:txBody>
      </p:sp>
      <p:sp>
        <p:nvSpPr>
          <p:cNvPr id="13" name="Shape 11"/>
          <p:cNvSpPr/>
          <p:nvPr/>
        </p:nvSpPr>
        <p:spPr>
          <a:xfrm>
            <a:off x="7867498" y="2866644"/>
            <a:ext cx="2355494"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7867498" y="2866644"/>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√(2h / g)</a:t>
            </a:r>
            <a:endParaRPr lang="en-US" sz="1800" dirty="0"/>
          </a:p>
        </p:txBody>
      </p:sp>
      <p:sp>
        <p:nvSpPr>
          <p:cNvPr id="15" name="Shape 13"/>
          <p:cNvSpPr/>
          <p:nvPr/>
        </p:nvSpPr>
        <p:spPr>
          <a:xfrm>
            <a:off x="640080" y="3579876"/>
            <a:ext cx="3328416" cy="585216"/>
          </a:xfrm>
          <a:prstGeom prst="roundRect">
            <a:avLst>
              <a:gd name="adj" fmla="val 18750"/>
            </a:avLst>
          </a:prstGeom>
          <a:solidFill>
            <a:srgbClr val="EEF2FC"/>
          </a:solidFill>
          <a:ln w="9525">
            <a:solidFill>
              <a:srgbClr val="CBD7F4"/>
            </a:solidFill>
            <a:prstDash val="solid"/>
          </a:ln>
        </p:spPr>
      </p:sp>
      <p:sp>
        <p:nvSpPr>
          <p:cNvPr id="16" name="Text 14"/>
          <p:cNvSpPr txBox="1"/>
          <p:nvPr/>
        </p:nvSpPr>
        <p:spPr>
          <a:xfrm>
            <a:off x="640080" y="357987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vort = h / t = v / 2</a:t>
            </a:r>
            <a:endParaRPr lang="en-US" sz="180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83710"/>
                <a:gridCol w="8344115"/>
                <a:gridCol w="128371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o anki hızı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yerçekimi ivmesi (Dünya'da yaklaşık 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bırakıldığından beri geçen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alınan yol, yani düşülen yükseklik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v₀</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ilk hız (serbest düşmede 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Bağıntılar nereden geliyor?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Hiçbirini ezberlemek gerekmez; üçü de ivmenin tanımından adım adım çıkar.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İvme “her saniye hıza eklenen miktar” olduğuna göre t saniye sonra hız g'nin t katıdır: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 = g·t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Tablodaki 10, 20, 30 m/s tam olarak budur.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 düzgün arttığı için ortalama hız, ilk ve son hızın ortalamasıdır: (0 + g·t)/2. Yol = ortalama hız × süre = (g·t/2)·t, yani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h = ½·g·t²</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Süresiz bağıntı: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İlk bağıntıdan t = v/g yazıp ikinciye koyarsak h = ½·g·(v/g)² = v²/(2g), yani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v² = 2·g·h</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Süre sorulmayan sorularda doğrudan bu bağıntıyı kullanmak en kısa yoldur.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3C8C21"/>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bağıntıyı doğru hatırlayıp hatırlamadığını birimlerle sınayabilirsin. g·t için (m/s²)·s = m/s çıkar, bu bir hızdır ✓. ½·g·t² için (m/s²)·s² = m çıkar, bu bir yoldur ✓. “v = 2gh” yazsaydın sağ taraf m²/s² çıkardı; hız değil hızın karesi — hatanı birim yakalar.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2259828" y="1234440"/>
            <a:ext cx="767203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3.png">    </p:cNvPr>
          <p:cNvPicPr>
            <a:picLocks noChangeAspect="1"/>
          </p:cNvPicPr>
          <p:nvPr/>
        </p:nvPicPr>
        <p:blipFill>
          <a:blip r:embed="rId1"/>
          <a:stretch>
            <a:fillRect/>
          </a:stretch>
        </p:blipFill>
        <p:spPr>
          <a:xfrm>
            <a:off x="2488428" y="1325880"/>
            <a:ext cx="721483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Serbest düşmede üç büyüklük vardır ve her ikisini birbirine bir kenar bağlar. Soruda hangi ikisi geçiyorsa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 kenardaki bağıntıyı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kullan: süre ile hız arasında v = g·t, süre ile yol arasında h = ½g·t²,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sürenin hiç geçmediği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sorularda v² = 2gh.</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637402"/>
                <a:gridCol w="3273461"/>
                <a:gridCol w="300067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Soruda verilenler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İstenen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Kullan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 = g·t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Yükseklik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 = ½·g·t²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Yükseklik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Çarpma hızı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v² = 2·g·h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Yükseklik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Düşme süresi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 = √(2h/g)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v = g·t, h = ½·g·t² ve v² = 2·g·h ivmenin tanımından çıkar. Soruda hangi iki büyüklük geçiyorsa onları bağlayan bağıntıyı seç; süre yoksa v² = 2gh.</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Formüller soyut kalmasın; tanıdık yüksekliklerden bırakılan bir cismin ne kadar sürede ve hangi hızla yere ulaştığına bakalım (g = 10 m/s², hava direnci yok):</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000896"/>
                <a:gridCol w="1636730"/>
                <a:gridCol w="2182307"/>
                <a:gridCol w="309160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Yükseklik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Düşme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Çarpma hızı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Masadan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0,4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m/s (14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İkinci kat balkonundan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m/s (36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Altı katlı binadan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m/s (72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On beş katlı binadan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m/s (108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Kırk katlı binadan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m/s (180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hemen okunan bir düzen var: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yükseklik 4 katına çıkınca süre ve hız yalnızca 2 katına çıkıyor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(5 m → 20 m: 1 s → 2 s).</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süre de hız da yüksekliğin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kareköküyle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125 m, 5 m'nin 25 katıdır; süre ise √25 = 5 katıdır.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tabloyu tersinden de okuyabilirsin: çarpma hızını ikiye katlamak için yüksekliği dört katına çıkarmak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de süreye bak: 125 metrelik düşüş bile yalnızca 5 saniye sürüyor.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gündelik hayatta gördüğümüz en hızlı gelişen hareketlerden biridir.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3C8C21"/>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Kendi tepki süreni ölç:</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Cetvel bırakıldığı anda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serbest düşmeye başlar ve yakalanana kadar düştüğü mesafe, geçen süreyi söyler: t = √(2d / g). Cetvel parmaklarının arasından ne kadar çok kayarsa tepki süren o kadar uzundur; 20 cm yaklaşık 0,2 saniye demektir.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Süre ve çarpma hızı yüksekliğin kareköküyle büyür: 4 kat yükseklik 2 kat süre ve 2 kat hız demektir. 5 m'den düşüş 1 s, 45 m'den düşüş 3 s sürer.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 m yükseklikten düşüş 1 s sürüyorsa, 20 m yükseklikten kaç saniye sürer?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Sayılarla hisset: ne kadar hızlı, ne kadar sürede?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 m yükseklikten düşüş 1 s sürüyorsa, 20 m yükseklikten kaç saniye sürer?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Dört değil,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iki saniye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Yükseklik 4 katına çıkınca süre √4 = 2 katına çıkar. Kontrol: h = ½·10·2² = 20 m ✓. “Yükseklik kaç kat, süre de o kat” diye düşünmek serbest düşmedeki en yaygın tuzaktır.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laboratuvarın altında bu üç grafik canlı çiziliyor.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Ezberlemek yerine eğim–alan ilişkisini kurmak yeterli: bir grafiğin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eğimi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üstteki büyüklüğü,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altındaki alan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alttaki büyüklüğü verir.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1020928" y="1234440"/>
            <a:ext cx="10149840" cy="3857812"/>
          </a:xfrm>
          <a:prstGeom prst="roundRect">
            <a:avLst>
              <a:gd name="adj" fmla="val 37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4.png">    </p:cNvPr>
          <p:cNvPicPr>
            <a:picLocks noChangeAspect="1"/>
          </p:cNvPicPr>
          <p:nvPr/>
        </p:nvPicPr>
        <p:blipFill>
          <a:blip r:embed="rId1"/>
          <a:stretch>
            <a:fillRect/>
          </a:stretch>
        </p:blipFill>
        <p:spPr>
          <a:xfrm>
            <a:off x="1249528" y="1325880"/>
            <a:ext cx="9692640" cy="3674932"/>
          </a:xfrm>
          <a:prstGeom prst="rect">
            <a:avLst/>
          </a:prstGeom>
        </p:spPr>
      </p:pic>
      <p:sp>
        <p:nvSpPr>
          <p:cNvPr id="8" name="Text 5"/>
          <p:cNvSpPr txBox="1"/>
          <p:nvPr/>
        </p:nvSpPr>
        <p:spPr>
          <a:xfrm>
            <a:off x="1249528" y="5275132"/>
            <a:ext cx="9692640" cy="869636"/>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Üç grafiği ezberlemek yerine birbirine bağla: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bir grafiğin eğimi bir üsttekini, altındaki alan bir alttakini verir.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v–t doğrusunun altındaki üçgenin alanı ½·t·(g·t) = ½g·t²'dir — yani tam olarak alınan yol. Sayfadaki laboratuvarın altında bu üç grafik sen izlerken çiziliyor.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991699"/>
                <a:gridCol w="5029776"/>
                <a:gridCol w="2514888"/>
                <a:gridCol w="237517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Grafik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Şekli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Eğimi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Altındaki 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Zaman eksenine paralel doğru (a =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Hız değişimi (Δv)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Orijinden geçen doğru (v = g·t)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Alınan yol (h)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Yukarı açılan parabol (h = ½g·t²)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 andaki anlık 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 – t doğrusunun altındaki üçgenin alanı ½·t·(g·t) = ½·g·t² eder; bu da tam olarak alınan yoldur.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Grafikler birbirini böyle doğrular.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grafik sorusunda üç adımı sırayla uygula: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Eksenleri oku: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düşey eksende ne var (a, v, h)? Birimi ne?</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Şekli tanı: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yatay doğru sabit, eğik doğru düzgün değişen, parabol karesel büyüyen bir büyüklük demektir.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Eğime ya da alana bak: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soru bir üst büyüklüğü soruyorsa eğim, bir alt büyüklüğü soruyorsa alan hesapla.</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Serbest düşmede a–t yatay, v–t orijinden geçen eğik bir doğru, h–t yukarı açılan bir paraboldür. Eğim bir üst büyüklüğü, alan bir alt büyüklüğü verir.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431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Düşüşü eşit süreli dilimlere bölelim (her biri Δt).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dilimde alınan yol h = ½·g·Δt² olsun.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zaman ardışık dilimlerde alınan yollar:</a:t>
            </a:r>
            <a:endParaRPr lang="en-US" sz="2200" dirty="0"/>
          </a:p>
        </p:txBody>
      </p:sp>
      <p:sp>
        <p:nvSpPr>
          <p:cNvPr id="7" name="Shape 5"/>
          <p:cNvSpPr/>
          <p:nvPr/>
        </p:nvSpPr>
        <p:spPr>
          <a:xfrm>
            <a:off x="640080" y="2958084"/>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958084"/>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1h : 3h : 5h : 7h : 9h</a:t>
            </a:r>
            <a:endParaRPr lang="en-US" sz="1800" dirty="0"/>
          </a:p>
        </p:txBody>
      </p:sp>
      <p:sp>
        <p:nvSpPr>
          <p:cNvPr id="9" name="Shape 7"/>
          <p:cNvSpPr/>
          <p:nvPr/>
        </p:nvSpPr>
        <p:spPr>
          <a:xfrm>
            <a:off x="4392778" y="2958084"/>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392778" y="2958084"/>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(tek sayılar)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Baştan itibaren toplam yollar ise 1h, 4h, 9h, 16h, 25h olur —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 4 : 9 : 16</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sürenin karesiyle orantılı.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dizi de aynı şeyi söyler: toplam yollardaki farkları alırsan tek sayıları bulursun.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 tek sayılar?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ardışık iki karenin farkı her zaman tek sayıdır: n² − (n−1)² = 2n − 1.</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4 − 1 = 3, 9 − 4 = 5, 16 − 9 = 7…</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Hızlar da eşit sürelerde eşit miktarda artar: Δt sonunda g·Δt, 2Δt sonunda 2g·Δt…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 2 : 3 : 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üç diziyi karıştırmamak sınavda zaman kazandırır.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785910" y="1234440"/>
            <a:ext cx="661987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5.png">    </p:cNvPr>
          <p:cNvPicPr>
            <a:picLocks noChangeAspect="1"/>
          </p:cNvPicPr>
          <p:nvPr/>
        </p:nvPicPr>
        <p:blipFill>
          <a:blip r:embed="rId1"/>
          <a:stretch>
            <a:fillRect/>
          </a:stretch>
        </p:blipFill>
        <p:spPr>
          <a:xfrm>
            <a:off x="3014510" y="1325880"/>
            <a:ext cx="616267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düşüşün üç ayrı okuması.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aralıkta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alınan yollar tek sayılarla gider (1 : 3 : 5 : 7);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baştan itibaren toplam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yol sürenin karesiyle büyür (1 : 4 : 9 : 16);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hız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eşit adımlarla artar (1 : 2 : 3 : 4). Toplam yollardaki farkları alırsan tek sayıları bulursun — üç dizi aynı hareketi anlatır.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Eşit süre dilimlerinde alınan yollar 1 : 3 : 5 : 7, baştan itibaren toplam yollar 1 : 4 : 9 : 16, hızlar 1 : 2 : 3 : 4 oranında gider.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Düşey atış: yukarı fırlatınca ne değişir?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Gerçekte hava direnci ve limit hız</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Serbest düşme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serbest-dusme-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Lunaparktaki düşme kulesi, serbest düşmeyi birkaç saniyeliğine yaşatır. 45 metrelik bir düşüş yaklaşık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3 saniye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sürer ve koltuklar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108 km/h</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hıza ulaşır; ardından mıknatıslı frenler yumuşakça devreye girer. Düşüş boyunca koltuk yolcuyu itmez, yolcu kendini ağırlıksız hisseder.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 v₀ hızıyla yukarı atarsan artık “serbest düşme”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düşey atış</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olur; ama ivme yine g'dir ve yine aşağı yöndedir.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çıkarken hız ile ivme zıt yönlü olduğu için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yavaşlayarak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 her saniye hızından 10 m/s kaybeder.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noktada hızı sıfırlanır, sonra serbest düşmeye başlar.</a:t>
            </a:r>
            <a:endParaRPr lang="en-US" sz="2200" dirty="0"/>
          </a:p>
        </p:txBody>
      </p:sp>
      <p:sp>
        <p:nvSpPr>
          <p:cNvPr id="7" name="Shape 5"/>
          <p:cNvSpPr/>
          <p:nvPr/>
        </p:nvSpPr>
        <p:spPr>
          <a:xfrm>
            <a:off x="640080" y="3729228"/>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hmaks = v₀² / (2g)</a:t>
            </a:r>
            <a:endParaRPr lang="en-US" sz="1800" dirty="0"/>
          </a:p>
        </p:txBody>
      </p:sp>
      <p:sp>
        <p:nvSpPr>
          <p:cNvPr id="9" name="Shape 7"/>
          <p:cNvSpPr/>
          <p:nvPr/>
        </p:nvSpPr>
        <p:spPr>
          <a:xfrm>
            <a:off x="3836822" y="3729228"/>
            <a:ext cx="263347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3729228"/>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tçıkış = v₀ / g</a:t>
            </a:r>
            <a:endParaRPr lang="en-US" sz="1800" dirty="0"/>
          </a:p>
        </p:txBody>
      </p:sp>
      <p:sp>
        <p:nvSpPr>
          <p:cNvPr id="11" name="Shape 9"/>
          <p:cNvSpPr/>
          <p:nvPr/>
        </p:nvSpPr>
        <p:spPr>
          <a:xfrm>
            <a:off x="6616598" y="3729228"/>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616598" y="3729228"/>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ttoplam = 2v₀ / g</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simetriktir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çıkış süresi iniş süresine eşittir ve cisim aynı yükseklikten geçerken hızının büyüklüğü çıkışta da inişte de aynıdır, yalnızca yönü terstir.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Atıldığı noktaya döndüğünde sürati v₀'a eşittir.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İşaret seçimi</a:t>
            </a:r>
            <a:endParaRPr lang="en-US" sz="2200" dirty="0"/>
          </a:p>
        </p:txBody>
      </p:sp>
      <p:sp>
        <p:nvSpPr>
          <p:cNvPr id="8" name="Text 6"/>
          <p:cNvSpPr txBox="1"/>
          <p:nvPr/>
        </p:nvSpPr>
        <p:spPr>
          <a:xfrm>
            <a:off x="640080" y="1892808"/>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Atış problemlerinde en sık hata işaretlerde yapılır.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Başta bir yönü pozitif seç ve soru boyunca değiştirme.</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Yukarıyı pozitif seçersen v₀ pozitif, g negatif olur: v = v₀ − g·t ve h = v₀·t − ½·g·t².</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denklemlerde h negatif çıkarsa cisim atıldığı noktanın altına inmiş demektir; bu bir hata değil, balkondan atışlarda beklenen sonuçtur.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aşağı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v₀ hızıyla atılırsa hız ile ivme aynı yöndedir; cisim baştan itibaren hızlanır.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Aşağıyı pozitif alarak v = v₀ + g·t ve h = v₀·t + ½·g·t² yazılır.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bu denklemlerin v₀ = 0 olduğu özel hâlidir.</a:t>
            </a:r>
            <a:endParaRPr lang="en-US" sz="2200" dirty="0"/>
          </a:p>
        </p:txBody>
      </p:sp>
      <p:sp>
        <p:nvSpPr>
          <p:cNvPr id="7" name="Shape 5"/>
          <p:cNvSpPr/>
          <p:nvPr/>
        </p:nvSpPr>
        <p:spPr>
          <a:xfrm>
            <a:off x="640080" y="334365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508248"/>
            <a:ext cx="54864" cy="704088"/>
          </a:xfrm>
          <a:prstGeom prst="rect">
            <a:avLst/>
          </a:prstGeom>
          <a:solidFill>
            <a:srgbClr val="A56209"/>
          </a:solidFill>
          <a:ln/>
        </p:spPr>
      </p:sp>
      <p:sp>
        <p:nvSpPr>
          <p:cNvPr id="9" name="Text 7"/>
          <p:cNvSpPr txBox="1"/>
          <p:nvPr/>
        </p:nvSpPr>
        <p:spPr>
          <a:xfrm>
            <a:off x="950976" y="347167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Tepe noktada ivme sıfır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Hız sıfırdır, ivme hâlâ g'dir ve aşağı doğrudur. İvme sıfır olsaydı cisim orada asılı kalırdı.</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345719" y="1234440"/>
            <a:ext cx="750025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6.png">    </p:cNvPr>
          <p:cNvPicPr>
            <a:picLocks noChangeAspect="1"/>
          </p:cNvPicPr>
          <p:nvPr/>
        </p:nvPicPr>
        <p:blipFill>
          <a:blip r:embed="rId1"/>
          <a:stretch>
            <a:fillRect/>
          </a:stretch>
        </p:blipFill>
        <p:spPr>
          <a:xfrm>
            <a:off x="2574319" y="1325880"/>
            <a:ext cx="704305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Düşey atış, serbest düşmenin aynadaki görüntüsüdür: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çıkış süresi iniş süresine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cisim aynı yükseklikten geçerken süratinin büyüklüğü iki geçişte de aynıdır. Tepe noktada hız sıfırlanır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ivme sıfırlanmaz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sarı oklar her yerde aynı boydadır. İvme orada gerçekten sıfır olsaydı cisim havada asılı kalırdı.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Düşey atışta ivme her an g'dir ve aşağı yönlüdür; çıkış iniş simetriktir, tepe noktada yalnızca hız sıfırlanır. Başta seçtiğin pozitif yönü soru boyunca koru.</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Balkondan bir top aynı süratle bir kez yukarı, bir kez aşağı atılıyor.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Düşey atış: yukarı fırlatınca ne değişir?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Balkondan bir top aynı süratle bir kez yukarı, bir kez aşağı atılıyor.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 hava direncini ihmal ettik.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hıza bağlı olarak artan, harekete ters yönlü bir kuvvettir.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hızlandıkça direnç büyür; ağırlığa eşitlendiği anda net kuvvet sıfırlanır, ivme biter ve cisim sabit hızla düşmeye devam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sabit hıza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limit hız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 olmasaydı yağmurun altında durmak hayli tehlikeli olurdu: yağmur bulutları yaklaşık 2 km yüksekte olduğuna göre, damlalar yere v = √(2·9,81·2000)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198 m/s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hızla — saatte 700 kilometreyi aşan bir hızla — çarpardı.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sayesinde bu hız 8–9 m/s'de kalıyor.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Yağmur damlası: yaklaşık 8–9 m/s</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Paraşütsüz atlayan bir insan: yaklaşık 55 m/s</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Paraşüt açıldığında: yaklaşık 5 m/s</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 alanı büyük, kütlesi küçük cisimler (tüy, kâğıt, tüy topu) limit hıza çok çabuk ulaşır; bu yüzden “yavaş düşüyor” gibi görünürler.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Havası boşaltılmış bir tüpte bu fark tamamen kaybolur.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hızlarda (birkaç metreden bırakılan bilye, taş, top) hava direnci ağırlığın yanında küçük kalır; serbest düşme bağıntıları bu yüzden gerçek sonuca çok yakın sonuç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direncinin ayrıntıları bu ünitenin “Limit hız” konusunda.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758798" y="1234440"/>
            <a:ext cx="867410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erbest-dusme-07.png">    </p:cNvPr>
          <p:cNvPicPr>
            <a:picLocks noChangeAspect="1"/>
          </p:cNvPicPr>
          <p:nvPr/>
        </p:nvPicPr>
        <p:blipFill>
          <a:blip r:embed="rId1"/>
          <a:stretch>
            <a:fillRect/>
          </a:stretch>
        </p:blipFill>
        <p:spPr>
          <a:xfrm>
            <a:off x="1987398" y="1325880"/>
            <a:ext cx="821690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Hava direnci hız arttıkça büyür. Ağırlığa eşitlendiği anda net kuvvet sıfırlanır, ivme biter ve cisim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 hızla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düşmeye devam eder. v–t eğrisi bu yüzden düz bir doğru olarak başlayıp yatay bir çizgiye doğru yatar; mor kesikli çizgi hava direnci hiç olmasaydı hızın nereye gideceğini gösteriyor.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Havada düşen bir cisimde direnç hızla büyür ve ağırlığa eşitlenince cisim limit hızla sabit düşer. Kısa düşüşlerde ve yoğun cisimlerde bu etki küçüktür; serbest düşme iyi bir yaklaşımdır.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 yalnızca ders kitabı problemi değildir; lunaparktan uzay araştırmalarına kadar bilerek kullanılır.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Ortak noktaları şu: cisim ve içindeki her şey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aynı ivmeyle düştüğü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sürece birbirine bastırmaz.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duyguya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ağırlıksızlık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275920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Düşme kuleleri ve tüpleri: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Parabolik uçuşlar: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Astronot adayları, bir uçağın motor gücünü ayarlayarak kendisini bir atış yörüngesine bıraktığı uçuşlarda, her seferinde yaklaşık 20 saniye ağırlıksız kalır. Uçak ve içindekiler birlikte serbest hareket eder.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119557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g'yi ölçmek: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cismin bilinen bir yüksekliği kaç saniyede düştüğü ölçülürse g = 2h/t² ile yerçekimi ivmesi bulunur. Jeologlar g'deki çok küçük farkları ölçerek yer altındaki maden ve petrol yataklarını arar.</a:t>
            </a:r>
            <a:endParaRPr lang="en-US" sz="2100" dirty="0"/>
          </a:p>
        </p:txBody>
      </p:sp>
      <p:sp>
        <p:nvSpPr>
          <p:cNvPr id="7" name="Text 5"/>
          <p:cNvSpPr txBox="1"/>
          <p:nvPr/>
        </p:nvSpPr>
        <p:spPr>
          <a:xfrm>
            <a:off x="640080" y="2722626"/>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Uzay istasyonundaki astronotlar da aynı nedenle süzülür.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İstasyonun bulunduğu yaklaşık 400 km yükseklikte yerçekimi ivmesi hâlâ 8,7 m/s² civarındadır, yani yeryüzündekinin yaklaşık %89'u.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İstasyon ve içindeki her şey Dünya'nın çevresinde sürekli olarak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birlikte düşer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yalnızca yana doğru o kadar hızlı gider ki yere hiç ulaşamaz.</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ivmeyle birlikte düşen cisimler birbirine bastırmaz ve ağırlıksızlık hissedilir. Düşme kuleleri, parabolik uçuşlar ve uzay istasyonu bu ilkeyle çalışır.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Düşen bir asansörün içinde elinden bıraktığın anahtar ne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Serbest düşme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Düşen bir asansörün içinde elinden bıraktığın anahtar ne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Anahtar da sen de asansör de aynı ivmeyle, g ile düştüğünüz için anahtar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elinin yanında asılı kalıyormuş gibi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görünür. Yere göre düşmeye devam eder, ama sana göre hareketsizdir. Ağırlıksızlık yerçekiminin yokluğu değil, herkesin birlikte serbest düşmesidir.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2 saniye sonra hız ve yol</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45 m yükseklikten bırakılan cisim</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yükseklik, farklı gökcismi</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20 m/s ile yukarı atılan cisim</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Son 1 saniyede 25 m düşen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Balkondan yukarı atılan top</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 saniye sonra hız ve yol</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köprüden serbest bırakılan taş 2 saniye sonra suya çarpıyor. (a) Taşın suya çarpma hızını, (b) köprünün su yüzeyinden yüksekliğini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0 (taş serbest bırakılıyor)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 = 2 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suya çarpma hızı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köprünün yüksekliği 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 saniye sonra hız ve yol</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Hız her saniye 10 m/s artar: v = g·t = 10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 = ½·g·t² = ½ · 10 · 2²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ortalama hız (0 + 20)/2 = 10 m/s, 2 saniyede 10 · 2 = 20 m ✓</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45 m yükseklikten bırakılan cisim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45 m yüksekten serbest bırakılan bir cisim için: (a) düşme süresini, (b) yere çarpma hızını, (c) hareketin 2. saniyesinde aldığı yolu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45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düşme süresi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çarpma hızı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2. saniyede alınan yol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45 m yükseklikten bırakılan cisim</a:t>
            </a:r>
            <a:endParaRPr lang="en-US" sz="1450" dirty="0"/>
          </a:p>
        </p:txBody>
      </p:sp>
      <p:sp>
        <p:nvSpPr>
          <p:cNvPr id="8" name="Shape 6"/>
          <p:cNvSpPr/>
          <p:nvPr/>
        </p:nvSpPr>
        <p:spPr>
          <a:xfrm>
            <a:off x="640080" y="1645920"/>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54458"/>
            <a:ext cx="420624" cy="420624"/>
          </a:xfrm>
          <a:prstGeom prst="roundRect">
            <a:avLst>
              <a:gd name="adj" fmla="val 26000"/>
            </a:avLst>
          </a:prstGeom>
          <a:solidFill>
            <a:srgbClr val="A56209"/>
          </a:solidFill>
          <a:ln/>
        </p:spPr>
      </p:sp>
      <p:sp>
        <p:nvSpPr>
          <p:cNvPr id="10" name="Text 8"/>
          <p:cNvSpPr txBox="1"/>
          <p:nvPr/>
        </p:nvSpPr>
        <p:spPr>
          <a:xfrm>
            <a:off x="914400" y="195445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27971"/>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 = ½·g·t² → 45 = ½·10·t² → t² = 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3 s</a:t>
            </a:r>
            <a:endParaRPr lang="en-US" sz="2000" dirty="0"/>
          </a:p>
        </p:txBody>
      </p:sp>
      <p:sp>
        <p:nvSpPr>
          <p:cNvPr id="12" name="Shape 10"/>
          <p:cNvSpPr/>
          <p:nvPr/>
        </p:nvSpPr>
        <p:spPr>
          <a:xfrm>
            <a:off x="640080" y="2848211"/>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20890"/>
            <a:ext cx="420624" cy="420624"/>
          </a:xfrm>
          <a:prstGeom prst="roundRect">
            <a:avLst>
              <a:gd name="adj" fmla="val 26000"/>
            </a:avLst>
          </a:prstGeom>
          <a:solidFill>
            <a:srgbClr val="A56209"/>
          </a:solidFill>
          <a:ln/>
        </p:spPr>
      </p:sp>
      <p:sp>
        <p:nvSpPr>
          <p:cNvPr id="14" name="Text 12"/>
          <p:cNvSpPr txBox="1"/>
          <p:nvPr/>
        </p:nvSpPr>
        <p:spPr>
          <a:xfrm>
            <a:off x="914400" y="342089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03075"/>
            <a:ext cx="9859975" cy="1456254"/>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g·t = 10 · 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v = 30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(kontrol: v² = 2gh = 2·10·45 = 900 → v = 30 m/s ✓)</a:t>
            </a:r>
            <a:endParaRPr lang="en-US" sz="2000" dirty="0"/>
          </a:p>
        </p:txBody>
      </p:sp>
      <p:sp>
        <p:nvSpPr>
          <p:cNvPr id="16" name="Shape 14"/>
          <p:cNvSpPr/>
          <p:nvPr/>
        </p:nvSpPr>
        <p:spPr>
          <a:xfrm>
            <a:off x="640080" y="4578786"/>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151465"/>
            <a:ext cx="420624" cy="420624"/>
          </a:xfrm>
          <a:prstGeom prst="roundRect">
            <a:avLst>
              <a:gd name="adj" fmla="val 26000"/>
            </a:avLst>
          </a:prstGeom>
          <a:solidFill>
            <a:srgbClr val="A56209"/>
          </a:solidFill>
          <a:ln/>
        </p:spPr>
      </p:sp>
      <p:sp>
        <p:nvSpPr>
          <p:cNvPr id="18" name="Text 16"/>
          <p:cNvSpPr txBox="1"/>
          <p:nvPr/>
        </p:nvSpPr>
        <p:spPr>
          <a:xfrm>
            <a:off x="914400" y="515146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633650"/>
            <a:ext cx="9859975" cy="1456254"/>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İlk 2 s'de 20 m, ilk 1 s'de 5 m alınır; fark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'dir. 1 : 3 : 5 kuralıyla da ikinci saniyenin payı 3h = 3·5 = 15 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10 m yüksekten bırakılan bir cisim Dünya'da ve Ay'da kaç saniyede yere iner? (g</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Dünya</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9,81 m/s², g</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Ay</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1,62 m/s²)</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10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gDünya = 9,81 m/s²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gAy = 1,62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gökcisminde düşme süreleri ve oranları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√(2h / g) bağıntısı kullanılır.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Dünya: t = √(20 / 9,81)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1,43 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 t = √(20 / 1,62)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3,51 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Oran: √(9,81 / 1,62) ≈ 2,46 → Ay'da düşüş yaklaşık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2,5 kat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uzun sürer. Laboratuvardaki gökcismi düğmeleriyle bunu deneyebilirsin.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20 m/s ile yukarı atılan cisim</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Yerden 20 m/s hızla düşey yukarı atılan cisim için: (a) çıkabileceği en büyük yüksekliği, (b) havada kalma süresini, (c) 15 m yükseklikteki süratini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20 m/s (yukarı)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 (aşağı)</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en büyük yükseklik hmaks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havada kalma süresi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15 m'deki sürat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20 m/s ile yukarı atılan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v₀² / (2g) = 400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çıkış</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v₀ / g = 2 s → toplam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s</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v² = v₀² − 2·g·h = 400 − 300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v = 10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Cisim 15 m'den biri çıkarken biri inerken iki kez geçer; sürat iki geçişte de aynıdır.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Son 1 saniyede 25 m düşen cisim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Serbest bırakılan bir cisim, yere çarpmadan önceki son 1 saniyede 25 m yol alıyor. Cisim kaç metreden bırakılmıştır?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1 saniyedeki yol = 25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cismin bırakıldığı yükseklik 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Son 1 saniyede 25 m düşen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Toplam süreye t diyelim. Son saniyedeki yol = h(t) − h(t−1) = 25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5t² − 5(t−1)² = 25 → 5(2t − 1) = 25 → 2t − 1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3 s</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 = 5 · 3²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 m</a:t>
            </a:r>
            <a:endParaRPr lang="en-US" sz="2000" dirty="0"/>
          </a:p>
        </p:txBody>
      </p:sp>
      <p:sp>
        <p:nvSpPr>
          <p:cNvPr id="20" name="Shape 18"/>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Text 19"/>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22" name="Text 20"/>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1 : 3 : 5 kuralında son terim 5h = 25 m ise h = 5 m, toplam (1+3+5)·5 = 45 m.</a:t>
            </a:r>
            <a:endParaRPr lang="en-US" sz="15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Balkondan yukarı atılan top</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balkondan 10 m/s hızla düşey yukarı atılan top, atıldıktan 3 s sonra yere çarpıyor. (a) Balkonun yerden yüksekliğini, (b) topun yere çarpma süratini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10 m/s (yukarı)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topun havada kaldığı süre t = 3 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balkonun yerden yüksekliği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topun yere çarpma sürati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Balkondan yukarı atılan top</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Yukarıyı pozitif seçelim: v₀ = +10 m/s, ivme −10 m/s². Konum: y = v₀·t − ½·g·t².</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3 s'de y = 10·3 − 5·9 = 30 − 45 = −15 m. Eksi işaret topun balkonun 15 m altında olduğunu söyler: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balkon 15 m yüksekte</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Balkondan yukarı atılan top</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v = v₀ − g·t = 10 − 30 = −20 m/s → yere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süratle, aşağı doğru çarpar.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v² = v₀² + 2·g·h = 100 + 2·10·15 = 400 → v = 20 m/s ✓. Top 1 s çıkıp 5 m yükselir, sonra 20 m'den serbest düşer: 2 s. Toplam 3 s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Serbest bırakılan bir taşın hızı 3 saniye sonra kaç m/s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Serbest bırakılan bir taşın hızı 3 saniye sonra kaç m/s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Hız her saniye 10 m/s artar: v = g · t = 10 · 3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20 m yükseklikten bırakılan bir cisim kaç saniyede yere düşer?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20 m yükseklikten bırakılan bir cisim kaç saniyede yere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 = ½ · g · t² → 20 = 5 · t² → t²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 = 2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80 m yükseklikten bırakılan bir top yere kaç m/s hızla çarpar?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80 m yükseklikten bırakılan bir top yere kaç m/s hızla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Süre sorulmadığı için v² = 2 · g · h: v² = 2 · 10 · 80 = 1600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v = 40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80 = 5 · t² → t = 4 s ve v = 10 · 4 = 40 m/s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30 m/s hızla yukarı atılan bir top en fazla kaç metre yükselir ve kaç saniye sonra atıldığı yere döner?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30 m/s hızla yukarı atılan bir top en fazla kaç metre yükselir ve kaç saniye sonra atıldığı yere döner?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maks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v₀² / (2g) = 900 / 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45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Çıkış 30 / 10 = 3 s, iniş de 3 s sürer: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sonra geri döner.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Serbest bırakılan bir cisim hareketinin 4. saniyesinde kaç metre yol alır?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Serbest bırakılan bir cisim hareketinin 4. saniyesinde kaç metre yol alır?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İlk 4 saniyede 5 · 4² = 80 m, ilk 3 saniyede 5 · 3² = 45 m yol alır. 4. saniyedeki yol farktır: 80 − 45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35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 : 3 : 5 : 7 kuralıyla da aynı sonuç çıkar: 7 · 5 = 35 m.</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“Ağır cisim önce düşer.”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Hava direnci ihmal edildiğinde kütle hiç rol oynamaz.</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“Tepe noktada ivme sıfırdır.”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Sıfır olan hızdır; ivme orada da g'dir.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v = 2gh yazmak.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Doğrusu </a:t>
            </a:r>
            <a:pPr indent="0" marL="0">
              <a:lnSpc>
                <a:spcPct val="108000"/>
              </a:lnSpc>
              <a:buNone/>
            </a:pPr>
            <a:r>
              <a:rPr lang="en-US" sz="1700" b="1" dirty="0">
                <a:solidFill>
                  <a:srgbClr val="0E1426"/>
                </a:solidFill>
                <a:latin typeface="Calibri" pitchFamily="34" charset="0"/>
                <a:ea typeface="Calibri" pitchFamily="34" charset="-122"/>
                <a:cs typeface="Calibri" pitchFamily="34" charset="-120"/>
              </a:rPr>
              <a:t>v² = 2gh</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karekök almayı unutma. Birim kontrolü bu hatayı hemen yakalar.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İlk hızlı hareketi serbest düşme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v₀ ≠ 0 ise hareket düşey atıştır.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1 : 3 : 5 ile 1 : 4 : 9'u karıştırmak.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Birincisi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her aralıkta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ikincisi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baştan itibaren toplam</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alınan yoldur.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İşaretleri karıştırmak.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Başta bir yön pozitif seçilir ve soru boyunca değiştirilmez. Aşağı pozitif seçtiysen yukarı hızlar negatif yazılır.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1072134"/>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Yüksekliği iki katına çıkarınca sürenin de iki katına çıktığını sanmak.</a:t>
            </a:r>
            <a:endParaRPr lang="en-US" sz="1900" dirty="0"/>
          </a:p>
        </p:txBody>
      </p:sp>
      <p:sp>
        <p:nvSpPr>
          <p:cNvPr id="25" name="Shape 23"/>
          <p:cNvSpPr/>
          <p:nvPr/>
        </p:nvSpPr>
        <p:spPr>
          <a:xfrm>
            <a:off x="841248" y="5278374"/>
            <a:ext cx="310896" cy="310896"/>
          </a:xfrm>
          <a:prstGeom prst="roundRect">
            <a:avLst>
              <a:gd name="adj" fmla="val 26471"/>
            </a:avLst>
          </a:prstGeom>
          <a:solidFill>
            <a:srgbClr val="EAF7DC"/>
          </a:solidFill>
          <a:ln/>
        </p:spPr>
      </p:sp>
      <p:sp>
        <p:nvSpPr>
          <p:cNvPr id="26" name="Text 24"/>
          <p:cNvSpPr txBox="1"/>
          <p:nvPr/>
        </p:nvSpPr>
        <p:spPr>
          <a:xfrm>
            <a:off x="841248" y="527837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5260086"/>
            <a:ext cx="4523080" cy="756666"/>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Süre karekökle artar: 4 kat yükseklik → 2 kat süre.</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“Ağırlıksız hisseden astronotun ağırlığı yoktur.”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Yerçekimi oradadır; ağırlıksızlık, astronotun ve istasyonun birlikte serbest düşmesinden doğar.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Dünya'da </a:t>
            </a:r>
            <a:pPr indent="0" marL="0">
              <a:buNone/>
            </a:pPr>
            <a:r>
              <a:rPr lang="en-US" sz="1500" b="1" dirty="0">
                <a:solidFill>
                  <a:srgbClr val="FFFFFF"/>
                </a:solidFill>
                <a:latin typeface="Calibri" pitchFamily="34" charset="0"/>
                <a:ea typeface="Calibri" pitchFamily="34" charset="-122"/>
                <a:cs typeface="Calibri" pitchFamily="34" charset="-120"/>
              </a:rPr>
              <a:t>g = 9,81 m/s²</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Kütle </a:t>
            </a:r>
            <a:pPr indent="0" marL="0">
              <a:buNone/>
            </a:pPr>
            <a:r>
              <a:rPr lang="en-US" sz="1500" b="1" dirty="0">
                <a:solidFill>
                  <a:srgbClr val="FFFFFF"/>
                </a:solidFill>
                <a:latin typeface="Calibri" pitchFamily="34" charset="0"/>
                <a:ea typeface="Calibri" pitchFamily="34" charset="-122"/>
                <a:cs typeface="Calibri" pitchFamily="34" charset="-120"/>
              </a:rPr>
              <a:t>fark etmez</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Yol </a:t>
            </a:r>
            <a:pPr indent="0" marL="0">
              <a:buNone/>
            </a:pPr>
            <a:r>
              <a:rPr lang="en-US" sz="1500" b="1" dirty="0">
                <a:solidFill>
                  <a:srgbClr val="FFFFFF"/>
                </a:solidFill>
                <a:latin typeface="Calibri" pitchFamily="34" charset="0"/>
                <a:ea typeface="Calibri" pitchFamily="34" charset="-122"/>
                <a:cs typeface="Calibri" pitchFamily="34" charset="-120"/>
              </a:rPr>
              <a:t>t² ile</a:t>
            </a:r>
            <a:pPr indent="0" marL="0">
              <a:buNone/>
            </a:pPr>
            <a:r>
              <a:rPr lang="en-US" sz="1500" dirty="0">
                <a:solidFill>
                  <a:srgbClr val="C3CEE8"/>
                </a:solidFill>
                <a:latin typeface="Calibri" pitchFamily="34" charset="0"/>
                <a:ea typeface="Calibri" pitchFamily="34" charset="-122"/>
                <a:cs typeface="Calibri" pitchFamily="34" charset="-120"/>
              </a:rPr>
              <a:t> artar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Eşit sürelerde </a:t>
            </a:r>
            <a:pPr indent="0" marL="0">
              <a:buNone/>
            </a:pPr>
            <a:r>
              <a:rPr lang="en-US" sz="1500" b="1" dirty="0">
                <a:solidFill>
                  <a:srgbClr val="FFFFFF"/>
                </a:solidFill>
                <a:latin typeface="Calibri" pitchFamily="34" charset="0"/>
                <a:ea typeface="Calibri" pitchFamily="34" charset="-122"/>
                <a:cs typeface="Calibri" pitchFamily="34" charset="-120"/>
              </a:rPr>
              <a:t>1 : 3 : 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g · t</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½ · g · t²</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v² = 2 · g · h</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 = √(2h / g)</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dersler.perinet.org/serbest-dusme.html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İki boyutta sabit ivmeli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107</Slides>
  <Notes>107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107</vt:i4>
      </vt:variant>
    </vt:vector>
  </HeadingPairs>
  <TitlesOfParts>
    <vt:vector size="11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 — Dersler</dc:title>
  <dc:subject>Fizik · Kuvvet ve Hareket</dc:subject>
  <dc:creator>Dersler</dc:creator>
  <cp:lastModifiedBy>Dersler</cp:lastModifiedBy>
  <cp:revision>1</cp:revision>
  <dcterms:created xsi:type="dcterms:W3CDTF">2026-09-30T08:43:38Z</dcterms:created>
  <dcterms:modified xsi:type="dcterms:W3CDTF">2026-09-30T08:43:38Z</dcterms:modified>
</cp:coreProperties>
</file>