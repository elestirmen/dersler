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kuş tüyünü ve bir çelik bilyeyi aynı anda bıraksan hangisi önce yere iner? Havası boşaltılmış bir cam tüpte ikisi de tam olarak aynı anda düşer — Ay'da bu deney 1971'de gerçekten yapıldı. Demek ki düşüşü belirleyen şey cismin ağırlığı değil; yalnızca geçen süre. Aşağıda önce bunun nedenini kuracağız, sonra süreyi, hızı ve yolu birbirine bağlayan dört bağıntıyı çıkaracağız.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Bir kuş tüyünü ve bir çelik bilyeyi aynı anda bıraksan hangisi önce yere iner? Havası boşaltılmış bir cam tüpte ikisi de tam olarak aynı anda düşer — Ay'da bu deney 1971'de gerçekten yapıldı. Demek ki düşüşü belirleyen şey cismin ağırlığı değil; yalnızca geçen süre. Aşağıda önce bunun nedenini kuracağız, sonra süreyi, hızı ve yolu birbirine bağlayan dört bağıntıyı çıkaracağız.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Serbest düşme nedir?
2. Kütle neden fark etmez?
3. Temel bağıntılar
4. Grafikler ve yorumu
5. Eşit zaman aralıkları: 1 : 3 : 5 kuralı
6. Düşey atış: yukarı fırlatınca ne değişir?
7. Gerçekte hava direnci ve limit hız
8. Çözümlü örnekler
9.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 nedir?
Bir cisim ilk hızsız olarak bırakıldığında ve üzerine yalnızca yerçekimi kuvveti etki ettiğinde yaptığı harekete serbest düşme denir. Hareket düşey doğrultudadır, aşağı yöndedir ve ivmesi sabittir.
Bir hareketin “serbest düşme” sayılması için üç koşul aranır:
• İlk hız sıfırdır (v₀ = 0): cisim atılmaz, bırakılır.
• Hava direnci ihmal edilir; tek kuvvet ağırlıktır (G = m·g).
• İvme sabittir ve yerçekimi ivmesi g'ye eşittir.
Serbest düşme, sabit ivmeli doğrusal hareketin özel bir hâlidir: ivmenin adı g, yönü daima yerin merkezine doğrudur.
g ne kadar? Dünya yüzeyinde ortalama 9,81 m/s²'dir; ekvatorda 9,78, kutuplarda 9,83 civarına iner-çıkar. İşlem kolaylığı için problemlerde çoğunlukla g = 10 m/s² alınır. Ay'da 1,62 · Mars'ta 3,72 · Jüpiter'de 24,79 m/s².
Çizim: Üç koşul tek karede: cisim ilk hızsız bırakılır, üzerindeki tek kuvvet ağırlıktır, bu yüzden ivmesi sabit kalır ve g'ye eşit olur. Eşit sürelerle çekilmiş strobo görüntülerinin arası sürekli açılıyor; çünkü hız her saniye aynı miktarda büyüyor.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neden fark etmez?
Sezgi “ağır olan daha hızlı düşer” der, ama Newton'un ikinci yasası bunun tersini söyler. Düşen cisme etki eden tek kuvvet ağırlığıdır:
F = m · a   m · g = m · a   a = g
Kütle eşitliğin iki yanında da bulunduğu için sadeleşir. Ağır cisim daha çok çekilir, ama aynı oranda da harekete direnir (eylemsizliği fazladır); iki etki birbirini tam olarak götürür. Sonuç: 10 gramlık bilye ile 10 kiloluk gülle aynı anda yere düşer.
Galileo bunu 1600'lerin başında savundu; 1971'de Apollo 15 astronotu David Scott, havasız Ay yüzeyinde bir şahin tüyü ile alüminyum çekici aynı anda bıraktı. İkisi de aynı anda toza değdi. Günlük hayatta tüyün geride kalmasının sebebi kütlesi değil, hava direncidir.
Çizim: Ağır cisim daha büyük bir kuvvetle çekilir (m·g), ama tam o oranda harekete de direnir (m·a). Kütle eşitliğin iki yanında da bulunduğu için sadeleşir ve geriye yalnızca a = g kalır. Bu yüzden 8 kat ağır olan cisim, hafif olanla hep aynı hizada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bağıntılar
Aşağı yönü pozitif alalım: v₀ = 0, a = g. Sabit ivmeli hareketin denklemleri doğrudan serbest düşmenin denklemlerine dönüşür (h: alınan yol, t: düşme süresi):
v = g · t   h = ½ · g · t²   v² = 2 · g · h   t = √(2h / g)   vort = h / t = v / 2
Üçüncü bağıntı nereden geliyor?
İlk ikisinde süreyi yok edelim. v = g·t ifadesinden t = v/g yazıp ikinciye koyarsak: h = ½·g·(v/g)² = v² / (2g), yani v² = 2·g·h. Süre sorulmayan sorularda doğrudan bu bağıntıyı kullanmak en kısa yoldur.
Hemen okunacak üç sonuç: Düşme süresi yüksekliğin kareköküyle artar (yükseklik 4 katına çıkarsa süre 2 katına çıkar). Çarpma hızı da yüksekliğin kareköküyle artar. Alınan yol ise sürenin karesiyle büyür.
Çizim: Serbest düşmede üç büyüklük vardır ve her ikisini birbirine bir kenar bağlar. Soruda hangi ikisi geçiyorsa o kenardaki bağıntıyı kullan: süre ile hız arasında v = g·t, süre ile yol arasında h = ½g·t², sürenin hiç geçmediği sorularda v² = 2gh.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Grafikler ve yorumu
Sayfadaki laboratuvarın altında bu üç grafik canlı çiziliyor. Ezberlemek yerine eğim–alan ilişkisini kurmak yeterli:
Grafik | Şekli | Eğimi | Altındaki alan
a – t | Zaman eksenine paralel doğru (a = g) | Sıfır | Hız değişimi (Δv)
v – t | Orijinden geçen doğru (v = g·t) | İvme, g | Alınan yol (h)
h – t | Yukarı açılan parabol (h = ½g·t²) | O andaki anlık hız | —
v – t doğrusunun altındaki üçgenin alanı ½·t·(g·t) = ½·g·t² eder; bu da tam olarak alınan yoldur. Grafikler birbirini böyle doğrular.
Çizim: Üç grafiği ezberlemek yerine birbirine bağla: bir grafiğin eğimi bir üsttekini, altındaki alan bir alttakini verir. v–t doğrusunun altındaki üçgenin alanı ½·t·(g·t) = ½g·t²'dir — yani tam olarak alınan yol. Sayfadaki laboratuvarın altında bu üç grafik sen izlerken çiziliyor.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Eşit zaman aralıkları: 1 : 3 : 5 kuralı
Düşüşü eşit süreli dilimlere bölelim (her biri Δt). İlk dilimde alınan yol h = ½·g·Δt² olsun. O zaman ardışık dilimlerde alınan yollar:
1h : 3h : 5h : 7h : 9h   (tek sayılar)
Baştan itibaren toplam yollar ise 1h, 4h, 9h, 16h, 25h olur — yani 1 : 4 : 9 : 16, sürenin karesiyle orantılı. İki dizi de aynı şeyi söyler: toplam yollardaki farkları alırsan tek sayıları bulursun.
Hızlar da eşit sürelerde eşit miktarda artar: Δt sonunda g·Δt, 2Δt sonunda 2g·Δt… yani 1 : 2 : 3 : 4. Bu üç diziyi karıştırmamak sınavda zaman kazandırır.
Çizim: Aynı düşüşün üç ayrı okuması. Her aralıkta alınan yollar tek sayılarla gider (1 : 3 : 5 : 7); baştan itibaren toplam yol sürenin karesiyle büyür (1 : 4 : 9 : 16); hız ise eşit adımlarla artar (1 : 2 : 3 : 4). Toplam yollardaki farkları alırsan tek sayıları bulursun — üç dizi aynı hareketi anlatır.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Düşey atış: yukarı fırlatınca ne değişir?
Cismi v₀ hızıyla yukarı atarsan artık “serbest düşme” değil düşey atış olur; ama ivme yine g'dir ve yine aşağı yöndedir. Yukarı çıkarken hız ile ivme zıt yönlü olduğu için cisim yavaşlayarak çıkar, tepe noktada hızı sıfırlanır, sonra serbest düşmeye başlar.
hmaks = v₀² / (2g)   tçıkış = v₀ / g   ttoplam = 2v₀ / g
Hareket simetriktir: çıkış süresi iniş süresine eşittir ve cisim aynı yükseklikten geçerken hızının büyüklüğü çıkışta da inişte de aynıdır, yalnızca yönü terstir. Atıldığı noktaya döndüğünde sürati v₀'a eşittir.
Tepe noktada ivme sıfır değildir. Hız sıfırdır, ivme hâlâ g'dir ve aşağı doğrudur. İvme sıfır olsaydı cisim orada asılı kalırdı.
Çizim: Düşey atış, serbest düşmenin aynadaki görüntüsüdür: çıkış süresi iniş süresine eşittir ve cisim aynı yükseklikten geçerken süratinin büyüklüğü iki geçişte de aynıdır. Tepe noktada hız sıfırlanır ama ivme sıfırlanmaz — sarı oklar her yerde aynı boydadır. İvme orada gerçekten sıfır olsaydı cisim havada asılı kalırdı.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Gerçekte hava direnci ve limit hız
Hava direnci hıza bağlı olarak artan, harekete ters yönlü bir kuvvettir. Cisim hızlandıkça direnç büyür; ağırlığa eşitlendiği anda net kuvvet sıfırlanır, ivme biter ve cisim sabit hızla düşmeye devam eder. Bu sabit hıza limit hız denir.
Bu kuvvet olmasaydı yağmurun altında durmak hayli tehlikeli olurdu: yağmur bulutları yaklaşık 2 km yüksekte olduğuna göre, damlalar yere v = √(2·9,81·2000) ≈ 198 m/s hızla — bir tabanca mermisi hızında — çarpardı. Hava direnci sayesinde bu hız 8–9 m/s'de kalıyor.
• Yağmur damlası: yaklaşık 8–9 m/s
• Paraşütsüz atlayan bir insan: yaklaşık 55 m/s
• Paraşüt açıldığında: yaklaşık 5 m/s
Yüzey alanı büyük, kütlesi küçük cisimler (tüy, kâğıt, tüy topu) limit hıza çok çabuk ulaşır; bu yüzden “yavaş düşüyor” gibi görünürler. Havası boşaltılmış bir tüpte bu fark tamamen kaybolur.
Çizim: Hava direnci hız arttıkça büyür. Ağırlığa eşitlendiği anda net kuvvet sıfırlanır, ivme biter ve cisim sabit hızla düşmeye devam eder. v–t eğrisi bu yüzden düz bir doğru olarak başlayıp yatay bir çizgiye doğru yatar; mor kesikli çizgi hava direnci hiç olmasaydı hızın nereye gideceğini gösteriyor.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45 m yükseklikten bırakılan cisim
45 m yüksekten serbest bırakılan bir cisim için: (a) düşme süresini, (b) yere çarpma hızını, (c) hareketin 2. saniyesinde aldığı yolu bulunuz.
1. (a) h = ½·g·t² → 45 = ½·10·t² → t² = 9 → t = 3 s
2. (b) v = g·t = 10 · 3 → v = 30 m/s (kontrol: v² = 2gh = 2·10·45 = 900 → v = 30 m/s ✓)
3. (c) İlk 2 s'de 20 m, ilk 1 s'de 5 m alınır; fark 15 m'dir. 1 : 3 : 5 kuralıyla da ikinci saniyenin payı 3h = 3·5 = 15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Son 1 saniyede 25 m düşen cisim
Serbest bırakılan bir cisim, yere çarpmadan önceki son 1 saniyede 25 m yol alıyor. Cisim kaç metreden bırakılmıştır?
1. Toplam süreye t diyelim. Son saniyedeki yol = h(t) − h(t−1) = 25 m.
2. 5t² − 5(t−1)² = 25 → 5(2t − 1) = 25 → 2t − 1 = 5 → t = 3 s
3. h = 5 · 3² = 45 m
Kısa yol: 1 : 3 : 5 kuralında son terim 5h = 25 m ise h = 5 m, toplam (1+3+5)·5 = 45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20 m/s ile yukarı atılan cisim
Yerden 20 m/s hızla düşey yukarı atılan cisim için: (a) çıkabileceği en büyük yüksekliği, (b) havada kalma süresini, (c) 15 m yükseklikteki süratini bulunuz.
1. (a) hmaks = v₀² / (2g) = 400 / 20 = 20 m
2. (b) tçıkış = v₀ / g = 2 s → toplam 4 s
3. (c) v² = v₀² − 2·g·h = 400 − 300 = 100 → v = 10 m/s. Cisim 15 m'den biri çıkarken biri inerken iki kez geçer; sürat iki geçişte de aynıdır.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Aynı yükseklik, farklı gökcismi
10 m yüksekten bırakılan bir cisim Dünya'da ve Ay'da kaç saniyede yere iner? (gDünya = 9,81 m/s², gAy = 1,62 m/s²)
1. t = √(2h / g) bağıntısı kullanılır.
2. Dünya: t = √(20 / 9,81) ≈ 1,43 s
3. Ay: t = √(20 / 1,62) ≈ 3,51 s
4. Oran: √(9,81 / 1,62) ≈ 2,46 → Ay'da düşüş yaklaşık 2,5 kat uzun sürer. Laboratuvardaki gökcismi düğmeleriyle bunu deneyebilirsin.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“Ağır cisim önce düşer.” Hava direnci ihmal edildiğinde kütle hiç rol oynamaz.
• “Tepe noktada ivme sıfırdır.” Sıfır olan hızdır; ivme orada da g'dir.
• v = 2gh yazmak. Doğrusu v² = 2gh; karekök almayı unutma.
• İlk hızlı hareketi serbest düşme sanmak. v₀ ≠ 0 ise hareket düşey atıştır.
• 1 : 3 : 5 ile 1 : 4 : 9'u karıştırmak. Birincisi her aralıkta, ikincisi baştan itibaren toplam alınan yoldur.
• İşaretleri karıştırmak. Başta bir yön pozitif seçilir ve soru boyunca değiştirilmez. Aşağı pozitif seçtiysen yukarı hızlar negatif yazılır.
• Yüksekliği iki katına çıkarınca sürenin de iki katına çıktığını sanmak. Süre karekökle artar: 4 kat yükseklik → 2 kat süre.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Dünya'da g = 9,81 m/s² · Kütle fark etmez · Yol t² ile artar · Eşit sürelerde 1 : 3 : 5
v = g · t — hız, süreyle doğru orantılı
h = ½ · g · t² — yol, sürenin karesiyle
v² = 2 · g · h — süre bilinmiyorsa
t = √(2h / g) — düşme süresi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9509760" y="2651760"/>
            <a:ext cx="1828800" cy="1828800"/>
          </a:xfrm>
          <a:prstGeom prst="ellipse">
            <a:avLst/>
          </a:prstGeom>
          <a:ln w="9525">
            <a:solidFill>
              <a:srgbClr val="82AAFF">
                <a:alpha val="16000"/>
              </a:srgbClr>
            </a:solidFill>
            <a:prstDash val="solid"/>
          </a:ln>
        </p:spPr>
      </p:sp>
      <p:sp>
        <p:nvSpPr>
          <p:cNvPr id="3" name="Shape 1"/>
          <p:cNvSpPr/>
          <p:nvPr/>
        </p:nvSpPr>
        <p:spPr>
          <a:xfrm>
            <a:off x="8686800" y="1828800"/>
            <a:ext cx="3474720" cy="3474720"/>
          </a:xfrm>
          <a:prstGeom prst="ellipse">
            <a:avLst/>
          </a:prstGeom>
          <a:ln w="9525">
            <a:solidFill>
              <a:srgbClr val="A093FF">
                <a:alpha val="13000"/>
              </a:srgbClr>
            </a:solidFill>
            <a:prstDash val="solid"/>
          </a:ln>
        </p:spPr>
      </p:sp>
      <p:sp>
        <p:nvSpPr>
          <p:cNvPr id="4" name="Shape 2"/>
          <p:cNvSpPr/>
          <p:nvPr/>
        </p:nvSpPr>
        <p:spPr>
          <a:xfrm>
            <a:off x="7863840" y="1005840"/>
            <a:ext cx="5120640" cy="5120640"/>
          </a:xfrm>
          <a:prstGeom prst="ellipse">
            <a:avLst/>
          </a:prstGeom>
          <a:ln w="9525">
            <a:solidFill>
              <a:srgbClr val="82AAFF">
                <a:alpha val="10000"/>
              </a:srgbClr>
            </a:solidFill>
            <a:prstDash val="solid"/>
          </a:ln>
        </p:spPr>
      </p:sp>
      <p:sp>
        <p:nvSpPr>
          <p:cNvPr id="5" name="Shape 3"/>
          <p:cNvSpPr/>
          <p:nvPr/>
        </p:nvSpPr>
        <p:spPr>
          <a:xfrm>
            <a:off x="7461504" y="5541264"/>
            <a:ext cx="73152" cy="73152"/>
          </a:xfrm>
          <a:prstGeom prst="ellipse">
            <a:avLst/>
          </a:prstGeom>
          <a:solidFill>
            <a:srgbClr val="82AAFF">
              <a:alpha val="45000"/>
            </a:srgbClr>
          </a:solidFill>
          <a:ln/>
        </p:spPr>
      </p:sp>
      <p:sp>
        <p:nvSpPr>
          <p:cNvPr id="6" name="Shape 4"/>
          <p:cNvSpPr/>
          <p:nvPr/>
        </p:nvSpPr>
        <p:spPr>
          <a:xfrm>
            <a:off x="7885684" y="4707862"/>
            <a:ext cx="78232" cy="78232"/>
          </a:xfrm>
          <a:prstGeom prst="ellipse">
            <a:avLst/>
          </a:prstGeom>
          <a:solidFill>
            <a:srgbClr val="82AAFF">
              <a:alpha val="48889"/>
            </a:srgbClr>
          </a:solidFill>
          <a:ln/>
        </p:spPr>
      </p:sp>
      <p:sp>
        <p:nvSpPr>
          <p:cNvPr id="7" name="Shape 5"/>
          <p:cNvSpPr/>
          <p:nvPr/>
        </p:nvSpPr>
        <p:spPr>
          <a:xfrm>
            <a:off x="8309864" y="4082175"/>
            <a:ext cx="83312" cy="83312"/>
          </a:xfrm>
          <a:prstGeom prst="ellipse">
            <a:avLst/>
          </a:prstGeom>
          <a:solidFill>
            <a:srgbClr val="82AAFF">
              <a:alpha val="52778"/>
            </a:srgbClr>
          </a:solidFill>
          <a:ln/>
        </p:spPr>
      </p:sp>
      <p:sp>
        <p:nvSpPr>
          <p:cNvPr id="8" name="Shape 6"/>
          <p:cNvSpPr/>
          <p:nvPr/>
        </p:nvSpPr>
        <p:spPr>
          <a:xfrm>
            <a:off x="8734044" y="3664204"/>
            <a:ext cx="88392" cy="88392"/>
          </a:xfrm>
          <a:prstGeom prst="ellipse">
            <a:avLst/>
          </a:prstGeom>
          <a:solidFill>
            <a:srgbClr val="82AAFF">
              <a:alpha val="56667"/>
            </a:srgbClr>
          </a:solidFill>
          <a:ln/>
        </p:spPr>
      </p:sp>
      <p:sp>
        <p:nvSpPr>
          <p:cNvPr id="9" name="Shape 7"/>
          <p:cNvSpPr/>
          <p:nvPr/>
        </p:nvSpPr>
        <p:spPr>
          <a:xfrm>
            <a:off x="9158224" y="3453948"/>
            <a:ext cx="93472" cy="93472"/>
          </a:xfrm>
          <a:prstGeom prst="ellipse">
            <a:avLst/>
          </a:prstGeom>
          <a:solidFill>
            <a:srgbClr val="82AAFF">
              <a:alpha val="60556"/>
            </a:srgbClr>
          </a:solidFill>
          <a:ln/>
        </p:spPr>
      </p:sp>
      <p:sp>
        <p:nvSpPr>
          <p:cNvPr id="10" name="Shape 8"/>
          <p:cNvSpPr/>
          <p:nvPr/>
        </p:nvSpPr>
        <p:spPr>
          <a:xfrm>
            <a:off x="9582404" y="3451408"/>
            <a:ext cx="98552" cy="98552"/>
          </a:xfrm>
          <a:prstGeom prst="ellipse">
            <a:avLst/>
          </a:prstGeom>
          <a:solidFill>
            <a:srgbClr val="82AAFF">
              <a:alpha val="64444"/>
            </a:srgbClr>
          </a:solidFill>
          <a:ln/>
        </p:spPr>
      </p:sp>
      <p:sp>
        <p:nvSpPr>
          <p:cNvPr id="11" name="Shape 9"/>
          <p:cNvSpPr/>
          <p:nvPr/>
        </p:nvSpPr>
        <p:spPr>
          <a:xfrm>
            <a:off x="10006584" y="3656584"/>
            <a:ext cx="103632" cy="103632"/>
          </a:xfrm>
          <a:prstGeom prst="ellipse">
            <a:avLst/>
          </a:prstGeom>
          <a:solidFill>
            <a:srgbClr val="82AAFF">
              <a:alpha val="68333"/>
            </a:srgbClr>
          </a:solidFill>
          <a:ln/>
        </p:spPr>
      </p:sp>
      <p:sp>
        <p:nvSpPr>
          <p:cNvPr id="12" name="Shape 10"/>
          <p:cNvSpPr/>
          <p:nvPr/>
        </p:nvSpPr>
        <p:spPr>
          <a:xfrm>
            <a:off x="10430764" y="4069475"/>
            <a:ext cx="108712" cy="108712"/>
          </a:xfrm>
          <a:prstGeom prst="ellipse">
            <a:avLst/>
          </a:prstGeom>
          <a:solidFill>
            <a:srgbClr val="82AAFF">
              <a:alpha val="72222"/>
            </a:srgbClr>
          </a:solidFill>
          <a:ln/>
        </p:spPr>
      </p:sp>
      <p:sp>
        <p:nvSpPr>
          <p:cNvPr id="13" name="Shape 11"/>
          <p:cNvSpPr/>
          <p:nvPr/>
        </p:nvSpPr>
        <p:spPr>
          <a:xfrm>
            <a:off x="10854944" y="4690082"/>
            <a:ext cx="113792" cy="113792"/>
          </a:xfrm>
          <a:prstGeom prst="ellipse">
            <a:avLst/>
          </a:prstGeom>
          <a:solidFill>
            <a:srgbClr val="82AAFF">
              <a:alpha val="76111"/>
            </a:srgbClr>
          </a:solidFill>
          <a:ln/>
        </p:spPr>
      </p:sp>
      <p:sp>
        <p:nvSpPr>
          <p:cNvPr id="14" name="Shape 12"/>
          <p:cNvSpPr/>
          <p:nvPr/>
        </p:nvSpPr>
        <p:spPr>
          <a:xfrm>
            <a:off x="11279124" y="5518404"/>
            <a:ext cx="118872" cy="118872"/>
          </a:xfrm>
          <a:prstGeom prst="ellipse">
            <a:avLst/>
          </a:prstGeom>
          <a:solidFill>
            <a:srgbClr val="C6F36B"/>
          </a:solidFill>
          <a:ln/>
        </p:spPr>
      </p:sp>
      <p:sp>
        <p:nvSpPr>
          <p:cNvPr id="15" name="Shape 13"/>
          <p:cNvSpPr/>
          <p:nvPr/>
        </p:nvSpPr>
        <p:spPr>
          <a:xfrm>
            <a:off x="868680" y="822960"/>
            <a:ext cx="310896" cy="310896"/>
          </a:xfrm>
          <a:prstGeom prst="roundRect">
            <a:avLst>
              <a:gd name="adj" fmla="val 29412"/>
            </a:avLst>
          </a:prstGeom>
          <a:solidFill>
            <a:srgbClr val="A9E648"/>
          </a:solidFill>
          <a:ln/>
        </p:spPr>
      </p:sp>
      <p:sp>
        <p:nvSpPr>
          <p:cNvPr id="16" name="Text 14"/>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17" name="Shape 15"/>
          <p:cNvSpPr/>
          <p:nvPr/>
        </p:nvSpPr>
        <p:spPr>
          <a:xfrm>
            <a:off x="640080" y="1965960"/>
            <a:ext cx="54864" cy="1097280"/>
          </a:xfrm>
          <a:prstGeom prst="rect">
            <a:avLst/>
          </a:prstGeom>
          <a:solidFill>
            <a:srgbClr val="C6F36B"/>
          </a:solidFill>
          <a:ln/>
        </p:spPr>
      </p:sp>
      <p:sp>
        <p:nvSpPr>
          <p:cNvPr id="18" name="Text 16"/>
          <p:cNvSpPr txBox="1"/>
          <p:nvPr/>
        </p:nvSpPr>
        <p:spPr>
          <a:xfrm>
            <a:off x="868680" y="1554480"/>
            <a:ext cx="76809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01</a:t>
            </a:r>
            <a:endParaRPr lang="en-US" sz="1300" dirty="0"/>
          </a:p>
        </p:txBody>
      </p:sp>
      <p:sp>
        <p:nvSpPr>
          <p:cNvPr id="19" name="Text 17"/>
          <p:cNvSpPr txBox="1"/>
          <p:nvPr/>
        </p:nvSpPr>
        <p:spPr>
          <a:xfrm>
            <a:off x="822960" y="1920240"/>
            <a:ext cx="7863840" cy="1188720"/>
          </a:xfrm>
          <a:prstGeom prst="rect">
            <a:avLst/>
          </a:prstGeom>
          <a:noFill/>
          <a:ln/>
        </p:spPr>
        <p:txBody>
          <a:bodyPr wrap="square" lIns="0" tIns="0" rIns="0" bIns="0" rtlCol="0" anchor="ctr"/>
          <a:lstStyle/>
          <a:p>
            <a:pPr indent="0" marL="0">
              <a:buNone/>
            </a:pPr>
            <a:r>
              <a:rPr lang="en-US" sz="4800" b="1" spc="-100" kern="0" dirty="0">
                <a:solidFill>
                  <a:srgbClr val="FFFFFF"/>
                </a:solidFill>
                <a:latin typeface="Cambria" pitchFamily="34" charset="0"/>
                <a:ea typeface="Cambria" pitchFamily="34" charset="-122"/>
                <a:cs typeface="Cambria" pitchFamily="34" charset="-120"/>
              </a:rPr>
              <a:t>Serbest düşme</a:t>
            </a:r>
            <a:endParaRPr lang="en-US" sz="4800" dirty="0"/>
          </a:p>
        </p:txBody>
      </p:sp>
      <p:sp>
        <p:nvSpPr>
          <p:cNvPr id="20" name="Text 18"/>
          <p:cNvSpPr txBox="1"/>
          <p:nvPr/>
        </p:nvSpPr>
        <p:spPr>
          <a:xfrm>
            <a:off x="868680" y="3291840"/>
            <a:ext cx="6766560" cy="1051560"/>
          </a:xfrm>
          <a:prstGeom prst="rect">
            <a:avLst/>
          </a:prstGeom>
          <a:noFill/>
          <a:ln/>
        </p:spPr>
        <p:txBody>
          <a:bodyPr wrap="square" lIns="0" tIns="0" rIns="0" bIns="0" rtlCol="0" anchor="ctr"/>
          <a:lstStyle/>
          <a:p>
            <a:pPr indent="0" marL="0">
              <a:lnSpc>
                <a:spcPct val="125000"/>
              </a:lnSpc>
              <a:buNone/>
            </a:pPr>
            <a:r>
              <a:rPr lang="en-US" sz="1550" dirty="0">
                <a:solidFill>
                  <a:srgbClr val="C3CEE8"/>
                </a:solidFill>
                <a:latin typeface="Calibri" pitchFamily="34" charset="0"/>
                <a:ea typeface="Calibri" pitchFamily="34" charset="-122"/>
                <a:cs typeface="Calibri" pitchFamily="34" charset="-120"/>
              </a:rPr>
              <a:t>Hava direncinin ihmal edildiği yerde bırakılan her cisim, kütlesi ne olursa olsun aynı ivmeyle düşer. Aşağıdaki dört deneyde bunu kendin ayarla, bırak ve ölç; grafikler sen izlerken çizilsin.</a:t>
            </a:r>
            <a:endParaRPr lang="en-US" sz="1550" dirty="0"/>
          </a:p>
        </p:txBody>
      </p:sp>
      <p:sp>
        <p:nvSpPr>
          <p:cNvPr id="21" name="Shape 19"/>
          <p:cNvSpPr/>
          <p:nvPr/>
        </p:nvSpPr>
        <p:spPr>
          <a:xfrm>
            <a:off x="868680" y="4553712"/>
            <a:ext cx="7680960" cy="566928"/>
          </a:xfrm>
          <a:prstGeom prst="roundRect">
            <a:avLst>
              <a:gd name="adj" fmla="val 16129"/>
            </a:avLst>
          </a:prstGeom>
          <a:solidFill>
            <a:srgbClr val="1C2542"/>
          </a:solidFill>
          <a:ln w="9525">
            <a:solidFill>
              <a:srgbClr val="2C3860"/>
            </a:solidFill>
            <a:prstDash val="solid"/>
          </a:ln>
        </p:spPr>
      </p:sp>
      <p:sp>
        <p:nvSpPr>
          <p:cNvPr id="22" name="Text 20"/>
          <p:cNvSpPr txBox="1"/>
          <p:nvPr/>
        </p:nvSpPr>
        <p:spPr>
          <a:xfrm>
            <a:off x="1097280" y="4553712"/>
            <a:ext cx="7315200" cy="566928"/>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 = g · t   ·   h = ½ · g · t²   ·   v² = 2 · g · h</a:t>
            </a:r>
            <a:endParaRPr lang="en-US" sz="135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Bir kuş tüyünü ve bir çelik bilyeyi aynı anda bıraksan hangisi önce yere iner? Havası boşaltılmış bir cam tüpte ikisi de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tam olarak aynı anda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düşer — Ay'da bu deney 1971'de gerçekten yapıldı. Demek ki düşüşü belirleyen şey cismin ağırlığı değil;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yalnızca geçen süre</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Aşağıda önce bunun nedenini kuracağız, sonra süreyi, hızı ve yolu birbirine bağlayan dört bağıntıyı çıkaracağız.</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 anlatımının dokuz başlığı, sırasıyla.</a:t>
            </a:r>
            <a:endParaRPr lang="en-US" sz="1450" dirty="0"/>
          </a:p>
        </p:txBody>
      </p:sp>
      <p:sp>
        <p:nvSpPr>
          <p:cNvPr id="6" name="Shape 4"/>
          <p:cNvSpPr/>
          <p:nvPr/>
        </p:nvSpPr>
        <p:spPr>
          <a:xfrm>
            <a:off x="640080"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77824" y="1792224"/>
            <a:ext cx="365760" cy="365760"/>
          </a:xfrm>
          <a:prstGeom prst="roundRect">
            <a:avLst>
              <a:gd name="adj" fmla="val 26000"/>
            </a:avLst>
          </a:prstGeom>
          <a:solidFill>
            <a:srgbClr val="2957D4"/>
          </a:solidFill>
          <a:ln/>
        </p:spPr>
      </p:sp>
      <p:sp>
        <p:nvSpPr>
          <p:cNvPr id="8" name="Text 6"/>
          <p:cNvSpPr txBox="1"/>
          <p:nvPr/>
        </p:nvSpPr>
        <p:spPr>
          <a:xfrm>
            <a:off x="877824"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371600"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Serbest düşme nedir?</a:t>
            </a:r>
            <a:endParaRPr lang="en-US" sz="1400" dirty="0"/>
          </a:p>
        </p:txBody>
      </p:sp>
      <p:sp>
        <p:nvSpPr>
          <p:cNvPr id="10" name="Text 8"/>
          <p:cNvSpPr txBox="1"/>
          <p:nvPr/>
        </p:nvSpPr>
        <p:spPr>
          <a:xfrm>
            <a:off x="896112"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Bir cisim ilk hızsız olarak bırakıldığında ve üzerine yalnızca yerçekimi kuvveti etki…</a:t>
            </a:r>
            <a:endParaRPr lang="en-US" sz="1050" dirty="0"/>
          </a:p>
        </p:txBody>
      </p:sp>
      <p:sp>
        <p:nvSpPr>
          <p:cNvPr id="11" name="Shape 9"/>
          <p:cNvSpPr/>
          <p:nvPr/>
        </p:nvSpPr>
        <p:spPr>
          <a:xfrm>
            <a:off x="4398264"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4636008" y="1792224"/>
            <a:ext cx="365760" cy="365760"/>
          </a:xfrm>
          <a:prstGeom prst="roundRect">
            <a:avLst>
              <a:gd name="adj" fmla="val 26000"/>
            </a:avLst>
          </a:prstGeom>
          <a:solidFill>
            <a:srgbClr val="5F4BD8"/>
          </a:solidFill>
          <a:ln/>
        </p:spPr>
      </p:sp>
      <p:sp>
        <p:nvSpPr>
          <p:cNvPr id="13" name="Text 11"/>
          <p:cNvSpPr txBox="1"/>
          <p:nvPr/>
        </p:nvSpPr>
        <p:spPr>
          <a:xfrm>
            <a:off x="4636008"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29784"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Kütle neden fark etmez?</a:t>
            </a:r>
            <a:endParaRPr lang="en-US" sz="1400" dirty="0"/>
          </a:p>
        </p:txBody>
      </p:sp>
      <p:sp>
        <p:nvSpPr>
          <p:cNvPr id="15" name="Text 13"/>
          <p:cNvSpPr txBox="1"/>
          <p:nvPr/>
        </p:nvSpPr>
        <p:spPr>
          <a:xfrm>
            <a:off x="4654296"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Sezgi “ağır olan daha hızlı düşer” der, ama Newton'un ikinci yasası bunun tersini söyler.</a:t>
            </a:r>
            <a:endParaRPr lang="en-US" sz="1050" dirty="0"/>
          </a:p>
        </p:txBody>
      </p:sp>
      <p:sp>
        <p:nvSpPr>
          <p:cNvPr id="16" name="Shape 14"/>
          <p:cNvSpPr/>
          <p:nvPr/>
        </p:nvSpPr>
        <p:spPr>
          <a:xfrm>
            <a:off x="8156448"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8394192" y="1792224"/>
            <a:ext cx="365760" cy="365760"/>
          </a:xfrm>
          <a:prstGeom prst="roundRect">
            <a:avLst>
              <a:gd name="adj" fmla="val 26000"/>
            </a:avLst>
          </a:prstGeom>
          <a:solidFill>
            <a:srgbClr val="3C8C21"/>
          </a:solidFill>
          <a:ln/>
        </p:spPr>
      </p:sp>
      <p:sp>
        <p:nvSpPr>
          <p:cNvPr id="18" name="Text 16"/>
          <p:cNvSpPr txBox="1"/>
          <p:nvPr/>
        </p:nvSpPr>
        <p:spPr>
          <a:xfrm>
            <a:off x="8394192"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887968"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Temel bağıntılar</a:t>
            </a:r>
            <a:endParaRPr lang="en-US" sz="1400" dirty="0"/>
          </a:p>
        </p:txBody>
      </p:sp>
      <p:sp>
        <p:nvSpPr>
          <p:cNvPr id="20" name="Text 18"/>
          <p:cNvSpPr txBox="1"/>
          <p:nvPr/>
        </p:nvSpPr>
        <p:spPr>
          <a:xfrm>
            <a:off x="8412480"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Aşağı yönü pozitif alalım: v₀ = 0, a = g.</a:t>
            </a:r>
            <a:endParaRPr lang="en-US" sz="1050" dirty="0"/>
          </a:p>
        </p:txBody>
      </p:sp>
      <p:sp>
        <p:nvSpPr>
          <p:cNvPr id="21" name="Shape 19"/>
          <p:cNvSpPr/>
          <p:nvPr/>
        </p:nvSpPr>
        <p:spPr>
          <a:xfrm>
            <a:off x="640080"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77824" y="3273552"/>
            <a:ext cx="365760" cy="365760"/>
          </a:xfrm>
          <a:prstGeom prst="roundRect">
            <a:avLst>
              <a:gd name="adj" fmla="val 26000"/>
            </a:avLst>
          </a:prstGeom>
          <a:solidFill>
            <a:srgbClr val="A56209"/>
          </a:solidFill>
          <a:ln/>
        </p:spPr>
      </p:sp>
      <p:sp>
        <p:nvSpPr>
          <p:cNvPr id="23" name="Text 21"/>
          <p:cNvSpPr txBox="1"/>
          <p:nvPr/>
        </p:nvSpPr>
        <p:spPr>
          <a:xfrm>
            <a:off x="877824"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371600"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Grafikler ve yorumu</a:t>
            </a:r>
            <a:endParaRPr lang="en-US" sz="1400" dirty="0"/>
          </a:p>
        </p:txBody>
      </p:sp>
      <p:sp>
        <p:nvSpPr>
          <p:cNvPr id="25" name="Text 23"/>
          <p:cNvSpPr txBox="1"/>
          <p:nvPr/>
        </p:nvSpPr>
        <p:spPr>
          <a:xfrm>
            <a:off x="896112"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Sayfadaki laboratuvarın altında bu üç grafik canlı çiziliyor.</a:t>
            </a:r>
            <a:endParaRPr lang="en-US" sz="1050" dirty="0"/>
          </a:p>
        </p:txBody>
      </p:sp>
      <p:sp>
        <p:nvSpPr>
          <p:cNvPr id="26" name="Shape 24"/>
          <p:cNvSpPr/>
          <p:nvPr/>
        </p:nvSpPr>
        <p:spPr>
          <a:xfrm>
            <a:off x="4398264"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7" name="Shape 25"/>
          <p:cNvSpPr/>
          <p:nvPr/>
        </p:nvSpPr>
        <p:spPr>
          <a:xfrm>
            <a:off x="4636008" y="3273552"/>
            <a:ext cx="365760" cy="365760"/>
          </a:xfrm>
          <a:prstGeom prst="roundRect">
            <a:avLst>
              <a:gd name="adj" fmla="val 26000"/>
            </a:avLst>
          </a:prstGeom>
          <a:solidFill>
            <a:srgbClr val="2957D4"/>
          </a:solidFill>
          <a:ln/>
        </p:spPr>
      </p:sp>
      <p:sp>
        <p:nvSpPr>
          <p:cNvPr id="28" name="Text 26"/>
          <p:cNvSpPr txBox="1"/>
          <p:nvPr/>
        </p:nvSpPr>
        <p:spPr>
          <a:xfrm>
            <a:off x="4636008"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29784"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Eşit zaman aralıkları: 1 : 3 : 5 kuralı</a:t>
            </a:r>
            <a:endParaRPr lang="en-US" sz="1400" dirty="0"/>
          </a:p>
        </p:txBody>
      </p:sp>
      <p:sp>
        <p:nvSpPr>
          <p:cNvPr id="30" name="Text 28"/>
          <p:cNvSpPr txBox="1"/>
          <p:nvPr/>
        </p:nvSpPr>
        <p:spPr>
          <a:xfrm>
            <a:off x="4654296"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Düşüşü eşit süreli dilimlere bölelim (her biri Δt).</a:t>
            </a:r>
            <a:endParaRPr lang="en-US" sz="1050" dirty="0"/>
          </a:p>
        </p:txBody>
      </p:sp>
      <p:sp>
        <p:nvSpPr>
          <p:cNvPr id="31" name="Shape 29"/>
          <p:cNvSpPr/>
          <p:nvPr/>
        </p:nvSpPr>
        <p:spPr>
          <a:xfrm>
            <a:off x="8156448"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2" name="Shape 30"/>
          <p:cNvSpPr/>
          <p:nvPr/>
        </p:nvSpPr>
        <p:spPr>
          <a:xfrm>
            <a:off x="8394192" y="3273552"/>
            <a:ext cx="365760" cy="365760"/>
          </a:xfrm>
          <a:prstGeom prst="roundRect">
            <a:avLst>
              <a:gd name="adj" fmla="val 26000"/>
            </a:avLst>
          </a:prstGeom>
          <a:solidFill>
            <a:srgbClr val="5F4BD8"/>
          </a:solidFill>
          <a:ln/>
        </p:spPr>
      </p:sp>
      <p:sp>
        <p:nvSpPr>
          <p:cNvPr id="33" name="Text 31"/>
          <p:cNvSpPr txBox="1"/>
          <p:nvPr/>
        </p:nvSpPr>
        <p:spPr>
          <a:xfrm>
            <a:off x="8394192"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887968"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Düşey atış: yukarı fırlatınca ne değişir?</a:t>
            </a:r>
            <a:endParaRPr lang="en-US" sz="1400" dirty="0"/>
          </a:p>
        </p:txBody>
      </p:sp>
      <p:sp>
        <p:nvSpPr>
          <p:cNvPr id="35" name="Text 33"/>
          <p:cNvSpPr txBox="1"/>
          <p:nvPr/>
        </p:nvSpPr>
        <p:spPr>
          <a:xfrm>
            <a:off x="8412480"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Cismi v₀ hızıyla yukarı atarsan artık “serbest düşme” değil düşey atış olur; ama ivme yine…</a:t>
            </a:r>
            <a:endParaRPr lang="en-US" sz="1050" dirty="0"/>
          </a:p>
        </p:txBody>
      </p:sp>
      <p:sp>
        <p:nvSpPr>
          <p:cNvPr id="36" name="Shape 34"/>
          <p:cNvSpPr/>
          <p:nvPr/>
        </p:nvSpPr>
        <p:spPr>
          <a:xfrm>
            <a:off x="640080"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877824" y="4754880"/>
            <a:ext cx="365760" cy="365760"/>
          </a:xfrm>
          <a:prstGeom prst="roundRect">
            <a:avLst>
              <a:gd name="adj" fmla="val 26000"/>
            </a:avLst>
          </a:prstGeom>
          <a:solidFill>
            <a:srgbClr val="3C8C21"/>
          </a:solidFill>
          <a:ln/>
        </p:spPr>
      </p:sp>
      <p:sp>
        <p:nvSpPr>
          <p:cNvPr id="38" name="Text 36"/>
          <p:cNvSpPr txBox="1"/>
          <p:nvPr/>
        </p:nvSpPr>
        <p:spPr>
          <a:xfrm>
            <a:off x="877824"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9" name="Text 37"/>
          <p:cNvSpPr txBox="1"/>
          <p:nvPr/>
        </p:nvSpPr>
        <p:spPr>
          <a:xfrm>
            <a:off x="1371600"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Gerçekte hava direnci ve limit hız</a:t>
            </a:r>
            <a:endParaRPr lang="en-US" sz="1400" dirty="0"/>
          </a:p>
        </p:txBody>
      </p:sp>
      <p:sp>
        <p:nvSpPr>
          <p:cNvPr id="40" name="Text 38"/>
          <p:cNvSpPr txBox="1"/>
          <p:nvPr/>
        </p:nvSpPr>
        <p:spPr>
          <a:xfrm>
            <a:off x="896112"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Hava direnci hıza bağlı olarak artan, harekete ters yönlü bir kuvvettir.</a:t>
            </a:r>
            <a:endParaRPr lang="en-US" sz="1050" dirty="0"/>
          </a:p>
        </p:txBody>
      </p:sp>
      <p:sp>
        <p:nvSpPr>
          <p:cNvPr id="41" name="Shape 39"/>
          <p:cNvSpPr/>
          <p:nvPr/>
        </p:nvSpPr>
        <p:spPr>
          <a:xfrm>
            <a:off x="4398264"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4636008" y="4754880"/>
            <a:ext cx="365760" cy="365760"/>
          </a:xfrm>
          <a:prstGeom prst="roundRect">
            <a:avLst>
              <a:gd name="adj" fmla="val 26000"/>
            </a:avLst>
          </a:prstGeom>
          <a:solidFill>
            <a:srgbClr val="A56209"/>
          </a:solidFill>
          <a:ln/>
        </p:spPr>
      </p:sp>
      <p:sp>
        <p:nvSpPr>
          <p:cNvPr id="43" name="Text 41"/>
          <p:cNvSpPr txBox="1"/>
          <p:nvPr/>
        </p:nvSpPr>
        <p:spPr>
          <a:xfrm>
            <a:off x="4636008"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44" name="Text 42"/>
          <p:cNvSpPr txBox="1"/>
          <p:nvPr/>
        </p:nvSpPr>
        <p:spPr>
          <a:xfrm>
            <a:off x="5129784"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Çözümlü örnekler</a:t>
            </a:r>
            <a:endParaRPr lang="en-US" sz="1400" dirty="0"/>
          </a:p>
        </p:txBody>
      </p:sp>
      <p:sp>
        <p:nvSpPr>
          <p:cNvPr id="45" name="Text 43"/>
          <p:cNvSpPr txBox="1"/>
          <p:nvPr/>
        </p:nvSpPr>
        <p:spPr>
          <a:xfrm>
            <a:off x="4654296"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4 çözümlü örnek, adım adım; g ve yaklaşık değerler anlatımla aynı.</a:t>
            </a:r>
            <a:endParaRPr lang="en-US" sz="1050" dirty="0"/>
          </a:p>
        </p:txBody>
      </p:sp>
      <p:sp>
        <p:nvSpPr>
          <p:cNvPr id="46" name="Shape 44"/>
          <p:cNvSpPr/>
          <p:nvPr/>
        </p:nvSpPr>
        <p:spPr>
          <a:xfrm>
            <a:off x="8156448"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7" name="Shape 45"/>
          <p:cNvSpPr/>
          <p:nvPr/>
        </p:nvSpPr>
        <p:spPr>
          <a:xfrm>
            <a:off x="8394192" y="4754880"/>
            <a:ext cx="365760" cy="365760"/>
          </a:xfrm>
          <a:prstGeom prst="roundRect">
            <a:avLst>
              <a:gd name="adj" fmla="val 26000"/>
            </a:avLst>
          </a:prstGeom>
          <a:solidFill>
            <a:srgbClr val="C53455"/>
          </a:solidFill>
          <a:ln/>
        </p:spPr>
      </p:sp>
      <p:sp>
        <p:nvSpPr>
          <p:cNvPr id="48" name="Text 46"/>
          <p:cNvSpPr txBox="1"/>
          <p:nvPr/>
        </p:nvSpPr>
        <p:spPr>
          <a:xfrm>
            <a:off x="8394192"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9</a:t>
            </a:r>
            <a:endParaRPr lang="en-US" sz="1150" dirty="0"/>
          </a:p>
        </p:txBody>
      </p:sp>
      <p:sp>
        <p:nvSpPr>
          <p:cNvPr id="49" name="Text 47"/>
          <p:cNvSpPr txBox="1"/>
          <p:nvPr/>
        </p:nvSpPr>
        <p:spPr>
          <a:xfrm>
            <a:off x="8887968"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Sık yapılan hatalar</a:t>
            </a:r>
            <a:endParaRPr lang="en-US" sz="1400" dirty="0"/>
          </a:p>
        </p:txBody>
      </p:sp>
      <p:sp>
        <p:nvSpPr>
          <p:cNvPr id="50" name="Text 48"/>
          <p:cNvSpPr txBox="1"/>
          <p:nvPr/>
        </p:nvSpPr>
        <p:spPr>
          <a:xfrm>
            <a:off x="8412480"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7 yaygın yanılgı ve her birinin doğrusu.</a:t>
            </a:r>
            <a:endParaRPr lang="en-US" sz="1050" dirty="0"/>
          </a:p>
        </p:txBody>
      </p:sp>
      <p:sp>
        <p:nvSpPr>
          <p:cNvPr id="51" name="Shape 49"/>
          <p:cNvSpPr/>
          <p:nvPr/>
        </p:nvSpPr>
        <p:spPr>
          <a:xfrm>
            <a:off x="640080" y="6382512"/>
            <a:ext cx="128016" cy="128016"/>
          </a:xfrm>
          <a:prstGeom prst="roundRect">
            <a:avLst>
              <a:gd name="adj" fmla="val 28571"/>
            </a:avLst>
          </a:prstGeom>
          <a:solidFill>
            <a:srgbClr val="A9E648"/>
          </a:solidFill>
          <a:ln/>
        </p:spPr>
      </p:sp>
      <p:sp>
        <p:nvSpPr>
          <p:cNvPr id="52" name="Text 5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53" name="Text 5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nedir?</a:t>
            </a:r>
            <a:endParaRPr lang="en-US" sz="3200" dirty="0"/>
          </a:p>
        </p:txBody>
      </p:sp>
      <p:sp>
        <p:nvSpPr>
          <p:cNvPr id="5" name="Text 3"/>
          <p:cNvSpPr txBox="1"/>
          <p:nvPr/>
        </p:nvSpPr>
        <p:spPr>
          <a:xfrm>
            <a:off x="640080" y="1481328"/>
            <a:ext cx="667512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Bir cisim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ilk hızsız olarak bırakıldığında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ve üzerine yalnızca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yerçekimi kuvveti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etki ettiğinde yaptığı harekete serbest düşme denir.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Hareket düşey doğrultudadır, aşağı yöndedir ve ivmesi sabittir.</a:t>
            </a:r>
            <a:endParaRPr lang="en-US" sz="1300" dirty="0"/>
          </a:p>
        </p:txBody>
      </p:sp>
      <p:sp>
        <p:nvSpPr>
          <p:cNvPr id="6" name="Text 4"/>
          <p:cNvSpPr txBox="1"/>
          <p:nvPr/>
        </p:nvSpPr>
        <p:spPr>
          <a:xfrm>
            <a:off x="640080" y="2402586"/>
            <a:ext cx="6675120" cy="227838"/>
          </a:xfrm>
          <a:prstGeom prst="rect">
            <a:avLst/>
          </a:prstGeom>
          <a:noFill/>
          <a:ln/>
        </p:spPr>
        <p:txBody>
          <a:bodyPr wrap="square" lIns="0" tIns="0" rIns="0" bIns="0" rtlCol="0" anchor="t"/>
          <a:lstStyle/>
          <a:p>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Bir hareketin “serbest düşme” sayılması için üç koşul aranır:</a:t>
            </a:r>
            <a:endParaRPr lang="en-US" sz="1300" dirty="0"/>
          </a:p>
        </p:txBody>
      </p:sp>
      <p:sp>
        <p:nvSpPr>
          <p:cNvPr id="7" name="Text 5"/>
          <p:cNvSpPr txBox="1"/>
          <p:nvPr/>
        </p:nvSpPr>
        <p:spPr>
          <a:xfrm>
            <a:off x="640080" y="2758440"/>
            <a:ext cx="6675120"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İlk hız sıfırdır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(v₀ = 0): cisim atılmaz, bırakılır.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Hava direnci ihmal edilir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tek kuvvet ağırlıktır (G = m·g).</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İvme sabittir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ve yerçekimi ivmesi g'ye eşittir.</a:t>
            </a:r>
            <a:endParaRPr lang="en-US" sz="1300" dirty="0"/>
          </a:p>
        </p:txBody>
      </p:sp>
      <p:sp>
        <p:nvSpPr>
          <p:cNvPr id="8" name="Text 6"/>
          <p:cNvSpPr txBox="1"/>
          <p:nvPr/>
        </p:nvSpPr>
        <p:spPr>
          <a:xfrm>
            <a:off x="640080" y="3743706"/>
            <a:ext cx="6675120" cy="455676"/>
          </a:xfrm>
          <a:prstGeom prst="rect">
            <a:avLst/>
          </a:prstGeom>
          <a:noFill/>
          <a:ln/>
        </p:spPr>
        <p:txBody>
          <a:bodyPr wrap="square" lIns="0" tIns="0" rIns="0" bIns="0" rtlCol="0" anchor="t"/>
          <a:lstStyle/>
          <a:p>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Serbest düşme, sabit ivmeli doğrusal hareketin özel bir hâlidir: ivmenin adı g, yönü daima yerin merkezine doğrudur.</a:t>
            </a:r>
            <a:endParaRPr lang="en-US" sz="1300" dirty="0"/>
          </a:p>
        </p:txBody>
      </p:sp>
      <p:sp>
        <p:nvSpPr>
          <p:cNvPr id="9" name="Shape 7"/>
          <p:cNvSpPr/>
          <p:nvPr/>
        </p:nvSpPr>
        <p:spPr>
          <a:xfrm>
            <a:off x="640080" y="4327398"/>
            <a:ext cx="6675120" cy="1033272"/>
          </a:xfrm>
          <a:prstGeom prst="roundRect">
            <a:avLst>
              <a:gd name="adj" fmla="val 1061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4473702"/>
            <a:ext cx="45720" cy="740664"/>
          </a:xfrm>
          <a:prstGeom prst="rect">
            <a:avLst/>
          </a:prstGeom>
          <a:solidFill>
            <a:srgbClr val="3C8C21"/>
          </a:solidFill>
          <a:ln/>
        </p:spPr>
      </p:sp>
      <p:sp>
        <p:nvSpPr>
          <p:cNvPr id="11" name="Text 9"/>
          <p:cNvSpPr txBox="1"/>
          <p:nvPr/>
        </p:nvSpPr>
        <p:spPr>
          <a:xfrm>
            <a:off x="914400" y="4437126"/>
            <a:ext cx="6217920" cy="813816"/>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g ne kadar?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Dünya yüzeyinde ortalama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9,81 m/s²</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'dir; ekvatorda 9,78, kutuplarda 9,83 civarına iner-çıkar. İşlem kolaylığı için problemlerde çoğunlukla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g = 10 m/s²</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alınır. Ay'da 1,62 · Mars'ta 3,72 · Jüpiter'de 24,79 m/s².</a:t>
            </a:r>
            <a:endParaRPr lang="en-US" sz="1200" dirty="0"/>
          </a:p>
        </p:txBody>
      </p:sp>
      <p:sp>
        <p:nvSpPr>
          <p:cNvPr id="12" name="Shape 10"/>
          <p:cNvSpPr/>
          <p:nvPr/>
        </p:nvSpPr>
        <p:spPr>
          <a:xfrm>
            <a:off x="7607808" y="1481328"/>
            <a:ext cx="3943807" cy="3341515"/>
          </a:xfrm>
          <a:prstGeom prst="roundRect">
            <a:avLst>
              <a:gd name="adj" fmla="val 437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a4dee546-de71-4ec2-8add-be39dd273d29/scratchpad/sekiller/serbest-dusme-01.png">    </p:cNvPr>
          <p:cNvPicPr>
            <a:picLocks noChangeAspect="1"/>
          </p:cNvPicPr>
          <p:nvPr/>
        </p:nvPicPr>
        <p:blipFill>
          <a:blip r:embed="rId1"/>
          <a:stretch>
            <a:fillRect/>
          </a:stretch>
        </p:blipFill>
        <p:spPr>
          <a:xfrm>
            <a:off x="7790688" y="1664208"/>
            <a:ext cx="3578047" cy="1878475"/>
          </a:xfrm>
          <a:prstGeom prst="rect">
            <a:avLst/>
          </a:prstGeom>
        </p:spPr>
      </p:pic>
      <p:sp>
        <p:nvSpPr>
          <p:cNvPr id="14" name="Shape 11"/>
          <p:cNvSpPr/>
          <p:nvPr/>
        </p:nvSpPr>
        <p:spPr>
          <a:xfrm>
            <a:off x="7790688" y="3634123"/>
            <a:ext cx="3578047" cy="0"/>
          </a:xfrm>
          <a:prstGeom prst="line">
            <a:avLst/>
          </a:prstGeom>
          <a:noFill/>
          <a:ln w="9525">
            <a:solidFill>
              <a:srgbClr val="E1E5EE"/>
            </a:solidFill>
            <a:prstDash val="dash"/>
          </a:ln>
        </p:spPr>
      </p:sp>
      <p:sp>
        <p:nvSpPr>
          <p:cNvPr id="15" name="Text 12"/>
          <p:cNvSpPr txBox="1"/>
          <p:nvPr/>
        </p:nvSpPr>
        <p:spPr>
          <a:xfrm>
            <a:off x="7790688" y="3688987"/>
            <a:ext cx="357804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Üç koşul tek karede: cisim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ilk hızsız bırakılır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üzerindeki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tek kuvvet ağırlıktır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 yüzden ivmesi sabit kalır ve g'ye eşit olur. Eşit sürelerle çekilmiş strobo görüntülerinin arası sürekli açılıyor; çünkü hız her saniye aynı miktarda büyüyor.</a:t>
            </a:r>
            <a:endParaRPr lang="en-US" sz="105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neden fark etmez?</a:t>
            </a:r>
            <a:endParaRPr lang="en-US" sz="3200" dirty="0"/>
          </a:p>
        </p:txBody>
      </p:sp>
      <p:sp>
        <p:nvSpPr>
          <p:cNvPr id="5" name="Text 3"/>
          <p:cNvSpPr txBox="1"/>
          <p:nvPr/>
        </p:nvSpPr>
        <p:spPr>
          <a:xfrm>
            <a:off x="640080" y="1481328"/>
            <a:ext cx="667512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Sezgi “ağır olan daha hızlı düşer” der, ama Newton'un ikinci yasası bunun tersini söyler.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Düşen cisme etki eden tek kuvvet ağırlığıdır:</a:t>
            </a:r>
            <a:endParaRPr lang="en-US" sz="1300" dirty="0"/>
          </a:p>
        </p:txBody>
      </p:sp>
      <p:sp>
        <p:nvSpPr>
          <p:cNvPr id="6" name="Shape 4"/>
          <p:cNvSpPr/>
          <p:nvPr/>
        </p:nvSpPr>
        <p:spPr>
          <a:xfrm>
            <a:off x="640080" y="2402586"/>
            <a:ext cx="1345997"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402586"/>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m · a</a:t>
            </a:r>
            <a:endParaRPr lang="en-US" sz="1300" dirty="0"/>
          </a:p>
        </p:txBody>
      </p:sp>
      <p:sp>
        <p:nvSpPr>
          <p:cNvPr id="8" name="Shape 6"/>
          <p:cNvSpPr/>
          <p:nvPr/>
        </p:nvSpPr>
        <p:spPr>
          <a:xfrm>
            <a:off x="2095805" y="2402586"/>
            <a:ext cx="1741018"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095805" y="2402586"/>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 · g = m · a</a:t>
            </a:r>
            <a:endParaRPr lang="en-US" sz="1300" dirty="0"/>
          </a:p>
        </p:txBody>
      </p:sp>
      <p:sp>
        <p:nvSpPr>
          <p:cNvPr id="10" name="Shape 8"/>
          <p:cNvSpPr/>
          <p:nvPr/>
        </p:nvSpPr>
        <p:spPr>
          <a:xfrm>
            <a:off x="3946550" y="2402586"/>
            <a:ext cx="950976"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3946550" y="2402586"/>
            <a:ext cx="950976"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g</a:t>
            </a:r>
            <a:endParaRPr lang="en-US" sz="1300" dirty="0"/>
          </a:p>
        </p:txBody>
      </p:sp>
      <p:sp>
        <p:nvSpPr>
          <p:cNvPr id="12" name="Text 10"/>
          <p:cNvSpPr txBox="1"/>
          <p:nvPr/>
        </p:nvSpPr>
        <p:spPr>
          <a:xfrm>
            <a:off x="640080" y="3024378"/>
            <a:ext cx="6675120" cy="11033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Kütle eşitliğin iki yanında da bulunduğu için sadeleşir.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Ağır cisim daha çok çekilir, ama aynı oranda da harekete direnir (eylemsizliği fazladır); iki etki birbirini tam olarak götürür.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Sonuç: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10 gramlık bilye ile 10 kiloluk gülle aynı anda yere düşer.</a:t>
            </a:r>
            <a:endParaRPr lang="en-US" sz="1300" dirty="0"/>
          </a:p>
        </p:txBody>
      </p:sp>
      <p:sp>
        <p:nvSpPr>
          <p:cNvPr id="13" name="Text 11"/>
          <p:cNvSpPr txBox="1"/>
          <p:nvPr/>
        </p:nvSpPr>
        <p:spPr>
          <a:xfrm>
            <a:off x="640080" y="4237482"/>
            <a:ext cx="6675120" cy="155905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Galileo bunu 1600'lerin başında savundu; 1971'de Apollo 15 astronotu David Scott, havasız Ay yüzeyinde bir şahin tüyü ile alüminyum çekici aynı anda bıraktı.</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İkisi de aynı anda toza değdi.</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Günlük hayatta tüyün geride kalmasının sebebi kütlesi değil,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hava direnci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dir.</a:t>
            </a:r>
            <a:endParaRPr lang="en-US" sz="1300" dirty="0"/>
          </a:p>
        </p:txBody>
      </p:sp>
      <p:sp>
        <p:nvSpPr>
          <p:cNvPr id="14" name="Shape 12"/>
          <p:cNvSpPr/>
          <p:nvPr/>
        </p:nvSpPr>
        <p:spPr>
          <a:xfrm>
            <a:off x="7607808" y="1481328"/>
            <a:ext cx="3943807" cy="3475692"/>
          </a:xfrm>
          <a:prstGeom prst="roundRect">
            <a:avLst>
              <a:gd name="adj" fmla="val 420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a4dee546-de71-4ec2-8add-be39dd273d29/scratchpad/sekiller/serbest-dusme-02.png">    </p:cNvPr>
          <p:cNvPicPr>
            <a:picLocks noChangeAspect="1"/>
          </p:cNvPicPr>
          <p:nvPr/>
        </p:nvPicPr>
        <p:blipFill>
          <a:blip r:embed="rId1"/>
          <a:stretch>
            <a:fillRect/>
          </a:stretch>
        </p:blipFill>
        <p:spPr>
          <a:xfrm>
            <a:off x="7790688" y="1664208"/>
            <a:ext cx="3578047" cy="2012652"/>
          </a:xfrm>
          <a:prstGeom prst="rect">
            <a:avLst/>
          </a:prstGeom>
        </p:spPr>
      </p:pic>
      <p:sp>
        <p:nvSpPr>
          <p:cNvPr id="16" name="Shape 13"/>
          <p:cNvSpPr/>
          <p:nvPr/>
        </p:nvSpPr>
        <p:spPr>
          <a:xfrm>
            <a:off x="7790688" y="3768300"/>
            <a:ext cx="3578047" cy="0"/>
          </a:xfrm>
          <a:prstGeom prst="line">
            <a:avLst/>
          </a:prstGeom>
          <a:noFill/>
          <a:ln w="9525">
            <a:solidFill>
              <a:srgbClr val="E1E5EE"/>
            </a:solidFill>
            <a:prstDash val="dash"/>
          </a:ln>
        </p:spPr>
      </p:sp>
      <p:sp>
        <p:nvSpPr>
          <p:cNvPr id="17" name="Text 14"/>
          <p:cNvSpPr txBox="1"/>
          <p:nvPr/>
        </p:nvSpPr>
        <p:spPr>
          <a:xfrm>
            <a:off x="7790688" y="3823164"/>
            <a:ext cx="357804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Ağır cisim daha büyük bir kuvvetle çekilir (m·g), ama tam o oranda harekete de direnir (m·a).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Kütle eşitliğin iki yanında da bulunduğu için sadeleşir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geriye yalnızca a = g kalır. Bu yüzden 8 kat ağır olan cisim, hafif olanla hep aynı hizada düşer.</a:t>
            </a:r>
            <a:endParaRPr lang="en-US" sz="105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bağıntılar</a:t>
            </a:r>
            <a:endParaRPr lang="en-US" sz="3200" dirty="0"/>
          </a:p>
        </p:txBody>
      </p:sp>
      <p:sp>
        <p:nvSpPr>
          <p:cNvPr id="5" name="Text 3"/>
          <p:cNvSpPr txBox="1"/>
          <p:nvPr/>
        </p:nvSpPr>
        <p:spPr>
          <a:xfrm>
            <a:off x="640080" y="1481328"/>
            <a:ext cx="667512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Aşağı yönü pozitif alalım: v₀ = 0, a = g.</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Sabit ivmeli hareketin denklemleri doğrudan serbest düşmenin denklemlerine dönüşür (h: alınan yol, t: düşme süresi):</a:t>
            </a:r>
            <a:endParaRPr lang="en-US" sz="1300" dirty="0"/>
          </a:p>
        </p:txBody>
      </p:sp>
      <p:sp>
        <p:nvSpPr>
          <p:cNvPr id="6" name="Shape 4"/>
          <p:cNvSpPr/>
          <p:nvPr/>
        </p:nvSpPr>
        <p:spPr>
          <a:xfrm>
            <a:off x="640080" y="2402586"/>
            <a:ext cx="1345997"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402586"/>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g · t</a:t>
            </a:r>
            <a:endParaRPr lang="en-US" sz="1300" dirty="0"/>
          </a:p>
        </p:txBody>
      </p:sp>
      <p:sp>
        <p:nvSpPr>
          <p:cNvPr id="8" name="Shape 6"/>
          <p:cNvSpPr/>
          <p:nvPr/>
        </p:nvSpPr>
        <p:spPr>
          <a:xfrm>
            <a:off x="2095805" y="2402586"/>
            <a:ext cx="1839773"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095805" y="2402586"/>
            <a:ext cx="183977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 = ½ · g · t²</a:t>
            </a:r>
            <a:endParaRPr lang="en-US" sz="1300" dirty="0"/>
          </a:p>
        </p:txBody>
      </p:sp>
      <p:sp>
        <p:nvSpPr>
          <p:cNvPr id="10" name="Shape 8"/>
          <p:cNvSpPr/>
          <p:nvPr/>
        </p:nvSpPr>
        <p:spPr>
          <a:xfrm>
            <a:off x="4045306" y="2402586"/>
            <a:ext cx="1839773"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4045306" y="2402586"/>
            <a:ext cx="183977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v² = 2 · g · h</a:t>
            </a:r>
            <a:endParaRPr lang="en-US" sz="1300" dirty="0"/>
          </a:p>
        </p:txBody>
      </p:sp>
      <p:sp>
        <p:nvSpPr>
          <p:cNvPr id="12" name="Shape 10"/>
          <p:cNvSpPr/>
          <p:nvPr/>
        </p:nvSpPr>
        <p:spPr>
          <a:xfrm>
            <a:off x="640080" y="2969514"/>
            <a:ext cx="1741018"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640080" y="2969514"/>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 = √(2h / g)</a:t>
            </a:r>
            <a:endParaRPr lang="en-US" sz="1300" dirty="0"/>
          </a:p>
        </p:txBody>
      </p:sp>
      <p:sp>
        <p:nvSpPr>
          <p:cNvPr id="14" name="Shape 12"/>
          <p:cNvSpPr/>
          <p:nvPr/>
        </p:nvSpPr>
        <p:spPr>
          <a:xfrm>
            <a:off x="2490826" y="2969514"/>
            <a:ext cx="2432304" cy="457200"/>
          </a:xfrm>
          <a:prstGeom prst="roundRect">
            <a:avLst>
              <a:gd name="adj" fmla="val 24000"/>
            </a:avLst>
          </a:prstGeom>
          <a:solidFill>
            <a:srgbClr val="EEF2FC"/>
          </a:solidFill>
          <a:ln w="9525">
            <a:solidFill>
              <a:srgbClr val="CBD7F4"/>
            </a:solidFill>
            <a:prstDash val="solid"/>
          </a:ln>
        </p:spPr>
      </p:sp>
      <p:sp>
        <p:nvSpPr>
          <p:cNvPr id="15" name="Text 13"/>
          <p:cNvSpPr txBox="1"/>
          <p:nvPr/>
        </p:nvSpPr>
        <p:spPr>
          <a:xfrm>
            <a:off x="2490826" y="2969514"/>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vort = h / t = v / 2</a:t>
            </a:r>
            <a:endParaRPr lang="en-US" sz="1300" dirty="0"/>
          </a:p>
        </p:txBody>
      </p:sp>
      <p:sp>
        <p:nvSpPr>
          <p:cNvPr id="16" name="Text 14"/>
          <p:cNvSpPr txBox="1"/>
          <p:nvPr/>
        </p:nvSpPr>
        <p:spPr>
          <a:xfrm>
            <a:off x="640080" y="3627882"/>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Üçüncü bağıntı nereden geliyor?</a:t>
            </a:r>
            <a:endParaRPr lang="en-US" sz="1350" dirty="0"/>
          </a:p>
        </p:txBody>
      </p:sp>
      <p:sp>
        <p:nvSpPr>
          <p:cNvPr id="17" name="Text 15"/>
          <p:cNvSpPr txBox="1"/>
          <p:nvPr/>
        </p:nvSpPr>
        <p:spPr>
          <a:xfrm>
            <a:off x="640080" y="3938778"/>
            <a:ext cx="667512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İlk ikisinde süreyi yok edelim. v = g·t ifadesinden t = v/g yazıp ikinciye koyarsak: h = ½·g·(v/g)² = v² / (2g), yani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v² = 2·g·h</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Süre sorulmayan sorularda doğrudan bu bağıntıyı kullanmak en kısa yoldur.</a:t>
            </a:r>
            <a:endParaRPr lang="en-US" sz="1300" dirty="0"/>
          </a:p>
        </p:txBody>
      </p:sp>
      <p:sp>
        <p:nvSpPr>
          <p:cNvPr id="18" name="Shape 16"/>
          <p:cNvSpPr/>
          <p:nvPr/>
        </p:nvSpPr>
        <p:spPr>
          <a:xfrm>
            <a:off x="640080" y="4860036"/>
            <a:ext cx="6675120" cy="1033272"/>
          </a:xfrm>
          <a:prstGeom prst="roundRect">
            <a:avLst>
              <a:gd name="adj" fmla="val 1061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9" name="Shape 17"/>
          <p:cNvSpPr/>
          <p:nvPr/>
        </p:nvSpPr>
        <p:spPr>
          <a:xfrm>
            <a:off x="658368" y="5006340"/>
            <a:ext cx="45720" cy="740664"/>
          </a:xfrm>
          <a:prstGeom prst="rect">
            <a:avLst/>
          </a:prstGeom>
          <a:solidFill>
            <a:srgbClr val="3C8C21"/>
          </a:solidFill>
          <a:ln/>
        </p:spPr>
      </p:sp>
      <p:sp>
        <p:nvSpPr>
          <p:cNvPr id="20" name="Text 18"/>
          <p:cNvSpPr txBox="1"/>
          <p:nvPr/>
        </p:nvSpPr>
        <p:spPr>
          <a:xfrm>
            <a:off x="914400" y="4969764"/>
            <a:ext cx="6217920" cy="813816"/>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Hemen okunacak üç sonuç:</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Düşme süresi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yüksekliğin kareköküyle</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artar (yükseklik 4 katına çıkarsa süre 2 katına çıkar). Çarpma hızı da yüksekliğin kareköküyle artar. Alınan yol ise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sürenin karesiyle</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büyür.</a:t>
            </a:r>
            <a:endParaRPr lang="en-US" sz="1200" dirty="0"/>
          </a:p>
        </p:txBody>
      </p:sp>
      <p:sp>
        <p:nvSpPr>
          <p:cNvPr id="21" name="Shape 19"/>
          <p:cNvSpPr/>
          <p:nvPr/>
        </p:nvSpPr>
        <p:spPr>
          <a:xfrm>
            <a:off x="7607808" y="1481328"/>
            <a:ext cx="3943807" cy="3296789"/>
          </a:xfrm>
          <a:prstGeom prst="roundRect">
            <a:avLst>
              <a:gd name="adj" fmla="val 44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22" name="Image 0" descr="/tmp/claude-1000/-opt-dersler/a4dee546-de71-4ec2-8add-be39dd273d29/scratchpad/sekiller/serbest-dusme-03.png">    </p:cNvPr>
          <p:cNvPicPr>
            <a:picLocks noChangeAspect="1"/>
          </p:cNvPicPr>
          <p:nvPr/>
        </p:nvPicPr>
        <p:blipFill>
          <a:blip r:embed="rId1"/>
          <a:stretch>
            <a:fillRect/>
          </a:stretch>
        </p:blipFill>
        <p:spPr>
          <a:xfrm>
            <a:off x="7790688" y="1664208"/>
            <a:ext cx="3578047" cy="1833749"/>
          </a:xfrm>
          <a:prstGeom prst="rect">
            <a:avLst/>
          </a:prstGeom>
        </p:spPr>
      </p:pic>
      <p:sp>
        <p:nvSpPr>
          <p:cNvPr id="23" name="Shape 20"/>
          <p:cNvSpPr/>
          <p:nvPr/>
        </p:nvSpPr>
        <p:spPr>
          <a:xfrm>
            <a:off x="7790688" y="3589397"/>
            <a:ext cx="3578047" cy="0"/>
          </a:xfrm>
          <a:prstGeom prst="line">
            <a:avLst/>
          </a:prstGeom>
          <a:noFill/>
          <a:ln w="9525">
            <a:solidFill>
              <a:srgbClr val="E1E5EE"/>
            </a:solidFill>
            <a:prstDash val="dash"/>
          </a:ln>
        </p:spPr>
      </p:sp>
      <p:sp>
        <p:nvSpPr>
          <p:cNvPr id="24" name="Text 21"/>
          <p:cNvSpPr txBox="1"/>
          <p:nvPr/>
        </p:nvSpPr>
        <p:spPr>
          <a:xfrm>
            <a:off x="7790688" y="3644261"/>
            <a:ext cx="357804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Serbest düşmede üç büyüklük vardır ve her ikisini birbirine bir kenar bağlar. Soruda hangi ikisi geçiyorsa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 kenardaki bağıntıyı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kullan: süre ile hız arasında v = g·t, süre ile yol arasında h = ½g·t²,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sürenin hiç geçmediği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sorularda v² = 2gh.</a:t>
            </a:r>
            <a:endParaRPr lang="en-US" sz="1050" dirty="0"/>
          </a:p>
        </p:txBody>
      </p:sp>
      <p:sp>
        <p:nvSpPr>
          <p:cNvPr id="25" name="Shape 22"/>
          <p:cNvSpPr/>
          <p:nvPr/>
        </p:nvSpPr>
        <p:spPr>
          <a:xfrm>
            <a:off x="640080" y="6382512"/>
            <a:ext cx="128016" cy="128016"/>
          </a:xfrm>
          <a:prstGeom prst="roundRect">
            <a:avLst>
              <a:gd name="adj" fmla="val 28571"/>
            </a:avLst>
          </a:prstGeom>
          <a:solidFill>
            <a:srgbClr val="A9E648"/>
          </a:solidFill>
          <a:ln/>
        </p:spPr>
      </p:sp>
      <p:sp>
        <p:nvSpPr>
          <p:cNvPr id="26"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7"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Grafikler ve yorumu</a:t>
            </a:r>
            <a:endParaRPr lang="en-US" sz="3200" dirty="0"/>
          </a:p>
        </p:txBody>
      </p:sp>
      <p:sp>
        <p:nvSpPr>
          <p:cNvPr id="5" name="Text 3"/>
          <p:cNvSpPr txBox="1"/>
          <p:nvPr/>
        </p:nvSpPr>
        <p:spPr>
          <a:xfrm>
            <a:off x="640080" y="1481328"/>
            <a:ext cx="6309360" cy="6187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Sayfadaki laboratuvarın altında bu üç grafik canlı çiziliyor.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Ezberlemek yerine eğim–alan ilişkisini kurmak yeterli:</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209800"/>
          <a:ext cx="6309360" cy="914400"/>
        </p:xfrm>
        <a:graphic>
          <a:graphicData uri="http://schemas.openxmlformats.org/drawingml/2006/table">
            <a:tbl>
              <a:tblPr/>
              <a:tblGrid>
                <a:gridCol w="930043"/>
                <a:gridCol w="2727541"/>
                <a:gridCol w="1363770"/>
                <a:gridCol w="1288005"/>
              </a:tblGrid>
              <a:tr h="530352">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Grafik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Şekli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Eğimi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Altındaki alan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Zaman eksenine paralel doğru (a =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Sıfır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Hız değişimi (Δv)</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v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Orijinden geçen doğru (v = g·t)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İvme,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Alınan yol (h)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Yukarı açılan parabol (h = ½g·t²)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 andaki anlık hız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40080" y="4459224"/>
            <a:ext cx="6309360" cy="86410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v – t doğrusunun altındaki üçgenin alanı ½·t·(g·t) = ½·g·t² eder; bu da tam olarak alınan yoldur.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Grafikler birbirini böyle doğrular.</a:t>
            </a:r>
            <a:endParaRPr lang="en-US" sz="1400" dirty="0"/>
          </a:p>
        </p:txBody>
      </p:sp>
      <p:sp>
        <p:nvSpPr>
          <p:cNvPr id="8" name="Shape 5"/>
          <p:cNvSpPr/>
          <p:nvPr/>
        </p:nvSpPr>
        <p:spPr>
          <a:xfrm>
            <a:off x="7242048" y="1481328"/>
            <a:ext cx="4309567" cy="2958321"/>
          </a:xfrm>
          <a:prstGeom prst="roundRect">
            <a:avLst>
              <a:gd name="adj" fmla="val 494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9" name="Image 0" descr="/tmp/claude-1000/-opt-dersler/a4dee546-de71-4ec2-8add-be39dd273d29/scratchpad/sekiller/serbest-dusme-04.png">    </p:cNvPr>
          <p:cNvPicPr>
            <a:picLocks noChangeAspect="1"/>
          </p:cNvPicPr>
          <p:nvPr/>
        </p:nvPicPr>
        <p:blipFill>
          <a:blip r:embed="rId1"/>
          <a:stretch>
            <a:fillRect/>
          </a:stretch>
        </p:blipFill>
        <p:spPr>
          <a:xfrm>
            <a:off x="7424928" y="1664208"/>
            <a:ext cx="3943807" cy="1495281"/>
          </a:xfrm>
          <a:prstGeom prst="rect">
            <a:avLst/>
          </a:prstGeom>
        </p:spPr>
      </p:pic>
      <p:sp>
        <p:nvSpPr>
          <p:cNvPr id="10" name="Shape 6"/>
          <p:cNvSpPr/>
          <p:nvPr/>
        </p:nvSpPr>
        <p:spPr>
          <a:xfrm>
            <a:off x="7424928" y="3250929"/>
            <a:ext cx="3943807" cy="0"/>
          </a:xfrm>
          <a:prstGeom prst="line">
            <a:avLst/>
          </a:prstGeom>
          <a:noFill/>
          <a:ln w="9525">
            <a:solidFill>
              <a:srgbClr val="E1E5EE"/>
            </a:solidFill>
            <a:prstDash val="dash"/>
          </a:ln>
        </p:spPr>
      </p:sp>
      <p:sp>
        <p:nvSpPr>
          <p:cNvPr id="11" name="Text 7"/>
          <p:cNvSpPr txBox="1"/>
          <p:nvPr/>
        </p:nvSpPr>
        <p:spPr>
          <a:xfrm>
            <a:off x="7424928" y="3305793"/>
            <a:ext cx="39438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Üç grafiği ezberlemek yerine birbirine bağla: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bir grafiğin eğimi bir üsttekini, altındaki alan bir alttakini verir.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v–t doğrusunun altındaki üçgenin alanı ½·t·(g·t) = ½g·t²'dir — yani tam olarak alınan yol. Sayfadaki laboratuvarın altında bu üç grafik sen izlerken çiziliyor.</a:t>
            </a:r>
            <a:endParaRPr lang="en-US" sz="1050" dirty="0"/>
          </a:p>
        </p:txBody>
      </p:sp>
      <p:sp>
        <p:nvSpPr>
          <p:cNvPr id="12" name="Shape 8"/>
          <p:cNvSpPr/>
          <p:nvPr/>
        </p:nvSpPr>
        <p:spPr>
          <a:xfrm>
            <a:off x="640080" y="6382512"/>
            <a:ext cx="128016" cy="128016"/>
          </a:xfrm>
          <a:prstGeom prst="roundRect">
            <a:avLst>
              <a:gd name="adj" fmla="val 28571"/>
            </a:avLst>
          </a:prstGeom>
          <a:solidFill>
            <a:srgbClr val="A9E648"/>
          </a:solidFill>
          <a:ln/>
        </p:spPr>
      </p:sp>
      <p:sp>
        <p:nvSpPr>
          <p:cNvPr id="13"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4"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Eşit zaman aralıkları: 1 : 3 : 5 kuralı</a:t>
            </a:r>
            <a:endParaRPr lang="en-US" sz="3200" dirty="0"/>
          </a:p>
        </p:txBody>
      </p:sp>
      <p:sp>
        <p:nvSpPr>
          <p:cNvPr id="5" name="Text 3"/>
          <p:cNvSpPr txBox="1"/>
          <p:nvPr/>
        </p:nvSpPr>
        <p:spPr>
          <a:xfrm>
            <a:off x="640080" y="1481328"/>
            <a:ext cx="5852160" cy="98069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Düşüşü eşit süreli dilimlere bölelim (her biri Δt).</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İlk dilimde alınan yol h = ½·g·Δt² olsun.</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O zaman ardışık dilimlerde alınan yollar:</a:t>
            </a:r>
            <a:endParaRPr lang="en-US" sz="1500" dirty="0"/>
          </a:p>
        </p:txBody>
      </p:sp>
      <p:sp>
        <p:nvSpPr>
          <p:cNvPr id="6" name="Shape 4"/>
          <p:cNvSpPr/>
          <p:nvPr/>
        </p:nvSpPr>
        <p:spPr>
          <a:xfrm>
            <a:off x="640080" y="2571750"/>
            <a:ext cx="2629814"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571750"/>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1h : 3h : 5h : 7h : 9h</a:t>
            </a:r>
            <a:endParaRPr lang="en-US" sz="1300" dirty="0"/>
          </a:p>
        </p:txBody>
      </p:sp>
      <p:sp>
        <p:nvSpPr>
          <p:cNvPr id="8" name="Shape 6"/>
          <p:cNvSpPr/>
          <p:nvPr/>
        </p:nvSpPr>
        <p:spPr>
          <a:xfrm>
            <a:off x="3379622" y="2571750"/>
            <a:ext cx="1741018"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3379622" y="2571750"/>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(tek sayılar)</a:t>
            </a:r>
            <a:endParaRPr lang="en-US" sz="1300" dirty="0"/>
          </a:p>
        </p:txBody>
      </p:sp>
      <p:sp>
        <p:nvSpPr>
          <p:cNvPr id="10" name="Text 8"/>
          <p:cNvSpPr txBox="1"/>
          <p:nvPr/>
        </p:nvSpPr>
        <p:spPr>
          <a:xfrm>
            <a:off x="640080" y="3193542"/>
            <a:ext cx="5852160" cy="11795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Baştan itibaren toplam yollar ise 1h, 4h, 9h, 16h, 25h olur — yani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1 : 4 : 9 : 16</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sürenin karesiyle orantılı.</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İki dizi de aynı şeyi söyler: toplam yollardaki farkları alırsan tek sayıları bulursun.</a:t>
            </a:r>
            <a:endParaRPr lang="en-US" sz="1500" dirty="0"/>
          </a:p>
        </p:txBody>
      </p:sp>
      <p:sp>
        <p:nvSpPr>
          <p:cNvPr id="11" name="Text 9"/>
          <p:cNvSpPr txBox="1"/>
          <p:nvPr/>
        </p:nvSpPr>
        <p:spPr>
          <a:xfrm>
            <a:off x="640080" y="4482846"/>
            <a:ext cx="5852160" cy="91668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Hızlar da eşit sürelerde eşit miktarda artar: Δt sonunda g·Δt, 2Δt sonunda 2g·Δt… yani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1 : 2 : 3 : 4</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Bu üç diziyi karıştırmamak sınavda zaman kazandırır.</a:t>
            </a:r>
            <a:endParaRPr lang="en-US" sz="1500" dirty="0"/>
          </a:p>
        </p:txBody>
      </p:sp>
      <p:sp>
        <p:nvSpPr>
          <p:cNvPr id="12" name="Shape 10"/>
          <p:cNvSpPr/>
          <p:nvPr/>
        </p:nvSpPr>
        <p:spPr>
          <a:xfrm>
            <a:off x="6784848" y="1481328"/>
            <a:ext cx="4766767" cy="4103644"/>
          </a:xfrm>
          <a:prstGeom prst="roundRect">
            <a:avLst>
              <a:gd name="adj" fmla="val 356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a4dee546-de71-4ec2-8add-be39dd273d29/scratchpad/sekiller/serbest-dusme-05.png">    </p:cNvPr>
          <p:cNvPicPr>
            <a:picLocks noChangeAspect="1"/>
          </p:cNvPicPr>
          <p:nvPr/>
        </p:nvPicPr>
        <p:blipFill>
          <a:blip r:embed="rId1"/>
          <a:stretch>
            <a:fillRect/>
          </a:stretch>
        </p:blipFill>
        <p:spPr>
          <a:xfrm>
            <a:off x="6967728" y="1664208"/>
            <a:ext cx="4401007" cy="2640604"/>
          </a:xfrm>
          <a:prstGeom prst="rect">
            <a:avLst/>
          </a:prstGeom>
        </p:spPr>
      </p:pic>
      <p:sp>
        <p:nvSpPr>
          <p:cNvPr id="14" name="Shape 11"/>
          <p:cNvSpPr/>
          <p:nvPr/>
        </p:nvSpPr>
        <p:spPr>
          <a:xfrm>
            <a:off x="6967728" y="4396252"/>
            <a:ext cx="4401007" cy="0"/>
          </a:xfrm>
          <a:prstGeom prst="line">
            <a:avLst/>
          </a:prstGeom>
          <a:noFill/>
          <a:ln w="9525">
            <a:solidFill>
              <a:srgbClr val="E1E5EE"/>
            </a:solidFill>
            <a:prstDash val="dash"/>
          </a:ln>
        </p:spPr>
      </p:sp>
      <p:sp>
        <p:nvSpPr>
          <p:cNvPr id="15" name="Text 12"/>
          <p:cNvSpPr txBox="1"/>
          <p:nvPr/>
        </p:nvSpPr>
        <p:spPr>
          <a:xfrm>
            <a:off x="6967728" y="4451116"/>
            <a:ext cx="44010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düşüşün üç ayrı okuması.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aralıkta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alınan yollar tek sayılarla gider (1 : 3 : 5 : 7);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baştan itibaren toplam</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yol sürenin karesiyle büyür (1 : 4 : 9 : 16);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hız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ise eşit adımlarla artar (1 : 2 : 3 : 4). Toplam yollardaki farkları alırsan tek sayıları bulursun — üç dizi aynı hareketi anlatır.</a:t>
            </a:r>
            <a:endParaRPr lang="en-US" sz="105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atış: yukarı fırlatınca ne değişir?</a:t>
            </a:r>
            <a:endParaRPr lang="en-US" sz="3200" dirty="0"/>
          </a:p>
        </p:txBody>
      </p:sp>
      <p:sp>
        <p:nvSpPr>
          <p:cNvPr id="5" name="Text 3"/>
          <p:cNvSpPr txBox="1"/>
          <p:nvPr/>
        </p:nvSpPr>
        <p:spPr>
          <a:xfrm>
            <a:off x="640080" y="1481328"/>
            <a:ext cx="6675120" cy="103936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Cismi v₀ hızıyla yukarı atarsan artık “serbest düşme” değil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düşey atış</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olur; ama ivme yine g'dir ve yine aşağı yöndedir.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Yukarı çıkarken hız ile ivme zıt yönlü olduğu için cisim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yavaşlayarak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çıkar, tepe noktada hızı sıfırlanır, sonra serbest düşmeye başlar.</a:t>
            </a:r>
            <a:endParaRPr lang="en-US" sz="1300" dirty="0"/>
          </a:p>
        </p:txBody>
      </p:sp>
      <p:sp>
        <p:nvSpPr>
          <p:cNvPr id="6" name="Shape 4"/>
          <p:cNvSpPr/>
          <p:nvPr/>
        </p:nvSpPr>
        <p:spPr>
          <a:xfrm>
            <a:off x="640080" y="2630424"/>
            <a:ext cx="2234794"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630424"/>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hmaks = v₀² / (2g)</a:t>
            </a:r>
            <a:endParaRPr lang="en-US" sz="1300" dirty="0"/>
          </a:p>
        </p:txBody>
      </p:sp>
      <p:sp>
        <p:nvSpPr>
          <p:cNvPr id="8" name="Shape 6"/>
          <p:cNvSpPr/>
          <p:nvPr/>
        </p:nvSpPr>
        <p:spPr>
          <a:xfrm>
            <a:off x="2984602" y="2630424"/>
            <a:ext cx="1938528"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984602" y="2630424"/>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tçıkış = v₀ / g</a:t>
            </a:r>
            <a:endParaRPr lang="en-US" sz="1300" dirty="0"/>
          </a:p>
        </p:txBody>
      </p:sp>
      <p:sp>
        <p:nvSpPr>
          <p:cNvPr id="10" name="Shape 8"/>
          <p:cNvSpPr/>
          <p:nvPr/>
        </p:nvSpPr>
        <p:spPr>
          <a:xfrm>
            <a:off x="5032858" y="2630424"/>
            <a:ext cx="2136038"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5032858" y="2630424"/>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ttoplam = 2v₀ / g</a:t>
            </a:r>
            <a:endParaRPr lang="en-US" sz="1300" dirty="0"/>
          </a:p>
        </p:txBody>
      </p:sp>
      <p:sp>
        <p:nvSpPr>
          <p:cNvPr id="12" name="Text 10"/>
          <p:cNvSpPr txBox="1"/>
          <p:nvPr/>
        </p:nvSpPr>
        <p:spPr>
          <a:xfrm>
            <a:off x="640080" y="3252216"/>
            <a:ext cx="6675120" cy="103936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Hareket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simetriktir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çıkış süresi iniş süresine eşittir ve cisim aynı yükseklikten geçerken hızının büyüklüğü çıkışta da inişte de aynıdır, yalnızca yönü terstir.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Atıldığı noktaya döndüğünde sürati v₀'a eşittir.</a:t>
            </a:r>
            <a:endParaRPr lang="en-US" sz="1300" dirty="0"/>
          </a:p>
        </p:txBody>
      </p:sp>
      <p:sp>
        <p:nvSpPr>
          <p:cNvPr id="13" name="Shape 11"/>
          <p:cNvSpPr/>
          <p:nvPr/>
        </p:nvSpPr>
        <p:spPr>
          <a:xfrm>
            <a:off x="640080" y="4401312"/>
            <a:ext cx="6675120"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58368" y="4547616"/>
            <a:ext cx="45720" cy="530352"/>
          </a:xfrm>
          <a:prstGeom prst="rect">
            <a:avLst/>
          </a:prstGeom>
          <a:solidFill>
            <a:srgbClr val="A56209"/>
          </a:solidFill>
          <a:ln/>
        </p:spPr>
      </p:sp>
      <p:sp>
        <p:nvSpPr>
          <p:cNvPr id="15" name="Text 13"/>
          <p:cNvSpPr txBox="1"/>
          <p:nvPr/>
        </p:nvSpPr>
        <p:spPr>
          <a:xfrm>
            <a:off x="914400" y="4511040"/>
            <a:ext cx="6217920"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Tepe noktada ivme sıfır değildir.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Hız sıfırdır, ivme hâlâ g'dir ve aşağı doğrudur. İvme sıfır olsaydı cisim orada asılı kalırdı.</a:t>
            </a:r>
            <a:endParaRPr lang="en-US" sz="1200" dirty="0"/>
          </a:p>
        </p:txBody>
      </p:sp>
      <p:sp>
        <p:nvSpPr>
          <p:cNvPr id="16" name="Shape 14"/>
          <p:cNvSpPr/>
          <p:nvPr/>
        </p:nvSpPr>
        <p:spPr>
          <a:xfrm>
            <a:off x="7607808" y="1481328"/>
            <a:ext cx="3943807" cy="3699960"/>
          </a:xfrm>
          <a:prstGeom prst="roundRect">
            <a:avLst>
              <a:gd name="adj" fmla="val 395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a4dee546-de71-4ec2-8add-be39dd273d29/scratchpad/sekiller/serbest-dusme-06.png">    </p:cNvPr>
          <p:cNvPicPr>
            <a:picLocks noChangeAspect="1"/>
          </p:cNvPicPr>
          <p:nvPr/>
        </p:nvPicPr>
        <p:blipFill>
          <a:blip r:embed="rId1"/>
          <a:stretch>
            <a:fillRect/>
          </a:stretch>
        </p:blipFill>
        <p:spPr>
          <a:xfrm>
            <a:off x="7790688" y="1664208"/>
            <a:ext cx="3578047" cy="1878475"/>
          </a:xfrm>
          <a:prstGeom prst="rect">
            <a:avLst/>
          </a:prstGeom>
        </p:spPr>
      </p:pic>
      <p:sp>
        <p:nvSpPr>
          <p:cNvPr id="18" name="Shape 15"/>
          <p:cNvSpPr/>
          <p:nvPr/>
        </p:nvSpPr>
        <p:spPr>
          <a:xfrm>
            <a:off x="7790688" y="3634123"/>
            <a:ext cx="3578047" cy="0"/>
          </a:xfrm>
          <a:prstGeom prst="line">
            <a:avLst/>
          </a:prstGeom>
          <a:noFill/>
          <a:ln w="9525">
            <a:solidFill>
              <a:srgbClr val="E1E5EE"/>
            </a:solidFill>
            <a:prstDash val="dash"/>
          </a:ln>
        </p:spPr>
      </p:sp>
      <p:sp>
        <p:nvSpPr>
          <p:cNvPr id="19" name="Text 16"/>
          <p:cNvSpPr txBox="1"/>
          <p:nvPr/>
        </p:nvSpPr>
        <p:spPr>
          <a:xfrm>
            <a:off x="7790688" y="3688987"/>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Düşey atış, serbest düşmenin aynadaki görüntüsüdür: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çıkış süresi iniş süresine eşittir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cisim aynı yükseklikten geçerken süratinin büyüklüğü iki geçişte de aynıdır. Tepe noktada hız sıfırlanır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ivme sıfırlanmaz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sarı oklar her yerde aynı boydadır. İvme orada gerçekten sıfır olsaydı cisim havada asılı kalırdı.</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Gerçekte hava direnci ve limit hız</a:t>
            </a:r>
            <a:endParaRPr lang="en-US" sz="3200" dirty="0"/>
          </a:p>
        </p:txBody>
      </p:sp>
      <p:sp>
        <p:nvSpPr>
          <p:cNvPr id="5" name="Text 3"/>
          <p:cNvSpPr txBox="1"/>
          <p:nvPr/>
        </p:nvSpPr>
        <p:spPr>
          <a:xfrm>
            <a:off x="640080" y="1481328"/>
            <a:ext cx="6675120" cy="11033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Hava direnci hıza bağlı olarak artan, harekete ters yönlü bir kuvvettir.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Cisim hızlandıkça direnç büyür; ağırlığa eşitlendiği anda net kuvvet sıfırlanır, ivme biter ve cisim sabit hızla düşmeye devam eder.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Bu sabit hıza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limit hız</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denir.</a:t>
            </a:r>
            <a:endParaRPr lang="en-US" sz="1300" dirty="0"/>
          </a:p>
        </p:txBody>
      </p:sp>
      <p:sp>
        <p:nvSpPr>
          <p:cNvPr id="6" name="Text 4"/>
          <p:cNvSpPr txBox="1"/>
          <p:nvPr/>
        </p:nvSpPr>
        <p:spPr>
          <a:xfrm>
            <a:off x="640080" y="2694432"/>
            <a:ext cx="6675120" cy="103936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Bu kuvvet olmasaydı yağmurun altında durmak hayli tehlikeli olurdu: yağmur bulutları yaklaşık 2 km yüksekte olduğuna göre, damlalar yere v = √(2·9,81·2000) ≈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198 m/s</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hızla — bir tabanca mermisi hızında — çarpardı.</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Hava direnci sayesinde bu hız 8–9 m/s'de kalıyor.</a:t>
            </a:r>
            <a:endParaRPr lang="en-US" sz="1300" dirty="0"/>
          </a:p>
        </p:txBody>
      </p:sp>
      <p:sp>
        <p:nvSpPr>
          <p:cNvPr id="7" name="Text 5"/>
          <p:cNvSpPr txBox="1"/>
          <p:nvPr/>
        </p:nvSpPr>
        <p:spPr>
          <a:xfrm>
            <a:off x="640080" y="3843528"/>
            <a:ext cx="6675120"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Yağmur damlası: yaklaşık 8–9 m/s</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Paraşütsüz atlayan bir insan: yaklaşık 55 m/s</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Paraşüt açıldığında: yaklaşık 5 m/s</a:t>
            </a:r>
            <a:endParaRPr lang="en-US" sz="1300" dirty="0"/>
          </a:p>
        </p:txBody>
      </p:sp>
      <p:sp>
        <p:nvSpPr>
          <p:cNvPr id="8" name="Text 6"/>
          <p:cNvSpPr txBox="1"/>
          <p:nvPr/>
        </p:nvSpPr>
        <p:spPr>
          <a:xfrm>
            <a:off x="640080" y="4828794"/>
            <a:ext cx="667512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Yüzey alanı büyük, kütlesi küçük cisimler (tüy, kâğıt, tüy topu) limit hıza çok çabuk ulaşır; bu yüzden “yavaş düşüyor” gibi görünürler.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Havası boşaltılmış bir tüpte bu fark tamamen kaybolur.</a:t>
            </a:r>
            <a:endParaRPr lang="en-US" sz="1300" dirty="0"/>
          </a:p>
        </p:txBody>
      </p:sp>
      <p:sp>
        <p:nvSpPr>
          <p:cNvPr id="9" name="Shape 7"/>
          <p:cNvSpPr/>
          <p:nvPr/>
        </p:nvSpPr>
        <p:spPr>
          <a:xfrm>
            <a:off x="7607808" y="1481328"/>
            <a:ext cx="3943807" cy="3252384"/>
          </a:xfrm>
          <a:prstGeom prst="roundRect">
            <a:avLst>
              <a:gd name="adj" fmla="val 449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0" name="Image 0" descr="/tmp/claude-1000/-opt-dersler/a4dee546-de71-4ec2-8add-be39dd273d29/scratchpad/sekiller/serbest-dusme-07.png">    </p:cNvPr>
          <p:cNvPicPr>
            <a:picLocks noChangeAspect="1"/>
          </p:cNvPicPr>
          <p:nvPr/>
        </p:nvPicPr>
        <p:blipFill>
          <a:blip r:embed="rId1"/>
          <a:stretch>
            <a:fillRect/>
          </a:stretch>
        </p:blipFill>
        <p:spPr>
          <a:xfrm>
            <a:off x="7790688" y="1664208"/>
            <a:ext cx="3578047" cy="1610121"/>
          </a:xfrm>
          <a:prstGeom prst="rect">
            <a:avLst/>
          </a:prstGeom>
        </p:spPr>
      </p:pic>
      <p:sp>
        <p:nvSpPr>
          <p:cNvPr id="11" name="Shape 8"/>
          <p:cNvSpPr/>
          <p:nvPr/>
        </p:nvSpPr>
        <p:spPr>
          <a:xfrm>
            <a:off x="7790688" y="3365769"/>
            <a:ext cx="3578047" cy="0"/>
          </a:xfrm>
          <a:prstGeom prst="line">
            <a:avLst/>
          </a:prstGeom>
          <a:noFill/>
          <a:ln w="9525">
            <a:solidFill>
              <a:srgbClr val="E1E5EE"/>
            </a:solidFill>
            <a:prstDash val="dash"/>
          </a:ln>
        </p:spPr>
      </p:sp>
      <p:sp>
        <p:nvSpPr>
          <p:cNvPr id="12" name="Text 9"/>
          <p:cNvSpPr txBox="1"/>
          <p:nvPr/>
        </p:nvSpPr>
        <p:spPr>
          <a:xfrm>
            <a:off x="7790688" y="3420633"/>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Hava direnci hız arttıkça büyür. Ağırlığa eşitlendiği anda net kuvvet sıfırlanır, ivme biter ve cisim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sabit hızla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düşmeye devam eder. v–t eğrisi bu yüzden düz bir doğru olarak başlayıp yatay bir çizgiye doğru yatar; mor kesikli çizgi hava direnci hiç olmasaydı hızın nereye gideceğini gösteriyor.</a:t>
            </a:r>
            <a:endParaRPr lang="en-US" sz="105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45 m yükseklikten bırakılan cisim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45 m yüksekten serbest bırakılan bir cisim için: (a) düşme süresini, (b) yere çarpma hızını, (c) hareketin 2. saniyesinde aldığı yolu bulunuz.</a:t>
            </a:r>
            <a:endParaRPr lang="en-US" sz="1600" dirty="0"/>
          </a:p>
        </p:txBody>
      </p:sp>
      <p:sp>
        <p:nvSpPr>
          <p:cNvPr id="9" name="Shape 7"/>
          <p:cNvSpPr/>
          <p:nvPr/>
        </p:nvSpPr>
        <p:spPr>
          <a:xfrm>
            <a:off x="5212080" y="1627632"/>
            <a:ext cx="6339535" cy="959483"/>
          </a:xfrm>
          <a:prstGeom prst="roundRect">
            <a:avLst>
              <a:gd name="adj" fmla="val 152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915349"/>
            <a:ext cx="384048" cy="384048"/>
          </a:xfrm>
          <a:prstGeom prst="roundRect">
            <a:avLst>
              <a:gd name="adj" fmla="val 26000"/>
            </a:avLst>
          </a:prstGeom>
          <a:solidFill>
            <a:srgbClr val="A56209"/>
          </a:solidFill>
          <a:ln/>
        </p:spPr>
      </p:sp>
      <p:sp>
        <p:nvSpPr>
          <p:cNvPr id="11" name="Text 9"/>
          <p:cNvSpPr txBox="1"/>
          <p:nvPr/>
        </p:nvSpPr>
        <p:spPr>
          <a:xfrm>
            <a:off x="5449824" y="191534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849755"/>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 = ½·g·t² → 45 = ½·10·t² → t² = 9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t = 3 s</a:t>
            </a:r>
            <a:endParaRPr lang="en-US" sz="1600" dirty="0"/>
          </a:p>
        </p:txBody>
      </p:sp>
      <p:sp>
        <p:nvSpPr>
          <p:cNvPr id="13" name="Shape 11"/>
          <p:cNvSpPr/>
          <p:nvPr/>
        </p:nvSpPr>
        <p:spPr>
          <a:xfrm>
            <a:off x="5212080" y="2733419"/>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245483"/>
            <a:ext cx="384048" cy="384048"/>
          </a:xfrm>
          <a:prstGeom prst="roundRect">
            <a:avLst>
              <a:gd name="adj" fmla="val 26000"/>
            </a:avLst>
          </a:prstGeom>
          <a:solidFill>
            <a:srgbClr val="A56209"/>
          </a:solidFill>
          <a:ln/>
        </p:spPr>
      </p:sp>
      <p:sp>
        <p:nvSpPr>
          <p:cNvPr id="15" name="Text 13"/>
          <p:cNvSpPr txBox="1"/>
          <p:nvPr/>
        </p:nvSpPr>
        <p:spPr>
          <a:xfrm>
            <a:off x="5449824" y="324548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788283"/>
            <a:ext cx="5379415" cy="129844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 = g·t = 10 · 3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v = 30 m/s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(kontrol: v² = 2gh = 2·10·45 = 900 → v = 30 m/s ✓)</a:t>
            </a:r>
            <a:endParaRPr lang="en-US" sz="1600" dirty="0"/>
          </a:p>
        </p:txBody>
      </p:sp>
      <p:sp>
        <p:nvSpPr>
          <p:cNvPr id="17" name="Shape 15"/>
          <p:cNvSpPr/>
          <p:nvPr/>
        </p:nvSpPr>
        <p:spPr>
          <a:xfrm>
            <a:off x="5212080" y="4287899"/>
            <a:ext cx="6339535" cy="1856869"/>
          </a:xfrm>
          <a:prstGeom prst="roundRect">
            <a:avLst>
              <a:gd name="adj" fmla="val 787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024309"/>
            <a:ext cx="384048" cy="384048"/>
          </a:xfrm>
          <a:prstGeom prst="roundRect">
            <a:avLst>
              <a:gd name="adj" fmla="val 26000"/>
            </a:avLst>
          </a:prstGeom>
          <a:solidFill>
            <a:srgbClr val="A56209"/>
          </a:solidFill>
          <a:ln/>
        </p:spPr>
      </p:sp>
      <p:sp>
        <p:nvSpPr>
          <p:cNvPr id="19" name="Text 17"/>
          <p:cNvSpPr txBox="1"/>
          <p:nvPr/>
        </p:nvSpPr>
        <p:spPr>
          <a:xfrm>
            <a:off x="5449824" y="50243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342763"/>
            <a:ext cx="5379415" cy="1747141"/>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İlk 2 s'de 20 m, ilk 1 s'de 5 m alınır; fark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'dir. 1 : 3 : 5 kuralıyla da ikinci saniyenin payı 3h = 3·5 = 15 m.</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Son 1 saniyede 25 m düşen cisim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Serbest bırakılan bir cisim, yere çarpmadan önceki son 1 saniyede 25 m yol alıyor. Cisim kaç metreden bırakılmıştır?</a:t>
            </a:r>
            <a:endParaRPr lang="en-US" sz="1600" dirty="0"/>
          </a:p>
        </p:txBody>
      </p:sp>
      <p:sp>
        <p:nvSpPr>
          <p:cNvPr id="9" name="Text 7"/>
          <p:cNvSpPr txBox="1"/>
          <p:nvPr/>
        </p:nvSpPr>
        <p:spPr>
          <a:xfrm>
            <a:off x="932688" y="3617976"/>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0" name="Text 8"/>
          <p:cNvSpPr txBox="1"/>
          <p:nvPr/>
        </p:nvSpPr>
        <p:spPr>
          <a:xfrm>
            <a:off x="932688" y="3874008"/>
            <a:ext cx="3712464" cy="457962"/>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Kısa yol: 1 : 3 : 5 kuralında son terim 5h = 25 m ise h = 5 m, toplam (1+3+5)·5 = 45 m.</a:t>
            </a:r>
            <a:endParaRPr lang="en-US" sz="1150" dirty="0"/>
          </a:p>
        </p:txBody>
      </p:sp>
      <p:sp>
        <p:nvSpPr>
          <p:cNvPr id="11" name="Shape 9"/>
          <p:cNvSpPr/>
          <p:nvPr/>
        </p:nvSpPr>
        <p:spPr>
          <a:xfrm>
            <a:off x="5212080" y="1627632"/>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223365"/>
            <a:ext cx="384048" cy="384048"/>
          </a:xfrm>
          <a:prstGeom prst="roundRect">
            <a:avLst>
              <a:gd name="adj" fmla="val 26000"/>
            </a:avLst>
          </a:prstGeom>
          <a:solidFill>
            <a:srgbClr val="A56209"/>
          </a:solidFill>
          <a:ln/>
        </p:spPr>
      </p:sp>
      <p:sp>
        <p:nvSpPr>
          <p:cNvPr id="13" name="Text 11"/>
          <p:cNvSpPr txBox="1"/>
          <p:nvPr/>
        </p:nvSpPr>
        <p:spPr>
          <a:xfrm>
            <a:off x="5449824" y="222336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Toplam süreye t diyelim. Son saniyedeki yol = h(t) − h(t−1) = 25 m.</a:t>
            </a:r>
            <a:endParaRPr lang="en-US" sz="1600" dirty="0"/>
          </a:p>
        </p:txBody>
      </p:sp>
      <p:sp>
        <p:nvSpPr>
          <p:cNvPr id="15" name="Shape 13"/>
          <p:cNvSpPr/>
          <p:nvPr/>
        </p:nvSpPr>
        <p:spPr>
          <a:xfrm>
            <a:off x="5212080" y="3349450"/>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945182"/>
            <a:ext cx="384048" cy="384048"/>
          </a:xfrm>
          <a:prstGeom prst="roundRect">
            <a:avLst>
              <a:gd name="adj" fmla="val 26000"/>
            </a:avLst>
          </a:prstGeom>
          <a:solidFill>
            <a:srgbClr val="A56209"/>
          </a:solidFill>
          <a:ln/>
        </p:spPr>
      </p:sp>
      <p:sp>
        <p:nvSpPr>
          <p:cNvPr id="17" name="Text 15"/>
          <p:cNvSpPr txBox="1"/>
          <p:nvPr/>
        </p:nvSpPr>
        <p:spPr>
          <a:xfrm>
            <a:off x="5449824" y="394518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404314"/>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5t² − 5(t−1)² = 25 → 5(2t − 1) = 25 → 2t − 1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t = 3 s</a:t>
            </a:r>
            <a:endParaRPr lang="en-US" sz="1600" dirty="0"/>
          </a:p>
        </p:txBody>
      </p:sp>
      <p:sp>
        <p:nvSpPr>
          <p:cNvPr id="19" name="Shape 17"/>
          <p:cNvSpPr/>
          <p:nvPr/>
        </p:nvSpPr>
        <p:spPr>
          <a:xfrm>
            <a:off x="5212080" y="5071267"/>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415994"/>
            <a:ext cx="384048" cy="384048"/>
          </a:xfrm>
          <a:prstGeom prst="roundRect">
            <a:avLst>
              <a:gd name="adj" fmla="val 26000"/>
            </a:avLst>
          </a:prstGeom>
          <a:solidFill>
            <a:srgbClr val="A56209"/>
          </a:solidFill>
          <a:ln/>
        </p:spPr>
      </p:sp>
      <p:sp>
        <p:nvSpPr>
          <p:cNvPr id="21" name="Text 19"/>
          <p:cNvSpPr txBox="1"/>
          <p:nvPr/>
        </p:nvSpPr>
        <p:spPr>
          <a:xfrm>
            <a:off x="5449824" y="5415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5126131"/>
            <a:ext cx="5379415" cy="96377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 = 5 · 3²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45 m</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20 m/s ile yukarı atılan cisim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Yerden 20 m/s hızla düşey yukarı atılan cisim için: (a) çıkabileceği en büyük yüksekliği, (b) havada kalma süresini, (c) 15 m yükseklikteki süratini bulunuz.</a:t>
            </a:r>
            <a:endParaRPr lang="en-US" sz="1600" dirty="0"/>
          </a:p>
        </p:txBody>
      </p:sp>
      <p:sp>
        <p:nvSpPr>
          <p:cNvPr id="9" name="Shape 7"/>
          <p:cNvSpPr/>
          <p:nvPr/>
        </p:nvSpPr>
        <p:spPr>
          <a:xfrm>
            <a:off x="5212080" y="1627632"/>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972358"/>
            <a:ext cx="384048" cy="384048"/>
          </a:xfrm>
          <a:prstGeom prst="roundRect">
            <a:avLst>
              <a:gd name="adj" fmla="val 26000"/>
            </a:avLst>
          </a:prstGeom>
          <a:solidFill>
            <a:srgbClr val="A56209"/>
          </a:solidFill>
          <a:ln/>
        </p:spPr>
      </p:sp>
      <p:sp>
        <p:nvSpPr>
          <p:cNvPr id="11" name="Text 9"/>
          <p:cNvSpPr txBox="1"/>
          <p:nvPr/>
        </p:nvSpPr>
        <p:spPr>
          <a:xfrm>
            <a:off x="5449824" y="1972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96377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maks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v₀² / (2g) = 400 / 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m</a:t>
            </a:r>
            <a:endParaRPr lang="en-US" sz="1600" dirty="0"/>
          </a:p>
        </p:txBody>
      </p:sp>
      <p:sp>
        <p:nvSpPr>
          <p:cNvPr id="13" name="Shape 11"/>
          <p:cNvSpPr/>
          <p:nvPr/>
        </p:nvSpPr>
        <p:spPr>
          <a:xfrm>
            <a:off x="5212080" y="2847437"/>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192163"/>
            <a:ext cx="384048" cy="384048"/>
          </a:xfrm>
          <a:prstGeom prst="roundRect">
            <a:avLst>
              <a:gd name="adj" fmla="val 26000"/>
            </a:avLst>
          </a:prstGeom>
          <a:solidFill>
            <a:srgbClr val="A56209"/>
          </a:solidFill>
          <a:ln/>
        </p:spPr>
      </p:sp>
      <p:sp>
        <p:nvSpPr>
          <p:cNvPr id="15" name="Text 13"/>
          <p:cNvSpPr txBox="1"/>
          <p:nvPr/>
        </p:nvSpPr>
        <p:spPr>
          <a:xfrm>
            <a:off x="5449824" y="31921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902301"/>
            <a:ext cx="5379415" cy="96377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çıkış</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v₀ / g = 2 s → toplam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 s</a:t>
            </a:r>
            <a:endParaRPr lang="en-US" sz="1600" dirty="0"/>
          </a:p>
        </p:txBody>
      </p:sp>
      <p:sp>
        <p:nvSpPr>
          <p:cNvPr id="17" name="Shape 15"/>
          <p:cNvSpPr/>
          <p:nvPr/>
        </p:nvSpPr>
        <p:spPr>
          <a:xfrm>
            <a:off x="5212080" y="4067241"/>
            <a:ext cx="6339535" cy="2077527"/>
          </a:xfrm>
          <a:prstGeom prst="roundRect">
            <a:avLst>
              <a:gd name="adj" fmla="val 704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913981"/>
            <a:ext cx="384048" cy="384048"/>
          </a:xfrm>
          <a:prstGeom prst="roundRect">
            <a:avLst>
              <a:gd name="adj" fmla="val 26000"/>
            </a:avLst>
          </a:prstGeom>
          <a:solidFill>
            <a:srgbClr val="A56209"/>
          </a:solidFill>
          <a:ln/>
        </p:spPr>
      </p:sp>
      <p:sp>
        <p:nvSpPr>
          <p:cNvPr id="19" name="Text 17"/>
          <p:cNvSpPr txBox="1"/>
          <p:nvPr/>
        </p:nvSpPr>
        <p:spPr>
          <a:xfrm>
            <a:off x="5449824" y="491398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122105"/>
            <a:ext cx="5379415" cy="1967799"/>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v² = v₀² − 2·g·h = 400 − 300 = 100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v = 10 m/s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Cisim 15 m'den biri çıkarken biri inerken iki kez geçer; sürat iki geçişte de aynıdır.</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yükseklik, farklı gökcismi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10 m yüksekten bırakılan bir cisim Dünya'da ve Ay'da kaç saniyede yere iner? (g</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Dünya</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9,81 m/s², g</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Ay</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1,62 m/s²)</a:t>
            </a:r>
            <a:endParaRPr lang="en-US" sz="1600" dirty="0"/>
          </a:p>
        </p:txBody>
      </p:sp>
      <p:sp>
        <p:nvSpPr>
          <p:cNvPr id="9" name="Shape 7"/>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48778"/>
            <a:ext cx="384048" cy="384048"/>
          </a:xfrm>
          <a:prstGeom prst="roundRect">
            <a:avLst>
              <a:gd name="adj" fmla="val 26000"/>
            </a:avLst>
          </a:prstGeom>
          <a:solidFill>
            <a:srgbClr val="A56209"/>
          </a:solidFill>
          <a:ln/>
        </p:spPr>
      </p:sp>
      <p:sp>
        <p:nvSpPr>
          <p:cNvPr id="11" name="Text 9"/>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 = √(2h / g) bağıntısı kullanılır.</a:t>
            </a:r>
            <a:endParaRPr lang="en-US" sz="1600" dirty="0"/>
          </a:p>
        </p:txBody>
      </p:sp>
      <p:sp>
        <p:nvSpPr>
          <p:cNvPr id="13" name="Shape 11"/>
          <p:cNvSpPr/>
          <p:nvPr/>
        </p:nvSpPr>
        <p:spPr>
          <a:xfrm>
            <a:off x="5212080" y="260027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821423"/>
            <a:ext cx="384048" cy="384048"/>
          </a:xfrm>
          <a:prstGeom prst="roundRect">
            <a:avLst>
              <a:gd name="adj" fmla="val 26000"/>
            </a:avLst>
          </a:prstGeom>
          <a:solidFill>
            <a:srgbClr val="A56209"/>
          </a:solidFill>
          <a:ln/>
        </p:spPr>
      </p:sp>
      <p:sp>
        <p:nvSpPr>
          <p:cNvPr id="15" name="Text 13"/>
          <p:cNvSpPr txBox="1"/>
          <p:nvPr/>
        </p:nvSpPr>
        <p:spPr>
          <a:xfrm>
            <a:off x="5449824" y="282142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65514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Dünya: t = √(20 / 9,81)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1,43 s</a:t>
            </a:r>
            <a:endParaRPr lang="en-US" sz="1600" dirty="0"/>
          </a:p>
        </p:txBody>
      </p:sp>
      <p:sp>
        <p:nvSpPr>
          <p:cNvPr id="17" name="Shape 15"/>
          <p:cNvSpPr/>
          <p:nvPr/>
        </p:nvSpPr>
        <p:spPr>
          <a:xfrm>
            <a:off x="5212080" y="3572921"/>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794068"/>
            <a:ext cx="384048" cy="384048"/>
          </a:xfrm>
          <a:prstGeom prst="roundRect">
            <a:avLst>
              <a:gd name="adj" fmla="val 26000"/>
            </a:avLst>
          </a:prstGeom>
          <a:solidFill>
            <a:srgbClr val="A56209"/>
          </a:solidFill>
          <a:ln/>
        </p:spPr>
      </p:sp>
      <p:sp>
        <p:nvSpPr>
          <p:cNvPr id="19" name="Text 17"/>
          <p:cNvSpPr txBox="1"/>
          <p:nvPr/>
        </p:nvSpPr>
        <p:spPr>
          <a:xfrm>
            <a:off x="5449824" y="379406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627785"/>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 t = √(20 / 1,62)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3,51 s</a:t>
            </a:r>
            <a:endParaRPr lang="en-US" sz="1600" dirty="0"/>
          </a:p>
        </p:txBody>
      </p:sp>
      <p:sp>
        <p:nvSpPr>
          <p:cNvPr id="21" name="Shape 19"/>
          <p:cNvSpPr/>
          <p:nvPr/>
        </p:nvSpPr>
        <p:spPr>
          <a:xfrm>
            <a:off x="5212080" y="4545566"/>
            <a:ext cx="6339535" cy="1599202"/>
          </a:xfrm>
          <a:prstGeom prst="roundRect">
            <a:avLst>
              <a:gd name="adj" fmla="val 914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153143"/>
            <a:ext cx="384048" cy="384048"/>
          </a:xfrm>
          <a:prstGeom prst="roundRect">
            <a:avLst>
              <a:gd name="adj" fmla="val 26000"/>
            </a:avLst>
          </a:prstGeom>
          <a:solidFill>
            <a:srgbClr val="A56209"/>
          </a:solidFill>
          <a:ln/>
        </p:spPr>
      </p:sp>
      <p:sp>
        <p:nvSpPr>
          <p:cNvPr id="23" name="Text 21"/>
          <p:cNvSpPr txBox="1"/>
          <p:nvPr/>
        </p:nvSpPr>
        <p:spPr>
          <a:xfrm>
            <a:off x="5449824" y="51531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600430"/>
            <a:ext cx="5379415" cy="14894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Oran: √(9,81 / 1,62) ≈ 2,46 → Ay'da düşüş yaklaşık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2,5 kat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uzun sürer. Laboratuvardaki gökcismi düğmeleriyle bunu deneyebilirsin.</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6" name="Shape 4"/>
          <p:cNvSpPr/>
          <p:nvPr/>
        </p:nvSpPr>
        <p:spPr>
          <a:xfrm>
            <a:off x="640080" y="162763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41248" y="1773936"/>
            <a:ext cx="274320" cy="274320"/>
          </a:xfrm>
          <a:prstGeom prst="roundRect">
            <a:avLst>
              <a:gd name="adj" fmla="val 26667"/>
            </a:avLst>
          </a:prstGeom>
          <a:solidFill>
            <a:srgbClr val="FBE9EE"/>
          </a:solidFill>
          <a:ln/>
        </p:spPr>
      </p:sp>
      <p:sp>
        <p:nvSpPr>
          <p:cNvPr id="8" name="Text 6"/>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9" name="Text 7"/>
          <p:cNvSpPr txBox="1"/>
          <p:nvPr/>
        </p:nvSpPr>
        <p:spPr>
          <a:xfrm>
            <a:off x="1225296" y="174650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“Ağır cisim önce düşer.”</a:t>
            </a:r>
            <a:endParaRPr lang="en-US" sz="1250" dirty="0"/>
          </a:p>
        </p:txBody>
      </p:sp>
      <p:sp>
        <p:nvSpPr>
          <p:cNvPr id="10" name="Shape 8"/>
          <p:cNvSpPr/>
          <p:nvPr/>
        </p:nvSpPr>
        <p:spPr>
          <a:xfrm>
            <a:off x="841248" y="2093595"/>
            <a:ext cx="274320" cy="274320"/>
          </a:xfrm>
          <a:prstGeom prst="roundRect">
            <a:avLst>
              <a:gd name="adj" fmla="val 26667"/>
            </a:avLst>
          </a:prstGeom>
          <a:solidFill>
            <a:srgbClr val="EAF7DC"/>
          </a:solidFill>
          <a:ln/>
        </p:spPr>
      </p:sp>
      <p:sp>
        <p:nvSpPr>
          <p:cNvPr id="11" name="Text 9"/>
          <p:cNvSpPr txBox="1"/>
          <p:nvPr/>
        </p:nvSpPr>
        <p:spPr>
          <a:xfrm>
            <a:off x="841248" y="209359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2" name="Text 10"/>
          <p:cNvSpPr txBox="1"/>
          <p:nvPr/>
        </p:nvSpPr>
        <p:spPr>
          <a:xfrm>
            <a:off x="1225296" y="207530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Hava direnci ihmal edildiğinde kütle hiç rol oynamaz.</a:t>
            </a:r>
            <a:endParaRPr lang="en-US" sz="1150" dirty="0"/>
          </a:p>
        </p:txBody>
      </p:sp>
      <p:sp>
        <p:nvSpPr>
          <p:cNvPr id="13" name="Shape 11"/>
          <p:cNvSpPr/>
          <p:nvPr/>
        </p:nvSpPr>
        <p:spPr>
          <a:xfrm>
            <a:off x="6205576" y="162763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406744" y="1773936"/>
            <a:ext cx="274320" cy="274320"/>
          </a:xfrm>
          <a:prstGeom prst="roundRect">
            <a:avLst>
              <a:gd name="adj" fmla="val 26667"/>
            </a:avLst>
          </a:prstGeom>
          <a:solidFill>
            <a:srgbClr val="FBE9EE"/>
          </a:solidFill>
          <a:ln/>
        </p:spPr>
      </p:sp>
      <p:sp>
        <p:nvSpPr>
          <p:cNvPr id="15" name="Text 13"/>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6" name="Text 14"/>
          <p:cNvSpPr txBox="1"/>
          <p:nvPr/>
        </p:nvSpPr>
        <p:spPr>
          <a:xfrm>
            <a:off x="6790792" y="174650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“Tepe noktada ivme sıfırdır.”</a:t>
            </a:r>
            <a:endParaRPr lang="en-US" sz="1250" dirty="0"/>
          </a:p>
        </p:txBody>
      </p:sp>
      <p:sp>
        <p:nvSpPr>
          <p:cNvPr id="17" name="Shape 15"/>
          <p:cNvSpPr/>
          <p:nvPr/>
        </p:nvSpPr>
        <p:spPr>
          <a:xfrm>
            <a:off x="6406744" y="2093595"/>
            <a:ext cx="274320" cy="274320"/>
          </a:xfrm>
          <a:prstGeom prst="roundRect">
            <a:avLst>
              <a:gd name="adj" fmla="val 26667"/>
            </a:avLst>
          </a:prstGeom>
          <a:solidFill>
            <a:srgbClr val="EAF7DC"/>
          </a:solidFill>
          <a:ln/>
        </p:spPr>
      </p:sp>
      <p:sp>
        <p:nvSpPr>
          <p:cNvPr id="18" name="Text 16"/>
          <p:cNvSpPr txBox="1"/>
          <p:nvPr/>
        </p:nvSpPr>
        <p:spPr>
          <a:xfrm>
            <a:off x="6406744" y="209359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9" name="Text 17"/>
          <p:cNvSpPr txBox="1"/>
          <p:nvPr/>
        </p:nvSpPr>
        <p:spPr>
          <a:xfrm>
            <a:off x="6790792" y="207530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Sıfır olan hızdır; ivme orada da g'dir.</a:t>
            </a:r>
            <a:endParaRPr lang="en-US" sz="1150" dirty="0"/>
          </a:p>
        </p:txBody>
      </p:sp>
      <p:sp>
        <p:nvSpPr>
          <p:cNvPr id="20" name="Shape 18"/>
          <p:cNvSpPr/>
          <p:nvPr/>
        </p:nvSpPr>
        <p:spPr>
          <a:xfrm>
            <a:off x="640080" y="279349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Shape 19"/>
          <p:cNvSpPr/>
          <p:nvPr/>
        </p:nvSpPr>
        <p:spPr>
          <a:xfrm>
            <a:off x="841248" y="2939796"/>
            <a:ext cx="274320" cy="274320"/>
          </a:xfrm>
          <a:prstGeom prst="roundRect">
            <a:avLst>
              <a:gd name="adj" fmla="val 26667"/>
            </a:avLst>
          </a:prstGeom>
          <a:solidFill>
            <a:srgbClr val="FBE9EE"/>
          </a:solidFill>
          <a:ln/>
        </p:spPr>
      </p:sp>
      <p:sp>
        <p:nvSpPr>
          <p:cNvPr id="22" name="Text 20"/>
          <p:cNvSpPr txBox="1"/>
          <p:nvPr/>
        </p:nvSpPr>
        <p:spPr>
          <a:xfrm>
            <a:off x="841248" y="29397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3" name="Text 21"/>
          <p:cNvSpPr txBox="1"/>
          <p:nvPr/>
        </p:nvSpPr>
        <p:spPr>
          <a:xfrm>
            <a:off x="1225296" y="291236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v = 2gh yazmak.</a:t>
            </a:r>
            <a:endParaRPr lang="en-US" sz="1250" dirty="0"/>
          </a:p>
        </p:txBody>
      </p:sp>
      <p:sp>
        <p:nvSpPr>
          <p:cNvPr id="24" name="Shape 22"/>
          <p:cNvSpPr/>
          <p:nvPr/>
        </p:nvSpPr>
        <p:spPr>
          <a:xfrm>
            <a:off x="841248" y="3259455"/>
            <a:ext cx="274320" cy="274320"/>
          </a:xfrm>
          <a:prstGeom prst="roundRect">
            <a:avLst>
              <a:gd name="adj" fmla="val 26667"/>
            </a:avLst>
          </a:prstGeom>
          <a:solidFill>
            <a:srgbClr val="EAF7DC"/>
          </a:solidFill>
          <a:ln/>
        </p:spPr>
      </p:sp>
      <p:sp>
        <p:nvSpPr>
          <p:cNvPr id="25" name="Text 23"/>
          <p:cNvSpPr txBox="1"/>
          <p:nvPr/>
        </p:nvSpPr>
        <p:spPr>
          <a:xfrm>
            <a:off x="841248" y="325945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6" name="Text 24"/>
          <p:cNvSpPr txBox="1"/>
          <p:nvPr/>
        </p:nvSpPr>
        <p:spPr>
          <a:xfrm>
            <a:off x="1225296" y="324116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Doğrusu </a:t>
            </a:r>
            <a:pPr indent="0" marL="0">
              <a:lnSpc>
                <a:spcPct val="108000"/>
              </a:lnSpc>
              <a:buNone/>
            </a:pPr>
            <a:r>
              <a:rPr lang="en-US" sz="1150" b="1" dirty="0">
                <a:solidFill>
                  <a:srgbClr val="0E1426"/>
                </a:solidFill>
                <a:latin typeface="Calibri" pitchFamily="34" charset="0"/>
                <a:ea typeface="Calibri" pitchFamily="34" charset="-122"/>
                <a:cs typeface="Calibri" pitchFamily="34" charset="-120"/>
              </a:rPr>
              <a:t>v² = 2gh</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karekök almayı unutma.</a:t>
            </a:r>
            <a:endParaRPr lang="en-US" sz="1150" dirty="0"/>
          </a:p>
        </p:txBody>
      </p:sp>
      <p:sp>
        <p:nvSpPr>
          <p:cNvPr id="27" name="Shape 25"/>
          <p:cNvSpPr/>
          <p:nvPr/>
        </p:nvSpPr>
        <p:spPr>
          <a:xfrm>
            <a:off x="6205576" y="279349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6406744" y="2939796"/>
            <a:ext cx="274320" cy="274320"/>
          </a:xfrm>
          <a:prstGeom prst="roundRect">
            <a:avLst>
              <a:gd name="adj" fmla="val 26667"/>
            </a:avLst>
          </a:prstGeom>
          <a:solidFill>
            <a:srgbClr val="FBE9EE"/>
          </a:solidFill>
          <a:ln/>
        </p:spPr>
      </p:sp>
      <p:sp>
        <p:nvSpPr>
          <p:cNvPr id="29" name="Text 27"/>
          <p:cNvSpPr txBox="1"/>
          <p:nvPr/>
        </p:nvSpPr>
        <p:spPr>
          <a:xfrm>
            <a:off x="6406744" y="29397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0" name="Text 28"/>
          <p:cNvSpPr txBox="1"/>
          <p:nvPr/>
        </p:nvSpPr>
        <p:spPr>
          <a:xfrm>
            <a:off x="6790792" y="291236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İlk hızlı hareketi serbest düşme sanmak.</a:t>
            </a:r>
            <a:endParaRPr lang="en-US" sz="1250" dirty="0"/>
          </a:p>
        </p:txBody>
      </p:sp>
      <p:sp>
        <p:nvSpPr>
          <p:cNvPr id="31" name="Shape 29"/>
          <p:cNvSpPr/>
          <p:nvPr/>
        </p:nvSpPr>
        <p:spPr>
          <a:xfrm>
            <a:off x="6406744" y="3259455"/>
            <a:ext cx="274320" cy="274320"/>
          </a:xfrm>
          <a:prstGeom prst="roundRect">
            <a:avLst>
              <a:gd name="adj" fmla="val 26667"/>
            </a:avLst>
          </a:prstGeom>
          <a:solidFill>
            <a:srgbClr val="EAF7DC"/>
          </a:solidFill>
          <a:ln/>
        </p:spPr>
      </p:sp>
      <p:sp>
        <p:nvSpPr>
          <p:cNvPr id="32" name="Text 30"/>
          <p:cNvSpPr txBox="1"/>
          <p:nvPr/>
        </p:nvSpPr>
        <p:spPr>
          <a:xfrm>
            <a:off x="6406744" y="325945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3" name="Text 31"/>
          <p:cNvSpPr txBox="1"/>
          <p:nvPr/>
        </p:nvSpPr>
        <p:spPr>
          <a:xfrm>
            <a:off x="6790792" y="324116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v₀ ≠ 0 ise hareket düşey atıştır.</a:t>
            </a:r>
            <a:endParaRPr lang="en-US" sz="1150" dirty="0"/>
          </a:p>
        </p:txBody>
      </p:sp>
      <p:sp>
        <p:nvSpPr>
          <p:cNvPr id="34" name="Shape 32"/>
          <p:cNvSpPr/>
          <p:nvPr/>
        </p:nvSpPr>
        <p:spPr>
          <a:xfrm>
            <a:off x="640080" y="395935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841248" y="4105656"/>
            <a:ext cx="274320" cy="274320"/>
          </a:xfrm>
          <a:prstGeom prst="roundRect">
            <a:avLst>
              <a:gd name="adj" fmla="val 26667"/>
            </a:avLst>
          </a:prstGeom>
          <a:solidFill>
            <a:srgbClr val="FBE9EE"/>
          </a:solidFill>
          <a:ln/>
        </p:spPr>
      </p:sp>
      <p:sp>
        <p:nvSpPr>
          <p:cNvPr id="36" name="Text 34"/>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7" name="Text 35"/>
          <p:cNvSpPr txBox="1"/>
          <p:nvPr/>
        </p:nvSpPr>
        <p:spPr>
          <a:xfrm>
            <a:off x="1225296" y="407822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1 : 3 : 5 ile 1 : 4 : 9'u karıştırmak.</a:t>
            </a:r>
            <a:endParaRPr lang="en-US" sz="1250" dirty="0"/>
          </a:p>
        </p:txBody>
      </p:sp>
      <p:sp>
        <p:nvSpPr>
          <p:cNvPr id="38" name="Shape 36"/>
          <p:cNvSpPr/>
          <p:nvPr/>
        </p:nvSpPr>
        <p:spPr>
          <a:xfrm>
            <a:off x="841248" y="4425315"/>
            <a:ext cx="274320" cy="274320"/>
          </a:xfrm>
          <a:prstGeom prst="roundRect">
            <a:avLst>
              <a:gd name="adj" fmla="val 26667"/>
            </a:avLst>
          </a:prstGeom>
          <a:solidFill>
            <a:srgbClr val="EAF7DC"/>
          </a:solidFill>
          <a:ln/>
        </p:spPr>
      </p:sp>
      <p:sp>
        <p:nvSpPr>
          <p:cNvPr id="39" name="Text 37"/>
          <p:cNvSpPr txBox="1"/>
          <p:nvPr/>
        </p:nvSpPr>
        <p:spPr>
          <a:xfrm>
            <a:off x="841248" y="442531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0" name="Text 38"/>
          <p:cNvSpPr txBox="1"/>
          <p:nvPr/>
        </p:nvSpPr>
        <p:spPr>
          <a:xfrm>
            <a:off x="1225296" y="440702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Birincisi </a:t>
            </a:r>
            <a:pPr indent="0" marL="0">
              <a:lnSpc>
                <a:spcPct val="108000"/>
              </a:lnSpc>
              <a:buNone/>
            </a:pPr>
            <a:r>
              <a:rPr lang="en-US" sz="1150" i="1" dirty="0">
                <a:solidFill>
                  <a:srgbClr val="4A5470"/>
                </a:solidFill>
                <a:latin typeface="Calibri" pitchFamily="34" charset="0"/>
                <a:ea typeface="Calibri" pitchFamily="34" charset="-122"/>
                <a:cs typeface="Calibri" pitchFamily="34" charset="-120"/>
              </a:rPr>
              <a:t>her aralıkta</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ikincisi </a:t>
            </a:r>
            <a:pPr indent="0" marL="0">
              <a:lnSpc>
                <a:spcPct val="108000"/>
              </a:lnSpc>
              <a:buNone/>
            </a:pPr>
            <a:r>
              <a:rPr lang="en-US" sz="1150" i="1" dirty="0">
                <a:solidFill>
                  <a:srgbClr val="4A5470"/>
                </a:solidFill>
                <a:latin typeface="Calibri" pitchFamily="34" charset="0"/>
                <a:ea typeface="Calibri" pitchFamily="34" charset="-122"/>
                <a:cs typeface="Calibri" pitchFamily="34" charset="-120"/>
              </a:rPr>
              <a:t>baştan itibaren toplam</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alınan yoldur.</a:t>
            </a:r>
            <a:endParaRPr lang="en-US" sz="1150" dirty="0"/>
          </a:p>
        </p:txBody>
      </p:sp>
      <p:sp>
        <p:nvSpPr>
          <p:cNvPr id="41" name="Shape 39"/>
          <p:cNvSpPr/>
          <p:nvPr/>
        </p:nvSpPr>
        <p:spPr>
          <a:xfrm>
            <a:off x="6205576" y="395935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6406744" y="4105656"/>
            <a:ext cx="274320" cy="274320"/>
          </a:xfrm>
          <a:prstGeom prst="roundRect">
            <a:avLst>
              <a:gd name="adj" fmla="val 26667"/>
            </a:avLst>
          </a:prstGeom>
          <a:solidFill>
            <a:srgbClr val="FBE9EE"/>
          </a:solidFill>
          <a:ln/>
        </p:spPr>
      </p:sp>
      <p:sp>
        <p:nvSpPr>
          <p:cNvPr id="43" name="Text 41"/>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44" name="Text 42"/>
          <p:cNvSpPr txBox="1"/>
          <p:nvPr/>
        </p:nvSpPr>
        <p:spPr>
          <a:xfrm>
            <a:off x="6790792" y="407822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İşaretleri karıştırmak.</a:t>
            </a:r>
            <a:endParaRPr lang="en-US" sz="1250" dirty="0"/>
          </a:p>
        </p:txBody>
      </p:sp>
      <p:sp>
        <p:nvSpPr>
          <p:cNvPr id="45" name="Shape 43"/>
          <p:cNvSpPr/>
          <p:nvPr/>
        </p:nvSpPr>
        <p:spPr>
          <a:xfrm>
            <a:off x="6406744" y="4425315"/>
            <a:ext cx="274320" cy="274320"/>
          </a:xfrm>
          <a:prstGeom prst="roundRect">
            <a:avLst>
              <a:gd name="adj" fmla="val 26667"/>
            </a:avLst>
          </a:prstGeom>
          <a:solidFill>
            <a:srgbClr val="EAF7DC"/>
          </a:solidFill>
          <a:ln/>
        </p:spPr>
      </p:sp>
      <p:sp>
        <p:nvSpPr>
          <p:cNvPr id="46" name="Text 44"/>
          <p:cNvSpPr txBox="1"/>
          <p:nvPr/>
        </p:nvSpPr>
        <p:spPr>
          <a:xfrm>
            <a:off x="6406744" y="442531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7" name="Text 45"/>
          <p:cNvSpPr txBox="1"/>
          <p:nvPr/>
        </p:nvSpPr>
        <p:spPr>
          <a:xfrm>
            <a:off x="6790792" y="440702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Başta bir yön pozitif seçilir ve soru boyunca değiştirilmez. Aşağı pozitif seçtiysen yukarı hızlar negatif yazılır.</a:t>
            </a:r>
            <a:endParaRPr lang="en-US" sz="1150" dirty="0"/>
          </a:p>
        </p:txBody>
      </p:sp>
      <p:sp>
        <p:nvSpPr>
          <p:cNvPr id="48" name="Shape 46"/>
          <p:cNvSpPr/>
          <p:nvPr/>
        </p:nvSpPr>
        <p:spPr>
          <a:xfrm>
            <a:off x="640080" y="512521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9" name="Shape 47"/>
          <p:cNvSpPr/>
          <p:nvPr/>
        </p:nvSpPr>
        <p:spPr>
          <a:xfrm>
            <a:off x="841248" y="5271516"/>
            <a:ext cx="274320" cy="274320"/>
          </a:xfrm>
          <a:prstGeom prst="roundRect">
            <a:avLst>
              <a:gd name="adj" fmla="val 26667"/>
            </a:avLst>
          </a:prstGeom>
          <a:solidFill>
            <a:srgbClr val="FBE9EE"/>
          </a:solidFill>
          <a:ln/>
        </p:spPr>
      </p:sp>
      <p:sp>
        <p:nvSpPr>
          <p:cNvPr id="50" name="Text 48"/>
          <p:cNvSpPr txBox="1"/>
          <p:nvPr/>
        </p:nvSpPr>
        <p:spPr>
          <a:xfrm>
            <a:off x="841248" y="52715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51" name="Text 49"/>
          <p:cNvSpPr txBox="1"/>
          <p:nvPr/>
        </p:nvSpPr>
        <p:spPr>
          <a:xfrm>
            <a:off x="1225296" y="5244084"/>
            <a:ext cx="4559656" cy="493014"/>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Yüksekliği iki katına çıkarınca sürenin de iki katına çıktığını sanmak.</a:t>
            </a:r>
            <a:endParaRPr lang="en-US" sz="1250" dirty="0"/>
          </a:p>
        </p:txBody>
      </p:sp>
      <p:sp>
        <p:nvSpPr>
          <p:cNvPr id="52" name="Shape 50"/>
          <p:cNvSpPr/>
          <p:nvPr/>
        </p:nvSpPr>
        <p:spPr>
          <a:xfrm>
            <a:off x="841248" y="5810250"/>
            <a:ext cx="274320" cy="274320"/>
          </a:xfrm>
          <a:prstGeom prst="roundRect">
            <a:avLst>
              <a:gd name="adj" fmla="val 26667"/>
            </a:avLst>
          </a:prstGeom>
          <a:solidFill>
            <a:srgbClr val="EAF7DC"/>
          </a:solidFill>
          <a:ln/>
        </p:spPr>
      </p:sp>
      <p:sp>
        <p:nvSpPr>
          <p:cNvPr id="53" name="Text 51"/>
          <p:cNvSpPr txBox="1"/>
          <p:nvPr/>
        </p:nvSpPr>
        <p:spPr>
          <a:xfrm>
            <a:off x="841248" y="581025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54" name="Text 52"/>
          <p:cNvSpPr txBox="1"/>
          <p:nvPr/>
        </p:nvSpPr>
        <p:spPr>
          <a:xfrm>
            <a:off x="1225296" y="5791962"/>
            <a:ext cx="4559656" cy="274320"/>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Süre karekökle artar: 4 kat yükseklik → 2 kat süre.</a:t>
            </a:r>
            <a:endParaRPr lang="en-US" sz="1150" dirty="0"/>
          </a:p>
        </p:txBody>
      </p:sp>
      <p:sp>
        <p:nvSpPr>
          <p:cNvPr id="55" name="Shape 53"/>
          <p:cNvSpPr/>
          <p:nvPr/>
        </p:nvSpPr>
        <p:spPr>
          <a:xfrm>
            <a:off x="640080" y="6382512"/>
            <a:ext cx="128016" cy="128016"/>
          </a:xfrm>
          <a:prstGeom prst="roundRect">
            <a:avLst>
              <a:gd name="adj" fmla="val 28571"/>
            </a:avLst>
          </a:prstGeom>
          <a:solidFill>
            <a:srgbClr val="A9E648"/>
          </a:solidFill>
          <a:ln/>
        </p:spPr>
      </p:sp>
      <p:sp>
        <p:nvSpPr>
          <p:cNvPr id="56" name="Text 5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57" name="Text 5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Dünya'da </a:t>
            </a:r>
            <a:pPr indent="0" marL="0">
              <a:buNone/>
            </a:pPr>
            <a:r>
              <a:rPr lang="en-US" sz="1500" b="1" dirty="0">
                <a:solidFill>
                  <a:srgbClr val="FFFFFF"/>
                </a:solidFill>
                <a:latin typeface="Calibri" pitchFamily="34" charset="0"/>
                <a:ea typeface="Calibri" pitchFamily="34" charset="-122"/>
                <a:cs typeface="Calibri" pitchFamily="34" charset="-120"/>
              </a:rPr>
              <a:t>g = 9,81 m/s²</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Kütle </a:t>
            </a:r>
            <a:pPr indent="0" marL="0">
              <a:buNone/>
            </a:pPr>
            <a:r>
              <a:rPr lang="en-US" sz="1500" b="1" dirty="0">
                <a:solidFill>
                  <a:srgbClr val="FFFFFF"/>
                </a:solidFill>
                <a:latin typeface="Calibri" pitchFamily="34" charset="0"/>
                <a:ea typeface="Calibri" pitchFamily="34" charset="-122"/>
                <a:cs typeface="Calibri" pitchFamily="34" charset="-120"/>
              </a:rPr>
              <a:t>fark etmez</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Yol </a:t>
            </a:r>
            <a:pPr indent="0" marL="0">
              <a:buNone/>
            </a:pPr>
            <a:r>
              <a:rPr lang="en-US" sz="1500" b="1" dirty="0">
                <a:solidFill>
                  <a:srgbClr val="FFFFFF"/>
                </a:solidFill>
                <a:latin typeface="Calibri" pitchFamily="34" charset="0"/>
                <a:ea typeface="Calibri" pitchFamily="34" charset="-122"/>
                <a:cs typeface="Calibri" pitchFamily="34" charset="-120"/>
              </a:rPr>
              <a:t>t² ile</a:t>
            </a:r>
            <a:pPr indent="0" marL="0">
              <a:buNone/>
            </a:pPr>
            <a:r>
              <a:rPr lang="en-US" sz="1500" dirty="0">
                <a:solidFill>
                  <a:srgbClr val="C3CEE8"/>
                </a:solidFill>
                <a:latin typeface="Calibri" pitchFamily="34" charset="0"/>
                <a:ea typeface="Calibri" pitchFamily="34" charset="-122"/>
                <a:cs typeface="Calibri" pitchFamily="34" charset="-120"/>
              </a:rPr>
              <a:t> artar</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Eşit sürelerde </a:t>
            </a:r>
            <a:pPr indent="0" marL="0">
              <a:buNone/>
            </a:pPr>
            <a:r>
              <a:rPr lang="en-US" sz="1500" b="1" dirty="0">
                <a:solidFill>
                  <a:srgbClr val="FFFFFF"/>
                </a:solidFill>
                <a:latin typeface="Calibri" pitchFamily="34" charset="0"/>
                <a:ea typeface="Calibri" pitchFamily="34" charset="-122"/>
                <a:cs typeface="Calibri" pitchFamily="34" charset="-120"/>
              </a:rPr>
              <a:t>1 : 3 : 5</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 = g · t</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hız, süreyle doğru orantılı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74650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h = ½ · g · t²</a:t>
            </a:r>
            <a:endParaRPr lang="en-US" sz="1350" dirty="0"/>
          </a:p>
        </p:txBody>
      </p:sp>
      <p:sp>
        <p:nvSpPr>
          <p:cNvPr id="19" name="Text 17"/>
          <p:cNvSpPr txBox="1"/>
          <p:nvPr/>
        </p:nvSpPr>
        <p:spPr>
          <a:xfrm>
            <a:off x="8467344" y="3218688"/>
            <a:ext cx="290139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yol, sürenin karesiyle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74650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v² = 2 · g · h</a:t>
            </a:r>
            <a:endParaRPr lang="en-US" sz="1350" dirty="0"/>
          </a:p>
        </p:txBody>
      </p:sp>
      <p:sp>
        <p:nvSpPr>
          <p:cNvPr id="22" name="Text 20"/>
          <p:cNvSpPr txBox="1"/>
          <p:nvPr/>
        </p:nvSpPr>
        <p:spPr>
          <a:xfrm>
            <a:off x="8467344" y="4041648"/>
            <a:ext cx="290139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süre bilinmiyorsa</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t = √(2h / g)</a:t>
            </a:r>
            <a:endParaRPr lang="en-US" sz="1350" dirty="0"/>
          </a:p>
        </p:txBody>
      </p:sp>
      <p:sp>
        <p:nvSpPr>
          <p:cNvPr id="25" name="Text 23"/>
          <p:cNvSpPr txBox="1"/>
          <p:nvPr/>
        </p:nvSpPr>
        <p:spPr>
          <a:xfrm>
            <a:off x="8362188" y="486460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düşme süresi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dersler.perinet.org/serbest-dusme.html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02 · İki boyutta sabit ivmeli hareket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Serbest düşme — Dersler</dc:title>
  <dc:subject>Fizik · Kuvvet ve Hareket</dc:subject>
  <dc:creator>Dersler</dc:creator>
  <cp:lastModifiedBy>Dersler</cp:lastModifiedBy>
  <cp:revision>1</cp:revision>
  <dcterms:created xsi:type="dcterms:W3CDTF">2026-09-20T18:42:52Z</dcterms:created>
  <dcterms:modified xsi:type="dcterms:W3CDTF">2026-09-20T18:42:52Z</dcterms:modified>
</cp:coreProperties>
</file>