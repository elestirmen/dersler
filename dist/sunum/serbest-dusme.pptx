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Lst>
  <p:notesMasterIdLst>
    <p:notesMasterId r:id="rId1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notesMaster" Target="notesMasters/notesMaster1.xml"/><Relationship Id="rId120" Type="http://schemas.openxmlformats.org/officeDocument/2006/relationships/presProps" Target="presProps.xml"/><Relationship Id="rId121" Type="http://schemas.openxmlformats.org/officeDocument/2006/relationships/viewProps" Target="viewProps.xml"/><Relationship Id="rId122" Type="http://schemas.openxmlformats.org/officeDocument/2006/relationships/theme" Target="theme/theme1.xml"/><Relationship Id="rId1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kuş tüyünü ve bir çelik bilyeyi aynı anda bıraksan hangisi önce yere iner? Havası boşaltılmış bir cam tüpte ikisi de tam olarak aynı anda düşer — Ay'da bu deney 1971'de gerçekten yapıldı. Demek ki düşüşü belirleyen şey cismin ağırlığı değil; yalnızca geçen süre. Bu anlatım dört basamakta ilerliyor: önce düşen bir cismi gözleyip adını koyacağız, sonra süreyi, hızı ve yolu birbirine bağlayan bağıntıları çıkaracağız, ardından yukarı atışa ve hava direncine geçeceğiz. En sonda kolaydan zora sıralanmış örneklerle hepsini birlikte kullanacağız.
Kapak görseli: Apollo 15, 1971. Astronot David Scott Ay'da bir çekiçle bir şahin tüyünü aynı anda bıraktı. Ay'da onları yavaşlatacak hava olmadığı için ikisi yan yana düştü ve toza aynı anda değdi. Bu anlatımın bütün hikâyesi bu sahnede saklı: düşüşü kütle değil, yalnızca yerçekimi ve geçen süre belirler.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Bir kuş tüyünü ve bir çelik bilyeyi aynı anda bıraksan hangisi önce yere iner? Havası boşaltılmış bir cam tüpte ikisi de tam olarak aynı anda düşer — Ay'da bu deney 1971'de gerçekten yapıldı. Demek ki düşüşü belirleyen şey cismin ağırlığı değil; yalnızca geçen süre. Bu anlatım dört basamakta ilerliyor: önce düşen bir cismi gözleyip adını koyacağız, sonra süreyi, hızı ve yolu birbirine bağlayan bağıntıları çıkaracağız, ardından yukarı atışa ve hava direncine geçeceğiz. En sonda kolaydan zora sıralanmış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düşen bir cisme bak, ne yaptığını gör ve adını koy. Bu basamakta hesap yok denecek kadar az.
   01 Önce gözlemle: düşen bir cisim ne yapar?
   02 Serbest düşme nedir?
   03 Kütle neden fark etmez?
2. Orta — Bağıntılar ve grafikler: gözlediğini sayılara dök, bir büyüklükten ötekine geç.
   04 Temel bağıntılar
   05 Sayılarla hisset: ne kadar hızlı, ne kadar sürede?
   06 Grafikler ve yorumu
   07 Eşit zaman aralıkları: 1 : 3 : 5 kuralı
3. İleri — Derinleşme: cisim atılınca, hava işe karışınca ve serbest düşme gerçek hayata çıkınca ne olur?
   08 Düşey atış: yukarı fırlatınca ne değişir?
   09 Gerçekte hava direnci ve limit hız
   10 Serbest düşme gerçek dünyada
4. Pekiştir — Kolaydan zora çözümlü örnekler ve sınavda puan kaybettiren klasik hatalar.
   11 Çözümlü örnekler
   12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Hız: bir cismin bir saniyede aldığı yol. Metre/saniye (m/s) ile ölçülür; 10 m/s, “her saniye 10 metre” demektir.
• Hızlanmak: hızın zamanla artması. Yokuş aşağı bırakılan bir bisiklet kendiliğinden giderek hızlanır.
• Kuvvet: bir cismi itmek ya da çekmek. Newton (N) ile ölçülür; bir cisme kuvvet uygulanınca hızı değişir.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Ağırlık: Dünya'nın bir cismi kendine doğru çekme kuvveti. Kütlesi büyük olan cismin ağırlığı da büyüktür.
• Kare ve karekök: 3² = 3 · 3 = 9 ve √9 = 3. Formüllerde t² “t'nin karesi” diye okunur.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düşen bir cisme bak, ne yaptığını gör ve adını koy. Bu basamakta hesap yok denecek kadar az.
01 Önce gözlemle: düşen bir cisim ne yapar?
02 Serbest düşme nedir?
03 Kütle neden fark etmez?
Görsel: Düşen bir elmanın eşit zaman aralıklarıyla çekilmiş görüntüleri. Elma her aralıkta bir öncekinden daha uzun yol alıyor; ilk görüntüler neredeyse üst üste binerken sonrakiler iyice açılıyor. Bu görselde aralıklar tam olarak 1 : 3 : 5 oranında: elmaların konumları y = ½·g·t² bağıntısına göre yerleştirildi. Bu kuralı ikinci basamakta kanıtlayacağız.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düşen bir cisim ne yapar? — adım 1/5
• Elindeki anahtarı bırak.
• Önce yavaş ayrılır, sonra giderek hızlanarak yere çarpar.
• Bu hızlanmayı gözle izlemek zordur, çünkü her şey bir saniyeden kısa sürer.
• Fizikçiler bu yüzden düşüşü strobo fotoğrafla incelemeyi sever: karanlık bir odada, eşit aralıklarla (örneğin saniyede on kez) yanıp sönen bir ışık altında tek bir fotoğraf çekilir ve cismin her an bulunduğu yer aynı karede üst üste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düşen bir cisim ne yapar? — adım 2/5
• Böyle bir fotoğrafta ilk dikkat çeken şey şudur: görüntüler arasındaki boşluklar eşit değildir, aşağı indikçe açılır.
• Eşit sürelerde giderek daha uzun yol alınıyorsa cisim hızlanıyor demektir.
• Sabit hızla giden bir araba aynı yöntemle fotoğraflansaydı görüntüler cetvel çizgileri gibi eşit aralıklı dizilirdi.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düşen bir cisim ne yapar? — şekil
İki strobo fotoğrafını yan yana düşün. Sabit hızla giden cisim her saniye aynı yolu alır, görüntüleri eşit aralıklı dizilir. Serbest düşen cisim ise her saniye bir öncekinden daha uzun yol alır: aralıklar 1, 3, 5, 7 oranında büyür. Aralıkların açılması, hızın arttığının gözle görülen kanıtıdır.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düşen bir cisim ne yapar? — adım 4/5
• Düşen her cisimde, hava direnci küçük kaldığı sürece, aynı üç şey gözlenir:
• Doğrultu düşeydir: cisim şakül ipi gibi dümdüz aşağı iner.
• Hız sürekli artar: her saniye bir önceki saniyeden daha hızlıdır.
• Hızlanma herkes için aynıdır: bilye de taş da anahtar da aynı biçimde hızlanır.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düşen bir cisim ne yapar? — adım 5/5
• Üçüncü madde sezgimize en ters gelenidir; bu yüzden ona ayrı bir başlık ayıracağız.
• Önce gözlediğimiz harekete bir ad verelim.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Düşen bir cisim düşey doğrultuda ve giderek hızlanarak iner. Eşit sürelerde alınan yolların büyümesi bu hızlanmanın izidir.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Musluktan eşit aralıklarla damlayan su damlaları aşağı indikçe neden birbirinden uzaklaşır?
Sınıfa sorun, birkaç tahmin alın; sonra cevap slaytına geçin.
Cevap: Her damla ötekinden biraz önce yola çıkmıştır, yani her an ondan daha hızlıdır. Öndeki damla arkadakinden hep daha hızlı gittiği için aradaki boşluk sürekli büyür. Damlalar eşit zaman aralıklarıyla kopsa da aralarındaki uzaklık eşit kalmaz — tam da strobo fotoğraftaki gibi.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Her damla ötekinden biraz önce yola çıkmıştır, yani her an ondan daha hızlıdır. Öndeki damla arkadakinden hep daha hızlı gittiği için aradaki boşluk sürekli büyür. Damlalar eşit zaman aralıklarıyla kopsa da aralarındaki uzaklık eşit kalmaz — tam da strobo fotoğraftaki gibi.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Serbest düşme nedir? — adım 1/7
• Bir cisim ilk hızsız olarak bırakıldığında ve üzerine yalnızca yerçekimi kuvveti etki ettiğinde yaptığı harekete serbest düşme denir.
• Hareket düşey doğrultudadır, aşağı yöndedir ve ivmesi sabittir.
• “Serbest” sözcüğü cismin hiçbir şeye (ipe, ele, havaya) takılmadan, yalnızca yerçekimine bırakıldığını anlatır.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Serbest düşme nedir? — adım 2/7
• Bir hareketin “serbest düşme” sayılması için üç koşul aranır:
• İlk hız sıfırdır (v₀ = 0): cisim atılmaz, bırakılır.
• Hava direnci ihmal edilir; tek kuvvet ağırlıktır (G = m·g).
• İvme sabittir ve yerçekimi ivmesi g'ye eşittir.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Serbest düşme nedir? — adım 3/7
İvme ne demek?
• İvme, hızın her saniye ne kadar değiştiğini söyler.
• Dünya'da g yaklaşık 10 m/s²'dir: bunu “her saniye hız 10 m/s artar” diye okuyabilirsin.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Serbest düşme nedir? — adım 4/7
• Serbest bırakılan bir cismin hızını saniye saniye yazmak için hiçbir formül gerekmez, yalnızca her saniye 10 eklemek yeter:
Geçen süre | Hız | O saniyede alınan yol | Toplam yol
0 s | 0 m/s | — | 0 m
1 s | 10 m/s | 5 m | 5 m
2 s | 20 m/s | 15 m | 20 m
3 s | 30 m/s | 25 m | 45 m
4 s | 40 m/s | 35 m | 80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Serbest düşme nedir? — adım 5/7
• Her saniye alınan yol, o saniyenin ortalama hızı kadardır: ilk saniyede hız 0'dan 10'a çıktığı için ortalama 5 m/s, yol 5 m; ikinci saniyede 10'dan 20'ye, ortalama 15 m/s, yol 15 m.
• Tablonun son sütunu, bir sonraki basamakta çıkaracağımız formülün sonucunu şimdiden veriyor.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Serbest düşme nedir? — adım 6/7
g ne kadar? Dünya yüzeyinde ortalama 9,81 m/s²'dir; ekvatorda 9,78, kutuplarda 9,83 civarına iner-çıkar. İşlem kolaylığı için problemlerde çoğunlukla g = 10 m/s² alınır. Ay'da 1,62 · Mars'ta 3,72 · Jüpiter'de 24,79 m/s².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Serbest düşme nedir? — şekil
Üç koşul tek karede: cisim ilk hızsız bırakılır, üzerindeki tek kuvvet ağırlıktır, bu yüzden ivmesi sabit kalır ve g'ye eşit olur. Eşit sürelerle çekilmiş strobo görüntülerinin arası sürekli açılıyor; çünkü hız her saniye aynı miktarda büyüyor.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Serbest düşme, ilk hızsız bırakılan ve yalnızca ağırlığın etkisindeki bir cismin hareketidir. İvmesi sabittir ve g'ye eşittir: hız her saniye yaklaşık 10 m/s artar.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Kütle neden fark etmez? — adım 1/5
• Sezgi “ağır olan daha hızlı düşer” der.
• Aristoteles de böyle düşünüyordu ve bu fikir yaklaşık iki bin yıl boyunca genel kabul gördü.
• Galileo ise 1600'lerde bunu basit bir düşünce deneyiyle çürüttü: ağır bir taşla hafif bir taşı iple birbirine bağlayalım.
• Hafif taş daha yavaş düşmek isteyeceği için ağır olanı frenler; o zaman ikili, ağır taştan yavaş düşmeli.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Kütle neden fark etmez? — adım 2/5
• Ama ikili tek başına ağır taştan daha ağırdır; o zaman daha hızlı düşmeli.
• Aynı öncül iki zıt sonuç veriyorsa öncül yanlıştır: düşüş hızı ağırlığa bağlı olamaz.
• Newton'un ikinci yasası aynı sonucu hesapla gösterir.
• Düşen cisme etki eden tek kuvvet ağırlığıdır:
F = m · a   m · g = m · a   a =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Kütle neden fark etmez? — adım 3/5
• Kütle eşitliğin iki yanında da bulunduğu için sadeleşir.
• Ağır cisim daha çok çekilir, ama aynı oranda da harekete direnir (eylemsizliği fazladır); iki etki birbirini tam olarak götürür.
• Sonuç: 10 gramlık bilye ile 10 kiloluk gülle aynı anda yere düşer.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Kütle neden fark etmez? — adım 4/5
• 1971'de Apollo 15 astronotu David Scott, havasız Ay yüzeyinde bir şahin tüyü ile alüminyum çekici aynı anda bıraktı; ikisi de aynı anda toza değdi.
• Günlük hayatta tüyün geride kalmasının sebebi kütlesi değil, hava direncidir: tüy çok hafif ama yüzeyi geniştir, bu yüzden hava onu ağırlığına oranla çok daha güçlü frenler.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Kütle neden fark etmez? — şekil
Ağır cisim daha büyük bir kuvvetle çekilir (m·g), ama tam o oranda harekete de direnir (m·a). Kütle eşitliğin iki yanında da bulunduğu için sadeleşir ve geriye yalnızca a = g kalır. Bu yüzden 8 kat ağır olan cisim, hafif olanla hep aynı hizada düşer.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Hava direnci yoksa bütün cisimler aynı ivmeyle düşer, çünkü ağırlık ve eylemsizlik kütleyle aynı oranda büyür ve m·g = m·a eşitliğinde kütle sadeleşir.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Ağır cisme daha büyük bir kuvvet etki ediyorsa, neden daha hızlı düşmüyor?
Sınıfa sorun, birkaç tahmin alın; sonra cevap slaytına geçin.
Cevap: Çünkü onu hızlandırmak da o kadar zordur. 8 kat ağır bir cisme 8 kat büyük kuvvet etki eder, ama onun hızını değiştirmek için de 8 kat büyük kuvvet gerekir. Kuvvetin kütleye oranı (F/m) ikisinde de aynıdır ve bu oran tam olarak g'dir. İvmeyi belirleyen kuvvetin kendisi değil, kuvvetin kütleye oranıdır.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Çünkü onu hızlandırmak da o kadar zordur. 8 kat ağır bir cisme 8 kat büyük kuvvet etki eder, ama onun hızını değiştirmek için de 8 kat büyük kuvvet gerekir. Kuvvetin kütleye oranı (F/m) ikisinde de aynıdır ve bu oran tam olarak g'dir. İvmeyi belirleyen kuvvetin kendisi değil, kuvvetin kütleye oranıdır.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ve grafikler: gözlediğini sayılara dök, bir büyüklükten ötekine geç.
04 Temel bağıntılar
05 Sayılarla hisset: ne kadar hızlı, ne kadar sürede?
06 Grafikler ve yorumu
07 Eşit zaman aralıkları: 1 : 3 : 5 kuralı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Temel bağıntılar — adım 1/7
• Aşağı yönü pozitif alalım: v₀ = 0, a = g.
• Sabit ivmeli hareketin denklemleri doğrudan serbest düşmenin denklemlerine dönüşür (h: alınan yol, t: düşme süresi):
v = g · t   h = ½ · g · t²   v² = 2 · g · h   t = √(2h / g)   vort = h / t = v /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Temel bağıntılar — adım 2/7
Formüldeki harfler ne anlama geliyor?
Sembol | Anlamı | Birimi
v | cismin o anki hızı | m/s
g | yerçekimi ivmesi (Dünya'da yaklaşık 10) | m/s²
t | cisim bırakıldığından beri geçen süre | s
h | alınan yol, yani düşülen yükseklik | m
v₀ | ilk hız (serbest düşmede sıfır) |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Temel bağıntılar — adım 3/7
Bağıntılar nereden geliyor?
• Hiçbirini ezberlemek gerekmez; üçü de ivmenin tanımından adım adım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Temel bağıntılar — adım 4/7
• Hız: İvme “her saniye hıza eklenen miktar” olduğuna göre t saniye sonra hız g'nin t katıdır: v = g·t. Tablodaki 10, 20, 30 m/s tam olarak budur.
• Yol: Hız düzgün arttığı için ortalama hız, ilk ve son hızın ortalamasıdır: (0 + g·t)/2. Yol = ortalama hız × süre = (g·t/2)·t, yani h = ½·g·t².
• Süresiz bağıntı: İlk bağıntıdan t = v/g yazıp ikinciye koyarsak h = ½·g·(v/g)² = v²/(2g), yani v² = 2·g·h. Süre sorulmayan sorularda doğrudan bu bağıntıyı kullanmak en kısa yoldur.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Temel bağıntılar — adım 5/7
Birim kontrolü: Bir bağıntıyı doğru hatırlayıp hatırlamadığını birimlerle sınayabilirsin. g·t için (m/s²)·s = m/s çıkar, bu bir hızdır ✓. ½·g·t² için (m/s²)·s² = m çıkar, bu bir yoldur ✓. “v = 2gh” yazsaydın sağ taraf m²/s² çıkardı; hız değil hızın karesi — hatanı birim yakalar.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Temel bağıntılar — şekil
Serbest düşmede üç büyüklük vardır ve her ikisini birbirine bir kenar bağlar. Soruda hangi ikisi geçiyorsa o kenardaki bağıntıyı kullan: süre ile hız arasında v = g·t, süre ile yol arasında h = ½g·t², sürenin hiç geçmediği sorularda v² = 2gh.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Temel bağıntılar — adım 7/7
Soruda verilenler | İstenen | Kullan
Süre | Hız | v = g·t
Süre | Yükseklik | h = ½·g·t²
Yükseklik | Çarpma hızı | v² = 2·g·h
Yükseklik | Düşme süresi | t = √(2h/g)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v = g·t, h = ½·g·t² ve v² = 2·g·h ivmenin tanımından çıkar. Soruda hangi iki büyüklük geçiyorsa onları bağlayan bağıntıyı seç; süre yoksa v² = 2gh.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ne kadar hızlı, ne kadar sürede? — adım 1/7
• Formüller soyut kalmasın; tanıdık yüksekliklerden bırakılan bir cismin ne kadar sürede ve hangi hızla yere ulaştığına bakalım (g = 10 m/s², hava direnci yok):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ne kadar hızlı, ne kadar sürede? — adım 2/7
Nereden | Yükseklik | Düşme süresi | Çarpma hızı
Masadan | 0,8 m | 0,4 s | 4 m/s (14 km/h)
İkinci kat balkonundan | 5 m | 1 s | 10 m/s (36 km/h)
Altı katlı binadan | 20 m | 2 s | 20 m/s (72 km/h)
On beş katlı binadan | 45 m | 3 s | 30 m/s (108 km/h)
Kırk katlı binadan | 125 m | 5 s | 50 m/s (180 km/h)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ne kadar hızlı, ne kadar sürede? — adım 3/7
• Tablodan hemen okunan bir düzen var: yükseklik 4 katına çıkınca süre ve hız yalnızca 2 katına çıkıyor (5 m → 20 m: 1 s → 2 s).
• Çünkü süre de hız da yüksekliğin kareköküyle büyür.
• 125 m, 5 m'nin 25 katıdır; süre ise √25 = 5 katıdır.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ne kadar hızlı, ne kadar sürede? — şekil
Tablodaki dört yükseklik aynı ölçekle çizildi; mor sayılar düşme süresi, mavi sayılar çarpma hızı. Binalar hızla uzarken süre ve hız yavaş artıyor: 5 m'den 20 m'ye yükseklik 4 kat olunca süre de hız da yalnızca 2 kat oluyor. 125 metrelik kulenin düşüşü bile 5 saniyede biter.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ne kadar hızlı, ne kadar sürede? — adım 5/7
• Bu tabloyu tersinden de okuyabilirsin: çarpma hızını ikiye katlamak için yüksekliği dört katına çıkarmak gerekir.
• Bir de süreye bak: 125 metrelik düşüş bile yalnızca 5 saniye sürüyor.
• Serbest düşme, gündelik hayatta gördüğümüz en hızlı gelişen hareketlerden biridir.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ne kadar hızlı, ne kadar sürede? — adım 6/7
Kendi tepki süreni ölç: Sayfanın 04 numaralı bölümündeki cetvel deneyi bu tabloyu tersine kullanır. Bir arkadaşın cetveli habersizce bıraktığında onu kaç santimetre sonra yakaladığını ölçersin; t = √(2d/g) bağıntısı düşme mesafesini tepki süresine çevirir. 20 cm yaklaşık 0,2 saniye demektir.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ne kadar hızlı, ne kadar sürede? — şekil
Cetvel bırakıldığı anda serbest düşmeye başlar ve yakalanana kadar düştüğü mesafe, geçen süreyi söyler: t = √(2d / g). Cetvel parmaklarının arasından ne kadar çok kayarsa tepki süren o kadar uzundur; 20 cm yaklaşık 0,2 saniye demektir.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Süre ve çarpma hızı yüksekliğin kareköküyle büyür: 4 kat yükseklik 2 kat süre ve 2 kat hız demektir. 5 m'den düşüş 1 s, 45 m'den düşüş 3 s sürer.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5 m yükseklikten düşüş 1 s sürüyorsa, 20 m yükseklikten kaç saniye sürer?
Sınıfa sorun, birkaç tahmin alın; sonra cevap slaytına geçin.
Cevap: Dört değil, iki saniye. Yükseklik 4 katına çıkınca süre √4 = 2 katına çıkar. Kontrol: h = ½·10·2² = 20 m ✓. “Yükseklik kaç kat, süre de o kat” diye düşünmek serbest düşmedeki en yaygın tuzaktır.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Dört değil, iki saniye. Yükseklik 4 katına çıkınca süre √4 = 2 katına çıkar. Kontrol: h = ½·10·2² = 20 m ✓. “Yükseklik kaç kat, süre de o kat” diye düşünmek serbest düşmedeki en yaygın tuzaktır.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Grafikler ve yorumu — adım 1/5
• Sayfadaki laboratuvarın altında bu üç grafik canlı çiziliyor.
• Ezberlemek yerine eğim–alan ilişkisini kurmak yeterli: bir grafiğin eğimi bir üstteki büyüklüğü, altındaki alan bir alttaki büyüklüğü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Grafikler ve yorumu — şekil
Üç grafiği ezberlemek yerine birbirine bağla: bir grafiğin eğimi bir üsttekini, altındaki alan bir alttakini verir. v–t doğrusunun altındaki üçgenin alanı ½·t·(g·t) = ½g·t²'dir — yani tam olarak alınan yol. Sayfadaki laboratuvarın altında bu üç grafik sen izlerken çiziliyor.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Grafikler ve yorumu — adım 3/5
Grafik | Şekli | Eğimi | Altındaki alan
a – t | Zaman eksenine paralel doğru (a = g) | Sıfır | Hız değişimi (Δv)
v – t | Orijinden geçen doğru (v = g·t) | İvme, g | Alınan yol (h)
h – t | Yukarı açılan parabol (h = ½g·t²) | O andaki anlık hız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Grafikler ve yorumu — adım 4/5
• v – t doğrusunun altındaki üçgenin alanı ½·t·(g·t) = ½·g·t² eder; bu da tam olarak alınan yoldur.
• Grafikler birbirini böyle doğrular.
• Bir grafik sorusunda üç adımı sırayla uygula: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Grafikler ve yorumu — adım 5/5
• Eksenleri oku: düşey eksende ne var (a, v, h)? Birimi ne?
• Şekli tanı: yatay doğru sabit, eğik doğru düzgün değişen, parabol karesel büyüyen bir büyüklük demektir.
• Eğime ya da alana bak: soru bir üst büyüklüğü soruyorsa eğim, bir alt büyüklüğü soruyorsa alan hesapla.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Serbest düşmede a–t yatay, v–t orijinden geçen eğik bir doğru, h–t yukarı açılan bir paraboldür. Eğim bir üst büyüklüğü, alan bir alt büyüklüğü verir.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Eşit zaman aralıkları: 1 : 3 : 5 kuralı — adım 1/4
• Düşüşü eşit süreli dilimlere bölelim (her biri Δt).
• İlk dilimde alınan yol h = ½·g·Δt² olsun.
• O zaman ardışık dilimlerde alınan yollar:
1h : 3h : 5h : 7h : 9h   (tek sayılar)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Eşit zaman aralıkları: 1 : 3 : 5 kuralı — adım 2/4
• Baştan itibaren toplam yollar ise 1h, 4h, 9h, 16h, 25h olur — yani 1 : 4 : 9 : 16, sürenin karesiyle orantılı.
• İki dizi de aynı şeyi söyler: toplam yollardaki farkları alırsan tek sayıları bulursun.
• Neden tek sayılar?
• Çünkü ardışık iki karenin farkı her zaman tek sayıdır: n² − (n−1)² = 2n − 1.
• 4 − 1 = 3, 9 − 4 = 5, 16 − 9 =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Eşit zaman aralıkları: 1 : 3 : 5 kuralı — adım 3/4
• Hızlar da eşit sürelerde eşit miktarda artar: Δt sonunda g·Δt, 2Δt sonunda 2g·Δt… yani 1 : 2 : 3 : 4.
• Bu üç diziyi karıştırmamak sınavda zaman kazandırır.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Eşit zaman aralıkları: 1 : 3 : 5 kuralı — şekil
Aynı düşüşün üç ayrı okuması. Her aralıkta alınan yollar tek sayılarla gider (1 : 3 : 5 : 7); baştan itibaren toplam yol sürenin karesiyle büyür (1 : 4 : 9 : 16); hız ise eşit adımlarla artar (1 : 2 : 3 : 4). Toplam yollardaki farkları alırsan tek sayıları bulursun — üç dizi aynı hareketi anlatır.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Eşit süre dilimlerinde alınan yollar 1 : 3 : 5 : 7, baştan itibaren toplam yollar 1 : 4 : 9 : 16, hızlar 1 : 2 : 3 : 4 oranında gider.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cisim atılınca, hava işe karışınca ve serbest düşme gerçek hayata çıkınca ne olur?
08 Düşey atış: yukarı fırlatınca ne değişir?
09 Gerçekte hava direnci ve limit hız
10 Serbest düşme gerçek dünyada
Görsel: Lunaparktaki düşme kulesi, serbest düşmeyi birkaç saniyeliğine yaşatır. 45 metrelik bir düşüş yaklaşık 3 saniye sürer ve koltuklar 108 km/h hıza ulaşır; ardından mıknatıslı frenler yumuşakça devreye girer. Düşüş boyunca koltuk yolcuyu itmez, yolcu kendini ağırlıksız hisseder.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Düşey atış: yukarı fırlatınca ne değişir? — adım 1/5
• Cismi v₀ hızıyla yukarı atarsan artık “serbest düşme” değil düşey atış olur; ama ivme yine g'dir ve yine aşağı yöndedir.
• Yukarı çıkarken hız ile ivme zıt yönlü olduğu için cisim yavaşlayarak çıkar: her saniye hızından 10 m/s kaybeder.
• Tepe noktada hızı sıfırlanır, sonra serbest düşmeye başlar.
hmaks = v₀² / (2g)   tçıkış = v₀ / g   ttoplam = 2v₀ /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Düşey atış: yukarı fırlatınca ne değişir? — adım 2/5
• Hareket simetriktir: çıkış süresi iniş süresine eşittir ve cisim aynı yükseklikten geçerken hızının büyüklüğü çıkışta da inişte de aynıdır, yalnızca yönü terstir.
• Atıldığı noktaya döndüğünde sürati v₀'a eşittir.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Düşey atış: yukarı fırlatınca ne değişir? — adım 3/5
İşaret seçimi
• Atış problemlerinde en sık hata işaretlerde yapılır.
• Başta bir yönü pozitif seç ve soru boyunca değiştirme.
• Yukarıyı pozitif seçersen v₀ pozitif, g negatif olur: v = v₀ − g·t ve h = v₀·t − ½·g·t².
• Bu denklemlerde h negatif çıkarsa cisim atıldığı noktanın altına inmiş demektir; bu bir hata değil, balkondan atışlarda beklenen sonuçtur.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Düşey atış: yukarı fırlatınca ne değişir? — adım 4/5
• Cisim aşağı doğru v₀ hızıyla atılırsa hız ile ivme aynı yöndedir; cisim baştan itibaren hızlanır.
• Aşağıyı pozitif alarak v = v₀ + g·t ve h = v₀·t + ½·g·t² yazılır.
• Serbest düşme, bu denklemlerin v₀ = 0 olduğu özel hâlidir.
Tepe noktada ivme sıfır değildir. Hız sıfırdır, ivme hâlâ g'dir ve aşağı doğrudur. İvme sıfır olsaydı cisim orada asılı kalırdı.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Düşey atış: yukarı fırlatınca ne değişir? — şekil
Düşey atış, serbest düşmenin aynadaki görüntüsüdür: cisim aynı düşey çizgi üzerinde çıkar ve iner, çıkış süresi iniş süresine eşittir. Aynı yükseklikten geçerken çıkarkenki (sol) ve inerkenki (sağ) hız okları eşit boydadır. Tepe noktada hız sıfırlanır ama ivme sıfırlanmaz — sarı oklar her yerde aynı boydadır. İvme orada gerçekten sıfır olsaydı cisim havada asılı kalırdı.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Düşey atışta ivme her an g'dir ve aşağı yönlüdür; çıkış iniş simetriktir, tepe noktada yalnızca hız sıfırlanır. Başta seçtiğin pozitif yönü soru boyunca koru.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Balkondan bir top aynı süratle bir kez yukarı, bir kez aşağı atılıyor. Hangisi yere daha hızlı çarpar?
Sınıfa sorun, birkaç tahmin alın; sonra cevap slaytına geçin.
Cevap: İkisi de aynı süratle çarpar. Yukarı atılan top simetri gereği balkon hizasına v₀ süratiyle ve aşağı doğru hareket ederek döner; o andan sonra tam olarak aşağı atılan top gibi davranır. Fark yalnızca süredir: yukarı atılan top havada 2v₀/g kadar daha uzun kalır. Aynı sonucu v² = v₀² + 2gh da verir; bu bağıntıda atış yönü hiç geçmez.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İkisi de aynı süratle çarpar. Yukarı atılan top simetri gereği balkon hizasına v₀ süratiyle ve aşağı doğru hareket ederek döner; o andan sonra tam olarak aşağı atılan top gibi davranır. Fark yalnızca süredir: yukarı atılan top havada 2v₀/g kadar daha uzun kalır. Aynı sonucu v² = v₀² + 2gh da verir; bu bağıntıda atış yönü hiç geçmez.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Gerçekte hava direnci ve limit hız — adım 1/5
• Şimdiye kadar hava direncini ihmal ettik.
• Hava direnci hıza bağlı olarak artan, harekete ters yönlü bir kuvvettir.
• Cisim hızlandıkça direnç büyür; ağırlığa eşitlendiği anda net kuvvet sıfırlanır, ivme biter ve cisim sabit hızla düşmeye devam eder.
• Bu sabit hıza limit hız denir.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Gerçekte hava direnci ve limit hız — adım 2/5
• Bu kuvvet olmasaydı yağmurun altında durmak hayli tehlikeli olurdu: yağmur bulutları yaklaşık 2 km yüksekte olduğuna göre, damlalar yere v = √(2·9,81·2000) ≈ 198 m/s hızla — saatte 700 kilometreyi aşan bir hızla — çarpardı.
• Hava direnci sayesinde bu hız 8–9 m/s'de kalıyor.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Gerçekte hava direnci ve limit hız — adım 3/5
• Yağmur damlası: yaklaşık 8–9 m/s
• Paraşütsüz atlayan bir insan: yaklaşık 55 m/s
• Paraşüt açıldığında: yaklaşık 5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Gerçekte hava direnci ve limit hız — adım 4/5
• Yüzey alanı büyük, kütlesi küçük cisimler (tüy, kâğıt, tüy topu) limit hıza çok çabuk ulaşır; bu yüzden “yavaş düşüyor” gibi görünürler.
• Havası boşaltılmış bir tüpte bu fark tamamen kaybolur.
• Günlük hızlarda (birkaç metreden bırakılan bilye, taş, top) hava direnci ağırlığın yanında küçük kalır; serbest düşme bağıntıları bu yüzden gerçek sonuca çok yakın sonuç verir.
• Hava direncinin ayrıntıları bu ünitenin “Limit hız” konusunda.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Gerçekte hava direnci ve limit hız — şekil
Hava direnci hız arttıkça büyür. Ağırlığa eşitlendiği anda net kuvvet sıfırlanır, ivme biter ve cisim sabit hızla düşmeye devam eder. v–t eğrisi bu yüzden düz bir doğru olarak başlayıp yatay bir çizgiye doğru yatar; mor kesikli çizgi hava direnci hiç olmasaydı hızın nereye gideceğini gösteriyor.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Havada düşen bir cisimde direnç hızla büyür ve ağırlığa eşitlenince cisim limit hızla sabit düşer. Kısa düşüşlerde ve yoğun cisimlerde bu etki küçüktür; serbest düşme iyi bir yaklaşımdır.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Serbest düşme gerçek dünyada — adım 1/5
• Serbest düşme yalnızca ders kitabı problemi değildir; lunaparktan uzay araştırmalarına kadar bilerek kullanılır.
• Ortak noktaları şu: cisim ve içindeki her şey aynı ivmeyle düştüğü sürece birbirine bastırmaz.
• Bu duyguya ağırlıksızlık denir.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Serbest düşme gerçek dünyada — adım 2/5
• Düşme kuleleri ve tüpleri: Araştırma merkezlerinde havası boşaltılmış yüz metreden uzun tüplerin içine deney kapsülleri bırakılır. Kapsülün düştüğü birkaç saniye boyunca içindeki deney ağırlıksız ortamda çalışır; alevlerin, sıvıların ve kristallerin yerçekimsiz davranışı böyle incelenir.
• Parabolik uçuşlar: Astronot adayları, bir uçağın motor gücünü ayarlayarak kendisini bir atış yörüngesine bıraktığı uçuşlarda, her seferinde yaklaşık 20 saniye ağırlıksız kalır. Uçak ve içindekiler birlikte serbest hareket 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Serbest düşme gerçek dünyada — adım 3/5
• g'yi ölçmek: Bir cismin bilinen bir yüksekliği kaç saniyede düştüğü ölçülürse g = 2h/t² ile yerçekimi ivmesi bulunur. Jeologlar g'deki çok küçük farkları ölçerek yer altındaki maden ve petrol yataklarını 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Serbest düşme gerçek dünyada — şekil
Düşme tüpünün havası boşaltıldığı için kapsül gerçekten serbest düşer. Kapsül ve içindeki top aynı g ivmesiyle düşer; bu yüzden top tabana bastırmaz, kapsüle göre asılı kalır. İçerideki deney bu birkaç saniye boyunca ağırlıksız ortamda çalışır; en altta fren bölümü kapsülü durdurur.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Serbest düşme gerçek dünyada — adım 5/5
• Uzay istasyonundaki astronotlar da aynı nedenle süzülür.
• İstasyonun bulunduğu yaklaşık 400 km yükseklikte yerçekimi ivmesi hâlâ 8,7 m/s² civarındadır, yani yeryüzündekinin yaklaşık %89'u.
• İstasyon ve içindeki her şey Dünya'nın çevresinde sürekli olarak birlikte düşer; yalnızca yana doğru o kadar hızlı gider ki yere hiç ulaşamaz.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Aynı ivmeyle birlikte düşen cisimler birbirine bastırmaz ve ağırlıksızlık hissedilir. Düşme kuleleri, parabolik uçuşlar ve uzay istasyonu bu ilkeyle çalışır.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Düşen bir asansörün içinde elinden bıraktığın anahtar ne yapar?
Sınıfa sorun, birkaç tahmin alın; sonra cevap slaytına geçin.
Cevap: Anahtar da sen de asansör de aynı ivmeyle, g ile düştüğünüz için anahtar elinin yanında asılı kalıyormuş gibi görünür. Yere göre düşmeye devam eder, ama sana göre hareketsizdir. Ağırlıksızlık yerçekiminin yokluğu değil, herkesin birlikte serbest düşmesidir.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Anahtar da sen de asansör de aynı ivmeyle, g ile düştüğünüz için anahtar elinin yanında asılı kalıyormuş gibi görünür. Yere göre düşmeye devam eder, ama sana göre hareketsizdir. Ağırlıksızlık yerçekiminin yokluğu değil, herkesin birlikte serbest düşmesidir.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sınavda puan kaybettiren klasik hatalar.
11 Çözümlü örnekler
12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2 saniye sonra hız ve yol
Bir köprüden serbest bırakılan taş 2 saniye sonra suya çarpıyor. (a) Taşın suya çarpma hızını, (b) köprünün su yüzeyinden yüksekliğini bulunuz.
Durum çizimi: Durum: taş köprünün kenarından ilk hızsız bırakılıyor ve 2 saniye sonra suya çarpıyor. Soruda istenenler çizimde “?” ile gösterildi: suya çarpma hızı v ve köprünün su yüzeyinden yüksekliği h.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2 saniye sonra hız ve yol
Bir köprüden serbest bırakılan taş 2 saniye sonra suya çarpıyor. (a) Taşın suya çarpma hızını, (b) köprünün su yüzeyinden yüksekliğini bulunuz.
Verilenler: v₀ = 0 (taş serbest bırakılıyor) · t = 2 s · g = 10 m/s²
İstenen: (a) suya çarpma hızı v · (b) köprünün yüksekliği h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2 saniye sonra hız ve yol — çözüm
1. (a) Hız her saniye 10 m/s artar: v = g·t = 10 · 2 = 20 m/s
2. (b) h = ½·g·t² = ½ · 10 · 2² = 20 m
3. Kontrol: ortalama hız (0 + 20)/2 = 10 m/s, 2 saniyede 10 · 2 = 20 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45 m yükseklikten bırakılan cisim
45 m yüksekten serbest bırakılan bir cisim için: (a) düşme süresini, (b) yere çarpma hızını, (c) hareketin 2. saniyesinde aldığı yolu bulunuz.
Durum çizimi: Durum: top 45 m yükseklikten ilk hızsız bırakılıyor. Soluk toplar 1. ve 2. saniyenin sonundaki yerleri gösteriyor; mor çizgi soruda istenen 2. saniyede alınan yol. Düşme süresi t ve yere çarpma hızı v de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45 m yükseklikten bırakılan cisim
45 m yüksekten serbest bırakılan bir cisim için: (a) düşme süresini, (b) yere çarpma hızını, (c) hareketin 2. saniyesinde aldığı yolu bulunuz.
Verilenler: h = 45 m · v₀ = 0 · g = 10 m/s²
İstenen: (a) düşme süresi t · (b) çarpma hızı v · (c) 2. saniyede alınan yol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45 m yükseklikten bırakılan cisim — çözüm
1. (a) h = ½·g·t² → 45 = ½·10·t² → t² = 9 → t = 3 s
2. (b) v = g·t = 10 · 3 → v = 30 m/s (kontrol: v² = 2gh = 2·10·45 = 900 → v = 30 m/s ✓)
3. (c) İlk 2 s'de 20 m, ilk 1 s'de 5 m alınır; fark 15 m'dir. 1 : 3 : 5 kuralıyla da ikinci saniyenin payı 3h = 3·5 = 15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Aynı yükseklik, farklı gökcismi
10 m yüksekten bırakılan bir cisim Dünya'da ve Ay'da kaç saniyede yere iner? (gDünya = 9,81 m/s², gAy = 1,62 m/s²)
Durum çizimi: Durum: aynı 10 m yükseklikten biri Dünya'da, biri Ay'da ilk hızsız bırakılan iki top. Sarı oklar yerçekimi ivmesini ölçekli gösteriyor: Ay'daki g, Dünya'dakinin yaklaşık altıda biri. İki düşme süresi ve bunların oranı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Aynı yükseklik, farklı gökcismi
10 m yüksekten bırakılan bir cisim Dünya'da ve Ay'da kaç saniyede yere iner? (gDünya = 9,81 m/s², gAy = 1,62 m/s²)
Verilenler: h = 10 m · v₀ = 0 · gDünya = 9,81 m/s² · gAy = 1,62 m/s²
İstenen: iki gökcisminde düşme süreleri ve oranları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Aynı yükseklik, farklı gökcismi — çözüm
1. t = √(2h / g) bağıntısı kullanılır.
2. Dünya: t = √(20 / 9,81) ≈ 1,43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Aynı yükseklik, farklı gökcismi — çözüm
3. Ay: t = √(20 / 1,62) ≈ 3,51 s
4. Oran: √(9,81 / 1,62) ≈ 2,46 → Ay'da düşüş yaklaşık 2,5 kat uzun sürer. Laboratuvardaki gökcismi düğmeleriyle bunu deneyebilirsin.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20 m/s ile yukarı atılan cisim
Yerden 20 m/s hızla düşey yukarı atılan cisim için: (a) çıkabileceği en büyük yüksekliği, (b) havada kalma süresini, (c) 15 m yükseklikteki süratini bulunuz.
Durum çizimi: Durum: top yerden 20 m/s ile düşey yukarı atılıyor. Kesikli yol okunaklı olsun diye yana açılarak çizildi; top aslında aynı düşey çizgide çıkıp iner. En büyük yükseklik, havada kalma süresi ve 15 m yükseklikteki sürat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20 m/s ile yukarı atılan cisim
Yerden 20 m/s hızla düşey yukarı atılan cisim için: (a) çıkabileceği en büyük yüksekliği, (b) havada kalma süresini, (c) 15 m yükseklikteki süratini bulunuz.
Verilenler: v₀ = 20 m/s (yukarı) · g = 10 m/s² (aşağı)
İstenen: (a) en büyük yükseklik hmaks · (b) havada kalma süresi · (c) 15 m'deki sürat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20 m/s ile yukarı atılan cisim — çözüm
1. (a) hmaks = v₀² / (2g) = 400 / 20 = 20 m
2. (b) tçıkış = v₀ / g = 2 s → toplam 4 s
3. (c) v² = v₀² − 2·g·h = 400 − 300 = 100 → v = 10 m/s. Cisim 15 m'den biri çıkarken biri inerken iki kez geçer; sürat iki geçişte de aynıdır.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Son 1 saniyede 25 m düşen cisim
Serbest bırakılan bir cisim, yere çarpmadan önceki son 1 saniyede 25 m yol alıyor. Cisim kaç metreden bırakılmıştır?
Durum çizimi: Durum: cisim yarın kenarından ilk hızsız bırakılıyor. Soluk top, yere çarpmadan 1 saniye önceki yeri; mor çizgi bu son 1 saniyede alınan 25 metrelik yol. Cismin bırakıldığı yükseklik h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Son 1 saniyede 25 m düşen cisim
Serbest bırakılan bir cisim, yere çarpmadan önceki son 1 saniyede 25 m yol alıyor. Cisim kaç metreden bırakılmıştır?
Verilenler: v₀ = 0 · son 1 saniyedeki yol = 25 m · g = 10 m/s²
İstenen: cismin bırakıldığı yükseklik h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Son 1 saniyede 25 m düşen cisim — çözüm
1. Toplam süreye t diyelim. Son saniyedeki yol = h(t) − h(t−1) = 25 m.
2. 5t² − 5(t−1)² = 25 → 5(2t − 1) = 25 → 2t − 1 = 5 → t = 3 s
3. h = 5 · 3² = 45 m
Kısa yol: 1 : 3 : 5 kuralında son terim 5h = 25 m ise h = 5 m, toplam (1+3+5)·5 = 45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Balkondan yukarı atılan top
Bir balkondan 10 m/s hızla düşey yukarı atılan top, atıldıktan 3 s sonra yere çarpıyor. (a) Balkonun yerden yüksekliğini, (b) topun yere çarpma süratini bulunuz.
Durum çizimi: Durum: top balkondan 10 m/s ile düşey yukarı atılıyor; önce yükseliyor, sonra balkonun yanından geçip yere düşüyor ve atıldıktan 3 s sonra çarpıyor. Yol, okunaklı olsun diye yana açılarak çizildi. Balkonun yüksekliği h ve çarpma sürati v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Balkondan yukarı atılan top
Bir balkondan 10 m/s hızla düşey yukarı atılan top, atıldıktan 3 s sonra yere çarpıyor. (a) Balkonun yerden yüksekliğini, (b) topun yere çarpma süratini bulunuz.
Verilenler: v₀ = 10 m/s (yukarı) · topun havada kaldığı süre t = 3 s · g = 10 m/s²
İstenen: (a) balkonun yerden yüksekliği · (b) topun yere çarpma sürati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Balkondan yukarı atılan top — çözüm
1. Yukarıyı pozitif seçelim: v₀ = +10 m/s, ivme −10 m/s². Konum: y = v₀·t − ½·g·t².
2. t = 3 s'de y = 10·3 − 5·9 = 30 − 45 = −15 m. Eksi işaret topun balkonun 15 m altında olduğunu söyler: balkon 15 m yüksekte.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Balkondan yukarı atılan top — çözüm
3. Hız: v = v₀ − g·t = 10 − 30 = −20 m/s → yere 20 m/s süratle, aşağı doğru çarpar.
4. Kontrol: v² = v₀² + 2·g·h = 100 + 2·10·15 = 400 → v = 20 m/s ✓. Top 1 s çıkıp 5 m yükselir, sonra 20 m'den serbest düşer: 2 s. Toplam 3 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Serbest bırakılan bir taşın hızı 3 saniye sonra kaç m/s olur?
Öğrencilere 2–3 dakika verin; sonra cevap slaytını açın.
Cevap: Cevap: Hız her saniye 10 m/s artar: v = g · t = 10 · 3 = 30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Hız her saniye 10 m/s artar: v = g · t = 10 · 3 = 30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20 m yükseklikten bırakılan bir cisim kaç saniyede yere düşer?
Öğrencilere 2–3 dakika verin; sonra cevap slaytını açın.
Cevap: Cevap: h = ½ · g · t² → 20 = 5 · t² → t² = 4 → t = 2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h = ½ · g · t² → 20 = 5 · t² → t² = 4 → t = 2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80 m yükseklikten bırakılan bir top yere kaç m/s hızla çarpar?
Öğrencilere 2–3 dakika verin; sonra cevap slaytını açın.
Cevap: Cevap: Süre sorulmadığı için v² = 2 · g · h: v² = 2 · 10 · 80 = 1600 → v = 40 m/s. Kontrol: 80 = 5 · t² → t = 4 s ve v = 10 · 4 = 40 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Süre sorulmadığı için v² = 2 · g · h: v² = 2 · 10 · 80 = 1600 → v = 40 m/s. Kontrol: 80 = 5 · t² → t = 4 s ve v = 10 · 4 = 40 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30 m/s hızla yukarı atılan bir top en fazla kaç metre yükselir ve kaç saniye sonra atıldığı yere döner?
Öğrencilere 2–3 dakika verin; sonra cevap slaytını açın.
Cevap: Cevap: hmaks = v₀² / (2g) = 900 / 20 = 45 m. Çıkış 30 / 10 = 3 s, iniş de 3 s sürer: 6 s sonra geri döner.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hmaks = v₀² / (2g) = 900 / 20 = 45 m. Çıkış 30 / 10 = 3 s, iniş de 3 s sürer: 6 s sonra geri döner.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Serbest bırakılan bir cisim hareketinin 4. saniyesinde kaç metre yol alır?
Öğrencilere 2–3 dakika verin; sonra cevap slaytını açın.
Cevap: Cevap: İlk 4 saniyede 5 · 4² = 80 m, ilk 3 saniyede 5 · 3² = 45 m yol alır. 4. saniyedeki yol farktır: 80 − 45 = 35 m. 1 : 3 : 5 : 7 kuralıyla da aynı sonuç çıkar: 7 · 5 = 35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İlk 4 saniyede 5 · 4² = 80 m, ilk 3 saniyede 5 · 3² = 45 m yol alır. 4. saniyedeki yol farktır: 80 − 45 = 35 m. 1 : 3 : 5 : 7 kuralıyla da aynı sonuç çıkar: 7 · 5 = 35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“Ağır cisim önce düşer.” Hava direnci ihmal edildiğinde kütle hiç rol oynamaz.
• “Tepe noktada ivme sıfırdır.” Sıfır olan hızdır; ivme orada da g'dir.
• v = 2gh yazmak. Doğrusu v² = 2gh; karekök almayı unutma. Birim kontrolü bu hatayı hemen yakalar.
• İlk hızlı hareketi serbest düşme sanmak. v₀ ≠ 0 ise hareket düşey atıştır.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1 : 3 : 5 ile 1 : 4 : 9'u karıştırmak. Birincisi her aralıkta, ikincisi baştan itibaren toplam alınan yoldur.
• İşaretleri karıştırmak. Başta bir yön pozitif seçilir ve soru boyunca değiştirilmez. Aşağı pozitif seçtiysen yukarı hızlar negatif yazılır.
• Yüksekliği iki katına çıkarınca sürenin de iki katına çıktığını sanmak. Süre karekökle artar: 4 kat yükseklik → 2 kat süre.
• “Ağırlıksız hisseden astronotun ağırlığı yoktur.” Yerçekimi oradadır; ağırlıksızlık, astronotun ve istasyonun birlikte serbest düşmesinden doğar.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Dünya'da g = 9,81 m/s² · Kütle fark etmez · Yol t² ile artar · Eşit sürelerde 1 : 3 : 5
v = g · t — hız, süreyle doğru orantılı
h = ½ · g · t² — yol, sürenin karesiyle
v² = 2 · g · h — süre bilinmiyorsa
t = √(2h / g) — düşme süresi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dersler-sekiller/serbest-dusme-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fizik</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KUVVET VE HAREKET · KONU 01</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Serbest düşme</a:t>
            </a:r>
            <a:endParaRPr lang="en-US" sz="46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500" dirty="0">
                <a:solidFill>
                  <a:srgbClr val="C3CEE8"/>
                </a:solidFill>
                <a:latin typeface="Calibri" pitchFamily="34" charset="0"/>
                <a:ea typeface="Calibri" pitchFamily="34" charset="-122"/>
                <a:cs typeface="Calibri" pitchFamily="34" charset="-120"/>
              </a:rPr>
              <a:t>Hava direncinin ihmal edildiği yerde bırakılan her cisim, kütlesi ne olursa olsun aynı ivmeyle düşer. Aşağıdaki dört deneyde bunu kendin ayarla, bırak ve ölç; grafikler sen izlerken çizilsin.</a:t>
            </a:r>
            <a:endParaRPr lang="en-US" sz="15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640080" y="6382512"/>
            <a:ext cx="128016" cy="128016"/>
          </a:xfrm>
          <a:prstGeom prst="roundRect">
            <a:avLst>
              <a:gd name="adj" fmla="val 28571"/>
            </a:avLst>
          </a:prstGeom>
          <a:solidFill>
            <a:srgbClr val="C6F36B"/>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dersler.perinet.org/serbest-dusme.html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2400" dirty="0">
                <a:solidFill>
                  <a:srgbClr val="0E1426"/>
                </a:solidFill>
                <a:latin typeface="Cambria" pitchFamily="34" charset="0"/>
                <a:ea typeface="Cambria" pitchFamily="34" charset="-122"/>
                <a:cs typeface="Cambria" pitchFamily="34" charset="-120"/>
              </a:rPr>
              <a:t>Bir kuş tüyünü ve bir çelik bilyeyi aynı anda bıraksan hangisi önce yere iner?</a:t>
            </a:r>
            <a:pPr indent="0" marL="0">
              <a:lnSpc>
                <a:spcPct val="130000"/>
              </a:lnSpc>
              <a:buNone/>
            </a:pPr>
            <a:r>
              <a:rPr lang="en-US" sz="24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400" dirty="0">
                <a:solidFill>
                  <a:srgbClr val="0E1426"/>
                </a:solidFill>
                <a:latin typeface="Cambria" pitchFamily="34" charset="0"/>
                <a:ea typeface="Cambria" pitchFamily="34" charset="-122"/>
                <a:cs typeface="Cambria" pitchFamily="34" charset="-120"/>
              </a:rPr>
              <a:t>Havası boşaltılmış bir cam tüpte ikisi de </a:t>
            </a:r>
            <a:pPr indent="0" marL="0">
              <a:lnSpc>
                <a:spcPct val="130000"/>
              </a:lnSpc>
              <a:buNone/>
            </a:pPr>
            <a:r>
              <a:rPr lang="en-US" sz="2400" b="1" dirty="0">
                <a:solidFill>
                  <a:srgbClr val="5F4BD8"/>
                </a:solidFill>
                <a:latin typeface="Cambria" pitchFamily="34" charset="0"/>
                <a:ea typeface="Cambria" pitchFamily="34" charset="-122"/>
                <a:cs typeface="Cambria" pitchFamily="34" charset="-120"/>
              </a:rPr>
              <a:t>tam olarak aynı anda</a:t>
            </a:r>
            <a:pPr indent="0" marL="0">
              <a:lnSpc>
                <a:spcPct val="130000"/>
              </a:lnSpc>
              <a:buNone/>
            </a:pPr>
            <a:r>
              <a:rPr lang="en-US" sz="2400" dirty="0">
                <a:solidFill>
                  <a:srgbClr val="0E1426"/>
                </a:solidFill>
                <a:latin typeface="Cambria" pitchFamily="34" charset="0"/>
                <a:ea typeface="Cambria" pitchFamily="34" charset="-122"/>
                <a:cs typeface="Cambria" pitchFamily="34" charset="-120"/>
              </a:rPr>
              <a:t> düşer — Ay'da bu deney 1971'de gerçekten yapıldı.</a:t>
            </a:r>
            <a:pPr indent="0" marL="0">
              <a:lnSpc>
                <a:spcPct val="130000"/>
              </a:lnSpc>
              <a:buNone/>
            </a:pPr>
            <a:r>
              <a:rPr lang="en-US" sz="24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400" dirty="0">
                <a:solidFill>
                  <a:srgbClr val="0E1426"/>
                </a:solidFill>
                <a:latin typeface="Cambria" pitchFamily="34" charset="0"/>
                <a:ea typeface="Cambria" pitchFamily="34" charset="-122"/>
                <a:cs typeface="Cambria" pitchFamily="34" charset="-120"/>
              </a:rPr>
              <a:t>Demek ki düşüşü belirleyen şey cismin ağırlığı değil; </a:t>
            </a:r>
            <a:pPr indent="0" marL="0">
              <a:lnSpc>
                <a:spcPct val="130000"/>
              </a:lnSpc>
              <a:buNone/>
            </a:pPr>
            <a:r>
              <a:rPr lang="en-US" sz="2400" b="1" dirty="0">
                <a:solidFill>
                  <a:srgbClr val="5F4BD8"/>
                </a:solidFill>
                <a:latin typeface="Cambria" pitchFamily="34" charset="0"/>
                <a:ea typeface="Cambria" pitchFamily="34" charset="-122"/>
                <a:cs typeface="Cambria" pitchFamily="34" charset="-120"/>
              </a:rPr>
              <a:t>yalnızca geçen süre</a:t>
            </a:r>
            <a:pPr indent="0" marL="0">
              <a:lnSpc>
                <a:spcPct val="130000"/>
              </a:lnSpc>
              <a:buNone/>
            </a:pPr>
            <a:r>
              <a:rPr lang="en-US" sz="2400" dirty="0">
                <a:solidFill>
                  <a:srgbClr val="0E1426"/>
                </a:solidFill>
                <a:latin typeface="Cambria" pitchFamily="34" charset="0"/>
                <a:ea typeface="Cambria" pitchFamily="34" charset="-122"/>
                <a:cs typeface="Cambria" pitchFamily="34" charset="-120"/>
              </a:rPr>
              <a:t>.</a:t>
            </a:r>
            <a:endParaRPr lang="en-US" sz="240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Önce sezgi: düşen bir cisme bak, ne yaptığını gör ve adını koy. Bu basamakta hesap yok denecek kadar az.</a:t>
            </a:r>
            <a:endParaRPr lang="en-US" sz="115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Önce gözlemle: düşen bir cisim ne yapar?</a:t>
            </a:r>
            <a:endParaRPr lang="en-US" sz="1200" dirty="0"/>
          </a:p>
        </p:txBody>
      </p:sp>
      <p:sp>
        <p:nvSpPr>
          <p:cNvPr id="15" name="Text 13"/>
          <p:cNvSpPr txBox="1"/>
          <p:nvPr/>
        </p:nvSpPr>
        <p:spPr>
          <a:xfrm>
            <a:off x="859536" y="4224528"/>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Serbest düşme nedir?</a:t>
            </a:r>
            <a:endParaRPr lang="en-US" sz="1250" dirty="0"/>
          </a:p>
        </p:txBody>
      </p:sp>
      <p:sp>
        <p:nvSpPr>
          <p:cNvPr id="17" name="Text 15"/>
          <p:cNvSpPr txBox="1"/>
          <p:nvPr/>
        </p:nvSpPr>
        <p:spPr>
          <a:xfrm>
            <a:off x="859536" y="4882896"/>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Kütle neden fark etmez?</a:t>
            </a:r>
            <a:endParaRPr lang="en-US" sz="1250" dirty="0"/>
          </a:p>
        </p:txBody>
      </p:sp>
      <p:sp>
        <p:nvSpPr>
          <p:cNvPr id="19" name="Shape 17"/>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3601136" y="1645920"/>
            <a:ext cx="2211248" cy="64008"/>
          </a:xfrm>
          <a:prstGeom prst="rect">
            <a:avLst/>
          </a:prstGeom>
          <a:solidFill>
            <a:srgbClr val="2957D4"/>
          </a:solidFill>
          <a:ln/>
        </p:spPr>
      </p:sp>
      <p:sp>
        <p:nvSpPr>
          <p:cNvPr id="21" name="Shape 19"/>
          <p:cNvSpPr/>
          <p:nvPr/>
        </p:nvSpPr>
        <p:spPr>
          <a:xfrm>
            <a:off x="3637712" y="1920240"/>
            <a:ext cx="420624" cy="420624"/>
          </a:xfrm>
          <a:prstGeom prst="roundRect">
            <a:avLst>
              <a:gd name="adj" fmla="val 26000"/>
            </a:avLst>
          </a:prstGeom>
          <a:solidFill>
            <a:srgbClr val="2957D4"/>
          </a:solidFill>
          <a:ln/>
        </p:spPr>
      </p:sp>
      <p:sp>
        <p:nvSpPr>
          <p:cNvPr id="22" name="Text 20"/>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3" name="Text 21"/>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4" name="Text 22"/>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Bağıntılar ve grafikler: gözlediğini sayılara dök, bir büyüklükten ötekine geç.</a:t>
            </a:r>
            <a:endParaRPr lang="en-US" sz="1150" dirty="0"/>
          </a:p>
        </p:txBody>
      </p:sp>
      <p:sp>
        <p:nvSpPr>
          <p:cNvPr id="25" name="Shape 23"/>
          <p:cNvSpPr/>
          <p:nvPr/>
        </p:nvSpPr>
        <p:spPr>
          <a:xfrm>
            <a:off x="3637712" y="3429000"/>
            <a:ext cx="2138096" cy="0"/>
          </a:xfrm>
          <a:prstGeom prst="line">
            <a:avLst/>
          </a:prstGeom>
          <a:noFill/>
          <a:ln w="9525">
            <a:solidFill>
              <a:srgbClr val="E1E5EE"/>
            </a:solidFill>
            <a:prstDash val="dash"/>
          </a:ln>
        </p:spPr>
      </p:sp>
      <p:sp>
        <p:nvSpPr>
          <p:cNvPr id="26" name="Text 24"/>
          <p:cNvSpPr txBox="1"/>
          <p:nvPr/>
        </p:nvSpPr>
        <p:spPr>
          <a:xfrm>
            <a:off x="3637712" y="3566160"/>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04</a:t>
            </a:r>
            <a:endParaRPr lang="en-US" sz="1100" dirty="0"/>
          </a:p>
        </p:txBody>
      </p:sp>
      <p:sp>
        <p:nvSpPr>
          <p:cNvPr id="27" name="Text 25"/>
          <p:cNvSpPr txBox="1"/>
          <p:nvPr/>
        </p:nvSpPr>
        <p:spPr>
          <a:xfrm>
            <a:off x="4021760"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Temel bağıntılar</a:t>
            </a:r>
            <a:endParaRPr lang="en-US" sz="1250" dirty="0"/>
          </a:p>
        </p:txBody>
      </p:sp>
      <p:sp>
        <p:nvSpPr>
          <p:cNvPr id="28" name="Text 26"/>
          <p:cNvSpPr txBox="1"/>
          <p:nvPr/>
        </p:nvSpPr>
        <p:spPr>
          <a:xfrm>
            <a:off x="3637712" y="4199382"/>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4199382"/>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Sayılarla hisset: ne kadar hızlı, ne kadar sürede?</a:t>
            </a:r>
            <a:endParaRPr lang="en-US" sz="1150" dirty="0"/>
          </a:p>
        </p:txBody>
      </p:sp>
      <p:sp>
        <p:nvSpPr>
          <p:cNvPr id="30" name="Text 28"/>
          <p:cNvSpPr txBox="1"/>
          <p:nvPr/>
        </p:nvSpPr>
        <p:spPr>
          <a:xfrm>
            <a:off x="3637712" y="4832604"/>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Grafikler ve yorumu</a:t>
            </a:r>
            <a:endParaRPr lang="en-US" sz="1250" dirty="0"/>
          </a:p>
        </p:txBody>
      </p:sp>
      <p:sp>
        <p:nvSpPr>
          <p:cNvPr id="32" name="Text 30"/>
          <p:cNvSpPr txBox="1"/>
          <p:nvPr/>
        </p:nvSpPr>
        <p:spPr>
          <a:xfrm>
            <a:off x="3637712" y="5465826"/>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Eşit zaman aralıkları: 1 : 3 : 5 kuralı</a:t>
            </a:r>
            <a:endParaRPr lang="en-US" sz="1250" dirty="0"/>
          </a:p>
        </p:txBody>
      </p:sp>
      <p:sp>
        <p:nvSpPr>
          <p:cNvPr id="34" name="Shape 32"/>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5" name="Shape 33"/>
          <p:cNvSpPr/>
          <p:nvPr/>
        </p:nvSpPr>
        <p:spPr>
          <a:xfrm>
            <a:off x="6379312" y="1645920"/>
            <a:ext cx="2211248" cy="64008"/>
          </a:xfrm>
          <a:prstGeom prst="rect">
            <a:avLst/>
          </a:prstGeom>
          <a:solidFill>
            <a:srgbClr val="5F4BD8"/>
          </a:solidFill>
          <a:ln/>
        </p:spPr>
      </p:sp>
      <p:sp>
        <p:nvSpPr>
          <p:cNvPr id="36" name="Shape 34"/>
          <p:cNvSpPr/>
          <p:nvPr/>
        </p:nvSpPr>
        <p:spPr>
          <a:xfrm>
            <a:off x="6415888" y="1920240"/>
            <a:ext cx="420624" cy="420624"/>
          </a:xfrm>
          <a:prstGeom prst="roundRect">
            <a:avLst>
              <a:gd name="adj" fmla="val 26000"/>
            </a:avLst>
          </a:prstGeom>
          <a:solidFill>
            <a:srgbClr val="5F4BD8"/>
          </a:solidFill>
          <a:ln/>
        </p:spPr>
      </p:sp>
      <p:sp>
        <p:nvSpPr>
          <p:cNvPr id="37" name="Text 35"/>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8" name="Text 36"/>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39" name="Text 37"/>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Derinleşme: cisim atılınca, hava işe karışınca ve serbest düşme gerçek hayata çıkınca ne olur?</a:t>
            </a:r>
            <a:endParaRPr lang="en-US" sz="1150" dirty="0"/>
          </a:p>
        </p:txBody>
      </p:sp>
      <p:sp>
        <p:nvSpPr>
          <p:cNvPr id="40" name="Shape 38"/>
          <p:cNvSpPr/>
          <p:nvPr/>
        </p:nvSpPr>
        <p:spPr>
          <a:xfrm>
            <a:off x="6415888" y="3429000"/>
            <a:ext cx="2138096" cy="0"/>
          </a:xfrm>
          <a:prstGeom prst="line">
            <a:avLst/>
          </a:prstGeom>
          <a:noFill/>
          <a:ln w="9525">
            <a:solidFill>
              <a:srgbClr val="E1E5EE"/>
            </a:solidFill>
            <a:prstDash val="dash"/>
          </a:ln>
        </p:spPr>
      </p:sp>
      <p:sp>
        <p:nvSpPr>
          <p:cNvPr id="41" name="Text 39"/>
          <p:cNvSpPr txBox="1"/>
          <p:nvPr/>
        </p:nvSpPr>
        <p:spPr>
          <a:xfrm>
            <a:off x="6415888" y="3566160"/>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08</a:t>
            </a:r>
            <a:endParaRPr lang="en-US" sz="1100" dirty="0"/>
          </a:p>
        </p:txBody>
      </p:sp>
      <p:sp>
        <p:nvSpPr>
          <p:cNvPr id="42" name="Text 40"/>
          <p:cNvSpPr txBox="1"/>
          <p:nvPr/>
        </p:nvSpPr>
        <p:spPr>
          <a:xfrm>
            <a:off x="6799936" y="3566160"/>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Düşey atış: yukarı fırlatınca ne değişir?</a:t>
            </a:r>
            <a:endParaRPr lang="en-US" sz="1200" dirty="0"/>
          </a:p>
        </p:txBody>
      </p:sp>
      <p:sp>
        <p:nvSpPr>
          <p:cNvPr id="43" name="Text 41"/>
          <p:cNvSpPr txBox="1"/>
          <p:nvPr/>
        </p:nvSpPr>
        <p:spPr>
          <a:xfrm>
            <a:off x="6415888" y="4224528"/>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09</a:t>
            </a:r>
            <a:endParaRPr lang="en-US" sz="1100" dirty="0"/>
          </a:p>
        </p:txBody>
      </p:sp>
      <p:sp>
        <p:nvSpPr>
          <p:cNvPr id="44" name="Text 42"/>
          <p:cNvSpPr txBox="1"/>
          <p:nvPr/>
        </p:nvSpPr>
        <p:spPr>
          <a:xfrm>
            <a:off x="6799936"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Gerçekte hava direnci ve limit hız</a:t>
            </a:r>
            <a:endParaRPr lang="en-US" sz="1250" dirty="0"/>
          </a:p>
        </p:txBody>
      </p:sp>
      <p:sp>
        <p:nvSpPr>
          <p:cNvPr id="45" name="Text 43"/>
          <p:cNvSpPr txBox="1"/>
          <p:nvPr/>
        </p:nvSpPr>
        <p:spPr>
          <a:xfrm>
            <a:off x="6415888" y="4882896"/>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Serbest düşme gerçek dünyada</a:t>
            </a:r>
            <a:endParaRPr lang="en-US" sz="1250" dirty="0"/>
          </a:p>
        </p:txBody>
      </p:sp>
      <p:sp>
        <p:nvSpPr>
          <p:cNvPr id="47" name="Shape 45"/>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48" name="Shape 46"/>
          <p:cNvSpPr/>
          <p:nvPr/>
        </p:nvSpPr>
        <p:spPr>
          <a:xfrm>
            <a:off x="9157487" y="1645920"/>
            <a:ext cx="2211248" cy="64008"/>
          </a:xfrm>
          <a:prstGeom prst="rect">
            <a:avLst/>
          </a:prstGeom>
          <a:solidFill>
            <a:srgbClr val="A56209"/>
          </a:solidFill>
          <a:ln/>
        </p:spPr>
      </p:sp>
      <p:sp>
        <p:nvSpPr>
          <p:cNvPr id="49" name="Shape 47"/>
          <p:cNvSpPr/>
          <p:nvPr/>
        </p:nvSpPr>
        <p:spPr>
          <a:xfrm>
            <a:off x="9194063" y="1920240"/>
            <a:ext cx="420624" cy="420624"/>
          </a:xfrm>
          <a:prstGeom prst="roundRect">
            <a:avLst>
              <a:gd name="adj" fmla="val 26000"/>
            </a:avLst>
          </a:prstGeom>
          <a:solidFill>
            <a:srgbClr val="A56209"/>
          </a:solidFill>
          <a:ln/>
        </p:spPr>
      </p:sp>
      <p:sp>
        <p:nvSpPr>
          <p:cNvPr id="50" name="Text 48"/>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1" name="Text 49"/>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2" name="Text 50"/>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sınavda puan kaybettiren klasik hatalar.</a:t>
            </a:r>
            <a:endParaRPr lang="en-US" sz="1150" dirty="0"/>
          </a:p>
        </p:txBody>
      </p:sp>
      <p:sp>
        <p:nvSpPr>
          <p:cNvPr id="53" name="Shape 51"/>
          <p:cNvSpPr/>
          <p:nvPr/>
        </p:nvSpPr>
        <p:spPr>
          <a:xfrm>
            <a:off x="9194063" y="3429000"/>
            <a:ext cx="2138096" cy="0"/>
          </a:xfrm>
          <a:prstGeom prst="line">
            <a:avLst/>
          </a:prstGeom>
          <a:noFill/>
          <a:ln w="9525">
            <a:solidFill>
              <a:srgbClr val="E1E5EE"/>
            </a:solidFill>
            <a:prstDash val="dash"/>
          </a:ln>
        </p:spPr>
      </p:sp>
      <p:sp>
        <p:nvSpPr>
          <p:cNvPr id="54" name="Text 52"/>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11</a:t>
            </a:r>
            <a:endParaRPr lang="en-US" sz="1100" dirty="0"/>
          </a:p>
        </p:txBody>
      </p:sp>
      <p:sp>
        <p:nvSpPr>
          <p:cNvPr id="55" name="Text 53"/>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56" name="Text 54"/>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12</a:t>
            </a:r>
            <a:endParaRPr lang="en-US" sz="1100" dirty="0"/>
          </a:p>
        </p:txBody>
      </p:sp>
      <p:sp>
        <p:nvSpPr>
          <p:cNvPr id="57" name="Text 55"/>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58" name="Shape 56"/>
          <p:cNvSpPr/>
          <p:nvPr/>
        </p:nvSpPr>
        <p:spPr>
          <a:xfrm>
            <a:off x="640080" y="6382512"/>
            <a:ext cx="128016" cy="128016"/>
          </a:xfrm>
          <a:prstGeom prst="roundRect">
            <a:avLst>
              <a:gd name="adj" fmla="val 28571"/>
            </a:avLst>
          </a:prstGeom>
          <a:solidFill>
            <a:srgbClr val="A9E648"/>
          </a:solidFill>
          <a:ln/>
        </p:spPr>
      </p:sp>
      <p:sp>
        <p:nvSpPr>
          <p:cNvPr id="59" name="Text 5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60" name="Text 5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1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Hız:</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bir cismin bir saniyede aldığı yol. Metre/saniye (m/s) ile ölçülür; 10 m/s, “her saniye 10 metre” demektir.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Hızlanmak:</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hızın zamanla artması. Yokuş aşağı bırakılan bir bisiklet kendiliğinden giderek hızlanır.</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Kuvvet:</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bir cismi itmek ya da çekmek. Newton (N) ile ölçülür; bir cisme kuvvet uygulanınca hızı değişir.</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2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Ağırlık:</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Dünya'nın bir cismi kendine doğru çekme kuvveti. Kütlesi büyük olan cismin ağırlığı da büyüktür.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Kare ve karekök:</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3² = 3 · 3 = 9 ve √9 = 3. Formüllerde t² “t'nin karesi” diye okunur.</a:t>
            </a:r>
            <a:endParaRPr lang="en-US" sz="2000" dirty="0"/>
          </a:p>
        </p:txBody>
      </p:sp>
      <p:sp>
        <p:nvSpPr>
          <p:cNvPr id="14" name="Shape 12"/>
          <p:cNvSpPr/>
          <p:nvPr/>
        </p:nvSpPr>
        <p:spPr>
          <a:xfrm>
            <a:off x="640080" y="6382512"/>
            <a:ext cx="128016" cy="128016"/>
          </a:xfrm>
          <a:prstGeom prst="roundRect">
            <a:avLst>
              <a:gd name="adj" fmla="val 28571"/>
            </a:avLst>
          </a:prstGeom>
          <a:solidFill>
            <a:srgbClr val="A9E648"/>
          </a:solidFill>
          <a:ln/>
        </p:spPr>
      </p:sp>
      <p:sp>
        <p:nvSpPr>
          <p:cNvPr id="15"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6"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Önce sezgi: düşen bir cisme bak, ne yaptığını gör ve adını koy. Bu basamakta hesap yok denecek kadar az.</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düşen bir cisim ne yapar?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Serbest düşme nedir?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Kütle neden fark etmez?</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dersler-sekiller/serbest-dusme-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Text 8"/>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Düşen bir elmanın eşit zaman aralıklarıyla çekilmiş görüntüleri. Elma her aralıkta bir öncekinden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daha uzun yol</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alıyor; ilk görüntüler neredeyse üst üste binerken sonrakiler iyice açılıyor. Bu görselde aralıklar tam olarak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1 : 3 : 5</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oranında: elmaların konumları y = ½·g·t² bağıntısına göre yerleştirildi. Bu kuralı ikinci basamakta kanıtlayacağız.</a:t>
            </a:r>
            <a:endParaRPr lang="en-US" sz="1150" dirty="0"/>
          </a:p>
        </p:txBody>
      </p:sp>
      <p:sp>
        <p:nvSpPr>
          <p:cNvPr id="12" name="Shape 9"/>
          <p:cNvSpPr/>
          <p:nvPr/>
        </p:nvSpPr>
        <p:spPr>
          <a:xfrm>
            <a:off x="640080" y="6382512"/>
            <a:ext cx="128016" cy="128016"/>
          </a:xfrm>
          <a:prstGeom prst="roundRect">
            <a:avLst>
              <a:gd name="adj" fmla="val 28571"/>
            </a:avLst>
          </a:prstGeom>
          <a:solidFill>
            <a:srgbClr val="C6F36B"/>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dersler.perinet.org/serbest-dusme.html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düşen bir cisim ne yapar?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Elindeki anahtarı bırak.</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Önce yavaş ayrılır, sonra giderek hızlanarak yere çarpar.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hızlanmayı gözle izlemek zordur, çünkü her şey bir saniyeden kısa sürer.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Fizikçiler bu yüzden düşüşü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strobo fotoğrafla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incelemeyi sever: karanlık bir odada, eşit aralıklarla (örneğin saniyede on kez) yanıp sönen bir ışık altında tek bir fotoğraf çekilir ve cismin her an bulunduğu yer aynı karede üst üste görünür.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düşen bir cisim ne yapar?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Böyle bir fotoğrafta ilk dikkat çeken şey şudur: görüntüler arasındaki boşluklar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eşit değildir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aşağı indikçe açılır.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Eşit sürelerde giderek daha uzun yol alınıyorsa cisim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hızlanıyor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demektir.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Sabit hızla giden bir araba aynı yöntemle fotoğraflansaydı görüntüler cetvel çizgileri gibi eşit aralıklı dizilirdi.</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düşen bir cisim ne yapar?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Shape 4"/>
          <p:cNvSpPr/>
          <p:nvPr/>
        </p:nvSpPr>
        <p:spPr>
          <a:xfrm>
            <a:off x="3210248" y="1234440"/>
            <a:ext cx="5771200"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serbest-dusme-01.png">    </p:cNvPr>
          <p:cNvPicPr>
            <a:picLocks noChangeAspect="1"/>
          </p:cNvPicPr>
          <p:nvPr/>
        </p:nvPicPr>
        <p:blipFill>
          <a:blip r:embed="rId1"/>
          <a:stretch>
            <a:fillRect/>
          </a:stretch>
        </p:blipFill>
        <p:spPr>
          <a:xfrm>
            <a:off x="3438848" y="1325880"/>
            <a:ext cx="5314000"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İki strobo fotoğrafını yan yana düşün.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Sabit hızla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giden cisim her saniye aynı yolu alır, görüntüleri eşit aralıklı dizilir.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Serbest düşen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cisim ise her saniye bir öncekinden daha uzun yol alır: aralıklar 1, 3, 5, 7 oranında büyür. Aralıkların açılması, hızın arttığının gözle görülen kanıtıdır.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düşen bir cisim ne yapar?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Düşen her cisimde, hava direnci küçük kaldığı sürece, aynı üç şey gözlenir:</a:t>
            </a:r>
            <a:endParaRPr lang="en-US" sz="2200" dirty="0"/>
          </a:p>
        </p:txBody>
      </p:sp>
      <p:sp>
        <p:nvSpPr>
          <p:cNvPr id="7" name="Text 5"/>
          <p:cNvSpPr txBox="1"/>
          <p:nvPr/>
        </p:nvSpPr>
        <p:spPr>
          <a:xfrm>
            <a:off x="640080" y="2389632"/>
            <a:ext cx="10911535" cy="17465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Doğrultu düşeydir: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cisim şakül ipi gibi dümdüz aşağı iner.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Hız sürekli artar: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her saniye bir önceki saniyeden daha hızlıdır.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Hızlanma herkes için aynıdır: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bilye de taş da anahtar da aynı biçimde hızlanır.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düşen bir cisim ne yapar?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Üçüncü madde sezgimize en ters gelenidir; bu yüzden ona ayrı bir başlık ayıracağız.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Önce gözlediğimiz harekete bir ad verelim.</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düşen bir cisim ne yapar?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Düşen bir cisim düşey doğrultuda ve giderek hızlanarak iner. Eşit sürelerde alınan yolların büyümesi bu hızlanmanın izidir.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Musluktan eşit aralıklarla damlayan su damlaları aşağı indikçe neden birbirinden uzaklaşır?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düşen bir cisim ne yapar?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Musluktan eşit aralıklarla damlayan su damlaları aşağı indikçe neden birbirinden uzaklaşır?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Her damla ötekinden biraz önce yola çıkmıştır, yani her an ondan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daha hızlıdır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Öndeki damla arkadakinden hep daha hızlı gittiği için aradaki boşluk sürekli büyür. Damlalar eşit zaman aralıklarıyla kopsa da aralarındaki uzaklık eşit kalmaz — tam da strobo fotoğraftaki gibi.</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Serbest düşme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7</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cisim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ilk hızsız olarak bırakıldığında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ve üzerine yalnızca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yerçekimi kuvveti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etki ettiğinde yaptığı harekete serbest düşme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Hareket düşey doğrultudadır, aşağı yöndedir ve ivmesi sabittir.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“Serbest” sözcüğü cismin hiçbir şeye (ipe, ele, havaya) takılmadan, yalnızca yerçekimine bırakıldığını anlatır.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Serbest düşme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7</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hareketin “serbest düşme” sayılması için üç koşul aranır:</a:t>
            </a:r>
            <a:endParaRPr lang="en-US" sz="2200" dirty="0"/>
          </a:p>
        </p:txBody>
      </p:sp>
      <p:sp>
        <p:nvSpPr>
          <p:cNvPr id="7" name="Text 5"/>
          <p:cNvSpPr txBox="1"/>
          <p:nvPr/>
        </p:nvSpPr>
        <p:spPr>
          <a:xfrm>
            <a:off x="640080" y="2004060"/>
            <a:ext cx="10911535" cy="137845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İlk hız sıfırdır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(v₀ = 0): cisim atılmaz, bırakılır.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Hava direnci ihmal edilir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tek kuvvet ağırlıktır (G = m·g).</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İvme sabittir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ve yerçekimi ivmesi g'ye eşittir.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Serbest düşme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7</a:t>
            </a:r>
            <a:endParaRPr lang="en-US" sz="950" dirty="0"/>
          </a:p>
        </p:txBody>
      </p:sp>
      <p:sp>
        <p:nvSpPr>
          <p:cNvPr id="6" name="Shape 4"/>
          <p:cNvSpPr/>
          <p:nvPr/>
        </p:nvSpPr>
        <p:spPr>
          <a:xfrm>
            <a:off x="640080" y="1399032"/>
            <a:ext cx="64008" cy="310896"/>
          </a:xfrm>
          <a:prstGeom prst="rect">
            <a:avLst/>
          </a:prstGeom>
          <a:solidFill>
            <a:srgbClr val="3C8C21"/>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İvme ne demek?</a:t>
            </a:r>
            <a:endParaRPr lang="en-US" sz="2200" dirty="0"/>
          </a:p>
        </p:txBody>
      </p:sp>
      <p:sp>
        <p:nvSpPr>
          <p:cNvPr id="8" name="Text 6"/>
          <p:cNvSpPr txBox="1"/>
          <p:nvPr/>
        </p:nvSpPr>
        <p:spPr>
          <a:xfrm>
            <a:off x="640080" y="1892808"/>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İvme, hızın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her saniye ne kadar değiştiğini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söyler.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Dünya'da g yaklaşık 10 m/s²'dir: bunu “her saniye hız 10 m/s artar” diye okuyabilirsin.</a:t>
            </a:r>
            <a:endParaRPr lang="en-US" sz="22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Serbest düşme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7</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Serbest bırakılan bir cismin hızını saniye saniye yazmak için hiçbir formül gerekmez, yalnızca her saniye 10 eklemek yeter:</a:t>
            </a:r>
            <a:endParaRPr lang="en-US" sz="2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2389632"/>
          <a:ext cx="10911535" cy="914400"/>
        </p:xfrm>
        <a:graphic>
          <a:graphicData uri="http://schemas.openxmlformats.org/drawingml/2006/table">
            <a:tbl>
              <a:tblPr/>
              <a:tblGrid>
                <a:gridCol w="2321603"/>
                <a:gridCol w="1392962"/>
                <a:gridCol w="4875367"/>
                <a:gridCol w="2321603"/>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Geçen süre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Hız</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O saniyede alınan yol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Toplam yol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0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 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 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2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20 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15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3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30 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25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45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4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40 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35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9" name="Shape 5"/>
          <p:cNvSpPr/>
          <p:nvPr/>
        </p:nvSpPr>
        <p:spPr>
          <a:xfrm>
            <a:off x="640080" y="6382512"/>
            <a:ext cx="128016" cy="128016"/>
          </a:xfrm>
          <a:prstGeom prst="roundRect">
            <a:avLst>
              <a:gd name="adj" fmla="val 28571"/>
            </a:avLst>
          </a:prstGeom>
          <a:solidFill>
            <a:srgbClr val="A9E648"/>
          </a:solidFill>
          <a:ln/>
        </p:spPr>
      </p:sp>
      <p:sp>
        <p:nvSpPr>
          <p:cNvPr id="10"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1"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Serbest düşme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7</a:t>
            </a:r>
            <a:endParaRPr lang="en-US" sz="950" dirty="0"/>
          </a:p>
        </p:txBody>
      </p:sp>
      <p:sp>
        <p:nvSpPr>
          <p:cNvPr id="6" name="Text 4"/>
          <p:cNvSpPr txBox="1"/>
          <p:nvPr/>
        </p:nvSpPr>
        <p:spPr>
          <a:xfrm>
            <a:off x="640080" y="1325880"/>
            <a:ext cx="10911535" cy="211074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saniye alınan yol, o saniyenin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ortalama hızı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kadardır: ilk saniyede hız 0'dan 10'a çıktığı için ortalama 5 m/s, yol 5 m; ikinci saniyede 10'dan 20'ye, ortalama 15 m/s, yol 15 m.</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Tablonun son sütunu, bir sonraki basamakta çıkaracağımız formülün sonucunu şimdiden veriyor.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Serbest düşme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7</a:t>
            </a:r>
            <a:endParaRPr lang="en-US" sz="950" dirty="0"/>
          </a:p>
        </p:txBody>
      </p:sp>
      <p:sp>
        <p:nvSpPr>
          <p:cNvPr id="6" name="Shape 4"/>
          <p:cNvSpPr/>
          <p:nvPr/>
        </p:nvSpPr>
        <p:spPr>
          <a:xfrm>
            <a:off x="640080" y="1325880"/>
            <a:ext cx="10911535" cy="1348740"/>
          </a:xfrm>
          <a:prstGeom prst="roundRect">
            <a:avLst>
              <a:gd name="adj" fmla="val 94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019556"/>
          </a:xfrm>
          <a:prstGeom prst="rect">
            <a:avLst/>
          </a:prstGeom>
          <a:solidFill>
            <a:srgbClr val="3C8C21"/>
          </a:solidFill>
          <a:ln/>
        </p:spPr>
      </p:sp>
      <p:sp>
        <p:nvSpPr>
          <p:cNvPr id="8" name="Text 6"/>
          <p:cNvSpPr txBox="1"/>
          <p:nvPr/>
        </p:nvSpPr>
        <p:spPr>
          <a:xfrm>
            <a:off x="950976" y="1453896"/>
            <a:ext cx="10399471" cy="1092708"/>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g ne kadar?</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Dünya yüzeyinde ortalama </a:t>
            </a:r>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9,81 m/s²</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'dir; ekvatorda 9,78, kutuplarda 9,83 civarına iner-çıkar. İşlem kolaylığı için problemlerde çoğunlukla </a:t>
            </a:r>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g = 10 m/s²</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alınır. Ay'da 1,62 · Mars'ta 3,72 · Jüpiter'de 24,79 m/s².</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Serbest düşme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7 / 7</a:t>
            </a:r>
            <a:endParaRPr lang="en-US" sz="950" dirty="0"/>
          </a:p>
        </p:txBody>
      </p:sp>
      <p:sp>
        <p:nvSpPr>
          <p:cNvPr id="6" name="Shape 4"/>
          <p:cNvSpPr/>
          <p:nvPr/>
        </p:nvSpPr>
        <p:spPr>
          <a:xfrm>
            <a:off x="2345719" y="1234440"/>
            <a:ext cx="7500257"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serbest-dusme-02.png">    </p:cNvPr>
          <p:cNvPicPr>
            <a:picLocks noChangeAspect="1"/>
          </p:cNvPicPr>
          <p:nvPr/>
        </p:nvPicPr>
        <p:blipFill>
          <a:blip r:embed="rId1"/>
          <a:stretch>
            <a:fillRect/>
          </a:stretch>
        </p:blipFill>
        <p:spPr>
          <a:xfrm>
            <a:off x="2574319" y="1325880"/>
            <a:ext cx="7043057"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Üç koşul tek karede: cisim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ilk hızsız bırakılır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üzerindeki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tek kuvvet ağırlıktır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bu yüzden ivmesi sabit kalır ve g'ye eşit olur. Eşit sürelerle çekilmiş strobo görüntülerinin arası sürekli açılıyor; çünkü hız her saniye aynı miktarda büyüyor.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Serbest düşme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Serbest düşme, ilk hızsız bırakılan ve yalnızca ağırlığın etkisindeki bir cismin hareketidir. İvmesi sabittir ve g'ye eşittir: hız her saniye yaklaşık 10 m/s artar.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Kütle neden fark etmez?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Sezgi “ağır olan daha hızlı düşer” der.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Aristoteles de böyle düşünüyordu ve bu fikir yaklaşık iki bin yıl boyunca genel kabul gördü.</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Galileo ise 1600'lerde bunu basit bir düşünce deneyiyle çürüttü: ağır bir taşla hafif bir taşı iple birbirine bağlayalım.</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Hafif taş daha yavaş düşmek isteyeceği için ağır olanı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frenler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o zaman ikili, ağır taştan yavaş düşmeli.</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Kütle neden fark etmez?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Ama ikili tek başına ağır taştan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daha ağırdır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o zaman daha hızlı düşmeli.</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öncül iki zıt sonuç veriyorsa öncül yanlıştır: düşüş hızı ağırlığa bağlı olamaz.</a:t>
            </a:r>
            <a:endParaRPr lang="en-US" sz="2200" dirty="0"/>
          </a:p>
        </p:txBody>
      </p:sp>
      <p:sp>
        <p:nvSpPr>
          <p:cNvPr id="7" name="Text 5"/>
          <p:cNvSpPr txBox="1"/>
          <p:nvPr/>
        </p:nvSpPr>
        <p:spPr>
          <a:xfrm>
            <a:off x="640080" y="3252216"/>
            <a:ext cx="10911535" cy="9540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Newton'un ikinci yasası aynı sonucu hesapla gösterir.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Düşen cisme etki eden tek kuvvet ağırlığıdır:</a:t>
            </a:r>
            <a:endParaRPr lang="en-US" sz="2200" dirty="0"/>
          </a:p>
        </p:txBody>
      </p:sp>
      <p:sp>
        <p:nvSpPr>
          <p:cNvPr id="8" name="Shape 6"/>
          <p:cNvSpPr/>
          <p:nvPr/>
        </p:nvSpPr>
        <p:spPr>
          <a:xfrm>
            <a:off x="640080" y="4407408"/>
            <a:ext cx="1799539" cy="585216"/>
          </a:xfrm>
          <a:prstGeom prst="roundRect">
            <a:avLst>
              <a:gd name="adj" fmla="val 18750"/>
            </a:avLst>
          </a:prstGeom>
          <a:solidFill>
            <a:srgbClr val="EEF2FC"/>
          </a:solidFill>
          <a:ln w="9525">
            <a:solidFill>
              <a:srgbClr val="CBD7F4"/>
            </a:solidFill>
            <a:prstDash val="solid"/>
          </a:ln>
        </p:spPr>
      </p:sp>
      <p:sp>
        <p:nvSpPr>
          <p:cNvPr id="9" name="Text 7"/>
          <p:cNvSpPr txBox="1"/>
          <p:nvPr/>
        </p:nvSpPr>
        <p:spPr>
          <a:xfrm>
            <a:off x="640080" y="4407408"/>
            <a:ext cx="179953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F = m · a</a:t>
            </a:r>
            <a:endParaRPr lang="en-US" sz="1800" dirty="0"/>
          </a:p>
        </p:txBody>
      </p:sp>
      <p:sp>
        <p:nvSpPr>
          <p:cNvPr id="10" name="Shape 8"/>
          <p:cNvSpPr/>
          <p:nvPr/>
        </p:nvSpPr>
        <p:spPr>
          <a:xfrm>
            <a:off x="2585923" y="4407408"/>
            <a:ext cx="2355494" cy="585216"/>
          </a:xfrm>
          <a:prstGeom prst="roundRect">
            <a:avLst>
              <a:gd name="adj" fmla="val 18750"/>
            </a:avLst>
          </a:prstGeom>
          <a:solidFill>
            <a:srgbClr val="EEF2FC"/>
          </a:solidFill>
          <a:ln w="9525">
            <a:solidFill>
              <a:srgbClr val="CBD7F4"/>
            </a:solidFill>
            <a:prstDash val="solid"/>
          </a:ln>
        </p:spPr>
      </p:sp>
      <p:sp>
        <p:nvSpPr>
          <p:cNvPr id="11" name="Text 9"/>
          <p:cNvSpPr txBox="1"/>
          <p:nvPr/>
        </p:nvSpPr>
        <p:spPr>
          <a:xfrm>
            <a:off x="2585923" y="4407408"/>
            <a:ext cx="23554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m · g = m · a</a:t>
            </a:r>
            <a:endParaRPr lang="en-US" sz="1800" dirty="0"/>
          </a:p>
        </p:txBody>
      </p:sp>
      <p:sp>
        <p:nvSpPr>
          <p:cNvPr id="12" name="Shape 10"/>
          <p:cNvSpPr/>
          <p:nvPr/>
        </p:nvSpPr>
        <p:spPr>
          <a:xfrm>
            <a:off x="5087722" y="4407408"/>
            <a:ext cx="1243584" cy="585216"/>
          </a:xfrm>
          <a:prstGeom prst="roundRect">
            <a:avLst>
              <a:gd name="adj" fmla="val 18750"/>
            </a:avLst>
          </a:prstGeom>
          <a:solidFill>
            <a:srgbClr val="EEF2FC"/>
          </a:solidFill>
          <a:ln w="9525">
            <a:solidFill>
              <a:srgbClr val="CBD7F4"/>
            </a:solidFill>
            <a:prstDash val="solid"/>
          </a:ln>
        </p:spPr>
      </p:sp>
      <p:sp>
        <p:nvSpPr>
          <p:cNvPr id="13" name="Text 11"/>
          <p:cNvSpPr txBox="1"/>
          <p:nvPr/>
        </p:nvSpPr>
        <p:spPr>
          <a:xfrm>
            <a:off x="5087722" y="4407408"/>
            <a:ext cx="124358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a = g</a:t>
            </a:r>
            <a:endParaRPr lang="en-US" sz="1800" dirty="0"/>
          </a:p>
        </p:txBody>
      </p:sp>
      <p:sp>
        <p:nvSpPr>
          <p:cNvPr id="15" name="Shape 12"/>
          <p:cNvSpPr/>
          <p:nvPr/>
        </p:nvSpPr>
        <p:spPr>
          <a:xfrm>
            <a:off x="640080" y="6382512"/>
            <a:ext cx="128016" cy="128016"/>
          </a:xfrm>
          <a:prstGeom prst="roundRect">
            <a:avLst>
              <a:gd name="adj" fmla="val 28571"/>
            </a:avLst>
          </a:prstGeom>
          <a:solidFill>
            <a:srgbClr val="A9E648"/>
          </a:solidFill>
          <a:ln/>
        </p:spPr>
      </p:sp>
      <p:sp>
        <p:nvSpPr>
          <p:cNvPr id="16"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7"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Kütle neden fark etmez?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Kütle eşitliğin iki yanında da bulunduğu için sadeleşir.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Ağır cisim daha çok çekilir, ama aynı oranda da harekete direnir (eylemsizliği fazladır); iki etki birbirini tam olarak götürür.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Sonuç: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10 gramlık bilye ile 10 kiloluk gülle aynı anda yere düşer.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Kütle neden fark etmez?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24963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1971'de Apollo 15 astronotu David Scott, havasız Ay yüzeyinde bir şahin tüyü ile alüminyum çekici aynı anda bıraktı; ikisi de aynı anda toza değdi.</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Günlük hayatta tüyün geride kalmasının sebebi kütlesi değil,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hava direnci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dir: tüy çok hafif ama yüzeyi geniştir, bu yüzden hava onu ağırlığına oranla çok daha güçlü frenler.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Kütle neden fark etmez?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580488" y="1234440"/>
            <a:ext cx="7030720"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serbest-dusme-03.png">    </p:cNvPr>
          <p:cNvPicPr>
            <a:picLocks noChangeAspect="1"/>
          </p:cNvPicPr>
          <p:nvPr/>
        </p:nvPicPr>
        <p:blipFill>
          <a:blip r:embed="rId1"/>
          <a:stretch>
            <a:fillRect/>
          </a:stretch>
        </p:blipFill>
        <p:spPr>
          <a:xfrm>
            <a:off x="2809088" y="1325880"/>
            <a:ext cx="6573520"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Ağır cisim daha büyük bir kuvvetle çekilir (m·g), ama tam o oranda harekete de direnir (m·a).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Kütle eşitliğin iki yanında da bulunduğu için sadeleşir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ve geriye yalnızca a = g kalır. Bu yüzden 8 kat ağır olan cisim, hafif olanla hep aynı hizada düşer.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Kütle neden fark etmez?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Hava direnci yoksa bütün cisimler aynı ivmeyle düşer, çünkü ağırlık ve eylemsizlik kütleyle aynı oranda büyür ve m·g = m·a eşitliğinde kütle sadeleşir.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Ağır cisme daha büyük bir kuvvet etki ediyorsa, neden daha hızlı düşmüyor?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03 · Kütle neden fark etmez?</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Ağır cisme daha büyük bir kuvvet etki ediyorsa, neden daha hızlı düşmüyor?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Çünkü onu hızlandırmak da o kadar zordur. 8 kat ağır bir cisme 8 kat büyük kuvvet etki eder, ama onun hızını değiştirmek için de 8 kat büyük kuvvet gerekir. Kuvvetin kütleye oranı (F/m) ikisinde de aynıdır ve bu oran tam olarak g'dir. İvmeyi belirleyen kuvvetin kendisi değil,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kuvvetin kütleye oranıdır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Bağıntılar ve grafikler: gözlediğini sayılara dök, bir büyüklükten ötekine geç.</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Temel bağıntılar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Sayılarla hisset: ne kadar hızlı, ne kadar sürede?</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Grafikler ve yorumu</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Eşit zaman aralıkları: 1 : 3 : 5 kuralı</a:t>
            </a:r>
            <a:endParaRPr lang="en-US" sz="1300" dirty="0"/>
          </a:p>
        </p:txBody>
      </p:sp>
      <p:sp>
        <p:nvSpPr>
          <p:cNvPr id="10" name="Text 8"/>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1" name="Shape 9"/>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2" name="Text 10"/>
          <p:cNvSpPr txBox="1"/>
          <p:nvPr/>
        </p:nvSpPr>
        <p:spPr>
          <a:xfrm>
            <a:off x="6400800" y="148132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v = g · t</a:t>
            </a:r>
            <a:endParaRPr lang="en-US" sz="1500" dirty="0"/>
          </a:p>
        </p:txBody>
      </p:sp>
      <p:sp>
        <p:nvSpPr>
          <p:cNvPr id="13" name="Text 11"/>
          <p:cNvSpPr txBox="1"/>
          <p:nvPr/>
        </p:nvSpPr>
        <p:spPr>
          <a:xfrm>
            <a:off x="8138160" y="148132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hız, süreyle doğru orantılı</a:t>
            </a:r>
            <a:endParaRPr lang="en-US" sz="1200" dirty="0"/>
          </a:p>
        </p:txBody>
      </p:sp>
      <p:sp>
        <p:nvSpPr>
          <p:cNvPr id="14" name="Shape 12"/>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5" name="Text 13"/>
          <p:cNvSpPr txBox="1"/>
          <p:nvPr/>
        </p:nvSpPr>
        <p:spPr>
          <a:xfrm>
            <a:off x="6400800" y="2350008"/>
            <a:ext cx="1938528"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h = ½ · g · t²</a:t>
            </a:r>
            <a:endParaRPr lang="en-US" sz="1500" dirty="0"/>
          </a:p>
        </p:txBody>
      </p:sp>
      <p:sp>
        <p:nvSpPr>
          <p:cNvPr id="16" name="Text 14"/>
          <p:cNvSpPr txBox="1"/>
          <p:nvPr/>
        </p:nvSpPr>
        <p:spPr>
          <a:xfrm>
            <a:off x="8430768" y="2350008"/>
            <a:ext cx="2937967"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yol, sürenin karesiyle</a:t>
            </a:r>
            <a:endParaRPr lang="en-US" sz="1200" dirty="0"/>
          </a:p>
        </p:txBody>
      </p:sp>
      <p:sp>
        <p:nvSpPr>
          <p:cNvPr id="17" name="Shape 15"/>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8" name="Text 16"/>
          <p:cNvSpPr txBox="1"/>
          <p:nvPr/>
        </p:nvSpPr>
        <p:spPr>
          <a:xfrm>
            <a:off x="6400800" y="3218688"/>
            <a:ext cx="1938528"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v² = 2 · g · h</a:t>
            </a:r>
            <a:endParaRPr lang="en-US" sz="1500" dirty="0"/>
          </a:p>
        </p:txBody>
      </p:sp>
      <p:sp>
        <p:nvSpPr>
          <p:cNvPr id="19" name="Text 17"/>
          <p:cNvSpPr txBox="1"/>
          <p:nvPr/>
        </p:nvSpPr>
        <p:spPr>
          <a:xfrm>
            <a:off x="8430768" y="3218688"/>
            <a:ext cx="2937967"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süre bilinmiyorsa</a:t>
            </a:r>
            <a:endParaRPr lang="en-US" sz="1200" dirty="0"/>
          </a:p>
        </p:txBody>
      </p:sp>
      <p:sp>
        <p:nvSpPr>
          <p:cNvPr id="20" name="Shape 18"/>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1" name="Text 19"/>
          <p:cNvSpPr txBox="1"/>
          <p:nvPr/>
        </p:nvSpPr>
        <p:spPr>
          <a:xfrm>
            <a:off x="6400800" y="4087368"/>
            <a:ext cx="1819656"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t = √(2h / g)</a:t>
            </a:r>
            <a:endParaRPr lang="en-US" sz="1500" dirty="0"/>
          </a:p>
        </p:txBody>
      </p:sp>
      <p:sp>
        <p:nvSpPr>
          <p:cNvPr id="22" name="Text 20"/>
          <p:cNvSpPr txBox="1"/>
          <p:nvPr/>
        </p:nvSpPr>
        <p:spPr>
          <a:xfrm>
            <a:off x="8311896" y="4087368"/>
            <a:ext cx="3056839"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düşme süresi</a:t>
            </a:r>
            <a:endParaRPr lang="en-US" sz="1200" dirty="0"/>
          </a:p>
        </p:txBody>
      </p:sp>
      <p:sp>
        <p:nvSpPr>
          <p:cNvPr id="23" name="Shape 21"/>
          <p:cNvSpPr/>
          <p:nvPr/>
        </p:nvSpPr>
        <p:spPr>
          <a:xfrm>
            <a:off x="640080" y="6382512"/>
            <a:ext cx="128016" cy="128016"/>
          </a:xfrm>
          <a:prstGeom prst="roundRect">
            <a:avLst>
              <a:gd name="adj" fmla="val 28571"/>
            </a:avLst>
          </a:prstGeom>
          <a:solidFill>
            <a:srgbClr val="C6F36B"/>
          </a:solidFill>
          <a:ln/>
        </p:spPr>
      </p:sp>
      <p:sp>
        <p:nvSpPr>
          <p:cNvPr id="24" name="Text 2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dersler.perinet.org/serbest-dusme.html</a:t>
            </a:r>
            <a:endParaRPr lang="en-US" sz="1050" dirty="0"/>
          </a:p>
        </p:txBody>
      </p:sp>
      <p:sp>
        <p:nvSpPr>
          <p:cNvPr id="25" name="Text 2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Temel bağıntılar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7</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Aşağı yönü pozitif alalım: v₀ = 0, a = g.</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Sabit ivmeli hareketin denklemleri doğrudan serbest düşmenin denklemlerine dönüşür (h: alınan yol, t: düşme süresi):</a:t>
            </a:r>
            <a:endParaRPr lang="en-US" sz="2200" dirty="0"/>
          </a:p>
        </p:txBody>
      </p:sp>
      <p:sp>
        <p:nvSpPr>
          <p:cNvPr id="7" name="Shape 5"/>
          <p:cNvSpPr/>
          <p:nvPr/>
        </p:nvSpPr>
        <p:spPr>
          <a:xfrm>
            <a:off x="640080" y="2866644"/>
            <a:ext cx="1799539"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866644"/>
            <a:ext cx="179953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v = g · t</a:t>
            </a:r>
            <a:endParaRPr lang="en-US" sz="1800" dirty="0"/>
          </a:p>
        </p:txBody>
      </p:sp>
      <p:sp>
        <p:nvSpPr>
          <p:cNvPr id="9" name="Shape 7"/>
          <p:cNvSpPr/>
          <p:nvPr/>
        </p:nvSpPr>
        <p:spPr>
          <a:xfrm>
            <a:off x="2585923" y="2866644"/>
            <a:ext cx="2494483"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2585923" y="2866644"/>
            <a:ext cx="2494483"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h = ½ · g · t²</a:t>
            </a:r>
            <a:endParaRPr lang="en-US" sz="1800" dirty="0"/>
          </a:p>
        </p:txBody>
      </p:sp>
      <p:sp>
        <p:nvSpPr>
          <p:cNvPr id="11" name="Shape 9"/>
          <p:cNvSpPr/>
          <p:nvPr/>
        </p:nvSpPr>
        <p:spPr>
          <a:xfrm>
            <a:off x="5226710" y="2866644"/>
            <a:ext cx="2494483"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5226710" y="2866644"/>
            <a:ext cx="2494483"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v² = 2 · g · h</a:t>
            </a:r>
            <a:endParaRPr lang="en-US" sz="1800" dirty="0"/>
          </a:p>
        </p:txBody>
      </p:sp>
      <p:sp>
        <p:nvSpPr>
          <p:cNvPr id="13" name="Shape 11"/>
          <p:cNvSpPr/>
          <p:nvPr/>
        </p:nvSpPr>
        <p:spPr>
          <a:xfrm>
            <a:off x="7867498" y="2866644"/>
            <a:ext cx="2355494" cy="585216"/>
          </a:xfrm>
          <a:prstGeom prst="roundRect">
            <a:avLst>
              <a:gd name="adj" fmla="val 18750"/>
            </a:avLst>
          </a:prstGeom>
          <a:solidFill>
            <a:srgbClr val="EEF2FC"/>
          </a:solidFill>
          <a:ln w="9525">
            <a:solidFill>
              <a:srgbClr val="CBD7F4"/>
            </a:solidFill>
            <a:prstDash val="solid"/>
          </a:ln>
        </p:spPr>
      </p:sp>
      <p:sp>
        <p:nvSpPr>
          <p:cNvPr id="14" name="Text 12"/>
          <p:cNvSpPr txBox="1"/>
          <p:nvPr/>
        </p:nvSpPr>
        <p:spPr>
          <a:xfrm>
            <a:off x="7867498" y="2866644"/>
            <a:ext cx="23554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t = √(2h / g)</a:t>
            </a:r>
            <a:endParaRPr lang="en-US" sz="1800" dirty="0"/>
          </a:p>
        </p:txBody>
      </p:sp>
      <p:sp>
        <p:nvSpPr>
          <p:cNvPr id="15" name="Shape 13"/>
          <p:cNvSpPr/>
          <p:nvPr/>
        </p:nvSpPr>
        <p:spPr>
          <a:xfrm>
            <a:off x="640080" y="3579876"/>
            <a:ext cx="3328416" cy="585216"/>
          </a:xfrm>
          <a:prstGeom prst="roundRect">
            <a:avLst>
              <a:gd name="adj" fmla="val 18750"/>
            </a:avLst>
          </a:prstGeom>
          <a:solidFill>
            <a:srgbClr val="EEF2FC"/>
          </a:solidFill>
          <a:ln w="9525">
            <a:solidFill>
              <a:srgbClr val="CBD7F4"/>
            </a:solidFill>
            <a:prstDash val="solid"/>
          </a:ln>
        </p:spPr>
      </p:sp>
      <p:sp>
        <p:nvSpPr>
          <p:cNvPr id="16" name="Text 14"/>
          <p:cNvSpPr txBox="1"/>
          <p:nvPr/>
        </p:nvSpPr>
        <p:spPr>
          <a:xfrm>
            <a:off x="640080" y="3579876"/>
            <a:ext cx="3328416"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vort = h / t = v / 2</a:t>
            </a:r>
            <a:endParaRPr lang="en-US" sz="1800" dirty="0"/>
          </a:p>
        </p:txBody>
      </p:sp>
      <p:sp>
        <p:nvSpPr>
          <p:cNvPr id="18" name="Shape 15"/>
          <p:cNvSpPr/>
          <p:nvPr/>
        </p:nvSpPr>
        <p:spPr>
          <a:xfrm>
            <a:off x="640080" y="6382512"/>
            <a:ext cx="128016" cy="128016"/>
          </a:xfrm>
          <a:prstGeom prst="roundRect">
            <a:avLst>
              <a:gd name="adj" fmla="val 28571"/>
            </a:avLst>
          </a:prstGeom>
          <a:solidFill>
            <a:srgbClr val="A9E648"/>
          </a:solidFill>
          <a:ln/>
        </p:spPr>
      </p:sp>
      <p:sp>
        <p:nvSpPr>
          <p:cNvPr id="19" name="Text 1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20" name="Text 1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Temel bağıntılar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7</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Formüldeki harfler ne anlama geliyor?</a:t>
            </a:r>
            <a:endParaRPr lang="en-US" sz="2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1283710"/>
                <a:gridCol w="8344115"/>
                <a:gridCol w="1283710"/>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v</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cismin o anki hızı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yerçekimi ivmesi (Dünya'da yaklaşık 10)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m/s²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cisim bırakıldığından beri geçen süre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alınan yol, yani düşülen yükseklik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v₀</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ilk hız (serbest düşmede sıfır)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Temel bağıntılar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7</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Bağıntılar nereden geliyor?</a:t>
            </a:r>
            <a:endParaRPr lang="en-US" sz="2200" dirty="0"/>
          </a:p>
        </p:txBody>
      </p:sp>
      <p:sp>
        <p:nvSpPr>
          <p:cNvPr id="8" name="Text 6"/>
          <p:cNvSpPr txBox="1"/>
          <p:nvPr/>
        </p:nvSpPr>
        <p:spPr>
          <a:xfrm>
            <a:off x="640080" y="1892808"/>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Hiçbirini ezberlemek gerekmez; üçü de ivmenin tanımından adım adım çıkar.</a:t>
            </a:r>
            <a:endParaRPr lang="en-US" sz="22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Temel bağıntılar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7</a:t>
            </a:r>
            <a:endParaRPr lang="en-US" sz="950" dirty="0"/>
          </a:p>
        </p:txBody>
      </p:sp>
      <p:sp>
        <p:nvSpPr>
          <p:cNvPr id="6" name="Text 4"/>
          <p:cNvSpPr txBox="1"/>
          <p:nvPr/>
        </p:nvSpPr>
        <p:spPr>
          <a:xfrm>
            <a:off x="640080" y="1325880"/>
            <a:ext cx="10911535" cy="2850642"/>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Hız: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İvme “her saniye hıza eklenen miktar” olduğuna göre t saniye sonra hız g'nin t katıdır: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v = g·t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Tablodaki 10, 20, 30 m/s tam olarak budur.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Yol: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Hız düzgün arttığı için ortalama hız, ilk ve son hızın ortalamasıdır: (0 + g·t)/2. Yol = ortalama hız × süre = (g·t/2)·t, yani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h = ½·g·t²</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Süresiz bağıntı: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İlk bağıntıdan t = v/g yazıp ikinciye koyarsak h = ½·g·(v/g)² = v²/(2g), yani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v² = 2·g·h</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Süre sorulmayan sorularda doğrudan bu bağıntıyı kullanmak en kısa yoldur.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Temel bağıntılar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7</a:t>
            </a:r>
            <a:endParaRPr lang="en-US" sz="950" dirty="0"/>
          </a:p>
        </p:txBody>
      </p:sp>
      <p:sp>
        <p:nvSpPr>
          <p:cNvPr id="6" name="Shape 4"/>
          <p:cNvSpPr/>
          <p:nvPr/>
        </p:nvSpPr>
        <p:spPr>
          <a:xfrm>
            <a:off x="640080" y="1325880"/>
            <a:ext cx="10911535" cy="1664208"/>
          </a:xfrm>
          <a:prstGeom prst="roundRect">
            <a:avLst>
              <a:gd name="adj" fmla="val 76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335024"/>
          </a:xfrm>
          <a:prstGeom prst="rect">
            <a:avLst/>
          </a:prstGeom>
          <a:solidFill>
            <a:srgbClr val="3C8C21"/>
          </a:solidFill>
          <a:ln/>
        </p:spPr>
      </p:sp>
      <p:sp>
        <p:nvSpPr>
          <p:cNvPr id="8" name="Text 6"/>
          <p:cNvSpPr txBox="1"/>
          <p:nvPr/>
        </p:nvSpPr>
        <p:spPr>
          <a:xfrm>
            <a:off x="950976" y="1453896"/>
            <a:ext cx="10399471" cy="1408176"/>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Birim kontrolü:</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Bir bağıntıyı doğru hatırlayıp hatırlamadığını birimlerle sınayabilirsin. g·t için (m/s²)·s = m/s çıkar, bu bir hızdır ✓. ½·g·t² için (m/s²)·s² = m çıkar, bu bir yoldur ✓. “v = 2gh” yazsaydın sağ taraf m²/s² çıkardı; hız değil hızın karesi — hatanı birim yakalar.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Temel bağıntılar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7</a:t>
            </a:r>
            <a:endParaRPr lang="en-US" sz="950" dirty="0"/>
          </a:p>
        </p:txBody>
      </p:sp>
      <p:sp>
        <p:nvSpPr>
          <p:cNvPr id="6" name="Shape 4"/>
          <p:cNvSpPr/>
          <p:nvPr/>
        </p:nvSpPr>
        <p:spPr>
          <a:xfrm>
            <a:off x="2259828" y="1234440"/>
            <a:ext cx="7672039"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serbest-dusme-04.png">    </p:cNvPr>
          <p:cNvPicPr>
            <a:picLocks noChangeAspect="1"/>
          </p:cNvPicPr>
          <p:nvPr/>
        </p:nvPicPr>
        <p:blipFill>
          <a:blip r:embed="rId1"/>
          <a:stretch>
            <a:fillRect/>
          </a:stretch>
        </p:blipFill>
        <p:spPr>
          <a:xfrm>
            <a:off x="2488428" y="1325880"/>
            <a:ext cx="7214839"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Serbest düşmede üç büyüklük vardır ve her ikisini birbirine bir kenar bağlar. Soruda hangi ikisi geçiyorsa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o kenardaki bağıntıyı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kullan: süre ile hız arasında v = g·t, süre ile yol arasında h = ½g·t²,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sürenin hiç geçmediği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sorularda v² = 2gh.</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Temel bağıntılar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7 / 7</a:t>
            </a:r>
            <a:endParaRPr lang="en-US" sz="95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4637402"/>
                <a:gridCol w="3273461"/>
                <a:gridCol w="3000672"/>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Soruda verilenler</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İstenen</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Kullan</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Süre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Hız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v = g·t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Süre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Yükseklik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 = ½·g·t²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Yükseklik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Çarpma hızı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v² = 2·g·h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Yükseklik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Düşme süresi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t = √(2h/g)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Temel bağıntılar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v = g·t, h = ½·g·t² ve v² = 2·g·h ivmenin tanımından çıkar. Soruda hangi iki büyüklük geçiyorsa onları bağlayan bağıntıyı seç; süre yoksa v² = 2gh.</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800" b="1" spc="-50" kern="0" dirty="0">
                <a:solidFill>
                  <a:srgbClr val="0E1426"/>
                </a:solidFill>
                <a:latin typeface="Cambria" pitchFamily="34" charset="0"/>
                <a:ea typeface="Cambria" pitchFamily="34" charset="-122"/>
                <a:cs typeface="Cambria" pitchFamily="34" charset="-120"/>
              </a:rPr>
              <a:t>Sayılarla hisset: ne kadar hızlı, ne kadar sürede?</a:t>
            </a:r>
            <a:endParaRPr lang="en-US" sz="28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7</a:t>
            </a:r>
            <a:endParaRPr lang="en-US" sz="950" dirty="0"/>
          </a:p>
        </p:txBody>
      </p:sp>
      <p:sp>
        <p:nvSpPr>
          <p:cNvPr id="6" name="Text 4"/>
          <p:cNvSpPr txBox="1"/>
          <p:nvPr/>
        </p:nvSpPr>
        <p:spPr>
          <a:xfrm>
            <a:off x="640080" y="1325880"/>
            <a:ext cx="10911535" cy="1248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Formüller soyut kalmasın; tanıdık yüksekliklerden bırakılan bir cismin ne kadar sürede ve hangi hızla yere ulaştığına bakalım (g = 10 m/s², hava direnci yok):</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800" b="1" spc="-50" kern="0" dirty="0">
                <a:solidFill>
                  <a:srgbClr val="0E1426"/>
                </a:solidFill>
                <a:latin typeface="Cambria" pitchFamily="34" charset="0"/>
                <a:ea typeface="Cambria" pitchFamily="34" charset="-122"/>
                <a:cs typeface="Cambria" pitchFamily="34" charset="-120"/>
              </a:rPr>
              <a:t>Sayılarla hisset: ne kadar hızlı, ne kadar sürede?</a:t>
            </a:r>
            <a:endParaRPr lang="en-US" sz="28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7</a:t>
            </a:r>
            <a:endParaRPr lang="en-US" sz="95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4000896"/>
                <a:gridCol w="1636730"/>
                <a:gridCol w="2182307"/>
                <a:gridCol w="3091602"/>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Nereden</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Yükseklik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Düşme süresi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Çarpma hızı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Masadan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0,8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0,4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 m/s (14 km/h)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İkinci kat balkonundan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 m/s (36 km/h)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Altı katlı binadan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20 m/s (72 km/h)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On beş katlı binadan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45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30 m/s (108 km/h)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Kırk katlı binadan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125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50 m/s (180 km/h)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800" b="1" spc="-50" kern="0" dirty="0">
                <a:solidFill>
                  <a:srgbClr val="0E1426"/>
                </a:solidFill>
                <a:latin typeface="Cambria" pitchFamily="34" charset="0"/>
                <a:ea typeface="Cambria" pitchFamily="34" charset="-122"/>
                <a:cs typeface="Cambria" pitchFamily="34" charset="-120"/>
              </a:rPr>
              <a:t>Sayılarla hisset: ne kadar hızlı, ne kadar sürede?</a:t>
            </a:r>
            <a:endParaRPr lang="en-US" sz="28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7</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Tablodan hemen okunan bir düzen var: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yükseklik 4 katına çıkınca süre ve hız yalnızca 2 katına çıkıyor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(5 m → 20 m: 1 s → 2 s).</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Çünkü süre de hız da yüksekliğin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kareköküyle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büyür.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125 m, 5 m'nin 25 katıdır; süre ise √25 = 5 katıdır.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42</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800" b="1" spc="-50" kern="0" dirty="0">
                <a:solidFill>
                  <a:srgbClr val="0E1426"/>
                </a:solidFill>
                <a:latin typeface="Cambria" pitchFamily="34" charset="0"/>
                <a:ea typeface="Cambria" pitchFamily="34" charset="-122"/>
                <a:cs typeface="Cambria" pitchFamily="34" charset="-120"/>
              </a:rPr>
              <a:t>Sayılarla hisset: ne kadar hızlı, ne kadar sürede?</a:t>
            </a:r>
            <a:endParaRPr lang="en-US" sz="28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7</a:t>
            </a:r>
            <a:endParaRPr lang="en-US" sz="950" dirty="0"/>
          </a:p>
        </p:txBody>
      </p:sp>
      <p:sp>
        <p:nvSpPr>
          <p:cNvPr id="6" name="Shape 4"/>
          <p:cNvSpPr/>
          <p:nvPr/>
        </p:nvSpPr>
        <p:spPr>
          <a:xfrm>
            <a:off x="3058897" y="1234440"/>
            <a:ext cx="6073901"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serbest-dusme-05.png">    </p:cNvPr>
          <p:cNvPicPr>
            <a:picLocks noChangeAspect="1"/>
          </p:cNvPicPr>
          <p:nvPr/>
        </p:nvPicPr>
        <p:blipFill>
          <a:blip r:embed="rId1"/>
          <a:stretch>
            <a:fillRect/>
          </a:stretch>
        </p:blipFill>
        <p:spPr>
          <a:xfrm>
            <a:off x="3287497" y="1325880"/>
            <a:ext cx="5616701"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Tablodaki dört yükseklik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aynı ölçekle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çizildi; mor sayılar düşme süresi, mavi sayılar çarpma hızı. Binalar hızla uzarken süre ve hız yavaş artıyor: 5 m'den 20 m'ye yükseklik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4 kat</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olunca süre de hız da yalnızca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2 kat</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oluyor. 125 metrelik kulenin düşüşü bile 5 saniyede biter.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43</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800" b="1" spc="-50" kern="0" dirty="0">
                <a:solidFill>
                  <a:srgbClr val="0E1426"/>
                </a:solidFill>
                <a:latin typeface="Cambria" pitchFamily="34" charset="0"/>
                <a:ea typeface="Cambria" pitchFamily="34" charset="-122"/>
                <a:cs typeface="Cambria" pitchFamily="34" charset="-120"/>
              </a:rPr>
              <a:t>Sayılarla hisset: ne kadar hızlı, ne kadar sürede?</a:t>
            </a:r>
            <a:endParaRPr lang="en-US" sz="28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7</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tabloyu tersinden de okuyabilirsin: çarpma hızını ikiye katlamak için yüksekliği dört katına çıkarmak gerekir.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de süreye bak: 125 metrelik düşüş bile yalnızca 5 saniye sürüyor.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Serbest düşme, gündelik hayatta gördüğümüz en hızlı gelişen hareketlerden biridir.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44</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800" b="1" spc="-50" kern="0" dirty="0">
                <a:solidFill>
                  <a:srgbClr val="0E1426"/>
                </a:solidFill>
                <a:latin typeface="Cambria" pitchFamily="34" charset="0"/>
                <a:ea typeface="Cambria" pitchFamily="34" charset="-122"/>
                <a:cs typeface="Cambria" pitchFamily="34" charset="-120"/>
              </a:rPr>
              <a:t>Sayılarla hisset: ne kadar hızlı, ne kadar sürede?</a:t>
            </a:r>
            <a:endParaRPr lang="en-US" sz="28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7</a:t>
            </a:r>
            <a:endParaRPr lang="en-US" sz="950" dirty="0"/>
          </a:p>
        </p:txBody>
      </p:sp>
      <p:sp>
        <p:nvSpPr>
          <p:cNvPr id="6" name="Shape 4"/>
          <p:cNvSpPr/>
          <p:nvPr/>
        </p:nvSpPr>
        <p:spPr>
          <a:xfrm>
            <a:off x="640080" y="1325880"/>
            <a:ext cx="10911535" cy="1664208"/>
          </a:xfrm>
          <a:prstGeom prst="roundRect">
            <a:avLst>
              <a:gd name="adj" fmla="val 76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335024"/>
          </a:xfrm>
          <a:prstGeom prst="rect">
            <a:avLst/>
          </a:prstGeom>
          <a:solidFill>
            <a:srgbClr val="3C8C21"/>
          </a:solidFill>
          <a:ln/>
        </p:spPr>
      </p:sp>
      <p:sp>
        <p:nvSpPr>
          <p:cNvPr id="8" name="Text 6"/>
          <p:cNvSpPr txBox="1"/>
          <p:nvPr/>
        </p:nvSpPr>
        <p:spPr>
          <a:xfrm>
            <a:off x="950976" y="1453896"/>
            <a:ext cx="10399471" cy="1408176"/>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Kendi tepki süreni ölç:</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Sayfanın 04 numaralı bölümündeki cetvel deneyi bu tabloyu tersine kullanır. Bir arkadaşın cetveli habersizce bıraktığında onu kaç santimetre sonra yakaladığını ölçersin; t = √(2d/g) bağıntısı düşme mesafesini tepki süresine çevirir. 20 cm yaklaşık 0,2 saniye demektir.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45</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800" b="1" spc="-50" kern="0" dirty="0">
                <a:solidFill>
                  <a:srgbClr val="0E1426"/>
                </a:solidFill>
                <a:latin typeface="Cambria" pitchFamily="34" charset="0"/>
                <a:ea typeface="Cambria" pitchFamily="34" charset="-122"/>
                <a:cs typeface="Cambria" pitchFamily="34" charset="-120"/>
              </a:rPr>
              <a:t>Sayılarla hisset: ne kadar hızlı, ne kadar sürede?</a:t>
            </a:r>
            <a:endParaRPr lang="en-US" sz="28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7 / 7</a:t>
            </a:r>
            <a:endParaRPr lang="en-US" sz="950" dirty="0"/>
          </a:p>
        </p:txBody>
      </p:sp>
      <p:sp>
        <p:nvSpPr>
          <p:cNvPr id="6" name="Shape 4"/>
          <p:cNvSpPr/>
          <p:nvPr/>
        </p:nvSpPr>
        <p:spPr>
          <a:xfrm>
            <a:off x="3267780" y="1271016"/>
            <a:ext cx="5656136" cy="3807333"/>
          </a:xfrm>
          <a:prstGeom prst="roundRect">
            <a:avLst>
              <a:gd name="adj" fmla="val 336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serbest-dusme-ek1-genis.jpg">    </p:cNvPr>
          <p:cNvPicPr>
            <a:picLocks noChangeAspect="1"/>
          </p:cNvPicPr>
          <p:nvPr/>
        </p:nvPicPr>
        <p:blipFill>
          <a:blip r:embed="rId1"/>
          <a:stretch>
            <a:fillRect/>
          </a:stretch>
        </p:blipFill>
        <p:spPr>
          <a:xfrm>
            <a:off x="3322644" y="1325880"/>
            <a:ext cx="5546408" cy="3697605"/>
          </a:xfrm>
          <a:prstGeom prst="rect">
            <a:avLst/>
          </a:prstGeom>
        </p:spPr>
      </p:pic>
      <p:sp>
        <p:nvSpPr>
          <p:cNvPr id="8" name="Text 5"/>
          <p:cNvSpPr txBox="1"/>
          <p:nvPr/>
        </p:nvSpPr>
        <p:spPr>
          <a:xfrm>
            <a:off x="1249528" y="5261229"/>
            <a:ext cx="9692640" cy="883539"/>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Cetvel bırakıldığı anda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serbest düşmeye başlar ve yakalanana kadar düştüğü mesafe, geçen süreyi söyler: t = √(2d / g). Cetvel parmaklarının arasından ne kadar çok kayarsa tepki süren o kadar uzundur; 20 cm yaklaşık 0,2 saniye demektir.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46</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800" b="1" spc="-50" kern="0" dirty="0">
                <a:solidFill>
                  <a:srgbClr val="0E1426"/>
                </a:solidFill>
                <a:latin typeface="Cambria" pitchFamily="34" charset="0"/>
                <a:ea typeface="Cambria" pitchFamily="34" charset="-122"/>
                <a:cs typeface="Cambria" pitchFamily="34" charset="-120"/>
              </a:rPr>
              <a:t>Sayılarla hisset: ne kadar hızlı, ne kadar sürede?</a:t>
            </a:r>
            <a:endParaRPr lang="en-US" sz="28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Süre ve çarpma hızı yüksekliğin kareköküyle büyür: 4 kat yükseklik 2 kat süre ve 2 kat hız demektir. 5 m'den düşüş 1 s, 45 m'den düşüş 3 s sürer.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47</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5 m yükseklikten düşüş 1 s sürüyorsa, 20 m yükseklikten kaç saniye sürer?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05 · Sayılarla hisset: ne kadar hızlı, ne kadar sürede?</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48</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5 m yükseklikten düşüş 1 s sürüyorsa, 20 m yükseklikten kaç saniye sürer?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Dört değil,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iki saniye</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Yükseklik 4 katına çıkınca süre √4 = 2 katına çıkar. Kontrol: h = ½·10·2² = 20 m ✓. “Yükseklik kaç kat, süre de o kat” diye düşünmek serbest düşmedeki en yaygın tuzaktır.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49</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Grafikler ve yorumu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Sayfadaki laboratuvarın altında bu üç grafik canlı çiziliyor.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Ezberlemek yerine eğim–alan ilişkisini kurmak yeterli: bir grafiğin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eğimi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bir üstteki büyüklüğü,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altındaki alan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bir alttaki büyüklüğü verir.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50</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Grafikler ve yorumu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Shape 4"/>
          <p:cNvSpPr/>
          <p:nvPr/>
        </p:nvSpPr>
        <p:spPr>
          <a:xfrm>
            <a:off x="1020928" y="1234440"/>
            <a:ext cx="10149840" cy="3857812"/>
          </a:xfrm>
          <a:prstGeom prst="roundRect">
            <a:avLst>
              <a:gd name="adj" fmla="val 37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serbest-dusme-06.png">    </p:cNvPr>
          <p:cNvPicPr>
            <a:picLocks noChangeAspect="1"/>
          </p:cNvPicPr>
          <p:nvPr/>
        </p:nvPicPr>
        <p:blipFill>
          <a:blip r:embed="rId1"/>
          <a:stretch>
            <a:fillRect/>
          </a:stretch>
        </p:blipFill>
        <p:spPr>
          <a:xfrm>
            <a:off x="1249528" y="1325880"/>
            <a:ext cx="9692640" cy="3674932"/>
          </a:xfrm>
          <a:prstGeom prst="rect">
            <a:avLst/>
          </a:prstGeom>
        </p:spPr>
      </p:pic>
      <p:sp>
        <p:nvSpPr>
          <p:cNvPr id="8" name="Text 5"/>
          <p:cNvSpPr txBox="1"/>
          <p:nvPr/>
        </p:nvSpPr>
        <p:spPr>
          <a:xfrm>
            <a:off x="1249528" y="5275132"/>
            <a:ext cx="9692640" cy="869636"/>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Üç grafiği ezberlemek yerine birbirine bağla: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bir grafiğin eğimi bir üsttekini, altındaki alan bir alttakini verir.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v–t doğrusunun altındaki üçgenin alanı ½·t·(g·t) = ½g·t²'dir — yani tam olarak alınan yol. Sayfadaki laboratuvarın altında bu üç grafik sen izlerken çiziliyor.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51</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Grafikler ve yorumu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991699"/>
                <a:gridCol w="5029776"/>
                <a:gridCol w="2514888"/>
                <a:gridCol w="2375172"/>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Grafik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Şekli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Eğimi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Altındaki alan</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 – 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Zaman eksenine paralel doğru (a = 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Sıfır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Hız değişimi (Δv)</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v – 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Orijinden geçen doğru (v = g·t)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İvme, 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Alınan yol (h)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 – 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Yukarı açılan parabol (h = ½g·t²)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O andaki anlık hız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52</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Grafikler ve yorumu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v – t doğrusunun altındaki üçgenin alanı ½·t·(g·t) = ½·g·t² eder; bu da tam olarak alınan yoldur.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Grafikler birbirini böyle doğrular.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grafik sorusunda üç adımı sırayla uygula:</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53</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Grafikler ve yorumu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2114550"/>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Eksenleri oku:</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düşey eksende ne var (a, v, h)? Birimi ne?</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Şekli tanı: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yatay doğru sabit, eğik doğru düzgün değişen, parabol karesel büyüyen bir büyüklük demektir.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Eğime ya da alana bak: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soru bir üst büyüklüğü soruyorsa eğim, bir alt büyüklüğü soruyorsa alan hesapla.</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54</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Grafikler ve yorumu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Serbest düşmede a–t yatay, v–t orijinden geçen eğik bir doğru, h–t yukarı açılan bir paraboldür. Eğim bir üst büyüklüğü, alan bir alt büyüklüğü verir.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55</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Eşit zaman aralıkları: 1 : 3 : 5 kuralı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14310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Düşüşü eşit süreli dilimlere bölelim (her biri Δt).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İlk dilimde alınan yol h = ½·g·Δt² olsun.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 zaman ardışık dilimlerde alınan yollar:</a:t>
            </a:r>
            <a:endParaRPr lang="en-US" sz="2200" dirty="0"/>
          </a:p>
        </p:txBody>
      </p:sp>
      <p:sp>
        <p:nvSpPr>
          <p:cNvPr id="7" name="Shape 5"/>
          <p:cNvSpPr/>
          <p:nvPr/>
        </p:nvSpPr>
        <p:spPr>
          <a:xfrm>
            <a:off x="640080" y="2958084"/>
            <a:ext cx="3606394"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958084"/>
            <a:ext cx="36063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1h : 3h : 5h : 7h : 9h</a:t>
            </a:r>
            <a:endParaRPr lang="en-US" sz="1800" dirty="0"/>
          </a:p>
        </p:txBody>
      </p:sp>
      <p:sp>
        <p:nvSpPr>
          <p:cNvPr id="9" name="Shape 7"/>
          <p:cNvSpPr/>
          <p:nvPr/>
        </p:nvSpPr>
        <p:spPr>
          <a:xfrm>
            <a:off x="4392778" y="2958084"/>
            <a:ext cx="2355494"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4392778" y="2958084"/>
            <a:ext cx="23554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(tek sayılar)</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56</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Eşit zaman aralıkları: 1 : 3 : 5 kuralı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Baştan itibaren toplam yollar ise 1h, 4h, 9h, 16h, 25h olur — yani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1 : 4 : 9 : 16</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sürenin karesiyle orantılı.</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dizi de aynı şeyi söyler: toplam yollardaki farkları alırsan tek sayıları bulursun.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Neden tek sayılar?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Çünkü ardışık iki karenin farkı her zaman tek sayıdır: n² − (n−1)² = 2n − 1.</a:t>
            </a:r>
            <a:endParaRPr lang="en-US" sz="2200" dirty="0"/>
          </a:p>
        </p:txBody>
      </p:sp>
      <p:sp>
        <p:nvSpPr>
          <p:cNvPr id="7" name="Text 5"/>
          <p:cNvSpPr txBox="1"/>
          <p:nvPr/>
        </p:nvSpPr>
        <p:spPr>
          <a:xfrm>
            <a:off x="640080" y="4591812"/>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4 − 1 = 3, 9 − 4 = 5, 16 − 9 = 7…</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57</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Eşit zaman aralıkları: 1 : 3 : 5 kuralı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Hızlar da eşit sürelerde eşit miktarda artar: Δt sonunda g·Δt, 2Δt sonunda 2g·Δt… yani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1 : 2 : 3 : 4</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üç diziyi karıştırmamak sınavda zaman kazandırır.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58</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Eşit zaman aralıkları: 1 : 3 : 5 kuralı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2785910" y="1234440"/>
            <a:ext cx="6619875"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serbest-dusme-07.png">    </p:cNvPr>
          <p:cNvPicPr>
            <a:picLocks noChangeAspect="1"/>
          </p:cNvPicPr>
          <p:nvPr/>
        </p:nvPicPr>
        <p:blipFill>
          <a:blip r:embed="rId1"/>
          <a:stretch>
            <a:fillRect/>
          </a:stretch>
        </p:blipFill>
        <p:spPr>
          <a:xfrm>
            <a:off x="3014510" y="1325880"/>
            <a:ext cx="6162675"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Aynı düşüşün üç ayrı okuması.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Her aralıkta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alınan yollar tek sayılarla gider (1 : 3 : 5 : 7);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baştan itibaren toplam</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yol sürenin karesiyle büyür (1 : 4 : 9 : 16);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hız</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ise eşit adımlarla artar (1 : 2 : 3 : 4). Toplam yollardaki farkları alırsan tek sayıları bulursun — üç dizi aynı hareketi anlatır.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59</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Eşit zaman aralıkları: 1 : 3 : 5 kuralı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Eşit süre dilimlerinde alınan yollar 1 : 3 : 5 : 7, baştan itibaren toplam yollar 1 : 4 : 9 : 16, hızlar 1 : 2 : 3 : 4 oranında gider.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60</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Derinleşme: cisim atılınca, hava işe karışınca ve serbest düşme gerçek hayata çıkınca ne olur?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Düşey atış: yukarı fırlatınca ne değişir?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Gerçekte hava direnci ve limit hız</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Serbest düşme gerçek dünyada</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dersler-sekiller/serbest-dusme-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Text 8"/>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Lunaparktaki düşme kulesi, serbest düşmeyi birkaç saniyeliğine yaşatır. 45 metrelik bir düşüş yaklaşık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3 saniye</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sürer ve koltuklar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108 km/h</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hıza ulaşır; ardından mıknatıslı frenler yumuşakça devreye girer. Düşüş boyunca koltuk yolcuyu itmez, yolcu kendini ağırlıksız hisseder.</a:t>
            </a:r>
            <a:endParaRPr lang="en-US" sz="1150" dirty="0"/>
          </a:p>
        </p:txBody>
      </p:sp>
      <p:sp>
        <p:nvSpPr>
          <p:cNvPr id="12" name="Shape 9"/>
          <p:cNvSpPr/>
          <p:nvPr/>
        </p:nvSpPr>
        <p:spPr>
          <a:xfrm>
            <a:off x="640080" y="6382512"/>
            <a:ext cx="128016" cy="128016"/>
          </a:xfrm>
          <a:prstGeom prst="roundRect">
            <a:avLst>
              <a:gd name="adj" fmla="val 28571"/>
            </a:avLst>
          </a:prstGeom>
          <a:solidFill>
            <a:srgbClr val="C6F36B"/>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dersler.perinet.org/serbest-dusme.html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61</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Düşey atış: yukarı fırlatınca ne değişir?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Cismi v₀ hızıyla yukarı atarsan artık “serbest düşme” değil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düşey atış</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olur; ama ivme yine g'dir ve yine aşağı yöndedir.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Yukarı çıkarken hız ile ivme zıt yönlü olduğu için cisim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yavaşlayarak</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çıkar: her saniye hızından 10 m/s kaybeder.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Tepe noktada hızı sıfırlanır, sonra serbest düşmeye başlar.</a:t>
            </a:r>
            <a:endParaRPr lang="en-US" sz="2200" dirty="0"/>
          </a:p>
        </p:txBody>
      </p:sp>
      <p:sp>
        <p:nvSpPr>
          <p:cNvPr id="7" name="Shape 5"/>
          <p:cNvSpPr/>
          <p:nvPr/>
        </p:nvSpPr>
        <p:spPr>
          <a:xfrm>
            <a:off x="640080" y="3729228"/>
            <a:ext cx="3050438"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3729228"/>
            <a:ext cx="3050438"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hmaks = v₀² / (2g)</a:t>
            </a:r>
            <a:endParaRPr lang="en-US" sz="1800" dirty="0"/>
          </a:p>
        </p:txBody>
      </p:sp>
      <p:sp>
        <p:nvSpPr>
          <p:cNvPr id="9" name="Shape 7"/>
          <p:cNvSpPr/>
          <p:nvPr/>
        </p:nvSpPr>
        <p:spPr>
          <a:xfrm>
            <a:off x="3836822" y="3729228"/>
            <a:ext cx="2633472"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3836822" y="3729228"/>
            <a:ext cx="263347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tçıkış = v₀ / g</a:t>
            </a:r>
            <a:endParaRPr lang="en-US" sz="1800" dirty="0"/>
          </a:p>
        </p:txBody>
      </p:sp>
      <p:sp>
        <p:nvSpPr>
          <p:cNvPr id="11" name="Shape 9"/>
          <p:cNvSpPr/>
          <p:nvPr/>
        </p:nvSpPr>
        <p:spPr>
          <a:xfrm>
            <a:off x="6616598" y="3729228"/>
            <a:ext cx="2911450"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6616598" y="3729228"/>
            <a:ext cx="291145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ttoplam = 2v₀ / g</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62</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Düşey atış: yukarı fırlatınca ne değişir?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Hareket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simetriktir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çıkış süresi iniş süresine eşittir ve cisim aynı yükseklikten geçerken hızının büyüklüğü çıkışta da inişte de aynıdır, yalnızca yönü terstir.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Atıldığı noktaya döndüğünde sürati v₀'a eşittir.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63</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Düşey atış: yukarı fırlatınca ne değişir?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Shape 4"/>
          <p:cNvSpPr/>
          <p:nvPr/>
        </p:nvSpPr>
        <p:spPr>
          <a:xfrm>
            <a:off x="640080" y="1399032"/>
            <a:ext cx="64008" cy="310896"/>
          </a:xfrm>
          <a:prstGeom prst="rect">
            <a:avLst/>
          </a:prstGeom>
          <a:solidFill>
            <a:srgbClr val="5F4BD8"/>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İşaret seçimi</a:t>
            </a:r>
            <a:endParaRPr lang="en-US" sz="2200" dirty="0"/>
          </a:p>
        </p:txBody>
      </p:sp>
      <p:sp>
        <p:nvSpPr>
          <p:cNvPr id="8" name="Text 6"/>
          <p:cNvSpPr txBox="1"/>
          <p:nvPr/>
        </p:nvSpPr>
        <p:spPr>
          <a:xfrm>
            <a:off x="640080" y="1892808"/>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Atış problemlerinde en sık hata işaretlerde yapılır.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Başta bir yönü pozitif seç ve soru boyunca değiştirme.</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Yukarıyı pozitif seçersen v₀ pozitif, g negatif olur: v = v₀ − g·t ve h = v₀·t − ½·g·t².</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denklemlerde h negatif çıkarsa cisim atıldığı noktanın altına inmiş demektir; bu bir hata değil, balkondan atışlarda beklenen sonuçtur.</a:t>
            </a:r>
            <a:endParaRPr lang="en-US" sz="22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64</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Düşey atış: yukarı fırlatınca ne değişir?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Cisim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aşağı doğru</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v₀ hızıyla atılırsa hız ile ivme aynı yöndedir; cisim baştan itibaren hızlanır.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Aşağıyı pozitif alarak v = v₀ + g·t ve h = v₀·t + ½·g·t² yazılır.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Serbest düşme, bu denklemlerin v₀ = 0 olduğu özel hâlidir.</a:t>
            </a:r>
            <a:endParaRPr lang="en-US" sz="2200" dirty="0"/>
          </a:p>
        </p:txBody>
      </p:sp>
      <p:sp>
        <p:nvSpPr>
          <p:cNvPr id="7" name="Shape 5"/>
          <p:cNvSpPr/>
          <p:nvPr/>
        </p:nvSpPr>
        <p:spPr>
          <a:xfrm>
            <a:off x="640080" y="3343656"/>
            <a:ext cx="10911535" cy="1033272"/>
          </a:xfrm>
          <a:prstGeom prst="roundRect">
            <a:avLst>
              <a:gd name="adj" fmla="val 1238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58368" y="3508248"/>
            <a:ext cx="54864" cy="704088"/>
          </a:xfrm>
          <a:prstGeom prst="rect">
            <a:avLst/>
          </a:prstGeom>
          <a:solidFill>
            <a:srgbClr val="A56209"/>
          </a:solidFill>
          <a:ln/>
        </p:spPr>
      </p:sp>
      <p:sp>
        <p:nvSpPr>
          <p:cNvPr id="9" name="Text 7"/>
          <p:cNvSpPr txBox="1"/>
          <p:nvPr/>
        </p:nvSpPr>
        <p:spPr>
          <a:xfrm>
            <a:off x="950976" y="3471672"/>
            <a:ext cx="10399471" cy="777240"/>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Tepe noktada ivme sıfır değildir.</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Hız sıfırdır, ivme hâlâ g'dir ve aşağı doğrudur. İvme sıfır olsaydı cisim orada asılı kalırdı.</a:t>
            </a:r>
            <a:endParaRPr lang="en-US" sz="1800" dirty="0"/>
          </a:p>
        </p:txBody>
      </p:sp>
      <p:sp>
        <p:nvSpPr>
          <p:cNvPr id="11" name="Shape 8"/>
          <p:cNvSpPr/>
          <p:nvPr/>
        </p:nvSpPr>
        <p:spPr>
          <a:xfrm>
            <a:off x="640080" y="6382512"/>
            <a:ext cx="128016" cy="128016"/>
          </a:xfrm>
          <a:prstGeom prst="roundRect">
            <a:avLst>
              <a:gd name="adj" fmla="val 28571"/>
            </a:avLst>
          </a:prstGeom>
          <a:solidFill>
            <a:srgbClr val="A9E648"/>
          </a:solidFill>
          <a:ln/>
        </p:spPr>
      </p:sp>
      <p:sp>
        <p:nvSpPr>
          <p:cNvPr id="12"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3"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65</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Düşey atış: yukarı fırlatınca ne değişir?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571053" y="1234440"/>
            <a:ext cx="7049589"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serbest-dusme-08.png">    </p:cNvPr>
          <p:cNvPicPr>
            <a:picLocks noChangeAspect="1"/>
          </p:cNvPicPr>
          <p:nvPr/>
        </p:nvPicPr>
        <p:blipFill>
          <a:blip r:embed="rId1"/>
          <a:stretch>
            <a:fillRect/>
          </a:stretch>
        </p:blipFill>
        <p:spPr>
          <a:xfrm>
            <a:off x="2799653" y="1325880"/>
            <a:ext cx="6592389"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Düşey atış, serbest düşmenin aynadaki görüntüsüdür: cisim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aynı düşey çizgi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üzerinde çıkar ve iner,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çıkış süresi iniş süresine eşittir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Aynı yükseklikten geçerken çıkarkenki (sol) ve inerkenki (sağ) hız okları eşit boydadır. Tepe noktada hız sıfırlanır ama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ivme sıfırlanmaz</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 sarı oklar her yerde aynı boydadır. İvme orada gerçekten sıfır olsaydı cisim havada asılı kalırdı.</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66</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Düşey atış: yukarı fırlatınca ne değişir?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Düşey atışta ivme her an g'dir ve aşağı yönlüdür; çıkış iniş simetriktir, tepe noktada yalnızca hız sıfırlanır. Başta seçtiğin pozitif yönü soru boyunca koru.</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67</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Balkondan bir top aynı süratle bir kez yukarı, bir kez aşağı atılıyor. Hangisi yere daha hızlı çarpar?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08 · Düşey atış: yukarı fırlatınca ne değişir?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68</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Balkondan bir top aynı süratle bir kez yukarı, bir kez aşağı atılıyor. Hangisi yere daha hızlı çarpar?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İkisi de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aynı süratle</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çarpar. Yukarı atılan top simetri gereği balkon hizasına v₀ süratiyle ve aşağı doğru hareket ederek döner; o andan sonra tam olarak aşağı atılan top gibi davranır. Fark yalnızca süredir: yukarı atılan top havada 2v₀/g kadar daha uzun kalır. Aynı sonucu v² = v₀² + 2gh da verir; bu bağıntıda atış yönü hiç geçmez.</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69</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Gerçekte hava direnci ve limit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29362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Şimdiye kadar hava direncini ihmal ettik.</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Hava direnci hıza bağlı olarak artan, harekete ters yönlü bir kuvvettir.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Cisim hızlandıkça direnç büyür; ağırlığa eşitlendiği anda net kuvvet sıfırlanır, ivme biter ve cisim sabit hızla düşmeye devam eder.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sabit hıza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limit hız</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70</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Gerçekte hava direnci ve limit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11074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kuvvet olmasaydı yağmurun altında durmak hayli tehlikeli olurdu: yağmur bulutları yaklaşık 2 km yüksekte olduğuna göre, damlalar yere v = √(2·9,81·2000) ≈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198 m/s</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hızla — saatte 700 kilometreyi aşan bir hızla — çarpardı.</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Hava direnci sayesinde bu hız 8–9 m/s'de kalıyor.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71</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Gerçekte hava direnci ve limit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137845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Yağmur damlası: yaklaşık 8–9 m/s</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Paraşütsüz atlayan bir insan: yaklaşık 55 m/s</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Paraşüt açıldığında: yaklaşık 5 m/s</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72</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Gerçekte hava direnci ve limit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Yüzey alanı büyük, kütlesi küçük cisimler (tüy, kâğıt, tüy topu) limit hıza çok çabuk ulaşır; bu yüzden “yavaş düşüyor” gibi görünürler.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Havası boşaltılmış bir tüpte bu fark tamamen kaybolur.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Günlük hızlarda (birkaç metreden bırakılan bilye, taş, top) hava direnci ağırlığın yanında küçük kalır; serbest düşme bağıntıları bu yüzden gerçek sonuca çok yakın sonuç verir.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Hava direncinin ayrıntıları bu ünitenin “Limit hız” konusunda.</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73</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Gerçekte hava direnci ve limit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1758798" y="1234440"/>
            <a:ext cx="8674100"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serbest-dusme-09.png">    </p:cNvPr>
          <p:cNvPicPr>
            <a:picLocks noChangeAspect="1"/>
          </p:cNvPicPr>
          <p:nvPr/>
        </p:nvPicPr>
        <p:blipFill>
          <a:blip r:embed="rId1"/>
          <a:stretch>
            <a:fillRect/>
          </a:stretch>
        </p:blipFill>
        <p:spPr>
          <a:xfrm>
            <a:off x="1987398" y="1325880"/>
            <a:ext cx="8216900"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Hava direnci hız arttıkça büyür. Ağırlığa eşitlendiği anda net kuvvet sıfırlanır, ivme biter ve cisim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sabit hızla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düşmeye devam eder. v–t eğrisi bu yüzden düz bir doğru olarak başlayıp yatay bir çizgiye doğru yatar; mor kesikli çizgi hava direnci hiç olmasaydı hızın nereye gideceğini gösteriyor.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74</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Gerçekte hava direnci ve limit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Havada düşen bir cisimde direnç hızla büyür ve ağırlığa eşitlenince cisim limit hızla sabit düşer. Kısa düşüşlerde ve yoğun cisimlerde bu etki küçüktür; serbest düşme iyi bir yaklaşımdır.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75</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Serbest düşme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Serbest düşme yalnızca ders kitabı problemi değildir; lunaparktan uzay araştırmalarına kadar bilerek kullanılır.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Ortak noktaları şu: cisim ve içindeki her şey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aynı ivmeyle düştüğü</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sürece birbirine bastırmaz.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duyguya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ağırlıksızlık</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76</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Serbest düşme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75920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Düşme kuleleri ve tüpleri: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Araştırma merkezlerinde havası boşaltılmış yüz metreden uzun tüplerin içine deney kapsülleri bırakılır. Kapsülün düştüğü birkaç saniye boyunca içindeki deney ağırlıksız ortamda çalışır; alevlerin, sıvıların ve kristallerin yerçekimsiz davranışı böyle incelenir.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Parabolik uçuşlar: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Astronot adayları, bir uçağın motor gücünü ayarlayarak kendisini bir atış yörüngesine bıraktığı uçuşlarda, her seferinde yaklaşık 20 saniye ağırlıksız kalır. Uçak ve içindekiler birlikte serbest hareket eder.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77</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Serbest düşme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119557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g'yi ölçmek: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Bir cismin bilinen bir yüksekliği kaç saniyede düştüğü ölçülürse g = 2h/t² ile yerçekimi ivmesi bulunur. Jeologlar g'deki çok küçük farkları ölçerek yer altındaki maden ve petrol yataklarını arar.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78</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Serbest düşme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2869092" y="1234440"/>
            <a:ext cx="6453511"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serbest-dusme-10.png">    </p:cNvPr>
          <p:cNvPicPr>
            <a:picLocks noChangeAspect="1"/>
          </p:cNvPicPr>
          <p:nvPr/>
        </p:nvPicPr>
        <p:blipFill>
          <a:blip r:embed="rId1"/>
          <a:stretch>
            <a:fillRect/>
          </a:stretch>
        </p:blipFill>
        <p:spPr>
          <a:xfrm>
            <a:off x="3097692" y="1325880"/>
            <a:ext cx="5996311"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Düşme tüpünün havası boşaltıldığı için kapsül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gerçekten serbest düşer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Kapsül ve içindeki top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aynı g ivmesiyle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düşer; bu yüzden top tabana bastırmaz, kapsüle göre asılı kalır. İçerideki deney bu birkaç saniye boyunca ağırlıksız ortamda çalışır; en altta fren bölümü kapsülü durdurur.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79</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Serbest düşme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Uzay istasyonundaki astronotlar da aynı nedenle süzülür.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İstasyonun bulunduğu yaklaşık 400 km yükseklikte yerçekimi ivmesi hâlâ 8,7 m/s² civarındadır, yani yeryüzündekinin yaklaşık %89'u.</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İstasyon ve içindeki her şey Dünya'nın çevresinde sürekli olarak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birlikte düşer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yalnızca yana doğru o kadar hızlı gider ki yere hiç ulaşamaz.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80</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Serbest düşme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Aynı ivmeyle birlikte düşen cisimler birbirine bastırmaz ve ağırlıksızlık hissedilir. Düşme kuleleri, parabolik uçuşlar ve uzay istasyonu bu ilkeyle çalışır.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81</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Düşen bir asansörün içinde elinden bıraktığın anahtar ne yapar?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10 · Serbest düşme gerçek dünyada</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82</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Düşen bir asansörün içinde elinden bıraktığın anahtar ne yapar?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Anahtar da sen de asansör de aynı ivmeyle, g ile düştüğünüz için anahtar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elinin yanında asılı kalıyormuş gibi</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görünür. Yere göre düşmeye devam eder, ama sana göre hareketsizdir. Ağırlıksızlık yerçekiminin yokluğu değil, herkesin birlikte serbest düşmesidir.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83</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sınavda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6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2 saniye sonra hız ve yol</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45 m yükseklikten bırakılan cisim</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Aynı yükseklik, farklı gökcismi</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20 m/s ile yukarı atılan cisim</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Son 1 saniyede 25 m düşen cisim</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Balkondan yukarı atılan top</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40080" y="6382512"/>
            <a:ext cx="128016" cy="128016"/>
          </a:xfrm>
          <a:prstGeom prst="roundRect">
            <a:avLst>
              <a:gd name="adj" fmla="val 28571"/>
            </a:avLst>
          </a:prstGeom>
          <a:solidFill>
            <a:srgbClr val="C6F36B"/>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dersler.perinet.org/serbest-dusme.html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84</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6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2 saniye sonra hız ve yol</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Bir köprüden serbest bırakılan taş 2 saniye sonra suya çarpıyor. (a) Taşın suya çarpma hızını, (b) köprünün su yüzeyinden yüksekliğini bulunuz.</a:t>
            </a:r>
            <a:endParaRPr lang="en-US" sz="2000" dirty="0"/>
          </a:p>
        </p:txBody>
      </p:sp>
      <p:sp>
        <p:nvSpPr>
          <p:cNvPr id="11" name="Shape 9"/>
          <p:cNvSpPr/>
          <p:nvPr/>
        </p:nvSpPr>
        <p:spPr>
          <a:xfrm>
            <a:off x="2953360" y="3121152"/>
            <a:ext cx="6284976"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serbest-dusme-11.png">    </p:cNvPr>
          <p:cNvPicPr>
            <a:picLocks noChangeAspect="1"/>
          </p:cNvPicPr>
          <p:nvPr/>
        </p:nvPicPr>
        <p:blipFill>
          <a:blip r:embed="rId1"/>
          <a:stretch>
            <a:fillRect/>
          </a:stretch>
        </p:blipFill>
        <p:spPr>
          <a:xfrm>
            <a:off x="3181960" y="3230880"/>
            <a:ext cx="5827776"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85</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6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2 saniye sonra hız ve yol</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Bir köprüden serbest bırakılan taş 2 saniye sonra suya çarpıyor. (a) Taşın suya çarpma hızını, (b) köprünün su yüzeyinden yüksekliğini bulunuz.</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v₀ = 0 (taş serbest bırakılıyor)</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t = 2 s</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 = 10 m/s²</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suya çarpma hızı v</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köprünün yüksekliği h</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86</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2 saniye sonra hız ve yol</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Hız her saniye 10 m/s artar: v = g·t = 10 · 2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20 m/s</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h = ½·g·t² = ½ · 10 · 2²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20 m</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ortalama hız (0 + 20)/2 = 10 m/s, 2 saniyede 10 · 2 = 20 m ✓</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87</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6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45 m yükseklikten bırakılan cisim</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45 m yüksekten serbest bırakılan bir cisim için: (a) düşme süresini, (b) yere çarpma hızını, (c) hareketin 2. saniyesinde aldığı yolu bulunuz.</a:t>
            </a:r>
            <a:endParaRPr lang="en-US" sz="2000" dirty="0"/>
          </a:p>
        </p:txBody>
      </p:sp>
      <p:sp>
        <p:nvSpPr>
          <p:cNvPr id="11" name="Shape 9"/>
          <p:cNvSpPr/>
          <p:nvPr/>
        </p:nvSpPr>
        <p:spPr>
          <a:xfrm>
            <a:off x="3069861" y="3121152"/>
            <a:ext cx="6051973"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serbest-dusme-12.png">    </p:cNvPr>
          <p:cNvPicPr>
            <a:picLocks noChangeAspect="1"/>
          </p:cNvPicPr>
          <p:nvPr/>
        </p:nvPicPr>
        <p:blipFill>
          <a:blip r:embed="rId1"/>
          <a:stretch>
            <a:fillRect/>
          </a:stretch>
        </p:blipFill>
        <p:spPr>
          <a:xfrm>
            <a:off x="3298461" y="3230880"/>
            <a:ext cx="5594773"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88</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6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45 m yükseklikten bırakılan cisim</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45 m yüksekten serbest bırakılan bir cisim için: (a) düşme süresini, (b) yere çarpma hızını, (c) hareketin 2. saniyesinde aldığı yolu bulunuz.</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 = 45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v₀ = 0</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 = 10 m/s²</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düşme süresi t</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çarpma hızı v</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2. saniyede alınan yol</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89</a:t>
            </a:r>
            <a:endParaRPr lang="en-US" sz="10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45 m yükseklikten bırakılan cisim</a:t>
            </a:r>
            <a:endParaRPr lang="en-US" sz="1450" dirty="0"/>
          </a:p>
        </p:txBody>
      </p:sp>
      <p:sp>
        <p:nvSpPr>
          <p:cNvPr id="8" name="Shape 6"/>
          <p:cNvSpPr/>
          <p:nvPr/>
        </p:nvSpPr>
        <p:spPr>
          <a:xfrm>
            <a:off x="640080" y="1645920"/>
            <a:ext cx="10911535" cy="1037699"/>
          </a:xfrm>
          <a:prstGeom prst="roundRect">
            <a:avLst>
              <a:gd name="adj" fmla="val 1409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54458"/>
            <a:ext cx="420624" cy="420624"/>
          </a:xfrm>
          <a:prstGeom prst="roundRect">
            <a:avLst>
              <a:gd name="adj" fmla="val 26000"/>
            </a:avLst>
          </a:prstGeom>
          <a:solidFill>
            <a:srgbClr val="A56209"/>
          </a:solidFill>
          <a:ln/>
        </p:spPr>
      </p:sp>
      <p:sp>
        <p:nvSpPr>
          <p:cNvPr id="10" name="Text 8"/>
          <p:cNvSpPr txBox="1"/>
          <p:nvPr/>
        </p:nvSpPr>
        <p:spPr>
          <a:xfrm>
            <a:off x="914400" y="195445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27971"/>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h = ½·g·t² → 45 = ½·10·t² → t² = 9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t = 3 s</a:t>
            </a:r>
            <a:endParaRPr lang="en-US" sz="2000" dirty="0"/>
          </a:p>
        </p:txBody>
      </p:sp>
      <p:sp>
        <p:nvSpPr>
          <p:cNvPr id="12" name="Shape 10"/>
          <p:cNvSpPr/>
          <p:nvPr/>
        </p:nvSpPr>
        <p:spPr>
          <a:xfrm>
            <a:off x="640080" y="2848211"/>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20890"/>
            <a:ext cx="420624" cy="420624"/>
          </a:xfrm>
          <a:prstGeom prst="roundRect">
            <a:avLst>
              <a:gd name="adj" fmla="val 26000"/>
            </a:avLst>
          </a:prstGeom>
          <a:solidFill>
            <a:srgbClr val="A56209"/>
          </a:solidFill>
          <a:ln/>
        </p:spPr>
      </p:sp>
      <p:sp>
        <p:nvSpPr>
          <p:cNvPr id="14" name="Text 12"/>
          <p:cNvSpPr txBox="1"/>
          <p:nvPr/>
        </p:nvSpPr>
        <p:spPr>
          <a:xfrm>
            <a:off x="914400" y="342089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03075"/>
            <a:ext cx="9859975" cy="1456254"/>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v = g·t = 10 · 3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v = 30 m/s</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(kontrol: v² = 2gh = 2·10·45 = 900 → v = 30 m/s ✓)</a:t>
            </a:r>
            <a:endParaRPr lang="en-US" sz="2000" dirty="0"/>
          </a:p>
        </p:txBody>
      </p:sp>
      <p:sp>
        <p:nvSpPr>
          <p:cNvPr id="16" name="Shape 14"/>
          <p:cNvSpPr/>
          <p:nvPr/>
        </p:nvSpPr>
        <p:spPr>
          <a:xfrm>
            <a:off x="640080" y="4578786"/>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151465"/>
            <a:ext cx="420624" cy="420624"/>
          </a:xfrm>
          <a:prstGeom prst="roundRect">
            <a:avLst>
              <a:gd name="adj" fmla="val 26000"/>
            </a:avLst>
          </a:prstGeom>
          <a:solidFill>
            <a:srgbClr val="A56209"/>
          </a:solidFill>
          <a:ln/>
        </p:spPr>
      </p:sp>
      <p:sp>
        <p:nvSpPr>
          <p:cNvPr id="18" name="Text 16"/>
          <p:cNvSpPr txBox="1"/>
          <p:nvPr/>
        </p:nvSpPr>
        <p:spPr>
          <a:xfrm>
            <a:off x="914400" y="515146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633650"/>
            <a:ext cx="9859975" cy="1456254"/>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İlk 2 s'de 20 m, ilk 1 s'de 5 m alınır; fark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15 m</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'dir. 1 : 3 : 5 kuralıyla da ikinci saniyenin payı 3h = 3·5 = 15 m.</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90</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6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Aynı yükseklik, farklı gökcismi</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10 m yüksekten bırakılan bir cisim Dünya'da ve Ay'da kaç saniyede yere iner? (g</a:t>
            </a:r>
            <a:pPr indent="0" marL="0">
              <a:lnSpc>
                <a:spcPct val="116000"/>
              </a:lnSpc>
              <a:buNone/>
            </a:pPr>
            <a:r>
              <a:rPr lang="en-US" sz="2000" baseline="-40000" dirty="0">
                <a:solidFill>
                  <a:srgbClr val="0E1426"/>
                </a:solidFill>
                <a:latin typeface="Calibri" pitchFamily="34" charset="0"/>
                <a:ea typeface="Calibri" pitchFamily="34" charset="-122"/>
                <a:cs typeface="Calibri" pitchFamily="34" charset="-120"/>
              </a:rPr>
              <a:t>Dünya</a:t>
            </a:r>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 = 9,81 m/s², g</a:t>
            </a:r>
            <a:pPr indent="0" marL="0">
              <a:lnSpc>
                <a:spcPct val="116000"/>
              </a:lnSpc>
              <a:buNone/>
            </a:pPr>
            <a:r>
              <a:rPr lang="en-US" sz="2000" baseline="-40000" dirty="0">
                <a:solidFill>
                  <a:srgbClr val="0E1426"/>
                </a:solidFill>
                <a:latin typeface="Calibri" pitchFamily="34" charset="0"/>
                <a:ea typeface="Calibri" pitchFamily="34" charset="-122"/>
                <a:cs typeface="Calibri" pitchFamily="34" charset="-120"/>
              </a:rPr>
              <a:t>Ay</a:t>
            </a:r>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 = 1,62 m/s²)</a:t>
            </a:r>
            <a:endParaRPr lang="en-US" sz="2000" dirty="0"/>
          </a:p>
        </p:txBody>
      </p:sp>
      <p:sp>
        <p:nvSpPr>
          <p:cNvPr id="11" name="Shape 9"/>
          <p:cNvSpPr/>
          <p:nvPr/>
        </p:nvSpPr>
        <p:spPr>
          <a:xfrm>
            <a:off x="3001072" y="3121152"/>
            <a:ext cx="6189552"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serbest-dusme-13.png">    </p:cNvPr>
          <p:cNvPicPr>
            <a:picLocks noChangeAspect="1"/>
          </p:cNvPicPr>
          <p:nvPr/>
        </p:nvPicPr>
        <p:blipFill>
          <a:blip r:embed="rId1"/>
          <a:stretch>
            <a:fillRect/>
          </a:stretch>
        </p:blipFill>
        <p:spPr>
          <a:xfrm>
            <a:off x="3229672" y="3230880"/>
            <a:ext cx="5732352"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91</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6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Aynı yükseklik, farklı gökcismi</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10 m yüksekten bırakılan bir cisim Dünya'da ve Ay'da kaç saniyede yere iner? (g</a:t>
            </a:r>
            <a:pPr indent="0" marL="0">
              <a:lnSpc>
                <a:spcPct val="118000"/>
              </a:lnSpc>
              <a:buNone/>
            </a:pPr>
            <a:r>
              <a:rPr lang="en-US" sz="2000" baseline="-40000" dirty="0">
                <a:solidFill>
                  <a:srgbClr val="0E1426"/>
                </a:solidFill>
                <a:latin typeface="Calibri" pitchFamily="34" charset="0"/>
                <a:ea typeface="Calibri" pitchFamily="34" charset="-122"/>
                <a:cs typeface="Calibri" pitchFamily="34" charset="-120"/>
              </a:rPr>
              <a:t>Dünya</a:t>
            </a:r>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 = 9,81 m/s², g</a:t>
            </a:r>
            <a:pPr indent="0" marL="0">
              <a:lnSpc>
                <a:spcPct val="118000"/>
              </a:lnSpc>
              <a:buNone/>
            </a:pPr>
            <a:r>
              <a:rPr lang="en-US" sz="2000" baseline="-40000" dirty="0">
                <a:solidFill>
                  <a:srgbClr val="0E1426"/>
                </a:solidFill>
                <a:latin typeface="Calibri" pitchFamily="34" charset="0"/>
                <a:ea typeface="Calibri" pitchFamily="34" charset="-122"/>
                <a:cs typeface="Calibri" pitchFamily="34" charset="-120"/>
              </a:rPr>
              <a:t>Ay</a:t>
            </a:r>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 = 1,62 m/s²)</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 = 10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v₀ = 0</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gDünya = 9,81 m/s²</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gAy = 1,62 m/s²</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iki gökcisminde düşme süreleri ve oranları</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92</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Aynı yükseklik, farklı gökcismi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t = √(2h / g) bağıntısı kullanılır.</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Dünya: t = √(20 / 9,81)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1,43 s</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93</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Aynı yükseklik, farklı gökcismi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Ay: t = √(20 / 1,62)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3,51 s</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Oran: √(9,81 / 1,62) ≈ 2,46 → Ay'da düşüş yaklaşık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2,5 kat</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uzun sürer. Laboratuvardaki gökcismi düğmeleriyle bunu deneyebilirsin.</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94</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6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20 m/s ile yukarı atılan cisim</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Yerden 20 m/s hızla düşey yukarı atılan cisim için: (a) çıkabileceği en büyük yüksekliği, (b) havada kalma süresini, (c) 15 m yükseklikteki süratini bulunuz.</a:t>
            </a:r>
            <a:endParaRPr lang="en-US" sz="2000" dirty="0"/>
          </a:p>
        </p:txBody>
      </p:sp>
      <p:sp>
        <p:nvSpPr>
          <p:cNvPr id="11" name="Shape 9"/>
          <p:cNvSpPr/>
          <p:nvPr/>
        </p:nvSpPr>
        <p:spPr>
          <a:xfrm>
            <a:off x="3485555" y="3474720"/>
            <a:ext cx="5220586"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serbest-dusme-14.png">    </p:cNvPr>
          <p:cNvPicPr>
            <a:picLocks noChangeAspect="1"/>
          </p:cNvPicPr>
          <p:nvPr/>
        </p:nvPicPr>
        <p:blipFill>
          <a:blip r:embed="rId1"/>
          <a:stretch>
            <a:fillRect/>
          </a:stretch>
        </p:blipFill>
        <p:spPr>
          <a:xfrm>
            <a:off x="3714155" y="3584448"/>
            <a:ext cx="4763386"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95</a:t>
            </a:r>
            <a:endParaRPr lang="en-US" sz="10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6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20 m/s ile yukarı atılan cisim</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Yerden 20 m/s hızla düşey yukarı atılan cisim için: (a) çıkabileceği en büyük yüksekliği, (b) havada kalma süresini, (c) 15 m yükseklikteki süratini bulunuz.</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v₀ = 20 m/s (yukarı)</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 = 10 m/s² (aşağı)</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en büyük yükseklik hmaks</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havada kalma süresi</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15 m'deki sürat</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96</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20 m/s ile yukarı atılan cisim</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h</a:t>
            </a:r>
            <a:pPr indent="0" marL="0">
              <a:lnSpc>
                <a:spcPct val="112000"/>
              </a:lnSpc>
              <a:buNone/>
            </a:pPr>
            <a:r>
              <a:rPr lang="en-US" sz="2000" baseline="-40000" dirty="0">
                <a:solidFill>
                  <a:srgbClr val="0E1426"/>
                </a:solidFill>
                <a:latin typeface="Calibri" pitchFamily="34" charset="0"/>
                <a:ea typeface="Calibri" pitchFamily="34" charset="-122"/>
                <a:cs typeface="Calibri" pitchFamily="34" charset="-120"/>
              </a:rPr>
              <a:t>maks</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v₀² / (2g) = 400 / 20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20 m</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t</a:t>
            </a:r>
            <a:pPr indent="0" marL="0">
              <a:lnSpc>
                <a:spcPct val="112000"/>
              </a:lnSpc>
              <a:buNone/>
            </a:pPr>
            <a:r>
              <a:rPr lang="en-US" sz="2000" baseline="-40000" dirty="0">
                <a:solidFill>
                  <a:srgbClr val="0E1426"/>
                </a:solidFill>
                <a:latin typeface="Calibri" pitchFamily="34" charset="0"/>
                <a:ea typeface="Calibri" pitchFamily="34" charset="-122"/>
                <a:cs typeface="Calibri" pitchFamily="34" charset="-120"/>
              </a:rPr>
              <a:t>çıkış</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v₀ / g = 2 s → toplam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 s</a:t>
            </a:r>
            <a:endParaRPr lang="en-US" sz="2000" dirty="0"/>
          </a:p>
        </p:txBody>
      </p:sp>
      <p:sp>
        <p:nvSpPr>
          <p:cNvPr id="16" name="Shape 14"/>
          <p:cNvSpPr/>
          <p:nvPr/>
        </p:nvSpPr>
        <p:spPr>
          <a:xfrm>
            <a:off x="640080" y="4120896"/>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720133"/>
            <a:ext cx="420624" cy="420624"/>
          </a:xfrm>
          <a:prstGeom prst="roundRect">
            <a:avLst>
              <a:gd name="adj" fmla="val 26000"/>
            </a:avLst>
          </a:prstGeom>
          <a:solidFill>
            <a:srgbClr val="A56209"/>
          </a:solidFill>
          <a:ln/>
        </p:spPr>
      </p:sp>
      <p:sp>
        <p:nvSpPr>
          <p:cNvPr id="18" name="Text 16"/>
          <p:cNvSpPr txBox="1"/>
          <p:nvPr/>
        </p:nvSpPr>
        <p:spPr>
          <a:xfrm>
            <a:off x="914400" y="4720133"/>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1509370"/>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v² = v₀² − 2·g·h = 400 − 300 = 100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v = 10 m/s</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Cisim 15 m'den biri çıkarken biri inerken iki kez geçer; sürat iki geçişte de aynıdır.</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97</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6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Son 1 saniyede 25 m düşen cisim</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Serbest bırakılan bir cisim, yere çarpmadan önceki son 1 saniyede 25 m yol alıyor. Cisim kaç metreden bırakılmıştır?</a:t>
            </a:r>
            <a:endParaRPr lang="en-US" sz="2000" dirty="0"/>
          </a:p>
        </p:txBody>
      </p:sp>
      <p:sp>
        <p:nvSpPr>
          <p:cNvPr id="11" name="Shape 9"/>
          <p:cNvSpPr/>
          <p:nvPr/>
        </p:nvSpPr>
        <p:spPr>
          <a:xfrm>
            <a:off x="2953360" y="3121152"/>
            <a:ext cx="6284976"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serbest-dusme-15.png">    </p:cNvPr>
          <p:cNvPicPr>
            <a:picLocks noChangeAspect="1"/>
          </p:cNvPicPr>
          <p:nvPr/>
        </p:nvPicPr>
        <p:blipFill>
          <a:blip r:embed="rId1"/>
          <a:stretch>
            <a:fillRect/>
          </a:stretch>
        </p:blipFill>
        <p:spPr>
          <a:xfrm>
            <a:off x="3181960" y="3230880"/>
            <a:ext cx="5827776"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98</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6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Son 1 saniyede 25 m düşen cisim</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Serbest bırakılan bir cisim, yere çarpmadan önceki son 1 saniyede 25 m yol alıyor. Cisim kaç metreden bırakılmıştır?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v₀ = 0</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son 1 saniyedeki yol = 25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 = 10 m/s²</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cismin bırakıldığı yükseklik h</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99</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Son 1 saniyede 25 m düşen cisim</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Toplam süreye t diyelim. Son saniyedeki yol = h(t) − h(t−1) = 25 m.</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5t² − 5(t−1)² = 25 → 5(2t − 1) = 25 → 2t − 1 = 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t = 3 s</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 = 5 · 3²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45 m</a:t>
            </a:r>
            <a:endParaRPr lang="en-US" sz="2000" dirty="0"/>
          </a:p>
        </p:txBody>
      </p:sp>
      <p:sp>
        <p:nvSpPr>
          <p:cNvPr id="20" name="Shape 18"/>
          <p:cNvSpPr/>
          <p:nvPr/>
        </p:nvSpPr>
        <p:spPr>
          <a:xfrm>
            <a:off x="640080" y="5431536"/>
            <a:ext cx="10911535" cy="713232"/>
          </a:xfrm>
          <a:prstGeom prst="roundRect">
            <a:avLst>
              <a:gd name="adj" fmla="val 2051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1" name="Text 19"/>
          <p:cNvSpPr txBox="1"/>
          <p:nvPr/>
        </p:nvSpPr>
        <p:spPr>
          <a:xfrm>
            <a:off x="960120" y="5559552"/>
            <a:ext cx="1828800" cy="219456"/>
          </a:xfrm>
          <a:prstGeom prst="rect">
            <a:avLst/>
          </a:prstGeom>
          <a:noFill/>
          <a:ln/>
        </p:spPr>
        <p:txBody>
          <a:bodyPr wrap="square" lIns="0" tIns="0" rIns="0" bIns="0" rtlCol="0" anchor="ctr"/>
          <a:lstStyle/>
          <a:p>
            <a:pPr indent="0" marL="0">
              <a:buNone/>
            </a:pPr>
            <a:r>
              <a:rPr lang="en-US" sz="1000" b="1" spc="200" kern="0" dirty="0">
                <a:solidFill>
                  <a:srgbClr val="7B849E"/>
                </a:solidFill>
                <a:latin typeface="Calibri" pitchFamily="34" charset="0"/>
                <a:ea typeface="Calibri" pitchFamily="34" charset="-122"/>
                <a:cs typeface="Calibri" pitchFamily="34" charset="-120"/>
              </a:rPr>
              <a:t>NOT</a:t>
            </a:r>
            <a:endParaRPr lang="en-US" sz="1000" dirty="0"/>
          </a:p>
        </p:txBody>
      </p:sp>
      <p:sp>
        <p:nvSpPr>
          <p:cNvPr id="22" name="Text 20"/>
          <p:cNvSpPr txBox="1"/>
          <p:nvPr/>
        </p:nvSpPr>
        <p:spPr>
          <a:xfrm>
            <a:off x="960120" y="5797296"/>
            <a:ext cx="10271455" cy="256032"/>
          </a:xfrm>
          <a:prstGeom prst="rect">
            <a:avLst/>
          </a:prstGeom>
          <a:noFill/>
          <a:ln/>
        </p:spPr>
        <p:txBody>
          <a:bodyPr wrap="square" lIns="0" tIns="0" rIns="0" bIns="0" rtlCol="0" anchor="t"/>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Kısa yol: 1 : 3 : 5 kuralında son terim 5h = 25 m ise h = 5 m, toplam (1+3+5)·5 = 45 m.</a:t>
            </a:r>
            <a:endParaRPr lang="en-US" sz="1500" dirty="0"/>
          </a:p>
        </p:txBody>
      </p:sp>
      <p:sp>
        <p:nvSpPr>
          <p:cNvPr id="23" name="Shape 21"/>
          <p:cNvSpPr/>
          <p:nvPr/>
        </p:nvSpPr>
        <p:spPr>
          <a:xfrm>
            <a:off x="640080" y="6382512"/>
            <a:ext cx="128016" cy="128016"/>
          </a:xfrm>
          <a:prstGeom prst="roundRect">
            <a:avLst>
              <a:gd name="adj" fmla="val 28571"/>
            </a:avLst>
          </a:prstGeom>
          <a:solidFill>
            <a:srgbClr val="A9E648"/>
          </a:solidFill>
          <a:ln/>
        </p:spPr>
      </p:sp>
      <p:sp>
        <p:nvSpPr>
          <p:cNvPr id="24" name="Text 2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25" name="Text 2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100</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6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Balkondan yukarı atılan top</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Bir balkondan 10 m/s hızla düşey yukarı atılan top, atıldıktan 3 s sonra yere çarpıyor. (a) Balkonun yerden yüksekliğini, (b) topun yere çarpma süratini bulunuz.</a:t>
            </a:r>
            <a:endParaRPr lang="en-US" sz="2000" dirty="0"/>
          </a:p>
        </p:txBody>
      </p:sp>
      <p:sp>
        <p:nvSpPr>
          <p:cNvPr id="11" name="Shape 9"/>
          <p:cNvSpPr/>
          <p:nvPr/>
        </p:nvSpPr>
        <p:spPr>
          <a:xfrm>
            <a:off x="3306928" y="3474720"/>
            <a:ext cx="5577840"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serbest-dusme-16.png">    </p:cNvPr>
          <p:cNvPicPr>
            <a:picLocks noChangeAspect="1"/>
          </p:cNvPicPr>
          <p:nvPr/>
        </p:nvPicPr>
        <p:blipFill>
          <a:blip r:embed="rId1"/>
          <a:stretch>
            <a:fillRect/>
          </a:stretch>
        </p:blipFill>
        <p:spPr>
          <a:xfrm>
            <a:off x="3535528" y="3584448"/>
            <a:ext cx="5120640"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101</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6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Balkondan yukarı atılan top</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Bir balkondan 10 m/s hızla düşey yukarı atılan top, atıldıktan 3 s sonra yere çarpıyor. (a) Balkonun yerden yüksekliğini, (b) topun yere çarpma süratini bulunuz.</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v₀ = 10 m/s (yukarı)</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topun havada kaldığı süre t = 3 s</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 = 10 m/s²</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balkonun yerden yüksekliği</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topun yere çarpma sürati</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102</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Balkondan yukarı atılan top</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Yukarıyı pozitif seçelim: v₀ = +10 m/s, ivme −10 m/s². Konum: y = v₀·t − ½·g·t².</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t = 3 s'de y = 10·3 − 5·9 = 30 − 45 = −15 m. Eksi işaret topun balkonun 15 m altında olduğunu söyler: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balkon 15 m yüksekte</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103</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Balkondan yukarı atılan top</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Hız: v = v₀ − g·t = 10 − 30 = −20 m/s → yere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20 m/s</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süratle, aşağı doğru çarpar.</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v² = v₀² + 2·g·h = 100 + 2·10·15 = 400 → v = 20 m/s ✓. Top 1 s çıkıp 5 m yükselir, sonra 20 m'den serbest düşer: 2 s. Toplam 3 s ✓</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104</a:t>
            </a:r>
            <a:endParaRPr lang="en-US" sz="10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1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Serbest bırakılan bir taşın hızı 3 saniye sonra kaç m/s olur?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(g = 10 m/s²)</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105</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Serbest bırakılan bir taşın hızı 3 saniye sonra kaç m/s olur?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Hız her saniye 10 m/s artar: v = g · t = 10 · 3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30 m/s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106</a:t>
            </a:r>
            <a:endParaRPr lang="en-US"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2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20 m yükseklikten bırakılan bir cisim kaç saniyede yere düşer?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(g = 10 m/s²)</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107</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20 m yükseklikten bırakılan bir cisim kaç saniyede yere düşer?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h = ½ · g · t² → 20 = 5 · t² → t² = 4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t = 2 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108</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3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80 m yükseklikten bırakılan bir top yere kaç m/s hızla çarpar?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(g = 10 m/s²)</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109</a:t>
            </a:r>
            <a:endParaRPr lang="en-US" sz="10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80 m yükseklikten bırakılan bir top yere kaç m/s hızla çarpar?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Süre sorulmadığı için v² = 2 · g · h: v² = 2 · 10 · 80 = 1600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v = 40 m/s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Kontrol: 80 = 5 · t² → t = 4 s ve v = 10 · 4 = 40 m/s ✓</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110</a:t>
            </a:r>
            <a:endParaRPr lang="en-US" sz="10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4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30 m/s hızla yukarı atılan bir top en fazla kaç metre yükselir ve kaç saniye sonra atıldığı yere döner?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(g = 10 m/s²)</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111</a:t>
            </a:r>
            <a:endParaRPr lang="en-US" sz="10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30 m/s hızla yukarı atılan bir top en fazla kaç metre yükselir ve kaç saniye sonra atıldığı yere döner?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h</a:t>
            </a:r>
            <a:pPr indent="0" marL="0">
              <a:lnSpc>
                <a:spcPct val="125000"/>
              </a:lnSpc>
              <a:buNone/>
            </a:pPr>
            <a:r>
              <a:rPr lang="en-US" sz="2400" baseline="-40000" dirty="0">
                <a:solidFill>
                  <a:srgbClr val="0E1426"/>
                </a:solidFill>
                <a:latin typeface="Calibri" pitchFamily="34" charset="0"/>
                <a:ea typeface="Calibri" pitchFamily="34" charset="-122"/>
                <a:cs typeface="Calibri" pitchFamily="34" charset="-120"/>
              </a:rPr>
              <a:t>maks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 v₀² / (2g) = 900 / 20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45 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Çıkış 30 / 10 = 3 s, iniş de 3 s sürer: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6 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sonra geri döner.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112</a:t>
            </a:r>
            <a:endParaRPr lang="en-US" sz="10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5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FBE9EE"/>
          </a:solidFill>
          <a:ln w="9525">
            <a:solidFill>
              <a:srgbClr val="C53455"/>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Serbest bırakılan bir cisim hareketinin 4. saniyesinde kaç metre yol alır?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(g = 10 m/s²)</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113</a:t>
            </a:r>
            <a:endParaRPr lang="en-US" sz="10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Serbest bırakılan bir cisim hareketinin 4. saniyesinde kaç metre yol alır?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İlk 4 saniyede 5 · 4² = 80 m, ilk 3 saniyede 5 · 3² = 45 m yol alır. 4. saniyedeki yol farktır: 80 − 45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35 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1 : 3 : 5 : 7 kuralıyla da aynı sonuç çıkar: 7 · 5 = 35 m.</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114</a:t>
            </a:r>
            <a:endParaRPr lang="en-US" sz="10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“Ağır cisim önce düşer.”</a:t>
            </a:r>
            <a:endParaRPr lang="en-US" sz="1900" dirty="0"/>
          </a:p>
        </p:txBody>
      </p:sp>
      <p:sp>
        <p:nvSpPr>
          <p:cNvPr id="11" name="Shape 9"/>
          <p:cNvSpPr/>
          <p:nvPr/>
        </p:nvSpPr>
        <p:spPr>
          <a:xfrm>
            <a:off x="841248" y="2271522"/>
            <a:ext cx="310896" cy="310896"/>
          </a:xfrm>
          <a:prstGeom prst="roundRect">
            <a:avLst>
              <a:gd name="adj" fmla="val 26471"/>
            </a:avLst>
          </a:prstGeom>
          <a:solidFill>
            <a:srgbClr val="EAF7DC"/>
          </a:solidFill>
          <a:ln/>
        </p:spPr>
      </p:sp>
      <p:sp>
        <p:nvSpPr>
          <p:cNvPr id="12" name="Text 10"/>
          <p:cNvSpPr txBox="1"/>
          <p:nvPr/>
        </p:nvSpPr>
        <p:spPr>
          <a:xfrm>
            <a:off x="841248"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Hava direnci ihmal edildiğinde kütle hiç rol oynamaz.</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“Tepe noktada ivme sıfırdır.”</a:t>
            </a:r>
            <a:endParaRPr lang="en-US" sz="1900" dirty="0"/>
          </a:p>
        </p:txBody>
      </p:sp>
      <p:sp>
        <p:nvSpPr>
          <p:cNvPr id="18" name="Shape 16"/>
          <p:cNvSpPr/>
          <p:nvPr/>
        </p:nvSpPr>
        <p:spPr>
          <a:xfrm>
            <a:off x="6406744" y="2271522"/>
            <a:ext cx="310896" cy="310896"/>
          </a:xfrm>
          <a:prstGeom prst="roundRect">
            <a:avLst>
              <a:gd name="adj" fmla="val 26471"/>
            </a:avLst>
          </a:prstGeom>
          <a:solidFill>
            <a:srgbClr val="EAF7DC"/>
          </a:solidFill>
          <a:ln/>
        </p:spPr>
      </p:sp>
      <p:sp>
        <p:nvSpPr>
          <p:cNvPr id="19" name="Text 17"/>
          <p:cNvSpPr txBox="1"/>
          <p:nvPr/>
        </p:nvSpPr>
        <p:spPr>
          <a:xfrm>
            <a:off x="6406744"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Sıfır olan hızdır; ivme orada da g'dir.</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v = 2gh yazmak.</a:t>
            </a:r>
            <a:endParaRPr lang="en-US" sz="1900" dirty="0"/>
          </a:p>
        </p:txBody>
      </p:sp>
      <p:sp>
        <p:nvSpPr>
          <p:cNvPr id="25" name="Shape 23"/>
          <p:cNvSpPr/>
          <p:nvPr/>
        </p:nvSpPr>
        <p:spPr>
          <a:xfrm>
            <a:off x="841248" y="4612386"/>
            <a:ext cx="310896" cy="310896"/>
          </a:xfrm>
          <a:prstGeom prst="roundRect">
            <a:avLst>
              <a:gd name="adj" fmla="val 26471"/>
            </a:avLst>
          </a:prstGeom>
          <a:solidFill>
            <a:srgbClr val="EAF7DC"/>
          </a:solidFill>
          <a:ln/>
        </p:spPr>
      </p:sp>
      <p:sp>
        <p:nvSpPr>
          <p:cNvPr id="26" name="Text 24"/>
          <p:cNvSpPr txBox="1"/>
          <p:nvPr/>
        </p:nvSpPr>
        <p:spPr>
          <a:xfrm>
            <a:off x="841248" y="461238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594098"/>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Doğrusu </a:t>
            </a:r>
            <a:pPr indent="0" marL="0">
              <a:lnSpc>
                <a:spcPct val="108000"/>
              </a:lnSpc>
              <a:buNone/>
            </a:pPr>
            <a:r>
              <a:rPr lang="en-US" sz="1700" b="1" dirty="0">
                <a:solidFill>
                  <a:srgbClr val="0E1426"/>
                </a:solidFill>
                <a:latin typeface="Calibri" pitchFamily="34" charset="0"/>
                <a:ea typeface="Calibri" pitchFamily="34" charset="-122"/>
                <a:cs typeface="Calibri" pitchFamily="34" charset="-120"/>
              </a:rPr>
              <a:t>v² = 2gh</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karekök almayı unutma. Birim kontrolü bu hatayı hemen yakalar.</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İlk hızlı hareketi serbest düşme sanmak.</a:t>
            </a:r>
            <a:endParaRPr lang="en-US" sz="1900" dirty="0"/>
          </a:p>
        </p:txBody>
      </p:sp>
      <p:sp>
        <p:nvSpPr>
          <p:cNvPr id="32" name="Shape 30"/>
          <p:cNvSpPr/>
          <p:nvPr/>
        </p:nvSpPr>
        <p:spPr>
          <a:xfrm>
            <a:off x="6406744" y="4945380"/>
            <a:ext cx="310896" cy="310896"/>
          </a:xfrm>
          <a:prstGeom prst="roundRect">
            <a:avLst>
              <a:gd name="adj" fmla="val 26471"/>
            </a:avLst>
          </a:prstGeom>
          <a:solidFill>
            <a:srgbClr val="EAF7DC"/>
          </a:solidFill>
          <a:ln/>
        </p:spPr>
      </p:sp>
      <p:sp>
        <p:nvSpPr>
          <p:cNvPr id="33" name="Text 31"/>
          <p:cNvSpPr txBox="1"/>
          <p:nvPr/>
        </p:nvSpPr>
        <p:spPr>
          <a:xfrm>
            <a:off x="6406744"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v₀ ≠ 0 ise hareket düşey atıştır.</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115</a:t>
            </a:r>
            <a:endParaRPr lang="en-US" sz="10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1 : 3 : 5 ile 1 : 4 : 9'u karıştırmak.</a:t>
            </a:r>
            <a:endParaRPr lang="en-US" sz="1900" dirty="0"/>
          </a:p>
        </p:txBody>
      </p:sp>
      <p:sp>
        <p:nvSpPr>
          <p:cNvPr id="11" name="Shape 9"/>
          <p:cNvSpPr/>
          <p:nvPr/>
        </p:nvSpPr>
        <p:spPr>
          <a:xfrm>
            <a:off x="841248" y="2604516"/>
            <a:ext cx="310896" cy="310896"/>
          </a:xfrm>
          <a:prstGeom prst="roundRect">
            <a:avLst>
              <a:gd name="adj" fmla="val 26471"/>
            </a:avLst>
          </a:prstGeom>
          <a:solidFill>
            <a:srgbClr val="EAF7DC"/>
          </a:solidFill>
          <a:ln/>
        </p:spPr>
      </p:sp>
      <p:sp>
        <p:nvSpPr>
          <p:cNvPr id="12" name="Text 10"/>
          <p:cNvSpPr txBox="1"/>
          <p:nvPr/>
        </p:nvSpPr>
        <p:spPr>
          <a:xfrm>
            <a:off x="841248"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586228"/>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Birincisi </a:t>
            </a:r>
            <a:pPr indent="0" marL="0">
              <a:lnSpc>
                <a:spcPct val="108000"/>
              </a:lnSpc>
              <a:buNone/>
            </a:pPr>
            <a:r>
              <a:rPr lang="en-US" sz="1700" i="1" dirty="0">
                <a:solidFill>
                  <a:srgbClr val="4A5470"/>
                </a:solidFill>
                <a:latin typeface="Calibri" pitchFamily="34" charset="0"/>
                <a:ea typeface="Calibri" pitchFamily="34" charset="-122"/>
                <a:cs typeface="Calibri" pitchFamily="34" charset="-120"/>
              </a:rPr>
              <a:t>her aralıkta</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ikincisi </a:t>
            </a:r>
            <a:pPr indent="0" marL="0">
              <a:lnSpc>
                <a:spcPct val="108000"/>
              </a:lnSpc>
              <a:buNone/>
            </a:pPr>
            <a:r>
              <a:rPr lang="en-US" sz="1700" i="1" dirty="0">
                <a:solidFill>
                  <a:srgbClr val="4A5470"/>
                </a:solidFill>
                <a:latin typeface="Calibri" pitchFamily="34" charset="0"/>
                <a:ea typeface="Calibri" pitchFamily="34" charset="-122"/>
                <a:cs typeface="Calibri" pitchFamily="34" charset="-120"/>
              </a:rPr>
              <a:t>baştan itibaren toplam</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alınan yoldur.</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İşaretleri karıştırmak.</a:t>
            </a:r>
            <a:endParaRPr lang="en-US" sz="1900" dirty="0"/>
          </a:p>
        </p:txBody>
      </p:sp>
      <p:sp>
        <p:nvSpPr>
          <p:cNvPr id="18" name="Shape 16"/>
          <p:cNvSpPr/>
          <p:nvPr/>
        </p:nvSpPr>
        <p:spPr>
          <a:xfrm>
            <a:off x="6406744" y="2271522"/>
            <a:ext cx="310896" cy="310896"/>
          </a:xfrm>
          <a:prstGeom prst="roundRect">
            <a:avLst>
              <a:gd name="adj" fmla="val 26471"/>
            </a:avLst>
          </a:prstGeom>
          <a:solidFill>
            <a:srgbClr val="EAF7DC"/>
          </a:solidFill>
          <a:ln/>
        </p:spPr>
      </p:sp>
      <p:sp>
        <p:nvSpPr>
          <p:cNvPr id="19" name="Text 17"/>
          <p:cNvSpPr txBox="1"/>
          <p:nvPr/>
        </p:nvSpPr>
        <p:spPr>
          <a:xfrm>
            <a:off x="6406744"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Başta bir yön pozitif seçilir ve soru boyunca değiştirilmez. Aşağı pozitif seçtiysen yukarı hızlar negatif yazılır.</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1072134"/>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Yüksekliği iki katına çıkarınca sürenin de iki katına çıktığını sanmak.</a:t>
            </a:r>
            <a:endParaRPr lang="en-US" sz="1900" dirty="0"/>
          </a:p>
        </p:txBody>
      </p:sp>
      <p:sp>
        <p:nvSpPr>
          <p:cNvPr id="25" name="Shape 23"/>
          <p:cNvSpPr/>
          <p:nvPr/>
        </p:nvSpPr>
        <p:spPr>
          <a:xfrm>
            <a:off x="841248" y="5278374"/>
            <a:ext cx="310896" cy="310896"/>
          </a:xfrm>
          <a:prstGeom prst="roundRect">
            <a:avLst>
              <a:gd name="adj" fmla="val 26471"/>
            </a:avLst>
          </a:prstGeom>
          <a:solidFill>
            <a:srgbClr val="EAF7DC"/>
          </a:solidFill>
          <a:ln/>
        </p:spPr>
      </p:sp>
      <p:sp>
        <p:nvSpPr>
          <p:cNvPr id="26" name="Text 24"/>
          <p:cNvSpPr txBox="1"/>
          <p:nvPr/>
        </p:nvSpPr>
        <p:spPr>
          <a:xfrm>
            <a:off x="841248" y="5278374"/>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5260086"/>
            <a:ext cx="4523080" cy="756666"/>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Süre karekökle artar: 4 kat yükseklik → 2 kat süre.</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“Ağırlıksız hisseden astronotun ağırlığı yoktur.”</a:t>
            </a:r>
            <a:endParaRPr lang="en-US" sz="1900" dirty="0"/>
          </a:p>
        </p:txBody>
      </p:sp>
      <p:sp>
        <p:nvSpPr>
          <p:cNvPr id="32" name="Shape 30"/>
          <p:cNvSpPr/>
          <p:nvPr/>
        </p:nvSpPr>
        <p:spPr>
          <a:xfrm>
            <a:off x="6406744" y="4945380"/>
            <a:ext cx="310896" cy="310896"/>
          </a:xfrm>
          <a:prstGeom prst="roundRect">
            <a:avLst>
              <a:gd name="adj" fmla="val 26471"/>
            </a:avLst>
          </a:prstGeom>
          <a:solidFill>
            <a:srgbClr val="EAF7DC"/>
          </a:solidFill>
          <a:ln/>
        </p:spPr>
      </p:sp>
      <p:sp>
        <p:nvSpPr>
          <p:cNvPr id="33" name="Text 31"/>
          <p:cNvSpPr txBox="1"/>
          <p:nvPr/>
        </p:nvSpPr>
        <p:spPr>
          <a:xfrm>
            <a:off x="6406744"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Yerçekimi oradadır; ağırlıksızlık, astronotun ve istasyonun birlikte serbest düşmesinden doğar.</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dersler.perinet.org/serbest-dusme.html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116</a:t>
            </a:r>
            <a:endParaRPr lang="en-US" sz="10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Dünya'da </a:t>
            </a:r>
            <a:pPr indent="0" marL="0">
              <a:buNone/>
            </a:pPr>
            <a:r>
              <a:rPr lang="en-US" sz="1500" b="1" dirty="0">
                <a:solidFill>
                  <a:srgbClr val="FFFFFF"/>
                </a:solidFill>
                <a:latin typeface="Calibri" pitchFamily="34" charset="0"/>
                <a:ea typeface="Calibri" pitchFamily="34" charset="-122"/>
                <a:cs typeface="Calibri" pitchFamily="34" charset="-120"/>
              </a:rPr>
              <a:t>g = 9,81 m/s²</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Kütle </a:t>
            </a:r>
            <a:pPr indent="0" marL="0">
              <a:buNone/>
            </a:pPr>
            <a:r>
              <a:rPr lang="en-US" sz="1500" b="1" dirty="0">
                <a:solidFill>
                  <a:srgbClr val="FFFFFF"/>
                </a:solidFill>
                <a:latin typeface="Calibri" pitchFamily="34" charset="0"/>
                <a:ea typeface="Calibri" pitchFamily="34" charset="-122"/>
                <a:cs typeface="Calibri" pitchFamily="34" charset="-120"/>
              </a:rPr>
              <a:t>fark etmez</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Yol </a:t>
            </a:r>
            <a:pPr indent="0" marL="0">
              <a:buNone/>
            </a:pPr>
            <a:r>
              <a:rPr lang="en-US" sz="1500" b="1" dirty="0">
                <a:solidFill>
                  <a:srgbClr val="FFFFFF"/>
                </a:solidFill>
                <a:latin typeface="Calibri" pitchFamily="34" charset="0"/>
                <a:ea typeface="Calibri" pitchFamily="34" charset="-122"/>
                <a:cs typeface="Calibri" pitchFamily="34" charset="-120"/>
              </a:rPr>
              <a:t>t² ile</a:t>
            </a:r>
            <a:pPr indent="0" marL="0">
              <a:buNone/>
            </a:pPr>
            <a:r>
              <a:rPr lang="en-US" sz="1500" dirty="0">
                <a:solidFill>
                  <a:srgbClr val="C3CEE8"/>
                </a:solidFill>
                <a:latin typeface="Calibri" pitchFamily="34" charset="0"/>
                <a:ea typeface="Calibri" pitchFamily="34" charset="-122"/>
                <a:cs typeface="Calibri" pitchFamily="34" charset="-120"/>
              </a:rPr>
              <a:t> artar</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Eşit sürelerde </a:t>
            </a:r>
            <a:pPr indent="0" marL="0">
              <a:buNone/>
            </a:pPr>
            <a:r>
              <a:rPr lang="en-US" sz="1500" b="1" dirty="0">
                <a:solidFill>
                  <a:srgbClr val="FFFFFF"/>
                </a:solidFill>
                <a:latin typeface="Calibri" pitchFamily="34" charset="0"/>
                <a:ea typeface="Calibri" pitchFamily="34" charset="-122"/>
                <a:cs typeface="Calibri" pitchFamily="34" charset="-120"/>
              </a:rPr>
              <a:t>1 : 3 : 5</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v = g · t</a:t>
            </a:r>
            <a:endParaRPr lang="en-US" sz="1350" dirty="0"/>
          </a:p>
        </p:txBody>
      </p:sp>
      <p:sp>
        <p:nvSpPr>
          <p:cNvPr id="16" name="Text 14"/>
          <p:cNvSpPr txBox="1"/>
          <p:nvPr/>
        </p:nvSpPr>
        <p:spPr>
          <a:xfrm>
            <a:off x="8183880" y="239572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hız, süreyle doğru orantılı</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1746504"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h = ½ · g · t²</a:t>
            </a:r>
            <a:endParaRPr lang="en-US" sz="1350" dirty="0"/>
          </a:p>
        </p:txBody>
      </p:sp>
      <p:sp>
        <p:nvSpPr>
          <p:cNvPr id="19" name="Text 17"/>
          <p:cNvSpPr txBox="1"/>
          <p:nvPr/>
        </p:nvSpPr>
        <p:spPr>
          <a:xfrm>
            <a:off x="8467344" y="3218688"/>
            <a:ext cx="2901391"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yol, sürenin karesiyle</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1746504"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v² = 2 · g · h</a:t>
            </a:r>
            <a:endParaRPr lang="en-US" sz="1350" dirty="0"/>
          </a:p>
        </p:txBody>
      </p:sp>
      <p:sp>
        <p:nvSpPr>
          <p:cNvPr id="22" name="Text 20"/>
          <p:cNvSpPr txBox="1"/>
          <p:nvPr/>
        </p:nvSpPr>
        <p:spPr>
          <a:xfrm>
            <a:off x="8467344" y="4041648"/>
            <a:ext cx="2901391"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süre bilinmiyorsa</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1641348"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t = √(2h / g)</a:t>
            </a:r>
            <a:endParaRPr lang="en-US" sz="1350" dirty="0"/>
          </a:p>
        </p:txBody>
      </p:sp>
      <p:sp>
        <p:nvSpPr>
          <p:cNvPr id="25" name="Text 23"/>
          <p:cNvSpPr txBox="1"/>
          <p:nvPr/>
        </p:nvSpPr>
        <p:spPr>
          <a:xfrm>
            <a:off x="8362188" y="4864608"/>
            <a:ext cx="3006547"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düşme süresi</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dersler.perinet.org/serbest-dusme.html</a:t>
            </a:r>
            <a:endParaRPr lang="en-US" sz="1300" dirty="0"/>
          </a:p>
        </p:txBody>
      </p:sp>
      <p:sp>
        <p:nvSpPr>
          <p:cNvPr id="28" name="Text 26"/>
          <p:cNvSpPr txBox="1"/>
          <p:nvPr/>
        </p:nvSpPr>
        <p:spPr>
          <a:xfrm>
            <a:off x="5852160" y="1078992"/>
            <a:ext cx="5699455" cy="457200"/>
          </a:xfrm>
          <a:prstGeom prst="rect">
            <a:avLst/>
          </a:prstGeom>
          <a:noFill/>
          <a:ln/>
        </p:spPr>
        <p:txBody>
          <a:bodyPr wrap="square" lIns="0" tIns="0" rIns="0" bIns="0" rtlCol="0" anchor="ctr"/>
          <a:lstStyle/>
          <a:p>
            <a:pPr algn="r" indent="0" marL="0">
              <a:buNone/>
            </a:pPr>
            <a:r>
              <a:rPr lang="en-US" sz="1000" b="1" spc="200" kern="0" dirty="0">
                <a:solidFill>
                  <a:srgbClr val="8D97B5"/>
                </a:solidFill>
                <a:latin typeface="Calibri" pitchFamily="34" charset="0"/>
                <a:ea typeface="Calibri" pitchFamily="34" charset="-122"/>
                <a:cs typeface="Calibri" pitchFamily="34" charset="-120"/>
              </a:rPr>
              <a:t>SIRADAKİ KONU  </a:t>
            </a:r>
            <a:pPr algn="r" indent="0" marL="0">
              <a:buNone/>
            </a:pPr>
            <a:r>
              <a:rPr lang="en-US" sz="1300" b="1" dirty="0">
                <a:solidFill>
                  <a:srgbClr val="FFFFFF"/>
                </a:solidFill>
                <a:latin typeface="Calibri" pitchFamily="34" charset="0"/>
                <a:ea typeface="Calibri" pitchFamily="34" charset="-122"/>
                <a:cs typeface="Calibri" pitchFamily="34" charset="-120"/>
              </a:rPr>
              <a:t>02 · İki boyutta sabit ivmeli hareket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117</Slides>
  <Notes>117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117</vt:i4>
      </vt:variant>
    </vt:vector>
  </HeadingPairs>
  <TitlesOfParts>
    <vt:vector size="1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Serbest düşme — Dersler</dc:title>
  <dc:subject>Fizik · Kuvvet ve Hareket</dc:subject>
  <dc:creator>Dersler</dc:creator>
  <cp:lastModifiedBy>Dersler</cp:lastModifiedBy>
  <cp:revision>1</cp:revision>
  <dcterms:created xsi:type="dcterms:W3CDTF">2026-09-30T12:21:26Z</dcterms:created>
  <dcterms:modified xsi:type="dcterms:W3CDTF">2026-09-30T12:21:26Z</dcterms:modified>
</cp:coreProperties>
</file>