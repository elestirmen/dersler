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notesMasterIdLst>
    <p:notesMasterId r:id="rId1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notesMaster" Target="notesMasters/notesMaster1.xml"/><Relationship Id="rId133" Type="http://schemas.openxmlformats.org/officeDocument/2006/relationships/presProps" Target="presProps.xml"/><Relationship Id="rId134" Type="http://schemas.openxmlformats.org/officeDocument/2006/relationships/viewProps" Target="viewProps.xml"/><Relationship Id="rId135" Type="http://schemas.openxmlformats.org/officeDocument/2006/relationships/theme" Target="theme/theme1.xml"/><Relationship Id="rId1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Ampul kutularında neden artık "watt" değil "lümen" yazıyor? Çalışma masan yeterince aydınlık mı, nasıl ölçersin? Bu konunun tamamı, birbirine çok benzeyen üç büyüklüğü ayırmakla ilgili: akı kaynağın ürettiği toplam ışıktır, şiddet bunun belli bir yöndeki yoğunluğu, aydınlanma ise yüzeye düşen paydır. Üçünü karıştırmayı bıraktığın an konu biter. Bu anlatım dört basamakta ilerliyor: önce ışığın nasıl yayıldığını gözleyip üç büyüklüğü formülsüz ayıracağız. Sonra lümen, kandela ve lüks arasındaki bağıntıları, ters kare yasasını ve eğik yüzeylerin cosθ çarpanını nereden geldikleriyle çıkaracağız. Ardından iki lambayı karşılaştırmaya ve modelin sınırlarına geçeceğiz. En sonda kolaydan zora sıralanmış örneklerle hepsini birlikte kullanacağız.
Kapak görseli: Tek lamba, bir ışık havuzu. Masanın lambaya en yakın yeri en aydınlık; kenarlara doğru hem lambaya uzaklık artıyor hem de ışık masaya daha eğik geliyor. Bu anlatımın iki kuralı, ters kare yasası ve cosθ çarpanı, bu sahnedeki parlaklık geçişinin büyük kısmını açıklar; kalanı, ışığı masaya doğru toplayan lamba başlığından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Ampul kutularında neden artık "watt" değil "lümen" yazıyor? Çalışma masan yeterince aydınlık mı, nasıl ölçersin? Bu konunun tamamı, birbirine çok benzeyen üç büyüklüğü ayırmakla ilgili: akı kaynağın ürettiği toplam ışıktır, şiddet bunun belli bir yöndeki yoğunluğu, aydınlanma ise yüzeye düşen paydır. Üçünü karıştırmayı bıraktığın an konu biter. Bu anlatım dört basamakta ilerliyor: önce ışığın nasıl yayıldığını gözleyip üç büyüklüğü formülsüz ayıracağız. Sonra lümen, kandela ve lüks arasındaki bağıntıları, ters kare yasasını ve eğik yüzeylerin cosθ çarpanını nereden geldikleriyle çıkaracağız. Ardından iki lambayı karşılaştırmaya ve modelin sınırlarına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ışığın nasıl yayıldığını gör ve birbirine çok benzeyen üç büyüklüğü formülsüz ayırt et.
   01 Önce gözlemle: sokak lambalarının altı
   02 Işık kaynakları ve doğrusal yayılma
   03 Üç büyüklük, üç soru
2. Orta — Bağıntılar: lümen, kandela ve lüks arasındaki bağlar; ters kare yasası ve cosθ çarpanı nereden geliyor, gerçek sayılarla.
   04 Işık akısı (Φ)
   05 Işık şiddeti (I) ve katı açı
   06 Aydınlanma şiddeti (E)
   07 Ters kare yasası
   08 Eğik yüzeyler: cosθ çarpanı
   09 Sayılarla hisset: kaç lüks?
3. İleri — Derinleşme: iki kaynağı karşılaştırmak, noktasal kaynak modelinin sınırları ve aydınlatma tasarımı.
   10 Fotometre: iki kaynağı karşılaştırmak
   11 Noktasal kaynak modelinin sınırları
   12 Aydınlatma gerçek dünyada
4. Pekiştir — Kolaydan zora çözümlü örnekler ve ışık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Güç ve watt: güç, bir aletin her saniye harcadığı enerjidir ve watt (W) ile ölçülür. 60 W'lık bir ampul her saniye 60 joule elektrik enerjisi çeker.
• Alan: bir yüzeyin kapladığı yer; metrekare (m²) ile ölçülür. 2 m'ye 3 m'lik bir masanın alanı 2 · 3 = 6 m²'dir.
• Paylaştırmak: aynı miktar daha büyük bir yere yayılırsa her parçaya daha az düşer. Bir pastayı 4 yerine 8 kişi paylaşırsa herkesin payı yarıya iner.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Kare ve karekök: 3² = 3 · 3 = 9 ve √9 = 3. Formüllerde d² “d'nin karesi” diye okunur; d iki katına çıkarsa d² dört katına çıkar.
• Normal ve kosinüs: normal, yüzeye dik (90°) çizilen hayalî çizgidir. Açı büyüdükçe cos küçülür: cos0° = 1, cos37° = 0,8, cos53° = 0,6, cos60° = 0,5, cos90° = 0.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ışığın nasıl yayıldığını gör ve birbirine çok benzeyen üç büyüklüğü formülsüz ayırt et.
01 Önce gözlemle: sokak lambalarının altı
02 Işık kaynakları ve doğrusal yayılma
03 Üç büyüklük, üç soru
Görsel: Her sokak lambası kaldırımda kendi ışık havuzunu oluşturur: direğin dibi en aydınlık yerdir, lambadan uzaklaştıkça parlaklık hızla azalır. Lambaların arasında kalan sönük bölgeler, aydınlanmanın uzaklıkla ne kadar çabuk düştüğünü gösterir; bu düşüşün kuralını ikinci basamakta sayılarla bulacağız.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sokak lambalarının altı — adım 1/3
• Gece, lambalarla aydınlatılmış bir sokakta yürüdüğünü düşün.
• Bir direğin dibine geldiğinde kaldırım parlak, yüzün ve ellerin aydınlıktır.
• Birkaç adım uzaklaştığında ışık hızla zayıflar; iki direğin arasında kaldırım belirgin biçimde kararır, sonra bir sonraki direğe yaklaştıkça yeniden aydınlanır.
• Lambalar aynı, ışıkları aynı; değişen yalnızca senin lambaya göre yerin.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sokak lambalarının altı — adım 2/3
• Bu kısa yürüyüşte, bu konunun bütün temel gözlemleri saklı:
• Işık doğrular boyunca gider: gölgen hep lambanın tam ters yönüne düşer ve sen yürüdükçe lambaya göre konumunla birlikte döner.
• Uzaklaştıkça sönükleşir, hem de hızla: direkten birkaç adım uzaklaşmak kaldırımı gözle görülür biçimde karartır.
• Eğik gelen ışık daha az aydınlatır: direkten uzaklaştıkça ışık kaldırıma daha yatık gelir ve aynı ışık daha geniş bir alana yayılır.
• Kaynak ile yüzey ayrı şeylerdir: lamba her yerde aynı ışığı saçar, ama kaldırımın her yeri aynı aydınlanmaz.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sokak lambalarının altı — adım 3/3
• Son madde konunun kalbidir: “lamba ne kadar ışık veriyor?” ile “bu nokta ne kadar aydınlık?” iki ayrı sorudur.
• Önce ışığın nasıl yayıldığına, sonra bu iki soruyu ayıran büyüklüklere bakalım.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doğrular boyunca gider ve kaynaktan uzaklaştıkça hızla zayıflar. Lambanın verdiği ışık ile bir noktanın ne kadar aydınlandığı ayrı şeylerdir.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İki sokak lambasının tam ortasında dururken neden iki gölgen olur?
Sınıfa sorun, birkaç tahmin alın; sonra cevap slaytına geçin.
Cevap: Her lambanın ışığı sana doğru düz bir çizgi boyunca gelir ve bedenin her birini ayrı bir doğrultuda keser. Bu yüzden kaldırımda, lambaların ters yönlerine düşen iki ayrı gölge oluşur. Gölgeler tam karanlık değildir, çünkü birinin gölgesi ötekinin ışığıyla aydınlanır.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Her lambanın ışığı sana doğru düz bir çizgi boyunca gelir ve bedenin her birini ayrı bir doğrultuda keser. Bu yüzden kaldırımda, lambaların ters yönlerine düşen iki ayrı gölge oluşur. Gölgeler tam karanlık değildir, çünkü birinin gölgesi ötekinin ışığıyla aydınlanır.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kaynakları ve doğrusal yayılma — adım 1/5
• Işığı kendisi üreten cisimlere ışık kaynağı denir: Güneş, ampul, mum alevi, telefon ekranı.
• Ay ya da bir kitap sayfası ise kaynak değildir; üzerlerine düşen ışığı yansıtarak görünürler.
• Işık, saydam ve türdeş bir ortamda doğrular boyunca yayılır; gölge ve yarı gölgenin oluşması bunun doğrudan kanıtıdır.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kaynakları ve doğrusal yayılma — adım 2/5
• Noktasal kaynak: boyutları, uzaklığın yanında ihmal edilebilen kaynak. Bu konudaki bağıntılar noktasal kaynaklar içindir.
• Yaygın kaynak: boyutu ihmal edilemeyen kaynak; yarı gölge oluşturur.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kaynakları ve doğrusal yayılma — adım 3/5
• Noktasal bir kaynağın önüne bir cisim koyduğunda perdede keskin kenarlı bir tam gölge oluşur: perdenin her noktası kaynağı ya görür ya görmez.
• Kaynak büyüdüğünde perdenin bazı noktaları kaynağın yalnızca bir kısmını görür; bu ara bölgeye yarı gölge denir.
• Bir kaynağın noktasal sayılıp sayılmaması boyutuna değil, boyutunun uzaklığa oranına bağlıdır.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kaynakları ve doğrusal yayılma — adım 4/5
Neden noktasal kabul ediyoruz? Bir lambaya 10 metreden bakarken 10 cm'lik boyutu önemsizdir. Aynı lambaya 10 cm'den bakarken ise ters kare yasası artık geçerli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kaynakları ve doğrusal yayılma — şekil
Işık doğrular boyunca yayıldığı için gölgeler keskin kenarlıdır. Noktasal bir kaynakta perdenin her noktası ya ışık alır ya almaz — arada ara ton yoktur. Kaynak büyüdüğünde ise perdenin bazı noktaları kaynağın yalnızca bir kısmını görebilir; o bölgeye yarı gölge denir. Güneş tutulmasında tam ve parçalı tutulma bölgeleri tam olarak bu iki bölgedir.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türdeş ortamda doğrular boyunca yayılır; gölgeler bunun kanıtıdır. Boyutu uzaklığın yanında önemsiz olan kaynak noktasaldır ve bu konunun bağıntıları onun içindir.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Güneş dev bir kaynak olduğu hâlde gölgemizin kenarı neden oldukça keskindir?
Sınıfa sorun, birkaç tahmin alın; sonra cevap slaytına geçin.
Cevap: Güneş çok büyüktür ama çok da uzaktır; gökyüzünde yalnızca yarım derece kadar yer kaplar. Boyutunun uzaklığa oranı küçük olduğu için neredeyse noktasal davranır. Yerden 1 m yüksekteki bir cismin gölgesinde yarı gölge şeridi yalnızca 1 cm kadardır.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Güneş çok büyüktür ama çok da uzaktır; gökyüzünde yalnızca yarım derece kadar yer kaplar. Boyutunun uzaklığa oranı küçük olduğu için neredeyse noktasal davranır. Yerden 1 m yüksekteki bir cismin gölgesinde yarı gölge şeridi yalnızca 1 cm kadardır.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büyüklük, üç soru — adım 1/5
• Bir lambaya üç farklı soru sorabilirsin ve her birinin cevabı ayrı bir büyüklüktür.
• Bunları bir bahçe fıskiyesiyle düşünmek kolaylaştırır.
• Fıskiye saniyede belli bir miktar su püskürtür; suyun bir kısmı bir yöne, bir kısmı başka yöne gider; çimin her metrekaresi de bundan kendi payını alır.
• Işıkta da durum tam olarak böyledir: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büyüklük, üç soru — adım 2/5
• Toplam ne kadar ışık? Kaynağın her yöne birden saçtığı ışığın tamamı: ışık akısı. Fıskiyenin saniyede püskürttüğü toplam su gibi.
• Bu yöne ne kadar ışık? Akının belli bir doğrultudaki yoğunluğu: ışık şiddeti. Fıskiyenin tek bir yöne gönderdiği su gibi.
• Buraya ne kadar ışık düşüyor? Bir yüzeyin birim alanına düşen pay: aydınlanma şiddeti. Çimin bir metrekaresinin ıslanması gibi.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büyüklük, üç soru — adım 3/5
• İlk ikisi kaynağın, üçüncüsü yüzeyin özelliğidir.
• Lambayı masaya yaklaştırınca lambanın akısı da şiddeti de değişmez; değişen, masanın aydınlanmasıdır.
• Ampul kutusunda yazan “watt” ise bu üçünden hiçbiri değildir: ampulün çektiği elektrik gücüdür, verdiği ışık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büyüklük, üç soru — adım 4/5
Büyüklük | Simge | Birim | Neyin özelliği
Işık akısı | Φ | lümen (lm) | kaynağın
Işık şiddeti | I | kandela (cd) | kaynağın, bir yönde
Aydınlanma şiddeti | E | lüks (lx) | yüzeyin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büyüklük, üç soru — şekil
Işığı fıskiye gibi düşün: fıskiyenin saniyede püskürttüğü toplam su ışık akısına, tek bir yöne giden su ışık şiddetine, çimin bir metrekaresine düşen su da aydınlanmaya benzer. Fıskiyeden uzaklaştıkça aynı su daha geniş bir alana dağılır; ışıkta da kaynaktan uzaklaşınca her metrekareye daha az ışık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Akı kaynağın saçtığı toplam ışık, şiddet bunun bir yöndeki yoğunluğu, aydınlanma ise yüzeyin birim alanına düşen paydır. İlk ikisi kaynağın, üçüncüsü yüzeyin özelliğidir.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Aynı lamba masanı aydınlatıyor ama odanın köşesi loş kalıyorsa hangi büyüklük değişmiştir?
Sınıfa sorun, birkaç tahmin alın; sonra cevap slaytına geçin.
Cevap: Yalnızca aydınlanma. Lambanın akısı ve şiddeti her yer için aynıdır, çünkü ikisi de lambanın özelliğidir. Köşe hem daha uzakta olduğu hem de ışığı daha eğik aldığı için metrekaresine daha az ışık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Yalnızca aydınlanma. Lambanın akısı ve şiddeti her yer için aynıdır, çünkü ikisi de lambanın özelliğidir. Köşe hem daha uzakta olduğu hem de ışığı daha eğik aldığı için metrekaresine daha az ışık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lümen, kandela ve lüks arasındaki bağlar; ters kare yasası ve cosθ çarpanı nereden geliyor, gerçek sayılarla.
04 Işık akısı (Φ)
05 Işık şiddeti (I) ve katı açı
06 Aydınlanma şiddeti (E)
07 Ters kare yasası
08 Eğik yüzeyler: cosθ çarpanı
09 Sayılarla hisset: kaç lüks?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akısı (Φ) — adım 1/4
• Işık akısı, kaynağın birim zamanda yaydığı görünür ışık enerjisidir.
• Birimi lümen (lm)'dir.
• Ampul kutusunda yazan değer budur; watt ise ampulün çektiği elektrik gücüdür, yaydığı ışık değil.
• İkisini birbirine bağlayan büyüklüğe ışık verimliliği denir: her watt elektrik başına kaç lümen ışık elde edildiği.
verimlilik = Φ / P   birim: lm / 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akısı (Φ) — adım 2/4
Ampul | Çektiği güç | Işık akısı | Verimlilik
Akkor | 60 W | ≈ 800 lm | ≈ 13 lm/W
Akkor | 100 W | ≈ 1400 lm | ≈ 14 lm/W
LED | 10 W | ≈ 800 lm | ≈ 80 lm/W
LED | 9 W | ≈ 800 lm | ≈ 89 lm/W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akısı (Φ) — adım 3/4
• Tablo, anlatımın başındaki sorunun cevabıdır.
• Akkor ampuller varken “60 watt” demek “yaklaşık 800 lümen” demekle aynı şeydi, çünkü bütün akkor ampuller kabaca aynı verimlilikteydi.
• LED'ler aynı ışığı altı kat daha az elektrikle verince watt artık ışığı anlatmaz oldu; kutulara lümen yazılmaya başlandı.
• Sayfanın 04 numaralı bölümündeki oda tasarımında da ampul başına değer lümen olarak seçilir.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akısı (Φ) — şekil
Işık akısı, kaynağın her yöne birden yaydığı görünür ışığın toplamıdır; birimi lümendir. Ampul kutusundaki watt değeri kaynağın harcadığı elektrik gücünü söyler, ürettiği ışığı değil — bu yüzden 9 W'lık bir LED, 60 W'lık akkor ampulle aynı 800 lümeni verebilir.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akısı kaynağın her yöne saçtığı toplam görünür ışıktır ve lümenle ölçülür. Watt çekilen elektrik gücüdür; LED aynı lümeni akkor ampulün altıda biri kadar wattla verir.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adım 1/6
• Işık şiddeti, kaynağın belli bir doğrultuda, birim katı açıya gönderdiği akıdır.
• Birimi kandela (cd)'dır ve SI'nın yedi temel biriminden biridir.
• Tanımı anlamak için önce “katı açıyı” tanımak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adım 2/6
• Düzlemde açıyı radyanla ölçersin: yay uzunluğu bölü yarıçap.
• Uzayda aynı fikir bir koni için kullanılır.
• Katı açı ω, kürenin merkezinden bakıldığında bir yüzeyin kapladığı açıdır ve ω = A / r² ile hesaplanır; birimi steradyan (sr)'dır.
• 1 m yarıçaplı bir kürenin yüzeyindeki 1 m²'lik bir parça 1 sr kaplar.
• Tüm küre 4π ≈ 12,57 sr'dır.
ω = A / r²   I = Φ / ω   1 cd = 1 lm / 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adım 3/6
Formüldeki harfler ne anlama geliyor?
Sembol | Anlamı | Birimi
Φ | ışık akısı: koninin içinden geçen ışık miktarı | lümen (lm)
I | ışık şiddeti: o yöne giden ışığın yoğunluğu | kandela (cd)
ω | katı açı: ışık konisinin ne kadar geniş olduğu | steradyan (sr)
A | koninin, kaynağı saran küre üzerinde kapladığı alan | m²
r | o kürenin yarıçapı, yani kaynağa uzaklık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adım 4/6
Toplam akı nereden geliyor?
• Tanımı çevir: I = Φ/ω ise bir koninin içindeki akı Φ = I·ω'dır.
• Eşit yayan kaynak: ışığı her yöne eşit yayan noktasal kaynakta I her doğrultuda aynıdır.
• Bütün uzay: kaynağı saran kürenin tamamı için ω = 4πr²/r² = 4π sr.
• Sonuç: toplam akı Φ(toplam) = 4π·I olur; yani akı, şiddetin yaklaşık 12,6 katıdır.
Φ = I · ω   Φ(toplam) = 4π ·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adım 5/6
• Noktasal bir kaynak ışığı her yöne eşit yayarsa, çevresindeki tüm uzay 4π steradyan olduğu için toplam akı 4π·I olur.
• Bir mum yaklaşık 1 cd şiddetindedir; toplam akısı 4π · 1 ≈ 12,6 lm eder.
• Bir el feneri ise aynı akıyı dar bir koniye sıkıştırır: 100 lümeni 0,1 sr'lık bir koniye toplayan fenerin şiddeti 100/0,1 = 1000 cd'dır.
• Aynı 100 lümeni her yöne eşit saçan bir ampulün şiddeti yalnızca 100/12,57 ≈ 8 cd'dır.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Işık şiddeti (I) ve katı açı — şekil
Bir kaynak ışığını her yöne eşit dağıtmayabilir: el feneri ışığın çoğunu dar bir koniye sıkıştırır, mum her yöne aynı miktarda yayar. Işık şiddeti, belli bir yöndeki akı yoğunluğudur — yani akının uzay açısına bölümü. Bu yüzden 100 lümenlik bir el feneri, 100 lümenlik bir mumdan çok daha parlak görünür: aynı akıyı çok daha küçük bir açıya sıkıştırmıştır.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şiddeti birim katı açıya düşen akıdır: I = Φ/ω, birimi kandela. Her yöne eşit yayan noktasal kaynakta toplam akı Φ = 4π·I'dır.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El fenerinin önündeki parlak yansıtıcıyı çıkarırsan ışık akısı mı, ışık şiddeti mi değişir?
Sınıfa sorun, birkaç tahmin alın; sonra cevap slaytına geçin.
Cevap: Akı hemen hemen aynı kalır; aynı LED aynı elektrikle aynı miktarda ışık üretir. Değişen, ileri doğrultudaki şiddettir: yansıtıcı ışığı dar bir koniye topluyordu, o gidince ışık geniş bir açıya dağılır ve karşıdaki duvardaki leke hem büyür hem sönükleşir.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Akı hemen hemen aynı kalır; aynı LED aynı elektrikle aynı miktarda ışık üretir. Değişen, ileri doğrultudaki şiddettir: yansıtıcı ışığı dar bir koniye topluyordu, o gidince ışık geniş bir açıya dağılır ve karşıdaki duvardaki leke hem büyür hem sönükleşir.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Aydınlanma şiddeti (E) — adım 1/5
• Aydınlanma şiddeti, bir yüzeyin birim alanına düşen ışık akısıdır.
• Birimi lüks (lx)'tür.
• Kaynağın değil, yüzeyin özelliğidir.
E = Φ / A   1 lx = 1 lm / m²   E = I / d²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Aydınlanma şiddeti (E) — adım 2/5
Formüldeki harfler ne anlama geliyor?
Sembol | Anlamı | Birimi
E | aydınlanma şiddeti: yüzeyin bir metrekaresine düşen ışık | lüks (lx)
Φ | yüzeye düşen toplam ışık akısı | lümen (lm)
A | ışığın düştüğü yüzeyin alanı | m²
I | kaynağın ışık şiddeti | kandela (cd)
d | kaynak ile yüzey arasındaki uzaklık |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Aydınlanma şiddeti (E) — adım 3/5
• Aynı 100 lümen 1 m²'lik bir yüzeye düşerse aydınlanma 100 lx, 4 m²'lik bir yüzeye yayılırsa 25 lx olur.
• Işığın toplam miktarı değişmemiştir, yalnızca daha çok metrekareye bölünmüştür.
• Son bağıntı, E = I/d², bir sonraki bölümün konusu; aydınlanmayı doğrudan kaynağın şiddetine ve uzaklığa bağlar.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Aydınlanma şiddeti (E) — adım 4/5
• İlk bağıntıyı tersine çevirmek, aydınlatma tasarımının temelidir: bir yüzeyin tamamını E düzeyinde aydınlatmak için gereken akı Φ = E·A'dır.
• Sayfanın 04 numaralı bölümündeki başlangıç değerleriyle 16 m²'lik bir çalışma odasını 500 lx'e getirmek için 16 · 500 = 8000 lm gerekir; bu da 800 lümenlik 10 ampul eder.
• Aydınlanmayı ölçen cihaza lüksmetre denir; birçok telefonun ön yüzünde de bu işi yapan küçük bir ışık algılayıcısı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Aydınlanma şiddeti (E) — şekil
Aydınlanma, yüzeye düşen akının birim alana bölünmesidir. Sağdaki yüzeye tam olarak aynı miktarda ışık düşüyor — ama dört kat geniş olduğu için her metrekaresine dörtte biri düşer ve yüzey dört kat sönük görünür. Bu yüzden lüks, kaynağın değil yüzeyin özelliğidir: aynı ampul, masayı aydınlatır ama odanın köşesini aydınlatmaz.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Aydınlanma, birim alana düşen akıdır: E = Φ/A, birimi lüks. Bir yüzeyi E düzeyinde aydınlatmak için Φ = E·A kadar akı gerekir.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adım 1/6
• Noktasal kaynaktan çıkan akı, uzaklaştıkça yarıçapın karesiyle büyüyen bir küre yüzeyine yayılır.
• Küre yüzeyi 4πd² olduğundan: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adım 2/6
• Akı korunur: kaynağın her yöne saçtığı akı Φ, yolda kaybolmadan kaynağı saran her küre yüzeyinden geçer.
• Alan büyür: d uzaklıktaki kürenin yüzeyi A = 4πd²'dir.
• Aydınlanma: E = Φ/A = Φ/(4πd²).
• Şiddetle yaz: Φ = 4π·I koyunca 4π sadeleşir: E = I/d².
E = Φ / (4π·d²) = I / d²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adım 3/6
• Uzaklık 2 katına çıkarsa aydınlanma 4'te bire iner.
• Uzaklık 3 katına çıkarsa aydınlanma 9'da bire iner.
• Aydınlanmayı 2 katına çıkarmak için uzaklığı √2 kat azaltmak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adım 4/6
• Işık şiddeti 100 cd olan bir lamba için bu düzen sayılarda şöyle görünür: 0,5 m'de 400 lx, 1 m'de 100 lx, 2 m'de 25 lx, 3 m'de yaklaşık 11 lx, 4 m'de 6,25 lx.
• Lambadan 0,5 m'den 4 m'ye gitmek, yani 8 kat uzaklaşmak aydınlanmayı 64 kat azaltır.
• Birimleri de sına: cd/m² = (lm/sr)/m²; steradyan birimsiz bir oran olduğu için sonuç lm/m² = lx olur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adım 5/6
• Sayfanın 02 numaralı bölümünde perdeyi uzaklaştırarak 1, 4, 9 karelik yayılmayı izleyebilirsin.
Yasa yalnızca noktasal kaynak içindir. Uzun bir flüoresan tüpün ya da aydınlatılmış bir tavanın altında aydınlanma bu kadar hızlı azalmaz.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Ters kare yasası — şekil
Kaynaktan çıkan aynı demet, uzaklık iki katına çıkınca dört kat, üç katına çıkınca dokuz kat geniş bir alana yayılır. Aynı akı daha çok kareye bölündüğü için her kareye düşen pay ters kareyle azalır: E = I/d². Ampulden iki kat uzaklaşmak, masanı yarı değil dörtte bir kadar aydınlık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Noktasal kaynağın akısı 4πd²'lik küre yüzeyine yayıldığı için E = I/d²'dir. Uzaklık 2 kat artarsa aydınlanma 4'te bire, 3 kat artarsa 9'da bire iner.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Işık şiddeti 4 kat büyük bir lambayı masadan 2 kat uzağa asarsan aydınlanma nasıl değişir?
Sınıfa sorun, birkaç tahmin alın; sonra cevap slaytına geçin.
Cevap: Hiç değişmez. Şiddet 4 kat artınca aydınlanma 4 katına çıkar, uzaklık 2 kat artınca 2² = 4'te birine iner; iki etki birbirini götürür. E = I/d² bağıntısında 4I/(2d)² = I/d²'dir.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Hiç değişmez. Şiddet 4 kat artınca aydınlanma 4 katına çıkar, uzaklık 2 kat artınca 2² = 4'te birine iner; iki etki birbirini götürür. E = I/d² bağıntısında 4I/(2d)² = I/d²'dir.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yüzeyler: cosθ çarpanı — adım 1/5
• Işık yüzeye dik gelmiyorsa, aynı akı daha büyük bir alana yayılır.
• Yüzeyin normali ile ışığın doğrultusu arasındaki açı θ ise:
• Dik geliş: demet, kendi kesitine eşit A₀ alanlı bir bölgeyi aydınlatır.
• Eğik geliş: yüzey θ kadar eğilince aynı demet A₀/cosθ'lık daha geniş bir alana yayılır.
• Akı aynı: E = Φ/A = (Φ/A₀)·cosθ, yani dik gelişteki değerin cosθ katı.
E = I · cosθ / d²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yüzeyler: cosθ çarpanı — adım 2/5
Geliş açısı θ | cosθ | Aydınlanmanın payı
0° (dik) | 1 | %100
37° | 0,8 | %80
53° | 0,6 | %60
60° | 0,5 | %50
90° (teğet) | 0 |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yüzeyler: cosθ çarpanı — adım 3/5
• θ = 0'da (dik geliş) aydınlanma en büyüktür; θ = 60°'de yarıya iner; θ = 90°'de (ışık yüzeye teğet) sıfırdır.
• Mevsimlerin oluş sebebi de budur: kışın Güneş ışınları yere daha eğik gelir.
• Yaklaşık 40° enlemde öğle Güneşi yaz ortasında yerle yaklaşık 73°, kış ortasında yaklaşık 27° açı yapar; aynı metrekareye kışın yazın düşenin yarısından az ışık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yüzeyler: cosθ çarpanı — adım 4/5
• Sayfanın 01 numaralı laboratuvarındaki “Eğik yüzey 60°” düğmesi aydınlanmanın yarıya indiğini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Eğik yüzeyler: cosθ çarpanı — şekil
Yüzey eğildiğinde aynı ışık demeti daha geniş bir alana yayılır, bu yüzden her metrekareye düşen pay azalır. Kayıp tam olarak cosθ çarpanıyla verilir: E = I·cosθ/d². Kışın güneşin daha eğik gelmesi ve kutupların hep soğuk olması aynı geometrinin sonucudur — gelen enerji aynıdır, yayıldığı alan farklıdır.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Işık eğik gelince aynı akı daha geniş alana yayılır ve aydınlanma cosθ kadar azalır: E = I·cosθ/d². θ, yüzeyin normaliyle ışın arasındaki açıdır.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Lambanın tam altından yana doğru kaydıkça masadaki aydınlanma neden iki sebeple birden azalır?
Sınıfa sorun, birkaç tahmin alın; sonra cevap slaytına geçin.
Cevap: Birincisi, lambaya uzaklık artar ve E, 1/d² ile düşer. İkincisi, ışık masaya giderek daha eğik gelir, θ büyür ve cosθ küçülür. İki etki çarpılarak birleşir; bu yüzden lambanın ışık havuzu kenarlara doğru hızla kararır.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Birincisi, lambaya uzaklık artar ve E, 1/d² ile düşer. İkincisi, ışık masaya giderek daha eğik gelir, θ büyür ve cosθ küçülür. İki etki çarpılarak birleşir; bu yüzden lambanın ışık havuzu kenarlara doğru hızla kararır.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adım 1/6
• Lüks sayıları soyut kalmasın; tanıdık ortamlarda ölçülen tipik değerlere bakalım: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adım 2/6
Ortam | Aydınlanma
Dolunaylı gece | ≈ 0,25 lx
Sokak aydınlatması | 10 – 20 lx
Ev oturma odası | 100 – 200 lx
Sınıf, ofis, okuma masası | 300 – 500 lx
Bulutlu gün, dış ortam | ≈ 1000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adım 3/6
• Doğrudan güneş ışığı ise yaklaşık 100 000 lx verir.
• Bir mum yaklaşık 1 cd şiddetindedir; 100 W'lık akkor ampul ≈ 1400 lm, 10 W'lık LED ampul ≈ 800 lm akı yayar.
• Şimdi sayfanın 01 numaralı laboratuvarındaki hazır sahneleri E = I/d² ile hesaplayalım: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adım 4/6
Sahne | Şiddet | Uzaklık | Aydınlanma
Masa lambası | 50 cd | 0,5 m | 200 lx
Tavan lambası | 400 cd | 2,5 m | 64 lx
Sokak lambası | 2000 cd | 6 m | ≈ 56 lx
Eğik yüzey 60° | 400 cd | 2,5 m | 32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adım 5/6
• Tablodan okunan düzen şaşırtıcıdır: 50 cd'lık küçük masa lambası, şiddeti 40 kat büyük sokak lambasından daha çok aydınlatıyor.
• Sokak lambası 12 kat uzakta olduğu için ışığı 144 kat geniş bir alana yayılıyor; 40 kat şiddet bunu karşılamaya yetmiyor.
• Aydınlanmada uzaklık, şiddetten çok daha etkilidir.
• Dolunaylı gece ile doğrudan güneş arasında ise dört yüz bin kat fark var; gözümüz bu farkı kendini uyarlayarak gizler.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kaç lüks? — şekil
Ölçek logaritmiktir: her adım on katı gösterir. Dolunaylı bir gece ile doğrudan güneş arasında dört yüz bin kat fark var, ama gözümüz bu farkı öyle algılamaz — göz bebeği ve retina kendini uyarlar. Bu yüzden "yeterince aydınlık" demek yerine ölçmek gerekir: bir okuma masası için hedef 300–500 lüks.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Aydınlanma dolunaylı gecede 0,25 lx'ten doğrudan güneşte 100 000 lx'e kadar uzanır; okuma için 300–500 lx gerekir. Uzaklığın karesi, şiddetten çok daha belirleyicidir.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iki kaynağı karşılaştırmak, noktasal kaynak modelinin sınırları ve aydınlatma tasarımı.
10 Fotometre: iki kaynağı karşılaştırmak
11 Noktasal kaynak modelinin sınırları
12 Aydınlatma gerçek dünyada
Görsel: Işık tasarımı bir hesap işidir. Projektörler yüksek kulelere yerleştirilir ve her biri sahanın farklı bir bölgesine yönlendirilir; böylece uzaklığın ve eğik gelişin getirdiği azalmalar birbirini dengeler, saha her yerde yaklaşık eşit aydınlanır. Dolunayın verdiği çeyrek lüksün yanında projektörlerin sağladığı aydınlanma binlerce kat büyüktür.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Fotometre: iki kaynağı karşılaştırmak — adım 1/4
• Bilinmeyen bir lambanın şiddetini nasıl ölçersin?
• En eski yol, onu şiddeti bilinen bir lambayla karşılaştırmaktır.
• İki lamba arasına, iki yüzü ayrı ayrı aydınlanan bir ekran konur ve ekran iki yüzü eşit parlak görünene kadar kaydırılır.
• Bu düzeneğe fotometre denir.
• Eski fotometrelerde ekran, ortasında yağ lekesi olan bir kâğıttı: iki yüz eşit aydınlandığında leke neredeyse kaybolur.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Fotometre: iki kaynağı karşılaştırmak — adım 2/4
• Lambalar arası uzaklık L, ekranın birinci lambaya uzaklığı x ise:
• Eşitlik: iki yüzün aydınlanması eşit: I₁/x² = I₂/(L−x)².
• Karekök al: √I₁/x = √I₂/(L−x).
• Düzenle: x/(L−x) = √(I₁/I₂); uzaklıkların oranı şiddetlerin karekökünün oranıdır.
• Ölçüm: I₁ biliniyorsa bilinmeyen şiddet I₂ = I₁·((L−x)/x)² ile bulunur.
I₁ / x² = I₂ / (L − x)²   x / (L − x) = √(I₁ / I₂)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Fotometre: iki kaynağı karşılaştırmak — adım 3/4
• Sayfanın 03 numaralı bölümündeki başlangıç değerlerini dene: 400 cd ve 100 cd'lık lambalar 200 cm arayla duruyor. √(400/100) = 2 olduğu için ekranın güçlü lambaya uzaklığı, zayıf lambaya uzaklığının iki katı olmalı: x = 2·200/3 ≈ 133 cm.
• Ölçüm için de bir örnek: 100 cd'lık lamba ekrandan 1 m, bilinmeyen lamba 1,5 m uzakta dengeye geliyorsa I₂ = 100 · 1,5² = 225 cd'dır.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Fotometre: iki kaynağı karşılaştırmak — şekil
Fotometrede ekran, iki yüzü eşit aydınlanana kadar lambaların arasında kaydırılır. Denge noktası zayıf lambaya daha yakındır: zayıf lamba eksik şiddetini ancak ekrana yakın durarak telafi eder, çünkü aydınlanma uzaklığın karesiyle azalır. Ekranın güçlü lambaya uzaklığı zayıf lambaya uzaklığının iki katıysa, güçlü lamba dört kat şiddetlidir.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Fotometrede iki yüzün eşit aydınlandığı noktada I₁/x² = I₂/(L−x)²'dir. Uzaklıkların oranı şiddetlerin karekökünün oranıdır; denge noktası zayıf lambaya yakındır.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Fotometrede denge noktası neden her zaman zayıf lambaya daha yakındır?
Sınıfa sorun, birkaç tahmin alın; sonra cevap slaytına geçin.
Cevap: Aydınlanma şiddetle doğru, uzaklığın karesiyle ters orantılıdır. Zayıf lamba, eksik şiddetini ancak ekrana daha yakın durarak telafi edebilir. Şiddetler eşitse denge tam ortadadır; birinin şiddeti 4 kat büyükse ekran ondan 2 kat uzakta dengeye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Aydınlanma şiddetle doğru, uzaklığın karesiyle ters orantılıdır. Zayıf lamba, eksik şiddetini ancak ekrana daha yakın durarak telafi edebilir. Şiddetler eşitse denge tam ortadadır; birinin şiddeti 4 kat büyükse ekran ondan 2 kat uzakta dengeye gelir.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Noktasal kaynak modelinin sınırları — adım 1/4
• E = I·cosθ/d² bağıntısı güçlü ama bir model üzerine kurulu: ışığı her yöne eşit saçan, noktasal, tek bir kaynak ve ışığı yutan ya da yansıtan hiçbir şey.
• Gerçek aydınlatmada bu varsayımların her biri biraz esner: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Noktasal kaynak modelinin sınırları — adım 2/4
• Kaynak büyükse: uzun flüoresan tüpün yakınında E yaklaşık 1/d ile, geniş aydınlık tavanın altında neredeyse hiç azalmaz.
• Beş kat kuralı: uzaklık kaynağın boyunun en az beş katıysa ters kare yasasının hatası yaklaşık %1'dir; daha yakında hata hızla büyür.
• Işık her yöne eşit gitmeyebilir: spot lamba, far ya da el feneri ışığı bir koniye toplar; I yöne bağlıdır ve Φ = 4π·I kullanılamaz.
• Yansıyan ışık: odada duvar ve tavandan yansıyan ışık aydınlanmayı artırır; beyaz duvarlı oda aynı lambayla daha aydınlık 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Noktasal kaynak modelinin sınırları — adım 3/4
• Birden çok kaynak: bir noktadaki aydınlanmalar toplanır: E = E₁ + E₂. Her lamba kendi uzaklığı ve açısıyla ayrı hesaplanır.
• Lümen gözle tartılır: göz sarı-yeşile en duyarlıdır; 1 W'lık bu ışık yaklaşık 683 lm eder, kızılötesi ise hiç lümen vermez.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Noktasal kaynak modelinin sınırları — adım 4/4
• Son madde, lümenin neden sıradan bir enerji birimi olmadığını açıklar.
• Işık akısı, yayılan gücün gözün duyarlılığına göre tartılmış hâlidir.
• Akkor ampul enerjisinin büyük kısmını gözün göremediği kızılötesi ışınım olarak saçar; bu enerji ısıtır ama hiç lümen vermez.
• LED'in üstünlüğü, enerjisini gözün en iyi gördüğü renklere yoğunlaştırmasıdır.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Ters kare yasası noktasal, her yöne eşit yayan kaynak içindir; büyük ve yönlendirilmiş kaynaklarda ve yansımalı ortamlarda sapma olur. Birden çok kaynağın aydınlanmaları toplanır.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Akkor ampul aynı ışığı vermek için neden LED'den yaklaşık altı kat fazla elektrik harcar?
Sınıfa sorun, birkaç tahmin alın; sonra cevap slaytına geçin.
Cevap: Akkor ampul ışığı bir teli akkor hâline gelene kadar ısıtarak üretir. Telin saçtığı enerjinin çoğu kızılötesidir; göz onu görmez, lümen hesabına da girmez. 60 W'lık akkor ampul ile 9–10 W'lık LED aynı 800 lümeni verir; aradaki fark çoğunlukla ısı olarak kaybolur.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Akkor ampul ışığı bir teli akkor hâline gelene kadar ısıtarak üretir. Telin saçtığı enerjinin çoğu kızılötesidir; göz onu görmez, lümen hesabına da girmez. 60 W'lık akkor ampul ile 9–10 W'lık LED aynı 800 lümeni verir; aradaki fark çoğunlukla ısı olarak kaybolur.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Aydınlatma gerçek dünyada — adım 1/3
• Aydınlatma tasarımcılarının işi, bu konunun bağıntılarını tersine kullanmaktır: istenen aydınlanmadan yola çıkıp kaç lamba, ne kadar yükseklik, hangi açı gerektiğini bulmak.
• Amaç çoğunlukla yalnızca “yeterince aydınlık” değil, aynı zamanda her yerde yaklaşık eşit aydınlıktır.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Aydınlatma gerçek dünyada — adım 2/3
• Stadyumlar: televizyon yayını yapılan maçlarda sahadaki aydınlanma çoğunlukla bin lüksün üzerindedir; çok sayıda projektör yüzünden oyuncuların birkaç gölgesi olur.
• Sınıf ve oda tasarımı: Φ = E·A ile gereken toplam lümen bulunur; 16 m²'lik odayı 500 lx'e getirmek için 8000 lm, yani 800 lümenlik 10 ampul gerekir.
• Sokak aydınlatması: direk yüksekliği ve aralığı, direk dibi ile iki direğin ortası arasındaki farkı küçültecek biçimde seçilir; hedef 10–20 lx civarıdır.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Aydınlatma gerçek dünyada — adım 3/3
• Telefon ekranı: ön yüzdeki ışık algılayıcısı ortamın aydınlanmasını ölçer; ekran güneşte parlaklaşır, karanlık odada kısılır.
• Güneş panelleri: öğle Güneşine olabildiğince dik bakacak eğimle kurulur; cosθ küçüldükçe metrekare başına düşen enerji azalır.
• Fotoğraf flaşı: iki kat uzaktaki bir konuyu aynı parlaklıkta çekmek için dört kat ışık gerekir; ters kare yasası fotoğrafçının günlük hesabıdır.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Aydınlatma tasarımı E = I·cosθ/d² ve Φ = E·A bağıntılarını tersine kullanır: istenen lüksten kaç lümen, ne yükseklik ve hangi açı gerektiği bulunur. Amaç yeterli ve eşit aydınlanmadır.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Stadyum projektörleri neden sahanın hemen üstüne değil de yüksek kulelere yerleştirilir?
Sınıfa sorun, birkaç tahmin alın; sonra cevap slaytına geçin.
Cevap: Lamba sahanın bir noktasına çok yakın olsaydı orası çok parlak, uzak noktalar çok sönük kalırdı; çünkü aydınlanma uzaklığın karesiyle düşer. Yüksek ve uzak bir kuleden bakıldığında sahanın yakın ve uzak noktalarının uzaklıkları birbirine daha yakın olur, aydınlanma daha eşit dağılır. Üstelik oyun alanının üstü de boş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Lamba sahanın bir noktasına çok yakın olsaydı orası çok parlak, uzak noktalar çok sönük kalırdı; çünkü aydınlanma uzaklığın karesiyle düşer. Yüksek ve uzak bir kuleden bakıldığında sahanın yakın ve uzak noktalarının uzaklıkları birbirine daha yakın olur, aydınlanma daha eşit dağılır. Üstelik oyun alanının üstü de boş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ışık sorularında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Aydınlanma ve uzaklık
Işık şiddeti 200 cd olan noktasal bir lamba, masanın 2 m üzerindedir. (a) Masadaki aydınlanma nedir? (b) Lamba 4 m'ye çıkarılırsa ne olur?
Verilenler: I = 200 cd · d = 2 m (lamba tam üstte, ışık masaya dik gelir) · (b)'de d = 4 m
İstenen: (a) masadaki aydınlanma E · (b) lamba 4 m'ye çıkınca yeni aydınlanma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Aydınlanma ve uzaklık — çözüm
1. (a) E = I/d² = 200 / 2² = 200/4 = 50 lx
2. (b) d 2 katına çıktı → E dörtte bire 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Aydınlanma ve uzaklık — çözüm
3. E = 200 / 16 = 12,5 lx
4. Aynı sonucu doğrudan 50/4 = 12,5 lx olarak da bulabiliriz.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Toplam akı ve katı açı
Her yöne eşit ışık yayan bir kaynağın ışık şiddeti 100 cd'dır. (a) Toplam akısı nedir? (b) 0,5 sr'lık bir koniye gönderdiği akı nedir?
Verilenler: I = 100 cd (her yöne eşit) · ω = 0,5 sr · π ≈ 3,14
İstenen: (a) toplam akı Φ(toplam) · (b) 0,5 sr'lık koniye giden akı Φ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Toplam akı ve katı açı — çözüm
1. (a) Φ = 4π·I = 4 · 3,14 · 100 ≈ 1256 lm
2. (b) Φ = I·ω = 100 · 0,5 = 50 lm
3. Katı açı hatırlatması: ω = A/r²; tüm küre için ω = 4πr²/r² = 4π sr.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Eğik yüzey
500 cd'lık lamba, yüzeyin 2 m üzerindedir. Yüzey 60° eğildiğinde aydınlanma nasıl değişir?
Verilenler: I = 500 cd · d = 2 m · dik durumda θ = 0° (cos0° = 1) · eğik durumda θ = 60° (cos60° = 0,5)
İstenen: dik durumdaki ve 60° eğik durumdaki aydınlanma 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Eğik yüzey — çözüm
1. Dik durumda: E = 500 / 4 = 125 lx
2. Eğik durumda: E = I·cos60° / d² = 500 · 0,5 /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Eğik yüzey — çözüm
3. E = 62,5 lx — yarıya indi.
4. Açı 90° olsaydı cos90° = 0 olur, yüzey hiç aydınlanmazdı.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Okuma lambası ne kadar yükseğe asılmalı?
Rahat okumak için kitabın üzerinde en az 400 lx gerekiyor. Işık şiddeti 100 cd olan bir lamba kitabın tam üstüne en fazla kaç metre yükseğe konabilir? Lamba 1 m'ye çıkarılırsa aydınlanma kaç lüks olur?
Verilenler: I = 100 cd · gereken en az aydınlanma E = 400 lx · ikinci durumda d = 1 m
İstenen: lambanın konabileceği en büyük yükseklik d · lamba 1 m'deyken aydınlanma E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Okuma lambası ne kadar yükseğe asılmalı? — çözüm
1. E = I/d² → d² = I/E = 100/400 = 0,25 m²
2. d = √0,25 = 0,5 m; lamba bundan yükseğe konmamalı.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Okuma lambası ne kadar yükseğe asılmalı? — çözüm
3. d = 1 m'de: E = 100/1² = 100 lx
4. Uzaklık 2 katına çıktı, aydınlanma 4'te bire indi: 400/4 = 100 lx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Sınıf için kaç armatür?
8 m × 6 m boyutlarındaki bir sınıfın zemininde ortalama 500 lx aydınlanma isteniyor. Her armatür 3000 lm akı veriyor. Işığın tamamının zemine ulaştığı varsayılırsa kaç armatür gerekir?
Verilenler: zemin 8 m × 6 m · istenen E = 500 lx · bir armatürün akısı 3000 lm · ışığın tamamı zemine ulaşır
İstenen: gereken armatür sayısı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Sınıf için kaç armatür? — çözüm
1. Alan: A = 8 · 6 = 48 m²
2. Gereken akı: Φ = E·A = 500 · 48 = 24 000 lm
3. Armatür sayısı: 24 000 / 3000 = 8 armatür
Gerçekte ışığın bir kısmı duvarlarda ve tavanda soğurulur; tasarımcılar bu yüzden hesaplanan sayının üzerine pay ekler. Sayfanın 04 numaralı bölümünde aynı hesabı farklı odalar için deneyebilirsin.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Fotometre
Aralarında 3 m olan iki lambadan biri 400 cd, diğeri 100 cd'dır. İkisinin ortasındaki bir ekranın iki yüzü nerede eşit aydınlanır?
Verilenler: lambalar arası L = 3 m · I₁ = 400 cd · I₂ = 100 cd · ekranın iki yüzü eşit aydınlanır
İstenen: ekranın 400 cd'lık lambaya uzaklığı x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Fotometre — çözüm
1. Eşitlik: I₁/x² = I₂/(L−x)²
2. Karekök: √I₁/x = √I₂/(L−x) → 20/x = 10/(3−x)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Fotometre — çözüm
3. 60 − 20x = 10x → x = 2 m (400 cd'lık lambadan)
4. Kontrol: 400/4 = 100 lx ve 100/1 = 100 lx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Masanın kenarındaki aydınlanma
Işık şiddeti 64 cd olan bir lamba masanın 0,8 m üzerindedir. (a) Lambanın tam altındaki noktada, (b) bu noktadan 0,6 m yana kaymış masa kenarında aydınlanma kaç lükstür?
Verilenler: I = 64 cd · lambanın masadan yüksekliği 0,8 m · masa kenarının tam alttaki noktaya uzaklığı 0,6 m
İstenen: (a) lambanın tam altındaki aydınlanma · (b) masa kenarındaki aydınlanma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Masanın kenarındaki aydınlanma — çözüm
1. (a) Tam altta ışık dik gelir: E = 64 / 0,8² = 64 / 0,64 = 100 lx
2. (b) Lambaya uzaklık: d = √(0,8² + 0,6²) = √1 = 1 m
3. Geliş açısı: cosθ = 0,8 / 1 = 0,8 (ışın ile masanın normali arasındaki açı)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Masanın kenarındaki aydınlanma — çözüm
4. E = I·cosθ / d² = 64 · 0,8 / 1² = 51,2 lx
5. Yalnızca 0,6 m yana kaymak aydınlanmayı neredeyse yarıya indirdi: uzaklık ve eğim birlikte etkiler.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İki sokak lambasının arasında
Işık şiddetleri 500'er cd olan iki sokak lambası 3 m yükseklikte ve aralarında 8 m olacak biçimde dikilmiştir. (a) İki direğin tam ortasındaki noktada, (b) bir direğin dibinde yerdeki aydınlanmayı bulunuz.
Verilenler: her lambada I = 500 cd · lambaların yerden yüksekliği 3 m · iki direk arası 8 m
İstenen: (a) iki direğin tam ortasında yerdeki aydınlanma · (b) bir direğin dibinde yerdeki aydınlanma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İki sokak lambasının arasında — çözüm
1. (a) Orta noktanın her lambaya uzaklığı: d = √(3² + 4²) = 5 m; cosθ = 3/5 = 0,6
2. Her lambadan: E = 500 · 0,6 / 5² = 12 lx → iki lamba birlikte 24 lx
3. (b) Kendi lambasından (dik geliş): E = 500 / 3² ≈ 55,6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8 — İki sokak lambasının arasında — çözüm
4. Öteki lambaya uzaklık √(3² + 8²) = √73 ≈ 8,54 m; cosθ ≈ 0,35 → E ≈ 500 · 0,35 / 73 ≈ 2,4 lx
5. Toplam ≈ 55,6 + 2,4 ≈ 58 lx; direk dibi, orta noktanın yaklaşık 2,4 katı aydınlık.
Kaldırımdaki ışık havuzları ve aralarındaki sönük bölgeler bu hesabın sonucudur. Direkleri sıklaştırmak ya da yükseltmek iki değeri birbirine yaklaştırır.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Işık şiddeti 180 cd olan bir lamba masanın 3 m üzerinde. Lambanın tam altındaki noktada aydınlanma kaç lükstür?
Öğrencilere 2–3 dakika verin; sonra cevap slaytını açın.
Cevap: Cevap: Işık masaya dik gelir: E = I / d² = 180 / 3² = 180 / 9 = 20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Işık masaya dik gelir: E = I / d² = 180 / 3² = 180 / 9 = 20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1200 lümenlik ışık, 4 m²'lik bir tezgâha eşit olarak yayılıyor. Tezgâhtaki aydınlanma kaç lükstür?
Öğrencilere 2–3 dakika verin; sonra cevap slaytını açın.
Cevap: Cevap: E = Φ / A = 1200 / 4 = 300 lx. Her metrekareye 300 lümen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 = Φ / A = 1200 / 4 = 300 lx. Her metrekareye 300 lümen düşer.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Bir lamba masanın 1 m üzerindeyken masadaki aydınlanma 360 lükstür. Lamba 3 m yüksekliğe çıkarılırsa aydınlanma kaç lüks olur?
Öğrencilere 2–3 dakika verin; sonra cevap slaytını açın.
Cevap: Cevap: Uzaklık 3 katına çıktı, aydınlanma 3² = 9'da bire iner: 360 / 9 = 40 lx. Kontrol: I = E · d² = 360 · 1² = 360 cd ve E = 360 / 3² = 40 lx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Uzaklık 3 katına çıktı, aydınlanma 3² = 9'da bire iner: 360 / 9 = 40 lx. Kontrol: I = E · d² = 360 · 1² = 360 cd ve E = 360 / 3² = 40 lx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Işık şiddeti 250 cd olan bir lamba 5 m uzaktaki bir yüzeyi aydınlatıyor. Işın, yüzeyin normaliyle 37° açı yapıyor. Aydınlanma kaç lükstür?
Öğrencilere 2–3 dakika verin; sonra cevap slaytını açın.
Cevap: Cevap: E = I · cosθ / d² = 250 · 0,8 / 5² = 200 / 25 = 8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E = I · cosθ / d² = 250 · 0,8 / 5² = 200 / 25 = 8 lx.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Işık şiddeti 90 cd olan bir lamba masanın 1,2 m üzerinde. Lambanın tam altından 0,9 m uzaktaki noktada aydınlanma kaç lükstür?
Öğrencilere 2–3 dakika verin; sonra cevap slaytını açın.
Cevap: Cevap: Lambaya uzaklık d = √(1,2² + 0,9²) = √2,25 = 1,5 m. Işın masanın normaliyle θ açısı yapar: cosθ = 1,2 / 1,5 = 0,8. E = I · cosθ / d² = 90 · 0,8 / 2,25 = 72 / 2,25 = 32 lx. Tam altta 90 / 1,2² = 62,5 lx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Lambaya uzaklık d = √(1,2² + 0,9²) = √2,25 = 1,5 m. Işın masanın normaliyle θ açısı yapar: cosθ = 1,2 / 1,5 = 0,8. E = I · cosθ / d² = 90 · 0,8 / 2,25 = 72 / 2,25 = 32 lx. Tam altta 90 / 1,2² = 62,5 lx olurdu.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Watt ile lümeni karıştırmak. Watt çekilen elektrik gücü, lümen yayılan ışık akısıdır. LED ampul aynı lümeni çok daha az wattla verir.
• Aydınlanmayı kaynağın özelliği sanmak. Aydınlanma yüzeyin özelliğidir; aynı lamba, farklı uzaklıktaki yüzeyleri farklı aydınlatır.
• Uzaklıkla ters orantı kurmak. Bağıntı 1/d değil 1/d²'dir.
• cosθ'yı unutmak. Yüzey eğikse aydınlanma cosθ kadar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θ'yı ışınla yüzey arasındaki açı sanmak. θ, ışın ile yüzeyin normali arasındadır; ışın yüzeyle 30° yapıyorsa θ = 60°'dir.
• Toplam akıyı I'ya eşitlemek. Noktasal kaynakta Φ = 4π·I'dır; aradaki çarpan yaklaşık 12,6'dır.
• Fotometrede uzaklık oranını şiddet oranına eşitlemek. Uzaklıkların oranı şiddetlerin karekökünün oranıdır: 4 kat şiddet, 2 kat uzaklık demektir.
• Ters kare yasasını her kaynağa uygulamak. Yasa yalnızca noktasal kaynaklar için geçerlidir.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Şiddet kandela · Akı lümen · Aydınlanma lüks · E ile 1/d²
I = Φ / ω — ışık şiddeti (cd)
Φ = 4π · I — nokta kaynağın toplam akısı
E = Φ / A — aydınlanma şiddeti (lx)
E = I · cosθ / d² — uzaklık ve eğim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jp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jpg"/><Relationship Id="rId2" Type="http://schemas.openxmlformats.org/officeDocument/2006/relationships/slideLayout" Target="../slideLayouts/slideLayout1.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10/sek/isik-siddeti-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OPTİK · KONU 01</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800" b="1" spc="-100" kern="0" dirty="0">
                <a:solidFill>
                  <a:srgbClr val="FFFFFF"/>
                </a:solidFill>
                <a:latin typeface="Cambria" pitchFamily="34" charset="0"/>
                <a:ea typeface="Cambria" pitchFamily="34" charset="-122"/>
                <a:cs typeface="Cambria" pitchFamily="34" charset="-120"/>
              </a:rPr>
              <a:t>Işık şiddeti, ışık akısı ve aydınlanma</a:t>
            </a:r>
            <a:endParaRPr lang="en-US" sz="38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Bir lambanın “gücü” ile masanın üzerine düşen ışık aynı şey değildir. Kaynağın yaydığı akı, belli bir yöne gönderdiği şiddet ve yüzeyde ölçülen aydınlanma üç ayrı büyüklüktür — ve aralarındaki bağ uzaklığın karesidir.</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dersler.perinet.org/isik-siddeti.html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Ampul kutularında neden artık "watt" değil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"lümen"</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yazıyor?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Çalışma masan yeterince aydınlık mı, nasıl ölçersin?</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Bu konunun tamamı, birbirine çok benzeyen üç büyüklüğü ayırmakla ilgili: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akı</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kaynağın ürettiği toplam ışıktır,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şiddet</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bunun belli bir yöndeki yoğunluğu, </a:t>
            </a:r>
            <a:pPr indent="0" marL="0">
              <a:lnSpc>
                <a:spcPct val="130000"/>
              </a:lnSpc>
              <a:buNone/>
            </a:pPr>
            <a:r>
              <a:rPr lang="en-US" sz="2200" b="1" dirty="0">
                <a:solidFill>
                  <a:srgbClr val="5F4BD8"/>
                </a:solidFill>
                <a:latin typeface="Cambria" pitchFamily="34" charset="0"/>
                <a:ea typeface="Cambria" pitchFamily="34" charset="-122"/>
                <a:cs typeface="Cambria" pitchFamily="34" charset="-120"/>
              </a:rPr>
              <a:t>aydınlanma</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ise yüzeye düşen paydır.</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200" dirty="0">
                <a:solidFill>
                  <a:srgbClr val="0E1426"/>
                </a:solidFill>
                <a:latin typeface="Cambria" pitchFamily="34" charset="0"/>
                <a:ea typeface="Cambria" pitchFamily="34" charset="-122"/>
                <a:cs typeface="Cambria" pitchFamily="34" charset="-120"/>
              </a:rPr>
              <a:t>Üçünü karıştırmayı bıraktığın an konu biter.</a:t>
            </a:r>
            <a:endParaRPr lang="en-US" sz="22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Önce sezgi: ışığın nasıl yayıldığını gör ve birbirine çok benzeyen üç büyüklüğü formülsüz ayırt et.</a:t>
            </a:r>
            <a:endParaRPr lang="en-US" sz="115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Önce gözlemle: sokak lambalarının altı</a:t>
            </a:r>
            <a:endParaRPr lang="en-US" sz="1250" dirty="0"/>
          </a:p>
        </p:txBody>
      </p:sp>
      <p:sp>
        <p:nvSpPr>
          <p:cNvPr id="15" name="Text 13"/>
          <p:cNvSpPr txBox="1"/>
          <p:nvPr/>
        </p:nvSpPr>
        <p:spPr>
          <a:xfrm>
            <a:off x="859536" y="4224528"/>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Işık kaynakları ve doğrusal yayılma</a:t>
            </a:r>
            <a:endParaRPr lang="en-US" sz="1250" dirty="0"/>
          </a:p>
        </p:txBody>
      </p:sp>
      <p:sp>
        <p:nvSpPr>
          <p:cNvPr id="17" name="Text 15"/>
          <p:cNvSpPr txBox="1"/>
          <p:nvPr/>
        </p:nvSpPr>
        <p:spPr>
          <a:xfrm>
            <a:off x="859536" y="4882896"/>
            <a:ext cx="384048" cy="603504"/>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Üç büyüklük, üç soru</a:t>
            </a:r>
            <a:endParaRPr lang="en-US" sz="1250" dirty="0"/>
          </a:p>
        </p:txBody>
      </p:sp>
      <p:sp>
        <p:nvSpPr>
          <p:cNvPr id="19" name="Shape 17"/>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0" name="Shape 18"/>
          <p:cNvSpPr/>
          <p:nvPr/>
        </p:nvSpPr>
        <p:spPr>
          <a:xfrm>
            <a:off x="3601136" y="1645920"/>
            <a:ext cx="2211248" cy="64008"/>
          </a:xfrm>
          <a:prstGeom prst="rect">
            <a:avLst/>
          </a:prstGeom>
          <a:solidFill>
            <a:srgbClr val="2957D4"/>
          </a:solidFill>
          <a:ln/>
        </p:spPr>
      </p:sp>
      <p:sp>
        <p:nvSpPr>
          <p:cNvPr id="21" name="Shape 19"/>
          <p:cNvSpPr/>
          <p:nvPr/>
        </p:nvSpPr>
        <p:spPr>
          <a:xfrm>
            <a:off x="3637712" y="1920240"/>
            <a:ext cx="420624" cy="420624"/>
          </a:xfrm>
          <a:prstGeom prst="roundRect">
            <a:avLst>
              <a:gd name="adj" fmla="val 26000"/>
            </a:avLst>
          </a:prstGeom>
          <a:solidFill>
            <a:srgbClr val="2957D4"/>
          </a:solidFill>
          <a:ln/>
        </p:spPr>
      </p:sp>
      <p:sp>
        <p:nvSpPr>
          <p:cNvPr id="22" name="Text 20"/>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4" name="Text 22"/>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050" dirty="0">
                <a:solidFill>
                  <a:srgbClr val="4A5470"/>
                </a:solidFill>
                <a:latin typeface="Calibri" pitchFamily="34" charset="0"/>
                <a:ea typeface="Calibri" pitchFamily="34" charset="-122"/>
                <a:cs typeface="Calibri" pitchFamily="34" charset="-120"/>
              </a:rPr>
              <a:t>Bağıntılar: lümen, kandela ve lüks arasındaki bağlar; ters kare yasası ve cosθ çarpanı nereden geliyor, gerçek sayılarla.</a:t>
            </a:r>
            <a:endParaRPr lang="en-US" sz="1050" dirty="0"/>
          </a:p>
        </p:txBody>
      </p:sp>
      <p:sp>
        <p:nvSpPr>
          <p:cNvPr id="25" name="Shape 23"/>
          <p:cNvSpPr/>
          <p:nvPr/>
        </p:nvSpPr>
        <p:spPr>
          <a:xfrm>
            <a:off x="3637712" y="3429000"/>
            <a:ext cx="2138096" cy="0"/>
          </a:xfrm>
          <a:prstGeom prst="line">
            <a:avLst/>
          </a:prstGeom>
          <a:noFill/>
          <a:ln w="9525">
            <a:solidFill>
              <a:srgbClr val="E1E5EE"/>
            </a:solidFill>
            <a:prstDash val="dash"/>
          </a:ln>
        </p:spPr>
      </p:sp>
      <p:sp>
        <p:nvSpPr>
          <p:cNvPr id="26" name="Text 24"/>
          <p:cNvSpPr txBox="1"/>
          <p:nvPr/>
        </p:nvSpPr>
        <p:spPr>
          <a:xfrm>
            <a:off x="3637712" y="356616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04</a:t>
            </a:r>
            <a:endParaRPr lang="en-US" sz="1100" dirty="0"/>
          </a:p>
        </p:txBody>
      </p:sp>
      <p:sp>
        <p:nvSpPr>
          <p:cNvPr id="27" name="Text 25"/>
          <p:cNvSpPr txBox="1"/>
          <p:nvPr/>
        </p:nvSpPr>
        <p:spPr>
          <a:xfrm>
            <a:off x="4021760" y="3566160"/>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Işık akısı (Φ)</a:t>
            </a:r>
            <a:endParaRPr lang="en-US" sz="1250" dirty="0"/>
          </a:p>
        </p:txBody>
      </p:sp>
      <p:sp>
        <p:nvSpPr>
          <p:cNvPr id="28" name="Text 26"/>
          <p:cNvSpPr txBox="1"/>
          <p:nvPr/>
        </p:nvSpPr>
        <p:spPr>
          <a:xfrm>
            <a:off x="3637712" y="3988308"/>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988308"/>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Işık şiddeti (I) ve katı açı</a:t>
            </a:r>
            <a:endParaRPr lang="en-US" sz="1050" dirty="0"/>
          </a:p>
        </p:txBody>
      </p:sp>
      <p:sp>
        <p:nvSpPr>
          <p:cNvPr id="30" name="Text 28"/>
          <p:cNvSpPr txBox="1"/>
          <p:nvPr/>
        </p:nvSpPr>
        <p:spPr>
          <a:xfrm>
            <a:off x="3637712" y="4410456"/>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410456"/>
            <a:ext cx="1754048" cy="367284"/>
          </a:xfrm>
          <a:prstGeom prst="rect">
            <a:avLst/>
          </a:prstGeom>
          <a:noFill/>
          <a:ln/>
        </p:spPr>
        <p:txBody>
          <a:bodyPr wrap="square" lIns="0" tIns="0" rIns="0" bIns="0" rtlCol="0" anchor="t"/>
          <a:lstStyle/>
          <a:p>
            <a:pPr indent="0" marL="0">
              <a:lnSpc>
                <a:spcPct val="105000"/>
              </a:lnSpc>
              <a:buNone/>
            </a:pPr>
            <a:r>
              <a:rPr lang="en-US" sz="1100" b="1" dirty="0">
                <a:solidFill>
                  <a:srgbClr val="0E1426"/>
                </a:solidFill>
                <a:latin typeface="Calibri" pitchFamily="34" charset="0"/>
                <a:ea typeface="Calibri" pitchFamily="34" charset="-122"/>
                <a:cs typeface="Calibri" pitchFamily="34" charset="-120"/>
              </a:rPr>
              <a:t>Aydınlanma şiddeti (E)</a:t>
            </a:r>
            <a:endParaRPr lang="en-US" sz="1100" dirty="0"/>
          </a:p>
        </p:txBody>
      </p:sp>
      <p:sp>
        <p:nvSpPr>
          <p:cNvPr id="32" name="Text 30"/>
          <p:cNvSpPr txBox="1"/>
          <p:nvPr/>
        </p:nvSpPr>
        <p:spPr>
          <a:xfrm>
            <a:off x="3637712" y="4832604"/>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36728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Ters kare yasası</a:t>
            </a:r>
            <a:endParaRPr lang="en-US" sz="1250" dirty="0"/>
          </a:p>
        </p:txBody>
      </p:sp>
      <p:sp>
        <p:nvSpPr>
          <p:cNvPr id="34" name="Text 32"/>
          <p:cNvSpPr txBox="1"/>
          <p:nvPr/>
        </p:nvSpPr>
        <p:spPr>
          <a:xfrm>
            <a:off x="3637712" y="5254752"/>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254752"/>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Eğik yüzeyler: cosθ çarpanı</a:t>
            </a:r>
            <a:endParaRPr lang="en-US" sz="1050" dirty="0"/>
          </a:p>
        </p:txBody>
      </p:sp>
      <p:sp>
        <p:nvSpPr>
          <p:cNvPr id="36" name="Text 34"/>
          <p:cNvSpPr txBox="1"/>
          <p:nvPr/>
        </p:nvSpPr>
        <p:spPr>
          <a:xfrm>
            <a:off x="3637712" y="5676900"/>
            <a:ext cx="384048" cy="367284"/>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09</a:t>
            </a:r>
            <a:endParaRPr lang="en-US" sz="1100" dirty="0"/>
          </a:p>
        </p:txBody>
      </p:sp>
      <p:sp>
        <p:nvSpPr>
          <p:cNvPr id="37" name="Text 35"/>
          <p:cNvSpPr txBox="1"/>
          <p:nvPr/>
        </p:nvSpPr>
        <p:spPr>
          <a:xfrm>
            <a:off x="4021760" y="5676900"/>
            <a:ext cx="1754048" cy="367284"/>
          </a:xfrm>
          <a:prstGeom prst="rect">
            <a:avLst/>
          </a:prstGeom>
          <a:noFill/>
          <a:ln/>
        </p:spPr>
        <p:txBody>
          <a:bodyPr wrap="square" lIns="0" tIns="0" rIns="0" bIns="0" rtlCol="0" anchor="t"/>
          <a:lstStyle/>
          <a:p>
            <a:pPr indent="0" marL="0">
              <a:lnSpc>
                <a:spcPct val="105000"/>
              </a:lnSpc>
              <a:buNone/>
            </a:pPr>
            <a:r>
              <a:rPr lang="en-US" sz="1050" b="1" dirty="0">
                <a:solidFill>
                  <a:srgbClr val="0E1426"/>
                </a:solidFill>
                <a:latin typeface="Calibri" pitchFamily="34" charset="0"/>
                <a:ea typeface="Calibri" pitchFamily="34" charset="-122"/>
                <a:cs typeface="Calibri" pitchFamily="34" charset="-120"/>
              </a:rPr>
              <a:t>Sayılarla hisset: kaç lüks?</a:t>
            </a:r>
            <a:endParaRPr lang="en-US" sz="1050" dirty="0"/>
          </a:p>
        </p:txBody>
      </p:sp>
      <p:sp>
        <p:nvSpPr>
          <p:cNvPr id="38" name="Shape 36"/>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9" name="Shape 37"/>
          <p:cNvSpPr/>
          <p:nvPr/>
        </p:nvSpPr>
        <p:spPr>
          <a:xfrm>
            <a:off x="6379312" y="1645920"/>
            <a:ext cx="2211248" cy="64008"/>
          </a:xfrm>
          <a:prstGeom prst="rect">
            <a:avLst/>
          </a:prstGeom>
          <a:solidFill>
            <a:srgbClr val="5F4BD8"/>
          </a:solidFill>
          <a:ln/>
        </p:spPr>
      </p:sp>
      <p:sp>
        <p:nvSpPr>
          <p:cNvPr id="40" name="Shape 38"/>
          <p:cNvSpPr/>
          <p:nvPr/>
        </p:nvSpPr>
        <p:spPr>
          <a:xfrm>
            <a:off x="6415888" y="1920240"/>
            <a:ext cx="420624" cy="420624"/>
          </a:xfrm>
          <a:prstGeom prst="roundRect">
            <a:avLst>
              <a:gd name="adj" fmla="val 26000"/>
            </a:avLst>
          </a:prstGeom>
          <a:solidFill>
            <a:srgbClr val="5F4BD8"/>
          </a:solidFill>
          <a:ln/>
        </p:spPr>
      </p:sp>
      <p:sp>
        <p:nvSpPr>
          <p:cNvPr id="41" name="Text 39"/>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3" name="Text 41"/>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iki kaynağı karşılaştırmak, noktasal kaynak modelinin sınırları ve aydınlatma tasarımı.</a:t>
            </a:r>
            <a:endParaRPr lang="en-US" sz="1150" dirty="0"/>
          </a:p>
        </p:txBody>
      </p:sp>
      <p:sp>
        <p:nvSpPr>
          <p:cNvPr id="44" name="Shape 42"/>
          <p:cNvSpPr/>
          <p:nvPr/>
        </p:nvSpPr>
        <p:spPr>
          <a:xfrm>
            <a:off x="6415888" y="3429000"/>
            <a:ext cx="2138096" cy="0"/>
          </a:xfrm>
          <a:prstGeom prst="line">
            <a:avLst/>
          </a:prstGeom>
          <a:noFill/>
          <a:ln w="9525">
            <a:solidFill>
              <a:srgbClr val="E1E5EE"/>
            </a:solidFill>
            <a:prstDash val="dash"/>
          </a:ln>
        </p:spPr>
      </p:sp>
      <p:sp>
        <p:nvSpPr>
          <p:cNvPr id="45" name="Text 43"/>
          <p:cNvSpPr txBox="1"/>
          <p:nvPr/>
        </p:nvSpPr>
        <p:spPr>
          <a:xfrm>
            <a:off x="6415888" y="3566160"/>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Fotometre: iki kaynağı karşılaştırmak</a:t>
            </a:r>
            <a:endParaRPr lang="en-US" sz="1250" dirty="0"/>
          </a:p>
        </p:txBody>
      </p:sp>
      <p:sp>
        <p:nvSpPr>
          <p:cNvPr id="47" name="Text 45"/>
          <p:cNvSpPr txBox="1"/>
          <p:nvPr/>
        </p:nvSpPr>
        <p:spPr>
          <a:xfrm>
            <a:off x="6415888" y="4224528"/>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Noktasal kaynak modelinin sınırları</a:t>
            </a:r>
            <a:endParaRPr lang="en-US" sz="1250" dirty="0"/>
          </a:p>
        </p:txBody>
      </p:sp>
      <p:sp>
        <p:nvSpPr>
          <p:cNvPr id="49" name="Text 47"/>
          <p:cNvSpPr txBox="1"/>
          <p:nvPr/>
        </p:nvSpPr>
        <p:spPr>
          <a:xfrm>
            <a:off x="6415888" y="4882896"/>
            <a:ext cx="384048" cy="603504"/>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4882896"/>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Aydınlatma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ışık sorularında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Güç ve watt:</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güç, bir aletin her saniye harcadığı enerjidir ve watt (W) ile ölçülür. 60 W'lık bir ampul her saniye 60 joule elektrik enerjisi çeker.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Alan:</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bir yüzeyin kapladığı yer; metrekare (m²) ile ölçülür. 2 m'ye 3 m'lik bir masanın alanı 2 · 3 = 6 m²'dir.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Paylaştırmak: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aynı miktar daha büyük bir yere yayılırsa her parçaya daha az düşer. Bir pastayı 4 yerine 8 kişi paylaşırsa herkesin payı yarıya iner.</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Kare ve karekök: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3² = 3 · 3 = 9 ve √9 = 3. Formüllerde d² “d'nin karesi” diye okunur; d iki katına çıkarsa d² dört katına çıkar.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Normal ve kosinüs:</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normal, yüzeye dik (90°) çizilen hayalî çizgidir. Açı büyüdükçe cos küçülür: cos0° = 1, cos37° = 0,8, cos53° = 0,6, cos60° = 0,5, cos90° = 0.</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ışığın nasıl yayıldığını gör ve birbirine çok benzeyen üç büyüklüğü formülsüz ayırt et.</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sokak lambalarının altı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Işık kaynakları ve doğrusal yayılma</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Üç büyüklük, üç soru</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10/sek/isik-siddeti-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Her sokak lambası kaldırımda kendi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ışık havuzunu</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oluşturur: direğin dibi en aydınlık yerdir, lambadan uzaklaştıkça parlaklık hızla azalır. Lambaların arasında kalan sönük bölgeler, aydınlanmanın uzaklıkla ne kadar çabuk düştüğünü gösterir; bu düşüşün kuralını ikinci basamakta sayılarla bulacağız.</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dersler.perinet.org/isik-siddeti.html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sokak lambalarının altı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Gece, lambalarla aydınlatılmış bir sokakta yürüdüğünü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direğin dibine geldiğinde kaldırım parlak, yüzün ve ellerin aydınlıktır.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Birkaç adım uzaklaştığında ışık hızla zayıflar; iki direğin arasında kaldırım belirgin biçimde kararır, sonra bir sonraki direğe yaklaştıkça yeniden aydınlanır.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Lambalar aynı, ışıkları aynı; değişen yalnızca senin lambaya göre yerin.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sokak lambalarının altı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kısa yürüyüşte, bu konunun bütün temel gözlemleri saklı:</a:t>
            </a:r>
            <a:endParaRPr lang="en-US" sz="2200" dirty="0"/>
          </a:p>
        </p:txBody>
      </p:sp>
      <p:sp>
        <p:nvSpPr>
          <p:cNvPr id="7" name="Text 5"/>
          <p:cNvSpPr txBox="1"/>
          <p:nvPr/>
        </p:nvSpPr>
        <p:spPr>
          <a:xfrm>
            <a:off x="640080" y="200406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Işık doğrular boyunca gider: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gölgen hep lambanın tam ters yönüne düşer ve sen yürüdükçe lambaya göre konumunla birlikte döner.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Uzaklaştıkça sönükleşir, hem de hızla: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direkten birkaç adım uzaklaşmak kaldırımı gözle görülür biçimde karartır.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Eğik gelen ışık daha az aydınlatır: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direkten uzaklaştıkça ışık kaldırıma daha yatık gelir ve aynı ışık daha geniş bir alana yayılır.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Kaynak ile yüzey ayrı şeylerdir: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lamba her yerde aynı ışığı saçar, ama kaldırımın her yeri aynı aydınlanmaz.</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sokak lambalarının altı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 konunun kalbidir: “lamba ne kadar ışık veriyor?” ile “bu nokta ne kadar aydınlık?” iki ayrı sorudur.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Önce ışığın nasıl yayıldığına, sonra bu iki soruyu ayıran büyüklüklere bakalım.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gözlemle: sokak lambalarının altı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doğrular boyunca gider ve kaynaktan uzaklaştıkça hızla zayıflar. Lambanın verdiği ışık ile bir noktanın ne kadar aydınlandığı ayrı şeylerdir.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İki sokak lambasının tam ortasında dururken neden iki gölgen olur?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sokak lambalarının altı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İki sokak lambasının tam ortasında dururken neden iki gölgen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Her lambanın ışığı sana doğru düz bir çizgi boyunca gelir ve bedenin her birini ayrı bir doğrultuda keser. Bu yüzden kaldırımda, lambaların ters yönlerine düşen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iki ayrı gölge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oluşur. Gölgeler tam karanlık değildir, çünkü birinin gölgesi ötekinin ışığıyla aydınlanır.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 kendisi üreten cisimlere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ışık kaynağı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Güneş, ampul, mum alevi, telefon ekranı.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 ya da bir kitap sayfası ise kaynak değildir; üzerlerine düşen ışığı yansıtarak görünürler.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saydam ve türdeş bir ortamda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doğrular boyunca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yayılır; gölge ve yarı gölgenin oluşması bunun doğrudan kanıtıdır.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28701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Noktasal kaynak: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boyutları, uzaklığın yanında ihmal edilebilen kaynak. Bu konudaki bağıntılar noktasal kaynaklar içindir.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Yaygın kaynak: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boyutu ihmal edilemeyen kaynak; yarı gölge oluşturur.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Noktasal bir kaynağın önüne bir cisim koyduğunda perdede keskin kenarlı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tam gölge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oluşur: perdenin her noktası kaynağı ya görür ya görmez.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Kaynak büyüdüğünde perdenin bazı noktaları kaynağın yalnızca bir kısmını görür; bu ara bölgeye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yarı gölge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kaynağın noktasal sayılıp sayılmaması boyutuna değil, boyutunun uzaklığa oranına bağlıdır.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3C8C21"/>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Neden noktasal kabul ediyoruz?</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Bir lambaya 10 metreden bakarken 10 cm'lik boyutu önemsizdir. Aynı lambaya 10 cm'den bakarken ise ters kare yasası artık geçerli değildir.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2462914" y="1234440"/>
            <a:ext cx="7265867"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1.png">    </p:cNvPr>
          <p:cNvPicPr>
            <a:picLocks noChangeAspect="1"/>
          </p:cNvPicPr>
          <p:nvPr/>
        </p:nvPicPr>
        <p:blipFill>
          <a:blip r:embed="rId1"/>
          <a:stretch>
            <a:fillRect/>
          </a:stretch>
        </p:blipFill>
        <p:spPr>
          <a:xfrm>
            <a:off x="2691514" y="1325880"/>
            <a:ext cx="6808667"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Işık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doğrular boyunca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yayıldığı için gölgeler keskin kenarlıdır. Noktasal bir kaynakta perdenin her noktası ya ışık alır ya almaz — arada ara ton yoktur. Kaynak büyüdüğünde ise perdenin bazı noktaları kaynağın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yalnızca bir kısmını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görebilir; o bölgeye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yarı gölge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denir. Güneş tutulmasında tam ve parçalı tutulma bölgeleri tam olarak bu iki bölgedir.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kaynakları ve doğrusal yayılma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türdeş ortamda doğrular boyunca yayılır; gölgeler bunun kanıtıdır. Boyutu uzaklığın yanında önemsiz olan kaynak noktasaldır ve bu konunun bağıntıları onun içindir.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Güneş dev bir kaynak olduğu hâlde gölgemizin kenarı neden oldukça keskindir?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02 · Işık kaynakları ve doğrusal yayılma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Güneş dev bir kaynak olduğu hâlde gölgemizin kenarı neden oldukça keskindir?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Güneş çok büyüktür ama çok da uzaktır; gökyüzünde yalnızca yarım derece kadar yer kaplar. Boyutunun uzaklığa oranı küçük olduğu için neredeyse noktasal davranır. Yerden 1 m yüksekteki bir cismin gölgesinde yarı gölge şeridi yalnızca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1 cm</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kadardır.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lambaya üç farklı soru sorabilirsin ve her birinin cevabı ayrı bir büyüklüktür.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Bunları bir bahçe fıskiyesiyle düşünmek kolaylaştırır.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Fıskiye saniyede belli bir miktar su püskürtür; suyun bir kısmı bir yöne, bir kısmı başka yöne gider; çimin her metrekaresi de bundan kendi payını 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Işıkta da durum tam olarak böyledir: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Toplam ne kadar ışık?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Kaynağın her yöne birden saçtığı ışığın tamamı: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ışık akısı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Fıskiyenin saniyede püskürttüğü toplam su gibi.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 yöne ne kadar ışık?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Akının belli bir doğrultudaki yoğunluğu: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ışık şiddeti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Fıskiyenin tek bir yöne gönderdiği su gibi.</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Buraya ne kadar ışık düşüyor?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yüzeyin birim alanına düşen pay: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aydınlanma şiddeti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Çimin bir metrekaresinin ıslanması gibi.</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ikisi kaynağın, üçüncüsü yüzeyin özelliğidir.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Lambayı masaya yaklaştırınca lambanın akısı da şiddeti de değişmez; değişen, masanın aydınlanmasıdır.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Ampul kutusunda yazan “watt” ise bu üçünden hiçbiri değildir: ampulün </a:t>
            </a:r>
            <a:pPr indent="0" marL="0">
              <a:lnSpc>
                <a:spcPct val="115000"/>
              </a:lnSpc>
              <a:buNone/>
            </a:pPr>
            <a:r>
              <a:rPr lang="en-US" sz="2200" i="1" dirty="0">
                <a:solidFill>
                  <a:srgbClr val="0E1426"/>
                </a:solidFill>
                <a:latin typeface="Calibri" pitchFamily="34" charset="0"/>
                <a:ea typeface="Calibri" pitchFamily="34" charset="-122"/>
                <a:cs typeface="Calibri" pitchFamily="34" charset="-120"/>
              </a:rPr>
              <a:t>çektiği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elektrik gücüdür, </a:t>
            </a:r>
            <a:pPr indent="0" marL="0">
              <a:lnSpc>
                <a:spcPct val="115000"/>
              </a:lnSpc>
              <a:buNone/>
            </a:pPr>
            <a:r>
              <a:rPr lang="en-US" sz="2200" i="1" dirty="0">
                <a:solidFill>
                  <a:srgbClr val="0E1426"/>
                </a:solidFill>
                <a:latin typeface="Calibri" pitchFamily="34" charset="0"/>
                <a:ea typeface="Calibri" pitchFamily="34" charset="-122"/>
                <a:cs typeface="Calibri" pitchFamily="34" charset="-120"/>
              </a:rPr>
              <a:t>verdiği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ışık değil.</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637178"/>
                <a:gridCol w="1010327"/>
                <a:gridCol w="2424786"/>
                <a:gridCol w="383924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Büyüklük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Simge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Neyin özelliği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Işık akısı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lümen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kaynağın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Işık şiddeti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kandela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kaynağın, bir yönde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Aydınlanma şiddeti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lüks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yüzeyin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Işığı fıskiye gibi düşün: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fıskiyenin saniyede püskürttüğü toplam su ışık akısına, tek bir yöne giden su ışık şiddetine, çimin bir metrekaresine düşen su da aydınlanmaya benzer. Fıskiyeden uzaklaştıkça aynı su daha geniş bir alana dağılır; ışıkta da kaynaktan uzaklaşınca her metrekareye daha az ışık düşer.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Üç büyüklük, üç soru</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Akı kaynağın saçtığı toplam ışık, şiddet bunun bir yöndeki yoğunluğu, aydınlanma ise yüzeyin birim alanına düşen paydır. İlk ikisi kaynağın, üçüncüsü yüzeyin özelliğidir.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Aynı lamba masanı aydınlatıyor ama odanın köşesi loş kalıyorsa hangi büyüklük değişmiştir?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Üç büyüklük, üç soru</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Aynı lamba masanı aydınlatıyor ama odanın köşesi loş kalıyorsa hangi büyüklük değişmiştir?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Yalnızca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aydınlanma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Lambanın akısı ve şiddeti her yer için aynıdır, çünkü ikisi de lambanın özelliğidir. Köşe hem daha uzakta olduğu hem de ışığı daha eğik aldığı için metrekaresine daha az ışık düşer.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lümen, kandela ve lüks arasındaki bağlar; ters kare yasası ve cosθ çarpanı nereden geliyor, gerçek sayılarla.</a:t>
            </a:r>
            <a:endParaRPr lang="en-US" sz="1600" dirty="0"/>
          </a:p>
        </p:txBody>
      </p:sp>
      <p:sp>
        <p:nvSpPr>
          <p:cNvPr id="6" name="Text 4"/>
          <p:cNvSpPr txBox="1"/>
          <p:nvPr/>
        </p:nvSpPr>
        <p:spPr>
          <a:xfrm>
            <a:off x="731520" y="45720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04   </a:t>
            </a:r>
            <a:pPr indent="0" marL="0">
              <a:buNone/>
            </a:pPr>
            <a:r>
              <a:rPr lang="en-US" sz="1150" dirty="0">
                <a:solidFill>
                  <a:srgbClr val="FFFFFF"/>
                </a:solidFill>
                <a:latin typeface="Calibri" pitchFamily="34" charset="0"/>
                <a:ea typeface="Calibri" pitchFamily="34" charset="-122"/>
                <a:cs typeface="Calibri" pitchFamily="34" charset="-120"/>
              </a:rPr>
              <a:t>Işık akısı (Φ)</a:t>
            </a:r>
            <a:endParaRPr lang="en-US" sz="1150" dirty="0"/>
          </a:p>
        </p:txBody>
      </p:sp>
      <p:sp>
        <p:nvSpPr>
          <p:cNvPr id="7" name="Text 5"/>
          <p:cNvSpPr txBox="1"/>
          <p:nvPr/>
        </p:nvSpPr>
        <p:spPr>
          <a:xfrm>
            <a:off x="731520" y="48387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05   </a:t>
            </a:r>
            <a:pPr indent="0" marL="0">
              <a:buNone/>
            </a:pPr>
            <a:r>
              <a:rPr lang="en-US" sz="1150" dirty="0">
                <a:solidFill>
                  <a:srgbClr val="FFFFFF"/>
                </a:solidFill>
                <a:latin typeface="Calibri" pitchFamily="34" charset="0"/>
                <a:ea typeface="Calibri" pitchFamily="34" charset="-122"/>
                <a:cs typeface="Calibri" pitchFamily="34" charset="-120"/>
              </a:rPr>
              <a:t>Işık şiddeti (I) ve katı açı</a:t>
            </a:r>
            <a:endParaRPr lang="en-US" sz="1150" dirty="0"/>
          </a:p>
        </p:txBody>
      </p:sp>
      <p:sp>
        <p:nvSpPr>
          <p:cNvPr id="8" name="Text 6"/>
          <p:cNvSpPr txBox="1"/>
          <p:nvPr/>
        </p:nvSpPr>
        <p:spPr>
          <a:xfrm>
            <a:off x="731520" y="51054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06   </a:t>
            </a:r>
            <a:pPr indent="0" marL="0">
              <a:buNone/>
            </a:pPr>
            <a:r>
              <a:rPr lang="en-US" sz="1150" dirty="0">
                <a:solidFill>
                  <a:srgbClr val="FFFFFF"/>
                </a:solidFill>
                <a:latin typeface="Calibri" pitchFamily="34" charset="0"/>
                <a:ea typeface="Calibri" pitchFamily="34" charset="-122"/>
                <a:cs typeface="Calibri" pitchFamily="34" charset="-120"/>
              </a:rPr>
              <a:t>Aydınlanma şiddeti (E)</a:t>
            </a:r>
            <a:endParaRPr lang="en-US" sz="1150" dirty="0"/>
          </a:p>
        </p:txBody>
      </p:sp>
      <p:sp>
        <p:nvSpPr>
          <p:cNvPr id="9" name="Text 7"/>
          <p:cNvSpPr txBox="1"/>
          <p:nvPr/>
        </p:nvSpPr>
        <p:spPr>
          <a:xfrm>
            <a:off x="731520" y="53721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07   </a:t>
            </a:r>
            <a:pPr indent="0" marL="0">
              <a:buNone/>
            </a:pPr>
            <a:r>
              <a:rPr lang="en-US" sz="1150" dirty="0">
                <a:solidFill>
                  <a:srgbClr val="FFFFFF"/>
                </a:solidFill>
                <a:latin typeface="Calibri" pitchFamily="34" charset="0"/>
                <a:ea typeface="Calibri" pitchFamily="34" charset="-122"/>
                <a:cs typeface="Calibri" pitchFamily="34" charset="-120"/>
              </a:rPr>
              <a:t>Ters kare yasası</a:t>
            </a:r>
            <a:endParaRPr lang="en-US" sz="1150" dirty="0"/>
          </a:p>
        </p:txBody>
      </p:sp>
      <p:sp>
        <p:nvSpPr>
          <p:cNvPr id="10" name="Text 8"/>
          <p:cNvSpPr txBox="1"/>
          <p:nvPr/>
        </p:nvSpPr>
        <p:spPr>
          <a:xfrm>
            <a:off x="731520" y="56388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08   </a:t>
            </a:r>
            <a:pPr indent="0" marL="0">
              <a:buNone/>
            </a:pPr>
            <a:r>
              <a:rPr lang="en-US" sz="1150" dirty="0">
                <a:solidFill>
                  <a:srgbClr val="FFFFFF"/>
                </a:solidFill>
                <a:latin typeface="Calibri" pitchFamily="34" charset="0"/>
                <a:ea typeface="Calibri" pitchFamily="34" charset="-122"/>
                <a:cs typeface="Calibri" pitchFamily="34" charset="-120"/>
              </a:rPr>
              <a:t>Eğik yüzeyler: cosθ çarpanı</a:t>
            </a:r>
            <a:endParaRPr lang="en-US" sz="1150" dirty="0"/>
          </a:p>
        </p:txBody>
      </p:sp>
      <p:sp>
        <p:nvSpPr>
          <p:cNvPr id="11" name="Text 9"/>
          <p:cNvSpPr txBox="1"/>
          <p:nvPr/>
        </p:nvSpPr>
        <p:spPr>
          <a:xfrm>
            <a:off x="731520" y="5905500"/>
            <a:ext cx="5120640" cy="266700"/>
          </a:xfrm>
          <a:prstGeom prst="rect">
            <a:avLst/>
          </a:prstGeom>
          <a:noFill/>
          <a:ln/>
        </p:spPr>
        <p:txBody>
          <a:bodyPr wrap="square" lIns="0" tIns="0" rIns="0" bIns="0" rtlCol="0" anchor="ctr"/>
          <a:lstStyle/>
          <a:p>
            <a:pPr indent="0" marL="0">
              <a:buNone/>
            </a:pPr>
            <a:r>
              <a:rPr lang="en-US" sz="1150" b="1" dirty="0">
                <a:solidFill>
                  <a:srgbClr val="82AAFF"/>
                </a:solidFill>
                <a:latin typeface="Calibri" pitchFamily="34" charset="0"/>
                <a:ea typeface="Calibri" pitchFamily="34" charset="-122"/>
                <a:cs typeface="Calibri" pitchFamily="34" charset="-120"/>
              </a:rPr>
              <a:t>09   </a:t>
            </a:r>
            <a:pPr indent="0" marL="0">
              <a:buNone/>
            </a:pPr>
            <a:r>
              <a:rPr lang="en-US" sz="1150" dirty="0">
                <a:solidFill>
                  <a:srgbClr val="FFFFFF"/>
                </a:solidFill>
                <a:latin typeface="Calibri" pitchFamily="34" charset="0"/>
                <a:ea typeface="Calibri" pitchFamily="34" charset="-122"/>
                <a:cs typeface="Calibri" pitchFamily="34" charset="-120"/>
              </a:rPr>
              <a:t>Sayılarla hisset: kaç lüks?</a:t>
            </a:r>
            <a:endParaRPr lang="en-US" sz="1150" dirty="0"/>
          </a:p>
        </p:txBody>
      </p:sp>
      <p:sp>
        <p:nvSpPr>
          <p:cNvPr id="12" name="Text 10"/>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3" name="Shape 11"/>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4" name="Text 12"/>
          <p:cNvSpPr txBox="1"/>
          <p:nvPr/>
        </p:nvSpPr>
        <p:spPr>
          <a:xfrm>
            <a:off x="6400800" y="148132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I = Φ / ω</a:t>
            </a:r>
            <a:endParaRPr lang="en-US" sz="1500" dirty="0"/>
          </a:p>
        </p:txBody>
      </p:sp>
      <p:sp>
        <p:nvSpPr>
          <p:cNvPr id="15" name="Text 13"/>
          <p:cNvSpPr txBox="1"/>
          <p:nvPr/>
        </p:nvSpPr>
        <p:spPr>
          <a:xfrm>
            <a:off x="8138160" y="148132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ışık şiddeti (cd)</a:t>
            </a:r>
            <a:endParaRPr lang="en-US" sz="1200" dirty="0"/>
          </a:p>
        </p:txBody>
      </p:sp>
      <p:sp>
        <p:nvSpPr>
          <p:cNvPr id="16" name="Shape 14"/>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7" name="Text 15"/>
          <p:cNvSpPr txBox="1"/>
          <p:nvPr/>
        </p:nvSpPr>
        <p:spPr>
          <a:xfrm>
            <a:off x="6400800" y="235000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Φ = 4π · I</a:t>
            </a:r>
            <a:endParaRPr lang="en-US" sz="1500" dirty="0"/>
          </a:p>
        </p:txBody>
      </p:sp>
      <p:sp>
        <p:nvSpPr>
          <p:cNvPr id="18" name="Text 16"/>
          <p:cNvSpPr txBox="1"/>
          <p:nvPr/>
        </p:nvSpPr>
        <p:spPr>
          <a:xfrm>
            <a:off x="8138160" y="235000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nokta kaynağın toplam akısı</a:t>
            </a:r>
            <a:endParaRPr lang="en-US" sz="1200" dirty="0"/>
          </a:p>
        </p:txBody>
      </p:sp>
      <p:sp>
        <p:nvSpPr>
          <p:cNvPr id="19" name="Shape 17"/>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20" name="Text 18"/>
          <p:cNvSpPr txBox="1"/>
          <p:nvPr/>
        </p:nvSpPr>
        <p:spPr>
          <a:xfrm>
            <a:off x="6400800" y="3218688"/>
            <a:ext cx="1645920"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 = Φ / A</a:t>
            </a:r>
            <a:endParaRPr lang="en-US" sz="1500" dirty="0"/>
          </a:p>
        </p:txBody>
      </p:sp>
      <p:sp>
        <p:nvSpPr>
          <p:cNvPr id="21" name="Text 19"/>
          <p:cNvSpPr txBox="1"/>
          <p:nvPr/>
        </p:nvSpPr>
        <p:spPr>
          <a:xfrm>
            <a:off x="8138160" y="3218688"/>
            <a:ext cx="3230575"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aydınlanma şiddeti (lx)</a:t>
            </a:r>
            <a:endParaRPr lang="en-US" sz="1200" dirty="0"/>
          </a:p>
        </p:txBody>
      </p:sp>
      <p:sp>
        <p:nvSpPr>
          <p:cNvPr id="22" name="Shape 20"/>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3" name="Text 21"/>
          <p:cNvSpPr txBox="1"/>
          <p:nvPr/>
        </p:nvSpPr>
        <p:spPr>
          <a:xfrm>
            <a:off x="6400800" y="408736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E = I · cosθ / d²</a:t>
            </a:r>
            <a:endParaRPr lang="en-US" sz="1500" dirty="0"/>
          </a:p>
        </p:txBody>
      </p:sp>
      <p:sp>
        <p:nvSpPr>
          <p:cNvPr id="24" name="Text 22"/>
          <p:cNvSpPr txBox="1"/>
          <p:nvPr/>
        </p:nvSpPr>
        <p:spPr>
          <a:xfrm>
            <a:off x="8787384" y="408736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uzaklık ve eğim</a:t>
            </a:r>
            <a:endParaRPr lang="en-US" sz="1200" dirty="0"/>
          </a:p>
        </p:txBody>
      </p:sp>
      <p:sp>
        <p:nvSpPr>
          <p:cNvPr id="25" name="Shape 23"/>
          <p:cNvSpPr/>
          <p:nvPr/>
        </p:nvSpPr>
        <p:spPr>
          <a:xfrm>
            <a:off x="640080" y="6382512"/>
            <a:ext cx="128016" cy="128016"/>
          </a:xfrm>
          <a:prstGeom prst="roundRect">
            <a:avLst>
              <a:gd name="adj" fmla="val 28571"/>
            </a:avLst>
          </a:prstGeom>
          <a:solidFill>
            <a:srgbClr val="C6F36B"/>
          </a:solidFill>
          <a:ln/>
        </p:spPr>
      </p:sp>
      <p:sp>
        <p:nvSpPr>
          <p:cNvPr id="26" name="Text 2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dersler.perinet.org/isik-siddeti.html</a:t>
            </a:r>
            <a:endParaRPr lang="en-US" sz="1050" dirty="0"/>
          </a:p>
        </p:txBody>
      </p:sp>
      <p:sp>
        <p:nvSpPr>
          <p:cNvPr id="27" name="Text 2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akısı (Φ)</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Işık akısı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kaynağın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birim zamanda yaydığı görünür ışık enerjisi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lümen (lm)</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Ampul kutusunda yazan değer budur; watt ise ampulün çektiği elektrik gücüdür, yaydığı ışık değil.</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İkisini birbirine bağlayan büyüklüğe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ışık verimliliği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her watt elektrik başına kaç lümen ışık elde edildiği.</a:t>
            </a:r>
            <a:endParaRPr lang="en-US" sz="2200" dirty="0"/>
          </a:p>
        </p:txBody>
      </p:sp>
      <p:sp>
        <p:nvSpPr>
          <p:cNvPr id="7" name="Shape 5"/>
          <p:cNvSpPr/>
          <p:nvPr/>
        </p:nvSpPr>
        <p:spPr>
          <a:xfrm>
            <a:off x="640080" y="4206240"/>
            <a:ext cx="30504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06240"/>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verimlilik = Φ / P</a:t>
            </a:r>
            <a:endParaRPr lang="en-US" sz="1800" dirty="0"/>
          </a:p>
        </p:txBody>
      </p:sp>
      <p:sp>
        <p:nvSpPr>
          <p:cNvPr id="9" name="Shape 7"/>
          <p:cNvSpPr/>
          <p:nvPr/>
        </p:nvSpPr>
        <p:spPr>
          <a:xfrm>
            <a:off x="3836822" y="4206240"/>
            <a:ext cx="2355494"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836822" y="420624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birim: lm / W</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akısı (Φ)</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1515491"/>
                <a:gridCol w="3334080"/>
                <a:gridCol w="3030982"/>
                <a:gridCol w="3030982"/>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Ampul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Çektiği güç</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Işık akısı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Verimlilik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Akkor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 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800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13 lm/W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Akkor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1400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14 lm/W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LED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800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80 lm/W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LED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9 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800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89 lm/W</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akısı (Φ)</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 anlatımın başındaki sorunun cevabıdır.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Akkor ampuller varken “60 watt” demek “yaklaşık 800 lümen” demekle aynı şeydi, çünkü bütün akkor ampuller kabaca aynı verimlilikteydi.</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LED'ler aynı ışığı altı kat daha az elektrikle verince watt artık ışığı anlatmaz oldu; kutulara lümen yazılmaya başlandı.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bölümündeki oda tasarımında da ampul başına değer lümen olarak seçilir.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akısı (Φ)</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1339457" y="1234440"/>
            <a:ext cx="95127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2.png">    </p:cNvPr>
          <p:cNvPicPr>
            <a:picLocks noChangeAspect="1"/>
          </p:cNvPicPr>
          <p:nvPr/>
        </p:nvPicPr>
        <p:blipFill>
          <a:blip r:embed="rId1"/>
          <a:stretch>
            <a:fillRect/>
          </a:stretch>
        </p:blipFill>
        <p:spPr>
          <a:xfrm>
            <a:off x="1568057" y="1325880"/>
            <a:ext cx="90555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Işık akısı, kaynağın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her yöne birden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yaydığı görünür ışığın toplamıdır; birimi lümendir. Ampul kutusundaki watt değeri kaynağın </a:t>
            </a:r>
            <a:pPr algn="ctr" indent="0" marL="0">
              <a:lnSpc>
                <a:spcPct val="115000"/>
              </a:lnSpc>
              <a:buNone/>
            </a:pPr>
            <a:r>
              <a:rPr lang="en-US" sz="1350" i="1" dirty="0">
                <a:solidFill>
                  <a:srgbClr val="4A5470"/>
                </a:solidFill>
                <a:latin typeface="Calibri" pitchFamily="34" charset="0"/>
                <a:ea typeface="Calibri" pitchFamily="34" charset="-122"/>
                <a:cs typeface="Calibri" pitchFamily="34" charset="-120"/>
              </a:rPr>
              <a:t>harcadığı</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elektrik gücünü söyler, </a:t>
            </a:r>
            <a:pPr algn="ctr" indent="0" marL="0">
              <a:lnSpc>
                <a:spcPct val="115000"/>
              </a:lnSpc>
              <a:buNone/>
            </a:pPr>
            <a:r>
              <a:rPr lang="en-US" sz="1350" i="1" dirty="0">
                <a:solidFill>
                  <a:srgbClr val="4A5470"/>
                </a:solidFill>
                <a:latin typeface="Calibri" pitchFamily="34" charset="0"/>
                <a:ea typeface="Calibri" pitchFamily="34" charset="-122"/>
                <a:cs typeface="Calibri" pitchFamily="34" charset="-120"/>
              </a:rPr>
              <a:t>ürettiği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ışığı değil — bu yüzden 9 W'lık bir LED, 60 W'lık akkor ampulle aynı 800 lümeni verebilir.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akısı (Φ)</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akısı kaynağın her yöne saçtığı toplam görünür ışıktır ve lümenle ölçülür. Watt çekilen elektrik gücüdür; LED aynı lümeni akkor ampulün altıda biri kadar wattla verir.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Işık şiddeti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kaynağın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belli bir doğrultuda, birim katı açıya gönderdiği akı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kandela (cd)</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 ve SI'nın yedi temel biriminden biridir.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Tanımı anlamak için önce “katı açıyı” tanımak gerekir.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7706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Düzlemde açıyı radyanla ölçersin: yay uzunluğu bölü yarıçap.</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Uzayda aynı fikir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koni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için kullanılır.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Katı açı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ω, kürenin merkezinden bakıldığında bir yüzeyin kapladığı açıdır ve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ω = A / r²</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hesaplanır; birimi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steradyan (sr)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 m yarıçaplı bir kürenin yüzeyindeki 1 m²'lik bir parça 1 sr kaplar.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Tüm küre 4π ≈ 12,57 sr'dır.</a:t>
            </a:r>
            <a:endParaRPr lang="en-US" sz="2200" dirty="0"/>
          </a:p>
        </p:txBody>
      </p:sp>
      <p:sp>
        <p:nvSpPr>
          <p:cNvPr id="7" name="Shape 5"/>
          <p:cNvSpPr/>
          <p:nvPr/>
        </p:nvSpPr>
        <p:spPr>
          <a:xfrm>
            <a:off x="640080" y="4297680"/>
            <a:ext cx="193852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97680"/>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ω = A / r²</a:t>
            </a:r>
            <a:endParaRPr lang="en-US" sz="1800" dirty="0"/>
          </a:p>
        </p:txBody>
      </p:sp>
      <p:sp>
        <p:nvSpPr>
          <p:cNvPr id="9" name="Shape 7"/>
          <p:cNvSpPr/>
          <p:nvPr/>
        </p:nvSpPr>
        <p:spPr>
          <a:xfrm>
            <a:off x="2724912" y="4297680"/>
            <a:ext cx="179953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724912" y="4297680"/>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I = Φ / ω</a:t>
            </a:r>
            <a:endParaRPr lang="en-US" sz="1800" dirty="0"/>
          </a:p>
        </p:txBody>
      </p:sp>
      <p:sp>
        <p:nvSpPr>
          <p:cNvPr id="11" name="Shape 9"/>
          <p:cNvSpPr/>
          <p:nvPr/>
        </p:nvSpPr>
        <p:spPr>
          <a:xfrm>
            <a:off x="4670755" y="4297680"/>
            <a:ext cx="2772461"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4670755" y="4297680"/>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 cd = 1 lm / sr</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091154"/>
                <a:gridCol w="7274357"/>
                <a:gridCol w="2546025"/>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ışık akısı: koninin içinden geçen ışık miktarı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lümen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ışık şiddeti: o yöne giden ışığın yoğunluğu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kandela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ω</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katı açı: ışık konisinin ne kadar geniş olduğu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steradyan (sr)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koninin, kaynağı saran küre üzerinde kapladığı alan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o kürenin yarıçapı, yani kaynağa uzaklık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Toplam akı nereden geliyor?</a:t>
            </a:r>
            <a:endParaRPr lang="en-US" sz="2200" dirty="0"/>
          </a:p>
        </p:txBody>
      </p:sp>
      <p:sp>
        <p:nvSpPr>
          <p:cNvPr id="8" name="Text 6"/>
          <p:cNvSpPr txBox="1"/>
          <p:nvPr/>
        </p:nvSpPr>
        <p:spPr>
          <a:xfrm>
            <a:off x="640080" y="1892808"/>
            <a:ext cx="10911535" cy="2574036"/>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Tanımı çevir: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 = Φ/ω ise bir koninin içindeki akı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Φ = I·ω</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 yayan kaynak: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ışığı her yöne eşit yayan noktasal kaynakta I her doğrultuda aynıdır.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Bütün uzay:</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kaynağı saran kürenin tamamı için ω = 4πr²/r² = 4π sr.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Sonuç:</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toplam akı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Φ(toplam) = 4π·I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olur; yani akı, şiddetin yaklaşık 12,6 katıdır.</a:t>
            </a:r>
            <a:endParaRPr lang="en-US" sz="2100" dirty="0"/>
          </a:p>
        </p:txBody>
      </p:sp>
      <p:sp>
        <p:nvSpPr>
          <p:cNvPr id="9" name="Shape 7"/>
          <p:cNvSpPr/>
          <p:nvPr/>
        </p:nvSpPr>
        <p:spPr>
          <a:xfrm>
            <a:off x="640080" y="4668012"/>
            <a:ext cx="179953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640080" y="4668012"/>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Φ = I · ω</a:t>
            </a:r>
            <a:endParaRPr lang="en-US" sz="1800" dirty="0"/>
          </a:p>
        </p:txBody>
      </p:sp>
      <p:sp>
        <p:nvSpPr>
          <p:cNvPr id="11" name="Shape 9"/>
          <p:cNvSpPr/>
          <p:nvPr/>
        </p:nvSpPr>
        <p:spPr>
          <a:xfrm>
            <a:off x="2585923" y="4668012"/>
            <a:ext cx="3050438"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2585923" y="4668012"/>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Φ(toplam) = 4π · I</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Noktasal bir kaynak ışığı her yöne eşit yayarsa, çevresindeki tüm uzay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4π steradyan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olduğu için toplam akı 4π·I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mum yaklaşık 1 cd şiddetindedir; toplam akısı 4π · 1 ≈ 12,6 lm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el feneri ise aynı akıyı dar bir koniye sıkıştırır: 100 lümeni 0,1 sr'lık bir koniye toplayan fenerin şiddeti 100/0,1 = 1000 cd'dır.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100 lümeni her yöne eşit saçan bir ampulün şiddeti yalnızca 100/12,57 ≈ 8 cd'dır.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713843" y="1234440"/>
            <a:ext cx="876400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3.png">    </p:cNvPr>
          <p:cNvPicPr>
            <a:picLocks noChangeAspect="1"/>
          </p:cNvPicPr>
          <p:nvPr/>
        </p:nvPicPr>
        <p:blipFill>
          <a:blip r:embed="rId1"/>
          <a:stretch>
            <a:fillRect/>
          </a:stretch>
        </p:blipFill>
        <p:spPr>
          <a:xfrm>
            <a:off x="1942443" y="1325880"/>
            <a:ext cx="830680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 kaynak ışığını her yöne eşit dağıtmayabilir: el feneri ışığın çoğunu dar bir koniye sıkıştırır, mum her yöne aynı miktarda yayar.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Işık şiddeti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belli bir yöndeki akı yoğunluğudur — yani akının uzay açısına bölümü. Bu yüzden 100 lümenlik bir el feneri, 100 lümenlik bir mumdan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çok daha parlak</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görünür: aynı akıyı çok daha küçük bir açıya sıkıştırmıştır.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Işık şiddeti (I) ve katı açı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şiddeti birim katı açıya düşen akıdır: I = Φ/ω, birimi kandela. Her yöne eşit yayan noktasal kaynakta toplam akı Φ = 4π·I'dır.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El fenerinin önündeki parlak yansıtıcıyı çıkarırsan ışık akısı mı, ışık şiddeti mi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Işık şiddeti (I) ve katı açı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El fenerinin önündeki parlak yansıtıcıyı çıkarırsan ışık akısı mı, ışık şiddeti mi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Akı hemen hemen aynı kalır; aynı LED aynı elektrikle aynı miktarda ışık üretir. Değişen, ileri doğrultudaki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şiddettir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yansıtıcı ışığı dar bir koniye topluyordu, o gidince ışık geniş bir açıya dağılır ve karşıdaki duvardaki leke hem büyür hem sönükleşir.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43103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Aydınlanma şiddeti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yüzeyin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birim alanına düşen ışık akısı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lüks (lx)</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Kaynağın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yüzeyin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özelliğidir.</a:t>
            </a:r>
            <a:endParaRPr lang="en-US" sz="2200" dirty="0"/>
          </a:p>
        </p:txBody>
      </p:sp>
      <p:sp>
        <p:nvSpPr>
          <p:cNvPr id="7" name="Shape 5"/>
          <p:cNvSpPr/>
          <p:nvPr/>
        </p:nvSpPr>
        <p:spPr>
          <a:xfrm>
            <a:off x="640080" y="2958084"/>
            <a:ext cx="179953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958084"/>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 = Φ / A</a:t>
            </a:r>
            <a:endParaRPr lang="en-US" sz="1800" dirty="0"/>
          </a:p>
        </p:txBody>
      </p:sp>
      <p:sp>
        <p:nvSpPr>
          <p:cNvPr id="9" name="Shape 7"/>
          <p:cNvSpPr/>
          <p:nvPr/>
        </p:nvSpPr>
        <p:spPr>
          <a:xfrm>
            <a:off x="2585923" y="2958084"/>
            <a:ext cx="2772461"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585923" y="2958084"/>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1 lx = 1 lm / m²</a:t>
            </a:r>
            <a:endParaRPr lang="en-US" sz="1800" dirty="0"/>
          </a:p>
        </p:txBody>
      </p:sp>
      <p:sp>
        <p:nvSpPr>
          <p:cNvPr id="11" name="Shape 9"/>
          <p:cNvSpPr/>
          <p:nvPr/>
        </p:nvSpPr>
        <p:spPr>
          <a:xfrm>
            <a:off x="5504688" y="2958084"/>
            <a:ext cx="1938528"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5504688" y="2958084"/>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 = I / d²</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128780"/>
                <a:gridCol w="7525197"/>
                <a:gridCol w="225755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aydınlanma şiddeti: yüzeyin bir metrekaresine düşen ışık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lüks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Φ</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yüzeye düşen toplam ışık akısı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lümen (lm)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ışığın düştüğü yüzeyin alanı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kaynağın ışık şiddeti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kandela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kaynak ile yüzey arasındaki uzaklık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100 lümen 1 m²'lik bir yüzeye düşerse aydınlanma 100 lx, 4 m²'lik bir yüzeye yayılırsa 25 lx olur.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Işığın toplam miktarı değişmemiştir, yalnızca daha çok metrekareye bölünmüştür.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bağıntı, E = I/d², bir sonraki bölümün konusu; aydınlanmayı doğrudan kaynağın şiddetine ve uzaklığa bağlar.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bağıntıyı tersine çevirmek, aydınlatma tasarımının temelidir: bir yüzeyin tamamını E düzeyinde aydınlatmak için gereken akı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Φ = E·A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bölümündeki başlangıç değerleriyle 16 m²'lik bir çalışma odasını 500 lx'e getirmek için 16 · 500 = 8000 lm gerekir; bu da 800 lümenlik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10 ampul</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Aydınlanmayı ölçen cihaza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lüksmetre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 birçok telefonun ön yüzünde de bu işi yapan küçük bir ışık algılayıcısı bulunur.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713843" y="1234440"/>
            <a:ext cx="8764009"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4.png">    </p:cNvPr>
          <p:cNvPicPr>
            <a:picLocks noChangeAspect="1"/>
          </p:cNvPicPr>
          <p:nvPr/>
        </p:nvPicPr>
        <p:blipFill>
          <a:blip r:embed="rId1"/>
          <a:stretch>
            <a:fillRect/>
          </a:stretch>
        </p:blipFill>
        <p:spPr>
          <a:xfrm>
            <a:off x="1942443" y="1325880"/>
            <a:ext cx="8306809"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Aydınlanma, yüzeye düşen akının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birim alana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bölünmesidir. Sağdaki yüzeye tam olarak aynı miktarda ışık düşüyor — ama dört kat geniş olduğu için her metrekaresine dörtte biri düşer ve yüzey dört kat sönük görünür. Bu yüzden lüks, kaynağın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yüzeyin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özelliğidir: aynı ampul, masayı aydınlatır ama odanın köşesini aydınlatmaz.</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Aydınlanma şiddeti (E)</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Aydınlanma, birim alana düşen akıdır: E = Φ/A, birimi lüks. Bir yüzeyi E düzeyinde aydınlatmak için Φ = E·A kadar akı gerekir.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Noktasal kaynaktan çıkan akı, uzaklaştıkça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yarıçapın karesiyle büyüyen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 küre yüzeyine yayılır.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Küre yüzeyi 4πd² olduğundan: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Akı korunur: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kaynağın her yöne saçtığı akı Φ, yolda kaybolmadan kaynağı saran her küre yüzeyinden geçer.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Alan büyür: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 uzaklıktaki kürenin yüzeyi A = 4πd²'dir.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Aydınlanma: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 = Φ/A = Φ/(4πd²).</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Şiddetle yaz: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Φ = 4π·I koyunca 4π sadeleşir: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E = I/d²</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7" name="Shape 5"/>
          <p:cNvSpPr/>
          <p:nvPr/>
        </p:nvSpPr>
        <p:spPr>
          <a:xfrm>
            <a:off x="640080" y="3733038"/>
            <a:ext cx="388437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33038"/>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 = Φ / (4π·d²) = I / d²</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37845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Uzaklık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 katına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çıkarsa aydınlanma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4'te bire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iner.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Uzaklık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3 katına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çıkarsa aydınlanma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9'da bire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iner.</a:t>
            </a:r>
            <a:endParaRPr lang="en-US" sz="2100" dirty="0"/>
          </a:p>
          <a:p>
            <a:pPr marL="203200" indent="-203200">
              <a:lnSpc>
                <a:spcPct val="115000"/>
              </a:lnSpc>
              <a:spcAft>
                <a:spcPts val="800"/>
              </a:spcAft>
              <a:buSzPct val="100000"/>
              <a:buChar char="▪"/>
            </a:pPr>
            <a:r>
              <a:rPr lang="en-US" sz="2100" dirty="0">
                <a:solidFill>
                  <a:srgbClr val="0E1426"/>
                </a:solidFill>
                <a:latin typeface="Calibri" pitchFamily="34" charset="0"/>
                <a:ea typeface="Calibri" pitchFamily="34" charset="-122"/>
                <a:cs typeface="Calibri" pitchFamily="34" charset="-120"/>
              </a:rPr>
              <a:t>Aydınlanmayı 2 katına çıkarmak için uzaklığı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√2 kat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azaltmak gerekir.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şiddeti 100 cd olan bir lamba için bu düzen sayılarda şöyle görünür: 0,5 m'de 400 lx, 1 m'de 100 lx, 2 m'de 25 lx, 3 m'de yaklaşık 11 lx, 4 m'de 6,25 lx.</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Lambadan 0,5 m'den 4 m'ye gitmek, yani 8 kat uzaklaşmak aydınlanmayı 64 kat azaltır.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Birimleri de sına: cd/m² = (lm/sr)/m²; steradyan birimsiz bir oran olduğu için sonuç lm/m² = lx olur ✓.</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02 numaralı bölümünde perdeyi uzaklaştırarak 1, 4, 9 karelik yayılmayı izleyebilirsin.</a:t>
            </a:r>
            <a:endParaRPr lang="en-US" sz="2200" dirty="0"/>
          </a:p>
        </p:txBody>
      </p:sp>
      <p:sp>
        <p:nvSpPr>
          <p:cNvPr id="7" name="Shape 5"/>
          <p:cNvSpPr/>
          <p:nvPr/>
        </p:nvSpPr>
        <p:spPr>
          <a:xfrm>
            <a:off x="640080" y="2389632"/>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2554224"/>
            <a:ext cx="54864" cy="704088"/>
          </a:xfrm>
          <a:prstGeom prst="rect">
            <a:avLst/>
          </a:prstGeom>
          <a:solidFill>
            <a:srgbClr val="A56209"/>
          </a:solidFill>
          <a:ln/>
        </p:spPr>
      </p:sp>
      <p:sp>
        <p:nvSpPr>
          <p:cNvPr id="9" name="Text 7"/>
          <p:cNvSpPr txBox="1"/>
          <p:nvPr/>
        </p:nvSpPr>
        <p:spPr>
          <a:xfrm>
            <a:off x="950976" y="2517648"/>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Yasa yalnızca noktasal kaynak içindir.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Uzun bir flüoresan tüpün ya da aydınlatılmış bir tavanın altında aydınlanma bu kadar hızlı azalmaz.</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517124" y="1234440"/>
            <a:ext cx="9157447"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5.png">    </p:cNvPr>
          <p:cNvPicPr>
            <a:picLocks noChangeAspect="1"/>
          </p:cNvPicPr>
          <p:nvPr/>
        </p:nvPicPr>
        <p:blipFill>
          <a:blip r:embed="rId1"/>
          <a:stretch>
            <a:fillRect/>
          </a:stretch>
        </p:blipFill>
        <p:spPr>
          <a:xfrm>
            <a:off x="1745724" y="1325880"/>
            <a:ext cx="8700247"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Kaynaktan çıkan aynı demet, uzaklık iki katına çıkınca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dört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üç katına çıkınca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dokuz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geniş bir alana yayılır. Aynı akı daha çok kareye bölündüğü için her kareye düşen pay ters kareyle azalır: E = I/d². Ampulden iki kat uzaklaşmak, masanı yarı değil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dörtte bir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kadar aydınlık yapar.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Ters kare yasası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Noktasal kaynağın akısı 4πd²'lik küre yüzeyine yayıldığı için E = I/d²'dir. Uzaklık 2 kat artarsa aydınlanma 4'te bire, 3 kat artarsa 9'da bire iner.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şiddeti 4 kat büyük bir lambayı masadan 2 kat uzağa asarsan aydınlanma nasıl değişir?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07 · Ters kare yasası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şiddeti 4 kat büyük bir lambayı masadan 2 kat uzağa asarsan aydınlanma nasıl değişir?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Hiç değişmez. Şiddet 4 kat artınca aydınlanma 4 katına çıkar, uzaklık 2 kat artınca 2² = 4'te birine iner; iki etki birbirini götürür. E = I/d² bağıntısında 4I/(2d)² = I/d²'dir.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yüzeye dik gelmiyorsa, aynı akı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daha büyük bir alana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yayılır.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Yüzeyin normali ile ışığın doğrultusu arasındaki açı θ ise:</a:t>
            </a:r>
            <a:endParaRPr lang="en-US" sz="2200" dirty="0"/>
          </a:p>
        </p:txBody>
      </p:sp>
      <p:sp>
        <p:nvSpPr>
          <p:cNvPr id="7" name="Text 5"/>
          <p:cNvSpPr txBox="1"/>
          <p:nvPr/>
        </p:nvSpPr>
        <p:spPr>
          <a:xfrm>
            <a:off x="640080" y="2481072"/>
            <a:ext cx="10911535" cy="1746504"/>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Dik geliş: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demet, kendi kesitine eşit A₀ alanlı bir bölgeyi aydınlatır.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Eğik geliş:</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yüzey θ kadar eğilince aynı demet A₀/cosθ'lık daha geniş bir alana yayılır.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Akı aynı: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 = Φ/A = (Φ/A₀)·cosθ, yani dik gelişteki değerin cosθ katı.</a:t>
            </a:r>
            <a:endParaRPr lang="en-US" sz="2100" dirty="0"/>
          </a:p>
        </p:txBody>
      </p:sp>
      <p:sp>
        <p:nvSpPr>
          <p:cNvPr id="8" name="Shape 6"/>
          <p:cNvSpPr/>
          <p:nvPr/>
        </p:nvSpPr>
        <p:spPr>
          <a:xfrm>
            <a:off x="640080" y="4428744"/>
            <a:ext cx="2911450"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428744"/>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E = I · cosθ / d²</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052856"/>
                <a:gridCol w="1247033"/>
                <a:gridCol w="561164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Geliş açısı θ</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cosθ</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Aydınlanmanın payı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0° (dik)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37°</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53°</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0,6</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90° (teğet)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θ = 0'da (dik geliş) aydınlanma en büyüktür; θ = 60°'de yarıya iner; θ = 90°'de (ışık yüzeye teğet) sıfırdır.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Mevsimlerin oluş sebebi de budur: kışın Güneş ışınları yere daha eğik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Yaklaşık 40° enlemde öğle Güneşi yaz ortasında yerle yaklaşık 73°, kış ortasında yaklaşık 27° açı yapar; aynı metrekareye kışın yazın düşenin yarısından az ışık düşer.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laboratuvarındaki “Eğik yüzey 60°” düğmesi aydınlanmanın yarıya indiğini gösterir.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245241" y="1234440"/>
            <a:ext cx="970121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6.png">    </p:cNvPr>
          <p:cNvPicPr>
            <a:picLocks noChangeAspect="1"/>
          </p:cNvPicPr>
          <p:nvPr/>
        </p:nvPicPr>
        <p:blipFill>
          <a:blip r:embed="rId1"/>
          <a:stretch>
            <a:fillRect/>
          </a:stretch>
        </p:blipFill>
        <p:spPr>
          <a:xfrm>
            <a:off x="1473841" y="1325880"/>
            <a:ext cx="924401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Yüzey eğildiğinde aynı ışık demeti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daha geniş bir alana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yayılır, bu yüzden her metrekareye düşen pay azalır. Kayıp tam olarak cosθ çarpanıyla verilir: E = I·cosθ/d². Kışın güneşin daha eğik gelmesi ve kutupların hep soğuk olması aynı geometrinin sonucudur — gelen enerji aynıdır,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yayıldığı alan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farklıdır.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Eğik yüzeyler: cosθ çarpanı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Işık eğik gelince aynı akı daha geniş alana yayılır ve aydınlanma cosθ kadar azalır: E = I·cosθ/d². θ, yüzeyin normaliyle ışın arasındaki açıdır.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Lambanın tam altından yana doğru kaydıkça masadaki aydınlanma neden iki sebeple birden azalır?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Eğik yüzeyler: cosθ çarpanı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Lambanın tam altından yana doğru kaydıkça masadaki aydınlanma neden iki sebeple birden azalır?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Birincisi, lambaya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uzaklık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artar ve E, 1/d² ile düşer. İkincisi, ışık masaya giderek daha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eğik</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gelir, θ büyür ve cosθ küçülür. İki etki çarpılarak birleşir; bu yüzden lambanın ışık havuzu kenarlara doğru hızla kararır.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Lüks sayıları soyut kalmasın; tanıdık ortamlarda ölçülen tipik değerlere bakalım: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7372659"/>
                <a:gridCol w="353887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Ortam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Aydınlanma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Dolunaylı gece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0,25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Sokak aydınlatması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 20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Ev oturma odası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100 – 200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Sınıf, ofis, okuma masası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300 – 500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Bulutlu gün, dış ortam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1000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Doğrudan güneş ışığı ise yaklaşık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100 000 lx</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mum yaklaşık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1 cd</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şiddetindedir; 100 W'lık akkor ampul ≈ 1400 lm, 10 W'lık LED ampul ≈ 800 lm akı yayar.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Şimdi sayfanın 01 numaralı laboratuvarındaki hazır sahneleri E = I/d² ile hesaplayalım:</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4020039"/>
                <a:gridCol w="2010020"/>
                <a:gridCol w="2010020"/>
                <a:gridCol w="2871457"/>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Sahne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Şiddet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Uzaklık</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Aydınlanma</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Masa lambası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50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200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Tavan lambası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400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64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Sokak lambası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2000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56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Eğik yüzey 60°</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400 cd</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2,5 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32 lx</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Tablodan okunan düzen şaşırtıcıdır: 50 cd'lık küçük masa lambası, şiddeti 40 kat büyük sokak lambasından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daha çok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aydınlatıyor.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Sokak lambası 12 kat uzakta olduğu için ışığı 144 kat geniş bir alana yayılıyor; 40 kat şiddet bunu karşılamaya yetmiyor.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Aydınlanmada uzaklık, şiddetten çok daha etkilidir.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Dolunaylı gece ile doğrudan güneş arasında ise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dört yüz bin kat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fark var; gözümüz bu farkı kendini uyarlayarak gizler.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681090" y="1234440"/>
            <a:ext cx="882951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07.png">    </p:cNvPr>
          <p:cNvPicPr>
            <a:picLocks noChangeAspect="1"/>
          </p:cNvPicPr>
          <p:nvPr/>
        </p:nvPicPr>
        <p:blipFill>
          <a:blip r:embed="rId1"/>
          <a:stretch>
            <a:fillRect/>
          </a:stretch>
        </p:blipFill>
        <p:spPr>
          <a:xfrm>
            <a:off x="1909690" y="1325880"/>
            <a:ext cx="837231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Ölçek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logaritmiktir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her adım on katı gösterir. Dolunaylı bir gece ile doğrudan güneş arasında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dört yüz bin kat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fark var, ama gözümüz bu farkı öyle algılamaz — göz bebeği ve retina kendini uyarlar. Bu yüzden "yeterince aydınlık" demek yerine ölçmek gerekir: bir okuma masası için hedef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300–500 lüks</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Sayılarla hisset: kaç lüks?</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Aydınlanma dolunaylı gecede 0,25 lx'ten doğrudan güneşte 100 000 lx'e kadar uzanır; okuma için 300–500 lx gerekir. Uzaklığın karesi, şiddetten çok daha belirleyicidir.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iki kaynağı karşılaştırmak, noktasal kaynak modelinin sınırları ve aydınlatma tasarımı.</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Fotometre: iki kaynağı karşılaştırmak</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Noktasal kaynak modelinin sınırları</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Aydınlatma gerçek dünyada</a:t>
            </a:r>
            <a:endParaRPr lang="en-US" sz="1300" dirty="0"/>
          </a:p>
        </p:txBody>
      </p:sp>
      <p:sp>
        <p:nvSpPr>
          <p:cNvPr id="9" name="Shape 7"/>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0" name="Image 0" descr="/tmp/claude-1000/-opt-dersler/8a8328c3-841c-44fa-b76f-82572d338d3d/scratchpad/d10/sek/isik-siddeti-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1" name="Text 8"/>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Işık tasarımı bir hesap işidir.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Projektörler yüksek kulelere yerleştirilir ve her biri sahanın farklı bir bölgesine yönlendirilir; böylece uzaklığın ve eğik gelişin getirdiği azalmalar birbirini dengeler, saha her yerde yaklaşık eşit aydınlanır. Dolunayın verdiği çeyrek lüksün yanında projektörlerin sağladığı aydınlanma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binlerce kat</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büyüktür.</a:t>
            </a:r>
            <a:endParaRPr lang="en-US" sz="1150" dirty="0"/>
          </a:p>
        </p:txBody>
      </p:sp>
      <p:sp>
        <p:nvSpPr>
          <p:cNvPr id="12" name="Shape 9"/>
          <p:cNvSpPr/>
          <p:nvPr/>
        </p:nvSpPr>
        <p:spPr>
          <a:xfrm>
            <a:off x="640080" y="6382512"/>
            <a:ext cx="128016" cy="128016"/>
          </a:xfrm>
          <a:prstGeom prst="roundRect">
            <a:avLst>
              <a:gd name="adj" fmla="val 28571"/>
            </a:avLst>
          </a:prstGeom>
          <a:solidFill>
            <a:srgbClr val="C6F36B"/>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dersler.perinet.org/isik-siddeti.html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Fotometre: iki kaynağı karşılaştırmak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315620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Bilinmeyen bir lambanın şiddetini nasıl ölçersin?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eski yol, onu şiddeti bilinen bir lambayla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karşılaştırmaktır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lamba arasına, iki yüzü ayrı ayrı aydınlanan bir ekran konur ve ekran iki yüzü eşit parlak görünene kadar kaydırılır.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düzeneğe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fotometre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Eski fotometrelerde ekran, ortasında yağ lekesi olan bir kâğıttı: iki yüz eşit aydınlandığında leke neredeyse kaybolur.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Fotometre: iki kaynağı karşılaştırmak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Lambalar arası uzaklık L, ekranın birinci lambaya uzaklığı x ise:</a:t>
            </a:r>
            <a:endParaRPr lang="en-US" sz="2200" dirty="0"/>
          </a:p>
        </p:txBody>
      </p:sp>
      <p:sp>
        <p:nvSpPr>
          <p:cNvPr id="7" name="Text 5"/>
          <p:cNvSpPr txBox="1"/>
          <p:nvPr/>
        </p:nvSpPr>
        <p:spPr>
          <a:xfrm>
            <a:off x="640080" y="2004060"/>
            <a:ext cx="10911535" cy="220599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Eşitlik: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yüzün aydınlanması eşit: I₁/x² = I₂/(L−x)².</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Karekök al:</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√I₁/x = √I₂/(L−x).</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Düzenle: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x/(L−x) = √(I₁/I₂); uzaklıkların oranı şiddetlerin karekökünün oranıdır.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Ölçüm:</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I₁ biliniyorsa bilinmeyen şiddet I₂ = I₁·((L−x)/x)² ile bulunur.</a:t>
            </a:r>
            <a:endParaRPr lang="en-US" sz="2100" dirty="0"/>
          </a:p>
        </p:txBody>
      </p:sp>
      <p:sp>
        <p:nvSpPr>
          <p:cNvPr id="8" name="Shape 6"/>
          <p:cNvSpPr/>
          <p:nvPr/>
        </p:nvSpPr>
        <p:spPr>
          <a:xfrm>
            <a:off x="640080" y="4411218"/>
            <a:ext cx="3745382" cy="585216"/>
          </a:xfrm>
          <a:prstGeom prst="roundRect">
            <a:avLst>
              <a:gd name="adj" fmla="val 18750"/>
            </a:avLst>
          </a:prstGeom>
          <a:solidFill>
            <a:srgbClr val="EEF2FC"/>
          </a:solidFill>
          <a:ln w="9525">
            <a:solidFill>
              <a:srgbClr val="CBD7F4"/>
            </a:solidFill>
            <a:prstDash val="solid"/>
          </a:ln>
        </p:spPr>
      </p:sp>
      <p:sp>
        <p:nvSpPr>
          <p:cNvPr id="9" name="Text 7"/>
          <p:cNvSpPr txBox="1"/>
          <p:nvPr/>
        </p:nvSpPr>
        <p:spPr>
          <a:xfrm>
            <a:off x="640080" y="4411218"/>
            <a:ext cx="3745382"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I₁ / x² = I₂ / (L − x)²</a:t>
            </a:r>
            <a:endParaRPr lang="en-US" sz="1800" dirty="0"/>
          </a:p>
        </p:txBody>
      </p:sp>
      <p:sp>
        <p:nvSpPr>
          <p:cNvPr id="10" name="Shape 8"/>
          <p:cNvSpPr/>
          <p:nvPr/>
        </p:nvSpPr>
        <p:spPr>
          <a:xfrm>
            <a:off x="4531766" y="4411218"/>
            <a:ext cx="3884371" cy="585216"/>
          </a:xfrm>
          <a:prstGeom prst="roundRect">
            <a:avLst>
              <a:gd name="adj" fmla="val 18750"/>
            </a:avLst>
          </a:prstGeom>
          <a:solidFill>
            <a:srgbClr val="EEF2FC"/>
          </a:solidFill>
          <a:ln w="9525">
            <a:solidFill>
              <a:srgbClr val="CBD7F4"/>
            </a:solidFill>
            <a:prstDash val="solid"/>
          </a:ln>
        </p:spPr>
      </p:sp>
      <p:sp>
        <p:nvSpPr>
          <p:cNvPr id="11" name="Text 9"/>
          <p:cNvSpPr txBox="1"/>
          <p:nvPr/>
        </p:nvSpPr>
        <p:spPr>
          <a:xfrm>
            <a:off x="4531766" y="4411218"/>
            <a:ext cx="388437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x / (L − x) = √(I₁ / I₂)</a:t>
            </a:r>
            <a:endParaRPr lang="en-US" sz="1800" dirty="0"/>
          </a:p>
        </p:txBody>
      </p:sp>
      <p:sp>
        <p:nvSpPr>
          <p:cNvPr id="13" name="Shape 10"/>
          <p:cNvSpPr/>
          <p:nvPr/>
        </p:nvSpPr>
        <p:spPr>
          <a:xfrm>
            <a:off x="640080" y="6382512"/>
            <a:ext cx="128016" cy="128016"/>
          </a:xfrm>
          <a:prstGeom prst="roundRect">
            <a:avLst>
              <a:gd name="adj" fmla="val 28571"/>
            </a:avLst>
          </a:prstGeom>
          <a:solidFill>
            <a:srgbClr val="A9E648"/>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Fotometre: iki kaynağı karşılaştırmak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24963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03 numaralı bölümündeki başlangıç değerlerini dene: 400 cd ve 100 cd'lık lambalar 200 cm arayla duruyor. √(400/100) = 2 olduğu için ekranın güçlü lambaya uzaklığı, zayıf lambaya uzaklığının iki katı olmalı: x = 2·200/3 ≈ 133 cm.</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Ölçüm için de bir örnek: 100 cd'lık lamba ekrandan 1 m, bilinmeyen lamba 1,5 m uzakta dengeye geliyorsa I₂ = 100 · 1,5² = 225 cd'dır.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Fotometre: iki kaynağı karşılaştırmak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isik-siddeti-ek2-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Fotometrede ekran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iki yüzü eşit aydınlanana kadar lambaların arasında kaydırılır. Denge noktası zayıf lambaya daha yakındır: zayıf lamba eksik şiddetini ancak ekrana yakın durarak telafi eder, çünkü aydınlanma uzaklığın karesiyle azalır. Ekranın güçlü lambaya uzaklığı zayıf lambaya uzaklığının iki katıysa, güçlü lamba dört kat şiddetlidir.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Fotometre: iki kaynağı karşılaştırmak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Fotometrede iki yüzün eşit aydınlandığı noktada I₁/x² = I₂/(L−x)²'dir. Uzaklıkların oranı şiddetlerin karekökünün oranıdır; denge noktası zayıf lambaya yakındır.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Fotometrede denge noktası neden her zaman zayıf lambaya daha yakındır?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10 · Fotometre: iki kaynağı karşılaştırmak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Fotometrede denge noktası neden her zaman zayıf lambaya daha yakındır?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Aydınlanma şiddetle doğru, uzaklığın karesiyle ters orantılıdır. Zayıf lamba, eksik şiddetini ancak ekrana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daha yakın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durarak telafi edebilir. Şiddetler eşitse denge tam ortadadır; birinin şiddeti 4 kat büyükse ekran ondan 2 kat uzakta dengeye gelir.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Noktasal kaynak modelinin sınırları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 = I·cosθ/d² bağıntısı güçlü ama bir model üzerine kurulu: ışığı her yöne eşit saçan, noktasal, tek bir kaynak ve ışığı yutan ya da yansıtan hiçbir şey.</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Gerçek aydınlatmada bu varsayımların her biri biraz esner: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Noktasal kaynak modelinin sınırları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Kaynak büyükse: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uzun flüoresan tüpün yakınında E yaklaşık 1/d ile, geniş aydınlık tavanın altında neredeyse hiç azalmaz.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Beş kat kuralı: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uzaklık kaynağın boyunun en az beş katıysa ters kare yasasının hatası yaklaşık %1'dir; daha yakında hata hızla büyür.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Işık her yöne eşit gitmeyebilir: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spot lamba, far ya da el feneri ışığı bir koniye toplar; I yöne bağlıdır ve Φ = 4π·I kullanılamaz.</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Yansıyan ışık: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odada duvar ve tavandan yansıyan ışık aydınlanmayı artırır; beyaz duvarlı oda aynı lambayla daha aydınlık olur.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Noktasal kaynak modelinin sınırları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16550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Birden çok kaynak: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noktadaki aydınlanmalar toplanır: E = E₁ + E₂. Her lamba kendi uzaklığı ve açısıyla ayrı hesaplanır.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Lümen gözle tartılır: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göz sarı-yeşile en duyarlıdır; 1 W'lık bu ışık yaklaşık 683 lm eder, kızılötesi ise hiç lümen vermez.</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Noktasal kaynak modelinin sınırları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Son madde, lümenin neden sıradan bir enerji birimi olmadığını açıklar.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Işık akısı, yayılan gücün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gözün duyarlılığına göre tartılmış</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hâlidir.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Akkor ampul enerjisinin büyük kısmını gözün göremediği kızılötesi ışınım olarak saçar; bu enerji ısıtır ama hiç lümen vermez.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LED'in üstünlüğü, enerjisini gözün en iyi gördüğü renklere yoğunlaştırmasıdır.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Noktasal kaynak modelinin sınırları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Ters kare yasası noktasal, her yöne eşit yayan kaynak içindir; büyük ve yönlendirilmiş kaynaklarda ve yansımalı ortamlarda sapma olur. Birden çok kaynağın aydınlanmaları toplanır.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Akkor ampul aynı ışığı vermek için neden LED'den yaklaşık altı kat fazla elektrik harcar?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11 · Noktasal kaynak modelinin sınırları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Akkor ampul aynı ışığı vermek için neden LED'den yaklaşık altı kat fazla elektrik harcar?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Akkor ampul ışığı bir teli akkor hâline gelene kadar ısıtarak üretir. Telin saçtığı enerjinin çoğu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kızılötesidir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göz onu görmez, lümen hesabına da girmez. 60 W'lık akkor ampul ile 9–10 W'lık LED aynı 800 lümeni verir; aradaki fark çoğunlukla ısı olarak kaybolur.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Aydınlatma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Aydınlatma tasarımcılarının işi, bu konunun bağıntılarını tersine kullanmaktır: istenen aydınlanmadan yola çıkıp kaç lamba, ne kadar yükseklik, hangi açı gerektiğini bulmak.</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Amaç çoğunlukla yalnızca “yeterince aydınlık” değil, aynı zamanda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her yerde yaklaşık eşit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aydınlıktır.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Aydınlatma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321868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Stadyumlar: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televizyon yayını yapılan maçlarda sahadaki aydınlanma çoğunlukla bin lüksün üzerindedir; çok sayıda projektör yüzünden oyuncuların birkaç gölgesi 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Sınıf ve oda tasarımı: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Φ = E·A ile gereken toplam lümen bulunur; 16 m²'lik odayı 500 lx'e getirmek için 8000 lm, yani 800 lümenlik 10 ampul gerekir.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Sokak aydınlatması: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direk yüksekliği ve aralığı, direk dibi ile iki direğin ortası arasındaki farkı küçültecek biçimde seçilir; hedef 10–20 lx civarıdır.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Aydınlatma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Telefon ekranı: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ön yüzdeki ışık algılayıcısı ortamın aydınlanmasını ölçer; ekran güneşte parlaklaşır, karanlık odada kısılır.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Güneş panelleri: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öğle Güneşine olabildiğince dik bakacak eğimle kurulur; cosθ küçüldükçe metrekare başına düşen enerji azalır.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Fotoğraf flaşı:</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kat uzaktaki bir konuyu aynı parlaklıkta çekmek için dört kat ışık gerekir; ters kare yasası fotoğrafçının günlük hesabıdır.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Aydınlatma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Aydınlatma tasarımı E = I·cosθ/d² ve Φ = E·A bağıntılarını tersine kullanır: istenen lüksten kaç lümen, ne yükseklik ve hangi açı gerektiği bulunur. Amaç yeterli ve eşit aydınlanmadır.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Stadyum projektörleri neden sahanın hemen üstüne değil de yüksek kulelere yerleştirilir?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Aydınlatma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Stadyum projektörleri neden sahanın hemen üstüne değil de yüksek kulelere yerleştirilir?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Lamba sahanın bir noktasına çok yakın olsaydı orası çok parlak, uzak noktalar çok sönük kalırdı; çünkü aydınlanma uzaklığın karesiyle düşer. Yüksek ve uzak bir kuleden bakıldığında sahanın yakın ve uzak noktalarının uzaklıkları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birbirine daha yakın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olur, aydınlanma daha eşit dağılır. Üstelik oyun alanının üstü de boş kalır.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ışık sorularında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8 ÇÖZÜMLÜ ÖRNEK</a:t>
            </a:r>
            <a:endParaRPr lang="en-US" sz="1050" dirty="0"/>
          </a:p>
        </p:txBody>
      </p:sp>
      <p:sp>
        <p:nvSpPr>
          <p:cNvPr id="9" name="Shape 7"/>
          <p:cNvSpPr/>
          <p:nvPr/>
        </p:nvSpPr>
        <p:spPr>
          <a:xfrm>
            <a:off x="6172200" y="1481328"/>
            <a:ext cx="5379415" cy="468630"/>
          </a:xfrm>
          <a:prstGeom prst="roundRect">
            <a:avLst>
              <a:gd name="adj" fmla="val 19512"/>
            </a:avLst>
          </a:prstGeom>
          <a:solidFill>
            <a:srgbClr val="1C2542"/>
          </a:solidFill>
          <a:ln w="9525">
            <a:solidFill>
              <a:srgbClr val="2C3860"/>
            </a:solidFill>
            <a:prstDash val="solid"/>
          </a:ln>
        </p:spPr>
      </p:sp>
      <p:sp>
        <p:nvSpPr>
          <p:cNvPr id="10" name="Text 8"/>
          <p:cNvSpPr txBox="1"/>
          <p:nvPr/>
        </p:nvSpPr>
        <p:spPr>
          <a:xfrm>
            <a:off x="6400800" y="148132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Aydınlanma ve uzaklık</a:t>
            </a:r>
            <a:endParaRPr lang="en-US" sz="1300" dirty="0"/>
          </a:p>
        </p:txBody>
      </p:sp>
      <p:sp>
        <p:nvSpPr>
          <p:cNvPr id="11" name="Text 9"/>
          <p:cNvSpPr txBox="1"/>
          <p:nvPr/>
        </p:nvSpPr>
        <p:spPr>
          <a:xfrm>
            <a:off x="10362895" y="148132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41398"/>
            <a:ext cx="5379415" cy="468630"/>
          </a:xfrm>
          <a:prstGeom prst="roundRect">
            <a:avLst>
              <a:gd name="adj" fmla="val 19512"/>
            </a:avLst>
          </a:prstGeom>
          <a:solidFill>
            <a:srgbClr val="1C2542"/>
          </a:solidFill>
          <a:ln w="9525">
            <a:solidFill>
              <a:srgbClr val="2C3860"/>
            </a:solidFill>
            <a:prstDash val="solid"/>
          </a:ln>
        </p:spPr>
      </p:sp>
      <p:sp>
        <p:nvSpPr>
          <p:cNvPr id="13" name="Text 11"/>
          <p:cNvSpPr txBox="1"/>
          <p:nvPr/>
        </p:nvSpPr>
        <p:spPr>
          <a:xfrm>
            <a:off x="6400800" y="204139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Toplam akı ve katı açı</a:t>
            </a:r>
            <a:endParaRPr lang="en-US" sz="1300" dirty="0"/>
          </a:p>
        </p:txBody>
      </p:sp>
      <p:sp>
        <p:nvSpPr>
          <p:cNvPr id="14" name="Text 12"/>
          <p:cNvSpPr txBox="1"/>
          <p:nvPr/>
        </p:nvSpPr>
        <p:spPr>
          <a:xfrm>
            <a:off x="10362895" y="2041398"/>
            <a:ext cx="1005840" cy="468630"/>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01468"/>
            <a:ext cx="5379415" cy="468630"/>
          </a:xfrm>
          <a:prstGeom prst="roundRect">
            <a:avLst>
              <a:gd name="adj" fmla="val 19512"/>
            </a:avLst>
          </a:prstGeom>
          <a:solidFill>
            <a:srgbClr val="1C2542"/>
          </a:solidFill>
          <a:ln w="9525">
            <a:solidFill>
              <a:srgbClr val="2C3860"/>
            </a:solidFill>
            <a:prstDash val="solid"/>
          </a:ln>
        </p:spPr>
      </p:sp>
      <p:sp>
        <p:nvSpPr>
          <p:cNvPr id="16" name="Text 14"/>
          <p:cNvSpPr txBox="1"/>
          <p:nvPr/>
        </p:nvSpPr>
        <p:spPr>
          <a:xfrm>
            <a:off x="6400800" y="260146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Eğik yüzey</a:t>
            </a:r>
            <a:endParaRPr lang="en-US" sz="1300" dirty="0"/>
          </a:p>
        </p:txBody>
      </p:sp>
      <p:sp>
        <p:nvSpPr>
          <p:cNvPr id="17" name="Text 15"/>
          <p:cNvSpPr txBox="1"/>
          <p:nvPr/>
        </p:nvSpPr>
        <p:spPr>
          <a:xfrm>
            <a:off x="10362895" y="260146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161538"/>
            <a:ext cx="5379415" cy="468630"/>
          </a:xfrm>
          <a:prstGeom prst="roundRect">
            <a:avLst>
              <a:gd name="adj" fmla="val 19512"/>
            </a:avLst>
          </a:prstGeom>
          <a:solidFill>
            <a:srgbClr val="1C2542"/>
          </a:solidFill>
          <a:ln w="9525">
            <a:solidFill>
              <a:srgbClr val="2C3860"/>
            </a:solidFill>
            <a:prstDash val="solid"/>
          </a:ln>
        </p:spPr>
      </p:sp>
      <p:sp>
        <p:nvSpPr>
          <p:cNvPr id="19" name="Text 17"/>
          <p:cNvSpPr txBox="1"/>
          <p:nvPr/>
        </p:nvSpPr>
        <p:spPr>
          <a:xfrm>
            <a:off x="6400800" y="316153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Okuma lambası ne kadar yükseğe asılmalı?</a:t>
            </a:r>
            <a:endParaRPr lang="en-US" sz="1300" dirty="0"/>
          </a:p>
        </p:txBody>
      </p:sp>
      <p:sp>
        <p:nvSpPr>
          <p:cNvPr id="20" name="Text 18"/>
          <p:cNvSpPr txBox="1"/>
          <p:nvPr/>
        </p:nvSpPr>
        <p:spPr>
          <a:xfrm>
            <a:off x="10362895" y="316153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721608"/>
            <a:ext cx="5379415" cy="468630"/>
          </a:xfrm>
          <a:prstGeom prst="roundRect">
            <a:avLst>
              <a:gd name="adj" fmla="val 19512"/>
            </a:avLst>
          </a:prstGeom>
          <a:solidFill>
            <a:srgbClr val="1C2542"/>
          </a:solidFill>
          <a:ln w="9525">
            <a:solidFill>
              <a:srgbClr val="2C3860"/>
            </a:solidFill>
            <a:prstDash val="solid"/>
          </a:ln>
        </p:spPr>
      </p:sp>
      <p:sp>
        <p:nvSpPr>
          <p:cNvPr id="22" name="Text 20"/>
          <p:cNvSpPr txBox="1"/>
          <p:nvPr/>
        </p:nvSpPr>
        <p:spPr>
          <a:xfrm>
            <a:off x="6400800" y="372160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Sınıf için kaç armatür?</a:t>
            </a:r>
            <a:endParaRPr lang="en-US" sz="1300" dirty="0"/>
          </a:p>
        </p:txBody>
      </p:sp>
      <p:sp>
        <p:nvSpPr>
          <p:cNvPr id="23" name="Text 21"/>
          <p:cNvSpPr txBox="1"/>
          <p:nvPr/>
        </p:nvSpPr>
        <p:spPr>
          <a:xfrm>
            <a:off x="10362895" y="3721608"/>
            <a:ext cx="1005840" cy="468630"/>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281678"/>
            <a:ext cx="5379415" cy="468630"/>
          </a:xfrm>
          <a:prstGeom prst="roundRect">
            <a:avLst>
              <a:gd name="adj" fmla="val 19512"/>
            </a:avLst>
          </a:prstGeom>
          <a:solidFill>
            <a:srgbClr val="1C2542"/>
          </a:solidFill>
          <a:ln w="9525">
            <a:solidFill>
              <a:srgbClr val="2C3860"/>
            </a:solidFill>
            <a:prstDash val="solid"/>
          </a:ln>
        </p:spPr>
      </p:sp>
      <p:sp>
        <p:nvSpPr>
          <p:cNvPr id="25" name="Text 23"/>
          <p:cNvSpPr txBox="1"/>
          <p:nvPr/>
        </p:nvSpPr>
        <p:spPr>
          <a:xfrm>
            <a:off x="6400800" y="428167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Fotometre</a:t>
            </a:r>
            <a:endParaRPr lang="en-US" sz="1300" dirty="0"/>
          </a:p>
        </p:txBody>
      </p:sp>
      <p:sp>
        <p:nvSpPr>
          <p:cNvPr id="26" name="Text 24"/>
          <p:cNvSpPr txBox="1"/>
          <p:nvPr/>
        </p:nvSpPr>
        <p:spPr>
          <a:xfrm>
            <a:off x="10362895" y="428167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4841748"/>
            <a:ext cx="5379415" cy="468630"/>
          </a:xfrm>
          <a:prstGeom prst="roundRect">
            <a:avLst>
              <a:gd name="adj" fmla="val 19512"/>
            </a:avLst>
          </a:prstGeom>
          <a:solidFill>
            <a:srgbClr val="1C2542"/>
          </a:solidFill>
          <a:ln w="9525">
            <a:solidFill>
              <a:srgbClr val="2C3860"/>
            </a:solidFill>
            <a:prstDash val="solid"/>
          </a:ln>
        </p:spPr>
      </p:sp>
      <p:sp>
        <p:nvSpPr>
          <p:cNvPr id="28" name="Text 26"/>
          <p:cNvSpPr txBox="1"/>
          <p:nvPr/>
        </p:nvSpPr>
        <p:spPr>
          <a:xfrm>
            <a:off x="6400800" y="484174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Masanın kenarındaki aydınlanma</a:t>
            </a:r>
            <a:endParaRPr lang="en-US" sz="1300" dirty="0"/>
          </a:p>
        </p:txBody>
      </p:sp>
      <p:sp>
        <p:nvSpPr>
          <p:cNvPr id="29" name="Text 27"/>
          <p:cNvSpPr txBox="1"/>
          <p:nvPr/>
        </p:nvSpPr>
        <p:spPr>
          <a:xfrm>
            <a:off x="10362895" y="484174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172200" y="5401818"/>
            <a:ext cx="5379415" cy="468630"/>
          </a:xfrm>
          <a:prstGeom prst="roundRect">
            <a:avLst>
              <a:gd name="adj" fmla="val 19512"/>
            </a:avLst>
          </a:prstGeom>
          <a:solidFill>
            <a:srgbClr val="1C2542"/>
          </a:solidFill>
          <a:ln w="9525">
            <a:solidFill>
              <a:srgbClr val="2C3860"/>
            </a:solidFill>
            <a:prstDash val="solid"/>
          </a:ln>
        </p:spPr>
      </p:sp>
      <p:sp>
        <p:nvSpPr>
          <p:cNvPr id="31" name="Text 29"/>
          <p:cNvSpPr txBox="1"/>
          <p:nvPr/>
        </p:nvSpPr>
        <p:spPr>
          <a:xfrm>
            <a:off x="6400800" y="5401818"/>
            <a:ext cx="3916375" cy="46863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8   İki sokak lambasının arasında</a:t>
            </a:r>
            <a:endParaRPr lang="en-US" sz="1300" dirty="0"/>
          </a:p>
        </p:txBody>
      </p:sp>
      <p:sp>
        <p:nvSpPr>
          <p:cNvPr id="32" name="Text 30"/>
          <p:cNvSpPr txBox="1"/>
          <p:nvPr/>
        </p:nvSpPr>
        <p:spPr>
          <a:xfrm>
            <a:off x="10362895" y="5401818"/>
            <a:ext cx="1005840" cy="468630"/>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3" name="Shape 31"/>
          <p:cNvSpPr/>
          <p:nvPr/>
        </p:nvSpPr>
        <p:spPr>
          <a:xfrm>
            <a:off x="640080" y="6382512"/>
            <a:ext cx="128016" cy="128016"/>
          </a:xfrm>
          <a:prstGeom prst="roundRect">
            <a:avLst>
              <a:gd name="adj" fmla="val 28571"/>
            </a:avLst>
          </a:prstGeom>
          <a:solidFill>
            <a:srgbClr val="C6F36B"/>
          </a:solidFill>
          <a:ln/>
        </p:spPr>
      </p:sp>
      <p:sp>
        <p:nvSpPr>
          <p:cNvPr id="34" name="Text 3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dersler.perinet.org/isik-siddeti.html</a:t>
            </a:r>
            <a:endParaRPr lang="en-US" sz="1050" dirty="0"/>
          </a:p>
        </p:txBody>
      </p:sp>
      <p:sp>
        <p:nvSpPr>
          <p:cNvPr id="35" name="Text 3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Aydınlanma ve uzaklık</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Işık şiddeti 200 cd olan noktasal bir lamba, masanın 2 m üzerindedir. (a) Masadaki aydınlanma nedir? (b) Lamba 4 m'ye çıkarılırsa ne olur?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200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 = 2 m (lamba tam üstte, ışık masaya dik gelir)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(b)'de d = 4 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masadaki aydınlanma E</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lamba 4 m'ye çıkınca yeni aydınlanma</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Aydınlanma ve uzaklık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E = I/d² = 200 / 2² = 200/4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50 lx</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d 2 katına çıktı → E dörtte bire iner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Aydınlanma ve uzaklık</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 = 200 / 16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12,5 lx</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Aynı sonucu doğrudan 50/4 = 12,5 lx olarak da bulabiliriz.</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Toplam akı ve katı açı</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Her yöne eşit ışık yayan bir kaynağın ışık şiddeti 100 cd'dır. (a) Toplam akısı nedir? (b) 0,5 sr'lık bir koniye gönderdiği akı nedir?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100 cd (her yöne eşit)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ω = 0,5 sr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π ≈ 3,14</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toplam akı Φ(toplam)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0,5 sr'lık koniye giden akı Φ</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Toplam akı ve katı açı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Φ = 4π·I = 4 · 3,14 · 100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1256 lm</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(b) Φ = I·ω = 100 · 0,5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50 lm</a:t>
            </a:r>
            <a:endParaRPr lang="en-US" sz="2000" dirty="0"/>
          </a:p>
        </p:txBody>
      </p:sp>
      <p:sp>
        <p:nvSpPr>
          <p:cNvPr id="16" name="Shape 14"/>
          <p:cNvSpPr/>
          <p:nvPr/>
        </p:nvSpPr>
        <p:spPr>
          <a:xfrm>
            <a:off x="640080" y="4120896"/>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447032"/>
            <a:ext cx="420624" cy="420624"/>
          </a:xfrm>
          <a:prstGeom prst="roundRect">
            <a:avLst>
              <a:gd name="adj" fmla="val 26000"/>
            </a:avLst>
          </a:prstGeom>
          <a:solidFill>
            <a:srgbClr val="A56209"/>
          </a:solidFill>
          <a:ln/>
        </p:spPr>
      </p:sp>
      <p:sp>
        <p:nvSpPr>
          <p:cNvPr id="18" name="Text 16"/>
          <p:cNvSpPr txBox="1"/>
          <p:nvPr/>
        </p:nvSpPr>
        <p:spPr>
          <a:xfrm>
            <a:off x="914400" y="44470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Katı açı hatırlatması: ω = A/r²; tüm küre için ω = 4πr²/r² = 4π sr.</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yüzey</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500 cd'lık lamba, yüzeyin 2 m üzerindedir. Yüzey 60° eğildiğinde aydınlanma nasıl değişir?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500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 = 2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dik durumda θ = 0° (cos0° = 1)</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eğik durumda θ = 60° (cos60° = 0,5)</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dik durumdaki ve 60° eğik durumdaki aydınlanma 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yüzey</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Dik durumda: E = 500 / 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125 lx</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Eğik durumda: E = I·cos60° / d² = 500 · 0,5 / 4</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Eğik yüzey</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62,5 lx</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yarıya indi.</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Açı 90° olsaydı cos90° = 0 olur, yüzey hiç aydınlanmazdı.</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Okuma lambası ne kadar yükseğe asılmalı?</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Rahat okumak için kitabın üzerinde en az 400 lx gerekiyor. Işık şiddeti 100 cd olan bir lamba kitabın tam üstüne en fazla kaç metre yükseğe konabilir? Lamba 1 m'ye çıkarılırsa aydınlanma kaç lüks olur?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100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gereken en az aydınlanma E = 400 lx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ikinci durumda d = 1 m</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lambanın konabileceği en büyük yükseklik 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 1 m'deyken aydınlanma E</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Okuma lambası ne kadar yükseğe asılmalı?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 = I/d² → d² = I/E = 100/400 = 0,25 m²</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 √0,25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0,5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lamba bundan yükseğe konmamalı.</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Okuma lambası ne kadar yükseğe asılmalı?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d = 1 m'de: E = 100/1²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100 lx</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Uzaklık 2 katına çıktı, aydınlanma 4'te bire indi: 400/4 = 100 lx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Sınıf için kaç armatür?</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8 m × 6 m boyutlarındaki bir sınıfın zemininde ortalama 500 lx aydınlanma isteniyor. Her armatür 3000 lm akı veriyor. Işığın tamamının zemine ulaştığı varsayılırsa kaç armatür gerekir?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zemin 8 m × 6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istenen E = 500 lx</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bir armatürün akısı 3000 lm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ışığın tamamı zemine ulaşır</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gereken armatür sayısı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Sınıf için kaç armatür?</a:t>
            </a:r>
            <a:endParaRPr lang="en-US" sz="1450" dirty="0"/>
          </a:p>
        </p:txBody>
      </p:sp>
      <p:sp>
        <p:nvSpPr>
          <p:cNvPr id="8" name="Shape 6"/>
          <p:cNvSpPr/>
          <p:nvPr/>
        </p:nvSpPr>
        <p:spPr>
          <a:xfrm>
            <a:off x="640080" y="1645920"/>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41576"/>
            <a:ext cx="420624" cy="420624"/>
          </a:xfrm>
          <a:prstGeom prst="roundRect">
            <a:avLst>
              <a:gd name="adj" fmla="val 26000"/>
            </a:avLst>
          </a:prstGeom>
          <a:solidFill>
            <a:srgbClr val="A56209"/>
          </a:solidFill>
          <a:ln/>
        </p:spPr>
      </p:sp>
      <p:sp>
        <p:nvSpPr>
          <p:cNvPr id="10" name="Text 8"/>
          <p:cNvSpPr txBox="1"/>
          <p:nvPr/>
        </p:nvSpPr>
        <p:spPr>
          <a:xfrm>
            <a:off x="914400" y="194157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Alan: A = 8 · 6 = 48 m²</a:t>
            </a:r>
            <a:endParaRPr lang="en-US" sz="2000" dirty="0"/>
          </a:p>
        </p:txBody>
      </p:sp>
      <p:sp>
        <p:nvSpPr>
          <p:cNvPr id="12" name="Shape 10"/>
          <p:cNvSpPr/>
          <p:nvPr/>
        </p:nvSpPr>
        <p:spPr>
          <a:xfrm>
            <a:off x="640080" y="2822448"/>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118104"/>
            <a:ext cx="420624" cy="420624"/>
          </a:xfrm>
          <a:prstGeom prst="roundRect">
            <a:avLst>
              <a:gd name="adj" fmla="val 26000"/>
            </a:avLst>
          </a:prstGeom>
          <a:solidFill>
            <a:srgbClr val="A56209"/>
          </a:solidFill>
          <a:ln/>
        </p:spPr>
      </p:sp>
      <p:sp>
        <p:nvSpPr>
          <p:cNvPr id="14" name="Text 12"/>
          <p:cNvSpPr txBox="1"/>
          <p:nvPr/>
        </p:nvSpPr>
        <p:spPr>
          <a:xfrm>
            <a:off x="914400" y="311810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877312"/>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Gereken akı: Φ = E·A = 500 · 48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24 000 lm</a:t>
            </a:r>
            <a:endParaRPr lang="en-US" sz="2000" dirty="0"/>
          </a:p>
        </p:txBody>
      </p:sp>
      <p:sp>
        <p:nvSpPr>
          <p:cNvPr id="16" name="Shape 14"/>
          <p:cNvSpPr/>
          <p:nvPr/>
        </p:nvSpPr>
        <p:spPr>
          <a:xfrm>
            <a:off x="640080" y="3998976"/>
            <a:ext cx="10911535" cy="1011936"/>
          </a:xfrm>
          <a:prstGeom prst="roundRect">
            <a:avLst>
              <a:gd name="adj" fmla="val 14458"/>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294632"/>
            <a:ext cx="420624" cy="420624"/>
          </a:xfrm>
          <a:prstGeom prst="roundRect">
            <a:avLst>
              <a:gd name="adj" fmla="val 26000"/>
            </a:avLst>
          </a:prstGeom>
          <a:solidFill>
            <a:srgbClr val="A56209"/>
          </a:solidFill>
          <a:ln/>
        </p:spPr>
      </p:sp>
      <p:sp>
        <p:nvSpPr>
          <p:cNvPr id="18" name="Text 16"/>
          <p:cNvSpPr txBox="1"/>
          <p:nvPr/>
        </p:nvSpPr>
        <p:spPr>
          <a:xfrm>
            <a:off x="914400" y="4294632"/>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053840"/>
            <a:ext cx="9859975" cy="90220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Armatür sayısı: 24 000 / 3000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8 armatür</a:t>
            </a:r>
            <a:endParaRPr lang="en-US" sz="2000" dirty="0"/>
          </a:p>
        </p:txBody>
      </p:sp>
      <p:sp>
        <p:nvSpPr>
          <p:cNvPr id="20" name="Shape 18"/>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1" name="Text 19"/>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22" name="Text 20"/>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Gerçekte ışığın bir kısmı duvarlarda ve tavanda soğurulur; tasarımcılar bu yüzden hesaplanan sayının üzerine pay ekler. Sayfanın 04 numaralı bölümünde aynı hesabı farklı odalar için deneyebilirsin.</a:t>
            </a:r>
            <a:endParaRPr lang="en-US" sz="1500" dirty="0"/>
          </a:p>
        </p:txBody>
      </p:sp>
      <p:sp>
        <p:nvSpPr>
          <p:cNvPr id="23" name="Shape 21"/>
          <p:cNvSpPr/>
          <p:nvPr/>
        </p:nvSpPr>
        <p:spPr>
          <a:xfrm>
            <a:off x="640080" y="6382512"/>
            <a:ext cx="128016" cy="128016"/>
          </a:xfrm>
          <a:prstGeom prst="roundRect">
            <a:avLst>
              <a:gd name="adj" fmla="val 28571"/>
            </a:avLst>
          </a:prstGeom>
          <a:solidFill>
            <a:srgbClr val="A9E648"/>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Fotometre</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Aralarında 3 m olan iki lambadan biri 400 cd, diğeri 100 cd'dır. İkisinin ortasındaki bir ekranın iki yüzü nerede eşit aydınlanır?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lambalar arası L = 3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I₁ = 400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I₂ = 100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ekranın iki yüzü eşit aydınlanır</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ekranın 400 cd'lık lambaya uzaklığı x</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Fotometre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Eşitlik: I₁/x² = I₂/(L−x)²</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Karekök: √I₁/x = √I₂/(L−x) → 20/x = 10/(3−x)</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Fotometre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60 − 20x = 10x → x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 m</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(400 cd'lık lambadan)</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Kontrol: 400/4 = 100 lx ve 100/1 = 100 lx ✓</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Masanın kenarındaki aydınlanma</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Işık şiddeti 64 cd olan bir lamba masanın 0,8 m üzerindedir. (a) Lambanın tam altındaki noktada, (b) bu noktadan 0,6 m yana kaymış masa kenarında aydınlanma kaç lükstür?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 = 64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lambanın masadan yüksekliği 0,8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masa kenarının tam alttaki noktaya uzaklığı 0,6 m</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lambanın tam altındaki aydınlanma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masa kenarındaki aydınlanma</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Masanın kenarındaki aydınlanma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Tam altta ışık dik gelir: E = 64 / 0,8² = 64 / 0,64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100 lx</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Lambaya uzaklık: d = √(0,8² + 0,6²) = √1 = 1 m</a:t>
            </a:r>
            <a:endParaRPr lang="en-US" sz="2000" dirty="0"/>
          </a:p>
        </p:txBody>
      </p:sp>
      <p:sp>
        <p:nvSpPr>
          <p:cNvPr id="16" name="Shape 14"/>
          <p:cNvSpPr/>
          <p:nvPr/>
        </p:nvSpPr>
        <p:spPr>
          <a:xfrm>
            <a:off x="640080" y="4120896"/>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720133"/>
            <a:ext cx="420624" cy="420624"/>
          </a:xfrm>
          <a:prstGeom prst="roundRect">
            <a:avLst>
              <a:gd name="adj" fmla="val 26000"/>
            </a:avLst>
          </a:prstGeom>
          <a:solidFill>
            <a:srgbClr val="A56209"/>
          </a:solidFill>
          <a:ln/>
        </p:spPr>
      </p:sp>
      <p:sp>
        <p:nvSpPr>
          <p:cNvPr id="18" name="Text 16"/>
          <p:cNvSpPr txBox="1"/>
          <p:nvPr/>
        </p:nvSpPr>
        <p:spPr>
          <a:xfrm>
            <a:off x="914400" y="4720133"/>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175760"/>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Geliş açısı: cosθ = 0,8 / 1 = 0,8 (ışın ile masanın normali arasındaki açı)</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Masanın kenarındaki aydınlanma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E = I·cosθ / d² = 64 · 0,8 / 1²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51,2 lx</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Yalnızca 0,6 m yana kaymak aydınlanmayı neredeyse yarıya indirdi: uzaklık ve eğim birlikte etkiler.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8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sokak lambasının arasında</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Işık şiddetleri 500'er cd olan iki sokak lambası 3 m yükseklikte ve aralarında 8 m olacak biçimde dikilmiştir. (a) İki direğin tam ortasındaki noktada, (b) bir direğin dibinde yerdeki aydınlanmayı bulunuz.</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her lambada I = 500 cd</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lambaların yerden yüksekliği 3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 direk arası 8 m</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iki direğin tam ortasında yerdeki aydınlanma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bir direğin dibinde yerdeki aydınlanma</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sokak lambasının arasında</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Orta noktanın her lambaya uzaklığı: d = √(3² + 4²) = 5 m; cosθ = 3/5 = 0,6</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Her lambadan: E = 500 · 0,6 / 5² = 12 lx → iki lamba birlikte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24 lx</a:t>
            </a:r>
            <a:endParaRPr lang="en-US" sz="2000" dirty="0"/>
          </a:p>
        </p:txBody>
      </p:sp>
      <p:sp>
        <p:nvSpPr>
          <p:cNvPr id="16" name="Shape 14"/>
          <p:cNvSpPr/>
          <p:nvPr/>
        </p:nvSpPr>
        <p:spPr>
          <a:xfrm>
            <a:off x="640080" y="466709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914400" y="4993234"/>
            <a:ext cx="420624" cy="420624"/>
          </a:xfrm>
          <a:prstGeom prst="roundRect">
            <a:avLst>
              <a:gd name="adj" fmla="val 26000"/>
            </a:avLst>
          </a:prstGeom>
          <a:solidFill>
            <a:srgbClr val="A56209"/>
          </a:solidFill>
          <a:ln/>
        </p:spPr>
      </p:sp>
      <p:sp>
        <p:nvSpPr>
          <p:cNvPr id="18" name="Text 16"/>
          <p:cNvSpPr txBox="1"/>
          <p:nvPr/>
        </p:nvSpPr>
        <p:spPr>
          <a:xfrm>
            <a:off x="914400" y="499323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508760" y="472196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Kendi lambasından (dik geliş): E = 500 / 3² ≈ 55,6 lx</a:t>
            </a:r>
            <a:endParaRPr lang="en-US" sz="20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8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İki sokak lambasının arasında</a:t>
            </a:r>
            <a:endParaRPr lang="en-US" sz="1450" dirty="0"/>
          </a:p>
        </p:txBody>
      </p:sp>
      <p:sp>
        <p:nvSpPr>
          <p:cNvPr id="8" name="Shape 6"/>
          <p:cNvSpPr/>
          <p:nvPr/>
        </p:nvSpPr>
        <p:spPr>
          <a:xfrm>
            <a:off x="640080" y="1645920"/>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35708"/>
            <a:ext cx="420624" cy="420624"/>
          </a:xfrm>
          <a:prstGeom prst="roundRect">
            <a:avLst>
              <a:gd name="adj" fmla="val 26000"/>
            </a:avLst>
          </a:prstGeom>
          <a:solidFill>
            <a:srgbClr val="A56209"/>
          </a:solidFill>
          <a:ln/>
        </p:spPr>
      </p:sp>
      <p:sp>
        <p:nvSpPr>
          <p:cNvPr id="10" name="Text 8"/>
          <p:cNvSpPr txBox="1"/>
          <p:nvPr/>
        </p:nvSpPr>
        <p:spPr>
          <a:xfrm>
            <a:off x="914400" y="2235708"/>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1" name="Text 9"/>
          <p:cNvSpPr txBox="1"/>
          <p:nvPr/>
        </p:nvSpPr>
        <p:spPr>
          <a:xfrm>
            <a:off x="1508760" y="1700784"/>
            <a:ext cx="9859975" cy="1490472"/>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Öteki lambaya uzaklık √(3² + 8²) = √73 ≈ 8,54 m; cosθ ≈ 0,35 → E ≈ 500 · 0,35 / 73 ≈ 2,4 lx</a:t>
            </a:r>
            <a:endParaRPr lang="en-US" sz="2000" dirty="0"/>
          </a:p>
        </p:txBody>
      </p:sp>
      <p:sp>
        <p:nvSpPr>
          <p:cNvPr id="12" name="Shape 10"/>
          <p:cNvSpPr/>
          <p:nvPr/>
        </p:nvSpPr>
        <p:spPr>
          <a:xfrm>
            <a:off x="640080" y="3410712"/>
            <a:ext cx="10911535" cy="1600200"/>
          </a:xfrm>
          <a:prstGeom prst="roundRect">
            <a:avLst>
              <a:gd name="adj" fmla="val 9143"/>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00500"/>
            <a:ext cx="420624" cy="420624"/>
          </a:xfrm>
          <a:prstGeom prst="roundRect">
            <a:avLst>
              <a:gd name="adj" fmla="val 26000"/>
            </a:avLst>
          </a:prstGeom>
          <a:solidFill>
            <a:srgbClr val="A56209"/>
          </a:solidFill>
          <a:ln/>
        </p:spPr>
      </p:sp>
      <p:sp>
        <p:nvSpPr>
          <p:cNvPr id="14" name="Text 12"/>
          <p:cNvSpPr txBox="1"/>
          <p:nvPr/>
        </p:nvSpPr>
        <p:spPr>
          <a:xfrm>
            <a:off x="914400" y="400050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5" name="Text 13"/>
          <p:cNvSpPr txBox="1"/>
          <p:nvPr/>
        </p:nvSpPr>
        <p:spPr>
          <a:xfrm>
            <a:off x="1508760" y="3465576"/>
            <a:ext cx="9859975" cy="1490472"/>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Toplam ≈ 55,6 + 2,4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58 lx</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direk dibi, orta noktanın yaklaşık 2,4 katı aydınlık.</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Kaldırımdaki ışık havuzları ve aralarındaki sönük bölgeler bu hesabın sonucudur. Direkleri sıklaştırmak ya da yükseltmek iki değeri birbirine yaklaştırır.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şiddeti 180 cd olan bir lamba masanın 3 m üzerinde. Lambanın tam altındaki noktada aydınlanma kaç lükstür?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(Kaynaklar noktasal;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şiddeti 180 cd olan bir lamba masanın 3 m üzerinde. Lambanın tam altındaki noktada aydınlanma kaç lükstür?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Işık masaya dik gelir: E = I / d² = 180 / 3² = 180 / 9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20 lx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1200 lümenlik ışık, 4 m²'lik bir tezgâha eşit olarak yayılıyor. Tezgâhtaki aydınlanma kaç lükstür?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(Kaynaklar noktasal;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1200 lümenlik ışık, 4 m²'lik bir tezgâha eşit olarak yayılıyor. Tezgâhtaki aydınlanma kaç lükstür?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 = Φ / A = 1200 / 4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300 lx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Her metrekareye 300 lümen düşer.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Bir lamba masanın 1 m üzerindeyken masadaki aydınlanma 360 lükstür. Lamba 3 m yüksekliğe çıkarılırsa aydınlanma kaç lüks olur?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(Kaynaklar noktasal;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Bir lamba masanın 1 m üzerindeyken masadaki aydınlanma 360 lükstür. Lamba 3 m yüksekliğe çıkarılırsa aydınlanma kaç lüks olur?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Uzaklık 3 katına çıktı, aydınlanma 3² = 9'da bire iner: 360 / 9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40 lx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I = E · d² = 360 · 1² = 360 cd ve E = 360 / 3² = 40 lx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şiddeti 250 cd olan bir lamba 5 m uzaktaki bir yüzeyi aydınlatıyor. Işın, yüzeyin normaliyle 37° açı yapıyor. Aydınlanma kaç lükstür?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(Kaynaklar noktasal;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şiddeti 250 cd olan bir lamba 5 m uzaktaki bir yüzeyi aydınlatıyor. Işın, yüzeyin normaliyle 37° açı yapıyor. Aydınlanma kaç lükstür?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E = I · cosθ / d² = 250 · 0,8 / 5² = 200 / 25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8 lx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125</a:t>
            </a:r>
            <a:endParaRPr lang="en-US" sz="10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Işık şiddeti 90 cd olan bir lamba masanın 1,2 m üzerinde. Lambanın tam altından 0,9 m uzaktaki noktada aydınlanma kaç lükstür?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(Kaynaklar noktasal; cos37° = 0,8)</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126</a:t>
            </a:r>
            <a:endParaRPr lang="en-US" sz="10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Işık şiddeti 90 cd olan bir lamba masanın 1,2 m üzerinde. Lambanın tam altından 0,9 m uzaktaki noktada aydınlanma kaç lükstür?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Lambaya uzaklık d = √(1,2² + 0,9²) = √2,25 = 1,5 m. Işın masanın normaliyle θ açısı yapar: cosθ = 1,2 / 1,5 = 0,8. E = I · cosθ / d² = 90 · 0,8 / 2,25 = 72 / 2,25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32 lx</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Tam altta 90 / 1,2² = 62,5 lx olurdu.</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127</a:t>
            </a:r>
            <a:endParaRPr lang="en-US" sz="10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Watt ile lümeni karıştırmak.</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Watt çekilen elektrik gücü, lümen yayılan ışık akısıdır. LED ampul aynı lümeni çok daha az wattla verir.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Aydınlanmayı kaynağın özelliği sanmak.</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Aydınlanma yüzeyin özelliğidir; aynı lamba, farklı uzaklıktaki yüzeyleri farklı aydınlatır.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Uzaklıkla ters orantı kurmak.</a:t>
            </a:r>
            <a:endParaRPr lang="en-US" sz="1900" dirty="0"/>
          </a:p>
        </p:txBody>
      </p:sp>
      <p:sp>
        <p:nvSpPr>
          <p:cNvPr id="25" name="Shape 23"/>
          <p:cNvSpPr/>
          <p:nvPr/>
        </p:nvSpPr>
        <p:spPr>
          <a:xfrm>
            <a:off x="841248" y="4612386"/>
            <a:ext cx="310896" cy="310896"/>
          </a:xfrm>
          <a:prstGeom prst="roundRect">
            <a:avLst>
              <a:gd name="adj" fmla="val 26471"/>
            </a:avLst>
          </a:prstGeom>
          <a:solidFill>
            <a:srgbClr val="EAF7DC"/>
          </a:solidFill>
          <a:ln/>
        </p:spPr>
      </p:sp>
      <p:sp>
        <p:nvSpPr>
          <p:cNvPr id="26" name="Text 24"/>
          <p:cNvSpPr txBox="1"/>
          <p:nvPr/>
        </p:nvSpPr>
        <p:spPr>
          <a:xfrm>
            <a:off x="841248"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Bağıntı 1/d değil </a:t>
            </a:r>
            <a:pPr indent="0" marL="0">
              <a:lnSpc>
                <a:spcPct val="108000"/>
              </a:lnSpc>
              <a:buNone/>
            </a:pPr>
            <a:r>
              <a:rPr lang="en-US" sz="1700" b="1" dirty="0">
                <a:solidFill>
                  <a:srgbClr val="0E1426"/>
                </a:solidFill>
                <a:latin typeface="Calibri" pitchFamily="34" charset="0"/>
                <a:ea typeface="Calibri" pitchFamily="34" charset="-122"/>
                <a:cs typeface="Calibri" pitchFamily="34" charset="-120"/>
              </a:rPr>
              <a:t>1/d²</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'dir.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cosθ'yı unutmak.</a:t>
            </a:r>
            <a:endParaRPr lang="en-US" sz="1900" dirty="0"/>
          </a:p>
        </p:txBody>
      </p:sp>
      <p:sp>
        <p:nvSpPr>
          <p:cNvPr id="32" name="Shape 30"/>
          <p:cNvSpPr/>
          <p:nvPr/>
        </p:nvSpPr>
        <p:spPr>
          <a:xfrm>
            <a:off x="6406744" y="4612386"/>
            <a:ext cx="310896" cy="310896"/>
          </a:xfrm>
          <a:prstGeom prst="roundRect">
            <a:avLst>
              <a:gd name="adj" fmla="val 26471"/>
            </a:avLst>
          </a:prstGeom>
          <a:solidFill>
            <a:srgbClr val="EAF7DC"/>
          </a:solidFill>
          <a:ln/>
        </p:spPr>
      </p:sp>
      <p:sp>
        <p:nvSpPr>
          <p:cNvPr id="33" name="Text 31"/>
          <p:cNvSpPr txBox="1"/>
          <p:nvPr/>
        </p:nvSpPr>
        <p:spPr>
          <a:xfrm>
            <a:off x="6406744" y="461238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594098"/>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Yüzey eğikse aydınlanma cosθ kadar azalır.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128</a:t>
            </a:r>
            <a:endParaRPr lang="en-US" sz="10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θ'yı ışınla yüzey arasındaki açı sanmak.</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θ, ışın ile yüzeyin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normali</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arasındadır; ışın yüzeyle 30° yapıyorsa θ = 60°'dir.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Toplam akıyı I'ya eşitlemek.</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Noktasal kaynakta Φ = 4π·I'dır; aradaki çarpan yaklaşık 12,6'dır.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Fotometrede uzaklık oranını şiddet oranına eşitlemek.</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Uzaklıkların oranı şiddetlerin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karekökünün</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oranıdır: 4 kat şiddet, 2 kat uzaklık demektir.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Ters kare yasasını her kaynağa uygulamak.</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Yasa yalnızca noktasal kaynaklar için geçerlidir.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dersler.perinet.org/isik-siddeti.html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129</a:t>
            </a:r>
            <a:endParaRPr lang="en-US" sz="10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Şiddet </a:t>
            </a:r>
            <a:pPr indent="0" marL="0">
              <a:buNone/>
            </a:pPr>
            <a:r>
              <a:rPr lang="en-US" sz="1500" b="1" dirty="0">
                <a:solidFill>
                  <a:srgbClr val="FFFFFF"/>
                </a:solidFill>
                <a:latin typeface="Calibri" pitchFamily="34" charset="0"/>
                <a:ea typeface="Calibri" pitchFamily="34" charset="-122"/>
                <a:cs typeface="Calibri" pitchFamily="34" charset="-120"/>
              </a:rPr>
              <a:t>kandela</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Akı </a:t>
            </a:r>
            <a:pPr indent="0" marL="0">
              <a:buNone/>
            </a:pPr>
            <a:r>
              <a:rPr lang="en-US" sz="1500" b="1" dirty="0">
                <a:solidFill>
                  <a:srgbClr val="FFFFFF"/>
                </a:solidFill>
                <a:latin typeface="Calibri" pitchFamily="34" charset="0"/>
                <a:ea typeface="Calibri" pitchFamily="34" charset="-122"/>
                <a:cs typeface="Calibri" pitchFamily="34" charset="-120"/>
              </a:rPr>
              <a:t>lümen</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Aydınlanma </a:t>
            </a:r>
            <a:pPr indent="0" marL="0">
              <a:buNone/>
            </a:pPr>
            <a:r>
              <a:rPr lang="en-US" sz="1500" b="1" dirty="0">
                <a:solidFill>
                  <a:srgbClr val="FFFFFF"/>
                </a:solidFill>
                <a:latin typeface="Calibri" pitchFamily="34" charset="0"/>
                <a:ea typeface="Calibri" pitchFamily="34" charset="-122"/>
                <a:cs typeface="Calibri" pitchFamily="34" charset="-120"/>
              </a:rPr>
              <a:t>lüks</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E ile </a:t>
            </a:r>
            <a:pPr indent="0" marL="0">
              <a:buNone/>
            </a:pPr>
            <a:r>
              <a:rPr lang="en-US" sz="1500" b="1" dirty="0">
                <a:solidFill>
                  <a:srgbClr val="FFFFFF"/>
                </a:solidFill>
                <a:latin typeface="Calibri" pitchFamily="34" charset="0"/>
                <a:ea typeface="Calibri" pitchFamily="34" charset="-122"/>
                <a:cs typeface="Calibri" pitchFamily="34" charset="-120"/>
              </a:rPr>
              <a:t>1/d²</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I = Φ / ω</a:t>
            </a:r>
            <a:endParaRPr lang="en-US" sz="1350" dirty="0"/>
          </a:p>
        </p:txBody>
      </p:sp>
      <p:sp>
        <p:nvSpPr>
          <p:cNvPr id="16" name="Text 14"/>
          <p:cNvSpPr txBox="1"/>
          <p:nvPr/>
        </p:nvSpPr>
        <p:spPr>
          <a:xfrm>
            <a:off x="8183880" y="239572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ışık şiddeti (cd)</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Φ = 4π · I</a:t>
            </a:r>
            <a:endParaRPr lang="en-US" sz="1350" dirty="0"/>
          </a:p>
        </p:txBody>
      </p:sp>
      <p:sp>
        <p:nvSpPr>
          <p:cNvPr id="19" name="Text 17"/>
          <p:cNvSpPr txBox="1"/>
          <p:nvPr/>
        </p:nvSpPr>
        <p:spPr>
          <a:xfrm>
            <a:off x="8183880" y="321868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nokta kaynağın toplam akısı</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1463040"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 = Φ / A</a:t>
            </a:r>
            <a:endParaRPr lang="en-US" sz="1350" dirty="0"/>
          </a:p>
        </p:txBody>
      </p:sp>
      <p:sp>
        <p:nvSpPr>
          <p:cNvPr id="22" name="Text 20"/>
          <p:cNvSpPr txBox="1"/>
          <p:nvPr/>
        </p:nvSpPr>
        <p:spPr>
          <a:xfrm>
            <a:off x="8183880" y="4041648"/>
            <a:ext cx="3184855"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aydınlanma şiddeti (lx)</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E = I · cosθ / d²</a:t>
            </a:r>
            <a:endParaRPr lang="en-US" sz="1350" dirty="0"/>
          </a:p>
        </p:txBody>
      </p:sp>
      <p:sp>
        <p:nvSpPr>
          <p:cNvPr id="25" name="Text 23"/>
          <p:cNvSpPr txBox="1"/>
          <p:nvPr/>
        </p:nvSpPr>
        <p:spPr>
          <a:xfrm>
            <a:off x="8782812" y="486460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uzaklık ve eğim</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dersler.perinet.org/isik-siddeti.html</a:t>
            </a:r>
            <a:endParaRPr lang="en-US" sz="1300" dirty="0"/>
          </a:p>
        </p:txBody>
      </p:sp>
      <p:sp>
        <p:nvSpPr>
          <p:cNvPr id="28" name="Text 26"/>
          <p:cNvSpPr txBox="1"/>
          <p:nvPr/>
        </p:nvSpPr>
        <p:spPr>
          <a:xfrm>
            <a:off x="5852160" y="1078992"/>
            <a:ext cx="5699455" cy="457200"/>
          </a:xfrm>
          <a:prstGeom prst="rect">
            <a:avLst/>
          </a:prstGeom>
          <a:noFill/>
          <a:ln/>
        </p:spPr>
        <p:txBody>
          <a:bodyPr wrap="square" lIns="0" tIns="0" rIns="0" bIns="0" rtlCol="0" anchor="ctr"/>
          <a:lstStyle/>
          <a:p>
            <a:pPr algn="r" indent="0" marL="0">
              <a:buNone/>
            </a:pPr>
            <a:r>
              <a:rPr lang="en-US" sz="1000" b="1" spc="200" kern="0" dirty="0">
                <a:solidFill>
                  <a:srgbClr val="8D97B5"/>
                </a:solidFill>
                <a:latin typeface="Calibri" pitchFamily="34" charset="0"/>
                <a:ea typeface="Calibri" pitchFamily="34" charset="-122"/>
                <a:cs typeface="Calibri" pitchFamily="34" charset="-120"/>
              </a:rPr>
              <a:t>SIRADAKİ KONU  </a:t>
            </a:r>
            <a:pPr algn="r" indent="0" marL="0">
              <a:buNone/>
            </a:pPr>
            <a:r>
              <a:rPr lang="en-US" sz="1300" b="1" dirty="0">
                <a:solidFill>
                  <a:srgbClr val="FFFFFF"/>
                </a:solidFill>
                <a:latin typeface="Calibri" pitchFamily="34" charset="0"/>
                <a:ea typeface="Calibri" pitchFamily="34" charset="-122"/>
                <a:cs typeface="Calibri" pitchFamily="34" charset="-120"/>
              </a:rPr>
              <a:t>02 · Düzlem aynalar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Işık şiddeti, ışık akısı ve aydınlanma — Dersler</dc:title>
  <dc:subject>Fizik · Optik</dc:subject>
  <dc:creator>Dersler</dc:creator>
  <cp:lastModifiedBy>Dersler</cp:lastModifiedBy>
  <cp:revision>1</cp:revision>
  <dcterms:created xsi:type="dcterms:W3CDTF">2026-09-30T08:42:41Z</dcterms:created>
  <dcterms:modified xsi:type="dcterms:W3CDTF">2026-09-30T08:42:41Z</dcterms:modified>
</cp:coreProperties>
</file>