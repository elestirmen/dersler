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Ampul kutularında neden artık "watt" değil "lümen" yazıyor? Çalışma masan yeterince aydınlık mı, nasıl ölçersin? Bu konunun tamamı, birbirine çok benzeyen üç büyüklüğü ayırmakla ilgili: akı kaynağın ürettiği toplam ışıktır, şiddet bunun belli bir yöndeki yoğunluğu, aydınlanma ise yüzeye düşen paydır. Üçünü karıştırmayı bıraktığın an konu biter.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Ampul kutularında neden artık "watt" değil "lümen" yazıyor? Çalışma masan yeterince aydınlık mı, nasıl ölçersin? Bu konunun tamamı, birbirine çok benzeyen üç büyüklüğü ayırmakla ilgili: akı kaynağın ürettiği toplam ışıktır, şiddet bunun belli bir yöndeki yoğunluğu, aydınlanma ise yüzeye düşen paydır. Üçünü karıştırmayı bıraktığın an konu biter.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Işık kaynakları ve doğrusal yayılma
2. Işık akısı (Φ)
3. Işık şiddeti (I)
4. Aydınlanma şiddeti (E)
5. Ters kare yasası
6. Eğik yüzeyler: cosθ çarpanı
7. Günlük hayattan değerler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kaynakları ve doğrusal yayılma
Işığı kendisi üreten cisimlere ışık kaynağı denir. Işık, saydam ve türdeş bir ortamda doğrular boyunca yayılır; gölge ve yarı gölgenin oluşması bunun doğrudan kanıtıdır.
• Noktasal kaynak: boyutları, uzaklığın yanında ihmal edilebilen kaynak. Bu konudaki bağıntılar noktasal kaynaklar içindir.
• Yaygın kaynak: boyutu ihmal edilemeyen kaynak; yarı gölge oluşturur.
Neden noktasal kabul ediyoruz? Bir lambaya 10 metreden bakarken 10 cm'lik boyutu önemsizdir. Aynı lambaya 10 cm'den bakarken ise ters kare yasası artık geçerli değildir.
Çizim: Işık doğrular boyunca yayıldığı için gölgeler keskin kenarlıdır. Noktasal bir kaynakta perdenin her noktası ya ışık alır ya almaz — arada ara ton yoktur. Kaynak büyüdüğünde ise perdenin bazı noktaları kaynağın yalnızca bir kısmını görebilir; o bölgeye yarı gölge denir. Güneş tutulmasında tam ve parçalı tutulma bölgeleri tam olarak bu iki bölgedir.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akısı (Φ)
Kaynağın birim zamanda yaydığı görünür ışık enerjisidir. Birimi lümen (lm)'dir. Ampul kutusunda yazan değer budur; watt ise ampulün çektiği elektrik gücüdür, yaydığı ışık değil.
Φ = I · ω   Φ(toplam) = 4π · I
Noktasal bir kaynak ışığı her yöne eşit yayarsa, çevresindeki tüm uzay 4π steradyan olduğu için toplam akı 4π·I olur.
Çizim: Işık akısı, kaynağın her yöne birden yaydığı görünür ışığın toplamıdır; birimi lümendir. Ampul kutusundaki watt değeri kaynağın harcadığı elektrik gücünü söyler, ürettiği ışığı değil — bu yüzden 9 W'lık bir LED, 60 W'lık akkor ampulle aynı 800 lümeni verebilir.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şiddeti (I)
Kaynağın belli bir doğrultuda, birim katı açıya gönderdiği akıdır. Birimi kandela (cd)'dır ve SI'nın yedi temel biriminden biridir.
I = Φ / ω   1 cd = 1 lm / sr
Katı açı ω, kürenin merkezinden bakıldığında bir yüzeyin kapladığı açıdır ve ω = A / r² ile hesaplanır; birimi steradyan (sr)'dır. Tüm küre 4π ≈ 12,57 sr'dir.
Çizim: Bir kaynak ışığını her yöne eşit dağıtmayabilir: el feneri ışığın çoğunu dar bir koniye sıkıştırır, mum her yöne aynı miktarda yayar. Işık şiddeti, belli bir yöndeki akı yoğunluğudur — yani akının uzay açısına bölümü. Bu yüzden 100 lümenlik bir el feneri, 100 lümenlik bir mumdan çok daha parlak görünür: aynı akıyı çok daha küçük bir açıya sıkıştırmıştır.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Aydınlanma şiddeti (E)
Bir yüzeyin birim alanına düşen ışık akısıdır. Birimi lüks (lx)'tür. Kaynağın değil, yüzeyin özelliğidir.
E = Φ / A   1 lx = 1 lm / m²   E = I / d²
Büyüklük | Simge | Birim | Neyin özelliği
Işık akısı | Φ | lümen (lm) | kaynağın
Işık şiddeti | I | kandela (cd) | kaynağın, bir yönde
Aydınlanma şiddeti | E | lüks (lx) | yüzeyin
Çizim: Aydınlanma, yüzeye düşen akının birim alana bölünmesidir. Sağdaki yüzeye tam olarak aynı miktarda ışık düşüyor — ama dört kat geniş olduğu için her metrekaresine dörtte biri düşer ve yüzey dört kat sönük görünür. Bu yüzden lüks, kaynağın değil yüzeyin özelliğidir: aynı ampul, masayı aydınlatır ama odanın köşesini aydınlatmaz.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Ters kare yasası
Noktasal kaynaktan çıkan akı, uzaklaştıkça yarıçapın karesiyle büyüyen bir küre yüzeyine yayılır. Küre yüzeyi 4πd² olduğundan:
E = Φ / (4π·d²) = I / d²
• Uzaklık 2 katına çıkarsa aydınlanma 4'te bire iner.
• Uzaklık 3 katına çıkarsa aydınlanma 9'da bire iner.
• Aydınlanmayı 2 katına çıkarmak için uzaklığı √2 kat azaltmak gerekir.
Yasa yalnızca noktasal kaynak içindir. Uzun bir flüoresan tüpün ya da aydınlatılmış bir tavanın altında aydınlanma bu kadar hızlı azalmaz.
Çizim: Kaynaktan çıkan aynı demet, uzaklık iki katına çıkınca dört kat, üç katına çıkınca dokuz kat geniş bir alana yayılır. Aynı akı daha çok kareye bölündüğü için her kareye düşen pay ters kareyle azalır: E = I/d². Ampulden iki kat uzaklaşmak, masanı yarı değil dörtte bir kadar aydınlık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yüzeyler: cosθ çarpanı
Işık yüzeye dik gelmiyorsa, aynı akı daha büyük bir alana yayılır. Yüzeyin normali ile ışığın doğrultusu arasındaki açı θ ise:
E = I · cosθ / d²
θ = 0'da (dik geliş) aydınlanma en büyüktür; θ = 60°'de yarıya iner; θ = 90°'de (ışık yüzeye teğet) sıfırdır. Mevsimlerin oluş sebebi de budur: kışın Güneş ışınları yere daha eğik gelir.
Çizim: Yüzey eğildiğinde aynı ışık demeti daha geniş bir alana yayılır, bu yüzden her metrekareye düşen pay azalır. Kayıp tam olarak cosθ çarpanıyla verilir: E = I·cosθ/d². Kışın güneşin daha eğik gelmesi ve kutupların hep soğuk olması aynı geometrinin sonucudur — gelen enerji aynıdır, yayıldığı alan farklıdır.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Günlük hayattan değerler
Ortam | Aydınlanma
Dolunaylı gece | ≈ 0,25 lx
Sokak aydınlatması | 10 – 20 lx
Ev oturma odası | 100 – 200 lx
Sınıf, ofis, okuma masası | 300 – 500 lx
Bulutlu gün, dış ortam | ≈ 1000 lx
Doğrudan güneş ışığı | ≈ 100 000 lx
Bir mum yaklaşık 1 cd şiddetindedir; 100 W'lık akkor ampul ≈ 1400 lm, 10 W'lık LED ampul ≈ 800 lm akı yayar.
Çizim: Ölçek logaritmiktir: her adım on katı gösterir. Dolunaylı bir gece ile doğrudan güneş arasında dört yüz bin kat fark var, ama gözümüz bu farkı öyle algılamaz — göz bebeği ve retina kendini uyarlar. Bu yüzden "yeterince aydınlık" demek yerine ölçmek gerekir: bir okuma masası için hedef 300–500 lüks.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Aydınlanma ve uzaklık
Işık şiddeti 200 cd olan noktasal bir lamba, masanın 2 m üzerindedir. (a) Masadaki aydınlanma nedir? (b) Lamba 4 m'ye çıkarılırsa ne olur?
1. (a) E = I/d² = 200 / 2² = 200/4 = 50 lx
2. (b) d 2 katına çıktı → E dörtte bire iner
3. E = 200 / 16 = 12,5 lx
4. Aynı sonucu doğrudan 50/4 = 12,5 lx olarak da bulabiliriz.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Toplam akı ve katı açı
Her yöne eşit ışık yayan bir kaynağın ışık şiddeti 100 cd'dır. (a) Toplam akısı nedir? (b) 0,5 sr'lik bir koniye gönderdiği akı nedir?
1. (a) Φ = 4π·I = 4 · 3,14 · 100 ≈ 1256 lm
2. (b) Φ = I·ω = 100 · 0,5 = 50 lm
3. Katı açı hatırlatması: ω = A/r²; tüm küre için ω = 4πr²/r² = 4π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Eğik yüzey
500 cd'lık lamba, yüzeyin 2 m üzerindedir. Yüzey 60° eğildiğinde aydınlanma nasıl değişir?
1. Dik durumda: E = 500 / 4 = 125 lx
2. Eğik durumda: E = I·cos60° / d² = 500 · 0,5 / 4
3. E = 62,5 lx — yarıya indi.
4. Açı 90° olsaydı cos90° = 0 olur, yüzey hiç aydınlanmazdı.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Fotometre
Aralarında 3 m olan iki lambadan biri 400 cd, diğeri 100 cd'dır. İkisinin ortasındaki bir ekranın iki yüzü nerede eşit aydınlanır?
1. Eşitlik: I₁/x² = I₂/(L−x)²
2. Karekök: √I₁/x = √I₂/(L−x) → 20/x = 10/(3−x)
3. 60 − 20x = 10x → x = 2 m (400 cd'lık lambadan)
4. Kontrol: 400/4 = 100 lx ve 100/1 = 100 lx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Watt ile lümeni karıştırmak. Watt çekilen elektrik gücü, lümen yayılan ışık akısıdır. LED ampul aynı lümeni çok daha az wattla verir.
• Aydınlanmayı kaynağın özelliği sanmak. Aydınlanma yüzeyin özelliğidir; aynı lamba, farklı uzaklıktaki yüzeyleri farklı aydınlatır.
• Uzaklıkla ters orantı kurmak. Bağıntı 1/d değil 1/d²'dir.
• cosθ'yı unutmak. Yüzey eğikse aydınlanma cosθ kadar azalır.
• Toplam akıyı I'ya eşitlemek. Noktasal kaynakta Φ = 4π·I'dır; aradaki çarpan yaklaşık 12,6'dır.
• Ters kare yasasını her kaynağa uygulamak. Yasa yalnızca noktasal kaynaklar için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Şiddet kandela · Akı lümen · Aydınlanma lüks · E ile 1/d²
I = Φ / ω — ışık şiddeti (cd)
Φ = 4π · I — nokta kaynağın toplam akısı
E = Φ / A — aydınlanma şiddeti (lx)
E = I · cosθ / d² — uzaklık ve eğim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01</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3400" b="1" spc="-100" kern="0" dirty="0">
                <a:solidFill>
                  <a:srgbClr val="FFFFFF"/>
                </a:solidFill>
                <a:latin typeface="Cambria" pitchFamily="34" charset="0"/>
                <a:ea typeface="Cambria" pitchFamily="34" charset="-122"/>
                <a:cs typeface="Cambria" pitchFamily="34" charset="-120"/>
              </a:rPr>
              <a:t>Işık şiddeti, ışık akısı ve aydınlanma</a:t>
            </a:r>
            <a:endParaRPr lang="en-US" sz="34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450" dirty="0">
                <a:solidFill>
                  <a:srgbClr val="C3CEE8"/>
                </a:solidFill>
                <a:latin typeface="Calibri" pitchFamily="34" charset="0"/>
                <a:ea typeface="Calibri" pitchFamily="34" charset="-122"/>
                <a:cs typeface="Calibri" pitchFamily="34" charset="-120"/>
              </a:rPr>
              <a:t>Bir lambanın “gücü” ile masanın üzerine düşen ışık aynı şey değildir. Kaynağın yaydığı akı, belli bir yöne gönderdiği şiddet ve yüzeyde ölçülen aydınlanma üç ayrı büyüklüktür — ve aralarındaki bağ uzaklığın karesidir.</a:t>
            </a:r>
            <a:endParaRPr lang="en-US" sz="14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 = Φ / ω   ·   Φ = 4π · I   ·   E = Φ / A   ·   E = I · cosθ / d²</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Ampul kutularında neden artık "watt" değil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"lümen"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yazıyor? Çalışma masan yeterince aydınlık mı, nasıl ölçersin? Bu konunun tamamı, birbirine çok benzeyen üç büyüklüğü ayırmakla ilgili: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akı</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kaynağın ürettiği toplam ışıktır,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şiddet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bunun belli bir yöndeki yoğunluğu,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aydınlanma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ise yüzeye düşen paydır. Üçünü karıştırmayı bıraktığın an konu biter.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Işık kaynakları ve doğrusal yayılma</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Işığı kendisi üreten cisimlere ışık kaynağı denir.</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Işık akısı (Φ)</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Kaynağın birim zamanda yaydığı görünür ışık enerjisidir.</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Işık şiddeti (I)</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Kaynağın belli bir doğrultuda, birim katı açıya gönderdiği akıdır.</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Aydınlanma şiddeti (E)</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Bir yüzeyin birim alanına düşen ışık akısıdır.</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Ters kare yasası</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Noktasal kaynaktan çıkan akı, uzaklaştıkça yarıçapın karesiyle büyüyen bir küre yüzeyine…</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Eğik yüzeyler: cosθ çarpanı</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Işık yüzeye dik gelmiyorsa, aynı akı daha büyük bir alana yayılır.</a:t>
            </a: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Günlük hayattan değerler</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Bir mum yaklaşık 1 cd şiddetindedir; 100 W'lık akkor ampul ≈ 1400 lm, 10 W'lık LED ampul ≈…</a:t>
            </a: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6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kaynakları ve doğrusal yayılma</a:t>
            </a:r>
            <a:endParaRPr lang="en-US" sz="3200" dirty="0"/>
          </a:p>
        </p:txBody>
      </p:sp>
      <p:sp>
        <p:nvSpPr>
          <p:cNvPr id="5" name="Text 3"/>
          <p:cNvSpPr txBox="1"/>
          <p:nvPr/>
        </p:nvSpPr>
        <p:spPr>
          <a:xfrm>
            <a:off x="640080" y="1481328"/>
            <a:ext cx="5852160" cy="11795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Işığı kendisi üreten cisimlere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ışık kaynağı</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denir.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Işık, saydam ve türdeş bir ortamda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doğrular boyunca</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yayılır; gölge ve yarı gölgenin oluşması bunun doğrudan kanıtıdır.</a:t>
            </a:r>
            <a:endParaRPr lang="en-US" sz="1500" dirty="0"/>
          </a:p>
        </p:txBody>
      </p:sp>
      <p:sp>
        <p:nvSpPr>
          <p:cNvPr id="6" name="Text 4"/>
          <p:cNvSpPr txBox="1"/>
          <p:nvPr/>
        </p:nvSpPr>
        <p:spPr>
          <a:xfrm>
            <a:off x="640080" y="2770632"/>
            <a:ext cx="5852160" cy="144246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Noktasal kaynak:</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boyutları, uzaklığın yanında ihmal edilebilen kaynak. Bu konudaki bağıntılar noktasal kaynaklar içindir.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Yaygın kaynak:</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boyutu ihmal edilemeyen kaynak; yarı gölge oluşturur.</a:t>
            </a:r>
            <a:endParaRPr lang="en-US" sz="1500" dirty="0"/>
          </a:p>
        </p:txBody>
      </p:sp>
      <p:sp>
        <p:nvSpPr>
          <p:cNvPr id="7" name="Shape 5"/>
          <p:cNvSpPr/>
          <p:nvPr/>
        </p:nvSpPr>
        <p:spPr>
          <a:xfrm>
            <a:off x="640080" y="4322826"/>
            <a:ext cx="5852160" cy="1138428"/>
          </a:xfrm>
          <a:prstGeom prst="roundRect">
            <a:avLst>
              <a:gd name="adj" fmla="val 963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4469130"/>
            <a:ext cx="45720" cy="845820"/>
          </a:xfrm>
          <a:prstGeom prst="rect">
            <a:avLst/>
          </a:prstGeom>
          <a:solidFill>
            <a:srgbClr val="3C8C21"/>
          </a:solidFill>
          <a:ln/>
        </p:spPr>
      </p:sp>
      <p:sp>
        <p:nvSpPr>
          <p:cNvPr id="9" name="Text 7"/>
          <p:cNvSpPr txBox="1"/>
          <p:nvPr/>
        </p:nvSpPr>
        <p:spPr>
          <a:xfrm>
            <a:off x="914400" y="4432554"/>
            <a:ext cx="5394960" cy="918972"/>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Neden noktasal kabul ediyoruz?</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Bir lambaya 10 metreden bakarken 10 cm'lik boyutu önemsizdir. Aynı lambaya 10 cm'den bakarken ise ters kare yasası artık geçerli değildir.</a:t>
            </a:r>
            <a:endParaRPr lang="en-US" sz="1400" dirty="0"/>
          </a:p>
        </p:txBody>
      </p:sp>
      <p:sp>
        <p:nvSpPr>
          <p:cNvPr id="10" name="Shape 8"/>
          <p:cNvSpPr/>
          <p:nvPr/>
        </p:nvSpPr>
        <p:spPr>
          <a:xfrm>
            <a:off x="6784848" y="1481328"/>
            <a:ext cx="4766767" cy="3879397"/>
          </a:xfrm>
          <a:prstGeom prst="roundRect">
            <a:avLst>
              <a:gd name="adj" fmla="val 377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a4dee546-de71-4ec2-8add-be39dd273d29/scratchpad/sekiller/isik-siddeti-01.png">    </p:cNvPr>
          <p:cNvPicPr>
            <a:picLocks noChangeAspect="1"/>
          </p:cNvPicPr>
          <p:nvPr/>
        </p:nvPicPr>
        <p:blipFill>
          <a:blip r:embed="rId1"/>
          <a:stretch>
            <a:fillRect/>
          </a:stretch>
        </p:blipFill>
        <p:spPr>
          <a:xfrm>
            <a:off x="6967728" y="1664208"/>
            <a:ext cx="4401007" cy="2237135"/>
          </a:xfrm>
          <a:prstGeom prst="rect">
            <a:avLst/>
          </a:prstGeom>
        </p:spPr>
      </p:pic>
      <p:sp>
        <p:nvSpPr>
          <p:cNvPr id="12" name="Shape 9"/>
          <p:cNvSpPr/>
          <p:nvPr/>
        </p:nvSpPr>
        <p:spPr>
          <a:xfrm>
            <a:off x="6967728" y="3992783"/>
            <a:ext cx="4401007" cy="0"/>
          </a:xfrm>
          <a:prstGeom prst="line">
            <a:avLst/>
          </a:prstGeom>
          <a:noFill/>
          <a:ln w="9525">
            <a:solidFill>
              <a:srgbClr val="E1E5EE"/>
            </a:solidFill>
            <a:prstDash val="dash"/>
          </a:ln>
        </p:spPr>
      </p:sp>
      <p:sp>
        <p:nvSpPr>
          <p:cNvPr id="13" name="Text 10"/>
          <p:cNvSpPr txBox="1"/>
          <p:nvPr/>
        </p:nvSpPr>
        <p:spPr>
          <a:xfrm>
            <a:off x="6967728" y="4047647"/>
            <a:ext cx="44010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Işık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doğrular boyunca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yayıldığı için gölgeler keskin kenarlıdır. Noktasal bir kaynakta perdenin her noktası ya ışık alır ya almaz — arada ara ton yoktur. Kaynak büyüdüğünde ise perdenin bazı noktaları kaynağın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yalnızca bir kısmını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görebilir; o bölgeye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yarı gölge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denir. Güneş tutulmasında tam ve parçalı tutulma bölgeleri tam olarak bu iki bölgedir.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akısı (Φ)</a:t>
            </a:r>
            <a:endParaRPr lang="en-US" sz="3200" dirty="0"/>
          </a:p>
        </p:txBody>
      </p:sp>
      <p:sp>
        <p:nvSpPr>
          <p:cNvPr id="5" name="Text 3"/>
          <p:cNvSpPr txBox="1"/>
          <p:nvPr/>
        </p:nvSpPr>
        <p:spPr>
          <a:xfrm>
            <a:off x="640080" y="1481328"/>
            <a:ext cx="5486400" cy="159410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Kaynağın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birim zamanda yaydığı görünür ışık enerjisi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dir.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Birimi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lümen (lm)</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'dir.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Ampul kutusunda yazan değer budur; watt ise ampulün çektiği elektrik gücüdür, yaydığı ışık değil.</a:t>
            </a:r>
            <a:endParaRPr lang="en-US" sz="1600" dirty="0"/>
          </a:p>
        </p:txBody>
      </p:sp>
      <p:sp>
        <p:nvSpPr>
          <p:cNvPr id="6" name="Shape 4"/>
          <p:cNvSpPr/>
          <p:nvPr/>
        </p:nvSpPr>
        <p:spPr>
          <a:xfrm>
            <a:off x="640080" y="3185160"/>
            <a:ext cx="1345997"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3185160"/>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Φ = I · ω</a:t>
            </a:r>
            <a:endParaRPr lang="en-US" sz="1300" dirty="0"/>
          </a:p>
        </p:txBody>
      </p:sp>
      <p:sp>
        <p:nvSpPr>
          <p:cNvPr id="8" name="Shape 6"/>
          <p:cNvSpPr/>
          <p:nvPr/>
        </p:nvSpPr>
        <p:spPr>
          <a:xfrm>
            <a:off x="2095805" y="3185160"/>
            <a:ext cx="2234794"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095805" y="3185160"/>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Φ(toplam) = 4π · I</a:t>
            </a:r>
            <a:endParaRPr lang="en-US" sz="1300" dirty="0"/>
          </a:p>
        </p:txBody>
      </p:sp>
      <p:sp>
        <p:nvSpPr>
          <p:cNvPr id="10" name="Text 8"/>
          <p:cNvSpPr txBox="1"/>
          <p:nvPr/>
        </p:nvSpPr>
        <p:spPr>
          <a:xfrm>
            <a:off x="640080" y="3806952"/>
            <a:ext cx="5486400" cy="841248"/>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Noktasal bir kaynak ışığı her yöne eşit yayarsa, çevresindeki tüm uzay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4π steradyan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olduğu için toplam akı 4π·I olur.</a:t>
            </a:r>
            <a:endParaRPr lang="en-US" sz="1600" dirty="0"/>
          </a:p>
        </p:txBody>
      </p:sp>
      <p:sp>
        <p:nvSpPr>
          <p:cNvPr id="11" name="Shape 9"/>
          <p:cNvSpPr/>
          <p:nvPr/>
        </p:nvSpPr>
        <p:spPr>
          <a:xfrm>
            <a:off x="6419088" y="1481328"/>
            <a:ext cx="5132527" cy="3230200"/>
          </a:xfrm>
          <a:prstGeom prst="roundRect">
            <a:avLst>
              <a:gd name="adj" fmla="val 452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isik-siddeti-02.png">    </p:cNvPr>
          <p:cNvPicPr>
            <a:picLocks noChangeAspect="1"/>
          </p:cNvPicPr>
          <p:nvPr/>
        </p:nvPicPr>
        <p:blipFill>
          <a:blip r:embed="rId1"/>
          <a:stretch>
            <a:fillRect/>
          </a:stretch>
        </p:blipFill>
        <p:spPr>
          <a:xfrm>
            <a:off x="6601968" y="1664208"/>
            <a:ext cx="4766767" cy="1946382"/>
          </a:xfrm>
          <a:prstGeom prst="rect">
            <a:avLst/>
          </a:prstGeom>
        </p:spPr>
      </p:pic>
      <p:sp>
        <p:nvSpPr>
          <p:cNvPr id="13" name="Shape 10"/>
          <p:cNvSpPr/>
          <p:nvPr/>
        </p:nvSpPr>
        <p:spPr>
          <a:xfrm>
            <a:off x="6601968" y="3702030"/>
            <a:ext cx="4766767" cy="0"/>
          </a:xfrm>
          <a:prstGeom prst="line">
            <a:avLst/>
          </a:prstGeom>
          <a:noFill/>
          <a:ln w="9525">
            <a:solidFill>
              <a:srgbClr val="E1E5EE"/>
            </a:solidFill>
            <a:prstDash val="dash"/>
          </a:ln>
        </p:spPr>
      </p:sp>
      <p:sp>
        <p:nvSpPr>
          <p:cNvPr id="14" name="Text 11"/>
          <p:cNvSpPr txBox="1"/>
          <p:nvPr/>
        </p:nvSpPr>
        <p:spPr>
          <a:xfrm>
            <a:off x="6601968" y="3756894"/>
            <a:ext cx="4766767" cy="771754"/>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Işık akısı, kaynağın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yöne birden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yaydığı görünür ışığın toplamıdır; birimi lümendir. Ampul kutusundaki watt değeri kaynağın </a:t>
            </a:r>
            <a:pPr indent="0" marL="0">
              <a:lnSpc>
                <a:spcPct val="112000"/>
              </a:lnSpc>
              <a:buNone/>
            </a:pPr>
            <a:r>
              <a:rPr lang="en-US" sz="1050" i="1" dirty="0">
                <a:solidFill>
                  <a:srgbClr val="7B849E"/>
                </a:solidFill>
                <a:latin typeface="Calibri" pitchFamily="34" charset="0"/>
                <a:ea typeface="Calibri" pitchFamily="34" charset="-122"/>
                <a:cs typeface="Calibri" pitchFamily="34" charset="-120"/>
              </a:rPr>
              <a:t>harcadığı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elektrik gücünü söyler, </a:t>
            </a:r>
            <a:pPr indent="0" marL="0">
              <a:lnSpc>
                <a:spcPct val="112000"/>
              </a:lnSpc>
              <a:buNone/>
            </a:pPr>
            <a:r>
              <a:rPr lang="en-US" sz="1050" i="1" dirty="0">
                <a:solidFill>
                  <a:srgbClr val="7B849E"/>
                </a:solidFill>
                <a:latin typeface="Calibri" pitchFamily="34" charset="0"/>
                <a:ea typeface="Calibri" pitchFamily="34" charset="-122"/>
                <a:cs typeface="Calibri" pitchFamily="34" charset="-120"/>
              </a:rPr>
              <a:t>ürettiği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ışığı değil — bu yüzden 9 W'lık bir LED, 60 W'lık akkor ampulle aynı 800 lümeni verebilir.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şiddeti (I)</a:t>
            </a:r>
            <a:endParaRPr lang="en-US" sz="3200" dirty="0"/>
          </a:p>
        </p:txBody>
      </p:sp>
      <p:sp>
        <p:nvSpPr>
          <p:cNvPr id="5" name="Text 3"/>
          <p:cNvSpPr txBox="1"/>
          <p:nvPr/>
        </p:nvSpPr>
        <p:spPr>
          <a:xfrm>
            <a:off x="640080" y="148132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Kaynağın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belli bir doğrultuda, birim katı açıya gönderdiği akı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dır.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Birimi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kandela (cd)</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'dır ve SI'nın yedi temel biriminden biridir.</a:t>
            </a:r>
            <a:endParaRPr lang="en-US" sz="1600" dirty="0"/>
          </a:p>
        </p:txBody>
      </p:sp>
      <p:sp>
        <p:nvSpPr>
          <p:cNvPr id="6" name="Shape 4"/>
          <p:cNvSpPr/>
          <p:nvPr/>
        </p:nvSpPr>
        <p:spPr>
          <a:xfrm>
            <a:off x="640080" y="2840736"/>
            <a:ext cx="1345997"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840736"/>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 = Φ / ω</a:t>
            </a:r>
            <a:endParaRPr lang="en-US" sz="1300" dirty="0"/>
          </a:p>
        </p:txBody>
      </p:sp>
      <p:sp>
        <p:nvSpPr>
          <p:cNvPr id="8" name="Shape 6"/>
          <p:cNvSpPr/>
          <p:nvPr/>
        </p:nvSpPr>
        <p:spPr>
          <a:xfrm>
            <a:off x="2095805" y="2840736"/>
            <a:ext cx="2037283"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095805" y="2840736"/>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 cd = 1 lm / sr</a:t>
            </a:r>
            <a:endParaRPr lang="en-US" sz="1300" dirty="0"/>
          </a:p>
        </p:txBody>
      </p:sp>
      <p:sp>
        <p:nvSpPr>
          <p:cNvPr id="10" name="Text 8"/>
          <p:cNvSpPr txBox="1"/>
          <p:nvPr/>
        </p:nvSpPr>
        <p:spPr>
          <a:xfrm>
            <a:off x="640080" y="346252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Katı açı ω, kürenin merkezinden bakıldığında bir yüzeyin kapladığı açıdır ve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ω = A / r²</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ile hesaplanır; birimi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steradyan (sr)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'dır.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Tüm küre 4π ≈ 12,57 sr'dir.</a:t>
            </a:r>
            <a:endParaRPr lang="en-US" sz="1600" dirty="0"/>
          </a:p>
        </p:txBody>
      </p:sp>
      <p:sp>
        <p:nvSpPr>
          <p:cNvPr id="11" name="Shape 9"/>
          <p:cNvSpPr/>
          <p:nvPr/>
        </p:nvSpPr>
        <p:spPr>
          <a:xfrm>
            <a:off x="6419088" y="1481328"/>
            <a:ext cx="5132527" cy="3628320"/>
          </a:xfrm>
          <a:prstGeom prst="roundRect">
            <a:avLst>
              <a:gd name="adj" fmla="val 40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isik-siddeti-03.png">    </p:cNvPr>
          <p:cNvPicPr>
            <a:picLocks noChangeAspect="1"/>
          </p:cNvPicPr>
          <p:nvPr/>
        </p:nvPicPr>
        <p:blipFill>
          <a:blip r:embed="rId1"/>
          <a:stretch>
            <a:fillRect/>
          </a:stretch>
        </p:blipFill>
        <p:spPr>
          <a:xfrm>
            <a:off x="6601968" y="1664208"/>
            <a:ext cx="4766767" cy="1986058"/>
          </a:xfrm>
          <a:prstGeom prst="rect">
            <a:avLst/>
          </a:prstGeom>
        </p:spPr>
      </p:pic>
      <p:sp>
        <p:nvSpPr>
          <p:cNvPr id="13" name="Shape 10"/>
          <p:cNvSpPr/>
          <p:nvPr/>
        </p:nvSpPr>
        <p:spPr>
          <a:xfrm>
            <a:off x="6601968" y="3741706"/>
            <a:ext cx="4766767" cy="0"/>
          </a:xfrm>
          <a:prstGeom prst="line">
            <a:avLst/>
          </a:prstGeom>
          <a:noFill/>
          <a:ln w="9525">
            <a:solidFill>
              <a:srgbClr val="E1E5EE"/>
            </a:solidFill>
            <a:prstDash val="dash"/>
          </a:ln>
        </p:spPr>
      </p:sp>
      <p:sp>
        <p:nvSpPr>
          <p:cNvPr id="14" name="Text 11"/>
          <p:cNvSpPr txBox="1"/>
          <p:nvPr/>
        </p:nvSpPr>
        <p:spPr>
          <a:xfrm>
            <a:off x="6601968" y="3796570"/>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Bir kaynak ışığını her yöne eşit dağıtmayabilir: el feneri ışığın çoğunu dar bir koniye sıkıştırır, mum her yöne aynı miktarda yayar.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Işık şiddeti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belli bir yöndeki akı yoğunluğudur — yani akının uzay açısına bölümü. Bu yüzden 100 lümenlik bir el feneri, 100 lümenlik bir mumdan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çok daha parlak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görünür: aynı akıyı çok daha küçük bir açıya sıkıştırmıştır.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Aydınlanma şiddeti (E)</a:t>
            </a:r>
            <a:endParaRPr lang="en-US" sz="3200" dirty="0"/>
          </a:p>
        </p:txBody>
      </p:sp>
      <p:sp>
        <p:nvSpPr>
          <p:cNvPr id="5" name="Text 3"/>
          <p:cNvSpPr txBox="1"/>
          <p:nvPr/>
        </p:nvSpPr>
        <p:spPr>
          <a:xfrm>
            <a:off x="640080" y="1481328"/>
            <a:ext cx="5486400" cy="10332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Bir yüzeyin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birim alanına düşen ışık akısı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dır.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Birimi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lüks (lx)</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'tür.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Kaynağın değil,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yüzeyin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özelliğidir.</a:t>
            </a:r>
            <a:endParaRPr lang="en-US" sz="1600" dirty="0"/>
          </a:p>
        </p:txBody>
      </p:sp>
      <p:sp>
        <p:nvSpPr>
          <p:cNvPr id="6" name="Shape 4"/>
          <p:cNvSpPr/>
          <p:nvPr/>
        </p:nvSpPr>
        <p:spPr>
          <a:xfrm>
            <a:off x="640080" y="2624328"/>
            <a:ext cx="1345997"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624328"/>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 = Φ / A</a:t>
            </a:r>
            <a:endParaRPr lang="en-US" sz="1300" dirty="0"/>
          </a:p>
        </p:txBody>
      </p:sp>
      <p:sp>
        <p:nvSpPr>
          <p:cNvPr id="8" name="Shape 6"/>
          <p:cNvSpPr/>
          <p:nvPr/>
        </p:nvSpPr>
        <p:spPr>
          <a:xfrm>
            <a:off x="2095805" y="2624328"/>
            <a:ext cx="2037283"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095805" y="2624328"/>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 lx = 1 lm / m²</a:t>
            </a:r>
            <a:endParaRPr lang="en-US" sz="1300" dirty="0"/>
          </a:p>
        </p:txBody>
      </p:sp>
      <p:sp>
        <p:nvSpPr>
          <p:cNvPr id="10" name="Shape 8"/>
          <p:cNvSpPr/>
          <p:nvPr/>
        </p:nvSpPr>
        <p:spPr>
          <a:xfrm>
            <a:off x="4242816" y="2624328"/>
            <a:ext cx="1444752"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4242816" y="2624328"/>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 = I / d²</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5486400" cy="914400"/>
        </p:xfrm>
        <a:graphic>
          <a:graphicData uri="http://schemas.openxmlformats.org/drawingml/2006/table">
            <a:tbl>
              <a:tblPr/>
              <a:tblGrid>
                <a:gridCol w="1676659"/>
                <a:gridCol w="922162"/>
                <a:gridCol w="1117772"/>
                <a:gridCol w="1769806"/>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Büyüklük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Simge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Birim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Neyin özelliği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Işık akısı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Φ</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lümen (lm)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kaynağın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Işık şiddeti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kandela (cd)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kaynağın, bir yönde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Aydınlanma şiddeti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lüks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yüzeyin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3" name="Shape 10"/>
          <p:cNvSpPr/>
          <p:nvPr/>
        </p:nvSpPr>
        <p:spPr>
          <a:xfrm>
            <a:off x="6419088" y="1481328"/>
            <a:ext cx="5132527" cy="3449098"/>
          </a:xfrm>
          <a:prstGeom prst="roundRect">
            <a:avLst>
              <a:gd name="adj" fmla="val 42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a4dee546-de71-4ec2-8add-be39dd273d29/scratchpad/sekiller/isik-siddeti-04.png">    </p:cNvPr>
          <p:cNvPicPr>
            <a:picLocks noChangeAspect="1"/>
          </p:cNvPicPr>
          <p:nvPr/>
        </p:nvPicPr>
        <p:blipFill>
          <a:blip r:embed="rId1"/>
          <a:stretch>
            <a:fillRect/>
          </a:stretch>
        </p:blipFill>
        <p:spPr>
          <a:xfrm>
            <a:off x="6601968" y="1664208"/>
            <a:ext cx="4766767" cy="1986058"/>
          </a:xfrm>
          <a:prstGeom prst="rect">
            <a:avLst/>
          </a:prstGeom>
        </p:spPr>
      </p:pic>
      <p:sp>
        <p:nvSpPr>
          <p:cNvPr id="15" name="Shape 11"/>
          <p:cNvSpPr/>
          <p:nvPr/>
        </p:nvSpPr>
        <p:spPr>
          <a:xfrm>
            <a:off x="6601968" y="3741706"/>
            <a:ext cx="4766767" cy="0"/>
          </a:xfrm>
          <a:prstGeom prst="line">
            <a:avLst/>
          </a:prstGeom>
          <a:noFill/>
          <a:ln w="9525">
            <a:solidFill>
              <a:srgbClr val="E1E5EE"/>
            </a:solidFill>
            <a:prstDash val="dash"/>
          </a:ln>
        </p:spPr>
      </p:sp>
      <p:sp>
        <p:nvSpPr>
          <p:cNvPr id="16" name="Text 12"/>
          <p:cNvSpPr txBox="1"/>
          <p:nvPr/>
        </p:nvSpPr>
        <p:spPr>
          <a:xfrm>
            <a:off x="6601968" y="3796570"/>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Aydınlanma, yüzeye düşen akının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birim alana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bölünmesidir. Sağdaki yüzeye tam olarak aynı miktarda ışık düşüyor — ama dört kat geniş olduğu için her metrekaresine dörtte biri düşer ve yüzey dört kat sönük görünür. Bu yüzden lüks, kaynağın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yüzeyin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özelliğidir: aynı ampul, masayı aydınlatır ama odanın köşesini aydınlatmaz.</a:t>
            </a:r>
            <a:endParaRPr lang="en-US" sz="1050" dirty="0"/>
          </a:p>
        </p:txBody>
      </p:sp>
      <p:sp>
        <p:nvSpPr>
          <p:cNvPr id="17" name="Shape 13"/>
          <p:cNvSpPr/>
          <p:nvPr/>
        </p:nvSpPr>
        <p:spPr>
          <a:xfrm>
            <a:off x="640080" y="6382512"/>
            <a:ext cx="128016" cy="128016"/>
          </a:xfrm>
          <a:prstGeom prst="roundRect">
            <a:avLst>
              <a:gd name="adj" fmla="val 28571"/>
            </a:avLst>
          </a:prstGeom>
          <a:solidFill>
            <a:srgbClr val="A9E648"/>
          </a:solidFill>
          <a:ln/>
        </p:spPr>
      </p:sp>
      <p:sp>
        <p:nvSpPr>
          <p:cNvPr id="18"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9"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Ters kare yasası</a:t>
            </a:r>
            <a:endParaRPr lang="en-US" sz="3200" dirty="0"/>
          </a:p>
        </p:txBody>
      </p:sp>
      <p:sp>
        <p:nvSpPr>
          <p:cNvPr id="5" name="Text 3"/>
          <p:cNvSpPr txBox="1"/>
          <p:nvPr/>
        </p:nvSpPr>
        <p:spPr>
          <a:xfrm>
            <a:off x="640080" y="1481328"/>
            <a:ext cx="5852160" cy="91668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Noktasal kaynaktan çıkan akı, uzaklaştıkça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yarıçapın karesiyle büyüyen</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bir küre yüzeyine yayılır.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Küre yüzeyi 4πd² olduğundan:</a:t>
            </a:r>
            <a:endParaRPr lang="en-US" sz="1500" dirty="0"/>
          </a:p>
        </p:txBody>
      </p:sp>
      <p:sp>
        <p:nvSpPr>
          <p:cNvPr id="6" name="Shape 4"/>
          <p:cNvSpPr/>
          <p:nvPr/>
        </p:nvSpPr>
        <p:spPr>
          <a:xfrm>
            <a:off x="640080" y="2507742"/>
            <a:ext cx="2827325"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507742"/>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 = Φ / (4π·d²) = I / d²</a:t>
            </a:r>
            <a:endParaRPr lang="en-US" sz="1300" dirty="0"/>
          </a:p>
        </p:txBody>
      </p:sp>
      <p:sp>
        <p:nvSpPr>
          <p:cNvPr id="8" name="Text 6"/>
          <p:cNvSpPr txBox="1"/>
          <p:nvPr/>
        </p:nvSpPr>
        <p:spPr>
          <a:xfrm>
            <a:off x="640080" y="3129534"/>
            <a:ext cx="5852160" cy="12435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Uzaklık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2 katına</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çıkarsa aydınlanma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4'te bire</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iner.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Uzaklık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3 katına</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çıkarsa aydınlanma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9'da bire</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iner.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Aydınlanmayı 2 katına çıkarmak için uzaklığı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√2 kat</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azaltmak gerekir.</a:t>
            </a:r>
            <a:endParaRPr lang="en-US" sz="1500" dirty="0"/>
          </a:p>
        </p:txBody>
      </p:sp>
      <p:sp>
        <p:nvSpPr>
          <p:cNvPr id="9" name="Shape 7"/>
          <p:cNvSpPr/>
          <p:nvPr/>
        </p:nvSpPr>
        <p:spPr>
          <a:xfrm>
            <a:off x="640080" y="4482846"/>
            <a:ext cx="5852160" cy="1138428"/>
          </a:xfrm>
          <a:prstGeom prst="roundRect">
            <a:avLst>
              <a:gd name="adj" fmla="val 963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4629150"/>
            <a:ext cx="45720" cy="845820"/>
          </a:xfrm>
          <a:prstGeom prst="rect">
            <a:avLst/>
          </a:prstGeom>
          <a:solidFill>
            <a:srgbClr val="A56209"/>
          </a:solidFill>
          <a:ln/>
        </p:spPr>
      </p:sp>
      <p:sp>
        <p:nvSpPr>
          <p:cNvPr id="11" name="Text 9"/>
          <p:cNvSpPr txBox="1"/>
          <p:nvPr/>
        </p:nvSpPr>
        <p:spPr>
          <a:xfrm>
            <a:off x="914400" y="4592574"/>
            <a:ext cx="5394960" cy="918972"/>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Yasa yalnızca noktasal kaynak içindir.</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Uzun bir flüoresan tüpün ya da aydınlatılmış bir tavanın altında aydınlanma bu kadar hızlı azalmaz.</a:t>
            </a:r>
            <a:endParaRPr lang="en-US" sz="1400" dirty="0"/>
          </a:p>
        </p:txBody>
      </p:sp>
      <p:sp>
        <p:nvSpPr>
          <p:cNvPr id="12" name="Shape 10"/>
          <p:cNvSpPr/>
          <p:nvPr/>
        </p:nvSpPr>
        <p:spPr>
          <a:xfrm>
            <a:off x="6784848" y="1481328"/>
            <a:ext cx="4766767" cy="3333468"/>
          </a:xfrm>
          <a:prstGeom prst="roundRect">
            <a:avLst>
              <a:gd name="adj" fmla="val 4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a4dee546-de71-4ec2-8add-be39dd273d29/scratchpad/sekiller/isik-siddeti-05.png">    </p:cNvPr>
          <p:cNvPicPr>
            <a:picLocks noChangeAspect="1"/>
          </p:cNvPicPr>
          <p:nvPr/>
        </p:nvPicPr>
        <p:blipFill>
          <a:blip r:embed="rId1"/>
          <a:stretch>
            <a:fillRect/>
          </a:stretch>
        </p:blipFill>
        <p:spPr>
          <a:xfrm>
            <a:off x="6967728" y="1664208"/>
            <a:ext cx="4401007" cy="1870428"/>
          </a:xfrm>
          <a:prstGeom prst="rect">
            <a:avLst/>
          </a:prstGeom>
        </p:spPr>
      </p:pic>
      <p:sp>
        <p:nvSpPr>
          <p:cNvPr id="14" name="Shape 11"/>
          <p:cNvSpPr/>
          <p:nvPr/>
        </p:nvSpPr>
        <p:spPr>
          <a:xfrm>
            <a:off x="6967728" y="3626076"/>
            <a:ext cx="4401007" cy="0"/>
          </a:xfrm>
          <a:prstGeom prst="line">
            <a:avLst/>
          </a:prstGeom>
          <a:noFill/>
          <a:ln w="9525">
            <a:solidFill>
              <a:srgbClr val="E1E5EE"/>
            </a:solidFill>
            <a:prstDash val="dash"/>
          </a:ln>
        </p:spPr>
      </p:sp>
      <p:sp>
        <p:nvSpPr>
          <p:cNvPr id="15" name="Text 12"/>
          <p:cNvSpPr txBox="1"/>
          <p:nvPr/>
        </p:nvSpPr>
        <p:spPr>
          <a:xfrm>
            <a:off x="6967728" y="3680940"/>
            <a:ext cx="44010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Kaynaktan çıkan aynı demet, uzaklık iki katına çıkınca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dört kat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üç katına çıkınca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dokuz kat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geniş bir alana yayılır. Aynı akı daha çok kareye bölündüğü için her kareye düşen pay ters kareyle azalır: E = I/d². Ampulden iki kat uzaklaşmak, masanı yarı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dörtte bir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kadar aydınlık yapar.</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yüzeyler: cosθ çarpanı</a:t>
            </a:r>
            <a:endParaRPr lang="en-US" sz="3200" dirty="0"/>
          </a:p>
        </p:txBody>
      </p:sp>
      <p:sp>
        <p:nvSpPr>
          <p:cNvPr id="5" name="Text 3"/>
          <p:cNvSpPr txBox="1"/>
          <p:nvPr/>
        </p:nvSpPr>
        <p:spPr>
          <a:xfrm>
            <a:off x="640080" y="148132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Işık yüzeye dik gelmiyorsa, aynı akı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daha büyük bir alana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yayılır.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Yüzeyin normali ile ışığın doğrultusu arasındaki açı θ ise:</a:t>
            </a:r>
            <a:endParaRPr lang="en-US" sz="1600" dirty="0"/>
          </a:p>
        </p:txBody>
      </p:sp>
      <p:sp>
        <p:nvSpPr>
          <p:cNvPr id="6" name="Shape 4"/>
          <p:cNvSpPr/>
          <p:nvPr/>
        </p:nvSpPr>
        <p:spPr>
          <a:xfrm>
            <a:off x="640080" y="2840736"/>
            <a:ext cx="213603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840736"/>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 = I · cosθ / d²</a:t>
            </a:r>
            <a:endParaRPr lang="en-US" sz="1300" dirty="0"/>
          </a:p>
        </p:txBody>
      </p:sp>
      <p:sp>
        <p:nvSpPr>
          <p:cNvPr id="8" name="Text 6"/>
          <p:cNvSpPr txBox="1"/>
          <p:nvPr/>
        </p:nvSpPr>
        <p:spPr>
          <a:xfrm>
            <a:off x="640080" y="3462528"/>
            <a:ext cx="5486400" cy="15300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θ = 0'da (dik geliş) aydınlanma en büyüktür; θ = 60°'de yarıya iner; θ = 90°'de (ışık yüzeye teğet) sıfırdır.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Mevsimlerin oluş sebebi de budur: kışın Güneş ışınları yere daha eğik gelir.</a:t>
            </a:r>
            <a:endParaRPr lang="en-US" sz="1600" dirty="0"/>
          </a:p>
        </p:txBody>
      </p:sp>
      <p:sp>
        <p:nvSpPr>
          <p:cNvPr id="9" name="Shape 7"/>
          <p:cNvSpPr/>
          <p:nvPr/>
        </p:nvSpPr>
        <p:spPr>
          <a:xfrm>
            <a:off x="6419088" y="1481328"/>
            <a:ext cx="5132527" cy="3369747"/>
          </a:xfrm>
          <a:prstGeom prst="roundRect">
            <a:avLst>
              <a:gd name="adj" fmla="val 43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0" name="Image 0" descr="/tmp/claude-1000/-opt-dersler/a4dee546-de71-4ec2-8add-be39dd273d29/scratchpad/sekiller/isik-siddeti-06.png">    </p:cNvPr>
          <p:cNvPicPr>
            <a:picLocks noChangeAspect="1"/>
          </p:cNvPicPr>
          <p:nvPr/>
        </p:nvPicPr>
        <p:blipFill>
          <a:blip r:embed="rId1"/>
          <a:stretch>
            <a:fillRect/>
          </a:stretch>
        </p:blipFill>
        <p:spPr>
          <a:xfrm>
            <a:off x="6601968" y="1664208"/>
            <a:ext cx="4766767" cy="1906707"/>
          </a:xfrm>
          <a:prstGeom prst="rect">
            <a:avLst/>
          </a:prstGeom>
        </p:spPr>
      </p:pic>
      <p:sp>
        <p:nvSpPr>
          <p:cNvPr id="11" name="Shape 8"/>
          <p:cNvSpPr/>
          <p:nvPr/>
        </p:nvSpPr>
        <p:spPr>
          <a:xfrm>
            <a:off x="6601968" y="3662355"/>
            <a:ext cx="4766767" cy="0"/>
          </a:xfrm>
          <a:prstGeom prst="line">
            <a:avLst/>
          </a:prstGeom>
          <a:noFill/>
          <a:ln w="9525">
            <a:solidFill>
              <a:srgbClr val="E1E5EE"/>
            </a:solidFill>
            <a:prstDash val="dash"/>
          </a:ln>
        </p:spPr>
      </p:sp>
      <p:sp>
        <p:nvSpPr>
          <p:cNvPr id="12" name="Text 9"/>
          <p:cNvSpPr txBox="1"/>
          <p:nvPr/>
        </p:nvSpPr>
        <p:spPr>
          <a:xfrm>
            <a:off x="6601968" y="3717219"/>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Yüzey eğildiğinde aynı ışık demeti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daha geniş bir alana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yayılır, bu yüzden her metrekareye düşen pay azalır. Kayıp tam olarak cosθ çarpanıyla verilir: E = I·cosθ/d². Kışın güneşin daha eğik gelmesi ve kutupların hep soğuk olması aynı geometrinin sonucudur — gelen enerji aynıdır,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yayıldığı alan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farklıdır.</a:t>
            </a:r>
            <a:endParaRPr lang="en-US" sz="105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Günlük hayattan değerler</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5486400" cy="914400"/>
        </p:xfrm>
        <a:graphic>
          <a:graphicData uri="http://schemas.openxmlformats.org/drawingml/2006/table">
            <a:tbl>
              <a:tblPr/>
              <a:tblGrid>
                <a:gridCol w="3707027"/>
                <a:gridCol w="177937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Ortam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Aydınlanma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Dolunaylı gece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0,25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Sokak aydınlatması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 20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Ev oturma odası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 200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Sınıf, ofis, okuma masası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300 – 500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Bulutlu gün, dış ortam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1000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Doğrudan güneş ışığı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100 000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6" name="Text 3"/>
          <p:cNvSpPr txBox="1"/>
          <p:nvPr/>
        </p:nvSpPr>
        <p:spPr>
          <a:xfrm>
            <a:off x="640080" y="3977640"/>
            <a:ext cx="5486400" cy="841248"/>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Bir mum yaklaşık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1 cd</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şiddetindedir; 100 W'lık akkor ampul ≈ 1400 lm, 10 W'lık LED ampul ≈ 800 lm akı yayar.</a:t>
            </a:r>
            <a:endParaRPr lang="en-US" sz="1600" dirty="0"/>
          </a:p>
        </p:txBody>
      </p:sp>
      <p:sp>
        <p:nvSpPr>
          <p:cNvPr id="7" name="Shape 4"/>
          <p:cNvSpPr/>
          <p:nvPr/>
        </p:nvSpPr>
        <p:spPr>
          <a:xfrm>
            <a:off x="6419088" y="1481328"/>
            <a:ext cx="5132527" cy="3568267"/>
          </a:xfrm>
          <a:prstGeom prst="roundRect">
            <a:avLst>
              <a:gd name="adj" fmla="val 410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8" name="Image 0" descr="/tmp/claude-1000/-opt-dersler/a4dee546-de71-4ec2-8add-be39dd273d29/scratchpad/sekiller/isik-siddeti-07.png">    </p:cNvPr>
          <p:cNvPicPr>
            <a:picLocks noChangeAspect="1"/>
          </p:cNvPicPr>
          <p:nvPr/>
        </p:nvPicPr>
        <p:blipFill>
          <a:blip r:embed="rId1"/>
          <a:stretch>
            <a:fillRect/>
          </a:stretch>
        </p:blipFill>
        <p:spPr>
          <a:xfrm>
            <a:off x="6601968" y="1664208"/>
            <a:ext cx="4766767" cy="2105227"/>
          </a:xfrm>
          <a:prstGeom prst="rect">
            <a:avLst/>
          </a:prstGeom>
        </p:spPr>
      </p:pic>
      <p:sp>
        <p:nvSpPr>
          <p:cNvPr id="9" name="Shape 5"/>
          <p:cNvSpPr/>
          <p:nvPr/>
        </p:nvSpPr>
        <p:spPr>
          <a:xfrm>
            <a:off x="6601968" y="3860875"/>
            <a:ext cx="4766767" cy="0"/>
          </a:xfrm>
          <a:prstGeom prst="line">
            <a:avLst/>
          </a:prstGeom>
          <a:noFill/>
          <a:ln w="9525">
            <a:solidFill>
              <a:srgbClr val="E1E5EE"/>
            </a:solidFill>
            <a:prstDash val="dash"/>
          </a:ln>
        </p:spPr>
      </p:sp>
      <p:sp>
        <p:nvSpPr>
          <p:cNvPr id="10" name="Text 6"/>
          <p:cNvSpPr txBox="1"/>
          <p:nvPr/>
        </p:nvSpPr>
        <p:spPr>
          <a:xfrm>
            <a:off x="6601968" y="3915739"/>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Ölçek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logaritmiktir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her adım on katı gösterir. Dolunaylı bir gece ile doğrudan güneş arasında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dört yüz bin kat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fark var, ama gözümüz bu farkı öyle algılamaz — göz bebeği ve retina kendini uyarlar. Bu yüzden "yeterince aydınlık" demek yerine ölçmek gerekir: bir okuma masası için hedef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300–500 lüks</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t>
            </a:r>
            <a:endParaRPr lang="en-US" sz="1050" dirty="0"/>
          </a:p>
        </p:txBody>
      </p:sp>
      <p:sp>
        <p:nvSpPr>
          <p:cNvPr id="11" name="Shape 7"/>
          <p:cNvSpPr/>
          <p:nvPr/>
        </p:nvSpPr>
        <p:spPr>
          <a:xfrm>
            <a:off x="640080" y="6382512"/>
            <a:ext cx="128016" cy="128016"/>
          </a:xfrm>
          <a:prstGeom prst="roundRect">
            <a:avLst>
              <a:gd name="adj" fmla="val 28571"/>
            </a:avLst>
          </a:prstGeom>
          <a:solidFill>
            <a:srgbClr val="A9E648"/>
          </a:solidFill>
          <a:ln/>
        </p:spPr>
      </p:sp>
      <p:sp>
        <p:nvSpPr>
          <p:cNvPr id="12"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3"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Aydınlanma ve uzaklık</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Işık şiddeti 200 cd olan noktasal bir lamba, masanın 2 m üzerindedir. (a) Masadaki aydınlanma nedir? (b) Lamba 4 m'ye çıkarılırsa ne olur?</a:t>
            </a:r>
            <a:endParaRPr lang="en-US" sz="1600" dirty="0"/>
          </a:p>
        </p:txBody>
      </p:sp>
      <p:sp>
        <p:nvSpPr>
          <p:cNvPr id="9" name="Shape 7"/>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92026"/>
            <a:ext cx="384048" cy="384048"/>
          </a:xfrm>
          <a:prstGeom prst="roundRect">
            <a:avLst>
              <a:gd name="adj" fmla="val 26000"/>
            </a:avLst>
          </a:prstGeom>
          <a:solidFill>
            <a:srgbClr val="A56209"/>
          </a:solidFill>
          <a:ln/>
        </p:spPr>
      </p:sp>
      <p:sp>
        <p:nvSpPr>
          <p:cNvPr id="11" name="Text 9"/>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E = I/d² = 200 / 2² = 200/4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50 lx</a:t>
            </a:r>
            <a:endParaRPr lang="en-US" sz="1600" dirty="0"/>
          </a:p>
        </p:txBody>
      </p:sp>
      <p:sp>
        <p:nvSpPr>
          <p:cNvPr id="13" name="Shape 11"/>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951166"/>
            <a:ext cx="384048" cy="384048"/>
          </a:xfrm>
          <a:prstGeom prst="roundRect">
            <a:avLst>
              <a:gd name="adj" fmla="val 26000"/>
            </a:avLst>
          </a:prstGeom>
          <a:solidFill>
            <a:srgbClr val="A56209"/>
          </a:solidFill>
          <a:ln/>
        </p:spPr>
      </p:sp>
      <p:sp>
        <p:nvSpPr>
          <p:cNvPr id="15" name="Text 13"/>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d 2 katına çıktı → E dörtte bire iner</a:t>
            </a:r>
            <a:endParaRPr lang="en-US" sz="1600" dirty="0"/>
          </a:p>
        </p:txBody>
      </p:sp>
      <p:sp>
        <p:nvSpPr>
          <p:cNvPr id="17" name="Shape 15"/>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010306"/>
            <a:ext cx="384048" cy="384048"/>
          </a:xfrm>
          <a:prstGeom prst="roundRect">
            <a:avLst>
              <a:gd name="adj" fmla="val 26000"/>
            </a:avLst>
          </a:prstGeom>
          <a:solidFill>
            <a:srgbClr val="A56209"/>
          </a:solidFill>
          <a:ln/>
        </p:spPr>
      </p:sp>
      <p:sp>
        <p:nvSpPr>
          <p:cNvPr id="19" name="Text 17"/>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 = 200 / 16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12,5 lx</a:t>
            </a:r>
            <a:endParaRPr lang="en-US" sz="1600" dirty="0"/>
          </a:p>
        </p:txBody>
      </p:sp>
      <p:sp>
        <p:nvSpPr>
          <p:cNvPr id="21" name="Shape 19"/>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82886"/>
            <a:ext cx="384048" cy="384048"/>
          </a:xfrm>
          <a:prstGeom prst="roundRect">
            <a:avLst>
              <a:gd name="adj" fmla="val 26000"/>
            </a:avLst>
          </a:prstGeom>
          <a:solidFill>
            <a:srgbClr val="A56209"/>
          </a:solidFill>
          <a:ln/>
        </p:spPr>
      </p:sp>
      <p:sp>
        <p:nvSpPr>
          <p:cNvPr id="23" name="Text 21"/>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Aynı sonucu doğrudan 50/4 = 12,5 lx olarak da bulabiliriz.</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Toplam akı ve katı açı</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Her yöne eşit ışık yayan bir kaynağın ışık şiddeti 100 cd'dır. (a) Toplam akısı nedir? (b) 0,5 sr'lik bir koniye gönderdiği akı nedir?</a:t>
            </a:r>
            <a:endParaRPr lang="en-US" sz="1600" dirty="0"/>
          </a:p>
        </p:txBody>
      </p:sp>
      <p:sp>
        <p:nvSpPr>
          <p:cNvPr id="9" name="Shape 7"/>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044744"/>
            <a:ext cx="384048" cy="384048"/>
          </a:xfrm>
          <a:prstGeom prst="roundRect">
            <a:avLst>
              <a:gd name="adj" fmla="val 26000"/>
            </a:avLst>
          </a:prstGeom>
          <a:solidFill>
            <a:srgbClr val="A56209"/>
          </a:solidFill>
          <a:ln/>
        </p:spPr>
      </p:sp>
      <p:sp>
        <p:nvSpPr>
          <p:cNvPr id="11" name="Text 9"/>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Φ = 4π·I = 4 · 3,14 · 100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1256 lm</a:t>
            </a:r>
            <a:endParaRPr lang="en-US" sz="1600" dirty="0"/>
          </a:p>
        </p:txBody>
      </p:sp>
      <p:sp>
        <p:nvSpPr>
          <p:cNvPr id="13" name="Shape 11"/>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409319"/>
            <a:ext cx="384048" cy="384048"/>
          </a:xfrm>
          <a:prstGeom prst="roundRect">
            <a:avLst>
              <a:gd name="adj" fmla="val 26000"/>
            </a:avLst>
          </a:prstGeom>
          <a:solidFill>
            <a:srgbClr val="A56209"/>
          </a:solidFill>
          <a:ln/>
        </p:spPr>
      </p:sp>
      <p:sp>
        <p:nvSpPr>
          <p:cNvPr id="15" name="Text 13"/>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Φ = I·ω = 100 · 0,5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50 lm</a:t>
            </a:r>
            <a:endParaRPr lang="en-US" sz="1600" dirty="0"/>
          </a:p>
        </p:txBody>
      </p:sp>
      <p:sp>
        <p:nvSpPr>
          <p:cNvPr id="17" name="Shape 15"/>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058751"/>
            <a:ext cx="384048" cy="384048"/>
          </a:xfrm>
          <a:prstGeom prst="roundRect">
            <a:avLst>
              <a:gd name="adj" fmla="val 26000"/>
            </a:avLst>
          </a:prstGeom>
          <a:solidFill>
            <a:srgbClr val="A56209"/>
          </a:solidFill>
          <a:ln/>
        </p:spPr>
      </p:sp>
      <p:sp>
        <p:nvSpPr>
          <p:cNvPr id="19" name="Text 17"/>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Katı açı hatırlatması: ω = A/r²; tüm küre için ω = 4πr²/r² = 4π sr.</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yüzey</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500 cd'lık lamba, yüzeyin 2 m üzerindedir. Yüzey 60° eğildiğinde aydınlanma nasıl değişir?</a:t>
            </a:r>
            <a:endParaRPr lang="en-US" sz="1600" dirty="0"/>
          </a:p>
        </p:txBody>
      </p:sp>
      <p:sp>
        <p:nvSpPr>
          <p:cNvPr id="9" name="Shape 7"/>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92026"/>
            <a:ext cx="384048" cy="384048"/>
          </a:xfrm>
          <a:prstGeom prst="roundRect">
            <a:avLst>
              <a:gd name="adj" fmla="val 26000"/>
            </a:avLst>
          </a:prstGeom>
          <a:solidFill>
            <a:srgbClr val="A56209"/>
          </a:solidFill>
          <a:ln/>
        </p:spPr>
      </p:sp>
      <p:sp>
        <p:nvSpPr>
          <p:cNvPr id="11" name="Text 9"/>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Dik durumda: E = 500 / 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125 lx</a:t>
            </a:r>
            <a:endParaRPr lang="en-US" sz="1600" dirty="0"/>
          </a:p>
        </p:txBody>
      </p:sp>
      <p:sp>
        <p:nvSpPr>
          <p:cNvPr id="13" name="Shape 11"/>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951166"/>
            <a:ext cx="384048" cy="384048"/>
          </a:xfrm>
          <a:prstGeom prst="roundRect">
            <a:avLst>
              <a:gd name="adj" fmla="val 26000"/>
            </a:avLst>
          </a:prstGeom>
          <a:solidFill>
            <a:srgbClr val="A56209"/>
          </a:solidFill>
          <a:ln/>
        </p:spPr>
      </p:sp>
      <p:sp>
        <p:nvSpPr>
          <p:cNvPr id="15" name="Text 13"/>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Eğik durumda: E = I·cos60° / d² = 500 · 0,5 / 4</a:t>
            </a:r>
            <a:endParaRPr lang="en-US" sz="1600" dirty="0"/>
          </a:p>
        </p:txBody>
      </p:sp>
      <p:sp>
        <p:nvSpPr>
          <p:cNvPr id="17" name="Shape 15"/>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010306"/>
            <a:ext cx="384048" cy="384048"/>
          </a:xfrm>
          <a:prstGeom prst="roundRect">
            <a:avLst>
              <a:gd name="adj" fmla="val 26000"/>
            </a:avLst>
          </a:prstGeom>
          <a:solidFill>
            <a:srgbClr val="A56209"/>
          </a:solidFill>
          <a:ln/>
        </p:spPr>
      </p:sp>
      <p:sp>
        <p:nvSpPr>
          <p:cNvPr id="19" name="Text 17"/>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62,5 lx</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yarıya indi.</a:t>
            </a:r>
            <a:endParaRPr lang="en-US" sz="1600" dirty="0"/>
          </a:p>
        </p:txBody>
      </p:sp>
      <p:sp>
        <p:nvSpPr>
          <p:cNvPr id="21" name="Shape 19"/>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82886"/>
            <a:ext cx="384048" cy="384048"/>
          </a:xfrm>
          <a:prstGeom prst="roundRect">
            <a:avLst>
              <a:gd name="adj" fmla="val 26000"/>
            </a:avLst>
          </a:prstGeom>
          <a:solidFill>
            <a:srgbClr val="A56209"/>
          </a:solidFill>
          <a:ln/>
        </p:spPr>
      </p:sp>
      <p:sp>
        <p:nvSpPr>
          <p:cNvPr id="23" name="Text 21"/>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Açı 90° olsaydı cos90° = 0 olur, yüzey hiç aydınlanmazdı.</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Fotometre</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Aralarında 3 m olan iki lambadan biri 400 cd, diğeri 100 cd'dır. İkisinin ortasındaki bir ekranın iki yüzü nerede eşit aydınlanır?</a:t>
            </a:r>
            <a:endParaRPr lang="en-US" sz="1600" dirty="0"/>
          </a:p>
        </p:txBody>
      </p:sp>
      <p:sp>
        <p:nvSpPr>
          <p:cNvPr id="9" name="Shape 7"/>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945386"/>
            <a:ext cx="384048" cy="384048"/>
          </a:xfrm>
          <a:prstGeom prst="roundRect">
            <a:avLst>
              <a:gd name="adj" fmla="val 26000"/>
            </a:avLst>
          </a:prstGeom>
          <a:solidFill>
            <a:srgbClr val="A56209"/>
          </a:solidFill>
          <a:ln/>
        </p:spPr>
      </p:sp>
      <p:sp>
        <p:nvSpPr>
          <p:cNvPr id="11" name="Text 9"/>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Eşitlik: I₁/x² = I₂/(L−x)²</a:t>
            </a:r>
            <a:endParaRPr lang="en-US" sz="1600" dirty="0"/>
          </a:p>
        </p:txBody>
      </p:sp>
      <p:sp>
        <p:nvSpPr>
          <p:cNvPr id="13" name="Shape 11"/>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111246"/>
            <a:ext cx="384048" cy="384048"/>
          </a:xfrm>
          <a:prstGeom prst="roundRect">
            <a:avLst>
              <a:gd name="adj" fmla="val 26000"/>
            </a:avLst>
          </a:prstGeom>
          <a:solidFill>
            <a:srgbClr val="A56209"/>
          </a:solidFill>
          <a:ln/>
        </p:spPr>
      </p:sp>
      <p:sp>
        <p:nvSpPr>
          <p:cNvPr id="15" name="Text 13"/>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Karekök: √I₁/x = √I₂/(L−x) → 20/x = 10/(3−x)</a:t>
            </a:r>
            <a:endParaRPr lang="en-US" sz="1600" dirty="0"/>
          </a:p>
        </p:txBody>
      </p:sp>
      <p:sp>
        <p:nvSpPr>
          <p:cNvPr id="17" name="Shape 15"/>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277106"/>
            <a:ext cx="384048" cy="384048"/>
          </a:xfrm>
          <a:prstGeom prst="roundRect">
            <a:avLst>
              <a:gd name="adj" fmla="val 26000"/>
            </a:avLst>
          </a:prstGeom>
          <a:solidFill>
            <a:srgbClr val="A56209"/>
          </a:solidFill>
          <a:ln/>
        </p:spPr>
      </p:sp>
      <p:sp>
        <p:nvSpPr>
          <p:cNvPr id="19" name="Text 17"/>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60 − 20x = 10x → x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(400 cd'lık lambadan)</a:t>
            </a:r>
            <a:endParaRPr lang="en-US" sz="1600" dirty="0"/>
          </a:p>
        </p:txBody>
      </p:sp>
      <p:sp>
        <p:nvSpPr>
          <p:cNvPr id="21" name="Shape 19"/>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442966"/>
            <a:ext cx="384048" cy="384048"/>
          </a:xfrm>
          <a:prstGeom prst="roundRect">
            <a:avLst>
              <a:gd name="adj" fmla="val 26000"/>
            </a:avLst>
          </a:prstGeom>
          <a:solidFill>
            <a:srgbClr val="A56209"/>
          </a:solidFill>
          <a:ln/>
        </p:spPr>
      </p:sp>
      <p:sp>
        <p:nvSpPr>
          <p:cNvPr id="23" name="Text 21"/>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400/4 = 100 lx ve 100/1 = 100 lx ✓</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Watt ile lümeni karıştırmak.</a:t>
            </a:r>
            <a:endParaRPr lang="en-US" sz="1500" dirty="0"/>
          </a:p>
        </p:txBody>
      </p:sp>
      <p:sp>
        <p:nvSpPr>
          <p:cNvPr id="10" name="Shape 8"/>
          <p:cNvSpPr/>
          <p:nvPr/>
        </p:nvSpPr>
        <p:spPr>
          <a:xfrm>
            <a:off x="841248" y="2137410"/>
            <a:ext cx="274320" cy="274320"/>
          </a:xfrm>
          <a:prstGeom prst="roundRect">
            <a:avLst>
              <a:gd name="adj" fmla="val 26667"/>
            </a:avLst>
          </a:prstGeom>
          <a:solidFill>
            <a:srgbClr val="EAF7DC"/>
          </a:solidFill>
          <a:ln/>
        </p:spPr>
      </p:sp>
      <p:sp>
        <p:nvSpPr>
          <p:cNvPr id="11" name="Text 9"/>
          <p:cNvSpPr txBox="1"/>
          <p:nvPr/>
        </p:nvSpPr>
        <p:spPr>
          <a:xfrm>
            <a:off x="841248"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Watt çekilen elektrik gücü, lümen yayılan ışık akısıdır. LED ampul aynı lümeni çok daha az wattla verir.</a:t>
            </a:r>
            <a:endParaRPr lang="en-US" sz="1400" dirty="0"/>
          </a:p>
        </p:txBody>
      </p:sp>
      <p:sp>
        <p:nvSpPr>
          <p:cNvPr id="13" name="Shape 11"/>
          <p:cNvSpPr/>
          <p:nvPr/>
        </p:nvSpPr>
        <p:spPr>
          <a:xfrm>
            <a:off x="6205576"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Aydınlanmayı kaynağın özelliği sanmak.</a:t>
            </a:r>
            <a:endParaRPr lang="en-US" sz="1500" dirty="0"/>
          </a:p>
        </p:txBody>
      </p:sp>
      <p:sp>
        <p:nvSpPr>
          <p:cNvPr id="17" name="Shape 15"/>
          <p:cNvSpPr/>
          <p:nvPr/>
        </p:nvSpPr>
        <p:spPr>
          <a:xfrm>
            <a:off x="6406744" y="2137410"/>
            <a:ext cx="274320" cy="274320"/>
          </a:xfrm>
          <a:prstGeom prst="roundRect">
            <a:avLst>
              <a:gd name="adj" fmla="val 26667"/>
            </a:avLst>
          </a:prstGeom>
          <a:solidFill>
            <a:srgbClr val="EAF7DC"/>
          </a:solidFill>
          <a:ln/>
        </p:spPr>
      </p:sp>
      <p:sp>
        <p:nvSpPr>
          <p:cNvPr id="18" name="Text 16"/>
          <p:cNvSpPr txBox="1"/>
          <p:nvPr/>
        </p:nvSpPr>
        <p:spPr>
          <a:xfrm>
            <a:off x="6406744"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Aydınlanma yüzeyin özelliğidir; aynı lamba, farklı uzaklıktaki yüzeyleri farklı aydınlatır.</a:t>
            </a:r>
            <a:endParaRPr lang="en-US" sz="1400" dirty="0"/>
          </a:p>
        </p:txBody>
      </p:sp>
      <p:sp>
        <p:nvSpPr>
          <p:cNvPr id="20" name="Shape 18"/>
          <p:cNvSpPr/>
          <p:nvPr/>
        </p:nvSpPr>
        <p:spPr>
          <a:xfrm>
            <a:off x="640080"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3328416"/>
            <a:ext cx="274320" cy="274320"/>
          </a:xfrm>
          <a:prstGeom prst="roundRect">
            <a:avLst>
              <a:gd name="adj" fmla="val 26667"/>
            </a:avLst>
          </a:prstGeom>
          <a:solidFill>
            <a:srgbClr val="FBE9EE"/>
          </a:solidFill>
          <a:ln/>
        </p:spPr>
      </p:sp>
      <p:sp>
        <p:nvSpPr>
          <p:cNvPr id="22" name="Text 20"/>
          <p:cNvSpPr txBox="1"/>
          <p:nvPr/>
        </p:nvSpPr>
        <p:spPr>
          <a:xfrm>
            <a:off x="841248"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330098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Uzaklıkla ters orantı kurmak.</a:t>
            </a:r>
            <a:endParaRPr lang="en-US" sz="1500" dirty="0"/>
          </a:p>
        </p:txBody>
      </p:sp>
      <p:sp>
        <p:nvSpPr>
          <p:cNvPr id="24" name="Shape 22"/>
          <p:cNvSpPr/>
          <p:nvPr/>
        </p:nvSpPr>
        <p:spPr>
          <a:xfrm>
            <a:off x="841248" y="3691890"/>
            <a:ext cx="274320" cy="274320"/>
          </a:xfrm>
          <a:prstGeom prst="roundRect">
            <a:avLst>
              <a:gd name="adj" fmla="val 26667"/>
            </a:avLst>
          </a:prstGeom>
          <a:solidFill>
            <a:srgbClr val="EAF7DC"/>
          </a:solidFill>
          <a:ln/>
        </p:spPr>
      </p:sp>
      <p:sp>
        <p:nvSpPr>
          <p:cNvPr id="25" name="Text 23"/>
          <p:cNvSpPr txBox="1"/>
          <p:nvPr/>
        </p:nvSpPr>
        <p:spPr>
          <a:xfrm>
            <a:off x="841248" y="369189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67360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Bağıntı 1/d değil </a:t>
            </a:r>
            <a:pPr indent="0" marL="0">
              <a:lnSpc>
                <a:spcPct val="108000"/>
              </a:lnSpc>
              <a:buNone/>
            </a:pPr>
            <a:r>
              <a:rPr lang="en-US" sz="1400" b="1" dirty="0">
                <a:solidFill>
                  <a:srgbClr val="0E1426"/>
                </a:solidFill>
                <a:latin typeface="Calibri" pitchFamily="34" charset="0"/>
                <a:ea typeface="Calibri" pitchFamily="34" charset="-122"/>
                <a:cs typeface="Calibri" pitchFamily="34" charset="-120"/>
              </a:rPr>
              <a:t>1/d²</a:t>
            </a:r>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'dir.</a:t>
            </a:r>
            <a:endParaRPr lang="en-US" sz="1400" dirty="0"/>
          </a:p>
        </p:txBody>
      </p:sp>
      <p:sp>
        <p:nvSpPr>
          <p:cNvPr id="27" name="Shape 25"/>
          <p:cNvSpPr/>
          <p:nvPr/>
        </p:nvSpPr>
        <p:spPr>
          <a:xfrm>
            <a:off x="6205576"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3328416"/>
            <a:ext cx="274320" cy="274320"/>
          </a:xfrm>
          <a:prstGeom prst="roundRect">
            <a:avLst>
              <a:gd name="adj" fmla="val 26667"/>
            </a:avLst>
          </a:prstGeom>
          <a:solidFill>
            <a:srgbClr val="FBE9EE"/>
          </a:solidFill>
          <a:ln/>
        </p:spPr>
      </p:sp>
      <p:sp>
        <p:nvSpPr>
          <p:cNvPr id="29" name="Text 27"/>
          <p:cNvSpPr txBox="1"/>
          <p:nvPr/>
        </p:nvSpPr>
        <p:spPr>
          <a:xfrm>
            <a:off x="6406744"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330098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cosθ'yı unutmak.</a:t>
            </a:r>
            <a:endParaRPr lang="en-US" sz="1500" dirty="0"/>
          </a:p>
        </p:txBody>
      </p:sp>
      <p:sp>
        <p:nvSpPr>
          <p:cNvPr id="31" name="Shape 29"/>
          <p:cNvSpPr/>
          <p:nvPr/>
        </p:nvSpPr>
        <p:spPr>
          <a:xfrm>
            <a:off x="6406744" y="3691890"/>
            <a:ext cx="274320" cy="274320"/>
          </a:xfrm>
          <a:prstGeom prst="roundRect">
            <a:avLst>
              <a:gd name="adj" fmla="val 26667"/>
            </a:avLst>
          </a:prstGeom>
          <a:solidFill>
            <a:srgbClr val="EAF7DC"/>
          </a:solidFill>
          <a:ln/>
        </p:spPr>
      </p:sp>
      <p:sp>
        <p:nvSpPr>
          <p:cNvPr id="32" name="Text 30"/>
          <p:cNvSpPr txBox="1"/>
          <p:nvPr/>
        </p:nvSpPr>
        <p:spPr>
          <a:xfrm>
            <a:off x="6406744" y="369189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67360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Yüzey eğikse aydınlanma cosθ kadar azalır.</a:t>
            </a:r>
            <a:endParaRPr lang="en-US" sz="1400" dirty="0"/>
          </a:p>
        </p:txBody>
      </p:sp>
      <p:sp>
        <p:nvSpPr>
          <p:cNvPr id="34" name="Shape 32"/>
          <p:cNvSpPr/>
          <p:nvPr/>
        </p:nvSpPr>
        <p:spPr>
          <a:xfrm>
            <a:off x="640080"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882896"/>
            <a:ext cx="274320" cy="274320"/>
          </a:xfrm>
          <a:prstGeom prst="roundRect">
            <a:avLst>
              <a:gd name="adj" fmla="val 26667"/>
            </a:avLst>
          </a:prstGeom>
          <a:solidFill>
            <a:srgbClr val="FBE9EE"/>
          </a:solidFill>
          <a:ln/>
        </p:spPr>
      </p:sp>
      <p:sp>
        <p:nvSpPr>
          <p:cNvPr id="36" name="Text 34"/>
          <p:cNvSpPr txBox="1"/>
          <p:nvPr/>
        </p:nvSpPr>
        <p:spPr>
          <a:xfrm>
            <a:off x="841248"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85546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Toplam akıyı I'ya eşitlemek.</a:t>
            </a:r>
            <a:endParaRPr lang="en-US" sz="1500" dirty="0"/>
          </a:p>
        </p:txBody>
      </p:sp>
      <p:sp>
        <p:nvSpPr>
          <p:cNvPr id="38" name="Shape 36"/>
          <p:cNvSpPr/>
          <p:nvPr/>
        </p:nvSpPr>
        <p:spPr>
          <a:xfrm>
            <a:off x="841248" y="5246370"/>
            <a:ext cx="274320" cy="274320"/>
          </a:xfrm>
          <a:prstGeom prst="roundRect">
            <a:avLst>
              <a:gd name="adj" fmla="val 26667"/>
            </a:avLst>
          </a:prstGeom>
          <a:solidFill>
            <a:srgbClr val="EAF7DC"/>
          </a:solidFill>
          <a:ln/>
        </p:spPr>
      </p:sp>
      <p:sp>
        <p:nvSpPr>
          <p:cNvPr id="39" name="Text 37"/>
          <p:cNvSpPr txBox="1"/>
          <p:nvPr/>
        </p:nvSpPr>
        <p:spPr>
          <a:xfrm>
            <a:off x="841248" y="524637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522808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Noktasal kaynakta Φ = 4π·I'dır; aradaki çarpan yaklaşık 12,6'dır.</a:t>
            </a:r>
            <a:endParaRPr lang="en-US" sz="1400" dirty="0"/>
          </a:p>
        </p:txBody>
      </p:sp>
      <p:sp>
        <p:nvSpPr>
          <p:cNvPr id="41" name="Shape 39"/>
          <p:cNvSpPr/>
          <p:nvPr/>
        </p:nvSpPr>
        <p:spPr>
          <a:xfrm>
            <a:off x="6205576"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882896"/>
            <a:ext cx="274320" cy="274320"/>
          </a:xfrm>
          <a:prstGeom prst="roundRect">
            <a:avLst>
              <a:gd name="adj" fmla="val 26667"/>
            </a:avLst>
          </a:prstGeom>
          <a:solidFill>
            <a:srgbClr val="FBE9EE"/>
          </a:solidFill>
          <a:ln/>
        </p:spPr>
      </p:sp>
      <p:sp>
        <p:nvSpPr>
          <p:cNvPr id="43" name="Text 41"/>
          <p:cNvSpPr txBox="1"/>
          <p:nvPr/>
        </p:nvSpPr>
        <p:spPr>
          <a:xfrm>
            <a:off x="6406744"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85546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Ters kare yasasını her kaynağa uygulamak.</a:t>
            </a:r>
            <a:endParaRPr lang="en-US" sz="1500" dirty="0"/>
          </a:p>
        </p:txBody>
      </p:sp>
      <p:sp>
        <p:nvSpPr>
          <p:cNvPr id="45" name="Shape 43"/>
          <p:cNvSpPr/>
          <p:nvPr/>
        </p:nvSpPr>
        <p:spPr>
          <a:xfrm>
            <a:off x="6406744" y="5246370"/>
            <a:ext cx="274320" cy="274320"/>
          </a:xfrm>
          <a:prstGeom prst="roundRect">
            <a:avLst>
              <a:gd name="adj" fmla="val 26667"/>
            </a:avLst>
          </a:prstGeom>
          <a:solidFill>
            <a:srgbClr val="EAF7DC"/>
          </a:solidFill>
          <a:ln/>
        </p:spPr>
      </p:sp>
      <p:sp>
        <p:nvSpPr>
          <p:cNvPr id="46" name="Text 44"/>
          <p:cNvSpPr txBox="1"/>
          <p:nvPr/>
        </p:nvSpPr>
        <p:spPr>
          <a:xfrm>
            <a:off x="6406744" y="524637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522808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Yasa yalnızca noktasal kaynaklar için geçerlidir.</a:t>
            </a:r>
            <a:endParaRPr lang="en-US" sz="1400" dirty="0"/>
          </a:p>
        </p:txBody>
      </p:sp>
      <p:sp>
        <p:nvSpPr>
          <p:cNvPr id="48" name="Shape 46"/>
          <p:cNvSpPr/>
          <p:nvPr/>
        </p:nvSpPr>
        <p:spPr>
          <a:xfrm>
            <a:off x="640080" y="6382512"/>
            <a:ext cx="128016" cy="128016"/>
          </a:xfrm>
          <a:prstGeom prst="roundRect">
            <a:avLst>
              <a:gd name="adj" fmla="val 28571"/>
            </a:avLst>
          </a:prstGeom>
          <a:solidFill>
            <a:srgbClr val="A9E648"/>
          </a:solidFill>
          <a:ln/>
        </p:spPr>
      </p:sp>
      <p:sp>
        <p:nvSpPr>
          <p:cNvPr id="49" name="Text 4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50" name="Text 4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Şiddet </a:t>
            </a:r>
            <a:pPr indent="0" marL="0">
              <a:buNone/>
            </a:pPr>
            <a:r>
              <a:rPr lang="en-US" sz="1500" b="1" dirty="0">
                <a:solidFill>
                  <a:srgbClr val="FFFFFF"/>
                </a:solidFill>
                <a:latin typeface="Calibri" pitchFamily="34" charset="0"/>
                <a:ea typeface="Calibri" pitchFamily="34" charset="-122"/>
                <a:cs typeface="Calibri" pitchFamily="34" charset="-120"/>
              </a:rPr>
              <a:t>kandela</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Akı </a:t>
            </a:r>
            <a:pPr indent="0" marL="0">
              <a:buNone/>
            </a:pPr>
            <a:r>
              <a:rPr lang="en-US" sz="1500" b="1" dirty="0">
                <a:solidFill>
                  <a:srgbClr val="FFFFFF"/>
                </a:solidFill>
                <a:latin typeface="Calibri" pitchFamily="34" charset="0"/>
                <a:ea typeface="Calibri" pitchFamily="34" charset="-122"/>
                <a:cs typeface="Calibri" pitchFamily="34" charset="-120"/>
              </a:rPr>
              <a:t>lümen</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Aydınlanma </a:t>
            </a:r>
            <a:pPr indent="0" marL="0">
              <a:buNone/>
            </a:pPr>
            <a:r>
              <a:rPr lang="en-US" sz="1500" b="1" dirty="0">
                <a:solidFill>
                  <a:srgbClr val="FFFFFF"/>
                </a:solidFill>
                <a:latin typeface="Calibri" pitchFamily="34" charset="0"/>
                <a:ea typeface="Calibri" pitchFamily="34" charset="-122"/>
                <a:cs typeface="Calibri" pitchFamily="34" charset="-120"/>
              </a:rPr>
              <a:t>lüks</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E ile </a:t>
            </a:r>
            <a:pPr indent="0" marL="0">
              <a:buNone/>
            </a:pPr>
            <a:r>
              <a:rPr lang="en-US" sz="1500" b="1" dirty="0">
                <a:solidFill>
                  <a:srgbClr val="FFFFFF"/>
                </a:solidFill>
                <a:latin typeface="Calibri" pitchFamily="34" charset="0"/>
                <a:ea typeface="Calibri" pitchFamily="34" charset="-122"/>
                <a:cs typeface="Calibri" pitchFamily="34" charset="-120"/>
              </a:rPr>
              <a:t>1/d²</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 = Φ / ω</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ışık şiddeti (cd)</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Φ = 4π · I</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nokta kaynağın toplam akısı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E = Φ / A</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aydınlanma şiddeti (lx)</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E = I · cosθ / d²</a:t>
            </a:r>
            <a:endParaRPr lang="en-US" sz="1350" dirty="0"/>
          </a:p>
        </p:txBody>
      </p:sp>
      <p:sp>
        <p:nvSpPr>
          <p:cNvPr id="25" name="Text 23"/>
          <p:cNvSpPr txBox="1"/>
          <p:nvPr/>
        </p:nvSpPr>
        <p:spPr>
          <a:xfrm>
            <a:off x="8782812" y="486460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uzaklık ve eğim</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dersler.perinet.org/isik-siddeti.html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02 · Düzlem aynalar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Işık şiddeti, ışık akısı ve aydınlanma — Dersler</dc:title>
  <dc:subject>Fizik · Optik</dc:subject>
  <dc:creator>Dersler</dc:creator>
  <cp:lastModifiedBy>Dersler</cp:lastModifiedBy>
  <cp:revision>1</cp:revision>
  <dcterms:created xsi:type="dcterms:W3CDTF">2026-09-20T18:42:35Z</dcterms:created>
  <dcterms:modified xsi:type="dcterms:W3CDTF">2026-09-20T18:42:35Z</dcterms:modified>
</cp:coreProperties>
</file>