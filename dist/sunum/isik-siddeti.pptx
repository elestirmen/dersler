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
Kapak görseli: Tek lamba, bir ışık havuzu. Masanın lambaya en yakın yeri en aydınlık; kenarlara doğru hem lambaya uzaklık artıyor hem de ışık masaya daha eğik geliyor. Bu anlatımın iki kuralı, ters kare yasası ve cosθ çarpanı, bu sahnedeki parlaklık geçişinin büyük kısmını açıklar; kalanı, ışığı masaya doğru toplayan lamba başlığından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nasıl yayıldığını gör ve birbirine çok benzeyen üç büyüklüğü formülsüz ayırt et.
   01 Önce gözlemle: sokak lambalarının altı
   02 Işık kaynakları ve doğrusal yayılma
   03 Üç büyüklük, üç soru
2. Orta —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
3. İleri — Derinleşme: iki kaynağı karşılaştırmak, noktasal kaynak modelinin sınırları ve aydınlatma tasarımı.
   10 Fotometre: iki kaynağı karşılaştırmak
   11 Noktasal kaynak modelinin sınırları
   12 Aydınlatma gerçek dünyada
4. Pekiştir —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nasıl yayıldığını gör ve birbirine çok benzeyen üç büyüklüğü formülsüz ayırt et.
01 Önce gözlemle: sokak lambalarının altı
02 Işık kaynakları ve doğrusal yayılma
03 Üç büyüklük, üç soru
Görsel: Her sokak lambası kaldırımda kendi ışık havuzunu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Kısaca: Işık doğrular boyunca gider ve kaynaktan uzaklaştıkça hızla zayıflar. Lambanın verdiği ışık ile bir noktanın ne kadar aydınlandığı ayrı şeylerdir.
Gece, lambalarla aydınlatılmış bir sokakta yürüdüğünü düşün. Bir direğin dibine geldiğinde kaldırım parlak, yüzün ve ellerin aydınlıktır. Birkaç adım uzaklaştığında ışık hızla zayıflar; iki direğin arasında kaldırım belirgin biçimde kararır, sonra bir sonraki direğe yaklaştıkça yeniden aydınlanır. Lambalar aynı, ışıkları aynı; değişen yalnızca senin lambaya göre yerin.
Görsel: Her sokak lambası kaldırımda kendi ışık havuzunu oluşturur: direğin dibi en aydınlık yerdir, lambadan uzaklaştıkça parlaklık hızla azalır. Lambaların arasında kalan sönük bölgeler, aydınlanmanın uzaklıkla ne kadar çabuk düştüğünü gösterir; bu düşüşün kuralını ikinci basamakta sayılarla bulacağız.
Bu kısa yürüyüşte, bu konunun bütün temel gözlemleri saklı:
• Işık doğrular boyunca gider: gölgen hep lambanın tam ters yönüne düşer ve sen yürüdükçe lambaya göre konumunla birlikte döner.
• Uzaklaştıkça sönükleşir, hem de hızla: direkten birkaç adım uzaklaşmak kaldırımı gözle görülür biçimde karartır.
• Eğik gelen ışık daha az aydınlatır: direkten uzaklaştıkça ışık kaldırıma daha yatık gelir ve aynı ışık daha geniş bir alana yayılır.
• Kaynak ile yüzey ayrı şeylerdir: lamba her yerde aynı ışığı saçar, ama kaldırımın her yeri aynı aydınlanmaz.
Son madde konunun kalbidir: “lamba ne kadar ışık veriyor?” ile “bu nokta ne kadar aydınlık?” iki ayrı sorudur. Önce ışığın nasıl yayıldığına, sonra bu iki soruyu ayıran büyüklüklere bakalım.
Düşün: İki sokak lambasının tam ortasında dururken neden iki gölgen olur?
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İki sokak lambasının tam ortasında dururken neden iki gölgen olur?
Sınıfa sorun, birkaç tahmin alın; sonra cevap slaytına geçin.
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Kısaca: Işık türdeş ortamda doğrular boyunca yayılır; gölgeler bunun kanıtıdır. Boyutu uzaklığın yanında önemsiz olan kaynak noktasaldır ve bu konunun bağıntıları onun içindir.
Işığı kendisi üreten cisimlere ışık kaynağı denir: Güneş, ampul, mum alevi, telefon ekranı. Ay ya da bir kitap sayfası ise kaynak değildir; üzerlerine düşen ışığı yansıtarak görünürler. Işık, saydam ve türdeş bir ortamda doğrular boyunca yayılır; gölge ve yarı gölgenin oluşması bunun doğrudan kanıtıdır.
• Noktasal kaynak: boyutları, uzaklığın yanında ihmal edilebilen kaynak. Bu konudaki bağıntılar noktasal kaynaklar içindir.
• Yaygın kaynak: boyutu ihmal edilemeyen kaynak; yarı gölge oluşturur.
Noktasal bir kaynağın önüne bir cisim koyduğunda perdede keskin kenarlı bir tam gölge oluşur: perdenin her noktası kaynağı ya görür ya görmez. Kaynak büyüdüğünde perdenin bazı noktaları kaynağın yalnızca bir kısmını görür; bu ara bölgeye yarı gölge denir. Bir kaynağın noktasal sayılıp sayılmaması boyutuna değil, boyutunun uzaklığa oranına bağlıdır.
Neden noktasal kabul ediyoruz? Bir lambaya 10 metreden bakarken 10 cm'lik boyutu önemsizdir. Aynı lambaya 10 cm'den bakarken ise ters kare yasası artık geçerli değildir.
Görsel: Işık doğrular boyunca yayıldığı için gölgeler keskin kenarlıdır. Noktasal bir kaynakta perdenin her noktası ya ışık alır ya almaz — arada ara ton yoktur. Kaynak büyüdüğünde ise perdenin bazı noktaları kaynağın yalnızca bir kısmını görebilir; o bölgeye yarı gölge denir. Güneş tutulmasında tam ve parçalı tutulma bölgeleri tam olarak bu iki bölgedir.
Düşün: Güneş dev bir kaynak olduğu hâlde gölgemizin kenarı neden oldukça keskindir?
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Güneş dev bir kaynak olduğu hâlde gölgemizin kenarı neden oldukça keskindir?
Sınıfa sorun, birkaç tahmin alın; sonra cevap slaytına geçin.
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Kısaca: Akı kaynağın saçtığı toplam ışık, şiddet bunun bir yöndeki yoğunluğu, aydınlanma ise yüzeyin birim alanına düşen paydır. İlk ikisi kaynağın, üçüncüsü yüzeyin özelliğidir.
Bir lambaya üç farklı soru sorabilirsin ve her birinin cevabı ayrı bir büyüklüktür. Bunları bir bahçe fıskiyesiyle düşünmek kolaylaştırır. Fıskiye saniyede belli bir miktar su püskürtür; suyun bir kısmı bir yöne, bir kısmı başka yöne gider; çimin her metrekaresi de bundan kendi payını alır. Işıkta da durum tam olarak böyledir:
• Toplam ne kadar ışık? Kaynağın her yöne birden saçtığı ışığın tamamı: ışık akısı. Fıskiyenin saniyede püskürttüğü toplam su gibi.
• Bu yöne ne kadar ışık? Akının belli bir doğrultudaki yoğunluğu: ışık şiddeti. Fıskiyenin tek bir yöne gönderdiği su gibi.
• Buraya ne kadar ışık düşüyor? Bir yüzeyin birim alanına düşen pay: aydınlanma şiddeti. Çimin bir metrekaresinin ıslanması gibi.
İlk ikisi kaynağın, üçüncüsü yüzeyin özelliğidir. Lambayı masaya yaklaştırınca lambanın akısı da şiddeti de değişmez; değişen, masanın aydınlanmasıdır. Ampul kutusunda yazan “watt” ise bu üçünden hiçbiri değildir: ampulün çektiği elektrik gücüdür, verdiği ışık değil.
Büyüklük | Simge | Birim | Neyin özelliği
Işık akısı | Φ | lümen (lm) | kaynağın
Işık şiddeti | I | kandela (cd) | kaynağın, bir yönde
Aydınlanma şiddeti | E | lüks (lx) | yüzeyin
Düşün: Aynı lamba masanı aydınlatıyor ama odanın köşesi loş kalıyorsa hangi büyüklük değişmiştir?
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lamba masanı aydınlatıyor ama odanın köşesi loş kalıyorsa hangi büyüklük değişmiştir?
Sınıfa sorun, birkaç tahmin alın; sonra cevap slaytına geçin.
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Kısaca: Işık akısı kaynağın her yöne saçtığı toplam görünür ışıktır ve lümenle ölçülür. Watt çekilen elektrik gücüdür; LED aynı lümeni akkor ampulün altıda biri kadar wattla verir.
Işık akısı, kaynağın birim zamanda yaydığı görünür ışık enerjisidir. Birimi lümen (lm)'dir. Ampul kutusunda yazan değer budur; watt ise ampulün çektiği elektrik gücüdür, yaydığı ışık değil. İkisini birbirine bağlayan büyüklüğe ışık verimliliği denir: her watt elektrik başına kaç lümen ışık elde edildiği.
verimlilik = Φ / P   birim: lm / W
Ampul | Çektiği güç | Işık akısı | Verimlilik
Akkor | 60 W | ≈ 800 lm | ≈ 13 lm/W
Akkor | 100 W | ≈ 1400 lm | ≈ 14 lm/W
LED | 10 W | ≈ 800 lm | ≈ 80 lm/W
LED | 9 W | ≈ 800 lm | ≈ 89 lm/W
Tablo, anlatımın başındaki sorunun cevabıdır. Akkor ampuller varken “60 watt” demek “yaklaşık 800 lümen” demekle aynı şeydi, çünkü bütün akkor ampuller kabaca aynı verimlilikteydi. LED'ler aynı ışığı altı kat daha az elektrikle verince watt artık ışığı anlatmaz oldu; kutulara lümen yazılmaya başlandı. Sayfanın 04 numaralı bölümündeki oda tasarımında da ampul başına değer lümen olarak seçilir.
Görsel: Işık akısı, kaynağın her yöne birden yaydığı görünür ışığın toplamıdır; birimi lümendir. Ampul kutusundaki watt değeri kaynağın harcadığı elektrik gücünü söyler, ürettiği ışığı değil — bu yüzden 9 W'lık bir LED, 60 W'lık akkor ampulle aynı 800 lümeni verebilir.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Kısaca: Işık şiddeti birim katı açıya düşen akıdır: I = Φ/ω, birimi kandela. Her yöne eşit yayan noktasal kaynakta toplam akı Φ = 4π·I'dır.
Işık şiddeti, kaynağın belli bir doğrultuda, birim katı açıya gönderdiği akıdır. Birimi kandela (cd)'dır ve SI'nın yedi temel biriminden biridir. Tanımı anlamak için önce “katı açıyı” tanımak gerekir.
Düzlemde açıyı radyanla ölçersin: yay uzunluğu bölü yarıçap. Uzayda aynı fikir bir koni için kullanılır. Katı açı ω, kürenin merkezinden bakıldığında bir yüzeyin kapladığı açıdır ve ω = A / r² ile hesaplanır; birimi steradyan (sr)'dır. 1 m yarıçaplı bir kürenin yüzeyindeki 1 m²'lik bir parça 1 sr kaplar. Tüm küre 4π ≈ 12,57 sr'dır.
ω = A / r²   I = Φ / ω   1 cd = 1 lm / sr
Toplam akı nereden geliyor?
• Tanımı çevir: I = Φ/ω ise bir koninin içindeki akı Φ = I·ω'dır.
• Eşit yayan kaynak: ışığı her yöne eşit yayan noktasal kaynakta I her doğrultuda aynıdır.
• Bütün uzay: kaynağı saran kürenin tamamı için ω = 4πr²/r² = 4π sr.
• Sonuç: toplam akı Φ(toplam) = 4π·I olur; yani akı, şiddetin yaklaşık 12,6 katıdır.
Φ = I · ω   Φ(toplam) = 4π · I
Noktasal bir kaynak ışığı her yöne eşit yayarsa, çevresindeki tüm uzay 4π steradyan olduğu için toplam akı 4π·I olur. Bir mum yaklaşık 1 cd şiddetindedir; toplam akısı 4π · 1 ≈ 12,6 lm eder. Bir el feneri ise aynı akıyı dar bir koniye sıkıştırır: 100 lümeni 0,1 sr'lık bir koniye toplayan fenerin şiddeti 100/0,1 = 1000 cd'dır. Aynı 100 lümeni her yöne eşit saçan bir ampulün şiddeti yalnızca 100/12,57 ≈ 8 cd'dır.
Görsel: Bir kaynak ışığını her yöne eşit dağıtmayabilir: el feneri ışığın çoğunu dar bir koniye sıkıştırır, mum her yöne aynı miktarda yayar. Işık şiddeti, belli bir yöndeki akı yoğunluğudur — yani akının uzay açısına bölümü. Bu yüzden 100 lümenlik bir el feneri, 100 lümenlik bir mumdan çok daha parlak görünür: aynı akıyı çok daha küçük bir açıya sıkıştırmıştır.
Düşün: El fenerinin önündeki parlak yansıtıcıyı çıkarırsan ışık akısı mı, ışık şiddeti mi değişir?
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önündeki parlak yansıtıcıyı çıkarırsan ışık akısı mı, ışık şiddeti mi değişir?
Sınıfa sorun, birkaç tahmin alın; sonra cevap slaytına geçin.
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Kısaca: Aydınlanma, birim alana düşen akıdır: E = Φ/A, birimi lüks. Bir yüzeyi E düzeyinde aydınlatmak için Φ = E·A kadar akı gerekir.
Aydınlanma şiddeti, bir yüzeyin birim alanına düşen ışık akısıdır. Birimi lüks (lx)'tür. Kaynağın değil, yüzeyin özelliğidir.
E = Φ / A   1 lx = 1 lm / m²   E = I / d²
Aynı 100 lümen 1 m²'lik bir yüzeye düşerse aydınlanma 100 lx, 4 m²'lik bir yüzeye yayılırsa 25 lx olur. Işığın toplam miktarı değişmemiştir, yalnızca daha çok metrekareye bölünmüştür. Son bağıntı, E = I/d², bir sonraki bölümün konusu; aydınlanmayı doğrudan kaynağın şiddetine ve uzaklığa bağlar.
İlk bağıntıyı tersine çevirmek, aydınlatma tasarımının temelidir: bir yüzeyin tamamını E düzeyinde aydınlatmak için gereken akı Φ = E·A'dır. Sayfanın 04 numaralı bölümündeki başlangıç değerleriyle 16 m²'lik bir çalışma odasını 500 lx'e getirmek için 16 · 500 = 8000 lm gerekir; bu da 800 lümenlik 10 ampul eder. Aydınlanmayı ölçen cihaza lüksmetre denir; birçok telefonun ön yüzünde de bu işi yapan küçük bir ışık algılayıcısı bulunur.
Görsel: Aydınlanma, yüzeye düşen akının birim alana bölünmesidir. Sağdaki yüzeye tam olarak aynı miktarda ışık düşüyor — ama dört kat geniş olduğu için her metrekaresine dörtte biri düşer ve yüzey dört kat sönük görünür. Bu yüzden lüks, kaynağın değil yüzeyin özelliğidir: aynı ampul, masayı aydınlatır ama odanın köşesini aydınlatmaz.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Kısaca: Noktasal kaynağın akısı 4πd²'lik küre yüzeyine yayıldığı için E = I/d²'dir. Uzaklık 2 kat artarsa aydınlanma 4'te bire, 3 kat artarsa 9'da bire iner.
Noktasal kaynaktan çıkan akı, uzaklaştıkça yarıçapın karesiyle büyüyen bir küre yüzeyine yayılır. Küre yüzeyi 4πd² olduğundan:
• Akı korunur: kaynağın her yöne saçtığı akı Φ, yolda kaybolmadan kaynağı saran her küre yüzeyinden geçer.
• Alan büyür: d uzaklıktaki kürenin yüzeyi A = 4πd²'dir.
• Aydınlanma: E = Φ/A = Φ/(4πd²).
• Şiddetle yaz: Φ = 4π·I koyunca 4π sadeleşir: E = I/d².
E = Φ / (4π·d²) = I / d²
• Uzaklık 2 katına çıkarsa aydınlanma 4'te bire iner.
• Uzaklık 3 katına çıkarsa aydınlanma 9'da bire iner.
• Aydınlanmayı 2 katına çıkarmak için uzaklığı √2 kat azaltmak gerekir.
Işık şiddeti 100 cd olan bir lamba için bu düzen sayılarda şöyle görünür: 0,5 m'de 400 lx, 1 m'de 100 lx, 2 m'de 25 lx, 3 m'de yaklaşık 11 lx, 4 m'de 6,25 lx. Lambadan 0,5 m'den 4 m'ye gitmek, yani 8 kat uzaklaşmak aydınlanmayı 64 kat azaltır. Birimleri de sına: cd/m² = (lm/sr)/m²; steradyan birimsiz bir oran olduğu için sonuç lm/m² = lx olur ✓. Sayfanın 02 numaralı bölümünde perdeyi uzaklaştırarak 1, 4, 9 karelik yayılmayı izleyebilirsin.
Yasa yalnızca noktasal kaynak içindir. Uzun bir flüoresan tüpün ya da aydınlatılmış bir tavanın altında aydınlanma bu kadar hızlı azalmaz.
Görsel: Kaynaktan çıkan aynı demet, uzaklık iki katına çıkınca dört kat, üç katına çıkınca dokuz kat geniş bir alana yayılır. Aynı akı daha çok kareye bölündüğü için her kareye düşen pay ters kareyle azalır: E = I/d². Ampulden iki kat uzaklaşmak, masanı yarı değil dörtte bir kadar aydınlık yapar.
Düşün: Işık şiddeti 4 kat büyük bir lambayı masadan 2 kat uzağa asarsan aydınlanma nasıl değişir?
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şiddeti 4 kat büyük bir lambayı masadan 2 kat uzağa asarsan aydınlanma nasıl değişir?
Sınıfa sorun, birkaç tahmin alın; sonra cevap slaytına geçin.
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Kısaca: Işık eğik gelince aynı akı daha geniş alana yayılır ve aydınlanma cosθ kadar azalır: E = I·cosθ/d². θ, yüzeyin normaliyle ışın arasındaki açıdır.
Işık yüzeye dik gelmiyorsa, aynı akı daha büyük bir alana yayılır. Yüzeyin normali ile ışığın doğrultusu arasındaki açı θ ise:
• Dik geliş: demet, kendi kesitine eşit A₀ alanlı bir bölgeyi aydınlatır.
• Eğik geliş: yüzey θ kadar eğilince aynı demet A₀/cosθ'lık daha geniş bir alana yayılır.
• Akı aynı: E = Φ/A = (Φ/A₀)·cosθ, yani dik gelişteki değerin cosθ katı.
E = I · cosθ / d²
Geliş açısı θ | cosθ | Aydınlanmanın payı
0° (dik) | 1 | %100
37° | 0,8 | %80
53° | 0,6 | %60
60° | 0,5 | %50
90° (teğet) | 0 | %0
θ = 0'da (dik geliş) aydınlanma en büyüktür; θ = 60°'de yarıya iner; θ = 90°'de (ışık yüzeye teğet) sıfırdır. Mevsimlerin oluş sebebi de budur: kışın Güneş ışınları yere daha eğik gelir. Yaklaşık 40° enlemde öğle Güneşi yaz ortasında yerle yaklaşık 73°, kış ortasında yaklaşık 27° açı yapar; aynı metrekareye kışın yazın düşenin yarısından az ışık düşer. Sayfanın 01 numaralı laboratuvarındaki “Eğik yüzey 60°” düğmesi aydınlanmanın yarıya indiğini gösterir.
Görsel: Yüzey eğildiğinde aynı ışık demeti daha geniş bir alana yayılır, bu yüzden her metrekareye düşen pay azalır. Kayıp tam olarak cosθ çarpanıyla verilir: E = I·cosθ/d². Kışın güneşin daha eğik gelmesi ve kutupların hep soğuk olması aynı geometrinin sonucudur — gelen enerji aynıdır, yayıldığı alan farklıdır.
Düşün: Lambanın tam altından yana doğru kaydıkça masadaki aydınlanma neden iki sebeple birden azalır?
Cevap: Birincisi, lambaya uzaklık artar ve E, 1/d² ile düşer. İkincisi, ışık masaya giderek daha eğik gelir, θ büyür ve cosθ küçülür. İki etki çarpılarak birleşir; bu yüzden lambanın ışık havuzu kenarlara doğru hızla kararır.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Kısaca: Aydınlanma dolunaylı gecede 0,25 lx'ten doğrudan güneşte 100 000 lx'e kadar uzanır; okuma için 300–500 lx gerekir. Uzaklığın karesi, şiddetten çok daha belirleyicidir.
Lüks sayıları soyut kalmasın; tanıdık ortamlarda ölçülen tipik değerlere bakalım:
Ortam | Aydınlanma
Dolunaylı gece | ≈ 0,25 lx
Sokak aydınlatması | 10 – 20 lx
Ev oturma odası | 100 – 200 lx
Sınıf, ofis, okuma masası | 300 – 500 lx
Bulutlu gün, dış ortam | ≈ 1000 lx
Doğrudan güneş ışığı ise yaklaşık 100 000 lx verir. Bir mum yaklaşık 1 cd şiddetindedir; 100 W'lık akkor ampul ≈ 1400 lm, 10 W'lık LED ampul ≈ 800 lm akı yayar. Şimdi sayfanın 01 numaralı laboratuvarındaki hazır sahneleri E = I/d² ile hesaplayalım:
Sahne | Şiddet | Uzaklık | Aydınlanma
Masa lambası | 50 cd | 0,5 m | 200 lx
Tavan lambası | 400 cd | 2,5 m | 64 lx
Sokak lambası | 2000 cd | 6 m | ≈ 56 lx
Eğik yüzey 60° | 400 cd | 2,5 m | 32 lx
Tablodan okunan düzen şaşırtıcıdır: 50 cd'lık küçük masa lambası, şiddeti 40 kat büyük sokak lambasından daha çok aydınlatıyor. Sokak lambası 12 kat uzakta olduğu için ışığı 144 kat geniş bir alana yayılıyor; 40 kat şiddet bunu karşılamaya yetmiyor. Aydınlanmada uzaklık, şiddetten çok daha etkilidir. Dolunaylı gece ile doğrudan güneş arasında ise dört yüz bin kat fark var; gözümüz bu farkı kendini uyarlayarak gizler.
Görsel: Ölçek logaritmiktir: her adım on katı gösterir. Dolunaylı bir gece ile doğrudan güneş arasında dört yüz bin kat fark var, ama gözümüz bu farkı öyle algılamaz — göz bebeği ve retina kendini uyarlar. Bu yüzden "yeterince aydınlık" demek yerine ölçmek gerekir: bir okuma masası için hedef 300–500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iki kaynağı karşılaştırmak, noktasal kaynak modelinin sınırları ve aydınlatma tasarımı.
10 Fotometre: iki kaynağı karşılaştırmak
11 Noktasal kaynak modelinin sınırları
12 Aydınlatma gerçek dünyada
Görsel: Işık tasarımı bir hesap işidir.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binlerce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Kısaca: Fotometrede iki yüzün eşit aydınlandığı noktada I₁/x² = I₂/(L−x)²'dir. Uzaklıkların oranı şiddetlerin karekökünün oranıdır; denge noktası zayıf lambaya yakındır.
Bilinmeyen bir lambanın şiddetini nasıl ölçersin? En eski yol, onu şiddeti bilinen bir lambayla karşılaştırmaktır. İki lamba arasına, iki yüzü ayrı ayrı aydınlanan bir ekran konur ve ekran iki yüzü eşit parlak görünene kadar kaydırılır. Bu düzeneğe fotometre denir. Eski fotometrelerde ekran, ortasında yağ lekesi olan bir kâğıttı: iki yüz eşit aydınlandığında leke neredeyse kaybolur. Lambalar arası uzaklık L, ekranın birinci lambaya uzaklığı x ise:
• Eşitlik: iki yüzün aydınlanması eşit: I₁/x² = I₂/(L−x)².
• Karekök al: √I₁/x = √I₂/(L−x).
• Düzenle: x/(L−x) = √(I₁/I₂); uzaklıkların oranı şiddetlerin karekökünün oranıdır.
• Ölçüm: I₁ biliniyorsa bilinmeyen şiddet I₂ = I₁·((L−x)/x)² ile bulunur.
I₁ / x² = I₂ / (L − x)²   x / (L − x) = √(I₁ / I₂)
Sayfanın 03 numaralı bölümündeki başlangıç değerlerini dene: 400 cd ve 100 cd'lık lambalar 200 cm arayla duruyor. √(400/100) = 2 olduğu için ekranın güçlü lambaya uzaklığı, zayıf lambaya uzaklığının iki katı olmalı: x = 2·200/3 ≈ 133 cm. Ölçüm için de bir örnek: 100 cd'lık lamba ekrandan 1 m, bilinmeyen lamba 1,5 m uzakta dengeye geliyorsa I₂ = 100 · 1,5² = 225 cd'dır.
Düşün: Fotometrede denge noktası neden her zaman zayıf lambaya daha yakındır?
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Fotometrede denge noktası neden her zaman zayıf lambaya daha yakındır?
Sınıfa sorun, birkaç tahmin alın; sonra cevap slaytına geçin.
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Kısaca: Ters kare yasası noktasal, her yöne eşit yayan kaynak içindir; büyük ve yönlendirilmiş kaynaklarda ve yansımalı ortamlarda sapma olur. Birden çok kaynağın aydınlanmaları toplanır.
E = I·cosθ/d² bağıntısı güçlü ama bir model üzerine kurulu: ışığı her yöne eşit saçan, noktasal, tek bir kaynak ve ışığı yutan ya da yansıtan hiçbir şey. Gerçek aydınlatmada bu varsayımların her biri biraz esner:
• Kaynak büyükse: uzun flüoresan tüpün yakınında E yaklaşık 1/d ile, geniş aydınlık tavanın altında neredeyse hiç azalmaz.
• Beş kat kuralı: uzaklık kaynağın boyunun en az beş katıysa ters kare yasasının hatası yaklaşık %1'dir; daha yakında hata hızla büyür.
• Işık her yöne eşit gitmeyebilir: spot lamba, far ya da el feneri ışığı bir koniye toplar; I yöne bağlıdır ve Φ = 4π·I kullanılamaz.
• Yansıyan ışık: odada duvar ve tavandan yansıyan ışık aydınlanmayı artırır; beyaz duvarlı oda aynı lambayla daha aydınlık olur.
• Birden çok kaynak: bir noktadaki aydınlanmalar toplanır: E = E₁ + E₂. Her lamba kendi uzaklığı ve açısıyla ayrı hesaplanır.
• Lümen gözle tartılır: göz sarı-yeşile en duyarlıdır; 1 W'lık bu ışık yaklaşık 683 lm eder, kızılötesi ise hiç lümen vermez.
Son madde, lümenin neden sıradan bir enerji birimi olmadığını açıklar. Işık akısı, yayılan gücün gözün duyarlılığına göre tartılmış hâlidir. Akkor ampul enerjisinin büyük kısmını gözün göremediği kızılötesi ışınım olarak saçar; bu enerji ısıtır ama hiç lümen vermez. LED'in üstünlüğü, enerjisini gözün en iyi gördüğü renklere yoğunlaştırmasıdır.
Düşün: Akkor ampul aynı ışığı vermek için neden LED'den yaklaşık altı kat fazla elektrik harcar?
Cevap: Akkor ampul ışığı bir teli akkor hâline gelene kadar ısıtarak üretir. Telin saçtığı enerjinin çoğu kızılötesidir; göz onu görmez, lümen hesabına da girmez. 60 W'lık akkor ampul ile 9–10 W'lık LED aynı 800 lümeni verir; aradaki fark çoğunlukla ısı olarak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Kısaca: Aydınlatma tasarımı E = I·cosθ/d² ve Φ = E·A bağıntılarını tersine kullanır: istenen lüksten kaç lümen, ne yükseklik ve hangi açı gerektiği bulunur. Amaç yeterli ve eşit aydınlanmadır.
Aydınlatma tasarımcılarının işi, bu konunun bağıntılarını tersine kullanmaktır: istenen aydınlanmadan yola çıkıp kaç lamba, ne kadar yükseklik, hangi açı gerektiğini bulmak. Amaç çoğunlukla yalnızca “yeterince aydınlık” değil, aynı zamanda her yerde yaklaşık eşit aydınlıktır.
Görsel: Işık tasarımı bir hesap işidir.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binlerce kat büyüktür.
• Stadyumlar: televizyon yayını yapılan maçlarda sahadaki aydınlanma çoğunlukla bin lüksün üzerindedir; çok sayıda projektör yüzünden oyuncuların birkaç gölgesi olur.
• Sınıf ve oda tasarımı: Φ = E·A ile gereken toplam lümen bulunur; 16 m²'lik odayı 500 lx'e getirmek için 8000 lm, yani 800 lümenlik 10 ampul gerekir.
• Sokak aydınlatması: direk yüksekliği ve aralığı, direk dibi ile iki direğin ortası arasındaki farkı küçültecek biçimde seçilir; hedef 10–20 lx civarıdır.
• Telefon ekranı: ön yüzdeki ışık algılayıcısı ortamın aydınlanmasını ölçer; ekran güneşte parlaklaşır, karanlık odada kısılır.
• Güneş panelleri: öğle Güneşine olabildiğince dik bakacak eğimle kurulur; cosθ küçüldükçe metrekare başına düşen enerji azalır.
• Fotoğraf flaşı: iki kat uzaktaki bir konuyu aynı parlaklıkta çekmek için dört kat ışık gerekir; ters kare yasası fotoğrafçının günlük hesabıdır.
Düşün: Stadyum projektörleri neden sahanın hemen üstüne değil de yüksek kulelere yerleştirilir?
Cevap: Lamba sahanın bir noktasına çok yakın olsaydı orası çok parlak, uzak noktalar çok sönük kalırdı; çünkü aydınlanma uzaklığın karesiyle düşer. Yüksek ve uzak bir kuleden bakıldığında sahanın yakın ve uzak noktalarının uzaklıkları birbirine daha yakın olur, aydınlanma daha eşit dağılır. Üstelik oyun alanının üstü de boş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(kolay)
Aşağıdaki çözümlerde kaynaklar noktasal kabul edilmiş, π ≈ 3,14 alınmıştır.
Işık şiddeti 200 cd olan noktasal bir lamba, masanın 2 m üzerindedir. (a) Masadaki aydınlanma nedir? (b) Lamba 4 m'ye çıkarılırsa ne olur?
1. (a) E = I/d² = 200 / 2² = 200/4 = 50 lx
2. (b) d 2 katına çıktı → E dörtte bire iner
3. E = 200 / 16 = 12,5 lx
4. Aynı sonucu doğrudan 50/4 = 12,5 lx olarak da bulabiliriz.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(kolay)
Aşağıdaki çözümlerde kaynaklar noktasal kabul edilmiş, π ≈ 3,14 alınmıştır.
Her yöne eşit ışık yayan bir kaynağın ışık şiddeti 100 cd'dır. (a) Toplam akısı nedir? (b) 0,5 sr'lık bir koniye gönderdiği akı nedir?
1. (a) Φ = 4π·I = 4 · 3,14 · 100 ≈ 1256 lm
2. (b) Φ = I·ω = 100 · 0,5 = 50 lm
3. Katı açı hatırlatması: ω = A/r²; tüm küre için ω = 4πr²/r² = 4π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(orta)
Aşağıdaki çözümlerde kaynaklar noktasal kabul edilmiş, π ≈ 3,14 alınmıştır.
500 cd'lık lamba, yüzeyin 2 m üzerindedir. Yüzey 60° eğildiğinde aydınlanma nasıl değişir?
1. Dik durumda: E = 500 / 4 = 125 lx
2. Eğik durumda: E = I·cos60° / d² = 500 · 0,5 / 4
3. E = 62,5 lx — yarıya indi.
4. Açı 90° olsaydı cos90° = 0 olur, yüzey hiç aydınlanmazdı.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(orta)
Aşağıdaki çözümlerde kaynaklar noktasal kabul edilmiş, π ≈ 3,14 alınmıştır.
Rahat okumak için kitabın üzerinde en az 400 lx gerekiyor. Işık şiddeti 100 cd olan bir lamba kitabın tam üstüne en fazla kaç metre yükseğe konabilir? Lamba 1 m'ye çıkarılırsa aydınlanma kaç lüks olur?
1. E = I/d² → d² = I/E = 100/400 = 0,25 m²
2. d = √0,25 = 0,5 m; lamba bundan yükseğe konmamalı.
3. d = 1 m'de: E = 100/1² = 100 lx
4. Uzaklık 2 katına çıktı, aydınlanma 4'te bire indi: 400/4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Sınıf için kaç armatür? (orta)
Aşağıdaki çözümlerde kaynaklar noktasal kabul edilmiş, π ≈ 3,14 alınmıştır.
8 m × 6 m boyutlarındaki bir sınıfın zemininde ortalama 500 lx aydınlanma isteniyor. Her armatür 3000 lm akı veriyor. Işığın tamamının zemine ulaştığı varsayılırsa kaç armatür gerekir?
1. Alan: A = 8 · 6 = 48 m²
2. Gereken akı: Φ = E·A = 500 · 48 = 24 000 lm
3. Armatür sayısı: 24 000 / 3000 = 8 armatür
Gerçekte ışığın bir kısmı duvarlarda ve tavanda soğurulur; tasarımcılar bu yüzden hesaplanan sayının üzerine pay ekler. Sayfanın 04 numaralı bölümünde aynı hesabı farklı odalar için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(zor)
Aşağıdaki çözümlerde kaynaklar noktasal kabul edilmiş, π ≈ 3,14 alınmıştır.
Aralarında 3 m olan iki lambadan biri 400 cd, diğeri 100 cd'dır. İkisinin ortasındaki bir ekranın iki yüzü nerede eşit aydınlanır?
1. Eşitlik: I₁/x² = I₂/(L−x)²
2. Karekök: √I₁/x = √I₂/(L−x) → 20/x = 10/(3−x)
3. 60 − 20x = 10x → x = 2 m (400 cd'lık lambadan)
4. Kontrol: 400/4 = 100 lx ve 100/1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(zor)
Aşağıdaki çözümlerde kaynaklar noktasal kabul edilmiş, π ≈ 3,14 alınmıştır.
Işık şiddeti 64 cd olan bir lamba masanın 0,8 m üzerindedir. (a) Lambanın tam altındaki noktada, (b) bu noktadan 0,6 m yana kaymış masa kenarında aydınlanma kaç lükstür?
1. (a) Tam altta ışık dik gelir: E = 64 / 0,8² = 64 / 0,64 = 100 lx
2. (b) Lambaya uzaklık: d = √(0,8² + 0,6²) = √1 = 1 m
3. Geliş açısı: cosθ = 0,8 / 1 = 0,8 (ışın ile masanın normali arasındaki açı)
4. E = I·cosθ / d² = 64 · 0,8 / 1² = 51,2 lx
5. Yalnızca 0,6 m yana kaymak aydınlanmayı neredeyse yarıya indirdi: uzaklık ve eğim birlikte etkiler.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(zor)
Aşağıdaki çözümlerde kaynaklar noktasal kabul edilmiş, π ≈ 3,14 alınmıştır.
Işık şiddetleri 500'er cd olan iki sokak lambası 3 m yükseklikte ve aralarında 8 m olacak biçimde dikilmiştir. (a) İki direğin tam ortasındaki noktada, (b) bir direğin dibinde yerdeki aydınlanmayı bulunuz.
1. (a) Orta noktanın her lambaya uzaklığı: d = √(3² + 4²) = 5 m; cosθ = 3/5 = 0,6
2. Her lambadan: E = 500 · 0,6 / 5² = 12 lx → iki lamba birlikte 24 lx
3. (b) Kendi lambasından (dik geliş): E = 500 / 3² ≈ 55,6 lx
4. Öteki lambaya uzaklık √(3² + 8²) = √73 ≈ 8,54 m; cosθ ≈ 0,35 → E ≈ 500 · 0,35 / 73 ≈ 2,4 lx
5. Toplam ≈ 55,6 + 2,4 ≈ 58 lx; direk dibi, orta noktanın yaklaşık 2,4 katı aydınlık.
Kaldırımdaki ışık havuzları ve aralarındaki sönük bölgeler bu hesabın sonucudur. Direkleri sıklaştırmak ya da yükseltmek iki değeri birbirine yaklaştırır.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Watt ile lümeni karıştırmak. Watt çekilen elektrik gücü, lümen yayılan ışık akısıdır. LED ampul aynı lümeni çok daha az wattla verir.
• Aydınlanmayı kaynağın özelliği sanmak. Aydınlanma yüzeyin özelliğidir; aynı lamba, farklı uzaklıktaki yüzeyleri farklı aydınlatır.
• Uzaklıkla ters orantı kurmak. Bağıntı 1/d değil 1/d²'dir.
• cosθ'yı unutmak. Yüzey eğikse aydınlanma cosθ kadar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θ'yı ışınla yüzey arasındaki açı sanmak. θ, ışın ile yüzeyin normali arasındadır; ışın yüzeyle 30° yapıyorsa θ = 60°'dir.
• Toplam akıyı I'ya eşitlemek. Noktasal kaynakta Φ = 4π·I'dır; aradaki çarpan yaklaşık 12,6'dır.
• Fotometrede uzaklık oranını şiddet oranına eşitlemek. Uzaklıkların oranı şiddetlerin karekökünün oranıdır: 4 kat şiddet, 2 kat uzaklık demektir.
• Ters kare yasasını her kaynağa uygulamak. Yasa yalnızca noktasal kaynaklar için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Şiddet kandela · Akı lümen · Aydınlanma lüks · E ile 1/d²
I = Φ / ω — ışık şiddeti (cd)
Φ = 4π · I — nokta kaynağın toplam akısı
E = Φ / A — aydınlanma şiddeti (lx)
E = I · cosθ / d² — uzaklık ve 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isik-sidd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Işık şiddeti, ışık akısı ve aydınlanma</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Bir lambanın “gücü” ile masanın üzerine düşen ışık aynı şey değildir. Kaynağın yaydığı akı, belli bir yöne gönderdiği şiddet ve yüzeyde ölçülen aydınlanma üç ayrı büyüklüktür — ve aralarındaki bağ uzaklığın karesidir.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Ampul kutularında neden artık "watt"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"lümen"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yazıyor?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Çalışma masan yeterince aydınlık mı, nasıl ölçersin?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konunun tamamı, birbirine çok benzeyen üç büyüklüğü ayırmakla ilgili: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akı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kaynağın ürettiği toplam ışıktır,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şiddet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bunun belli bir yöndeki yoğunluğu,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aydınlanma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ise yüzeye düşen paydır.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Üçünü karıştırmayı bıraktığın an konu biter.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sokak lambalarının altı</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kaynakları ve doğrusal yayılma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Üç büyüklük, üç soru</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0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akısı (Φ)</a:t>
            </a:r>
            <a:endParaRPr lang="en-US" sz="12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Işık şiddeti (I) ve katı açı</a:t>
            </a:r>
            <a:endParaRPr lang="en-US" sz="10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Aydınlanma şiddeti (E)</a:t>
            </a:r>
            <a:endParaRPr lang="en-US" sz="11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Ters kare yasası</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Eğik yüzeyler: cosθ çarpanı</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Sayılarla hisset: kaç lüks?</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Fotometre: iki kaynağı karşılaştırmak</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Noktasal kaynak modelinin sınırları</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Aydınlatma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ışık sorularında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sokak lambalarının altı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Işık kaynakları ve doğrusal yayılma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Üç büyüklük, üç soru</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isik-sidd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Her sokak lambası kaldırımda kendi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ışık havuzunu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doğrular boyunca gider ve kaynaktan uzaklaştıkça hızla zayıflar. Lambanın verdiği ışık ile bir noktanın ne kadar aydınlandığı ayrı şeylerdir.</a:t>
            </a:r>
            <a:endParaRPr lang="en-US" sz="1900" dirty="0"/>
          </a:p>
        </p:txBody>
      </p:sp>
      <p:sp>
        <p:nvSpPr>
          <p:cNvPr id="9" name="Text 7"/>
          <p:cNvSpPr txBox="1"/>
          <p:nvPr/>
        </p:nvSpPr>
        <p:spPr>
          <a:xfrm>
            <a:off x="640080" y="2294534"/>
            <a:ext cx="10911535" cy="26395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Işık doğrular boyunca gider: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gölgen hep lambanın tam ters yönüne düşer ve sen yürüdükçe lambaya göre konumunla birlikte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Uzaklaştıkça sönükleşir, hem de hızla: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direkten birkaç adım uzaklaşmak kaldırımı gözle görülür biçimde karartır.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Eğik gelen ışık daha az aydınlatır: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direkten uzaklaştıkça ışık kaldırıma daha yatık gelir ve aynı ışık daha geniş bir alana yayılır.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Kaynak ile yüzey ayrı şeylerdir: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lamba her yerde aynı ışığı saçar, ama kaldırımın her yeri aynı aydınlanmaz.</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İki sokak lambasının tam ortasında dururken neden iki gölgen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sokak lambalarının altı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İki sokak lambasının tam ortasında dururken neden iki gölgen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Her lambanın ışığı sana doğru düz bir çizgi boyunca gelir ve bedenin her birini ayrı bir doğrultuda keser. Bu yüzden kaldırımda, lambaların ters yönlerine düşen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ayrı gölge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oluşur. Gölgeler tam karanlık değildir, çünkü birinin gölgesi ötekinin ışığıyla aydınlanır.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türdeş ortamda doğrular boyunca yayılır; gölgeler bunun kanıtıdır. Boyutu uzaklığın yanında önemsiz olan kaynak noktasaldır ve bu konunun bağıntıları onun içindir.</a:t>
            </a:r>
            <a:endParaRPr lang="en-US" sz="1850" dirty="0"/>
          </a:p>
        </p:txBody>
      </p:sp>
      <p:sp>
        <p:nvSpPr>
          <p:cNvPr id="9" name="Text 7"/>
          <p:cNvSpPr txBox="1"/>
          <p:nvPr/>
        </p:nvSpPr>
        <p:spPr>
          <a:xfrm>
            <a:off x="640080" y="2277466"/>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Noktasal kaynak: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boyutları, uzaklığın yanında ihmal edilebilen kaynak. Bu konudaki bağıntılar noktasal kaynaklar içindir.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Yaygın kaynak: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boyutu ihmal edilemeyen kaynak; yarı gölge oluşturur.</a:t>
            </a:r>
            <a:endParaRPr lang="en-US" sz="1600" dirty="0"/>
          </a:p>
        </p:txBody>
      </p:sp>
      <p:sp>
        <p:nvSpPr>
          <p:cNvPr id="10" name="Shape 8"/>
          <p:cNvSpPr/>
          <p:nvPr/>
        </p:nvSpPr>
        <p:spPr>
          <a:xfrm>
            <a:off x="640080" y="3917290"/>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63594"/>
            <a:ext cx="45720" cy="1161288"/>
          </a:xfrm>
          <a:prstGeom prst="rect">
            <a:avLst/>
          </a:prstGeom>
          <a:solidFill>
            <a:srgbClr val="3C8C21"/>
          </a:solidFill>
          <a:ln/>
        </p:spPr>
      </p:sp>
      <p:sp>
        <p:nvSpPr>
          <p:cNvPr id="12" name="Text 10"/>
          <p:cNvSpPr txBox="1"/>
          <p:nvPr/>
        </p:nvSpPr>
        <p:spPr>
          <a:xfrm>
            <a:off x="914400" y="4027018"/>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Neden noktasal kabul ediyoruz?</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Bir lambaya 10 metreden bakarken 10 cm'lik boyutu önemsizdir. Aynı lambaya 10 cm'den bakarken ise ters kare yasası artık geçerli değildir.</a:t>
            </a:r>
            <a:endParaRPr lang="en-US" sz="1500" dirty="0"/>
          </a:p>
        </p:txBody>
      </p:sp>
      <p:sp>
        <p:nvSpPr>
          <p:cNvPr id="13" name="Shape 11"/>
          <p:cNvSpPr/>
          <p:nvPr/>
        </p:nvSpPr>
        <p:spPr>
          <a:xfrm>
            <a:off x="6419088" y="2277466"/>
            <a:ext cx="5132527" cy="3849014"/>
          </a:xfrm>
          <a:prstGeom prst="roundRect">
            <a:avLst>
              <a:gd name="adj" fmla="val 38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sik-siddeti-01.png">    </p:cNvPr>
          <p:cNvPicPr>
            <a:picLocks noChangeAspect="1"/>
          </p:cNvPicPr>
          <p:nvPr/>
        </p:nvPicPr>
        <p:blipFill>
          <a:blip r:embed="rId1"/>
          <a:stretch>
            <a:fillRect/>
          </a:stretch>
        </p:blipFill>
        <p:spPr>
          <a:xfrm>
            <a:off x="6814733" y="2460346"/>
            <a:ext cx="4341237" cy="2206752"/>
          </a:xfrm>
          <a:prstGeom prst="rect">
            <a:avLst/>
          </a:prstGeom>
        </p:spPr>
      </p:pic>
      <p:sp>
        <p:nvSpPr>
          <p:cNvPr id="15" name="Shape 12"/>
          <p:cNvSpPr/>
          <p:nvPr/>
        </p:nvSpPr>
        <p:spPr>
          <a:xfrm>
            <a:off x="6601968" y="4758538"/>
            <a:ext cx="4766767" cy="0"/>
          </a:xfrm>
          <a:prstGeom prst="line">
            <a:avLst/>
          </a:prstGeom>
          <a:noFill/>
          <a:ln w="9525">
            <a:solidFill>
              <a:srgbClr val="E1E5EE"/>
            </a:solidFill>
            <a:prstDash val="dash"/>
          </a:ln>
        </p:spPr>
      </p:sp>
      <p:sp>
        <p:nvSpPr>
          <p:cNvPr id="16" name="Text 13"/>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doğrular boyunca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yayıldığı için gölgeler keskin kenarlıdır. Noktasal bir kaynakta perdenin her noktası ya ışık alır ya almaz — arada ara ton yoktur. Kaynak büyüdüğünde ise perdenin bazı noktaları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bir kısmını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görebilir; o bölgeye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Güneş tutulmasında tam ve parçalı tutulma bölgeleri tam olarak bu iki bölgedir.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Güneş dev bir kaynak olduğu hâlde gölgemizin kenarı neden oldukça keskindir?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Işık kaynakları ve doğrusal yayılma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Güneş dev bir kaynak olduğu hâlde gölgemizin kenarı neden oldukça keskindir?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Güneş çok büyüktür ama çok da uzaktır; gökyüzünde yalnızca yarım derece kadar yer kaplar. Boyutunun uzaklığa oranı küçük olduğu için neredeyse noktasal davranır. Yerden 1 m yüksekteki bir cismin gölgesinde yarı gölge şeridi 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 cm</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kadardır.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Akı kaynağın saçtığı toplam ışık, şiddet bunun bir yöndeki yoğunluğu, aydınlanma ise yüzeyin birim alanına düşen paydır. İlk ikisi kaynağın, üçüncüsü yüzeyin özelliğidir.</a:t>
            </a:r>
            <a:endParaRPr lang="en-US" sz="1850" dirty="0"/>
          </a:p>
        </p:txBody>
      </p:sp>
      <p:sp>
        <p:nvSpPr>
          <p:cNvPr id="9" name="Text 7"/>
          <p:cNvSpPr txBox="1"/>
          <p:nvPr/>
        </p:nvSpPr>
        <p:spPr>
          <a:xfrm>
            <a:off x="640080" y="2593238"/>
            <a:ext cx="10911535" cy="16642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Toplam ne kadar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Kaynağın her yöne birden saçtığı ışığın tamamı: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ışık akısı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Fıskiyenin saniyede püskürttüğü toplam su gibi.</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Bu yöne ne kadar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Akının belli bir doğrultudaki yoğunluğu: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ışık şiddeti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Fıskiyenin tek bir yöne gönderdiği su gibi.</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Buraya ne kadar ışık düşüyor?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 yüzeyin birim alanına düşen pay: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Çimin bir metrekaresinin ıslanması gibi.</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4367174"/>
          <a:ext cx="10911535" cy="914400"/>
        </p:xfrm>
        <a:graphic>
          <a:graphicData uri="http://schemas.openxmlformats.org/drawingml/2006/table">
            <a:tbl>
              <a:tblPr/>
              <a:tblGrid>
                <a:gridCol w="3637178"/>
                <a:gridCol w="1010327"/>
                <a:gridCol w="2424786"/>
                <a:gridCol w="383924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Simge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Birim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Neyin özelliği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akısı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Φ</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lümen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kandela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 bir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Aydınlanma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lüks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yüzeyin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lamba masanı aydınlatıyor ama odanın köşesi loş kalıyorsa hangi büyüklük değişmiştir?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Üç büyüklük, üç soru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lamba masanı aydınlatıyor ama odanın köşesi loş kalıyorsa hangi büyüklük değişmiştir?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aydınlanma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Lambanın akısı ve şiddeti her yer için aynıdır, çünkü ikisi de lambanın özelliğidir. Köşe hem daha uzakta olduğu hem de ışığı daha eğik aldığı için metrekaresine daha az ışık düşer.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Işık akısı (Φ)</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Işık şiddeti (I) ve katı açı</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Aydınlanma şiddeti (E)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Ters kare yasası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Eğik yüzeyler: cosθ çarpanı</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kaç lüks?</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Φ / ω</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4π · I</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Φ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I · cosθ / d²</a:t>
            </a:r>
            <a:endParaRPr lang="en-US" sz="1500" dirty="0"/>
          </a:p>
        </p:txBody>
      </p:sp>
      <p:sp>
        <p:nvSpPr>
          <p:cNvPr id="24" name="Text 22"/>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akısı kaynağın her yöne saçtığı toplam görünür ışıktır ve lümenle ölçülür. Watt çekilen elektrik gücüdür; LED aynı lümeni akkor ampulün altıda biri kadar wattla verir.</a:t>
            </a:r>
            <a:endParaRPr lang="en-US" sz="1850" dirty="0"/>
          </a:p>
        </p:txBody>
      </p:sp>
      <p:sp>
        <p:nvSpPr>
          <p:cNvPr id="9" name="Shape 7"/>
          <p:cNvSpPr/>
          <p:nvPr/>
        </p:nvSpPr>
        <p:spPr>
          <a:xfrm>
            <a:off x="640080" y="2593238"/>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verimlilik = Φ / P</a:t>
            </a:r>
            <a:endParaRPr lang="en-US" sz="1300" dirty="0"/>
          </a:p>
        </p:txBody>
      </p:sp>
      <p:sp>
        <p:nvSpPr>
          <p:cNvPr id="11" name="Shape 9"/>
          <p:cNvSpPr/>
          <p:nvPr/>
        </p:nvSpPr>
        <p:spPr>
          <a:xfrm>
            <a:off x="2984602" y="2593238"/>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birim: lm / W</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963038"/>
                <a:gridCol w="1605064"/>
                <a:gridCol w="1459149"/>
                <a:gridCol w="145914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Ampul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Çektiği güç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Işık akısı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Verimlilik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Akkor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13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Akkor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LED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LED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89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593238"/>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isik-siddeti-02.png">    </p:cNvPr>
          <p:cNvPicPr>
            <a:picLocks noChangeAspect="1"/>
          </p:cNvPicPr>
          <p:nvPr/>
        </p:nvPicPr>
        <p:blipFill>
          <a:blip r:embed="rId1"/>
          <a:stretch>
            <a:fillRect/>
          </a:stretch>
        </p:blipFill>
        <p:spPr>
          <a:xfrm>
            <a:off x="6601968" y="2776118"/>
            <a:ext cx="4766767" cy="1946382"/>
          </a:xfrm>
          <a:prstGeom prst="rect">
            <a:avLst/>
          </a:prstGeom>
        </p:spPr>
      </p:pic>
      <p:sp>
        <p:nvSpPr>
          <p:cNvPr id="16" name="Shape 12"/>
          <p:cNvSpPr/>
          <p:nvPr/>
        </p:nvSpPr>
        <p:spPr>
          <a:xfrm>
            <a:off x="6601968" y="4813941"/>
            <a:ext cx="4766767" cy="0"/>
          </a:xfrm>
          <a:prstGeom prst="line">
            <a:avLst/>
          </a:prstGeom>
          <a:noFill/>
          <a:ln w="9525">
            <a:solidFill>
              <a:srgbClr val="E1E5EE"/>
            </a:solidFill>
            <a:prstDash val="dash"/>
          </a:ln>
        </p:spPr>
      </p:sp>
      <p:sp>
        <p:nvSpPr>
          <p:cNvPr id="17" name="Text 13"/>
          <p:cNvSpPr txBox="1"/>
          <p:nvPr/>
        </p:nvSpPr>
        <p:spPr>
          <a:xfrm>
            <a:off x="6601968" y="4868805"/>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akısı,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yöne birden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yaydığı görünür ışığın toplamıdır; birimi lümendir. Ampul kutusundaki watt değeri kaynağın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harcadığı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elektrik gücünü söyler,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ürettiği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ışığı değil — bu yüzden 9 W'lık bir LED, 60 W'lık akkor ampulle aynı 800 lümeni verebilir.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şiddeti birim katı açıya düşen akıdır: I = Φ/ω, birimi kandela. Her yöne eşit yayan noktasal kaynakta toplam akı Φ = 4π·I'dır.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ω = A / r²</a:t>
            </a:r>
            <a:endParaRPr lang="en-US" sz="1300" dirty="0"/>
          </a:p>
        </p:txBody>
      </p:sp>
      <p:sp>
        <p:nvSpPr>
          <p:cNvPr id="11" name="Shape 9"/>
          <p:cNvSpPr/>
          <p:nvPr/>
        </p:nvSpPr>
        <p:spPr>
          <a:xfrm>
            <a:off x="2194560"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Φ / ω</a:t>
            </a:r>
            <a:endParaRPr lang="en-US" sz="1300" dirty="0"/>
          </a:p>
        </p:txBody>
      </p:sp>
      <p:sp>
        <p:nvSpPr>
          <p:cNvPr id="13" name="Shape 11"/>
          <p:cNvSpPr/>
          <p:nvPr/>
        </p:nvSpPr>
        <p:spPr>
          <a:xfrm>
            <a:off x="3650285" y="2294534"/>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650285"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cd = 1 lm / sr</a:t>
            </a:r>
            <a:endParaRPr lang="en-US" sz="1300" dirty="0"/>
          </a:p>
        </p:txBody>
      </p:sp>
      <p:sp>
        <p:nvSpPr>
          <p:cNvPr id="15" name="Text 13"/>
          <p:cNvSpPr txBox="1"/>
          <p:nvPr/>
        </p:nvSpPr>
        <p:spPr>
          <a:xfrm>
            <a:off x="640080" y="2952902"/>
            <a:ext cx="6309360" cy="274320"/>
          </a:xfrm>
          <a:prstGeom prst="rect">
            <a:avLst/>
          </a:prstGeom>
          <a:noFill/>
          <a:ln/>
        </p:spPr>
        <p:txBody>
          <a:bodyPr wrap="square" lIns="0" tIns="0" rIns="0" bIns="0" rtlCol="0" anchor="ctr"/>
          <a:lstStyle/>
          <a:p>
            <a:pPr indent="0" marL="0">
              <a:buNone/>
            </a:pPr>
            <a:r>
              <a:rPr lang="en-US" sz="1450" b="1" dirty="0">
                <a:solidFill>
                  <a:srgbClr val="2957D4"/>
                </a:solidFill>
                <a:latin typeface="Calibri" pitchFamily="34" charset="0"/>
                <a:ea typeface="Calibri" pitchFamily="34" charset="-122"/>
                <a:cs typeface="Calibri" pitchFamily="34" charset="-120"/>
              </a:rPr>
              <a:t>Toplam akı nereden geliyor?</a:t>
            </a:r>
            <a:endParaRPr lang="en-US" sz="1450" dirty="0"/>
          </a:p>
        </p:txBody>
      </p:sp>
      <p:sp>
        <p:nvSpPr>
          <p:cNvPr id="16" name="Text 14"/>
          <p:cNvSpPr txBox="1"/>
          <p:nvPr/>
        </p:nvSpPr>
        <p:spPr>
          <a:xfrm>
            <a:off x="640080" y="3263798"/>
            <a:ext cx="6309360" cy="19735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Tanımı çevir: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 = Φ/ω ise bir koninin içindeki 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Φ = I·ω</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Eşit yayan kaynak: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ışığı her yöne eşit yayan noktasal kaynakta I her doğrultuda aynıdır.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Bütün uzay:</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kaynağı saran kürenin tamamı için ω = 4πr²/r² = 4π sr.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toplam 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Φ(toplam) = 4π·I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olur; yani akı, şiddetin yaklaşık 12,6 katıdır.</a:t>
            </a:r>
            <a:endParaRPr lang="en-US" sz="1400" dirty="0"/>
          </a:p>
        </p:txBody>
      </p:sp>
      <p:sp>
        <p:nvSpPr>
          <p:cNvPr id="17" name="Shape 15"/>
          <p:cNvSpPr/>
          <p:nvPr/>
        </p:nvSpPr>
        <p:spPr>
          <a:xfrm>
            <a:off x="640080" y="5347106"/>
            <a:ext cx="1345997"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640080" y="534710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I · ω</a:t>
            </a:r>
            <a:endParaRPr lang="en-US" sz="1300" dirty="0"/>
          </a:p>
        </p:txBody>
      </p:sp>
      <p:sp>
        <p:nvSpPr>
          <p:cNvPr id="19" name="Shape 17"/>
          <p:cNvSpPr/>
          <p:nvPr/>
        </p:nvSpPr>
        <p:spPr>
          <a:xfrm>
            <a:off x="2095805" y="5347106"/>
            <a:ext cx="2234794" cy="457200"/>
          </a:xfrm>
          <a:prstGeom prst="roundRect">
            <a:avLst>
              <a:gd name="adj" fmla="val 24000"/>
            </a:avLst>
          </a:prstGeom>
          <a:solidFill>
            <a:srgbClr val="EEF2FC"/>
          </a:solidFill>
          <a:ln w="9525">
            <a:solidFill>
              <a:srgbClr val="CBD7F4"/>
            </a:solidFill>
            <a:prstDash val="solid"/>
          </a:ln>
        </p:spPr>
      </p:sp>
      <p:sp>
        <p:nvSpPr>
          <p:cNvPr id="20" name="Text 18"/>
          <p:cNvSpPr txBox="1"/>
          <p:nvPr/>
        </p:nvSpPr>
        <p:spPr>
          <a:xfrm>
            <a:off x="2095805" y="5347106"/>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Φ(toplam) = 4π · I</a:t>
            </a:r>
            <a:endParaRPr lang="en-US" sz="1300" dirty="0"/>
          </a:p>
        </p:txBody>
      </p:sp>
      <p:sp>
        <p:nvSpPr>
          <p:cNvPr id="21" name="Shape 19"/>
          <p:cNvSpPr/>
          <p:nvPr/>
        </p:nvSpPr>
        <p:spPr>
          <a:xfrm>
            <a:off x="7242048" y="2294534"/>
            <a:ext cx="4309567" cy="3464659"/>
          </a:xfrm>
          <a:prstGeom prst="roundRect">
            <a:avLst>
              <a:gd name="adj" fmla="val 42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2" name="Image 0" descr="/tmp/claude-1000/-opt-dersler/8a8328c3-841c-44fa-b76f-82572d338d3d/scratchpad/d5/sek/isik-siddeti-03.png">    </p:cNvPr>
          <p:cNvPicPr>
            <a:picLocks noChangeAspect="1"/>
          </p:cNvPicPr>
          <p:nvPr/>
        </p:nvPicPr>
        <p:blipFill>
          <a:blip r:embed="rId1"/>
          <a:stretch>
            <a:fillRect/>
          </a:stretch>
        </p:blipFill>
        <p:spPr>
          <a:xfrm>
            <a:off x="7424928" y="2477414"/>
            <a:ext cx="3943807" cy="1643174"/>
          </a:xfrm>
          <a:prstGeom prst="rect">
            <a:avLst/>
          </a:prstGeom>
        </p:spPr>
      </p:pic>
      <p:sp>
        <p:nvSpPr>
          <p:cNvPr id="23" name="Shape 20"/>
          <p:cNvSpPr/>
          <p:nvPr/>
        </p:nvSpPr>
        <p:spPr>
          <a:xfrm>
            <a:off x="7424928" y="4212028"/>
            <a:ext cx="3943807" cy="0"/>
          </a:xfrm>
          <a:prstGeom prst="line">
            <a:avLst/>
          </a:prstGeom>
          <a:noFill/>
          <a:ln w="9525">
            <a:solidFill>
              <a:srgbClr val="E1E5EE"/>
            </a:solidFill>
            <a:prstDash val="dash"/>
          </a:ln>
        </p:spPr>
      </p:sp>
      <p:sp>
        <p:nvSpPr>
          <p:cNvPr id="24" name="Text 21"/>
          <p:cNvSpPr txBox="1"/>
          <p:nvPr/>
        </p:nvSpPr>
        <p:spPr>
          <a:xfrm>
            <a:off x="7424928" y="4266892"/>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kaynak ışığını her yöne eşit dağıtmayabilir: el feneri ışığın çoğunu dar bir koniye sıkıştırır, mum her yöne aynı miktarda yayar.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Işık şiddeti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belli bir yöndeki akı yoğunluğudur — yani akının uzay açısına bölümü. Bu yüzden 100 lümenlik bir el feneri, 100 lümenlik bir mumdan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daha parlak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görünür: aynı akıyı çok daha küçük bir açıya sıkıştırmıştır.</a:t>
            </a:r>
            <a:endParaRPr lang="en-US" sz="1050" dirty="0"/>
          </a:p>
        </p:txBody>
      </p:sp>
      <p:sp>
        <p:nvSpPr>
          <p:cNvPr id="25" name="Shape 22"/>
          <p:cNvSpPr/>
          <p:nvPr/>
        </p:nvSpPr>
        <p:spPr>
          <a:xfrm>
            <a:off x="640080" y="6382512"/>
            <a:ext cx="128016" cy="128016"/>
          </a:xfrm>
          <a:prstGeom prst="roundRect">
            <a:avLst>
              <a:gd name="adj" fmla="val 28571"/>
            </a:avLst>
          </a:prstGeom>
          <a:solidFill>
            <a:srgbClr val="A9E648"/>
          </a:solidFill>
          <a:ln/>
        </p:spPr>
      </p:sp>
      <p:sp>
        <p:nvSpPr>
          <p:cNvPr id="26"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önündeki parlak yansıtıcıyı çıkarırsan ışık akısı mı, ışık şiddeti mi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Işık şiddeti (I) ve katı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önündeki parlak yansıtıcıyı çıkarırsan ışık akısı mı, ışık şiddeti mi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Akı hemen hemen aynı kalır; aynı LED aynı elektrikle aynı miktarda ışık üretir. Değişen, ileri doğrultudaki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şiddettir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yansıtıcı ışığı dar bir koniye topluyordu, o gidince ışık geniş bir açıya dağılır ve karşıdaki duvardaki leke hem büyür hem sönükleşir.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Aydınlanma, birim alana düşen akıdır: E = Φ/A, birimi lüks. Bir yüzeyi E düzeyinde aydınlatmak için Φ = E·A kadar akı gerekir.</a:t>
            </a:r>
            <a:endParaRPr lang="en-US" sz="1900" dirty="0"/>
          </a:p>
        </p:txBody>
      </p:sp>
      <p:sp>
        <p:nvSpPr>
          <p:cNvPr id="9" name="Text 7"/>
          <p:cNvSpPr txBox="1"/>
          <p:nvPr/>
        </p:nvSpPr>
        <p:spPr>
          <a:xfrm>
            <a:off x="640080" y="2294534"/>
            <a:ext cx="5486400" cy="13136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yüzeyin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birim alanına düşen ışık akısı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lüks (lx)</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'tür.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Kaynağın değil,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yüzeyin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özelliğidir.</a:t>
            </a:r>
            <a:endParaRPr lang="en-US" sz="1600" dirty="0"/>
          </a:p>
        </p:txBody>
      </p:sp>
      <p:sp>
        <p:nvSpPr>
          <p:cNvPr id="10" name="Shape 8"/>
          <p:cNvSpPr/>
          <p:nvPr/>
        </p:nvSpPr>
        <p:spPr>
          <a:xfrm>
            <a:off x="640080" y="3717950"/>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17950"/>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A</a:t>
            </a:r>
            <a:endParaRPr lang="en-US" sz="1300" dirty="0"/>
          </a:p>
        </p:txBody>
      </p:sp>
      <p:sp>
        <p:nvSpPr>
          <p:cNvPr id="12" name="Shape 10"/>
          <p:cNvSpPr/>
          <p:nvPr/>
        </p:nvSpPr>
        <p:spPr>
          <a:xfrm>
            <a:off x="2095805" y="3717950"/>
            <a:ext cx="2037283"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095805" y="3717950"/>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lx = 1 lm / m²</a:t>
            </a:r>
            <a:endParaRPr lang="en-US" sz="1300" dirty="0"/>
          </a:p>
        </p:txBody>
      </p:sp>
      <p:sp>
        <p:nvSpPr>
          <p:cNvPr id="14" name="Shape 12"/>
          <p:cNvSpPr/>
          <p:nvPr/>
        </p:nvSpPr>
        <p:spPr>
          <a:xfrm>
            <a:off x="4242816" y="3717950"/>
            <a:ext cx="1444752"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4242816" y="3717950"/>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d²</a:t>
            </a:r>
            <a:endParaRPr lang="en-US" sz="1300" dirty="0"/>
          </a:p>
        </p:txBody>
      </p:sp>
      <p:sp>
        <p:nvSpPr>
          <p:cNvPr id="16" name="Shape 14"/>
          <p:cNvSpPr/>
          <p:nvPr/>
        </p:nvSpPr>
        <p:spPr>
          <a:xfrm>
            <a:off x="6419088" y="2294534"/>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isik-siddeti-04.png">    </p:cNvPr>
          <p:cNvPicPr>
            <a:picLocks noChangeAspect="1"/>
          </p:cNvPicPr>
          <p:nvPr/>
        </p:nvPicPr>
        <p:blipFill>
          <a:blip r:embed="rId1"/>
          <a:stretch>
            <a:fillRect/>
          </a:stretch>
        </p:blipFill>
        <p:spPr>
          <a:xfrm>
            <a:off x="6601968" y="2477414"/>
            <a:ext cx="4766767" cy="1986058"/>
          </a:xfrm>
          <a:prstGeom prst="rect">
            <a:avLst/>
          </a:prstGeom>
        </p:spPr>
      </p:pic>
      <p:sp>
        <p:nvSpPr>
          <p:cNvPr id="18" name="Shape 15"/>
          <p:cNvSpPr/>
          <p:nvPr/>
        </p:nvSpPr>
        <p:spPr>
          <a:xfrm>
            <a:off x="6601968" y="4554912"/>
            <a:ext cx="4766767" cy="0"/>
          </a:xfrm>
          <a:prstGeom prst="line">
            <a:avLst/>
          </a:prstGeom>
          <a:noFill/>
          <a:ln w="9525">
            <a:solidFill>
              <a:srgbClr val="E1E5EE"/>
            </a:solidFill>
            <a:prstDash val="dash"/>
          </a:ln>
        </p:spPr>
      </p:sp>
      <p:sp>
        <p:nvSpPr>
          <p:cNvPr id="19" name="Text 16"/>
          <p:cNvSpPr txBox="1"/>
          <p:nvPr/>
        </p:nvSpPr>
        <p:spPr>
          <a:xfrm>
            <a:off x="6601968" y="460977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Aydınlanma, yüzeye düşen akının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birim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bölünmesidir. Sağdaki yüzeye tam olarak aynı miktarda ışık düşüyor — ama dört kat geniş olduğu için her metrekaresine dörtte biri düşer ve yüzey dört kat sönük görünür. Bu yüzden lüks, kaynağın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yüzeyin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özelliğidir: aynı ampul, masayı aydınlatır ama odanın köşesini aydınlatmaz.</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Noktasal kaynağın akısı 4πd²'lik küre yüzeyine yayıldığı için E = I/d²'dir. Uzaklık 2 kat artarsa aydınlanma 4'te bire, 3 kat artarsa 9'da bire iner.</a:t>
            </a:r>
            <a:endParaRPr lang="en-US" sz="1900" dirty="0"/>
          </a:p>
        </p:txBody>
      </p:sp>
      <p:sp>
        <p:nvSpPr>
          <p:cNvPr id="9" name="Text 7"/>
          <p:cNvSpPr txBox="1"/>
          <p:nvPr/>
        </p:nvSpPr>
        <p:spPr>
          <a:xfrm>
            <a:off x="640080" y="2294534"/>
            <a:ext cx="6675120"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Akı korunur: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kaynağın her yöne saçtığı akı Φ, yolda kaybolmadan kaynağı saran her küre yüzeyinden geçer.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 uzaklıktaki kürenin yüzeyi A = 4πd²'dir.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Aydınlanma: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 = Φ/A = Φ/(4πd²).</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Şiddetle yaz: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Φ = 4π·I koyunca 4π sadeleşir: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E = I/d²</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3799484"/>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9948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(4π·d²) = I / d²</a:t>
            </a:r>
            <a:endParaRPr lang="en-US" sz="1300" dirty="0"/>
          </a:p>
        </p:txBody>
      </p:sp>
      <p:sp>
        <p:nvSpPr>
          <p:cNvPr id="12" name="Shape 10"/>
          <p:cNvSpPr/>
          <p:nvPr/>
        </p:nvSpPr>
        <p:spPr>
          <a:xfrm>
            <a:off x="7607808" y="2294534"/>
            <a:ext cx="3943807" cy="3162932"/>
          </a:xfrm>
          <a:prstGeom prst="roundRect">
            <a:avLst>
              <a:gd name="adj" fmla="val 462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isik-siddeti-05.png">    </p:cNvPr>
          <p:cNvPicPr>
            <a:picLocks noChangeAspect="1"/>
          </p:cNvPicPr>
          <p:nvPr/>
        </p:nvPicPr>
        <p:blipFill>
          <a:blip r:embed="rId1"/>
          <a:stretch>
            <a:fillRect/>
          </a:stretch>
        </p:blipFill>
        <p:spPr>
          <a:xfrm>
            <a:off x="7790688" y="2477414"/>
            <a:ext cx="3578047" cy="1520670"/>
          </a:xfrm>
          <a:prstGeom prst="rect">
            <a:avLst/>
          </a:prstGeom>
        </p:spPr>
      </p:pic>
      <p:sp>
        <p:nvSpPr>
          <p:cNvPr id="14" name="Shape 11"/>
          <p:cNvSpPr/>
          <p:nvPr/>
        </p:nvSpPr>
        <p:spPr>
          <a:xfrm>
            <a:off x="7790688" y="4089524"/>
            <a:ext cx="3578047" cy="0"/>
          </a:xfrm>
          <a:prstGeom prst="line">
            <a:avLst/>
          </a:prstGeom>
          <a:noFill/>
          <a:ln w="9525">
            <a:solidFill>
              <a:srgbClr val="E1E5EE"/>
            </a:solidFill>
            <a:prstDash val="dash"/>
          </a:ln>
        </p:spPr>
      </p:sp>
      <p:sp>
        <p:nvSpPr>
          <p:cNvPr id="15" name="Text 12"/>
          <p:cNvSpPr txBox="1"/>
          <p:nvPr/>
        </p:nvSpPr>
        <p:spPr>
          <a:xfrm>
            <a:off x="7790688" y="4144388"/>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Kaynaktan çıkan aynı demet, uzaklık iki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üç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dokuz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alana yayılır. Aynı akı daha çok kareye bölündüğü için her kareye düşen pay ters kareyle azalır: E = I/d². Ampulden iki kat uzaklaşmak, masanı yarı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aydınlık yapar.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3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9'da bire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Aydınlanmayı 2 katına çıkarmak için uzaklığı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 kat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azaltmak gerekir.</a:t>
            </a:r>
            <a:endParaRPr lang="en-US" sz="1300" dirty="0"/>
          </a:p>
        </p:txBody>
      </p:sp>
      <p:sp>
        <p:nvSpPr>
          <p:cNvPr id="7" name="Shape 5"/>
          <p:cNvSpPr/>
          <p:nvPr/>
        </p:nvSpPr>
        <p:spPr>
          <a:xfrm>
            <a:off x="640080" y="246659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612898"/>
            <a:ext cx="45720" cy="530352"/>
          </a:xfrm>
          <a:prstGeom prst="rect">
            <a:avLst/>
          </a:prstGeom>
          <a:solidFill>
            <a:srgbClr val="A56209"/>
          </a:solidFill>
          <a:ln/>
        </p:spPr>
      </p:sp>
      <p:sp>
        <p:nvSpPr>
          <p:cNvPr id="9" name="Text 7"/>
          <p:cNvSpPr txBox="1"/>
          <p:nvPr/>
        </p:nvSpPr>
        <p:spPr>
          <a:xfrm>
            <a:off x="914400" y="257632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Yasa yalnızca noktasal kaynak içindir.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Uzun bir flüoresan tüpün ya da aydınlatılmış bir tavanın altında aydınlanma bu kadar hızlı azalmaz.</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4 kat büyük bir lambayı masadan 2 kat uzağa asarsan aydınlanma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Ters kare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4 kat büyük bir lambayı masadan 2 kat uzağa asarsan aydınlanma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Hiç değişmez. Şiddet 4 kat artınca aydınlanma 4 katına çıkar, uzaklık 2 kat artınca 2² = 4'te birine iner; iki etki birbirini götürür. E = I/d² bağıntısında 4I/(2d)² = I/d²'dir.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eğik gelince aynı akı daha geniş alana yayılır ve aydınlanma cosθ kadar azalır: E = I·cosθ/d². θ, yüzeyin normaliyle ışın arasındaki açıdır.</a:t>
            </a:r>
            <a:endParaRPr lang="en-US" sz="1900" dirty="0"/>
          </a:p>
        </p:txBody>
      </p:sp>
      <p:sp>
        <p:nvSpPr>
          <p:cNvPr id="9" name="Text 7"/>
          <p:cNvSpPr txBox="1"/>
          <p:nvPr/>
        </p:nvSpPr>
        <p:spPr>
          <a:xfrm>
            <a:off x="640080" y="2294534"/>
            <a:ext cx="7223760" cy="8229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Dik geliş:</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demet, kendi kesitine eşit A₀ alanlı bir bölgeyi aydınlatır.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Eğik geliş:</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yüzey θ kadar eğilince aynı demet A₀/cosθ'lık daha geniş bir alana yayılır.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Akı aynı: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E = Φ/A = (Φ/A₀)·cosθ, yani dik gelişteki değerin cosθ katı.</a:t>
            </a:r>
            <a:endParaRPr lang="en-US" sz="1200" dirty="0"/>
          </a:p>
        </p:txBody>
      </p:sp>
      <p:sp>
        <p:nvSpPr>
          <p:cNvPr id="10" name="Shape 8"/>
          <p:cNvSpPr/>
          <p:nvPr/>
        </p:nvSpPr>
        <p:spPr>
          <a:xfrm>
            <a:off x="640080" y="3227222"/>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22722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cosθ / d²</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849014"/>
          <a:ext cx="7223760" cy="914400"/>
        </p:xfrm>
        <a:graphic>
          <a:graphicData uri="http://schemas.openxmlformats.org/drawingml/2006/table">
            <a:tbl>
              <a:tblPr/>
              <a:tblGrid>
                <a:gridCol w="2617785"/>
                <a:gridCol w="981351"/>
                <a:gridCol w="362462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Geliş açısı θ</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cosθ</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Aydınlanmanın payı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 (teğet)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8156448" y="2294534"/>
            <a:ext cx="3395167" cy="3212470"/>
          </a:xfrm>
          <a:prstGeom prst="roundRect">
            <a:avLst>
              <a:gd name="adj" fmla="val 455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sik-siddeti-06.png">    </p:cNvPr>
          <p:cNvPicPr>
            <a:picLocks noChangeAspect="1"/>
          </p:cNvPicPr>
          <p:nvPr/>
        </p:nvPicPr>
        <p:blipFill>
          <a:blip r:embed="rId1"/>
          <a:stretch>
            <a:fillRect/>
          </a:stretch>
        </p:blipFill>
        <p:spPr>
          <a:xfrm>
            <a:off x="8339328" y="2477414"/>
            <a:ext cx="3029407" cy="1211763"/>
          </a:xfrm>
          <a:prstGeom prst="rect">
            <a:avLst/>
          </a:prstGeom>
        </p:spPr>
      </p:pic>
      <p:sp>
        <p:nvSpPr>
          <p:cNvPr id="15" name="Shape 11"/>
          <p:cNvSpPr/>
          <p:nvPr/>
        </p:nvSpPr>
        <p:spPr>
          <a:xfrm>
            <a:off x="8339328" y="3780617"/>
            <a:ext cx="3029407" cy="0"/>
          </a:xfrm>
          <a:prstGeom prst="line">
            <a:avLst/>
          </a:prstGeom>
          <a:noFill/>
          <a:ln w="9525">
            <a:solidFill>
              <a:srgbClr val="E1E5EE"/>
            </a:solidFill>
            <a:prstDash val="dash"/>
          </a:ln>
        </p:spPr>
      </p:sp>
      <p:sp>
        <p:nvSpPr>
          <p:cNvPr id="16" name="Text 12"/>
          <p:cNvSpPr txBox="1"/>
          <p:nvPr/>
        </p:nvSpPr>
        <p:spPr>
          <a:xfrm>
            <a:off x="8339328" y="3835481"/>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Yüzey eğildiğinde aynı ışık demeti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geniş bir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yayılır, bu yüzden her metrekareye düşen pay azalır. Kayıp tam olarak cosθ çarpanıyla verilir: E = I·cosθ/d². Kışın güneşin daha eğik gelmesi ve kutupların hep soğuk olması aynı geometrinin sonucudur — gelen enerji aynıdır,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yayıldığı alan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farklıdır.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Aydınlanma dolunaylı gecede 0,25 lx'ten doğrudan güneşte 100 000 lx'e kadar uzanır; okuma için 300–500 lx gerekir. Uzaklığın karesi, şiddetten çok daha belirleyicidir.</a:t>
            </a:r>
            <a:endParaRPr lang="en-US" sz="1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277466"/>
          <a:ext cx="6675120" cy="914400"/>
        </p:xfrm>
        <a:graphic>
          <a:graphicData uri="http://schemas.openxmlformats.org/drawingml/2006/table">
            <a:tbl>
              <a:tblPr/>
              <a:tblGrid>
                <a:gridCol w="4510216"/>
                <a:gridCol w="21649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Dolunaylı gece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0,25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Sokak aydınlatması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 20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Ev oturma odası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 200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Sınıf, ofis, okuma masası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 – 500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Bulutlu gün, dış ortam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7607808" y="2277466"/>
            <a:ext cx="3943807" cy="3222495"/>
          </a:xfrm>
          <a:prstGeom prst="roundRect">
            <a:avLst>
              <a:gd name="adj" fmla="val 45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isik-siddeti-07.png">    </p:cNvPr>
          <p:cNvPicPr>
            <a:picLocks noChangeAspect="1"/>
          </p:cNvPicPr>
          <p:nvPr/>
        </p:nvPicPr>
        <p:blipFill>
          <a:blip r:embed="rId1"/>
          <a:stretch>
            <a:fillRect/>
          </a:stretch>
        </p:blipFill>
        <p:spPr>
          <a:xfrm>
            <a:off x="7790688" y="2460346"/>
            <a:ext cx="3578047" cy="1580233"/>
          </a:xfrm>
          <a:prstGeom prst="rect">
            <a:avLst/>
          </a:prstGeom>
        </p:spPr>
      </p:pic>
      <p:sp>
        <p:nvSpPr>
          <p:cNvPr id="12" name="Shape 8"/>
          <p:cNvSpPr/>
          <p:nvPr/>
        </p:nvSpPr>
        <p:spPr>
          <a:xfrm>
            <a:off x="7790688" y="4132018"/>
            <a:ext cx="3578047" cy="0"/>
          </a:xfrm>
          <a:prstGeom prst="line">
            <a:avLst/>
          </a:prstGeom>
          <a:noFill/>
          <a:ln w="9525">
            <a:solidFill>
              <a:srgbClr val="E1E5EE"/>
            </a:solidFill>
            <a:prstDash val="dash"/>
          </a:ln>
        </p:spPr>
      </p:sp>
      <p:sp>
        <p:nvSpPr>
          <p:cNvPr id="13" name="Text 9"/>
          <p:cNvSpPr txBox="1"/>
          <p:nvPr/>
        </p:nvSpPr>
        <p:spPr>
          <a:xfrm>
            <a:off x="7790688" y="4186882"/>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Ölçek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logaritmiktir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her adım on katı gösterir. Dolunaylı bir gece ile doğrudan güneş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yüz bin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 ama gözümüz bu farkı öyle algılamaz — göz bebeği ve retina kendini uyarlar. Bu yüzden "yeterince aydınlık" demek yerine ölçmek gerekir: bir okuma masası için hedef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300–500 lüks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4020039"/>
                <a:gridCol w="2010020"/>
                <a:gridCol w="2010020"/>
                <a:gridCol w="28714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Sahne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Şiddet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Uzaklık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Masa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Tavan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64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Sokak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56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Eğik yüzey 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Fotometre: iki kaynağı karşılaştırmak</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Noktasal kaynak modelinin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Aydınlatma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isik-sidd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tasarımı bir hesap işidir.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binlerce kat</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büyüktür.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Fotometrede iki yüzün eşit aydınlandığı noktada I₁/x² = I₂/(L−x)²'dir. Uzaklıkların oranı şiddetlerin karekökünün oranıdır; denge noktası zayıf lambaya yakındır.</a:t>
            </a:r>
            <a:endParaRPr lang="en-US" sz="1900" dirty="0"/>
          </a:p>
        </p:txBody>
      </p:sp>
      <p:sp>
        <p:nvSpPr>
          <p:cNvPr id="9" name="Text 7"/>
          <p:cNvSpPr txBox="1"/>
          <p:nvPr/>
        </p:nvSpPr>
        <p:spPr>
          <a:xfrm>
            <a:off x="640080" y="2294534"/>
            <a:ext cx="10911535" cy="144780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Eşitlik: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iki yüzün aydınlanması eşit: I₁/x² = I₂/(L−x)².</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√I₁/x = √I₂/(L−x).</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x/(L−x) = √(I₁/I₂); uzaklıkların oranı şiddetlerin karekökünün oranıdır.</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Ölçüm:</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I₁ biliniyorsa bilinmeyen şiddet I₂ = I₁·((L−x)/x)² ile bulunur.</a:t>
            </a:r>
            <a:endParaRPr lang="en-US" sz="1700" dirty="0"/>
          </a:p>
        </p:txBody>
      </p:sp>
      <p:sp>
        <p:nvSpPr>
          <p:cNvPr id="10" name="Shape 8"/>
          <p:cNvSpPr/>
          <p:nvPr/>
        </p:nvSpPr>
        <p:spPr>
          <a:xfrm>
            <a:off x="640080" y="3852062"/>
            <a:ext cx="2728570"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852062"/>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x² = I₂ / (L − x)²</a:t>
            </a:r>
            <a:endParaRPr lang="en-US" sz="1300" dirty="0"/>
          </a:p>
        </p:txBody>
      </p:sp>
      <p:sp>
        <p:nvSpPr>
          <p:cNvPr id="12" name="Shape 10"/>
          <p:cNvSpPr/>
          <p:nvPr/>
        </p:nvSpPr>
        <p:spPr>
          <a:xfrm>
            <a:off x="3478378" y="3852062"/>
            <a:ext cx="2827325"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478378" y="3852062"/>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(L − x) = √(I₁ / I₂)</a:t>
            </a:r>
            <a:endParaRPr lang="en-US" sz="13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Fotometrede denge noktası neden her zaman zayıf lambaya daha yakındır?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Fotometre: iki kaynağı karşılaştırmak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Fotometrede denge noktası neden her zaman zayıf lambaya daha yakındır?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Aydınlanma şiddetle doğru, uzaklığın karesiyle ters orantılıdır. Zayıf lamba, eksik şiddetini ancak ekrana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yakın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durarak telafi edebilir. Şiddetler eşitse denge tam ortadadır; birinin şiddeti 4 kat büyükse ekran ondan 2 kat uzakta dengeye gelir.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Ters kare yasası noktasal, her yöne eşit yayan kaynak içindir; büyük ve yönlendirilmiş kaynaklarda ve yansımalı ortamlarda sapma olur. Birden çok kaynağın aydınlanmaları toplanır.</a:t>
            </a:r>
            <a:endParaRPr lang="en-US" sz="1850" dirty="0"/>
          </a:p>
        </p:txBody>
      </p:sp>
      <p:sp>
        <p:nvSpPr>
          <p:cNvPr id="9" name="Text 7"/>
          <p:cNvSpPr txBox="1"/>
          <p:nvPr/>
        </p:nvSpPr>
        <p:spPr>
          <a:xfrm>
            <a:off x="640080" y="2593238"/>
            <a:ext cx="10911535"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Kaynak büyükse: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uzun flüoresan tüpün yakınında E yaklaşık 1/d ile, geniş aydınlık tavanın altında neredeyse hiç azalmaz.</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Beş kat kuralı: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uzaklık kaynağın boyunun en az beş katıysa ters kare yasasının hatası yaklaşık %1'dir; daha yakında hata hızla büyür.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Işık her yöne eşit gitmeyebilir: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spot lamba, far ya da el feneri ışığı bir koniye toplar; I yöne bağlıdır ve Φ = 4π·I kullanılamaz.</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Yansıyan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odada duvar ve tavandan yansıyan ışık aydınlanmayı artırır; beyaz duvarlı oda aynı lambayla daha aydınlık olur.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Birden çok kaynak: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 noktadaki aydınlanmalar toplanır: E = E₁ + E₂. Her lamba kendi uzaklığı ve açısıyla ayrı hesaplanır.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Lümen gözle tartılır: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göz sarı-yeşile en duyarlıdır; 1 W'lık bu ışık yaklaşık 683 lm eder, kızılötesi ise hiç lümen vermez.</a:t>
            </a:r>
            <a:endParaRPr lang="en-US" sz="1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Aydınlatma tasarımı E = I·cosθ/d² ve Φ = E·A bağıntılarını tersine kullanır: istenen lüksten kaç lümen, ne yükseklik ve hangi açı gerektiği bulunur. Amaç yeterli ve eşit aydınlanmadır.</a:t>
            </a:r>
            <a:endParaRPr lang="en-US" sz="1850" dirty="0"/>
          </a:p>
        </p:txBody>
      </p:sp>
      <p:sp>
        <p:nvSpPr>
          <p:cNvPr id="9" name="Text 7"/>
          <p:cNvSpPr txBox="1"/>
          <p:nvPr/>
        </p:nvSpPr>
        <p:spPr>
          <a:xfrm>
            <a:off x="640080" y="2593238"/>
            <a:ext cx="10911535"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Stadyumlar: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televizyon yayını yapılan maçlarda sahadaki aydınlanma çoğunlukla bin lüksün üzerindedir; çok sayıda projektör yüzünden oyuncuların birkaç gölgesi olur.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Sınıf ve oda tasarımı: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Φ = E·A ile gereken toplam lümen bulunur; 16 m²'lik odayı 500 lx'e getirmek için 8000 lm, yani 800 lümenlik 10 ampul gerekir.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Sokak aydınlatması: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direk yüksekliği ve aralığı, direk dibi ile iki direğin ortası arasındaki farkı küçültecek biçimde seçilir; hedef 10–20 lx civarıdır.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Telefon ekranı: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ön yüzdeki ışık algılayıcısı ortamın aydınlanmasını ölçer; ekran güneşte parlaklaşır, karanlık odada kısılır.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Güneş panelleri: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öğle Güneşine olabildiğince dik bakacak eğimle kurulur; cosθ küçüldükçe metrekare başına düşen enerji azalır.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Fotoğraf flaşı: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kat uzaktaki bir konuyu aynı parlaklıkta çekmek için dört kat ışık gerekir; ters kare yasası fotoğrafçının günlük hesabıdır.</a:t>
            </a:r>
            <a:endParaRPr lang="en-US" sz="1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ışık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Aydınlanma ve uzaklık</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Toplam akı ve katı açı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Eğik yüzey</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Okuma lambası ne kadar yükseğe asılmalı?</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Sınıf için kaç armatür?</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Fotometre</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Masanın kenarındaki aydınlanma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İki sokak lambasının arasında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şiddeti 200 cd olan noktasal bir lamba, masanın 2 m üzerindedir. (a) Masadaki aydınlanma nedir? (b) Lamba 4 m'ye çıkarılırsa ne olur?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E = I/d² = 200 / 2² = 200/4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lx</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d 2 katına çıktı → E dörtte bire iner</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200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sonucu doğrudan 50/4 = 12,5 lx olarak da bulabiliriz.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Her yöne eşit ışık yayan bir kaynağın ışık şiddeti 100 cd'dır. (a) Toplam akısı nedir? (b) 0,5 sr'lık bir koniye gönderdiği akı nedir?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Φ = 4π·I = 4 · 3,14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1256 lm</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Φ = I·ω = 100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lm</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Katı açı hatırlatması: ω = A/r²; tüm küre için ω = 4πr²/r² = 4π sr.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500 cd'lık lamba, yüzeyin 2 m üzerindedir. Yüzey 60° eğildiğinde aydınlanma nasıl değişir?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E = 500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Eğik durumda: E = I·cos60° / d² = 500 · 0,5 / 4</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62,5 lx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yarıya indi.</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cos90° = 0 olur, yüzey hiç aydınlanmazdı.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Rahat okumak için kitabın üzerinde en az 400 lx gerekiyor. Işık şiddeti 100 cd olan bir lamba kitabın tam üstüne en fazla kaç metre yükseğe konabilir? Lamba 1 m'ye çıkarılırsa aydınlanma kaç lüks olur?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I/d² → d² = I/E = 100/400 = 0,25 m²</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√0,25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0,5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lamba bundan yükseğe konmamalı.</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1 m'de: E = 100/1²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lx</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Uzaklık 2 katına çıktı, aydınlanma 4'te bire indi: 400/4 = 100 lx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Sınıf için kaç armatür?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 m × 6 m boyutlarındaki bir sınıfın zemininde ortalama 500 lx aydınlanma isteniyor. Her armatür 3000 lm akı veriyor. Işığın tamamının zemine ulaştığı varsayılırsa kaç armatür gerekir?</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1036320"/>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Gerçekte ışığın bir kısmı duvarlarda ve tavanda soğurulur; tasarımcılar bu yüzden hesaplanan sayının üzerine pay ekler. Sayfanın 04 numaralı bölümünde aynı hesabı farklı odalar için deneyebilirsin.</a:t>
            </a:r>
            <a:endParaRPr lang="en-US" sz="1150" dirty="0"/>
          </a:p>
        </p:txBody>
      </p:sp>
      <p:sp>
        <p:nvSpPr>
          <p:cNvPr id="13" name="Shape 11"/>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39696"/>
            <a:ext cx="384048" cy="384048"/>
          </a:xfrm>
          <a:prstGeom prst="roundRect">
            <a:avLst>
              <a:gd name="adj" fmla="val 26000"/>
            </a:avLst>
          </a:prstGeom>
          <a:solidFill>
            <a:srgbClr val="A56209"/>
          </a:solidFill>
          <a:ln/>
        </p:spPr>
      </p:sp>
      <p:sp>
        <p:nvSpPr>
          <p:cNvPr id="15" name="Text 13"/>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Alan: A = 8 · 6 = 48 m²</a:t>
            </a:r>
            <a:endParaRPr lang="en-US" sz="1600" dirty="0"/>
          </a:p>
        </p:txBody>
      </p:sp>
      <p:sp>
        <p:nvSpPr>
          <p:cNvPr id="17" name="Shape 15"/>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Gereken akı: Φ = E·A = 500 · 48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24 000 lm</a:t>
            </a:r>
            <a:endParaRPr lang="en-US" sz="1600" dirty="0"/>
          </a:p>
        </p:txBody>
      </p:sp>
      <p:sp>
        <p:nvSpPr>
          <p:cNvPr id="21" name="Shape 19"/>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48656"/>
            <a:ext cx="384048" cy="384048"/>
          </a:xfrm>
          <a:prstGeom prst="roundRect">
            <a:avLst>
              <a:gd name="adj" fmla="val 26000"/>
            </a:avLst>
          </a:prstGeom>
          <a:solidFill>
            <a:srgbClr val="A56209"/>
          </a:solidFill>
          <a:ln/>
        </p:spPr>
      </p:sp>
      <p:sp>
        <p:nvSpPr>
          <p:cNvPr id="23" name="Text 21"/>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Armatür sayısı: 24 000 / 3000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armatür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3 m olan iki lambadan biri 400 cd, diğeri 100 cd'dır. İkisinin ortasındaki bir ekranın iki yüzü nerede eşit aydınlanır?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Eşitlik: I₁/x² = I₂/(L−x)²</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Karekök: √I₁/x = √I₂/(L−x) → 20/x = 10/(3−x)</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60 − 20x = 10x → x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(400 cd'lık lambadan)</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400/4 = 100 lx ve 100/1 = 100 lx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şiddeti 64 cd olan bir lamba masanın 0,8 m üzerindedir. (a) Lambanın tam altındaki noktada, (b) bu noktadan 0,6 m yana kaymış masa kenarında aydınlanma kaç lükstür?</a:t>
            </a:r>
            <a:endParaRPr lang="en-US" sz="1600" dirty="0"/>
          </a:p>
        </p:txBody>
      </p:sp>
      <p:sp>
        <p:nvSpPr>
          <p:cNvPr id="11" name="Shape 9"/>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86234"/>
            <a:ext cx="384048" cy="384048"/>
          </a:xfrm>
          <a:prstGeom prst="roundRect">
            <a:avLst>
              <a:gd name="adj" fmla="val 26000"/>
            </a:avLst>
          </a:prstGeom>
          <a:solidFill>
            <a:srgbClr val="A56209"/>
          </a:solidFill>
          <a:ln/>
        </p:spPr>
      </p:sp>
      <p:sp>
        <p:nvSpPr>
          <p:cNvPr id="13" name="Text 11"/>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Tam altta ışık dik gelir: E = 64 / 0,8² = 64 / 0,64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lx</a:t>
            </a:r>
            <a:endParaRPr lang="en-US" sz="1600" dirty="0"/>
          </a:p>
        </p:txBody>
      </p:sp>
      <p:sp>
        <p:nvSpPr>
          <p:cNvPr id="15" name="Shape 13"/>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90205"/>
            <a:ext cx="384048" cy="384048"/>
          </a:xfrm>
          <a:prstGeom prst="roundRect">
            <a:avLst>
              <a:gd name="adj" fmla="val 26000"/>
            </a:avLst>
          </a:prstGeom>
          <a:solidFill>
            <a:srgbClr val="A56209"/>
          </a:solidFill>
          <a:ln/>
        </p:spPr>
      </p:sp>
      <p:sp>
        <p:nvSpPr>
          <p:cNvPr id="17" name="Text 15"/>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Lambaya uzaklık: d = √(0,8² + 0,6²) = √1 = 1 m</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Geliş açısı: cosθ = 0,8 / 1 = 0,8 (ışın ile masanın normali arasındaki açı)</a:t>
            </a:r>
            <a:endParaRPr lang="en-US" sz="1600" dirty="0"/>
          </a:p>
        </p:txBody>
      </p:sp>
      <p:sp>
        <p:nvSpPr>
          <p:cNvPr id="23" name="Shape 21"/>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98147"/>
            <a:ext cx="384048" cy="384048"/>
          </a:xfrm>
          <a:prstGeom prst="roundRect">
            <a:avLst>
              <a:gd name="adj" fmla="val 26000"/>
            </a:avLst>
          </a:prstGeom>
          <a:solidFill>
            <a:srgbClr val="A56209"/>
          </a:solidFill>
          <a:ln/>
        </p:spPr>
      </p:sp>
      <p:sp>
        <p:nvSpPr>
          <p:cNvPr id="25" name="Text 23"/>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I·cosθ / d² = 64 · 0,8 / 1²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51,2 lx</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Yalnızca 0,6 m yana kaymak aydınlanmayı neredeyse yarıya indirdi: uzaklık ve eğim birlikte etkiler.</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şiddetleri 500'er cd olan iki sokak lambası 3 m yükseklikte ve aralarında 8 m olacak biçimde dikilmiştir. (a) İki direğin tam ortasındaki noktada, (b) bir direğin dibinde yerdeki aydınlanmayı bulunuz.</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Kaldırımdaki ışık havuzları ve aralarındaki sönük bölgeler bu hesabın sonucudur. Direkleri sıklaştırmak ya da yükseltmek iki değeri birbirine yaklaştırır.</a:t>
            </a:r>
            <a:endParaRPr lang="en-US" sz="1150" dirty="0"/>
          </a:p>
        </p:txBody>
      </p:sp>
      <p:sp>
        <p:nvSpPr>
          <p:cNvPr id="13" name="Shape 11"/>
          <p:cNvSpPr/>
          <p:nvPr/>
        </p:nvSpPr>
        <p:spPr>
          <a:xfrm>
            <a:off x="5212080" y="1627632"/>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52240"/>
            <a:ext cx="384048" cy="384048"/>
          </a:xfrm>
          <a:prstGeom prst="roundRect">
            <a:avLst>
              <a:gd name="adj" fmla="val 26000"/>
            </a:avLst>
          </a:prstGeom>
          <a:solidFill>
            <a:srgbClr val="A56209"/>
          </a:solidFill>
          <a:ln/>
        </p:spPr>
      </p:sp>
      <p:sp>
        <p:nvSpPr>
          <p:cNvPr id="15" name="Text 13"/>
          <p:cNvSpPr txBox="1"/>
          <p:nvPr/>
        </p:nvSpPr>
        <p:spPr>
          <a:xfrm>
            <a:off x="5449824" y="18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23535"/>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Orta noktanın her lambaya uzaklığı: d = √(3² + 4²) = 5 m; cosθ = 3/5 = 0,6</a:t>
            </a:r>
            <a:endParaRPr lang="en-US" sz="1400" dirty="0"/>
          </a:p>
        </p:txBody>
      </p:sp>
      <p:sp>
        <p:nvSpPr>
          <p:cNvPr id="17" name="Shape 15"/>
          <p:cNvSpPr/>
          <p:nvPr/>
        </p:nvSpPr>
        <p:spPr>
          <a:xfrm>
            <a:off x="5212080" y="2607199"/>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31807"/>
            <a:ext cx="384048" cy="384048"/>
          </a:xfrm>
          <a:prstGeom prst="roundRect">
            <a:avLst>
              <a:gd name="adj" fmla="val 26000"/>
            </a:avLst>
          </a:prstGeom>
          <a:solidFill>
            <a:srgbClr val="A56209"/>
          </a:solidFill>
          <a:ln/>
        </p:spPr>
      </p:sp>
      <p:sp>
        <p:nvSpPr>
          <p:cNvPr id="19" name="Text 17"/>
          <p:cNvSpPr txBox="1"/>
          <p:nvPr/>
        </p:nvSpPr>
        <p:spPr>
          <a:xfrm>
            <a:off x="5449824" y="283180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62063"/>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Her lambadan: E = 500 · 0,6 / 5² = 12 lx → iki lamba birlikte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24 lx</a:t>
            </a:r>
            <a:endParaRPr lang="en-US" sz="1400" dirty="0"/>
          </a:p>
        </p:txBody>
      </p:sp>
      <p:sp>
        <p:nvSpPr>
          <p:cNvPr id="21" name="Shape 19"/>
          <p:cNvSpPr/>
          <p:nvPr/>
        </p:nvSpPr>
        <p:spPr>
          <a:xfrm>
            <a:off x="5212080" y="3586766"/>
            <a:ext cx="6339535" cy="598868"/>
          </a:xfrm>
          <a:prstGeom prst="roundRect">
            <a:avLst>
              <a:gd name="adj" fmla="val 2443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41630"/>
            <a:ext cx="5379415" cy="489140"/>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Kendi lambasından (dik geliş): E = 500 / 3² ≈ 55,6 lx</a:t>
            </a:r>
            <a:endParaRPr lang="en-US" sz="1400" dirty="0"/>
          </a:p>
        </p:txBody>
      </p:sp>
      <p:sp>
        <p:nvSpPr>
          <p:cNvPr id="25" name="Shape 23"/>
          <p:cNvSpPr/>
          <p:nvPr/>
        </p:nvSpPr>
        <p:spPr>
          <a:xfrm>
            <a:off x="5212080" y="4331938"/>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556545"/>
            <a:ext cx="384048" cy="384048"/>
          </a:xfrm>
          <a:prstGeom prst="roundRect">
            <a:avLst>
              <a:gd name="adj" fmla="val 26000"/>
            </a:avLst>
          </a:prstGeom>
          <a:solidFill>
            <a:srgbClr val="A56209"/>
          </a:solidFill>
          <a:ln/>
        </p:spPr>
      </p:sp>
      <p:sp>
        <p:nvSpPr>
          <p:cNvPr id="27" name="Text 25"/>
          <p:cNvSpPr txBox="1"/>
          <p:nvPr/>
        </p:nvSpPr>
        <p:spPr>
          <a:xfrm>
            <a:off x="5449824" y="45565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386802"/>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Öteki lambaya uzaklık √(3² + 8²) = √73 ≈ 8,54 m; cosθ ≈ 0,35 → E ≈ 500 · 0,35 / 73 ≈ 2,4 lx</a:t>
            </a:r>
            <a:endParaRPr lang="en-US" sz="1400" dirty="0"/>
          </a:p>
        </p:txBody>
      </p:sp>
      <p:sp>
        <p:nvSpPr>
          <p:cNvPr id="29" name="Shape 27"/>
          <p:cNvSpPr/>
          <p:nvPr/>
        </p:nvSpPr>
        <p:spPr>
          <a:xfrm>
            <a:off x="5212080" y="5311505"/>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36112"/>
            <a:ext cx="384048" cy="384048"/>
          </a:xfrm>
          <a:prstGeom prst="roundRect">
            <a:avLst>
              <a:gd name="adj" fmla="val 26000"/>
            </a:avLst>
          </a:prstGeom>
          <a:solidFill>
            <a:srgbClr val="A56209"/>
          </a:solidFill>
          <a:ln/>
        </p:spPr>
      </p:sp>
      <p:sp>
        <p:nvSpPr>
          <p:cNvPr id="31" name="Text 29"/>
          <p:cNvSpPr txBox="1"/>
          <p:nvPr/>
        </p:nvSpPr>
        <p:spPr>
          <a:xfrm>
            <a:off x="5449824" y="5536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366369"/>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Toplam ≈ 55,6 + 2,4 ≈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58 lx</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direk dibi, orta noktanın yaklaşık 2,4 katı aydınlık.</a:t>
            </a:r>
            <a:endParaRPr lang="en-US" sz="14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Watt ile lümeni karıştırmak.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Watt çekilen elektrik gücü, lümen yayılan ışık akısıdır. LED ampul aynı lümeni çok daha az wattla verir.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Aydınlanmayı kaynağın özelliği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Aydınlanma yüzeyin özelliğidir; aynı lamba, farklı uzaklıktaki yüzeyleri farklı aydınlatır.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Uzaklıkla ters orantı kurmak.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Bağıntı 1/d değil </a:t>
            </a:r>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1/d²</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cosθ'yı unutmak.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Yüzey eğikse aydınlanma cosθ kadar azalır.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θ'yı ışınla yüzey arasındaki açı sanmak.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θ, ışın ile yüzeyin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normali</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arasındadır; ışın yüzeyle 30° yapıyorsa θ = 60°'dir.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Toplam akıyı I'ya eşitlemek.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Noktasal kaynakta Φ = 4π·I'dır; aradaki çarpan yaklaşık 12,6'dır.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Fotometrede uzaklık oranını şiddet oranına eşitlemek.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Uzaklıkların oranı şiddetlerin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karekökünün</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oranıdır: 4 kat şiddet, 2 kat uzaklık demektir.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Ters kare yasasını her kaynağa uygulamak.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Yasa yalnızca noktasal kaynaklar için geçerlidir.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Şiddet </a:t>
            </a:r>
            <a:pPr indent="0" marL="0">
              <a:buNone/>
            </a:pPr>
            <a:r>
              <a:rPr lang="en-US" sz="1500" b="1" dirty="0">
                <a:solidFill>
                  <a:srgbClr val="FFFFFF"/>
                </a:solidFill>
                <a:latin typeface="Calibri" pitchFamily="34" charset="0"/>
                <a:ea typeface="Calibri" pitchFamily="34" charset="-122"/>
                <a:cs typeface="Calibri" pitchFamily="34" charset="-120"/>
              </a:rPr>
              <a:t>kandela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lümen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Aydınlanma </a:t>
            </a:r>
            <a:pPr indent="0" marL="0">
              <a:buNone/>
            </a:pPr>
            <a:r>
              <a:rPr lang="en-US" sz="1500" b="1" dirty="0">
                <a:solidFill>
                  <a:srgbClr val="FFFFFF"/>
                </a:solidFill>
                <a:latin typeface="Calibri" pitchFamily="34" charset="0"/>
                <a:ea typeface="Calibri" pitchFamily="34" charset="-122"/>
                <a:cs typeface="Calibri" pitchFamily="34" charset="-120"/>
              </a:rPr>
              <a:t>lüks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 ile </a:t>
            </a:r>
            <a:pPr indent="0" marL="0">
              <a:buNone/>
            </a:pPr>
            <a:r>
              <a:rPr lang="en-US" sz="1500" b="1" dirty="0">
                <a:solidFill>
                  <a:srgbClr val="FFFFFF"/>
                </a:solidFill>
                <a:latin typeface="Calibri" pitchFamily="34" charset="0"/>
                <a:ea typeface="Calibri" pitchFamily="34" charset="-122"/>
                <a:cs typeface="Calibri" pitchFamily="34" charset="-120"/>
              </a:rPr>
              <a:t>1/d²</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Φ / ω</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4π · I</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Φ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I · cosθ / d²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dersler.perinet.org/isik-siddeti.html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Düzlem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Işık şiddeti, ışık akısı ve aydınlanma — Dersler</dc:title>
  <dc:subject>Fizik · Optik</dc:subject>
  <dc:creator>Dersler</dc:creator>
  <cp:lastModifiedBy>Dersler</cp:lastModifiedBy>
  <cp:revision>1</cp:revision>
  <dcterms:created xsi:type="dcterms:W3CDTF">2026-09-30T06:40:33Z</dcterms:created>
  <dcterms:modified xsi:type="dcterms:W3CDTF">2026-09-30T06:40:33Z</dcterms:modified>
</cp:coreProperties>
</file>