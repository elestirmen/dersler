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I = 400 cd için aydınlanma – uzaklık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Sheet1!$A$2:$A$77</c:f>
              <c:numCache>
                <c:formatCode>General</c:formatCode>
                <c:ptCount val="76"/>
                <c:pt idx="0">
                  <c:v>0.5</c:v>
                </c:pt>
                <c:pt idx="1">
                  <c:v>0.6</c:v>
                </c:pt>
                <c:pt idx="2">
                  <c:v>0.7</c:v>
                </c:pt>
                <c:pt idx="3">
                  <c:v>0.8</c:v>
                </c:pt>
                <c:pt idx="4">
                  <c:v>0.9</c:v>
                </c:pt>
                <c:pt idx="5">
                  <c:v>1</c:v>
                </c:pt>
                <c:pt idx="6">
                  <c:v>1.1</c:v>
                </c:pt>
                <c:pt idx="7">
                  <c:v>1.2</c:v>
                </c:pt>
                <c:pt idx="8">
                  <c:v>1.3</c:v>
                </c:pt>
                <c:pt idx="9">
                  <c:v>1.4</c:v>
                </c:pt>
                <c:pt idx="10">
                  <c:v>1.5</c:v>
                </c:pt>
                <c:pt idx="11">
                  <c:v>1.6</c:v>
                </c:pt>
                <c:pt idx="12">
                  <c:v>1.7</c:v>
                </c:pt>
                <c:pt idx="13">
                  <c:v>1.8</c:v>
                </c:pt>
                <c:pt idx="14">
                  <c:v>1.9</c:v>
                </c:pt>
                <c:pt idx="15">
                  <c:v>2</c:v>
                </c:pt>
                <c:pt idx="16">
                  <c:v>2.1</c:v>
                </c:pt>
                <c:pt idx="17">
                  <c:v>2.2</c:v>
                </c:pt>
                <c:pt idx="18">
                  <c:v>2.3</c:v>
                </c:pt>
                <c:pt idx="19">
                  <c:v>2.4</c:v>
                </c:pt>
                <c:pt idx="20">
                  <c:v>2.5</c:v>
                </c:pt>
                <c:pt idx="21">
                  <c:v>2.6</c:v>
                </c:pt>
                <c:pt idx="22">
                  <c:v>2.7</c:v>
                </c:pt>
                <c:pt idx="23">
                  <c:v>2.8</c:v>
                </c:pt>
                <c:pt idx="24">
                  <c:v>2.9</c:v>
                </c:pt>
                <c:pt idx="25">
                  <c:v>3</c:v>
                </c:pt>
                <c:pt idx="26">
                  <c:v>3.1</c:v>
                </c:pt>
                <c:pt idx="27">
                  <c:v>3.2</c:v>
                </c:pt>
                <c:pt idx="28">
                  <c:v>3.3</c:v>
                </c:pt>
                <c:pt idx="29">
                  <c:v>3.4</c:v>
                </c:pt>
                <c:pt idx="30">
                  <c:v>3.5</c:v>
                </c:pt>
                <c:pt idx="31">
                  <c:v>3.6</c:v>
                </c:pt>
                <c:pt idx="32">
                  <c:v>3.7</c:v>
                </c:pt>
                <c:pt idx="33">
                  <c:v>3.8</c:v>
                </c:pt>
                <c:pt idx="34">
                  <c:v>3.9</c:v>
                </c:pt>
                <c:pt idx="35">
                  <c:v>4</c:v>
                </c:pt>
                <c:pt idx="36">
                  <c:v>4.1</c:v>
                </c:pt>
                <c:pt idx="37">
                  <c:v>4.2</c:v>
                </c:pt>
                <c:pt idx="38">
                  <c:v>4.3</c:v>
                </c:pt>
                <c:pt idx="39">
                  <c:v>4.4</c:v>
                </c:pt>
                <c:pt idx="40">
                  <c:v>4.5</c:v>
                </c:pt>
                <c:pt idx="41">
                  <c:v>4.6</c:v>
                </c:pt>
                <c:pt idx="42">
                  <c:v>4.7</c:v>
                </c:pt>
                <c:pt idx="43">
                  <c:v>4.8</c:v>
                </c:pt>
                <c:pt idx="44">
                  <c:v>4.9</c:v>
                </c:pt>
                <c:pt idx="45">
                  <c:v>5</c:v>
                </c:pt>
                <c:pt idx="46">
                  <c:v>5.1</c:v>
                </c:pt>
                <c:pt idx="47">
                  <c:v>5.2</c:v>
                </c:pt>
                <c:pt idx="48">
                  <c:v>5.3</c:v>
                </c:pt>
                <c:pt idx="49">
                  <c:v>5.4</c:v>
                </c:pt>
                <c:pt idx="50">
                  <c:v>5.5</c:v>
                </c:pt>
                <c:pt idx="51">
                  <c:v>5.6</c:v>
                </c:pt>
                <c:pt idx="52">
                  <c:v>5.7</c:v>
                </c:pt>
                <c:pt idx="53">
                  <c:v>5.8</c:v>
                </c:pt>
                <c:pt idx="54">
                  <c:v>5.9</c:v>
                </c:pt>
                <c:pt idx="55">
                  <c:v>6</c:v>
                </c:pt>
                <c:pt idx="56">
                  <c:v>6.1</c:v>
                </c:pt>
                <c:pt idx="57">
                  <c:v>6.2</c:v>
                </c:pt>
                <c:pt idx="58">
                  <c:v>6.3</c:v>
                </c:pt>
                <c:pt idx="59">
                  <c:v>6.4</c:v>
                </c:pt>
                <c:pt idx="60">
                  <c:v>6.5</c:v>
                </c:pt>
                <c:pt idx="61">
                  <c:v>6.6</c:v>
                </c:pt>
                <c:pt idx="62">
                  <c:v>6.7</c:v>
                </c:pt>
                <c:pt idx="63">
                  <c:v>6.8</c:v>
                </c:pt>
                <c:pt idx="64">
                  <c:v>6.9</c:v>
                </c:pt>
                <c:pt idx="65">
                  <c:v>7</c:v>
                </c:pt>
                <c:pt idx="66">
                  <c:v>7.1</c:v>
                </c:pt>
                <c:pt idx="67">
                  <c:v>7.2</c:v>
                </c:pt>
                <c:pt idx="68">
                  <c:v>7.3</c:v>
                </c:pt>
                <c:pt idx="69">
                  <c:v>7.4</c:v>
                </c:pt>
                <c:pt idx="70">
                  <c:v>7.5</c:v>
                </c:pt>
                <c:pt idx="71">
                  <c:v>7.6</c:v>
                </c:pt>
                <c:pt idx="72">
                  <c:v>7.7</c:v>
                </c:pt>
                <c:pt idx="73">
                  <c:v>7.8</c:v>
                </c:pt>
                <c:pt idx="74">
                  <c:v>7.9</c:v>
                </c:pt>
                <c:pt idx="75">
                  <c:v>8</c:v>
                </c:pt>
              </c:numCache>
            </c:numRef>
          </c:xVal>
          <c:yVal>
            <c:numRef>
              <c:f>Sheet1!$B$2:$B$77</c:f>
              <c:numCache>
                <c:formatCode>General</c:formatCode>
                <c:ptCount val="76"/>
                <c:pt idx="0">
                  <c:v>1600</c:v>
                </c:pt>
                <c:pt idx="1">
                  <c:v>1111.1</c:v>
                </c:pt>
                <c:pt idx="2">
                  <c:v>816.3</c:v>
                </c:pt>
                <c:pt idx="3">
                  <c:v>625</c:v>
                </c:pt>
                <c:pt idx="4">
                  <c:v>493.8</c:v>
                </c:pt>
                <c:pt idx="5">
                  <c:v>400</c:v>
                </c:pt>
                <c:pt idx="6">
                  <c:v>330.6</c:v>
                </c:pt>
                <c:pt idx="7">
                  <c:v>277.8</c:v>
                </c:pt>
                <c:pt idx="8">
                  <c:v>236.7</c:v>
                </c:pt>
                <c:pt idx="9">
                  <c:v>204.1</c:v>
                </c:pt>
                <c:pt idx="10">
                  <c:v>177.8</c:v>
                </c:pt>
                <c:pt idx="11">
                  <c:v>156.2</c:v>
                </c:pt>
                <c:pt idx="12">
                  <c:v>138.4</c:v>
                </c:pt>
                <c:pt idx="13">
                  <c:v>123.5</c:v>
                </c:pt>
                <c:pt idx="14">
                  <c:v>110.8</c:v>
                </c:pt>
                <c:pt idx="15">
                  <c:v>100</c:v>
                </c:pt>
                <c:pt idx="16">
                  <c:v>90.7</c:v>
                </c:pt>
                <c:pt idx="17">
                  <c:v>82.6</c:v>
                </c:pt>
                <c:pt idx="18">
                  <c:v>75.6</c:v>
                </c:pt>
                <c:pt idx="19">
                  <c:v>69.4</c:v>
                </c:pt>
                <c:pt idx="20">
                  <c:v>64</c:v>
                </c:pt>
                <c:pt idx="21">
                  <c:v>59.2</c:v>
                </c:pt>
                <c:pt idx="22">
                  <c:v>54.9</c:v>
                </c:pt>
                <c:pt idx="23">
                  <c:v>51</c:v>
                </c:pt>
                <c:pt idx="24">
                  <c:v>47.6</c:v>
                </c:pt>
                <c:pt idx="25">
                  <c:v>44.4</c:v>
                </c:pt>
                <c:pt idx="26">
                  <c:v>41.6</c:v>
                </c:pt>
                <c:pt idx="27">
                  <c:v>39.1</c:v>
                </c:pt>
                <c:pt idx="28">
                  <c:v>36.7</c:v>
                </c:pt>
                <c:pt idx="29">
                  <c:v>34.6</c:v>
                </c:pt>
                <c:pt idx="30">
                  <c:v>32.7</c:v>
                </c:pt>
                <c:pt idx="31">
                  <c:v>30.9</c:v>
                </c:pt>
                <c:pt idx="32">
                  <c:v>29.2</c:v>
                </c:pt>
                <c:pt idx="33">
                  <c:v>27.7</c:v>
                </c:pt>
                <c:pt idx="34">
                  <c:v>26.3</c:v>
                </c:pt>
                <c:pt idx="35">
                  <c:v>25</c:v>
                </c:pt>
                <c:pt idx="36">
                  <c:v>23.8</c:v>
                </c:pt>
                <c:pt idx="37">
                  <c:v>22.7</c:v>
                </c:pt>
                <c:pt idx="38">
                  <c:v>21.6</c:v>
                </c:pt>
                <c:pt idx="39">
                  <c:v>20.7</c:v>
                </c:pt>
                <c:pt idx="40">
                  <c:v>19.8</c:v>
                </c:pt>
                <c:pt idx="41">
                  <c:v>18.9</c:v>
                </c:pt>
                <c:pt idx="42">
                  <c:v>18.1</c:v>
                </c:pt>
                <c:pt idx="43">
                  <c:v>17.4</c:v>
                </c:pt>
                <c:pt idx="44">
                  <c:v>16.7</c:v>
                </c:pt>
                <c:pt idx="45">
                  <c:v>16</c:v>
                </c:pt>
                <c:pt idx="46">
                  <c:v>15.4</c:v>
                </c:pt>
                <c:pt idx="47">
                  <c:v>14.8</c:v>
                </c:pt>
                <c:pt idx="48">
                  <c:v>14.2</c:v>
                </c:pt>
                <c:pt idx="49">
                  <c:v>13.7</c:v>
                </c:pt>
                <c:pt idx="50">
                  <c:v>13.2</c:v>
                </c:pt>
                <c:pt idx="51">
                  <c:v>12.8</c:v>
                </c:pt>
                <c:pt idx="52">
                  <c:v>12.3</c:v>
                </c:pt>
                <c:pt idx="53">
                  <c:v>11.9</c:v>
                </c:pt>
                <c:pt idx="54">
                  <c:v>11.5</c:v>
                </c:pt>
                <c:pt idx="55">
                  <c:v>11.1</c:v>
                </c:pt>
                <c:pt idx="56">
                  <c:v>10.7</c:v>
                </c:pt>
                <c:pt idx="57">
                  <c:v>10.4</c:v>
                </c:pt>
                <c:pt idx="58">
                  <c:v>10.1</c:v>
                </c:pt>
                <c:pt idx="59">
                  <c:v>9.8</c:v>
                </c:pt>
                <c:pt idx="60">
                  <c:v>9.5</c:v>
                </c:pt>
                <c:pt idx="61">
                  <c:v>9.2</c:v>
                </c:pt>
                <c:pt idx="62">
                  <c:v>8.9</c:v>
                </c:pt>
                <c:pt idx="63">
                  <c:v>8.7</c:v>
                </c:pt>
                <c:pt idx="64">
                  <c:v>8.4</c:v>
                </c:pt>
                <c:pt idx="65">
                  <c:v>8.2</c:v>
                </c:pt>
                <c:pt idx="66">
                  <c:v>7.9</c:v>
                </c:pt>
                <c:pt idx="67">
                  <c:v>7.7</c:v>
                </c:pt>
                <c:pt idx="68">
                  <c:v>7.5</c:v>
                </c:pt>
                <c:pt idx="69">
                  <c:v>7.3</c:v>
                </c:pt>
                <c:pt idx="70">
                  <c:v>7.1</c:v>
                </c:pt>
                <c:pt idx="71">
                  <c:v>6.9</c:v>
                </c:pt>
                <c:pt idx="72">
                  <c:v>6.7</c:v>
                </c:pt>
                <c:pt idx="73">
                  <c:v>6.6</c:v>
                </c:pt>
                <c:pt idx="74">
                  <c:v>6.4</c:v>
                </c:pt>
                <c:pt idx="75">
                  <c:v>6.3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uzaklık d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50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E (lüks)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I = 400 cd, d = 2 m için aydınlanma – eğim açısı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</c:v>
                </c:pt>
              </c:strCache>
            </c:strRef>
          </c:tx>
          <c:spPr>
            <a:solidFill>
              <a:srgbClr val="A56209"/>
            </a:solidFill>
            <a:ln w="3175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Sheet1!$A$2:$A$87</c:f>
              <c:numCache>
                <c:formatCode>General</c:formatCode>
                <c:ptCount val="8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</c:numCache>
            </c:numRef>
          </c:xVal>
          <c:yVal>
            <c:numRef>
              <c:f>Sheet1!$B$2:$B$87</c:f>
              <c:numCache>
                <c:formatCode>General</c:formatCode>
                <c:ptCount val="86"/>
                <c:pt idx="0">
                  <c:v>100</c:v>
                </c:pt>
                <c:pt idx="1">
                  <c:v>99.98</c:v>
                </c:pt>
                <c:pt idx="2">
                  <c:v>99.94</c:v>
                </c:pt>
                <c:pt idx="3">
                  <c:v>99.86</c:v>
                </c:pt>
                <c:pt idx="4">
                  <c:v>99.76</c:v>
                </c:pt>
                <c:pt idx="5">
                  <c:v>99.62</c:v>
                </c:pt>
                <c:pt idx="6">
                  <c:v>99.45</c:v>
                </c:pt>
                <c:pt idx="7">
                  <c:v>99.25</c:v>
                </c:pt>
                <c:pt idx="8">
                  <c:v>99.03</c:v>
                </c:pt>
                <c:pt idx="9">
                  <c:v>98.77</c:v>
                </c:pt>
                <c:pt idx="10">
                  <c:v>98.48</c:v>
                </c:pt>
                <c:pt idx="11">
                  <c:v>98.16</c:v>
                </c:pt>
                <c:pt idx="12">
                  <c:v>97.81</c:v>
                </c:pt>
                <c:pt idx="13">
                  <c:v>97.44</c:v>
                </c:pt>
                <c:pt idx="14">
                  <c:v>97.03</c:v>
                </c:pt>
                <c:pt idx="15">
                  <c:v>96.59</c:v>
                </c:pt>
                <c:pt idx="16">
                  <c:v>96.13</c:v>
                </c:pt>
                <c:pt idx="17">
                  <c:v>95.63</c:v>
                </c:pt>
                <c:pt idx="18">
                  <c:v>95.11</c:v>
                </c:pt>
                <c:pt idx="19">
                  <c:v>94.55</c:v>
                </c:pt>
                <c:pt idx="20">
                  <c:v>93.97</c:v>
                </c:pt>
                <c:pt idx="21">
                  <c:v>93.36</c:v>
                </c:pt>
                <c:pt idx="22">
                  <c:v>92.72</c:v>
                </c:pt>
                <c:pt idx="23">
                  <c:v>92.05</c:v>
                </c:pt>
                <c:pt idx="24">
                  <c:v>91.35</c:v>
                </c:pt>
                <c:pt idx="25">
                  <c:v>90.63</c:v>
                </c:pt>
                <c:pt idx="26">
                  <c:v>89.88</c:v>
                </c:pt>
                <c:pt idx="27">
                  <c:v>89.1</c:v>
                </c:pt>
                <c:pt idx="28">
                  <c:v>88.29</c:v>
                </c:pt>
                <c:pt idx="29">
                  <c:v>87.46</c:v>
                </c:pt>
                <c:pt idx="30">
                  <c:v>86.6</c:v>
                </c:pt>
                <c:pt idx="31">
                  <c:v>85.72</c:v>
                </c:pt>
                <c:pt idx="32">
                  <c:v>84.8</c:v>
                </c:pt>
                <c:pt idx="33">
                  <c:v>83.87</c:v>
                </c:pt>
                <c:pt idx="34">
                  <c:v>82.9</c:v>
                </c:pt>
                <c:pt idx="35">
                  <c:v>81.92</c:v>
                </c:pt>
                <c:pt idx="36">
                  <c:v>80.9</c:v>
                </c:pt>
                <c:pt idx="37">
                  <c:v>79.86</c:v>
                </c:pt>
                <c:pt idx="38">
                  <c:v>78.8</c:v>
                </c:pt>
                <c:pt idx="39">
                  <c:v>77.71</c:v>
                </c:pt>
                <c:pt idx="40">
                  <c:v>76.6</c:v>
                </c:pt>
                <c:pt idx="41">
                  <c:v>75.47</c:v>
                </c:pt>
                <c:pt idx="42">
                  <c:v>74.31</c:v>
                </c:pt>
                <c:pt idx="43">
                  <c:v>73.14</c:v>
                </c:pt>
                <c:pt idx="44">
                  <c:v>71.93</c:v>
                </c:pt>
                <c:pt idx="45">
                  <c:v>70.71</c:v>
                </c:pt>
                <c:pt idx="46">
                  <c:v>69.47</c:v>
                </c:pt>
                <c:pt idx="47">
                  <c:v>68.2</c:v>
                </c:pt>
                <c:pt idx="48">
                  <c:v>66.91</c:v>
                </c:pt>
                <c:pt idx="49">
                  <c:v>65.61</c:v>
                </c:pt>
                <c:pt idx="50">
                  <c:v>64.28</c:v>
                </c:pt>
                <c:pt idx="51">
                  <c:v>62.93</c:v>
                </c:pt>
                <c:pt idx="52">
                  <c:v>61.57</c:v>
                </c:pt>
                <c:pt idx="53">
                  <c:v>60.18</c:v>
                </c:pt>
                <c:pt idx="54">
                  <c:v>58.78</c:v>
                </c:pt>
                <c:pt idx="55">
                  <c:v>57.36</c:v>
                </c:pt>
                <c:pt idx="56">
                  <c:v>55.92</c:v>
                </c:pt>
                <c:pt idx="57">
                  <c:v>54.46</c:v>
                </c:pt>
                <c:pt idx="58">
                  <c:v>52.99</c:v>
                </c:pt>
                <c:pt idx="59">
                  <c:v>51.5</c:v>
                </c:pt>
                <c:pt idx="60">
                  <c:v>50</c:v>
                </c:pt>
                <c:pt idx="61">
                  <c:v>48.48</c:v>
                </c:pt>
                <c:pt idx="62">
                  <c:v>46.95</c:v>
                </c:pt>
                <c:pt idx="63">
                  <c:v>45.4</c:v>
                </c:pt>
                <c:pt idx="64">
                  <c:v>43.84</c:v>
                </c:pt>
                <c:pt idx="65">
                  <c:v>42.26</c:v>
                </c:pt>
                <c:pt idx="66">
                  <c:v>40.67</c:v>
                </c:pt>
                <c:pt idx="67">
                  <c:v>39.07</c:v>
                </c:pt>
                <c:pt idx="68">
                  <c:v>37.46</c:v>
                </c:pt>
                <c:pt idx="69">
                  <c:v>35.84</c:v>
                </c:pt>
                <c:pt idx="70">
                  <c:v>34.2</c:v>
                </c:pt>
                <c:pt idx="71">
                  <c:v>32.56</c:v>
                </c:pt>
                <c:pt idx="72">
                  <c:v>30.9</c:v>
                </c:pt>
                <c:pt idx="73">
                  <c:v>29.24</c:v>
                </c:pt>
                <c:pt idx="74">
                  <c:v>27.56</c:v>
                </c:pt>
                <c:pt idx="75">
                  <c:v>25.88</c:v>
                </c:pt>
                <c:pt idx="76">
                  <c:v>24.19</c:v>
                </c:pt>
                <c:pt idx="77">
                  <c:v>22.5</c:v>
                </c:pt>
                <c:pt idx="78">
                  <c:v>20.79</c:v>
                </c:pt>
                <c:pt idx="79">
                  <c:v>19.08</c:v>
                </c:pt>
                <c:pt idx="80">
                  <c:v>17.36</c:v>
                </c:pt>
                <c:pt idx="81">
                  <c:v>15.64</c:v>
                </c:pt>
                <c:pt idx="82">
                  <c:v>13.92</c:v>
                </c:pt>
                <c:pt idx="83">
                  <c:v>12.19</c:v>
                </c:pt>
                <c:pt idx="84">
                  <c:v>10.45</c:v>
                </c:pt>
                <c:pt idx="85">
                  <c:v>8.72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yüzeyin eğim açısı θ (°)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E (lüks)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sor: 'Ampul kutusunda yazan 800 lümen ne demek? Peki masamıza ne kadarı düşüyor?'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konu ölçü birimleriyle yüklü; her birimin neyin ölçüsü olduğunu tekrar tekrar vurgula.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Tablodaki son sütun en kritik ayrım: aydınlanma kaynağın değil yüzeyin özelliğidir.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Katı açı soyut geliyorsa el feneri konisini örnek göster: koni ne kadar darsa katı açı o kadar küçük.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Eğrinin başlangıçtaki dikliği önemli: lambayı 50 cm yaklaştırmak masada büyük fark yaratır.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Mevsim bağlantısı bu slaytın en akılda kalıcı kısmı; dünya eksen eğikliğini hatırlat.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Sınıfın aydınlanmasını tahmin ettir, sonra telefonla ölçtür: çoğu telefonda ışık sensörü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Oranla düşünmeyi öğret: formülü baştan kurmak yerine 'kaç kat' sorusu daha hızlı.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Şiddeti doğrudan akı sanmak en yaygın hata; aradaki 4π çarpanını vurgula.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Karekök adımı atlanırsa denklem karmaşıklaşır; tahtada mutlaka o adımı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iki madde birim karmaşasından geliyor; birim analizini tahtada tekrarla.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oda aydınlatma tasarımı bölümünü aç; sınıfın kendi odasını hesaplatmak iyi bir ödev.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OPTİK · KONU 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Işık şiddeti ve aydınlanma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lambanın yaydığı akı, belli bir yöne gönderdiği şiddet ve yüzeyde ölçülen aydınlanma üç ayrı büyüklüktür. Aralarındaki bağ, uzaklığın karesidir.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Φ / ω          E = Φ / A          E = I · cosθ / d²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dersler.perinet.org/isik-siddeti.html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058400" y="2377440"/>
            <a:ext cx="640080" cy="640080"/>
          </a:xfrm>
          <a:prstGeom prst="ellipse">
            <a:avLst/>
          </a:prstGeom>
          <a:solidFill>
            <a:srgbClr val="FFE08A"/>
          </a:solidFill>
          <a:ln/>
        </p:spPr>
      </p:sp>
      <p:sp>
        <p:nvSpPr>
          <p:cNvPr id="9" name="Shape 6"/>
          <p:cNvSpPr/>
          <p:nvPr/>
        </p:nvSpPr>
        <p:spPr>
          <a:xfrm>
            <a:off x="10835640" y="2697480"/>
            <a:ext cx="275234" cy="914"/>
          </a:xfrm>
          <a:prstGeom prst="line">
            <a:avLst/>
          </a:prstGeom>
          <a:noFill/>
          <a:ln w="25400">
            <a:solidFill>
              <a:srgbClr val="FFE08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701729" y="3020769"/>
            <a:ext cx="194888" cy="194888"/>
          </a:xfrm>
          <a:prstGeom prst="line">
            <a:avLst/>
          </a:prstGeom>
          <a:noFill/>
          <a:ln w="25400">
            <a:solidFill>
              <a:srgbClr val="FFE08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378440" y="3154680"/>
            <a:ext cx="914" cy="275234"/>
          </a:xfrm>
          <a:prstGeom prst="line">
            <a:avLst/>
          </a:prstGeom>
          <a:noFill/>
          <a:ln w="25400">
            <a:solidFill>
              <a:srgbClr val="FFE08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10055151" y="3020769"/>
            <a:ext cx="194888" cy="194888"/>
          </a:xfrm>
          <a:prstGeom prst="line">
            <a:avLst/>
          </a:prstGeom>
          <a:noFill/>
          <a:ln w="25400">
            <a:solidFill>
              <a:srgbClr val="FFE08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9921240" y="2697480"/>
            <a:ext cx="275234" cy="914"/>
          </a:xfrm>
          <a:prstGeom prst="line">
            <a:avLst/>
          </a:prstGeom>
          <a:noFill/>
          <a:ln w="25400">
            <a:solidFill>
              <a:srgbClr val="FFE08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 flipV="1">
            <a:off x="10055151" y="2374191"/>
            <a:ext cx="194888" cy="194888"/>
          </a:xfrm>
          <a:prstGeom prst="line">
            <a:avLst/>
          </a:prstGeom>
          <a:noFill/>
          <a:ln w="25400">
            <a:solidFill>
              <a:srgbClr val="FFE08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 flipV="1">
            <a:off x="10378440" y="2240280"/>
            <a:ext cx="914" cy="275234"/>
          </a:xfrm>
          <a:prstGeom prst="line">
            <a:avLst/>
          </a:prstGeom>
          <a:noFill/>
          <a:ln w="25400">
            <a:solidFill>
              <a:srgbClr val="FFE0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10701729" y="2374191"/>
            <a:ext cx="194888" cy="194888"/>
          </a:xfrm>
          <a:prstGeom prst="line">
            <a:avLst/>
          </a:prstGeom>
          <a:noFill/>
          <a:ln w="25400">
            <a:solidFill>
              <a:srgbClr val="FFE08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326880" y="4114800"/>
            <a:ext cx="2103120" cy="0"/>
          </a:xfrm>
          <a:prstGeom prst="line">
            <a:avLst/>
          </a:prstGeom>
          <a:noFill/>
          <a:ln w="38100">
            <a:solidFill>
              <a:srgbClr val="6A779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0" y="4343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/ d²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kandeladan lükse.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akısı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Kaynağın yaydığı toplam ışık: lümen.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şiddeti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yöne gönderilen akı: kandela.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Katı açı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Steradyan; tüm uzay 4π sr.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Aydınlanma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Yüzeye düşen akı: lüks.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 kare yasası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I/d²; uzaklıkla hızla azalır.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Eğik yüzey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cosθ çarpanı ve mevsimler.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01 · Işık şiddeti, akı ve aydınlanma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Üç büyüklük, üç birim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Hangisi kaynağın, hangisi yüzeyin özelliği?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Büyüklük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7830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Simge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178308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178308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Tanımı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17830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Kimin özelliği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51460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akısı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5146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25146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lümen (lm)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25146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 zamanda yayılan ışık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052560" y="25146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kaynağın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24612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2461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şiddeti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32461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931920" y="32461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kandela (cd)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32461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 katı açıya düşen akı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32461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kaynağın, bir yönde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97764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9776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Aydınlanma şiddeti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397764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397764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lüks (lx)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760720" y="397764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 alana düşen akı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05256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yüzeyin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4754880"/>
            <a:ext cx="10911535" cy="685800"/>
          </a:xfrm>
          <a:prstGeom prst="roundRect">
            <a:avLst>
              <a:gd name="adj" fmla="val 13333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75488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Φ / ω        Φ(toplam) = 4π · I        E = Φ / A = I / d²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0080" y="5559552"/>
            <a:ext cx="10911535" cy="502920"/>
          </a:xfrm>
          <a:prstGeom prst="roundRect">
            <a:avLst>
              <a:gd name="adj" fmla="val 25455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60120" y="5559552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 ≠ lümen: </a:t>
            </a:r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 ampulün çektiği elektrik gücü, lümen yaydığı ışıktır. 10 W'lık LED ile 60 W'lık akkor ampul aynı akıyı (≈ 800 lm) verir.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01 · Işık şiddeti, akı ve aydınlanma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Katı açı ve steradyan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Düzlemde açı radyan ile ölçülür; uzayda katı açı steradyan ile.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ω = A / r²        tüm küre: ω = 4πr²/r² = 4π ≈ 12,57 sr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9260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Düzlem açı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3832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θ = yay / yarıçap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794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birimi radyan (rad)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çember 2π rad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27432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19672" y="29260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Katı açı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832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ω = alan / yarıçap²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3794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birimi steradyan (sr)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uzay 4π sr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217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800600"/>
            <a:ext cx="102714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Örnek: </a:t>
            </a:r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şiddeti 100 cd olan kaynak 0,5 sr'lik koniye 100 · 0,5 = 50 lm akı gönderir; her yöne eşit yayıyorsa toplam akısı 4π · 100 ≈ 1256 lm'dir.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01 · Işık şiddeti, akı ve aydınlanma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Ters kare yasası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akı, uzaklaştıkça daha büyük bir alana yayılır.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783080"/>
            <a:ext cx="4556455" cy="640080"/>
          </a:xfrm>
          <a:prstGeom prst="roundRect">
            <a:avLst>
              <a:gd name="adj" fmla="val 14286"/>
            </a:avLst>
          </a:prstGeom>
          <a:solidFill>
            <a:srgbClr val="FCECF0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1783080"/>
            <a:ext cx="4556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Φ / (4π·d²) = I / d²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995160" y="2606040"/>
            <a:ext cx="4556455" cy="621792"/>
          </a:xfrm>
          <a:prstGeom prst="roundRect">
            <a:avLst>
              <a:gd name="adj" fmla="val 20588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269480" y="260604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2 katına çıkarsa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09760" y="260604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dörtte bire iner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3337560"/>
            <a:ext cx="4556455" cy="621792"/>
          </a:xfrm>
          <a:prstGeom prst="roundRect">
            <a:avLst>
              <a:gd name="adj" fmla="val 20588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269480" y="33375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3 katına çıkarsa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509760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dokuzda bire iner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995160" y="4069080"/>
            <a:ext cx="4556455" cy="621792"/>
          </a:xfrm>
          <a:prstGeom prst="roundRect">
            <a:avLst>
              <a:gd name="adj" fmla="val 20588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269480" y="406908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koni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09760" y="4069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4 · 9 kareyi aydınlatır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995160" y="4892040"/>
            <a:ext cx="4556455" cy="960120"/>
          </a:xfrm>
          <a:prstGeom prst="roundRect">
            <a:avLst>
              <a:gd name="adj" fmla="val 13333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269480" y="48920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noktasal kaynak için.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flüoresan tüpün ya da aydınlatılmış tavanın altında aydınlanma bu kadar hızlı azalmaz.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01 · Işık şiddeti, akı ve aydınlanma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Eğik yüzeyler: cosθ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yüzeye dik gelmiyorsa aynı akı daha geniş alana yayılır.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783080"/>
            <a:ext cx="4556455" cy="640080"/>
          </a:xfrm>
          <a:prstGeom prst="roundRect">
            <a:avLst>
              <a:gd name="adj" fmla="val 14286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1783080"/>
            <a:ext cx="4556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· cosθ / d²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651760"/>
            <a:ext cx="45564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0° (dik geliş): E en büyüktür.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60°: cos60° = 0,5 → aydınlanma yarıya iner.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90°: ışık yüzeye teğet, E = 0.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Mevsimlerin sebebi de budur: kışın ışınlar yere daha eğik gelir.</a:t>
            </a:r>
            <a:endParaRPr lang="en-US" sz="13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Güneş panelleri bu yüzden eğimli monte edilir.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01 · Işık şiddeti, akı ve aydınlanma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kadar aydınlık yeter?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Aydınlatma tasarımı, gereken lüksten başlar.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Ortam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78308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Aydınlanma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7830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386584"/>
            <a:ext cx="66751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38658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Dolunaylı gece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38658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0,25 lx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238658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yolu seçebilirsin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2990088"/>
            <a:ext cx="6675120" cy="530352"/>
          </a:xfrm>
          <a:prstGeom prst="roundRect">
            <a:avLst>
              <a:gd name="adj" fmla="val 1379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990088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Sokak aydınlatması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299008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– 20 lx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299008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 bulmaya yeter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593592"/>
            <a:ext cx="66751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59359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Oturma odası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5935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– 200 lx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359359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aydınlatma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197096"/>
            <a:ext cx="6675120" cy="530352"/>
          </a:xfrm>
          <a:prstGeom prst="roundRect">
            <a:avLst>
              <a:gd name="adj" fmla="val 1379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197096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Sınıf, ofis, okuma masası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41970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– 500 lx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577840" y="419709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okuma ve yazma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800600"/>
            <a:ext cx="66751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80060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Atölye, mutfak tezgâhı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48006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– 750 lx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577840" y="480060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 iş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404104"/>
            <a:ext cx="6675120" cy="530352"/>
          </a:xfrm>
          <a:prstGeom prst="roundRect">
            <a:avLst>
              <a:gd name="adj" fmla="val 1379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540410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Doğrudan güneş ışığı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840480" y="540410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100 000 lx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577840" y="540410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 ortam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680960" y="1783080"/>
            <a:ext cx="3870655" cy="4206240"/>
          </a:xfrm>
          <a:prstGeom prst="roundRect">
            <a:avLst>
              <a:gd name="adj" fmla="val 3307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001000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Φ = E · A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8001000" y="26060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m²'lik bir çalışma odasını 500 lx düzeyinde aydınlatmak için: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500 · 16 = 8000 lümen gerekir.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lümenlik LED ampullerle bu, 10 ampul demektir. Ampul seçerken bakılacak değer watt değil, kutudaki lümen sayısıdır.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01 · Işık şiddeti, akı ve aydınlanma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aydınlanma ve uzaklık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Noktasal kaynak kabul edilmiştir.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şiddeti 200 cd olan lamba masanın 2 m üzerindedir.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Masadaki aydınlanma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Lamba 4 m'ye çıkarılırsa ne olur?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50 lx · (b) 12,5 lx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I/d² = 200 / 2² = 200/4 = 50 lüks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Uzaklık 2 katına çıktı → aydınlanma dörtte bire iner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200/16 = 12,5 lüks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Kısayol: 50/4 = 12,5. Ters kare yasasında oranla düşünmek hesabı kısaltır.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01 · Işık şiddeti, akı ve aydınlanma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akı ve katı açı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4π ≈ 12,57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yöne eşit ışık yayan bir kaynağın ışık şiddeti 100 cd'dır.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Toplam ışık akısı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0,5 sr'lik koniye gönderdiği akı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≈ 1256 lm · (b) 50 lm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18389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1838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4π·I = 4 · 3,14 · 100 ≈ 1256 lümen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321564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61645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6164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1564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I·ω = 100 · 0,5 = 50 lümen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464820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504901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50490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64820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Katı açı hatırlatması: ω = A/r²; tüm küre için 4πr²/r² = 4π sr.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01 · Işık şiddeti, akı ve aydınlanma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fotometre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lamba arasındaki eşit aydınlanma noktası.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Aralarında 3 m olan iki lambadan biri 400 cd, diğeri 100 cd'dır.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ekranın iki yüzü nerede eşit aydınlanır?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 cd'lık lambadan 2 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Eşitlik: I₁/x² = I₂/(L−x)²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Karekök: √I₁/x = √I₂/(L−x) → 20/x = 10/(3−x)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60 − 20x = 10x → x = 2 m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Kontrol: 400/4 = 100 lx ve 100/1 = 100 lx ✓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01 · Işık şiddeti, akı ve aydınlanma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 ile lümeni karıştırmak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 çekilen elektrik gücü, lümen yayılan ışık akısıdır.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Aydınlanmayı kaynağın özelliği sanmak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Aydınlanma yüzeyin özelliğidir; uzaklıkla değişir.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ile 1/d ters orantı kurmak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Bağıntı 1/d² şeklindedir: uzaklığın karesiyle.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cosθ çarpanını unutmak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Eğik yüzeyde aydınlanma cosθ kadar azalır.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akıyı I'ya eşitlemek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Noktasal kaynakta Φ = 4π·I'dır (≈ 12,6 katı).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 kare yasasını her kaynağa uygulamak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Yasa yalnızca noktasal kaynaklar içindir.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01 · Işık şiddeti, akı ve aydınlanma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büyüklük, üç birim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206654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lümen, şiddet kandela, aydınlanma lüks.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ile şiddet arasında 4π var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992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Noktasal kaynakta Φ = 4π·I.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Aydınlanma ters kareyle azalır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39319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I/d²: uzaklık 2 katına çıkarsa E dörtte bire.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 cosθ kadar azaltır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I·cosθ/d²; mevsimlerin de sebebi budur.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Aydınlanma laboratuvarı, fotometre ve oda tasarımı: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dersler.perinet.org/isik-siddeti.html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Işık şiddeti, ışık akısı ve aydınlanma</dc:title>
  <dc:subject>Fizik · Optik</dc:subject>
  <dc:creator>Dersler</dc:creator>
  <cp:lastModifiedBy>Dersler</cp:lastModifiedBy>
  <cp:revision>1</cp:revision>
  <dcterms:created xsi:type="dcterms:W3CDTF">2026-09-18T21:48:06Z</dcterms:created>
  <dcterms:modified xsi:type="dcterms:W3CDTF">2026-09-18T21:48:06Z</dcterms:modified>
</cp:coreProperties>
</file>