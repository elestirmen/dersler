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Aynada gördüğün yüz senin yüzün değil: sağı solu yer değiştirmiş bir kopyası. Üstelik o kopya, aynanın arkasında hiç var olmayan bir yerde duruyor — oraya perde koysan hiçbir şey düşmez. Bütün bunlar tek bir kuraldan çıkıyor: gelme açısı yansıma açısına eşittir. Aşağıda bu tek kuraldan görüntünün yerini, boyunu, hızını ve iki ayna arasında kaç görüntü oluştuğunu tek tek türeteceğiz.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Aynada gördüğün yüz senin yüzün değil: sağı solu yer değiştirmiş bir kopyası. Üstelik o kopya, aynanın arkasında hiç var olmayan bir yerde duruyor — oraya perde koysan hiçbir şey düşmez. Bütün bunlar tek bir kuraldan çıkıyor: gelme açısı yansıma açısına eşittir. Aşağıda bu tek kuraldan görüntünün yerini, boyunu, hızını ve iki ayna arasında kaç görüntü oluştuğunu tek tek türeteceğiz.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Yansıma yasası
2. Düzgün ve dağınık yansıma
3. Düzlem aynada görüntünün özellikleri
4. Görüntü nasıl çizilir?
5. Cismin ve görüntünün hareketi
6. Aynanın dönmesi
7. İki ayna arasındaki görüntüler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Yansıma yasası
Bir yüzeye çarpan ışık geri döner; buna yansıma denir. Yansımanın iki kuralı vardır:
• Gelme açısı, yansıma açısına eşittir: i = r.
• Gelen ışın, yansıyan ışın ve normal aynı düzlemdedir.
Açılar normalle ölçülür. Normal, yüzeye dik doğrultudur. “Işın yüzeyle 30° açı yapıyor” denirse gelme açısı 30° değil, 60°'dir.
Çizim: Yansımanın tamamı iki cümledir: gelme açısı yansıma açısına eşittir ve gelen ışın, yansıyan ışın ile normal aynı düzlemdedir. Açılar her zaman yüzeyden değil, normalden ölçülür — sınavda en sık kaybedilen puan buradan gider. Işık dik gelirse (i = 0) geldiği yoldan geri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ve dağınık yansıma
• Düzgün (aynasal) yansıma: pürüzsüz yüzeyde paralel ışınlar paralel olarak yansır; görüntü oluşur. Ayna, durgun su, cilalı metal.
• Dağınık yansıma: pürüzlü yüzeyde her ışın farklı yöne yansır; görüntü oluşmaz ama cisim her yönden görülebilir. Kâğıt, duvar, kumaş.
Her iki durumda da yansıma yasası her ışın için ayrı ayrı geçerlidir. Fark, yüzeyin normallerinin farklı yönlere bakmasıdır.
Çizim: İki durumda da her ışın i = r kuralına uyar — değişen tek şey yüzeyin normalleridir. Pürüzsüz yüzeyde bütün normaller aynı yöne baktığı için yansıyan ışınlar paralel kalır ve görüntü oluşur. Pürüzlü yüzeyde her noktanın normali farklı olduğundan ışınlar her yöne dağılır; bu yüzden duvarı her yerden görebiliriz ama duvarda kendimizi göremeyiz.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aynada görüntünün özellikleri
Özellik | Düzlem aynada
Türü | sanal (perdeye düşmez)
Yönü | düz (ters değil)
Boyu | cisimle eşit
Yeri | aynanın arkasında, eşit uzaklıkta
Simetri | sağ–sol yer değiştirmiş görünür
Görüntü sanaldır: ışınlar gerçekte aynanın arkasına geçmez, yalnızca uzantıları orada kesişir. Bu yüzden aynanın arkasına perde koyarsanız hiçbir şey düşmez.
Çizim: Görüntü aynanın tam simetriğindedir: aynaya uzaklığı cisminkine eşittir, boyu cisminkiyle aynıdır ve düzdür. Ama bayrak ters tarafa bakar — çünkü ayna sağı solu değiştirir. Görüntü sanaldır: ışınlar gerçekte orada kesişmez, yalnızca uzantıları kesişir; oraya perde koysan hiçbir şey düşmez.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 Cisimden aynaya iki ışın gönder.
• Her birini yansıma yasasına göre yansıt (i = r).
• Yansıyan ışınları geriye, kesikli uzat.
• Uzantıların kesiştiği nokta görüntüdür.
Kısayol: cismin aynaya dik uzaklığını ölç, aynanın arkasına aynı uzaklıkta işaretle. Sonuç aynıdır çünkü düzlem ayna, cismin ayna düzlemine göre simetriğini oluşturur.
Çizim: Görüntüyü çizmek için cismin bir noktasından iki ışın göndermek yeter: ikisi de i = r kuralıyla yansır. Yansıyan ışınlar göze ulaştığında göz onları düz bir çizgi boyunca geri izler ve aynanın arkasında bir noktada birleştirir. Işınlar orada gerçekten buluşmaz — buluşan yalnızca uzantılarıdır. Sanal görüntü tam olarak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Cismin ve görüntünün hareketi
• Cisim aynaya v hızıyla yaklaşırsa görüntü de v hızıyla yaklaşır; birbirlerine göre hızları 2v olur.
• Cisim aynaya paralel hareket ederse görüntü de aynı yönde, aynı hızla hareket eder.
• Ayna cisme doğru v hızıyla hareket ederse görüntü 2v hızıyla yaklaşır.
Çizim: Cisim aynaya yaklaşırken görüntü de aynı hızla yaklaşır — ama ters yönde. Bu yüzden cisimle görüntüsü arasındaki uzaklık 2v hızıyla kapanır. Aynanın kendisi cisme doğru v ile hareket ederse görüntü 2v ile yaklaşır; bunları karıştırmamak için her seferinde "kim kime göre" diye sormak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Aynanın dönmesi
Gelen ışın sabitken ayna α kadar döndürülürse, normal de α kadar döner; gelme açısı α değişir, yansıma açısı da α değişir. Sonuçta yansıyan ışın 2α kadar döner.
Δ(yansıyan ışın) = 2 · α
Bu özellik hassas ölçüm aletlerinde kullanılır: küçük bir dönmeyi iki katına büyütüp ölçmeyi kolaylaştırır.
Çizim: Gelen ışını hiç değiştirmeden aynayı α kadar döndürürsen, yansıyan ışın 2α kadar döner. Sebebi şu: ayna döndüğünde normali de α kadar döner, hem gelme hem yansıma açısı α değişir ve ikisi toplanır. Ayna galvanometresi, lazer tarayıcılar ve barkod okuyucular küçük bir dönmeyi iki katına büyütmek için tam olarak bunu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ayna arasındaki görüntüler
Aralarında α açısı bulunan iki düzlem ayna arasına konan cismin görüntüleri, aynaların kesişme noktası merkez olmak üzere bir çember üzerinde dizilir.
n = 360 / α − 1
• α = 90° → n = 3 görüntü.
• α = 60° → n = 5 görüntü.
• α = 45° → n = 7 görüntü.
• α = 0° (paralel aynalar) → sonsuz görüntü.
360/α tam bölünmezse görüntü sayısı, bölümün tam kısmı kadardır. 360/α tek sayı çıkarsa, cisim açıortay üzerindeyken bir görüntü eksilir; bu ayrıntı ileri düzey sorularda karşımıza çıkar.
Çizim: İki ayna arasındaki cisim, yalnızca kendini değil görüntülerin görüntülerini de yansıtır. Bütün görüntüler, aynaların kesiştiği noktayı merkez alan bir çember üzerinde eşit aralıklarla dizilir. Açı küçüldükçe çembere daha çok görüntü sığar: n = 360/α − 1. Aynalar paralel olursa (α = 0) görüntü sayısı sonsuza gider — berber aynalarındaki o bitmeyen koridorun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Yüzeyle yapılan açı
Bir ışın düzlem aynanın yüzeyiyle 25° açı yapacak şekilde geliyor. Gelme açısı, yansıma açısı ve iki ışın arasındaki açı kaç derecedir?
1. Gelme açısı normalle ölçülür: i = 90° − 25° = 65°
2. Yansıma açısı: r = i = 65°
3. Gelen ve yansıyan ışın arasındaki açı: i + r =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Aynanın dönmesi
Sabit bir ışın demeti düzlem aynaya düşerken ayna 12° döndürülüyor. Yansıyan ışın kaç derece döner?
1. Ayna α = 12° dönerse normal de 12° döner.
2. Gelme açısı 12° değişir; yansıma açısı da 12° değişir.
3. Yansıyan ışının dönmesi: 2α =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Boy aynası
Boyu 180 cm, göz yüksekliği 170 cm olan bir kişi kendini tepeden tırnağa görmek istiyor. Aynanın boyu ve alt kenarının yerden yüksekliği ne olmalıdır?
1. Ayna boyu = h/2 = 180/2 = 90 cm
2. Alt kenar, göz ile ayak arasının ortası: 170/2 = 85 cm
3. Üst kenar: alt kenar + 90 = 175 cm (baş ile göz arasının ortası).
4. Kişinin aynaya uzaklığı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İki ayna
Aralarında 40° açı bulunan iki düzlem ayna arasına bir cisim konuyor. Kaç görüntü oluşur?
1. 360 / α = 360 / 40 = 9
2. n = 9 − 1 = 8 görüntü
3. Açı 90° olsaydı 360/90 − 1 = 3 görüntü oluşurdu.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Açıyı yüzeyle ölçmek. Gelme ve yansıma açıları her zaman normalle ölçülür.
• Görüntüyü gerçek sanmak. Düzlem aynada görüntü sanaldır; perdeye düşmez.
• “Ayna sağı solu değiştirir, peki neden altı üstü değiştirmiyor?” Ayna aslında önü arkayı ters çevirir; sağ–sol izlenimi bunun sonucudur.
• Ayna α dönünce ışın da α döner sanmak. Işın 2α döner.
• Boy aynasında uzaklığın etkili olduğunu düşünmek. Gereken boy h/2'dir ve uzaklıktan bağımsızdır.
• İki aynada 360/α'yı doğrudan görüntü sayısı sanmak. Bu sayı cismi de içerir; görüntü sayısı bir eksiktir.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Görüntü sanal · Boy eşit · Ayna α dönerse ışın 2α · Ayna boyu h / 2
i = r — gelme açısı = yansıma açısı
d(cisim) = d(görüntü) — aynaya eşit uzaklık
n = 360/α − 1 — iki ayna arasındaki görüntü
L = h / 2 — gereken ayna boyu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02</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Düzlem aynalar</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Aynadaki görüntünüz aslında orada değildir: ışınların uzantılarının kesiştiği yerdedir. Tek bir kural — gelme açısı = yansıma açısı — hem bu görüntüyü hem de iki ayna arasındaki onlarca kopyayı açıklar.</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r   ·   d(cisim) = d(görüntü)   ·   n = 360/α − 1</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Aynada gördüğün yüz senin yüzün değil: sağı solu yer değiştirmiş bir kopyası. Üstelik o kopya, aynanın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arkasında hiç var olmayan bir yerde</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duruyor — oraya perde koysan hiçbir şey düşmez. Bütün bunlar tek bir kuraldan çıkıyor: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gelme açısı yansıma açısına eşittir.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Aşağıda bu tek kuraldan görüntünün yerini, boyunu, hızını ve iki ayna arasında kaç görüntü oluştuğunu tek tek türeteceğiz.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Yansıma yasası</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yüzeye çarpan ışık geri döner; buna yansıma denir.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Düzgün ve dağınık yansıma</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Her iki durumda da yansıma yasası her ışın için ayrı ayrı geçerlidir.</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Düzlem aynada görüntünün özellikleri</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Görüntü sanaldır: ışınlar gerçekte aynanın arkasına geçmez, yalnızca uzantıları orada…</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Görüntü nasıl çizilir?</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Kısayol: cismin aynaya dik uzaklığını ölç, aynanın arkasına aynı uzaklıkta işaretle.</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Cismin ve görüntünün hareketi</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Cisim aynaya v hızıyla yaklaşırsa görüntü de v hızıyla yaklaşır; birbirlerine göre hızları…</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Aynanın dönmesi</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Gelen ışın sabitken ayna α kadar döndürülürse, normal de α kadar döner; gelme açısı α…</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İki ayna arasındaki görüntüler</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Aralarında α açısı bulunan iki düzlem ayna arasına konan cismin görüntüleri, aynaların…</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6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Yansıma yasası</a:t>
            </a:r>
            <a:endParaRPr lang="en-US" sz="3200" dirty="0"/>
          </a:p>
        </p:txBody>
      </p:sp>
      <p:sp>
        <p:nvSpPr>
          <p:cNvPr id="5" name="Text 3"/>
          <p:cNvSpPr txBox="1"/>
          <p:nvPr/>
        </p:nvSpPr>
        <p:spPr>
          <a:xfrm>
            <a:off x="640080" y="1481328"/>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Bir yüzeye çarpan ışık geri döner; buna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denir.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Yansımanın iki kuralı vardır:</a:t>
            </a:r>
            <a:endParaRPr lang="en-US" sz="1600" dirty="0"/>
          </a:p>
        </p:txBody>
      </p:sp>
      <p:sp>
        <p:nvSpPr>
          <p:cNvPr id="6" name="Text 4"/>
          <p:cNvSpPr txBox="1"/>
          <p:nvPr/>
        </p:nvSpPr>
        <p:spPr>
          <a:xfrm>
            <a:off x="640080" y="2560320"/>
            <a:ext cx="5486400" cy="96926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Gelme açısı, yansıma açısına eşittir: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 = 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Gelen ışın, yansıyan ışın ve normal aynı düzlemdedir.</a:t>
            </a:r>
            <a:endParaRPr lang="en-US" sz="1600" dirty="0"/>
          </a:p>
        </p:txBody>
      </p:sp>
      <p:sp>
        <p:nvSpPr>
          <p:cNvPr id="7" name="Shape 5"/>
          <p:cNvSpPr/>
          <p:nvPr/>
        </p:nvSpPr>
        <p:spPr>
          <a:xfrm>
            <a:off x="640080" y="3639312"/>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785616"/>
            <a:ext cx="45720" cy="898398"/>
          </a:xfrm>
          <a:prstGeom prst="rect">
            <a:avLst/>
          </a:prstGeom>
          <a:solidFill>
            <a:srgbClr val="3C8C21"/>
          </a:solidFill>
          <a:ln/>
        </p:spPr>
      </p:sp>
      <p:sp>
        <p:nvSpPr>
          <p:cNvPr id="9" name="Text 7"/>
          <p:cNvSpPr txBox="1"/>
          <p:nvPr/>
        </p:nvSpPr>
        <p:spPr>
          <a:xfrm>
            <a:off x="914400" y="3749040"/>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Açılar normalle ölçülür.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Normal, yüzeye dik doğrultudur. “Işın yüzeyle 30° açı yapıyor” denirse gelme açısı 30° değil,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60°</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'dir.</a:t>
            </a:r>
            <a:endParaRPr lang="en-US" sz="1500" dirty="0"/>
          </a:p>
        </p:txBody>
      </p:sp>
      <p:sp>
        <p:nvSpPr>
          <p:cNvPr id="10" name="Shape 8"/>
          <p:cNvSpPr/>
          <p:nvPr/>
        </p:nvSpPr>
        <p:spPr>
          <a:xfrm>
            <a:off x="6419088" y="1481328"/>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duzlem-aynalar-01.png">    </p:cNvPr>
          <p:cNvPicPr>
            <a:picLocks noChangeAspect="1"/>
          </p:cNvPicPr>
          <p:nvPr/>
        </p:nvPicPr>
        <p:blipFill>
          <a:blip r:embed="rId1"/>
          <a:stretch>
            <a:fillRect/>
          </a:stretch>
        </p:blipFill>
        <p:spPr>
          <a:xfrm>
            <a:off x="6601968" y="1664208"/>
            <a:ext cx="4766767" cy="1986058"/>
          </a:xfrm>
          <a:prstGeom prst="rect">
            <a:avLst/>
          </a:prstGeom>
        </p:spPr>
      </p:pic>
      <p:sp>
        <p:nvSpPr>
          <p:cNvPr id="12" name="Shape 9"/>
          <p:cNvSpPr/>
          <p:nvPr/>
        </p:nvSpPr>
        <p:spPr>
          <a:xfrm>
            <a:off x="6601968" y="3741706"/>
            <a:ext cx="4766767" cy="0"/>
          </a:xfrm>
          <a:prstGeom prst="line">
            <a:avLst/>
          </a:prstGeom>
          <a:noFill/>
          <a:ln w="9525">
            <a:solidFill>
              <a:srgbClr val="E1E5EE"/>
            </a:solidFill>
            <a:prstDash val="dash"/>
          </a:ln>
        </p:spPr>
      </p:sp>
      <p:sp>
        <p:nvSpPr>
          <p:cNvPr id="13" name="Text 10"/>
          <p:cNvSpPr txBox="1"/>
          <p:nvPr/>
        </p:nvSpPr>
        <p:spPr>
          <a:xfrm>
            <a:off x="6601968" y="379657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Yansımanın tamamı iki cümledir: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gelme açısı yansıma açısına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gelen ışın, yansıyan ışın ile normal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düzlemdedir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Açılar her zaman yüzeyden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ölçülür — sınavda en sık kaybedilen puan buradan gider. Işık dik gelirse (i = 0) geldiği yoldan geri döner.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ve dağınık yansıma</a:t>
            </a:r>
            <a:endParaRPr lang="en-US" sz="3200" dirty="0"/>
          </a:p>
        </p:txBody>
      </p:sp>
      <p:sp>
        <p:nvSpPr>
          <p:cNvPr id="5" name="Text 3"/>
          <p:cNvSpPr txBox="1"/>
          <p:nvPr/>
        </p:nvSpPr>
        <p:spPr>
          <a:xfrm>
            <a:off x="640080" y="1481328"/>
            <a:ext cx="5486400" cy="181051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Düzgün (aynasal)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pürüzsüz yüzeyde paralel ışınlar paralel olarak yansır; görüntü oluşur. Ayna, durgun su, cilalı metal.</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Dağınık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pürüzlü yüzeyde her ışın farklı yöne yansır; görüntü oluşmaz ama cisim her yönden görülebilir. Kâğıt, duvar, kumaş.</a:t>
            </a:r>
            <a:endParaRPr lang="en-US" sz="1600" dirty="0"/>
          </a:p>
        </p:txBody>
      </p:sp>
      <p:sp>
        <p:nvSpPr>
          <p:cNvPr id="6" name="Text 4"/>
          <p:cNvSpPr txBox="1"/>
          <p:nvPr/>
        </p:nvSpPr>
        <p:spPr>
          <a:xfrm>
            <a:off x="640080" y="340156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Her iki durumda da yansıma yasası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her ışın için ayrı ayrı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geçerlidir.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Fark, yüzeyin normallerinin farklı yönlere bakmasıdır.</a:t>
            </a:r>
            <a:endParaRPr lang="en-US" sz="1600" dirty="0"/>
          </a:p>
        </p:txBody>
      </p:sp>
      <p:sp>
        <p:nvSpPr>
          <p:cNvPr id="7" name="Shape 5"/>
          <p:cNvSpPr/>
          <p:nvPr/>
        </p:nvSpPr>
        <p:spPr>
          <a:xfrm>
            <a:off x="6419088" y="1481328"/>
            <a:ext cx="5132527" cy="3588645"/>
          </a:xfrm>
          <a:prstGeom prst="roundRect">
            <a:avLst>
              <a:gd name="adj" fmla="val 40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duzlem-aynalar-02.png">    </p:cNvPr>
          <p:cNvPicPr>
            <a:picLocks noChangeAspect="1"/>
          </p:cNvPicPr>
          <p:nvPr/>
        </p:nvPicPr>
        <p:blipFill>
          <a:blip r:embed="rId1"/>
          <a:stretch>
            <a:fillRect/>
          </a:stretch>
        </p:blipFill>
        <p:spPr>
          <a:xfrm>
            <a:off x="6601968" y="1664208"/>
            <a:ext cx="4766767" cy="1946382"/>
          </a:xfrm>
          <a:prstGeom prst="rect">
            <a:avLst/>
          </a:prstGeom>
        </p:spPr>
      </p:pic>
      <p:sp>
        <p:nvSpPr>
          <p:cNvPr id="9" name="Shape 6"/>
          <p:cNvSpPr/>
          <p:nvPr/>
        </p:nvSpPr>
        <p:spPr>
          <a:xfrm>
            <a:off x="6601968" y="3702030"/>
            <a:ext cx="4766767" cy="0"/>
          </a:xfrm>
          <a:prstGeom prst="line">
            <a:avLst/>
          </a:prstGeom>
          <a:noFill/>
          <a:ln w="9525">
            <a:solidFill>
              <a:srgbClr val="E1E5EE"/>
            </a:solidFill>
            <a:prstDash val="dash"/>
          </a:ln>
        </p:spPr>
      </p:sp>
      <p:sp>
        <p:nvSpPr>
          <p:cNvPr id="10" name="Text 7"/>
          <p:cNvSpPr txBox="1"/>
          <p:nvPr/>
        </p:nvSpPr>
        <p:spPr>
          <a:xfrm>
            <a:off x="6601968" y="3756894"/>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durumda 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ışın i = r kuralına uyar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değişen tek şey yüzeyin normalleridir. Pürüzsüz yüzeyde bütün normaller aynı yöne baktığı için yansıyan ışınlar paralel kalır ve görüntü oluşur. Pürüzlü yüzeyde her noktanın normali farklı olduğundan ışınlar her yöne dağılır; bu yüzden duvarı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yerden görebiliriz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ama duvarda kendimizi göremeyiz.</a:t>
            </a:r>
            <a:endParaRPr lang="en-US" sz="105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aynada görüntünün özellikleri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5486400" cy="914400"/>
        </p:xfrm>
        <a:graphic>
          <a:graphicData uri="http://schemas.openxmlformats.org/drawingml/2006/table">
            <a:tbl>
              <a:tblPr/>
              <a:tblGrid>
                <a:gridCol w="997527"/>
                <a:gridCol w="448887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Düzlem aynada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Türü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sanal (perdeye düşmez)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Yönü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düz (ters değil)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Boyu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cisimle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Yeri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aynanın arkasında, eşit uzaklıkta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Simetri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sağ–sol yer değiştirmiş görünür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40080" y="3639312"/>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Görüntü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sanaldır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ışınlar gerçekte aynanın arkasına geçmez, yalnızca uzantıları orada kesişir.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Bu yüzden aynanın arkasına perde koyarsanız hiçbir şey düşmez.</a:t>
            </a:r>
            <a:endParaRPr lang="en-US" sz="1600" dirty="0"/>
          </a:p>
        </p:txBody>
      </p:sp>
      <p:sp>
        <p:nvSpPr>
          <p:cNvPr id="7" name="Shape 4"/>
          <p:cNvSpPr/>
          <p:nvPr/>
        </p:nvSpPr>
        <p:spPr>
          <a:xfrm>
            <a:off x="6419088" y="148132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duzlem-aynalar-03.png">    </p:cNvPr>
          <p:cNvPicPr>
            <a:picLocks noChangeAspect="1"/>
          </p:cNvPicPr>
          <p:nvPr/>
        </p:nvPicPr>
        <p:blipFill>
          <a:blip r:embed="rId1"/>
          <a:stretch>
            <a:fillRect/>
          </a:stretch>
        </p:blipFill>
        <p:spPr>
          <a:xfrm>
            <a:off x="6601968" y="1664208"/>
            <a:ext cx="4766767" cy="2025876"/>
          </a:xfrm>
          <a:prstGeom prst="rect">
            <a:avLst/>
          </a:prstGeom>
        </p:spPr>
      </p:pic>
      <p:sp>
        <p:nvSpPr>
          <p:cNvPr id="9" name="Shape 5"/>
          <p:cNvSpPr/>
          <p:nvPr/>
        </p:nvSpPr>
        <p:spPr>
          <a:xfrm>
            <a:off x="6601968" y="3781524"/>
            <a:ext cx="4766767" cy="0"/>
          </a:xfrm>
          <a:prstGeom prst="line">
            <a:avLst/>
          </a:prstGeom>
          <a:noFill/>
          <a:ln w="9525">
            <a:solidFill>
              <a:srgbClr val="E1E5EE"/>
            </a:solidFill>
            <a:prstDash val="dash"/>
          </a:ln>
        </p:spPr>
      </p:sp>
      <p:sp>
        <p:nvSpPr>
          <p:cNvPr id="10" name="Text 6"/>
          <p:cNvSpPr txBox="1"/>
          <p:nvPr/>
        </p:nvSpPr>
        <p:spPr>
          <a:xfrm>
            <a:off x="6601968" y="383638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Görüntü aynanın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simetriğindedir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aynaya uzaklığı cisminkine eşittir, boyu cisminkiyle aynıdır ve düzdür. Ama bayrak ters tarafa bakar — çünkü ayna sağı solu değiştirir.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sanaldır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ışınlar gerçekte orada kesişmez, yalnızca uzantıları kesişir; oraya perde koysan hiçbir şey düşmez.</a:t>
            </a:r>
            <a:endParaRPr lang="en-US" sz="105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Görüntü nasıl çizilir?</a:t>
            </a:r>
            <a:endParaRPr lang="en-US" sz="3200" dirty="0"/>
          </a:p>
        </p:txBody>
      </p:sp>
      <p:sp>
        <p:nvSpPr>
          <p:cNvPr id="5" name="Text 3"/>
          <p:cNvSpPr txBox="1"/>
          <p:nvPr/>
        </p:nvSpPr>
        <p:spPr>
          <a:xfrm>
            <a:off x="640080" y="1481328"/>
            <a:ext cx="5486400" cy="137769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dirty="0">
                <a:solidFill>
                  <a:srgbClr val="4A5470"/>
                </a:solidFill>
                <a:latin typeface="Calibri" pitchFamily="34" charset="0"/>
                <a:ea typeface="Calibri" pitchFamily="34" charset="-122"/>
                <a:cs typeface="Calibri" pitchFamily="34" charset="-120"/>
              </a:rPr>
              <a:t>Cisimden aynaya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iki ışın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gönder.</a:t>
            </a:r>
            <a:endParaRPr lang="en-US" sz="1600" dirty="0"/>
          </a:p>
          <a:p>
            <a:pPr marL="228600" indent="-228600">
              <a:lnSpc>
                <a:spcPct val="115000"/>
              </a:lnSpc>
              <a:spcAft>
                <a:spcPts val="500"/>
              </a:spcAft>
              <a:buSzPct val="100000"/>
              <a:buFont typeface="+mj-lt"/>
              <a:buAutoNum type="arabicPeriod" startAt="1"/>
            </a:pPr>
            <a:r>
              <a:rPr lang="en-US" sz="1600" dirty="0">
                <a:solidFill>
                  <a:srgbClr val="4A5470"/>
                </a:solidFill>
                <a:latin typeface="Calibri" pitchFamily="34" charset="0"/>
                <a:ea typeface="Calibri" pitchFamily="34" charset="-122"/>
                <a:cs typeface="Calibri" pitchFamily="34" charset="-120"/>
              </a:rPr>
              <a:t>Her birini yansıma yasasına göre yansıt (i = r).</a:t>
            </a:r>
            <a:endParaRPr lang="en-US" sz="1600" dirty="0"/>
          </a:p>
          <a:p>
            <a:pPr marL="228600" indent="-228600">
              <a:lnSpc>
                <a:spcPct val="115000"/>
              </a:lnSpc>
              <a:spcAft>
                <a:spcPts val="500"/>
              </a:spcAft>
              <a:buSzPct val="100000"/>
              <a:buFont typeface="+mj-lt"/>
              <a:buAutoNum type="arabicPeriod" startAt="1"/>
            </a:pPr>
            <a:r>
              <a:rPr lang="en-US" sz="1600" dirty="0">
                <a:solidFill>
                  <a:srgbClr val="4A5470"/>
                </a:solidFill>
                <a:latin typeface="Calibri" pitchFamily="34" charset="0"/>
                <a:ea typeface="Calibri" pitchFamily="34" charset="-122"/>
                <a:cs typeface="Calibri" pitchFamily="34" charset="-120"/>
              </a:rPr>
              <a:t>Yansıyan ışınları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geriye, kesikli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uzat.</a:t>
            </a:r>
            <a:endParaRPr lang="en-US" sz="1600" dirty="0"/>
          </a:p>
          <a:p>
            <a:pPr marL="228600" indent="-228600">
              <a:lnSpc>
                <a:spcPct val="115000"/>
              </a:lnSpc>
              <a:spcAft>
                <a:spcPts val="500"/>
              </a:spcAft>
              <a:buSzPct val="100000"/>
              <a:buFont typeface="+mj-lt"/>
              <a:buAutoNum type="arabicPeriod" startAt="1"/>
            </a:pPr>
            <a:r>
              <a:rPr lang="en-US" sz="1600" dirty="0">
                <a:solidFill>
                  <a:srgbClr val="4A5470"/>
                </a:solidFill>
                <a:latin typeface="Calibri" pitchFamily="34" charset="0"/>
                <a:ea typeface="Calibri" pitchFamily="34" charset="-122"/>
                <a:cs typeface="Calibri" pitchFamily="34" charset="-120"/>
              </a:rPr>
              <a:t>Uzantıların kesiştiği nokta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görüntüdür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6" name="Text 4"/>
          <p:cNvSpPr txBox="1"/>
          <p:nvPr/>
        </p:nvSpPr>
        <p:spPr>
          <a:xfrm>
            <a:off x="640080" y="2968752"/>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Kısayol: cismin aynaya dik uzaklığını ölç, aynanın arkasına aynı uzaklıkta işaretle.</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Sonuç aynıdır çünkü düzlem ayna, cismin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ayna düzlemine göre simetriğini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oluşturur.</a:t>
            </a:r>
            <a:endParaRPr lang="en-US" sz="1600" dirty="0"/>
          </a:p>
        </p:txBody>
      </p:sp>
      <p:sp>
        <p:nvSpPr>
          <p:cNvPr id="7" name="Shape 5"/>
          <p:cNvSpPr/>
          <p:nvPr/>
        </p:nvSpPr>
        <p:spPr>
          <a:xfrm>
            <a:off x="6419088" y="1481328"/>
            <a:ext cx="5132527" cy="3469007"/>
          </a:xfrm>
          <a:prstGeom prst="roundRect">
            <a:avLst>
              <a:gd name="adj" fmla="val 421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duzlem-aynalar-04.png">    </p:cNvPr>
          <p:cNvPicPr>
            <a:picLocks noChangeAspect="1"/>
          </p:cNvPicPr>
          <p:nvPr/>
        </p:nvPicPr>
        <p:blipFill>
          <a:blip r:embed="rId1"/>
          <a:stretch>
            <a:fillRect/>
          </a:stretch>
        </p:blipFill>
        <p:spPr>
          <a:xfrm>
            <a:off x="6601968" y="1664208"/>
            <a:ext cx="4766767" cy="2005967"/>
          </a:xfrm>
          <a:prstGeom prst="rect">
            <a:avLst/>
          </a:prstGeom>
        </p:spPr>
      </p:pic>
      <p:sp>
        <p:nvSpPr>
          <p:cNvPr id="9" name="Shape 6"/>
          <p:cNvSpPr/>
          <p:nvPr/>
        </p:nvSpPr>
        <p:spPr>
          <a:xfrm>
            <a:off x="6601968" y="3761615"/>
            <a:ext cx="4766767" cy="0"/>
          </a:xfrm>
          <a:prstGeom prst="line">
            <a:avLst/>
          </a:prstGeom>
          <a:noFill/>
          <a:ln w="9525">
            <a:solidFill>
              <a:srgbClr val="E1E5EE"/>
            </a:solidFill>
            <a:prstDash val="dash"/>
          </a:ln>
        </p:spPr>
      </p:sp>
      <p:sp>
        <p:nvSpPr>
          <p:cNvPr id="10" name="Text 7"/>
          <p:cNvSpPr txBox="1"/>
          <p:nvPr/>
        </p:nvSpPr>
        <p:spPr>
          <a:xfrm>
            <a:off x="6601968" y="3816479"/>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Görüntüyü çizmek için cismin bir noktasından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 ışın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göndermek yeter: ikisi de i = r kuralıyla yansır. Yansıyan ışınlar göze ulaştığında göz onları düz bir çizgi boyunca geri izler ve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aynanın arkasında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noktada birleştirir. Işınlar orada gerçekten buluşmaz — buluşan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uzantılarıdır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Sanal görüntü tam olarak budur.</a:t>
            </a:r>
            <a:endParaRPr lang="en-US" sz="105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Cismin ve görüntünün hareketi</a:t>
            </a:r>
            <a:endParaRPr lang="en-US" sz="3200" dirty="0"/>
          </a:p>
        </p:txBody>
      </p:sp>
      <p:sp>
        <p:nvSpPr>
          <p:cNvPr id="5" name="Text 3"/>
          <p:cNvSpPr txBox="1"/>
          <p:nvPr/>
        </p:nvSpPr>
        <p:spPr>
          <a:xfrm>
            <a:off x="640080" y="1481328"/>
            <a:ext cx="5486400" cy="21549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Cisim aynaya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v</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hızıyla yaklaşırsa görüntü de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v</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hızıyla yaklaşır;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birbirlerine göre hızları 2v</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olur.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Cisim aynaya paralel hareket ederse görüntü de aynı yönde, aynı hızla hareket eder.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Ayna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cisme doğru v hızıyla hareket ederse görüntü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2v</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hızıyla yaklaşır.</a:t>
            </a:r>
            <a:endParaRPr lang="en-US" sz="1600" dirty="0"/>
          </a:p>
        </p:txBody>
      </p:sp>
      <p:sp>
        <p:nvSpPr>
          <p:cNvPr id="6" name="Shape 4"/>
          <p:cNvSpPr/>
          <p:nvPr/>
        </p:nvSpPr>
        <p:spPr>
          <a:xfrm>
            <a:off x="6419088" y="1481328"/>
            <a:ext cx="5132527" cy="3250578"/>
          </a:xfrm>
          <a:prstGeom prst="roundRect">
            <a:avLst>
              <a:gd name="adj" fmla="val 450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a4dee546-de71-4ec2-8add-be39dd273d29/scratchpad/sekiller/duzlem-aynalar-05.png">    </p:cNvPr>
          <p:cNvPicPr>
            <a:picLocks noChangeAspect="1"/>
          </p:cNvPicPr>
          <p:nvPr/>
        </p:nvPicPr>
        <p:blipFill>
          <a:blip r:embed="rId1"/>
          <a:stretch>
            <a:fillRect/>
          </a:stretch>
        </p:blipFill>
        <p:spPr>
          <a:xfrm>
            <a:off x="6601968" y="1664208"/>
            <a:ext cx="4766767" cy="1787538"/>
          </a:xfrm>
          <a:prstGeom prst="rect">
            <a:avLst/>
          </a:prstGeom>
        </p:spPr>
      </p:pic>
      <p:sp>
        <p:nvSpPr>
          <p:cNvPr id="8" name="Shape 5"/>
          <p:cNvSpPr/>
          <p:nvPr/>
        </p:nvSpPr>
        <p:spPr>
          <a:xfrm>
            <a:off x="6601968" y="3543186"/>
            <a:ext cx="4766767" cy="0"/>
          </a:xfrm>
          <a:prstGeom prst="line">
            <a:avLst/>
          </a:prstGeom>
          <a:noFill/>
          <a:ln w="9525">
            <a:solidFill>
              <a:srgbClr val="E1E5EE"/>
            </a:solidFill>
            <a:prstDash val="dash"/>
          </a:ln>
        </p:spPr>
      </p:sp>
      <p:sp>
        <p:nvSpPr>
          <p:cNvPr id="9" name="Text 6"/>
          <p:cNvSpPr txBox="1"/>
          <p:nvPr/>
        </p:nvSpPr>
        <p:spPr>
          <a:xfrm>
            <a:off x="6601968" y="359805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Cisim aynaya yaklaşırken görüntü de aynı hızla yaklaşır —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 yönde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cisimle görüntüsü arasındaki uzaklık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2v</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hızıyla kapanır. Aynanın kendisi cisme doğru v ile hareket ederse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2v</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ile yaklaşır; bunları karıştırmamak için her seferinde "kim kime göre" diye sormak gerekir.</a:t>
            </a:r>
            <a:endParaRPr lang="en-US" sz="105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Aynanın dönmesi</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Gelen ışın sabitken ayna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kadar döndürülürse, normal de α kadar döner; gelme açısı α değişir, yansıma açısı da α değişir.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Sonuçta yansıyan ışın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2α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kadar döner.</a:t>
            </a:r>
            <a:endParaRPr lang="en-US" sz="1600" dirty="0"/>
          </a:p>
        </p:txBody>
      </p:sp>
      <p:sp>
        <p:nvSpPr>
          <p:cNvPr id="6" name="Shape 4"/>
          <p:cNvSpPr/>
          <p:nvPr/>
        </p:nvSpPr>
        <p:spPr>
          <a:xfrm>
            <a:off x="640080" y="2840736"/>
            <a:ext cx="2827325"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840736"/>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Δ(yansıyan ışın) = 2 · α</a:t>
            </a:r>
            <a:endParaRPr lang="en-US" sz="1300" dirty="0"/>
          </a:p>
        </p:txBody>
      </p:sp>
      <p:sp>
        <p:nvSpPr>
          <p:cNvPr id="8" name="Text 6"/>
          <p:cNvSpPr txBox="1"/>
          <p:nvPr/>
        </p:nvSpPr>
        <p:spPr>
          <a:xfrm>
            <a:off x="640080" y="3462528"/>
            <a:ext cx="5486400" cy="841248"/>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Bu özellik hassas ölçüm aletlerinde kullanılır: küçük bir dönmeyi iki katına büyütüp ölçmeyi kolaylaştırır.</a:t>
            </a:r>
            <a:endParaRPr lang="en-US" sz="1600" dirty="0"/>
          </a:p>
        </p:txBody>
      </p:sp>
      <p:sp>
        <p:nvSpPr>
          <p:cNvPr id="9" name="Shape 7"/>
          <p:cNvSpPr/>
          <p:nvPr/>
        </p:nvSpPr>
        <p:spPr>
          <a:xfrm>
            <a:off x="6419088" y="148132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duzlem-aynalar-06.png">    </p:cNvPr>
          <p:cNvPicPr>
            <a:picLocks noChangeAspect="1"/>
          </p:cNvPicPr>
          <p:nvPr/>
        </p:nvPicPr>
        <p:blipFill>
          <a:blip r:embed="rId1"/>
          <a:stretch>
            <a:fillRect/>
          </a:stretch>
        </p:blipFill>
        <p:spPr>
          <a:xfrm>
            <a:off x="6601968" y="1664208"/>
            <a:ext cx="4766767" cy="2025876"/>
          </a:xfrm>
          <a:prstGeom prst="rect">
            <a:avLst/>
          </a:prstGeom>
        </p:spPr>
      </p:pic>
      <p:sp>
        <p:nvSpPr>
          <p:cNvPr id="11" name="Shape 8"/>
          <p:cNvSpPr/>
          <p:nvPr/>
        </p:nvSpPr>
        <p:spPr>
          <a:xfrm>
            <a:off x="6601968" y="3781524"/>
            <a:ext cx="4766767" cy="0"/>
          </a:xfrm>
          <a:prstGeom prst="line">
            <a:avLst/>
          </a:prstGeom>
          <a:noFill/>
          <a:ln w="9525">
            <a:solidFill>
              <a:srgbClr val="E1E5EE"/>
            </a:solidFill>
            <a:prstDash val="dash"/>
          </a:ln>
        </p:spPr>
      </p:sp>
      <p:sp>
        <p:nvSpPr>
          <p:cNvPr id="12" name="Text 9"/>
          <p:cNvSpPr txBox="1"/>
          <p:nvPr/>
        </p:nvSpPr>
        <p:spPr>
          <a:xfrm>
            <a:off x="6601968" y="383638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Gelen ışını hiç değiştirmeden aynayı α kadar döndürürsen, yansıyan ışın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 döner. Sebebi şu: ayna döndüğünde normali de α kadar döner, hem gelme hem yansıma açısı α değişir ve ikisi toplanır. Ayna galvanometresi, lazer tarayıcılar ve barkod okuyucular küçük bir dönmeyi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 katına büyütmek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için tam olarak bunu kullanır.</a:t>
            </a:r>
            <a:endParaRPr lang="en-US" sz="105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ayna arasındaki görüntüler</a:t>
            </a:r>
            <a:endParaRPr lang="en-US" sz="3200" dirty="0"/>
          </a:p>
        </p:txBody>
      </p:sp>
      <p:sp>
        <p:nvSpPr>
          <p:cNvPr id="5" name="Text 3"/>
          <p:cNvSpPr txBox="1"/>
          <p:nvPr/>
        </p:nvSpPr>
        <p:spPr>
          <a:xfrm>
            <a:off x="640080" y="1481328"/>
            <a:ext cx="6309360" cy="736092"/>
          </a:xfrm>
          <a:prstGeom prst="rect">
            <a:avLst/>
          </a:prstGeom>
          <a:noFill/>
          <a:ln/>
        </p:spPr>
        <p:txBody>
          <a:bodyPr wrap="square" lIns="0" tIns="0" rIns="0" bIns="0" rtlCol="0" anchor="t"/>
          <a:lstStyle/>
          <a:p>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Aralarında α açısı bulunan iki düzlem ayna arasına konan cismin görüntüleri, aynaların kesişme noktası merkez olmak üzere bir çember üzerinde dizilir.</a:t>
            </a:r>
            <a:endParaRPr lang="en-US" sz="1400" dirty="0"/>
          </a:p>
        </p:txBody>
      </p:sp>
      <p:sp>
        <p:nvSpPr>
          <p:cNvPr id="6" name="Shape 4"/>
          <p:cNvSpPr/>
          <p:nvPr/>
        </p:nvSpPr>
        <p:spPr>
          <a:xfrm>
            <a:off x="640080" y="2345436"/>
            <a:ext cx="193852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345436"/>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360 / α − 1</a:t>
            </a:r>
            <a:endParaRPr lang="en-US" sz="1300" dirty="0"/>
          </a:p>
        </p:txBody>
      </p:sp>
      <p:sp>
        <p:nvSpPr>
          <p:cNvPr id="8" name="Text 6"/>
          <p:cNvSpPr txBox="1"/>
          <p:nvPr/>
        </p:nvSpPr>
        <p:spPr>
          <a:xfrm>
            <a:off x="640080" y="2967228"/>
            <a:ext cx="6309360" cy="123748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α = 90°</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 n = 3 görüntü.</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α = 60°</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 n = 5 görüntü.</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α = 45°</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 n = 7 görüntü.</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α = 0° (paralel aynalar)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 sonsuz görüntü.</a:t>
            </a:r>
            <a:endParaRPr lang="en-US" sz="1400" dirty="0"/>
          </a:p>
        </p:txBody>
      </p:sp>
      <p:sp>
        <p:nvSpPr>
          <p:cNvPr id="9" name="Shape 7"/>
          <p:cNvSpPr/>
          <p:nvPr/>
        </p:nvSpPr>
        <p:spPr>
          <a:xfrm>
            <a:off x="640080" y="4314444"/>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4460748"/>
            <a:ext cx="45720" cy="793242"/>
          </a:xfrm>
          <a:prstGeom prst="rect">
            <a:avLst/>
          </a:prstGeom>
          <a:solidFill>
            <a:srgbClr val="A56209"/>
          </a:solidFill>
          <a:ln/>
        </p:spPr>
      </p:sp>
      <p:sp>
        <p:nvSpPr>
          <p:cNvPr id="11" name="Text 9"/>
          <p:cNvSpPr txBox="1"/>
          <p:nvPr/>
        </p:nvSpPr>
        <p:spPr>
          <a:xfrm>
            <a:off x="914400" y="4424172"/>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360/α tam bölünmezse</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görüntü sayısı, bölümün tam kısmı kadardır. 360/α tek sayı çıkarsa, cisim açıortay üzerindeyken bir görüntü eksilir; bu ayrıntı ileri düzey sorularda karşımıza çıkar.</a:t>
            </a:r>
            <a:endParaRPr lang="en-US" sz="1300" dirty="0"/>
          </a:p>
        </p:txBody>
      </p:sp>
      <p:sp>
        <p:nvSpPr>
          <p:cNvPr id="12" name="Shape 10"/>
          <p:cNvSpPr/>
          <p:nvPr/>
        </p:nvSpPr>
        <p:spPr>
          <a:xfrm>
            <a:off x="7242048" y="1481328"/>
            <a:ext cx="4309567" cy="3924809"/>
          </a:xfrm>
          <a:prstGeom prst="roundRect">
            <a:avLst>
              <a:gd name="adj" fmla="val 372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duzlem-aynalar-07.png">    </p:cNvPr>
          <p:cNvPicPr>
            <a:picLocks noChangeAspect="1"/>
          </p:cNvPicPr>
          <p:nvPr/>
        </p:nvPicPr>
        <p:blipFill>
          <a:blip r:embed="rId1"/>
          <a:stretch>
            <a:fillRect/>
          </a:stretch>
        </p:blipFill>
        <p:spPr>
          <a:xfrm>
            <a:off x="7424928" y="1664208"/>
            <a:ext cx="3943807" cy="2103324"/>
          </a:xfrm>
          <a:prstGeom prst="rect">
            <a:avLst/>
          </a:prstGeom>
        </p:spPr>
      </p:pic>
      <p:sp>
        <p:nvSpPr>
          <p:cNvPr id="14" name="Shape 11"/>
          <p:cNvSpPr/>
          <p:nvPr/>
        </p:nvSpPr>
        <p:spPr>
          <a:xfrm>
            <a:off x="7424928" y="3858972"/>
            <a:ext cx="3943807" cy="0"/>
          </a:xfrm>
          <a:prstGeom prst="line">
            <a:avLst/>
          </a:prstGeom>
          <a:noFill/>
          <a:ln w="9525">
            <a:solidFill>
              <a:srgbClr val="E1E5EE"/>
            </a:solidFill>
            <a:prstDash val="dash"/>
          </a:ln>
        </p:spPr>
      </p:sp>
      <p:sp>
        <p:nvSpPr>
          <p:cNvPr id="15" name="Text 12"/>
          <p:cNvSpPr txBox="1"/>
          <p:nvPr/>
        </p:nvSpPr>
        <p:spPr>
          <a:xfrm>
            <a:off x="7424928" y="3913836"/>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ayna arasındaki cisim, yalnızca kendini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görüntülerin görüntülerini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 yansıtır. Bütün görüntüler, aynaların kesiştiği noktayı merkez alan bir çember üzerinde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eşit aralıklarla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dizilir. Açı küçüldükçe çembere daha çok görüntü sığar: n = 360/α − 1. Aynalar paralel olursa (α = 0) görüntü sayısı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sonsuza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gider — berber aynalarındaki o bitmeyen koridorun sebebi budur.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Yüzeyle yapılan açı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ışın düzlem aynanın yüzeyiyle 25° açı yapacak şekilde geliyor. Gelme açısı, yansıma açısı ve iki ışın arasındaki açı kaç derecedir?</a:t>
            </a:r>
            <a:endParaRPr lang="en-US" sz="1600" dirty="0"/>
          </a:p>
        </p:txBody>
      </p:sp>
      <p:sp>
        <p:nvSpPr>
          <p:cNvPr id="9" name="Shape 7"/>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4744"/>
            <a:ext cx="384048" cy="384048"/>
          </a:xfrm>
          <a:prstGeom prst="roundRect">
            <a:avLst>
              <a:gd name="adj" fmla="val 26000"/>
            </a:avLst>
          </a:prstGeom>
          <a:solidFill>
            <a:srgbClr val="A56209"/>
          </a:solidFill>
          <a:ln/>
        </p:spPr>
      </p:sp>
      <p:sp>
        <p:nvSpPr>
          <p:cNvPr id="11" name="Text 9"/>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Gelme açısı normalle ölçülür: i = 90°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65°</a:t>
            </a:r>
            <a:endParaRPr lang="en-US" sz="1600" dirty="0"/>
          </a:p>
        </p:txBody>
      </p:sp>
      <p:sp>
        <p:nvSpPr>
          <p:cNvPr id="13" name="Shape 11"/>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09319"/>
            <a:ext cx="384048" cy="384048"/>
          </a:xfrm>
          <a:prstGeom prst="roundRect">
            <a:avLst>
              <a:gd name="adj" fmla="val 26000"/>
            </a:avLst>
          </a:prstGeom>
          <a:solidFill>
            <a:srgbClr val="A56209"/>
          </a:solidFill>
          <a:ln/>
        </p:spPr>
      </p:sp>
      <p:sp>
        <p:nvSpPr>
          <p:cNvPr id="15" name="Text 13"/>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Yansıma açısı: r = i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65°</a:t>
            </a:r>
            <a:endParaRPr lang="en-US" sz="1600" dirty="0"/>
          </a:p>
        </p:txBody>
      </p:sp>
      <p:sp>
        <p:nvSpPr>
          <p:cNvPr id="17" name="Shape 15"/>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058751"/>
            <a:ext cx="384048" cy="384048"/>
          </a:xfrm>
          <a:prstGeom prst="roundRect">
            <a:avLst>
              <a:gd name="adj" fmla="val 26000"/>
            </a:avLst>
          </a:prstGeom>
          <a:solidFill>
            <a:srgbClr val="A56209"/>
          </a:solidFill>
          <a:ln/>
        </p:spPr>
      </p:sp>
      <p:sp>
        <p:nvSpPr>
          <p:cNvPr id="19" name="Text 17"/>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Gelen ve yansıyan ışın arasındaki açı: i + r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130°</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Aynanın dönmesi</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Sabit bir ışın demeti düzlem aynaya düşerken ayna 12° döndürülüyor. Yansıyan ışın kaç derece döner?</a:t>
            </a:r>
            <a:endParaRPr lang="en-US" sz="1600" dirty="0"/>
          </a:p>
        </p:txBody>
      </p:sp>
      <p:sp>
        <p:nvSpPr>
          <p:cNvPr id="9" name="Shape 7"/>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4744"/>
            <a:ext cx="384048" cy="384048"/>
          </a:xfrm>
          <a:prstGeom prst="roundRect">
            <a:avLst>
              <a:gd name="adj" fmla="val 26000"/>
            </a:avLst>
          </a:prstGeom>
          <a:solidFill>
            <a:srgbClr val="A56209"/>
          </a:solidFill>
          <a:ln/>
        </p:spPr>
      </p:sp>
      <p:sp>
        <p:nvSpPr>
          <p:cNvPr id="11" name="Text 9"/>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Ayna α = 12° dönerse normal de 12° döner.</a:t>
            </a:r>
            <a:endParaRPr lang="en-US" sz="1600" dirty="0"/>
          </a:p>
        </p:txBody>
      </p:sp>
      <p:sp>
        <p:nvSpPr>
          <p:cNvPr id="13" name="Shape 11"/>
          <p:cNvSpPr/>
          <p:nvPr/>
        </p:nvSpPr>
        <p:spPr>
          <a:xfrm>
            <a:off x="5212080" y="2992207"/>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694176"/>
            <a:ext cx="384048" cy="384048"/>
          </a:xfrm>
          <a:prstGeom prst="roundRect">
            <a:avLst>
              <a:gd name="adj" fmla="val 26000"/>
            </a:avLst>
          </a:prstGeom>
          <a:solidFill>
            <a:srgbClr val="A56209"/>
          </a:solidFill>
          <a:ln/>
        </p:spPr>
      </p:sp>
      <p:sp>
        <p:nvSpPr>
          <p:cNvPr id="15" name="Text 13"/>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7071"/>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Gelme açısı 12° değişir; yansıma açısı da 12° değişir.</a:t>
            </a:r>
            <a:endParaRPr lang="en-US" sz="1600" dirty="0"/>
          </a:p>
        </p:txBody>
      </p:sp>
      <p:sp>
        <p:nvSpPr>
          <p:cNvPr id="17" name="Shape 15"/>
          <p:cNvSpPr/>
          <p:nvPr/>
        </p:nvSpPr>
        <p:spPr>
          <a:xfrm>
            <a:off x="5212080" y="492649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343608"/>
            <a:ext cx="384048" cy="384048"/>
          </a:xfrm>
          <a:prstGeom prst="roundRect">
            <a:avLst>
              <a:gd name="adj" fmla="val 26000"/>
            </a:avLst>
          </a:prstGeom>
          <a:solidFill>
            <a:srgbClr val="A56209"/>
          </a:solidFill>
          <a:ln/>
        </p:spPr>
      </p:sp>
      <p:sp>
        <p:nvSpPr>
          <p:cNvPr id="19" name="Text 17"/>
          <p:cNvSpPr txBox="1"/>
          <p:nvPr/>
        </p:nvSpPr>
        <p:spPr>
          <a:xfrm>
            <a:off x="5449824" y="534360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98136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Yansıyan ışının dönmesi: 2α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Boy aynası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Boyu 180 cm, göz yüksekliği 170 cm olan bir kişi kendini tepeden tırnağa görmek istiyor. Aynanın boyu ve alt kenarının yerden yüksekliği ne olmalıdır?</a:t>
            </a:r>
            <a:endParaRPr lang="en-US" sz="1600" dirty="0"/>
          </a:p>
        </p:txBody>
      </p:sp>
      <p:sp>
        <p:nvSpPr>
          <p:cNvPr id="9" name="Shape 7"/>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48778"/>
            <a:ext cx="384048" cy="384048"/>
          </a:xfrm>
          <a:prstGeom prst="roundRect">
            <a:avLst>
              <a:gd name="adj" fmla="val 26000"/>
            </a:avLst>
          </a:prstGeom>
          <a:solidFill>
            <a:srgbClr val="A56209"/>
          </a:solidFill>
          <a:ln/>
        </p:spPr>
      </p:sp>
      <p:sp>
        <p:nvSpPr>
          <p:cNvPr id="11" name="Text 9"/>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Ayna boyu = h/2 = 180/2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90 cm</a:t>
            </a:r>
            <a:endParaRPr lang="en-US" sz="1600" dirty="0"/>
          </a:p>
        </p:txBody>
      </p:sp>
      <p:sp>
        <p:nvSpPr>
          <p:cNvPr id="13" name="Shape 11"/>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014638"/>
            <a:ext cx="384048" cy="384048"/>
          </a:xfrm>
          <a:prstGeom prst="roundRect">
            <a:avLst>
              <a:gd name="adj" fmla="val 26000"/>
            </a:avLst>
          </a:prstGeom>
          <a:solidFill>
            <a:srgbClr val="A56209"/>
          </a:solidFill>
          <a:ln/>
        </p:spPr>
      </p:sp>
      <p:sp>
        <p:nvSpPr>
          <p:cNvPr id="15" name="Text 13"/>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Alt kenar, göz ile ayak arasının ortası: 170/2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85 cm</a:t>
            </a:r>
            <a:endParaRPr lang="en-US" sz="1600" dirty="0"/>
          </a:p>
        </p:txBody>
      </p:sp>
      <p:sp>
        <p:nvSpPr>
          <p:cNvPr id="17" name="Shape 15"/>
          <p:cNvSpPr/>
          <p:nvPr/>
        </p:nvSpPr>
        <p:spPr>
          <a:xfrm>
            <a:off x="5212080" y="395935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373714"/>
            <a:ext cx="384048" cy="384048"/>
          </a:xfrm>
          <a:prstGeom prst="roundRect">
            <a:avLst>
              <a:gd name="adj" fmla="val 26000"/>
            </a:avLst>
          </a:prstGeom>
          <a:solidFill>
            <a:srgbClr val="A56209"/>
          </a:solidFill>
          <a:ln/>
        </p:spPr>
      </p:sp>
      <p:sp>
        <p:nvSpPr>
          <p:cNvPr id="19" name="Text 17"/>
          <p:cNvSpPr txBox="1"/>
          <p:nvPr/>
        </p:nvSpPr>
        <p:spPr>
          <a:xfrm>
            <a:off x="5449824" y="437371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Üst kenar: alt kenar + 90 = 175 cm (baş ile göz arasının ortası).</a:t>
            </a:r>
            <a:endParaRPr lang="en-US" sz="1600" dirty="0"/>
          </a:p>
        </p:txBody>
      </p:sp>
      <p:sp>
        <p:nvSpPr>
          <p:cNvPr id="21" name="Shape 19"/>
          <p:cNvSpPr/>
          <p:nvPr/>
        </p:nvSpPr>
        <p:spPr>
          <a:xfrm>
            <a:off x="5212080" y="531842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539574"/>
            <a:ext cx="384048" cy="384048"/>
          </a:xfrm>
          <a:prstGeom prst="roundRect">
            <a:avLst>
              <a:gd name="adj" fmla="val 26000"/>
            </a:avLst>
          </a:prstGeom>
          <a:solidFill>
            <a:srgbClr val="A56209"/>
          </a:solidFill>
          <a:ln/>
        </p:spPr>
      </p:sp>
      <p:sp>
        <p:nvSpPr>
          <p:cNvPr id="23" name="Text 21"/>
          <p:cNvSpPr txBox="1"/>
          <p:nvPr/>
        </p:nvSpPr>
        <p:spPr>
          <a:xfrm>
            <a:off x="5449824" y="553957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37329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Kişinin aynaya uzaklığı sonucu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değiştirmez</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ayna</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40° açı bulunan iki düzlem ayna arasına bir cisim konuyor. Kaç görüntü oluşur?</a:t>
            </a:r>
            <a:endParaRPr lang="en-US" sz="1600" dirty="0"/>
          </a:p>
        </p:txBody>
      </p:sp>
      <p:sp>
        <p:nvSpPr>
          <p:cNvPr id="9" name="Shape 7"/>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139696"/>
            <a:ext cx="384048" cy="384048"/>
          </a:xfrm>
          <a:prstGeom prst="roundRect">
            <a:avLst>
              <a:gd name="adj" fmla="val 26000"/>
            </a:avLst>
          </a:prstGeom>
          <a:solidFill>
            <a:srgbClr val="A56209"/>
          </a:solidFill>
          <a:ln/>
        </p:spPr>
      </p:sp>
      <p:sp>
        <p:nvSpPr>
          <p:cNvPr id="11" name="Text 9"/>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360 / α = 360 / 40 = 9</a:t>
            </a:r>
            <a:endParaRPr lang="en-US" sz="1600" dirty="0"/>
          </a:p>
        </p:txBody>
      </p:sp>
      <p:sp>
        <p:nvSpPr>
          <p:cNvPr id="13" name="Shape 11"/>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694176"/>
            <a:ext cx="384048" cy="384048"/>
          </a:xfrm>
          <a:prstGeom prst="roundRect">
            <a:avLst>
              <a:gd name="adj" fmla="val 26000"/>
            </a:avLst>
          </a:prstGeom>
          <a:solidFill>
            <a:srgbClr val="A56209"/>
          </a:solidFill>
          <a:ln/>
        </p:spPr>
      </p:sp>
      <p:sp>
        <p:nvSpPr>
          <p:cNvPr id="15" name="Text 13"/>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9 − 1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 görüntü</a:t>
            </a:r>
            <a:endParaRPr lang="en-US" sz="1600" dirty="0"/>
          </a:p>
        </p:txBody>
      </p:sp>
      <p:sp>
        <p:nvSpPr>
          <p:cNvPr id="17" name="Shape 15"/>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248656"/>
            <a:ext cx="384048" cy="384048"/>
          </a:xfrm>
          <a:prstGeom prst="roundRect">
            <a:avLst>
              <a:gd name="adj" fmla="val 26000"/>
            </a:avLst>
          </a:prstGeom>
          <a:solidFill>
            <a:srgbClr val="A56209"/>
          </a:solidFill>
          <a:ln/>
        </p:spPr>
      </p:sp>
      <p:sp>
        <p:nvSpPr>
          <p:cNvPr id="19" name="Text 17"/>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Açı 90° olsaydı 360/90 − 1 = 3 görüntü oluşurdu.</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Açıyı yüzeyle ölçmek.</a:t>
            </a:r>
            <a:endParaRPr lang="en-US" sz="1500" dirty="0"/>
          </a:p>
        </p:txBody>
      </p:sp>
      <p:sp>
        <p:nvSpPr>
          <p:cNvPr id="10" name="Shape 8"/>
          <p:cNvSpPr/>
          <p:nvPr/>
        </p:nvSpPr>
        <p:spPr>
          <a:xfrm>
            <a:off x="841248" y="2137410"/>
            <a:ext cx="274320" cy="274320"/>
          </a:xfrm>
          <a:prstGeom prst="roundRect">
            <a:avLst>
              <a:gd name="adj" fmla="val 26667"/>
            </a:avLst>
          </a:prstGeom>
          <a:solidFill>
            <a:srgbClr val="EAF7DC"/>
          </a:solidFill>
          <a:ln/>
        </p:spPr>
      </p:sp>
      <p:sp>
        <p:nvSpPr>
          <p:cNvPr id="11" name="Text 9"/>
          <p:cNvSpPr txBox="1"/>
          <p:nvPr/>
        </p:nvSpPr>
        <p:spPr>
          <a:xfrm>
            <a:off x="841248"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Gelme ve yansıma açıları her zaman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normalle</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ölçülür.</a:t>
            </a:r>
            <a:endParaRPr lang="en-US" sz="1400" dirty="0"/>
          </a:p>
        </p:txBody>
      </p:sp>
      <p:sp>
        <p:nvSpPr>
          <p:cNvPr id="13" name="Shape 11"/>
          <p:cNvSpPr/>
          <p:nvPr/>
        </p:nvSpPr>
        <p:spPr>
          <a:xfrm>
            <a:off x="6205576"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Görüntüyü gerçek sanmak.</a:t>
            </a:r>
            <a:endParaRPr lang="en-US" sz="1500" dirty="0"/>
          </a:p>
        </p:txBody>
      </p:sp>
      <p:sp>
        <p:nvSpPr>
          <p:cNvPr id="17" name="Shape 15"/>
          <p:cNvSpPr/>
          <p:nvPr/>
        </p:nvSpPr>
        <p:spPr>
          <a:xfrm>
            <a:off x="6406744" y="2137410"/>
            <a:ext cx="274320" cy="274320"/>
          </a:xfrm>
          <a:prstGeom prst="roundRect">
            <a:avLst>
              <a:gd name="adj" fmla="val 26667"/>
            </a:avLst>
          </a:prstGeom>
          <a:solidFill>
            <a:srgbClr val="EAF7DC"/>
          </a:solidFill>
          <a:ln/>
        </p:spPr>
      </p:sp>
      <p:sp>
        <p:nvSpPr>
          <p:cNvPr id="18" name="Text 16"/>
          <p:cNvSpPr txBox="1"/>
          <p:nvPr/>
        </p:nvSpPr>
        <p:spPr>
          <a:xfrm>
            <a:off x="6406744"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Düzlem aynada görüntü sanaldır; perdeye düşmez.</a:t>
            </a:r>
            <a:endParaRPr lang="en-US" sz="1400" dirty="0"/>
          </a:p>
        </p:txBody>
      </p:sp>
      <p:sp>
        <p:nvSpPr>
          <p:cNvPr id="20" name="Shape 18"/>
          <p:cNvSpPr/>
          <p:nvPr/>
        </p:nvSpPr>
        <p:spPr>
          <a:xfrm>
            <a:off x="640080"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3328416"/>
            <a:ext cx="274320" cy="274320"/>
          </a:xfrm>
          <a:prstGeom prst="roundRect">
            <a:avLst>
              <a:gd name="adj" fmla="val 26667"/>
            </a:avLst>
          </a:prstGeom>
          <a:solidFill>
            <a:srgbClr val="FBE9EE"/>
          </a:solidFill>
          <a:ln/>
        </p:spPr>
      </p:sp>
      <p:sp>
        <p:nvSpPr>
          <p:cNvPr id="22" name="Text 20"/>
          <p:cNvSpPr txBox="1"/>
          <p:nvPr/>
        </p:nvSpPr>
        <p:spPr>
          <a:xfrm>
            <a:off x="841248"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330098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“Ayna sağı solu değiştirir, peki neden altı üstü değiştirmiyor?”</a:t>
            </a:r>
            <a:endParaRPr lang="en-US" sz="1500" dirty="0"/>
          </a:p>
        </p:txBody>
      </p:sp>
      <p:sp>
        <p:nvSpPr>
          <p:cNvPr id="24" name="Shape 22"/>
          <p:cNvSpPr/>
          <p:nvPr/>
        </p:nvSpPr>
        <p:spPr>
          <a:xfrm>
            <a:off x="841248" y="3954780"/>
            <a:ext cx="274320" cy="274320"/>
          </a:xfrm>
          <a:prstGeom prst="roundRect">
            <a:avLst>
              <a:gd name="adj" fmla="val 26667"/>
            </a:avLst>
          </a:prstGeom>
          <a:solidFill>
            <a:srgbClr val="EAF7DC"/>
          </a:solidFill>
          <a:ln/>
        </p:spPr>
      </p:sp>
      <p:sp>
        <p:nvSpPr>
          <p:cNvPr id="25" name="Text 23"/>
          <p:cNvSpPr txBox="1"/>
          <p:nvPr/>
        </p:nvSpPr>
        <p:spPr>
          <a:xfrm>
            <a:off x="841248" y="395478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93649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Ayna aslında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önü arkayı</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ters çevirir; sağ–sol izlenimi bunun sonucudur.</a:t>
            </a:r>
            <a:endParaRPr lang="en-US" sz="1400" dirty="0"/>
          </a:p>
        </p:txBody>
      </p:sp>
      <p:sp>
        <p:nvSpPr>
          <p:cNvPr id="27" name="Shape 25"/>
          <p:cNvSpPr/>
          <p:nvPr/>
        </p:nvSpPr>
        <p:spPr>
          <a:xfrm>
            <a:off x="6205576"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3328416"/>
            <a:ext cx="274320" cy="274320"/>
          </a:xfrm>
          <a:prstGeom prst="roundRect">
            <a:avLst>
              <a:gd name="adj" fmla="val 26667"/>
            </a:avLst>
          </a:prstGeom>
          <a:solidFill>
            <a:srgbClr val="FBE9EE"/>
          </a:solidFill>
          <a:ln/>
        </p:spPr>
      </p:sp>
      <p:sp>
        <p:nvSpPr>
          <p:cNvPr id="29" name="Text 27"/>
          <p:cNvSpPr txBox="1"/>
          <p:nvPr/>
        </p:nvSpPr>
        <p:spPr>
          <a:xfrm>
            <a:off x="6406744"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Ayna α dönünce ışın da α döner sanmak.</a:t>
            </a:r>
            <a:endParaRPr lang="en-US" sz="1500" dirty="0"/>
          </a:p>
        </p:txBody>
      </p:sp>
      <p:sp>
        <p:nvSpPr>
          <p:cNvPr id="31" name="Shape 29"/>
          <p:cNvSpPr/>
          <p:nvPr/>
        </p:nvSpPr>
        <p:spPr>
          <a:xfrm>
            <a:off x="6406744" y="3691890"/>
            <a:ext cx="274320" cy="274320"/>
          </a:xfrm>
          <a:prstGeom prst="roundRect">
            <a:avLst>
              <a:gd name="adj" fmla="val 26667"/>
            </a:avLst>
          </a:prstGeom>
          <a:solidFill>
            <a:srgbClr val="EAF7DC"/>
          </a:solidFill>
          <a:ln/>
        </p:spPr>
      </p:sp>
      <p:sp>
        <p:nvSpPr>
          <p:cNvPr id="32" name="Text 30"/>
          <p:cNvSpPr txBox="1"/>
          <p:nvPr/>
        </p:nvSpPr>
        <p:spPr>
          <a:xfrm>
            <a:off x="6406744"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Işın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2α</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döner.</a:t>
            </a:r>
            <a:endParaRPr lang="en-US" sz="1400" dirty="0"/>
          </a:p>
        </p:txBody>
      </p:sp>
      <p:sp>
        <p:nvSpPr>
          <p:cNvPr id="34" name="Shape 32"/>
          <p:cNvSpPr/>
          <p:nvPr/>
        </p:nvSpPr>
        <p:spPr>
          <a:xfrm>
            <a:off x="640080"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882896"/>
            <a:ext cx="274320" cy="274320"/>
          </a:xfrm>
          <a:prstGeom prst="roundRect">
            <a:avLst>
              <a:gd name="adj" fmla="val 26667"/>
            </a:avLst>
          </a:prstGeom>
          <a:solidFill>
            <a:srgbClr val="FBE9EE"/>
          </a:solidFill>
          <a:ln/>
        </p:spPr>
      </p:sp>
      <p:sp>
        <p:nvSpPr>
          <p:cNvPr id="36" name="Text 34"/>
          <p:cNvSpPr txBox="1"/>
          <p:nvPr/>
        </p:nvSpPr>
        <p:spPr>
          <a:xfrm>
            <a:off x="841248"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85546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Boy aynasında uzaklığın etkili olduğunu düşünmek.</a:t>
            </a:r>
            <a:endParaRPr lang="en-US" sz="1500" dirty="0"/>
          </a:p>
        </p:txBody>
      </p:sp>
      <p:sp>
        <p:nvSpPr>
          <p:cNvPr id="38" name="Shape 36"/>
          <p:cNvSpPr/>
          <p:nvPr/>
        </p:nvSpPr>
        <p:spPr>
          <a:xfrm>
            <a:off x="841248" y="5509260"/>
            <a:ext cx="274320" cy="274320"/>
          </a:xfrm>
          <a:prstGeom prst="roundRect">
            <a:avLst>
              <a:gd name="adj" fmla="val 26667"/>
            </a:avLst>
          </a:prstGeom>
          <a:solidFill>
            <a:srgbClr val="EAF7DC"/>
          </a:solidFill>
          <a:ln/>
        </p:spPr>
      </p:sp>
      <p:sp>
        <p:nvSpPr>
          <p:cNvPr id="39" name="Text 37"/>
          <p:cNvSpPr txBox="1"/>
          <p:nvPr/>
        </p:nvSpPr>
        <p:spPr>
          <a:xfrm>
            <a:off x="841248" y="550926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549097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Gereken boy h/2'dir ve uzaklıktan bağımsızdır.</a:t>
            </a:r>
            <a:endParaRPr lang="en-US" sz="1400" dirty="0"/>
          </a:p>
        </p:txBody>
      </p:sp>
      <p:sp>
        <p:nvSpPr>
          <p:cNvPr id="41" name="Shape 39"/>
          <p:cNvSpPr/>
          <p:nvPr/>
        </p:nvSpPr>
        <p:spPr>
          <a:xfrm>
            <a:off x="6205576"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882896"/>
            <a:ext cx="274320" cy="274320"/>
          </a:xfrm>
          <a:prstGeom prst="roundRect">
            <a:avLst>
              <a:gd name="adj" fmla="val 26667"/>
            </a:avLst>
          </a:prstGeom>
          <a:solidFill>
            <a:srgbClr val="FBE9EE"/>
          </a:solidFill>
          <a:ln/>
        </p:spPr>
      </p:sp>
      <p:sp>
        <p:nvSpPr>
          <p:cNvPr id="43" name="Text 41"/>
          <p:cNvSpPr txBox="1"/>
          <p:nvPr/>
        </p:nvSpPr>
        <p:spPr>
          <a:xfrm>
            <a:off x="6406744"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85546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İki aynada 360/α'yı doğrudan görüntü sayısı sanmak.</a:t>
            </a:r>
            <a:endParaRPr lang="en-US" sz="1500" dirty="0"/>
          </a:p>
        </p:txBody>
      </p:sp>
      <p:sp>
        <p:nvSpPr>
          <p:cNvPr id="45" name="Shape 43"/>
          <p:cNvSpPr/>
          <p:nvPr/>
        </p:nvSpPr>
        <p:spPr>
          <a:xfrm>
            <a:off x="6406744" y="5509260"/>
            <a:ext cx="274320" cy="274320"/>
          </a:xfrm>
          <a:prstGeom prst="roundRect">
            <a:avLst>
              <a:gd name="adj" fmla="val 26667"/>
            </a:avLst>
          </a:prstGeom>
          <a:solidFill>
            <a:srgbClr val="EAF7DC"/>
          </a:solidFill>
          <a:ln/>
        </p:spPr>
      </p:sp>
      <p:sp>
        <p:nvSpPr>
          <p:cNvPr id="46" name="Text 44"/>
          <p:cNvSpPr txBox="1"/>
          <p:nvPr/>
        </p:nvSpPr>
        <p:spPr>
          <a:xfrm>
            <a:off x="6406744" y="550926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549097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Bu sayı cismi de içerir; görüntü sayısı bir eksiktir.</a:t>
            </a:r>
            <a:endParaRPr lang="en-US" sz="1400" dirty="0"/>
          </a:p>
        </p:txBody>
      </p:sp>
      <p:sp>
        <p:nvSpPr>
          <p:cNvPr id="48" name="Shape 46"/>
          <p:cNvSpPr/>
          <p:nvPr/>
        </p:nvSpPr>
        <p:spPr>
          <a:xfrm>
            <a:off x="640080" y="6382512"/>
            <a:ext cx="128016" cy="128016"/>
          </a:xfrm>
          <a:prstGeom prst="roundRect">
            <a:avLst>
              <a:gd name="adj" fmla="val 28571"/>
            </a:avLst>
          </a:prstGeom>
          <a:solidFill>
            <a:srgbClr val="A9E648"/>
          </a:solidFill>
          <a:ln/>
        </p:spPr>
      </p:sp>
      <p:sp>
        <p:nvSpPr>
          <p:cNvPr id="49" name="Text 4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50" name="Text 4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Görüntü </a:t>
            </a:r>
            <a:pPr indent="0" marL="0">
              <a:buNone/>
            </a:pPr>
            <a:r>
              <a:rPr lang="en-US" sz="1500" b="1" dirty="0">
                <a:solidFill>
                  <a:srgbClr val="FFFFFF"/>
                </a:solidFill>
                <a:latin typeface="Calibri" pitchFamily="34" charset="0"/>
                <a:ea typeface="Calibri" pitchFamily="34" charset="-122"/>
                <a:cs typeface="Calibri" pitchFamily="34" charset="-120"/>
              </a:rPr>
              <a:t>sanal</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Boy </a:t>
            </a:r>
            <a:pPr indent="0" marL="0">
              <a:buNone/>
            </a:pPr>
            <a:r>
              <a:rPr lang="en-US" sz="1500" b="1" dirty="0">
                <a:solidFill>
                  <a:srgbClr val="FFFFFF"/>
                </a:solidFill>
                <a:latin typeface="Calibri" pitchFamily="34" charset="0"/>
                <a:ea typeface="Calibri" pitchFamily="34" charset="-122"/>
                <a:cs typeface="Calibri" pitchFamily="34" charset="-120"/>
              </a:rPr>
              <a:t>eşit</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Ayna </a:t>
            </a:r>
            <a:pPr indent="0" marL="0">
              <a:buNone/>
            </a:pPr>
            <a:r>
              <a:rPr lang="en-US" sz="1500" b="1" dirty="0">
                <a:solidFill>
                  <a:srgbClr val="FFFFFF"/>
                </a:solidFill>
                <a:latin typeface="Calibri" pitchFamily="34" charset="0"/>
                <a:ea typeface="Calibri" pitchFamily="34" charset="-122"/>
                <a:cs typeface="Calibri" pitchFamily="34" charset="-120"/>
              </a:rPr>
              <a:t>α</a:t>
            </a:r>
            <a:pPr indent="0" marL="0">
              <a:buNone/>
            </a:pPr>
            <a:r>
              <a:rPr lang="en-US" sz="1500" dirty="0">
                <a:solidFill>
                  <a:srgbClr val="C3CEE8"/>
                </a:solidFill>
                <a:latin typeface="Calibri" pitchFamily="34" charset="0"/>
                <a:ea typeface="Calibri" pitchFamily="34" charset="-122"/>
                <a:cs typeface="Calibri" pitchFamily="34" charset="-120"/>
              </a:rPr>
              <a:t> dönerse ışın </a:t>
            </a:r>
            <a:pPr indent="0" marL="0">
              <a:buNone/>
            </a:pPr>
            <a:r>
              <a:rPr lang="en-US" sz="1500" b="1" dirty="0">
                <a:solidFill>
                  <a:srgbClr val="FFFFFF"/>
                </a:solidFill>
                <a:latin typeface="Calibri" pitchFamily="34" charset="0"/>
                <a:ea typeface="Calibri" pitchFamily="34" charset="-122"/>
                <a:cs typeface="Calibri" pitchFamily="34" charset="-120"/>
              </a:rPr>
              <a:t>2α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Ayna boyu </a:t>
            </a:r>
            <a:pPr indent="0" marL="0">
              <a:buNone/>
            </a:pPr>
            <a:r>
              <a:rPr lang="en-US" sz="1500" b="1" dirty="0">
                <a:solidFill>
                  <a:srgbClr val="FFFFFF"/>
                </a:solidFill>
                <a:latin typeface="Calibri" pitchFamily="34" charset="0"/>
                <a:ea typeface="Calibri" pitchFamily="34" charset="-122"/>
                <a:cs typeface="Calibri" pitchFamily="34" charset="-120"/>
              </a:rPr>
              <a:t>h / 2</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r</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gelme açısı = yansıma açısı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48259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d(cisim) = d(görüntü)</a:t>
            </a:r>
            <a:endParaRPr lang="en-US" sz="1350" dirty="0"/>
          </a:p>
        </p:txBody>
      </p:sp>
      <p:sp>
        <p:nvSpPr>
          <p:cNvPr id="19" name="Text 17"/>
          <p:cNvSpPr txBox="1"/>
          <p:nvPr/>
        </p:nvSpPr>
        <p:spPr>
          <a:xfrm>
            <a:off x="9203436" y="3218688"/>
            <a:ext cx="216529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aynaya eşit uzaklık</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 = 360/α − 1</a:t>
            </a:r>
            <a:endParaRPr lang="en-US" sz="1350" dirty="0"/>
          </a:p>
        </p:txBody>
      </p:sp>
      <p:sp>
        <p:nvSpPr>
          <p:cNvPr id="22" name="Text 20"/>
          <p:cNvSpPr txBox="1"/>
          <p:nvPr/>
        </p:nvSpPr>
        <p:spPr>
          <a:xfrm>
            <a:off x="8362188" y="404164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iki ayna arasındaki görüntü</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L = h / 2</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gereken ayna boyu</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dersler.perinet.org/duzlem-aynalar.html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Küresel aynalar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Düzlem aynalar — Dersler</dc:title>
  <dc:subject>Fizik · Optik</dc:subject>
  <dc:creator>Dersler</dc:creator>
  <cp:lastModifiedBy>Dersler</cp:lastModifiedBy>
  <cp:revision>1</cp:revision>
  <dcterms:created xsi:type="dcterms:W3CDTF">2026-09-20T18:42:23Z</dcterms:created>
  <dcterms:modified xsi:type="dcterms:W3CDTF">2026-09-20T18:42:23Z</dcterms:modified>
</cp:coreProperties>
</file>