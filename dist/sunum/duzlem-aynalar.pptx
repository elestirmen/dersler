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Lst>
  <p:notesMasterIdLst>
    <p:notesMasterId r:id="rId1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notesMaster" Target="notesMasters/notesMaster1.xml"/><Relationship Id="rId135" Type="http://schemas.openxmlformats.org/officeDocument/2006/relationships/presProps" Target="presProps.xml"/><Relationship Id="rId136" Type="http://schemas.openxmlformats.org/officeDocument/2006/relationships/viewProps" Target="viewProps.xml"/><Relationship Id="rId137" Type="http://schemas.openxmlformats.org/officeDocument/2006/relationships/theme" Target="theme/theme1.xml"/><Relationship Id="rId1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Kendini tepeden tırnağa görmek için boyun kadar bir ayna mı gerekir? Hayır: yarısı yeter, üstelik aynadan ne kadar uzakta durduğunun hiçbir önemi yok. Aynadaki yüzün de senin yüzün değil, sağı solu yer değiştirmiş gibi görünen bir kopyası; o kopya aynanın arkasında hiç var olmayan bir yerde duruyor — oraya perde koysan hiçbir şey düşmez. Bütün bunlar tek bir kuraldan çıkıyor: gelme açısı yansıma açısına eşittir. Anlatım dört basamakta ilerliyor: önce aynada gördüklerine ad koyup bu kuralı tanıyacaksın; sonra görüntünün yerini, boyunu, hızını, dönen aynayı ve iki ayna arasındaki görüntü sayısını ondan türeteceksin; ardından aynanın gerçekte neyi ters çevirdiğini ve periskoptan Ay'a uzanan uygulamaları göreceksin. En sonda kolaydan zora sıralanmış örnekler var.
Kapak görseli: İki ayna, bir elma, üç kopya. Aynalar burada dik açıyla birleşiyor ve elmanın tam üç görüntüsü oluşuyor: her aynada birer tane ve köşede, birleşim çizgisinin ikiye böldüğü üçüncüsü. Köşedeki kopya, ışığın iki aynadan art arda yansımasıyla oluşan bir görüntünün görüntüsüdür; bu yüzden yandaki iki görüntüden daha uzakta ve biraz daha küçük görünür. Kaç kopya oluşacağını aynalar arasındaki açı belirler, açı daraldıkça kopya sayısı artar; bu sayıyı ikinci basamakta tek bir bağıntıyla bulacağız.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Kendini tepeden tırnağa görmek için boyun kadar bir ayna mı gerekir? Hayır: yarısı yeter, üstelik aynadan ne kadar uzakta durduğunun hiçbir önemi yok. Aynadaki yüzün de senin yüzün değil, sağı solu yer değiştirmiş gibi görünen bir kopyası; o kopya aynanın arkasında hiç var olmayan bir yerde duruyor — oraya perde koysan hiçbir şey düşmez. Bütün bunlar tek bir kuraldan çıkıyor: gelme açısı yansıma açısına eşittir. Anlatım dört basamakta ilerliyor: önce aynada gördüklerine ad koyup bu kuralı tanıyacaksın; sonra görüntünün yerini, boyunu, hızını, dönen aynayı ve iki ayna arasındaki görüntü sayısını ondan türeteceksin; ardından aynanın gerçekte neyi ters çevirdiğini ve periskoptan Ay'a uzanan uygulamaları göreceksin. En sonda kolaydan zora sıralanmış örnekler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aynaya bak, gördüğünü adlandır ve ışığın aynadan nasıl döndüğünü tanı. Bu basamakta hesap yok denecek kadar az.
   01 Önce gözlemle: aynada ne görürsün?
   02 Yansıma yasası: ışık aynadan nasıl döner?
   03 Düzgün ve dağınık yansıma: duvarda neden kendini göremezsin?
   04 Düzlem aynada görüntünün özellikleri
2. Orta — Tek kuraldan hesaba: görüntünün yerini, boy aynasını, hareket eden ve dönen aynayı, iki aynayı i = r'den türet.
   05 Görüntü nasıl çizilir ve neden simetriktir?
   06 Boy aynası: yarısı yeter
   07 Cismin ve görüntünün hareketi
   08 Aynanın dönmesi: ışın neden iki kat döner?
   09 Sayılarla hisset: iki ayna, kaç görüntü?
3. İleri — İnce noktalar: ayna gerçekte neyi ters çevirir, paralel ve garip açılı aynalarda ne olur, düzlem aynalar nerede iş görür?
   10 Ayna gerçekten sağı solu mu değiştirir?
   11 İnce durumlar: paralel aynalar ve tam bölünmeyen açılar
   12 Düzlem aynalar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Görmek: bir cismi görmen için ondan çıkan ya da yansıyan ışığın gözüne gelmesi gerekir. Işık bu yolu düz çizgiler boyunca gider.
• Açı ve derece: iki çizginin arasındaki açıklığa açı denir; derece (°) ile ölçülür. Dik açı 90°, düz bir çizgi 180°, tam tur 360°'dir.
• Tümler açı: toplamı 90° olan iki açı. 25° ile 65° birbirinin tümleridir: 25 + 65 = 90.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Simetri: bir kâğıdı katlayınca üst üste gelen iki şekil, kat çizgisine göre simetriktir. Simetrik iki nokta kat çizgisine eşit uzaklıktadır.
• Hız: bir saniyede alınan yol. 2 m/s hızla giden bir oyuncak araba her saniye 2 metre yol alır.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aynaya bak, gördüğünü adlandır ve ışığın aynadan nasıl döndüğünü tanı. Bu basamakta hesap yok denecek kadar az.
01 Önce gözlemle: aynada ne görürsün?
02 Yansıma yasası: ışık aynadan nasıl döner?
03 Düzgün ve dağınık yansıma: duvarda neden kendini göremezsin?
04 Düzlem aynada görüntünün özellikleri
Görsel: Boy aynasının karşısında. Kız sağ elini kaldırınca görüntü de tam karşısındaki eli kaldırıyor; görüntünün kendisine göre bu onun sol elidir. Görüntü, kız aynadan ne kadar öndeyse aynanın o kadar arkasında duruyor ve boyu kızınkiyle aynı; görselde küçük görünmesi yalnızca daha uzakta olmasındandır. Bütün boyunu görmek için bu kadar büyük bir aynaya gerek olmadığını ikinci basamakta göreceğiz.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aynada ne görürsün? — adım 1/4
• Sabah aynanın karşısına geçtiğinde gördüğün şeyi hiç dikkatle inceledin mi?
• Görüntün aynanın yüzeyine yapışık değildir; aynanın içinde, arkada bir yerde duruyor gibidir.
• Aynaya bir adım yaklaş: görüntün de sana doğru bir adım gelir.
• Sağ elini kaldır: görüntü tam karşındaki elini kaldırır.
• Yazılı bir kâğıdı aynaya tut: harfler ters dönmüş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aynada ne görürsün? — adım 2/4
• Bir de şunu dene: aynanın önünde yavaşça yana kay.
• Görüntün de seninle birlikte kayar ve aynanın kenarına gelince yarım kalır.
• Ayna sanki bir pencere gibidir: arkasında seninkine benzeyen bir oda ve o odada senin bir kopyan varmış gibi.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aynada ne görürsün? — adım 3/4
• Sıradan bir düzlem aynaya her baktığında aynı dört şey gözlenir:
• Görüntü aynanın arkasındadır: sen aynadan ne kadar öndeysen o kadar geride görünür.
• Boy aynıdır: görüntü ne büyür ne küçülür; uzaktan küçük görünmesi yalnızca uzaklıktandır.
• Görüntü düzdür: başın yukarıda, ayakların aşağıda kalır.
• Yazılar ters okunur: aynadaki harfler soldan sağa değil, sağdan sola dizilir.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aynada ne görürsün? — adım 4/4
• Bu dört gözlemin hepsinin tek bir sebebi var: ışığın aynaya çarpıp nasıl geri döndüğü.
• Önce o kuralı tanıyalım, sonra her gözlemi tek tek ondan çıkaralım.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Düzlem aynadaki görüntü aynanın arkasında, cisimle aynı uzaklıkta, aynı boyda ve düz durur; yazılar ise ters okunur. Ayna, arkasında bir oda varmış gibi görünen bir pencereye benzer.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Aynaya 1 m uzaklıkta duruyorsan görüntün senden kaç metre uzakta görünür?
Sınıfa sorun, birkaç tahmin alın; sonra cevap slaytına geçin.
Cevap: 2 metre. Görüntü aynanın yüzeyinde değil, aynanın 1 m arkasındadır. Sen aynanın 1 m önünde, görüntün 1 m arkasında olduğuna göre aradaki uzaklık 1 + 1 = 2 m eder. Göz de aynaya bakarken 2 m uzağa odaklanır.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2 metre. Görüntü aynanın yüzeyinde değil, aynanın 1 m arkasındadır. Sen aynanın 1 m önünde, görüntün 1 m arkasında olduğuna göre aradaki uzaklık 1 + 1 = 2 m eder. Göz de aynaya bakarken 2 m uzağa odaklanır.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Yansıma yasası: ışık aynadan nasıl döner? — adım 1/5
• Bir yüzeye çarpan ışık geri döner; buna yansıma denir.
• Yansımayı anlatmak için ışının çarptığı noktada yüzeye dik bir çizgi hayal ederiz; bu çizgiye normal denir.
• Gelen ışının normalle yaptığı açıya gelme açısı (i), yansıyan ışının normalle yaptığı açıya yansıma açısı (r) denir.
• Bilardo topunu düşün: banda eğik vuran top, vurduğu kadar eğik geri seker.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Yansıma yasası: ışık aynadan nasıl döner? — adım 2/5
• Işık da aynadan böyle döner.
• Yansımanın iki kuralı vardır:
• Gelme açısı, yansıma açısına eşittir: i = r.
• Gelen ışın, yansıyan ışın ve normal aynı düzlemdedir.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Yansıma yasası: ışık aynadan nasıl döner? — adım 3/5
• İkinci kural, ışığın aynaya çarpınca yana doğru “kaçmadığını” söyler: gelen ışın ve normal hangi kâğıt yaprağının üzerindeyse yansıyan ışın da o yaprakta kalır.
• Bu yüzden her yansımayı düz bir kâğıda çizebiliriz.
• Işık aynaya dik gelirse (i = 0) geldiği yoldan geri döner.
• Sayfanın 01 numaralı bölümündeki yansıma laboratuvarında gelme açısını değiştirip yansıma açısının onu nasıl izlediğini görebilirsin.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Yansıma yasası: ışık aynadan nasıl döner? — adım 4/5
Açılar normalle ölçülür. Normal, yüzeye dik doğrultudur. “Işın yüzeyle 30° açı yapıyor” denirse gelme açısı 30° değil, 60°'dir.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Yansıma yasası: ışık aynadan nasıl döner? — şekil
Yansımanın tamamı iki cümledir: gelme açısı yansıma açısına eşittir ve gelen ışın, yansıyan ışın ile normal aynı düzlemdedir. Açılar her zaman yüzeyden değil, normalden ölçülür — sınavda en sık kaybedilen puan buradan gider. Işık dik gelirse (i = 0) geldiği yoldan geri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Işık aynadan gelme açısına eşit bir açıyla yansır (i = r); gelen ışın, yansıyan ışın ve normal aynı düzlemde kalır. Açılar yüzeyden değil, normalden ölçülür.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Gelen ışın ile yansıyan ışın arasındaki açı 90° ise gelme açısı kaç derecedir?
Sınıfa sorun, birkaç tahmin alın; sonra cevap slaytına geçin.
Cevap: 45°. İki ışın arasındaki açı, gelme ve yansıma açılarının toplamıdır: i + r. Bu iki açı eşit olduğuna göre her biri 90°'nin yarısı, yani 45°'dir. Bu durumda ışın yüzeyle de 45° açı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45°. İki ışın arasındaki açı, gelme ve yansıma açılarının toplamıdır: i + r. Bu iki açı eşit olduğuna göre her biri 90°'nin yarısı, yani 45°'dir. Bu durumda ışın yüzeyle de 45° açı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ve dağınık yansıma: duvarda neden kendini göremezsin? — adım 1/4
• Beyaz bir kâğıt üzerine düşen ışığın çoğunu geri yollar; yine de ona bakınca kendini göremezsin.
• Fark, yansıyan ışığın miktarında değil düzenindedir:
• Düzgün (aynasal) yansıma: pürüzsüz yüzeyde paralel ışınlar paralel olarak yansır; görüntü oluşur. Ayna, durgun su, cilalı metal.
• Dağınık yansıma: pürüzlü yüzeyde her ışın farklı yöne yansır; görüntü oluşmaz ama cisim her yönden görülebilir. Kâğıt, duvar, kumaş.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ve dağınık yansıma: duvarda neden kendini göremezsin? — adım 2/4
• Kâğıdı büyüteçle incelesen küçük tepecikler ve çukurlar görürsün.
• Her tepeciğin eğimi farklı olduğu için normalleri de farklı yönlere bakar.
• Her iki durumda da yansıma yasası her ışın için ayrı ayrı geçerlidir; fark, yüzeyin normallerinin farklı yönlere bakmasıdır.
• Dağınıklık kötü bir şey de değildir: tahtayı, kitabın sayfasını, karşıdaki binayı sınıfın her yerinden görebilmeni sağlayan odur.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ve dağınık yansıma: duvarda neden kendini göremezsin? — adım 3/4
• Yağmurlu bir gecede asfaltın ayna gibi parlaması da bu yüzdendir: su, yolun pürüzlerini doldurup yüzeyi düzleştirir.
• Karşıdan gelen farların ışığı artık dağılmaz, düzgün yansıyarak doğrudan gözüne gelir ve seni kamaştırır.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ve dağınık yansıma: duvarda neden kendini göremezsin? — şekil
İki durumda da her ışın i = r kuralına uyar — değişen tek şey yüzeyin normalleridir. Pürüzsüz yüzeyde bütün normaller aynı yöne baktığı için yansıyan ışınlar paralel kalır ve görüntü oluşur. Pürüzlü yüzeyde her noktanın normali farklı olduğundan ışınlar her yöne dağılır; bu yüzden duvarı her yerden görebiliriz ama duvarda kendimizi göremeyiz.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Pürüzsüz yüzeyde normaller aynı yöne baktığı için ışınlar düzenli yansır ve görüntü oluşur; pürüzlü yüzeyde normaller dağınık olduğu için görüntü oluşmaz. İki durumda da her ışın i = r kuralına uyar.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Durgun bir göl ağaçları ayna gibi yansıtır. Rüzgârlı bir günde görüntü neden kaybolur?
Sınıfa sorun, birkaç tahmin alın; sonra cevap slaytına geçin.
Cevap: Dalgalar suyun yüzeyini pürüzlü hâle getirir. Her noktada ışın yine i = r kuralıyla yansır, ama dalgalı yüzeyin normalleri farklı yönlere baktığı için yansıyan ışınlar dağılır. Göz, bir ağacın bir noktasından gelen ışınları artık düzenli bir demet olarak alamaz ve görüntü parçalanır.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Dalgalar suyun yüzeyini pürüzlü hâle getirir. Her noktada ışın yine i = r kuralıyla yansır, ama dalgalı yüzeyin normalleri farklı yönlere baktığı için yansıyan ışınlar dağılır. Göz, bir ağacın bir noktasından gelen ışınları artık düzenli bir demet olarak alamaz ve görüntü parçalanır.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aynada görüntünün özellikleri — adım 1/5
• İlk bölümdeki dört gözlemi artık bir tabloda toplayabiliriz.
• Bu tablo, düzlem aynayla ilgili hemen her sorunun cevabını içinde taşır: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aynada görüntünün özellikleri — adım 2/5
Özellik | Düzlem aynada
Türü | sanal (perdeye düşmez)
Yönü | düz (ters değil)
Boyu | cisimle eşit
Yeri | aynanın arkasında, eşit uzaklıkta
Simetri | sağ–sol yer değiştirmiş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aynada görüntünün özellikleri — adım 3/5
• Görüntü sanaldır: ışınlar gerçekte aynanın arkasına geçmez, yalnızca uzantıları orada kesişir.
• Bu yüzden aynanın arkasına perde koysan hiçbir şey düşmez.
• Bunun tersine bir gerçek görüntü, ışınların kendilerinin buluştuğu yerde oluşur ve perdeye düşürülebilir; sinema perdesindeki görüntü böyledir.
• Düzlem ayna hiçbir zaman gerçek görüntü vermez; gerçek görüntüyü bir sonraki konuda, çukur aynalarda göreceksin.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aynada görüntünün özellikleri — adım 4/5
• Tablonun son satırı günlük hayatta işe yarar: ambulansların önündeki yazı ters yazılır.
• Öndeki sürücü onu dikiz aynasında gördüğünde yazı düzelir ve hemen okunur.
• Aynanın “sağı solu değiştirmesinin” gerçekte ne anlama geldiğini üçüncü basamakta ayrıca ele alacağız.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aynada görüntünün özellikleri — şekil
Görüntü aynanın tam simetriğindedir: aynaya uzaklığı cisminkine eşittir, boyu cisminkiyle aynıdır ve düzdür. Ama bayrak ters tarafa bakar — çünkü ayna sağı solu değiştirir. Görüntü sanaldır: ışınlar gerçekte orada kesişmez, yalnızca uzantıları kesişir; oraya perde koysan hiçbir şey düşmez.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Düzlem aynada görüntü sanal, düz, cisimle aynı boyda ve aynaya cisimle aynı uzaklıktadır; sağ ile sol yer değiştirmiş görünür. Işınların yalnızca uzantıları kesiştiği için görüntü perdeye düşmez.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Duvardaki akrepli saat tam 3'ü gösteriyor. Karşıdaki aynada saat kaçı gösteriyor gibi görünür?
Sınıfa sorun, birkaç tahmin alın; sonra cevap slaytına geçin.
Cevap: 9'u. Ayna sağ ile solu yer değiştirmiş gösterdiği için akrep 3'ün yerine 9'un üzerinde görünür; yelkovan 12'de kaldığı için değişmez. Genel olarak aynada görünen saat, 12:00'den gerçek saatin çıkarılmasıyla bulunur: 12:00 − 3:00 =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9'u. Ayna sağ ile solu yer değiştirmiş gösterdiği için akrep 3'ün yerine 9'un üzerinde görünür; yelkovan 12'de kaldığı için değişmez. Genel olarak aynada görünen saat, 12:00'den gerçek saatin çıkarılmasıyla bulunur: 12:00 − 3:00 =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Tek kuraldan hesaba: görüntünün yerini, boy aynasını, hareket eden ve dönen aynayı, iki aynayı i = r'den türet.
05 Görüntü nasıl çizilir ve neden simetriktir?
06 Boy aynası: yarısı yeter
07 Cismin ve görüntünün hareketi
08 Aynanın dönmesi: ışın neden iki kat döner?
09 Sayılarla hisset: iki ayna, kaç görüntü?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Görüntü nasıl çizilir ve neden simetriktir? — adım 1/5
• Bir noktanın görüntüsünü bulmak için dört adım yeter:
• Cisimden aynaya iki ışın gönder.
• Her birini yansıma yasasına göre yansıt (i = r).
• Yansıyan ışınları geriye, kesikli uzat.
• Uzantıların kesiştiği nokta görüntüdür.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Görüntü nasıl çizilir ve neden simetriktir? — adım 2/5
• Kısayol: cismin aynaya dik uzaklığını ölç, aynanın arkasına aynı uzaklıkta işaretle.
• Sonuç aynıdır çünkü düzlem ayna, cismin ayna düzlemine göre simetriğini oluşturur.
• Bu kısayol ezber değil, geometriyle kanıtlanabilir.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Görüntü nasıl çizilir ve neden simetriktir? — adım 3/5
Simetri nereden geliyor?
• Kur: Cisim A noktasında olsun; A'dan aynaya bir dik indir, ayağına H de. A'dan çıkan bir ışın aynaya O noktasında çarpsın.
• Uzat: Yansıyan ışını aynanın arkasına, AH dikmesini de aynı yöne uzat; ikisi A′ noktasında kesişsin.
• Açıları karşılaştır: i = r olduğundan gelen ve yansıyan ışının yüzeyle yaptığı açılar eşittir; uzantı da ters açı olarak aynı açıyı yapar.
• Eş üçgenler: AHO ile A′HO üçgenlerinde H'deki açılar 90°, O'daki açılar eşit ve HO kenarı ortaktır. Üçgenler eştir, yani AH = 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Görüntü nasıl çizilir ve neden simetriktir? — adım 4/5
• O noktasını nereye koyarsan koy aynı A′ çıkar; bu yüzden bütün yansıyan ışınların uzantıları tek bir noktada buluşur ve net bir görüntü görürüz.
• Aynı çizim eski bir gerçeği de açıklar: İskenderiyeli Heron yaklaşık iki bin yıl önce, yansıyan ışığın bir noktadan aynaya, oradan başka bir B noktasına giden yolların en kısasını izlediğini göstermişti.
• Aynaya uğrayan her yol, A′'dan B'ye giden bir yol kadar uzundur; bunların en kısası A′ ile B'yi birleştiren düz çizgidir ve i = r'yi sağlayan yol tam olarak odur.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Görüntü nasıl çizilir ve neden simetriktir? — şekil
Görüntüyü çizmek için cismin bir noktasından iki ışın göndermek yeter: ikisi de i = r kuralıyla yansır. Yansıyan ışınlar göze ulaştığında göz onları düz bir çizgi boyunca geri izler ve aynanın arkasında bir noktada birleştirir. Işınlar orada gerçekten buluşmaz — buluşan yalnızca uzantılarıdır. Sanal görüntü tam olarak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Görüntüyü bulmak için iki ışını i = r ile yansıtıp uzantılarını kesiştirmek ya da cismin aynaya göre simetriğini almak yeter; eş üçgenler ikisinin aynı noktayı verdiğini kanıtlar.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Boy aynası: yarısı yeter — adım 1/5
• Sayfanın 04 numaralı bölümü şaşırtıcı bir iddiayla başlıyor: kendini tepeden tırnağa görmek için boyunun yarısı kadar bir ayna yeter ve aynaya uzaklığın bir önemi yoktur.
• Bunu simetriden adım adım çıkarabiliriz.
• Kişinin boyu h, gözünün yerden yüksekliği y olsun.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Boy aynası: yarısı yeter — adım 2/5
• Ayak: Göz, ayağın görüntüsüne düz bir çizgiyle bakar. Ayna bu çizginin yatayda tam ortasında durduğu için çizgiyi yüksekliklerin ortasında, y/2'de keser.
• Baş: Aynı akıl yürütmeyle başın tepesinden gelen ışın (h + y)/2 yüksekliğinde yansır.
• Fark: Ayna en az bu iki nokta arası kadar olmalı: (h + y)/2 − y/2 = h/2.
• Uzaklık: Hesabın hiçbir adımında aynaya uzaklık geçmedi; sonuç uzaklıktan bağımsızdır.
L = h / 2   alt kenar = y /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Boy aynası: yarısı yeter — adım 3/5
Formüldeki harfler ne anlama geliyor?
Sembol | Anlamı | Birimi
L | kendini tepeden tırnağa görmek için gereken en kısa ayna boyu | cm
h | kişinin boyu | cm
y | kişinin gözünün yerden yüksekliği | cm
alt kenar | aynanın alt kenarının yerden yüksekliği |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Boy aynası: yarısı yeter — adım 4/5
Boy (h) | Göz yüksekliği (y) | Ayna boyu | Alt kenar
120 cm | 110 cm | 60 cm | 55 cm
160 cm | 150 cm | 80 cm | 75 cm
180 cm | 170 cm | 90 cm | 85 cm
200 cm | 188 cm | 100 cm | 94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Boy aynası: yarısı yeter — adım 5/5
• Bütün aile aynı aynayı kullanacaksa alt kenar en kısanın ihtiyacına (55 cm), üst kenar en uzunun ihtiyacına göre, (200 + 188)/2 = 194 cm'ye konur: 139 cm'lik bir ayna herkese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Kendini tepeden tırnağa görmek için boyunun yarısı kadar bir ayna yeter (L = h/2); alt kenarı göz yüksekliğinin yarısında olmalıdır. Aynaya olan uzaklık bu sonucu değiştirmez.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Aynadan geri geri uzaklaşırsan aynada kendinin daha büyük bir bölümünü görür müsün?
Sınıfa sorun, birkaç tahmin alın; sonra cevap slaytına geçin.
Cevap: Hayır. Uzaklaştıkça görüntün de aynanın arkasında aynı ölçüde uzaklaşır; ayak ve baştan gelen ışınların aynaya çarptığı yükseklikler (y/2 ve (h + y)/2) hiç değişmez. Görüntün gözüne küçük görünür, ama aynada bedeninin gördüğün bölümü aynı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Uzaklaştıkça görüntün de aynanın arkasında aynı ölçüde uzaklaşır; ayak ve baştan gelen ışınların aynaya çarptığı yükseklikler (y/2 ve (h + y)/2) hiç değişmez. Görüntün gözüne küçük görünür, ama aynada bedeninin gördüğün bölümü aynı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Cismin ve görüntünün hareketi — adım 1/5
• Görüntü her an cismin aynaya göre simetriği olduğuna göre cisim nereye giderse görüntü de ona “ayna gibi” eşlik eder.
• Hareketi aynaya dik ve aynaya paralel iki parçaya ayırmak işi kolaylaştırır.
• Dik parçayı adım adım inceleyelim: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Cismin ve görüntünün hareketi — adım 2/5
• Cisim yaklaşıyor: Cisim 1 s'de aynaya v kadar yaklaşırsa aynaya uzaklığı v azalır; görüntünün uzaklığı da v azalır. Görüntü de v hızıyla aynaya yaklaşır.
• Zıt yönler: İkisi zıt yönlerde hareket ettiği için aralarındaki uzaklık (aynaya uzaklığın iki katı) her saniye 2v kısalır: birbirlerine göre hızları 2v'dir.
• Ayna yaklaşıyor: Cisim dururken ayna 1 s'de v yaklaşırsa cisim–ayna uzaklığı v, cisim–görüntü uzaklığı 2v kısalır. Görüntü yere göre 2v hızıyla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Cismin ve görüntünün hareketi — adım 3/5
• Cisim aynaya v hızıyla yaklaşırsa görüntü de v hızıyla yaklaşır; birbirlerine göre hızları 2v olur.
• Cisim aynaya paralel hareket ederse görüntü de aynı yönde, aynı hızla hareket eder.
• Ayna cisme doğru v hızıyla hareket ederse görüntü 2v hızıyla yaklaşır.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Cismin ve görüntünün hareketi — adım 4/5
• Sayfanın 02 numaralı bölümünde “Aynaya yaklaştır” düğmesine bastığında cismin, görüntünün ve ikisinin birbirine göre hızını ayrı ayrı okuyabilirsin.
• Soru çözerken her seferinde “kimin hızı, kime göre?” diye 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Cismin ve görüntünün hareketi — şekil
Cisim aynaya yaklaşırken görüntü de aynı hızla yaklaşır — ama ters yönde. Bu yüzden cisimle görüntüsü arasındaki uzaklık 2v hızıyla kapanır. Aynanın kendisi cisme doğru v ile hareket ederse görüntü 2v ile yaklaşır; bunları karıştırmamak için her seferinde "kim kime göre" diye sormak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Cisim aynaya v ile yaklaşırsa görüntü de v ile yaklaşır ve ikisi birbirine 2v ile yaklaşır. Cisim dururken ayna v ile hareket ederse görüntü 2v ile hareket eder.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Aynanın dönmesi: ışın neden iki kat döner? — adım 1/4
• Gelen ışın sabitken ayna α kadar döndürülürse, normal de α kadar döner; gelme açısı α değişir, yansıma açısı da α değişir.
• Sonuçta yansıyan ışın 2α kadar döner.
• Bunu da adım adım gösterelim: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Aynanın dönmesi: ışın neden iki kat döner? — adım 2/4
• Başlangıç: Gelme açısı i ise yansıma açısı da i'dir; gelen ile yansıyan ışın arasındaki açı 2i olur.
• Dönme: Ayna α dönünce normali de α döner; gelme açısı i + α olur.
• Yansıma: Yansıma açısı da i + α olur; ışınlar arası açı 2i + 2α'ya çıkar.
• Sonuç: Gelen ışın hiç kıpırdamadığına göre 2α'lık artışın tamamı yansıyan ışına aittir.
Δ(yansıyan ışın) = 2 · 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Aynanın dönmesi: ışın neden iki kat döner? — adım 3/4
• Bu özellik hassas ölçüm aletlerinde kullanılır: küçük bir dönmeyi iki katına büyütüp ölçmeyi kolaylaştırır.
• Aynadan 2 m uzaktaki bir cetvele düşen ışık lekesini düşün: ayna yalnızca 1° dönerse ışın 2° döner ve leke cetvel üzerinde yaklaşık 7 cm kayar.
• Gözle fark edilemeyecek bir dönme böylece kolayca okunur.
• Sayfanın 01 numaralı bölümündeki “Ayna 20° dönük” deneyi ve altındaki grafik bu doğrusal 2α ilişkisini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Aynanın dönmesi: ışın neden iki kat döner? — şekil
Gelen ışını hiç değiştirmeden aynayı α kadar döndürürsen, yansıyan ışın 2α kadar döner. Sebebi şu: ayna döndüğünde normali de α kadar döner, hem gelme hem yansıma açısı α değişir ve ikisi toplanır. Ayna galvanometresi, lazer tarayıcılar ve barkod okuyucular küçük bir dönmeyi iki katına büyütmek için tam olarak bunu kullanır.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Gelen ışın sabitken ayna α kadar dönerse normal de α döner; gelme ve yansıma açılarının ikisi birden α değiştiği için yansıyan ışın 2α döner.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Işın aynaya dik geliyor. Ayna 10° döndürülürse gelen ile yansıyan ışın arasındaki açı kaç olur?
Sınıfa sorun, birkaç tahmin alın; sonra cevap slaytına geçin.
Cevap: 20°. Başta gelme açısı 0'dır ve ışın geldiği yoldan döner. Ayna 10° dönünce normal de 10° döner, gelme açısı 10°, yansıma açısı da 10° olur. İki ışın arasındaki açı 10 + 10 = 20° eder: tam olarak 2α.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20°. Başta gelme açısı 0'dır ve ışın geldiği yoldan döner. Ayna 10° dönünce normal de 10° döner, gelme açısı 10°, yansıma açısı da 10° olur. İki ışın arasındaki açı 10 + 10 = 20° eder: tam olarak 2α.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iki ayna, kaç görüntü? — adım 1/7
• Aralarında α açısı bulunan iki düzlem ayna arasına konan cismin görüntüleri, aynaların kesişme noktası merkez olmak üzere bir çember üzerinde dizilir.
• Her ayna cismin bir görüntüsünü oluşturur; bu görüntüler öbür ayna için birer cisim olur ve yeni görüntüler doğar.
• Hiçbir yansıma kesişme çizgisine olan uzaklığı değiştirmediği için hepsi aynı çemberin üzerindedir.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iki ayna, kaç görüntü? — adım 2/7
• Cisim açıortaydayken kopyalar çemberde tam α aralıklarla, saatin rakamları gibi eşit dizilir; 360°'lik çembere 360/α kopya sığar.
• Biri cismin kendisi olduğuna göre:
n = 360 / α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iki ayna, kaç görüntü? — adım 3/7
Formüldeki harfler ne anlama geliyor?
Sembol | Anlamı | Birimi
n | görüntü sayısı (cismin kendisi sayılmaz) | —
α | iki aynanın arasındaki açı (aynanın dönmesindeki α'dan farklıdır) | derece (°)
360 / α | çembere sığan kopya sayısı: cisim ve bütün görüntüleri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iki ayna, kaç görüntü? — adım 4/7
Aynalar arası açı | 360 / α | Görüntü sayısı
180° (tek düz ayna) | 2 | 1
90° | 4 | 3
60° | 6 | 5
45° | 8 | 7
30° | 12 |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iki ayna, kaç görüntü? — adım 5/7
• Tablodan hemen okunan düzen: açı yarıya inince kopya sayısı iki katına çıkar (90°'de 4, 45°'de 8; 60°'de 6, 30°'de 12); görüntü sayısı her seferinde bunun bir eksiğidir.
• İlk satır bağıntının sağlamasıdır: iki ayna düz bir çizgi oluşturunca tek bir görüntü kalır.
• 90°'deki üç görüntünün ikisi tek yansımayla, köşedeki üçüncüsü iki yansımayla oluşur.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iki ayna, kaç görüntü? — adım 6/7
• Sayfanın 03 numaralı bölümünde açıyı 20°'ye kadar indirip görüntülerin çemberde nasıl sıklaştığını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iki ayna, kaç görüntü? — şekil
İki ayna arasındaki cisim, yalnızca kendini değil görüntülerin görüntülerini de yansıtır. Bütün görüntüler, aynaların kesiştiği noktayı merkez alan bir çember üzerinde eşit aralıklarla dizilir. Açı küçüldükçe çembere daha çok görüntü sığar: n = 360/α − 1. Aynalar paralel olursa (α = 0) görüntü sayısı sonsuza gider — berber aynalarındaki o bitmeyen koridorun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Aralarında α açısı olan iki aynada, 360/α tam sayı ve cisim açıortaydayken n = 360/α − 1 görüntü oluşur ve görüntüler cisimle birlikte bir çember üzerinde dizilir. Açı yarıya inince kopya sayısı iki katına çıkar.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İki ayna arasındaki bir cismin 11 görüntüsünü görmek için aynalar arasındaki açı kaç derece olmalı?
Sınıfa sorun, birkaç tahmin alın; sonra cevap slaytına geçin.
Cevap: 30°. n = 360/α − 1 = 11 ise 360/α = 12, yani α = 360/12 = 30°. Kopya sayısı 12'dir: cismin kendisi ve 11 görüntüsü. Açı 60° olsaydı kopya sayısı yarıya, 6'ya inerdi.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30°. n = 360/α − 1 = 11 ise 360/α = 12, yani α = 360/12 = 30°. Kopya sayısı 12'dir: cismin kendisi ve 11 görüntüsü. Açı 60° olsaydı kopya sayısı yarıya, 6'ya inerdi.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İnce noktalar: ayna gerçekte neyi ters çevirir, paralel ve garip açılı aynalarda ne olur, düzlem aynalar nerede iş görür?
10 Ayna gerçekten sağı solu mu değiştirir?
11 İnce durumlar: paralel aynalar ve tam bölünmeyen açılar
12 Düzlem aynalar gerçek dünyada
Görsel: Görünmeden görmek. Periskop, ışığı iki kez 90° çevirerek su yüzeyinin üstündeki manzarayı aşağıdaki gözcüye indirir. Borunun iki ucundaki yansıtıcılar birbirine paraleldir; ışın iki yansımadan sonra ilk yönüne paralel çıkar ve ufuktaki gemi düz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gerçekten sağı solu mu değiştirir? — adım 1/5
• Aynada sağ elin görüntünün sol eli gibi görünür.
• Ama bir bilmece var: ayna sağı solu değiştiriyorsa neden altı üstü değiştirmiyor?
• Aynanın yatayı düşeyden ayırması için hiçbir sebep yoktur; ikisi de aynanın yüzeyine paraleldir.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gerçekten sağı solu mu değiştirir? — adım 2/5
• Cevap şu: ayna aslında önü arkayı, yani yalnızca aynaya dik doğrultuyu ters çevirir.
• Burnun aynaya doğru bakıyorsa görüntünün burnu sana doğru bakar; başın yukarıda, kalkık elin aynı tarafta kalır.
• “Sağ–sol ters” izlenimi, görüntüyü bize dönmüş başka bir insan gibi yorumlamamızdan doğar: kendini onun yerine koyup yarım tur döndüğünü hayal ettiğinde sağ ile sol yer değiştirmiş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gerçekten sağı solu mu değiştirir? — adım 3/5
• Aynaya dik doğrultu ters döner: aynaya bakan yüzün görüntüsü sana bakar.
• Aynaya paralel doğrultular değişmez: yukarı yukarıda, sağ taraf sağda kalır.
• Yatay ayna düşeyi çevirir: durgun gölde ağaçların baş aşağı görünmesi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gerçekten sağı solu mu değiştirir? — adım 4/5
Ters çevirmeyen ayna
• Birbirine dik iki aynanın köşesine bak: köşedeki görüntü iki yansımayla oluşur.
• Her yansıma bir kez ters çevirdiği için ikinci yansıma birincisinin yaptığını geri alır.
• Bu görüntüde sağ elini kaldırdığında görüntü de kendi sağ elini kaldırır; kendini başkalarının seni gördüğü gibi görürsün.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gerçekten sağı solu mu değiştirir? — şekil
Durgun göl yatay duran bir düzlem ayna gibi davranır: ağaçların ve dağın tepesi suyun içinde aşağıyı gösterir, ama sağ ile sol yer değiştirmez. Solda batan ya da doğan güneş, yansımada da solda kalır. Ayna yalnızca kendisine dik doğrultuyu ters çevirir; yatay aynada o doğrultu yukarı–aşağıdır.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Düzlem ayna yalnızca aynaya dik doğrultuyu, yani önü ile arkayı ters çevirir; sağ–sol izlenimi bunun sonucudur. İki yansıma bu terslemeyi geri alır.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Birbirine dik iki aynanın köşesine bakıp sağ gözünü kırparsan görüntü hangi gözünü kırpar?
Sınıfa sorun, birkaç tahmin alın; sonra cevap slaytına geçin.
Cevap: Kendi sağ gözünü. İki yansıma terslemeyi geri aldığı için görüntü, karşında duran biri gibidir; onun sağ gözü senin görüş alanında sol tarafta kalır. Tek bir düz aynada ise görüntü kendi sol gözünü kırpar ve bu göz senin kırptığın gözün tam karşısındadır.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Kendi sağ gözünü. İki yansıma terslemeyi geri aldığı için görüntü, karşında duran biri gibidir; onun sağ gözü senin görüş alanında sol tarafta kalır. Tek bir düz aynada ise görüntü kendi sol gözünü kırpar ve bu göz senin kırptığın gözün tam karşısındadır.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paralel aynalar ve tam bölünmeyen açılar — adım 1/6
• Açı küçüldükçe görüntü sayısı artar; aynalar paralel olduğunda (α = 0) 360/α sonsuza gider ve görüntü sayısı da sonsuz olur.
• Berber dükkânlarındaki karşılıklı aynalarda gördüğün, giderek uzaklaşan koridor budur.
• Gerçekte sonsuz görüntünün hepsini göremezsin: her yansımada ışığın bir bölümü aynada soğurulur.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paralel aynalar ve tam bölünmeyen açılar — adım 2/6
• Işığın %90'ını yansıtan bir aynada 10 yansımadan sonra ışığın yalnızca yaklaşık üçte biri (0,9¹⁰ ≈ 0,35) kalır; uzaktaki görüntüler bu yüzden giderek kararır.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paralel aynalar ve tam bölünmeyen açılar — adım 3/6
• n = 360/α − 1 bağıntısı, 360/α tam sayı olduğunda kullanılır; ama tek ve çift sayılar arasında da ince bir fark vardır.
• Görüntüler iki zincir hâlinde oluşur: biri önce birinci aynadan, öteki önce ikinci aynadan başlar.
• 360/α çiftse zincirlerin sonunda iki görüntü, cisim nerede olursa olsun, aynı noktaya düşer ve tek görüntü gibi görünür.
• Tekse iki görüntü yalnızca cisim açıortaydayken üst üste biner: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paralel aynalar ve tam bölünmeyen açılar — adım 4/6
360 / α | Cismin yeri | Görüntü sayısı
Çift sayı (4, 6, 8…) | her yerde | 360/α − 1
Tek sayı (3, 5, 9…) | açıortayda | 360/α − 1
Tek sayı | açıortay dışında | 360/α
Tam sayı değil | yerine bağlı | tam kısmı ya da bir fazlası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paralel aynalar ve tam bölünmeyen açılar — adım 5/6
360/α tam bölünmezse görüntü sayısı, cismin aynalara göre yerine bağlı olarak bölümün tam kısmı ya da bir fazlası kadardır. 360/α tek sayı çıkarsa, cisim açıortay üzerindeyken bir görüntü eksilir. Bu ayrıntılar ileri düzey sorularda karşımıza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paralel aynalar ve tam bölünmeyen açılar — şekil
Böyle bitmeyen bir koridor, karşılıklı duran iki paralel aynada oluşur: her görüntü öbür ayna için yeni bir cisim olur ve görüntüler sırayla birbirinin arkasına dizilir. Aynalar paralelken α = 0 olduğu için 360/α sonsuza gider ve görüntü sayısı kuramsal olarak sonsuzdur. Ama her yansımada ışığın bir kısmı soğurulduğundan uzaktaki kopyalar giderek kararır; ışığın %90'ını yansıtan bir aynada 10 yansımadan sonra ışığın ancak üçte biri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Paralel aynalarda görüntü sayısı kuramsal olarak sonsuzdur, ama her yansımada ışık zayıfladığı için uzaktakiler kararır. 360/α tek sayıysa açıortaydaki cisim için bir görüntü eksilir; tam bölünmüyorsa sayı cismin yerine bağlıdır.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Aralarında 72° bulunan iki ayna arasında, açıortaydaki bir cismin kaç görüntüsü oluşur?
Sınıfa sorun, birkaç tahmin alın; sonra cevap slaytına geçin.
Cevap: 4. 360/72 = 5 tek sayıdır ve cisim açıortaydadır; iki görüntü üst üste biner ve 360/α − 1 = 4 görüntü görünür. Cisim açıortaydan kaydırılırsa üst üste binen görüntüler ayrılır ve 5 görüntü olur. Sayfadaki 03 numaralı laboratuvar cismi açıortaya koyduğu için 72°'de 4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4. 360/72 = 5 tek sayıdır ve cisim açıortaydadır; iki görüntü üst üste biner ve 360/α − 1 = 4 görüntü görünür. Cisim açıortaydan kaydırılırsa üst üste binen görüntüler ayrılır ve 5 görüntü olur. Sayfadaki 03 numaralı laboratuvar cismi açıortaya koyduğu için 72°'de 4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aynalar gerçek dünyada — adım 1/3
• Düzlem ayna yalnızca banyoda değil, bir şeyi görünmeden görmek, ışığı geri yollamak ya da küçük bir dönmeyi ölçmek gereken her yerde kullanılır.
• Hepsinin arkasında iki basit kural var: i = r ve art arda yansımalarda ışının dönmesi.
İki yansımanın kuralı: Aralarında α açısı olan iki aynadan art arda yansıyan ışın, ilk yönüne göre 2α döner. Paralel aynalarda (α = 0) ışın ilk yönünde çıkar; dik aynalarda (α = 90°) 180° döner, yani geldiği yöne geri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aynalar gerçek dünyada — adım 2/3
• Periskop: 45° eğik iki paralel ayna ışını önce aşağı, sonra ileri çevirir. Denizaltılarda aynaların yerini çoğu kez prizma ve mercekler alır.
• Ay'daki köşe yansıtıcılar: Apollo astronotlarının bıraktığı yansıtıcılara gönderilen lazer ışığı, 384 400 km'yi gidip dönerek yaklaşık 2,6 s sonra geri gelir.
• Bisiklet reflektörü: İçindeki küçük köşe yansıtıcılar arabanın farından gelen ışığı arabanın sürücüsüne geri yollar; reflektör bu yüzden gece parlar.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aynalar gerçek dünyada — adım 3/3
• Kaleydoskop: Aralarında 60° olan aynalar her deseni 6 kez (cisim ve 5 görüntüsü) tekrarlar.
• Lazer tarayıcı: Dönen ayna 15° dönünce ışını 30° süpürür; barkod okuyucular bu 2α kuralını kullanır.
• Ambulans yazısı: Ters yazılır ki öndeki sürücü onu dikiz aynasında düz okusun.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Periskop, köşe yansıtıcı, kaleydoskop ve lazer tarayıcı aynı birkaç kuralı kullanır: i = r, iki aynada ışının 2α dönmesi ve iki ayna arasında çoğalan görüntüler.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Periskobun iki aynası paralel değil de birbirine dik olsaydı ışın nereye giderdi?
Sınıfa sorun, birkaç tahmin alın; sonra cevap slaytına geçin.
Cevap: Dik aynalarda α = 90° olduğundan ışın 2α = 180° döner: ilk doğrultusuna paralel ama ters yönde çıkar. Gözcü, manzaraya sırtını dönmüş olarak aynaya bakmak zorunda kalırdı. Bu düzenek artık bir periskop değil, ışığı geldiği yöne geri yollayan bir köşe yansıtıcıdır.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Dik aynalarda α = 90° olduğundan ışın 2α = 180° döner: ilk doğrultusuna paralel ama ters yönde çıkar. Gözcü, manzaraya sırtını dönmüş olarak aynaya bakmak zorunda kalırdı. Bu düzenek artık bir periskop değil, ışığı geldiği yöne geri yollayan bir köşe yansıtıcıdır.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Yüzeyle yapılan açı
Bir ışın düzlem aynanın yüzeyiyle 25° açı yapacak şekilde geliyor. Gelme açısı, yansıma açısı ve iki ışın arasındaki açı kaç derecedir?
Verilenler: ışının ayna yüzeyiyle yaptığı açı 25° · açılar normalden ölçülür (normal ile yüzey arası 90°)
İstenen: gelme açısı i · yansıma açısı r · gelen ile yansıyan ışın arasındaki açı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Yüzeyle yapılan açı — çözüm
1. Gelme açısı normalle ölçülür: i = 90° − 25° = 65°
2. Yansıma açısı: r = i = 65°
3. Gelen ve yansıyan ışın arasındaki açı: i + r =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Aynanın dönmesi
Sabit bir ışın demeti düzlem aynaya düşerken ayna 12° döndürülüyor. Yansıyan ışın kaç derece döner?
Verilenler: gelen ışın sabit · aynanın dönme açısı α = 12°
İstenen: yansıyan ışının kaç derece döndüğü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Aynanın dönmesi — çözüm
1. Ayna α = 12° dönerse normal de 12° döner.
2. Gelme açısı 12° değişir; yansıma açısı da 12° değişir.
3. Yansıyan ışının dönmesi: 2α =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Görüntüne ne kadar uzaksın?
Bir öğrenci düzlem aynanın 1,5 m önünde duruyor. (a) Görüntüsü kendisinden kaç m uzaktadır? (b) Aynaya 0,5 m yaklaşırsa görüntüsüne uzaklığı ne olur?
Verilenler: öğrencinin aynaya uzaklığı 1,5 m · (b)'de aynaya 0,5 m yaklaşıyor
İstenen: (a) görüntüsüne uzaklığı · (b) yaklaştıktan sonra görüntüsüne uzaklığı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Görüntüne ne kadar uzaksın? — çözüm
1. (a) Görüntü aynanın 1,5 m arkasındadır: 1,5 + 1,5 = 3 m
2. (b) Aynaya uzaklık 1,5 − 0,5 = 1 m olur; görüntüye uzaklık 2 · 1 = 2 m
3. Kontrol: öğrenci 0,5 m yürüdü, görüntüsüne uzaklığı ise 1 m kısaldı. İki kat fark, birbirlerine göre hızın 2v olmasının sebebidir.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İki ayna
Aralarında 40° açı bulunan iki düzlem ayna arasına, açıortay üzerine bir cisim konuyor. Kaç görüntü oluşur?
Verilenler: aynalar arası açı α = 40° · cisim açıortay üzerinde
İstenen: görüntü sayısı n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İki ayna — çözüm
1. 360 / α = 360 / 40 = 9
2. n = 9 − 1 = 8 görüntü
3. Açı 90° olsaydı 360/90 − 1 = 3 görüntü oluşurdu.
Not: 9 tek sayıdır. Cisim açıortaydan kaydırılırsa açıortayda üst üste binen iki görüntü birbirinden ayrılır ve 9 görüntü oluşur.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Boy aynası
Boyu 180 cm, göz yüksekliği 170 cm olan bir kişi kendini tepeden tırnağa görmek istiyor. Aynanın boyu ve alt kenarının yerden yüksekliği ne olmalıdır?
Verilenler: boy h = 180 cm · göz yüksekliği y = 170 cm
İstenen: gereken ayna boyu L · aynanın alt kenarının yerden yüksekliği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Boy aynası — çözüm
1. Ayna boyu = h/2 = 180/2 = 90 cm
2. Alt kenar, göz ile ayak arasının ortası: 170/2 = 85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Boy aynası — çözüm
3. Üst kenar: alt kenar + 90 = 175 cm (baş ile göz arasının ortası).
4. Kişinin aynaya uzaklığı sonucu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Hem ayna hem cisim hareket ediyor
Bir oyuncak araba bir düzlem aynaya doğru 2 m/s hızla gidiyor; ayna da tekerlekli bir sehpa üzerinde arabaya doğru 1 m/s hızla itiliyor (hızlar yere göre). (a) Görüntünün yere göre hızı nedir? (b) Araba ile görüntüsü birbirine hangi hızla yaklaşır?
Verilenler: varaba = 2 m/s (aynaya doğru) · vayna = 1 m/s (arabaya doğru) · iki hız da yere göre
İstenen: (a) görüntünün yere göre hızı · (b) araba ile görüntüsünün birbirine yaklaşma hızı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Hem ayna hem cisim hareket ediyor — çözüm
1. Arabadan aynaya doğru yönü pozitif al: varaba = +2 m/s, vayna = −1 m/s.
2. Görüntü her an aynanın, araba kadar arkasındadır: xg = 2·xayna − xaraba. Hızlar için de aynısı geçerlidir: vg = 2·vayna − varaba.
3. (a) vg = 2·(−1) − 2 = −4 m/s: görüntü yere göre 4 m/s hızla arabaya doğru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Hem ayna hem cisim hareket ediyor — çözüm
4. (b) Birbirlerine göre: 2 − (−4) = 6 m/s
5. Kontrol: araba–ayna uzaklığı saniyede 2 + 1 = 3 m kısalır; araba–görüntü uzaklığı bunun iki katıdır: 6 m/s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Yanlış yere asılmış ayna
Boyu 170 cm, göz yüksekliği 160 cm olan bir kişi, alt kenarı yerden 100 cm, üst kenarı 190 cm yüksekte olan bir aynanın karşısında duruyor. (a) Başının tepesini görebilir mi? (b) Bedeninin yerden kaç cm'ye kadarki bölümünü göremez? (c) Kendini tepeden tırnağa görmesi için ne yapılmalı?
Verilenler: boy h = 170 cm · göz yüksekliği y = 160 cm · aynanın alt kenarı yerden 100 cm · üst kenarı yerden 190 cm
İstenen: (a) başının tepesini görüp göremeyeceği · (b) bedeninin yerden kaç cm'ye kadar görünmediği · (c) tam boy görmesi için yapılması gereken değişiklik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Yanlış yere asılmış ayna — çözüm
1. Yerden y yüksekliğindeki bir noktadan gelen ışın, (y + 160)/2 yüksekliğinde yansır.
2. (a) Baş için (170 + 160)/2 = 165 cm; bu nokta üst kenarın (190 cm) altında: görür.
3. (b) Alt kenar 100 cm: (y + 160)/2 = 100 → y = 40 cm. Yerden 40 cm'ye kadarki bölüm görünmez.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Yanlış yere asılmış ayna — çözüm
4. Aynanın boyu (90 cm) gereken h/2 = 85 cm'den uzundur; sorun boyda değil, yükseklikte.
5. (c) Alt kenar 160/2 = 80 cm olmalı: ayna 20 cm aşağı indirilir (üst kenar 170 cm ≥ 165 cm ✓). Aynaya yaklaşmak ya da uzaklaşmak hiçbir şeyi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Birbirine dik iki ayna
Birbirine dik iki düzlem aynadan birincisine bir ışın 35° gelme açısıyla geliyor, yansıyıp ikinci aynaya çarpıyor. (a) İkinci aynadaki gelme açısı kaç derecedir? (b) İkinci aynadan çıkan ışın ilk gelen ışına göre hangi doğrultuda ilerler?
Verilenler: aynalar arası açı 90° · birinci aynada gelme açısı 35°
İstenen: (a) ikinci aynadaki gelme açısı · (b) ikinci aynadan çıkan ışının ilk gelen ışına göre doğrultusu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Birbirine dik iki ayna — çözüm
1. Birinci aynadan yansıyan ışın, yüzeyle 90° − 35° = 55° açı yapar.
2. İki ayna ve ışın bir üçgen oluşturur; köşedeki açı 90° olduğundan ışının ikinci ayna yüzeyiyle yaptığı açı 180° − 90° − 55° = 35°'dir.
3. (a) Gelme açısı normalle ölçülür: 90° − 35° = 55°; yansıma açısı da 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Birbirine dik iki ayna — çözüm
4. Her yansıma ışını 180° − 2i kadar çevirir: 180 − 70 = 110° ve 180 − 110 = 70°; toplam 180°.
5. (b) Işın gelen ışına paralel ve ters yönde geri döner. İki yansımanın kuralı da aynısını söyler: 2α = 2 · 90° = 180°.
Bu sonuç gelme açısından bağımsızdır: dik aynalarda iki gelme açısının toplamı her zaman 90°'dir. Köşe yansıtıcıların, bisiklet reflektörlerinin ve Ay'daki yansıtıcıların çalışma ilkesi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Aralarında 36° açı bulunan iki düzlem ayna arasına bir cisim konuyor. Kaç görüntü oluşur?
Öğrencilere 2–3 dakika verin; sonra cevap slaytını açın.
Cevap: Cevap: n = 360 / α − 1 = 360 / 36 − 1 = 10 − 1 = 9 görüntü. 360 / 36 = 10 çift sayı olduğu için cismin yeri sonucu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 = 360 / α − 1 = 360 / 36 − 1 = 10 − 1 = 9 görüntü. 360 / 36 = 10 çift sayı olduğu için cismin yeri sonucu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Boyu 150 cm olan bir çocuk kendini tepeden tırnağa görmek istiyor. Aynanın boyu en az kaç cm olmalıdır?
Öğrencilere 2–3 dakika verin; sonra cevap slaytını açın.
Cevap: Cevap: L = h / 2 = 150 / 2 = 75 cm. Çocuğun aynaya uzaklığı bu sonucu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L = h / 2 = 150 / 2 = 75 cm. Çocuğun aynaya uzaklığı bu sonucu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Düzlem aynanın 4 m önündeki bir çocuk aynaya doğru 1 m/s hızla yürüyor. 2 s sonra çocuk ile görüntüsü arasındaki uzaklık kaç m olur?
Öğrencilere 2–3 dakika verin; sonra cevap slaytını açın.
Cevap: Cevap: Çocuk 2 s'de 1 · 2 = 2 m yürür; aynaya uzaklığı 4 − 2 = 2 m olur. Görüntü de aynanın 2 m arkasındadır: aradaki uzaklık 2 + 2 = 4 m. Başta 8 m'ydi; her saniye 2 m kısaldı.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Çocuk 2 s'de 1 · 2 = 2 m yürür; aynaya uzaklığı 4 − 2 = 2 m olur. Görüntü de aynanın 2 m arkasındadır: aradaki uzaklık 2 + 2 = 4 m. Başta 8 m'ydi; her saniye 2 m kısaldı.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Boyu 160 cm, göz yüksekliği 150 cm olan biri kendini tam boy görmek istiyor. Aynanın alt ve üst kenarı yerden kaç cm yüksekte olmalı?
Öğrencilere 2–3 dakika verin; sonra cevap slaytını açın.
Cevap: Cevap: Alt kenar y / 2 = 150 / 2 = 75 cm. Üst kenar (h + y) / 2 = (160 + 150) / 2 = 155 cm. Kontrol: ayna boyu 155 − 75 = 80 cm = h / 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Alt kenar y / 2 = 150 / 2 = 75 cm. Üst kenar (h + y) / 2 = (160 + 150) / 2 = 155 cm. Kontrol: ayna boyu 155 − 75 = 80 cm = h / 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İki düzlem ayna arasında, açıortaydaki bir cismin 7 görüntüsü oluşuyor. Aynalar arasındaki açı 15° azaltılırsa kaç görüntü oluşur?
Öğrencilere 2–3 dakika verin; sonra cevap slaytını açın.
Cevap: Cevap: 360 / α − 1 = 7 → 360 / α = 8 → α = 45°. Yeni açı 45° − 15° = 30°: n = 360 / 30 − 1 = 11 görüntü.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360 / α − 1 = 7 → 360 / α = 8 → α = 45°. Yeni açı 45° − 15° = 30°: n = 360 / 30 − 1 = 11 görüntü.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Açıyı yüzeyle ölçmek. Gelme ve yansıma açıları her zaman normalle ölçülür.
• Görüntüyü gerçek sanmak. Düzlem aynada görüntü sanaldır; perdeye düşmez.
• Görüntünün aynanın yüzeyinde olduğunu sanmak. Görüntü aynanın arkasında, cisimle aynı uzaklıktadır; aynaya 1 m uzaktaysan görüntün senden 2 m uzaktadır.
• “Ayna sağı solu değiştirir, peki neden altı üstü değiştirmiyor?” Ayna aslında önü arkayı ters çevirir; sağ–sol izlenimi bunun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Ayna α dönünce ışın da α döner sanmak. Işın 2α döner.
• Boy aynasında uzaklığın etkili olduğunu düşünmek. Gereken boy h/2'dir ve uzaklıktan bağımsızdır.
• İki aynada 360/α'yı doğrudan görüntü sayısı sanmak. Bu sayı cismi de içerir; görüntü sayısı bir eksiktir.
• Dağınık yansımada i = r kuralının bozulduğunu sanmak. Kural her ışın için geçerlidir; dağılmanın sebebi pürüzlü yüzeyde normallerin farklı yönlere bakmasıdır.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Görüntü sanal · Boy eşit · Ayna α dönerse ışın 2α · Ayna boyu h / 2
i = r — gelme açısı = yansıma açısı
d(cisim) = d(görüntü) — aynaya eşit uzaklık
n = 360/α − 1 — iki ayna arasındaki görüntü
L = h / 2 — gereken ayna boyu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duzlem-aynala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02</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Düzlem aynalar</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Aynadaki görüntünüz aslında orada değildir: ışınların uzantılarının kesiştiği yerdedir. Tek bir kural — gelme açısı = yansıma açısı — hem bu görüntüyü hem de iki ayna arasındaki onlarca kopyayı açıklar.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Kendini tepeden tırnağa görmek için boyun kadar bir ayna mı gerekir?</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Hayır: </a:t>
            </a:r>
            <a:pPr indent="0" marL="0">
              <a:lnSpc>
                <a:spcPct val="130000"/>
              </a:lnSpc>
              <a:buNone/>
            </a:pPr>
            <a:r>
              <a:rPr lang="en-US" sz="2150" b="1" dirty="0">
                <a:solidFill>
                  <a:srgbClr val="5F4BD8"/>
                </a:solidFill>
                <a:latin typeface="Cambria" pitchFamily="34" charset="0"/>
                <a:ea typeface="Cambria" pitchFamily="34" charset="-122"/>
                <a:cs typeface="Cambria" pitchFamily="34" charset="-120"/>
              </a:rPr>
              <a:t>yarısı yeter</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üstelik aynadan ne kadar uzakta durduğunun hiçbir önemi yok.</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Aynadaki yüzün de senin yüzün değil, sağı solu yer değiştirmiş gibi görünen bir kopyası; o kopya aynanın </a:t>
            </a:r>
            <a:pPr indent="0" marL="0">
              <a:lnSpc>
                <a:spcPct val="130000"/>
              </a:lnSpc>
              <a:buNone/>
            </a:pPr>
            <a:r>
              <a:rPr lang="en-US" sz="2150" b="1" dirty="0">
                <a:solidFill>
                  <a:srgbClr val="5F4BD8"/>
                </a:solidFill>
                <a:latin typeface="Cambria" pitchFamily="34" charset="0"/>
                <a:ea typeface="Cambria" pitchFamily="34" charset="-122"/>
                <a:cs typeface="Cambria" pitchFamily="34" charset="-120"/>
              </a:rPr>
              <a:t>arkasında hiç var olmayan bir yerde</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duruyor — oraya perde koysan hiçbir şey düşmez.</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Bütün bunlar tek bir kuraldan çıkıyor: </a:t>
            </a:r>
            <a:pPr indent="0" marL="0">
              <a:lnSpc>
                <a:spcPct val="130000"/>
              </a:lnSpc>
              <a:buNone/>
            </a:pPr>
            <a:r>
              <a:rPr lang="en-US" sz="2150" b="1" dirty="0">
                <a:solidFill>
                  <a:srgbClr val="5F4BD8"/>
                </a:solidFill>
                <a:latin typeface="Cambria" pitchFamily="34" charset="0"/>
                <a:ea typeface="Cambria" pitchFamily="34" charset="-122"/>
                <a:cs typeface="Cambria" pitchFamily="34" charset="-120"/>
              </a:rPr>
              <a:t>gelme açısı yansıma açısına eşittir.</a:t>
            </a:r>
            <a:endParaRPr lang="en-US" sz="215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aynaya bak, gördüğünü adlandır ve ışığın aynadan nasıl döndüğünü tanı.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aynada ne görürsün?</a:t>
            </a:r>
            <a:endParaRPr lang="en-US" sz="12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Yansıma yasası: ışık aynadan nasıl döner?</a:t>
            </a:r>
            <a:endParaRPr lang="en-US" sz="120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Düzgün ve dağınık yansıma: duvarda neden kendini göremezsin?</a:t>
            </a:r>
            <a:endParaRPr lang="en-US" sz="11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Düzlem aynada görüntünün özellikleri</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Tek kuraldan hesaba: görüntünün yerini, boy aynasını, hareket eden ve dönen aynayı, iki aynayı i = r'den türet.</a:t>
            </a:r>
            <a:endParaRPr lang="en-US" sz="11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Görüntü nasıl çizilir ve neden simetriktir?</a:t>
            </a:r>
            <a:endParaRPr lang="en-US" sz="1150" dirty="0"/>
          </a:p>
        </p:txBody>
      </p:sp>
      <p:sp>
        <p:nvSpPr>
          <p:cNvPr id="30" name="Text 28"/>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Boy aynası: yarısı yeter</a:t>
            </a:r>
            <a:endParaRPr lang="en-US" sz="1250" dirty="0"/>
          </a:p>
        </p:txBody>
      </p:sp>
      <p:sp>
        <p:nvSpPr>
          <p:cNvPr id="32" name="Text 30"/>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Cismin ve görüntünün hareketi</a:t>
            </a:r>
            <a:endParaRPr lang="en-US" sz="1250" dirty="0"/>
          </a:p>
        </p:txBody>
      </p:sp>
      <p:sp>
        <p:nvSpPr>
          <p:cNvPr id="34" name="Text 32"/>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Aynanın dönmesi: ışın neden iki kat döner?</a:t>
            </a:r>
            <a:endParaRPr lang="en-US" sz="1150" dirty="0"/>
          </a:p>
        </p:txBody>
      </p:sp>
      <p:sp>
        <p:nvSpPr>
          <p:cNvPr id="36" name="Text 34"/>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Sayılarla hisset: iki ayna, kaç görüntü?</a:t>
            </a:r>
            <a:endParaRPr lang="en-US" sz="120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İnce noktalar: ayna gerçekte neyi ters çevirir, paralel ve garip açılı aynalarda ne olur, düzlem aynalar nerede iş görür?</a:t>
            </a:r>
            <a:endParaRPr lang="en-US" sz="105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Ayna gerçekten sağı solu mu değiştirir?</a:t>
            </a:r>
            <a:endParaRPr lang="en-US" sz="125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İnce durumlar: paralel aynalar ve tam bölünmeyen açılar</a:t>
            </a:r>
            <a:endParaRPr lang="en-US" sz="120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Düzlem aynalar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Görmek: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cismi görmen için ondan çıkan ya da yansıyan ışığın gözüne gelmesi gerekir. Işık bu yolu düz çizgiler boyunca gider.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Açı ve derece: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iki çizginin arasındaki açıklığa açı denir; derece (°) ile ölçülür. Dik açı 90°, düz bir çizgi 180°, tam tur 360°'dir.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Tümler açı: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toplamı 90° olan iki açı. 25° ile 65° birbirinin tümleridir: 25 + 65 = 90.</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Simetri:</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kâğıdı katlayınca üst üste gelen iki şekil, kat çizgisine göre simetriktir. Simetrik iki nokta kat çizgisine eşit uzaklıktadır.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Hız:</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saniyede alınan yol. 2 m/s hızla giden bir oyuncak araba her saniye 2 metre yol alır.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aynaya bak, gördüğünü adlandır ve ışığın aynadan nasıl döndüğünü tanı.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aynada ne görürsün?</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Yansıma yasası: ışık aynadan nasıl döner?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Düzgün ve dağınık yansıma: duvarda neden kendini göremezsin?</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Düzlem aynada görüntünün özellikleri</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10/sek/duzlem-aynala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Boy aynasının karşısında.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Kız sağ elini kaldırınca görüntü de tam karşısındaki eli kaldırıyor; görüntünün kendisine göre bu onun sol elidir. Görüntü, kız aynadan ne kadar öndeyse aynanın o kadar arkasında duruyor ve boyu kızınkiyle aynı; görselde küçük görünmesi yalnızca daha uzakta olmasındandır. Bütün boyunu görmek için bu kadar büyük bir aynaya gerek olmadığını ikinci basamakta göreceğiz.</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aynada ne görürsün?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Sabah aynanın karşısına geçtiğinde gördüğün şeyi hiç dikkatle inceledin mi?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Görüntün aynanın yüzeyine yapışık değildir; aynanın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içinde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arkada bir yerde duruyor gibidir.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Aynaya bir adım yaklaş: görüntün de sana doğru bir adım gelir.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Sağ elini kaldır: görüntü tam karşındaki elini kaldırır.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Yazılı bir kâğıdı aynaya tut: harfler ters dönmüş görünür.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aynada ne görürsün?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de şunu dene: aynanın önünde yavaşça yana kay.</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Görüntün de seninle birlikte kayar ve aynanın kenarına gelince yarım kalır.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Ayna sanki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pencere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gibidir: arkasında seninkine benzeyen bir oda ve o odada senin bir kopyan varmış gibi.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aynada ne görürsün?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Sıradan bir düzlem aynaya her baktığında aynı dört şey gözlenir:</a:t>
            </a:r>
            <a:endParaRPr lang="en-US" sz="2200" dirty="0"/>
          </a:p>
        </p:txBody>
      </p:sp>
      <p:sp>
        <p:nvSpPr>
          <p:cNvPr id="7" name="Text 5"/>
          <p:cNvSpPr txBox="1"/>
          <p:nvPr/>
        </p:nvSpPr>
        <p:spPr>
          <a:xfrm>
            <a:off x="640080" y="2004060"/>
            <a:ext cx="10911535" cy="294208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Görüntü aynanın arkasındadır: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sen aynadan ne kadar öndeysen o kadar geride görünür.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Boy aynıdır: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ne büyür ne küçülür; uzaktan küçük görünmesi yalnızca uzaklıktandır.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Görüntü düzdür: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başın yukarıda, ayakların aşağıda kalır.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Yazılar ters okunur: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aynadaki harfler soldan sağa değil, sağdan sola dizilir.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aynada ne görürsün?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dört gözlemin hepsinin tek bir sebebi var: ışığın aynaya çarpıp nasıl geri döndüğü.</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 o kuralı tanıyalım, sonra her gözlemi tek tek ondan çıkaralım.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aynada ne görürsün?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Düzlem aynadaki görüntü aynanın arkasında, cisimle aynı uzaklıkta, aynı boyda ve düz durur; yazılar ise ters okunur. Ayna, arkasında bir oda varmış gibi görünen bir pencereye benzer.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Aynaya 1 m uzaklıkta duruyorsan görüntün senden kaç metre uzakta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aynada ne görürsün?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Aynaya 1 m uzaklıkta duruyorsan görüntün senden kaç metre uzakta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2 metre.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aynanın yüzeyinde değil, aynanın 1 m arkasındadır. Sen aynanın 1 m önünde, görüntün 1 m arkasında olduğuna göre aradaki uzaklık 1 + 1 = 2 m eder. Göz de aynaya bakarken 2 m uzağa odaklanır.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Yansıma yasası: ışık aynadan nasıl döner?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yüzeye çarpan ışık geri döner; buna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yansıma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Yansımayı anlatmak için ışının çarptığı noktada yüzeye dik bir çizgi hayal ederiz; bu çizgiye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normal</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Gelen ışının normalle yaptığı açıya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gelme açısı (i)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yansıyan ışının normalle yaptığı açıya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yansıma açısı (r)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Bilardo topunu düşün: banda eğik vuran top, vurduğu kadar eğik geri seker.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Yansıma yasası: ışık aynadan nasıl döner?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da aynadan böyle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Yansımanın iki kuralı vardır:</a:t>
            </a:r>
            <a:endParaRPr lang="en-US" sz="2200" dirty="0"/>
          </a:p>
        </p:txBody>
      </p:sp>
      <p:sp>
        <p:nvSpPr>
          <p:cNvPr id="7" name="Text 5"/>
          <p:cNvSpPr txBox="1"/>
          <p:nvPr/>
        </p:nvSpPr>
        <p:spPr>
          <a:xfrm>
            <a:off x="640080" y="2481072"/>
            <a:ext cx="10911535" cy="91897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Gelme açısı, yansıma açısına eşittir: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 = 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Gelen ışın, yansıyan ışın ve normal aynı düzlemdedir.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Yansıma yasası: ışık aynadan nasıl döner?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İkinci kural, ışığın aynaya çarpınca yana doğru “kaçmadığını” söyler: gelen ışın ve normal hangi kâğıt yaprağının üzerindeyse yansıyan ışın da o yaprakta kalır.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her yansımayı düz bir kâğıda çizebiliriz.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aynaya dik gelirse (i = 0) geldiği yoldan geri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bölümündeki yansıma laboratuvarında gelme açısını değiştirip yansıma açısının onu nasıl izlediğini görebilirsin.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Yansıma yasası: ışık aynadan nasıl döner?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3C8C21"/>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Açılar normalle ölçülür.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Normal, yüzeye dik doğrultudur. “Işın yüzeyle 30° açı yapıyor” denirse gelme açısı 30° değil,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60°</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'dir.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Yansıma yasası: ışık aynadan nasıl döner?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duzlem-aynalar-01.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Yansımanın tamamı iki cümledir: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gelme açısı yansıma açısına eşittir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gelen ışın, yansıyan ışın ile normal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düzlemdedir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Açılar her zaman yüzeyden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normalden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ölçülür — sınavda en sık kaybedilen puan buradan gider. Işık dik gelirse (i = 0) geldiği yoldan geri döner.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Yansıma yasası: ışık aynadan nasıl döner?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Işık aynadan gelme açısına eşit bir açıyla yansır (i = r); gelen ışın, yansıyan ışın ve normal aynı düzlemde kalır. Açılar yüzeyden değil, normalden ölçülür.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Gelen ışın ile yansıyan ışın arasındaki açı 90° ise gelme açısı kaç derecedir?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02 · Yansıma yasası: ışık aynadan nasıl döner?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Gelen ışın ile yansıyan ışın arasındaki açı 90° ise gelme açısı kaç derecedir?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45°.</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İki ışın arasındaki açı, gelme ve yansıma açılarının toplamıdır: i + r. Bu iki açı eşit olduğuna göre her biri 90°'nin yarısı, yani 45°'dir. Bu durumda ışın yüzeyle de 45° açı yapar.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300" b="1" spc="-50" kern="0" dirty="0">
                <a:solidFill>
                  <a:srgbClr val="0E1426"/>
                </a:solidFill>
                <a:latin typeface="Cambria" pitchFamily="34" charset="0"/>
                <a:ea typeface="Cambria" pitchFamily="34" charset="-122"/>
                <a:cs typeface="Cambria" pitchFamily="34" charset="-120"/>
              </a:rPr>
              <a:t>Düzgün ve dağınık yansıma: duvarda neden kendini göremezsin?</a:t>
            </a:r>
            <a:endParaRPr lang="en-US" sz="23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Beyaz bir kâğıt üzerine düşen ışığın çoğunu geri yollar; yine de ona bakınca kendini göremezsin.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Fark, yansıyan ışığın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miktarında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değil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düzenindedir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7" name="Text 5"/>
          <p:cNvSpPr txBox="1"/>
          <p:nvPr/>
        </p:nvSpPr>
        <p:spPr>
          <a:xfrm>
            <a:off x="640080" y="2866644"/>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Düzgün (aynasal) yansıma: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pürüzsüz yüzeyde paralel ışınlar paralel olarak yansır; görüntü oluşur. Ayna, durgun su, cilalı metal.</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Dağınık yansıma: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pürüzlü yüzeyde her ışın farklı yöne yansır; görüntü oluşmaz ama cisim her yönden görülebilir. Kâğıt, duvar, kumaş.</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300" b="1" spc="-50" kern="0" dirty="0">
                <a:solidFill>
                  <a:srgbClr val="0E1426"/>
                </a:solidFill>
                <a:latin typeface="Cambria" pitchFamily="34" charset="0"/>
                <a:ea typeface="Cambria" pitchFamily="34" charset="-122"/>
                <a:cs typeface="Cambria" pitchFamily="34" charset="-120"/>
              </a:rPr>
              <a:t>Düzgün ve dağınık yansıma: duvarda neden kendini göremezsin?</a:t>
            </a:r>
            <a:endParaRPr lang="en-US" sz="23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Kâğıdı büyüteçle incelesen küçük tepecikler ve çukurlar görürsün.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tepeciğin eğimi farklı olduğu için normalleri de farklı yönlere bakar.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iki durumda da yansıma yasası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her ışın için ayrı ayrı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geçerlidir; fark, yüzeyin normallerinin farklı yönlere bakmasıdır.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Dağınıklık kötü bir şey de değildir: tahtayı, kitabın sayfasını, karşıdaki binayı sınıfın her yerinden görebilmeni sağlayan odur.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300" b="1" spc="-50" kern="0" dirty="0">
                <a:solidFill>
                  <a:srgbClr val="0E1426"/>
                </a:solidFill>
                <a:latin typeface="Cambria" pitchFamily="34" charset="0"/>
                <a:ea typeface="Cambria" pitchFamily="34" charset="-122"/>
                <a:cs typeface="Cambria" pitchFamily="34" charset="-120"/>
              </a:rPr>
              <a:t>Düzgün ve dağınık yansıma: duvarda neden kendini göremezsin?</a:t>
            </a:r>
            <a:endParaRPr lang="en-US" sz="23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Yağmurlu bir gecede asfaltın ayna gibi parlaması da bu yüzdendir: su, yolun pürüzlerini doldurup yüzeyi düzleştirir.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Karşıdan gelen farların ışığı artık dağılmaz, düzgün yansıyarak doğrudan gözüne gelir ve seni kamaştırır.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300" b="1" spc="-50" kern="0" dirty="0">
                <a:solidFill>
                  <a:srgbClr val="0E1426"/>
                </a:solidFill>
                <a:latin typeface="Cambria" pitchFamily="34" charset="0"/>
                <a:ea typeface="Cambria" pitchFamily="34" charset="-122"/>
                <a:cs typeface="Cambria" pitchFamily="34" charset="-120"/>
              </a:rPr>
              <a:t>Düzgün ve dağınık yansıma: duvarda neden kendini göremezsin?</a:t>
            </a:r>
            <a:endParaRPr lang="en-US" sz="23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629180" y="1234440"/>
            <a:ext cx="893333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duzlem-aynalar-02.png">    </p:cNvPr>
          <p:cNvPicPr>
            <a:picLocks noChangeAspect="1"/>
          </p:cNvPicPr>
          <p:nvPr/>
        </p:nvPicPr>
        <p:blipFill>
          <a:blip r:embed="rId1"/>
          <a:stretch>
            <a:fillRect/>
          </a:stretch>
        </p:blipFill>
        <p:spPr>
          <a:xfrm>
            <a:off x="1857780" y="1325880"/>
            <a:ext cx="847613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İki durumda 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her ışın i = r kuralına uyar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değişen tek şey yüzeyin normalleridir. Pürüzsüz yüzeyde bütün normaller aynı yöne baktığı için yansıyan ışınlar paralel kalır ve görüntü oluşur. Pürüzlü yüzeyde her noktanın normali farklı olduğundan ışınlar her yöne dağılır; bu yüzden duvarı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her yerden görebiliriz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ama duvarda kendimizi göremeyiz.</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300" b="1" spc="-50" kern="0" dirty="0">
                <a:solidFill>
                  <a:srgbClr val="0E1426"/>
                </a:solidFill>
                <a:latin typeface="Cambria" pitchFamily="34" charset="0"/>
                <a:ea typeface="Cambria" pitchFamily="34" charset="-122"/>
                <a:cs typeface="Cambria" pitchFamily="34" charset="-120"/>
              </a:rPr>
              <a:t>Düzgün ve dağınık yansıma: duvarda neden kendini göremezsin?</a:t>
            </a:r>
            <a:endParaRPr lang="en-US" sz="23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Pürüzsüz yüzeyde normaller aynı yöne baktığı için ışınlar düzenli yansır ve görüntü oluşur; pürüzlü yüzeyde normaller dağınık olduğu için görüntü oluşmaz. İki durumda da her ışın i = r kuralına uyar.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Durgun bir göl ağaçları ayna gibi yansıtır. Rüzgârlı bir günde görüntü neden kaybolur?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Düzgün ve dağınık yansıma: duvarda neden kendini göremezsin?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Durgun bir göl ağaçları ayna gibi yansıtır. Rüzgârlı bir günde görüntü neden kaybolur?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Dalgalar suyun yüzeyini pürüzlü hâle getirir. Her noktada ışın yine i = r kuralıyla yansır, ama dalgalı yüzeyin normalleri farklı yönlere baktığı için yansıyan ışınlar dağılır. Göz, bir ağacın bir noktasından gelen ışınları artık düzenli bir demet olarak alamaz ve görüntü parçalanır.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aynada görüntünün özellikleri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bölümdeki dört gözlemi artık bir tabloda toplayabiliriz.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tablo, düzlem aynayla ilgili hemen her sorunun cevabını içinde taşır: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aynada görüntünün özellikleri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1909519"/>
                <a:gridCol w="900201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Özellik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Düzlem aynada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Türü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sanal (perdeye düşmez)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Yönü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düz (ters değil)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Boyu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cisimle eşit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Yeri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aynanın arkasında, eşit uzaklıkta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Simetri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sağ–sol yer değiştirmiş görünür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aynada görüntünün özellikleri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Görüntü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sanaldır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ışınlar gerçekte aynanın arkasına geçmez, yalnızca uzantıları orada kesişir.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aynanın arkasına perde koysan hiçbir şey düşmez.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Bunun tersine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gerçek görüntü</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ışınların kendilerinin buluştuğu yerde oluşur ve perdeye düşürülebilir; sinema perdesindeki görüntü böyledir.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Düzlem ayna hiçbir zaman gerçek görüntü vermez; gerçek görüntüyü bir sonraki konuda, çukur aynalarda göreceksin.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aynada görüntünün özellikleri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Tablonun son satırı günlük hayatta işe yarar: ambulansların önündeki yazı ters yazılır.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Öndeki sürücü onu dikiz aynasında gördüğünde yazı düzelir ve hemen okunur.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Aynanın “sağı solu değiştirmesinin” gerçekte ne anlama geldiğini üçüncü basamakta ayrıca ele alacağız.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aynada görüntünün özellikleri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517124" y="1234440"/>
            <a:ext cx="915744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duzlem-aynalar-03.png">    </p:cNvPr>
          <p:cNvPicPr>
            <a:picLocks noChangeAspect="1"/>
          </p:cNvPicPr>
          <p:nvPr/>
        </p:nvPicPr>
        <p:blipFill>
          <a:blip r:embed="rId1"/>
          <a:stretch>
            <a:fillRect/>
          </a:stretch>
        </p:blipFill>
        <p:spPr>
          <a:xfrm>
            <a:off x="1745724" y="1325880"/>
            <a:ext cx="870024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Görüntü aynanın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tam simetriğindedir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aynaya uzaklığı cisminkine eşittir, boyu cisminkiyle aynıdır ve düzdür. Ama bayrak ters tarafa bakar — çünkü ayna sağı solu değiştirir. Görüntü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sanaldır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ışınlar gerçekte orada kesişmez, yalnızca uzantıları kesişir; oraya perde koysan hiçbir şey düşmez.</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aynada görüntünün özellikleri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Düzlem aynada görüntü sanal, düz, cisimle aynı boyda ve aynaya cisimle aynı uzaklıktadır; sağ ile sol yer değiştirmiş görünür. Işınların yalnızca uzantıları kesiştiği için görüntü perdeye düşmez.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Duvardaki akrepli saat tam 3'ü gösteriyor. Karşıdaki aynada saat kaçı gösteriyor gibi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Düzlem aynada görüntünün özellikleri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Duvardaki akrepli saat tam 3'ü gösteriyor. Karşıdaki aynada saat kaçı gösteriyor gibi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9'u.</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Ayna sağ ile solu yer değiştirmiş gösterdiği için akrep 3'ün yerine 9'un üzerinde görünür; yelkovan 12'de kaldığı için değişmez. Genel olarak aynada görünen saat, 12:00'den gerçek saatin çıkarılmasıyla bulunur: 12:00 − 3:00 = 9:00.</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Tek kuraldan hesaba: görüntünün yerini, boy aynasını, hareket eden ve dönen aynayı, iki aynayı i = r'den türet.</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Görüntü nasıl çizilir ve neden simetriktir?</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Boy aynası: yarısı yeter</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Cismin ve görüntünün hareketi</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Aynanın dönmesi: ışın neden iki kat döner?</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Sayılarla hisset: iki ayna, kaç görüntü?</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i = r</a:t>
            </a:r>
            <a:endParaRPr lang="en-US" sz="1500" dirty="0"/>
          </a:p>
        </p:txBody>
      </p:sp>
      <p:sp>
        <p:nvSpPr>
          <p:cNvPr id="14" name="Text 12"/>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gelme açısı = yansıma açısı</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277063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d(cisim) = d(görüntü)</a:t>
            </a:r>
            <a:endParaRPr lang="en-US" sz="1500" dirty="0"/>
          </a:p>
        </p:txBody>
      </p:sp>
      <p:sp>
        <p:nvSpPr>
          <p:cNvPr id="17" name="Text 15"/>
          <p:cNvSpPr txBox="1"/>
          <p:nvPr/>
        </p:nvSpPr>
        <p:spPr>
          <a:xfrm>
            <a:off x="9262872" y="2350008"/>
            <a:ext cx="210586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aynaya eşit uzaklık</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 = 360/α − 1</a:t>
            </a:r>
            <a:endParaRPr lang="en-US" sz="1500" dirty="0"/>
          </a:p>
        </p:txBody>
      </p:sp>
      <p:sp>
        <p:nvSpPr>
          <p:cNvPr id="20" name="Text 18"/>
          <p:cNvSpPr txBox="1"/>
          <p:nvPr/>
        </p:nvSpPr>
        <p:spPr>
          <a:xfrm>
            <a:off x="8311896" y="321868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iki ayna arasındaki görüntü</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L = h / 2</a:t>
            </a:r>
            <a:endParaRPr lang="en-US" sz="1500" dirty="0"/>
          </a:p>
        </p:txBody>
      </p:sp>
      <p:sp>
        <p:nvSpPr>
          <p:cNvPr id="23" name="Text 21"/>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gereken ayna boyu</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Görüntü nasıl çizilir ve neden simetriktir?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noktanın görüntüsünü bulmak için dört adım yeter:</a:t>
            </a:r>
            <a:endParaRPr lang="en-US" sz="2200" dirty="0"/>
          </a:p>
        </p:txBody>
      </p:sp>
      <p:sp>
        <p:nvSpPr>
          <p:cNvPr id="7" name="Text 5"/>
          <p:cNvSpPr txBox="1"/>
          <p:nvPr/>
        </p:nvSpPr>
        <p:spPr>
          <a:xfrm>
            <a:off x="640080" y="2004060"/>
            <a:ext cx="10911535" cy="1837944"/>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Cisimden aynaya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iki ışın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gönder.</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Her birini yansıma yasasına göre yansıt (i = r).</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Yansıyan ışınları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geriye, kesikli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uzat.</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Uzantıların kesiştiği nokta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görüntüdür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Görüntü nasıl çizilir ve neden simetriktir?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Kısayol: cismin aynaya dik uzaklığını ölç, aynanın arkasına aynı uzaklıkta işaretle.</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Sonuç aynıdır çünkü düzlem ayna, cismin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ayna düzlemine göre simetriğini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oluşturur.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kısayol ezber değil, geometriyle kanıtlanabilir.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Görüntü nasıl çizilir ve neden simetriktir?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Simetri nereden geliyor?</a:t>
            </a:r>
            <a:endParaRPr lang="en-US" sz="2200" dirty="0"/>
          </a:p>
        </p:txBody>
      </p:sp>
      <p:sp>
        <p:nvSpPr>
          <p:cNvPr id="8" name="Text 6"/>
          <p:cNvSpPr txBox="1"/>
          <p:nvPr/>
        </p:nvSpPr>
        <p:spPr>
          <a:xfrm>
            <a:off x="640080" y="1892808"/>
            <a:ext cx="10911535" cy="331012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Cisim A noktasında olsun; A'dan aynaya bir dik indir, ayağına H de. A'dan çıkan bir ışın aynaya O noktasında çarpsın.</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Uzat: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Yansıyan ışını aynanın arkasına, AH dikmesini de aynı yöne uzat; ikisi A′ noktasında kesişsin.</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Açıları karşılaştır: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 = r olduğundan gelen ve yansıyan ışının yüzeyle yaptığı açılar eşittir; uzantı da ters açı olarak aynı açıyı yapar.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Eş üçgenler: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AHO ile A′HO üçgenlerinde H'deki açılar 90°, O'daki açılar eşit ve HO kenarı ortaktır. Üçgenler eştir, yani AH = A′H.</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Görüntü nasıl çizilir ve neden simetriktir?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3588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 noktasını nereye koyarsan koy aynı A′ çıkar; bu yüzden bütün yansıyan ışınların uzantıları tek bir noktada buluşur ve net bir görüntü görürüz.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çizim eski bir gerçeği de açıklar: İskenderiyeli Heron yaklaşık iki bin yıl önce, yansıyan ışığın bir noktadan aynaya, oradan başka bir B noktasına giden yolların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en kısasını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izlediğini göstermişti.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Aynaya uğrayan her yol, A′'dan B'ye giden bir yol kadar uzundur; bunların en kısası A′ ile B'yi birleştiren düz çizgidir ve i = r'yi sağlayan yol tam olarak odur.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Görüntü nasıl çizilir ve neden simetriktir?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755066" y="1234440"/>
            <a:ext cx="8681564"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duzlem-aynalar-04.png">    </p:cNvPr>
          <p:cNvPicPr>
            <a:picLocks noChangeAspect="1"/>
          </p:cNvPicPr>
          <p:nvPr/>
        </p:nvPicPr>
        <p:blipFill>
          <a:blip r:embed="rId1"/>
          <a:stretch>
            <a:fillRect/>
          </a:stretch>
        </p:blipFill>
        <p:spPr>
          <a:xfrm>
            <a:off x="1983666" y="1325880"/>
            <a:ext cx="8224364"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Görüntüyü çizmek için cismin bir noktasından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iki ışın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göndermek yeter: ikisi de i = r kuralıyla yansır. Yansıyan ışınlar göze ulaştığında göz onları düz bir çizgi boyunca geri izler ve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aynanın arkasında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noktada birleştirir. Işınlar orada gerçekten buluşmaz — buluşan yalnızca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uzantılarıdır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Sanal görüntü tam olarak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Görüntü nasıl çizilir ve neden simetriktir?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Görüntüyü bulmak için iki ışını i = r ile yansıtıp uzantılarını kesiştirmek ya da cismin aynaya göre simetriğini almak yeter; eş üçgenler ikisinin aynı noktayı verdiğini kanıtlar.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Boy aynası: yarısı yeter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 şaşırtıcı bir iddiayla başlıyor: kendini tepeden tırnağa görmek için boyunun yarısı kadar bir ayna yeter ve aynaya uzaklığın bir önemi yoktur.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Bunu simetriden adım adım çıkarabiliriz.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Kişinin boyu h, gözünün yerden yüksekliği y olsun.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Boy aynası: yarısı yeter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Ayak: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Göz, ayağın görüntüsüne düz bir çizgiyle bakar. Ayna bu çizginin yatayda tam ortasında durduğu için çizgiyi yüksekliklerin ortasında, y/2'de keser.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Baş: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akıl yürütmeyle başın tepesinden gelen ışın (h + y)/2 yüksekliğinde yansır.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Fark: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Ayna en az bu iki nokta arası kadar olmalı: (h + y)/2 − y/2 = h/2.</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Uzaklık: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Hesabın hiçbir adımında aynaya uzaklık geçmedi; sonuç uzaklıktan bağımsızdır.</a:t>
            </a:r>
            <a:endParaRPr lang="en-US" sz="2100" dirty="0"/>
          </a:p>
        </p:txBody>
      </p:sp>
      <p:sp>
        <p:nvSpPr>
          <p:cNvPr id="7" name="Shape 5"/>
          <p:cNvSpPr/>
          <p:nvPr/>
        </p:nvSpPr>
        <p:spPr>
          <a:xfrm>
            <a:off x="640080" y="4837176"/>
            <a:ext cx="179953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837176"/>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L = h / 2</a:t>
            </a:r>
            <a:endParaRPr lang="en-US" sz="1800" dirty="0"/>
          </a:p>
        </p:txBody>
      </p:sp>
      <p:sp>
        <p:nvSpPr>
          <p:cNvPr id="9" name="Shape 7"/>
          <p:cNvSpPr/>
          <p:nvPr/>
        </p:nvSpPr>
        <p:spPr>
          <a:xfrm>
            <a:off x="2585923" y="4837176"/>
            <a:ext cx="291145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585923" y="4837176"/>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alt kenar = y / 2</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Boy aynası: yarısı yeter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785524"/>
                <a:gridCol w="7935662"/>
                <a:gridCol w="1190349"/>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kendini tepeden tırnağa görmek için gereken en kısa ayna boyu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kişinin boyu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kişinin gözünün yerden yüksekliği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alt kenar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aynanın alt kenarının yerden yüksekliği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Boy aynası: yarısı yeter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1776296"/>
                <a:gridCol w="4567619"/>
                <a:gridCol w="2283810"/>
                <a:gridCol w="2283810"/>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Boy (h)</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Göz yüksekliği (y)</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Ayna boyu</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Alt kenar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120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110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160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150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180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170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200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188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94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Boy aynası: yarısı yeter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Bütün aile aynı aynayı kullanacaksa alt kenar en kısanın ihtiyacına (55 cm), üst kenar en uzunun ihtiyacına göre, (200 + 188)/2 = 194 cm'ye konur: 139 cm'lik bir ayna herkese yeter.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Boy aynası: yarısı yeter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Kendini tepeden tırnağa görmek için boyunun yarısı kadar bir ayna yeter (L = h/2); alt kenarı göz yüksekliğinin yarısında olmalıdır. Aynaya olan uzaklık bu sonucu değiştirmez.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Aynadan geri geri uzaklaşırsan aynada kendinin daha büyük bir bölümünü görür müsün?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Boy aynası: yarısı yeter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Aynadan geri geri uzaklaşırsan aynada kendinin daha büyük bir bölümünü görür müsün?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Hayır.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Uzaklaştıkça görüntün de aynanın arkasında aynı ölçüde uzaklaşır; ayak ve baştan gelen ışınların aynaya çarptığı yükseklikler (y/2 ve (h + y)/2) hiç değişmez. Görüntün gözüne küçük görünür, ama aynada bedeninin gördüğün bölümü aynı kalır.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Cismin ve görüntünün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Görüntü her an cismin aynaya göre simetriği olduğuna göre cisim nereye giderse görüntü de ona “ayna gibi” eşlik 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Hareketi aynaya dik ve aynaya paralel iki parçaya ayırmak işi kolaylaştırır.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Dik parçayı adım adım inceleyelim: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Cismin ve görüntünün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21868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Cisim yaklaşıyor: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Cisim 1 s'de aynaya v kadar yaklaşırsa aynaya uzaklığı v azalır; görüntünün uzaklığı da v azalır. Görüntü de v hızıyla aynaya yaklaşır.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Zıt yönler: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İkisi zıt yönlerde hareket ettiği için aralarındaki uzaklık (aynaya uzaklığın iki katı) her saniye 2v kısalır: birbirlerine göre hızları 2v'dir.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Ayna yaklaşıyor: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Cisim dururken ayna 1 s'de v yaklaşırsa cisim–ayna uzaklığı v, cisim–görüntü uzaklığı 2v kısalır. Görüntü yere göre 2v hızıyla gelir.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Cismin ve görüntünün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Cisim aynaya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hızıyla yaklaşırsa görüntü de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hızıyla yaklaşır;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birbirlerine göre hızları 2v</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olur.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Cisim aynaya paralel hareket ederse görüntü de aynı yönde, aynı hızla hareket eder.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Ayna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cisme doğru v hızıyla hareket ederse görüntü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2v</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hızıyla yaklaşır.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Cismin ve görüntünün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02 numaralı bölümünde “Aynaya yaklaştır” düğmesine bastığında cismin, görüntünün ve ikisinin birbirine göre hızını ayrı ayrı okuyabilirsin.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Soru çözerken her seferinde “kimin hızı, kime göre?” diye sor.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Cismin ve görüntünün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020928" y="1234440"/>
            <a:ext cx="10149840" cy="3817620"/>
          </a:xfrm>
          <a:prstGeom prst="roundRect">
            <a:avLst>
              <a:gd name="adj" fmla="val 38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duzlem-aynalar-05.png">    </p:cNvPr>
          <p:cNvPicPr>
            <a:picLocks noChangeAspect="1"/>
          </p:cNvPicPr>
          <p:nvPr/>
        </p:nvPicPr>
        <p:blipFill>
          <a:blip r:embed="rId1"/>
          <a:stretch>
            <a:fillRect/>
          </a:stretch>
        </p:blipFill>
        <p:spPr>
          <a:xfrm>
            <a:off x="1249528" y="1325880"/>
            <a:ext cx="9692640" cy="3634740"/>
          </a:xfrm>
          <a:prstGeom prst="rect">
            <a:avLst/>
          </a:prstGeom>
        </p:spPr>
      </p:pic>
      <p:sp>
        <p:nvSpPr>
          <p:cNvPr id="8" name="Text 5"/>
          <p:cNvSpPr txBox="1"/>
          <p:nvPr/>
        </p:nvSpPr>
        <p:spPr>
          <a:xfrm>
            <a:off x="1249528" y="5234940"/>
            <a:ext cx="9692640" cy="909828"/>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Cisim aynaya yaklaşırken görüntü de aynı hızla yaklaşır —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ters yönde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Bu yüzden cisimle görüntüsü arasındaki uzaklık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2v</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hızıyla kapanır. Aynanın kendisi cisme doğru v ile hareket ederse görüntü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2v</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ile yaklaşır; bunları karıştırmamak için her seferinde "kim kime göre" diye sormak gerekir.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Cismin ve görüntünün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Cisim aynaya v ile yaklaşırsa görüntü de v ile yaklaşır ve ikisi birbirine 2v ile yaklaşır. Cisim dururken ayna v ile hareket ederse görüntü 2v ile hareket eder.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Aynanın dönmesi: ışın neden iki kat döner?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Gelen ışın sabitken ayna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kadar döndürülürse, normal de α kadar döner; gelme açısı α değişir, yansıma açısı da α değişir.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Sonuçta yansıyan ışın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kadar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Bunu da adım adım gösterelim: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Aynanın dönmesi: ışın neden iki kat döner?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Başlangıç: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Gelme açısı i ise yansıma açısı da i'dir; gelen ile yansıyan ışın arasındaki açı 2i olur.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Dönme: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Ayna α dönünce normali de α döner; gelme açısı i + α olur.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Yansıma: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Yansıma açısı da i + α olur; ışınlar arası açı 2i + 2α'ya çıkar.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Gelen ışın hiç kıpırdamadığına göre 2α'lık artışın tamamı yansıyan ışına aittir.</a:t>
            </a:r>
            <a:endParaRPr lang="en-US" sz="2100" dirty="0"/>
          </a:p>
        </p:txBody>
      </p:sp>
      <p:sp>
        <p:nvSpPr>
          <p:cNvPr id="7" name="Shape 5"/>
          <p:cNvSpPr/>
          <p:nvPr/>
        </p:nvSpPr>
        <p:spPr>
          <a:xfrm>
            <a:off x="640080" y="4101084"/>
            <a:ext cx="388437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101084"/>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Δ(yansıyan ışın) = 2 · α</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Aynanın dönmesi: ışın neden iki kat döner?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özellik hassas ölçüm aletlerinde kullanılır: küçük bir dönmeyi iki katına büyütüp ölçmeyi kolaylaştırır.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Aynadan 2 m uzaktaki bir cetvele düşen ışık lekesini düşün: ayna yalnızca 1° dönerse ışın 2° döner ve leke cetvel üzerinde yaklaşık 7 cm kayar.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Gözle fark edilemeyecek bir dönme böylece kolayca okunur.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bölümündeki “Ayna 20° dönük” deneyi ve altındaki grafik bu doğrusal 2α ilişkisini gösterir.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Aynanın dönmesi: ışın neden iki kat döner?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795478" y="1234440"/>
            <a:ext cx="860073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duzlem-aynalar-06.png">    </p:cNvPr>
          <p:cNvPicPr>
            <a:picLocks noChangeAspect="1"/>
          </p:cNvPicPr>
          <p:nvPr/>
        </p:nvPicPr>
        <p:blipFill>
          <a:blip r:embed="rId1"/>
          <a:stretch>
            <a:fillRect/>
          </a:stretch>
        </p:blipFill>
        <p:spPr>
          <a:xfrm>
            <a:off x="2024078" y="1325880"/>
            <a:ext cx="814353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Gelen ışını hiç değiştirmeden aynayı α kadar döndürürsen, yansıyan ışın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kadar döner. Sebebi şu: ayna döndüğünde normali de α kadar döner, hem gelme hem yansıma açısı α değişir ve ikisi toplanır. Ayna galvanometresi, lazer tarayıcılar ve barkod okuyucular küçük bir dönmeyi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iki katına büyütmek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için tam olarak bunu kullanır.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Aynanın dönmesi: ışın neden iki kat döner?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Gelen ışın sabitken ayna α kadar dönerse normal de α döner; gelme ve yansıma açılarının ikisi birden α değiştiği için yansıyan ışın 2α döner.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Işın aynaya dik geliyor. Ayna 10° döndürülürse gelen ile yansıyan ışın arasındaki açı kaç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Aynanın dönmesi: ışın neden iki kat döner?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Işın aynaya dik geliyor. Ayna 10° döndürülürse gelen ile yansıyan ışın arasındaki açı kaç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20°.</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Başta gelme açısı 0'dır ve ışın geldiği yoldan döner. Ayna 10° dönünce normal de 10° döner, gelme açısı 10°, yansıma açısı da 10° olur. İki ışın arasındaki açı 10 + 10 = 20° eder: tam olarak 2α.</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iki ayna, kaç görüntü?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Aralarında α açısı bulunan iki düzlem ayna arasına konan cismin görüntüleri, aynaların kesişme noktası merkez olmak üzere bir çember üzerinde dizilir.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ayna cismin bir görüntüsünü oluşturur; bu görüntüler öbür ayna için birer cisim olur ve yeni görüntüler doğar.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Hiçbir yansıma kesişme çizgisine olan uzaklığı değiştirmediği için hepsi aynı çemberin üzerindedir.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iki ayna, kaç görüntü?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açıortaydayken kopyalar çemberde tam α aralıklarla, saatin rakamları gibi eşit dizilir; 360°'lik çembere 360/α kopya sığar.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 cismin kendisi olduğuna göre:</a:t>
            </a:r>
            <a:endParaRPr lang="en-US" sz="2200" dirty="0"/>
          </a:p>
        </p:txBody>
      </p:sp>
      <p:sp>
        <p:nvSpPr>
          <p:cNvPr id="7" name="Shape 5"/>
          <p:cNvSpPr/>
          <p:nvPr/>
        </p:nvSpPr>
        <p:spPr>
          <a:xfrm>
            <a:off x="640080" y="2866644"/>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 = 360 / α − 1</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iki ayna, kaç görüntü?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340013"/>
                <a:gridCol w="7657218"/>
                <a:gridCol w="1914304"/>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görüntü sayısı (cismin kendisi sayılmaz)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iki aynanın arasındaki açı (aynanın dönmesindeki α'dan farklıdır)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360 / 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çembere sığan kopya sayısı: cisim ve bütün görüntüleri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iki ayna, kaç görüntü?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5182979"/>
                <a:gridCol w="1909519"/>
                <a:gridCol w="381903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Aynalar arası açı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360 / 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Görüntü sayısı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180° (tek düz ayna)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90°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60°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iki ayna, kaç görüntü?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hemen okunan düzen: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açı yarıya inince kopya sayısı iki katına çıkar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(90°'de 4, 45°'de 8; 60°'de 6, 30°'de 12); görüntü sayısı her seferinde bunun bir eksiğidir.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satır bağıntının sağlamasıdır: iki ayna düz bir çizgi oluşturunca tek bir görüntü kalır.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90°'deki üç görüntünün ikisi tek yansımayla, köşedeki üçüncüsü iki yansımayla oluşur.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iki ayna, kaç görüntü?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bölümünde açıyı 20°'ye kadar indirip görüntülerin çemberde nasıl sıklaştığını izleyebilirsin.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iki ayna, kaç görüntü?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2622495" y="1234440"/>
            <a:ext cx="6946704"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duzlem-aynalar-07.png">    </p:cNvPr>
          <p:cNvPicPr>
            <a:picLocks noChangeAspect="1"/>
          </p:cNvPicPr>
          <p:nvPr/>
        </p:nvPicPr>
        <p:blipFill>
          <a:blip r:embed="rId1"/>
          <a:stretch>
            <a:fillRect/>
          </a:stretch>
        </p:blipFill>
        <p:spPr>
          <a:xfrm>
            <a:off x="2851095" y="1325880"/>
            <a:ext cx="6489504"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İki ayna arasındaki cisim, yalnızca kendini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görüntülerin görüntülerini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de yansıtır. Bütün görüntüler, aynaların kesiştiği noktayı merkez alan bir çember üzerinde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eşit aralıklarla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dizilir. Açı küçüldükçe çembere daha çok görüntü sığar: n = 360/α − 1. Aynalar paralel olursa (α = 0) görüntü sayısı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sonsuza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gider — berber aynalarındaki o bitmeyen koridorun sebebi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iki ayna, kaç görüntü?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Aralarında α açısı olan iki aynada, 360/α tam sayı ve cisim açıortaydayken n = 360/α − 1 görüntü oluşur ve görüntüler cisimle birlikte bir çember üzerinde dizilir. Açı yarıya inince kopya sayısı iki katına çıkar.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İki ayna arasındaki bir cismin 11 görüntüsünü görmek için aynalar arasındaki açı kaç derece olmalı?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Sayılarla hisset: iki ayna, kaç görüntü?</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İki ayna arasındaki bir cismin 11 görüntüsünü görmek için aynalar arasındaki açı kaç derece olmalı?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30°.</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 = 360/α − 1 = 11 ise 360/α = 12, yani α = 360/12 = 30°. Kopya sayısı 12'dir: cismin kendisi ve 11 görüntüsü. Açı 60° olsaydı kopya sayısı yarıya, 6'ya inerdi.</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İnce noktalar: ayna gerçekte neyi ters çevirir, paralel ve garip açılı aynalarda ne olur, düzlem aynalar nerede iş görür?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Ayna gerçekten sağı solu mu değiştirir?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İnce durumlar: paralel aynalar ve tam bölünmeyen açılar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Düzlem aynalar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duzlem-aynala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Görünmeden görmek.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Periskop, ışığı iki kez 90° çevirerek su yüzeyinin üstündeki manzarayı aşağıdaki gözcüye indirir. Borunun iki ucundaki yansıtıcılar birbirine paraleldir; ışın iki yansımadan sonra ilk yönüne paralel çıkar ve ufuktaki gemi düz görünür.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gerçekten sağı solu mu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Aynada sağ elin görüntünün sol eli gibi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Ama bir bilmece var: ayna sağı solu değiştiriyorsa neden altı üstü değiştirmiyor?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Aynanın yatayı düşeyden ayırması için hiçbir sebep yoktur; ikisi de aynanın yüzeyine paraleldir.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gerçekten sağı solu mu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Cevap şu: ayna aslında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önü arkayı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yani yalnızca aynaya dik doğrultuyu ters çevirir.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Burnun aynaya doğru bakıyorsa görüntünün burnu sana doğru bakar; başın yukarıda, kalkık elin aynı tarafta kalır.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“Sağ–sol ters” izlenimi, görüntüyü bize dönmüş başka bir insan gibi yorumlamamızdan doğar: kendini onun yerine koyup yarım tur döndüğünü hayal ettiğinde sağ ile sol yer değiştirmiş olur.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gerçekten sağı solu mu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Aynaya dik doğrultu ters döner: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aynaya bakan yüzün görüntüsü sana bakar.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Aynaya paralel doğrultular değişmez: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yukarı yukarıda, sağ taraf sağda kalır.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Yatay ayna düşeyi çevirir: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durgun gölde ağaçların baş aşağı görünmesi bundandır.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gerçekten sağı solu mu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99032"/>
            <a:ext cx="64008" cy="310896"/>
          </a:xfrm>
          <a:prstGeom prst="rect">
            <a:avLst/>
          </a:prstGeom>
          <a:solidFill>
            <a:srgbClr val="5F4BD8"/>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Ters çevirmeyen ayna</a:t>
            </a:r>
            <a:endParaRPr lang="en-US" sz="2200" dirty="0"/>
          </a:p>
        </p:txBody>
      </p:sp>
      <p:sp>
        <p:nvSpPr>
          <p:cNvPr id="8" name="Text 6"/>
          <p:cNvSpPr txBox="1"/>
          <p:nvPr/>
        </p:nvSpPr>
        <p:spPr>
          <a:xfrm>
            <a:off x="640080" y="1892808"/>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Birbirine dik iki aynanın köşesine bak: köşedeki görüntü iki yansımayla oluşur.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yansıma bir kez ters çevirdiği için ikinci yansıma birincisinin yaptığını geri 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görüntüde sağ elini kaldırdığında görüntü de kendi sağ elini kaldırır; kendini başkalarının seni gördüğü gibi görürsün.</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gerçekten sağı solu mu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duzlem-aynalar-ek1-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Durgun göl</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yatay duran bir düzlem ayna gibi davranır: ağaçların ve dağın tepesi suyun içinde aşağıyı gösterir, ama sağ ile sol yer değiştirmez. Solda batan ya da doğan güneş, yansımada da solda kalır. Ayna yalnızca kendisine dik doğrultuyu ters çevirir; yatay aynada o doğrultu yukarı–aşağıdır.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gerçekten sağı solu mu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Düzlem ayna yalnızca aynaya dik doğrultuyu, yani önü ile arkayı ters çevirir; sağ–sol izlenimi bunun sonucudur. İki yansıma bu terslemeyi geri alır.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Birbirine dik iki aynanın köşesine bakıp sağ gözünü kırparsan görüntü hangi gözünü kırpar?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Ayna gerçekten sağı solu mu değiştirir?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Birbirine dik iki aynanın köşesine bakıp sağ gözünü kırparsan görüntü hangi gözünü kırpar?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Kendi sağ gözünü.</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İki yansıma terslemeyi geri aldığı için görüntü, karşında duran biri gibidir; onun sağ gözü senin görüş alanında sol tarafta kalır. Tek bir düz aynada ise görüntü kendi sol gözünü kırpar ve bu göz senin kırptığın gözün tam karşısındadır.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İnce durumlar: paralel aynalar ve tam bölünmeyen açılar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Açı küçüldükçe görüntü sayısı artar; aynalar paralel olduğunda (α = 0) 360/α sonsuza gider ve görüntü sayısı da sonsuz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Berber dükkânlarındaki karşılıklı aynalarda gördüğün, giderek uzaklaşan koridor budur.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Gerçekte sonsuz görüntünün hepsini göremezsin: her yansımada ışığın bir bölümü aynada soğurulur.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İnce durumlar: paralel aynalar ve tam bölünmeyen açılar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Işığın %90'ını yansıtan bir aynada 10 yansımadan sonra ışığın yalnızca yaklaşık üçte biri (0,9¹⁰ ≈ 0,35) kalır; uzaktaki görüntüler bu yüzden giderek kararır.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İnce durumlar: paralel aynalar ve tam bölünmeyen açılar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 = 360/α − 1 bağıntısı, 360/α tam sayı olduğunda kullanılır; ama tek ve çift sayılar arasında da ince bir fark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Görüntüler iki zincir hâlinde oluşur: biri önce birinci aynadan, öteki önce ikinci aynadan başlar.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360/α çiftse zincirlerin sonunda iki görüntü, cisim nerede olursa olsun, aynı noktaya düşer ve tek görüntü gibi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Tekse iki görüntü yalnızca cisim açıortaydayken üst üste biner: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İnce durumlar: paralel aynalar ve tam bölünmeyen açılar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463979"/>
                <a:gridCol w="2771184"/>
                <a:gridCol w="4676372"/>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360 / 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Cismin yeri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Görüntü sayısı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Çift sayı (4, 6, 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her yerde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360/α − 1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Tek sayı (3, 5, 9…)</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açıortayda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360/α − 1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Tek sayı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açıortay dışında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360/α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Tam sayı değil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yerine bağlı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tam kısmı ya da bir fazlası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İnce durumlar: paralel aynalar ve tam bölünmeyen açılar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360/α tam bölünmezse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görüntü sayısı, cismin aynalara göre yerine bağlı olarak bölümün tam kısmı ya da bir fazlası kadardır. 360/α tek sayı çıkarsa, cisim açıortay üzerindeyken bir görüntü eksilir. Bu ayrıntılar ileri düzey sorularda karşımıza çıkar.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İnce durumlar: paralel aynalar ve tam bölünmeyen açılar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622681" y="1271016"/>
            <a:ext cx="4946333" cy="3334131"/>
          </a:xfrm>
          <a:prstGeom prst="roundRect">
            <a:avLst>
              <a:gd name="adj" fmla="val 384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duzlem-aynalar-ek2-genis.jpg">    </p:cNvPr>
          <p:cNvPicPr>
            <a:picLocks noChangeAspect="1"/>
          </p:cNvPicPr>
          <p:nvPr/>
        </p:nvPicPr>
        <p:blipFill>
          <a:blip r:embed="rId1"/>
          <a:stretch>
            <a:fillRect/>
          </a:stretch>
        </p:blipFill>
        <p:spPr>
          <a:xfrm>
            <a:off x="3677545" y="1325880"/>
            <a:ext cx="4836605" cy="3224403"/>
          </a:xfrm>
          <a:prstGeom prst="rect">
            <a:avLst/>
          </a:prstGeom>
        </p:spPr>
      </p:pic>
      <p:sp>
        <p:nvSpPr>
          <p:cNvPr id="8" name="Text 5"/>
          <p:cNvSpPr txBox="1"/>
          <p:nvPr/>
        </p:nvSpPr>
        <p:spPr>
          <a:xfrm>
            <a:off x="1249528" y="4788027"/>
            <a:ext cx="9692640" cy="1356741"/>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Böyle bitmeyen bir koridor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karşılıklı duran iki paralel aynada oluşur: her görüntü öbür ayna için yeni bir cisim olur ve görüntüler sırayla birbirinin arkasına dizilir. Aynalar paralelken α = 0 olduğu için 360/α sonsuza gider ve görüntü sayısı kuramsal olarak sonsuzdur. Ama her yansımada ışığın bir kısmı soğurulduğundan uzaktaki kopyalar giderek kararır; ışığın %90'ını yansıtan bir aynada 10 yansımadan sonra ışığın ancak üçte biri kalır.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İnce durumlar: paralel aynalar ve tam bölünmeyen açılar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Paralel aynalarda görüntü sayısı kuramsal olarak sonsuzdur, ama her yansımada ışık zayıfladığı için uzaktakiler kararır. 360/α tek sayıysa açıortaydaki cisim için bir görüntü eksilir; tam bölünmüyorsa sayı cismin yerine bağlıdır.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Aralarında 72° bulunan iki ayna arasında, açıortaydaki bir cismin kaç görüntüsü oluşur?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İnce durumlar: paralel aynalar ve tam bölünmeyen açılar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Aralarında 72° bulunan iki ayna arasında, açıortaydaki bir cismin kaç görüntüsü oluşur?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4.</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360/72 = 5 tek sayıdır ve cisim açıortaydadır; iki görüntü üst üste biner ve 360/α − 1 = 4 görüntü görünür. Cisim açıortaydan kaydırılırsa üst üste binen görüntüler ayrılır ve 5 görüntü olur. Sayfadaki 03 numaralı laboratuvar cismi açıortaya koyduğu için 72°'de 4 gösterir.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Düzlem ayna yalnızca banyoda değil, bir şeyi görünmeden görmek, ışığı geri yollamak ya da küçük bir dönmeyi ölçmek gereken her yerde kullanılır.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Hepsinin arkasında iki basit kural var: i = r ve art arda yansımalarda ışının dönmesi.</a:t>
            </a:r>
            <a:endParaRPr lang="en-US" sz="2200" dirty="0"/>
          </a:p>
        </p:txBody>
      </p:sp>
      <p:sp>
        <p:nvSpPr>
          <p:cNvPr id="7" name="Shape 5"/>
          <p:cNvSpPr/>
          <p:nvPr/>
        </p:nvSpPr>
        <p:spPr>
          <a:xfrm>
            <a:off x="640080" y="3252216"/>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416808"/>
            <a:ext cx="54864" cy="1019556"/>
          </a:xfrm>
          <a:prstGeom prst="rect">
            <a:avLst/>
          </a:prstGeom>
          <a:solidFill>
            <a:srgbClr val="3C8C21"/>
          </a:solidFill>
          <a:ln/>
        </p:spPr>
      </p:sp>
      <p:sp>
        <p:nvSpPr>
          <p:cNvPr id="9" name="Text 7"/>
          <p:cNvSpPr txBox="1"/>
          <p:nvPr/>
        </p:nvSpPr>
        <p:spPr>
          <a:xfrm>
            <a:off x="950976" y="3380232"/>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İki yansımanın kuralı: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Aralarında α açısı olan iki aynadan art arda yansıyan ışın, ilk yönüne göre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2α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döner. Paralel aynalarda (α = 0) ışın ilk yönünde çıkar; dik aynalarda (α = 90°) 180° döner, yani geldiği yöne geri gider.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Periskop: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45° eğik iki paralel ayna ışını önce aşağı, sonra ileri çevirir. Denizaltılarda aynaların yerini çoğu kez prizma ve mercekler 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Ay'daki köşe yansıtıcılar: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Apollo astronotlarının bıraktığı yansıtıcılara gönderilen lazer ışığı, 384 400 km'yi gidip dönerek yaklaşık 2,6 s sonra geri gelir.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Bisiklet reflektörü: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İçindeki küçük köşe yansıtıcılar arabanın farından gelen ışığı arabanın sürücüsüne geri yollar; reflektör bu yüzden gece parlar.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Kaleydoskop: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Aralarında 60° olan aynalar her deseni 6 kez (cisim ve 5 görüntüsü) tekrarlar.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Lazer tarayıcı: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Dönen ayna 15° dönünce ışını 30° süpürür; barkod okuyucular bu 2α kuralını kullanır.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Ambulans yazısı: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Ters yazılır ki öndeki sürücü onu dikiz aynasında düz okusun.</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Periskop, köşe yansıtıcı, kaleydoskop ve lazer tarayıcı aynı birkaç kuralı kullanır: i = r, iki aynada ışının 2α dönmesi ve iki ayna arasında çoğalan görüntüler.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Periskobun iki aynası paralel değil de birbirine dik olsaydı ışın nereye giderdi?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12 · Düzlem aynalar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Periskobun iki aynası paralel değil de birbirine dik olsaydı ışın nereye giderdi?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Dik aynalarda α = 90° olduğundan ışın 2α = 180° döner: ilk doğrultusuna paralel ama ters yönde çıkar. Gözcü, manzaraya sırtını dönmüş olarak aynaya bakmak zorunda kalırdı. Bu düzenek artık bir periskop değil, ışığı geldiği yöne geri yollayan bir köşe yansıtıcıdır.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8 ÇÖZÜMLÜ ÖRNEK</a:t>
            </a:r>
            <a:endParaRPr lang="en-US" sz="1050" dirty="0"/>
          </a:p>
        </p:txBody>
      </p:sp>
      <p:sp>
        <p:nvSpPr>
          <p:cNvPr id="9" name="Shape 7"/>
          <p:cNvSpPr/>
          <p:nvPr/>
        </p:nvSpPr>
        <p:spPr>
          <a:xfrm>
            <a:off x="6172200" y="1481328"/>
            <a:ext cx="5379415" cy="468630"/>
          </a:xfrm>
          <a:prstGeom prst="roundRect">
            <a:avLst>
              <a:gd name="adj" fmla="val 19512"/>
            </a:avLst>
          </a:prstGeom>
          <a:solidFill>
            <a:srgbClr val="1C2542"/>
          </a:solidFill>
          <a:ln w="9525">
            <a:solidFill>
              <a:srgbClr val="2C3860"/>
            </a:solidFill>
            <a:prstDash val="solid"/>
          </a:ln>
        </p:spPr>
      </p:sp>
      <p:sp>
        <p:nvSpPr>
          <p:cNvPr id="10" name="Text 8"/>
          <p:cNvSpPr txBox="1"/>
          <p:nvPr/>
        </p:nvSpPr>
        <p:spPr>
          <a:xfrm>
            <a:off x="6400800" y="148132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Yüzeyle yapılan açı</a:t>
            </a:r>
            <a:endParaRPr lang="en-US" sz="1300" dirty="0"/>
          </a:p>
        </p:txBody>
      </p:sp>
      <p:sp>
        <p:nvSpPr>
          <p:cNvPr id="11" name="Text 9"/>
          <p:cNvSpPr txBox="1"/>
          <p:nvPr/>
        </p:nvSpPr>
        <p:spPr>
          <a:xfrm>
            <a:off x="10362895" y="148132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41398"/>
            <a:ext cx="5379415" cy="468630"/>
          </a:xfrm>
          <a:prstGeom prst="roundRect">
            <a:avLst>
              <a:gd name="adj" fmla="val 19512"/>
            </a:avLst>
          </a:prstGeom>
          <a:solidFill>
            <a:srgbClr val="1C2542"/>
          </a:solidFill>
          <a:ln w="9525">
            <a:solidFill>
              <a:srgbClr val="2C3860"/>
            </a:solidFill>
            <a:prstDash val="solid"/>
          </a:ln>
        </p:spPr>
      </p:sp>
      <p:sp>
        <p:nvSpPr>
          <p:cNvPr id="13" name="Text 11"/>
          <p:cNvSpPr txBox="1"/>
          <p:nvPr/>
        </p:nvSpPr>
        <p:spPr>
          <a:xfrm>
            <a:off x="6400800" y="204139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Aynanın dönmesi</a:t>
            </a:r>
            <a:endParaRPr lang="en-US" sz="1300" dirty="0"/>
          </a:p>
        </p:txBody>
      </p:sp>
      <p:sp>
        <p:nvSpPr>
          <p:cNvPr id="14" name="Text 12"/>
          <p:cNvSpPr txBox="1"/>
          <p:nvPr/>
        </p:nvSpPr>
        <p:spPr>
          <a:xfrm>
            <a:off x="10362895" y="204139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01468"/>
            <a:ext cx="5379415" cy="468630"/>
          </a:xfrm>
          <a:prstGeom prst="roundRect">
            <a:avLst>
              <a:gd name="adj" fmla="val 19512"/>
            </a:avLst>
          </a:prstGeom>
          <a:solidFill>
            <a:srgbClr val="1C2542"/>
          </a:solidFill>
          <a:ln w="9525">
            <a:solidFill>
              <a:srgbClr val="2C3860"/>
            </a:solidFill>
            <a:prstDash val="solid"/>
          </a:ln>
        </p:spPr>
      </p:sp>
      <p:sp>
        <p:nvSpPr>
          <p:cNvPr id="16" name="Text 14"/>
          <p:cNvSpPr txBox="1"/>
          <p:nvPr/>
        </p:nvSpPr>
        <p:spPr>
          <a:xfrm>
            <a:off x="6400800" y="260146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Görüntüne ne kadar uzaksın?</a:t>
            </a:r>
            <a:endParaRPr lang="en-US" sz="1300" dirty="0"/>
          </a:p>
        </p:txBody>
      </p:sp>
      <p:sp>
        <p:nvSpPr>
          <p:cNvPr id="17" name="Text 15"/>
          <p:cNvSpPr txBox="1"/>
          <p:nvPr/>
        </p:nvSpPr>
        <p:spPr>
          <a:xfrm>
            <a:off x="10362895" y="260146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8" name="Shape 16"/>
          <p:cNvSpPr/>
          <p:nvPr/>
        </p:nvSpPr>
        <p:spPr>
          <a:xfrm>
            <a:off x="6172200" y="3161538"/>
            <a:ext cx="5379415" cy="468630"/>
          </a:xfrm>
          <a:prstGeom prst="roundRect">
            <a:avLst>
              <a:gd name="adj" fmla="val 19512"/>
            </a:avLst>
          </a:prstGeom>
          <a:solidFill>
            <a:srgbClr val="1C2542"/>
          </a:solidFill>
          <a:ln w="9525">
            <a:solidFill>
              <a:srgbClr val="2C3860"/>
            </a:solidFill>
            <a:prstDash val="solid"/>
          </a:ln>
        </p:spPr>
      </p:sp>
      <p:sp>
        <p:nvSpPr>
          <p:cNvPr id="19" name="Text 17"/>
          <p:cNvSpPr txBox="1"/>
          <p:nvPr/>
        </p:nvSpPr>
        <p:spPr>
          <a:xfrm>
            <a:off x="6400800" y="316153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İki ayna</a:t>
            </a:r>
            <a:endParaRPr lang="en-US" sz="1300" dirty="0"/>
          </a:p>
        </p:txBody>
      </p:sp>
      <p:sp>
        <p:nvSpPr>
          <p:cNvPr id="20" name="Text 18"/>
          <p:cNvSpPr txBox="1"/>
          <p:nvPr/>
        </p:nvSpPr>
        <p:spPr>
          <a:xfrm>
            <a:off x="10362895" y="316153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721608"/>
            <a:ext cx="5379415" cy="468630"/>
          </a:xfrm>
          <a:prstGeom prst="roundRect">
            <a:avLst>
              <a:gd name="adj" fmla="val 19512"/>
            </a:avLst>
          </a:prstGeom>
          <a:solidFill>
            <a:srgbClr val="1C2542"/>
          </a:solidFill>
          <a:ln w="9525">
            <a:solidFill>
              <a:srgbClr val="2C3860"/>
            </a:solidFill>
            <a:prstDash val="solid"/>
          </a:ln>
        </p:spPr>
      </p:sp>
      <p:sp>
        <p:nvSpPr>
          <p:cNvPr id="22" name="Text 20"/>
          <p:cNvSpPr txBox="1"/>
          <p:nvPr/>
        </p:nvSpPr>
        <p:spPr>
          <a:xfrm>
            <a:off x="6400800" y="372160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Boy aynası</a:t>
            </a:r>
            <a:endParaRPr lang="en-US" sz="1300" dirty="0"/>
          </a:p>
        </p:txBody>
      </p:sp>
      <p:sp>
        <p:nvSpPr>
          <p:cNvPr id="23" name="Text 21"/>
          <p:cNvSpPr txBox="1"/>
          <p:nvPr/>
        </p:nvSpPr>
        <p:spPr>
          <a:xfrm>
            <a:off x="10362895" y="372160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281678"/>
            <a:ext cx="5379415" cy="468630"/>
          </a:xfrm>
          <a:prstGeom prst="roundRect">
            <a:avLst>
              <a:gd name="adj" fmla="val 19512"/>
            </a:avLst>
          </a:prstGeom>
          <a:solidFill>
            <a:srgbClr val="1C2542"/>
          </a:solidFill>
          <a:ln w="9525">
            <a:solidFill>
              <a:srgbClr val="2C3860"/>
            </a:solidFill>
            <a:prstDash val="solid"/>
          </a:ln>
        </p:spPr>
      </p:sp>
      <p:sp>
        <p:nvSpPr>
          <p:cNvPr id="25" name="Text 23"/>
          <p:cNvSpPr txBox="1"/>
          <p:nvPr/>
        </p:nvSpPr>
        <p:spPr>
          <a:xfrm>
            <a:off x="6400800" y="428167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Hem ayna hem cisim hareket ediyor</a:t>
            </a:r>
            <a:endParaRPr lang="en-US" sz="1300" dirty="0"/>
          </a:p>
        </p:txBody>
      </p:sp>
      <p:sp>
        <p:nvSpPr>
          <p:cNvPr id="26" name="Text 24"/>
          <p:cNvSpPr txBox="1"/>
          <p:nvPr/>
        </p:nvSpPr>
        <p:spPr>
          <a:xfrm>
            <a:off x="10362895" y="428167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7" name="Shape 25"/>
          <p:cNvSpPr/>
          <p:nvPr/>
        </p:nvSpPr>
        <p:spPr>
          <a:xfrm>
            <a:off x="6172200" y="4841748"/>
            <a:ext cx="5379415" cy="468630"/>
          </a:xfrm>
          <a:prstGeom prst="roundRect">
            <a:avLst>
              <a:gd name="adj" fmla="val 19512"/>
            </a:avLst>
          </a:prstGeom>
          <a:solidFill>
            <a:srgbClr val="1C2542"/>
          </a:solidFill>
          <a:ln w="9525">
            <a:solidFill>
              <a:srgbClr val="2C3860"/>
            </a:solidFill>
            <a:prstDash val="solid"/>
          </a:ln>
        </p:spPr>
      </p:sp>
      <p:sp>
        <p:nvSpPr>
          <p:cNvPr id="28" name="Text 26"/>
          <p:cNvSpPr txBox="1"/>
          <p:nvPr/>
        </p:nvSpPr>
        <p:spPr>
          <a:xfrm>
            <a:off x="6400800" y="484174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Yanlış yere asılmış ayna</a:t>
            </a:r>
            <a:endParaRPr lang="en-US" sz="1300" dirty="0"/>
          </a:p>
        </p:txBody>
      </p:sp>
      <p:sp>
        <p:nvSpPr>
          <p:cNvPr id="29" name="Text 27"/>
          <p:cNvSpPr txBox="1"/>
          <p:nvPr/>
        </p:nvSpPr>
        <p:spPr>
          <a:xfrm>
            <a:off x="10362895" y="484174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172200" y="5401818"/>
            <a:ext cx="5379415" cy="468630"/>
          </a:xfrm>
          <a:prstGeom prst="roundRect">
            <a:avLst>
              <a:gd name="adj" fmla="val 19512"/>
            </a:avLst>
          </a:prstGeom>
          <a:solidFill>
            <a:srgbClr val="1C2542"/>
          </a:solidFill>
          <a:ln w="9525">
            <a:solidFill>
              <a:srgbClr val="2C3860"/>
            </a:solidFill>
            <a:prstDash val="solid"/>
          </a:ln>
        </p:spPr>
      </p:sp>
      <p:sp>
        <p:nvSpPr>
          <p:cNvPr id="31" name="Text 29"/>
          <p:cNvSpPr txBox="1"/>
          <p:nvPr/>
        </p:nvSpPr>
        <p:spPr>
          <a:xfrm>
            <a:off x="6400800" y="540181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8   Birbirine dik iki ayna</a:t>
            </a:r>
            <a:endParaRPr lang="en-US" sz="1300" dirty="0"/>
          </a:p>
        </p:txBody>
      </p:sp>
      <p:sp>
        <p:nvSpPr>
          <p:cNvPr id="32" name="Text 30"/>
          <p:cNvSpPr txBox="1"/>
          <p:nvPr/>
        </p:nvSpPr>
        <p:spPr>
          <a:xfrm>
            <a:off x="10362895" y="540181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3" name="Shape 31"/>
          <p:cNvSpPr/>
          <p:nvPr/>
        </p:nvSpPr>
        <p:spPr>
          <a:xfrm>
            <a:off x="640080" y="6382512"/>
            <a:ext cx="128016" cy="128016"/>
          </a:xfrm>
          <a:prstGeom prst="roundRect">
            <a:avLst>
              <a:gd name="adj" fmla="val 28571"/>
            </a:avLst>
          </a:prstGeom>
          <a:solidFill>
            <a:srgbClr val="C6F36B"/>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Yüzeyle yapılan açı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ışın düzlem aynanın yüzeyiyle 25° açı yapacak şekilde geliyor. Gelme açısı, yansıma açısı ve iki ışın arasındaki açı kaç derecedir?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ışının ayna yüzeyiyle yaptığı açı 25°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açılar normalden ölçülür (normal ile yüzey arası 90°)</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gelme açısı 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yansıma açısı 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gelen ile yansıyan ışın arasındaki açı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Yüzeyle yapılan açı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Gelme açısı normalle ölçülür: i = 90° − 25°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65°</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Yansıma açısı: r = i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65°</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Gelen ve yansıyan ışın arasındaki açı: i + r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130°</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Aynanın dönmesi</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Sabit bir ışın demeti düzlem aynaya düşerken ayna 12° döndürülüyor. Yansıyan ışın kaç derece döner?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gelen ışın sabit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aynanın dönme açısı α = 12°</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yansıyan ışının kaç derece döndüğü</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Aynanın dönmesi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Ayna α = 12° dönerse normal de 12° döner.</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Gelme açısı 12° değişir; yansıma açısı da 12° değişir.</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Yansıyan ışının dönmesi: 2α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24°</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Görüntüne ne kadar uzaksın?</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öğrenci düzlem aynanın 1,5 m önünde duruyor. (a) Görüntüsü kendisinden kaç m uzaktadır? (b) Aynaya 0,5 m yaklaşırsa görüntüsüne uzaklığı ne olur?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öğrencinin aynaya uzaklığı 1,5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(b)'de aynaya 0,5 m yaklaşıyor</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görüntüsüne uzaklığı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yaklaştıktan sonra görüntüsüne uzaklığı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Görüntüne ne kadar uzaksın?</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Görüntü aynanın 1,5 m arkasındadır: 1,5 + 1,5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 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Aynaya uzaklık 1,5 − 0,5 = 1 m olur; görüntüye uzaklık 2 · 1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m</a:t>
            </a:r>
            <a:endParaRPr lang="en-US" sz="2000" dirty="0"/>
          </a:p>
        </p:txBody>
      </p:sp>
      <p:sp>
        <p:nvSpPr>
          <p:cNvPr id="16" name="Shape 14"/>
          <p:cNvSpPr/>
          <p:nvPr/>
        </p:nvSpPr>
        <p:spPr>
          <a:xfrm>
            <a:off x="640080" y="4120896"/>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720133"/>
            <a:ext cx="420624" cy="420624"/>
          </a:xfrm>
          <a:prstGeom prst="roundRect">
            <a:avLst>
              <a:gd name="adj" fmla="val 26000"/>
            </a:avLst>
          </a:prstGeom>
          <a:solidFill>
            <a:srgbClr val="A56209"/>
          </a:solidFill>
          <a:ln/>
        </p:spPr>
      </p:sp>
      <p:sp>
        <p:nvSpPr>
          <p:cNvPr id="18" name="Text 16"/>
          <p:cNvSpPr txBox="1"/>
          <p:nvPr/>
        </p:nvSpPr>
        <p:spPr>
          <a:xfrm>
            <a:off x="914400" y="4720133"/>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öğrenci 0,5 m yürüdü, görüntüsüne uzaklığı ise 1 m kısaldı. İki kat fark, birbirlerine göre hızın 2v olmasının sebebidir.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ayna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Aralarında 40° açı bulunan iki düzlem ayna arasına, açıortay üzerine bir cisim konuyor. Kaç görüntü oluşur?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aynalar arası açı α = 40°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cisim açıortay üzerinde</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 sayısı n</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ayna</a:t>
            </a:r>
            <a:endParaRPr lang="en-US" sz="1450" dirty="0"/>
          </a:p>
        </p:txBody>
      </p:sp>
      <p:sp>
        <p:nvSpPr>
          <p:cNvPr id="8" name="Shape 6"/>
          <p:cNvSpPr/>
          <p:nvPr/>
        </p:nvSpPr>
        <p:spPr>
          <a:xfrm>
            <a:off x="640080" y="1645920"/>
            <a:ext cx="10911535" cy="1011936"/>
          </a:xfrm>
          <a:prstGeom prst="roundRect">
            <a:avLst>
              <a:gd name="adj" fmla="val 144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41576"/>
            <a:ext cx="420624" cy="420624"/>
          </a:xfrm>
          <a:prstGeom prst="roundRect">
            <a:avLst>
              <a:gd name="adj" fmla="val 26000"/>
            </a:avLst>
          </a:prstGeom>
          <a:solidFill>
            <a:srgbClr val="A56209"/>
          </a:solidFill>
          <a:ln/>
        </p:spPr>
      </p:sp>
      <p:sp>
        <p:nvSpPr>
          <p:cNvPr id="10" name="Text 8"/>
          <p:cNvSpPr txBox="1"/>
          <p:nvPr/>
        </p:nvSpPr>
        <p:spPr>
          <a:xfrm>
            <a:off x="914400" y="194157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0220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360 / α = 360 / 40 = 9</a:t>
            </a:r>
            <a:endParaRPr lang="en-US" sz="2000" dirty="0"/>
          </a:p>
        </p:txBody>
      </p:sp>
      <p:sp>
        <p:nvSpPr>
          <p:cNvPr id="12" name="Shape 10"/>
          <p:cNvSpPr/>
          <p:nvPr/>
        </p:nvSpPr>
        <p:spPr>
          <a:xfrm>
            <a:off x="640080" y="2822448"/>
            <a:ext cx="10911535" cy="1011936"/>
          </a:xfrm>
          <a:prstGeom prst="roundRect">
            <a:avLst>
              <a:gd name="adj" fmla="val 144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118104"/>
            <a:ext cx="420624" cy="420624"/>
          </a:xfrm>
          <a:prstGeom prst="roundRect">
            <a:avLst>
              <a:gd name="adj" fmla="val 26000"/>
            </a:avLst>
          </a:prstGeom>
          <a:solidFill>
            <a:srgbClr val="A56209"/>
          </a:solidFill>
          <a:ln/>
        </p:spPr>
      </p:sp>
      <p:sp>
        <p:nvSpPr>
          <p:cNvPr id="14" name="Text 12"/>
          <p:cNvSpPr txBox="1"/>
          <p:nvPr/>
        </p:nvSpPr>
        <p:spPr>
          <a:xfrm>
            <a:off x="914400" y="311810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877312"/>
            <a:ext cx="9859975" cy="90220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9 − 1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 görüntü</a:t>
            </a:r>
            <a:endParaRPr lang="en-US" sz="2000" dirty="0"/>
          </a:p>
        </p:txBody>
      </p:sp>
      <p:sp>
        <p:nvSpPr>
          <p:cNvPr id="16" name="Shape 14"/>
          <p:cNvSpPr/>
          <p:nvPr/>
        </p:nvSpPr>
        <p:spPr>
          <a:xfrm>
            <a:off x="640080" y="3998976"/>
            <a:ext cx="10911535" cy="1011936"/>
          </a:xfrm>
          <a:prstGeom prst="roundRect">
            <a:avLst>
              <a:gd name="adj" fmla="val 144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294632"/>
            <a:ext cx="420624" cy="420624"/>
          </a:xfrm>
          <a:prstGeom prst="roundRect">
            <a:avLst>
              <a:gd name="adj" fmla="val 26000"/>
            </a:avLst>
          </a:prstGeom>
          <a:solidFill>
            <a:srgbClr val="A56209"/>
          </a:solidFill>
          <a:ln/>
        </p:spPr>
      </p:sp>
      <p:sp>
        <p:nvSpPr>
          <p:cNvPr id="18" name="Text 16"/>
          <p:cNvSpPr txBox="1"/>
          <p:nvPr/>
        </p:nvSpPr>
        <p:spPr>
          <a:xfrm>
            <a:off x="914400" y="42946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053840"/>
            <a:ext cx="9859975" cy="90220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Açı 90° olsaydı 360/90 − 1 = 3 görüntü oluşurdu.</a:t>
            </a:r>
            <a:endParaRPr lang="en-US" sz="2000" dirty="0"/>
          </a:p>
        </p:txBody>
      </p:sp>
      <p:sp>
        <p:nvSpPr>
          <p:cNvPr id="20" name="Shape 18"/>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Text 19"/>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22" name="Text 20"/>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Not: 9 tek sayıdır. Cisim açıortaydan kaydırılırsa açıortayda üst üste binen iki görüntü birbirinden ayrılır ve 9 görüntü oluşur.</a:t>
            </a:r>
            <a:endParaRPr lang="en-US" sz="15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Boy aynası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Boyu 180 cm, göz yüksekliği 170 cm olan bir kişi kendini tepeden tırnağa görmek istiyor. Aynanın boyu ve alt kenarının yerden yüksekliği ne olmalıdır?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boy h = 180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göz yüksekliği y = 170 cm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gereken ayna boyu L</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aynanın alt kenarının yerden yüksekliği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Boy aynası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Ayna boyu = h/2 = 180/2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90 cm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Alt kenar, göz ile ayak arasının ortası: 170/2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85 cm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Boy aynası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Üst kenar: alt kenar + 90 = 175 cm (baş ile göz arasının ortası).</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Kişinin aynaya uzaklığı sonucu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değiştirmez</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Hem ayna hem cisim hareket ediyor</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oyuncak araba bir düzlem aynaya doğru 2 m/s hızla gidiyor; ayna da tekerlekli bir sehpa üzerinde arabaya doğru 1 m/s hızla itiliyor (hızlar yere göre). (a) Görüntünün yere göre hızı nedir? (b) Araba ile görüntüsü birbirine hangi hızla yaklaşır?</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varaba = 2 m/s (aynaya doğru)</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vayna = 1 m/s (arabaya doğru)</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iki hız da yere göre</a:t>
            </a:r>
            <a:endParaRPr lang="en-US" sz="180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görüntünün yere göre hızı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araba ile görüntüsünün birbirine yaklaşma hızı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Hem ayna hem cisim hareket ediyor</a:t>
            </a:r>
            <a:endParaRPr lang="en-US" sz="1450" dirty="0"/>
          </a:p>
        </p:txBody>
      </p:sp>
      <p:sp>
        <p:nvSpPr>
          <p:cNvPr id="8" name="Shape 6"/>
          <p:cNvSpPr/>
          <p:nvPr/>
        </p:nvSpPr>
        <p:spPr>
          <a:xfrm>
            <a:off x="640080" y="1645920"/>
            <a:ext cx="10911535" cy="1037699"/>
          </a:xfrm>
          <a:prstGeom prst="roundRect">
            <a:avLst>
              <a:gd name="adj" fmla="val 140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54458"/>
            <a:ext cx="420624" cy="420624"/>
          </a:xfrm>
          <a:prstGeom prst="roundRect">
            <a:avLst>
              <a:gd name="adj" fmla="val 26000"/>
            </a:avLst>
          </a:prstGeom>
          <a:solidFill>
            <a:srgbClr val="A56209"/>
          </a:solidFill>
          <a:ln/>
        </p:spPr>
      </p:sp>
      <p:sp>
        <p:nvSpPr>
          <p:cNvPr id="10" name="Text 8"/>
          <p:cNvSpPr txBox="1"/>
          <p:nvPr/>
        </p:nvSpPr>
        <p:spPr>
          <a:xfrm>
            <a:off x="914400" y="195445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27971"/>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Arabadan aynaya doğru yönü pozitif al: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araba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 m/s,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ayna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 m/s.</a:t>
            </a:r>
            <a:endParaRPr lang="en-US" sz="2000" dirty="0"/>
          </a:p>
        </p:txBody>
      </p:sp>
      <p:sp>
        <p:nvSpPr>
          <p:cNvPr id="12" name="Shape 10"/>
          <p:cNvSpPr/>
          <p:nvPr/>
        </p:nvSpPr>
        <p:spPr>
          <a:xfrm>
            <a:off x="640080" y="2848211"/>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20890"/>
            <a:ext cx="420624" cy="420624"/>
          </a:xfrm>
          <a:prstGeom prst="roundRect">
            <a:avLst>
              <a:gd name="adj" fmla="val 26000"/>
            </a:avLst>
          </a:prstGeom>
          <a:solidFill>
            <a:srgbClr val="A56209"/>
          </a:solidFill>
          <a:ln/>
        </p:spPr>
      </p:sp>
      <p:sp>
        <p:nvSpPr>
          <p:cNvPr id="14" name="Text 12"/>
          <p:cNvSpPr txBox="1"/>
          <p:nvPr/>
        </p:nvSpPr>
        <p:spPr>
          <a:xfrm>
            <a:off x="914400" y="342089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03075"/>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Görüntü her an aynanın, araba kadar arkasındadır: x</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g</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2·x</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ayna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x</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araba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Hızlar için de aynısı geçerlidir: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g</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ayna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araba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4578786"/>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5151465"/>
            <a:ext cx="420624" cy="420624"/>
          </a:xfrm>
          <a:prstGeom prst="roundRect">
            <a:avLst>
              <a:gd name="adj" fmla="val 26000"/>
            </a:avLst>
          </a:prstGeom>
          <a:solidFill>
            <a:srgbClr val="A56209"/>
          </a:solidFill>
          <a:ln/>
        </p:spPr>
      </p:sp>
      <p:sp>
        <p:nvSpPr>
          <p:cNvPr id="18" name="Text 16"/>
          <p:cNvSpPr txBox="1"/>
          <p:nvPr/>
        </p:nvSpPr>
        <p:spPr>
          <a:xfrm>
            <a:off x="914400" y="515146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633650"/>
            <a:ext cx="9859975" cy="1456254"/>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g</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2·(−1) − 2 = −4 m/s: görüntü yere göre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m/s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hızla arabaya doğru gelir.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Hem ayna hem cisim hareket ediyor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Birbirlerine göre: 2 − (−4)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 m/s</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araba–ayna uzaklığı saniyede 2 + 1 = 3 m kısalır; araba–görüntü uzaklığı bunun iki katıdır: 6 m/s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Yanlış yere asılmış ayna</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Boyu 170 cm, göz yüksekliği 160 cm olan bir kişi, alt kenarı yerden 100 cm, üst kenarı 190 cm yüksekte olan bir aynanın karşısında duruyor. (a) Başının tepesini görebilir mi? (b) Bedeninin yerden kaç cm'ye kadarki bölümünü göremez? (c) Kendini tepeden tırnağa görmesi için ne yapılmalı?</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boy h = 170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göz yüksekliği y = 160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aynanın alt kenarı yerden 100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üst kenarı yerden 190 cm</a:t>
            </a:r>
            <a:endParaRPr lang="en-US" sz="180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(a) başının tepesini görüp göremeyeceği</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(b) bedeninin yerden kaç cm'ye kadar görünmediği</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(c) tam boy görmesi için yapılması gereken değişiklik</a:t>
            </a:r>
            <a:endParaRPr lang="en-US" sz="16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Yanlış yere asılmış ayna</a:t>
            </a:r>
            <a:endParaRPr lang="en-US" sz="1450" dirty="0"/>
          </a:p>
        </p:txBody>
      </p:sp>
      <p:sp>
        <p:nvSpPr>
          <p:cNvPr id="8" name="Shape 6"/>
          <p:cNvSpPr/>
          <p:nvPr/>
        </p:nvSpPr>
        <p:spPr>
          <a:xfrm>
            <a:off x="640080" y="1645920"/>
            <a:ext cx="10911535" cy="1389888"/>
          </a:xfrm>
          <a:prstGeom prst="roundRect">
            <a:avLst>
              <a:gd name="adj" fmla="val 105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130552"/>
            <a:ext cx="420624" cy="420624"/>
          </a:xfrm>
          <a:prstGeom prst="roundRect">
            <a:avLst>
              <a:gd name="adj" fmla="val 26000"/>
            </a:avLst>
          </a:prstGeom>
          <a:solidFill>
            <a:srgbClr val="A56209"/>
          </a:solidFill>
          <a:ln/>
        </p:spPr>
      </p:sp>
      <p:sp>
        <p:nvSpPr>
          <p:cNvPr id="10" name="Text 8"/>
          <p:cNvSpPr txBox="1"/>
          <p:nvPr/>
        </p:nvSpPr>
        <p:spPr>
          <a:xfrm>
            <a:off x="914400" y="213055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28016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Yerden y yüksekliğindeki bir noktadan gelen ışın, (y + 160)/2 yüksekliğinde yansır.</a:t>
            </a:r>
            <a:endParaRPr lang="en-US" sz="2000" dirty="0"/>
          </a:p>
        </p:txBody>
      </p:sp>
      <p:sp>
        <p:nvSpPr>
          <p:cNvPr id="12" name="Shape 10"/>
          <p:cNvSpPr/>
          <p:nvPr/>
        </p:nvSpPr>
        <p:spPr>
          <a:xfrm>
            <a:off x="640080" y="3200400"/>
            <a:ext cx="10911535" cy="1389888"/>
          </a:xfrm>
          <a:prstGeom prst="roundRect">
            <a:avLst>
              <a:gd name="adj" fmla="val 105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685032"/>
            <a:ext cx="420624" cy="420624"/>
          </a:xfrm>
          <a:prstGeom prst="roundRect">
            <a:avLst>
              <a:gd name="adj" fmla="val 26000"/>
            </a:avLst>
          </a:prstGeom>
          <a:solidFill>
            <a:srgbClr val="A56209"/>
          </a:solidFill>
          <a:ln/>
        </p:spPr>
      </p:sp>
      <p:sp>
        <p:nvSpPr>
          <p:cNvPr id="14" name="Text 12"/>
          <p:cNvSpPr txBox="1"/>
          <p:nvPr/>
        </p:nvSpPr>
        <p:spPr>
          <a:xfrm>
            <a:off x="914400" y="3685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255264"/>
            <a:ext cx="9859975" cy="128016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Baş için (170 + 160)/2 = 165 cm; bu nokta üst kenarın (190 cm) altında: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görür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4754880"/>
            <a:ext cx="10911535" cy="1389888"/>
          </a:xfrm>
          <a:prstGeom prst="roundRect">
            <a:avLst>
              <a:gd name="adj" fmla="val 105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5239512"/>
            <a:ext cx="420624" cy="420624"/>
          </a:xfrm>
          <a:prstGeom prst="roundRect">
            <a:avLst>
              <a:gd name="adj" fmla="val 26000"/>
            </a:avLst>
          </a:prstGeom>
          <a:solidFill>
            <a:srgbClr val="A56209"/>
          </a:solidFill>
          <a:ln/>
        </p:spPr>
      </p:sp>
      <p:sp>
        <p:nvSpPr>
          <p:cNvPr id="18" name="Text 16"/>
          <p:cNvSpPr txBox="1"/>
          <p:nvPr/>
        </p:nvSpPr>
        <p:spPr>
          <a:xfrm>
            <a:off x="914400" y="523951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809744"/>
            <a:ext cx="9859975" cy="128016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Alt kenar 100 cm: (y + 160)/2 = 100 → y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Yerden 40 cm'ye kadarki bölüm görünmez.</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Yanlış yere asılmış ayna</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Aynanın boyu (90 cm) gereken h/2 = 85 cm'den uzundur; sorun boyda değil, yükseklikte.</a:t>
            </a:r>
            <a:endParaRPr lang="en-US" sz="2000" dirty="0"/>
          </a:p>
        </p:txBody>
      </p:sp>
      <p:sp>
        <p:nvSpPr>
          <p:cNvPr id="12" name="Shape 10"/>
          <p:cNvSpPr/>
          <p:nvPr/>
        </p:nvSpPr>
        <p:spPr>
          <a:xfrm>
            <a:off x="640080" y="3429610"/>
            <a:ext cx="10911535" cy="2165299"/>
          </a:xfrm>
          <a:prstGeom prst="roundRect">
            <a:avLst>
              <a:gd name="adj" fmla="val 675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301947"/>
            <a:ext cx="420624" cy="420624"/>
          </a:xfrm>
          <a:prstGeom prst="roundRect">
            <a:avLst>
              <a:gd name="adj" fmla="val 26000"/>
            </a:avLst>
          </a:prstGeom>
          <a:solidFill>
            <a:srgbClr val="A56209"/>
          </a:solidFill>
          <a:ln/>
        </p:spPr>
      </p:sp>
      <p:sp>
        <p:nvSpPr>
          <p:cNvPr id="14" name="Text 12"/>
          <p:cNvSpPr txBox="1"/>
          <p:nvPr/>
        </p:nvSpPr>
        <p:spPr>
          <a:xfrm>
            <a:off x="914400" y="430194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2055571"/>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Alt kenar 160/2 = 80 cm olmalı: ayna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cm aşağı</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indirilir (üst kenar 170 cm ≥ 165 cm ✓). Aynaya yaklaşmak ya da uzaklaşmak hiçbir şeyi değiştirmez.</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8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Birbirine dik iki ayna</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Birbirine dik iki düzlem aynadan birincisine bir ışın 35° gelme açısıyla geliyor, yansıyıp ikinci aynaya çarpıyor. (a) İkinci aynadaki gelme açısı kaç derecedir? (b) İkinci aynadan çıkan ışın ilk gelen ışına göre hangi doğrultuda ilerler?</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aynalar arası açı 90°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birinci aynada gelme açısı 35°</a:t>
            </a:r>
            <a:endParaRPr lang="en-US" sz="180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ikinci aynadaki gelme açısı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ikinci aynadan çıkan ışının ilk gelen ışına göre doğrultusu</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8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Birbirine dik iki ayna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Birinci aynadan yansıyan ışın, yüzeyle 90° − 35° = 55° açı yapar.</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İki ayna ve ışın bir üçgen oluşturur; köşedeki açı 90° olduğundan ışının ikinci ayna yüzeyiyle yaptığı açı 180° − 90° − 55° = 35°'dir.</a:t>
            </a:r>
            <a:endParaRPr lang="en-US" sz="2000" dirty="0"/>
          </a:p>
        </p:txBody>
      </p:sp>
      <p:sp>
        <p:nvSpPr>
          <p:cNvPr id="16" name="Shape 14"/>
          <p:cNvSpPr/>
          <p:nvPr/>
        </p:nvSpPr>
        <p:spPr>
          <a:xfrm>
            <a:off x="640080" y="466709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993234"/>
            <a:ext cx="420624" cy="420624"/>
          </a:xfrm>
          <a:prstGeom prst="roundRect">
            <a:avLst>
              <a:gd name="adj" fmla="val 26000"/>
            </a:avLst>
          </a:prstGeom>
          <a:solidFill>
            <a:srgbClr val="A56209"/>
          </a:solidFill>
          <a:ln/>
        </p:spPr>
      </p:sp>
      <p:sp>
        <p:nvSpPr>
          <p:cNvPr id="18" name="Text 16"/>
          <p:cNvSpPr txBox="1"/>
          <p:nvPr/>
        </p:nvSpPr>
        <p:spPr>
          <a:xfrm>
            <a:off x="914400" y="499323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72196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Gelme açısı normalle ölçülür: 90° − 35°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55°</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yansıma açısı da 55°.</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8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Birbirine dik iki ayna</a:t>
            </a:r>
            <a:endParaRPr lang="en-US" sz="1450" dirty="0"/>
          </a:p>
        </p:txBody>
      </p:sp>
      <p:sp>
        <p:nvSpPr>
          <p:cNvPr id="8" name="Shape 6"/>
          <p:cNvSpPr/>
          <p:nvPr/>
        </p:nvSpPr>
        <p:spPr>
          <a:xfrm>
            <a:off x="640080" y="1645920"/>
            <a:ext cx="10911535" cy="1600200"/>
          </a:xfrm>
          <a:prstGeom prst="roundRect">
            <a:avLst>
              <a:gd name="adj" fmla="val 91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35708"/>
            <a:ext cx="420624" cy="420624"/>
          </a:xfrm>
          <a:prstGeom prst="roundRect">
            <a:avLst>
              <a:gd name="adj" fmla="val 26000"/>
            </a:avLst>
          </a:prstGeom>
          <a:solidFill>
            <a:srgbClr val="A56209"/>
          </a:solidFill>
          <a:ln/>
        </p:spPr>
      </p:sp>
      <p:sp>
        <p:nvSpPr>
          <p:cNvPr id="10" name="Text 8"/>
          <p:cNvSpPr txBox="1"/>
          <p:nvPr/>
        </p:nvSpPr>
        <p:spPr>
          <a:xfrm>
            <a:off x="914400" y="223570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490472"/>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Her yansıma ışını 180° − 2i kadar çevirir: 180 − 70 = 110° ve 180 − 110 = 70°; toplam 180°.</a:t>
            </a:r>
            <a:endParaRPr lang="en-US" sz="2000" dirty="0"/>
          </a:p>
        </p:txBody>
      </p:sp>
      <p:sp>
        <p:nvSpPr>
          <p:cNvPr id="12" name="Shape 10"/>
          <p:cNvSpPr/>
          <p:nvPr/>
        </p:nvSpPr>
        <p:spPr>
          <a:xfrm>
            <a:off x="640080" y="3410712"/>
            <a:ext cx="10911535" cy="1600200"/>
          </a:xfrm>
          <a:prstGeom prst="roundRect">
            <a:avLst>
              <a:gd name="adj" fmla="val 91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00500"/>
            <a:ext cx="420624" cy="420624"/>
          </a:xfrm>
          <a:prstGeom prst="roundRect">
            <a:avLst>
              <a:gd name="adj" fmla="val 26000"/>
            </a:avLst>
          </a:prstGeom>
          <a:solidFill>
            <a:srgbClr val="A56209"/>
          </a:solidFill>
          <a:ln/>
        </p:spPr>
      </p:sp>
      <p:sp>
        <p:nvSpPr>
          <p:cNvPr id="14" name="Text 12"/>
          <p:cNvSpPr txBox="1"/>
          <p:nvPr/>
        </p:nvSpPr>
        <p:spPr>
          <a:xfrm>
            <a:off x="914400" y="400050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65576"/>
            <a:ext cx="9859975" cy="1490472"/>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Işın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gelen ışına paralel ve ters yönde</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geri döner. İki yansımanın kuralı da aynısını söyler: 2α = 2 · 90° = 180°.</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Bu sonuç gelme açısından bağımsızdır: dik aynalarda iki gelme açısının toplamı her zaman 90°'dir. Köşe yansıtıcıların, bisiklet reflektörlerinin ve Ay'daki yansıtıcıların çalışma ilkesi budur.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Aralarında 36° açı bulunan iki düzlem ayna arasına bir cisim konuyor. Kaç görüntü oluşur?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(Açıları hep normalden ölç.)</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Aralarında 36° açı bulunan iki düzlem ayna arasına bir cisim konuyor. Kaç görüntü oluşur?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 = 360 / α − 1 = 360 / 36 − 1 = 10 − 1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9 görüntü</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360 / 36 = 10 çift sayı olduğu için cismin yeri sonucu değiştirmez.</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Boyu 150 cm olan bir çocuk kendini tepeden tırnağa görmek istiyor. Aynanın boyu en az kaç cm olmalıdır?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(Açıları hep normalden ölç.)</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Boyu 150 cm olan bir çocuk kendini tepeden tırnağa görmek istiyor. Aynanın boyu en az kaç cm olmalıdır?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L = h / 2 = 150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75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Çocuğun aynaya uzaklığı bu sonucu değiştirmez.</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Düzlem aynanın 4 m önündeki bir çocuk aynaya doğru 1 m/s hızla yürüyor. 2 s sonra çocuk ile görüntüsü arasındaki uzaklık kaç m olur?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(Açıları hep normalden ölç.)</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Düzlem aynanın 4 m önündeki bir çocuk aynaya doğru 1 m/s hızla yürüyor. 2 s sonra çocuk ile görüntüsü arasındaki uzaklık kaç m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Çocuk 2 s'de 1 · 2 = 2 m yürür; aynaya uzaklığı 4 − 2 = 2 m olur. Görüntü de aynanın 2 m arkasındadır: aradaki uzaklık 2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Başta 8 m'ydi; her saniye 2 m kısaldı.</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Boyu 160 cm, göz yüksekliği 150 cm olan biri kendini tam boy görmek istiyor. Aynanın alt ve üst kenarı yerden kaç cm yüksekte olmalı?</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(Açıları hep normalden ölç.)</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Boyu 160 cm, göz yüksekliği 150 cm olan biri kendini tam boy görmek istiyor. Aynanın alt ve üst kenarı yerden kaç cm yüksekte olmalı?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Alt kenar y / 2 = 150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75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Üst kenar (h + y) / 2 = (160 + 150)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155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Kontrol: ayna boyu 155 − 75 = 80 cm = h / 2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İki düzlem ayna arasında, açıortaydaki bir cismin 7 görüntüsü oluşuyor. Aynalar arasındaki açı 15° azaltılırsa kaç görüntü oluşur?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(Açıları hep normalden ölç.)</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128</a:t>
            </a:r>
            <a:endParaRPr lang="en-US" sz="10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İki düzlem ayna arasında, açıortaydaki bir cismin 7 görüntüsü oluşuyor. Aynalar arasındaki açı 15° azaltılırsa kaç görüntü oluşur?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360 / α − 1 = 7 → 360 / α = 8 → α = 45°. Yeni açı 45° − 15° = 30°: n = 360 / 30 − 1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11 görüntü</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129</a:t>
            </a:r>
            <a:endParaRPr lang="en-US" sz="10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Açıyı yüzeyle ölçmek.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Gelme ve yansıma açıları her zaman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normalle</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ölçülür.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Görüntüyü gerçek sanmak.</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Düzlem aynada görüntü sanaldır; perdeye düşmez.</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Görüntünün aynanın yüzeyinde olduğunu sanmak.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Görüntü aynanın arkasında, cisimle aynı uzaklıktadır; aynaya 1 m uzaktaysan görüntün senden 2 m uzaktadır.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“Ayna sağı solu değiştirir, peki neden altı üstü değiştirmiyor?”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Ayna aslında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önü arkayı</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ters çevirir; sağ–sol izlenimi bunun sonucudur.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130</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Ayna α dönünce ışın da α döner sanmak.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Işın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2α</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döner.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Boy aynasında uzaklığın etkili olduğunu düşünmek.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Gereken boy h/2'dir ve uzaklıktan bağımsızdır.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İki aynada 360/α'yı doğrudan görüntü sayısı sanmak.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Bu sayı cismi de içerir; görüntü sayısı bir eksiktir.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Dağınık yansımada i = r kuralının bozulduğunu sanmak.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Kural her ışın için geçerlidir; dağılmanın sebebi pürüzlü yüzeyde normallerin farklı yönlere bakmasıdır.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131</a:t>
            </a:r>
            <a:endParaRPr lang="en-US" sz="10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Görüntü </a:t>
            </a:r>
            <a:pPr indent="0" marL="0">
              <a:buNone/>
            </a:pPr>
            <a:r>
              <a:rPr lang="en-US" sz="1500" b="1" dirty="0">
                <a:solidFill>
                  <a:srgbClr val="FFFFFF"/>
                </a:solidFill>
                <a:latin typeface="Calibri" pitchFamily="34" charset="0"/>
                <a:ea typeface="Calibri" pitchFamily="34" charset="-122"/>
                <a:cs typeface="Calibri" pitchFamily="34" charset="-120"/>
              </a:rPr>
              <a:t>sanal</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Boy </a:t>
            </a:r>
            <a:pPr indent="0" marL="0">
              <a:buNone/>
            </a:pPr>
            <a:r>
              <a:rPr lang="en-US" sz="1500" b="1" dirty="0">
                <a:solidFill>
                  <a:srgbClr val="FFFFFF"/>
                </a:solidFill>
                <a:latin typeface="Calibri" pitchFamily="34" charset="0"/>
                <a:ea typeface="Calibri" pitchFamily="34" charset="-122"/>
                <a:cs typeface="Calibri" pitchFamily="34" charset="-120"/>
              </a:rPr>
              <a:t>eşit</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Ayna </a:t>
            </a:r>
            <a:pPr indent="0" marL="0">
              <a:buNone/>
            </a:pPr>
            <a:r>
              <a:rPr lang="en-US" sz="1500" b="1" dirty="0">
                <a:solidFill>
                  <a:srgbClr val="FFFFFF"/>
                </a:solidFill>
                <a:latin typeface="Calibri" pitchFamily="34" charset="0"/>
                <a:ea typeface="Calibri" pitchFamily="34" charset="-122"/>
                <a:cs typeface="Calibri" pitchFamily="34" charset="-120"/>
              </a:rPr>
              <a:t>α</a:t>
            </a:r>
            <a:pPr indent="0" marL="0">
              <a:buNone/>
            </a:pPr>
            <a:r>
              <a:rPr lang="en-US" sz="1500" dirty="0">
                <a:solidFill>
                  <a:srgbClr val="C3CEE8"/>
                </a:solidFill>
                <a:latin typeface="Calibri" pitchFamily="34" charset="0"/>
                <a:ea typeface="Calibri" pitchFamily="34" charset="-122"/>
                <a:cs typeface="Calibri" pitchFamily="34" charset="-120"/>
              </a:rPr>
              <a:t> dönerse ışın </a:t>
            </a:r>
            <a:pPr indent="0" marL="0">
              <a:buNone/>
            </a:pPr>
            <a:r>
              <a:rPr lang="en-US" sz="1500" b="1" dirty="0">
                <a:solidFill>
                  <a:srgbClr val="FFFFFF"/>
                </a:solidFill>
                <a:latin typeface="Calibri" pitchFamily="34" charset="0"/>
                <a:ea typeface="Calibri" pitchFamily="34" charset="-122"/>
                <a:cs typeface="Calibri" pitchFamily="34" charset="-120"/>
              </a:rPr>
              <a:t>2α</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Ayna boyu </a:t>
            </a:r>
            <a:pPr indent="0" marL="0">
              <a:buNone/>
            </a:pPr>
            <a:r>
              <a:rPr lang="en-US" sz="1500" b="1" dirty="0">
                <a:solidFill>
                  <a:srgbClr val="FFFFFF"/>
                </a:solidFill>
                <a:latin typeface="Calibri" pitchFamily="34" charset="0"/>
                <a:ea typeface="Calibri" pitchFamily="34" charset="-122"/>
                <a:cs typeface="Calibri" pitchFamily="34" charset="-120"/>
              </a:rPr>
              <a:t>h / 2</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r</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gelme açısı = yansıma açısı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48259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d(cisim) = d(görüntü)</a:t>
            </a:r>
            <a:endParaRPr lang="en-US" sz="1350" dirty="0"/>
          </a:p>
        </p:txBody>
      </p:sp>
      <p:sp>
        <p:nvSpPr>
          <p:cNvPr id="19" name="Text 17"/>
          <p:cNvSpPr txBox="1"/>
          <p:nvPr/>
        </p:nvSpPr>
        <p:spPr>
          <a:xfrm>
            <a:off x="9203436" y="3218688"/>
            <a:ext cx="216529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aynaya eşit uzaklık</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 = 360/α − 1</a:t>
            </a:r>
            <a:endParaRPr lang="en-US" sz="1350" dirty="0"/>
          </a:p>
        </p:txBody>
      </p:sp>
      <p:sp>
        <p:nvSpPr>
          <p:cNvPr id="22" name="Text 20"/>
          <p:cNvSpPr txBox="1"/>
          <p:nvPr/>
        </p:nvSpPr>
        <p:spPr>
          <a:xfrm>
            <a:off x="8362188" y="404164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iki ayna arasındaki görüntü</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L = h / 2</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gereken ayna boyu</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dersler.perinet.org/duzlem-aynalar.html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03 · Küresel aynalar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132</Slides>
  <Notes>132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132</vt:i4>
      </vt:variant>
    </vt:vector>
  </HeadingPairs>
  <TitlesOfParts>
    <vt:vector size="1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Düzlem aynalar — Dersler</dc:title>
  <dc:subject>Fizik · Optik</dc:subject>
  <dc:creator>Dersler</dc:creator>
  <cp:lastModifiedBy>Dersler</cp:lastModifiedBy>
  <cp:revision>1</cp:revision>
  <dcterms:created xsi:type="dcterms:W3CDTF">2026-09-30T08:42:07Z</dcterms:created>
  <dcterms:modified xsi:type="dcterms:W3CDTF">2026-09-30T08:42:07Z</dcterms:modified>
</cp:coreProperties>
</file>