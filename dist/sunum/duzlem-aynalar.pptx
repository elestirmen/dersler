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Kendini tepeden tırnağa görmek için boyun kadar bir ayna mı gerekir? Hayır: yarısı yeter, üstelik aynadan ne kadar uzakta durduğunun hiçbir önemi yok. Aynadaki yüzün de senin yüzün değil, sağı solu yer değiştirmiş gibi görünen bir kopyası; o kopya aynanın arkasında hiç var olmayan bir yerde duruyor — oraya perde koysan hiçbir şey düşmez. Bütün bunlar tek bir kuraldan çıkıyor: gelme açısı yansıma açısına eşittir. Anlatım dört basamakta ilerliyor: önce aynada gördüklerine ad koyup bu kuralı tanıyacaksın; sonra görüntünün yerini, boyunu, hızını, dönen aynayı ve iki ayna arasındaki görüntü sayısını ondan türeteceksin; ardından aynanın gerçekte neyi ters çevirdiğini ve periskoptan Ay'a uzanan uygulamaları göreceksin. En sonda kolaydan zora sıralanmış örnekler var.
Kapak görseli: İki ayna, bir elma, üç kopya. Aynalar burada dik açıyla birleşiyor ve elmanın tam üç görüntüsü oluşuyor: her aynada birer tane ve köşede, birleşim çizgisinin ikiye böldüğü üçüncüsü. Köşedeki kopya, ışığın iki aynadan art arda yansımasıyla oluşan bir görüntünün görüntüsüdür; bu yüzden yandaki iki görüntüden daha uzakta ve biraz daha küçük görünür. Kaç kopya oluşacağını aynalar arasındaki açı belirler, açı daraldıkça kopya sayısı artar; bu sayıyı ikinci basamakta tek bir bağıntıyla bulacağız.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Kendini tepeden tırnağa görmek için boyun kadar bir ayna mı gerekir? Hayır: yarısı yeter, üstelik aynadan ne kadar uzakta durduğunun hiçbir önemi yok. Aynadaki yüzün de senin yüzün değil, sağı solu yer değiştirmiş gibi görünen bir kopyası; o kopya aynanın arkasında hiç var olmayan bir yerde duruyor — oraya perde koysan hiçbir şey düşmez. Bütün bunlar tek bir kuraldan çıkıyor: gelme açısı yansıma açısına eşittir. Anlatım dört basamakta ilerliyor: önce aynada gördüklerine ad koyup bu kuralı tanıyacaksın; sonra görüntünün yerini, boyunu, hızını, dönen aynayı ve iki ayna arasındaki görüntü sayısını ondan türeteceksin; ardından aynanın gerçekte neyi ters çevirdiğini ve periskoptan Ay'a uzanan uygulamaları göreceksin. En sonda kolaydan zora sıralanmış örnekler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aynaya bak, gördüğünü adlandır ve ışığın aynadan nasıl döndüğünü tanı. Bu basamakta hesap yok denecek kadar az.
   01 Önce gözlemle: aynada ne görürsün?
   02 Yansıma yasası: ışık aynadan nasıl döner?
   03 Düzgün ve dağınık yansıma: duvarda neden kendini göremezsin?
   04 Düzlem aynada görüntünün özellikleri
2. Orta — Tek kuraldan hesaba: görüntünün yerini, boy aynasını, hareket eden ve dönen aynayı, iki aynayı i = r'den türet.
   05 Görüntü nasıl çizilir ve neden simetriktir?
   06 Boy aynası: yarısı yeter
   07 Cismin ve görüntünün hareketi
   08 Aynanın dönmesi: ışın neden iki kat döner?
   09 Sayılarla hisset: iki ayna, kaç görüntü?
3. İleri — İnce noktalar: ayna gerçekte neyi ters çevirir, paralel ve garip açılı aynalarda ne olur, düzlem aynalar nerede iş görür?
   10 Ayna gerçekten sağı solu mu değiştirir?
   11 İnce durumlar: paralel aynalar ve tam bölünmeyen açılar
   12 Düzlem aynalar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aynaya bak, gördüğünü adlandır ve ışığın aynadan nasıl döndüğünü tanı. Bu basamakta hesap yok denecek kadar az.
01 Önce gözlemle: aynada ne görürsün?
02 Yansıma yasası: ışık aynadan nasıl döner?
03 Düzgün ve dağınık yansıma: duvarda neden kendini göremezsin?
04 Düzlem aynada görüntünün özellikleri
Görsel: Boy aynasının karşısında. Kız sağ elini kaldırınca görüntü de tam karşısındaki eli kaldırıyor; görüntünün kendisine göre bu onun sol elidir. Görüntü, kız aynadan ne kadar öndeyse aynanın o kadar arkasında duruyor ve boyu kızınkiyle aynı; görselde küçük görünmesi yalnızca daha uzakta olmasındandır. Bütün boyunu görmek için bu kadar büyük bir aynaya gerek olmadığını ikinci basamakta göreceğiz.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aynada ne görürsün?
Kısaca: Düzlem aynadaki görüntü aynanın arkasında, cisimle aynı uzaklıkta, aynı boyda ve düz durur; yazılar ise ters okunur. Ayna, arkasında bir oda varmış gibi görünen bir pencereye benzer.
Sabah aynanın karşısına geçtiğinde gördüğün şeyi hiç dikkatle inceledin mi? Görüntün aynanın yüzeyine yapışık değildir; aynanın içinde, arkada bir yerde duruyor gibidir. Aynaya bir adım yaklaş: görüntün de sana doğru bir adım gelir. Sağ elini kaldır: görüntü tam karşındaki elini kaldırır. Yazılı bir kâğıdı aynaya tut: harfler ters dönmüş görünür.
Bir de şunu dene: aynanın önünde yavaşça yana kay. Görüntün de seninle birlikte kayar ve aynanın kenarına gelince yarım kalır. Ayna sanki bir pencere gibidir: arkasında seninkine benzeyen bir oda ve o odada senin bir kopyan varmış gibi.
Görsel: Boy aynasının karşısında. Kız sağ elini kaldırınca görüntü de tam karşısındaki eli kaldırıyor; görüntünün kendisine göre bu onun sol elidir. Görüntü, kız aynadan ne kadar öndeyse aynanın o kadar arkasında duruyor ve boyu kızınkiyle aynı; görselde küçük görünmesi yalnızca daha uzakta olmasındandır. Bütün boyunu görmek için bu kadar büyük bir aynaya gerek olmadığını ikinci basamakta göreceğiz.
Sıradan bir düzlem aynaya her baktığında aynı dört şey gözlenir:
• Görüntü aynanın arkasındadır: sen aynadan ne kadar öndeysen o kadar geride görünür.
• Boy aynıdır: görüntü ne büyür ne küçülür; uzaktan küçük görünmesi yalnızca uzaklıktandır.
• Görüntü düzdür: başın yukarıda, ayakların aşağıda kalır.
• Yazılar ters okunur: aynadaki harfler soldan sağa değil, sağdan sola dizilir.
Bu dört gözlemin hepsinin tek bir sebebi var: ışığın aynaya çarpıp nasıl geri döndüğü. Önce o kuralı tanıyalım, sonra her gözlemi tek tek ondan çıkaralım.
Düşün: Aynaya 1 m uzaklıkta duruyorsan görüntün senden kaç metre uzakta görünür?
Cevap: 2 metre. Görüntü aynanın yüzeyinde değil, aynanın 1 m arkasındadır. Sen aynanın 1 m önünde, görüntün 1 m arkasında olduğuna göre aradaki uzaklık 1 + 1 = 2 m eder. Göz de aynaya bakarken 2 m uzağa odaklanır.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Aynaya 1 m uzaklıkta duruyorsan görüntün senden kaç metre uzakta görünür?
Sınıfa sorun, birkaç tahmin alın; sonra cevap slaytına geçin.
Cevap: 2 metre. Görüntü aynanın yüzeyinde değil, aynanın 1 m arkasındadır. Sen aynanın 1 m önünde, görüntün 1 m arkasında olduğuna göre aradaki uzaklık 1 + 1 = 2 m eder. Göz de aynaya bakarken 2 m uzağa odaklanır.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2 metre. Görüntü aynanın yüzeyinde değil, aynanın 1 m arkasındadır. Sen aynanın 1 m önünde, görüntün 1 m arkasında olduğuna göre aradaki uzaklık 1 + 1 = 2 m eder. Göz de aynaya bakarken 2 m uzağa odaklanır.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Yansıma yasası: ışık aynadan nasıl döner?
Kısaca: Işık aynadan gelme açısına eşit bir açıyla yansır (i = r); gelen ışın, yansıyan ışın ve normal aynı düzlemde kalır. Açılar yüzeyden değil, normalden ölçülür.
Bir yüzeye çarpan ışık geri döner; buna yansıma denir. Yansımayı anlatmak için ışının çarptığı noktada yüzeye dik bir çizgi hayal ederiz; bu çizgiye normal denir. Gelen ışının normalle yaptığı açıya gelme açısı (i), yansıyan ışının normalle yaptığı açıya yansıma açısı (r) denir. Bilardo topunu düşün: banda eğik vuran top, vurduğu kadar eğik geri seker. Işık da aynadan böyle döner. Yansımanın iki kuralı vardır:
• Gelme açısı, yansıma açısına eşittir: i = r.
• Gelen ışın, yansıyan ışın ve normal aynı düzlemdedir.
İkinci kural, ışığın aynaya çarpınca yana doğru “kaçmadığını” söyler: gelen ışın ve normal hangi kâğıt yaprağının üzerindeyse yansıyan ışın da o yaprakta kalır. Bu yüzden her yansımayı düz bir kâğıda çizebiliriz. Işık aynaya dik gelirse (i = 0) geldiği yoldan geri döner. Sayfanın 01 numaralı bölümündeki yansıma laboratuvarında gelme açısını değiştirip yansıma açısının onu nasıl izlediğini görebilirsin.
Açılar normalle ölçülür. Normal, yüzeye dik doğrultudur. “Işın yüzeyle 30° açı yapıyor” denirse gelme açısı 30° değil, 60°'dir.
Görsel: Yansımanın tamamı iki cümledir: gelme açısı yansıma açısına eşittir ve gelen ışın, yansıyan ışın ile normal aynı düzlemdedir. Açılar her zaman yüzeyden değil, normalden ölçülür — sınavda en sık kaybedilen puan buradan gider. Işık dik gelirse (i = 0) geldiği yoldan geri döner.
Düşün: Gelen ışın ile yansıyan ışın arasındaki açı 90° ise gelme açısı kaç derecedir?
Cevap: 45°. İki ışın arasındaki açı, gelme ve yansıma açılarının toplamıdır: i + r. Bu iki açı eşit olduğuna göre her biri 90°'nin yarısı, yani 45°'dir. Bu durumda ışın yüzeyle de 45° açı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Gelen ışın ile yansıyan ışın arasındaki açı 90° ise gelme açısı kaç derecedir?
Sınıfa sorun, birkaç tahmin alın; sonra cevap slaytına geçin.
Cevap: 45°. İki ışın arasındaki açı, gelme ve yansıma açılarının toplamıdır: i + r. Bu iki açı eşit olduğuna göre her biri 90°'nin yarısı, yani 45°'dir. Bu durumda ışın yüzeyle de 45° açı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45°. İki ışın arasındaki açı, gelme ve yansıma açılarının toplamıdır: i + r. Bu iki açı eşit olduğuna göre her biri 90°'nin yarısı, yani 45°'dir. Bu durumda ışın yüzeyle de 45° açı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ve dağınık yansıma: duvarda neden kendini göremezsin?
Kısaca: Pürüzsüz yüzeyde normaller aynı yöne baktığı için ışınlar düzenli yansır ve görüntü oluşur; pürüzlü yüzeyde normaller dağınık olduğu için görüntü oluşmaz. İki durumda da her ışın i = r kuralına uyar.
Beyaz bir kâğıt üzerine düşen ışığın çoğunu geri yollar; yine de ona bakınca kendini göremezsin. Fark, yansıyan ışığın miktarında değil düzenindedir:
• Düzgün (aynasal) yansıma: pürüzsüz yüzeyde paralel ışınlar paralel olarak yansır; görüntü oluşur. Ayna, durgun su, cilalı metal.
• Dağınık yansıma: pürüzlü yüzeyde her ışın farklı yöne yansır; görüntü oluşmaz ama cisim her yönden görülebilir. Kâğıt, duvar, kumaş.
Kâğıdı büyüteçle incelesen küçük tepecikler ve çukurlar görürsün. Her tepeciğin eğimi farklı olduğu için normalleri de farklı yönlere bakar. Her iki durumda da yansıma yasası her ışın için ayrı ayrı geçerlidir; fark, yüzeyin normallerinin farklı yönlere bakmasıdır. Dağınıklık kötü bir şey de değildir: tahtayı, kitabın sayfasını, karşıdaki binayı sınıfın her yerinden görebilmeni sağlayan odur.
Yağmurlu bir gecede asfaltın ayna gibi parlaması da bu yüzdendir: su, yolun pürüzlerini doldurup yüzeyi düzleştirir. Karşıdan gelen farların ışığı artık dağılmaz, düzgün yansıyarak doğrudan gözüne gelir ve seni kamaştırır.
Görsel: İki durumda da her ışın i = r kuralına uyar — değişen tek şey yüzeyin normalleridir. Pürüzsüz yüzeyde bütün normaller aynı yöne baktığı için yansıyan ışınlar paralel kalır ve görüntü oluşur. Pürüzlü yüzeyde her noktanın normali farklı olduğundan ışınlar her yöne dağılır; bu yüzden duvarı her yerden görebiliriz ama duvarda kendimizi göremeyiz.
Düşün: Durgun bir göl ağaçları ayna gibi yansıtır. Rüzgârlı bir günde görüntü neden kaybolur?
Cevap: Dalgalar suyun yüzeyini pürüzlü hâle getirir. Her noktada ışın yine i = r kuralıyla yansır, ama dalgalı yüzeyin normalleri farklı yönlere baktığı için yansıyan ışınlar dağılır. Göz, bir ağacın bir noktasından gelen ışınları artık düzenli bir demet olarak alamaz ve görüntü parçalanır.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Durgun bir göl ağaçları ayna gibi yansıtır. Rüzgârlı bir günde görüntü neden kaybolur?
Sınıfa sorun, birkaç tahmin alın; sonra cevap slaytına geçin.
Cevap: Dalgalar suyun yüzeyini pürüzlü hâle getirir. Her noktada ışın yine i = r kuralıyla yansır, ama dalgalı yüzeyin normalleri farklı yönlere baktığı için yansıyan ışınlar dağılır. Göz, bir ağacın bir noktasından gelen ışınları artık düzenli bir demet olarak alamaz ve görüntü parçalanır.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Dalgalar suyun yüzeyini pürüzlü hâle getirir. Her noktada ışın yine i = r kuralıyla yansır, ama dalgalı yüzeyin normalleri farklı yönlere baktığı için yansıyan ışınlar dağılır. Göz, bir ağacın bir noktasından gelen ışınları artık düzenli bir demet olarak alamaz ve görüntü parçalanır.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aynada görüntünün özellikleri
Kısaca: Düzlem aynada görüntü sanal, düz, cisimle aynı boyda ve aynaya cisimle aynı uzaklıktadır; sağ ile sol yer değiştirmiş görünür. Işınların yalnızca uzantıları kesiştiği için görüntü perdeye düşmez.
İlk bölümdeki dört gözlemi artık bir tabloda toplayabiliriz. Bu tablo, düzlem aynayla ilgili hemen her sorunun cevabını içinde taşır:
Özellik | Düzlem aynada
Türü | sanal (perdeye düşmez)
Yönü | düz (ters değil)
Boyu | cisimle eşit
Yeri | aynanın arkasında, eşit uzaklıkta
Simetri | sağ–sol yer değiştirmiş görünür
Görüntü sanaldır: ışınlar gerçekte aynanın arkasına geçmez, yalnızca uzantıları orada kesişir. Bu yüzden aynanın arkasına perde koysan hiçbir şey düşmez. Bunun tersine bir gerçek görüntü, ışınların kendilerinin buluştuğu yerde oluşur ve perdeye düşürülebilir; sinema perdesindeki görüntü böyledir. Düzlem ayna hiçbir zaman gerçek görüntü vermez; gerçek görüntüyü bir sonraki konuda, çukur aynalarda göreceksin.
Tablonun son satırı günlük hayatta işe yarar: ambulansların önündeki yazı ters yazılır. Öndeki sürücü onu dikiz aynasında gördüğünde yazı düzelir ve hemen okunur. Aynanın “sağı solu değiştirmesinin” gerçekte ne anlama geldiğini üçüncü basamakta ayrıca ele alacağız.
Görsel: Görüntü aynanın tam simetriğindedir: aynaya uzaklığı cisminkine eşittir, boyu cisminkiyle aynıdır ve düzdür. Ama bayrak ters tarafa bakar — çünkü ayna sağı solu değiştirir. Görüntü sanaldır: ışınlar gerçekte orada kesişmez, yalnızca uzantıları kesişir; oraya perde koysan hiçbir şey düşmez.
Düşün: Duvardaki akrepli saat tam 3'ü gösteriyor. Karşıdaki aynada saat kaçı gösteriyor gibi görünür?
Cevap: 9'u. Ayna sağ ile solu yer değiştirmiş gösterdiği için akrep 3'ün yerine 9'un üzerinde görünür; yelkovan 12'de kaldığı için değişmez. Genel olarak aynada görünen saat, 12:00'den gerçek saatin çıkarılmasıyla bulunur: 12:00 − 3:00 =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Duvardaki akrepli saat tam 3'ü gösteriyor. Karşıdaki aynada saat kaçı gösteriyor gibi görünür?
Sınıfa sorun, birkaç tahmin alın; sonra cevap slaytına geçin.
Cevap: 9'u. Ayna sağ ile solu yer değiştirmiş gösterdiği için akrep 3'ün yerine 9'un üzerinde görünür; yelkovan 12'de kaldığı için değişmez. Genel olarak aynada görünen saat, 12:00'den gerçek saatin çıkarılmasıyla bulunur: 12:00 − 3:00 =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9'u. Ayna sağ ile solu yer değiştirmiş gösterdiği için akrep 3'ün yerine 9'un üzerinde görünür; yelkovan 12'de kaldığı için değişmez. Genel olarak aynada görünen saat, 12:00'den gerçek saatin çıkarılmasıyla bulunur: 12:00 − 3:00 =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Tek kuraldan hesaba: görüntünün yerini, boy aynasını, hareket eden ve dönen aynayı, iki aynayı i = r'den türet.
05 Görüntü nasıl çizilir ve neden simetriktir?
06 Boy aynası: yarısı yeter
07 Cismin ve görüntünün hareketi
08 Aynanın dönmesi: ışın neden iki kat döner?
09 Sayılarla hisset: iki ayna, kaç görüntü?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Görüntü nasıl çizilir ve neden simetriktir?
Kısaca: Görüntüyü bulmak için iki ışını i = r ile yansıtıp uzantılarını kesiştirmek ya da cismin aynaya göre simetriğini almak yeter; eş üçgenler ikisinin aynı noktayı verdiğini kanıtlar.
Bir noktanın görüntüsünü bulmak için dört adım yeter:
• Cisimden aynaya iki ışın gönder.
• Her birini yansıma yasasına göre yansıt (i = r).
• Yansıyan ışınları geriye, kesikli uzat.
• Uzantıların kesiştiği nokta görüntüdür.
Kısayol: cismin aynaya dik uzaklığını ölç, aynanın arkasına aynı uzaklıkta işaretle. Sonuç aynıdır çünkü düzlem ayna, cismin ayna düzlemine göre simetriğini oluşturur. Bu kısayol ezber değil, geometriyle kanıtlanabilir.
Simetri nereden geliyor?
• Kur: Cisim A noktasında olsun; A'dan aynaya bir dik indir, ayağına H de. A'dan çıkan bir ışın aynaya O noktasında çarpsın.
• Uzat: Yansıyan ışını aynanın arkasına, AH dikmesini de aynı yöne uzat; ikisi A′ noktasında kesişsin.
• Açıları karşılaştır: i = r olduğundan gelen ve yansıyan ışının yüzeyle yaptığı açılar eşittir; uzantı da ters açı olarak aynı açıyı yapar.
• Eş üçgenler: AHO ile A′HO üçgenlerinde H'deki açılar 90°, O'daki açılar eşit ve HO kenarı ortaktır. Üçgenler eştir, yani AH = A′H.
O noktasını nereye koyarsan koy aynı A′ çıkar; bu yüzden bütün yansıyan ışınların uzantıları tek bir noktada buluşur ve net bir görüntü görürüz. Aynı çizim eski bir gerçeği de açıklar: İskenderiyeli Heron yaklaşık iki bin yıl önce, yansıyan ışığın bir noktadan aynaya, oradan başka bir B noktasına giden yolların en kısasını izlediğini göstermişti. Aynaya uğrayan her yol, A′'dan B'ye giden bir yol kadar uzundur; bunların en kısası A′ ile B'yi birleştiren düz çizgidir ve i = r'yi sağlayan yol tam olarak odur.
Görsel: Görüntüyü çizmek için cismin bir noktasından iki ışın göndermek yeter: ikisi de i = r kuralıyla yansır. Yansıyan ışınlar göze ulaştığında göz onları düz bir çizgi boyunca geri izler ve aynanın arkasında bir noktada birleştirir. Işınlar orada gerçekten buluşmaz — buluşan yalnızca uzantılarıdır. Sanal görüntü tam olarak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Görüntü nasıl çizilir ve neden simetriktir?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Boy aynası: yarısı yeter
Kısaca: Kendini tepeden tırnağa görmek için boyunun yarısı kadar bir ayna yeter (L = h/2); alt kenarı göz yüksekliğinin yarısında olmalıdır. Aynaya olan uzaklık bu sonucu değiştirmez.
Sayfanın 04 numaralı bölümü şaşırtıcı bir iddiayla başlıyor: kendini tepeden tırnağa görmek için boyunun yarısı kadar bir ayna yeter ve aynaya uzaklığın bir önemi yoktur. Bunu simetriden adım adım çıkarabiliriz. Kişinin boyu h, gözünün yerden yüksekliği y olsun.
• Ayak: Göz, ayağın görüntüsüne düz bir çizgiyle bakar. Ayna bu çizginin yatayda tam ortasında durduğu için çizgiyi yüksekliklerin ortasında, y/2'de keser.
• Baş: Aynı akıl yürütmeyle başın tepesinden gelen ışın (h + y)/2 yüksekliğinde yansır.
• Fark: Ayna en az bu iki nokta arası kadar olmalı: (h + y)/2 − y/2 = h/2.
• Uzaklık: Hesabın hiçbir adımında aynaya uzaklık geçmedi; sonuç uzaklıktan bağımsızdır.
L = h / 2   alt kenar = y / 2
Boy (h) | Göz yüksekliği (y) | Ayna boyu | Alt kenar
120 cm | 110 cm | 60 cm | 55 cm
160 cm | 150 cm | 80 cm | 75 cm
180 cm | 170 cm | 90 cm | 85 cm
200 cm | 188 cm | 100 cm | 94 cm
Bütün aile aynı aynayı kullanacaksa alt kenar en kısanın ihtiyacına (55 cm), üst kenar en uzunun ihtiyacına göre, (200 + 188)/2 = 194 cm'ye konur: 139 cm'lik bir ayna herkese yeter.
Düşün: Aynadan geri geri uzaklaşırsan aynada kendinin daha büyük bir bölümünü görür müsün?
Cevap: Hayır. Uzaklaştıkça görüntün de aynanın arkasında aynı ölçüde uzaklaşır; ayak ve baştan gelen ışınların aynaya çarptığı yükseklikler (y/2 ve (h + y)/2) hiç değişmez. Görüntün gözüne küçük görünür, ama aynada bedeninin gördüğün bölümü aynı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Boy aynası: yarısı yeter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Aynadan geri geri uzaklaşırsan aynada kendinin daha büyük bir bölümünü görür müsün?
Sınıfa sorun, birkaç tahmin alın; sonra cevap slaytına geçin.
Cevap: Hayır. Uzaklaştıkça görüntün de aynanın arkasında aynı ölçüde uzaklaşır; ayak ve baştan gelen ışınların aynaya çarptığı yükseklikler (y/2 ve (h + y)/2) hiç değişmez. Görüntün gözüne küçük görünür, ama aynada bedeninin gördüğün bölümü aynı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Uzaklaştıkça görüntün de aynanın arkasında aynı ölçüde uzaklaşır; ayak ve baştan gelen ışınların aynaya çarptığı yükseklikler (y/2 ve (h + y)/2) hiç değişmez. Görüntün gözüne küçük görünür, ama aynada bedeninin gördüğün bölümü aynı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Cismin ve görüntünün hareketi
Kısaca: Cisim aynaya v ile yaklaşırsa görüntü de v ile yaklaşır ve ikisi birbirine 2v ile yaklaşır. Cisim dururken ayna v ile hareket ederse görüntü 2v ile hareket eder.
Görüntü her an cismin aynaya göre simetriği olduğuna göre cisim nereye giderse görüntü de ona “ayna gibi” eşlik eder. Hareketi aynaya dik ve aynaya paralel iki parçaya ayırmak işi kolaylaştırır. Dik parçayı adım adım inceleyelim:
• Cisim yaklaşıyor: Cisim 1 s'de aynaya v kadar yaklaşırsa aynaya uzaklığı v azalır; görüntünün uzaklığı da v azalır. Görüntü de v hızıyla aynaya yaklaşır.
• Zıt yönler: İkisi zıt yönlerde hareket ettiği için aralarındaki uzaklık (aynaya uzaklığın iki katı) her saniye 2v kısalır: birbirlerine göre hızları 2v'dir.
• Ayna yaklaşıyor: Cisim dururken ayna 1 s'de v yaklaşırsa cisim–ayna uzaklığı v, cisim–görüntü uzaklığı 2v kısalır. Görüntü yere göre 2v hızıyla gelir.
• Cisim aynaya v hızıyla yaklaşırsa görüntü de v hızıyla yaklaşır; birbirlerine göre hızları 2v olur.
• Cisim aynaya paralel hareket ederse görüntü de aynı yönde, aynı hızla hareket eder.
• Ayna cisme doğru v hızıyla hareket ederse görüntü 2v hızıyla yaklaşır.
Sayfanın 02 numaralı bölümünde “Aynaya yaklaştır” düğmesine bastığında cismin, görüntünün ve ikisinin birbirine göre hızını ayrı ayrı okuyabilirsin. Soru çözerken her seferinde “kimin hızı, kime göre?” diye sor.
Görsel: Cisim aynaya yaklaşırken görüntü de aynı hızla yaklaşır — ama ters yönde. Bu yüzden cisimle görüntüsü arasındaki uzaklık 2v hızıyla kapanır. Aynanın kendisi cisme doğru v ile hareket ederse görüntü 2v ile yaklaşır; bunları karıştırmamak için her seferinde "kim kime göre" diye sormak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Aynanın dönmesi: ışın neden iki kat döner?
Kısaca: Gelen ışın sabitken ayna α kadar dönerse normal de α döner; gelme ve yansıma açılarının ikisi birden α değiştiği için yansıyan ışın 2α döner.
Gelen ışın sabitken ayna α kadar döndürülürse, normal de α kadar döner; gelme açısı α değişir, yansıma açısı da α değişir. Sonuçta yansıyan ışın 2α kadar döner. Bunu da adım adım gösterelim:
• Başlangıç: Gelme açısı i ise yansıma açısı da i'dir; gelen ile yansıyan ışın arasındaki açı 2i olur.
• Dönme: Ayna α dönünce normali de α döner; gelme açısı i + α olur.
• Yansıma: Yansıma açısı da i + α olur; ışınlar arası açı 2i + 2α'ya çıkar.
• Sonuç: Gelen ışın hiç kıpırdamadığına göre 2α'lık artışın tamamı yansıyan ışına aittir.
Δ(yansıyan ışın) = 2 · α
Bu özellik hassas ölçüm aletlerinde kullanılır: küçük bir dönmeyi iki katına büyütüp ölçmeyi kolaylaştırır. Aynadan 2 m uzaktaki bir cetvele düşen ışık lekesini düşün: ayna yalnızca 1° dönerse ışın 2° döner ve leke cetvel üzerinde yaklaşık 7 cm kayar. Gözle fark edilemeyecek bir dönme böylece kolayca okunur. Sayfanın 01 numaralı bölümündeki “Ayna 20° dönük” deneyi ve altındaki grafik bu doğrusal 2α ilişkisini gösterir.
Görsel: Gelen ışını hiç değiştirmeden aynayı α kadar döndürürsen, yansıyan ışın 2α kadar döner. Sebebi şu: ayna döndüğünde normali de α kadar döner, hem gelme hem yansıma açısı α değişir ve ikisi toplanır. Ayna galvanometresi, lazer tarayıcılar ve barkod okuyucular küçük bir dönmeyi iki katına büyütmek için tam olarak bunu kullanır.
Düşün: Işın aynaya dik geliyor. Ayna 10° döndürülürse gelen ile yansıyan ışın arasındaki açı kaç olur?
Cevap: 20°. Başta gelme açısı 0'dır ve ışın geldiği yoldan döner. Ayna 10° dönünce normal de 10° döner, gelme açısı 10°, yansıma açısı da 10° olur. İki ışın arasındaki açı 10 + 10 = 20° eder: tam olarak 2α.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iki ayna, kaç görüntü?
Kısaca: Aralarında α açısı olan iki aynada, 360/α tam sayı ve cisim açıortaydayken n = 360/α − 1 görüntü oluşur ve görüntüler cisimle birlikte bir çember üzerinde dizilir. Açı yarıya inince kopya sayısı iki katına çıkar.
Aralarında α açısı bulunan iki düzlem ayna arasına konan cismin görüntüleri, aynaların kesişme noktası merkez olmak üzere bir çember üzerinde dizilir. Her ayna cismin bir görüntüsünü oluşturur; bu görüntüler öbür ayna için birer cisim olur ve yeni görüntüler doğar. Hiçbir yansıma kesişme çizgisine olan uzaklığı değiştirmediği için hepsi aynı çemberin üzerindedir. Cisim açıortaydayken kopyalar çemberde tam α aralıklarla, saatin rakamları gibi eşit dizilir; 360°'lik çembere 360/α kopya sığar. Biri cismin kendisi olduğuna göre:
n = 360 / α − 1
Aynalar arası açı | 360 / α | Görüntü sayısı
180° (tek düz ayna) | 2 | 1
90° | 4 | 3
60° | 6 | 5
45° | 8 | 7
30° | 12 | 11
Tablodan hemen okunan düzen: açı yarıya inince kopya sayısı iki katına çıkar (90°'de 4, 45°'de 8; 60°'de 6, 30°'de 12); görüntü sayısı her seferinde bunun bir eksiğidir. İlk satır bağıntının sağlamasıdır: iki ayna düz bir çizgi oluşturunca tek bir görüntü kalır. 90°'deki üç görüntünün ikisi tek yansımayla, köşedeki üçüncüsü iki yansımayla oluşur. Sayfanın 03 numaralı bölümünde açıyı 20°'ye kadar indirip görüntülerin çemberde nasıl sıklaştığını izleyebilirsin.
Görsel: İki ayna arasındaki cisim, yalnızca kendini değil görüntülerin görüntülerini de yansıtır. Bütün görüntüler, aynaların kesiştiği noktayı merkez alan bir çember üzerinde eşit aralıklarla dizilir. Açı küçüldükçe çembere daha çok görüntü sığar: n = 360/α − 1. Aynalar paralel olursa (α = 0) görüntü sayısı sonsuza gider — berber aynalarındaki o bitmeyen koridorun sebebi budur.
Düşün: İki ayna arasındaki bir cismin 11 görüntüsünü görmek için aynalar arasındaki açı kaç derece olmalı?
Cevap: 30°. n = 360/α − 1 = 11 ise 360/α = 12, yani α = 360/12 = 30°. Kopya sayısı 12'dir: cismin kendisi ve 11 görüntüsü. Açı 60° olsaydı kopya sayısı yarıya, 6'ya inerdi.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İnce noktalar: ayna gerçekte neyi ters çevirir, paralel ve garip açılı aynalarda ne olur, düzlem aynalar nerede iş görür?
10 Ayna gerçekten sağı solu mu değiştirir?
11 İnce durumlar: paralel aynalar ve tam bölünmeyen açılar
12 Düzlem aynalar gerçek dünyada
Görsel: Görünmeden görmek. Periskop, ışığı iki kez 90° çevirerek su yüzeyinin üstündeki manzarayı aşağıdaki gözcüye indirir. Borunun iki ucundaki yansıtıcılar birbirine paraleldir; ışın iki yansımadan sonra ilk yönüne paralel çıkar ve ufuktaki gemi düz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gerçekten sağı solu mu değiştirir?
Kısaca: Düzlem ayna yalnızca aynaya dik doğrultuyu, yani önü ile arkayı ters çevirir; sağ–sol izlenimi bunun sonucudur. İki yansıma bu terslemeyi geri alır.
Aynada sağ elin görüntünün sol eli gibi görünür. Ama bir bilmece var: ayna sağı solu değiştiriyorsa neden altı üstü değiştirmiyor? Aynanın yatayı düşeyden ayırması için hiçbir sebep yoktur; ikisi de aynanın yüzeyine paraleldir.
Cevap şu: ayna aslında önü arkayı, yani yalnızca aynaya dik doğrultuyu ters çevirir. Burnun aynaya doğru bakıyorsa görüntünün burnu sana doğru bakar; başın yukarıda, kalkık elin aynı tarafta kalır. “Sağ–sol ters” izlenimi, görüntüyü bize dönmüş başka bir insan gibi yorumlamamızdan doğar: kendini onun yerine koyup yarım tur döndüğünü hayal ettiğinde sağ ile sol yer değiştirmiş olur.
• Aynaya dik doğrultu ters döner: aynaya bakan yüzün görüntüsü sana bakar.
• Aynaya paralel doğrultular değişmez: yukarı yukarıda, sağ taraf sağda kalır.
• Yatay ayna düşeyi çevirir: durgun gölde ağaçların baş aşağı görünmesi bundandır.
Ters çevirmeyen ayna
Birbirine dik iki aynanın köşesine bak: köşedeki görüntü iki yansımayla oluşur. Her yansıma bir kez ters çevirdiği için ikinci yansıma birincisinin yaptığını geri alır. Bu görüntüde sağ elini kaldırdığında görüntü de kendi sağ elini kaldırır; kendini başkalarının seni gördüğü gibi görürsün.
Düşün: Birbirine dik iki aynanın köşesine bakıp sağ gözünü kırparsan görüntü hangi gözünü kırpar?
Cevap: Kendi sağ gözünü. İki yansıma terslemeyi geri aldığı için görüntü, karşında duran biri gibidir; onun sağ gözü senin görüş alanında sol tarafta kalır. Tek bir düz aynada ise görüntü kendi sol gözünü kırpar ve bu göz senin kırptığın gözün tam karşısındadır.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Birbirine dik iki aynanın köşesine bakıp sağ gözünü kırparsan görüntü hangi gözünü kırpar?
Sınıfa sorun, birkaç tahmin alın; sonra cevap slaytına geçin.
Cevap: Kendi sağ gözünü. İki yansıma terslemeyi geri aldığı için görüntü, karşında duran biri gibidir; onun sağ gözü senin görüş alanında sol tarafta kalır. Tek bir düz aynada ise görüntü kendi sol gözünü kırpar ve bu göz senin kırptığın gözün tam karşısındadır.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Kendi sağ gözünü. İki yansıma terslemeyi geri aldığı için görüntü, karşında duran biri gibidir; onun sağ gözü senin görüş alanında sol tarafta kalır. Tek bir düz aynada ise görüntü kendi sol gözünü kırpar ve bu göz senin kırptığın gözün tam karşısındadır.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paralel aynalar ve tam bölünmeyen açılar
Kısaca: Paralel aynalarda görüntü sayısı kuramsal olarak sonsuzdur, ama her yansımada ışık zayıfladığı için uzaktakiler kararır. 360/α tek sayıysa açıortaydaki cisim için bir görüntü eksilir; tam bölünmüyorsa sayı cismin yerine bağlıdır.
Açı küçüldükçe görüntü sayısı artar; aynalar paralel olduğunda (α = 0) 360/α sonsuza gider ve görüntü sayısı da sonsuz olur. Berber dükkânlarındaki karşılıklı aynalarda gördüğün, giderek uzaklaşan koridor budur. Gerçekte sonsuz görüntünün hepsini göremezsin: her yansımada ışığın bir bölümü aynada soğurulur. Işığın %90'ını yansıtan bir aynada 10 yansımadan sonra ışığın yalnızca yaklaşık üçte biri (0,9¹⁰ ≈ 0,35) kalır; uzaktaki görüntüler bu yüzden giderek kararır.
n = 360/α − 1 bağıntısı, 360/α tam sayı olduğunda kullanılır; ama tek ve çift sayılar arasında da ince bir fark vardır. Görüntüler iki zincir hâlinde oluşur: biri önce birinci aynadan, öteki önce ikinci aynadan başlar. 360/α çiftse zincirlerin sonunda iki görüntü, cisim nerede olursa olsun, aynı noktaya düşer ve tek görüntü gibi görünür. Tekse iki görüntü yalnızca cisim açıortaydayken üst üste biner:
360 / α | Cismin yeri | Görüntü sayısı
Çift sayı (4, 6, 8…) | her yerde | 360/α − 1
Tek sayı (3, 5, 9…) | açıortayda | 360/α − 1
Tek sayı | açıortay dışında | 360/α
Tam sayı değil | yerine bağlı | tam kısmı ya da bir fazlası
360/α tam bölünmezse görüntü sayısı, cismin aynalara göre yerine bağlı olarak bölümün tam kısmı ya da bir fazlası kadardır. 360/α tek sayı çıkarsa, cisim açıortay üzerindeyken bir görüntü eksilir. Bu ayrıntılar ileri düzey sorularda karşımıza çıkar.
Düşün: Aralarında 72° bulunan iki ayna arasında, açıortaydaki bir cismin kaç görüntüsü oluşur?
Cevap: 4. 360/72 = 5 tek sayıdır ve cisim açıortaydadır; iki görüntü üst üste biner ve 360/α − 1 = 4 görüntü görünür. Cisim açıortaydan kaydırılırsa üst üste binen görüntüler ayrılır ve 5 görüntü olur. Sayfadaki 03 numaralı laboratuvar cismi açıortaya koyduğu için 72°'de 4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aynalar gerçek dünyada
Kısaca: Periskop, köşe yansıtıcı, kaleydoskop ve lazer tarayıcı aynı birkaç kuralı kullanır: i = r, iki aynada ışının 2α dönmesi ve iki ayna arasında çoğalan görüntüler.
Düzlem ayna yalnızca banyoda değil, bir şeyi görünmeden görmek, ışığı geri yollamak ya da küçük bir dönmeyi ölçmek gereken her yerde kullanılır. Hepsinin arkasında iki basit kural var: i = r ve art arda yansımalarda ışının dönmesi.
Görsel: Görünmeden görmek. Periskop, ışığı iki kez 90° çevirerek su yüzeyinin üstündeki manzarayı aşağıdaki gözcüye indirir. Borunun iki ucundaki yansıtıcılar birbirine paraleldir; ışın iki yansımadan sonra ilk yönüne paralel çıkar ve ufuktaki gemi düz görünür.
İki yansımanın kuralı: Aralarında α açısı olan iki aynadan art arda yansıyan ışın, ilk yönüne göre 2α döner. Paralel aynalarda (α = 0) ışın ilk yönünde çıkar; dik aynalarda (α = 90°) 180° döner, yani geldiği yöne geri gider.
• Periskop: 45° eğik iki paralel ayna ışını önce aşağı, sonra ileri çevirir. Denizaltılarda aynaların yerini çoğu kez prizma ve mercekler alır.
• Ay'daki köşe yansıtıcılar: Apollo astronotlarının bıraktığı yansıtıcılara gönderilen lazer ışığı, 384 400 km'yi gidip dönerek yaklaşık 2,6 s sonra geri gelir.
• Bisiklet reflektörü: İçindeki küçük köşe yansıtıcılar arabanın farından gelen ışığı arabanın sürücüsüne geri yollar; reflektör bu yüzden gece parlar.
• Kaleydoskop: Aralarında 60° olan aynalar her deseni 6 kez (cisim ve 5 görüntüsü) tekrarlar.
• Lazer tarayıcı: Dönen ayna 15° dönünce ışını 30° süpürür; barkod okuyucular bu 2α kuralını kullanır.
• Ambulans yazısı: Ters yazılır ki öndeki sürücü onu dikiz aynasında düz okusun.
Düşün: Periskobun iki aynası paralel değil de birbirine dik olsaydı ışın nereye giderdi?
Cevap: Dik aynalarda α = 90° olduğundan ışın 2α = 180° döner: ilk doğrultusuna paralel ama ters yönde çıkar. Gözcü, manzaraya sırtını dönmüş olarak aynaya bakmak zorunda kalırdı. Bu düzenek artık bir periskop değil, ışığı geldiği yöne geri yollayan bir köşe yansıtıcıdır.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Yüzeyle yapılan açı (kolay)
Aşağıdaki örneklerde açılar derece, uzunluklar santimetre ya da metre cinsindendir.
Bir ışın düzlem aynanın yüzeyiyle 25° açı yapacak şekilde geliyor. Gelme açısı, yansıma açısı ve iki ışın arasındaki açı kaç derecedir?
1. Gelme açısı normalle ölçülür: i = 90° − 25° = 65°
2. Yansıma açısı: r = i = 65°
3. Gelen ve yansıyan ışın arasındaki açı: i + r =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Aynanın dönmesi (kolay)
Aşağıdaki örneklerde açılar derece, uzunluklar santimetre ya da metre cinsindendir.
Sabit bir ışın demeti düzlem aynaya düşerken ayna 12° döndürülüyor. Yansıyan ışın kaç derece döner?
1. Ayna α = 12° dönerse normal de 12° döner.
2. Gelme açısı 12° değişir; yansıma açısı da 12° değişir.
3. Yansıyan ışının dönmesi: 2α =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Görüntüne ne kadar uzaksın? (kolay)
Aşağıdaki örneklerde açılar derece, uzunluklar santimetre ya da metre cinsindendir.
Bir öğrenci düzlem aynanın 1,5 m önünde duruyor. (a) Görüntüsü kendisinden kaç m uzaktadır? (b) Aynaya 0,5 m yaklaşırsa görüntüsüne uzaklığı ne olur?
1. (a) Görüntü aynanın 1,5 m arkasındadır: 1,5 + 1,5 = 3 m
2. (b) Aynaya uzaklık 1,5 − 0,5 = 1 m olur; görüntüye uzaklık 2 · 1 = 2 m
3. Kontrol: öğrenci 0,5 m yürüdü, görüntüsüne uzaklığı ise 1 m kısaldı. İki kat fark, birbirlerine göre hızın 2v olmasının sebebidir.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İki ayna (orta)
Aşağıdaki örneklerde açılar derece, uzunluklar santimetre ya da metre cinsindendir.
Aralarında 40° açı bulunan iki düzlem ayna arasına, açıortay üzerine bir cisim konuyor. Kaç görüntü oluşur?
1. 360 / α = 360 / 40 = 9
2. n = 9 − 1 = 8 görüntü
3. Açı 90° olsaydı 360/90 − 1 = 3 görüntü oluşurdu.
Not: 9 tek sayıdır. Cisim açıortaydan kaydırılırsa açıortayda üst üste binen iki görüntü birbirinden ayrılır ve 9 görüntü oluşur.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Boy aynası (orta)
Aşağıdaki örneklerde açılar derece, uzunluklar santimetre ya da metre cinsindendir.
Boyu 180 cm, göz yüksekliği 170 cm olan bir kişi kendini tepeden tırnağa görmek istiyor. Aynanın boyu ve alt kenarının yerden yüksekliği ne olmalıdır?
1. Ayna boyu = h/2 = 180/2 = 90 cm
2. Alt kenar, göz ile ayak arasının ortası: 170/2 = 85 cm
3. Üst kenar: alt kenar + 90 = 175 cm (baş ile göz arasının ortası).
4. Kişinin aynaya uzaklığı sonucu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Hem ayna hem cisim hareket ediyor (orta)
Aşağıdaki örneklerde açılar derece, uzunluklar santimetre ya da metre cinsindendir.
Bir oyuncak araba bir düzlem aynaya doğru 2 m/s hızla gidiyor; ayna da tekerlekli bir sehpa üzerinde arabaya doğru 1 m/s hızla itiliyor (hızlar yere göre). (a) Görüntünün yere göre hızı nedir? (b) Araba ile görüntüsü birbirine hangi hızla yaklaşır?
1. Arabadan aynaya doğru yönü pozitif al: varaba = +2 m/s, vayna = −1 m/s.
2. Görüntü her an aynanın, araba kadar arkasındadır: xg = 2·xayna − xaraba. Hızlar için de aynısı geçerlidir: vg = 2·vayna − varaba.
3. (a) vg = 2·(−1) − 2 = −4 m/s: görüntü yere göre 4 m/s hızla arabaya doğru gelir.
4. (b) Birbirlerine göre: 2 − (−4) = 6 m/s
5. Kontrol: araba–ayna uzaklığı saniyede 2 + 1 = 3 m kısalır; araba–görüntü uzaklığı bunun iki katıdır: 6 m/s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Yanlış yere asılmış ayna (zor)
Aşağıdaki örneklerde açılar derece, uzunluklar santimetre ya da metre cinsindendir.
Boyu 170 cm, göz yüksekliği 160 cm olan bir kişi, alt kenarı yerden 100 cm, üst kenarı 190 cm yüksekte olan bir aynanın karşısında duruyor. (a) Başının tepesini görebilir mi? (b) Bedeninin yerden kaç cm'ye kadarki bölümünü göremez? (c) Kendini tepeden tırnağa görmesi için ne yapılmalı?
1. Yerden y yüksekliğindeki bir noktadan gelen ışın, (y + 160)/2 yüksekliğinde yansır.
2. (a) Baş için (170 + 160)/2 = 165 cm; bu nokta üst kenarın (190 cm) altında: görür.
3. (b) Alt kenar 100 cm: (y + 160)/2 = 100 → y = 40 cm. Yerden 40 cm'ye kadarki bölüm görünmez.
4. Aynanın boyu (90 cm) gereken h/2 = 85 cm'den uzundur; sorun boyda değil, yükseklikte.
5. (c) Alt kenar 160/2 = 80 cm olmalı: ayna 20 cm aşağı indirilir (üst kenar 170 cm ≥ 165 cm ✓). Aynaya yaklaşmak ya da uzaklaşmak hiçbir şeyi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Birbirine dik iki ayna (zor)
Aşağıdaki örneklerde açılar derece, uzunluklar santimetre ya da metre cinsindendir.
Birbirine dik iki düzlem aynadan birincisine bir ışın 35° gelme açısıyla geliyor, yansıyıp ikinci aynaya çarpıyor. (a) İkinci aynadaki gelme açısı kaç derecedir? (b) İkinci aynadan çıkan ışın ilk gelen ışına göre hangi doğrultuda ilerler?
1. Birinci aynadan yansıyan ışın, yüzeyle 90° − 35° = 55° açı yapar.
2. İki ayna ve ışın bir üçgen oluşturur; köşedeki açı 90° olduğundan ışının ikinci ayna yüzeyiyle yaptığı açı 180° − 90° − 55° = 35°'dir.
3. (a) Gelme açısı normalle ölçülür: 90° − 35° = 55°; yansıma açısı da 55°.
4. Her yansıma ışını 180° − 2i kadar çevirir: 180 − 70 = 110° ve 180 − 110 = 70°; toplam 180°.
5. (b) Işın gelen ışına paralel ve ters yönde geri döner. İki yansımanın kuralı da aynısını söyler: 2α = 2 · 90° = 180°.
Bu sonuç gelme açısından bağımsızdır: dik aynalarda iki gelme açısının toplamı her zaman 90°'dir. Köşe yansıtıcıların, bisiklet reflektörlerinin ve Ay'daki yansıtıcıların çalışma ilkesi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Açıyı yüzeyle ölçmek. Gelme ve yansıma açıları her zaman normalle ölçülür.
• Görüntüyü gerçek sanmak. Düzlem aynada görüntü sanaldır; perdeye düşmez.
• Görüntünün aynanın yüzeyinde olduğunu sanmak. Görüntü aynanın arkasında, cisimle aynı uzaklıktadır; aynaya 1 m uzaktaysan görüntün senden 2 m uzaktadır.
• “Ayna sağı solu değiştirir, peki neden altı üstü değiştirmiyor?” Ayna aslında önü arkayı ters çevirir; sağ–sol izlenimi bunun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Ayna α dönünce ışın da α döner sanmak. Işın 2α döner.
• Boy aynasında uzaklığın etkili olduğunu düşünmek. Gereken boy h/2'dir ve uzaklıktan bağımsızdır.
• İki aynada 360/α'yı doğrudan görüntü sayısı sanmak. Bu sayı cismi de içerir; görüntü sayısı bir eksiktir.
• Dağınık yansımada i = r kuralının bozulduğunu sanmak. Kural her ışın için geçerlidir; dağılmanın sebebi pürüzlü yüzeyde normallerin farklı yönlere bakmasıdır.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Görüntü sanal · Boy eşit · Ayna α dönerse ışın 2α · Ayna boyu h / 2
i = r — gelme açısı = yansıma açısı
d(cisim) = d(görüntü) — aynaya eşit uzaklık
n = 360/α − 1 — iki ayna arasındaki görüntü
L = h / 2 — gereken ayna boyu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4/sek/duzlem-aynala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02</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Düzlem aynalar</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Aynadaki görüntünüz aslında orada değildir: ışınların uzantılarının kesiştiği yerdedir. Tek bir kural — gelme açısı = yansıma açısı — hem bu görüntüyü hem de iki ayna arasındaki onlarca kopyayı açıklar.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9448495" y="6309360"/>
            <a:ext cx="2103120" cy="274320"/>
          </a:xfrm>
          <a:prstGeom prst="roundRect">
            <a:avLst>
              <a:gd name="adj" fmla="val 50000"/>
            </a:avLst>
          </a:prstGeom>
          <a:solidFill>
            <a:srgbClr val="0E1426">
              <a:alpha val="65000"/>
            </a:srgbClr>
          </a:solidFill>
          <a:ln/>
        </p:spPr>
      </p:sp>
      <p:sp>
        <p:nvSpPr>
          <p:cNvPr id="22" name="Text 19"/>
          <p:cNvSpPr txBox="1"/>
          <p:nvPr/>
        </p:nvSpPr>
        <p:spPr>
          <a:xfrm>
            <a:off x="9448495" y="6309360"/>
            <a:ext cx="2103120" cy="274320"/>
          </a:xfrm>
          <a:prstGeom prst="rect">
            <a:avLst/>
          </a:prstGeom>
          <a:noFill/>
          <a:ln/>
        </p:spPr>
        <p:txBody>
          <a:bodyPr wrap="square" lIns="0" tIns="0" rIns="0" bIns="0" rtlCol="0" anchor="ctr"/>
          <a:lstStyle/>
          <a:p>
            <a:pPr algn="ctr" indent="0" marL="0">
              <a:buNone/>
            </a:pPr>
            <a:r>
              <a:rPr lang="en-US" sz="900" dirty="0">
                <a:solidFill>
                  <a:srgbClr val="E4E9F5"/>
                </a:solidFill>
                <a:latin typeface="Calibri" pitchFamily="34" charset="0"/>
                <a:ea typeface="Calibri" pitchFamily="34" charset="-122"/>
                <a:cs typeface="Calibri" pitchFamily="34" charset="-120"/>
              </a:rPr>
              <a:t>Görsel: yapay zekâ ile üretildi</a:t>
            </a:r>
            <a:endParaRPr lang="en-US" sz="900" dirty="0"/>
          </a:p>
        </p:txBody>
      </p:sp>
      <p:sp>
        <p:nvSpPr>
          <p:cNvPr id="23" name="Shape 20"/>
          <p:cNvSpPr/>
          <p:nvPr/>
        </p:nvSpPr>
        <p:spPr>
          <a:xfrm>
            <a:off x="640080" y="6382512"/>
            <a:ext cx="128016" cy="128016"/>
          </a:xfrm>
          <a:prstGeom prst="roundRect">
            <a:avLst>
              <a:gd name="adj" fmla="val 28571"/>
            </a:avLst>
          </a:prstGeom>
          <a:solidFill>
            <a:srgbClr val="C6F36B"/>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Kendini tepeden tırnağa görmek için boyun kadar bir ayna mı gerekir?</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Hayır: </a:t>
            </a:r>
            <a:pPr indent="0" marL="0">
              <a:lnSpc>
                <a:spcPct val="130000"/>
              </a:lnSpc>
              <a:buNone/>
            </a:pPr>
            <a:r>
              <a:rPr lang="en-US" sz="2150" b="1" dirty="0">
                <a:solidFill>
                  <a:srgbClr val="5F4BD8"/>
                </a:solidFill>
                <a:latin typeface="Cambria" pitchFamily="34" charset="0"/>
                <a:ea typeface="Cambria" pitchFamily="34" charset="-122"/>
                <a:cs typeface="Cambria" pitchFamily="34" charset="-120"/>
              </a:rPr>
              <a:t>yarısı yeter</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üstelik aynadan ne kadar uzakta durduğunun hiçbir önemi yok.</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Aynadaki yüzün de senin yüzün değil, sağı solu yer değiştirmiş gibi görünen bir kopyası; o kopya aynanın </a:t>
            </a:r>
            <a:pPr indent="0" marL="0">
              <a:lnSpc>
                <a:spcPct val="130000"/>
              </a:lnSpc>
              <a:buNone/>
            </a:pPr>
            <a:r>
              <a:rPr lang="en-US" sz="2150" b="1" dirty="0">
                <a:solidFill>
                  <a:srgbClr val="5F4BD8"/>
                </a:solidFill>
                <a:latin typeface="Cambria" pitchFamily="34" charset="0"/>
                <a:ea typeface="Cambria" pitchFamily="34" charset="-122"/>
                <a:cs typeface="Cambria" pitchFamily="34" charset="-120"/>
              </a:rPr>
              <a:t>arkasında hiç var olmayan bir yerde</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duruyor — oraya perde koysan hiçbir şey düşmez.</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Bütün bunlar tek bir kuraldan çıkıyor: </a:t>
            </a:r>
            <a:pPr indent="0" marL="0">
              <a:lnSpc>
                <a:spcPct val="130000"/>
              </a:lnSpc>
              <a:buNone/>
            </a:pPr>
            <a:r>
              <a:rPr lang="en-US" sz="2150" b="1" dirty="0">
                <a:solidFill>
                  <a:srgbClr val="5F4BD8"/>
                </a:solidFill>
                <a:latin typeface="Cambria" pitchFamily="34" charset="0"/>
                <a:ea typeface="Cambria" pitchFamily="34" charset="-122"/>
                <a:cs typeface="Cambria" pitchFamily="34" charset="-120"/>
              </a:rPr>
              <a:t>gelme açısı yansıma açısına eşittir.</a:t>
            </a:r>
            <a:endParaRPr lang="en-US" sz="215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aynaya bak, gördüğünü adlandır ve ışığın aynadan nasıl döndüğünü tanı.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aynada ne görürsün?</a:t>
            </a:r>
            <a:endParaRPr lang="en-US" sz="12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Yansıma yasası: ışık aynadan nasıl döner?</a:t>
            </a:r>
            <a:endParaRPr lang="en-US" sz="120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Düzgün ve dağınık yansıma: duvarda neden kendini göremezsin?</a:t>
            </a:r>
            <a:endParaRPr lang="en-US" sz="11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Düzlem aynada görüntünün özellikleri</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Tek kuraldan hesaba: görüntünün yerini, boy aynasını, hareket eden ve dönen aynayı, iki aynayı i = r'den türet.</a:t>
            </a:r>
            <a:endParaRPr lang="en-US" sz="11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Görüntü nasıl çizilir ve neden simetriktir?</a:t>
            </a:r>
            <a:endParaRPr lang="en-US" sz="1150" dirty="0"/>
          </a:p>
        </p:txBody>
      </p:sp>
      <p:sp>
        <p:nvSpPr>
          <p:cNvPr id="30" name="Text 28"/>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Boy aynası: yarısı yeter</a:t>
            </a:r>
            <a:endParaRPr lang="en-US" sz="1250" dirty="0"/>
          </a:p>
        </p:txBody>
      </p:sp>
      <p:sp>
        <p:nvSpPr>
          <p:cNvPr id="32" name="Text 30"/>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Cismin ve görüntünün hareketi</a:t>
            </a:r>
            <a:endParaRPr lang="en-US" sz="1250" dirty="0"/>
          </a:p>
        </p:txBody>
      </p:sp>
      <p:sp>
        <p:nvSpPr>
          <p:cNvPr id="34" name="Text 32"/>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Aynanın dönmesi: ışın neden iki kat döner?</a:t>
            </a:r>
            <a:endParaRPr lang="en-US" sz="1150" dirty="0"/>
          </a:p>
        </p:txBody>
      </p:sp>
      <p:sp>
        <p:nvSpPr>
          <p:cNvPr id="36" name="Text 34"/>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Sayılarla hisset: iki ayna, kaç görüntü?</a:t>
            </a:r>
            <a:endParaRPr lang="en-US" sz="120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İnce noktalar: ayna gerçekte neyi ters çevirir, paralel ve garip açılı aynalarda ne olur, düzlem aynalar nerede iş görür?</a:t>
            </a:r>
            <a:endParaRPr lang="en-US" sz="105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Ayna gerçekten sağı solu mu değiştirir?</a:t>
            </a:r>
            <a:endParaRPr lang="en-US" sz="125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İnce durumlar: paralel aynalar ve tam bölünmeyen açılar</a:t>
            </a:r>
            <a:endParaRPr lang="en-US" sz="120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Düzlem aynalar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aynaya bak, gördüğünü adlandır ve ışığın aynadan nasıl döndüğünü tanı.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aynada ne görürsün?</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Yansıma yasası: ışık aynadan nasıl döner?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Düzgün ve dağınık yansıma: duvarda neden kendini göremezsin?</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Düzlem aynada görüntünün özellikleri</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4/sek/duzlem-aynala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Shape 9"/>
          <p:cNvSpPr/>
          <p:nvPr/>
        </p:nvSpPr>
        <p:spPr>
          <a:xfrm>
            <a:off x="9704527" y="4198925"/>
            <a:ext cx="1755648" cy="246888"/>
          </a:xfrm>
          <a:prstGeom prst="roundRect">
            <a:avLst>
              <a:gd name="adj" fmla="val 48148"/>
            </a:avLst>
          </a:prstGeom>
          <a:solidFill>
            <a:srgbClr val="0E1426">
              <a:alpha val="60000"/>
            </a:srgbClr>
          </a:solidFill>
          <a:ln/>
        </p:spPr>
      </p:sp>
      <p:sp>
        <p:nvSpPr>
          <p:cNvPr id="13" name="Text 10"/>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4" name="Text 11"/>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Boy aynasının karşısında.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Kız sağ elini kaldırınca görüntü de tam karşısındaki eli kaldırıyor; görüntünün kendisine göre bu onun sol elidir. Görüntü, kız aynadan ne kadar öndeyse aynanın o kadar arkasında duruyor ve boyu kızınkiyle aynı; görselde küçük görünmesi yalnızca daha uzakta olmasındandır. Bütün boyunu görmek için bu kadar büyük bir aynaya gerek olmadığını ikinci basamakta göreceğiz.</a:t>
            </a:r>
            <a:endParaRPr lang="en-US" sz="1150" dirty="0"/>
          </a:p>
        </p:txBody>
      </p:sp>
      <p:sp>
        <p:nvSpPr>
          <p:cNvPr id="15" name="Shape 12"/>
          <p:cNvSpPr/>
          <p:nvPr/>
        </p:nvSpPr>
        <p:spPr>
          <a:xfrm>
            <a:off x="640080" y="6382512"/>
            <a:ext cx="128016" cy="128016"/>
          </a:xfrm>
          <a:prstGeom prst="roundRect">
            <a:avLst>
              <a:gd name="adj" fmla="val 28571"/>
            </a:avLst>
          </a:prstGeom>
          <a:solidFill>
            <a:srgbClr val="C6F36B"/>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aynada ne görürsün?</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Düzlem aynadaki görüntü aynanın arkasında, cisimle aynı uzaklıkta, aynı boyda ve düz durur; yazılar ise ters okunur. Ayna, arkasında bir oda varmış gibi görünen bir pencereye benzer.</a:t>
            </a:r>
            <a:endParaRPr lang="en-US" sz="1850" dirty="0"/>
          </a:p>
        </p:txBody>
      </p:sp>
      <p:sp>
        <p:nvSpPr>
          <p:cNvPr id="9" name="Text 7"/>
          <p:cNvSpPr txBox="1"/>
          <p:nvPr/>
        </p:nvSpPr>
        <p:spPr>
          <a:xfrm>
            <a:off x="640080" y="2593238"/>
            <a:ext cx="10911535" cy="3619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Sıradan bir düzlem aynaya her baktığında aynı dört şey gözlenir:</a:t>
            </a:r>
            <a:endParaRPr lang="en-US" sz="1700" dirty="0"/>
          </a:p>
        </p:txBody>
      </p:sp>
      <p:sp>
        <p:nvSpPr>
          <p:cNvPr id="10" name="Text 8"/>
          <p:cNvSpPr txBox="1"/>
          <p:nvPr/>
        </p:nvSpPr>
        <p:spPr>
          <a:xfrm>
            <a:off x="640080" y="3064916"/>
            <a:ext cx="10911535" cy="14478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Görüntü aynanın arkasındadır: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sen aynadan ne kadar öndeysen o kadar geride görünür.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Boy aynıdır: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görüntü ne büyür ne küçülür; uzaktan küçük görünmesi yalnızca uzaklıktandır.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Görüntü düzdür: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başın yukarıda, ayakların aşağıda kalır.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Yazılar ters okunur: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aynadaki harfler soldan sağa değil, sağdan sola dizilir.</a:t>
            </a:r>
            <a:endParaRPr lang="en-US" sz="1700" dirty="0"/>
          </a:p>
        </p:txBody>
      </p:sp>
      <p:sp>
        <p:nvSpPr>
          <p:cNvPr id="11" name="Text 9"/>
          <p:cNvSpPr txBox="1"/>
          <p:nvPr/>
        </p:nvSpPr>
        <p:spPr>
          <a:xfrm>
            <a:off x="640080" y="4622444"/>
            <a:ext cx="10911535" cy="7239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Bu dört gözlemin hepsinin tek bir sebebi var: ışığın aynaya çarpıp nasıl geri döndüğü.</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Önce o kuralı tanıyalım, sonra her gözlemi tek tek ondan çıkaralım.</a:t>
            </a:r>
            <a:endParaRPr lang="en-US" sz="1700" dirty="0"/>
          </a:p>
        </p:txBody>
      </p:sp>
      <p:sp>
        <p:nvSpPr>
          <p:cNvPr id="12" name="Shape 10"/>
          <p:cNvSpPr/>
          <p:nvPr/>
        </p:nvSpPr>
        <p:spPr>
          <a:xfrm>
            <a:off x="640080" y="6382512"/>
            <a:ext cx="128016" cy="128016"/>
          </a:xfrm>
          <a:prstGeom prst="roundRect">
            <a:avLst>
              <a:gd name="adj" fmla="val 28571"/>
            </a:avLst>
          </a:prstGeom>
          <a:solidFill>
            <a:srgbClr val="A9E648"/>
          </a:solidFill>
          <a:ln/>
        </p:spPr>
      </p:sp>
      <p:sp>
        <p:nvSpPr>
          <p:cNvPr id="13"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4"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Aynaya 1 m uzaklıkta duruyorsan görüntün senden kaç metre uzakta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aynada ne görürsün?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Aynaya 1 m uzaklıkta duruyorsan görüntün senden kaç metre uzakta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2 metre.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Görüntü aynanın yüzeyinde değil, aynanın 1 m arkasındadır. Sen aynanın 1 m önünde, görüntün 1 m arkasında olduğuna göre aradaki uzaklık 1 + 1 = 2 m eder. Göz de aynaya bakarken 2 m uzağa odaklanır.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Yansıma yasası: ışık aynadan nasıl döner?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Işık aynadan gelme açısına eşit bir açıyla yansır (i = r); gelen ışın, yansıyan ışın ve normal aynı düzlemde kalır. Açılar yüzeyden değil, normalden ölçülür.</a:t>
            </a:r>
            <a:endParaRPr lang="en-US" sz="1900" dirty="0"/>
          </a:p>
        </p:txBody>
      </p:sp>
      <p:sp>
        <p:nvSpPr>
          <p:cNvPr id="9" name="Text 7"/>
          <p:cNvSpPr txBox="1"/>
          <p:nvPr/>
        </p:nvSpPr>
        <p:spPr>
          <a:xfrm>
            <a:off x="640080" y="2294534"/>
            <a:ext cx="5486400" cy="96926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Gelme açısı, yansıma açısına eşittir: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 = 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Gelen ışın, yansıyan ışın ve normal aynı düzlemdedir.</a:t>
            </a:r>
            <a:endParaRPr lang="en-US" sz="1600" dirty="0"/>
          </a:p>
        </p:txBody>
      </p:sp>
      <p:sp>
        <p:nvSpPr>
          <p:cNvPr id="10" name="Shape 8"/>
          <p:cNvSpPr/>
          <p:nvPr/>
        </p:nvSpPr>
        <p:spPr>
          <a:xfrm>
            <a:off x="640080" y="3373526"/>
            <a:ext cx="5486400"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3519830"/>
            <a:ext cx="45720" cy="898398"/>
          </a:xfrm>
          <a:prstGeom prst="rect">
            <a:avLst/>
          </a:prstGeom>
          <a:solidFill>
            <a:srgbClr val="3C8C21"/>
          </a:solidFill>
          <a:ln/>
        </p:spPr>
      </p:sp>
      <p:sp>
        <p:nvSpPr>
          <p:cNvPr id="12" name="Text 10"/>
          <p:cNvSpPr txBox="1"/>
          <p:nvPr/>
        </p:nvSpPr>
        <p:spPr>
          <a:xfrm>
            <a:off x="914400" y="3483254"/>
            <a:ext cx="5029200"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Açılar normalle ölçülür.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Normal, yüzeye dik doğrultudur. “Işın yüzeyle 30° açı yapıyor” denirse gelme açısı 30° değil,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60°</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'dir.</a:t>
            </a:r>
            <a:endParaRPr lang="en-US" sz="1500" dirty="0"/>
          </a:p>
        </p:txBody>
      </p:sp>
      <p:sp>
        <p:nvSpPr>
          <p:cNvPr id="13" name="Shape 11"/>
          <p:cNvSpPr/>
          <p:nvPr/>
        </p:nvSpPr>
        <p:spPr>
          <a:xfrm>
            <a:off x="6419088" y="2294534"/>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duzlem-aynalar-01.png">    </p:cNvPr>
          <p:cNvPicPr>
            <a:picLocks noChangeAspect="1"/>
          </p:cNvPicPr>
          <p:nvPr/>
        </p:nvPicPr>
        <p:blipFill>
          <a:blip r:embed="rId1"/>
          <a:stretch>
            <a:fillRect/>
          </a:stretch>
        </p:blipFill>
        <p:spPr>
          <a:xfrm>
            <a:off x="6601968" y="2477414"/>
            <a:ext cx="4766767" cy="1986058"/>
          </a:xfrm>
          <a:prstGeom prst="rect">
            <a:avLst/>
          </a:prstGeom>
        </p:spPr>
      </p:pic>
      <p:sp>
        <p:nvSpPr>
          <p:cNvPr id="15" name="Shape 12"/>
          <p:cNvSpPr/>
          <p:nvPr/>
        </p:nvSpPr>
        <p:spPr>
          <a:xfrm>
            <a:off x="6601968" y="4554912"/>
            <a:ext cx="4766767" cy="0"/>
          </a:xfrm>
          <a:prstGeom prst="line">
            <a:avLst/>
          </a:prstGeom>
          <a:noFill/>
          <a:ln w="9525">
            <a:solidFill>
              <a:srgbClr val="E1E5EE"/>
            </a:solidFill>
            <a:prstDash val="dash"/>
          </a:ln>
        </p:spPr>
      </p:sp>
      <p:sp>
        <p:nvSpPr>
          <p:cNvPr id="16" name="Text 13"/>
          <p:cNvSpPr txBox="1"/>
          <p:nvPr/>
        </p:nvSpPr>
        <p:spPr>
          <a:xfrm>
            <a:off x="6601968" y="4609776"/>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Yansımanın tamamı iki cümledir: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gelme açısı yansıma açısına eşittir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gelen ışın, yansıyan ışın ile normal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düzlemdedir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Açılar her zaman yüzeyden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normalden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ölçülür — sınavda en sık kaybedilen puan buradan gider. Işık dik gelirse (i = 0) geldiği yoldan geri döner.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Gelen ışın ile yansıyan ışın arasındaki açı 90° ise gelme açısı kaç derecedir?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02 · Yansıma yasası: ışık aynadan nasıl döner?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Gelen ışın ile yansıyan ışın arasındaki açı 90° ise gelme açısı kaç derecedir?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45°.</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İki ışın arasındaki açı, gelme ve yansıma açılarının toplamıdır: i + r. Bu iki açı eşit olduğuna göre her biri 90°'nin yarısı, yani 45°'dir. Bu durumda ışın yüzeyle de 45° açı yapar.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300" b="1" spc="-50" kern="0" dirty="0">
                <a:solidFill>
                  <a:srgbClr val="0E1426"/>
                </a:solidFill>
                <a:latin typeface="Cambria" pitchFamily="34" charset="0"/>
                <a:ea typeface="Cambria" pitchFamily="34" charset="-122"/>
                <a:cs typeface="Cambria" pitchFamily="34" charset="-120"/>
              </a:rPr>
              <a:t>Düzgün ve dağınık yansıma: duvarda neden kendini göremezsin?</a:t>
            </a:r>
            <a:endParaRPr lang="en-US" sz="23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Pürüzsüz yüzeyde normaller aynı yöne baktığı için ışınlar düzenli yansır ve görüntü oluşur; pürüzlü yüzeyde normaller dağınık olduğu için görüntü oluşmaz. İki durumda da her ışın i = r kuralına uyar.</a:t>
            </a:r>
            <a:endParaRPr lang="en-US" sz="1850" dirty="0"/>
          </a:p>
        </p:txBody>
      </p:sp>
      <p:sp>
        <p:nvSpPr>
          <p:cNvPr id="9" name="Text 7"/>
          <p:cNvSpPr txBox="1"/>
          <p:nvPr/>
        </p:nvSpPr>
        <p:spPr>
          <a:xfrm>
            <a:off x="640080" y="2593238"/>
            <a:ext cx="5486400" cy="181051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Düzgün (aynasal) 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pürüzsüz yüzeyde paralel ışınlar paralel olarak yansır; görüntü oluşur. Ayna, durgun su, cilalı metal.</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Dağınık 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pürüzlü yüzeyde her ışın farklı yöne yansır; görüntü oluşmaz ama cisim her yönden görülebilir. Kâğıt, duvar, kumaş.</a:t>
            </a:r>
            <a:endParaRPr lang="en-US" sz="1600" dirty="0"/>
          </a:p>
        </p:txBody>
      </p:sp>
      <p:sp>
        <p:nvSpPr>
          <p:cNvPr id="10" name="Shape 8"/>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duzlem-aynalar-02.png">    </p:cNvPr>
          <p:cNvPicPr>
            <a:picLocks noChangeAspect="1"/>
          </p:cNvPicPr>
          <p:nvPr/>
        </p:nvPicPr>
        <p:blipFill>
          <a:blip r:embed="rId1"/>
          <a:stretch>
            <a:fillRect/>
          </a:stretch>
        </p:blipFill>
        <p:spPr>
          <a:xfrm>
            <a:off x="6669810" y="2776118"/>
            <a:ext cx="4631083" cy="1890979"/>
          </a:xfrm>
          <a:prstGeom prst="rect">
            <a:avLst/>
          </a:prstGeom>
        </p:spPr>
      </p:pic>
      <p:sp>
        <p:nvSpPr>
          <p:cNvPr id="12" name="Shape 9"/>
          <p:cNvSpPr/>
          <p:nvPr/>
        </p:nvSpPr>
        <p:spPr>
          <a:xfrm>
            <a:off x="6601968" y="4758538"/>
            <a:ext cx="4766767" cy="0"/>
          </a:xfrm>
          <a:prstGeom prst="line">
            <a:avLst/>
          </a:prstGeom>
          <a:noFill/>
          <a:ln w="9525">
            <a:solidFill>
              <a:srgbClr val="E1E5EE"/>
            </a:solidFill>
            <a:prstDash val="dash"/>
          </a:ln>
        </p:spPr>
      </p:sp>
      <p:sp>
        <p:nvSpPr>
          <p:cNvPr id="13" name="Text 10"/>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 durumda 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ışın i = r kuralına uyar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değişen tek şey yüzeyin normalleridir. Pürüzsüz yüzeyde bütün normaller aynı yöne baktığı için yansıyan ışınlar paralel kalır ve görüntü oluşur. Pürüzlü yüzeyde her noktanın normali farklı olduğundan ışınlar her yöne dağılır; bu yüzden duvarı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yerden görebiliriz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ama duvarda kendimizi göremeyiz.</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Durgun bir göl ağaçları ayna gibi yansıtır. Rüzgârlı bir günde görüntü neden kaybolur?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Düzgün ve dağınık yansıma: duvarda neden kendini göremezsin?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Durgun bir göl ağaçları ayna gibi yansıtır. Rüzgârlı bir günde görüntü neden kaybolur?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Dalgalar suyun yüzeyini pürüzlü hâle getirir. Her noktada ışın yine i = r kuralıyla yansır, ama dalgalı yüzeyin normalleri farklı yönlere baktığı için yansıyan ışınlar dağılır. Göz, bir ağacın bir noktasından gelen ışınları artık düzenli bir demet olarak alamaz ve görüntü parçalanır.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aynada görüntünün özellikleri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Düzlem aynada görüntü sanal, düz, cisimle aynı boyda ve aynaya cisimle aynı uzaklıktadır; sağ ile sol yer değiştirmiş görünür. Işınların yalnızca uzantıları kesiştiği için görüntü perdeye düşmez.</a:t>
            </a:r>
            <a:endParaRPr lang="en-US" sz="1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5486400" cy="914400"/>
        </p:xfrm>
        <a:graphic>
          <a:graphicData uri="http://schemas.openxmlformats.org/drawingml/2006/table">
            <a:tbl>
              <a:tblPr/>
              <a:tblGrid>
                <a:gridCol w="997527"/>
                <a:gridCol w="448887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Özellik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Düzlem aynada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Türü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sanal (perdeye düşmez)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Yönü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düz (ters değil)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Boyu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cisimle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Yeri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aynanın arkasında, eşit uzaklıkta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Simetri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sağ–sol yer değiştirmiş görünür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19088" y="2593238"/>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duzlem-aynalar-03.png">    </p:cNvPr>
          <p:cNvPicPr>
            <a:picLocks noChangeAspect="1"/>
          </p:cNvPicPr>
          <p:nvPr/>
        </p:nvPicPr>
        <p:blipFill>
          <a:blip r:embed="rId1"/>
          <a:stretch>
            <a:fillRect/>
          </a:stretch>
        </p:blipFill>
        <p:spPr>
          <a:xfrm>
            <a:off x="6601968" y="2776118"/>
            <a:ext cx="4766767" cy="2025876"/>
          </a:xfrm>
          <a:prstGeom prst="rect">
            <a:avLst/>
          </a:prstGeom>
        </p:spPr>
      </p:pic>
      <p:sp>
        <p:nvSpPr>
          <p:cNvPr id="12" name="Shape 8"/>
          <p:cNvSpPr/>
          <p:nvPr/>
        </p:nvSpPr>
        <p:spPr>
          <a:xfrm>
            <a:off x="6601968" y="4893434"/>
            <a:ext cx="4766767" cy="0"/>
          </a:xfrm>
          <a:prstGeom prst="line">
            <a:avLst/>
          </a:prstGeom>
          <a:noFill/>
          <a:ln w="9525">
            <a:solidFill>
              <a:srgbClr val="E1E5EE"/>
            </a:solidFill>
            <a:prstDash val="dash"/>
          </a:ln>
        </p:spPr>
      </p:sp>
      <p:sp>
        <p:nvSpPr>
          <p:cNvPr id="13" name="Text 9"/>
          <p:cNvSpPr txBox="1"/>
          <p:nvPr/>
        </p:nvSpPr>
        <p:spPr>
          <a:xfrm>
            <a:off x="6601968" y="4948298"/>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Görüntü aynanın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tam simetriğindedir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aynaya uzaklığı cisminkine eşittir, boyu cisminkiyle aynıdır ve düzdür. Ama bayrak ters tarafa bakar — çünkü ayna sağı solu değiştirir.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sanaldır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ışınlar gerçekte orada kesişmez, yalnızca uzantıları kesişir; oraya perde koysan hiçbir şey düşmez.</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Duvardaki akrepli saat tam 3'ü gösteriyor. Karşıdaki aynada saat kaçı gösteriyor gibi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Düzlem aynada görüntünün özellikleri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Duvardaki akrepli saat tam 3'ü gösteriyor. Karşıdaki aynada saat kaçı gösteriyor gibi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9'u.</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Ayna sağ ile solu yer değiştirmiş gösterdiği için akrep 3'ün yerine 9'un üzerinde görünür; yelkovan 12'de kaldığı için değişmez. Genel olarak aynada görünen saat, 12:00'den gerçek saatin çıkarılmasıyla bulunur: 12:00 − 3:00 = 9:00.</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Tek kuraldan hesaba: görüntünün yerini, boy aynasını, hareket eden ve dönen aynayı, iki aynayı i = r'den türet.</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Görüntü nasıl çizilir ve neden simetriktir?</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Boy aynası: yarısı yeter</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Cismin ve görüntünün hareketi</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Aynanın dönmesi: ışın neden iki kat döner?</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Sayılarla hisset: iki ayna, kaç görüntü?</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i = r</a:t>
            </a:r>
            <a:endParaRPr lang="en-US" sz="1500" dirty="0"/>
          </a:p>
        </p:txBody>
      </p:sp>
      <p:sp>
        <p:nvSpPr>
          <p:cNvPr id="14" name="Text 12"/>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gelme açısı = yansıma açısı</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277063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d(cisim) = d(görüntü)</a:t>
            </a:r>
            <a:endParaRPr lang="en-US" sz="1500" dirty="0"/>
          </a:p>
        </p:txBody>
      </p:sp>
      <p:sp>
        <p:nvSpPr>
          <p:cNvPr id="17" name="Text 15"/>
          <p:cNvSpPr txBox="1"/>
          <p:nvPr/>
        </p:nvSpPr>
        <p:spPr>
          <a:xfrm>
            <a:off x="9262872" y="2350008"/>
            <a:ext cx="210586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aynaya eşit uzaklık</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 = 360/α − 1</a:t>
            </a:r>
            <a:endParaRPr lang="en-US" sz="1500" dirty="0"/>
          </a:p>
        </p:txBody>
      </p:sp>
      <p:sp>
        <p:nvSpPr>
          <p:cNvPr id="20" name="Text 18"/>
          <p:cNvSpPr txBox="1"/>
          <p:nvPr/>
        </p:nvSpPr>
        <p:spPr>
          <a:xfrm>
            <a:off x="8311896" y="321868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iki ayna arasındaki görüntü</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L = h / 2</a:t>
            </a:r>
            <a:endParaRPr lang="en-US" sz="1500" dirty="0"/>
          </a:p>
        </p:txBody>
      </p:sp>
      <p:sp>
        <p:nvSpPr>
          <p:cNvPr id="23" name="Text 21"/>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gereken ayna boyu</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Görüntü nasıl çizilir ve neden simetriktir?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Görüntüyü bulmak için iki ışını i = r ile yansıtıp uzantılarını kesiştirmek ya da cismin aynaya göre simetriğini almak yeter; eş üçgenler ikisinin aynı noktayı verdiğini kanıtlar.</a:t>
            </a:r>
            <a:endParaRPr lang="en-US" sz="1850" dirty="0"/>
          </a:p>
        </p:txBody>
      </p:sp>
      <p:sp>
        <p:nvSpPr>
          <p:cNvPr id="9" name="Text 7"/>
          <p:cNvSpPr txBox="1"/>
          <p:nvPr/>
        </p:nvSpPr>
        <p:spPr>
          <a:xfrm>
            <a:off x="640080" y="2593238"/>
            <a:ext cx="6675120" cy="116738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dirty="0">
                <a:solidFill>
                  <a:srgbClr val="4A5470"/>
                </a:solidFill>
                <a:latin typeface="Calibri" pitchFamily="34" charset="0"/>
                <a:ea typeface="Calibri" pitchFamily="34" charset="-122"/>
                <a:cs typeface="Calibri" pitchFamily="34" charset="-120"/>
              </a:rPr>
              <a:t>Cisimden aynaya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iki ışın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gönder.</a:t>
            </a:r>
            <a:endParaRPr lang="en-US" sz="1300" dirty="0"/>
          </a:p>
          <a:p>
            <a:pPr marL="228600" indent="-228600">
              <a:lnSpc>
                <a:spcPct val="115000"/>
              </a:lnSpc>
              <a:spcAft>
                <a:spcPts val="500"/>
              </a:spcAft>
              <a:buSzPct val="100000"/>
              <a:buFont typeface="+mj-lt"/>
              <a:buAutoNum type="arabicPeriod" startAt="1"/>
            </a:pPr>
            <a:r>
              <a:rPr lang="en-US" sz="1300" dirty="0">
                <a:solidFill>
                  <a:srgbClr val="4A5470"/>
                </a:solidFill>
                <a:latin typeface="Calibri" pitchFamily="34" charset="0"/>
                <a:ea typeface="Calibri" pitchFamily="34" charset="-122"/>
                <a:cs typeface="Calibri" pitchFamily="34" charset="-120"/>
              </a:rPr>
              <a:t>Her birini yansıma yasasına göre yansıt (i = r).</a:t>
            </a:r>
            <a:endParaRPr lang="en-US" sz="1300" dirty="0"/>
          </a:p>
          <a:p>
            <a:pPr marL="228600" indent="-228600">
              <a:lnSpc>
                <a:spcPct val="115000"/>
              </a:lnSpc>
              <a:spcAft>
                <a:spcPts val="500"/>
              </a:spcAft>
              <a:buSzPct val="100000"/>
              <a:buFont typeface="+mj-lt"/>
              <a:buAutoNum type="arabicPeriod" startAt="1"/>
            </a:pPr>
            <a:r>
              <a:rPr lang="en-US" sz="1300" dirty="0">
                <a:solidFill>
                  <a:srgbClr val="4A5470"/>
                </a:solidFill>
                <a:latin typeface="Calibri" pitchFamily="34" charset="0"/>
                <a:ea typeface="Calibri" pitchFamily="34" charset="-122"/>
                <a:cs typeface="Calibri" pitchFamily="34" charset="-120"/>
              </a:rPr>
              <a:t>Yansıyan ışınları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geriye, kesikli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uzat.</a:t>
            </a:r>
            <a:endParaRPr lang="en-US" sz="1300" dirty="0"/>
          </a:p>
          <a:p>
            <a:pPr marL="228600" indent="-228600">
              <a:lnSpc>
                <a:spcPct val="115000"/>
              </a:lnSpc>
              <a:spcAft>
                <a:spcPts val="500"/>
              </a:spcAft>
              <a:buSzPct val="100000"/>
              <a:buFont typeface="+mj-lt"/>
              <a:buAutoNum type="arabicPeriod" startAt="1"/>
            </a:pPr>
            <a:r>
              <a:rPr lang="en-US" sz="1300" dirty="0">
                <a:solidFill>
                  <a:srgbClr val="4A5470"/>
                </a:solidFill>
                <a:latin typeface="Calibri" pitchFamily="34" charset="0"/>
                <a:ea typeface="Calibri" pitchFamily="34" charset="-122"/>
                <a:cs typeface="Calibri" pitchFamily="34" charset="-120"/>
              </a:rPr>
              <a:t>Uzantıların kesiştiği nokta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görüntüdür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10" name="Text 8"/>
          <p:cNvSpPr txBox="1"/>
          <p:nvPr/>
        </p:nvSpPr>
        <p:spPr>
          <a:xfrm>
            <a:off x="640080" y="3906926"/>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Simetri nereden geliyor?</a:t>
            </a:r>
            <a:endParaRPr lang="en-US" sz="1350" dirty="0"/>
          </a:p>
        </p:txBody>
      </p:sp>
      <p:sp>
        <p:nvSpPr>
          <p:cNvPr id="11" name="Shape 9"/>
          <p:cNvSpPr/>
          <p:nvPr/>
        </p:nvSpPr>
        <p:spPr>
          <a:xfrm>
            <a:off x="7607808" y="2593238"/>
            <a:ext cx="3943807" cy="3327210"/>
          </a:xfrm>
          <a:prstGeom prst="roundRect">
            <a:avLst>
              <a:gd name="adj" fmla="val 439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4/sek/duzlem-aynalar-04.png">    </p:cNvPr>
          <p:cNvPicPr>
            <a:picLocks noChangeAspect="1"/>
          </p:cNvPicPr>
          <p:nvPr/>
        </p:nvPicPr>
        <p:blipFill>
          <a:blip r:embed="rId1"/>
          <a:stretch>
            <a:fillRect/>
          </a:stretch>
        </p:blipFill>
        <p:spPr>
          <a:xfrm>
            <a:off x="7790688" y="2776118"/>
            <a:ext cx="3578047" cy="1505726"/>
          </a:xfrm>
          <a:prstGeom prst="rect">
            <a:avLst/>
          </a:prstGeom>
        </p:spPr>
      </p:pic>
      <p:sp>
        <p:nvSpPr>
          <p:cNvPr id="13" name="Shape 10"/>
          <p:cNvSpPr/>
          <p:nvPr/>
        </p:nvSpPr>
        <p:spPr>
          <a:xfrm>
            <a:off x="7790688" y="4373284"/>
            <a:ext cx="3578047" cy="0"/>
          </a:xfrm>
          <a:prstGeom prst="line">
            <a:avLst/>
          </a:prstGeom>
          <a:noFill/>
          <a:ln w="9525">
            <a:solidFill>
              <a:srgbClr val="E1E5EE"/>
            </a:solidFill>
            <a:prstDash val="dash"/>
          </a:ln>
        </p:spPr>
      </p:sp>
      <p:sp>
        <p:nvSpPr>
          <p:cNvPr id="14" name="Text 11"/>
          <p:cNvSpPr txBox="1"/>
          <p:nvPr/>
        </p:nvSpPr>
        <p:spPr>
          <a:xfrm>
            <a:off x="7790688" y="4428148"/>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Görüntüyü çizmek için cismin bir noktasından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iki ışın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göndermek yeter: ikisi de i = r kuralıyla yansır. Yansıyan ışınlar göze ulaştığında göz onları düz bir çizgi boyunca geri izler ve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aynanın arkasında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noktada birleştirir. Işınlar orada gerçekten buluşmaz — buluşan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uzantılarıdır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Sanal görüntü tam olarak budur.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Görüntü nasıl çizilir ve neden simetriktir? · devam</a:t>
            </a:r>
            <a:endParaRPr lang="en-US" sz="27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62306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Kur: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Cisim A noktasında olsun; A'dan aynaya bir dik indir, ayağına H de. A'dan çıkan bir ışın aynaya O noktasında çarpsın.</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Uzat: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Yansıyan ışını aynanın arkasına, AH dikmesini de aynı yöne uzat; ikisi A′ noktasında kesişsin.</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Açıları karşılaştır: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 = r olduğundan gelen ve yansıyan ışının yüzeyle yaptığı açılar eşittir; uzantı da ters açı olarak aynı açıyı yapar.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Eş üçgenler: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AHO ile A′HO üçgenlerinde H'deki açılar 90°, O'daki açılar eşit ve HO kenarı ortaktır. Üçgenler eştir, yani AH = A′H.</a:t>
            </a:r>
            <a:endParaRPr lang="en-US" sz="1300" dirty="0"/>
          </a:p>
        </p:txBody>
      </p:sp>
      <p:sp>
        <p:nvSpPr>
          <p:cNvPr id="7" name="Shape 5"/>
          <p:cNvSpPr/>
          <p:nvPr/>
        </p:nvSpPr>
        <p:spPr>
          <a:xfrm>
            <a:off x="640080" y="6382512"/>
            <a:ext cx="128016" cy="128016"/>
          </a:xfrm>
          <a:prstGeom prst="roundRect">
            <a:avLst>
              <a:gd name="adj" fmla="val 28571"/>
            </a:avLst>
          </a:prstGeom>
          <a:solidFill>
            <a:srgbClr val="A9E648"/>
          </a:solidFill>
          <a:ln/>
        </p:spPr>
      </p:sp>
      <p:sp>
        <p:nvSpPr>
          <p:cNvPr id="8"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9"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Boy aynası: yarısı yeter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Kendini tepeden tırnağa görmek için boyunun yarısı kadar bir ayna yeter (L = h/2); alt kenarı göz yüksekliğinin yarısında olmalıdır. Aynaya olan uzaklık bu sonucu değiştirmez.</a:t>
            </a:r>
            <a:endParaRPr lang="en-US" sz="1850" dirty="0"/>
          </a:p>
        </p:txBody>
      </p:sp>
      <p:sp>
        <p:nvSpPr>
          <p:cNvPr id="9" name="Text 7"/>
          <p:cNvSpPr txBox="1"/>
          <p:nvPr/>
        </p:nvSpPr>
        <p:spPr>
          <a:xfrm>
            <a:off x="640080" y="2593238"/>
            <a:ext cx="10911535" cy="139522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Ayak: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Göz, ayağın görüntüsüne düz bir çizgiyle bakar. Ayna bu çizginin yatayda tam ortasında durduğu için çizgiyi yüksekliklerin ortasında, y/2'de keser.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Baş:</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Aynı akıl yürütmeyle başın tepesinden gelen ışın (h + y)/2 yüksekliğinde yansır.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Fark: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Ayna en az bu iki nokta arası kadar olmalı: (h + y)/2 − y/2 = h/2.</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Uzaklık: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Hesabın hiçbir adımında aynaya uzaklık geçmedi; sonuç uzaklıktan bağımsızdır.</a:t>
            </a:r>
            <a:endParaRPr lang="en-US" sz="13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Boy aynası: yarısı yeter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34599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1481328"/>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L = h / 2</a:t>
            </a:r>
            <a:endParaRPr lang="en-US" sz="1300" dirty="0"/>
          </a:p>
        </p:txBody>
      </p:sp>
      <p:sp>
        <p:nvSpPr>
          <p:cNvPr id="8" name="Shape 6"/>
          <p:cNvSpPr/>
          <p:nvPr/>
        </p:nvSpPr>
        <p:spPr>
          <a:xfrm>
            <a:off x="2095805" y="1481328"/>
            <a:ext cx="213603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095805" y="148132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alt kenar = y / 2</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911535" cy="914400"/>
        </p:xfrm>
        <a:graphic>
          <a:graphicData uri="http://schemas.openxmlformats.org/drawingml/2006/table">
            <a:tbl>
              <a:tblPr/>
              <a:tblGrid>
                <a:gridCol w="1776296"/>
                <a:gridCol w="4567619"/>
                <a:gridCol w="2283810"/>
                <a:gridCol w="228381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Boy (h)</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Göz yüksekliği (y)</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Ayna boyu</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Alt kenar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120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110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160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180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170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188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94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Aynadan geri geri uzaklaşırsan aynada kendinin daha büyük bir bölümünü görür müsün?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Boy aynası: yarısı yeter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Aynadan geri geri uzaklaşırsan aynada kendinin daha büyük bir bölümünü görür müsün?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Hayır.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Uzaklaştıkça görüntün de aynanın arkasında aynı ölçüde uzaklaşır; ayak ve baştan gelen ışınların aynaya çarptığı yükseklikler (y/2 ve (h + y)/2) hiç değişmez. Görüntün gözüne küçük görünür, ama aynada bedeninin gördüğün bölümü aynı kalır.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Cismin ve görüntünün hareketi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Cisim aynaya v ile yaklaşırsa görüntü de v ile yaklaşır ve ikisi birbirine 2v ile yaklaşır. Cisim dururken ayna v ile hareket ederse görüntü 2v ile hareket eder.</a:t>
            </a:r>
            <a:endParaRPr lang="en-US" sz="1900" dirty="0"/>
          </a:p>
        </p:txBody>
      </p:sp>
      <p:sp>
        <p:nvSpPr>
          <p:cNvPr id="9" name="Text 7"/>
          <p:cNvSpPr txBox="1"/>
          <p:nvPr/>
        </p:nvSpPr>
        <p:spPr>
          <a:xfrm>
            <a:off x="640080" y="2294534"/>
            <a:ext cx="6675120" cy="224256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Cisim yaklaşıyor: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Cisim 1 s'de aynaya v kadar yaklaşırsa aynaya uzaklığı v azalır; görüntünün uzaklığı da v azalır. Görüntü de v hızıyla aynaya yaklaşır.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Zıt yönler: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İkisi zıt yönlerde hareket ettiği için aralarındaki uzaklık (aynaya uzaklığın iki katı) her saniye 2v kısalır: birbirlerine göre hızları 2v'dir.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Ayna yaklaşıyor: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Cisim dururken ayna 1 s'de v yaklaşırsa cisim–ayna uzaklığı v, cisim–görüntü uzaklığı 2v kısalır. Görüntü yere göre 2v hızıyla gelir.</a:t>
            </a:r>
            <a:endParaRPr lang="en-US" sz="1300" dirty="0"/>
          </a:p>
        </p:txBody>
      </p:sp>
      <p:sp>
        <p:nvSpPr>
          <p:cNvPr id="10" name="Text 8"/>
          <p:cNvSpPr txBox="1"/>
          <p:nvPr/>
        </p:nvSpPr>
        <p:spPr>
          <a:xfrm>
            <a:off x="640080" y="4646828"/>
            <a:ext cx="6675120" cy="133121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Cisim aynaya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hızıyla yaklaşırsa görüntü de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hızıyla yaklaşır;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birbirlerine göre hızları 2v</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olur.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Cisim aynaya paralel hareket ederse görüntü de aynı yönde, aynı hızla hareket eder.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Ayna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cisme doğru v hızıyla hareket ederse görüntü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2v</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hızıyla yaklaşır.</a:t>
            </a:r>
            <a:endParaRPr lang="en-US" sz="1300" dirty="0"/>
          </a:p>
        </p:txBody>
      </p:sp>
      <p:sp>
        <p:nvSpPr>
          <p:cNvPr id="11" name="Shape 9"/>
          <p:cNvSpPr/>
          <p:nvPr/>
        </p:nvSpPr>
        <p:spPr>
          <a:xfrm>
            <a:off x="7607808" y="2294534"/>
            <a:ext cx="3943807" cy="2984030"/>
          </a:xfrm>
          <a:prstGeom prst="roundRect">
            <a:avLst>
              <a:gd name="adj" fmla="val 490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4/sek/duzlem-aynalar-05.png">    </p:cNvPr>
          <p:cNvPicPr>
            <a:picLocks noChangeAspect="1"/>
          </p:cNvPicPr>
          <p:nvPr/>
        </p:nvPicPr>
        <p:blipFill>
          <a:blip r:embed="rId1"/>
          <a:stretch>
            <a:fillRect/>
          </a:stretch>
        </p:blipFill>
        <p:spPr>
          <a:xfrm>
            <a:off x="7790688" y="2477414"/>
            <a:ext cx="3578047" cy="1341768"/>
          </a:xfrm>
          <a:prstGeom prst="rect">
            <a:avLst/>
          </a:prstGeom>
        </p:spPr>
      </p:pic>
      <p:sp>
        <p:nvSpPr>
          <p:cNvPr id="13" name="Shape 10"/>
          <p:cNvSpPr/>
          <p:nvPr/>
        </p:nvSpPr>
        <p:spPr>
          <a:xfrm>
            <a:off x="7790688" y="3910622"/>
            <a:ext cx="3578047" cy="0"/>
          </a:xfrm>
          <a:prstGeom prst="line">
            <a:avLst/>
          </a:prstGeom>
          <a:noFill/>
          <a:ln w="9525">
            <a:solidFill>
              <a:srgbClr val="E1E5EE"/>
            </a:solidFill>
            <a:prstDash val="dash"/>
          </a:ln>
        </p:spPr>
      </p:sp>
      <p:sp>
        <p:nvSpPr>
          <p:cNvPr id="14" name="Text 11"/>
          <p:cNvSpPr txBox="1"/>
          <p:nvPr/>
        </p:nvSpPr>
        <p:spPr>
          <a:xfrm>
            <a:off x="7790688" y="3965486"/>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Cisim aynaya yaklaşırken görüntü de aynı hızla yaklaşır —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ters yönde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yüzden cisimle görüntüsü arasındaki uzaklık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2v</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hızıyla kapanır. Aynanın kendisi cisme doğru v ile hareket ederse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2v</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ile yaklaşır; bunları karıştırmamak için her seferinde "kim kime göre" diye sormak gerekir.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Aynanın dönmesi: ışın neden iki kat döner?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Gelen ışın sabitken ayna α kadar dönerse normal de α döner; gelme ve yansıma açılarının ikisi birden α değiştiği için yansıyan ışın 2α döner.</a:t>
            </a:r>
            <a:endParaRPr lang="en-US" sz="1900" dirty="0"/>
          </a:p>
        </p:txBody>
      </p:sp>
      <p:sp>
        <p:nvSpPr>
          <p:cNvPr id="9" name="Text 7"/>
          <p:cNvSpPr txBox="1"/>
          <p:nvPr/>
        </p:nvSpPr>
        <p:spPr>
          <a:xfrm>
            <a:off x="640080" y="2294534"/>
            <a:ext cx="5486400" cy="277977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Başlangıç:</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Gelme açısı i ise yansıma açısı da i'dir; gelen ile yansıyan ışın arasındaki açı 2i olur.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Dönme:</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Ayna α dönünce normali de α döner; gelme açısı i + α olur.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Yansıma açısı da i + α olur; ışınlar arası açı 2i + 2α'ya çıkar.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Gelen ışın hiç kıpırdamadığına göre 2α'lık artışın tamamı yansıyan ışına aittir.</a:t>
            </a:r>
            <a:endParaRPr lang="en-US" sz="1600" dirty="0"/>
          </a:p>
        </p:txBody>
      </p:sp>
      <p:sp>
        <p:nvSpPr>
          <p:cNvPr id="10" name="Shape 8"/>
          <p:cNvSpPr/>
          <p:nvPr/>
        </p:nvSpPr>
        <p:spPr>
          <a:xfrm>
            <a:off x="640080" y="5184038"/>
            <a:ext cx="2827325"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5184038"/>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Δ(yansıyan ışın) = 2 · α</a:t>
            </a:r>
            <a:endParaRPr lang="en-US" sz="1300" dirty="0"/>
          </a:p>
        </p:txBody>
      </p:sp>
      <p:sp>
        <p:nvSpPr>
          <p:cNvPr id="12" name="Shape 10"/>
          <p:cNvSpPr/>
          <p:nvPr/>
        </p:nvSpPr>
        <p:spPr>
          <a:xfrm>
            <a:off x="6419088" y="2294534"/>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8a8328c3-841c-44fa-b76f-82572d338d3d/scratchpad/d4/sek/duzlem-aynalar-06.png">    </p:cNvPr>
          <p:cNvPicPr>
            <a:picLocks noChangeAspect="1"/>
          </p:cNvPicPr>
          <p:nvPr/>
        </p:nvPicPr>
        <p:blipFill>
          <a:blip r:embed="rId1"/>
          <a:stretch>
            <a:fillRect/>
          </a:stretch>
        </p:blipFill>
        <p:spPr>
          <a:xfrm>
            <a:off x="6601968" y="2477414"/>
            <a:ext cx="4766767" cy="2025876"/>
          </a:xfrm>
          <a:prstGeom prst="rect">
            <a:avLst/>
          </a:prstGeom>
        </p:spPr>
      </p:pic>
      <p:sp>
        <p:nvSpPr>
          <p:cNvPr id="14" name="Shape 11"/>
          <p:cNvSpPr/>
          <p:nvPr/>
        </p:nvSpPr>
        <p:spPr>
          <a:xfrm>
            <a:off x="6601968" y="4594730"/>
            <a:ext cx="4766767" cy="0"/>
          </a:xfrm>
          <a:prstGeom prst="line">
            <a:avLst/>
          </a:prstGeom>
          <a:noFill/>
          <a:ln w="9525">
            <a:solidFill>
              <a:srgbClr val="E1E5EE"/>
            </a:solidFill>
            <a:prstDash val="dash"/>
          </a:ln>
        </p:spPr>
      </p:sp>
      <p:sp>
        <p:nvSpPr>
          <p:cNvPr id="15" name="Text 12"/>
          <p:cNvSpPr txBox="1"/>
          <p:nvPr/>
        </p:nvSpPr>
        <p:spPr>
          <a:xfrm>
            <a:off x="6601968" y="46495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Gelen ışını hiç değiştirmeden aynayı α kadar döndürürsen, yansıyan ışın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kadar döner. Sebebi şu: ayna döndüğünde normali de α kadar döner, hem gelme hem yansıma açısı α değişir ve ikisi toplanır. Ayna galvanometresi, lazer tarayıcılar ve barkod okuyucular küçük bir dönmeyi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iki katına büyütmek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için tam olarak bunu kullanır.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iki ayna, kaç görüntü?</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Aralarında α açısı olan iki aynada, 360/α tam sayı ve cisim açıortaydayken n = 360/α − 1 görüntü oluşur ve görüntüler cisimle birlikte bir çember üzerinde dizilir. Açı yarıya inince kopya sayısı iki katına çıkar.</a:t>
            </a:r>
            <a:endParaRPr lang="en-US" sz="1850" dirty="0"/>
          </a:p>
        </p:txBody>
      </p:sp>
      <p:sp>
        <p:nvSpPr>
          <p:cNvPr id="9" name="Shape 7"/>
          <p:cNvSpPr/>
          <p:nvPr/>
        </p:nvSpPr>
        <p:spPr>
          <a:xfrm>
            <a:off x="640080" y="2593238"/>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360 / α − 1</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3215030"/>
          <a:ext cx="5486400" cy="914400"/>
        </p:xfrm>
        <a:graphic>
          <a:graphicData uri="http://schemas.openxmlformats.org/drawingml/2006/table">
            <a:tbl>
              <a:tblPr/>
              <a:tblGrid>
                <a:gridCol w="2584502"/>
                <a:gridCol w="997527"/>
                <a:gridCol w="190437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Aynalar arası 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360 / 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 sayısı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180° (tek düz ayna)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2" name="Shape 9"/>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8a8328c3-841c-44fa-b76f-82572d338d3d/scratchpad/d4/sek/duzlem-aynalar-07.png">    </p:cNvPr>
          <p:cNvPicPr>
            <a:picLocks noChangeAspect="1"/>
          </p:cNvPicPr>
          <p:nvPr/>
        </p:nvPicPr>
        <p:blipFill>
          <a:blip r:embed="rId1"/>
          <a:stretch>
            <a:fillRect/>
          </a:stretch>
        </p:blipFill>
        <p:spPr>
          <a:xfrm>
            <a:off x="7212525" y="2776118"/>
            <a:ext cx="3545653" cy="1890979"/>
          </a:xfrm>
          <a:prstGeom prst="rect">
            <a:avLst/>
          </a:prstGeom>
        </p:spPr>
      </p:pic>
      <p:sp>
        <p:nvSpPr>
          <p:cNvPr id="14" name="Shape 10"/>
          <p:cNvSpPr/>
          <p:nvPr/>
        </p:nvSpPr>
        <p:spPr>
          <a:xfrm>
            <a:off x="6601968" y="4758538"/>
            <a:ext cx="4766767" cy="0"/>
          </a:xfrm>
          <a:prstGeom prst="line">
            <a:avLst/>
          </a:prstGeom>
          <a:noFill/>
          <a:ln w="9525">
            <a:solidFill>
              <a:srgbClr val="E1E5EE"/>
            </a:solidFill>
            <a:prstDash val="dash"/>
          </a:ln>
        </p:spPr>
      </p:sp>
      <p:sp>
        <p:nvSpPr>
          <p:cNvPr id="15" name="Text 11"/>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 ayna arasındaki cisim, yalnızca kendini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görüntülerin görüntülerini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 yansıtır. Bütün görüntüler, aynaların kesiştiği noktayı merkez alan bir çember üzerinde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eşit aralıklarla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dizilir. Açı küçüldükçe çembere daha çok görüntü sığar: n = 360/α − 1. Aynalar paralel olursa (α = 0) görüntü sayısı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sonsuza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gider — berber aynalarındaki o bitmeyen koridorun sebebi budur.</a:t>
            </a:r>
            <a:endParaRPr lang="en-US" sz="1050" dirty="0"/>
          </a:p>
        </p:txBody>
      </p:sp>
      <p:sp>
        <p:nvSpPr>
          <p:cNvPr id="16" name="Shape 12"/>
          <p:cNvSpPr/>
          <p:nvPr/>
        </p:nvSpPr>
        <p:spPr>
          <a:xfrm>
            <a:off x="640080" y="6382512"/>
            <a:ext cx="128016" cy="128016"/>
          </a:xfrm>
          <a:prstGeom prst="roundRect">
            <a:avLst>
              <a:gd name="adj" fmla="val 28571"/>
            </a:avLst>
          </a:prstGeom>
          <a:solidFill>
            <a:srgbClr val="A9E648"/>
          </a:solidFill>
          <a:ln/>
        </p:spPr>
      </p:sp>
      <p:sp>
        <p:nvSpPr>
          <p:cNvPr id="17"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8"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İnce noktalar: ayna gerçekte neyi ters çevirir, paralel ve garip açılı aynalarda ne olur, düzlem aynalar nerede iş görür?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Ayna gerçekten sağı solu mu değiştirir?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İnce durumlar: paralel aynalar ve tam bölünmeyen açılar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Düzlem aynalar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duzlem-aynala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Görünmeden görmek.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Periskop, ışığı iki kez 90° çevirerek su yüzeyinin üstündeki manzarayı aşağıdaki gözcüye indirir. Borunun iki ucundaki yansıtıcılar birbirine paraleldir; ışın iki yansımadan sonra ilk yönüne paralel çıkar ve ufuktaki gemi düz görünür.</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gerçekten sağı solu mu değiştirir?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Düzlem ayna yalnızca aynaya dik doğrultuyu, yani önü ile arkayı ters çevirir; sağ–sol izlenimi bunun sonucudur. İki yansıma bu terslemeyi geri alır.</a:t>
            </a:r>
            <a:endParaRPr lang="en-US" sz="1900" dirty="0"/>
          </a:p>
        </p:txBody>
      </p:sp>
      <p:sp>
        <p:nvSpPr>
          <p:cNvPr id="9" name="Text 7"/>
          <p:cNvSpPr txBox="1"/>
          <p:nvPr/>
        </p:nvSpPr>
        <p:spPr>
          <a:xfrm>
            <a:off x="640080" y="2294534"/>
            <a:ext cx="10911535" cy="138379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Aynada sağ elin görüntünün sol eli gibi görünür.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Ama bir bilmece var: ayna sağı solu değiştiriyorsa neden altı üstü değiştirmiyor?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Aynanın yatayı düşeyden ayırması için hiçbir sebep yoktur; ikisi de aynanın yüzeyine paraleldir.</a:t>
            </a:r>
            <a:endParaRPr lang="en-US" sz="1700" dirty="0"/>
          </a:p>
        </p:txBody>
      </p:sp>
      <p:sp>
        <p:nvSpPr>
          <p:cNvPr id="10" name="Text 8"/>
          <p:cNvSpPr txBox="1"/>
          <p:nvPr/>
        </p:nvSpPr>
        <p:spPr>
          <a:xfrm>
            <a:off x="640080" y="3788054"/>
            <a:ext cx="10911535" cy="10858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Aynaya dik doğrultu ters döner: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aynaya bakan yüzün görüntüsü sana bakar.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Aynaya paralel doğrultular değişmez:</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yukarı yukarıda, sağ taraf sağda kalır.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Yatay ayna düşeyi çevirir: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durgun gölde ağaçların baş aşağı görünmesi bundandır.</a:t>
            </a:r>
            <a:endParaRPr lang="en-US" sz="17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Birbirine dik iki aynanın köşesine bakıp sağ gözünü kırparsan görüntü hangi gözünü kırpar?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Ayna gerçekten sağı solu mu değiştirir?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Birbirine dik iki aynanın köşesine bakıp sağ gözünü kırparsan görüntü hangi gözünü kırpar?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Kendi sağ gözünü.</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İki yansıma terslemeyi geri aldığı için görüntü, karşında duran biri gibidir; onun sağ gözü senin görüş alanında sol tarafta kalır. Tek bir düz aynada ise görüntü kendi sol gözünü kırpar ve bu göz senin kırptığın gözün tam karşısındadır.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İnce durumlar: paralel aynalar ve tam bölünmeyen açılar</a:t>
            </a:r>
            <a:endParaRPr lang="en-US" sz="25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Paralel aynalarda görüntü sayısı kuramsal olarak sonsuzdur, ama her yansımada ışık zayıfladığı için uzaktakiler kararır. 360/α tek sayıysa açıortaydaki cisim için bir görüntü eksilir; tam bölünmüyorsa sayı cismin yerine bağlıdır.</a:t>
            </a:r>
            <a:endParaRPr lang="en-US" sz="18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3463979"/>
                <a:gridCol w="2771184"/>
                <a:gridCol w="4676372"/>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360 / 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Cismin yeri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 sayısı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Çift sayı (4, 6, 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her yerde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360/α − 1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Tek sayı (3, 5, 9…)</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açıortayda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360/α − 1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Tek sayı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açıortay dışında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360/α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Tam sayı değil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yerine bağlı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tam kısmı ya da bir fazlası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640080" y="4412894"/>
            <a:ext cx="10911535"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4559198"/>
            <a:ext cx="45720" cy="950976"/>
          </a:xfrm>
          <a:prstGeom prst="rect">
            <a:avLst/>
          </a:prstGeom>
          <a:solidFill>
            <a:srgbClr val="A56209"/>
          </a:solidFill>
          <a:ln/>
        </p:spPr>
      </p:sp>
      <p:sp>
        <p:nvSpPr>
          <p:cNvPr id="12" name="Text 9"/>
          <p:cNvSpPr txBox="1"/>
          <p:nvPr/>
        </p:nvSpPr>
        <p:spPr>
          <a:xfrm>
            <a:off x="914400" y="4522622"/>
            <a:ext cx="10454335" cy="10241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360/α tam bölünmezse</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sayısı, cismin aynalara göre yerine bağlı olarak bölümün tam kısmı ya da bir fazlası kadardır. 360/α tek sayı çıkarsa, cisim açıortay üzerindeyken bir görüntü eksilir. Bu ayrıntılar ileri düzey sorularda karşımıza çıkar.</a:t>
            </a:r>
            <a:endParaRPr lang="en-US" sz="16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aynalar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Periskop, köşe yansıtıcı, kaleydoskop ve lazer tarayıcı aynı birkaç kuralı kullanır: i = r, iki aynada ışının 2α dönmesi ve iki ayna arasında çoğalan görüntüler.</a:t>
            </a:r>
            <a:endParaRPr lang="en-US" sz="1900" dirty="0"/>
          </a:p>
        </p:txBody>
      </p:sp>
      <p:sp>
        <p:nvSpPr>
          <p:cNvPr id="9" name="Shape 7"/>
          <p:cNvSpPr/>
          <p:nvPr/>
        </p:nvSpPr>
        <p:spPr>
          <a:xfrm>
            <a:off x="640080" y="2294534"/>
            <a:ext cx="10911535" cy="858012"/>
          </a:xfrm>
          <a:prstGeom prst="roundRect">
            <a:avLst>
              <a:gd name="adj" fmla="val 127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2440838"/>
            <a:ext cx="45720" cy="565404"/>
          </a:xfrm>
          <a:prstGeom prst="rect">
            <a:avLst/>
          </a:prstGeom>
          <a:solidFill>
            <a:srgbClr val="3C8C21"/>
          </a:solidFill>
          <a:ln/>
        </p:spPr>
      </p:sp>
      <p:sp>
        <p:nvSpPr>
          <p:cNvPr id="11" name="Text 9"/>
          <p:cNvSpPr txBox="1"/>
          <p:nvPr/>
        </p:nvSpPr>
        <p:spPr>
          <a:xfrm>
            <a:off x="914400" y="2404262"/>
            <a:ext cx="10454335" cy="638556"/>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İki yansımanın kuralı:</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Aralarında α açısı olan iki aynadan art arda yansıyan ışın, ilk yönüne göre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2α</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döner. Paralel aynalarda (α = 0) ışın ilk yönünde çıkar; dik aynalarda (α = 90°) 180° döner, yani geldiği yöne geri gider.</a:t>
            </a:r>
            <a:endParaRPr lang="en-US" sz="1300" dirty="0"/>
          </a:p>
        </p:txBody>
      </p:sp>
      <p:sp>
        <p:nvSpPr>
          <p:cNvPr id="12" name="Text 10"/>
          <p:cNvSpPr txBox="1"/>
          <p:nvPr/>
        </p:nvSpPr>
        <p:spPr>
          <a:xfrm>
            <a:off x="640080" y="3262274"/>
            <a:ext cx="10911535" cy="259232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Periskop:</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45° eğik iki paralel ayna ışını önce aşağı, sonra ileri çevirir. Denizaltılarda aynaların yerini çoğu kez prizma ve mercekler alır.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Ay'daki köşe yansıtıcılar: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Apollo astronotlarının bıraktığı yansıtıcılara gönderilen lazer ışığı, 384 400 km'yi gidip dönerek yaklaşık 2,6 s sonra geri gelir.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Bisiklet reflektörü:</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İçindeki küçük köşe yansıtıcılar arabanın farından gelen ışığı arabanın sürücüsüne geri yollar; reflektör bu yüzden gece parlar.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Kaleydoskop:</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Aralarında 60° olan aynalar her deseni 6 kez (cisim ve 5 görüntüsü) tekrarlar.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Lazer tarayıcı: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Dönen ayna 15° dönünce ışını 30° süpürür; barkod okuyucular bu 2α kuralını kullanır.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Ambulans yazısı: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Ters yazılır ki öndeki sürücü onu dikiz aynasında düz okusun.</a:t>
            </a:r>
            <a:endParaRPr lang="en-US" sz="1400" dirty="0"/>
          </a:p>
        </p:txBody>
      </p:sp>
      <p:sp>
        <p:nvSpPr>
          <p:cNvPr id="13" name="Shape 11"/>
          <p:cNvSpPr/>
          <p:nvPr/>
        </p:nvSpPr>
        <p:spPr>
          <a:xfrm>
            <a:off x="640080" y="6382512"/>
            <a:ext cx="128016" cy="128016"/>
          </a:xfrm>
          <a:prstGeom prst="roundRect">
            <a:avLst>
              <a:gd name="adj" fmla="val 28571"/>
            </a:avLst>
          </a:prstGeom>
          <a:solidFill>
            <a:srgbClr val="A9E648"/>
          </a:solidFill>
          <a:ln/>
        </p:spPr>
      </p:sp>
      <p:sp>
        <p:nvSpPr>
          <p:cNvPr id="14"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5"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8 ÇÖZÜMLÜ ÖRNEK</a:t>
            </a:r>
            <a:endParaRPr lang="en-US" sz="1050" dirty="0"/>
          </a:p>
        </p:txBody>
      </p:sp>
      <p:sp>
        <p:nvSpPr>
          <p:cNvPr id="9" name="Shape 7"/>
          <p:cNvSpPr/>
          <p:nvPr/>
        </p:nvSpPr>
        <p:spPr>
          <a:xfrm>
            <a:off x="6172200" y="1481328"/>
            <a:ext cx="5379415" cy="468630"/>
          </a:xfrm>
          <a:prstGeom prst="roundRect">
            <a:avLst>
              <a:gd name="adj" fmla="val 19512"/>
            </a:avLst>
          </a:prstGeom>
          <a:solidFill>
            <a:srgbClr val="1C2542"/>
          </a:solidFill>
          <a:ln w="9525">
            <a:solidFill>
              <a:srgbClr val="2C3860"/>
            </a:solidFill>
            <a:prstDash val="solid"/>
          </a:ln>
        </p:spPr>
      </p:sp>
      <p:sp>
        <p:nvSpPr>
          <p:cNvPr id="10" name="Text 8"/>
          <p:cNvSpPr txBox="1"/>
          <p:nvPr/>
        </p:nvSpPr>
        <p:spPr>
          <a:xfrm>
            <a:off x="6400800" y="148132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Yüzeyle yapılan açı</a:t>
            </a:r>
            <a:endParaRPr lang="en-US" sz="1300" dirty="0"/>
          </a:p>
        </p:txBody>
      </p:sp>
      <p:sp>
        <p:nvSpPr>
          <p:cNvPr id="11" name="Text 9"/>
          <p:cNvSpPr txBox="1"/>
          <p:nvPr/>
        </p:nvSpPr>
        <p:spPr>
          <a:xfrm>
            <a:off x="10362895" y="148132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41398"/>
            <a:ext cx="5379415" cy="468630"/>
          </a:xfrm>
          <a:prstGeom prst="roundRect">
            <a:avLst>
              <a:gd name="adj" fmla="val 19512"/>
            </a:avLst>
          </a:prstGeom>
          <a:solidFill>
            <a:srgbClr val="1C2542"/>
          </a:solidFill>
          <a:ln w="9525">
            <a:solidFill>
              <a:srgbClr val="2C3860"/>
            </a:solidFill>
            <a:prstDash val="solid"/>
          </a:ln>
        </p:spPr>
      </p:sp>
      <p:sp>
        <p:nvSpPr>
          <p:cNvPr id="13" name="Text 11"/>
          <p:cNvSpPr txBox="1"/>
          <p:nvPr/>
        </p:nvSpPr>
        <p:spPr>
          <a:xfrm>
            <a:off x="6400800" y="204139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Aynanın dönmesi</a:t>
            </a:r>
            <a:endParaRPr lang="en-US" sz="1300" dirty="0"/>
          </a:p>
        </p:txBody>
      </p:sp>
      <p:sp>
        <p:nvSpPr>
          <p:cNvPr id="14" name="Text 12"/>
          <p:cNvSpPr txBox="1"/>
          <p:nvPr/>
        </p:nvSpPr>
        <p:spPr>
          <a:xfrm>
            <a:off x="10362895" y="204139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01468"/>
            <a:ext cx="5379415" cy="468630"/>
          </a:xfrm>
          <a:prstGeom prst="roundRect">
            <a:avLst>
              <a:gd name="adj" fmla="val 19512"/>
            </a:avLst>
          </a:prstGeom>
          <a:solidFill>
            <a:srgbClr val="1C2542"/>
          </a:solidFill>
          <a:ln w="9525">
            <a:solidFill>
              <a:srgbClr val="2C3860"/>
            </a:solidFill>
            <a:prstDash val="solid"/>
          </a:ln>
        </p:spPr>
      </p:sp>
      <p:sp>
        <p:nvSpPr>
          <p:cNvPr id="16" name="Text 14"/>
          <p:cNvSpPr txBox="1"/>
          <p:nvPr/>
        </p:nvSpPr>
        <p:spPr>
          <a:xfrm>
            <a:off x="6400800" y="260146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Görüntüne ne kadar uzaksın?</a:t>
            </a:r>
            <a:endParaRPr lang="en-US" sz="1300" dirty="0"/>
          </a:p>
        </p:txBody>
      </p:sp>
      <p:sp>
        <p:nvSpPr>
          <p:cNvPr id="17" name="Text 15"/>
          <p:cNvSpPr txBox="1"/>
          <p:nvPr/>
        </p:nvSpPr>
        <p:spPr>
          <a:xfrm>
            <a:off x="10362895" y="260146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8" name="Shape 16"/>
          <p:cNvSpPr/>
          <p:nvPr/>
        </p:nvSpPr>
        <p:spPr>
          <a:xfrm>
            <a:off x="6172200" y="3161538"/>
            <a:ext cx="5379415" cy="468630"/>
          </a:xfrm>
          <a:prstGeom prst="roundRect">
            <a:avLst>
              <a:gd name="adj" fmla="val 19512"/>
            </a:avLst>
          </a:prstGeom>
          <a:solidFill>
            <a:srgbClr val="1C2542"/>
          </a:solidFill>
          <a:ln w="9525">
            <a:solidFill>
              <a:srgbClr val="2C3860"/>
            </a:solidFill>
            <a:prstDash val="solid"/>
          </a:ln>
        </p:spPr>
      </p:sp>
      <p:sp>
        <p:nvSpPr>
          <p:cNvPr id="19" name="Text 17"/>
          <p:cNvSpPr txBox="1"/>
          <p:nvPr/>
        </p:nvSpPr>
        <p:spPr>
          <a:xfrm>
            <a:off x="6400800" y="316153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İki ayna</a:t>
            </a:r>
            <a:endParaRPr lang="en-US" sz="1300" dirty="0"/>
          </a:p>
        </p:txBody>
      </p:sp>
      <p:sp>
        <p:nvSpPr>
          <p:cNvPr id="20" name="Text 18"/>
          <p:cNvSpPr txBox="1"/>
          <p:nvPr/>
        </p:nvSpPr>
        <p:spPr>
          <a:xfrm>
            <a:off x="10362895" y="316153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721608"/>
            <a:ext cx="5379415" cy="468630"/>
          </a:xfrm>
          <a:prstGeom prst="roundRect">
            <a:avLst>
              <a:gd name="adj" fmla="val 19512"/>
            </a:avLst>
          </a:prstGeom>
          <a:solidFill>
            <a:srgbClr val="1C2542"/>
          </a:solidFill>
          <a:ln w="9525">
            <a:solidFill>
              <a:srgbClr val="2C3860"/>
            </a:solidFill>
            <a:prstDash val="solid"/>
          </a:ln>
        </p:spPr>
      </p:sp>
      <p:sp>
        <p:nvSpPr>
          <p:cNvPr id="22" name="Text 20"/>
          <p:cNvSpPr txBox="1"/>
          <p:nvPr/>
        </p:nvSpPr>
        <p:spPr>
          <a:xfrm>
            <a:off x="6400800" y="372160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Boy aynası</a:t>
            </a:r>
            <a:endParaRPr lang="en-US" sz="1300" dirty="0"/>
          </a:p>
        </p:txBody>
      </p:sp>
      <p:sp>
        <p:nvSpPr>
          <p:cNvPr id="23" name="Text 21"/>
          <p:cNvSpPr txBox="1"/>
          <p:nvPr/>
        </p:nvSpPr>
        <p:spPr>
          <a:xfrm>
            <a:off x="10362895" y="372160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281678"/>
            <a:ext cx="5379415" cy="468630"/>
          </a:xfrm>
          <a:prstGeom prst="roundRect">
            <a:avLst>
              <a:gd name="adj" fmla="val 19512"/>
            </a:avLst>
          </a:prstGeom>
          <a:solidFill>
            <a:srgbClr val="1C2542"/>
          </a:solidFill>
          <a:ln w="9525">
            <a:solidFill>
              <a:srgbClr val="2C3860"/>
            </a:solidFill>
            <a:prstDash val="solid"/>
          </a:ln>
        </p:spPr>
      </p:sp>
      <p:sp>
        <p:nvSpPr>
          <p:cNvPr id="25" name="Text 23"/>
          <p:cNvSpPr txBox="1"/>
          <p:nvPr/>
        </p:nvSpPr>
        <p:spPr>
          <a:xfrm>
            <a:off x="6400800" y="428167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Hem ayna hem cisim hareket ediyor</a:t>
            </a:r>
            <a:endParaRPr lang="en-US" sz="1300" dirty="0"/>
          </a:p>
        </p:txBody>
      </p:sp>
      <p:sp>
        <p:nvSpPr>
          <p:cNvPr id="26" name="Text 24"/>
          <p:cNvSpPr txBox="1"/>
          <p:nvPr/>
        </p:nvSpPr>
        <p:spPr>
          <a:xfrm>
            <a:off x="10362895" y="428167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7" name="Shape 25"/>
          <p:cNvSpPr/>
          <p:nvPr/>
        </p:nvSpPr>
        <p:spPr>
          <a:xfrm>
            <a:off x="6172200" y="4841748"/>
            <a:ext cx="5379415" cy="468630"/>
          </a:xfrm>
          <a:prstGeom prst="roundRect">
            <a:avLst>
              <a:gd name="adj" fmla="val 19512"/>
            </a:avLst>
          </a:prstGeom>
          <a:solidFill>
            <a:srgbClr val="1C2542"/>
          </a:solidFill>
          <a:ln w="9525">
            <a:solidFill>
              <a:srgbClr val="2C3860"/>
            </a:solidFill>
            <a:prstDash val="solid"/>
          </a:ln>
        </p:spPr>
      </p:sp>
      <p:sp>
        <p:nvSpPr>
          <p:cNvPr id="28" name="Text 26"/>
          <p:cNvSpPr txBox="1"/>
          <p:nvPr/>
        </p:nvSpPr>
        <p:spPr>
          <a:xfrm>
            <a:off x="6400800" y="484174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Yanlış yere asılmış ayna</a:t>
            </a:r>
            <a:endParaRPr lang="en-US" sz="1300" dirty="0"/>
          </a:p>
        </p:txBody>
      </p:sp>
      <p:sp>
        <p:nvSpPr>
          <p:cNvPr id="29" name="Text 27"/>
          <p:cNvSpPr txBox="1"/>
          <p:nvPr/>
        </p:nvSpPr>
        <p:spPr>
          <a:xfrm>
            <a:off x="10362895" y="484174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172200" y="5401818"/>
            <a:ext cx="5379415" cy="468630"/>
          </a:xfrm>
          <a:prstGeom prst="roundRect">
            <a:avLst>
              <a:gd name="adj" fmla="val 19512"/>
            </a:avLst>
          </a:prstGeom>
          <a:solidFill>
            <a:srgbClr val="1C2542"/>
          </a:solidFill>
          <a:ln w="9525">
            <a:solidFill>
              <a:srgbClr val="2C3860"/>
            </a:solidFill>
            <a:prstDash val="solid"/>
          </a:ln>
        </p:spPr>
      </p:sp>
      <p:sp>
        <p:nvSpPr>
          <p:cNvPr id="31" name="Text 29"/>
          <p:cNvSpPr txBox="1"/>
          <p:nvPr/>
        </p:nvSpPr>
        <p:spPr>
          <a:xfrm>
            <a:off x="6400800" y="540181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8   Birbirine dik iki ayna</a:t>
            </a:r>
            <a:endParaRPr lang="en-US" sz="1300" dirty="0"/>
          </a:p>
        </p:txBody>
      </p:sp>
      <p:sp>
        <p:nvSpPr>
          <p:cNvPr id="32" name="Text 30"/>
          <p:cNvSpPr txBox="1"/>
          <p:nvPr/>
        </p:nvSpPr>
        <p:spPr>
          <a:xfrm>
            <a:off x="10362895" y="540181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3" name="Shape 31"/>
          <p:cNvSpPr/>
          <p:nvPr/>
        </p:nvSpPr>
        <p:spPr>
          <a:xfrm>
            <a:off x="640080" y="6382512"/>
            <a:ext cx="128016" cy="128016"/>
          </a:xfrm>
          <a:prstGeom prst="roundRect">
            <a:avLst>
              <a:gd name="adj" fmla="val 28571"/>
            </a:avLst>
          </a:prstGeom>
          <a:solidFill>
            <a:srgbClr val="C6F36B"/>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Yüzeyle yapılan açı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ışın düzlem aynanın yüzeyiyle 25° açı yapacak şekilde geliyor. Gelme açısı, yansıma açısı ve iki ışın arasındaki açı kaç derecedir?</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Gelme açısı normalle ölçülür: i = 90° − 25°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65°</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Yansıma açısı: r = i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65°</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Gelen ve yansıyan ışın arasındaki açı: i + r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130°</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Aynanın dönmesi  ·  Aşağıdaki örneklerde açılar derece, uzunluklar santimetre ya da metre cinsindendir.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Sabit bir ışın demeti düzlem aynaya düşerken ayna 12° döndürülüyor. Yansıyan ışın kaç derece döner?</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Ayna α = 12° dönerse normal de 12° döner.</a:t>
            </a:r>
            <a:endParaRPr lang="en-US" sz="1600" dirty="0"/>
          </a:p>
        </p:txBody>
      </p:sp>
      <p:sp>
        <p:nvSpPr>
          <p:cNvPr id="15" name="Shape 13"/>
          <p:cNvSpPr/>
          <p:nvPr/>
        </p:nvSpPr>
        <p:spPr>
          <a:xfrm>
            <a:off x="5212080" y="2992207"/>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694176"/>
            <a:ext cx="384048" cy="384048"/>
          </a:xfrm>
          <a:prstGeom prst="roundRect">
            <a:avLst>
              <a:gd name="adj" fmla="val 26000"/>
            </a:avLst>
          </a:prstGeom>
          <a:solidFill>
            <a:srgbClr val="A56209"/>
          </a:solidFill>
          <a:ln/>
        </p:spPr>
      </p:sp>
      <p:sp>
        <p:nvSpPr>
          <p:cNvPr id="17" name="Text 15"/>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Gelme açısı 12° değişir; yansıma açısı da 12° değişir.</a:t>
            </a:r>
            <a:endParaRPr lang="en-US" sz="1600" dirty="0"/>
          </a:p>
        </p:txBody>
      </p:sp>
      <p:sp>
        <p:nvSpPr>
          <p:cNvPr id="19" name="Shape 17"/>
          <p:cNvSpPr/>
          <p:nvPr/>
        </p:nvSpPr>
        <p:spPr>
          <a:xfrm>
            <a:off x="5212080" y="492649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343608"/>
            <a:ext cx="384048" cy="384048"/>
          </a:xfrm>
          <a:prstGeom prst="roundRect">
            <a:avLst>
              <a:gd name="adj" fmla="val 26000"/>
            </a:avLst>
          </a:prstGeom>
          <a:solidFill>
            <a:srgbClr val="A56209"/>
          </a:solidFill>
          <a:ln/>
        </p:spPr>
      </p:sp>
      <p:sp>
        <p:nvSpPr>
          <p:cNvPr id="21" name="Text 19"/>
          <p:cNvSpPr txBox="1"/>
          <p:nvPr/>
        </p:nvSpPr>
        <p:spPr>
          <a:xfrm>
            <a:off x="5449824" y="534360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98136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Yansıyan ışının dönmesi: 2α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24°</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Görüntüne ne kadar uzaksın?</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öğrenci düzlem aynanın 1,5 m önünde duruyor. (a) Görüntüsü kendisinden kaç m uzaktadır? (b) Aynaya 0,5 m yaklaşırsa görüntüsüne uzaklığı ne olur?</a:t>
            </a:r>
            <a:endParaRPr lang="en-US" sz="1600" dirty="0"/>
          </a:p>
        </p:txBody>
      </p:sp>
      <p:sp>
        <p:nvSpPr>
          <p:cNvPr id="11" name="Shape 9"/>
          <p:cNvSpPr/>
          <p:nvPr/>
        </p:nvSpPr>
        <p:spPr>
          <a:xfrm>
            <a:off x="5212080" y="1627632"/>
            <a:ext cx="6339535" cy="1272972"/>
          </a:xfrm>
          <a:prstGeom prst="roundRect">
            <a:avLst>
              <a:gd name="adj" fmla="val 1149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72094"/>
            <a:ext cx="384048" cy="384048"/>
          </a:xfrm>
          <a:prstGeom prst="roundRect">
            <a:avLst>
              <a:gd name="adj" fmla="val 26000"/>
            </a:avLst>
          </a:prstGeom>
          <a:solidFill>
            <a:srgbClr val="A56209"/>
          </a:solidFill>
          <a:ln/>
        </p:spPr>
      </p:sp>
      <p:sp>
        <p:nvSpPr>
          <p:cNvPr id="13" name="Text 11"/>
          <p:cNvSpPr txBox="1"/>
          <p:nvPr/>
        </p:nvSpPr>
        <p:spPr>
          <a:xfrm>
            <a:off x="5449824" y="20720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6324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aynanın 1,5 m arkasındadır: 1,5 + 1,5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m</a:t>
            </a:r>
            <a:endParaRPr lang="en-US" sz="1600" dirty="0"/>
          </a:p>
        </p:txBody>
      </p:sp>
      <p:sp>
        <p:nvSpPr>
          <p:cNvPr id="15" name="Shape 13"/>
          <p:cNvSpPr/>
          <p:nvPr/>
        </p:nvSpPr>
        <p:spPr>
          <a:xfrm>
            <a:off x="5212080" y="3046908"/>
            <a:ext cx="6339535" cy="1272972"/>
          </a:xfrm>
          <a:prstGeom prst="roundRect">
            <a:avLst>
              <a:gd name="adj" fmla="val 1149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91370"/>
            <a:ext cx="384048" cy="384048"/>
          </a:xfrm>
          <a:prstGeom prst="roundRect">
            <a:avLst>
              <a:gd name="adj" fmla="val 26000"/>
            </a:avLst>
          </a:prstGeom>
          <a:solidFill>
            <a:srgbClr val="A56209"/>
          </a:solidFill>
          <a:ln/>
        </p:spPr>
      </p:sp>
      <p:sp>
        <p:nvSpPr>
          <p:cNvPr id="17" name="Text 15"/>
          <p:cNvSpPr txBox="1"/>
          <p:nvPr/>
        </p:nvSpPr>
        <p:spPr>
          <a:xfrm>
            <a:off x="5449824" y="349137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101772"/>
            <a:ext cx="5379415" cy="116324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Aynaya uzaklık 1,5 − 0,5 = 1 m olur; görüntüye uzaklık 2 · 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m</a:t>
            </a:r>
            <a:endParaRPr lang="en-US" sz="1600" dirty="0"/>
          </a:p>
        </p:txBody>
      </p:sp>
      <p:sp>
        <p:nvSpPr>
          <p:cNvPr id="19" name="Shape 17"/>
          <p:cNvSpPr/>
          <p:nvPr/>
        </p:nvSpPr>
        <p:spPr>
          <a:xfrm>
            <a:off x="5212080" y="4466184"/>
            <a:ext cx="6339535" cy="1678584"/>
          </a:xfrm>
          <a:prstGeom prst="roundRect">
            <a:avLst>
              <a:gd name="adj" fmla="val 871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113452"/>
            <a:ext cx="384048" cy="384048"/>
          </a:xfrm>
          <a:prstGeom prst="roundRect">
            <a:avLst>
              <a:gd name="adj" fmla="val 26000"/>
            </a:avLst>
          </a:prstGeom>
          <a:solidFill>
            <a:srgbClr val="A56209"/>
          </a:solidFill>
          <a:ln/>
        </p:spPr>
      </p:sp>
      <p:sp>
        <p:nvSpPr>
          <p:cNvPr id="21" name="Text 19"/>
          <p:cNvSpPr txBox="1"/>
          <p:nvPr/>
        </p:nvSpPr>
        <p:spPr>
          <a:xfrm>
            <a:off x="5449824" y="511345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521048"/>
            <a:ext cx="5379415" cy="15688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öğrenci 0,5 m yürüdü, görüntüsüne uzaklığı ise 1 m kısaldı. İki kat fark, birbirlerine göre hızın 2v olmasının sebebidir.</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ayna  ·  Aşağıdaki örneklerde açılar derece, uzunluklar santimetre ya da metre cinsindendir.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Aralarında 40° açı bulunan iki düzlem ayna arasına, açıortay üzerine bir cisim konuyor. Kaç görüntü oluşur?</a:t>
            </a:r>
            <a:endParaRPr lang="en-US" sz="1600" dirty="0"/>
          </a:p>
        </p:txBody>
      </p:sp>
      <p:sp>
        <p:nvSpPr>
          <p:cNvPr id="11" name="Text 9"/>
          <p:cNvSpPr txBox="1"/>
          <p:nvPr/>
        </p:nvSpPr>
        <p:spPr>
          <a:xfrm>
            <a:off x="932688" y="3617976"/>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3874008"/>
            <a:ext cx="3712464" cy="643738"/>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Not: 9 tek sayıdır. Cisim açıortaydan kaydırılırsa açıortayda üst üste binen iki görüntü birbirinden ayrılır ve 9 görüntü oluşur.</a:t>
            </a:r>
            <a:endParaRPr lang="en-US" sz="1150" dirty="0"/>
          </a:p>
        </p:txBody>
      </p:sp>
      <p:sp>
        <p:nvSpPr>
          <p:cNvPr id="13" name="Shape 11"/>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139696"/>
            <a:ext cx="384048" cy="384048"/>
          </a:xfrm>
          <a:prstGeom prst="roundRect">
            <a:avLst>
              <a:gd name="adj" fmla="val 26000"/>
            </a:avLst>
          </a:prstGeom>
          <a:solidFill>
            <a:srgbClr val="A56209"/>
          </a:solidFill>
          <a:ln/>
        </p:spPr>
      </p:sp>
      <p:sp>
        <p:nvSpPr>
          <p:cNvPr id="15" name="Text 13"/>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360 / α = 360 / 40 = 9</a:t>
            </a:r>
            <a:endParaRPr lang="en-US" sz="1600" dirty="0"/>
          </a:p>
        </p:txBody>
      </p:sp>
      <p:sp>
        <p:nvSpPr>
          <p:cNvPr id="17" name="Shape 15"/>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694176"/>
            <a:ext cx="384048" cy="384048"/>
          </a:xfrm>
          <a:prstGeom prst="roundRect">
            <a:avLst>
              <a:gd name="adj" fmla="val 26000"/>
            </a:avLst>
          </a:prstGeom>
          <a:solidFill>
            <a:srgbClr val="A56209"/>
          </a:solidFill>
          <a:ln/>
        </p:spPr>
      </p:sp>
      <p:sp>
        <p:nvSpPr>
          <p:cNvPr id="19" name="Text 17"/>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9 − 1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 görüntü</a:t>
            </a:r>
            <a:endParaRPr lang="en-US" sz="1600" dirty="0"/>
          </a:p>
        </p:txBody>
      </p:sp>
      <p:sp>
        <p:nvSpPr>
          <p:cNvPr id="21" name="Shape 19"/>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48656"/>
            <a:ext cx="384048" cy="384048"/>
          </a:xfrm>
          <a:prstGeom prst="roundRect">
            <a:avLst>
              <a:gd name="adj" fmla="val 26000"/>
            </a:avLst>
          </a:prstGeom>
          <a:solidFill>
            <a:srgbClr val="A56209"/>
          </a:solidFill>
          <a:ln/>
        </p:spPr>
      </p:sp>
      <p:sp>
        <p:nvSpPr>
          <p:cNvPr id="23" name="Text 21"/>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Açı 90° olsaydı 360/90 − 1 = 3 görüntü oluşurdu.</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Boy aynası  ·  Aşağıdaki örneklerde açılar derece, uzunluklar santimetre ya da metre cinsindendir.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Boyu 180 cm, göz yüksekliği 170 cm olan bir kişi kendini tepeden tırnağa görmek istiyor. Aynanın boyu ve alt kenarının yerden yüksekliği ne olmalıdır?</a:t>
            </a:r>
            <a:endParaRPr lang="en-US" sz="1600" dirty="0"/>
          </a:p>
        </p:txBody>
      </p:sp>
      <p:sp>
        <p:nvSpPr>
          <p:cNvPr id="11" name="Shape 9"/>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48778"/>
            <a:ext cx="384048" cy="384048"/>
          </a:xfrm>
          <a:prstGeom prst="roundRect">
            <a:avLst>
              <a:gd name="adj" fmla="val 26000"/>
            </a:avLst>
          </a:prstGeom>
          <a:solidFill>
            <a:srgbClr val="A56209"/>
          </a:solidFill>
          <a:ln/>
        </p:spPr>
      </p:sp>
      <p:sp>
        <p:nvSpPr>
          <p:cNvPr id="13" name="Text 11"/>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Ayna boyu = h/2 = 180/2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90 cm</a:t>
            </a:r>
            <a:endParaRPr lang="en-US" sz="1600" dirty="0"/>
          </a:p>
        </p:txBody>
      </p:sp>
      <p:sp>
        <p:nvSpPr>
          <p:cNvPr id="15" name="Shape 13"/>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14638"/>
            <a:ext cx="384048" cy="384048"/>
          </a:xfrm>
          <a:prstGeom prst="roundRect">
            <a:avLst>
              <a:gd name="adj" fmla="val 26000"/>
            </a:avLst>
          </a:prstGeom>
          <a:solidFill>
            <a:srgbClr val="A56209"/>
          </a:solidFill>
          <a:ln/>
        </p:spPr>
      </p:sp>
      <p:sp>
        <p:nvSpPr>
          <p:cNvPr id="17" name="Text 15"/>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Alt kenar, göz ile ayak arasının ortası: 170/2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85 cm</a:t>
            </a:r>
            <a:endParaRPr lang="en-US" sz="1600" dirty="0"/>
          </a:p>
        </p:txBody>
      </p:sp>
      <p:sp>
        <p:nvSpPr>
          <p:cNvPr id="19" name="Shape 17"/>
          <p:cNvSpPr/>
          <p:nvPr/>
        </p:nvSpPr>
        <p:spPr>
          <a:xfrm>
            <a:off x="5212080" y="395935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373714"/>
            <a:ext cx="384048" cy="384048"/>
          </a:xfrm>
          <a:prstGeom prst="roundRect">
            <a:avLst>
              <a:gd name="adj" fmla="val 26000"/>
            </a:avLst>
          </a:prstGeom>
          <a:solidFill>
            <a:srgbClr val="A56209"/>
          </a:solidFill>
          <a:ln/>
        </p:spPr>
      </p:sp>
      <p:sp>
        <p:nvSpPr>
          <p:cNvPr id="21" name="Text 19"/>
          <p:cNvSpPr txBox="1"/>
          <p:nvPr/>
        </p:nvSpPr>
        <p:spPr>
          <a:xfrm>
            <a:off x="5449824" y="437371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Üst kenar: alt kenar + 90 = 175 cm (baş ile göz arasının ortası).</a:t>
            </a:r>
            <a:endParaRPr lang="en-US" sz="1600" dirty="0"/>
          </a:p>
        </p:txBody>
      </p:sp>
      <p:sp>
        <p:nvSpPr>
          <p:cNvPr id="23" name="Shape 21"/>
          <p:cNvSpPr/>
          <p:nvPr/>
        </p:nvSpPr>
        <p:spPr>
          <a:xfrm>
            <a:off x="5212080" y="531842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539574"/>
            <a:ext cx="384048" cy="384048"/>
          </a:xfrm>
          <a:prstGeom prst="roundRect">
            <a:avLst>
              <a:gd name="adj" fmla="val 26000"/>
            </a:avLst>
          </a:prstGeom>
          <a:solidFill>
            <a:srgbClr val="A56209"/>
          </a:solidFill>
          <a:ln/>
        </p:spPr>
      </p:sp>
      <p:sp>
        <p:nvSpPr>
          <p:cNvPr id="25" name="Text 23"/>
          <p:cNvSpPr txBox="1"/>
          <p:nvPr/>
        </p:nvSpPr>
        <p:spPr>
          <a:xfrm>
            <a:off x="5449824" y="553957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37329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Kişinin aynaya uzaklığı sonucu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değiştirmez</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Hem ayna hem cisim hareket ediyor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oyuncak araba bir düzlem aynaya doğru 2 m/s hızla gidiyor; ayna da tekerlekli bir sehpa üzerinde arabaya doğru 1 m/s hızla itiliyor (hızlar yere göre). (a) Görüntünün yere göre hızı nedir? (b) Araba ile görüntüsü birbirine hangi hızla yaklaşır?</a:t>
            </a:r>
            <a:endParaRPr lang="en-US" sz="1600" dirty="0"/>
          </a:p>
        </p:txBody>
      </p:sp>
      <p:sp>
        <p:nvSpPr>
          <p:cNvPr id="11" name="Shape 9"/>
          <p:cNvSpPr/>
          <p:nvPr/>
        </p:nvSpPr>
        <p:spPr>
          <a:xfrm>
            <a:off x="5212080" y="1627632"/>
            <a:ext cx="6339535" cy="781201"/>
          </a:xfrm>
          <a:prstGeom prst="roundRect">
            <a:avLst>
              <a:gd name="adj" fmla="val 1872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26208"/>
            <a:ext cx="384048" cy="384048"/>
          </a:xfrm>
          <a:prstGeom prst="roundRect">
            <a:avLst>
              <a:gd name="adj" fmla="val 26000"/>
            </a:avLst>
          </a:prstGeom>
          <a:solidFill>
            <a:srgbClr val="A56209"/>
          </a:solidFill>
          <a:ln/>
        </p:spPr>
      </p:sp>
      <p:sp>
        <p:nvSpPr>
          <p:cNvPr id="13" name="Text 11"/>
          <p:cNvSpPr txBox="1"/>
          <p:nvPr/>
        </p:nvSpPr>
        <p:spPr>
          <a:xfrm>
            <a:off x="5449824" y="182620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671473"/>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Arabadan aynaya doğru yönü pozitif al: v</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araba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+2 m/s, v</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ayna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−1 m/s.</a:t>
            </a:r>
            <a:endParaRPr lang="en-US" sz="1350" dirty="0"/>
          </a:p>
        </p:txBody>
      </p:sp>
      <p:sp>
        <p:nvSpPr>
          <p:cNvPr id="15" name="Shape 13"/>
          <p:cNvSpPr/>
          <p:nvPr/>
        </p:nvSpPr>
        <p:spPr>
          <a:xfrm>
            <a:off x="5212080" y="2555137"/>
            <a:ext cx="6339535" cy="1014450"/>
          </a:xfrm>
          <a:prstGeom prst="roundRect">
            <a:avLst>
              <a:gd name="adj" fmla="val 1442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70338"/>
            <a:ext cx="384048" cy="384048"/>
          </a:xfrm>
          <a:prstGeom prst="roundRect">
            <a:avLst>
              <a:gd name="adj" fmla="val 26000"/>
            </a:avLst>
          </a:prstGeom>
          <a:solidFill>
            <a:srgbClr val="A56209"/>
          </a:solidFill>
          <a:ln/>
        </p:spPr>
      </p:sp>
      <p:sp>
        <p:nvSpPr>
          <p:cNvPr id="17" name="Text 15"/>
          <p:cNvSpPr txBox="1"/>
          <p:nvPr/>
        </p:nvSpPr>
        <p:spPr>
          <a:xfrm>
            <a:off x="5449824" y="28703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10001"/>
            <a:ext cx="5379415" cy="904722"/>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Görüntü her an aynanın, araba kadar arkasındadır: x</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g</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2·x</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ayna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x</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araba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Hızlar için de aynısı geçerlidir: v</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g</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2·v</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ayna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v</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araba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9" name="Shape 17"/>
          <p:cNvSpPr/>
          <p:nvPr/>
        </p:nvSpPr>
        <p:spPr>
          <a:xfrm>
            <a:off x="5212080" y="3715891"/>
            <a:ext cx="6339535" cy="781201"/>
          </a:xfrm>
          <a:prstGeom prst="roundRect">
            <a:avLst>
              <a:gd name="adj" fmla="val 1872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914467"/>
            <a:ext cx="384048" cy="384048"/>
          </a:xfrm>
          <a:prstGeom prst="roundRect">
            <a:avLst>
              <a:gd name="adj" fmla="val 26000"/>
            </a:avLst>
          </a:prstGeom>
          <a:solidFill>
            <a:srgbClr val="A56209"/>
          </a:solidFill>
          <a:ln/>
        </p:spPr>
      </p:sp>
      <p:sp>
        <p:nvSpPr>
          <p:cNvPr id="21" name="Text 19"/>
          <p:cNvSpPr txBox="1"/>
          <p:nvPr/>
        </p:nvSpPr>
        <p:spPr>
          <a:xfrm>
            <a:off x="5449824" y="391446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770755"/>
            <a:ext cx="5379415" cy="671473"/>
          </a:xfrm>
          <a:prstGeom prst="rect">
            <a:avLst/>
          </a:prstGeom>
          <a:noFill/>
          <a:ln/>
        </p:spPr>
        <p:txBody>
          <a:bodyPr wrap="square" lIns="0" tIns="0" rIns="0" bIns="0" rtlCol="0" anchor="ctr"/>
          <a:lstStyle/>
          <a:p>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g</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2·(−1) − 2 = −4 m/s: görüntü yere göre </a:t>
            </a:r>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4 m/s</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hızla arabaya doğru gelir.</a:t>
            </a:r>
            <a:endParaRPr lang="en-US" sz="1350" dirty="0"/>
          </a:p>
        </p:txBody>
      </p:sp>
      <p:sp>
        <p:nvSpPr>
          <p:cNvPr id="23" name="Shape 21"/>
          <p:cNvSpPr/>
          <p:nvPr/>
        </p:nvSpPr>
        <p:spPr>
          <a:xfrm>
            <a:off x="5212080" y="4643396"/>
            <a:ext cx="6339535" cy="573868"/>
          </a:xfrm>
          <a:prstGeom prst="roundRect">
            <a:avLst>
              <a:gd name="adj" fmla="val 2549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738305"/>
            <a:ext cx="384048" cy="384048"/>
          </a:xfrm>
          <a:prstGeom prst="roundRect">
            <a:avLst>
              <a:gd name="adj" fmla="val 26000"/>
            </a:avLst>
          </a:prstGeom>
          <a:solidFill>
            <a:srgbClr val="A56209"/>
          </a:solidFill>
          <a:ln/>
        </p:spPr>
      </p:sp>
      <p:sp>
        <p:nvSpPr>
          <p:cNvPr id="25" name="Text 23"/>
          <p:cNvSpPr txBox="1"/>
          <p:nvPr/>
        </p:nvSpPr>
        <p:spPr>
          <a:xfrm>
            <a:off x="5449824" y="473830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698260"/>
            <a:ext cx="5379415" cy="464140"/>
          </a:xfrm>
          <a:prstGeom prst="rect">
            <a:avLst/>
          </a:prstGeom>
          <a:noFill/>
          <a:ln/>
        </p:spPr>
        <p:txBody>
          <a:bodyPr wrap="square" lIns="0" tIns="0" rIns="0" bIns="0" rtlCol="0" anchor="ctr"/>
          <a:lstStyle/>
          <a:p>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Birbirlerine göre: 2 − (−4) = </a:t>
            </a:r>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6 m/s</a:t>
            </a:r>
            <a:endParaRPr lang="en-US" sz="1350" dirty="0"/>
          </a:p>
        </p:txBody>
      </p:sp>
      <p:sp>
        <p:nvSpPr>
          <p:cNvPr id="27" name="Shape 25"/>
          <p:cNvSpPr/>
          <p:nvPr/>
        </p:nvSpPr>
        <p:spPr>
          <a:xfrm>
            <a:off x="5212080" y="5363567"/>
            <a:ext cx="6339535" cy="781201"/>
          </a:xfrm>
          <a:prstGeom prst="roundRect">
            <a:avLst>
              <a:gd name="adj" fmla="val 1872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62144"/>
            <a:ext cx="384048" cy="384048"/>
          </a:xfrm>
          <a:prstGeom prst="roundRect">
            <a:avLst>
              <a:gd name="adj" fmla="val 26000"/>
            </a:avLst>
          </a:prstGeom>
          <a:solidFill>
            <a:srgbClr val="A56209"/>
          </a:solidFill>
          <a:ln/>
        </p:spPr>
      </p:sp>
      <p:sp>
        <p:nvSpPr>
          <p:cNvPr id="29" name="Text 27"/>
          <p:cNvSpPr txBox="1"/>
          <p:nvPr/>
        </p:nvSpPr>
        <p:spPr>
          <a:xfrm>
            <a:off x="5449824" y="55621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418431"/>
            <a:ext cx="5379415" cy="671473"/>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Kontrol: araba–ayna uzaklığı saniyede 2 + 1 = 3 m kısalır; araba–görüntü uzaklığı bunun iki katıdır: 6 m/s ✓</a:t>
            </a:r>
            <a:endParaRPr lang="en-US" sz="135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Yanlış yere asılmış ayna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61518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Boyu 170 cm, göz yüksekliği 160 cm olan bir kişi, alt kenarı yerden 100 cm, üst kenarı 190 cm yüksekte olan bir aynanın karşısında duruyor. (a) Başının tepesini görebilir mi? (b) Bedeninin yerden kaç cm'ye kadarki bölümünü göremez? (c) Kendini tepeden tırnağa görmesi için ne yapılmalı?</a:t>
            </a:r>
            <a:endParaRPr lang="en-US" sz="1600" dirty="0"/>
          </a:p>
        </p:txBody>
      </p:sp>
      <p:sp>
        <p:nvSpPr>
          <p:cNvPr id="11" name="Shape 9"/>
          <p:cNvSpPr/>
          <p:nvPr/>
        </p:nvSpPr>
        <p:spPr>
          <a:xfrm>
            <a:off x="5212080" y="1627632"/>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07297"/>
            <a:ext cx="384048" cy="384048"/>
          </a:xfrm>
          <a:prstGeom prst="roundRect">
            <a:avLst>
              <a:gd name="adj" fmla="val 26000"/>
            </a:avLst>
          </a:prstGeom>
          <a:solidFill>
            <a:srgbClr val="A56209"/>
          </a:solidFill>
          <a:ln/>
        </p:spPr>
      </p:sp>
      <p:sp>
        <p:nvSpPr>
          <p:cNvPr id="13" name="Text 11"/>
          <p:cNvSpPr txBox="1"/>
          <p:nvPr/>
        </p:nvSpPr>
        <p:spPr>
          <a:xfrm>
            <a:off x="5449824" y="180729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633651"/>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Yerden y yüksekliğindeki bir noktadan gelen ışın, (y + 160)/2 yüksekliğinde yansır.</a:t>
            </a:r>
            <a:endParaRPr lang="en-US" sz="1250" dirty="0"/>
          </a:p>
        </p:txBody>
      </p:sp>
      <p:sp>
        <p:nvSpPr>
          <p:cNvPr id="15" name="Shape 13"/>
          <p:cNvSpPr/>
          <p:nvPr/>
        </p:nvSpPr>
        <p:spPr>
          <a:xfrm>
            <a:off x="5212080" y="2517315"/>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696980"/>
            <a:ext cx="384048" cy="384048"/>
          </a:xfrm>
          <a:prstGeom prst="roundRect">
            <a:avLst>
              <a:gd name="adj" fmla="val 26000"/>
            </a:avLst>
          </a:prstGeom>
          <a:solidFill>
            <a:srgbClr val="A56209"/>
          </a:solidFill>
          <a:ln/>
        </p:spPr>
      </p:sp>
      <p:sp>
        <p:nvSpPr>
          <p:cNvPr id="17" name="Text 15"/>
          <p:cNvSpPr txBox="1"/>
          <p:nvPr/>
        </p:nvSpPr>
        <p:spPr>
          <a:xfrm>
            <a:off x="5449824" y="269698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572179"/>
            <a:ext cx="5379415" cy="633651"/>
          </a:xfrm>
          <a:prstGeom prst="rect">
            <a:avLst/>
          </a:prstGeom>
          <a:noFill/>
          <a:ln/>
        </p:spPr>
        <p:txBody>
          <a:bodyPr wrap="square" lIns="0" tIns="0" rIns="0" bIns="0" rtlCol="0" anchor="ctr"/>
          <a:lstStyle/>
          <a:p>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Baş için (170 + 160)/2 = 165 cm; bu nokta üst kenarın (190 cm) altında: </a:t>
            </a:r>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görür</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a:t>
            </a:r>
            <a:endParaRPr lang="en-US" sz="1250" dirty="0"/>
          </a:p>
        </p:txBody>
      </p:sp>
      <p:sp>
        <p:nvSpPr>
          <p:cNvPr id="19" name="Shape 17"/>
          <p:cNvSpPr/>
          <p:nvPr/>
        </p:nvSpPr>
        <p:spPr>
          <a:xfrm>
            <a:off x="5212080" y="3406997"/>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586663"/>
            <a:ext cx="384048" cy="384048"/>
          </a:xfrm>
          <a:prstGeom prst="roundRect">
            <a:avLst>
              <a:gd name="adj" fmla="val 26000"/>
            </a:avLst>
          </a:prstGeom>
          <a:solidFill>
            <a:srgbClr val="A56209"/>
          </a:solidFill>
          <a:ln/>
        </p:spPr>
      </p:sp>
      <p:sp>
        <p:nvSpPr>
          <p:cNvPr id="21" name="Text 19"/>
          <p:cNvSpPr txBox="1"/>
          <p:nvPr/>
        </p:nvSpPr>
        <p:spPr>
          <a:xfrm>
            <a:off x="5449824" y="35866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461861"/>
            <a:ext cx="5379415" cy="633651"/>
          </a:xfrm>
          <a:prstGeom prst="rect">
            <a:avLst/>
          </a:prstGeom>
          <a:noFill/>
          <a:ln/>
        </p:spPr>
        <p:txBody>
          <a:bodyPr wrap="square" lIns="0" tIns="0" rIns="0" bIns="0" rtlCol="0" anchor="ctr"/>
          <a:lstStyle/>
          <a:p>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Alt kenar 100 cm: (y + 160)/2 = 100 → y = </a:t>
            </a:r>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40 cm</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Yerden 40 cm'ye kadarki bölüm görünmez.</a:t>
            </a:r>
            <a:endParaRPr lang="en-US" sz="1250" dirty="0"/>
          </a:p>
        </p:txBody>
      </p:sp>
      <p:sp>
        <p:nvSpPr>
          <p:cNvPr id="23" name="Shape 21"/>
          <p:cNvSpPr/>
          <p:nvPr/>
        </p:nvSpPr>
        <p:spPr>
          <a:xfrm>
            <a:off x="5212080" y="4296680"/>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476345"/>
            <a:ext cx="384048" cy="384048"/>
          </a:xfrm>
          <a:prstGeom prst="roundRect">
            <a:avLst>
              <a:gd name="adj" fmla="val 26000"/>
            </a:avLst>
          </a:prstGeom>
          <a:solidFill>
            <a:srgbClr val="A56209"/>
          </a:solidFill>
          <a:ln/>
        </p:spPr>
      </p:sp>
      <p:sp>
        <p:nvSpPr>
          <p:cNvPr id="25" name="Text 23"/>
          <p:cNvSpPr txBox="1"/>
          <p:nvPr/>
        </p:nvSpPr>
        <p:spPr>
          <a:xfrm>
            <a:off x="5449824" y="447634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351544"/>
            <a:ext cx="5379415" cy="633651"/>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Aynanın boyu (90 cm) gereken h/2 = 85 cm'den uzundur; sorun boyda değil, yükseklikte.</a:t>
            </a:r>
            <a:endParaRPr lang="en-US" sz="1250" dirty="0"/>
          </a:p>
        </p:txBody>
      </p:sp>
      <p:sp>
        <p:nvSpPr>
          <p:cNvPr id="27" name="Shape 25"/>
          <p:cNvSpPr/>
          <p:nvPr/>
        </p:nvSpPr>
        <p:spPr>
          <a:xfrm>
            <a:off x="5212080" y="5186363"/>
            <a:ext cx="6339535" cy="958406"/>
          </a:xfrm>
          <a:prstGeom prst="roundRect">
            <a:avLst>
              <a:gd name="adj" fmla="val 1526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473541"/>
            <a:ext cx="384048" cy="384048"/>
          </a:xfrm>
          <a:prstGeom prst="roundRect">
            <a:avLst>
              <a:gd name="adj" fmla="val 26000"/>
            </a:avLst>
          </a:prstGeom>
          <a:solidFill>
            <a:srgbClr val="A56209"/>
          </a:solidFill>
          <a:ln/>
        </p:spPr>
      </p:sp>
      <p:sp>
        <p:nvSpPr>
          <p:cNvPr id="29" name="Text 27"/>
          <p:cNvSpPr txBox="1"/>
          <p:nvPr/>
        </p:nvSpPr>
        <p:spPr>
          <a:xfrm>
            <a:off x="5449824" y="547354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41227"/>
            <a:ext cx="5379415" cy="848678"/>
          </a:xfrm>
          <a:prstGeom prst="rect">
            <a:avLst/>
          </a:prstGeom>
          <a:noFill/>
          <a:ln/>
        </p:spPr>
        <p:txBody>
          <a:bodyPr wrap="square" lIns="0" tIns="0" rIns="0" bIns="0" rtlCol="0" anchor="ctr"/>
          <a:lstStyle/>
          <a:p>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Alt kenar 160/2 = 80 cm olmalı: ayna </a:t>
            </a:r>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20 cm aşağı</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indirilir (üst kenar 170 cm ≥ 165 cm ✓). Aynaya yaklaşmak ya da uzaklaşmak hiçbir şeyi değiştirmez.</a:t>
            </a:r>
            <a:endParaRPr lang="en-US" sz="125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8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Birbirine dik iki ayna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Birbirine dik iki düzlem aynadan birincisine bir ışın 35° gelme açısıyla geliyor, yansıyıp ikinci aynaya çarpıyor. (a) İkinci aynadaki gelme açısı kaç derecedir? (b) İkinci aynadan çıkan ışın ilk gelen ışına göre hangi doğrultuda ilerler?</a:t>
            </a:r>
            <a:endParaRPr lang="en-US" sz="1600" dirty="0"/>
          </a:p>
        </p:txBody>
      </p:sp>
      <p:sp>
        <p:nvSpPr>
          <p:cNvPr id="11" name="Text 9"/>
          <p:cNvSpPr txBox="1"/>
          <p:nvPr/>
        </p:nvSpPr>
        <p:spPr>
          <a:xfrm>
            <a:off x="932688" y="4459224"/>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715256"/>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Bu sonuç gelme açısından bağımsızdır: dik aynalarda iki gelme açısının toplamı her zaman 90°'dir. Köşe yansıtıcıların, bisiklet reflektörlerinin ve Ay'daki yansıtıcıların çalışma ilkesi budur.</a:t>
            </a:r>
            <a:endParaRPr lang="en-US" sz="1150" dirty="0"/>
          </a:p>
        </p:txBody>
      </p:sp>
      <p:sp>
        <p:nvSpPr>
          <p:cNvPr id="13" name="Shape 11"/>
          <p:cNvSpPr/>
          <p:nvPr/>
        </p:nvSpPr>
        <p:spPr>
          <a:xfrm>
            <a:off x="5212080" y="1627632"/>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07297"/>
            <a:ext cx="384048" cy="384048"/>
          </a:xfrm>
          <a:prstGeom prst="roundRect">
            <a:avLst>
              <a:gd name="adj" fmla="val 26000"/>
            </a:avLst>
          </a:prstGeom>
          <a:solidFill>
            <a:srgbClr val="A56209"/>
          </a:solidFill>
          <a:ln/>
        </p:spPr>
      </p:sp>
      <p:sp>
        <p:nvSpPr>
          <p:cNvPr id="15" name="Text 13"/>
          <p:cNvSpPr txBox="1"/>
          <p:nvPr/>
        </p:nvSpPr>
        <p:spPr>
          <a:xfrm>
            <a:off x="5449824" y="180729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633651"/>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Birinci aynadan yansıyan ışın, yüzeyle 90° − 35° = 55° açı yapar.</a:t>
            </a:r>
            <a:endParaRPr lang="en-US" sz="1250" dirty="0"/>
          </a:p>
        </p:txBody>
      </p:sp>
      <p:sp>
        <p:nvSpPr>
          <p:cNvPr id="17" name="Shape 15"/>
          <p:cNvSpPr/>
          <p:nvPr/>
        </p:nvSpPr>
        <p:spPr>
          <a:xfrm>
            <a:off x="5212080" y="2517315"/>
            <a:ext cx="6339535" cy="958406"/>
          </a:xfrm>
          <a:prstGeom prst="roundRect">
            <a:avLst>
              <a:gd name="adj" fmla="val 1526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804493"/>
            <a:ext cx="384048" cy="384048"/>
          </a:xfrm>
          <a:prstGeom prst="roundRect">
            <a:avLst>
              <a:gd name="adj" fmla="val 26000"/>
            </a:avLst>
          </a:prstGeom>
          <a:solidFill>
            <a:srgbClr val="A56209"/>
          </a:solidFill>
          <a:ln/>
        </p:spPr>
      </p:sp>
      <p:sp>
        <p:nvSpPr>
          <p:cNvPr id="19" name="Text 17"/>
          <p:cNvSpPr txBox="1"/>
          <p:nvPr/>
        </p:nvSpPr>
        <p:spPr>
          <a:xfrm>
            <a:off x="5449824" y="280449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572179"/>
            <a:ext cx="5379415" cy="848678"/>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İki ayna ve ışın bir üçgen oluşturur; köşedeki açı 90° olduğundan ışının ikinci ayna yüzeyiyle yaptığı açı 180° − 90° − 55° = 35°'dir.</a:t>
            </a:r>
            <a:endParaRPr lang="en-US" sz="1250" dirty="0"/>
          </a:p>
        </p:txBody>
      </p:sp>
      <p:sp>
        <p:nvSpPr>
          <p:cNvPr id="21" name="Shape 19"/>
          <p:cNvSpPr/>
          <p:nvPr/>
        </p:nvSpPr>
        <p:spPr>
          <a:xfrm>
            <a:off x="5212080" y="3622024"/>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801689"/>
            <a:ext cx="384048" cy="384048"/>
          </a:xfrm>
          <a:prstGeom prst="roundRect">
            <a:avLst>
              <a:gd name="adj" fmla="val 26000"/>
            </a:avLst>
          </a:prstGeom>
          <a:solidFill>
            <a:srgbClr val="A56209"/>
          </a:solidFill>
          <a:ln/>
        </p:spPr>
      </p:sp>
      <p:sp>
        <p:nvSpPr>
          <p:cNvPr id="23" name="Text 21"/>
          <p:cNvSpPr txBox="1"/>
          <p:nvPr/>
        </p:nvSpPr>
        <p:spPr>
          <a:xfrm>
            <a:off x="5449824" y="38016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76888"/>
            <a:ext cx="5379415" cy="633651"/>
          </a:xfrm>
          <a:prstGeom prst="rect">
            <a:avLst/>
          </a:prstGeom>
          <a:noFill/>
          <a:ln/>
        </p:spPr>
        <p:txBody>
          <a:bodyPr wrap="square" lIns="0" tIns="0" rIns="0" bIns="0" rtlCol="0" anchor="ctr"/>
          <a:lstStyle/>
          <a:p>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Gelme açısı normalle ölçülür: 90° − 35° = </a:t>
            </a:r>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55°</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yansıma açısı da 55°.</a:t>
            </a:r>
            <a:endParaRPr lang="en-US" sz="1250" dirty="0"/>
          </a:p>
        </p:txBody>
      </p:sp>
      <p:sp>
        <p:nvSpPr>
          <p:cNvPr id="25" name="Shape 23"/>
          <p:cNvSpPr/>
          <p:nvPr/>
        </p:nvSpPr>
        <p:spPr>
          <a:xfrm>
            <a:off x="5212080" y="4511707"/>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691372"/>
            <a:ext cx="384048" cy="384048"/>
          </a:xfrm>
          <a:prstGeom prst="roundRect">
            <a:avLst>
              <a:gd name="adj" fmla="val 26000"/>
            </a:avLst>
          </a:prstGeom>
          <a:solidFill>
            <a:srgbClr val="A56209"/>
          </a:solidFill>
          <a:ln/>
        </p:spPr>
      </p:sp>
      <p:sp>
        <p:nvSpPr>
          <p:cNvPr id="27" name="Text 25"/>
          <p:cNvSpPr txBox="1"/>
          <p:nvPr/>
        </p:nvSpPr>
        <p:spPr>
          <a:xfrm>
            <a:off x="5449824" y="469137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566571"/>
            <a:ext cx="5379415" cy="633651"/>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Her yansıma ışını 180° − 2i kadar çevirir: 180 − 70 = 110° ve 180 − 110 = 70°; toplam 180°.</a:t>
            </a:r>
            <a:endParaRPr lang="en-US" sz="1250" dirty="0"/>
          </a:p>
        </p:txBody>
      </p:sp>
      <p:sp>
        <p:nvSpPr>
          <p:cNvPr id="29" name="Shape 27"/>
          <p:cNvSpPr/>
          <p:nvPr/>
        </p:nvSpPr>
        <p:spPr>
          <a:xfrm>
            <a:off x="5212080" y="5401389"/>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581055"/>
            <a:ext cx="384048" cy="384048"/>
          </a:xfrm>
          <a:prstGeom prst="roundRect">
            <a:avLst>
              <a:gd name="adj" fmla="val 26000"/>
            </a:avLst>
          </a:prstGeom>
          <a:solidFill>
            <a:srgbClr val="A56209"/>
          </a:solidFill>
          <a:ln/>
        </p:spPr>
      </p:sp>
      <p:sp>
        <p:nvSpPr>
          <p:cNvPr id="31" name="Text 29"/>
          <p:cNvSpPr txBox="1"/>
          <p:nvPr/>
        </p:nvSpPr>
        <p:spPr>
          <a:xfrm>
            <a:off x="5449824" y="558105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456253"/>
            <a:ext cx="5379415" cy="633651"/>
          </a:xfrm>
          <a:prstGeom prst="rect">
            <a:avLst/>
          </a:prstGeom>
          <a:noFill/>
          <a:ln/>
        </p:spPr>
        <p:txBody>
          <a:bodyPr wrap="square" lIns="0" tIns="0" rIns="0" bIns="0" rtlCol="0" anchor="ctr"/>
          <a:lstStyle/>
          <a:p>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Işın </a:t>
            </a:r>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gelen ışına paralel ve ters yönde</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geri döner. İki yansımanın kuralı da aynısını söyler: 2α = 2 · 90° = 180°.</a:t>
            </a:r>
            <a:endParaRPr lang="en-US" sz="125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Açıyı yüzeyle ölçmek.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Gelme ve yansıma açıları her zaman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normalle</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ölçülür.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Görüntüyü gerçek sanmak.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Düzlem aynada görüntü sanaldır; perdeye düşmez.</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Görüntünün aynanın yüzeyinde olduğunu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Görüntü aynanın arkasında, cisimle aynı uzaklıktadır; aynaya 1 m uzaktaysan görüntün senden 2 m uzaktadır.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“Ayna sağı solu değiştirir, peki neden altı üstü değiştirmiyor?”</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Ayna aslında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önü arkayı</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ters çevirir; sağ–sol izlenimi bunun sonucudur.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Ayna α dönünce ışın da α döner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Işın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2α</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döner.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Boy aynasında uzaklığın etkili olduğunu düşünmek.</a:t>
            </a:r>
            <a:endParaRPr lang="en-US" sz="1600" dirty="0"/>
          </a:p>
        </p:txBody>
      </p:sp>
      <p:sp>
        <p:nvSpPr>
          <p:cNvPr id="18" name="Shape 16"/>
          <p:cNvSpPr/>
          <p:nvPr/>
        </p:nvSpPr>
        <p:spPr>
          <a:xfrm>
            <a:off x="6406744" y="2435352"/>
            <a:ext cx="274320" cy="274320"/>
          </a:xfrm>
          <a:prstGeom prst="roundRect">
            <a:avLst>
              <a:gd name="adj" fmla="val 26667"/>
            </a:avLst>
          </a:prstGeom>
          <a:solidFill>
            <a:srgbClr val="EAF7DC"/>
          </a:solidFill>
          <a:ln/>
        </p:spPr>
      </p:sp>
      <p:sp>
        <p:nvSpPr>
          <p:cNvPr id="19" name="Text 17"/>
          <p:cNvSpPr txBox="1"/>
          <p:nvPr/>
        </p:nvSpPr>
        <p:spPr>
          <a:xfrm>
            <a:off x="6406744"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Gereken boy h/2'dir ve uzaklıktan bağımsızdır.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İki aynada 360/α'yı doğrudan görüntü sayısı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Bu sayı cismi de içerir; görüntü sayısı bir eksiktir.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Dağınık yansımada i = r kuralının bozulduğunu sanmak.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Kural her ışın için geçerlidir; dağılmanın sebebi pürüzlü yüzeyde normallerin farklı yönlere bakmasıdır.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Görüntü </a:t>
            </a:r>
            <a:pPr indent="0" marL="0">
              <a:buNone/>
            </a:pPr>
            <a:r>
              <a:rPr lang="en-US" sz="1500" b="1" dirty="0">
                <a:solidFill>
                  <a:srgbClr val="FFFFFF"/>
                </a:solidFill>
                <a:latin typeface="Calibri" pitchFamily="34" charset="0"/>
                <a:ea typeface="Calibri" pitchFamily="34" charset="-122"/>
                <a:cs typeface="Calibri" pitchFamily="34" charset="-120"/>
              </a:rPr>
              <a:t>sanal</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Boy </a:t>
            </a:r>
            <a:pPr indent="0" marL="0">
              <a:buNone/>
            </a:pPr>
            <a:r>
              <a:rPr lang="en-US" sz="1500" b="1" dirty="0">
                <a:solidFill>
                  <a:srgbClr val="FFFFFF"/>
                </a:solidFill>
                <a:latin typeface="Calibri" pitchFamily="34" charset="0"/>
                <a:ea typeface="Calibri" pitchFamily="34" charset="-122"/>
                <a:cs typeface="Calibri" pitchFamily="34" charset="-120"/>
              </a:rPr>
              <a:t>eşit</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Ayna </a:t>
            </a:r>
            <a:pPr indent="0" marL="0">
              <a:buNone/>
            </a:pPr>
            <a:r>
              <a:rPr lang="en-US" sz="1500" b="1" dirty="0">
                <a:solidFill>
                  <a:srgbClr val="FFFFFF"/>
                </a:solidFill>
                <a:latin typeface="Calibri" pitchFamily="34" charset="0"/>
                <a:ea typeface="Calibri" pitchFamily="34" charset="-122"/>
                <a:cs typeface="Calibri" pitchFamily="34" charset="-120"/>
              </a:rPr>
              <a:t>α</a:t>
            </a:r>
            <a:pPr indent="0" marL="0">
              <a:buNone/>
            </a:pPr>
            <a:r>
              <a:rPr lang="en-US" sz="1500" dirty="0">
                <a:solidFill>
                  <a:srgbClr val="C3CEE8"/>
                </a:solidFill>
                <a:latin typeface="Calibri" pitchFamily="34" charset="0"/>
                <a:ea typeface="Calibri" pitchFamily="34" charset="-122"/>
                <a:cs typeface="Calibri" pitchFamily="34" charset="-120"/>
              </a:rPr>
              <a:t> dönerse ışın </a:t>
            </a:r>
            <a:pPr indent="0" marL="0">
              <a:buNone/>
            </a:pPr>
            <a:r>
              <a:rPr lang="en-US" sz="1500" b="1" dirty="0">
                <a:solidFill>
                  <a:srgbClr val="FFFFFF"/>
                </a:solidFill>
                <a:latin typeface="Calibri" pitchFamily="34" charset="0"/>
                <a:ea typeface="Calibri" pitchFamily="34" charset="-122"/>
                <a:cs typeface="Calibri" pitchFamily="34" charset="-120"/>
              </a:rPr>
              <a:t>2α</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Ayna boyu </a:t>
            </a:r>
            <a:pPr indent="0" marL="0">
              <a:buNone/>
            </a:pPr>
            <a:r>
              <a:rPr lang="en-US" sz="1500" b="1" dirty="0">
                <a:solidFill>
                  <a:srgbClr val="FFFFFF"/>
                </a:solidFill>
                <a:latin typeface="Calibri" pitchFamily="34" charset="0"/>
                <a:ea typeface="Calibri" pitchFamily="34" charset="-122"/>
                <a:cs typeface="Calibri" pitchFamily="34" charset="-120"/>
              </a:rPr>
              <a:t>h / 2</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r</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gelme açısı = yansıma açısı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48259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d(cisim) = d(görüntü)</a:t>
            </a:r>
            <a:endParaRPr lang="en-US" sz="1350" dirty="0"/>
          </a:p>
        </p:txBody>
      </p:sp>
      <p:sp>
        <p:nvSpPr>
          <p:cNvPr id="19" name="Text 17"/>
          <p:cNvSpPr txBox="1"/>
          <p:nvPr/>
        </p:nvSpPr>
        <p:spPr>
          <a:xfrm>
            <a:off x="9203436" y="3218688"/>
            <a:ext cx="216529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aynaya eşit uzaklık</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 = 360/α − 1</a:t>
            </a:r>
            <a:endParaRPr lang="en-US" sz="1350" dirty="0"/>
          </a:p>
        </p:txBody>
      </p:sp>
      <p:sp>
        <p:nvSpPr>
          <p:cNvPr id="22" name="Text 20"/>
          <p:cNvSpPr txBox="1"/>
          <p:nvPr/>
        </p:nvSpPr>
        <p:spPr>
          <a:xfrm>
            <a:off x="8362188" y="404164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iki ayna arasındaki görüntü</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L = h / 2</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gereken ayna boyu</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dersler.perinet.org/duzlem-aynalar.html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03 · Küresel aynalar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Düzlem aynalar — Dersler</dc:title>
  <dc:subject>Fizik · Optik</dc:subject>
  <dc:creator>Dersler</dc:creator>
  <cp:lastModifiedBy>Dersler</cp:lastModifiedBy>
  <cp:revision>1</cp:revision>
  <dcterms:created xsi:type="dcterms:W3CDTF">2026-09-29T23:25:08Z</dcterms:created>
  <dcterms:modified xsi:type="dcterms:W3CDTF">2026-09-29T23:25:08Z</dcterms:modified>
</cp:coreProperties>
</file>