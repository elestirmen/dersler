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Lst>
  <p:notesMasterIdLst>
    <p:notesMasterId r:id="rId1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notesMaster" Target="notesMasters/notesMaster1.xml"/><Relationship Id="rId141" Type="http://schemas.openxmlformats.org/officeDocument/2006/relationships/presProps" Target="presProps.xml"/><Relationship Id="rId142" Type="http://schemas.openxmlformats.org/officeDocument/2006/relationships/viewProps" Target="viewProps.xml"/><Relationship Id="rId143" Type="http://schemas.openxmlformats.org/officeDocument/2006/relationships/theme" Target="theme/theme1.xml"/><Relationship Id="rId1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Ocaktaki mavi alev tencereyi ısıtıyor; peki bu enerji nereden geliyor? Doğal gazın içinde saklı bir “ısı” mı var? Birbirine yapışmış iki mıknatısı ayırmak için çekmen gerekir; bıraktığında ise kendiliğinden birleşir ve “tık” diye çarparlar. Kimyasal bağlar da böyledir: bağ kırmak enerji ister, bağ kurmak enerji verir. Bir tepkimenin ısısı bu ikisinin farkıdır. Anlatım dört basamakta ilerliyor: önce molekül modelleriyle bağın ne olduğunu ve kırılmasının neden enerji istediğini sezeceğiz, sonra bağ enerjileri tablosuyla bir tepkimenin ısısını “kırılan eksi oluşan” diye hesaplayacağız, ardından bilinmeyen bir bağı bulacak, hesabın neden yaklaşık olduğunu ve yakıtların enerjisinin nereden geldiğini göreceğiz. En sonda kolaydan zora örneklerle hepsini birlikte kullanacağız.
Kapak görseli: Doğal gaz ocağının mavi alevi. Doğal gazın büyük kısmı metandır (CH₄). Alevde metan molekülleri havadaki oksijenle tepkimeye girer; sonunda karbon dioksit ve su buharı oluşur. Alevin mavi olması gazın yeterli havayla karışıp tam yandığını gösterir; sarı alev, tam yanmamış karbon parçacıklarının (isin) kızarmasıdır. Tencereyi ısıtan enerji, eski bağlar kırılıp yenileri kurulurken ortaya çıkan farktan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Ocaktaki mavi alev tencereyi ısıtıyor; peki bu enerji nereden geliyor? Doğal gazın içinde saklı bir “ısı” mı var? Birbirine yapışmış iki mıknatısı ayırmak için çekmen gerekir; bıraktığında ise kendiliğinden birleşir ve “tık” diye çarparlar. Kimyasal bağlar da böyledir: bağ kırmak enerji ister, bağ kurmak enerji verir. Bir tepkimenin ısısı bu ikisinin farkıdır. Anlatım dört basamakta ilerliyor: önce molekül modelleriyle bağın ne olduğunu ve kırılmasının neden enerji istediğini sezeceğiz, sonra bağ enerjileri tablosuyla bir tepkimenin ısısını “kırılan eksi oluşan” diye hesaplayacağız, ardından bilinmeyen bir bağı bulacak, hesabın neden yaklaşık olduğunu ve yakıtların enerjisinin nereden geldiğini göreceğiz. En sonda kolaydan zora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bir tepkimede atomların değil bağların değiştiğini gör; bağın ne olduğunu, kırılmasının neden enerji istediğini ve hangi bağın daha sağlam olduğunu formülsüz kavra.
   01 Önce gözlemle: ocaktaki alevin enerjisi nereden gelir?
   02 Kimyasal bağ: atomları bir arada tutan çekim
   03 Bağ enerjisi nedir? Kırarken alınan, kurulurken verilen
   04 Hangi bağ daha sağlam? Derece, uzunluk ve atom türü
2. Orta — Bağıntılar: bağ enerjileri tablosunu oku, bir tepkimenin ısısını kırılan ve oluşan bağlardan adım adım hesapla, sonucu enerji grafiğinde gör.
   05 Ortalama bağ enerjileri tablosu
   06 Tepkime entalpisi: kırılan eksi oluşan
   07 Adım adım: metanın yanması
   08 Potansiyel enerji grafiğinde bağlar
   09 Sayılarla hisset: büyük toplamlar, küçük fark
3. İleri — Derinleşme: hesabı tersine çevirip bilinmeyen bir bağı bul, sonucun neden yaklaşık olduğunu gör, yakıtların enerjisinin nereden geldiğini ve bağların gücünün gerçek hayattaki izlerini keşfet.
   10 Geri hesap: bilinmeyen bağ enerjisi
   11 Hesap neden yaklaşıktır?
   12 Yakıtlar neden enerji deposudur?
   13 Bağ enerjisi gerçek dünyada
4. Pekiştir — Kolaydan zora çözümlü örnekler ve bağ enerjisi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Mol: 6,02·10²³ tane tanecik. “1 mol bağ” da 6,02·10²³ tane bağ demektir; tablolardaki değerler bu kadar bağ içindir.
• Yapı formülü: atomları sembolleriyle, bağları çizgiyle gösterir: H–O–H. Bir çizgi tekli, iki çizgi ikili, üç çizgi üçlü bağdır.
• Ekzotermik ve endotermik: ısı veren olayda ΔH &lt; 0, ısı alan olayda ΔH &gt; 0 olur (bir önceki konu).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Hâl simgeleri: (g) gaz, (s) sıvı, (k) katı. Bu konudaki hesaplar gaz hâlindeki maddeler içindir.
• Enerjinin korunumu: enerji yoktan var olmaz, yok olmaz; yalnızca biçim değiştirir ya da sistemden çevreye (veya çevreden sisteme) geçer.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bir tepkimede atomların değil bağların değiştiğini gör; bağın ne olduğunu, kırılmasının neden enerji istediğini ve hangi bağın daha sağlam olduğunu formülsüz kavra.
01 Önce gözlemle: ocaktaki alevin enerjisi nereden gelir?
02 Kimyasal bağ: atomları bir arada tutan çekim
03 Bağ enerjisi nedir? Kırarken alınan, kurulurken verilen
04 Hangi bağ daha sağlam? Derece, uzunluk ve atom türü
Görsel: Molekül modelinden bir hidrojeni koparmak için parmaklarınla çekmen gerekir: bağ kırmak her zaman dışarıdan enerji ister. Modeldeki çubuklar bağları temsil eder; oksijen molekülünde ve karbon dioksitte atomlar ikişer çubukla, yani ikili bağla tutunur. Gerçek moleküllerde bu çekme işini ısı, ışık ya da elektrik yapar; gereken enerjiye bağ enerjisi denir.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ocaktaki alevin enerjisi nereden gelir? — adım 1/4
• Ocağı yaktığında doğal gaz havadaki oksijenle tepkimeye girer ve tencere ısınır.
• Çevrende buna benzeyen pek çok olay var; bir kısmı enerji verir, bir kısmı enerji 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ocaktaki alevin enerjisi nereden gelir? — adım 2/4
• Alev ısıtır: doğal gaz, çakmak gazı, mum ve odun yanarken çevreye ısı ve ışık verir.
• Yanmak için kıvılcım gerekir: ocağın gazı kendiliğinden tutuşmaz; çakmağın kıvılcımı ilk bağları kıracak enerjiyi verir.
• Suyu ayırmak enerji ister: suyu hidrojen ve oksijene ayırmak için sürekli elektrik akımı gerekir; akım kesilince ayrışma durur.
• Güneş plastiği yıpratır: güneşte unutulan plastik kova zamanla kırılganlaşır; morötesi ışık plastiğin bazı bağlarını koparır.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ocaktaki alevin enerjisi nereden gelir? — adım 3/4
• Alevde yeni atom oluşmaz, hiçbir atom kaybolmaz.
• Metandaki karbon ve hidrojen atomları ile oksijen atomları yalnızca eş değiştirir: eski bağlar kırılır, aynı atomlar arasında yeni bağlar kurulur.
• Modelden bir hidrojeni koparmak için çekmen gerekir; atomlar yeniden birleşirken ise enerji açığa çıkar.
• Ocaktaki ısının kaynağı bu iki işin farkıdır.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ocaktaki alevin enerjisi nereden gelir? — şekil
Metanın yanmasında soldaki ve sağdaki atomlar aynıdır: 1 karbon, 4 hidrojen, 4 oksijen. Değişen yalnızca bağlardır. Kırmızı kesikli çizgiler kırılan bağları (4 C–H ve 2 O=O), yeşil çizgiler yeni kurulan bağları (2 C=O ve 4 O–H) gösterir. Ocaktaki ısı, yeni bağlar kurulurken açığa çıkan enerjinin eski bağları kırmaya harcanandan fazla olmasından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Tepkimede atomlar korunur, bağlar değişir. Eski bağları kırmak enerji ister, yenilerini kurmak enerji verir; alevin ısısı bu ikisinin farkından gelir.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Ocağın düğmesini açınca gaz havayla karışır ama kıvılcım olmadan yanmaz. Enerji neden kendiliğinden açığa çıkmaz?
Sınıfa sorun, birkaç tahmin alın; sonra cevap slaytına geçin.
Cevap: Yeni bağların kurulabilmesi için önce eski bağların bir kısmının kırılması gerekir ve bu enerji ister. Kıvılcım ilk molekülleri bu engelden geçirir; sonra açığa çıkan ısı yanındaki molekülleri tutuşturur ve alev kendini sürdürür. Bu başlangıç engeline aktifleşme enerjisi denir; Tepkimelerde Hız ünitesinde ayrıntısıyla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Yeni bağların kurulabilmesi için önce eski bağların bir kısmının kırılması gerekir ve bu enerji ister. Kıvılcım ilk molekülleri bu engelden geçirir; sonra açığa çıkan ısı yanındaki molekülleri tutuşturur ve alev kendini sürdürür. Bu başlangıç engeline aktifleşme enerjisi denir; Tepkimelerde Hız ünitesinde ayrıntısıyla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Kimyasal bağ: atomları bir arada tutan çekim — adım 1/4
• İki hidrojen atomunu birbirine yaklaştırdığını düşün.
• Her atomun çekirdeği artı yüklüdür, çevresindeki elektron eksi yüklüdür.
• Atomlar yaklaştıkça her çekirdek kendi elektronuyla birlikte komşusunun elektronunu da çekmeye başlar.
• İki elektron, çekirdeklerin arasında ortak kullanılan bir çift olur.
• Bu ortaklığa kovalent bağ denir ve yapı formülünde bir çizgiyle gösterilir: H–H.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Kimyasal bağ: atomları bir arada tutan çekim — adım 2/4
• Atomlar sonsuza kadar yaklaşmaz.
• Çok yaklaşınca iki artı yüklü çekirdek birbirini iter.
• Çekim ile itmenin dengelendiği uzaklıkta enerji en düşüktür ve atomlar orada durur.
• Bu uzaklığa bağ uzunluğu denir.
• H₂ molekülünde bağ uzunluğu 74 pikometredir; 1 pikometre (pm) metrenin trilyonda biridir.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Kimyasal bağ: atomları bir arada tutan çekim — şekil
İki hidrojen atomunun enerjisi, aralarındaki uzaklığa bağlıdır. Atomlar birbirinden uzakken enerji sıfırdır. Yaklaştıkça çekim baskın gelir ve enerji düşer; 74 pm'de en dibe iner: H₂ molekülü burada durur. Daha da yaklaştırılırsa çekirdeklerin itmesi baskın gelir ve enerji hızla yükselir. Çukurun derinliği bir sonraki başlığın konusu: bağ enerjisi.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Kimyasal bağ: atomları bir arada tutan çekim — adım 4/4
• Bağlı iki atom bu enerji çukurunun dibindedir.
• Onları ayırmak için çukurdan dışarı, enerjinin sıfır olduğu düzeye kadar çıkarman gerekir.
• Çukur ne kadar derinse atomları ayırmak o kadar çok enerji ister, yani bağ o kadar sağlamdır.
• 02 numaralı laboratuvarda atomlardan birini sürükleyerek bu eğrinin üzerinde gezebilirsin.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Kovalent bağda iki atom bir elektron çiftini ortak kullanır; iki çekirdek de bu çifti çeker. Çekim ile itmenin dengelendiği uzaklık bağ uzunluğudur; atomlar orada en düşük enerjidedir.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nedir? Kırarken alınan, kurulurken verilen — adım 1/4
• Gaz hâlindeki moleküllerde iki atom arasındaki 1 mol bağı kırıp atomları ayırmak için gereken enerjiye bağ enerjisi denir; birimi kJ/mol'dür.
• 1 mol H₂ molekülünü (2 gram) hidrojen atomlarına ayırmak 436 kJ ister:
H₂(g) + 436 kJ → 2H(g)   2H(g) → H₂(g) + 436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nedir? Kırarken alınan, kurulurken verilen — adım 2/4
• İkinci satır aynı olayın tersidir: 2 mol hidrojen atomu birleşip 1 mol H₂ oluşturduğunda tam 436 kJ açığa çıkar.
• Enerji korunduğu için bir bağı kurarken verilen enerji, o bağı kırmak için gereken enerjiye eşittir.
• Bu yüzden: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nedir? Kırarken alınan, kurulurken verilen — adım 3/4
• Bağ kırmak her zaman endotermiktir: sisteme enerji verilmelidir (ΔH &gt; 0).
• Bağ kurmak her zaman ekzotermiktir: sistem çevreye enerji verir (ΔH &lt; 0).
• Bağ enerjisi hep pozitif bir sayıdır: işaretini, bağın kırıldığını mı kurulduğunu mu anlattığımıza göre koyarız.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nedir? Kırarken alınan, kurulurken verilen — şekil
İki bağ, iki basamak. Molekülü atomlarına ayırmak için kırmızı ok kadar enerji vermek gerekir; atomlar yeniden birleşince yeşil ok kadar enerji geri çıkar. İki ok aynı boydadır. H–H bağının basamağı (436 kJ/mol) Cl–Cl bağınınkinden (243 kJ/mol) yaklaşık 1,8 kat yüksektir: bağ enerjisi büyük olan bağ daha sağlamdır.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Bağ enerjisi, gaz hâlinde 1 mol bağı kırmak için gereken enerjidir. Aynı bağ kurulurken aynı miktar enerji açığa çıkar: bağ kırmak endotermik, bağ kurmak ekzotermiktir.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bağın kırılması ısı veren bir olay olabilir mi?
Sınıfa sorun, birkaç tahmin alın; sonra cevap slaytına geçin.
Cevap: Hayır. Bağı kırmak, atomları enerji çukurunun dibinden yukarı çıkarmak demektir; bunun için her zaman enerji gerekir. Bir olayda ısı açığa çıkıyorsa, orada kırılan bağların yanında daha güçlü yeni bağlar da kuruluyordur. Isıyı veren, kırılma değil kurulmadır.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Bağı kırmak, atomları enerji çukurunun dibinden yukarı çıkarmak demektir; bunun için her zaman enerji gerekir. Bir olayda ısı açığa çıkıyorsa, orada kırılan bağların yanında daha güçlü yeni bağlar da kuruluyordur. Isıyı veren, kırılma değil kurulmadır.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Hangi bağ daha sağlam? Derece, uzunluk ve atom türü — adım 1/4
• Bağ enerjisi bir bağın sağlamlık ölçüsüdür: değeri büyük olan bağı kırmak daha zordur.
• Hangi bağın daha sağlam olduğunu üç ipucu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Hangi bağ daha sağlam? Derece, uzunluk ve atom türü — adım 2/4
• Bağ derecesi: iki atom arasındaki ortak elektron çifti arttıkça bağ hem güçlenir hem kısalır. C–C 347, C=C 614, C≡C 839 kJ/mol; uzunlukları 154, 134 ve 120 pm.
• Ama orantılı değil: ikili bağ tekli bağın iki katı değildir. 2 × 347 = 694 ederdi; C=C ise 614'tür. İkinci ve üçüncü çift, ilk çift kadar güçlü tutunmaz.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Hangi bağ daha sağlam? Derece, uzunluk ve atom türü — adım 3/4
• Bağ uzunluğu: benzer bağlarda kısa bağ daha sağlamdır. Hidrojenin halojenlerle yaptığı bağlarda atom büyüdükçe bağ uzar ve zayıflar: H–F 92 pm'de 567, H–I 161 pm'de 299 kJ/mol.
• Atom türü: aynı derecedeki bağlar bile atomlara göre çok farklıdır: N–N 163, C–C 347, H–H 436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Hangi bağ daha sağlam? Derece, uzunluk ve atom türü — şekil
Bağın gücü çubukların boyuyla gösterildi; sağdaki sayılar bağ uzunluğudur. Üstte karbon–karbon bağları: bağ derecesi arttıkça bağ güçlenir ve kısalır. Altta hidrojen–halojen bağları: halojen atomu büyüdükçe bağ uzar ve zayıflar. Soldaki küçük modellerde atomlar arası uzaklık da bağ uzunluğuyla orantılı çizildi.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Üçlü bağ ikiliden, ikili bağ tekliden daha kısa ve sağlamdır, ama enerjiler orantılı artmaz. Benzer bağlarda kısa olan daha sağlamdır; atom türü de bağın gücünü belirler.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F–F bağı (142 pm) Cl–Cl bağından (199 pm) kısadır. O hâlde daha mı sağlamdır?
Sınıfa sorun, birkaç tahmin alın; sonra cevap slaytına geçin.
Cevap: Hayır: F–F 159, Cl–Cl 243 kJ/mol'dür. Flor atomları çok küçüktür; bağ kısalınca iki atomun bağa katılmayan elektron çiftleri birbirine çok yaklaşır ve iter. “Kısa bağ daha sağlamdır” kuralı benzer bağları karşılaştırırken işe yarar, her zaman geçerli bir yasa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F–F 159, Cl–Cl 243 kJ/mol'dür. Flor atomları çok küçüktür; bağ kısalınca iki atomun bağa katılmayan elektron çiftleri birbirine çok yaklaşır ve iter. “Kısa bağ daha sağlamdır” kuralı benzer bağları karşılaştırırken işe yarar, her zaman geçerli bir yasa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bağ enerjileri tablosunu oku, bir tepkimenin ısısını kırılan ve oluşan bağlardan adım adım hesapla, sonucu enerji grafiğinde gör.
05 Ortalama bağ enerjileri tablosu
06 Tepkime entalpisi: kırılan eksi oluşan
07 Adım adım: metanın yanması
08 Potansiyel enerji grafiğinde bağlar
09 Sayılarla hisset: büyük toplamlar, küçük fark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bağ enerjileri tablosu — adım 1/6
• Aynı iki atom arasındaki bağ, farklı moleküllerde biraz farklı güçtedir: sudaki O–H bağı ile hidrojen peroksitteki (H₂O₂) O–H bağı birebir aynı değildir.
• Tablolar bu yüzden birçok molekülden ölçülmüş değerlerin ortalamasını verir.
• Bu konudaki bütün hesaplarda aşağıdaki değerleri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bağ enerjileri tablosu — adım 2/6
Bağ | kJ/mol | Bağ | kJ/mol
H–H | 436 | O=O | 498
C–H | 413 | O–O | 146
O–H | 463 | N≡N | 945
N–H | 391 | N=N | 418
C–C | 347 | N–N | 163
C=C | 614 | N=O | 607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bağ enerjileri tablosu — adım 3/6
Bağ | kJ/mol | Bağ | kJ/mol
C≡C | 839 | H–F | 567
C–O | 358 | H–Cl | 431
C=O | 745 (CO₂'de 799) | H–Br | 366
C≡O | 1072 | H–I | 299
C–N | 305 | F–F | 159
C–Cl | 339 | Cl–Cl | 243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bağ enerjileri tablosu — adım 4/6
Bağ | kJ/mol | Bağ | kJ/mol
C–F | 485 | Br–Br · I–I | 193 ·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bağ enerjileri tablosu — adım 5/6
• Tabloyu kullanırken dört kuralı aklında tut:
• Gaz hâli: değerler gaz moleküller içindir; sıvı ve katılarda moleküller arası çekimler de işe karışır.
• 1 mol bağ başına: bir molekülde aynı bağdan birkaç tane varsa değer o sayıyla çarpılır; CH₄'te 4 tane C–H vardır.
• CO₂ özeldir: karbon dioksitteki C=O bağları ortalamadan sağlamdır; CO₂ için 799 kullan.
• Önce yapıyı çiz: hangi bağdan kaç tane olduğunu yapı formülü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bağ enerjileri tablosu — şekil
Bağ saymak hesabın yarısıdır. Sudaki iki O–H bağı 104,5°'lik bir açı yapar, CO₂ ise doğrusaldır; ama hesap için yalnızca hangi bağdan kaç tane olduğu önemlidir. Etende (C₂H₄) karbonlar arasında bir ikili bağ ve dört C–H bağı, metil alkolde (metanol, CH₃OH) üç C–H, bir C–O ve bir O–H bağı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Tablolar gaz hâlindeki 1 mol bağ için ortalama değer verir. Hesaba başlamadan önce yapı formülünü çiz ve her bağdan kaç tane olduğunu say.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 kırılan eksi oluşan — adım 1/4
• Bir tepkimenin ısısını bulmak için tepkimeyi iki hayalî adıma ayır.
• Önce girenlerdeki bütün bağları kır ve atomları serbest bırak: bunun için kırılan bağların enerjileri toplamı kadar enerji alınır.
• Sonra serbest atomlardan ürünleri kur: bu kez oluşan bağların enerjileri toplamı kadar enerji verilir.
• Net değişim ikisinin farkıdır:
ΔH = ΣE(kırılan) − ΣE(oluşan)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 kırılan eksi oluşan — adım 2/4
Formüldeki harfler ne anlama geliyor?
Sembol | Anlamı | Birimi
ΔH | tepkime entalpisi: denklemdeki miktarlar tepkimeye girince alınan (+) ya da verilen (−) ısı | kJ
Σ | “topla” demek: aynı türden bütün terimleri topla | —
E(X–Y) | X–Y bağının bağ enerjisi (tablodan) | kJ/mol
ΣE(kırılan) | girenlerdeki bağların toplamı: her bağ için sayısı × enerjisi | kJ
ΣE(oluşan) | ürünlerdeki bağların toplamı |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 kırılan eksi oluşan — adım 3/4
• Hidrojen ile klorun tepkimesinde dene: H₂(g) + Cl₂(g) → 2HCl(g).
• Kırılan bağlar 1 H–H ve 1 Cl–Cl: 436 + 243 = 679 kJ.
• Oluşan bağlar 2 H–Cl: 2 × 431 = 862 kJ. ΔH = 679 − 862 = −183 kJ.
• Oluşan bağlar daha çok enerji verdiği için tepkime ekzotermiktir.
• Σoluşan &gt; Σkırılan ise ΔH &lt; 0: tepkime ekzotermiktir.
• Σkırılan &gt; Σoluşan ise ΔH &gt; 0: tepkime endotermiktir.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 kırılan eksi oluşan — şekil
Bağ kır, bağ kur merdiveni. Girenlerden (mavi düzey) yukarı çıkan kırmızı ok bağları kırmak için alınan 679 kJ'yi, atomlardan ürünlere inen yeşil ok yeni bağlar kurulurken verilen 862 kJ'yi gösterir; oklar değerlerle orantılıdır. İniş çıkıştan uzun olduğu için ürünler girenlerin 183 kJ altında kalır. 01 numaralı laboratuvarda aynı merdiveni başka tepkimeler için de kurabilirsin.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ΔH = ΣE(kırılan) − ΣE(oluşan). Oluşan bağlar kırılanlardan güçlüyse tepkime ısı verir (ΔH &lt; 0); zayıfsa ısı alır (ΔH &gt; 0).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2HCl(g) → H₂(g) + Cl₂(g) tepkimesinin ΔH'si nedir?
Sınıfa sorun, birkaç tahmin alın; sonra cevap slaytına geçin.
Cevap: +183 kJ. Ters tepkimede kırılan ve oluşan bağlar yer değiştirir: kırılan 2 × 431 = 862 kJ, oluşan 436 + 243 = 679 kJ, ΔH = 862 − 679 = +183 kJ. Bir tepkime ters çevrilince ΔH'nin büyüklüğü aynı kalır, işareti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+183 kJ. Ters tepkimede kırılan ve oluşan bağlar yer değiştirir: kırılan 2 × 431 = 862 kJ, oluşan 436 + 243 = 679 kJ, ΔH = 862 − 679 = +183 kJ. Bir tepkime ters çevrilince ΔH'nin büyüklüğü aynı kalır, işareti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metanın yanması — adım 1/4
• Şimdi giriş görselindeki alevin hesabını yapalım.
• Doğal gazın ana bileşeni metan yanınca karbon dioksit ve su buharı oluşur.
• Bağ enerjileri gaz hâli için verildiğinden suyu buhar olarak alıyoruz.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metanın yanması — adım 2/4
• Denklemi yaz, denkliği denetle: CH₄(g) + 2O₂(g) → CO₂(g) + 2H₂O(g). İki yanda da 1 C, 4 H, 4 O var.
• Yapıları çiz: CH₄'te 4 C–H; her O₂'de 1 O=O; CO₂'de 2 C=O; her H₂O'da 2 O–H.
• Kırılanları topla: 4 × 413 + 2 × 498 = 1652 + 996 = 2648 kJ.
• Oluşanları topla: 2 × 799 + 4 × 463 = 1598 + 1852 = 3450 kJ. İki su molekülünde toplam 4 O–H bağı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metanın yanması — adım 3/4
• Farkı al: ΔH = 2648 − 3450 = −802 kJ.
• Yorumla: ΔH &lt; 0, tepkime ekzotermiktir. 1 mol metan (16 g) yanarken 802 kJ ısı verir; ölçülen değer de −802 kJ'dir.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metanın yanması — şekil
Metanın yanmasında bağ hesabı. Üstteki kırmızı çubuk kırılan bağları, alttaki yeşil çubuk oluşan bağları gösterir; boylar enerjilerle orantılıdır. Yeşil çubuk kırmızıdan 802 kJ uzundur: bu fazlalık ocaktaki alevin ısısıdır. Dikkat: dört O–H bağı tek bir su molekülünde değil, iki su molekülündedir.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Metan yanarken 2648 kJ'lik bağ kırılır, 3450 kJ'lik bağ kurulur; ΔH = −802 kJ'dir. Yol hep aynıdır: denkleştir, yapıları çiz, bağları say, topla ve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Su sıvı olarak oluşsaydı açığa çıkan ısı artar mı, azalır mı?
Sınıfa sorun, birkaç tahmin alın; sonra cevap slaytına geçin.
Cevap: Artar. Su buharı yoğuşurken de ısı verir: mol başına 44 kJ. 2 mol su için 88 kJ daha açığa çıkar ve ΔH = −890 kJ olur. Bağ enerjileri bu farkı göremez, çünkü yoğuşmada hiçbir kovalent bağ kırılmaz ya da kurulmaz; bu yüzden hesap gaz hâlindeki maddelerle yapılır.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Artar. Su buharı yoğuşurken de ısı verir: mol başına 44 kJ. 2 mol su için 88 kJ daha açığa çıkar ve ΔH = −890 kJ olur. Bağ enerjileri bu farkı göremez, çünkü yoğuşmada hiçbir kovalent bağ kırılmaz ya da kurulmaz; bu yüzden hesap gaz hâlindeki maddelerle yapılır.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Potansiyel enerji grafiğinde bağlar — adım 1/5
• Enerji değişimi bir grafikle de gösterilir.
• Dikey eksen potansiyel enerji, yatay eksen tepkimenin ilerleyişidir (tepkime koordinatı).
• Girenlerden başlayan eğri, bütün bağlar kırılınca atomlar düzeyine yükselir, yeni bağlar kurulurken ürünler düzeyine iner.
• Yükselişin boyu Σkırılan, inişin boyu Σoluşan, girenler ile ürünler arasındaki fark ΔH'dir.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Potansiyel enerji grafiğinde bağlar — şekil
Ekzotermik tepkimenin grafiği. Hidrojenin yanmasında eğri girenlerden (2H₂ + O₂) bütün bağların kırıldığı atomlar düzeyine 1370 kJ yükselir, dört O–H bağı kurulurken 1852 kJ iner. İniş daha uzun olduğu için ürünler girenlerden 482 kJ aşağıda biter. Tepedeki düzey, bütün bağların birden kırıldığı hayalî bir yoldur; gerçek tepkime bu kadar yükseğe çıkmaz, ama ΔH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Potansiyel enerji grafiğinde bağlar — adım 3/5
• Azot ile oksijenin tepkimesinde, N₂(g) + O₂(g) → 2NO(g), kırılan bağlar 945 + 498 = 1443 kJ, oluşan iki N=O bağı 2 × 607 = 1214 kJ tutar.
• Bu kez yükseliş inişten uzundur ve ürünler girenlerin üstünde biter: ΔH = +229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Potansiyel enerji grafiğinde bağlar — şekil
Endotermik tepkimenin grafiği (ölçek üstteki grafikle aynı). N≡N ve O=O bağlarını kırmak 1443 kJ ister, iki N=O bağı kurulurken yalnızca 1214 kJ geri gelir. Ürünler girenlerden 229 kJ yukarıda kalır: tepkime sürdükçe dışarıdan ısı alınmalıdır. N≡N bağı çok sağlam olduğu için havadaki azot ve oksijen ancak araba motorunun içi ya da şimşek gibi çok sıcak ortamlarda NO oluşturur.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Potansiyel enerji grafiğinde bağlar — adım 5/5
• Ekzotermik: ürünler girenlerden aşağıdadır; ürünler daha düşük enerjili, yani daha kararlıdır.
• Endotermik: ürünler girenlerden yukarıdadır; bu kez girenler daha kararlıdır.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Grafikte girenlerden atomlar düzeyine çıkış Σkırılan, atomlardan ürünlere iniş Σoluşan, girenler ile ürünler arasındaki fark ΔH'dir. Ürünler aşağıdaysa tepkime ekzotermik, yukarıdaysa endotermiktir.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Gerçek bir tepkimede bütün bağlar önce kırılıp sonra mı yenileri kurulur?
Sınıfa sorun, birkaç tahmin alın; sonra cevap slaytına geçin.
Cevap: Hayır. Gerçek tepkimede eski bağlar zayıflarken yenileri kurulmaya başlar; bu yüzden aşılan tepe atomlar düzeyinden çok daha alçaktır. Bu gerçek tepeye aktifleşme enerjisi denir (Tepkimelerde Hız ünitesi). Yine de ΔH aynı çıkar: entalpi değişimi yalnızca başlangıç ve bitiş hâline bağlıdır, aradaki yola bağlı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Gerçek tepkimede eski bağlar zayıflarken yenileri kurulmaya başlar; bu yüzden aşılan tepe atomlar düzeyinden çok daha alçaktır. Bu gerçek tepeye aktifleşme enerjisi denir (Tepkimelerde Hız ünitesi). Yine de ΔH aynı çıkar: entalpi değişimi yalnızca başlangıç ve bitiş hâline bağlıdır, aradaki yola bağlı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büyük toplamlar, küçük fark — adım 1/4
• 436 kJ ne kadar büyük bir enerji?
• 1 mol H₂'nin, yani yalnızca 2 gram hidrojenin bağlarını kırmak için gereken enerjiyle 1,3 kg suyu 20 °C'den kaynamaya kadar ısıtabilirsin (q = m·c·ΔT = 1300 · 4,18 · 80 ≈ 435 000 J).
• Tek bir H–H bağı içinse 436 kJ'yi 6,02·10²³'e bölmek gerekir: yaklaşık 7·10⁻¹⁹ J.
• Bilinen tepkimelerin bağ hesabı yan yana (hepsi gaz hâlinde):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büyük toplamlar, küçük fark — adım 2/4
Tepkime | Σkırılan (kJ) | Σoluşan (kJ) | ΔH (kJ)
H₂ + Cl₂ → 2HCl | 679 | 862 | −183
2H₂ + O₂ → 2H₂O | 1370 | 1852 | −482
N₂ + 3H₂ → 2NH₃ | 2253 | 2346 | −93
CH₄ + 2O₂ → CO₂ + 2H₂O | 2648 | 3450 | −802
N₂ + O₂ → 2NO | 1443 | 1214 | +229
CH₄ + H₂O → CO + 3H₂ | 2578 | 2380 | +198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büyük toplamlar, küçük fark — adım 3/4
• Tablodan üç düzen okunur:
• Toplamlar büyük, fark küçük: amonyak tepkimesinde iki yanda da 2000 kJ'den fazla bağ var, ama fark yalnızca 93 kJ.
• Yanmalar ekzotermiktir: oksijenle kurulan C=O ve O–H bağları çok güçlüdür.
• Çok sağlam bağ kıran tepkimeler endotermik olabilir: N≡N (945) kırılıp daha zayıf iki N=O kurulunca enerji alınır. Son satırdaki tepkimeyle bugün hidrojenin çoğu üretilir ve fabrikada sürekli ısıtma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büyük toplamlar, küçük fark — şekil
İki büyük sayının farkı. Her tepkimede kırmızı çubuk kırılan, yeşil çubuk oluşan bağların toplamıdır; sarı şerit aradaki farkı, yani ΔH'nin büyüklüğünü gösterir. Amonyakta iki çubuk neredeyse eşittir: toplamlar 2000 kJ'yi aşarken fark 93 kJ'dir. NO'da kırmızı çubuk uzundur; bu yüzden ΔH artıdır.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Kırılan ve oluşan bağların toplamı binlerce kJ'dir; ΔH ise çoğu zaman bu iki büyük sayının küçük farkıdır. Yanmalar ekzotermiktir; çok sağlam bağ kıran tepkimeler endotermik olabilir.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hesabı tersine çevirip bilinmeyen bir bağı bul, sonucun neden yaklaşık olduğunu gör, yakıtların enerjisinin nereden geldiğini ve bağların gücünün gerçek hayattaki izlerini keşfet.
10 Geri hesap: bilinmeyen bağ enerjisi
11 Hesap neden yaklaşıktır?
12 Yakıtlar neden enerji deposudur?
13 Bağ enerjisi gerçek dünyada
Görsel: Oksiasetilen hamlacı asetileni saf oksijenle yakar. Memenin ucundaki küçük mavi-beyaz alev çeliği önce kızıl renge, yaklaşık 900 °C'ye kadar ısıtır; sonra memeden gönderilen saf oksijen jeti kızgın demiri yakar ve oluşan erimiş oksidi yarıktan üfleyip atar. Aşağı saçılan turuncu kıvılcımlar, akkor hâldeki demir ve demir oksit damlacıklarıdır.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bağ enerjisi — adım 1/4
• Tablodaki değerler nereden geliyor?
• Bir tepkimenin ΔH'si kalorimetreyle ölçülebilir.
• Bağlardan biri dışında hepsinin enerjisi biliniyorsa aynı bağıntı bilinmeyeni verir.
• Hidrojenin yanmasını yeniden ele al, bu kez ölçülen değerle başla: 2H₂(g) + O₂(g) → 2H₂O(g), ΔH = −484 kJ.
• O–H bağının enerjisine x diyelim.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bağ enerjisi — adım 2/4
• İki su molekülünde 4 O–H bağı olduğu için oluşanların toplamı 4x'tir:
−484 = (2·436 + 498) − 4x   4x = 1370 + 484 = 1854   x = 463,5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bağ enerjisi — adım 3/4
• Sonuç tablodaki 463 kJ/mol'e çok yakın.
• Bilinmeyen bağ girenlerde olsaydı aynı yolu izlerdin; bu kez x kırılanların toplamına girerdi.
• İşaret hatası yapmamak için ΔH'yi işaretiyle yaz, bilinmeyeni en sonda yalnız bırak ve bulduğun değeri tabloyla karşılaştır.
• 03 numaralı laboratuvardaki bulmacalarda aynı hesabı başka tepkimelerle deneyebilirsin.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bağ enerjisi — şekil
Ölçülen ΔH'den geriye. Girenlerden atomlara çıkış tablodaki değerlerle bilinir (1370 kJ); girenler ile ürünler arasındaki fark ölçülmüştür (484 kJ). Atomlardan ürünlere iniş bu ikisinin toplamı olmak zorundadır: 1854 kJ. Bu iniş dört O–H bağının kurulmasıdır; bir bağ için 1854 ÷ 4 = 463,5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ΔH ölçülmüşse ve bir bağ dışındaki bütün bağ enerjileri biliniyorsa ΔH = ΣE(kırılan) − ΣE(oluşan) bağıntısından bilinmeyen bağ bulunur. Bağın kaç tane olduğunu (4x gibi) unutma.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Hesap neden yaklaşıktır? — adım 1/4
• Bağ enerjileriyle bulunan ΔH çoğu zaman ölçülen değere yakındır, ama tam aynı değildir.
• Bunun üç nedeni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Hesap neden yaklaşıktır? — adım 2/4
• Değerler ortalamadır: NO molekülündeki azot–oksijen bağının gerçek enerjisi yaklaşık 632 kJ/mol, tablodaki ortalama ise 607'dir. Bu yüzden N₂ + O₂ → 2NO için hesap +229 kJ verir, ölçülen değer +181 kJ'dir.
• Değerler gaz hâli içindir: metanın yanmasında su sıvı oluşursa ölçülen ΔH −890 kJ'dir; hesap yine −802 kJ verir. Aradaki 88 kJ, iki mol suyun yoğuşma ısısıdır.
• Küçük fark, büyük hata: ΔH iki büyük toplamın farkı olduğundan toplamlardaki küçük bir sapma, farkı oransal olarak çok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Hesap neden yaklaşıktır? — şekil
Hesaplanan ve ölçülen ΔH yan yana: koyu çubuklar bağ enerjileriyle hesaplanan, açık çubuklar ölçülen değerler. Basit gaz tepkimelerinde ikisi neredeyse aynıdır. NO'da fark tablodaki ortalama N=O değerinden, sıvı suyla biten yanmada ise bağ enerjilerinin göremediği yoğuşma ısısından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Hesap neden yaklaşıktır? — adım 4/4
• Kesin sonuç için bir sonraki konudaki oluşum entalpilerini kullanırız.
• Bağ enerjileri ise hızlı bir tahmin verir ve en önemlisi, ısının nereden geldiğini açıklar.
• 04 numaralı laboratuvarda hesaplanan ve ölçülen değerleri tepkime tepkime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Bağ enerjileri ortalama ve gaz hâli için olduğundan hesaplanan ΔH yaklaşıktır. ΔH küçük olduğunda göreli hata büyür; kesin değer için oluşum entalpileri kullanılır.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N₂ + 3H₂ → 2NH₃ hesabında N–H bağı yalnızca %1 büyük alınsaydı ΔH ne olurdu?
Sınıfa sorun, birkaç tahmin alın; sonra cevap slaytına geçin.
Cevap: N–H 391 yerine 395 olurdu ve oluşanlar 6 × 395 = 2370 kJ tutardı. ΔH = 2253 − 2370 = −117 kJ çıkar: %1'lik sapma sonucu −93'ten −117'ye, yani dörtte bir oranında değiştirir. İki büyük sayının farkı, sayılardaki küçük hatalara karşı çok duyarlıdır.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N–H 391 yerine 395 olurdu ve oluşanlar 6 × 395 = 2370 kJ tutardı. ΔH = 2253 − 2370 = −117 kJ çıkar: %1'lik sapma sonucu −93'ten −117'ye, yani dörtte bir oranında değiştirir. İki büyük sayının farkı, sayılardaki küçük hatalara karşı çok duyarlıdır.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neden enerji deposudur? — adım 1/5
• “Yakıtın bağlarında enerji saklıdır, bağ kırılınca açığa çıkar” cümlesi çok duyulur ama yanlıştır: hiçbir bağ kırılırken enerji vermez.
• Yakıtın enerjisi, oksijenle birlikte kurabileceği yeni ve güçlü bağlardan gelir.
• Metan kapalı bir tüpte yıllarca durur; oksijen olmadan yanamaz.
• Asıl enerji deposu yakıt ile oksijenin ikilisidir.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neden enerji deposudur? — adım 2/5
• O₂'de iki oksijen atomunu tek bir ikili bağ tutar, yani atom başına yalnızca 498 ÷ 2 = 249 kJ.
• Ürünlerde ise her O atomu ya bir C=O bağıyla (CO₂'de 799 kJ) ya da iki O–H bağıyla (suda 2 × 463 = 926 kJ) tutunur.
• Yanma ısısının büyük kısmı, oksijen atomlarının bu zayıf tutunmadan güçlü tutunmaya geçmesinden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neden enerji deposudur? — adım 3/5
• Bu yüzden metan, propan, etanol gibi karbon ve hidrojen içeren yaygın yakıtlarda harcanan her mol O₂ başına benzer bir ısı açığa çıkar (ölçülen değerler, su buhar: metan 401, propan 409, etanol 412 kJ).
• Bir yakıtın gram başına verdiği enerjiyi de ne kadar oksijenle yanabildiği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neden enerji deposudur? — adım 4/5
• C–H ve C–C bağı çok olan yakıtlar (doğal gaz, propan, benzin) gram başına çok enerji verir.
• Zaten oksijen içeren yakıtlar (etanol, metanol, şeker) yarı yanmış gibidir; gram başına daha az enerji verir.
• Hidrojen en hafif yakıttır; gram başına en yüksek enerji ondadır.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Yakıtlar neden enerji deposudur? — şekil
Gram başına yanma ısısı. Molekülünde oksijen bulunmayan yakıtlar (koyu çubuklar) gram başına en çok enerjiyi verir; etanol, metanol ve glikoz (açık çubuklar) zaten oksijen içerdikleri için daha azını verir. Hidrojenin çubuğu en uzundur: 1 gram hidrojen, 1 gram metandan yaklaşık 2,6 kat fazla ısı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Bağ kırılırken enerji açığa çıkmaz; yakıtın enerjisi, oksijenle kurulan güçlü C=O ve O–H bağlarından gelir. Molekülünde oksijen az, C–H bağı çok olan yakıt gram başına daha çok enerji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Yağlar neden karbonhidratlardan gram başına iki kattan fazla enerji verir?
Sınıfa sorun, birkaç tahmin alın; sonra cevap slaytına geçin.
Cevap: Yağ molekülleri çoğunlukla uzun C–H ve C–C zincirlerinden oluşur ve çok az oksijen içerir. Şekerde ise neredeyse her karbonda bir oksijen vardır; molekül yarı yanmış gibidir. Yağın her gramı yanarken çok daha fazla O₂ harcar ve çok daha fazla yeni C=O ve O–H bağı kurar: yağ yaklaşık 37, karbonhidrat 17 kJ/g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Yağ molekülleri çoğunlukla uzun C–H ve C–C zincirlerinden oluşur ve çok az oksijen içerir. Şekerde ise neredeyse her karbonda bir oksijen vardır; molekül yarı yanmış gibidir. Yağın her gramı yanarken çok daha fazla O₂ harcar ve çok daha fazla yeni C=O ve O–H bağı kurar: yağ yaklaşık 37, karbonhidrat 17 kJ/g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gerçek dünyada — adım 1/5
• Ustalar çeliği keserken ve kaynak yaparken çoğu zaman asetileni (etin, C₂H₂) saf oksijenle yakar.
• Neden en sıcak kesme ve kaynak alevi asetilenle elde edilir?
• Bağ enerjileriyle hesaplayınca 1 mol metanın yanması 802 kJ, 1 mol asetileninki yaklaşık 1212 kJ verir.
• İkisinde de 3 ürün molekülü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gerçek dünyada — adım 2/5
• Aynı sayıda molekül 1,5 kat fazla ısıyı paylaşınca çok daha sıcak olur; hava yerine saf oksijen kullanılınca ısıyı paylaşacak azot da kalmaz.
• Oksiasetilen alevi böylece yaklaşık 3100 °C'ye ulaşır.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gerçek dünyada — şekil
Neden asetilen? İki yakıt da yandığında 3 ürün molekülü verir, ama bağ enerjilerine göre asetilenin yanması 1212 kJ, metanınki 802 kJ ısı açığa çıkarır. Aynı sayıda molekül daha çok ısı alınca daha çok ısınır; asetilenin alevi bu yüzden yakıt gazları arasında en sıcak alevlerdendir.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gerçek dünyada — adım 4/5
• Bağların gücü başka yerlerde de iz bırakır:
• Ozon tabakası: Güneş'in 240 nm'den kısa dalga boylu morötesi ışığı O=O bağını kırabilir; serbest kalan O atomları O₂ molekülleriyle birleşip ozonu (O₃) kurar.
• Teflon ve freonlar: C–F bağı (485) çok sağlamdır; teflon kaplama bu yüzden ısıya ve kimyasallara dayanıklıdır. Freonlardaki daha zayıf C–Cl bağı (339) üst atmosferde morötesiyle kopar ve serbest kalan klor atomları ozonu yıkar.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 enerjisi gerçek dünyada — adım 5/5
• Tembel azot: havanın %78'i N₂'dir, ama N≡N bağı (945) çok sağlam olduğu için azot zor tepkimeye girer; gübre üretiminde yüksek sıcaklık, basınç ve katalizör gerekir.
• Hidrojen peroksit: zayıf O–O bağı (146) kolay kırıldığı için H₂O₂ mikrop öldürür ve ağartır; ışıkta bozunmasın diye koyu şişede saklanır.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Oksiasetilen alevi, aynı sayıda ürün molekülüne metandan 1,5 kat fazla ısı verdiği için çok sıcaktır. Ozon tabakası, teflon, freonlar ve azotun tembelliği de bağların gücüyle açıklanır.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Kesme hamlacında neden hava yerine saf oksijen kullanılır?
Sınıfa sorun, birkaç tahmin alın; sonra cevap slaytına geçin.
Cevap: Havanın beşte dördü azottur. Azot yanmaz, ama alevin ısısından payını alır ve alevi soğutur. Saf oksijenle açığa çıkan ısı yalnızca ürün moleküllerine kalır, alev çok daha sıcak olur. Ayrıca kesme sırasında saf oksijen jeti kızgın demiri yakarak asıl kesme işini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Havanın beşte dördü azottur. Azot yanmaz, ama alevin ısısından payını alır ve alevi soğutur. Saf oksijenle açığa çıkan ısı yalnızca ürün moleküllerine kalır, alev çok daha sıcak olur. Ayrıca kesme sırasında saf oksijen jeti kızgın demiri yakarak asıl kesme işini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bağ enerjisi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Amonyağı atomlarına ayırmak
0,5 mol amonyak gazını (NH₃) azot ve hidrojen atomlarına ayırmak için kaç kJ enerji gerekir? Bu olay endotermik midir, ekzotermik mi?
Durum çizimi: Durum: 0,5 mol amonyağın bütün N–H bağları kırılıp ayrı N ve H atomları oluşuyor; hiç yeni bağ kurulmuyor. Soruda bunun için gereken enerji Q ve olayın türü isteniyor.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Amonyağı atomlarına ayırmak
0,5 mol amonyak gazını (NH₃) azot ve hidrojen atomlarına ayırmak için kaç kJ enerji gerekir? Bu olay endotermik midir, ekzotermik mi?
Verilenler: n = 0,5 mol NH₃(g) · E(N–H) = 391 kJ/mol · her NH₃ molekülünde 3 N–H bağı var (yapı formülünden)
İstenen: gereken enerji Q · olayın türü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Amonyağı atomlarına ayırmak — çözüm
1. NH₃(g) → N(g) + 3H(g): 1 mol NH₃'te 3 mol N–H bağı kırılır.
2. 1 mol için: 3 × 391 = 1173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Amonyağı atomlarına ayırmak — çözüm
3. 0,5 mol için: 0,5 × 1173 = 586,5 kJ.
4. Yalnızca bağ kırılıyor, hiç bağ kurulmuyor: olay endotermiktir (ΔH = +586,5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Hidrojen ile florun tepkimesi
H₂(g) + F₂(g) → 2HF(g) tepkimesinin ΔH değerini bağ enerjilerinden hesaplayınız. Tepkime ısı alır mı, verir mi?
Durum çizimi: Durum: bir H–H ve bir F–F bağı kırılıyor (kırmızı kesikli), iki H–F bağı kuruluyor (yeşil). Bağ enerjileri çizimde yazılı; soruda tepkimenin ΔH değeri isteniyor.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Hidrojen ile florun tepkimesi
H₂(g) + F₂(g) → 2HF(g) tepkimesinin ΔH değerini bağ enerjilerinden hesaplayınız. Tepkime ısı alır mı, verir mi?
Verilenler: E(H–H) = 436 · E(F–F) = 159 · E(H–F) = 567 kJ/mol · kırılan: 1 H–H, 1 F–F · oluşan: 2 H–F
İstenen: ΔH ve tepkimenin türü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Hidrojen ile florun tepkimesi — çözüm
1. ΣE(kırılan) = 436 + 159 = 595 kJ
2. ΣE(oluşan) = 2 × 567 = 1134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Hidrojen ile florun tepkimesi — çözüm
3. ΔH = 595 − 1134 = −539 kJ
4. ΔH &lt; 0: tepkime ekzotermiktir; 2 mol HF oluşurken 539 kJ ısı açığa çıkar. Ölçülen değer −542 kJ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Etene hidrojen katmak
Margarin yapımında bitkisel yağlardaki C=C bağlarına hidrojen katılır. En basit örnek etenin hidrojenle tepkimesidir: C₂H₄(g) + H₂(g) → C₂H₆(g). Tepkimenin ΔH değeri kaç kJ'dir?
Durum çizimi: Durum: etendeki ikili bağ ve H₂'deki bağ kırılıyor; etanda yeni bir C–C bağı ve iki yeni C–H bağı kuruluyor. Etenin dört C–H bağı tepkimeden aynen çıkıyor (gri). Soruda ΔH isteniyor.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Etene hidrojen katmak
Margarin yapımında bitkisel yağlardaki C=C bağlarına hidrojen katılır. En basit örnek etenin hidrojenle tepkimesidir: C₂H₄(g) + H₂(g) → C₂H₆(g). Tepkimenin ΔH değeri kaç kJ'dir?
Verilenler: E(C=C) = 614 · E(C–C) = 347 · E(C–H) = 413 · E(H–H) = 436 kJ/mol · etende 1 C=C + 4 C–H, etanda 1 C–C + 6 C–H
İstenen: ΔH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Etene hidrojen katmak — çözüm
1. İstersen bütün bağları kır ve yeniden kur (adım 1–3), istersen yalnız değişenleri al (adım 4, çizimdeki renkler); sonuç aynıdır. Kırılan: 1 C=C + 4 C–H + 1 H–H = 614 + 1652 + 436 = 2702 kJ
2. Oluşan: 1 C–C + 6 C–H = 347 + 2478 = 2825 kJ
3. ΔH = 2702 − 2825 = −123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Etene hidrojen katmak — çözüm
4. Kısa yol: etendeki 4 C–H bağı üründe de var ve sadeleşir. Yalnızca değişenler: (614 + 436) − (347 + 2 × 413) = 1050 − 1173 = −123 kJ ✓
5. Ölçülen değer −137 kJ'dir; fark, ortalama bağ enerjisi kullanmaktan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Grafikten okumak: hidrojen bromür
Şekildeki potansiyel enerji grafiği H₂(g) + Br₂(g) → 2HBr(g) tepkimesine aittir. Grafiğe göre (a) kırılan bağların toplam enerjisini, (b) oluşan bağların toplam enerjisini, (c) ΔH'yi ve tepkimenin türünü, (d) H–Br bağının enerjisini bulunuz.
Durum çizimi: Durum: grafikte üç düzey okunuyor: girenler 0, bütün bağların kırıldığı atomlar düzeyi 629 kJ ve ürünler −103 kJ. Okların boyları, yani kırılan ve oluşan bağların toplamları ile ΔH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Grafikten okumak: hidrojen bromür
Şekildeki potansiyel enerji grafiği H₂(g) + Br₂(g) → 2HBr(g) tepkimesine aittir. Grafiğe göre (a) kırılan bağların toplam enerjisini, (b) oluşan bağların toplam enerjisini, (c) ΔH'yi ve tepkimenin türünü, (d) H–Br bağının enerjisini bulunuz.
Verilenler: girenler 0 kJ · atomlar düzeyi 629 kJ · ürünler −103 kJ (grafikten) · kırılan: 1 H–H + 1 Br–Br · oluşan: 2 H–Br
İstenen: (a) Σkırılan · (b) Σoluşan · (c) ΔH ve tür · (d) E(H–Br)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Grafikten okumak: hidrojen bromür — çözüm
1. (a) Girenlerden atomlara çıkış: 629 − 0 = 629 kJ (436 + 193 ✓).
2. (b) Atomlardan ürünlere iniş: 629 − (−103) = 732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Grafikten okumak: hidrojen bromür — çözüm
3. (c) ΔH = −103 − 0 = −103 kJ; ürünler girenlerden aşağıda: tepkime ekzotermiktir. Bağıntıyla da 629 − 732 = −103 kJ ✓
4. (d) 732 kJ iki H–Br bağından geliyor: 732 ÷ 2 = 366 kJ/mol; tablodaki değerle aynı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Karbon monoksitteki üçlü bağ
Şofben ve sobalarda eksik yanmayla oluşan zehirli karbon monoksit, yeterli oksijenle yanınca CO₂'ye dönüşür: 2CO(g) + O₂(g) → 2CO₂(g), ΔH = −566 kJ. Buna göre C≡O bağının enerjisi kaç kJ/mol'dür?
Durum çizimi: Durum: iki CO molekülündeki üçlü bağlar ve O₂'deki ikili bağ kırılıyor, iki CO₂ molekülünde dört C=O bağı kuruluyor. Ölçülen ΔH ve diğer bağ enerjileri biliniyor; C≡O bağının enerjisi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Karbon monoksitteki üçlü bağ
Şofben ve sobalarda eksik yanmayla oluşan zehirli karbon monoksit, yeterli oksijenle yanınca CO₂'ye dönüşür: 2CO(g) + O₂(g) → 2CO₂(g), ΔH = −566 kJ. Buna göre C≡O bağının enerjisi kaç kJ/mol'dür?
Verilenler: ΔH = −566 kJ · E(O=O) = 498 kJ/mol · CO₂'deki E(C=O) = 799 kJ/mol · kırılan: 2 C≡O + 1 O=O · oluşan: 4 C=O
İstenen: E(C≡O) = x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Karbon monoksitteki üçlü bağ — çözüm
1. ΔH = ΣE(kırılan) − ΣE(oluşan) → −566 = (2x + 498) − 4 × 799
2. −566 = 2x + 498 − 3196 = 2x − 2698
3. 2x = 2698 − 566 = 2132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Karbon monoksitteki üçlü bağ — çözüm
4. x = 1066 kJ/mol
5. Tablodaki 1072 kJ/mol'e çok yakın ✓. C≡O, tablodaki en sağlam bağdır.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Metanol buharı yanınca
Metanol (CH₃OH) bazı yarış arabalarında yakıt olarak kullanılır. 2CH₃OH(g) + 3O₂(g) → 2CO₂(g) + 4H₂O(g) tepkimesinin ΔH değerini bağ enerjileriyle hesaplayınız. 16 g metanol buharı yandığında kaç kJ ısı açığa çıkar? (CH₃OH: 32 g/mol)
Durum çizimi: Durum: metanol molekülünün bütün bağları kırılıyor: üç C–H, bir C–O ve bir O–H. 16 g metanol buharı yanıyor; denklemin ΔH değeri ve bu miktarın verdiği ısı Q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Metanol buharı yanınca
Metanol (CH₃OH) bazı yarış arabalarında yakıt olarak kullanılır. 2CH₃OH(g) + 3O₂(g) → 2CO₂(g) + 4H₂O(g) tepkimesinin ΔH değerini bağ enerjileriyle hesaplayınız. 16 g metanol buharı yandığında kaç kJ ısı açığa çıkar? (CH₃OH: 32 g/mol)
Verilenler: E(C–H) = 413 · E(C–O) = 358 · E(O–H) = 463 · E(O=O) = 498 · CO₂'deki E(C=O) = 799 kJ/mol · bir CH₃OH'de 3 C–H, 1 C–O, 1 O–H · m = 16 g · M = 32 g/mol
İstenen: denklem için ΔH · 16 g için açığa çıkan ısı Q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Metanol buharı yanınca — çözüm
1. Kırılan: 2 × (3 × 413 + 358 + 463) + 3 × 498 = 2 × 2060 + 1494 = 5614 kJ
2. Oluşan: 2 CO₂'de 4 C=O ve 4 H₂O'da 8 O–H: 4 × 799 + 8 × 463 = 3196 + 3704 = 6900 kJ
3. ΔH = 5614 − 6900 = −1286 kJ (2 mol metanol için); 1 mol için 643 kJ ısı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Metanol buharı yanınca — çözüm
4. n = m / M = 16 / 32 = 0,5 mol
5. Q = 0,5 × 643 = 321,5 kJ ısı açığa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Roket yakıtı hidrazin
Roket yakıtı olarak kullanılan hidrazinin (N₂H₄, yapısı H₂N–NH₂) oksijenle tepkimesi: N₂H₄(g) + O₂(g) → N₂(g) + 2H₂O(g). Tepkimenin ΔH değerini ve 1 gram hidrazinin verdiği ısıyı hesaplayınız. Bu tepkime, harcanan her mol O₂ başına neden metandan (401 kJ) çok daha fazla ısı verir? (N₂H₄: 32 g/mol)
Durum çizimi: Durum: hidrazindeki N–N ve dört N–H bağı ile O₂'deki bağ kırılıyor; bir N≡N ve dört O–H bağı kuruluyor. Soruda ΔH, 1 gram hidrazinin verdiği ısı ve harcanan O₂ başına ısının neden metandakinden büyük olduğu isteniyor.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Roket yakıtı hidrazin
Roket yakıtı olarak kullanılan hidrazinin (N₂H₄, yapısı H₂N–NH₂) oksijenle tepkimesi: N₂H₄(g) + O₂(g) → N₂(g) + 2H₂O(g). Tepkimenin ΔH değerini ve 1 gram hidrazinin verdiği ısıyı hesaplayınız. Bu tepkime, harcanan her mol O₂ başına neden metandan (401 kJ) çok daha fazla ısı verir? (N₂H₄: 32 g/mol)
Verilenler: E(N–N) = 163 · E(N–H) = 391 · E(O=O) = 498 · E(N≡N) = 945 · E(O–H) = 463 kJ/mol · N₂H₄'te 1 N–N + 4 N–H · M = 32 g/mol
İstenen: ΔH · 1 g için açığa çıkan ısı · O₂ başına ısının neden büyük olduğu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Roket yakıtı hidrazin — çözüm
1. Kırılan: 163 + 4 × 391 + 498 = 163 + 1564 + 498 = 2225 kJ
2. Oluşan: 945 + 4 × 463 = 945 + 1852 = 2797 kJ
3. ΔH = 2225 − 2797 = −572 kJ (1 mol, yani 32 g hidrazin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Roket yakıtı hidrazin — çözüm
4. 1 g için: 572 ÷ 32 ≈ 17,9 kJ ısı açığa çıkar.
5. Burada 1 mol O₂ başına 572 kJ çıkıyor, metanda 401 kJ. Nedeni: zayıf bir N–N bağı (163) kırılıp çok sağlam bir N≡N bağı (945) kuruluyor; hidrojenler de N–H'den daha güçlü O–H bağlarına geçiyor.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 mol klor atomu (Cl) birleşip 1 mol Cl₂ molekülü oluşturuyor. Bu olayda ısı alınır mı, verilir mi? Kaç kJ?
Öğrencilere 2–3 dakika verin; sonra cevap slaytını açın.
Cevap: Cevap: Bağ kuruluyor, ısı verilir: 2Cl(g) → Cl₂(g) + 243 kJ, yani ΔH = −243 kJ. Bağı kırmak için gereken enerji ile kurulurken verilen enerji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Bağ kuruluyor, ısı verilir: 2Cl(g) → Cl₂(g) + 243 kJ, yani ΔH = −243 kJ. Bağı kırmak için gereken enerji ile kurulurken verilen enerji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1 mol metanı (CH₄) karbon ve hidrojen atomlarına ayırmak için kaç kJ enerji gerekir?
Öğrencilere 2–3 dakika verin; sonra cevap slaytını açın.
Cevap: Cevap: CH₄'te 4 C–H bağı var: 4 × 413 = 1652 kJ. Yalnızca bağ kırıldığı için olay endotermiktir.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CH₄'te 4 C–H bağı var: 4 × 413 = 1652 kJ. Yalnızca bağ kırıldığı için olay endotermiktir.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H₂(g) + Cl₂(g) → 2HCl(g) tepkimesinde ΔH = −183 kJ'dir. 0,5 mol HCl oluştuğunda kaç kJ ısı açığa çıkar?
Öğrencilere 2–3 dakika verin; sonra cevap slaytını açın.
Cevap: Cevap: −183 kJ, 2 mol HCl içindir; 1 mol HCl için 91,5 kJ. 0,5 mol için 0,5 × 91,5 = 45,75 kJ ısı açığa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−183 kJ, 2 mol HCl içindir; 1 mol HCl için 91,5 kJ. 0,5 mol için 0,5 × 91,5 = 45,75 kJ ısı açığa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2HI(g) → H₂(g) + I₂(g) tepkimesinin ΔH değerini bulunuz. Tepkime endotermik midir?
Öğrencilere 2–3 dakika verin; sonra cevap slaytını açın.
Cevap: Cevap: Kırılan: 2 × 299 = 598 kJ. Oluşan: 436 + 151 = 587 kJ. ΔH = 598 − 587 = +11 kJ. Kırılanlar biraz fazla: tepkime endotermiktir, ama alınan ısı çok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Kırılan: 2 × 299 = 598 kJ. Oluşan: 436 + 151 = 587 kJ. ΔH = 598 − 587 = +11 kJ. Kırılanlar biraz fazla: tepkime endotermiktir, ama alınan ısı çok küçüktür.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Hidrojen peroksidin (H–O–O–H) ayrışması 2H₂O₂(g) → 2H₂O(g) + O₂(g) tepkimesinin ΔH değeri kaç kJ'dir?
Öğrencilere 2–3 dakika verin; sonra cevap slaytını açın.
Cevap: Cevap: Kırılan: 2 × (2 × 463 + 146) = 2 × 1072 = 2144 kJ. Oluşan: 4 × 463 + 498 = 2350 kJ. ΔH = 2144 − 2350 = −206 kJ. Kısa yol: dört O–H bağı iki yanda da var ve sadeleşir; geriye 2 × 146 − 498 = −206 kJ kalır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Kırılan: 2 × (2 × 463 + 146) = 2 × 1072 = 2144 kJ. Oluşan: 4 × 463 + 498 = 2350 kJ. ΔH = 2144 − 2350 = −206 kJ. Kısa yol: dört O–H bağı iki yanda da var ve sadeleşir; geriye 2 × 146 − 498 = −206 kJ kalır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“Bağ kırılınca enerji açığa çıkar.” Tersine: bağ kırmak her zaman enerji ister. Enerji, yeni bağlar kurulurken açığa çıkar.
• Çıkarmayı ters yapmak. Bağ enerjileriyle ΔH = ΣE(kırılan) − ΣE(oluşan), yani girenler eksi ürünlerdir. Oluşum entalpileriyle (bir sonraki konu) ise ürünler eksi girenler yazılır; ikisini karıştırma.
• Bağ sayısını molekül sayısıyla karıştırmak. 2H₂O'da 2 değil 4 O–H bağı vardır: katsayıyı moleküldeki bağ sayısıyla çarp.
• “İkili bağ, tekli bağın iki katı enerjilidir.” Değildir: C=C 614 kJ/mol'dür, 2 × C–C ise 694 kJ/mol ederdi.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“Uzun bağ daha sağlamdır.” Benzer bağlarda kısa bağ daha sağlamdır: H–F (92 pm) 567, H–I (161 pm) 299 kJ/mol.
• Sıvı ya da katı maddelerle doğrudan hesap yapmak. Bağ enerjileri gaz hâli içindir; su sıvı oluşuyorsa hâl değişiminin ısısı ayrıca hesaba katılmalıdır.
• Bağ enerjisini eksi işaretli yazmak. Bağ enerjisi her zaman pozitif bir sayıdır; ΔH'nin işaretini kırılan ile oluşan arasındaki çıkarma verir.
• Bulunan ΔH'yi kesin sanmak. Ortalama bağ enerjileriyle bulunan ΔH bir tahmindir; ölçülen değerden birkaç yüzde, bazen daha çok sapabilir.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Bağ kırmak enerji alır · Bağ kurmak enerji verir · Üçlü &gt; ikili &gt; tekli bağ · Benzer bağlarda kısa bağ daha sağlam
ΔH = ΣE(kırılan) − ΣE(oluşan) — bağ enerjileriyle tepkime entalpisi
H₂(g) + 436 kJ → 2H(g) — H–H bağ enerjisi
E(C≡C) &gt; E(C=C) &gt; E(C–C) — bağ derecesi
ΔH &lt; 0 ⇔ Σoluşan &gt; Σkırılan — ekzotermik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bag-enerjis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ENERJİ · KONU 02</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Bağ enerjileri ve tepkime entalpisi</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500" dirty="0">
                <a:solidFill>
                  <a:srgbClr val="C3CEE8"/>
                </a:solidFill>
                <a:latin typeface="Calibri" pitchFamily="34" charset="0"/>
                <a:ea typeface="Calibri" pitchFamily="34" charset="-122"/>
                <a:cs typeface="Calibri" pitchFamily="34" charset="-120"/>
              </a:rPr>
              <a:t>Bir tepkimede eski bağlar kırılır, yenileri kurulur. Bağ kırmak enerji ister, bağ kurmak enerji verir; ikisinin farkı tepkimenin ısısıdır: ΔH = Σ(kırılan) − Σ(oluşan).</a:t>
            </a:r>
            <a:endParaRPr lang="en-US" sz="15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dersler.perinet.org/bag-enerjisi.html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Ocaktaki mavi alev tencereyi ısıtıyor; peki bu enerji nereden geliyor?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Doğal gazın içinde saklı bir “ısı” mı var?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Birbirine yapışmış iki mıknatısı ayırmak için çekmen gerekir; bıraktığında ise kendiliğinden birleşir ve “tık” diye çarparlar.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Kimyasal bağlar da böyledir: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bağ kırmak enerji ister, bağ kurmak enerji verir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Bir tepkimenin ısısı bu ikisinin farkıdır.</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Önce sezgi: bir tepkimede atomların değil bağların değiştiğini gör; bağın ne olduğunu, kırılmasının neden enerji istediğini ve hangi bağın daha sağlam olduğunu formülsüz kavra.</a:t>
            </a:r>
            <a:endParaRPr lang="en-US" sz="95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ocaktaki alevin enerjisi nereden gelir?</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Kimyasal bağ: atomları bir arada tutan çekim</a:t>
            </a:r>
            <a:endParaRPr lang="en-US" sz="11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Bağ enerjisi nedir? Kırarken alınan, kurulurken verilen</a:t>
            </a:r>
            <a:endParaRPr lang="en-US" sz="11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Hangi bağ daha sağlam? Derece, uzunluk ve atom türü</a:t>
            </a:r>
            <a:endParaRPr lang="en-US" sz="11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bağ enerjileri tablosunu oku, bir tepkimenin ısısını kırılan ve oluşan bağlardan adım adım hesapla, sonucu enerji grafiğinde gör.</a:t>
            </a:r>
            <a:endParaRPr lang="en-US" sz="10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Ortalama bağ enerjileri tablosu</a:t>
            </a:r>
            <a:endParaRPr lang="en-US" sz="1250" dirty="0"/>
          </a:p>
        </p:txBody>
      </p:sp>
      <p:sp>
        <p:nvSpPr>
          <p:cNvPr id="30" name="Text 28"/>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Tepkime entalpisi: kırılan eksi oluşan</a:t>
            </a:r>
            <a:endParaRPr lang="en-US" sz="1250" dirty="0"/>
          </a:p>
        </p:txBody>
      </p:sp>
      <p:sp>
        <p:nvSpPr>
          <p:cNvPr id="32" name="Text 30"/>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Adım adım: metanın yanması</a:t>
            </a:r>
            <a:endParaRPr lang="en-US" sz="1250" dirty="0"/>
          </a:p>
        </p:txBody>
      </p:sp>
      <p:sp>
        <p:nvSpPr>
          <p:cNvPr id="34" name="Text 32"/>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Potansiyel enerji grafiğinde bağlar</a:t>
            </a:r>
            <a:endParaRPr lang="en-US" sz="1250" dirty="0"/>
          </a:p>
        </p:txBody>
      </p:sp>
      <p:sp>
        <p:nvSpPr>
          <p:cNvPr id="36" name="Text 34"/>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100" b="1" dirty="0">
                <a:solidFill>
                  <a:srgbClr val="0E1426"/>
                </a:solidFill>
                <a:latin typeface="Calibri" pitchFamily="34" charset="0"/>
                <a:ea typeface="Calibri" pitchFamily="34" charset="-122"/>
                <a:cs typeface="Calibri" pitchFamily="34" charset="-120"/>
              </a:rPr>
              <a:t>Sayılarla hisset: büyük toplamlar, küçük fark</a:t>
            </a:r>
            <a:endParaRPr lang="en-US" sz="110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Derinleşme: hesabı tersine çevirip bilinmeyen bir bağı bul, sonucun neden yaklaşık olduğunu gör, yakıtların enerjisinin nereden geldiğini ve bağların gücünün gerçek hayattaki izlerini keşfet.</a:t>
            </a:r>
            <a:endParaRPr lang="en-US" sz="95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Geri hesap: bilinmeyen bağ enerjisi</a:t>
            </a:r>
            <a:endParaRPr lang="en-US" sz="1250" dirty="0"/>
          </a:p>
        </p:txBody>
      </p:sp>
      <p:sp>
        <p:nvSpPr>
          <p:cNvPr id="47" name="Text 45"/>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Hesap neden yaklaşıktır?</a:t>
            </a:r>
            <a:endParaRPr lang="en-US" sz="1250" dirty="0"/>
          </a:p>
        </p:txBody>
      </p:sp>
      <p:sp>
        <p:nvSpPr>
          <p:cNvPr id="49" name="Text 47"/>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Yakıtlar neden enerji deposudur?</a:t>
            </a:r>
            <a:endParaRPr lang="en-US" sz="1250" dirty="0"/>
          </a:p>
        </p:txBody>
      </p:sp>
      <p:sp>
        <p:nvSpPr>
          <p:cNvPr id="51" name="Text 49"/>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13</a:t>
            </a:r>
            <a:endParaRPr lang="en-US" sz="1100" dirty="0"/>
          </a:p>
        </p:txBody>
      </p:sp>
      <p:sp>
        <p:nvSpPr>
          <p:cNvPr id="52" name="Text 50"/>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Bağ enerjisi gerçek dünyada</a:t>
            </a:r>
            <a:endParaRPr lang="en-US" sz="1250" dirty="0"/>
          </a:p>
        </p:txBody>
      </p:sp>
      <p:sp>
        <p:nvSpPr>
          <p:cNvPr id="53" name="Shape 51"/>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4" name="Shape 52"/>
          <p:cNvSpPr/>
          <p:nvPr/>
        </p:nvSpPr>
        <p:spPr>
          <a:xfrm>
            <a:off x="9157487" y="1645920"/>
            <a:ext cx="2211248" cy="64008"/>
          </a:xfrm>
          <a:prstGeom prst="rect">
            <a:avLst/>
          </a:prstGeom>
          <a:solidFill>
            <a:srgbClr val="A56209"/>
          </a:solidFill>
          <a:ln/>
        </p:spPr>
      </p:sp>
      <p:sp>
        <p:nvSpPr>
          <p:cNvPr id="55" name="Shape 53"/>
          <p:cNvSpPr/>
          <p:nvPr/>
        </p:nvSpPr>
        <p:spPr>
          <a:xfrm>
            <a:off x="9194063" y="1920240"/>
            <a:ext cx="420624" cy="420624"/>
          </a:xfrm>
          <a:prstGeom prst="roundRect">
            <a:avLst>
              <a:gd name="adj" fmla="val 26000"/>
            </a:avLst>
          </a:prstGeom>
          <a:solidFill>
            <a:srgbClr val="A56209"/>
          </a:solidFill>
          <a:ln/>
        </p:spPr>
      </p:sp>
      <p:sp>
        <p:nvSpPr>
          <p:cNvPr id="56" name="Text 54"/>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7" name="Text 55"/>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8" name="Text 56"/>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bağ enerjisi sorularında puan kaybettiren klasik hatalar.</a:t>
            </a:r>
            <a:endParaRPr lang="en-US" sz="1150" dirty="0"/>
          </a:p>
        </p:txBody>
      </p:sp>
      <p:sp>
        <p:nvSpPr>
          <p:cNvPr id="59" name="Shape 57"/>
          <p:cNvSpPr/>
          <p:nvPr/>
        </p:nvSpPr>
        <p:spPr>
          <a:xfrm>
            <a:off x="9194063" y="3429000"/>
            <a:ext cx="2138096" cy="0"/>
          </a:xfrm>
          <a:prstGeom prst="line">
            <a:avLst/>
          </a:prstGeom>
          <a:noFill/>
          <a:ln w="9525">
            <a:solidFill>
              <a:srgbClr val="E1E5EE"/>
            </a:solidFill>
            <a:prstDash val="dash"/>
          </a:ln>
        </p:spPr>
      </p:sp>
      <p:sp>
        <p:nvSpPr>
          <p:cNvPr id="60" name="Text 58"/>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2" name="Text 60"/>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15</a:t>
            </a:r>
            <a:endParaRPr lang="en-US" sz="1100" dirty="0"/>
          </a:p>
        </p:txBody>
      </p:sp>
      <p:sp>
        <p:nvSpPr>
          <p:cNvPr id="63" name="Text 61"/>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4" name="Shape 62"/>
          <p:cNvSpPr/>
          <p:nvPr/>
        </p:nvSpPr>
        <p:spPr>
          <a:xfrm>
            <a:off x="640080" y="6382512"/>
            <a:ext cx="128016" cy="128016"/>
          </a:xfrm>
          <a:prstGeom prst="roundRect">
            <a:avLst>
              <a:gd name="adj" fmla="val 28571"/>
            </a:avLst>
          </a:prstGeom>
          <a:solidFill>
            <a:srgbClr val="A9E648"/>
          </a:solidFill>
          <a:ln/>
        </p:spPr>
      </p:sp>
      <p:sp>
        <p:nvSpPr>
          <p:cNvPr id="65" name="Text 6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66" name="Text 6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Mol: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6,02·10²³ tane tanecik. “1 mol bağ” da 6,02·10²³ tane bağ demektir; tablolardaki değerler bu kadar bağ içindir.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Yapı formülü:</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atomları sembolleriyle, bağları çizgiyle gösterir: H–O–H. Bir çizgi tekli, iki çizgi ikili, üç çizgi üçlü bağdır.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Ekzotermik ve endotermik: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ısı veren olayda ΔH &lt; 0, ısı alan olayda ΔH &gt; 0 olur (bir önceki konu).</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Hâl simgeleri: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(g) gaz, (s) sıvı, (k) katı. Bu konudaki hesaplar gaz hâlindeki maddeler içindir.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Enerjinin korunumu:</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enerji yoktan var olmaz, yok olmaz; yalnızca biçim değiştirir ya da sistemden çevreye (veya çevreden sisteme) geçer.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250" dirty="0">
                <a:solidFill>
                  <a:srgbClr val="C3CEE8"/>
                </a:solidFill>
                <a:latin typeface="Calibri" pitchFamily="34" charset="0"/>
                <a:ea typeface="Calibri" pitchFamily="34" charset="-122"/>
                <a:cs typeface="Calibri" pitchFamily="34" charset="-120"/>
              </a:rPr>
              <a:t>Önce sezgi: bir tepkimede atomların değil bağların değiştiğini gör; bağın ne olduğunu, kırılmasının neden enerji istediğini ve hangi bağın daha sağlam olduğunu formülsüz kavra.</a:t>
            </a:r>
            <a:endParaRPr lang="en-US" sz="12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ocaktaki alevin enerjisi nereden gelir?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Kimyasal bağ: atomları bir arada tutan çekim</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Bağ enerjisi nedir? Kırarken alınan, kurulurken verilen</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Hangi bağ daha sağlam? Derece, uzunluk ve atom türü</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bag-enerjis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Molekül modelinden bir hidrojeni koparmak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için parmaklarınla çekmen gerekir: bağ kırmak her zaman dışarıdan enerji ister. Modeldeki çubuklar bağları temsil eder; oksijen molekülünde ve karbon dioksitte atomlar ikişer çubukla, yani ikili bağla tutunur. Gerçek moleküllerde bu çekme işini ısı, ışık ya da elektrik yapar; gereken enerjiye bağ enerjisi denir.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Önce gözlemle: ocaktaki alevin enerjisi nereden gelir?</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Ocağı yaktığında doğal gaz havadaki oksijenle tepkimeye girer ve tencere ısınır.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Çevrende buna benzeyen pek çok olay var; bir kısmı enerji verir, bir kısmı enerji ister: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Önce gözlemle: ocaktaki alevin enerjisi nereden gelir?</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Alev ısıtır: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doğal gaz, çakmak gazı, mum ve odun yanarken çevreye ısı ve ışık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Yanmak için kıvılcım gerekir: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ocağın gazı kendiliğinden tutuşmaz; çakmağın kıvılcımı ilk bağları kıracak enerjiyi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Suyu ayırmak enerji ister: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suyu hidrojen ve oksijene ayırmak için sürekli elektrik akımı gerekir; akım kesilince ayrışma durur.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Güneş plastiği yıpratır: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güneşte unutulan plastik kova zamanla kırılganlaşır; morötesi ışık plastiğin bazı bağlarını koparır.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Önce gözlemle: ocaktaki alevin enerjisi nereden gelir?</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Alevde yeni atom oluşmaz, hiçbir atom kaybolmaz.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Metandaki karbon ve hidrojen atomları ile oksijen atomları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eş değiştirir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eski bağlar kırılır, aynı atomlar arasında yeni bağlar kurulur.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Modelden bir hidrojeni koparmak için çekmen gerekir; atomlar yeniden birleşirken ise enerji açığa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Ocaktaki ısının kaynağı bu iki işin farkıdır.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Önce gözlemle: ocaktaki alevin enerjisi nereden gelir?</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056800" y="1234440"/>
            <a:ext cx="8078095"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1.png">    </p:cNvPr>
          <p:cNvPicPr>
            <a:picLocks noChangeAspect="1"/>
          </p:cNvPicPr>
          <p:nvPr/>
        </p:nvPicPr>
        <p:blipFill>
          <a:blip r:embed="rId1"/>
          <a:stretch>
            <a:fillRect/>
          </a:stretch>
        </p:blipFill>
        <p:spPr>
          <a:xfrm>
            <a:off x="2285400" y="1325880"/>
            <a:ext cx="7620895"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Metanın yanmasında soldaki ve sağdaki atomlar aynıdır: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 karbon, 4 hidrojen, 4 oksijen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Değişen yalnızca bağlardır. Kırmızı kesikli çizgiler kırılan bağları (4 C–H ve 2 O=O), yeşil çizgiler yeni kurulan bağları (2 C=O ve 4 O–H) gösterir. Ocaktaki ısı, yeni bağlar kurulurken açığa çıkan enerjinin eski bağları kırmaya harcanandan fazla olmasından gelir.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Önce gözlemle: ocaktaki alevin enerjisi nereden gelir?</a:t>
            </a:r>
            <a:endParaRPr lang="en-US" sz="26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Tepkimede atomlar korunur, bağlar değişir. Eski bağları kırmak enerji ister, yenilerini kurmak enerji verir; alevin ısısı bu ikisinin farkından gelir.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Ocağın düğmesini açınca gaz havayla karışır ama kıvılcım olmadan yanmaz. Enerji neden kendiliğinden açığa çıkmaz?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ocaktaki alevin enerjisi nereden gelir?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Ocağın düğmesini açınca gaz havayla karışır ama kıvılcım olmadan yanmaz. Enerji neden kendiliğinden açığa çıkmaz?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Yeni bağların kurulabilmesi için önce eski bağların bir kısmının kırılması gerekir ve bu enerji ister. Kıvılcım ilk molekülleri bu engelden geçirir; sonra açığa çıkan ısı yanındaki molekülleri tutuşturur ve alev kendini sürdürür. Bu başlangıç engeline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aktifleşme enerjisi</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denir; Tepkimelerde Hız ünitesinde ayrıntısıyla göreceksin.</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Kimyasal bağ: atomları bir arada tutan çekim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hidrojen atomunu birbirine yaklaştırdığını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atomun çekirdeği artı yüklüdür, çevresindeki elektron eksi yüklüdür.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Atomlar yaklaştıkça her çekirdek kendi elektronuyla birlikte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komşusunun elektronunu 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çekmeye başlar.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elektron, çekirdeklerin arasında ortak kullanılan bir çift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ortaklığa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kovalent bağ</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ve yapı formülünde bir çizgiyle gösterilir: H–H.</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Kimyasal bağ: atomları bir arada tutan çekim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Atomlar sonsuza kadar yaklaşmaz.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Çok yaklaşınca iki artı yüklü çekirdek birbirini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iter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Çekim ile itmenin dengelendiği uzaklıkta enerji en düşüktür ve atomlar orada durur.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uzaklığa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bağ uzunluğu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H₂ molekülünde bağ uzunluğu 74 pikometredir; 1 pikometre (pm) metrenin trilyonda biridir.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Kimyasal bağ: atomları bir arada tutan çekim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2813313" y="1234440"/>
            <a:ext cx="6565070"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2.png">    </p:cNvPr>
          <p:cNvPicPr>
            <a:picLocks noChangeAspect="1"/>
          </p:cNvPicPr>
          <p:nvPr/>
        </p:nvPicPr>
        <p:blipFill>
          <a:blip r:embed="rId1"/>
          <a:stretch>
            <a:fillRect/>
          </a:stretch>
        </p:blipFill>
        <p:spPr>
          <a:xfrm>
            <a:off x="3041913" y="1325880"/>
            <a:ext cx="6107870"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hidrojen atomunun enerjisi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aralarındaki uzaklığa bağlıdır. Atomlar birbirinden uzakken enerji sıfırdır. Yaklaştıkça çekim baskın gelir ve enerji düşer;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74 pm</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'de en dibe iner: H₂ molekülü burada durur. Daha da yaklaştırılırsa çekirdeklerin itmesi baskın gelir ve enerji hızla yükselir. Çukurun derinliği bir sonraki başlığın konusu: bağ enerjisi.</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Kimyasal bağ: atomları bir arada tutan çekim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Bağlı iki atom bu enerji çukurunun dibindedir.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Onları ayırmak için çukurdan dışarı, enerjinin sıfır olduğu düzeye kadar çıkarman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Çukur ne kadar derinse atomları ayırmak o kadar çok enerji ister, yani bağ o kadar sağlamdır.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02 numaralı laboratuvarda atomlardan birini sürükleyerek bu eğrinin üzerinde gezebilirsin.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Kimyasal bağ: atomları bir arada tutan çekim</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Kovalent bağda iki atom bir elektron çiftini ortak kullanır; iki çekirdek de bu çifti çeker. Çekim ile itmenin dengelendiği uzaklık bağ uzunluğudur; atomlar orada en düşük enerjidedir.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Bağ enerjisi nedir? Kırarken alınan, kurulurken verilen</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Gaz hâlindeki moleküllerde iki atom arasındaki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 mol bağı kırıp atomları ayırmak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için gereken enerjiye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bağ enerjisi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birimi kJ/mol'dür.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mol H₂ molekülünü (2 gram) hidrojen atomlarına ayırmak 436 kJ ister:</a:t>
            </a:r>
            <a:endParaRPr lang="en-US" sz="2200" dirty="0"/>
          </a:p>
        </p:txBody>
      </p:sp>
      <p:sp>
        <p:nvSpPr>
          <p:cNvPr id="7" name="Shape 5"/>
          <p:cNvSpPr/>
          <p:nvPr/>
        </p:nvSpPr>
        <p:spPr>
          <a:xfrm>
            <a:off x="640080" y="2866644"/>
            <a:ext cx="360639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H₂(g) + 436 kJ → 2H(g)</a:t>
            </a:r>
            <a:endParaRPr lang="en-US" sz="1800" dirty="0"/>
          </a:p>
        </p:txBody>
      </p:sp>
      <p:sp>
        <p:nvSpPr>
          <p:cNvPr id="9" name="Shape 7"/>
          <p:cNvSpPr/>
          <p:nvPr/>
        </p:nvSpPr>
        <p:spPr>
          <a:xfrm>
            <a:off x="4392778" y="2866644"/>
            <a:ext cx="360639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392778" y="2866644"/>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2H(g) → H₂(g) + 436 kJ</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Bağ enerjisi nedir? Kırarken alınan, kurulurken verilen</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 satır aynı olayın tersidir: 2 mol hidrojen atomu birleşip 1 mol H₂ oluşturduğunda tam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436 kJ</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açığa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 korunduğu için bir bağı kurarken verilen enerji, o bağı kırmak için gereken enerjiye eşittir.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Bağ enerjisi nedir? Kırarken alınan, kurulurken verilen</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kırmak her zaman endotermiktir: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sisteme enerji verilmelidir (ΔH &gt; 0).</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kurmak her zaman ekzotermiktir: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sistem çevreye enerji verir (ΔH &lt; 0).</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enerjisi hep pozitif bir sayıdır: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işaretini, bağın kırıldığını mı kurulduğunu mu anlattığımıza göre koyarız.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Bağ enerjisi nedir? Kırarken alınan, kurulurken verilen</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259828" y="1234440"/>
            <a:ext cx="767203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3.png">    </p:cNvPr>
          <p:cNvPicPr>
            <a:picLocks noChangeAspect="1"/>
          </p:cNvPicPr>
          <p:nvPr/>
        </p:nvPicPr>
        <p:blipFill>
          <a:blip r:embed="rId1"/>
          <a:stretch>
            <a:fillRect/>
          </a:stretch>
        </p:blipFill>
        <p:spPr>
          <a:xfrm>
            <a:off x="2488428" y="1325880"/>
            <a:ext cx="721483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bağ, iki basamak.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Molekülü atomlarına ayırmak için kırmızı ok kadar enerji vermek gerekir; atomlar yeniden birleşince yeşil ok kadar enerji geri çıkar. İki ok aynı boydadır. H–H bağının basamağı (436 kJ/mol) Cl–Cl bağınınkinden (243 kJ/mol) yaklaşık 1,8 kat yüksektir: bağ enerjisi büyük olan bağ daha sağlamdır.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500" b="1" spc="-50" kern="0" dirty="0">
                <a:solidFill>
                  <a:srgbClr val="0E1426"/>
                </a:solidFill>
                <a:latin typeface="Cambria" pitchFamily="34" charset="0"/>
                <a:ea typeface="Cambria" pitchFamily="34" charset="-122"/>
                <a:cs typeface="Cambria" pitchFamily="34" charset="-120"/>
              </a:rPr>
              <a:t>Bağ enerjisi nedir? Kırarken alınan, kurulurken verilen</a:t>
            </a:r>
            <a:endParaRPr lang="en-US" sz="25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Bağ enerjisi, gaz hâlinde 1 mol bağı kırmak için gereken enerjidir. Aynı bağ kurulurken aynı miktar enerji açığa çıkar: bağ kırmak endotermik, bağ kurmak ekzotermiktir.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bağın kırılması ısı veren bir olay olabilir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Bağ enerjisi nedir? Kırarken alınan, kurulurken verilen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bağın kırılması ısı veren bir olay olabilir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Bağı kırmak, atomları enerji çukurunun dibinden yukarı çıkarmak demektir; bunun için her zaman enerji gerekir. Bir olayda ısı açığa çıkıyorsa, orada kırılan bağların yanında daha güçlü yeni bağlar da kuruluyordur. Isıyı veren, kırılma değil kurulmadır.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Hangi bağ daha sağlam? Derece, uzunluk ve atom türü</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 enerjisi bir bağın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sağlamlık ölçüsüdür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değeri büyük olan bağı kırmak daha zordur.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Hangi bağın daha sağlam olduğunu üç ipucu söyler: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Hangi bağ daha sağlam? Derece, uzunluk ve atom türü</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derecesi: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atom arasındaki ortak elektron çifti arttıkça bağ hem güçlenir hem kısalır. C–C 347, C=C 614, C≡C 839 kJ/mol; uzunlukları 154, 134 ve 120 pm.</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Ama orantılı değil: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ikili bağ tekli bağın iki katı değildir. 2 × 347 = 694 ederdi; C=C ise 614'tür. İkinci ve üçüncü çift, ilk çift kadar güçlü tutunmaz.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Hangi bağ daha sağlam? Derece, uzunluk ve atom türü</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uzunluğu: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benzer bağlarda kısa bağ daha sağlamdır. Hidrojenin halojenlerle yaptığı bağlarda atom büyüdükçe bağ uzar ve zayıflar: H–F 92 pm'de 567, H–I 161 pm'de 299 kJ/mol.</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Atom türü: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derecedeki bağlar bile atomlara göre çok farklıdır: N–N 163, C–C 347, H–H 436 kJ/mol.</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Hangi bağ daha sağlam? Derece, uzunluk ve atom türü</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580488" y="1234440"/>
            <a:ext cx="703072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4.png">    </p:cNvPr>
          <p:cNvPicPr>
            <a:picLocks noChangeAspect="1"/>
          </p:cNvPicPr>
          <p:nvPr/>
        </p:nvPicPr>
        <p:blipFill>
          <a:blip r:embed="rId1"/>
          <a:stretch>
            <a:fillRect/>
          </a:stretch>
        </p:blipFill>
        <p:spPr>
          <a:xfrm>
            <a:off x="2809088" y="1325880"/>
            <a:ext cx="657352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Bağın gücü çubukların boyuyla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gösterildi; sağdaki sayılar bağ uzunluğudur. Üstte karbon–karbon bağları: bağ derecesi arttıkça bağ güçlenir ve kısalır. Altta hidrojen–halojen bağları: halojen atomu büyüdükçe bağ uzar ve zayıflar. Soldaki küçük modellerde atomlar arası uzaklık da bağ uzunluğuyla orantılı çizildi.</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Hangi bağ daha sağlam? Derece, uzunluk ve atom türü</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Üçlü bağ ikiliden, ikili bağ tekliden daha kısa ve sağlamdır, ama enerjiler orantılı artmaz. Benzer bağlarda kısa olan daha sağlamdır; atom türü de bağın gücünü belirler.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F–F bağı (142 pm) Cl–Cl bağından (199 pm) kısadır. O hâlde daha mı sağlamdır?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Hangi bağ daha sağlam? Derece, uzunluk ve atom türü</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F–F bağı (142 pm) Cl–Cl bağından (199 pm) kısadır. O hâlde daha mı sağlamdır?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F–F 159, Cl–Cl 243 kJ/mol'dür. Flor atomları çok küçüktür; bağ kısalınca iki atomun bağa katılmayan elektron çiftleri birbirine çok yaklaşır ve iter. “Kısa bağ daha sağlamdır” kuralı benzer bağları karşılaştırırken işe yarar, her zaman geçerli bir yasa değildir.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50" dirty="0">
                <a:solidFill>
                  <a:srgbClr val="C3CEE8"/>
                </a:solidFill>
                <a:latin typeface="Calibri" pitchFamily="34" charset="0"/>
                <a:ea typeface="Calibri" pitchFamily="34" charset="-122"/>
                <a:cs typeface="Calibri" pitchFamily="34" charset="-120"/>
              </a:rPr>
              <a:t>Bağıntılar: bağ enerjileri tablosunu oku, bir tepkimenin ısısını kırılan ve oluşan bağlardan adım adım hesapla, sonucu enerji grafiğinde gör.</a:t>
            </a:r>
            <a:endParaRPr lang="en-US" sz="155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Ortalama bağ enerjileri tablosu</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Tepkime entalpisi: kırılan eksi oluşan</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Adım adım: metanın yanması</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Potansiyel enerji grafiğinde bağlar</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Sayılarla hisset: büyük toplamlar, küçük fark</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 = ΣE(kırılan) − ΣE(oluşan)</a:t>
            </a:r>
            <a:endParaRPr lang="en-US" sz="1500" dirty="0"/>
          </a:p>
        </p:txBody>
      </p:sp>
      <p:sp>
        <p:nvSpPr>
          <p:cNvPr id="14" name="Text 12"/>
          <p:cNvSpPr txBox="1"/>
          <p:nvPr/>
        </p:nvSpPr>
        <p:spPr>
          <a:xfrm>
            <a:off x="9768535" y="148132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bağ enerjileriyle tepkime entalpisi</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288950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H₂(g) + 436 kJ → 2H(g)</a:t>
            </a:r>
            <a:endParaRPr lang="en-US" sz="1500" dirty="0"/>
          </a:p>
        </p:txBody>
      </p:sp>
      <p:sp>
        <p:nvSpPr>
          <p:cNvPr id="17" name="Text 15"/>
          <p:cNvSpPr txBox="1"/>
          <p:nvPr/>
        </p:nvSpPr>
        <p:spPr>
          <a:xfrm>
            <a:off x="9381744" y="2350008"/>
            <a:ext cx="198699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H–H bağ enerjisi</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312724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E(C≡C) &gt; E(C=C) &gt; E(C–C)</a:t>
            </a:r>
            <a:endParaRPr lang="en-US" sz="1500" dirty="0"/>
          </a:p>
        </p:txBody>
      </p:sp>
      <p:sp>
        <p:nvSpPr>
          <p:cNvPr id="20" name="Text 18"/>
          <p:cNvSpPr txBox="1"/>
          <p:nvPr/>
        </p:nvSpPr>
        <p:spPr>
          <a:xfrm>
            <a:off x="9619488" y="3218688"/>
            <a:ext cx="174924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bağ derecesi</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 &lt; 0 ⇔ Σoluşan &gt; Σkırılan</a:t>
            </a:r>
            <a:endParaRPr lang="en-US" sz="1500" dirty="0"/>
          </a:p>
        </p:txBody>
      </p:sp>
      <p:sp>
        <p:nvSpPr>
          <p:cNvPr id="23" name="Text 21"/>
          <p:cNvSpPr txBox="1"/>
          <p:nvPr/>
        </p:nvSpPr>
        <p:spPr>
          <a:xfrm>
            <a:off x="9768535" y="408736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ekzotermik</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dersler.perinet.org/bag-enerjisi.html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bağ enerjileri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iki atom arasındaki bağ, farklı moleküllerde biraz farklı güçtedir: sudaki O–H bağı ile hidrojen peroksitteki (H₂O₂) O–H bağı birebir aynı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Tablolar bu yüzden birçok molekülden ölçülmüş değerlerin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ortalamasını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konudaki bütün hesaplarda aşağıdaki değerleri kullanacağız: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bağ enerjileri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818589"/>
                <a:gridCol w="3637178"/>
                <a:gridCol w="1818589"/>
                <a:gridCol w="363717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436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498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413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463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347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163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614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bağ enerjileri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407940"/>
                <a:gridCol w="5631760"/>
                <a:gridCol w="1759925"/>
                <a:gridCol w="2111910"/>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839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H–F</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567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358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H–Cl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431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745 (CO₂'de 799)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H–Br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366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1072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F–F</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C–Cl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339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Cl–Cl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bağ enerjileri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128780"/>
                <a:gridCol w="2257559"/>
                <a:gridCol w="4138858"/>
                <a:gridCol w="338633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C–F</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485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Br–Br · I–I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193 · 151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bağ enerjileri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Tabloyu kullanırken dört kuralı aklında tut:</a:t>
            </a:r>
            <a:endParaRPr lang="en-US" sz="2200" dirty="0"/>
          </a:p>
        </p:txBody>
      </p:sp>
      <p:sp>
        <p:nvSpPr>
          <p:cNvPr id="7" name="Text 5"/>
          <p:cNvSpPr txBox="1"/>
          <p:nvPr/>
        </p:nvSpPr>
        <p:spPr>
          <a:xfrm>
            <a:off x="640080" y="200406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Gaz hâli: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değerler gaz moleküller içindir; sıvı ve katılarda moleküller arası çekimler de işe karışır.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1 mol bağ başına: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molekülde aynı bağdan birkaç tane varsa değer o sayıyla çarpılır; CH₄'te 4 tane C–H vardır.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CO₂ özeldir: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karbon dioksitteki C=O bağları ortalamadan sağlamdır; CO₂ için 799 kullan.</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Önce yapıyı çiz: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hangi bağdan kaç tane olduğunu yapı formülü söyler.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bağ enerjileri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909164" y="1234440"/>
            <a:ext cx="637336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5.png">    </p:cNvPr>
          <p:cNvPicPr>
            <a:picLocks noChangeAspect="1"/>
          </p:cNvPicPr>
          <p:nvPr/>
        </p:nvPicPr>
        <p:blipFill>
          <a:blip r:embed="rId1"/>
          <a:stretch>
            <a:fillRect/>
          </a:stretch>
        </p:blipFill>
        <p:spPr>
          <a:xfrm>
            <a:off x="3137764" y="1325880"/>
            <a:ext cx="591616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Bağ saymak hesabın yarısıdır.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Sudaki iki O–H bağı 104,5°'lik bir açı yapar, CO₂ ise doğrusaldır; ama hesap için yalnızca hangi bağdan kaç tane olduğu önemlidir. Etende (C₂H₄) karbonlar arasında bir ikili bağ ve dört C–H bağı, metil alkolde (metanol, CH₃OH) üç C–H, bir C–O ve bir O–H bağı vardır.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bağ enerjileri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Tablolar gaz hâlindeki 1 mol bağ için ortalama değer verir. Hesaba başlamadan önce yapı formülünü çiz ve her bağdan kaç tane olduğunu say.</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 kırılan eksi oluşan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tepkimenin ısısını bulmak için tepkimeyi iki hayalî adıma ayır.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 girenlerdeki bütün bağları kır ve atomları serbest bırak: bunun için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kırılan bağların enerjileri toplamı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kadar enerji alınır.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Sonra serbest atomlardan ürünleri kur: bu kez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oluşan bağların enerjileri toplamı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kadar enerji verilir.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Net değişim ikisinin farkıdır:</a:t>
            </a:r>
            <a:endParaRPr lang="en-US" sz="2200" dirty="0"/>
          </a:p>
        </p:txBody>
      </p:sp>
      <p:sp>
        <p:nvSpPr>
          <p:cNvPr id="7" name="Shape 5"/>
          <p:cNvSpPr/>
          <p:nvPr/>
        </p:nvSpPr>
        <p:spPr>
          <a:xfrm>
            <a:off x="640080" y="4206240"/>
            <a:ext cx="457931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206240"/>
            <a:ext cx="457931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ΣE(kırılan) − ΣE(oluşan)</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 kırılan eksi oluşan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2105735"/>
                <a:gridCol w="7657218"/>
                <a:gridCol w="114858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tepkime entalpisi: denklemdeki miktarlar tepkimeye girince alınan (+) ya da verilen (−) 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Σ</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“topla” demek: aynı türden bütün terimleri topla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E(X–Y)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X–Y bağının bağ enerjisi (tablodan)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kJ/mol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ΣE(kırılan)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girenlerdeki bağların toplamı: her bağ için sayısı × enerjisi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ΣE(oluşan)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ürünlerdeki bağların toplamı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 kırılan eksi oluşan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90804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Hidrojen ile klorun tepkimesinde dene: H₂(g) + Cl₂(g) → 2HCl(g).</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Kırılan bağlar 1 H–H ve 1 Cl–Cl: 436 + 243 = 679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Oluşan bağlar 2 H–Cl: 2 × 431 = 862 kJ. ΔH = 679 − 862 =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−183 kJ</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Oluşan bağlar daha çok enerji verdiği için tepkime ekzotermiktir.</a:t>
            </a:r>
            <a:endParaRPr lang="en-US" sz="2200" dirty="0"/>
          </a:p>
        </p:txBody>
      </p:sp>
      <p:sp>
        <p:nvSpPr>
          <p:cNvPr id="7" name="Text 5"/>
          <p:cNvSpPr txBox="1"/>
          <p:nvPr/>
        </p:nvSpPr>
        <p:spPr>
          <a:xfrm>
            <a:off x="640080" y="3435096"/>
            <a:ext cx="10911535" cy="91897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Σoluşan &gt; Σkırılan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ise ΔH &lt; 0: tepkime ekzotermiktir.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Σkırılan &gt; Σoluşan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ise ΔH &gt; 0: tepkime endotermiktir.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 kırılan eksi oluşan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696804" y="1234440"/>
            <a:ext cx="679808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6.png">    </p:cNvPr>
          <p:cNvPicPr>
            <a:picLocks noChangeAspect="1"/>
          </p:cNvPicPr>
          <p:nvPr/>
        </p:nvPicPr>
        <p:blipFill>
          <a:blip r:embed="rId1"/>
          <a:stretch>
            <a:fillRect/>
          </a:stretch>
        </p:blipFill>
        <p:spPr>
          <a:xfrm>
            <a:off x="2925404" y="1325880"/>
            <a:ext cx="634088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Bağ kır, bağ kur merdiveni.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Girenlerden (mavi düzey) yukarı çıkan kırmızı ok bağları kırmak için alınan 679 kJ'yi, atomlardan ürünlere inen yeşil ok yeni bağlar kurulurken verilen 862 kJ'yi gösterir; oklar değerlerle orantılıdır. İniş çıkıştan uzun olduğu için ürünler girenlerin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183 kJ</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altında kalır. 01 numaralı laboratuvarda aynı merdiveni başka tepkimeler için de kurabilirsin.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 kırılan eksi oluşan</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ΔH = ΣE(kırılan) − ΣE(oluşan). Oluşan bağlar kırılanlardan güçlüyse tepkime ısı verir (ΔH &lt; 0); zayıfsa ısı alır (ΔH &gt; 0).</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2HCl(g) → H₂(g) + Cl₂(g) tepkimesinin ΔH'si nedir?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Tepkime entalpisi: kırılan eksi oluşan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2HCl(g) → H₂(g) + Cl₂(g) tepkimesinin ΔH'si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+183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Ters tepkimede kırılan ve oluşan bağlar yer değiştirir: kırılan 2 × 431 = 862 kJ, oluşan 436 + 243 = 679 kJ, ΔH = 862 − 679 = +183 kJ. Bir tepkime ters çevrilince ΔH'nin büyüklüğü aynı kalır, işareti değişir.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metanın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Şimdi giriş görselindeki alevin hesabını yapalım.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Doğal gazın ana bileşeni metan yanınca karbon dioksit ve su buharı oluşur.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 enerjileri gaz hâli için verildiğinden suyu buhar olarak alıyoruz.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metanın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Denklemi yaz, denkliği denetle: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CH₄(g) + 2O₂(g) → CO₂(g) + 2H₂O(g). İki yanda da 1 C, 4 H, 4 O var.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Yapıları çiz: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CH₄'te 4 C–H; her O₂'de 1 O=O; CO₂'de 2 C=O; her H₂O'da 2 O–H.</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Kırılanları topla: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4 × 413 + 2 × 498 = 1652 + 996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2648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Oluşanları topla: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 × 799 + 4 × 463 = 1598 + 1852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3450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su molekülünde toplam 4 O–H bağı vardır.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metanın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287018"/>
          </a:xfrm>
          <a:prstGeom prst="rect">
            <a:avLst/>
          </a:prstGeom>
          <a:noFill/>
          <a:ln/>
        </p:spPr>
        <p:txBody>
          <a:bodyPr wrap="square" lIns="0" tIns="0" rIns="0" bIns="0" rtlCol="0" anchor="t"/>
          <a:lstStyle/>
          <a:p>
            <a:pPr marL="279400" indent="-279400">
              <a:lnSpc>
                <a:spcPct val="115000"/>
              </a:lnSpc>
              <a:spcAft>
                <a:spcPts val="800"/>
              </a:spcAft>
              <a:buSzPct val="100000"/>
              <a:buFont typeface="+mj-lt"/>
              <a:buAutoNum type="arabicPeriod" startAt="5"/>
            </a:pPr>
            <a:r>
              <a:rPr lang="en-US" sz="2100" b="1" dirty="0">
                <a:solidFill>
                  <a:srgbClr val="0E1426"/>
                </a:solidFill>
                <a:latin typeface="Calibri" pitchFamily="34" charset="0"/>
                <a:ea typeface="Calibri" pitchFamily="34" charset="-122"/>
                <a:cs typeface="Calibri" pitchFamily="34" charset="-120"/>
              </a:rPr>
              <a:t>Farkı al: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 = 2648 − 3450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−802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Yorumla: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 &lt; 0, tepkime ekzotermiktir. 1 mol metan (16 g) yanarken 802 kJ ısı verir; ölçülen değer de −802 kJ'dir.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metanın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869837" y="1234440"/>
            <a:ext cx="845202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7.png">    </p:cNvPr>
          <p:cNvPicPr>
            <a:picLocks noChangeAspect="1"/>
          </p:cNvPicPr>
          <p:nvPr/>
        </p:nvPicPr>
        <p:blipFill>
          <a:blip r:embed="rId1"/>
          <a:stretch>
            <a:fillRect/>
          </a:stretch>
        </p:blipFill>
        <p:spPr>
          <a:xfrm>
            <a:off x="2098437" y="1325880"/>
            <a:ext cx="799482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Metanın yanmasında bağ hesabı.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Üstteki kırmızı çubuk kırılan bağları, alttaki yeşil çubuk oluşan bağları gösterir; boylar enerjilerle orantılıdır. Yeşil çubuk kırmızıdan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802 kJ</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uzundur: bu fazlalık ocaktaki alevin ısısıdır. Dikkat: dört O–H bağı tek bir su molekülünde değil, iki su molekülündedir.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metanın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Metan yanarken 2648 kJ'lik bağ kırılır, 3450 kJ'lik bağ kurulur; ΔH = −802 kJ'dir. Yol hep aynıdır: denkleştir, yapıları çiz, bağları say, topla ve çıkar.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Su sıvı olarak oluşsaydı açığa çıkan ısı artar mı, azalır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Adım adım: metanın yanması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Su sıvı olarak oluşsaydı açığa çıkan ısı artar mı, azalır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Artar.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Su buharı yoğuşurken de ısı verir: mol başına 44 kJ. 2 mol su için 88 kJ daha açığa çıkar ve ΔH = −890 kJ olur. Bağ enerjileri bu farkı göremez, çünkü yoğuşmada hiçbir kovalent bağ kırılmaz ya da kurulmaz; bu yüzden hesap gaz hâlindeki maddelerle yapılır.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Potansiyel enerji grafiğinde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 değişimi bir grafikle de gösterilir.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Dikey eksen potansiyel enerji, yatay eksen tepkimenin ilerleyişidir (tepkime koordinatı).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Girenlerden başlayan eğri, bütün bağlar kırılınca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atomlar düzeyine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yükselir, yeni bağlar kurulurken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ürünler düzeyine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Yükselişin boyu Σkırılan, inişin boyu Σoluşan, girenler ile ürünler arasındaki fark ΔH'dir.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Potansiyel enerji grafiğinde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2921712" y="1234440"/>
            <a:ext cx="6348271"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8.png">    </p:cNvPr>
          <p:cNvPicPr>
            <a:picLocks noChangeAspect="1"/>
          </p:cNvPicPr>
          <p:nvPr/>
        </p:nvPicPr>
        <p:blipFill>
          <a:blip r:embed="rId1"/>
          <a:stretch>
            <a:fillRect/>
          </a:stretch>
        </p:blipFill>
        <p:spPr>
          <a:xfrm>
            <a:off x="3150312" y="1325880"/>
            <a:ext cx="5891071"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Ekzotermik tepkimenin grafiği.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Hidrojenin yanmasında eğri girenlerden (2H₂ + O₂) bütün bağların kırıldığı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atomlar düzeyine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1370 kJ yükselir, dört O–H bağı kurulurken 1852 kJ iner. İniş daha uzun olduğu için ürünler girenlerden 482 kJ aşağıda biter. Tepedeki düzey, bütün bağların birden kırıldığı hayalî bir yoldur; gerçek tepkime bu kadar yükseğe çıkmaz, ama ΔH aynıdır.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Potansiyel enerji grafiğinde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Azot ile oksijenin tepkimesinde, N₂(g) + O₂(g) → 2NO(g), kırılan bağlar 945 + 498 = 1443 kJ, oluşan iki N=O bağı 2 × 607 = 1214 kJ tutar.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kez yükseliş inişten uzundur ve ürünler girenlerin üstünde biter: ΔH = +229 kJ.</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Potansiyel enerji grafiğinde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921712" y="1234440"/>
            <a:ext cx="6348271"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09.png">    </p:cNvPr>
          <p:cNvPicPr>
            <a:picLocks noChangeAspect="1"/>
          </p:cNvPicPr>
          <p:nvPr/>
        </p:nvPicPr>
        <p:blipFill>
          <a:blip r:embed="rId1"/>
          <a:stretch>
            <a:fillRect/>
          </a:stretch>
        </p:blipFill>
        <p:spPr>
          <a:xfrm>
            <a:off x="3150312" y="1325880"/>
            <a:ext cx="5891071"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Endotermik tepkimenin grafiği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(ölçek üstteki grafikle aynı). N≡N ve O=O bağlarını kırmak 1443 kJ ister, iki N=O bağı kurulurken yalnızca 1214 kJ geri gelir. Ürünler girenlerden 229 kJ yukarıda kalır: tepkime sürdükçe dışarıdan ısı alınmalıdır. N≡N bağı çok sağlam olduğu için havadaki azot ve oksijen ancak araba motorunun içi ya da şimşek gibi çok sıcak ortamlarda NO oluşturur.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Potansiyel enerji grafiğinde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Ekzotermik: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 girenlerden aşağıdadır; ürünler daha düşük enerjili, yani daha kararlıdır.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Endotermik: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 girenlerden yukarıdadır; bu kez girenler daha kararlıdır.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Potansiyel enerji grafiğinde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Grafikte girenlerden atomlar düzeyine çıkış Σkırılan, atomlardan ürünlere iniş Σoluşan, girenler ile ürünler arasındaki fark ΔH'dir. Ürünler aşağıdaysa tepkime ekzotermik, yukarıdaysa endotermiktir.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Gerçek bir tepkimede bütün bağlar önce kırılıp sonra mı yenileri kurulur?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Potansiyel enerji grafiğinde bağlar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Gerçek bir tepkimede bütün bağlar önce kırılıp sonra mı yenileri kurulur?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Gerçek tepkimede eski bağlar zayıflarken yenileri kurulmaya başlar; bu yüzden aşılan tepe atomlar düzeyinden çok daha alçaktır. Bu gerçek tepeye aktifleşme enerjisi denir (Tepkimelerde Hız ünitesi). Yine de ΔH aynı çıkar: entalpi değişimi yalnızca başlangıç ve bitiş hâline bağlıdır, aradaki yola bağlı değildir.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büyük toplamlar, küçük fark</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436 kJ ne kadar büyük bir enerji?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mol H₂'nin, yani yalnızca 2 gram hidrojenin bağlarını kırmak için gereken enerjiyle 1,3 kg suyu 20 °C'den kaynamaya kadar ısıtabilirsin (q = m·c·ΔT = 1300 · 4,18 · 80 ≈ 435 000 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Tek bir H–H bağı içinse 436 kJ'yi 6,02·10²³'e bölmek gerekir: yaklaşık 7·10⁻¹⁹ 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Bilinen tepkimelerin bağ hesabı yan yana (hepsi gaz hâlinde):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büyük toplamlar, küçük fark</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445440"/>
                <a:gridCol w="2626851"/>
                <a:gridCol w="2424786"/>
                <a:gridCol w="141445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Tepkime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Σkırılan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Σoluşan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H₂ + Cl₂ → 2HCl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679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862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−183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2H₂ + O₂ → 2H₂O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1370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1852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−482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N₂ + 3H₂ → 2NH₃</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2253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2346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CH₄ + 2O₂ → CO₂ + 2H₂O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2648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3450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−802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N₂ + O₂ → 2NO</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1443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1214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CH₄ + H₂O → CO + 3H₂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2578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2380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büyük toplamlar, küçük fark</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üç düzen okunur:</a:t>
            </a:r>
            <a:endParaRPr lang="en-US" sz="2200" dirty="0"/>
          </a:p>
        </p:txBody>
      </p:sp>
      <p:sp>
        <p:nvSpPr>
          <p:cNvPr id="7" name="Text 5"/>
          <p:cNvSpPr txBox="1"/>
          <p:nvPr/>
        </p:nvSpPr>
        <p:spPr>
          <a:xfrm>
            <a:off x="640080" y="200406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Toplamlar büyük, fark küçük: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amonyak tepkimesinde iki yanda da 2000 kJ'den fazla bağ var, ama fark yalnızca 93 kJ.</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Yanmalar ekzotermiktir: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oksijenle kurulan C=O ve O–H bağları çok güçlüdür.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Çok sağlam bağ kıran tepkimeler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endotermik olabilir: N≡N (945) kırılıp daha zayıf iki N=O kurulunca enerji alınır. Son satırdaki tepkimeyle bugün hidrojenin çoğu üretilir ve fabrikada sürekli ısıtma gerekir.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büyük toplamlar, küçük fark</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869092" y="1234440"/>
            <a:ext cx="645351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10.png">    </p:cNvPr>
          <p:cNvPicPr>
            <a:picLocks noChangeAspect="1"/>
          </p:cNvPicPr>
          <p:nvPr/>
        </p:nvPicPr>
        <p:blipFill>
          <a:blip r:embed="rId1"/>
          <a:stretch>
            <a:fillRect/>
          </a:stretch>
        </p:blipFill>
        <p:spPr>
          <a:xfrm>
            <a:off x="3097692" y="1325880"/>
            <a:ext cx="599631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büyük sayının farkı.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Her tepkimede kırmızı çubuk kırılan, yeşil çubuk oluşan bağların toplamıdır; sarı şerit aradaki farkı, yani ΔH'nin büyüklüğünü gösterir. Amonyakta iki çubuk neredeyse eşittir: toplamlar 2000 kJ'yi aşarken fark 93 kJ'dir. NO'da kırmızı çubuk uzundur; bu yüzden ΔH artıdır.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büyük toplamlar, küçük fark</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Kırılan ve oluşan bağların toplamı binlerce kJ'dir; ΔH ise çoğu zaman bu iki büyük sayının küçük farkıdır. Yanmalar ekzotermiktir; çok sağlam bağ kıran tepkimeler endotermik olabilir.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250" dirty="0">
                <a:solidFill>
                  <a:srgbClr val="C3CEE8"/>
                </a:solidFill>
                <a:latin typeface="Calibri" pitchFamily="34" charset="0"/>
                <a:ea typeface="Calibri" pitchFamily="34" charset="-122"/>
                <a:cs typeface="Calibri" pitchFamily="34" charset="-120"/>
              </a:rPr>
              <a:t>Derinleşme: hesabı tersine çevirip bilinmeyen bir bağı bul, sonucun neden yaklaşık olduğunu gör, yakıtların enerjisinin nereden geldiğini ve bağların gücünün gerçek hayattaki izlerini keşfet.</a:t>
            </a:r>
            <a:endParaRPr lang="en-US" sz="12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Geri hesap: bilinmeyen bağ enerjisi</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Hesap neden yaklaşıktır?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Yakıtlar neden enerji deposudur?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Bağ enerjisi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bag-enerjis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Oksiasetilen hamlacı</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asetileni saf oksijenle yakar. Memenin ucundaki küçük mavi-beyaz alev çeliği önce kızıl renge, yaklaşık 900 °C'ye kadar ısıtır; sonra memeden gönderilen saf oksijen jeti kızgın demiri yakar ve oluşan erimiş oksidi yarıktan üfleyip atar. Aşağı saçılan turuncu kıvılcımlar, akkor hâldeki demir ve demir oksit damlacıklarıdır.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bağ enerjisi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Tablodaki değerler nereden geliyor?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tepkimenin ΔH'si kalorimetreyle ölçülebilir.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Bağlardan biri dışında hepsinin enerjisi biliniyorsa aynı bağıntı bilinmeyeni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Hidrojenin yanmasını yeniden ele al, bu kez ölçülen değerle başla: 2H₂(g) + O₂(g) → 2H₂O(g), ΔH = −484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O–H bağının enerjisine x diyelim.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bağ enerjisi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su molekülünde 4 O–H bağı olduğu için oluşanların toplamı 4x'tir:</a:t>
            </a:r>
            <a:endParaRPr lang="en-US" sz="2200" dirty="0"/>
          </a:p>
        </p:txBody>
      </p:sp>
      <p:sp>
        <p:nvSpPr>
          <p:cNvPr id="7" name="Shape 5"/>
          <p:cNvSpPr/>
          <p:nvPr/>
        </p:nvSpPr>
        <p:spPr>
          <a:xfrm>
            <a:off x="640080" y="2004060"/>
            <a:ext cx="4023360"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004060"/>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−484 = (2·436 + 498) − 4x</a:t>
            </a:r>
            <a:endParaRPr lang="en-US" sz="1800" dirty="0"/>
          </a:p>
        </p:txBody>
      </p:sp>
      <p:sp>
        <p:nvSpPr>
          <p:cNvPr id="9" name="Shape 7"/>
          <p:cNvSpPr/>
          <p:nvPr/>
        </p:nvSpPr>
        <p:spPr>
          <a:xfrm>
            <a:off x="4809744" y="2004060"/>
            <a:ext cx="360639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809744" y="2004060"/>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4x = 1370 + 484 = 1854</a:t>
            </a:r>
            <a:endParaRPr lang="en-US" sz="1800" dirty="0"/>
          </a:p>
        </p:txBody>
      </p:sp>
      <p:sp>
        <p:nvSpPr>
          <p:cNvPr id="11" name="Shape 9"/>
          <p:cNvSpPr/>
          <p:nvPr/>
        </p:nvSpPr>
        <p:spPr>
          <a:xfrm>
            <a:off x="8562442" y="2004060"/>
            <a:ext cx="2772461"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8562442" y="2004060"/>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x = 463,5 kJ/mol</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bağ enerjisi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 tablodaki 463 kJ/mol'e çok yakın.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Bilinmeyen bağ girenlerde olsaydı aynı yolu izlerdin; bu kez x kırılanların toplamına girerdi.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İşaret hatası yapmamak için ΔH'yi işaretiyle yaz, bilinmeyeni en sonda yalnız bırak ve bulduğun değeri tabloyla karşılaştır.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03 numaralı laboratuvardaki bulmacalarda aynı hesabı başka tepkimelerle deneyebilirsin.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bağ enerjisi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480066" y="1234440"/>
            <a:ext cx="723156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11.png">    </p:cNvPr>
          <p:cNvPicPr>
            <a:picLocks noChangeAspect="1"/>
          </p:cNvPicPr>
          <p:nvPr/>
        </p:nvPicPr>
        <p:blipFill>
          <a:blip r:embed="rId1"/>
          <a:stretch>
            <a:fillRect/>
          </a:stretch>
        </p:blipFill>
        <p:spPr>
          <a:xfrm>
            <a:off x="2708666" y="1325880"/>
            <a:ext cx="677436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Ölçülen ΔH'den geriye.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Girenlerden atomlara çıkış tablodaki değerlerle bilinir (1370 kJ); girenler ile ürünler arasındaki fark ölçülmüştür (484 kJ). Atomlardan ürünlere iniş bu ikisinin toplamı olmak zorundadır: 1854 kJ. Bu iniş dört O–H bağının kurulmasıdır; bir bağ için 1854 ÷ 4 = 463,5 kJ/mol.</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bağ enerjisi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ΔH ölçülmüşse ve bir bağ dışındaki bütün bağ enerjileri biliniyorsa ΔH = ΣE(kırılan) − ΣE(oluşan) bağıntısından bilinmeyen bağ bulunur. Bağın kaç tane olduğunu (4x gibi) unutma.</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Hesap neden yaklaşıktır?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 enerjileriyle bulunan ΔH çoğu zaman ölçülen değere yakındır, ama tam aynı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Bunun üç nedeni var: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Hesap neden yaklaşıktır?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Değerler ortalamadır: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NO molekülündeki azot–oksijen bağının gerçek enerjisi yaklaşık 632 kJ/mol, tablodaki ortalama ise 607'dir. Bu yüzden N₂ + O₂ → 2NO için hesap +229 kJ verir, ölçülen değer +181 kJ'dir.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Değerler gaz hâli içindir: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metanın yanmasında su sıvı oluşursa ölçülen ΔH −890 kJ'dir; hesap yine −802 kJ verir. Aradaki 88 kJ, iki mol suyun yoğuşma ısısıdır.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Küçük fark, büyük hata: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 iki büyük toplamın farkı olduğundan toplamlardaki küçük bir sapma, farkı oransal olarak çok değiştirir.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Hesap neden yaklaşıktır?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3058897" y="1234440"/>
            <a:ext cx="607390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12.png">    </p:cNvPr>
          <p:cNvPicPr>
            <a:picLocks noChangeAspect="1"/>
          </p:cNvPicPr>
          <p:nvPr/>
        </p:nvPicPr>
        <p:blipFill>
          <a:blip r:embed="rId1"/>
          <a:stretch>
            <a:fillRect/>
          </a:stretch>
        </p:blipFill>
        <p:spPr>
          <a:xfrm>
            <a:off x="3287497" y="1325880"/>
            <a:ext cx="561670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Hesaplanan ve ölçülen ΔH</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yan yana: koyu çubuklar bağ enerjileriyle hesaplanan, açık çubuklar ölçülen değerler. Basit gaz tepkimelerinde ikisi neredeyse aynıdır. NO'da fark tablodaki ortalama N=O değerinden, sıvı suyla biten yanmada ise bağ enerjilerinin göremediği yoğuşma ısısından gelir.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Hesap neden yaklaşıktır?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Kesin sonuç için bir sonraki konudaki oluşum entalpilerini kullanırız.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 enerjileri ise hızlı bir tahmin verir ve en önemlisi, ısının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nereden geldiğini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açıklar.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04 numaralı laboratuvarda hesaplanan ve ölçülen değerleri tepkime tepkime karşılaştırabilirsin.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Hesap neden yaklaşıktır?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Bağ enerjileri ortalama ve gaz hâli için olduğundan hesaplanan ΔH yaklaşıktır. ΔH küçük olduğunda göreli hata büyür; kesin değer için oluşum entalpileri kullanılır.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N₂ + 3H₂ → 2NH₃ hesabında N–H bağı yalnızca %1 büyük alınsaydı ΔH ne olurdu?</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Hesap neden yaklaşıktır?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N₂ + 3H₂ → 2NH₃ hesabında N–H bağı yalnızca %1 büyük alınsaydı ΔH ne olurdu?</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N–H 391 yerine 395 olurdu ve oluşanlar 6 × 395 = 2370 kJ tutardı. ΔH = 2253 − 2370 = −117 kJ çıkar: %1'lik sapma sonucu −93'ten −117'ye, yani dörtte bir oranında değiştirir. İki büyük sayının farkı, sayılardaki küçük hatalara karşı çok duyarlıdır.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neden enerji deposudur?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“Yakıtın bağlarında enerji saklıdır, bağ kırılınca açığa çıkar” cümlesi çok duyulur ama yanlıştır: hiçbir bağ kırılırken enerji vermez.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Yakıtın enerjisi, oksijenle birlikte kurabileceği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yeni ve güçlü bağlardan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Metan kapalı bir tüpte yıllarca durur; oksijen olmadan yanamaz.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Asıl enerji deposu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yakıt ile oksijenin ikilisidir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neden enerji deposudur?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O₂'de iki oksijen atomunu tek bir ikili bağ tutar, yani atom başına yalnızca 498 ÷ 2 = 249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Ürünlerde ise her O atomu ya bir C=O bağıyla (CO₂'de 799 kJ) ya da iki O–H bağıyla (suda 2 × 463 = 926 kJ) tutunur.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Yanma ısısının büyük kısmı, oksijen atomlarının bu zayıf tutunmadan güçlü tutunmaya geçmesinden gelir.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neden enerji deposudur?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metan, propan, etanol gibi karbon ve hidrojen içeren yaygın yakıtlarda harcanan her mol O₂ başına benzer bir ısı açığa çıkar (ölçülen değerler, su buhar: metan 401, propan 409, etanol 412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yakıtın gram başına verdiği enerjiyi de ne kadar oksijenle yanabildiği belirler: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neden enerji deposudur?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C–H ve C–C bağı çok olan yakıtlar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(doğal gaz, propan, benzin) gram başına çok enerji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Zaten oksijen içeren yakıtlar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(etanol, metanol, şeker) yarı yanmış gibidir; gram başına daha az enerji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Hidrojen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en hafif yakıttır; gram başına en yüksek enerji ondadır.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neden enerji deposudur?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480066" y="1234440"/>
            <a:ext cx="723156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13.png">    </p:cNvPr>
          <p:cNvPicPr>
            <a:picLocks noChangeAspect="1"/>
          </p:cNvPicPr>
          <p:nvPr/>
        </p:nvPicPr>
        <p:blipFill>
          <a:blip r:embed="rId1"/>
          <a:stretch>
            <a:fillRect/>
          </a:stretch>
        </p:blipFill>
        <p:spPr>
          <a:xfrm>
            <a:off x="2708666" y="1325880"/>
            <a:ext cx="677436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Gram başına yanma ısısı.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Molekülünde oksijen bulunmayan yakıtlar (koyu çubuklar) gram başına en çok enerjiyi verir; etanol, metanol ve glikoz (açık çubuklar) zaten oksijen içerdikleri için daha azını verir. Hidrojenin çubuğu en uzundur: 1 gram hidrojen, 1 gram metandan yaklaşık 2,6 kat fazla ısı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Yakıtlar neden enerji deposudur?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Bağ kırılırken enerji açığa çıkmaz; yakıtın enerjisi, oksijenle kurulan güçlü C=O ve O–H bağlarından gelir. Molekülünde oksijen az, C–H bağı çok olan yakıt gram başına daha çok enerji verir.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Yağlar neden karbonhidratlardan gram başına iki kattan fazla enerji verir?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Yakıtlar neden enerji deposudur?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Yağlar neden karbonhidratlardan gram başına iki kattan fazla enerji verir?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Yağ molekülleri çoğunlukla uzun C–H ve C–C zincirlerinden oluşur ve çok az oksijen içerir. Şekerde ise neredeyse her karbonda bir oksijen vardır; molekül yarı yanmış gibidir. Yağın her gramı yanarken çok daha fazla O₂ harcar ve çok daha fazla yeni C=O ve O–H bağı kurar: yağ yaklaşık 37, karbonhidrat 17 kJ/g verir.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 enerjisi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Ustalar çeliği keserken ve kaynak yaparken çoğu zaman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asetileni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(etin, C₂H₂) saf oksijenle yakar.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 en sıcak kesme ve kaynak alevi asetilenle elde edilir?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 enerjileriyle hesaplayınca 1 mol metanın yanması 802 kJ, 1 mol asetileninki yaklaşık 1212 kJ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İkisinde de 3 ürün molekülü oluşur.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 enerjisi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sayıda molekül 1,5 kat fazla ısıyı paylaşınca çok daha sıcak olur; hava yerine saf oksijen kullanılınca ısıyı paylaşacak azot da kalmaz.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Oksiasetilen alevi böylece yaklaşık 3100 °C'ye ulaşır.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 enerjisi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1869837" y="1234440"/>
            <a:ext cx="845202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bag-enerjisi-14.png">    </p:cNvPr>
          <p:cNvPicPr>
            <a:picLocks noChangeAspect="1"/>
          </p:cNvPicPr>
          <p:nvPr/>
        </p:nvPicPr>
        <p:blipFill>
          <a:blip r:embed="rId1"/>
          <a:stretch>
            <a:fillRect/>
          </a:stretch>
        </p:blipFill>
        <p:spPr>
          <a:xfrm>
            <a:off x="2098437" y="1325880"/>
            <a:ext cx="799482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Neden asetilen?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 yakıt da yandığında 3 ürün molekülü verir, ama bağ enerjilerine göre asetilenin yanması 1212 kJ, metanınki 802 kJ ısı açığa çıkarır. Aynı sayıda molekül daha çok ısı alınca daha çok ısınır; asetilenin alevi bu yüzden yakıt gazları arasında en sıcak alevlerdendir.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 enerjisi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Bağların gücü başka yerlerde de iz bırakır:</a:t>
            </a:r>
            <a:endParaRPr lang="en-US" sz="2200" dirty="0"/>
          </a:p>
        </p:txBody>
      </p:sp>
      <p:sp>
        <p:nvSpPr>
          <p:cNvPr id="7" name="Text 5"/>
          <p:cNvSpPr txBox="1"/>
          <p:nvPr/>
        </p:nvSpPr>
        <p:spPr>
          <a:xfrm>
            <a:off x="640080" y="2004060"/>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Ozon tabakası: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Güneş'in 240 nm'den kısa dalga boylu morötesi ışığı O=O bağını kırabilir; serbest kalan O atomları O₂ molekülleriyle birleşip ozonu (O₃) kurar.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Teflon ve freonlar: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C–F bağı (485) çok sağlamdır; teflon kaplama bu yüzden ısıya ve kimyasallara dayanıklıdır. Freonlardaki daha zayıf C–Cl bağı (339) üst atmosferde morötesiyle kopar ve serbest kalan klor atomları ozonu yıkar.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 enerjisi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Tembel azot: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havanın %78'i N₂'dir, ama N≡N bağı (945) çok sağlam olduğu için azot zor tepkimeye girer; gübre üretiminde yüksek sıcaklık, basınç ve katalizör gerekir.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Hidrojen peroksit: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zayıf O–O bağı (146) kolay kırıldığı için H₂O₂ mikrop öldürür ve ağartır; ışıkta bozunmasın diye koyu şişede saklanır.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 enerjisi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Oksiasetilen alevi, aynı sayıda ürün molekülüne metandan 1,5 kat fazla ısı verdiği için çok sıcaktır. Ozon tabakası, teflon, freonlar ve azotun tembelliği de bağların gücüyle açıklanır.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Kesme hamlacında neden hava yerine saf oksijen kullanılır?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13 · Bağ enerjisi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Kesme hamlacında neden hava yerine saf oksijen kullanılır?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Havanın beşte dördü azottur. Azot yanmaz, ama alevin ısısından payını alır ve alevi soğutur. Saf oksijenle açığa çıkan ısı yalnızca ürün moleküllerine kalır, alev çok daha sıcak olur. Ayrıca kesme sırasında saf oksijen jeti kızgın demiri yakarak asıl kesme işini yapar.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bağ enerjisi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15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Amonyağı atomlarına ayırmak</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Hidrojen ile florun tepkimesi</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Etene hidrojen katmak</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Grafikten okumak: hidrojen bromür</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Karbon monoksitteki üçlü bağ</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Metanol buharı yanınca</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Roket yakıtı hidrazin</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dersler.perinet.org/bag-enerjisi.html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Amonyağı atomlarına ayırmak</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0,5 mol amonyak gazını (NH₃) azot ve hidrojen atomlarına ayırmak için kaç kJ enerji gerekir? Bu olay endotermik midir, ekzotermik mi?</a:t>
            </a:r>
            <a:endParaRPr lang="en-US" sz="2000" dirty="0"/>
          </a:p>
        </p:txBody>
      </p:sp>
      <p:sp>
        <p:nvSpPr>
          <p:cNvPr id="11" name="Shape 9"/>
          <p:cNvSpPr/>
          <p:nvPr/>
        </p:nvSpPr>
        <p:spPr>
          <a:xfrm>
            <a:off x="2299134" y="3121152"/>
            <a:ext cx="7593427"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bag-enerjisi-15.png">    </p:cNvPr>
          <p:cNvPicPr>
            <a:picLocks noChangeAspect="1"/>
          </p:cNvPicPr>
          <p:nvPr/>
        </p:nvPicPr>
        <p:blipFill>
          <a:blip r:embed="rId1"/>
          <a:stretch>
            <a:fillRect/>
          </a:stretch>
        </p:blipFill>
        <p:spPr>
          <a:xfrm>
            <a:off x="2527734" y="3230880"/>
            <a:ext cx="7136227"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Amonyağı atomlarına ayırmak</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0,5 mol amonyak gazını (NH₃) azot ve hidrojen atomlarına ayırmak için kaç kJ enerji gerekir? Bu olay endotermik midir, ekzotermik mi?</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 = 0,5 mol NH₃(g)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E(N–H) = 391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NH₃ molekülünde 3 N–H bağı var (yapı formülünden)</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gereken enerji Q</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olayın türü</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Amonyağı atomlarına ayırmak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NH₃(g) → N(g) + 3H(g): 1 mol NH₃'te 3 mol N–H bağı kırılır.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mol için: 3 × 391 = 1173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Amonyağı atomlarına ayırmak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0,5 mol için: 0,5 × 1173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586,5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Yalnızca bağ kırılıyor, hiç bağ kurulmuyor: olay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endotermiktir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(ΔH = +586,5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Hidrojen ile florun tepkimesi</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H₂(g) + F₂(g) → 2HF(g) tepkimesinin ΔH değerini bağ enerjilerinden hesaplayınız. Tepkime ısı alır mı, verir mi?</a:t>
            </a:r>
            <a:endParaRPr lang="en-US" sz="2000" dirty="0"/>
          </a:p>
        </p:txBody>
      </p:sp>
      <p:sp>
        <p:nvSpPr>
          <p:cNvPr id="11" name="Shape 9"/>
          <p:cNvSpPr/>
          <p:nvPr/>
        </p:nvSpPr>
        <p:spPr>
          <a:xfrm>
            <a:off x="1938304" y="3121152"/>
            <a:ext cx="8315088"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bag-enerjisi-16.png">    </p:cNvPr>
          <p:cNvPicPr>
            <a:picLocks noChangeAspect="1"/>
          </p:cNvPicPr>
          <p:nvPr/>
        </p:nvPicPr>
        <p:blipFill>
          <a:blip r:embed="rId1"/>
          <a:stretch>
            <a:fillRect/>
          </a:stretch>
        </p:blipFill>
        <p:spPr>
          <a:xfrm>
            <a:off x="2166904" y="3230880"/>
            <a:ext cx="7857888"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Hidrojen ile florun tepkimesi</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H₂(g) + F₂(g) → 2HF(g) tepkimesinin ΔH değerini bağ enerjilerinden hesaplayınız. Tepkime ısı alır mı, verir mi?</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E(H–H) = 436</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E(F–F) = 159</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E(H–F) = 567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kırılan: 1 H–H, 1 F–F</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oluşan: 2 H–F</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 ve tepkimenin türü</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Hidrojen ile florun tepkimesi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ΣE(kırılan) = 436 + 159 = 595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ΣE(oluşan) = 2 × 567 = 1134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Hidrojen ile florun tepkimesi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595 − 1134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−539 kJ</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&lt; 0: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ekzotermiktir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2 mol HF oluşurken 539 kJ ısı açığa çıkar. Ölçülen değer −542 kJ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Etene hidrojen katmak</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Margarin yapımında bitkisel yağlardaki C=C bağlarına hidrojen katılır. En basit örnek etenin hidrojenle tepkimesidir: C₂H₄(g) + H₂(g) → C₂H₆(g). Tepkimenin ΔH değeri kaç kJ'dir?</a:t>
            </a:r>
            <a:endParaRPr lang="en-US" sz="2000" dirty="0"/>
          </a:p>
        </p:txBody>
      </p:sp>
      <p:sp>
        <p:nvSpPr>
          <p:cNvPr id="11" name="Shape 9"/>
          <p:cNvSpPr/>
          <p:nvPr/>
        </p:nvSpPr>
        <p:spPr>
          <a:xfrm>
            <a:off x="2884211" y="3474720"/>
            <a:ext cx="6423273"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bag-enerjisi-17.png">    </p:cNvPr>
          <p:cNvPicPr>
            <a:picLocks noChangeAspect="1"/>
          </p:cNvPicPr>
          <p:nvPr/>
        </p:nvPicPr>
        <p:blipFill>
          <a:blip r:embed="rId1"/>
          <a:stretch>
            <a:fillRect/>
          </a:stretch>
        </p:blipFill>
        <p:spPr>
          <a:xfrm>
            <a:off x="3112811" y="3584448"/>
            <a:ext cx="5966073"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Etene hidrojen katmak</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Margarin yapımında bitkisel yağlardaki C=C bağlarına hidrojen katılır. En basit örnek etenin hidrojenle tepkimesidir: C₂H₄(g) + H₂(g) → C₂H₆(g). Tepkimenin ΔH değeri kaç kJ'dir?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E(C=C) = 614</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E(C–C) = 347</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E(C–H) = 413</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E(H–H) = 436 kJ/mol</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etende 1 C=C + 4 C–H, etanda 1 C–C + 6 C–H</a:t>
            </a:r>
            <a:endParaRPr lang="en-US" sz="16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Etene hidrojen katmak</a:t>
            </a:r>
            <a:endParaRPr lang="en-US" sz="1450" dirty="0"/>
          </a:p>
        </p:txBody>
      </p:sp>
      <p:sp>
        <p:nvSpPr>
          <p:cNvPr id="8" name="Shape 6"/>
          <p:cNvSpPr/>
          <p:nvPr/>
        </p:nvSpPr>
        <p:spPr>
          <a:xfrm>
            <a:off x="640080" y="1645920"/>
            <a:ext cx="10911535" cy="2094266"/>
          </a:xfrm>
          <a:prstGeom prst="roundRect">
            <a:avLst>
              <a:gd name="adj" fmla="val 69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482741"/>
            <a:ext cx="420624" cy="420624"/>
          </a:xfrm>
          <a:prstGeom prst="roundRect">
            <a:avLst>
              <a:gd name="adj" fmla="val 26000"/>
            </a:avLst>
          </a:prstGeom>
          <a:solidFill>
            <a:srgbClr val="A56209"/>
          </a:solidFill>
          <a:ln/>
        </p:spPr>
      </p:sp>
      <p:sp>
        <p:nvSpPr>
          <p:cNvPr id="10" name="Text 8"/>
          <p:cNvSpPr txBox="1"/>
          <p:nvPr/>
        </p:nvSpPr>
        <p:spPr>
          <a:xfrm>
            <a:off x="914400" y="2482741"/>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98453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İstersen bütün bağları kır ve yeniden kur (adım 1–3), istersen yalnız değişenleri al (adım 4, çizimdeki renkler); sonuç aynıdır. Kırılan: 1 C=C + 4 C–H + 1 H–H = 614 + 1652 + 436 = 2702 kJ</a:t>
            </a:r>
            <a:endParaRPr lang="en-US" sz="2000" dirty="0"/>
          </a:p>
        </p:txBody>
      </p:sp>
      <p:sp>
        <p:nvSpPr>
          <p:cNvPr id="12" name="Shape 10"/>
          <p:cNvSpPr/>
          <p:nvPr/>
        </p:nvSpPr>
        <p:spPr>
          <a:xfrm>
            <a:off x="640080" y="3904778"/>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213315"/>
            <a:ext cx="420624" cy="420624"/>
          </a:xfrm>
          <a:prstGeom prst="roundRect">
            <a:avLst>
              <a:gd name="adj" fmla="val 26000"/>
            </a:avLst>
          </a:prstGeom>
          <a:solidFill>
            <a:srgbClr val="A56209"/>
          </a:solidFill>
          <a:ln/>
        </p:spPr>
      </p:sp>
      <p:sp>
        <p:nvSpPr>
          <p:cNvPr id="14" name="Text 12"/>
          <p:cNvSpPr txBox="1"/>
          <p:nvPr/>
        </p:nvSpPr>
        <p:spPr>
          <a:xfrm>
            <a:off x="914400" y="421331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959642"/>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Oluşan: 1 C–C + 6 C–H = 347 + 2478 = 2825 kJ</a:t>
            </a:r>
            <a:endParaRPr lang="en-US" sz="2000" dirty="0"/>
          </a:p>
        </p:txBody>
      </p:sp>
      <p:sp>
        <p:nvSpPr>
          <p:cNvPr id="16" name="Shape 14"/>
          <p:cNvSpPr/>
          <p:nvPr/>
        </p:nvSpPr>
        <p:spPr>
          <a:xfrm>
            <a:off x="640080" y="5107069"/>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415606"/>
            <a:ext cx="420624" cy="420624"/>
          </a:xfrm>
          <a:prstGeom prst="roundRect">
            <a:avLst>
              <a:gd name="adj" fmla="val 26000"/>
            </a:avLst>
          </a:prstGeom>
          <a:solidFill>
            <a:srgbClr val="A56209"/>
          </a:solidFill>
          <a:ln/>
        </p:spPr>
      </p:sp>
      <p:sp>
        <p:nvSpPr>
          <p:cNvPr id="18" name="Text 16"/>
          <p:cNvSpPr txBox="1"/>
          <p:nvPr/>
        </p:nvSpPr>
        <p:spPr>
          <a:xfrm>
            <a:off x="914400" y="541560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5161933"/>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2702 − 2825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−123 kJ</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Etene hidrojen katmak</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Kısa yol: etendeki 4 C–H bağı üründe de var ve sadeleşir. Yalnızca değişenler: (614 + 436) − (347 + 2 × 413) = 1050 − 1173 = −123 kJ ✓</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Ölçülen değer −137 kJ'dir; fark, ortalama bağ enerjisi kullanmaktan gelir.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okumak: hidrojen bromür</a:t>
            </a:r>
            <a:endParaRPr lang="en-US" sz="1450" dirty="0"/>
          </a:p>
        </p:txBody>
      </p:sp>
      <p:sp>
        <p:nvSpPr>
          <p:cNvPr id="8" name="Shape 6"/>
          <p:cNvSpPr/>
          <p:nvPr/>
        </p:nvSpPr>
        <p:spPr>
          <a:xfrm>
            <a:off x="640080" y="1645920"/>
            <a:ext cx="10911535" cy="1574597"/>
          </a:xfrm>
          <a:prstGeom prst="roundRect">
            <a:avLst>
              <a:gd name="adj" fmla="val 929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17397"/>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Şekildeki potansiyel enerji grafiği H₂(g) + Br₂(g) → 2HBr(g) tepkimesine aittir. Grafiğe göre (a) kırılan bağların toplam enerjisini, (b) oluşan bağların toplam enerjisini, (c) ΔH'yi ve tepkimenin türünü, (d) H–Br bağının enerjisini bulunuz.</a:t>
            </a:r>
            <a:endParaRPr lang="en-US" sz="1900" dirty="0"/>
          </a:p>
        </p:txBody>
      </p:sp>
      <p:sp>
        <p:nvSpPr>
          <p:cNvPr id="11" name="Shape 9"/>
          <p:cNvSpPr/>
          <p:nvPr/>
        </p:nvSpPr>
        <p:spPr>
          <a:xfrm>
            <a:off x="3643116" y="3421685"/>
            <a:ext cx="4905464" cy="2832811"/>
          </a:xfrm>
          <a:prstGeom prst="roundRect">
            <a:avLst>
              <a:gd name="adj" fmla="val 516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bag-enerjisi-18.png">    </p:cNvPr>
          <p:cNvPicPr>
            <a:picLocks noChangeAspect="1"/>
          </p:cNvPicPr>
          <p:nvPr/>
        </p:nvPicPr>
        <p:blipFill>
          <a:blip r:embed="rId1"/>
          <a:stretch>
            <a:fillRect/>
          </a:stretch>
        </p:blipFill>
        <p:spPr>
          <a:xfrm>
            <a:off x="3871716" y="3531413"/>
            <a:ext cx="4448264" cy="2613355"/>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okumak: hidrojen bromür</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Şekildeki potansiyel enerji grafiği H₂(g) + Br₂(g) → 2HBr(g) tepkimesine aittir. Grafiğe göre (a) kırılan bağların toplam enerjisini, (b) oluşan bağların toplam enerjisini, (c) ΔH'yi ve tepkimenin türünü, (d) H–Br bağının enerjisini bulunuz.</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girenler 0 kJ</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atomlar düzeyi 629 kJ</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ürünler −103 kJ (grafikten)</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kırılan: 1 H–H + 1 Br–Br</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oluşan: 2 H–Br</a:t>
            </a:r>
            <a:endParaRPr lang="en-US" sz="14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Σkırılan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Σoluşan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ΔH ve tür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 E(H–Br)</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okumak: hidrojen bromür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Girenlerden atomlara çıkış: 629 − 0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629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(436 + 193 ✓).</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Atomlardan ürünlere iniş: 629 − (−103)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732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okumak: hidrojen bromür</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ΔH = −103 − 0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−103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ürünler girenlerden aşağıda: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ekzotermiktir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Bağıntıyla da 629 − 732 = −103 kJ ✓</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 732 kJ iki H–Br bağından geliyor: 732 ÷ 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366 kJ/mol</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tablodaki değerle aynı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Karbon monoksitteki üçlü bağ</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Şofben ve sobalarda eksik yanmayla oluşan zehirli karbon monoksit, yeterli oksijenle yanınca CO₂'ye dönüşür: 2CO(g) + O₂(g) → 2CO₂(g), ΔH = −566 kJ. Buna göre C≡O bağının enerjisi kaç kJ/mol'dür?</a:t>
            </a:r>
            <a:endParaRPr lang="en-US" sz="2000" dirty="0"/>
          </a:p>
        </p:txBody>
      </p:sp>
      <p:sp>
        <p:nvSpPr>
          <p:cNvPr id="11" name="Shape 9"/>
          <p:cNvSpPr/>
          <p:nvPr/>
        </p:nvSpPr>
        <p:spPr>
          <a:xfrm>
            <a:off x="2855106" y="3474720"/>
            <a:ext cx="6481482"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bag-enerjisi-19.png">    </p:cNvPr>
          <p:cNvPicPr>
            <a:picLocks noChangeAspect="1"/>
          </p:cNvPicPr>
          <p:nvPr/>
        </p:nvPicPr>
        <p:blipFill>
          <a:blip r:embed="rId1"/>
          <a:stretch>
            <a:fillRect/>
          </a:stretch>
        </p:blipFill>
        <p:spPr>
          <a:xfrm>
            <a:off x="3083706" y="3584448"/>
            <a:ext cx="6024282"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Karbon monoksitteki üçlü bağ</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Şofben ve sobalarda eksik yanmayla oluşan zehirli karbon monoksit, yeterli oksijenle yanınca CO₂'ye dönüşür: 2CO(g) + O₂(g) → 2CO₂(g), ΔH = −566 kJ. Buna göre C≡O bağının enerjisi kaç kJ/mol'dür?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 = −566 kJ</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E(O=O) = 498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CO₂'deki E(C=O) = 799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kırılan: 2 C≡O + 1 O=O</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oluşan: 4 C=O</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E(C≡O) = x</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Karbon monoksitteki üçlü bağ</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ΣE(kırılan) − ΣE(oluşan) → −566 = (2x + 498) − 4 × 799</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−566 = 2x + 498 − 3196 = 2x − 2698</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2x = 2698 − 566 = 2132</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Karbon monoksitteki üçlü bağ</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x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1066 kJ/mol</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Tablodaki 1072 kJ/mol'e çok yakın ✓. C≡O, tablodaki en sağlam bağdır.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Metanol buharı yanınca</a:t>
            </a:r>
            <a:endParaRPr lang="en-US" sz="1450" dirty="0"/>
          </a:p>
        </p:txBody>
      </p:sp>
      <p:sp>
        <p:nvSpPr>
          <p:cNvPr id="8" name="Shape 6"/>
          <p:cNvSpPr/>
          <p:nvPr/>
        </p:nvSpPr>
        <p:spPr>
          <a:xfrm>
            <a:off x="640080" y="1645920"/>
            <a:ext cx="10911535" cy="1601114"/>
          </a:xfrm>
          <a:prstGeom prst="roundRect">
            <a:avLst>
              <a:gd name="adj" fmla="val 913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43914"/>
          </a:xfrm>
          <a:prstGeom prst="rect">
            <a:avLst/>
          </a:prstGeom>
          <a:noFill/>
          <a:ln/>
        </p:spPr>
        <p:txBody>
          <a:bodyPr wrap="square" lIns="0" tIns="0" rIns="0" bIns="0" rtlCol="0" anchor="t"/>
          <a:lstStyle/>
          <a:p>
            <a:pPr indent="0" marL="0">
              <a:lnSpc>
                <a:spcPct val="116000"/>
              </a:lnSpc>
              <a:buNone/>
            </a:pPr>
            <a:r>
              <a:rPr lang="en-US" sz="1950" dirty="0">
                <a:solidFill>
                  <a:srgbClr val="0E1426"/>
                </a:solidFill>
                <a:latin typeface="Calibri" pitchFamily="34" charset="0"/>
                <a:ea typeface="Calibri" pitchFamily="34" charset="-122"/>
                <a:cs typeface="Calibri" pitchFamily="34" charset="-120"/>
              </a:rPr>
              <a:t>Metanol (CH₃OH) bazı yarış arabalarında yakıt olarak kullanılır. 2CH₃OH(g) + 3O₂(g) → 2CO₂(g) + 4H₂O(g) tepkimesinin ΔH değerini bağ enerjileriyle hesaplayınız. 16 g metanol buharı yandığında kaç kJ ısı açığa çıkar? (CH₃OH: 32 g/mol)</a:t>
            </a:r>
            <a:endParaRPr lang="en-US" sz="1950" dirty="0"/>
          </a:p>
        </p:txBody>
      </p:sp>
      <p:sp>
        <p:nvSpPr>
          <p:cNvPr id="11" name="Shape 9"/>
          <p:cNvSpPr/>
          <p:nvPr/>
        </p:nvSpPr>
        <p:spPr>
          <a:xfrm>
            <a:off x="2966056" y="3448202"/>
            <a:ext cx="6259583" cy="2806294"/>
          </a:xfrm>
          <a:prstGeom prst="roundRect">
            <a:avLst>
              <a:gd name="adj" fmla="val 521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bag-enerjisi-20.png">    </p:cNvPr>
          <p:cNvPicPr>
            <a:picLocks noChangeAspect="1"/>
          </p:cNvPicPr>
          <p:nvPr/>
        </p:nvPicPr>
        <p:blipFill>
          <a:blip r:embed="rId1"/>
          <a:stretch>
            <a:fillRect/>
          </a:stretch>
        </p:blipFill>
        <p:spPr>
          <a:xfrm>
            <a:off x="3194656" y="3557930"/>
            <a:ext cx="5802383" cy="258683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Metanol buharı yanınca</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Metanol (CH₃OH) bazı yarış arabalarında yakıt olarak kullanılır. 2CH₃OH(g) + 3O₂(g) → 2CO₂(g) + 4H₂O(g) tepkimesinin ΔH değerini bağ enerjileriyle hesaplayınız. 16 g metanol buharı yandığında kaç kJ ısı açığa çıkar? (CH₃OH: 32 g/mol)</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E(C–H) = 413</a:t>
            </a:r>
            <a:endParaRPr lang="en-US" sz="1300" dirty="0"/>
          </a:p>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E(C–O) = 358</a:t>
            </a:r>
            <a:endParaRPr lang="en-US" sz="1300" dirty="0"/>
          </a:p>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E(O–H) = 463</a:t>
            </a:r>
            <a:endParaRPr lang="en-US" sz="1300" dirty="0"/>
          </a:p>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E(O=O) = 498</a:t>
            </a:r>
            <a:endParaRPr lang="en-US" sz="1300" dirty="0"/>
          </a:p>
        </p:txBody>
      </p:sp>
      <p:sp>
        <p:nvSpPr>
          <p:cNvPr id="15" name="Text 13"/>
          <p:cNvSpPr txBox="1"/>
          <p:nvPr/>
        </p:nvSpPr>
        <p:spPr>
          <a:xfrm>
            <a:off x="3381680"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CO₂'deki E(C=O) = 799 kJ/mol</a:t>
            </a:r>
            <a:endParaRPr lang="en-US" sz="1300" dirty="0"/>
          </a:p>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bir CH₃OH'de 3 C–H, 1 C–O, 1 O–H</a:t>
            </a:r>
            <a:endParaRPr lang="en-US" sz="1300" dirty="0"/>
          </a:p>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m = 16 g</a:t>
            </a:r>
            <a:endParaRPr lang="en-US" sz="1300" dirty="0"/>
          </a:p>
          <a:p>
            <a:pPr marL="203200" indent="-203200">
              <a:lnSpc>
                <a:spcPct val="110000"/>
              </a:lnSpc>
              <a:spcAft>
                <a:spcPts val="500"/>
              </a:spcAft>
              <a:buSzPct val="100000"/>
              <a:buChar char="▪"/>
            </a:pPr>
            <a:r>
              <a:rPr lang="en-US" sz="1300" dirty="0">
                <a:solidFill>
                  <a:srgbClr val="0E1426"/>
                </a:solidFill>
                <a:latin typeface="Calibri" pitchFamily="34" charset="0"/>
                <a:ea typeface="Calibri" pitchFamily="34" charset="-122"/>
                <a:cs typeface="Calibri" pitchFamily="34" charset="-120"/>
              </a:rPr>
              <a:t>M = 32 g/mol</a:t>
            </a:r>
            <a:endParaRPr lang="en-US" sz="1300" dirty="0"/>
          </a:p>
        </p:txBody>
      </p:sp>
      <p:sp>
        <p:nvSpPr>
          <p:cNvPr id="16" name="Shape 14"/>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251296" y="4136136"/>
            <a:ext cx="54864" cy="1844040"/>
          </a:xfrm>
          <a:prstGeom prst="rect">
            <a:avLst/>
          </a:prstGeom>
          <a:solidFill>
            <a:srgbClr val="5F4BD8"/>
          </a:solidFill>
          <a:ln/>
        </p:spPr>
      </p:sp>
      <p:sp>
        <p:nvSpPr>
          <p:cNvPr id="18" name="Text 16"/>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9" name="Text 17"/>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denklem için ΔH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16 g için açığa çıkan ısı Q</a:t>
            </a:r>
            <a:endParaRPr lang="en-US" sz="18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Metanol buharı yanınca</a:t>
            </a:r>
            <a:endParaRPr lang="en-US" sz="1450" dirty="0"/>
          </a:p>
        </p:txBody>
      </p:sp>
      <p:sp>
        <p:nvSpPr>
          <p:cNvPr id="8" name="Shape 6"/>
          <p:cNvSpPr/>
          <p:nvPr/>
        </p:nvSpPr>
        <p:spPr>
          <a:xfrm>
            <a:off x="640080" y="1645920"/>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54458"/>
            <a:ext cx="420624" cy="420624"/>
          </a:xfrm>
          <a:prstGeom prst="roundRect">
            <a:avLst>
              <a:gd name="adj" fmla="val 26000"/>
            </a:avLst>
          </a:prstGeom>
          <a:solidFill>
            <a:srgbClr val="A56209"/>
          </a:solidFill>
          <a:ln/>
        </p:spPr>
      </p:sp>
      <p:sp>
        <p:nvSpPr>
          <p:cNvPr id="10" name="Text 8"/>
          <p:cNvSpPr txBox="1"/>
          <p:nvPr/>
        </p:nvSpPr>
        <p:spPr>
          <a:xfrm>
            <a:off x="914400" y="195445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Kırılan: 2 × (3 × 413 + 358 + 463) + 3 × 498 = 2 × 2060 + 1494 = 5614 kJ</a:t>
            </a:r>
            <a:endParaRPr lang="en-US" sz="2000" dirty="0"/>
          </a:p>
        </p:txBody>
      </p:sp>
      <p:sp>
        <p:nvSpPr>
          <p:cNvPr id="12" name="Shape 10"/>
          <p:cNvSpPr/>
          <p:nvPr/>
        </p:nvSpPr>
        <p:spPr>
          <a:xfrm>
            <a:off x="640080" y="2848211"/>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20890"/>
            <a:ext cx="420624" cy="420624"/>
          </a:xfrm>
          <a:prstGeom prst="roundRect">
            <a:avLst>
              <a:gd name="adj" fmla="val 26000"/>
            </a:avLst>
          </a:prstGeom>
          <a:solidFill>
            <a:srgbClr val="A56209"/>
          </a:solidFill>
          <a:ln/>
        </p:spPr>
      </p:sp>
      <p:sp>
        <p:nvSpPr>
          <p:cNvPr id="14" name="Text 12"/>
          <p:cNvSpPr txBox="1"/>
          <p:nvPr/>
        </p:nvSpPr>
        <p:spPr>
          <a:xfrm>
            <a:off x="914400" y="342089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03075"/>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Oluşan: 2 CO₂'de 4 C=O ve 4 H₂O'da 8 O–H: 4 × 799 + 8 × 463 = 3196 + 3704 = 6900 kJ</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5614 − 6900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−1286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(2 mol metanol için); 1 mol için 643 kJ ısı çıkar.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Metanol buharı yanınca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m / M = 16 / 32 = 0,5 mol</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Q = 0,5 × 643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321,5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ısı açığa çıkar.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Roket yakıtı hidrazin</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Roket yakıtı olarak kullanılan hidrazinin (N₂H₄, yapısı H₂N–NH₂) oksijenle tepkimesi: N₂H₄(g) + O₂(g) → N₂(g) + 2H₂O(g). Tepkimenin ΔH değerini ve 1 gram hidrazinin verdiği ısıyı hesaplayınız. Bu tepkime, harcanan her mol O₂ başına neden metandan (401 kJ) çok daha fazla ısı verir? (N₂H₄: 32 g/mol)</a:t>
            </a:r>
            <a:endParaRPr lang="en-US" sz="1900" dirty="0"/>
          </a:p>
        </p:txBody>
      </p:sp>
      <p:sp>
        <p:nvSpPr>
          <p:cNvPr id="11" name="Shape 9"/>
          <p:cNvSpPr/>
          <p:nvPr/>
        </p:nvSpPr>
        <p:spPr>
          <a:xfrm>
            <a:off x="3213766" y="3757574"/>
            <a:ext cx="5764164"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bag-enerjisi-21.png">    </p:cNvPr>
          <p:cNvPicPr>
            <a:picLocks noChangeAspect="1"/>
          </p:cNvPicPr>
          <p:nvPr/>
        </p:nvPicPr>
        <p:blipFill>
          <a:blip r:embed="rId1"/>
          <a:stretch>
            <a:fillRect/>
          </a:stretch>
        </p:blipFill>
        <p:spPr>
          <a:xfrm>
            <a:off x="3442366" y="3867302"/>
            <a:ext cx="5306964"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Roket yakıtı hidrazin</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Roket yakıtı olarak kullanılan hidrazinin (N₂H₄, yapısı H₂N–NH₂) oksijenle tepkimesi: N₂H₄(g) + O₂(g) → N₂(g) + 2H₂O(g). Tepkimenin ΔH değerini ve 1 gram hidrazinin verdiği ısıyı hesaplayınız. Bu tepkime, harcanan her mol O₂ başına neden metandan (401 kJ) çok daha fazla ısı verir? (N₂H₄: 32 g/mol)</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E(N–N) = 163</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E(N–H) = 391</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E(O=O) = 498</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E(N≡N) = 945</a:t>
            </a:r>
            <a:endParaRPr lang="en-US" sz="1600" dirty="0"/>
          </a:p>
        </p:txBody>
      </p:sp>
      <p:sp>
        <p:nvSpPr>
          <p:cNvPr id="15" name="Text 13"/>
          <p:cNvSpPr txBox="1"/>
          <p:nvPr/>
        </p:nvSpPr>
        <p:spPr>
          <a:xfrm>
            <a:off x="3381680"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E(O–H) = 463 kJ/mol</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N₂H₄'te 1 N–N + 4 N–H</a:t>
            </a:r>
            <a:endParaRPr lang="en-US" sz="1600" dirty="0"/>
          </a:p>
          <a:p>
            <a:pPr marL="203200" indent="-203200">
              <a:lnSpc>
                <a:spcPct val="110000"/>
              </a:lnSpc>
              <a:spcAft>
                <a:spcPts val="500"/>
              </a:spcAft>
              <a:buSzPct val="100000"/>
              <a:buChar char="▪"/>
            </a:pPr>
            <a:r>
              <a:rPr lang="en-US" sz="1600" dirty="0">
                <a:solidFill>
                  <a:srgbClr val="0E1426"/>
                </a:solidFill>
                <a:latin typeface="Calibri" pitchFamily="34" charset="0"/>
                <a:ea typeface="Calibri" pitchFamily="34" charset="-122"/>
                <a:cs typeface="Calibri" pitchFamily="34" charset="-120"/>
              </a:rPr>
              <a:t>M = 32 g/mol</a:t>
            </a:r>
            <a:endParaRPr lang="en-US" sz="1600" dirty="0"/>
          </a:p>
        </p:txBody>
      </p:sp>
      <p:sp>
        <p:nvSpPr>
          <p:cNvPr id="16" name="Shape 14"/>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251296" y="4136136"/>
            <a:ext cx="54864" cy="1844040"/>
          </a:xfrm>
          <a:prstGeom prst="rect">
            <a:avLst/>
          </a:prstGeom>
          <a:solidFill>
            <a:srgbClr val="5F4BD8"/>
          </a:solidFill>
          <a:ln/>
        </p:spPr>
      </p:sp>
      <p:sp>
        <p:nvSpPr>
          <p:cNvPr id="18" name="Text 16"/>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9" name="Text 17"/>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1 g için açığa çıkan ısı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O₂ başına ısının neden büyük olduğu</a:t>
            </a:r>
            <a:endParaRPr lang="en-US" sz="18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Roket yakıtı hidrazin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Kırılan: 163 + 4 × 391 + 498 = 163 + 1564 + 498 = 2225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Oluşan: 945 + 4 × 463 = 945 + 1852 = 2797 kJ</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2225 − 2797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−572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(1 mol, yani 32 g hidrazin için)</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Roket yakıtı hidrazin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g için: 572 ÷ 32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17,9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ısı açığa çıkar.</a:t>
            </a:r>
            <a:endParaRPr lang="en-US" sz="2000" dirty="0"/>
          </a:p>
        </p:txBody>
      </p:sp>
      <p:sp>
        <p:nvSpPr>
          <p:cNvPr id="12" name="Shape 10"/>
          <p:cNvSpPr/>
          <p:nvPr/>
        </p:nvSpPr>
        <p:spPr>
          <a:xfrm>
            <a:off x="640080" y="2883408"/>
            <a:ext cx="10911535" cy="2165299"/>
          </a:xfrm>
          <a:prstGeom prst="roundRect">
            <a:avLst>
              <a:gd name="adj" fmla="val 675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20555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Burada 1 mol O₂ başına 572 kJ çıkıyor, metanda 401 kJ. Nedeni: zayıf bir N–N bağı (163) kırılıp çok sağlam bir N≡N bağı (945) kuruluyor; hidrojenler de N–H'den daha güçlü O–H bağlarına geçiyor.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 mol klor atomu (Cl) birleşip 1 mol Cl₂ molekülü oluşturuyor. Bu olayda ısı alınır mı, verilir mi? Kaç kJ?</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kırılan ve oluşan bağları ayrı ayrı listele; bağ enerjilerini tablodan al.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 mol klor atomu (Cl) birleşip 1 mol Cl₂ molekülü oluşturuyor. Bu olayda ısı alınır mı, verilir mi? Kaç kJ?</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Bağ kuruluyor, ısı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verilir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2Cl(g) → Cl₂(g) + 243 kJ, yani ΔH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−243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Bağı kırmak için gereken enerji ile kurulurken verilen enerji eşittir.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1 mol metanı (CH₄) karbon ve hidrojen atomlarına ayırmak için kaç kJ enerji gerekir?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kırılan ve oluşan bağları ayrı ayrı listele; bağ enerjilerini tablodan al.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1 mol metanı (CH₄) karbon ve hidrojen atomlarına ayırmak için kaç kJ enerji gerekir?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CH₄'te 4 C–H bağı var: 4 × 413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1652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Yalnızca bağ kırıldığı için olay endotermiktir.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H₂(g) + Cl₂(g) → 2HCl(g) tepkimesinde ΔH = −183 kJ'dir. 0,5 mol HCl oluştuğunda kaç kJ ısı açığa çıkar?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kırılan ve oluşan bağları ayrı ayrı listele; bağ enerjilerini tablodan al.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H₂(g) + Cl₂(g) → 2HCl(g) tepkimesinde ΔH = −183 kJ'dir. 0,5 mol HCl oluştuğunda kaç kJ ısı açığa çıkar?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−183 kJ, 2 mol HCl içindir; 1 mol HCl için 91,5 kJ. 0,5 mol için 0,5 × 91,5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45,75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ısı açığa çıkar.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2HI(g) → H₂(g) + I₂(g) tepkimesinin ΔH değerini bulunuz. Tepkime endotermik midir?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kırılan ve oluşan bağları ayrı ayrı listele; bağ enerjilerini tablodan al.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2HI(g) → H₂(g) + I₂(g) tepkimesinin ΔH değerini bulunuz. Tepkime endotermik midir?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Kırılan: 2 × 299 = 598 kJ. Oluşan: 436 + 151 = 587 kJ. ΔH = 598 − 587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+11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Kırılanlar biraz fazla: tepkime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endotermiktir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ama alınan ısı çok küçüktür.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Hidrojen peroksidin (H–O–O–H) ayrışması 2H₂O₂(g) → 2H₂O(g) + O₂(g) tepkimesinin ΔH değeri kaç kJ'dir?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kırılan ve oluşan bağları ayrı ayrı listele; bağ enerjilerini tablodan al.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Hidrojen peroksidin (H–O–O–H) ayrışması 2H₂O₂(g) → 2H₂O(g) + O₂(g) tepkimesinin ΔH değeri kaç kJ'dir?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Kırılan: 2 × (2 × 463 + 146) = 2 × 1072 = 2144 kJ. Oluşan: 4 × 463 + 498 = 2350 kJ. ΔH = 2144 − 2350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−206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Kısa yol: dört O–H bağı iki yanda da var ve sadeleşir; geriye 2 × 146 − 498 = −206 kJ kalır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88620"/>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“Bağ kırılınca enerji açığa çıkar.”</a:t>
            </a:r>
            <a:endParaRPr lang="en-US" sz="1800" dirty="0"/>
          </a:p>
        </p:txBody>
      </p:sp>
      <p:sp>
        <p:nvSpPr>
          <p:cNvPr id="11" name="Shape 9"/>
          <p:cNvSpPr/>
          <p:nvPr/>
        </p:nvSpPr>
        <p:spPr>
          <a:xfrm>
            <a:off x="841248" y="2253996"/>
            <a:ext cx="310896" cy="310896"/>
          </a:xfrm>
          <a:prstGeom prst="roundRect">
            <a:avLst>
              <a:gd name="adj" fmla="val 26471"/>
            </a:avLst>
          </a:prstGeom>
          <a:solidFill>
            <a:srgbClr val="EAF7DC"/>
          </a:solidFill>
          <a:ln/>
        </p:spPr>
      </p:sp>
      <p:sp>
        <p:nvSpPr>
          <p:cNvPr id="12" name="Text 10"/>
          <p:cNvSpPr txBox="1"/>
          <p:nvPr/>
        </p:nvSpPr>
        <p:spPr>
          <a:xfrm>
            <a:off x="841248" y="225399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35708"/>
            <a:ext cx="4523080" cy="1440180"/>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Tersine: bağ kırmak her zaman enerji ister. Enerji, yeni bağlar kurulurken açığa çıkar.</a:t>
            </a:r>
            <a:endParaRPr lang="en-US" sz="16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388620"/>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Çıkarmayı ters yapmak.</a:t>
            </a:r>
            <a:endParaRPr lang="en-US" sz="1800" dirty="0"/>
          </a:p>
        </p:txBody>
      </p:sp>
      <p:sp>
        <p:nvSpPr>
          <p:cNvPr id="18" name="Shape 16"/>
          <p:cNvSpPr/>
          <p:nvPr/>
        </p:nvSpPr>
        <p:spPr>
          <a:xfrm>
            <a:off x="6406744" y="2253996"/>
            <a:ext cx="310896" cy="310896"/>
          </a:xfrm>
          <a:prstGeom prst="roundRect">
            <a:avLst>
              <a:gd name="adj" fmla="val 26471"/>
            </a:avLst>
          </a:prstGeom>
          <a:solidFill>
            <a:srgbClr val="EAF7DC"/>
          </a:solidFill>
          <a:ln/>
        </p:spPr>
      </p:sp>
      <p:sp>
        <p:nvSpPr>
          <p:cNvPr id="19" name="Text 17"/>
          <p:cNvSpPr txBox="1"/>
          <p:nvPr/>
        </p:nvSpPr>
        <p:spPr>
          <a:xfrm>
            <a:off x="6406744" y="225399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35708"/>
            <a:ext cx="4523080" cy="1440180"/>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Bağ enerjileriyle ΔH = ΣE(kırılan) − ΣE(oluşan), yani girenler eksi ürünlerdir. Oluşum entalpileriyle (bir sonraki konu) ise ürünler eksi girenler yazılır; ikisini karıştırma.</a:t>
            </a:r>
            <a:endParaRPr lang="en-US" sz="16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Bağ sayısını molekül sayısıyla karıştırmak.</a:t>
            </a:r>
            <a:endParaRPr lang="en-US" sz="1800" dirty="0"/>
          </a:p>
        </p:txBody>
      </p:sp>
      <p:sp>
        <p:nvSpPr>
          <p:cNvPr id="25" name="Shape 23"/>
          <p:cNvSpPr/>
          <p:nvPr/>
        </p:nvSpPr>
        <p:spPr>
          <a:xfrm>
            <a:off x="841248" y="4910328"/>
            <a:ext cx="310896" cy="310896"/>
          </a:xfrm>
          <a:prstGeom prst="roundRect">
            <a:avLst>
              <a:gd name="adj" fmla="val 26471"/>
            </a:avLst>
          </a:prstGeom>
          <a:solidFill>
            <a:srgbClr val="EAF7DC"/>
          </a:solidFill>
          <a:ln/>
        </p:spPr>
      </p:sp>
      <p:sp>
        <p:nvSpPr>
          <p:cNvPr id="26" name="Text 24"/>
          <p:cNvSpPr txBox="1"/>
          <p:nvPr/>
        </p:nvSpPr>
        <p:spPr>
          <a:xfrm>
            <a:off x="841248" y="491032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92040"/>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2H₂O'da 2 değil 4 O–H bağı vardır: katsayıyı moleküldeki bağ sayısıyla çarp.</a:t>
            </a:r>
            <a:endParaRPr lang="en-US" sz="16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“İkili bağ, tekli bağın iki katı enerjilidir.”</a:t>
            </a:r>
            <a:endParaRPr lang="en-US" sz="1800" dirty="0"/>
          </a:p>
        </p:txBody>
      </p:sp>
      <p:sp>
        <p:nvSpPr>
          <p:cNvPr id="32" name="Shape 30"/>
          <p:cNvSpPr/>
          <p:nvPr/>
        </p:nvSpPr>
        <p:spPr>
          <a:xfrm>
            <a:off x="6406744" y="4910328"/>
            <a:ext cx="310896" cy="310896"/>
          </a:xfrm>
          <a:prstGeom prst="roundRect">
            <a:avLst>
              <a:gd name="adj" fmla="val 26471"/>
            </a:avLst>
          </a:prstGeom>
          <a:solidFill>
            <a:srgbClr val="EAF7DC"/>
          </a:solidFill>
          <a:ln/>
        </p:spPr>
      </p:sp>
      <p:sp>
        <p:nvSpPr>
          <p:cNvPr id="33" name="Text 31"/>
          <p:cNvSpPr txBox="1"/>
          <p:nvPr/>
        </p:nvSpPr>
        <p:spPr>
          <a:xfrm>
            <a:off x="6406744" y="491032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92040"/>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Değildir: C=C 614 kJ/mol'dür, 2 × C–C ise 694 kJ/mol ederdi.</a:t>
            </a:r>
            <a:endParaRPr lang="en-US" sz="16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“Uzun bağ daha sağlamdır.”</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Benzer bağlarda kısa bağ daha sağlamdır: H–F (92 pm) 567, H–I (161 pm) 299 kJ/mol.</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Sıvı ya da katı maddelerle doğrudan hesap yapmak.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Bağ enerjileri gaz hâli içindir; su sıvı oluşuyorsa hâl değişiminin ısısı ayrıca hesaba katılmalıdır.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Bağ enerjisini eksi işaretli yazmak.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Bağ enerjisi her zaman pozitif bir sayıdır; ΔH'nin işaretini kırılan ile oluşan arasındaki çıkarma verir.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Bulunan ΔH'yi kesin sanmak.</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Ortalama bağ enerjileriyle bulunan ΔH bir tahmindir; ölçülen değerden birkaç yüzde, bazen daha çok sapabilir.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dersler.perinet.org/bag-enerjisi.html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Bağ kırmak </a:t>
            </a:r>
            <a:pPr indent="0" marL="0">
              <a:buNone/>
            </a:pPr>
            <a:r>
              <a:rPr lang="en-US" sz="1500" b="1" dirty="0">
                <a:solidFill>
                  <a:srgbClr val="FFFFFF"/>
                </a:solidFill>
                <a:latin typeface="Calibri" pitchFamily="34" charset="0"/>
                <a:ea typeface="Calibri" pitchFamily="34" charset="-122"/>
                <a:cs typeface="Calibri" pitchFamily="34" charset="-120"/>
              </a:rPr>
              <a:t>enerji alır</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Bağ kurmak </a:t>
            </a:r>
            <a:pPr indent="0" marL="0">
              <a:buNone/>
            </a:pPr>
            <a:r>
              <a:rPr lang="en-US" sz="1500" b="1" dirty="0">
                <a:solidFill>
                  <a:srgbClr val="FFFFFF"/>
                </a:solidFill>
                <a:latin typeface="Calibri" pitchFamily="34" charset="0"/>
                <a:ea typeface="Calibri" pitchFamily="34" charset="-122"/>
                <a:cs typeface="Calibri" pitchFamily="34" charset="-120"/>
              </a:rPr>
              <a:t>enerji verir</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Üçlü &gt; ikili &gt; tekli </a:t>
            </a:r>
            <a:pPr indent="0" marL="0">
              <a:buNone/>
            </a:pPr>
            <a:r>
              <a:rPr lang="en-US" sz="1500" b="1" dirty="0">
                <a:solidFill>
                  <a:srgbClr val="FFFFFF"/>
                </a:solidFill>
                <a:latin typeface="Calibri" pitchFamily="34" charset="0"/>
                <a:ea typeface="Calibri" pitchFamily="34" charset="-122"/>
                <a:cs typeface="Calibri" pitchFamily="34" charset="-120"/>
              </a:rPr>
              <a:t>bağ</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Benzer bağlarda kısa bağ </a:t>
            </a:r>
            <a:pPr indent="0" marL="0">
              <a:buNone/>
            </a:pPr>
            <a:r>
              <a:rPr lang="en-US" sz="1500" b="1" dirty="0">
                <a:solidFill>
                  <a:srgbClr val="FFFFFF"/>
                </a:solidFill>
                <a:latin typeface="Calibri" pitchFamily="34" charset="0"/>
                <a:ea typeface="Calibri" pitchFamily="34" charset="-122"/>
                <a:cs typeface="Calibri" pitchFamily="34" charset="-120"/>
              </a:rPr>
              <a:t>daha sağlam</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 = ΣE(kırılan) − ΣE(oluşan)</a:t>
            </a:r>
            <a:endParaRPr lang="en-US" sz="1350" dirty="0"/>
          </a:p>
        </p:txBody>
      </p:sp>
      <p:sp>
        <p:nvSpPr>
          <p:cNvPr id="16" name="Text 14"/>
          <p:cNvSpPr txBox="1"/>
          <p:nvPr/>
        </p:nvSpPr>
        <p:spPr>
          <a:xfrm>
            <a:off x="9631375" y="239572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bağ enerjileriyle tepkime entalpisi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58775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H₂(g) + 436 kJ → 2H(g)</a:t>
            </a:r>
            <a:endParaRPr lang="en-US" sz="1350" dirty="0"/>
          </a:p>
        </p:txBody>
      </p:sp>
      <p:sp>
        <p:nvSpPr>
          <p:cNvPr id="19" name="Text 17"/>
          <p:cNvSpPr txBox="1"/>
          <p:nvPr/>
        </p:nvSpPr>
        <p:spPr>
          <a:xfrm>
            <a:off x="9308592" y="3218688"/>
            <a:ext cx="206014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H–H bağ enerjisi</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79806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E(C≡C) &gt; E(C=C) &gt; E(C–C)</a:t>
            </a:r>
            <a:endParaRPr lang="en-US" sz="1350" dirty="0"/>
          </a:p>
        </p:txBody>
      </p:sp>
      <p:sp>
        <p:nvSpPr>
          <p:cNvPr id="22" name="Text 20"/>
          <p:cNvSpPr txBox="1"/>
          <p:nvPr/>
        </p:nvSpPr>
        <p:spPr>
          <a:xfrm>
            <a:off x="9518904" y="4041648"/>
            <a:ext cx="184983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bağ derecesi</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 &lt; 0 ⇔ Σoluşan &gt; Σkırılan</a:t>
            </a:r>
            <a:endParaRPr lang="en-US" sz="1350" dirty="0"/>
          </a:p>
        </p:txBody>
      </p:sp>
      <p:sp>
        <p:nvSpPr>
          <p:cNvPr id="25" name="Text 23"/>
          <p:cNvSpPr txBox="1"/>
          <p:nvPr/>
        </p:nvSpPr>
        <p:spPr>
          <a:xfrm>
            <a:off x="9631375" y="486460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ekzotermik</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dersler.perinet.org/bag-enerjisi.html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03 · Standart oluşum ve tepkime entalpisi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138</Slides>
  <Notes>138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138</vt:i4>
      </vt:variant>
    </vt:vector>
  </HeadingPairs>
  <TitlesOfParts>
    <vt:vector size="1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Bağ enerjileri ve tepkime entalpisi — Dersler</dc:title>
  <dc:subject>Kimya · Kimyasal Tepkimelerde Enerji</dc:subject>
  <dc:creator>Dersler</dc:creator>
  <cp:lastModifiedBy>Dersler</cp:lastModifiedBy>
  <cp:revision>1</cp:revision>
  <dcterms:created xsi:type="dcterms:W3CDTF">2026-10-02T16:20:06Z</dcterms:created>
  <dcterms:modified xsi:type="dcterms:W3CDTF">2026-10-02T16:20:06Z</dcterms:modified>
</cp:coreProperties>
</file>