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Aynı büyüteç bir uğur böceğini dev gibi gösterir, güneşe tutulunca bir kâğıdı tutuşturabilir. Tek bir cam parçası bunu nasıl yapıyor? Gözünün içindeki mercek de bu satırı okuyabilmen için şekil değiştiriyor. Telefonunun kamerası, gözlüğün, mikroskop ve teleskop — hepsi aynı iki bağıntıyla çalışır. Mercek aslında arka arkaya dizilmiş sonsuz sayıda küçük prizmadan başka bir şey değildir: her biri ışığı biraz büker, hepsi birlikte ışığı tek bir noktada toplar. Optik ünitesinin bu son konusu kırılmayı, prizmaları ve aynaları tek bir alette buluşturuyor. Önce mercekleri gözleyip ışınlarla görüntü çizeceğiz, sonra mercek denklemini, diyoptriyi ve gözü sayılarla inceleyeceğiz, ardından iki mercekli aletlere ve modelin sınırlarına geçeceğiz. En sonda kolaydan zora sıralanmış örneklerle hepsini birlikte kullanacağız.
Kapak görseli: Büyütecin içinde başka bir dünya. Merceğin çerçevesine bak: içeriden görülen yaprak damarları, hemen dışarıda kalan damarlardan belirgin biçimde iridir; uğur böceği de aynı biçimde büyütülmüş görünür. Bu fark bir sanal, düz ve büyütülmüş görüntünün işidir: yaprak ve böcek merceğin odak uzaklığından daha yakında olduğu için mercek onları olduğundan büyük gösterir. Aynı merceğin güneş ışığını bir noktada toplayabilmesini de bu anlatımda aynı kurala bağlayacağız.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Aynı büyüteç bir uğur böceğini dev gibi gösterir, güneşe tutulunca bir kâğıdı tutuşturabilir. Tek bir cam parçası bunu nasıl yapıyor? Gözünün içindeki mercek de bu satırı okuyabilmen için şekil değiştiriyor. Telefonunun kamerası, gözlüğün, mikroskop ve teleskop — hepsi aynı iki bağıntıyla çalışır. Mercek aslında arka arkaya dizilmiş sonsuz sayıda küçük prizmadan başka bir şey değildir: her biri ışığı biraz büker, hepsi birlikte ışığı tek bir noktada toplar. Optik ünitesinin bu son konusu kırılmayı, prizmaları ve aynaları tek bir alette buluşturuyor. Önce mercekleri gözleyip ışınlarla görüntü çizeceğiz, sonra mercek denklemini, diyoptriyi ve gözü sayılarla inceleyeceğiz, ardından iki mercekli aletlere ve modelin sınırlarına geçeceğiz.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merceğin ışığı nasıl büktüğünü gör, üç ışınla görüntüyü çiz ve cismin yeri değişince neyin değiştiğini fark et.
   01 Önce gözlemle: bir büyüteç ne yapar?
   02 Mercek nedir, hangi türleri vardır?
   03 Asal ışınlar: üç kuralla görüntü çizmek
   04 Cismi yaklaştır: ince kenarlı mercekte beş durum
2. Orta — Bağıntılar: görüntünün yerini ve boyunu mercek denklemiyle hesapla, gücü diyoptriyle ölç ve gözün kusurlarını sayılarla düzelt.
   05 Mercek denklemi: görüntüyü hesapla bul
   06 Sayılarla hisset: cisim yaklaşınca görüntü nereye kaçar?
   07 Mercek gücü: diyoptri
   08 Göz: odağını kendisi ayarlayan mercek
3. İleri — Derinleşme: perdede iki net konum, art arda iki mercek, ortamın ve rengin etkisi, en sonda da optik ünitesinin gerçek dünyadaki kapanışı.
   09 Perdeye net görüntü: neden iki konum var?
   10 Art arda iki mercek: mikroskop ve teleskop
   11 Modelin sınırları: ortam, renk ve kalınlık
   12 Mercekler gerçek dünyada
4. Pekiştir — Kolaydan zora çözümlü örnekler ve sınavda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merceğin ışığı nasıl büktüğünü gör, üç ışınla görüntüyü çiz ve cismin yeri değişince neyin değiştiğini fark et.
01 Önce gözlemle: bir büyüteç ne yapar?
02 Mercek nedir, hangi türleri vardır?
03 Asal ışınlar: üç kuralla görüntü çizmek
04 Cismi yaklaştır: ince kenarlı mercekte beş durum
Görsel: Gözlük de bir mercektir. Kâğıda bu kadar yakın duran bir gözlük camı arkasındaki çizimleri pek değiştirmez; gözlüğü kâğıttan yavaşça kaldırdıkça çizimler camın içinde büyür ya da küçülür. Yazıyı ya da çizimi büyüten bir gözlük camı ortası kalın bir camdır ve ışığı toplar; küçülten bir cam ise ortası incedir ve ışığı dağıtır. Hangisinin hangi göze yardım ettiğini ikinci basamakta hesaplayacağız.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bir büyüteç ne yapar?
Kısaca: Aynı mercek cismin uzaklığına göre büyük ve düz ya da küçük ve ters görüntü verir. Ortası kalın mercekler ışığı bir noktada toplar, ortası ince mercekler dağıtır.
Bir büyüteci gazete yazısının hemen üstünde tut ve yavaşça yukarı kaldır. Harfler önce büyür, sonra birden bulanıklaşır. Şimdi kolunu uzatıp aynı büyüteçle karşıdaki pencereye bak: pencere bu kez küçük ve baş aşağı görünür. Aynı cam, yalnızca uzaklık değişti diye hem büyütüyor hem küçültüyor, hem düz hem ters gösteriyor.
Güneşli bir günde büyüteci bir kâğıdın üzerinde tutarsan ışık parlak bir beneğe toplanır; doğru yükseklikte benek en küçük hâlini alır ve kâğıt ısınıp kararmaya başlar. Güneş ışığı merceğin öbür tarafında belirli bir noktada toplanmıştır; o noktanın mercekten uzaklığı bu büyütecin kimliğidir. Gözlük camları da birer mercektir.
Görsel: Gözlük de bir mercektir. Kâğıda bu kadar yakın duran bir gözlük camı arkasındaki çizimleri pek değiştirmez; gözlüğü kâğıttan yavaşça kaldırdıkça çizimler camın içinde büyür ya da küçülür. Yazıyı ya da çizimi büyüten bir gözlük camı ortası kalın bir camdır ve ışığı toplar; küçülten bir cam ise ortası incedir ve ışığı dağıtır. Hangisinin hangi göze yardım ettiğini ikinci basamakta hesaplayacağız.
Hangi mercek olursa olsun, dikkatle bakınca aynı üç şey gözlenir:
• Işık bükülür: mercekten geçen ışık doğrultusunu değiştirir; bu, ünitenin kırılma konusundan tanıdığın kırılmadır.
• Bazı mercekler toplar, bazıları dağıtır: ortası kalın cam ışığı bir noktada toplar, ortası ince cam dağıtır.
• Görüntü uzaklığa bağlıdır: aynı mercek cisim yakınken büyük ve düz, uzaktayken küçük ve ters bir görüntü verir.
Düşün: Bir gözlük camının ortası kalın mı ince mi, camı ölçmeden nasıl anlarsın?
Cevap: Camı bir yazının birkaç santimetre üstünde tutup yazıya bak. Yazı büyüyorsa cam ortası kalın, ışığı toplayan bir mercektir; küçülüyorsa ortası ince, ışığı dağıtan bir mercektir.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Bir gözlük camının ortası kalın mı ince mi, camı ölçmeden nasıl anlarsın?
Sınıfa sorun, birkaç tahmin alın; sonra cevap slaytına geçin.
Cevap: Camı bir yazının birkaç santimetre üstünde tutup yazıya bak. Yazı büyüyorsa cam ortası kalın, ışığı toplayan bir mercektir; küçülüyorsa ortası ince, ışığı dağıtan bir mercektir.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Camı bir yazının birkaç santimetre üstünde tutup yazıya bak. Yazı büyüyorsa cam ortası kalın, ışığı toplayan bir mercektir; küçülüyorsa ortası ince, ışığı dağıtan bir mercektir.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Mercek nedir, hangi türleri vardır?
Kısaca: Mercek, ışığı kırarak toplayan ya da dağıtan saydam bir cisimdir ve küçük prizmalar dizisi gibi davranır. İnce kenarlı mercek ışığı odakta toplar (f &gt; 0), kalın kenarlı mercek dağıtır (f &lt; 0).
Mercek, en az bir yüzeyi küresel olan saydam cisimdir; ışığı kırarak toplar ya da dağıtır. Nasıl yaptığını ünitenin bir önceki konusu açıklar: havadaki bir cam prizma ışığı her zaman kalın tabanına doğru büker. Bir merceği ince dilimlere ayırdığını düşün; her dilim küçük bir prizmadır. Eksenden uzaklaştıkça dilimin iki yüzü birbirine daha eğik olur, yani dilim tepe açısı daha büyük bir prizmaya dönüşür ve ışığı daha çok büker; bu yüzden bütün ışınlar tek bir noktada buluşabilir. Prizmaların tabanı merkeze bakıyorsa mercek toplar, dışa bakıyorsa dağıtır:
• İnce kenarlı (yakınsak) mercek: ortası kalın, kenarları incedir. Asal eksene paralel gelen ışınları odakta toplar. f &gt; 0.
• Kalın kenarlı (ıraksak) mercek: ortası ince, kenarları kalındır. Işınları dağıtır; uzantıları odakta kesişir. f &lt; 0.
Merceğin ortasından yüzeylerine dik geçen doğruya asal eksen, merceğin tam ortasındaki noktaya optik merkez denir. Eksene paralel gelen ışınların toplandığı ya da uzantılarının buluştuğu noktaya odak noktası (F), bu noktanın merkeze uzaklığına odak uzaklığı (f) denir. Merceğin iki tarafında da birer odak noktası vardır ve ikisi merkeze eşit uzaklıktadır; merkezden 2f uzaktaki noktalar 2F ile gösterilir. Odak uzaklığı; yüzeylerin eğrilik yarıçaplarına ve merceğin indisine bağlıdır.
İsim tuzağı: “İnce kenarlı” adı merceğin kenarından gelir; ortası kalındır ve ışığı toplar. Kalın kenarlı merceğin ortası incedir ve ışığı dağıtır.
Görsel: Eksene paralel gelen ışınlar ince kenarlı mercekte gerçek bir odakta toplanır; oraya kâğıt tutarsan güneşin görüntüsünü yakabilirsin. Kalın kenarlı mercekte ise ışınlar dağılır ve yalnızca uzantıları odakta buluşur — bu yüzden bu merceğin odak uzaklığı negatif kabul edilir ve hiçbir zaman perdeye görüntü düşürmez.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Asal ışınlar: üç kuralla görüntü çizmek
Kısaca: Paralel gelen ışın odaktan geçer, merkezden geçen sapmaz, odaktan gelen paralel çıkar; ikisinin kesiştiği yer görüntüdür. Işınlar gerçekten kesişirse görüntü gerçek, yalnızca uzantıları kesişirse sanaldır.
Bir cismin her noktasından sayısız ışın çıkar ve mercekten geçenlerin hepsi görüntüde yine tek bir noktada buluşur. Bu yüzden davranışını kesin bildiğimiz özel ışınlar, yani asal ışınlar yeter. İnce kenarlı mercekte görüntüyü çizmek için üç ışından ikisi yeter:
• Asal eksene paralel gelen ışın, kırıldıktan sonra odaktan geçer.
• Merkezden geçen ışın doğrultusunu korur.
• Odaktan geçerek gelen ışın, kırıldıktan sonra eksene paralel gider.
Bu kurallar ezber değildir. Birincisi odağın tanımıdır. İkincisi, merceğin ortasının iki yüzü paralel ince bir cam levha gibi olmasından gelir; ince mercekte ışının küçük kayması ihmal edilir. Üçüncüsü ışığın tersinirliğinden çıkar: ışık bir yolu tersine de izleyebilir, bu yüzden birinci kuralı tersten okursan odaktan gelen ışın paralel çıkar. İki ışın görüntüyü belirlemeye yeter; üçüncüsü çizimi denetler.
Kalın kenarlı mercekte paralel gelen ışın, merceğin önündeki odaktan geliyormuş gibi dağılır; görüntü bu uzantıların kesişmesiyle oluşur ve her zaman sanaldır. Genel kural şudur: ışınların kendisi kesişiyorsa görüntü gerçektir ve perdeye düşer; yalnızca uzantıları kesişiyorsa görüntü sanaldır. Sanal görüntü perdeye düşmez ama mercekten bakan göz onu görür, tıpkı düzlem aynadaki görüntün gibi.
Görsel: Mercekte de üç asal ışın vardır: 1 eksene paralel gelir, kırıldıktan sonra odaktan geçer; 2 merkezden geçer ve hiç kırılmaz; 3 odaktan geçerek gelir, kırıldıktan sonra eksene paralel olur. İkisi kesiştiği yerde görüntü oluşur. Işınlar gerçekten kesişiyorsa görüntü gerçektir ve perdeye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Cismi yaklaştır: ince kenarlı mercekte beş durum
Kısaca: Cisim ince kenarlı merceğe yaklaştıkça görüntü uzaklaşır ve büyür: 2F'de eşit boyda, odakta yok, odak içinde sanal ve büyük olur. Kalın kenarlı mercekte görüntü her zaman sanal, düz ve küçüktür.
Cismi uzaktan merceğe doğru adım adım yaklaştırıp her adımda asal ışınları çizelim; sayfanın 02 numaralı bölümündeki “Sırayla göster” düğmesi tam olarak bunu yapar. Beş durumun her biri bir optik aletin çalışma ilkesidir:
Cisim | Görüntü | Tür | Alet
2f dışında | f – 2f arası | gerçek, ters, küçük | fotoğraf makinesi
2f'de | 2f'de | gerçek, ters, eşit | fotokopi
f – 2f arası | 2f dışında | gerçek, ters, büyük | projeksiyon
Odakta | sonsuzda | görüntü oluşmaz | projektör
Odak içinde | cisim tarafında | sanal, düz, büyük | büyüteç
Cisim merceğe yaklaştıkça görüntü uzaklaşır ve büyür; ikisi bir tahterevallinin iki ucu gibidir. Cisim çok uzaktan 2F'ye gelirken görüntü F'den 2F'ye gider; 2F'de ikisi eşit uzaklıkta ve eşit boydadır; cisim 2F'den F'ye gelirken görüntü sonsuza kaçar. Gerçek görüntüler hep terstir, çünkü ışınlar mercekte çaprazlanır: cismin üst ucundan çıkan ışınlar eksenin altına iner.
Kalın kenarlı mercekte beş durum yoktur. Havadaki kalın kenarlı mercekte cisim nerede olursa olsun görüntü sanal, düz ve küçüktür; odak ile mercek arasında, cisimle aynı tarafta oluşur.
Görsel: Cisim mercekten uzakken görüntü küçük ve gerçektir — fotoğraf makinesi böyle çalışır. Cismi yaklaştırdıkça görüntü büyür ve uzaklaşır; f ile 2f arasında büyütülmüş gerçek görüntü verir — projeksiyon. Odakta ışınlar paralelleşir, görüntü oluşmaz — projektör. Odağın içine girildiğinde görüntü sanal, düz ve büyük olur — büyüteç. Beş satır, beş optik alet.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görüntünün yerini ve boyunu mercek denklemiyle hesapla, gücü diyoptriyle ölç ve gözün kusurlarını sayılarla düzelt.
05 Mercek denklemi: görüntüyü hesapla bul
06 Sayılarla hisset: cisim yaklaşınca görüntü nereye kaçar?
07 Mercek gücü: diyoptri
08 Göz: odağını kendisi ayarlayan mercek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Mercek denklemi: görüntüyü hesapla bul
Kısaca: Görüntünün yeri 1/f = 1/a + 1/b, büyütmesi m = |b/a| ile bulunur; ikisi de benzer üçgenlerden çıkar. b pozitifse görüntü gerçek, negatifse sanaldır.
Işın çizimi görüntünün kabaca yerini gösterir; kesin yerini tek bir bağıntı verir. Cismin merceğe uzaklığı a, görüntününki b, görüntü boyunun cisim boyuna oranı büyütme (m) olsun:
1/f = 1/a + 1/b   m = |b / a|
Denklem nereden geliyor?
Üç asal ışın çiziminde cismin tepesinden çıkan iki ışını izle; gerisi benzer üçgenlerdir:
• Merkezden geçen ışın sapmaz. Cisim ve görüntü tarafındaki iki üçgen benzerdir: boy(görüntü) / boy(cisim) = b / a.
• Paralel gelen ışın odaktan geçer; odağın iki yanında iki benzer üçgen kurar: boy(görüntü) / boy(cisim) = (b − f) / f.
• İki oranı eşitle: b / a = (b − f) / f → b·f = a·b − a·f.
• Her terimi a·b·f'ye böl: 1/a = 1/f − 1/b, yani 1/f = 1/a + 1/b. Büyütme de ilk adımdan gelir: m = |b / a|.
• İnce kenarlı: f pozitif. Kalın kenarlı: f negatif.
• b pozitif: görüntü merceğin öbür tarafında, gerçek (perdeye düşer).
• b negatif: görüntü cisimle aynı tarafta, sanal.
Aynalarla aynı denklem. Küresel aynalarda da 1/f = 1/a + 1/b kullanılır. Fark, görüntünün oluştuğu taraftadır: aynada yansıma, mercekte kırılma vardır.
Birim kontrolü: her terim “1 bölü uzunluk” birimindedir; a, b ve f aynı birimle yazılmalıdır. Büyütme iki uzunluğun oranı olduğu için birimsizdir.
Görsel: Mercek denklemi aynanınkiyle aynı biçimdedir, yalnız "arka taraf" tanımı değişir: görüntü merceğin öbür tarafında çıkıyorsa gerçektir (b &gt; 0), cisimle aynı tarafta çıkıyorsa sanaldır (b &lt; 0). Hesapta b negatif çıkması hata değil, görüntünün sanal olduğunun işaretidir — büyüteçte her zaman böyle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Mercek denklemi: görüntüyü hesapla bul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cisim yaklaşınca görüntü nereye kaçar?
Kısaca: f = 30 cm'lik mercekte cisim 120, 60 ve 40 cm'deyken görüntü 40, 60 ve 120 cm'de oluşur; a ile b yer değiştirebilir. Odağa yaklaştıkça görüntü hızla kaçar, çünkü (a − f)(b − f) = f² sabittir.
Sayfanın 01 numaralı laboratuvarındaki hazır deneyler odak uzaklığı 30 cm olan ince kenarlı bir mercek kullanır. Sonuçlarını mercek denklemiyle önceden hesaplayalım:
Cisim uzaklığı | Görüntü uzaklığı | Büyütme ve tür
120 cm · fotoğraf | 40 cm | 0,33 · gerçek, ters, küçük
60 cm · fotokopi | 60 cm | 1 · gerçek, ters, eşit
40 cm · projeksiyon | 120 cm | 3 · gerçek, ters, büyük
30 cm · odakta | sonsuz | görüntü oluşmaz
18 cm · büyüteç | −45 cm | 2,5 · sanal, düz, büyük
Tablodan iki düzen okunur. Birincisi: ilk ve üçüncü satırda a ile b yer değiştirmiş (120 ↔ 40); ışığın tersinirliği bunu gerektirir. İkincisi: odağa yaklaştıkça görüntü çok hızlı kaçar. Cisim 33 cm'deyken, odağa yalnızca 3 cm kala, görüntü 330 cm'ye çıkar ve 10 kat büyür.
Mercek denklemini a·b·f ile çarpıp düzenlersen kaçışın nedeni görünür: cismin odağa uzaklığı ile görüntünün odağa uzaklığının çarpımı sabittir.
(a − f) · (b − f) = f²
120 cm için 90 · 10, 33 cm için 3 · 300; ikisi de 900 = 30² eder. Biri küçülünce öbürü aynı oranda büyümek zorundadır. 120 ile 40 çiftini aklında tut; sayfanın 04 numaralı bölümünde yeniden karşına çıkacak.
Düşün: f = 30 cm'lik mercekte cisim 60 cm'den 40 cm'ye, 20 cm yaklaşıyor. Görüntü de 20 cm mi uzaklaşır?
Cevap: Hayır, 60 cm uzaklaşır: görüntü 60 cm'den 120 cm'ye çıkar. Odağa yaklaştıkça cismin küçük bir kayması görüntüyü çok uzağa taşır; ilişki doğrusal değil, (a − f)·(b − f) = f² gibi bir ters orantıdır.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f = 30 cm'lik mercekte cisim 60 cm'den 40 cm'ye, 20 cm yaklaşıyor. Görüntü de 20 cm mi uzaklaşır?
Sınıfa sorun, birkaç tahmin alın; sonra cevap slaytına geçin.
Cevap: Hayır, 60 cm uzaklaşır: görüntü 60 cm'den 120 cm'ye çıkar. Odağa yaklaştıkça cismin küçük bir kayması görüntüyü çok uzağa taşır; ilişki doğrusal değil, (a − f)·(b − f) = f² gibi bir ters orantıdır.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60 cm uzaklaşır: görüntü 60 cm'den 120 cm'ye çıkar. Odağa yaklaştıkça cismin küçük bir kayması görüntüyü çok uzağa taşır; ilişki doğrusal değil, (a − f)·(b − f) = f² gibi bir ters orantıdır.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Mercek gücü: diyoptri
Kısaca: Mercek gücü odak uzaklığının tersidir: P = 1/f, f metre cinsinden, birimi diyoptri. İnce kenarlıda artı, kalın kenarlıda eksidir; bitişik merceklerin güçleri toplanır.
P = 1 / f   f metre cinsinden
Merceğin ışığı kırma yeteneğine mercek gücü denir; birimi diyoptri (D)'dir. Odak uzaklığı 50 cm olan ince kenarlı merceğin gücü 1/0,5 = +2 diyoptridir. Kalın kenarlı merceklerde güç negatiftir. Gözlük camlarının “numarası” bu değerdir.
Neden odak uzaklığının tersi? Işığı güçlü kıran mercek paralel ışınları çok yakında toplar, yani kısa odaklıdır; odak yarıya inince güç iki katına çıkar. Diyoptri “1 bölü metre” biriminin özel adıdır; f bu yüzden metreyle yazılır.
Görsel: Mercek gücü, odak uzaklığının tersidir: mercek ışığı ne kadar keskin kırıyorsa gücü o kadar büyüktür. Odak uzaklığı yarıya inince güç iki katına çıkar. Gözlük numarası dediğimiz şey tam olarak budur: "−2,5 numara" demek, odak uzaklığı −40 cm olan kalın kenarlı bir mercek demektir — eksi işareti merceğin ıraksak olduğunu söyler.
Mercek | Odak uzaklığı | Güç
Hafif okuma gözlüğü | +100 cm | +1 D
Hipermetrop gözlüğü | +50 cm | +2 D
Miyop gözlüğü | −40 cm | −2,5 D
Büyüteç | +10 cm | +10 D
İnsan gözünün tamamı | yaklaşık 1,7 cm | yaklaşık +60 D
İki ince mercek birbirine bitiştirilirse ışığı art arda büker ve güçleri toplanır: +3 D'lik bir camın önüne −1 D'lik bir cam koyarsan ikisi +2 D'lik tek bir mercek gibi davranır.
P = P₁ + P₂   (bitişik ince mercekler)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Göz: odağını kendisi ayarlayan mercek
Kısaca: Göz, görüntüyü retinaya düşüren ve odağını ayarlayabilen bir mercektir. Miyop kalın kenarlı camla (P = −1/d), hipermetrop ince kenarlı camla (P = 4 − 1/d) düzeltilir; d metre cinsindendir.
Göz, ince kenarlı bir mercek gibi çalışır ve görüntüyü retina üzerine düşürür. Işık önce saydam ön yüzey korneadan, sonra göz merceğinden geçer; ikisi birlikte yaklaşık +60 D'lik bir mercek gibidir. Göz merceği kaslarla şekil değiştirerek odak uzaklığını ayarlar; buna uyum (akomodasyon) denir. Sağlıklı göz sonsuzdaki cismi de yaklaşık 25 cm'deki cismi de net görür; bu sınırlara uzak nokta ve yakın nokta denir.
• Miyop: Göz çok kırıcıdır ya da göz küresi uzundur; görüntü retinanın önünde oluşur, uzak cisimler bulanık görünür. Kalın kenarlı (eksi numaralı) camla düzeltilir.
• Hipermetrop: Göz yeterince kırıcı değildir; görüntü retinanın arkasına düşer, yakın cisimler bulanık görünür. İnce kenarlı (artı numaralı) camla düzeltilir.
• Astigmat: Kornea küresel değildir; silindirik camla düzeltilir.
• Presbiyopi: Yaşla birlikte uyum yeteneğinin azalmasıdır.
Gözlük numarası nasıl hesaplanır?
Gözlük, cismin sanal görüntüsünü gözün net görebildiği bir yere taşır. d, uzak ya da yakın noktanın metre cinsinden uzaklığıdır:
• Miyop: Sonsuzdaki cismin (1/a = 0) görüntüsü uzak noktaya, cisim tarafına düşmeli: b = −d. O hâlde 1/f = 1/(−d), yani P = −1/d.
• Hipermetrop: 25 cm'deki yazının görüntüsü yakın noktaya düşmeli: a = 0,25 m, b = −d. O hâlde P = 1/0,25 − 1/d = 4 − 1/d.
• İşaret: Miyopta P hep eksi çıkar (kalın kenarlı); hipermetropta d, 0,25 m'den büyük olduğu için P artı çıkar (ince kenarlı).
Pmiyop = −1 / duzak   Phipermetrop = 4 − 1/dyakın
Sayfanın 03 numaralı bölümünde uzak ya da yakın noktayı kaydırıp “Gözlüğü tak” düğmesiyle sonucu görebilirsin.
Görsel: Miyop gözde mercek fazla kırıcıdır (ya da göz küresi uzundur) ve görüntü retinaya varmadan odaklanır; düzeltmek için ışığı biraz dağıtan kalın kenarlı mercek takılır. Hipermetropta tam tersi olur: görüntü retinanın arkasına düşer ve ışığı toplayan ince kenarlı mercek gerekir. Gözlük camı görüntüyü kendisi oluşturmaz; yalnızca gözün işini kolaylaştıracak kadar ön düzeltme yapar.
Düşün: Uzak noktası 2 m olan miyobun gözlüğü, uzak noktası 50 cm olanınkinden daha mı güçlüdür?
Cevap: Hayır, daha zayıftır. P = −1/d ile 2 m için −0,5 D, 50 cm için −2 D bulunur. Uzak nokta ne kadar yakındaysa kusur o kadar ağır, gereken cam o kadar güçlüdür.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Göz: odağını kendisi ayarlayan mercek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Uzak noktası 2 m olan miyobun gözlüğü, uzak noktası 50 cm olanınkinden daha mı güçlüdür?
Sınıfa sorun, birkaç tahmin alın; sonra cevap slaytına geçin.
Cevap: Hayır, daha zayıftır. P = −1/d ile 2 m için −0,5 D, 50 cm için −2 D bulunur. Uzak nokta ne kadar yakındaysa kusur o kadar ağır, gereken cam o kadar güçlüdür.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daha zayıftır. P = −1/d ile 2 m için −0,5 D, 50 cm için −2 D bulunur. Uzak nokta ne kadar yakındaysa kusur o kadar ağır, gereken cam o kadar güçlüdür.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perdede iki net konum, art arda iki mercek, ortamın ve rengin etkisi, en sonda da optik ünitesinin gerçek dünyadaki kapanışı.
09 Perdeye net görüntü: neden iki konum var?
10 Art arda iki mercek: mikroskop ve teleskop
11 Modelin sınırları: ortam, renk ve kalınlık
12 Mercekler gerçek dünyada
Görsel: İki mercek, bir gökyüzü. Mercekli bir teleskopta uzun odaklı objektif, uzaktaki cismin küçük ve gerçek bir görüntüsünü tüpün içinde oluşturur; göz merceği bu görüntüye büyüteç gibi bakar. 90 kat büyüten bir teleskopta, gökyüzünde yaklaşık yarım derecelik yer kaplayan dolunay 45 derece civarında bir alanı dolduruyormuş gibi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Perdeye net görüntü: neden iki konum var?
Kısaca: Cisim–perde uzaklığı D &gt; 4f ise merceğin iki konumunda net görüntü oluşur; a ile b yer değiştirir ve büyütmelerin çarpımı 1'dir. D = 4f'de tek konum vardır, D &lt; 4f'de hiç yoktur.
Sayfanın 04 numaralı bölümünde cisim ile perde sabittir, yalnızca mercek kayar. Şaşırtıcı biçimde merceğin iki ayrı konumunda net görüntü oluşur: biri büyük, biri küçük. İpucunu sayılarla hisset tablosu vermişti: 40 cm ile 120 cm yer değiştirebiliyordu. Cisim–perde uzaklığı D olsun:
• İki koşul: görüntü perdeye düşmeli, a + b = D; mercek denklemi de sağlanmalı, 1/a + 1/b = 1/f.
• Tersinirlik: denklemde a ile b yer değiştirse de bir şey değişmez; a = x bir çözümse a = D − x de çözümdür.
• İkinci derece denklem: b = D − a yazıp düzenlersen a² − D·a + D·f = 0 çıkar.
• Var olma şartı: gerçek kök için D² − 4·D·f ≥ 0, yani D ≥ 4f. D = 4f'de tek konum vardır: a = b = 2f.
• Büyütmeler: m₁ = b/a ve m₂ = a/b; çarpımları 1'dir. Biri 3 kat büyütüyorsa öbürü 3 kat küçültür.
Deneydeki değerlerle (f = 30 cm, D = 160 cm) denklem a² − 160·a + 4800 = 0 olur; kökleri 40 cm ile 120 cm, büyütmeler 3 ve 1/3'tür. D = 100 cm seçersen 4f = 120 cm sınırının altında kalırsın ve hiçbir konumda net görüntü alamazsın.
D ≥ 4f   f = (D² − d²) / (4D)
Odak uzaklığını ölçmenin akıllı yolu: İki net konum arasındaki uzaklık d ölçülürse f bulunur: deneyde d = 80 cm ve f = (160² − 80²) / 640 = 30 cm. Bessel yöntemi denen bu ölçümde merceğin merkezinin tam yerini bilmek gerekmez.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 arda iki mercek: mikroskop ve teleskop
Kısaca: İki mercekli sistemlerde birinci merceğin görüntüsü ikinciye cisim olur ve büyütmeler çarpılır. Mikroskop yakındaki küçük cismi, teleskop uzaktaki cismin gözde kapladığı açıyı büyütür.
Tek bir mercekle ancak belli bir büyütmeye kadar çıkılabilir. Daha fazlası için mercekler art arda dizilir ve kural basittir: birinci merceğin görüntüsü, ikinci merceğe cisim olur. Toplam büyütme iki büyütmenin çarpımıdır. Mikroskop ve teleskop böyle iki mercekli sistemlerdir.
mtoplam = m₁ · m₂   Mteleskop = fob / fgöz
• Mikroskop: kısa odaklı objektif, odağının hemen dışındaki küçük cismin büyük, gerçek ve ters görüntüsünü oluşturur; göz merceği onu büyüteç gibi yeniden büyütür.
• Okul mikroskobu: 40 kat büyüten bir objektif ile 10 kat büyüten bir göz merceği birlikte 40 · 10 = 400 kat büyütür.
• Teleskop: uzun odaklı objektif, uzaktaki cismin küçük ve gerçek görüntüsünü kendi odağında oluşturur; kısa odaklı göz merceği bu görüntüye yakından bakar.
• Teleskop büyütmesi: fob = 90 cm, fgöz = 1 cm ise cisim 90 kat daha geniş bir açıyla görünür; tüp boyu yaklaşık 90 + 1 = 91 cm olur.
Teleskop uzaktaki cismin boyunu değil, gözde kapladığı açıyı büyütür; bu açısal büyütme (M) iki odak uzaklığının oranıdır. Galileo 1609'da Hollanda'daki ilk dürbünlerin haberini alınca kendi teleskobunu yaptı; Ay'daki dağları ve Jüpiter'in çevresinde dönen dört uyduyu gözledi.
Düşün: Teleskobun objektifi neden büyük çaplı yapılır; büyütmeyi artırmak için mi?
Cevap: Hayır; büyütmeyi odak uzaklıklarının oranı belirler. Büyük çap daha çok ışık toplar: çap iki katına çıkınca merceğin alanı ve topladığı ışık dört katına çıkar. Böylece çıplak gözle görülemeyecek kadar sönük yıldızlar da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Teleskobun objektifi neden büyük çaplı yapılır; büyütmeyi artırmak için mi?
Sınıfa sorun, birkaç tahmin alın; sonra cevap slaytına geçin.
Cevap: Hayır; büyütmeyi odak uzaklıklarının oranı belirler. Büyük çap daha çok ışık toplar: çap iki katına çıkınca merceğin alanı ve topladığı ışık dört katına çıkar. Böylece çıplak gözle görülemeyecek kadar sönük yıldızlar da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büyütmeyi odak uzaklıklarının oranı belirler. Büyük çap daha çok ışık toplar: çap iki katına çıkınca merceğin alanı ve topladığı ışık dört katına çıkar. Böylece çıplak gözle görülemeyecek kadar sönük yıldızlar da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Modelin sınırları: ortam, renk ve kalınlık
Kısaca: Mercek denklemi havadaki ince bir mercek ve eksene yakın ışınlar için kurulmuştur. Ortam değişince odak uzaklığı değişir; renk ve küresel sapma görüntüyü bozar, çok mercekli objektifler bunları düzeltir.
Şimdiye kadar merceğin havada durduğunu, ince olduğunu ve ışığın tek renkli olduğunu varsaydık; gerçek mercekler bunların her birinden biraz sapar. Işık, iki ortam arasındaki kırıcılık indisi farkı yüzünden kırılır. Mercek suya daldırılınca bu fark küçülür ve mercek ışığı daha az büker. Yüzey eğrilikleri aynı kaldıkça merceğin gücü şu oranla değişir:
1/f ∝ nmercek / nortam − 1
• Suda odak uzar: indisi 1,5 olan cam mercekte bu çarpan havada 0,5, suda (n ≈ 1,33) yaklaşık 0,13'tür; odak uzaklığı yaklaşık 4 katına çıkar.
• Tür tersine dönebilir: ortamın indisi merceğinkinden büyükse ince kenarlı mercek dağıtır, kalın kenarlı toplar. Su içindeki hava kabarcığı ıraksak mercek gibidir.
• Renk sapması: prizmalarda gördüğün gibi cam moru kırmızıdan çok kırar; mor ışık merceğe daha yakında odaklanır ve görüntünün kenarları renklenir.
• Küresel sapma: kenardan geçen ışınlar biraz daha yakında odaklanır; 1/f = 1/a + 1/b ince mercek ve eksene yakın ışınlar için kesindir.
Kamera ve mikroskop objektifleri bu yüzden farklı camlardan yapılmış birkaç mercek içerir; bir ince kenarlı ile bir kalın kenarlı merceği birleştirmek renk sapmasını büyük ölçüde giderir.
Düşün: Yüzerken gözlerini açınca her şey neden bulanık görünür; deniz gözlüğü bunu nasıl düzeltir?
Cevap: Gözün kırıcılığının büyük bölümü hava ile kornea arasındaki indis farkından gelir. Suyun indisi korneanınkine çok yakın olduğu için su içinde kornea ışığı neredeyse hiç kırmaz; göz güçlü bir hipermetrop gibi olur. Deniz gözlüğü gözün önünde bir hava tabakası tutar.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Yüzerken gözlerini açınca her şey neden bulanık görünür; deniz gözlüğü bunu nasıl düzeltir?
Sınıfa sorun, birkaç tahmin alın; sonra cevap slaytına geçin.
Cevap: Gözün kırıcılığının büyük bölümü hava ile kornea arasındaki indis farkından gelir. Suyun indisi korneanınkine çok yakın olduğu için su içinde kornea ışığı neredeyse hiç kırmaz; göz güçlü bir hipermetrop gibi olur. Deniz gözlüğü gözün önünde bir hava tabakası tutar.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Gözün kırıcılığının büyük bölümü hava ile kornea arasındaki indis farkından gelir. Suyun indisi korneanınkine çok yakın olduğu için su içinde kornea ışığı neredeyse hiç kırmaz; göz güçlü bir hipermetrop gibi olur. Deniz gözlüğü gözün önünde bir hava tabakası tutar.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Mercekler gerçek dünyada
Kısaca: Kamera, projeksiyon, büyüteç, gözlük ve teleskop aynı denklemi farklı cisim konumlarında kullanır. Optik ünitesinin kırılma, prizma ve ayna bilgileri mercekli aletlerde birleşir.
Optik ünitesinin son konusundayız ve ünitede öğrendiklerin bir mercekte buluşuyor: kırılma yasası, prizmanın ışığı tabanına doğru bükmesi, küresel aynalardan tanıdığın 1/f = 1/a + 1/b ve ışık şiddeti. Aşağıdaki örneklerin her biri mercek denklemini gerçek sayılarla kullanır.
Görsel: İki mercek, bir gökyüzü. Mercekli bir teleskopta uzun odaklı objektif, uzaktaki cismin küçük ve gerçek bir görüntüsünü tüpün içinde oluşturur; göz merceği bu görüntüye büyüteç gibi bakar. 90 kat büyüten bir teleskopta, gökyüzünde yaklaşık yarım derecelik yer kaplayan dolunay 45 derece civarında bir alanı dolduruyormuş gibi görünür.
• Telefon kamerası: 5 mm odaklı mercek, 2 m ötedeki 1,70 m boyundaki birinin yaklaşık 4,3 mm'lik ters görüntüsünü sensöre, odağın yaklaşık 0,01 mm gerisine düşürür.
• Projeksiyon: 10 cm odaklı mercekle 3 m'deki perdeye net görüntü için cisim yaklaşık 10,3 cm'ye, odağın hemen dışına konur; görüntü 29 kat büyük ve terstir.
• Büyüteç: 10 cm odaklı büyüteç 8 cm'deki bir pula tutulunca 40 cm geride 5 kat büyük, düz ve sanal bir görüntü oluşur.
• Gözlük ve kontakt lens: numara diyoptridir; “−2,5 numara” odak uzaklığı −40 cm olan kalın kenarlı cam demektir. Kontakt lens aynı işi korneanın üstünde yapar.
Telefon örneği önemli bir şey gösteriyor: uzaktaki cisimlerin görüntüsü neredeyse tam odakta oluşur, bu yüzden kameranın odaklaması merceği milimetrenin yüzde biri kadar kaydırmaktır. Ünite ışığın yayılmasıyla başladı, yansıma ve kırılmayla ışığın yolunu değiştirmeyi öğretti. Mercek bu yolu yönetmenin en esnek aracıdır: gözünden teleskoba kadar her optik alet, ışığı büküp görüntüyü istenen yere taşıyan bir düzenektir.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sınavda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Gerçek görüntü (kolay)
Aşağıdaki çözümlerde ince kenarlı mercekte f pozitif, kalın kenarlı mercekte f negatif alınmıştır; mercek gücü hesaplanırken uzunluklar metreye çevrilmiştir.
Odak uzaklığı 20 cm olan ince kenarlı merceğin 30 cm önüne bir cisim konuyor. Görüntünün yeri ve büyütmesi nedir?
1. 1/20 = 1/30 + 1/b → 1/b = 1/20 − 1/30 = (3 − 2)/60 = 1/60
2. b = 60 cm (pozitif → gerçek, merceğin öbür tarafında)
3. m = |b/a| = 60/30 = 2 kat
4. Görüntü ters ve iki kat büyüktür; projeksiyon düzeni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Gözlük numarası (kolay)
Aşağıdaki çözümlerde ince kenarlı mercekte f pozitif, kalın kenarlı mercekte f negatif alınmıştır; mercek gücü hesaplanırken uzunluklar metreye çevrilmiştir.
Uzak noktası 50 cm olan miyop bir göz için gereken gözlük numarası kaç diyoptridir?
1. Gözlük, sonsuzdaki cismin görüntüsünü uzak noktaya düşürmelidir.
2. f = −50 cm = −0,5 m
3. P = 1/f = 1/(−0,5) = −2 diyoptri
4. Eksi numara, kalın kenarlı (ıraksak) mercek demektir.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Büyüteç (orta)
Aşağıdaki çözümlerde ince kenarlı mercekte f pozitif, kalın kenarlı mercekte f negatif alınmıştır; mercek gücü hesaplanırken uzunluklar metreye çevrilmiştir.
Odak uzaklığı 15 cm olan merceğin 10 cm önündeki cismin görüntüsü nasıldır?
1. 1/15 = 1/10 + 1/b → 1/b = 1/15 − 1/10 = (2 − 3)/30 = −1/30
2. b = −30 cm: eksi işaret görüntünün cisimle aynı tarafta olduğunu, yani sanal olduğunu gösterir.
3. m = |−30/10| = 3 kat, düz ve büyük.
4. Bu, büyütecin çalışma şeklidir.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Kalın kenarlı mercek (orta)
Aşağıdaki çözümlerde ince kenarlı mercekte f pozitif, kalın kenarlı mercekte f negatif alınmıştır; mercek gücü hesaplanırken uzunluklar metreye çevrilmiştir.
Odak uzaklığı 20 cm olan kalın kenarlı merceğin 30 cm önündeki cismin görüntüsü nerededir?
1. Kalın kenarlı mercekte f = −20 cm
2. 1/(−20) = 1/30 + 1/b → 1/b = −1/20 − 1/30 = (−3 − 2)/60 = −5/60
3. b = −12 cm → sanal, cisim tarafında
4. m = 12/30 = 0,4; görüntü düz ve küçüktür.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Hipermetrop için okuma gözlüğü (orta)
Aşağıdaki çözümlerde ince kenarlı mercekte f pozitif, kalın kenarlı mercekte f negatif alınmıştır; mercek gücü hesaplanırken uzunluklar metreye çevrilmiştir.
Yakın noktası 50 cm olan hipermetrop bir kişi, kitabı 25 cm'den okuyabilmek için kaç diyoptrilik gözlük takmalıdır? Camın odak uzaklığı kaç cm'dir?
1. Gözlük, 25 cm'deki yazının sanal görüntüsünü yakın noktaya düşürmeli: a = 0,25 m, b = −0,5 m.
2. P = 1/a + 1/b = 1/0,25 + 1/(−0,5) = 4 − 2 = +2 diyoptri
3. f = 1/P = 0,5 m = 50 cm; artı işaret ince kenarlı (yakınsak) cam demektir.
4. Kontrol: m = |b/a| = 50/25 = 2; gözlük yazıyı iki kat büyütüp yakın noktaya taşır.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Perdede iki net görüntü (zor)
Aşağıdaki çözümlerde ince kenarlı mercekte f pozitif, kalın kenarlı mercekte f negatif alınmıştır; mercek gücü hesaplanırken uzunluklar metreye çevrilmiştir.
Bir mum ile perde arasındaki uzaklık 90 cm'dir. Odak uzaklığı 20 cm olan ince kenarlı mercek, perdede net görüntü oluşması için mumdan kaç cm uzağa konmalıdır? Her konumda büyütme nedir?
1. İki koşul: a + b = 90 ve 1/a + 1/b = 1/20.
2. b = 90 − a yazılırsa a² − 90·a + 1800 = 0 olur.
3. a = (90 ± √(8100 − 7200)) / 2 = (90 ± 30) / 2 → a = 30 cm ya da a = 60 cm
4. a = 30 cm → b = 60 cm, m = 2 (büyük, ters); a = 60 cm → b = 30 cm, m = 0,5 (küçük, ters).
5. Kontrol: D = 90 cm ≥ 4f = 80 cm ✓; büyütmelerin çarpımı 2 · 0,5 = 1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İki mercekli mikroskop (zor)
Aşağıdaki çözümlerde ince kenarlı mercekte f pozitif, kalın kenarlı mercekte f negatif alınmıştır; mercek gücü hesaplanırken uzunluklar metreye çevrilmiştir.
Odak uzaklığı 10 cm olan ince kenarlı bir merceğin 15 cm önüne 1 mm boyunda bir cisim konuyor. Bu mercekten 34 cm uzakta, odak uzaklığı 5 cm olan ikinci bir ince kenarlı mercek var. Son görüntünün türünü ve boyunu bulunuz.
1. Birinci mercek: 1/b₁ = 1/10 − 1/15 = (3 − 2)/30 → b₁ = 30 cm, m₁ = 30/15 = 2 (gerçek, ters).
2. Bu görüntü ikinci mercekten 34 − 30 = 4 cm öndedir ve ona cisim olur: a₂ = 4 cm, odağın içinde.
3. İkinci mercek: 1/b₂ = 1/5 − 1/4 = (4 − 5)/20 = −1/20 → b₂ = −20 cm, sanal.
4. m₂ = 20/4 = 5; toplam m = m₁ · m₂ = 2 · 5 = 10 → görüntü boyu 10 mm.
5. Birinci mercek görüntüyü ters çevirdi, ikinci mercek büyüteç gibi düz bıraktı: son görüntü sanal, ters ve 10 kat büyüktür. Mikroskop böyle çalışır.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İnce kenarlıyı “ince mercek” sanmak. Adı kenarının inceliğinden gelir; ortası kalındır ve ışığı toplar.
• Kalın kenarlı mercekte gerçek görüntü aramak. Havadaki kalın kenarlı mercekte görüntü her zaman sanal, düz ve küçüktür.
• Miyopa ince kenarlı cam vermek. Miyop kalın kenarlı (eksi numaralı) camla düzeltilir.
• Diyoptriyi santimetreyle hesaplamak. P = 1/f bağıntısında f metre cinsinden olmalıdır: f = 50 cm için P = 1/0,5 = 2 D, 1/50 değil.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Sanal görüntüyü perdeye düşürmeye çalışmak. Yalnızca gerçek görüntüler perdeye düşer.
• Cisim odaktayken görüntü oluştuğunu sanmak. Işınlar paralel çıkar; görüntü sonsuzdadır.
• “Merceğin yarısı kapatılırsa görüntünün yarısı kaybolur.” Cismin her noktasından çıkan ışınlar merceğin her yerinden geçer; görüntü tam kalır, yalnızca sönükleşir.
• “Mercek her ortamda aynı davranır.” Odak uzaklığı mercek ile ortamın indis farkına bağlıdır; suda odak uzar, ortam mercekten kırıcıysa mercek türü tersine döner.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İnce kenarlı toplar · Kalın kenarlı dağıtır · Güç P = 1/f · Büyütme |b/a|
1/f = 1/a + 1/b — mercek denklemi
m = |b / a| — büyütme
P = 1 / f(m) — diyoptri
b &lt; 0 → sanal — cisimle aynı tarafta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8a8328c3-841c-44fa-b76f-82572d338d3d/scratchpad/d5/sek/mercekler-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fizik</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OPTİK · KONU 08</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Mercekler</a:t>
            </a:r>
            <a:endParaRPr lang="en-US" sz="46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500" dirty="0">
                <a:solidFill>
                  <a:srgbClr val="C3CEE8"/>
                </a:solidFill>
                <a:latin typeface="Calibri" pitchFamily="34" charset="0"/>
                <a:ea typeface="Calibri" pitchFamily="34" charset="-122"/>
                <a:cs typeface="Calibri" pitchFamily="34" charset="-120"/>
              </a:rPr>
              <a:t>Mercek, ışığı kırarak toplayan ya da dağıtan saydam bir cisimdir. Gözlükten mikroskoba, fotoğraf makinesinden gözün kendisine kadar her optik alet tek bir denklemle çalışır: 1/f = 1/a + 1/b.</a:t>
            </a:r>
            <a:endParaRPr lang="en-US" sz="15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dersler.perinet.org/mercekler.html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1550" dirty="0">
                <a:solidFill>
                  <a:srgbClr val="0E1426"/>
                </a:solidFill>
                <a:latin typeface="Cambria" pitchFamily="34" charset="0"/>
                <a:ea typeface="Cambria" pitchFamily="34" charset="-122"/>
                <a:cs typeface="Cambria" pitchFamily="34" charset="-120"/>
              </a:rPr>
              <a:t>Aynı büyüteç bir uğur böceğini dev gibi gösterir, güneşe tutulunca bir kâğıdı tutuşturabilir.</a:t>
            </a:r>
            <a:pPr indent="0" marL="0">
              <a:lnSpc>
                <a:spcPct val="130000"/>
              </a:lnSpc>
              <a:buNone/>
            </a:pPr>
            <a:r>
              <a:rPr lang="en-US" sz="15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550" dirty="0">
                <a:solidFill>
                  <a:srgbClr val="0E1426"/>
                </a:solidFill>
                <a:latin typeface="Cambria" pitchFamily="34" charset="0"/>
                <a:ea typeface="Cambria" pitchFamily="34" charset="-122"/>
                <a:cs typeface="Cambria" pitchFamily="34" charset="-120"/>
              </a:rPr>
              <a:t>Tek bir cam parçası bunu nasıl yapıyor?</a:t>
            </a:r>
            <a:pPr indent="0" marL="0">
              <a:lnSpc>
                <a:spcPct val="130000"/>
              </a:lnSpc>
              <a:buNone/>
            </a:pPr>
            <a:r>
              <a:rPr lang="en-US" sz="15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550" dirty="0">
                <a:solidFill>
                  <a:srgbClr val="0E1426"/>
                </a:solidFill>
                <a:latin typeface="Cambria" pitchFamily="34" charset="0"/>
                <a:ea typeface="Cambria" pitchFamily="34" charset="-122"/>
                <a:cs typeface="Cambria" pitchFamily="34" charset="-120"/>
              </a:rPr>
              <a:t>Gözünün içindeki mercek de bu satırı okuyabilmen için şekil değiştiriyor.</a:t>
            </a:r>
            <a:pPr indent="0" marL="0">
              <a:lnSpc>
                <a:spcPct val="130000"/>
              </a:lnSpc>
              <a:buNone/>
            </a:pPr>
            <a:r>
              <a:rPr lang="en-US" sz="15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550" dirty="0">
                <a:solidFill>
                  <a:srgbClr val="0E1426"/>
                </a:solidFill>
                <a:latin typeface="Cambria" pitchFamily="34" charset="0"/>
                <a:ea typeface="Cambria" pitchFamily="34" charset="-122"/>
                <a:cs typeface="Cambria" pitchFamily="34" charset="-120"/>
              </a:rPr>
              <a:t>Telefonunun kamerası, gözlüğün, mikroskop ve teleskop — hepsi aynı iki bağıntıyla çalışır.</a:t>
            </a:r>
            <a:pPr indent="0" marL="0">
              <a:lnSpc>
                <a:spcPct val="130000"/>
              </a:lnSpc>
              <a:buNone/>
            </a:pPr>
            <a:r>
              <a:rPr lang="en-US" sz="15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550" dirty="0">
                <a:solidFill>
                  <a:srgbClr val="0E1426"/>
                </a:solidFill>
                <a:latin typeface="Cambria" pitchFamily="34" charset="0"/>
                <a:ea typeface="Cambria" pitchFamily="34" charset="-122"/>
                <a:cs typeface="Cambria" pitchFamily="34" charset="-120"/>
              </a:rPr>
              <a:t>Mercek aslında </a:t>
            </a:r>
            <a:pPr indent="0" marL="0">
              <a:lnSpc>
                <a:spcPct val="130000"/>
              </a:lnSpc>
              <a:buNone/>
            </a:pPr>
            <a:r>
              <a:rPr lang="en-US" sz="1550" b="1" dirty="0">
                <a:solidFill>
                  <a:srgbClr val="5F4BD8"/>
                </a:solidFill>
                <a:latin typeface="Cambria" pitchFamily="34" charset="0"/>
                <a:ea typeface="Cambria" pitchFamily="34" charset="-122"/>
                <a:cs typeface="Cambria" pitchFamily="34" charset="-120"/>
              </a:rPr>
              <a:t>arka arkaya dizilmiş sonsuz sayıda küçük prizmadan</a:t>
            </a:r>
            <a:pPr indent="0" marL="0">
              <a:lnSpc>
                <a:spcPct val="130000"/>
              </a:lnSpc>
              <a:buNone/>
            </a:pPr>
            <a:r>
              <a:rPr lang="en-US" sz="1550" dirty="0">
                <a:solidFill>
                  <a:srgbClr val="0E1426"/>
                </a:solidFill>
                <a:latin typeface="Cambria" pitchFamily="34" charset="0"/>
                <a:ea typeface="Cambria" pitchFamily="34" charset="-122"/>
                <a:cs typeface="Cambria" pitchFamily="34" charset="-120"/>
              </a:rPr>
              <a:t> başka bir şey değildir: her biri ışığı biraz büker, hepsi birlikte ışığı tek bir noktada toplar.</a:t>
            </a:r>
            <a:pPr indent="0" marL="0">
              <a:lnSpc>
                <a:spcPct val="130000"/>
              </a:lnSpc>
              <a:buNone/>
            </a:pPr>
            <a:r>
              <a:rPr lang="en-US" sz="15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550" dirty="0">
                <a:solidFill>
                  <a:srgbClr val="0E1426"/>
                </a:solidFill>
                <a:latin typeface="Cambria" pitchFamily="34" charset="0"/>
                <a:ea typeface="Cambria" pitchFamily="34" charset="-122"/>
                <a:cs typeface="Cambria" pitchFamily="34" charset="-120"/>
              </a:rPr>
              <a:t>Optik ünitesinin bu son konusu kırılmayı, prizmaları ve aynaları tek bir alette buluşturuyor.</a:t>
            </a:r>
            <a:pPr indent="0" marL="0">
              <a:lnSpc>
                <a:spcPct val="130000"/>
              </a:lnSpc>
              <a:buNone/>
            </a:pPr>
            <a:r>
              <a:rPr lang="en-US" sz="15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550" dirty="0">
                <a:solidFill>
                  <a:srgbClr val="0E1426"/>
                </a:solidFill>
                <a:latin typeface="Cambria" pitchFamily="34" charset="0"/>
                <a:ea typeface="Cambria" pitchFamily="34" charset="-122"/>
                <a:cs typeface="Cambria" pitchFamily="34" charset="-120"/>
              </a:rPr>
              <a:t>Önce mercekleri gözleyip ışınlarla görüntü çizeceğiz, sonra mercek denklemini, diyoptriyi ve gözü sayılarla inceleyeceğiz, ardından iki mercekli aletlere ve modelin sınırlarına geçeceğiz.</a:t>
            </a:r>
            <a:pPr indent="0" marL="0">
              <a:lnSpc>
                <a:spcPct val="130000"/>
              </a:lnSpc>
              <a:buNone/>
            </a:pPr>
            <a:r>
              <a:rPr lang="en-US" sz="15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550" dirty="0">
                <a:solidFill>
                  <a:srgbClr val="0E1426"/>
                </a:solidFill>
                <a:latin typeface="Cambria" pitchFamily="34" charset="0"/>
                <a:ea typeface="Cambria" pitchFamily="34" charset="-122"/>
                <a:cs typeface="Cambria" pitchFamily="34" charset="-120"/>
              </a:rPr>
              <a:t>En sonda kolaydan zora sıralanmış örneklerle hepsini birlikte kullanacağız.</a:t>
            </a:r>
            <a:endParaRPr lang="en-US" sz="155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Önce sezgi: merceğin ışığı nasıl büktüğünü gör, üç ışınla görüntüyü çiz ve cismin yeri değişince neyin değiştiğini fark et.</a:t>
            </a:r>
            <a:endParaRPr lang="en-US" sz="10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Önce gözlemle: bir büyüteç ne yapar?</a:t>
            </a:r>
            <a:endParaRPr lang="en-US" sz="1250" dirty="0"/>
          </a:p>
        </p:txBody>
      </p:sp>
      <p:sp>
        <p:nvSpPr>
          <p:cNvPr id="15" name="Text 13"/>
          <p:cNvSpPr txBox="1"/>
          <p:nvPr/>
        </p:nvSpPr>
        <p:spPr>
          <a:xfrm>
            <a:off x="859536" y="4199382"/>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Mercek nedir, hangi türleri vardır?</a:t>
            </a:r>
            <a:endParaRPr lang="en-US" sz="1250" dirty="0"/>
          </a:p>
        </p:txBody>
      </p:sp>
      <p:sp>
        <p:nvSpPr>
          <p:cNvPr id="17" name="Text 15"/>
          <p:cNvSpPr txBox="1"/>
          <p:nvPr/>
        </p:nvSpPr>
        <p:spPr>
          <a:xfrm>
            <a:off x="859536" y="4832604"/>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Asal ışınlar: üç kuralla görüntü çizmek</a:t>
            </a:r>
            <a:endParaRPr lang="en-US" sz="1250" dirty="0"/>
          </a:p>
        </p:txBody>
      </p:sp>
      <p:sp>
        <p:nvSpPr>
          <p:cNvPr id="19" name="Text 17"/>
          <p:cNvSpPr txBox="1"/>
          <p:nvPr/>
        </p:nvSpPr>
        <p:spPr>
          <a:xfrm>
            <a:off x="859536" y="5465826"/>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1243584" y="5465826"/>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Cismi yaklaştır: ince kenarlı mercekte beş durum</a:t>
            </a:r>
            <a:endParaRPr lang="en-US" sz="1150" dirty="0"/>
          </a:p>
        </p:txBody>
      </p:sp>
      <p:sp>
        <p:nvSpPr>
          <p:cNvPr id="21" name="Shape 19"/>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3601136" y="1645920"/>
            <a:ext cx="2211248" cy="64008"/>
          </a:xfrm>
          <a:prstGeom prst="rect">
            <a:avLst/>
          </a:prstGeom>
          <a:solidFill>
            <a:srgbClr val="2957D4"/>
          </a:solidFill>
          <a:ln/>
        </p:spPr>
      </p:sp>
      <p:sp>
        <p:nvSpPr>
          <p:cNvPr id="23" name="Shape 21"/>
          <p:cNvSpPr/>
          <p:nvPr/>
        </p:nvSpPr>
        <p:spPr>
          <a:xfrm>
            <a:off x="3637712" y="1920240"/>
            <a:ext cx="420624" cy="420624"/>
          </a:xfrm>
          <a:prstGeom prst="roundRect">
            <a:avLst>
              <a:gd name="adj" fmla="val 26000"/>
            </a:avLst>
          </a:prstGeom>
          <a:solidFill>
            <a:srgbClr val="2957D4"/>
          </a:solidFill>
          <a:ln/>
        </p:spPr>
      </p:sp>
      <p:sp>
        <p:nvSpPr>
          <p:cNvPr id="24" name="Text 22"/>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6" name="Text 24"/>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Bağıntılar: görüntünün yerini ve boyunu mercek denklemiyle hesapla, gücü diyoptriyle ölç ve gözün kusurlarını sayılarla düzelt.</a:t>
            </a:r>
            <a:endParaRPr lang="en-US" sz="1000" dirty="0"/>
          </a:p>
        </p:txBody>
      </p:sp>
      <p:sp>
        <p:nvSpPr>
          <p:cNvPr id="27" name="Shape 25"/>
          <p:cNvSpPr/>
          <p:nvPr/>
        </p:nvSpPr>
        <p:spPr>
          <a:xfrm>
            <a:off x="3637712" y="3429000"/>
            <a:ext cx="2138096" cy="0"/>
          </a:xfrm>
          <a:prstGeom prst="line">
            <a:avLst/>
          </a:prstGeom>
          <a:noFill/>
          <a:ln w="9525">
            <a:solidFill>
              <a:srgbClr val="E1E5EE"/>
            </a:solidFill>
            <a:prstDash val="dash"/>
          </a:ln>
        </p:spPr>
      </p:sp>
      <p:sp>
        <p:nvSpPr>
          <p:cNvPr id="28" name="Text 26"/>
          <p:cNvSpPr txBox="1"/>
          <p:nvPr/>
        </p:nvSpPr>
        <p:spPr>
          <a:xfrm>
            <a:off x="3637712" y="3566160"/>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Mercek denklemi: görüntüyü hesapla bul</a:t>
            </a:r>
            <a:endParaRPr lang="en-US" sz="1250" dirty="0"/>
          </a:p>
        </p:txBody>
      </p:sp>
      <p:sp>
        <p:nvSpPr>
          <p:cNvPr id="30" name="Text 28"/>
          <p:cNvSpPr txBox="1"/>
          <p:nvPr/>
        </p:nvSpPr>
        <p:spPr>
          <a:xfrm>
            <a:off x="3637712" y="4199382"/>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199382"/>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Sayılarla hisset: cisim yaklaşınca görüntü nereye kaçar?</a:t>
            </a:r>
            <a:endParaRPr lang="en-US" sz="1150" dirty="0"/>
          </a:p>
        </p:txBody>
      </p:sp>
      <p:sp>
        <p:nvSpPr>
          <p:cNvPr id="32" name="Text 30"/>
          <p:cNvSpPr txBox="1"/>
          <p:nvPr/>
        </p:nvSpPr>
        <p:spPr>
          <a:xfrm>
            <a:off x="3637712" y="4832604"/>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Mercek gücü: diyoptri</a:t>
            </a:r>
            <a:endParaRPr lang="en-US" sz="1250" dirty="0"/>
          </a:p>
        </p:txBody>
      </p:sp>
      <p:sp>
        <p:nvSpPr>
          <p:cNvPr id="34" name="Text 32"/>
          <p:cNvSpPr txBox="1"/>
          <p:nvPr/>
        </p:nvSpPr>
        <p:spPr>
          <a:xfrm>
            <a:off x="3637712" y="5465826"/>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Göz: odağını kendisi ayarlayan mercek</a:t>
            </a:r>
            <a:endParaRPr lang="en-US" sz="1250" dirty="0"/>
          </a:p>
        </p:txBody>
      </p:sp>
      <p:sp>
        <p:nvSpPr>
          <p:cNvPr id="36" name="Shape 34"/>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7" name="Shape 35"/>
          <p:cNvSpPr/>
          <p:nvPr/>
        </p:nvSpPr>
        <p:spPr>
          <a:xfrm>
            <a:off x="6379312" y="1645920"/>
            <a:ext cx="2211248" cy="64008"/>
          </a:xfrm>
          <a:prstGeom prst="rect">
            <a:avLst/>
          </a:prstGeom>
          <a:solidFill>
            <a:srgbClr val="5F4BD8"/>
          </a:solidFill>
          <a:ln/>
        </p:spPr>
      </p:sp>
      <p:sp>
        <p:nvSpPr>
          <p:cNvPr id="38" name="Shape 36"/>
          <p:cNvSpPr/>
          <p:nvPr/>
        </p:nvSpPr>
        <p:spPr>
          <a:xfrm>
            <a:off x="6415888" y="1920240"/>
            <a:ext cx="420624" cy="420624"/>
          </a:xfrm>
          <a:prstGeom prst="roundRect">
            <a:avLst>
              <a:gd name="adj" fmla="val 26000"/>
            </a:avLst>
          </a:prstGeom>
          <a:solidFill>
            <a:srgbClr val="5F4BD8"/>
          </a:solidFill>
          <a:ln/>
        </p:spPr>
      </p:sp>
      <p:sp>
        <p:nvSpPr>
          <p:cNvPr id="39" name="Text 37"/>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0" name="Text 38"/>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1" name="Text 39"/>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Derinleşme: perdede iki net konum, art arda iki mercek, ortamın ve rengin etkisi, en sonda da optik ünitesinin gerçek dünyadaki kapanışı.</a:t>
            </a:r>
            <a:endParaRPr lang="en-US" sz="1000" dirty="0"/>
          </a:p>
        </p:txBody>
      </p:sp>
      <p:sp>
        <p:nvSpPr>
          <p:cNvPr id="42" name="Shape 40"/>
          <p:cNvSpPr/>
          <p:nvPr/>
        </p:nvSpPr>
        <p:spPr>
          <a:xfrm>
            <a:off x="6415888" y="3429000"/>
            <a:ext cx="2138096" cy="0"/>
          </a:xfrm>
          <a:prstGeom prst="line">
            <a:avLst/>
          </a:prstGeom>
          <a:noFill/>
          <a:ln w="9525">
            <a:solidFill>
              <a:srgbClr val="E1E5EE"/>
            </a:solidFill>
            <a:prstDash val="dash"/>
          </a:ln>
        </p:spPr>
      </p:sp>
      <p:sp>
        <p:nvSpPr>
          <p:cNvPr id="43" name="Text 41"/>
          <p:cNvSpPr txBox="1"/>
          <p:nvPr/>
        </p:nvSpPr>
        <p:spPr>
          <a:xfrm>
            <a:off x="6415888" y="3566160"/>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09</a:t>
            </a:r>
            <a:endParaRPr lang="en-US" sz="1100" dirty="0"/>
          </a:p>
        </p:txBody>
      </p:sp>
      <p:sp>
        <p:nvSpPr>
          <p:cNvPr id="44" name="Text 42"/>
          <p:cNvSpPr txBox="1"/>
          <p:nvPr/>
        </p:nvSpPr>
        <p:spPr>
          <a:xfrm>
            <a:off x="6799936" y="3566160"/>
            <a:ext cx="1754048" cy="578358"/>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Perdeye net görüntü: neden iki konum var?</a:t>
            </a:r>
            <a:endParaRPr lang="en-US" sz="1200" dirty="0"/>
          </a:p>
        </p:txBody>
      </p:sp>
      <p:sp>
        <p:nvSpPr>
          <p:cNvPr id="45" name="Text 43"/>
          <p:cNvSpPr txBox="1"/>
          <p:nvPr/>
        </p:nvSpPr>
        <p:spPr>
          <a:xfrm>
            <a:off x="6415888" y="4199382"/>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4199382"/>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Art arda iki mercek: mikroskop ve teleskop</a:t>
            </a:r>
            <a:endParaRPr lang="en-US" sz="1150" dirty="0"/>
          </a:p>
        </p:txBody>
      </p:sp>
      <p:sp>
        <p:nvSpPr>
          <p:cNvPr id="47" name="Text 45"/>
          <p:cNvSpPr txBox="1"/>
          <p:nvPr/>
        </p:nvSpPr>
        <p:spPr>
          <a:xfrm>
            <a:off x="6415888" y="4832604"/>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832604"/>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Modelin sınırları: ortam, renk ve kalınlık</a:t>
            </a:r>
            <a:endParaRPr lang="en-US" sz="1150" dirty="0"/>
          </a:p>
        </p:txBody>
      </p:sp>
      <p:sp>
        <p:nvSpPr>
          <p:cNvPr id="49" name="Text 47"/>
          <p:cNvSpPr txBox="1"/>
          <p:nvPr/>
        </p:nvSpPr>
        <p:spPr>
          <a:xfrm>
            <a:off x="6415888" y="5465826"/>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12</a:t>
            </a:r>
            <a:endParaRPr lang="en-US" sz="1100" dirty="0"/>
          </a:p>
        </p:txBody>
      </p:sp>
      <p:sp>
        <p:nvSpPr>
          <p:cNvPr id="50" name="Text 48"/>
          <p:cNvSpPr txBox="1"/>
          <p:nvPr/>
        </p:nvSpPr>
        <p:spPr>
          <a:xfrm>
            <a:off x="6799936"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Mercekler gerçek dünyada</a:t>
            </a:r>
            <a:endParaRPr lang="en-US" sz="1250" dirty="0"/>
          </a:p>
        </p:txBody>
      </p:sp>
      <p:sp>
        <p:nvSpPr>
          <p:cNvPr id="51" name="Shape 49"/>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2" name="Shape 50"/>
          <p:cNvSpPr/>
          <p:nvPr/>
        </p:nvSpPr>
        <p:spPr>
          <a:xfrm>
            <a:off x="9157487" y="1645920"/>
            <a:ext cx="2211248" cy="64008"/>
          </a:xfrm>
          <a:prstGeom prst="rect">
            <a:avLst/>
          </a:prstGeom>
          <a:solidFill>
            <a:srgbClr val="A56209"/>
          </a:solidFill>
          <a:ln/>
        </p:spPr>
      </p:sp>
      <p:sp>
        <p:nvSpPr>
          <p:cNvPr id="53" name="Shape 51"/>
          <p:cNvSpPr/>
          <p:nvPr/>
        </p:nvSpPr>
        <p:spPr>
          <a:xfrm>
            <a:off x="9194063" y="1920240"/>
            <a:ext cx="420624" cy="420624"/>
          </a:xfrm>
          <a:prstGeom prst="roundRect">
            <a:avLst>
              <a:gd name="adj" fmla="val 26000"/>
            </a:avLst>
          </a:prstGeom>
          <a:solidFill>
            <a:srgbClr val="A56209"/>
          </a:solidFill>
          <a:ln/>
        </p:spPr>
      </p:sp>
      <p:sp>
        <p:nvSpPr>
          <p:cNvPr id="54" name="Text 52"/>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5" name="Text 53"/>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6" name="Text 54"/>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sınavda puan kaybettiren klasik hatalar.</a:t>
            </a:r>
            <a:endParaRPr lang="en-US" sz="1150" dirty="0"/>
          </a:p>
        </p:txBody>
      </p:sp>
      <p:sp>
        <p:nvSpPr>
          <p:cNvPr id="57" name="Shape 55"/>
          <p:cNvSpPr/>
          <p:nvPr/>
        </p:nvSpPr>
        <p:spPr>
          <a:xfrm>
            <a:off x="9194063" y="3429000"/>
            <a:ext cx="2138096" cy="0"/>
          </a:xfrm>
          <a:prstGeom prst="line">
            <a:avLst/>
          </a:prstGeom>
          <a:noFill/>
          <a:ln w="9525">
            <a:solidFill>
              <a:srgbClr val="E1E5EE"/>
            </a:solidFill>
            <a:prstDash val="dash"/>
          </a:ln>
        </p:spPr>
      </p:sp>
      <p:sp>
        <p:nvSpPr>
          <p:cNvPr id="58" name="Text 56"/>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13</a:t>
            </a:r>
            <a:endParaRPr lang="en-US" sz="1100" dirty="0"/>
          </a:p>
        </p:txBody>
      </p:sp>
      <p:sp>
        <p:nvSpPr>
          <p:cNvPr id="59" name="Text 57"/>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60" name="Text 58"/>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14</a:t>
            </a:r>
            <a:endParaRPr lang="en-US" sz="1100" dirty="0"/>
          </a:p>
        </p:txBody>
      </p:sp>
      <p:sp>
        <p:nvSpPr>
          <p:cNvPr id="61" name="Text 59"/>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2" name="Shape 60"/>
          <p:cNvSpPr/>
          <p:nvPr/>
        </p:nvSpPr>
        <p:spPr>
          <a:xfrm>
            <a:off x="640080" y="6382512"/>
            <a:ext cx="128016" cy="128016"/>
          </a:xfrm>
          <a:prstGeom prst="roundRect">
            <a:avLst>
              <a:gd name="adj" fmla="val 28571"/>
            </a:avLst>
          </a:prstGeom>
          <a:solidFill>
            <a:srgbClr val="A9E648"/>
          </a:solidFill>
          <a:ln/>
        </p:spPr>
      </p:sp>
      <p:sp>
        <p:nvSpPr>
          <p:cNvPr id="63" name="Text 6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64" name="Text 6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Önce sezgi: merceğin ışığı nasıl büktüğünü gör, üç ışınla görüntüyü çiz ve cismin yeri değişince neyin değiştiğini fark et.</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bir büyüteç ne yapar?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Mercek nedir, hangi türleri vardır?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Asal ışınlar: üç kuralla görüntü çizmek</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Cismi yaklaştır: ince kenarlı mercekte beş durum</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8a8328c3-841c-44fa-b76f-82572d338d3d/scratchpad/d5/sek/mercekler-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Gözlük de bir mercektir.</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Kâğıda bu kadar yakın duran bir gözlük camı arkasındaki çizimleri pek değiştirmez; gözlüğü kâğıttan yavaşça kaldırdıkça çizimler camın içinde büyür ya da küçülür. Yazıyı ya da çizimi büyüten bir gözlük camı ortası kalın bir camdır ve ışığı toplar; küçülten bir cam ise ortası incedir ve ışığı dağıtır. Hangisinin hangi göze yardım ettiğini ikinci basamakta hesaplayacağız.</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dersler.perinet.org/mercekler.html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bir büyüteç ne yapar?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3C8C21"/>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Aynı mercek cismin uzaklığına göre büyük ve düz ya da küçük ve ters görüntü verir. Ortası kalın mercekler ışığı bir noktada toplar, ortası ince mercekler dağıtır.</a:t>
            </a:r>
            <a:endParaRPr lang="en-US" sz="1900" dirty="0"/>
          </a:p>
        </p:txBody>
      </p:sp>
      <p:sp>
        <p:nvSpPr>
          <p:cNvPr id="9" name="Text 7"/>
          <p:cNvSpPr txBox="1"/>
          <p:nvPr/>
        </p:nvSpPr>
        <p:spPr>
          <a:xfrm>
            <a:off x="640080" y="2294534"/>
            <a:ext cx="10911535" cy="1979676"/>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Işık bükülür: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mercekten geçen ışık doğrultusunu değiştirir; bu, ünitenin kırılma konusundan tanıdığın kırılmadır.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Bazı mercekler toplar, bazıları dağıtır: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ortası kalın cam ışığı bir noktada toplar, ortası ince cam dağıtır.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Görüntü uzaklığa bağlıdır: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aynı mercek cisim yakınken büyük ve düz, uzaktayken küçük ve ters bir görüntü verir.</a:t>
            </a:r>
            <a:endParaRPr lang="en-US" sz="17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 gözlük camının ortası kalın mı ince mi, camı ölçmeden nasıl anlarsın?</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bir büyüteç ne yapar?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 gözlük camının ortası kalın mı ince mi, camı ölçmeden nasıl anlarsın?</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Camı bir yazının birkaç santimetre üstünde tutup yazıya bak. Yazı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büyüyorsa</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cam ortası kalın, ışığı toplayan bir mercektir;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küçülüyorsa</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ortası ince, ışığı dağıtan bir mercektir.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Mercek nedir, hangi türleri vardır?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3C8C21"/>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Mercek, ışığı kırarak toplayan ya da dağıtan saydam bir cisimdir ve küçük prizmalar dizisi gibi davranır. İnce kenarlı mercek ışığı odakta toplar (f &gt; 0), kalın kenarlı mercek dağıtır (f &lt; 0).</a:t>
            </a:r>
            <a:endParaRPr lang="en-US" sz="1850" dirty="0"/>
          </a:p>
        </p:txBody>
      </p:sp>
      <p:sp>
        <p:nvSpPr>
          <p:cNvPr id="9" name="Text 7"/>
          <p:cNvSpPr txBox="1"/>
          <p:nvPr/>
        </p:nvSpPr>
        <p:spPr>
          <a:xfrm>
            <a:off x="640080" y="2593238"/>
            <a:ext cx="5486400" cy="1810512"/>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İnce kenarlı (yakınsak) mercek:</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ortası kalın, kenarları incedir. Asal eksene paralel gelen ışınları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odakta toplar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f &gt; 0.</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Kalın kenarlı (ıraksak) mercek:</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ortası ince, kenarları kalındır. Işınları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dağıtır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uzantıları odakta kesişir. f &lt; 0.</a:t>
            </a:r>
            <a:endParaRPr lang="en-US" sz="1600" dirty="0"/>
          </a:p>
        </p:txBody>
      </p:sp>
      <p:sp>
        <p:nvSpPr>
          <p:cNvPr id="10" name="Shape 8"/>
          <p:cNvSpPr/>
          <p:nvPr/>
        </p:nvSpPr>
        <p:spPr>
          <a:xfrm>
            <a:off x="640080" y="4513478"/>
            <a:ext cx="5486400" cy="1191006"/>
          </a:xfrm>
          <a:prstGeom prst="roundRect">
            <a:avLst>
              <a:gd name="adj" fmla="val 921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658368" y="4659782"/>
            <a:ext cx="45720" cy="898398"/>
          </a:xfrm>
          <a:prstGeom prst="rect">
            <a:avLst/>
          </a:prstGeom>
          <a:solidFill>
            <a:srgbClr val="A56209"/>
          </a:solidFill>
          <a:ln/>
        </p:spPr>
      </p:sp>
      <p:sp>
        <p:nvSpPr>
          <p:cNvPr id="12" name="Text 10"/>
          <p:cNvSpPr txBox="1"/>
          <p:nvPr/>
        </p:nvSpPr>
        <p:spPr>
          <a:xfrm>
            <a:off x="914400" y="4623206"/>
            <a:ext cx="5029200" cy="971550"/>
          </a:xfrm>
          <a:prstGeom prst="rect">
            <a:avLst/>
          </a:prstGeom>
          <a:noFill/>
          <a:ln/>
        </p:spPr>
        <p:txBody>
          <a:bodyPr wrap="square" lIns="0" tIns="0" rIns="0" bIns="0" rtlCol="0" anchor="ctr"/>
          <a:lstStyle/>
          <a:p>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İsim tuzağı:</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“İnce kenarlı” adı merceğin kenarından gelir; ortası kalındır ve ışığı toplar. Kalın kenarlı merceğin ortası incedir ve ışığı dağıtır.</a:t>
            </a:r>
            <a:endParaRPr lang="en-US" sz="1500" dirty="0"/>
          </a:p>
        </p:txBody>
      </p:sp>
      <p:sp>
        <p:nvSpPr>
          <p:cNvPr id="13" name="Shape 11"/>
          <p:cNvSpPr/>
          <p:nvPr/>
        </p:nvSpPr>
        <p:spPr>
          <a:xfrm>
            <a:off x="6419088" y="2593238"/>
            <a:ext cx="5132527" cy="3508682"/>
          </a:xfrm>
          <a:prstGeom prst="roundRect">
            <a:avLst>
              <a:gd name="adj" fmla="val 41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4" name="Image 0" descr="/tmp/claude-1000/-opt-dersler/8a8328c3-841c-44fa-b76f-82572d338d3d/scratchpad/d5/sek/mercekler-01.png">    </p:cNvPr>
          <p:cNvPicPr>
            <a:picLocks noChangeAspect="1"/>
          </p:cNvPicPr>
          <p:nvPr/>
        </p:nvPicPr>
        <p:blipFill>
          <a:blip r:embed="rId1"/>
          <a:stretch>
            <a:fillRect/>
          </a:stretch>
        </p:blipFill>
        <p:spPr>
          <a:xfrm>
            <a:off x="6601968" y="2776118"/>
            <a:ext cx="4766767" cy="2045642"/>
          </a:xfrm>
          <a:prstGeom prst="rect">
            <a:avLst/>
          </a:prstGeom>
        </p:spPr>
      </p:pic>
      <p:sp>
        <p:nvSpPr>
          <p:cNvPr id="15" name="Shape 12"/>
          <p:cNvSpPr/>
          <p:nvPr/>
        </p:nvSpPr>
        <p:spPr>
          <a:xfrm>
            <a:off x="6601968" y="4913201"/>
            <a:ext cx="4766767" cy="0"/>
          </a:xfrm>
          <a:prstGeom prst="line">
            <a:avLst/>
          </a:prstGeom>
          <a:noFill/>
          <a:ln w="9525">
            <a:solidFill>
              <a:srgbClr val="E1E5EE"/>
            </a:solidFill>
            <a:prstDash val="dash"/>
          </a:ln>
        </p:spPr>
      </p:sp>
      <p:sp>
        <p:nvSpPr>
          <p:cNvPr id="16" name="Text 13"/>
          <p:cNvSpPr txBox="1"/>
          <p:nvPr/>
        </p:nvSpPr>
        <p:spPr>
          <a:xfrm>
            <a:off x="6601968" y="4968065"/>
            <a:ext cx="4766767" cy="950976"/>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Eksene paralel gelen ışınlar ince kenarlı mercekte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gerçek bir odakta toplanır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oraya kâğıt tutarsan güneşin görüntüsünü yakabilirsin. Kalın kenarlı mercekte ise ışınlar dağılır ve yalnızca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uzantıları</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odakta buluşur — bu yüzden bu merceğin odak uzaklığı negatif kabul edilir ve hiçbir zaman perdeye görüntü düşürmez.</a:t>
            </a:r>
            <a:endParaRPr lang="en-US" sz="1050" dirty="0"/>
          </a:p>
        </p:txBody>
      </p:sp>
      <p:sp>
        <p:nvSpPr>
          <p:cNvPr id="17" name="Shape 14"/>
          <p:cNvSpPr/>
          <p:nvPr/>
        </p:nvSpPr>
        <p:spPr>
          <a:xfrm>
            <a:off x="640080" y="6382512"/>
            <a:ext cx="128016" cy="128016"/>
          </a:xfrm>
          <a:prstGeom prst="roundRect">
            <a:avLst>
              <a:gd name="adj" fmla="val 28571"/>
            </a:avLst>
          </a:prstGeom>
          <a:solidFill>
            <a:srgbClr val="A9E648"/>
          </a:solidFill>
          <a:ln/>
        </p:spPr>
      </p:sp>
      <p:sp>
        <p:nvSpPr>
          <p:cNvPr id="18"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9"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Asal ışınlar: üç kuralla görüntü çizmek</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3C8C21"/>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Paralel gelen ışın odaktan geçer, merkezden geçen sapmaz, odaktan gelen paralel çıkar; ikisinin kesiştiği yer görüntüdür. Işınlar gerçekten kesişirse görüntü gerçek, yalnızca uzantıları kesişirse sanaldır.</a:t>
            </a:r>
            <a:endParaRPr lang="en-US" sz="1850" dirty="0"/>
          </a:p>
        </p:txBody>
      </p:sp>
      <p:sp>
        <p:nvSpPr>
          <p:cNvPr id="9" name="Text 7"/>
          <p:cNvSpPr txBox="1"/>
          <p:nvPr/>
        </p:nvSpPr>
        <p:spPr>
          <a:xfrm>
            <a:off x="640080" y="2593238"/>
            <a:ext cx="5486400" cy="1594104"/>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600" b="1" dirty="0">
                <a:solidFill>
                  <a:srgbClr val="0E1426"/>
                </a:solidFill>
                <a:latin typeface="Calibri" pitchFamily="34" charset="0"/>
                <a:ea typeface="Calibri" pitchFamily="34" charset="-122"/>
                <a:cs typeface="Calibri" pitchFamily="34" charset="-120"/>
              </a:rPr>
              <a:t>Asal eksene paralel</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gelen ışın, kırıldıktan sonra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odaktan</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geçer.</a:t>
            </a:r>
            <a:endParaRPr lang="en-US" sz="1600" dirty="0"/>
          </a:p>
          <a:p>
            <a:pPr marL="228600" indent="-228600">
              <a:lnSpc>
                <a:spcPct val="115000"/>
              </a:lnSpc>
              <a:spcAft>
                <a:spcPts val="500"/>
              </a:spcAft>
              <a:buSzPct val="100000"/>
              <a:buFont typeface="+mj-lt"/>
              <a:buAutoNum type="arabicPeriod" startAt="1"/>
            </a:pPr>
            <a:r>
              <a:rPr lang="en-US" sz="1600" b="1" dirty="0">
                <a:solidFill>
                  <a:srgbClr val="0E1426"/>
                </a:solidFill>
                <a:latin typeface="Calibri" pitchFamily="34" charset="0"/>
                <a:ea typeface="Calibri" pitchFamily="34" charset="-122"/>
                <a:cs typeface="Calibri" pitchFamily="34" charset="-120"/>
              </a:rPr>
              <a:t>Merkezden</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geçen ışın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doğrultusunu korur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a:t>
            </a:r>
            <a:endParaRPr lang="en-US" sz="1600" dirty="0"/>
          </a:p>
          <a:p>
            <a:pPr marL="228600" indent="-228600">
              <a:lnSpc>
                <a:spcPct val="115000"/>
              </a:lnSpc>
              <a:spcAft>
                <a:spcPts val="500"/>
              </a:spcAft>
              <a:buSzPct val="100000"/>
              <a:buFont typeface="+mj-lt"/>
              <a:buAutoNum type="arabicPeriod" startAt="1"/>
            </a:pPr>
            <a:r>
              <a:rPr lang="en-US" sz="1600" b="1" dirty="0">
                <a:solidFill>
                  <a:srgbClr val="0E1426"/>
                </a:solidFill>
                <a:latin typeface="Calibri" pitchFamily="34" charset="0"/>
                <a:ea typeface="Calibri" pitchFamily="34" charset="-122"/>
                <a:cs typeface="Calibri" pitchFamily="34" charset="-120"/>
              </a:rPr>
              <a:t>Odaktan geçerek</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gelen ışın, kırıldıktan sonra eksene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paralel</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gider.</a:t>
            </a:r>
            <a:endParaRPr lang="en-US" sz="1600" dirty="0"/>
          </a:p>
        </p:txBody>
      </p:sp>
      <p:sp>
        <p:nvSpPr>
          <p:cNvPr id="10" name="Shape 8"/>
          <p:cNvSpPr/>
          <p:nvPr/>
        </p:nvSpPr>
        <p:spPr>
          <a:xfrm>
            <a:off x="6419088" y="2593238"/>
            <a:ext cx="5132527" cy="3528591"/>
          </a:xfrm>
          <a:prstGeom prst="roundRect">
            <a:avLst>
              <a:gd name="adj" fmla="val 414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1" name="Image 0" descr="/tmp/claude-1000/-opt-dersler/8a8328c3-841c-44fa-b76f-82572d338d3d/scratchpad/d5/sek/mercekler-02.png">    </p:cNvPr>
          <p:cNvPicPr>
            <a:picLocks noChangeAspect="1"/>
          </p:cNvPicPr>
          <p:nvPr/>
        </p:nvPicPr>
        <p:blipFill>
          <a:blip r:embed="rId1"/>
          <a:stretch>
            <a:fillRect/>
          </a:stretch>
        </p:blipFill>
        <p:spPr>
          <a:xfrm>
            <a:off x="6601968" y="2776118"/>
            <a:ext cx="4766767" cy="2065551"/>
          </a:xfrm>
          <a:prstGeom prst="rect">
            <a:avLst/>
          </a:prstGeom>
        </p:spPr>
      </p:pic>
      <p:sp>
        <p:nvSpPr>
          <p:cNvPr id="12" name="Shape 9"/>
          <p:cNvSpPr/>
          <p:nvPr/>
        </p:nvSpPr>
        <p:spPr>
          <a:xfrm>
            <a:off x="6601968" y="4933110"/>
            <a:ext cx="4766767" cy="0"/>
          </a:xfrm>
          <a:prstGeom prst="line">
            <a:avLst/>
          </a:prstGeom>
          <a:noFill/>
          <a:ln w="9525">
            <a:solidFill>
              <a:srgbClr val="E1E5EE"/>
            </a:solidFill>
            <a:prstDash val="dash"/>
          </a:ln>
        </p:spPr>
      </p:sp>
      <p:sp>
        <p:nvSpPr>
          <p:cNvPr id="13" name="Text 10"/>
          <p:cNvSpPr txBox="1"/>
          <p:nvPr/>
        </p:nvSpPr>
        <p:spPr>
          <a:xfrm>
            <a:off x="6601968" y="4987974"/>
            <a:ext cx="4766767" cy="950976"/>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Mercekte de üç asal ışın vardır: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1</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eksene paralel gelir, kırıldıktan sonra odaktan geçer;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2</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merkezden geçer ve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hiç kırılmaz</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3</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odaktan geçerek gelir, kırıldıktan sonra eksene paralel olur. İkisi kesiştiği yerde görüntü oluşur. Işınlar gerçekten kesişiyorsa görüntü gerçektir ve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perdeye düşer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a:t>
            </a:r>
            <a:endParaRPr lang="en-US" sz="105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Cismi yaklaştır: ince kenarlı mercekte beş durum</a:t>
            </a:r>
            <a:endParaRPr lang="en-US" sz="29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3C8C21"/>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Cisim ince kenarlı merceğe yaklaştıkça görüntü uzaklaşır ve büyür: 2F'de eşit boyda, odakta yok, odak içinde sanal ve büyük olur. Kalın kenarlı mercekte görüntü her zaman sanal, düz ve küçüktür.</a:t>
            </a:r>
            <a:endParaRPr lang="en-US" sz="1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593238"/>
          <a:ext cx="6309360" cy="914400"/>
        </p:xfrm>
        <a:graphic>
          <a:graphicData uri="http://schemas.openxmlformats.org/drawingml/2006/table">
            <a:tbl>
              <a:tblPr/>
              <a:tblGrid>
                <a:gridCol w="1201783"/>
                <a:gridCol w="1502229"/>
                <a:gridCol w="1902823"/>
                <a:gridCol w="1702526"/>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Cisim</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Görüntü</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Tür</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Alet</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2f dışında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f – 2f arası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gerçek, ters, küçük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fotoğraf makinesi</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2f'de</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2f'de</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gerçek, ters, eşit</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fotokopi</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f – 2f arası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2f dışında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gerçek, ters, büyük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projeksiyon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Odakta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sonsuzda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görüntü oluşmaz</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projektör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Odak içinde</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cisim tarafında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sanal, düz, büyük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büyüteç</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7"/>
          <p:cNvSpPr/>
          <p:nvPr/>
        </p:nvSpPr>
        <p:spPr>
          <a:xfrm>
            <a:off x="640080" y="4751222"/>
            <a:ext cx="6309360" cy="1085850"/>
          </a:xfrm>
          <a:prstGeom prst="roundRect">
            <a:avLst>
              <a:gd name="adj" fmla="val 1010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8"/>
          <p:cNvSpPr/>
          <p:nvPr/>
        </p:nvSpPr>
        <p:spPr>
          <a:xfrm>
            <a:off x="658368" y="4897526"/>
            <a:ext cx="45720" cy="793242"/>
          </a:xfrm>
          <a:prstGeom prst="rect">
            <a:avLst/>
          </a:prstGeom>
          <a:solidFill>
            <a:srgbClr val="3C8C21"/>
          </a:solidFill>
          <a:ln/>
        </p:spPr>
      </p:sp>
      <p:sp>
        <p:nvSpPr>
          <p:cNvPr id="12" name="Text 9"/>
          <p:cNvSpPr txBox="1"/>
          <p:nvPr/>
        </p:nvSpPr>
        <p:spPr>
          <a:xfrm>
            <a:off x="914400" y="4860950"/>
            <a:ext cx="5852160" cy="866394"/>
          </a:xfrm>
          <a:prstGeom prst="rect">
            <a:avLst/>
          </a:prstGeom>
          <a:noFill/>
          <a:ln/>
        </p:spPr>
        <p:txBody>
          <a:bodyPr wrap="square" lIns="0" tIns="0" rIns="0" bIns="0" rtlCol="0" anchor="ctr"/>
          <a:lstStyle/>
          <a:p>
            <a:pPr indent="0" marL="0">
              <a:lnSpc>
                <a:spcPct val="112000"/>
              </a:lnSpc>
              <a:buNone/>
            </a:pPr>
            <a:r>
              <a:rPr lang="en-US" sz="1300" b="1" dirty="0">
                <a:solidFill>
                  <a:srgbClr val="0E1426"/>
                </a:solidFill>
                <a:latin typeface="Calibri" pitchFamily="34" charset="0"/>
                <a:ea typeface="Calibri" pitchFamily="34" charset="-122"/>
                <a:cs typeface="Calibri" pitchFamily="34" charset="-120"/>
              </a:rPr>
              <a:t>Kalın kenarlı mercekte beş durum yoktur.</a:t>
            </a:r>
            <a:pPr indent="0" marL="0">
              <a:lnSpc>
                <a:spcPct val="112000"/>
              </a:lnSpc>
              <a:buNone/>
            </a:pPr>
            <a:r>
              <a:rPr lang="en-US" sz="1300" dirty="0">
                <a:solidFill>
                  <a:srgbClr val="4A5470"/>
                </a:solidFill>
                <a:latin typeface="Calibri" pitchFamily="34" charset="0"/>
                <a:ea typeface="Calibri" pitchFamily="34" charset="-122"/>
                <a:cs typeface="Calibri" pitchFamily="34" charset="-120"/>
              </a:rPr>
              <a:t> Havadaki kalın kenarlı mercekte cisim nerede olursa olsun görüntü sanal, düz ve küçüktür; odak ile mercek arasında, cisimle aynı tarafta oluşur.</a:t>
            </a:r>
            <a:endParaRPr lang="en-US" sz="1300" dirty="0"/>
          </a:p>
        </p:txBody>
      </p:sp>
      <p:sp>
        <p:nvSpPr>
          <p:cNvPr id="13" name="Shape 10"/>
          <p:cNvSpPr/>
          <p:nvPr/>
        </p:nvSpPr>
        <p:spPr>
          <a:xfrm>
            <a:off x="7242048" y="2593238"/>
            <a:ext cx="4309567" cy="3533242"/>
          </a:xfrm>
          <a:prstGeom prst="roundRect">
            <a:avLst>
              <a:gd name="adj" fmla="val 4141"/>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4" name="Image 0" descr="/tmp/claude-1000/-opt-dersler/8a8328c3-841c-44fa-b76f-82572d338d3d/scratchpad/d5/sek/mercekler-03.png">    </p:cNvPr>
          <p:cNvPicPr>
            <a:picLocks noChangeAspect="1"/>
          </p:cNvPicPr>
          <p:nvPr/>
        </p:nvPicPr>
        <p:blipFill>
          <a:blip r:embed="rId1"/>
          <a:stretch>
            <a:fillRect/>
          </a:stretch>
        </p:blipFill>
        <p:spPr>
          <a:xfrm>
            <a:off x="7828781" y="2776118"/>
            <a:ext cx="3136101" cy="1711757"/>
          </a:xfrm>
          <a:prstGeom prst="rect">
            <a:avLst/>
          </a:prstGeom>
        </p:spPr>
      </p:pic>
      <p:sp>
        <p:nvSpPr>
          <p:cNvPr id="15" name="Shape 11"/>
          <p:cNvSpPr/>
          <p:nvPr/>
        </p:nvSpPr>
        <p:spPr>
          <a:xfrm>
            <a:off x="7424928" y="4579315"/>
            <a:ext cx="3943807" cy="0"/>
          </a:xfrm>
          <a:prstGeom prst="line">
            <a:avLst/>
          </a:prstGeom>
          <a:noFill/>
          <a:ln w="9525">
            <a:solidFill>
              <a:srgbClr val="E1E5EE"/>
            </a:solidFill>
            <a:prstDash val="dash"/>
          </a:ln>
        </p:spPr>
      </p:sp>
      <p:sp>
        <p:nvSpPr>
          <p:cNvPr id="16" name="Text 12"/>
          <p:cNvSpPr txBox="1"/>
          <p:nvPr/>
        </p:nvSpPr>
        <p:spPr>
          <a:xfrm>
            <a:off x="7424928" y="4634179"/>
            <a:ext cx="3943807" cy="1309421"/>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Cisim mercekten uzakken görüntü küçük ve gerçektir —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fotoğraf makinesi</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böyle çalışır. Cismi yaklaştırdıkça görüntü büyür ve uzaklaşır; f ile 2f arasında büyütülmüş gerçek görüntü verir —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projeksiyon</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Odakta ışınlar paralelleşir, görüntü oluşmaz —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projektör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Odağın içine girildiğinde görüntü sanal, düz ve büyük olur —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büyüteç</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Beş satır, beş optik alet.</a:t>
            </a:r>
            <a:endParaRPr lang="en-US" sz="1050" dirty="0"/>
          </a:p>
        </p:txBody>
      </p:sp>
      <p:sp>
        <p:nvSpPr>
          <p:cNvPr id="17" name="Shape 13"/>
          <p:cNvSpPr/>
          <p:nvPr/>
        </p:nvSpPr>
        <p:spPr>
          <a:xfrm>
            <a:off x="640080" y="6382512"/>
            <a:ext cx="128016" cy="128016"/>
          </a:xfrm>
          <a:prstGeom prst="roundRect">
            <a:avLst>
              <a:gd name="adj" fmla="val 28571"/>
            </a:avLst>
          </a:prstGeom>
          <a:solidFill>
            <a:srgbClr val="A9E648"/>
          </a:solidFill>
          <a:ln/>
        </p:spPr>
      </p:sp>
      <p:sp>
        <p:nvSpPr>
          <p:cNvPr id="18" name="Text 1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9" name="Text 1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görüntünün yerini ve boyunu mercek denklemiyle hesapla, gücü diyoptriyle ölç ve gözün kusurlarını sayılarla düzelt.</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Mercek denklemi: görüntüyü hesapla bul</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Sayılarla hisset: cisim yaklaşınca görüntü nereye kaçar?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Mercek gücü: diyoptri</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Göz: odağını kendisi ayarlayan mercek</a:t>
            </a:r>
            <a:endParaRPr lang="en-US" sz="1300" dirty="0"/>
          </a:p>
        </p:txBody>
      </p:sp>
      <p:sp>
        <p:nvSpPr>
          <p:cNvPr id="10" name="Text 8"/>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1" name="Shape 9"/>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2" name="Text 10"/>
          <p:cNvSpPr txBox="1"/>
          <p:nvPr/>
        </p:nvSpPr>
        <p:spPr>
          <a:xfrm>
            <a:off x="6400800" y="1481328"/>
            <a:ext cx="205740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1/f = 1/a + 1/b</a:t>
            </a:r>
            <a:endParaRPr lang="en-US" sz="1500" dirty="0"/>
          </a:p>
        </p:txBody>
      </p:sp>
      <p:sp>
        <p:nvSpPr>
          <p:cNvPr id="13" name="Text 11"/>
          <p:cNvSpPr txBox="1"/>
          <p:nvPr/>
        </p:nvSpPr>
        <p:spPr>
          <a:xfrm>
            <a:off x="8549640" y="1481328"/>
            <a:ext cx="281909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mercek denklemi</a:t>
            </a:r>
            <a:endParaRPr lang="en-US" sz="1200" dirty="0"/>
          </a:p>
        </p:txBody>
      </p:sp>
      <p:sp>
        <p:nvSpPr>
          <p:cNvPr id="14" name="Shape 12"/>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5" name="Text 13"/>
          <p:cNvSpPr txBox="1"/>
          <p:nvPr/>
        </p:nvSpPr>
        <p:spPr>
          <a:xfrm>
            <a:off x="6400800" y="235000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m = |b / a|</a:t>
            </a:r>
            <a:endParaRPr lang="en-US" sz="1500" dirty="0"/>
          </a:p>
        </p:txBody>
      </p:sp>
      <p:sp>
        <p:nvSpPr>
          <p:cNvPr id="16" name="Text 14"/>
          <p:cNvSpPr txBox="1"/>
          <p:nvPr/>
        </p:nvSpPr>
        <p:spPr>
          <a:xfrm>
            <a:off x="8138160" y="235000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büyütme</a:t>
            </a:r>
            <a:endParaRPr lang="en-US" sz="1200" dirty="0"/>
          </a:p>
        </p:txBody>
      </p:sp>
      <p:sp>
        <p:nvSpPr>
          <p:cNvPr id="17" name="Shape 15"/>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8" name="Text 16"/>
          <p:cNvSpPr txBox="1"/>
          <p:nvPr/>
        </p:nvSpPr>
        <p:spPr>
          <a:xfrm>
            <a:off x="6400800" y="3218688"/>
            <a:ext cx="170078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P = 1 / f(m)</a:t>
            </a:r>
            <a:endParaRPr lang="en-US" sz="1500" dirty="0"/>
          </a:p>
        </p:txBody>
      </p:sp>
      <p:sp>
        <p:nvSpPr>
          <p:cNvPr id="19" name="Text 17"/>
          <p:cNvSpPr txBox="1"/>
          <p:nvPr/>
        </p:nvSpPr>
        <p:spPr>
          <a:xfrm>
            <a:off x="8193024" y="3218688"/>
            <a:ext cx="317571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diyoptri</a:t>
            </a:r>
            <a:endParaRPr lang="en-US" sz="1200" dirty="0"/>
          </a:p>
        </p:txBody>
      </p:sp>
      <p:sp>
        <p:nvSpPr>
          <p:cNvPr id="20" name="Shape 18"/>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1" name="Text 19"/>
          <p:cNvSpPr txBox="1"/>
          <p:nvPr/>
        </p:nvSpPr>
        <p:spPr>
          <a:xfrm>
            <a:off x="6400800" y="4087368"/>
            <a:ext cx="1819656"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b &lt; 0 → sanal</a:t>
            </a:r>
            <a:endParaRPr lang="en-US" sz="1500" dirty="0"/>
          </a:p>
        </p:txBody>
      </p:sp>
      <p:sp>
        <p:nvSpPr>
          <p:cNvPr id="22" name="Text 20"/>
          <p:cNvSpPr txBox="1"/>
          <p:nvPr/>
        </p:nvSpPr>
        <p:spPr>
          <a:xfrm>
            <a:off x="8311896" y="4087368"/>
            <a:ext cx="3056839"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cisimle aynı tarafta</a:t>
            </a:r>
            <a:endParaRPr lang="en-US" sz="1200" dirty="0"/>
          </a:p>
        </p:txBody>
      </p:sp>
      <p:sp>
        <p:nvSpPr>
          <p:cNvPr id="23" name="Shape 21"/>
          <p:cNvSpPr/>
          <p:nvPr/>
        </p:nvSpPr>
        <p:spPr>
          <a:xfrm>
            <a:off x="640080" y="6382512"/>
            <a:ext cx="128016" cy="128016"/>
          </a:xfrm>
          <a:prstGeom prst="roundRect">
            <a:avLst>
              <a:gd name="adj" fmla="val 28571"/>
            </a:avLst>
          </a:prstGeom>
          <a:solidFill>
            <a:srgbClr val="C6F36B"/>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dersler.perinet.org/mercekler.html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Mercek denklemi: görüntüyü hesapla bul</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2957D4"/>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Görüntünün yeri 1/f = 1/a + 1/b, büyütmesi m = |b/a| ile bulunur; ikisi de benzer üçgenlerden çıkar. b pozitifse görüntü gerçek, negatifse sanaldır.</a:t>
            </a:r>
            <a:endParaRPr lang="en-US" sz="1900" dirty="0"/>
          </a:p>
        </p:txBody>
      </p:sp>
      <p:sp>
        <p:nvSpPr>
          <p:cNvPr id="9" name="Shape 7"/>
          <p:cNvSpPr/>
          <p:nvPr/>
        </p:nvSpPr>
        <p:spPr>
          <a:xfrm>
            <a:off x="640080" y="2294534"/>
            <a:ext cx="1938528"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294534"/>
            <a:ext cx="193852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1/f = 1/a + 1/b</a:t>
            </a:r>
            <a:endParaRPr lang="en-US" sz="1300" dirty="0"/>
          </a:p>
        </p:txBody>
      </p:sp>
      <p:sp>
        <p:nvSpPr>
          <p:cNvPr id="11" name="Shape 9"/>
          <p:cNvSpPr/>
          <p:nvPr/>
        </p:nvSpPr>
        <p:spPr>
          <a:xfrm>
            <a:off x="2688336" y="2294534"/>
            <a:ext cx="1543507"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688336" y="2294534"/>
            <a:ext cx="1543507"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m = |b / a|</a:t>
            </a:r>
            <a:endParaRPr lang="en-US" sz="1300" dirty="0"/>
          </a:p>
        </p:txBody>
      </p:sp>
      <p:sp>
        <p:nvSpPr>
          <p:cNvPr id="13" name="Text 11"/>
          <p:cNvSpPr txBox="1"/>
          <p:nvPr/>
        </p:nvSpPr>
        <p:spPr>
          <a:xfrm>
            <a:off x="640080" y="2952902"/>
            <a:ext cx="6675120" cy="274320"/>
          </a:xfrm>
          <a:prstGeom prst="rect">
            <a:avLst/>
          </a:prstGeom>
          <a:noFill/>
          <a:ln/>
        </p:spPr>
        <p:txBody>
          <a:bodyPr wrap="square" lIns="0" tIns="0" rIns="0" bIns="0" rtlCol="0" anchor="ctr"/>
          <a:lstStyle/>
          <a:p>
            <a:pPr indent="0" marL="0">
              <a:buNone/>
            </a:pPr>
            <a:r>
              <a:rPr lang="en-US" sz="1350" b="1" dirty="0">
                <a:solidFill>
                  <a:srgbClr val="2957D4"/>
                </a:solidFill>
                <a:latin typeface="Calibri" pitchFamily="34" charset="0"/>
                <a:ea typeface="Calibri" pitchFamily="34" charset="-122"/>
                <a:cs typeface="Calibri" pitchFamily="34" charset="-120"/>
              </a:rPr>
              <a:t>Denklem nereden geliyor?</a:t>
            </a:r>
            <a:endParaRPr lang="en-US" sz="1350" dirty="0"/>
          </a:p>
        </p:txBody>
      </p:sp>
      <p:sp>
        <p:nvSpPr>
          <p:cNvPr id="14" name="Text 12"/>
          <p:cNvSpPr txBox="1"/>
          <p:nvPr/>
        </p:nvSpPr>
        <p:spPr>
          <a:xfrm>
            <a:off x="640080" y="3263798"/>
            <a:ext cx="6675120" cy="1850898"/>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Merkezden geçen ışın</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sapmaz. Cisim ve görüntü tarafındaki iki üçgen benzerdir: boy(görüntü) / boy(cisim) = b / a.</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Paralel gelen ışın</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odaktan geçer; odağın iki yanında iki benzer üçgen kurar: boy(görüntü) / boy(cisim) = (b − f) / f.</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İki oranı eşitle:</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b / a = (b − f) / f → b·f = a·b − a·f.</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Her terimi a·b·f'ye böl:</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1/a = 1/f − 1/b, yani </a:t>
            </a:r>
            <a:pPr indent="0" marL="0">
              <a:lnSpc>
                <a:spcPct val="115000"/>
              </a:lnSpc>
              <a:buNone/>
            </a:pPr>
            <a:r>
              <a:rPr lang="en-US" sz="1300" b="1" dirty="0">
                <a:solidFill>
                  <a:srgbClr val="0E1426"/>
                </a:solidFill>
                <a:latin typeface="Calibri" pitchFamily="34" charset="0"/>
                <a:ea typeface="Calibri" pitchFamily="34" charset="-122"/>
                <a:cs typeface="Calibri" pitchFamily="34" charset="-120"/>
              </a:rPr>
              <a:t>1/f = 1/a + 1/b</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Büyütme de ilk adımdan gelir: m = |b / a|.</a:t>
            </a:r>
            <a:endParaRPr lang="en-US" sz="1300" dirty="0"/>
          </a:p>
        </p:txBody>
      </p:sp>
      <p:sp>
        <p:nvSpPr>
          <p:cNvPr id="15" name="Shape 13"/>
          <p:cNvSpPr/>
          <p:nvPr/>
        </p:nvSpPr>
        <p:spPr>
          <a:xfrm>
            <a:off x="7607808" y="2294534"/>
            <a:ext cx="3943807" cy="3073481"/>
          </a:xfrm>
          <a:prstGeom prst="roundRect">
            <a:avLst>
              <a:gd name="adj" fmla="val 476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6" name="Image 0" descr="/tmp/claude-1000/-opt-dersler/8a8328c3-841c-44fa-b76f-82572d338d3d/scratchpad/d5/sek/mercekler-04.png">    </p:cNvPr>
          <p:cNvPicPr>
            <a:picLocks noChangeAspect="1"/>
          </p:cNvPicPr>
          <p:nvPr/>
        </p:nvPicPr>
        <p:blipFill>
          <a:blip r:embed="rId1"/>
          <a:stretch>
            <a:fillRect/>
          </a:stretch>
        </p:blipFill>
        <p:spPr>
          <a:xfrm>
            <a:off x="7790688" y="2477414"/>
            <a:ext cx="3578047" cy="1431219"/>
          </a:xfrm>
          <a:prstGeom prst="rect">
            <a:avLst/>
          </a:prstGeom>
        </p:spPr>
      </p:pic>
      <p:sp>
        <p:nvSpPr>
          <p:cNvPr id="17" name="Shape 14"/>
          <p:cNvSpPr/>
          <p:nvPr/>
        </p:nvSpPr>
        <p:spPr>
          <a:xfrm>
            <a:off x="7790688" y="4000073"/>
            <a:ext cx="3578047" cy="0"/>
          </a:xfrm>
          <a:prstGeom prst="line">
            <a:avLst/>
          </a:prstGeom>
          <a:noFill/>
          <a:ln w="9525">
            <a:solidFill>
              <a:srgbClr val="E1E5EE"/>
            </a:solidFill>
            <a:prstDash val="dash"/>
          </a:ln>
        </p:spPr>
      </p:sp>
      <p:sp>
        <p:nvSpPr>
          <p:cNvPr id="18" name="Text 15"/>
          <p:cNvSpPr txBox="1"/>
          <p:nvPr/>
        </p:nvSpPr>
        <p:spPr>
          <a:xfrm>
            <a:off x="7790688" y="4054937"/>
            <a:ext cx="3578047" cy="1130198"/>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Mercek denklemi aynanınkiyle aynı biçimdedir, yalnız "arka taraf" tanımı değişir: görüntü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merceğin öbür tarafında</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çıkıyorsa gerçektir (b &gt; 0),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cisimle aynı tarafta</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çıkıyorsa sanaldır (b &lt; 0). Hesapta b negatif çıkması hata değil, görüntünün sanal olduğunun işaretidir — büyüteçte her zaman böyle olur.</a:t>
            </a:r>
            <a:endParaRPr lang="en-US" sz="1050" dirty="0"/>
          </a:p>
        </p:txBody>
      </p:sp>
      <p:sp>
        <p:nvSpPr>
          <p:cNvPr id="19" name="Shape 16"/>
          <p:cNvSpPr/>
          <p:nvPr/>
        </p:nvSpPr>
        <p:spPr>
          <a:xfrm>
            <a:off x="640080" y="6382512"/>
            <a:ext cx="128016" cy="128016"/>
          </a:xfrm>
          <a:prstGeom prst="roundRect">
            <a:avLst>
              <a:gd name="adj" fmla="val 28571"/>
            </a:avLst>
          </a:prstGeom>
          <a:solidFill>
            <a:srgbClr val="A9E648"/>
          </a:solidFill>
          <a:ln/>
        </p:spPr>
      </p:sp>
      <p:sp>
        <p:nvSpPr>
          <p:cNvPr id="20"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21"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Mercek denklemi: görüntüyü hesapla bul · devam</a:t>
            </a:r>
            <a:endParaRPr lang="en-US" sz="31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Text 4"/>
          <p:cNvSpPr txBox="1"/>
          <p:nvPr/>
        </p:nvSpPr>
        <p:spPr>
          <a:xfrm>
            <a:off x="640080" y="1481328"/>
            <a:ext cx="10911535" cy="875538"/>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İnce kenarlı:</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f pozitif. </a:t>
            </a:r>
            <a:pPr indent="0" marL="0">
              <a:lnSpc>
                <a:spcPct val="115000"/>
              </a:lnSpc>
              <a:buNone/>
            </a:pPr>
            <a:r>
              <a:rPr lang="en-US" sz="1300" b="1" dirty="0">
                <a:solidFill>
                  <a:srgbClr val="0E1426"/>
                </a:solidFill>
                <a:latin typeface="Calibri" pitchFamily="34" charset="0"/>
                <a:ea typeface="Calibri" pitchFamily="34" charset="-122"/>
                <a:cs typeface="Calibri" pitchFamily="34" charset="-120"/>
              </a:rPr>
              <a:t>Kalın kenarlı:</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f negatif.</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b pozitif:</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görüntü merceğin öbür tarafında, </a:t>
            </a:r>
            <a:pPr indent="0" marL="0">
              <a:lnSpc>
                <a:spcPct val="115000"/>
              </a:lnSpc>
              <a:buNone/>
            </a:pPr>
            <a:r>
              <a:rPr lang="en-US" sz="1300" b="1" dirty="0">
                <a:solidFill>
                  <a:srgbClr val="0E1426"/>
                </a:solidFill>
                <a:latin typeface="Calibri" pitchFamily="34" charset="0"/>
                <a:ea typeface="Calibri" pitchFamily="34" charset="-122"/>
                <a:cs typeface="Calibri" pitchFamily="34" charset="-120"/>
              </a:rPr>
              <a:t>gerçek</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(perdeye düşer).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b negatif:</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görüntü cisimle aynı tarafta, </a:t>
            </a:r>
            <a:pPr indent="0" marL="0">
              <a:lnSpc>
                <a:spcPct val="115000"/>
              </a:lnSpc>
              <a:buNone/>
            </a:pPr>
            <a:r>
              <a:rPr lang="en-US" sz="1300" b="1" dirty="0">
                <a:solidFill>
                  <a:srgbClr val="0E1426"/>
                </a:solidFill>
                <a:latin typeface="Calibri" pitchFamily="34" charset="0"/>
                <a:ea typeface="Calibri" pitchFamily="34" charset="-122"/>
                <a:cs typeface="Calibri" pitchFamily="34" charset="-120"/>
              </a:rPr>
              <a:t>sanal</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a:t>
            </a:r>
            <a:endParaRPr lang="en-US" sz="1300" dirty="0"/>
          </a:p>
        </p:txBody>
      </p:sp>
      <p:sp>
        <p:nvSpPr>
          <p:cNvPr id="7" name="Shape 5"/>
          <p:cNvSpPr/>
          <p:nvPr/>
        </p:nvSpPr>
        <p:spPr>
          <a:xfrm>
            <a:off x="640080" y="2466594"/>
            <a:ext cx="10911535" cy="822960"/>
          </a:xfrm>
          <a:prstGeom prst="roundRect">
            <a:avLst>
              <a:gd name="adj" fmla="val 1333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58368" y="2612898"/>
            <a:ext cx="45720" cy="530352"/>
          </a:xfrm>
          <a:prstGeom prst="rect">
            <a:avLst/>
          </a:prstGeom>
          <a:solidFill>
            <a:srgbClr val="3C8C21"/>
          </a:solidFill>
          <a:ln/>
        </p:spPr>
      </p:sp>
      <p:sp>
        <p:nvSpPr>
          <p:cNvPr id="9" name="Text 7"/>
          <p:cNvSpPr txBox="1"/>
          <p:nvPr/>
        </p:nvSpPr>
        <p:spPr>
          <a:xfrm>
            <a:off x="914400" y="2576322"/>
            <a:ext cx="10454335" cy="603504"/>
          </a:xfrm>
          <a:prstGeom prst="rect">
            <a:avLst/>
          </a:prstGeom>
          <a:noFill/>
          <a:ln/>
        </p:spPr>
        <p:txBody>
          <a:bodyPr wrap="square" lIns="0" tIns="0" rIns="0" bIns="0" rtlCol="0" anchor="ctr"/>
          <a:lstStyle/>
          <a:p>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Aynalarla aynı denklem.</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Küresel aynalarda da 1/f = 1/a + 1/b kullanılır. Fark, görüntünün oluştuğu taraftadır: aynada yansıma, mercekte kırılma vardır.</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Sayılarla hisset: cisim yaklaşınca görüntü nereye kaçar?</a:t>
            </a:r>
            <a:endParaRPr lang="en-US" sz="25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f = 30 cm'lik mercekte cisim 120, 60 ve 40 cm'deyken görüntü 40, 60 ve 120 cm'de oluşur; a ile b yer değiştirebilir. Odağa yaklaştıkça görüntü hızla kaçar, çünkü (a − f)(b − f) = f² sabittir.</a:t>
            </a:r>
            <a:endParaRPr lang="en-US" sz="18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2593238"/>
          <a:ext cx="10911535" cy="914400"/>
        </p:xfrm>
        <a:graphic>
          <a:graphicData uri="http://schemas.openxmlformats.org/drawingml/2006/table">
            <a:tbl>
              <a:tblPr/>
              <a:tblGrid>
                <a:gridCol w="3398675"/>
                <a:gridCol w="2862042"/>
                <a:gridCol w="4650818"/>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Cisim uzaklığı</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Görüntü uzaklığı</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Büyütme ve tür</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120 cm · fotoğraf</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40 cm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0,33 · gerçek, ters, küçük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60 cm · fotokopi</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60 cm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 · gerçek, ters, eşit</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40 cm · projeksiyon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120 cm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3 · gerçek, ters, büyük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30 cm · odakta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sonsuz</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görüntü oluşmaz</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18 cm · büyüteç</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−45 cm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2,5 · sanal, düz, büyük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7"/>
          <p:cNvSpPr/>
          <p:nvPr/>
        </p:nvSpPr>
        <p:spPr>
          <a:xfrm>
            <a:off x="640080" y="4751222"/>
            <a:ext cx="2629814" cy="457200"/>
          </a:xfrm>
          <a:prstGeom prst="roundRect">
            <a:avLst>
              <a:gd name="adj" fmla="val 24000"/>
            </a:avLst>
          </a:prstGeom>
          <a:solidFill>
            <a:srgbClr val="EEF2FC"/>
          </a:solidFill>
          <a:ln w="9525">
            <a:solidFill>
              <a:srgbClr val="CBD7F4"/>
            </a:solidFill>
            <a:prstDash val="solid"/>
          </a:ln>
        </p:spPr>
      </p:sp>
      <p:sp>
        <p:nvSpPr>
          <p:cNvPr id="11" name="Text 8"/>
          <p:cNvSpPr txBox="1"/>
          <p:nvPr/>
        </p:nvSpPr>
        <p:spPr>
          <a:xfrm>
            <a:off x="640080" y="4751222"/>
            <a:ext cx="2629814"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(a − f) · (b − f) = f²</a:t>
            </a:r>
            <a:endParaRPr lang="en-US" sz="13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f = 30 cm'lik mercekte cisim 60 cm'den 40 cm'ye, 20 cm yaklaşıyor. Görüntü de 20 cm mi uzaklaşır?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06 · Sayılarla hisset: cisim yaklaşınca görüntü nereye kaçar?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f = 30 cm'lik mercekte cisim 60 cm'den 40 cm'ye, 20 cm yaklaşıyor. Görüntü de 20 cm mi uzaklaşır?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Hayır,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60 cm</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uzaklaşır: görüntü 60 cm'den 120 cm'ye çıkar. Odağa yaklaştıkça cismin küçük bir kayması görüntüyü çok uzağa taşır; ilişki doğrusal değil, (a − f)·(b − f) = f² gibi bir ters orantıdır.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Mercek gücü: diyoptri</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869290"/>
          </a:xfrm>
          <a:prstGeom prst="roundRect">
            <a:avLst>
              <a:gd name="adj" fmla="val 12623"/>
            </a:avLst>
          </a:prstGeom>
          <a:solidFill>
            <a:srgbClr val="F8F9FC"/>
          </a:solidFill>
          <a:ln w="9525">
            <a:solidFill>
              <a:srgbClr val="E1E5EE"/>
            </a:solidFill>
            <a:prstDash val="solid"/>
          </a:ln>
        </p:spPr>
      </p:sp>
      <p:sp>
        <p:nvSpPr>
          <p:cNvPr id="7" name="Shape 5"/>
          <p:cNvSpPr/>
          <p:nvPr/>
        </p:nvSpPr>
        <p:spPr>
          <a:xfrm>
            <a:off x="658368" y="1298448"/>
            <a:ext cx="54864" cy="649834"/>
          </a:xfrm>
          <a:prstGeom prst="rect">
            <a:avLst/>
          </a:prstGeom>
          <a:solidFill>
            <a:srgbClr val="2957D4"/>
          </a:solidFill>
          <a:ln/>
        </p:spPr>
      </p:sp>
      <p:sp>
        <p:nvSpPr>
          <p:cNvPr id="8" name="Text 6"/>
          <p:cNvSpPr txBox="1"/>
          <p:nvPr/>
        </p:nvSpPr>
        <p:spPr>
          <a:xfrm>
            <a:off x="932688" y="1234440"/>
            <a:ext cx="10454335" cy="777850"/>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Mercek gücü odak uzaklığının tersidir: P = 1/f, f metre cinsinden, birimi diyoptri. İnce kenarlıda artı, kalın kenarlıda eksidir; bitişik merceklerin güçleri toplanır.</a:t>
            </a:r>
            <a:endParaRPr lang="en-US" sz="1850" dirty="0"/>
          </a:p>
        </p:txBody>
      </p:sp>
      <p:sp>
        <p:nvSpPr>
          <p:cNvPr id="9" name="Shape 7"/>
          <p:cNvSpPr/>
          <p:nvPr/>
        </p:nvSpPr>
        <p:spPr>
          <a:xfrm>
            <a:off x="640080" y="2277466"/>
            <a:ext cx="1345997"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277466"/>
            <a:ext cx="1345997"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P = 1 / f</a:t>
            </a:r>
            <a:endParaRPr lang="en-US" sz="1300" dirty="0"/>
          </a:p>
        </p:txBody>
      </p:sp>
      <p:sp>
        <p:nvSpPr>
          <p:cNvPr id="11" name="Shape 9"/>
          <p:cNvSpPr/>
          <p:nvPr/>
        </p:nvSpPr>
        <p:spPr>
          <a:xfrm>
            <a:off x="2095805" y="2277466"/>
            <a:ext cx="2136038"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095805" y="2277466"/>
            <a:ext cx="213603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f metre cinsinden</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2899258"/>
          <a:ext cx="5486400" cy="914400"/>
        </p:xfrm>
        <a:graphic>
          <a:graphicData uri="http://schemas.openxmlformats.org/drawingml/2006/table">
            <a:tbl>
              <a:tblPr/>
              <a:tblGrid>
                <a:gridCol w="2239347"/>
                <a:gridCol w="1679510"/>
                <a:gridCol w="1567543"/>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Mercek</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Odak uzaklığı</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Güç</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Hafif okuma gözlüğü</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+100 cm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 D</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Hipermetrop gözlüğü</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+50 cm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 D</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Miyop gözlüğü</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−40 cm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−2,5 D</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Büyüteç</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+10 cm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+10 D</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İnsan gözünün tamamı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yaklaşık 1,7 cm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yaklaşık +60 D</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4" name="Shape 11"/>
          <p:cNvSpPr/>
          <p:nvPr/>
        </p:nvSpPr>
        <p:spPr>
          <a:xfrm>
            <a:off x="640080" y="5057242"/>
            <a:ext cx="1543507" cy="457200"/>
          </a:xfrm>
          <a:prstGeom prst="roundRect">
            <a:avLst>
              <a:gd name="adj" fmla="val 24000"/>
            </a:avLst>
          </a:prstGeom>
          <a:solidFill>
            <a:srgbClr val="EEF2FC"/>
          </a:solidFill>
          <a:ln w="9525">
            <a:solidFill>
              <a:srgbClr val="CBD7F4"/>
            </a:solidFill>
            <a:prstDash val="solid"/>
          </a:ln>
        </p:spPr>
      </p:sp>
      <p:sp>
        <p:nvSpPr>
          <p:cNvPr id="15" name="Text 12"/>
          <p:cNvSpPr txBox="1"/>
          <p:nvPr/>
        </p:nvSpPr>
        <p:spPr>
          <a:xfrm>
            <a:off x="640080" y="5057242"/>
            <a:ext cx="1543507"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P = P₁ + P₂</a:t>
            </a:r>
            <a:endParaRPr lang="en-US" sz="1300" dirty="0"/>
          </a:p>
        </p:txBody>
      </p:sp>
      <p:sp>
        <p:nvSpPr>
          <p:cNvPr id="16" name="Shape 13"/>
          <p:cNvSpPr/>
          <p:nvPr/>
        </p:nvSpPr>
        <p:spPr>
          <a:xfrm>
            <a:off x="2293315" y="5057242"/>
            <a:ext cx="2827325" cy="457200"/>
          </a:xfrm>
          <a:prstGeom prst="roundRect">
            <a:avLst>
              <a:gd name="adj" fmla="val 24000"/>
            </a:avLst>
          </a:prstGeom>
          <a:solidFill>
            <a:srgbClr val="EEF2FC"/>
          </a:solidFill>
          <a:ln w="9525">
            <a:solidFill>
              <a:srgbClr val="CBD7F4"/>
            </a:solidFill>
            <a:prstDash val="solid"/>
          </a:ln>
        </p:spPr>
      </p:sp>
      <p:sp>
        <p:nvSpPr>
          <p:cNvPr id="17" name="Text 14"/>
          <p:cNvSpPr txBox="1"/>
          <p:nvPr/>
        </p:nvSpPr>
        <p:spPr>
          <a:xfrm>
            <a:off x="2293315" y="5057242"/>
            <a:ext cx="2827325"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(bitişik ince mercekler)</a:t>
            </a:r>
            <a:endParaRPr lang="en-US" sz="1300" dirty="0"/>
          </a:p>
        </p:txBody>
      </p:sp>
      <p:sp>
        <p:nvSpPr>
          <p:cNvPr id="18" name="Shape 15"/>
          <p:cNvSpPr/>
          <p:nvPr/>
        </p:nvSpPr>
        <p:spPr>
          <a:xfrm>
            <a:off x="6419088" y="2277466"/>
            <a:ext cx="5132527" cy="3369747"/>
          </a:xfrm>
          <a:prstGeom prst="roundRect">
            <a:avLst>
              <a:gd name="adj" fmla="val 434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9" name="Image 0" descr="/tmp/claude-1000/-opt-dersler/8a8328c3-841c-44fa-b76f-82572d338d3d/scratchpad/d5/sek/mercekler-05.png">    </p:cNvPr>
          <p:cNvPicPr>
            <a:picLocks noChangeAspect="1"/>
          </p:cNvPicPr>
          <p:nvPr/>
        </p:nvPicPr>
        <p:blipFill>
          <a:blip r:embed="rId1"/>
          <a:stretch>
            <a:fillRect/>
          </a:stretch>
        </p:blipFill>
        <p:spPr>
          <a:xfrm>
            <a:off x="6601968" y="2460346"/>
            <a:ext cx="4766767" cy="1906707"/>
          </a:xfrm>
          <a:prstGeom prst="rect">
            <a:avLst/>
          </a:prstGeom>
        </p:spPr>
      </p:pic>
      <p:sp>
        <p:nvSpPr>
          <p:cNvPr id="20" name="Shape 16"/>
          <p:cNvSpPr/>
          <p:nvPr/>
        </p:nvSpPr>
        <p:spPr>
          <a:xfrm>
            <a:off x="6601968" y="4458492"/>
            <a:ext cx="4766767" cy="0"/>
          </a:xfrm>
          <a:prstGeom prst="line">
            <a:avLst/>
          </a:prstGeom>
          <a:noFill/>
          <a:ln w="9525">
            <a:solidFill>
              <a:srgbClr val="E1E5EE"/>
            </a:solidFill>
            <a:prstDash val="dash"/>
          </a:ln>
        </p:spPr>
      </p:sp>
      <p:sp>
        <p:nvSpPr>
          <p:cNvPr id="21" name="Text 17"/>
          <p:cNvSpPr txBox="1"/>
          <p:nvPr/>
        </p:nvSpPr>
        <p:spPr>
          <a:xfrm>
            <a:off x="6601968" y="4513356"/>
            <a:ext cx="4766767" cy="950976"/>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Mercek gücü, odak uzaklığının tersidir: mercek ışığı ne kadar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keskin</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kırıyorsa gücü o kadar büyüktür. Odak uzaklığı yarıya inince güç iki katına çıkar. Gözlük numarası dediğimiz şey tam olarak budur: "−2,5 numara" demek, odak uzaklığı −40 cm olan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kalın kenarlı</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bir mercek demektir — eksi işareti merceğin ıraksak olduğunu söyler.</a:t>
            </a:r>
            <a:endParaRPr lang="en-US" sz="1050" dirty="0"/>
          </a:p>
        </p:txBody>
      </p:sp>
      <p:sp>
        <p:nvSpPr>
          <p:cNvPr id="22" name="Shape 18"/>
          <p:cNvSpPr/>
          <p:nvPr/>
        </p:nvSpPr>
        <p:spPr>
          <a:xfrm>
            <a:off x="640080" y="6382512"/>
            <a:ext cx="128016" cy="128016"/>
          </a:xfrm>
          <a:prstGeom prst="roundRect">
            <a:avLst>
              <a:gd name="adj" fmla="val 28571"/>
            </a:avLst>
          </a:prstGeom>
          <a:solidFill>
            <a:srgbClr val="A9E648"/>
          </a:solidFill>
          <a:ln/>
        </p:spPr>
      </p:sp>
      <p:sp>
        <p:nvSpPr>
          <p:cNvPr id="23"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24"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Göz: odağını kendisi ayarlayan mercek</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Göz, görüntüyü retinaya düşüren ve odağını ayarlayabilen bir mercektir. Miyop kalın kenarlı camla (P = −1/d), hipermetrop ince kenarlı camla (P = 4 − 1/d) düzeltilir; d metre cinsindendir.</a:t>
            </a:r>
            <a:endParaRPr lang="en-US" sz="1850" dirty="0"/>
          </a:p>
        </p:txBody>
      </p:sp>
      <p:sp>
        <p:nvSpPr>
          <p:cNvPr id="9" name="Text 7"/>
          <p:cNvSpPr txBox="1"/>
          <p:nvPr/>
        </p:nvSpPr>
        <p:spPr>
          <a:xfrm>
            <a:off x="640080" y="2593238"/>
            <a:ext cx="6675120" cy="2078736"/>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Miyop:</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Göz çok kırıcıdır ya da göz küresi uzundur; görüntü retinanın </a:t>
            </a:r>
            <a:pPr indent="0" marL="0">
              <a:lnSpc>
                <a:spcPct val="115000"/>
              </a:lnSpc>
              <a:buNone/>
            </a:pPr>
            <a:r>
              <a:rPr lang="en-US" sz="1300" b="1" dirty="0">
                <a:solidFill>
                  <a:srgbClr val="0E1426"/>
                </a:solidFill>
                <a:latin typeface="Calibri" pitchFamily="34" charset="0"/>
                <a:ea typeface="Calibri" pitchFamily="34" charset="-122"/>
                <a:cs typeface="Calibri" pitchFamily="34" charset="-120"/>
              </a:rPr>
              <a:t>önünde</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oluşur, uzak cisimler bulanık görünür. Kalın kenarlı (eksi numaralı) camla düzeltilir.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Hipermetrop:</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Göz yeterince kırıcı değildir; görüntü retinanın </a:t>
            </a:r>
            <a:pPr indent="0" marL="0">
              <a:lnSpc>
                <a:spcPct val="115000"/>
              </a:lnSpc>
              <a:buNone/>
            </a:pPr>
            <a:r>
              <a:rPr lang="en-US" sz="1300" b="1" dirty="0">
                <a:solidFill>
                  <a:srgbClr val="0E1426"/>
                </a:solidFill>
                <a:latin typeface="Calibri" pitchFamily="34" charset="0"/>
                <a:ea typeface="Calibri" pitchFamily="34" charset="-122"/>
                <a:cs typeface="Calibri" pitchFamily="34" charset="-120"/>
              </a:rPr>
              <a:t>arkasına</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düşer, yakın cisimler bulanık görünür. İnce kenarlı (artı numaralı) camla düzeltilir.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Astigmat:</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Kornea küresel değildir; silindirik camla düzeltilir.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Presbiyopi:</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Yaşla birlikte uyum yeteneğinin azalmasıdır.</a:t>
            </a:r>
            <a:endParaRPr lang="en-US" sz="1300" dirty="0"/>
          </a:p>
        </p:txBody>
      </p:sp>
      <p:sp>
        <p:nvSpPr>
          <p:cNvPr id="10" name="Shape 8"/>
          <p:cNvSpPr/>
          <p:nvPr/>
        </p:nvSpPr>
        <p:spPr>
          <a:xfrm>
            <a:off x="7607808" y="2593238"/>
            <a:ext cx="3943807" cy="3533242"/>
          </a:xfrm>
          <a:prstGeom prst="roundRect">
            <a:avLst>
              <a:gd name="adj" fmla="val 4141"/>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1" name="Image 0" descr="/tmp/claude-1000/-opt-dersler/8a8328c3-841c-44fa-b76f-82572d338d3d/scratchpad/d5/sek/mercekler-06.png">    </p:cNvPr>
          <p:cNvPicPr>
            <a:picLocks noChangeAspect="1"/>
          </p:cNvPicPr>
          <p:nvPr/>
        </p:nvPicPr>
        <p:blipFill>
          <a:blip r:embed="rId1"/>
          <a:stretch>
            <a:fillRect/>
          </a:stretch>
        </p:blipFill>
        <p:spPr>
          <a:xfrm>
            <a:off x="7994298" y="2776118"/>
            <a:ext cx="3170827" cy="1532534"/>
          </a:xfrm>
          <a:prstGeom prst="rect">
            <a:avLst/>
          </a:prstGeom>
        </p:spPr>
      </p:pic>
      <p:sp>
        <p:nvSpPr>
          <p:cNvPr id="12" name="Shape 9"/>
          <p:cNvSpPr/>
          <p:nvPr/>
        </p:nvSpPr>
        <p:spPr>
          <a:xfrm>
            <a:off x="7790688" y="4400093"/>
            <a:ext cx="3578047" cy="0"/>
          </a:xfrm>
          <a:prstGeom prst="line">
            <a:avLst/>
          </a:prstGeom>
          <a:noFill/>
          <a:ln w="9525">
            <a:solidFill>
              <a:srgbClr val="E1E5EE"/>
            </a:solidFill>
            <a:prstDash val="dash"/>
          </a:ln>
        </p:spPr>
      </p:sp>
      <p:sp>
        <p:nvSpPr>
          <p:cNvPr id="13" name="Text 10"/>
          <p:cNvSpPr txBox="1"/>
          <p:nvPr/>
        </p:nvSpPr>
        <p:spPr>
          <a:xfrm>
            <a:off x="7790688" y="4454957"/>
            <a:ext cx="3578047" cy="1488643"/>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Miyop gözde mercek fazla kırıcıdır (ya da göz küresi uzundur) ve görüntü retinaya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varmadan</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odaklanır; düzeltmek için ışığı biraz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dağıtan</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kalın kenarlı mercek takılır. Hipermetropta tam tersi olur: görüntü retinanın arkasına düşer ve ışığı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toplayan</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ince kenarlı mercek gerekir. Gözlük camı görüntüyü kendisi oluşturmaz; yalnızca gözün işini kolaylaştıracak kadar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ön düzeltme</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yapar.</a:t>
            </a:r>
            <a:endParaRPr lang="en-US" sz="105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Göz: odağını kendisi ayarlayan mercek · devam</a:t>
            </a:r>
            <a:endParaRPr lang="en-US" sz="31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Text 4"/>
          <p:cNvSpPr txBox="1"/>
          <p:nvPr/>
        </p:nvSpPr>
        <p:spPr>
          <a:xfrm>
            <a:off x="640080" y="1517904"/>
            <a:ext cx="10911535" cy="274320"/>
          </a:xfrm>
          <a:prstGeom prst="rect">
            <a:avLst/>
          </a:prstGeom>
          <a:noFill/>
          <a:ln/>
        </p:spPr>
        <p:txBody>
          <a:bodyPr wrap="square" lIns="0" tIns="0" rIns="0" bIns="0" rtlCol="0" anchor="ctr"/>
          <a:lstStyle/>
          <a:p>
            <a:pPr indent="0" marL="0">
              <a:buNone/>
            </a:pPr>
            <a:r>
              <a:rPr lang="en-US" sz="1350" b="1" dirty="0">
                <a:solidFill>
                  <a:srgbClr val="2957D4"/>
                </a:solidFill>
                <a:latin typeface="Calibri" pitchFamily="34" charset="0"/>
                <a:ea typeface="Calibri" pitchFamily="34" charset="-122"/>
                <a:cs typeface="Calibri" pitchFamily="34" charset="-120"/>
              </a:rPr>
              <a:t>Gözlük numarası nasıl hesaplanır?</a:t>
            </a:r>
            <a:endParaRPr lang="en-US" sz="1350" dirty="0"/>
          </a:p>
        </p:txBody>
      </p:sp>
      <p:sp>
        <p:nvSpPr>
          <p:cNvPr id="7" name="Text 5"/>
          <p:cNvSpPr txBox="1"/>
          <p:nvPr/>
        </p:nvSpPr>
        <p:spPr>
          <a:xfrm>
            <a:off x="640080" y="1828800"/>
            <a:ext cx="10911535" cy="1331214"/>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Miyop:</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Sonsuzdaki cismin (1/a = 0) görüntüsü uzak noktaya, cisim tarafına düşmeli: b = −d. O hâlde 1/f = 1/(−d), yani P = −1/d.</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Hipermetrop:</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25 cm'deki yazının görüntüsü yakın noktaya düşmeli: a = 0,25 m, b = −d. O hâlde P = 1/0,25 − 1/d = 4 − 1/d.</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İşaret:</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Miyopta P hep eksi çıkar (kalın kenarlı); hipermetropta d, 0,25 m'den büyük olduğu için P artı çıkar (ince kenarlı).</a:t>
            </a:r>
            <a:endParaRPr lang="en-US" sz="1300" dirty="0"/>
          </a:p>
        </p:txBody>
      </p:sp>
      <p:sp>
        <p:nvSpPr>
          <p:cNvPr id="8" name="Shape 6"/>
          <p:cNvSpPr/>
          <p:nvPr/>
        </p:nvSpPr>
        <p:spPr>
          <a:xfrm>
            <a:off x="640080" y="3269742"/>
            <a:ext cx="2333549" cy="457200"/>
          </a:xfrm>
          <a:prstGeom prst="roundRect">
            <a:avLst>
              <a:gd name="adj" fmla="val 24000"/>
            </a:avLst>
          </a:prstGeom>
          <a:solidFill>
            <a:srgbClr val="EEF2FC"/>
          </a:solidFill>
          <a:ln w="9525">
            <a:solidFill>
              <a:srgbClr val="CBD7F4"/>
            </a:solidFill>
            <a:prstDash val="solid"/>
          </a:ln>
        </p:spPr>
      </p:sp>
      <p:sp>
        <p:nvSpPr>
          <p:cNvPr id="9" name="Text 7"/>
          <p:cNvSpPr txBox="1"/>
          <p:nvPr/>
        </p:nvSpPr>
        <p:spPr>
          <a:xfrm>
            <a:off x="640080" y="3269742"/>
            <a:ext cx="2333549"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Pmiyop = −1 / duzak</a:t>
            </a:r>
            <a:endParaRPr lang="en-US" sz="1300" dirty="0"/>
          </a:p>
        </p:txBody>
      </p:sp>
      <p:sp>
        <p:nvSpPr>
          <p:cNvPr id="10" name="Shape 8"/>
          <p:cNvSpPr/>
          <p:nvPr/>
        </p:nvSpPr>
        <p:spPr>
          <a:xfrm>
            <a:off x="3083357" y="3269742"/>
            <a:ext cx="3123590" cy="457200"/>
          </a:xfrm>
          <a:prstGeom prst="roundRect">
            <a:avLst>
              <a:gd name="adj" fmla="val 24000"/>
            </a:avLst>
          </a:prstGeom>
          <a:solidFill>
            <a:srgbClr val="EEF2FC"/>
          </a:solidFill>
          <a:ln w="9525">
            <a:solidFill>
              <a:srgbClr val="CBD7F4"/>
            </a:solidFill>
            <a:prstDash val="solid"/>
          </a:ln>
        </p:spPr>
      </p:sp>
      <p:sp>
        <p:nvSpPr>
          <p:cNvPr id="11" name="Text 9"/>
          <p:cNvSpPr txBox="1"/>
          <p:nvPr/>
        </p:nvSpPr>
        <p:spPr>
          <a:xfrm>
            <a:off x="3083357" y="3269742"/>
            <a:ext cx="3123590"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Phipermetrop = 4 − 1/dyakın</a:t>
            </a:r>
            <a:endParaRPr lang="en-US" sz="1300" dirty="0"/>
          </a:p>
        </p:txBody>
      </p:sp>
      <p:sp>
        <p:nvSpPr>
          <p:cNvPr id="12" name="Shape 10"/>
          <p:cNvSpPr/>
          <p:nvPr/>
        </p:nvSpPr>
        <p:spPr>
          <a:xfrm>
            <a:off x="640080" y="6382512"/>
            <a:ext cx="128016" cy="128016"/>
          </a:xfrm>
          <a:prstGeom prst="roundRect">
            <a:avLst>
              <a:gd name="adj" fmla="val 28571"/>
            </a:avLst>
          </a:prstGeom>
          <a:solidFill>
            <a:srgbClr val="A9E648"/>
          </a:solidFill>
          <a:ln/>
        </p:spPr>
      </p:sp>
      <p:sp>
        <p:nvSpPr>
          <p:cNvPr id="13"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4"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Uzak noktası 2 m olan miyobun gözlüğü, uzak noktası 50 cm olanınkinden daha mı güçlüdür?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08 · Göz: odağını kendisi ayarlayan mercek</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Uzak noktası 2 m olan miyobun gözlüğü, uzak noktası 50 cm olanınkinden daha mı güçlüdür?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Hayır, daha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zayıftır</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P = −1/d ile 2 m için −0,5 D, 50 cm için −2 D bulunur. Uzak nokta ne kadar yakındaysa kusur o kadar ağır, gereken cam o kadar güçlüdür.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Derinleşme: perdede iki net konum, art arda iki mercek, ortamın ve rengin etkisi, en sonda da optik ünitesinin gerçek dünyadaki kapanışı.</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Perdeye net görüntü: neden iki konum var?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Art arda iki mercek: mikroskop ve teleskop</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Modelin sınırları: ortam, renk ve kalınlık</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Mercekler gerçek dünyada</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8a8328c3-841c-44fa-b76f-82572d338d3d/scratchpad/d5/sek/mercekler-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İki mercek, bir gökyüzü.</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Mercekli bir teleskopta uzun odaklı objektif, uzaktaki cismin küçük ve gerçek bir görüntüsünü tüpün içinde oluşturur; göz merceği bu görüntüye büyüteç gibi bakar. 90 kat büyüten bir teleskopta, gökyüzünde yaklaşık yarım derecelik yer kaplayan dolunay 45 derece civarında bir alanı dolduruyormuş gibi görünür.</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dersler.perinet.org/mercekler.html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Perdeye net görüntü: neden iki konum var?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Cisim–perde uzaklığı D &gt; 4f ise merceğin iki konumunda net görüntü oluşur; a ile b yer değiştirir ve büyütmelerin çarpımı 1'dir. D = 4f'de tek konum vardır, D &lt; 4f'de hiç yoktur.</a:t>
            </a:r>
            <a:endParaRPr lang="en-US" sz="1850" dirty="0"/>
          </a:p>
        </p:txBody>
      </p:sp>
      <p:sp>
        <p:nvSpPr>
          <p:cNvPr id="9" name="Text 7"/>
          <p:cNvSpPr txBox="1"/>
          <p:nvPr/>
        </p:nvSpPr>
        <p:spPr>
          <a:xfrm>
            <a:off x="640080" y="2593238"/>
            <a:ext cx="10911535" cy="1546860"/>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İki koşul:</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görüntü perdeye düşmeli, a + b = D; mercek denklemi de sağlanmalı, 1/a + 1/b = 1/f.</a:t>
            </a:r>
            <a:endParaRPr lang="en-US" sz="1400" dirty="0"/>
          </a:p>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Tersinirlik:</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denklemde a ile b yer değiştirse de bir şey değişmez; a = x bir çözümse a = D − x de çözümdür.</a:t>
            </a:r>
            <a:endParaRPr lang="en-US" sz="1400" dirty="0"/>
          </a:p>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İkinci derece denklem:</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b = D − a yazıp düzenlersen a² − D·a + D·f = 0 çıkar.</a:t>
            </a:r>
            <a:endParaRPr lang="en-US" sz="1400" dirty="0"/>
          </a:p>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Var olma şartı:</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gerçek kök için D² − 4·D·f ≥ 0, yani D ≥ 4f. D = 4f'de tek konum vardır: a = b = 2f.</a:t>
            </a:r>
            <a:endParaRPr lang="en-US" sz="1400" dirty="0"/>
          </a:p>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Büyütmeler:</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m₁ = b/a ve m₂ = a/b; çarpımları 1'dir. Biri 3 kat büyütüyorsa öbürü 3 kat küçültür.</a:t>
            </a:r>
            <a:endParaRPr lang="en-US" sz="1400" dirty="0"/>
          </a:p>
        </p:txBody>
      </p:sp>
      <p:sp>
        <p:nvSpPr>
          <p:cNvPr id="10" name="Shape 8"/>
          <p:cNvSpPr/>
          <p:nvPr/>
        </p:nvSpPr>
        <p:spPr>
          <a:xfrm>
            <a:off x="640080" y="4249826"/>
            <a:ext cx="1049731" cy="457200"/>
          </a:xfrm>
          <a:prstGeom prst="roundRect">
            <a:avLst>
              <a:gd name="adj" fmla="val 24000"/>
            </a:avLst>
          </a:prstGeom>
          <a:solidFill>
            <a:srgbClr val="EEF2FC"/>
          </a:solidFill>
          <a:ln w="9525">
            <a:solidFill>
              <a:srgbClr val="CBD7F4"/>
            </a:solidFill>
            <a:prstDash val="solid"/>
          </a:ln>
        </p:spPr>
      </p:sp>
      <p:sp>
        <p:nvSpPr>
          <p:cNvPr id="11" name="Text 9"/>
          <p:cNvSpPr txBox="1"/>
          <p:nvPr/>
        </p:nvSpPr>
        <p:spPr>
          <a:xfrm>
            <a:off x="640080" y="4249826"/>
            <a:ext cx="1049731"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D ≥ 4f</a:t>
            </a:r>
            <a:endParaRPr lang="en-US" sz="1300" dirty="0"/>
          </a:p>
        </p:txBody>
      </p:sp>
      <p:sp>
        <p:nvSpPr>
          <p:cNvPr id="12" name="Shape 10"/>
          <p:cNvSpPr/>
          <p:nvPr/>
        </p:nvSpPr>
        <p:spPr>
          <a:xfrm>
            <a:off x="1799539" y="4249826"/>
            <a:ext cx="2432304" cy="457200"/>
          </a:xfrm>
          <a:prstGeom prst="roundRect">
            <a:avLst>
              <a:gd name="adj" fmla="val 24000"/>
            </a:avLst>
          </a:prstGeom>
          <a:solidFill>
            <a:srgbClr val="EEF2FC"/>
          </a:solidFill>
          <a:ln w="9525">
            <a:solidFill>
              <a:srgbClr val="CBD7F4"/>
            </a:solidFill>
            <a:prstDash val="solid"/>
          </a:ln>
        </p:spPr>
      </p:sp>
      <p:sp>
        <p:nvSpPr>
          <p:cNvPr id="13" name="Text 11"/>
          <p:cNvSpPr txBox="1"/>
          <p:nvPr/>
        </p:nvSpPr>
        <p:spPr>
          <a:xfrm>
            <a:off x="1799539" y="4249826"/>
            <a:ext cx="2432304"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f = (D² − d²) / (4D)</a:t>
            </a:r>
            <a:endParaRPr lang="en-US" sz="1300" dirty="0"/>
          </a:p>
        </p:txBody>
      </p:sp>
      <p:sp>
        <p:nvSpPr>
          <p:cNvPr id="14" name="Shape 12"/>
          <p:cNvSpPr/>
          <p:nvPr/>
        </p:nvSpPr>
        <p:spPr>
          <a:xfrm>
            <a:off x="640080" y="4871618"/>
            <a:ext cx="10911535" cy="858012"/>
          </a:xfrm>
          <a:prstGeom prst="roundRect">
            <a:avLst>
              <a:gd name="adj" fmla="val 1278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58368" y="5017922"/>
            <a:ext cx="45720" cy="565404"/>
          </a:xfrm>
          <a:prstGeom prst="rect">
            <a:avLst/>
          </a:prstGeom>
          <a:solidFill>
            <a:srgbClr val="3C8C21"/>
          </a:solidFill>
          <a:ln/>
        </p:spPr>
      </p:sp>
      <p:sp>
        <p:nvSpPr>
          <p:cNvPr id="16" name="Text 14"/>
          <p:cNvSpPr txBox="1"/>
          <p:nvPr/>
        </p:nvSpPr>
        <p:spPr>
          <a:xfrm>
            <a:off x="914400" y="4981346"/>
            <a:ext cx="10454335" cy="638556"/>
          </a:xfrm>
          <a:prstGeom prst="rect">
            <a:avLst/>
          </a:prstGeom>
          <a:noFill/>
          <a:ln/>
        </p:spPr>
        <p:txBody>
          <a:bodyPr wrap="square" lIns="0" tIns="0" rIns="0" bIns="0" rtlCol="0" anchor="ctr"/>
          <a:lstStyle/>
          <a:p>
            <a:pPr indent="0" marL="0">
              <a:lnSpc>
                <a:spcPct val="112000"/>
              </a:lnSpc>
              <a:buNone/>
            </a:pPr>
            <a:r>
              <a:rPr lang="en-US" sz="1300" b="1" dirty="0">
                <a:solidFill>
                  <a:srgbClr val="0E1426"/>
                </a:solidFill>
                <a:latin typeface="Calibri" pitchFamily="34" charset="0"/>
                <a:ea typeface="Calibri" pitchFamily="34" charset="-122"/>
                <a:cs typeface="Calibri" pitchFamily="34" charset="-120"/>
              </a:rPr>
              <a:t>Odak uzaklığını ölçmenin akıllı yolu:</a:t>
            </a:r>
            <a:pPr indent="0" marL="0">
              <a:lnSpc>
                <a:spcPct val="112000"/>
              </a:lnSpc>
              <a:buNone/>
            </a:pPr>
            <a:r>
              <a:rPr lang="en-US" sz="1300" dirty="0">
                <a:solidFill>
                  <a:srgbClr val="4A5470"/>
                </a:solidFill>
                <a:latin typeface="Calibri" pitchFamily="34" charset="0"/>
                <a:ea typeface="Calibri" pitchFamily="34" charset="-122"/>
                <a:cs typeface="Calibri" pitchFamily="34" charset="-120"/>
              </a:rPr>
              <a:t> İki net konum arasındaki uzaklık d ölçülürse f bulunur: deneyde d = 80 cm ve f = (160² − 80²) / 640 = 30 cm. Bessel yöntemi denen bu ölçümde merceğin merkezinin tam yerini bilmek gerekmez.</a:t>
            </a:r>
            <a:endParaRPr lang="en-US" sz="1300" dirty="0"/>
          </a:p>
        </p:txBody>
      </p:sp>
      <p:sp>
        <p:nvSpPr>
          <p:cNvPr id="17" name="Shape 15"/>
          <p:cNvSpPr/>
          <p:nvPr/>
        </p:nvSpPr>
        <p:spPr>
          <a:xfrm>
            <a:off x="640080" y="6382512"/>
            <a:ext cx="128016" cy="128016"/>
          </a:xfrm>
          <a:prstGeom prst="roundRect">
            <a:avLst>
              <a:gd name="adj" fmla="val 28571"/>
            </a:avLst>
          </a:prstGeom>
          <a:solidFill>
            <a:srgbClr val="A9E648"/>
          </a:solidFill>
          <a:ln/>
        </p:spPr>
      </p:sp>
      <p:sp>
        <p:nvSpPr>
          <p:cNvPr id="18" name="Text 1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9" name="Text 1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Art arda iki mercek: mikroskop ve teleskop</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İki mercekli sistemlerde birinci merceğin görüntüsü ikinciye cisim olur ve büyütmeler çarpılır. Mikroskop yakındaki küçük cismi, teleskop uzaktaki cismin gözde kapladığı açıyı büyütür.</a:t>
            </a:r>
            <a:endParaRPr lang="en-US" sz="1850" dirty="0"/>
          </a:p>
        </p:txBody>
      </p:sp>
      <p:sp>
        <p:nvSpPr>
          <p:cNvPr id="9" name="Shape 7"/>
          <p:cNvSpPr/>
          <p:nvPr/>
        </p:nvSpPr>
        <p:spPr>
          <a:xfrm>
            <a:off x="640080" y="2593238"/>
            <a:ext cx="2136038"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593238"/>
            <a:ext cx="213603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mtoplam = m₁ · m₂</a:t>
            </a:r>
            <a:endParaRPr lang="en-US" sz="1300" dirty="0"/>
          </a:p>
        </p:txBody>
      </p:sp>
      <p:sp>
        <p:nvSpPr>
          <p:cNvPr id="11" name="Shape 9"/>
          <p:cNvSpPr/>
          <p:nvPr/>
        </p:nvSpPr>
        <p:spPr>
          <a:xfrm>
            <a:off x="2885846" y="2593238"/>
            <a:ext cx="2629814"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885846" y="2593238"/>
            <a:ext cx="2629814"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Mteleskop = fob / fgöz</a:t>
            </a:r>
            <a:endParaRPr lang="en-US" sz="1300" dirty="0"/>
          </a:p>
        </p:txBody>
      </p:sp>
      <p:sp>
        <p:nvSpPr>
          <p:cNvPr id="13" name="Text 11"/>
          <p:cNvSpPr txBox="1"/>
          <p:nvPr/>
        </p:nvSpPr>
        <p:spPr>
          <a:xfrm>
            <a:off x="640080" y="3215030"/>
            <a:ext cx="10911535" cy="2499360"/>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Mikroskop:</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kısa odaklı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objektif</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odağının hemen dışındaki küçük cismin büyük, gerçek ve ters görüntüsünü oluşturur;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göz merceği</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onu büyüteç gibi yeniden büyütür.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Okul mikroskobu:</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40 kat büyüten bir objektif ile 10 kat büyüten bir göz merceği birlikte 40 · 10 = 400 kat büyütür.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Teleskop:</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uzun odaklı objektif, uzaktaki cismin küçük ve gerçek görüntüsünü kendi odağında oluşturur; kısa odaklı göz merceği bu görüntüye yakından bakar.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Teleskop büyütmesi:</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f</a:t>
            </a:r>
            <a:pPr indent="0" marL="0">
              <a:lnSpc>
                <a:spcPct val="115000"/>
              </a:lnSpc>
              <a:buNone/>
            </a:pPr>
            <a:r>
              <a:rPr lang="en-US" sz="1600" baseline="-40000" dirty="0">
                <a:solidFill>
                  <a:srgbClr val="4A5470"/>
                </a:solidFill>
                <a:latin typeface="Calibri" pitchFamily="34" charset="0"/>
                <a:ea typeface="Calibri" pitchFamily="34" charset="-122"/>
                <a:cs typeface="Calibri" pitchFamily="34" charset="-120"/>
              </a:rPr>
              <a:t>ob</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 90 cm, f</a:t>
            </a:r>
            <a:pPr indent="0" marL="0">
              <a:lnSpc>
                <a:spcPct val="115000"/>
              </a:lnSpc>
              <a:buNone/>
            </a:pPr>
            <a:r>
              <a:rPr lang="en-US" sz="1600" baseline="-40000" dirty="0">
                <a:solidFill>
                  <a:srgbClr val="4A5470"/>
                </a:solidFill>
                <a:latin typeface="Calibri" pitchFamily="34" charset="0"/>
                <a:ea typeface="Calibri" pitchFamily="34" charset="-122"/>
                <a:cs typeface="Calibri" pitchFamily="34" charset="-120"/>
              </a:rPr>
              <a:t>göz</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 1 cm ise cisim 90 kat daha geniş bir açıyla görünür; tüp boyu yaklaşık 90 + 1 = 91 cm olur.</a:t>
            </a:r>
            <a:endParaRPr lang="en-US" sz="1600" dirty="0"/>
          </a:p>
        </p:txBody>
      </p:sp>
      <p:sp>
        <p:nvSpPr>
          <p:cNvPr id="14" name="Shape 12"/>
          <p:cNvSpPr/>
          <p:nvPr/>
        </p:nvSpPr>
        <p:spPr>
          <a:xfrm>
            <a:off x="640080" y="6382512"/>
            <a:ext cx="128016" cy="128016"/>
          </a:xfrm>
          <a:prstGeom prst="roundRect">
            <a:avLst>
              <a:gd name="adj" fmla="val 28571"/>
            </a:avLst>
          </a:prstGeom>
          <a:solidFill>
            <a:srgbClr val="A9E648"/>
          </a:solidFill>
          <a:ln/>
        </p:spPr>
      </p:sp>
      <p:sp>
        <p:nvSpPr>
          <p:cNvPr id="15"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6"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Teleskobun objektifi neden büyük çaplı yapılır; büyütmeyi artırmak için mi?</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10 · Art arda iki mercek: mikroskop ve teleskop</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Teleskobun objektifi neden büyük çaplı yapılır; büyütmeyi artırmak için mi?</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Hayır; büyütmeyi odak uzaklıklarının oranı belirler. Büyük çap daha çok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ışık toplar</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çap iki katına çıkınca merceğin alanı ve topladığı ışık dört katına çıkar. Böylece çıplak gözle görülemeyecek kadar sönük yıldızlar da görünür.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Modelin sınırları: ortam, renk ve kalınlık</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Mercek denklemi havadaki ince bir mercek ve eksene yakın ışınlar için kurulmuştur. Ortam değişince odak uzaklığı değişir; renk ve küresel sapma görüntüyü bozar, çok mercekli objektifler bunları düzeltir.</a:t>
            </a:r>
            <a:endParaRPr lang="en-US" sz="1850" dirty="0"/>
          </a:p>
        </p:txBody>
      </p:sp>
      <p:sp>
        <p:nvSpPr>
          <p:cNvPr id="9" name="Shape 7"/>
          <p:cNvSpPr/>
          <p:nvPr/>
        </p:nvSpPr>
        <p:spPr>
          <a:xfrm>
            <a:off x="640080" y="2593238"/>
            <a:ext cx="3024835"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593238"/>
            <a:ext cx="3024835"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1/f ∝ nmercek / nortam − 1</a:t>
            </a:r>
            <a:endParaRPr lang="en-US" sz="1300" dirty="0"/>
          </a:p>
        </p:txBody>
      </p:sp>
      <p:sp>
        <p:nvSpPr>
          <p:cNvPr id="11" name="Text 9"/>
          <p:cNvSpPr txBox="1"/>
          <p:nvPr/>
        </p:nvSpPr>
        <p:spPr>
          <a:xfrm>
            <a:off x="640080" y="3215030"/>
            <a:ext cx="10911535" cy="2499360"/>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Suda odak uzar: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indisi 1,5 olan cam mercekte bu çarpan havada 0,5, suda (n ≈ 1,33) yaklaşık 0,13'tür; odak uzaklığı yaklaşık 4 katına çıkar.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Tür tersine dönebilir: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ortamın indisi merceğinkinden büyükse ince kenarlı mercek dağıtır, kalın kenarlı toplar. Su içindeki hava kabarcığı ıraksak mercek gibidir.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Renk sapması:</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prizmalarda gördüğün gibi cam moru kırmızıdan çok kırar; mor ışık merceğe daha yakında odaklanır ve görüntünün kenarları renklenir.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Küresel sapma:</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kenardan geçen ışınlar biraz daha yakında odaklanır; 1/f = 1/a + 1/b ince mercek ve eksene yakın ışınlar için kesindir.</a:t>
            </a:r>
            <a:endParaRPr lang="en-US" sz="1600" dirty="0"/>
          </a:p>
        </p:txBody>
      </p:sp>
      <p:sp>
        <p:nvSpPr>
          <p:cNvPr id="12" name="Shape 10"/>
          <p:cNvSpPr/>
          <p:nvPr/>
        </p:nvSpPr>
        <p:spPr>
          <a:xfrm>
            <a:off x="640080" y="6382512"/>
            <a:ext cx="128016" cy="128016"/>
          </a:xfrm>
          <a:prstGeom prst="roundRect">
            <a:avLst>
              <a:gd name="adj" fmla="val 28571"/>
            </a:avLst>
          </a:prstGeom>
          <a:solidFill>
            <a:srgbClr val="A9E648"/>
          </a:solidFill>
          <a:ln/>
        </p:spPr>
      </p:sp>
      <p:sp>
        <p:nvSpPr>
          <p:cNvPr id="13"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4"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Yüzerken gözlerini açınca her şey neden bulanık görünür; deniz gözlüğü bunu nasıl düzeltir?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11 · Modelin sınırları: ortam, renk ve kalınlık</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Yüzerken gözlerini açınca her şey neden bulanık görünür; deniz gözlüğü bunu nasıl düzeltir?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Gözün kırıcılığının büyük bölümü hava ile kornea arasındaki indis farkından gelir. Suyun indisi korneanınkine çok yakın olduğu için su içinde kornea ışığı neredeyse hiç kırmaz; göz güçlü bir hipermetrop gibi olur. Deniz gözlüğü gözün önünde bir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hava tabakası</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tutar.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Mercekler gerçek dünyada</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Kamera, projeksiyon, büyüteç, gözlük ve teleskop aynı denklemi farklı cisim konumlarında kullanır. Optik ünitesinin kırılma, prizma ve ayna bilgileri mercekli aletlerde birleşir.</a:t>
            </a:r>
            <a:endParaRPr lang="en-US" sz="1850" dirty="0"/>
          </a:p>
        </p:txBody>
      </p:sp>
      <p:sp>
        <p:nvSpPr>
          <p:cNvPr id="9" name="Text 7"/>
          <p:cNvSpPr txBox="1"/>
          <p:nvPr/>
        </p:nvSpPr>
        <p:spPr>
          <a:xfrm>
            <a:off x="640080" y="2593238"/>
            <a:ext cx="10911535" cy="2639568"/>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Telefon kamerası:</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5 mm odaklı mercek, 2 m ötedeki 1,70 m boyundaki birinin yaklaşık 4,3 mm'lik ters görüntüsünü sensöre, odağın yaklaşık 0,01 mm gerisine düşürür.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Projeksiyon:</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10 cm odaklı mercekle 3 m'deki perdeye net görüntü için cisim yaklaşık 10,3 cm'ye, odağın hemen dışına konur; görüntü 29 kat büyük ve terstir.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Büyüteç:</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10 cm odaklı büyüteç 8 cm'deki bir pula tutulunca 40 cm geride 5 kat büyük, düz ve sanal bir görüntü oluşur.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Gözlük ve kontakt lens:</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numara diyoptridir; “−2,5 numara” odak uzaklığı −40 cm olan kalın kenarlı cam demektir. Kontakt lens aynı işi korneanın üstünde yapar.</a:t>
            </a:r>
            <a:endParaRPr lang="en-US" sz="17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sınavda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14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7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Gerçek görüntü</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Gözlük numarası</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Büyüteç</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Kalın kenarlı mercek</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Hipermetrop için okuma gözlüğü</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Perdede iki net görüntü</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5102352"/>
            <a:ext cx="5379415" cy="512064"/>
          </a:xfrm>
          <a:prstGeom prst="roundRect">
            <a:avLst>
              <a:gd name="adj" fmla="val 17857"/>
            </a:avLst>
          </a:prstGeom>
          <a:solidFill>
            <a:srgbClr val="1C2542"/>
          </a:solidFill>
          <a:ln w="9525">
            <a:solidFill>
              <a:srgbClr val="2C3860"/>
            </a:solidFill>
            <a:prstDash val="solid"/>
          </a:ln>
        </p:spPr>
      </p:sp>
      <p:sp>
        <p:nvSpPr>
          <p:cNvPr id="28" name="Text 26"/>
          <p:cNvSpPr txBox="1"/>
          <p:nvPr/>
        </p:nvSpPr>
        <p:spPr>
          <a:xfrm>
            <a:off x="6400800" y="510235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İki mercekli mikroskop</a:t>
            </a:r>
            <a:endParaRPr lang="en-US" sz="1300" dirty="0"/>
          </a:p>
        </p:txBody>
      </p:sp>
      <p:sp>
        <p:nvSpPr>
          <p:cNvPr id="29" name="Text 27"/>
          <p:cNvSpPr txBox="1"/>
          <p:nvPr/>
        </p:nvSpPr>
        <p:spPr>
          <a:xfrm>
            <a:off x="10362895" y="5102352"/>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40080" y="6382512"/>
            <a:ext cx="128016" cy="128016"/>
          </a:xfrm>
          <a:prstGeom prst="roundRect">
            <a:avLst>
              <a:gd name="adj" fmla="val 28571"/>
            </a:avLst>
          </a:prstGeom>
          <a:solidFill>
            <a:srgbClr val="C6F36B"/>
          </a:solidFill>
          <a:ln/>
        </p:spPr>
      </p:sp>
      <p:sp>
        <p:nvSpPr>
          <p:cNvPr id="31" name="Text 2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dersler.perinet.org/mercekler.html</a:t>
            </a:r>
            <a:endParaRPr lang="en-US" sz="1050" dirty="0"/>
          </a:p>
        </p:txBody>
      </p:sp>
      <p:sp>
        <p:nvSpPr>
          <p:cNvPr id="32" name="Text 3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1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Gerçek görüntü</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213104"/>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Odak uzaklığı 20 cm olan ince kenarlı merceğin 30 cm önüne bir cisim konuyor. Görüntünün yeri ve büyütmesi nedir?</a:t>
            </a:r>
            <a:endParaRPr lang="en-US" sz="1600" dirty="0"/>
          </a:p>
        </p:txBody>
      </p:sp>
      <p:sp>
        <p:nvSpPr>
          <p:cNvPr id="11" name="Shape 9"/>
          <p:cNvSpPr/>
          <p:nvPr/>
        </p:nvSpPr>
        <p:spPr>
          <a:xfrm>
            <a:off x="5212080" y="1627632"/>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989509"/>
            <a:ext cx="384048" cy="384048"/>
          </a:xfrm>
          <a:prstGeom prst="roundRect">
            <a:avLst>
              <a:gd name="adj" fmla="val 26000"/>
            </a:avLst>
          </a:prstGeom>
          <a:solidFill>
            <a:srgbClr val="A56209"/>
          </a:solidFill>
          <a:ln/>
        </p:spPr>
      </p:sp>
      <p:sp>
        <p:nvSpPr>
          <p:cNvPr id="13" name="Text 11"/>
          <p:cNvSpPr txBox="1"/>
          <p:nvPr/>
        </p:nvSpPr>
        <p:spPr>
          <a:xfrm>
            <a:off x="5449824" y="198950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1/20 = 1/30 + 1/b → 1/b = 1/20 − 1/30 = (3 − 2)/60 = 1/60</a:t>
            </a:r>
            <a:endParaRPr lang="en-US" sz="1600" dirty="0"/>
          </a:p>
        </p:txBody>
      </p:sp>
      <p:sp>
        <p:nvSpPr>
          <p:cNvPr id="15" name="Shape 13"/>
          <p:cNvSpPr/>
          <p:nvPr/>
        </p:nvSpPr>
        <p:spPr>
          <a:xfrm>
            <a:off x="5212080" y="2881738"/>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243615"/>
            <a:ext cx="384048" cy="384048"/>
          </a:xfrm>
          <a:prstGeom prst="roundRect">
            <a:avLst>
              <a:gd name="adj" fmla="val 26000"/>
            </a:avLst>
          </a:prstGeom>
          <a:solidFill>
            <a:srgbClr val="A56209"/>
          </a:solidFill>
          <a:ln/>
        </p:spPr>
      </p:sp>
      <p:sp>
        <p:nvSpPr>
          <p:cNvPr id="17" name="Text 15"/>
          <p:cNvSpPr txBox="1"/>
          <p:nvPr/>
        </p:nvSpPr>
        <p:spPr>
          <a:xfrm>
            <a:off x="5449824" y="3243615"/>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936602"/>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b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60 cm</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(pozitif → gerçek, merceğin öbür tarafında)</a:t>
            </a:r>
            <a:endParaRPr lang="en-US" sz="1600" dirty="0"/>
          </a:p>
        </p:txBody>
      </p:sp>
      <p:sp>
        <p:nvSpPr>
          <p:cNvPr id="19" name="Shape 17"/>
          <p:cNvSpPr/>
          <p:nvPr/>
        </p:nvSpPr>
        <p:spPr>
          <a:xfrm>
            <a:off x="5212080" y="4135844"/>
            <a:ext cx="6339535" cy="754818"/>
          </a:xfrm>
          <a:prstGeom prst="roundRect">
            <a:avLst>
              <a:gd name="adj" fmla="val 1938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321229"/>
            <a:ext cx="384048" cy="384048"/>
          </a:xfrm>
          <a:prstGeom prst="roundRect">
            <a:avLst>
              <a:gd name="adj" fmla="val 26000"/>
            </a:avLst>
          </a:prstGeom>
          <a:solidFill>
            <a:srgbClr val="A56209"/>
          </a:solidFill>
          <a:ln/>
        </p:spPr>
      </p:sp>
      <p:sp>
        <p:nvSpPr>
          <p:cNvPr id="21" name="Text 19"/>
          <p:cNvSpPr txBox="1"/>
          <p:nvPr/>
        </p:nvSpPr>
        <p:spPr>
          <a:xfrm>
            <a:off x="5449824" y="432122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190708"/>
            <a:ext cx="5379415" cy="645090"/>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m = |b/a| = 60/30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2 kat</a:t>
            </a:r>
            <a:endParaRPr lang="en-US" sz="1600" dirty="0"/>
          </a:p>
        </p:txBody>
      </p:sp>
      <p:sp>
        <p:nvSpPr>
          <p:cNvPr id="23" name="Shape 21"/>
          <p:cNvSpPr/>
          <p:nvPr/>
        </p:nvSpPr>
        <p:spPr>
          <a:xfrm>
            <a:off x="5212080" y="5036966"/>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398843"/>
            <a:ext cx="384048" cy="384048"/>
          </a:xfrm>
          <a:prstGeom prst="roundRect">
            <a:avLst>
              <a:gd name="adj" fmla="val 26000"/>
            </a:avLst>
          </a:prstGeom>
          <a:solidFill>
            <a:srgbClr val="A56209"/>
          </a:solidFill>
          <a:ln/>
        </p:spPr>
      </p:sp>
      <p:sp>
        <p:nvSpPr>
          <p:cNvPr id="25" name="Text 23"/>
          <p:cNvSpPr txBox="1"/>
          <p:nvPr/>
        </p:nvSpPr>
        <p:spPr>
          <a:xfrm>
            <a:off x="5449824" y="539884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5091830"/>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Görüntü ters ve iki kat büyüktür; projeksiyon düzeni budur.</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2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Gözlük numarası</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932688"/>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Uzak noktası 50 cm olan miyop bir göz için gereken gözlük numarası kaç diyoptridir?</a:t>
            </a:r>
            <a:endParaRPr lang="en-US" sz="1600" dirty="0"/>
          </a:p>
        </p:txBody>
      </p:sp>
      <p:sp>
        <p:nvSpPr>
          <p:cNvPr id="11" name="Shape 9"/>
          <p:cNvSpPr/>
          <p:nvPr/>
        </p:nvSpPr>
        <p:spPr>
          <a:xfrm>
            <a:off x="5212080" y="1627632"/>
            <a:ext cx="6339535" cy="1212771"/>
          </a:xfrm>
          <a:prstGeom prst="roundRect">
            <a:avLst>
              <a:gd name="adj" fmla="val 12064"/>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2041994"/>
            <a:ext cx="384048" cy="384048"/>
          </a:xfrm>
          <a:prstGeom prst="roundRect">
            <a:avLst>
              <a:gd name="adj" fmla="val 26000"/>
            </a:avLst>
          </a:prstGeom>
          <a:solidFill>
            <a:srgbClr val="A56209"/>
          </a:solidFill>
          <a:ln/>
        </p:spPr>
      </p:sp>
      <p:sp>
        <p:nvSpPr>
          <p:cNvPr id="13" name="Text 11"/>
          <p:cNvSpPr txBox="1"/>
          <p:nvPr/>
        </p:nvSpPr>
        <p:spPr>
          <a:xfrm>
            <a:off x="5449824" y="204199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110304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Gözlük, sonsuzdaki cismin görüntüsünü uzak noktaya düşürmelidir.</a:t>
            </a:r>
            <a:endParaRPr lang="en-US" sz="1600" dirty="0"/>
          </a:p>
        </p:txBody>
      </p:sp>
      <p:sp>
        <p:nvSpPr>
          <p:cNvPr id="15" name="Shape 13"/>
          <p:cNvSpPr/>
          <p:nvPr/>
        </p:nvSpPr>
        <p:spPr>
          <a:xfrm>
            <a:off x="5212080" y="2986707"/>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207854"/>
            <a:ext cx="384048" cy="384048"/>
          </a:xfrm>
          <a:prstGeom prst="roundRect">
            <a:avLst>
              <a:gd name="adj" fmla="val 26000"/>
            </a:avLst>
          </a:prstGeom>
          <a:solidFill>
            <a:srgbClr val="A56209"/>
          </a:solidFill>
          <a:ln/>
        </p:spPr>
      </p:sp>
      <p:sp>
        <p:nvSpPr>
          <p:cNvPr id="17" name="Text 15"/>
          <p:cNvSpPr txBox="1"/>
          <p:nvPr/>
        </p:nvSpPr>
        <p:spPr>
          <a:xfrm>
            <a:off x="5449824" y="320785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3041571"/>
            <a:ext cx="5379415" cy="71661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f = −50 cm = −0,5 m</a:t>
            </a:r>
            <a:endParaRPr lang="en-US" sz="1600" dirty="0"/>
          </a:p>
        </p:txBody>
      </p:sp>
      <p:sp>
        <p:nvSpPr>
          <p:cNvPr id="19" name="Shape 17"/>
          <p:cNvSpPr/>
          <p:nvPr/>
        </p:nvSpPr>
        <p:spPr>
          <a:xfrm>
            <a:off x="5212080" y="3959352"/>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180498"/>
            <a:ext cx="384048" cy="384048"/>
          </a:xfrm>
          <a:prstGeom prst="roundRect">
            <a:avLst>
              <a:gd name="adj" fmla="val 26000"/>
            </a:avLst>
          </a:prstGeom>
          <a:solidFill>
            <a:srgbClr val="A56209"/>
          </a:solidFill>
          <a:ln/>
        </p:spPr>
      </p:sp>
      <p:sp>
        <p:nvSpPr>
          <p:cNvPr id="21" name="Text 19"/>
          <p:cNvSpPr txBox="1"/>
          <p:nvPr/>
        </p:nvSpPr>
        <p:spPr>
          <a:xfrm>
            <a:off x="5449824" y="418049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014216"/>
            <a:ext cx="5379415" cy="71661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P = 1/f = 1/(−0,5)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−2 diyoptri</a:t>
            </a:r>
            <a:endParaRPr lang="en-US" sz="1600" dirty="0"/>
          </a:p>
        </p:txBody>
      </p:sp>
      <p:sp>
        <p:nvSpPr>
          <p:cNvPr id="23" name="Shape 21"/>
          <p:cNvSpPr/>
          <p:nvPr/>
        </p:nvSpPr>
        <p:spPr>
          <a:xfrm>
            <a:off x="5212080" y="4931997"/>
            <a:ext cx="6339535" cy="1212771"/>
          </a:xfrm>
          <a:prstGeom prst="roundRect">
            <a:avLst>
              <a:gd name="adj" fmla="val 12064"/>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346358"/>
            <a:ext cx="384048" cy="384048"/>
          </a:xfrm>
          <a:prstGeom prst="roundRect">
            <a:avLst>
              <a:gd name="adj" fmla="val 26000"/>
            </a:avLst>
          </a:prstGeom>
          <a:solidFill>
            <a:srgbClr val="A56209"/>
          </a:solidFill>
          <a:ln/>
        </p:spPr>
      </p:sp>
      <p:sp>
        <p:nvSpPr>
          <p:cNvPr id="25" name="Text 23"/>
          <p:cNvSpPr txBox="1"/>
          <p:nvPr/>
        </p:nvSpPr>
        <p:spPr>
          <a:xfrm>
            <a:off x="5449824" y="534635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986861"/>
            <a:ext cx="5379415" cy="110304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Eksi numara, kalın kenarlı (ıraksak) mercek demektir.</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3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Büyüteç</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932688"/>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Odak uzaklığı 15 cm olan merceğin 10 cm önündeki cismin görüntüsü nasıldır?</a:t>
            </a:r>
            <a:endParaRPr lang="en-US" sz="1600" dirty="0"/>
          </a:p>
        </p:txBody>
      </p:sp>
      <p:sp>
        <p:nvSpPr>
          <p:cNvPr id="11" name="Shape 9"/>
          <p:cNvSpPr/>
          <p:nvPr/>
        </p:nvSpPr>
        <p:spPr>
          <a:xfrm>
            <a:off x="5212080" y="1627632"/>
            <a:ext cx="6339535" cy="1212771"/>
          </a:xfrm>
          <a:prstGeom prst="roundRect">
            <a:avLst>
              <a:gd name="adj" fmla="val 12064"/>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2041994"/>
            <a:ext cx="384048" cy="384048"/>
          </a:xfrm>
          <a:prstGeom prst="roundRect">
            <a:avLst>
              <a:gd name="adj" fmla="val 26000"/>
            </a:avLst>
          </a:prstGeom>
          <a:solidFill>
            <a:srgbClr val="A56209"/>
          </a:solidFill>
          <a:ln/>
        </p:spPr>
      </p:sp>
      <p:sp>
        <p:nvSpPr>
          <p:cNvPr id="13" name="Text 11"/>
          <p:cNvSpPr txBox="1"/>
          <p:nvPr/>
        </p:nvSpPr>
        <p:spPr>
          <a:xfrm>
            <a:off x="5449824" y="204199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110304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1/15 = 1/10 + 1/b → 1/b = 1/15 − 1/10 = (2 − 3)/30 = −1/30</a:t>
            </a:r>
            <a:endParaRPr lang="en-US" sz="1600" dirty="0"/>
          </a:p>
        </p:txBody>
      </p:sp>
      <p:sp>
        <p:nvSpPr>
          <p:cNvPr id="15" name="Shape 13"/>
          <p:cNvSpPr/>
          <p:nvPr/>
        </p:nvSpPr>
        <p:spPr>
          <a:xfrm>
            <a:off x="5212080" y="2986707"/>
            <a:ext cx="6339535" cy="1212771"/>
          </a:xfrm>
          <a:prstGeom prst="roundRect">
            <a:avLst>
              <a:gd name="adj" fmla="val 12064"/>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401069"/>
            <a:ext cx="384048" cy="384048"/>
          </a:xfrm>
          <a:prstGeom prst="roundRect">
            <a:avLst>
              <a:gd name="adj" fmla="val 26000"/>
            </a:avLst>
          </a:prstGeom>
          <a:solidFill>
            <a:srgbClr val="A56209"/>
          </a:solidFill>
          <a:ln/>
        </p:spPr>
      </p:sp>
      <p:sp>
        <p:nvSpPr>
          <p:cNvPr id="17" name="Text 15"/>
          <p:cNvSpPr txBox="1"/>
          <p:nvPr/>
        </p:nvSpPr>
        <p:spPr>
          <a:xfrm>
            <a:off x="5449824" y="340106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3041571"/>
            <a:ext cx="5379415" cy="110304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b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−30 cm</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eksi işaret görüntünün cisimle aynı tarafta olduğunu, yani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sanal</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olduğunu gösterir.</a:t>
            </a:r>
            <a:endParaRPr lang="en-US" sz="1600" dirty="0"/>
          </a:p>
        </p:txBody>
      </p:sp>
      <p:sp>
        <p:nvSpPr>
          <p:cNvPr id="19" name="Shape 17"/>
          <p:cNvSpPr/>
          <p:nvPr/>
        </p:nvSpPr>
        <p:spPr>
          <a:xfrm>
            <a:off x="5212080" y="4345783"/>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566929"/>
            <a:ext cx="384048" cy="384048"/>
          </a:xfrm>
          <a:prstGeom prst="roundRect">
            <a:avLst>
              <a:gd name="adj" fmla="val 26000"/>
            </a:avLst>
          </a:prstGeom>
          <a:solidFill>
            <a:srgbClr val="A56209"/>
          </a:solidFill>
          <a:ln/>
        </p:spPr>
      </p:sp>
      <p:sp>
        <p:nvSpPr>
          <p:cNvPr id="21" name="Text 19"/>
          <p:cNvSpPr txBox="1"/>
          <p:nvPr/>
        </p:nvSpPr>
        <p:spPr>
          <a:xfrm>
            <a:off x="5449824" y="456692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400647"/>
            <a:ext cx="5379415" cy="71661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m = |−30/10|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3 kat</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düz ve büyük.</a:t>
            </a:r>
            <a:endParaRPr lang="en-US" sz="1600" dirty="0"/>
          </a:p>
        </p:txBody>
      </p:sp>
      <p:sp>
        <p:nvSpPr>
          <p:cNvPr id="23" name="Shape 21"/>
          <p:cNvSpPr/>
          <p:nvPr/>
        </p:nvSpPr>
        <p:spPr>
          <a:xfrm>
            <a:off x="5212080" y="5318427"/>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539574"/>
            <a:ext cx="384048" cy="384048"/>
          </a:xfrm>
          <a:prstGeom prst="roundRect">
            <a:avLst>
              <a:gd name="adj" fmla="val 26000"/>
            </a:avLst>
          </a:prstGeom>
          <a:solidFill>
            <a:srgbClr val="A56209"/>
          </a:solidFill>
          <a:ln/>
        </p:spPr>
      </p:sp>
      <p:sp>
        <p:nvSpPr>
          <p:cNvPr id="25" name="Text 23"/>
          <p:cNvSpPr txBox="1"/>
          <p:nvPr/>
        </p:nvSpPr>
        <p:spPr>
          <a:xfrm>
            <a:off x="5449824" y="553957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5373291"/>
            <a:ext cx="5379415" cy="71661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Bu, büyütecin çalışma şeklidir.</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4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Kalın kenarlı mercek</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932688"/>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Odak uzaklığı 20 cm olan kalın kenarlı merceğin 30 cm önündeki cismin görüntüsü nerededir?</a:t>
            </a:r>
            <a:endParaRPr lang="en-US" sz="1600" dirty="0"/>
          </a:p>
        </p:txBody>
      </p:sp>
      <p:sp>
        <p:nvSpPr>
          <p:cNvPr id="11" name="Shape 9"/>
          <p:cNvSpPr/>
          <p:nvPr/>
        </p:nvSpPr>
        <p:spPr>
          <a:xfrm>
            <a:off x="5212080" y="162763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92026"/>
            <a:ext cx="384048" cy="384048"/>
          </a:xfrm>
          <a:prstGeom prst="roundRect">
            <a:avLst>
              <a:gd name="adj" fmla="val 26000"/>
            </a:avLst>
          </a:prstGeom>
          <a:solidFill>
            <a:srgbClr val="A56209"/>
          </a:solidFill>
          <a:ln/>
        </p:spPr>
      </p:sp>
      <p:sp>
        <p:nvSpPr>
          <p:cNvPr id="13" name="Text 11"/>
          <p:cNvSpPr txBox="1"/>
          <p:nvPr/>
        </p:nvSpPr>
        <p:spPr>
          <a:xfrm>
            <a:off x="5449824" y="189202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80310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Kalın kenarlı mercekte f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−20 cm</a:t>
            </a:r>
            <a:endParaRPr lang="en-US" sz="1600" dirty="0"/>
          </a:p>
        </p:txBody>
      </p:sp>
      <p:sp>
        <p:nvSpPr>
          <p:cNvPr id="15" name="Shape 13"/>
          <p:cNvSpPr/>
          <p:nvPr/>
        </p:nvSpPr>
        <p:spPr>
          <a:xfrm>
            <a:off x="5212080" y="2686772"/>
            <a:ext cx="6339535" cy="1339716"/>
          </a:xfrm>
          <a:prstGeom prst="roundRect">
            <a:avLst>
              <a:gd name="adj" fmla="val 10921"/>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164606"/>
            <a:ext cx="384048" cy="384048"/>
          </a:xfrm>
          <a:prstGeom prst="roundRect">
            <a:avLst>
              <a:gd name="adj" fmla="val 26000"/>
            </a:avLst>
          </a:prstGeom>
          <a:solidFill>
            <a:srgbClr val="A56209"/>
          </a:solidFill>
          <a:ln/>
        </p:spPr>
      </p:sp>
      <p:sp>
        <p:nvSpPr>
          <p:cNvPr id="17" name="Text 15"/>
          <p:cNvSpPr txBox="1"/>
          <p:nvPr/>
        </p:nvSpPr>
        <p:spPr>
          <a:xfrm>
            <a:off x="5449824" y="316460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741636"/>
            <a:ext cx="5379415" cy="122998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1/(−20) = 1/30 + 1/b → 1/b = −1/20 − 1/30 = (−3 − 2)/60 = −5/60</a:t>
            </a:r>
            <a:endParaRPr lang="en-US" sz="1600" dirty="0"/>
          </a:p>
        </p:txBody>
      </p:sp>
      <p:sp>
        <p:nvSpPr>
          <p:cNvPr id="19" name="Shape 17"/>
          <p:cNvSpPr/>
          <p:nvPr/>
        </p:nvSpPr>
        <p:spPr>
          <a:xfrm>
            <a:off x="5212080" y="417279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437186"/>
            <a:ext cx="384048" cy="384048"/>
          </a:xfrm>
          <a:prstGeom prst="roundRect">
            <a:avLst>
              <a:gd name="adj" fmla="val 26000"/>
            </a:avLst>
          </a:prstGeom>
          <a:solidFill>
            <a:srgbClr val="A56209"/>
          </a:solidFill>
          <a:ln/>
        </p:spPr>
      </p:sp>
      <p:sp>
        <p:nvSpPr>
          <p:cNvPr id="21" name="Text 19"/>
          <p:cNvSpPr txBox="1"/>
          <p:nvPr/>
        </p:nvSpPr>
        <p:spPr>
          <a:xfrm>
            <a:off x="5449824" y="443718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227656"/>
            <a:ext cx="5379415" cy="80310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b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−12 cm</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 sanal, cisim tarafında</a:t>
            </a:r>
            <a:endParaRPr lang="en-US" sz="1600" dirty="0"/>
          </a:p>
        </p:txBody>
      </p:sp>
      <p:sp>
        <p:nvSpPr>
          <p:cNvPr id="23" name="Shape 21"/>
          <p:cNvSpPr/>
          <p:nvPr/>
        </p:nvSpPr>
        <p:spPr>
          <a:xfrm>
            <a:off x="5212080" y="523193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496326"/>
            <a:ext cx="384048" cy="384048"/>
          </a:xfrm>
          <a:prstGeom prst="roundRect">
            <a:avLst>
              <a:gd name="adj" fmla="val 26000"/>
            </a:avLst>
          </a:prstGeom>
          <a:solidFill>
            <a:srgbClr val="A56209"/>
          </a:solidFill>
          <a:ln/>
        </p:spPr>
      </p:sp>
      <p:sp>
        <p:nvSpPr>
          <p:cNvPr id="25" name="Text 23"/>
          <p:cNvSpPr txBox="1"/>
          <p:nvPr/>
        </p:nvSpPr>
        <p:spPr>
          <a:xfrm>
            <a:off x="5449824" y="549632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5286796"/>
            <a:ext cx="5379415" cy="80310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m = 12/30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0,4</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görüntü düz ve küçüktür.</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5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Hipermetrop için okuma gözlüğü</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493520"/>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Yakın noktası 50 cm olan hipermetrop bir kişi, kitabı 25 cm'den okuyabilmek için kaç diyoptrilik gözlük takmalıdır? Camın odak uzaklığı kaç cm'dir?</a:t>
            </a:r>
            <a:endParaRPr lang="en-US" sz="1600" dirty="0"/>
          </a:p>
        </p:txBody>
      </p:sp>
      <p:sp>
        <p:nvSpPr>
          <p:cNvPr id="11" name="Shape 9"/>
          <p:cNvSpPr/>
          <p:nvPr/>
        </p:nvSpPr>
        <p:spPr>
          <a:xfrm>
            <a:off x="5212080" y="162763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945386"/>
            <a:ext cx="384048" cy="384048"/>
          </a:xfrm>
          <a:prstGeom prst="roundRect">
            <a:avLst>
              <a:gd name="adj" fmla="val 26000"/>
            </a:avLst>
          </a:prstGeom>
          <a:solidFill>
            <a:srgbClr val="A56209"/>
          </a:solidFill>
          <a:ln/>
        </p:spPr>
      </p:sp>
      <p:sp>
        <p:nvSpPr>
          <p:cNvPr id="13" name="Text 11"/>
          <p:cNvSpPr txBox="1"/>
          <p:nvPr/>
        </p:nvSpPr>
        <p:spPr>
          <a:xfrm>
            <a:off x="5449824" y="194538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Gözlük, 25 cm'deki yazının sanal görüntüsünü yakın noktaya düşürmeli: a = 0,25 m, b = −0,5 m.</a:t>
            </a:r>
            <a:endParaRPr lang="en-US" sz="1600" dirty="0"/>
          </a:p>
        </p:txBody>
      </p:sp>
      <p:sp>
        <p:nvSpPr>
          <p:cNvPr id="15" name="Shape 13"/>
          <p:cNvSpPr/>
          <p:nvPr/>
        </p:nvSpPr>
        <p:spPr>
          <a:xfrm>
            <a:off x="5212080" y="279349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111246"/>
            <a:ext cx="384048" cy="384048"/>
          </a:xfrm>
          <a:prstGeom prst="roundRect">
            <a:avLst>
              <a:gd name="adj" fmla="val 26000"/>
            </a:avLst>
          </a:prstGeom>
          <a:solidFill>
            <a:srgbClr val="A56209"/>
          </a:solidFill>
          <a:ln/>
        </p:spPr>
      </p:sp>
      <p:sp>
        <p:nvSpPr>
          <p:cNvPr id="17" name="Text 15"/>
          <p:cNvSpPr txBox="1"/>
          <p:nvPr/>
        </p:nvSpPr>
        <p:spPr>
          <a:xfrm>
            <a:off x="5449824" y="311124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84835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P = 1/a + 1/b = 1/0,25 + 1/(−0,5) = 4 − 2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+2 diyoptri</a:t>
            </a:r>
            <a:endParaRPr lang="en-US" sz="1600" dirty="0"/>
          </a:p>
        </p:txBody>
      </p:sp>
      <p:sp>
        <p:nvSpPr>
          <p:cNvPr id="19" name="Shape 17"/>
          <p:cNvSpPr/>
          <p:nvPr/>
        </p:nvSpPr>
        <p:spPr>
          <a:xfrm>
            <a:off x="5212080" y="395935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277106"/>
            <a:ext cx="384048" cy="384048"/>
          </a:xfrm>
          <a:prstGeom prst="roundRect">
            <a:avLst>
              <a:gd name="adj" fmla="val 26000"/>
            </a:avLst>
          </a:prstGeom>
          <a:solidFill>
            <a:srgbClr val="A56209"/>
          </a:solidFill>
          <a:ln/>
        </p:spPr>
      </p:sp>
      <p:sp>
        <p:nvSpPr>
          <p:cNvPr id="21" name="Text 19"/>
          <p:cNvSpPr txBox="1"/>
          <p:nvPr/>
        </p:nvSpPr>
        <p:spPr>
          <a:xfrm>
            <a:off x="5449824" y="427710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01421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f = 1/P = 0,5 m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50 cm</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artı işaret ince kenarlı (yakınsak) cam demektir.</a:t>
            </a:r>
            <a:endParaRPr lang="en-US" sz="1600" dirty="0"/>
          </a:p>
        </p:txBody>
      </p:sp>
      <p:sp>
        <p:nvSpPr>
          <p:cNvPr id="23" name="Shape 21"/>
          <p:cNvSpPr/>
          <p:nvPr/>
        </p:nvSpPr>
        <p:spPr>
          <a:xfrm>
            <a:off x="5212080" y="512521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442966"/>
            <a:ext cx="384048" cy="384048"/>
          </a:xfrm>
          <a:prstGeom prst="roundRect">
            <a:avLst>
              <a:gd name="adj" fmla="val 26000"/>
            </a:avLst>
          </a:prstGeom>
          <a:solidFill>
            <a:srgbClr val="A56209"/>
          </a:solidFill>
          <a:ln/>
        </p:spPr>
      </p:sp>
      <p:sp>
        <p:nvSpPr>
          <p:cNvPr id="25" name="Text 23"/>
          <p:cNvSpPr txBox="1"/>
          <p:nvPr/>
        </p:nvSpPr>
        <p:spPr>
          <a:xfrm>
            <a:off x="5449824" y="544296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518007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Kontrol: m = |b/a| = 50/25 = 2; gözlük yazıyı iki kat büyütüp yakın noktaya taşır.</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6 / 7</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Perdede iki net görüntü</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773936"/>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Bir mum ile perde arasındaki uzaklık 90 cm'dir. Odak uzaklığı 20 cm olan ince kenarlı mercek, perdede net görüntü oluşması için mumdan kaç cm uzağa konmalıdır? Her konumda büyütme nedir?</a:t>
            </a:r>
            <a:endParaRPr lang="en-US" sz="1600" dirty="0"/>
          </a:p>
        </p:txBody>
      </p:sp>
      <p:sp>
        <p:nvSpPr>
          <p:cNvPr id="11" name="Shape 9"/>
          <p:cNvSpPr/>
          <p:nvPr/>
        </p:nvSpPr>
        <p:spPr>
          <a:xfrm>
            <a:off x="5212080" y="1627632"/>
            <a:ext cx="6339535" cy="614082"/>
          </a:xfrm>
          <a:prstGeom prst="roundRect">
            <a:avLst>
              <a:gd name="adj" fmla="val 2382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742649"/>
            <a:ext cx="384048" cy="384048"/>
          </a:xfrm>
          <a:prstGeom prst="roundRect">
            <a:avLst>
              <a:gd name="adj" fmla="val 26000"/>
            </a:avLst>
          </a:prstGeom>
          <a:solidFill>
            <a:srgbClr val="A56209"/>
          </a:solidFill>
          <a:ln/>
        </p:spPr>
      </p:sp>
      <p:sp>
        <p:nvSpPr>
          <p:cNvPr id="13" name="Text 11"/>
          <p:cNvSpPr txBox="1"/>
          <p:nvPr/>
        </p:nvSpPr>
        <p:spPr>
          <a:xfrm>
            <a:off x="5449824" y="174264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50435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İki koşul: a + b = 90 ve 1/a + 1/b = 1/20.</a:t>
            </a:r>
            <a:endParaRPr lang="en-US" sz="1600" dirty="0"/>
          </a:p>
        </p:txBody>
      </p:sp>
      <p:sp>
        <p:nvSpPr>
          <p:cNvPr id="15" name="Shape 13"/>
          <p:cNvSpPr/>
          <p:nvPr/>
        </p:nvSpPr>
        <p:spPr>
          <a:xfrm>
            <a:off x="5212080" y="2388018"/>
            <a:ext cx="6339535" cy="614082"/>
          </a:xfrm>
          <a:prstGeom prst="roundRect">
            <a:avLst>
              <a:gd name="adj" fmla="val 2382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503035"/>
            <a:ext cx="384048" cy="384048"/>
          </a:xfrm>
          <a:prstGeom prst="roundRect">
            <a:avLst>
              <a:gd name="adj" fmla="val 26000"/>
            </a:avLst>
          </a:prstGeom>
          <a:solidFill>
            <a:srgbClr val="A56209"/>
          </a:solidFill>
          <a:ln/>
        </p:spPr>
      </p:sp>
      <p:sp>
        <p:nvSpPr>
          <p:cNvPr id="17" name="Text 15"/>
          <p:cNvSpPr txBox="1"/>
          <p:nvPr/>
        </p:nvSpPr>
        <p:spPr>
          <a:xfrm>
            <a:off x="5449824" y="2503035"/>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442882"/>
            <a:ext cx="5379415" cy="50435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b = 90 − a yazılırsa a² − 90·a + 1800 = 0 olur.</a:t>
            </a:r>
            <a:endParaRPr lang="en-US" sz="1600" dirty="0"/>
          </a:p>
        </p:txBody>
      </p:sp>
      <p:sp>
        <p:nvSpPr>
          <p:cNvPr id="19" name="Shape 17"/>
          <p:cNvSpPr/>
          <p:nvPr/>
        </p:nvSpPr>
        <p:spPr>
          <a:xfrm>
            <a:off x="5212080" y="3148404"/>
            <a:ext cx="6339535" cy="901252"/>
          </a:xfrm>
          <a:prstGeom prst="roundRect">
            <a:avLst>
              <a:gd name="adj" fmla="val 1623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3407006"/>
            <a:ext cx="384048" cy="384048"/>
          </a:xfrm>
          <a:prstGeom prst="roundRect">
            <a:avLst>
              <a:gd name="adj" fmla="val 26000"/>
            </a:avLst>
          </a:prstGeom>
          <a:solidFill>
            <a:srgbClr val="A56209"/>
          </a:solidFill>
          <a:ln/>
        </p:spPr>
      </p:sp>
      <p:sp>
        <p:nvSpPr>
          <p:cNvPr id="21" name="Text 19"/>
          <p:cNvSpPr txBox="1"/>
          <p:nvPr/>
        </p:nvSpPr>
        <p:spPr>
          <a:xfrm>
            <a:off x="5449824" y="340700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203268"/>
            <a:ext cx="5379415" cy="79152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a = (90 ± √(8100 − 7200)) / 2 = (90 ± 30) / 2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 = 30 cm</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ya da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 = 60 cm</a:t>
            </a:r>
            <a:endParaRPr lang="en-US" sz="1600" dirty="0"/>
          </a:p>
        </p:txBody>
      </p:sp>
      <p:sp>
        <p:nvSpPr>
          <p:cNvPr id="23" name="Shape 21"/>
          <p:cNvSpPr/>
          <p:nvPr/>
        </p:nvSpPr>
        <p:spPr>
          <a:xfrm>
            <a:off x="5212080" y="4195960"/>
            <a:ext cx="6339535" cy="901252"/>
          </a:xfrm>
          <a:prstGeom prst="roundRect">
            <a:avLst>
              <a:gd name="adj" fmla="val 1623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4454562"/>
            <a:ext cx="384048" cy="384048"/>
          </a:xfrm>
          <a:prstGeom prst="roundRect">
            <a:avLst>
              <a:gd name="adj" fmla="val 26000"/>
            </a:avLst>
          </a:prstGeom>
          <a:solidFill>
            <a:srgbClr val="A56209"/>
          </a:solidFill>
          <a:ln/>
        </p:spPr>
      </p:sp>
      <p:sp>
        <p:nvSpPr>
          <p:cNvPr id="25" name="Text 23"/>
          <p:cNvSpPr txBox="1"/>
          <p:nvPr/>
        </p:nvSpPr>
        <p:spPr>
          <a:xfrm>
            <a:off x="5449824" y="445456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250824"/>
            <a:ext cx="5379415" cy="79152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a = 30 cm → b = 60 cm, m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2</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(büyük, ters); a = 60 cm → b = 30 cm, m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0,5</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(küçük, ters).</a:t>
            </a:r>
            <a:endParaRPr lang="en-US" sz="1600" dirty="0"/>
          </a:p>
        </p:txBody>
      </p:sp>
      <p:sp>
        <p:nvSpPr>
          <p:cNvPr id="27" name="Shape 25"/>
          <p:cNvSpPr/>
          <p:nvPr/>
        </p:nvSpPr>
        <p:spPr>
          <a:xfrm>
            <a:off x="5212080" y="5243516"/>
            <a:ext cx="6339535" cy="901252"/>
          </a:xfrm>
          <a:prstGeom prst="roundRect">
            <a:avLst>
              <a:gd name="adj" fmla="val 1623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8" name="Shape 26"/>
          <p:cNvSpPr/>
          <p:nvPr/>
        </p:nvSpPr>
        <p:spPr>
          <a:xfrm>
            <a:off x="5449824" y="5502118"/>
            <a:ext cx="384048" cy="384048"/>
          </a:xfrm>
          <a:prstGeom prst="roundRect">
            <a:avLst>
              <a:gd name="adj" fmla="val 26000"/>
            </a:avLst>
          </a:prstGeom>
          <a:solidFill>
            <a:srgbClr val="A56209"/>
          </a:solidFill>
          <a:ln/>
        </p:spPr>
      </p:sp>
      <p:sp>
        <p:nvSpPr>
          <p:cNvPr id="29" name="Text 27"/>
          <p:cNvSpPr txBox="1"/>
          <p:nvPr/>
        </p:nvSpPr>
        <p:spPr>
          <a:xfrm>
            <a:off x="5449824" y="550211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0" name="Text 28"/>
          <p:cNvSpPr txBox="1"/>
          <p:nvPr/>
        </p:nvSpPr>
        <p:spPr>
          <a:xfrm>
            <a:off x="5989320" y="5298380"/>
            <a:ext cx="5379415" cy="79152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Kontrol: D = 90 cm ≥ 4f = 80 cm ✓; büyütmelerin çarpımı 2 · 0,5 = 1 ✓</a:t>
            </a:r>
            <a:endParaRPr lang="en-US" sz="1600" dirty="0"/>
          </a:p>
        </p:txBody>
      </p:sp>
      <p:sp>
        <p:nvSpPr>
          <p:cNvPr id="31" name="Shape 29"/>
          <p:cNvSpPr/>
          <p:nvPr/>
        </p:nvSpPr>
        <p:spPr>
          <a:xfrm>
            <a:off x="640080" y="6382512"/>
            <a:ext cx="128016" cy="128016"/>
          </a:xfrm>
          <a:prstGeom prst="roundRect">
            <a:avLst>
              <a:gd name="adj" fmla="val 28571"/>
            </a:avLst>
          </a:prstGeom>
          <a:solidFill>
            <a:srgbClr val="A9E648"/>
          </a:solidFill>
          <a:ln/>
        </p:spPr>
      </p:sp>
      <p:sp>
        <p:nvSpPr>
          <p:cNvPr id="32" name="Text 3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33" name="Text 3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7 / 7</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mercekli mikroskop</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2054352"/>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Odak uzaklığı 10 cm olan ince kenarlı bir merceğin 15 cm önüne 1 mm boyunda bir cisim konuyor. Bu mercekten 34 cm uzakta, odak uzaklığı 5 cm olan ikinci bir ince kenarlı mercek var. Son görüntünün türünü ve boyunu bulunuz.</a:t>
            </a:r>
            <a:endParaRPr lang="en-US" sz="1600" dirty="0"/>
          </a:p>
        </p:txBody>
      </p:sp>
      <p:sp>
        <p:nvSpPr>
          <p:cNvPr id="11" name="Shape 9"/>
          <p:cNvSpPr/>
          <p:nvPr/>
        </p:nvSpPr>
        <p:spPr>
          <a:xfrm>
            <a:off x="5212080" y="1627632"/>
            <a:ext cx="6339535" cy="743379"/>
          </a:xfrm>
          <a:prstGeom prst="roundRect">
            <a:avLst>
              <a:gd name="adj" fmla="val 19681"/>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07297"/>
            <a:ext cx="384048" cy="384048"/>
          </a:xfrm>
          <a:prstGeom prst="roundRect">
            <a:avLst>
              <a:gd name="adj" fmla="val 26000"/>
            </a:avLst>
          </a:prstGeom>
          <a:solidFill>
            <a:srgbClr val="A56209"/>
          </a:solidFill>
          <a:ln/>
        </p:spPr>
      </p:sp>
      <p:sp>
        <p:nvSpPr>
          <p:cNvPr id="13" name="Text 11"/>
          <p:cNvSpPr txBox="1"/>
          <p:nvPr/>
        </p:nvSpPr>
        <p:spPr>
          <a:xfrm>
            <a:off x="5449824" y="1807297"/>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633651"/>
          </a:xfrm>
          <a:prstGeom prst="rect">
            <a:avLst/>
          </a:prstGeom>
          <a:noFill/>
          <a:ln/>
        </p:spPr>
        <p:txBody>
          <a:bodyPr wrap="square" lIns="0" tIns="0" rIns="0" bIns="0" rtlCol="0" anchor="ctr"/>
          <a:lstStyle/>
          <a:p>
            <a:pPr indent="0" marL="0">
              <a:lnSpc>
                <a:spcPct val="112000"/>
              </a:lnSpc>
              <a:buNone/>
            </a:pPr>
            <a:r>
              <a:rPr lang="en-US" sz="1250" dirty="0">
                <a:solidFill>
                  <a:srgbClr val="4A5470"/>
                </a:solidFill>
                <a:latin typeface="Calibri" pitchFamily="34" charset="0"/>
                <a:ea typeface="Calibri" pitchFamily="34" charset="-122"/>
                <a:cs typeface="Calibri" pitchFamily="34" charset="-120"/>
              </a:rPr>
              <a:t>Birinci mercek: 1/b₁ = 1/10 − 1/15 = (3 − 2)/30 → b₁ = 30 cm, m₁ = 30/15 = 2 (gerçek, ters).</a:t>
            </a:r>
            <a:endParaRPr lang="en-US" sz="1250" dirty="0"/>
          </a:p>
        </p:txBody>
      </p:sp>
      <p:sp>
        <p:nvSpPr>
          <p:cNvPr id="15" name="Shape 13"/>
          <p:cNvSpPr/>
          <p:nvPr/>
        </p:nvSpPr>
        <p:spPr>
          <a:xfrm>
            <a:off x="5212080" y="2517315"/>
            <a:ext cx="6339535" cy="743379"/>
          </a:xfrm>
          <a:prstGeom prst="roundRect">
            <a:avLst>
              <a:gd name="adj" fmla="val 19681"/>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696980"/>
            <a:ext cx="384048" cy="384048"/>
          </a:xfrm>
          <a:prstGeom prst="roundRect">
            <a:avLst>
              <a:gd name="adj" fmla="val 26000"/>
            </a:avLst>
          </a:prstGeom>
          <a:solidFill>
            <a:srgbClr val="A56209"/>
          </a:solidFill>
          <a:ln/>
        </p:spPr>
      </p:sp>
      <p:sp>
        <p:nvSpPr>
          <p:cNvPr id="17" name="Text 15"/>
          <p:cNvSpPr txBox="1"/>
          <p:nvPr/>
        </p:nvSpPr>
        <p:spPr>
          <a:xfrm>
            <a:off x="5449824" y="2696980"/>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572179"/>
            <a:ext cx="5379415" cy="633651"/>
          </a:xfrm>
          <a:prstGeom prst="rect">
            <a:avLst/>
          </a:prstGeom>
          <a:noFill/>
          <a:ln/>
        </p:spPr>
        <p:txBody>
          <a:bodyPr wrap="square" lIns="0" tIns="0" rIns="0" bIns="0" rtlCol="0" anchor="ctr"/>
          <a:lstStyle/>
          <a:p>
            <a:pPr indent="0" marL="0">
              <a:lnSpc>
                <a:spcPct val="112000"/>
              </a:lnSpc>
              <a:buNone/>
            </a:pPr>
            <a:r>
              <a:rPr lang="en-US" sz="1250" dirty="0">
                <a:solidFill>
                  <a:srgbClr val="4A5470"/>
                </a:solidFill>
                <a:latin typeface="Calibri" pitchFamily="34" charset="0"/>
                <a:ea typeface="Calibri" pitchFamily="34" charset="-122"/>
                <a:cs typeface="Calibri" pitchFamily="34" charset="-120"/>
              </a:rPr>
              <a:t>Bu görüntü ikinci mercekten 34 − 30 = 4 cm öndedir ve ona cisim olur: a₂ = 4 cm, odağın içinde.</a:t>
            </a:r>
            <a:endParaRPr lang="en-US" sz="1250" dirty="0"/>
          </a:p>
        </p:txBody>
      </p:sp>
      <p:sp>
        <p:nvSpPr>
          <p:cNvPr id="19" name="Shape 17"/>
          <p:cNvSpPr/>
          <p:nvPr/>
        </p:nvSpPr>
        <p:spPr>
          <a:xfrm>
            <a:off x="5212080" y="3406997"/>
            <a:ext cx="6339535" cy="743379"/>
          </a:xfrm>
          <a:prstGeom prst="roundRect">
            <a:avLst>
              <a:gd name="adj" fmla="val 19681"/>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3586663"/>
            <a:ext cx="384048" cy="384048"/>
          </a:xfrm>
          <a:prstGeom prst="roundRect">
            <a:avLst>
              <a:gd name="adj" fmla="val 26000"/>
            </a:avLst>
          </a:prstGeom>
          <a:solidFill>
            <a:srgbClr val="A56209"/>
          </a:solidFill>
          <a:ln/>
        </p:spPr>
      </p:sp>
      <p:sp>
        <p:nvSpPr>
          <p:cNvPr id="21" name="Text 19"/>
          <p:cNvSpPr txBox="1"/>
          <p:nvPr/>
        </p:nvSpPr>
        <p:spPr>
          <a:xfrm>
            <a:off x="5449824" y="358666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461861"/>
            <a:ext cx="5379415" cy="633651"/>
          </a:xfrm>
          <a:prstGeom prst="rect">
            <a:avLst/>
          </a:prstGeom>
          <a:noFill/>
          <a:ln/>
        </p:spPr>
        <p:txBody>
          <a:bodyPr wrap="square" lIns="0" tIns="0" rIns="0" bIns="0" rtlCol="0" anchor="ctr"/>
          <a:lstStyle/>
          <a:p>
            <a:pPr indent="0" marL="0">
              <a:lnSpc>
                <a:spcPct val="112000"/>
              </a:lnSpc>
              <a:buNone/>
            </a:pPr>
            <a:r>
              <a:rPr lang="en-US" sz="1250" dirty="0">
                <a:solidFill>
                  <a:srgbClr val="4A5470"/>
                </a:solidFill>
                <a:latin typeface="Calibri" pitchFamily="34" charset="0"/>
                <a:ea typeface="Calibri" pitchFamily="34" charset="-122"/>
                <a:cs typeface="Calibri" pitchFamily="34" charset="-120"/>
              </a:rPr>
              <a:t>İkinci mercek: 1/b₂ = 1/5 − 1/4 = (4 − 5)/20 = −1/20 → b₂ = −20 cm, sanal.</a:t>
            </a:r>
            <a:endParaRPr lang="en-US" sz="1250" dirty="0"/>
          </a:p>
        </p:txBody>
      </p:sp>
      <p:sp>
        <p:nvSpPr>
          <p:cNvPr id="23" name="Shape 21"/>
          <p:cNvSpPr/>
          <p:nvPr/>
        </p:nvSpPr>
        <p:spPr>
          <a:xfrm>
            <a:off x="5212080" y="4296680"/>
            <a:ext cx="6339535" cy="743379"/>
          </a:xfrm>
          <a:prstGeom prst="roundRect">
            <a:avLst>
              <a:gd name="adj" fmla="val 19681"/>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4476345"/>
            <a:ext cx="384048" cy="384048"/>
          </a:xfrm>
          <a:prstGeom prst="roundRect">
            <a:avLst>
              <a:gd name="adj" fmla="val 26000"/>
            </a:avLst>
          </a:prstGeom>
          <a:solidFill>
            <a:srgbClr val="A56209"/>
          </a:solidFill>
          <a:ln/>
        </p:spPr>
      </p:sp>
      <p:sp>
        <p:nvSpPr>
          <p:cNvPr id="25" name="Text 23"/>
          <p:cNvSpPr txBox="1"/>
          <p:nvPr/>
        </p:nvSpPr>
        <p:spPr>
          <a:xfrm>
            <a:off x="5449824" y="4476345"/>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351544"/>
            <a:ext cx="5379415" cy="633651"/>
          </a:xfrm>
          <a:prstGeom prst="rect">
            <a:avLst/>
          </a:prstGeom>
          <a:noFill/>
          <a:ln/>
        </p:spPr>
        <p:txBody>
          <a:bodyPr wrap="square" lIns="0" tIns="0" rIns="0" bIns="0" rtlCol="0" anchor="ctr"/>
          <a:lstStyle/>
          <a:p>
            <a:pPr indent="0" marL="0">
              <a:lnSpc>
                <a:spcPct val="112000"/>
              </a:lnSpc>
              <a:buNone/>
            </a:pPr>
            <a:r>
              <a:rPr lang="en-US" sz="1250" dirty="0">
                <a:solidFill>
                  <a:srgbClr val="4A5470"/>
                </a:solidFill>
                <a:latin typeface="Calibri" pitchFamily="34" charset="0"/>
                <a:ea typeface="Calibri" pitchFamily="34" charset="-122"/>
                <a:cs typeface="Calibri" pitchFamily="34" charset="-120"/>
              </a:rPr>
              <a:t>m₂ = 20/4 = 5; toplam m = m₁ · m₂ = 2 · 5 = 10 → görüntü boyu </a:t>
            </a:r>
            <a:pPr indent="0" marL="0">
              <a:lnSpc>
                <a:spcPct val="112000"/>
              </a:lnSpc>
              <a:buNone/>
            </a:pPr>
            <a:r>
              <a:rPr lang="en-US" sz="1250" b="1" dirty="0">
                <a:solidFill>
                  <a:srgbClr val="0E1426"/>
                </a:solidFill>
                <a:latin typeface="Calibri" pitchFamily="34" charset="0"/>
                <a:ea typeface="Calibri" pitchFamily="34" charset="-122"/>
                <a:cs typeface="Calibri" pitchFamily="34" charset="-120"/>
              </a:rPr>
              <a:t>10 mm</a:t>
            </a:r>
            <a:pPr indent="0" marL="0">
              <a:lnSpc>
                <a:spcPct val="112000"/>
              </a:lnSpc>
              <a:buNone/>
            </a:pPr>
            <a:r>
              <a:rPr lang="en-US" sz="1250" dirty="0">
                <a:solidFill>
                  <a:srgbClr val="4A5470"/>
                </a:solidFill>
                <a:latin typeface="Calibri" pitchFamily="34" charset="0"/>
                <a:ea typeface="Calibri" pitchFamily="34" charset="-122"/>
                <a:cs typeface="Calibri" pitchFamily="34" charset="-120"/>
              </a:rPr>
              <a:t>.</a:t>
            </a:r>
            <a:endParaRPr lang="en-US" sz="1250" dirty="0"/>
          </a:p>
        </p:txBody>
      </p:sp>
      <p:sp>
        <p:nvSpPr>
          <p:cNvPr id="27" name="Shape 25"/>
          <p:cNvSpPr/>
          <p:nvPr/>
        </p:nvSpPr>
        <p:spPr>
          <a:xfrm>
            <a:off x="5212080" y="5186363"/>
            <a:ext cx="6339535" cy="958406"/>
          </a:xfrm>
          <a:prstGeom prst="roundRect">
            <a:avLst>
              <a:gd name="adj" fmla="val 1526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8" name="Shape 26"/>
          <p:cNvSpPr/>
          <p:nvPr/>
        </p:nvSpPr>
        <p:spPr>
          <a:xfrm>
            <a:off x="5449824" y="5473541"/>
            <a:ext cx="384048" cy="384048"/>
          </a:xfrm>
          <a:prstGeom prst="roundRect">
            <a:avLst>
              <a:gd name="adj" fmla="val 26000"/>
            </a:avLst>
          </a:prstGeom>
          <a:solidFill>
            <a:srgbClr val="A56209"/>
          </a:solidFill>
          <a:ln/>
        </p:spPr>
      </p:sp>
      <p:sp>
        <p:nvSpPr>
          <p:cNvPr id="29" name="Text 27"/>
          <p:cNvSpPr txBox="1"/>
          <p:nvPr/>
        </p:nvSpPr>
        <p:spPr>
          <a:xfrm>
            <a:off x="5449824" y="5473541"/>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0" name="Text 28"/>
          <p:cNvSpPr txBox="1"/>
          <p:nvPr/>
        </p:nvSpPr>
        <p:spPr>
          <a:xfrm>
            <a:off x="5989320" y="5241227"/>
            <a:ext cx="5379415" cy="848678"/>
          </a:xfrm>
          <a:prstGeom prst="rect">
            <a:avLst/>
          </a:prstGeom>
          <a:noFill/>
          <a:ln/>
        </p:spPr>
        <p:txBody>
          <a:bodyPr wrap="square" lIns="0" tIns="0" rIns="0" bIns="0" rtlCol="0" anchor="ctr"/>
          <a:lstStyle/>
          <a:p>
            <a:pPr indent="0" marL="0">
              <a:lnSpc>
                <a:spcPct val="112000"/>
              </a:lnSpc>
              <a:buNone/>
            </a:pPr>
            <a:r>
              <a:rPr lang="en-US" sz="1250" dirty="0">
                <a:solidFill>
                  <a:srgbClr val="4A5470"/>
                </a:solidFill>
                <a:latin typeface="Calibri" pitchFamily="34" charset="0"/>
                <a:ea typeface="Calibri" pitchFamily="34" charset="-122"/>
                <a:cs typeface="Calibri" pitchFamily="34" charset="-120"/>
              </a:rPr>
              <a:t>Birinci mercek görüntüyü ters çevirdi, ikinci mercek büyüteç gibi düz bıraktı: son görüntü </a:t>
            </a:r>
            <a:pPr indent="0" marL="0">
              <a:lnSpc>
                <a:spcPct val="112000"/>
              </a:lnSpc>
              <a:buNone/>
            </a:pPr>
            <a:r>
              <a:rPr lang="en-US" sz="1250" b="1" dirty="0">
                <a:solidFill>
                  <a:srgbClr val="0E1426"/>
                </a:solidFill>
                <a:latin typeface="Calibri" pitchFamily="34" charset="0"/>
                <a:ea typeface="Calibri" pitchFamily="34" charset="-122"/>
                <a:cs typeface="Calibri" pitchFamily="34" charset="-120"/>
              </a:rPr>
              <a:t>sanal, ters ve 10 kat büyüktür</a:t>
            </a:r>
            <a:pPr indent="0" marL="0">
              <a:lnSpc>
                <a:spcPct val="112000"/>
              </a:lnSpc>
              <a:buNone/>
            </a:pPr>
            <a:r>
              <a:rPr lang="en-US" sz="1250" dirty="0">
                <a:solidFill>
                  <a:srgbClr val="4A5470"/>
                </a:solidFill>
                <a:latin typeface="Calibri" pitchFamily="34" charset="0"/>
                <a:ea typeface="Calibri" pitchFamily="34" charset="-122"/>
                <a:cs typeface="Calibri" pitchFamily="34" charset="-120"/>
              </a:rPr>
              <a:t>. Mikroskop böyle çalışır.</a:t>
            </a:r>
            <a:endParaRPr lang="en-US" sz="1250" dirty="0"/>
          </a:p>
        </p:txBody>
      </p:sp>
      <p:sp>
        <p:nvSpPr>
          <p:cNvPr id="31" name="Shape 29"/>
          <p:cNvSpPr/>
          <p:nvPr/>
        </p:nvSpPr>
        <p:spPr>
          <a:xfrm>
            <a:off x="640080" y="6382512"/>
            <a:ext cx="128016" cy="128016"/>
          </a:xfrm>
          <a:prstGeom prst="roundRect">
            <a:avLst>
              <a:gd name="adj" fmla="val 28571"/>
            </a:avLst>
          </a:prstGeom>
          <a:solidFill>
            <a:srgbClr val="A9E648"/>
          </a:solidFill>
          <a:ln/>
        </p:spPr>
      </p:sp>
      <p:sp>
        <p:nvSpPr>
          <p:cNvPr id="32" name="Text 3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33" name="Text 3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73936"/>
            <a:ext cx="274320" cy="274320"/>
          </a:xfrm>
          <a:prstGeom prst="roundRect">
            <a:avLst>
              <a:gd name="adj" fmla="val 26667"/>
            </a:avLst>
          </a:prstGeom>
          <a:solidFill>
            <a:srgbClr val="FBE9EE"/>
          </a:solidFill>
          <a:ln/>
        </p:spPr>
      </p:sp>
      <p:sp>
        <p:nvSpPr>
          <p:cNvPr id="9" name="Text 7"/>
          <p:cNvSpPr txBox="1"/>
          <p:nvPr/>
        </p:nvSpPr>
        <p:spPr>
          <a:xfrm>
            <a:off x="841248"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1225296"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İnce kenarlıyı “ince mercek” sanmak.</a:t>
            </a:r>
            <a:endParaRPr lang="en-US" sz="1600" dirty="0"/>
          </a:p>
        </p:txBody>
      </p:sp>
      <p:sp>
        <p:nvSpPr>
          <p:cNvPr id="11" name="Shape 9"/>
          <p:cNvSpPr/>
          <p:nvPr/>
        </p:nvSpPr>
        <p:spPr>
          <a:xfrm>
            <a:off x="841248" y="2154936"/>
            <a:ext cx="274320" cy="274320"/>
          </a:xfrm>
          <a:prstGeom prst="roundRect">
            <a:avLst>
              <a:gd name="adj" fmla="val 26667"/>
            </a:avLst>
          </a:prstGeom>
          <a:solidFill>
            <a:srgbClr val="EAF7DC"/>
          </a:solidFill>
          <a:ln/>
        </p:spPr>
      </p:sp>
      <p:sp>
        <p:nvSpPr>
          <p:cNvPr id="12" name="Text 10"/>
          <p:cNvSpPr txBox="1"/>
          <p:nvPr/>
        </p:nvSpPr>
        <p:spPr>
          <a:xfrm>
            <a:off x="841248"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1225296"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Adı kenarının inceliğinden gelir; ortası kalındır ve ışığı toplar.</a:t>
            </a:r>
            <a:endParaRPr lang="en-US" sz="1500" dirty="0"/>
          </a:p>
        </p:txBody>
      </p:sp>
      <p:sp>
        <p:nvSpPr>
          <p:cNvPr id="14" name="Shape 12"/>
          <p:cNvSpPr/>
          <p:nvPr/>
        </p:nvSpPr>
        <p:spPr>
          <a:xfrm>
            <a:off x="6205576"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73936"/>
            <a:ext cx="274320" cy="274320"/>
          </a:xfrm>
          <a:prstGeom prst="roundRect">
            <a:avLst>
              <a:gd name="adj" fmla="val 26667"/>
            </a:avLst>
          </a:prstGeom>
          <a:solidFill>
            <a:srgbClr val="FBE9EE"/>
          </a:solidFill>
          <a:ln/>
        </p:spPr>
      </p:sp>
      <p:sp>
        <p:nvSpPr>
          <p:cNvPr id="16" name="Text 14"/>
          <p:cNvSpPr txBox="1"/>
          <p:nvPr/>
        </p:nvSpPr>
        <p:spPr>
          <a:xfrm>
            <a:off x="6406744"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7" name="Text 15"/>
          <p:cNvSpPr txBox="1"/>
          <p:nvPr/>
        </p:nvSpPr>
        <p:spPr>
          <a:xfrm>
            <a:off x="6790792" y="174650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Kalın kenarlı mercekte gerçek görüntü aramak.</a:t>
            </a:r>
            <a:endParaRPr lang="en-US" sz="1600" dirty="0"/>
          </a:p>
        </p:txBody>
      </p:sp>
      <p:sp>
        <p:nvSpPr>
          <p:cNvPr id="18" name="Shape 16"/>
          <p:cNvSpPr/>
          <p:nvPr/>
        </p:nvSpPr>
        <p:spPr>
          <a:xfrm>
            <a:off x="6406744" y="2435352"/>
            <a:ext cx="274320" cy="274320"/>
          </a:xfrm>
          <a:prstGeom prst="roundRect">
            <a:avLst>
              <a:gd name="adj" fmla="val 26667"/>
            </a:avLst>
          </a:prstGeom>
          <a:solidFill>
            <a:srgbClr val="EAF7DC"/>
          </a:solidFill>
          <a:ln/>
        </p:spPr>
      </p:sp>
      <p:sp>
        <p:nvSpPr>
          <p:cNvPr id="19" name="Text 17"/>
          <p:cNvSpPr txBox="1"/>
          <p:nvPr/>
        </p:nvSpPr>
        <p:spPr>
          <a:xfrm>
            <a:off x="6406744" y="243535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0" name="Text 18"/>
          <p:cNvSpPr txBox="1"/>
          <p:nvPr/>
        </p:nvSpPr>
        <p:spPr>
          <a:xfrm>
            <a:off x="6790792" y="241706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Havadaki kalın kenarlı mercekte görüntü her zaman sanal, düz ve küçüktür.</a:t>
            </a:r>
            <a:endParaRPr lang="en-US" sz="1500" dirty="0"/>
          </a:p>
        </p:txBody>
      </p:sp>
      <p:sp>
        <p:nvSpPr>
          <p:cNvPr id="21" name="Shape 19"/>
          <p:cNvSpPr/>
          <p:nvPr/>
        </p:nvSpPr>
        <p:spPr>
          <a:xfrm>
            <a:off x="640080"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05656"/>
            <a:ext cx="274320" cy="274320"/>
          </a:xfrm>
          <a:prstGeom prst="roundRect">
            <a:avLst>
              <a:gd name="adj" fmla="val 26667"/>
            </a:avLst>
          </a:prstGeom>
          <a:solidFill>
            <a:srgbClr val="FBE9EE"/>
          </a:solidFill>
          <a:ln/>
        </p:spPr>
      </p:sp>
      <p:sp>
        <p:nvSpPr>
          <p:cNvPr id="23" name="Text 21"/>
          <p:cNvSpPr txBox="1"/>
          <p:nvPr/>
        </p:nvSpPr>
        <p:spPr>
          <a:xfrm>
            <a:off x="841248"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24" name="Text 22"/>
          <p:cNvSpPr txBox="1"/>
          <p:nvPr/>
        </p:nvSpPr>
        <p:spPr>
          <a:xfrm>
            <a:off x="1225296"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Miyopa ince kenarlı cam vermek.</a:t>
            </a:r>
            <a:endParaRPr lang="en-US" sz="1600" dirty="0"/>
          </a:p>
        </p:txBody>
      </p:sp>
      <p:sp>
        <p:nvSpPr>
          <p:cNvPr id="25" name="Shape 23"/>
          <p:cNvSpPr/>
          <p:nvPr/>
        </p:nvSpPr>
        <p:spPr>
          <a:xfrm>
            <a:off x="841248" y="4486656"/>
            <a:ext cx="274320" cy="274320"/>
          </a:xfrm>
          <a:prstGeom prst="roundRect">
            <a:avLst>
              <a:gd name="adj" fmla="val 26667"/>
            </a:avLst>
          </a:prstGeom>
          <a:solidFill>
            <a:srgbClr val="EAF7DC"/>
          </a:solidFill>
          <a:ln/>
        </p:spPr>
      </p:sp>
      <p:sp>
        <p:nvSpPr>
          <p:cNvPr id="26" name="Text 24"/>
          <p:cNvSpPr txBox="1"/>
          <p:nvPr/>
        </p:nvSpPr>
        <p:spPr>
          <a:xfrm>
            <a:off x="841248"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7" name="Text 25"/>
          <p:cNvSpPr txBox="1"/>
          <p:nvPr/>
        </p:nvSpPr>
        <p:spPr>
          <a:xfrm>
            <a:off x="1225296"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Miyop kalın kenarlı (eksi numaralı) camla düzeltilir.</a:t>
            </a:r>
            <a:endParaRPr lang="en-US" sz="1500" dirty="0"/>
          </a:p>
        </p:txBody>
      </p:sp>
      <p:sp>
        <p:nvSpPr>
          <p:cNvPr id="28" name="Shape 26"/>
          <p:cNvSpPr/>
          <p:nvPr/>
        </p:nvSpPr>
        <p:spPr>
          <a:xfrm>
            <a:off x="6205576"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05656"/>
            <a:ext cx="274320" cy="274320"/>
          </a:xfrm>
          <a:prstGeom prst="roundRect">
            <a:avLst>
              <a:gd name="adj" fmla="val 26667"/>
            </a:avLst>
          </a:prstGeom>
          <a:solidFill>
            <a:srgbClr val="FBE9EE"/>
          </a:solidFill>
          <a:ln/>
        </p:spPr>
      </p:sp>
      <p:sp>
        <p:nvSpPr>
          <p:cNvPr id="30" name="Text 28"/>
          <p:cNvSpPr txBox="1"/>
          <p:nvPr/>
        </p:nvSpPr>
        <p:spPr>
          <a:xfrm>
            <a:off x="6406744"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31" name="Text 29"/>
          <p:cNvSpPr txBox="1"/>
          <p:nvPr/>
        </p:nvSpPr>
        <p:spPr>
          <a:xfrm>
            <a:off x="6790792"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Diyoptriyi santimetreyle hesaplamak.</a:t>
            </a:r>
            <a:endParaRPr lang="en-US" sz="1600" dirty="0"/>
          </a:p>
        </p:txBody>
      </p:sp>
      <p:sp>
        <p:nvSpPr>
          <p:cNvPr id="32" name="Shape 30"/>
          <p:cNvSpPr/>
          <p:nvPr/>
        </p:nvSpPr>
        <p:spPr>
          <a:xfrm>
            <a:off x="6406744" y="4486656"/>
            <a:ext cx="274320" cy="274320"/>
          </a:xfrm>
          <a:prstGeom prst="roundRect">
            <a:avLst>
              <a:gd name="adj" fmla="val 26667"/>
            </a:avLst>
          </a:prstGeom>
          <a:solidFill>
            <a:srgbClr val="EAF7DC"/>
          </a:solidFill>
          <a:ln/>
        </p:spPr>
      </p:sp>
      <p:sp>
        <p:nvSpPr>
          <p:cNvPr id="33" name="Text 31"/>
          <p:cNvSpPr txBox="1"/>
          <p:nvPr/>
        </p:nvSpPr>
        <p:spPr>
          <a:xfrm>
            <a:off x="6406744"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34" name="Text 32"/>
          <p:cNvSpPr txBox="1"/>
          <p:nvPr/>
        </p:nvSpPr>
        <p:spPr>
          <a:xfrm>
            <a:off x="6790792"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P = 1/f bağıntısında f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metre</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cinsinden olmalıdır: f = 50 cm için P = 1/0,5 = 2 D, 1/50 değil.</a:t>
            </a:r>
            <a:endParaRPr lang="en-US" sz="15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73936"/>
            <a:ext cx="274320" cy="274320"/>
          </a:xfrm>
          <a:prstGeom prst="roundRect">
            <a:avLst>
              <a:gd name="adj" fmla="val 26667"/>
            </a:avLst>
          </a:prstGeom>
          <a:solidFill>
            <a:srgbClr val="FBE9EE"/>
          </a:solidFill>
          <a:ln/>
        </p:spPr>
      </p:sp>
      <p:sp>
        <p:nvSpPr>
          <p:cNvPr id="9" name="Text 7"/>
          <p:cNvSpPr txBox="1"/>
          <p:nvPr/>
        </p:nvSpPr>
        <p:spPr>
          <a:xfrm>
            <a:off x="841248"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1225296" y="174650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Sanal görüntüyü perdeye düşürmeye çalışmak.</a:t>
            </a:r>
            <a:endParaRPr lang="en-US" sz="1600" dirty="0"/>
          </a:p>
        </p:txBody>
      </p:sp>
      <p:sp>
        <p:nvSpPr>
          <p:cNvPr id="11" name="Shape 9"/>
          <p:cNvSpPr/>
          <p:nvPr/>
        </p:nvSpPr>
        <p:spPr>
          <a:xfrm>
            <a:off x="841248" y="2435352"/>
            <a:ext cx="274320" cy="274320"/>
          </a:xfrm>
          <a:prstGeom prst="roundRect">
            <a:avLst>
              <a:gd name="adj" fmla="val 26667"/>
            </a:avLst>
          </a:prstGeom>
          <a:solidFill>
            <a:srgbClr val="EAF7DC"/>
          </a:solidFill>
          <a:ln/>
        </p:spPr>
      </p:sp>
      <p:sp>
        <p:nvSpPr>
          <p:cNvPr id="12" name="Text 10"/>
          <p:cNvSpPr txBox="1"/>
          <p:nvPr/>
        </p:nvSpPr>
        <p:spPr>
          <a:xfrm>
            <a:off x="841248" y="243535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1225296" y="241706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Yalnızca gerçek görüntüler perdeye düşer.</a:t>
            </a:r>
            <a:endParaRPr lang="en-US" sz="1500" dirty="0"/>
          </a:p>
        </p:txBody>
      </p:sp>
      <p:sp>
        <p:nvSpPr>
          <p:cNvPr id="14" name="Shape 12"/>
          <p:cNvSpPr/>
          <p:nvPr/>
        </p:nvSpPr>
        <p:spPr>
          <a:xfrm>
            <a:off x="6205576"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73936"/>
            <a:ext cx="274320" cy="274320"/>
          </a:xfrm>
          <a:prstGeom prst="roundRect">
            <a:avLst>
              <a:gd name="adj" fmla="val 26667"/>
            </a:avLst>
          </a:prstGeom>
          <a:solidFill>
            <a:srgbClr val="FBE9EE"/>
          </a:solidFill>
          <a:ln/>
        </p:spPr>
      </p:sp>
      <p:sp>
        <p:nvSpPr>
          <p:cNvPr id="16" name="Text 14"/>
          <p:cNvSpPr txBox="1"/>
          <p:nvPr/>
        </p:nvSpPr>
        <p:spPr>
          <a:xfrm>
            <a:off x="6406744"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7" name="Text 15"/>
          <p:cNvSpPr txBox="1"/>
          <p:nvPr/>
        </p:nvSpPr>
        <p:spPr>
          <a:xfrm>
            <a:off x="6790792" y="174650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Cisim odaktayken görüntü oluştuğunu sanmak.</a:t>
            </a:r>
            <a:endParaRPr lang="en-US" sz="1600" dirty="0"/>
          </a:p>
        </p:txBody>
      </p:sp>
      <p:sp>
        <p:nvSpPr>
          <p:cNvPr id="18" name="Shape 16"/>
          <p:cNvSpPr/>
          <p:nvPr/>
        </p:nvSpPr>
        <p:spPr>
          <a:xfrm>
            <a:off x="6406744" y="2435352"/>
            <a:ext cx="274320" cy="274320"/>
          </a:xfrm>
          <a:prstGeom prst="roundRect">
            <a:avLst>
              <a:gd name="adj" fmla="val 26667"/>
            </a:avLst>
          </a:prstGeom>
          <a:solidFill>
            <a:srgbClr val="EAF7DC"/>
          </a:solidFill>
          <a:ln/>
        </p:spPr>
      </p:sp>
      <p:sp>
        <p:nvSpPr>
          <p:cNvPr id="19" name="Text 17"/>
          <p:cNvSpPr txBox="1"/>
          <p:nvPr/>
        </p:nvSpPr>
        <p:spPr>
          <a:xfrm>
            <a:off x="6406744" y="243535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0" name="Text 18"/>
          <p:cNvSpPr txBox="1"/>
          <p:nvPr/>
        </p:nvSpPr>
        <p:spPr>
          <a:xfrm>
            <a:off x="6790792" y="241706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Işınlar paralel çıkar; görüntü sonsuzdadır.</a:t>
            </a:r>
            <a:endParaRPr lang="en-US" sz="1500" dirty="0"/>
          </a:p>
        </p:txBody>
      </p:sp>
      <p:sp>
        <p:nvSpPr>
          <p:cNvPr id="21" name="Shape 19"/>
          <p:cNvSpPr/>
          <p:nvPr/>
        </p:nvSpPr>
        <p:spPr>
          <a:xfrm>
            <a:off x="640080"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05656"/>
            <a:ext cx="274320" cy="274320"/>
          </a:xfrm>
          <a:prstGeom prst="roundRect">
            <a:avLst>
              <a:gd name="adj" fmla="val 26667"/>
            </a:avLst>
          </a:prstGeom>
          <a:solidFill>
            <a:srgbClr val="FBE9EE"/>
          </a:solidFill>
          <a:ln/>
        </p:spPr>
      </p:sp>
      <p:sp>
        <p:nvSpPr>
          <p:cNvPr id="23" name="Text 21"/>
          <p:cNvSpPr txBox="1"/>
          <p:nvPr/>
        </p:nvSpPr>
        <p:spPr>
          <a:xfrm>
            <a:off x="841248"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24" name="Text 22"/>
          <p:cNvSpPr txBox="1"/>
          <p:nvPr/>
        </p:nvSpPr>
        <p:spPr>
          <a:xfrm>
            <a:off x="1225296" y="407822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“Merceğin yarısı kapatılırsa görüntünün yarısı kaybolur.”</a:t>
            </a:r>
            <a:endParaRPr lang="en-US" sz="1600" dirty="0"/>
          </a:p>
        </p:txBody>
      </p:sp>
      <p:sp>
        <p:nvSpPr>
          <p:cNvPr id="25" name="Shape 23"/>
          <p:cNvSpPr/>
          <p:nvPr/>
        </p:nvSpPr>
        <p:spPr>
          <a:xfrm>
            <a:off x="841248" y="4767072"/>
            <a:ext cx="274320" cy="274320"/>
          </a:xfrm>
          <a:prstGeom prst="roundRect">
            <a:avLst>
              <a:gd name="adj" fmla="val 26667"/>
            </a:avLst>
          </a:prstGeom>
          <a:solidFill>
            <a:srgbClr val="EAF7DC"/>
          </a:solidFill>
          <a:ln/>
        </p:spPr>
      </p:sp>
      <p:sp>
        <p:nvSpPr>
          <p:cNvPr id="26" name="Text 24"/>
          <p:cNvSpPr txBox="1"/>
          <p:nvPr/>
        </p:nvSpPr>
        <p:spPr>
          <a:xfrm>
            <a:off x="841248" y="476707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7" name="Text 25"/>
          <p:cNvSpPr txBox="1"/>
          <p:nvPr/>
        </p:nvSpPr>
        <p:spPr>
          <a:xfrm>
            <a:off x="1225296" y="474878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Cismin her noktasından çıkan ışınlar merceğin her yerinden geçer; görüntü tam kalır, yalnızca sönükleşir.</a:t>
            </a:r>
            <a:endParaRPr lang="en-US" sz="1500" dirty="0"/>
          </a:p>
        </p:txBody>
      </p:sp>
      <p:sp>
        <p:nvSpPr>
          <p:cNvPr id="28" name="Shape 26"/>
          <p:cNvSpPr/>
          <p:nvPr/>
        </p:nvSpPr>
        <p:spPr>
          <a:xfrm>
            <a:off x="6205576"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05656"/>
            <a:ext cx="274320" cy="274320"/>
          </a:xfrm>
          <a:prstGeom prst="roundRect">
            <a:avLst>
              <a:gd name="adj" fmla="val 26667"/>
            </a:avLst>
          </a:prstGeom>
          <a:solidFill>
            <a:srgbClr val="FBE9EE"/>
          </a:solidFill>
          <a:ln/>
        </p:spPr>
      </p:sp>
      <p:sp>
        <p:nvSpPr>
          <p:cNvPr id="30" name="Text 28"/>
          <p:cNvSpPr txBox="1"/>
          <p:nvPr/>
        </p:nvSpPr>
        <p:spPr>
          <a:xfrm>
            <a:off x="6406744"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31" name="Text 29"/>
          <p:cNvSpPr txBox="1"/>
          <p:nvPr/>
        </p:nvSpPr>
        <p:spPr>
          <a:xfrm>
            <a:off x="6790792"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“Mercek her ortamda aynı davranır.”</a:t>
            </a:r>
            <a:endParaRPr lang="en-US" sz="1600" dirty="0"/>
          </a:p>
        </p:txBody>
      </p:sp>
      <p:sp>
        <p:nvSpPr>
          <p:cNvPr id="32" name="Shape 30"/>
          <p:cNvSpPr/>
          <p:nvPr/>
        </p:nvSpPr>
        <p:spPr>
          <a:xfrm>
            <a:off x="6406744" y="4486656"/>
            <a:ext cx="274320" cy="274320"/>
          </a:xfrm>
          <a:prstGeom prst="roundRect">
            <a:avLst>
              <a:gd name="adj" fmla="val 26667"/>
            </a:avLst>
          </a:prstGeom>
          <a:solidFill>
            <a:srgbClr val="EAF7DC"/>
          </a:solidFill>
          <a:ln/>
        </p:spPr>
      </p:sp>
      <p:sp>
        <p:nvSpPr>
          <p:cNvPr id="33" name="Text 31"/>
          <p:cNvSpPr txBox="1"/>
          <p:nvPr/>
        </p:nvSpPr>
        <p:spPr>
          <a:xfrm>
            <a:off x="6406744"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34" name="Text 32"/>
          <p:cNvSpPr txBox="1"/>
          <p:nvPr/>
        </p:nvSpPr>
        <p:spPr>
          <a:xfrm>
            <a:off x="6790792"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Odak uzaklığı mercek ile ortamın indis farkına bağlıdır; suda odak uzar, ortam mercekten kırıcıysa mercek türü tersine döner.</a:t>
            </a:r>
            <a:endParaRPr lang="en-US" sz="15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dersler.perinet.org/mercekler.html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İnce kenarlı </a:t>
            </a:r>
            <a:pPr indent="0" marL="0">
              <a:buNone/>
            </a:pPr>
            <a:r>
              <a:rPr lang="en-US" sz="1500" b="1" dirty="0">
                <a:solidFill>
                  <a:srgbClr val="FFFFFF"/>
                </a:solidFill>
                <a:latin typeface="Calibri" pitchFamily="34" charset="0"/>
                <a:ea typeface="Calibri" pitchFamily="34" charset="-122"/>
                <a:cs typeface="Calibri" pitchFamily="34" charset="-120"/>
              </a:rPr>
              <a:t>toplar</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Kalın kenarlı </a:t>
            </a:r>
            <a:pPr indent="0" marL="0">
              <a:buNone/>
            </a:pPr>
            <a:r>
              <a:rPr lang="en-US" sz="1500" b="1" dirty="0">
                <a:solidFill>
                  <a:srgbClr val="FFFFFF"/>
                </a:solidFill>
                <a:latin typeface="Calibri" pitchFamily="34" charset="0"/>
                <a:ea typeface="Calibri" pitchFamily="34" charset="-122"/>
                <a:cs typeface="Calibri" pitchFamily="34" charset="-120"/>
              </a:rPr>
              <a:t>dağıtır</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Güç </a:t>
            </a:r>
            <a:pPr indent="0" marL="0">
              <a:buNone/>
            </a:pPr>
            <a:r>
              <a:rPr lang="en-US" sz="1500" b="1" dirty="0">
                <a:solidFill>
                  <a:srgbClr val="FFFFFF"/>
                </a:solidFill>
                <a:latin typeface="Calibri" pitchFamily="34" charset="0"/>
                <a:ea typeface="Calibri" pitchFamily="34" charset="-122"/>
                <a:cs typeface="Calibri" pitchFamily="34" charset="-120"/>
              </a:rPr>
              <a:t>P = 1/f</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Büyütme </a:t>
            </a:r>
            <a:pPr indent="0" marL="0">
              <a:buNone/>
            </a:pPr>
            <a:r>
              <a:rPr lang="en-US" sz="1500" b="1" dirty="0">
                <a:solidFill>
                  <a:srgbClr val="FFFFFF"/>
                </a:solidFill>
                <a:latin typeface="Calibri" pitchFamily="34" charset="0"/>
                <a:ea typeface="Calibri" pitchFamily="34" charset="-122"/>
                <a:cs typeface="Calibri" pitchFamily="34" charset="-120"/>
              </a:rPr>
              <a:t>|b/a|</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185166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1/f = 1/a + 1/b</a:t>
            </a:r>
            <a:endParaRPr lang="en-US" sz="1350" dirty="0"/>
          </a:p>
        </p:txBody>
      </p:sp>
      <p:sp>
        <p:nvSpPr>
          <p:cNvPr id="16" name="Text 14"/>
          <p:cNvSpPr txBox="1"/>
          <p:nvPr/>
        </p:nvSpPr>
        <p:spPr>
          <a:xfrm>
            <a:off x="8572500" y="2395728"/>
            <a:ext cx="279623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mercek denklemi</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m = |b / a|</a:t>
            </a:r>
            <a:endParaRPr lang="en-US" sz="1350" dirty="0"/>
          </a:p>
        </p:txBody>
      </p:sp>
      <p:sp>
        <p:nvSpPr>
          <p:cNvPr id="19" name="Text 17"/>
          <p:cNvSpPr txBox="1"/>
          <p:nvPr/>
        </p:nvSpPr>
        <p:spPr>
          <a:xfrm>
            <a:off x="8183880" y="321868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büyütme</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153619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P = 1 / f(m)</a:t>
            </a:r>
            <a:endParaRPr lang="en-US" sz="1350" dirty="0"/>
          </a:p>
        </p:txBody>
      </p:sp>
      <p:sp>
        <p:nvSpPr>
          <p:cNvPr id="22" name="Text 20"/>
          <p:cNvSpPr txBox="1"/>
          <p:nvPr/>
        </p:nvSpPr>
        <p:spPr>
          <a:xfrm>
            <a:off x="8257032" y="4041648"/>
            <a:ext cx="311170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diyoptri</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1641348"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b &lt; 0 → sanal</a:t>
            </a:r>
            <a:endParaRPr lang="en-US" sz="1350" dirty="0"/>
          </a:p>
        </p:txBody>
      </p:sp>
      <p:sp>
        <p:nvSpPr>
          <p:cNvPr id="25" name="Text 23"/>
          <p:cNvSpPr txBox="1"/>
          <p:nvPr/>
        </p:nvSpPr>
        <p:spPr>
          <a:xfrm>
            <a:off x="8362188" y="4864608"/>
            <a:ext cx="3006547"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cisimle aynı tarafta</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dersler.perinet.org/mercekler.html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Mercekler — Dersler</dc:title>
  <dc:subject>Fizik · Optik</dc:subject>
  <dc:creator>Dersler</dc:creator>
  <cp:lastModifiedBy>Dersler</cp:lastModifiedBy>
  <cp:revision>1</cp:revision>
  <dcterms:created xsi:type="dcterms:W3CDTF">2026-09-30T06:40:49Z</dcterms:created>
  <dcterms:modified xsi:type="dcterms:W3CDTF">2026-09-30T06:40:49Z</dcterms:modified>
</cp:coreProperties>
</file>