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Lst>
  <p:notesMasterIdLst>
    <p:notesMasterId r:id="rId1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notesMaster" Target="notesMasters/notesMaster1.xml"/><Relationship Id="rId125" Type="http://schemas.openxmlformats.org/officeDocument/2006/relationships/presProps" Target="presProps.xml"/><Relationship Id="rId126" Type="http://schemas.openxmlformats.org/officeDocument/2006/relationships/viewProps" Target="viewProps.xml"/><Relationship Id="rId127" Type="http://schemas.openxmlformats.org/officeDocument/2006/relationships/theme" Target="theme/theme1.xml"/><Relationship Id="rId1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Aynı büyüteç bir uğur böceğini dev gibi gösterir, güneşe tutulunca bir kâğıdı tutuşturabilir. Tek bir cam parçası bunu nasıl yapıyor? Gözünün içindeki mercek de bu satırı okuyabilmen için şekil değiştiriyor. Telefonunun kamerası, gözlüğün, mikroskop ve teleskop — hepsi aynı iki bağıntıyla çalışır. Mercek aslında arka arkaya dizilmiş sonsuz sayıda küçük prizmadan başka bir şey değildir: her biri ışığı biraz büker, hepsi birlikte ışığı tek bir noktada toplar. Optik ünitesinin bu son konusu kırılmayı, prizmaları ve aynaları tek bir alette buluşturuyor. Önce mercekleri gözleyip ışınlarla görüntü çizeceğiz, sonra mercek denklemini, diyoptriyi ve gözü sayılarla inceleyeceğiz, ardından iki mercekli aletlere ve modelin sınırlarına geçeceğiz. En sonda kolaydan zora sıralanmış örneklerle hepsini birlikte kullanacağız.
Kapak görseli: Büyütecin içinde başka bir dünya. Merceğin çerçevesine bak: içeriden görülen yaprak damarları, hemen dışarıda kalan damarlardan belirgin biçimde iridir; uğur böceği de aynı biçimde büyütülmüş görünür. Bu fark bir sanal, düz ve büyütülmüş görüntünün işidir: yaprak ve böcek merceğin odak uzaklığından daha yakında olduğu için mercek onları olduğundan büyük gösterir. Aynı merceğin güneş ışığını bir noktada toplayabilmesini de bu anlatımda aynı kurala bağlayacağız.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Aynı büyüteç bir uğur böceğini dev gibi gösterir, güneşe tutulunca bir kâğıdı tutuşturabilir. Tek bir cam parçası bunu nasıl yapıyor? Gözünün içindeki mercek de bu satırı okuyabilmen için şekil değiştiriyor. Telefonunun kamerası, gözlüğün, mikroskop ve teleskop — hepsi aynı iki bağıntıyla çalışır. Mercek aslında arka arkaya dizilmiş sonsuz sayıda küçük prizmadan başka bir şey değildir: her biri ışığı biraz büker, hepsi birlikte ışığı tek bir noktada toplar. Optik ünitesinin bu son konusu kırılmayı, prizmaları ve aynaları tek bir alette buluşturuyor. Önce mercekleri gözleyip ışınlarla görüntü çizeceğiz, sonra mercek denklemini, diyoptriyi ve gözü sayılarla inceleyeceğiz, ardından iki mercekli aletlere ve modelin sınırlarına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merceğin ışığı nasıl büktüğünü gör, üç ışınla görüntüyü çiz ve cismin yeri değişince neyin değiştiğini fark et.
   01 Önce gözlemle: bir büyüteç ne yapar?
   02 Mercek nedir, hangi türleri vardır?
   03 Asal ışınlar: üç kuralla görüntü çizmek
   04 Cismi yaklaştır: ince kenarlı mercekte beş durum
2. Orta — Bağıntılar: görüntünün yerini ve boyunu mercek denklemiyle hesapla, gücü diyoptriyle ölç ve gözün kusurlarını sayılarla düzelt.
   05 Mercek denklemi: görüntüyü hesapla bul
   06 Sayılarla hisset: cisim yaklaşınca görüntü nereye kaçar?
   07 Mercek gücü: diyoptri
   08 Göz: odağını kendisi ayarlayan mercek
3. İleri — Derinleşme: perdede iki net konum, art arda iki mercek, ortamın ve rengin etkisi, en sonda da optik ünitesinin gerçek dünyadaki kapanışı.
   09 Perdeye net görüntü: neden iki konum var?
   10 Art arda iki mercek: mikroskop ve teleskop
   11 Modelin sınırları: ortam, renk ve kalınlık
   12 Mercekler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Kırılma: ışık havadan cama geçerken yavaşlar ve yönü bükülür. Suya daldırılan bir kalemin kırık görünmesi bundandır.
• Prizma: havadaki bir cam prizma ışığı her zaman kalın tabanına doğru büker. Bunu bir önceki konuda gördün.
• Odak ve görüntü (aynalar): çukur aynaya eksene paralel gelen ışınlar odak noktasında toplanır. Perdeye düşen görüntü gerçektir; düzlem aynadaki gibi perdeye düşmeyen görüntü sanaldır.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Kesirlerle işlem: önce paydaları eşitle, sonra çıkar: 1/4 − 1/6 = 3/12 − 2/12 = 1/12. 1/b = 1/12 ise b = 12'dir.
• Santimetre ve metre: 100 cm = 1 m, yani 50 cm = 0,5 m ve 25 cm = 0,25 m. 1/0,5 = 2 ve 1/0,25 = 4 eder.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merceğin ışığı nasıl büktüğünü gör, üç ışınla görüntüyü çiz ve cismin yeri değişince neyin değiştiğini fark et.
01 Önce gözlemle: bir büyüteç ne yapar?
02 Mercek nedir, hangi türleri vardır?
03 Asal ışınlar: üç kuralla görüntü çizmek
04 Cismi yaklaştır: ince kenarlı mercekte beş durum
Görsel: Gözlük de bir mercektir. Kâğıda bu kadar yakın duran bir gözlük camı arkasındaki çizimleri pek değiştirmez; gözlüğü kâğıttan yavaşça kaldırdıkça çizimler camın içinde büyür ya da küçülür. Yazıyı ya da çizimi büyüten bir gözlük camı ortası kalın bir camdır ve ışığı toplar; küçülten bir cam ise ortası incedir ve ışığı dağıtır. Hangisinin hangi göze yardım ettiğini ikinci basamakta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bir büyüteç ne yapar? — adım 1/3
• Bir büyüteci gazete yazısının hemen üstünde tut ve yavaşça yukarı kaldır.
• Harfler önce büyür, sonra birden bulanıklaşır.
• Şimdi kolunu uzatıp aynı büyüteçle karşıdaki pencereye bak: pencere bu kez küçük ve baş aşağı görünür.
• Aynı cam, yalnızca uzaklık değişti diye hem büyütüyor hem küçültüyor, hem düz hem ters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bir büyüteç ne yapar? — adım 2/3
• Güneşli bir günde büyüteci bir kâğıdın üzerinde tutarsan ışık parlak bir beneğe toplanır; doğru yükseklikte benek en küçük hâlini alır ve kâğıt ısınıp kararmaya başlar.
• Güneş ışığı merceğin öbür tarafında belirli bir noktada toplanmıştır; o noktanın mercekten uzaklığı bu büyütecin kimliğidir.
• Gözlük camları da birer mercektir.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bir büyüteç ne yapar? — adım 3/3
• Hangi mercek olursa olsun, dikkatle bakınca aynı üç şey gözlenir:
• Işık bükülür: mercekten geçen ışık doğrultusunu değiştirir; bu, ünitenin kırılma konusundan tanıdığın kırılmadır.
• Bazı mercekler toplar, bazıları dağıtır: ortası kalın cam ışığı bir noktada toplar, ortası ince cam dağıtır.
• Görüntü uzaklığa bağlıdır: aynı mercek cisim yakınken büyük ve düz, uzaktayken küçük ve ters bir görüntü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Aynı mercek cismin uzaklığına göre büyük ve düz ya da küçük ve ters görüntü verir. Ortası kalın mercekler ışığı bir noktada toplar, ortası ince mercekler dağıtır.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 gözlük camının ortası kalın mı ince mi, camı ölçmeden nasıl anlarsın?
Sınıfa sorun, birkaç tahmin alın; sonra cevap slaytına geçin.
Cevap: Camı bir yazının birkaç santimetre üstünde tutup yazıya bak. Yazı büyüyorsa cam ortası kalın, ışığı toplayan bir mercektir; küçülüyorsa ortası ince, ışığı dağıtan bir mercektir.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Camı bir yazının birkaç santimetre üstünde tutup yazıya bak. Yazı büyüyorsa cam ortası kalın, ışığı toplayan bir mercektir; küçülüyorsa ortası ince, ışığı dağıtan bir mercektir.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adım 1/6
• Mercek, en az bir yüzeyi küresel olan saydam cisimdir; ışığı kırarak toplar ya da dağıtır.
• Nasıl yaptığını ünitenin bir önceki konusu açıklar: havadaki bir cam prizma ışığı her zaman kalın tabanına doğru büker.
• Bir merceği ince dilimlere ayırdığını düşün; her dilim küçük bir prizmadır.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adım 2/6
• Eksenden uzaklaştıkça dilimin iki yüzü birbirine daha eğik olur, yani dilim tepe açısı daha büyük bir prizmaya dönüşür ve ışığı daha çok büker; bu yüzden bütün ışınlar tek bir noktada buluşabilir.
• Prizmaların tabanı merkeze bakıyorsa mercek toplar, dışa bakıyorsa dağıtır: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adım 3/6
• İnce kenarlı (yakınsak) mercek: ortası kalın, kenarları incedir. Asal eksene paralel gelen ışınları odakta toplar. f &gt; 0.
• Kalın kenarlı (ıraksak) mercek: ortası ince, kenarları kalındır. Işınları dağıtır; uzantıları odakta kesişir. f &lt;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adım 4/6
• Merceğin ortasından yüzeylerine dik geçen doğruya asal eksen, merceğin tam ortasındaki noktaya optik merkez denir.
• Eksene paralel gelen ışınların toplandığı ya da uzantılarının buluştuğu noktaya odak noktası (F), bu noktanın merkeze uzaklığına odak uzaklığı (f) denir.
• Merceğin iki tarafında da birer odak noktası vardır ve ikisi merkeze eşit uzaklıktadır; merkezden 2f uzaktaki noktalar 2F ile gösterilir.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adım 5/6
• Odak uzaklığı; yüzeylerin eğrilik yarıçaplarına ve merceğin indisine bağlıdır.
İsim tuzağı: “İnce kenarlı” adı merceğin kenarından gelir; ortası kalındır ve ışığı toplar. Kalın kenarlı merceğin ortası incedir ve ışığı dağıtır.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şekil
Eksene paralel gelen ışınlar ince kenarlı mercekte gerçek bir odakta toplanır; oraya kâğıt tutarsan güneşin görüntüsünü yakabilirsin. Kalın kenarlı mercekte ise ışınlar dağılır ve yalnızca uzantıları odakta buluşur — bu yüzden bu merceğin odak uzaklığı negatif kabul edilir ve hiçbir zaman perdeye görüntü düşürmez.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Mercek, ışığı kırarak toplayan ya da dağıtan saydam bir cisimdir ve küçük prizmalar dizisi gibi davranır. İnce kenarlı mercek ışığı odakta toplar (f &gt; 0), kalın kenarlı mercek dağıtır (f &lt; 0).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üç kuralla görüntü çizmek — adım 1/5
• Bir cismin her noktasından sayısız ışın çıkar ve mercekten geçenlerin hepsi görüntüde yine tek bir noktada buluşur.
• Bu yüzden davranışını kesin bildiğimiz özel ışınlar, yani asal ışınlar yeter.
• İnce kenarlı mercekte görüntüyü çizmek için üç ışından ikisi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üç kuralla görüntü çizmek — adım 2/5
• Asal eksene paralel gelen ışın, kırıldıktan sonra odaktan geçer.
• Merkezden geçen ışın doğrultusunu korur.
• Odaktan geçerek gelen ışın, kırıldıktan sonra eksene paralel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üç kuralla görüntü çizmek — adım 3/5
• Bu kurallar ezber değildir.
• Birincisi odağın tanımıdır.
• İkincisi, merceğin ortasının iki yüzü paralel ince bir cam levha gibi olmasından gelir; ince mercekte ışının küçük kayması ihmal edilir.
• Üçüncüsü ışığın tersinirliğinden çıkar: ışık bir yolu tersine de izleyebilir, bu yüzden birinci kuralı tersten okursan odaktan gelen ışın paralel çıkar.
• İki ışın görüntüyü belirlemeye yeter; üçüncüsü çizimi denetler.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üç kuralla görüntü çizmek — adım 4/5
• Kalın kenarlı mercekte paralel gelen ışın, merceğin önündeki odaktan geliyormuş gibi dağılır; görüntü bu uzantıların kesişmesiyle oluşur ve her zaman sanaldır.
• Genel kural şudur: ışınların kendisi kesişiyorsa görüntü gerçektir ve perdeye düşer; yalnızca uzantıları kesişiyorsa görüntü sanaldır.
• Sanal görüntü perdeye düşmez ama mercekten bakan göz onu görür, tıpkı düzlem aynadaki görüntün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üç kuralla görüntü çizmek — şekil
Mercekte de üç asal ışın vardır: 1 eksene paralel gelir, kırıldıktan sonra odaktan geçer; 2 merkezden geçer ve hiç kırılmaz; 3 odaktan geçerek gelir, kırıldıktan sonra eksene paralel olur. İkisi kesiştiği yerde görüntü oluşur. Işınlar gerçekten kesişiyorsa görüntü gerçektir ve perdeye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Paralel gelen ışın odaktan geçer, merkezden geçen sapmaz, odaktan gelen paralel çıkar; ikisinin kesiştiği yer görüntüdür. Işınlar gerçekten kesişirse görüntü gerçek, yalnızca uzantıları kesişirse sanaldır.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 yaklaştır: ince kenarlı mercekte beş durum — adım 1/5
• Cismi uzaktan merceğe doğru adım adım yaklaştırıp her adımda asal ışınları çizelim; sayfanın 02 numaralı bölümündeki “Sırayla göster” düğmesi tam olarak bunu yapar.
• Beş durumun her biri bir optik aletin çalışma ilkesidir: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 yaklaştır: ince kenarlı mercekte beş durum — adım 2/5
Cisim | Görüntü | Tür | Alet
2f dışında | f – 2f arası | gerçek, ters, küçük | fotoğraf makinesi
2f'de | 2f'de | gerçek, ters, eşit | fotokopi
f – 2f arası | 2f dışında | gerçek, ters, büyük | projeksiyon
Odakta | sonsuzda | görüntü oluşmaz | projektör
Odak içinde | cisim tarafında | sanal, düz, büyük | büyüteç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 yaklaştır: ince kenarlı mercekte beş durum — adım 3/5
• Cisim merceğe yaklaştıkça görüntü uzaklaşır ve büyür; ikisi bir tahterevallinin iki ucu gibidir.
• Cisim çok uzaktan 2F'ye gelirken görüntü F'den 2F'ye gider; 2F'de ikisi eşit uzaklıkta ve eşit boydadır; cisim 2F'den F'ye gelirken görüntü sonsuza kaçar.
• Gerçek görüntüler hep terstir, çünkü ışınlar mercekte çaprazlanır: cismin üst ucundan çıkan ışınlar eksenin altına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 yaklaştır: ince kenarlı mercekte beş durum — adım 4/5
Kalın kenarlı mercekte beş durum yoktur. Havadaki kalın kenarlı mercekte cisim nerede olursa olsun görüntü sanal, düz ve küçüktür; odak ile mercek arasında, cisimle aynı tarafta oluşur.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 yaklaştır: ince kenarlı mercekte beş durum — şekil
Cisim mercekten uzakken görüntü küçük ve gerçektir — fotoğraf makinesi böyle çalışır. Cismi yaklaştırdıkça görüntü büyür ve uzaklaşır; f ile 2f arasında büyütülmüş gerçek görüntü verir — projeksiyon. Odakta ışınlar paralelleşir, görüntü oluşmaz — projektör. Odağın içine girildiğinde görüntü sanal, düz ve büyük olur — büyüteç. Beş satır, beş optik alet.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Cisim ince kenarlı merceğe yaklaştıkça görüntü uzaklaşır ve büyür: 2F'de eşit boyda, odakta yok, odak içinde sanal ve büyük olur. Kalın kenarlı mercekte görüntü her zaman sanal, düz ve küçüktür.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görüntünün yerini ve boyunu mercek denklemiyle hesapla, gücü diyoptriyle ölç ve gözün kusurlarını sayılarla düzelt.
05 Mercek denklemi: görüntüyü hesapla bul
06 Sayılarla hisset: cisim yaklaşınca görüntü nereye kaçar?
07 Mercek gücü: diyoptri
08 Göz: odağını kendisi ayarlayan mercek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adım 1/6
• Işın çizimi görüntünün kabaca yerini gösterir; kesin yerini tek bir bağıntı verir.
• Cismin merceğe uzaklığı a, görüntününki b, görüntü boyunun cisim boyuna oranı büyütme (m) olsun:
1/f = 1/a + 1/b   m = |b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adım 2/6
Formüldeki harfler ne anlama geliyor?
Sembol | Anlamı | Birimi
f | odak uzaklığı: odak noktasının merceğin merkezine uzaklığı (ince kenarlıda artı, kalın kenarlıda eksi) | cm ya da m
a | cismin merceğe uzaklığı | cm ya da m
b | görüntünün merceğe uzaklığı (artıysa görüntü gerçek, eksiyse sanal) | cm ya da m
m | büyütme: görüntünün boyu, cismin boyunun kaç katı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adım 3/6
Denklem nereden geliyor?
• Üç asal ışın çiziminde cismin tepesinden çıkan iki ışını izle; gerisi benzer üçgenlerdir:
• Merkezden geçen ışın sapmaz. Cisim ve görüntü tarafındaki iki üçgen benzerdir: boy(görüntü) / boy(cisim) = b / a.
• Paralel gelen ışın odaktan geçer; odağın iki yanında iki benzer üçgen kurar: boy(görüntü) / boy(cisim) = (b − f) / f.
• İki oranı eşitle: b / a = (b − f) / f → b·f = a·b − a·f.
• Her terimi a·b·f'ye böl: 1/a = 1/f − 1/b, yani 1/f = 1/a + 1/b. Büyütme de ilk adımdan gelir: m = |b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adım 4/6
• İnce kenarlı: f pozitif. Kalın kenarlı: f negatif.
• b pozitif: görüntü merceğin öbür tarafında, gerçek (perdeye düşer).
• b negatif: görüntü cisimle aynı tarafta, sanal.
Aynalarla aynı denklem. Küresel aynalarda da 1/f = 1/a + 1/b kullanılır. Fark, görüntünün oluştuğu taraftadır: aynada yansıma, mercekte kırılma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adım 5/6
• Birim kontrolü: her terim “1 bölü uzunluk” birimindedir; a, b ve f aynı birimle yazılmalıdır.
• Büyütme iki uzunluğun oranı olduğu için birimsizdir.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şekil
Mercek denklemi aynanınkiyle aynı biçimdedir, yalnız "arka taraf" tanımı değişir: görüntü merceğin öbür tarafında çıkıyorsa gerçektir (b &gt; 0), cisimle aynı tarafta çıkıyorsa sanaldır (b &lt; 0). Hesapta b negatif çıkması hata değil, görüntünün sanal olduğunun işaretidir — büyüteçte her zaman böyle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Görüntünün yeri 1/f = 1/a + 1/b, büyütmesi m = |b/a| ile bulunur; ikisi de benzer üçgenlerden çıkar. b pozitifse görüntü gerçek, negatifse sanaldır.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adım 1/6
• Sayfanın 01 numaralı laboratuvarındaki hazır deneyler odak uzaklığı 30 cm olan ince kenarlı bir mercek kullanır.
• Sonuçlarını mercek denklemiyle önceden hesaplayalım: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adım 2/6
Cisim uzaklığı | Görüntü uzaklığı | Büyütme ve tür
120 cm · fotoğraf | 40 cm | 0,33 · gerçek, ters, küçük
60 cm · fotokopi | 60 cm | 1 · gerçek, ters, eşit
40 cm · projeksiyon | 120 cm | 3 · gerçek, ters, büyük
30 cm · odakta | sonsuz | görüntü oluşmaz
18 cm · büyüteç | −45 cm | 2,5 · sanal, düz, büyük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adım 3/6
• Tablodan iki düzen okunur.
• Birincisi: ilk ve üçüncü satırda a ile b yer değiştirmiş (120 ↔ 40); ışığın tersinirliği bunu gerektirir.
• İkincisi: odağa yaklaştıkça görüntü çok hızlı kaçar.
• Cisim 33 cm'deyken, odağa yalnızca 3 cm kala, görüntü 330 cm'ye çıkar ve 10 kat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adım 4/6
• Mercek denklemini a·b·f ile çarpıp düzenlersen kaçışın nedeni görünür: cismin odağa uzaklığı ile görüntünün odağa uzaklığının çarpımı sabittir.
(a − f) · (b − f) = f²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adım 5/6
• 120 cm için 90 · 10, 33 cm için 3 · 300; ikisi de 900 = 30² eder.
• Biri küçülünce öbürü aynı oranda büyümek zorundadır.
• 120 ile 40 çiftini aklında tut; sayfanın 04 numaralı bölümünde yeniden karşına çıkacak.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şekil
Perdeye düşen alev baş aşağı: mercek mumdan çıkan ışınları perdede yeniden topladığı için orada gerçek ve ters bir görüntü oluşur, mumun gövdesi de bu yüzden alevin üstünde parlak bir şerit olarak görünür. Mercek muma perdeden daha yakın durduğu için b &gt; a'dır ve m = |b/a| büyütmesiyle alev olduğundan büyük çıkar. Mumu odağa doğru biraz daha yaklaştırırsan net görüntü için perdeyi geri çekmen gerekir ve alev daha da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 = 30 cm'lik mercekte cisim 120, 60 ve 40 cm'deyken görüntü 40, 60 ve 120 cm'de oluşur; a ile b yer değiştirebilir. Odağa yaklaştıkça görüntü hızla kaçar, çünkü (a − f)(b − f) = f² sabittir.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 = 30 cm'lik mercekte cisim 60 cm'den 40 cm'ye, 20 cm yaklaşıyor. Görüntü de 20 cm mi uzaklaşır?
Sınıfa sorun, birkaç tahmin alın; sonra cevap slaytına geçin.
Cevap: Hayır, 60 cm uzaklaşır: görüntü 60 cm'den 120 cm'ye çıkar. Odağa yaklaştıkça cismin küçük bir kayması görüntüyü çok uzağa taşır; ilişki doğrusal değil, (a − f)·(b − f) = f² gibi bir ters orantıdır.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60 cm uzaklaşır: görüntü 60 cm'den 120 cm'ye çıkar. Odağa yaklaştıkça cismin küçük bir kayması görüntüyü çok uzağa taşır; ilişki doğrusal değil, (a − f)·(b − f) = f² gibi bir ters orantıdır.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gücü: diyoptri — adım 1/5
P = 1 / f   f metre cinsinden
• Merceğin ışığı kırma yeteneğine mercek gücü denir; birimi diyoptri (D)'dir.
• Odak uzaklığı 50 cm olan ince kenarlı merceğin gücü 1/0,5 = +2 diyoptridir.
• Kalın kenarlı merceklerde güç negatiftir.
• Gözlük camlarının “numarası” bu değerdir.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gücü: diyoptri — adım 2/5
• Neden odak uzaklığının tersi?
• Işığı güçlü kıran mercek paralel ışınları çok yakında toplar, yani kısa odaklıdır; odak yarıya inince güç iki katına çıkar.
• Diyoptri “1 bölü metre” biriminin özel adıdır; f bu yüzden metreyle yazılır.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gücü: diyoptri — şekil
Mercek gücü, odak uzaklığının tersidir: mercek ışığı ne kadar keskin kırıyorsa gücü o kadar büyüktür. Odak uzaklığı yarıya inince güç iki katına çıkar. Gözlük numarası dediğimiz şey tam olarak budur: "−2,5 numara" demek, odak uzaklığı −40 cm olan kalın kenarlı bir mercek demektir — eksi işareti merceğin ıraksak olduğunu söyler.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gücü: diyoptri — adım 4/5
Mercek | Odak uzaklığı | Güç
Hafif okuma gözlüğü | +100 cm | +1 D
Hipermetrop gözlüğü | +50 cm | +2 D
Miyop gözlüğü | −40 cm | −2,5 D
Büyüteç | +10 cm | +10 D
İnsan gözünün tamamı | yaklaşık 1,7 cm | yaklaşık +60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gücü: diyoptri — adım 5/5
• İki ince mercek birbirine bitiştirilirse ışığı art arda büker ve güçleri toplanır: +3 D'lik bir camın önüne −1 D'lik bir cam koyarsan ikisi +2 D'lik tek bir mercek gibi davranır.
P = P₁ + P₂   (bitişik ince mercekler)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Mercek gücü odak uzaklığının tersidir: P = 1/f, f metre cinsinden, birimi diyoptri. İnce kenarlıda artı, kalın kenarlıda eksidir; bitişik merceklerin güçleri toplanır.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 adım 1/5
• Göz, ince kenarlı bir mercek gibi çalışır ve görüntüyü retina üzerine düşürür.
• Işık önce saydam ön yüzey korneadan, sonra göz merceğinden geçer; ikisi birlikte yaklaşık +60 D'lik bir mercek gibidir.
• Göz merceği kaslarla şekil değiştirerek odak uzaklığını ayarlar; buna uyum (akomodasyon) denir.
• Sağlıklı göz sonsuzdaki cismi de yaklaşık 25 cm'deki cismi de net görür; bu sınırlara uzak nokta ve yakın nokta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 adım 2/5
• Miyop: Göz çok kırıcıdır ya da göz küresi uzundur; görüntü retinanın önünde oluşur, uzak cisimler bulanık görünür. Kalın kenarlı (eksi numaralı) camla düzeltilir.
• Hipermetrop: Göz yeterince kırıcı değildir; görüntü retinanın arkasına düşer, yakın cisimler bulanık görünür. İnce kenarlı (artı numaralı) camla düzeltilir.
• Astigmat: Kornea küresel değildir; silindirik camla düzeltilir.
• Presbiyopi: Yaşla birlikte uyum yeteneğinin azalmasıdır.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 adım 3/5
Gözlük numarası nasıl hesaplanır?
• Gözlük, cismin sanal görüntüsünü gözün net görebildiği bir yere taşır. d, uzak ya da yakın noktanın metre cinsinden uzaklığıdır:
• Miyop: Sonsuzdaki cismin (1/a = 0) görüntüsü uzak noktaya, cisim tarafına düşmeli: b = −d. O hâlde 1/f = 1/(−d), yani P = −1/d.
• Hipermetrop: 25 cm'deki yazının görüntüsü yakın noktaya düşmeli: a = 0,25 m, b = −d. O hâlde P = 1/0,25 − 1/d = 4 − 1/d.
• İşaret: Miyopta P hep eksi çıkar (kalın kenarlı); hipermetropta d, 0,25 m'den büyük olduğu için P artı çıkar (ince kenarlı).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 adım 4/5
Pmiyop = −1 / duzak   Phipermetrop = 4 − 1/dyakın
• Sayfanın 03 numaralı bölümünde uzak ya da yakın noktayı kaydırıp “Gözlüğü tak” düğmesiyle sonucu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 şekil
Miyop gözde mercek fazla kırıcıdır (ya da göz küresi uzundur) ve görüntü retinaya varmadan odaklanır; düzeltmek için ışığı biraz dağıtan kalın kenarlı mercek takılır. Hipermetropta tam tersi olur: görüntü retinanın arkasına düşer ve ışığı toplayan ince kenarlı mercek gerekir. Gözlük camı görüntüyü kendisi oluşturmaz; yalnızca gözün işini kolaylaştıracak kadar ön düzeltme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Göz, görüntüyü retinaya düşüren ve odağını ayarlayabilen bir mercektir. Miyop kalın kenarlı camla (P = −1/d), hipermetrop ince kenarlı camla (P = 4 − 1/d) düzeltilir; d metre cinsindendir.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Uzak noktası 2 m olan miyobun gözlüğü, uzak noktası 50 cm olanınkinden daha mı güçlüdür?
Sınıfa sorun, birkaç tahmin alın; sonra cevap slaytına geçin.
Cevap: Hayır, daha zayıftır. P = −1/d ile 2 m için −0,5 D, 50 cm için −2 D bulunur. Uzak nokta ne kadar yakındaysa kusur o kadar ağır, gereken cam o kadar güçlüdür.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daha zayıftır. P = −1/d ile 2 m için −0,5 D, 50 cm için −2 D bulunur. Uzak nokta ne kadar yakındaysa kusur o kadar ağır, gereken cam o kadar güçlüdür.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perdede iki net konum, art arda iki mercek, ortamın ve rengin etkisi, en sonda da optik ünitesinin gerçek dünyadaki kapanışı.
09 Perdeye net görüntü: neden iki konum var?
10 Art arda iki mercek: mikroskop ve teleskop
11 Modelin sınırları: ortam, renk ve kalınlık
12 Mercekler gerçek dünyada
Görsel: İki mercek, bir gökyüzü. Mercekli bir teleskopta uzun odaklı objektif, uzaktaki cismin küçük ve gerçek bir görüntüsünü tüpün içinde oluşturur; göz merceği bu görüntüye büyüteç gibi bakar. 90 kat büyüten bir teleskopta, gökyüzünde yaklaşık yarım derecelik yer kaplayan dolunay 45 derece civarında bir alanı dolduruyormuş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Perdeye net görüntü: neden iki konum var? — adım 1/4
• Sayfanın 04 numaralı bölümünde cisim ile perde sabittir, yalnızca mercek kayar.
• Şaşırtıcı biçimde merceğin iki ayrı konumunda net görüntü oluşur: biri büyük, biri küçük.
• İpucunu sayılarla hisset tablosu vermişti: 40 cm ile 120 cm yer değiştirebiliyordu.
• Cisim–perde uzaklığı D olsun: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Perdeye net görüntü: neden iki konum var? — adım 2/4
• İki koşul: görüntü perdeye düşmeli, a + b = D; mercek denklemi de sağlanmalı, 1/a + 1/b = 1/f.
• Tersinirlik: denklemde a ile b yer değiştirse de bir şey değişmez; a = x bir çözümse a = D − x de çözümdür.
• İkinci derece denklem: b = D − a yazıp düzenlersen a² − D·a + D·f = 0 çıkar.
• Var olma şartı: gerçek kök için D² − 4·D·f ≥ 0, yani D ≥ 4f. D = 4f'de tek konum vardır: a = b = 2f.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Perdeye net görüntü: neden iki konum var? — adım 3/4
• Büyütmeler: m₁ = b/a ve m₂ = a/b; çarpımları 1'dir. Biri 3 kat büyütüyorsa öbürü 3 kat küçültür.
• Deneydeki değerlerle (f = 30 cm, D = 160 cm) denklem a² − 160·a + 4800 = 0 olur; kökleri 40 cm ile 120 cm, büyütmeler 3 ve 1/3'tür.
• D = 100 cm seçersen 4f = 120 cm sınırının altında kalırsın ve hiçbir konumda net görüntü alamazsın.
D ≥ 4f   f = (D² − d²) / (4D)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Perdeye net görüntü: neden iki konum var? — adım 4/4
Odak uzaklığını ölçmenin akıllı yolu: İki net konum arasındaki uzaklık d ölçülürse f bulunur: deneyde d = 80 cm ve f = (160² − 80²) / 640 = 30 cm. Bessel yöntemi denen bu ölçümde merceğin merkezinin tam yerini bilmek gerekmez.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Cisim–perde uzaklığı D &gt; 4f ise merceğin iki konumunda net görüntü oluşur; a ile b yer değiştirir ve büyütmelerin çarpımı 1'dir. D = 4f'de tek konum vardır, D &lt; 4f'de hiç yoktur.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 arda iki mercek: mikroskop ve teleskop — adım 1/4
• Tek bir mercekle ancak belli bir büyütmeye kadar çıkılabilir.
• Daha fazlası için mercekler art arda dizilir ve kural basittir: birinci merceğin görüntüsü, ikinci merceğe cisim olur.
• Toplam büyütme iki büyütmenin çarpımıdır.
• Mikroskop ve teleskop böyle iki mercekli sistemlerdir.
mtoplam = m₁ · m₂   Mteleskop = fob / fgöz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 arda iki mercek: mikroskop ve teleskop — adım 2/4
• Mikroskop: kısa odaklı objektif, odağının hemen dışındaki küçük cismin büyük, gerçek ve ters görüntüsünü oluşturur; göz merceği onu büyüteç gibi yeniden büyütür.
• Okul mikroskobu: 40 kat büyüten bir objektif ile 10 kat büyüten bir göz merceği birlikte 40 · 10 = 400 kat büyütür.
• Teleskop: uzun odaklı objektif, uzaktaki cismin küçük ve gerçek görüntüsünü kendi odağında oluşturur; kısa odaklı göz merceği bu görüntüye yakından bakar.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 arda iki mercek: mikroskop ve teleskop — adım 3/4
• Teleskop büyütmesi: fob = 90 cm, fgöz = 1 cm ise cisim 90 kat daha geniş bir açıyla görünür; tüp boyu yaklaşık 90 + 1 = 91 cm olur.
• Teleskop uzaktaki cismin boyunu değil, gözde kapladığı açıyı büyütür; bu açısal büyütme (M) iki odak uzaklığının oranıdır.
• Galileo 1609'da Hollanda'daki ilk dürbünlerin haberini alınca kendi teleskobunu yaptı; Ay'daki dağları ve Jüpiter'in çevresinde dönen dört uyduyu gözledi.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 arda iki mercek: mikroskop ve teleskop — şekil
Mikroskopta iki mercek art arda çalışır: preparata en yakın duran objektif, küçük cismin büyük, gerçek ve ters bir görüntüsünü tüpün içinde oluşturur. Öğrencinin gözünü dayadığı göz merceği bu görüntüye büyüteç gibi bakar ve onu yeniden büyütür; birinci merceğin görüntüsü ikinciye cisim olur. Toplam büyütme iki büyütmenin çarpımıdır: 40 kat büyüten bir objektif ile 10 kat büyüten bir göz merceği birlikte 400 kat büyütür.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İki mercekli sistemlerde birinci merceğin görüntüsü ikinciye cisim olur ve büyütmeler çarpılır. Mikroskop yakındaki küçük cismi, teleskop uzaktaki cismin gözde kapladığı açıyı büyütür.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Teleskobun objektifi neden büyük çaplı yapılır; büyütmeyi artırmak için mi?
Sınıfa sorun, birkaç tahmin alın; sonra cevap slaytına geçin.
Cevap: Hayır; büyütmeyi odak uzaklıklarının oranı belirler. Büyük çap daha çok ışık toplar: çap iki katına çıkınca merceğin alanı ve topladığı ışık dört katına çıkar. Böylece çıplak gözle görülemeyecek kadar sönük yıldızlar da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büyütmeyi odak uzaklıklarının oranı belirler. Büyük çap daha çok ışık toplar: çap iki katına çıkınca merceğin alanı ve topladığı ışık dört katına çıkar. Böylece çıplak gözle görülemeyecek kadar sönük yıldızlar da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ortam, renk ve kalınlık — adım 1/4
• Şimdiye kadar merceğin havada durduğunu, ince olduğunu ve ışığın tek renkli olduğunu varsaydık; gerçek mercekler bunların her birinden biraz sapar.
• Işık, iki ortam arasındaki kırıcılık indisi farkı yüzünden kırılır.
• Mercek suya daldırılınca bu fark küçülür ve mercek ışığı daha az büker.
• Yüzey eğrilikleri aynı kaldıkça merceğin gücü şu oranla değişir:
1/f ∝ nmercek / nortam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ortam, renk ve kalınlık — adım 2/4
• Suda odak uzar: indisi 1,5 olan cam mercekte bu çarpan havada 0,5, suda (n ≈ 1,33) yaklaşık 0,13'tür; odak uzaklığı yaklaşık 4 katına çıkar.
• Tür tersine dönebilir: ortamın indisi merceğinkinden büyükse ince kenarlı mercek dağıtır, kalın kenarlı toplar. Su içindeki hava kabarcığı ıraksak mercek gibidir.
• Renk sapması: prizmalarda gördüğün gibi cam moru kırmızıdan çok kırar; mor ışık merceğe daha yakında odaklanır ve görüntünün kenarları renklenir.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ortam, renk ve kalınlık — adım 3/4
• Küresel sapma: kenardan geçen ışınlar biraz daha yakında odaklanır; 1/f = 1/a + 1/b ince mercek ve eksene yakın ışınlar için kesindir.
• Kamera ve mikroskop objektifleri bu yüzden farklı camlardan yapılmış birkaç mercek içerir; bir ince kenarlı ile bir kalın kenarlı merceği birleştirmek renk sapmasını büyük ölçüde giderir.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ortam, renk ve kalınlık — şekil
Suda zayıflayan büyüteç aynı anda iki farklı mercek gibi davranıyor: havada kalan üst yarı arkadaki kareleri belirgin biçimde büyütürken su altındaki alt yarı onları neredeyse olduğu gibi gösteriyor. Cam ile su arasındaki indis farkı, cam ile hava arasındakinden çok küçüktür; ışık suda daha az bükülür ve indisi 1,5 olan bir cam merceğin odak uzaklığı yaklaşık 4 katına çıkar. Mercek denklemi havadaki mercek için kurulmuştur; ortam değişince f de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Mercek denklemi havadaki ince bir mercek ve eksene yakın ışınlar için kurulmuştur. Ortam değişince odak uzaklığı değişir; renk ve küresel sapma görüntüyü bozar, çok mercekli objektifler bunları düzeltir.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Yüzerken gözlerini açınca her şey neden bulanık görünür; deniz gözlüğü bunu nasıl düzeltir?
Sınıfa sorun, birkaç tahmin alın; sonra cevap slaytına geçin.
Cevap: Gözün kırıcılığının büyük bölümü hava ile kornea arasındaki indis farkından gelir. Suyun indisi korneanınkine çok yakın olduğu için su içinde kornea ışığı neredeyse hiç kırmaz; göz güçlü bir hipermetrop gibi olur. Deniz gözlüğü gözün önünde bir hava tabakası tutar.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Gözün kırıcılığının büyük bölümü hava ile kornea arasındaki indis farkından gelir. Suyun indisi korneanınkine çok yakın olduğu için su içinde kornea ışığı neredeyse hiç kırmaz; göz güçlü bir hipermetrop gibi olur. Deniz gözlüğü gözün önünde bir hava tabakası tutar.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Mercekler gerçek dünyada — adım 1/4
• Optik ünitesinin son konusundayız ve ünitede öğrendiklerin bir mercekte buluşuyor: kırılma yasası, prizmanın ışığı tabanına doğru bükmesi, küresel aynalardan tanıdığın 1/f = 1/a + 1/b ve ışık şiddeti.
• Aşağıdaki örneklerin her biri mercek denklemini gerçek sayılarla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Mercekler gerçek dünyada — adım 2/4
• Telefon kamerası: 5 mm odaklı mercek, 2 m ötedeki 1,70 m boyundaki birinin yaklaşık 4,3 mm'lik ters görüntüsünü sensöre, odağın yaklaşık 0,01 mm gerisine düşürür.
• Projeksiyon: 10 cm odaklı mercekle 3 m'deki perdeye net görüntü için cisim yaklaşık 10,3 cm'ye, odağın hemen dışına konur; görüntü 29 kat büyük ve terstir.
• Büyüteç: 10 cm odaklı büyüteç 8 cm'deki bir pula tutulunca 40 cm geride 5 kat büyük, düz ve sanal bir görüntü oluşur.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Mercekler gerçek dünyada — adım 3/4
• Gözlük ve kontakt lens: numara diyoptridir; “−2,5 numara” odak uzaklığı −40 cm olan kalın kenarlı cam demektir. Kontakt lens aynı işi korneanın üstünde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Mercekler gerçek dünyada — adım 4/4
• Telefon örneği önemli bir şey gösteriyor: uzaktaki cisimlerin görüntüsü neredeyse tam odakta oluşur, bu yüzden kameranın odaklaması merceği milimetrenin yüzde biri kadar kaydırmaktır.
• Ünite ışığın yayılmasıyla başladı, yansıma ve kırılmayla ışığın yolunu değiştirmeyi öğretti.
• Mercek bu yolu yönetmenin en esnek aracıdır: gözünden teleskoba kadar her optik alet, ışığı büküp görüntüyü istenen yere taşıyan bir düzenektir.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Kamera, projeksiyon, büyüteç, gözlük ve teleskop aynı denklemi farklı cisim konumlarında kullanır. Optik ünitesinin kırılma, prizma ve ayna bilgileri mercekli aletlerde birleşir.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Gerçek görüntü
Odak uzaklığı 20 cm olan ince kenarlı merceğin 30 cm önüne bir cisim konuyor. Görüntünün yeri ve büyütmesi nedir?
Verilenler: f = +20 cm (ince kenarlı mercek) · a = 30 cm
İstenen: görüntünün yeri b · büyütme m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Gerçek görüntü — çözüm
1. 1/20 = 1/30 + 1/b → 1/b = 1/20 − 1/30 = (3 − 2)/60 = 1/60
2. b = 60 cm (pozitif → gerçek, merceğin öbür tarafında)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Gerçek görüntü — çözüm
3. m = |b/a| = 60/30 = 2 kat
4. Görüntü ters ve iki kat büyüktür; projeksiyon düzeni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Gözlük numarası
Uzak noktası 50 cm olan miyop bir göz için gereken gözlük numarası kaç diyoptridir?
Verilenler: miyop göz · uzak nokta duzak = 50 cm = 0,5 m · bakılacak cisimler çok uzakta (sonsuzda, 1/a = 0)
İstenen: gözlüğün gücü P (diyoptri)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Gözlük numarası — çözüm
1. Gözlük, sonsuzdaki cismin görüntüsünü uzak noktaya düşürmelidir.
2. f = −50 cm = −0,5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Gözlük numarası — çözüm
3. P = 1/f = 1/(−0,5) = −2 diyoptri
4. Eksi numara, kalın kenarlı (ıraksak) mercek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Büyüteç
Odak uzaklığı 15 cm olan merceğin 10 cm önündeki cismin görüntüsü nasıldır?
Verilenler: f = +15 cm (büyüteç, yani ince kenarlı mercek) · a = 10 cm
İstenen: görüntünün yeri b · büyütme m · görüntünün türü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Büyüteç — çözüm
1. 1/15 = 1/10 + 1/b → 1/b = 1/15 − 1/10 = (2 − 3)/30 = −1/30
2. b = −30 cm: eksi işaret görüntünün cisimle aynı tarafta olduğunu, yani sanal olduğunu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Büyüteç — çözüm
3. m = |−30/10| = 3 kat, düz ve büyük.
4. Bu, büyütecin çalışma şeklidir.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Kalın kenarlı mercek
Odak uzaklığı 20 cm olan kalın kenarlı merceğin 30 cm önündeki cismin görüntüsü nerededir?
Verilenler: f = −20 cm (kalın kenarlı mercekte f eksi) · a = 30 cm
İstenen: görüntünün yeri b ve türü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Kalın kenarlı mercek — çözüm
1. Kalın kenarlı mercekte f = −20 cm
2. 1/(−20) = 1/30 + 1/b → 1/b = −1/20 − 1/30 = (−3 − 2)/60 = −5/60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Kalın kenarlı mercek — çözüm
3. b = −12 cm → sanal, cisim tarafında
4. m = 12/30 = 0,4; görüntü düz ve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Hipermetrop için okuma gözlüğü
Yakın noktası 50 cm olan hipermetrop bir kişi, kitabı 25 cm'den okuyabilmek için kaç diyoptrilik gözlük takmalıdır? Camın odak uzaklığı kaç cm'dir?
Verilenler: hipermetrop göz · yakın nokta dyakın = 50 cm = 0,5 m · kitabın uzaklığı a = 25 cm = 0,25 m
İstenen: gözlüğün gücü P (diyoptri) · camın odak uzaklığı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Hipermetrop için okuma gözlüğü — çözüm
1. Gözlük, 25 cm'deki yazının sanal görüntüsünü yakın noktaya düşürmeli: a = 0,25 m, b = −0,5 m.
2. P = 1/a + 1/b = 1/0,25 + 1/(−0,5) = 4 − 2 = +2 diyoptri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Hipermetrop için okuma gözlüğü — çözüm
3. f = 1/P = 0,5 m = 50 cm; artı işaret ince kenarlı (yakınsak) cam demektir.
4. Kontrol: m = |b/a| = 50/25 = 2; gözlük yazıyı iki kat büyütüp yakın noktaya taşır.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Perdede iki net görüntü
Bir mum ile perde arasındaki uzaklık 90 cm'dir. Odak uzaklığı 20 cm olan ince kenarlı mercek, perdede net görüntü oluşması için mumdan kaç cm uzağa konmalıdır? Her konumda büyütme nedir?
Verilenler: mum–perde uzaklığı D = 90 cm · f = +20 cm (ince kenarlı) · görüntü perdeye düşüyor (gerçek): a + b = 90 cm
İstenen: merceğin mumdan uzaklığı a (iki konum) · her konumda büyütme m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Perdede iki net görüntü — çözüm
1. İki koşul: a + b = 90 ve 1/a + 1/b = 1/20.
2. b = 90 − a yazılırsa a² − 90·a + 1800 = 0 olur.
3. a = (90 ± √(8100 − 7200)) / 2 = (90 ± 30) / 2 → a = 30 cm ya da a = 60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Perdede iki net görüntü — çözüm
4. a = 30 cm → b = 60 cm, m = 2 (büyük, ters); a = 60 cm → b = 30 cm, m = 0,5 (küçük, ters).
5. Kontrol: D = 90 cm ≥ 4f = 80 cm ✓; büyütmelerin çarpımı 2 · 0,5 = 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İki mercekli mikroskop
Odak uzaklığı 10 cm olan ince kenarlı bir merceğin 15 cm önüne 1 mm boyunda bir cisim konuyor. Bu mercekten 34 cm uzakta, odak uzaklığı 5 cm olan ikinci bir ince kenarlı mercek var. Son görüntünün türünü ve boyunu bulunuz.
Verilenler: f₁ = +10 cm · a₁ = 15 cm · cismin boyu 1 mm · mercekler arası uzaklık 34 cm · f₂ = +5 cm (ikisi de ince kenarlı)
İstenen: son görüntünün türü · son görüntünün boyu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İki mercekli mikroskop — çözüm
1. Birinci mercek: 1/b₁ = 1/10 − 1/15 = (3 − 2)/30 → b₁ = 30 cm, m₁ = 30/15 = 2 (gerçek, ters).
2. Bu görüntü ikinci mercekten 34 − 30 = 4 cm öndedir ve ona cisim olur: a₂ = 4 cm, odağın içinde.
3. İkinci mercek: 1/b₂ = 1/5 − 1/4 = (4 − 5)/20 = −1/20 → b₂ = −20 cm, sanal.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İki mercekli mikroskop — çözüm
4. m₂ = 20/4 = 5; toplam m = m₁ · m₂ = 2 · 5 = 10 → görüntü boyu 10 mm.
5. Birinci mercek görüntüyü ters çevirdi, ikinci mercek büyüteç gibi düz bıraktı: son görüntü sanal, ters ve 10 kat büyüktür. Mikroskop böyle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Odak uzaklığı 25 cm olan ince kenarlı bir merceğin gücü kaç diyoptridir?
Öğrencilere 2–3 dakika verin; sonra cevap slaytını açın.
Cevap: Cevap: Önce metreye çevir: f = 25 cm = 0,25 m. P = 1/f = 1/0,25 = +4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Önce metreye çevir: f = 25 cm = 0,25 m. P = 1/f = 1/0,25 = +4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Mercekten 20 cm uzaktaki bir cismin görüntüsü merceğin öbür tarafında, 60 cm uzakta oluşuyor. Büyütme kaçtır?
Öğrencilere 2–3 dakika verin; sonra cevap slaytını açın.
Cevap: Cevap: m = |b / a| = 60 / 20 = 3. Görüntü cismin 3 katı boyundadır; merceğin öbür tarafında oluştuğu için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m = |b / a| = 60 / 20 = 3. Görüntü cismin 3 katı boyundadır; merceğin öbür tarafında oluştuğu için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Odak uzaklığı 10 cm olan ince kenarlı bir merceğin 30 cm önüne bir cisim konuyor. Görüntü nerede oluşur, büyütme kaçtır?
Öğrencilere 2–3 dakika verin; sonra cevap slaytını açın.
Cevap: Cevap: 1/10 = 1/30 + 1/b → 1/b = 3/30 − 1/30 = 2/30 = 1/15 → b = 15 cm (artı: gerçek, merceğin öbür tarafında). m = |b / a| = 15 / 30 = 0,5; görüntü ters ve cismin yarısı boyundadır. Cisim 2f'nin dışında olduğu için bu beklenen sonuçtur.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1/10 = 1/30 + 1/b → 1/b = 3/30 − 1/30 = 2/30 = 1/15 → b = 15 cm (artı: gerçek, merceğin öbür tarafında). m = |b / a| = 15 / 30 = 0,5; görüntü ters ve cismin yarısı boyundadır. Cisim 2f'nin dışında olduğu için bu beklenen sonuçtur.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Odak uzaklığı 12 cm olan bir büyüteç, 8 cm uzaktaki bir harfe tutuluyor. Görüntü nerede oluşur, harf kaç kat büyük görünür?
Öğrencilere 2–3 dakika verin; sonra cevap slaytını açın.
Cevap: Cevap: 1/12 = 1/8 + 1/b → 1/b = 2/24 − 3/24 = −1/24 → b = −24 cm. Eksi işaret görüntünün harfle aynı tarafta, yani sanal olduğunu söyler. m = |−24 / 8| = 3 kat; görüntü düz ve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1/12 = 1/8 + 1/b → 1/b = 2/24 − 3/24 = −1/24 → b = −24 cm. Eksi işaret görüntünün harfle aynı tarafta, yani sanal olduğunu söyler. m = |−24 / 8| = 3 kat; görüntü düz ve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Odak uzaklığı 15 cm olan ince kenarlı bir mercek, bir cismin 3 kat büyük görüntüsünü perdeye düşürüyor. Cisim ve perde mercekten kaç cm uzaktadır?
Öğrencilere 2–3 dakika verin; sonra cevap slaytını açın.
Cevap: Cevap: Görüntü perdede olduğu için gerçektir ve b / a = 3, yani b = 3a. Denklem: 1/15 = 1/a + 1/(3a) = 3/(3a) + 1/(3a) = 4/(3a) → 3a = 60 → a = 20 cm, b = 60 cm. Kontrol: 1/20 + 1/60 = 3/60 + 1/60 = 4/60 = 1/15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Görüntü perdede olduğu için gerçektir ve b / a = 3, yani b = 3a. Denklem: 1/15 = 1/a + 1/(3a) = 3/(3a) + 1/(3a) = 4/(3a) → 3a = 60 → a = 20 cm, b = 60 cm. Kontrol: 1/20 + 1/60 = 3/60 + 1/60 = 4/60 = 1/15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İnce kenarlıyı “ince mercek” sanmak. Adı kenarının inceliğinden gelir; ortası kalındır ve ışığı toplar.
• Kalın kenarlı mercekte gerçek görüntü aramak. Havadaki kalın kenarlı mercekte görüntü her zaman sanal, düz ve küçüktür.
• Miyopa ince kenarlı cam vermek. Miyop kalın kenarlı (eksi numaralı) camla düzeltilir.
• Diyoptriyi santimetreyle hesaplamak. P = 1/f bağıntısında f metre cinsinden olmalıdır: f = 50 cm için P = 1/0,5 = 2 D, 1/50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Sanal görüntüyü perdeye düşürmeye çalışmak. Yalnızca gerçek görüntüler perdeye düşer.
• Cisim odaktayken görüntü oluştuğunu sanmak. Işınlar paralel çıkar; görüntü sonsuzdadır.
• “Merceğin yarısı kapatılırsa görüntünün yarısı kaybolur.” Cismin her noktasından çıkan ışınlar merceğin her yerinden geçer; görüntü tam kalır, yalnızca sönükleşir.
• “Mercek her ortamda aynı davranır.” Odak uzaklığı mercek ile ortamın indis farkına bağlıdır; suda odak uzar, ortam mercekten kırıcıysa mercek türü tersine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İnce kenarlı toplar · Kalın kenarlı dağıtır · Güç P = 1/f · Büyütme |b/a|
1/f = 1/a + 1/b — mercek denklemi
m = |b / a| — büyütme
P = 1 / f(m) — diyoptri
b &lt; 0 → sanal — cisimle aynı tarafta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mercekle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08</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Mercekler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500" dirty="0">
                <a:solidFill>
                  <a:srgbClr val="C3CEE8"/>
                </a:solidFill>
                <a:latin typeface="Calibri" pitchFamily="34" charset="0"/>
                <a:ea typeface="Calibri" pitchFamily="34" charset="-122"/>
                <a:cs typeface="Calibri" pitchFamily="34" charset="-120"/>
              </a:rPr>
              <a:t>Mercek, ışığı kırarak toplayan ya da dağıtan saydam bir cisimdir. Gözlükten mikroskoba, fotoğraf makinesinden gözün kendisine kadar her optik alet tek bir denklemle çalışır: 1/f = 1/a + 1/b.</a:t>
            </a:r>
            <a:endParaRPr lang="en-US" sz="15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Aynı büyüteç bir uğur böceğini dev gibi gösterir, güneşe tutulunca bir kâğıdı tutuşturabilir.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Tek bir cam parçası bunu nasıl yapıyor?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Gözünün içindeki mercek de bu satırı okuyabilmen için şekil değiştiriyor.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Telefonunun kamerası, gözlüğün, mikroskop ve teleskop — hepsi aynı iki bağıntıyla çalışır.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Mercek aslında </a:t>
            </a:r>
            <a:pPr indent="0" marL="0">
              <a:lnSpc>
                <a:spcPct val="130000"/>
              </a:lnSpc>
              <a:buNone/>
            </a:pPr>
            <a:r>
              <a:rPr lang="en-US" sz="1550" b="1" dirty="0">
                <a:solidFill>
                  <a:srgbClr val="5F4BD8"/>
                </a:solidFill>
                <a:latin typeface="Cambria" pitchFamily="34" charset="0"/>
                <a:ea typeface="Cambria" pitchFamily="34" charset="-122"/>
                <a:cs typeface="Cambria" pitchFamily="34" charset="-120"/>
              </a:rPr>
              <a:t>arka arkaya dizilmiş sonsuz sayıda küçük prizmadan</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başka bir şey değildir: her biri ışığı biraz büker, hepsi birlikte ışığı tek bir noktada toplar.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Optik ünitesinin bu son konusu kırılmayı, prizmaları ve aynaları tek bir alette buluşturuyor.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Önce mercekleri gözleyip ışınlarla görüntü çizeceğiz, sonra mercek denklemini, diyoptriyi ve gözü sayılarla inceleyeceğiz, ardından iki mercekli aletlere ve modelin sınırlarına geçeceğiz.</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En sonda kolaydan zora sıralanmış örneklerle hepsini birlikte kullanacağız.</a:t>
            </a:r>
            <a:endParaRPr lang="en-US" sz="15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merceğin ışığı nasıl büktüğünü gör, üç ışınla görüntüyü çiz ve cismin yeri değişince neyin değiştiğini fark et.</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bir büyüteç ne yapar?</a:t>
            </a:r>
            <a:endParaRPr lang="en-US" sz="12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 nedir, hangi türleri vardır?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Asal ışınlar: üç kuralla görüntü çizmek</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Cismi yaklaştır: ince kenarlı mercekte beş durum</a:t>
            </a:r>
            <a:endParaRPr lang="en-US" sz="11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Bağıntılar: görüntünün yerini ve boyunu mercek denklemiyle hesapla, gücü diyoptriyle ölç ve gözün kusurlarını sayılarla düzelt.</a:t>
            </a:r>
            <a:endParaRPr lang="en-US" sz="100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 denklemi: görüntüyü hesapla bul</a:t>
            </a:r>
            <a:endParaRPr lang="en-US" sz="1250" dirty="0"/>
          </a:p>
        </p:txBody>
      </p:sp>
      <p:sp>
        <p:nvSpPr>
          <p:cNvPr id="30" name="Text 28"/>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cisim yaklaşınca görüntü nereye kaçar?</a:t>
            </a:r>
            <a:endParaRPr lang="en-US" sz="1150" dirty="0"/>
          </a:p>
        </p:txBody>
      </p:sp>
      <p:sp>
        <p:nvSpPr>
          <p:cNvPr id="32" name="Text 30"/>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 gücü: diyoptri</a:t>
            </a:r>
            <a:endParaRPr lang="en-US" sz="1250" dirty="0"/>
          </a:p>
        </p:txBody>
      </p:sp>
      <p:sp>
        <p:nvSpPr>
          <p:cNvPr id="34" name="Text 32"/>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Göz: odağını kendisi ayarlayan mercek</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perdede iki net konum, art arda iki mercek, ortamın ve rengin etkisi, en sonda da optik ünitesinin gerçek dünyadaki kapanışı.</a:t>
            </a:r>
            <a:endParaRPr lang="en-US" sz="100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Perdeye net görüntü: neden iki konum var?</a:t>
            </a:r>
            <a:endParaRPr lang="en-US" sz="1200" dirty="0"/>
          </a:p>
        </p:txBody>
      </p:sp>
      <p:sp>
        <p:nvSpPr>
          <p:cNvPr id="45" name="Text 43"/>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Art arda iki mercek: mikroskop ve teleskop</a:t>
            </a:r>
            <a:endParaRPr lang="en-US" sz="1150" dirty="0"/>
          </a:p>
        </p:txBody>
      </p:sp>
      <p:sp>
        <p:nvSpPr>
          <p:cNvPr id="47" name="Text 45"/>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Modelin sınırları: ortam, renk ve kalınlık</a:t>
            </a:r>
            <a:endParaRPr lang="en-US" sz="1150" dirty="0"/>
          </a:p>
        </p:txBody>
      </p:sp>
      <p:sp>
        <p:nvSpPr>
          <p:cNvPr id="49" name="Text 47"/>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Mercekler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Kırılma: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ışık havadan cama geçerken yavaşlar ve yönü bükülür. Suya daldırılan bir kalemin kırık görünmesi bundandır.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Prizma: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havadaki bir cam prizma ışığı her zaman kalın tabanına doğru büker. Bunu bir önceki konuda gördün.</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Odak ve görüntü (aynalar):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çukur aynaya eksene paralel gelen ışınlar odak noktasında toplanır. Perdeye düşen görüntü gerçektir; düzlem aynadaki gibi perdeye düşmeyen görüntü sanaldır.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Kesirlerle işlem:</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önce paydaları eşitle, sonra çıkar: 1/4 − 1/6 = 3/12 − 2/12 = 1/12. 1/b = 1/12 ise b = 12'dir.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Santimetre ve metre: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100 cm = 1 m, yani 50 cm = 0,5 m ve 25 cm = 0,25 m. 1/0,5 = 2 ve 1/0,25 = 4 eder.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merceğin ışığı nasıl büktüğünü gör, üç ışınla görüntüyü çiz ve cismin yeri değişince neyin değiştiğini fark 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bir büyüteç ne yapar?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Mercek nedir, hangi türleri vardır?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Asal ışınlar: üç kuralla görüntü çizmek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Cismi yaklaştır: ince kenarlı mercekte beş durum</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10/sek/mercekle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Gözlük de bir mercektir.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Kâğıda bu kadar yakın duran bir gözlük camı arkasındaki çizimleri pek değiştirmez; gözlüğü kâğıttan yavaşça kaldırdıkça çizimler camın içinde büyür ya da küçülür. Yazıyı ya da çizimi büyüten bir gözlük camı ortası kalın bir camdır ve ışığı toplar; küçülten bir cam ise ortası incedir ve ışığı dağıtır. Hangisinin hangi göze yardım ettiğini ikinci basamakta hesaplayacağız.</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bir büyüteç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büyüteci gazete yazısının hemen üstünde tut ve yavaşça yukarı kaldır.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Harfler önce büyür, sonra birden bulanıklaşır.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 kolunu uzatıp aynı büyüteçle karşıdaki pencereye bak: pencere bu kez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küçük ve baş aşağı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cam, yalnızca uzaklık değişti diye hem büyütüyor hem küçültüyor, hem düz hem ters gösteriyor.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bir büyüteç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Güneşli bir günde büyüteci bir kâğıdın üzerinde tutarsan ışık parlak bir beneğe toplanır; doğru yükseklikte benek en küçük hâlini alır ve kâğıt ısınıp kararmaya başlar.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Güneş ışığı merceğin öbür tarafında belirli bir noktada toplanmıştır; o noktanın mercekten uzaklığı bu büyütecin kimliğidir.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Gözlük camları da birer mercektir.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bir büyüteç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Hangi mercek olursa olsun, dikkatle bakınca aynı üç şey gözlenir:</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Işık bükülür: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mercekten geçen ışık doğrultusunu değiştirir; bu, ünitenin kırılma konusundan tanıdığın kırılmadır.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Bazı mercekler toplar, bazıları dağıtır: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ortası kalın cam ışığı bir noktada toplar, ortası ince cam dağıtır.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Görüntü uzaklığa bağlıdır: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mercek cisim yakınken büyük ve düz, uzaktayken küçük ve ters bir görüntü verir.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bir büyüteç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Aynı mercek cismin uzaklığına göre büyük ve düz ya da küçük ve ters görüntü verir. Ortası kalın mercekler ışığı bir noktada toplar, ortası ince mercekler dağıtır.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gözlük camının ortası kalın mı ince mi, camı ölçmeden nasıl anlarsın?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bir büyüteç ne yapar?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gözlük camının ortası kalın mı ince mi, camı ölçmeden nasıl anlarsın?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Camı bir yazının birkaç santimetre üstünde tutup yazıya bak. Yazı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büyüyorsa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cam ortası kalın, ışığı toplayan bir mercektir;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küçülüyorsa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ortası ince, ışığı dağıtan bir mercektir.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Mercek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en az bir yüzeyi küresel olan saydam cisimdir; ışığı kırarak toplar ya da dağıtır.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Nasıl yaptığını ünitenin bir önceki konusu açıklar: havadaki bir cam prizma ışığı her zaman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kalın tabanına doğru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büker.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merceği ince dilimlere ayırdığını düşün; her dilim küçük bir prizmadır.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Eksenden uzaklaştıkça dilimin iki yüzü birbirine daha eğik olur, yani dilim tepe açısı daha büyük bir prizmaya dönüşür ve ışığı daha çok büker; bu yüzden bütün ışınlar tek bir noktada buluşabilir.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Prizmaların tabanı merkeze bakıyorsa mercek toplar, dışa bakıyorsa dağıtır: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İnce kenarlı (yakınsak) mercek: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ortası kalın, kenarları incedir. Asal eksene paralel gelen ışınları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odakta toplar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&gt; 0.</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Kalın kenarlı (ıraksak) mercek: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ortası ince, kenarları kalındır. Işınları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dağıtır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uzantıları odakta kesişir. f &lt; 0.</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Merceğin ortasından yüzeylerine dik geçen doğruya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asal eksen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merceğin tam ortasındaki noktaya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optik merkez</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Eksene paralel gelen ışınların toplandığı ya da uzantılarının buluştuğu noktaya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odak noktası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 bu noktanın merkeze uzaklığına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odak uzaklığı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Merceğin iki tarafında da birer odak noktası vardır ve ikisi merkeze eşit uzaklıktadır; merkezden 2f uzaktaki noktalar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2F</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ile gösterilir.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Odak uzaklığı; yüzeylerin eğrilik yarıçaplarına ve merceğin indisine bağlıdır.</a:t>
            </a:r>
            <a:endParaRPr lang="en-US" sz="2200" dirty="0"/>
          </a:p>
        </p:txBody>
      </p:sp>
      <p:sp>
        <p:nvSpPr>
          <p:cNvPr id="7" name="Shape 5"/>
          <p:cNvSpPr/>
          <p:nvPr/>
        </p:nvSpPr>
        <p:spPr>
          <a:xfrm>
            <a:off x="640080" y="2389632"/>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554224"/>
            <a:ext cx="54864" cy="704088"/>
          </a:xfrm>
          <a:prstGeom prst="rect">
            <a:avLst/>
          </a:prstGeom>
          <a:solidFill>
            <a:srgbClr val="A56209"/>
          </a:solidFill>
          <a:ln/>
        </p:spPr>
      </p:sp>
      <p:sp>
        <p:nvSpPr>
          <p:cNvPr id="9" name="Text 7"/>
          <p:cNvSpPr txBox="1"/>
          <p:nvPr/>
        </p:nvSpPr>
        <p:spPr>
          <a:xfrm>
            <a:off x="950976" y="2517648"/>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İsim tuzağı: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“İnce kenarlı” adı merceğin kenarından gelir; ortası kalındır ve ışığı toplar. Kalın kenarlı merceğin ortası incedir ve ışığı dağıtır.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559157" y="1234440"/>
            <a:ext cx="90733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ercekler-01.png">    </p:cNvPr>
          <p:cNvPicPr>
            <a:picLocks noChangeAspect="1"/>
          </p:cNvPicPr>
          <p:nvPr/>
        </p:nvPicPr>
        <p:blipFill>
          <a:blip r:embed="rId1"/>
          <a:stretch>
            <a:fillRect/>
          </a:stretch>
        </p:blipFill>
        <p:spPr>
          <a:xfrm>
            <a:off x="1787757" y="1325880"/>
            <a:ext cx="86161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Eksene paralel gelen ışınlar ince kenarlı mercekte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gerçek bir odakta toplanır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oraya kâğıt tutarsan güneşin görüntüsünü yakabilirsin. Kalın kenarlı mercekte ise ışınlar dağılır ve yalnızca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uzantıları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odakta buluşur — bu yüzden bu merceğin odak uzaklığı negatif kabul edilir ve hiçbir zaman perdeye görüntü düşürmez.</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Mercek, ışığı kırarak toplayan ya da dağıtan saydam bir cisimdir ve küçük prizmalar dizisi gibi davranır. İnce kenarlı mercek ışığı odakta toplar (f &gt; 0), kalın kenarlı mercek dağıtır (f &lt; 0).</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cismin her noktasından sayısız ışın çıkar ve mercekten geçenlerin hepsi görüntüde yine tek bir noktada buluşur.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davranışını kesin bildiğimiz özel ışınlar, yani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asal ışınlar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yeter.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İnce kenarlı mercekte görüntüyü çizmek için üç ışından ikisi yeter: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Asal eksene paralel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gelen ışın, kırıldıktan sonra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odaktan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geçer.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Merkezden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geçen ışın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doğrultusunu korur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Odaktan geçerek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gelen ışın, kırıldıktan sonra eksene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paralel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gider.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kurallar ezber değildir.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Birincisi odağın tanımıdır.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İkincisi, merceğin ortasının iki yüzü paralel ince bir cam levha gibi olmasından gelir; ince mercekte ışının küçük kayması ihmal edilir.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Üçüncüsü ışığın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tersinirliğinden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çıkar: ışık bir yolu tersine de izleyebilir, bu yüzden birinci kuralı tersten okursan odaktan gelen ışın paralel çıkar.</a:t>
            </a:r>
            <a:endParaRPr lang="en-US" sz="2200" dirty="0"/>
          </a:p>
        </p:txBody>
      </p:sp>
      <p:sp>
        <p:nvSpPr>
          <p:cNvPr id="7" name="Text 5"/>
          <p:cNvSpPr txBox="1"/>
          <p:nvPr/>
        </p:nvSpPr>
        <p:spPr>
          <a:xfrm>
            <a:off x="640080" y="4591812"/>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ışın görüntüyü belirlemeye yeter; üçüncüsü çizimi denetler.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Kalın kenarlı mercekte paralel gelen ışın,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merceğin önündeki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odaktan geliyormuş gibi dağılır; görüntü bu uzantıların kesişmesiyle oluşur ve her zaman sanaldır.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Genel kural şudur: ışınların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kendisi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kesişiyorsa görüntü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gerçektir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perdeye düşer; yalnızca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uzantıları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kesişiyorsa görüntü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sanaldır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Sanal görüntü perdeye düşmez ama mercekten bakan göz onu görür, tıpkı düzlem aynadaki görüntün gibi.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600682" y="1234440"/>
            <a:ext cx="8990332"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ercekler-02.png">    </p:cNvPr>
          <p:cNvPicPr>
            <a:picLocks noChangeAspect="1"/>
          </p:cNvPicPr>
          <p:nvPr/>
        </p:nvPicPr>
        <p:blipFill>
          <a:blip r:embed="rId1"/>
          <a:stretch>
            <a:fillRect/>
          </a:stretch>
        </p:blipFill>
        <p:spPr>
          <a:xfrm>
            <a:off x="1829282" y="1325880"/>
            <a:ext cx="8533132"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Mercekte de üç asal ışın vardır: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1</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eksene paralel gelir, kırıldıktan sonra odaktan geçer;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merkezden geçer ve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hiç kırılmaz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3</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odaktan geçerek gelir, kırıldıktan sonra eksene paralel olur. İkisi kesiştiği yerde görüntü oluşur. Işınlar gerçekten kesişiyorsa görüntü gerçektir ve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perdeye düşer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Paralel gelen ışın odaktan geçer, merkezden geçen sapmaz, odaktan gelen paralel çıkar; ikisinin kesiştiği yer görüntüdür. Işınlar gerçekten kesişirse görüntü gerçek, yalnızca uzantıları kesişirse sanaldır.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Cismi uzaktan merceğe doğru adım adım yaklaştırıp her adımda asal ışınları çizelim; sayfanın 02 numaralı bölümündeki “Sırayla göster” düğmesi tam olarak bunu yapar.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Beş durumun her biri bir optik aletin çalışma ilkesidir: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078388"/>
                <a:gridCol w="2597985"/>
                <a:gridCol w="3290780"/>
                <a:gridCol w="294438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Cisim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Görüntü</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Tür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Alet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2f dışında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f – 2f arası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küçük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fotoğraf makinesi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2f'de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2f'de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eşit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fotokopi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 – 2f arası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2f dışında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projeksiyon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Odakta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sonsuzda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görüntü oluşmaz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projektör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Odak içinde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cisim tarafında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sanal, düz,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büyüteç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merceğe yaklaştıkça görüntü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uzaklaşır ve büyür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ikisi bir tahterevallinin iki ucu gibidir.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çok uzaktan 2F'ye gelirken görüntü F'den 2F'ye gider; 2F'de ikisi eşit uzaklıkta ve eşit boydadır; cisim 2F'den F'ye gelirken görüntü sonsuza kaçar.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görüntüler hep terstir, çünkü ışınlar mercekte çaprazlanır: cismin üst ucundan çıkan ışınlar eksenin altına iner.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Kalın kenarlı mercekte beş durum yoktur.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Havadaki kalın kenarlı mercekte cisim nerede olursa olsun görüntü sanal, düz ve küçüktür; odak ile mercek arasında, cisimle aynı tarafta oluşur.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696804" y="1234440"/>
            <a:ext cx="6798087"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ercekler-03.png">    </p:cNvPr>
          <p:cNvPicPr>
            <a:picLocks noChangeAspect="1"/>
          </p:cNvPicPr>
          <p:nvPr/>
        </p:nvPicPr>
        <p:blipFill>
          <a:blip r:embed="rId1"/>
          <a:stretch>
            <a:fillRect/>
          </a:stretch>
        </p:blipFill>
        <p:spPr>
          <a:xfrm>
            <a:off x="2925404" y="1325880"/>
            <a:ext cx="6340887"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Cisim mercekten uzakken görüntü küçük ve gerçektir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fotoğraf makinesi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böyle çalışır. Cismi yaklaştırdıkça görüntü büyür ve uzaklaşır; f ile 2f arasında büyütülmüş gerçek görüntü verir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projeksiyon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Odakta ışınlar paralelleşir, görüntü oluşmaz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projektör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Odağın içine girildiğinde görüntü sanal, düz ve büyük olur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büyüteç</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Beş satır, beş optik alet.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Cisim ince kenarlı merceğe yaklaştıkça görüntü uzaklaşır ve büyür: 2F'de eşit boyda, odakta yok, odak içinde sanal ve büyük olur. Kalın kenarlı mercekte görüntü her zaman sanal, düz ve küçüktür.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görüntünün yerini ve boyunu mercek denklemiyle hesapla, gücü diyoptriyle ölç ve gözün kusurlarını sayılarla düzelt.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Mercek denklemi: görüntüyü hesapla bul</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cisim yaklaşınca görüntü nereye kaçar?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Mercek gücü: diyoptri</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Göz: odağını kendisi ayarlayan mercek</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1/f = 1/a + 1/b</a:t>
            </a:r>
            <a:endParaRPr lang="en-US" sz="1500" dirty="0"/>
          </a:p>
        </p:txBody>
      </p:sp>
      <p:sp>
        <p:nvSpPr>
          <p:cNvPr id="13" name="Text 11"/>
          <p:cNvSpPr txBox="1"/>
          <p:nvPr/>
        </p:nvSpPr>
        <p:spPr>
          <a:xfrm>
            <a:off x="8549640" y="148132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mercek denklemi</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m = |b / a|</a:t>
            </a:r>
            <a:endParaRPr lang="en-US" sz="1500" dirty="0"/>
          </a:p>
        </p:txBody>
      </p:sp>
      <p:sp>
        <p:nvSpPr>
          <p:cNvPr id="16" name="Text 14"/>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170078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P = 1 / f(m)</a:t>
            </a:r>
            <a:endParaRPr lang="en-US" sz="1500" dirty="0"/>
          </a:p>
        </p:txBody>
      </p:sp>
      <p:sp>
        <p:nvSpPr>
          <p:cNvPr id="19" name="Text 17"/>
          <p:cNvSpPr txBox="1"/>
          <p:nvPr/>
        </p:nvSpPr>
        <p:spPr>
          <a:xfrm>
            <a:off x="8193024" y="3218688"/>
            <a:ext cx="317571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diyoptri</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b &lt; 0 → sanal</a:t>
            </a:r>
            <a:endParaRPr lang="en-US" sz="1500" dirty="0"/>
          </a:p>
        </p:txBody>
      </p:sp>
      <p:sp>
        <p:nvSpPr>
          <p:cNvPr id="22" name="Text 20"/>
          <p:cNvSpPr txBox="1"/>
          <p:nvPr/>
        </p:nvSpPr>
        <p:spPr>
          <a:xfrm>
            <a:off x="8311896" y="408736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cisimle aynı tarafta</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Işın çizimi görüntünün kabaca yerini gösterir; kesin yerini tek bir bağıntı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Cismin merceğe uzaklığı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görüntününki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görüntü boyunun cisim boyuna oranı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büyütme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(m) olsun:</a:t>
            </a:r>
            <a:endParaRPr lang="en-US" sz="2200" dirty="0"/>
          </a:p>
        </p:txBody>
      </p:sp>
      <p:sp>
        <p:nvSpPr>
          <p:cNvPr id="7" name="Shape 5"/>
          <p:cNvSpPr/>
          <p:nvPr/>
        </p:nvSpPr>
        <p:spPr>
          <a:xfrm>
            <a:off x="640080" y="3252216"/>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252216"/>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1/f = 1/a + 1/b</a:t>
            </a:r>
            <a:endParaRPr lang="en-US" sz="1800" dirty="0"/>
          </a:p>
        </p:txBody>
      </p:sp>
      <p:sp>
        <p:nvSpPr>
          <p:cNvPr id="9" name="Shape 7"/>
          <p:cNvSpPr/>
          <p:nvPr/>
        </p:nvSpPr>
        <p:spPr>
          <a:xfrm>
            <a:off x="3419856" y="3252216"/>
            <a:ext cx="207751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3252216"/>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 = |b / a|</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169093"/>
                <a:gridCol w="7793954"/>
                <a:gridCol w="194848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odak uzaklığı: odak noktasının merceğin merkezine uzaklığı (ince kenarlıda artı, kalın kenarlıda eksi)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 ya da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cismin merceğe uzaklığı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 ya da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görüntünün merceğe uzaklığı (artıysa görüntü gerçek, eksiyse sanal)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 ya da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büyütme: görüntünün boyu, cismin boyunun kaç katı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Denklem nereden geliyor?</a:t>
            </a:r>
            <a:endParaRPr lang="en-US" sz="2200" dirty="0"/>
          </a:p>
        </p:txBody>
      </p:sp>
      <p:sp>
        <p:nvSpPr>
          <p:cNvPr id="8" name="Text 6"/>
          <p:cNvSpPr txBox="1"/>
          <p:nvPr/>
        </p:nvSpPr>
        <p:spPr>
          <a:xfrm>
            <a:off x="640080" y="1892808"/>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 asal ışın çiziminde cismin tepesinden çıkan iki ışını izle; gerisi benzer üçgenlerdir:</a:t>
            </a:r>
            <a:endParaRPr lang="en-US" sz="2200" dirty="0"/>
          </a:p>
        </p:txBody>
      </p:sp>
      <p:sp>
        <p:nvSpPr>
          <p:cNvPr id="9" name="Text 7"/>
          <p:cNvSpPr txBox="1"/>
          <p:nvPr/>
        </p:nvSpPr>
        <p:spPr>
          <a:xfrm>
            <a:off x="640080" y="2956560"/>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Merkezden geçen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sapmaz. Cisim ve görüntü tarafındaki iki üçgen benzerdir: boy(görüntü) / boy(cisim) = b / a.</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Paralel gelen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odaktan geçer; odağın iki yanında iki benzer üçgen kurar: boy(görüntü) / boy(cisim) = (b − f) / f.</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 oranı eşitle: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 / a = (b − f) / f → b·f = a·b − a·f.</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Her terimi a·b·f'ye böl: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1/a = 1/f − 1/b, yani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1/f = 1/a + 1/b</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Büyütme de ilk adımdan gelir: m = |b / a|.</a:t>
            </a:r>
            <a:endParaRPr lang="en-US" sz="21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İnce kenarlı: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pozitif.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Kalın kenarlı: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negatif.</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 pozitif:</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merceğin öbür tarafında,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gerçek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(perdeye düşer).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 negatif:</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cisimle aynı tarafta,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sanal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7" name="Shape 5"/>
          <p:cNvSpPr/>
          <p:nvPr/>
        </p:nvSpPr>
        <p:spPr>
          <a:xfrm>
            <a:off x="640080" y="2905506"/>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070098"/>
            <a:ext cx="54864" cy="704088"/>
          </a:xfrm>
          <a:prstGeom prst="rect">
            <a:avLst/>
          </a:prstGeom>
          <a:solidFill>
            <a:srgbClr val="3C8C21"/>
          </a:solidFill>
          <a:ln/>
        </p:spPr>
      </p:sp>
      <p:sp>
        <p:nvSpPr>
          <p:cNvPr id="9" name="Text 7"/>
          <p:cNvSpPr txBox="1"/>
          <p:nvPr/>
        </p:nvSpPr>
        <p:spPr>
          <a:xfrm>
            <a:off x="950976" y="3033522"/>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Aynalarla aynı denklem.</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Küresel aynalarda da 1/f = 1/a + 1/b kullanılır. Fark, görüntünün oluştuğu taraftadır: aynada yansıma, mercekte kırılma vardır.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Birim kontrolü:</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her terim “1 bölü uzunluk” birimindedir; a, b ve f aynı birimle yazılmalıdır.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Büyütme iki uzunluğun oranı olduğu için birimsizdir.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245241" y="1234440"/>
            <a:ext cx="9701213"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ercekler-04.png">    </p:cNvPr>
          <p:cNvPicPr>
            <a:picLocks noChangeAspect="1"/>
          </p:cNvPicPr>
          <p:nvPr/>
        </p:nvPicPr>
        <p:blipFill>
          <a:blip r:embed="rId1"/>
          <a:stretch>
            <a:fillRect/>
          </a:stretch>
        </p:blipFill>
        <p:spPr>
          <a:xfrm>
            <a:off x="1473841" y="1325880"/>
            <a:ext cx="9244013"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Mercek denklemi aynanınkiyle aynı biçimdedir, yalnız "arka taraf" tanımı değişir: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merceğin öbür tarafında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çıkıyorsa gerçektir (b &gt; 0),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cisimle aynı tarafta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çıkıyorsa sanaldır (b &lt; 0). Hesapta b negatif çıkması hata değil, görüntünün sanal olduğunun işaretidir — büyüteçte her zaman böyle olur.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Görüntünün yeri 1/f = 1/a + 1/b, büyütmesi m = |b/a| ile bulunur; ikisi de benzer üçgenlerden çıkar. b pozitifse görüntü gerçek, negatifse sanaldır.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laboratuvarındaki hazır deneyler odak uzaklığı 30 cm olan ince kenarlı bir mercek kullanır.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Sonuçlarını mercek denklemiyle önceden hesaplayalım: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398675"/>
                <a:gridCol w="2862042"/>
                <a:gridCol w="465081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Cisim uzaklığı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Görüntü uzaklığı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Büyütme ve tür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120 cm · fotoğraf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0,33 · gerçek, ters, küçük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60 cm · fotokopi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 gerçek, ters, eşit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40 cm · projeksiyon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 · gerçek, ters,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30 cm · odakta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sonsuz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görüntü oluşmaz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18 cm · büyüteç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 sanal, düz,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iki düzen okunur.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Birincisi: ilk ve üçüncü satırda a ile b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yer değiştirmiş</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(120 ↔ 40); ışığın tersinirliği bunu gerektirir.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İkincisi: odağa yaklaştıkça görüntü çok hızlı kaçar.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33 cm'deyken, odağa yalnızca 3 cm kala, görüntü 330 cm'ye çıkar ve 10 kat büyür.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Mercek denklemini a·b·f ile çarpıp düzenlersen kaçışın nedeni görünür: cismin odağa uzaklığı ile görüntünün odağa uzaklığının çarpımı sabittir.</a:t>
            </a:r>
            <a:endParaRPr lang="en-US" sz="2200" dirty="0"/>
          </a:p>
        </p:txBody>
      </p:sp>
      <p:sp>
        <p:nvSpPr>
          <p:cNvPr id="7" name="Shape 5"/>
          <p:cNvSpPr/>
          <p:nvPr/>
        </p:nvSpPr>
        <p:spPr>
          <a:xfrm>
            <a:off x="640080" y="2389632"/>
            <a:ext cx="3606394"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89632"/>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f) · (b − f) = f²</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120 cm için 90 · 10, 33 cm için 3 · 300; ikisi de 900 = 30²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 küçülünce öbürü aynı oranda büyümek zorundadır.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120 ile 40 çiftini aklında tut; sayfanın 04 numaralı bölümünde yeniden karşına çıkacak.</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ercekler-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Perdeye düşen alev</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baş aşağı: mercek mumdan çıkan ışınları perdede yeniden topladığı için orada gerçek ve ters bir görüntü oluşur, mumun gövdesi de bu yüzden alevin üstünde parlak bir şerit olarak görünür. Mercek muma perdeden daha yakın durduğu için b &gt; a'dır ve m = |b/a| büyütmesiyle alev olduğundan büyük çıkar. Mumu odağa doğru biraz daha yaklaştırırsan net görüntü için perdeyi geri çekmen gerekir ve alev daha da büyür.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 = 30 cm'lik mercekte cisim 120, 60 ve 40 cm'deyken görüntü 40, 60 ve 120 cm'de oluşur; a ile b yer değiştirebilir. Odağa yaklaştıkça görüntü hızla kaçar, çünkü (a − f)(b − f) = f² sabittir.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 = 30 cm'lik mercekte cisim 60 cm'den 40 cm'ye, 20 cm yaklaşıyor. Görüntü de 20 cm mi uzaklaşır?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cisim yaklaşınca görüntü nereye kaçar?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 = 30 cm'lik mercekte cisim 60 cm'den 40 cm'ye, 20 cm yaklaşıyor. Görüntü de 20 cm mi uzaklaşır?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60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uzaklaşır: görüntü 60 cm'den 120 cm'ye çıkar. Odağa yaklaştıkça cismin küçük bir kayması görüntüyü çok uzağa taşır; ilişki doğrusal değil, (a − f)·(b − f) = f² gibi bir ters orantıdır.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Shape 4"/>
          <p:cNvSpPr/>
          <p:nvPr/>
        </p:nvSpPr>
        <p:spPr>
          <a:xfrm>
            <a:off x="640080" y="1325880"/>
            <a:ext cx="1799539" cy="585216"/>
          </a:xfrm>
          <a:prstGeom prst="roundRect">
            <a:avLst>
              <a:gd name="adj" fmla="val 18750"/>
            </a:avLst>
          </a:prstGeom>
          <a:solidFill>
            <a:srgbClr val="EEF2FC"/>
          </a:solidFill>
          <a:ln w="9525">
            <a:solidFill>
              <a:srgbClr val="CBD7F4"/>
            </a:solidFill>
            <a:prstDash val="solid"/>
          </a:ln>
        </p:spPr>
      </p:sp>
      <p:sp>
        <p:nvSpPr>
          <p:cNvPr id="7" name="Text 5"/>
          <p:cNvSpPr txBox="1"/>
          <p:nvPr/>
        </p:nvSpPr>
        <p:spPr>
          <a:xfrm>
            <a:off x="640080" y="1325880"/>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 = 1 / f</a:t>
            </a:r>
            <a:endParaRPr lang="en-US" sz="1800" dirty="0"/>
          </a:p>
        </p:txBody>
      </p:sp>
      <p:sp>
        <p:nvSpPr>
          <p:cNvPr id="8" name="Shape 6"/>
          <p:cNvSpPr/>
          <p:nvPr/>
        </p:nvSpPr>
        <p:spPr>
          <a:xfrm>
            <a:off x="2585923" y="1325880"/>
            <a:ext cx="2911450"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2585923" y="132588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metre cinsinden</a:t>
            </a:r>
            <a:endParaRPr lang="en-US" sz="1800" dirty="0"/>
          </a:p>
        </p:txBody>
      </p:sp>
      <p:sp>
        <p:nvSpPr>
          <p:cNvPr id="10" name="Text 8"/>
          <p:cNvSpPr txBox="1"/>
          <p:nvPr/>
        </p:nvSpPr>
        <p:spPr>
          <a:xfrm>
            <a:off x="640080" y="214884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Merceğin ışığı kırma yeteneğine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mercek gücü</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 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diyoptri (D)</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Odak uzaklığı 50 cm olan ince kenarlı merceğin gücü 1/0,5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 diyoptri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Kalın kenarlı merceklerde güç negatiftir.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Gözlük camlarının “numarası” bu değerdir.</a:t>
            </a:r>
            <a:endParaRPr lang="en-US" sz="22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Neden odak uzaklığının tersi?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 güçlü kıran mercek paralel ışınları çok yakında toplar, yani kısa odaklıdır; odak yarıya inince güç iki katına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Diyoptri “1 bölü metre” biriminin özel adıdır; f bu yüzden metreyle yazılır.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1540993" y="1234440"/>
            <a:ext cx="9109710"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ercekler-05.png">    </p:cNvPr>
          <p:cNvPicPr>
            <a:picLocks noChangeAspect="1"/>
          </p:cNvPicPr>
          <p:nvPr/>
        </p:nvPicPr>
        <p:blipFill>
          <a:blip r:embed="rId1"/>
          <a:stretch>
            <a:fillRect/>
          </a:stretch>
        </p:blipFill>
        <p:spPr>
          <a:xfrm>
            <a:off x="1769593" y="1325880"/>
            <a:ext cx="8652510"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Mercek gücü, odak uzaklığının tersidir: mercek ışığı ne kadar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keskin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kırıyorsa gücü o kadar büyüktür. Odak uzaklığı yarıya inince güç iki katına çıkar. Gözlük numarası dediğimiz şey tam olarak budur: "−2,5 numara" demek, odak uzaklığı −40 cm olan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kalın kenarlı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mercek demektir — eksi işareti merceğin ıraksak olduğunu söyler.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453688"/>
                <a:gridCol w="3340266"/>
                <a:gridCol w="311758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Mercek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Odak uzaklığı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Güç</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Hafif okuma gözlüğü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Hipermetrop gözlüğü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 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Miyop gözlüğü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Büyüteç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İnsan gözünün tamamı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1,7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+60 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ince mercek birbirine bitiştirilirse ışığı art arda büker ve güçleri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toplanır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+3 D'lik bir camın önüne −1 D'lik bir cam koyarsan ikisi +2 D'lik tek bir mercek gibi davranır.</a:t>
            </a:r>
            <a:endParaRPr lang="en-US" sz="2200" dirty="0"/>
          </a:p>
        </p:txBody>
      </p:sp>
      <p:sp>
        <p:nvSpPr>
          <p:cNvPr id="7" name="Shape 5"/>
          <p:cNvSpPr/>
          <p:nvPr/>
        </p:nvSpPr>
        <p:spPr>
          <a:xfrm>
            <a:off x="640080" y="2775204"/>
            <a:ext cx="207751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775204"/>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 = P₁ + P₂</a:t>
            </a:r>
            <a:endParaRPr lang="en-US" sz="1800" dirty="0"/>
          </a:p>
        </p:txBody>
      </p:sp>
      <p:sp>
        <p:nvSpPr>
          <p:cNvPr id="9" name="Shape 7"/>
          <p:cNvSpPr/>
          <p:nvPr/>
        </p:nvSpPr>
        <p:spPr>
          <a:xfrm>
            <a:off x="2863901" y="2775204"/>
            <a:ext cx="3884371"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863901" y="2775204"/>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(bitişik ince mercekler)</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Mercek gücü odak uzaklığının tersidir: P = 1/f, f metre cinsinden, birimi diyoptri. İnce kenarlıda artı, kalın kenarlıda eksidir; bitişik merceklerin güçleri toplanır.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 ince kenarlı bir mercek gibi çalışır ve görüntüyü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retina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üzerine düşürür.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önce saydam ön yüzey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kornea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dan, sonra göz merceğinden geçer; ikisi birlikte yaklaşık +60 D'lik bir mercek gibidir.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 merceği kaslarla şekil değiştirerek odak uzaklığını ayarlar; buna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uyum (akomodasyon)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Sağlıklı göz sonsuzdaki cismi de yaklaşık 25 cm'deki cismi de net görür; bu sınırlara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uzak nokta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yakın nokta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Miyop: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Göz çok kırıcıdır ya da göz küresi uzundur; görüntü retinanın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önünde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oluşur, uzak cisimler bulanık görünür. Kalın kenarlı (eksi numaralı) camla düzeltilir.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Hipermetrop: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Göz yeterince kırıcı değildir; görüntü retinanın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arkasına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düşer, yakın cisimler bulanık görünür. İnce kenarlı (artı numaralı) camla düzeltilir.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Astigmat: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Kornea küresel değildir; silindirik camla düzeltilir.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Presbiyopi: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Yaşla birlikte uyum yeteneğinin azalmasıdır.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Gözlük numarası nasıl hesaplanır?</a:t>
            </a:r>
            <a:endParaRPr lang="en-US" sz="2200" dirty="0"/>
          </a:p>
        </p:txBody>
      </p:sp>
      <p:sp>
        <p:nvSpPr>
          <p:cNvPr id="8" name="Text 6"/>
          <p:cNvSpPr txBox="1"/>
          <p:nvPr/>
        </p:nvSpPr>
        <p:spPr>
          <a:xfrm>
            <a:off x="640080" y="1892808"/>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Gözlük, cismin sanal görüntüsünü gözün net görebildiği bir yere taşır. d, uzak ya da yakın noktanın metre cinsinden uzaklığıdır:</a:t>
            </a:r>
            <a:endParaRPr lang="en-US" sz="2200" dirty="0"/>
          </a:p>
        </p:txBody>
      </p:sp>
      <p:sp>
        <p:nvSpPr>
          <p:cNvPr id="9" name="Text 7"/>
          <p:cNvSpPr txBox="1"/>
          <p:nvPr/>
        </p:nvSpPr>
        <p:spPr>
          <a:xfrm>
            <a:off x="640080" y="2956560"/>
            <a:ext cx="10911535" cy="248259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Miyop: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Sonsuzdaki cismin (1/a = 0) görüntüsü uzak noktaya, cisim tarafına düşmeli: b = −d. O hâlde 1/f = 1/(−d), yani P = −1/d.</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Hipermetrop: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25 cm'deki yazının görüntüsü yakın noktaya düşmeli: a = 0,25 m, b = −d. O hâlde P = 1/0,25 − 1/d = 4 − 1/d.</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İşaret: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Miyopta P hep eksi çıkar (kalın kenarlı); hipermetropta d, 0,25 m'den büyük olduğu için P artı çıkar (ince kenarlı).</a:t>
            </a:r>
            <a:endParaRPr lang="en-US" sz="21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3189427" cy="585216"/>
          </a:xfrm>
          <a:prstGeom prst="roundRect">
            <a:avLst>
              <a:gd name="adj" fmla="val 18750"/>
            </a:avLst>
          </a:prstGeom>
          <a:solidFill>
            <a:srgbClr val="EEF2FC"/>
          </a:solidFill>
          <a:ln w="9525">
            <a:solidFill>
              <a:srgbClr val="CBD7F4"/>
            </a:solidFill>
            <a:prstDash val="solid"/>
          </a:ln>
        </p:spPr>
      </p:sp>
      <p:sp>
        <p:nvSpPr>
          <p:cNvPr id="7" name="Text 5"/>
          <p:cNvSpPr txBox="1"/>
          <p:nvPr/>
        </p:nvSpPr>
        <p:spPr>
          <a:xfrm>
            <a:off x="640080" y="1325880"/>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Pmiyop = −1 / duzak</a:t>
            </a:r>
            <a:endParaRPr lang="en-US" sz="1800" dirty="0"/>
          </a:p>
        </p:txBody>
      </p:sp>
      <p:sp>
        <p:nvSpPr>
          <p:cNvPr id="8" name="Shape 6"/>
          <p:cNvSpPr/>
          <p:nvPr/>
        </p:nvSpPr>
        <p:spPr>
          <a:xfrm>
            <a:off x="3975811" y="1325880"/>
            <a:ext cx="4301338"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3975811" y="1325880"/>
            <a:ext cx="43013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Phipermetrop = 4 − 1/dyakın</a:t>
            </a:r>
            <a:endParaRPr lang="en-US" sz="1800" dirty="0"/>
          </a:p>
        </p:txBody>
      </p:sp>
      <p:sp>
        <p:nvSpPr>
          <p:cNvPr id="10" name="Text 8"/>
          <p:cNvSpPr txBox="1"/>
          <p:nvPr/>
        </p:nvSpPr>
        <p:spPr>
          <a:xfrm>
            <a:off x="640080" y="214884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 uzak ya da yakın noktayı kaydırıp “Gözlüğü tak” düğmesiyle sonucu görebilirsin.</a:t>
            </a:r>
            <a:endParaRPr lang="en-US" sz="22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286824" y="1234440"/>
            <a:ext cx="761804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ercekler-06.png">    </p:cNvPr>
          <p:cNvPicPr>
            <a:picLocks noChangeAspect="1"/>
          </p:cNvPicPr>
          <p:nvPr/>
        </p:nvPicPr>
        <p:blipFill>
          <a:blip r:embed="rId1"/>
          <a:stretch>
            <a:fillRect/>
          </a:stretch>
        </p:blipFill>
        <p:spPr>
          <a:xfrm>
            <a:off x="2515424" y="1325880"/>
            <a:ext cx="716084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Miyop gözde mercek fazla kırıcıdır (ya da göz küresi uzundur) ve görüntü retinaya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varmadan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odaklanır; düzeltmek için ışığı biraz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dağıtan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kalın kenarlı mercek takılır. Hipermetropta tam tersi olur: görüntü retinanın arkasına düşer ve ışığı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toplayan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ince kenarlı mercek gerekir. Gözlük camı görüntüyü kendisi oluşturmaz; yalnızca gözün işini kolaylaştıracak kadar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ön düzeltme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yapar.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Göz, görüntüyü retinaya düşüren ve odağını ayarlayabilen bir mercektir. Miyop kalın kenarlı camla (P = −1/d), hipermetrop ince kenarlı camla (P = 4 − 1/d) düzeltilir; d metre cinsindendir.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Uzak noktası 2 m olan miyobun gözlüğü, uzak noktası 50 cm olanınkinden daha mı güçlüdür?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Göz: odağını kendisi ayarlayan mercek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Uzak noktası 2 m olan miyobun gözlüğü, uzak noktası 50 cm olanınkinden daha mı güçlüdür?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daha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zayıftır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P = −1/d ile 2 m için −0,5 D, 50 cm için −2 D bulunur. Uzak nokta ne kadar yakındaysa kusur o kadar ağır, gereken cam o kadar güçlüdür.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perdede iki net konum, art arda iki mercek, ortamın ve rengin etkisi, en sonda da optik ünitesinin gerçek dünyadaki kapanışı.</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Perdeye net görüntü: neden iki konum var?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Art arda iki mercek: mikroskop ve teleskop</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Modelin sınırları: ortam, renk ve kalınlık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Mercekler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10/sek/mercekle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İki mercek, bir gökyüzü.</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Mercekli bir teleskopta uzun odaklı objektif, uzaktaki cismin küçük ve gerçek bir görüntüsünü tüpün içinde oluşturur; göz merceği bu görüntüye büyüteç gibi bakar. 90 kat büyüten bir teleskopta, gökyüzünde yaklaşık yarım derecelik yer kaplayan dolunay 45 derece civarında bir alanı dolduruyormuş gibi görünür.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 cisim ile perde sabittir, yalnızca mercek kayar.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Şaşırtıcı biçimde merceğin iki ayrı konumunda net görüntü oluşur: biri büyük, biri küçük.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İpucunu sayılarla hisset tablosu vermişti: 40 cm ile 120 cm yer değiştirebiliyordu.</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Cisim–perde uzaklığı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olsun: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 koşul: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perdeye düşmeli, a + b = D; mercek denklemi de sağlanmalı, 1/a + 1/b = 1/f.</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Tersinirlik: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denklemde a ile b yer değiştirse de bir şey değişmez; a = x bir çözümse a = D − x de çözümdür.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İkinci derece denklem: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 = D − a yazıp düzenlersen a² − D·a + D·f = 0 çıkar.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Var olma şartı: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gerçek kök için D² − 4·D·f ≥ 0, yani D ≥ 4f. D = 4f'de tek konum vardır: a = b = 2f.</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5"/>
            </a:pPr>
            <a:r>
              <a:rPr lang="en-US" sz="2100" b="1" dirty="0">
                <a:solidFill>
                  <a:srgbClr val="0E1426"/>
                </a:solidFill>
                <a:latin typeface="Calibri" pitchFamily="34" charset="0"/>
                <a:ea typeface="Calibri" pitchFamily="34" charset="-122"/>
                <a:cs typeface="Calibri" pitchFamily="34" charset="-120"/>
              </a:rPr>
              <a:t>Büyütmeler: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m₁ = b/a ve m₂ = a/b; çarpımları 1'dir. Biri 3 kat büyütüyorsa öbürü 3 kat küçültür.</a:t>
            </a:r>
            <a:endParaRPr lang="en-US" sz="2100" dirty="0"/>
          </a:p>
        </p:txBody>
      </p:sp>
      <p:sp>
        <p:nvSpPr>
          <p:cNvPr id="7" name="Text 5"/>
          <p:cNvSpPr txBox="1"/>
          <p:nvPr/>
        </p:nvSpPr>
        <p:spPr>
          <a:xfrm>
            <a:off x="640080" y="23545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Deneydeki değerlerle (f = 30 cm, D = 160 cm) denklem a² − 160·a + 4800 = 0 olur; kökleri 40 cm ile 120 cm, büyütmeler 3 ve 1/3'tür.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 = 100 cm seçersen 4f = 120 cm sınırının altında kalırsın ve hiçbir konumda net görüntü alamazsın.</a:t>
            </a:r>
            <a:endParaRPr lang="en-US" sz="2200" dirty="0"/>
          </a:p>
        </p:txBody>
      </p:sp>
      <p:sp>
        <p:nvSpPr>
          <p:cNvPr id="8" name="Shape 6"/>
          <p:cNvSpPr/>
          <p:nvPr/>
        </p:nvSpPr>
        <p:spPr>
          <a:xfrm>
            <a:off x="640080" y="4280916"/>
            <a:ext cx="1382573"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640080" y="4280916"/>
            <a:ext cx="1382573"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 ≥ 4f</a:t>
            </a:r>
            <a:endParaRPr lang="en-US" sz="1800" dirty="0"/>
          </a:p>
        </p:txBody>
      </p:sp>
      <p:sp>
        <p:nvSpPr>
          <p:cNvPr id="10" name="Shape 8"/>
          <p:cNvSpPr/>
          <p:nvPr/>
        </p:nvSpPr>
        <p:spPr>
          <a:xfrm>
            <a:off x="2168957" y="4280916"/>
            <a:ext cx="3328416" cy="585216"/>
          </a:xfrm>
          <a:prstGeom prst="roundRect">
            <a:avLst>
              <a:gd name="adj" fmla="val 18750"/>
            </a:avLst>
          </a:prstGeom>
          <a:solidFill>
            <a:srgbClr val="EEF2FC"/>
          </a:solidFill>
          <a:ln w="9525">
            <a:solidFill>
              <a:srgbClr val="CBD7F4"/>
            </a:solidFill>
            <a:prstDash val="solid"/>
          </a:ln>
        </p:spPr>
      </p:sp>
      <p:sp>
        <p:nvSpPr>
          <p:cNvPr id="11" name="Text 9"/>
          <p:cNvSpPr txBox="1"/>
          <p:nvPr/>
        </p:nvSpPr>
        <p:spPr>
          <a:xfrm>
            <a:off x="2168957" y="4280916"/>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(D² − d²) / (4D)</a:t>
            </a:r>
            <a:endParaRPr lang="en-US" sz="18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Odak uzaklığını ölçmenin akıllı yolu:</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İki net konum arasındaki uzaklık d ölçülürse f bulunur: deneyde d = 80 cm ve f = (160² − 80²) / 640 = 30 cm. Bessel yöntemi denen bu ölçümde merceğin merkezinin tam yerini bilmek gerekmez.</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Cisim–perde uzaklığı D &gt; 4f ise merceğin iki konumunda net görüntü oluşur; a ile b yer değiştirir ve büyütmelerin çarpımı 1'dir. D = 4f'de tek konum vardır, D &lt; 4f'de hiç yoktur.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9362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Tek bir mercekle ancak belli bir büyütmeye kadar çıkılabilir.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Daha fazlası için mercekler art arda dizilir ve kural basittir: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birinci merceğin görüntüsü, ikinci merceğe cisim olur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Toplam büyütme iki büyütmenin çarpımıdır.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Mikroskop ve teleskop böyle iki mercekli sistemlerdir.</a:t>
            </a:r>
            <a:endParaRPr lang="en-US" sz="2200" dirty="0"/>
          </a:p>
        </p:txBody>
      </p:sp>
      <p:sp>
        <p:nvSpPr>
          <p:cNvPr id="7" name="Shape 5"/>
          <p:cNvSpPr/>
          <p:nvPr/>
        </p:nvSpPr>
        <p:spPr>
          <a:xfrm>
            <a:off x="640080" y="3820668"/>
            <a:ext cx="291145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820668"/>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mtoplam = m₁ · m₂</a:t>
            </a:r>
            <a:endParaRPr lang="en-US" sz="1800" dirty="0"/>
          </a:p>
        </p:txBody>
      </p:sp>
      <p:sp>
        <p:nvSpPr>
          <p:cNvPr id="9" name="Shape 7"/>
          <p:cNvSpPr/>
          <p:nvPr/>
        </p:nvSpPr>
        <p:spPr>
          <a:xfrm>
            <a:off x="3697834" y="3820668"/>
            <a:ext cx="36063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697834" y="3820668"/>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Mteleskop = fob / fgöz</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21868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Mikroskop: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kısa odaklı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objektif</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odağının hemen dışındaki küçük cismin büyük, gerçek ve ters görüntüsünü oluşturur;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göz merceği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onu büyüteç gibi yeniden büyütür.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Okul mikroskobu: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40 kat büyüten bir objektif ile 10 kat büyüten bir göz merceği birlikte 40 · 10 = 400 kat büyütür.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Teleskop: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uzun odaklı objektif, uzaktaki cismin küçük ve gerçek görüntüsünü kendi odağında oluşturur; kısa odaklı göz merceği bu görüntüye yakından bakar.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Teleskop büyütmesi: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ob</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90 cm, f</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göz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1 cm ise cisim 90 kat daha geniş bir açıyla görünür; tüp boyu yaklaşık 90 + 1 = 91 cm olur.</a:t>
            </a:r>
            <a:endParaRPr lang="en-US" sz="2100" dirty="0"/>
          </a:p>
        </p:txBody>
      </p:sp>
      <p:sp>
        <p:nvSpPr>
          <p:cNvPr id="7" name="Text 5"/>
          <p:cNvSpPr txBox="1"/>
          <p:nvPr/>
        </p:nvSpPr>
        <p:spPr>
          <a:xfrm>
            <a:off x="640080" y="23545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Teleskop uzaktaki cismin boyunu değil, gözde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kapladığı açıyı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büyütür; bu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açısal büyütme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(M) iki odak uzaklığının oranıdır.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Galileo 1609'da Hollanda'daki ilk dürbünlerin haberini alınca kendi teleskobunu yaptı; Ay'daki dağları ve Jüpiter'in çevresinde dönen dört uyduyu gözledi.</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ercekler-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Mikroskopta iki mercek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art arda çalışır: preparata en yakın duran objektif, küçük cismin büyük, gerçek ve ters bir görüntüsünü tüpün içinde oluşturur. Öğrencinin gözünü dayadığı göz merceği bu görüntüye büyüteç gibi bakar ve onu yeniden büyütür; birinci merceğin görüntüsü ikinciye cisim olur. Toplam büyütme iki büyütmenin çarpımıdır: 40 kat büyüten bir objektif ile 10 kat büyüten bir göz merceği birlikte 400 kat büyütür.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İki mercekli sistemlerde birinci merceğin görüntüsü ikinciye cisim olur ve büyütmeler çarpılır. Mikroskop yakındaki küçük cismi, teleskop uzaktaki cismin gözde kapladığı açıyı büyütür.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Teleskobun objektifi neden büyük çaplı yapılır; büyütmeyi artırmak için mi?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Art arda iki mercek: mikroskop ve teleskop</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Teleskobun objektifi neden büyük çaplı yapılır; büyütmeyi artırmak için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büyütmeyi odak uzaklıklarının oranı belirler. Büyük çap daha çok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ışık toplar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çap iki katına çıkınca merceğin alanı ve topladığı ışık dört katına çıkar. Böylece çıplak gözle görülemeyecek kadar sönük yıldızlar da görünür.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Şimdiye kadar merceğin havada durduğunu, ince olduğunu ve ışığın tek renkli olduğunu varsaydık; gerçek mercekler bunların her birinden biraz sapar.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iki ortam arasındaki kırıcılık indisi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farkı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yüzünden kırılır.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Mercek suya daldırılınca bu fark küçülür ve mercek ışığı daha az büker.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 eğrilikleri aynı kaldıkça merceğin gücü şu oranla değişir:</a:t>
            </a:r>
            <a:endParaRPr lang="en-US" sz="2200" dirty="0"/>
          </a:p>
        </p:txBody>
      </p:sp>
      <p:sp>
        <p:nvSpPr>
          <p:cNvPr id="7" name="Shape 5"/>
          <p:cNvSpPr/>
          <p:nvPr/>
        </p:nvSpPr>
        <p:spPr>
          <a:xfrm>
            <a:off x="640080" y="4206240"/>
            <a:ext cx="416234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206240"/>
            <a:ext cx="416234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1/f ∝ nmercek / nortam − 1</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Suda odak uzar: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indisi 1,5 olan cam mercekte bu çarpan havada 0,5, suda (n ≈ 1,33) yaklaşık 0,13'tür; odak uzaklığı yaklaşık 4 katına çıkar.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Tür tersine dönebilir: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ortamın indisi merceğinkinden büyükse ince kenarlı mercek dağıtır, kalın kenarlı toplar. Su içindeki hava kabarcığı ıraksak mercek gibidir.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Renk sapması: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prizmalarda gördüğün gibi cam moru kırmızıdan çok kırar; mor ışık merceğe daha yakında odaklanır ve görüntünün kenarları renklenir.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Küresel sapma: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kenardan geçen ışınlar biraz daha yakında odaklanır; 1/f = 1/a + 1/b ince mercek ve eksene yakın ışınlar için kesindir.</a:t>
            </a:r>
            <a:endParaRPr lang="en-US" sz="2100" dirty="0"/>
          </a:p>
        </p:txBody>
      </p:sp>
      <p:sp>
        <p:nvSpPr>
          <p:cNvPr id="7" name="Text 5"/>
          <p:cNvSpPr txBox="1"/>
          <p:nvPr/>
        </p:nvSpPr>
        <p:spPr>
          <a:xfrm>
            <a:off x="640080" y="23545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Kamera ve mikroskop objektifleri bu yüzden farklı camlardan yapılmış birkaç mercek içerir; bir ince kenarlı ile bir kalın kenarlı merceği birleştirmek renk sapmasını büyük ölçüde giderir.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3622681" y="1271016"/>
            <a:ext cx="4946333" cy="3334131"/>
          </a:xfrm>
          <a:prstGeom prst="roundRect">
            <a:avLst>
              <a:gd name="adj" fmla="val 384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ercekler-ek3-genis.jpg">    </p:cNvPr>
          <p:cNvPicPr>
            <a:picLocks noChangeAspect="1"/>
          </p:cNvPicPr>
          <p:nvPr/>
        </p:nvPicPr>
        <p:blipFill>
          <a:blip r:embed="rId1"/>
          <a:stretch>
            <a:fillRect/>
          </a:stretch>
        </p:blipFill>
        <p:spPr>
          <a:xfrm>
            <a:off x="3677545" y="1325880"/>
            <a:ext cx="4836605" cy="3224403"/>
          </a:xfrm>
          <a:prstGeom prst="rect">
            <a:avLst/>
          </a:prstGeom>
        </p:spPr>
      </p:pic>
      <p:sp>
        <p:nvSpPr>
          <p:cNvPr id="8" name="Text 5"/>
          <p:cNvSpPr txBox="1"/>
          <p:nvPr/>
        </p:nvSpPr>
        <p:spPr>
          <a:xfrm>
            <a:off x="1249528" y="4788027"/>
            <a:ext cx="9692640" cy="1356741"/>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Suda zayıflayan büyüteç</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aynı anda iki farklı mercek gibi davranıyor: havada kalan üst yarı arkadaki kareleri belirgin biçimde büyütürken su altındaki alt yarı onları neredeyse olduğu gibi gösteriyor. Cam ile su arasındaki indis farkı, cam ile hava arasındakinden çok küçüktür; ışık suda daha az bükülür ve indisi 1,5 olan bir cam merceğin odak uzaklığı yaklaşık 4 katına çıkar. Mercek denklemi havadaki mercek için kurulmuştur; ortam değişince f de değişir.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Mercek denklemi havadaki ince bir mercek ve eksene yakın ışınlar için kurulmuştur. Ortam değişince odak uzaklığı değişir; renk ve küresel sapma görüntüyü bozar, çok mercekli objektifler bunları düzeltir.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Yüzerken gözlerini açınca her şey neden bulanık görünür; deniz gözlüğü bunu nasıl düzeltir?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Modelin sınırları: ortam, renk ve kalınlık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Yüzerken gözlerini açınca her şey neden bulanık görünür; deniz gözlüğü bunu nasıl düzeltir?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Gözün kırıcılığının büyük bölümü hava ile kornea arasındaki indis farkından gelir. Suyun indisi korneanınkine çok yakın olduğu için su içinde kornea ışığı neredeyse hiç kırmaz; göz güçlü bir hipermetrop gibi olur. Deniz gözlüğü gözün önünde bir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hava tabakası</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tutar.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Optik ünitesinin son konusundayız ve ünitede öğrendiklerin bir mercekte buluşuyor: kırılma yasası, prizmanın ışığı tabanına doğru bükmesi, küresel aynalardan tanıdığın 1/f = 1/a + 1/b ve ışık şiddeti.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örneklerin her biri mercek denklemini gerçek sayılarla kullanır.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21868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Telefon kamerası: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5 mm odaklı mercek, 2 m ötedeki 1,70 m boyundaki birinin yaklaşık 4,3 mm'lik ters görüntüsünü sensöre, odağın yaklaşık 0,01 mm gerisine düşürür.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Projeksiyon: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10 cm odaklı mercekle 3 m'deki perdeye net görüntü için cisim yaklaşık 10,3 cm'ye, odağın hemen dışına konur; görüntü 29 kat büyük ve terstir.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Büyüteç: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10 cm odaklı büyüteç 8 cm'deki bir pula tutulunca 40 cm geride 5 kat büyük, düz ve sanal bir görüntü oluşur.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119557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Gözlük ve kontakt lens: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numara diyoptridir; “−2,5 numara” odak uzaklığı −40 cm olan kalın kenarlı cam demektir. Kontakt lens aynı işi korneanın üstünde yapar.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Telefon örneği önemli bir şey gösteriyor: uzaktaki cisimlerin görüntüsü neredeyse tam odakta oluşur, bu yüzden kameranın odaklaması merceği milimetrenin yüzde biri kadar kaydırmaktır.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Ünite ışığın yayılmasıyla başladı, yansıma ve kırılmayla ışığın yolunu değiştirmeyi öğretti.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Mercek bu yolu yönetmenin en esnek aracıdır: gözünden teleskoba kadar her optik alet, ışığı büküp görüntüyü istenen yere taşıyan bir düzenektir.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Kamera, projeksiyon, büyüteç, gözlük ve teleskop aynı denklemi farklı cisim konumlarında kullanır. Optik ünitesinin kırılma, prizma ve ayna bilgileri mercekli aletlerde birleşir.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Gerçek görüntü</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Gözlük numarası</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Büyüteç</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Kalın kenarlı mercek</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Hipermetrop için okuma gözlüğü</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Perdede iki net görüntü</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İki mercekli mikroskop</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görüntü</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Odak uzaklığı 20 cm olan ince kenarlı merceğin 30 cm önüne bir cisim konuyor. Görüntünün yeri ve büyütmesi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+20 cm (ince kenarlı mercek)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30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yeri 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büyütme m</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görüntü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1/20 = 1/30 + 1/b → 1/b = 1/20 − 1/30 = (3 − 2)/60 = 1/60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(pozitif → gerçek, merceğin öbür tarafında)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görüntü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 = |b/a| = 60/30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kat</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Görüntü ters ve iki kat büyüktür; projeksiyon düzeni budur.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Gözlük numarası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Uzak noktası 50 cm olan miyop bir göz için gereken gözlük numarası kaç diyoptridir?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miyop göz</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uzak nokta duzak = 50 cm = 0,5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bakılacak cisimler çok uzakta (sonsuzda, 1/a = 0)</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gözlüğün gücü P (diyoptri)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Gözlük numarası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Gözlük, sonsuzdaki cismin görüntüsünü uzak noktaya düşürmelidir.</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−50 cm = −0,5 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Gözlük numarası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 = 1/f = 1/(−0,5)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diyoptri</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Eksi numara, kalın kenarlı (ıraksak) mercek demektir.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Büyüteç</a:t>
            </a:r>
            <a:endParaRPr lang="en-US" sz="1450" dirty="0"/>
          </a:p>
        </p:txBody>
      </p:sp>
      <p:sp>
        <p:nvSpPr>
          <p:cNvPr id="8" name="Shape 6"/>
          <p:cNvSpPr/>
          <p:nvPr/>
        </p:nvSpPr>
        <p:spPr>
          <a:xfrm>
            <a:off x="640080" y="1645920"/>
            <a:ext cx="10911535" cy="1143000"/>
          </a:xfrm>
          <a:prstGeom prst="roundRect">
            <a:avLst>
              <a:gd name="adj" fmla="val 1280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594360"/>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Odak uzaklığı 15 cm olan merceğin 10 cm önündeki cismin görüntüsü nasıldır?</a:t>
            </a:r>
            <a:endParaRPr lang="en-US" sz="2000" dirty="0"/>
          </a:p>
        </p:txBody>
      </p:sp>
      <p:sp>
        <p:nvSpPr>
          <p:cNvPr id="11" name="Shape 9"/>
          <p:cNvSpPr/>
          <p:nvPr/>
        </p:nvSpPr>
        <p:spPr>
          <a:xfrm>
            <a:off x="640080" y="2990088"/>
            <a:ext cx="5318608" cy="3154680"/>
          </a:xfrm>
          <a:prstGeom prst="roundRect">
            <a:avLst>
              <a:gd name="adj" fmla="val 46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154680"/>
            <a:ext cx="54864" cy="2825496"/>
          </a:xfrm>
          <a:prstGeom prst="rect">
            <a:avLst/>
          </a:prstGeom>
          <a:solidFill>
            <a:srgbClr val="2957D4"/>
          </a:solidFill>
          <a:ln/>
        </p:spPr>
      </p:sp>
      <p:sp>
        <p:nvSpPr>
          <p:cNvPr id="13" name="Text 11"/>
          <p:cNvSpPr txBox="1"/>
          <p:nvPr/>
        </p:nvSpPr>
        <p:spPr>
          <a:xfrm>
            <a:off x="914400" y="3136392"/>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465576"/>
            <a:ext cx="4769968" cy="2551176"/>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+15 cm (büyüteç, yani ince kenarlı mercek)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10 cm</a:t>
            </a:r>
            <a:endParaRPr lang="en-US" sz="1800" dirty="0"/>
          </a:p>
        </p:txBody>
      </p:sp>
      <p:sp>
        <p:nvSpPr>
          <p:cNvPr id="15" name="Shape 13"/>
          <p:cNvSpPr/>
          <p:nvPr/>
        </p:nvSpPr>
        <p:spPr>
          <a:xfrm>
            <a:off x="6233008" y="2990088"/>
            <a:ext cx="5318608" cy="3154680"/>
          </a:xfrm>
          <a:prstGeom prst="roundRect">
            <a:avLst>
              <a:gd name="adj" fmla="val 46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154680"/>
            <a:ext cx="54864" cy="2825496"/>
          </a:xfrm>
          <a:prstGeom prst="rect">
            <a:avLst/>
          </a:prstGeom>
          <a:solidFill>
            <a:srgbClr val="5F4BD8"/>
          </a:solidFill>
          <a:ln/>
        </p:spPr>
      </p:sp>
      <p:sp>
        <p:nvSpPr>
          <p:cNvPr id="17" name="Text 15"/>
          <p:cNvSpPr txBox="1"/>
          <p:nvPr/>
        </p:nvSpPr>
        <p:spPr>
          <a:xfrm>
            <a:off x="6507328" y="3136392"/>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465576"/>
            <a:ext cx="4769968" cy="2551176"/>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yeri 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büyütme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türü</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Büyüteç</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1/15 = 1/10 + 1/b → 1/b = 1/15 − 1/10 = (2 − 3)/30 = −1/30</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eksi işaret görüntünün cisimle aynı tarafta olduğunu, yani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sanal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olduğunu gösterir.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Büyüteç</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 = |−30/10|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 kat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düz ve büyük.</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Bu, büyütecin çalışma şeklidir.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Kalın kenarlı mercek</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Odak uzaklığı 20 cm olan kalın kenarlı merceğin 30 cm önündeki cismin görüntüsü nerededir?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−20 cm (kalın kenarlı mercekte f eksi)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30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yeri b ve türü</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Kalın kenarlı mercek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Kalın kenarlı mercekte f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cm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1/(−20) = 1/30 + 1/b → 1/b = −1/20 − 1/30 = (−3 − 2)/60 = −5/60</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Kalın kenarlı mercek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sanal, cisim tarafında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 = 12/30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0,4</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görüntü düz ve küçüktür.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Hipermetrop için okuma gözlüğü</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Yakın noktası 50 cm olan hipermetrop bir kişi, kitabı 25 cm'den okuyabilmek için kaç diyoptrilik gözlük takmalıdır? Camın odak uzaklığı kaç cm'dir?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hipermetrop göz</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yakın nokta dyakın = 50 cm = 0,5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kitabın uzaklığı a = 25 cm = 0,25 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gözlüğün gücü P (diyoptri)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camın odak uzaklığı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Hipermetrop için okuma gözlüğü</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Gözlük, 25 cm'deki yazının sanal görüntüsünü yakın noktaya düşürmeli: a = 0,25 m, b = −0,5 m.</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 = 1/a + 1/b = 1/0,25 + 1/(−0,5) = 4 − 2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diyoptri</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Hipermetrop için okuma gözlüğü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1/P = 0,5 m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artı işaret ince kenarlı (yakınsak) cam demektir.</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m = |b/a| = 50/25 = 2; gözlük yazıyı iki kat büyütüp yakın noktaya taşır.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Perdede iki net görüntü</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mum ile perde arasındaki uzaklık 90 cm'dir. Odak uzaklığı 20 cm olan ince kenarlı mercek, perdede net görüntü oluşması için mumdan kaç cm uzağa konmalıdır? Her konumda büyütme nedir?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mum–perde uzaklığı D = 90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+20 cm (ince kenarlı)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 perdeye düşüyor (gerçek): a + b = 90 cm</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merceğin mumdan uzaklığı a (iki konum)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her konumda büyütme m</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Perdede iki net görüntü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İki koşul: a + b = 90 ve 1/a + 1/b = 1/20.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90 − a yazılırsa a² − 90·a + 1800 = 0 olur.</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(90 ± √(8100 − 7200)) / 2 = (90 ± 30) / 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 = 30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ya da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 = 60 cm</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Perdede iki net görüntü</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30 cm → b = 60 cm, m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(büyük, ters); a = 60 cm → b = 30 cm, m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0,5</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(küçük, ters).</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D = 90 cm ≥ 4f = 80 cm ✓; büyütmelerin çarpımı 2 · 0,5 = 1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mercekli mikroskop</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Odak uzaklığı 10 cm olan ince kenarlı bir merceğin 15 cm önüne 1 mm boyunda bir cisim konuyor. Bu mercekten 34 cm uzakta, odak uzaklığı 5 cm olan ikinci bir ince kenarlı mercek var. Son görüntünün türünü ve boyunu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f₁ = +10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a₁ = 15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cismin boyu 1 mm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mercekler arası uzaklık 34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f₂ = +5 cm (ikisi de ince kenarlı)</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son görüntünün türü</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son görüntünün boyu</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mercekli mikroskop</a:t>
            </a:r>
            <a:endParaRPr lang="en-US" sz="1450" dirty="0"/>
          </a:p>
        </p:txBody>
      </p:sp>
      <p:sp>
        <p:nvSpPr>
          <p:cNvPr id="8" name="Shape 6"/>
          <p:cNvSpPr/>
          <p:nvPr/>
        </p:nvSpPr>
        <p:spPr>
          <a:xfrm>
            <a:off x="640080" y="1645920"/>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18599"/>
            <a:ext cx="420624" cy="420624"/>
          </a:xfrm>
          <a:prstGeom prst="roundRect">
            <a:avLst>
              <a:gd name="adj" fmla="val 26000"/>
            </a:avLst>
          </a:prstGeom>
          <a:solidFill>
            <a:srgbClr val="A56209"/>
          </a:solidFill>
          <a:ln/>
        </p:spPr>
      </p:sp>
      <p:sp>
        <p:nvSpPr>
          <p:cNvPr id="10" name="Text 8"/>
          <p:cNvSpPr txBox="1"/>
          <p:nvPr/>
        </p:nvSpPr>
        <p:spPr>
          <a:xfrm>
            <a:off x="914400" y="2218599"/>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Birinci mercek: 1/b₁ = 1/10 − 1/15 = (3 − 2)/30 → b₁ = 30 cm, m₁ = 30/15 = 2 (gerçek, ters).</a:t>
            </a:r>
            <a:endParaRPr lang="en-US" sz="2000" dirty="0"/>
          </a:p>
        </p:txBody>
      </p:sp>
      <p:sp>
        <p:nvSpPr>
          <p:cNvPr id="12" name="Shape 10"/>
          <p:cNvSpPr/>
          <p:nvPr/>
        </p:nvSpPr>
        <p:spPr>
          <a:xfrm>
            <a:off x="640080" y="3376494"/>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949174"/>
            <a:ext cx="420624" cy="420624"/>
          </a:xfrm>
          <a:prstGeom prst="roundRect">
            <a:avLst>
              <a:gd name="adj" fmla="val 26000"/>
            </a:avLst>
          </a:prstGeom>
          <a:solidFill>
            <a:srgbClr val="A56209"/>
          </a:solidFill>
          <a:ln/>
        </p:spPr>
      </p:sp>
      <p:sp>
        <p:nvSpPr>
          <p:cNvPr id="14" name="Text 12"/>
          <p:cNvSpPr txBox="1"/>
          <p:nvPr/>
        </p:nvSpPr>
        <p:spPr>
          <a:xfrm>
            <a:off x="914400" y="394917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31358"/>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Bu görüntü ikinci mercekten 34 − 30 = 4 cm öndedir ve ona cisim olur: a₂ = 4 cm, odağın içinde.</a:t>
            </a:r>
            <a:endParaRPr lang="en-US" sz="2000" dirty="0"/>
          </a:p>
        </p:txBody>
      </p:sp>
      <p:sp>
        <p:nvSpPr>
          <p:cNvPr id="16" name="Shape 14"/>
          <p:cNvSpPr/>
          <p:nvPr/>
        </p:nvSpPr>
        <p:spPr>
          <a:xfrm>
            <a:off x="640080" y="5107069"/>
            <a:ext cx="10911535" cy="1037699"/>
          </a:xfrm>
          <a:prstGeom prst="roundRect">
            <a:avLst>
              <a:gd name="adj" fmla="val 140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5415606"/>
            <a:ext cx="420624" cy="420624"/>
          </a:xfrm>
          <a:prstGeom prst="roundRect">
            <a:avLst>
              <a:gd name="adj" fmla="val 26000"/>
            </a:avLst>
          </a:prstGeom>
          <a:solidFill>
            <a:srgbClr val="A56209"/>
          </a:solidFill>
          <a:ln/>
        </p:spPr>
      </p:sp>
      <p:sp>
        <p:nvSpPr>
          <p:cNvPr id="18" name="Text 16"/>
          <p:cNvSpPr txBox="1"/>
          <p:nvPr/>
        </p:nvSpPr>
        <p:spPr>
          <a:xfrm>
            <a:off x="914400" y="541560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5161933"/>
            <a:ext cx="9859975" cy="927971"/>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İkinci mercek: 1/b₂ = 1/5 − 1/4 = (4 − 5)/20 = −1/20 → b₂ = −20 cm, sanal.</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mercekli mikroskop</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m₂ = 20/4 = 5; toplam m = m₁ · m₂ = 2 · 5 = 10 → görüntü boyu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 mm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Birinci mercek görüntüyü ters çevirdi, ikinci mercek büyüteç gibi düz bıraktı: son görüntü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sanal, ters ve 10 kat büyüktür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Mikroskop böyle çalışır.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Odak uzaklığı 25 cm olan ince kenarlı bir merceğin gücü kaç diyoptridir?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(İnce kenarlı mercekte f artı, kalın kenarlıda eksidir; diyoptri hesabında f metreyle yazılır.)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Odak uzaklığı 25 cm olan ince kenarlı bir merceğin gücü kaç diyoptridir?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Önce metreye çevir: f = 25 cm = 0,25 m. P = 1/f = 1/0,25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 D</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Mercekten 20 cm uzaktaki bir cismin görüntüsü merceğin öbür tarafında, 60 cm uzakta oluşuyor. Büyütme kaçtır?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(İnce kenarlı mercekte f artı, kalın kenarlıda eksidir; diyoptri hesabında f metreyle yazılır.)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Mercekten 20 cm uzaktaki bir cismin görüntüsü merceğin öbür tarafında, 60 cm uzakta oluşuyor. Büyütme kaçtır?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m = |b / a| = 60 / 20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cismin 3 katı boyundadır; merceğin öbür tarafında oluştuğu için gerçek ve terstir.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Odak uzaklığı 10 cm olan ince kenarlı bir merceğin 30 cm önüne bir cisim konuyor. Görüntü nerede oluşur, büyütme kaçtır?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(İnce kenarlı mercekte f artı, kalın kenarlıda eksidir; diyoptri hesabında f metreyle yazılır.)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Odak uzaklığı 10 cm olan ince kenarlı bir merceğin 30 cm önüne bir cisim konuyor. Görüntü nerede oluşur, büyütme kaçtır?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1/10 = 1/30 + 1/b → 1/b = 3/30 − 1/30 = 2/30 = 1/15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b = 15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(artı: gerçek, merceğin öbür tarafında). m = |b / a| = 15 / 30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0,5</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ters ve cismin yarısı boyundadır. Cisim 2f'nin dışında olduğu için bu beklenen sonuçtur.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Odak uzaklığı 12 cm olan bir büyüteç, 8 cm uzaktaki bir harfe tutuluyor. Görüntü nerede oluşur, harf kaç kat büyük görünür?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(İnce kenarlı mercekte f artı, kalın kenarlıda eksidir; diyoptri hesabında f metreyle yazılır.)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Odak uzaklığı 12 cm olan bir büyüteç, 8 cm uzaktaki bir harfe tutuluyor. Görüntü nerede oluşur, harf kaç kat büyük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1/12 = 1/8 + 1/b → 1/b = 2/24 − 3/24 = −1/24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b = −24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Eksi işaret görüntünün harfle aynı tarafta, yani sanal olduğunu söyler. m = |−24 / 8|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 kat</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düz ve büyüktür.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Odak uzaklığı 15 cm olan ince kenarlı bir mercek, bir cismin 3 kat büyük görüntüsünü perdeye düşürüyor. Cisim ve perde mercekten kaç cm uzaktadır?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(İnce kenarlı mercekte f artı, kalın kenarlıda eksidir; diyoptri hesabında f metreyle yazılır.)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Odak uzaklığı 15 cm olan ince kenarlı bir mercek, bir cismin 3 kat büyük görüntüsünü perdeye düşürüyor. Cisim ve perde mercekten kaç cm uzaktadır?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perdede olduğu için gerçektir ve b / a = 3, yani b = 3a. Denklem: 1/15 = 1/a + 1/(3a) = 3/(3a) + 1/(3a) = 4/(3a) → 3a = 60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a = 20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b = 60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Kontrol: 1/20 + 1/60 = 3/60 + 1/60 = 4/60 = 1/15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İnce kenarlıyı “ince mercek” sanmak.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Adı kenarının inceliğinden gelir; ortası kalındır ve ışığı toplar.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Kalın kenarlı mercekte gerçek görüntü aramak.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Havadaki kalın kenarlı mercekte görüntü her zaman sanal, düz ve küçüktür.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Miyopa ince kenarlı cam vermek.</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Miyop kalın kenarlı (eksi numaralı) camla düzeltilir.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Diyoptriyi santimetreyle hesaplamak.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P = 1/f bağıntısında f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metre</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cinsinden olmalıdır: f = 50 cm için P = 1/0,5 = 2 D, 1/50 değil.</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04088"/>
          </a:xfrm>
          <a:prstGeom prst="rect">
            <a:avLst/>
          </a:prstGeom>
          <a:noFill/>
          <a:ln/>
        </p:spPr>
        <p:txBody>
          <a:bodyPr wrap="square" lIns="0" tIns="0" rIns="0" bIns="0" rtlCol="0" anchor="t"/>
          <a:lstStyle/>
          <a:p>
            <a:pPr indent="0" marL="0">
              <a:lnSpc>
                <a:spcPct val="108000"/>
              </a:lnSpc>
              <a:buNone/>
            </a:pPr>
            <a:r>
              <a:rPr lang="en-US" sz="1800" b="1" dirty="0">
                <a:solidFill>
                  <a:srgbClr val="0E1426"/>
                </a:solidFill>
                <a:latin typeface="Calibri" pitchFamily="34" charset="0"/>
                <a:ea typeface="Calibri" pitchFamily="34" charset="-122"/>
                <a:cs typeface="Calibri" pitchFamily="34" charset="-120"/>
              </a:rPr>
              <a:t>Sanal görüntüyü perdeye düşürmeye çalışmak.</a:t>
            </a:r>
            <a:endParaRPr lang="en-US" sz="1800" dirty="0"/>
          </a:p>
        </p:txBody>
      </p:sp>
      <p:sp>
        <p:nvSpPr>
          <p:cNvPr id="11" name="Shape 9"/>
          <p:cNvSpPr/>
          <p:nvPr/>
        </p:nvSpPr>
        <p:spPr>
          <a:xfrm>
            <a:off x="841248" y="2569464"/>
            <a:ext cx="310896" cy="310896"/>
          </a:xfrm>
          <a:prstGeom prst="roundRect">
            <a:avLst>
              <a:gd name="adj" fmla="val 26471"/>
            </a:avLst>
          </a:prstGeom>
          <a:solidFill>
            <a:srgbClr val="EAF7DC"/>
          </a:solidFill>
          <a:ln/>
        </p:spPr>
      </p:sp>
      <p:sp>
        <p:nvSpPr>
          <p:cNvPr id="12" name="Text 10"/>
          <p:cNvSpPr txBox="1"/>
          <p:nvPr/>
        </p:nvSpPr>
        <p:spPr>
          <a:xfrm>
            <a:off x="841248" y="2569464"/>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51176"/>
            <a:ext cx="4523080" cy="1124712"/>
          </a:xfrm>
          <a:prstGeom prst="rect">
            <a:avLst/>
          </a:prstGeom>
          <a:noFill/>
          <a:ln/>
        </p:spPr>
        <p:txBody>
          <a:bodyPr wrap="square" lIns="0" tIns="0" rIns="0" bIns="0" rtlCol="0" anchor="t"/>
          <a:lstStyle/>
          <a:p>
            <a:pPr indent="0" marL="0">
              <a:lnSpc>
                <a:spcPct val="108000"/>
              </a:lnSpc>
              <a:buNone/>
            </a:pPr>
            <a:r>
              <a:rPr lang="en-US" sz="1600" dirty="0">
                <a:solidFill>
                  <a:srgbClr val="4A5470"/>
                </a:solidFill>
                <a:latin typeface="Calibri" pitchFamily="34" charset="0"/>
                <a:ea typeface="Calibri" pitchFamily="34" charset="-122"/>
                <a:cs typeface="Calibri" pitchFamily="34" charset="-120"/>
              </a:rPr>
              <a:t> Yalnızca gerçek görüntüler perdeye düşer.</a:t>
            </a:r>
            <a:endParaRPr lang="en-US" sz="16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04088"/>
          </a:xfrm>
          <a:prstGeom prst="rect">
            <a:avLst/>
          </a:prstGeom>
          <a:noFill/>
          <a:ln/>
        </p:spPr>
        <p:txBody>
          <a:bodyPr wrap="square" lIns="0" tIns="0" rIns="0" bIns="0" rtlCol="0" anchor="t"/>
          <a:lstStyle/>
          <a:p>
            <a:pPr indent="0" marL="0">
              <a:lnSpc>
                <a:spcPct val="108000"/>
              </a:lnSpc>
              <a:buNone/>
            </a:pPr>
            <a:r>
              <a:rPr lang="en-US" sz="1800" b="1" dirty="0">
                <a:solidFill>
                  <a:srgbClr val="0E1426"/>
                </a:solidFill>
                <a:latin typeface="Calibri" pitchFamily="34" charset="0"/>
                <a:ea typeface="Calibri" pitchFamily="34" charset="-122"/>
                <a:cs typeface="Calibri" pitchFamily="34" charset="-120"/>
              </a:rPr>
              <a:t>Cisim odaktayken görüntü oluştuğunu sanmak.</a:t>
            </a:r>
            <a:endParaRPr lang="en-US" sz="1800" dirty="0"/>
          </a:p>
        </p:txBody>
      </p:sp>
      <p:sp>
        <p:nvSpPr>
          <p:cNvPr id="18" name="Shape 16"/>
          <p:cNvSpPr/>
          <p:nvPr/>
        </p:nvSpPr>
        <p:spPr>
          <a:xfrm>
            <a:off x="6406744" y="2569464"/>
            <a:ext cx="310896" cy="310896"/>
          </a:xfrm>
          <a:prstGeom prst="roundRect">
            <a:avLst>
              <a:gd name="adj" fmla="val 26471"/>
            </a:avLst>
          </a:prstGeom>
          <a:solidFill>
            <a:srgbClr val="EAF7DC"/>
          </a:solidFill>
          <a:ln/>
        </p:spPr>
      </p:sp>
      <p:sp>
        <p:nvSpPr>
          <p:cNvPr id="19" name="Text 17"/>
          <p:cNvSpPr txBox="1"/>
          <p:nvPr/>
        </p:nvSpPr>
        <p:spPr>
          <a:xfrm>
            <a:off x="6406744" y="2569464"/>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51176"/>
            <a:ext cx="4523080" cy="1124712"/>
          </a:xfrm>
          <a:prstGeom prst="rect">
            <a:avLst/>
          </a:prstGeom>
          <a:noFill/>
          <a:ln/>
        </p:spPr>
        <p:txBody>
          <a:bodyPr wrap="square" lIns="0" tIns="0" rIns="0" bIns="0" rtlCol="0" anchor="t"/>
          <a:lstStyle/>
          <a:p>
            <a:pPr indent="0" marL="0">
              <a:lnSpc>
                <a:spcPct val="108000"/>
              </a:lnSpc>
              <a:buNone/>
            </a:pPr>
            <a:r>
              <a:rPr lang="en-US" sz="1600" dirty="0">
                <a:solidFill>
                  <a:srgbClr val="4A5470"/>
                </a:solidFill>
                <a:latin typeface="Calibri" pitchFamily="34" charset="0"/>
                <a:ea typeface="Calibri" pitchFamily="34" charset="-122"/>
                <a:cs typeface="Calibri" pitchFamily="34" charset="-120"/>
              </a:rPr>
              <a:t> Işınlar paralel çıkar; görüntü sonsuzdadır.</a:t>
            </a:r>
            <a:endParaRPr lang="en-US" sz="16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04088"/>
          </a:xfrm>
          <a:prstGeom prst="rect">
            <a:avLst/>
          </a:prstGeom>
          <a:noFill/>
          <a:ln/>
        </p:spPr>
        <p:txBody>
          <a:bodyPr wrap="square" lIns="0" tIns="0" rIns="0" bIns="0" rtlCol="0" anchor="t"/>
          <a:lstStyle/>
          <a:p>
            <a:pPr indent="0" marL="0">
              <a:lnSpc>
                <a:spcPct val="108000"/>
              </a:lnSpc>
              <a:buNone/>
            </a:pPr>
            <a:r>
              <a:rPr lang="en-US" sz="1800" b="1" dirty="0">
                <a:solidFill>
                  <a:srgbClr val="0E1426"/>
                </a:solidFill>
                <a:latin typeface="Calibri" pitchFamily="34" charset="0"/>
                <a:ea typeface="Calibri" pitchFamily="34" charset="-122"/>
                <a:cs typeface="Calibri" pitchFamily="34" charset="-120"/>
              </a:rPr>
              <a:t>“Merceğin yarısı kapatılırsa görüntünün yarısı kaybolur.”</a:t>
            </a:r>
            <a:endParaRPr lang="en-US" sz="1800" dirty="0"/>
          </a:p>
        </p:txBody>
      </p:sp>
      <p:sp>
        <p:nvSpPr>
          <p:cNvPr id="25" name="Shape 23"/>
          <p:cNvSpPr/>
          <p:nvPr/>
        </p:nvSpPr>
        <p:spPr>
          <a:xfrm>
            <a:off x="841248" y="4910328"/>
            <a:ext cx="310896" cy="310896"/>
          </a:xfrm>
          <a:prstGeom prst="roundRect">
            <a:avLst>
              <a:gd name="adj" fmla="val 26471"/>
            </a:avLst>
          </a:prstGeom>
          <a:solidFill>
            <a:srgbClr val="EAF7DC"/>
          </a:solidFill>
          <a:ln/>
        </p:spPr>
      </p:sp>
      <p:sp>
        <p:nvSpPr>
          <p:cNvPr id="26" name="Text 24"/>
          <p:cNvSpPr txBox="1"/>
          <p:nvPr/>
        </p:nvSpPr>
        <p:spPr>
          <a:xfrm>
            <a:off x="841248" y="4910328"/>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892040"/>
            <a:ext cx="4523080" cy="1124712"/>
          </a:xfrm>
          <a:prstGeom prst="rect">
            <a:avLst/>
          </a:prstGeom>
          <a:noFill/>
          <a:ln/>
        </p:spPr>
        <p:txBody>
          <a:bodyPr wrap="square" lIns="0" tIns="0" rIns="0" bIns="0" rtlCol="0" anchor="t"/>
          <a:lstStyle/>
          <a:p>
            <a:pPr indent="0" marL="0">
              <a:lnSpc>
                <a:spcPct val="108000"/>
              </a:lnSpc>
              <a:buNone/>
            </a:pPr>
            <a:r>
              <a:rPr lang="en-US" sz="1600" dirty="0">
                <a:solidFill>
                  <a:srgbClr val="4A5470"/>
                </a:solidFill>
                <a:latin typeface="Calibri" pitchFamily="34" charset="0"/>
                <a:ea typeface="Calibri" pitchFamily="34" charset="-122"/>
                <a:cs typeface="Calibri" pitchFamily="34" charset="-120"/>
              </a:rPr>
              <a:t> Cismin her noktasından çıkan ışınlar merceğin her yerinden geçer; görüntü tam kalır, yalnızca sönükleşir.</a:t>
            </a:r>
            <a:endParaRPr lang="en-US" sz="16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388620"/>
          </a:xfrm>
          <a:prstGeom prst="rect">
            <a:avLst/>
          </a:prstGeom>
          <a:noFill/>
          <a:ln/>
        </p:spPr>
        <p:txBody>
          <a:bodyPr wrap="square" lIns="0" tIns="0" rIns="0" bIns="0" rtlCol="0" anchor="t"/>
          <a:lstStyle/>
          <a:p>
            <a:pPr indent="0" marL="0">
              <a:lnSpc>
                <a:spcPct val="108000"/>
              </a:lnSpc>
              <a:buNone/>
            </a:pPr>
            <a:r>
              <a:rPr lang="en-US" sz="1800" b="1" dirty="0">
                <a:solidFill>
                  <a:srgbClr val="0E1426"/>
                </a:solidFill>
                <a:latin typeface="Calibri" pitchFamily="34" charset="0"/>
                <a:ea typeface="Calibri" pitchFamily="34" charset="-122"/>
                <a:cs typeface="Calibri" pitchFamily="34" charset="-120"/>
              </a:rPr>
              <a:t>“Mercek her ortamda aynı davranır.”</a:t>
            </a:r>
            <a:endParaRPr lang="en-US" sz="1800" dirty="0"/>
          </a:p>
        </p:txBody>
      </p:sp>
      <p:sp>
        <p:nvSpPr>
          <p:cNvPr id="32" name="Shape 30"/>
          <p:cNvSpPr/>
          <p:nvPr/>
        </p:nvSpPr>
        <p:spPr>
          <a:xfrm>
            <a:off x="6406744" y="4594860"/>
            <a:ext cx="310896" cy="310896"/>
          </a:xfrm>
          <a:prstGeom prst="roundRect">
            <a:avLst>
              <a:gd name="adj" fmla="val 26471"/>
            </a:avLst>
          </a:prstGeom>
          <a:solidFill>
            <a:srgbClr val="EAF7DC"/>
          </a:solidFill>
          <a:ln/>
        </p:spPr>
      </p:sp>
      <p:sp>
        <p:nvSpPr>
          <p:cNvPr id="33" name="Text 31"/>
          <p:cNvSpPr txBox="1"/>
          <p:nvPr/>
        </p:nvSpPr>
        <p:spPr>
          <a:xfrm>
            <a:off x="6406744" y="459486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76572"/>
            <a:ext cx="4523080" cy="1440180"/>
          </a:xfrm>
          <a:prstGeom prst="rect">
            <a:avLst/>
          </a:prstGeom>
          <a:noFill/>
          <a:ln/>
        </p:spPr>
        <p:txBody>
          <a:bodyPr wrap="square" lIns="0" tIns="0" rIns="0" bIns="0" rtlCol="0" anchor="t"/>
          <a:lstStyle/>
          <a:p>
            <a:pPr indent="0" marL="0">
              <a:lnSpc>
                <a:spcPct val="108000"/>
              </a:lnSpc>
              <a:buNone/>
            </a:pPr>
            <a:r>
              <a:rPr lang="en-US" sz="1600" dirty="0">
                <a:solidFill>
                  <a:srgbClr val="4A5470"/>
                </a:solidFill>
                <a:latin typeface="Calibri" pitchFamily="34" charset="0"/>
                <a:ea typeface="Calibri" pitchFamily="34" charset="-122"/>
                <a:cs typeface="Calibri" pitchFamily="34" charset="-120"/>
              </a:rPr>
              <a:t> Odak uzaklığı mercek ile ortamın indis farkına bağlıdır; suda odak uzar, ortam mercekten kırıcıysa mercek türü tersine döner.</a:t>
            </a:r>
            <a:endParaRPr lang="en-US" sz="16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İnce kenarlı </a:t>
            </a:r>
            <a:pPr indent="0" marL="0">
              <a:buNone/>
            </a:pPr>
            <a:r>
              <a:rPr lang="en-US" sz="1500" b="1" dirty="0">
                <a:solidFill>
                  <a:srgbClr val="FFFFFF"/>
                </a:solidFill>
                <a:latin typeface="Calibri" pitchFamily="34" charset="0"/>
                <a:ea typeface="Calibri" pitchFamily="34" charset="-122"/>
                <a:cs typeface="Calibri" pitchFamily="34" charset="-120"/>
              </a:rPr>
              <a:t>toplar</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Kalın kenarlı </a:t>
            </a:r>
            <a:pPr indent="0" marL="0">
              <a:buNone/>
            </a:pPr>
            <a:r>
              <a:rPr lang="en-US" sz="1500" b="1" dirty="0">
                <a:solidFill>
                  <a:srgbClr val="FFFFFF"/>
                </a:solidFill>
                <a:latin typeface="Calibri" pitchFamily="34" charset="0"/>
                <a:ea typeface="Calibri" pitchFamily="34" charset="-122"/>
                <a:cs typeface="Calibri" pitchFamily="34" charset="-120"/>
              </a:rPr>
              <a:t>dağıtır</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Güç </a:t>
            </a:r>
            <a:pPr indent="0" marL="0">
              <a:buNone/>
            </a:pPr>
            <a:r>
              <a:rPr lang="en-US" sz="1500" b="1" dirty="0">
                <a:solidFill>
                  <a:srgbClr val="FFFFFF"/>
                </a:solidFill>
                <a:latin typeface="Calibri" pitchFamily="34" charset="0"/>
                <a:ea typeface="Calibri" pitchFamily="34" charset="-122"/>
                <a:cs typeface="Calibri" pitchFamily="34" charset="-120"/>
              </a:rPr>
              <a:t>P = 1/f</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Büyütme </a:t>
            </a:r>
            <a:pPr indent="0" marL="0">
              <a:buNone/>
            </a:pPr>
            <a:r>
              <a:rPr lang="en-US" sz="1500" b="1" dirty="0">
                <a:solidFill>
                  <a:srgbClr val="FFFFFF"/>
                </a:solidFill>
                <a:latin typeface="Calibri" pitchFamily="34" charset="0"/>
                <a:ea typeface="Calibri" pitchFamily="34" charset="-122"/>
                <a:cs typeface="Calibri" pitchFamily="34" charset="-120"/>
              </a:rPr>
              <a:t>|b/a|</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1/f = 1/a + 1/b</a:t>
            </a:r>
            <a:endParaRPr lang="en-US" sz="1350" dirty="0"/>
          </a:p>
        </p:txBody>
      </p:sp>
      <p:sp>
        <p:nvSpPr>
          <p:cNvPr id="16" name="Text 14"/>
          <p:cNvSpPr txBox="1"/>
          <p:nvPr/>
        </p:nvSpPr>
        <p:spPr>
          <a:xfrm>
            <a:off x="8572500" y="239572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mercek denklemi</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m = |b / a|</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53619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P = 1 / f(m)</a:t>
            </a:r>
            <a:endParaRPr lang="en-US" sz="1350" dirty="0"/>
          </a:p>
        </p:txBody>
      </p:sp>
      <p:sp>
        <p:nvSpPr>
          <p:cNvPr id="22" name="Text 20"/>
          <p:cNvSpPr txBox="1"/>
          <p:nvPr/>
        </p:nvSpPr>
        <p:spPr>
          <a:xfrm>
            <a:off x="8257032" y="4041648"/>
            <a:ext cx="311170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diyoptri</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&lt; 0 → sanal</a:t>
            </a:r>
            <a:endParaRPr lang="en-US" sz="1350" dirty="0"/>
          </a:p>
        </p:txBody>
      </p:sp>
      <p:sp>
        <p:nvSpPr>
          <p:cNvPr id="25" name="Text 23"/>
          <p:cNvSpPr txBox="1"/>
          <p:nvPr/>
        </p:nvSpPr>
        <p:spPr>
          <a:xfrm>
            <a:off x="8362188" y="486460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cisimle aynı tarafta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dersler.perinet.org/mercekler.html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122</Slides>
  <Notes>122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122</vt:i4>
      </vt:variant>
    </vt:vector>
  </HeadingPairs>
  <TitlesOfParts>
    <vt:vector size="1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Mercekler — Dersler</dc:title>
  <dc:subject>Fizik · Optik</dc:subject>
  <dc:creator>Dersler</dc:creator>
  <cp:lastModifiedBy>Dersler</cp:lastModifiedBy>
  <cp:revision>1</cp:revision>
  <dcterms:created xsi:type="dcterms:W3CDTF">2026-09-30T08:43:17Z</dcterms:created>
  <dcterms:modified xsi:type="dcterms:W3CDTF">2026-09-30T08:43:17Z</dcterms:modified>
</cp:coreProperties>
</file>