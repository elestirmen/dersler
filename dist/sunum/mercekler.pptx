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Gözünün içindeki mercek, bu satırı okuyabilmen için şekil değiştiriyor. Telefonunun kamerası, gözlüğün, mikroskop ve teleskop — hepsi aynı iki bağıntıyla çalışır. Mercek aslında arka arkaya dizilmiş sonsuz sayıda küçük prizmadan başka bir şey değildir: her biri ışığı biraz büker, hepsi birlikte ışığı tek bir noktada toplar. Bu konuda o noktayı nerede aramak gerektiğini öğreneceğiz.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 sorusu — sınıfa sorup birkaç cevap alın, sonra konuya geçin.
Gözünün içindeki mercek, bu satırı okuyabilmen için şekil değiştiriyor. Telefonunun kamerası, gözlüğün, mikroskop ve teleskop — hepsi aynı iki bağıntıyla çalışır. Mercek aslında arka arkaya dizilmiş sonsuz sayıda küçük prizmadan başka bir şey değildir: her biri ışığı biraz büker, hepsi birlikte ışığı tek bir noktada toplar. Bu konuda o noktayı nerede aramak gerektiğini öğreneceğiz.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derste:
1. Mercek türleri
2. Asal ışınlar
3. İnce kenarlı mercekte beş durum
4. Mercek denklemi
5. Mercek gücü: diyoptri
6. Göz ve göz kusurları
7. Optik aletler
8. Çözümlü örnekler
9. Sık yapılan hatalar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Mercek türleri
Mercek, en az bir yüzeyi küresel olan saydam cisimdir. İki temel türü vardır:
• İnce kenarlı (yakınsak) mercek: ortası kalın, kenarları incedir. Asal eksene paralel gelen ışınları odakta toplar. f &gt; 0.
• Kalın kenarlı (ıraksak) mercek: ortası ince, kenarları kalındır. Işınları dağıtır; uzantıları odakta kesişir. f &lt; 0.
Merceğin iki tarafında da birer odak noktası vardır ve ikisi merkeze eşit uzaklıktadır. Odak uzaklığı; yüzeylerin eğrilik yarıçaplarına ve merceğin indisine bağlıdır.
Çizim: Eksene paralel gelen ışınlar ince kenarlı mercekte gerçek bir odakta toplanır; oraya kâğıt tutarsan güneşin görüntüsünü yakabilirsin. Kalın kenarlı mercekte ise ışınlar dağılır ve yalnızca uzantıları odakta buluşur — bu yüzden bu merceğin odak uzaklığı negatif kabul edilir ve hiçbir zaman perdeye görüntü düşürmez.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Asal ışınlar
İnce kenarlı mercekte görüntüyü çizmek için üç ışından ikisi yeter:
• Asal eksene paralel gelen ışın, kırıldıktan sonra odaktan geçer.
• Merkezden geçen ışın doğrultusunu korur.
• Odaktan geçerek gelen ışın, kırıldıktan sonra eksene paralel gider.
Kalın kenarlı mercekte paralel gelen ışın, merceğin önündeki odaktan geliyormuş gibi dağılır; görüntü bu uzantıların kesişmesiyle oluşur ve her zaman sanaldır.
Çizim: Mercekte de üç asal ışın vardır: 1 eksene paralel gelir, kırıldıktan sonra odaktan geçer; 2 merkezden geçer ve hiç kırılmaz; 3 odaktan geçerek gelir, kırıldıktan sonra eksene paralel olur. İkisi kesiştiği yerde görüntü oluşur. Işınlar gerçekten kesişiyorsa görüntü gerçektir ve perdeye düşer.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İnce kenarlı mercekte beş durum
Cismin yeri | Görüntünün yeri | Özellikleri | Kullanım
2f dışında | f – 2f arası | gerçek, ters, küçük | fotoğraf makinesi
2f'de | 2f'de | gerçek, ters, eşit | fotokopi
f – 2f arası | 2f dışında | gerçek, ters, büyük | projeksiyon
Odakta | sonsuzda | görüntü oluşmaz | projektör
Odak içinde | cisim tarafında | sanal, düz, büyük | büyüteç
Çizim: Cisim mercekten uzakken görüntü küçük ve gerçektir — fotoğraf makinesi böyle çalışır. Cismi yaklaştırdıkça görüntü büyür ve uzaklaşır; f ile 2f arasında büyütülmüş gerçek görüntü verir — projeksiyon. Odakta ışınlar paralelleşir, görüntü oluşmaz — projektör. Odağın içine girildiğinde görüntü sanal, düz ve büyük olur — büyüteç. Beş satır, beş optik alet.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Mercek denklemi
1/f = 1/a + 1/b   m = |b / a|
• İnce kenarlı: f pozitif. Kalın kenarlı: f negatif.
• b pozitif: görüntü merceğin öbür tarafında, gerçek (perdeye düşer).
• b negatif: görüntü cisimle aynı tarafta, sanal.
Aynalarla aynı denklem. Küresel aynalarda da 1/f = 1/a + 1/b kullanılır. Fark, görüntünün oluştuğu taraftadır: aynada yansıma, mercekte kırılma vardır.
Çizim: Mercek denklemi aynanınkiyle aynı biçimdedir, yalnız "arka taraf" tanımı değişir: görüntü merceğin öbür tarafında çıkıyorsa gerçektir (b &gt; 0), cisimle aynı tarafta çıkıyorsa sanaldır (b &lt; 0). Hesapta b negatif çıkması hata değil, görüntünün sanal olduğunun işaretidir — büyüteçte her zaman böyle olur.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Mercek gücü: diyoptri
P = 1 / f   f metre cinsinden
Merceğin ışığı kırma yeteneğine mercek gücü denir; birimi diyoptri (D)'dir. Odak uzaklığı 50 cm olan ince kenarlı merceğin gücü 1/0,5 = +2 diyoptridir. Kalın kenarlı merceklerde güç negatiftir. Gözlük camlarının “numarası” bu değerdir.
Çizim: Mercek gücü, odak uzaklığının tersidir: mercek ışığı ne kadar keskin kırıyorsa gücü o kadar büyüktür. Odak uzaklığı yarıya inince güç iki katına çıkar. Gözlük numarası dediğimiz şey tam olarak budur: "−2,5 numara" demek, odak uzaklığı −40 cm olan kalın kenarlı bir mercek demektir — eksi işareti merceğin ıraksak olduğunu söyler.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Göz ve göz kusurları
Göz, ince kenarlı bir mercek gibi çalışır ve görüntüyü retina üzerine düşürür. Göz merceği kaslarla şekil değiştirerek odak uzaklığını ayarlar; buna uyum (akomodasyon) denir.
• Miyop: Göz çok kırıcıdır ya da göz küresi uzundur; görüntü retinanın önünde oluşur. Uzak cisimler bulanık görünür. Kalın kenarlı (ıraksak, eksi numaralı) mercekle düzeltilir.
• Hipermetrop: Göz yeterince kırıcı değildir; görüntü retinanın arkasına düşer. Yakın cisimler bulanık görünür. İnce kenarlı (yakınsak, artı numaralı) mercekle düzeltilir.
• Astigmat: Kornea küresel değildir; silindirik camla düzeltilir.
• Presbiyopi: Yaşla birlikte uyum yeteneğinin azalmasıdır.
miyop: P = −1 / d(uzak nokta)   hipermetrop: P = 1/0,25 − 1/d(yakın nokta)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Optik aletler
• Büyüteç: cisim odak içindedir; sanal, düz ve büyük görüntü.
• Fotoğraf makinesi: cisim 2f dışındadır; sensöre gerçek, ters ve küçük görüntü düşer.
• Projeksiyon: cisim f ile 2f arasındadır; perdeye gerçek, ters ve büyük görüntü düşer (bu yüzden slayt ters yerleştirilir).
• Mikroskop ve teleskop: iki mercekli sistemlerdir; birinin görüntüsü diğerine cisim olur.
Çizim: Miyop gözde mercek fazla kırıcıdır (ya da göz küresi uzundur) ve görüntü retinaya varmadan odaklanır; düzeltmek için ışığı biraz dağıtan kalın kenarlı mercek takılır. Hipermetropta tam tersi olur: görüntü retinanın arkasına düşer ve ışığı toplayan ince kenarlı mercek gerekir. Gözlük camı görüntüyü kendisi oluşturmaz; yalnızca gözün işini kolaylaştıracak kadar ön düzeltme yapar.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Örnek 1 — Gerçek görüntü
Odak uzaklığı 20 cm olan ince kenarlı merceğin 30 cm önüne bir cisim konuyor. Görüntünün yeri ve büyütmesi nedir?
1. 1/20 = 1/30 + 1/b → 1/b = 1/20 − 1/30 = (3 − 2)/60 = 1/60
2. b = 60 cm (pozitif → gerçek, merceğin öbür tarafında)
3. m = |b/a| = 60/30 = 2 kat
4. Görüntü ters ve iki kat büyüktür; projeksiyon düzeni budur.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Örnek 2 — Büyüteç
Odak uzaklığı 15 cm olan merceğin 10 cm önündeki cismin görüntüsü nasıldır?
1. 1/15 = 1/10 + 1/b → 1/b = 1/15 − 1/10 = (2 − 3)/30 = −1/30
2. b = −30 cm: eksi işaret görüntünün cisimle aynı tarafta olduğunu, yani sanal olduğunu gösterir.
3. m = |−30/10| = 3 kat, düz ve büyük.
4. Bu, büyütecin çalışma şeklidir.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Örnek 3 — Kalın kenarlı mercek
Odak uzaklığı 20 cm olan kalın kenarlı merceğin 30 cm önündeki cismin görüntüsü nerededir?
1. Kalın kenarlı mercekte f = −20 cm
2. 1/(−20) = 1/30 + 1/b → 1/b = −1/20 − 1/30 = (−3 − 2)/60 = −5/60
3. b = −12 cm → sanal, cisim tarafında
4. m = 12/30 = 0,4; görüntü düz ve küçüktür.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Örnek 4 — Gözlük numarası
Uzak noktası 50 cm olan miyop bir göz için gereken gözlük numarası kaç diyoptridir?
1. Gözlük, sonsuzdaki cismin görüntüsünü uzak noktaya düşürmelidir.
2. f = −50 cm = −0,5 m
3. P = 1/f = 1/(−0,5) = −2 diyoptri
4. Eksi numara, kalın kenarlı (ıraksak) mercek demektir.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Sık yapılan hatalar
• İnce kenarlıyı “ince mercek” sanmak. Adı kenarının inceliğinden gelir; ortası kalındır ve ışığı toplar.
• Kalın kenarlı mercekte gerçek görüntü aramak. Görüntü her zaman sanal, düz ve küçüktür.
• Miyopa ince kenarlı cam vermek. Miyop kalın kenarlı (eksi numaralı) camla düzeltilir.
• Diyoptriyi santimetreyle hesaplamak. P = 1/f bağıntısında f metre cinsinden olmalıdır.
• Sanal görüntüyü perdeye düşürmeye çalışmak. Yalnızca gerçek görüntüler perdeye düşer.
• Cisim odaktayken görüntü oluştuğunu sanmak. Işınlar paralel çıkar; görüntü sonsuzdadır.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Özet: İnce kenarlı toplar · Kalın kenarlı dağıtır · Güç P = 1/f · Büyütme |b/a|
1/f = 1/a + 1/b — mercek denklemi
m = |b / a| — büyütme
P = 1 / f(m) — diyoptri
b &lt; 0 → sanal — cisimle aynı tarafta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2651760"/>
            <a:ext cx="1828800" cy="1828800"/>
          </a:xfrm>
          <a:prstGeom prst="ellipse">
            <a:avLst/>
          </a:prstGeom>
          <a:ln w="9525">
            <a:solidFill>
              <a:srgbClr val="82AAFF">
                <a:alpha val="16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1828800"/>
            <a:ext cx="3474720" cy="3474720"/>
          </a:xfrm>
          <a:prstGeom prst="ellipse">
            <a:avLst/>
          </a:prstGeom>
          <a:ln w="9525">
            <a:solidFill>
              <a:srgbClr val="A093FF">
                <a:alpha val="1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005840"/>
            <a:ext cx="5120640" cy="5120640"/>
          </a:xfrm>
          <a:prstGeom prst="ellipse">
            <a:avLst/>
          </a:prstGeom>
          <a:ln w="9525">
            <a:solidFill>
              <a:srgbClr val="82AAFF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61504" y="5541264"/>
            <a:ext cx="73152" cy="73152"/>
          </a:xfrm>
          <a:prstGeom prst="ellipse">
            <a:avLst/>
          </a:prstGeom>
          <a:solidFill>
            <a:srgbClr val="82AA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885684" y="4707862"/>
            <a:ext cx="78232" cy="78232"/>
          </a:xfrm>
          <a:prstGeom prst="ellipse">
            <a:avLst/>
          </a:prstGeom>
          <a:solidFill>
            <a:srgbClr val="82AAFF">
              <a:alpha val="48889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309864" y="4082175"/>
            <a:ext cx="83312" cy="83312"/>
          </a:xfrm>
          <a:prstGeom prst="ellipse">
            <a:avLst/>
          </a:prstGeom>
          <a:solidFill>
            <a:srgbClr val="82AAFF">
              <a:alpha val="52778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734044" y="3664204"/>
            <a:ext cx="88392" cy="88392"/>
          </a:xfrm>
          <a:prstGeom prst="ellipse">
            <a:avLst/>
          </a:prstGeom>
          <a:solidFill>
            <a:srgbClr val="82AAFF">
              <a:alpha val="56667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158224" y="3453948"/>
            <a:ext cx="93472" cy="93472"/>
          </a:xfrm>
          <a:prstGeom prst="ellipse">
            <a:avLst/>
          </a:prstGeom>
          <a:solidFill>
            <a:srgbClr val="82AAFF">
              <a:alpha val="60556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582404" y="3451408"/>
            <a:ext cx="98552" cy="98552"/>
          </a:xfrm>
          <a:prstGeom prst="ellipse">
            <a:avLst/>
          </a:prstGeom>
          <a:solidFill>
            <a:srgbClr val="82AAFF">
              <a:alpha val="64444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006584" y="3656584"/>
            <a:ext cx="103632" cy="103632"/>
          </a:xfrm>
          <a:prstGeom prst="ellipse">
            <a:avLst/>
          </a:prstGeom>
          <a:solidFill>
            <a:srgbClr val="82AAFF">
              <a:alpha val="68333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430764" y="4069475"/>
            <a:ext cx="108712" cy="108712"/>
          </a:xfrm>
          <a:prstGeom prst="ellipse">
            <a:avLst/>
          </a:prstGeom>
          <a:solidFill>
            <a:srgbClr val="82AAFF">
              <a:alpha val="72222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854944" y="4690082"/>
            <a:ext cx="113792" cy="113792"/>
          </a:xfrm>
          <a:prstGeom prst="ellipse">
            <a:avLst/>
          </a:prstGeom>
          <a:solidFill>
            <a:srgbClr val="82AAFF">
              <a:alpha val="76111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279124" y="5518404"/>
            <a:ext cx="118872" cy="118872"/>
          </a:xfrm>
          <a:prstGeom prst="ellipse">
            <a:avLst/>
          </a:prstGeom>
          <a:solidFill>
            <a:srgbClr val="C6F36B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822960"/>
            <a:ext cx="310896" cy="310896"/>
          </a:xfrm>
          <a:prstGeom prst="roundRect">
            <a:avLst>
              <a:gd name="adj" fmla="val 29412"/>
            </a:avLst>
          </a:prstGeom>
          <a:solidFill>
            <a:srgbClr val="A9E64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80160" y="822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</a:t>
            </a:r>
            <a:pPr indent="0" marL="0">
              <a:buNone/>
            </a:pPr>
            <a:r>
              <a:rPr lang="en-US" sz="1250" dirty="0">
                <a:solidFill>
                  <a:srgbClr val="8D9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fizik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1965960"/>
            <a:ext cx="54864" cy="1097280"/>
          </a:xfrm>
          <a:prstGeom prst="rect">
            <a:avLst/>
          </a:prstGeom>
          <a:solidFill>
            <a:srgbClr val="C6F3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15544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6F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OPTİK · KONU 08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19202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-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Mercekler</a:t>
            </a:r>
            <a:endParaRPr lang="en-US" sz="48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329184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Mercek, ışığı kırarak toplayan ya da dağıtan saydam bir cisimdir. Gözlükten mikroskoba, fotoğraf makinesinden gözün kendisine kadar her optik alet tek bir denklemle çalışır: 1/f = 1/a + 1/b.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868680" y="4553712"/>
            <a:ext cx="7680960" cy="566928"/>
          </a:xfrm>
          <a:prstGeom prst="roundRect">
            <a:avLst>
              <a:gd name="adj" fmla="val 16129"/>
            </a:avLst>
          </a:prstGeom>
          <a:solidFill>
            <a:srgbClr val="1C2542"/>
          </a:solidFill>
          <a:ln w="9525">
            <a:solidFill>
              <a:srgbClr val="2C386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7280" y="4553712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F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1/f = 1/a + 1/b   ·   m = |b / a|   ·   P = 1 / f(m)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6F36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dersler.perinet.org/mercekler.html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5F4BD8"/>
          </a:solidFill>
          <a:ln/>
          <a:effectLst>
            <a:outerShdw sx="100000" sy="100000" kx="0" ky="0" algn="bl" rotWithShape="0" blurRad="101600" dist="25400" dir="5400000">
              <a:srgbClr val="5F4BD8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Başlarken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Konuya günlük bir soruyla giriyoruz.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1188720" y="1828800"/>
            <a:ext cx="9814255" cy="3931920"/>
          </a:xfrm>
          <a:prstGeom prst="roundRect">
            <a:avLst>
              <a:gd name="adj" fmla="val 5116"/>
            </a:avLst>
          </a:prstGeom>
          <a:solidFill>
            <a:srgbClr val="FFFFFF"/>
          </a:solidFill>
          <a:ln w="9525">
            <a:solidFill>
              <a:srgbClr val="CFC8F5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25296" y="2286000"/>
            <a:ext cx="64008" cy="3017520"/>
          </a:xfrm>
          <a:prstGeom prst="rect">
            <a:avLst/>
          </a:prstGeom>
          <a:solidFill>
            <a:srgbClr val="5F4B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828800" y="2194560"/>
            <a:ext cx="853409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Gözünün içindeki mercek, bu satırı okuyabilmen için şekil değiştiriyor. Telefonunun kamerası, gözlüğün, mikroskop ve teleskop — hepsi aynı iki bağıntıyla çalışır. Mercek aslında </a:t>
            </a:r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5F4B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arka arkaya dizilmiş sonsuz sayıda küçük prizmadan</a:t>
            </a:r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başka bir şey değildir: her biri ışığı biraz büker, hepsi birlikte ışığı tek bir noktada toplar. Bu konuda o noktayı nerede aramak gerektiğini öğreneceğiz.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dersler.perinet.org/mercekler.html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2957D4"/>
          </a:solidFill>
          <a:ln/>
          <a:effectLst>
            <a:outerShdw sx="100000" sy="100000" kx="0" ky="0" algn="bl" rotWithShape="0" blurRad="101600" dist="25400" dir="5400000">
              <a:srgbClr val="2957D4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≡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 anlatımının dokuz başlığı, sırasıyla.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572768"/>
            <a:ext cx="3392424" cy="1298448"/>
          </a:xfrm>
          <a:prstGeom prst="roundRect">
            <a:avLst>
              <a:gd name="adj" fmla="val 11268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77824" y="1792224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2957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7824" y="1792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755648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Mercek türleri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249424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Mercek, en az bir yüzeyi küresel olan saydam cisimdir.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98264" y="1572768"/>
            <a:ext cx="3392424" cy="1298448"/>
          </a:xfrm>
          <a:prstGeom prst="roundRect">
            <a:avLst>
              <a:gd name="adj" fmla="val 11268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36008" y="1792224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5F4B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36008" y="1792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29784" y="1755648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Asal ışınlar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54296" y="2249424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kenarlı mercekte görüntüyü çizmek için üç ışından ikisi yeter: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56448" y="1572768"/>
            <a:ext cx="3392424" cy="1298448"/>
          </a:xfrm>
          <a:prstGeom prst="roundRect">
            <a:avLst>
              <a:gd name="adj" fmla="val 11268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94192" y="1792224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94192" y="1792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887968" y="1755648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kenarlı mercekte beş durum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49424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054096"/>
            <a:ext cx="3392424" cy="1298448"/>
          </a:xfrm>
          <a:prstGeom prst="roundRect">
            <a:avLst>
              <a:gd name="adj" fmla="val 11268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77824" y="3273552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7824" y="3273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3236976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Mercek denklemi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6112" y="3730752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kenarlı: f pozitif. Kalın kenarlı: f negatif.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98264" y="3054096"/>
            <a:ext cx="3392424" cy="1298448"/>
          </a:xfrm>
          <a:prstGeom prst="roundRect">
            <a:avLst>
              <a:gd name="adj" fmla="val 11268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36008" y="3273552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2957D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36008" y="3273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29784" y="3236976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Mercek gücü: diyoptri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654296" y="3730752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Merceğin ışığı kırma yeteneğine mercek gücü denir; birimi diyoptri (D)'dir.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156448" y="3054096"/>
            <a:ext cx="3392424" cy="1298448"/>
          </a:xfrm>
          <a:prstGeom prst="roundRect">
            <a:avLst>
              <a:gd name="adj" fmla="val 11268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94192" y="3273552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5F4BD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94192" y="3273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887968" y="3236976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 ve göz kusurları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3730752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Göz, ince kenarlı bir mercek gibi çalışır ve görüntüyü retina üzerine düşürür.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4535424"/>
            <a:ext cx="3392424" cy="1298448"/>
          </a:xfrm>
          <a:prstGeom prst="roundRect">
            <a:avLst>
              <a:gd name="adj" fmla="val 11268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77824" y="4754880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3C8C2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1371600" y="4718304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aletler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896112" y="5212080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Büyüteç: cisim odak içindedir; sanal, düz ve büyük görüntü.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398264" y="4535424"/>
            <a:ext cx="3392424" cy="1298448"/>
          </a:xfrm>
          <a:prstGeom prst="roundRect">
            <a:avLst>
              <a:gd name="adj" fmla="val 11268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636008" y="4754880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636008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129784" y="4718304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Çözümlü örnekler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654296" y="5212080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çözümlü örnek, adım adım; g ve yaklaşık değerler anlatımla aynı.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156448" y="4535424"/>
            <a:ext cx="3392424" cy="1298448"/>
          </a:xfrm>
          <a:prstGeom prst="roundRect">
            <a:avLst>
              <a:gd name="adj" fmla="val 11268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8394192" y="4754880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C5345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8394192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8887968" y="4718304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Sık yapılan hatalar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12480" y="5212080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yaygın yanılgı ve her birinin doğrusu.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dersler.perinet.org/mercekler.html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2957D4"/>
          </a:solidFill>
          <a:ln/>
          <a:effectLst>
            <a:outerShdw sx="100000" sy="100000" kx="0" ky="0" algn="bl" rotWithShape="0" blurRad="101600" dist="25400" dir="5400000">
              <a:srgbClr val="2957D4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Mercek türleri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81328"/>
            <a:ext cx="585216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Mercek, en az bir yüzeyi küresel olan saydam cisimdir.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temel türü vardır: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44852"/>
            <a:ext cx="5852160" cy="1705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kenarlı (yakınsak) mercek: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ortası kalın, kenarları incedir. Asal eksene paralel gelen ışınları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odakta toplar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f &gt; 0.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Kalın kenarlı (ıraksak) mercek: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ortası ince, kenarları kalındır. Işınları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dağıtır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uzantıları odakta kesişir. f &lt; 0.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059936"/>
            <a:ext cx="58521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Merceğin iki tarafında da birer odak noktası vardır ve ikisi merkeze eşit uzaklıktadır.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 uzaklığı; yüzeylerin eğrilik yarıçaplarına ve merceğin indisine bağlıdır.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784848" y="1481328"/>
            <a:ext cx="4766767" cy="3351717"/>
          </a:xfrm>
          <a:prstGeom prst="roundRect">
            <a:avLst>
              <a:gd name="adj" fmla="val 4365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pic>
        <p:nvPicPr>
          <p:cNvPr id="9" name="Image 0" descr="/tmp/claude-1000/-opt-dersler/a4dee546-de71-4ec2-8add-be39dd273d29/scratchpad/sekiller/mercekler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1664208"/>
            <a:ext cx="4401007" cy="188867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967728" y="3644325"/>
            <a:ext cx="4401007" cy="0"/>
          </a:xfrm>
          <a:prstGeom prst="line">
            <a:avLst/>
          </a:prstGeom>
          <a:noFill/>
          <a:ln w="9525">
            <a:solidFill>
              <a:srgbClr val="E1E5EE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6967728" y="3699189"/>
            <a:ext cx="44010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Eksene paralel gelen ışınlar ince kenarlı mercekte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bir odakta toplanır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oraya kâğıt tutarsan güneşin görüntüsünü yakabilirsin. Kalın kenarlı mercekte ise ışınlar dağılır ve yalnızca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uzantıları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odakta buluşur — bu yüzden bu merceğin odak uzaklığı negatif kabul edilir ve hiçbir zaman perdeye görüntü düşürmez.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dersler.perinet.org/mercekler.html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5F4BD8"/>
          </a:solidFill>
          <a:ln/>
          <a:effectLst>
            <a:outerShdw sx="100000" sy="100000" kx="0" ky="0" algn="bl" rotWithShape="0" blurRad="101600" dist="25400" dir="5400000">
              <a:srgbClr val="5F4BD8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Asal ışınlar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81328"/>
            <a:ext cx="548640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kenarlı mercekte görüntüyü çizmek için üç ışından ikisi yeter: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70176"/>
            <a:ext cx="5486400" cy="1594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Asal eksene paralel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gelen ışın, kırıldıktan sonra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odaktan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geçer.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Merkezden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geçen ışın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doğrultusunu korur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Odaktan geçerek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gelen ışın, kırıldıktan sonra eksene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gider.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74008"/>
            <a:ext cx="5486400" cy="1121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Kalın kenarlı mercekte paralel gelen ışın, </a:t>
            </a:r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merceğin önündeki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odaktan geliyormuş gibi dağılır; görüntü bu uzantıların kesişmesiyle oluşur ve her zaman sanaldır.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19088" y="1481328"/>
            <a:ext cx="5132527" cy="3528591"/>
          </a:xfrm>
          <a:prstGeom prst="roundRect">
            <a:avLst>
              <a:gd name="adj" fmla="val 4146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pic>
        <p:nvPicPr>
          <p:cNvPr id="9" name="Image 0" descr="/tmp/claude-1000/-opt-dersler/a4dee546-de71-4ec2-8add-be39dd273d29/scratchpad/sekiller/mercekler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968" y="1664208"/>
            <a:ext cx="4766767" cy="2065551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601968" y="3821199"/>
            <a:ext cx="4766767" cy="0"/>
          </a:xfrm>
          <a:prstGeom prst="line">
            <a:avLst/>
          </a:prstGeom>
          <a:noFill/>
          <a:ln w="9525">
            <a:solidFill>
              <a:srgbClr val="E1E5EE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6601968" y="3876063"/>
            <a:ext cx="476676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Mercekte de üç asal ışın vardır: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eksene paralel gelir, kırıldıktan sonra odaktan geçer;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merkezden geçer ve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 kırılmaz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odaktan geçerek gelir, kırıldıktan sonra eksene paralel olur. İkisi kesiştiği yerde görüntü oluşur. Işınlar gerçekten kesişiyorsa görüntü gerçektir ve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perdeye düşer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dersler.perinet.org/mercekler.html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3C8C21"/>
          </a:solidFill>
          <a:ln/>
          <a:effectLst>
            <a:outerShdw sx="100000" sy="100000" kx="0" ky="0" algn="bl" rotWithShape="0" blurRad="101600" dist="25400" dir="5400000">
              <a:srgbClr val="3C8C21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İnce kenarlı mercekte beş durum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81328"/>
          <a:ext cx="5486400" cy="914400"/>
        </p:xfrm>
        <a:graphic>
          <a:graphicData uri="http://schemas.openxmlformats.org/drawingml/2006/table">
            <a:tbl>
              <a:tblPr/>
              <a:tblGrid>
                <a:gridCol w="1045029"/>
                <a:gridCol w="1306286"/>
                <a:gridCol w="1654629"/>
                <a:gridCol w="1480457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B8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Cismin yeri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B8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Görüntünün yeri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B8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Özellikleri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B8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Kullanım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2f dışında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– 2f arası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gerçek, ters, küçük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fotoğraf makinesi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2f'de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2f'de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gerçek, ters, eşit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fotokopi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– 2f arası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2f dışında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gerçek, ters, büyük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projeksiyon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Odakta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sonsuzda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görüntü oluşmaz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projektör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Odak içinde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cisim tarafında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sanal, düz, büyük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büyüteç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19088" y="1481328"/>
            <a:ext cx="5132527" cy="4244075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pic>
        <p:nvPicPr>
          <p:cNvPr id="7" name="Image 0" descr="/tmp/claude-1000/-opt-dersler/a4dee546-de71-4ec2-8add-be39dd273d29/scratchpad/sekiller/mercekler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968" y="1664208"/>
            <a:ext cx="4766767" cy="260181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601968" y="4357461"/>
            <a:ext cx="4766767" cy="0"/>
          </a:xfrm>
          <a:prstGeom prst="line">
            <a:avLst/>
          </a:prstGeom>
          <a:noFill/>
          <a:ln w="9525">
            <a:solidFill>
              <a:srgbClr val="E1E5EE"/>
            </a:solidFill>
            <a:prstDash val="dash"/>
          </a:ln>
        </p:spPr>
      </p:sp>
      <p:sp>
        <p:nvSpPr>
          <p:cNvPr id="9" name="Text 5"/>
          <p:cNvSpPr txBox="1"/>
          <p:nvPr/>
        </p:nvSpPr>
        <p:spPr>
          <a:xfrm>
            <a:off x="6601968" y="4412325"/>
            <a:ext cx="4766767" cy="1130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mercekten uzakken görüntü küçük ve gerçektir —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fotoğraf makinesi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böyle çalışır. Cismi yaklaştırdıkça görüntü büyür ve uzaklaşır; f ile 2f arasında büyütülmüş gerçek görüntü verir —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projeksiyon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Odakta ışınlar paralelleşir, görüntü oluşmaz —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projektör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Odağın içine girildiğinde görüntü sanal, düz ve büyük olur —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büyüteç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Beş satır, beş optik alet.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dersler.perinet.org/mercekler.html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A56209"/>
          </a:solidFill>
          <a:ln/>
          <a:effectLst>
            <a:outerShdw sx="100000" sy="100000" kx="0" ky="0" algn="bl" rotWithShape="0" blurRad="101600" dist="25400" dir="5400000">
              <a:srgbClr val="A56209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Mercek denklemi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1938528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481328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1/f = 1/a + 1/b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88336" y="1481328"/>
            <a:ext cx="1543507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88336" y="1481328"/>
            <a:ext cx="1543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= |b / a|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103120"/>
            <a:ext cx="5486400" cy="1594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kenarlı: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 pozitif.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Kalın kenarlı: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 negatif.</a:t>
            </a:r>
            <a:endParaRPr lang="en-US" sz="16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pozitif: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görüntü merceğin öbür tarafında,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(perdeye düşer).</a:t>
            </a:r>
            <a:endParaRPr lang="en-US" sz="16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negatif: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görüntü cisimle aynı tarafta,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sanal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806952"/>
            <a:ext cx="5486400" cy="1453896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" y="3953256"/>
            <a:ext cx="45720" cy="1161288"/>
          </a:xfrm>
          <a:prstGeom prst="rect">
            <a:avLst/>
          </a:prstGeom>
          <a:solidFill>
            <a:srgbClr val="3C8C2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91668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Aynalarla aynı denklem.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Küresel aynalarda da 1/f = 1/a + 1/b kullanılır. Fark, görüntünün oluştuğu taraftadır: aynada yansıma, mercekte kırılma vardır.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19088" y="1481328"/>
            <a:ext cx="5132527" cy="3369747"/>
          </a:xfrm>
          <a:prstGeom prst="roundRect">
            <a:avLst>
              <a:gd name="adj" fmla="val 4342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pic>
        <p:nvPicPr>
          <p:cNvPr id="14" name="Image 0" descr="/tmp/claude-1000/-opt-dersler/a4dee546-de71-4ec2-8add-be39dd273d29/scratchpad/sekiller/mercekler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968" y="1664208"/>
            <a:ext cx="4766767" cy="1906707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601968" y="3662355"/>
            <a:ext cx="4766767" cy="0"/>
          </a:xfrm>
          <a:prstGeom prst="line">
            <a:avLst/>
          </a:prstGeom>
          <a:noFill/>
          <a:ln w="9525">
            <a:solidFill>
              <a:srgbClr val="E1E5EE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6601968" y="3717219"/>
            <a:ext cx="476676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Mercek denklemi aynanınkiyle aynı biçimdedir, yalnız "arka taraf" tanımı değişir: görüntü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merceğin öbür tarafında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çıkıyorsa gerçektir (b &gt; 0),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cisimle aynı tarafta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çıkıyorsa sanaldır (b &lt; 0). Hesapta b negatif çıkması hata değil, görüntünün sanal olduğunun işaretidir — büyüteçte her zaman böyle olur.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dersler.perinet.org/mercekler.html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2957D4"/>
          </a:solidFill>
          <a:ln/>
          <a:effectLst>
            <a:outerShdw sx="100000" sy="100000" kx="0" ky="0" algn="bl" rotWithShape="0" blurRad="101600" dist="25400" dir="5400000">
              <a:srgbClr val="2957D4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Mercek gücü: diyoptri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1345997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481328"/>
            <a:ext cx="13459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1 / 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95805" y="1481328"/>
            <a:ext cx="2136038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95805" y="1481328"/>
            <a:ext cx="21360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metre cinsinden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103120"/>
            <a:ext cx="54864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Merceğin ışığı kırma yeteneğine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mercek gücü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denir; birimi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diyoptri (D)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'dir.</a:t>
            </a:r>
            <a:endParaRPr lang="en-US" sz="16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 uzaklığı 50 cm olan ince kenarlı merceğin gücü 1/0,5 =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 diyoptri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dir.</a:t>
            </a:r>
            <a:endParaRPr lang="en-US" sz="16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Kalın kenarlı merceklerde güç negatiftir.</a:t>
            </a:r>
            <a:endParaRPr lang="en-US" sz="16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Gözlük camlarının “numarası” bu değerdir.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19088" y="1481328"/>
            <a:ext cx="5132527" cy="3369747"/>
          </a:xfrm>
          <a:prstGeom prst="roundRect">
            <a:avLst>
              <a:gd name="adj" fmla="val 4342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pic>
        <p:nvPicPr>
          <p:cNvPr id="11" name="Image 0" descr="/tmp/claude-1000/-opt-dersler/a4dee546-de71-4ec2-8add-be39dd273d29/scratchpad/sekiller/mercekler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968" y="1664208"/>
            <a:ext cx="4766767" cy="1906707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601968" y="3662355"/>
            <a:ext cx="4766767" cy="0"/>
          </a:xfrm>
          <a:prstGeom prst="line">
            <a:avLst/>
          </a:prstGeom>
          <a:noFill/>
          <a:ln w="9525">
            <a:solidFill>
              <a:srgbClr val="E1E5EE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6601968" y="3717219"/>
            <a:ext cx="476676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Mercek gücü, odak uzaklığının tersidir: mercek ışığı ne kadar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keskin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kırıyorsa gücü o kadar büyüktür. Odak uzaklığı yarıya inince güç iki katına çıkar. Gözlük numarası dediğimiz şey tam olarak budur: "−2,5 numara" demek, odak uzaklığı −40 cm olan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kalın kenarlı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bir mercek demektir — eksi işareti merceğin ıraksak olduğunu söyler.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dersler.perinet.org/mercekler.html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5F4BD8"/>
          </a:solidFill>
          <a:ln/>
          <a:effectLst>
            <a:outerShdw sx="100000" sy="100000" kx="0" ky="0" algn="bl" rotWithShape="0" blurRad="101600" dist="25400" dir="5400000">
              <a:srgbClr val="5F4BD8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Göz ve göz kusurları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81328"/>
            <a:ext cx="8686800" cy="916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Göz, ince kenarlı bir mercek gibi çalışır ve görüntüyü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retina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üzerine düşürür.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 merceği kaslarla şekil değiştirerek odak uzaklığını ayarlar; buna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uyum (akomodasyon)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denir.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07742"/>
            <a:ext cx="8686800" cy="2096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Miyop: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Göz çok kırıcıdır ya da göz küresi uzundur; görüntü retinanın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önünde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oluşur. Uzak cisimler bulanık görünür.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Kalın kenarlı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(ıraksak, eksi numaralı) mercekle düzeltilir.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Hipermetrop: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Göz yeterince kırıcı değildir; görüntü retinanın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arkasına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düşer. Yakın cisimler bulanık görünür.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kenarlı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(yakınsak, artı numaralı) mercekle düzeltilir.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Astigmat: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Kornea küresel değildir; silindirik camla düzeltilir.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Presbiyopi: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Yaşla birlikte uyum yeteneğinin azalmasıdır.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713732"/>
            <a:ext cx="3321101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713732"/>
            <a:ext cx="33211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miyop: P = −1 / d(uzak nokta)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070909" y="4713732"/>
            <a:ext cx="4604918" cy="457200"/>
          </a:xfrm>
          <a:prstGeom prst="roundRect">
            <a:avLst>
              <a:gd name="adj" fmla="val 24000"/>
            </a:avLst>
          </a:prstGeom>
          <a:solidFill>
            <a:srgbClr val="EEF2FC"/>
          </a:solidFill>
          <a:ln w="9525">
            <a:solidFill>
              <a:srgbClr val="CBD7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70909" y="4713732"/>
            <a:ext cx="46049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57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hipermetrop: P = 1/0,25 − 1/d(yakın nokta)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dersler.perinet.org/mercekler.html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3C8C21"/>
          </a:solidFill>
          <a:ln/>
          <a:effectLst>
            <a:outerShdw sx="100000" sy="100000" kx="0" ky="0" algn="bl" rotWithShape="0" blurRad="101600" dist="25400" dir="5400000">
              <a:srgbClr val="3C8C21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Optik aletler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81328"/>
            <a:ext cx="5486400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Büyüteç: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cisim odak içindedir; sanal, düz ve büyük görüntü.</a:t>
            </a:r>
            <a:endParaRPr lang="en-US" sz="16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Fotoğraf makinesi: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cisim 2f dışındadır; sensöre gerçek, ters ve küçük görüntü düşer.</a:t>
            </a:r>
            <a:endParaRPr lang="en-US" sz="16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Projeksiyon: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cisim f ile 2f arasındadır; perdeye gerçek, ters ve büyük görüntü düşer (bu yüzden slayt ters yerleştirilir).</a:t>
            </a:r>
            <a:endParaRPr lang="en-US" sz="1600" dirty="0"/>
          </a:p>
          <a:p>
            <a:pPr marL="203200" indent="-2032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Mikroskop ve teleskop: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iki mercekli sistemlerdir; birinin görüntüsü diğerine cisim olur.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19088" y="1481328"/>
            <a:ext cx="5132527" cy="3946152"/>
          </a:xfrm>
          <a:prstGeom prst="roundRect">
            <a:avLst>
              <a:gd name="adj" fmla="val 3708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pic>
        <p:nvPicPr>
          <p:cNvPr id="7" name="Image 0" descr="/tmp/claude-1000/-opt-dersler/a4dee546-de71-4ec2-8add-be39dd273d29/scratchpad/sekiller/mercekler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968" y="1664208"/>
            <a:ext cx="4766767" cy="230389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601968" y="4059538"/>
            <a:ext cx="4766767" cy="0"/>
          </a:xfrm>
          <a:prstGeom prst="line">
            <a:avLst/>
          </a:prstGeom>
          <a:noFill/>
          <a:ln w="9525">
            <a:solidFill>
              <a:srgbClr val="E1E5EE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6601968" y="4114402"/>
            <a:ext cx="4766767" cy="1130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Miyop gözde mercek fazla kırıcıdır (ya da göz küresi uzundur) ve görüntü retinaya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varmadan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odaklanır; düzeltmek için ışığı biraz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dağıtan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kalın kenarlı mercek takılır. Hipermetropta tam tersi olur: görüntü retinanın arkasına düşer ve ışığı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toplayan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ince kenarlı mercek gerekir. Gözlük camı görüntüyü kendisi oluşturmaz; yalnızca gözün işini kolaylaştıracak kadar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 düzeltme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yapar.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dersler.perinet.org/mercekler.html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A56209"/>
          </a:solidFill>
          <a:ln/>
          <a:effectLst>
            <a:outerShdw sx="100000" sy="100000" kx="0" ky="0" algn="bl" rotWithShape="0" blurRad="101600" dist="25400" dir="5400000">
              <a:srgbClr val="A56209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1 / 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görüntü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4297680" cy="4517136"/>
          </a:xfrm>
          <a:prstGeom prst="roundRect">
            <a:avLst>
              <a:gd name="adj" fmla="val 3404"/>
            </a:avLst>
          </a:prstGeom>
          <a:solidFill>
            <a:srgbClr val="F8F9FC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18470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176272"/>
            <a:ext cx="3712464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 uzaklığı 20 cm olan ince kenarlı merceğin 30 cm önüne bir cisim konuyor. Görüntünün yeri ve büyütmesi nedir?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212080" y="1627632"/>
            <a:ext cx="6339535" cy="1107802"/>
          </a:xfrm>
          <a:prstGeom prst="roundRect">
            <a:avLst>
              <a:gd name="adj" fmla="val 13207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49824" y="1989509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49824" y="198950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682496"/>
            <a:ext cx="5379415" cy="998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1/20 = 1/30 + 1/b → 1/b = 1/20 − 1/30 = (3 − 2)/60 = 1/60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212080" y="2881738"/>
            <a:ext cx="6339535" cy="1107802"/>
          </a:xfrm>
          <a:prstGeom prst="roundRect">
            <a:avLst>
              <a:gd name="adj" fmla="val 13207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49824" y="3243615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49824" y="324361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2936602"/>
            <a:ext cx="5379415" cy="998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cm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(pozitif → gerçek, merceğin öbür tarafında)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12080" y="4135844"/>
            <a:ext cx="6339535" cy="754818"/>
          </a:xfrm>
          <a:prstGeom prst="roundRect">
            <a:avLst>
              <a:gd name="adj" fmla="val 19383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49824" y="4321229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49824" y="432122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989320" y="4190708"/>
            <a:ext cx="5379415" cy="645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|b/a| = 60/30 =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kat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212080" y="5036966"/>
            <a:ext cx="6339535" cy="1107802"/>
          </a:xfrm>
          <a:prstGeom prst="roundRect">
            <a:avLst>
              <a:gd name="adj" fmla="val 13207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49824" y="5398843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49824" y="539884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5091830"/>
            <a:ext cx="5379415" cy="998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 ters ve iki kat büyüktür; projeksiyon düzeni budur.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dersler.perinet.org/mercekler.html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A56209"/>
          </a:solidFill>
          <a:ln/>
          <a:effectLst>
            <a:outerShdw sx="100000" sy="100000" kx="0" ky="0" algn="bl" rotWithShape="0" blurRad="101600" dist="25400" dir="5400000">
              <a:srgbClr val="A56209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2 / 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Büyüteç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4297680" cy="4517136"/>
          </a:xfrm>
          <a:prstGeom prst="roundRect">
            <a:avLst>
              <a:gd name="adj" fmla="val 3404"/>
            </a:avLst>
          </a:prstGeom>
          <a:solidFill>
            <a:srgbClr val="F8F9FC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18470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176272"/>
            <a:ext cx="371246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 uzaklığı 15 cm olan merceğin 10 cm önündeki cismin görüntüsü nasıldır?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212080" y="1627632"/>
            <a:ext cx="6339535" cy="1212771"/>
          </a:xfrm>
          <a:prstGeom prst="roundRect">
            <a:avLst>
              <a:gd name="adj" fmla="val 12064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49824" y="204199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49824" y="20419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682496"/>
            <a:ext cx="5379415" cy="1103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1/15 = 1/10 + 1/b → 1/b = 1/15 − 1/10 = (2 − 3)/30 = −1/30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212080" y="2986707"/>
            <a:ext cx="6339535" cy="1212771"/>
          </a:xfrm>
          <a:prstGeom prst="roundRect">
            <a:avLst>
              <a:gd name="adj" fmla="val 12064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49824" y="3401069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49824" y="34010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3041571"/>
            <a:ext cx="5379415" cy="1103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 cm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eksi işaret görüntünün cisimle aynı tarafta olduğunu, yani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sanal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olduğunu gösterir.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12080" y="4345783"/>
            <a:ext cx="6339535" cy="826341"/>
          </a:xfrm>
          <a:prstGeom prst="roundRect">
            <a:avLst>
              <a:gd name="adj" fmla="val 17705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49824" y="4566929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49824" y="456692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989320" y="4400647"/>
            <a:ext cx="5379415" cy="716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|−30/10| =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kat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düz ve büyük.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212080" y="5318427"/>
            <a:ext cx="6339535" cy="826341"/>
          </a:xfrm>
          <a:prstGeom prst="roundRect">
            <a:avLst>
              <a:gd name="adj" fmla="val 17705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49824" y="553957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49824" y="55395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5373291"/>
            <a:ext cx="5379415" cy="716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Bu, büyütecin çalışma şeklidir.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dersler.perinet.org/mercekler.html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A56209"/>
          </a:solidFill>
          <a:ln/>
          <a:effectLst>
            <a:outerShdw sx="100000" sy="100000" kx="0" ky="0" algn="bl" rotWithShape="0" blurRad="101600" dist="25400" dir="5400000">
              <a:srgbClr val="A56209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3 / 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Kalın kenarlı mercek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4297680" cy="4517136"/>
          </a:xfrm>
          <a:prstGeom prst="roundRect">
            <a:avLst>
              <a:gd name="adj" fmla="val 3404"/>
            </a:avLst>
          </a:prstGeom>
          <a:solidFill>
            <a:srgbClr val="F8F9FC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18470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176272"/>
            <a:ext cx="371246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 uzaklığı 20 cm olan kalın kenarlı merceğin 30 cm önündeki cismin görüntüsü nerededir?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212080" y="1627632"/>
            <a:ext cx="6339535" cy="912836"/>
          </a:xfrm>
          <a:prstGeom prst="roundRect">
            <a:avLst>
              <a:gd name="adj" fmla="val 16027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49824" y="189202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49824" y="189202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682496"/>
            <a:ext cx="5379415" cy="803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Kalın kenarlı mercekte f =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−20 cm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212080" y="2686772"/>
            <a:ext cx="6339535" cy="1339716"/>
          </a:xfrm>
          <a:prstGeom prst="roundRect">
            <a:avLst>
              <a:gd name="adj" fmla="val 10921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49824" y="316460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49824" y="31646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2741636"/>
            <a:ext cx="5379415" cy="1229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1/(−20) = 1/30 + 1/b → 1/b = −1/20 − 1/30 = (−3 − 2)/60 = −5/60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12080" y="4172792"/>
            <a:ext cx="6339535" cy="912836"/>
          </a:xfrm>
          <a:prstGeom prst="roundRect">
            <a:avLst>
              <a:gd name="adj" fmla="val 16027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49824" y="443718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49824" y="443718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989320" y="4227656"/>
            <a:ext cx="5379415" cy="803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−12 cm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sanal, cisim tarafında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212080" y="5231932"/>
            <a:ext cx="6339535" cy="912836"/>
          </a:xfrm>
          <a:prstGeom prst="roundRect">
            <a:avLst>
              <a:gd name="adj" fmla="val 16027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49824" y="549632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49824" y="549632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5286796"/>
            <a:ext cx="5379415" cy="803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12/30 =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görüntü düz ve küçüktür.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dersler.perinet.org/mercekler.html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A56209"/>
          </a:solidFill>
          <a:ln/>
          <a:effectLst>
            <a:outerShdw sx="100000" sy="100000" kx="0" ky="0" algn="bl" rotWithShape="0" blurRad="101600" dist="25400" dir="5400000">
              <a:srgbClr val="A56209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4 / 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Gözlük numarası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4297680" cy="4517136"/>
          </a:xfrm>
          <a:prstGeom prst="roundRect">
            <a:avLst>
              <a:gd name="adj" fmla="val 3404"/>
            </a:avLst>
          </a:prstGeom>
          <a:solidFill>
            <a:srgbClr val="F8F9FC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18470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176272"/>
            <a:ext cx="371246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Uzak noktası 50 cm olan miyop bir göz için gereken gözlük numarası kaç diyoptridir?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212080" y="1627632"/>
            <a:ext cx="6339535" cy="1212771"/>
          </a:xfrm>
          <a:prstGeom prst="roundRect">
            <a:avLst>
              <a:gd name="adj" fmla="val 12064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49824" y="204199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49824" y="20419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682496"/>
            <a:ext cx="5379415" cy="1103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Gözlük, sonsuzdaki cismin görüntüsünü uzak noktaya düşürmelidir.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212080" y="2986707"/>
            <a:ext cx="6339535" cy="826341"/>
          </a:xfrm>
          <a:prstGeom prst="roundRect">
            <a:avLst>
              <a:gd name="adj" fmla="val 17705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49824" y="320785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49824" y="320785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3041571"/>
            <a:ext cx="5379415" cy="716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−50 cm = −0,5 m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12080" y="3959352"/>
            <a:ext cx="6339535" cy="826341"/>
          </a:xfrm>
          <a:prstGeom prst="roundRect">
            <a:avLst>
              <a:gd name="adj" fmla="val 17705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49824" y="418049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49824" y="41804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989320" y="4014216"/>
            <a:ext cx="5379415" cy="716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1/f = 1/(−0,5) =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 diyoptri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212080" y="4931997"/>
            <a:ext cx="6339535" cy="1212771"/>
          </a:xfrm>
          <a:prstGeom prst="roundRect">
            <a:avLst>
              <a:gd name="adj" fmla="val 12064"/>
            </a:avLst>
          </a:prstGeom>
          <a:solidFill>
            <a:srgbClr val="F4F5F9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49824" y="534635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49824" y="53463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4986861"/>
            <a:ext cx="5379415" cy="1103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Eksi numara, kalın kenarlı (ıraksak) mercek demektir.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dersler.perinet.org/mercekler.html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roundRect">
            <a:avLst>
              <a:gd name="adj" fmla="val 25926"/>
            </a:avLst>
          </a:prstGeom>
          <a:solidFill>
            <a:srgbClr val="C53455"/>
          </a:solidFill>
          <a:ln/>
          <a:effectLst>
            <a:outerShdw sx="100000" sy="100000" kx="0" ky="0" algn="bl" rotWithShape="0" blurRad="101600" dist="25400" dir="5400000">
              <a:srgbClr val="C53455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E1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klasikler ve doğrusu.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5346040" cy="1408176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1773936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FBE9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773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225296" y="1746504"/>
            <a:ext cx="4559656" cy="317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kenarlıyı “ince mercek” sanmak.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41248" y="2137410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EAF7D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213741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25296" y="2119122"/>
            <a:ext cx="4559656" cy="806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Adı kenarının inceliğinden gelir; ortası kalındır ve ışığı toplar.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05576" y="1627632"/>
            <a:ext cx="5346040" cy="1408176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6744" y="1773936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FBE9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6744" y="1773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790792" y="1746504"/>
            <a:ext cx="4559656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Kalın kenarlı mercekte gerçek görüntü aramak.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6744" y="2400300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EAF7D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6744" y="24003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790792" y="2382012"/>
            <a:ext cx="4559656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Görüntü her zaman sanal, düz ve küçüktür.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3182112"/>
            <a:ext cx="5346040" cy="1408176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3328416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FBE9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4124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225296" y="3300984"/>
            <a:ext cx="4559656" cy="317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Miyopa ince kenarlı cam vermek.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41248" y="3691890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EAF7D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41248" y="369189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1225296" y="3673602"/>
            <a:ext cx="4559656" cy="806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Miyop kalın kenarlı (eksi numaralı) camla düzeltilir.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205576" y="3182112"/>
            <a:ext cx="5346040" cy="1408176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6744" y="3328416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FBE9E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6744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790792" y="3300984"/>
            <a:ext cx="4559656" cy="317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Diyoptriyi santimetreyle hesaplamak.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406744" y="3691890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EAF7D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6744" y="369189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790792" y="3673602"/>
            <a:ext cx="4559656" cy="806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 = 1/f bağıntısında f </a:t>
            </a:r>
            <a:pPr indent="0" marL="0">
              <a:lnSpc>
                <a:spcPct val="108000"/>
              </a:lnSpc>
              <a:buNone/>
            </a:pPr>
            <a:r>
              <a:rPr lang="en-US" sz="1400" i="1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metre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cinsinden olmalıdır.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0080" y="4736592"/>
            <a:ext cx="5346040" cy="1408176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41248" y="4882896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FBE9E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41248" y="4882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1225296" y="4855464"/>
            <a:ext cx="4559656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Sanal görüntüyü perdeye düşürmeye çalışmak.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841248" y="5509260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EAF7D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41248" y="55092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1225296" y="5490972"/>
            <a:ext cx="4559656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Yalnızca gerçek görüntüler perdeye düşer.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205576" y="4736592"/>
            <a:ext cx="5346040" cy="1408176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4A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06744" y="4882896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FBE9E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6744" y="4882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6790792" y="4855464"/>
            <a:ext cx="4559656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0E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odaktayken görüntü oluştuğunu sanmak.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6406744" y="5509260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EAF7D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06744" y="55092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6790792" y="5490972"/>
            <a:ext cx="4559656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4A5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Işınlar paralel çıkar; görüntü sonsuzdadır.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40080" y="638251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A9E648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59536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dersler.perinet.org/mercekler.html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B8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1143000"/>
            <a:ext cx="54864" cy="548640"/>
          </a:xfrm>
          <a:prstGeom prst="rect">
            <a:avLst/>
          </a:prstGeom>
          <a:solidFill>
            <a:srgbClr val="C6F3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972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D9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AKLINDA KALSIN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505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F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5059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kenarlı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369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F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3697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Kalın kenarlı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dağıtır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023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F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40233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Güç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1/f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8097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F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80974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Büyütme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|b/a|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D9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BAĞINTILAR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46520" y="2395728"/>
            <a:ext cx="5105095" cy="694944"/>
          </a:xfrm>
          <a:prstGeom prst="roundRect">
            <a:avLst>
              <a:gd name="adj" fmla="val 13158"/>
            </a:avLst>
          </a:prstGeom>
          <a:solidFill>
            <a:srgbClr val="1C2542"/>
          </a:solidFill>
          <a:ln w="9525">
            <a:solidFill>
              <a:srgbClr val="2C386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47688" y="2395728"/>
            <a:ext cx="18516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F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1/f = 1/a + 1/b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572500" y="2395728"/>
            <a:ext cx="279623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mercek denklemi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46520" y="3218688"/>
            <a:ext cx="5105095" cy="694944"/>
          </a:xfrm>
          <a:prstGeom prst="roundRect">
            <a:avLst>
              <a:gd name="adj" fmla="val 13158"/>
            </a:avLst>
          </a:prstGeom>
          <a:solidFill>
            <a:srgbClr val="1C2542"/>
          </a:solidFill>
          <a:ln w="9525">
            <a:solidFill>
              <a:srgbClr val="2C386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47688" y="3218688"/>
            <a:ext cx="1463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F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= |b / a|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3218688"/>
            <a:ext cx="31848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büyütme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46520" y="4041648"/>
            <a:ext cx="5105095" cy="694944"/>
          </a:xfrm>
          <a:prstGeom prst="roundRect">
            <a:avLst>
              <a:gd name="adj" fmla="val 13158"/>
            </a:avLst>
          </a:prstGeom>
          <a:solidFill>
            <a:srgbClr val="1C2542"/>
          </a:solidFill>
          <a:ln w="9525">
            <a:solidFill>
              <a:srgbClr val="2C386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47688" y="4041648"/>
            <a:ext cx="15361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F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1 / f(m)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257032" y="4041648"/>
            <a:ext cx="31117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diyoptri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46520" y="4864608"/>
            <a:ext cx="5105095" cy="694944"/>
          </a:xfrm>
          <a:prstGeom prst="roundRect">
            <a:avLst>
              <a:gd name="adj" fmla="val 13158"/>
            </a:avLst>
          </a:prstGeom>
          <a:solidFill>
            <a:srgbClr val="1C2542"/>
          </a:solidFill>
          <a:ln w="9525">
            <a:solidFill>
              <a:srgbClr val="2C386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47688" y="4864608"/>
            <a:ext cx="16413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F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&lt; 0 → sanal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362188" y="4864608"/>
            <a:ext cx="300654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cisimle aynı tarafta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C2542"/>
          </a:solidFill>
          <a:ln w="9525">
            <a:solidFill>
              <a:srgbClr val="2C386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Etkileşimli deneyler, canlı grafikler ve hızlı test:  </a:t>
            </a:r>
            <a:pPr indent="0" marL="0">
              <a:buNone/>
            </a:pPr>
            <a:r>
              <a:rPr lang="en-US" sz="1300" b="1" dirty="0">
                <a:solidFill>
                  <a:srgbClr val="C6F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dersler.perinet.org/mercekler.html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Mercekler — Dersler</dc:title>
  <dc:subject>Fizik · Optik</dc:subject>
  <dc:creator>Dersler</dc:creator>
  <cp:lastModifiedBy>Dersler</cp:lastModifiedBy>
  <cp:revision>1</cp:revision>
  <dcterms:created xsi:type="dcterms:W3CDTF">2026-09-20T18:42:45Z</dcterms:created>
  <dcterms:modified xsi:type="dcterms:W3CDTF">2026-09-20T18:42:45Z</dcterms:modified>
</cp:coreProperties>
</file>