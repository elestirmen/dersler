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f = 20 cm olan ince kenarlı mercekte görüntü uzaklığı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rgbClr val="A56209"/>
            </a:solidFill>
            <a:ln w="3175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Sheet1!$A$2:$A$181</c:f>
              <c:numCache>
                <c:formatCode>General</c:formatCode>
                <c:ptCount val="180"/>
                <c:pt idx="0">
                  <c:v>21</c:v>
                </c:pt>
                <c:pt idx="1">
                  <c:v>22</c:v>
                </c:pt>
                <c:pt idx="2">
                  <c:v>23</c:v>
                </c:pt>
                <c:pt idx="3">
                  <c:v>24</c:v>
                </c:pt>
                <c:pt idx="4">
                  <c:v>25</c:v>
                </c:pt>
                <c:pt idx="5">
                  <c:v>26</c:v>
                </c:pt>
                <c:pt idx="6">
                  <c:v>27</c:v>
                </c:pt>
                <c:pt idx="7">
                  <c:v>28</c:v>
                </c:pt>
                <c:pt idx="8">
                  <c:v>29</c:v>
                </c:pt>
                <c:pt idx="9">
                  <c:v>30</c:v>
                </c:pt>
                <c:pt idx="10">
                  <c:v>31</c:v>
                </c:pt>
                <c:pt idx="11">
                  <c:v>32</c:v>
                </c:pt>
                <c:pt idx="12">
                  <c:v>33</c:v>
                </c:pt>
                <c:pt idx="13">
                  <c:v>34</c:v>
                </c:pt>
                <c:pt idx="14">
                  <c:v>35</c:v>
                </c:pt>
                <c:pt idx="15">
                  <c:v>36</c:v>
                </c:pt>
                <c:pt idx="16">
                  <c:v>37</c:v>
                </c:pt>
                <c:pt idx="17">
                  <c:v>38</c:v>
                </c:pt>
                <c:pt idx="18">
                  <c:v>39</c:v>
                </c:pt>
                <c:pt idx="19">
                  <c:v>40</c:v>
                </c:pt>
                <c:pt idx="20">
                  <c:v>41</c:v>
                </c:pt>
                <c:pt idx="21">
                  <c:v>42</c:v>
                </c:pt>
                <c:pt idx="22">
                  <c:v>43</c:v>
                </c:pt>
                <c:pt idx="23">
                  <c:v>44</c:v>
                </c:pt>
                <c:pt idx="24">
                  <c:v>45</c:v>
                </c:pt>
                <c:pt idx="25">
                  <c:v>46</c:v>
                </c:pt>
                <c:pt idx="26">
                  <c:v>47</c:v>
                </c:pt>
                <c:pt idx="27">
                  <c:v>48</c:v>
                </c:pt>
                <c:pt idx="28">
                  <c:v>49</c:v>
                </c:pt>
                <c:pt idx="29">
                  <c:v>50</c:v>
                </c:pt>
                <c:pt idx="30">
                  <c:v>51</c:v>
                </c:pt>
                <c:pt idx="31">
                  <c:v>52</c:v>
                </c:pt>
                <c:pt idx="32">
                  <c:v>53</c:v>
                </c:pt>
                <c:pt idx="33">
                  <c:v>54</c:v>
                </c:pt>
                <c:pt idx="34">
                  <c:v>55</c:v>
                </c:pt>
                <c:pt idx="35">
                  <c:v>56</c:v>
                </c:pt>
                <c:pt idx="36">
                  <c:v>57</c:v>
                </c:pt>
                <c:pt idx="37">
                  <c:v>58</c:v>
                </c:pt>
                <c:pt idx="38">
                  <c:v>59</c:v>
                </c:pt>
                <c:pt idx="39">
                  <c:v>60</c:v>
                </c:pt>
                <c:pt idx="40">
                  <c:v>61</c:v>
                </c:pt>
                <c:pt idx="41">
                  <c:v>62</c:v>
                </c:pt>
                <c:pt idx="42">
                  <c:v>63</c:v>
                </c:pt>
                <c:pt idx="43">
                  <c:v>64</c:v>
                </c:pt>
                <c:pt idx="44">
                  <c:v>65</c:v>
                </c:pt>
                <c:pt idx="45">
                  <c:v>66</c:v>
                </c:pt>
                <c:pt idx="46">
                  <c:v>67</c:v>
                </c:pt>
                <c:pt idx="47">
                  <c:v>68</c:v>
                </c:pt>
                <c:pt idx="48">
                  <c:v>69</c:v>
                </c:pt>
                <c:pt idx="49">
                  <c:v>70</c:v>
                </c:pt>
                <c:pt idx="50">
                  <c:v>71</c:v>
                </c:pt>
                <c:pt idx="51">
                  <c:v>72</c:v>
                </c:pt>
                <c:pt idx="52">
                  <c:v>73</c:v>
                </c:pt>
                <c:pt idx="53">
                  <c:v>74</c:v>
                </c:pt>
                <c:pt idx="54">
                  <c:v>75</c:v>
                </c:pt>
                <c:pt idx="55">
                  <c:v>76</c:v>
                </c:pt>
                <c:pt idx="56">
                  <c:v>77</c:v>
                </c:pt>
                <c:pt idx="57">
                  <c:v>78</c:v>
                </c:pt>
                <c:pt idx="58">
                  <c:v>79</c:v>
                </c:pt>
                <c:pt idx="59">
                  <c:v>80</c:v>
                </c:pt>
                <c:pt idx="60">
                  <c:v>81</c:v>
                </c:pt>
                <c:pt idx="61">
                  <c:v>82</c:v>
                </c:pt>
                <c:pt idx="62">
                  <c:v>83</c:v>
                </c:pt>
                <c:pt idx="63">
                  <c:v>84</c:v>
                </c:pt>
                <c:pt idx="64">
                  <c:v>85</c:v>
                </c:pt>
                <c:pt idx="65">
                  <c:v>86</c:v>
                </c:pt>
                <c:pt idx="66">
                  <c:v>87</c:v>
                </c:pt>
                <c:pt idx="67">
                  <c:v>88</c:v>
                </c:pt>
                <c:pt idx="68">
                  <c:v>89</c:v>
                </c:pt>
                <c:pt idx="69">
                  <c:v>90</c:v>
                </c:pt>
                <c:pt idx="70">
                  <c:v>91</c:v>
                </c:pt>
                <c:pt idx="71">
                  <c:v>92</c:v>
                </c:pt>
                <c:pt idx="72">
                  <c:v>93</c:v>
                </c:pt>
                <c:pt idx="73">
                  <c:v>94</c:v>
                </c:pt>
                <c:pt idx="74">
                  <c:v>95</c:v>
                </c:pt>
                <c:pt idx="75">
                  <c:v>96</c:v>
                </c:pt>
                <c:pt idx="76">
                  <c:v>97</c:v>
                </c:pt>
                <c:pt idx="77">
                  <c:v>98</c:v>
                </c:pt>
                <c:pt idx="78">
                  <c:v>99</c:v>
                </c:pt>
                <c:pt idx="79">
                  <c:v>100</c:v>
                </c:pt>
                <c:pt idx="80">
                  <c:v>101</c:v>
                </c:pt>
                <c:pt idx="81">
                  <c:v>102</c:v>
                </c:pt>
                <c:pt idx="82">
                  <c:v>103</c:v>
                </c:pt>
                <c:pt idx="83">
                  <c:v>104</c:v>
                </c:pt>
                <c:pt idx="84">
                  <c:v>105</c:v>
                </c:pt>
                <c:pt idx="85">
                  <c:v>106</c:v>
                </c:pt>
                <c:pt idx="86">
                  <c:v>107</c:v>
                </c:pt>
                <c:pt idx="87">
                  <c:v>108</c:v>
                </c:pt>
                <c:pt idx="88">
                  <c:v>109</c:v>
                </c:pt>
                <c:pt idx="89">
                  <c:v>110</c:v>
                </c:pt>
                <c:pt idx="90">
                  <c:v>111</c:v>
                </c:pt>
                <c:pt idx="91">
                  <c:v>112</c:v>
                </c:pt>
                <c:pt idx="92">
                  <c:v>113</c:v>
                </c:pt>
                <c:pt idx="93">
                  <c:v>114</c:v>
                </c:pt>
                <c:pt idx="94">
                  <c:v>115</c:v>
                </c:pt>
                <c:pt idx="95">
                  <c:v>116</c:v>
                </c:pt>
                <c:pt idx="96">
                  <c:v>117</c:v>
                </c:pt>
                <c:pt idx="97">
                  <c:v>118</c:v>
                </c:pt>
                <c:pt idx="98">
                  <c:v>119</c:v>
                </c:pt>
                <c:pt idx="99">
                  <c:v>120</c:v>
                </c:pt>
                <c:pt idx="100">
                  <c:v>121</c:v>
                </c:pt>
                <c:pt idx="101">
                  <c:v>122</c:v>
                </c:pt>
                <c:pt idx="102">
                  <c:v>123</c:v>
                </c:pt>
                <c:pt idx="103">
                  <c:v>124</c:v>
                </c:pt>
                <c:pt idx="104">
                  <c:v>125</c:v>
                </c:pt>
                <c:pt idx="105">
                  <c:v>126</c:v>
                </c:pt>
                <c:pt idx="106">
                  <c:v>127</c:v>
                </c:pt>
                <c:pt idx="107">
                  <c:v>128</c:v>
                </c:pt>
                <c:pt idx="108">
                  <c:v>129</c:v>
                </c:pt>
                <c:pt idx="109">
                  <c:v>130</c:v>
                </c:pt>
                <c:pt idx="110">
                  <c:v>131</c:v>
                </c:pt>
                <c:pt idx="111">
                  <c:v>132</c:v>
                </c:pt>
                <c:pt idx="112">
                  <c:v>133</c:v>
                </c:pt>
                <c:pt idx="113">
                  <c:v>134</c:v>
                </c:pt>
                <c:pt idx="114">
                  <c:v>135</c:v>
                </c:pt>
                <c:pt idx="115">
                  <c:v>136</c:v>
                </c:pt>
                <c:pt idx="116">
                  <c:v>137</c:v>
                </c:pt>
                <c:pt idx="117">
                  <c:v>138</c:v>
                </c:pt>
                <c:pt idx="118">
                  <c:v>139</c:v>
                </c:pt>
                <c:pt idx="119">
                  <c:v>140</c:v>
                </c:pt>
                <c:pt idx="120">
                  <c:v>141</c:v>
                </c:pt>
                <c:pt idx="121">
                  <c:v>142</c:v>
                </c:pt>
                <c:pt idx="122">
                  <c:v>143</c:v>
                </c:pt>
                <c:pt idx="123">
                  <c:v>144</c:v>
                </c:pt>
                <c:pt idx="124">
                  <c:v>145</c:v>
                </c:pt>
                <c:pt idx="125">
                  <c:v>146</c:v>
                </c:pt>
                <c:pt idx="126">
                  <c:v>147</c:v>
                </c:pt>
                <c:pt idx="127">
                  <c:v>148</c:v>
                </c:pt>
                <c:pt idx="128">
                  <c:v>149</c:v>
                </c:pt>
                <c:pt idx="129">
                  <c:v>150</c:v>
                </c:pt>
                <c:pt idx="130">
                  <c:v>151</c:v>
                </c:pt>
                <c:pt idx="131">
                  <c:v>152</c:v>
                </c:pt>
                <c:pt idx="132">
                  <c:v>153</c:v>
                </c:pt>
                <c:pt idx="133">
                  <c:v>154</c:v>
                </c:pt>
                <c:pt idx="134">
                  <c:v>155</c:v>
                </c:pt>
                <c:pt idx="135">
                  <c:v>156</c:v>
                </c:pt>
                <c:pt idx="136">
                  <c:v>157</c:v>
                </c:pt>
                <c:pt idx="137">
                  <c:v>158</c:v>
                </c:pt>
                <c:pt idx="138">
                  <c:v>159</c:v>
                </c:pt>
                <c:pt idx="139">
                  <c:v>160</c:v>
                </c:pt>
                <c:pt idx="140">
                  <c:v>161</c:v>
                </c:pt>
                <c:pt idx="141">
                  <c:v>162</c:v>
                </c:pt>
                <c:pt idx="142">
                  <c:v>163</c:v>
                </c:pt>
                <c:pt idx="143">
                  <c:v>164</c:v>
                </c:pt>
                <c:pt idx="144">
                  <c:v>165</c:v>
                </c:pt>
                <c:pt idx="145">
                  <c:v>166</c:v>
                </c:pt>
                <c:pt idx="146">
                  <c:v>167</c:v>
                </c:pt>
                <c:pt idx="147">
                  <c:v>168</c:v>
                </c:pt>
                <c:pt idx="148">
                  <c:v>169</c:v>
                </c:pt>
                <c:pt idx="149">
                  <c:v>170</c:v>
                </c:pt>
                <c:pt idx="150">
                  <c:v>171</c:v>
                </c:pt>
                <c:pt idx="151">
                  <c:v>172</c:v>
                </c:pt>
                <c:pt idx="152">
                  <c:v>173</c:v>
                </c:pt>
                <c:pt idx="153">
                  <c:v>174</c:v>
                </c:pt>
                <c:pt idx="154">
                  <c:v>175</c:v>
                </c:pt>
                <c:pt idx="155">
                  <c:v>176</c:v>
                </c:pt>
                <c:pt idx="156">
                  <c:v>177</c:v>
                </c:pt>
                <c:pt idx="157">
                  <c:v>178</c:v>
                </c:pt>
                <c:pt idx="158">
                  <c:v>179</c:v>
                </c:pt>
                <c:pt idx="159">
                  <c:v>180</c:v>
                </c:pt>
                <c:pt idx="160">
                  <c:v>181</c:v>
                </c:pt>
                <c:pt idx="161">
                  <c:v>182</c:v>
                </c:pt>
                <c:pt idx="162">
                  <c:v>183</c:v>
                </c:pt>
                <c:pt idx="163">
                  <c:v>184</c:v>
                </c:pt>
                <c:pt idx="164">
                  <c:v>185</c:v>
                </c:pt>
                <c:pt idx="165">
                  <c:v>186</c:v>
                </c:pt>
                <c:pt idx="166">
                  <c:v>187</c:v>
                </c:pt>
                <c:pt idx="167">
                  <c:v>188</c:v>
                </c:pt>
                <c:pt idx="168">
                  <c:v>189</c:v>
                </c:pt>
                <c:pt idx="169">
                  <c:v>190</c:v>
                </c:pt>
                <c:pt idx="170">
                  <c:v>191</c:v>
                </c:pt>
                <c:pt idx="171">
                  <c:v>192</c:v>
                </c:pt>
                <c:pt idx="172">
                  <c:v>193</c:v>
                </c:pt>
                <c:pt idx="173">
                  <c:v>194</c:v>
                </c:pt>
                <c:pt idx="174">
                  <c:v>195</c:v>
                </c:pt>
                <c:pt idx="175">
                  <c:v>196</c:v>
                </c:pt>
                <c:pt idx="176">
                  <c:v>197</c:v>
                </c:pt>
                <c:pt idx="177">
                  <c:v>198</c:v>
                </c:pt>
                <c:pt idx="178">
                  <c:v>199</c:v>
                </c:pt>
                <c:pt idx="179">
                  <c:v>200</c:v>
                </c:pt>
              </c:numCache>
            </c:numRef>
          </c:xVal>
          <c:yVal>
            <c:numRef>
              <c:f>Sheet1!$B$2:$B$181</c:f>
              <c:numCache>
                <c:formatCode>General</c:formatCode>
                <c:ptCount val="180"/>
                <c:pt idx="0">
                  <c:v>420</c:v>
                </c:pt>
                <c:pt idx="1">
                  <c:v>220</c:v>
                </c:pt>
                <c:pt idx="2">
                  <c:v>153.3</c:v>
                </c:pt>
                <c:pt idx="3">
                  <c:v>120</c:v>
                </c:pt>
                <c:pt idx="4">
                  <c:v>100</c:v>
                </c:pt>
                <c:pt idx="5">
                  <c:v>86.7</c:v>
                </c:pt>
                <c:pt idx="6">
                  <c:v>77.1</c:v>
                </c:pt>
                <c:pt idx="7">
                  <c:v>70</c:v>
                </c:pt>
                <c:pt idx="8">
                  <c:v>64.4</c:v>
                </c:pt>
                <c:pt idx="9">
                  <c:v>60</c:v>
                </c:pt>
                <c:pt idx="10">
                  <c:v>56.4</c:v>
                </c:pt>
                <c:pt idx="11">
                  <c:v>53.3</c:v>
                </c:pt>
                <c:pt idx="12">
                  <c:v>50.8</c:v>
                </c:pt>
                <c:pt idx="13">
                  <c:v>48.6</c:v>
                </c:pt>
                <c:pt idx="14">
                  <c:v>46.7</c:v>
                </c:pt>
                <c:pt idx="15">
                  <c:v>45</c:v>
                </c:pt>
                <c:pt idx="16">
                  <c:v>43.5</c:v>
                </c:pt>
                <c:pt idx="17">
                  <c:v>42.2</c:v>
                </c:pt>
                <c:pt idx="18">
                  <c:v>41.1</c:v>
                </c:pt>
                <c:pt idx="19">
                  <c:v>40</c:v>
                </c:pt>
                <c:pt idx="20">
                  <c:v>39</c:v>
                </c:pt>
                <c:pt idx="21">
                  <c:v>38.2</c:v>
                </c:pt>
                <c:pt idx="22">
                  <c:v>37.4</c:v>
                </c:pt>
                <c:pt idx="23">
                  <c:v>36.7</c:v>
                </c:pt>
                <c:pt idx="24">
                  <c:v>36</c:v>
                </c:pt>
                <c:pt idx="25">
                  <c:v>35.4</c:v>
                </c:pt>
                <c:pt idx="26">
                  <c:v>34.8</c:v>
                </c:pt>
                <c:pt idx="27">
                  <c:v>34.3</c:v>
                </c:pt>
                <c:pt idx="28">
                  <c:v>33.8</c:v>
                </c:pt>
                <c:pt idx="29">
                  <c:v>33.3</c:v>
                </c:pt>
                <c:pt idx="30">
                  <c:v>32.9</c:v>
                </c:pt>
                <c:pt idx="31">
                  <c:v>32.5</c:v>
                </c:pt>
                <c:pt idx="32">
                  <c:v>32.1</c:v>
                </c:pt>
                <c:pt idx="33">
                  <c:v>31.8</c:v>
                </c:pt>
                <c:pt idx="34">
                  <c:v>31.4</c:v>
                </c:pt>
                <c:pt idx="35">
                  <c:v>31.1</c:v>
                </c:pt>
                <c:pt idx="36">
                  <c:v>30.8</c:v>
                </c:pt>
                <c:pt idx="37">
                  <c:v>30.5</c:v>
                </c:pt>
                <c:pt idx="38">
                  <c:v>30.3</c:v>
                </c:pt>
                <c:pt idx="39">
                  <c:v>30</c:v>
                </c:pt>
                <c:pt idx="40">
                  <c:v>29.8</c:v>
                </c:pt>
                <c:pt idx="41">
                  <c:v>29.5</c:v>
                </c:pt>
                <c:pt idx="42">
                  <c:v>29.3</c:v>
                </c:pt>
                <c:pt idx="43">
                  <c:v>29.1</c:v>
                </c:pt>
                <c:pt idx="44">
                  <c:v>28.9</c:v>
                </c:pt>
                <c:pt idx="45">
                  <c:v>28.7</c:v>
                </c:pt>
                <c:pt idx="46">
                  <c:v>28.5</c:v>
                </c:pt>
                <c:pt idx="47">
                  <c:v>28.3</c:v>
                </c:pt>
                <c:pt idx="48">
                  <c:v>28.2</c:v>
                </c:pt>
                <c:pt idx="49">
                  <c:v>28</c:v>
                </c:pt>
                <c:pt idx="50">
                  <c:v>27.8</c:v>
                </c:pt>
                <c:pt idx="51">
                  <c:v>27.7</c:v>
                </c:pt>
                <c:pt idx="52">
                  <c:v>27.5</c:v>
                </c:pt>
                <c:pt idx="53">
                  <c:v>27.4</c:v>
                </c:pt>
                <c:pt idx="54">
                  <c:v>27.3</c:v>
                </c:pt>
                <c:pt idx="55">
                  <c:v>27.1</c:v>
                </c:pt>
                <c:pt idx="56">
                  <c:v>27</c:v>
                </c:pt>
                <c:pt idx="57">
                  <c:v>26.9</c:v>
                </c:pt>
                <c:pt idx="58">
                  <c:v>26.8</c:v>
                </c:pt>
                <c:pt idx="59">
                  <c:v>26.7</c:v>
                </c:pt>
                <c:pt idx="60">
                  <c:v>26.6</c:v>
                </c:pt>
                <c:pt idx="61">
                  <c:v>26.5</c:v>
                </c:pt>
                <c:pt idx="62">
                  <c:v>26.3</c:v>
                </c:pt>
                <c:pt idx="63">
                  <c:v>26.3</c:v>
                </c:pt>
                <c:pt idx="64">
                  <c:v>26.2</c:v>
                </c:pt>
                <c:pt idx="65">
                  <c:v>26.1</c:v>
                </c:pt>
                <c:pt idx="66">
                  <c:v>26</c:v>
                </c:pt>
                <c:pt idx="67">
                  <c:v>25.9</c:v>
                </c:pt>
                <c:pt idx="68">
                  <c:v>25.8</c:v>
                </c:pt>
                <c:pt idx="69">
                  <c:v>25.7</c:v>
                </c:pt>
                <c:pt idx="70">
                  <c:v>25.6</c:v>
                </c:pt>
                <c:pt idx="71">
                  <c:v>25.6</c:v>
                </c:pt>
                <c:pt idx="72">
                  <c:v>25.5</c:v>
                </c:pt>
                <c:pt idx="73">
                  <c:v>25.4</c:v>
                </c:pt>
                <c:pt idx="74">
                  <c:v>25.3</c:v>
                </c:pt>
                <c:pt idx="75">
                  <c:v>25.3</c:v>
                </c:pt>
                <c:pt idx="76">
                  <c:v>25.2</c:v>
                </c:pt>
                <c:pt idx="77">
                  <c:v>25.1</c:v>
                </c:pt>
                <c:pt idx="78">
                  <c:v>25.1</c:v>
                </c:pt>
                <c:pt idx="79">
                  <c:v>25</c:v>
                </c:pt>
                <c:pt idx="80">
                  <c:v>24.9</c:v>
                </c:pt>
                <c:pt idx="81">
                  <c:v>24.9</c:v>
                </c:pt>
                <c:pt idx="82">
                  <c:v>24.8</c:v>
                </c:pt>
                <c:pt idx="83">
                  <c:v>24.8</c:v>
                </c:pt>
                <c:pt idx="84">
                  <c:v>24.7</c:v>
                </c:pt>
                <c:pt idx="85">
                  <c:v>24.7</c:v>
                </c:pt>
                <c:pt idx="86">
                  <c:v>24.6</c:v>
                </c:pt>
                <c:pt idx="87">
                  <c:v>24.5</c:v>
                </c:pt>
                <c:pt idx="88">
                  <c:v>24.5</c:v>
                </c:pt>
                <c:pt idx="89">
                  <c:v>24.4</c:v>
                </c:pt>
                <c:pt idx="90">
                  <c:v>24.4</c:v>
                </c:pt>
                <c:pt idx="91">
                  <c:v>24.3</c:v>
                </c:pt>
                <c:pt idx="92">
                  <c:v>24.3</c:v>
                </c:pt>
                <c:pt idx="93">
                  <c:v>24.3</c:v>
                </c:pt>
                <c:pt idx="94">
                  <c:v>24.2</c:v>
                </c:pt>
                <c:pt idx="95">
                  <c:v>24.2</c:v>
                </c:pt>
                <c:pt idx="96">
                  <c:v>24.1</c:v>
                </c:pt>
                <c:pt idx="97">
                  <c:v>24.1</c:v>
                </c:pt>
                <c:pt idx="98">
                  <c:v>24</c:v>
                </c:pt>
                <c:pt idx="99">
                  <c:v>24</c:v>
                </c:pt>
                <c:pt idx="100">
                  <c:v>24</c:v>
                </c:pt>
                <c:pt idx="101">
                  <c:v>23.9</c:v>
                </c:pt>
                <c:pt idx="102">
                  <c:v>23.9</c:v>
                </c:pt>
                <c:pt idx="103">
                  <c:v>23.8</c:v>
                </c:pt>
                <c:pt idx="104">
                  <c:v>23.8</c:v>
                </c:pt>
                <c:pt idx="105">
                  <c:v>23.8</c:v>
                </c:pt>
                <c:pt idx="106">
                  <c:v>23.7</c:v>
                </c:pt>
                <c:pt idx="107">
                  <c:v>23.7</c:v>
                </c:pt>
                <c:pt idx="108">
                  <c:v>23.7</c:v>
                </c:pt>
                <c:pt idx="109">
                  <c:v>23.6</c:v>
                </c:pt>
                <c:pt idx="110">
                  <c:v>23.6</c:v>
                </c:pt>
                <c:pt idx="111">
                  <c:v>23.6</c:v>
                </c:pt>
                <c:pt idx="112">
                  <c:v>23.5</c:v>
                </c:pt>
                <c:pt idx="113">
                  <c:v>23.5</c:v>
                </c:pt>
                <c:pt idx="114">
                  <c:v>23.5</c:v>
                </c:pt>
                <c:pt idx="115">
                  <c:v>23.4</c:v>
                </c:pt>
                <c:pt idx="116">
                  <c:v>23.4</c:v>
                </c:pt>
                <c:pt idx="117">
                  <c:v>23.4</c:v>
                </c:pt>
                <c:pt idx="118">
                  <c:v>23.4</c:v>
                </c:pt>
                <c:pt idx="119">
                  <c:v>23.3</c:v>
                </c:pt>
                <c:pt idx="120">
                  <c:v>23.3</c:v>
                </c:pt>
                <c:pt idx="121">
                  <c:v>23.3</c:v>
                </c:pt>
                <c:pt idx="122">
                  <c:v>23.3</c:v>
                </c:pt>
                <c:pt idx="123">
                  <c:v>23.2</c:v>
                </c:pt>
                <c:pt idx="124">
                  <c:v>23.2</c:v>
                </c:pt>
                <c:pt idx="125">
                  <c:v>23.2</c:v>
                </c:pt>
                <c:pt idx="126">
                  <c:v>23.1</c:v>
                </c:pt>
                <c:pt idx="127">
                  <c:v>23.1</c:v>
                </c:pt>
                <c:pt idx="128">
                  <c:v>23.1</c:v>
                </c:pt>
                <c:pt idx="129">
                  <c:v>23.1</c:v>
                </c:pt>
                <c:pt idx="130">
                  <c:v>23.1</c:v>
                </c:pt>
                <c:pt idx="131">
                  <c:v>23</c:v>
                </c:pt>
                <c:pt idx="132">
                  <c:v>23</c:v>
                </c:pt>
                <c:pt idx="133">
                  <c:v>23</c:v>
                </c:pt>
                <c:pt idx="134">
                  <c:v>23</c:v>
                </c:pt>
                <c:pt idx="135">
                  <c:v>22.9</c:v>
                </c:pt>
                <c:pt idx="136">
                  <c:v>22.9</c:v>
                </c:pt>
                <c:pt idx="137">
                  <c:v>22.9</c:v>
                </c:pt>
                <c:pt idx="138">
                  <c:v>22.9</c:v>
                </c:pt>
                <c:pt idx="139">
                  <c:v>22.9</c:v>
                </c:pt>
                <c:pt idx="140">
                  <c:v>22.8</c:v>
                </c:pt>
                <c:pt idx="141">
                  <c:v>22.8</c:v>
                </c:pt>
                <c:pt idx="142">
                  <c:v>22.8</c:v>
                </c:pt>
                <c:pt idx="143">
                  <c:v>22.8</c:v>
                </c:pt>
                <c:pt idx="144">
                  <c:v>22.8</c:v>
                </c:pt>
                <c:pt idx="145">
                  <c:v>22.7</c:v>
                </c:pt>
                <c:pt idx="146">
                  <c:v>22.7</c:v>
                </c:pt>
                <c:pt idx="147">
                  <c:v>22.7</c:v>
                </c:pt>
                <c:pt idx="148">
                  <c:v>22.7</c:v>
                </c:pt>
                <c:pt idx="149">
                  <c:v>22.7</c:v>
                </c:pt>
                <c:pt idx="150">
                  <c:v>22.6</c:v>
                </c:pt>
                <c:pt idx="151">
                  <c:v>22.6</c:v>
                </c:pt>
                <c:pt idx="152">
                  <c:v>22.6</c:v>
                </c:pt>
                <c:pt idx="153">
                  <c:v>22.6</c:v>
                </c:pt>
                <c:pt idx="154">
                  <c:v>22.6</c:v>
                </c:pt>
                <c:pt idx="155">
                  <c:v>22.6</c:v>
                </c:pt>
                <c:pt idx="156">
                  <c:v>22.5</c:v>
                </c:pt>
                <c:pt idx="157">
                  <c:v>22.5</c:v>
                </c:pt>
                <c:pt idx="158">
                  <c:v>22.5</c:v>
                </c:pt>
                <c:pt idx="159">
                  <c:v>22.5</c:v>
                </c:pt>
                <c:pt idx="160">
                  <c:v>22.5</c:v>
                </c:pt>
                <c:pt idx="161">
                  <c:v>22.5</c:v>
                </c:pt>
                <c:pt idx="162">
                  <c:v>22.5</c:v>
                </c:pt>
                <c:pt idx="163">
                  <c:v>22.4</c:v>
                </c:pt>
                <c:pt idx="164">
                  <c:v>22.4</c:v>
                </c:pt>
                <c:pt idx="165">
                  <c:v>22.4</c:v>
                </c:pt>
                <c:pt idx="166">
                  <c:v>22.4</c:v>
                </c:pt>
                <c:pt idx="167">
                  <c:v>22.4</c:v>
                </c:pt>
                <c:pt idx="168">
                  <c:v>22.4</c:v>
                </c:pt>
                <c:pt idx="169">
                  <c:v>22.4</c:v>
                </c:pt>
                <c:pt idx="170">
                  <c:v>22.3</c:v>
                </c:pt>
                <c:pt idx="171">
                  <c:v>22.3</c:v>
                </c:pt>
                <c:pt idx="172">
                  <c:v>22.3</c:v>
                </c:pt>
                <c:pt idx="173">
                  <c:v>22.3</c:v>
                </c:pt>
                <c:pt idx="174">
                  <c:v>22.3</c:v>
                </c:pt>
                <c:pt idx="175">
                  <c:v>22.3</c:v>
                </c:pt>
                <c:pt idx="176">
                  <c:v>22.3</c:v>
                </c:pt>
                <c:pt idx="177">
                  <c:v>22.2</c:v>
                </c:pt>
                <c:pt idx="178">
                  <c:v>22.2</c:v>
                </c:pt>
                <c:pt idx="179">
                  <c:v>22.2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cisim uzaklığı a (cm)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görüntü uzaklığı b (cm)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gözlüğü olan öğrencilere numaralarını sor: eksi mi artı mı, neden?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Küresel aynalarla aynı denklem; farkı yansıma yerine kırılma olması. Bu bağı kur.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Diyoptri hesabında f'nin metre olması şart; santimetre kullanan öğrenci 100 kat sapar.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Merkezden geçen ışın en kolayı; çizime hep ondan başlatmak öğrenciyi rahatlatıyor.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 satırı bir aletle eşleştirmek tabloyu ezber olmaktan çıkarıyor.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Aynalardaki grafiğin aynısı; iki konu arasındaki simetriyi göstermek için yan yana koy.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Miyop = eksi, hipermetrop = artı eşlemesi sınavda doğrudan soruluyor.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Sonucu tabloyla karşılaştır: f–2f arası → 2f dışında, gerçek, ters, büyük 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Büyüteci sınıfa getir: cismi odağın dışına çıkarınca görüntünün ters döndüğünü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Gözlük numarasının işareti ile mercek türü arasındaki bağı burada tekrar vurgula.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Dördüncü madde hesap hatası değil birim hatası; sınavda çok görülüyor.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'perdeye net görüntü düşür' bölümünü aç: iki net konumun varlığı sınıfı şaşırtıyor.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OPTİK · KONU 08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Mercekler ve görme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Mercek, ışığı kırarak toplayan ya da dağıtan saydam bir cisimdir. Gözlükten mikroskoba, fotoğraf makinesinden gözün kendisine kadar hepsi aynı denklemle çalışır.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1/f = 1/a + 1/b          m = |b / a|          P = 1 / f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058400" y="2468880"/>
            <a:ext cx="685800" cy="2011680"/>
          </a:xfrm>
          <a:prstGeom prst="ellipse">
            <a:avLst/>
          </a:prstGeom>
          <a:solidFill>
            <a:srgbClr val="1B2544"/>
          </a:solidFill>
          <a:ln w="25400">
            <a:solidFill>
              <a:srgbClr val="82AA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2926080"/>
            <a:ext cx="1737360" cy="0"/>
          </a:xfrm>
          <a:prstGeom prst="line">
            <a:avLst/>
          </a:prstGeom>
          <a:noFill/>
          <a:ln w="27940">
            <a:solidFill>
              <a:srgbClr val="FFE08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412480" y="3474720"/>
            <a:ext cx="1737360" cy="0"/>
          </a:xfrm>
          <a:prstGeom prst="line">
            <a:avLst/>
          </a:prstGeom>
          <a:noFill/>
          <a:ln w="27940">
            <a:solidFill>
              <a:srgbClr val="FFE08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0" y="4023360"/>
            <a:ext cx="1737360" cy="0"/>
          </a:xfrm>
          <a:prstGeom prst="line">
            <a:avLst/>
          </a:prstGeom>
          <a:noFill/>
          <a:ln w="27940">
            <a:solidFill>
              <a:srgbClr val="FFE08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98480" y="2926080"/>
            <a:ext cx="1005840" cy="548640"/>
          </a:xfrm>
          <a:prstGeom prst="line">
            <a:avLst/>
          </a:prstGeom>
          <a:noFill/>
          <a:ln w="27940">
            <a:solidFill>
              <a:srgbClr val="B9EE6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698480" y="3474720"/>
            <a:ext cx="1005840" cy="0"/>
          </a:xfrm>
          <a:prstGeom prst="line">
            <a:avLst/>
          </a:prstGeom>
          <a:noFill/>
          <a:ln w="27940">
            <a:solidFill>
              <a:srgbClr val="B9EE6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10698480" y="3474720"/>
            <a:ext cx="1005840" cy="548640"/>
          </a:xfrm>
          <a:prstGeom prst="line">
            <a:avLst/>
          </a:prstGeom>
          <a:noFill/>
          <a:ln w="27940">
            <a:solidFill>
              <a:srgbClr val="B9EE6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31168" y="3401568"/>
            <a:ext cx="146304" cy="146304"/>
          </a:xfrm>
          <a:prstGeom prst="ellipse">
            <a:avLst/>
          </a:prstGeom>
          <a:solidFill>
            <a:srgbClr val="FF8FA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1475720" y="3611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mercek türlerinden göz kusurlarına.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 türleri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 toplar, kalın kenarlı dağıtır.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Asal ışınlar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Paralel, merkezden ve odaktan geçen ışınlar.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Beş cisim konumu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 dışından odak içine.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 denklemi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1/f = 1/a + 1/b ve büyütme.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 gücü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1/f; birimi diyoptri.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 ve kusurları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Miyop, hipermetrop ve gözlük numarası.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08 · Mercekler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Mercek türleri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Adı kenarından gelir, davranışı ortasından.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2560320"/>
          </a:xfrm>
          <a:prstGeom prst="roundRect">
            <a:avLst>
              <a:gd name="adj" fmla="val 5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1965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 (yakınsak)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Ortası kalın, kenarları incedir. Asal eksene paralel gelen ışınları odakta toplar.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&gt; 0 · toplayıcı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7947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büyüteç, gözlük, fotoğraf makinesi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2560320"/>
          </a:xfrm>
          <a:prstGeom prst="roundRect">
            <a:avLst>
              <a:gd name="adj" fmla="val 5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9672" y="1965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 (ıraksak)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24688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Ortası ince, kenarları kalındır. Işınları dağıtır; uzantıları odakta kesişir.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&lt; 0 · dağıtıcı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37947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miyop gözlüğü, kapı dürbünü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10911535" cy="685800"/>
          </a:xfrm>
          <a:prstGeom prst="roundRect">
            <a:avLst>
              <a:gd name="adj" fmla="val 13333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52628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1 / f  (f metre cinsinden)        birimi diyoptri (D)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5394960"/>
            <a:ext cx="10911535" cy="640080"/>
          </a:xfrm>
          <a:prstGeom prst="roundRect">
            <a:avLst>
              <a:gd name="adj" fmla="val 20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0120" y="539496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Gözlük numarası: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uzaklığı 50 cm olan ince kenarlı merceğin gücü +2 diyoptridir. Kalın kenarlı merceklerde güç negatiftir.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08 · Mercekler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Asal ışınlar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 mercekte üç ışından ikisi yeter.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675120" cy="987552"/>
          </a:xfrm>
          <a:prstGeom prst="roundRect">
            <a:avLst>
              <a:gd name="adj" fmla="val 1296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075688"/>
            <a:ext cx="411480" cy="411480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1783080"/>
            <a:ext cx="2743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Asal eksene paralel gelen ışın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1783080"/>
            <a:ext cx="2743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kırıldıktan sonra odaktan geçer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898648"/>
            <a:ext cx="6675120" cy="987552"/>
          </a:xfrm>
          <a:prstGeom prst="roundRect">
            <a:avLst>
              <a:gd name="adj" fmla="val 1296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0120" y="3191256"/>
            <a:ext cx="411480" cy="411480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3191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2898648"/>
            <a:ext cx="2743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Merkezden geçen ışın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2898648"/>
            <a:ext cx="2743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doğrultusunu korur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014216"/>
            <a:ext cx="6675120" cy="987552"/>
          </a:xfrm>
          <a:prstGeom prst="roundRect">
            <a:avLst>
              <a:gd name="adj" fmla="val 1296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0120" y="4306824"/>
            <a:ext cx="411480" cy="411480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43068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014216"/>
            <a:ext cx="2743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Odaktan geçerek gelen ışın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89120" y="4014216"/>
            <a:ext cx="2743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kırıldıktan sonra eksene paralel gider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35240" y="1783080"/>
            <a:ext cx="3916375" cy="3346704"/>
          </a:xfrm>
          <a:prstGeom prst="roundRect">
            <a:avLst>
              <a:gd name="adj" fmla="val 3825"/>
            </a:avLst>
          </a:prstGeom>
          <a:solidFill>
            <a:srgbClr val="FCECF0"/>
          </a:solidFill>
          <a:ln w="12700">
            <a:solidFill>
              <a:srgbClr val="F3C9D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955280" y="2011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 mercekte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25146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gelen ışın, merceğin önündeki odaktan geliyormuş gibi dağılır.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Görüntü, bu uzantıların kesişmesiyle oluşur: her zaman sanal, düz ve küçüktür.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Merkezden geçen ışın burada da doğrultusunu korur.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212080"/>
            <a:ext cx="10911535" cy="640080"/>
          </a:xfrm>
          <a:prstGeom prst="roundRect">
            <a:avLst>
              <a:gd name="adj" fmla="val 20000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60120" y="521208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mi sanal mı?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Işınların kendisi kesişiyorsa gerçek (perdeye düşer), yalnızca uzantıları kesişiyorsa sanal görüntü oluşur.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08 · Mercekler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İnce kenarlı mercekte beş cisim konumu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konum bir optik aletin çalışma düzenidir.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Cismin yeri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Görüntünün yeri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1828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Özellikleri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542032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5420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 dışında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54203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– 2f arası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54203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gerçek, ters, küçük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0" y="254203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fotoğraf makinesi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255264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25526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2f'de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25526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2f'de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25526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gerçek, ters, eşit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325526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fotokopi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3968496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96849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– 2f arası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396849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 dışında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6849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gerçek, ters, büyük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961120" y="396849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projeksiyon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681728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6817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Odakta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468172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sonsuzda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468172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oluşmaz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961120" y="468172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projektör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539496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" y="5394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içinde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3383280" y="53949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tarafında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943600" y="53949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sanal, düz, büyük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961120" y="53949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büyüteç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5486400"/>
            <a:ext cx="10911535" cy="548640"/>
          </a:xfrm>
          <a:prstGeom prst="roundRect">
            <a:avLst>
              <a:gd name="adj" fmla="val 2333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Projeksiyonda slayt neden ters konur?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f ile 2f arasında olduğu için görüntü ters düşer; slayt ters konarak perdede düz görünmesi sağlanır.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08 · Mercekler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Mercek denklemi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yaklaştıkça görüntü uzaklaşır ve büyür.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594360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783080"/>
            <a:ext cx="4647895" cy="868680"/>
          </a:xfrm>
          <a:prstGeom prst="roundRect">
            <a:avLst>
              <a:gd name="adj" fmla="val 10526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1783080"/>
            <a:ext cx="4647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1/f = 1/a + 1/b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|b / a|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834640"/>
            <a:ext cx="4647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kenarlıda f pozitif, kalın kenarlıda negatiftir.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pozitifse görüntü merceğin öbür tarafında ve gerçektir.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negatifse görüntü cisimle aynı tarafta ve sanaldır.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2f iken b = 2f ve büyütme 1 olur.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odağa yaklaşınca b sonsuza gider: görüntü oluşmaz.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08 · Mercekler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Göz ve göz kusurları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retinaya düşmelidir; düşmezse mercek devreye girer.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2286000"/>
          </a:xfrm>
          <a:prstGeom prst="roundRect">
            <a:avLst>
              <a:gd name="adj" fmla="val 56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1965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Miyop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 çok kırıcıdır ya da göz küresi uzundur; görüntü retinanın ÖNÜNDE oluşur.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uzağı göremez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32918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kalın kenarlı · eksi numara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2286000"/>
          </a:xfrm>
          <a:prstGeom prst="roundRect">
            <a:avLst>
              <a:gd name="adj" fmla="val 56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9672" y="1965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Hipermetrop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24688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 yeterince kırıcı değildir; görüntü retinanın ARKASINA düşer.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yakını göremez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759952" y="32918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ince kenarlı · artı numara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25196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CECF0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2519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miyop: P = −1 / d(uzak nokta)        hipermetrop: P = 1/0,25 − 1/d(yakın nokta)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5120640"/>
            <a:ext cx="5349240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0120" y="51206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Astigmat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51206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Kornea küresel değildir; silindirik camla düzeltilir.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99632" y="5120640"/>
            <a:ext cx="5349240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519672" y="51206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Presbiyopi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028432" y="51206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Yaşla birlikte uyum (akomodasyon) yeteneğinin azalmasıdır.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08 · Mercekler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gerçek görüntü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 mercek.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uzaklığı 20 cm olan ince kenarlı merceğin 30 cm önüne bir cisim konuyor.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Görüntünün yeri ve büyütmesi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60 cm · m = 2 (gerçek, ters)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1/20 = 1/30 + 1/b → 1/b = 1/20 − 1/30 = (3 − 2)/60 = 1/60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60 cm; pozitif olduğu için görüntü gerçek ve merceğin öbür tarafında.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|b/a| = 60/30 = 2 → ters ve iki kat büyük.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f ile 2f arasında: projeksiyon düzeni.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08 · Mercekler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büyüteç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odağın içinde.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uzaklığı 15 cm olan merceğin 10 cm önündeki cismin görüntüsü nasıldır?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−30 cm · m = 3 (sanal, düz)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1/15 = 1/10 + 1/b → 1/b = 1/15 − 1/10 = (2 − 3)/30 = −1/30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−30 cm: eksi işaret görüntünün cisimle aynı tarafta, yani sanal olduğunu gösterir.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|−30/10| = 3 → düz ve üç kat büyük.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Büyüteçle okurken gördüğünüz görüntü tam olarak budur.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08 · Mercekler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kalın kenarlı ve gözlük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hesap bir arada.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Odak uzaklığı 20 cm olan kalın kenarlı merceğin 30 cm önündeki cismin görüntüsü nerededir?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Uzak noktası 50 cm olan miyop göz için gözlük numarası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b = −12 cm, m = 0,4 · (b) −2 diyoptri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kenarlıda f = −20 cm: 1/(−20) = 1/30 + 1/b → 1/b = −5/60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−12 cm → sanal; m = 12/30 = 0,4 → düz ve küçük.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Gözlük, sonsuzdaki cismi uzak noktaya düşürmelidir: f = −50 cm = −0,5 m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1/f = −2 diyoptri; eksi numara kalın kenarlı mercek demektir.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08 · Mercekler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kenarlıyı ince mercek sanmak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Adı kenarından gelir; ortası kalındır ve toplar.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kenarlıda gerçek görüntü aramak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her zaman sanal, düz ve küçüktür.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Miyopa ince kenarlı cam vermek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Miyop, kalın kenarlı (eksi numaralı) camla düzeltilir.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Diyoptriyi santimetreyle hesaplamak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1/f bağıntısında f metre cinsinden olmalıdır.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 görüntüyü perdeye düşürmek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gerçek görüntüler perdeye düşer.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odaktayken görüntü oluşur sanmak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Işınlar paralel çıkar; görüntü sonsuzdadır.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08 · Mercekler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Kenarı ince olan toplar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206654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 f &gt; 0, kalın kenarlı f &lt; 0.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ışın yeter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9992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→ odaktan; merkezden geçen → doğrultusunu korur.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denklem her şeyi verir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39319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1/f = 1/a + 1/b, m = |b/a|, P = 1/f.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 de bir mercektir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Miyop kalın kenarlıyla, hipermetrop ince kenarlıyla düzeltilir.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Işın çizimi laboratuvarı, göz kusurları ve perdeye net görüntü: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Mercekler</dc:title>
  <dc:subject>Fizik · Optik</dc:subject>
  <dc:creator>Dersler</dc:creator>
  <cp:lastModifiedBy>Dersler</cp:lastModifiedBy>
  <cp:revision>1</cp:revision>
  <dcterms:created xsi:type="dcterms:W3CDTF">2026-09-18T22:02:16Z</dcterms:created>
  <dcterms:modified xsi:type="dcterms:W3CDTF">2026-09-18T22:02:16Z</dcterms:modified>
</cp:coreProperties>
</file>