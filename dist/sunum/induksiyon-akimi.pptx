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Lst>
  <p:notesMasterIdLst>
    <p:notesMasterId r:id="rId4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notesMaster" Target="notesMasters/notesMaster1.xml"/><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Pil yok, priz yok, yalnızca dönen bir tekerlek: bisiklet farı nasıl yanıyor? Evindeki prizden gelen elektriğin büyük bölümü de aynı fikirden doğuyor: bir bobinin içinden geçen manyetik alan değişirse, o bobinde akım doğar. Faraday bunu 1831'de bir mıknatısı bobinin içinde ileri geri oynatarak buldu. Bugün barajlar, rüzgâr türbinleri, termik santraller ve arabaların alternatörleri hep aynı şeyi yapıyor — hareketi, akı değişimine çevirmek. Bu anlatım dört basamakta ilerliyor: önce akıyı ve değişimin gücünü sezgiyle tanıyacağız; sonra Faraday yasasını, akımın yönünü, kayan çubuğu ve jeneratörü bağıntılarıyla çıkaracağız; ardından girdap akımlarına ve ince durumlara geçeceğiz. En sonda kolaydan zora sıralanmış örneklerle hepsini birlikte kullanacağız.
Kapak görseli: Rüzgâr türbinleri indüksiyonun en görünür yüzü. Rüzgâr kanatları çevirir; kanatların mili gövdedeki jeneratörde mıknatısları ve bobinleri birbirine göre döndürür, böylece bobinlerden geçen akı sürekli değişir. Faraday yasası bu değişimi gerilime çevirir: hareket durursa elektrik de durur.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Açılış sorusu — sınıfa sorup birkaç cevap alın, sonra konuya geçin.
Pil yok, priz yok, yalnızca dönen bir tekerlek: bisiklet farı nasıl yanıyor? Evindeki prizden gelen elektriğin büyük bölümü de aynı fikirden doğuyor: bir bobinin içinden geçen manyetik alan değişirse, o bobinde akım doğar. Faraday bunu 1831'de bir mıknatısı bobinin içinde ileri geri oynatarak buldu. Bugün barajlar, rüzgâr türbinleri, termik santraller ve arabaların alternatörleri hep aynı şeyi yapıyor — hareketi, akı değişimine çevirmek. Bu anlatım dört basamakta ilerliyor: önce akıyı ve değişimin gücünü sezgiyle tanıyacağız; sonra Faraday yasasını, akımın yönünü, kayan çubuğu ve jeneratörü bağıntılarıyla çıkaracağız; ardından girdap akımlarına ve ince durumlara geçeceğiz. En sonda kolaydan zora sıralanmış örneklerle hepsini birlikte kullanacağız.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derste:
1. Temel — Önce sezgi: akım nereden doğuyor, akı ne demek ve doğa değişime neden karşı koyuyor? Bu basamakta hesap yok denecek kadar az.
   01 Önce gözlemle: bisiklet farı nasıl yanar?
   02 Manyetik akı
   03 Faraday'ın keşfi: değişim akım doğurur
   04 Lenz yasası: doğa değişime direnir
2. Orta — Bağıntılar: Faraday yasasını kullan, akımın yönünü bul, kayan çubuğun ve dönen çerçevenin emk'sini adım adım çıkar.
   05 Faraday indüksiyon yasası
   06 İndüksiyon akımının yönü
   07 Hareketli iletken çubuk
   08 Sayılarla hisset: ne kadar emk?
   09 Jeneratör ve alternatif akım
3. İleri — Derinleşme: akım bir telde değil de bütün bir metal parçada dolaşınca, devre açıkken ya da motor dönerken ne olur?
   10 Girdap akımları: bakır boru deneyi
   11 İnce durumlar: açık devre, karşı emk, öz-indüksiyon
   12 İndüksiyon gerçek dünyada
4. Pekiştir — Kolaydan zora çözümlü örnekler ve sınavda puan kaybettiren klasik hatalar.
   13 Çözümlü örnekler
   14 Sık yapılan hatalar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Basamak 1 — Temel: Önce sezgi: akım nereden doğuyor, akı ne demek ve doğa değişime neden karşı koyuyor? Bu basamakta hesap yok denecek kadar az.
01 Önce gözlemle: bisiklet farı nasıl yanar?
02 Manyetik akı
03 Faraday'ın keşfi: değişim akım doğurur
04 Lenz yasası: doğa değişime direnir
Görsel: Birçok bisiklet farı pille değil, tekerleğin hareketiyle çalışan küçük bir dinamoyla yanar. Bu bisiklette ön çataldaki dinamonun tırtıklı başlığı lastiğe bastırıyor: tekerlek döndükçe başlık da döner ve dinamonun içindeki mıknatısı çevirir. Bobinden geçen manyetik alan sürekli değiştiği için bobinde akım doğar ve kablo bu akımı fara taşır. Bisiklet hızlandıkça değişim hızlanır, far daha parlak yanar; bisiklet durunca far da söner.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Önce gözlemle: bisiklet farı nasıl yanar?
Kısaca: Dinamoda dönen mıknatıs bobinde akım doğurur; mıknatıs hızlandıkça akım artar, durunca akım kesilir. Akımı doğuran mıknatısın kendisi değil, hareketinin yarattığı değişimdir.
Birçok bisiklette farın pili yoktur. Ön tekerleğin yanına küçük bir dinamo takılır; dinamonun başlığı tekerleğe değer ve tekerlek döndükçe o da döner. Dinamonun içinde temelde iki parça vardır: dönen bir mıknatıs ve onun çevresinde duran bir tel bobini. Aralarında hiçbir kablo bağlantısı yoktur, ama bobinin uçlarına bağlı far yanar.
Görsel: Birçok bisiklet farı pille değil, tekerleğin hareketiyle çalışan küçük bir dinamoyla yanar. Bu bisiklette ön çataldaki dinamonun tırtıklı başlığı lastiğe bastırıyor: tekerlek döndükçe başlık da döner ve dinamonun içindeki mıknatısı çevirir. Bobinden geçen manyetik alan sürekli değiştiği için bobinde akım doğar ve kablo bu akımı fara taşır. Bisiklet hızlandıkça değişim hızlanır, far daha parlak yanar; bisiklet durunca far da söner.
Dinamolu bir bisikletle yola çıkan herkes aynı dört şeyi fark eder:
• Dönerse yanar: tekerlek döndükçe far yanar, bisiklet durunca söner.
• Hızlandıkça parlar: pedalı hızlı çevirdiğinde far daha parlak yanar.
• Pedal ağırlaşır: dinamo çalışırken pedal çevirmek biraz daha zor gelir.
• Pil harcanmaz: farın enerjisi tükenmez, çünkü enerji senin bacaklarından gelir.
Demek ki akımı doğuran şey mıknatısın kendisi değil, mıknatısın hareketidir. Güçlü bir mıknatıs bobinin yanında kıpırdamadan dursaydı hiçbir şey olmazdı. Bu anlatımın bütün hikâyesi bu küçük gözlemden çıkıyor: değişen bir manyetik alan akım doğurur ve bunun bedelini hareketi sağlayan öder.
Düşün: Dinamolu farı olan bisikletçi kırmızı ışıkta durunca farı neden söner?
Cevap: Tekerlek durunca dinamodaki mıknatıs da durur. Bobinden geçen alan artık değişmediği için bobinde akım doğmaz ve far söner. Bazı modern farlarda bu yüzden, hareket sırasında dolan ve durunca bir süre ışık veren küçük bir enerji deposu bulunur.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Dinamolu farı olan bisikletçi kırmızı ışıkta durunca farı neden söner?
Sınıfa sorun, birkaç tahmin alın; sonra cevap slaytına geçin.
Cevap: Tekerlek durunca dinamodaki mıknatıs da durur. Bobinden geçen alan artık değişmediği için bobinde akım doğmaz ve far söner. Bazı modern farlarda bu yüzden, hareket sırasında dolan ve durunca bir süre ışık veren küçük bir enerji deposu bulunur.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Tekerlek durunca dinamodaki mıknatıs da durur. Bobinden geçen alan artık değişmediği için bobinde akım doğmaz ve far söner. Bazı modern farlarda bu yüzden, hareket sırasında dolan ve durunca bir süre ışık veren küçük bir enerji deposu bulunur.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Manyetik akı
Kısaca: Manyetik akı, bir yüzeyden geçen alan çizgisi miktarıdır: Φ = B·A·cosα, birimi weber. Alan yüzeye dikken akı en büyük, paralelken sıfırdır.
“Bobinden geçen alan değişir” sözünü ölçülebilir kılmak için yeni bir büyüklük gerekir. Bir yüzeyden geçen manyetik alan çizgilerinin sayısına manyetik akı (Φ) denir. Birimi weber (Wb)'dir.
Yağmurun altında bir çember tuttuğunu düşün. Çemberin içinden geçen damla sayısı üç şeye bağlıdır: yağmurun şiddetine, çemberin büyüklüğüne ve çemberi nasıl tuttuğuna. Çemberi yere paralel tutarsan en çok damla geçer; yan çevirirsen hiçbiri geçmez. Akı da aynıdır: alanın şiddeti (B), yüzeyin alanı (A) ve aradaki açı.
Φ = B · A · cosα   1 Wb = 1 T·m²
Buradaki α, alan ile yüzeyin normali (yüzeye dik doğrultu) arasındaki açıdır. Üç durum önemlidir:
• Alan yüzeye dik (α = 0): akı en büyüktür, Φ = B·A.
• Alan yüzeye paralel (α = 90°): akı sıfırdır.
• Akı; B, A ya da α'dan herhangi biri değiştiğinde değişir.
Görsel: Manyetik akı, çerçevenin içinden kaç alan çizgisinin geçtiğidir. Çerçeveyi eğdikçe alan çizgilerine gösterdiği yüzey küçülür — sanki alanın gördüğü "gölgesi" daralır. Tam yan çevirdiğinde hiçbir çizgi içeriden geçmez ve akı sıfırlanır. Bağıntıdaki cosα çarpanı tam olarak bu gölgeyi hesaplar.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Faraday'ın keşfi: değişim akım doğurur
Kısaca: Akı değiştiğinde devrede emk ve indüksiyon akımı doğar; sabit alan ne kadar güçlü olursa olsun akım üretmez. Değişim hızlandıkça ve sarım sayısı arttıkça emk büyür.
Oersted 1820'de akımın manyetik alan ürettiğini göstermişti. Faraday tersini merak etti: manyetik alan akım üretebilir mi? Uzun süre sonuç alamadı; bobinin yanında duran mıknatıs, galvanometreyi (küçük akımları ölçen alet) kıpırdatmıyordu. 1831'de sırrı buldu: mıknatıs hareket ettiği anda iğne sapıyor, mıknatıs durunca sıfıra dönüyordu.
Belirleyici olan değişimdir. Güçlü ama sabit bir alan hiçbir akım üretmez. Mıknatıs bobinin içinde hareketsiz dururken galvanometre sıfırı gösterir; hareket başladığı anda sapar.
Akı değiştiğinde devrede bir elektromotor kuvvet (emk) doğar; emk, devrede akımı süren gerilimdir ve pilin gerilimi gibi volt ile ölçülür. Bu olaya elektromanyetik indüksiyon, doğan akıma indüksiyon akımı denir. Akıyı değiştirmenin üç yolu vardır:
• Alanı değiştir: mıknatısı yaklaştır ya da uzaklaştır, yakındaki bir bobinin akımını değiştir.
• Yüzeyi değiştir: devrenin bir kenarını kaydırarak çevrelenen alanı büyüt ya da küçült.
• Açıyı değiştir: bobini alanın içinde döndür; jeneratörler böyle çalışır.
Görsel: Akım üreten şey alanın büyüklüğü değil, akının değişim hızıdır. Mıknatısı ne kadar hızlı hareket ettirirsen ΔΦ/Δt o kadar büyür ve galvanometre iğnesi o kadar çok sapar. Mıknatısı bobinin içinde durdurursan, alan hâlâ güçlü olmasına rağmen akım tamamen kesilir. Sarım sayısını artırmak da emk'yı aynı oranda büyütür.
Sayfanın 01 numaralı deneyindeki hazır düğmelerle üç kuralı kendin sınayabilirsin: “Hızlı geçiş” galvanometreyi “Yavaş geçiş”ten çok saptırır, “Sarım 3 katı” emk'yi büyütür, “Duran mıknatıs” ise hiçbir şey üretmez.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Lenz yasası: doğa değişime direnir
Kısaca: İndüksiyon akımı, kendisini doğuran değişime karşı koyar: yaklaşan mıknatısı iter, uzaklaşanı çeker. Bu karşı koyma, enerjinin korunumunun gereğidir.
İndüksiyon akımı, kendisini doğuran akı değişimine karşı koyacak yönde akar. Bu kuralı 1834'te Heinrich Lenz ortaya koydu ve kural, enerjinin korunumunun doğrudan bir sonucudur.
• Akı artıyorsa: indüksiyon akımı, artışı azaltacak yönde alan üretir.
• Akı azalıyorsa: akım, azalmayı telafi edecek yönde alan üretir.
Bu yüzden mıknatısı bobine yaklaştırırken bir itme, uzaklaştırırken bir çekme hissedersin. Mıknatısı hareket ettirmek için yaptığın iş, devrede üretilen elektrik enerjisine dönüşür. Bisiklette pedalın ağırlaşması da budur: dinamodaki akım, mıknatısın dönüşünü frenleyen bir etki yaratır.
Lenz olmasaydı ne olurdu? Akım değişimi desteklerdi; sistem kendi kendini hızlandırır, bedava enerji üretirdi. Faraday yasasında birazdan göreceğin eksi işareti, enerji korunumunun bekçisidir.
Görsel: Lenz yasası tek cümledir: indüklenen akım, kendisini doğuran değişime karşı çıkacak yönde akar. Mıknatıs yaklaşırken bobin ona bakan yüzünü aynı kutup yapar ve iter; uzaklaşırken zıt kutup yapar ve çeker. Yani mıknatısı hareket ettirmek için iş yapman gerekir — üretilen elektrik enerjisi tam olarak buradan gelir. Aksi olsaydı hareket kendini besler, enerjinin korunumu çökerdi.
Düşün: Bobinin uçları birbirine bağlı değilse, mıknatısı yaklaştırırken yine itme hisseder misin?
Cevap: Hayır. Devre açık olduğu için bobinin uçları arasında emk doğar ama akım akamaz. Akım yoksa bobin mıknatıs gibi davranmaz ve mıknatısı itmez. Uçları birleştirdiğin anda akım akar, itme de başlar.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Bobinin uçları birbirine bağlı değilse, mıknatısı yaklaştırırken yine itme hisseder misin?
Sınıfa sorun, birkaç tahmin alın; sonra cevap slaytına geçin.
Cevap: Hayır. Devre açık olduğu için bobinin uçları arasında emk doğar ama akım akamaz. Akım yoksa bobin mıknatıs gibi davranmaz ve mıknatısı itmez. Uçları birleştirdiğin anda akım akar, itme de başlar.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Hayır. Devre açık olduğu için bobinin uçları arasında emk doğar ama akım akamaz. Akım yoksa bobin mıknatıs gibi davranmaz ve mıknatısı itmez. Uçları birleştirdiğin anda akım akar, itme de başlar.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Basamak 2 — Orta: Bağıntılar: Faraday yasasını kullan, akımın yönünü bul, kayan çubuğun ve dönen çerçevenin emk'sini adım adım çıkar.
05 Faraday indüksiyon yasası
06 İndüksiyon akımının yönü
07 Hareketli iletken çubuk
08 Sayılarla hisset: ne kadar emk?
09 Jeneratör ve alternatif akım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Faraday indüksiyon yasası
Kısaca: İndüklenen emk, akının değişim hızıyla ve sarım sayısıyla orantılıdır: ε = −N·ΔΦ/Δt. Wb/s birimi volta eşittir; emk, Φ–t grafiğinin eğimidir.
Bir devreden geçen manyetik akı değiştiğinde devrede bir elektromotor kuvvet (emk) indüklenir. Bu emk'nin büyüklüğü, akının değişim hızıyla orantılıdır:
ε = −N · ΔΦ / Δt   I = ε / R
N sarım sayısıdır: aynı akı değişimi N kez sayıldığı için emk sarımla doğru orantılı büyür. Her sarım küçük bir pil gibidir ve sarımlar seri bağlı piller gibi gerilimlerini toplar. Baştaki eksi işareti yönü anlatır (Lenz yasası). Bir soruda yasayı beş adımda uygula:
• İlk akı: Φ₁ = B₁·A₁·cosα₁
• Son akı: Φ₂ = B₂·A₂·cosα₂
• Değişim: ΔΦ = Φ₂ − Φ₁ (artıyor mu, azalıyor mu?)
• emk: |ε| = N·|ΔΦ| / Δt; Δt sonlu bir süreyse bu, o süredeki ortalama emk'dir.
• Akım: I = ε / R; yönünü Lenz yasası verir.
Birim kontrolü: Wb/s = T·m²/s. 1 T = 1 N/(A·m) olduğundan T·m²/s = N·m/(A·s) = J/C = V ✓. Akının değişim hızı gerçekten bir gerilimdir.
Düşün: Φ–t grafiğinde akının tepe yaptığı anda emk neden sıfırdır?
Cevap: Emk, akının değişim hızıdır, yani Φ–t eğrisinin eğimidir. Tepe noktasında eğri bir an için yatay olur; akı büyük ama o an değişmiyordur. Sayfanın 01 numaralı deneyinde mıknatıs bobinin ortasına geldiğinde ε–t eğrisinin sıfırdan geçmesi bu yüzdendir.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Φ–t grafiğinde akının tepe yaptığı anda emk neden sıfırdır?
Sınıfa sorun, birkaç tahmin alın; sonra cevap slaytına geçin.
Cevap: Emk, akının değişim hızıdır, yani Φ–t eğrisinin eğimidir. Tepe noktasında eğri bir an için yatay olur; akı büyük ama o an değişmiyordur. Sayfanın 01 numaralı deneyinde mıknatıs bobinin ortasına geldiğinde ε–t eğrisinin sıfırdan geçmesi bu yüzdendir.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Emk, akının değişim hızıdır, yani Φ–t eğrisinin eğimidir. Tepe noktasında eğri bir an için yatay olur; akı büyük ama o an değişmiyordur. Sayfanın 01 numaralı deneyinde mıknatıs bobinin ortasına geldiğinde ε–t eğrisinin sıfırdan geçmesi bu yüzdendir.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İndüksiyon akımının yönü
Kısaca: Önce akının artıp azaldığına bak: artıyorsa indüklenen alan zıt, azalıyorsa aynı yöndedir. Sonra bu alanı üretecek akım yönünü sağ el kuralıyla bul.
Yönü bulmanın pratik yolu üç adımdır:
• Devreden geçen akının yönünü ve artıyor mu azalıyor mu olduğunu belirle.
• Lenz'e göre indüksiyon akımının hangi yönde alan üretmesi gerektiğini bul (artışa karşı zıt, azalmaya karşı aynı yönde).
• Sağ el kuralıyla, bu alanı üretecek akım yönünü belirle.
Görsel: Yönü bulmak için tek bir soru yeter: akı artıyor mu, azalıyor mu? Artıyorsa indüklenen akım, artışı frenlemek için zıt yönde bir alan üretir; azalıyorsa azalmayı yavaşlatmak için aynı yönde bir alan üretir. İndüklenen alanın yönünü bulduktan sonra akımın yönünü sağ el kuralıyla okursun.
Bobine hangi kutbun, hangi yönde geldiğine göre dört durum vardır. Hepsinde bobinin mıknatısa bakan yüzü, hareketi zorlaştıracak kutbu alır:
Mıknatıs | Akı | İndüklenen alan | Bobinin yüzü
N kutbu yaklaşıyor | artıyor | zıt yönde | N (iter)
N kutbu uzaklaşıyor | azalıyor | aynı yönde | S (çeker)
S kutbu yaklaşıyor | artıyor | zıt yönde | S (iter)
S kutbu uzaklaşıyor | azalıyor | aynı yönde | N (çeker)
Yüzün kutbunu bulduktan sonra akım yönü kolaydır: mıknatıstan bakıldığında N gibi davranan yüzde akım saatin tersi yönde, S gibi davranan yüzde saat yönünde döner. Sayfadaki 01 numaralı deneyde mıknatıs yaklaşırken akım bir yöne, uzaklaşırken ters yöne akar; galvanometre iki kez, zıt yönlerde sapar.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Hareketli iletken çubuk
Kısaca: Alanda kayan çubuk ε = B·L·v emk'si üretir; doğan akım çubuğa harekete zıt F = B²L²v/R kuvveti uygular. Çubuğu itmek için harcanan güç, dirençte ısıya dönüşen güce eşittir.
Manyetik alan içinde, raylar üzerinde v hızıyla kayan L uzunluğundaki çubuk için akı değişimi ΔΦ = B·L·v·Δt olur ve emk:
ε = B · L · v   I = B·L·v / R   F = B·I·L = B²L²v / R
• Alan büyür: Çubuk Δt sürede v·Δt kadar kayar; devrenin çevrelediği yüzey ΔA = L·v·Δt kadar büyür.
• Akı artar: Alan yüzeye dik olduğundan ΔΦ = B·ΔA = B·L·v·Δt.
• Faraday: ε = ΔΦ/Δt = B·L·v; Δt sadeleşir.
• İkinci bakış: Çubuktaki yükler v hızıyla alanda hareket eder; çubuk boyunca q·v·B kuvveti görür ve bir uca itilir. Çubuk bir pil gibi davranır.
Bu kuvvet harekete zıt yöndedir: çubuğu sabit hızla sürmek için dışarıdan bir kuvvet uygulanmalıdır. Harcanan mekanik güç (F·v), devrede açığa çıkan elektriksel güce (I²R) eşittir — enerji korunur. Sayfanın 03 numaralı deneyindeki başlangıç değerleriyle (B = 0,5 T, L = 0,5 m, v = 4 m/s, R = 2 Ω): ε = 1 V, I = 0,5 A, F = 0,125 N ve F·v = I²R = 0,5 W.
Görsel: Çubuk sağa kaydıkça devrenin çevrelediği alan büyür, akı artar ve devrede akım doğar. Ama bu akım da alanın içindedir: ona etkiyen manyetik kuvvet harekete zıt yöndedir (kırmızı ok). Yani çubuğu sabit hızla sürüklemek için sürekli kuvvet uygulamak gerekir — harcadığın mekanik güç, direnç üzerinde ısıya dönüşen elektriksel güce eşittir.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Sayılarla hisset: ne kadar emk?
Kısaca: Elle oynatılan mıknatıs birkaç on milivolt, sayfadaki çubuk 1 V, saniyede 50 tur atan küçük bir jeneratör yüzlerce volt üretir. Emk'yi belirleyen, değişimin hızıdır.
Faraday yasasının verdiği gerilimler durumdan duruma çok değişir. Tanıdık düzeneklerde ne kadar emk doğduğuna bakalım:
Durum | Değerler | emk
Mıknatısı elle bobine sokmak | 200 sarım, ΔΦ = 3·10⁻⁵ Wb, 0,2 s | 0,03 V
Uçan yolcu uçağının kanatları | B = 40 µT, L = 60 m, v = 250 m/s | 0,6 V
Sayfadaki 03 çubuğu | B = 0,5 T, L = 0,5 m, v = 4 m/s | 1 V
Sayfadaki 02 jeneratörü | 100 sarım, 0,02 m², 0,5 T, 2 tur/s | 12,6 V (tepe)
Aynı jeneratör, 50 tur/s | 100 sarım, 0,02 m², 0,5 T | 314 V (tepe)
Tablodan okunan düzen: emk'yi alanın büyüklüğünden çok değişimin hızı belirler. Aynı jeneratör 25 kat hızlı dönünce 25 kat büyük gerilim üretir; saniyede 50 tur, şebekenin gerilimine yaklaşan bir değer verir. Elle oynatılan bir mıknatıs ise yalnızca birkaç on milivolt üretir; Faraday'ın hassas bir galvanometreye ihtiyaç duyması bu yüzdendir. Uçak örneğinde alan, Dünya'nın zayıf alanının düşey bileşenidir; buna rağmen kanatların uzunluğu ve uçağın hızı yarım voltu aşan bir emk doğurur.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Jeneratör ve alternatif akım
Kısaca: Dönen çerçevede akı kosinüs, emk sinüs gibi değişir ve tepe emk N·B·A·ω'dır. Akı en büyükken emk sıfır, akı sıfırken emk en büyüktür; sonuç alternatif akımdır.
Düzgün alan içinde sabit hızla dönen bir çerçevede akı sürekli değişir:
Φ = B·A·cos(ω·t)   ε = N·B·A·ω·sin(ω·t)   ε(maks) = B·A·ω·N
Burada ω, çerçevenin açısal hızıdır (ω = 2π·f). Tepe değer, hareketli çubuk bağıntısından adım adım çıkar:
• Çerçevenin eksene paralel iki kenarı a uzunluğunda, eksenden b/2 uzaktadır; ikisi de v = ω·b/2 hızıyla döner.
• Çerçeve alana paralelken bu kenarlar alana dik hareket eder; her biri ε = B·a·v emk'si üretir.
• İki kenar seri bağlıdır: ε = 2·B·a·ω·b/2 = B·A·ω (A = a·b). N sarımda N·B·A·ω.
• Başka konumlarda hızın yalnızca alana dik bileşeni sayılır; bu da sin(ω·t) çarpanını getirir.
Üretilen emk sinüs biçiminde değişir ve yön değiştirir: buna alternatif akım (AC) denir. Çerçeve alana dik olduğunda akı en büyüktür ama değişim hızı sıfırdır, dolayısıyla emk sıfırdır; çerçeve alana paralel olduğunda ise akı sıfır, emk en büyüktür.
Görsel: Çerçeve döndükçe içinden geçen akı kosinüs gibi salınır. Emk ise akının değişim hızıyla orantılı olduğu için sinüs olur — yani ikisi arasında çeyrek periyot fark vardır. Akının en büyük olduğu anda emk sıfırdır (o an akı değişmiyordur); akının sıfır olduğu anda ise emk en büyüktür. Şehir şebekesindeki alternatif akım tam olarak bu eğridir.
Türkiye'de şebeke: 230 V, 50 Hz. Yani iki kutuplu bir jeneratörün çerçevesi saniyede 50 tam tur atar ve gerilim saniyede 50 kez tam çevrim yapar. 230 V, gerilimin etkin değeridir; tepe değeri 230·√2 ≈ 325 V'tur.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Basamak 3 — İleri: Derinleşme: akım bir telde değil de bütün bir metal parçada dolaşınca, devre açıkken ya da motor dönerken ne olur?
10 Girdap akımları: bakır boru deneyi
11 İnce durumlar: açık devre, karşı emk, öz-indüksiyon
12 İndüksiyon gerçek dünyada
Görsel: İndüksiyonlu ocakta ısı camdan değil, tencerenin kendisinden doğar. Camın altındaki bobinin hızla değişen alanı çelik tabanda girdap akımları oluşturur ve tabanı ısıtır; cam yalnızca sıcak tencereye değdiği yerde ısınır. Yanındaki buz küpünün erimeden durabilmesi bundandır.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Girdap akımları: bakır boru deneyi
Kısaca: Değişen alanın içindeki iletkenlerde girdap akımları doğar ve Lenz yasası gereği hareketi frenler. Bakır boruda mıknatıs, plastik borudakinden on kattan fazla uzun sürede düşer.
Faraday yasası yalnızca bobinler için geçerli değildir. Değişen bir alanın içindeki her iletken parçada, metalin içinde kapalı halkalar çizen akımlar doğar: girdap akımları. Lenz yasası gereği bu akımlar da değişime karşı koyar ve hareketi frenler.
Sayfanın 04 numaralı deneyinde aynı mıknatıs 1,2 m'lik iki borudan bırakılıyor. Plastik boruda serbest düşerek yaklaşık 0,49 saniyede iner. Bakır boruda ise mıknatısın altındaki bölgede akı artar, üstündeki bölgede azalır; boru çeperinde doğan girdap akımları mıknatısı yukarı iter. Mıknatıs neredeyse hemen sabit ve küçük bir hıza ulaşır ve boruyu yaklaşık 5,5 saniyede, on kattan da yavaş geçer. Kaybolan potansiyel enerji boruda ısıya dönüşür.
Görsel: Bakır mıknatıslanmaz — ama iletkendir. Mıknatıs boruya girerken boru duvarında halka halka girdap akımları doğar ve Lenz yasası gereği bu akımlar mıknatısı frenler. Sonuç şaşırtıcı: aynı mıknatıs plastik boruda yarım saniyede düşerken bakır boruda on kat uzun sürede iner. Hiçbir temas, hiçbir sürtünme olmadan frenleme — aynı ilke ağır vasıtaların girdap akımı frenlerinde kullanılır.
• Girdap akımı freni: Lenz kuvvetiyle temassız frenleme; ağır vasıtalarda ve trenlerde balatayı aşındırmadan yavaşlatır.
• Metal dedektörü: değişen alan metalde girdap akımları doğurur; bu akımların alanı dedektörün bobinince algılanır.
• İnce levhalı çekirdek: transformatör çekirdekleri yalıtılmış ince levhalardan yapılır; girdap akımlarının yolu kesilir, ısı kaybı azalır.
Düşün: Bakır boruyu boylamasına kesip ince bir yarık açarsan mıknatıs daha hızlı mı düşer?
Cevap: Evet. Girdap akımları borunun çevresinde halka biçiminde dolaşır; yarık bu halkaları keser. Akımlar zayıflayınca frenleyen kuvvet de zayıflar ve mıknatıs belirgin biçimde daha hızlı düşer. Transformatör çekirdeğini ince levhalara bölmek de aynı fikre dayanır.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Bakır boruyu boylamasına kesip ince bir yarık açarsan mıknatıs daha hızlı mı düşer?
Sınıfa sorun, birkaç tahmin alın; sonra cevap slaytına geçin.
Cevap: Evet. Girdap akımları borunun çevresinde halka biçiminde dolaşır; yarık bu halkaları keser. Akımlar zayıflayınca frenleyen kuvvet de zayıflar ve mıknatıs belirgin biçimde daha hızlı düşer. Transformatör çekirdeğini ince levhalara bölmek de aynı fikre dayanır.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Evet. Girdap akımları borunun çevresinde halka biçiminde dolaşır; yarık bu halkaları keser. Akımlar zayıflayınca frenleyen kuvvet de zayıflar ve mıknatıs belirgin biçimde daha hızlı düşer. Transformatör çekirdeğini ince levhalara bölmek de aynı fikre dayanır.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İnce durumlar: açık devre, karşı emk, öz-indüksiyon
Kısaca: Açık devrede emk vardır ama akım yoktur. Dönen motor karşı emk üretir ve akımını azaltır; bobin kendi akımındaki değişime de direnir (öz-indüksiyon).
Faraday yasasını doğru kullanmak için dört ince noktayı bilmek gerekir. Hepsi aynı ilkeye dayanır, ama ilk bakışta şaşırtır:
• Açık devre: emk doğar ama akım akmaz. Uçağın kanat uçları arasında 0,6 V vardır, ama uçakla birlikte hareket eden bir devrenin akısı değişmediği için akım dolaşmaz.
• Karşı emk: dönen her motor aynı zamanda bir jeneratördür ve beslemeye karşı bir emk üretir. Motorun çektiği akım bu yüzden dönerken azalır.
• Öz-indüksiyon: bobinin kendi akımı değişince kendi akısı da değişir; bobin bu değişime direnir. Anahtar açılınca kıvılcım çıkması bundandır.
• Doğru akım: sabit akım sabit akı demektir; transformatör yalnızca akım açılıp kapanırken, yani akı değişirken emk üretir.
I = (V − εkarşı) / R
Karşı emk'nin etkisini sayılarla görelim: 12 V'luk bir motorun sargı direnci 1 Ω olsun. Motor ilk çalıştığı an henüz dönmediği için karşı emk sıfırdır ve akım 12 A'dir. Motor hızlanıp 10 V'luk karşı emk ürettiğinde akım (12 − 10)/1 = 2 A'e iner. Arabaların çalıştırma anında farların bir an sönükleşmesi, bu büyük ilk akım yüzündendir. İndüksiyon arabaların ateşleme bobininde de işe koşulur: birincil bobindeki akım aniden kesilince hızla çöken manyetik alan, çok sarımlı ikincil bobinde on binlerce voltluk bir emk doğurur ve bujide kıvılcım çakar.
Düşün: Bir elektrik motorunun mili sıkışıp dönemezse motor neden ısınıp yanabilir?
Cevap: Mil dönmezse karşı emk doğmaz ve motor sürekli ilk anın büyük akımını çeker. Sargılarda açığa çıkan ısı akımın karesiyle büyür (I²R); 2 A yerine 12 A akması ısıyı 36 kat artırır. Sargıların yalıtımı bu ısıya dayanamaz ve motor yanar.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Bir elektrik motorunun mili sıkışıp dönemezse motor neden ısınıp yanabilir?
Sınıfa sorun, birkaç tahmin alın; sonra cevap slaytına geçin.
Cevap: Mil dönmezse karşı emk doğmaz ve motor sürekli ilk anın büyük akımını çeker. Sargılarda açığa çıkan ısı akımın karesiyle büyür (I²R); 2 A yerine 12 A akması ısıyı 36 kat artırır. Sargıların yalıtımı bu ısıya dayanamaz ve motor yanar.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Mil dönmezse karşı emk doğmaz ve motor sürekli ilk anın büyük akımını çeker. Sargılarda açığa çıkan ısı akımın karesiyle büyür (I²R); 2 A yerine 12 A akması ısıyı 36 kat artırır. Sargıların yalıtımı bu ısıya dayanamaz ve motor yanar.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İndüksiyon gerçek dünyada
Kısaca: Santraller, rüzgâr türbinleri, dinamolar, indüksiyonlu ocaklar, transformatörler ve temassız kartlar aynı ilkeyle çalışır: bir yerde akı değiştirilir, başka bir yerde akım doğar.
Evine gelen elektrikten cebindeki temassız karta kadar indüksiyon her yerde çalışıyor. Ortak nokta hep aynı: bir yerde akı değiştirilir, başka bir yerde akım doğar.
Görsel: İndüksiyonlu ocakta ısı camdan değil, tencerenin kendisinden doğar. Camın altındaki bobinin hızla değişen alanı çelik tabanda girdap akımları oluşturur ve tabanı ısıtır; cam yalnızca sıcak tencereye değdiği yerde ısınır. Yanındaki buz küpünün erimeden durabilmesi bundandır.
• Santral jeneratörü: iki kutuplu bir jeneratör 50 Hz üretmek için dakikada 3000 tur atar; barajlardaki çok kutuplu jeneratörler daha yavaş döner.
• Rüzgâr türbini: büyük kanatlar dakikada yalnızca 10–20 tur atar; dişli kutuları ya da elektronik dönüştürücüler bunu şebekeye uydurur.
• İndüksiyonlu ocak: bobinin akımı saniyede on binlerce kez yön değiştirir; ısı doğrudan tencerenin demir içeren tabanında doğar.
• Bisiklet dinamosu: tipik bir dinamo yaklaşık 6 V ve 3 W verir; bu, bir bisiklet farını yakmaya yeter.
• Temassız kart: okuyucunun 13,56 MHz'lik alanı karttaki anten bobininde akım doğurur; kartın pili yoktur.
Uygulama | Nasıl çalışır
Jeneratör / dinamo | Dönen çerçevede akı değişimi
Transformatör | Değişen akımın ikinci bobinde akı değişimi yaratması
Kablosuz şarj | Bobinden bobine akı aktarımı
Metal dedektör | Metalde doğan girdap akımlarının alanı bozması
İndüksiyonlu ocak | Tencere tabanında doğan girdap akımlarının ısıtması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İndüksiyon gerçek dünyada (devam)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Basamak 4 — Pekiştir: Kolaydan zora çözümlü örnekler ve sınavda puan kaybettiren klasik hatalar.
13 Çözümlü örnekler
14 Sık yapılan hatalar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1 — Akının açıya bağlılığı (kolay)
Aşağıdaki çözümlerde emk'nin büyüklüğü hesaplanmış, yönü Lenz yasasıyla ayrıca bulunmuştur.
Alanı 0,2 m² olan bir çerçeve, 0,4 T'lık düzgün alan içinde duruyor. Çerçevenin normali alanla (a) 0°, (b) 60°, (c) 90° açı yaptığında akı kaç Wb olur?
1. (a) Φ = B·A·cos0° = 0,4 · 0,2 · 1 = 0,08 Wb
2. (b) Φ = 0,08 · cos60° = 0,08 · 0,5 = 0,04 Wb
3. (c) Φ = 0,08 · cos90° = 0 (alan yüzeye paralel)
4. Çerçeve döndükçe akı bu değerler arasında salınır; jeneratörün temeli budur.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2 — Akı değişiminden emk (kolay)
Aşağıdaki çözümlerde emk'nin büyüklüğü hesaplanmış, yönü Lenz yasasıyla ayrıca bulunmuştur.
200 sarımlı bir bobinden geçen manyetik akı 0,1 saniyede 4·10⁻³ Wb'den 1·10⁻³ Wb'e düşüyor. İndüklenen emk'nin büyüklüğü nedir?
1. ΔΦ = 1·10⁻³ − 4·10⁻³ = −3·10⁻³ Wb
2. |ε| = N·|ΔΦ|/Δt = 200 · 3·10⁻³ / 0,1
3. |ε| = 200 · 0,03 = 6 V
4. Akı azaldığı için indüksiyon akımı, akıyı sürdürecek yönde akar (Lenz).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3 — Lenz yasasıyla yön (orta)
Aşağıdaki çözümlerde emk'nin büyüklüğü hesaplanmış, yönü Lenz yasasıyla ayrıca bulunmuştur.
Bir mıknatısın N kutbu bobine yaklaştırılıyor. Bobinin mıknatısa bakan yüzü hangi kutup gibi davranır ve neden?
1. N kutbu yaklaştıkça bobinden geçen akı artar.
2. Lenz yasası: indüksiyon akımı bu artışa karşı koyar, yani mıknatısı iter.
3. İtebilmesi için bobinin o yüzü N kutbu gibi davranmalıdır.
4. Mıknatıs uzaklaştırılsaydı akı azalırdı; bu kez bobin onu çekmek için S kutbu gibi davranırdı.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4 — Hareketli çubuk (orta)
Aşağıdaki çözümlerde emk'nin büyüklüğü hesaplanmış, yönü Lenz yasasıyla ayrıca bulunmuştur.
0,5 T'lık alanda, 40 cm uzunluğundaki çubuk raylar üzerinde 5 m/s hızla kayıyor. Devrenin direnci 2 Ω'dur. emk, akım ve çubuğa etki eden karşı kuvveti bulunuz.
1. ε = B·L·v = 0,5 · 0,4 · 5 = 1 V
2. I = ε/R = 1/2 = 0,5 A
3. F = B·I·L = 0,5 · 0,5 · 0,4 = 0,1 N (harekete zıt)
4. Kontrol: mekanik güç F·v = 0,5 W; elektriksel güç I²R = 0,25·2 = 0,5 W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5 — Jeneratörün tepe emk'si (zor)
Aşağıdaki çözümlerde emk'nin büyüklüğü hesaplanmış, yönü Lenz yasasıyla ayrıca bulunmuştur.
100 sarımlı, 0,02 m² alanlı bir çerçeve 0,5 T'lık düzgün alanda dönüyor. (a) Saniyede 2 tur atarken, (b) saniyede 50 tur atarken tepe emk nedir? (c) 50 tur/s'de tepe emk'nin şebekenin 325 V'luk tepe değerine ulaşması için en az kaç sarım gerekir? (π ≈ 3,14)
1. (a) ω = 2π·f = 2 · 3,14 · 2 ≈ 12,6 rad/s → εmaks = N·B·A·ω = 100 · 0,5 · 0,02 · 12,6 ≈ 12,6 V
2. (b) ω = 2 · 3,14 · 50 = 314 rad/s → εmaks = 100 · 0,5 · 0,02 · 314 = 314 V
3. (c) Bir sarımın payı 0,5 · 0,02 · 314 = 3,14 V; N = 325 / 3,14 ≈ 103,5 → en az 104 sarım
4. Çerçeve alana dik konumdan geçtiği her an emk sıfırdır; tepe değer, çerçeve alana paralelken görülür.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6 — Sabit kuvvetle çekilen çubuk (zor)
Aşağıdaki çözümlerde emk'nin büyüklüğü hesaplanmış, yönü Lenz yasasıyla ayrıca bulunmuştur.
0,5 T'lık alanda raylar üzerindeki 0,5 m'lik çubuk, 0,5 N'luk sabit bir kuvvetle çekiliyor. Devrenin direnci 2 Ω'dur; sürtünme yoktur. Çubuğun ulaşacağı en büyük hızı, bu hızdaki emk'yi, akımı ve dirençteki gücü bulunuz.
1. Çubuk hızlandıkça karşı kuvvet B²L²v/R büyür; çekme kuvvetine eşitlendiğinde ivme biter.
2. F = B²L²v/R → v = F·R/(B²L²) = 0,5 · 2 / (0,25 · 0,25) = 16 m/s
3. ε = B·L·v = 0,5 · 0,5 · 16 = 4 V; I = ε/R = 2 A
4. P = I²R = 4 · 2 = 8 W. Kontrol: F·v = 0,5 · 16 = 8 W ✓
Bu durum, havada düşen cismin limit hıza ulaşmasına benzer: sürükleyen kuvvet sabit, frenleyen kuvvet hızla büyür ve ikisi eşitlenince hız sabitlenir.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Sık yapılan hatalar
• “Manyetik alan varsa akım vardır.” Akım için alanın değil, akının değişmesi gerekir.
• “Güçlü mıknatıs her zaman daha çok akım üretir.” Belirleyici olan ΔΦ/Δt'dir; yavaş oynatılan güçlü mıknatıs, hızlı oynatılan zayıf mıknatıstan daha az emk üretebilir.
• Lenz'in eksi işaretini büyüklük sanmak. Eksi işareti yalnızca yönü anlatır.
• “İndüksiyon akımı hareketi destekler.” Daima karşı koyar; aksi hâlde enerji korunumu bozulurdu.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Sık yapılan hatalar
• Akıyı alanla karıştırmak. Φ = B·A·cosα; alan aynı kalsa bile yüzey ya da açı değişirse akı değişir.
• “ε = B·L·v her durumda geçerlidir.” Bu bağıntı, çubuğun alana ve kendine dik hareket ettiği özel durum içindir.
• Jeneratörde emk ile akıyı aynı anda en büyük sanmak. Φ en büyükken ε sıfır, Φ sıfırken ε en büyüktür.
• “Devre açıksa emk de yoktur.” Açık devrede de emk doğar; yalnızca akım akmaz. Uçları bir voltmetreye bağlarsan gerilimi ölçersin.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Özet: Akı Φ = B·A·cosα · Faraday ε = −N·ΔΦ/Δt · Lenz değişime karşı · Çubuk ε = B·L·v
Φ = B · A · cosα — manyetik akı (weber)
ε = −N · ΔΦ / Δt — Faraday indüksiyon yasası
ε = B · L · v — hareketli iletken çubuk
I = ε / R — indüksiyon akımı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426"/>
        </a:solidFill>
      </p:bgPr>
    </p:bg>
    <p:spTree>
      <p:nvGrpSpPr>
        <p:cNvPr id="1" name=""/>
        <p:cNvGrpSpPr/>
        <p:nvPr/>
      </p:nvGrpSpPr>
      <p:grpSpPr>
        <a:xfrm>
          <a:off x="0" y="0"/>
          <a:ext cx="0" cy="0"/>
          <a:chOff x="0" y="0"/>
          <a:chExt cx="0" cy="0"/>
        </a:xfrm>
      </p:grpSpPr>
      <p:pic>
        <p:nvPicPr>
          <p:cNvPr id="2" name="Image 0" descr="/tmp/claude-1000/-opt-dersler/8a8328c3-841c-44fa-b76f-82572d338d3d/scratchpad/d4/sek/induksiyon-akimi-kapak.jpg">    </p:cNvPr>
          <p:cNvPicPr>
            <a:picLocks noChangeAspect="1"/>
          </p:cNvPicPr>
          <p:nvPr/>
        </p:nvPicPr>
        <p:blipFill>
          <a:blip r:embed="rId1"/>
          <a:stretch>
            <a:fillRect/>
          </a:stretch>
        </p:blipFill>
        <p:spPr>
          <a:xfrm>
            <a:off x="4967935" y="0"/>
            <a:ext cx="7223760" cy="6858000"/>
          </a:xfrm>
          <a:prstGeom prst="rect">
            <a:avLst/>
          </a:prstGeom>
        </p:spPr>
      </p:pic>
      <p:sp>
        <p:nvSpPr>
          <p:cNvPr id="3" name="Shape 0"/>
          <p:cNvSpPr/>
          <p:nvPr/>
        </p:nvSpPr>
        <p:spPr>
          <a:xfrm>
            <a:off x="868680" y="822960"/>
            <a:ext cx="310896" cy="310896"/>
          </a:xfrm>
          <a:prstGeom prst="roundRect">
            <a:avLst>
              <a:gd name="adj" fmla="val 29412"/>
            </a:avLst>
          </a:prstGeom>
          <a:solidFill>
            <a:srgbClr val="A9E648"/>
          </a:solidFill>
          <a:ln/>
        </p:spPr>
      </p:sp>
      <p:sp>
        <p:nvSpPr>
          <p:cNvPr id="4" name="Text 1"/>
          <p:cNvSpPr txBox="1"/>
          <p:nvPr/>
        </p:nvSpPr>
        <p:spPr>
          <a:xfrm>
            <a:off x="1280160" y="822960"/>
            <a:ext cx="3657600" cy="310896"/>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Dersler</a:t>
            </a:r>
            <a:pPr indent="0" marL="0">
              <a:buNone/>
            </a:pPr>
            <a:r>
              <a:rPr lang="en-US" sz="1250" dirty="0">
                <a:solidFill>
                  <a:srgbClr val="8D97B5"/>
                </a:solidFill>
                <a:latin typeface="Calibri" pitchFamily="34" charset="0"/>
                <a:ea typeface="Calibri" pitchFamily="34" charset="-122"/>
                <a:cs typeface="Calibri" pitchFamily="34" charset="-120"/>
              </a:rPr>
              <a:t>  ·  fizik</a:t>
            </a:r>
            <a:endParaRPr lang="en-US" sz="1250" dirty="0"/>
          </a:p>
        </p:txBody>
      </p:sp>
      <p:sp>
        <p:nvSpPr>
          <p:cNvPr id="5" name="Shape 2"/>
          <p:cNvSpPr/>
          <p:nvPr/>
        </p:nvSpPr>
        <p:spPr>
          <a:xfrm>
            <a:off x="640080" y="1965960"/>
            <a:ext cx="54864" cy="1097280"/>
          </a:xfrm>
          <a:prstGeom prst="rect">
            <a:avLst/>
          </a:prstGeom>
          <a:solidFill>
            <a:srgbClr val="C6F36B"/>
          </a:solidFill>
          <a:ln/>
        </p:spPr>
      </p:sp>
      <p:sp>
        <p:nvSpPr>
          <p:cNvPr id="6" name="Text 3"/>
          <p:cNvSpPr txBox="1"/>
          <p:nvPr/>
        </p:nvSpPr>
        <p:spPr>
          <a:xfrm>
            <a:off x="868680" y="1554480"/>
            <a:ext cx="5852160" cy="320040"/>
          </a:xfrm>
          <a:prstGeom prst="rect">
            <a:avLst/>
          </a:prstGeom>
          <a:noFill/>
          <a:ln/>
        </p:spPr>
        <p:txBody>
          <a:bodyPr wrap="square" lIns="0" tIns="0" rIns="0" bIns="0" rtlCol="0" anchor="ctr"/>
          <a:lstStyle/>
          <a:p>
            <a:pPr indent="0" marL="0">
              <a:buNone/>
            </a:pPr>
            <a:r>
              <a:rPr lang="en-US" sz="1300" b="1" spc="300" kern="0" dirty="0">
                <a:solidFill>
                  <a:srgbClr val="C6F36B"/>
                </a:solidFill>
                <a:latin typeface="Calibri" pitchFamily="34" charset="0"/>
                <a:ea typeface="Calibri" pitchFamily="34" charset="-122"/>
                <a:cs typeface="Calibri" pitchFamily="34" charset="-120"/>
              </a:rPr>
              <a:t>ELEKTRİK VE MANYETİZMA · KONU 03</a:t>
            </a:r>
            <a:endParaRPr lang="en-US" sz="1300" dirty="0"/>
          </a:p>
        </p:txBody>
      </p:sp>
      <p:sp>
        <p:nvSpPr>
          <p:cNvPr id="7" name="Text 4"/>
          <p:cNvSpPr txBox="1"/>
          <p:nvPr/>
        </p:nvSpPr>
        <p:spPr>
          <a:xfrm>
            <a:off x="822960" y="1920240"/>
            <a:ext cx="5120640" cy="1188720"/>
          </a:xfrm>
          <a:prstGeom prst="rect">
            <a:avLst/>
          </a:prstGeom>
          <a:noFill/>
          <a:ln/>
        </p:spPr>
        <p:txBody>
          <a:bodyPr wrap="square" lIns="0" tIns="0" rIns="0" bIns="0" rtlCol="0" anchor="ctr"/>
          <a:lstStyle/>
          <a:p>
            <a:pPr indent="0" marL="0">
              <a:buNone/>
            </a:pPr>
            <a:r>
              <a:rPr lang="en-US" sz="4500" b="1" spc="-100" kern="0" dirty="0">
                <a:solidFill>
                  <a:srgbClr val="FFFFFF"/>
                </a:solidFill>
                <a:latin typeface="Cambria" pitchFamily="34" charset="0"/>
                <a:ea typeface="Cambria" pitchFamily="34" charset="-122"/>
                <a:cs typeface="Cambria" pitchFamily="34" charset="-120"/>
              </a:rPr>
              <a:t>İndüksiyon akımı</a:t>
            </a:r>
            <a:endParaRPr lang="en-US" sz="4500" dirty="0"/>
          </a:p>
        </p:txBody>
      </p:sp>
      <p:sp>
        <p:nvSpPr>
          <p:cNvPr id="8" name="Text 5"/>
          <p:cNvSpPr txBox="1"/>
          <p:nvPr/>
        </p:nvSpPr>
        <p:spPr>
          <a:xfrm>
            <a:off x="868680" y="3291840"/>
            <a:ext cx="4754880" cy="1371600"/>
          </a:xfrm>
          <a:prstGeom prst="rect">
            <a:avLst/>
          </a:prstGeom>
          <a:noFill/>
          <a:ln/>
        </p:spPr>
        <p:txBody>
          <a:bodyPr wrap="square" lIns="0" tIns="0" rIns="0" bIns="0" rtlCol="0" anchor="t"/>
          <a:lstStyle/>
          <a:p>
            <a:pPr indent="0" marL="0">
              <a:lnSpc>
                <a:spcPct val="125000"/>
              </a:lnSpc>
              <a:buNone/>
            </a:pPr>
            <a:r>
              <a:rPr lang="en-US" sz="1400" dirty="0">
                <a:solidFill>
                  <a:srgbClr val="C3CEE8"/>
                </a:solidFill>
                <a:latin typeface="Calibri" pitchFamily="34" charset="0"/>
                <a:ea typeface="Calibri" pitchFamily="34" charset="-122"/>
                <a:cs typeface="Calibri" pitchFamily="34" charset="-120"/>
              </a:rPr>
              <a:t>Manyetik alan tek başına akım üretmez; üreten şey alanın değişmesidir. Bir devreden geçen manyetik akı değiştiği sürece devrede bir indüksiyon emk'sı doğar — ve bu akım, kendisini doğuran değişime karşı koyar.</a:t>
            </a:r>
            <a:endParaRPr lang="en-US" sz="1400" dirty="0"/>
          </a:p>
        </p:txBody>
      </p:sp>
      <p:sp>
        <p:nvSpPr>
          <p:cNvPr id="9" name="Shape 6"/>
          <p:cNvSpPr/>
          <p:nvPr/>
        </p:nvSpPr>
        <p:spPr>
          <a:xfrm>
            <a:off x="868680" y="4892040"/>
            <a:ext cx="1115568" cy="566928"/>
          </a:xfrm>
          <a:prstGeom prst="roundRect">
            <a:avLst>
              <a:gd name="adj" fmla="val 16129"/>
            </a:avLst>
          </a:prstGeom>
          <a:solidFill>
            <a:srgbClr val="1C2542">
              <a:alpha val="90000"/>
            </a:srgbClr>
          </a:solidFill>
          <a:ln w="9525">
            <a:solidFill>
              <a:srgbClr val="2C3860"/>
            </a:solidFill>
            <a:prstDash val="solid"/>
          </a:ln>
        </p:spPr>
      </p:sp>
      <p:sp>
        <p:nvSpPr>
          <p:cNvPr id="10" name="Shape 7"/>
          <p:cNvSpPr/>
          <p:nvPr/>
        </p:nvSpPr>
        <p:spPr>
          <a:xfrm>
            <a:off x="978408" y="5020056"/>
            <a:ext cx="45720" cy="310896"/>
          </a:xfrm>
          <a:prstGeom prst="rect">
            <a:avLst/>
          </a:prstGeom>
          <a:solidFill>
            <a:srgbClr val="C6F36B"/>
          </a:solidFill>
          <a:ln/>
        </p:spPr>
      </p:sp>
      <p:sp>
        <p:nvSpPr>
          <p:cNvPr id="11" name="Text 8"/>
          <p:cNvSpPr txBox="1"/>
          <p:nvPr/>
        </p:nvSpPr>
        <p:spPr>
          <a:xfrm>
            <a:off x="1124712" y="4892040"/>
            <a:ext cx="841248" cy="566928"/>
          </a:xfrm>
          <a:prstGeom prst="rect">
            <a:avLst/>
          </a:prstGeom>
          <a:noFill/>
          <a:ln/>
        </p:spPr>
        <p:txBody>
          <a:bodyPr wrap="square" lIns="0" tIns="0" rIns="0" bIns="0" rtlCol="0" anchor="ctr"/>
          <a:lstStyle/>
          <a:p>
            <a:pPr indent="0" marL="0">
              <a:buNone/>
            </a:pPr>
            <a:r>
              <a:rPr lang="en-US" sz="1300" b="1" dirty="0">
                <a:solidFill>
                  <a:srgbClr val="C6F36B"/>
                </a:solidFill>
                <a:latin typeface="Calibri" pitchFamily="34" charset="0"/>
                <a:ea typeface="Calibri" pitchFamily="34" charset="-122"/>
                <a:cs typeface="Calibri" pitchFamily="34" charset="-120"/>
              </a:rPr>
              <a:t>1  </a:t>
            </a:r>
            <a:pPr indent="0" marL="0">
              <a:buNone/>
            </a:pPr>
            <a:r>
              <a:rPr lang="en-US" sz="1300" b="1" dirty="0">
                <a:solidFill>
                  <a:srgbClr val="FFFFFF"/>
                </a:solidFill>
                <a:latin typeface="Calibri" pitchFamily="34" charset="0"/>
                <a:ea typeface="Calibri" pitchFamily="34" charset="-122"/>
                <a:cs typeface="Calibri" pitchFamily="34" charset="-120"/>
              </a:rPr>
              <a:t>Temel</a:t>
            </a:r>
            <a:endParaRPr lang="en-US" sz="1300" dirty="0"/>
          </a:p>
        </p:txBody>
      </p:sp>
      <p:sp>
        <p:nvSpPr>
          <p:cNvPr id="12" name="Shape 9"/>
          <p:cNvSpPr/>
          <p:nvPr/>
        </p:nvSpPr>
        <p:spPr>
          <a:xfrm>
            <a:off x="2075688" y="4892040"/>
            <a:ext cx="1115568" cy="566928"/>
          </a:xfrm>
          <a:prstGeom prst="roundRect">
            <a:avLst>
              <a:gd name="adj" fmla="val 16129"/>
            </a:avLst>
          </a:prstGeom>
          <a:solidFill>
            <a:srgbClr val="1C2542">
              <a:alpha val="90000"/>
            </a:srgbClr>
          </a:solidFill>
          <a:ln w="9525">
            <a:solidFill>
              <a:srgbClr val="2C3860"/>
            </a:solidFill>
            <a:prstDash val="solid"/>
          </a:ln>
        </p:spPr>
      </p:sp>
      <p:sp>
        <p:nvSpPr>
          <p:cNvPr id="13" name="Shape 10"/>
          <p:cNvSpPr/>
          <p:nvPr/>
        </p:nvSpPr>
        <p:spPr>
          <a:xfrm>
            <a:off x="2185416" y="5020056"/>
            <a:ext cx="45720" cy="310896"/>
          </a:xfrm>
          <a:prstGeom prst="rect">
            <a:avLst/>
          </a:prstGeom>
          <a:solidFill>
            <a:srgbClr val="82AAFF"/>
          </a:solidFill>
          <a:ln/>
        </p:spPr>
      </p:sp>
      <p:sp>
        <p:nvSpPr>
          <p:cNvPr id="14" name="Text 11"/>
          <p:cNvSpPr txBox="1"/>
          <p:nvPr/>
        </p:nvSpPr>
        <p:spPr>
          <a:xfrm>
            <a:off x="2331720" y="4892040"/>
            <a:ext cx="841248" cy="566928"/>
          </a:xfrm>
          <a:prstGeom prst="rect">
            <a:avLst/>
          </a:prstGeom>
          <a:noFill/>
          <a:ln/>
        </p:spPr>
        <p:txBody>
          <a:bodyPr wrap="square" lIns="0" tIns="0" rIns="0" bIns="0" rtlCol="0" anchor="ctr"/>
          <a:lstStyle/>
          <a:p>
            <a:pPr indent="0" marL="0">
              <a:buNone/>
            </a:pPr>
            <a:r>
              <a:rPr lang="en-US" sz="1300" b="1" dirty="0">
                <a:solidFill>
                  <a:srgbClr val="82AAFF"/>
                </a:solidFill>
                <a:latin typeface="Calibri" pitchFamily="34" charset="0"/>
                <a:ea typeface="Calibri" pitchFamily="34" charset="-122"/>
                <a:cs typeface="Calibri" pitchFamily="34" charset="-120"/>
              </a:rPr>
              <a:t>2  </a:t>
            </a:r>
            <a:pPr indent="0" marL="0">
              <a:buNone/>
            </a:pPr>
            <a:r>
              <a:rPr lang="en-US" sz="1300" b="1" dirty="0">
                <a:solidFill>
                  <a:srgbClr val="FFFFFF"/>
                </a:solidFill>
                <a:latin typeface="Calibri" pitchFamily="34" charset="0"/>
                <a:ea typeface="Calibri" pitchFamily="34" charset="-122"/>
                <a:cs typeface="Calibri" pitchFamily="34" charset="-120"/>
              </a:rPr>
              <a:t>Orta</a:t>
            </a:r>
            <a:endParaRPr lang="en-US" sz="1300" dirty="0"/>
          </a:p>
        </p:txBody>
      </p:sp>
      <p:sp>
        <p:nvSpPr>
          <p:cNvPr id="15" name="Shape 12"/>
          <p:cNvSpPr/>
          <p:nvPr/>
        </p:nvSpPr>
        <p:spPr>
          <a:xfrm>
            <a:off x="3282696" y="4892040"/>
            <a:ext cx="1115568" cy="566928"/>
          </a:xfrm>
          <a:prstGeom prst="roundRect">
            <a:avLst>
              <a:gd name="adj" fmla="val 16129"/>
            </a:avLst>
          </a:prstGeom>
          <a:solidFill>
            <a:srgbClr val="1C2542">
              <a:alpha val="90000"/>
            </a:srgbClr>
          </a:solidFill>
          <a:ln w="9525">
            <a:solidFill>
              <a:srgbClr val="2C3860"/>
            </a:solidFill>
            <a:prstDash val="solid"/>
          </a:ln>
        </p:spPr>
      </p:sp>
      <p:sp>
        <p:nvSpPr>
          <p:cNvPr id="16" name="Shape 13"/>
          <p:cNvSpPr/>
          <p:nvPr/>
        </p:nvSpPr>
        <p:spPr>
          <a:xfrm>
            <a:off x="3392424" y="5020056"/>
            <a:ext cx="45720" cy="310896"/>
          </a:xfrm>
          <a:prstGeom prst="rect">
            <a:avLst/>
          </a:prstGeom>
          <a:solidFill>
            <a:srgbClr val="A093FF"/>
          </a:solidFill>
          <a:ln/>
        </p:spPr>
      </p:sp>
      <p:sp>
        <p:nvSpPr>
          <p:cNvPr id="17" name="Text 14"/>
          <p:cNvSpPr txBox="1"/>
          <p:nvPr/>
        </p:nvSpPr>
        <p:spPr>
          <a:xfrm>
            <a:off x="3538728" y="4892040"/>
            <a:ext cx="841248" cy="566928"/>
          </a:xfrm>
          <a:prstGeom prst="rect">
            <a:avLst/>
          </a:prstGeom>
          <a:noFill/>
          <a:ln/>
        </p:spPr>
        <p:txBody>
          <a:bodyPr wrap="square" lIns="0" tIns="0" rIns="0" bIns="0" rtlCol="0" anchor="ctr"/>
          <a:lstStyle/>
          <a:p>
            <a:pPr indent="0" marL="0">
              <a:buNone/>
            </a:pPr>
            <a:r>
              <a:rPr lang="en-US" sz="1300" b="1" dirty="0">
                <a:solidFill>
                  <a:srgbClr val="A093FF"/>
                </a:solidFill>
                <a:latin typeface="Calibri" pitchFamily="34" charset="0"/>
                <a:ea typeface="Calibri" pitchFamily="34" charset="-122"/>
                <a:cs typeface="Calibri" pitchFamily="34" charset="-120"/>
              </a:rPr>
              <a:t>3  </a:t>
            </a:r>
            <a:pPr indent="0" marL="0">
              <a:buNone/>
            </a:pPr>
            <a:r>
              <a:rPr lang="en-US" sz="1300" b="1" dirty="0">
                <a:solidFill>
                  <a:srgbClr val="FFFFFF"/>
                </a:solidFill>
                <a:latin typeface="Calibri" pitchFamily="34" charset="0"/>
                <a:ea typeface="Calibri" pitchFamily="34" charset="-122"/>
                <a:cs typeface="Calibri" pitchFamily="34" charset="-120"/>
              </a:rPr>
              <a:t>İleri</a:t>
            </a:r>
            <a:endParaRPr lang="en-US" sz="1300" dirty="0"/>
          </a:p>
        </p:txBody>
      </p:sp>
      <p:sp>
        <p:nvSpPr>
          <p:cNvPr id="18" name="Shape 15"/>
          <p:cNvSpPr/>
          <p:nvPr/>
        </p:nvSpPr>
        <p:spPr>
          <a:xfrm>
            <a:off x="4489704" y="4892040"/>
            <a:ext cx="1115568" cy="566928"/>
          </a:xfrm>
          <a:prstGeom prst="roundRect">
            <a:avLst>
              <a:gd name="adj" fmla="val 16129"/>
            </a:avLst>
          </a:prstGeom>
          <a:solidFill>
            <a:srgbClr val="1C2542">
              <a:alpha val="90000"/>
            </a:srgbClr>
          </a:solidFill>
          <a:ln w="9525">
            <a:solidFill>
              <a:srgbClr val="2C3860"/>
            </a:solidFill>
            <a:prstDash val="solid"/>
          </a:ln>
        </p:spPr>
      </p:sp>
      <p:sp>
        <p:nvSpPr>
          <p:cNvPr id="19" name="Shape 16"/>
          <p:cNvSpPr/>
          <p:nvPr/>
        </p:nvSpPr>
        <p:spPr>
          <a:xfrm>
            <a:off x="4599432" y="5020056"/>
            <a:ext cx="45720" cy="310896"/>
          </a:xfrm>
          <a:prstGeom prst="rect">
            <a:avLst/>
          </a:prstGeom>
          <a:solidFill>
            <a:srgbClr val="FFCB6B"/>
          </a:solidFill>
          <a:ln/>
        </p:spPr>
      </p:sp>
      <p:sp>
        <p:nvSpPr>
          <p:cNvPr id="20" name="Text 17"/>
          <p:cNvSpPr txBox="1"/>
          <p:nvPr/>
        </p:nvSpPr>
        <p:spPr>
          <a:xfrm>
            <a:off x="4745736" y="4892040"/>
            <a:ext cx="841248" cy="566928"/>
          </a:xfrm>
          <a:prstGeom prst="rect">
            <a:avLst/>
          </a:prstGeom>
          <a:noFill/>
          <a:ln/>
        </p:spPr>
        <p:txBody>
          <a:bodyPr wrap="square" lIns="0" tIns="0" rIns="0" bIns="0" rtlCol="0" anchor="ctr"/>
          <a:lstStyle/>
          <a:p>
            <a:pPr indent="0" marL="0">
              <a:buNone/>
            </a:pPr>
            <a:r>
              <a:rPr lang="en-US" sz="1300" b="1" dirty="0">
                <a:solidFill>
                  <a:srgbClr val="FFCB6B"/>
                </a:solidFill>
                <a:latin typeface="Calibri" pitchFamily="34" charset="0"/>
                <a:ea typeface="Calibri" pitchFamily="34" charset="-122"/>
                <a:cs typeface="Calibri" pitchFamily="34" charset="-120"/>
              </a:rPr>
              <a:t>4  </a:t>
            </a:r>
            <a:pPr indent="0" marL="0">
              <a:buNone/>
            </a:pPr>
            <a:r>
              <a:rPr lang="en-US" sz="1300" b="1" dirty="0">
                <a:solidFill>
                  <a:srgbClr val="FFFFFF"/>
                </a:solidFill>
                <a:latin typeface="Calibri" pitchFamily="34" charset="0"/>
                <a:ea typeface="Calibri" pitchFamily="34" charset="-122"/>
                <a:cs typeface="Calibri" pitchFamily="34" charset="-120"/>
              </a:rPr>
              <a:t>Pekiştir</a:t>
            </a:r>
            <a:endParaRPr lang="en-US" sz="1300" dirty="0"/>
          </a:p>
        </p:txBody>
      </p:sp>
      <p:sp>
        <p:nvSpPr>
          <p:cNvPr id="21" name="Shape 18"/>
          <p:cNvSpPr/>
          <p:nvPr/>
        </p:nvSpPr>
        <p:spPr>
          <a:xfrm>
            <a:off x="9448495" y="6309360"/>
            <a:ext cx="2103120" cy="274320"/>
          </a:xfrm>
          <a:prstGeom prst="roundRect">
            <a:avLst>
              <a:gd name="adj" fmla="val 50000"/>
            </a:avLst>
          </a:prstGeom>
          <a:solidFill>
            <a:srgbClr val="0E1426">
              <a:alpha val="65000"/>
            </a:srgbClr>
          </a:solidFill>
          <a:ln/>
        </p:spPr>
      </p:sp>
      <p:sp>
        <p:nvSpPr>
          <p:cNvPr id="22" name="Text 19"/>
          <p:cNvSpPr txBox="1"/>
          <p:nvPr/>
        </p:nvSpPr>
        <p:spPr>
          <a:xfrm>
            <a:off x="9448495" y="6309360"/>
            <a:ext cx="2103120" cy="274320"/>
          </a:xfrm>
          <a:prstGeom prst="rect">
            <a:avLst/>
          </a:prstGeom>
          <a:noFill/>
          <a:ln/>
        </p:spPr>
        <p:txBody>
          <a:bodyPr wrap="square" lIns="0" tIns="0" rIns="0" bIns="0" rtlCol="0" anchor="ctr"/>
          <a:lstStyle/>
          <a:p>
            <a:pPr algn="ctr" indent="0" marL="0">
              <a:buNone/>
            </a:pPr>
            <a:r>
              <a:rPr lang="en-US" sz="900" dirty="0">
                <a:solidFill>
                  <a:srgbClr val="E4E9F5"/>
                </a:solidFill>
                <a:latin typeface="Calibri" pitchFamily="34" charset="0"/>
                <a:ea typeface="Calibri" pitchFamily="34" charset="-122"/>
                <a:cs typeface="Calibri" pitchFamily="34" charset="-120"/>
              </a:rPr>
              <a:t>Görsel: yapay zekâ ile üretildi</a:t>
            </a:r>
            <a:endParaRPr lang="en-US" sz="900" dirty="0"/>
          </a:p>
        </p:txBody>
      </p:sp>
      <p:sp>
        <p:nvSpPr>
          <p:cNvPr id="23" name="Shape 20"/>
          <p:cNvSpPr/>
          <p:nvPr/>
        </p:nvSpPr>
        <p:spPr>
          <a:xfrm>
            <a:off x="640080" y="6382512"/>
            <a:ext cx="128016" cy="128016"/>
          </a:xfrm>
          <a:prstGeom prst="roundRect">
            <a:avLst>
              <a:gd name="adj" fmla="val 28571"/>
            </a:avLst>
          </a:prstGeom>
          <a:solidFill>
            <a:srgbClr val="C6F36B"/>
          </a:solidFill>
          <a:ln/>
        </p:spPr>
      </p:sp>
      <p:sp>
        <p:nvSpPr>
          <p:cNvPr id="24" name="Text 2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6A7798"/>
                </a:solidFill>
                <a:latin typeface="Calibri" pitchFamily="34" charset="0"/>
                <a:ea typeface="Calibri" pitchFamily="34" charset="-122"/>
                <a:cs typeface="Calibri" pitchFamily="34" charset="-120"/>
              </a:rPr>
              <a:t>dersler.perinet.org/induksiyon-akimi.html</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Başlarken</a:t>
            </a:r>
            <a:endParaRPr lang="en-US" sz="3200" dirty="0"/>
          </a:p>
        </p:txBody>
      </p:sp>
      <p:sp>
        <p:nvSpPr>
          <p:cNvPr id="5" name="Text 3"/>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Konuya günlük bir soruyla giriyoruz.</a:t>
            </a:r>
            <a:endParaRPr lang="en-US" sz="1450" dirty="0"/>
          </a:p>
        </p:txBody>
      </p:sp>
      <p:sp>
        <p:nvSpPr>
          <p:cNvPr id="6" name="Shape 4"/>
          <p:cNvSpPr/>
          <p:nvPr/>
        </p:nvSpPr>
        <p:spPr>
          <a:xfrm>
            <a:off x="1188720" y="1828800"/>
            <a:ext cx="9814255" cy="3931920"/>
          </a:xfrm>
          <a:prstGeom prst="roundRect">
            <a:avLst>
              <a:gd name="adj" fmla="val 5116"/>
            </a:avLst>
          </a:prstGeom>
          <a:solidFill>
            <a:srgbClr val="FFFFFF"/>
          </a:solidFill>
          <a:ln w="9525">
            <a:solidFill>
              <a:srgbClr val="CFC8F5"/>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225296" y="2286000"/>
            <a:ext cx="64008" cy="3017520"/>
          </a:xfrm>
          <a:prstGeom prst="rect">
            <a:avLst/>
          </a:prstGeom>
          <a:solidFill>
            <a:srgbClr val="5F4BD8"/>
          </a:solidFill>
          <a:ln/>
        </p:spPr>
      </p:sp>
      <p:sp>
        <p:nvSpPr>
          <p:cNvPr id="8" name="Text 6"/>
          <p:cNvSpPr txBox="1"/>
          <p:nvPr/>
        </p:nvSpPr>
        <p:spPr>
          <a:xfrm>
            <a:off x="1828800" y="2194560"/>
            <a:ext cx="8534095" cy="3200400"/>
          </a:xfrm>
          <a:prstGeom prst="rect">
            <a:avLst/>
          </a:prstGeom>
          <a:noFill/>
          <a:ln/>
        </p:spPr>
        <p:txBody>
          <a:bodyPr wrap="square" lIns="0" tIns="0" rIns="0" bIns="0" rtlCol="0" anchor="ctr"/>
          <a:lstStyle/>
          <a:p>
            <a:pPr indent="0" marL="0">
              <a:lnSpc>
                <a:spcPct val="130000"/>
              </a:lnSpc>
              <a:buNone/>
            </a:pPr>
            <a:r>
              <a:rPr lang="en-US" sz="2000" dirty="0">
                <a:solidFill>
                  <a:srgbClr val="0E1426"/>
                </a:solidFill>
                <a:latin typeface="Cambria" pitchFamily="34" charset="0"/>
                <a:ea typeface="Cambria" pitchFamily="34" charset="-122"/>
                <a:cs typeface="Cambria" pitchFamily="34" charset="-120"/>
              </a:rPr>
              <a:t>Pil yok, priz yok, yalnızca dönen bir tekerlek: bisiklet farı nasıl yanıyor?</a:t>
            </a:r>
            <a:pPr indent="0" marL="0">
              <a:lnSpc>
                <a:spcPct val="130000"/>
              </a:lnSpc>
              <a:buNone/>
            </a:pPr>
            <a:r>
              <a:rPr lang="en-US" sz="2000" dirty="0">
                <a:solidFill>
                  <a:srgbClr val="0E1426"/>
                </a:solidFill>
                <a:latin typeface="Cambria" pitchFamily="34" charset="0"/>
                <a:ea typeface="Cambria" pitchFamily="34" charset="-122"/>
                <a:cs typeface="Cambria" pitchFamily="34" charset="-120"/>
              </a:rPr>
              <a:t> </a:t>
            </a:r>
            <a:pPr indent="0" marL="0">
              <a:lnSpc>
                <a:spcPct val="130000"/>
              </a:lnSpc>
              <a:buNone/>
            </a:pPr>
            <a:r>
              <a:rPr lang="en-US" sz="2000" dirty="0">
                <a:solidFill>
                  <a:srgbClr val="0E1426"/>
                </a:solidFill>
                <a:latin typeface="Cambria" pitchFamily="34" charset="0"/>
                <a:ea typeface="Cambria" pitchFamily="34" charset="-122"/>
                <a:cs typeface="Cambria" pitchFamily="34" charset="-120"/>
              </a:rPr>
              <a:t>Evindeki prizden gelen elektriğin büyük bölümü de aynı fikirden doğuyor: bir bobinin içinden geçen manyetik alan </a:t>
            </a:r>
            <a:pPr indent="0" marL="0">
              <a:lnSpc>
                <a:spcPct val="130000"/>
              </a:lnSpc>
              <a:buNone/>
            </a:pPr>
            <a:r>
              <a:rPr lang="en-US" sz="2000" b="1" dirty="0">
                <a:solidFill>
                  <a:srgbClr val="5F4BD8"/>
                </a:solidFill>
                <a:latin typeface="Cambria" pitchFamily="34" charset="0"/>
                <a:ea typeface="Cambria" pitchFamily="34" charset="-122"/>
                <a:cs typeface="Cambria" pitchFamily="34" charset="-120"/>
              </a:rPr>
              <a:t>değişirse</a:t>
            </a:r>
            <a:pPr indent="0" marL="0">
              <a:lnSpc>
                <a:spcPct val="130000"/>
              </a:lnSpc>
              <a:buNone/>
            </a:pPr>
            <a:r>
              <a:rPr lang="en-US" sz="2000" dirty="0">
                <a:solidFill>
                  <a:srgbClr val="0E1426"/>
                </a:solidFill>
                <a:latin typeface="Cambria" pitchFamily="34" charset="0"/>
                <a:ea typeface="Cambria" pitchFamily="34" charset="-122"/>
                <a:cs typeface="Cambria" pitchFamily="34" charset="-120"/>
              </a:rPr>
              <a:t>, o bobinde akım doğar.</a:t>
            </a:r>
            <a:pPr indent="0" marL="0">
              <a:lnSpc>
                <a:spcPct val="130000"/>
              </a:lnSpc>
              <a:buNone/>
            </a:pPr>
            <a:r>
              <a:rPr lang="en-US" sz="2000" dirty="0">
                <a:solidFill>
                  <a:srgbClr val="0E1426"/>
                </a:solidFill>
                <a:latin typeface="Cambria" pitchFamily="34" charset="0"/>
                <a:ea typeface="Cambria" pitchFamily="34" charset="-122"/>
                <a:cs typeface="Cambria" pitchFamily="34" charset="-120"/>
              </a:rPr>
              <a:t> </a:t>
            </a:r>
            <a:pPr indent="0" marL="0">
              <a:lnSpc>
                <a:spcPct val="130000"/>
              </a:lnSpc>
              <a:buNone/>
            </a:pPr>
            <a:r>
              <a:rPr lang="en-US" sz="2000" dirty="0">
                <a:solidFill>
                  <a:srgbClr val="0E1426"/>
                </a:solidFill>
                <a:latin typeface="Cambria" pitchFamily="34" charset="0"/>
                <a:ea typeface="Cambria" pitchFamily="34" charset="-122"/>
                <a:cs typeface="Cambria" pitchFamily="34" charset="-120"/>
              </a:rPr>
              <a:t>Faraday bunu 1831'de bir mıknatısı bobinin içinde ileri geri oynatarak buldu.</a:t>
            </a:r>
            <a:pPr indent="0" marL="0">
              <a:lnSpc>
                <a:spcPct val="130000"/>
              </a:lnSpc>
              <a:buNone/>
            </a:pPr>
            <a:r>
              <a:rPr lang="en-US" sz="2000" dirty="0">
                <a:solidFill>
                  <a:srgbClr val="0E1426"/>
                </a:solidFill>
                <a:latin typeface="Cambria" pitchFamily="34" charset="0"/>
                <a:ea typeface="Cambria" pitchFamily="34" charset="-122"/>
                <a:cs typeface="Cambria" pitchFamily="34" charset="-120"/>
              </a:rPr>
              <a:t> </a:t>
            </a:r>
            <a:pPr indent="0" marL="0">
              <a:lnSpc>
                <a:spcPct val="130000"/>
              </a:lnSpc>
              <a:buNone/>
            </a:pPr>
            <a:r>
              <a:rPr lang="en-US" sz="2000" dirty="0">
                <a:solidFill>
                  <a:srgbClr val="0E1426"/>
                </a:solidFill>
                <a:latin typeface="Cambria" pitchFamily="34" charset="0"/>
                <a:ea typeface="Cambria" pitchFamily="34" charset="-122"/>
                <a:cs typeface="Cambria" pitchFamily="34" charset="-120"/>
              </a:rPr>
              <a:t>Bugün barajlar, rüzgâr türbinleri, termik santraller ve arabaların alternatörleri hep aynı şeyi yapıyor — </a:t>
            </a:r>
            <a:pPr indent="0" marL="0">
              <a:lnSpc>
                <a:spcPct val="130000"/>
              </a:lnSpc>
              <a:buNone/>
            </a:pPr>
            <a:r>
              <a:rPr lang="en-US" sz="2000" b="1" dirty="0">
                <a:solidFill>
                  <a:srgbClr val="5F4BD8"/>
                </a:solidFill>
                <a:latin typeface="Cambria" pitchFamily="34" charset="0"/>
                <a:ea typeface="Cambria" pitchFamily="34" charset="-122"/>
                <a:cs typeface="Cambria" pitchFamily="34" charset="-120"/>
              </a:rPr>
              <a:t>hareketi, akı değişimine çevirmek.</a:t>
            </a:r>
            <a:endParaRPr lang="en-US" sz="2000" dirty="0"/>
          </a:p>
        </p:txBody>
      </p:sp>
      <p:sp>
        <p:nvSpPr>
          <p:cNvPr id="9" name="Shape 7"/>
          <p:cNvSpPr/>
          <p:nvPr/>
        </p:nvSpPr>
        <p:spPr>
          <a:xfrm>
            <a:off x="640080" y="6382512"/>
            <a:ext cx="128016" cy="128016"/>
          </a:xfrm>
          <a:prstGeom prst="roundRect">
            <a:avLst>
              <a:gd name="adj" fmla="val 28571"/>
            </a:avLst>
          </a:prstGeom>
          <a:solidFill>
            <a:srgbClr val="A9E648"/>
          </a:solidFill>
          <a:ln/>
        </p:spPr>
      </p:sp>
      <p:sp>
        <p:nvSpPr>
          <p:cNvPr id="10" name="Text 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dersler.perinet.org/induksiyon-akimi.html</a:t>
            </a:r>
            <a:endParaRPr lang="en-US" sz="1050" dirty="0"/>
          </a:p>
        </p:txBody>
      </p:sp>
      <p:sp>
        <p:nvSpPr>
          <p:cNvPr id="11" name="Text 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02</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Bu derste</a:t>
            </a:r>
            <a:endParaRPr lang="en-US" sz="3200" dirty="0"/>
          </a:p>
        </p:txBody>
      </p:sp>
      <p:sp>
        <p:nvSpPr>
          <p:cNvPr id="5" name="Text 3"/>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Dört basamak, kolaydan zora: önce sezgi, sonra bağıntılar, sonra derinleşme; en sonda pekiştirme.</a:t>
            </a:r>
            <a:endParaRPr lang="en-US" sz="1450" dirty="0"/>
          </a:p>
        </p:txBody>
      </p:sp>
      <p:sp>
        <p:nvSpPr>
          <p:cNvPr id="6" name="Shape 4"/>
          <p:cNvSpPr/>
          <p:nvPr/>
        </p:nvSpPr>
        <p:spPr>
          <a:xfrm>
            <a:off x="640080" y="1645920"/>
            <a:ext cx="2577008" cy="4498848"/>
          </a:xfrm>
          <a:prstGeom prst="roundRect">
            <a:avLst>
              <a:gd name="adj" fmla="val 5677"/>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822960" y="1645920"/>
            <a:ext cx="2211248" cy="64008"/>
          </a:xfrm>
          <a:prstGeom prst="rect">
            <a:avLst/>
          </a:prstGeom>
          <a:solidFill>
            <a:srgbClr val="3C8C21"/>
          </a:solidFill>
          <a:ln/>
        </p:spPr>
      </p:sp>
      <p:sp>
        <p:nvSpPr>
          <p:cNvPr id="8" name="Shape 6"/>
          <p:cNvSpPr/>
          <p:nvPr/>
        </p:nvSpPr>
        <p:spPr>
          <a:xfrm>
            <a:off x="859536" y="1920240"/>
            <a:ext cx="420624" cy="420624"/>
          </a:xfrm>
          <a:prstGeom prst="roundRect">
            <a:avLst>
              <a:gd name="adj" fmla="val 26000"/>
            </a:avLst>
          </a:prstGeom>
          <a:solidFill>
            <a:srgbClr val="3C8C21"/>
          </a:solidFill>
          <a:ln/>
        </p:spPr>
      </p:sp>
      <p:sp>
        <p:nvSpPr>
          <p:cNvPr id="9" name="Text 7"/>
          <p:cNvSpPr txBox="1"/>
          <p:nvPr/>
        </p:nvSpPr>
        <p:spPr>
          <a:xfrm>
            <a:off x="859536" y="192024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Text 8"/>
          <p:cNvSpPr txBox="1"/>
          <p:nvPr/>
        </p:nvSpPr>
        <p:spPr>
          <a:xfrm>
            <a:off x="1408176" y="1901952"/>
            <a:ext cx="1662608" cy="457200"/>
          </a:xfrm>
          <a:prstGeom prst="rect">
            <a:avLst/>
          </a:prstGeom>
          <a:noFill/>
          <a:ln/>
        </p:spPr>
        <p:txBody>
          <a:bodyPr wrap="square" lIns="0" tIns="0" rIns="0" bIns="0" rtlCol="0" anchor="ctr"/>
          <a:lstStyle/>
          <a:p>
            <a:pPr indent="0" marL="0">
              <a:buNone/>
            </a:pPr>
            <a:r>
              <a:rPr lang="en-US" sz="1900" b="1" dirty="0">
                <a:solidFill>
                  <a:srgbClr val="0E1426"/>
                </a:solidFill>
                <a:latin typeface="Cambria" pitchFamily="34" charset="0"/>
                <a:ea typeface="Cambria" pitchFamily="34" charset="-122"/>
                <a:cs typeface="Cambria" pitchFamily="34" charset="-120"/>
              </a:rPr>
              <a:t>Temel</a:t>
            </a:r>
            <a:endParaRPr lang="en-US" sz="1900" dirty="0"/>
          </a:p>
        </p:txBody>
      </p:sp>
      <p:sp>
        <p:nvSpPr>
          <p:cNvPr id="11" name="Text 9"/>
          <p:cNvSpPr txBox="1"/>
          <p:nvPr/>
        </p:nvSpPr>
        <p:spPr>
          <a:xfrm>
            <a:off x="859536" y="2487168"/>
            <a:ext cx="2138096" cy="868680"/>
          </a:xfrm>
          <a:prstGeom prst="rect">
            <a:avLst/>
          </a:prstGeom>
          <a:noFill/>
          <a:ln/>
        </p:spPr>
        <p:txBody>
          <a:bodyPr wrap="square" lIns="0" tIns="0" rIns="0" bIns="0" rtlCol="0" anchor="t"/>
          <a:lstStyle/>
          <a:p>
            <a:pPr indent="0" marL="0">
              <a:lnSpc>
                <a:spcPct val="110000"/>
              </a:lnSpc>
              <a:buNone/>
            </a:pPr>
            <a:r>
              <a:rPr lang="en-US" sz="1000" dirty="0">
                <a:solidFill>
                  <a:srgbClr val="4A5470"/>
                </a:solidFill>
                <a:latin typeface="Calibri" pitchFamily="34" charset="0"/>
                <a:ea typeface="Calibri" pitchFamily="34" charset="-122"/>
                <a:cs typeface="Calibri" pitchFamily="34" charset="-120"/>
              </a:rPr>
              <a:t>Önce sezgi: akım nereden doğuyor, akı ne demek ve doğa değişime neden karşı koyuyor? Bu basamakta hesap yok denecek kadar az.</a:t>
            </a:r>
            <a:endParaRPr lang="en-US" sz="1000" dirty="0"/>
          </a:p>
        </p:txBody>
      </p:sp>
      <p:sp>
        <p:nvSpPr>
          <p:cNvPr id="12" name="Shape 10"/>
          <p:cNvSpPr/>
          <p:nvPr/>
        </p:nvSpPr>
        <p:spPr>
          <a:xfrm>
            <a:off x="859536" y="3429000"/>
            <a:ext cx="2138096" cy="0"/>
          </a:xfrm>
          <a:prstGeom prst="line">
            <a:avLst/>
          </a:prstGeom>
          <a:noFill/>
          <a:ln w="9525">
            <a:solidFill>
              <a:srgbClr val="E1E5EE"/>
            </a:solidFill>
            <a:prstDash val="dash"/>
          </a:ln>
        </p:spPr>
      </p:sp>
      <p:sp>
        <p:nvSpPr>
          <p:cNvPr id="13" name="Text 11"/>
          <p:cNvSpPr txBox="1"/>
          <p:nvPr/>
        </p:nvSpPr>
        <p:spPr>
          <a:xfrm>
            <a:off x="859536" y="3566160"/>
            <a:ext cx="384048" cy="578358"/>
          </a:xfrm>
          <a:prstGeom prst="rect">
            <a:avLst/>
          </a:prstGeom>
          <a:noFill/>
          <a:ln/>
        </p:spPr>
        <p:txBody>
          <a:bodyPr wrap="square" lIns="0" tIns="0" rIns="0" bIns="0" rtlCol="0" anchor="t"/>
          <a:lstStyle/>
          <a:p>
            <a:pPr indent="0" marL="0">
              <a:buNone/>
            </a:pPr>
            <a:r>
              <a:rPr lang="en-US" sz="1100" b="1" dirty="0">
                <a:solidFill>
                  <a:srgbClr val="3C8C21"/>
                </a:solidFill>
                <a:latin typeface="Calibri" pitchFamily="34" charset="0"/>
                <a:ea typeface="Calibri" pitchFamily="34" charset="-122"/>
                <a:cs typeface="Calibri" pitchFamily="34" charset="-120"/>
              </a:rPr>
              <a:t>01</a:t>
            </a:r>
            <a:endParaRPr lang="en-US" sz="1100" dirty="0"/>
          </a:p>
        </p:txBody>
      </p:sp>
      <p:sp>
        <p:nvSpPr>
          <p:cNvPr id="14" name="Text 12"/>
          <p:cNvSpPr txBox="1"/>
          <p:nvPr/>
        </p:nvSpPr>
        <p:spPr>
          <a:xfrm>
            <a:off x="1243584" y="3566160"/>
            <a:ext cx="1754048" cy="578358"/>
          </a:xfrm>
          <a:prstGeom prst="rect">
            <a:avLst/>
          </a:prstGeom>
          <a:noFill/>
          <a:ln/>
        </p:spPr>
        <p:txBody>
          <a:bodyPr wrap="square" lIns="0" tIns="0" rIns="0" bIns="0" rtlCol="0" anchor="t"/>
          <a:lstStyle/>
          <a:p>
            <a:pPr indent="0" marL="0">
              <a:lnSpc>
                <a:spcPct val="105000"/>
              </a:lnSpc>
              <a:buNone/>
            </a:pPr>
            <a:r>
              <a:rPr lang="en-US" sz="1200" b="1" dirty="0">
                <a:solidFill>
                  <a:srgbClr val="0E1426"/>
                </a:solidFill>
                <a:latin typeface="Calibri" pitchFamily="34" charset="0"/>
                <a:ea typeface="Calibri" pitchFamily="34" charset="-122"/>
                <a:cs typeface="Calibri" pitchFamily="34" charset="-120"/>
              </a:rPr>
              <a:t>Önce gözlemle: bisiklet farı nasıl yanar?</a:t>
            </a:r>
            <a:endParaRPr lang="en-US" sz="1200" dirty="0"/>
          </a:p>
        </p:txBody>
      </p:sp>
      <p:sp>
        <p:nvSpPr>
          <p:cNvPr id="15" name="Text 13"/>
          <p:cNvSpPr txBox="1"/>
          <p:nvPr/>
        </p:nvSpPr>
        <p:spPr>
          <a:xfrm>
            <a:off x="859536" y="4199382"/>
            <a:ext cx="384048" cy="578358"/>
          </a:xfrm>
          <a:prstGeom prst="rect">
            <a:avLst/>
          </a:prstGeom>
          <a:noFill/>
          <a:ln/>
        </p:spPr>
        <p:txBody>
          <a:bodyPr wrap="square" lIns="0" tIns="0" rIns="0" bIns="0" rtlCol="0" anchor="t"/>
          <a:lstStyle/>
          <a:p>
            <a:pPr indent="0" marL="0">
              <a:buNone/>
            </a:pPr>
            <a:r>
              <a:rPr lang="en-US" sz="1100" b="1" dirty="0">
                <a:solidFill>
                  <a:srgbClr val="3C8C21"/>
                </a:solidFill>
                <a:latin typeface="Calibri" pitchFamily="34" charset="0"/>
                <a:ea typeface="Calibri" pitchFamily="34" charset="-122"/>
                <a:cs typeface="Calibri" pitchFamily="34" charset="-120"/>
              </a:rPr>
              <a:t>02</a:t>
            </a:r>
            <a:endParaRPr lang="en-US" sz="1100" dirty="0"/>
          </a:p>
        </p:txBody>
      </p:sp>
      <p:sp>
        <p:nvSpPr>
          <p:cNvPr id="16" name="Text 14"/>
          <p:cNvSpPr txBox="1"/>
          <p:nvPr/>
        </p:nvSpPr>
        <p:spPr>
          <a:xfrm>
            <a:off x="1243584" y="4199382"/>
            <a:ext cx="1754048" cy="578358"/>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Manyetik akı</a:t>
            </a:r>
            <a:endParaRPr lang="en-US" sz="1250" dirty="0"/>
          </a:p>
        </p:txBody>
      </p:sp>
      <p:sp>
        <p:nvSpPr>
          <p:cNvPr id="17" name="Text 15"/>
          <p:cNvSpPr txBox="1"/>
          <p:nvPr/>
        </p:nvSpPr>
        <p:spPr>
          <a:xfrm>
            <a:off x="859536" y="4832604"/>
            <a:ext cx="384048" cy="578358"/>
          </a:xfrm>
          <a:prstGeom prst="rect">
            <a:avLst/>
          </a:prstGeom>
          <a:noFill/>
          <a:ln/>
        </p:spPr>
        <p:txBody>
          <a:bodyPr wrap="square" lIns="0" tIns="0" rIns="0" bIns="0" rtlCol="0" anchor="t"/>
          <a:lstStyle/>
          <a:p>
            <a:pPr indent="0" marL="0">
              <a:buNone/>
            </a:pPr>
            <a:r>
              <a:rPr lang="en-US" sz="1100" b="1" dirty="0">
                <a:solidFill>
                  <a:srgbClr val="3C8C21"/>
                </a:solidFill>
                <a:latin typeface="Calibri" pitchFamily="34" charset="0"/>
                <a:ea typeface="Calibri" pitchFamily="34" charset="-122"/>
                <a:cs typeface="Calibri" pitchFamily="34" charset="-120"/>
              </a:rPr>
              <a:t>03</a:t>
            </a:r>
            <a:endParaRPr lang="en-US" sz="1100" dirty="0"/>
          </a:p>
        </p:txBody>
      </p:sp>
      <p:sp>
        <p:nvSpPr>
          <p:cNvPr id="18" name="Text 16"/>
          <p:cNvSpPr txBox="1"/>
          <p:nvPr/>
        </p:nvSpPr>
        <p:spPr>
          <a:xfrm>
            <a:off x="1243584" y="4832604"/>
            <a:ext cx="1754048" cy="578358"/>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Faraday'ın keşfi: değişim akım doğurur</a:t>
            </a:r>
            <a:endParaRPr lang="en-US" sz="1250" dirty="0"/>
          </a:p>
        </p:txBody>
      </p:sp>
      <p:sp>
        <p:nvSpPr>
          <p:cNvPr id="19" name="Text 17"/>
          <p:cNvSpPr txBox="1"/>
          <p:nvPr/>
        </p:nvSpPr>
        <p:spPr>
          <a:xfrm>
            <a:off x="859536" y="5465826"/>
            <a:ext cx="384048" cy="578358"/>
          </a:xfrm>
          <a:prstGeom prst="rect">
            <a:avLst/>
          </a:prstGeom>
          <a:noFill/>
          <a:ln/>
        </p:spPr>
        <p:txBody>
          <a:bodyPr wrap="square" lIns="0" tIns="0" rIns="0" bIns="0" rtlCol="0" anchor="t"/>
          <a:lstStyle/>
          <a:p>
            <a:pPr indent="0" marL="0">
              <a:buNone/>
            </a:pPr>
            <a:r>
              <a:rPr lang="en-US" sz="1100" b="1" dirty="0">
                <a:solidFill>
                  <a:srgbClr val="3C8C21"/>
                </a:solidFill>
                <a:latin typeface="Calibri" pitchFamily="34" charset="0"/>
                <a:ea typeface="Calibri" pitchFamily="34" charset="-122"/>
                <a:cs typeface="Calibri" pitchFamily="34" charset="-120"/>
              </a:rPr>
              <a:t>04</a:t>
            </a:r>
            <a:endParaRPr lang="en-US" sz="1100" dirty="0"/>
          </a:p>
        </p:txBody>
      </p:sp>
      <p:sp>
        <p:nvSpPr>
          <p:cNvPr id="20" name="Text 18"/>
          <p:cNvSpPr txBox="1"/>
          <p:nvPr/>
        </p:nvSpPr>
        <p:spPr>
          <a:xfrm>
            <a:off x="1243584" y="5465826"/>
            <a:ext cx="1754048" cy="578358"/>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Lenz yasası: doğa değişime direnir</a:t>
            </a:r>
            <a:endParaRPr lang="en-US" sz="1250" dirty="0"/>
          </a:p>
        </p:txBody>
      </p:sp>
      <p:sp>
        <p:nvSpPr>
          <p:cNvPr id="21" name="Shape 19"/>
          <p:cNvSpPr/>
          <p:nvPr/>
        </p:nvSpPr>
        <p:spPr>
          <a:xfrm>
            <a:off x="3418256" y="1645920"/>
            <a:ext cx="2577008" cy="4498848"/>
          </a:xfrm>
          <a:prstGeom prst="roundRect">
            <a:avLst>
              <a:gd name="adj" fmla="val 5677"/>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2" name="Shape 20"/>
          <p:cNvSpPr/>
          <p:nvPr/>
        </p:nvSpPr>
        <p:spPr>
          <a:xfrm>
            <a:off x="3601136" y="1645920"/>
            <a:ext cx="2211248" cy="64008"/>
          </a:xfrm>
          <a:prstGeom prst="rect">
            <a:avLst/>
          </a:prstGeom>
          <a:solidFill>
            <a:srgbClr val="2957D4"/>
          </a:solidFill>
          <a:ln/>
        </p:spPr>
      </p:sp>
      <p:sp>
        <p:nvSpPr>
          <p:cNvPr id="23" name="Shape 21"/>
          <p:cNvSpPr/>
          <p:nvPr/>
        </p:nvSpPr>
        <p:spPr>
          <a:xfrm>
            <a:off x="3637712" y="1920240"/>
            <a:ext cx="420624" cy="420624"/>
          </a:xfrm>
          <a:prstGeom prst="roundRect">
            <a:avLst>
              <a:gd name="adj" fmla="val 26000"/>
            </a:avLst>
          </a:prstGeom>
          <a:solidFill>
            <a:srgbClr val="2957D4"/>
          </a:solidFill>
          <a:ln/>
        </p:spPr>
      </p:sp>
      <p:sp>
        <p:nvSpPr>
          <p:cNvPr id="24" name="Text 22"/>
          <p:cNvSpPr txBox="1"/>
          <p:nvPr/>
        </p:nvSpPr>
        <p:spPr>
          <a:xfrm>
            <a:off x="3637712" y="192024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5" name="Text 23"/>
          <p:cNvSpPr txBox="1"/>
          <p:nvPr/>
        </p:nvSpPr>
        <p:spPr>
          <a:xfrm>
            <a:off x="4186352" y="1901952"/>
            <a:ext cx="1662608" cy="457200"/>
          </a:xfrm>
          <a:prstGeom prst="rect">
            <a:avLst/>
          </a:prstGeom>
          <a:noFill/>
          <a:ln/>
        </p:spPr>
        <p:txBody>
          <a:bodyPr wrap="square" lIns="0" tIns="0" rIns="0" bIns="0" rtlCol="0" anchor="ctr"/>
          <a:lstStyle/>
          <a:p>
            <a:pPr indent="0" marL="0">
              <a:buNone/>
            </a:pPr>
            <a:r>
              <a:rPr lang="en-US" sz="1900" b="1" dirty="0">
                <a:solidFill>
                  <a:srgbClr val="0E1426"/>
                </a:solidFill>
                <a:latin typeface="Cambria" pitchFamily="34" charset="0"/>
                <a:ea typeface="Cambria" pitchFamily="34" charset="-122"/>
                <a:cs typeface="Cambria" pitchFamily="34" charset="-120"/>
              </a:rPr>
              <a:t>Orta</a:t>
            </a:r>
            <a:endParaRPr lang="en-US" sz="1900" dirty="0"/>
          </a:p>
        </p:txBody>
      </p:sp>
      <p:sp>
        <p:nvSpPr>
          <p:cNvPr id="26" name="Text 24"/>
          <p:cNvSpPr txBox="1"/>
          <p:nvPr/>
        </p:nvSpPr>
        <p:spPr>
          <a:xfrm>
            <a:off x="3637712" y="2487168"/>
            <a:ext cx="2138096" cy="868680"/>
          </a:xfrm>
          <a:prstGeom prst="rect">
            <a:avLst/>
          </a:prstGeom>
          <a:noFill/>
          <a:ln/>
        </p:spPr>
        <p:txBody>
          <a:bodyPr wrap="square" lIns="0" tIns="0" rIns="0" bIns="0" rtlCol="0" anchor="t"/>
          <a:lstStyle/>
          <a:p>
            <a:pPr indent="0" marL="0">
              <a:lnSpc>
                <a:spcPct val="110000"/>
              </a:lnSpc>
              <a:buNone/>
            </a:pPr>
            <a:r>
              <a:rPr lang="en-US" sz="1100" dirty="0">
                <a:solidFill>
                  <a:srgbClr val="4A5470"/>
                </a:solidFill>
                <a:latin typeface="Calibri" pitchFamily="34" charset="0"/>
                <a:ea typeface="Calibri" pitchFamily="34" charset="-122"/>
                <a:cs typeface="Calibri" pitchFamily="34" charset="-120"/>
              </a:rPr>
              <a:t>Bağıntılar: Faraday yasasını kullan, akımın yönünü bul, kayan çubuğun ve dönen çerçevenin emk'sini adım adım çıkar.</a:t>
            </a:r>
            <a:endParaRPr lang="en-US" sz="1100" dirty="0"/>
          </a:p>
        </p:txBody>
      </p:sp>
      <p:sp>
        <p:nvSpPr>
          <p:cNvPr id="27" name="Shape 25"/>
          <p:cNvSpPr/>
          <p:nvPr/>
        </p:nvSpPr>
        <p:spPr>
          <a:xfrm>
            <a:off x="3637712" y="3429000"/>
            <a:ext cx="2138096" cy="0"/>
          </a:xfrm>
          <a:prstGeom prst="line">
            <a:avLst/>
          </a:prstGeom>
          <a:noFill/>
          <a:ln w="9525">
            <a:solidFill>
              <a:srgbClr val="E1E5EE"/>
            </a:solidFill>
            <a:prstDash val="dash"/>
          </a:ln>
        </p:spPr>
      </p:sp>
      <p:sp>
        <p:nvSpPr>
          <p:cNvPr id="28" name="Text 26"/>
          <p:cNvSpPr txBox="1"/>
          <p:nvPr/>
        </p:nvSpPr>
        <p:spPr>
          <a:xfrm>
            <a:off x="3637712" y="3566160"/>
            <a:ext cx="384048" cy="451714"/>
          </a:xfrm>
          <a:prstGeom prst="rect">
            <a:avLst/>
          </a:prstGeom>
          <a:noFill/>
          <a:ln/>
        </p:spPr>
        <p:txBody>
          <a:bodyPr wrap="square" lIns="0" tIns="0" rIns="0" bIns="0" rtlCol="0" anchor="t"/>
          <a:lstStyle/>
          <a:p>
            <a:pPr indent="0" marL="0">
              <a:buNone/>
            </a:pPr>
            <a:r>
              <a:rPr lang="en-US" sz="1100" b="1" dirty="0">
                <a:solidFill>
                  <a:srgbClr val="2957D4"/>
                </a:solidFill>
                <a:latin typeface="Calibri" pitchFamily="34" charset="0"/>
                <a:ea typeface="Calibri" pitchFamily="34" charset="-122"/>
                <a:cs typeface="Calibri" pitchFamily="34" charset="-120"/>
              </a:rPr>
              <a:t>05</a:t>
            </a:r>
            <a:endParaRPr lang="en-US" sz="1100" dirty="0"/>
          </a:p>
        </p:txBody>
      </p:sp>
      <p:sp>
        <p:nvSpPr>
          <p:cNvPr id="29" name="Text 27"/>
          <p:cNvSpPr txBox="1"/>
          <p:nvPr/>
        </p:nvSpPr>
        <p:spPr>
          <a:xfrm>
            <a:off x="4021760" y="3566160"/>
            <a:ext cx="1754048" cy="45171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Faraday indüksiyon yasası</a:t>
            </a:r>
            <a:endParaRPr lang="en-US" sz="1250" dirty="0"/>
          </a:p>
        </p:txBody>
      </p:sp>
      <p:sp>
        <p:nvSpPr>
          <p:cNvPr id="30" name="Text 28"/>
          <p:cNvSpPr txBox="1"/>
          <p:nvPr/>
        </p:nvSpPr>
        <p:spPr>
          <a:xfrm>
            <a:off x="3637712" y="4072738"/>
            <a:ext cx="384048" cy="451714"/>
          </a:xfrm>
          <a:prstGeom prst="rect">
            <a:avLst/>
          </a:prstGeom>
          <a:noFill/>
          <a:ln/>
        </p:spPr>
        <p:txBody>
          <a:bodyPr wrap="square" lIns="0" tIns="0" rIns="0" bIns="0" rtlCol="0" anchor="t"/>
          <a:lstStyle/>
          <a:p>
            <a:pPr indent="0" marL="0">
              <a:buNone/>
            </a:pPr>
            <a:r>
              <a:rPr lang="en-US" sz="1100" b="1" dirty="0">
                <a:solidFill>
                  <a:srgbClr val="2957D4"/>
                </a:solidFill>
                <a:latin typeface="Calibri" pitchFamily="34" charset="0"/>
                <a:ea typeface="Calibri" pitchFamily="34" charset="-122"/>
                <a:cs typeface="Calibri" pitchFamily="34" charset="-120"/>
              </a:rPr>
              <a:t>06</a:t>
            </a:r>
            <a:endParaRPr lang="en-US" sz="1100" dirty="0"/>
          </a:p>
        </p:txBody>
      </p:sp>
      <p:sp>
        <p:nvSpPr>
          <p:cNvPr id="31" name="Text 29"/>
          <p:cNvSpPr txBox="1"/>
          <p:nvPr/>
        </p:nvSpPr>
        <p:spPr>
          <a:xfrm>
            <a:off x="4021760" y="4072738"/>
            <a:ext cx="1754048" cy="45171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İndüksiyon akımının yönü</a:t>
            </a:r>
            <a:endParaRPr lang="en-US" sz="1250" dirty="0"/>
          </a:p>
        </p:txBody>
      </p:sp>
      <p:sp>
        <p:nvSpPr>
          <p:cNvPr id="32" name="Text 30"/>
          <p:cNvSpPr txBox="1"/>
          <p:nvPr/>
        </p:nvSpPr>
        <p:spPr>
          <a:xfrm>
            <a:off x="3637712" y="4579315"/>
            <a:ext cx="384048" cy="451714"/>
          </a:xfrm>
          <a:prstGeom prst="rect">
            <a:avLst/>
          </a:prstGeom>
          <a:noFill/>
          <a:ln/>
        </p:spPr>
        <p:txBody>
          <a:bodyPr wrap="square" lIns="0" tIns="0" rIns="0" bIns="0" rtlCol="0" anchor="t"/>
          <a:lstStyle/>
          <a:p>
            <a:pPr indent="0" marL="0">
              <a:buNone/>
            </a:pPr>
            <a:r>
              <a:rPr lang="en-US" sz="1100" b="1" dirty="0">
                <a:solidFill>
                  <a:srgbClr val="2957D4"/>
                </a:solidFill>
                <a:latin typeface="Calibri" pitchFamily="34" charset="0"/>
                <a:ea typeface="Calibri" pitchFamily="34" charset="-122"/>
                <a:cs typeface="Calibri" pitchFamily="34" charset="-120"/>
              </a:rPr>
              <a:t>07</a:t>
            </a:r>
            <a:endParaRPr lang="en-US" sz="1100" dirty="0"/>
          </a:p>
        </p:txBody>
      </p:sp>
      <p:sp>
        <p:nvSpPr>
          <p:cNvPr id="33" name="Text 31"/>
          <p:cNvSpPr txBox="1"/>
          <p:nvPr/>
        </p:nvSpPr>
        <p:spPr>
          <a:xfrm>
            <a:off x="4021760" y="4579315"/>
            <a:ext cx="1754048" cy="45171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Hareketli iletken çubuk</a:t>
            </a:r>
            <a:endParaRPr lang="en-US" sz="1250" dirty="0"/>
          </a:p>
        </p:txBody>
      </p:sp>
      <p:sp>
        <p:nvSpPr>
          <p:cNvPr id="34" name="Text 32"/>
          <p:cNvSpPr txBox="1"/>
          <p:nvPr/>
        </p:nvSpPr>
        <p:spPr>
          <a:xfrm>
            <a:off x="3637712" y="5085893"/>
            <a:ext cx="384048" cy="451714"/>
          </a:xfrm>
          <a:prstGeom prst="rect">
            <a:avLst/>
          </a:prstGeom>
          <a:noFill/>
          <a:ln/>
        </p:spPr>
        <p:txBody>
          <a:bodyPr wrap="square" lIns="0" tIns="0" rIns="0" bIns="0" rtlCol="0" anchor="t"/>
          <a:lstStyle/>
          <a:p>
            <a:pPr indent="0" marL="0">
              <a:buNone/>
            </a:pPr>
            <a:r>
              <a:rPr lang="en-US" sz="1100" b="1" dirty="0">
                <a:solidFill>
                  <a:srgbClr val="2957D4"/>
                </a:solidFill>
                <a:latin typeface="Calibri" pitchFamily="34" charset="0"/>
                <a:ea typeface="Calibri" pitchFamily="34" charset="-122"/>
                <a:cs typeface="Calibri" pitchFamily="34" charset="-120"/>
              </a:rPr>
              <a:t>08</a:t>
            </a:r>
            <a:endParaRPr lang="en-US" sz="1100" dirty="0"/>
          </a:p>
        </p:txBody>
      </p:sp>
      <p:sp>
        <p:nvSpPr>
          <p:cNvPr id="35" name="Text 33"/>
          <p:cNvSpPr txBox="1"/>
          <p:nvPr/>
        </p:nvSpPr>
        <p:spPr>
          <a:xfrm>
            <a:off x="4021760" y="5085893"/>
            <a:ext cx="1754048" cy="45171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Sayılarla hisset: ne kadar emk?</a:t>
            </a:r>
            <a:endParaRPr lang="en-US" sz="1250" dirty="0"/>
          </a:p>
        </p:txBody>
      </p:sp>
      <p:sp>
        <p:nvSpPr>
          <p:cNvPr id="36" name="Text 34"/>
          <p:cNvSpPr txBox="1"/>
          <p:nvPr/>
        </p:nvSpPr>
        <p:spPr>
          <a:xfrm>
            <a:off x="3637712" y="5592470"/>
            <a:ext cx="384048" cy="451714"/>
          </a:xfrm>
          <a:prstGeom prst="rect">
            <a:avLst/>
          </a:prstGeom>
          <a:noFill/>
          <a:ln/>
        </p:spPr>
        <p:txBody>
          <a:bodyPr wrap="square" lIns="0" tIns="0" rIns="0" bIns="0" rtlCol="0" anchor="t"/>
          <a:lstStyle/>
          <a:p>
            <a:pPr indent="0" marL="0">
              <a:buNone/>
            </a:pPr>
            <a:r>
              <a:rPr lang="en-US" sz="1100" b="1" dirty="0">
                <a:solidFill>
                  <a:srgbClr val="2957D4"/>
                </a:solidFill>
                <a:latin typeface="Calibri" pitchFamily="34" charset="0"/>
                <a:ea typeface="Calibri" pitchFamily="34" charset="-122"/>
                <a:cs typeface="Calibri" pitchFamily="34" charset="-120"/>
              </a:rPr>
              <a:t>09</a:t>
            </a:r>
            <a:endParaRPr lang="en-US" sz="1100" dirty="0"/>
          </a:p>
        </p:txBody>
      </p:sp>
      <p:sp>
        <p:nvSpPr>
          <p:cNvPr id="37" name="Text 35"/>
          <p:cNvSpPr txBox="1"/>
          <p:nvPr/>
        </p:nvSpPr>
        <p:spPr>
          <a:xfrm>
            <a:off x="4021760" y="5592470"/>
            <a:ext cx="1754048" cy="45171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Jeneratör ve alternatif akım</a:t>
            </a:r>
            <a:endParaRPr lang="en-US" sz="1250" dirty="0"/>
          </a:p>
        </p:txBody>
      </p:sp>
      <p:sp>
        <p:nvSpPr>
          <p:cNvPr id="38" name="Shape 36"/>
          <p:cNvSpPr/>
          <p:nvPr/>
        </p:nvSpPr>
        <p:spPr>
          <a:xfrm>
            <a:off x="6196432" y="1645920"/>
            <a:ext cx="2577008" cy="4498848"/>
          </a:xfrm>
          <a:prstGeom prst="roundRect">
            <a:avLst>
              <a:gd name="adj" fmla="val 5677"/>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39" name="Shape 37"/>
          <p:cNvSpPr/>
          <p:nvPr/>
        </p:nvSpPr>
        <p:spPr>
          <a:xfrm>
            <a:off x="6379312" y="1645920"/>
            <a:ext cx="2211248" cy="64008"/>
          </a:xfrm>
          <a:prstGeom prst="rect">
            <a:avLst/>
          </a:prstGeom>
          <a:solidFill>
            <a:srgbClr val="5F4BD8"/>
          </a:solidFill>
          <a:ln/>
        </p:spPr>
      </p:sp>
      <p:sp>
        <p:nvSpPr>
          <p:cNvPr id="40" name="Shape 38"/>
          <p:cNvSpPr/>
          <p:nvPr/>
        </p:nvSpPr>
        <p:spPr>
          <a:xfrm>
            <a:off x="6415888" y="1920240"/>
            <a:ext cx="420624" cy="420624"/>
          </a:xfrm>
          <a:prstGeom prst="roundRect">
            <a:avLst>
              <a:gd name="adj" fmla="val 26000"/>
            </a:avLst>
          </a:prstGeom>
          <a:solidFill>
            <a:srgbClr val="5F4BD8"/>
          </a:solidFill>
          <a:ln/>
        </p:spPr>
      </p:sp>
      <p:sp>
        <p:nvSpPr>
          <p:cNvPr id="41" name="Text 39"/>
          <p:cNvSpPr txBox="1"/>
          <p:nvPr/>
        </p:nvSpPr>
        <p:spPr>
          <a:xfrm>
            <a:off x="6415888" y="192024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42" name="Text 40"/>
          <p:cNvSpPr txBox="1"/>
          <p:nvPr/>
        </p:nvSpPr>
        <p:spPr>
          <a:xfrm>
            <a:off x="6964528" y="1901952"/>
            <a:ext cx="1662608" cy="457200"/>
          </a:xfrm>
          <a:prstGeom prst="rect">
            <a:avLst/>
          </a:prstGeom>
          <a:noFill/>
          <a:ln/>
        </p:spPr>
        <p:txBody>
          <a:bodyPr wrap="square" lIns="0" tIns="0" rIns="0" bIns="0" rtlCol="0" anchor="ctr"/>
          <a:lstStyle/>
          <a:p>
            <a:pPr indent="0" marL="0">
              <a:buNone/>
            </a:pPr>
            <a:r>
              <a:rPr lang="en-US" sz="1900" b="1" dirty="0">
                <a:solidFill>
                  <a:srgbClr val="0E1426"/>
                </a:solidFill>
                <a:latin typeface="Cambria" pitchFamily="34" charset="0"/>
                <a:ea typeface="Cambria" pitchFamily="34" charset="-122"/>
                <a:cs typeface="Cambria" pitchFamily="34" charset="-120"/>
              </a:rPr>
              <a:t>İleri</a:t>
            </a:r>
            <a:endParaRPr lang="en-US" sz="1900" dirty="0"/>
          </a:p>
        </p:txBody>
      </p:sp>
      <p:sp>
        <p:nvSpPr>
          <p:cNvPr id="43" name="Text 41"/>
          <p:cNvSpPr txBox="1"/>
          <p:nvPr/>
        </p:nvSpPr>
        <p:spPr>
          <a:xfrm>
            <a:off x="6415888" y="2487168"/>
            <a:ext cx="2138096" cy="868680"/>
          </a:xfrm>
          <a:prstGeom prst="rect">
            <a:avLst/>
          </a:prstGeom>
          <a:noFill/>
          <a:ln/>
        </p:spPr>
        <p:txBody>
          <a:bodyPr wrap="square" lIns="0" tIns="0" rIns="0" bIns="0" rtlCol="0" anchor="t"/>
          <a:lstStyle/>
          <a:p>
            <a:pPr indent="0" marL="0">
              <a:lnSpc>
                <a:spcPct val="110000"/>
              </a:lnSpc>
              <a:buNone/>
            </a:pPr>
            <a:r>
              <a:rPr lang="en-US" sz="1100" dirty="0">
                <a:solidFill>
                  <a:srgbClr val="4A5470"/>
                </a:solidFill>
                <a:latin typeface="Calibri" pitchFamily="34" charset="0"/>
                <a:ea typeface="Calibri" pitchFamily="34" charset="-122"/>
                <a:cs typeface="Calibri" pitchFamily="34" charset="-120"/>
              </a:rPr>
              <a:t>Derinleşme: akım bir telde değil de bütün bir metal parçada dolaşınca, devre açıkken ya da motor dönerken ne olur?</a:t>
            </a:r>
            <a:endParaRPr lang="en-US" sz="1100" dirty="0"/>
          </a:p>
        </p:txBody>
      </p:sp>
      <p:sp>
        <p:nvSpPr>
          <p:cNvPr id="44" name="Shape 42"/>
          <p:cNvSpPr/>
          <p:nvPr/>
        </p:nvSpPr>
        <p:spPr>
          <a:xfrm>
            <a:off x="6415888" y="3429000"/>
            <a:ext cx="2138096" cy="0"/>
          </a:xfrm>
          <a:prstGeom prst="line">
            <a:avLst/>
          </a:prstGeom>
          <a:noFill/>
          <a:ln w="9525">
            <a:solidFill>
              <a:srgbClr val="E1E5EE"/>
            </a:solidFill>
            <a:prstDash val="dash"/>
          </a:ln>
        </p:spPr>
      </p:sp>
      <p:sp>
        <p:nvSpPr>
          <p:cNvPr id="45" name="Text 43"/>
          <p:cNvSpPr txBox="1"/>
          <p:nvPr/>
        </p:nvSpPr>
        <p:spPr>
          <a:xfrm>
            <a:off x="6415888" y="3566160"/>
            <a:ext cx="384048" cy="603504"/>
          </a:xfrm>
          <a:prstGeom prst="rect">
            <a:avLst/>
          </a:prstGeom>
          <a:noFill/>
          <a:ln/>
        </p:spPr>
        <p:txBody>
          <a:bodyPr wrap="square" lIns="0" tIns="0" rIns="0" bIns="0" rtlCol="0" anchor="t"/>
          <a:lstStyle/>
          <a:p>
            <a:pPr indent="0" marL="0">
              <a:buNone/>
            </a:pPr>
            <a:r>
              <a:rPr lang="en-US" sz="1100" b="1" dirty="0">
                <a:solidFill>
                  <a:srgbClr val="5F4BD8"/>
                </a:solidFill>
                <a:latin typeface="Calibri" pitchFamily="34" charset="0"/>
                <a:ea typeface="Calibri" pitchFamily="34" charset="-122"/>
                <a:cs typeface="Calibri" pitchFamily="34" charset="-120"/>
              </a:rPr>
              <a:t>10</a:t>
            </a:r>
            <a:endParaRPr lang="en-US" sz="1100" dirty="0"/>
          </a:p>
        </p:txBody>
      </p:sp>
      <p:sp>
        <p:nvSpPr>
          <p:cNvPr id="46" name="Text 44"/>
          <p:cNvSpPr txBox="1"/>
          <p:nvPr/>
        </p:nvSpPr>
        <p:spPr>
          <a:xfrm>
            <a:off x="6799936" y="3566160"/>
            <a:ext cx="1754048" cy="60350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Girdap akımları: bakır boru deneyi</a:t>
            </a:r>
            <a:endParaRPr lang="en-US" sz="1250" dirty="0"/>
          </a:p>
        </p:txBody>
      </p:sp>
      <p:sp>
        <p:nvSpPr>
          <p:cNvPr id="47" name="Text 45"/>
          <p:cNvSpPr txBox="1"/>
          <p:nvPr/>
        </p:nvSpPr>
        <p:spPr>
          <a:xfrm>
            <a:off x="6415888" y="4224528"/>
            <a:ext cx="384048" cy="603504"/>
          </a:xfrm>
          <a:prstGeom prst="rect">
            <a:avLst/>
          </a:prstGeom>
          <a:noFill/>
          <a:ln/>
        </p:spPr>
        <p:txBody>
          <a:bodyPr wrap="square" lIns="0" tIns="0" rIns="0" bIns="0" rtlCol="0" anchor="t"/>
          <a:lstStyle/>
          <a:p>
            <a:pPr indent="0" marL="0">
              <a:buNone/>
            </a:pPr>
            <a:r>
              <a:rPr lang="en-US" sz="1100" b="1" dirty="0">
                <a:solidFill>
                  <a:srgbClr val="5F4BD8"/>
                </a:solidFill>
                <a:latin typeface="Calibri" pitchFamily="34" charset="0"/>
                <a:ea typeface="Calibri" pitchFamily="34" charset="-122"/>
                <a:cs typeface="Calibri" pitchFamily="34" charset="-120"/>
              </a:rPr>
              <a:t>11</a:t>
            </a:r>
            <a:endParaRPr lang="en-US" sz="1100" dirty="0"/>
          </a:p>
        </p:txBody>
      </p:sp>
      <p:sp>
        <p:nvSpPr>
          <p:cNvPr id="48" name="Text 46"/>
          <p:cNvSpPr txBox="1"/>
          <p:nvPr/>
        </p:nvSpPr>
        <p:spPr>
          <a:xfrm>
            <a:off x="6799936" y="4224528"/>
            <a:ext cx="1754048" cy="603504"/>
          </a:xfrm>
          <a:prstGeom prst="rect">
            <a:avLst/>
          </a:prstGeom>
          <a:noFill/>
          <a:ln/>
        </p:spPr>
        <p:txBody>
          <a:bodyPr wrap="square" lIns="0" tIns="0" rIns="0" bIns="0" rtlCol="0" anchor="t"/>
          <a:lstStyle/>
          <a:p>
            <a:pPr indent="0" marL="0">
              <a:lnSpc>
                <a:spcPct val="105000"/>
              </a:lnSpc>
              <a:buNone/>
            </a:pPr>
            <a:r>
              <a:rPr lang="en-US" sz="1200" b="1" dirty="0">
                <a:solidFill>
                  <a:srgbClr val="0E1426"/>
                </a:solidFill>
                <a:latin typeface="Calibri" pitchFamily="34" charset="0"/>
                <a:ea typeface="Calibri" pitchFamily="34" charset="-122"/>
                <a:cs typeface="Calibri" pitchFamily="34" charset="-120"/>
              </a:rPr>
              <a:t>İnce durumlar: açık devre, karşı emk, öz-indüksiyon</a:t>
            </a:r>
            <a:endParaRPr lang="en-US" sz="1200" dirty="0"/>
          </a:p>
        </p:txBody>
      </p:sp>
      <p:sp>
        <p:nvSpPr>
          <p:cNvPr id="49" name="Text 47"/>
          <p:cNvSpPr txBox="1"/>
          <p:nvPr/>
        </p:nvSpPr>
        <p:spPr>
          <a:xfrm>
            <a:off x="6415888" y="4882896"/>
            <a:ext cx="384048" cy="603504"/>
          </a:xfrm>
          <a:prstGeom prst="rect">
            <a:avLst/>
          </a:prstGeom>
          <a:noFill/>
          <a:ln/>
        </p:spPr>
        <p:txBody>
          <a:bodyPr wrap="square" lIns="0" tIns="0" rIns="0" bIns="0" rtlCol="0" anchor="t"/>
          <a:lstStyle/>
          <a:p>
            <a:pPr indent="0" marL="0">
              <a:buNone/>
            </a:pPr>
            <a:r>
              <a:rPr lang="en-US" sz="1100" b="1" dirty="0">
                <a:solidFill>
                  <a:srgbClr val="5F4BD8"/>
                </a:solidFill>
                <a:latin typeface="Calibri" pitchFamily="34" charset="0"/>
                <a:ea typeface="Calibri" pitchFamily="34" charset="-122"/>
                <a:cs typeface="Calibri" pitchFamily="34" charset="-120"/>
              </a:rPr>
              <a:t>12</a:t>
            </a:r>
            <a:endParaRPr lang="en-US" sz="1100" dirty="0"/>
          </a:p>
        </p:txBody>
      </p:sp>
      <p:sp>
        <p:nvSpPr>
          <p:cNvPr id="50" name="Text 48"/>
          <p:cNvSpPr txBox="1"/>
          <p:nvPr/>
        </p:nvSpPr>
        <p:spPr>
          <a:xfrm>
            <a:off x="6799936" y="4882896"/>
            <a:ext cx="1754048" cy="60350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İndüksiyon gerçek dünyada</a:t>
            </a:r>
            <a:endParaRPr lang="en-US" sz="1250" dirty="0"/>
          </a:p>
        </p:txBody>
      </p:sp>
      <p:sp>
        <p:nvSpPr>
          <p:cNvPr id="51" name="Shape 49"/>
          <p:cNvSpPr/>
          <p:nvPr/>
        </p:nvSpPr>
        <p:spPr>
          <a:xfrm>
            <a:off x="8974607" y="1645920"/>
            <a:ext cx="2577008" cy="4498848"/>
          </a:xfrm>
          <a:prstGeom prst="roundRect">
            <a:avLst>
              <a:gd name="adj" fmla="val 5677"/>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52" name="Shape 50"/>
          <p:cNvSpPr/>
          <p:nvPr/>
        </p:nvSpPr>
        <p:spPr>
          <a:xfrm>
            <a:off x="9157487" y="1645920"/>
            <a:ext cx="2211248" cy="64008"/>
          </a:xfrm>
          <a:prstGeom prst="rect">
            <a:avLst/>
          </a:prstGeom>
          <a:solidFill>
            <a:srgbClr val="A56209"/>
          </a:solidFill>
          <a:ln/>
        </p:spPr>
      </p:sp>
      <p:sp>
        <p:nvSpPr>
          <p:cNvPr id="53" name="Shape 51"/>
          <p:cNvSpPr/>
          <p:nvPr/>
        </p:nvSpPr>
        <p:spPr>
          <a:xfrm>
            <a:off x="9194063" y="1920240"/>
            <a:ext cx="420624" cy="420624"/>
          </a:xfrm>
          <a:prstGeom prst="roundRect">
            <a:avLst>
              <a:gd name="adj" fmla="val 26000"/>
            </a:avLst>
          </a:prstGeom>
          <a:solidFill>
            <a:srgbClr val="A56209"/>
          </a:solidFill>
          <a:ln/>
        </p:spPr>
      </p:sp>
      <p:sp>
        <p:nvSpPr>
          <p:cNvPr id="54" name="Text 52"/>
          <p:cNvSpPr txBox="1"/>
          <p:nvPr/>
        </p:nvSpPr>
        <p:spPr>
          <a:xfrm>
            <a:off x="9194063" y="192024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55" name="Text 53"/>
          <p:cNvSpPr txBox="1"/>
          <p:nvPr/>
        </p:nvSpPr>
        <p:spPr>
          <a:xfrm>
            <a:off x="9742703" y="1901952"/>
            <a:ext cx="1662608" cy="457200"/>
          </a:xfrm>
          <a:prstGeom prst="rect">
            <a:avLst/>
          </a:prstGeom>
          <a:noFill/>
          <a:ln/>
        </p:spPr>
        <p:txBody>
          <a:bodyPr wrap="square" lIns="0" tIns="0" rIns="0" bIns="0" rtlCol="0" anchor="ctr"/>
          <a:lstStyle/>
          <a:p>
            <a:pPr indent="0" marL="0">
              <a:buNone/>
            </a:pPr>
            <a:r>
              <a:rPr lang="en-US" sz="1900" b="1" dirty="0">
                <a:solidFill>
                  <a:srgbClr val="0E1426"/>
                </a:solidFill>
                <a:latin typeface="Cambria" pitchFamily="34" charset="0"/>
                <a:ea typeface="Cambria" pitchFamily="34" charset="-122"/>
                <a:cs typeface="Cambria" pitchFamily="34" charset="-120"/>
              </a:rPr>
              <a:t>Pekiştir</a:t>
            </a:r>
            <a:endParaRPr lang="en-US" sz="1900" dirty="0"/>
          </a:p>
        </p:txBody>
      </p:sp>
      <p:sp>
        <p:nvSpPr>
          <p:cNvPr id="56" name="Text 54"/>
          <p:cNvSpPr txBox="1"/>
          <p:nvPr/>
        </p:nvSpPr>
        <p:spPr>
          <a:xfrm>
            <a:off x="9194063" y="2487168"/>
            <a:ext cx="2138096" cy="868680"/>
          </a:xfrm>
          <a:prstGeom prst="rect">
            <a:avLst/>
          </a:prstGeom>
          <a:noFill/>
          <a:ln/>
        </p:spPr>
        <p:txBody>
          <a:bodyPr wrap="square" lIns="0" tIns="0" rIns="0" bIns="0" rtlCol="0" anchor="t"/>
          <a:lstStyle/>
          <a:p>
            <a:pPr indent="0" marL="0">
              <a:lnSpc>
                <a:spcPct val="110000"/>
              </a:lnSpc>
              <a:buNone/>
            </a:pPr>
            <a:r>
              <a:rPr lang="en-US" sz="1150" dirty="0">
                <a:solidFill>
                  <a:srgbClr val="4A5470"/>
                </a:solidFill>
                <a:latin typeface="Calibri" pitchFamily="34" charset="0"/>
                <a:ea typeface="Calibri" pitchFamily="34" charset="-122"/>
                <a:cs typeface="Calibri" pitchFamily="34" charset="-120"/>
              </a:rPr>
              <a:t>Kolaydan zora çözümlü örnekler ve sınavda puan kaybettiren klasik hatalar.</a:t>
            </a:r>
            <a:endParaRPr lang="en-US" sz="1150" dirty="0"/>
          </a:p>
        </p:txBody>
      </p:sp>
      <p:sp>
        <p:nvSpPr>
          <p:cNvPr id="57" name="Shape 55"/>
          <p:cNvSpPr/>
          <p:nvPr/>
        </p:nvSpPr>
        <p:spPr>
          <a:xfrm>
            <a:off x="9194063" y="3429000"/>
            <a:ext cx="2138096" cy="0"/>
          </a:xfrm>
          <a:prstGeom prst="line">
            <a:avLst/>
          </a:prstGeom>
          <a:noFill/>
          <a:ln w="9525">
            <a:solidFill>
              <a:srgbClr val="E1E5EE"/>
            </a:solidFill>
            <a:prstDash val="dash"/>
          </a:ln>
        </p:spPr>
      </p:sp>
      <p:sp>
        <p:nvSpPr>
          <p:cNvPr id="58" name="Text 56"/>
          <p:cNvSpPr txBox="1"/>
          <p:nvPr/>
        </p:nvSpPr>
        <p:spPr>
          <a:xfrm>
            <a:off x="9194063" y="3566160"/>
            <a:ext cx="384048" cy="603504"/>
          </a:xfrm>
          <a:prstGeom prst="rect">
            <a:avLst/>
          </a:prstGeom>
          <a:noFill/>
          <a:ln/>
        </p:spPr>
        <p:txBody>
          <a:bodyPr wrap="square" lIns="0" tIns="0" rIns="0" bIns="0" rtlCol="0" anchor="t"/>
          <a:lstStyle/>
          <a:p>
            <a:pPr indent="0" marL="0">
              <a:buNone/>
            </a:pPr>
            <a:r>
              <a:rPr lang="en-US" sz="1100" b="1" dirty="0">
                <a:solidFill>
                  <a:srgbClr val="A56209"/>
                </a:solidFill>
                <a:latin typeface="Calibri" pitchFamily="34" charset="0"/>
                <a:ea typeface="Calibri" pitchFamily="34" charset="-122"/>
                <a:cs typeface="Calibri" pitchFamily="34" charset="-120"/>
              </a:rPr>
              <a:t>13</a:t>
            </a:r>
            <a:endParaRPr lang="en-US" sz="1100" dirty="0"/>
          </a:p>
        </p:txBody>
      </p:sp>
      <p:sp>
        <p:nvSpPr>
          <p:cNvPr id="59" name="Text 57"/>
          <p:cNvSpPr txBox="1"/>
          <p:nvPr/>
        </p:nvSpPr>
        <p:spPr>
          <a:xfrm>
            <a:off x="9578111" y="3566160"/>
            <a:ext cx="1754048" cy="60350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Çözümlü örnekler</a:t>
            </a:r>
            <a:endParaRPr lang="en-US" sz="1250" dirty="0"/>
          </a:p>
        </p:txBody>
      </p:sp>
      <p:sp>
        <p:nvSpPr>
          <p:cNvPr id="60" name="Text 58"/>
          <p:cNvSpPr txBox="1"/>
          <p:nvPr/>
        </p:nvSpPr>
        <p:spPr>
          <a:xfrm>
            <a:off x="9194063" y="4224528"/>
            <a:ext cx="384048" cy="603504"/>
          </a:xfrm>
          <a:prstGeom prst="rect">
            <a:avLst/>
          </a:prstGeom>
          <a:noFill/>
          <a:ln/>
        </p:spPr>
        <p:txBody>
          <a:bodyPr wrap="square" lIns="0" tIns="0" rIns="0" bIns="0" rtlCol="0" anchor="t"/>
          <a:lstStyle/>
          <a:p>
            <a:pPr indent="0" marL="0">
              <a:buNone/>
            </a:pPr>
            <a:r>
              <a:rPr lang="en-US" sz="1100" b="1" dirty="0">
                <a:solidFill>
                  <a:srgbClr val="A56209"/>
                </a:solidFill>
                <a:latin typeface="Calibri" pitchFamily="34" charset="0"/>
                <a:ea typeface="Calibri" pitchFamily="34" charset="-122"/>
                <a:cs typeface="Calibri" pitchFamily="34" charset="-120"/>
              </a:rPr>
              <a:t>14</a:t>
            </a:r>
            <a:endParaRPr lang="en-US" sz="1100" dirty="0"/>
          </a:p>
        </p:txBody>
      </p:sp>
      <p:sp>
        <p:nvSpPr>
          <p:cNvPr id="61" name="Text 59"/>
          <p:cNvSpPr txBox="1"/>
          <p:nvPr/>
        </p:nvSpPr>
        <p:spPr>
          <a:xfrm>
            <a:off x="9578111" y="4224528"/>
            <a:ext cx="1754048" cy="60350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Sık yapılan hatalar</a:t>
            </a:r>
            <a:endParaRPr lang="en-US" sz="1250" dirty="0"/>
          </a:p>
        </p:txBody>
      </p:sp>
      <p:sp>
        <p:nvSpPr>
          <p:cNvPr id="62" name="Shape 60"/>
          <p:cNvSpPr/>
          <p:nvPr/>
        </p:nvSpPr>
        <p:spPr>
          <a:xfrm>
            <a:off x="640080" y="6382512"/>
            <a:ext cx="128016" cy="128016"/>
          </a:xfrm>
          <a:prstGeom prst="roundRect">
            <a:avLst>
              <a:gd name="adj" fmla="val 28571"/>
            </a:avLst>
          </a:prstGeom>
          <a:solidFill>
            <a:srgbClr val="A9E648"/>
          </a:solidFill>
          <a:ln/>
        </p:spPr>
      </p:sp>
      <p:sp>
        <p:nvSpPr>
          <p:cNvPr id="63" name="Text 6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dersler.perinet.org/induksiyon-akimi.html</a:t>
            </a:r>
            <a:endParaRPr lang="en-US" sz="1050" dirty="0"/>
          </a:p>
        </p:txBody>
      </p:sp>
      <p:sp>
        <p:nvSpPr>
          <p:cNvPr id="64" name="Text 62"/>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03</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1426"/>
        </a:solidFill>
      </p:bgPr>
    </p:bg>
    <p:spTree>
      <p:nvGrpSpPr>
        <p:cNvPr id="1" name=""/>
        <p:cNvGrpSpPr/>
        <p:nvPr/>
      </p:nvGrpSpPr>
      <p:grpSpPr>
        <a:xfrm>
          <a:off x="0" y="0"/>
          <a:ext cx="0" cy="0"/>
          <a:chOff x="0" y="0"/>
          <a:chExt cx="0" cy="0"/>
        </a:xfrm>
      </p:grpSpPr>
      <p:sp>
        <p:nvSpPr>
          <p:cNvPr id="2" name="Text 0"/>
          <p:cNvSpPr txBox="1"/>
          <p:nvPr/>
        </p:nvSpPr>
        <p:spPr>
          <a:xfrm>
            <a:off x="685800" y="365760"/>
            <a:ext cx="1828800" cy="1874520"/>
          </a:xfrm>
          <a:prstGeom prst="rect">
            <a:avLst/>
          </a:prstGeom>
          <a:noFill/>
          <a:ln/>
        </p:spPr>
        <p:txBody>
          <a:bodyPr wrap="square" lIns="0" tIns="0" rIns="0" bIns="0" rtlCol="0" anchor="ctr"/>
          <a:lstStyle/>
          <a:p>
            <a:pPr indent="0" marL="0">
              <a:buNone/>
            </a:pPr>
            <a:r>
              <a:rPr lang="en-US" sz="11600" b="1" dirty="0">
                <a:solidFill>
                  <a:srgbClr val="C6F36B"/>
                </a:solidFill>
                <a:latin typeface="Cambria" pitchFamily="34" charset="0"/>
                <a:ea typeface="Cambria" pitchFamily="34" charset="-122"/>
                <a:cs typeface="Cambria" pitchFamily="34" charset="-120"/>
              </a:rPr>
              <a:t>1</a:t>
            </a:r>
            <a:endParaRPr lang="en-US" sz="11600" dirty="0"/>
          </a:p>
        </p:txBody>
      </p:sp>
      <p:sp>
        <p:nvSpPr>
          <p:cNvPr id="3" name="Text 1"/>
          <p:cNvSpPr txBox="1"/>
          <p:nvPr/>
        </p:nvSpPr>
        <p:spPr>
          <a:xfrm>
            <a:off x="731520" y="2286000"/>
            <a:ext cx="4572000" cy="292608"/>
          </a:xfrm>
          <a:prstGeom prst="rect">
            <a:avLst/>
          </a:prstGeom>
          <a:noFill/>
          <a:ln/>
        </p:spPr>
        <p:txBody>
          <a:bodyPr wrap="square" lIns="0" tIns="0" rIns="0" bIns="0" rtlCol="0" anchor="ctr"/>
          <a:lstStyle/>
          <a:p>
            <a:pPr indent="0" marL="0">
              <a:buNone/>
            </a:pPr>
            <a:r>
              <a:rPr lang="en-US" sz="1200" b="1" spc="300" kern="0" dirty="0">
                <a:solidFill>
                  <a:srgbClr val="C6F36B"/>
                </a:solidFill>
                <a:latin typeface="Calibri" pitchFamily="34" charset="0"/>
                <a:ea typeface="Calibri" pitchFamily="34" charset="-122"/>
                <a:cs typeface="Calibri" pitchFamily="34" charset="-120"/>
              </a:rPr>
              <a:t>BASAMAK 1 / 4</a:t>
            </a:r>
            <a:endParaRPr lang="en-US" sz="1200" dirty="0"/>
          </a:p>
        </p:txBody>
      </p:sp>
      <p:sp>
        <p:nvSpPr>
          <p:cNvPr id="4" name="Text 2"/>
          <p:cNvSpPr txBox="1"/>
          <p:nvPr/>
        </p:nvSpPr>
        <p:spPr>
          <a:xfrm>
            <a:off x="685800" y="2578608"/>
            <a:ext cx="5120640" cy="822960"/>
          </a:xfrm>
          <a:prstGeom prst="rect">
            <a:avLst/>
          </a:prstGeom>
          <a:noFill/>
          <a:ln/>
        </p:spPr>
        <p:txBody>
          <a:bodyPr wrap="square" lIns="0" tIns="0" rIns="0" bIns="0" rtlCol="0" anchor="ctr"/>
          <a:lstStyle/>
          <a:p>
            <a:pPr indent="0" marL="0">
              <a:buNone/>
            </a:pPr>
            <a:r>
              <a:rPr lang="en-US" sz="4600" b="1" spc="-100" kern="0" dirty="0">
                <a:solidFill>
                  <a:srgbClr val="FFFFFF"/>
                </a:solidFill>
                <a:latin typeface="Cambria" pitchFamily="34" charset="0"/>
                <a:ea typeface="Cambria" pitchFamily="34" charset="-122"/>
                <a:cs typeface="Cambria" pitchFamily="34" charset="-120"/>
              </a:rPr>
              <a:t>Temel</a:t>
            </a:r>
            <a:endParaRPr lang="en-US" sz="4600" dirty="0"/>
          </a:p>
        </p:txBody>
      </p:sp>
      <p:sp>
        <p:nvSpPr>
          <p:cNvPr id="5" name="Text 3"/>
          <p:cNvSpPr txBox="1"/>
          <p:nvPr/>
        </p:nvSpPr>
        <p:spPr>
          <a:xfrm>
            <a:off x="731520" y="3474720"/>
            <a:ext cx="4846320" cy="914400"/>
          </a:xfrm>
          <a:prstGeom prst="rect">
            <a:avLst/>
          </a:prstGeom>
          <a:noFill/>
          <a:ln/>
        </p:spPr>
        <p:txBody>
          <a:bodyPr wrap="square" lIns="0" tIns="0" rIns="0" bIns="0" rtlCol="0" anchor="t"/>
          <a:lstStyle/>
          <a:p>
            <a:pPr indent="0" marL="0">
              <a:lnSpc>
                <a:spcPct val="120000"/>
              </a:lnSpc>
              <a:buNone/>
            </a:pPr>
            <a:r>
              <a:rPr lang="en-US" sz="1600" dirty="0">
                <a:solidFill>
                  <a:srgbClr val="C3CEE8"/>
                </a:solidFill>
                <a:latin typeface="Calibri" pitchFamily="34" charset="0"/>
                <a:ea typeface="Calibri" pitchFamily="34" charset="-122"/>
                <a:cs typeface="Calibri" pitchFamily="34" charset="-120"/>
              </a:rPr>
              <a:t>Önce sezgi: akım nereden doğuyor, akı ne demek ve doğa değişime neden karşı koyuyor? Bu basamakta hesap yok denecek kadar az.</a:t>
            </a:r>
            <a:endParaRPr lang="en-US" sz="1600" dirty="0"/>
          </a:p>
        </p:txBody>
      </p:sp>
      <p:sp>
        <p:nvSpPr>
          <p:cNvPr id="6" name="Text 4"/>
          <p:cNvSpPr txBox="1"/>
          <p:nvPr/>
        </p:nvSpPr>
        <p:spPr>
          <a:xfrm>
            <a:off x="731520" y="4572000"/>
            <a:ext cx="5120640" cy="329184"/>
          </a:xfrm>
          <a:prstGeom prst="rect">
            <a:avLst/>
          </a:prstGeom>
          <a:noFill/>
          <a:ln/>
        </p:spPr>
        <p:txBody>
          <a:bodyPr wrap="square" lIns="0" tIns="0" rIns="0" bIns="0" rtlCol="0" anchor="ctr"/>
          <a:lstStyle/>
          <a:p>
            <a:pPr indent="0" marL="0">
              <a:buNone/>
            </a:pPr>
            <a:r>
              <a:rPr lang="en-US" sz="1300" b="1" dirty="0">
                <a:solidFill>
                  <a:srgbClr val="C6F36B"/>
                </a:solidFill>
                <a:latin typeface="Calibri" pitchFamily="34" charset="0"/>
                <a:ea typeface="Calibri" pitchFamily="34" charset="-122"/>
                <a:cs typeface="Calibri" pitchFamily="34" charset="-120"/>
              </a:rPr>
              <a:t>01   </a:t>
            </a:r>
            <a:pPr indent="0" marL="0">
              <a:buNone/>
            </a:pPr>
            <a:r>
              <a:rPr lang="en-US" sz="1300" dirty="0">
                <a:solidFill>
                  <a:srgbClr val="FFFFFF"/>
                </a:solidFill>
                <a:latin typeface="Calibri" pitchFamily="34" charset="0"/>
                <a:ea typeface="Calibri" pitchFamily="34" charset="-122"/>
                <a:cs typeface="Calibri" pitchFamily="34" charset="-120"/>
              </a:rPr>
              <a:t>Önce gözlemle: bisiklet farı nasıl yanar?</a:t>
            </a:r>
            <a:endParaRPr lang="en-US" sz="1300" dirty="0"/>
          </a:p>
        </p:txBody>
      </p:sp>
      <p:sp>
        <p:nvSpPr>
          <p:cNvPr id="7" name="Text 5"/>
          <p:cNvSpPr txBox="1"/>
          <p:nvPr/>
        </p:nvSpPr>
        <p:spPr>
          <a:xfrm>
            <a:off x="731520" y="4901184"/>
            <a:ext cx="5120640" cy="329184"/>
          </a:xfrm>
          <a:prstGeom prst="rect">
            <a:avLst/>
          </a:prstGeom>
          <a:noFill/>
          <a:ln/>
        </p:spPr>
        <p:txBody>
          <a:bodyPr wrap="square" lIns="0" tIns="0" rIns="0" bIns="0" rtlCol="0" anchor="ctr"/>
          <a:lstStyle/>
          <a:p>
            <a:pPr indent="0" marL="0">
              <a:buNone/>
            </a:pPr>
            <a:r>
              <a:rPr lang="en-US" sz="1300" b="1" dirty="0">
                <a:solidFill>
                  <a:srgbClr val="C6F36B"/>
                </a:solidFill>
                <a:latin typeface="Calibri" pitchFamily="34" charset="0"/>
                <a:ea typeface="Calibri" pitchFamily="34" charset="-122"/>
                <a:cs typeface="Calibri" pitchFamily="34" charset="-120"/>
              </a:rPr>
              <a:t>02   </a:t>
            </a:r>
            <a:pPr indent="0" marL="0">
              <a:buNone/>
            </a:pPr>
            <a:r>
              <a:rPr lang="en-US" sz="1300" dirty="0">
                <a:solidFill>
                  <a:srgbClr val="FFFFFF"/>
                </a:solidFill>
                <a:latin typeface="Calibri" pitchFamily="34" charset="0"/>
                <a:ea typeface="Calibri" pitchFamily="34" charset="-122"/>
                <a:cs typeface="Calibri" pitchFamily="34" charset="-120"/>
              </a:rPr>
              <a:t>Manyetik akı</a:t>
            </a:r>
            <a:endParaRPr lang="en-US" sz="1300" dirty="0"/>
          </a:p>
        </p:txBody>
      </p:sp>
      <p:sp>
        <p:nvSpPr>
          <p:cNvPr id="8" name="Text 6"/>
          <p:cNvSpPr txBox="1"/>
          <p:nvPr/>
        </p:nvSpPr>
        <p:spPr>
          <a:xfrm>
            <a:off x="731520" y="5230368"/>
            <a:ext cx="5120640" cy="329184"/>
          </a:xfrm>
          <a:prstGeom prst="rect">
            <a:avLst/>
          </a:prstGeom>
          <a:noFill/>
          <a:ln/>
        </p:spPr>
        <p:txBody>
          <a:bodyPr wrap="square" lIns="0" tIns="0" rIns="0" bIns="0" rtlCol="0" anchor="ctr"/>
          <a:lstStyle/>
          <a:p>
            <a:pPr indent="0" marL="0">
              <a:buNone/>
            </a:pPr>
            <a:r>
              <a:rPr lang="en-US" sz="1300" b="1" dirty="0">
                <a:solidFill>
                  <a:srgbClr val="C6F36B"/>
                </a:solidFill>
                <a:latin typeface="Calibri" pitchFamily="34" charset="0"/>
                <a:ea typeface="Calibri" pitchFamily="34" charset="-122"/>
                <a:cs typeface="Calibri" pitchFamily="34" charset="-120"/>
              </a:rPr>
              <a:t>03   </a:t>
            </a:r>
            <a:pPr indent="0" marL="0">
              <a:buNone/>
            </a:pPr>
            <a:r>
              <a:rPr lang="en-US" sz="1300" dirty="0">
                <a:solidFill>
                  <a:srgbClr val="FFFFFF"/>
                </a:solidFill>
                <a:latin typeface="Calibri" pitchFamily="34" charset="0"/>
                <a:ea typeface="Calibri" pitchFamily="34" charset="-122"/>
                <a:cs typeface="Calibri" pitchFamily="34" charset="-120"/>
              </a:rPr>
              <a:t>Faraday'ın keşfi: değişim akım doğurur</a:t>
            </a:r>
            <a:endParaRPr lang="en-US" sz="1300" dirty="0"/>
          </a:p>
        </p:txBody>
      </p:sp>
      <p:sp>
        <p:nvSpPr>
          <p:cNvPr id="9" name="Text 7"/>
          <p:cNvSpPr txBox="1"/>
          <p:nvPr/>
        </p:nvSpPr>
        <p:spPr>
          <a:xfrm>
            <a:off x="731520" y="5559552"/>
            <a:ext cx="5120640" cy="329184"/>
          </a:xfrm>
          <a:prstGeom prst="rect">
            <a:avLst/>
          </a:prstGeom>
          <a:noFill/>
          <a:ln/>
        </p:spPr>
        <p:txBody>
          <a:bodyPr wrap="square" lIns="0" tIns="0" rIns="0" bIns="0" rtlCol="0" anchor="ctr"/>
          <a:lstStyle/>
          <a:p>
            <a:pPr indent="0" marL="0">
              <a:buNone/>
            </a:pPr>
            <a:r>
              <a:rPr lang="en-US" sz="1300" b="1" dirty="0">
                <a:solidFill>
                  <a:srgbClr val="C6F36B"/>
                </a:solidFill>
                <a:latin typeface="Calibri" pitchFamily="34" charset="0"/>
                <a:ea typeface="Calibri" pitchFamily="34" charset="-122"/>
                <a:cs typeface="Calibri" pitchFamily="34" charset="-120"/>
              </a:rPr>
              <a:t>04   </a:t>
            </a:r>
            <a:pPr indent="0" marL="0">
              <a:buNone/>
            </a:pPr>
            <a:r>
              <a:rPr lang="en-US" sz="1300" dirty="0">
                <a:solidFill>
                  <a:srgbClr val="FFFFFF"/>
                </a:solidFill>
                <a:latin typeface="Calibri" pitchFamily="34" charset="0"/>
                <a:ea typeface="Calibri" pitchFamily="34" charset="-122"/>
                <a:cs typeface="Calibri" pitchFamily="34" charset="-120"/>
              </a:rPr>
              <a:t>Lenz yasası: doğa değişime direnir</a:t>
            </a:r>
            <a:endParaRPr lang="en-US" sz="1300" dirty="0"/>
          </a:p>
        </p:txBody>
      </p:sp>
      <p:sp>
        <p:nvSpPr>
          <p:cNvPr id="10" name="Shape 8"/>
          <p:cNvSpPr/>
          <p:nvPr/>
        </p:nvSpPr>
        <p:spPr>
          <a:xfrm>
            <a:off x="6117336" y="905256"/>
            <a:ext cx="5489143" cy="3696005"/>
          </a:xfrm>
          <a:prstGeom prst="roundRect">
            <a:avLst>
              <a:gd name="adj" fmla="val 3464"/>
            </a:avLst>
          </a:prstGeom>
          <a:solidFill>
            <a:srgbClr val="1C2542"/>
          </a:solidFill>
          <a:ln w="9525">
            <a:solidFill>
              <a:srgbClr val="2C3860"/>
            </a:solidFill>
            <a:prstDash val="solid"/>
          </a:ln>
        </p:spPr>
      </p:sp>
      <p:pic>
        <p:nvPicPr>
          <p:cNvPr id="11" name="Image 0" descr="/tmp/claude-1000/-opt-dersler/8a8328c3-841c-44fa-b76f-82572d338d3d/scratchpad/d4/sek/induksiyon-akimi-gunluk-kart.jpg">    </p:cNvPr>
          <p:cNvPicPr>
            <a:picLocks noChangeAspect="1"/>
          </p:cNvPicPr>
          <p:nvPr/>
        </p:nvPicPr>
        <p:blipFill>
          <a:blip r:embed="rId1"/>
          <a:stretch>
            <a:fillRect/>
          </a:stretch>
        </p:blipFill>
        <p:spPr>
          <a:xfrm>
            <a:off x="6172200" y="960120"/>
            <a:ext cx="5379415" cy="3586277"/>
          </a:xfrm>
          <a:prstGeom prst="rect">
            <a:avLst/>
          </a:prstGeom>
        </p:spPr>
      </p:pic>
      <p:sp>
        <p:nvSpPr>
          <p:cNvPr id="12" name="Shape 9"/>
          <p:cNvSpPr/>
          <p:nvPr/>
        </p:nvSpPr>
        <p:spPr>
          <a:xfrm>
            <a:off x="9704527" y="4198925"/>
            <a:ext cx="1755648" cy="246888"/>
          </a:xfrm>
          <a:prstGeom prst="roundRect">
            <a:avLst>
              <a:gd name="adj" fmla="val 48148"/>
            </a:avLst>
          </a:prstGeom>
          <a:solidFill>
            <a:srgbClr val="0E1426">
              <a:alpha val="60000"/>
            </a:srgbClr>
          </a:solidFill>
          <a:ln/>
        </p:spPr>
      </p:sp>
      <p:sp>
        <p:nvSpPr>
          <p:cNvPr id="13" name="Text 10"/>
          <p:cNvSpPr txBox="1"/>
          <p:nvPr/>
        </p:nvSpPr>
        <p:spPr>
          <a:xfrm>
            <a:off x="9704527" y="4198925"/>
            <a:ext cx="1755648" cy="246888"/>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Yapay zekâ ile üretildi</a:t>
            </a:r>
            <a:endParaRPr lang="en-US" sz="850" dirty="0"/>
          </a:p>
        </p:txBody>
      </p:sp>
      <p:sp>
        <p:nvSpPr>
          <p:cNvPr id="14" name="Text 11"/>
          <p:cNvSpPr txBox="1"/>
          <p:nvPr/>
        </p:nvSpPr>
        <p:spPr>
          <a:xfrm>
            <a:off x="6172200" y="4774997"/>
            <a:ext cx="5379415" cy="1214323"/>
          </a:xfrm>
          <a:prstGeom prst="rect">
            <a:avLst/>
          </a:prstGeom>
          <a:noFill/>
          <a:ln/>
        </p:spPr>
        <p:txBody>
          <a:bodyPr wrap="square" lIns="0" tIns="0" rIns="0" bIns="0" rtlCol="0" anchor="t"/>
          <a:lstStyle/>
          <a:p>
            <a:pPr indent="0" marL="0">
              <a:lnSpc>
                <a:spcPct val="115000"/>
              </a:lnSpc>
              <a:buNone/>
            </a:pPr>
            <a:r>
              <a:rPr lang="en-US" sz="1100" dirty="0">
                <a:solidFill>
                  <a:srgbClr val="C3CEE8"/>
                </a:solidFill>
                <a:latin typeface="Calibri" pitchFamily="34" charset="0"/>
                <a:ea typeface="Calibri" pitchFamily="34" charset="-122"/>
                <a:cs typeface="Calibri" pitchFamily="34" charset="-120"/>
              </a:rPr>
              <a:t>Birçok bisiklet farı pille değil, tekerleğin hareketiyle çalışan küçük bir </a:t>
            </a:r>
            <a:pPr indent="0" marL="0">
              <a:lnSpc>
                <a:spcPct val="115000"/>
              </a:lnSpc>
              <a:buNone/>
            </a:pPr>
            <a:r>
              <a:rPr lang="en-US" sz="1100" b="1" dirty="0">
                <a:solidFill>
                  <a:srgbClr val="FFFFFF"/>
                </a:solidFill>
                <a:latin typeface="Calibri" pitchFamily="34" charset="0"/>
                <a:ea typeface="Calibri" pitchFamily="34" charset="-122"/>
                <a:cs typeface="Calibri" pitchFamily="34" charset="-120"/>
              </a:rPr>
              <a:t>dinamoyla</a:t>
            </a:r>
            <a:pPr indent="0" marL="0">
              <a:lnSpc>
                <a:spcPct val="115000"/>
              </a:lnSpc>
              <a:buNone/>
            </a:pPr>
            <a:r>
              <a:rPr lang="en-US" sz="1100" dirty="0">
                <a:solidFill>
                  <a:srgbClr val="C3CEE8"/>
                </a:solidFill>
                <a:latin typeface="Calibri" pitchFamily="34" charset="0"/>
                <a:ea typeface="Calibri" pitchFamily="34" charset="-122"/>
                <a:cs typeface="Calibri" pitchFamily="34" charset="-120"/>
              </a:rPr>
              <a:t> yanar. Bu bisiklette ön çataldaki dinamonun tırtıklı başlığı lastiğe bastırıyor: tekerlek döndükçe başlık da döner ve dinamonun içindeki mıknatısı çevirir. Bobinden geçen manyetik alan sürekli değiştiği için bobinde akım doğar ve kablo bu akımı fara taşır. Bisiklet hızlandıkça değişim hızlanır, far daha parlak yanar; bisiklet durunca far da söner.</a:t>
            </a:r>
            <a:endParaRPr lang="en-US" sz="1100" dirty="0"/>
          </a:p>
        </p:txBody>
      </p:sp>
      <p:sp>
        <p:nvSpPr>
          <p:cNvPr id="15" name="Shape 12"/>
          <p:cNvSpPr/>
          <p:nvPr/>
        </p:nvSpPr>
        <p:spPr>
          <a:xfrm>
            <a:off x="640080" y="6382512"/>
            <a:ext cx="128016" cy="128016"/>
          </a:xfrm>
          <a:prstGeom prst="roundRect">
            <a:avLst>
              <a:gd name="adj" fmla="val 28571"/>
            </a:avLst>
          </a:prstGeom>
          <a:solidFill>
            <a:srgbClr val="C6F36B"/>
          </a:solidFill>
          <a:ln/>
        </p:spPr>
      </p:sp>
      <p:sp>
        <p:nvSpPr>
          <p:cNvPr id="16" name="Text 13"/>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6A7798"/>
                </a:solidFill>
                <a:latin typeface="Calibri" pitchFamily="34" charset="0"/>
                <a:ea typeface="Calibri" pitchFamily="34" charset="-122"/>
                <a:cs typeface="Calibri" pitchFamily="34" charset="-120"/>
              </a:rPr>
              <a:t>dersler.perinet.org/induksiyon-akimi.html</a:t>
            </a:r>
            <a:endParaRPr lang="en-US" sz="1050" dirty="0"/>
          </a:p>
        </p:txBody>
      </p:sp>
      <p:sp>
        <p:nvSpPr>
          <p:cNvPr id="17" name="Text 14"/>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6A7798"/>
                </a:solidFill>
                <a:latin typeface="Calibri" pitchFamily="34" charset="0"/>
                <a:ea typeface="Calibri" pitchFamily="34" charset="-122"/>
                <a:cs typeface="Calibri" pitchFamily="34" charset="-120"/>
              </a:rPr>
              <a:t>04</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Önce gözlemle: bisiklet farı nasıl yanar?</a:t>
            </a:r>
            <a:endParaRPr lang="en-US" sz="3200" dirty="0"/>
          </a:p>
        </p:txBody>
      </p:sp>
      <p:sp>
        <p:nvSpPr>
          <p:cNvPr id="5" name="Text 3"/>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6" name="Shape 4"/>
          <p:cNvSpPr/>
          <p:nvPr/>
        </p:nvSpPr>
        <p:spPr>
          <a:xfrm>
            <a:off x="640080" y="1188720"/>
            <a:ext cx="10911535" cy="1185062"/>
          </a:xfrm>
          <a:prstGeom prst="roundRect">
            <a:avLst>
              <a:gd name="adj" fmla="val 9259"/>
            </a:avLst>
          </a:prstGeom>
          <a:solidFill>
            <a:srgbClr val="F8F9FC"/>
          </a:solidFill>
          <a:ln w="9525">
            <a:solidFill>
              <a:srgbClr val="E1E5EE"/>
            </a:solidFill>
            <a:prstDash val="solid"/>
          </a:ln>
        </p:spPr>
      </p:sp>
      <p:sp>
        <p:nvSpPr>
          <p:cNvPr id="7" name="Shape 5"/>
          <p:cNvSpPr/>
          <p:nvPr/>
        </p:nvSpPr>
        <p:spPr>
          <a:xfrm>
            <a:off x="658368" y="1298448"/>
            <a:ext cx="54864" cy="965606"/>
          </a:xfrm>
          <a:prstGeom prst="rect">
            <a:avLst/>
          </a:prstGeom>
          <a:solidFill>
            <a:srgbClr val="3C8C21"/>
          </a:solidFill>
          <a:ln/>
        </p:spPr>
      </p:sp>
      <p:sp>
        <p:nvSpPr>
          <p:cNvPr id="8" name="Text 6"/>
          <p:cNvSpPr txBox="1"/>
          <p:nvPr/>
        </p:nvSpPr>
        <p:spPr>
          <a:xfrm>
            <a:off x="932688" y="1234440"/>
            <a:ext cx="10454335" cy="1093622"/>
          </a:xfrm>
          <a:prstGeom prst="rect">
            <a:avLst/>
          </a:prstGeom>
          <a:noFill/>
          <a:ln/>
        </p:spPr>
        <p:txBody>
          <a:bodyPr wrap="square" lIns="0" tIns="0" rIns="0" bIns="0" rtlCol="0" anchor="ctr"/>
          <a:lstStyle/>
          <a:p>
            <a:pPr indent="0" marL="0">
              <a:lnSpc>
                <a:spcPct val="112000"/>
              </a:lnSpc>
              <a:buNone/>
            </a:pPr>
            <a:r>
              <a:rPr lang="en-US" sz="1850" dirty="0">
                <a:solidFill>
                  <a:srgbClr val="0E1426"/>
                </a:solidFill>
                <a:latin typeface="Calibri" pitchFamily="34" charset="0"/>
                <a:ea typeface="Calibri" pitchFamily="34" charset="-122"/>
                <a:cs typeface="Calibri" pitchFamily="34" charset="-120"/>
              </a:rPr>
              <a:t>Dinamoda dönen mıknatıs bobinde akım doğurur; mıknatıs hızlandıkça akım artar, durunca akım kesilir. Akımı doğuran mıknatısın kendisi değil, hareketinin yarattığı değişimdir.</a:t>
            </a:r>
            <a:endParaRPr lang="en-US" sz="1850" dirty="0"/>
          </a:p>
        </p:txBody>
      </p:sp>
      <p:sp>
        <p:nvSpPr>
          <p:cNvPr id="9" name="Text 7"/>
          <p:cNvSpPr txBox="1"/>
          <p:nvPr/>
        </p:nvSpPr>
        <p:spPr>
          <a:xfrm>
            <a:off x="640080" y="2593238"/>
            <a:ext cx="10911535" cy="361950"/>
          </a:xfrm>
          <a:prstGeom prst="rect">
            <a:avLst/>
          </a:prstGeom>
          <a:noFill/>
          <a:ln/>
        </p:spPr>
        <p:txBody>
          <a:bodyPr wrap="square" lIns="0" tIns="0" rIns="0" bIns="0" rtlCol="0" anchor="t"/>
          <a:lstStyle/>
          <a:p>
            <a:pPr marL="203200" indent="-203200">
              <a:lnSpc>
                <a:spcPct val="115000"/>
              </a:lnSpc>
              <a:spcAft>
                <a:spcPts val="500"/>
              </a:spcAft>
              <a:buSzPct val="100000"/>
              <a:buChar char="▪"/>
            </a:pPr>
            <a:r>
              <a:rPr lang="en-US" sz="1700" dirty="0">
                <a:solidFill>
                  <a:srgbClr val="4A5470"/>
                </a:solidFill>
                <a:latin typeface="Calibri" pitchFamily="34" charset="0"/>
                <a:ea typeface="Calibri" pitchFamily="34" charset="-122"/>
                <a:cs typeface="Calibri" pitchFamily="34" charset="-120"/>
              </a:rPr>
              <a:t>Dinamolu bir bisikletle yola çıkan herkes aynı dört şeyi fark eder:</a:t>
            </a:r>
            <a:endParaRPr lang="en-US" sz="1700" dirty="0"/>
          </a:p>
        </p:txBody>
      </p:sp>
      <p:sp>
        <p:nvSpPr>
          <p:cNvPr id="10" name="Text 8"/>
          <p:cNvSpPr txBox="1"/>
          <p:nvPr/>
        </p:nvSpPr>
        <p:spPr>
          <a:xfrm>
            <a:off x="640080" y="3064916"/>
            <a:ext cx="10911535" cy="1447800"/>
          </a:xfrm>
          <a:prstGeom prst="rect">
            <a:avLst/>
          </a:prstGeom>
          <a:noFill/>
          <a:ln/>
        </p:spPr>
        <p:txBody>
          <a:bodyPr wrap="square" lIns="0" tIns="0" rIns="0" bIns="0" rtlCol="0" anchor="t"/>
          <a:lstStyle/>
          <a:p>
            <a:pPr marL="203200" indent="-203200">
              <a:lnSpc>
                <a:spcPct val="115000"/>
              </a:lnSpc>
              <a:spcAft>
                <a:spcPts val="500"/>
              </a:spcAft>
              <a:buSzPct val="100000"/>
              <a:buChar char="▪"/>
            </a:pPr>
            <a:r>
              <a:rPr lang="en-US" sz="1700" b="1" dirty="0">
                <a:solidFill>
                  <a:srgbClr val="0E1426"/>
                </a:solidFill>
                <a:latin typeface="Calibri" pitchFamily="34" charset="0"/>
                <a:ea typeface="Calibri" pitchFamily="34" charset="-122"/>
                <a:cs typeface="Calibri" pitchFamily="34" charset="-120"/>
              </a:rPr>
              <a:t>Dönerse yanar:</a:t>
            </a:r>
            <a:pPr indent="0" marL="0">
              <a:lnSpc>
                <a:spcPct val="115000"/>
              </a:lnSpc>
              <a:buNone/>
            </a:pPr>
            <a:r>
              <a:rPr lang="en-US" sz="1700" dirty="0">
                <a:solidFill>
                  <a:srgbClr val="4A5470"/>
                </a:solidFill>
                <a:latin typeface="Calibri" pitchFamily="34" charset="0"/>
                <a:ea typeface="Calibri" pitchFamily="34" charset="-122"/>
                <a:cs typeface="Calibri" pitchFamily="34" charset="-120"/>
              </a:rPr>
              <a:t> tekerlek döndükçe far yanar, bisiklet durunca söner.</a:t>
            </a:r>
            <a:endParaRPr lang="en-US" sz="1700" dirty="0"/>
          </a:p>
          <a:p>
            <a:pPr marL="203200" indent="-203200">
              <a:lnSpc>
                <a:spcPct val="115000"/>
              </a:lnSpc>
              <a:spcAft>
                <a:spcPts val="500"/>
              </a:spcAft>
              <a:buSzPct val="100000"/>
              <a:buChar char="▪"/>
            </a:pPr>
            <a:r>
              <a:rPr lang="en-US" sz="1700" b="1" dirty="0">
                <a:solidFill>
                  <a:srgbClr val="0E1426"/>
                </a:solidFill>
                <a:latin typeface="Calibri" pitchFamily="34" charset="0"/>
                <a:ea typeface="Calibri" pitchFamily="34" charset="-122"/>
                <a:cs typeface="Calibri" pitchFamily="34" charset="-120"/>
              </a:rPr>
              <a:t>Hızlandıkça parlar:</a:t>
            </a:r>
            <a:pPr indent="0" marL="0">
              <a:lnSpc>
                <a:spcPct val="115000"/>
              </a:lnSpc>
              <a:buNone/>
            </a:pPr>
            <a:r>
              <a:rPr lang="en-US" sz="1700" dirty="0">
                <a:solidFill>
                  <a:srgbClr val="4A5470"/>
                </a:solidFill>
                <a:latin typeface="Calibri" pitchFamily="34" charset="0"/>
                <a:ea typeface="Calibri" pitchFamily="34" charset="-122"/>
                <a:cs typeface="Calibri" pitchFamily="34" charset="-120"/>
              </a:rPr>
              <a:t> pedalı hızlı çevirdiğinde far daha parlak yanar.</a:t>
            </a:r>
            <a:endParaRPr lang="en-US" sz="1700" dirty="0"/>
          </a:p>
          <a:p>
            <a:pPr marL="203200" indent="-203200">
              <a:lnSpc>
                <a:spcPct val="115000"/>
              </a:lnSpc>
              <a:spcAft>
                <a:spcPts val="500"/>
              </a:spcAft>
              <a:buSzPct val="100000"/>
              <a:buChar char="▪"/>
            </a:pPr>
            <a:r>
              <a:rPr lang="en-US" sz="1700" b="1" dirty="0">
                <a:solidFill>
                  <a:srgbClr val="0E1426"/>
                </a:solidFill>
                <a:latin typeface="Calibri" pitchFamily="34" charset="0"/>
                <a:ea typeface="Calibri" pitchFamily="34" charset="-122"/>
                <a:cs typeface="Calibri" pitchFamily="34" charset="-120"/>
              </a:rPr>
              <a:t>Pedal ağırlaşır:</a:t>
            </a:r>
            <a:pPr indent="0" marL="0">
              <a:lnSpc>
                <a:spcPct val="115000"/>
              </a:lnSpc>
              <a:buNone/>
            </a:pPr>
            <a:r>
              <a:rPr lang="en-US" sz="1700" dirty="0">
                <a:solidFill>
                  <a:srgbClr val="4A5470"/>
                </a:solidFill>
                <a:latin typeface="Calibri" pitchFamily="34" charset="0"/>
                <a:ea typeface="Calibri" pitchFamily="34" charset="-122"/>
                <a:cs typeface="Calibri" pitchFamily="34" charset="-120"/>
              </a:rPr>
              <a:t> dinamo çalışırken pedal çevirmek biraz daha zor gelir.</a:t>
            </a:r>
            <a:endParaRPr lang="en-US" sz="1700" dirty="0"/>
          </a:p>
          <a:p>
            <a:pPr marL="203200" indent="-203200">
              <a:lnSpc>
                <a:spcPct val="115000"/>
              </a:lnSpc>
              <a:spcAft>
                <a:spcPts val="500"/>
              </a:spcAft>
              <a:buSzPct val="100000"/>
              <a:buChar char="▪"/>
            </a:pPr>
            <a:r>
              <a:rPr lang="en-US" sz="1700" b="1" dirty="0">
                <a:solidFill>
                  <a:srgbClr val="0E1426"/>
                </a:solidFill>
                <a:latin typeface="Calibri" pitchFamily="34" charset="0"/>
                <a:ea typeface="Calibri" pitchFamily="34" charset="-122"/>
                <a:cs typeface="Calibri" pitchFamily="34" charset="-120"/>
              </a:rPr>
              <a:t>Pil harcanmaz:</a:t>
            </a:r>
            <a:pPr indent="0" marL="0">
              <a:lnSpc>
                <a:spcPct val="115000"/>
              </a:lnSpc>
              <a:buNone/>
            </a:pPr>
            <a:r>
              <a:rPr lang="en-US" sz="1700" dirty="0">
                <a:solidFill>
                  <a:srgbClr val="4A5470"/>
                </a:solidFill>
                <a:latin typeface="Calibri" pitchFamily="34" charset="0"/>
                <a:ea typeface="Calibri" pitchFamily="34" charset="-122"/>
                <a:cs typeface="Calibri" pitchFamily="34" charset="-120"/>
              </a:rPr>
              <a:t> farın enerjisi tükenmez, çünkü enerji senin bacaklarından gelir.</a:t>
            </a:r>
            <a:endParaRPr lang="en-US" sz="1700" dirty="0"/>
          </a:p>
        </p:txBody>
      </p:sp>
      <p:sp>
        <p:nvSpPr>
          <p:cNvPr id="11" name="Shape 9"/>
          <p:cNvSpPr/>
          <p:nvPr/>
        </p:nvSpPr>
        <p:spPr>
          <a:xfrm>
            <a:off x="640080" y="6382512"/>
            <a:ext cx="128016" cy="128016"/>
          </a:xfrm>
          <a:prstGeom prst="roundRect">
            <a:avLst>
              <a:gd name="adj" fmla="val 28571"/>
            </a:avLst>
          </a:prstGeom>
          <a:solidFill>
            <a:srgbClr val="A9E648"/>
          </a:solidFill>
          <a:ln/>
        </p:spPr>
      </p:sp>
      <p:sp>
        <p:nvSpPr>
          <p:cNvPr id="12" name="Text 10"/>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dersler.perinet.org/induksiyon-akimi.html</a:t>
            </a:r>
            <a:endParaRPr lang="en-US" sz="1050" dirty="0"/>
          </a:p>
        </p:txBody>
      </p:sp>
      <p:sp>
        <p:nvSpPr>
          <p:cNvPr id="13" name="Text 11"/>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05</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Dinamolu farı olan bisikletçi kırmızı ışıkta durunca farı neden söner?</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01 · Önce gözlemle: bisiklet farı nasıl yanar?</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dersler.perinet.org/induksiyon-akimi.html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06</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Dinamolu farı olan bisikletçi kırmızı ışıkta durunca farı neden söner?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CFC8F5"/>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200" dirty="0">
                <a:solidFill>
                  <a:srgbClr val="0E1426"/>
                </a:solidFill>
                <a:latin typeface="Calibri" pitchFamily="34" charset="0"/>
                <a:ea typeface="Calibri" pitchFamily="34" charset="-122"/>
                <a:cs typeface="Calibri" pitchFamily="34" charset="-120"/>
              </a:rPr>
              <a:t>Tekerlek durunca dinamodaki mıknatıs da durur. Bobinden geçen alan artık değişmediği için bobinde akım doğmaz ve far söner. Bazı modern farlarda bu yüzden, hareket sırasında dolan ve durunca bir süre ışık veren küçük bir enerji deposu bulunur.</a:t>
            </a:r>
            <a:endParaRPr lang="en-US" sz="22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dersler.perinet.org/induksiyon-akimi.html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07</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Manyetik akı</a:t>
            </a:r>
            <a:endParaRPr lang="en-US" sz="3200" dirty="0"/>
          </a:p>
        </p:txBody>
      </p:sp>
      <p:sp>
        <p:nvSpPr>
          <p:cNvPr id="5" name="Text 3"/>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6" name="Shape 4"/>
          <p:cNvSpPr/>
          <p:nvPr/>
        </p:nvSpPr>
        <p:spPr>
          <a:xfrm>
            <a:off x="640080" y="1188720"/>
            <a:ext cx="10911535" cy="886358"/>
          </a:xfrm>
          <a:prstGeom prst="roundRect">
            <a:avLst>
              <a:gd name="adj" fmla="val 12380"/>
            </a:avLst>
          </a:prstGeom>
          <a:solidFill>
            <a:srgbClr val="F8F9FC"/>
          </a:solidFill>
          <a:ln w="9525">
            <a:solidFill>
              <a:srgbClr val="E1E5EE"/>
            </a:solidFill>
            <a:prstDash val="solid"/>
          </a:ln>
        </p:spPr>
      </p:sp>
      <p:sp>
        <p:nvSpPr>
          <p:cNvPr id="7" name="Shape 5"/>
          <p:cNvSpPr/>
          <p:nvPr/>
        </p:nvSpPr>
        <p:spPr>
          <a:xfrm>
            <a:off x="658368" y="1298448"/>
            <a:ext cx="54864" cy="666902"/>
          </a:xfrm>
          <a:prstGeom prst="rect">
            <a:avLst/>
          </a:prstGeom>
          <a:solidFill>
            <a:srgbClr val="3C8C21"/>
          </a:solidFill>
          <a:ln/>
        </p:spPr>
      </p:sp>
      <p:sp>
        <p:nvSpPr>
          <p:cNvPr id="8" name="Text 6"/>
          <p:cNvSpPr txBox="1"/>
          <p:nvPr/>
        </p:nvSpPr>
        <p:spPr>
          <a:xfrm>
            <a:off x="932688" y="1234440"/>
            <a:ext cx="10454335" cy="794918"/>
          </a:xfrm>
          <a:prstGeom prst="rect">
            <a:avLst/>
          </a:prstGeom>
          <a:noFill/>
          <a:ln/>
        </p:spPr>
        <p:txBody>
          <a:bodyPr wrap="square" lIns="0" tIns="0" rIns="0" bIns="0" rtlCol="0" anchor="ctr"/>
          <a:lstStyle/>
          <a:p>
            <a:pPr indent="0" marL="0">
              <a:lnSpc>
                <a:spcPct val="112000"/>
              </a:lnSpc>
              <a:buNone/>
            </a:pPr>
            <a:r>
              <a:rPr lang="en-US" sz="1900" dirty="0">
                <a:solidFill>
                  <a:srgbClr val="0E1426"/>
                </a:solidFill>
                <a:latin typeface="Calibri" pitchFamily="34" charset="0"/>
                <a:ea typeface="Calibri" pitchFamily="34" charset="-122"/>
                <a:cs typeface="Calibri" pitchFamily="34" charset="-120"/>
              </a:rPr>
              <a:t>Manyetik akı, bir yüzeyden geçen alan çizgisi miktarıdır: Φ = B·A·cosα, birimi weber. Alan yüzeye dikken akı en büyük, paralelken sıfırdır.</a:t>
            </a:r>
            <a:endParaRPr lang="en-US" sz="1900" dirty="0"/>
          </a:p>
        </p:txBody>
      </p:sp>
      <p:sp>
        <p:nvSpPr>
          <p:cNvPr id="9" name="Shape 7"/>
          <p:cNvSpPr/>
          <p:nvPr/>
        </p:nvSpPr>
        <p:spPr>
          <a:xfrm>
            <a:off x="640080" y="2294534"/>
            <a:ext cx="2037283" cy="457200"/>
          </a:xfrm>
          <a:prstGeom prst="roundRect">
            <a:avLst>
              <a:gd name="adj" fmla="val 24000"/>
            </a:avLst>
          </a:prstGeom>
          <a:solidFill>
            <a:srgbClr val="EEF2FC"/>
          </a:solidFill>
          <a:ln w="9525">
            <a:solidFill>
              <a:srgbClr val="CBD7F4"/>
            </a:solidFill>
            <a:prstDash val="solid"/>
          </a:ln>
        </p:spPr>
      </p:sp>
      <p:sp>
        <p:nvSpPr>
          <p:cNvPr id="10" name="Text 8"/>
          <p:cNvSpPr txBox="1"/>
          <p:nvPr/>
        </p:nvSpPr>
        <p:spPr>
          <a:xfrm>
            <a:off x="640080" y="2294534"/>
            <a:ext cx="2037283" cy="457200"/>
          </a:xfrm>
          <a:prstGeom prst="rect">
            <a:avLst/>
          </a:prstGeom>
          <a:noFill/>
          <a:ln/>
        </p:spPr>
        <p:txBody>
          <a:bodyPr wrap="square" lIns="0" tIns="0" rIns="0" bIns="0" rtlCol="0" anchor="ctr"/>
          <a:lstStyle/>
          <a:p>
            <a:pPr algn="ctr" indent="0" marL="0">
              <a:buNone/>
            </a:pPr>
            <a:r>
              <a:rPr lang="en-US" sz="1300" b="1" dirty="0">
                <a:solidFill>
                  <a:srgbClr val="2957D4"/>
                </a:solidFill>
                <a:latin typeface="Courier New" pitchFamily="34" charset="0"/>
                <a:ea typeface="Courier New" pitchFamily="34" charset="-122"/>
                <a:cs typeface="Courier New" pitchFamily="34" charset="-120"/>
              </a:rPr>
              <a:t>Φ = B · A · cosα</a:t>
            </a:r>
            <a:endParaRPr lang="en-US" sz="1300" dirty="0"/>
          </a:p>
        </p:txBody>
      </p:sp>
      <p:sp>
        <p:nvSpPr>
          <p:cNvPr id="11" name="Shape 9"/>
          <p:cNvSpPr/>
          <p:nvPr/>
        </p:nvSpPr>
        <p:spPr>
          <a:xfrm>
            <a:off x="2787091" y="2294534"/>
            <a:ext cx="1741018" cy="457200"/>
          </a:xfrm>
          <a:prstGeom prst="roundRect">
            <a:avLst>
              <a:gd name="adj" fmla="val 24000"/>
            </a:avLst>
          </a:prstGeom>
          <a:solidFill>
            <a:srgbClr val="EEF2FC"/>
          </a:solidFill>
          <a:ln w="9525">
            <a:solidFill>
              <a:srgbClr val="CBD7F4"/>
            </a:solidFill>
            <a:prstDash val="solid"/>
          </a:ln>
        </p:spPr>
      </p:sp>
      <p:sp>
        <p:nvSpPr>
          <p:cNvPr id="12" name="Text 10"/>
          <p:cNvSpPr txBox="1"/>
          <p:nvPr/>
        </p:nvSpPr>
        <p:spPr>
          <a:xfrm>
            <a:off x="2787091" y="2294534"/>
            <a:ext cx="1741018" cy="457200"/>
          </a:xfrm>
          <a:prstGeom prst="rect">
            <a:avLst/>
          </a:prstGeom>
          <a:noFill/>
          <a:ln/>
        </p:spPr>
        <p:txBody>
          <a:bodyPr wrap="square" lIns="0" tIns="0" rIns="0" bIns="0" rtlCol="0" anchor="ctr"/>
          <a:lstStyle/>
          <a:p>
            <a:pPr algn="ctr" indent="0" marL="0">
              <a:buNone/>
            </a:pPr>
            <a:r>
              <a:rPr lang="en-US" sz="1300" b="1" dirty="0">
                <a:solidFill>
                  <a:srgbClr val="2957D4"/>
                </a:solidFill>
                <a:latin typeface="Courier New" pitchFamily="34" charset="0"/>
                <a:ea typeface="Courier New" pitchFamily="34" charset="-122"/>
                <a:cs typeface="Courier New" pitchFamily="34" charset="-120"/>
              </a:rPr>
              <a:t>1 Wb = 1 T·m²</a:t>
            </a:r>
            <a:endParaRPr lang="en-US" sz="1300" dirty="0"/>
          </a:p>
        </p:txBody>
      </p:sp>
      <p:sp>
        <p:nvSpPr>
          <p:cNvPr id="13" name="Text 11"/>
          <p:cNvSpPr txBox="1"/>
          <p:nvPr/>
        </p:nvSpPr>
        <p:spPr>
          <a:xfrm>
            <a:off x="640080" y="2916326"/>
            <a:ext cx="5486400" cy="969264"/>
          </a:xfrm>
          <a:prstGeom prst="rect">
            <a:avLst/>
          </a:prstGeom>
          <a:noFill/>
          <a:ln/>
        </p:spPr>
        <p:txBody>
          <a:bodyPr wrap="square" lIns="0" tIns="0" rIns="0" bIns="0" rtlCol="0" anchor="t"/>
          <a:lstStyle/>
          <a:p>
            <a:pPr marL="203200" indent="-203200">
              <a:lnSpc>
                <a:spcPct val="115000"/>
              </a:lnSpc>
              <a:spcAft>
                <a:spcPts val="500"/>
              </a:spcAft>
              <a:buSzPct val="100000"/>
              <a:buChar char="▪"/>
            </a:pPr>
            <a:r>
              <a:rPr lang="en-US" sz="1600" dirty="0">
                <a:solidFill>
                  <a:srgbClr val="4A5470"/>
                </a:solidFill>
                <a:latin typeface="Calibri" pitchFamily="34" charset="0"/>
                <a:ea typeface="Calibri" pitchFamily="34" charset="-122"/>
                <a:cs typeface="Calibri" pitchFamily="34" charset="-120"/>
              </a:rPr>
              <a:t>Buradaki α, alan ile yüzeyin </a:t>
            </a:r>
            <a:pPr indent="0" marL="0">
              <a:lnSpc>
                <a:spcPct val="115000"/>
              </a:lnSpc>
              <a:buNone/>
            </a:pPr>
            <a:r>
              <a:rPr lang="en-US" sz="1600" b="1" dirty="0">
                <a:solidFill>
                  <a:srgbClr val="0E1426"/>
                </a:solidFill>
                <a:latin typeface="Calibri" pitchFamily="34" charset="0"/>
                <a:ea typeface="Calibri" pitchFamily="34" charset="-122"/>
                <a:cs typeface="Calibri" pitchFamily="34" charset="-120"/>
              </a:rPr>
              <a:t>normali</a:t>
            </a:r>
            <a:pPr indent="0" marL="0">
              <a:lnSpc>
                <a:spcPct val="115000"/>
              </a:lnSpc>
              <a:buNone/>
            </a:pPr>
            <a:r>
              <a:rPr lang="en-US" sz="1600" dirty="0">
                <a:solidFill>
                  <a:srgbClr val="4A5470"/>
                </a:solidFill>
                <a:latin typeface="Calibri" pitchFamily="34" charset="0"/>
                <a:ea typeface="Calibri" pitchFamily="34" charset="-122"/>
                <a:cs typeface="Calibri" pitchFamily="34" charset="-120"/>
              </a:rPr>
              <a:t> (yüzeye dik doğrultu) arasındaki açıdır.</a:t>
            </a:r>
            <a:endParaRPr lang="en-US" sz="1600" dirty="0"/>
          </a:p>
          <a:p>
            <a:pPr marL="203200" indent="-203200">
              <a:lnSpc>
                <a:spcPct val="115000"/>
              </a:lnSpc>
              <a:spcAft>
                <a:spcPts val="500"/>
              </a:spcAft>
              <a:buSzPct val="100000"/>
              <a:buChar char="▪"/>
            </a:pPr>
            <a:r>
              <a:rPr lang="en-US" sz="1600" dirty="0">
                <a:solidFill>
                  <a:srgbClr val="4A5470"/>
                </a:solidFill>
                <a:latin typeface="Calibri" pitchFamily="34" charset="0"/>
                <a:ea typeface="Calibri" pitchFamily="34" charset="-122"/>
                <a:cs typeface="Calibri" pitchFamily="34" charset="-120"/>
              </a:rPr>
              <a:t>Üç durum önemlidir:</a:t>
            </a:r>
            <a:endParaRPr lang="en-US" sz="1600" dirty="0"/>
          </a:p>
        </p:txBody>
      </p:sp>
      <p:sp>
        <p:nvSpPr>
          <p:cNvPr id="14" name="Text 12"/>
          <p:cNvSpPr txBox="1"/>
          <p:nvPr/>
        </p:nvSpPr>
        <p:spPr>
          <a:xfrm>
            <a:off x="640080" y="3995318"/>
            <a:ext cx="5486400" cy="1594104"/>
          </a:xfrm>
          <a:prstGeom prst="rect">
            <a:avLst/>
          </a:prstGeom>
          <a:noFill/>
          <a:ln/>
        </p:spPr>
        <p:txBody>
          <a:bodyPr wrap="square" lIns="0" tIns="0" rIns="0" bIns="0" rtlCol="0" anchor="t"/>
          <a:lstStyle/>
          <a:p>
            <a:pPr marL="203200" indent="-203200">
              <a:lnSpc>
                <a:spcPct val="115000"/>
              </a:lnSpc>
              <a:spcAft>
                <a:spcPts val="500"/>
              </a:spcAft>
              <a:buSzPct val="100000"/>
              <a:buChar char="▪"/>
            </a:pPr>
            <a:r>
              <a:rPr lang="en-US" sz="1600" b="1" dirty="0">
                <a:solidFill>
                  <a:srgbClr val="0E1426"/>
                </a:solidFill>
                <a:latin typeface="Calibri" pitchFamily="34" charset="0"/>
                <a:ea typeface="Calibri" pitchFamily="34" charset="-122"/>
                <a:cs typeface="Calibri" pitchFamily="34" charset="-120"/>
              </a:rPr>
              <a:t>Alan yüzeye dik</a:t>
            </a:r>
            <a:pPr indent="0" marL="0">
              <a:lnSpc>
                <a:spcPct val="115000"/>
              </a:lnSpc>
              <a:buNone/>
            </a:pPr>
            <a:r>
              <a:rPr lang="en-US" sz="1600" dirty="0">
                <a:solidFill>
                  <a:srgbClr val="4A5470"/>
                </a:solidFill>
                <a:latin typeface="Calibri" pitchFamily="34" charset="0"/>
                <a:ea typeface="Calibri" pitchFamily="34" charset="-122"/>
                <a:cs typeface="Calibri" pitchFamily="34" charset="-120"/>
              </a:rPr>
              <a:t> (α = 0): akı en büyüktür, Φ = B·A.</a:t>
            </a:r>
            <a:endParaRPr lang="en-US" sz="1600" dirty="0"/>
          </a:p>
          <a:p>
            <a:pPr marL="203200" indent="-203200">
              <a:lnSpc>
                <a:spcPct val="115000"/>
              </a:lnSpc>
              <a:spcAft>
                <a:spcPts val="500"/>
              </a:spcAft>
              <a:buSzPct val="100000"/>
              <a:buChar char="▪"/>
            </a:pPr>
            <a:r>
              <a:rPr lang="en-US" sz="1600" b="1" dirty="0">
                <a:solidFill>
                  <a:srgbClr val="0E1426"/>
                </a:solidFill>
                <a:latin typeface="Calibri" pitchFamily="34" charset="0"/>
                <a:ea typeface="Calibri" pitchFamily="34" charset="-122"/>
                <a:cs typeface="Calibri" pitchFamily="34" charset="-120"/>
              </a:rPr>
              <a:t>Alan yüzeye paralel</a:t>
            </a:r>
            <a:pPr indent="0" marL="0">
              <a:lnSpc>
                <a:spcPct val="115000"/>
              </a:lnSpc>
              <a:buNone/>
            </a:pPr>
            <a:r>
              <a:rPr lang="en-US" sz="1600" dirty="0">
                <a:solidFill>
                  <a:srgbClr val="4A5470"/>
                </a:solidFill>
                <a:latin typeface="Calibri" pitchFamily="34" charset="0"/>
                <a:ea typeface="Calibri" pitchFamily="34" charset="-122"/>
                <a:cs typeface="Calibri" pitchFamily="34" charset="-120"/>
              </a:rPr>
              <a:t> (α = 90°): akı </a:t>
            </a:r>
            <a:pPr indent="0" marL="0">
              <a:lnSpc>
                <a:spcPct val="115000"/>
              </a:lnSpc>
              <a:buNone/>
            </a:pPr>
            <a:r>
              <a:rPr lang="en-US" sz="1600" b="1" dirty="0">
                <a:solidFill>
                  <a:srgbClr val="0E1426"/>
                </a:solidFill>
                <a:latin typeface="Calibri" pitchFamily="34" charset="0"/>
                <a:ea typeface="Calibri" pitchFamily="34" charset="-122"/>
                <a:cs typeface="Calibri" pitchFamily="34" charset="-120"/>
              </a:rPr>
              <a:t>sıfırdır</a:t>
            </a:r>
            <a:pPr indent="0" marL="0">
              <a:lnSpc>
                <a:spcPct val="115000"/>
              </a:lnSpc>
              <a:buNone/>
            </a:pPr>
            <a:r>
              <a:rPr lang="en-US" sz="1600" dirty="0">
                <a:solidFill>
                  <a:srgbClr val="4A5470"/>
                </a:solidFill>
                <a:latin typeface="Calibri" pitchFamily="34" charset="0"/>
                <a:ea typeface="Calibri" pitchFamily="34" charset="-122"/>
                <a:cs typeface="Calibri" pitchFamily="34" charset="-120"/>
              </a:rPr>
              <a:t>.</a:t>
            </a:r>
            <a:endParaRPr lang="en-US" sz="1600" dirty="0"/>
          </a:p>
          <a:p>
            <a:pPr marL="203200" indent="-203200">
              <a:lnSpc>
                <a:spcPct val="115000"/>
              </a:lnSpc>
              <a:spcAft>
                <a:spcPts val="500"/>
              </a:spcAft>
              <a:buSzPct val="100000"/>
              <a:buChar char="▪"/>
            </a:pPr>
            <a:r>
              <a:rPr lang="en-US" sz="1600" dirty="0">
                <a:solidFill>
                  <a:srgbClr val="4A5470"/>
                </a:solidFill>
                <a:latin typeface="Calibri" pitchFamily="34" charset="0"/>
                <a:ea typeface="Calibri" pitchFamily="34" charset="-122"/>
                <a:cs typeface="Calibri" pitchFamily="34" charset="-120"/>
              </a:rPr>
              <a:t>Akı; B, A ya da α'dan </a:t>
            </a:r>
            <a:pPr indent="0" marL="0">
              <a:lnSpc>
                <a:spcPct val="115000"/>
              </a:lnSpc>
              <a:buNone/>
            </a:pPr>
            <a:r>
              <a:rPr lang="en-US" sz="1600" i="1" dirty="0">
                <a:solidFill>
                  <a:srgbClr val="4A5470"/>
                </a:solidFill>
                <a:latin typeface="Calibri" pitchFamily="34" charset="0"/>
                <a:ea typeface="Calibri" pitchFamily="34" charset="-122"/>
                <a:cs typeface="Calibri" pitchFamily="34" charset="-120"/>
              </a:rPr>
              <a:t>herhangi biri</a:t>
            </a:r>
            <a:pPr indent="0" marL="0">
              <a:lnSpc>
                <a:spcPct val="115000"/>
              </a:lnSpc>
              <a:buNone/>
            </a:pPr>
            <a:r>
              <a:rPr lang="en-US" sz="1600" dirty="0">
                <a:solidFill>
                  <a:srgbClr val="4A5470"/>
                </a:solidFill>
                <a:latin typeface="Calibri" pitchFamily="34" charset="0"/>
                <a:ea typeface="Calibri" pitchFamily="34" charset="-122"/>
                <a:cs typeface="Calibri" pitchFamily="34" charset="-120"/>
              </a:rPr>
              <a:t> değiştiğinde değişir.</a:t>
            </a:r>
            <a:endParaRPr lang="en-US" sz="1600" dirty="0"/>
          </a:p>
        </p:txBody>
      </p:sp>
      <p:sp>
        <p:nvSpPr>
          <p:cNvPr id="15" name="Shape 13"/>
          <p:cNvSpPr/>
          <p:nvPr/>
        </p:nvSpPr>
        <p:spPr>
          <a:xfrm>
            <a:off x="6419088" y="2294534"/>
            <a:ext cx="5132527" cy="3488916"/>
          </a:xfrm>
          <a:prstGeom prst="roundRect">
            <a:avLst>
              <a:gd name="adj" fmla="val 419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16" name="Image 0" descr="/tmp/claude-1000/-opt-dersler/8a8328c3-841c-44fa-b76f-82572d338d3d/scratchpad/d4/sek/induksiyon-akimi-01.png">    </p:cNvPr>
          <p:cNvPicPr>
            <a:picLocks noChangeAspect="1"/>
          </p:cNvPicPr>
          <p:nvPr/>
        </p:nvPicPr>
        <p:blipFill>
          <a:blip r:embed="rId1"/>
          <a:stretch>
            <a:fillRect/>
          </a:stretch>
        </p:blipFill>
        <p:spPr>
          <a:xfrm>
            <a:off x="6601968" y="2477414"/>
            <a:ext cx="4766767" cy="2025876"/>
          </a:xfrm>
          <a:prstGeom prst="rect">
            <a:avLst/>
          </a:prstGeom>
        </p:spPr>
      </p:pic>
      <p:sp>
        <p:nvSpPr>
          <p:cNvPr id="17" name="Shape 14"/>
          <p:cNvSpPr/>
          <p:nvPr/>
        </p:nvSpPr>
        <p:spPr>
          <a:xfrm>
            <a:off x="6601968" y="4594730"/>
            <a:ext cx="4766767" cy="0"/>
          </a:xfrm>
          <a:prstGeom prst="line">
            <a:avLst/>
          </a:prstGeom>
          <a:noFill/>
          <a:ln w="9525">
            <a:solidFill>
              <a:srgbClr val="E1E5EE"/>
            </a:solidFill>
            <a:prstDash val="dash"/>
          </a:ln>
        </p:spPr>
      </p:sp>
      <p:sp>
        <p:nvSpPr>
          <p:cNvPr id="18" name="Text 15"/>
          <p:cNvSpPr txBox="1"/>
          <p:nvPr/>
        </p:nvSpPr>
        <p:spPr>
          <a:xfrm>
            <a:off x="6601968" y="4649594"/>
            <a:ext cx="4766767" cy="950976"/>
          </a:xfrm>
          <a:prstGeom prst="rect">
            <a:avLst/>
          </a:prstGeom>
          <a:noFill/>
          <a:ln/>
        </p:spPr>
        <p:txBody>
          <a:bodyPr wrap="square" lIns="0" tIns="0" rIns="0" bIns="0" rtlCol="0" anchor="t"/>
          <a:lstStyle/>
          <a:p>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Manyetik akı, çerçevenin içinden </a:t>
            </a:r>
            <a:pPr indent="0" marL="0">
              <a:lnSpc>
                <a:spcPct val="112000"/>
              </a:lnSpc>
              <a:buNone/>
            </a:pPr>
            <a:r>
              <a:rPr lang="en-US" sz="1050" b="1" dirty="0">
                <a:solidFill>
                  <a:srgbClr val="4A5470"/>
                </a:solidFill>
                <a:latin typeface="Calibri" pitchFamily="34" charset="0"/>
                <a:ea typeface="Calibri" pitchFamily="34" charset="-122"/>
                <a:cs typeface="Calibri" pitchFamily="34" charset="-120"/>
              </a:rPr>
              <a:t>kaç alan çizgisinin geçtiğidir</a:t>
            </a:r>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 Çerçeveyi eğdikçe alan çizgilerine gösterdiği yüzey küçülür — sanki alanın gördüğü "gölgesi" daralır. Tam yan çevirdiğinde hiçbir çizgi içeriden geçmez ve akı sıfırlanır. Bağıntıdaki cosα çarpanı tam olarak bu gölgeyi hesaplar.</a:t>
            </a:r>
            <a:endParaRPr lang="en-US" sz="1050" dirty="0"/>
          </a:p>
        </p:txBody>
      </p:sp>
      <p:sp>
        <p:nvSpPr>
          <p:cNvPr id="19" name="Shape 16"/>
          <p:cNvSpPr/>
          <p:nvPr/>
        </p:nvSpPr>
        <p:spPr>
          <a:xfrm>
            <a:off x="640080" y="6382512"/>
            <a:ext cx="128016" cy="128016"/>
          </a:xfrm>
          <a:prstGeom prst="roundRect">
            <a:avLst>
              <a:gd name="adj" fmla="val 28571"/>
            </a:avLst>
          </a:prstGeom>
          <a:solidFill>
            <a:srgbClr val="A9E648"/>
          </a:solidFill>
          <a:ln/>
        </p:spPr>
      </p:sp>
      <p:sp>
        <p:nvSpPr>
          <p:cNvPr id="20" name="Text 1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dersler.perinet.org/induksiyon-akimi.html</a:t>
            </a:r>
            <a:endParaRPr lang="en-US" sz="1050" dirty="0"/>
          </a:p>
        </p:txBody>
      </p:sp>
      <p:sp>
        <p:nvSpPr>
          <p:cNvPr id="21" name="Text 1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08</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Faraday'ın keşfi: değişim akım doğurur</a:t>
            </a:r>
            <a:endParaRPr lang="en-US" sz="3200" dirty="0"/>
          </a:p>
        </p:txBody>
      </p:sp>
      <p:sp>
        <p:nvSpPr>
          <p:cNvPr id="5" name="Text 3"/>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6" name="Shape 4"/>
          <p:cNvSpPr/>
          <p:nvPr/>
        </p:nvSpPr>
        <p:spPr>
          <a:xfrm>
            <a:off x="640080" y="1188720"/>
            <a:ext cx="10911535" cy="886358"/>
          </a:xfrm>
          <a:prstGeom prst="roundRect">
            <a:avLst>
              <a:gd name="adj" fmla="val 12380"/>
            </a:avLst>
          </a:prstGeom>
          <a:solidFill>
            <a:srgbClr val="F8F9FC"/>
          </a:solidFill>
          <a:ln w="9525">
            <a:solidFill>
              <a:srgbClr val="E1E5EE"/>
            </a:solidFill>
            <a:prstDash val="solid"/>
          </a:ln>
        </p:spPr>
      </p:sp>
      <p:sp>
        <p:nvSpPr>
          <p:cNvPr id="7" name="Shape 5"/>
          <p:cNvSpPr/>
          <p:nvPr/>
        </p:nvSpPr>
        <p:spPr>
          <a:xfrm>
            <a:off x="658368" y="1298448"/>
            <a:ext cx="54864" cy="666902"/>
          </a:xfrm>
          <a:prstGeom prst="rect">
            <a:avLst/>
          </a:prstGeom>
          <a:solidFill>
            <a:srgbClr val="3C8C21"/>
          </a:solidFill>
          <a:ln/>
        </p:spPr>
      </p:sp>
      <p:sp>
        <p:nvSpPr>
          <p:cNvPr id="8" name="Text 6"/>
          <p:cNvSpPr txBox="1"/>
          <p:nvPr/>
        </p:nvSpPr>
        <p:spPr>
          <a:xfrm>
            <a:off x="932688" y="1234440"/>
            <a:ext cx="10454335" cy="794918"/>
          </a:xfrm>
          <a:prstGeom prst="rect">
            <a:avLst/>
          </a:prstGeom>
          <a:noFill/>
          <a:ln/>
        </p:spPr>
        <p:txBody>
          <a:bodyPr wrap="square" lIns="0" tIns="0" rIns="0" bIns="0" rtlCol="0" anchor="ctr"/>
          <a:lstStyle/>
          <a:p>
            <a:pPr indent="0" marL="0">
              <a:lnSpc>
                <a:spcPct val="112000"/>
              </a:lnSpc>
              <a:buNone/>
            </a:pPr>
            <a:r>
              <a:rPr lang="en-US" sz="1900" dirty="0">
                <a:solidFill>
                  <a:srgbClr val="0E1426"/>
                </a:solidFill>
                <a:latin typeface="Calibri" pitchFamily="34" charset="0"/>
                <a:ea typeface="Calibri" pitchFamily="34" charset="-122"/>
                <a:cs typeface="Calibri" pitchFamily="34" charset="-120"/>
              </a:rPr>
              <a:t>Akı değiştiğinde devrede emk ve indüksiyon akımı doğar; sabit alan ne kadar güçlü olursa olsun akım üretmez. Değişim hızlandıkça ve sarım sayısı arttıkça emk büyür.</a:t>
            </a:r>
            <a:endParaRPr lang="en-US" sz="1900" dirty="0"/>
          </a:p>
        </p:txBody>
      </p:sp>
      <p:sp>
        <p:nvSpPr>
          <p:cNvPr id="9" name="Shape 7"/>
          <p:cNvSpPr/>
          <p:nvPr/>
        </p:nvSpPr>
        <p:spPr>
          <a:xfrm>
            <a:off x="640080" y="2294534"/>
            <a:ext cx="5852160" cy="1383792"/>
          </a:xfrm>
          <a:prstGeom prst="roundRect">
            <a:avLst>
              <a:gd name="adj" fmla="val 7930"/>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0" name="Shape 8"/>
          <p:cNvSpPr/>
          <p:nvPr/>
        </p:nvSpPr>
        <p:spPr>
          <a:xfrm>
            <a:off x="658368" y="2440838"/>
            <a:ext cx="45720" cy="1091184"/>
          </a:xfrm>
          <a:prstGeom prst="rect">
            <a:avLst/>
          </a:prstGeom>
          <a:solidFill>
            <a:srgbClr val="3C8C21"/>
          </a:solidFill>
          <a:ln/>
        </p:spPr>
      </p:sp>
      <p:sp>
        <p:nvSpPr>
          <p:cNvPr id="11" name="Text 9"/>
          <p:cNvSpPr txBox="1"/>
          <p:nvPr/>
        </p:nvSpPr>
        <p:spPr>
          <a:xfrm>
            <a:off x="914400" y="2404262"/>
            <a:ext cx="5394960" cy="1164336"/>
          </a:xfrm>
          <a:prstGeom prst="rect">
            <a:avLst/>
          </a:prstGeom>
          <a:noFill/>
          <a:ln/>
        </p:spPr>
        <p:txBody>
          <a:bodyPr wrap="square" lIns="0" tIns="0" rIns="0" bIns="0" rtlCol="0" anchor="ctr"/>
          <a:lstStyle/>
          <a:p>
            <a:pPr indent="0" marL="0">
              <a:lnSpc>
                <a:spcPct val="112000"/>
              </a:lnSpc>
              <a:buNone/>
            </a:pPr>
            <a:r>
              <a:rPr lang="en-US" sz="1400" b="1" dirty="0">
                <a:solidFill>
                  <a:srgbClr val="0E1426"/>
                </a:solidFill>
                <a:latin typeface="Calibri" pitchFamily="34" charset="0"/>
                <a:ea typeface="Calibri" pitchFamily="34" charset="-122"/>
                <a:cs typeface="Calibri" pitchFamily="34" charset="-120"/>
              </a:rPr>
              <a:t>Belirleyici olan değişimdir.</a:t>
            </a:r>
            <a:pPr indent="0" marL="0">
              <a:lnSpc>
                <a:spcPct val="112000"/>
              </a:lnSpc>
              <a:buNone/>
            </a:pPr>
            <a:r>
              <a:rPr lang="en-US" sz="1400" dirty="0">
                <a:solidFill>
                  <a:srgbClr val="4A5470"/>
                </a:solidFill>
                <a:latin typeface="Calibri" pitchFamily="34" charset="0"/>
                <a:ea typeface="Calibri" pitchFamily="34" charset="-122"/>
                <a:cs typeface="Calibri" pitchFamily="34" charset="-120"/>
              </a:rPr>
              <a:t> Güçlü ama </a:t>
            </a:r>
            <a:pPr indent="0" marL="0">
              <a:lnSpc>
                <a:spcPct val="112000"/>
              </a:lnSpc>
              <a:buNone/>
            </a:pPr>
            <a:r>
              <a:rPr lang="en-US" sz="1400" b="1" dirty="0">
                <a:solidFill>
                  <a:srgbClr val="0E1426"/>
                </a:solidFill>
                <a:latin typeface="Calibri" pitchFamily="34" charset="0"/>
                <a:ea typeface="Calibri" pitchFamily="34" charset="-122"/>
                <a:cs typeface="Calibri" pitchFamily="34" charset="-120"/>
              </a:rPr>
              <a:t>sabit</a:t>
            </a:r>
            <a:pPr indent="0" marL="0">
              <a:lnSpc>
                <a:spcPct val="112000"/>
              </a:lnSpc>
              <a:buNone/>
            </a:pPr>
            <a:r>
              <a:rPr lang="en-US" sz="1400" dirty="0">
                <a:solidFill>
                  <a:srgbClr val="4A5470"/>
                </a:solidFill>
                <a:latin typeface="Calibri" pitchFamily="34" charset="0"/>
                <a:ea typeface="Calibri" pitchFamily="34" charset="-122"/>
                <a:cs typeface="Calibri" pitchFamily="34" charset="-120"/>
              </a:rPr>
              <a:t> bir alan hiçbir akım üretmez. Mıknatıs bobinin içinde hareketsiz dururken galvanometre sıfırı gösterir; hareket başladığı anda sapar.</a:t>
            </a:r>
            <a:endParaRPr lang="en-US" sz="1400" dirty="0"/>
          </a:p>
        </p:txBody>
      </p:sp>
      <p:sp>
        <p:nvSpPr>
          <p:cNvPr id="12" name="Text 10"/>
          <p:cNvSpPr txBox="1"/>
          <p:nvPr/>
        </p:nvSpPr>
        <p:spPr>
          <a:xfrm>
            <a:off x="640080" y="3788054"/>
            <a:ext cx="5852160" cy="1769364"/>
          </a:xfrm>
          <a:prstGeom prst="rect">
            <a:avLst/>
          </a:prstGeom>
          <a:noFill/>
          <a:ln/>
        </p:spPr>
        <p:txBody>
          <a:bodyPr wrap="square" lIns="0" tIns="0" rIns="0" bIns="0" rtlCol="0" anchor="t"/>
          <a:lstStyle/>
          <a:p>
            <a:pPr marL="203200" indent="-203200">
              <a:lnSpc>
                <a:spcPct val="115000"/>
              </a:lnSpc>
              <a:spcAft>
                <a:spcPts val="500"/>
              </a:spcAft>
              <a:buSzPct val="100000"/>
              <a:buChar char="▪"/>
            </a:pPr>
            <a:r>
              <a:rPr lang="en-US" sz="1500" b="1" dirty="0">
                <a:solidFill>
                  <a:srgbClr val="0E1426"/>
                </a:solidFill>
                <a:latin typeface="Calibri" pitchFamily="34" charset="0"/>
                <a:ea typeface="Calibri" pitchFamily="34" charset="-122"/>
                <a:cs typeface="Calibri" pitchFamily="34" charset="-120"/>
              </a:rPr>
              <a:t>Alanı değiştir:</a:t>
            </a:r>
            <a:pPr indent="0" marL="0">
              <a:lnSpc>
                <a:spcPct val="115000"/>
              </a:lnSpc>
              <a:buNone/>
            </a:pPr>
            <a:r>
              <a:rPr lang="en-US" sz="1500" dirty="0">
                <a:solidFill>
                  <a:srgbClr val="4A5470"/>
                </a:solidFill>
                <a:latin typeface="Calibri" pitchFamily="34" charset="0"/>
                <a:ea typeface="Calibri" pitchFamily="34" charset="-122"/>
                <a:cs typeface="Calibri" pitchFamily="34" charset="-120"/>
              </a:rPr>
              <a:t> mıknatısı yaklaştır ya da uzaklaştır, yakındaki bir bobinin akımını değiştir.</a:t>
            </a:r>
            <a:endParaRPr lang="en-US" sz="1500" dirty="0"/>
          </a:p>
          <a:p>
            <a:pPr marL="203200" indent="-203200">
              <a:lnSpc>
                <a:spcPct val="115000"/>
              </a:lnSpc>
              <a:spcAft>
                <a:spcPts val="500"/>
              </a:spcAft>
              <a:buSzPct val="100000"/>
              <a:buChar char="▪"/>
            </a:pPr>
            <a:r>
              <a:rPr lang="en-US" sz="1500" b="1" dirty="0">
                <a:solidFill>
                  <a:srgbClr val="0E1426"/>
                </a:solidFill>
                <a:latin typeface="Calibri" pitchFamily="34" charset="0"/>
                <a:ea typeface="Calibri" pitchFamily="34" charset="-122"/>
                <a:cs typeface="Calibri" pitchFamily="34" charset="-120"/>
              </a:rPr>
              <a:t>Yüzeyi değiştir:</a:t>
            </a:r>
            <a:pPr indent="0" marL="0">
              <a:lnSpc>
                <a:spcPct val="115000"/>
              </a:lnSpc>
              <a:buNone/>
            </a:pPr>
            <a:r>
              <a:rPr lang="en-US" sz="1500" dirty="0">
                <a:solidFill>
                  <a:srgbClr val="4A5470"/>
                </a:solidFill>
                <a:latin typeface="Calibri" pitchFamily="34" charset="0"/>
                <a:ea typeface="Calibri" pitchFamily="34" charset="-122"/>
                <a:cs typeface="Calibri" pitchFamily="34" charset="-120"/>
              </a:rPr>
              <a:t> devrenin bir kenarını kaydırarak çevrelenen alanı büyüt ya da küçült.</a:t>
            </a:r>
            <a:endParaRPr lang="en-US" sz="1500" dirty="0"/>
          </a:p>
          <a:p>
            <a:pPr marL="203200" indent="-203200">
              <a:lnSpc>
                <a:spcPct val="115000"/>
              </a:lnSpc>
              <a:spcAft>
                <a:spcPts val="500"/>
              </a:spcAft>
              <a:buSzPct val="100000"/>
              <a:buChar char="▪"/>
            </a:pPr>
            <a:r>
              <a:rPr lang="en-US" sz="1500" b="1" dirty="0">
                <a:solidFill>
                  <a:srgbClr val="0E1426"/>
                </a:solidFill>
                <a:latin typeface="Calibri" pitchFamily="34" charset="0"/>
                <a:ea typeface="Calibri" pitchFamily="34" charset="-122"/>
                <a:cs typeface="Calibri" pitchFamily="34" charset="-120"/>
              </a:rPr>
              <a:t>Açıyı değiştir:</a:t>
            </a:r>
            <a:pPr indent="0" marL="0">
              <a:lnSpc>
                <a:spcPct val="115000"/>
              </a:lnSpc>
              <a:buNone/>
            </a:pPr>
            <a:r>
              <a:rPr lang="en-US" sz="1500" dirty="0">
                <a:solidFill>
                  <a:srgbClr val="4A5470"/>
                </a:solidFill>
                <a:latin typeface="Calibri" pitchFamily="34" charset="0"/>
                <a:ea typeface="Calibri" pitchFamily="34" charset="-122"/>
                <a:cs typeface="Calibri" pitchFamily="34" charset="-120"/>
              </a:rPr>
              <a:t> bobini alanın içinde döndür; jeneratörler böyle çalışır.</a:t>
            </a:r>
            <a:endParaRPr lang="en-US" sz="1500" dirty="0"/>
          </a:p>
        </p:txBody>
      </p:sp>
      <p:sp>
        <p:nvSpPr>
          <p:cNvPr id="13" name="Shape 11"/>
          <p:cNvSpPr/>
          <p:nvPr/>
        </p:nvSpPr>
        <p:spPr>
          <a:xfrm>
            <a:off x="6784848" y="2294534"/>
            <a:ext cx="4766767" cy="3512690"/>
          </a:xfrm>
          <a:prstGeom prst="roundRect">
            <a:avLst>
              <a:gd name="adj" fmla="val 416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14" name="Image 0" descr="/tmp/claude-1000/-opt-dersler/8a8328c3-841c-44fa-b76f-82572d338d3d/scratchpad/d4/sek/induksiyon-akimi-02.png">    </p:cNvPr>
          <p:cNvPicPr>
            <a:picLocks noChangeAspect="1"/>
          </p:cNvPicPr>
          <p:nvPr/>
        </p:nvPicPr>
        <p:blipFill>
          <a:blip r:embed="rId1"/>
          <a:stretch>
            <a:fillRect/>
          </a:stretch>
        </p:blipFill>
        <p:spPr>
          <a:xfrm>
            <a:off x="6967728" y="2477414"/>
            <a:ext cx="4401007" cy="1870428"/>
          </a:xfrm>
          <a:prstGeom prst="rect">
            <a:avLst/>
          </a:prstGeom>
        </p:spPr>
      </p:pic>
      <p:sp>
        <p:nvSpPr>
          <p:cNvPr id="15" name="Shape 12"/>
          <p:cNvSpPr/>
          <p:nvPr/>
        </p:nvSpPr>
        <p:spPr>
          <a:xfrm>
            <a:off x="6967728" y="4439282"/>
            <a:ext cx="4401007" cy="0"/>
          </a:xfrm>
          <a:prstGeom prst="line">
            <a:avLst/>
          </a:prstGeom>
          <a:noFill/>
          <a:ln w="9525">
            <a:solidFill>
              <a:srgbClr val="E1E5EE"/>
            </a:solidFill>
            <a:prstDash val="dash"/>
          </a:ln>
        </p:spPr>
      </p:sp>
      <p:sp>
        <p:nvSpPr>
          <p:cNvPr id="16" name="Text 13"/>
          <p:cNvSpPr txBox="1"/>
          <p:nvPr/>
        </p:nvSpPr>
        <p:spPr>
          <a:xfrm>
            <a:off x="6967728" y="4494146"/>
            <a:ext cx="4401007" cy="1130198"/>
          </a:xfrm>
          <a:prstGeom prst="rect">
            <a:avLst/>
          </a:prstGeom>
          <a:noFill/>
          <a:ln/>
        </p:spPr>
        <p:txBody>
          <a:bodyPr wrap="square" lIns="0" tIns="0" rIns="0" bIns="0" rtlCol="0" anchor="t"/>
          <a:lstStyle/>
          <a:p>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Akım üreten şey alanın büyüklüğü değil, </a:t>
            </a:r>
            <a:pPr indent="0" marL="0">
              <a:lnSpc>
                <a:spcPct val="112000"/>
              </a:lnSpc>
              <a:buNone/>
            </a:pPr>
            <a:r>
              <a:rPr lang="en-US" sz="1050" b="1" dirty="0">
                <a:solidFill>
                  <a:srgbClr val="4A5470"/>
                </a:solidFill>
                <a:latin typeface="Calibri" pitchFamily="34" charset="0"/>
                <a:ea typeface="Calibri" pitchFamily="34" charset="-122"/>
                <a:cs typeface="Calibri" pitchFamily="34" charset="-120"/>
              </a:rPr>
              <a:t>akının değişim hızıdır</a:t>
            </a:r>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 Mıknatısı ne kadar hızlı hareket ettirirsen ΔΦ/Δt o kadar büyür ve galvanometre iğnesi o kadar çok sapar. Mıknatısı bobinin içinde </a:t>
            </a:r>
            <a:pPr indent="0" marL="0">
              <a:lnSpc>
                <a:spcPct val="112000"/>
              </a:lnSpc>
              <a:buNone/>
            </a:pPr>
            <a:r>
              <a:rPr lang="en-US" sz="1050" b="1" dirty="0">
                <a:solidFill>
                  <a:srgbClr val="4A5470"/>
                </a:solidFill>
                <a:latin typeface="Calibri" pitchFamily="34" charset="0"/>
                <a:ea typeface="Calibri" pitchFamily="34" charset="-122"/>
                <a:cs typeface="Calibri" pitchFamily="34" charset="-120"/>
              </a:rPr>
              <a:t>durdurursan</a:t>
            </a:r>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 alan hâlâ güçlü olmasına rağmen akım tamamen kesilir. Sarım sayısını artırmak da emk'yı aynı oranda büyütür.</a:t>
            </a:r>
            <a:endParaRPr lang="en-US" sz="1050" dirty="0"/>
          </a:p>
        </p:txBody>
      </p:sp>
      <p:sp>
        <p:nvSpPr>
          <p:cNvPr id="17" name="Shape 14"/>
          <p:cNvSpPr/>
          <p:nvPr/>
        </p:nvSpPr>
        <p:spPr>
          <a:xfrm>
            <a:off x="640080" y="6382512"/>
            <a:ext cx="128016" cy="128016"/>
          </a:xfrm>
          <a:prstGeom prst="roundRect">
            <a:avLst>
              <a:gd name="adj" fmla="val 28571"/>
            </a:avLst>
          </a:prstGeom>
          <a:solidFill>
            <a:srgbClr val="A9E648"/>
          </a:solidFill>
          <a:ln/>
        </p:spPr>
      </p:sp>
      <p:sp>
        <p:nvSpPr>
          <p:cNvPr id="18"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dersler.perinet.org/induksiyon-akimi.html</a:t>
            </a:r>
            <a:endParaRPr lang="en-US" sz="1050" dirty="0"/>
          </a:p>
        </p:txBody>
      </p:sp>
      <p:sp>
        <p:nvSpPr>
          <p:cNvPr id="19"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09</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Lenz yasası: doğa değişime direnir</a:t>
            </a:r>
            <a:endParaRPr lang="en-US" sz="3200" dirty="0"/>
          </a:p>
        </p:txBody>
      </p:sp>
      <p:sp>
        <p:nvSpPr>
          <p:cNvPr id="5" name="Text 3"/>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6" name="Shape 4"/>
          <p:cNvSpPr/>
          <p:nvPr/>
        </p:nvSpPr>
        <p:spPr>
          <a:xfrm>
            <a:off x="640080" y="1188720"/>
            <a:ext cx="10911535" cy="886358"/>
          </a:xfrm>
          <a:prstGeom prst="roundRect">
            <a:avLst>
              <a:gd name="adj" fmla="val 12380"/>
            </a:avLst>
          </a:prstGeom>
          <a:solidFill>
            <a:srgbClr val="F8F9FC"/>
          </a:solidFill>
          <a:ln w="9525">
            <a:solidFill>
              <a:srgbClr val="E1E5EE"/>
            </a:solidFill>
            <a:prstDash val="solid"/>
          </a:ln>
        </p:spPr>
      </p:sp>
      <p:sp>
        <p:nvSpPr>
          <p:cNvPr id="7" name="Shape 5"/>
          <p:cNvSpPr/>
          <p:nvPr/>
        </p:nvSpPr>
        <p:spPr>
          <a:xfrm>
            <a:off x="658368" y="1298448"/>
            <a:ext cx="54864" cy="666902"/>
          </a:xfrm>
          <a:prstGeom prst="rect">
            <a:avLst/>
          </a:prstGeom>
          <a:solidFill>
            <a:srgbClr val="3C8C21"/>
          </a:solidFill>
          <a:ln/>
        </p:spPr>
      </p:sp>
      <p:sp>
        <p:nvSpPr>
          <p:cNvPr id="8" name="Text 6"/>
          <p:cNvSpPr txBox="1"/>
          <p:nvPr/>
        </p:nvSpPr>
        <p:spPr>
          <a:xfrm>
            <a:off x="932688" y="1234440"/>
            <a:ext cx="10454335" cy="794918"/>
          </a:xfrm>
          <a:prstGeom prst="rect">
            <a:avLst/>
          </a:prstGeom>
          <a:noFill/>
          <a:ln/>
        </p:spPr>
        <p:txBody>
          <a:bodyPr wrap="square" lIns="0" tIns="0" rIns="0" bIns="0" rtlCol="0" anchor="ctr"/>
          <a:lstStyle/>
          <a:p>
            <a:pPr indent="0" marL="0">
              <a:lnSpc>
                <a:spcPct val="112000"/>
              </a:lnSpc>
              <a:buNone/>
            </a:pPr>
            <a:r>
              <a:rPr lang="en-US" sz="1900" dirty="0">
                <a:solidFill>
                  <a:srgbClr val="0E1426"/>
                </a:solidFill>
                <a:latin typeface="Calibri" pitchFamily="34" charset="0"/>
                <a:ea typeface="Calibri" pitchFamily="34" charset="-122"/>
                <a:cs typeface="Calibri" pitchFamily="34" charset="-120"/>
              </a:rPr>
              <a:t>İndüksiyon akımı, kendisini doğuran değişime karşı koyar: yaklaşan mıknatısı iter, uzaklaşanı çeker. Bu karşı koyma, enerjinin korunumunun gereğidir.</a:t>
            </a:r>
            <a:endParaRPr lang="en-US" sz="1900" dirty="0"/>
          </a:p>
        </p:txBody>
      </p:sp>
      <p:sp>
        <p:nvSpPr>
          <p:cNvPr id="9" name="Text 7"/>
          <p:cNvSpPr txBox="1"/>
          <p:nvPr/>
        </p:nvSpPr>
        <p:spPr>
          <a:xfrm>
            <a:off x="640080" y="2294534"/>
            <a:ext cx="5486400" cy="1249680"/>
          </a:xfrm>
          <a:prstGeom prst="rect">
            <a:avLst/>
          </a:prstGeom>
          <a:noFill/>
          <a:ln/>
        </p:spPr>
        <p:txBody>
          <a:bodyPr wrap="square" lIns="0" tIns="0" rIns="0" bIns="0" rtlCol="0" anchor="t"/>
          <a:lstStyle/>
          <a:p>
            <a:pPr marL="203200" indent="-203200">
              <a:lnSpc>
                <a:spcPct val="115000"/>
              </a:lnSpc>
              <a:spcAft>
                <a:spcPts val="500"/>
              </a:spcAft>
              <a:buSzPct val="100000"/>
              <a:buChar char="▪"/>
            </a:pPr>
            <a:r>
              <a:rPr lang="en-US" sz="1600" dirty="0">
                <a:solidFill>
                  <a:srgbClr val="4A5470"/>
                </a:solidFill>
                <a:latin typeface="Calibri" pitchFamily="34" charset="0"/>
                <a:ea typeface="Calibri" pitchFamily="34" charset="-122"/>
                <a:cs typeface="Calibri" pitchFamily="34" charset="-120"/>
              </a:rPr>
              <a:t>Akı </a:t>
            </a:r>
            <a:pPr indent="0" marL="0">
              <a:lnSpc>
                <a:spcPct val="115000"/>
              </a:lnSpc>
              <a:buNone/>
            </a:pPr>
            <a:r>
              <a:rPr lang="en-US" sz="1600" b="1" dirty="0">
                <a:solidFill>
                  <a:srgbClr val="0E1426"/>
                </a:solidFill>
                <a:latin typeface="Calibri" pitchFamily="34" charset="0"/>
                <a:ea typeface="Calibri" pitchFamily="34" charset="-122"/>
                <a:cs typeface="Calibri" pitchFamily="34" charset="-120"/>
              </a:rPr>
              <a:t>artıyorsa</a:t>
            </a:r>
            <a:pPr indent="0" marL="0">
              <a:lnSpc>
                <a:spcPct val="115000"/>
              </a:lnSpc>
              <a:buNone/>
            </a:pPr>
            <a:r>
              <a:rPr lang="en-US" sz="1600" dirty="0">
                <a:solidFill>
                  <a:srgbClr val="4A5470"/>
                </a:solidFill>
                <a:latin typeface="Calibri" pitchFamily="34" charset="0"/>
                <a:ea typeface="Calibri" pitchFamily="34" charset="-122"/>
                <a:cs typeface="Calibri" pitchFamily="34" charset="-120"/>
              </a:rPr>
              <a:t>: indüksiyon akımı, artışı azaltacak yönde alan üretir.</a:t>
            </a:r>
            <a:endParaRPr lang="en-US" sz="1600" dirty="0"/>
          </a:p>
          <a:p>
            <a:pPr marL="203200" indent="-203200">
              <a:lnSpc>
                <a:spcPct val="115000"/>
              </a:lnSpc>
              <a:spcAft>
                <a:spcPts val="500"/>
              </a:spcAft>
              <a:buSzPct val="100000"/>
              <a:buChar char="▪"/>
            </a:pPr>
            <a:r>
              <a:rPr lang="en-US" sz="1600" dirty="0">
                <a:solidFill>
                  <a:srgbClr val="4A5470"/>
                </a:solidFill>
                <a:latin typeface="Calibri" pitchFamily="34" charset="0"/>
                <a:ea typeface="Calibri" pitchFamily="34" charset="-122"/>
                <a:cs typeface="Calibri" pitchFamily="34" charset="-120"/>
              </a:rPr>
              <a:t>Akı </a:t>
            </a:r>
            <a:pPr indent="0" marL="0">
              <a:lnSpc>
                <a:spcPct val="115000"/>
              </a:lnSpc>
              <a:buNone/>
            </a:pPr>
            <a:r>
              <a:rPr lang="en-US" sz="1600" b="1" dirty="0">
                <a:solidFill>
                  <a:srgbClr val="0E1426"/>
                </a:solidFill>
                <a:latin typeface="Calibri" pitchFamily="34" charset="0"/>
                <a:ea typeface="Calibri" pitchFamily="34" charset="-122"/>
                <a:cs typeface="Calibri" pitchFamily="34" charset="-120"/>
              </a:rPr>
              <a:t>azalıyorsa</a:t>
            </a:r>
            <a:pPr indent="0" marL="0">
              <a:lnSpc>
                <a:spcPct val="115000"/>
              </a:lnSpc>
              <a:buNone/>
            </a:pPr>
            <a:r>
              <a:rPr lang="en-US" sz="1600" dirty="0">
                <a:solidFill>
                  <a:srgbClr val="4A5470"/>
                </a:solidFill>
                <a:latin typeface="Calibri" pitchFamily="34" charset="0"/>
                <a:ea typeface="Calibri" pitchFamily="34" charset="-122"/>
                <a:cs typeface="Calibri" pitchFamily="34" charset="-120"/>
              </a:rPr>
              <a:t>: akım, azalmayı telafi edecek yönde alan üretir.</a:t>
            </a:r>
            <a:endParaRPr lang="en-US" sz="1600" dirty="0"/>
          </a:p>
        </p:txBody>
      </p:sp>
      <p:sp>
        <p:nvSpPr>
          <p:cNvPr id="10" name="Shape 8"/>
          <p:cNvSpPr/>
          <p:nvPr/>
        </p:nvSpPr>
        <p:spPr>
          <a:xfrm>
            <a:off x="640080" y="3653942"/>
            <a:ext cx="5486400" cy="1453896"/>
          </a:xfrm>
          <a:prstGeom prst="roundRect">
            <a:avLst>
              <a:gd name="adj" fmla="val 7547"/>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1" name="Shape 9"/>
          <p:cNvSpPr/>
          <p:nvPr/>
        </p:nvSpPr>
        <p:spPr>
          <a:xfrm>
            <a:off x="658368" y="3800246"/>
            <a:ext cx="45720" cy="1161288"/>
          </a:xfrm>
          <a:prstGeom prst="rect">
            <a:avLst/>
          </a:prstGeom>
          <a:solidFill>
            <a:srgbClr val="A56209"/>
          </a:solidFill>
          <a:ln/>
        </p:spPr>
      </p:sp>
      <p:sp>
        <p:nvSpPr>
          <p:cNvPr id="12" name="Text 10"/>
          <p:cNvSpPr txBox="1"/>
          <p:nvPr/>
        </p:nvSpPr>
        <p:spPr>
          <a:xfrm>
            <a:off x="914400" y="3763670"/>
            <a:ext cx="5029200" cy="1234440"/>
          </a:xfrm>
          <a:prstGeom prst="rect">
            <a:avLst/>
          </a:prstGeom>
          <a:noFill/>
          <a:ln/>
        </p:spPr>
        <p:txBody>
          <a:bodyPr wrap="square" lIns="0" tIns="0" rIns="0" bIns="0" rtlCol="0" anchor="ctr"/>
          <a:lstStyle/>
          <a:p>
            <a:pPr indent="0" marL="0">
              <a:lnSpc>
                <a:spcPct val="112000"/>
              </a:lnSpc>
              <a:buNone/>
            </a:pPr>
            <a:r>
              <a:rPr lang="en-US" sz="1500" b="1" dirty="0">
                <a:solidFill>
                  <a:srgbClr val="0E1426"/>
                </a:solidFill>
                <a:latin typeface="Calibri" pitchFamily="34" charset="0"/>
                <a:ea typeface="Calibri" pitchFamily="34" charset="-122"/>
                <a:cs typeface="Calibri" pitchFamily="34" charset="-120"/>
              </a:rPr>
              <a:t>Lenz olmasaydı ne olurdu?</a:t>
            </a:r>
            <a:pPr indent="0" marL="0">
              <a:lnSpc>
                <a:spcPct val="112000"/>
              </a:lnSpc>
              <a:buNone/>
            </a:pPr>
            <a:r>
              <a:rPr lang="en-US" sz="1500" dirty="0">
                <a:solidFill>
                  <a:srgbClr val="4A5470"/>
                </a:solidFill>
                <a:latin typeface="Calibri" pitchFamily="34" charset="0"/>
                <a:ea typeface="Calibri" pitchFamily="34" charset="-122"/>
                <a:cs typeface="Calibri" pitchFamily="34" charset="-120"/>
              </a:rPr>
              <a:t> Akım değişimi desteklerdi; sistem kendi kendini hızlandırır, bedava enerji üretirdi. Faraday yasasında birazdan göreceğin eksi işareti, enerji korunumunun bekçisidir.</a:t>
            </a:r>
            <a:endParaRPr lang="en-US" sz="1500" dirty="0"/>
          </a:p>
        </p:txBody>
      </p:sp>
      <p:sp>
        <p:nvSpPr>
          <p:cNvPr id="13" name="Shape 11"/>
          <p:cNvSpPr/>
          <p:nvPr/>
        </p:nvSpPr>
        <p:spPr>
          <a:xfrm>
            <a:off x="6419088" y="2294534"/>
            <a:ext cx="5132527" cy="3668138"/>
          </a:xfrm>
          <a:prstGeom prst="roundRect">
            <a:avLst>
              <a:gd name="adj" fmla="val 3989"/>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14" name="Image 0" descr="/tmp/claude-1000/-opt-dersler/8a8328c3-841c-44fa-b76f-82572d338d3d/scratchpad/d4/sek/induksiyon-akimi-03.png">    </p:cNvPr>
          <p:cNvPicPr>
            <a:picLocks noChangeAspect="1"/>
          </p:cNvPicPr>
          <p:nvPr/>
        </p:nvPicPr>
        <p:blipFill>
          <a:blip r:embed="rId1"/>
          <a:stretch>
            <a:fillRect/>
          </a:stretch>
        </p:blipFill>
        <p:spPr>
          <a:xfrm>
            <a:off x="6601968" y="2477414"/>
            <a:ext cx="4766767" cy="2025876"/>
          </a:xfrm>
          <a:prstGeom prst="rect">
            <a:avLst/>
          </a:prstGeom>
        </p:spPr>
      </p:pic>
      <p:sp>
        <p:nvSpPr>
          <p:cNvPr id="15" name="Shape 12"/>
          <p:cNvSpPr/>
          <p:nvPr/>
        </p:nvSpPr>
        <p:spPr>
          <a:xfrm>
            <a:off x="6601968" y="4594730"/>
            <a:ext cx="4766767" cy="0"/>
          </a:xfrm>
          <a:prstGeom prst="line">
            <a:avLst/>
          </a:prstGeom>
          <a:noFill/>
          <a:ln w="9525">
            <a:solidFill>
              <a:srgbClr val="E1E5EE"/>
            </a:solidFill>
            <a:prstDash val="dash"/>
          </a:ln>
        </p:spPr>
      </p:sp>
      <p:sp>
        <p:nvSpPr>
          <p:cNvPr id="16" name="Text 13"/>
          <p:cNvSpPr txBox="1"/>
          <p:nvPr/>
        </p:nvSpPr>
        <p:spPr>
          <a:xfrm>
            <a:off x="6601968" y="4649594"/>
            <a:ext cx="4766767" cy="1130198"/>
          </a:xfrm>
          <a:prstGeom prst="rect">
            <a:avLst/>
          </a:prstGeom>
          <a:noFill/>
          <a:ln/>
        </p:spPr>
        <p:txBody>
          <a:bodyPr wrap="square" lIns="0" tIns="0" rIns="0" bIns="0" rtlCol="0" anchor="t"/>
          <a:lstStyle/>
          <a:p>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Lenz yasası tek cümledir: </a:t>
            </a:r>
            <a:pPr indent="0" marL="0">
              <a:lnSpc>
                <a:spcPct val="112000"/>
              </a:lnSpc>
              <a:buNone/>
            </a:pPr>
            <a:r>
              <a:rPr lang="en-US" sz="1050" b="1" dirty="0">
                <a:solidFill>
                  <a:srgbClr val="4A5470"/>
                </a:solidFill>
                <a:latin typeface="Calibri" pitchFamily="34" charset="0"/>
                <a:ea typeface="Calibri" pitchFamily="34" charset="-122"/>
                <a:cs typeface="Calibri" pitchFamily="34" charset="-120"/>
              </a:rPr>
              <a:t>indüklenen akım, kendisini doğuran değişime karşı çıkacak yönde akar.</a:t>
            </a:r>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 Mıknatıs yaklaşırken bobin ona bakan yüzünü aynı kutup yapar ve iter; uzaklaşırken zıt kutup yapar ve çeker. Yani mıknatısı hareket ettirmek için </a:t>
            </a:r>
            <a:pPr indent="0" marL="0">
              <a:lnSpc>
                <a:spcPct val="112000"/>
              </a:lnSpc>
              <a:buNone/>
            </a:pPr>
            <a:r>
              <a:rPr lang="en-US" sz="1050" b="1" dirty="0">
                <a:solidFill>
                  <a:srgbClr val="4A5470"/>
                </a:solidFill>
                <a:latin typeface="Calibri" pitchFamily="34" charset="0"/>
                <a:ea typeface="Calibri" pitchFamily="34" charset="-122"/>
                <a:cs typeface="Calibri" pitchFamily="34" charset="-120"/>
              </a:rPr>
              <a:t>iş yapman gerekir</a:t>
            </a:r>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 — üretilen elektrik enerjisi tam olarak buradan gelir. Aksi olsaydı hareket kendini besler, enerjinin korunumu çökerdi.</a:t>
            </a:r>
            <a:endParaRPr lang="en-US" sz="1050" dirty="0"/>
          </a:p>
        </p:txBody>
      </p:sp>
      <p:sp>
        <p:nvSpPr>
          <p:cNvPr id="17" name="Shape 14"/>
          <p:cNvSpPr/>
          <p:nvPr/>
        </p:nvSpPr>
        <p:spPr>
          <a:xfrm>
            <a:off x="640080" y="6382512"/>
            <a:ext cx="128016" cy="128016"/>
          </a:xfrm>
          <a:prstGeom prst="roundRect">
            <a:avLst>
              <a:gd name="adj" fmla="val 28571"/>
            </a:avLst>
          </a:prstGeom>
          <a:solidFill>
            <a:srgbClr val="A9E648"/>
          </a:solidFill>
          <a:ln/>
        </p:spPr>
      </p:sp>
      <p:sp>
        <p:nvSpPr>
          <p:cNvPr id="18"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dersler.perinet.org/induksiyon-akimi.html</a:t>
            </a:r>
            <a:endParaRPr lang="en-US" sz="1050" dirty="0"/>
          </a:p>
        </p:txBody>
      </p:sp>
      <p:sp>
        <p:nvSpPr>
          <p:cNvPr id="19"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Bobinin uçları birbirine bağlı değilse, mıknatısı yaklaştırırken yine itme hisseder misin?</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04 · Lenz yasası: doğa değişime direnir</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dersler.perinet.org/induksiyon-akimi.html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Bobinin uçları birbirine bağlı değilse, mıknatısı yaklaştırırken yine itme hisseder misin?</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CFC8F5"/>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200" dirty="0">
                <a:solidFill>
                  <a:srgbClr val="0E1426"/>
                </a:solidFill>
                <a:latin typeface="Calibri" pitchFamily="34" charset="0"/>
                <a:ea typeface="Calibri" pitchFamily="34" charset="-122"/>
                <a:cs typeface="Calibri" pitchFamily="34" charset="-120"/>
              </a:rPr>
              <a:t>Hayır. Devre açık olduğu için bobinin uçları arasında emk doğar ama akım akamaz. Akım yoksa bobin mıknatıs gibi davranmaz ve mıknatısı itmez. Uçları birleştirdiğin anda akım akar, itme de başlar.</a:t>
            </a:r>
            <a:endParaRPr lang="en-US" sz="22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dersler.perinet.org/induksiyon-akimi.html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E1426"/>
        </a:solidFill>
      </p:bgPr>
    </p:bg>
    <p:spTree>
      <p:nvGrpSpPr>
        <p:cNvPr id="1" name=""/>
        <p:cNvGrpSpPr/>
        <p:nvPr/>
      </p:nvGrpSpPr>
      <p:grpSpPr>
        <a:xfrm>
          <a:off x="0" y="0"/>
          <a:ext cx="0" cy="0"/>
          <a:chOff x="0" y="0"/>
          <a:chExt cx="0" cy="0"/>
        </a:xfrm>
      </p:grpSpPr>
      <p:sp>
        <p:nvSpPr>
          <p:cNvPr id="2" name="Text 0"/>
          <p:cNvSpPr txBox="1"/>
          <p:nvPr/>
        </p:nvSpPr>
        <p:spPr>
          <a:xfrm>
            <a:off x="685800" y="365760"/>
            <a:ext cx="1828800" cy="1874520"/>
          </a:xfrm>
          <a:prstGeom prst="rect">
            <a:avLst/>
          </a:prstGeom>
          <a:noFill/>
          <a:ln/>
        </p:spPr>
        <p:txBody>
          <a:bodyPr wrap="square" lIns="0" tIns="0" rIns="0" bIns="0" rtlCol="0" anchor="ctr"/>
          <a:lstStyle/>
          <a:p>
            <a:pPr indent="0" marL="0">
              <a:buNone/>
            </a:pPr>
            <a:r>
              <a:rPr lang="en-US" sz="11600" b="1" dirty="0">
                <a:solidFill>
                  <a:srgbClr val="82AAFF"/>
                </a:solidFill>
                <a:latin typeface="Cambria" pitchFamily="34" charset="0"/>
                <a:ea typeface="Cambria" pitchFamily="34" charset="-122"/>
                <a:cs typeface="Cambria" pitchFamily="34" charset="-120"/>
              </a:rPr>
              <a:t>2</a:t>
            </a:r>
            <a:endParaRPr lang="en-US" sz="11600" dirty="0"/>
          </a:p>
        </p:txBody>
      </p:sp>
      <p:sp>
        <p:nvSpPr>
          <p:cNvPr id="3" name="Text 1"/>
          <p:cNvSpPr txBox="1"/>
          <p:nvPr/>
        </p:nvSpPr>
        <p:spPr>
          <a:xfrm>
            <a:off x="731520" y="2286000"/>
            <a:ext cx="4572000" cy="292608"/>
          </a:xfrm>
          <a:prstGeom prst="rect">
            <a:avLst/>
          </a:prstGeom>
          <a:noFill/>
          <a:ln/>
        </p:spPr>
        <p:txBody>
          <a:bodyPr wrap="square" lIns="0" tIns="0" rIns="0" bIns="0" rtlCol="0" anchor="ctr"/>
          <a:lstStyle/>
          <a:p>
            <a:pPr indent="0" marL="0">
              <a:buNone/>
            </a:pPr>
            <a:r>
              <a:rPr lang="en-US" sz="1200" b="1" spc="300" kern="0" dirty="0">
                <a:solidFill>
                  <a:srgbClr val="82AAFF"/>
                </a:solidFill>
                <a:latin typeface="Calibri" pitchFamily="34" charset="0"/>
                <a:ea typeface="Calibri" pitchFamily="34" charset="-122"/>
                <a:cs typeface="Calibri" pitchFamily="34" charset="-120"/>
              </a:rPr>
              <a:t>BASAMAK 2 / 4</a:t>
            </a:r>
            <a:endParaRPr lang="en-US" sz="1200" dirty="0"/>
          </a:p>
        </p:txBody>
      </p:sp>
      <p:sp>
        <p:nvSpPr>
          <p:cNvPr id="4" name="Text 2"/>
          <p:cNvSpPr txBox="1"/>
          <p:nvPr/>
        </p:nvSpPr>
        <p:spPr>
          <a:xfrm>
            <a:off x="685800" y="2578608"/>
            <a:ext cx="5120640" cy="822960"/>
          </a:xfrm>
          <a:prstGeom prst="rect">
            <a:avLst/>
          </a:prstGeom>
          <a:noFill/>
          <a:ln/>
        </p:spPr>
        <p:txBody>
          <a:bodyPr wrap="square" lIns="0" tIns="0" rIns="0" bIns="0" rtlCol="0" anchor="ctr"/>
          <a:lstStyle/>
          <a:p>
            <a:pPr indent="0" marL="0">
              <a:buNone/>
            </a:pPr>
            <a:r>
              <a:rPr lang="en-US" sz="4600" b="1" spc="-100" kern="0" dirty="0">
                <a:solidFill>
                  <a:srgbClr val="FFFFFF"/>
                </a:solidFill>
                <a:latin typeface="Cambria" pitchFamily="34" charset="0"/>
                <a:ea typeface="Cambria" pitchFamily="34" charset="-122"/>
                <a:cs typeface="Cambria" pitchFamily="34" charset="-120"/>
              </a:rPr>
              <a:t>Orta</a:t>
            </a:r>
            <a:endParaRPr lang="en-US" sz="4600" dirty="0"/>
          </a:p>
        </p:txBody>
      </p:sp>
      <p:sp>
        <p:nvSpPr>
          <p:cNvPr id="5" name="Text 3"/>
          <p:cNvSpPr txBox="1"/>
          <p:nvPr/>
        </p:nvSpPr>
        <p:spPr>
          <a:xfrm>
            <a:off x="731520" y="3474720"/>
            <a:ext cx="4846320" cy="914400"/>
          </a:xfrm>
          <a:prstGeom prst="rect">
            <a:avLst/>
          </a:prstGeom>
          <a:noFill/>
          <a:ln/>
        </p:spPr>
        <p:txBody>
          <a:bodyPr wrap="square" lIns="0" tIns="0" rIns="0" bIns="0" rtlCol="0" anchor="t"/>
          <a:lstStyle/>
          <a:p>
            <a:pPr indent="0" marL="0">
              <a:lnSpc>
                <a:spcPct val="120000"/>
              </a:lnSpc>
              <a:buNone/>
            </a:pPr>
            <a:r>
              <a:rPr lang="en-US" sz="1600" dirty="0">
                <a:solidFill>
                  <a:srgbClr val="C3CEE8"/>
                </a:solidFill>
                <a:latin typeface="Calibri" pitchFamily="34" charset="0"/>
                <a:ea typeface="Calibri" pitchFamily="34" charset="-122"/>
                <a:cs typeface="Calibri" pitchFamily="34" charset="-120"/>
              </a:rPr>
              <a:t>Bağıntılar: Faraday yasasını kullan, akımın yönünü bul, kayan çubuğun ve dönen çerçevenin emk'sini adım adım çıkar.</a:t>
            </a:r>
            <a:endParaRPr lang="en-US" sz="1600" dirty="0"/>
          </a:p>
        </p:txBody>
      </p:sp>
      <p:sp>
        <p:nvSpPr>
          <p:cNvPr id="6" name="Text 4"/>
          <p:cNvSpPr txBox="1"/>
          <p:nvPr/>
        </p:nvSpPr>
        <p:spPr>
          <a:xfrm>
            <a:off x="731520" y="4572000"/>
            <a:ext cx="5120640" cy="320040"/>
          </a:xfrm>
          <a:prstGeom prst="rect">
            <a:avLst/>
          </a:prstGeom>
          <a:noFill/>
          <a:ln/>
        </p:spPr>
        <p:txBody>
          <a:bodyPr wrap="square" lIns="0" tIns="0" rIns="0" bIns="0" rtlCol="0" anchor="ctr"/>
          <a:lstStyle/>
          <a:p>
            <a:pPr indent="0" marL="0">
              <a:buNone/>
            </a:pPr>
            <a:r>
              <a:rPr lang="en-US" sz="1300" b="1" dirty="0">
                <a:solidFill>
                  <a:srgbClr val="82AAFF"/>
                </a:solidFill>
                <a:latin typeface="Calibri" pitchFamily="34" charset="0"/>
                <a:ea typeface="Calibri" pitchFamily="34" charset="-122"/>
                <a:cs typeface="Calibri" pitchFamily="34" charset="-120"/>
              </a:rPr>
              <a:t>05   </a:t>
            </a:r>
            <a:pPr indent="0" marL="0">
              <a:buNone/>
            </a:pPr>
            <a:r>
              <a:rPr lang="en-US" sz="1300" dirty="0">
                <a:solidFill>
                  <a:srgbClr val="FFFFFF"/>
                </a:solidFill>
                <a:latin typeface="Calibri" pitchFamily="34" charset="0"/>
                <a:ea typeface="Calibri" pitchFamily="34" charset="-122"/>
                <a:cs typeface="Calibri" pitchFamily="34" charset="-120"/>
              </a:rPr>
              <a:t>Faraday indüksiyon yasası</a:t>
            </a:r>
            <a:endParaRPr lang="en-US" sz="1300" dirty="0"/>
          </a:p>
        </p:txBody>
      </p:sp>
      <p:sp>
        <p:nvSpPr>
          <p:cNvPr id="7" name="Text 5"/>
          <p:cNvSpPr txBox="1"/>
          <p:nvPr/>
        </p:nvSpPr>
        <p:spPr>
          <a:xfrm>
            <a:off x="731520" y="4892040"/>
            <a:ext cx="5120640" cy="320040"/>
          </a:xfrm>
          <a:prstGeom prst="rect">
            <a:avLst/>
          </a:prstGeom>
          <a:noFill/>
          <a:ln/>
        </p:spPr>
        <p:txBody>
          <a:bodyPr wrap="square" lIns="0" tIns="0" rIns="0" bIns="0" rtlCol="0" anchor="ctr"/>
          <a:lstStyle/>
          <a:p>
            <a:pPr indent="0" marL="0">
              <a:buNone/>
            </a:pPr>
            <a:r>
              <a:rPr lang="en-US" sz="1300" b="1" dirty="0">
                <a:solidFill>
                  <a:srgbClr val="82AAFF"/>
                </a:solidFill>
                <a:latin typeface="Calibri" pitchFamily="34" charset="0"/>
                <a:ea typeface="Calibri" pitchFamily="34" charset="-122"/>
                <a:cs typeface="Calibri" pitchFamily="34" charset="-120"/>
              </a:rPr>
              <a:t>06   </a:t>
            </a:r>
            <a:pPr indent="0" marL="0">
              <a:buNone/>
            </a:pPr>
            <a:r>
              <a:rPr lang="en-US" sz="1300" dirty="0">
                <a:solidFill>
                  <a:srgbClr val="FFFFFF"/>
                </a:solidFill>
                <a:latin typeface="Calibri" pitchFamily="34" charset="0"/>
                <a:ea typeface="Calibri" pitchFamily="34" charset="-122"/>
                <a:cs typeface="Calibri" pitchFamily="34" charset="-120"/>
              </a:rPr>
              <a:t>İndüksiyon akımının yönü</a:t>
            </a:r>
            <a:endParaRPr lang="en-US" sz="1300" dirty="0"/>
          </a:p>
        </p:txBody>
      </p:sp>
      <p:sp>
        <p:nvSpPr>
          <p:cNvPr id="8" name="Text 6"/>
          <p:cNvSpPr txBox="1"/>
          <p:nvPr/>
        </p:nvSpPr>
        <p:spPr>
          <a:xfrm>
            <a:off x="731520" y="5212080"/>
            <a:ext cx="5120640" cy="320040"/>
          </a:xfrm>
          <a:prstGeom prst="rect">
            <a:avLst/>
          </a:prstGeom>
          <a:noFill/>
          <a:ln/>
        </p:spPr>
        <p:txBody>
          <a:bodyPr wrap="square" lIns="0" tIns="0" rIns="0" bIns="0" rtlCol="0" anchor="ctr"/>
          <a:lstStyle/>
          <a:p>
            <a:pPr indent="0" marL="0">
              <a:buNone/>
            </a:pPr>
            <a:r>
              <a:rPr lang="en-US" sz="1300" b="1" dirty="0">
                <a:solidFill>
                  <a:srgbClr val="82AAFF"/>
                </a:solidFill>
                <a:latin typeface="Calibri" pitchFamily="34" charset="0"/>
                <a:ea typeface="Calibri" pitchFamily="34" charset="-122"/>
                <a:cs typeface="Calibri" pitchFamily="34" charset="-120"/>
              </a:rPr>
              <a:t>07   </a:t>
            </a:r>
            <a:pPr indent="0" marL="0">
              <a:buNone/>
            </a:pPr>
            <a:r>
              <a:rPr lang="en-US" sz="1300" dirty="0">
                <a:solidFill>
                  <a:srgbClr val="FFFFFF"/>
                </a:solidFill>
                <a:latin typeface="Calibri" pitchFamily="34" charset="0"/>
                <a:ea typeface="Calibri" pitchFamily="34" charset="-122"/>
                <a:cs typeface="Calibri" pitchFamily="34" charset="-120"/>
              </a:rPr>
              <a:t>Hareketli iletken çubuk</a:t>
            </a:r>
            <a:endParaRPr lang="en-US" sz="1300" dirty="0"/>
          </a:p>
        </p:txBody>
      </p:sp>
      <p:sp>
        <p:nvSpPr>
          <p:cNvPr id="9" name="Text 7"/>
          <p:cNvSpPr txBox="1"/>
          <p:nvPr/>
        </p:nvSpPr>
        <p:spPr>
          <a:xfrm>
            <a:off x="731520" y="5532120"/>
            <a:ext cx="5120640" cy="320040"/>
          </a:xfrm>
          <a:prstGeom prst="rect">
            <a:avLst/>
          </a:prstGeom>
          <a:noFill/>
          <a:ln/>
        </p:spPr>
        <p:txBody>
          <a:bodyPr wrap="square" lIns="0" tIns="0" rIns="0" bIns="0" rtlCol="0" anchor="ctr"/>
          <a:lstStyle/>
          <a:p>
            <a:pPr indent="0" marL="0">
              <a:buNone/>
            </a:pPr>
            <a:r>
              <a:rPr lang="en-US" sz="1300" b="1" dirty="0">
                <a:solidFill>
                  <a:srgbClr val="82AAFF"/>
                </a:solidFill>
                <a:latin typeface="Calibri" pitchFamily="34" charset="0"/>
                <a:ea typeface="Calibri" pitchFamily="34" charset="-122"/>
                <a:cs typeface="Calibri" pitchFamily="34" charset="-120"/>
              </a:rPr>
              <a:t>08   </a:t>
            </a:r>
            <a:pPr indent="0" marL="0">
              <a:buNone/>
            </a:pPr>
            <a:r>
              <a:rPr lang="en-US" sz="1300" dirty="0">
                <a:solidFill>
                  <a:srgbClr val="FFFFFF"/>
                </a:solidFill>
                <a:latin typeface="Calibri" pitchFamily="34" charset="0"/>
                <a:ea typeface="Calibri" pitchFamily="34" charset="-122"/>
                <a:cs typeface="Calibri" pitchFamily="34" charset="-120"/>
              </a:rPr>
              <a:t>Sayılarla hisset: ne kadar emk?</a:t>
            </a:r>
            <a:endParaRPr lang="en-US" sz="1300" dirty="0"/>
          </a:p>
        </p:txBody>
      </p:sp>
      <p:sp>
        <p:nvSpPr>
          <p:cNvPr id="10" name="Text 8"/>
          <p:cNvSpPr txBox="1"/>
          <p:nvPr/>
        </p:nvSpPr>
        <p:spPr>
          <a:xfrm>
            <a:off x="731520" y="5852160"/>
            <a:ext cx="5120640" cy="320040"/>
          </a:xfrm>
          <a:prstGeom prst="rect">
            <a:avLst/>
          </a:prstGeom>
          <a:noFill/>
          <a:ln/>
        </p:spPr>
        <p:txBody>
          <a:bodyPr wrap="square" lIns="0" tIns="0" rIns="0" bIns="0" rtlCol="0" anchor="ctr"/>
          <a:lstStyle/>
          <a:p>
            <a:pPr indent="0" marL="0">
              <a:buNone/>
            </a:pPr>
            <a:r>
              <a:rPr lang="en-US" sz="1300" b="1" dirty="0">
                <a:solidFill>
                  <a:srgbClr val="82AAFF"/>
                </a:solidFill>
                <a:latin typeface="Calibri" pitchFamily="34" charset="0"/>
                <a:ea typeface="Calibri" pitchFamily="34" charset="-122"/>
                <a:cs typeface="Calibri" pitchFamily="34" charset="-120"/>
              </a:rPr>
              <a:t>09   </a:t>
            </a:r>
            <a:pPr indent="0" marL="0">
              <a:buNone/>
            </a:pPr>
            <a:r>
              <a:rPr lang="en-US" sz="1300" dirty="0">
                <a:solidFill>
                  <a:srgbClr val="FFFFFF"/>
                </a:solidFill>
                <a:latin typeface="Calibri" pitchFamily="34" charset="0"/>
                <a:ea typeface="Calibri" pitchFamily="34" charset="-122"/>
                <a:cs typeface="Calibri" pitchFamily="34" charset="-120"/>
              </a:rPr>
              <a:t>Jeneratör ve alternatif akım</a:t>
            </a:r>
            <a:endParaRPr lang="en-US" sz="1300" dirty="0"/>
          </a:p>
        </p:txBody>
      </p:sp>
      <p:sp>
        <p:nvSpPr>
          <p:cNvPr id="11" name="Text 9"/>
          <p:cNvSpPr txBox="1"/>
          <p:nvPr/>
        </p:nvSpPr>
        <p:spPr>
          <a:xfrm>
            <a:off x="6172200" y="1097280"/>
            <a:ext cx="5379415" cy="274320"/>
          </a:xfrm>
          <a:prstGeom prst="rect">
            <a:avLst/>
          </a:prstGeom>
          <a:noFill/>
          <a:ln/>
        </p:spPr>
        <p:txBody>
          <a:bodyPr wrap="square" lIns="0" tIns="0" rIns="0" bIns="0" rtlCol="0" anchor="ctr"/>
          <a:lstStyle/>
          <a:p>
            <a:pPr indent="0" marL="0">
              <a:buNone/>
            </a:pPr>
            <a:r>
              <a:rPr lang="en-US" sz="1050" b="1" spc="200" kern="0" dirty="0">
                <a:solidFill>
                  <a:srgbClr val="8D97B5"/>
                </a:solidFill>
                <a:latin typeface="Calibri" pitchFamily="34" charset="0"/>
                <a:ea typeface="Calibri" pitchFamily="34" charset="-122"/>
                <a:cs typeface="Calibri" pitchFamily="34" charset="-120"/>
              </a:rPr>
              <a:t>TEMEL BAĞINTILAR</a:t>
            </a:r>
            <a:endParaRPr lang="en-US" sz="1050" dirty="0"/>
          </a:p>
        </p:txBody>
      </p:sp>
      <p:sp>
        <p:nvSpPr>
          <p:cNvPr id="12" name="Shape 10"/>
          <p:cNvSpPr/>
          <p:nvPr/>
        </p:nvSpPr>
        <p:spPr>
          <a:xfrm>
            <a:off x="6172200" y="1481328"/>
            <a:ext cx="5379415" cy="731520"/>
          </a:xfrm>
          <a:prstGeom prst="roundRect">
            <a:avLst>
              <a:gd name="adj" fmla="val 12500"/>
            </a:avLst>
          </a:prstGeom>
          <a:solidFill>
            <a:srgbClr val="1C2542"/>
          </a:solidFill>
          <a:ln w="9525">
            <a:solidFill>
              <a:srgbClr val="2C3860"/>
            </a:solidFill>
            <a:prstDash val="solid"/>
          </a:ln>
        </p:spPr>
      </p:sp>
      <p:sp>
        <p:nvSpPr>
          <p:cNvPr id="13" name="Text 11"/>
          <p:cNvSpPr txBox="1"/>
          <p:nvPr/>
        </p:nvSpPr>
        <p:spPr>
          <a:xfrm>
            <a:off x="6400800" y="1481328"/>
            <a:ext cx="2176272" cy="731520"/>
          </a:xfrm>
          <a:prstGeom prst="rect">
            <a:avLst/>
          </a:prstGeom>
          <a:noFill/>
          <a:ln/>
        </p:spPr>
        <p:txBody>
          <a:bodyPr wrap="square" lIns="0" tIns="0" rIns="0" bIns="0" rtlCol="0" anchor="ctr"/>
          <a:lstStyle/>
          <a:p>
            <a:pPr indent="0" marL="0">
              <a:buNone/>
            </a:pPr>
            <a:r>
              <a:rPr lang="en-US" sz="1500" b="1" dirty="0">
                <a:solidFill>
                  <a:srgbClr val="82AAFF"/>
                </a:solidFill>
                <a:latin typeface="Courier New" pitchFamily="34" charset="0"/>
                <a:ea typeface="Courier New" pitchFamily="34" charset="-122"/>
                <a:cs typeface="Courier New" pitchFamily="34" charset="-120"/>
              </a:rPr>
              <a:t>Φ = B · A · cosα</a:t>
            </a:r>
            <a:endParaRPr lang="en-US" sz="1500" dirty="0"/>
          </a:p>
        </p:txBody>
      </p:sp>
      <p:sp>
        <p:nvSpPr>
          <p:cNvPr id="14" name="Text 12"/>
          <p:cNvSpPr txBox="1"/>
          <p:nvPr/>
        </p:nvSpPr>
        <p:spPr>
          <a:xfrm>
            <a:off x="8668512" y="1481328"/>
            <a:ext cx="2700223" cy="731520"/>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manyetik akı (weber)</a:t>
            </a:r>
            <a:endParaRPr lang="en-US" sz="1200" dirty="0"/>
          </a:p>
        </p:txBody>
      </p:sp>
      <p:sp>
        <p:nvSpPr>
          <p:cNvPr id="15" name="Shape 13"/>
          <p:cNvSpPr/>
          <p:nvPr/>
        </p:nvSpPr>
        <p:spPr>
          <a:xfrm>
            <a:off x="6172200" y="2350008"/>
            <a:ext cx="5379415" cy="731520"/>
          </a:xfrm>
          <a:prstGeom prst="roundRect">
            <a:avLst>
              <a:gd name="adj" fmla="val 12500"/>
            </a:avLst>
          </a:prstGeom>
          <a:solidFill>
            <a:srgbClr val="1C2542"/>
          </a:solidFill>
          <a:ln w="9525">
            <a:solidFill>
              <a:srgbClr val="2C3860"/>
            </a:solidFill>
            <a:prstDash val="solid"/>
          </a:ln>
        </p:spPr>
      </p:sp>
      <p:sp>
        <p:nvSpPr>
          <p:cNvPr id="16" name="Text 14"/>
          <p:cNvSpPr txBox="1"/>
          <p:nvPr/>
        </p:nvSpPr>
        <p:spPr>
          <a:xfrm>
            <a:off x="6400800" y="2350008"/>
            <a:ext cx="2176272" cy="731520"/>
          </a:xfrm>
          <a:prstGeom prst="rect">
            <a:avLst/>
          </a:prstGeom>
          <a:noFill/>
          <a:ln/>
        </p:spPr>
        <p:txBody>
          <a:bodyPr wrap="square" lIns="0" tIns="0" rIns="0" bIns="0" rtlCol="0" anchor="ctr"/>
          <a:lstStyle/>
          <a:p>
            <a:pPr indent="0" marL="0">
              <a:buNone/>
            </a:pPr>
            <a:r>
              <a:rPr lang="en-US" sz="1500" b="1" dirty="0">
                <a:solidFill>
                  <a:srgbClr val="82AAFF"/>
                </a:solidFill>
                <a:latin typeface="Courier New" pitchFamily="34" charset="0"/>
                <a:ea typeface="Courier New" pitchFamily="34" charset="-122"/>
                <a:cs typeface="Courier New" pitchFamily="34" charset="-120"/>
              </a:rPr>
              <a:t>ε = −N · ΔΦ / Δt</a:t>
            </a:r>
            <a:endParaRPr lang="en-US" sz="1500" dirty="0"/>
          </a:p>
        </p:txBody>
      </p:sp>
      <p:sp>
        <p:nvSpPr>
          <p:cNvPr id="17" name="Text 15"/>
          <p:cNvSpPr txBox="1"/>
          <p:nvPr/>
        </p:nvSpPr>
        <p:spPr>
          <a:xfrm>
            <a:off x="8668512" y="2350008"/>
            <a:ext cx="2700223" cy="731520"/>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Faraday indüksiyon yasası</a:t>
            </a:r>
            <a:endParaRPr lang="en-US" sz="1200" dirty="0"/>
          </a:p>
        </p:txBody>
      </p:sp>
      <p:sp>
        <p:nvSpPr>
          <p:cNvPr id="18" name="Shape 16"/>
          <p:cNvSpPr/>
          <p:nvPr/>
        </p:nvSpPr>
        <p:spPr>
          <a:xfrm>
            <a:off x="6172200" y="3218688"/>
            <a:ext cx="5379415" cy="731520"/>
          </a:xfrm>
          <a:prstGeom prst="roundRect">
            <a:avLst>
              <a:gd name="adj" fmla="val 12500"/>
            </a:avLst>
          </a:prstGeom>
          <a:solidFill>
            <a:srgbClr val="1C2542"/>
          </a:solidFill>
          <a:ln w="9525">
            <a:solidFill>
              <a:srgbClr val="2C3860"/>
            </a:solidFill>
            <a:prstDash val="solid"/>
          </a:ln>
        </p:spPr>
      </p:sp>
      <p:sp>
        <p:nvSpPr>
          <p:cNvPr id="19" name="Text 17"/>
          <p:cNvSpPr txBox="1"/>
          <p:nvPr/>
        </p:nvSpPr>
        <p:spPr>
          <a:xfrm>
            <a:off x="6400800" y="3218688"/>
            <a:ext cx="1819656" cy="731520"/>
          </a:xfrm>
          <a:prstGeom prst="rect">
            <a:avLst/>
          </a:prstGeom>
          <a:noFill/>
          <a:ln/>
        </p:spPr>
        <p:txBody>
          <a:bodyPr wrap="square" lIns="0" tIns="0" rIns="0" bIns="0" rtlCol="0" anchor="ctr"/>
          <a:lstStyle/>
          <a:p>
            <a:pPr indent="0" marL="0">
              <a:buNone/>
            </a:pPr>
            <a:r>
              <a:rPr lang="en-US" sz="1500" b="1" dirty="0">
                <a:solidFill>
                  <a:srgbClr val="82AAFF"/>
                </a:solidFill>
                <a:latin typeface="Courier New" pitchFamily="34" charset="0"/>
                <a:ea typeface="Courier New" pitchFamily="34" charset="-122"/>
                <a:cs typeface="Courier New" pitchFamily="34" charset="-120"/>
              </a:rPr>
              <a:t>ε = B · L · v</a:t>
            </a:r>
            <a:endParaRPr lang="en-US" sz="1500" dirty="0"/>
          </a:p>
        </p:txBody>
      </p:sp>
      <p:sp>
        <p:nvSpPr>
          <p:cNvPr id="20" name="Text 18"/>
          <p:cNvSpPr txBox="1"/>
          <p:nvPr/>
        </p:nvSpPr>
        <p:spPr>
          <a:xfrm>
            <a:off x="8311896" y="3218688"/>
            <a:ext cx="3056839" cy="731520"/>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hareketli iletken çubuk</a:t>
            </a:r>
            <a:endParaRPr lang="en-US" sz="1200" dirty="0"/>
          </a:p>
        </p:txBody>
      </p:sp>
      <p:sp>
        <p:nvSpPr>
          <p:cNvPr id="21" name="Shape 19"/>
          <p:cNvSpPr/>
          <p:nvPr/>
        </p:nvSpPr>
        <p:spPr>
          <a:xfrm>
            <a:off x="6172200" y="4087368"/>
            <a:ext cx="5379415" cy="731520"/>
          </a:xfrm>
          <a:prstGeom prst="roundRect">
            <a:avLst>
              <a:gd name="adj" fmla="val 12500"/>
            </a:avLst>
          </a:prstGeom>
          <a:solidFill>
            <a:srgbClr val="1C2542"/>
          </a:solidFill>
          <a:ln w="9525">
            <a:solidFill>
              <a:srgbClr val="2C3860"/>
            </a:solidFill>
            <a:prstDash val="solid"/>
          </a:ln>
        </p:spPr>
      </p:sp>
      <p:sp>
        <p:nvSpPr>
          <p:cNvPr id="22" name="Text 20"/>
          <p:cNvSpPr txBox="1"/>
          <p:nvPr/>
        </p:nvSpPr>
        <p:spPr>
          <a:xfrm>
            <a:off x="6400800" y="4087368"/>
            <a:ext cx="1645920" cy="731520"/>
          </a:xfrm>
          <a:prstGeom prst="rect">
            <a:avLst/>
          </a:prstGeom>
          <a:noFill/>
          <a:ln/>
        </p:spPr>
        <p:txBody>
          <a:bodyPr wrap="square" lIns="0" tIns="0" rIns="0" bIns="0" rtlCol="0" anchor="ctr"/>
          <a:lstStyle/>
          <a:p>
            <a:pPr indent="0" marL="0">
              <a:buNone/>
            </a:pPr>
            <a:r>
              <a:rPr lang="en-US" sz="1500" b="1" dirty="0">
                <a:solidFill>
                  <a:srgbClr val="82AAFF"/>
                </a:solidFill>
                <a:latin typeface="Courier New" pitchFamily="34" charset="0"/>
                <a:ea typeface="Courier New" pitchFamily="34" charset="-122"/>
                <a:cs typeface="Courier New" pitchFamily="34" charset="-120"/>
              </a:rPr>
              <a:t>I = ε / R</a:t>
            </a:r>
            <a:endParaRPr lang="en-US" sz="1500" dirty="0"/>
          </a:p>
        </p:txBody>
      </p:sp>
      <p:sp>
        <p:nvSpPr>
          <p:cNvPr id="23" name="Text 21"/>
          <p:cNvSpPr txBox="1"/>
          <p:nvPr/>
        </p:nvSpPr>
        <p:spPr>
          <a:xfrm>
            <a:off x="8138160" y="4087368"/>
            <a:ext cx="3230575" cy="731520"/>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indüksiyon akımı</a:t>
            </a:r>
            <a:endParaRPr lang="en-US" sz="1200" dirty="0"/>
          </a:p>
        </p:txBody>
      </p:sp>
      <p:sp>
        <p:nvSpPr>
          <p:cNvPr id="24" name="Shape 22"/>
          <p:cNvSpPr/>
          <p:nvPr/>
        </p:nvSpPr>
        <p:spPr>
          <a:xfrm>
            <a:off x="640080" y="6382512"/>
            <a:ext cx="128016" cy="128016"/>
          </a:xfrm>
          <a:prstGeom prst="roundRect">
            <a:avLst>
              <a:gd name="adj" fmla="val 28571"/>
            </a:avLst>
          </a:prstGeom>
          <a:solidFill>
            <a:srgbClr val="C6F36B"/>
          </a:solidFill>
          <a:ln/>
        </p:spPr>
      </p:sp>
      <p:sp>
        <p:nvSpPr>
          <p:cNvPr id="25" name="Text 23"/>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6A7798"/>
                </a:solidFill>
                <a:latin typeface="Calibri" pitchFamily="34" charset="0"/>
                <a:ea typeface="Calibri" pitchFamily="34" charset="-122"/>
                <a:cs typeface="Calibri" pitchFamily="34" charset="-120"/>
              </a:rPr>
              <a:t>dersler.perinet.org/induksiyon-akimi.html</a:t>
            </a:r>
            <a:endParaRPr lang="en-US" sz="1050" dirty="0"/>
          </a:p>
        </p:txBody>
      </p:sp>
      <p:sp>
        <p:nvSpPr>
          <p:cNvPr id="26" name="Text 24"/>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6A7798"/>
                </a:solidFill>
                <a:latin typeface="Calibri" pitchFamily="34" charset="0"/>
                <a:ea typeface="Calibri" pitchFamily="34" charset="-122"/>
                <a:cs typeface="Calibri" pitchFamily="34" charset="-120"/>
              </a:rPr>
              <a:t>13</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Faraday indüksiyon yasası</a:t>
            </a:r>
            <a:endParaRPr lang="en-US" sz="3200" dirty="0"/>
          </a:p>
        </p:txBody>
      </p:sp>
      <p:sp>
        <p:nvSpPr>
          <p:cNvPr id="5" name="Text 3"/>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6" name="Shape 4"/>
          <p:cNvSpPr/>
          <p:nvPr/>
        </p:nvSpPr>
        <p:spPr>
          <a:xfrm>
            <a:off x="640080" y="1188720"/>
            <a:ext cx="10911535" cy="886358"/>
          </a:xfrm>
          <a:prstGeom prst="roundRect">
            <a:avLst>
              <a:gd name="adj" fmla="val 12380"/>
            </a:avLst>
          </a:prstGeom>
          <a:solidFill>
            <a:srgbClr val="F8F9FC"/>
          </a:solidFill>
          <a:ln w="9525">
            <a:solidFill>
              <a:srgbClr val="E1E5EE"/>
            </a:solidFill>
            <a:prstDash val="solid"/>
          </a:ln>
        </p:spPr>
      </p:sp>
      <p:sp>
        <p:nvSpPr>
          <p:cNvPr id="7" name="Shape 5"/>
          <p:cNvSpPr/>
          <p:nvPr/>
        </p:nvSpPr>
        <p:spPr>
          <a:xfrm>
            <a:off x="658368" y="1298448"/>
            <a:ext cx="54864" cy="666902"/>
          </a:xfrm>
          <a:prstGeom prst="rect">
            <a:avLst/>
          </a:prstGeom>
          <a:solidFill>
            <a:srgbClr val="2957D4"/>
          </a:solidFill>
          <a:ln/>
        </p:spPr>
      </p:sp>
      <p:sp>
        <p:nvSpPr>
          <p:cNvPr id="8" name="Text 6"/>
          <p:cNvSpPr txBox="1"/>
          <p:nvPr/>
        </p:nvSpPr>
        <p:spPr>
          <a:xfrm>
            <a:off x="932688" y="1234440"/>
            <a:ext cx="10454335" cy="794918"/>
          </a:xfrm>
          <a:prstGeom prst="rect">
            <a:avLst/>
          </a:prstGeom>
          <a:noFill/>
          <a:ln/>
        </p:spPr>
        <p:txBody>
          <a:bodyPr wrap="square" lIns="0" tIns="0" rIns="0" bIns="0" rtlCol="0" anchor="ctr"/>
          <a:lstStyle/>
          <a:p>
            <a:pPr indent="0" marL="0">
              <a:lnSpc>
                <a:spcPct val="112000"/>
              </a:lnSpc>
              <a:buNone/>
            </a:pPr>
            <a:r>
              <a:rPr lang="en-US" sz="1900" dirty="0">
                <a:solidFill>
                  <a:srgbClr val="0E1426"/>
                </a:solidFill>
                <a:latin typeface="Calibri" pitchFamily="34" charset="0"/>
                <a:ea typeface="Calibri" pitchFamily="34" charset="-122"/>
                <a:cs typeface="Calibri" pitchFamily="34" charset="-120"/>
              </a:rPr>
              <a:t>İndüklenen emk, akının değişim hızıyla ve sarım sayısıyla orantılıdır: ε = −N·ΔΦ/Δt. Wb/s birimi volta eşittir; emk, Φ–t grafiğinin eğimidir.</a:t>
            </a:r>
            <a:endParaRPr lang="en-US" sz="1900" dirty="0"/>
          </a:p>
        </p:txBody>
      </p:sp>
      <p:sp>
        <p:nvSpPr>
          <p:cNvPr id="9" name="Shape 7"/>
          <p:cNvSpPr/>
          <p:nvPr/>
        </p:nvSpPr>
        <p:spPr>
          <a:xfrm>
            <a:off x="640080" y="2294534"/>
            <a:ext cx="2037283" cy="457200"/>
          </a:xfrm>
          <a:prstGeom prst="roundRect">
            <a:avLst>
              <a:gd name="adj" fmla="val 24000"/>
            </a:avLst>
          </a:prstGeom>
          <a:solidFill>
            <a:srgbClr val="EEF2FC"/>
          </a:solidFill>
          <a:ln w="9525">
            <a:solidFill>
              <a:srgbClr val="CBD7F4"/>
            </a:solidFill>
            <a:prstDash val="solid"/>
          </a:ln>
        </p:spPr>
      </p:sp>
      <p:sp>
        <p:nvSpPr>
          <p:cNvPr id="10" name="Text 8"/>
          <p:cNvSpPr txBox="1"/>
          <p:nvPr/>
        </p:nvSpPr>
        <p:spPr>
          <a:xfrm>
            <a:off x="640080" y="2294534"/>
            <a:ext cx="2037283" cy="457200"/>
          </a:xfrm>
          <a:prstGeom prst="rect">
            <a:avLst/>
          </a:prstGeom>
          <a:noFill/>
          <a:ln/>
        </p:spPr>
        <p:txBody>
          <a:bodyPr wrap="square" lIns="0" tIns="0" rIns="0" bIns="0" rtlCol="0" anchor="ctr"/>
          <a:lstStyle/>
          <a:p>
            <a:pPr algn="ctr" indent="0" marL="0">
              <a:buNone/>
            </a:pPr>
            <a:r>
              <a:rPr lang="en-US" sz="1300" b="1" dirty="0">
                <a:solidFill>
                  <a:srgbClr val="2957D4"/>
                </a:solidFill>
                <a:latin typeface="Courier New" pitchFamily="34" charset="0"/>
                <a:ea typeface="Courier New" pitchFamily="34" charset="-122"/>
                <a:cs typeface="Courier New" pitchFamily="34" charset="-120"/>
              </a:rPr>
              <a:t>ε = −N · ΔΦ / Δt</a:t>
            </a:r>
            <a:endParaRPr lang="en-US" sz="1300" dirty="0"/>
          </a:p>
        </p:txBody>
      </p:sp>
      <p:sp>
        <p:nvSpPr>
          <p:cNvPr id="11" name="Shape 9"/>
          <p:cNvSpPr/>
          <p:nvPr/>
        </p:nvSpPr>
        <p:spPr>
          <a:xfrm>
            <a:off x="2787091" y="2294534"/>
            <a:ext cx="1345997" cy="457200"/>
          </a:xfrm>
          <a:prstGeom prst="roundRect">
            <a:avLst>
              <a:gd name="adj" fmla="val 24000"/>
            </a:avLst>
          </a:prstGeom>
          <a:solidFill>
            <a:srgbClr val="EEF2FC"/>
          </a:solidFill>
          <a:ln w="9525">
            <a:solidFill>
              <a:srgbClr val="CBD7F4"/>
            </a:solidFill>
            <a:prstDash val="solid"/>
          </a:ln>
        </p:spPr>
      </p:sp>
      <p:sp>
        <p:nvSpPr>
          <p:cNvPr id="12" name="Text 10"/>
          <p:cNvSpPr txBox="1"/>
          <p:nvPr/>
        </p:nvSpPr>
        <p:spPr>
          <a:xfrm>
            <a:off x="2787091" y="2294534"/>
            <a:ext cx="1345997" cy="457200"/>
          </a:xfrm>
          <a:prstGeom prst="rect">
            <a:avLst/>
          </a:prstGeom>
          <a:noFill/>
          <a:ln/>
        </p:spPr>
        <p:txBody>
          <a:bodyPr wrap="square" lIns="0" tIns="0" rIns="0" bIns="0" rtlCol="0" anchor="ctr"/>
          <a:lstStyle/>
          <a:p>
            <a:pPr algn="ctr" indent="0" marL="0">
              <a:buNone/>
            </a:pPr>
            <a:r>
              <a:rPr lang="en-US" sz="1300" b="1" dirty="0">
                <a:solidFill>
                  <a:srgbClr val="2957D4"/>
                </a:solidFill>
                <a:latin typeface="Courier New" pitchFamily="34" charset="0"/>
                <a:ea typeface="Courier New" pitchFamily="34" charset="-122"/>
                <a:cs typeface="Courier New" pitchFamily="34" charset="-120"/>
              </a:rPr>
              <a:t>I = ε / R</a:t>
            </a:r>
            <a:endParaRPr lang="en-US" sz="1300" dirty="0"/>
          </a:p>
        </p:txBody>
      </p:sp>
      <p:sp>
        <p:nvSpPr>
          <p:cNvPr id="13" name="Text 11"/>
          <p:cNvSpPr txBox="1"/>
          <p:nvPr/>
        </p:nvSpPr>
        <p:spPr>
          <a:xfrm>
            <a:off x="640080" y="2916326"/>
            <a:ext cx="10911535" cy="1722120"/>
          </a:xfrm>
          <a:prstGeom prst="rect">
            <a:avLst/>
          </a:prstGeom>
          <a:noFill/>
          <a:ln/>
        </p:spPr>
        <p:txBody>
          <a:bodyPr wrap="square" lIns="0" tIns="0" rIns="0" bIns="0" rtlCol="0" anchor="t"/>
          <a:lstStyle/>
          <a:p>
            <a:pPr marL="228600" indent="-228600">
              <a:lnSpc>
                <a:spcPct val="115000"/>
              </a:lnSpc>
              <a:spcAft>
                <a:spcPts val="500"/>
              </a:spcAft>
              <a:buSzPct val="100000"/>
              <a:buFont typeface="+mj-lt"/>
              <a:buAutoNum type="arabicPeriod" startAt="1"/>
            </a:pPr>
            <a:r>
              <a:rPr lang="en-US" sz="1600" b="1" dirty="0">
                <a:solidFill>
                  <a:srgbClr val="0E1426"/>
                </a:solidFill>
                <a:latin typeface="Calibri" pitchFamily="34" charset="0"/>
                <a:ea typeface="Calibri" pitchFamily="34" charset="-122"/>
                <a:cs typeface="Calibri" pitchFamily="34" charset="-120"/>
              </a:rPr>
              <a:t>İlk akı:</a:t>
            </a:r>
            <a:pPr indent="0" marL="0">
              <a:lnSpc>
                <a:spcPct val="115000"/>
              </a:lnSpc>
              <a:buNone/>
            </a:pPr>
            <a:r>
              <a:rPr lang="en-US" sz="1600" dirty="0">
                <a:solidFill>
                  <a:srgbClr val="4A5470"/>
                </a:solidFill>
                <a:latin typeface="Calibri" pitchFamily="34" charset="0"/>
                <a:ea typeface="Calibri" pitchFamily="34" charset="-122"/>
                <a:cs typeface="Calibri" pitchFamily="34" charset="-120"/>
              </a:rPr>
              <a:t> Φ₁ = B₁·A₁·cosα₁</a:t>
            </a:r>
            <a:endParaRPr lang="en-US" sz="1600" dirty="0"/>
          </a:p>
          <a:p>
            <a:pPr marL="228600" indent="-228600">
              <a:lnSpc>
                <a:spcPct val="115000"/>
              </a:lnSpc>
              <a:spcAft>
                <a:spcPts val="500"/>
              </a:spcAft>
              <a:buSzPct val="100000"/>
              <a:buFont typeface="+mj-lt"/>
              <a:buAutoNum type="arabicPeriod" startAt="1"/>
            </a:pPr>
            <a:r>
              <a:rPr lang="en-US" sz="1600" b="1" dirty="0">
                <a:solidFill>
                  <a:srgbClr val="0E1426"/>
                </a:solidFill>
                <a:latin typeface="Calibri" pitchFamily="34" charset="0"/>
                <a:ea typeface="Calibri" pitchFamily="34" charset="-122"/>
                <a:cs typeface="Calibri" pitchFamily="34" charset="-120"/>
              </a:rPr>
              <a:t>Son akı:</a:t>
            </a:r>
            <a:pPr indent="0" marL="0">
              <a:lnSpc>
                <a:spcPct val="115000"/>
              </a:lnSpc>
              <a:buNone/>
            </a:pPr>
            <a:r>
              <a:rPr lang="en-US" sz="1600" dirty="0">
                <a:solidFill>
                  <a:srgbClr val="4A5470"/>
                </a:solidFill>
                <a:latin typeface="Calibri" pitchFamily="34" charset="0"/>
                <a:ea typeface="Calibri" pitchFamily="34" charset="-122"/>
                <a:cs typeface="Calibri" pitchFamily="34" charset="-120"/>
              </a:rPr>
              <a:t> Φ₂ = B₂·A₂·cosα₂</a:t>
            </a:r>
            <a:endParaRPr lang="en-US" sz="1600" dirty="0"/>
          </a:p>
          <a:p>
            <a:pPr marL="228600" indent="-228600">
              <a:lnSpc>
                <a:spcPct val="115000"/>
              </a:lnSpc>
              <a:spcAft>
                <a:spcPts val="500"/>
              </a:spcAft>
              <a:buSzPct val="100000"/>
              <a:buFont typeface="+mj-lt"/>
              <a:buAutoNum type="arabicPeriod" startAt="1"/>
            </a:pPr>
            <a:r>
              <a:rPr lang="en-US" sz="1600" b="1" dirty="0">
                <a:solidFill>
                  <a:srgbClr val="0E1426"/>
                </a:solidFill>
                <a:latin typeface="Calibri" pitchFamily="34" charset="0"/>
                <a:ea typeface="Calibri" pitchFamily="34" charset="-122"/>
                <a:cs typeface="Calibri" pitchFamily="34" charset="-120"/>
              </a:rPr>
              <a:t>Değişim:</a:t>
            </a:r>
            <a:pPr indent="0" marL="0">
              <a:lnSpc>
                <a:spcPct val="115000"/>
              </a:lnSpc>
              <a:buNone/>
            </a:pPr>
            <a:r>
              <a:rPr lang="en-US" sz="1600" dirty="0">
                <a:solidFill>
                  <a:srgbClr val="4A5470"/>
                </a:solidFill>
                <a:latin typeface="Calibri" pitchFamily="34" charset="0"/>
                <a:ea typeface="Calibri" pitchFamily="34" charset="-122"/>
                <a:cs typeface="Calibri" pitchFamily="34" charset="-120"/>
              </a:rPr>
              <a:t> ΔΦ = Φ₂ − Φ₁ (artıyor mu, azalıyor mu?)</a:t>
            </a:r>
            <a:endParaRPr lang="en-US" sz="1600" dirty="0"/>
          </a:p>
          <a:p>
            <a:pPr marL="228600" indent="-228600">
              <a:lnSpc>
                <a:spcPct val="115000"/>
              </a:lnSpc>
              <a:spcAft>
                <a:spcPts val="500"/>
              </a:spcAft>
              <a:buSzPct val="100000"/>
              <a:buFont typeface="+mj-lt"/>
              <a:buAutoNum type="arabicPeriod" startAt="1"/>
            </a:pPr>
            <a:r>
              <a:rPr lang="en-US" sz="1600" b="1" dirty="0">
                <a:solidFill>
                  <a:srgbClr val="0E1426"/>
                </a:solidFill>
                <a:latin typeface="Calibri" pitchFamily="34" charset="0"/>
                <a:ea typeface="Calibri" pitchFamily="34" charset="-122"/>
                <a:cs typeface="Calibri" pitchFamily="34" charset="-120"/>
              </a:rPr>
              <a:t>emk:</a:t>
            </a:r>
            <a:pPr indent="0" marL="0">
              <a:lnSpc>
                <a:spcPct val="115000"/>
              </a:lnSpc>
              <a:buNone/>
            </a:pPr>
            <a:r>
              <a:rPr lang="en-US" sz="1600" dirty="0">
                <a:solidFill>
                  <a:srgbClr val="4A5470"/>
                </a:solidFill>
                <a:latin typeface="Calibri" pitchFamily="34" charset="0"/>
                <a:ea typeface="Calibri" pitchFamily="34" charset="-122"/>
                <a:cs typeface="Calibri" pitchFamily="34" charset="-120"/>
              </a:rPr>
              <a:t> |ε| = N·|ΔΦ| / Δt; Δt sonlu bir süreyse bu, o süredeki </a:t>
            </a:r>
            <a:pPr indent="0" marL="0">
              <a:lnSpc>
                <a:spcPct val="115000"/>
              </a:lnSpc>
              <a:buNone/>
            </a:pPr>
            <a:r>
              <a:rPr lang="en-US" sz="1600" i="1" dirty="0">
                <a:solidFill>
                  <a:srgbClr val="4A5470"/>
                </a:solidFill>
                <a:latin typeface="Calibri" pitchFamily="34" charset="0"/>
                <a:ea typeface="Calibri" pitchFamily="34" charset="-122"/>
                <a:cs typeface="Calibri" pitchFamily="34" charset="-120"/>
              </a:rPr>
              <a:t>ortalama</a:t>
            </a:r>
            <a:pPr indent="0" marL="0">
              <a:lnSpc>
                <a:spcPct val="115000"/>
              </a:lnSpc>
              <a:buNone/>
            </a:pPr>
            <a:r>
              <a:rPr lang="en-US" sz="1600" dirty="0">
                <a:solidFill>
                  <a:srgbClr val="4A5470"/>
                </a:solidFill>
                <a:latin typeface="Calibri" pitchFamily="34" charset="0"/>
                <a:ea typeface="Calibri" pitchFamily="34" charset="-122"/>
                <a:cs typeface="Calibri" pitchFamily="34" charset="-120"/>
              </a:rPr>
              <a:t> emk'dir.</a:t>
            </a:r>
            <a:endParaRPr lang="en-US" sz="1600" dirty="0"/>
          </a:p>
          <a:p>
            <a:pPr marL="228600" indent="-228600">
              <a:lnSpc>
                <a:spcPct val="115000"/>
              </a:lnSpc>
              <a:spcAft>
                <a:spcPts val="500"/>
              </a:spcAft>
              <a:buSzPct val="100000"/>
              <a:buFont typeface="+mj-lt"/>
              <a:buAutoNum type="arabicPeriod" startAt="1"/>
            </a:pPr>
            <a:r>
              <a:rPr lang="en-US" sz="1600" b="1" dirty="0">
                <a:solidFill>
                  <a:srgbClr val="0E1426"/>
                </a:solidFill>
                <a:latin typeface="Calibri" pitchFamily="34" charset="0"/>
                <a:ea typeface="Calibri" pitchFamily="34" charset="-122"/>
                <a:cs typeface="Calibri" pitchFamily="34" charset="-120"/>
              </a:rPr>
              <a:t>Akım:</a:t>
            </a:r>
            <a:pPr indent="0" marL="0">
              <a:lnSpc>
                <a:spcPct val="115000"/>
              </a:lnSpc>
              <a:buNone/>
            </a:pPr>
            <a:r>
              <a:rPr lang="en-US" sz="1600" dirty="0">
                <a:solidFill>
                  <a:srgbClr val="4A5470"/>
                </a:solidFill>
                <a:latin typeface="Calibri" pitchFamily="34" charset="0"/>
                <a:ea typeface="Calibri" pitchFamily="34" charset="-122"/>
                <a:cs typeface="Calibri" pitchFamily="34" charset="-120"/>
              </a:rPr>
              <a:t> I = ε / R; yönünü Lenz yasası verir.</a:t>
            </a:r>
            <a:endParaRPr lang="en-US" sz="1600" dirty="0"/>
          </a:p>
        </p:txBody>
      </p:sp>
      <p:sp>
        <p:nvSpPr>
          <p:cNvPr id="14" name="Shape 12"/>
          <p:cNvSpPr/>
          <p:nvPr/>
        </p:nvSpPr>
        <p:spPr>
          <a:xfrm>
            <a:off x="640080" y="4748174"/>
            <a:ext cx="10911535" cy="928116"/>
          </a:xfrm>
          <a:prstGeom prst="roundRect">
            <a:avLst>
              <a:gd name="adj" fmla="val 1182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5" name="Shape 13"/>
          <p:cNvSpPr/>
          <p:nvPr/>
        </p:nvSpPr>
        <p:spPr>
          <a:xfrm>
            <a:off x="658368" y="4894478"/>
            <a:ext cx="45720" cy="635508"/>
          </a:xfrm>
          <a:prstGeom prst="rect">
            <a:avLst/>
          </a:prstGeom>
          <a:solidFill>
            <a:srgbClr val="3C8C21"/>
          </a:solidFill>
          <a:ln/>
        </p:spPr>
      </p:sp>
      <p:sp>
        <p:nvSpPr>
          <p:cNvPr id="16" name="Text 14"/>
          <p:cNvSpPr txBox="1"/>
          <p:nvPr/>
        </p:nvSpPr>
        <p:spPr>
          <a:xfrm>
            <a:off x="914400" y="4857902"/>
            <a:ext cx="10454335" cy="708660"/>
          </a:xfrm>
          <a:prstGeom prst="rect">
            <a:avLst/>
          </a:prstGeom>
          <a:noFill/>
          <a:ln/>
        </p:spPr>
        <p:txBody>
          <a:bodyPr wrap="square" lIns="0" tIns="0" rIns="0" bIns="0" rtlCol="0" anchor="ctr"/>
          <a:lstStyle/>
          <a:p>
            <a:pPr indent="0" marL="0">
              <a:lnSpc>
                <a:spcPct val="112000"/>
              </a:lnSpc>
              <a:buNone/>
            </a:pPr>
            <a:r>
              <a:rPr lang="en-US" sz="1500" b="1" dirty="0">
                <a:solidFill>
                  <a:srgbClr val="0E1426"/>
                </a:solidFill>
                <a:latin typeface="Calibri" pitchFamily="34" charset="0"/>
                <a:ea typeface="Calibri" pitchFamily="34" charset="-122"/>
                <a:cs typeface="Calibri" pitchFamily="34" charset="-120"/>
              </a:rPr>
              <a:t>Birim kontrolü:</a:t>
            </a:r>
            <a:pPr indent="0" marL="0">
              <a:lnSpc>
                <a:spcPct val="112000"/>
              </a:lnSpc>
              <a:buNone/>
            </a:pPr>
            <a:r>
              <a:rPr lang="en-US" sz="1500" dirty="0">
                <a:solidFill>
                  <a:srgbClr val="4A5470"/>
                </a:solidFill>
                <a:latin typeface="Calibri" pitchFamily="34" charset="0"/>
                <a:ea typeface="Calibri" pitchFamily="34" charset="-122"/>
                <a:cs typeface="Calibri" pitchFamily="34" charset="-120"/>
              </a:rPr>
              <a:t> Wb/s = T·m²/s. 1 T = 1 N/(A·m) olduğundan T·m²/s = N·m/(A·s) = J/C = V ✓. Akının değişim hızı gerçekten bir gerilimdir.</a:t>
            </a:r>
            <a:endParaRPr lang="en-US" sz="1500" dirty="0"/>
          </a:p>
        </p:txBody>
      </p:sp>
      <p:sp>
        <p:nvSpPr>
          <p:cNvPr id="17" name="Shape 15"/>
          <p:cNvSpPr/>
          <p:nvPr/>
        </p:nvSpPr>
        <p:spPr>
          <a:xfrm>
            <a:off x="640080" y="6382512"/>
            <a:ext cx="128016" cy="128016"/>
          </a:xfrm>
          <a:prstGeom prst="roundRect">
            <a:avLst>
              <a:gd name="adj" fmla="val 28571"/>
            </a:avLst>
          </a:prstGeom>
          <a:solidFill>
            <a:srgbClr val="A9E648"/>
          </a:solidFill>
          <a:ln/>
        </p:spPr>
      </p:sp>
      <p:sp>
        <p:nvSpPr>
          <p:cNvPr id="18" name="Text 1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dersler.perinet.org/induksiyon-akimi.html</a:t>
            </a:r>
            <a:endParaRPr lang="en-US" sz="1050" dirty="0"/>
          </a:p>
        </p:txBody>
      </p:sp>
      <p:sp>
        <p:nvSpPr>
          <p:cNvPr id="19" name="Text 1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14</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Φ–t grafiğinde akının tepe yaptığı anda emk neden sıfırdır?</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05 · Faraday indüksiyon yasası</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dersler.perinet.org/induksiyon-akimi.html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15</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Φ–t grafiğinde akının tepe yaptığı anda emk neden sıfırdır?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CFC8F5"/>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200" dirty="0">
                <a:solidFill>
                  <a:srgbClr val="0E1426"/>
                </a:solidFill>
                <a:latin typeface="Calibri" pitchFamily="34" charset="0"/>
                <a:ea typeface="Calibri" pitchFamily="34" charset="-122"/>
                <a:cs typeface="Calibri" pitchFamily="34" charset="-120"/>
              </a:rPr>
              <a:t>Emk, akının değişim hızıdır, yani Φ–t eğrisinin </a:t>
            </a:r>
            <a:pPr indent="0" marL="0">
              <a:lnSpc>
                <a:spcPct val="125000"/>
              </a:lnSpc>
              <a:buNone/>
            </a:pPr>
            <a:r>
              <a:rPr lang="en-US" sz="2200" b="1" dirty="0">
                <a:solidFill>
                  <a:srgbClr val="5F4BD8"/>
                </a:solidFill>
                <a:latin typeface="Calibri" pitchFamily="34" charset="0"/>
                <a:ea typeface="Calibri" pitchFamily="34" charset="-122"/>
                <a:cs typeface="Calibri" pitchFamily="34" charset="-120"/>
              </a:rPr>
              <a:t>eğimidir</a:t>
            </a:r>
            <a:pPr indent="0" marL="0">
              <a:lnSpc>
                <a:spcPct val="125000"/>
              </a:lnSpc>
              <a:buNone/>
            </a:pPr>
            <a:r>
              <a:rPr lang="en-US" sz="2200" dirty="0">
                <a:solidFill>
                  <a:srgbClr val="0E1426"/>
                </a:solidFill>
                <a:latin typeface="Calibri" pitchFamily="34" charset="0"/>
                <a:ea typeface="Calibri" pitchFamily="34" charset="-122"/>
                <a:cs typeface="Calibri" pitchFamily="34" charset="-120"/>
              </a:rPr>
              <a:t>. Tepe noktasında eğri bir an için yatay olur; akı büyük ama o an değişmiyordur. Sayfanın 01 numaralı deneyinde mıknatıs bobinin ortasına geldiğinde ε–t eğrisinin sıfırdan geçmesi bu yüzdendir.</a:t>
            </a:r>
            <a:endParaRPr lang="en-US" sz="22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dersler.perinet.org/induksiyon-akimi.html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16</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İndüksiyon akımının yönü</a:t>
            </a:r>
            <a:endParaRPr lang="en-US" sz="3200" dirty="0"/>
          </a:p>
        </p:txBody>
      </p:sp>
      <p:sp>
        <p:nvSpPr>
          <p:cNvPr id="5" name="Text 3"/>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6" name="Shape 4"/>
          <p:cNvSpPr/>
          <p:nvPr/>
        </p:nvSpPr>
        <p:spPr>
          <a:xfrm>
            <a:off x="640080" y="1188720"/>
            <a:ext cx="10911535" cy="886358"/>
          </a:xfrm>
          <a:prstGeom prst="roundRect">
            <a:avLst>
              <a:gd name="adj" fmla="val 12380"/>
            </a:avLst>
          </a:prstGeom>
          <a:solidFill>
            <a:srgbClr val="F8F9FC"/>
          </a:solidFill>
          <a:ln w="9525">
            <a:solidFill>
              <a:srgbClr val="E1E5EE"/>
            </a:solidFill>
            <a:prstDash val="solid"/>
          </a:ln>
        </p:spPr>
      </p:sp>
      <p:sp>
        <p:nvSpPr>
          <p:cNvPr id="7" name="Shape 5"/>
          <p:cNvSpPr/>
          <p:nvPr/>
        </p:nvSpPr>
        <p:spPr>
          <a:xfrm>
            <a:off x="658368" y="1298448"/>
            <a:ext cx="54864" cy="666902"/>
          </a:xfrm>
          <a:prstGeom prst="rect">
            <a:avLst/>
          </a:prstGeom>
          <a:solidFill>
            <a:srgbClr val="2957D4"/>
          </a:solidFill>
          <a:ln/>
        </p:spPr>
      </p:sp>
      <p:sp>
        <p:nvSpPr>
          <p:cNvPr id="8" name="Text 6"/>
          <p:cNvSpPr txBox="1"/>
          <p:nvPr/>
        </p:nvSpPr>
        <p:spPr>
          <a:xfrm>
            <a:off x="932688" y="1234440"/>
            <a:ext cx="10454335" cy="794918"/>
          </a:xfrm>
          <a:prstGeom prst="rect">
            <a:avLst/>
          </a:prstGeom>
          <a:noFill/>
          <a:ln/>
        </p:spPr>
        <p:txBody>
          <a:bodyPr wrap="square" lIns="0" tIns="0" rIns="0" bIns="0" rtlCol="0" anchor="ctr"/>
          <a:lstStyle/>
          <a:p>
            <a:pPr indent="0" marL="0">
              <a:lnSpc>
                <a:spcPct val="112000"/>
              </a:lnSpc>
              <a:buNone/>
            </a:pPr>
            <a:r>
              <a:rPr lang="en-US" sz="1900" dirty="0">
                <a:solidFill>
                  <a:srgbClr val="0E1426"/>
                </a:solidFill>
                <a:latin typeface="Calibri" pitchFamily="34" charset="0"/>
                <a:ea typeface="Calibri" pitchFamily="34" charset="-122"/>
                <a:cs typeface="Calibri" pitchFamily="34" charset="-120"/>
              </a:rPr>
              <a:t>Önce akının artıp azaldığına bak: artıyorsa indüklenen alan zıt, azalıyorsa aynı yöndedir. Sonra bu alanı üretecek akım yönünü sağ el kuralıyla bul.</a:t>
            </a:r>
            <a:endParaRPr lang="en-US" sz="1900" dirty="0"/>
          </a:p>
        </p:txBody>
      </p:sp>
      <p:sp>
        <p:nvSpPr>
          <p:cNvPr id="9" name="Text 7"/>
          <p:cNvSpPr txBox="1"/>
          <p:nvPr/>
        </p:nvSpPr>
        <p:spPr>
          <a:xfrm>
            <a:off x="640080" y="2294534"/>
            <a:ext cx="6309360" cy="1418844"/>
          </a:xfrm>
          <a:prstGeom prst="rect">
            <a:avLst/>
          </a:prstGeom>
          <a:noFill/>
          <a:ln/>
        </p:spPr>
        <p:txBody>
          <a:bodyPr wrap="square" lIns="0" tIns="0" rIns="0" bIns="0" rtlCol="0" anchor="t"/>
          <a:lstStyle/>
          <a:p>
            <a:pPr marL="228600" indent="-228600">
              <a:lnSpc>
                <a:spcPct val="115000"/>
              </a:lnSpc>
              <a:spcAft>
                <a:spcPts val="500"/>
              </a:spcAft>
              <a:buSzPct val="100000"/>
              <a:buFont typeface="+mj-lt"/>
              <a:buAutoNum type="arabicPeriod" startAt="1"/>
            </a:pPr>
            <a:r>
              <a:rPr lang="en-US" sz="1400" dirty="0">
                <a:solidFill>
                  <a:srgbClr val="4A5470"/>
                </a:solidFill>
                <a:latin typeface="Calibri" pitchFamily="34" charset="0"/>
                <a:ea typeface="Calibri" pitchFamily="34" charset="-122"/>
                <a:cs typeface="Calibri" pitchFamily="34" charset="-120"/>
              </a:rPr>
              <a:t>Devreden geçen akının yönünü ve </a:t>
            </a:r>
            <a:pPr indent="0" marL="0">
              <a:lnSpc>
                <a:spcPct val="115000"/>
              </a:lnSpc>
              <a:buNone/>
            </a:pPr>
            <a:r>
              <a:rPr lang="en-US" sz="1400" b="1" dirty="0">
                <a:solidFill>
                  <a:srgbClr val="0E1426"/>
                </a:solidFill>
                <a:latin typeface="Calibri" pitchFamily="34" charset="0"/>
                <a:ea typeface="Calibri" pitchFamily="34" charset="-122"/>
                <a:cs typeface="Calibri" pitchFamily="34" charset="-120"/>
              </a:rPr>
              <a:t>artıyor mu azalıyor mu</a:t>
            </a:r>
            <a:pPr indent="0" marL="0">
              <a:lnSpc>
                <a:spcPct val="115000"/>
              </a:lnSpc>
              <a:buNone/>
            </a:pPr>
            <a:r>
              <a:rPr lang="en-US" sz="1400" dirty="0">
                <a:solidFill>
                  <a:srgbClr val="4A5470"/>
                </a:solidFill>
                <a:latin typeface="Calibri" pitchFamily="34" charset="0"/>
                <a:ea typeface="Calibri" pitchFamily="34" charset="-122"/>
                <a:cs typeface="Calibri" pitchFamily="34" charset="-120"/>
              </a:rPr>
              <a:t> olduğunu belirle.</a:t>
            </a:r>
            <a:endParaRPr lang="en-US" sz="1400" dirty="0"/>
          </a:p>
          <a:p>
            <a:pPr marL="228600" indent="-228600">
              <a:lnSpc>
                <a:spcPct val="115000"/>
              </a:lnSpc>
              <a:spcAft>
                <a:spcPts val="500"/>
              </a:spcAft>
              <a:buSzPct val="100000"/>
              <a:buFont typeface="+mj-lt"/>
              <a:buAutoNum type="arabicPeriod" startAt="1"/>
            </a:pPr>
            <a:r>
              <a:rPr lang="en-US" sz="1400" dirty="0">
                <a:solidFill>
                  <a:srgbClr val="4A5470"/>
                </a:solidFill>
                <a:latin typeface="Calibri" pitchFamily="34" charset="0"/>
                <a:ea typeface="Calibri" pitchFamily="34" charset="-122"/>
                <a:cs typeface="Calibri" pitchFamily="34" charset="-120"/>
              </a:rPr>
              <a:t>Lenz'e göre indüksiyon akımının </a:t>
            </a:r>
            <a:pPr indent="0" marL="0">
              <a:lnSpc>
                <a:spcPct val="115000"/>
              </a:lnSpc>
              <a:buNone/>
            </a:pPr>
            <a:r>
              <a:rPr lang="en-US" sz="1400" b="1" dirty="0">
                <a:solidFill>
                  <a:srgbClr val="0E1426"/>
                </a:solidFill>
                <a:latin typeface="Calibri" pitchFamily="34" charset="0"/>
                <a:ea typeface="Calibri" pitchFamily="34" charset="-122"/>
                <a:cs typeface="Calibri" pitchFamily="34" charset="-120"/>
              </a:rPr>
              <a:t>hangi yönde alan üretmesi gerektiğini</a:t>
            </a:r>
            <a:pPr indent="0" marL="0">
              <a:lnSpc>
                <a:spcPct val="115000"/>
              </a:lnSpc>
              <a:buNone/>
            </a:pPr>
            <a:r>
              <a:rPr lang="en-US" sz="1400" dirty="0">
                <a:solidFill>
                  <a:srgbClr val="4A5470"/>
                </a:solidFill>
                <a:latin typeface="Calibri" pitchFamily="34" charset="0"/>
                <a:ea typeface="Calibri" pitchFamily="34" charset="-122"/>
                <a:cs typeface="Calibri" pitchFamily="34" charset="-120"/>
              </a:rPr>
              <a:t> bul (artışa karşı zıt, azalmaya karşı aynı yönde).</a:t>
            </a:r>
            <a:endParaRPr lang="en-US" sz="1400" dirty="0"/>
          </a:p>
          <a:p>
            <a:pPr marL="228600" indent="-228600">
              <a:lnSpc>
                <a:spcPct val="115000"/>
              </a:lnSpc>
              <a:spcAft>
                <a:spcPts val="500"/>
              </a:spcAft>
              <a:buSzPct val="100000"/>
              <a:buFont typeface="+mj-lt"/>
              <a:buAutoNum type="arabicPeriod" startAt="1"/>
            </a:pPr>
            <a:r>
              <a:rPr lang="en-US" sz="1400" dirty="0">
                <a:solidFill>
                  <a:srgbClr val="4A5470"/>
                </a:solidFill>
                <a:latin typeface="Calibri" pitchFamily="34" charset="0"/>
                <a:ea typeface="Calibri" pitchFamily="34" charset="-122"/>
                <a:cs typeface="Calibri" pitchFamily="34" charset="-120"/>
              </a:rPr>
              <a:t>Sağ el kuralıyla, bu alanı üretecek </a:t>
            </a:r>
            <a:pPr indent="0" marL="0">
              <a:lnSpc>
                <a:spcPct val="115000"/>
              </a:lnSpc>
              <a:buNone/>
            </a:pPr>
            <a:r>
              <a:rPr lang="en-US" sz="1400" b="1" dirty="0">
                <a:solidFill>
                  <a:srgbClr val="0E1426"/>
                </a:solidFill>
                <a:latin typeface="Calibri" pitchFamily="34" charset="0"/>
                <a:ea typeface="Calibri" pitchFamily="34" charset="-122"/>
                <a:cs typeface="Calibri" pitchFamily="34" charset="-120"/>
              </a:rPr>
              <a:t>akım yönünü</a:t>
            </a:r>
            <a:pPr indent="0" marL="0">
              <a:lnSpc>
                <a:spcPct val="115000"/>
              </a:lnSpc>
              <a:buNone/>
            </a:pPr>
            <a:r>
              <a:rPr lang="en-US" sz="1400" dirty="0">
                <a:solidFill>
                  <a:srgbClr val="4A5470"/>
                </a:solidFill>
                <a:latin typeface="Calibri" pitchFamily="34" charset="0"/>
                <a:ea typeface="Calibri" pitchFamily="34" charset="-122"/>
                <a:cs typeface="Calibri" pitchFamily="34" charset="-120"/>
              </a:rPr>
              <a:t> belirle.</a:t>
            </a:r>
            <a:endParaRPr lang="en-US" sz="14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40080" y="3823106"/>
          <a:ext cx="6309360" cy="914400"/>
        </p:xfrm>
        <a:graphic>
          <a:graphicData uri="http://schemas.openxmlformats.org/drawingml/2006/table">
            <a:tbl>
              <a:tblPr/>
              <a:tblGrid>
                <a:gridCol w="2195215"/>
                <a:gridCol w="994628"/>
                <a:gridCol w="1733065"/>
                <a:gridCol w="1386452"/>
              </a:tblGrid>
              <a:tr h="338328">
                <a:tc>
                  <a:txBody>
                    <a:bodyPr/>
                    <a:lstStyle/>
                    <a:p>
                      <a:pPr indent="0" marL="0">
                        <a:buNone/>
                      </a:pPr>
                      <a:r>
                        <a:rPr lang="en-US" sz="1050" b="1" dirty="0">
                          <a:solidFill>
                            <a:srgbClr val="7B849E"/>
                          </a:solidFill>
                          <a:latin typeface="Calibri" pitchFamily="34" charset="0"/>
                          <a:ea typeface="Calibri" pitchFamily="34" charset="-122"/>
                          <a:cs typeface="Calibri" pitchFamily="34" charset="-120"/>
                        </a:rPr>
                        <a:t>Mıknatıs</a:t>
                      </a:r>
                      <a:endParaRPr lang="en-US" sz="105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050" b="1" dirty="0">
                          <a:solidFill>
                            <a:srgbClr val="7B849E"/>
                          </a:solidFill>
                          <a:latin typeface="Calibri" pitchFamily="34" charset="0"/>
                          <a:ea typeface="Calibri" pitchFamily="34" charset="-122"/>
                          <a:cs typeface="Calibri" pitchFamily="34" charset="-120"/>
                        </a:rPr>
                        <a:t>Akı</a:t>
                      </a:r>
                      <a:endParaRPr lang="en-US" sz="105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050" b="1" dirty="0">
                          <a:solidFill>
                            <a:srgbClr val="7B849E"/>
                          </a:solidFill>
                          <a:latin typeface="Calibri" pitchFamily="34" charset="0"/>
                          <a:ea typeface="Calibri" pitchFamily="34" charset="-122"/>
                          <a:cs typeface="Calibri" pitchFamily="34" charset="-120"/>
                        </a:rPr>
                        <a:t>İndüklenen alan</a:t>
                      </a:r>
                      <a:endParaRPr lang="en-US" sz="105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050" b="1" dirty="0">
                          <a:solidFill>
                            <a:srgbClr val="7B849E"/>
                          </a:solidFill>
                          <a:latin typeface="Calibri" pitchFamily="34" charset="0"/>
                          <a:ea typeface="Calibri" pitchFamily="34" charset="-122"/>
                          <a:cs typeface="Calibri" pitchFamily="34" charset="-120"/>
                        </a:rPr>
                        <a:t>Bobinin yüzü</a:t>
                      </a:r>
                      <a:endParaRPr lang="en-US" sz="105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r>
              <a:tr h="338328">
                <a:tc>
                  <a:txBody>
                    <a:bodyPr/>
                    <a:lstStyle/>
                    <a:p>
                      <a:pPr indent="0" marL="0">
                        <a:buNone/>
                      </a:pPr>
                      <a:r>
                        <a:rPr lang="en-US" sz="1200" b="1" dirty="0">
                          <a:solidFill>
                            <a:srgbClr val="0E1426"/>
                          </a:solidFill>
                          <a:latin typeface="Calibri" pitchFamily="34" charset="0"/>
                          <a:ea typeface="Calibri" pitchFamily="34" charset="-122"/>
                          <a:cs typeface="Calibri" pitchFamily="34" charset="-120"/>
                        </a:rPr>
                        <a:t>N kutbu yaklaşıyor</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artıyor</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zıt yönde</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N (iter)</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338328">
                <a:tc>
                  <a:txBody>
                    <a:bodyPr/>
                    <a:lstStyle/>
                    <a:p>
                      <a:pPr indent="0" marL="0">
                        <a:buNone/>
                      </a:pPr>
                      <a:r>
                        <a:rPr lang="en-US" sz="1200" b="1" dirty="0">
                          <a:solidFill>
                            <a:srgbClr val="0E1426"/>
                          </a:solidFill>
                          <a:latin typeface="Calibri" pitchFamily="34" charset="0"/>
                          <a:ea typeface="Calibri" pitchFamily="34" charset="-122"/>
                          <a:cs typeface="Calibri" pitchFamily="34" charset="-120"/>
                        </a:rPr>
                        <a:t>N kutbu uzaklaşıyor</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azalıyor</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aynı yönde</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S (çeker)</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338328">
                <a:tc>
                  <a:txBody>
                    <a:bodyPr/>
                    <a:lstStyle/>
                    <a:p>
                      <a:pPr indent="0" marL="0">
                        <a:buNone/>
                      </a:pPr>
                      <a:r>
                        <a:rPr lang="en-US" sz="1200" b="1" dirty="0">
                          <a:solidFill>
                            <a:srgbClr val="0E1426"/>
                          </a:solidFill>
                          <a:latin typeface="Calibri" pitchFamily="34" charset="0"/>
                          <a:ea typeface="Calibri" pitchFamily="34" charset="-122"/>
                          <a:cs typeface="Calibri" pitchFamily="34" charset="-120"/>
                        </a:rPr>
                        <a:t>S kutbu yaklaşıyor</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artıyor</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zıt yönde</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S (iter)</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338328">
                <a:tc>
                  <a:txBody>
                    <a:bodyPr/>
                    <a:lstStyle/>
                    <a:p>
                      <a:pPr indent="0" marL="0">
                        <a:buNone/>
                      </a:pPr>
                      <a:r>
                        <a:rPr lang="en-US" sz="1200" b="1" dirty="0">
                          <a:solidFill>
                            <a:srgbClr val="0E1426"/>
                          </a:solidFill>
                          <a:latin typeface="Calibri" pitchFamily="34" charset="0"/>
                          <a:ea typeface="Calibri" pitchFamily="34" charset="-122"/>
                          <a:cs typeface="Calibri" pitchFamily="34" charset="-120"/>
                        </a:rPr>
                        <a:t>S kutbu uzaklaşıyor</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azalıyor</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aynı yönde</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N (çeker)</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bl>
          </a:graphicData>
        </a:graphic>
      </p:graphicFrame>
      <p:sp>
        <p:nvSpPr>
          <p:cNvPr id="11" name="Shape 8"/>
          <p:cNvSpPr/>
          <p:nvPr/>
        </p:nvSpPr>
        <p:spPr>
          <a:xfrm>
            <a:off x="7242048" y="2294534"/>
            <a:ext cx="4309567" cy="3285436"/>
          </a:xfrm>
          <a:prstGeom prst="roundRect">
            <a:avLst>
              <a:gd name="adj" fmla="val 445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12" name="Image 0" descr="/tmp/claude-1000/-opt-dersler/8a8328c3-841c-44fa-b76f-82572d338d3d/scratchpad/d4/sek/induksiyon-akimi-04.png">    </p:cNvPr>
          <p:cNvPicPr>
            <a:picLocks noChangeAspect="1"/>
          </p:cNvPicPr>
          <p:nvPr/>
        </p:nvPicPr>
        <p:blipFill>
          <a:blip r:embed="rId1"/>
          <a:stretch>
            <a:fillRect/>
          </a:stretch>
        </p:blipFill>
        <p:spPr>
          <a:xfrm>
            <a:off x="7424928" y="2477414"/>
            <a:ext cx="3943807" cy="1643174"/>
          </a:xfrm>
          <a:prstGeom prst="rect">
            <a:avLst/>
          </a:prstGeom>
        </p:spPr>
      </p:pic>
      <p:sp>
        <p:nvSpPr>
          <p:cNvPr id="13" name="Shape 9"/>
          <p:cNvSpPr/>
          <p:nvPr/>
        </p:nvSpPr>
        <p:spPr>
          <a:xfrm>
            <a:off x="7424928" y="4212028"/>
            <a:ext cx="3943807" cy="0"/>
          </a:xfrm>
          <a:prstGeom prst="line">
            <a:avLst/>
          </a:prstGeom>
          <a:noFill/>
          <a:ln w="9525">
            <a:solidFill>
              <a:srgbClr val="E1E5EE"/>
            </a:solidFill>
            <a:prstDash val="dash"/>
          </a:ln>
        </p:spPr>
      </p:sp>
      <p:sp>
        <p:nvSpPr>
          <p:cNvPr id="14" name="Text 10"/>
          <p:cNvSpPr txBox="1"/>
          <p:nvPr/>
        </p:nvSpPr>
        <p:spPr>
          <a:xfrm>
            <a:off x="7424928" y="4266892"/>
            <a:ext cx="3943807" cy="1130198"/>
          </a:xfrm>
          <a:prstGeom prst="rect">
            <a:avLst/>
          </a:prstGeom>
          <a:noFill/>
          <a:ln/>
        </p:spPr>
        <p:txBody>
          <a:bodyPr wrap="square" lIns="0" tIns="0" rIns="0" bIns="0" rtlCol="0" anchor="t"/>
          <a:lstStyle/>
          <a:p>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Yönü bulmak için tek bir soru yeter: </a:t>
            </a:r>
            <a:pPr indent="0" marL="0">
              <a:lnSpc>
                <a:spcPct val="112000"/>
              </a:lnSpc>
              <a:buNone/>
            </a:pPr>
            <a:r>
              <a:rPr lang="en-US" sz="1050" b="1" dirty="0">
                <a:solidFill>
                  <a:srgbClr val="4A5470"/>
                </a:solidFill>
                <a:latin typeface="Calibri" pitchFamily="34" charset="0"/>
                <a:ea typeface="Calibri" pitchFamily="34" charset="-122"/>
                <a:cs typeface="Calibri" pitchFamily="34" charset="-120"/>
              </a:rPr>
              <a:t>akı artıyor mu, azalıyor mu?</a:t>
            </a:r>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 Artıyorsa indüklenen akım, artışı frenlemek için </a:t>
            </a:r>
            <a:pPr indent="0" marL="0">
              <a:lnSpc>
                <a:spcPct val="112000"/>
              </a:lnSpc>
              <a:buNone/>
            </a:pPr>
            <a:r>
              <a:rPr lang="en-US" sz="1050" b="1" dirty="0">
                <a:solidFill>
                  <a:srgbClr val="4A5470"/>
                </a:solidFill>
                <a:latin typeface="Calibri" pitchFamily="34" charset="0"/>
                <a:ea typeface="Calibri" pitchFamily="34" charset="-122"/>
                <a:cs typeface="Calibri" pitchFamily="34" charset="-120"/>
              </a:rPr>
              <a:t>zıt yönde</a:t>
            </a:r>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 bir alan üretir; azalıyorsa azalmayı yavaşlatmak için </a:t>
            </a:r>
            <a:pPr indent="0" marL="0">
              <a:lnSpc>
                <a:spcPct val="112000"/>
              </a:lnSpc>
              <a:buNone/>
            </a:pPr>
            <a:r>
              <a:rPr lang="en-US" sz="1050" b="1" dirty="0">
                <a:solidFill>
                  <a:srgbClr val="4A5470"/>
                </a:solidFill>
                <a:latin typeface="Calibri" pitchFamily="34" charset="0"/>
                <a:ea typeface="Calibri" pitchFamily="34" charset="-122"/>
                <a:cs typeface="Calibri" pitchFamily="34" charset="-120"/>
              </a:rPr>
              <a:t>aynı yönde</a:t>
            </a:r>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 bir alan üretir. İndüklenen alanın yönünü bulduktan sonra akımın yönünü sağ el kuralıyla okursun.</a:t>
            </a:r>
            <a:endParaRPr lang="en-US" sz="1050" dirty="0"/>
          </a:p>
        </p:txBody>
      </p:sp>
      <p:sp>
        <p:nvSpPr>
          <p:cNvPr id="15" name="Shape 11"/>
          <p:cNvSpPr/>
          <p:nvPr/>
        </p:nvSpPr>
        <p:spPr>
          <a:xfrm>
            <a:off x="640080" y="6382512"/>
            <a:ext cx="128016" cy="128016"/>
          </a:xfrm>
          <a:prstGeom prst="roundRect">
            <a:avLst>
              <a:gd name="adj" fmla="val 28571"/>
            </a:avLst>
          </a:prstGeom>
          <a:solidFill>
            <a:srgbClr val="A9E648"/>
          </a:solidFill>
          <a:ln/>
        </p:spPr>
      </p:sp>
      <p:sp>
        <p:nvSpPr>
          <p:cNvPr id="16" name="Text 12"/>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dersler.perinet.org/induksiyon-akimi.html</a:t>
            </a:r>
            <a:endParaRPr lang="en-US" sz="1050" dirty="0"/>
          </a:p>
        </p:txBody>
      </p:sp>
      <p:sp>
        <p:nvSpPr>
          <p:cNvPr id="17" name="Text 13"/>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17</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07</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Hareketli iletken çubuk</a:t>
            </a:r>
            <a:endParaRPr lang="en-US" sz="3200" dirty="0"/>
          </a:p>
        </p:txBody>
      </p:sp>
      <p:sp>
        <p:nvSpPr>
          <p:cNvPr id="5" name="Text 3"/>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6" name="Shape 4"/>
          <p:cNvSpPr/>
          <p:nvPr/>
        </p:nvSpPr>
        <p:spPr>
          <a:xfrm>
            <a:off x="640080" y="1188720"/>
            <a:ext cx="10911535" cy="1185062"/>
          </a:xfrm>
          <a:prstGeom prst="roundRect">
            <a:avLst>
              <a:gd name="adj" fmla="val 9259"/>
            </a:avLst>
          </a:prstGeom>
          <a:solidFill>
            <a:srgbClr val="F8F9FC"/>
          </a:solidFill>
          <a:ln w="9525">
            <a:solidFill>
              <a:srgbClr val="E1E5EE"/>
            </a:solidFill>
            <a:prstDash val="solid"/>
          </a:ln>
        </p:spPr>
      </p:sp>
      <p:sp>
        <p:nvSpPr>
          <p:cNvPr id="7" name="Shape 5"/>
          <p:cNvSpPr/>
          <p:nvPr/>
        </p:nvSpPr>
        <p:spPr>
          <a:xfrm>
            <a:off x="658368" y="1298448"/>
            <a:ext cx="54864" cy="965606"/>
          </a:xfrm>
          <a:prstGeom prst="rect">
            <a:avLst/>
          </a:prstGeom>
          <a:solidFill>
            <a:srgbClr val="2957D4"/>
          </a:solidFill>
          <a:ln/>
        </p:spPr>
      </p:sp>
      <p:sp>
        <p:nvSpPr>
          <p:cNvPr id="8" name="Text 6"/>
          <p:cNvSpPr txBox="1"/>
          <p:nvPr/>
        </p:nvSpPr>
        <p:spPr>
          <a:xfrm>
            <a:off x="932688" y="1234440"/>
            <a:ext cx="10454335" cy="1093622"/>
          </a:xfrm>
          <a:prstGeom prst="rect">
            <a:avLst/>
          </a:prstGeom>
          <a:noFill/>
          <a:ln/>
        </p:spPr>
        <p:txBody>
          <a:bodyPr wrap="square" lIns="0" tIns="0" rIns="0" bIns="0" rtlCol="0" anchor="ctr"/>
          <a:lstStyle/>
          <a:p>
            <a:pPr indent="0" marL="0">
              <a:lnSpc>
                <a:spcPct val="112000"/>
              </a:lnSpc>
              <a:buNone/>
            </a:pPr>
            <a:r>
              <a:rPr lang="en-US" sz="1850" dirty="0">
                <a:solidFill>
                  <a:srgbClr val="0E1426"/>
                </a:solidFill>
                <a:latin typeface="Calibri" pitchFamily="34" charset="0"/>
                <a:ea typeface="Calibri" pitchFamily="34" charset="-122"/>
                <a:cs typeface="Calibri" pitchFamily="34" charset="-120"/>
              </a:rPr>
              <a:t>Alanda kayan çubuk ε = B·L·v emk'si üretir; doğan akım çubuğa harekete zıt F = B²L²v/R kuvveti uygular. Çubuğu itmek için harcanan güç, dirençte ısıya dönüşen güce eşittir.</a:t>
            </a:r>
            <a:endParaRPr lang="en-US" sz="1850" dirty="0"/>
          </a:p>
        </p:txBody>
      </p:sp>
      <p:sp>
        <p:nvSpPr>
          <p:cNvPr id="9" name="Shape 7"/>
          <p:cNvSpPr/>
          <p:nvPr/>
        </p:nvSpPr>
        <p:spPr>
          <a:xfrm>
            <a:off x="640080" y="2593238"/>
            <a:ext cx="1741018" cy="457200"/>
          </a:xfrm>
          <a:prstGeom prst="roundRect">
            <a:avLst>
              <a:gd name="adj" fmla="val 24000"/>
            </a:avLst>
          </a:prstGeom>
          <a:solidFill>
            <a:srgbClr val="EEF2FC"/>
          </a:solidFill>
          <a:ln w="9525">
            <a:solidFill>
              <a:srgbClr val="CBD7F4"/>
            </a:solidFill>
            <a:prstDash val="solid"/>
          </a:ln>
        </p:spPr>
      </p:sp>
      <p:sp>
        <p:nvSpPr>
          <p:cNvPr id="10" name="Text 8"/>
          <p:cNvSpPr txBox="1"/>
          <p:nvPr/>
        </p:nvSpPr>
        <p:spPr>
          <a:xfrm>
            <a:off x="640080" y="2593238"/>
            <a:ext cx="1741018" cy="457200"/>
          </a:xfrm>
          <a:prstGeom prst="rect">
            <a:avLst/>
          </a:prstGeom>
          <a:noFill/>
          <a:ln/>
        </p:spPr>
        <p:txBody>
          <a:bodyPr wrap="square" lIns="0" tIns="0" rIns="0" bIns="0" rtlCol="0" anchor="ctr"/>
          <a:lstStyle/>
          <a:p>
            <a:pPr algn="ctr" indent="0" marL="0">
              <a:buNone/>
            </a:pPr>
            <a:r>
              <a:rPr lang="en-US" sz="1300" b="1" dirty="0">
                <a:solidFill>
                  <a:srgbClr val="2957D4"/>
                </a:solidFill>
                <a:latin typeface="Courier New" pitchFamily="34" charset="0"/>
                <a:ea typeface="Courier New" pitchFamily="34" charset="-122"/>
                <a:cs typeface="Courier New" pitchFamily="34" charset="-120"/>
              </a:rPr>
              <a:t>ε = B · L · v</a:t>
            </a:r>
            <a:endParaRPr lang="en-US" sz="1300" dirty="0"/>
          </a:p>
        </p:txBody>
      </p:sp>
      <p:sp>
        <p:nvSpPr>
          <p:cNvPr id="11" name="Shape 9"/>
          <p:cNvSpPr/>
          <p:nvPr/>
        </p:nvSpPr>
        <p:spPr>
          <a:xfrm>
            <a:off x="2490826" y="2593238"/>
            <a:ext cx="1741018" cy="457200"/>
          </a:xfrm>
          <a:prstGeom prst="roundRect">
            <a:avLst>
              <a:gd name="adj" fmla="val 24000"/>
            </a:avLst>
          </a:prstGeom>
          <a:solidFill>
            <a:srgbClr val="EEF2FC"/>
          </a:solidFill>
          <a:ln w="9525">
            <a:solidFill>
              <a:srgbClr val="CBD7F4"/>
            </a:solidFill>
            <a:prstDash val="solid"/>
          </a:ln>
        </p:spPr>
      </p:sp>
      <p:sp>
        <p:nvSpPr>
          <p:cNvPr id="12" name="Text 10"/>
          <p:cNvSpPr txBox="1"/>
          <p:nvPr/>
        </p:nvSpPr>
        <p:spPr>
          <a:xfrm>
            <a:off x="2490826" y="2593238"/>
            <a:ext cx="1741018" cy="457200"/>
          </a:xfrm>
          <a:prstGeom prst="rect">
            <a:avLst/>
          </a:prstGeom>
          <a:noFill/>
          <a:ln/>
        </p:spPr>
        <p:txBody>
          <a:bodyPr wrap="square" lIns="0" tIns="0" rIns="0" bIns="0" rtlCol="0" anchor="ctr"/>
          <a:lstStyle/>
          <a:p>
            <a:pPr algn="ctr" indent="0" marL="0">
              <a:buNone/>
            </a:pPr>
            <a:r>
              <a:rPr lang="en-US" sz="1300" b="1" dirty="0">
                <a:solidFill>
                  <a:srgbClr val="2957D4"/>
                </a:solidFill>
                <a:latin typeface="Courier New" pitchFamily="34" charset="0"/>
                <a:ea typeface="Courier New" pitchFamily="34" charset="-122"/>
                <a:cs typeface="Courier New" pitchFamily="34" charset="-120"/>
              </a:rPr>
              <a:t>I = B·L·v / R</a:t>
            </a:r>
            <a:endParaRPr lang="en-US" sz="1300" dirty="0"/>
          </a:p>
        </p:txBody>
      </p:sp>
      <p:sp>
        <p:nvSpPr>
          <p:cNvPr id="13" name="Shape 11"/>
          <p:cNvSpPr/>
          <p:nvPr/>
        </p:nvSpPr>
        <p:spPr>
          <a:xfrm>
            <a:off x="4341571" y="2593238"/>
            <a:ext cx="2531059" cy="457200"/>
          </a:xfrm>
          <a:prstGeom prst="roundRect">
            <a:avLst>
              <a:gd name="adj" fmla="val 24000"/>
            </a:avLst>
          </a:prstGeom>
          <a:solidFill>
            <a:srgbClr val="EEF2FC"/>
          </a:solidFill>
          <a:ln w="9525">
            <a:solidFill>
              <a:srgbClr val="CBD7F4"/>
            </a:solidFill>
            <a:prstDash val="solid"/>
          </a:ln>
        </p:spPr>
      </p:sp>
      <p:sp>
        <p:nvSpPr>
          <p:cNvPr id="14" name="Text 12"/>
          <p:cNvSpPr txBox="1"/>
          <p:nvPr/>
        </p:nvSpPr>
        <p:spPr>
          <a:xfrm>
            <a:off x="4341571" y="2593238"/>
            <a:ext cx="2531059" cy="457200"/>
          </a:xfrm>
          <a:prstGeom prst="rect">
            <a:avLst/>
          </a:prstGeom>
          <a:noFill/>
          <a:ln/>
        </p:spPr>
        <p:txBody>
          <a:bodyPr wrap="square" lIns="0" tIns="0" rIns="0" bIns="0" rtlCol="0" anchor="ctr"/>
          <a:lstStyle/>
          <a:p>
            <a:pPr algn="ctr" indent="0" marL="0">
              <a:buNone/>
            </a:pPr>
            <a:r>
              <a:rPr lang="en-US" sz="1300" b="1" dirty="0">
                <a:solidFill>
                  <a:srgbClr val="2957D4"/>
                </a:solidFill>
                <a:latin typeface="Courier New" pitchFamily="34" charset="0"/>
                <a:ea typeface="Courier New" pitchFamily="34" charset="-122"/>
                <a:cs typeface="Courier New" pitchFamily="34" charset="-120"/>
              </a:rPr>
              <a:t>F = B·I·L = B²L²v / R</a:t>
            </a:r>
            <a:endParaRPr lang="en-US" sz="1300" dirty="0"/>
          </a:p>
        </p:txBody>
      </p:sp>
      <p:sp>
        <p:nvSpPr>
          <p:cNvPr id="15" name="Text 13"/>
          <p:cNvSpPr txBox="1"/>
          <p:nvPr/>
        </p:nvSpPr>
        <p:spPr>
          <a:xfrm>
            <a:off x="640080" y="3215030"/>
            <a:ext cx="6309360" cy="1973580"/>
          </a:xfrm>
          <a:prstGeom prst="rect">
            <a:avLst/>
          </a:prstGeom>
          <a:noFill/>
          <a:ln/>
        </p:spPr>
        <p:txBody>
          <a:bodyPr wrap="square" lIns="0" tIns="0" rIns="0" bIns="0" rtlCol="0" anchor="t"/>
          <a:lstStyle/>
          <a:p>
            <a:pPr marL="228600" indent="-228600">
              <a:lnSpc>
                <a:spcPct val="115000"/>
              </a:lnSpc>
              <a:spcAft>
                <a:spcPts val="500"/>
              </a:spcAft>
              <a:buSzPct val="100000"/>
              <a:buFont typeface="+mj-lt"/>
              <a:buAutoNum type="arabicPeriod" startAt="1"/>
            </a:pPr>
            <a:r>
              <a:rPr lang="en-US" sz="1400" b="1" dirty="0">
                <a:solidFill>
                  <a:srgbClr val="0E1426"/>
                </a:solidFill>
                <a:latin typeface="Calibri" pitchFamily="34" charset="0"/>
                <a:ea typeface="Calibri" pitchFamily="34" charset="-122"/>
                <a:cs typeface="Calibri" pitchFamily="34" charset="-120"/>
              </a:rPr>
              <a:t>Alan büyür:</a:t>
            </a:r>
            <a:pPr indent="0" marL="0">
              <a:lnSpc>
                <a:spcPct val="115000"/>
              </a:lnSpc>
              <a:buNone/>
            </a:pPr>
            <a:r>
              <a:rPr lang="en-US" sz="1400" dirty="0">
                <a:solidFill>
                  <a:srgbClr val="4A5470"/>
                </a:solidFill>
                <a:latin typeface="Calibri" pitchFamily="34" charset="0"/>
                <a:ea typeface="Calibri" pitchFamily="34" charset="-122"/>
                <a:cs typeface="Calibri" pitchFamily="34" charset="-120"/>
              </a:rPr>
              <a:t> Çubuk Δt sürede v·Δt kadar kayar; devrenin çevrelediği yüzey ΔA = L·v·Δt kadar büyür.</a:t>
            </a:r>
            <a:endParaRPr lang="en-US" sz="1400" dirty="0"/>
          </a:p>
          <a:p>
            <a:pPr marL="228600" indent="-228600">
              <a:lnSpc>
                <a:spcPct val="115000"/>
              </a:lnSpc>
              <a:spcAft>
                <a:spcPts val="500"/>
              </a:spcAft>
              <a:buSzPct val="100000"/>
              <a:buFont typeface="+mj-lt"/>
              <a:buAutoNum type="arabicPeriod" startAt="1"/>
            </a:pPr>
            <a:r>
              <a:rPr lang="en-US" sz="1400" b="1" dirty="0">
                <a:solidFill>
                  <a:srgbClr val="0E1426"/>
                </a:solidFill>
                <a:latin typeface="Calibri" pitchFamily="34" charset="0"/>
                <a:ea typeface="Calibri" pitchFamily="34" charset="-122"/>
                <a:cs typeface="Calibri" pitchFamily="34" charset="-120"/>
              </a:rPr>
              <a:t>Akı artar:</a:t>
            </a:r>
            <a:pPr indent="0" marL="0">
              <a:lnSpc>
                <a:spcPct val="115000"/>
              </a:lnSpc>
              <a:buNone/>
            </a:pPr>
            <a:r>
              <a:rPr lang="en-US" sz="1400" dirty="0">
                <a:solidFill>
                  <a:srgbClr val="4A5470"/>
                </a:solidFill>
                <a:latin typeface="Calibri" pitchFamily="34" charset="0"/>
                <a:ea typeface="Calibri" pitchFamily="34" charset="-122"/>
                <a:cs typeface="Calibri" pitchFamily="34" charset="-120"/>
              </a:rPr>
              <a:t> Alan yüzeye dik olduğundan ΔΦ = B·ΔA = B·L·v·Δt.</a:t>
            </a:r>
            <a:endParaRPr lang="en-US" sz="1400" dirty="0"/>
          </a:p>
          <a:p>
            <a:pPr marL="228600" indent="-228600">
              <a:lnSpc>
                <a:spcPct val="115000"/>
              </a:lnSpc>
              <a:spcAft>
                <a:spcPts val="500"/>
              </a:spcAft>
              <a:buSzPct val="100000"/>
              <a:buFont typeface="+mj-lt"/>
              <a:buAutoNum type="arabicPeriod" startAt="1"/>
            </a:pPr>
            <a:r>
              <a:rPr lang="en-US" sz="1400" b="1" dirty="0">
                <a:solidFill>
                  <a:srgbClr val="0E1426"/>
                </a:solidFill>
                <a:latin typeface="Calibri" pitchFamily="34" charset="0"/>
                <a:ea typeface="Calibri" pitchFamily="34" charset="-122"/>
                <a:cs typeface="Calibri" pitchFamily="34" charset="-120"/>
              </a:rPr>
              <a:t>Faraday:</a:t>
            </a:r>
            <a:pPr indent="0" marL="0">
              <a:lnSpc>
                <a:spcPct val="115000"/>
              </a:lnSpc>
              <a:buNone/>
            </a:pPr>
            <a:r>
              <a:rPr lang="en-US" sz="1400" dirty="0">
                <a:solidFill>
                  <a:srgbClr val="4A5470"/>
                </a:solidFill>
                <a:latin typeface="Calibri" pitchFamily="34" charset="0"/>
                <a:ea typeface="Calibri" pitchFamily="34" charset="-122"/>
                <a:cs typeface="Calibri" pitchFamily="34" charset="-120"/>
              </a:rPr>
              <a:t> ε = ΔΦ/Δt = B·L·v; Δt sadeleşir.</a:t>
            </a:r>
            <a:endParaRPr lang="en-US" sz="1400" dirty="0"/>
          </a:p>
          <a:p>
            <a:pPr marL="228600" indent="-228600">
              <a:lnSpc>
                <a:spcPct val="115000"/>
              </a:lnSpc>
              <a:spcAft>
                <a:spcPts val="500"/>
              </a:spcAft>
              <a:buSzPct val="100000"/>
              <a:buFont typeface="+mj-lt"/>
              <a:buAutoNum type="arabicPeriod" startAt="1"/>
            </a:pPr>
            <a:r>
              <a:rPr lang="en-US" sz="1400" b="1" dirty="0">
                <a:solidFill>
                  <a:srgbClr val="0E1426"/>
                </a:solidFill>
                <a:latin typeface="Calibri" pitchFamily="34" charset="0"/>
                <a:ea typeface="Calibri" pitchFamily="34" charset="-122"/>
                <a:cs typeface="Calibri" pitchFamily="34" charset="-120"/>
              </a:rPr>
              <a:t>İkinci bakış:</a:t>
            </a:r>
            <a:pPr indent="0" marL="0">
              <a:lnSpc>
                <a:spcPct val="115000"/>
              </a:lnSpc>
              <a:buNone/>
            </a:pPr>
            <a:r>
              <a:rPr lang="en-US" sz="1400" dirty="0">
                <a:solidFill>
                  <a:srgbClr val="4A5470"/>
                </a:solidFill>
                <a:latin typeface="Calibri" pitchFamily="34" charset="0"/>
                <a:ea typeface="Calibri" pitchFamily="34" charset="-122"/>
                <a:cs typeface="Calibri" pitchFamily="34" charset="-120"/>
              </a:rPr>
              <a:t> Çubuktaki yükler v hızıyla alanda hareket eder; çubuk boyunca q·v·B kuvveti görür ve bir uca itilir. Çubuk bir pil gibi davranır.</a:t>
            </a:r>
            <a:endParaRPr lang="en-US" sz="1400" dirty="0"/>
          </a:p>
        </p:txBody>
      </p:sp>
      <p:sp>
        <p:nvSpPr>
          <p:cNvPr id="16" name="Shape 14"/>
          <p:cNvSpPr/>
          <p:nvPr/>
        </p:nvSpPr>
        <p:spPr>
          <a:xfrm>
            <a:off x="7242048" y="2593238"/>
            <a:ext cx="4309567" cy="3285436"/>
          </a:xfrm>
          <a:prstGeom prst="roundRect">
            <a:avLst>
              <a:gd name="adj" fmla="val 445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17" name="Image 0" descr="/tmp/claude-1000/-opt-dersler/8a8328c3-841c-44fa-b76f-82572d338d3d/scratchpad/d4/sek/induksiyon-akimi-05.png">    </p:cNvPr>
          <p:cNvPicPr>
            <a:picLocks noChangeAspect="1"/>
          </p:cNvPicPr>
          <p:nvPr/>
        </p:nvPicPr>
        <p:blipFill>
          <a:blip r:embed="rId1"/>
          <a:stretch>
            <a:fillRect/>
          </a:stretch>
        </p:blipFill>
        <p:spPr>
          <a:xfrm>
            <a:off x="7424928" y="2776118"/>
            <a:ext cx="3943807" cy="1643174"/>
          </a:xfrm>
          <a:prstGeom prst="rect">
            <a:avLst/>
          </a:prstGeom>
        </p:spPr>
      </p:pic>
      <p:sp>
        <p:nvSpPr>
          <p:cNvPr id="18" name="Shape 15"/>
          <p:cNvSpPr/>
          <p:nvPr/>
        </p:nvSpPr>
        <p:spPr>
          <a:xfrm>
            <a:off x="7424928" y="4510732"/>
            <a:ext cx="3943807" cy="0"/>
          </a:xfrm>
          <a:prstGeom prst="line">
            <a:avLst/>
          </a:prstGeom>
          <a:noFill/>
          <a:ln w="9525">
            <a:solidFill>
              <a:srgbClr val="E1E5EE"/>
            </a:solidFill>
            <a:prstDash val="dash"/>
          </a:ln>
        </p:spPr>
      </p:sp>
      <p:sp>
        <p:nvSpPr>
          <p:cNvPr id="19" name="Text 16"/>
          <p:cNvSpPr txBox="1"/>
          <p:nvPr/>
        </p:nvSpPr>
        <p:spPr>
          <a:xfrm>
            <a:off x="7424928" y="4565596"/>
            <a:ext cx="3943807" cy="1130198"/>
          </a:xfrm>
          <a:prstGeom prst="rect">
            <a:avLst/>
          </a:prstGeom>
          <a:noFill/>
          <a:ln/>
        </p:spPr>
        <p:txBody>
          <a:bodyPr wrap="square" lIns="0" tIns="0" rIns="0" bIns="0" rtlCol="0" anchor="t"/>
          <a:lstStyle/>
          <a:p>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Çubuk sağa kaydıkça devrenin çevrelediği alan büyür, akı artar ve devrede akım doğar. Ama bu akım da alanın içindedir: ona etkiyen manyetik kuvvet </a:t>
            </a:r>
            <a:pPr indent="0" marL="0">
              <a:lnSpc>
                <a:spcPct val="112000"/>
              </a:lnSpc>
              <a:buNone/>
            </a:pPr>
            <a:r>
              <a:rPr lang="en-US" sz="1050" b="1" dirty="0">
                <a:solidFill>
                  <a:srgbClr val="4A5470"/>
                </a:solidFill>
                <a:latin typeface="Calibri" pitchFamily="34" charset="0"/>
                <a:ea typeface="Calibri" pitchFamily="34" charset="-122"/>
                <a:cs typeface="Calibri" pitchFamily="34" charset="-120"/>
              </a:rPr>
              <a:t>harekete zıt</a:t>
            </a:r>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 yöndedir (kırmızı ok). Yani çubuğu sabit hızla sürüklemek için sürekli kuvvet uygulamak gerekir — harcadığın </a:t>
            </a:r>
            <a:pPr indent="0" marL="0">
              <a:lnSpc>
                <a:spcPct val="112000"/>
              </a:lnSpc>
              <a:buNone/>
            </a:pPr>
            <a:r>
              <a:rPr lang="en-US" sz="1050" b="1" dirty="0">
                <a:solidFill>
                  <a:srgbClr val="4A5470"/>
                </a:solidFill>
                <a:latin typeface="Calibri" pitchFamily="34" charset="0"/>
                <a:ea typeface="Calibri" pitchFamily="34" charset="-122"/>
                <a:cs typeface="Calibri" pitchFamily="34" charset="-120"/>
              </a:rPr>
              <a:t>mekanik güç, direnç üzerinde ısıya dönüşen elektriksel güce eşittir</a:t>
            </a:r>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a:t>
            </a:r>
            <a:endParaRPr lang="en-US" sz="1050" dirty="0"/>
          </a:p>
        </p:txBody>
      </p:sp>
      <p:sp>
        <p:nvSpPr>
          <p:cNvPr id="20" name="Shape 17"/>
          <p:cNvSpPr/>
          <p:nvPr/>
        </p:nvSpPr>
        <p:spPr>
          <a:xfrm>
            <a:off x="640080" y="6382512"/>
            <a:ext cx="128016" cy="128016"/>
          </a:xfrm>
          <a:prstGeom prst="roundRect">
            <a:avLst>
              <a:gd name="adj" fmla="val 28571"/>
            </a:avLst>
          </a:prstGeom>
          <a:solidFill>
            <a:srgbClr val="A9E648"/>
          </a:solidFill>
          <a:ln/>
        </p:spPr>
      </p:sp>
      <p:sp>
        <p:nvSpPr>
          <p:cNvPr id="21" name="Text 1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dersler.perinet.org/induksiyon-akimi.html</a:t>
            </a:r>
            <a:endParaRPr lang="en-US" sz="1050" dirty="0"/>
          </a:p>
        </p:txBody>
      </p:sp>
      <p:sp>
        <p:nvSpPr>
          <p:cNvPr id="22" name="Text 1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18</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08</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Sayılarla hisset: ne kadar emk?</a:t>
            </a:r>
            <a:endParaRPr lang="en-US" sz="3200" dirty="0"/>
          </a:p>
        </p:txBody>
      </p:sp>
      <p:sp>
        <p:nvSpPr>
          <p:cNvPr id="5" name="Text 3"/>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6" name="Shape 4"/>
          <p:cNvSpPr/>
          <p:nvPr/>
        </p:nvSpPr>
        <p:spPr>
          <a:xfrm>
            <a:off x="640080" y="1188720"/>
            <a:ext cx="10911535" cy="886358"/>
          </a:xfrm>
          <a:prstGeom prst="roundRect">
            <a:avLst>
              <a:gd name="adj" fmla="val 12380"/>
            </a:avLst>
          </a:prstGeom>
          <a:solidFill>
            <a:srgbClr val="F8F9FC"/>
          </a:solidFill>
          <a:ln w="9525">
            <a:solidFill>
              <a:srgbClr val="E1E5EE"/>
            </a:solidFill>
            <a:prstDash val="solid"/>
          </a:ln>
        </p:spPr>
      </p:sp>
      <p:sp>
        <p:nvSpPr>
          <p:cNvPr id="7" name="Shape 5"/>
          <p:cNvSpPr/>
          <p:nvPr/>
        </p:nvSpPr>
        <p:spPr>
          <a:xfrm>
            <a:off x="658368" y="1298448"/>
            <a:ext cx="54864" cy="666902"/>
          </a:xfrm>
          <a:prstGeom prst="rect">
            <a:avLst/>
          </a:prstGeom>
          <a:solidFill>
            <a:srgbClr val="2957D4"/>
          </a:solidFill>
          <a:ln/>
        </p:spPr>
      </p:sp>
      <p:sp>
        <p:nvSpPr>
          <p:cNvPr id="8" name="Text 6"/>
          <p:cNvSpPr txBox="1"/>
          <p:nvPr/>
        </p:nvSpPr>
        <p:spPr>
          <a:xfrm>
            <a:off x="932688" y="1234440"/>
            <a:ext cx="10454335" cy="794918"/>
          </a:xfrm>
          <a:prstGeom prst="rect">
            <a:avLst/>
          </a:prstGeom>
          <a:noFill/>
          <a:ln/>
        </p:spPr>
        <p:txBody>
          <a:bodyPr wrap="square" lIns="0" tIns="0" rIns="0" bIns="0" rtlCol="0" anchor="ctr"/>
          <a:lstStyle/>
          <a:p>
            <a:pPr indent="0" marL="0">
              <a:lnSpc>
                <a:spcPct val="112000"/>
              </a:lnSpc>
              <a:buNone/>
            </a:pPr>
            <a:r>
              <a:rPr lang="en-US" sz="1900" dirty="0">
                <a:solidFill>
                  <a:srgbClr val="0E1426"/>
                </a:solidFill>
                <a:latin typeface="Calibri" pitchFamily="34" charset="0"/>
                <a:ea typeface="Calibri" pitchFamily="34" charset="-122"/>
                <a:cs typeface="Calibri" pitchFamily="34" charset="-120"/>
              </a:rPr>
              <a:t>Elle oynatılan mıknatıs birkaç on milivolt, sayfadaki çubuk 1 V, saniyede 50 tur atan küçük bir jeneratör yüzlerce volt üretir. Emk'yi belirleyen, değişimin hızıdır.</a:t>
            </a:r>
            <a:endParaRPr lang="en-US" sz="19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640080" y="2294534"/>
          <a:ext cx="10911535" cy="914400"/>
        </p:xfrm>
        <a:graphic>
          <a:graphicData uri="http://schemas.openxmlformats.org/drawingml/2006/table">
            <a:tbl>
              <a:tblPr/>
              <a:tblGrid>
                <a:gridCol w="4163612"/>
                <a:gridCol w="4881476"/>
                <a:gridCol w="1866447"/>
              </a:tblGrid>
              <a:tr h="338328">
                <a:tc>
                  <a:txBody>
                    <a:bodyPr/>
                    <a:lstStyle/>
                    <a:p>
                      <a:pPr indent="0" marL="0">
                        <a:buNone/>
                      </a:pPr>
                      <a:r>
                        <a:rPr lang="en-US" sz="1050" b="1" dirty="0">
                          <a:solidFill>
                            <a:srgbClr val="7B849E"/>
                          </a:solidFill>
                          <a:latin typeface="Calibri" pitchFamily="34" charset="0"/>
                          <a:ea typeface="Calibri" pitchFamily="34" charset="-122"/>
                          <a:cs typeface="Calibri" pitchFamily="34" charset="-120"/>
                        </a:rPr>
                        <a:t>Durum</a:t>
                      </a:r>
                      <a:endParaRPr lang="en-US" sz="105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050" b="1" dirty="0">
                          <a:solidFill>
                            <a:srgbClr val="7B849E"/>
                          </a:solidFill>
                          <a:latin typeface="Calibri" pitchFamily="34" charset="0"/>
                          <a:ea typeface="Calibri" pitchFamily="34" charset="-122"/>
                          <a:cs typeface="Calibri" pitchFamily="34" charset="-120"/>
                        </a:rPr>
                        <a:t>Değerler</a:t>
                      </a:r>
                      <a:endParaRPr lang="en-US" sz="105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050" b="1" dirty="0">
                          <a:solidFill>
                            <a:srgbClr val="7B849E"/>
                          </a:solidFill>
                          <a:latin typeface="Calibri" pitchFamily="34" charset="0"/>
                          <a:ea typeface="Calibri" pitchFamily="34" charset="-122"/>
                          <a:cs typeface="Calibri" pitchFamily="34" charset="-120"/>
                        </a:rPr>
                        <a:t>emk</a:t>
                      </a:r>
                      <a:endParaRPr lang="en-US" sz="105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r>
              <a:tr h="338328">
                <a:tc>
                  <a:txBody>
                    <a:bodyPr/>
                    <a:lstStyle/>
                    <a:p>
                      <a:pPr indent="0" marL="0">
                        <a:buNone/>
                      </a:pPr>
                      <a:r>
                        <a:rPr lang="en-US" sz="1200" b="1" dirty="0">
                          <a:solidFill>
                            <a:srgbClr val="0E1426"/>
                          </a:solidFill>
                          <a:latin typeface="Calibri" pitchFamily="34" charset="0"/>
                          <a:ea typeface="Calibri" pitchFamily="34" charset="-122"/>
                          <a:cs typeface="Calibri" pitchFamily="34" charset="-120"/>
                        </a:rPr>
                        <a:t>Mıknatısı elle bobine sokmak</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200 sarım, ΔΦ = 3·10⁻⁵ Wb, 0,2 s</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0,03 V</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338328">
                <a:tc>
                  <a:txBody>
                    <a:bodyPr/>
                    <a:lstStyle/>
                    <a:p>
                      <a:pPr indent="0" marL="0">
                        <a:buNone/>
                      </a:pPr>
                      <a:r>
                        <a:rPr lang="en-US" sz="1200" b="1" dirty="0">
                          <a:solidFill>
                            <a:srgbClr val="0E1426"/>
                          </a:solidFill>
                          <a:latin typeface="Calibri" pitchFamily="34" charset="0"/>
                          <a:ea typeface="Calibri" pitchFamily="34" charset="-122"/>
                          <a:cs typeface="Calibri" pitchFamily="34" charset="-120"/>
                        </a:rPr>
                        <a:t>Uçan yolcu uçağının kanatları</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B = 40 µT, L = 60 m, v = 250 m/s</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0,6 V</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338328">
                <a:tc>
                  <a:txBody>
                    <a:bodyPr/>
                    <a:lstStyle/>
                    <a:p>
                      <a:pPr indent="0" marL="0">
                        <a:buNone/>
                      </a:pPr>
                      <a:r>
                        <a:rPr lang="en-US" sz="1200" b="1" dirty="0">
                          <a:solidFill>
                            <a:srgbClr val="0E1426"/>
                          </a:solidFill>
                          <a:latin typeface="Calibri" pitchFamily="34" charset="0"/>
                          <a:ea typeface="Calibri" pitchFamily="34" charset="-122"/>
                          <a:cs typeface="Calibri" pitchFamily="34" charset="-120"/>
                        </a:rPr>
                        <a:t>Sayfadaki 03 çubuğu</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B = 0,5 T, L = 0,5 m, v = 4 m/s</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1 V</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338328">
                <a:tc>
                  <a:txBody>
                    <a:bodyPr/>
                    <a:lstStyle/>
                    <a:p>
                      <a:pPr indent="0" marL="0">
                        <a:buNone/>
                      </a:pPr>
                      <a:r>
                        <a:rPr lang="en-US" sz="1200" b="1" dirty="0">
                          <a:solidFill>
                            <a:srgbClr val="0E1426"/>
                          </a:solidFill>
                          <a:latin typeface="Calibri" pitchFamily="34" charset="0"/>
                          <a:ea typeface="Calibri" pitchFamily="34" charset="-122"/>
                          <a:cs typeface="Calibri" pitchFamily="34" charset="-120"/>
                        </a:rPr>
                        <a:t>Sayfadaki 02 jeneratörü</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100 sarım, 0,02 m², 0,5 T, 2 tur/s</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12,6 V (tepe)</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338328">
                <a:tc>
                  <a:txBody>
                    <a:bodyPr/>
                    <a:lstStyle/>
                    <a:p>
                      <a:pPr indent="0" marL="0">
                        <a:buNone/>
                      </a:pPr>
                      <a:r>
                        <a:rPr lang="en-US" sz="1200" b="1" dirty="0">
                          <a:solidFill>
                            <a:srgbClr val="0E1426"/>
                          </a:solidFill>
                          <a:latin typeface="Calibri" pitchFamily="34" charset="0"/>
                          <a:ea typeface="Calibri" pitchFamily="34" charset="-122"/>
                          <a:cs typeface="Calibri" pitchFamily="34" charset="-120"/>
                        </a:rPr>
                        <a:t>Aynı jeneratör, 50 tur/s</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100 sarım, 0,02 m², 0,5 T</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314 V (tepe)</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bl>
          </a:graphicData>
        </a:graphic>
      </p:graphicFrame>
      <p:sp>
        <p:nvSpPr>
          <p:cNvPr id="10" name="Shape 7"/>
          <p:cNvSpPr/>
          <p:nvPr/>
        </p:nvSpPr>
        <p:spPr>
          <a:xfrm>
            <a:off x="640080" y="6382512"/>
            <a:ext cx="128016" cy="128016"/>
          </a:xfrm>
          <a:prstGeom prst="roundRect">
            <a:avLst>
              <a:gd name="adj" fmla="val 28571"/>
            </a:avLst>
          </a:prstGeom>
          <a:solidFill>
            <a:srgbClr val="A9E648"/>
          </a:solidFill>
          <a:ln/>
        </p:spPr>
      </p:sp>
      <p:sp>
        <p:nvSpPr>
          <p:cNvPr id="11" name="Text 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dersler.perinet.org/induksiyon-akimi.html</a:t>
            </a:r>
            <a:endParaRPr lang="en-US" sz="1050" dirty="0"/>
          </a:p>
        </p:txBody>
      </p:sp>
      <p:sp>
        <p:nvSpPr>
          <p:cNvPr id="12" name="Text 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19</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09</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Jeneratör ve alternatif akım</a:t>
            </a:r>
            <a:endParaRPr lang="en-US" sz="3200" dirty="0"/>
          </a:p>
        </p:txBody>
      </p:sp>
      <p:sp>
        <p:nvSpPr>
          <p:cNvPr id="5" name="Text 3"/>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6" name="Shape 4"/>
          <p:cNvSpPr/>
          <p:nvPr/>
        </p:nvSpPr>
        <p:spPr>
          <a:xfrm>
            <a:off x="640080" y="1188720"/>
            <a:ext cx="10911535" cy="886358"/>
          </a:xfrm>
          <a:prstGeom prst="roundRect">
            <a:avLst>
              <a:gd name="adj" fmla="val 12380"/>
            </a:avLst>
          </a:prstGeom>
          <a:solidFill>
            <a:srgbClr val="F8F9FC"/>
          </a:solidFill>
          <a:ln w="9525">
            <a:solidFill>
              <a:srgbClr val="E1E5EE"/>
            </a:solidFill>
            <a:prstDash val="solid"/>
          </a:ln>
        </p:spPr>
      </p:sp>
      <p:sp>
        <p:nvSpPr>
          <p:cNvPr id="7" name="Shape 5"/>
          <p:cNvSpPr/>
          <p:nvPr/>
        </p:nvSpPr>
        <p:spPr>
          <a:xfrm>
            <a:off x="658368" y="1298448"/>
            <a:ext cx="54864" cy="666902"/>
          </a:xfrm>
          <a:prstGeom prst="rect">
            <a:avLst/>
          </a:prstGeom>
          <a:solidFill>
            <a:srgbClr val="2957D4"/>
          </a:solidFill>
          <a:ln/>
        </p:spPr>
      </p:sp>
      <p:sp>
        <p:nvSpPr>
          <p:cNvPr id="8" name="Text 6"/>
          <p:cNvSpPr txBox="1"/>
          <p:nvPr/>
        </p:nvSpPr>
        <p:spPr>
          <a:xfrm>
            <a:off x="932688" y="1234440"/>
            <a:ext cx="10454335" cy="794918"/>
          </a:xfrm>
          <a:prstGeom prst="rect">
            <a:avLst/>
          </a:prstGeom>
          <a:noFill/>
          <a:ln/>
        </p:spPr>
        <p:txBody>
          <a:bodyPr wrap="square" lIns="0" tIns="0" rIns="0" bIns="0" rtlCol="0" anchor="ctr"/>
          <a:lstStyle/>
          <a:p>
            <a:pPr indent="0" marL="0">
              <a:lnSpc>
                <a:spcPct val="112000"/>
              </a:lnSpc>
              <a:buNone/>
            </a:pPr>
            <a:r>
              <a:rPr lang="en-US" sz="1900" dirty="0">
                <a:solidFill>
                  <a:srgbClr val="0E1426"/>
                </a:solidFill>
                <a:latin typeface="Calibri" pitchFamily="34" charset="0"/>
                <a:ea typeface="Calibri" pitchFamily="34" charset="-122"/>
                <a:cs typeface="Calibri" pitchFamily="34" charset="-120"/>
              </a:rPr>
              <a:t>Dönen çerçevede akı kosinüs, emk sinüs gibi değişir ve tepe emk N·B·A·ω'dır. Akı en büyükken emk sıfır, akı sıfırken emk en büyüktür; sonuç alternatif akımdır.</a:t>
            </a:r>
            <a:endParaRPr lang="en-US" sz="1900" dirty="0"/>
          </a:p>
        </p:txBody>
      </p:sp>
      <p:sp>
        <p:nvSpPr>
          <p:cNvPr id="9" name="Shape 7"/>
          <p:cNvSpPr/>
          <p:nvPr/>
        </p:nvSpPr>
        <p:spPr>
          <a:xfrm>
            <a:off x="640080" y="2294534"/>
            <a:ext cx="2037283" cy="457200"/>
          </a:xfrm>
          <a:prstGeom prst="roundRect">
            <a:avLst>
              <a:gd name="adj" fmla="val 24000"/>
            </a:avLst>
          </a:prstGeom>
          <a:solidFill>
            <a:srgbClr val="EEF2FC"/>
          </a:solidFill>
          <a:ln w="9525">
            <a:solidFill>
              <a:srgbClr val="CBD7F4"/>
            </a:solidFill>
            <a:prstDash val="solid"/>
          </a:ln>
        </p:spPr>
      </p:sp>
      <p:sp>
        <p:nvSpPr>
          <p:cNvPr id="10" name="Text 8"/>
          <p:cNvSpPr txBox="1"/>
          <p:nvPr/>
        </p:nvSpPr>
        <p:spPr>
          <a:xfrm>
            <a:off x="640080" y="2294534"/>
            <a:ext cx="2037283" cy="457200"/>
          </a:xfrm>
          <a:prstGeom prst="rect">
            <a:avLst/>
          </a:prstGeom>
          <a:noFill/>
          <a:ln/>
        </p:spPr>
        <p:txBody>
          <a:bodyPr wrap="square" lIns="0" tIns="0" rIns="0" bIns="0" rtlCol="0" anchor="ctr"/>
          <a:lstStyle/>
          <a:p>
            <a:pPr algn="ctr" indent="0" marL="0">
              <a:buNone/>
            </a:pPr>
            <a:r>
              <a:rPr lang="en-US" sz="1300" b="1" dirty="0">
                <a:solidFill>
                  <a:srgbClr val="2957D4"/>
                </a:solidFill>
                <a:latin typeface="Courier New" pitchFamily="34" charset="0"/>
                <a:ea typeface="Courier New" pitchFamily="34" charset="-122"/>
                <a:cs typeface="Courier New" pitchFamily="34" charset="-120"/>
              </a:rPr>
              <a:t>Φ = B·A·cos(ω·t)</a:t>
            </a:r>
            <a:endParaRPr lang="en-US" sz="1300" dirty="0"/>
          </a:p>
        </p:txBody>
      </p:sp>
      <p:sp>
        <p:nvSpPr>
          <p:cNvPr id="11" name="Shape 9"/>
          <p:cNvSpPr/>
          <p:nvPr/>
        </p:nvSpPr>
        <p:spPr>
          <a:xfrm>
            <a:off x="2787091" y="2294534"/>
            <a:ext cx="2432304" cy="457200"/>
          </a:xfrm>
          <a:prstGeom prst="roundRect">
            <a:avLst>
              <a:gd name="adj" fmla="val 24000"/>
            </a:avLst>
          </a:prstGeom>
          <a:solidFill>
            <a:srgbClr val="EEF2FC"/>
          </a:solidFill>
          <a:ln w="9525">
            <a:solidFill>
              <a:srgbClr val="CBD7F4"/>
            </a:solidFill>
            <a:prstDash val="solid"/>
          </a:ln>
        </p:spPr>
      </p:sp>
      <p:sp>
        <p:nvSpPr>
          <p:cNvPr id="12" name="Text 10"/>
          <p:cNvSpPr txBox="1"/>
          <p:nvPr/>
        </p:nvSpPr>
        <p:spPr>
          <a:xfrm>
            <a:off x="2787091" y="2294534"/>
            <a:ext cx="2432304" cy="457200"/>
          </a:xfrm>
          <a:prstGeom prst="rect">
            <a:avLst/>
          </a:prstGeom>
          <a:noFill/>
          <a:ln/>
        </p:spPr>
        <p:txBody>
          <a:bodyPr wrap="square" lIns="0" tIns="0" rIns="0" bIns="0" rtlCol="0" anchor="ctr"/>
          <a:lstStyle/>
          <a:p>
            <a:pPr algn="ctr" indent="0" marL="0">
              <a:buNone/>
            </a:pPr>
            <a:r>
              <a:rPr lang="en-US" sz="1300" b="1" dirty="0">
                <a:solidFill>
                  <a:srgbClr val="2957D4"/>
                </a:solidFill>
                <a:latin typeface="Courier New" pitchFamily="34" charset="0"/>
                <a:ea typeface="Courier New" pitchFamily="34" charset="-122"/>
                <a:cs typeface="Courier New" pitchFamily="34" charset="-120"/>
              </a:rPr>
              <a:t>ε = N·B·A·ω·sin(ω·t)</a:t>
            </a:r>
            <a:endParaRPr lang="en-US" sz="1300" dirty="0"/>
          </a:p>
        </p:txBody>
      </p:sp>
      <p:sp>
        <p:nvSpPr>
          <p:cNvPr id="13" name="Shape 11"/>
          <p:cNvSpPr/>
          <p:nvPr/>
        </p:nvSpPr>
        <p:spPr>
          <a:xfrm>
            <a:off x="5329123" y="2294534"/>
            <a:ext cx="2136038" cy="457200"/>
          </a:xfrm>
          <a:prstGeom prst="roundRect">
            <a:avLst>
              <a:gd name="adj" fmla="val 24000"/>
            </a:avLst>
          </a:prstGeom>
          <a:solidFill>
            <a:srgbClr val="EEF2FC"/>
          </a:solidFill>
          <a:ln w="9525">
            <a:solidFill>
              <a:srgbClr val="CBD7F4"/>
            </a:solidFill>
            <a:prstDash val="solid"/>
          </a:ln>
        </p:spPr>
      </p:sp>
      <p:sp>
        <p:nvSpPr>
          <p:cNvPr id="14" name="Text 12"/>
          <p:cNvSpPr txBox="1"/>
          <p:nvPr/>
        </p:nvSpPr>
        <p:spPr>
          <a:xfrm>
            <a:off x="5329123" y="2294534"/>
            <a:ext cx="2136038" cy="457200"/>
          </a:xfrm>
          <a:prstGeom prst="rect">
            <a:avLst/>
          </a:prstGeom>
          <a:noFill/>
          <a:ln/>
        </p:spPr>
        <p:txBody>
          <a:bodyPr wrap="square" lIns="0" tIns="0" rIns="0" bIns="0" rtlCol="0" anchor="ctr"/>
          <a:lstStyle/>
          <a:p>
            <a:pPr algn="ctr" indent="0" marL="0">
              <a:buNone/>
            </a:pPr>
            <a:r>
              <a:rPr lang="en-US" sz="1300" b="1" dirty="0">
                <a:solidFill>
                  <a:srgbClr val="2957D4"/>
                </a:solidFill>
                <a:latin typeface="Courier New" pitchFamily="34" charset="0"/>
                <a:ea typeface="Courier New" pitchFamily="34" charset="-122"/>
                <a:cs typeface="Courier New" pitchFamily="34" charset="-120"/>
              </a:rPr>
              <a:t>ε(maks) = B·A·ω·N</a:t>
            </a:r>
            <a:endParaRPr lang="en-US" sz="1300" dirty="0"/>
          </a:p>
        </p:txBody>
      </p:sp>
      <p:sp>
        <p:nvSpPr>
          <p:cNvPr id="15" name="Text 13"/>
          <p:cNvSpPr txBox="1"/>
          <p:nvPr/>
        </p:nvSpPr>
        <p:spPr>
          <a:xfrm>
            <a:off x="640080" y="2916326"/>
            <a:ext cx="6949440" cy="1789557"/>
          </a:xfrm>
          <a:prstGeom prst="rect">
            <a:avLst/>
          </a:prstGeom>
          <a:noFill/>
          <a:ln/>
        </p:spPr>
        <p:txBody>
          <a:bodyPr wrap="square" lIns="0" tIns="0" rIns="0" bIns="0" rtlCol="0" anchor="t"/>
          <a:lstStyle/>
          <a:p>
            <a:pPr marL="228600" indent="-228600">
              <a:lnSpc>
                <a:spcPct val="115000"/>
              </a:lnSpc>
              <a:spcAft>
                <a:spcPts val="500"/>
              </a:spcAft>
              <a:buSzPct val="100000"/>
              <a:buFont typeface="+mj-lt"/>
              <a:buAutoNum type="arabicPeriod" startAt="1"/>
            </a:pPr>
            <a:r>
              <a:rPr lang="en-US" sz="1250" dirty="0">
                <a:solidFill>
                  <a:srgbClr val="4A5470"/>
                </a:solidFill>
                <a:latin typeface="Calibri" pitchFamily="34" charset="0"/>
                <a:ea typeface="Calibri" pitchFamily="34" charset="-122"/>
                <a:cs typeface="Calibri" pitchFamily="34" charset="-120"/>
              </a:rPr>
              <a:t>Çerçevenin eksene paralel iki kenarı a uzunluğunda, eksenden b/2 uzaktadır; ikisi de v = ω·b/2 hızıyla döner.</a:t>
            </a:r>
            <a:endParaRPr lang="en-US" sz="1250" dirty="0"/>
          </a:p>
          <a:p>
            <a:pPr marL="228600" indent="-228600">
              <a:lnSpc>
                <a:spcPct val="115000"/>
              </a:lnSpc>
              <a:spcAft>
                <a:spcPts val="500"/>
              </a:spcAft>
              <a:buSzPct val="100000"/>
              <a:buFont typeface="+mj-lt"/>
              <a:buAutoNum type="arabicPeriod" startAt="1"/>
            </a:pPr>
            <a:r>
              <a:rPr lang="en-US" sz="1250" dirty="0">
                <a:solidFill>
                  <a:srgbClr val="4A5470"/>
                </a:solidFill>
                <a:latin typeface="Calibri" pitchFamily="34" charset="0"/>
                <a:ea typeface="Calibri" pitchFamily="34" charset="-122"/>
                <a:cs typeface="Calibri" pitchFamily="34" charset="-120"/>
              </a:rPr>
              <a:t>Çerçeve alana paralelken bu kenarlar alana dik hareket eder; her biri ε = B·a·v emk'si üretir.</a:t>
            </a:r>
            <a:endParaRPr lang="en-US" sz="1250" dirty="0"/>
          </a:p>
          <a:p>
            <a:pPr marL="228600" indent="-228600">
              <a:lnSpc>
                <a:spcPct val="115000"/>
              </a:lnSpc>
              <a:spcAft>
                <a:spcPts val="500"/>
              </a:spcAft>
              <a:buSzPct val="100000"/>
              <a:buFont typeface="+mj-lt"/>
              <a:buAutoNum type="arabicPeriod" startAt="1"/>
            </a:pPr>
            <a:r>
              <a:rPr lang="en-US" sz="1250" dirty="0">
                <a:solidFill>
                  <a:srgbClr val="4A5470"/>
                </a:solidFill>
                <a:latin typeface="Calibri" pitchFamily="34" charset="0"/>
                <a:ea typeface="Calibri" pitchFamily="34" charset="-122"/>
                <a:cs typeface="Calibri" pitchFamily="34" charset="-120"/>
              </a:rPr>
              <a:t>İki kenar seri bağlıdır: ε = 2·B·a·ω·b/2 = B·A·ω (A = a·b). N sarımda N·B·A·ω.</a:t>
            </a:r>
            <a:endParaRPr lang="en-US" sz="1250" dirty="0"/>
          </a:p>
          <a:p>
            <a:pPr marL="228600" indent="-228600">
              <a:lnSpc>
                <a:spcPct val="115000"/>
              </a:lnSpc>
              <a:spcAft>
                <a:spcPts val="500"/>
              </a:spcAft>
              <a:buSzPct val="100000"/>
              <a:buFont typeface="+mj-lt"/>
              <a:buAutoNum type="arabicPeriod" startAt="1"/>
            </a:pPr>
            <a:r>
              <a:rPr lang="en-US" sz="1250" dirty="0">
                <a:solidFill>
                  <a:srgbClr val="4A5470"/>
                </a:solidFill>
                <a:latin typeface="Calibri" pitchFamily="34" charset="0"/>
                <a:ea typeface="Calibri" pitchFamily="34" charset="-122"/>
                <a:cs typeface="Calibri" pitchFamily="34" charset="-120"/>
              </a:rPr>
              <a:t>Başka konumlarda hızın yalnızca alana dik bileşeni sayılır; bu da sin(ω·t) çarpanını getirir.</a:t>
            </a:r>
            <a:endParaRPr lang="en-US" sz="1250" dirty="0"/>
          </a:p>
        </p:txBody>
      </p:sp>
      <p:sp>
        <p:nvSpPr>
          <p:cNvPr id="16" name="Shape 14"/>
          <p:cNvSpPr/>
          <p:nvPr/>
        </p:nvSpPr>
        <p:spPr>
          <a:xfrm>
            <a:off x="640080" y="4815611"/>
            <a:ext cx="6949440" cy="1006983"/>
          </a:xfrm>
          <a:prstGeom prst="roundRect">
            <a:avLst>
              <a:gd name="adj" fmla="val 10897"/>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7" name="Shape 15"/>
          <p:cNvSpPr/>
          <p:nvPr/>
        </p:nvSpPr>
        <p:spPr>
          <a:xfrm>
            <a:off x="658368" y="4961915"/>
            <a:ext cx="45720" cy="714375"/>
          </a:xfrm>
          <a:prstGeom prst="rect">
            <a:avLst/>
          </a:prstGeom>
          <a:solidFill>
            <a:srgbClr val="3C8C21"/>
          </a:solidFill>
          <a:ln/>
        </p:spPr>
      </p:sp>
      <p:sp>
        <p:nvSpPr>
          <p:cNvPr id="18" name="Text 16"/>
          <p:cNvSpPr txBox="1"/>
          <p:nvPr/>
        </p:nvSpPr>
        <p:spPr>
          <a:xfrm>
            <a:off x="914400" y="4925339"/>
            <a:ext cx="6492240" cy="787527"/>
          </a:xfrm>
          <a:prstGeom prst="rect">
            <a:avLst/>
          </a:prstGeom>
          <a:noFill/>
          <a:ln/>
        </p:spPr>
        <p:txBody>
          <a:bodyPr wrap="square" lIns="0" tIns="0" rIns="0" bIns="0" rtlCol="0" anchor="ctr"/>
          <a:lstStyle/>
          <a:p>
            <a:pPr indent="0" marL="0">
              <a:lnSpc>
                <a:spcPct val="112000"/>
              </a:lnSpc>
              <a:buNone/>
            </a:pPr>
            <a:r>
              <a:rPr lang="en-US" sz="1150" b="1" dirty="0">
                <a:solidFill>
                  <a:srgbClr val="0E1426"/>
                </a:solidFill>
                <a:latin typeface="Calibri" pitchFamily="34" charset="0"/>
                <a:ea typeface="Calibri" pitchFamily="34" charset="-122"/>
                <a:cs typeface="Calibri" pitchFamily="34" charset="-120"/>
              </a:rPr>
              <a:t>Türkiye'de şebeke:</a:t>
            </a:r>
            <a:pPr indent="0" marL="0">
              <a:lnSpc>
                <a:spcPct val="112000"/>
              </a:lnSpc>
              <a:buNone/>
            </a:pPr>
            <a:r>
              <a:rPr lang="en-US" sz="1150" dirty="0">
                <a:solidFill>
                  <a:srgbClr val="4A5470"/>
                </a:solidFill>
                <a:latin typeface="Calibri" pitchFamily="34" charset="0"/>
                <a:ea typeface="Calibri" pitchFamily="34" charset="-122"/>
                <a:cs typeface="Calibri" pitchFamily="34" charset="-120"/>
              </a:rPr>
              <a:t> 230 V, 50 Hz. Yani iki kutuplu bir jeneratörün çerçevesi saniyede 50 tam tur atar ve gerilim saniyede 50 kez tam çevrim yapar. 230 V, gerilimin etkin değeridir; tepe değeri 230·√2 ≈ 325 V'tur.</a:t>
            </a:r>
            <a:endParaRPr lang="en-US" sz="1150" dirty="0"/>
          </a:p>
        </p:txBody>
      </p:sp>
      <p:sp>
        <p:nvSpPr>
          <p:cNvPr id="19" name="Shape 17"/>
          <p:cNvSpPr/>
          <p:nvPr/>
        </p:nvSpPr>
        <p:spPr>
          <a:xfrm>
            <a:off x="7882128" y="2294534"/>
            <a:ext cx="3669487" cy="3459787"/>
          </a:xfrm>
          <a:prstGeom prst="roundRect">
            <a:avLst>
              <a:gd name="adj" fmla="val 4229"/>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20" name="Image 0" descr="/tmp/claude-1000/-opt-dersler/8a8328c3-841c-44fa-b76f-82572d338d3d/scratchpad/d4/sek/induksiyon-akimi-06.png">    </p:cNvPr>
          <p:cNvPicPr>
            <a:picLocks noChangeAspect="1"/>
          </p:cNvPicPr>
          <p:nvPr/>
        </p:nvPicPr>
        <p:blipFill>
          <a:blip r:embed="rId1"/>
          <a:stretch>
            <a:fillRect/>
          </a:stretch>
        </p:blipFill>
        <p:spPr>
          <a:xfrm>
            <a:off x="8065008" y="2477414"/>
            <a:ext cx="3303727" cy="1459080"/>
          </a:xfrm>
          <a:prstGeom prst="rect">
            <a:avLst/>
          </a:prstGeom>
        </p:spPr>
      </p:pic>
      <p:sp>
        <p:nvSpPr>
          <p:cNvPr id="21" name="Shape 18"/>
          <p:cNvSpPr/>
          <p:nvPr/>
        </p:nvSpPr>
        <p:spPr>
          <a:xfrm>
            <a:off x="8065008" y="4027934"/>
            <a:ext cx="3303727" cy="0"/>
          </a:xfrm>
          <a:prstGeom prst="line">
            <a:avLst/>
          </a:prstGeom>
          <a:noFill/>
          <a:ln w="9525">
            <a:solidFill>
              <a:srgbClr val="E1E5EE"/>
            </a:solidFill>
            <a:prstDash val="dash"/>
          </a:ln>
        </p:spPr>
      </p:sp>
      <p:sp>
        <p:nvSpPr>
          <p:cNvPr id="22" name="Text 19"/>
          <p:cNvSpPr txBox="1"/>
          <p:nvPr/>
        </p:nvSpPr>
        <p:spPr>
          <a:xfrm>
            <a:off x="8065008" y="4082798"/>
            <a:ext cx="3303727" cy="1488643"/>
          </a:xfrm>
          <a:prstGeom prst="rect">
            <a:avLst/>
          </a:prstGeom>
          <a:noFill/>
          <a:ln/>
        </p:spPr>
        <p:txBody>
          <a:bodyPr wrap="square" lIns="0" tIns="0" rIns="0" bIns="0" rtlCol="0" anchor="t"/>
          <a:lstStyle/>
          <a:p>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Çerçeve döndükçe içinden geçen akı kosinüs gibi salınır. Emk ise akının </a:t>
            </a:r>
            <a:pPr indent="0" marL="0">
              <a:lnSpc>
                <a:spcPct val="112000"/>
              </a:lnSpc>
              <a:buNone/>
            </a:pPr>
            <a:r>
              <a:rPr lang="en-US" sz="1050" b="1" dirty="0">
                <a:solidFill>
                  <a:srgbClr val="4A5470"/>
                </a:solidFill>
                <a:latin typeface="Calibri" pitchFamily="34" charset="0"/>
                <a:ea typeface="Calibri" pitchFamily="34" charset="-122"/>
                <a:cs typeface="Calibri" pitchFamily="34" charset="-120"/>
              </a:rPr>
              <a:t>değişim hızıyla</a:t>
            </a:r>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 orantılı olduğu için sinüs olur — yani ikisi arasında </a:t>
            </a:r>
            <a:pPr indent="0" marL="0">
              <a:lnSpc>
                <a:spcPct val="112000"/>
              </a:lnSpc>
              <a:buNone/>
            </a:pPr>
            <a:r>
              <a:rPr lang="en-US" sz="1050" b="1" dirty="0">
                <a:solidFill>
                  <a:srgbClr val="4A5470"/>
                </a:solidFill>
                <a:latin typeface="Calibri" pitchFamily="34" charset="0"/>
                <a:ea typeface="Calibri" pitchFamily="34" charset="-122"/>
                <a:cs typeface="Calibri" pitchFamily="34" charset="-120"/>
              </a:rPr>
              <a:t>çeyrek periyot</a:t>
            </a:r>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 fark vardır. Akının en büyük olduğu anda emk sıfırdır (o an akı değişmiyordur); akının sıfır olduğu anda ise emk en büyüktür. Şehir şebekesindeki alternatif akım tam olarak bu eğridir.</a:t>
            </a:r>
            <a:endParaRPr lang="en-US" sz="1050" dirty="0"/>
          </a:p>
        </p:txBody>
      </p:sp>
      <p:sp>
        <p:nvSpPr>
          <p:cNvPr id="23" name="Shape 20"/>
          <p:cNvSpPr/>
          <p:nvPr/>
        </p:nvSpPr>
        <p:spPr>
          <a:xfrm>
            <a:off x="640080" y="6382512"/>
            <a:ext cx="128016" cy="128016"/>
          </a:xfrm>
          <a:prstGeom prst="roundRect">
            <a:avLst>
              <a:gd name="adj" fmla="val 28571"/>
            </a:avLst>
          </a:prstGeom>
          <a:solidFill>
            <a:srgbClr val="A9E648"/>
          </a:solidFill>
          <a:ln/>
        </p:spPr>
      </p:sp>
      <p:sp>
        <p:nvSpPr>
          <p:cNvPr id="24" name="Text 2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dersler.perinet.org/induksiyon-akimi.html</a:t>
            </a:r>
            <a:endParaRPr lang="en-US" sz="1050" dirty="0"/>
          </a:p>
        </p:txBody>
      </p:sp>
      <p:sp>
        <p:nvSpPr>
          <p:cNvPr id="25" name="Text 22"/>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20</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E1426"/>
        </a:solidFill>
      </p:bgPr>
    </p:bg>
    <p:spTree>
      <p:nvGrpSpPr>
        <p:cNvPr id="1" name=""/>
        <p:cNvGrpSpPr/>
        <p:nvPr/>
      </p:nvGrpSpPr>
      <p:grpSpPr>
        <a:xfrm>
          <a:off x="0" y="0"/>
          <a:ext cx="0" cy="0"/>
          <a:chOff x="0" y="0"/>
          <a:chExt cx="0" cy="0"/>
        </a:xfrm>
      </p:grpSpPr>
      <p:sp>
        <p:nvSpPr>
          <p:cNvPr id="2" name="Text 0"/>
          <p:cNvSpPr txBox="1"/>
          <p:nvPr/>
        </p:nvSpPr>
        <p:spPr>
          <a:xfrm>
            <a:off x="685800" y="365760"/>
            <a:ext cx="1828800" cy="1874520"/>
          </a:xfrm>
          <a:prstGeom prst="rect">
            <a:avLst/>
          </a:prstGeom>
          <a:noFill/>
          <a:ln/>
        </p:spPr>
        <p:txBody>
          <a:bodyPr wrap="square" lIns="0" tIns="0" rIns="0" bIns="0" rtlCol="0" anchor="ctr"/>
          <a:lstStyle/>
          <a:p>
            <a:pPr indent="0" marL="0">
              <a:buNone/>
            </a:pPr>
            <a:r>
              <a:rPr lang="en-US" sz="11600" b="1" dirty="0">
                <a:solidFill>
                  <a:srgbClr val="A093FF"/>
                </a:solidFill>
                <a:latin typeface="Cambria" pitchFamily="34" charset="0"/>
                <a:ea typeface="Cambria" pitchFamily="34" charset="-122"/>
                <a:cs typeface="Cambria" pitchFamily="34" charset="-120"/>
              </a:rPr>
              <a:t>3</a:t>
            </a:r>
            <a:endParaRPr lang="en-US" sz="11600" dirty="0"/>
          </a:p>
        </p:txBody>
      </p:sp>
      <p:sp>
        <p:nvSpPr>
          <p:cNvPr id="3" name="Text 1"/>
          <p:cNvSpPr txBox="1"/>
          <p:nvPr/>
        </p:nvSpPr>
        <p:spPr>
          <a:xfrm>
            <a:off x="731520" y="2286000"/>
            <a:ext cx="4572000" cy="292608"/>
          </a:xfrm>
          <a:prstGeom prst="rect">
            <a:avLst/>
          </a:prstGeom>
          <a:noFill/>
          <a:ln/>
        </p:spPr>
        <p:txBody>
          <a:bodyPr wrap="square" lIns="0" tIns="0" rIns="0" bIns="0" rtlCol="0" anchor="ctr"/>
          <a:lstStyle/>
          <a:p>
            <a:pPr indent="0" marL="0">
              <a:buNone/>
            </a:pPr>
            <a:r>
              <a:rPr lang="en-US" sz="1200" b="1" spc="300" kern="0" dirty="0">
                <a:solidFill>
                  <a:srgbClr val="A093FF"/>
                </a:solidFill>
                <a:latin typeface="Calibri" pitchFamily="34" charset="0"/>
                <a:ea typeface="Calibri" pitchFamily="34" charset="-122"/>
                <a:cs typeface="Calibri" pitchFamily="34" charset="-120"/>
              </a:rPr>
              <a:t>BASAMAK 3 / 4</a:t>
            </a:r>
            <a:endParaRPr lang="en-US" sz="1200" dirty="0"/>
          </a:p>
        </p:txBody>
      </p:sp>
      <p:sp>
        <p:nvSpPr>
          <p:cNvPr id="4" name="Text 2"/>
          <p:cNvSpPr txBox="1"/>
          <p:nvPr/>
        </p:nvSpPr>
        <p:spPr>
          <a:xfrm>
            <a:off x="685800" y="2578608"/>
            <a:ext cx="5120640" cy="822960"/>
          </a:xfrm>
          <a:prstGeom prst="rect">
            <a:avLst/>
          </a:prstGeom>
          <a:noFill/>
          <a:ln/>
        </p:spPr>
        <p:txBody>
          <a:bodyPr wrap="square" lIns="0" tIns="0" rIns="0" bIns="0" rtlCol="0" anchor="ctr"/>
          <a:lstStyle/>
          <a:p>
            <a:pPr indent="0" marL="0">
              <a:buNone/>
            </a:pPr>
            <a:r>
              <a:rPr lang="en-US" sz="4600" b="1" spc="-100" kern="0" dirty="0">
                <a:solidFill>
                  <a:srgbClr val="FFFFFF"/>
                </a:solidFill>
                <a:latin typeface="Cambria" pitchFamily="34" charset="0"/>
                <a:ea typeface="Cambria" pitchFamily="34" charset="-122"/>
                <a:cs typeface="Cambria" pitchFamily="34" charset="-120"/>
              </a:rPr>
              <a:t>İleri</a:t>
            </a:r>
            <a:endParaRPr lang="en-US" sz="4600" dirty="0"/>
          </a:p>
        </p:txBody>
      </p:sp>
      <p:sp>
        <p:nvSpPr>
          <p:cNvPr id="5" name="Text 3"/>
          <p:cNvSpPr txBox="1"/>
          <p:nvPr/>
        </p:nvSpPr>
        <p:spPr>
          <a:xfrm>
            <a:off x="731520" y="3474720"/>
            <a:ext cx="4846320" cy="914400"/>
          </a:xfrm>
          <a:prstGeom prst="rect">
            <a:avLst/>
          </a:prstGeom>
          <a:noFill/>
          <a:ln/>
        </p:spPr>
        <p:txBody>
          <a:bodyPr wrap="square" lIns="0" tIns="0" rIns="0" bIns="0" rtlCol="0" anchor="t"/>
          <a:lstStyle/>
          <a:p>
            <a:pPr indent="0" marL="0">
              <a:lnSpc>
                <a:spcPct val="120000"/>
              </a:lnSpc>
              <a:buNone/>
            </a:pPr>
            <a:r>
              <a:rPr lang="en-US" sz="1600" dirty="0">
                <a:solidFill>
                  <a:srgbClr val="C3CEE8"/>
                </a:solidFill>
                <a:latin typeface="Calibri" pitchFamily="34" charset="0"/>
                <a:ea typeface="Calibri" pitchFamily="34" charset="-122"/>
                <a:cs typeface="Calibri" pitchFamily="34" charset="-120"/>
              </a:rPr>
              <a:t>Derinleşme: akım bir telde değil de bütün bir metal parçada dolaşınca, devre açıkken ya da motor dönerken ne olur?</a:t>
            </a:r>
            <a:endParaRPr lang="en-US" sz="1600" dirty="0"/>
          </a:p>
        </p:txBody>
      </p:sp>
      <p:sp>
        <p:nvSpPr>
          <p:cNvPr id="6" name="Text 4"/>
          <p:cNvSpPr txBox="1"/>
          <p:nvPr/>
        </p:nvSpPr>
        <p:spPr>
          <a:xfrm>
            <a:off x="731520" y="4572000"/>
            <a:ext cx="5120640" cy="329184"/>
          </a:xfrm>
          <a:prstGeom prst="rect">
            <a:avLst/>
          </a:prstGeom>
          <a:noFill/>
          <a:ln/>
        </p:spPr>
        <p:txBody>
          <a:bodyPr wrap="square" lIns="0" tIns="0" rIns="0" bIns="0" rtlCol="0" anchor="ctr"/>
          <a:lstStyle/>
          <a:p>
            <a:pPr indent="0" marL="0">
              <a:buNone/>
            </a:pPr>
            <a:r>
              <a:rPr lang="en-US" sz="1300" b="1" dirty="0">
                <a:solidFill>
                  <a:srgbClr val="A093FF"/>
                </a:solidFill>
                <a:latin typeface="Calibri" pitchFamily="34" charset="0"/>
                <a:ea typeface="Calibri" pitchFamily="34" charset="-122"/>
                <a:cs typeface="Calibri" pitchFamily="34" charset="-120"/>
              </a:rPr>
              <a:t>10   </a:t>
            </a:r>
            <a:pPr indent="0" marL="0">
              <a:buNone/>
            </a:pPr>
            <a:r>
              <a:rPr lang="en-US" sz="1300" dirty="0">
                <a:solidFill>
                  <a:srgbClr val="FFFFFF"/>
                </a:solidFill>
                <a:latin typeface="Calibri" pitchFamily="34" charset="0"/>
                <a:ea typeface="Calibri" pitchFamily="34" charset="-122"/>
                <a:cs typeface="Calibri" pitchFamily="34" charset="-120"/>
              </a:rPr>
              <a:t>Girdap akımları: bakır boru deneyi</a:t>
            </a:r>
            <a:endParaRPr lang="en-US" sz="1300" dirty="0"/>
          </a:p>
        </p:txBody>
      </p:sp>
      <p:sp>
        <p:nvSpPr>
          <p:cNvPr id="7" name="Text 5"/>
          <p:cNvSpPr txBox="1"/>
          <p:nvPr/>
        </p:nvSpPr>
        <p:spPr>
          <a:xfrm>
            <a:off x="731520" y="4901184"/>
            <a:ext cx="5120640" cy="329184"/>
          </a:xfrm>
          <a:prstGeom prst="rect">
            <a:avLst/>
          </a:prstGeom>
          <a:noFill/>
          <a:ln/>
        </p:spPr>
        <p:txBody>
          <a:bodyPr wrap="square" lIns="0" tIns="0" rIns="0" bIns="0" rtlCol="0" anchor="ctr"/>
          <a:lstStyle/>
          <a:p>
            <a:pPr indent="0" marL="0">
              <a:buNone/>
            </a:pPr>
            <a:r>
              <a:rPr lang="en-US" sz="1300" b="1" dirty="0">
                <a:solidFill>
                  <a:srgbClr val="A093FF"/>
                </a:solidFill>
                <a:latin typeface="Calibri" pitchFamily="34" charset="0"/>
                <a:ea typeface="Calibri" pitchFamily="34" charset="-122"/>
                <a:cs typeface="Calibri" pitchFamily="34" charset="-120"/>
              </a:rPr>
              <a:t>11   </a:t>
            </a:r>
            <a:pPr indent="0" marL="0">
              <a:buNone/>
            </a:pPr>
            <a:r>
              <a:rPr lang="en-US" sz="1300" dirty="0">
                <a:solidFill>
                  <a:srgbClr val="FFFFFF"/>
                </a:solidFill>
                <a:latin typeface="Calibri" pitchFamily="34" charset="0"/>
                <a:ea typeface="Calibri" pitchFamily="34" charset="-122"/>
                <a:cs typeface="Calibri" pitchFamily="34" charset="-120"/>
              </a:rPr>
              <a:t>İnce durumlar: açık devre, karşı emk, öz-indüksiyon</a:t>
            </a:r>
            <a:endParaRPr lang="en-US" sz="1300" dirty="0"/>
          </a:p>
        </p:txBody>
      </p:sp>
      <p:sp>
        <p:nvSpPr>
          <p:cNvPr id="8" name="Text 6"/>
          <p:cNvSpPr txBox="1"/>
          <p:nvPr/>
        </p:nvSpPr>
        <p:spPr>
          <a:xfrm>
            <a:off x="731520" y="5230368"/>
            <a:ext cx="5120640" cy="329184"/>
          </a:xfrm>
          <a:prstGeom prst="rect">
            <a:avLst/>
          </a:prstGeom>
          <a:noFill/>
          <a:ln/>
        </p:spPr>
        <p:txBody>
          <a:bodyPr wrap="square" lIns="0" tIns="0" rIns="0" bIns="0" rtlCol="0" anchor="ctr"/>
          <a:lstStyle/>
          <a:p>
            <a:pPr indent="0" marL="0">
              <a:buNone/>
            </a:pPr>
            <a:r>
              <a:rPr lang="en-US" sz="1300" b="1" dirty="0">
                <a:solidFill>
                  <a:srgbClr val="A093FF"/>
                </a:solidFill>
                <a:latin typeface="Calibri" pitchFamily="34" charset="0"/>
                <a:ea typeface="Calibri" pitchFamily="34" charset="-122"/>
                <a:cs typeface="Calibri" pitchFamily="34" charset="-120"/>
              </a:rPr>
              <a:t>12   </a:t>
            </a:r>
            <a:pPr indent="0" marL="0">
              <a:buNone/>
            </a:pPr>
            <a:r>
              <a:rPr lang="en-US" sz="1300" dirty="0">
                <a:solidFill>
                  <a:srgbClr val="FFFFFF"/>
                </a:solidFill>
                <a:latin typeface="Calibri" pitchFamily="34" charset="0"/>
                <a:ea typeface="Calibri" pitchFamily="34" charset="-122"/>
                <a:cs typeface="Calibri" pitchFamily="34" charset="-120"/>
              </a:rPr>
              <a:t>İndüksiyon gerçek dünyada</a:t>
            </a:r>
            <a:endParaRPr lang="en-US" sz="1300" dirty="0"/>
          </a:p>
        </p:txBody>
      </p:sp>
      <p:sp>
        <p:nvSpPr>
          <p:cNvPr id="9" name="Shape 7"/>
          <p:cNvSpPr/>
          <p:nvPr/>
        </p:nvSpPr>
        <p:spPr>
          <a:xfrm>
            <a:off x="6117336" y="905256"/>
            <a:ext cx="5489143" cy="3696005"/>
          </a:xfrm>
          <a:prstGeom prst="roundRect">
            <a:avLst>
              <a:gd name="adj" fmla="val 3464"/>
            </a:avLst>
          </a:prstGeom>
          <a:solidFill>
            <a:srgbClr val="1C2542"/>
          </a:solidFill>
          <a:ln w="9525">
            <a:solidFill>
              <a:srgbClr val="2C3860"/>
            </a:solidFill>
            <a:prstDash val="solid"/>
          </a:ln>
        </p:spPr>
      </p:sp>
      <p:pic>
        <p:nvPicPr>
          <p:cNvPr id="10" name="Image 0" descr="/tmp/claude-1000/-opt-dersler/8a8328c3-841c-44fa-b76f-82572d338d3d/scratchpad/d4/sek/induksiyon-akimi-uygulama-kart.jpg">    </p:cNvPr>
          <p:cNvPicPr>
            <a:picLocks noChangeAspect="1"/>
          </p:cNvPicPr>
          <p:nvPr/>
        </p:nvPicPr>
        <p:blipFill>
          <a:blip r:embed="rId1"/>
          <a:stretch>
            <a:fillRect/>
          </a:stretch>
        </p:blipFill>
        <p:spPr>
          <a:xfrm>
            <a:off x="6172200" y="960120"/>
            <a:ext cx="5379415" cy="3586277"/>
          </a:xfrm>
          <a:prstGeom prst="rect">
            <a:avLst/>
          </a:prstGeom>
        </p:spPr>
      </p:pic>
      <p:sp>
        <p:nvSpPr>
          <p:cNvPr id="11" name="Shape 8"/>
          <p:cNvSpPr/>
          <p:nvPr/>
        </p:nvSpPr>
        <p:spPr>
          <a:xfrm>
            <a:off x="9704527" y="4198925"/>
            <a:ext cx="1755648" cy="246888"/>
          </a:xfrm>
          <a:prstGeom prst="roundRect">
            <a:avLst>
              <a:gd name="adj" fmla="val 48148"/>
            </a:avLst>
          </a:prstGeom>
          <a:solidFill>
            <a:srgbClr val="0E1426">
              <a:alpha val="60000"/>
            </a:srgbClr>
          </a:solidFill>
          <a:ln/>
        </p:spPr>
      </p:sp>
      <p:sp>
        <p:nvSpPr>
          <p:cNvPr id="12" name="Text 9"/>
          <p:cNvSpPr txBox="1"/>
          <p:nvPr/>
        </p:nvSpPr>
        <p:spPr>
          <a:xfrm>
            <a:off x="9704527" y="4198925"/>
            <a:ext cx="1755648" cy="246888"/>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Yapay zekâ ile üretildi</a:t>
            </a:r>
            <a:endParaRPr lang="en-US" sz="850" dirty="0"/>
          </a:p>
        </p:txBody>
      </p:sp>
      <p:sp>
        <p:nvSpPr>
          <p:cNvPr id="13" name="Text 10"/>
          <p:cNvSpPr txBox="1"/>
          <p:nvPr/>
        </p:nvSpPr>
        <p:spPr>
          <a:xfrm>
            <a:off x="6172200" y="4774997"/>
            <a:ext cx="5379415" cy="1214323"/>
          </a:xfrm>
          <a:prstGeom prst="rect">
            <a:avLst/>
          </a:prstGeom>
          <a:noFill/>
          <a:ln/>
        </p:spPr>
        <p:txBody>
          <a:bodyPr wrap="square" lIns="0" tIns="0" rIns="0" bIns="0" rtlCol="0" anchor="t"/>
          <a:lstStyle/>
          <a:p>
            <a:pPr indent="0" marL="0">
              <a:lnSpc>
                <a:spcPct val="115000"/>
              </a:lnSpc>
              <a:buNone/>
            </a:pPr>
            <a:r>
              <a:rPr lang="en-US" sz="1150" b="1" dirty="0">
                <a:solidFill>
                  <a:srgbClr val="FFFFFF"/>
                </a:solidFill>
                <a:latin typeface="Calibri" pitchFamily="34" charset="0"/>
                <a:ea typeface="Calibri" pitchFamily="34" charset="-122"/>
                <a:cs typeface="Calibri" pitchFamily="34" charset="-120"/>
              </a:rPr>
              <a:t>İndüksiyonlu ocakta</a:t>
            </a:r>
            <a:pPr indent="0" marL="0">
              <a:lnSpc>
                <a:spcPct val="115000"/>
              </a:lnSpc>
              <a:buNone/>
            </a:pPr>
            <a:r>
              <a:rPr lang="en-US" sz="1150" dirty="0">
                <a:solidFill>
                  <a:srgbClr val="C3CEE8"/>
                </a:solidFill>
                <a:latin typeface="Calibri" pitchFamily="34" charset="0"/>
                <a:ea typeface="Calibri" pitchFamily="34" charset="-122"/>
                <a:cs typeface="Calibri" pitchFamily="34" charset="-120"/>
              </a:rPr>
              <a:t> ısı camdan değil, tencerenin kendisinden doğar. Camın altındaki bobinin hızla değişen alanı çelik tabanda girdap akımları oluşturur ve tabanı ısıtır; cam yalnızca sıcak tencereye değdiği yerde ısınır. Yanındaki buz küpünün erimeden durabilmesi bundandır.</a:t>
            </a:r>
            <a:endParaRPr lang="en-US" sz="1150" dirty="0"/>
          </a:p>
        </p:txBody>
      </p:sp>
      <p:sp>
        <p:nvSpPr>
          <p:cNvPr id="14" name="Shape 11"/>
          <p:cNvSpPr/>
          <p:nvPr/>
        </p:nvSpPr>
        <p:spPr>
          <a:xfrm>
            <a:off x="640080" y="6382512"/>
            <a:ext cx="128016" cy="128016"/>
          </a:xfrm>
          <a:prstGeom prst="roundRect">
            <a:avLst>
              <a:gd name="adj" fmla="val 28571"/>
            </a:avLst>
          </a:prstGeom>
          <a:solidFill>
            <a:srgbClr val="C6F36B"/>
          </a:solidFill>
          <a:ln/>
        </p:spPr>
      </p:sp>
      <p:sp>
        <p:nvSpPr>
          <p:cNvPr id="15" name="Text 12"/>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6A7798"/>
                </a:solidFill>
                <a:latin typeface="Calibri" pitchFamily="34" charset="0"/>
                <a:ea typeface="Calibri" pitchFamily="34" charset="-122"/>
                <a:cs typeface="Calibri" pitchFamily="34" charset="-120"/>
              </a:rPr>
              <a:t>dersler.perinet.org/induksiyon-akimi.html</a:t>
            </a:r>
            <a:endParaRPr lang="en-US" sz="1050" dirty="0"/>
          </a:p>
        </p:txBody>
      </p:sp>
      <p:sp>
        <p:nvSpPr>
          <p:cNvPr id="16" name="Text 13"/>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6A7798"/>
                </a:solidFill>
                <a:latin typeface="Calibri" pitchFamily="34" charset="0"/>
                <a:ea typeface="Calibri" pitchFamily="34" charset="-122"/>
                <a:cs typeface="Calibri" pitchFamily="34" charset="-120"/>
              </a:rPr>
              <a:t>21</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Girdap akımları: bakır boru deneyi</a:t>
            </a:r>
            <a:endParaRPr lang="en-US" sz="3200" dirty="0"/>
          </a:p>
        </p:txBody>
      </p:sp>
      <p:sp>
        <p:nvSpPr>
          <p:cNvPr id="5" name="Text 3"/>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6" name="Shape 4"/>
          <p:cNvSpPr/>
          <p:nvPr/>
        </p:nvSpPr>
        <p:spPr>
          <a:xfrm>
            <a:off x="640080" y="1188720"/>
            <a:ext cx="10911535" cy="1185062"/>
          </a:xfrm>
          <a:prstGeom prst="roundRect">
            <a:avLst>
              <a:gd name="adj" fmla="val 9259"/>
            </a:avLst>
          </a:prstGeom>
          <a:solidFill>
            <a:srgbClr val="F8F9FC"/>
          </a:solidFill>
          <a:ln w="9525">
            <a:solidFill>
              <a:srgbClr val="E1E5EE"/>
            </a:solidFill>
            <a:prstDash val="solid"/>
          </a:ln>
        </p:spPr>
      </p:sp>
      <p:sp>
        <p:nvSpPr>
          <p:cNvPr id="7" name="Shape 5"/>
          <p:cNvSpPr/>
          <p:nvPr/>
        </p:nvSpPr>
        <p:spPr>
          <a:xfrm>
            <a:off x="658368" y="1298448"/>
            <a:ext cx="54864" cy="965606"/>
          </a:xfrm>
          <a:prstGeom prst="rect">
            <a:avLst/>
          </a:prstGeom>
          <a:solidFill>
            <a:srgbClr val="5F4BD8"/>
          </a:solidFill>
          <a:ln/>
        </p:spPr>
      </p:sp>
      <p:sp>
        <p:nvSpPr>
          <p:cNvPr id="8" name="Text 6"/>
          <p:cNvSpPr txBox="1"/>
          <p:nvPr/>
        </p:nvSpPr>
        <p:spPr>
          <a:xfrm>
            <a:off x="932688" y="1234440"/>
            <a:ext cx="10454335" cy="1093622"/>
          </a:xfrm>
          <a:prstGeom prst="rect">
            <a:avLst/>
          </a:prstGeom>
          <a:noFill/>
          <a:ln/>
        </p:spPr>
        <p:txBody>
          <a:bodyPr wrap="square" lIns="0" tIns="0" rIns="0" bIns="0" rtlCol="0" anchor="ctr"/>
          <a:lstStyle/>
          <a:p>
            <a:pPr indent="0" marL="0">
              <a:lnSpc>
                <a:spcPct val="112000"/>
              </a:lnSpc>
              <a:buNone/>
            </a:pPr>
            <a:r>
              <a:rPr lang="en-US" sz="1850" dirty="0">
                <a:solidFill>
                  <a:srgbClr val="0E1426"/>
                </a:solidFill>
                <a:latin typeface="Calibri" pitchFamily="34" charset="0"/>
                <a:ea typeface="Calibri" pitchFamily="34" charset="-122"/>
                <a:cs typeface="Calibri" pitchFamily="34" charset="-120"/>
              </a:rPr>
              <a:t>Değişen alanın içindeki iletkenlerde girdap akımları doğar ve Lenz yasası gereği hareketi frenler. Bakır boruda mıknatıs, plastik borudakinden on kattan fazla uzun sürede düşer.</a:t>
            </a:r>
            <a:endParaRPr lang="en-US" sz="1850" dirty="0"/>
          </a:p>
        </p:txBody>
      </p:sp>
      <p:sp>
        <p:nvSpPr>
          <p:cNvPr id="9" name="Text 7"/>
          <p:cNvSpPr txBox="1"/>
          <p:nvPr/>
        </p:nvSpPr>
        <p:spPr>
          <a:xfrm>
            <a:off x="640080" y="2593238"/>
            <a:ext cx="5486400" cy="2715768"/>
          </a:xfrm>
          <a:prstGeom prst="rect">
            <a:avLst/>
          </a:prstGeom>
          <a:noFill/>
          <a:ln/>
        </p:spPr>
        <p:txBody>
          <a:bodyPr wrap="square" lIns="0" tIns="0" rIns="0" bIns="0" rtlCol="0" anchor="t"/>
          <a:lstStyle/>
          <a:p>
            <a:pPr marL="203200" indent="-203200">
              <a:lnSpc>
                <a:spcPct val="115000"/>
              </a:lnSpc>
              <a:spcAft>
                <a:spcPts val="500"/>
              </a:spcAft>
              <a:buSzPct val="100000"/>
              <a:buChar char="▪"/>
            </a:pPr>
            <a:r>
              <a:rPr lang="en-US" sz="1600" b="1" dirty="0">
                <a:solidFill>
                  <a:srgbClr val="0E1426"/>
                </a:solidFill>
                <a:latin typeface="Calibri" pitchFamily="34" charset="0"/>
                <a:ea typeface="Calibri" pitchFamily="34" charset="-122"/>
                <a:cs typeface="Calibri" pitchFamily="34" charset="-120"/>
              </a:rPr>
              <a:t>Girdap akımı freni:</a:t>
            </a:r>
            <a:pPr indent="0" marL="0">
              <a:lnSpc>
                <a:spcPct val="115000"/>
              </a:lnSpc>
              <a:buNone/>
            </a:pPr>
            <a:r>
              <a:rPr lang="en-US" sz="1600" dirty="0">
                <a:solidFill>
                  <a:srgbClr val="4A5470"/>
                </a:solidFill>
                <a:latin typeface="Calibri" pitchFamily="34" charset="0"/>
                <a:ea typeface="Calibri" pitchFamily="34" charset="-122"/>
                <a:cs typeface="Calibri" pitchFamily="34" charset="-120"/>
              </a:rPr>
              <a:t> Lenz kuvvetiyle temassız frenleme; ağır vasıtalarda ve trenlerde balatayı aşındırmadan yavaşlatır.</a:t>
            </a:r>
            <a:endParaRPr lang="en-US" sz="1600" dirty="0"/>
          </a:p>
          <a:p>
            <a:pPr marL="203200" indent="-203200">
              <a:lnSpc>
                <a:spcPct val="115000"/>
              </a:lnSpc>
              <a:spcAft>
                <a:spcPts val="500"/>
              </a:spcAft>
              <a:buSzPct val="100000"/>
              <a:buChar char="▪"/>
            </a:pPr>
            <a:r>
              <a:rPr lang="en-US" sz="1600" b="1" dirty="0">
                <a:solidFill>
                  <a:srgbClr val="0E1426"/>
                </a:solidFill>
                <a:latin typeface="Calibri" pitchFamily="34" charset="0"/>
                <a:ea typeface="Calibri" pitchFamily="34" charset="-122"/>
                <a:cs typeface="Calibri" pitchFamily="34" charset="-120"/>
              </a:rPr>
              <a:t>Metal dedektörü:</a:t>
            </a:r>
            <a:pPr indent="0" marL="0">
              <a:lnSpc>
                <a:spcPct val="115000"/>
              </a:lnSpc>
              <a:buNone/>
            </a:pPr>
            <a:r>
              <a:rPr lang="en-US" sz="1600" dirty="0">
                <a:solidFill>
                  <a:srgbClr val="4A5470"/>
                </a:solidFill>
                <a:latin typeface="Calibri" pitchFamily="34" charset="0"/>
                <a:ea typeface="Calibri" pitchFamily="34" charset="-122"/>
                <a:cs typeface="Calibri" pitchFamily="34" charset="-120"/>
              </a:rPr>
              <a:t> değişen alan metalde girdap akımları doğurur; bu akımların alanı dedektörün bobinince algılanır.</a:t>
            </a:r>
            <a:endParaRPr lang="en-US" sz="1600" dirty="0"/>
          </a:p>
          <a:p>
            <a:pPr marL="203200" indent="-203200">
              <a:lnSpc>
                <a:spcPct val="115000"/>
              </a:lnSpc>
              <a:spcAft>
                <a:spcPts val="500"/>
              </a:spcAft>
              <a:buSzPct val="100000"/>
              <a:buChar char="▪"/>
            </a:pPr>
            <a:r>
              <a:rPr lang="en-US" sz="1600" b="1" dirty="0">
                <a:solidFill>
                  <a:srgbClr val="0E1426"/>
                </a:solidFill>
                <a:latin typeface="Calibri" pitchFamily="34" charset="0"/>
                <a:ea typeface="Calibri" pitchFamily="34" charset="-122"/>
                <a:cs typeface="Calibri" pitchFamily="34" charset="-120"/>
              </a:rPr>
              <a:t>İnce levhalı çekirdek:</a:t>
            </a:r>
            <a:pPr indent="0" marL="0">
              <a:lnSpc>
                <a:spcPct val="115000"/>
              </a:lnSpc>
              <a:buNone/>
            </a:pPr>
            <a:r>
              <a:rPr lang="en-US" sz="1600" dirty="0">
                <a:solidFill>
                  <a:srgbClr val="4A5470"/>
                </a:solidFill>
                <a:latin typeface="Calibri" pitchFamily="34" charset="0"/>
                <a:ea typeface="Calibri" pitchFamily="34" charset="-122"/>
                <a:cs typeface="Calibri" pitchFamily="34" charset="-120"/>
              </a:rPr>
              <a:t> transformatör çekirdekleri yalıtılmış ince levhalardan yapılır; girdap akımlarının yolu kesilir, ısı kaybı azalır.</a:t>
            </a:r>
            <a:endParaRPr lang="en-US" sz="1600" dirty="0"/>
          </a:p>
        </p:txBody>
      </p:sp>
      <p:sp>
        <p:nvSpPr>
          <p:cNvPr id="10" name="Shape 8"/>
          <p:cNvSpPr/>
          <p:nvPr/>
        </p:nvSpPr>
        <p:spPr>
          <a:xfrm>
            <a:off x="6419088" y="2593238"/>
            <a:ext cx="5132527" cy="3533242"/>
          </a:xfrm>
          <a:prstGeom prst="roundRect">
            <a:avLst>
              <a:gd name="adj" fmla="val 4141"/>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11" name="Image 0" descr="/tmp/claude-1000/-opt-dersler/8a8328c3-841c-44fa-b76f-82572d338d3d/scratchpad/d4/sek/induksiyon-akimi-07.png">    </p:cNvPr>
          <p:cNvPicPr>
            <a:picLocks noChangeAspect="1"/>
          </p:cNvPicPr>
          <p:nvPr/>
        </p:nvPicPr>
        <p:blipFill>
          <a:blip r:embed="rId1"/>
          <a:stretch>
            <a:fillRect/>
          </a:stretch>
        </p:blipFill>
        <p:spPr>
          <a:xfrm>
            <a:off x="6959215" y="2776118"/>
            <a:ext cx="4052272" cy="1890979"/>
          </a:xfrm>
          <a:prstGeom prst="rect">
            <a:avLst/>
          </a:prstGeom>
        </p:spPr>
      </p:pic>
      <p:sp>
        <p:nvSpPr>
          <p:cNvPr id="12" name="Shape 9"/>
          <p:cNvSpPr/>
          <p:nvPr/>
        </p:nvSpPr>
        <p:spPr>
          <a:xfrm>
            <a:off x="6601968" y="4758538"/>
            <a:ext cx="4766767" cy="0"/>
          </a:xfrm>
          <a:prstGeom prst="line">
            <a:avLst/>
          </a:prstGeom>
          <a:noFill/>
          <a:ln w="9525">
            <a:solidFill>
              <a:srgbClr val="E1E5EE"/>
            </a:solidFill>
            <a:prstDash val="dash"/>
          </a:ln>
        </p:spPr>
      </p:sp>
      <p:sp>
        <p:nvSpPr>
          <p:cNvPr id="13" name="Text 10"/>
          <p:cNvSpPr txBox="1"/>
          <p:nvPr/>
        </p:nvSpPr>
        <p:spPr>
          <a:xfrm>
            <a:off x="6601968" y="4813402"/>
            <a:ext cx="4766767" cy="1130198"/>
          </a:xfrm>
          <a:prstGeom prst="rect">
            <a:avLst/>
          </a:prstGeom>
          <a:noFill/>
          <a:ln/>
        </p:spPr>
        <p:txBody>
          <a:bodyPr wrap="square" lIns="0" tIns="0" rIns="0" bIns="0" rtlCol="0" anchor="t"/>
          <a:lstStyle/>
          <a:p>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Bakır mıknatıslanmaz — ama </a:t>
            </a:r>
            <a:pPr indent="0" marL="0">
              <a:lnSpc>
                <a:spcPct val="112000"/>
              </a:lnSpc>
              <a:buNone/>
            </a:pPr>
            <a:r>
              <a:rPr lang="en-US" sz="1050" b="1" dirty="0">
                <a:solidFill>
                  <a:srgbClr val="4A5470"/>
                </a:solidFill>
                <a:latin typeface="Calibri" pitchFamily="34" charset="0"/>
                <a:ea typeface="Calibri" pitchFamily="34" charset="-122"/>
                <a:cs typeface="Calibri" pitchFamily="34" charset="-120"/>
              </a:rPr>
              <a:t>iletkendir</a:t>
            </a:r>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 Mıknatıs boruya girerken boru duvarında halka halka </a:t>
            </a:r>
            <a:pPr indent="0" marL="0">
              <a:lnSpc>
                <a:spcPct val="112000"/>
              </a:lnSpc>
              <a:buNone/>
            </a:pPr>
            <a:r>
              <a:rPr lang="en-US" sz="1050" b="1" dirty="0">
                <a:solidFill>
                  <a:srgbClr val="4A5470"/>
                </a:solidFill>
                <a:latin typeface="Calibri" pitchFamily="34" charset="0"/>
                <a:ea typeface="Calibri" pitchFamily="34" charset="-122"/>
                <a:cs typeface="Calibri" pitchFamily="34" charset="-120"/>
              </a:rPr>
              <a:t>girdap akımları</a:t>
            </a:r>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 doğar ve Lenz yasası gereği bu akımlar mıknatısı frenler. Sonuç şaşırtıcı: aynı mıknatıs plastik boruda yarım saniyede düşerken bakır boruda </a:t>
            </a:r>
            <a:pPr indent="0" marL="0">
              <a:lnSpc>
                <a:spcPct val="112000"/>
              </a:lnSpc>
              <a:buNone/>
            </a:pPr>
            <a:r>
              <a:rPr lang="en-US" sz="1050" b="1" dirty="0">
                <a:solidFill>
                  <a:srgbClr val="4A5470"/>
                </a:solidFill>
                <a:latin typeface="Calibri" pitchFamily="34" charset="0"/>
                <a:ea typeface="Calibri" pitchFamily="34" charset="-122"/>
                <a:cs typeface="Calibri" pitchFamily="34" charset="-120"/>
              </a:rPr>
              <a:t>on kat</a:t>
            </a:r>
            <a:pPr indent="0" marL="0">
              <a:lnSpc>
                <a:spcPct val="112000"/>
              </a:lnSpc>
              <a:buNone/>
            </a:pPr>
            <a:r>
              <a:rPr lang="en-US" sz="1050" dirty="0">
                <a:solidFill>
                  <a:srgbClr val="7B849E"/>
                </a:solidFill>
                <a:latin typeface="Calibri" pitchFamily="34" charset="0"/>
                <a:ea typeface="Calibri" pitchFamily="34" charset="-122"/>
                <a:cs typeface="Calibri" pitchFamily="34" charset="-120"/>
              </a:rPr>
              <a:t> uzun sürede iner. Hiçbir temas, hiçbir sürtünme olmadan frenleme — aynı ilke ağır vasıtaların girdap akımı frenlerinde kullanılır.</a:t>
            </a:r>
            <a:endParaRPr lang="en-US" sz="1050" dirty="0"/>
          </a:p>
        </p:txBody>
      </p:sp>
      <p:sp>
        <p:nvSpPr>
          <p:cNvPr id="14" name="Shape 11"/>
          <p:cNvSpPr/>
          <p:nvPr/>
        </p:nvSpPr>
        <p:spPr>
          <a:xfrm>
            <a:off x="640080" y="6382512"/>
            <a:ext cx="128016" cy="128016"/>
          </a:xfrm>
          <a:prstGeom prst="roundRect">
            <a:avLst>
              <a:gd name="adj" fmla="val 28571"/>
            </a:avLst>
          </a:prstGeom>
          <a:solidFill>
            <a:srgbClr val="A9E648"/>
          </a:solidFill>
          <a:ln/>
        </p:spPr>
      </p:sp>
      <p:sp>
        <p:nvSpPr>
          <p:cNvPr id="15" name="Text 12"/>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dersler.perinet.org/induksiyon-akimi.html</a:t>
            </a:r>
            <a:endParaRPr lang="en-US" sz="1050" dirty="0"/>
          </a:p>
        </p:txBody>
      </p:sp>
      <p:sp>
        <p:nvSpPr>
          <p:cNvPr id="16" name="Text 13"/>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22</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Bakır boruyu boylamasına kesip ince bir yarık açarsan mıknatıs daha hızlı mı düşer?</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10 · Girdap akımları: bakır boru deneyi</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dersler.perinet.org/induksiyon-akimi.html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23</a:t>
            </a:r>
            <a:endParaRPr lang="en-US" sz="10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Bakır boruyu boylamasına kesip ince bir yarık açarsan mıknatıs daha hızlı mı düşer?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CFC8F5"/>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200" dirty="0">
                <a:solidFill>
                  <a:srgbClr val="0E1426"/>
                </a:solidFill>
                <a:latin typeface="Calibri" pitchFamily="34" charset="0"/>
                <a:ea typeface="Calibri" pitchFamily="34" charset="-122"/>
                <a:cs typeface="Calibri" pitchFamily="34" charset="-120"/>
              </a:rPr>
              <a:t>Evet. Girdap akımları borunun çevresinde halka biçiminde dolaşır; yarık bu halkaları keser. Akımlar zayıflayınca frenleyen kuvvet de zayıflar ve mıknatıs belirgin biçimde daha hızlı düşer. Transformatör çekirdeğini ince levhalara bölmek de aynı fikre dayanır.</a:t>
            </a:r>
            <a:endParaRPr lang="en-US" sz="22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dersler.perinet.org/induksiyon-akimi.html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24</a:t>
            </a:r>
            <a:endParaRPr lang="en-US"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2700" b="1" spc="-50" kern="0" dirty="0">
                <a:solidFill>
                  <a:srgbClr val="0E1426"/>
                </a:solidFill>
                <a:latin typeface="Cambria" pitchFamily="34" charset="0"/>
                <a:ea typeface="Cambria" pitchFamily="34" charset="-122"/>
                <a:cs typeface="Cambria" pitchFamily="34" charset="-120"/>
              </a:rPr>
              <a:t>İnce durumlar: açık devre, karşı emk, öz-indüksiyon</a:t>
            </a:r>
            <a:endParaRPr lang="en-US" sz="2700" dirty="0"/>
          </a:p>
        </p:txBody>
      </p:sp>
      <p:sp>
        <p:nvSpPr>
          <p:cNvPr id="5" name="Text 3"/>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6" name="Shape 4"/>
          <p:cNvSpPr/>
          <p:nvPr/>
        </p:nvSpPr>
        <p:spPr>
          <a:xfrm>
            <a:off x="640080" y="1188720"/>
            <a:ext cx="10911535" cy="886358"/>
          </a:xfrm>
          <a:prstGeom prst="roundRect">
            <a:avLst>
              <a:gd name="adj" fmla="val 12380"/>
            </a:avLst>
          </a:prstGeom>
          <a:solidFill>
            <a:srgbClr val="F8F9FC"/>
          </a:solidFill>
          <a:ln w="9525">
            <a:solidFill>
              <a:srgbClr val="E1E5EE"/>
            </a:solidFill>
            <a:prstDash val="solid"/>
          </a:ln>
        </p:spPr>
      </p:sp>
      <p:sp>
        <p:nvSpPr>
          <p:cNvPr id="7" name="Shape 5"/>
          <p:cNvSpPr/>
          <p:nvPr/>
        </p:nvSpPr>
        <p:spPr>
          <a:xfrm>
            <a:off x="658368" y="1298448"/>
            <a:ext cx="54864" cy="666902"/>
          </a:xfrm>
          <a:prstGeom prst="rect">
            <a:avLst/>
          </a:prstGeom>
          <a:solidFill>
            <a:srgbClr val="5F4BD8"/>
          </a:solidFill>
          <a:ln/>
        </p:spPr>
      </p:sp>
      <p:sp>
        <p:nvSpPr>
          <p:cNvPr id="8" name="Text 6"/>
          <p:cNvSpPr txBox="1"/>
          <p:nvPr/>
        </p:nvSpPr>
        <p:spPr>
          <a:xfrm>
            <a:off x="932688" y="1234440"/>
            <a:ext cx="10454335" cy="794918"/>
          </a:xfrm>
          <a:prstGeom prst="rect">
            <a:avLst/>
          </a:prstGeom>
          <a:noFill/>
          <a:ln/>
        </p:spPr>
        <p:txBody>
          <a:bodyPr wrap="square" lIns="0" tIns="0" rIns="0" bIns="0" rtlCol="0" anchor="ctr"/>
          <a:lstStyle/>
          <a:p>
            <a:pPr indent="0" marL="0">
              <a:lnSpc>
                <a:spcPct val="112000"/>
              </a:lnSpc>
              <a:buNone/>
            </a:pPr>
            <a:r>
              <a:rPr lang="en-US" sz="1900" dirty="0">
                <a:solidFill>
                  <a:srgbClr val="0E1426"/>
                </a:solidFill>
                <a:latin typeface="Calibri" pitchFamily="34" charset="0"/>
                <a:ea typeface="Calibri" pitchFamily="34" charset="-122"/>
                <a:cs typeface="Calibri" pitchFamily="34" charset="-120"/>
              </a:rPr>
              <a:t>Açık devrede emk vardır ama akım yoktur. Dönen motor karşı emk üretir ve akımını azaltır; bobin kendi akımındaki değişime de direnir (öz-indüksiyon).</a:t>
            </a:r>
            <a:endParaRPr lang="en-US" sz="1900" dirty="0"/>
          </a:p>
        </p:txBody>
      </p:sp>
      <p:sp>
        <p:nvSpPr>
          <p:cNvPr id="9" name="Text 7"/>
          <p:cNvSpPr txBox="1"/>
          <p:nvPr/>
        </p:nvSpPr>
        <p:spPr>
          <a:xfrm>
            <a:off x="640080" y="2294534"/>
            <a:ext cx="10911535" cy="2639568"/>
          </a:xfrm>
          <a:prstGeom prst="rect">
            <a:avLst/>
          </a:prstGeom>
          <a:noFill/>
          <a:ln/>
        </p:spPr>
        <p:txBody>
          <a:bodyPr wrap="square" lIns="0" tIns="0" rIns="0" bIns="0" rtlCol="0" anchor="t"/>
          <a:lstStyle/>
          <a:p>
            <a:pPr marL="203200" indent="-203200">
              <a:lnSpc>
                <a:spcPct val="115000"/>
              </a:lnSpc>
              <a:spcAft>
                <a:spcPts val="500"/>
              </a:spcAft>
              <a:buSzPct val="100000"/>
              <a:buChar char="▪"/>
            </a:pPr>
            <a:r>
              <a:rPr lang="en-US" sz="1700" b="1" dirty="0">
                <a:solidFill>
                  <a:srgbClr val="0E1426"/>
                </a:solidFill>
                <a:latin typeface="Calibri" pitchFamily="34" charset="0"/>
                <a:ea typeface="Calibri" pitchFamily="34" charset="-122"/>
                <a:cs typeface="Calibri" pitchFamily="34" charset="-120"/>
              </a:rPr>
              <a:t>Açık devre:</a:t>
            </a:r>
            <a:pPr indent="0" marL="0">
              <a:lnSpc>
                <a:spcPct val="115000"/>
              </a:lnSpc>
              <a:buNone/>
            </a:pPr>
            <a:r>
              <a:rPr lang="en-US" sz="1700" dirty="0">
                <a:solidFill>
                  <a:srgbClr val="4A5470"/>
                </a:solidFill>
                <a:latin typeface="Calibri" pitchFamily="34" charset="0"/>
                <a:ea typeface="Calibri" pitchFamily="34" charset="-122"/>
                <a:cs typeface="Calibri" pitchFamily="34" charset="-120"/>
              </a:rPr>
              <a:t> emk doğar ama akım akmaz. Uçağın kanat uçları arasında 0,6 V vardır, ama uçakla birlikte hareket eden bir devrenin akısı değişmediği için akım dolaşmaz.</a:t>
            </a:r>
            <a:endParaRPr lang="en-US" sz="1700" dirty="0"/>
          </a:p>
          <a:p>
            <a:pPr marL="203200" indent="-203200">
              <a:lnSpc>
                <a:spcPct val="115000"/>
              </a:lnSpc>
              <a:spcAft>
                <a:spcPts val="500"/>
              </a:spcAft>
              <a:buSzPct val="100000"/>
              <a:buChar char="▪"/>
            </a:pPr>
            <a:r>
              <a:rPr lang="en-US" sz="1700" b="1" dirty="0">
                <a:solidFill>
                  <a:srgbClr val="0E1426"/>
                </a:solidFill>
                <a:latin typeface="Calibri" pitchFamily="34" charset="0"/>
                <a:ea typeface="Calibri" pitchFamily="34" charset="-122"/>
                <a:cs typeface="Calibri" pitchFamily="34" charset="-120"/>
              </a:rPr>
              <a:t>Karşı emk:</a:t>
            </a:r>
            <a:pPr indent="0" marL="0">
              <a:lnSpc>
                <a:spcPct val="115000"/>
              </a:lnSpc>
              <a:buNone/>
            </a:pPr>
            <a:r>
              <a:rPr lang="en-US" sz="1700" dirty="0">
                <a:solidFill>
                  <a:srgbClr val="4A5470"/>
                </a:solidFill>
                <a:latin typeface="Calibri" pitchFamily="34" charset="0"/>
                <a:ea typeface="Calibri" pitchFamily="34" charset="-122"/>
                <a:cs typeface="Calibri" pitchFamily="34" charset="-120"/>
              </a:rPr>
              <a:t> dönen her motor aynı zamanda bir jeneratördür ve beslemeye karşı bir emk üretir. Motorun çektiği akım bu yüzden dönerken azalır.</a:t>
            </a:r>
            <a:endParaRPr lang="en-US" sz="1700" dirty="0"/>
          </a:p>
          <a:p>
            <a:pPr marL="203200" indent="-203200">
              <a:lnSpc>
                <a:spcPct val="115000"/>
              </a:lnSpc>
              <a:spcAft>
                <a:spcPts val="500"/>
              </a:spcAft>
              <a:buSzPct val="100000"/>
              <a:buChar char="▪"/>
            </a:pPr>
            <a:r>
              <a:rPr lang="en-US" sz="1700" b="1" dirty="0">
                <a:solidFill>
                  <a:srgbClr val="0E1426"/>
                </a:solidFill>
                <a:latin typeface="Calibri" pitchFamily="34" charset="0"/>
                <a:ea typeface="Calibri" pitchFamily="34" charset="-122"/>
                <a:cs typeface="Calibri" pitchFamily="34" charset="-120"/>
              </a:rPr>
              <a:t>Öz-indüksiyon:</a:t>
            </a:r>
            <a:pPr indent="0" marL="0">
              <a:lnSpc>
                <a:spcPct val="115000"/>
              </a:lnSpc>
              <a:buNone/>
            </a:pPr>
            <a:r>
              <a:rPr lang="en-US" sz="1700" dirty="0">
                <a:solidFill>
                  <a:srgbClr val="4A5470"/>
                </a:solidFill>
                <a:latin typeface="Calibri" pitchFamily="34" charset="0"/>
                <a:ea typeface="Calibri" pitchFamily="34" charset="-122"/>
                <a:cs typeface="Calibri" pitchFamily="34" charset="-120"/>
              </a:rPr>
              <a:t> bobinin kendi akımı değişince kendi akısı da değişir; bobin bu değişime direnir. Anahtar açılınca kıvılcım çıkması bundandır.</a:t>
            </a:r>
            <a:endParaRPr lang="en-US" sz="1700" dirty="0"/>
          </a:p>
          <a:p>
            <a:pPr marL="203200" indent="-203200">
              <a:lnSpc>
                <a:spcPct val="115000"/>
              </a:lnSpc>
              <a:spcAft>
                <a:spcPts val="500"/>
              </a:spcAft>
              <a:buSzPct val="100000"/>
              <a:buChar char="▪"/>
            </a:pPr>
            <a:r>
              <a:rPr lang="en-US" sz="1700" b="1" dirty="0">
                <a:solidFill>
                  <a:srgbClr val="0E1426"/>
                </a:solidFill>
                <a:latin typeface="Calibri" pitchFamily="34" charset="0"/>
                <a:ea typeface="Calibri" pitchFamily="34" charset="-122"/>
                <a:cs typeface="Calibri" pitchFamily="34" charset="-120"/>
              </a:rPr>
              <a:t>Doğru akım:</a:t>
            </a:r>
            <a:pPr indent="0" marL="0">
              <a:lnSpc>
                <a:spcPct val="115000"/>
              </a:lnSpc>
              <a:buNone/>
            </a:pPr>
            <a:r>
              <a:rPr lang="en-US" sz="1700" dirty="0">
                <a:solidFill>
                  <a:srgbClr val="4A5470"/>
                </a:solidFill>
                <a:latin typeface="Calibri" pitchFamily="34" charset="0"/>
                <a:ea typeface="Calibri" pitchFamily="34" charset="-122"/>
                <a:cs typeface="Calibri" pitchFamily="34" charset="-120"/>
              </a:rPr>
              <a:t> sabit akım sabit akı demektir; transformatör yalnızca akım açılıp kapanırken, yani akı değişirken emk üretir.</a:t>
            </a:r>
            <a:endParaRPr lang="en-US" sz="1700" dirty="0"/>
          </a:p>
        </p:txBody>
      </p:sp>
      <p:sp>
        <p:nvSpPr>
          <p:cNvPr id="10" name="Shape 8"/>
          <p:cNvSpPr/>
          <p:nvPr/>
        </p:nvSpPr>
        <p:spPr>
          <a:xfrm>
            <a:off x="640080" y="5043830"/>
            <a:ext cx="2432304" cy="457200"/>
          </a:xfrm>
          <a:prstGeom prst="roundRect">
            <a:avLst>
              <a:gd name="adj" fmla="val 24000"/>
            </a:avLst>
          </a:prstGeom>
          <a:solidFill>
            <a:srgbClr val="EEF2FC"/>
          </a:solidFill>
          <a:ln w="9525">
            <a:solidFill>
              <a:srgbClr val="CBD7F4"/>
            </a:solidFill>
            <a:prstDash val="solid"/>
          </a:ln>
        </p:spPr>
      </p:sp>
      <p:sp>
        <p:nvSpPr>
          <p:cNvPr id="11" name="Text 9"/>
          <p:cNvSpPr txBox="1"/>
          <p:nvPr/>
        </p:nvSpPr>
        <p:spPr>
          <a:xfrm>
            <a:off x="640080" y="5043830"/>
            <a:ext cx="2432304" cy="457200"/>
          </a:xfrm>
          <a:prstGeom prst="rect">
            <a:avLst/>
          </a:prstGeom>
          <a:noFill/>
          <a:ln/>
        </p:spPr>
        <p:txBody>
          <a:bodyPr wrap="square" lIns="0" tIns="0" rIns="0" bIns="0" rtlCol="0" anchor="ctr"/>
          <a:lstStyle/>
          <a:p>
            <a:pPr algn="ctr" indent="0" marL="0">
              <a:buNone/>
            </a:pPr>
            <a:r>
              <a:rPr lang="en-US" sz="1300" b="1" dirty="0">
                <a:solidFill>
                  <a:srgbClr val="2957D4"/>
                </a:solidFill>
                <a:latin typeface="Courier New" pitchFamily="34" charset="0"/>
                <a:ea typeface="Courier New" pitchFamily="34" charset="-122"/>
                <a:cs typeface="Courier New" pitchFamily="34" charset="-120"/>
              </a:rPr>
              <a:t>I = (V − εkarşı) / R</a:t>
            </a:r>
            <a:endParaRPr lang="en-US" sz="1300" dirty="0"/>
          </a:p>
        </p:txBody>
      </p:sp>
      <p:sp>
        <p:nvSpPr>
          <p:cNvPr id="12" name="Shape 10"/>
          <p:cNvSpPr/>
          <p:nvPr/>
        </p:nvSpPr>
        <p:spPr>
          <a:xfrm>
            <a:off x="640080" y="6382512"/>
            <a:ext cx="128016" cy="128016"/>
          </a:xfrm>
          <a:prstGeom prst="roundRect">
            <a:avLst>
              <a:gd name="adj" fmla="val 28571"/>
            </a:avLst>
          </a:prstGeom>
          <a:solidFill>
            <a:srgbClr val="A9E648"/>
          </a:solidFill>
          <a:ln/>
        </p:spPr>
      </p:sp>
      <p:sp>
        <p:nvSpPr>
          <p:cNvPr id="13" name="Text 1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dersler.perinet.org/induksiyon-akimi.html</a:t>
            </a:r>
            <a:endParaRPr lang="en-US" sz="1050" dirty="0"/>
          </a:p>
        </p:txBody>
      </p:sp>
      <p:sp>
        <p:nvSpPr>
          <p:cNvPr id="14" name="Text 12"/>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25</a:t>
            </a:r>
            <a:endParaRPr lang="en-US" sz="10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Bir elektrik motorunun mili sıkışıp dönemezse motor neden ısınıp yanabilir?</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11 · İnce durumlar: açık devre, karşı emk, öz-indüksiyon</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dersler.perinet.org/induksiyon-akimi.html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26</a:t>
            </a:r>
            <a:endParaRPr lang="en-US" sz="10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Bir elektrik motorunun mili sıkışıp dönemezse motor neden ısınıp yanabilir?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CFC8F5"/>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200" dirty="0">
                <a:solidFill>
                  <a:srgbClr val="0E1426"/>
                </a:solidFill>
                <a:latin typeface="Calibri" pitchFamily="34" charset="0"/>
                <a:ea typeface="Calibri" pitchFamily="34" charset="-122"/>
                <a:cs typeface="Calibri" pitchFamily="34" charset="-120"/>
              </a:rPr>
              <a:t>Mil dönmezse karşı emk doğmaz ve motor sürekli ilk anın büyük akımını çeker. Sargılarda açığa çıkan ısı akımın karesiyle büyür (I²R); 2 A yerine 12 A akması ısıyı 36 kat artırır. Sargıların yalıtımı bu ısıya dayanamaz ve motor yanar.</a:t>
            </a:r>
            <a:endParaRPr lang="en-US" sz="22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dersler.perinet.org/induksiyon-akimi.html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27</a:t>
            </a:r>
            <a:endParaRPr lang="en-US" sz="10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İndüksiyon gerçek dünyada</a:t>
            </a:r>
            <a:endParaRPr lang="en-US" sz="3200" dirty="0"/>
          </a:p>
        </p:txBody>
      </p:sp>
      <p:sp>
        <p:nvSpPr>
          <p:cNvPr id="5" name="Text 3"/>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6" name="Shape 4"/>
          <p:cNvSpPr/>
          <p:nvPr/>
        </p:nvSpPr>
        <p:spPr>
          <a:xfrm>
            <a:off x="640080" y="1188720"/>
            <a:ext cx="10911535" cy="1185062"/>
          </a:xfrm>
          <a:prstGeom prst="roundRect">
            <a:avLst>
              <a:gd name="adj" fmla="val 9259"/>
            </a:avLst>
          </a:prstGeom>
          <a:solidFill>
            <a:srgbClr val="F8F9FC"/>
          </a:solidFill>
          <a:ln w="9525">
            <a:solidFill>
              <a:srgbClr val="E1E5EE"/>
            </a:solidFill>
            <a:prstDash val="solid"/>
          </a:ln>
        </p:spPr>
      </p:sp>
      <p:sp>
        <p:nvSpPr>
          <p:cNvPr id="7" name="Shape 5"/>
          <p:cNvSpPr/>
          <p:nvPr/>
        </p:nvSpPr>
        <p:spPr>
          <a:xfrm>
            <a:off x="658368" y="1298448"/>
            <a:ext cx="54864" cy="965606"/>
          </a:xfrm>
          <a:prstGeom prst="rect">
            <a:avLst/>
          </a:prstGeom>
          <a:solidFill>
            <a:srgbClr val="5F4BD8"/>
          </a:solidFill>
          <a:ln/>
        </p:spPr>
      </p:sp>
      <p:sp>
        <p:nvSpPr>
          <p:cNvPr id="8" name="Text 6"/>
          <p:cNvSpPr txBox="1"/>
          <p:nvPr/>
        </p:nvSpPr>
        <p:spPr>
          <a:xfrm>
            <a:off x="932688" y="1234440"/>
            <a:ext cx="10454335" cy="1093622"/>
          </a:xfrm>
          <a:prstGeom prst="rect">
            <a:avLst/>
          </a:prstGeom>
          <a:noFill/>
          <a:ln/>
        </p:spPr>
        <p:txBody>
          <a:bodyPr wrap="square" lIns="0" tIns="0" rIns="0" bIns="0" rtlCol="0" anchor="ctr"/>
          <a:lstStyle/>
          <a:p>
            <a:pPr indent="0" marL="0">
              <a:lnSpc>
                <a:spcPct val="112000"/>
              </a:lnSpc>
              <a:buNone/>
            </a:pPr>
            <a:r>
              <a:rPr lang="en-US" sz="1850" dirty="0">
                <a:solidFill>
                  <a:srgbClr val="0E1426"/>
                </a:solidFill>
                <a:latin typeface="Calibri" pitchFamily="34" charset="0"/>
                <a:ea typeface="Calibri" pitchFamily="34" charset="-122"/>
                <a:cs typeface="Calibri" pitchFamily="34" charset="-120"/>
              </a:rPr>
              <a:t>Santraller, rüzgâr türbinleri, dinamolar, indüksiyonlu ocaklar, transformatörler ve temassız kartlar aynı ilkeyle çalışır: bir yerde akı değiştirilir, başka bir yerde akım doğar.</a:t>
            </a:r>
            <a:endParaRPr lang="en-US" sz="1850" dirty="0"/>
          </a:p>
        </p:txBody>
      </p:sp>
      <p:sp>
        <p:nvSpPr>
          <p:cNvPr id="9" name="Text 7"/>
          <p:cNvSpPr txBox="1"/>
          <p:nvPr/>
        </p:nvSpPr>
        <p:spPr>
          <a:xfrm>
            <a:off x="640080" y="2593238"/>
            <a:ext cx="10911535" cy="2142744"/>
          </a:xfrm>
          <a:prstGeom prst="rect">
            <a:avLst/>
          </a:prstGeom>
          <a:noFill/>
          <a:ln/>
        </p:spPr>
        <p:txBody>
          <a:bodyPr wrap="square" lIns="0" tIns="0" rIns="0" bIns="0" rtlCol="0" anchor="t"/>
          <a:lstStyle/>
          <a:p>
            <a:pPr marL="203200" indent="-203200">
              <a:lnSpc>
                <a:spcPct val="115000"/>
              </a:lnSpc>
              <a:spcAft>
                <a:spcPts val="500"/>
              </a:spcAft>
              <a:buSzPct val="100000"/>
              <a:buChar char="▪"/>
            </a:pPr>
            <a:r>
              <a:rPr lang="en-US" sz="1300" b="1" dirty="0">
                <a:solidFill>
                  <a:srgbClr val="0E1426"/>
                </a:solidFill>
                <a:latin typeface="Calibri" pitchFamily="34" charset="0"/>
                <a:ea typeface="Calibri" pitchFamily="34" charset="-122"/>
                <a:cs typeface="Calibri" pitchFamily="34" charset="-120"/>
              </a:rPr>
              <a:t>Santral jeneratörü:</a:t>
            </a:r>
            <a:pPr indent="0" marL="0">
              <a:lnSpc>
                <a:spcPct val="115000"/>
              </a:lnSpc>
              <a:buNone/>
            </a:pPr>
            <a:r>
              <a:rPr lang="en-US" sz="1300" dirty="0">
                <a:solidFill>
                  <a:srgbClr val="4A5470"/>
                </a:solidFill>
                <a:latin typeface="Calibri" pitchFamily="34" charset="0"/>
                <a:ea typeface="Calibri" pitchFamily="34" charset="-122"/>
                <a:cs typeface="Calibri" pitchFamily="34" charset="-120"/>
              </a:rPr>
              <a:t> iki kutuplu bir jeneratör 50 Hz üretmek için dakikada 3000 tur atar; barajlardaki çok kutuplu jeneratörler daha yavaş döner.</a:t>
            </a:r>
            <a:endParaRPr lang="en-US" sz="1300" dirty="0"/>
          </a:p>
          <a:p>
            <a:pPr marL="203200" indent="-203200">
              <a:lnSpc>
                <a:spcPct val="115000"/>
              </a:lnSpc>
              <a:spcAft>
                <a:spcPts val="500"/>
              </a:spcAft>
              <a:buSzPct val="100000"/>
              <a:buChar char="▪"/>
            </a:pPr>
            <a:r>
              <a:rPr lang="en-US" sz="1300" b="1" dirty="0">
                <a:solidFill>
                  <a:srgbClr val="0E1426"/>
                </a:solidFill>
                <a:latin typeface="Calibri" pitchFamily="34" charset="0"/>
                <a:ea typeface="Calibri" pitchFamily="34" charset="-122"/>
                <a:cs typeface="Calibri" pitchFamily="34" charset="-120"/>
              </a:rPr>
              <a:t>Rüzgâr türbini:</a:t>
            </a:r>
            <a:pPr indent="0" marL="0">
              <a:lnSpc>
                <a:spcPct val="115000"/>
              </a:lnSpc>
              <a:buNone/>
            </a:pPr>
            <a:r>
              <a:rPr lang="en-US" sz="1300" dirty="0">
                <a:solidFill>
                  <a:srgbClr val="4A5470"/>
                </a:solidFill>
                <a:latin typeface="Calibri" pitchFamily="34" charset="0"/>
                <a:ea typeface="Calibri" pitchFamily="34" charset="-122"/>
                <a:cs typeface="Calibri" pitchFamily="34" charset="-120"/>
              </a:rPr>
              <a:t> büyük kanatlar dakikada yalnızca 10–20 tur atar; dişli kutuları ya da elektronik dönüştürücüler bunu şebekeye uydurur.</a:t>
            </a:r>
            <a:endParaRPr lang="en-US" sz="1300" dirty="0"/>
          </a:p>
          <a:p>
            <a:pPr marL="203200" indent="-203200">
              <a:lnSpc>
                <a:spcPct val="115000"/>
              </a:lnSpc>
              <a:spcAft>
                <a:spcPts val="500"/>
              </a:spcAft>
              <a:buSzPct val="100000"/>
              <a:buChar char="▪"/>
            </a:pPr>
            <a:r>
              <a:rPr lang="en-US" sz="1300" b="1" dirty="0">
                <a:solidFill>
                  <a:srgbClr val="0E1426"/>
                </a:solidFill>
                <a:latin typeface="Calibri" pitchFamily="34" charset="0"/>
                <a:ea typeface="Calibri" pitchFamily="34" charset="-122"/>
                <a:cs typeface="Calibri" pitchFamily="34" charset="-120"/>
              </a:rPr>
              <a:t>İndüksiyonlu ocak:</a:t>
            </a:r>
            <a:pPr indent="0" marL="0">
              <a:lnSpc>
                <a:spcPct val="115000"/>
              </a:lnSpc>
              <a:buNone/>
            </a:pPr>
            <a:r>
              <a:rPr lang="en-US" sz="1300" dirty="0">
                <a:solidFill>
                  <a:srgbClr val="4A5470"/>
                </a:solidFill>
                <a:latin typeface="Calibri" pitchFamily="34" charset="0"/>
                <a:ea typeface="Calibri" pitchFamily="34" charset="-122"/>
                <a:cs typeface="Calibri" pitchFamily="34" charset="-120"/>
              </a:rPr>
              <a:t> bobinin akımı saniyede on binlerce kez yön değiştirir; ısı doğrudan tencerenin demir içeren tabanında doğar.</a:t>
            </a:r>
            <a:endParaRPr lang="en-US" sz="1300" dirty="0"/>
          </a:p>
          <a:p>
            <a:pPr marL="203200" indent="-203200">
              <a:lnSpc>
                <a:spcPct val="115000"/>
              </a:lnSpc>
              <a:spcAft>
                <a:spcPts val="500"/>
              </a:spcAft>
              <a:buSzPct val="100000"/>
              <a:buChar char="▪"/>
            </a:pPr>
            <a:r>
              <a:rPr lang="en-US" sz="1300" b="1" dirty="0">
                <a:solidFill>
                  <a:srgbClr val="0E1426"/>
                </a:solidFill>
                <a:latin typeface="Calibri" pitchFamily="34" charset="0"/>
                <a:ea typeface="Calibri" pitchFamily="34" charset="-122"/>
                <a:cs typeface="Calibri" pitchFamily="34" charset="-120"/>
              </a:rPr>
              <a:t>Bisiklet dinamosu:</a:t>
            </a:r>
            <a:pPr indent="0" marL="0">
              <a:lnSpc>
                <a:spcPct val="115000"/>
              </a:lnSpc>
              <a:buNone/>
            </a:pPr>
            <a:r>
              <a:rPr lang="en-US" sz="1300" dirty="0">
                <a:solidFill>
                  <a:srgbClr val="4A5470"/>
                </a:solidFill>
                <a:latin typeface="Calibri" pitchFamily="34" charset="0"/>
                <a:ea typeface="Calibri" pitchFamily="34" charset="-122"/>
                <a:cs typeface="Calibri" pitchFamily="34" charset="-120"/>
              </a:rPr>
              <a:t> tipik bir dinamo yaklaşık 6 V ve 3 W verir; bu, bir bisiklet farını yakmaya yeter.</a:t>
            </a:r>
            <a:endParaRPr lang="en-US" sz="1300" dirty="0"/>
          </a:p>
          <a:p>
            <a:pPr marL="203200" indent="-203200">
              <a:lnSpc>
                <a:spcPct val="115000"/>
              </a:lnSpc>
              <a:spcAft>
                <a:spcPts val="500"/>
              </a:spcAft>
              <a:buSzPct val="100000"/>
              <a:buChar char="▪"/>
            </a:pPr>
            <a:r>
              <a:rPr lang="en-US" sz="1300" b="1" dirty="0">
                <a:solidFill>
                  <a:srgbClr val="0E1426"/>
                </a:solidFill>
                <a:latin typeface="Calibri" pitchFamily="34" charset="0"/>
                <a:ea typeface="Calibri" pitchFamily="34" charset="-122"/>
                <a:cs typeface="Calibri" pitchFamily="34" charset="-120"/>
              </a:rPr>
              <a:t>Temassız kart:</a:t>
            </a:r>
            <a:pPr indent="0" marL="0">
              <a:lnSpc>
                <a:spcPct val="115000"/>
              </a:lnSpc>
              <a:buNone/>
            </a:pPr>
            <a:r>
              <a:rPr lang="en-US" sz="1300" dirty="0">
                <a:solidFill>
                  <a:srgbClr val="4A5470"/>
                </a:solidFill>
                <a:latin typeface="Calibri" pitchFamily="34" charset="0"/>
                <a:ea typeface="Calibri" pitchFamily="34" charset="-122"/>
                <a:cs typeface="Calibri" pitchFamily="34" charset="-120"/>
              </a:rPr>
              <a:t> okuyucunun 13,56 MHz'lik alanı karttaki anten bobininde akım doğurur; kartın pili yoktur.</a:t>
            </a:r>
            <a:endParaRPr lang="en-US" sz="13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dersler.perinet.org/induksiyon-akimi.html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28</a:t>
            </a:r>
            <a:endParaRPr lang="en-US" sz="10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İndüksiyon gerçek dünyada · devam</a:t>
            </a:r>
            <a:endParaRPr lang="en-US" sz="3200" dirty="0"/>
          </a:p>
        </p:txBody>
      </p:sp>
      <p:sp>
        <p:nvSpPr>
          <p:cNvPr id="5" name="Text 3"/>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640080" y="1481328"/>
          <a:ext cx="10911535" cy="914400"/>
        </p:xfrm>
        <a:graphic>
          <a:graphicData uri="http://schemas.openxmlformats.org/drawingml/2006/table">
            <a:tbl>
              <a:tblPr/>
              <a:tblGrid>
                <a:gridCol w="3386339"/>
                <a:gridCol w="7525197"/>
              </a:tblGrid>
              <a:tr h="338328">
                <a:tc>
                  <a:txBody>
                    <a:bodyPr/>
                    <a:lstStyle/>
                    <a:p>
                      <a:pPr indent="0" marL="0">
                        <a:buNone/>
                      </a:pPr>
                      <a:r>
                        <a:rPr lang="en-US" sz="1050" b="1" dirty="0">
                          <a:solidFill>
                            <a:srgbClr val="7B849E"/>
                          </a:solidFill>
                          <a:latin typeface="Calibri" pitchFamily="34" charset="0"/>
                          <a:ea typeface="Calibri" pitchFamily="34" charset="-122"/>
                          <a:cs typeface="Calibri" pitchFamily="34" charset="-120"/>
                        </a:rPr>
                        <a:t>Uygulama</a:t>
                      </a:r>
                      <a:endParaRPr lang="en-US" sz="105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050" b="1" dirty="0">
                          <a:solidFill>
                            <a:srgbClr val="7B849E"/>
                          </a:solidFill>
                          <a:latin typeface="Calibri" pitchFamily="34" charset="0"/>
                          <a:ea typeface="Calibri" pitchFamily="34" charset="-122"/>
                          <a:cs typeface="Calibri" pitchFamily="34" charset="-120"/>
                        </a:rPr>
                        <a:t>Nasıl çalışır</a:t>
                      </a:r>
                      <a:endParaRPr lang="en-US" sz="105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r>
              <a:tr h="338328">
                <a:tc>
                  <a:txBody>
                    <a:bodyPr/>
                    <a:lstStyle/>
                    <a:p>
                      <a:pPr indent="0" marL="0">
                        <a:buNone/>
                      </a:pPr>
                      <a:r>
                        <a:rPr lang="en-US" sz="1200" b="1" dirty="0">
                          <a:solidFill>
                            <a:srgbClr val="0E1426"/>
                          </a:solidFill>
                          <a:latin typeface="Calibri" pitchFamily="34" charset="0"/>
                          <a:ea typeface="Calibri" pitchFamily="34" charset="-122"/>
                          <a:cs typeface="Calibri" pitchFamily="34" charset="-120"/>
                        </a:rPr>
                        <a:t>Jeneratör / dinamo</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Dönen çerçevede akı değişimi</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338328">
                <a:tc>
                  <a:txBody>
                    <a:bodyPr/>
                    <a:lstStyle/>
                    <a:p>
                      <a:pPr indent="0" marL="0">
                        <a:buNone/>
                      </a:pPr>
                      <a:r>
                        <a:rPr lang="en-US" sz="1200" b="1" dirty="0">
                          <a:solidFill>
                            <a:srgbClr val="0E1426"/>
                          </a:solidFill>
                          <a:latin typeface="Calibri" pitchFamily="34" charset="0"/>
                          <a:ea typeface="Calibri" pitchFamily="34" charset="-122"/>
                          <a:cs typeface="Calibri" pitchFamily="34" charset="-120"/>
                        </a:rPr>
                        <a:t>Transformatör</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Değişen akımın ikinci bobinde akı değişimi yaratması</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338328">
                <a:tc>
                  <a:txBody>
                    <a:bodyPr/>
                    <a:lstStyle/>
                    <a:p>
                      <a:pPr indent="0" marL="0">
                        <a:buNone/>
                      </a:pPr>
                      <a:r>
                        <a:rPr lang="en-US" sz="1200" b="1" dirty="0">
                          <a:solidFill>
                            <a:srgbClr val="0E1426"/>
                          </a:solidFill>
                          <a:latin typeface="Calibri" pitchFamily="34" charset="0"/>
                          <a:ea typeface="Calibri" pitchFamily="34" charset="-122"/>
                          <a:cs typeface="Calibri" pitchFamily="34" charset="-120"/>
                        </a:rPr>
                        <a:t>Kablosuz şarj</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Bobinden bobine akı aktarımı</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338328">
                <a:tc>
                  <a:txBody>
                    <a:bodyPr/>
                    <a:lstStyle/>
                    <a:p>
                      <a:pPr indent="0" marL="0">
                        <a:buNone/>
                      </a:pPr>
                      <a:r>
                        <a:rPr lang="en-US" sz="1200" b="1" dirty="0">
                          <a:solidFill>
                            <a:srgbClr val="0E1426"/>
                          </a:solidFill>
                          <a:latin typeface="Calibri" pitchFamily="34" charset="0"/>
                          <a:ea typeface="Calibri" pitchFamily="34" charset="-122"/>
                          <a:cs typeface="Calibri" pitchFamily="34" charset="-120"/>
                        </a:rPr>
                        <a:t>Metal dedektör</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Metalde doğan girdap akımlarının alanı bozması</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338328">
                <a:tc>
                  <a:txBody>
                    <a:bodyPr/>
                    <a:lstStyle/>
                    <a:p>
                      <a:pPr indent="0" marL="0">
                        <a:buNone/>
                      </a:pPr>
                      <a:r>
                        <a:rPr lang="en-US" sz="1200" b="1" dirty="0">
                          <a:solidFill>
                            <a:srgbClr val="0E1426"/>
                          </a:solidFill>
                          <a:latin typeface="Calibri" pitchFamily="34" charset="0"/>
                          <a:ea typeface="Calibri" pitchFamily="34" charset="-122"/>
                          <a:cs typeface="Calibri" pitchFamily="34" charset="-120"/>
                        </a:rPr>
                        <a:t>İndüksiyonlu ocak</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200" dirty="0">
                          <a:solidFill>
                            <a:srgbClr val="4A5470"/>
                          </a:solidFill>
                          <a:latin typeface="Calibri" pitchFamily="34" charset="0"/>
                          <a:ea typeface="Calibri" pitchFamily="34" charset="-122"/>
                          <a:cs typeface="Calibri" pitchFamily="34" charset="-120"/>
                        </a:rPr>
                        <a:t>Tencere tabanında doğan girdap akımlarının ısıtması</a:t>
                      </a:r>
                      <a:endParaRPr lang="en-US" sz="1200" dirty="0">
                        <a:latin typeface="Calibri" charset="0"/>
                        <a:ea typeface="Calibri" charset="0"/>
                        <a:cs typeface="Calibri" charset="0"/>
                      </a:endParaRPr>
                    </a:p>
                  </a:txBody>
                  <a:tcPr marL="76200" marR="76200" marT="38100" marB="381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bl>
          </a:graphicData>
        </a:graphic>
      </p:graphicFrame>
      <p:sp>
        <p:nvSpPr>
          <p:cNvPr id="7" name="Shape 4"/>
          <p:cNvSpPr/>
          <p:nvPr/>
        </p:nvSpPr>
        <p:spPr>
          <a:xfrm>
            <a:off x="640080" y="6382512"/>
            <a:ext cx="128016" cy="128016"/>
          </a:xfrm>
          <a:prstGeom prst="roundRect">
            <a:avLst>
              <a:gd name="adj" fmla="val 28571"/>
            </a:avLst>
          </a:prstGeom>
          <a:solidFill>
            <a:srgbClr val="A9E648"/>
          </a:solidFill>
          <a:ln/>
        </p:spPr>
      </p:sp>
      <p:sp>
        <p:nvSpPr>
          <p:cNvPr id="8" name="Text 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dersler.perinet.org/induksiyon-akimi.html</a:t>
            </a:r>
            <a:endParaRPr lang="en-US" sz="1050" dirty="0"/>
          </a:p>
        </p:txBody>
      </p:sp>
      <p:sp>
        <p:nvSpPr>
          <p:cNvPr id="9" name="Text 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29</a:t>
            </a:r>
            <a:endParaRPr lang="en-US" sz="10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E1426"/>
        </a:solidFill>
      </p:bgPr>
    </p:bg>
    <p:spTree>
      <p:nvGrpSpPr>
        <p:cNvPr id="1" name=""/>
        <p:cNvGrpSpPr/>
        <p:nvPr/>
      </p:nvGrpSpPr>
      <p:grpSpPr>
        <a:xfrm>
          <a:off x="0" y="0"/>
          <a:ext cx="0" cy="0"/>
          <a:chOff x="0" y="0"/>
          <a:chExt cx="0" cy="0"/>
        </a:xfrm>
      </p:grpSpPr>
      <p:sp>
        <p:nvSpPr>
          <p:cNvPr id="2" name="Text 0"/>
          <p:cNvSpPr txBox="1"/>
          <p:nvPr/>
        </p:nvSpPr>
        <p:spPr>
          <a:xfrm>
            <a:off x="685800" y="365760"/>
            <a:ext cx="1828800" cy="1874520"/>
          </a:xfrm>
          <a:prstGeom prst="rect">
            <a:avLst/>
          </a:prstGeom>
          <a:noFill/>
          <a:ln/>
        </p:spPr>
        <p:txBody>
          <a:bodyPr wrap="square" lIns="0" tIns="0" rIns="0" bIns="0" rtlCol="0" anchor="ctr"/>
          <a:lstStyle/>
          <a:p>
            <a:pPr indent="0" marL="0">
              <a:buNone/>
            </a:pPr>
            <a:r>
              <a:rPr lang="en-US" sz="11600" b="1" dirty="0">
                <a:solidFill>
                  <a:srgbClr val="FFCB6B"/>
                </a:solidFill>
                <a:latin typeface="Cambria" pitchFamily="34" charset="0"/>
                <a:ea typeface="Cambria" pitchFamily="34" charset="-122"/>
                <a:cs typeface="Cambria" pitchFamily="34" charset="-120"/>
              </a:rPr>
              <a:t>4</a:t>
            </a:r>
            <a:endParaRPr lang="en-US" sz="11600" dirty="0"/>
          </a:p>
        </p:txBody>
      </p:sp>
      <p:sp>
        <p:nvSpPr>
          <p:cNvPr id="3" name="Text 1"/>
          <p:cNvSpPr txBox="1"/>
          <p:nvPr/>
        </p:nvSpPr>
        <p:spPr>
          <a:xfrm>
            <a:off x="731520" y="2286000"/>
            <a:ext cx="4572000" cy="292608"/>
          </a:xfrm>
          <a:prstGeom prst="rect">
            <a:avLst/>
          </a:prstGeom>
          <a:noFill/>
          <a:ln/>
        </p:spPr>
        <p:txBody>
          <a:bodyPr wrap="square" lIns="0" tIns="0" rIns="0" bIns="0" rtlCol="0" anchor="ctr"/>
          <a:lstStyle/>
          <a:p>
            <a:pPr indent="0" marL="0">
              <a:buNone/>
            </a:pPr>
            <a:r>
              <a:rPr lang="en-US" sz="1200" b="1" spc="300" kern="0" dirty="0">
                <a:solidFill>
                  <a:srgbClr val="FFCB6B"/>
                </a:solidFill>
                <a:latin typeface="Calibri" pitchFamily="34" charset="0"/>
                <a:ea typeface="Calibri" pitchFamily="34" charset="-122"/>
                <a:cs typeface="Calibri" pitchFamily="34" charset="-120"/>
              </a:rPr>
              <a:t>BASAMAK 4 / 4</a:t>
            </a:r>
            <a:endParaRPr lang="en-US" sz="1200" dirty="0"/>
          </a:p>
        </p:txBody>
      </p:sp>
      <p:sp>
        <p:nvSpPr>
          <p:cNvPr id="4" name="Text 2"/>
          <p:cNvSpPr txBox="1"/>
          <p:nvPr/>
        </p:nvSpPr>
        <p:spPr>
          <a:xfrm>
            <a:off x="685800" y="2578608"/>
            <a:ext cx="5120640" cy="822960"/>
          </a:xfrm>
          <a:prstGeom prst="rect">
            <a:avLst/>
          </a:prstGeom>
          <a:noFill/>
          <a:ln/>
        </p:spPr>
        <p:txBody>
          <a:bodyPr wrap="square" lIns="0" tIns="0" rIns="0" bIns="0" rtlCol="0" anchor="ctr"/>
          <a:lstStyle/>
          <a:p>
            <a:pPr indent="0" marL="0">
              <a:buNone/>
            </a:pPr>
            <a:r>
              <a:rPr lang="en-US" sz="4600" b="1" spc="-100" kern="0" dirty="0">
                <a:solidFill>
                  <a:srgbClr val="FFFFFF"/>
                </a:solidFill>
                <a:latin typeface="Cambria" pitchFamily="34" charset="0"/>
                <a:ea typeface="Cambria" pitchFamily="34" charset="-122"/>
                <a:cs typeface="Cambria" pitchFamily="34" charset="-120"/>
              </a:rPr>
              <a:t>Pekiştir</a:t>
            </a:r>
            <a:endParaRPr lang="en-US" sz="4600" dirty="0"/>
          </a:p>
        </p:txBody>
      </p:sp>
      <p:sp>
        <p:nvSpPr>
          <p:cNvPr id="5" name="Text 3"/>
          <p:cNvSpPr txBox="1"/>
          <p:nvPr/>
        </p:nvSpPr>
        <p:spPr>
          <a:xfrm>
            <a:off x="731520" y="3474720"/>
            <a:ext cx="4846320" cy="914400"/>
          </a:xfrm>
          <a:prstGeom prst="rect">
            <a:avLst/>
          </a:prstGeom>
          <a:noFill/>
          <a:ln/>
        </p:spPr>
        <p:txBody>
          <a:bodyPr wrap="square" lIns="0" tIns="0" rIns="0" bIns="0" rtlCol="0" anchor="t"/>
          <a:lstStyle/>
          <a:p>
            <a:pPr indent="0" marL="0">
              <a:lnSpc>
                <a:spcPct val="120000"/>
              </a:lnSpc>
              <a:buNone/>
            </a:pPr>
            <a:r>
              <a:rPr lang="en-US" sz="1600" dirty="0">
                <a:solidFill>
                  <a:srgbClr val="C3CEE8"/>
                </a:solidFill>
                <a:latin typeface="Calibri" pitchFamily="34" charset="0"/>
                <a:ea typeface="Calibri" pitchFamily="34" charset="-122"/>
                <a:cs typeface="Calibri" pitchFamily="34" charset="-120"/>
              </a:rPr>
              <a:t>Kolaydan zora çözümlü örnekler ve sınavda puan kaybettiren klasik hatalar.</a:t>
            </a:r>
            <a:endParaRPr lang="en-US" sz="1600" dirty="0"/>
          </a:p>
        </p:txBody>
      </p:sp>
      <p:sp>
        <p:nvSpPr>
          <p:cNvPr id="6" name="Text 4"/>
          <p:cNvSpPr txBox="1"/>
          <p:nvPr/>
        </p:nvSpPr>
        <p:spPr>
          <a:xfrm>
            <a:off x="731520" y="4572000"/>
            <a:ext cx="5120640" cy="329184"/>
          </a:xfrm>
          <a:prstGeom prst="rect">
            <a:avLst/>
          </a:prstGeom>
          <a:noFill/>
          <a:ln/>
        </p:spPr>
        <p:txBody>
          <a:bodyPr wrap="square" lIns="0" tIns="0" rIns="0" bIns="0" rtlCol="0" anchor="ctr"/>
          <a:lstStyle/>
          <a:p>
            <a:pPr indent="0" marL="0">
              <a:buNone/>
            </a:pPr>
            <a:r>
              <a:rPr lang="en-US" sz="1300" b="1" dirty="0">
                <a:solidFill>
                  <a:srgbClr val="FFCB6B"/>
                </a:solidFill>
                <a:latin typeface="Calibri" pitchFamily="34" charset="0"/>
                <a:ea typeface="Calibri" pitchFamily="34" charset="-122"/>
                <a:cs typeface="Calibri" pitchFamily="34" charset="-120"/>
              </a:rPr>
              <a:t>13   </a:t>
            </a:r>
            <a:pPr indent="0" marL="0">
              <a:buNone/>
            </a:pPr>
            <a:r>
              <a:rPr lang="en-US" sz="1300" dirty="0">
                <a:solidFill>
                  <a:srgbClr val="FFFFFF"/>
                </a:solidFill>
                <a:latin typeface="Calibri" pitchFamily="34" charset="0"/>
                <a:ea typeface="Calibri" pitchFamily="34" charset="-122"/>
                <a:cs typeface="Calibri" pitchFamily="34" charset="-120"/>
              </a:rPr>
              <a:t>Çözümlü örnekler</a:t>
            </a:r>
            <a:endParaRPr lang="en-US" sz="1300" dirty="0"/>
          </a:p>
        </p:txBody>
      </p:sp>
      <p:sp>
        <p:nvSpPr>
          <p:cNvPr id="7" name="Text 5"/>
          <p:cNvSpPr txBox="1"/>
          <p:nvPr/>
        </p:nvSpPr>
        <p:spPr>
          <a:xfrm>
            <a:off x="731520" y="4901184"/>
            <a:ext cx="5120640" cy="329184"/>
          </a:xfrm>
          <a:prstGeom prst="rect">
            <a:avLst/>
          </a:prstGeom>
          <a:noFill/>
          <a:ln/>
        </p:spPr>
        <p:txBody>
          <a:bodyPr wrap="square" lIns="0" tIns="0" rIns="0" bIns="0" rtlCol="0" anchor="ctr"/>
          <a:lstStyle/>
          <a:p>
            <a:pPr indent="0" marL="0">
              <a:buNone/>
            </a:pPr>
            <a:r>
              <a:rPr lang="en-US" sz="1300" b="1" dirty="0">
                <a:solidFill>
                  <a:srgbClr val="FFCB6B"/>
                </a:solidFill>
                <a:latin typeface="Calibri" pitchFamily="34" charset="0"/>
                <a:ea typeface="Calibri" pitchFamily="34" charset="-122"/>
                <a:cs typeface="Calibri" pitchFamily="34" charset="-120"/>
              </a:rPr>
              <a:t>14   </a:t>
            </a:r>
            <a:pPr indent="0" marL="0">
              <a:buNone/>
            </a:pPr>
            <a:r>
              <a:rPr lang="en-US" sz="1300" dirty="0">
                <a:solidFill>
                  <a:srgbClr val="FFFFFF"/>
                </a:solidFill>
                <a:latin typeface="Calibri" pitchFamily="34" charset="0"/>
                <a:ea typeface="Calibri" pitchFamily="34" charset="-122"/>
                <a:cs typeface="Calibri" pitchFamily="34" charset="-120"/>
              </a:rPr>
              <a:t>Sık yapılan hatalar</a:t>
            </a:r>
            <a:endParaRPr lang="en-US" sz="1300" dirty="0"/>
          </a:p>
        </p:txBody>
      </p:sp>
      <p:sp>
        <p:nvSpPr>
          <p:cNvPr id="8" name="Text 6"/>
          <p:cNvSpPr txBox="1"/>
          <p:nvPr/>
        </p:nvSpPr>
        <p:spPr>
          <a:xfrm>
            <a:off x="6172200" y="1097280"/>
            <a:ext cx="5379415" cy="274320"/>
          </a:xfrm>
          <a:prstGeom prst="rect">
            <a:avLst/>
          </a:prstGeom>
          <a:noFill/>
          <a:ln/>
        </p:spPr>
        <p:txBody>
          <a:bodyPr wrap="square" lIns="0" tIns="0" rIns="0" bIns="0" rtlCol="0" anchor="ctr"/>
          <a:lstStyle/>
          <a:p>
            <a:pPr indent="0" marL="0">
              <a:buNone/>
            </a:pPr>
            <a:r>
              <a:rPr lang="en-US" sz="1050" b="1" spc="200" kern="0" dirty="0">
                <a:solidFill>
                  <a:srgbClr val="8D97B5"/>
                </a:solidFill>
                <a:latin typeface="Calibri" pitchFamily="34" charset="0"/>
                <a:ea typeface="Calibri" pitchFamily="34" charset="-122"/>
                <a:cs typeface="Calibri" pitchFamily="34" charset="-120"/>
              </a:rPr>
              <a:t>KOLAYDAN ZORA 6 ÇÖZÜMLÜ ÖRNEK</a:t>
            </a:r>
            <a:endParaRPr lang="en-US" sz="1050" dirty="0"/>
          </a:p>
        </p:txBody>
      </p:sp>
      <p:sp>
        <p:nvSpPr>
          <p:cNvPr id="9" name="Shape 7"/>
          <p:cNvSpPr/>
          <p:nvPr/>
        </p:nvSpPr>
        <p:spPr>
          <a:xfrm>
            <a:off x="6172200" y="1481328"/>
            <a:ext cx="5379415" cy="512064"/>
          </a:xfrm>
          <a:prstGeom prst="roundRect">
            <a:avLst>
              <a:gd name="adj" fmla="val 17857"/>
            </a:avLst>
          </a:prstGeom>
          <a:solidFill>
            <a:srgbClr val="1C2542"/>
          </a:solidFill>
          <a:ln w="9525">
            <a:solidFill>
              <a:srgbClr val="2C3860"/>
            </a:solidFill>
            <a:prstDash val="solid"/>
          </a:ln>
        </p:spPr>
      </p:sp>
      <p:sp>
        <p:nvSpPr>
          <p:cNvPr id="10" name="Text 8"/>
          <p:cNvSpPr txBox="1"/>
          <p:nvPr/>
        </p:nvSpPr>
        <p:spPr>
          <a:xfrm>
            <a:off x="6400800" y="1481328"/>
            <a:ext cx="3916375" cy="51206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1   Akının açıya bağlılığı</a:t>
            </a:r>
            <a:endParaRPr lang="en-US" sz="1300" dirty="0"/>
          </a:p>
        </p:txBody>
      </p:sp>
      <p:sp>
        <p:nvSpPr>
          <p:cNvPr id="11" name="Text 9"/>
          <p:cNvSpPr txBox="1"/>
          <p:nvPr/>
        </p:nvSpPr>
        <p:spPr>
          <a:xfrm>
            <a:off x="10362895" y="1481328"/>
            <a:ext cx="1005840" cy="512064"/>
          </a:xfrm>
          <a:prstGeom prst="rect">
            <a:avLst/>
          </a:prstGeom>
          <a:noFill/>
          <a:ln/>
        </p:spPr>
        <p:txBody>
          <a:bodyPr wrap="square" lIns="0" tIns="0" rIns="0" bIns="0" rtlCol="0" anchor="ctr"/>
          <a:lstStyle/>
          <a:p>
            <a:pPr algn="r" indent="0" marL="0">
              <a:buNone/>
            </a:pPr>
            <a:r>
              <a:rPr lang="en-US" sz="1050" b="1" spc="200" kern="0" dirty="0">
                <a:solidFill>
                  <a:srgbClr val="C6F36B"/>
                </a:solidFill>
                <a:latin typeface="Calibri" pitchFamily="34" charset="0"/>
                <a:ea typeface="Calibri" pitchFamily="34" charset="-122"/>
                <a:cs typeface="Calibri" pitchFamily="34" charset="-120"/>
              </a:rPr>
              <a:t>KOLAY</a:t>
            </a:r>
            <a:endParaRPr lang="en-US" sz="1050" dirty="0"/>
          </a:p>
        </p:txBody>
      </p:sp>
      <p:sp>
        <p:nvSpPr>
          <p:cNvPr id="12" name="Shape 10"/>
          <p:cNvSpPr/>
          <p:nvPr/>
        </p:nvSpPr>
        <p:spPr>
          <a:xfrm>
            <a:off x="6172200" y="2084832"/>
            <a:ext cx="5379415" cy="512064"/>
          </a:xfrm>
          <a:prstGeom prst="roundRect">
            <a:avLst>
              <a:gd name="adj" fmla="val 17857"/>
            </a:avLst>
          </a:prstGeom>
          <a:solidFill>
            <a:srgbClr val="1C2542"/>
          </a:solidFill>
          <a:ln w="9525">
            <a:solidFill>
              <a:srgbClr val="2C3860"/>
            </a:solidFill>
            <a:prstDash val="solid"/>
          </a:ln>
        </p:spPr>
      </p:sp>
      <p:sp>
        <p:nvSpPr>
          <p:cNvPr id="13" name="Text 11"/>
          <p:cNvSpPr txBox="1"/>
          <p:nvPr/>
        </p:nvSpPr>
        <p:spPr>
          <a:xfrm>
            <a:off x="6400800" y="2084832"/>
            <a:ext cx="3916375" cy="51206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2   Akı değişiminden emk</a:t>
            </a:r>
            <a:endParaRPr lang="en-US" sz="1300" dirty="0"/>
          </a:p>
        </p:txBody>
      </p:sp>
      <p:sp>
        <p:nvSpPr>
          <p:cNvPr id="14" name="Text 12"/>
          <p:cNvSpPr txBox="1"/>
          <p:nvPr/>
        </p:nvSpPr>
        <p:spPr>
          <a:xfrm>
            <a:off x="10362895" y="2084832"/>
            <a:ext cx="1005840" cy="512064"/>
          </a:xfrm>
          <a:prstGeom prst="rect">
            <a:avLst/>
          </a:prstGeom>
          <a:noFill/>
          <a:ln/>
        </p:spPr>
        <p:txBody>
          <a:bodyPr wrap="square" lIns="0" tIns="0" rIns="0" bIns="0" rtlCol="0" anchor="ctr"/>
          <a:lstStyle/>
          <a:p>
            <a:pPr algn="r" indent="0" marL="0">
              <a:buNone/>
            </a:pPr>
            <a:r>
              <a:rPr lang="en-US" sz="1050" b="1" spc="200" kern="0" dirty="0">
                <a:solidFill>
                  <a:srgbClr val="C6F36B"/>
                </a:solidFill>
                <a:latin typeface="Calibri" pitchFamily="34" charset="0"/>
                <a:ea typeface="Calibri" pitchFamily="34" charset="-122"/>
                <a:cs typeface="Calibri" pitchFamily="34" charset="-120"/>
              </a:rPr>
              <a:t>KOLAY</a:t>
            </a:r>
            <a:endParaRPr lang="en-US" sz="1050" dirty="0"/>
          </a:p>
        </p:txBody>
      </p:sp>
      <p:sp>
        <p:nvSpPr>
          <p:cNvPr id="15" name="Shape 13"/>
          <p:cNvSpPr/>
          <p:nvPr/>
        </p:nvSpPr>
        <p:spPr>
          <a:xfrm>
            <a:off x="6172200" y="2688336"/>
            <a:ext cx="5379415" cy="512064"/>
          </a:xfrm>
          <a:prstGeom prst="roundRect">
            <a:avLst>
              <a:gd name="adj" fmla="val 17857"/>
            </a:avLst>
          </a:prstGeom>
          <a:solidFill>
            <a:srgbClr val="1C2542"/>
          </a:solidFill>
          <a:ln w="9525">
            <a:solidFill>
              <a:srgbClr val="2C3860"/>
            </a:solidFill>
            <a:prstDash val="solid"/>
          </a:ln>
        </p:spPr>
      </p:sp>
      <p:sp>
        <p:nvSpPr>
          <p:cNvPr id="16" name="Text 14"/>
          <p:cNvSpPr txBox="1"/>
          <p:nvPr/>
        </p:nvSpPr>
        <p:spPr>
          <a:xfrm>
            <a:off x="6400800" y="2688336"/>
            <a:ext cx="3916375" cy="51206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3   Lenz yasasıyla yön</a:t>
            </a:r>
            <a:endParaRPr lang="en-US" sz="1300" dirty="0"/>
          </a:p>
        </p:txBody>
      </p:sp>
      <p:sp>
        <p:nvSpPr>
          <p:cNvPr id="17" name="Text 15"/>
          <p:cNvSpPr txBox="1"/>
          <p:nvPr/>
        </p:nvSpPr>
        <p:spPr>
          <a:xfrm>
            <a:off x="10362895" y="2688336"/>
            <a:ext cx="1005840" cy="512064"/>
          </a:xfrm>
          <a:prstGeom prst="rect">
            <a:avLst/>
          </a:prstGeom>
          <a:noFill/>
          <a:ln/>
        </p:spPr>
        <p:txBody>
          <a:bodyPr wrap="square" lIns="0" tIns="0" rIns="0" bIns="0" rtlCol="0" anchor="ctr"/>
          <a:lstStyle/>
          <a:p>
            <a:pPr algn="r" indent="0" marL="0">
              <a:buNone/>
            </a:pPr>
            <a:r>
              <a:rPr lang="en-US" sz="1050" b="1" spc="200" kern="0" dirty="0">
                <a:solidFill>
                  <a:srgbClr val="82AAFF"/>
                </a:solidFill>
                <a:latin typeface="Calibri" pitchFamily="34" charset="0"/>
                <a:ea typeface="Calibri" pitchFamily="34" charset="-122"/>
                <a:cs typeface="Calibri" pitchFamily="34" charset="-120"/>
              </a:rPr>
              <a:t>ORTA</a:t>
            </a:r>
            <a:endParaRPr lang="en-US" sz="1050" dirty="0"/>
          </a:p>
        </p:txBody>
      </p:sp>
      <p:sp>
        <p:nvSpPr>
          <p:cNvPr id="18" name="Shape 16"/>
          <p:cNvSpPr/>
          <p:nvPr/>
        </p:nvSpPr>
        <p:spPr>
          <a:xfrm>
            <a:off x="6172200" y="3291840"/>
            <a:ext cx="5379415" cy="512064"/>
          </a:xfrm>
          <a:prstGeom prst="roundRect">
            <a:avLst>
              <a:gd name="adj" fmla="val 17857"/>
            </a:avLst>
          </a:prstGeom>
          <a:solidFill>
            <a:srgbClr val="1C2542"/>
          </a:solidFill>
          <a:ln w="9525">
            <a:solidFill>
              <a:srgbClr val="2C3860"/>
            </a:solidFill>
            <a:prstDash val="solid"/>
          </a:ln>
        </p:spPr>
      </p:sp>
      <p:sp>
        <p:nvSpPr>
          <p:cNvPr id="19" name="Text 17"/>
          <p:cNvSpPr txBox="1"/>
          <p:nvPr/>
        </p:nvSpPr>
        <p:spPr>
          <a:xfrm>
            <a:off x="6400800" y="3291840"/>
            <a:ext cx="3916375" cy="51206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4   Hareketli çubuk</a:t>
            </a:r>
            <a:endParaRPr lang="en-US" sz="1300" dirty="0"/>
          </a:p>
        </p:txBody>
      </p:sp>
      <p:sp>
        <p:nvSpPr>
          <p:cNvPr id="20" name="Text 18"/>
          <p:cNvSpPr txBox="1"/>
          <p:nvPr/>
        </p:nvSpPr>
        <p:spPr>
          <a:xfrm>
            <a:off x="10362895" y="3291840"/>
            <a:ext cx="1005840" cy="512064"/>
          </a:xfrm>
          <a:prstGeom prst="rect">
            <a:avLst/>
          </a:prstGeom>
          <a:noFill/>
          <a:ln/>
        </p:spPr>
        <p:txBody>
          <a:bodyPr wrap="square" lIns="0" tIns="0" rIns="0" bIns="0" rtlCol="0" anchor="ctr"/>
          <a:lstStyle/>
          <a:p>
            <a:pPr algn="r" indent="0" marL="0">
              <a:buNone/>
            </a:pPr>
            <a:r>
              <a:rPr lang="en-US" sz="1050" b="1" spc="200" kern="0" dirty="0">
                <a:solidFill>
                  <a:srgbClr val="82AAFF"/>
                </a:solidFill>
                <a:latin typeface="Calibri" pitchFamily="34" charset="0"/>
                <a:ea typeface="Calibri" pitchFamily="34" charset="-122"/>
                <a:cs typeface="Calibri" pitchFamily="34" charset="-120"/>
              </a:rPr>
              <a:t>ORTA</a:t>
            </a:r>
            <a:endParaRPr lang="en-US" sz="1050" dirty="0"/>
          </a:p>
        </p:txBody>
      </p:sp>
      <p:sp>
        <p:nvSpPr>
          <p:cNvPr id="21" name="Shape 19"/>
          <p:cNvSpPr/>
          <p:nvPr/>
        </p:nvSpPr>
        <p:spPr>
          <a:xfrm>
            <a:off x="6172200" y="3895344"/>
            <a:ext cx="5379415" cy="512064"/>
          </a:xfrm>
          <a:prstGeom prst="roundRect">
            <a:avLst>
              <a:gd name="adj" fmla="val 17857"/>
            </a:avLst>
          </a:prstGeom>
          <a:solidFill>
            <a:srgbClr val="1C2542"/>
          </a:solidFill>
          <a:ln w="9525">
            <a:solidFill>
              <a:srgbClr val="2C3860"/>
            </a:solidFill>
            <a:prstDash val="solid"/>
          </a:ln>
        </p:spPr>
      </p:sp>
      <p:sp>
        <p:nvSpPr>
          <p:cNvPr id="22" name="Text 20"/>
          <p:cNvSpPr txBox="1"/>
          <p:nvPr/>
        </p:nvSpPr>
        <p:spPr>
          <a:xfrm>
            <a:off x="6400800" y="3895344"/>
            <a:ext cx="3916375" cy="51206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5   Jeneratörün tepe emk'si</a:t>
            </a:r>
            <a:endParaRPr lang="en-US" sz="1300" dirty="0"/>
          </a:p>
        </p:txBody>
      </p:sp>
      <p:sp>
        <p:nvSpPr>
          <p:cNvPr id="23" name="Text 21"/>
          <p:cNvSpPr txBox="1"/>
          <p:nvPr/>
        </p:nvSpPr>
        <p:spPr>
          <a:xfrm>
            <a:off x="10362895" y="3895344"/>
            <a:ext cx="1005840" cy="512064"/>
          </a:xfrm>
          <a:prstGeom prst="rect">
            <a:avLst/>
          </a:prstGeom>
          <a:noFill/>
          <a:ln/>
        </p:spPr>
        <p:txBody>
          <a:bodyPr wrap="square" lIns="0" tIns="0" rIns="0" bIns="0" rtlCol="0" anchor="ctr"/>
          <a:lstStyle/>
          <a:p>
            <a:pPr algn="r" indent="0" marL="0">
              <a:buNone/>
            </a:pPr>
            <a:r>
              <a:rPr lang="en-US" sz="1050" b="1" spc="200" kern="0" dirty="0">
                <a:solidFill>
                  <a:srgbClr val="FF8FA3"/>
                </a:solidFill>
                <a:latin typeface="Calibri" pitchFamily="34" charset="0"/>
                <a:ea typeface="Calibri" pitchFamily="34" charset="-122"/>
                <a:cs typeface="Calibri" pitchFamily="34" charset="-120"/>
              </a:rPr>
              <a:t>ZOR</a:t>
            </a:r>
            <a:endParaRPr lang="en-US" sz="1050" dirty="0"/>
          </a:p>
        </p:txBody>
      </p:sp>
      <p:sp>
        <p:nvSpPr>
          <p:cNvPr id="24" name="Shape 22"/>
          <p:cNvSpPr/>
          <p:nvPr/>
        </p:nvSpPr>
        <p:spPr>
          <a:xfrm>
            <a:off x="6172200" y="4498848"/>
            <a:ext cx="5379415" cy="512064"/>
          </a:xfrm>
          <a:prstGeom prst="roundRect">
            <a:avLst>
              <a:gd name="adj" fmla="val 17857"/>
            </a:avLst>
          </a:prstGeom>
          <a:solidFill>
            <a:srgbClr val="1C2542"/>
          </a:solidFill>
          <a:ln w="9525">
            <a:solidFill>
              <a:srgbClr val="2C3860"/>
            </a:solidFill>
            <a:prstDash val="solid"/>
          </a:ln>
        </p:spPr>
      </p:sp>
      <p:sp>
        <p:nvSpPr>
          <p:cNvPr id="25" name="Text 23"/>
          <p:cNvSpPr txBox="1"/>
          <p:nvPr/>
        </p:nvSpPr>
        <p:spPr>
          <a:xfrm>
            <a:off x="6400800" y="4498848"/>
            <a:ext cx="3916375" cy="51206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6   Sabit kuvvetle çekilen çubuk</a:t>
            </a:r>
            <a:endParaRPr lang="en-US" sz="1300" dirty="0"/>
          </a:p>
        </p:txBody>
      </p:sp>
      <p:sp>
        <p:nvSpPr>
          <p:cNvPr id="26" name="Text 24"/>
          <p:cNvSpPr txBox="1"/>
          <p:nvPr/>
        </p:nvSpPr>
        <p:spPr>
          <a:xfrm>
            <a:off x="10362895" y="4498848"/>
            <a:ext cx="1005840" cy="512064"/>
          </a:xfrm>
          <a:prstGeom prst="rect">
            <a:avLst/>
          </a:prstGeom>
          <a:noFill/>
          <a:ln/>
        </p:spPr>
        <p:txBody>
          <a:bodyPr wrap="square" lIns="0" tIns="0" rIns="0" bIns="0" rtlCol="0" anchor="ctr"/>
          <a:lstStyle/>
          <a:p>
            <a:pPr algn="r" indent="0" marL="0">
              <a:buNone/>
            </a:pPr>
            <a:r>
              <a:rPr lang="en-US" sz="1050" b="1" spc="200" kern="0" dirty="0">
                <a:solidFill>
                  <a:srgbClr val="FF8FA3"/>
                </a:solidFill>
                <a:latin typeface="Calibri" pitchFamily="34" charset="0"/>
                <a:ea typeface="Calibri" pitchFamily="34" charset="-122"/>
                <a:cs typeface="Calibri" pitchFamily="34" charset="-120"/>
              </a:rPr>
              <a:t>ZOR</a:t>
            </a:r>
            <a:endParaRPr lang="en-US" sz="1050" dirty="0"/>
          </a:p>
        </p:txBody>
      </p:sp>
      <p:sp>
        <p:nvSpPr>
          <p:cNvPr id="27" name="Shape 25"/>
          <p:cNvSpPr/>
          <p:nvPr/>
        </p:nvSpPr>
        <p:spPr>
          <a:xfrm>
            <a:off x="640080" y="6382512"/>
            <a:ext cx="128016" cy="128016"/>
          </a:xfrm>
          <a:prstGeom prst="roundRect">
            <a:avLst>
              <a:gd name="adj" fmla="val 28571"/>
            </a:avLst>
          </a:prstGeom>
          <a:solidFill>
            <a:srgbClr val="C6F36B"/>
          </a:solidFill>
          <a:ln/>
        </p:spPr>
      </p:sp>
      <p:sp>
        <p:nvSpPr>
          <p:cNvPr id="28" name="Text 2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6A7798"/>
                </a:solidFill>
                <a:latin typeface="Calibri" pitchFamily="34" charset="0"/>
                <a:ea typeface="Calibri" pitchFamily="34" charset="-122"/>
                <a:cs typeface="Calibri" pitchFamily="34" charset="-120"/>
              </a:rPr>
              <a:t>dersler.perinet.org/induksiyon-akimi.html</a:t>
            </a:r>
            <a:endParaRPr lang="en-US" sz="1050" dirty="0"/>
          </a:p>
        </p:txBody>
      </p:sp>
      <p:sp>
        <p:nvSpPr>
          <p:cNvPr id="29" name="Text 2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6A7798"/>
                </a:solidFill>
                <a:latin typeface="Calibri" pitchFamily="34" charset="0"/>
                <a:ea typeface="Calibri" pitchFamily="34" charset="-122"/>
                <a:cs typeface="Calibri" pitchFamily="34" charset="-120"/>
              </a:rPr>
              <a:t>30</a:t>
            </a:r>
            <a:endParaRPr lang="en-US" sz="10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Çözümlü örnek 1 / 6</a:t>
            </a:r>
            <a:endParaRPr lang="en-US" sz="3200" dirty="0"/>
          </a:p>
        </p:txBody>
      </p:sp>
      <p:sp>
        <p:nvSpPr>
          <p:cNvPr id="5" name="Shape 3"/>
          <p:cNvSpPr/>
          <p:nvPr/>
        </p:nvSpPr>
        <p:spPr>
          <a:xfrm>
            <a:off x="10408615" y="512064"/>
            <a:ext cx="1143000" cy="384048"/>
          </a:xfrm>
          <a:prstGeom prst="roundRect">
            <a:avLst>
              <a:gd name="adj" fmla="val 50000"/>
            </a:avLst>
          </a:prstGeom>
          <a:solidFill>
            <a:srgbClr val="EAF7DC"/>
          </a:solidFill>
          <a:ln w="9525">
            <a:solidFill>
              <a:srgbClr val="3C8C21"/>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Akının açıya bağlılığı</a:t>
            </a:r>
            <a:endParaRPr lang="en-US" sz="1450" dirty="0"/>
          </a:p>
        </p:txBody>
      </p:sp>
      <p:sp>
        <p:nvSpPr>
          <p:cNvPr id="8" name="Shape 6"/>
          <p:cNvSpPr/>
          <p:nvPr/>
        </p:nvSpPr>
        <p:spPr>
          <a:xfrm>
            <a:off x="640080" y="1627632"/>
            <a:ext cx="4297680" cy="4517136"/>
          </a:xfrm>
          <a:prstGeom prst="roundRect">
            <a:avLst>
              <a:gd name="adj" fmla="val 3404"/>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32688" y="1847088"/>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32688" y="2176272"/>
            <a:ext cx="3712464" cy="1493520"/>
          </a:xfrm>
          <a:prstGeom prst="rect">
            <a:avLst/>
          </a:prstGeom>
          <a:noFill/>
          <a:ln/>
        </p:spPr>
        <p:txBody>
          <a:bodyPr wrap="square" lIns="0" tIns="0" rIns="0" bIns="0" rtlCol="0" anchor="t"/>
          <a:lstStyle/>
          <a:p>
            <a:pPr indent="0" marL="0">
              <a:lnSpc>
                <a:spcPct val="118000"/>
              </a:lnSpc>
              <a:buNone/>
            </a:pPr>
            <a:r>
              <a:rPr lang="en-US" sz="1600" dirty="0">
                <a:solidFill>
                  <a:srgbClr val="0E1426"/>
                </a:solidFill>
                <a:latin typeface="Calibri" pitchFamily="34" charset="0"/>
                <a:ea typeface="Calibri" pitchFamily="34" charset="-122"/>
                <a:cs typeface="Calibri" pitchFamily="34" charset="-120"/>
              </a:rPr>
              <a:t>Alanı 0,2 m² olan bir çerçeve, 0,4 T'lık düzgün alan içinde duruyor. Çerçevenin normali alanla (a) 0°, (b) 60°, (c) 90° açı yaptığında akı kaç Wb olur?</a:t>
            </a:r>
            <a:endParaRPr lang="en-US" sz="1600" dirty="0"/>
          </a:p>
        </p:txBody>
      </p:sp>
      <p:sp>
        <p:nvSpPr>
          <p:cNvPr id="11" name="Shape 9"/>
          <p:cNvSpPr/>
          <p:nvPr/>
        </p:nvSpPr>
        <p:spPr>
          <a:xfrm>
            <a:off x="5212080" y="1627632"/>
            <a:ext cx="6339535" cy="912836"/>
          </a:xfrm>
          <a:prstGeom prst="roundRect">
            <a:avLst>
              <a:gd name="adj" fmla="val 16027"/>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5449824" y="1892026"/>
            <a:ext cx="384048" cy="384048"/>
          </a:xfrm>
          <a:prstGeom prst="roundRect">
            <a:avLst>
              <a:gd name="adj" fmla="val 26000"/>
            </a:avLst>
          </a:prstGeom>
          <a:solidFill>
            <a:srgbClr val="A56209"/>
          </a:solidFill>
          <a:ln/>
        </p:spPr>
      </p:sp>
      <p:sp>
        <p:nvSpPr>
          <p:cNvPr id="13" name="Text 11"/>
          <p:cNvSpPr txBox="1"/>
          <p:nvPr/>
        </p:nvSpPr>
        <p:spPr>
          <a:xfrm>
            <a:off x="5449824" y="1892026"/>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a:t>
            </a:r>
            <a:endParaRPr lang="en-US" sz="1150" dirty="0"/>
          </a:p>
        </p:txBody>
      </p:sp>
      <p:sp>
        <p:nvSpPr>
          <p:cNvPr id="14" name="Text 12"/>
          <p:cNvSpPr txBox="1"/>
          <p:nvPr/>
        </p:nvSpPr>
        <p:spPr>
          <a:xfrm>
            <a:off x="5989320" y="1682496"/>
            <a:ext cx="5379415" cy="803108"/>
          </a:xfrm>
          <a:prstGeom prst="rect">
            <a:avLst/>
          </a:prstGeom>
          <a:noFill/>
          <a:ln/>
        </p:spPr>
        <p:txBody>
          <a:bodyPr wrap="square" lIns="0" tIns="0" rIns="0" bIns="0" rtlCol="0" anchor="ctr"/>
          <a:lstStyle/>
          <a:p>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(a)</a:t>
            </a:r>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 Φ = B·A·cos0° = 0,4 · 0,2 · 1 = </a:t>
            </a:r>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0,08 Wb</a:t>
            </a:r>
            <a:endParaRPr lang="en-US" sz="1600" dirty="0"/>
          </a:p>
        </p:txBody>
      </p:sp>
      <p:sp>
        <p:nvSpPr>
          <p:cNvPr id="15" name="Shape 13"/>
          <p:cNvSpPr/>
          <p:nvPr/>
        </p:nvSpPr>
        <p:spPr>
          <a:xfrm>
            <a:off x="5212080" y="2686772"/>
            <a:ext cx="6339535" cy="912836"/>
          </a:xfrm>
          <a:prstGeom prst="roundRect">
            <a:avLst>
              <a:gd name="adj" fmla="val 16027"/>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5449824" y="2951166"/>
            <a:ext cx="384048" cy="384048"/>
          </a:xfrm>
          <a:prstGeom prst="roundRect">
            <a:avLst>
              <a:gd name="adj" fmla="val 26000"/>
            </a:avLst>
          </a:prstGeom>
          <a:solidFill>
            <a:srgbClr val="A56209"/>
          </a:solidFill>
          <a:ln/>
        </p:spPr>
      </p:sp>
      <p:sp>
        <p:nvSpPr>
          <p:cNvPr id="17" name="Text 15"/>
          <p:cNvSpPr txBox="1"/>
          <p:nvPr/>
        </p:nvSpPr>
        <p:spPr>
          <a:xfrm>
            <a:off x="5449824" y="2951166"/>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2</a:t>
            </a:r>
            <a:endParaRPr lang="en-US" sz="1150" dirty="0"/>
          </a:p>
        </p:txBody>
      </p:sp>
      <p:sp>
        <p:nvSpPr>
          <p:cNvPr id="18" name="Text 16"/>
          <p:cNvSpPr txBox="1"/>
          <p:nvPr/>
        </p:nvSpPr>
        <p:spPr>
          <a:xfrm>
            <a:off x="5989320" y="2741636"/>
            <a:ext cx="5379415" cy="803108"/>
          </a:xfrm>
          <a:prstGeom prst="rect">
            <a:avLst/>
          </a:prstGeom>
          <a:noFill/>
          <a:ln/>
        </p:spPr>
        <p:txBody>
          <a:bodyPr wrap="square" lIns="0" tIns="0" rIns="0" bIns="0" rtlCol="0" anchor="ctr"/>
          <a:lstStyle/>
          <a:p>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(b)</a:t>
            </a:r>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 Φ = 0,08 · cos60° = 0,08 · 0,5 = </a:t>
            </a:r>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0,04 Wb</a:t>
            </a:r>
            <a:endParaRPr lang="en-US" sz="1600" dirty="0"/>
          </a:p>
        </p:txBody>
      </p:sp>
      <p:sp>
        <p:nvSpPr>
          <p:cNvPr id="19" name="Shape 17"/>
          <p:cNvSpPr/>
          <p:nvPr/>
        </p:nvSpPr>
        <p:spPr>
          <a:xfrm>
            <a:off x="5212080" y="3745912"/>
            <a:ext cx="6339535" cy="912836"/>
          </a:xfrm>
          <a:prstGeom prst="roundRect">
            <a:avLst>
              <a:gd name="adj" fmla="val 16027"/>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0" name="Shape 18"/>
          <p:cNvSpPr/>
          <p:nvPr/>
        </p:nvSpPr>
        <p:spPr>
          <a:xfrm>
            <a:off x="5449824" y="4010306"/>
            <a:ext cx="384048" cy="384048"/>
          </a:xfrm>
          <a:prstGeom prst="roundRect">
            <a:avLst>
              <a:gd name="adj" fmla="val 26000"/>
            </a:avLst>
          </a:prstGeom>
          <a:solidFill>
            <a:srgbClr val="A56209"/>
          </a:solidFill>
          <a:ln/>
        </p:spPr>
      </p:sp>
      <p:sp>
        <p:nvSpPr>
          <p:cNvPr id="21" name="Text 19"/>
          <p:cNvSpPr txBox="1"/>
          <p:nvPr/>
        </p:nvSpPr>
        <p:spPr>
          <a:xfrm>
            <a:off x="5449824" y="4010306"/>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3</a:t>
            </a:r>
            <a:endParaRPr lang="en-US" sz="1150" dirty="0"/>
          </a:p>
        </p:txBody>
      </p:sp>
      <p:sp>
        <p:nvSpPr>
          <p:cNvPr id="22" name="Text 20"/>
          <p:cNvSpPr txBox="1"/>
          <p:nvPr/>
        </p:nvSpPr>
        <p:spPr>
          <a:xfrm>
            <a:off x="5989320" y="3800776"/>
            <a:ext cx="5379415" cy="803108"/>
          </a:xfrm>
          <a:prstGeom prst="rect">
            <a:avLst/>
          </a:prstGeom>
          <a:noFill/>
          <a:ln/>
        </p:spPr>
        <p:txBody>
          <a:bodyPr wrap="square" lIns="0" tIns="0" rIns="0" bIns="0" rtlCol="0" anchor="ctr"/>
          <a:lstStyle/>
          <a:p>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(c)</a:t>
            </a:r>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 Φ = 0,08 · cos90° = </a:t>
            </a:r>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0</a:t>
            </a:r>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 (alan yüzeye paralel)</a:t>
            </a:r>
            <a:endParaRPr lang="en-US" sz="1600" dirty="0"/>
          </a:p>
        </p:txBody>
      </p:sp>
      <p:sp>
        <p:nvSpPr>
          <p:cNvPr id="23" name="Shape 21"/>
          <p:cNvSpPr/>
          <p:nvPr/>
        </p:nvSpPr>
        <p:spPr>
          <a:xfrm>
            <a:off x="5212080" y="4805052"/>
            <a:ext cx="6339535" cy="1339716"/>
          </a:xfrm>
          <a:prstGeom prst="roundRect">
            <a:avLst>
              <a:gd name="adj" fmla="val 10921"/>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4" name="Shape 22"/>
          <p:cNvSpPr/>
          <p:nvPr/>
        </p:nvSpPr>
        <p:spPr>
          <a:xfrm>
            <a:off x="5449824" y="5282886"/>
            <a:ext cx="384048" cy="384048"/>
          </a:xfrm>
          <a:prstGeom prst="roundRect">
            <a:avLst>
              <a:gd name="adj" fmla="val 26000"/>
            </a:avLst>
          </a:prstGeom>
          <a:solidFill>
            <a:srgbClr val="A56209"/>
          </a:solidFill>
          <a:ln/>
        </p:spPr>
      </p:sp>
      <p:sp>
        <p:nvSpPr>
          <p:cNvPr id="25" name="Text 23"/>
          <p:cNvSpPr txBox="1"/>
          <p:nvPr/>
        </p:nvSpPr>
        <p:spPr>
          <a:xfrm>
            <a:off x="5449824" y="5282886"/>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4</a:t>
            </a:r>
            <a:endParaRPr lang="en-US" sz="1150" dirty="0"/>
          </a:p>
        </p:txBody>
      </p:sp>
      <p:sp>
        <p:nvSpPr>
          <p:cNvPr id="26" name="Text 24"/>
          <p:cNvSpPr txBox="1"/>
          <p:nvPr/>
        </p:nvSpPr>
        <p:spPr>
          <a:xfrm>
            <a:off x="5989320" y="4859916"/>
            <a:ext cx="5379415" cy="1229988"/>
          </a:xfrm>
          <a:prstGeom prst="rect">
            <a:avLst/>
          </a:prstGeom>
          <a:noFill/>
          <a:ln/>
        </p:spPr>
        <p:txBody>
          <a:bodyPr wrap="square" lIns="0" tIns="0" rIns="0" bIns="0" rtlCol="0" anchor="ctr"/>
          <a:lstStyle/>
          <a:p>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Çerçeve döndükçe akı bu değerler arasında salınır; jeneratörün temeli budur.</a:t>
            </a:r>
            <a:endParaRPr lang="en-US" sz="1600" dirty="0"/>
          </a:p>
        </p:txBody>
      </p:sp>
      <p:sp>
        <p:nvSpPr>
          <p:cNvPr id="27" name="Shape 25"/>
          <p:cNvSpPr/>
          <p:nvPr/>
        </p:nvSpPr>
        <p:spPr>
          <a:xfrm>
            <a:off x="640080" y="6382512"/>
            <a:ext cx="128016" cy="128016"/>
          </a:xfrm>
          <a:prstGeom prst="roundRect">
            <a:avLst>
              <a:gd name="adj" fmla="val 28571"/>
            </a:avLst>
          </a:prstGeom>
          <a:solidFill>
            <a:srgbClr val="A9E648"/>
          </a:solidFill>
          <a:ln/>
        </p:spPr>
      </p:sp>
      <p:sp>
        <p:nvSpPr>
          <p:cNvPr id="28" name="Text 2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dersler.perinet.org/induksiyon-akimi.html</a:t>
            </a:r>
            <a:endParaRPr lang="en-US" sz="1050" dirty="0"/>
          </a:p>
        </p:txBody>
      </p:sp>
      <p:sp>
        <p:nvSpPr>
          <p:cNvPr id="29" name="Text 2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31</a:t>
            </a:r>
            <a:endParaRPr lang="en-US" sz="10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Çözümlü örnek 2 / 6</a:t>
            </a:r>
            <a:endParaRPr lang="en-US" sz="3200" dirty="0"/>
          </a:p>
        </p:txBody>
      </p:sp>
      <p:sp>
        <p:nvSpPr>
          <p:cNvPr id="5" name="Shape 3"/>
          <p:cNvSpPr/>
          <p:nvPr/>
        </p:nvSpPr>
        <p:spPr>
          <a:xfrm>
            <a:off x="10408615" y="512064"/>
            <a:ext cx="1143000" cy="384048"/>
          </a:xfrm>
          <a:prstGeom prst="roundRect">
            <a:avLst>
              <a:gd name="adj" fmla="val 50000"/>
            </a:avLst>
          </a:prstGeom>
          <a:solidFill>
            <a:srgbClr val="EAF7DC"/>
          </a:solidFill>
          <a:ln w="9525">
            <a:solidFill>
              <a:srgbClr val="3C8C21"/>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Akı değişiminden emk</a:t>
            </a:r>
            <a:endParaRPr lang="en-US" sz="1450" dirty="0"/>
          </a:p>
        </p:txBody>
      </p:sp>
      <p:sp>
        <p:nvSpPr>
          <p:cNvPr id="8" name="Shape 6"/>
          <p:cNvSpPr/>
          <p:nvPr/>
        </p:nvSpPr>
        <p:spPr>
          <a:xfrm>
            <a:off x="640080" y="1627632"/>
            <a:ext cx="4297680" cy="4517136"/>
          </a:xfrm>
          <a:prstGeom prst="roundRect">
            <a:avLst>
              <a:gd name="adj" fmla="val 3404"/>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32688" y="1847088"/>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32688" y="2176272"/>
            <a:ext cx="3712464" cy="1213104"/>
          </a:xfrm>
          <a:prstGeom prst="rect">
            <a:avLst/>
          </a:prstGeom>
          <a:noFill/>
          <a:ln/>
        </p:spPr>
        <p:txBody>
          <a:bodyPr wrap="square" lIns="0" tIns="0" rIns="0" bIns="0" rtlCol="0" anchor="t"/>
          <a:lstStyle/>
          <a:p>
            <a:pPr indent="0" marL="0">
              <a:lnSpc>
                <a:spcPct val="118000"/>
              </a:lnSpc>
              <a:buNone/>
            </a:pPr>
            <a:r>
              <a:rPr lang="en-US" sz="1600" dirty="0">
                <a:solidFill>
                  <a:srgbClr val="0E1426"/>
                </a:solidFill>
                <a:latin typeface="Calibri" pitchFamily="34" charset="0"/>
                <a:ea typeface="Calibri" pitchFamily="34" charset="-122"/>
                <a:cs typeface="Calibri" pitchFamily="34" charset="-120"/>
              </a:rPr>
              <a:t>200 sarımlı bir bobinden geçen manyetik akı 0,1 saniyede 4·10⁻³ Wb'den 1·10⁻³ Wb'e düşüyor. İndüklenen emk'nin büyüklüğü nedir?</a:t>
            </a:r>
            <a:endParaRPr lang="en-US" sz="1600" dirty="0"/>
          </a:p>
        </p:txBody>
      </p:sp>
      <p:sp>
        <p:nvSpPr>
          <p:cNvPr id="11" name="Shape 9"/>
          <p:cNvSpPr/>
          <p:nvPr/>
        </p:nvSpPr>
        <p:spPr>
          <a:xfrm>
            <a:off x="5212080" y="1627632"/>
            <a:ext cx="6339535" cy="912836"/>
          </a:xfrm>
          <a:prstGeom prst="roundRect">
            <a:avLst>
              <a:gd name="adj" fmla="val 16027"/>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5449824" y="1892026"/>
            <a:ext cx="384048" cy="384048"/>
          </a:xfrm>
          <a:prstGeom prst="roundRect">
            <a:avLst>
              <a:gd name="adj" fmla="val 26000"/>
            </a:avLst>
          </a:prstGeom>
          <a:solidFill>
            <a:srgbClr val="A56209"/>
          </a:solidFill>
          <a:ln/>
        </p:spPr>
      </p:sp>
      <p:sp>
        <p:nvSpPr>
          <p:cNvPr id="13" name="Text 11"/>
          <p:cNvSpPr txBox="1"/>
          <p:nvPr/>
        </p:nvSpPr>
        <p:spPr>
          <a:xfrm>
            <a:off x="5449824" y="1892026"/>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a:t>
            </a:r>
            <a:endParaRPr lang="en-US" sz="1150" dirty="0"/>
          </a:p>
        </p:txBody>
      </p:sp>
      <p:sp>
        <p:nvSpPr>
          <p:cNvPr id="14" name="Text 12"/>
          <p:cNvSpPr txBox="1"/>
          <p:nvPr/>
        </p:nvSpPr>
        <p:spPr>
          <a:xfrm>
            <a:off x="5989320" y="1682496"/>
            <a:ext cx="5379415" cy="803108"/>
          </a:xfrm>
          <a:prstGeom prst="rect">
            <a:avLst/>
          </a:prstGeom>
          <a:noFill/>
          <a:ln/>
        </p:spPr>
        <p:txBody>
          <a:bodyPr wrap="square" lIns="0" tIns="0" rIns="0" bIns="0" rtlCol="0" anchor="ctr"/>
          <a:lstStyle/>
          <a:p>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ΔΦ = 1·10⁻³ − 4·10⁻³ = −3·10⁻³ Wb</a:t>
            </a:r>
            <a:endParaRPr lang="en-US" sz="1600" dirty="0"/>
          </a:p>
        </p:txBody>
      </p:sp>
      <p:sp>
        <p:nvSpPr>
          <p:cNvPr id="15" name="Shape 13"/>
          <p:cNvSpPr/>
          <p:nvPr/>
        </p:nvSpPr>
        <p:spPr>
          <a:xfrm>
            <a:off x="5212080" y="2686772"/>
            <a:ext cx="6339535" cy="912836"/>
          </a:xfrm>
          <a:prstGeom prst="roundRect">
            <a:avLst>
              <a:gd name="adj" fmla="val 16027"/>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5449824" y="2951166"/>
            <a:ext cx="384048" cy="384048"/>
          </a:xfrm>
          <a:prstGeom prst="roundRect">
            <a:avLst>
              <a:gd name="adj" fmla="val 26000"/>
            </a:avLst>
          </a:prstGeom>
          <a:solidFill>
            <a:srgbClr val="A56209"/>
          </a:solidFill>
          <a:ln/>
        </p:spPr>
      </p:sp>
      <p:sp>
        <p:nvSpPr>
          <p:cNvPr id="17" name="Text 15"/>
          <p:cNvSpPr txBox="1"/>
          <p:nvPr/>
        </p:nvSpPr>
        <p:spPr>
          <a:xfrm>
            <a:off x="5449824" y="2951166"/>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2</a:t>
            </a:r>
            <a:endParaRPr lang="en-US" sz="1150" dirty="0"/>
          </a:p>
        </p:txBody>
      </p:sp>
      <p:sp>
        <p:nvSpPr>
          <p:cNvPr id="18" name="Text 16"/>
          <p:cNvSpPr txBox="1"/>
          <p:nvPr/>
        </p:nvSpPr>
        <p:spPr>
          <a:xfrm>
            <a:off x="5989320" y="2741636"/>
            <a:ext cx="5379415" cy="803108"/>
          </a:xfrm>
          <a:prstGeom prst="rect">
            <a:avLst/>
          </a:prstGeom>
          <a:noFill/>
          <a:ln/>
        </p:spPr>
        <p:txBody>
          <a:bodyPr wrap="square" lIns="0" tIns="0" rIns="0" bIns="0" rtlCol="0" anchor="ctr"/>
          <a:lstStyle/>
          <a:p>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|ε| = N·|ΔΦ|/Δt = 200 · 3·10⁻³ / 0,1</a:t>
            </a:r>
            <a:endParaRPr lang="en-US" sz="1600" dirty="0"/>
          </a:p>
        </p:txBody>
      </p:sp>
      <p:sp>
        <p:nvSpPr>
          <p:cNvPr id="19" name="Shape 17"/>
          <p:cNvSpPr/>
          <p:nvPr/>
        </p:nvSpPr>
        <p:spPr>
          <a:xfrm>
            <a:off x="5212080" y="3745912"/>
            <a:ext cx="6339535" cy="912836"/>
          </a:xfrm>
          <a:prstGeom prst="roundRect">
            <a:avLst>
              <a:gd name="adj" fmla="val 16027"/>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0" name="Shape 18"/>
          <p:cNvSpPr/>
          <p:nvPr/>
        </p:nvSpPr>
        <p:spPr>
          <a:xfrm>
            <a:off x="5449824" y="4010306"/>
            <a:ext cx="384048" cy="384048"/>
          </a:xfrm>
          <a:prstGeom prst="roundRect">
            <a:avLst>
              <a:gd name="adj" fmla="val 26000"/>
            </a:avLst>
          </a:prstGeom>
          <a:solidFill>
            <a:srgbClr val="A56209"/>
          </a:solidFill>
          <a:ln/>
        </p:spPr>
      </p:sp>
      <p:sp>
        <p:nvSpPr>
          <p:cNvPr id="21" name="Text 19"/>
          <p:cNvSpPr txBox="1"/>
          <p:nvPr/>
        </p:nvSpPr>
        <p:spPr>
          <a:xfrm>
            <a:off x="5449824" y="4010306"/>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3</a:t>
            </a:r>
            <a:endParaRPr lang="en-US" sz="1150" dirty="0"/>
          </a:p>
        </p:txBody>
      </p:sp>
      <p:sp>
        <p:nvSpPr>
          <p:cNvPr id="22" name="Text 20"/>
          <p:cNvSpPr txBox="1"/>
          <p:nvPr/>
        </p:nvSpPr>
        <p:spPr>
          <a:xfrm>
            <a:off x="5989320" y="3800776"/>
            <a:ext cx="5379415" cy="803108"/>
          </a:xfrm>
          <a:prstGeom prst="rect">
            <a:avLst/>
          </a:prstGeom>
          <a:noFill/>
          <a:ln/>
        </p:spPr>
        <p:txBody>
          <a:bodyPr wrap="square" lIns="0" tIns="0" rIns="0" bIns="0" rtlCol="0" anchor="ctr"/>
          <a:lstStyle/>
          <a:p>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|ε| = 200 · 0,03 = </a:t>
            </a:r>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6 V</a:t>
            </a:r>
            <a:endParaRPr lang="en-US" sz="1600" dirty="0"/>
          </a:p>
        </p:txBody>
      </p:sp>
      <p:sp>
        <p:nvSpPr>
          <p:cNvPr id="23" name="Shape 21"/>
          <p:cNvSpPr/>
          <p:nvPr/>
        </p:nvSpPr>
        <p:spPr>
          <a:xfrm>
            <a:off x="5212080" y="4805052"/>
            <a:ext cx="6339535" cy="1339716"/>
          </a:xfrm>
          <a:prstGeom prst="roundRect">
            <a:avLst>
              <a:gd name="adj" fmla="val 10921"/>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4" name="Shape 22"/>
          <p:cNvSpPr/>
          <p:nvPr/>
        </p:nvSpPr>
        <p:spPr>
          <a:xfrm>
            <a:off x="5449824" y="5282886"/>
            <a:ext cx="384048" cy="384048"/>
          </a:xfrm>
          <a:prstGeom prst="roundRect">
            <a:avLst>
              <a:gd name="adj" fmla="val 26000"/>
            </a:avLst>
          </a:prstGeom>
          <a:solidFill>
            <a:srgbClr val="A56209"/>
          </a:solidFill>
          <a:ln/>
        </p:spPr>
      </p:sp>
      <p:sp>
        <p:nvSpPr>
          <p:cNvPr id="25" name="Text 23"/>
          <p:cNvSpPr txBox="1"/>
          <p:nvPr/>
        </p:nvSpPr>
        <p:spPr>
          <a:xfrm>
            <a:off x="5449824" y="5282886"/>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4</a:t>
            </a:r>
            <a:endParaRPr lang="en-US" sz="1150" dirty="0"/>
          </a:p>
        </p:txBody>
      </p:sp>
      <p:sp>
        <p:nvSpPr>
          <p:cNvPr id="26" name="Text 24"/>
          <p:cNvSpPr txBox="1"/>
          <p:nvPr/>
        </p:nvSpPr>
        <p:spPr>
          <a:xfrm>
            <a:off x="5989320" y="4859916"/>
            <a:ext cx="5379415" cy="1229988"/>
          </a:xfrm>
          <a:prstGeom prst="rect">
            <a:avLst/>
          </a:prstGeom>
          <a:noFill/>
          <a:ln/>
        </p:spPr>
        <p:txBody>
          <a:bodyPr wrap="square" lIns="0" tIns="0" rIns="0" bIns="0" rtlCol="0" anchor="ctr"/>
          <a:lstStyle/>
          <a:p>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Akı azaldığı için indüksiyon akımı, akıyı sürdürecek yönde akar (Lenz).</a:t>
            </a:r>
            <a:endParaRPr lang="en-US" sz="1600" dirty="0"/>
          </a:p>
        </p:txBody>
      </p:sp>
      <p:sp>
        <p:nvSpPr>
          <p:cNvPr id="27" name="Shape 25"/>
          <p:cNvSpPr/>
          <p:nvPr/>
        </p:nvSpPr>
        <p:spPr>
          <a:xfrm>
            <a:off x="640080" y="6382512"/>
            <a:ext cx="128016" cy="128016"/>
          </a:xfrm>
          <a:prstGeom prst="roundRect">
            <a:avLst>
              <a:gd name="adj" fmla="val 28571"/>
            </a:avLst>
          </a:prstGeom>
          <a:solidFill>
            <a:srgbClr val="A9E648"/>
          </a:solidFill>
          <a:ln/>
        </p:spPr>
      </p:sp>
      <p:sp>
        <p:nvSpPr>
          <p:cNvPr id="28" name="Text 2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dersler.perinet.org/induksiyon-akimi.html</a:t>
            </a:r>
            <a:endParaRPr lang="en-US" sz="1050" dirty="0"/>
          </a:p>
        </p:txBody>
      </p:sp>
      <p:sp>
        <p:nvSpPr>
          <p:cNvPr id="29" name="Text 2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32</a:t>
            </a:r>
            <a:endParaRPr lang="en-US" sz="10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Çözümlü örnek 3 / 6</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Lenz yasasıyla yön</a:t>
            </a:r>
            <a:endParaRPr lang="en-US" sz="1450" dirty="0"/>
          </a:p>
        </p:txBody>
      </p:sp>
      <p:sp>
        <p:nvSpPr>
          <p:cNvPr id="8" name="Shape 6"/>
          <p:cNvSpPr/>
          <p:nvPr/>
        </p:nvSpPr>
        <p:spPr>
          <a:xfrm>
            <a:off x="640080" y="1627632"/>
            <a:ext cx="4297680" cy="4517136"/>
          </a:xfrm>
          <a:prstGeom prst="roundRect">
            <a:avLst>
              <a:gd name="adj" fmla="val 3404"/>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32688" y="1847088"/>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32688" y="2176272"/>
            <a:ext cx="3712464" cy="1213104"/>
          </a:xfrm>
          <a:prstGeom prst="rect">
            <a:avLst/>
          </a:prstGeom>
          <a:noFill/>
          <a:ln/>
        </p:spPr>
        <p:txBody>
          <a:bodyPr wrap="square" lIns="0" tIns="0" rIns="0" bIns="0" rtlCol="0" anchor="t"/>
          <a:lstStyle/>
          <a:p>
            <a:pPr indent="0" marL="0">
              <a:lnSpc>
                <a:spcPct val="118000"/>
              </a:lnSpc>
              <a:buNone/>
            </a:pPr>
            <a:r>
              <a:rPr lang="en-US" sz="1600" dirty="0">
                <a:solidFill>
                  <a:srgbClr val="0E1426"/>
                </a:solidFill>
                <a:latin typeface="Calibri" pitchFamily="34" charset="0"/>
                <a:ea typeface="Calibri" pitchFamily="34" charset="-122"/>
                <a:cs typeface="Calibri" pitchFamily="34" charset="-120"/>
              </a:rPr>
              <a:t>Bir mıknatısın </a:t>
            </a:r>
            <a:pPr indent="0" marL="0">
              <a:lnSpc>
                <a:spcPct val="118000"/>
              </a:lnSpc>
              <a:buNone/>
            </a:pPr>
            <a:r>
              <a:rPr lang="en-US" sz="1600" b="1" dirty="0">
                <a:solidFill>
                  <a:srgbClr val="0E1426"/>
                </a:solidFill>
                <a:latin typeface="Calibri" pitchFamily="34" charset="0"/>
                <a:ea typeface="Calibri" pitchFamily="34" charset="-122"/>
                <a:cs typeface="Calibri" pitchFamily="34" charset="-120"/>
              </a:rPr>
              <a:t>N kutbu</a:t>
            </a:r>
            <a:pPr indent="0" marL="0">
              <a:lnSpc>
                <a:spcPct val="118000"/>
              </a:lnSpc>
              <a:buNone/>
            </a:pPr>
            <a:r>
              <a:rPr lang="en-US" sz="1600" dirty="0">
                <a:solidFill>
                  <a:srgbClr val="0E1426"/>
                </a:solidFill>
                <a:latin typeface="Calibri" pitchFamily="34" charset="0"/>
                <a:ea typeface="Calibri" pitchFamily="34" charset="-122"/>
                <a:cs typeface="Calibri" pitchFamily="34" charset="-120"/>
              </a:rPr>
              <a:t> bobine yaklaştırılıyor. Bobinin mıknatısa bakan yüzü hangi kutup gibi davranır ve neden?</a:t>
            </a:r>
            <a:endParaRPr lang="en-US" sz="1600" dirty="0"/>
          </a:p>
        </p:txBody>
      </p:sp>
      <p:sp>
        <p:nvSpPr>
          <p:cNvPr id="11" name="Shape 9"/>
          <p:cNvSpPr/>
          <p:nvPr/>
        </p:nvSpPr>
        <p:spPr>
          <a:xfrm>
            <a:off x="5212080" y="1627632"/>
            <a:ext cx="6339535" cy="754818"/>
          </a:xfrm>
          <a:prstGeom prst="roundRect">
            <a:avLst>
              <a:gd name="adj" fmla="val 19383"/>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5449824" y="1813017"/>
            <a:ext cx="384048" cy="384048"/>
          </a:xfrm>
          <a:prstGeom prst="roundRect">
            <a:avLst>
              <a:gd name="adj" fmla="val 26000"/>
            </a:avLst>
          </a:prstGeom>
          <a:solidFill>
            <a:srgbClr val="A56209"/>
          </a:solidFill>
          <a:ln/>
        </p:spPr>
      </p:sp>
      <p:sp>
        <p:nvSpPr>
          <p:cNvPr id="13" name="Text 11"/>
          <p:cNvSpPr txBox="1"/>
          <p:nvPr/>
        </p:nvSpPr>
        <p:spPr>
          <a:xfrm>
            <a:off x="5449824" y="1813017"/>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a:t>
            </a:r>
            <a:endParaRPr lang="en-US" sz="1150" dirty="0"/>
          </a:p>
        </p:txBody>
      </p:sp>
      <p:sp>
        <p:nvSpPr>
          <p:cNvPr id="14" name="Text 12"/>
          <p:cNvSpPr txBox="1"/>
          <p:nvPr/>
        </p:nvSpPr>
        <p:spPr>
          <a:xfrm>
            <a:off x="5989320" y="1682496"/>
            <a:ext cx="5379415" cy="645090"/>
          </a:xfrm>
          <a:prstGeom prst="rect">
            <a:avLst/>
          </a:prstGeom>
          <a:noFill/>
          <a:ln/>
        </p:spPr>
        <p:txBody>
          <a:bodyPr wrap="square" lIns="0" tIns="0" rIns="0" bIns="0" rtlCol="0" anchor="ctr"/>
          <a:lstStyle/>
          <a:p>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N kutbu yaklaştıkça bobinden geçen akı </a:t>
            </a:r>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artar</a:t>
            </a:r>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a:t>
            </a:r>
            <a:endParaRPr lang="en-US" sz="1600" dirty="0"/>
          </a:p>
        </p:txBody>
      </p:sp>
      <p:sp>
        <p:nvSpPr>
          <p:cNvPr id="15" name="Shape 13"/>
          <p:cNvSpPr/>
          <p:nvPr/>
        </p:nvSpPr>
        <p:spPr>
          <a:xfrm>
            <a:off x="5212080" y="2528754"/>
            <a:ext cx="6339535" cy="1107802"/>
          </a:xfrm>
          <a:prstGeom prst="roundRect">
            <a:avLst>
              <a:gd name="adj" fmla="val 13207"/>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5449824" y="2890631"/>
            <a:ext cx="384048" cy="384048"/>
          </a:xfrm>
          <a:prstGeom prst="roundRect">
            <a:avLst>
              <a:gd name="adj" fmla="val 26000"/>
            </a:avLst>
          </a:prstGeom>
          <a:solidFill>
            <a:srgbClr val="A56209"/>
          </a:solidFill>
          <a:ln/>
        </p:spPr>
      </p:sp>
      <p:sp>
        <p:nvSpPr>
          <p:cNvPr id="17" name="Text 15"/>
          <p:cNvSpPr txBox="1"/>
          <p:nvPr/>
        </p:nvSpPr>
        <p:spPr>
          <a:xfrm>
            <a:off x="5449824" y="2890631"/>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2</a:t>
            </a:r>
            <a:endParaRPr lang="en-US" sz="1150" dirty="0"/>
          </a:p>
        </p:txBody>
      </p:sp>
      <p:sp>
        <p:nvSpPr>
          <p:cNvPr id="18" name="Text 16"/>
          <p:cNvSpPr txBox="1"/>
          <p:nvPr/>
        </p:nvSpPr>
        <p:spPr>
          <a:xfrm>
            <a:off x="5989320" y="2583618"/>
            <a:ext cx="5379415" cy="998074"/>
          </a:xfrm>
          <a:prstGeom prst="rect">
            <a:avLst/>
          </a:prstGeom>
          <a:noFill/>
          <a:ln/>
        </p:spPr>
        <p:txBody>
          <a:bodyPr wrap="square" lIns="0" tIns="0" rIns="0" bIns="0" rtlCol="0" anchor="ctr"/>
          <a:lstStyle/>
          <a:p>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Lenz yasası: indüksiyon akımı bu artışa karşı koyar, yani mıknatısı </a:t>
            </a:r>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iter</a:t>
            </a:r>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a:t>
            </a:r>
            <a:endParaRPr lang="en-US" sz="1600" dirty="0"/>
          </a:p>
        </p:txBody>
      </p:sp>
      <p:sp>
        <p:nvSpPr>
          <p:cNvPr id="19" name="Shape 17"/>
          <p:cNvSpPr/>
          <p:nvPr/>
        </p:nvSpPr>
        <p:spPr>
          <a:xfrm>
            <a:off x="5212080" y="3782860"/>
            <a:ext cx="6339535" cy="1107802"/>
          </a:xfrm>
          <a:prstGeom prst="roundRect">
            <a:avLst>
              <a:gd name="adj" fmla="val 13207"/>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0" name="Shape 18"/>
          <p:cNvSpPr/>
          <p:nvPr/>
        </p:nvSpPr>
        <p:spPr>
          <a:xfrm>
            <a:off x="5449824" y="4144737"/>
            <a:ext cx="384048" cy="384048"/>
          </a:xfrm>
          <a:prstGeom prst="roundRect">
            <a:avLst>
              <a:gd name="adj" fmla="val 26000"/>
            </a:avLst>
          </a:prstGeom>
          <a:solidFill>
            <a:srgbClr val="A56209"/>
          </a:solidFill>
          <a:ln/>
        </p:spPr>
      </p:sp>
      <p:sp>
        <p:nvSpPr>
          <p:cNvPr id="21" name="Text 19"/>
          <p:cNvSpPr txBox="1"/>
          <p:nvPr/>
        </p:nvSpPr>
        <p:spPr>
          <a:xfrm>
            <a:off x="5449824" y="4144737"/>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3</a:t>
            </a:r>
            <a:endParaRPr lang="en-US" sz="1150" dirty="0"/>
          </a:p>
        </p:txBody>
      </p:sp>
      <p:sp>
        <p:nvSpPr>
          <p:cNvPr id="22" name="Text 20"/>
          <p:cNvSpPr txBox="1"/>
          <p:nvPr/>
        </p:nvSpPr>
        <p:spPr>
          <a:xfrm>
            <a:off x="5989320" y="3837724"/>
            <a:ext cx="5379415" cy="998074"/>
          </a:xfrm>
          <a:prstGeom prst="rect">
            <a:avLst/>
          </a:prstGeom>
          <a:noFill/>
          <a:ln/>
        </p:spPr>
        <p:txBody>
          <a:bodyPr wrap="square" lIns="0" tIns="0" rIns="0" bIns="0" rtlCol="0" anchor="ctr"/>
          <a:lstStyle/>
          <a:p>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İtebilmesi için bobinin o yüzü </a:t>
            </a:r>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N kutbu</a:t>
            </a:r>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 gibi davranmalıdır.</a:t>
            </a:r>
            <a:endParaRPr lang="en-US" sz="1600" dirty="0"/>
          </a:p>
        </p:txBody>
      </p:sp>
      <p:sp>
        <p:nvSpPr>
          <p:cNvPr id="23" name="Shape 21"/>
          <p:cNvSpPr/>
          <p:nvPr/>
        </p:nvSpPr>
        <p:spPr>
          <a:xfrm>
            <a:off x="5212080" y="5036966"/>
            <a:ext cx="6339535" cy="1107802"/>
          </a:xfrm>
          <a:prstGeom prst="roundRect">
            <a:avLst>
              <a:gd name="adj" fmla="val 13207"/>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4" name="Shape 22"/>
          <p:cNvSpPr/>
          <p:nvPr/>
        </p:nvSpPr>
        <p:spPr>
          <a:xfrm>
            <a:off x="5449824" y="5398843"/>
            <a:ext cx="384048" cy="384048"/>
          </a:xfrm>
          <a:prstGeom prst="roundRect">
            <a:avLst>
              <a:gd name="adj" fmla="val 26000"/>
            </a:avLst>
          </a:prstGeom>
          <a:solidFill>
            <a:srgbClr val="A56209"/>
          </a:solidFill>
          <a:ln/>
        </p:spPr>
      </p:sp>
      <p:sp>
        <p:nvSpPr>
          <p:cNvPr id="25" name="Text 23"/>
          <p:cNvSpPr txBox="1"/>
          <p:nvPr/>
        </p:nvSpPr>
        <p:spPr>
          <a:xfrm>
            <a:off x="5449824" y="5398843"/>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4</a:t>
            </a:r>
            <a:endParaRPr lang="en-US" sz="1150" dirty="0"/>
          </a:p>
        </p:txBody>
      </p:sp>
      <p:sp>
        <p:nvSpPr>
          <p:cNvPr id="26" name="Text 24"/>
          <p:cNvSpPr txBox="1"/>
          <p:nvPr/>
        </p:nvSpPr>
        <p:spPr>
          <a:xfrm>
            <a:off x="5989320" y="5091830"/>
            <a:ext cx="5379415" cy="998074"/>
          </a:xfrm>
          <a:prstGeom prst="rect">
            <a:avLst/>
          </a:prstGeom>
          <a:noFill/>
          <a:ln/>
        </p:spPr>
        <p:txBody>
          <a:bodyPr wrap="square" lIns="0" tIns="0" rIns="0" bIns="0" rtlCol="0" anchor="ctr"/>
          <a:lstStyle/>
          <a:p>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Mıknatıs uzaklaştırılsaydı akı azalırdı; bu kez bobin onu </a:t>
            </a:r>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çekmek</a:t>
            </a:r>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 için S kutbu gibi davranırdı.</a:t>
            </a:r>
            <a:endParaRPr lang="en-US" sz="1600" dirty="0"/>
          </a:p>
        </p:txBody>
      </p:sp>
      <p:sp>
        <p:nvSpPr>
          <p:cNvPr id="27" name="Shape 25"/>
          <p:cNvSpPr/>
          <p:nvPr/>
        </p:nvSpPr>
        <p:spPr>
          <a:xfrm>
            <a:off x="640080" y="6382512"/>
            <a:ext cx="128016" cy="128016"/>
          </a:xfrm>
          <a:prstGeom prst="roundRect">
            <a:avLst>
              <a:gd name="adj" fmla="val 28571"/>
            </a:avLst>
          </a:prstGeom>
          <a:solidFill>
            <a:srgbClr val="A9E648"/>
          </a:solidFill>
          <a:ln/>
        </p:spPr>
      </p:sp>
      <p:sp>
        <p:nvSpPr>
          <p:cNvPr id="28" name="Text 2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dersler.perinet.org/induksiyon-akimi.html</a:t>
            </a:r>
            <a:endParaRPr lang="en-US" sz="1050" dirty="0"/>
          </a:p>
        </p:txBody>
      </p:sp>
      <p:sp>
        <p:nvSpPr>
          <p:cNvPr id="29" name="Text 2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33</a:t>
            </a:r>
            <a:endParaRPr lang="en-US" sz="10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Çözümlü örnek 4 / 6</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Hareketli çubuk</a:t>
            </a:r>
            <a:endParaRPr lang="en-US" sz="1450" dirty="0"/>
          </a:p>
        </p:txBody>
      </p:sp>
      <p:sp>
        <p:nvSpPr>
          <p:cNvPr id="8" name="Shape 6"/>
          <p:cNvSpPr/>
          <p:nvPr/>
        </p:nvSpPr>
        <p:spPr>
          <a:xfrm>
            <a:off x="640080" y="1627632"/>
            <a:ext cx="4297680" cy="4517136"/>
          </a:xfrm>
          <a:prstGeom prst="roundRect">
            <a:avLst>
              <a:gd name="adj" fmla="val 3404"/>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32688" y="1847088"/>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32688" y="2176272"/>
            <a:ext cx="3712464" cy="1493520"/>
          </a:xfrm>
          <a:prstGeom prst="rect">
            <a:avLst/>
          </a:prstGeom>
          <a:noFill/>
          <a:ln/>
        </p:spPr>
        <p:txBody>
          <a:bodyPr wrap="square" lIns="0" tIns="0" rIns="0" bIns="0" rtlCol="0" anchor="t"/>
          <a:lstStyle/>
          <a:p>
            <a:pPr indent="0" marL="0">
              <a:lnSpc>
                <a:spcPct val="118000"/>
              </a:lnSpc>
              <a:buNone/>
            </a:pPr>
            <a:r>
              <a:rPr lang="en-US" sz="1600" dirty="0">
                <a:solidFill>
                  <a:srgbClr val="0E1426"/>
                </a:solidFill>
                <a:latin typeface="Calibri" pitchFamily="34" charset="0"/>
                <a:ea typeface="Calibri" pitchFamily="34" charset="-122"/>
                <a:cs typeface="Calibri" pitchFamily="34" charset="-120"/>
              </a:rPr>
              <a:t>0,5 T'lık alanda, 40 cm uzunluğundaki çubuk raylar üzerinde 5 m/s hızla kayıyor. Devrenin direnci 2 Ω'dur. emk, akım ve çubuğa etki eden karşı kuvveti bulunuz.</a:t>
            </a:r>
            <a:endParaRPr lang="en-US" sz="1600" dirty="0"/>
          </a:p>
        </p:txBody>
      </p:sp>
      <p:sp>
        <p:nvSpPr>
          <p:cNvPr id="11" name="Shape 9"/>
          <p:cNvSpPr/>
          <p:nvPr/>
        </p:nvSpPr>
        <p:spPr>
          <a:xfrm>
            <a:off x="5212080" y="1627632"/>
            <a:ext cx="6339535" cy="912836"/>
          </a:xfrm>
          <a:prstGeom prst="roundRect">
            <a:avLst>
              <a:gd name="adj" fmla="val 16027"/>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5449824" y="1892026"/>
            <a:ext cx="384048" cy="384048"/>
          </a:xfrm>
          <a:prstGeom prst="roundRect">
            <a:avLst>
              <a:gd name="adj" fmla="val 26000"/>
            </a:avLst>
          </a:prstGeom>
          <a:solidFill>
            <a:srgbClr val="A56209"/>
          </a:solidFill>
          <a:ln/>
        </p:spPr>
      </p:sp>
      <p:sp>
        <p:nvSpPr>
          <p:cNvPr id="13" name="Text 11"/>
          <p:cNvSpPr txBox="1"/>
          <p:nvPr/>
        </p:nvSpPr>
        <p:spPr>
          <a:xfrm>
            <a:off x="5449824" y="1892026"/>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a:t>
            </a:r>
            <a:endParaRPr lang="en-US" sz="1150" dirty="0"/>
          </a:p>
        </p:txBody>
      </p:sp>
      <p:sp>
        <p:nvSpPr>
          <p:cNvPr id="14" name="Text 12"/>
          <p:cNvSpPr txBox="1"/>
          <p:nvPr/>
        </p:nvSpPr>
        <p:spPr>
          <a:xfrm>
            <a:off x="5989320" y="1682496"/>
            <a:ext cx="5379415" cy="803108"/>
          </a:xfrm>
          <a:prstGeom prst="rect">
            <a:avLst/>
          </a:prstGeom>
          <a:noFill/>
          <a:ln/>
        </p:spPr>
        <p:txBody>
          <a:bodyPr wrap="square" lIns="0" tIns="0" rIns="0" bIns="0" rtlCol="0" anchor="ctr"/>
          <a:lstStyle/>
          <a:p>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ε = B·L·v = 0,5 · 0,4 · 5 = </a:t>
            </a:r>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1 V</a:t>
            </a:r>
            <a:endParaRPr lang="en-US" sz="1600" dirty="0"/>
          </a:p>
        </p:txBody>
      </p:sp>
      <p:sp>
        <p:nvSpPr>
          <p:cNvPr id="15" name="Shape 13"/>
          <p:cNvSpPr/>
          <p:nvPr/>
        </p:nvSpPr>
        <p:spPr>
          <a:xfrm>
            <a:off x="5212080" y="2686772"/>
            <a:ext cx="6339535" cy="912836"/>
          </a:xfrm>
          <a:prstGeom prst="roundRect">
            <a:avLst>
              <a:gd name="adj" fmla="val 16027"/>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5449824" y="2951166"/>
            <a:ext cx="384048" cy="384048"/>
          </a:xfrm>
          <a:prstGeom prst="roundRect">
            <a:avLst>
              <a:gd name="adj" fmla="val 26000"/>
            </a:avLst>
          </a:prstGeom>
          <a:solidFill>
            <a:srgbClr val="A56209"/>
          </a:solidFill>
          <a:ln/>
        </p:spPr>
      </p:sp>
      <p:sp>
        <p:nvSpPr>
          <p:cNvPr id="17" name="Text 15"/>
          <p:cNvSpPr txBox="1"/>
          <p:nvPr/>
        </p:nvSpPr>
        <p:spPr>
          <a:xfrm>
            <a:off x="5449824" y="2951166"/>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2</a:t>
            </a:r>
            <a:endParaRPr lang="en-US" sz="1150" dirty="0"/>
          </a:p>
        </p:txBody>
      </p:sp>
      <p:sp>
        <p:nvSpPr>
          <p:cNvPr id="18" name="Text 16"/>
          <p:cNvSpPr txBox="1"/>
          <p:nvPr/>
        </p:nvSpPr>
        <p:spPr>
          <a:xfrm>
            <a:off x="5989320" y="2741636"/>
            <a:ext cx="5379415" cy="803108"/>
          </a:xfrm>
          <a:prstGeom prst="rect">
            <a:avLst/>
          </a:prstGeom>
          <a:noFill/>
          <a:ln/>
        </p:spPr>
        <p:txBody>
          <a:bodyPr wrap="square" lIns="0" tIns="0" rIns="0" bIns="0" rtlCol="0" anchor="ctr"/>
          <a:lstStyle/>
          <a:p>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I = ε/R = 1/2 = </a:t>
            </a:r>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0,5 A</a:t>
            </a:r>
            <a:endParaRPr lang="en-US" sz="1600" dirty="0"/>
          </a:p>
        </p:txBody>
      </p:sp>
      <p:sp>
        <p:nvSpPr>
          <p:cNvPr id="19" name="Shape 17"/>
          <p:cNvSpPr/>
          <p:nvPr/>
        </p:nvSpPr>
        <p:spPr>
          <a:xfrm>
            <a:off x="5212080" y="3745912"/>
            <a:ext cx="6339535" cy="912836"/>
          </a:xfrm>
          <a:prstGeom prst="roundRect">
            <a:avLst>
              <a:gd name="adj" fmla="val 16027"/>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0" name="Shape 18"/>
          <p:cNvSpPr/>
          <p:nvPr/>
        </p:nvSpPr>
        <p:spPr>
          <a:xfrm>
            <a:off x="5449824" y="4010306"/>
            <a:ext cx="384048" cy="384048"/>
          </a:xfrm>
          <a:prstGeom prst="roundRect">
            <a:avLst>
              <a:gd name="adj" fmla="val 26000"/>
            </a:avLst>
          </a:prstGeom>
          <a:solidFill>
            <a:srgbClr val="A56209"/>
          </a:solidFill>
          <a:ln/>
        </p:spPr>
      </p:sp>
      <p:sp>
        <p:nvSpPr>
          <p:cNvPr id="21" name="Text 19"/>
          <p:cNvSpPr txBox="1"/>
          <p:nvPr/>
        </p:nvSpPr>
        <p:spPr>
          <a:xfrm>
            <a:off x="5449824" y="4010306"/>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3</a:t>
            </a:r>
            <a:endParaRPr lang="en-US" sz="1150" dirty="0"/>
          </a:p>
        </p:txBody>
      </p:sp>
      <p:sp>
        <p:nvSpPr>
          <p:cNvPr id="22" name="Text 20"/>
          <p:cNvSpPr txBox="1"/>
          <p:nvPr/>
        </p:nvSpPr>
        <p:spPr>
          <a:xfrm>
            <a:off x="5989320" y="3800776"/>
            <a:ext cx="5379415" cy="803108"/>
          </a:xfrm>
          <a:prstGeom prst="rect">
            <a:avLst/>
          </a:prstGeom>
          <a:noFill/>
          <a:ln/>
        </p:spPr>
        <p:txBody>
          <a:bodyPr wrap="square" lIns="0" tIns="0" rIns="0" bIns="0" rtlCol="0" anchor="ctr"/>
          <a:lstStyle/>
          <a:p>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F = B·I·L = 0,5 · 0,5 · 0,4 = </a:t>
            </a:r>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0,1 N</a:t>
            </a:r>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 (harekete zıt)</a:t>
            </a:r>
            <a:endParaRPr lang="en-US" sz="1600" dirty="0"/>
          </a:p>
        </p:txBody>
      </p:sp>
      <p:sp>
        <p:nvSpPr>
          <p:cNvPr id="23" name="Shape 21"/>
          <p:cNvSpPr/>
          <p:nvPr/>
        </p:nvSpPr>
        <p:spPr>
          <a:xfrm>
            <a:off x="5212080" y="4805052"/>
            <a:ext cx="6339535" cy="1339716"/>
          </a:xfrm>
          <a:prstGeom prst="roundRect">
            <a:avLst>
              <a:gd name="adj" fmla="val 10921"/>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4" name="Shape 22"/>
          <p:cNvSpPr/>
          <p:nvPr/>
        </p:nvSpPr>
        <p:spPr>
          <a:xfrm>
            <a:off x="5449824" y="5282886"/>
            <a:ext cx="384048" cy="384048"/>
          </a:xfrm>
          <a:prstGeom prst="roundRect">
            <a:avLst>
              <a:gd name="adj" fmla="val 26000"/>
            </a:avLst>
          </a:prstGeom>
          <a:solidFill>
            <a:srgbClr val="A56209"/>
          </a:solidFill>
          <a:ln/>
        </p:spPr>
      </p:sp>
      <p:sp>
        <p:nvSpPr>
          <p:cNvPr id="25" name="Text 23"/>
          <p:cNvSpPr txBox="1"/>
          <p:nvPr/>
        </p:nvSpPr>
        <p:spPr>
          <a:xfrm>
            <a:off x="5449824" y="5282886"/>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4</a:t>
            </a:r>
            <a:endParaRPr lang="en-US" sz="1150" dirty="0"/>
          </a:p>
        </p:txBody>
      </p:sp>
      <p:sp>
        <p:nvSpPr>
          <p:cNvPr id="26" name="Text 24"/>
          <p:cNvSpPr txBox="1"/>
          <p:nvPr/>
        </p:nvSpPr>
        <p:spPr>
          <a:xfrm>
            <a:off x="5989320" y="4859916"/>
            <a:ext cx="5379415" cy="1229988"/>
          </a:xfrm>
          <a:prstGeom prst="rect">
            <a:avLst/>
          </a:prstGeom>
          <a:noFill/>
          <a:ln/>
        </p:spPr>
        <p:txBody>
          <a:bodyPr wrap="square" lIns="0" tIns="0" rIns="0" bIns="0" rtlCol="0" anchor="ctr"/>
          <a:lstStyle/>
          <a:p>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Kontrol: mekanik güç F·v = 0,5 W; elektriksel güç I²R = 0,25·2 = 0,5 W ✓</a:t>
            </a:r>
            <a:endParaRPr lang="en-US" sz="1600" dirty="0"/>
          </a:p>
        </p:txBody>
      </p:sp>
      <p:sp>
        <p:nvSpPr>
          <p:cNvPr id="27" name="Shape 25"/>
          <p:cNvSpPr/>
          <p:nvPr/>
        </p:nvSpPr>
        <p:spPr>
          <a:xfrm>
            <a:off x="640080" y="6382512"/>
            <a:ext cx="128016" cy="128016"/>
          </a:xfrm>
          <a:prstGeom prst="roundRect">
            <a:avLst>
              <a:gd name="adj" fmla="val 28571"/>
            </a:avLst>
          </a:prstGeom>
          <a:solidFill>
            <a:srgbClr val="A9E648"/>
          </a:solidFill>
          <a:ln/>
        </p:spPr>
      </p:sp>
      <p:sp>
        <p:nvSpPr>
          <p:cNvPr id="28" name="Text 2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dersler.perinet.org/induksiyon-akimi.html</a:t>
            </a:r>
            <a:endParaRPr lang="en-US" sz="1050" dirty="0"/>
          </a:p>
        </p:txBody>
      </p:sp>
      <p:sp>
        <p:nvSpPr>
          <p:cNvPr id="29" name="Text 2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34</a:t>
            </a:r>
            <a:endParaRPr lang="en-US" sz="10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Çözümlü örnek 5 / 6</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Jeneratörün tepe emk'si</a:t>
            </a:r>
            <a:endParaRPr lang="en-US" sz="1450" dirty="0"/>
          </a:p>
        </p:txBody>
      </p:sp>
      <p:sp>
        <p:nvSpPr>
          <p:cNvPr id="8" name="Shape 6"/>
          <p:cNvSpPr/>
          <p:nvPr/>
        </p:nvSpPr>
        <p:spPr>
          <a:xfrm>
            <a:off x="640080" y="1627632"/>
            <a:ext cx="4297680" cy="4517136"/>
          </a:xfrm>
          <a:prstGeom prst="roundRect">
            <a:avLst>
              <a:gd name="adj" fmla="val 3404"/>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32688" y="1847088"/>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32688" y="2176272"/>
            <a:ext cx="3712464" cy="2334768"/>
          </a:xfrm>
          <a:prstGeom prst="rect">
            <a:avLst/>
          </a:prstGeom>
          <a:noFill/>
          <a:ln/>
        </p:spPr>
        <p:txBody>
          <a:bodyPr wrap="square" lIns="0" tIns="0" rIns="0" bIns="0" rtlCol="0" anchor="t"/>
          <a:lstStyle/>
          <a:p>
            <a:pPr indent="0" marL="0">
              <a:lnSpc>
                <a:spcPct val="118000"/>
              </a:lnSpc>
              <a:buNone/>
            </a:pPr>
            <a:r>
              <a:rPr lang="en-US" sz="1600" dirty="0">
                <a:solidFill>
                  <a:srgbClr val="0E1426"/>
                </a:solidFill>
                <a:latin typeface="Calibri" pitchFamily="34" charset="0"/>
                <a:ea typeface="Calibri" pitchFamily="34" charset="-122"/>
                <a:cs typeface="Calibri" pitchFamily="34" charset="-120"/>
              </a:rPr>
              <a:t>100 sarımlı, 0,02 m² alanlı bir çerçeve 0,5 T'lık düzgün alanda dönüyor. (a) Saniyede 2 tur atarken, (b) saniyede 50 tur atarken tepe emk nedir? (c) 50 tur/s'de tepe emk'nin şebekenin 325 V'luk tepe değerine ulaşması için en az kaç sarım gerekir? (π ≈ 3,14)</a:t>
            </a:r>
            <a:endParaRPr lang="en-US" sz="1600" dirty="0"/>
          </a:p>
        </p:txBody>
      </p:sp>
      <p:sp>
        <p:nvSpPr>
          <p:cNvPr id="11" name="Shape 9"/>
          <p:cNvSpPr/>
          <p:nvPr/>
        </p:nvSpPr>
        <p:spPr>
          <a:xfrm>
            <a:off x="5212080" y="1627632"/>
            <a:ext cx="6339535" cy="1019556"/>
          </a:xfrm>
          <a:prstGeom prst="roundRect">
            <a:avLst>
              <a:gd name="adj" fmla="val 14350"/>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5449824" y="1945386"/>
            <a:ext cx="384048" cy="384048"/>
          </a:xfrm>
          <a:prstGeom prst="roundRect">
            <a:avLst>
              <a:gd name="adj" fmla="val 26000"/>
            </a:avLst>
          </a:prstGeom>
          <a:solidFill>
            <a:srgbClr val="A56209"/>
          </a:solidFill>
          <a:ln/>
        </p:spPr>
      </p:sp>
      <p:sp>
        <p:nvSpPr>
          <p:cNvPr id="13" name="Text 11"/>
          <p:cNvSpPr txBox="1"/>
          <p:nvPr/>
        </p:nvSpPr>
        <p:spPr>
          <a:xfrm>
            <a:off x="5449824" y="1945386"/>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a:t>
            </a:r>
            <a:endParaRPr lang="en-US" sz="1150" dirty="0"/>
          </a:p>
        </p:txBody>
      </p:sp>
      <p:sp>
        <p:nvSpPr>
          <p:cNvPr id="14" name="Text 12"/>
          <p:cNvSpPr txBox="1"/>
          <p:nvPr/>
        </p:nvSpPr>
        <p:spPr>
          <a:xfrm>
            <a:off x="5989320" y="1682496"/>
            <a:ext cx="5379415" cy="909828"/>
          </a:xfrm>
          <a:prstGeom prst="rect">
            <a:avLst/>
          </a:prstGeom>
          <a:noFill/>
          <a:ln/>
        </p:spPr>
        <p:txBody>
          <a:bodyPr wrap="square" lIns="0" tIns="0" rIns="0" bIns="0" rtlCol="0" anchor="ctr"/>
          <a:lstStyle/>
          <a:p>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(a)</a:t>
            </a:r>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 ω = 2π·f = 2 · 3,14 · 2 ≈ 12,6 rad/s → ε</a:t>
            </a:r>
            <a:pPr indent="0" marL="0">
              <a:lnSpc>
                <a:spcPct val="112000"/>
              </a:lnSpc>
              <a:buNone/>
            </a:pPr>
            <a:r>
              <a:rPr lang="en-US" sz="1600" baseline="-40000" dirty="0">
                <a:solidFill>
                  <a:srgbClr val="4A5470"/>
                </a:solidFill>
                <a:latin typeface="Calibri" pitchFamily="34" charset="0"/>
                <a:ea typeface="Calibri" pitchFamily="34" charset="-122"/>
                <a:cs typeface="Calibri" pitchFamily="34" charset="-120"/>
              </a:rPr>
              <a:t>maks</a:t>
            </a:r>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 = N·B·A·ω = 100 · 0,5 · 0,02 · 12,6 ≈ </a:t>
            </a:r>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12,6 V</a:t>
            </a:r>
            <a:endParaRPr lang="en-US" sz="1600" dirty="0"/>
          </a:p>
        </p:txBody>
      </p:sp>
      <p:sp>
        <p:nvSpPr>
          <p:cNvPr id="15" name="Shape 13"/>
          <p:cNvSpPr/>
          <p:nvPr/>
        </p:nvSpPr>
        <p:spPr>
          <a:xfrm>
            <a:off x="5212080" y="2793492"/>
            <a:ext cx="6339535" cy="1019556"/>
          </a:xfrm>
          <a:prstGeom prst="roundRect">
            <a:avLst>
              <a:gd name="adj" fmla="val 14350"/>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5449824" y="3111246"/>
            <a:ext cx="384048" cy="384048"/>
          </a:xfrm>
          <a:prstGeom prst="roundRect">
            <a:avLst>
              <a:gd name="adj" fmla="val 26000"/>
            </a:avLst>
          </a:prstGeom>
          <a:solidFill>
            <a:srgbClr val="A56209"/>
          </a:solidFill>
          <a:ln/>
        </p:spPr>
      </p:sp>
      <p:sp>
        <p:nvSpPr>
          <p:cNvPr id="17" name="Text 15"/>
          <p:cNvSpPr txBox="1"/>
          <p:nvPr/>
        </p:nvSpPr>
        <p:spPr>
          <a:xfrm>
            <a:off x="5449824" y="3111246"/>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2</a:t>
            </a:r>
            <a:endParaRPr lang="en-US" sz="1150" dirty="0"/>
          </a:p>
        </p:txBody>
      </p:sp>
      <p:sp>
        <p:nvSpPr>
          <p:cNvPr id="18" name="Text 16"/>
          <p:cNvSpPr txBox="1"/>
          <p:nvPr/>
        </p:nvSpPr>
        <p:spPr>
          <a:xfrm>
            <a:off x="5989320" y="2848356"/>
            <a:ext cx="5379415" cy="909828"/>
          </a:xfrm>
          <a:prstGeom prst="rect">
            <a:avLst/>
          </a:prstGeom>
          <a:noFill/>
          <a:ln/>
        </p:spPr>
        <p:txBody>
          <a:bodyPr wrap="square" lIns="0" tIns="0" rIns="0" bIns="0" rtlCol="0" anchor="ctr"/>
          <a:lstStyle/>
          <a:p>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(b)</a:t>
            </a:r>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 ω = 2 · 3,14 · 50 = 314 rad/s → ε</a:t>
            </a:r>
            <a:pPr indent="0" marL="0">
              <a:lnSpc>
                <a:spcPct val="112000"/>
              </a:lnSpc>
              <a:buNone/>
            </a:pPr>
            <a:r>
              <a:rPr lang="en-US" sz="1600" baseline="-40000" dirty="0">
                <a:solidFill>
                  <a:srgbClr val="4A5470"/>
                </a:solidFill>
                <a:latin typeface="Calibri" pitchFamily="34" charset="0"/>
                <a:ea typeface="Calibri" pitchFamily="34" charset="-122"/>
                <a:cs typeface="Calibri" pitchFamily="34" charset="-120"/>
              </a:rPr>
              <a:t>maks</a:t>
            </a:r>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 = 100 · 0,5 · 0,02 · 314 = </a:t>
            </a:r>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314 V</a:t>
            </a:r>
            <a:endParaRPr lang="en-US" sz="1600" dirty="0"/>
          </a:p>
        </p:txBody>
      </p:sp>
      <p:sp>
        <p:nvSpPr>
          <p:cNvPr id="19" name="Shape 17"/>
          <p:cNvSpPr/>
          <p:nvPr/>
        </p:nvSpPr>
        <p:spPr>
          <a:xfrm>
            <a:off x="5212080" y="3959352"/>
            <a:ext cx="6339535" cy="1019556"/>
          </a:xfrm>
          <a:prstGeom prst="roundRect">
            <a:avLst>
              <a:gd name="adj" fmla="val 14350"/>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0" name="Shape 18"/>
          <p:cNvSpPr/>
          <p:nvPr/>
        </p:nvSpPr>
        <p:spPr>
          <a:xfrm>
            <a:off x="5449824" y="4277106"/>
            <a:ext cx="384048" cy="384048"/>
          </a:xfrm>
          <a:prstGeom prst="roundRect">
            <a:avLst>
              <a:gd name="adj" fmla="val 26000"/>
            </a:avLst>
          </a:prstGeom>
          <a:solidFill>
            <a:srgbClr val="A56209"/>
          </a:solidFill>
          <a:ln/>
        </p:spPr>
      </p:sp>
      <p:sp>
        <p:nvSpPr>
          <p:cNvPr id="21" name="Text 19"/>
          <p:cNvSpPr txBox="1"/>
          <p:nvPr/>
        </p:nvSpPr>
        <p:spPr>
          <a:xfrm>
            <a:off x="5449824" y="4277106"/>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3</a:t>
            </a:r>
            <a:endParaRPr lang="en-US" sz="1150" dirty="0"/>
          </a:p>
        </p:txBody>
      </p:sp>
      <p:sp>
        <p:nvSpPr>
          <p:cNvPr id="22" name="Text 20"/>
          <p:cNvSpPr txBox="1"/>
          <p:nvPr/>
        </p:nvSpPr>
        <p:spPr>
          <a:xfrm>
            <a:off x="5989320" y="4014216"/>
            <a:ext cx="5379415" cy="909828"/>
          </a:xfrm>
          <a:prstGeom prst="rect">
            <a:avLst/>
          </a:prstGeom>
          <a:noFill/>
          <a:ln/>
        </p:spPr>
        <p:txBody>
          <a:bodyPr wrap="square" lIns="0" tIns="0" rIns="0" bIns="0" rtlCol="0" anchor="ctr"/>
          <a:lstStyle/>
          <a:p>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(c)</a:t>
            </a:r>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 Bir sarımın payı 0,5 · 0,02 · 314 = 3,14 V; N = 325 / 3,14 ≈ 103,5 → en az </a:t>
            </a:r>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104 sarım</a:t>
            </a:r>
            <a:endParaRPr lang="en-US" sz="1600" dirty="0"/>
          </a:p>
        </p:txBody>
      </p:sp>
      <p:sp>
        <p:nvSpPr>
          <p:cNvPr id="23" name="Shape 21"/>
          <p:cNvSpPr/>
          <p:nvPr/>
        </p:nvSpPr>
        <p:spPr>
          <a:xfrm>
            <a:off x="5212080" y="5125212"/>
            <a:ext cx="6339535" cy="1019556"/>
          </a:xfrm>
          <a:prstGeom prst="roundRect">
            <a:avLst>
              <a:gd name="adj" fmla="val 14350"/>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4" name="Shape 22"/>
          <p:cNvSpPr/>
          <p:nvPr/>
        </p:nvSpPr>
        <p:spPr>
          <a:xfrm>
            <a:off x="5449824" y="5442966"/>
            <a:ext cx="384048" cy="384048"/>
          </a:xfrm>
          <a:prstGeom prst="roundRect">
            <a:avLst>
              <a:gd name="adj" fmla="val 26000"/>
            </a:avLst>
          </a:prstGeom>
          <a:solidFill>
            <a:srgbClr val="A56209"/>
          </a:solidFill>
          <a:ln/>
        </p:spPr>
      </p:sp>
      <p:sp>
        <p:nvSpPr>
          <p:cNvPr id="25" name="Text 23"/>
          <p:cNvSpPr txBox="1"/>
          <p:nvPr/>
        </p:nvSpPr>
        <p:spPr>
          <a:xfrm>
            <a:off x="5449824" y="5442966"/>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4</a:t>
            </a:r>
            <a:endParaRPr lang="en-US" sz="1150" dirty="0"/>
          </a:p>
        </p:txBody>
      </p:sp>
      <p:sp>
        <p:nvSpPr>
          <p:cNvPr id="26" name="Text 24"/>
          <p:cNvSpPr txBox="1"/>
          <p:nvPr/>
        </p:nvSpPr>
        <p:spPr>
          <a:xfrm>
            <a:off x="5989320" y="5180076"/>
            <a:ext cx="5379415" cy="909828"/>
          </a:xfrm>
          <a:prstGeom prst="rect">
            <a:avLst/>
          </a:prstGeom>
          <a:noFill/>
          <a:ln/>
        </p:spPr>
        <p:txBody>
          <a:bodyPr wrap="square" lIns="0" tIns="0" rIns="0" bIns="0" rtlCol="0" anchor="ctr"/>
          <a:lstStyle/>
          <a:p>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Çerçeve alana dik konumdan geçtiği her an emk sıfırdır; tepe değer, çerçeve alana paralelken görülür.</a:t>
            </a:r>
            <a:endParaRPr lang="en-US" sz="1600" dirty="0"/>
          </a:p>
        </p:txBody>
      </p:sp>
      <p:sp>
        <p:nvSpPr>
          <p:cNvPr id="27" name="Shape 25"/>
          <p:cNvSpPr/>
          <p:nvPr/>
        </p:nvSpPr>
        <p:spPr>
          <a:xfrm>
            <a:off x="640080" y="6382512"/>
            <a:ext cx="128016" cy="128016"/>
          </a:xfrm>
          <a:prstGeom prst="roundRect">
            <a:avLst>
              <a:gd name="adj" fmla="val 28571"/>
            </a:avLst>
          </a:prstGeom>
          <a:solidFill>
            <a:srgbClr val="A9E648"/>
          </a:solidFill>
          <a:ln/>
        </p:spPr>
      </p:sp>
      <p:sp>
        <p:nvSpPr>
          <p:cNvPr id="28" name="Text 2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dersler.perinet.org/induksiyon-akimi.html</a:t>
            </a:r>
            <a:endParaRPr lang="en-US" sz="1050" dirty="0"/>
          </a:p>
        </p:txBody>
      </p:sp>
      <p:sp>
        <p:nvSpPr>
          <p:cNvPr id="29" name="Text 2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35</a:t>
            </a:r>
            <a:endParaRPr lang="en-US" sz="10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Çözümlü örnek 6 / 6</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Sabit kuvvetle çekilen çubuk</a:t>
            </a:r>
            <a:endParaRPr lang="en-US" sz="1450" dirty="0"/>
          </a:p>
        </p:txBody>
      </p:sp>
      <p:sp>
        <p:nvSpPr>
          <p:cNvPr id="8" name="Shape 6"/>
          <p:cNvSpPr/>
          <p:nvPr/>
        </p:nvSpPr>
        <p:spPr>
          <a:xfrm>
            <a:off x="640080" y="1627632"/>
            <a:ext cx="4297680" cy="4517136"/>
          </a:xfrm>
          <a:prstGeom prst="roundRect">
            <a:avLst>
              <a:gd name="adj" fmla="val 3404"/>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32688" y="1847088"/>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32688" y="2176272"/>
            <a:ext cx="3712464" cy="2054352"/>
          </a:xfrm>
          <a:prstGeom prst="rect">
            <a:avLst/>
          </a:prstGeom>
          <a:noFill/>
          <a:ln/>
        </p:spPr>
        <p:txBody>
          <a:bodyPr wrap="square" lIns="0" tIns="0" rIns="0" bIns="0" rtlCol="0" anchor="t"/>
          <a:lstStyle/>
          <a:p>
            <a:pPr indent="0" marL="0">
              <a:lnSpc>
                <a:spcPct val="118000"/>
              </a:lnSpc>
              <a:buNone/>
            </a:pPr>
            <a:r>
              <a:rPr lang="en-US" sz="1600" dirty="0">
                <a:solidFill>
                  <a:srgbClr val="0E1426"/>
                </a:solidFill>
                <a:latin typeface="Calibri" pitchFamily="34" charset="0"/>
                <a:ea typeface="Calibri" pitchFamily="34" charset="-122"/>
                <a:cs typeface="Calibri" pitchFamily="34" charset="-120"/>
              </a:rPr>
              <a:t>0,5 T'lık alanda raylar üzerindeki 0,5 m'lik çubuk, 0,5 N'luk sabit bir kuvvetle çekiliyor. Devrenin direnci 2 Ω'dur; sürtünme yoktur. Çubuğun ulaşacağı en büyük hızı, bu hızdaki emk'yi, akımı ve dirençteki gücü bulunuz.</a:t>
            </a:r>
            <a:endParaRPr lang="en-US" sz="1600" dirty="0"/>
          </a:p>
        </p:txBody>
      </p:sp>
      <p:sp>
        <p:nvSpPr>
          <p:cNvPr id="11" name="Text 9"/>
          <p:cNvSpPr txBox="1"/>
          <p:nvPr/>
        </p:nvSpPr>
        <p:spPr>
          <a:xfrm>
            <a:off x="932688" y="4459224"/>
            <a:ext cx="2743200" cy="219456"/>
          </a:xfrm>
          <a:prstGeom prst="rect">
            <a:avLst/>
          </a:prstGeom>
          <a:noFill/>
          <a:ln/>
        </p:spPr>
        <p:txBody>
          <a:bodyPr wrap="square" lIns="0" tIns="0" rIns="0" bIns="0" rtlCol="0" anchor="ctr"/>
          <a:lstStyle/>
          <a:p>
            <a:pPr indent="0" marL="0">
              <a:buNone/>
            </a:pPr>
            <a:r>
              <a:rPr lang="en-US" sz="950" b="1" spc="200" kern="0" dirty="0">
                <a:solidFill>
                  <a:srgbClr val="7B849E"/>
                </a:solidFill>
                <a:latin typeface="Calibri" pitchFamily="34" charset="0"/>
                <a:ea typeface="Calibri" pitchFamily="34" charset="-122"/>
                <a:cs typeface="Calibri" pitchFamily="34" charset="-120"/>
              </a:rPr>
              <a:t>NOT</a:t>
            </a:r>
            <a:endParaRPr lang="en-US" sz="950" dirty="0"/>
          </a:p>
        </p:txBody>
      </p:sp>
      <p:sp>
        <p:nvSpPr>
          <p:cNvPr id="12" name="Text 10"/>
          <p:cNvSpPr txBox="1"/>
          <p:nvPr/>
        </p:nvSpPr>
        <p:spPr>
          <a:xfrm>
            <a:off x="932688" y="4715256"/>
            <a:ext cx="3712464" cy="840029"/>
          </a:xfrm>
          <a:prstGeom prst="rect">
            <a:avLst/>
          </a:prstGeom>
          <a:noFill/>
          <a:ln/>
        </p:spPr>
        <p:txBody>
          <a:bodyPr wrap="square" lIns="0" tIns="0" rIns="0" bIns="0" rtlCol="0" anchor="t"/>
          <a:lstStyle/>
          <a:p>
            <a:pPr indent="0" marL="0">
              <a:lnSpc>
                <a:spcPct val="112000"/>
              </a:lnSpc>
              <a:buNone/>
            </a:pPr>
            <a:r>
              <a:rPr lang="en-US" sz="1150" dirty="0">
                <a:solidFill>
                  <a:srgbClr val="4A5470"/>
                </a:solidFill>
                <a:latin typeface="Calibri" pitchFamily="34" charset="0"/>
                <a:ea typeface="Calibri" pitchFamily="34" charset="-122"/>
                <a:cs typeface="Calibri" pitchFamily="34" charset="-120"/>
              </a:rPr>
              <a:t>Bu durum, havada düşen cismin limit hıza ulaşmasına benzer: sürükleyen kuvvet sabit, frenleyen kuvvet hızla büyür ve ikisi eşitlenince hız sabitlenir.</a:t>
            </a:r>
            <a:endParaRPr lang="en-US" sz="1150" dirty="0"/>
          </a:p>
        </p:txBody>
      </p:sp>
      <p:sp>
        <p:nvSpPr>
          <p:cNvPr id="13" name="Shape 11"/>
          <p:cNvSpPr/>
          <p:nvPr/>
        </p:nvSpPr>
        <p:spPr>
          <a:xfrm>
            <a:off x="5212080" y="1627632"/>
            <a:ext cx="6339535" cy="1107802"/>
          </a:xfrm>
          <a:prstGeom prst="roundRect">
            <a:avLst>
              <a:gd name="adj" fmla="val 13207"/>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4" name="Shape 12"/>
          <p:cNvSpPr/>
          <p:nvPr/>
        </p:nvSpPr>
        <p:spPr>
          <a:xfrm>
            <a:off x="5449824" y="1989509"/>
            <a:ext cx="384048" cy="384048"/>
          </a:xfrm>
          <a:prstGeom prst="roundRect">
            <a:avLst>
              <a:gd name="adj" fmla="val 26000"/>
            </a:avLst>
          </a:prstGeom>
          <a:solidFill>
            <a:srgbClr val="A56209"/>
          </a:solidFill>
          <a:ln/>
        </p:spPr>
      </p:sp>
      <p:sp>
        <p:nvSpPr>
          <p:cNvPr id="15" name="Text 13"/>
          <p:cNvSpPr txBox="1"/>
          <p:nvPr/>
        </p:nvSpPr>
        <p:spPr>
          <a:xfrm>
            <a:off x="5449824" y="1989509"/>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a:t>
            </a:r>
            <a:endParaRPr lang="en-US" sz="1150" dirty="0"/>
          </a:p>
        </p:txBody>
      </p:sp>
      <p:sp>
        <p:nvSpPr>
          <p:cNvPr id="16" name="Text 14"/>
          <p:cNvSpPr txBox="1"/>
          <p:nvPr/>
        </p:nvSpPr>
        <p:spPr>
          <a:xfrm>
            <a:off x="5989320" y="1682496"/>
            <a:ext cx="5379415" cy="998074"/>
          </a:xfrm>
          <a:prstGeom prst="rect">
            <a:avLst/>
          </a:prstGeom>
          <a:noFill/>
          <a:ln/>
        </p:spPr>
        <p:txBody>
          <a:bodyPr wrap="square" lIns="0" tIns="0" rIns="0" bIns="0" rtlCol="0" anchor="ctr"/>
          <a:lstStyle/>
          <a:p>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Çubuk hızlandıkça karşı kuvvet B²L²v/R büyür; çekme kuvvetine eşitlendiğinde ivme biter.</a:t>
            </a:r>
            <a:endParaRPr lang="en-US" sz="1600" dirty="0"/>
          </a:p>
        </p:txBody>
      </p:sp>
      <p:sp>
        <p:nvSpPr>
          <p:cNvPr id="17" name="Shape 15"/>
          <p:cNvSpPr/>
          <p:nvPr/>
        </p:nvSpPr>
        <p:spPr>
          <a:xfrm>
            <a:off x="5212080" y="2881738"/>
            <a:ext cx="6339535" cy="1107802"/>
          </a:xfrm>
          <a:prstGeom prst="roundRect">
            <a:avLst>
              <a:gd name="adj" fmla="val 13207"/>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8" name="Shape 16"/>
          <p:cNvSpPr/>
          <p:nvPr/>
        </p:nvSpPr>
        <p:spPr>
          <a:xfrm>
            <a:off x="5449824" y="3243615"/>
            <a:ext cx="384048" cy="384048"/>
          </a:xfrm>
          <a:prstGeom prst="roundRect">
            <a:avLst>
              <a:gd name="adj" fmla="val 26000"/>
            </a:avLst>
          </a:prstGeom>
          <a:solidFill>
            <a:srgbClr val="A56209"/>
          </a:solidFill>
          <a:ln/>
        </p:spPr>
      </p:sp>
      <p:sp>
        <p:nvSpPr>
          <p:cNvPr id="19" name="Text 17"/>
          <p:cNvSpPr txBox="1"/>
          <p:nvPr/>
        </p:nvSpPr>
        <p:spPr>
          <a:xfrm>
            <a:off x="5449824" y="3243615"/>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2</a:t>
            </a:r>
            <a:endParaRPr lang="en-US" sz="1150" dirty="0"/>
          </a:p>
        </p:txBody>
      </p:sp>
      <p:sp>
        <p:nvSpPr>
          <p:cNvPr id="20" name="Text 18"/>
          <p:cNvSpPr txBox="1"/>
          <p:nvPr/>
        </p:nvSpPr>
        <p:spPr>
          <a:xfrm>
            <a:off x="5989320" y="2936602"/>
            <a:ext cx="5379415" cy="998074"/>
          </a:xfrm>
          <a:prstGeom prst="rect">
            <a:avLst/>
          </a:prstGeom>
          <a:noFill/>
          <a:ln/>
        </p:spPr>
        <p:txBody>
          <a:bodyPr wrap="square" lIns="0" tIns="0" rIns="0" bIns="0" rtlCol="0" anchor="ctr"/>
          <a:lstStyle/>
          <a:p>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F = B²L²v/R → v = F·R/(B²L²) = 0,5 · 2 / (0,25 · 0,25) = </a:t>
            </a:r>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16 m/s</a:t>
            </a:r>
            <a:endParaRPr lang="en-US" sz="1600" dirty="0"/>
          </a:p>
        </p:txBody>
      </p:sp>
      <p:sp>
        <p:nvSpPr>
          <p:cNvPr id="21" name="Shape 19"/>
          <p:cNvSpPr/>
          <p:nvPr/>
        </p:nvSpPr>
        <p:spPr>
          <a:xfrm>
            <a:off x="5212080" y="4135844"/>
            <a:ext cx="6339535" cy="754818"/>
          </a:xfrm>
          <a:prstGeom prst="roundRect">
            <a:avLst>
              <a:gd name="adj" fmla="val 19383"/>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2" name="Shape 20"/>
          <p:cNvSpPr/>
          <p:nvPr/>
        </p:nvSpPr>
        <p:spPr>
          <a:xfrm>
            <a:off x="5449824" y="4321229"/>
            <a:ext cx="384048" cy="384048"/>
          </a:xfrm>
          <a:prstGeom prst="roundRect">
            <a:avLst>
              <a:gd name="adj" fmla="val 26000"/>
            </a:avLst>
          </a:prstGeom>
          <a:solidFill>
            <a:srgbClr val="A56209"/>
          </a:solidFill>
          <a:ln/>
        </p:spPr>
      </p:sp>
      <p:sp>
        <p:nvSpPr>
          <p:cNvPr id="23" name="Text 21"/>
          <p:cNvSpPr txBox="1"/>
          <p:nvPr/>
        </p:nvSpPr>
        <p:spPr>
          <a:xfrm>
            <a:off x="5449824" y="4321229"/>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3</a:t>
            </a:r>
            <a:endParaRPr lang="en-US" sz="1150" dirty="0"/>
          </a:p>
        </p:txBody>
      </p:sp>
      <p:sp>
        <p:nvSpPr>
          <p:cNvPr id="24" name="Text 22"/>
          <p:cNvSpPr txBox="1"/>
          <p:nvPr/>
        </p:nvSpPr>
        <p:spPr>
          <a:xfrm>
            <a:off x="5989320" y="4190708"/>
            <a:ext cx="5379415" cy="645090"/>
          </a:xfrm>
          <a:prstGeom prst="rect">
            <a:avLst/>
          </a:prstGeom>
          <a:noFill/>
          <a:ln/>
        </p:spPr>
        <p:txBody>
          <a:bodyPr wrap="square" lIns="0" tIns="0" rIns="0" bIns="0" rtlCol="0" anchor="ctr"/>
          <a:lstStyle/>
          <a:p>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ε = B·L·v = 0,5 · 0,5 · 16 = </a:t>
            </a:r>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4 V</a:t>
            </a:r>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 I = ε/R = </a:t>
            </a:r>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2 A</a:t>
            </a:r>
            <a:endParaRPr lang="en-US" sz="1600" dirty="0"/>
          </a:p>
        </p:txBody>
      </p:sp>
      <p:sp>
        <p:nvSpPr>
          <p:cNvPr id="25" name="Shape 23"/>
          <p:cNvSpPr/>
          <p:nvPr/>
        </p:nvSpPr>
        <p:spPr>
          <a:xfrm>
            <a:off x="5212080" y="5036966"/>
            <a:ext cx="6339535" cy="1107802"/>
          </a:xfrm>
          <a:prstGeom prst="roundRect">
            <a:avLst>
              <a:gd name="adj" fmla="val 13207"/>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6" name="Shape 24"/>
          <p:cNvSpPr/>
          <p:nvPr/>
        </p:nvSpPr>
        <p:spPr>
          <a:xfrm>
            <a:off x="5449824" y="5398843"/>
            <a:ext cx="384048" cy="384048"/>
          </a:xfrm>
          <a:prstGeom prst="roundRect">
            <a:avLst>
              <a:gd name="adj" fmla="val 26000"/>
            </a:avLst>
          </a:prstGeom>
          <a:solidFill>
            <a:srgbClr val="A56209"/>
          </a:solidFill>
          <a:ln/>
        </p:spPr>
      </p:sp>
      <p:sp>
        <p:nvSpPr>
          <p:cNvPr id="27" name="Text 25"/>
          <p:cNvSpPr txBox="1"/>
          <p:nvPr/>
        </p:nvSpPr>
        <p:spPr>
          <a:xfrm>
            <a:off x="5449824" y="5398843"/>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4</a:t>
            </a:r>
            <a:endParaRPr lang="en-US" sz="1150" dirty="0"/>
          </a:p>
        </p:txBody>
      </p:sp>
      <p:sp>
        <p:nvSpPr>
          <p:cNvPr id="28" name="Text 26"/>
          <p:cNvSpPr txBox="1"/>
          <p:nvPr/>
        </p:nvSpPr>
        <p:spPr>
          <a:xfrm>
            <a:off x="5989320" y="5091830"/>
            <a:ext cx="5379415" cy="998074"/>
          </a:xfrm>
          <a:prstGeom prst="rect">
            <a:avLst/>
          </a:prstGeom>
          <a:noFill/>
          <a:ln/>
        </p:spPr>
        <p:txBody>
          <a:bodyPr wrap="square" lIns="0" tIns="0" rIns="0" bIns="0" rtlCol="0" anchor="ctr"/>
          <a:lstStyle/>
          <a:p>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P = I²R = 4 · 2 = </a:t>
            </a:r>
            <a:pPr indent="0" marL="0">
              <a:lnSpc>
                <a:spcPct val="112000"/>
              </a:lnSpc>
              <a:buNone/>
            </a:pPr>
            <a:r>
              <a:rPr lang="en-US" sz="1600" b="1" dirty="0">
                <a:solidFill>
                  <a:srgbClr val="0E1426"/>
                </a:solidFill>
                <a:latin typeface="Calibri" pitchFamily="34" charset="0"/>
                <a:ea typeface="Calibri" pitchFamily="34" charset="-122"/>
                <a:cs typeface="Calibri" pitchFamily="34" charset="-120"/>
              </a:rPr>
              <a:t>8 W</a:t>
            </a:r>
            <a:pPr indent="0" marL="0">
              <a:lnSpc>
                <a:spcPct val="112000"/>
              </a:lnSpc>
              <a:buNone/>
            </a:pPr>
            <a:r>
              <a:rPr lang="en-US" sz="1600" dirty="0">
                <a:solidFill>
                  <a:srgbClr val="4A5470"/>
                </a:solidFill>
                <a:latin typeface="Calibri" pitchFamily="34" charset="0"/>
                <a:ea typeface="Calibri" pitchFamily="34" charset="-122"/>
                <a:cs typeface="Calibri" pitchFamily="34" charset="-120"/>
              </a:rPr>
              <a:t>. Kontrol: F·v = 0,5 · 16 = 8 W ✓</a:t>
            </a:r>
            <a:endParaRPr lang="en-US" sz="1600" dirty="0"/>
          </a:p>
        </p:txBody>
      </p:sp>
      <p:sp>
        <p:nvSpPr>
          <p:cNvPr id="29" name="Shape 27"/>
          <p:cNvSpPr/>
          <p:nvPr/>
        </p:nvSpPr>
        <p:spPr>
          <a:xfrm>
            <a:off x="640080" y="6382512"/>
            <a:ext cx="128016" cy="128016"/>
          </a:xfrm>
          <a:prstGeom prst="roundRect">
            <a:avLst>
              <a:gd name="adj" fmla="val 28571"/>
            </a:avLst>
          </a:prstGeom>
          <a:solidFill>
            <a:srgbClr val="A9E648"/>
          </a:solidFill>
          <a:ln/>
        </p:spPr>
      </p:sp>
      <p:sp>
        <p:nvSpPr>
          <p:cNvPr id="30" name="Text 2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dersler.perinet.org/induksiyon-akimi.html</a:t>
            </a:r>
            <a:endParaRPr lang="en-US" sz="1050" dirty="0"/>
          </a:p>
        </p:txBody>
      </p:sp>
      <p:sp>
        <p:nvSpPr>
          <p:cNvPr id="31" name="Text 2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36</a:t>
            </a:r>
            <a:endParaRPr lang="en-US" sz="10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C53455"/>
          </a:solidFill>
          <a:ln/>
          <a:effectLst>
            <a:outerShdw sx="100000" sy="100000" kx="0" ky="0" algn="bl" rotWithShape="0" blurRad="101600" dist="25400" dir="5400000">
              <a:srgbClr val="C53455">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Sık yapılan hatalar · 1 / 2</a:t>
            </a:r>
            <a:endParaRPr lang="en-US" sz="3200" dirty="0"/>
          </a:p>
        </p:txBody>
      </p:sp>
      <p:sp>
        <p:nvSpPr>
          <p:cNvPr id="5" name="Text 3"/>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6" name="Text 4"/>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Sınavda puan kaybettiren klasikler ve doğrusu.</a:t>
            </a:r>
            <a:endParaRPr lang="en-US" sz="1450" dirty="0"/>
          </a:p>
        </p:txBody>
      </p:sp>
      <p:sp>
        <p:nvSpPr>
          <p:cNvPr id="7" name="Shape 5"/>
          <p:cNvSpPr/>
          <p:nvPr/>
        </p:nvSpPr>
        <p:spPr>
          <a:xfrm>
            <a:off x="640080" y="1627632"/>
            <a:ext cx="5346040" cy="2185416"/>
          </a:xfrm>
          <a:prstGeom prst="roundRect">
            <a:avLst>
              <a:gd name="adj" fmla="val 669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841248" y="1773936"/>
            <a:ext cx="274320" cy="274320"/>
          </a:xfrm>
          <a:prstGeom prst="roundRect">
            <a:avLst>
              <a:gd name="adj" fmla="val 26667"/>
            </a:avLst>
          </a:prstGeom>
          <a:solidFill>
            <a:srgbClr val="FBE9EE"/>
          </a:solidFill>
          <a:ln/>
        </p:spPr>
      </p:sp>
      <p:sp>
        <p:nvSpPr>
          <p:cNvPr id="9" name="Text 7"/>
          <p:cNvSpPr txBox="1"/>
          <p:nvPr/>
        </p:nvSpPr>
        <p:spPr>
          <a:xfrm>
            <a:off x="841248" y="1773936"/>
            <a:ext cx="274320" cy="274320"/>
          </a:xfrm>
          <a:prstGeom prst="rect">
            <a:avLst/>
          </a:prstGeom>
          <a:noFill/>
          <a:ln/>
        </p:spPr>
        <p:txBody>
          <a:bodyPr wrap="square" lIns="0" tIns="0" rIns="0" bIns="0" rtlCol="0" anchor="ctr"/>
          <a:lstStyle/>
          <a:p>
            <a:pPr algn="ctr" indent="0" marL="0">
              <a:buNone/>
            </a:pPr>
            <a:r>
              <a:rPr lang="en-US" sz="1250" b="1" dirty="0">
                <a:solidFill>
                  <a:srgbClr val="C53455"/>
                </a:solidFill>
                <a:latin typeface="Calibri" pitchFamily="34" charset="0"/>
                <a:ea typeface="Calibri" pitchFamily="34" charset="-122"/>
                <a:cs typeface="Calibri" pitchFamily="34" charset="-120"/>
              </a:rPr>
              <a:t>✗</a:t>
            </a:r>
            <a:endParaRPr lang="en-US" sz="1250" dirty="0"/>
          </a:p>
        </p:txBody>
      </p:sp>
      <p:sp>
        <p:nvSpPr>
          <p:cNvPr id="10" name="Text 8"/>
          <p:cNvSpPr txBox="1"/>
          <p:nvPr/>
        </p:nvSpPr>
        <p:spPr>
          <a:xfrm>
            <a:off x="1225296" y="1746504"/>
            <a:ext cx="4559656" cy="335280"/>
          </a:xfrm>
          <a:prstGeom prst="rect">
            <a:avLst/>
          </a:prstGeom>
          <a:noFill/>
          <a:ln/>
        </p:spPr>
        <p:txBody>
          <a:bodyPr wrap="square" lIns="0" tIns="0" rIns="0" bIns="0" rtlCol="0" anchor="t"/>
          <a:lstStyle/>
          <a:p>
            <a:pPr indent="0" marL="0">
              <a:lnSpc>
                <a:spcPct val="108000"/>
              </a:lnSpc>
              <a:buNone/>
            </a:pPr>
            <a:r>
              <a:rPr lang="en-US" sz="1600" b="1" dirty="0">
                <a:solidFill>
                  <a:srgbClr val="0E1426"/>
                </a:solidFill>
                <a:latin typeface="Calibri" pitchFamily="34" charset="0"/>
                <a:ea typeface="Calibri" pitchFamily="34" charset="-122"/>
                <a:cs typeface="Calibri" pitchFamily="34" charset="-120"/>
              </a:rPr>
              <a:t>“Manyetik alan varsa akım vardır.”</a:t>
            </a:r>
            <a:endParaRPr lang="en-US" sz="1600" dirty="0"/>
          </a:p>
        </p:txBody>
      </p:sp>
      <p:sp>
        <p:nvSpPr>
          <p:cNvPr id="11" name="Shape 9"/>
          <p:cNvSpPr/>
          <p:nvPr/>
        </p:nvSpPr>
        <p:spPr>
          <a:xfrm>
            <a:off x="841248" y="2154936"/>
            <a:ext cx="274320" cy="274320"/>
          </a:xfrm>
          <a:prstGeom prst="roundRect">
            <a:avLst>
              <a:gd name="adj" fmla="val 26667"/>
            </a:avLst>
          </a:prstGeom>
          <a:solidFill>
            <a:srgbClr val="EAF7DC"/>
          </a:solidFill>
          <a:ln/>
        </p:spPr>
      </p:sp>
      <p:sp>
        <p:nvSpPr>
          <p:cNvPr id="12" name="Text 10"/>
          <p:cNvSpPr txBox="1"/>
          <p:nvPr/>
        </p:nvSpPr>
        <p:spPr>
          <a:xfrm>
            <a:off x="841248" y="2154936"/>
            <a:ext cx="274320" cy="274320"/>
          </a:xfrm>
          <a:prstGeom prst="rect">
            <a:avLst/>
          </a:prstGeom>
          <a:noFill/>
          <a:ln/>
        </p:spPr>
        <p:txBody>
          <a:bodyPr wrap="square" lIns="0" tIns="0" rIns="0" bIns="0" rtlCol="0" anchor="ctr"/>
          <a:lstStyle/>
          <a:p>
            <a:pPr algn="ctr" indent="0" marL="0">
              <a:buNone/>
            </a:pPr>
            <a:r>
              <a:rPr lang="en-US" sz="1250" b="1" dirty="0">
                <a:solidFill>
                  <a:srgbClr val="3C8C21"/>
                </a:solidFill>
                <a:latin typeface="Calibri" pitchFamily="34" charset="0"/>
                <a:ea typeface="Calibri" pitchFamily="34" charset="-122"/>
                <a:cs typeface="Calibri" pitchFamily="34" charset="-120"/>
              </a:rPr>
              <a:t>✓</a:t>
            </a:r>
            <a:endParaRPr lang="en-US" sz="1250" dirty="0"/>
          </a:p>
        </p:txBody>
      </p:sp>
      <p:sp>
        <p:nvSpPr>
          <p:cNvPr id="13" name="Text 11"/>
          <p:cNvSpPr txBox="1"/>
          <p:nvPr/>
        </p:nvSpPr>
        <p:spPr>
          <a:xfrm>
            <a:off x="1225296" y="2136648"/>
            <a:ext cx="4559656" cy="1566672"/>
          </a:xfrm>
          <a:prstGeom prst="rect">
            <a:avLst/>
          </a:prstGeom>
          <a:noFill/>
          <a:ln/>
        </p:spPr>
        <p:txBody>
          <a:bodyPr wrap="square" lIns="0" tIns="0" rIns="0" bIns="0" rtlCol="0" anchor="t"/>
          <a:lstStyle/>
          <a:p>
            <a:pPr indent="0" marL="0">
              <a:lnSpc>
                <a:spcPct val="108000"/>
              </a:lnSpc>
              <a:buNone/>
            </a:pPr>
            <a:r>
              <a:rPr lang="en-US" sz="1500" dirty="0">
                <a:solidFill>
                  <a:srgbClr val="4A5470"/>
                </a:solidFill>
                <a:latin typeface="Calibri" pitchFamily="34" charset="0"/>
                <a:ea typeface="Calibri" pitchFamily="34" charset="-122"/>
                <a:cs typeface="Calibri" pitchFamily="34" charset="-120"/>
              </a:rPr>
              <a:t> Akım için alanın değil, </a:t>
            </a:r>
            <a:pPr indent="0" marL="0">
              <a:lnSpc>
                <a:spcPct val="108000"/>
              </a:lnSpc>
              <a:buNone/>
            </a:pPr>
            <a:r>
              <a:rPr lang="en-US" sz="1500" i="1" dirty="0">
                <a:solidFill>
                  <a:srgbClr val="4A5470"/>
                </a:solidFill>
                <a:latin typeface="Calibri" pitchFamily="34" charset="0"/>
                <a:ea typeface="Calibri" pitchFamily="34" charset="-122"/>
                <a:cs typeface="Calibri" pitchFamily="34" charset="-120"/>
              </a:rPr>
              <a:t>akının değişmesi</a:t>
            </a:r>
            <a:pPr indent="0" marL="0">
              <a:lnSpc>
                <a:spcPct val="108000"/>
              </a:lnSpc>
              <a:buNone/>
            </a:pPr>
            <a:r>
              <a:rPr lang="en-US" sz="1500" dirty="0">
                <a:solidFill>
                  <a:srgbClr val="4A5470"/>
                </a:solidFill>
                <a:latin typeface="Calibri" pitchFamily="34" charset="0"/>
                <a:ea typeface="Calibri" pitchFamily="34" charset="-122"/>
                <a:cs typeface="Calibri" pitchFamily="34" charset="-120"/>
              </a:rPr>
              <a:t> gerekir.</a:t>
            </a:r>
            <a:endParaRPr lang="en-US" sz="1500" dirty="0"/>
          </a:p>
        </p:txBody>
      </p:sp>
      <p:sp>
        <p:nvSpPr>
          <p:cNvPr id="14" name="Shape 12"/>
          <p:cNvSpPr/>
          <p:nvPr/>
        </p:nvSpPr>
        <p:spPr>
          <a:xfrm>
            <a:off x="6205576" y="1627632"/>
            <a:ext cx="5346040" cy="2185416"/>
          </a:xfrm>
          <a:prstGeom prst="roundRect">
            <a:avLst>
              <a:gd name="adj" fmla="val 669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5" name="Shape 13"/>
          <p:cNvSpPr/>
          <p:nvPr/>
        </p:nvSpPr>
        <p:spPr>
          <a:xfrm>
            <a:off x="6406744" y="1773936"/>
            <a:ext cx="274320" cy="274320"/>
          </a:xfrm>
          <a:prstGeom prst="roundRect">
            <a:avLst>
              <a:gd name="adj" fmla="val 26667"/>
            </a:avLst>
          </a:prstGeom>
          <a:solidFill>
            <a:srgbClr val="FBE9EE"/>
          </a:solidFill>
          <a:ln/>
        </p:spPr>
      </p:sp>
      <p:sp>
        <p:nvSpPr>
          <p:cNvPr id="16" name="Text 14"/>
          <p:cNvSpPr txBox="1"/>
          <p:nvPr/>
        </p:nvSpPr>
        <p:spPr>
          <a:xfrm>
            <a:off x="6406744" y="1773936"/>
            <a:ext cx="274320" cy="274320"/>
          </a:xfrm>
          <a:prstGeom prst="rect">
            <a:avLst/>
          </a:prstGeom>
          <a:noFill/>
          <a:ln/>
        </p:spPr>
        <p:txBody>
          <a:bodyPr wrap="square" lIns="0" tIns="0" rIns="0" bIns="0" rtlCol="0" anchor="ctr"/>
          <a:lstStyle/>
          <a:p>
            <a:pPr algn="ctr" indent="0" marL="0">
              <a:buNone/>
            </a:pPr>
            <a:r>
              <a:rPr lang="en-US" sz="1250" b="1" dirty="0">
                <a:solidFill>
                  <a:srgbClr val="C53455"/>
                </a:solidFill>
                <a:latin typeface="Calibri" pitchFamily="34" charset="0"/>
                <a:ea typeface="Calibri" pitchFamily="34" charset="-122"/>
                <a:cs typeface="Calibri" pitchFamily="34" charset="-120"/>
              </a:rPr>
              <a:t>✗</a:t>
            </a:r>
            <a:endParaRPr lang="en-US" sz="1250" dirty="0"/>
          </a:p>
        </p:txBody>
      </p:sp>
      <p:sp>
        <p:nvSpPr>
          <p:cNvPr id="17" name="Text 15"/>
          <p:cNvSpPr txBox="1"/>
          <p:nvPr/>
        </p:nvSpPr>
        <p:spPr>
          <a:xfrm>
            <a:off x="6790792" y="1746504"/>
            <a:ext cx="4559656" cy="615696"/>
          </a:xfrm>
          <a:prstGeom prst="rect">
            <a:avLst/>
          </a:prstGeom>
          <a:noFill/>
          <a:ln/>
        </p:spPr>
        <p:txBody>
          <a:bodyPr wrap="square" lIns="0" tIns="0" rIns="0" bIns="0" rtlCol="0" anchor="t"/>
          <a:lstStyle/>
          <a:p>
            <a:pPr indent="0" marL="0">
              <a:lnSpc>
                <a:spcPct val="108000"/>
              </a:lnSpc>
              <a:buNone/>
            </a:pPr>
            <a:r>
              <a:rPr lang="en-US" sz="1600" b="1" dirty="0">
                <a:solidFill>
                  <a:srgbClr val="0E1426"/>
                </a:solidFill>
                <a:latin typeface="Calibri" pitchFamily="34" charset="0"/>
                <a:ea typeface="Calibri" pitchFamily="34" charset="-122"/>
                <a:cs typeface="Calibri" pitchFamily="34" charset="-120"/>
              </a:rPr>
              <a:t>“Güçlü mıknatıs her zaman daha çok akım üretir.”</a:t>
            </a:r>
            <a:endParaRPr lang="en-US" sz="1600" dirty="0"/>
          </a:p>
        </p:txBody>
      </p:sp>
      <p:sp>
        <p:nvSpPr>
          <p:cNvPr id="18" name="Shape 16"/>
          <p:cNvSpPr/>
          <p:nvPr/>
        </p:nvSpPr>
        <p:spPr>
          <a:xfrm>
            <a:off x="6406744" y="2435352"/>
            <a:ext cx="274320" cy="274320"/>
          </a:xfrm>
          <a:prstGeom prst="roundRect">
            <a:avLst>
              <a:gd name="adj" fmla="val 26667"/>
            </a:avLst>
          </a:prstGeom>
          <a:solidFill>
            <a:srgbClr val="EAF7DC"/>
          </a:solidFill>
          <a:ln/>
        </p:spPr>
      </p:sp>
      <p:sp>
        <p:nvSpPr>
          <p:cNvPr id="19" name="Text 17"/>
          <p:cNvSpPr txBox="1"/>
          <p:nvPr/>
        </p:nvSpPr>
        <p:spPr>
          <a:xfrm>
            <a:off x="6406744" y="2435352"/>
            <a:ext cx="274320" cy="274320"/>
          </a:xfrm>
          <a:prstGeom prst="rect">
            <a:avLst/>
          </a:prstGeom>
          <a:noFill/>
          <a:ln/>
        </p:spPr>
        <p:txBody>
          <a:bodyPr wrap="square" lIns="0" tIns="0" rIns="0" bIns="0" rtlCol="0" anchor="ctr"/>
          <a:lstStyle/>
          <a:p>
            <a:pPr algn="ctr" indent="0" marL="0">
              <a:buNone/>
            </a:pPr>
            <a:r>
              <a:rPr lang="en-US" sz="1250" b="1" dirty="0">
                <a:solidFill>
                  <a:srgbClr val="3C8C21"/>
                </a:solidFill>
                <a:latin typeface="Calibri" pitchFamily="34" charset="0"/>
                <a:ea typeface="Calibri" pitchFamily="34" charset="-122"/>
                <a:cs typeface="Calibri" pitchFamily="34" charset="-120"/>
              </a:rPr>
              <a:t>✓</a:t>
            </a:r>
            <a:endParaRPr lang="en-US" sz="1250" dirty="0"/>
          </a:p>
        </p:txBody>
      </p:sp>
      <p:sp>
        <p:nvSpPr>
          <p:cNvPr id="20" name="Text 18"/>
          <p:cNvSpPr txBox="1"/>
          <p:nvPr/>
        </p:nvSpPr>
        <p:spPr>
          <a:xfrm>
            <a:off x="6790792" y="2417064"/>
            <a:ext cx="4559656" cy="1286256"/>
          </a:xfrm>
          <a:prstGeom prst="rect">
            <a:avLst/>
          </a:prstGeom>
          <a:noFill/>
          <a:ln/>
        </p:spPr>
        <p:txBody>
          <a:bodyPr wrap="square" lIns="0" tIns="0" rIns="0" bIns="0" rtlCol="0" anchor="t"/>
          <a:lstStyle/>
          <a:p>
            <a:pPr indent="0" marL="0">
              <a:lnSpc>
                <a:spcPct val="108000"/>
              </a:lnSpc>
              <a:buNone/>
            </a:pPr>
            <a:r>
              <a:rPr lang="en-US" sz="1500" dirty="0">
                <a:solidFill>
                  <a:srgbClr val="4A5470"/>
                </a:solidFill>
                <a:latin typeface="Calibri" pitchFamily="34" charset="0"/>
                <a:ea typeface="Calibri" pitchFamily="34" charset="-122"/>
                <a:cs typeface="Calibri" pitchFamily="34" charset="-120"/>
              </a:rPr>
              <a:t> Belirleyici olan ΔΦ/Δt'dir; yavaş oynatılan güçlü mıknatıs, hızlı oynatılan zayıf mıknatıstan daha az emk üretebilir.</a:t>
            </a:r>
            <a:endParaRPr lang="en-US" sz="1500" dirty="0"/>
          </a:p>
        </p:txBody>
      </p:sp>
      <p:sp>
        <p:nvSpPr>
          <p:cNvPr id="21" name="Shape 19"/>
          <p:cNvSpPr/>
          <p:nvPr/>
        </p:nvSpPr>
        <p:spPr>
          <a:xfrm>
            <a:off x="640080" y="3959352"/>
            <a:ext cx="5346040" cy="2185416"/>
          </a:xfrm>
          <a:prstGeom prst="roundRect">
            <a:avLst>
              <a:gd name="adj" fmla="val 669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2" name="Shape 20"/>
          <p:cNvSpPr/>
          <p:nvPr/>
        </p:nvSpPr>
        <p:spPr>
          <a:xfrm>
            <a:off x="841248" y="4105656"/>
            <a:ext cx="274320" cy="274320"/>
          </a:xfrm>
          <a:prstGeom prst="roundRect">
            <a:avLst>
              <a:gd name="adj" fmla="val 26667"/>
            </a:avLst>
          </a:prstGeom>
          <a:solidFill>
            <a:srgbClr val="FBE9EE"/>
          </a:solidFill>
          <a:ln/>
        </p:spPr>
      </p:sp>
      <p:sp>
        <p:nvSpPr>
          <p:cNvPr id="23" name="Text 21"/>
          <p:cNvSpPr txBox="1"/>
          <p:nvPr/>
        </p:nvSpPr>
        <p:spPr>
          <a:xfrm>
            <a:off x="841248" y="4105656"/>
            <a:ext cx="274320" cy="274320"/>
          </a:xfrm>
          <a:prstGeom prst="rect">
            <a:avLst/>
          </a:prstGeom>
          <a:noFill/>
          <a:ln/>
        </p:spPr>
        <p:txBody>
          <a:bodyPr wrap="square" lIns="0" tIns="0" rIns="0" bIns="0" rtlCol="0" anchor="ctr"/>
          <a:lstStyle/>
          <a:p>
            <a:pPr algn="ctr" indent="0" marL="0">
              <a:buNone/>
            </a:pPr>
            <a:r>
              <a:rPr lang="en-US" sz="1250" b="1" dirty="0">
                <a:solidFill>
                  <a:srgbClr val="C53455"/>
                </a:solidFill>
                <a:latin typeface="Calibri" pitchFamily="34" charset="0"/>
                <a:ea typeface="Calibri" pitchFamily="34" charset="-122"/>
                <a:cs typeface="Calibri" pitchFamily="34" charset="-120"/>
              </a:rPr>
              <a:t>✗</a:t>
            </a:r>
            <a:endParaRPr lang="en-US" sz="1250" dirty="0"/>
          </a:p>
        </p:txBody>
      </p:sp>
      <p:sp>
        <p:nvSpPr>
          <p:cNvPr id="24" name="Text 22"/>
          <p:cNvSpPr txBox="1"/>
          <p:nvPr/>
        </p:nvSpPr>
        <p:spPr>
          <a:xfrm>
            <a:off x="1225296" y="4078224"/>
            <a:ext cx="4559656" cy="335280"/>
          </a:xfrm>
          <a:prstGeom prst="rect">
            <a:avLst/>
          </a:prstGeom>
          <a:noFill/>
          <a:ln/>
        </p:spPr>
        <p:txBody>
          <a:bodyPr wrap="square" lIns="0" tIns="0" rIns="0" bIns="0" rtlCol="0" anchor="t"/>
          <a:lstStyle/>
          <a:p>
            <a:pPr indent="0" marL="0">
              <a:lnSpc>
                <a:spcPct val="108000"/>
              </a:lnSpc>
              <a:buNone/>
            </a:pPr>
            <a:r>
              <a:rPr lang="en-US" sz="1600" b="1" dirty="0">
                <a:solidFill>
                  <a:srgbClr val="0E1426"/>
                </a:solidFill>
                <a:latin typeface="Calibri" pitchFamily="34" charset="0"/>
                <a:ea typeface="Calibri" pitchFamily="34" charset="-122"/>
                <a:cs typeface="Calibri" pitchFamily="34" charset="-120"/>
              </a:rPr>
              <a:t>Lenz'in eksi işaretini büyüklük sanmak.</a:t>
            </a:r>
            <a:endParaRPr lang="en-US" sz="1600" dirty="0"/>
          </a:p>
        </p:txBody>
      </p:sp>
      <p:sp>
        <p:nvSpPr>
          <p:cNvPr id="25" name="Shape 23"/>
          <p:cNvSpPr/>
          <p:nvPr/>
        </p:nvSpPr>
        <p:spPr>
          <a:xfrm>
            <a:off x="841248" y="4486656"/>
            <a:ext cx="274320" cy="274320"/>
          </a:xfrm>
          <a:prstGeom prst="roundRect">
            <a:avLst>
              <a:gd name="adj" fmla="val 26667"/>
            </a:avLst>
          </a:prstGeom>
          <a:solidFill>
            <a:srgbClr val="EAF7DC"/>
          </a:solidFill>
          <a:ln/>
        </p:spPr>
      </p:sp>
      <p:sp>
        <p:nvSpPr>
          <p:cNvPr id="26" name="Text 24"/>
          <p:cNvSpPr txBox="1"/>
          <p:nvPr/>
        </p:nvSpPr>
        <p:spPr>
          <a:xfrm>
            <a:off x="841248" y="4486656"/>
            <a:ext cx="274320" cy="274320"/>
          </a:xfrm>
          <a:prstGeom prst="rect">
            <a:avLst/>
          </a:prstGeom>
          <a:noFill/>
          <a:ln/>
        </p:spPr>
        <p:txBody>
          <a:bodyPr wrap="square" lIns="0" tIns="0" rIns="0" bIns="0" rtlCol="0" anchor="ctr"/>
          <a:lstStyle/>
          <a:p>
            <a:pPr algn="ctr" indent="0" marL="0">
              <a:buNone/>
            </a:pPr>
            <a:r>
              <a:rPr lang="en-US" sz="1250" b="1" dirty="0">
                <a:solidFill>
                  <a:srgbClr val="3C8C21"/>
                </a:solidFill>
                <a:latin typeface="Calibri" pitchFamily="34" charset="0"/>
                <a:ea typeface="Calibri" pitchFamily="34" charset="-122"/>
                <a:cs typeface="Calibri" pitchFamily="34" charset="-120"/>
              </a:rPr>
              <a:t>✓</a:t>
            </a:r>
            <a:endParaRPr lang="en-US" sz="1250" dirty="0"/>
          </a:p>
        </p:txBody>
      </p:sp>
      <p:sp>
        <p:nvSpPr>
          <p:cNvPr id="27" name="Text 25"/>
          <p:cNvSpPr txBox="1"/>
          <p:nvPr/>
        </p:nvSpPr>
        <p:spPr>
          <a:xfrm>
            <a:off x="1225296" y="4468368"/>
            <a:ext cx="4559656" cy="1566672"/>
          </a:xfrm>
          <a:prstGeom prst="rect">
            <a:avLst/>
          </a:prstGeom>
          <a:noFill/>
          <a:ln/>
        </p:spPr>
        <p:txBody>
          <a:bodyPr wrap="square" lIns="0" tIns="0" rIns="0" bIns="0" rtlCol="0" anchor="t"/>
          <a:lstStyle/>
          <a:p>
            <a:pPr indent="0" marL="0">
              <a:lnSpc>
                <a:spcPct val="108000"/>
              </a:lnSpc>
              <a:buNone/>
            </a:pPr>
            <a:r>
              <a:rPr lang="en-US" sz="1500" dirty="0">
                <a:solidFill>
                  <a:srgbClr val="4A5470"/>
                </a:solidFill>
                <a:latin typeface="Calibri" pitchFamily="34" charset="0"/>
                <a:ea typeface="Calibri" pitchFamily="34" charset="-122"/>
                <a:cs typeface="Calibri" pitchFamily="34" charset="-120"/>
              </a:rPr>
              <a:t> Eksi işareti yalnızca </a:t>
            </a:r>
            <a:pPr indent="0" marL="0">
              <a:lnSpc>
                <a:spcPct val="108000"/>
              </a:lnSpc>
              <a:buNone/>
            </a:pPr>
            <a:r>
              <a:rPr lang="en-US" sz="1500" i="1" dirty="0">
                <a:solidFill>
                  <a:srgbClr val="4A5470"/>
                </a:solidFill>
                <a:latin typeface="Calibri" pitchFamily="34" charset="0"/>
                <a:ea typeface="Calibri" pitchFamily="34" charset="-122"/>
                <a:cs typeface="Calibri" pitchFamily="34" charset="-120"/>
              </a:rPr>
              <a:t>yönü</a:t>
            </a:r>
            <a:pPr indent="0" marL="0">
              <a:lnSpc>
                <a:spcPct val="108000"/>
              </a:lnSpc>
              <a:buNone/>
            </a:pPr>
            <a:r>
              <a:rPr lang="en-US" sz="1500" dirty="0">
                <a:solidFill>
                  <a:srgbClr val="4A5470"/>
                </a:solidFill>
                <a:latin typeface="Calibri" pitchFamily="34" charset="0"/>
                <a:ea typeface="Calibri" pitchFamily="34" charset="-122"/>
                <a:cs typeface="Calibri" pitchFamily="34" charset="-120"/>
              </a:rPr>
              <a:t> anlatır.</a:t>
            </a:r>
            <a:endParaRPr lang="en-US" sz="1500" dirty="0"/>
          </a:p>
        </p:txBody>
      </p:sp>
      <p:sp>
        <p:nvSpPr>
          <p:cNvPr id="28" name="Shape 26"/>
          <p:cNvSpPr/>
          <p:nvPr/>
        </p:nvSpPr>
        <p:spPr>
          <a:xfrm>
            <a:off x="6205576" y="3959352"/>
            <a:ext cx="5346040" cy="2185416"/>
          </a:xfrm>
          <a:prstGeom prst="roundRect">
            <a:avLst>
              <a:gd name="adj" fmla="val 669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9" name="Shape 27"/>
          <p:cNvSpPr/>
          <p:nvPr/>
        </p:nvSpPr>
        <p:spPr>
          <a:xfrm>
            <a:off x="6406744" y="4105656"/>
            <a:ext cx="274320" cy="274320"/>
          </a:xfrm>
          <a:prstGeom prst="roundRect">
            <a:avLst>
              <a:gd name="adj" fmla="val 26667"/>
            </a:avLst>
          </a:prstGeom>
          <a:solidFill>
            <a:srgbClr val="FBE9EE"/>
          </a:solidFill>
          <a:ln/>
        </p:spPr>
      </p:sp>
      <p:sp>
        <p:nvSpPr>
          <p:cNvPr id="30" name="Text 28"/>
          <p:cNvSpPr txBox="1"/>
          <p:nvPr/>
        </p:nvSpPr>
        <p:spPr>
          <a:xfrm>
            <a:off x="6406744" y="4105656"/>
            <a:ext cx="274320" cy="274320"/>
          </a:xfrm>
          <a:prstGeom prst="rect">
            <a:avLst/>
          </a:prstGeom>
          <a:noFill/>
          <a:ln/>
        </p:spPr>
        <p:txBody>
          <a:bodyPr wrap="square" lIns="0" tIns="0" rIns="0" bIns="0" rtlCol="0" anchor="ctr"/>
          <a:lstStyle/>
          <a:p>
            <a:pPr algn="ctr" indent="0" marL="0">
              <a:buNone/>
            </a:pPr>
            <a:r>
              <a:rPr lang="en-US" sz="1250" b="1" dirty="0">
                <a:solidFill>
                  <a:srgbClr val="C53455"/>
                </a:solidFill>
                <a:latin typeface="Calibri" pitchFamily="34" charset="0"/>
                <a:ea typeface="Calibri" pitchFamily="34" charset="-122"/>
                <a:cs typeface="Calibri" pitchFamily="34" charset="-120"/>
              </a:rPr>
              <a:t>✗</a:t>
            </a:r>
            <a:endParaRPr lang="en-US" sz="1250" dirty="0"/>
          </a:p>
        </p:txBody>
      </p:sp>
      <p:sp>
        <p:nvSpPr>
          <p:cNvPr id="31" name="Text 29"/>
          <p:cNvSpPr txBox="1"/>
          <p:nvPr/>
        </p:nvSpPr>
        <p:spPr>
          <a:xfrm>
            <a:off x="6790792" y="4078224"/>
            <a:ext cx="4559656" cy="335280"/>
          </a:xfrm>
          <a:prstGeom prst="rect">
            <a:avLst/>
          </a:prstGeom>
          <a:noFill/>
          <a:ln/>
        </p:spPr>
        <p:txBody>
          <a:bodyPr wrap="square" lIns="0" tIns="0" rIns="0" bIns="0" rtlCol="0" anchor="t"/>
          <a:lstStyle/>
          <a:p>
            <a:pPr indent="0" marL="0">
              <a:lnSpc>
                <a:spcPct val="108000"/>
              </a:lnSpc>
              <a:buNone/>
            </a:pPr>
            <a:r>
              <a:rPr lang="en-US" sz="1600" b="1" dirty="0">
                <a:solidFill>
                  <a:srgbClr val="0E1426"/>
                </a:solidFill>
                <a:latin typeface="Calibri" pitchFamily="34" charset="0"/>
                <a:ea typeface="Calibri" pitchFamily="34" charset="-122"/>
                <a:cs typeface="Calibri" pitchFamily="34" charset="-120"/>
              </a:rPr>
              <a:t>“İndüksiyon akımı hareketi destekler.”</a:t>
            </a:r>
            <a:endParaRPr lang="en-US" sz="1600" dirty="0"/>
          </a:p>
        </p:txBody>
      </p:sp>
      <p:sp>
        <p:nvSpPr>
          <p:cNvPr id="32" name="Shape 30"/>
          <p:cNvSpPr/>
          <p:nvPr/>
        </p:nvSpPr>
        <p:spPr>
          <a:xfrm>
            <a:off x="6406744" y="4486656"/>
            <a:ext cx="274320" cy="274320"/>
          </a:xfrm>
          <a:prstGeom prst="roundRect">
            <a:avLst>
              <a:gd name="adj" fmla="val 26667"/>
            </a:avLst>
          </a:prstGeom>
          <a:solidFill>
            <a:srgbClr val="EAF7DC"/>
          </a:solidFill>
          <a:ln/>
        </p:spPr>
      </p:sp>
      <p:sp>
        <p:nvSpPr>
          <p:cNvPr id="33" name="Text 31"/>
          <p:cNvSpPr txBox="1"/>
          <p:nvPr/>
        </p:nvSpPr>
        <p:spPr>
          <a:xfrm>
            <a:off x="6406744" y="4486656"/>
            <a:ext cx="274320" cy="274320"/>
          </a:xfrm>
          <a:prstGeom prst="rect">
            <a:avLst/>
          </a:prstGeom>
          <a:noFill/>
          <a:ln/>
        </p:spPr>
        <p:txBody>
          <a:bodyPr wrap="square" lIns="0" tIns="0" rIns="0" bIns="0" rtlCol="0" anchor="ctr"/>
          <a:lstStyle/>
          <a:p>
            <a:pPr algn="ctr" indent="0" marL="0">
              <a:buNone/>
            </a:pPr>
            <a:r>
              <a:rPr lang="en-US" sz="1250" b="1" dirty="0">
                <a:solidFill>
                  <a:srgbClr val="3C8C21"/>
                </a:solidFill>
                <a:latin typeface="Calibri" pitchFamily="34" charset="0"/>
                <a:ea typeface="Calibri" pitchFamily="34" charset="-122"/>
                <a:cs typeface="Calibri" pitchFamily="34" charset="-120"/>
              </a:rPr>
              <a:t>✓</a:t>
            </a:r>
            <a:endParaRPr lang="en-US" sz="1250" dirty="0"/>
          </a:p>
        </p:txBody>
      </p:sp>
      <p:sp>
        <p:nvSpPr>
          <p:cNvPr id="34" name="Text 32"/>
          <p:cNvSpPr txBox="1"/>
          <p:nvPr/>
        </p:nvSpPr>
        <p:spPr>
          <a:xfrm>
            <a:off x="6790792" y="4468368"/>
            <a:ext cx="4559656" cy="1566672"/>
          </a:xfrm>
          <a:prstGeom prst="rect">
            <a:avLst/>
          </a:prstGeom>
          <a:noFill/>
          <a:ln/>
        </p:spPr>
        <p:txBody>
          <a:bodyPr wrap="square" lIns="0" tIns="0" rIns="0" bIns="0" rtlCol="0" anchor="t"/>
          <a:lstStyle/>
          <a:p>
            <a:pPr indent="0" marL="0">
              <a:lnSpc>
                <a:spcPct val="108000"/>
              </a:lnSpc>
              <a:buNone/>
            </a:pPr>
            <a:r>
              <a:rPr lang="en-US" sz="1500" dirty="0">
                <a:solidFill>
                  <a:srgbClr val="4A5470"/>
                </a:solidFill>
                <a:latin typeface="Calibri" pitchFamily="34" charset="0"/>
                <a:ea typeface="Calibri" pitchFamily="34" charset="-122"/>
                <a:cs typeface="Calibri" pitchFamily="34" charset="-120"/>
              </a:rPr>
              <a:t> Daima </a:t>
            </a:r>
            <a:pPr indent="0" marL="0">
              <a:lnSpc>
                <a:spcPct val="108000"/>
              </a:lnSpc>
              <a:buNone/>
            </a:pPr>
            <a:r>
              <a:rPr lang="en-US" sz="1500" i="1" dirty="0">
                <a:solidFill>
                  <a:srgbClr val="4A5470"/>
                </a:solidFill>
                <a:latin typeface="Calibri" pitchFamily="34" charset="0"/>
                <a:ea typeface="Calibri" pitchFamily="34" charset="-122"/>
                <a:cs typeface="Calibri" pitchFamily="34" charset="-120"/>
              </a:rPr>
              <a:t>karşı koyar</a:t>
            </a:r>
            <a:pPr indent="0" marL="0">
              <a:lnSpc>
                <a:spcPct val="108000"/>
              </a:lnSpc>
              <a:buNone/>
            </a:pPr>
            <a:r>
              <a:rPr lang="en-US" sz="1500" dirty="0">
                <a:solidFill>
                  <a:srgbClr val="4A5470"/>
                </a:solidFill>
                <a:latin typeface="Calibri" pitchFamily="34" charset="0"/>
                <a:ea typeface="Calibri" pitchFamily="34" charset="-122"/>
                <a:cs typeface="Calibri" pitchFamily="34" charset="-120"/>
              </a:rPr>
              <a:t>; aksi hâlde enerji korunumu bozulurdu.</a:t>
            </a:r>
            <a:endParaRPr lang="en-US" sz="1500" dirty="0"/>
          </a:p>
        </p:txBody>
      </p:sp>
      <p:sp>
        <p:nvSpPr>
          <p:cNvPr id="35" name="Shape 33"/>
          <p:cNvSpPr/>
          <p:nvPr/>
        </p:nvSpPr>
        <p:spPr>
          <a:xfrm>
            <a:off x="640080" y="6382512"/>
            <a:ext cx="128016" cy="128016"/>
          </a:xfrm>
          <a:prstGeom prst="roundRect">
            <a:avLst>
              <a:gd name="adj" fmla="val 28571"/>
            </a:avLst>
          </a:prstGeom>
          <a:solidFill>
            <a:srgbClr val="A9E648"/>
          </a:solidFill>
          <a:ln/>
        </p:spPr>
      </p:sp>
      <p:sp>
        <p:nvSpPr>
          <p:cNvPr id="36" name="Text 34"/>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dersler.perinet.org/induksiyon-akimi.html</a:t>
            </a:r>
            <a:endParaRPr lang="en-US" sz="1050" dirty="0"/>
          </a:p>
        </p:txBody>
      </p:sp>
      <p:sp>
        <p:nvSpPr>
          <p:cNvPr id="37" name="Text 35"/>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37</a:t>
            </a:r>
            <a:endParaRPr lang="en-US" sz="10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C53455"/>
          </a:solidFill>
          <a:ln/>
          <a:effectLst>
            <a:outerShdw sx="100000" sy="100000" kx="0" ky="0" algn="bl" rotWithShape="0" blurRad="101600" dist="25400" dir="5400000">
              <a:srgbClr val="C53455">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Sık yapılan hatalar · 2 / 2</a:t>
            </a:r>
            <a:endParaRPr lang="en-US" sz="3200" dirty="0"/>
          </a:p>
        </p:txBody>
      </p:sp>
      <p:sp>
        <p:nvSpPr>
          <p:cNvPr id="5" name="Text 3"/>
          <p:cNvSpPr txBox="1"/>
          <p:nvPr/>
        </p:nvSpPr>
        <p:spPr>
          <a:xfrm>
            <a:off x="9174175" y="109728"/>
            <a:ext cx="23774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6" name="Text 4"/>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Sınavda puan kaybettiren klasikler ve doğrusu.</a:t>
            </a:r>
            <a:endParaRPr lang="en-US" sz="1450" dirty="0"/>
          </a:p>
        </p:txBody>
      </p:sp>
      <p:sp>
        <p:nvSpPr>
          <p:cNvPr id="7" name="Shape 5"/>
          <p:cNvSpPr/>
          <p:nvPr/>
        </p:nvSpPr>
        <p:spPr>
          <a:xfrm>
            <a:off x="640080" y="1627632"/>
            <a:ext cx="5346040" cy="2185416"/>
          </a:xfrm>
          <a:prstGeom prst="roundRect">
            <a:avLst>
              <a:gd name="adj" fmla="val 669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841248" y="1773936"/>
            <a:ext cx="274320" cy="274320"/>
          </a:xfrm>
          <a:prstGeom prst="roundRect">
            <a:avLst>
              <a:gd name="adj" fmla="val 26667"/>
            </a:avLst>
          </a:prstGeom>
          <a:solidFill>
            <a:srgbClr val="FBE9EE"/>
          </a:solidFill>
          <a:ln/>
        </p:spPr>
      </p:sp>
      <p:sp>
        <p:nvSpPr>
          <p:cNvPr id="9" name="Text 7"/>
          <p:cNvSpPr txBox="1"/>
          <p:nvPr/>
        </p:nvSpPr>
        <p:spPr>
          <a:xfrm>
            <a:off x="841248" y="1773936"/>
            <a:ext cx="274320" cy="274320"/>
          </a:xfrm>
          <a:prstGeom prst="rect">
            <a:avLst/>
          </a:prstGeom>
          <a:noFill/>
          <a:ln/>
        </p:spPr>
        <p:txBody>
          <a:bodyPr wrap="square" lIns="0" tIns="0" rIns="0" bIns="0" rtlCol="0" anchor="ctr"/>
          <a:lstStyle/>
          <a:p>
            <a:pPr algn="ctr" indent="0" marL="0">
              <a:buNone/>
            </a:pPr>
            <a:r>
              <a:rPr lang="en-US" sz="1250" b="1" dirty="0">
                <a:solidFill>
                  <a:srgbClr val="C53455"/>
                </a:solidFill>
                <a:latin typeface="Calibri" pitchFamily="34" charset="0"/>
                <a:ea typeface="Calibri" pitchFamily="34" charset="-122"/>
                <a:cs typeface="Calibri" pitchFamily="34" charset="-120"/>
              </a:rPr>
              <a:t>✗</a:t>
            </a:r>
            <a:endParaRPr lang="en-US" sz="1250" dirty="0"/>
          </a:p>
        </p:txBody>
      </p:sp>
      <p:sp>
        <p:nvSpPr>
          <p:cNvPr id="10" name="Text 8"/>
          <p:cNvSpPr txBox="1"/>
          <p:nvPr/>
        </p:nvSpPr>
        <p:spPr>
          <a:xfrm>
            <a:off x="1225296" y="1746504"/>
            <a:ext cx="4559656" cy="335280"/>
          </a:xfrm>
          <a:prstGeom prst="rect">
            <a:avLst/>
          </a:prstGeom>
          <a:noFill/>
          <a:ln/>
        </p:spPr>
        <p:txBody>
          <a:bodyPr wrap="square" lIns="0" tIns="0" rIns="0" bIns="0" rtlCol="0" anchor="t"/>
          <a:lstStyle/>
          <a:p>
            <a:pPr indent="0" marL="0">
              <a:lnSpc>
                <a:spcPct val="108000"/>
              </a:lnSpc>
              <a:buNone/>
            </a:pPr>
            <a:r>
              <a:rPr lang="en-US" sz="1600" b="1" dirty="0">
                <a:solidFill>
                  <a:srgbClr val="0E1426"/>
                </a:solidFill>
                <a:latin typeface="Calibri" pitchFamily="34" charset="0"/>
                <a:ea typeface="Calibri" pitchFamily="34" charset="-122"/>
                <a:cs typeface="Calibri" pitchFamily="34" charset="-120"/>
              </a:rPr>
              <a:t>Akıyı alanla karıştırmak.</a:t>
            </a:r>
            <a:endParaRPr lang="en-US" sz="1600" dirty="0"/>
          </a:p>
        </p:txBody>
      </p:sp>
      <p:sp>
        <p:nvSpPr>
          <p:cNvPr id="11" name="Shape 9"/>
          <p:cNvSpPr/>
          <p:nvPr/>
        </p:nvSpPr>
        <p:spPr>
          <a:xfrm>
            <a:off x="841248" y="2154936"/>
            <a:ext cx="274320" cy="274320"/>
          </a:xfrm>
          <a:prstGeom prst="roundRect">
            <a:avLst>
              <a:gd name="adj" fmla="val 26667"/>
            </a:avLst>
          </a:prstGeom>
          <a:solidFill>
            <a:srgbClr val="EAF7DC"/>
          </a:solidFill>
          <a:ln/>
        </p:spPr>
      </p:sp>
      <p:sp>
        <p:nvSpPr>
          <p:cNvPr id="12" name="Text 10"/>
          <p:cNvSpPr txBox="1"/>
          <p:nvPr/>
        </p:nvSpPr>
        <p:spPr>
          <a:xfrm>
            <a:off x="841248" y="2154936"/>
            <a:ext cx="274320" cy="274320"/>
          </a:xfrm>
          <a:prstGeom prst="rect">
            <a:avLst/>
          </a:prstGeom>
          <a:noFill/>
          <a:ln/>
        </p:spPr>
        <p:txBody>
          <a:bodyPr wrap="square" lIns="0" tIns="0" rIns="0" bIns="0" rtlCol="0" anchor="ctr"/>
          <a:lstStyle/>
          <a:p>
            <a:pPr algn="ctr" indent="0" marL="0">
              <a:buNone/>
            </a:pPr>
            <a:r>
              <a:rPr lang="en-US" sz="1250" b="1" dirty="0">
                <a:solidFill>
                  <a:srgbClr val="3C8C21"/>
                </a:solidFill>
                <a:latin typeface="Calibri" pitchFamily="34" charset="0"/>
                <a:ea typeface="Calibri" pitchFamily="34" charset="-122"/>
                <a:cs typeface="Calibri" pitchFamily="34" charset="-120"/>
              </a:rPr>
              <a:t>✓</a:t>
            </a:r>
            <a:endParaRPr lang="en-US" sz="1250" dirty="0"/>
          </a:p>
        </p:txBody>
      </p:sp>
      <p:sp>
        <p:nvSpPr>
          <p:cNvPr id="13" name="Text 11"/>
          <p:cNvSpPr txBox="1"/>
          <p:nvPr/>
        </p:nvSpPr>
        <p:spPr>
          <a:xfrm>
            <a:off x="1225296" y="2136648"/>
            <a:ext cx="4559656" cy="1566672"/>
          </a:xfrm>
          <a:prstGeom prst="rect">
            <a:avLst/>
          </a:prstGeom>
          <a:noFill/>
          <a:ln/>
        </p:spPr>
        <p:txBody>
          <a:bodyPr wrap="square" lIns="0" tIns="0" rIns="0" bIns="0" rtlCol="0" anchor="t"/>
          <a:lstStyle/>
          <a:p>
            <a:pPr indent="0" marL="0">
              <a:lnSpc>
                <a:spcPct val="108000"/>
              </a:lnSpc>
              <a:buNone/>
            </a:pPr>
            <a:r>
              <a:rPr lang="en-US" sz="1500" dirty="0">
                <a:solidFill>
                  <a:srgbClr val="4A5470"/>
                </a:solidFill>
                <a:latin typeface="Calibri" pitchFamily="34" charset="0"/>
                <a:ea typeface="Calibri" pitchFamily="34" charset="-122"/>
                <a:cs typeface="Calibri" pitchFamily="34" charset="-120"/>
              </a:rPr>
              <a:t> Φ = B·A·cosα; alan aynı kalsa bile yüzey ya da açı değişirse akı değişir.</a:t>
            </a:r>
            <a:endParaRPr lang="en-US" sz="1500" dirty="0"/>
          </a:p>
        </p:txBody>
      </p:sp>
      <p:sp>
        <p:nvSpPr>
          <p:cNvPr id="14" name="Shape 12"/>
          <p:cNvSpPr/>
          <p:nvPr/>
        </p:nvSpPr>
        <p:spPr>
          <a:xfrm>
            <a:off x="6205576" y="1627632"/>
            <a:ext cx="5346040" cy="2185416"/>
          </a:xfrm>
          <a:prstGeom prst="roundRect">
            <a:avLst>
              <a:gd name="adj" fmla="val 669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5" name="Shape 13"/>
          <p:cNvSpPr/>
          <p:nvPr/>
        </p:nvSpPr>
        <p:spPr>
          <a:xfrm>
            <a:off x="6406744" y="1773936"/>
            <a:ext cx="274320" cy="274320"/>
          </a:xfrm>
          <a:prstGeom prst="roundRect">
            <a:avLst>
              <a:gd name="adj" fmla="val 26667"/>
            </a:avLst>
          </a:prstGeom>
          <a:solidFill>
            <a:srgbClr val="FBE9EE"/>
          </a:solidFill>
          <a:ln/>
        </p:spPr>
      </p:sp>
      <p:sp>
        <p:nvSpPr>
          <p:cNvPr id="16" name="Text 14"/>
          <p:cNvSpPr txBox="1"/>
          <p:nvPr/>
        </p:nvSpPr>
        <p:spPr>
          <a:xfrm>
            <a:off x="6406744" y="1773936"/>
            <a:ext cx="274320" cy="274320"/>
          </a:xfrm>
          <a:prstGeom prst="rect">
            <a:avLst/>
          </a:prstGeom>
          <a:noFill/>
          <a:ln/>
        </p:spPr>
        <p:txBody>
          <a:bodyPr wrap="square" lIns="0" tIns="0" rIns="0" bIns="0" rtlCol="0" anchor="ctr"/>
          <a:lstStyle/>
          <a:p>
            <a:pPr algn="ctr" indent="0" marL="0">
              <a:buNone/>
            </a:pPr>
            <a:r>
              <a:rPr lang="en-US" sz="1250" b="1" dirty="0">
                <a:solidFill>
                  <a:srgbClr val="C53455"/>
                </a:solidFill>
                <a:latin typeface="Calibri" pitchFamily="34" charset="0"/>
                <a:ea typeface="Calibri" pitchFamily="34" charset="-122"/>
                <a:cs typeface="Calibri" pitchFamily="34" charset="-120"/>
              </a:rPr>
              <a:t>✗</a:t>
            </a:r>
            <a:endParaRPr lang="en-US" sz="1250" dirty="0"/>
          </a:p>
        </p:txBody>
      </p:sp>
      <p:sp>
        <p:nvSpPr>
          <p:cNvPr id="17" name="Text 15"/>
          <p:cNvSpPr txBox="1"/>
          <p:nvPr/>
        </p:nvSpPr>
        <p:spPr>
          <a:xfrm>
            <a:off x="6790792" y="1746504"/>
            <a:ext cx="4559656" cy="335280"/>
          </a:xfrm>
          <a:prstGeom prst="rect">
            <a:avLst/>
          </a:prstGeom>
          <a:noFill/>
          <a:ln/>
        </p:spPr>
        <p:txBody>
          <a:bodyPr wrap="square" lIns="0" tIns="0" rIns="0" bIns="0" rtlCol="0" anchor="t"/>
          <a:lstStyle/>
          <a:p>
            <a:pPr indent="0" marL="0">
              <a:lnSpc>
                <a:spcPct val="108000"/>
              </a:lnSpc>
              <a:buNone/>
            </a:pPr>
            <a:r>
              <a:rPr lang="en-US" sz="1600" b="1" dirty="0">
                <a:solidFill>
                  <a:srgbClr val="0E1426"/>
                </a:solidFill>
                <a:latin typeface="Calibri" pitchFamily="34" charset="0"/>
                <a:ea typeface="Calibri" pitchFamily="34" charset="-122"/>
                <a:cs typeface="Calibri" pitchFamily="34" charset="-120"/>
              </a:rPr>
              <a:t>“ε = B·L·v her durumda geçerlidir.”</a:t>
            </a:r>
            <a:endParaRPr lang="en-US" sz="1600" dirty="0"/>
          </a:p>
        </p:txBody>
      </p:sp>
      <p:sp>
        <p:nvSpPr>
          <p:cNvPr id="18" name="Shape 16"/>
          <p:cNvSpPr/>
          <p:nvPr/>
        </p:nvSpPr>
        <p:spPr>
          <a:xfrm>
            <a:off x="6406744" y="2154936"/>
            <a:ext cx="274320" cy="274320"/>
          </a:xfrm>
          <a:prstGeom prst="roundRect">
            <a:avLst>
              <a:gd name="adj" fmla="val 26667"/>
            </a:avLst>
          </a:prstGeom>
          <a:solidFill>
            <a:srgbClr val="EAF7DC"/>
          </a:solidFill>
          <a:ln/>
        </p:spPr>
      </p:sp>
      <p:sp>
        <p:nvSpPr>
          <p:cNvPr id="19" name="Text 17"/>
          <p:cNvSpPr txBox="1"/>
          <p:nvPr/>
        </p:nvSpPr>
        <p:spPr>
          <a:xfrm>
            <a:off x="6406744" y="2154936"/>
            <a:ext cx="274320" cy="274320"/>
          </a:xfrm>
          <a:prstGeom prst="rect">
            <a:avLst/>
          </a:prstGeom>
          <a:noFill/>
          <a:ln/>
        </p:spPr>
        <p:txBody>
          <a:bodyPr wrap="square" lIns="0" tIns="0" rIns="0" bIns="0" rtlCol="0" anchor="ctr"/>
          <a:lstStyle/>
          <a:p>
            <a:pPr algn="ctr" indent="0" marL="0">
              <a:buNone/>
            </a:pPr>
            <a:r>
              <a:rPr lang="en-US" sz="1250" b="1" dirty="0">
                <a:solidFill>
                  <a:srgbClr val="3C8C21"/>
                </a:solidFill>
                <a:latin typeface="Calibri" pitchFamily="34" charset="0"/>
                <a:ea typeface="Calibri" pitchFamily="34" charset="-122"/>
                <a:cs typeface="Calibri" pitchFamily="34" charset="-120"/>
              </a:rPr>
              <a:t>✓</a:t>
            </a:r>
            <a:endParaRPr lang="en-US" sz="1250" dirty="0"/>
          </a:p>
        </p:txBody>
      </p:sp>
      <p:sp>
        <p:nvSpPr>
          <p:cNvPr id="20" name="Text 18"/>
          <p:cNvSpPr txBox="1"/>
          <p:nvPr/>
        </p:nvSpPr>
        <p:spPr>
          <a:xfrm>
            <a:off x="6790792" y="2136648"/>
            <a:ext cx="4559656" cy="1566672"/>
          </a:xfrm>
          <a:prstGeom prst="rect">
            <a:avLst/>
          </a:prstGeom>
          <a:noFill/>
          <a:ln/>
        </p:spPr>
        <p:txBody>
          <a:bodyPr wrap="square" lIns="0" tIns="0" rIns="0" bIns="0" rtlCol="0" anchor="t"/>
          <a:lstStyle/>
          <a:p>
            <a:pPr indent="0" marL="0">
              <a:lnSpc>
                <a:spcPct val="108000"/>
              </a:lnSpc>
              <a:buNone/>
            </a:pPr>
            <a:r>
              <a:rPr lang="en-US" sz="1500" dirty="0">
                <a:solidFill>
                  <a:srgbClr val="4A5470"/>
                </a:solidFill>
                <a:latin typeface="Calibri" pitchFamily="34" charset="0"/>
                <a:ea typeface="Calibri" pitchFamily="34" charset="-122"/>
                <a:cs typeface="Calibri" pitchFamily="34" charset="-120"/>
              </a:rPr>
              <a:t> Bu bağıntı, çubuğun alana ve kendine dik hareket ettiği özel durum içindir.</a:t>
            </a:r>
            <a:endParaRPr lang="en-US" sz="1500" dirty="0"/>
          </a:p>
        </p:txBody>
      </p:sp>
      <p:sp>
        <p:nvSpPr>
          <p:cNvPr id="21" name="Shape 19"/>
          <p:cNvSpPr/>
          <p:nvPr/>
        </p:nvSpPr>
        <p:spPr>
          <a:xfrm>
            <a:off x="640080" y="3959352"/>
            <a:ext cx="5346040" cy="2185416"/>
          </a:xfrm>
          <a:prstGeom prst="roundRect">
            <a:avLst>
              <a:gd name="adj" fmla="val 669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2" name="Shape 20"/>
          <p:cNvSpPr/>
          <p:nvPr/>
        </p:nvSpPr>
        <p:spPr>
          <a:xfrm>
            <a:off x="841248" y="4105656"/>
            <a:ext cx="274320" cy="274320"/>
          </a:xfrm>
          <a:prstGeom prst="roundRect">
            <a:avLst>
              <a:gd name="adj" fmla="val 26667"/>
            </a:avLst>
          </a:prstGeom>
          <a:solidFill>
            <a:srgbClr val="FBE9EE"/>
          </a:solidFill>
          <a:ln/>
        </p:spPr>
      </p:sp>
      <p:sp>
        <p:nvSpPr>
          <p:cNvPr id="23" name="Text 21"/>
          <p:cNvSpPr txBox="1"/>
          <p:nvPr/>
        </p:nvSpPr>
        <p:spPr>
          <a:xfrm>
            <a:off x="841248" y="4105656"/>
            <a:ext cx="274320" cy="274320"/>
          </a:xfrm>
          <a:prstGeom prst="rect">
            <a:avLst/>
          </a:prstGeom>
          <a:noFill/>
          <a:ln/>
        </p:spPr>
        <p:txBody>
          <a:bodyPr wrap="square" lIns="0" tIns="0" rIns="0" bIns="0" rtlCol="0" anchor="ctr"/>
          <a:lstStyle/>
          <a:p>
            <a:pPr algn="ctr" indent="0" marL="0">
              <a:buNone/>
            </a:pPr>
            <a:r>
              <a:rPr lang="en-US" sz="1250" b="1" dirty="0">
                <a:solidFill>
                  <a:srgbClr val="C53455"/>
                </a:solidFill>
                <a:latin typeface="Calibri" pitchFamily="34" charset="0"/>
                <a:ea typeface="Calibri" pitchFamily="34" charset="-122"/>
                <a:cs typeface="Calibri" pitchFamily="34" charset="-120"/>
              </a:rPr>
              <a:t>✗</a:t>
            </a:r>
            <a:endParaRPr lang="en-US" sz="1250" dirty="0"/>
          </a:p>
        </p:txBody>
      </p:sp>
      <p:sp>
        <p:nvSpPr>
          <p:cNvPr id="24" name="Text 22"/>
          <p:cNvSpPr txBox="1"/>
          <p:nvPr/>
        </p:nvSpPr>
        <p:spPr>
          <a:xfrm>
            <a:off x="1225296" y="4078224"/>
            <a:ext cx="4559656" cy="615696"/>
          </a:xfrm>
          <a:prstGeom prst="rect">
            <a:avLst/>
          </a:prstGeom>
          <a:noFill/>
          <a:ln/>
        </p:spPr>
        <p:txBody>
          <a:bodyPr wrap="square" lIns="0" tIns="0" rIns="0" bIns="0" rtlCol="0" anchor="t"/>
          <a:lstStyle/>
          <a:p>
            <a:pPr indent="0" marL="0">
              <a:lnSpc>
                <a:spcPct val="108000"/>
              </a:lnSpc>
              <a:buNone/>
            </a:pPr>
            <a:r>
              <a:rPr lang="en-US" sz="1600" b="1" dirty="0">
                <a:solidFill>
                  <a:srgbClr val="0E1426"/>
                </a:solidFill>
                <a:latin typeface="Calibri" pitchFamily="34" charset="0"/>
                <a:ea typeface="Calibri" pitchFamily="34" charset="-122"/>
                <a:cs typeface="Calibri" pitchFamily="34" charset="-120"/>
              </a:rPr>
              <a:t>Jeneratörde emk ile akıyı aynı anda en büyük sanmak.</a:t>
            </a:r>
            <a:endParaRPr lang="en-US" sz="1600" dirty="0"/>
          </a:p>
        </p:txBody>
      </p:sp>
      <p:sp>
        <p:nvSpPr>
          <p:cNvPr id="25" name="Shape 23"/>
          <p:cNvSpPr/>
          <p:nvPr/>
        </p:nvSpPr>
        <p:spPr>
          <a:xfrm>
            <a:off x="841248" y="4767072"/>
            <a:ext cx="274320" cy="274320"/>
          </a:xfrm>
          <a:prstGeom prst="roundRect">
            <a:avLst>
              <a:gd name="adj" fmla="val 26667"/>
            </a:avLst>
          </a:prstGeom>
          <a:solidFill>
            <a:srgbClr val="EAF7DC"/>
          </a:solidFill>
          <a:ln/>
        </p:spPr>
      </p:sp>
      <p:sp>
        <p:nvSpPr>
          <p:cNvPr id="26" name="Text 24"/>
          <p:cNvSpPr txBox="1"/>
          <p:nvPr/>
        </p:nvSpPr>
        <p:spPr>
          <a:xfrm>
            <a:off x="841248" y="4767072"/>
            <a:ext cx="274320" cy="274320"/>
          </a:xfrm>
          <a:prstGeom prst="rect">
            <a:avLst/>
          </a:prstGeom>
          <a:noFill/>
          <a:ln/>
        </p:spPr>
        <p:txBody>
          <a:bodyPr wrap="square" lIns="0" tIns="0" rIns="0" bIns="0" rtlCol="0" anchor="ctr"/>
          <a:lstStyle/>
          <a:p>
            <a:pPr algn="ctr" indent="0" marL="0">
              <a:buNone/>
            </a:pPr>
            <a:r>
              <a:rPr lang="en-US" sz="1250" b="1" dirty="0">
                <a:solidFill>
                  <a:srgbClr val="3C8C21"/>
                </a:solidFill>
                <a:latin typeface="Calibri" pitchFamily="34" charset="0"/>
                <a:ea typeface="Calibri" pitchFamily="34" charset="-122"/>
                <a:cs typeface="Calibri" pitchFamily="34" charset="-120"/>
              </a:rPr>
              <a:t>✓</a:t>
            </a:r>
            <a:endParaRPr lang="en-US" sz="1250" dirty="0"/>
          </a:p>
        </p:txBody>
      </p:sp>
      <p:sp>
        <p:nvSpPr>
          <p:cNvPr id="27" name="Text 25"/>
          <p:cNvSpPr txBox="1"/>
          <p:nvPr/>
        </p:nvSpPr>
        <p:spPr>
          <a:xfrm>
            <a:off x="1225296" y="4748784"/>
            <a:ext cx="4559656" cy="1286256"/>
          </a:xfrm>
          <a:prstGeom prst="rect">
            <a:avLst/>
          </a:prstGeom>
          <a:noFill/>
          <a:ln/>
        </p:spPr>
        <p:txBody>
          <a:bodyPr wrap="square" lIns="0" tIns="0" rIns="0" bIns="0" rtlCol="0" anchor="t"/>
          <a:lstStyle/>
          <a:p>
            <a:pPr indent="0" marL="0">
              <a:lnSpc>
                <a:spcPct val="108000"/>
              </a:lnSpc>
              <a:buNone/>
            </a:pPr>
            <a:r>
              <a:rPr lang="en-US" sz="1500" dirty="0">
                <a:solidFill>
                  <a:srgbClr val="4A5470"/>
                </a:solidFill>
                <a:latin typeface="Calibri" pitchFamily="34" charset="0"/>
                <a:ea typeface="Calibri" pitchFamily="34" charset="-122"/>
                <a:cs typeface="Calibri" pitchFamily="34" charset="-120"/>
              </a:rPr>
              <a:t> Φ en büyükken ε sıfır, Φ sıfırken ε en büyüktür.</a:t>
            </a:r>
            <a:endParaRPr lang="en-US" sz="1500" dirty="0"/>
          </a:p>
        </p:txBody>
      </p:sp>
      <p:sp>
        <p:nvSpPr>
          <p:cNvPr id="28" name="Shape 26"/>
          <p:cNvSpPr/>
          <p:nvPr/>
        </p:nvSpPr>
        <p:spPr>
          <a:xfrm>
            <a:off x="6205576" y="3959352"/>
            <a:ext cx="5346040" cy="2185416"/>
          </a:xfrm>
          <a:prstGeom prst="roundRect">
            <a:avLst>
              <a:gd name="adj" fmla="val 669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9" name="Shape 27"/>
          <p:cNvSpPr/>
          <p:nvPr/>
        </p:nvSpPr>
        <p:spPr>
          <a:xfrm>
            <a:off x="6406744" y="4105656"/>
            <a:ext cx="274320" cy="274320"/>
          </a:xfrm>
          <a:prstGeom prst="roundRect">
            <a:avLst>
              <a:gd name="adj" fmla="val 26667"/>
            </a:avLst>
          </a:prstGeom>
          <a:solidFill>
            <a:srgbClr val="FBE9EE"/>
          </a:solidFill>
          <a:ln/>
        </p:spPr>
      </p:sp>
      <p:sp>
        <p:nvSpPr>
          <p:cNvPr id="30" name="Text 28"/>
          <p:cNvSpPr txBox="1"/>
          <p:nvPr/>
        </p:nvSpPr>
        <p:spPr>
          <a:xfrm>
            <a:off x="6406744" y="4105656"/>
            <a:ext cx="274320" cy="274320"/>
          </a:xfrm>
          <a:prstGeom prst="rect">
            <a:avLst/>
          </a:prstGeom>
          <a:noFill/>
          <a:ln/>
        </p:spPr>
        <p:txBody>
          <a:bodyPr wrap="square" lIns="0" tIns="0" rIns="0" bIns="0" rtlCol="0" anchor="ctr"/>
          <a:lstStyle/>
          <a:p>
            <a:pPr algn="ctr" indent="0" marL="0">
              <a:buNone/>
            </a:pPr>
            <a:r>
              <a:rPr lang="en-US" sz="1250" b="1" dirty="0">
                <a:solidFill>
                  <a:srgbClr val="C53455"/>
                </a:solidFill>
                <a:latin typeface="Calibri" pitchFamily="34" charset="0"/>
                <a:ea typeface="Calibri" pitchFamily="34" charset="-122"/>
                <a:cs typeface="Calibri" pitchFamily="34" charset="-120"/>
              </a:rPr>
              <a:t>✗</a:t>
            </a:r>
            <a:endParaRPr lang="en-US" sz="1250" dirty="0"/>
          </a:p>
        </p:txBody>
      </p:sp>
      <p:sp>
        <p:nvSpPr>
          <p:cNvPr id="31" name="Text 29"/>
          <p:cNvSpPr txBox="1"/>
          <p:nvPr/>
        </p:nvSpPr>
        <p:spPr>
          <a:xfrm>
            <a:off x="6790792" y="4078224"/>
            <a:ext cx="4559656" cy="335280"/>
          </a:xfrm>
          <a:prstGeom prst="rect">
            <a:avLst/>
          </a:prstGeom>
          <a:noFill/>
          <a:ln/>
        </p:spPr>
        <p:txBody>
          <a:bodyPr wrap="square" lIns="0" tIns="0" rIns="0" bIns="0" rtlCol="0" anchor="t"/>
          <a:lstStyle/>
          <a:p>
            <a:pPr indent="0" marL="0">
              <a:lnSpc>
                <a:spcPct val="108000"/>
              </a:lnSpc>
              <a:buNone/>
            </a:pPr>
            <a:r>
              <a:rPr lang="en-US" sz="1600" b="1" dirty="0">
                <a:solidFill>
                  <a:srgbClr val="0E1426"/>
                </a:solidFill>
                <a:latin typeface="Calibri" pitchFamily="34" charset="0"/>
                <a:ea typeface="Calibri" pitchFamily="34" charset="-122"/>
                <a:cs typeface="Calibri" pitchFamily="34" charset="-120"/>
              </a:rPr>
              <a:t>“Devre açıksa emk de yoktur.”</a:t>
            </a:r>
            <a:endParaRPr lang="en-US" sz="1600" dirty="0"/>
          </a:p>
        </p:txBody>
      </p:sp>
      <p:sp>
        <p:nvSpPr>
          <p:cNvPr id="32" name="Shape 30"/>
          <p:cNvSpPr/>
          <p:nvPr/>
        </p:nvSpPr>
        <p:spPr>
          <a:xfrm>
            <a:off x="6406744" y="4486656"/>
            <a:ext cx="274320" cy="274320"/>
          </a:xfrm>
          <a:prstGeom prst="roundRect">
            <a:avLst>
              <a:gd name="adj" fmla="val 26667"/>
            </a:avLst>
          </a:prstGeom>
          <a:solidFill>
            <a:srgbClr val="EAF7DC"/>
          </a:solidFill>
          <a:ln/>
        </p:spPr>
      </p:sp>
      <p:sp>
        <p:nvSpPr>
          <p:cNvPr id="33" name="Text 31"/>
          <p:cNvSpPr txBox="1"/>
          <p:nvPr/>
        </p:nvSpPr>
        <p:spPr>
          <a:xfrm>
            <a:off x="6406744" y="4486656"/>
            <a:ext cx="274320" cy="274320"/>
          </a:xfrm>
          <a:prstGeom prst="rect">
            <a:avLst/>
          </a:prstGeom>
          <a:noFill/>
          <a:ln/>
        </p:spPr>
        <p:txBody>
          <a:bodyPr wrap="square" lIns="0" tIns="0" rIns="0" bIns="0" rtlCol="0" anchor="ctr"/>
          <a:lstStyle/>
          <a:p>
            <a:pPr algn="ctr" indent="0" marL="0">
              <a:buNone/>
            </a:pPr>
            <a:r>
              <a:rPr lang="en-US" sz="1250" b="1" dirty="0">
                <a:solidFill>
                  <a:srgbClr val="3C8C21"/>
                </a:solidFill>
                <a:latin typeface="Calibri" pitchFamily="34" charset="0"/>
                <a:ea typeface="Calibri" pitchFamily="34" charset="-122"/>
                <a:cs typeface="Calibri" pitchFamily="34" charset="-120"/>
              </a:rPr>
              <a:t>✓</a:t>
            </a:r>
            <a:endParaRPr lang="en-US" sz="1250" dirty="0"/>
          </a:p>
        </p:txBody>
      </p:sp>
      <p:sp>
        <p:nvSpPr>
          <p:cNvPr id="34" name="Text 32"/>
          <p:cNvSpPr txBox="1"/>
          <p:nvPr/>
        </p:nvSpPr>
        <p:spPr>
          <a:xfrm>
            <a:off x="6790792" y="4468368"/>
            <a:ext cx="4559656" cy="1566672"/>
          </a:xfrm>
          <a:prstGeom prst="rect">
            <a:avLst/>
          </a:prstGeom>
          <a:noFill/>
          <a:ln/>
        </p:spPr>
        <p:txBody>
          <a:bodyPr wrap="square" lIns="0" tIns="0" rIns="0" bIns="0" rtlCol="0" anchor="t"/>
          <a:lstStyle/>
          <a:p>
            <a:pPr indent="0" marL="0">
              <a:lnSpc>
                <a:spcPct val="108000"/>
              </a:lnSpc>
              <a:buNone/>
            </a:pPr>
            <a:r>
              <a:rPr lang="en-US" sz="1500" dirty="0">
                <a:solidFill>
                  <a:srgbClr val="4A5470"/>
                </a:solidFill>
                <a:latin typeface="Calibri" pitchFamily="34" charset="0"/>
                <a:ea typeface="Calibri" pitchFamily="34" charset="-122"/>
                <a:cs typeface="Calibri" pitchFamily="34" charset="-120"/>
              </a:rPr>
              <a:t> Açık devrede de emk doğar; yalnızca akım akmaz. Uçları bir voltmetreye bağlarsan gerilimi ölçersin.</a:t>
            </a:r>
            <a:endParaRPr lang="en-US" sz="1500" dirty="0"/>
          </a:p>
        </p:txBody>
      </p:sp>
      <p:sp>
        <p:nvSpPr>
          <p:cNvPr id="35" name="Shape 33"/>
          <p:cNvSpPr/>
          <p:nvPr/>
        </p:nvSpPr>
        <p:spPr>
          <a:xfrm>
            <a:off x="640080" y="6382512"/>
            <a:ext cx="128016" cy="128016"/>
          </a:xfrm>
          <a:prstGeom prst="roundRect">
            <a:avLst>
              <a:gd name="adj" fmla="val 28571"/>
            </a:avLst>
          </a:prstGeom>
          <a:solidFill>
            <a:srgbClr val="A9E648"/>
          </a:solidFill>
          <a:ln/>
        </p:spPr>
      </p:sp>
      <p:sp>
        <p:nvSpPr>
          <p:cNvPr id="36" name="Text 34"/>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dersler.perinet.org/induksiyon-akimi.html</a:t>
            </a:r>
            <a:endParaRPr lang="en-US" sz="1050" dirty="0"/>
          </a:p>
        </p:txBody>
      </p:sp>
      <p:sp>
        <p:nvSpPr>
          <p:cNvPr id="37" name="Text 35"/>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38</a:t>
            </a:r>
            <a:endParaRPr lang="en-US" sz="10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E1426"/>
        </a:solidFill>
      </p:bgPr>
    </p:bg>
    <p:spTree>
      <p:nvGrpSpPr>
        <p:cNvPr id="1" name=""/>
        <p:cNvGrpSpPr/>
        <p:nvPr/>
      </p:nvGrpSpPr>
      <p:grpSpPr>
        <a:xfrm>
          <a:off x="0" y="0"/>
          <a:ext cx="0" cy="0"/>
          <a:chOff x="0" y="0"/>
          <a:chExt cx="0" cy="0"/>
        </a:xfrm>
      </p:grpSpPr>
      <p:sp>
        <p:nvSpPr>
          <p:cNvPr id="2" name="Shape 0"/>
          <p:cNvSpPr/>
          <p:nvPr/>
        </p:nvSpPr>
        <p:spPr>
          <a:xfrm>
            <a:off x="868680" y="1143000"/>
            <a:ext cx="54864" cy="548640"/>
          </a:xfrm>
          <a:prstGeom prst="rect">
            <a:avLst/>
          </a:prstGeom>
          <a:solidFill>
            <a:srgbClr val="C6F36B"/>
          </a:solidFill>
          <a:ln/>
        </p:spPr>
      </p:sp>
      <p:sp>
        <p:nvSpPr>
          <p:cNvPr id="3" name="Text 1"/>
          <p:cNvSpPr txBox="1"/>
          <p:nvPr/>
        </p:nvSpPr>
        <p:spPr>
          <a:xfrm>
            <a:off x="1097280" y="1005840"/>
            <a:ext cx="5486400" cy="822960"/>
          </a:xfrm>
          <a:prstGeom prst="rect">
            <a:avLst/>
          </a:prstGeom>
          <a:noFill/>
          <a:ln/>
        </p:spPr>
        <p:txBody>
          <a:bodyPr wrap="square" lIns="0" tIns="0" rIns="0" bIns="0" rtlCol="0" anchor="ctr"/>
          <a:lstStyle/>
          <a:p>
            <a:pPr indent="0" marL="0">
              <a:buNone/>
            </a:pPr>
            <a:r>
              <a:rPr lang="en-US" sz="4000" b="1" spc="-100" kern="0" dirty="0">
                <a:solidFill>
                  <a:srgbClr val="FFFFFF"/>
                </a:solidFill>
                <a:latin typeface="Cambria" pitchFamily="34" charset="0"/>
                <a:ea typeface="Cambria" pitchFamily="34" charset="-122"/>
                <a:cs typeface="Cambria" pitchFamily="34" charset="-120"/>
              </a:rPr>
              <a:t>Özetle</a:t>
            </a:r>
            <a:endParaRPr lang="en-US" sz="4000" dirty="0"/>
          </a:p>
        </p:txBody>
      </p:sp>
      <p:sp>
        <p:nvSpPr>
          <p:cNvPr id="4" name="Text 2"/>
          <p:cNvSpPr txBox="1"/>
          <p:nvPr/>
        </p:nvSpPr>
        <p:spPr>
          <a:xfrm>
            <a:off x="868680" y="2057400"/>
            <a:ext cx="4572000" cy="274320"/>
          </a:xfrm>
          <a:prstGeom prst="rect">
            <a:avLst/>
          </a:prstGeom>
          <a:noFill/>
          <a:ln/>
        </p:spPr>
        <p:txBody>
          <a:bodyPr wrap="square" lIns="0" tIns="0" rIns="0" bIns="0" rtlCol="0" anchor="ctr"/>
          <a:lstStyle/>
          <a:p>
            <a:pPr indent="0" marL="0">
              <a:buNone/>
            </a:pPr>
            <a:r>
              <a:rPr lang="en-US" sz="1050" b="1" spc="200" kern="0" dirty="0">
                <a:solidFill>
                  <a:srgbClr val="8D97B5"/>
                </a:solidFill>
                <a:latin typeface="Calibri" pitchFamily="34" charset="0"/>
                <a:ea typeface="Calibri" pitchFamily="34" charset="-122"/>
                <a:cs typeface="Calibri" pitchFamily="34" charset="-120"/>
              </a:rPr>
              <a:t>AKLINDA KALSIN</a:t>
            </a:r>
            <a:endParaRPr lang="en-US" sz="1050" dirty="0"/>
          </a:p>
        </p:txBody>
      </p:sp>
      <p:sp>
        <p:nvSpPr>
          <p:cNvPr id="5" name="Text 3"/>
          <p:cNvSpPr txBox="1"/>
          <p:nvPr/>
        </p:nvSpPr>
        <p:spPr>
          <a:xfrm>
            <a:off x="868680" y="2450592"/>
            <a:ext cx="548640" cy="457200"/>
          </a:xfrm>
          <a:prstGeom prst="rect">
            <a:avLst/>
          </a:prstGeom>
          <a:noFill/>
          <a:ln/>
        </p:spPr>
        <p:txBody>
          <a:bodyPr wrap="square" lIns="0" tIns="0" rIns="0" bIns="0" rtlCol="0" anchor="ctr"/>
          <a:lstStyle/>
          <a:p>
            <a:pPr indent="0" marL="0">
              <a:buNone/>
            </a:pPr>
            <a:r>
              <a:rPr lang="en-US" sz="1800" b="1" dirty="0">
                <a:solidFill>
                  <a:srgbClr val="C6F36B"/>
                </a:solidFill>
                <a:latin typeface="Cambria" pitchFamily="34" charset="0"/>
                <a:ea typeface="Cambria" pitchFamily="34" charset="-122"/>
                <a:cs typeface="Cambria" pitchFamily="34" charset="-120"/>
              </a:rPr>
              <a:t>01</a:t>
            </a:r>
            <a:endParaRPr lang="en-US" sz="1800" dirty="0"/>
          </a:p>
        </p:txBody>
      </p:sp>
      <p:sp>
        <p:nvSpPr>
          <p:cNvPr id="6" name="Text 4"/>
          <p:cNvSpPr txBox="1"/>
          <p:nvPr/>
        </p:nvSpPr>
        <p:spPr>
          <a:xfrm>
            <a:off x="1463040" y="2450592"/>
            <a:ext cx="4480560" cy="457200"/>
          </a:xfrm>
          <a:prstGeom prst="rect">
            <a:avLst/>
          </a:prstGeom>
          <a:noFill/>
          <a:ln/>
        </p:spPr>
        <p:txBody>
          <a:bodyPr wrap="square" lIns="0" tIns="0" rIns="0" bIns="0" rtlCol="0" anchor="ctr"/>
          <a:lstStyle/>
          <a:p>
            <a:pPr indent="0" marL="0">
              <a:buNone/>
            </a:pPr>
            <a:r>
              <a:rPr lang="en-US" sz="1500" dirty="0">
                <a:solidFill>
                  <a:srgbClr val="C3CEE8"/>
                </a:solidFill>
                <a:latin typeface="Calibri" pitchFamily="34" charset="0"/>
                <a:ea typeface="Calibri" pitchFamily="34" charset="-122"/>
                <a:cs typeface="Calibri" pitchFamily="34" charset="-120"/>
              </a:rPr>
              <a:t>Akı </a:t>
            </a:r>
            <a:pPr indent="0" marL="0">
              <a:buNone/>
            </a:pPr>
            <a:r>
              <a:rPr lang="en-US" sz="1500" b="1" dirty="0">
                <a:solidFill>
                  <a:srgbClr val="FFFFFF"/>
                </a:solidFill>
                <a:latin typeface="Calibri" pitchFamily="34" charset="0"/>
                <a:ea typeface="Calibri" pitchFamily="34" charset="-122"/>
                <a:cs typeface="Calibri" pitchFamily="34" charset="-120"/>
              </a:rPr>
              <a:t>Φ = B·A·cosα</a:t>
            </a:r>
            <a:endParaRPr lang="en-US" sz="1500" dirty="0"/>
          </a:p>
        </p:txBody>
      </p:sp>
      <p:sp>
        <p:nvSpPr>
          <p:cNvPr id="7" name="Text 5"/>
          <p:cNvSpPr txBox="1"/>
          <p:nvPr/>
        </p:nvSpPr>
        <p:spPr>
          <a:xfrm>
            <a:off x="868680" y="3236976"/>
            <a:ext cx="548640" cy="457200"/>
          </a:xfrm>
          <a:prstGeom prst="rect">
            <a:avLst/>
          </a:prstGeom>
          <a:noFill/>
          <a:ln/>
        </p:spPr>
        <p:txBody>
          <a:bodyPr wrap="square" lIns="0" tIns="0" rIns="0" bIns="0" rtlCol="0" anchor="ctr"/>
          <a:lstStyle/>
          <a:p>
            <a:pPr indent="0" marL="0">
              <a:buNone/>
            </a:pPr>
            <a:r>
              <a:rPr lang="en-US" sz="1800" b="1" dirty="0">
                <a:solidFill>
                  <a:srgbClr val="C6F36B"/>
                </a:solidFill>
                <a:latin typeface="Cambria" pitchFamily="34" charset="0"/>
                <a:ea typeface="Cambria" pitchFamily="34" charset="-122"/>
                <a:cs typeface="Cambria" pitchFamily="34" charset="-120"/>
              </a:rPr>
              <a:t>02</a:t>
            </a:r>
            <a:endParaRPr lang="en-US" sz="1800" dirty="0"/>
          </a:p>
        </p:txBody>
      </p:sp>
      <p:sp>
        <p:nvSpPr>
          <p:cNvPr id="8" name="Text 6"/>
          <p:cNvSpPr txBox="1"/>
          <p:nvPr/>
        </p:nvSpPr>
        <p:spPr>
          <a:xfrm>
            <a:off x="1463040" y="3236976"/>
            <a:ext cx="4480560" cy="457200"/>
          </a:xfrm>
          <a:prstGeom prst="rect">
            <a:avLst/>
          </a:prstGeom>
          <a:noFill/>
          <a:ln/>
        </p:spPr>
        <p:txBody>
          <a:bodyPr wrap="square" lIns="0" tIns="0" rIns="0" bIns="0" rtlCol="0" anchor="ctr"/>
          <a:lstStyle/>
          <a:p>
            <a:pPr indent="0" marL="0">
              <a:buNone/>
            </a:pPr>
            <a:r>
              <a:rPr lang="en-US" sz="1500" dirty="0">
                <a:solidFill>
                  <a:srgbClr val="C3CEE8"/>
                </a:solidFill>
                <a:latin typeface="Calibri" pitchFamily="34" charset="0"/>
                <a:ea typeface="Calibri" pitchFamily="34" charset="-122"/>
                <a:cs typeface="Calibri" pitchFamily="34" charset="-120"/>
              </a:rPr>
              <a:t>Faraday </a:t>
            </a:r>
            <a:pPr indent="0" marL="0">
              <a:buNone/>
            </a:pPr>
            <a:r>
              <a:rPr lang="en-US" sz="1500" b="1" dirty="0">
                <a:solidFill>
                  <a:srgbClr val="FFFFFF"/>
                </a:solidFill>
                <a:latin typeface="Calibri" pitchFamily="34" charset="0"/>
                <a:ea typeface="Calibri" pitchFamily="34" charset="-122"/>
                <a:cs typeface="Calibri" pitchFamily="34" charset="-120"/>
              </a:rPr>
              <a:t>ε = −N·ΔΦ/Δt</a:t>
            </a:r>
            <a:endParaRPr lang="en-US" sz="1500" dirty="0"/>
          </a:p>
        </p:txBody>
      </p:sp>
      <p:sp>
        <p:nvSpPr>
          <p:cNvPr id="9" name="Text 7"/>
          <p:cNvSpPr txBox="1"/>
          <p:nvPr/>
        </p:nvSpPr>
        <p:spPr>
          <a:xfrm>
            <a:off x="868680" y="4023360"/>
            <a:ext cx="548640" cy="457200"/>
          </a:xfrm>
          <a:prstGeom prst="rect">
            <a:avLst/>
          </a:prstGeom>
          <a:noFill/>
          <a:ln/>
        </p:spPr>
        <p:txBody>
          <a:bodyPr wrap="square" lIns="0" tIns="0" rIns="0" bIns="0" rtlCol="0" anchor="ctr"/>
          <a:lstStyle/>
          <a:p>
            <a:pPr indent="0" marL="0">
              <a:buNone/>
            </a:pPr>
            <a:r>
              <a:rPr lang="en-US" sz="1800" b="1" dirty="0">
                <a:solidFill>
                  <a:srgbClr val="C6F36B"/>
                </a:solidFill>
                <a:latin typeface="Cambria" pitchFamily="34" charset="0"/>
                <a:ea typeface="Cambria" pitchFamily="34" charset="-122"/>
                <a:cs typeface="Cambria" pitchFamily="34" charset="-120"/>
              </a:rPr>
              <a:t>03</a:t>
            </a:r>
            <a:endParaRPr lang="en-US" sz="1800" dirty="0"/>
          </a:p>
        </p:txBody>
      </p:sp>
      <p:sp>
        <p:nvSpPr>
          <p:cNvPr id="10" name="Text 8"/>
          <p:cNvSpPr txBox="1"/>
          <p:nvPr/>
        </p:nvSpPr>
        <p:spPr>
          <a:xfrm>
            <a:off x="1463040" y="4023360"/>
            <a:ext cx="4480560" cy="457200"/>
          </a:xfrm>
          <a:prstGeom prst="rect">
            <a:avLst/>
          </a:prstGeom>
          <a:noFill/>
          <a:ln/>
        </p:spPr>
        <p:txBody>
          <a:bodyPr wrap="square" lIns="0" tIns="0" rIns="0" bIns="0" rtlCol="0" anchor="ctr"/>
          <a:lstStyle/>
          <a:p>
            <a:pPr indent="0" marL="0">
              <a:buNone/>
            </a:pPr>
            <a:r>
              <a:rPr lang="en-US" sz="1500" dirty="0">
                <a:solidFill>
                  <a:srgbClr val="C3CEE8"/>
                </a:solidFill>
                <a:latin typeface="Calibri" pitchFamily="34" charset="0"/>
                <a:ea typeface="Calibri" pitchFamily="34" charset="-122"/>
                <a:cs typeface="Calibri" pitchFamily="34" charset="-120"/>
              </a:rPr>
              <a:t>Lenz </a:t>
            </a:r>
            <a:pPr indent="0" marL="0">
              <a:buNone/>
            </a:pPr>
            <a:r>
              <a:rPr lang="en-US" sz="1500" b="1" dirty="0">
                <a:solidFill>
                  <a:srgbClr val="FFFFFF"/>
                </a:solidFill>
                <a:latin typeface="Calibri" pitchFamily="34" charset="0"/>
                <a:ea typeface="Calibri" pitchFamily="34" charset="-122"/>
                <a:cs typeface="Calibri" pitchFamily="34" charset="-120"/>
              </a:rPr>
              <a:t>değişime karşı</a:t>
            </a:r>
            <a:endParaRPr lang="en-US" sz="1500" dirty="0"/>
          </a:p>
        </p:txBody>
      </p:sp>
      <p:sp>
        <p:nvSpPr>
          <p:cNvPr id="11" name="Text 9"/>
          <p:cNvSpPr txBox="1"/>
          <p:nvPr/>
        </p:nvSpPr>
        <p:spPr>
          <a:xfrm>
            <a:off x="868680" y="4809744"/>
            <a:ext cx="548640" cy="457200"/>
          </a:xfrm>
          <a:prstGeom prst="rect">
            <a:avLst/>
          </a:prstGeom>
          <a:noFill/>
          <a:ln/>
        </p:spPr>
        <p:txBody>
          <a:bodyPr wrap="square" lIns="0" tIns="0" rIns="0" bIns="0" rtlCol="0" anchor="ctr"/>
          <a:lstStyle/>
          <a:p>
            <a:pPr indent="0" marL="0">
              <a:buNone/>
            </a:pPr>
            <a:r>
              <a:rPr lang="en-US" sz="1800" b="1" dirty="0">
                <a:solidFill>
                  <a:srgbClr val="C6F36B"/>
                </a:solidFill>
                <a:latin typeface="Cambria" pitchFamily="34" charset="0"/>
                <a:ea typeface="Cambria" pitchFamily="34" charset="-122"/>
                <a:cs typeface="Cambria" pitchFamily="34" charset="-120"/>
              </a:rPr>
              <a:t>04</a:t>
            </a:r>
            <a:endParaRPr lang="en-US" sz="1800" dirty="0"/>
          </a:p>
        </p:txBody>
      </p:sp>
      <p:sp>
        <p:nvSpPr>
          <p:cNvPr id="12" name="Text 10"/>
          <p:cNvSpPr txBox="1"/>
          <p:nvPr/>
        </p:nvSpPr>
        <p:spPr>
          <a:xfrm>
            <a:off x="1463040" y="4809744"/>
            <a:ext cx="4480560" cy="457200"/>
          </a:xfrm>
          <a:prstGeom prst="rect">
            <a:avLst/>
          </a:prstGeom>
          <a:noFill/>
          <a:ln/>
        </p:spPr>
        <p:txBody>
          <a:bodyPr wrap="square" lIns="0" tIns="0" rIns="0" bIns="0" rtlCol="0" anchor="ctr"/>
          <a:lstStyle/>
          <a:p>
            <a:pPr indent="0" marL="0">
              <a:buNone/>
            </a:pPr>
            <a:r>
              <a:rPr lang="en-US" sz="1500" dirty="0">
                <a:solidFill>
                  <a:srgbClr val="C3CEE8"/>
                </a:solidFill>
                <a:latin typeface="Calibri" pitchFamily="34" charset="0"/>
                <a:ea typeface="Calibri" pitchFamily="34" charset="-122"/>
                <a:cs typeface="Calibri" pitchFamily="34" charset="-120"/>
              </a:rPr>
              <a:t>Çubuk </a:t>
            </a:r>
            <a:pPr indent="0" marL="0">
              <a:buNone/>
            </a:pPr>
            <a:r>
              <a:rPr lang="en-US" sz="1500" b="1" dirty="0">
                <a:solidFill>
                  <a:srgbClr val="FFFFFF"/>
                </a:solidFill>
                <a:latin typeface="Calibri" pitchFamily="34" charset="0"/>
                <a:ea typeface="Calibri" pitchFamily="34" charset="-122"/>
                <a:cs typeface="Calibri" pitchFamily="34" charset="-120"/>
              </a:rPr>
              <a:t>ε = B·L·v</a:t>
            </a:r>
            <a:endParaRPr lang="en-US" sz="1500" dirty="0"/>
          </a:p>
        </p:txBody>
      </p:sp>
      <p:sp>
        <p:nvSpPr>
          <p:cNvPr id="13" name="Text 11"/>
          <p:cNvSpPr txBox="1"/>
          <p:nvPr/>
        </p:nvSpPr>
        <p:spPr>
          <a:xfrm>
            <a:off x="6446520" y="2057400"/>
            <a:ext cx="4572000" cy="274320"/>
          </a:xfrm>
          <a:prstGeom prst="rect">
            <a:avLst/>
          </a:prstGeom>
          <a:noFill/>
          <a:ln/>
        </p:spPr>
        <p:txBody>
          <a:bodyPr wrap="square" lIns="0" tIns="0" rIns="0" bIns="0" rtlCol="0" anchor="ctr"/>
          <a:lstStyle/>
          <a:p>
            <a:pPr indent="0" marL="0">
              <a:buNone/>
            </a:pPr>
            <a:r>
              <a:rPr lang="en-US" sz="1050" b="1" spc="200" kern="0" dirty="0">
                <a:solidFill>
                  <a:srgbClr val="8D97B5"/>
                </a:solidFill>
                <a:latin typeface="Calibri" pitchFamily="34" charset="0"/>
                <a:ea typeface="Calibri" pitchFamily="34" charset="-122"/>
                <a:cs typeface="Calibri" pitchFamily="34" charset="-120"/>
              </a:rPr>
              <a:t>TEMEL BAĞINTILAR</a:t>
            </a:r>
            <a:endParaRPr lang="en-US" sz="1050" dirty="0"/>
          </a:p>
        </p:txBody>
      </p:sp>
      <p:sp>
        <p:nvSpPr>
          <p:cNvPr id="14" name="Shape 12"/>
          <p:cNvSpPr/>
          <p:nvPr/>
        </p:nvSpPr>
        <p:spPr>
          <a:xfrm>
            <a:off x="6446520" y="2395728"/>
            <a:ext cx="5105095" cy="694944"/>
          </a:xfrm>
          <a:prstGeom prst="roundRect">
            <a:avLst>
              <a:gd name="adj" fmla="val 13158"/>
            </a:avLst>
          </a:prstGeom>
          <a:solidFill>
            <a:srgbClr val="1C2542"/>
          </a:solidFill>
          <a:ln w="9525">
            <a:solidFill>
              <a:srgbClr val="2C3860"/>
            </a:solidFill>
            <a:prstDash val="solid"/>
          </a:ln>
        </p:spPr>
      </p:sp>
      <p:sp>
        <p:nvSpPr>
          <p:cNvPr id="15" name="Text 13"/>
          <p:cNvSpPr txBox="1"/>
          <p:nvPr/>
        </p:nvSpPr>
        <p:spPr>
          <a:xfrm>
            <a:off x="6647688" y="2395728"/>
            <a:ext cx="1956816" cy="694944"/>
          </a:xfrm>
          <a:prstGeom prst="rect">
            <a:avLst/>
          </a:prstGeom>
          <a:noFill/>
          <a:ln/>
        </p:spPr>
        <p:txBody>
          <a:bodyPr wrap="square" lIns="0" tIns="0" rIns="0" bIns="0" rtlCol="0" anchor="ctr"/>
          <a:lstStyle/>
          <a:p>
            <a:pPr indent="0" marL="0">
              <a:buNone/>
            </a:pPr>
            <a:r>
              <a:rPr lang="en-US" sz="1350" b="1" dirty="0">
                <a:solidFill>
                  <a:srgbClr val="C6F36B"/>
                </a:solidFill>
                <a:latin typeface="Courier New" pitchFamily="34" charset="0"/>
                <a:ea typeface="Courier New" pitchFamily="34" charset="-122"/>
                <a:cs typeface="Courier New" pitchFamily="34" charset="-120"/>
              </a:rPr>
              <a:t>Φ = B · A · cosα</a:t>
            </a:r>
            <a:endParaRPr lang="en-US" sz="1350" dirty="0"/>
          </a:p>
        </p:txBody>
      </p:sp>
      <p:sp>
        <p:nvSpPr>
          <p:cNvPr id="16" name="Text 14"/>
          <p:cNvSpPr txBox="1"/>
          <p:nvPr/>
        </p:nvSpPr>
        <p:spPr>
          <a:xfrm>
            <a:off x="8677656" y="2395728"/>
            <a:ext cx="2691079" cy="694944"/>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manyetik akı (weber)</a:t>
            </a:r>
            <a:endParaRPr lang="en-US" sz="1200" dirty="0"/>
          </a:p>
        </p:txBody>
      </p:sp>
      <p:sp>
        <p:nvSpPr>
          <p:cNvPr id="17" name="Shape 15"/>
          <p:cNvSpPr/>
          <p:nvPr/>
        </p:nvSpPr>
        <p:spPr>
          <a:xfrm>
            <a:off x="6446520" y="3218688"/>
            <a:ext cx="5105095" cy="694944"/>
          </a:xfrm>
          <a:prstGeom prst="roundRect">
            <a:avLst>
              <a:gd name="adj" fmla="val 13158"/>
            </a:avLst>
          </a:prstGeom>
          <a:solidFill>
            <a:srgbClr val="1C2542"/>
          </a:solidFill>
          <a:ln w="9525">
            <a:solidFill>
              <a:srgbClr val="2C3860"/>
            </a:solidFill>
            <a:prstDash val="solid"/>
          </a:ln>
        </p:spPr>
      </p:sp>
      <p:sp>
        <p:nvSpPr>
          <p:cNvPr id="18" name="Text 16"/>
          <p:cNvSpPr txBox="1"/>
          <p:nvPr/>
        </p:nvSpPr>
        <p:spPr>
          <a:xfrm>
            <a:off x="6647688" y="3218688"/>
            <a:ext cx="1956816" cy="694944"/>
          </a:xfrm>
          <a:prstGeom prst="rect">
            <a:avLst/>
          </a:prstGeom>
          <a:noFill/>
          <a:ln/>
        </p:spPr>
        <p:txBody>
          <a:bodyPr wrap="square" lIns="0" tIns="0" rIns="0" bIns="0" rtlCol="0" anchor="ctr"/>
          <a:lstStyle/>
          <a:p>
            <a:pPr indent="0" marL="0">
              <a:buNone/>
            </a:pPr>
            <a:r>
              <a:rPr lang="en-US" sz="1350" b="1" dirty="0">
                <a:solidFill>
                  <a:srgbClr val="C6F36B"/>
                </a:solidFill>
                <a:latin typeface="Courier New" pitchFamily="34" charset="0"/>
                <a:ea typeface="Courier New" pitchFamily="34" charset="-122"/>
                <a:cs typeface="Courier New" pitchFamily="34" charset="-120"/>
              </a:rPr>
              <a:t>ε = −N · ΔΦ / Δt</a:t>
            </a:r>
            <a:endParaRPr lang="en-US" sz="1350" dirty="0"/>
          </a:p>
        </p:txBody>
      </p:sp>
      <p:sp>
        <p:nvSpPr>
          <p:cNvPr id="19" name="Text 17"/>
          <p:cNvSpPr txBox="1"/>
          <p:nvPr/>
        </p:nvSpPr>
        <p:spPr>
          <a:xfrm>
            <a:off x="8677656" y="3218688"/>
            <a:ext cx="2691079" cy="694944"/>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Faraday indüksiyon yasası</a:t>
            </a:r>
            <a:endParaRPr lang="en-US" sz="1200" dirty="0"/>
          </a:p>
        </p:txBody>
      </p:sp>
      <p:sp>
        <p:nvSpPr>
          <p:cNvPr id="20" name="Shape 18"/>
          <p:cNvSpPr/>
          <p:nvPr/>
        </p:nvSpPr>
        <p:spPr>
          <a:xfrm>
            <a:off x="6446520" y="4041648"/>
            <a:ext cx="5105095" cy="694944"/>
          </a:xfrm>
          <a:prstGeom prst="roundRect">
            <a:avLst>
              <a:gd name="adj" fmla="val 13158"/>
            </a:avLst>
          </a:prstGeom>
          <a:solidFill>
            <a:srgbClr val="1C2542"/>
          </a:solidFill>
          <a:ln w="9525">
            <a:solidFill>
              <a:srgbClr val="2C3860"/>
            </a:solidFill>
            <a:prstDash val="solid"/>
          </a:ln>
        </p:spPr>
      </p:sp>
      <p:sp>
        <p:nvSpPr>
          <p:cNvPr id="21" name="Text 19"/>
          <p:cNvSpPr txBox="1"/>
          <p:nvPr/>
        </p:nvSpPr>
        <p:spPr>
          <a:xfrm>
            <a:off x="6647688" y="4041648"/>
            <a:ext cx="1641348" cy="694944"/>
          </a:xfrm>
          <a:prstGeom prst="rect">
            <a:avLst/>
          </a:prstGeom>
          <a:noFill/>
          <a:ln/>
        </p:spPr>
        <p:txBody>
          <a:bodyPr wrap="square" lIns="0" tIns="0" rIns="0" bIns="0" rtlCol="0" anchor="ctr"/>
          <a:lstStyle/>
          <a:p>
            <a:pPr indent="0" marL="0">
              <a:buNone/>
            </a:pPr>
            <a:r>
              <a:rPr lang="en-US" sz="1350" b="1" dirty="0">
                <a:solidFill>
                  <a:srgbClr val="C6F36B"/>
                </a:solidFill>
                <a:latin typeface="Courier New" pitchFamily="34" charset="0"/>
                <a:ea typeface="Courier New" pitchFamily="34" charset="-122"/>
                <a:cs typeface="Courier New" pitchFamily="34" charset="-120"/>
              </a:rPr>
              <a:t>ε = B · L · v</a:t>
            </a:r>
            <a:endParaRPr lang="en-US" sz="1350" dirty="0"/>
          </a:p>
        </p:txBody>
      </p:sp>
      <p:sp>
        <p:nvSpPr>
          <p:cNvPr id="22" name="Text 20"/>
          <p:cNvSpPr txBox="1"/>
          <p:nvPr/>
        </p:nvSpPr>
        <p:spPr>
          <a:xfrm>
            <a:off x="8362188" y="4041648"/>
            <a:ext cx="3006547" cy="694944"/>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hareketli iletken çubuk</a:t>
            </a:r>
            <a:endParaRPr lang="en-US" sz="1200" dirty="0"/>
          </a:p>
        </p:txBody>
      </p:sp>
      <p:sp>
        <p:nvSpPr>
          <p:cNvPr id="23" name="Shape 21"/>
          <p:cNvSpPr/>
          <p:nvPr/>
        </p:nvSpPr>
        <p:spPr>
          <a:xfrm>
            <a:off x="6446520" y="4864608"/>
            <a:ext cx="5105095" cy="694944"/>
          </a:xfrm>
          <a:prstGeom prst="roundRect">
            <a:avLst>
              <a:gd name="adj" fmla="val 13158"/>
            </a:avLst>
          </a:prstGeom>
          <a:solidFill>
            <a:srgbClr val="1C2542"/>
          </a:solidFill>
          <a:ln w="9525">
            <a:solidFill>
              <a:srgbClr val="2C3860"/>
            </a:solidFill>
            <a:prstDash val="solid"/>
          </a:ln>
        </p:spPr>
      </p:sp>
      <p:sp>
        <p:nvSpPr>
          <p:cNvPr id="24" name="Text 22"/>
          <p:cNvSpPr txBox="1"/>
          <p:nvPr/>
        </p:nvSpPr>
        <p:spPr>
          <a:xfrm>
            <a:off x="6647688" y="4864608"/>
            <a:ext cx="1463040" cy="694944"/>
          </a:xfrm>
          <a:prstGeom prst="rect">
            <a:avLst/>
          </a:prstGeom>
          <a:noFill/>
          <a:ln/>
        </p:spPr>
        <p:txBody>
          <a:bodyPr wrap="square" lIns="0" tIns="0" rIns="0" bIns="0" rtlCol="0" anchor="ctr"/>
          <a:lstStyle/>
          <a:p>
            <a:pPr indent="0" marL="0">
              <a:buNone/>
            </a:pPr>
            <a:r>
              <a:rPr lang="en-US" sz="1350" b="1" dirty="0">
                <a:solidFill>
                  <a:srgbClr val="C6F36B"/>
                </a:solidFill>
                <a:latin typeface="Courier New" pitchFamily="34" charset="0"/>
                <a:ea typeface="Courier New" pitchFamily="34" charset="-122"/>
                <a:cs typeface="Courier New" pitchFamily="34" charset="-120"/>
              </a:rPr>
              <a:t>I = ε / R</a:t>
            </a:r>
            <a:endParaRPr lang="en-US" sz="1350" dirty="0"/>
          </a:p>
        </p:txBody>
      </p:sp>
      <p:sp>
        <p:nvSpPr>
          <p:cNvPr id="25" name="Text 23"/>
          <p:cNvSpPr txBox="1"/>
          <p:nvPr/>
        </p:nvSpPr>
        <p:spPr>
          <a:xfrm>
            <a:off x="8183880" y="4864608"/>
            <a:ext cx="3184855" cy="694944"/>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indüksiyon akımı</a:t>
            </a:r>
            <a:endParaRPr lang="en-US" sz="1200" dirty="0"/>
          </a:p>
        </p:txBody>
      </p:sp>
      <p:sp>
        <p:nvSpPr>
          <p:cNvPr id="26" name="Shape 24"/>
          <p:cNvSpPr/>
          <p:nvPr/>
        </p:nvSpPr>
        <p:spPr>
          <a:xfrm>
            <a:off x="868680" y="5806440"/>
            <a:ext cx="10058400" cy="566928"/>
          </a:xfrm>
          <a:prstGeom prst="roundRect">
            <a:avLst>
              <a:gd name="adj" fmla="val 16129"/>
            </a:avLst>
          </a:prstGeom>
          <a:solidFill>
            <a:srgbClr val="1C2542"/>
          </a:solidFill>
          <a:ln w="9525">
            <a:solidFill>
              <a:srgbClr val="2C3860"/>
            </a:solidFill>
            <a:prstDash val="solid"/>
          </a:ln>
        </p:spPr>
      </p:sp>
      <p:sp>
        <p:nvSpPr>
          <p:cNvPr id="27" name="Text 25"/>
          <p:cNvSpPr txBox="1"/>
          <p:nvPr/>
        </p:nvSpPr>
        <p:spPr>
          <a:xfrm>
            <a:off x="1188720" y="5806440"/>
            <a:ext cx="9418320" cy="566928"/>
          </a:xfrm>
          <a:prstGeom prst="rect">
            <a:avLst/>
          </a:prstGeom>
          <a:noFill/>
          <a:ln/>
        </p:spPr>
        <p:txBody>
          <a:bodyPr wrap="square" lIns="0" tIns="0" rIns="0" bIns="0" rtlCol="0" anchor="ctr"/>
          <a:lstStyle/>
          <a:p>
            <a:pPr indent="0" marL="0">
              <a:buNone/>
            </a:pPr>
            <a:r>
              <a:rPr lang="en-US" sz="1300" dirty="0">
                <a:solidFill>
                  <a:srgbClr val="AEBBD6"/>
                </a:solidFill>
                <a:latin typeface="Calibri" pitchFamily="34" charset="0"/>
                <a:ea typeface="Calibri" pitchFamily="34" charset="-122"/>
                <a:cs typeface="Calibri" pitchFamily="34" charset="-120"/>
              </a:rPr>
              <a:t>Etkileşimli deneyler, canlı grafikler ve hızlı test:  </a:t>
            </a:r>
            <a:pPr indent="0" marL="0">
              <a:buNone/>
            </a:pPr>
            <a:r>
              <a:rPr lang="en-US" sz="1300" b="1" dirty="0">
                <a:solidFill>
                  <a:srgbClr val="C6F36B"/>
                </a:solidFill>
                <a:latin typeface="Calibri" pitchFamily="34" charset="0"/>
                <a:ea typeface="Calibri" pitchFamily="34" charset="-122"/>
                <a:cs typeface="Calibri" pitchFamily="34" charset="-120"/>
              </a:rPr>
              <a:t>dersler.perinet.org/induksiyon-akimi.html</a:t>
            </a:r>
            <a:endParaRPr lang="en-US" sz="1300" dirty="0"/>
          </a:p>
        </p:txBody>
      </p:sp>
      <p:sp>
        <p:nvSpPr>
          <p:cNvPr id="28" name="Text 26"/>
          <p:cNvSpPr txBox="1"/>
          <p:nvPr/>
        </p:nvSpPr>
        <p:spPr>
          <a:xfrm>
            <a:off x="5852160" y="1078992"/>
            <a:ext cx="5699455" cy="457200"/>
          </a:xfrm>
          <a:prstGeom prst="rect">
            <a:avLst/>
          </a:prstGeom>
          <a:noFill/>
          <a:ln/>
        </p:spPr>
        <p:txBody>
          <a:bodyPr wrap="square" lIns="0" tIns="0" rIns="0" bIns="0" rtlCol="0" anchor="ctr"/>
          <a:lstStyle/>
          <a:p>
            <a:pPr algn="r" indent="0" marL="0">
              <a:buNone/>
            </a:pPr>
            <a:r>
              <a:rPr lang="en-US" sz="1000" b="1" spc="200" kern="0" dirty="0">
                <a:solidFill>
                  <a:srgbClr val="8D97B5"/>
                </a:solidFill>
                <a:latin typeface="Calibri" pitchFamily="34" charset="0"/>
                <a:ea typeface="Calibri" pitchFamily="34" charset="-122"/>
                <a:cs typeface="Calibri" pitchFamily="34" charset="-120"/>
              </a:rPr>
              <a:t>SIRADAKİ KONU  </a:t>
            </a:r>
            <a:pPr algn="r" indent="0" marL="0">
              <a:buNone/>
            </a:pPr>
            <a:r>
              <a:rPr lang="en-US" sz="1300" b="1" dirty="0">
                <a:solidFill>
                  <a:srgbClr val="FFFFFF"/>
                </a:solidFill>
                <a:latin typeface="Calibri" pitchFamily="34" charset="0"/>
                <a:ea typeface="Calibri" pitchFamily="34" charset="-122"/>
                <a:cs typeface="Calibri" pitchFamily="34" charset="-120"/>
              </a:rPr>
              <a:t>04 · Transformatörler</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39</Slides>
  <Notes>39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39</vt:i4>
      </vt:variant>
    </vt:vector>
  </HeadingPairs>
  <TitlesOfParts>
    <vt:vector size="4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vector>
  </TitlesOfParts>
  <Company>dersler.perinet.org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İndüksiyon akımı — Dersler</dc:title>
  <dc:subject>Fizik · Elektrik ve Manyetizma</dc:subject>
  <dc:creator>Dersler</dc:creator>
  <cp:lastModifiedBy>Dersler</cp:lastModifiedBy>
  <cp:revision>1</cp:revision>
  <dcterms:created xsi:type="dcterms:W3CDTF">2026-09-29T23:25:25Z</dcterms:created>
  <dcterms:modified xsi:type="dcterms:W3CDTF">2026-09-29T23:25:25Z</dcterms:modified>
</cp:coreProperties>
</file>