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Lst>
  <p:notesMasterIdLst>
    <p:notesMasterId r:id="rId1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notesMaster" Target="notesMasters/notesMaster1.xml"/><Relationship Id="rId131" Type="http://schemas.openxmlformats.org/officeDocument/2006/relationships/presProps" Target="presProps.xml"/><Relationship Id="rId132" Type="http://schemas.openxmlformats.org/officeDocument/2006/relationships/viewProps" Target="viewProps.xml"/><Relationship Id="rId133" Type="http://schemas.openxmlformats.org/officeDocument/2006/relationships/theme" Target="theme/theme1.xml"/><Relationship Id="rId1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 yok, priz yok, yalnızca dönen bir tekerlek: bisiklet farı nasıl yanıyor? Evindeki prizden gelen elektriğin büyük bölümü de aynı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 Bu anlatım dört basamakta ilerliyor: önce akıyı ve değişimin gücünü sezgiyle tanıyacağız; sonra Faraday yasasını, akımın yönünü, kayan çubuğu ve jeneratörü bağıntılarıyla çıkaracağız; ardından girdap akımlarına ve ince durumlara geçeceğiz. En sonda kolaydan zora sıralanmış örneklerle hepsini birlikte kullanacağız.
Kapak görseli: Rüzgâr türbinleri indüksiyonun en görünür yüzü. Rüzgâr kanatları çevirir; kanatların mili gövdedeki jeneratörde mıknatısları ve bobinleri birbirine göre döndürür, böylece bobinlerden geçen akı sürekli değişir. Faraday yasası bu değişimi gerilime çevirir: hareket durursa elektrik de 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Pil yok, priz yok, yalnızca dönen bir tekerlek: bisiklet farı nasıl yanıyor? Evindeki prizden gelen elektriğin büyük bölümü de aynı fikirden doğuyor: bir bobinin içinden geçen manyetik alan değişirse, o bobinde akım doğar. Faraday bunu 1831'de bir mıknatısı bobinin içinde ileri geri oynatarak buldu. Bugün barajlar, rüzgâr türbinleri, termik santraller ve arabaların alternatörleri hep aynı şeyi yapıyor — hareketi, akı değişimine çevirmek. Bu anlatım dört basamakta ilerliyor: önce akıyı ve değişimin gücünü sezgiyle tanıyacağız; sonra Faraday yasasını, akımın yönünü, kayan çubuğu ve jeneratörü bağıntılarıyla çıkaracağız; ardından girdap akımlarına ve ince durumlara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akım nereden doğuyor, akı ne demek ve doğa değişime neden karşı koyuyor? Bu basamakta hesap yok denecek kadar az.
   01 Önce gözlemle: bisiklet farı nasıl yanar?
   02 Manyetik akı
   03 Faraday'ın keşfi: değişim akım doğurur
   04 Lenz yasası: doğa değişime direnir
2. Orta — Bağıntılar: Faraday yasasını kullan, akımın yönünü bul, kayan çubuğun ve dönen çerçevenin emk'sini adım adım çıkar.
   05 Faraday indüksiyon yasası
   06 İndüksiyon akımının yönü
   07 Hareketli iletken çubuk
   08 Sayılarla hisset: ne kadar emk?
   09 Jeneratör ve alternatif akım
3. İleri — Derinleşme: akım bir telde değil de bütün bir metal parçada dolaşınca, devre açıkken ya da motor dönerken ne olur?
   10 Girdap akımları: bakır boru deneyi
   11 İnce durumlar: açık devre, karşı emk, öz-indüksiyon
   12 İndüksiyon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Manyetik alan (B): mıknatısın ya da akım taşıyan telin çevresindeki etki bölgesi. Birimi tesla (T); Dünya'nın alanı yaklaşık 50 µT'dır.
• Yüzey alanı (A): bir yüzeyin büyüklüğü, m² ile ölçülür. 20 cm × 10 cm'lik bir çerçevenin alanı 0,2 m · 0,1 m = 0,02 m²'dir.
• Normal ve kosinüs: normal, bir yüzeye dik çizilen doğrudur; masanın normali tavana bakar. cos 0° = 1, cos 60° = 0,5, cos 90° = 0.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Değişim (Δ): Δ “son değer eksi ilk değer” demektir. Sıcaklık 20 °C'den 26 °C'ye çıktıysa değişim 6 °C'dir; bu 3 saniyede olduysa sıcaklık her saniye 2 °C değişmiştir.
• Ohm yasası ve güç: akım = gerilim / direnç (I = V / R). 6 V'luk pile bağlı 3 Ω'luk dirençten 2 A geçer ve dirençte P = I² · R = 12 W ısıya dönüşür.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akım nereden doğuyor, akı ne demek ve doğa değişime neden karşı koyuyor? Bu basamakta hesap yok denecek kadar az.
01 Önce gözlemle: bisiklet farı nasıl yanar?
02 Manyetik akı
03 Faraday'ın keşfi: değişim akım doğurur
04 Lenz yasası: doğa değişime direnir
Görsel: Birçok bisiklet farı pille değil, tekerleğin hareketiyle çalışan küçük bir dinamoyla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adım 1/4
• Birçok bisiklette farın pili yoktur.
• Ön tekerleğin yanına küçük bir dinamo takılır; dinamonun başlığı tekerleğe değer ve tekerlek döndükçe o da döner.
• Dinamonun içinde temelde iki parça vardır: dönen bir mıknatıs ve onun çevresinde duran bir tel bobini.
• Aralarında hiçbir kablo bağlantısı yoktur, ama bobinin uçlarına bağlı far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adım 2/4
• Dinamolu bir bisikletle yola çıkan herkes aynı dört şeyi fark eder:
• Dönerse yanar: tekerlek döndükçe far yanar, bisiklet durunca söner.
• Hızlandıkça parlar: pedalı hızlı çevirdiğinde far daha parlak yanar.
• Pedal ağırlaşır: dinamo çalışırken pedal çevirmek biraz daha zor gelir.
• Pil harcanmaz: farın enerjisi tükenmez, çünkü enerji senin bacaklarından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şekil
Dinamoda mıknatıs döner, bobin yerinde durur. Tekerlek durunca mıknatıs da durur ve far yanmaz. Mıknatıs yavaş dönerken far sönük, hızlı dönerken parlak yanar: ışığı mıknatısın kendisi değil, ne kadar hızlı döndüğü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bisiklet farı nasıl yanar? — adım 4/4
• Demek ki akımı doğuran şey mıknatısın kendisi değil, mıknatısın hareketidir.
• Güçlü bir mıknatıs bobinin yanında kıpırdamadan dursaydı hiçbir şey olmazdı.
• Bu anlatımın bütün hikâyesi bu küçük gözlemden çıkıyor: değişen bir manyetik alan akım doğurur ve bunun bedelini hareketi sağlayan öder.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Dinamoda dönen mıknatıs bobinde akım doğurur; mıknatıs hızlandıkça akım artar, durunca akım kesilir. Akımı doğuran mıknatısın kendisi değil, hareketinin yarattığı değişimdir.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Dinamolu farı olan bisikletçi kırmızı ışıkta durunca farı neden söner?
Sınıfa sorun, birkaç tahmin alın; sonra cevap slaytına geçin.
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adım 1/4
• “Bobinden geçen alan değişir” sözünü ölçülebilir kılmak için yeni bir büyüklük gerekir.
• Bir yüzeyden geçen manyetik alan çizgilerinin sayısına manyetik akı (Φ) denir.
• Birimi weber (Wb)'dir.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adım 2/4
• Yağmurun altında bir çember tuttuğunu düşün.
• Çemberin içinden geçen damla sayısı üç şeye bağlıdır: yağmurun şiddetine, çemberin büyüklüğüne ve çemberi nasıl tuttuğuna.
• Çemberi yere paralel tutarsan en çok damla geçer; yan çevirirsen hiçbiri geçmez.
• Akı da aynıdır: alanın şiddeti (B), yüzeyin alanı (A) ve aradaki açı.
Φ = B · A · cosα   1 Wb = 1 T·m²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adım 3/4
• Buradaki α, alan ile yüzeyin normali (yüzeye dik doğrultu) arasındaki açıdır.
• Üç durum önemlidir:
• Alan yüzeye dik (α = 0): akı en büyüktür, Φ = B·A.
• Alan yüzeye paralel (α = 90°): akı sıfırdır.
• Akı; B, A ya da α'dan herhangi biri değiştiğinde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akı — şekil
Manyetik akı, çerçevenin içinden kaç alan çizgisinin geçtiğidir.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Manyetik akı, bir yüzeyden geçen alan çizgisi miktarıdır: Φ = B·A·cosα, birimi weber. Alan yüzeye dikken akı en büyük, paralelken sıfırdır.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1/5
• Oersted 1820'de akımın manyetik alan ürettiğini göstermişti.
• Faraday tersini merak etti: manyetik alan akım üretebilir mi?
• Uzun süre sonuç alamadı; bobinin yanında duran mıknatıs, galvanometreyi (küçük akımları ölçen alet) kıpırdatmıyordu.
• 1831'de sırrı buldu: mıknatıs hareket ettiği anda iğne sapıyor, mıknatıs durunca sıfıra dönüyordu.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2/5
Belirleyici olan değişimdir. Güçlü ama sabit bir alan hiçbir akım üretmez. Mıknatıs bobinin içinde hareketsiz dururken galvanometre sıfırı gösterir; hareket başladığı anda sapar.
• Akı değiştiğinde devrede bir elektromotor kuvvet (emk) doğar; emk, devrede akımı süren gerilimdir ve pilin gerilimi gibi volt ile ölçülür.
• Bu olaya elektromanyetik indüksiyon, doğan akıma indüksiyon akımı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3/5
• Akıyı değiştirmenin üç yolu vardır:
• Alanı değiştir: mıknatısı yaklaştır ya da uzaklaştır, yakındaki bir bobinin akımını değiştir.
• Yüzeyi değiştir: devrenin bir kenarını kaydırarak çevrelenen alanı büyüt ya da küçült.
• Açıyı değiştir: bobini alanın içinde döndür; jeneratörler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şekil
Akım üreten şey alanın büyüklüğü değil, akının değişim hızıdır. Mıknatısı ne kadar hızlı hareket ettirirsen ΔΦ/Δt o kadar büyür ve galvanometre iğnesi o kadar çok sapar. Mıknatısı bobinin içinde durdurursan, alan hâlâ güçlü olmasına rağmen akım tamamen kesilir. Sarım sayısını artırmak da emk'yı aynı oranda büyütür.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Faraday'ın keşfi: değişim akım doğurur — adım 5/5
• Sayfanın 01 numaralı deneyindeki hazır düğmelerle üç kuralı kendin sınayabilirsin: “Hızlı geçiş” galvanometreyi “Yavaş geçiş”ten çok saptırır, “Sarım 3 katı” emk'yi büyütür, “Duran mıknatıs” ise hiçbir şey üretmez.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Akı değiştiğinde devrede emk ve indüksiyon akımı doğar; sabit alan ne kadar güçlü olursa olsun akım üretmez. Değişim hızlandıkça ve sarım sayısı arttıkça emk büyür.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adım 1/4
• İndüksiyon akımı, kendisini doğuran akı değişimine karşı koyacak yönde akar.
• Bu kuralı 1834'te Heinrich Lenz ortaya koydu ve kural, enerjinin korunumunun doğrudan bir sonucudur.
• Akı artıyorsa: indüksiyon akımı, artışı azaltacak yönde alan üretir.
• Akı azalıyorsa: akım, azalmayı telafi edecek yönde alan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adım 2/4
• Bu yüzden mıknatısı bobine yaklaştırırken bir itme, uzaklaştırırken bir çekme hissedersin.
• Mıknatısı hareket ettirmek için yaptığın iş, devrede üretilen elektrik enerjisine dönüşür.
• Bisiklette pedalın ağırlaşması da budur: dinamodaki akım, mıknatısın dönüşünü frenleyen bir etki yaratır.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adım 3/4
Lenz olmasaydı ne olurdu? Akım değişimi desteklerdi; sistem kendi kendini hızlandırır, bedava enerji üretirdi. Faraday yasasında birazdan göreceğin eksi işareti, enerji korunumunun bekçisidir.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Lenz yasası: doğa değişime direnir — şekil
Lenz yasası tek cümledir: indüklenen akım, kendisini doğuran değişime karşı çıkacak yönde akar. Mıknatıs yaklaşırken bobin ona bakan yüzünü aynı kutup yapar ve iter; uzaklaşırken zıt kutup yapar ve çeker. Yani mıknatısı hareket ettirmek için iş yapman gerekir — üretilen elektrik enerjisi tam olarak buradan gelir. Aksi olsaydı hareket kendini besler, enerjinin korunumu çökerdi.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İndüksiyon akımı, kendisini doğuran değişime karşı koyar: yaklaşan mıknatısı iter, uzaklaşanı çeker. Bu karşı koyma, enerjinin korunumunun gereğidir.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Bobinin uçları birbirine bağlı değilse, mıknatısı yaklaştırırken yine itme hisseder misin?
Sınıfa sorun, birkaç tahmin alın; sonra cevap slaytına geçin.
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Devre açık olduğu için bobinin uçları arasında emk doğar ama akım akamaz. Akım yoksa bobin mıknatıs gibi davranmaz ve mıknatısı itmez. Uçları birleştirdiğin anda akım akar, itme de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Faraday yasasını kullan, akımın yönünü bul, kayan çubuğun ve dönen çerçevenin emk'sini adım adım çıkar.
05 Faraday indüksiyon yasası
06 İndüksiyon akımının yönü
07 Hareketli iletken çubuk
08 Sayılarla hisset: ne kadar emk?
09 Jeneratör ve alternatif akım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1/7
• Bir devreden geçen manyetik akı değiştiğinde devrede bir elektromotor kuvvet (emk) indüklenir.
• Bu emk'nin büyüklüğü, akının değişim hızıyla orantılıdır:
ε = −N · ΔΦ / Δt   I = ε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2/7
Formüldeki harfler ne anlama geliyor?
Sembol | Anlamı | Birimi
ε | indüklenen emk, yani devrede akımı süren gerilim (baştaki eksi yalnızca yönü söyler) | V
N | bobinin sarım sayısı | —
ΔΦ | akının değişimi: son akı eksi ilk akı (Φ₂ − Φ₁) | Wb
Δt | akının değiştiği süre | s
I | devreden geçen indüksiyon akımı | A
R | devrenin direnci | 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3/7
• N sarım sayısıdır: aynı akı değişimi N kez sayıldığı için emk sarımla doğru orantılı büyür.
• Her sarım küçük bir pil gibidir ve sarımlar seri bağlı piller gibi gerilimlerini toplar.
• Baştaki eksi işareti yönü anlatır (Lenz yasası).
• Bir soruda yasayı beş adımda uygula: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4/7
• İlk akı: Φ₁ = B₁·A₁·cosα₁
• Son akı: Φ₂ = B₂·A₂·cosα₂
• Değişim: ΔΦ = Φ₂ − Φ₁ (artıyor mu, azalıyor mu?)
• emk: |ε| = N·|ΔΦ| / Δt; Δt sonlu bir süreyse bu, o süredeki ortalama emk'dir.
• Akım: I = ε / R; yönünü Lenz yasası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şekil
Emk, akı–zaman grafiğinin eğimidir. Akı 2 saniyede artarken küçük bir emk doğar; akı sabitken, büyük olsa bile emk sıfırdır. Aynı akı değişimi 1 saniyede olunca emk iki katına çıkar. Akı artarken ve azalırken emk'nin yönü terstir: alt grafikte bir kez eksenin altında, bir kez üstünde.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adım 6/7
Birim kontrolü: Wb/s = T·m²/s. 1 T = 1 N/(A·m) olduğundan T·m²/s = N·m/(A·s) = J/C = V ✓. Akının değişim hızı gerçekten bir gerilimdir.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Faraday indüksiyon yasası — şekil
Mıknatısı bobine ittiğinde bobinden geçen akı değişir ve bobine bağlı ölçerin iğnesi ortadan bir yana sapar. İğnenin sapması akının değişim hızına bağlıdır: mıknatısı durdurursan akı sabitlenir ve iğne ortaya döner, daha hızlı itersen ΔΦ/Δt büyür ve iğne daha çok sapar. Bobindeki çok sayıda sarım da emk'yi büyütür; ε = −N·ΔΦ/Δt'de her sarım seri bağlı küçük bir pil gibi katkı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İndüklenen emk, akının değişim hızıyla ve sarım sayısıyla orantılıdır: ε = −N·ΔΦ/Δt. Wb/s birimi volta eşittir; emk, Φ–t grafiğinin eğimidir.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Φ–t grafiğinde akının tepe yaptığı anda emk neden sıfırdır?
Sınıfa sorun, birkaç tahmin alın; sonra cevap slaytına geçin.
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Emk, akının değişim hızıdır, yani Φ–t eğrisinin eğimidir. Tepe noktasında eğri bir an için yatay olur; akı büyük ama o an değişmiyordur. Sayfanın 01 numaralı deneyinde mıknatıs bobinin ortasına geldiğinde ε–t eğrisinin sıfırdan geçmesi bu yüzdendir.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1/5
• Yönü bulmanın pratik yolu üç adımdır:
• Devreden geçen akının yönünü ve artıyor mu azalıyor mu olduğunu belirle.
• Lenz'e göre indüksiyon akımının hangi yönde alan üretmesi gerektiğini bul (artışa karşı zıt, azalmaya karşı aynı yönde).
• Sağ el kuralıyla, bu alanı üretecek akım yönünü belirle.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şekil
Yönü bulmak için tek bir soru yeter: akı artıyor mu, azalıyor mu? Artıyorsa indüklenen akım, artışı frenlemek için zıt yönde bir alan üretir; azalıyorsa azalmayı yavaşlatmak için aynı yönde bir alan üretir. İndüklenen alanın yönünü bulduktan sonra akımın yönünü sağ el kuralıyla okursun.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3/5
• Bobine hangi kutbun, hangi yönde geldiğine göre dört durum vardır.
• Hepsinde bobinin mıknatısa bakan yüzü, hareketi zorlaştıracak kutbu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4/5
Mıknatıs | Akı | İndüklenen alan | Bobinin yüzü
N kutbu yaklaşıyor | artıyor | zıt yönde | N (iter)
N kutbu uzaklaşıyor | azalıyor | aynı yönde | S (çeker)
S kutbu yaklaşıyor | artıyor | zıt yönde | S (iter)
S kutbu uzaklaşıyor | azalıyor | aynı yönde | N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akımının yönü — adım 5/5
• Yüzün kutbunu bulduktan sonra akım yönü kolaydır: mıknatıstan bakıldığında N gibi davranan yüzde akım saatin tersi yönde, S gibi davranan yüzde saat yönünde döner.
• Sayfadaki 01 numaralı deneyde mıknatıs yaklaşırken akım bir yöne, uzaklaşırken ters yöne akar; galvanometre iki kez, zıt yönlerde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Önce akının artıp azaldığına bak: artıyorsa indüklenen alan zıt, azalıyorsa aynı yöndedir. Sonra bu alanı üretecek akım yönünü sağ el kuralıyla bul.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adım 1/4
• Manyetik alan içinde, raylar üzerinde v hızıyla kayan L uzunluğundaki çubuk için akı değişimi ΔΦ = B·L·v·Δt olur ve emk:
ε = B · L · v   I = B·L·v / R   F = B·I·L = B²L²v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adım 2/4
• Alan büyür: Çubuk Δt sürede v·Δt kadar kayar; devrenin çevrelediği yüzey ΔA = L·v·Δt kadar büyür.
• Akı artar: Alan yüzeye dik olduğundan ΔΦ = B·ΔA = B·L·v·Δt.
• Faraday: ε = ΔΦ/Δt = B·L·v; Δt sadeleşir.
• İkinci bakış: Çubuktaki yükler v hızıyla alanda hareket eder; çubuk boyunca q·v·B kuvveti görür ve bir uca itilir. Çubuk bir pil gibi davranır.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adım 3/4
• Bu kuvvet harekete zıt yöndedir: çubuğu sabit hızla sürmek için dışarıdan bir kuvvet uygulanmalıdır.
• Harcanan mekanik güç (F·v), devrede açığa çıkan elektriksel güce (I²R) eşittir — enerji korunur.
• Sayfanın 03 numaralı deneyindeki başlangıç değerleriyle (B = 0,5 T, L = 0,5 m, v = 4 m/s, R = 2 Ω): ε = 1 V, I = 0,5 A, F = 0,125 N ve F·v = I²R = 0,5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iletken çubuk — şekil
Çubuk sağa kaydıkça devrenin çevrelediği alan büyür, akı artar ve devrede akım doğar. Ama bu akım da alanın içindedir: ona etkiyen manyetik kuvvet harekete zıt yöndedir (kırmızı ok). Yani çubuğu sabit hızla sürüklemek için sürekli kuvvet uygulamak gerekir — harcadığın mekanik güç, direnç üzerinde ısıya dönüşen elektriksel güce eşittir.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Alanda kayan çubuk ε = B·L·v emk'si üretir; doğan akım çubuğa harekete zıt F = B²L²v/R kuvveti uygular. Çubuğu itmek için harcanan güç, dirençte ısıya dönüşen güce eşittir.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adım 1/4
• Faraday yasasının verdiği gerilimler durumdan duruma çok değişir.
• Tanıdık düzeneklerde ne kadar emk doğduğuna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adım 2/4
Durum | Değerler | emk
Mıknatısı elle bobine sokmak | 200 sarım, ΔΦ = 3·10⁻⁵ Wb, 0,2 s | 0,03 V
Uçan yolcu uçağının kanatları | B = 40 µT, L = 60 m, v = 250 m/s | 0,6 V
Sayfadaki 03 çubuğu | B = 0,5 T, L = 0,5 m, v = 4 m/s | 1 V
Sayfadaki 02 jeneratörü | 100 sarım, 0,02 m², 0,5 T, 2 tur/s | 12,6 V (tepe)
Aynı jeneratör, 50 tur/s | 100 sarım, 0,02 m², 0,5 T | 314 V (tepe)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adım 3/4
• Tablodan okunan düzen: emk'yi alanın büyüklüğünden çok değişimin hızı belirler.
• Aynı jeneratör 25 kat hızlı dönünce 25 kat büyük gerilim üretir; saniyede 50 tur, şebekenin gerilimine yaklaşan bir değer verir.
• Elle oynatılan bir mıknatıs ise yalnızca birkaç on milivolt üretir; Faraday'ın hassas bir galvanometreye ihtiyaç duyması bu yüzdendir.
• Uçak örneğinde alan, Dünya'nın zayıf alanının düşey bileşenidir; buna rağmen kanatların uzunluğu ve uçağın hızı yarım voltu aşan bir emk doğurur.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emk? — şekil
Tablodaki beş emk aynı ölçekte çizildi. Elle oynatılan mıknatıs, uçak kanatları ve 03 çubuğu bu ölçekte neredeyse görünmez. En alttaki çubuk, üstündeki 12,6 V'luk çubuğun 25 tanesinden oluşur: aynı jeneratör 25 kat hızlı dönünce emk de 25 kat büyür. Emk'yi belirleyen, değişimin hızıdır.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Elle oynatılan mıknatıs birkaç on milivolt, sayfadaki çubuk 1 V, saniyede 50 tur atan küçük bir jeneratör yüzlerce volt üretir. Emk'yi belirleyen, değişimin hızıdır.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1/7
• Düzgün alan içinde sabit hızla dönen bir çerçevede akı sürekli değişir:
Φ = B·A·cos(ω·t)   ε = N·B·A·ω·sin(ω·t)   ε(maks) = B·A·ω·N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2/7
Formüldeki harfler ne anlama geliyor?
Sembol | Anlamı | Birimi
ω | çerçevenin açısal hızı: bir saniyede döndüğü açı (ω = 2π·f) | rad/s
f | çerçevenin bir saniyedeki tur sayısı (frekans) | Hz
t | çerçevenin alana dik durduğu andan beri geçen süre | s
A | çerçevenin yüzey alanı | m²
ε(maks) | emk'nin tepe değeri: çerçeve alana paralelken görülen en büyük emk |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3/7
• Burada ω, çerçevenin açısal hızıdır (ω = 2π·f).
• Tepe değer, hareketli çubuk bağıntısından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4/7
• Çerçevenin eksene paralel iki kenarı a uzunluğunda, eksenden b/2 uzaktadır; ikisi de v = ω·b/2 hızıyla döner.
• Çerçeve alana paralelken bu kenarlar alana dik hareket eder; her biri ε = B·a·v emk'si üretir.
• İki kenar seri bağlıdır: ε = 2·B·a·ω·b/2 = B·A·ω (A = a·b). N sarımda N·B·A·ω.
• Başka konumlarda hızın yalnızca alana dik bileşeni sayılır; bu da sin(ω·t) çarpanını getirir.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5/7
• Üretilen emk sinüs biçiminde değişir ve yön değiştirir: buna alternatif akım (AC) denir.
• Çerçeve alana dik olduğunda akı en büyüktür ama değişim hızı sıfırdır, dolayısıyla emk sıfırdır; çerçeve alana paralel olduğunda ise akı sıfır, emk en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şekil
Çerçeve döndükçe içinden geçen akı kosinüs gibi salınır. Emk ise akının değişim hızıyla orantılı olduğu için sinüs olur — yani ikisi arasında çeyrek periyot fark vardır. Akının en büyük olduğu anda emk sıfırdır (o an akı değişmiyordur); akının sıfır olduğu anda ise emk en büyüktür. Şehir şebekesindeki alternatif akım tam olarak bu eğridir.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Jeneratör ve alternatif akım — adım 7/7
Türkiye'de şebeke: 230 V, 50 Hz. Yani iki kutuplu bir jeneratörün çerçevesi saniyede 50 tam tur atar ve gerilim saniyede 50 kez tam çevrim yapar. 230 V, gerilimin etkin değeridir; tepe değeri 230·√2 ≈ 325 V'tur.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Dönen çerçevede akı kosinüs, emk sinüs gibi değişir ve tepe emk N·B·A·ω'dır. Akı en büyükken emk sıfır, akı sıfırken emk en büyüktür; sonuç alternatif akımdır.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akım bir telde değil de bütün bir metal parçada dolaşınca, devre açıkken ya da motor dönerken ne olur?
10 Girdap akımları: bakır boru deneyi
11 İnce durumlar: açık devre, karşı emk, öz-indüksiyon
12 İndüksiyon gerçek dünyada
Görsel: İndüksiyonlu ocakta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adım 1/4
• Faraday yasası yalnızca bobinler için geçerli değildir.
• Değişen bir alanın içindeki her iletken parçada, metalin içinde kapalı halkalar çizen akımlar doğar: girdap akımları.
• Lenz yasası gereği bu akımlar da değişime karşı koyar ve hareketi frenler.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adım 2/4
• Sayfanın 04 numaralı deneyinde aynı mıknatıs 1,2 m'lik iki borudan bırakılıyor.
• Plastik boruda serbest düşerek yaklaşık 0,49 saniyede iner.
• Bakır boruda ise mıknatısın altındaki bölgede akı artar, üstündeki bölgede azalır; boru çeperinde doğan girdap akımları mıknatısı yukarı iter.
• Mıknatıs neredeyse hemen sabit ve küçük bir hıza ulaşır ve boruyu yaklaşık 5,5 saniyede, on kattan da yavaş geçer.
• Kaybolan potansiyel enerji boruda ısıya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şekil
Bakır mıknatıslanmaz — ama iletkendir. Mıknatıs boruya girerken boru duvarında halka halka girdap akımları doğar ve Lenz yasası gereği bu akımlar mıknatısı frenler. Sonuç şaşırtıcı: aynı mıknatıs plastik boruda yarım saniyede düşerken bakır boruda on kattan uzun sürede iner. Hiçbir temas, hiçbir sürtünme olmadan frenleme — aynı ilke ağır vasıtaların girdap akımı frenlerinde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Girdap akımları: bakır boru deneyi — adım 4/4
• Girdap akımı freni: Lenz kuvvetiyle temassız frenleme; ağır vasıtalarda ve trenlerde balatayı aşındırmadan yavaşlatır.
• Metal dedektörü: değişen alan metalde girdap akımları doğurur; bu akımların alanı dedektörün bobinince algılanır.
• İnce levhalı çekirdek: transformatör çekirdekleri yalıtılmış ince levhalardan yapılır; girdap akımlarının yolu kesilir, ısı kaybı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Değişen alanın içindeki iletkenlerde girdap akımları doğar ve Lenz yasası gereği hareketi frenler. Bakır boruda mıknatıs, plastik borudakinden on kattan fazla uzun sürede düşer.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Bakır boruyu boylamasına kesip ince bir yarık açarsan mıknatıs daha hızlı mı düşer?
Sınıfa sorun, birkaç tahmin alın; sonra cevap slaytına geçin.
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1/7
• Faraday yasasını doğru kullanmak için dört ince noktayı bilmek gerekir.
• Hepsi aynı ilkeye dayanır, ama ilk bakışta şaşırtır: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2/7
• Açık devre: emk doğar ama akım akmaz. Uçağın kanat uçları arasında 0,6 V vardır, ama uçakla birlikte hareket eden bir devrenin akısı değişmediği için akım dolaşmaz.
• Karşı emk: dönen her motor aynı zamanda bir jeneratördür ve beslemeye karşı bir emk üretir. Motorun çektiği akım bu yüzden dönerken azalır.
• Öz-indüksiyon: bobinin kendi akımı değişince kendi akısı da değişir; bobin bu değişime direnir. Anahtar açılınca kıvılcım çıkması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3/7
• Doğru akım: sabit akım sabit akı demektir; transformatör yalnızca akım açılıp kapanırken, yani akı değişirken emk üretir.
I = (V − εkarşı)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4/7
• Karşı emk'nin etkisini sayılarla görelim: 12 V'luk bir motorun sargı direnci 1 Ω olsun.
• Motor ilk çalıştığı an henüz dönmediği için karşı emk sıfırdır ve akım 12 A'dir.
• Motor hızlanıp 10 V'luk karşı emk ürettiğinde akım (12 − 10)/1 = 2 A'e iner.
• Arabaların çalıştırma anında farların bir an sönükleşmesi, bu büyük ilk akım yüzündendir.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adım 5/7
• İndüksiyon arabaların ateşleme bobininde de işe koşulur: birincil bobindeki akım aniden kesilince hızla çöken manyetik alan, çok sarımlı ikincil bobinde on binlerce voltluk bir emk doğurur ve bujide kıvılcım çakar.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şekil
Motor ilk çalıştığı an dönmediği için karşı emk yoktur; 12 V'un tamamı 1 Ω'luk sargıya düşer ve 12 A akar. Dönen motor aynı zamanda bir jeneratördür: beslemeye karşı 10 V'luk bir emk üretir (kırmızı ok). Sargıya yalnızca 12 − 10 = 2 V kalır ve akım 2 A'e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açık devre, karşı emk, öz-indüksiyon — şekil
Anahtar açılırken bakır dil ile kontak arasında mavimsi beyaz bir kıvılcım çakıyor. Devre açıldığı anda bobinden geçen akım birden kesilir ve bobinin kendi akısı hızla çöker; bobin bu değişime karşı koyan büyük bir emk üretir ve akım bir anlığına aradaki havadan atlar. Bobinin kendi akımındaki değişime böyle direnmesine öz-indüksiyon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Açık devrede emk vardır ama akım yoktur. Dönen motor karşı emk üretir ve akımını azaltır; bobin kendi akımındaki değişime de direnir (öz-indüksiyon).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elektrik motorunun mili sıkışıp dönemezse motor neden ısınıp yanabilir?
Sınıfa sorun, birkaç tahmin alın; sonra cevap slaytına geçin.
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1/5
• Evine gelen elektrikten cebindeki temassız karta kadar indüksiyon her yerde çalışıyor.
• Ortak nokta hep aynı: bir yerde akı değiştirilir, başka bir yerde akım doğar.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2/5
• Santral jeneratörü: iki kutuplu bir jeneratör 50 Hz üretmek için dakikada 3000 tur atar; barajlardaki çok kutuplu jeneratörler daha yavaş döner.
• Rüzgâr türbini: büyük kanatlar dakikada yalnızca 10–20 tur atar; dişli kutuları ya da elektronik dönüştürücüler bunu şebekeye uydurur.
• İndüksiyonlu ocak: bobinin akımı saniyede on binlerce kez yön değiştirir; ısı doğrudan tencerenin demir içeren tabanında doğar.
• Bisiklet dinamosu: tipik bir dinamo yaklaşık 6 V ve 3 W verir; bu, bir bisiklet farını yakmaya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3/5
• Temassız kart: okuyucunun 13,56 MHz'lik alanı karttaki anten bobininde akım doğurur; kartın pili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şekil
Camın altındaki bobinden saniyede on binlerce kez yön değiştiren akım geçer. Bobinin değişen alanı camdan geçip tencerenin çelik tabanına ulaşır ve orada girdap akımları doğurur; ısı tabanın kendisinde açığa çıkar. Cam iletken olmadığı için içinde akım doğmaz; yalnızca sıcak tencereye değdiği yerde ısınır.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İndüksiyon gerçek dünyada — adım 5/5
Uygulama | Nasıl çalışır
Jeneratör / dinamo | Dönen çerçevede akı değişimi
Transformatör | Değişen akımın ikinci bobinde akı değişimi yaratması
Kablosuz şarj | Bobinden bobine akı aktarımı
Metal dedektör | Metalde doğan girdap akımlarının alanı bozması
İndüksiyonlu ocak | Tencere tabanında doğan girdap akımlarının ısıtması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Santraller, rüzgâr türbinleri, dinamolar, indüksiyonlu ocaklar, transformatörler ve temassız kartlar aynı ilkeyle çalışır: bir yerde akı değiştirilir, başka bir yerde akım doğar.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Alanı 0,2 m² olan bir çerçeve, 0,4 T'lık düzgün alan içinde duruyor. Çerçevenin normali alanla (a) 0°, (b) 60°, (c) 90° açı yaptığında akı kaç Wb olur?
Durum çizimi: Durum: 0,2 m²'lik çerçeve 0,4 T'lık alanda üç konumda duruyor; çerçeve yandan görülüyor, gri ok normalini gösteriyor. Normal ile alan arasındaki α açısı her konumda farklı ve üçünde de akı Φ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Alanı 0,2 m² olan bir çerçeve, 0,4 T'lık düzgün alan içinde duruyor. Çerçevenin normali alanla (a) 0°, (b) 60°, (c) 90° açı yaptığında akı kaç Wb olur?
Verilenler: A = 0,2 m² · B = 0,4 T · normal ile alan arasındaki açı: (a) α = 0° · (b) α = 60° · (c) α = 90° · cos0° = 1, cos60° = 0,5, cos90° = 0
İstenen: üç durumda çerçeveden geçen akı Φ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 çözüm
1. (a) Φ = B·A·cos0° = 0,4 · 0,2 · 1 = 0,08 Wb
2. (b) Φ = 0,08 · cos60° = 0,08 · 0,5 = 0,04 Wb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Akının açıya bağlılığı — çözüm
3. (c) Φ = 0,08 · cos90° = 0 (alan yüzeye paralel)
4. Çerçeve döndükçe akı bu değerler arasında salınır; jeneratörün temeli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200 sarımlı bir bobinden geçen manyetik akı 0,1 saniyede 4·10⁻³ Wb'den 1·10⁻³ Wb'e düşüyor. İndüklenen emk'nin büyüklüğü nedir?
Durum çizimi: Durum: 200 sarımlı bobinden geçen akı 0,1 saniyede 4·10⁻³ Wb'den 1·10⁻³ Wb'e düşüyor; sarı çizgilerin sayısı akıyla orantılı çizildi. İndüklenen emk'nin büyüklüğü |ε|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200 sarımlı bir bobinden geçen manyetik akı 0,1 saniyede 4·10⁻³ Wb'den 1·10⁻³ Wb'e düşüyor. İndüklenen emk'nin büyüklüğü nedir?
Verilenler: N = 200 · ilk akı Φ₁ = 4·10⁻³ Wb · son akı Φ₂ = 1·10⁻³ Wb · Δt = 0,1 s
İstenen: indüklenen emk'nin büyüklüğü |ε|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 çözüm
1. ΔΦ = 1·10⁻³ − 4·10⁻³ = −3·10⁻³ Wb
2. |ε| = N·|ΔΦ|/Δt = 200 · 3·10⁻³ /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Akı değişiminden emk — çözüm
3. |ε| = 200 · 0,03 = 6 V
4. Akı azaldığı için indüksiyon akımı, akıyı sürdürecek yönde akar (Lenz).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Bir mıknatısın N kutbu bobine yaklaştırılıyor. Bobinin mıknatısa bakan yüzü hangi kutup gibi davranır ve neden?
Durum çizimi: Durum: mıknatısın N kutbu, uçları galvanometreye bağlı bobine yaklaşıyor. Bobinin mıknatısa bakan yüzünün hangi kutup gibi davranacağı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Bir mıknatısın N kutbu bobine yaklaştırılıyor. Bobinin mıknatısa bakan yüzü hangi kutup gibi davranır ve neden?
Verilenler: mıknatısın bobine bakan ucu N kutbu · mıknatıs bobine yaklaşıyor
İstenen: bobinin mıknatısa bakan yüzünün hangi kutup gibi davrandığı ve nedeni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 çözüm
1. N kutbu yaklaştıkça bobinden geçen akı artar.
2. Lenz yasası: indüksiyon akımı bu artışa karşı koyar, yani mıknatısı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Lenz yasasıyla yön — çözüm
3. İtebilmesi için bobinin o yüzü N kutbu gibi davranmalıdır.
4. Mıknatıs uzaklaştırılsaydı akı azalırdı; bu kez bobin onu çekmek için S kutbu gibi davranırdı.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0,5 T'lık alanda, 40 cm uzunluğundaki çubuk raylar üzerinde 5 m/s hızla kayıyor. Devrenin direnci 2 Ω'dur. emk, akım ve çubuğa etki eden karşı kuvveti bulunuz.
Durum çizimi: Durum: 40 cm'lik çubuk 0,5 T'lık alanda, raylar üzerinde 5 m/s hızla kayıyor; devrenin direnci 2 Ω. Doğan emk ε, akım I ve çubuğa etkiyen karşı kuvvet F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0,5 T'lık alanda, 40 cm uzunluğundaki çubuk raylar üzerinde 5 m/s hızla kayıyor. Devrenin direnci 2 Ω'dur. emk, akım ve çubuğa etki eden karşı kuvveti bulunuz.
Verilenler: B = 0,5 T · L = 40 cm = 0,4 m · v = 5 m/s · R = 2 Ω
İstenen: emk ε · akım I · çubuğa etki eden karşı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 çözüm
1. ε = B·L·v = 0,5 · 0,4 · 5 = 1 V
2. I = ε/R = 1/2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Hareketli çubuk — çözüm
3. F = B·I·L = 0,5 · 0,5 · 0,4 = 0,1 N (harekete zıt)
4. Kontrol: mekanik güç F·v = 0,5 W; elektriksel güç I²R = 0,25·2 = 0,5 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100 sarımlı, 0,02 m² alanlı bir çerçeve 0,5 T'lık düzgün alanda dönüyor. (a) Saniyede 2 tur atarken, (b) saniyede 50 tur atarken tepe emk nedir? (c) 50 tur/s'de tepe emk'nin şebekenin 325 V'luk tepe değerine ulaşması için en az kaç sarım gerekir? (π ≈ 3,14)
Durum çizimi: Durum: 100 sarımlı, 0,02 m²'lik çerçeve 0,5 T'lık alanda eksen çevresinde dönüyor. Saniyede 2 ve 50 tur için tepe emk ε(maks), ayrıca 50 tur/s'de 325 V'a ulaşmak için gereken sarım sayısı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100 sarımlı, 0,02 m² alanlı bir çerçeve 0,5 T'lık düzgün alanda dönüyor. (a) Saniyede 2 tur atarken, (b) saniyede 50 tur atarken tepe emk nedir? (c) 50 tur/s'de tepe emk'nin şebekenin 325 V'luk tepe değerine ulaşması için en az kaç sarım gerekir? (π ≈ 3,14)
Verilenler: N = 100 · A = 0,02 m² · B = 0,5 T · (a) f = 2 tur/s · (b) f = 50 tur/s · (c) hedef tepe emk = 325 V · π ≈ 3,14
İstenen: (a) saniyede 2 tur atarken tepe emk · (b) saniyede 50 tur atarken tepe emk · (c) 50 tur/s'de 325 V için gereken en az sarım sayısı 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 çözüm
1. (a) ω = 2π·f = 2 · 3,14 · 2 ≈ 12,6 rad/s → εmaks = N·B·A·ω = 100 · 0,5 · 0,02 · 12,6 ≈ 12,6 V
2. (b) ω = 2 · 3,14 · 50 = 314 rad/s → εmaks = 100 · 0,5 · 0,02 · 314 = 314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Jeneratörün tepe emk'si — çözüm
3. (c) Bir sarımın payı 0,5 · 0,02 · 314 = 3,14 V; N = 325 / 3,14 ≈ 103,5 → en az 104 sarım
4. Çerçeve alana dik konumdan geçtiği her an emk sıfırdır; tepe değer, çerçeve alana paralelken görülür.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0,5 T'lık alanda raylar üzerindeki 0,5 m'lik çubuk, 0,5 N'luk sabit bir kuvvetle çekiliyor. Devrenin direnci 2 Ω'dur; sürtünme yoktur. Çubuğun ulaşacağı en büyük hızı, bu hızdaki emk'yi, akımı ve dirençteki gücü bulunuz.
Durum çizimi: Durum: 0,5 m'lik çubuk 0,5 T'lık alanda 0,5 N'luk sabit kuvvetle çekiliyor; devrenin direnci 2 Ω ve sürtünme yok. Çubuğun ulaşacağı en büyük hız, bu hızdaki emk, akım ve dirençteki güç P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0,5 T'lık alanda raylar üzerindeki 0,5 m'lik çubuk, 0,5 N'luk sabit bir kuvvetle çekiliyor. Devrenin direnci 2 Ω'dur; sürtünme yoktur. Çubuğun ulaşacağı en büyük hızı, bu hızdaki emk'yi, akımı ve dirençteki gücü bulunuz.
Verilenler: B = 0,5 T · L = 0,5 m · sabit çekme kuvveti F = 0,5 N · R = 2 Ω · sürtünme yok
İstenen: en büyük hız v · bu hızdaki emk ε · akım I · dirençteki güç P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 çözüm
1. Çubuk hızlandıkça karşı kuvvet B²L²v/R büyür; çekme kuvvetine eşitlendiğinde ivme biter.
2. F = B²L²v/R → v = F·R/(B²L²) = 0,5 · 2 / (0,25 · 0,25) = 16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Sabit kuvvetle çekilen çubuk — çözüm
3. ε = B·L·v = 0,5 · 0,5 · 16 = 4 V; I = ε/R = 2 A
4. P = I²R = 4 · 2 = 8 W. Kontrol: F·v = 0,5 · 16 = 8 W ✓
Bu durum, havada düşen cismin limit hıza ulaşmasına benzer: sürükleyen kuvvet sabit, frenleyen kuvvet hızla büyür ve ikisi eşitlenince hız sabitlenir.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0,5 T'lık düzgün alan, 0,04 m²'lik bir çerçevenin yüzeyine dik geçiyor. Çerçeveden geçen akı kaç Wb'dir?
Öğrencilere 2–3 dakika verin; sonra cevap slaytını açın.
Cevap: Cevap: Alan yüzeye dik olduğu için α = 0° ve cos0° = 1: Φ = B · A = 0,5 · 0,04 = 0,02 Wb.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Alan yüzeye dik olduğu için α = 0° ve cos0° = 1: Φ = B · A = 0,5 · 0,04 = 0,02 Wb.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100 sarımlı bir bobinden geçen akı 0,5 saniyede 0,02 Wb artıyor. Bobinde indüklenen emk kaç volttur?
Öğrencilere 2–3 dakika verin; sonra cevap slaytını açın.
Cevap: Cevap: |ε| = N · ΔΦ / Δt = 100 · 0,02 / 0,5 = 4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|ε| = N · ΔΦ / Δt = 100 · 0,02 / 0,5 = 4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0,4 T'lık alanda raylar üzerindeki 50 cm'lik çubuk 10 m/s hızla kayıyor. Devrenin direnci 4 Ω ise emk ve akım kaçtır?
Öğrencilere 2–3 dakika verin; sonra cevap slaytını açın.
Cevap: Cevap: L = 0,5 m. ε = B · L · v = 0,4 · 0,5 · 10 = 2 V; I = ε / R = 2 / 4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 = 0,5 m. ε = B · L · v = 0,4 · 0,5 · 10 = 2 V; I = ε / R = 2 / 4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200 sarımlı, 0,05 m² yüzeyli bir bobinin yüzeyine dik alan 0,1 s'de 0,2 T'dan 0,6 T'ya çıkıyor. Emk kaç V olur? Devrenin direnci 10 Ω ise akım kaç A'dir?
Öğrencilere 2–3 dakika verin; sonra cevap slaytını açın.
Cevap: Cevap: ΔΦ = ΔB · A = (0,6 − 0,2) · 0,05 = 0,02 Wb. |ε| = N · ΔΦ / Δt = 200 · 0,02 / 0,1 = 40 V; I = ε / R = 40 / 10 = 4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ΔΦ = ΔB · A = (0,6 − 0,2) · 0,05 = 0,02 Wb. |ε| = N · ΔΦ / Δt = 200 · 0,02 / 0,1 = 40 V; I = ε / R = 40 / 10 = 4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100 sarımlı, 0,01 m²'lik bir çerçeve 0,2 T'lık düzgün alanda dönüyor. Tepe emk'nin 31,4 V olması için çerçeve saniyede kaç tur atmalıdır?
Öğrencilere 2–3 dakika verin; sonra cevap slaytını açın.
Cevap: Cevap: ε(maks) = N · B · A · ω → 31,4 = 100 · 0,2 · 0,01 · ω = 0,2 · ω → ω = 157 rad/s. ω = 2π · f olduğundan f = 157 / (2 · 3,14) = 25 tur/s.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ε(maks) = N · B · A · ω → 31,4 = 100 · 0,2 · 0,01 · ω = 0,2 · ω → ω = 157 rad/s. ω = 2π · f olduğundan f = 157 / (2 · 3,14) = 25 tur/s.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alan varsa akım vardır.” Akım için alanın değil, akının değişmesi gerekir.
• “Güçlü mıknatıs her zaman daha çok akım üretir.” Belirleyici olan ΔΦ/Δt'dir; yavaş oynatılan güçlü mıknatıs, hızlı oynatılan zayıf mıknatıstan daha az emk üretebilir.
• Lenz'in eksi işaretini büyüklük sanmak. Eksi işareti yalnızca yönü anlatır.
• “İndüksiyon akımı hareketi destekler.” Daima karşı koyar; aksi hâlde enerji korunumu bozulurdu.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Akıyı alanla karıştırmak. Φ = B·A·cosα; alan aynı kalsa bile yüzey ya da açı değişirse akı değişir.
• “ε = B·L·v her durumda geçerlidir.” Bu bağıntı, çubuğun alana ve kendine dik hareket ettiği özel durum içindir.
• Jeneratörde emk ile akıyı aynı anda en büyük sanmak. Φ en büyükken ε sıfır, Φ sıfırken ε en büyüktür.
• “Devre açıksa emk de yoktur.” Açık devrede de emk doğar; yalnızca akım akmaz. Uçları bir voltmetreye bağlarsan gerilimi ölçersin.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Akı Φ = B·A·cosα · Faraday ε = −N·ΔΦ/Δt · Lenz değişime karşı · Çubuk ε = B·L·v
Φ = B · A · cosα — manyetik akı (weber)
ε = −N · ΔΦ / Δt — Faraday indüksiyon yasası
ε = B · L · v — hareketli iletken çubuk
I = ε / R — indüksiyon akımı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induksiyon-akim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İndüksiyon akımı</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Manyetik alan tek başına akım üretmez; üreten şey alanın değişmesidir. Bir devreden geçen manyetik akı değiştiği sürece devrede bir indüksiyon emk'sı doğar — ve bu akım, kendisini doğuran değişime karşı koyar.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Pil yok, priz yok, yalnızca dönen bir tekerlek: bisiklet farı nasıl yanıyor?</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Evindeki prizden gelen elektriğin büyük bölümü de aynı fikirden doğuyor: bir bobinin içinden geçen manyetik alan </a:t>
            </a:r>
            <a:pPr indent="0" marL="0">
              <a:lnSpc>
                <a:spcPct val="130000"/>
              </a:lnSpc>
              <a:buNone/>
            </a:pPr>
            <a:r>
              <a:rPr lang="en-US" sz="2000" b="1" dirty="0">
                <a:solidFill>
                  <a:srgbClr val="5F4BD8"/>
                </a:solidFill>
                <a:latin typeface="Cambria" pitchFamily="34" charset="0"/>
                <a:ea typeface="Cambria" pitchFamily="34" charset="-122"/>
                <a:cs typeface="Cambria" pitchFamily="34" charset="-120"/>
              </a:rPr>
              <a:t>değişirse</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o bobinde akım doğar.</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Faraday bunu 1831'de bir mıknatısı bobinin içinde ileri geri oynatarak buldu.</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000" dirty="0">
                <a:solidFill>
                  <a:srgbClr val="0E1426"/>
                </a:solidFill>
                <a:latin typeface="Cambria" pitchFamily="34" charset="0"/>
                <a:ea typeface="Cambria" pitchFamily="34" charset="-122"/>
                <a:cs typeface="Cambria" pitchFamily="34" charset="-120"/>
              </a:rPr>
              <a:t>Bugün barajlar, rüzgâr türbinleri, termik santraller ve arabaların alternatörleri hep aynı şeyi yapıyor — </a:t>
            </a:r>
            <a:pPr indent="0" marL="0">
              <a:lnSpc>
                <a:spcPct val="130000"/>
              </a:lnSpc>
              <a:buNone/>
            </a:pPr>
            <a:r>
              <a:rPr lang="en-US" sz="2000" b="1" dirty="0">
                <a:solidFill>
                  <a:srgbClr val="5F4BD8"/>
                </a:solidFill>
                <a:latin typeface="Cambria" pitchFamily="34" charset="0"/>
                <a:ea typeface="Cambria" pitchFamily="34" charset="-122"/>
                <a:cs typeface="Cambria" pitchFamily="34" charset="-120"/>
              </a:rPr>
              <a:t>hareketi, akı değişimine çevirmek.</a:t>
            </a:r>
            <a:endParaRPr lang="en-US" sz="20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akım nereden doğuyor, akı ne demek ve doğa değişime neden karşı koyuyor?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bisiklet farı nasıl yanar?</a:t>
            </a:r>
            <a:endParaRPr lang="en-US" sz="120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akı</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Faraday'ın keşfi: değişim akım doğurur</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Lenz yasası: doğa değişime direnir</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Faraday yasasını kullan, akımın yönünü bul, kayan çubuğun ve dönen çerçevenin emk'sini adım adım çıkar.</a:t>
            </a:r>
            <a:endParaRPr lang="en-US" sz="11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Faraday indüksiyon yasası</a:t>
            </a:r>
            <a:endParaRPr lang="en-US" sz="12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İndüksiyon akımının yönü</a:t>
            </a:r>
            <a:endParaRPr lang="en-US" sz="125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Hareketli iletken çubuk</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Sayılarla hisset: ne kadar emk?</a:t>
            </a:r>
            <a:endParaRPr lang="en-US" sz="12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Jeneratör ve alternatif akım</a:t>
            </a:r>
            <a:endParaRPr lang="en-US" sz="12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Derinleşme: akım bir telde değil de bütün bir metal parçada dolaşınca, devre açıkken ya da motor dönerken ne olur?</a:t>
            </a:r>
            <a:endParaRPr lang="en-US" sz="110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Girdap akımları: bakır boru deneyi</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İnce durumlar: açık devre, karşı emk, öz-indüksiyon</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İndüksiyon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Manyetik alan (B):</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mıknatısın ya da akım taşıyan telin çevresindeki etki bölgesi. Birimi tesla (T); Dünya'nın alanı yaklaşık 50 µT'dır.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Yüzey alanı (A):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yüzeyin büyüklüğü, m² ile ölçülür. 20 cm × 10 cm'lik bir çerçevenin alanı 0,2 m · 0,1 m = 0,02 m²'dir.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Normal ve kosinüs: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normal, bir yüzeye dik çizilen doğrudur; masanın normali tavana bakar. cos 0° = 1, cos 60° = 0,5, cos 90° = 0.</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Değişim (Δ):</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Δ “son değer eksi ilk değer” demektir. Sıcaklık 20 °C'den 26 °C'ye çıktıysa değişim 6 °C'dir; bu 3 saniyede olduysa sıcaklık her saniye 2 °C değişmiştir.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Ohm yasası ve güç:</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akım = gerilim / direnç (I = V / R). 6 V'luk pile bağlı 3 Ω'luk dirençten 2 A geçer ve dirençte P = I² · R = 12 W ısıya dönüşür.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akım nereden doğuyor, akı ne demek ve doğa değişime neden karşı koyuyor?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bisiklet farı nasıl yanar?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Manyetik akı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Faraday'ın keşfi: değişim akım doğurur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Lenz yasası: doğa değişime direnir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induksiyon-akim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00" dirty="0">
                <a:solidFill>
                  <a:srgbClr val="C3CEE8"/>
                </a:solidFill>
                <a:latin typeface="Calibri" pitchFamily="34" charset="0"/>
                <a:ea typeface="Calibri" pitchFamily="34" charset="-122"/>
                <a:cs typeface="Calibri" pitchFamily="34" charset="-120"/>
              </a:rPr>
              <a:t>Birçok bisiklet farı pille değil, tekerleğin hareketiyle çalışan küçük bir </a:t>
            </a:r>
            <a:pPr indent="0" marL="0">
              <a:lnSpc>
                <a:spcPct val="115000"/>
              </a:lnSpc>
              <a:buNone/>
            </a:pPr>
            <a:r>
              <a:rPr lang="en-US" sz="1100" b="1" dirty="0">
                <a:solidFill>
                  <a:srgbClr val="FFFFFF"/>
                </a:solidFill>
                <a:latin typeface="Calibri" pitchFamily="34" charset="0"/>
                <a:ea typeface="Calibri" pitchFamily="34" charset="-122"/>
                <a:cs typeface="Calibri" pitchFamily="34" charset="-120"/>
              </a:rPr>
              <a:t>dinamoyla</a:t>
            </a:r>
            <a:pPr indent="0" marL="0">
              <a:lnSpc>
                <a:spcPct val="115000"/>
              </a:lnSpc>
              <a:buNone/>
            </a:pPr>
            <a:r>
              <a:rPr lang="en-US" sz="1100" dirty="0">
                <a:solidFill>
                  <a:srgbClr val="C3CEE8"/>
                </a:solidFill>
                <a:latin typeface="Calibri" pitchFamily="34" charset="0"/>
                <a:ea typeface="Calibri" pitchFamily="34" charset="-122"/>
                <a:cs typeface="Calibri" pitchFamily="34" charset="-120"/>
              </a:rPr>
              <a:t> yanar. Bu bisiklette ön çataldaki dinamonun tırtıklı başlığı lastiğe bastırıyor: tekerlek döndükçe başlık da döner ve dinamonun içindeki mıknatısı çevirir. Bobinden geçen manyetik alan sürekli değiştiği için bobinde akım doğar ve kablo bu akımı fara taşır. Bisiklet hızlandıkça değişim hızlanır, far daha parlak yanar; bisiklet durunca far da söner.</a:t>
            </a:r>
            <a:endParaRPr lang="en-US" sz="110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Birçok bisiklette farın pili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 tekerleğin yanına küçük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dinamo</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takılır; dinamonun başlığı tekerleğe değer ve tekerlek döndükçe o da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Dinamonun içinde temelde iki parça vardır: dönen bir mıknatıs ve onun çevresinde duran bir tel bobini.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Aralarında hiçbir kablo bağlantısı yoktur, ama bobinin uçlarına bağlı far yanar.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Dinamolu bir bisikletle yola çıkan herkes aynı dört şeyi fark eder:</a:t>
            </a:r>
            <a:endParaRPr lang="en-US" sz="2200" dirty="0"/>
          </a:p>
        </p:txBody>
      </p:sp>
      <p:sp>
        <p:nvSpPr>
          <p:cNvPr id="7" name="Text 5"/>
          <p:cNvSpPr txBox="1"/>
          <p:nvPr/>
        </p:nvSpPr>
        <p:spPr>
          <a:xfrm>
            <a:off x="640080" y="2004060"/>
            <a:ext cx="10911535" cy="220599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Dönerse yanar: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tekerlek döndükçe far yanar, bisiklet durunca söner.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Hızlandıkça parlar: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pedalı hızlı çevirdiğinde far daha parlak yanar.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Pedal ağırlaşır: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dinamo çalışırken pedal çevirmek biraz daha zor gelir.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Pil harcanmaz: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farın enerjisi tükenmez, çünkü enerji senin bacaklarından gelir.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2400678" y="1234440"/>
            <a:ext cx="739034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1.png">    </p:cNvPr>
          <p:cNvPicPr>
            <a:picLocks noChangeAspect="1"/>
          </p:cNvPicPr>
          <p:nvPr/>
        </p:nvPicPr>
        <p:blipFill>
          <a:blip r:embed="rId1"/>
          <a:stretch>
            <a:fillRect/>
          </a:stretch>
        </p:blipFill>
        <p:spPr>
          <a:xfrm>
            <a:off x="2629278" y="1325880"/>
            <a:ext cx="693314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Dinamoda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mıknatıs döner, bobin yerinde durur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Tekerlek durunca mıknatıs da durur ve far yanmaz. Mıknatıs yavaş dönerken far sönük, hızlı dönerken parlak yanar: ışığı mıknatısın kendisi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 kadar hızlı döndüğü</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belirler.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Demek ki akımı doğuran şey mıknatısın kendisi değil, mıknatısın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hareketidir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Güçlü bir mıknatıs bobinin yanında kıpırdamadan dursaydı hiçbir şey olmazdı.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anlatımın bütün hikâyesi bu küçük gözlemden çıkıyor: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manyetik alan akım doğurur ve bunun bedelini hareketi sağlayan öder.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bisiklet farı nasıl yanar?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Dinamoda dönen mıknatıs bobinde akım doğurur; mıknatıs hızlandıkça akım artar, durunca akım kesilir. Akımı doğuran mıknatısın kendisi değil, hareketinin yarattığı değişimdir.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Dinamolu farı olan bisikletçi kırmızı ışıkta durunca farı neden söner?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bisiklet farı nasıl yanar?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Dinamolu farı olan bisikletçi kırmızı ışıkta durunca farı neden söner?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Tekerlek durunca dinamodaki mıknatıs da durur. Bobinden geçen alan artık değişmediği için bobinde akım doğmaz ve far söner. Bazı modern farlarda bu yüzden, hareket sırasında dolan ve durunca bir süre ışık veren küçük bir enerji deposu bulunur.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“Bobinden geçen alan değişir” sözünü ölçülebilir kılmak için yeni bir büyüklük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yüzeyden geçen manyetik alan çizgilerinin sayısına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akı (Φ)</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weber (Wb)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Yağmurun altında bir çember tuttuğunu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Çemberin içinden geçen damla sayısı üç şeye bağlıdır: yağmurun şiddetine, çemberin büyüklüğüne ve çemberi nasıl tuttuğuna.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Çemberi yere paralel tutarsan en çok damla geçer; yan çevirirsen hiçbiri geçmez.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 da aynıdır: alanın şiddeti (B), yüzeyin alanı (A) ve aradaki açı.</a:t>
            </a:r>
            <a:endParaRPr lang="en-US" sz="2200" dirty="0"/>
          </a:p>
        </p:txBody>
      </p:sp>
      <p:sp>
        <p:nvSpPr>
          <p:cNvPr id="7" name="Shape 5"/>
          <p:cNvSpPr/>
          <p:nvPr/>
        </p:nvSpPr>
        <p:spPr>
          <a:xfrm>
            <a:off x="640080" y="4206240"/>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0624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Φ = B · A · cosα</a:t>
            </a:r>
            <a:endParaRPr lang="en-US" sz="1800" dirty="0"/>
          </a:p>
        </p:txBody>
      </p:sp>
      <p:sp>
        <p:nvSpPr>
          <p:cNvPr id="9" name="Shape 7"/>
          <p:cNvSpPr/>
          <p:nvPr/>
        </p:nvSpPr>
        <p:spPr>
          <a:xfrm>
            <a:off x="3558845" y="4206240"/>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420624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Wb = 1 T·m²</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Buradaki α, alan ile yüzeyin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(yüzeye dik doğrultu) arasındaki açıdır.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durum önemlidir:</a:t>
            </a:r>
            <a:endParaRPr lang="en-US" sz="2200" dirty="0"/>
          </a:p>
        </p:txBody>
      </p:sp>
      <p:sp>
        <p:nvSpPr>
          <p:cNvPr id="7" name="Text 5"/>
          <p:cNvSpPr txBox="1"/>
          <p:nvPr/>
        </p:nvSpPr>
        <p:spPr>
          <a:xfrm>
            <a:off x="640080" y="2866644"/>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 yüzeye dik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 0): akı en büyüktür, Φ = B·A.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 yüzeye 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 90°): 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Akı; B, A ya da α'dan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herhangi biri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değiştiğinde değişir.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2.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Manyetik akı, çerçevenin içinden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kaç alan çizgisinin geçtiğidir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Çerçeveyi eğdikçe alan çizgilerine gösterdiği yüzey küçülür — sanki alanın gördüğü "gölgesi" daralır. Tam yan çevirdiğinde hiçbir çizgi içeriden geçmez ve akı sıfırlanır. Bağıntıdaki cosα çarpanı tam olarak bu gölgeyi hesaplar.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akı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Manyetik akı, bir yüzeyden geçen alan çizgisi miktarıdır: Φ = B·A·cosα, birimi weber. Alan yüzeye dikken akı en büyük, paralelken sıfırdır.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Oersted 1820'de akımın manyetik alan ürettiğini göstermişti.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tersini merak etti: manyetik alan akım üretebilir mi?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Uzun süre sonuç alamadı; bobinin yanında duran mıknatıs, galvanometreyi (küçük akımları ölçen alet) kıpırdatmıyordu.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1831'de sırrı buldu: mıknatıs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 ettiği anda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iğne sapıyor, mıknatıs durunca sıfıra dönüyordu.</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Belirleyici olan değişimdir.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Güçlü ama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sabit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alan hiçbir akım üretmez. Mıknatıs bobinin içinde hareketsiz dururken galvanometre sıfırı gösterir; hareket başladığı anda sapar.</a:t>
            </a:r>
            <a:endParaRPr lang="en-US" sz="1800" dirty="0"/>
          </a:p>
        </p:txBody>
      </p:sp>
      <p:sp>
        <p:nvSpPr>
          <p:cNvPr id="9" name="Text 7"/>
          <p:cNvSpPr txBox="1"/>
          <p:nvPr/>
        </p:nvSpPr>
        <p:spPr>
          <a:xfrm>
            <a:off x="640080" y="285750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 değiştiğinde devrede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elektromotor kuvvet (emk)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doğar; emk, devrede akımı süren gerilimdir ve pilin gerilimi gibi volt ile ölçülür.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elektromanyetik indüksiyon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doğan akıma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indüksiyon akımı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Akıyı değiştirmenin üç yolu vardır:</a:t>
            </a:r>
            <a:endParaRPr lang="en-US" sz="2200" dirty="0"/>
          </a:p>
        </p:txBody>
      </p:sp>
      <p:sp>
        <p:nvSpPr>
          <p:cNvPr id="7" name="Text 5"/>
          <p:cNvSpPr txBox="1"/>
          <p:nvPr/>
        </p:nvSpPr>
        <p:spPr>
          <a:xfrm>
            <a:off x="640080" y="200406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Alanı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mıknatısı yaklaştır ya da uzaklaştır, yakındaki bir bobinin akımını değiştir.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Yüzeyi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devrenin bir kenarını kaydırarak çevrelenen alanı büyüt ya da küçült.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Açıyı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bobini alanın içinde döndür; jeneratörler böyle çalışır.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3.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Akım üreten şey alanın büyüklüğü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akının değişim hızıdır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Mıknatısı ne kadar hızlı hareket ettirirsen ΔΦ/Δt o kadar büyür ve galvanometre iğnesi o kadar çok sapar. Mıknatısı bobinin içinde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durdurursan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alan hâlâ güçlü olmasına rağmen akım tamamen kesilir. Sarım sayısını artırmak da emk'yı aynı oranda büyütür.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deneyindeki hazır düğmelerle üç kuralı kendin sınayabilirsin: “Hızlı geçiş” galvanometreyi “Yavaş geçiş”ten çok saptırır, “Sarım 3 katı” emk'yi büyütür, “Duran mıknatıs” ise hiçbir şey üretmez.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Faraday'ın keşfi: değişim akım doğurur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Akı değiştiğinde devrede emk ve indüksiyon akımı doğar; sabit alan ne kadar güçlü olursa olsun akım üretmez. Değişim hızlandıkça ve sarım sayısı arttıkça emk büyür.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İndüksiyon akımı, kendisini doğuran akı değişimine karşı koyacak yönde akar.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kuralı 1834'te Heinrich Lenz ortaya koydu ve kural, enerjinin korunumunun doğrudan bir sonucudur.</a:t>
            </a:r>
            <a:endParaRPr lang="en-US" sz="2200" dirty="0"/>
          </a:p>
        </p:txBody>
      </p:sp>
      <p:sp>
        <p:nvSpPr>
          <p:cNvPr id="7" name="Text 5"/>
          <p:cNvSpPr txBox="1"/>
          <p:nvPr/>
        </p:nvSpPr>
        <p:spPr>
          <a:xfrm>
            <a:off x="640080" y="3252216"/>
            <a:ext cx="10911535" cy="91897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artıyorsa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indüksiyon akımı, artışı azaltacak yönde alan üretir.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Akı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azalıyorsa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 azalmayı telafi edecek yönde alan üretir.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mıknatısı bobine yaklaştırırken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uzaklaştırırken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çekme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hissedersin.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Mıknatısı hareket ettirmek için yaptığın iş, devrede üretilen elektrik enerjisine dönüşür.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Bisiklette pedalın ağırlaşması da budur: dinamodaki akım, mıknatısın dönüşünü frenleyen bir etki yaratır.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Lenz olmasaydı ne olurdu?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Akım değişimi desteklerdi; sistem kendi kendini hızlandırır, bedava enerji üretirdi. Faraday yasasında birazdan göreceğin eksi işareti, enerji korunumunun bekçisidir.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4.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Lenz yasası tek cümledir: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indüklenen akım, kendisini doğuran değişime karşı çıkacak yönde akar.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Mıknatıs yaklaşırken bobin ona bakan yüzünü aynı kutup yapar ve iter; uzaklaşırken zıt kutup yapar ve çeker. Yani mıknatısı hareket ettirmek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 yapman gerekir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üretilen elektrik enerjisi tam olarak buradan gelir. Aksi olsaydı hareket kendini besler, enerjinin korunumu çökerdi.</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Lenz yasası: doğa değişime direnir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İndüksiyon akımı, kendisini doğuran değişime karşı koyar: yaklaşan mıknatısı iter, uzaklaşanı çeker. Bu karşı koyma, enerjinin korunumunun gereğidir.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Bobinin uçları birbirine bağlı değilse, mıknatısı yaklaştırırken yine itme hisseder misin?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Lenz yasası: doğa değişime direnir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Bobinin uçları birbirine bağlı değilse, mıknatısı yaklaştırırken yine itme hisseder misin?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Devre açık olduğu için bobinin uçları arasında emk doğar ama akım akamaz. Akım yoksa bobin mıknatıs gibi davranmaz ve mıknatısı itmez. Uçları birleştirdiğin anda akım akar, itme de başlar.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Faraday yasasını kullan, akımın yönünü bul, kayan çubuğun ve dönen çerçevenin emk'sini adım adım çıkar.</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Faraday indüksiyon yasası</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İndüksiyon akımının yönü</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Hareketli iletken çubuk</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emk?</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Jeneratör ve alternatif akım</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Φ = B · A · cosα</a:t>
            </a:r>
            <a:endParaRPr lang="en-US" sz="1500" dirty="0"/>
          </a:p>
        </p:txBody>
      </p:sp>
      <p:sp>
        <p:nvSpPr>
          <p:cNvPr id="14" name="Text 12"/>
          <p:cNvSpPr txBox="1"/>
          <p:nvPr/>
        </p:nvSpPr>
        <p:spPr>
          <a:xfrm>
            <a:off x="8668512" y="148132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ε = −N · ΔΦ / Δt</a:t>
            </a:r>
            <a:endParaRPr lang="en-US" sz="1500" dirty="0"/>
          </a:p>
        </p:txBody>
      </p:sp>
      <p:sp>
        <p:nvSpPr>
          <p:cNvPr id="17" name="Text 15"/>
          <p:cNvSpPr txBox="1"/>
          <p:nvPr/>
        </p:nvSpPr>
        <p:spPr>
          <a:xfrm>
            <a:off x="8668512" y="235000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ε = B · L · v</a:t>
            </a:r>
            <a:endParaRPr lang="en-US" sz="1500" dirty="0"/>
          </a:p>
        </p:txBody>
      </p:sp>
      <p:sp>
        <p:nvSpPr>
          <p:cNvPr id="20" name="Text 18"/>
          <p:cNvSpPr txBox="1"/>
          <p:nvPr/>
        </p:nvSpPr>
        <p:spPr>
          <a:xfrm>
            <a:off x="8311896" y="321868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ε / R</a:t>
            </a:r>
            <a:endParaRPr lang="en-US" sz="1500" dirty="0"/>
          </a:p>
        </p:txBody>
      </p:sp>
      <p:sp>
        <p:nvSpPr>
          <p:cNvPr id="23" name="Text 21"/>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 devreden geçen manyetik akı değiştiğinde devrede bir elektromotor kuvvet (emk) indüklenir.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emk'nin büyüklüğü, akının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değişim hızıyla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orantılıdır:</a:t>
            </a:r>
            <a:endParaRPr lang="en-US" sz="2200" dirty="0"/>
          </a:p>
        </p:txBody>
      </p:sp>
      <p:sp>
        <p:nvSpPr>
          <p:cNvPr id="7" name="Shape 5"/>
          <p:cNvSpPr/>
          <p:nvPr/>
        </p:nvSpPr>
        <p:spPr>
          <a:xfrm>
            <a:off x="640080" y="2866644"/>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 = −N · ΔΦ / Δt</a:t>
            </a:r>
            <a:endParaRPr lang="en-US" sz="1800" dirty="0"/>
          </a:p>
        </p:txBody>
      </p:sp>
      <p:sp>
        <p:nvSpPr>
          <p:cNvPr id="9" name="Shape 7"/>
          <p:cNvSpPr/>
          <p:nvPr/>
        </p:nvSpPr>
        <p:spPr>
          <a:xfrm>
            <a:off x="3558845" y="2866644"/>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2866644"/>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ε / R</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ε</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indüklenen emk, yani devrede akımı süren gerilim (baştaki eksi yalnızca yönü söyler)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bobinin sarım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ΔΦ</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akının değişimi: son akı eksi ilk akı (Φ₂ − Φ₁)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akının değiştiği 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devreden geçen indüksiyon akımı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devrenin direnci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Ω</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 sarım sayısıdır: aynı akı değişimi N kez sayıldığı için emk sarımla doğru orantılı büyür.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sarım küçük bir pil gibidir ve sarımlar seri bağlı piller gibi gerilimlerini toplar.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Baştaki eksi işareti yönü anlatır (Lenz yasası).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soruda yasayı beş adımda uygula: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İlk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Φ₁ = B₁·A₁·cosα₁</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Φ₂ = B₂·A₂·cosα₂</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Değişim: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ΔΦ = Φ₂ − Φ₁ (artıyor mu, azalıyor mu?)</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emk: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|ε| = N·|ΔΦ| / Δt; Δt sonlu bir süreyse bu, o süredeki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ortalama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emk'dir.</a:t>
            </a:r>
            <a:endParaRPr lang="en-US" sz="2100" dirty="0"/>
          </a:p>
        </p:txBody>
      </p:sp>
      <p:sp>
        <p:nvSpPr>
          <p:cNvPr id="7" name="Text 5"/>
          <p:cNvSpPr txBox="1"/>
          <p:nvPr/>
        </p:nvSpPr>
        <p:spPr>
          <a:xfrm>
            <a:off x="640080" y="3733038"/>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 = ε / R; yönünü Lenz yasası verir.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2651939" y="1234440"/>
            <a:ext cx="688781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5.png">    </p:cNvPr>
          <p:cNvPicPr>
            <a:picLocks noChangeAspect="1"/>
          </p:cNvPicPr>
          <p:nvPr/>
        </p:nvPicPr>
        <p:blipFill>
          <a:blip r:embed="rId1"/>
          <a:stretch>
            <a:fillRect/>
          </a:stretch>
        </p:blipFill>
        <p:spPr>
          <a:xfrm>
            <a:off x="2880539" y="1325880"/>
            <a:ext cx="643061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Emk, akı–zaman grafiğinin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eğimidir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Akı 2 saniyede artarken küçük bir emk doğar; akı sabitken, büyük olsa bile emk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sıfırdır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akı değişimi 1 saniyede olunca emk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 katına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 Akı artarken ve azalırken emk'nin yönü terstir: alt grafikte bir kez eksenin altında, bir kez üstünde.</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Wb/s = T·m²/s. 1 T = 1 N/(A·m) olduğundan T·m²/s = N·m/(A·s) = J/C = V ✓. Akının değişim hızı gerçekten bir gerilimdir.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Mıknatısı bobine ittiğinde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bobinden geçen akı değişir ve bobine bağlı ölçerin iğnesi ortadan bir yana sapar. İğnenin sapması akının değişim hızına bağlıdır: mıknatısı durdurursan akı sabitlenir ve iğne ortaya döner, daha hızlı itersen ΔΦ/Δt büyür ve iğne daha çok sapar. Bobindeki çok sayıda sarım da emk'yi büyütür; ε = −N·ΔΦ/Δt'de her sarım seri bağlı küçük bir pil gibi katkı verir.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Faraday indüksiyon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İndüklenen emk, akının değişim hızıyla ve sarım sayısıyla orantılıdır: ε = −N·ΔΦ/Δt. Wb/s birimi volta eşittir; emk, Φ–t grafiğinin eğimidir.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Φ–t grafiğinde akının tepe yaptığı anda emk neden sıfırdır?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Faraday indüksiyon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Φ–t grafiğinde akının tepe yaptığı anda emk neden sıfırdır?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Emk, akının değişim hızıdır, yani Φ–t eğrisinin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eğimidir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 noktasında eğri bir an için yatay olur; akı büyük ama o an değişmiyordur. Sayfanın 01 numaralı deneyinde mıknatıs bobinin ortasına geldiğinde ε–t eğrisinin sıfırdan geçmesi bu yüzdendir.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Yönü bulmanın pratik yolu üç adımdır:</a:t>
            </a:r>
            <a:endParaRPr lang="en-US" sz="2200" dirty="0"/>
          </a:p>
        </p:txBody>
      </p:sp>
      <p:sp>
        <p:nvSpPr>
          <p:cNvPr id="7" name="Text 5"/>
          <p:cNvSpPr txBox="1"/>
          <p:nvPr/>
        </p:nvSpPr>
        <p:spPr>
          <a:xfrm>
            <a:off x="640080" y="2004060"/>
            <a:ext cx="10911535" cy="174650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Devreden geçen akının yönünü ve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artıyor mu azalıyor mu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olduğunu belirle.</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Lenz'e göre indüksiyon akımının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hangi yönde alan üretmesi gerektiğini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bul (artışa karşı zıt, azalmaya karşı aynı yönde).</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Sağ el kuralıyla, bu alanı üretecek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akım yönünü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belirle.</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6.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Yönü bulmak için tek bir soru yeter: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 artıyor mu, azalıyor mu?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Artıyorsa indüklenen akım, artışı frenlemek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zıt yönde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alan üretir; azalıyorsa azalmayı yavaşlatmak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yönde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alan üretir. İndüklenen alanın yönünü bulduktan sonra akımın yönünü sağ el kuralıyla okursun.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Bobine hangi kutbun, hangi yönde geldiğine göre dört durum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Hepsinde bobinin mıknatısa bakan yüzü, hareketi zorlaştıracak kutbu 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839244"/>
                <a:gridCol w="1616524"/>
                <a:gridCol w="3030982"/>
                <a:gridCol w="242478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Mıknatıs</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Akı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İndüklenen alan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Bobinin yüzü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 kutbu yaklaşıyor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zıt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(iter)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 kutbu uzaklaşıyor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 (çeker)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 kutbu yaklaşıyor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zıt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 (iter)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 kutbu uzaklaşıyor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yönde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(çeker)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Yüzün kutbunu bulduktan sonra akım yönü kolaydır: mıknatıstan bakıldığında N gibi davranan yüzde akım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saatin tersi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yönde, S gibi davranan yüzde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saat yönünde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01</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deneyde mıknatıs yaklaşırken akım bir yöne, uzaklaşırken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 yöne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akar; galvanometre iki kez, zıt yönlerde sapar.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akımının yönü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Önce akının artıp azaldığına bak: artıyorsa indüklenen alan zıt, azalıyorsa aynı yöndedir. Sonra bu alanı üretecek akım yönünü sağ el kuralıyla bul.</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alan içinde, raylar üzerinde v hızıyla kayan L uzunluğundaki çubuk için akı değişimi ΔΦ = B·L·v·Δt olur ve emk:</a:t>
            </a:r>
            <a:endParaRPr lang="en-US" sz="2200" dirty="0"/>
          </a:p>
        </p:txBody>
      </p:sp>
      <p:sp>
        <p:nvSpPr>
          <p:cNvPr id="7" name="Shape 5"/>
          <p:cNvSpPr/>
          <p:nvPr/>
        </p:nvSpPr>
        <p:spPr>
          <a:xfrm>
            <a:off x="640080" y="2389632"/>
            <a:ext cx="23554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 = B · L · v</a:t>
            </a:r>
            <a:endParaRPr lang="en-US" sz="1800" dirty="0"/>
          </a:p>
        </p:txBody>
      </p:sp>
      <p:sp>
        <p:nvSpPr>
          <p:cNvPr id="9" name="Shape 7"/>
          <p:cNvSpPr/>
          <p:nvPr/>
        </p:nvSpPr>
        <p:spPr>
          <a:xfrm>
            <a:off x="3141878" y="2389632"/>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141878" y="238963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B·L·v / R</a:t>
            </a:r>
            <a:endParaRPr lang="en-US" sz="1800" dirty="0"/>
          </a:p>
        </p:txBody>
      </p:sp>
      <p:sp>
        <p:nvSpPr>
          <p:cNvPr id="11" name="Shape 9"/>
          <p:cNvSpPr/>
          <p:nvPr/>
        </p:nvSpPr>
        <p:spPr>
          <a:xfrm>
            <a:off x="5643677" y="2389632"/>
            <a:ext cx="3467405"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643677" y="2389632"/>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B·I·L = B²L²v / R</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Alan büyür: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Çubuk Δt sürede v·Δt kadar kayar; devrenin çevrelediği yüzey ΔA = L·v·Δt kadar büyür.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 yüzeye dik olduğundan ΔΦ = B·ΔA = B·L·v·Δt.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Faraday: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ε = ΔΦ/Δt = B·L·v; Δt sadeleşir.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İkinci bakış: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Çubuktaki yükler v hızıyla alanda hareket eder; çubuk boyunca q·v·B kuvveti görür ve bir uca itilir. Çubuk bir pil gibi davranır.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harekete zıt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yöndedir: çubuğu sabit hızla sürmek için dışarıdan bir kuvvet uygulanmalıdır.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Harcanan mekanik güç (F·v), devrede açığa çıkan elektriksel güce (I²R) eşittir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enerji korunur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deneyindeki başlangıç değerleriyle (B = 0,5 T, L = 0,5 m, v = 4 m/s, R = 2 Ω): ε = 1 V, I = 0,5 A, F = 0,125 N ve F·v = I²R = 0,5 W.</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7.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Çubuk sağa kaydıkça devrenin çevrelediği alan büyür, akı artar ve devrede akım doğar. Ama bu akım da alanın içindedir: ona etkiyen manyetik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harekete zıt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yöndedir (kırmızı ok). Yani çubuğu sabit hızla sürüklemek için sürekli kuvvet uygulamak gerekir — harcadığın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mekanik güç, direnç üzerinde ısıya dönüşen elektriksel güce eşittir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iletken çubuk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Alanda kayan çubuk ε = B·L·v emk'si üretir; doğan akım çubuğa harekete zıt F = B²L²v/R kuvveti uygular. Çubuğu itmek için harcanan güç, dirençte ısıya dönüşen güce eşittir.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yasasının verdiği gerilimler durumdan duruma çok değişir.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Tanıdık düzeneklerde ne kadar emk doğduğuna bakalım: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163612"/>
                <a:gridCol w="4881476"/>
                <a:gridCol w="186644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Değerler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emk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Mıknatısı elle bobine sokmak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 sarım, ΔΦ = 3·10⁻⁵ Wb, 0,2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Uçan yolcu uçağının kanatları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40 µT, L = 60 m, v = 250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Sayfadaki 03 çubuğu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0,5 T, L = 0,5 m, v = 4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Sayfadaki 02 jeneratörü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sarım, 0,02 m², 0,5 T, 2 tur/s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12,6 V (tepe)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Aynı jeneratör, 50 tur/s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sarım, 0,02 m², 0,5 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314 V (tepe)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 emk'yi alanın büyüklüğünden çok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değişimin hızı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belirler.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jeneratör 25 kat hızlı dönünce 25 kat büyük gerilim üretir; saniyede 50 tur, şebekenin gerilimine yaklaşan bir değer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Elle oynatılan bir mıknatıs ise yalnızca birkaç on milivolt üretir; Faraday'ın hassas bir galvanometreye ihtiyaç duyması bu yüzdendir.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Uçak örneğinde alan, Dünya'nın zayıf alanının düşey bileşenidir; buna rağmen kanatların uzunluğu ve uçağın hızı yarım voltu aşan bir emk doğurur.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317479" y="1234440"/>
            <a:ext cx="7556738"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8.png">    </p:cNvPr>
          <p:cNvPicPr>
            <a:picLocks noChangeAspect="1"/>
          </p:cNvPicPr>
          <p:nvPr/>
        </p:nvPicPr>
        <p:blipFill>
          <a:blip r:embed="rId1"/>
          <a:stretch>
            <a:fillRect/>
          </a:stretch>
        </p:blipFill>
        <p:spPr>
          <a:xfrm>
            <a:off x="2546079" y="1325880"/>
            <a:ext cx="7099538"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Tablodaki beş emk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ölçekte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çizildi. Elle oynatılan mıknatıs, uçak kanatları ve 03 çubuğu bu ölçekte neredeyse görünmez. En alttaki çubuk, üstündeki 12,6 V'luk çubuğun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25 tanesinden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oluşur: aynı jeneratör 25 kat hızlı dönünce emk de 25 kat büyür. Emk'yi belirleyen,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değişimin hızıdır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ne kadar emk?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Elle oynatılan mıknatıs birkaç on milivolt, sayfadaki çubuk 1 V, saniyede 50 tur atan küçük bir jeneratör yüzlerce volt üretir. Emk'yi belirleyen, değişimin hızıdır.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Düzgün alan içinde sabit hızla dönen bir çerçevede akı sürekli değişir:</a:t>
            </a:r>
            <a:endParaRPr lang="en-US" sz="2200" dirty="0"/>
          </a:p>
        </p:txBody>
      </p:sp>
      <p:sp>
        <p:nvSpPr>
          <p:cNvPr id="7" name="Shape 5"/>
          <p:cNvSpPr/>
          <p:nvPr/>
        </p:nvSpPr>
        <p:spPr>
          <a:xfrm>
            <a:off x="640080" y="2004060"/>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Φ = B·A·cos(ω·t)</a:t>
            </a:r>
            <a:endParaRPr lang="en-US" sz="1800" dirty="0"/>
          </a:p>
        </p:txBody>
      </p:sp>
      <p:sp>
        <p:nvSpPr>
          <p:cNvPr id="9" name="Shape 7"/>
          <p:cNvSpPr/>
          <p:nvPr/>
        </p:nvSpPr>
        <p:spPr>
          <a:xfrm>
            <a:off x="3558845" y="2004060"/>
            <a:ext cx="332841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2004060"/>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 = N·B·A·ω·sin(ω·t)</a:t>
            </a:r>
            <a:endParaRPr lang="en-US" sz="1800" dirty="0"/>
          </a:p>
        </p:txBody>
      </p:sp>
      <p:sp>
        <p:nvSpPr>
          <p:cNvPr id="11" name="Shape 9"/>
          <p:cNvSpPr/>
          <p:nvPr/>
        </p:nvSpPr>
        <p:spPr>
          <a:xfrm>
            <a:off x="7033565" y="2004060"/>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033565" y="200406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ε(maks) = B·A·ω·N</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441146"/>
                <a:gridCol w="8235121"/>
                <a:gridCol w="12352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ω</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açısal hızı: bir saniyede döndüğü açı (ω = 2π·f)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rad/s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bir saniyedeki tur sayısı (frekans)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alana dik durduğu andan beri geçen süre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çerçevenin yüzey alanı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ε(maks)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emk'nin tepe değeri: çerçeve alana paralelken görülen en büyük emk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ω, çerçevenin açısal hızıdır (ω = 2π·f).</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Tepe değer, hareketli çubuk bağıntısından adım adım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Çerçevenin eksene paralel iki kenarı a uzunluğunda, eksenden b/2 uzaktadır; ikisi de v = ω·b/2 hızıyla döner.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Çerçeve alana paralelken bu kenarlar alana dik hareket eder; her biri ε = B·a·v emk'si üretir.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İki kenar seri bağlıdır: ε = 2·B·a·ω·b/2 = B·A·ω (A = a·b). N sarımda N·B·A·ω.</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Başka konumlarda hızın yalnızca alana dik bileşeni sayılır; bu da sin(ω·t) çarpanını getirir.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Üretilen emk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sinüs biçiminde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değişir ve yön değiştirir: 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alternatif akım (AC)</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Çerçeve alana dik olduğunda akı en büyüktür ama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değişim hızı sıfırdır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dolayısıyla emk sıfırdır; çerçeve alana paralel olduğunda ise akı sıfır, emk en büyüktür.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1948952" y="1234440"/>
            <a:ext cx="829379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09.png">    </p:cNvPr>
          <p:cNvPicPr>
            <a:picLocks noChangeAspect="1"/>
          </p:cNvPicPr>
          <p:nvPr/>
        </p:nvPicPr>
        <p:blipFill>
          <a:blip r:embed="rId1"/>
          <a:stretch>
            <a:fillRect/>
          </a:stretch>
        </p:blipFill>
        <p:spPr>
          <a:xfrm>
            <a:off x="2177552" y="1325880"/>
            <a:ext cx="783659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Çerçeve döndükçe içinden geçen akı kosinüs gibi salınır. Emk ise akının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değişim hızıyla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orantılı olduğu için sinüs olur — yani ikisi arasında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çeyrek periyot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fark vardır. Akının en büyük olduğu anda emk sıfırdır (o an akı değişmiyordur); akının sıfır olduğu anda ise emk en büyüktür. Şehir şebekesindeki alternatif akım tam olarak bu eğridir.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Türkiye'de şebeke: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230 V, 50 Hz. Yani iki kutuplu bir jeneratörün çerçevesi saniyede 50 tam tur atar ve gerilim saniyede 50 kez tam çevrim yapar. 230 V, gerilimin etkin değeridir; tepe değeri 230·√2 ≈ 325 V'tur.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Jeneratör ve alternatif akım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Dönen çerçevede akı kosinüs, emk sinüs gibi değişir ve tepe emk N·B·A·ω'dır. Akı en büyükken emk sıfır, akı sıfırken emk en büyüktür; sonuç alternatif akımdır.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akım bir telde değil de bütün bir metal parçada dolaşınca, devre açıkken ya da motor dönerken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Girdap akımları: bakır boru deneyi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İnce durumlar: açık devre, karşı emk, öz-indüksiyon</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İndüksiyon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induksiyon-akim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İndüksiyonlu ocakta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ısı camdan değil, tencerenin kendisinden doğar. Camın altındaki bobinin hızla değişen alanı çelik tabanda girdap akımları oluşturur ve tabanı ısıtır; cam yalnızca sıcak tencereye değdiği yerde ısınır. Yanındaki buz küpünün erimeden durabilmesi bundandır.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 yalnızca bobinler için geçerli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Değişen bir alanın içindeki her iletken parçada, metalin içinde kapalı halkalar çizen akımlar doğar: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girdap akımları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Lenz yasası gereği bu akımlar da değişime karşı koyar ve hareketi frenler.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deneyinde aynı mıknatıs 1,2 m'lik iki borudan bırakılıyor.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Plastik boruda serbest düşerek yaklaşık 0,49 saniyede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Bakır boruda ise mıknatısın altındaki bölgede akı artar, üstündeki bölgede azalır; boru çeperinde doğan girdap akımları mıknatısı yukarı iter.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Mıknatıs neredeyse hemen sabit ve küçük bir hıza ulaşır ve boruyu yaklaşık 5,5 saniyede, on kattan da yavaş geçer.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Kaybolan potansiyel enerji boruda ısıya dönüşür.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2158870" y="1234440"/>
            <a:ext cx="787395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10.png">    </p:cNvPr>
          <p:cNvPicPr>
            <a:picLocks noChangeAspect="1"/>
          </p:cNvPicPr>
          <p:nvPr/>
        </p:nvPicPr>
        <p:blipFill>
          <a:blip r:embed="rId1"/>
          <a:stretch>
            <a:fillRect/>
          </a:stretch>
        </p:blipFill>
        <p:spPr>
          <a:xfrm>
            <a:off x="2387470" y="1325880"/>
            <a:ext cx="741675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Bakır mıknatıslanmaz —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iletkendir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Mıknatıs boruya girerken boru duvarında halka halka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girdap akımları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doğar ve Lenz yasası gereği bu akımlar mıknatısı frenler. Sonuç şaşırtıcı: aynı mıknatıs plastik boruda yarım saniyede düşerken bakır boruda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kattan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uzun sürede iner. Hiçbir temas, hiçbir sürtünme olmadan frenleme — aynı ilke ağır vasıtaların girdap akımı frenlerinde kullanılır.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Girdap akımı freni: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Lenz kuvvetiyle temassız frenleme; ağır vasıtalarda ve trenlerde balatayı aşındırmadan yavaşlatır.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Metal dedektörü: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değişen alan metalde girdap akımları doğurur; bu akımların alanı dedektörün bobinince algılanır.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İnce levhalı çekirdek: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transformatör çekirdekleri yalıtılmış ince levhalardan yapılır; girdap akımlarının yolu kesilir, ısı kaybı azalır.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Girdap akımları: bakır boru deneyi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Değişen alanın içindeki iletkenlerde girdap akımları doğar ve Lenz yasası gereği hareketi frenler. Bakır boruda mıknatıs, plastik borudakinden on kattan fazla uzun sürede düşer.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Bakır boruyu boylamasına kesip ince bir yarık açarsan mıknatıs daha hızlı mı düşer?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Girdap akımları: bakır boru deneyi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Bakır boruyu boylamasına kesip ince bir yarık açarsan mıknatıs daha hızlı mı düşer?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Evet. Girdap akımları borunun çevresinde halka biçiminde dolaşır; yarık bu halkaları keser. Akımlar zayıflayınca frenleyen kuvvet de zayıflar ve mıknatıs belirgin biçimde daha hızlı düşer. Transformatör çekirdeğini ince levhalara bölmek de aynı fikre dayanır.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yasasını doğru kullanmak için dört ince noktayı bilmek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 aynı ilkeye dayanır, ama ilk bakışta şaşırtır: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Açık devre: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emk doğar ama akım akmaz. Uçağın kanat uçları arasında 0,6 V vardır, ama uçakla birlikte hareket eden bir devrenin akısı değişmediği için akım dolaşmaz.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Karşı emk: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dönen her motor aynı zamanda bir jeneratördür ve beslemeye karşı bir emk üretir. Motorun çektiği akım bu yüzden dönerken azalır.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Öz-indüksiyon: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bobinin kendi akımı değişince kendi akısı da değişir; bobin bu değişime direnir. Anahtar açılınca kıvılcım çıkması bundandır.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Doğru 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sabit akım sabit akı demektir; transformatör yalnızca akım açılıp kapanırken, yani akı değişirken emk üretir.</a:t>
            </a:r>
            <a:endParaRPr lang="en-US" sz="2100" dirty="0"/>
          </a:p>
        </p:txBody>
      </p:sp>
      <p:sp>
        <p:nvSpPr>
          <p:cNvPr id="7" name="Shape 5"/>
          <p:cNvSpPr/>
          <p:nvPr/>
        </p:nvSpPr>
        <p:spPr>
          <a:xfrm>
            <a:off x="640080" y="2354580"/>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54580"/>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(V − εkarşı) / 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Karşı emk'nin etkisini sayılarla görelim: 12 V'luk bir motorun sargı direnci 1 Ω olsun.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Motor ilk çalıştığı an henüz dönmediği için karşı emk sıfırdır ve akım 12 A'dir.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Motor hızlanıp 10 V'luk karşı emk ürettiğinde akım (12 − 10)/1 = 2 A'e iner.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Arabaların çalıştırma anında farların bir an sönükleşmesi, bu büyük ilk akım yüzündendir.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İndüksiyon arabaların ateşleme bobininde de işe koşulur: birincil bobindeki akım aniden kesilince hızla çöken manyetik alan, çok sarımlı ikincil bobinde on binlerce voltluk bir emk doğurur ve bujide kıvılcım çakar.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1975032" y="1234440"/>
            <a:ext cx="82416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11.png">    </p:cNvPr>
          <p:cNvPicPr>
            <a:picLocks noChangeAspect="1"/>
          </p:cNvPicPr>
          <p:nvPr/>
        </p:nvPicPr>
        <p:blipFill>
          <a:blip r:embed="rId1"/>
          <a:stretch>
            <a:fillRect/>
          </a:stretch>
        </p:blipFill>
        <p:spPr>
          <a:xfrm>
            <a:off x="2203632" y="1325880"/>
            <a:ext cx="77844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Motor ilk çalıştığı an dönmediği için karşı emk yoktur; 12 V'un tamamı 1 Ω'luk sargıya düşer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12 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akar. Dönen motor aynı zamanda bir jeneratördür: beslemeye karşı 10 V'luk bir emk üretir (kırmızı ok). Sargıya yalnızca 12 − 10 = 2 V kalır ve akım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 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 iner.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Anahtar açılırken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bakır dil ile kontak arasında mavimsi beyaz bir kıvılcım çakıyor. Devre açıldığı anda bobinden geçen akım birden kesilir ve bobinin kendi akısı hızla çöker; bobin bu değişime karşı koyan büyük bir emk üretir ve akım bir anlığına aradaki havadan atlar. Bobinin kendi akımındaki değişime böyle direnmesine öz-indüksiyon denir.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İnce durumlar: açık devre, karşı emk, öz-indüksiyon</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Açık devrede emk vardır ama akım yoktur. Dönen motor karşı emk üretir ve akımını azaltır; bobin kendi akımındaki değişime de direnir (öz-indüksiyon).</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elektrik motorunun mili sıkışıp dönemezse motor neden ısınıp yanabilir?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İnce durumlar: açık devre, karşı emk, öz-indüksiyon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elektrik motorunun mili sıkışıp dönemezse motor neden ısınıp yanabilir?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Mil dönmezse karşı emk doğmaz ve motor sürekli ilk anın büyük akımını çeker. Sargılarda açığa çıkan ısı akımın karesiyle büyür (I²R); 2 A yerine 12 A akması ısıyı 36 kat artırır. Sargıların yalıtımı bu ısıya dayanamaz ve motor yanar.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Evine gelen elektrikten cebindeki temassız karta kadar indüksiyon her yerde çalışıyor.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Ortak nokta hep aynı: bir yerde akı değiştirilir, başka bir yerde akım doğar.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Santral jeneratörü: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kutuplu bir jeneratör 50 Hz üretmek için dakikada 3000 tur atar; barajlardaki çok kutuplu jeneratörler daha yavaş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Rüzgâr türbini: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büyük kanatlar dakikada yalnızca 10–20 tur atar; dişli kutuları ya da elektronik dönüştürücüler bunu şebekeye uydurur.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İndüksiyonlu ocak: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bobinin akımı saniyede on binlerce kez yön değiştirir; ısı doğrudan tencerenin demir içeren tabanında doğar.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Bisiklet dinamosu: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tipik bir dinamo yaklaşık 6 V ve 3 W verir; bu, bir bisiklet farını yakmaya yeter.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Temassız kart: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okuyucunun 13,56 MHz'lik alanı karttaki anten bobininde akım doğurur; kartın pili yoktur.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106818" y="1234440"/>
            <a:ext cx="797805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induksiyon-akimi-12.png">    </p:cNvPr>
          <p:cNvPicPr>
            <a:picLocks noChangeAspect="1"/>
          </p:cNvPicPr>
          <p:nvPr/>
        </p:nvPicPr>
        <p:blipFill>
          <a:blip r:embed="rId1"/>
          <a:stretch>
            <a:fillRect/>
          </a:stretch>
        </p:blipFill>
        <p:spPr>
          <a:xfrm>
            <a:off x="2335418" y="1325880"/>
            <a:ext cx="752085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Camın altındaki bobinden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saniyede on binlerce kez yön değiştiren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akım geçer. Bobinin değişen alanı camdan geçip tencerenin çelik tabanına ulaşır ve orada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girdap akımları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doğurur; ısı tabanın kendisinde açığa çıkar. Cam iletken olmadığı için içinde akım doğmaz; yalnızca sıcak tencereye değdiği yerde ısınır.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386339"/>
                <a:gridCol w="752519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Uygulama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Nasıl çalışır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Jeneratör / dinamo</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Dönen çerçevede akı değişimi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Transformatör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Değişen akımın ikinci bobinde akı değişimi yaratması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Kablosuz şarj</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Bobinden bobine akı aktarımı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Metal dedektör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Metalde doğan girdap akımlarının alanı bozması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İndüksiyonlu ocak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Tencere tabanında doğan girdap akımlarının ısıtması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İndüksiyon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Santraller, rüzgâr türbinleri, dinamolar, indüksiyonlu ocaklar, transformatörler ve temassız kartlar aynı ilkeyle çalışır: bir yerde akı değiştirilir, başka bir yerde akım doğar.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Akının açıya bağlılığı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Akı değişiminden emk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Lenz yasasıyla yön</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Hareketli çubuk</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Jeneratörün tepe emk'si</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Sabit kuvvetle çekilen çubuk</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dersler.perinet.org/induksiyon-akimi.html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Alanı 0,2 m² olan bir çerçeve, 0,4 T'lık düzgün alan içinde duruyor. Çerçevenin normali alanla (a) 0°, (b) 60°, (c) 90° açı yaptığında akı kaç Wb olur?</a:t>
            </a:r>
            <a:endParaRPr lang="en-US" sz="2000" dirty="0"/>
          </a:p>
        </p:txBody>
      </p:sp>
      <p:sp>
        <p:nvSpPr>
          <p:cNvPr id="11" name="Shape 9"/>
          <p:cNvSpPr/>
          <p:nvPr/>
        </p:nvSpPr>
        <p:spPr>
          <a:xfrm>
            <a:off x="2772787" y="3121152"/>
            <a:ext cx="6646120"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nduksiyon-akimi-13.png">    </p:cNvPr>
          <p:cNvPicPr>
            <a:picLocks noChangeAspect="1"/>
          </p:cNvPicPr>
          <p:nvPr/>
        </p:nvPicPr>
        <p:blipFill>
          <a:blip r:embed="rId1"/>
          <a:stretch>
            <a:fillRect/>
          </a:stretch>
        </p:blipFill>
        <p:spPr>
          <a:xfrm>
            <a:off x="3001387" y="3230880"/>
            <a:ext cx="6188920"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Alanı 0,2 m² olan bir çerçeve, 0,4 T'lık düzgün alan içinde duruyor. Çerçevenin normali alanla (a) 0°, (b) 60°, (c) 90° açı yaptığında akı kaç Wb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 0,2 m²</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 0,4 T</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normal ile alan arasındaki açı: (a) α = 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α = 60°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 α = 90°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cos0° = 1, cos60° = 0,5, cos90° = 0</a:t>
            </a:r>
            <a:endParaRPr lang="en-US" sz="16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üç durumda çerçeveden geçen akı Φ</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Φ = B·A·cos0° = 0,4 · 0,2 · 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0,08 Wb</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Φ = 0,08 · cos60° = 0,08 · 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0,04 Wb</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Akının açıya bağlılığı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Φ = 0,08 · cos90°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(alan yüzeye paralel)</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Çerçeve döndükçe akı bu değerler arasında salınır; jeneratörün temeli budur.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200 sarımlı bir bobinden geçen manyetik akı 0,1 saniyede 4·10⁻³ Wb'den 1·10⁻³ Wb'e düşüyor. İndüklenen emk'nin büyüklüğü nedir?</a:t>
            </a:r>
            <a:endParaRPr lang="en-US" sz="2000" dirty="0"/>
          </a:p>
        </p:txBody>
      </p:sp>
      <p:sp>
        <p:nvSpPr>
          <p:cNvPr id="11" name="Shape 9"/>
          <p:cNvSpPr/>
          <p:nvPr/>
        </p:nvSpPr>
        <p:spPr>
          <a:xfrm>
            <a:off x="2504991" y="3121152"/>
            <a:ext cx="7181712"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nduksiyon-akimi-14.png">    </p:cNvPr>
          <p:cNvPicPr>
            <a:picLocks noChangeAspect="1"/>
          </p:cNvPicPr>
          <p:nvPr/>
        </p:nvPicPr>
        <p:blipFill>
          <a:blip r:embed="rId1"/>
          <a:stretch>
            <a:fillRect/>
          </a:stretch>
        </p:blipFill>
        <p:spPr>
          <a:xfrm>
            <a:off x="2733591" y="3230880"/>
            <a:ext cx="6724512"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200 sarımlı bir bobinden geçen manyetik akı 0,1 saniyede 4·10⁻³ Wb'den 1·10⁻³ Wb'e düşüyor. İndüklenen emk'nin büyüklüğü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200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ilk akı Φ₁ = 4·10⁻³ Wb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akı Φ₂ = 1·10⁻³ Wb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Δt = 0,1 s</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indüklenen emk'nin büyüklüğü |ε|</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ΔΦ = 1·10⁻³ − 4·10⁻³ = −3·10⁻³ Wb</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N·|ΔΦ|/Δt = 200 · 3·10⁻³ / 0,1</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Akı değişiminden emk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200 · 0,03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 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Akı azaldığı için indüksiyon akımı, akıyı sürdürecek yönde akar (Lenz).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mıknatısın </a:t>
            </a:r>
            <a:pPr indent="0" marL="0">
              <a:lnSpc>
                <a:spcPct val="116000"/>
              </a:lnSpc>
              <a:buNone/>
            </a:pPr>
            <a:r>
              <a:rPr lang="en-US" sz="2000" b="1" dirty="0">
                <a:solidFill>
                  <a:srgbClr val="0E1426"/>
                </a:solidFill>
                <a:latin typeface="Calibri" pitchFamily="34" charset="0"/>
                <a:ea typeface="Calibri" pitchFamily="34" charset="-122"/>
                <a:cs typeface="Calibri" pitchFamily="34" charset="-120"/>
              </a:rPr>
              <a:t>N kutbu</a:t>
            </a:r>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 bobine yaklaştırılıyor. Bobinin mıknatısa bakan yüzü hangi kutup gibi davranır ve neden?</a:t>
            </a:r>
            <a:endParaRPr lang="en-US" sz="2000" dirty="0"/>
          </a:p>
        </p:txBody>
      </p:sp>
      <p:sp>
        <p:nvSpPr>
          <p:cNvPr id="11" name="Shape 9"/>
          <p:cNvSpPr/>
          <p:nvPr/>
        </p:nvSpPr>
        <p:spPr>
          <a:xfrm>
            <a:off x="1893547" y="3121152"/>
            <a:ext cx="8404601"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nduksiyon-akimi-15.png">    </p:cNvPr>
          <p:cNvPicPr>
            <a:picLocks noChangeAspect="1"/>
          </p:cNvPicPr>
          <p:nvPr/>
        </p:nvPicPr>
        <p:blipFill>
          <a:blip r:embed="rId1"/>
          <a:stretch>
            <a:fillRect/>
          </a:stretch>
        </p:blipFill>
        <p:spPr>
          <a:xfrm>
            <a:off x="2122147" y="3230880"/>
            <a:ext cx="7947401"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mıknatısın </a:t>
            </a:r>
            <a:pPr indent="0" marL="0">
              <a:lnSpc>
                <a:spcPct val="118000"/>
              </a:lnSpc>
              <a:buNone/>
            </a:pPr>
            <a:r>
              <a:rPr lang="en-US" sz="2000" b="1" dirty="0">
                <a:solidFill>
                  <a:srgbClr val="0E1426"/>
                </a:solidFill>
                <a:latin typeface="Calibri" pitchFamily="34" charset="0"/>
                <a:ea typeface="Calibri" pitchFamily="34" charset="-122"/>
                <a:cs typeface="Calibri" pitchFamily="34" charset="-120"/>
              </a:rPr>
              <a:t>N kutbu</a:t>
            </a:r>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 bobine yaklaştırılıyor. Bobinin mıknatısa bakan yüzü hangi kutup gibi davranır ve neden?</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mıknatısın bobine bakan ucu N kutbu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mıknatıs bobine yaklaşıyor</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bobinin mıknatısa bakan yüzünün hangi kutup gibi davrandığı ve nedeni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kutbu yaklaştıkça bobinden geçen akı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artar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Lenz yasası: indüksiyon akımı bu artışa karşı koyar, yani mıknatısı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iter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Lenz yasasıyla yön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İtebilmesi için bobinin o yüzü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 kutbu</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gibi davranmalıdır.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Mıknatıs uzaklaştırılsaydı akı azalırdı; bu kez bobin onu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çekmek</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için S kutbu gibi davranırdı.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0,5 T'lık alanda, 40 cm uzunluğundaki çubuk raylar üzerinde 5 m/s hızla kayıyor. Devrenin direnci 2 Ω'dur. emk, akım ve çubuğa etki eden karşı kuvveti bulunuz.</a:t>
            </a:r>
            <a:endParaRPr lang="en-US" sz="2000" dirty="0"/>
          </a:p>
        </p:txBody>
      </p:sp>
      <p:sp>
        <p:nvSpPr>
          <p:cNvPr id="11" name="Shape 9"/>
          <p:cNvSpPr/>
          <p:nvPr/>
        </p:nvSpPr>
        <p:spPr>
          <a:xfrm>
            <a:off x="3099334" y="3474720"/>
            <a:ext cx="5993027"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nduksiyon-akimi-16.png">    </p:cNvPr>
          <p:cNvPicPr>
            <a:picLocks noChangeAspect="1"/>
          </p:cNvPicPr>
          <p:nvPr/>
        </p:nvPicPr>
        <p:blipFill>
          <a:blip r:embed="rId1"/>
          <a:stretch>
            <a:fillRect/>
          </a:stretch>
        </p:blipFill>
        <p:spPr>
          <a:xfrm>
            <a:off x="3327934" y="3584448"/>
            <a:ext cx="5535827"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0,5 T'lık alanda, 40 cm uzunluğundaki çubuk raylar üzerinde 5 m/s hızla kayıyor. Devrenin direnci 2 Ω'dur. emk, akım ve çubuğa etki eden karşı kuvveti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 0,5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40 cm = 0,4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5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 Ω</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emk ε</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akım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çubuğa etki eden karşı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B·L·v = 0,5 · 0,4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 = ε/R = 1/2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0,5 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Hareketli çubuk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B·I·L = 0,5 · 0,5 · 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0,1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(harekete zıt)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mekanik güç F·v = 0,5 W; elektriksel güç I²R = 0,25·2 = 0,5 W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100 sarımlı, 0,02 m² alanlı bir çerçeve 0,5 T'lık düzgün alanda dönüyor. (a) Saniyede 2 tur atarken, (b) saniyede 50 tur atarken tepe emk nedir? (c) 50 tur/s'de tepe emk'nin şebekenin 325 V'luk tepe değerine ulaşması için en az kaç sarım gerekir? (π ≈ 3,14)</a:t>
            </a:r>
            <a:endParaRPr lang="en-US" sz="1900" dirty="0"/>
          </a:p>
        </p:txBody>
      </p:sp>
      <p:sp>
        <p:nvSpPr>
          <p:cNvPr id="11" name="Shape 9"/>
          <p:cNvSpPr/>
          <p:nvPr/>
        </p:nvSpPr>
        <p:spPr>
          <a:xfrm>
            <a:off x="3704884" y="3584448"/>
            <a:ext cx="4781927"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nduksiyon-akimi-17.png">    </p:cNvPr>
          <p:cNvPicPr>
            <a:picLocks noChangeAspect="1"/>
          </p:cNvPicPr>
          <p:nvPr/>
        </p:nvPicPr>
        <p:blipFill>
          <a:blip r:embed="rId1"/>
          <a:stretch>
            <a:fillRect/>
          </a:stretch>
        </p:blipFill>
        <p:spPr>
          <a:xfrm>
            <a:off x="3933484" y="3694176"/>
            <a:ext cx="4324727"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100 sarımlı, 0,02 m² alanlı bir çerçeve 0,5 T'lık düzgün alanda dönüyor. (a) Saniyede 2 tur atarken, (b) saniyede 50 tur atarken tepe emk nedir? (c) 50 tur/s'de tepe emk'nin şebekenin 325 V'luk tepe değerine ulaşması için en az kaç sarım gerekir? (π ≈ 3,14)</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N = 100</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 0,02 m²</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 0,5 T</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(a) f = 2 tur/s</a:t>
            </a:r>
            <a:endParaRPr lang="en-US" sz="160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(b) f = 50 tur/s</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(c) hedef tepe emk = 325 V</a:t>
            </a:r>
            <a:endParaRPr lang="en-US" sz="1600" dirty="0"/>
          </a:p>
          <a:p>
            <a:pPr marL="203200" indent="-203200">
              <a:lnSpc>
                <a:spcPct val="110000"/>
              </a:lnSpc>
              <a:spcAft>
                <a:spcPts val="500"/>
              </a:spcAft>
              <a:buSzPct val="100000"/>
              <a:buChar char="▪"/>
            </a:pPr>
            <a:r>
              <a:rPr lang="en-US" sz="1600" dirty="0">
                <a:solidFill>
                  <a:srgbClr val="0E1426"/>
                </a:solidFill>
                <a:latin typeface="Calibri" pitchFamily="34" charset="0"/>
                <a:ea typeface="Calibri" pitchFamily="34" charset="-122"/>
                <a:cs typeface="Calibri" pitchFamily="34" charset="-120"/>
              </a:rPr>
              <a:t>π ≈ 3,14</a:t>
            </a:r>
            <a:endParaRPr lang="en-US" sz="160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saniyede 2 tur atarken tepe emk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saniyede 50 tur atarken tepe emk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50 tur/s'de 325 V için gereken en az sarım sayısı N</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ω = 2π·f = 2 · 3,14 · 2 ≈ 12,6 rad/s → ε</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maks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N·B·A·ω = 100 · 0,5 · 0,02 · 12,6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12,6 V</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ω = 2 · 3,14 · 50 = 314 rad/s → ε</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maks</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100 · 0,5 · 0,02 · 314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314 V</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Jeneratörün tepe emk'si</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Bir sarımın payı 0,5 · 0,02 · 314 = 3,14 V; N = 325 / 3,14 ≈ 103,5 → en az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104 sarım</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Çerçeve alana dik konumdan geçtiği her an emk sıfırdır; tepe değer, çerçeve alana paralelken görülür.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0,5 T'lık alanda raylar üzerindeki 0,5 m'lik çubuk, 0,5 N'luk sabit bir kuvvetle çekiliyor. Devrenin direnci 2 Ω'dur; sürtünme yoktur. Çubuğun ulaşacağı en büyük hızı, bu hızdaki emk'yi, akımı ve dirençteki gücü bulunuz.</a:t>
            </a:r>
            <a:endParaRPr lang="en-US" sz="2000" dirty="0"/>
          </a:p>
        </p:txBody>
      </p:sp>
      <p:sp>
        <p:nvSpPr>
          <p:cNvPr id="11" name="Shape 9"/>
          <p:cNvSpPr/>
          <p:nvPr/>
        </p:nvSpPr>
        <p:spPr>
          <a:xfrm>
            <a:off x="3148266" y="3474720"/>
            <a:ext cx="589516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induksiyon-akimi-18.png">    </p:cNvPr>
          <p:cNvPicPr>
            <a:picLocks noChangeAspect="1"/>
          </p:cNvPicPr>
          <p:nvPr/>
        </p:nvPicPr>
        <p:blipFill>
          <a:blip r:embed="rId1"/>
          <a:stretch>
            <a:fillRect/>
          </a:stretch>
        </p:blipFill>
        <p:spPr>
          <a:xfrm>
            <a:off x="3376866" y="3584448"/>
            <a:ext cx="543796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0,5 T'lık alanda raylar üzerindeki 0,5 m'lik çubuk, 0,5 N'luk sabit bir kuvvetle çekiliyor. Devrenin direnci 2 Ω'dur; sürtünme yoktur. Çubuğun ulaşacağı en büyük hızı, bu hızdaki emk'yi, akımı ve dirençteki gücü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 0,5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0,5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sabit çekme kuvveti F = 0,5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sürtünme yok</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en büyük hız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bu hızdaki emk ε</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akım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dirençteki güç P</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Çubuk hızlandıkça karşı kuvvet B²L²v/R büyür; çekme kuvvetine eşitlendiğinde ivme biter.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B²L²v/R → v = F·R/(B²L²) = 0,5 · 2 / (0,25 · 0,25)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 m/s</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Sabit kuvvetle çekilen çubuk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ε = B·L·v = 0,5 · 0,5 · 16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V</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 = ε/R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 = I²R = 4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 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Kontrol: F·v = 0,5 · 16 = 8 W ✓</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Bu durum, havada düşen cismin limit hıza ulaşmasına benzer: sürükleyen kuvvet sabit, frenleyen kuvvet hızla büyür ve ikisi eşitlenince hız sabitlenir.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0,5 T'lık düzgün alan, 0,04 m²'lik bir çerçevenin yüzeyine dik geçiyor. Çerçeveden geçen akı kaç Wb'dir?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0,5 T'lık düzgün alan, 0,04 m²'lik bir çerçevenin yüzeyine dik geçiyor. Çerçeveden geçen akı kaç Wb'dir?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Alan yüzeye dik olduğu için α = 0° ve cos0° = 1: Φ = B · A = 0,5 · 0,04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0,02 Wb</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sarımlı bir bobinden geçen akı 0,5 saniyede 0,02 Wb artıyor. Bobinde indüklenen emk kaç volttur?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sarımlı bir bobinden geçen akı 0,5 saniyede 0,02 Wb artıyor. Bobinde indüklenen emk kaç volttur?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|ε| = N · ΔΦ / Δt = 100 · 0,02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0,4 T'lık alanda raylar üzerindeki 50 cm'lik çubuk 10 m/s hızla kayıyor. Devrenin direnci 4 Ω ise emk ve akım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0,4 T'lık alanda raylar üzerindeki 50 cm'lik çubuk 10 m/s hızla kayıyor. Devrenin direnci 4 Ω ise emk ve akım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 = 0,5 m. ε = B · L · v = 0,4 · 0,5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ε / R = 2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200 sarımlı, 0,05 m² yüzeyli bir bobinin yüzeyine dik alan 0,1 s'de 0,2 T'dan 0,6 T'ya çıkıyor. Emk kaç V olur? Devrenin direnci 10 Ω ise akım kaç A'dir?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200 sarımlı, 0,05 m² yüzeyli bir bobinin yüzeyine dik alan 0,1 s'de 0,2 T'dan 0,6 T'ya çıkıyor. Emk kaç V olur? Devrenin direnci 10 Ω ise akım kaç A'dir?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ΔΦ = ΔB · A = (0,6 − 0,2) · 0,05 = 0,02 Wb. |ε| = N · ΔΦ / Δt = 200 · 0,02 / 0,1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ε / R = 40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sarımlı, 0,01 m²'lik bir çerçeve 0,2 T'lık düzgün alanda dönüyor. Tepe emk'nin 31,4 V olması için çerçeve saniyede kaç tur atmalıdır?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(π ≈ 3,14; emk'nin yalnızca büyüklüğünü hesapla.)</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sarımlı, 0,01 m²'lik bir çerçeve 0,2 T'lık düzgün alanda dönüyor. Tepe emk'nin 31,4 V olması için çerçeve saniyede kaç tur atmalıdır?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ε(maks) = N · B · A · ω → 31,4 = 100 · 0,2 · 0,01 · ω = 0,2 · ω → ω = 157 rad/s. ω = 2π · f olduğundan f = 157 / (2 · 3,14)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25 tur/s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“Manyetik alan varsa akım vardır.”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Akım için alanın değil,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akının değişmesi</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gerekir.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“Güçlü mıknatıs her zaman daha çok akım üretir.”</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Belirleyici olan ΔΦ/Δt'dir; yavaş oynatılan güçlü mıknatıs, hızlı oynatılan zayıf mıknatıstan daha az emk üretebilir.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Lenz'in eksi işaretini büyüklük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Eksi işareti yalnızca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yönü</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anlatır.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“İndüksiyon akımı hareketi destekler.”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Daima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karşı koyar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aksi hâlde enerji korunumu bozulurdu.</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Akıyı alanla karıştırmak.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Φ = B·A·cosα; alan aynı kalsa bile yüzey ya da açı değişirse akı değişir.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“ε = B·L·v her durumda geçerlidir.”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Bu bağıntı, çubuğun alana ve kendine dik hareket ettiği özel durum içindir.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Jeneratörde emk ile akıyı aynı anda en büyük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Φ en büyükken ε sıfır, Φ sıfırken ε en büyüktür.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“Devre açıksa emk de yoktur.”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Açık devrede de emk doğar; yalnızca akım akmaz. Uçları bir voltmetreye bağlarsan gerilimi ölçersin.</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dersler.perinet.org/induksiyon-akimi.html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Φ = B·A·cosα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Faraday </a:t>
            </a:r>
            <a:pPr indent="0" marL="0">
              <a:buNone/>
            </a:pPr>
            <a:r>
              <a:rPr lang="en-US" sz="1500" b="1" dirty="0">
                <a:solidFill>
                  <a:srgbClr val="FFFFFF"/>
                </a:solidFill>
                <a:latin typeface="Calibri" pitchFamily="34" charset="0"/>
                <a:ea typeface="Calibri" pitchFamily="34" charset="-122"/>
                <a:cs typeface="Calibri" pitchFamily="34" charset="-120"/>
              </a:rPr>
              <a:t>ε = −N·ΔΦ/Δt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Lenz </a:t>
            </a:r>
            <a:pPr indent="0" marL="0">
              <a:buNone/>
            </a:pPr>
            <a:r>
              <a:rPr lang="en-US" sz="1500" b="1" dirty="0">
                <a:solidFill>
                  <a:srgbClr val="FFFFFF"/>
                </a:solidFill>
                <a:latin typeface="Calibri" pitchFamily="34" charset="0"/>
                <a:ea typeface="Calibri" pitchFamily="34" charset="-122"/>
                <a:cs typeface="Calibri" pitchFamily="34" charset="-120"/>
              </a:rPr>
              <a:t>değişime karşı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Çubuk </a:t>
            </a:r>
            <a:pPr indent="0" marL="0">
              <a:buNone/>
            </a:pPr>
            <a:r>
              <a:rPr lang="en-US" sz="1500" b="1" dirty="0">
                <a:solidFill>
                  <a:srgbClr val="FFFFFF"/>
                </a:solidFill>
                <a:latin typeface="Calibri" pitchFamily="34" charset="0"/>
                <a:ea typeface="Calibri" pitchFamily="34" charset="-122"/>
                <a:cs typeface="Calibri" pitchFamily="34" charset="-120"/>
              </a:rPr>
              <a:t>ε = B·L·v</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B · A · cosα</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manyetik akı (weber)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−N · ΔΦ / Δt</a:t>
            </a:r>
            <a:endParaRPr lang="en-US" sz="1350" dirty="0"/>
          </a:p>
        </p:txBody>
      </p:sp>
      <p:sp>
        <p:nvSpPr>
          <p:cNvPr id="19" name="Text 17"/>
          <p:cNvSpPr txBox="1"/>
          <p:nvPr/>
        </p:nvSpPr>
        <p:spPr>
          <a:xfrm>
            <a:off x="8677656" y="321868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Faraday indüksiyon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ε = B · L · v</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iletken çubuk</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ε / R</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indüksiyon akımı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dersler.perinet.org/induksiyon-akimi.html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Transformatörler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128</Slides>
  <Notes>128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128</vt:i4>
      </vt:variant>
    </vt:vector>
  </HeadingPairs>
  <TitlesOfParts>
    <vt:vector size="1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İndüksiyon akımı — Dersler</dc:title>
  <dc:subject>Fizik · Elektrik ve Manyetizma</dc:subject>
  <dc:creator>Dersler</dc:creator>
  <cp:lastModifiedBy>Dersler</cp:lastModifiedBy>
  <cp:revision>1</cp:revision>
  <dcterms:created xsi:type="dcterms:W3CDTF">2026-09-30T12:20:31Z</dcterms:created>
  <dcterms:modified xsi:type="dcterms:W3CDTF">2026-09-30T12:20:31Z</dcterms:modified>
</cp:coreProperties>
</file>