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notesMasterIdLst>
    <p:notesMasterId r:id="rId1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notesMaster" Target="notesMasters/notesMaster1.xml"/><Relationship Id="rId119" Type="http://schemas.openxmlformats.org/officeDocument/2006/relationships/presProps" Target="presProps.xml"/><Relationship Id="rId120" Type="http://schemas.openxmlformats.org/officeDocument/2006/relationships/viewProps" Target="viewProps.xml"/><Relationship Id="rId121" Type="http://schemas.openxmlformats.org/officeDocument/2006/relationships/theme" Target="theme/theme1.xml"/><Relationship Id="rId1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 yok, priz yok, yalnızca dönen bir tekerlek: bisiklet farı nasıl yanıyor? Evindeki prizden gelen elektriğin büyük bölümü de aynı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 Bu anlatım dört basamakta ilerliyor: önce akıyı ve değişimin gücünü sezgiyle tanıyacağız; sonra Faraday yasasını, akımın yönünü, kayan çubuğu ve jeneratörü bağıntılarıyla çıkaracağız; ardından girdap akımlarına ve ince durumlara geçeceğiz. En sonda kolaydan zora sıralanmış örneklerle hepsini birlikte kullanacağız.
Kapak görseli: Rüzgâr türbinleri indüksiyonun en görünür yüzü. Rüzgâr kanatları çevirir; kanatların mili gövdedeki jeneratörde mıknatısları ve bobinleri birbirine göre döndürür, böylece bobinlerden geçen akı sürekli değişir. Faraday yasası bu değişimi gerilime çevirir: hareket durursa elektrik de 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Pil yok, priz yok, yalnızca dönen bir tekerlek: bisiklet farı nasıl yanıyor? Evindeki prizden gelen elektriğin büyük bölümü de aynı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 Bu anlatım dört basamakta ilerliyor: önce akıyı ve değişimin gücünü sezgiyle tanıyacağız; sonra Faraday yasasını, akımın yönünü, kayan çubuğu ve jeneratörü bağıntılarıyla çıkaracağız; ardından girdap akımlarına ve ince durumlara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akım nereden doğuyor, akı ne demek ve doğa değişime neden karşı koyuyor? Bu basamakta hesap yok denecek kadar az.
   01 Önce gözlemle: bisiklet farı nasıl yanar?
   02 Manyetik akı
   03 Faraday'ın keşfi: değişim akım doğurur
   04 Lenz yasası: doğa değişime direnir
2. Orta — Bağıntılar: Faraday yasasını kullan, akımın yönünü bul, kayan çubuğun ve dönen çerçevenin emk'sini adım adım çıkar.
   05 Faraday indüksiyon yasası
   06 İndüksiyon akımının yönü
   07 Hareketli iletken çubuk
   08 Sayılarla hisset: ne kadar emk?
   09 Jeneratör ve alternatif akım
3. İleri — Derinleşme: akım bir telde değil de bütün bir metal parçada dolaşınca, devre açıkken ya da motor dönerken ne olur?
   10 Girdap akımları: bakır boru deneyi
   11 İnce durumlar: açık devre, karşı emk, öz-indüksiyon
   12 İndüksiyon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Manyetik alan (B): mıknatısın ya da akım taşıyan telin çevresindeki etki bölgesi. Birimi tesla (T); Dünya'nın alanı yaklaşık 50 µT'dır.
• Yüzey alanı (A): bir yüzeyin büyüklüğü, m² ile ölçülür. 20 cm × 10 cm'lik bir çerçevenin alanı 0,2 m · 0,1 m = 0,02 m²'dir.
• Normal ve kosinüs: normal, bir yüzeye dik çizilen doğrudur; masanın normali tavana bakar. cos 0° = 1, cos 60° = 0,5, cos 90° = 0.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Değişim (Δ): Δ “son değer eksi ilk değer” demektir. Sıcaklık 20 °C'den 26 °C'ye çıktıysa değişim 6 °C'dir; bu 3 saniyede olduysa sıcaklık her saniye 2 °C değişmiştir.
• Ohm yasası ve güç: akım = gerilim / direnç (I = V / R). 6 V'luk pile bağlı 3 Ω'luk dirençten 2 A geçer ve dirençte P = I² · R = 12 W ısıya dönüşür.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akım nereden doğuyor, akı ne demek ve doğa değişime neden karşı koyuyor? Bu basamakta hesap yok denecek kadar az.
01 Önce gözlemle: bisiklet farı nasıl yanar?
02 Manyetik akı
03 Faraday'ın keşfi: değişim akım doğurur
04 Lenz yasası: doğa değişime direnir
Görsel: Birçok bisiklet farı pille değil, tekerleğin hareketiyle çalışan küçük bir dinamoyla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adım 1/3
• Birçok bisiklette farın pili yoktur.
• Ön tekerleğin yanına küçük bir dinamo takılır; dinamonun başlığı tekerleğe değer ve tekerlek döndükçe o da döner.
• Dinamonun içinde temelde iki parça vardır: dönen bir mıknatıs ve onun çevresinde duran bir tel bobini.
• Aralarında hiçbir kablo bağlantısı yoktur, ama bobinin uçlarına bağlı far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adım 2/3
• Dinamolu bir bisikletle yola çıkan herkes aynı dört şeyi fark eder:
• Dönerse yanar: tekerlek döndükçe far yanar, bisiklet durunca söner.
• Hızlandıkça parlar: pedalı hızlı çevirdiğinde far daha parlak yanar.
• Pedal ağırlaşır: dinamo çalışırken pedal çevirmek biraz daha zor gelir.
• Pil harcanmaz: farın enerjisi tükenmez, çünkü enerji senin bacaklarından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adım 3/3
• Demek ki akımı doğuran şey mıknatısın kendisi değil, mıknatısın hareketidir.
• Güçlü bir mıknatıs bobinin yanında kıpırdamadan dursaydı hiçbir şey olmazdı.
• Bu anlatımın bütün hikâyesi bu küçük gözlemden çıkıyor: değişen bir manyetik alan akım doğurur ve bunun bedelini hareketi sağlayan öder.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Dinamoda dönen mıknatıs bobinde akım doğurur; mıknatıs hızlandıkça akım artar, durunca akım kesilir. Akımı doğuran mıknatısın kendisi değil, hareketinin yarattığı değişimdir.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Dinamolu farı olan bisikletçi kırmızı ışıkta durunca farı neden söner?
Sınıfa sorun, birkaç tahmin alın; sonra cevap slaytına geçin.
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adım 1/4
• “Bobinden geçen alan değişir” sözünü ölçülebilir kılmak için yeni bir büyüklük gerekir.
• Bir yüzeyden geçen manyetik alan çizgilerinin sayısına manyetik akı (Φ) denir.
• Birimi weber (Wb)'dir.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adım 2/4
• Yağmurun altında bir çember tuttuğunu düşün.
• Çemberin içinden geçen damla sayısı üç şeye bağlıdır: yağmurun şiddetine, çemberin büyüklüğüne ve çemberi nasıl tuttuğuna.
• Çemberi yere paralel tutarsan en çok damla geçer; yan çevirirsen hiçbiri geçmez.
• Akı da aynıdır: alanın şiddeti (B), yüzeyin alanı (A) ve aradaki açı.
Φ = B · A · cosα   1 Wb = 1 T·m²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adım 3/4
• Buradaki α, alan ile yüzeyin normali (yüzeye dik doğrultu) arasındaki açıdır.
• Üç durum önemlidir:
• Alan yüzeye dik (α = 0): akı en büyüktür, Φ = B·A.
• Alan yüzeye paralel (α = 90°): akı sıfırdır.
• Akı; B, A ya da α'dan herhangi biri değiştiğinde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şekil
Manyetik akı, çerçevenin içinden kaç alan çizgisinin geçtiğidir.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Manyetik akı, bir yüzeyden geçen alan çizgisi miktarıdır: Φ = B·A·cosα, birimi weber. Alan yüzeye dikken akı en büyük, paralelken sıfırdır.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1/5
• Oersted 1820'de akımın manyetik alan ürettiğini göstermişti.
• Faraday tersini merak etti: manyetik alan akım üretebilir mi?
• Uzun süre sonuç alamadı; bobinin yanında duran mıknatıs, galvanometreyi (küçük akımları ölçen alet) kıpırdatmıyordu.
• 1831'de sırrı buldu: mıknatıs hareket ettiği anda iğne sapıyor, mıknatıs durunca sıfıra dönüyordu.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2/5
Belirleyici olan değişimdir. Güçlü ama sabit bir alan hiçbir akım üretmez. Mıknatıs bobinin içinde hareketsiz dururken galvanometre sıfırı gösterir; hareket başladığı anda sapar.
• Akı değiştiğinde devrede bir elektromotor kuvvet (emk) doğar; emk, devrede akımı süren gerilimdir ve pilin gerilimi gibi volt ile ölçülür.
• Bu olaya elektromanyetik indüksiyon, doğan akıma indüksiyon akımı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3/5
• Akıyı değiştirmenin üç yolu vardır:
• Alanı değiştir: mıknatısı yaklaştır ya da uzaklaştır, yakındaki bir bobinin akımını değiştir.
• Yüzeyi değiştir: devrenin bir kenarını kaydırarak çevrelenen alanı büyüt ya da küçült.
• Açıyı değiştir: bobini alanın içinde döndür; jeneratörler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şekil
Akım üreten şey alanın büyüklüğü değil, akının değişim hızıdır. Mıknatısı ne kadar hızlı hareket ettirirsen ΔΦ/Δt o kadar büyür ve galvanometre iğnesi o kadar çok sapar. Mıknatısı bobinin içinde durdurursan, alan hâlâ güçlü olmasına rağmen akım tamamen kesilir. Sarım sayısını artırmak da emk'yı aynı oranda büyütür.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5/5
• Sayfanın 01 numaralı deneyindeki hazır düğmelerle üç kuralı kendin sınayabilirsin: “Hızlı geçiş” galvanometreyi “Yavaş geçiş”ten çok saptırır, “Sarım 3 katı” emk'yi büyütür, “Duran mıknatıs” ise hiçbir şey üretmez.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Akı değiştiğinde devrede emk ve indüksiyon akımı doğar; sabit alan ne kadar güçlü olursa olsun akım üretmez. Değişim hızlandıkça ve sarım sayısı arttıkça emk büyür.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adım 1/4
• İndüksiyon akımı, kendisini doğuran akı değişimine karşı koyacak yönde akar.
• Bu kuralı 1834'te Heinrich Lenz ortaya koydu ve kural, enerjinin korunumunun doğrudan bir sonucudur.
• Akı artıyorsa: indüksiyon akımı, artışı azaltacak yönde alan üretir.
• Akı azalıyorsa: akım, azalmayı telafi edecek yönde alan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adım 2/4
• Bu yüzden mıknatısı bobine yaklaştırırken bir itme, uzaklaştırırken bir çekme hissedersin.
• Mıknatısı hareket ettirmek için yaptığın iş, devrede üretilen elektrik enerjisine dönüşür.
• Bisiklette pedalın ağırlaşması da budur: dinamodaki akım, mıknatısın dönüşünü frenleyen bir etki yaratır.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adım 3/4
Lenz olmasaydı ne olurdu? Akım değişimi desteklerdi; sistem kendi kendini hızlandırır, bedava enerji üretirdi. Faraday yasasında birazdan göreceğin eksi işareti, enerji korunumunun bekçisidir.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şekil
Lenz yasası tek cümledir: indüklenen akım, kendisini doğuran değişime karşı çıkacak yönde akar. Mıknatıs yaklaşırken bobin ona bakan yüzünü aynı kutup yapar ve iter; uzaklaşırken zıt kutup yapar ve çeker. Yani mıknatısı hareket ettirmek için iş yapman gerekir — üretilen elektrik enerjisi tam olarak buradan gelir. Aksi olsaydı hareket kendini besler, enerjinin korunumu çökerdi.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İndüksiyon akımı, kendisini doğuran değişime karşı koyar: yaklaşan mıknatısı iter, uzaklaşanı çeker. Bu karşı koyma, enerjinin korunumunun gereğidir.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Bobinin uçları birbirine bağlı değilse, mıknatısı yaklaştırırken yine itme hisseder misin?
Sınıfa sorun, birkaç tahmin alın; sonra cevap slaytına geçin.
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Faraday yasasını kullan, akımın yönünü bul, kayan çubuğun ve dönen çerçevenin emk'sini adım adım çıkar.
05 Faraday indüksiyon yasası
06 İndüksiyon akımının yönü
07 Hareketli iletken çubuk
08 Sayılarla hisset: ne kadar emk?
09 Jeneratör ve alternatif akım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1/6
• Bir devreden geçen manyetik akı değiştiğinde devrede bir elektromotor kuvvet (emk) indüklenir.
• Bu emk'nin büyüklüğü, akının değişim hızıyla orantılıdır:
ε = −N · ΔΦ / Δt   I = ε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2/6
Formüldeki harfler ne anlama geliyor?
Sembol | Anlamı | Birimi
ε | indüklenen emk, yani devrede akımı süren gerilim (baştaki eksi yalnızca yönü söyler) | V
N | bobinin sarım sayısı | —
ΔΦ | akının değişimi: son akı eksi ilk akı (Φ₂ − Φ₁) | Wb
Δt | akının değiştiği süre | s
I | devreden geçen indüksiyon akımı | A
R | devrenin direnci | 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3/6
• N sarım sayısıdır: aynı akı değişimi N kez sayıldığı için emk sarımla doğru orantılı büyür.
• Her sarım küçük bir pil gibidir ve sarımlar seri bağlı piller gibi gerilimlerini toplar.
• Baştaki eksi işareti yönü anlatır (Lenz yasası).
• Bir soruda yasayı beş adımda uygula: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4/6
• İlk akı: Φ₁ = B₁·A₁·cosα₁
• Son akı: Φ₂ = B₂·A₂·cosα₂
• Değişim: ΔΦ = Φ₂ − Φ₁ (artıyor mu, azalıyor mu?)
• emk: |ε| = N·|ΔΦ| / Δt; Δt sonlu bir süreyse bu, o süredeki ortalama emk'dir.
• Akım: I = ε / R; yönünü Lenz yasası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5/6
Birim kontrolü: Wb/s = T·m²/s. 1 T = 1 N/(A·m) olduğundan T·m²/s = N·m/(A·s) = J/C = V ✓. Akının değişim hızı gerçekten bir gerilimdir.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şekil
Mıknatısı bobine ittiğinde bobinden geçen akı değişir ve bobine bağlı ölçerin iğnesi ortadan bir yana sapar. İğnenin sapması akının değişim hızına bağlıdır: mıknatısı durdurursan akı sabitlenir ve iğne ortaya döner, daha hızlı itersen ΔΦ/Δt büyür ve iğne daha çok sapar. Bobindeki çok sayıda sarım da emk'yi büyütür; ε = −N·ΔΦ/Δt'de her sarım seri bağlı küçük bir pil gibi katkı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İndüklenen emk, akının değişim hızıyla ve sarım sayısıyla orantılıdır: ε = −N·ΔΦ/Δt. Wb/s birimi volta eşittir; emk, Φ–t grafiğinin eğimidir.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Φ–t grafiğinde akının tepe yaptığı anda emk neden sıfırdır?
Sınıfa sorun, birkaç tahmin alın; sonra cevap slaytına geçin.
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1/5
• Yönü bulmanın pratik yolu üç adımdır:
• Devreden geçen akının yönünü ve artıyor mu azalıyor mu olduğunu belirle.
• Lenz'e göre indüksiyon akımının hangi yönde alan üretmesi gerektiğini bul (artışa karşı zıt, azalmaya karşı aynı yönde).
• Sağ el kuralıyla, bu alanı üretecek akım yönünü belirle.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şekil
Yönü bulmak için tek bir soru yeter: akı artıyor mu, azalıyor mu? Artıyorsa indüklenen akım, artışı frenlemek için zıt yönde bir alan üretir; azalıyorsa azalmayı yavaşlatmak için aynı yönde bir alan üretir. İndüklenen alanın yönünü bulduktan sonra akımın yönünü sağ el kuralıyla okursun.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3/5
• Bobine hangi kutbun, hangi yönde geldiğine göre dört durum vardır.
• Hepsinde bobinin mıknatısa bakan yüzü, hareketi zorlaştıracak kutbu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4/5
Mıknatıs | Akı | İndüklenen alan | Bobinin yüzü
N kutbu yaklaşıyor | artıyor | zıt yönde | N (iter)
N kutbu uzaklaşıyor | azalıyor | aynı yönde | S (çeker)
S kutbu yaklaşıyor | artıyor | zıt yönde | S (iter)
S kutbu uzaklaşıyor | azalıyor | aynı yönde | N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5/5
• Yüzün kutbunu bulduktan sonra akım yönü kolaydır: mıknatıstan bakıldığında N gibi davranan yüzde akım saatin tersi yönde, S gibi davranan yüzde saat yönünde döner.
• Sayfadaki 01 numaralı deneyde mıknatıs yaklaşırken akım bir yöne, uzaklaşırken ters yöne akar; galvanometre iki kez, zıt yönlerde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Önce akının artıp azaldığına bak: artıyorsa indüklenen alan zıt, azalıyorsa aynı yöndedir. Sonra bu alanı üretecek akım yönünü sağ el kuralıyla bul.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adım 1/4
• Manyetik alan içinde, raylar üzerinde v hızıyla kayan L uzunluğundaki çubuk için akı değişimi ΔΦ = B·L·v·Δt olur ve emk:
ε = B · L · v   I = B·L·v / R   F = B·I·L = B²L²v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adım 2/4
• Alan büyür: Çubuk Δt sürede v·Δt kadar kayar; devrenin çevrelediği yüzey ΔA = L·v·Δt kadar büyür.
• Akı artar: Alan yüzeye dik olduğundan ΔΦ = B·ΔA = B·L·v·Δt.
• Faraday: ε = ΔΦ/Δt = B·L·v; Δt sadeleşir.
• İkinci bakış: Çubuktaki yükler v hızıyla alanda hareket eder; çubuk boyunca q·v·B kuvveti görür ve bir uca itilir. Çubuk bir pil gibi davranır.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adım 3/4
• Bu kuvvet harekete zıt yöndedir: çubuğu sabit hızla sürmek için dışarıdan bir kuvvet uygulanmalıdır.
• Harcanan mekanik güç (F·v), devrede açığa çıkan elektriksel güce (I²R) eşittir — enerji korunur.
• Sayfanın 03 numaralı deneyindeki başlangıç değerleriyle (B = 0,5 T, L = 0,5 m, v = 4 m/s, R = 2 Ω): ε = 1 V, I = 0,5 A, F = 0,125 N ve F·v = I²R = 0,5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şekil
Çubuk sağa kaydıkça devrenin çevrelediği alan büyür, akı artar ve devrede akım doğar. Ama bu akım da alanın içindedir: ona etkiyen manyetik kuvvet harekete zıt yöndedir (kırmızı ok). Yani çubuğu sabit hızla sürüklemek için sürekli kuvvet uygulamak gerekir — harcadığın mekanik güç, direnç üzerinde ısıya dönüşen elektriksel güce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Alanda kayan çubuk ε = B·L·v emk'si üretir; doğan akım çubuğa harekete zıt F = B²L²v/R kuvveti uygular. Çubuğu itmek için harcanan güç, dirençte ısıya dönüşen güce eşittir.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adım 1/3
• Faraday yasasının verdiği gerilimler durumdan duruma çok değişir.
• Tanıdık düzeneklerde ne kadar emk doğduğuna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adım 2/3
Durum | Değerler | emk
Mıknatısı elle bobine sokmak | 200 sarım, ΔΦ = 3·10⁻⁵ Wb, 0,2 s | 0,03 V
Uçan yolcu uçağının kanatları | B = 40 µT, L = 60 m, v = 250 m/s | 0,6 V
Sayfadaki 03 çubuğu | B = 0,5 T, L = 0,5 m, v = 4 m/s | 1 V
Sayfadaki 02 jeneratörü | 100 sarım, 0,02 m², 0,5 T, 2 tur/s | 12,6 V (tepe)
Aynı jeneratör, 50 tur/s | 100 sarım, 0,02 m², 0,5 T | 314 V (tepe)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adım 3/3
• Tablodan okunan düzen: emk'yi alanın büyüklüğünden çok değişimin hızı belirler.
• Aynı jeneratör 25 kat hızlı dönünce 25 kat büyük gerilim üretir; saniyede 50 tur, şebekenin gerilimine yaklaşan bir değer verir.
• Elle oynatılan bir mıknatıs ise yalnızca birkaç on milivolt üretir; Faraday'ın hassas bir galvanometreye ihtiyaç duyması bu yüzdendir.
• Uçak örneğinde alan, Dünya'nın zayıf alanının düşey bileşenidir; buna rağmen kanatların uzunluğu ve uçağın hızı yarım voltu aşan bir emk doğurur.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Elle oynatılan mıknatıs birkaç on milivolt, sayfadaki çubuk 1 V, saniyede 50 tur atan küçük bir jeneratör yüzlerce volt üretir. Emk'yi belirleyen, değişimin hızıdır.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1/7
• Düzgün alan içinde sabit hızla dönen bir çerçevede akı sürekli değişir:
Φ = B·A·cos(ω·t)   ε = N·B·A·ω·sin(ω·t)   ε(maks) = B·A·ω·N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2/7
Formüldeki harfler ne anlama geliyor?
Sembol | Anlamı | Birimi
ω | çerçevenin açısal hızı: bir saniyede döndüğü açı (ω = 2π·f) | rad/s
f | çerçevenin bir saniyedeki tur sayısı (frekans) | Hz
t | çerçevenin alana dik durduğu andan beri geçen süre | s
A | çerçevenin yüzey alanı | m²
ε(maks) | emk'nin tepe değeri: çerçeve alana paralelken görülen en büyük emk |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3/7
• Burada ω, çerçevenin açısal hızıdır (ω = 2π·f).
• Tepe değer, hareketli çubuk bağıntısından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4/7
• Çerçevenin eksene paralel iki kenarı a uzunluğunda, eksenden b/2 uzaktadır; ikisi de v = ω·b/2 hızıyla döner.
• Çerçeve alana paralelken bu kenarlar alana dik hareket eder; her biri ε = B·a·v emk'si üretir.
• İki kenar seri bağlıdır: ε = 2·B·a·ω·b/2 = B·A·ω (A = a·b). N sarımda N·B·A·ω.
• Başka konumlarda hızın yalnızca alana dik bileşeni sayılır; bu da sin(ω·t) çarpanını getirir.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5/7
• Üretilen emk sinüs biçiminde değişir ve yön değiştirir: buna alternatif akım (AC) denir.
• Çerçeve alana dik olduğunda akı en büyüktür ama değişim hızı sıfırdır, dolayısıyla emk sıfırdır; çerçeve alana paralel olduğunda ise akı sıfır, emk en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şekil
Çerçeve döndükçe içinden geçen akı kosinüs gibi salınır. Emk ise akının değişim hızıyla orantılı olduğu için sinüs olur — yani ikisi arasında çeyrek periyot fark vardır. Akının en büyük olduğu anda emk sıfırdır (o an akı değişmiyordur); akının sıfır olduğu anda ise emk en büyüktür. Şehir şebekesindeki alternatif akım tam olarak bu eğridir.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7/7
Türkiye'de şebeke: 230 V, 50 Hz. Yani iki kutuplu bir jeneratörün çerçevesi saniyede 50 tam tur atar ve gerilim saniyede 50 kez tam çevrim yapar. 230 V, gerilimin etkin değeridir; tepe değeri 230·√2 ≈ 325 V'tur.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Dönen çerçevede akı kosinüs, emk sinüs gibi değişir ve tepe emk N·B·A·ω'dır. Akı en büyükken emk sıfır, akı sıfırken emk en büyüktür; sonuç alternatif akımdır.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akım bir telde değil de bütün bir metal parçada dolaşınca, devre açıkken ya da motor dönerken ne olur?
10 Girdap akımları: bakır boru deneyi
11 İnce durumlar: açık devre, karşı emk, öz-indüksiyon
12 İndüksiyon gerçek dünyada
Görsel: İndüksiyonlu ocakta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adım 1/4
• Faraday yasası yalnızca bobinler için geçerli değildir.
• Değişen bir alanın içindeki her iletken parçada, metalin içinde kapalı halkalar çizen akımlar doğar: girdap akımları.
• Lenz yasası gereği bu akımlar da değişime karşı koyar ve hareketi frenler.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adım 2/4
• Sayfanın 04 numaralı deneyinde aynı mıknatıs 1,2 m'lik iki borudan bırakılıyor.
• Plastik boruda serbest düşerek yaklaşık 0,49 saniyede iner.
• Bakır boruda ise mıknatısın altındaki bölgede akı artar, üstündeki bölgede azalır; boru çeperinde doğan girdap akımları mıknatısı yukarı iter.
• Mıknatıs neredeyse hemen sabit ve küçük bir hıza ulaşır ve boruyu yaklaşık 5,5 saniyede, on kattan da yavaş geçer.
• Kaybolan potansiyel enerji boruda ısıya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şekil
Bakır mıknatıslanmaz — ama iletkendir. Mıknatıs boruya girerken boru duvarında halka halka girdap akımları doğar ve Lenz yasası gereği bu akımlar mıknatısı frenler. Sonuç şaşırtıcı: aynı mıknatıs plastik boruda yarım saniyede düşerken bakır boruda on kat uzun sürede iner. Hiçbir temas, hiçbir sürtünme olmadan frenleme — aynı ilke ağır vasıtaların girdap akımı frenlerinde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adım 4/4
• Girdap akımı freni: Lenz kuvvetiyle temassız frenleme; ağır vasıtalarda ve trenlerde balatayı aşındırmadan yavaşlatır.
• Metal dedektörü: değişen alan metalde girdap akımları doğurur; bu akımların alanı dedektörün bobinince algılanır.
• İnce levhalı çekirdek: transformatör çekirdekleri yalıtılmış ince levhalardan yapılır; girdap akımlarının yolu kesilir, ısı kaybı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Değişen alanın içindeki iletkenlerde girdap akımları doğar ve Lenz yasası gereği hareketi frenler. Bakır boruda mıknatıs, plastik borudakinden on kattan fazla uzun sürede düşer.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Bakır boruyu boylamasına kesip ince bir yarık açarsan mıknatıs daha hızlı mı düşer?
Sınıfa sorun, birkaç tahmin alın; sonra cevap slaytına geçin.
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1/6
• Faraday yasasını doğru kullanmak için dört ince noktayı bilmek gerekir.
• Hepsi aynı ilkeye dayanır, ama ilk bakışta şaşırtır: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2/6
• Açık devre: emk doğar ama akım akmaz. Uçağın kanat uçları arasında 0,6 V vardır, ama uçakla birlikte hareket eden bir devrenin akısı değişmediği için akım dolaşmaz.
• Karşı emk: dönen her motor aynı zamanda bir jeneratördür ve beslemeye karşı bir emk üretir. Motorun çektiği akım bu yüzden dönerken azalır.
• Öz-indüksiyon: bobinin kendi akımı değişince kendi akısı da değişir; bobin bu değişime direnir. Anahtar açılınca kıvılcım çıkması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3/6
• Doğru akım: sabit akım sabit akı demektir; transformatör yalnızca akım açılıp kapanırken, yani akı değişirken emk üretir.
I = (V − εkarşı)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4/6
• Karşı emk'nin etkisini sayılarla görelim: 12 V'luk bir motorun sargı direnci 1 Ω olsun.
• Motor ilk çalıştığı an henüz dönmediği için karşı emk sıfırdır ve akım 12 A'dir.
• Motor hızlanıp 10 V'luk karşı emk ürettiğinde akım (12 − 10)/1 = 2 A'e iner.
• Arabaların çalıştırma anında farların bir an sönükleşmesi, bu büyük ilk akım yüzündendir.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5/6
• İndüksiyon arabaların ateşleme bobininde de işe koşulur: birincil bobindeki akım aniden kesilince hızla çöken manyetik alan, çok sarımlı ikincil bobinde on binlerce voltluk bir emk doğurur ve bujide kıvılcım çakar.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şekil
Anahtar açılırken bakır dil ile kontak arasında mavimsi beyaz bir kıvılcım çakıyor. Devre açıldığı anda bobinden geçen akım birden kesilir ve bobinin kendi akısı hızla çöker; bobin bu değişime karşı koyan büyük bir emk üretir ve akım bir anlığına aradaki havadan atlar. Bobinin kendi akımındaki değişime böyle direnmesine öz-indüksiyon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Açık devrede emk vardır ama akım yoktur. Dönen motor karşı emk üretir ve akımını azaltır; bobin kendi akımındaki değişime de direnir (öz-indüksiyon).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elektrik motorunun mili sıkışıp dönemezse motor neden ısınıp yanabilir?
Sınıfa sorun, birkaç tahmin alın; sonra cevap slaytına geçin.
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1/3
• Evine gelen elektrikten cebindeki temassız karta kadar indüksiyon her yerde çalışıyor.
• Ortak nokta hep aynı: bir yerde akı değiştirilir, başka bir yerde akım doğar.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2/3
• Santral jeneratörü: iki kutuplu bir jeneratör 50 Hz üretmek için dakikada 3000 tur atar; barajlardaki çok kutuplu jeneratörler daha yavaş döner.
• Rüzgâr türbini: büyük kanatlar dakikada yalnızca 10–20 tur atar; dişli kutuları ya da elektronik dönüştürücüler bunu şebekeye uydurur.
• İndüksiyonlu ocak: bobinin akımı saniyede on binlerce kez yön değiştirir; ısı doğrudan tencerenin demir içeren tabanında doğar.
• Bisiklet dinamosu: tipik bir dinamo yaklaşık 6 V ve 3 W verir; bu, bir bisiklet farını yakmaya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3/3
• Temassız kart: okuyucunun 13,56 MHz'lik alanı karttaki anten bobininde akım doğurur; kartın pili yoktur.
Uygulama | Nasıl çalışır
Jeneratör / dinamo | Dönen çerçevede akı değişimi
Transformatör | Değişen akımın ikinci bobinde akı değişimi yaratması
Kablosuz şarj | Bobinden bobine akı aktarımı
Metal dedektör | Metalde doğan girdap akımlarının alanı bozması
İndüksiyonlu ocak | Tencere tabanında doğan girdap akımlarının ısıtması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Santraller, rüzgâr türbinleri, dinamolar, indüksiyonlu ocaklar, transformatörler ve temassız kartlar aynı ilkeyle çalışır: bir yerde akı değiştirilir, başka bir yerde akım doğar.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Alanı 0,2 m² olan bir çerçeve, 0,4 T'lık düzgün alan içinde duruyor. Çerçevenin normali alanla (a) 0°, (b) 60°, (c) 90° açı yaptığında akı kaç Wb olur?
Verilenler: A = 0,2 m² · B = 0,4 T · normal ile alan arasındaki açı: (a) α = 0° · (b) α = 60° · (c) α = 90° · cos0° = 1, cos60° = 0,5, cos90° = 0
İstenen: üç durumda çerçeveden geçen akı Φ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 çözüm
1. (a) Φ = B·A·cos0° = 0,4 · 0,2 · 1 = 0,08 Wb
2. (b) Φ = 0,08 · cos60° = 0,08 · 0,5 = 0,04 Wb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 çözüm
3. (c) Φ = 0,08 · cos90° = 0 (alan yüzeye paralel)
4. Çerçeve döndükçe akı bu değerler arasında salınır; jeneratörün temeli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200 sarımlı bir bobinden geçen manyetik akı 0,1 saniyede 4·10⁻³ Wb'den 1·10⁻³ Wb'e düşüyor. İndüklenen emk'nin büyüklüğü nedir?
Verilenler: N = 200 · ilk akı Φ₁ = 4·10⁻³ Wb · son akı Φ₂ = 1·10⁻³ Wb · Δt = 0,1 s
İstenen: indüklenen emk'nin büyüklüğü |ε|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 çözüm
1. ΔΦ = 1·10⁻³ − 4·10⁻³ = −3·10⁻³ Wb
2. |ε| = N·|ΔΦ|/Δt = 200 · 3·10⁻³ /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 çözüm
3. |ε| = 200 · 0,03 = 6 V
4. Akı azaldığı için indüksiyon akımı, akıyı sürdürecek yönde akar (Lenz).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Bir mıknatısın N kutbu bobine yaklaştırılıyor. Bobinin mıknatısa bakan yüzü hangi kutup gibi davranır ve neden?
Verilenler: mıknatısın bobine bakan ucu N kutbu · mıknatıs bobine yaklaşıyor
İstenen: bobinin mıknatısa bakan yüzünün hangi kutup gibi davrandığı ve nedeni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 çözüm
1. N kutbu yaklaştıkça bobinden geçen akı artar.
2. Lenz yasası: indüksiyon akımı bu artışa karşı koyar, yani mıknatısı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 çözüm
3. İtebilmesi için bobinin o yüzü N kutbu gibi davranmalıdır.
4. Mıknatıs uzaklaştırılsaydı akı azalırdı; bu kez bobin onu çekmek için S kutbu gibi davranırdı.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0,5 T'lık alanda, 40 cm uzunluğundaki çubuk raylar üzerinde 5 m/s hızla kayıyor. Devrenin direnci 2 Ω'dur. emk, akım ve çubuğa etki eden karşı kuvveti bulunuz.
Verilenler: B = 0,5 T · L = 40 cm = 0,4 m · v = 5 m/s · R = 2 Ω
İstenen: emk ε · akım I · çubuğa etki eden karşı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 çözüm
1. ε = B·L·v = 0,5 · 0,4 · 5 = 1 V
2. I = ε/R = 1/2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 çözüm
3. F = B·I·L = 0,5 · 0,5 · 0,4 = 0,1 N (harekete zıt)
4. Kontrol: mekanik güç F·v = 0,5 W; elektriksel güç I²R = 0,25·2 = 0,5 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100 sarımlı, 0,02 m² alanlı bir çerçeve 0,5 T'lık düzgün alanda dönüyor. (a) Saniyede 2 tur atarken, (b) saniyede 50 tur atarken tepe emk nedir? (c) 50 tur/s'de tepe emk'nin şebekenin 325 V'luk tepe değerine ulaşması için en az kaç sarım gerekir? (π ≈ 3,14)
Verilenler: N = 100 · A = 0,02 m² · B = 0,5 T · (a) f = 2 tur/s · (b) f = 50 tur/s · (c) hedef tepe emk = 325 V · π ≈ 3,14
İstenen: (a) saniyede 2 tur atarken tepe emk · (b) saniyede 50 tur atarken tepe emk · (c) 50 tur/s'de 325 V için gereken en az sarım sayısı 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 çözüm
1. (a) ω = 2π·f = 2 · 3,14 · 2 ≈ 12,6 rad/s → εmaks = N·B·A·ω = 100 · 0,5 · 0,02 · 12,6 ≈ 12,6 V
2. (b) ω = 2 · 3,14 · 50 = 314 rad/s → εmaks = 100 · 0,5 · 0,02 · 314 = 314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 çözüm
3. (c) Bir sarımın payı 0,5 · 0,02 · 314 = 3,14 V; N = 325 / 3,14 ≈ 103,5 → en az 104 sarım
4. Çerçeve alana dik konumdan geçtiği her an emk sıfırdır; tepe değer, çerçeve alana paralelken görülür.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0,5 T'lık alanda raylar üzerindeki 0,5 m'lik çubuk, 0,5 N'luk sabit bir kuvvetle çekiliyor. Devrenin direnci 2 Ω'dur; sürtünme yoktur. Çubuğun ulaşacağı en büyük hızı, bu hızdaki emk'yi, akımı ve dirençteki gücü bulunuz.
Verilenler: B = 0,5 T · L = 0,5 m · sabit çekme kuvveti F = 0,5 N · R = 2 Ω · sürtünme yok
İstenen: en büyük hız v · bu hızdaki emk ε · akım I · dirençteki güç P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 çözüm
1. Çubuk hızlandıkça karşı kuvvet B²L²v/R büyür; çekme kuvvetine eşitlendiğinde ivme biter.
2. F = B²L²v/R → v = F·R/(B²L²) = 0,5 · 2 / (0,25 · 0,25) = 16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 çözüm
3. ε = B·L·v = 0,5 · 0,5 · 16 = 4 V; I = ε/R = 2 A
4. P = I²R = 4 · 2 = 8 W. Kontrol: F·v = 0,5 · 16 = 8 W ✓
Bu durum, havada düşen cismin limit hıza ulaşmasına benzer: sürükleyen kuvvet sabit, frenleyen kuvvet hızla büyür ve ikisi eşitlenince hız sabitlenir.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0,5 T'lık düzgün alan, 0,04 m²'lik bir çerçevenin yüzeyine dik geçiyor. Çerçeveden geçen akı kaç Wb'dir?
Öğrencilere 2–3 dakika verin; sonra cevap slaytını açın.
Cevap: Cevap: Alan yüzeye dik olduğu için α = 0° ve cos0° = 1: Φ = B · A = 0,5 · 0,04 = 0,02 Wb.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Alan yüzeye dik olduğu için α = 0° ve cos0° = 1: Φ = B · A = 0,5 · 0,04 = 0,02 Wb.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100 sarımlı bir bobinden geçen akı 0,5 saniyede 0,02 Wb artıyor. Bobinde indüklenen emk kaç volttur?
Öğrencilere 2–3 dakika verin; sonra cevap slaytını açın.
Cevap: Cevap: |ε| = N · ΔΦ / Δt = 100 · 0,02 / 0,5 = 4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|ε| = N · ΔΦ / Δt = 100 · 0,02 / 0,5 = 4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0,4 T'lık alanda raylar üzerindeki 50 cm'lik çubuk 10 m/s hızla kayıyor. Devrenin direnci 4 Ω ise emk ve akım kaçtır?
Öğrencilere 2–3 dakika verin; sonra cevap slaytını açın.
Cevap: Cevap: L = 0,5 m. ε = B · L · v = 0,4 · 0,5 · 10 = 2 V; I = ε / R = 2 / 4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 = 0,5 m. ε = B · L · v = 0,4 · 0,5 · 10 = 2 V; I = ε / R = 2 / 4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200 sarımlı, 0,05 m² yüzeyli bir bobinin yüzeyine dik alan 0,1 s'de 0,2 T'dan 0,6 T'ya çıkıyor. Emk kaç V olur? Devrenin direnci 10 Ω ise akım kaç A'dir?
Öğrencilere 2–3 dakika verin; sonra cevap slaytını açın.
Cevap: Cevap: ΔΦ = ΔB · A = (0,6 − 0,2) · 0,05 = 0,02 Wb. |ε| = N · ΔΦ / Δt = 200 · 0,02 / 0,1 = 40 V; I = ε / R = 40 / 10 = 4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ΔΦ = ΔB · A = (0,6 − 0,2) · 0,05 = 0,02 Wb. |ε| = N · ΔΦ / Δt = 200 · 0,02 / 0,1 = 40 V; I = ε / R = 40 / 10 = 4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100 sarımlı, 0,01 m²'lik bir çerçeve 0,2 T'lık düzgün alanda dönüyor. Tepe emk'nin 31,4 V olması için çerçeve saniyede kaç tur atmalıdır?
Öğrencilere 2–3 dakika verin; sonra cevap slaytını açın.
Cevap: Cevap: ε(maks) = N · B · A · ω → 31,4 = 100 · 0,2 · 0,01 · ω = 0,2 · ω → ω = 157 rad/s. ω = 2π · f olduğundan f = 157 / (2 · 3,14) = 25 tur/s.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ε(maks) = N · B · A · ω → 31,4 = 100 · 0,2 · 0,01 · ω = 0,2 · ω → ω = 157 rad/s. ω = 2π · f olduğundan f = 157 / (2 · 3,14) = 25 tur/s.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alan varsa akım vardır.” Akım için alanın değil, akının değişmesi gerekir.
• “Güçlü mıknatıs her zaman daha çok akım üretir.” Belirleyici olan ΔΦ/Δt'dir; yavaş oynatılan güçlü mıknatıs, hızlı oynatılan zayıf mıknatıstan daha az emk üretebilir.
• Lenz'in eksi işaretini büyüklük sanmak. Eksi işareti yalnızca yönü anlatır.
• “İndüksiyon akımı hareketi destekler.” Daima karşı koyar; aksi hâlde enerji korunumu bozulurdu.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Akıyı alanla karıştırmak. Φ = B·A·cosα; alan aynı kalsa bile yüzey ya da açı değişirse akı değişir.
• “ε = B·L·v her durumda geçerlidir.” Bu bağıntı, çubuğun alana ve kendine dik hareket ettiği özel durum içindir.
• Jeneratörde emk ile akıyı aynı anda en büyük sanmak. Φ en büyükken ε sıfır, Φ sıfırken ε en büyüktür.
• “Devre açıksa emk de yoktur.” Açık devrede de emk doğar; yalnızca akım akmaz. Uçları bir voltmetreye bağlarsan gerilimi ölçersin.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Akı Φ = B·A·cosα · Faraday ε = −N·ΔΦ/Δt · Lenz değişime karşı · Çubuk ε = B·L·v
Φ = B · A · cosα — manyetik akı (weber)
ε = −N · ΔΦ / Δt — Faraday indüksiyon yasası
ε = B · L · v — hareketli iletken çubuk
I = ε / R — indüksiyon akımı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induksiyon-akim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İndüksiyon akımı</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Manyetik alan tek başına akım üretmez; üreten şey alanın değişmesidir. Bir devreden geçen manyetik akı değiştiği sürece devrede bir indüksiyon emk'sı doğar — ve bu akım, kendisini doğuran değişime karşı koyar.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Pil yok, priz yok, yalnızca dönen bir tekerlek: bisiklet farı nasıl yanıyor?</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Evindeki prizden gelen elektriğin büyük bölümü de aynı fikirden doğuyor: bir bobinin içinden geçen manyetik alan </a:t>
            </a:r>
            <a:pPr indent="0" marL="0">
              <a:lnSpc>
                <a:spcPct val="130000"/>
              </a:lnSpc>
              <a:buNone/>
            </a:pPr>
            <a:r>
              <a:rPr lang="en-US" sz="2000" b="1" dirty="0">
                <a:solidFill>
                  <a:srgbClr val="5F4BD8"/>
                </a:solidFill>
                <a:latin typeface="Cambria" pitchFamily="34" charset="0"/>
                <a:ea typeface="Cambria" pitchFamily="34" charset="-122"/>
                <a:cs typeface="Cambria" pitchFamily="34" charset="-120"/>
              </a:rPr>
              <a:t>değişirse</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o bobinde akım doğar.</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Faraday bunu 1831'de bir mıknatısı bobinin içinde ileri geri oynatarak buldu.</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Bugün barajlar, rüzgâr türbinleri, termik santraller ve arabaların alternatörleri hep aynı şeyi yapıyor — </a:t>
            </a:r>
            <a:pPr indent="0" marL="0">
              <a:lnSpc>
                <a:spcPct val="130000"/>
              </a:lnSpc>
              <a:buNone/>
            </a:pPr>
            <a:r>
              <a:rPr lang="en-US" sz="2000" b="1" dirty="0">
                <a:solidFill>
                  <a:srgbClr val="5F4BD8"/>
                </a:solidFill>
                <a:latin typeface="Cambria" pitchFamily="34" charset="0"/>
                <a:ea typeface="Cambria" pitchFamily="34" charset="-122"/>
                <a:cs typeface="Cambria" pitchFamily="34" charset="-120"/>
              </a:rPr>
              <a:t>hareketi, akı değişimine çevirmek.</a:t>
            </a:r>
            <a:endParaRPr lang="en-US" sz="20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akım nereden doğuyor, akı ne demek ve doğa değişime neden karşı koyuyor?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bisiklet farı nasıl yanar?</a:t>
            </a:r>
            <a:endParaRPr lang="en-US" sz="120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akı</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Faraday'ın keşfi: değişim akım doğurur</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Lenz yasası: doğa değişime direnir</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Faraday yasasını kullan, akımın yönünü bul, kayan çubuğun ve dönen çerçevenin emk'sini adım adım çıkar.</a:t>
            </a:r>
            <a:endParaRPr lang="en-US" sz="11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Faraday indüksiyon yasası</a:t>
            </a:r>
            <a:endParaRPr lang="en-US" sz="12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İndüksiyon akımının yönü</a:t>
            </a:r>
            <a:endParaRPr lang="en-US" sz="125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Hareketli iletken çubuk</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Sayılarla hisset: ne kadar emk?</a:t>
            </a:r>
            <a:endParaRPr lang="en-US" sz="12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Jeneratör ve alternatif akım</a:t>
            </a:r>
            <a:endParaRPr lang="en-US" sz="12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Derinleşme: akım bir telde değil de bütün bir metal parçada dolaşınca, devre açıkken ya da motor dönerken ne olur?</a:t>
            </a:r>
            <a:endParaRPr lang="en-US" sz="110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Girdap akımları: bakır boru deneyi</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İnce durumlar: açık devre, karşı emk, öz-indüksiyon</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İndüksiyon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Manyetik alan (B):</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mıknatısın ya da akım taşıyan telin çevresindeki etki bölgesi. Birimi tesla (T); Dünya'nın alanı yaklaşık 50 µT'dır.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Yüzey alanı (A):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yüzeyin büyüklüğü, m² ile ölçülür. 20 cm × 10 cm'lik bir çerçevenin alanı 0,2 m · 0,1 m = 0,02 m²'dir.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Normal ve kosinüs: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normal, bir yüzeye dik çizilen doğrudur; masanın normali tavana bakar. cos 0° = 1, cos 60° = 0,5, cos 90° = 0.</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Değişim (Δ):</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Δ “son değer eksi ilk değer” demektir. Sıcaklık 20 °C'den 26 °C'ye çıktıysa değişim 6 °C'dir; bu 3 saniyede olduysa sıcaklık her saniye 2 °C değişmiştir.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Ohm yasası ve güç:</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akım = gerilim / direnç (I = V / R). 6 V'luk pile bağlı 3 Ω'luk dirençten 2 A geçer ve dirençte P = I² · R = 12 W ısıya dönüşür.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akım nereden doğuyor, akı ne demek ve doğa değişime neden karşı koyuyor?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bisiklet farı nasıl yanar?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Manyetik akı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Faraday'ın keşfi: değişim akım doğurur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Lenz yasası: doğa değişime direnir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induksiyon-akim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00" dirty="0">
                <a:solidFill>
                  <a:srgbClr val="C3CEE8"/>
                </a:solidFill>
                <a:latin typeface="Calibri" pitchFamily="34" charset="0"/>
                <a:ea typeface="Calibri" pitchFamily="34" charset="-122"/>
                <a:cs typeface="Calibri" pitchFamily="34" charset="-120"/>
              </a:rPr>
              <a:t>Birçok bisiklet farı pille değil, tekerleğin hareketiyle çalışan küçük bir </a:t>
            </a:r>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dinamoyla</a:t>
            </a:r>
            <a:pPr indent="0" marL="0">
              <a:lnSpc>
                <a:spcPct val="115000"/>
              </a:lnSpc>
              <a:buNone/>
            </a:pPr>
            <a:r>
              <a:rPr lang="en-US" sz="1100" dirty="0">
                <a:solidFill>
                  <a:srgbClr val="C3CEE8"/>
                </a:solidFill>
                <a:latin typeface="Calibri" pitchFamily="34" charset="0"/>
                <a:ea typeface="Calibri" pitchFamily="34" charset="-122"/>
                <a:cs typeface="Calibri" pitchFamily="34" charset="-120"/>
              </a:rPr>
              <a:t>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a:t>
            </a:r>
            <a:endParaRPr lang="en-US" sz="110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Birçok bisiklette farın pili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 tekerleğin yanına küçük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dinamo</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takılır; dinamonun başlığı tekerleğe değer ve tekerlek döndükçe o da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Dinamonun içinde temelde iki parça vardır: dönen bir mıknatıs ve onun çevresinde duran bir tel bobini.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Aralarında hiçbir kablo bağlantısı yoktur, ama bobinin uçlarına bağlı far yanar.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Dinamolu bir bisikletle yola çıkan herkes aynı dört şeyi fark eder:</a:t>
            </a:r>
            <a:endParaRPr lang="en-US" sz="2200" dirty="0"/>
          </a:p>
        </p:txBody>
      </p:sp>
      <p:sp>
        <p:nvSpPr>
          <p:cNvPr id="7" name="Text 5"/>
          <p:cNvSpPr txBox="1"/>
          <p:nvPr/>
        </p:nvSpPr>
        <p:spPr>
          <a:xfrm>
            <a:off x="640080" y="2004060"/>
            <a:ext cx="10911535" cy="220599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Dönerse yanar: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tekerlek döndükçe far yanar, bisiklet durunca söner.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Hızlandıkça parlar: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pedalı hızlı çevirdiğinde far daha parlak yanar.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Pedal ağırlaşır: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dinamo çalışırken pedal çevirmek biraz daha zor gelir.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Pil harcanmaz: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farın enerjisi tükenmez, çünkü enerji senin bacaklarından gelir.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Demek ki akımı doğuran şey mıknatısın kendisi değil, mıknatısın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hareketidir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Güçlü bir mıknatıs bobinin yanında kıpırdamadan dursaydı hiçbir şey olmazdı.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anlatımın bütün hikâyesi bu küçük gözlemden çıkıyor: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manyetik alan akım doğurur ve bunun bedelini hareketi sağlayan öder.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Dinamoda dönen mıknatıs bobinde akım doğurur; mıknatıs hızlandıkça akım artar, durunca akım kesilir. Akımı doğuran mıknatısın kendisi değil, hareketinin yarattığı değişimdir.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Dinamolu farı olan bisikletçi kırmızı ışıkta durunca farı neden söner?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bisiklet farı nasıl yanar?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Dinamolu farı olan bisikletçi kırmızı ışıkta durunca farı neden söner?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“Bobinden geçen alan değişir” sözünü ölçülebilir kılmak için yeni bir büyüklük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yüzeyden geçen manyetik alan çizgilerinin sayısına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akı (Φ)</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weber (Wb)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Yağmurun altında bir çember tuttuğunu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Çemberin içinden geçen damla sayısı üç şeye bağlıdır: yağmurun şiddetine, çemberin büyüklüğüne ve çemberi nasıl tuttuğuna.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Çemberi yere paralel tutarsan en çok damla geçer; yan çevirirsen hiçbiri geçmez.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 da aynıdır: alanın şiddeti (B), yüzeyin alanı (A) ve aradaki açı.</a:t>
            </a:r>
            <a:endParaRPr lang="en-US" sz="2200" dirty="0"/>
          </a:p>
        </p:txBody>
      </p:sp>
      <p:sp>
        <p:nvSpPr>
          <p:cNvPr id="7" name="Shape 5"/>
          <p:cNvSpPr/>
          <p:nvPr/>
        </p:nvSpPr>
        <p:spPr>
          <a:xfrm>
            <a:off x="640080" y="4206240"/>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0624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Φ = B · A · cosα</a:t>
            </a:r>
            <a:endParaRPr lang="en-US" sz="1800" dirty="0"/>
          </a:p>
        </p:txBody>
      </p:sp>
      <p:sp>
        <p:nvSpPr>
          <p:cNvPr id="9" name="Shape 7"/>
          <p:cNvSpPr/>
          <p:nvPr/>
        </p:nvSpPr>
        <p:spPr>
          <a:xfrm>
            <a:off x="3558845" y="4206240"/>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420624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Wb = 1 T·m²</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Buradaki α, alan ile yüzeyin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(yüzeye dik doğrultu) arasındaki açıdır.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durum önemlidir:</a:t>
            </a:r>
            <a:endParaRPr lang="en-US" sz="2200" dirty="0"/>
          </a:p>
        </p:txBody>
      </p:sp>
      <p:sp>
        <p:nvSpPr>
          <p:cNvPr id="7" name="Text 5"/>
          <p:cNvSpPr txBox="1"/>
          <p:nvPr/>
        </p:nvSpPr>
        <p:spPr>
          <a:xfrm>
            <a:off x="640080" y="2866644"/>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 yüzeye dik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 0): akı en büyüktür, Φ = B·A.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 yüzeye 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 90°): 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Akı; B, A ya da α'dan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herhangi biri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değiştiğinde değişir.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1.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Manyetik akı, çerçevenin içinden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kaç alan çizgisinin geçtiğidir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Manyetik akı, bir yüzeyden geçen alan çizgisi miktarıdır: Φ = B·A·cosα, birimi weber. Alan yüzeye dikken akı en büyük, paralelken sıfırdır.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Oersted 1820'de akımın manyetik alan ürettiğini göstermişti.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tersini merak etti: manyetik alan akım üretebilir mi?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Uzun süre sonuç alamadı; bobinin yanında duran mıknatıs, galvanometreyi (küçük akımları ölçen alet) kıpırdatmıyordu.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1831'de sırrı buldu: mıknatıs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 ettiği anda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iğne sapıyor, mıknatıs durunca sıfıra dönüyordu.</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Belirleyici olan değişimdir.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Güçlü ama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sabit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alan hiçbir akım üretmez. Mıknatıs bobinin içinde hareketsiz dururken galvanometre sıfırı gösterir; hareket başladığı anda sapar.</a:t>
            </a:r>
            <a:endParaRPr lang="en-US" sz="1800" dirty="0"/>
          </a:p>
        </p:txBody>
      </p:sp>
      <p:sp>
        <p:nvSpPr>
          <p:cNvPr id="9" name="Text 7"/>
          <p:cNvSpPr txBox="1"/>
          <p:nvPr/>
        </p:nvSpPr>
        <p:spPr>
          <a:xfrm>
            <a:off x="640080" y="285750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 değiştiğinde devrede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elektromotor kuvvet (emk)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doğar; emk, devrede akımı süren gerilimdir ve pilin gerilimi gibi volt ile ölçülür.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elektromanyetik indüksiyon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doğan akıma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indüksiyon akımı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Akıyı değiştirmenin üç yolu vardır:</a:t>
            </a:r>
            <a:endParaRPr lang="en-US" sz="2200" dirty="0"/>
          </a:p>
        </p:txBody>
      </p:sp>
      <p:sp>
        <p:nvSpPr>
          <p:cNvPr id="7" name="Text 5"/>
          <p:cNvSpPr txBox="1"/>
          <p:nvPr/>
        </p:nvSpPr>
        <p:spPr>
          <a:xfrm>
            <a:off x="640080" y="200406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Alanı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mıknatısı yaklaştır ya da uzaklaştır, yakındaki bir bobinin akımını değiştir.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Yüzeyi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devrenin bir kenarını kaydırarak çevrelenen alanı büyüt ya da küçült.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Açıyı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bobini alanın içinde döndür; jeneratörler böyle çalışır.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2.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Akım üreten şey alanın büyüklüğü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akının değişim hızıdır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Mıknatısı ne kadar hızlı hareket ettirirsen ΔΦ/Δt o kadar büyür ve galvanometre iğnesi o kadar çok sapar. Mıknatısı bobinin içinde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durdurursan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alan hâlâ güçlü olmasına rağmen akım tamamen kesilir. Sarım sayısını artırmak da emk'yı aynı oranda büyütür.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deneyindeki hazır düğmelerle üç kuralı kendin sınayabilirsin: “Hızlı geçiş” galvanometreyi “Yavaş geçiş”ten çok saptırır, “Sarım 3 katı” emk'yi büyütür, “Duran mıknatıs” ise hiçbir şey üretmez.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Akı değiştiğinde devrede emk ve indüksiyon akımı doğar; sabit alan ne kadar güçlü olursa olsun akım üretmez. Değişim hızlandıkça ve sarım sayısı arttıkça emk büyür.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İndüksiyon akımı, kendisini doğuran akı değişimine karşı koyacak yönde akar.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kuralı 1834'te Heinrich Lenz ortaya koydu ve kural, enerjinin korunumunun doğrudan bir sonucudur.</a:t>
            </a:r>
            <a:endParaRPr lang="en-US" sz="2200" dirty="0"/>
          </a:p>
        </p:txBody>
      </p:sp>
      <p:sp>
        <p:nvSpPr>
          <p:cNvPr id="7" name="Text 5"/>
          <p:cNvSpPr txBox="1"/>
          <p:nvPr/>
        </p:nvSpPr>
        <p:spPr>
          <a:xfrm>
            <a:off x="640080" y="3252216"/>
            <a:ext cx="10911535" cy="91897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artıyorsa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indüksiyon akımı, artışı azaltacak yönde alan üretir.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azalıyorsa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 azalmayı telafi edecek yönde alan üretir.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mıknatısı bobine yaklaştırırken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uzaklaştırırken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çekme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hissedersin.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Mıknatısı hareket ettirmek için yaptığın iş, devrede üretilen elektrik enerjisine dönüşür.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Bisiklette pedalın ağırlaşması da budur: dinamodaki akım, mıknatısın dönüşünü frenleyen bir etki yaratır.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Lenz olmasaydı ne olurdu?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Akım değişimi desteklerdi; sistem kendi kendini hızlandırır, bedava enerji üretirdi. Faraday yasasında birazdan göreceğin eksi işareti, enerji korunumunun bekçisidir.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3.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Lenz yasası tek cümledir: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indüklenen akım, kendisini doğuran değişime karşı çıkacak yönde akar.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Mıknatıs yaklaşırken bobin ona bakan yüzünü aynı kutup yapar ve iter; uzaklaşırken zıt kutup yapar ve çeker. Yani mıknatısı hareket ettirmek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 yapman gerekir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üretilen elektrik enerjisi tam olarak buradan gelir. Aksi olsaydı hareket kendini besler, enerjinin korunumu çökerdi.</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İndüksiyon akımı, kendisini doğuran değişime karşı koyar: yaklaşan mıknatısı iter, uzaklaşanı çeker. Bu karşı koyma, enerjinin korunumunun gereğidir.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Bobinin uçları birbirine bağlı değilse, mıknatısı yaklaştırırken yine itme hisseder misin?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Lenz yasası: doğa değişime direnir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Bobinin uçları birbirine bağlı değilse, mıknatısı yaklaştırırken yine itme hisseder misin?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Devre açık olduğu için bobinin uçları arasında emk doğar ama akım akamaz. Akım yoksa bobin mıknatıs gibi davranmaz ve mıknatısı itmez. Uçları birleştirdiğin anda akım akar, itme de başlar.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Faraday yasasını kullan, akımın yönünü bul, kayan çubuğun ve dönen çerçevenin emk'sini adım adım çıkar.</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Faraday indüksiyon yasası</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İndüksiyon akımının yönü</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Hareketli iletken çubuk</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emk?</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Jeneratör ve alternatif akım</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Φ = B · A · cosα</a:t>
            </a:r>
            <a:endParaRPr lang="en-US" sz="1500" dirty="0"/>
          </a:p>
        </p:txBody>
      </p:sp>
      <p:sp>
        <p:nvSpPr>
          <p:cNvPr id="14" name="Text 12"/>
          <p:cNvSpPr txBox="1"/>
          <p:nvPr/>
        </p:nvSpPr>
        <p:spPr>
          <a:xfrm>
            <a:off x="8668512" y="148132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ε = −N · ΔΦ / Δt</a:t>
            </a:r>
            <a:endParaRPr lang="en-US" sz="1500" dirty="0"/>
          </a:p>
        </p:txBody>
      </p:sp>
      <p:sp>
        <p:nvSpPr>
          <p:cNvPr id="17" name="Text 15"/>
          <p:cNvSpPr txBox="1"/>
          <p:nvPr/>
        </p:nvSpPr>
        <p:spPr>
          <a:xfrm>
            <a:off x="8668512" y="235000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ε = B · L · v</a:t>
            </a:r>
            <a:endParaRPr lang="en-US" sz="1500" dirty="0"/>
          </a:p>
        </p:txBody>
      </p:sp>
      <p:sp>
        <p:nvSpPr>
          <p:cNvPr id="20" name="Text 18"/>
          <p:cNvSpPr txBox="1"/>
          <p:nvPr/>
        </p:nvSpPr>
        <p:spPr>
          <a:xfrm>
            <a:off x="8311896" y="321868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ε / R</a:t>
            </a:r>
            <a:endParaRPr lang="en-US" sz="1500" dirty="0"/>
          </a:p>
        </p:txBody>
      </p:sp>
      <p:sp>
        <p:nvSpPr>
          <p:cNvPr id="23" name="Text 21"/>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 devreden geçen manyetik akı değiştiğinde devrede bir elektromotor kuvvet (emk) indüklenir.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emk'nin büyüklüğü, akının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değişim hızıyla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orantılıdır:</a:t>
            </a:r>
            <a:endParaRPr lang="en-US" sz="2200" dirty="0"/>
          </a:p>
        </p:txBody>
      </p:sp>
      <p:sp>
        <p:nvSpPr>
          <p:cNvPr id="7" name="Shape 5"/>
          <p:cNvSpPr/>
          <p:nvPr/>
        </p:nvSpPr>
        <p:spPr>
          <a:xfrm>
            <a:off x="640080" y="2866644"/>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 = −N · ΔΦ / Δt</a:t>
            </a:r>
            <a:endParaRPr lang="en-US" sz="1800" dirty="0"/>
          </a:p>
        </p:txBody>
      </p:sp>
      <p:sp>
        <p:nvSpPr>
          <p:cNvPr id="9" name="Shape 7"/>
          <p:cNvSpPr/>
          <p:nvPr/>
        </p:nvSpPr>
        <p:spPr>
          <a:xfrm>
            <a:off x="3558845" y="2866644"/>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2866644"/>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ε / R</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ε</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indüklenen emk, yani devrede akımı süren gerilim (baştaki eksi yalnızca yönü söyler)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bobinin sarım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ΔΦ</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akının değişimi: son akı eksi ilk akı (Φ₂ − Φ₁)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akının değiştiği 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devreden geçen indüksiyon akımı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devrenin direnci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Ω</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 sarım sayısıdır: aynı akı değişimi N kez sayıldığı için emk sarımla doğru orantılı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sarım küçük bir pil gibidir ve sarımlar seri bağlı piller gibi gerilimlerini toplar.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Baştaki eksi işareti yönü anlatır (Lenz yasası).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soruda yasayı beş adımda uygula: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İlk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Φ₁ = B₁·A₁·cosα₁</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Φ₂ = B₂·A₂·cosα₂</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Değişim: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ΔΦ = Φ₂ − Φ₁ (artıyor mu, azalıyor mu?)</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emk: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|ε| = N·|ΔΦ| / Δt; Δt sonlu bir süreyse bu, o süredeki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ortalama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emk'dir.</a:t>
            </a:r>
            <a:endParaRPr lang="en-US" sz="2100" dirty="0"/>
          </a:p>
        </p:txBody>
      </p:sp>
      <p:sp>
        <p:nvSpPr>
          <p:cNvPr id="7" name="Text 5"/>
          <p:cNvSpPr txBox="1"/>
          <p:nvPr/>
        </p:nvSpPr>
        <p:spPr>
          <a:xfrm>
            <a:off x="640080" y="3733038"/>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 = ε / R; yönünü Lenz yasası verir.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Wb/s = T·m²/s. 1 T = 1 N/(A·m) olduğundan T·m²/s = N·m/(A·s) = J/C = V ✓. Akının değişim hızı gerçekten bir gerilimdir.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Mıknatısı bobine ittiğinde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bobinden geçen akı değişir ve bobine bağlı ölçerin iğnesi ortadan bir yana sapar. İğnenin sapması akının değişim hızına bağlıdır: mıknatısı durdurursan akı sabitlenir ve iğne ortaya döner, daha hızlı itersen ΔΦ/Δt büyür ve iğne daha çok sapar. Bobindeki çok sayıda sarım da emk'yi büyütür; ε = −N·ΔΦ/Δt'de her sarım seri bağlı küçük bir pil gibi katkı verir.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İndüklenen emk, akının değişim hızıyla ve sarım sayısıyla orantılıdır: ε = −N·ΔΦ/Δt. Wb/s birimi volta eşittir; emk, Φ–t grafiğinin eğimidir.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Φ–t grafiğinde akının tepe yaptığı anda emk neden sıfırdır?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Faraday indüksiyon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Φ–t grafiğinde akının tepe yaptığı anda emk neden sıfırdır?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Emk, akının değişim hızıdır, yani Φ–t eğrisinin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eğimidir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 noktasında eğri bir an için yatay olur; akı büyük ama o an değişmiyordur. Sayfanın 01 numaralı deneyinde mıknatıs bobinin ortasına geldiğinde ε–t eğrisinin sıfırdan geçmesi bu yüzdendir.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Yönü bulmanın pratik yolu üç adımdır:</a:t>
            </a:r>
            <a:endParaRPr lang="en-US" sz="2200" dirty="0"/>
          </a:p>
        </p:txBody>
      </p:sp>
      <p:sp>
        <p:nvSpPr>
          <p:cNvPr id="7" name="Text 5"/>
          <p:cNvSpPr txBox="1"/>
          <p:nvPr/>
        </p:nvSpPr>
        <p:spPr>
          <a:xfrm>
            <a:off x="640080" y="2004060"/>
            <a:ext cx="10911535" cy="174650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Devreden geçen akının yönünü ve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artıyor mu azalıyor mu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olduğunu belirle.</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Lenz'e göre indüksiyon akımının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hangi yönde alan üretmesi gerektiğini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bul (artışa karşı zıt, azalmaya karşı aynı yönde).</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Sağ el kuralıyla, bu alanı üretecek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akım yönünü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belirle.</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4.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Yönü bulmak için tek bir soru yeter: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 artıyor mu, azalıyor mu?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Artıyorsa indüklenen akım, artışı frenlemek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zıt yönde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alan üretir; azalıyorsa azalmayı yavaşlatmak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yönde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alan üretir. İndüklenen alanın yönünü bulduktan sonra akımın yönünü sağ el kuralıyla okursun.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Bobine hangi kutbun, hangi yönde geldiğine göre dört durum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Hepsinde bobinin mıknatısa bakan yüzü, hareketi zorlaştıracak kutbu 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839244"/>
                <a:gridCol w="1616524"/>
                <a:gridCol w="3030982"/>
                <a:gridCol w="242478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Mıknatıs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Akı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İndüklenen alan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Bobinin yüzü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 kutbu yaklaşıyor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zıt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(iter)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 kutbu uzaklaşıyor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 (çeker)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 kutbu yaklaşıyor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zıt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 (iter)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 kutbu uzaklaşıyor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(çeker)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Yüzün kutbunu bulduktan sonra akım yönü kolaydır: mıknatıstan bakıldığında N gibi davranan yüzde akım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saatin tersi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yönde, S gibi davranan yüzde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saat yönünde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deneyde mıknatıs yaklaşırken akım bir yöne, uzaklaşırken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 yöne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akar; galvanometre iki kez, zıt yönlerde sapar.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Önce akının artıp azaldığına bak: artıyorsa indüklenen alan zıt, azalıyorsa aynı yöndedir. Sonra bu alanı üretecek akım yönünü sağ el kuralıyla bul.</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alan içinde, raylar üzerinde v hızıyla kayan L uzunluğundaki çubuk için akı değişimi ΔΦ = B·L·v·Δt olur ve emk:</a:t>
            </a:r>
            <a:endParaRPr lang="en-US" sz="2200" dirty="0"/>
          </a:p>
        </p:txBody>
      </p:sp>
      <p:sp>
        <p:nvSpPr>
          <p:cNvPr id="7" name="Shape 5"/>
          <p:cNvSpPr/>
          <p:nvPr/>
        </p:nvSpPr>
        <p:spPr>
          <a:xfrm>
            <a:off x="640080" y="2389632"/>
            <a:ext cx="23554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 = B · L · v</a:t>
            </a:r>
            <a:endParaRPr lang="en-US" sz="1800" dirty="0"/>
          </a:p>
        </p:txBody>
      </p:sp>
      <p:sp>
        <p:nvSpPr>
          <p:cNvPr id="9" name="Shape 7"/>
          <p:cNvSpPr/>
          <p:nvPr/>
        </p:nvSpPr>
        <p:spPr>
          <a:xfrm>
            <a:off x="3141878" y="2389632"/>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141878" y="238963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B·L·v / R</a:t>
            </a:r>
            <a:endParaRPr lang="en-US" sz="1800" dirty="0"/>
          </a:p>
        </p:txBody>
      </p:sp>
      <p:sp>
        <p:nvSpPr>
          <p:cNvPr id="11" name="Shape 9"/>
          <p:cNvSpPr/>
          <p:nvPr/>
        </p:nvSpPr>
        <p:spPr>
          <a:xfrm>
            <a:off x="5643677" y="2389632"/>
            <a:ext cx="3467405"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643677" y="2389632"/>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B·I·L = B²L²v / R</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Alan büyür: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Çubuk Δt sürede v·Δt kadar kayar; devrenin çevrelediği yüzey ΔA = L·v·Δt kadar büyür.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 yüzeye dik olduğundan ΔΦ = B·ΔA = B·L·v·Δt.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Faraday: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ε = ΔΦ/Δt = B·L·v; Δt sadeleşir.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İkinci bakış: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Çubuktaki yükler v hızıyla alanda hareket eder; çubuk boyunca q·v·B kuvveti görür ve bir uca itilir. Çubuk bir pil gibi davranır.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harekete zıt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yöndedir: çubuğu sabit hızla sürmek için dışarıdan bir kuvvet uygulanmalıdır.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Harcanan mekanik güç (F·v), devrede açığa çıkan elektriksel güce (I²R) eşittir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enerji korunur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deneyindeki başlangıç değerleriyle (B = 0,5 T, L = 0,5 m, v = 4 m/s, R = 2 Ω): ε = 1 V, I = 0,5 A, F = 0,125 N ve F·v = I²R = 0,5 W.</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5.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Çubuk sağa kaydıkça devrenin çevrelediği alan büyür, akı artar ve devrede akım doğar. Ama bu akım da alanın içindedir: ona etkiyen manyetik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harekete zıt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yöndedir (kırmızı ok). Yani çubuğu sabit hızla sürüklemek için sürekli kuvvet uygulamak gerekir — harcadığın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mekanik güç, direnç üzerinde ısıya dönüşen elektriksel güce eşittir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Alanda kayan çubuk ε = B·L·v emk'si üretir; doğan akım çubuğa harekete zıt F = B²L²v/R kuvveti uygular. Çubuğu itmek için harcanan güç, dirençte ısıya dönüşen güce eşittir.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yasasının verdiği gerilimler durumdan duruma çok değişir.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Tanıdık düzeneklerde ne kadar emk doğduğuna bakalım: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163612"/>
                <a:gridCol w="4881476"/>
                <a:gridCol w="186644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Değerler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emk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Mıknatısı elle bobine sokmak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 sarım, ΔΦ = 3·10⁻⁵ Wb, 0,2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Uçan yolcu uçağının kanatları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40 µT, L = 60 m, v = 250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Sayfadaki 03 çubuğu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0,5 T, L = 0,5 m, v = 4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Sayfadaki 02 jeneratörü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sarım, 0,02 m², 0,5 T, 2 tur/s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12,6 V (tepe)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Aynı jeneratör, 50 tur/s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sarım, 0,02 m², 0,5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314 V (tepe)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 emk'yi alanın büyüklüğünden çok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değişimin hızı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belirler.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jeneratör 25 kat hızlı dönünce 25 kat büyük gerilim üretir; saniyede 50 tur, şebekenin gerilimine yaklaşan bir değer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Elle oynatılan bir mıknatıs ise yalnızca birkaç on milivolt üretir; Faraday'ın hassas bir galvanometreye ihtiyaç duyması bu yüzdendir.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Uçak örneğinde alan, Dünya'nın zayıf alanının düşey bileşenidir; buna rağmen kanatların uzunluğu ve uçağın hızı yarım voltu aşan bir emk doğurur.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Elle oynatılan mıknatıs birkaç on milivolt, sayfadaki çubuk 1 V, saniyede 50 tur atan küçük bir jeneratör yüzlerce volt üretir. Emk'yi belirleyen, değişimin hızıdır.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Düzgün alan içinde sabit hızla dönen bir çerçevede akı sürekli değişir:</a:t>
            </a:r>
            <a:endParaRPr lang="en-US" sz="2200" dirty="0"/>
          </a:p>
        </p:txBody>
      </p:sp>
      <p:sp>
        <p:nvSpPr>
          <p:cNvPr id="7" name="Shape 5"/>
          <p:cNvSpPr/>
          <p:nvPr/>
        </p:nvSpPr>
        <p:spPr>
          <a:xfrm>
            <a:off x="640080" y="2004060"/>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Φ = B·A·cos(ω·t)</a:t>
            </a:r>
            <a:endParaRPr lang="en-US" sz="1800" dirty="0"/>
          </a:p>
        </p:txBody>
      </p:sp>
      <p:sp>
        <p:nvSpPr>
          <p:cNvPr id="9" name="Shape 7"/>
          <p:cNvSpPr/>
          <p:nvPr/>
        </p:nvSpPr>
        <p:spPr>
          <a:xfrm>
            <a:off x="3558845" y="2004060"/>
            <a:ext cx="332841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2004060"/>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 = N·B·A·ω·sin(ω·t)</a:t>
            </a:r>
            <a:endParaRPr lang="en-US" sz="1800" dirty="0"/>
          </a:p>
        </p:txBody>
      </p:sp>
      <p:sp>
        <p:nvSpPr>
          <p:cNvPr id="11" name="Shape 9"/>
          <p:cNvSpPr/>
          <p:nvPr/>
        </p:nvSpPr>
        <p:spPr>
          <a:xfrm>
            <a:off x="7033565" y="2004060"/>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033565" y="200406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ε(maks) = B·A·ω·N</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441146"/>
                <a:gridCol w="8235121"/>
                <a:gridCol w="12352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ω</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açısal hızı: bir saniyede döndüğü açı (ω = 2π·f)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rad/s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bir saniyedeki tur sayısı (frekans)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alana dik durduğu andan beri geçen 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yüzey alanı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ε(maks)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emk'nin tepe değeri: çerçeve alana paralelken görülen en büyük emk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ω, çerçevenin açısal hızıdır (ω = 2π·f).</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Tepe değer, hareketli çubuk bağıntısından adım adım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Çerçevenin eksene paralel iki kenarı a uzunluğunda, eksenden b/2 uzaktadır; ikisi de v = ω·b/2 hızıyla döner.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Çerçeve alana paralelken bu kenarlar alana dik hareket eder; her biri ε = B·a·v emk'si üretir.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İki kenar seri bağlıdır: ε = 2·B·a·ω·b/2 = B·A·ω (A = a·b). N sarımda N·B·A·ω.</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Başka konumlarda hızın yalnızca alana dik bileşeni sayılır; bu da sin(ω·t) çarpanını getirir.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Üretilen emk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sinüs biçiminde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değişir ve yön değiştirir: 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alternatif akım (AC)</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Çerçeve alana dik olduğunda akı en büyüktür ama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değişim hızı sıfırdır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dolayısıyla emk sıfırdır; çerçeve alana paralel olduğunda ise akı sıfır, emk en büyüktür.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1948952" y="1234440"/>
            <a:ext cx="829379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6.png">    </p:cNvPr>
          <p:cNvPicPr>
            <a:picLocks noChangeAspect="1"/>
          </p:cNvPicPr>
          <p:nvPr/>
        </p:nvPicPr>
        <p:blipFill>
          <a:blip r:embed="rId1"/>
          <a:stretch>
            <a:fillRect/>
          </a:stretch>
        </p:blipFill>
        <p:spPr>
          <a:xfrm>
            <a:off x="2177552" y="1325880"/>
            <a:ext cx="783659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Çerçeve döndükçe içinden geçen akı kosinüs gibi salınır. Emk ise akının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değişim hızıyla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orantılı olduğu için sinüs olur — yani ikisi arasında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çeyrek periyot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fark vardır. Akının en büyük olduğu anda emk sıfırdır (o an akı değişmiyordur); akının sıfır olduğu anda ise emk en büyüktür. Şehir şebekesindeki alternatif akım tam olarak bu eğridir.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Türkiye'de şebeke: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230 V, 50 Hz. Yani iki kutuplu bir jeneratörün çerçevesi saniyede 50 tam tur atar ve gerilim saniyede 50 kez tam çevrim yapar. 230 V, gerilimin etkin değeridir; tepe değeri 230·√2 ≈ 325 V'tur.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Dönen çerçevede akı kosinüs, emk sinüs gibi değişir ve tepe emk N·B·A·ω'dır. Akı en büyükken emk sıfır, akı sıfırken emk en büyüktür; sonuç alternatif akımdır.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akım bir telde değil de bütün bir metal parçada dolaşınca, devre açıkken ya da motor dönerken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Girdap akımları: bakır boru deneyi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İnce durumlar: açık devre, karşı emk, öz-indüksiyon</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İndüksiyon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induksiyon-akim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İndüksiyonlu ocakta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 yalnızca bobinler için geçerli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bir alanın içindeki her iletken parçada, metalin içinde kapalı halkalar çizen akımlar doğar: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girdap akımları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Lenz yasası gereği bu akımlar da değişime karşı koyar ve hareketi frenler.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deneyinde aynı mıknatıs 1,2 m'lik iki borudan bırakılıyor.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Plastik boruda serbest düşerek yaklaşık 0,49 saniyede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Bakır boruda ise mıknatısın altındaki bölgede akı artar, üstündeki bölgede azalır; boru çeperinde doğan girdap akımları mıknatısı yukarı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Mıknatıs neredeyse hemen sabit ve küçük bir hıza ulaşır ve boruyu yaklaşık 5,5 saniyede, on kattan da yavaş geçer.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Kaybolan potansiyel enerji boruda ısıya dönüşür.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2158870" y="1234440"/>
            <a:ext cx="787395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07.png">    </p:cNvPr>
          <p:cNvPicPr>
            <a:picLocks noChangeAspect="1"/>
          </p:cNvPicPr>
          <p:nvPr/>
        </p:nvPicPr>
        <p:blipFill>
          <a:blip r:embed="rId1"/>
          <a:stretch>
            <a:fillRect/>
          </a:stretch>
        </p:blipFill>
        <p:spPr>
          <a:xfrm>
            <a:off x="2387470" y="1325880"/>
            <a:ext cx="741675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Bakır mıknatıslanmaz —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iletkendir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Mıknatıs boruya girerken boru duvarında halka halka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girdap akımları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doğar ve Lenz yasası gereği bu akımlar mıknatısı frenler. Sonuç şaşırtıcı: aynı mıknatıs plastik boruda yarım saniyede düşerken bakır boruda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uzun sürede iner. Hiçbir temas, hiçbir sürtünme olmadan frenleme — aynı ilke ağır vasıtaların girdap akımı frenlerinde kullanılır.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Girdap akımı freni: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Lenz kuvvetiyle temassız frenleme; ağır vasıtalarda ve trenlerde balatayı aşındırmadan yavaşlatır.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Metal dedektörü: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değişen alan metalde girdap akımları doğurur; bu akımların alanı dedektörün bobinince algılanır.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İnce levhalı çekirdek: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transformatör çekirdekleri yalıtılmış ince levhalardan yapılır; girdap akımlarının yolu kesilir, ısı kaybı azalır.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Değişen alanın içindeki iletkenlerde girdap akımları doğar ve Lenz yasası gereği hareketi frenler. Bakır boruda mıknatıs, plastik borudakinden on kattan fazla uzun sürede düşer.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Bakır boruyu boylamasına kesip ince bir yarık açarsan mıknatıs daha hızlı mı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Girdap akımları: bakır boru deneyi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Bakır boruyu boylamasına kesip ince bir yarık açarsan mıknatıs daha hızlı mı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yasasını doğru kullanmak için dört ince noktayı bilmek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 aynı ilkeye dayanır, ama ilk bakışta şaşırtır: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Açık devre: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emk doğar ama akım akmaz. Uçağın kanat uçları arasında 0,6 V vardır, ama uçakla birlikte hareket eden bir devrenin akısı değişmediği için akım dolaşmaz.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Karşı emk: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dönen her motor aynı zamanda bir jeneratördür ve beslemeye karşı bir emk üretir. Motorun çektiği akım bu yüzden dönerken azalır.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Öz-indüksiyon: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bobinin kendi akımı değişince kendi akısı da değişir; bobin bu değişime direnir. Anahtar açılınca kıvılcım çıkması bundandır.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Doğru 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sabit akım sabit akı demektir; transformatör yalnızca akım açılıp kapanırken, yani akı değişirken emk üretir.</a:t>
            </a:r>
            <a:endParaRPr lang="en-US" sz="2100" dirty="0"/>
          </a:p>
        </p:txBody>
      </p:sp>
      <p:sp>
        <p:nvSpPr>
          <p:cNvPr id="7" name="Shape 5"/>
          <p:cNvSpPr/>
          <p:nvPr/>
        </p:nvSpPr>
        <p:spPr>
          <a:xfrm>
            <a:off x="640080" y="2354580"/>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54580"/>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(V − εkarşı) / 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Karşı emk'nin etkisini sayılarla görelim: 12 V'luk bir motorun sargı direnci 1 Ω olsun.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Motor ilk çalıştığı an henüz dönmediği için karşı emk sıfırdır ve akım 12 A'dir.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Motor hızlanıp 10 V'luk karşı emk ürettiğinde akım (12 − 10)/1 = 2 A'e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Arabaların çalıştırma anında farların bir an sönükleşmesi, bu büyük ilk akım yüzündendir.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İndüksiyon arabaların ateşleme bobininde de işe koşulur: birincil bobindeki akım aniden kesilince hızla çöken manyetik alan, çok sarımlı ikincil bobinde on binlerce voltluk bir emk doğurur ve bujide kıvılcım çakar.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induksiyon-akim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Anahtar açılırken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bakır dil ile kontak arasında mavimsi beyaz bir kıvılcım çakıyor. Devre açıldığı anda bobinden geçen akım birden kesilir ve bobinin kendi akısı hızla çöker; bobin bu değişime karşı koyan büyük bir emk üretir ve akım bir anlığına aradaki havadan atlar. Bobinin kendi akımındaki değişime böyle direnmesine öz-indüksiyon denir.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Açık devrede emk vardır ama akım yoktur. Dönen motor karşı emk üretir ve akımını azaltır; bobin kendi akımındaki değişime de direnir (öz-indüksiyon).</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elektrik motorunun mili sıkışıp dönemezse motor neden ısınıp yanabilir?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İnce durumlar: açık devre, karşı emk, öz-indüksiyon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elektrik motorunun mili sıkışıp dönemezse motor neden ısınıp yanabilir?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Evine gelen elektrikten cebindeki temassız karta kadar indüksiyon her yerde çalışıyor.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Ortak nokta hep aynı: bir yerde akı değiştirilir, başka bir yerde akım doğar.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Santral jeneratörü: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kutuplu bir jeneratör 50 Hz üretmek için dakikada 3000 tur atar; barajlardaki çok kutuplu jeneratörler daha yavaş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Rüzgâr türbini: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büyük kanatlar dakikada yalnızca 10–20 tur atar; dişli kutuları ya da elektronik dönüştürücüler bunu şebekeye uydurur.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İndüksiyonlu ocak: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bobinin akımı saniyede on binlerce kez yön değiştirir; ısı doğrudan tencerenin demir içeren tabanında doğar.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Bisiklet dinamosu: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tipik bir dinamo yaklaşık 6 V ve 3 W verir; bu, bir bisiklet farını yakmaya yeter.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Temassız kart: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okuyucunun 13,56 MHz'lik alanı karttaki anten bobininde akım doğurur; kartın pili yoktur.</a:t>
            </a:r>
            <a:endParaRPr lang="en-US" sz="21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40080" y="2354580"/>
          <a:ext cx="10911535" cy="914400"/>
        </p:xfrm>
        <a:graphic>
          <a:graphicData uri="http://schemas.openxmlformats.org/drawingml/2006/table">
            <a:tbl>
              <a:tblPr/>
              <a:tblGrid>
                <a:gridCol w="3386339"/>
                <a:gridCol w="752519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Uygulama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Nasıl çalışır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Jeneratör / dinamo</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Dönen çerçevede akı değişimi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Transformatör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Değişen akımın ikinci bobinde akı değişimi yaratması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Kablosuz şarj</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Bobinden bobine akı aktarımı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Metal dedektör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Metalde doğan girdap akımlarının alanı bozması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İndüksiyonlu ocak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Tencere tabanında doğan girdap akımlarının ısıtması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Santraller, rüzgâr türbinleri, dinamolar, indüksiyonlu ocaklar, transformatörler ve temassız kartlar aynı ilkeyle çalışır: bir yerde akı değiştirilir, başka bir yerde akım doğar.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Akının açıya bağlılığı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Akı değişiminden emk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Lenz yasasıyla yön</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Hareketli çubuk</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Jeneratörün tepe emk'si</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Sabit kuvvetle çekilen çubuk</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Alanı 0,2 m² olan bir çerçeve, 0,4 T'lık düzgün alan içinde duruyor. Çerçevenin normali alanla (a) 0°, (b) 60°, (c) 90° açı yaptığında akı kaç Wb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 0,2 m²</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 0,4 T</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normal ile alan arasındaki açı: (a) α = 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α = 60°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 α = 90°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cos0° = 1, cos60° = 0,5, cos90° = 0</a:t>
            </a:r>
            <a:endParaRPr lang="en-US" sz="16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üç durumda çerçeveden geçen akı Φ</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Φ = B·A·cos0° = 0,4 · 0,2 · 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0,08 Wb</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Φ = 0,08 · cos60° = 0,08 · 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0,04 Wb</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Φ = 0,08 · cos90°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(alan yüzeye paralel)</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Çerçeve döndükçe akı bu değerler arasında salınır; jeneratörün temeli budur.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200 sarımlı bir bobinden geçen manyetik akı 0,1 saniyede 4·10⁻³ Wb'den 1·10⁻³ Wb'e düşüyor. İndüklenen emk'nin büyüklüğü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200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ilk akı Φ₁ = 4·10⁻³ Wb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akı Φ₂ = 1·10⁻³ Wb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Δt = 0,1 s</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indüklenen emk'nin büyüklüğü |ε|</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ΔΦ = 1·10⁻³ − 4·10⁻³ = −3·10⁻³ Wb</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N·|ΔΦ|/Δt = 200 · 3·10⁻³ / 0,1</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200 · 0,03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 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Akı azaldığı için indüksiyon akımı, akıyı sürdürecek yönde akar (Lenz).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mıknatısın </a:t>
            </a:r>
            <a:pPr indent="0" marL="0">
              <a:lnSpc>
                <a:spcPct val="118000"/>
              </a:lnSpc>
              <a:buNone/>
            </a:pPr>
            <a:r>
              <a:rPr lang="en-US" sz="2000" b="1" dirty="0">
                <a:solidFill>
                  <a:srgbClr val="0E1426"/>
                </a:solidFill>
                <a:latin typeface="Calibri" pitchFamily="34" charset="0"/>
                <a:ea typeface="Calibri" pitchFamily="34" charset="-122"/>
                <a:cs typeface="Calibri" pitchFamily="34" charset="-120"/>
              </a:rPr>
              <a:t>N kutbu</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bobine yaklaştırılıyor. Bobinin mıknatısa bakan yüzü hangi kutup gibi davranır ve neden?</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mıknatısın bobine bakan ucu N kutbu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mıknatıs bobine yaklaşıyor</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bobinin mıknatısa bakan yüzünün hangi kutup gibi davrandığı ve nedeni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kutbu yaklaştıkça bobinden geçen akı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artar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Lenz yasası: indüksiyon akımı bu artışa karşı koyar, yani mıknatısı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iter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İtebilmesi için bobinin o yüzü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 kutbu</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gibi davranmalıdır.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Mıknatıs uzaklaştırılsaydı akı azalırdı; bu kez bobin onu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çekmek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için S kutbu gibi davranırdı.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0,5 T'lık alanda, 40 cm uzunluğundaki çubuk raylar üzerinde 5 m/s hızla kayıyor. Devrenin direnci 2 Ω'dur. emk, akım ve çubuğa etki eden karşı kuvveti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 0,5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40 cm = 0,4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5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 Ω</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emk ε</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akım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çubuğa etki eden karşı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B·L·v = 0,5 · 0,4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 = ε/R = 1/2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0,5 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B·I·L = 0,5 · 0,5 · 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0,1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(harekete zıt)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mekanik güç F·v = 0,5 W; elektriksel güç I²R = 0,25·2 = 0,5 W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100 sarımlı, 0,02 m² alanlı bir çerçeve 0,5 T'lık düzgün alanda dönüyor. (a) Saniyede 2 tur atarken, (b) saniyede 50 tur atarken tepe emk nedir? (c) 50 tur/s'de tepe emk'nin şebekenin 325 V'luk tepe değerine ulaşması için en az kaç sarım gerekir? (π ≈ 3,14)</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N = 100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 0,02 m²</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 0,5 T</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f = 2 tur/s</a:t>
            </a:r>
            <a:endParaRPr lang="en-US" sz="160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f = 50 tur/s</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 hedef tepe emk = 325 V</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π ≈ 3,14</a:t>
            </a:r>
            <a:endParaRPr lang="en-US" sz="160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saniyede 2 tur atarken tepe emk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saniyede 50 tur atarken tepe emk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50 tur/s'de 325 V için gereken en az sarım sayısı N</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ω = 2π·f = 2 · 3,14 · 2 ≈ 12,6 rad/s → ε</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maks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N·B·A·ω = 100 · 0,5 · 0,02 · 12,6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12,6 V</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ω = 2 · 3,14 · 50 = 314 rad/s → ε</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maks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100 · 0,5 · 0,02 · 314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314 V</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Bir sarımın payı 0,5 · 0,02 · 314 = 3,14 V; N = 325 / 3,14 ≈ 103,5 → en az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104 sarım</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Çerçeve alana dik konumdan geçtiği her an emk sıfırdır; tepe değer, çerçeve alana paralelken görülür.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0,5 T'lık alanda raylar üzerindeki 0,5 m'lik çubuk, 0,5 N'luk sabit bir kuvvetle çekiliyor. Devrenin direnci 2 Ω'dur; sürtünme yoktur. Çubuğun ulaşacağı en büyük hızı, bu hızdaki emk'yi, akımı ve dirençteki gücü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 0,5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0,5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sabit çekme kuvveti F = 0,5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sürtünme yok</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en büyük hız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bu hızdaki emk ε</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akım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dirençteki güç P</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Çubuk hızlandıkça karşı kuvvet B²L²v/R büyür; çekme kuvvetine eşitlendiğinde ivme biter.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B²L²v/R → v = F·R/(B²L²) = 0,5 · 2 / (0,25 · 0,25)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 m/s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B·L·v = 0,5 · 0,5 · 16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V</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 = ε/R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 = I²R = 4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 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Kontrol: F·v = 0,5 · 16 = 8 W ✓</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Bu durum, havada düşen cismin limit hıza ulaşmasına benzer: sürükleyen kuvvet sabit, frenleyen kuvvet hızla büyür ve ikisi eşitlenince hız sabitlenir.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0,5 T'lık düzgün alan, 0,04 m²'lik bir çerçevenin yüzeyine dik geçiyor. Çerçeveden geçen akı kaç Wb'dir?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0,5 T'lık düzgün alan, 0,04 m²'lik bir çerçevenin yüzeyine dik geçiyor. Çerçeveden geçen akı kaç Wb'dir?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Alan yüzeye dik olduğu için α = 0° ve cos0° = 1: Φ = B · A = 0,5 · 0,04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0,02 Wb</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sarımlı bir bobinden geçen akı 0,5 saniyede 0,02 Wb artıyor. Bobinde indüklenen emk kaç volttur?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sarımlı bir bobinden geçen akı 0,5 saniyede 0,02 Wb artıyor. Bobinde indüklenen emk kaç volttur?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|ε| = N · ΔΦ / Δt = 100 · 0,02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0,4 T'lık alanda raylar üzerindeki 50 cm'lik çubuk 10 m/s hızla kayıyor. Devrenin direnci 4 Ω ise emk ve akım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0,4 T'lık alanda raylar üzerindeki 50 cm'lik çubuk 10 m/s hızla kayıyor. Devrenin direnci 4 Ω ise emk ve akım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 = 0,5 m. ε = B · L · v = 0,4 · 0,5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ε / R = 2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200 sarımlı, 0,05 m² yüzeyli bir bobinin yüzeyine dik alan 0,1 s'de 0,2 T'dan 0,6 T'ya çıkıyor. Emk kaç V olur? Devrenin direnci 10 Ω ise akım kaç A'dir?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200 sarımlı, 0,05 m² yüzeyli bir bobinin yüzeyine dik alan 0,1 s'de 0,2 T'dan 0,6 T'ya çıkıyor. Emk kaç V olur? Devrenin direnci 10 Ω ise akım kaç A'dir?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ΔΦ = ΔB · A = (0,6 − 0,2) · 0,05 = 0,02 Wb. |ε| = N · ΔΦ / Δt = 200 · 0,02 / 0,1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ε / R = 40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sarımlı, 0,01 m²'lik bir çerçeve 0,2 T'lık düzgün alanda dönüyor. Tepe emk'nin 31,4 V olması için çerçeve saniyede kaç tur atmalıdır?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sarımlı, 0,01 m²'lik bir çerçeve 0,2 T'lık düzgün alanda dönüyor. Tepe emk'nin 31,4 V olması için çerçeve saniyede kaç tur atmalıdır?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ε(maks) = N · B · A · ω → 31,4 = 100 · 0,2 · 0,01 · ω = 0,2 · ω → ω = 157 rad/s. ω = 2π · f olduğundan f = 157 / (2 · 3,14)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25 tur/s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“Manyetik alan varsa akım vardır.”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Akım için alanın değil,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akının değişmesi</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gerekir.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“Güçlü mıknatıs her zaman daha çok akım üretir.”</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Belirleyici olan ΔΦ/Δt'dir; yavaş oynatılan güçlü mıknatıs, hızlı oynatılan zayıf mıknatıstan daha az emk üretebilir.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Lenz'in eksi işaretini büyüklük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Eksi işareti yalnızca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anlatır.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“İndüksiyon akımı hareketi destekler.”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Daima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karşı koyar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aksi hâlde enerji korunumu bozulurdu.</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Akıyı alanla karıştırmak.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Φ = B·A·cosα; alan aynı kalsa bile yüzey ya da açı değişirse akı değişir.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“ε = B·L·v her durumda geçerlidir.”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Bu bağıntı, çubuğun alana ve kendine dik hareket ettiği özel durum içindir.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Jeneratörde emk ile akıyı aynı anda en büyük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Φ en büyükken ε sıfır, Φ sıfırken ε en büyüktür.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“Devre açıksa emk de yoktur.”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Açık devrede de emk doğar; yalnızca akım akmaz. Uçları bir voltmetreye bağlarsan gerilimi ölçersin.</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Φ = B·A·cosα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Faraday </a:t>
            </a:r>
            <a:pPr indent="0" marL="0">
              <a:buNone/>
            </a:pPr>
            <a:r>
              <a:rPr lang="en-US" sz="1500" b="1" dirty="0">
                <a:solidFill>
                  <a:srgbClr val="FFFFFF"/>
                </a:solidFill>
                <a:latin typeface="Calibri" pitchFamily="34" charset="0"/>
                <a:ea typeface="Calibri" pitchFamily="34" charset="-122"/>
                <a:cs typeface="Calibri" pitchFamily="34" charset="-120"/>
              </a:rPr>
              <a:t>ε = −N·ΔΦ/Δt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Lenz </a:t>
            </a:r>
            <a:pPr indent="0" marL="0">
              <a:buNone/>
            </a:pPr>
            <a:r>
              <a:rPr lang="en-US" sz="1500" b="1" dirty="0">
                <a:solidFill>
                  <a:srgbClr val="FFFFFF"/>
                </a:solidFill>
                <a:latin typeface="Calibri" pitchFamily="34" charset="0"/>
                <a:ea typeface="Calibri" pitchFamily="34" charset="-122"/>
                <a:cs typeface="Calibri" pitchFamily="34" charset="-120"/>
              </a:rPr>
              <a:t>değişime karşı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Çubuk </a:t>
            </a:r>
            <a:pPr indent="0" marL="0">
              <a:buNone/>
            </a:pPr>
            <a:r>
              <a:rPr lang="en-US" sz="1500" b="1" dirty="0">
                <a:solidFill>
                  <a:srgbClr val="FFFFFF"/>
                </a:solidFill>
                <a:latin typeface="Calibri" pitchFamily="34" charset="0"/>
                <a:ea typeface="Calibri" pitchFamily="34" charset="-122"/>
                <a:cs typeface="Calibri" pitchFamily="34" charset="-120"/>
              </a:rPr>
              <a:t>ε = B·L·v</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B · A · cosα</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−N · ΔΦ / Δt</a:t>
            </a:r>
            <a:endParaRPr lang="en-US" sz="1350" dirty="0"/>
          </a:p>
        </p:txBody>
      </p:sp>
      <p:sp>
        <p:nvSpPr>
          <p:cNvPr id="19" name="Text 17"/>
          <p:cNvSpPr txBox="1"/>
          <p:nvPr/>
        </p:nvSpPr>
        <p:spPr>
          <a:xfrm>
            <a:off x="8677656" y="321868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B · L · v</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ε / R</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dersler.perinet.org/induksiyon-akimi.html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Transformatörler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116</Slides>
  <Notes>116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İndüksiyon akımı — Dersler</dc:title>
  <dc:subject>Fizik · Elektrik ve Manyetizma</dc:subject>
  <dc:creator>Dersler</dc:creator>
  <cp:lastModifiedBy>Dersler</cp:lastModifiedBy>
  <cp:revision>1</cp:revision>
  <dcterms:created xsi:type="dcterms:W3CDTF">2026-09-30T08:42:34Z</dcterms:created>
  <dcterms:modified xsi:type="dcterms:W3CDTF">2026-09-30T08:42:34Z</dcterms:modified>
</cp:coreProperties>
</file>