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Akı – zaman: eğim emk'yi verir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Φ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Sheet1!$A$2:$A$62</c:f>
              <c:numCache>
                <c:formatCode>General</c:formatCode>
                <c:ptCount val="6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4.1</c:v>
                </c:pt>
                <c:pt idx="42">
                  <c:v>4.2</c:v>
                </c:pt>
                <c:pt idx="43">
                  <c:v>4.3</c:v>
                </c:pt>
                <c:pt idx="44">
                  <c:v>4.4</c:v>
                </c:pt>
                <c:pt idx="45">
                  <c:v>4.5</c:v>
                </c:pt>
                <c:pt idx="46">
                  <c:v>4.6</c:v>
                </c:pt>
                <c:pt idx="47">
                  <c:v>4.7</c:v>
                </c:pt>
                <c:pt idx="48">
                  <c:v>4.8</c:v>
                </c:pt>
                <c:pt idx="49">
                  <c:v>4.9</c:v>
                </c:pt>
                <c:pt idx="50">
                  <c:v>5</c:v>
                </c:pt>
                <c:pt idx="51">
                  <c:v>5.1</c:v>
                </c:pt>
                <c:pt idx="52">
                  <c:v>5.2</c:v>
                </c:pt>
                <c:pt idx="53">
                  <c:v>5.3</c:v>
                </c:pt>
                <c:pt idx="54">
                  <c:v>5.4</c:v>
                </c:pt>
                <c:pt idx="55">
                  <c:v>5.5</c:v>
                </c:pt>
                <c:pt idx="56">
                  <c:v>5.6</c:v>
                </c:pt>
                <c:pt idx="57">
                  <c:v>5.7</c:v>
                </c:pt>
                <c:pt idx="58">
                  <c:v>5.8</c:v>
                </c:pt>
                <c:pt idx="59">
                  <c:v>5.9</c:v>
                </c:pt>
                <c:pt idx="60">
                  <c:v>6</c:v>
                </c:pt>
              </c:numCache>
            </c:numRef>
          </c:xVal>
          <c:yVal>
            <c:numRef>
              <c:f>Sheet1!$B$2:$B$62</c:f>
              <c:numCache>
                <c:formatCode>General</c:formatCode>
                <c:ptCount val="61"/>
                <c:pt idx="0">
                  <c:v>0</c:v>
                </c:pt>
                <c:pt idx="1">
                  <c:v>0.15</c:v>
                </c:pt>
                <c:pt idx="2">
                  <c:v>0.3</c:v>
                </c:pt>
                <c:pt idx="3">
                  <c:v>0.45</c:v>
                </c:pt>
                <c:pt idx="4">
                  <c:v>0.6</c:v>
                </c:pt>
                <c:pt idx="5">
                  <c:v>0.75</c:v>
                </c:pt>
                <c:pt idx="6">
                  <c:v>0.9</c:v>
                </c:pt>
                <c:pt idx="7">
                  <c:v>1.05</c:v>
                </c:pt>
                <c:pt idx="8">
                  <c:v>1.2</c:v>
                </c:pt>
                <c:pt idx="9">
                  <c:v>1.35</c:v>
                </c:pt>
                <c:pt idx="10">
                  <c:v>1.5</c:v>
                </c:pt>
                <c:pt idx="11">
                  <c:v>1.65</c:v>
                </c:pt>
                <c:pt idx="12">
                  <c:v>1.8</c:v>
                </c:pt>
                <c:pt idx="13">
                  <c:v>1.95</c:v>
                </c:pt>
                <c:pt idx="14">
                  <c:v>2.1</c:v>
                </c:pt>
                <c:pt idx="15">
                  <c:v>2.25</c:v>
                </c:pt>
                <c:pt idx="16">
                  <c:v>2.4</c:v>
                </c:pt>
                <c:pt idx="17">
                  <c:v>2.55</c:v>
                </c:pt>
                <c:pt idx="18">
                  <c:v>2.7</c:v>
                </c:pt>
                <c:pt idx="19">
                  <c:v>2.85</c:v>
                </c:pt>
                <c:pt idx="20">
                  <c:v>3</c:v>
                </c:pt>
                <c:pt idx="21">
                  <c:v>3</c:v>
                </c:pt>
                <c:pt idx="22">
                  <c:v>3</c:v>
                </c:pt>
                <c:pt idx="23">
                  <c:v>3</c:v>
                </c:pt>
                <c:pt idx="24">
                  <c:v>3</c:v>
                </c:pt>
                <c:pt idx="25">
                  <c:v>3</c:v>
                </c:pt>
                <c:pt idx="26">
                  <c:v>3</c:v>
                </c:pt>
                <c:pt idx="27">
                  <c:v>3</c:v>
                </c:pt>
                <c:pt idx="28">
                  <c:v>3</c:v>
                </c:pt>
                <c:pt idx="29">
                  <c:v>3</c:v>
                </c:pt>
                <c:pt idx="30">
                  <c:v>3</c:v>
                </c:pt>
                <c:pt idx="31">
                  <c:v>3</c:v>
                </c:pt>
                <c:pt idx="32">
                  <c:v>3</c:v>
                </c:pt>
                <c:pt idx="33">
                  <c:v>3</c:v>
                </c:pt>
                <c:pt idx="34">
                  <c:v>3</c:v>
                </c:pt>
                <c:pt idx="35">
                  <c:v>3</c:v>
                </c:pt>
                <c:pt idx="36">
                  <c:v>3</c:v>
                </c:pt>
                <c:pt idx="37">
                  <c:v>3</c:v>
                </c:pt>
                <c:pt idx="38">
                  <c:v>3</c:v>
                </c:pt>
                <c:pt idx="39">
                  <c:v>3</c:v>
                </c:pt>
                <c:pt idx="40">
                  <c:v>3</c:v>
                </c:pt>
                <c:pt idx="41">
                  <c:v>2.85</c:v>
                </c:pt>
                <c:pt idx="42">
                  <c:v>2.7</c:v>
                </c:pt>
                <c:pt idx="43">
                  <c:v>2.55</c:v>
                </c:pt>
                <c:pt idx="44">
                  <c:v>2.4</c:v>
                </c:pt>
                <c:pt idx="45">
                  <c:v>2.25</c:v>
                </c:pt>
                <c:pt idx="46">
                  <c:v>2.1</c:v>
                </c:pt>
                <c:pt idx="47">
                  <c:v>1.95</c:v>
                </c:pt>
                <c:pt idx="48">
                  <c:v>1.8</c:v>
                </c:pt>
                <c:pt idx="49">
                  <c:v>1.65</c:v>
                </c:pt>
                <c:pt idx="50">
                  <c:v>1.5</c:v>
                </c:pt>
                <c:pt idx="51">
                  <c:v>1.35</c:v>
                </c:pt>
                <c:pt idx="52">
                  <c:v>1.2</c:v>
                </c:pt>
                <c:pt idx="53">
                  <c:v>1.05</c:v>
                </c:pt>
                <c:pt idx="54">
                  <c:v>0.9</c:v>
                </c:pt>
                <c:pt idx="55">
                  <c:v>0.75</c:v>
                </c:pt>
                <c:pt idx="56">
                  <c:v>0.6</c:v>
                </c:pt>
                <c:pt idx="57">
                  <c:v>0.45</c:v>
                </c:pt>
                <c:pt idx="58">
                  <c:v>0.3</c:v>
                </c:pt>
                <c:pt idx="59">
                  <c:v>0.15</c:v>
                </c:pt>
                <c:pt idx="60">
                  <c:v>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Φ (mWb)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Akı ve emk çeyrek periyot faz farklıdır (bağıl değerler)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akı Φ (bağıl)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Sheet1!$A$2:$A$74</c:f>
              <c:numCache>
                <c:formatCode>General</c:formatCode>
                <c:ptCount val="73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</c:numCache>
            </c:numRef>
          </c:xVal>
          <c:yVal>
            <c:numRef>
              <c:f>Sheet1!$B$2:$B$74</c:f>
              <c:numCache>
                <c:formatCode>General</c:formatCode>
                <c:ptCount val="73"/>
                <c:pt idx="0">
                  <c:v>1</c:v>
                </c:pt>
                <c:pt idx="1">
                  <c:v>0.996</c:v>
                </c:pt>
                <c:pt idx="2">
                  <c:v>0.985</c:v>
                </c:pt>
                <c:pt idx="3">
                  <c:v>0.966</c:v>
                </c:pt>
                <c:pt idx="4">
                  <c:v>0.94</c:v>
                </c:pt>
                <c:pt idx="5">
                  <c:v>0.906</c:v>
                </c:pt>
                <c:pt idx="6">
                  <c:v>0.866</c:v>
                </c:pt>
                <c:pt idx="7">
                  <c:v>0.819</c:v>
                </c:pt>
                <c:pt idx="8">
                  <c:v>0.766</c:v>
                </c:pt>
                <c:pt idx="9">
                  <c:v>0.707</c:v>
                </c:pt>
                <c:pt idx="10">
                  <c:v>0.643</c:v>
                </c:pt>
                <c:pt idx="11">
                  <c:v>0.574</c:v>
                </c:pt>
                <c:pt idx="12">
                  <c:v>0.5</c:v>
                </c:pt>
                <c:pt idx="13">
                  <c:v>0.423</c:v>
                </c:pt>
                <c:pt idx="14">
                  <c:v>0.342</c:v>
                </c:pt>
                <c:pt idx="15">
                  <c:v>0.259</c:v>
                </c:pt>
                <c:pt idx="16">
                  <c:v>0.174</c:v>
                </c:pt>
                <c:pt idx="17">
                  <c:v>0.087</c:v>
                </c:pt>
                <c:pt idx="18">
                  <c:v>0</c:v>
                </c:pt>
                <c:pt idx="19">
                  <c:v>-0.087</c:v>
                </c:pt>
                <c:pt idx="20">
                  <c:v>-0.174</c:v>
                </c:pt>
                <c:pt idx="21">
                  <c:v>-0.259</c:v>
                </c:pt>
                <c:pt idx="22">
                  <c:v>-0.342</c:v>
                </c:pt>
                <c:pt idx="23">
                  <c:v>-0.423</c:v>
                </c:pt>
                <c:pt idx="24">
                  <c:v>-0.5</c:v>
                </c:pt>
                <c:pt idx="25">
                  <c:v>-0.574</c:v>
                </c:pt>
                <c:pt idx="26">
                  <c:v>-0.643</c:v>
                </c:pt>
                <c:pt idx="27">
                  <c:v>-0.707</c:v>
                </c:pt>
                <c:pt idx="28">
                  <c:v>-0.766</c:v>
                </c:pt>
                <c:pt idx="29">
                  <c:v>-0.819</c:v>
                </c:pt>
                <c:pt idx="30">
                  <c:v>-0.866</c:v>
                </c:pt>
                <c:pt idx="31">
                  <c:v>-0.906</c:v>
                </c:pt>
                <c:pt idx="32">
                  <c:v>-0.94</c:v>
                </c:pt>
                <c:pt idx="33">
                  <c:v>-0.966</c:v>
                </c:pt>
                <c:pt idx="34">
                  <c:v>-0.985</c:v>
                </c:pt>
                <c:pt idx="35">
                  <c:v>-0.996</c:v>
                </c:pt>
                <c:pt idx="36">
                  <c:v>-1</c:v>
                </c:pt>
                <c:pt idx="37">
                  <c:v>-0.996</c:v>
                </c:pt>
                <c:pt idx="38">
                  <c:v>-0.985</c:v>
                </c:pt>
                <c:pt idx="39">
                  <c:v>-0.966</c:v>
                </c:pt>
                <c:pt idx="40">
                  <c:v>-0.94</c:v>
                </c:pt>
                <c:pt idx="41">
                  <c:v>-0.906</c:v>
                </c:pt>
                <c:pt idx="42">
                  <c:v>-0.866</c:v>
                </c:pt>
                <c:pt idx="43">
                  <c:v>-0.819</c:v>
                </c:pt>
                <c:pt idx="44">
                  <c:v>-0.766</c:v>
                </c:pt>
                <c:pt idx="45">
                  <c:v>-0.707</c:v>
                </c:pt>
                <c:pt idx="46">
                  <c:v>-0.643</c:v>
                </c:pt>
                <c:pt idx="47">
                  <c:v>-0.574</c:v>
                </c:pt>
                <c:pt idx="48">
                  <c:v>-0.5</c:v>
                </c:pt>
                <c:pt idx="49">
                  <c:v>-0.423</c:v>
                </c:pt>
                <c:pt idx="50">
                  <c:v>-0.342</c:v>
                </c:pt>
                <c:pt idx="51">
                  <c:v>-0.259</c:v>
                </c:pt>
                <c:pt idx="52">
                  <c:v>-0.174</c:v>
                </c:pt>
                <c:pt idx="53">
                  <c:v>-0.087</c:v>
                </c:pt>
                <c:pt idx="54">
                  <c:v>0</c:v>
                </c:pt>
                <c:pt idx="55">
                  <c:v>0.087</c:v>
                </c:pt>
                <c:pt idx="56">
                  <c:v>0.174</c:v>
                </c:pt>
                <c:pt idx="57">
                  <c:v>0.259</c:v>
                </c:pt>
                <c:pt idx="58">
                  <c:v>0.342</c:v>
                </c:pt>
                <c:pt idx="59">
                  <c:v>0.423</c:v>
                </c:pt>
                <c:pt idx="60">
                  <c:v>0.5</c:v>
                </c:pt>
                <c:pt idx="61">
                  <c:v>0.574</c:v>
                </c:pt>
                <c:pt idx="62">
                  <c:v>0.643</c:v>
                </c:pt>
                <c:pt idx="63">
                  <c:v>0.707</c:v>
                </c:pt>
                <c:pt idx="64">
                  <c:v>0.766</c:v>
                </c:pt>
                <c:pt idx="65">
                  <c:v>0.819</c:v>
                </c:pt>
                <c:pt idx="66">
                  <c:v>0.866</c:v>
                </c:pt>
                <c:pt idx="67">
                  <c:v>0.906</c:v>
                </c:pt>
                <c:pt idx="68">
                  <c:v>0.94</c:v>
                </c:pt>
                <c:pt idx="69">
                  <c:v>0.966</c:v>
                </c:pt>
                <c:pt idx="70">
                  <c:v>0.985</c:v>
                </c:pt>
                <c:pt idx="71">
                  <c:v>0.996</c:v>
                </c:pt>
                <c:pt idx="72">
                  <c:v>1</c:v>
                </c:pt>
              </c:numCache>
            </c:numRef>
          </c:y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emk ε (bağıl)</c:v>
                </c:pt>
              </c:strCache>
            </c:strRef>
          </c:tx>
          <c:spPr>
            <a:solidFill>
              <a:srgbClr val="2A5FD6"/>
            </a:solidFill>
            <a:ln w="3175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Sheet1!$A$2:$A$74</c:f>
              <c:numCache>
                <c:formatCode>General</c:formatCode>
                <c:ptCount val="73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</c:numCache>
            </c:numRef>
          </c:xVal>
          <c:yVal>
            <c:numRef>
              <c:f>Sheet1!$C$2:$C$74</c:f>
              <c:numCache>
                <c:formatCode>General</c:formatCode>
                <c:ptCount val="73"/>
                <c:pt idx="0">
                  <c:v>0</c:v>
                </c:pt>
                <c:pt idx="1">
                  <c:v>0.087</c:v>
                </c:pt>
                <c:pt idx="2">
                  <c:v>0.174</c:v>
                </c:pt>
                <c:pt idx="3">
                  <c:v>0.259</c:v>
                </c:pt>
                <c:pt idx="4">
                  <c:v>0.342</c:v>
                </c:pt>
                <c:pt idx="5">
                  <c:v>0.423</c:v>
                </c:pt>
                <c:pt idx="6">
                  <c:v>0.5</c:v>
                </c:pt>
                <c:pt idx="7">
                  <c:v>0.574</c:v>
                </c:pt>
                <c:pt idx="8">
                  <c:v>0.643</c:v>
                </c:pt>
                <c:pt idx="9">
                  <c:v>0.707</c:v>
                </c:pt>
                <c:pt idx="10">
                  <c:v>0.766</c:v>
                </c:pt>
                <c:pt idx="11">
                  <c:v>0.819</c:v>
                </c:pt>
                <c:pt idx="12">
                  <c:v>0.866</c:v>
                </c:pt>
                <c:pt idx="13">
                  <c:v>0.906</c:v>
                </c:pt>
                <c:pt idx="14">
                  <c:v>0.94</c:v>
                </c:pt>
                <c:pt idx="15">
                  <c:v>0.966</c:v>
                </c:pt>
                <c:pt idx="16">
                  <c:v>0.985</c:v>
                </c:pt>
                <c:pt idx="17">
                  <c:v>0.996</c:v>
                </c:pt>
                <c:pt idx="18">
                  <c:v>1</c:v>
                </c:pt>
                <c:pt idx="19">
                  <c:v>0.996</c:v>
                </c:pt>
                <c:pt idx="20">
                  <c:v>0.985</c:v>
                </c:pt>
                <c:pt idx="21">
                  <c:v>0.966</c:v>
                </c:pt>
                <c:pt idx="22">
                  <c:v>0.94</c:v>
                </c:pt>
                <c:pt idx="23">
                  <c:v>0.906</c:v>
                </c:pt>
                <c:pt idx="24">
                  <c:v>0.866</c:v>
                </c:pt>
                <c:pt idx="25">
                  <c:v>0.819</c:v>
                </c:pt>
                <c:pt idx="26">
                  <c:v>0.766</c:v>
                </c:pt>
                <c:pt idx="27">
                  <c:v>0.707</c:v>
                </c:pt>
                <c:pt idx="28">
                  <c:v>0.643</c:v>
                </c:pt>
                <c:pt idx="29">
                  <c:v>0.574</c:v>
                </c:pt>
                <c:pt idx="30">
                  <c:v>0.5</c:v>
                </c:pt>
                <c:pt idx="31">
                  <c:v>0.423</c:v>
                </c:pt>
                <c:pt idx="32">
                  <c:v>0.342</c:v>
                </c:pt>
                <c:pt idx="33">
                  <c:v>0.259</c:v>
                </c:pt>
                <c:pt idx="34">
                  <c:v>0.174</c:v>
                </c:pt>
                <c:pt idx="35">
                  <c:v>0.087</c:v>
                </c:pt>
                <c:pt idx="36">
                  <c:v>0</c:v>
                </c:pt>
                <c:pt idx="37">
                  <c:v>-0.087</c:v>
                </c:pt>
                <c:pt idx="38">
                  <c:v>-0.174</c:v>
                </c:pt>
                <c:pt idx="39">
                  <c:v>-0.259</c:v>
                </c:pt>
                <c:pt idx="40">
                  <c:v>-0.342</c:v>
                </c:pt>
                <c:pt idx="41">
                  <c:v>-0.423</c:v>
                </c:pt>
                <c:pt idx="42">
                  <c:v>-0.5</c:v>
                </c:pt>
                <c:pt idx="43">
                  <c:v>-0.574</c:v>
                </c:pt>
                <c:pt idx="44">
                  <c:v>-0.643</c:v>
                </c:pt>
                <c:pt idx="45">
                  <c:v>-0.707</c:v>
                </c:pt>
                <c:pt idx="46">
                  <c:v>-0.766</c:v>
                </c:pt>
                <c:pt idx="47">
                  <c:v>-0.819</c:v>
                </c:pt>
                <c:pt idx="48">
                  <c:v>-0.866</c:v>
                </c:pt>
                <c:pt idx="49">
                  <c:v>-0.906</c:v>
                </c:pt>
                <c:pt idx="50">
                  <c:v>-0.94</c:v>
                </c:pt>
                <c:pt idx="51">
                  <c:v>-0.966</c:v>
                </c:pt>
                <c:pt idx="52">
                  <c:v>-0.985</c:v>
                </c:pt>
                <c:pt idx="53">
                  <c:v>-0.996</c:v>
                </c:pt>
                <c:pt idx="54">
                  <c:v>-1</c:v>
                </c:pt>
                <c:pt idx="55">
                  <c:v>-0.996</c:v>
                </c:pt>
                <c:pt idx="56">
                  <c:v>-0.985</c:v>
                </c:pt>
                <c:pt idx="57">
                  <c:v>-0.966</c:v>
                </c:pt>
                <c:pt idx="58">
                  <c:v>-0.94</c:v>
                </c:pt>
                <c:pt idx="59">
                  <c:v>-0.906</c:v>
                </c:pt>
                <c:pt idx="60">
                  <c:v>-0.866</c:v>
                </c:pt>
                <c:pt idx="61">
                  <c:v>-0.819</c:v>
                </c:pt>
                <c:pt idx="62">
                  <c:v>-0.766</c:v>
                </c:pt>
                <c:pt idx="63">
                  <c:v>-0.707</c:v>
                </c:pt>
                <c:pt idx="64">
                  <c:v>-0.643</c:v>
                </c:pt>
                <c:pt idx="65">
                  <c:v>-0.574</c:v>
                </c:pt>
                <c:pt idx="66">
                  <c:v>-0.5</c:v>
                </c:pt>
                <c:pt idx="67">
                  <c:v>-0.423</c:v>
                </c:pt>
                <c:pt idx="68">
                  <c:v>-0.342</c:v>
                </c:pt>
                <c:pt idx="69">
                  <c:v>-0.259</c:v>
                </c:pt>
                <c:pt idx="70">
                  <c:v>-0.174</c:v>
                </c:pt>
                <c:pt idx="71">
                  <c:v>-0.087</c:v>
                </c:pt>
                <c:pt idx="72">
                  <c:v>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çerçevenin döndüğü açı (°)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.2"/>
          <c:min val="-1.2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bağıl değer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C577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Açılış: mıknatısı bobinin içinde hareketsiz tut — galvanometre sıfır. Kımıldat — sapıyor. Bütün konu bu.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 önceki konuda akım alan üretiyordu; burada tersi oluyor. Simetriyi vurgula.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α, alan ile yüzeyin NORMALİ arasındaki açıdır; yüzeyin kendisiyle değil. Bu ayrım sınavda sorulur.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Grafiğin eğimi emk'dir: matematikteki türev kavramının fizikteki en somut karşılığı.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Bakır boru deneyi burada anlatılır: mıknatıs boruda yavaşlar çünkü indüklenen akımlar onu frenler.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 adımı tahtada bir örnekle uygula; öğrenciler ikinci adımı sık atlıyor.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Güç dengesini sayısal olarak da göster: F·v = I²R eşitliği öğrenciyi ikna ediyor.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Φ ve ε'nin faz farkı en çok sorulan yer: Φ en büyükken ε sıfırdır, tersi değil.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İndüksiyonlu ocakta tencerenin manyetik olması gerektiğini sor: cam ve alüminyum neden ısınmaz?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Sarım sayısının çarpan olduğunu vurgula: aynı akı değişimi 200 kez sayılıyor.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satırdaki eşitlik bu konunun kapanış cümlesi: mekanik enerji elektrik enerjisine dönüşüyor.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Birim dönüşümünü (cm² → m²) atlayan öğrenci 10.000 kat hata yapıyor; burada durup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İlk iki madde aynı kökten: 'değişim' kelimesinin atlanması.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bakır boru bölümünü aç: aynı mıknatıs plastikte 0,49 s, bakırda 5,5 s'de düşüyor.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ELEKTRİK VE MANYETİZMA · KONU 03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İndüksiyon akımı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9184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Manyetik alan akım üretebilir — ama yalnızca değişirse. Dünyadaki elektriğin neredeyse tamamı bu tek cümlenin üzerine kuruludur.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Φ = B·A·cosα        ε = −N · ΔΦ / Δt        ε = B·L·v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424160" y="2788920"/>
            <a:ext cx="914400" cy="310896"/>
          </a:xfrm>
          <a:prstGeom prst="ellipse">
            <a:avLst/>
          </a:prstGeom>
          <a:ln w="30480">
            <a:solidFill>
              <a:srgbClr val="82AA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24160" y="3081528"/>
            <a:ext cx="914400" cy="310896"/>
          </a:xfrm>
          <a:prstGeom prst="ellipse">
            <a:avLst/>
          </a:prstGeom>
          <a:ln w="30480">
            <a:solidFill>
              <a:srgbClr val="82AA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24160" y="3374136"/>
            <a:ext cx="914400" cy="310896"/>
          </a:xfrm>
          <a:prstGeom prst="ellipse">
            <a:avLst/>
          </a:prstGeom>
          <a:ln w="30480">
            <a:solidFill>
              <a:srgbClr val="82AA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24160" y="3666744"/>
            <a:ext cx="914400" cy="310896"/>
          </a:xfrm>
          <a:prstGeom prst="ellipse">
            <a:avLst/>
          </a:prstGeom>
          <a:ln w="30480">
            <a:solidFill>
              <a:srgbClr val="82AA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32520" y="3310128"/>
            <a:ext cx="658368" cy="365760"/>
          </a:xfrm>
          <a:prstGeom prst="rect">
            <a:avLst/>
          </a:prstGeom>
          <a:solidFill>
            <a:srgbClr val="FF8FA3"/>
          </a:solidFill>
          <a:ln/>
        </p:spPr>
      </p:sp>
      <p:sp>
        <p:nvSpPr>
          <p:cNvPr id="11" name="Shape 9"/>
          <p:cNvSpPr/>
          <p:nvPr/>
        </p:nvSpPr>
        <p:spPr>
          <a:xfrm>
            <a:off x="9390888" y="3310128"/>
            <a:ext cx="658368" cy="365760"/>
          </a:xfrm>
          <a:prstGeom prst="rect">
            <a:avLst/>
          </a:prstGeom>
          <a:solidFill>
            <a:srgbClr val="82AA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32520" y="33101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390888" y="33101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0" y="2697480"/>
            <a:ext cx="1005840" cy="0"/>
          </a:xfrm>
          <a:prstGeom prst="line">
            <a:avLst/>
          </a:prstGeom>
          <a:noFill/>
          <a:ln w="31750">
            <a:solidFill>
              <a:srgbClr val="9C8CFF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8503920" y="4434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 → akım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dersler.perinet.org/induksiyon-akimi.html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manyetik akıdan jeneratöre.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Manyetik akı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yüzeyden geçen alan çizgisi sayısı: Φ = B·A·cosα.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Faraday yasası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İndüklenen emk, akının değişim hızıyla orantılıdır.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Lenz yasası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İndüksiyon akımı, kendini doğuran değişime karşı koyar.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Akımın yönü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adımda: akı → karşı alan → sağ el.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Hareketli çubuk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B·L·v; mekanik güç elektriğe dönüşür.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Jeneratör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Dönen çerçeve alternatif gerilim üretir.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03 · İndüksiyon akımı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Manyetik akı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yüzeyden geçen manyetik alan çizgilerinin sayısı.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Φ = B · A · cosα          birimi: weber (Wb)          1 Wb = 1 T·m²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3392424" cy="1508760"/>
          </a:xfrm>
          <a:prstGeom prst="roundRect">
            <a:avLst>
              <a:gd name="adj" fmla="val 848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2834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0°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291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yüzeye dik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657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B·A (en büyük)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98264" y="2697480"/>
            <a:ext cx="3392424" cy="1508760"/>
          </a:xfrm>
          <a:prstGeom prst="roundRect">
            <a:avLst>
              <a:gd name="adj" fmla="val 848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672584" y="2834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60°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72584" y="3291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yüzeyle eğik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3657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0,5 · B·A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56448" y="2697480"/>
            <a:ext cx="3392424" cy="1508760"/>
          </a:xfrm>
          <a:prstGeom prst="roundRect">
            <a:avLst>
              <a:gd name="adj" fmla="val 848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30768" y="2834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90°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30768" y="3291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yüzeye paralel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430768" y="3657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0 (sıfır)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0911535" cy="1417320"/>
          </a:xfrm>
          <a:prstGeom prst="roundRect">
            <a:avLst>
              <a:gd name="adj" fmla="val 9032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012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 üç yoldan değişir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983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değişirse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53035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mıknatıs yaklaşır ya da uzaklaşır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480560" y="4983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değişirse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80560" y="53035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çerçeve büyür, küçülür ya da devre kapanır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001000" y="4983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değişirse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001000" y="53035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çerçeve alan içinde döner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03 · İndüksiyon akımı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Faraday indüksiyon yasası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 değişirse emk indüklenir; belirleyici olan değişimin hızıdır.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943600" cy="731520"/>
          </a:xfrm>
          <a:prstGeom prst="roundRect">
            <a:avLst>
              <a:gd name="adj" fmla="val 12500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ε = −N · ΔΦ / Δt          I = ε / R</a:t>
            </a:r>
            <a:endParaRPr lang="en-US" sz="17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697480"/>
          <a:ext cx="59436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903720" y="2697480"/>
            <a:ext cx="4647895" cy="731520"/>
          </a:xfrm>
          <a:prstGeom prst="roundRect">
            <a:avLst>
              <a:gd name="adj" fmla="val 17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78040" y="26974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– 2 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321040" y="26974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 artıyor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784080" y="2697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emk var, bir yönde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03720" y="3538728"/>
            <a:ext cx="4647895" cy="731520"/>
          </a:xfrm>
          <a:prstGeom prst="roundRect">
            <a:avLst>
              <a:gd name="adj" fmla="val 17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178040" y="3538728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882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– 4 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53872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 sabit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784080" y="353872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emk yok: I = 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903720" y="4379976"/>
            <a:ext cx="4647895" cy="731520"/>
          </a:xfrm>
          <a:prstGeom prst="roundRect">
            <a:avLst>
              <a:gd name="adj" fmla="val 17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178040" y="4379976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– 6 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437997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 azalıyor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784080" y="4379976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emk var, ters yönde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903720" y="5212080"/>
            <a:ext cx="4647895" cy="640080"/>
          </a:xfrm>
          <a:prstGeom prst="roundRect">
            <a:avLst>
              <a:gd name="adj" fmla="val 20000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178040" y="52120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Güçlü ama sabit alan </a:t>
            </a:r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 akım üretmez. Belirleyici olan değişimdir.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03 · İndüksiyon akımı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Lenz yasası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İndüksiyon akımı, kendisini doğuran akı değişimine karşı koyacak yönde akar.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19659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Mıknatıs yaklaşırken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965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itme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46888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Bobinden geçen akı artar. İndüksiyon akımı, artışı engelleyecek yönde alan üretir: mıknatısa aynı kutbunu çevirir ve onu iter.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19672" y="19659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Mıknatıs uzaklaşırken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131552" y="1965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çekme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19672" y="246888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 azalır. Akım, azalmayı telafi edecek yönde alan üretir: zıt kutup oluşturur ve mıknatısı çeker.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10911535" cy="1051560"/>
          </a:xfrm>
          <a:prstGeom prst="roundRect">
            <a:avLst>
              <a:gd name="adj" fmla="val 12174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0120" y="3840480"/>
            <a:ext cx="102714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Eksi işaretinin anlamı: </a:t>
            </a:r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Lenz yasası, enerji korunumunun indüksiyondaki yüzüdür. Mıknatısı hareket ettirmek için yaptığın iş, devrede üretilen elektrik enerjisine dönüşür — bedava elektrik yoktur.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120640"/>
            <a:ext cx="10911535" cy="731520"/>
          </a:xfrm>
          <a:prstGeom prst="roundRect">
            <a:avLst>
              <a:gd name="adj" fmla="val 17500"/>
            </a:avLst>
          </a:prstGeom>
          <a:solidFill>
            <a:srgbClr val="FCECF0"/>
          </a:solidFill>
          <a:ln w="12700">
            <a:solidFill>
              <a:srgbClr val="F3C9D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512064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Lenz olmasaydı ne olurdu? </a:t>
            </a:r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İndüksiyon akımı değişimi desteklerdi; sistem kendi kendini hızlandırır ve yoktan enerji üretirdi. Eksi işareti, enerji korunumunun bekçisidir.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03 · İndüksiyon akımı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İndüksiyon akımının yönü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adımda çözülür; ezber gerekmez.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675120" cy="914400"/>
          </a:xfrm>
          <a:prstGeom prst="roundRect">
            <a:avLst>
              <a:gd name="adj" fmla="val 14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03911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2039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Akıyı belirle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189280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Devreden geçen akının yönünü ve artıyor mu azalıyor mu olduğunu bul.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834640"/>
            <a:ext cx="6675120" cy="914400"/>
          </a:xfrm>
          <a:prstGeom prst="roundRect">
            <a:avLst>
              <a:gd name="adj" fmla="val 14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14400" y="309067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090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Karşı alanı bul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337560" y="294436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Lenz'e göre indüksiyon akımının hangi yönde alan üretmesi gerektiğini belirle: artışa zıt, azalmaya aynı yönde.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886200"/>
            <a:ext cx="6675120" cy="914400"/>
          </a:xfrm>
          <a:prstGeom prst="roundRect">
            <a:avLst>
              <a:gd name="adj" fmla="val 14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414223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4142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3977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Sağ eli kullan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3337560" y="399592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alanı üretecek akım yönünü sağ el kuralıyla belirle.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983480"/>
            <a:ext cx="6675120" cy="868680"/>
          </a:xfrm>
          <a:prstGeom prst="roundRect">
            <a:avLst>
              <a:gd name="adj" fmla="val 14737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60120" y="498348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Pratik kontrol: </a:t>
            </a:r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İndüksiyon akımının ürettiği alan, bobinin içinde her zaman değişime karşı çıkar. Yönü bulduktan sonra bu soruyu kendine sor.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35240" y="1783080"/>
            <a:ext cx="3916375" cy="4069080"/>
          </a:xfrm>
          <a:prstGeom prst="roundRect">
            <a:avLst>
              <a:gd name="adj" fmla="val 3269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955280" y="2011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 ne zaman değişir?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25146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Mıknatıs bobine yaklaşır ya da uzaklaşırsa.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Bobin, alan içinde döner ya da eğilirse.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Devrenin çevrelediği alan büyür ya da küçülürse.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Komşu devredeki akım değişirse (transformatör).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kaynağı kapatılır ya da açılırsa.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03 · İndüksiyon akımı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Raylar üzerinde hareketli çubuk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sade indüksiyon üreteci: iten el, elektriği üretir.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760720" cy="731520"/>
          </a:xfrm>
          <a:prstGeom prst="roundRect">
            <a:avLst>
              <a:gd name="adj" fmla="val 12500"/>
            </a:avLst>
          </a:prstGeom>
          <a:solidFill>
            <a:srgbClr val="FCECF0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ε = B · L · v        I = ε / R        F = B · I · 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5760720" cy="3154680"/>
          </a:xfrm>
          <a:prstGeom prst="roundRect">
            <a:avLst>
              <a:gd name="adj" fmla="val 4058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371600" y="3200400"/>
            <a:ext cx="4297680" cy="0"/>
          </a:xfrm>
          <a:prstGeom prst="line">
            <a:avLst/>
          </a:prstGeom>
          <a:noFill/>
          <a:ln w="31750">
            <a:solidFill>
              <a:srgbClr val="7882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5029200"/>
            <a:ext cx="4297680" cy="0"/>
          </a:xfrm>
          <a:prstGeom prst="line">
            <a:avLst/>
          </a:prstGeom>
          <a:noFill/>
          <a:ln w="31750">
            <a:solidFill>
              <a:srgbClr val="7882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3200400"/>
            <a:ext cx="0" cy="1828800"/>
          </a:xfrm>
          <a:prstGeom prst="line">
            <a:avLst/>
          </a:prstGeom>
          <a:noFill/>
          <a:ln w="31750">
            <a:solidFill>
              <a:srgbClr val="78829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0" y="3200400"/>
            <a:ext cx="109728" cy="1828800"/>
          </a:xfrm>
          <a:prstGeom prst="rect">
            <a:avLst/>
          </a:prstGeom>
          <a:solidFill>
            <a:srgbClr val="C53455"/>
          </a:solidFill>
          <a:ln/>
        </p:spPr>
      </p:sp>
      <p:sp>
        <p:nvSpPr>
          <p:cNvPr id="13" name="Shape 11"/>
          <p:cNvSpPr/>
          <p:nvPr/>
        </p:nvSpPr>
        <p:spPr>
          <a:xfrm>
            <a:off x="3749040" y="4114800"/>
            <a:ext cx="914400" cy="0"/>
          </a:xfrm>
          <a:prstGeom prst="line">
            <a:avLst/>
          </a:prstGeom>
          <a:noFill/>
          <a:ln w="38100">
            <a:solidFill>
              <a:srgbClr val="C53455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023360" y="37490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882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10896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97180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78308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37744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97180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88620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8056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07492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886200" y="3977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480560" y="3977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074920" y="3977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88620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7492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371600" y="5257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sayfa düzlemine dik, içeri doğru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720840" y="2697480"/>
            <a:ext cx="483077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Çubuk hareket ettikçe devrenin çevrelediği alan büyür; akı değişir.</a:t>
            </a:r>
            <a:endParaRPr lang="en-US" sz="130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İndüklenen emk ε = B·L·v, hızla doğru orantılıdır.</a:t>
            </a:r>
            <a:endParaRPr lang="en-US" sz="130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Oluşan akım, çubuğa harekete zıt yönde bir kuvvet uygular (Lenz).</a:t>
            </a:r>
            <a:endParaRPr lang="en-US" sz="130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hızda itmek için bu kuvvete eşit kuvvet uygulanmalıdır.</a:t>
            </a:r>
            <a:endParaRPr lang="en-US" sz="130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Uygulanan mekanik güç (F·v), devrede harcanan elektriksel güce (I²R) eşittir.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720840" y="4983480"/>
            <a:ext cx="4830775" cy="868680"/>
          </a:xfrm>
          <a:prstGeom prst="roundRect">
            <a:avLst>
              <a:gd name="adj" fmla="val 14737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995160" y="49834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Enerji nereden geliyor? </a:t>
            </a:r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Çubuğu iten elden. Elektrik enerjisi yoktan var olmaz; mekanik enerji dönüşür.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03 · İndüksiyon akımı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Jeneratör: dönen çerçeve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Düzgün alanda sabit hızla dönen çerçeve, alternatif gerilim üretir.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4922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452360" y="1783080"/>
            <a:ext cx="4099255" cy="914400"/>
          </a:xfrm>
          <a:prstGeom prst="roundRect">
            <a:avLst>
              <a:gd name="adj" fmla="val 10000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52360" y="1783080"/>
            <a:ext cx="4099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Φ = B·A·cos(ω·t)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ε = N·B·A·ω·sin(ω·t)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2880360"/>
            <a:ext cx="40992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Çerçeve alana dikken (Φ en büyük) emk sıfırdır.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Çerçeve alana paralelken (Φ = 0) emk en büyüktür.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Değişimin en hızlı olduğu an, emk'nin en büyük olduğu andır.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Dönme hızı iki katına çıkarsa hem frekans hem tepe gerilimi iki katına çıkar.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Türkiye'de şebeke frekansı 50 Hz: çerçeve saniyede 50 tur atar.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452360" y="5212080"/>
            <a:ext cx="4099255" cy="640080"/>
          </a:xfrm>
          <a:prstGeom prst="roundRect">
            <a:avLst>
              <a:gd name="adj" fmla="val 200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26680" y="5212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Santralde ne değişir? </a:t>
            </a:r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türbini döndüren kaynak: su, rüzgâr, buhar.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03 · İndüksiyon akımı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Nerede karşımıza çıkar?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enerjisinin neredeyse tamamı indüksiyonla üretilir.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Jeneratör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Su, rüzgâr ya da buhar türbini çevirir; dönen çerçeve gerilim üretir.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elektriğin kaynağı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72584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Transformatör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Değişen akı, ikinci bobinde gerilim indükler.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sonraki konu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430768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İndüksiyonlu ocak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430768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Tencerenin tabanında indüklenen girdap akımları ısı üretir.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430768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girdap akımı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4400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Manyetik kart okuyucu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Şeritteki manyetik desen, kafada akım darbeleri oluşturur.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 okuma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672584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Manyetik fren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672584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Hareketli metalde indüklenen akımlar, hareketi frenler.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tren ve lunapark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430768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Kablosuz şarj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430768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bobin arasında akı köprüsü kurulur; temas gerekmez.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30768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 şarjı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03 · İndüksiyon akımı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akı değişiminden emk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emk'nin büyüklüğü hesaplanmıştır; işaret yönü Lenz ile bulunur.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sarımlı bir bobinden geçen manyetik akı, 0,1 saniyede 4·10⁻³ Wb'den 1·10⁻³ Wb'ye düşüyor.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İndüklenen emk'nin büyüklüğü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Bobinin direnci 3 Ω ise akım kaç A'dir?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6 V · (b) 2 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ΔΦ = 1·10⁻³ − 4·10⁻³ = −3·10⁻³ Wb (azalma)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|ε| = N·|ΔΦ|/Δt = 200 · 3·10⁻³ / 0,1 = 6 V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= ε/R = 6 / 3 = 2 A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 azaldığı için indüksiyon akımı, akıyı sürdürecek yönde akar (Lenz).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03 · İndüksiyon akımı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hareketli çubuk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emk'nin büyüklüğü hesaplanmıştır; işaret yönü Lenz ile bulunur.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 T'lık düzgün alanda, 40 cm uzunluğundaki çubuk raylar üzerinde 5 m/s sabit hızla kayıyor. Devrenin toplam direnci 2 Ω'dur.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emk ve akım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Çubuğu itmek için gereken kuvvet ve güç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1 V · 0,5 A — (b) 0,1 N · 0,5 W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B·L·v = 0,5 · 0,4 · 5 = 1 V → I = ε/R = 1/2 = 0,5 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Çubuğa etkiyen karşı kuvvet: F = B·I·L = 0,5 · 0,5 · 0,4 = 0,1 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hız için aynı büyüklükte kuvvet uygulanır: P = F·v = 0,1 · 5 = 0,5 W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Kontrol: elektriksel güç I²R = 0,25 · 2 = 0,5 W. İki güç eşit — enerji korunuyor.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03 · İndüksiyon akımı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jeneratör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emk'nin büyüklüğü hesaplanmıştır; işaret yönü Lenz ile bulunur.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Alanı 200 cm² olan 100 sarımlı çerçeve, 0,5 T'lık alanda saniyede 2 tur atacak şekilde dönüyor.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Açısal hız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Üretilen emk'nin tepe değeri kaç volttur?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≈ 12,6 rad/s · (b) ≈ 12,6 V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 = 2π·f = 2π · 2 ≈ 12,6 rad/s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200 cm² = 0,02 m²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ε(tepe) = N·B·A·ω = 100 · 0,5 · 0,02 · 12,6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ε(tepe) ≈ 12,6 V. Dönme hızı iki katına çıkarsa tepe gerilimi de iki katına çıkar.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03 · İndüksiyon akımı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Güçlü alan akım üretir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Akım ancak akı değişirse üretilir; sabit alan işe yaramaz.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 sıfırsa emk de sıfırdır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Belirleyici olan akının değeri değil, değişim hızıdır.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 B değişirse akı değişir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 da α değişimi de akıyı değiştirir.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B·L·v her durumda geçerli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çubuk alana ve kendine dik hareket ederken.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Jeneratörde Φ ve ε aynı anda büyük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Aralarında çeyrek periyot faz farkı vardır.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Lenz yasası bir tercihtir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Enerji korunumunun zorunlu sonucudur.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03 · İndüksiyon akımı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 değişirse akım doğar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715000" y="206654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B·A·cosα; B, A ya da α değişimi yeterlidir.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Belirleyici olan değişim hızı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715000" y="29992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−N·ΔΦ/Δt: hızlı değişim büyük emk demektir.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Lenz: doğa değişime direnir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715000" y="393192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İndüksiyon akımı, kendini doğuran değişime karşı koyar.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Enerji yoktan var olmaz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715000" y="48646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Üretilen elektrik, harcanan mekanik enerjiye eşittir.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Mıknatıs–bobin deneyi, jeneratör ve bakır boru: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dersler.perinet.org/induksiyon-akimi.html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İndüksiyon akımı</dc:title>
  <dc:subject>Fizik · Elektrik ve Manyetizma</dc:subject>
  <dc:creator>Dersler</dc:creator>
  <cp:lastModifiedBy>Dersler</cp:lastModifiedBy>
  <cp:revision>1</cp:revision>
  <dcterms:created xsi:type="dcterms:W3CDTF">2026-09-18T20:15:33Z</dcterms:created>
  <dcterms:modified xsi:type="dcterms:W3CDTF">2026-09-18T20:15:33Z</dcterms:modified>
</cp:coreProperties>
</file>