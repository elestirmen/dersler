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Pil yok, priz yok, yalnızca dönen bir tekerlek: bisiklet farı nasıl yanıyor? Evindeki prizden gelen elektriğin büyük bölümü de aynı fikirden doğuyor: bir bobinin içinden geçen manyetik alan değişirse, o bobinde akım doğar. Faraday bunu 1831'de bir mıknatısı bobinin içinde ileri geri oynatarak buldu. Bugün barajlar, rüzgâr türbinleri, termik santraller ve arabaların alternatörleri hep aynı şeyi yapıyor — hareketi, akı değişimine çevirmek. Bu anlatım dört basamakta ilerliyor: önce akıyı ve değişimin gücünü sezgiyle tanıyacağız; sonra Faraday yasasını, akımın yönünü, kayan çubuğu ve jeneratörü bağıntılarıyla çıkaracağız; ardından girdap akımlarına ve ince durumlara geçeceğiz. En sonda kolaydan zora sıralanmış örneklerle hepsini birlikte kullanacağız.
Kapak görseli: Rüzgâr türbinleri indüksiyonun en görünür yüzü. Rüzgâr kanatları çevirir; kanatların mili gövdedeki jeneratörde mıknatısları ve bobinleri birbirine göre döndürür, böylece bobinlerden geçen akı sürekli değişir. Faraday yasası bu değişimi gerilime çevirir: hareket durursa elektrik de durur.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Pil yok, priz yok, yalnızca dönen bir tekerlek: bisiklet farı nasıl yanıyor? Evindeki prizden gelen elektriğin büyük bölümü de aynı fikirden doğuyor: bir bobinin içinden geçen manyetik alan değişirse, o bobinde akım doğar. Faraday bunu 1831'de bir mıknatısı bobinin içinde ileri geri oynatarak buldu. Bugün barajlar, rüzgâr türbinleri, termik santraller ve arabaların alternatörleri hep aynı şeyi yapıyor — hareketi, akı değişimine çevirmek. Bu anlatım dört basamakta ilerliyor: önce akıyı ve değişimin gücünü sezgiyle tanıyacağız; sonra Faraday yasasını, akımın yönünü, kayan çubuğu ve jeneratörü bağıntılarıyla çıkaracağız; ardından girdap akımlarına ve ince durumlara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akım nereden doğuyor, akı ne demek ve doğa değişime neden karşı koyuyor? Bu basamakta hesap yok denecek kadar az.
   01 Önce gözlemle: bisiklet farı nasıl yanar?
   02 Manyetik akı
   03 Faraday'ın keşfi: değişim akım doğurur
   04 Lenz yasası: doğa değişime direnir
2. Orta — Bağıntılar: Faraday yasasını kullan, akımın yönünü bul, kayan çubuğun ve dönen çerçevenin emk'sini adım adım çıkar.
   05 Faraday indüksiyon yasası
   06 İndüksiyon akımının yönü
   07 Hareketli iletken çubuk
   08 Sayılarla hisset: ne kadar emk?
   09 Jeneratör ve alternatif akım
3. İleri — Derinleşme: akım bir telde değil de bütün bir metal parçada dolaşınca, devre açıkken ya da motor dönerken ne olur?
   10 Girdap akımları: bakır boru deneyi
   11 İnce durumlar: açık devre, karşı emk, öz-indüksiyon
   12 İndüksiyon gerçek dünyada
4. Pekiştir —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akım nereden doğuyor, akı ne demek ve doğa değişime neden karşı koyuyor? Bu basamakta hesap yok denecek kadar az.
01 Önce gözlemle: bisiklet farı nasıl yanar?
02 Manyetik akı
03 Faraday'ın keşfi: değişim akım doğurur
04 Lenz yasası: doğa değişime direnir
Görsel: Birçok bisiklet farı pille değil, tekerleğin hareketiyle çalışan küçük bir dinamoyla yanar. Bu bisiklette ön çataldaki dinamonun tırtıklı başlığı lastiğe bastırıyor: tekerlek döndükçe başlık da döner ve dinamonun içindeki mıknatısı çevirir. Bobinden geçen manyetik alan sürekli değiştiği için bobinde akım doğar ve kablo bu akımı fara taşır. Bisiklet hızlandıkça değişim hızlanır, far daha parlak yanar; bisiklet durunca far da söner.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bisiklet farı nasıl yanar?
Kısaca: Dinamoda dönen mıknatıs bobinde akım doğurur; mıknatıs hızlandıkça akım artar, durunca akım kesilir. Akımı doğuran mıknatısın kendisi değil, hareketinin yarattığı değişimdir.
Birçok bisiklette farın pili yoktur. Ön tekerleğin yanına küçük bir dinamo takılır; dinamonun başlığı tekerleğe değer ve tekerlek döndükçe o da döner. Dinamonun içinde temelde iki parça vardır: dönen bir mıknatıs ve onun çevresinde duran bir tel bobini. Aralarında hiçbir kablo bağlantısı yoktur, ama bobinin uçlarına bağlı far yanar.
Görsel: Birçok bisiklet farı pille değil, tekerleğin hareketiyle çalışan küçük bir dinamoyla yanar. Bu bisiklette ön çataldaki dinamonun tırtıklı başlığı lastiğe bastırıyor: tekerlek döndükçe başlık da döner ve dinamonun içindeki mıknatısı çevirir. Bobinden geçen manyetik alan sürekli değiştiği için bobinde akım doğar ve kablo bu akımı fara taşır. Bisiklet hızlandıkça değişim hızlanır, far daha parlak yanar; bisiklet durunca far da söner.
Dinamolu bir bisikletle yola çıkan herkes aynı dört şeyi fark eder:
• Dönerse yanar: tekerlek döndükçe far yanar, bisiklet durunca söner.
• Hızlandıkça parlar: pedalı hızlı çevirdiğinde far daha parlak yanar.
• Pedal ağırlaşır: dinamo çalışırken pedal çevirmek biraz daha zor gelir.
• Pil harcanmaz: farın enerjisi tükenmez, çünkü enerji senin bacaklarından gelir.
Demek ki akımı doğuran şey mıknatısın kendisi değil, mıknatısın hareketidir. Güçlü bir mıknatıs bobinin yanında kıpırdamadan dursaydı hiçbir şey olmazdı. Bu anlatımın bütün hikâyesi bu küçük gözlemden çıkıyor: değişen bir manyetik alan akım doğurur ve bunun bedelini hareketi sağlayan öder.
Düşün: Dinamolu farı olan bisikletçi kırmızı ışıkta durunca farı neden söner?
Cevap: Tekerlek durunca dinamodaki mıknatıs da durur. Bobinden geçen alan artık değişmediği için bobinde akım doğmaz ve far söner. Bazı modern farlarda bu yüzden, hareket sırasında dolan ve durunca bir süre ışık veren küçük bir enerji deposu bulunur.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Dinamolu farı olan bisikletçi kırmızı ışıkta durunca farı neden söner?
Sınıfa sorun, birkaç tahmin alın; sonra cevap slaytına geçin.
Cevap: Tekerlek durunca dinamodaki mıknatıs da durur. Bobinden geçen alan artık değişmediği için bobinde akım doğmaz ve far söner. Bazı modern farlarda bu yüzden, hareket sırasında dolan ve durunca bir süre ışık veren küçük bir enerji deposu bulunur.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Tekerlek durunca dinamodaki mıknatıs da durur. Bobinden geçen alan artık değişmediği için bobinde akım doğmaz ve far söner. Bazı modern farlarda bu yüzden, hareket sırasında dolan ve durunca bir süre ışık veren küçük bir enerji deposu bulunur.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akı
Kısaca: Manyetik akı, bir yüzeyden geçen alan çizgisi miktarıdır: Φ = B·A·cosα, birimi weber. Alan yüzeye dikken akı en büyük, paralelken sıfırdır.
“Bobinden geçen alan değişir” sözünü ölçülebilir kılmak için yeni bir büyüklük gerekir. Bir yüzeyden geçen manyetik alan çizgilerinin sayısına manyetik akı (Φ) denir. Birimi weber (Wb)'dir.
Yağmurun altında bir çember tuttuğunu düşün. Çemberin içinden geçen damla sayısı üç şeye bağlıdır: yağmurun şiddetine, çemberin büyüklüğüne ve çemberi nasıl tuttuğuna. Çemberi yere paralel tutarsan en çok damla geçer; yan çevirirsen hiçbiri geçmez. Akı da aynıdır: alanın şiddeti (B), yüzeyin alanı (A) ve aradaki açı.
Φ = B · A · cosα   1 Wb = 1 T·m²
Buradaki α, alan ile yüzeyin normali (yüzeye dik doğrultu) arasındaki açıdır. Üç durum önemlidir:
• Alan yüzeye dik (α = 0): akı en büyüktür, Φ = B·A.
• Alan yüzeye paralel (α = 90°): akı sıfırdır.
• Akı; B, A ya da α'dan herhangi biri değiştiğinde değişir.
Görsel: Manyetik akı, çerçevenin içinden kaç alan çizgisinin geçtiğidir. Çerçeveyi eğdikçe alan çizgilerine gösterdiği yüzey küçülür — sanki alanın gördüğü "gölgesi" daralır. Tam yan çevirdiğinde hiçbir çizgi içeriden geçmez ve akı sıfırlanır. Bağıntıdaki cosα çarpanı tam olarak bu gölgeyi hesaplar.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Faraday'ın keşfi: değişim akım doğurur
Kısaca: Akı değiştiğinde devrede emk ve indüksiyon akımı doğar; sabit alan ne kadar güçlü olursa olsun akım üretmez. Değişim hızlandıkça ve sarım sayısı arttıkça emk büyür.
Oersted 1820'de akımın manyetik alan ürettiğini göstermişti. Faraday tersini merak etti: manyetik alan akım üretebilir mi? Uzun süre sonuç alamadı; bobinin yanında duran mıknatıs, galvanometreyi (küçük akımları ölçen alet) kıpırdatmıyordu. 1831'de sırrı buldu: mıknatıs hareket ettiği anda iğne sapıyor, mıknatıs durunca sıfıra dönüyordu.
Belirleyici olan değişimdir. Güçlü ama sabit bir alan hiçbir akım üretmez. Mıknatıs bobinin içinde hareketsiz dururken galvanometre sıfırı gösterir; hareket başladığı anda sapar.
Akı değiştiğinde devrede bir elektromotor kuvvet (emk) doğar; emk, devrede akımı süren gerilimdir ve pilin gerilimi gibi volt ile ölçülür. Bu olaya elektromanyetik indüksiyon, doğan akıma indüksiyon akımı denir. Akıyı değiştirmenin üç yolu vardır:
• Alanı değiştir: mıknatısı yaklaştır ya da uzaklaştır, yakındaki bir bobinin akımını değiştir.
• Yüzeyi değiştir: devrenin bir kenarını kaydırarak çevrelenen alanı büyüt ya da küçült.
• Açıyı değiştir: bobini alanın içinde döndür; jeneratörler böyle çalışır.
Görsel: Akım üreten şey alanın büyüklüğü değil, akının değişim hızıdır. Mıknatısı ne kadar hızlı hareket ettirirsen ΔΦ/Δt o kadar büyür ve galvanometre iğnesi o kadar çok sapar. Mıknatısı bobinin içinde durdurursan, alan hâlâ güçlü olmasına rağmen akım tamamen kesilir. Sarım sayısını artırmak da emk'yı aynı oranda büyütür.
Sayfanın 01 numaralı deneyindeki hazır düğmelerle üç kuralı kendin sınayabilirsin: “Hızlı geçiş” galvanometreyi “Yavaş geçiş”ten çok saptırır, “Sarım 3 katı” emk'yi büyütür, “Duran mıknatıs” ise hiçbir şey üretmez.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Lenz yasası: doğa değişime direnir
Kısaca: İndüksiyon akımı, kendisini doğuran değişime karşı koyar: yaklaşan mıknatısı iter, uzaklaşanı çeker. Bu karşı koyma, enerjinin korunumunun gereğidir.
İndüksiyon akımı, kendisini doğuran akı değişimine karşı koyacak yönde akar. Bu kuralı 1834'te Heinrich Lenz ortaya koydu ve kural, enerjinin korunumunun doğrudan bir sonucudur.
• Akı artıyorsa: indüksiyon akımı, artışı azaltacak yönde alan üretir.
• Akı azalıyorsa: akım, azalmayı telafi edecek yönde alan üretir.
Bu yüzden mıknatısı bobine yaklaştırırken bir itme, uzaklaştırırken bir çekme hissedersin. Mıknatısı hareket ettirmek için yaptığın iş, devrede üretilen elektrik enerjisine dönüşür. Bisiklette pedalın ağırlaşması da budur: dinamodaki akım, mıknatısın dönüşünü frenleyen bir etki yaratır.
Lenz olmasaydı ne olurdu? Akım değişimi desteklerdi; sistem kendi kendini hızlandırır, bedava enerji üretirdi. Faraday yasasında birazdan göreceğin eksi işareti, enerji korunumunun bekçisidir.
Görsel: Lenz yasası tek cümledir: indüklenen akım, kendisini doğuran değişime karşı çıkacak yönde akar. Mıknatıs yaklaşırken bobin ona bakan yüzünü aynı kutup yapar ve iter; uzaklaşırken zıt kutup yapar ve çeker. Yani mıknatısı hareket ettirmek için iş yapman gerekir — üretilen elektrik enerjisi tam olarak buradan gelir. Aksi olsaydı hareket kendini besler, enerjinin korunumu çökerdi.
Düşün: Bobinin uçları birbirine bağlı değilse, mıknatısı yaklaştırırken yine itme hisseder misin?
Cevap: Hayır. Devre açık olduğu için bobinin uçları arasında emk doğar ama akım akamaz. Akım yoksa bobin mıknatıs gibi davranmaz ve mıknatısı itmez. Uçları birleştirdiğin anda akım akar, itme de başlar.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Bobinin uçları birbirine bağlı değilse, mıknatısı yaklaştırırken yine itme hisseder misin?
Sınıfa sorun, birkaç tahmin alın; sonra cevap slaytına geçin.
Cevap: Hayır. Devre açık olduğu için bobinin uçları arasında emk doğar ama akım akamaz. Akım yoksa bobin mıknatıs gibi davranmaz ve mıknatısı itmez. Uçları birleştirdiğin anda akım akar, itme de başlar.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Devre açık olduğu için bobinin uçları arasında emk doğar ama akım akamaz. Akım yoksa bobin mıknatıs gibi davranmaz ve mıknatısı itmez. Uçları birleştirdiğin anda akım akar, itme de başlar.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Faraday yasasını kullan, akımın yönünü bul, kayan çubuğun ve dönen çerçevenin emk'sini adım adım çıkar.
05 Faraday indüksiyon yasası
06 İndüksiyon akımının yönü
07 Hareketli iletken çubuk
08 Sayılarla hisset: ne kadar emk?
09 Jeneratör ve alternatif akım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 indüksiyon yasası
Kısaca: İndüklenen emk, akının değişim hızıyla ve sarım sayısıyla orantılıdır: ε = −N·ΔΦ/Δt. Wb/s birimi volta eşittir; emk, Φ–t grafiğinin eğimidir.
Bir devreden geçen manyetik akı değiştiğinde devrede bir elektromotor kuvvet (emk) indüklenir. Bu emk'nin büyüklüğü, akının değişim hızıyla orantılıdır:
ε = −N · ΔΦ / Δt   I = ε / R
N sarım sayısıdır: aynı akı değişimi N kez sayıldığı için emk sarımla doğru orantılı büyür. Her sarım küçük bir pil gibidir ve sarımlar seri bağlı piller gibi gerilimlerini toplar. Baştaki eksi işareti yönü anlatır (Lenz yasası). Bir soruda yasayı beş adımda uygula:
• İlk akı: Φ₁ = B₁·A₁·cosα₁
• Son akı: Φ₂ = B₂·A₂·cosα₂
• Değişim: ΔΦ = Φ₂ − Φ₁ (artıyor mu, azalıyor mu?)
• emk: |ε| = N·|ΔΦ| / Δt; Δt sonlu bir süreyse bu, o süredeki ortalama emk'dir.
• Akım: I = ε / R; yönünü Lenz yasası verir.
Birim kontrolü: Wb/s = T·m²/s. 1 T = 1 N/(A·m) olduğundan T·m²/s = N·m/(A·s) = J/C = V ✓. Akının değişim hızı gerçekten bir gerilimdir.
Düşün: Φ–t grafiğinde akının tepe yaptığı anda emk neden sıfırdır?
Cevap: Emk, akının değişim hızıdır, yani Φ–t eğrisinin eğimidir. Tepe noktasında eğri bir an için yatay olur; akı büyük ama o an değişmiyordur. Sayfanın 01 numaralı deneyinde mıknatıs bobinin ortasına geldiğinde ε–t eğrisinin sıfırdan geçmesi bu yüzdendir.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Φ–t grafiğinde akının tepe yaptığı anda emk neden sıfırdır?
Sınıfa sorun, birkaç tahmin alın; sonra cevap slaytına geçin.
Cevap: Emk, akının değişim hızıdır, yani Φ–t eğrisinin eğimidir. Tepe noktasında eğri bir an için yatay olur; akı büyük ama o an değişmiyordur. Sayfanın 01 numaralı deneyinde mıknatıs bobinin ortasına geldiğinde ε–t eğrisinin sıfırdan geçmesi bu yüzdendir.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Emk, akının değişim hızıdır, yani Φ–t eğrisinin eğimidir. Tepe noktasında eğri bir an için yatay olur; akı büyük ama o an değişmiyordur. Sayfanın 01 numaralı deneyinde mıknatıs bobinin ortasına geldiğinde ε–t eğrisinin sıfırdan geçmesi bu yüzdendir.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İndüksiyon akımının yönü
Kısaca: Önce akının artıp azaldığına bak: artıyorsa indüklenen alan zıt, azalıyorsa aynı yöndedir. Sonra bu alanı üretecek akım yönünü sağ el kuralıyla bul.
Yönü bulmanın pratik yolu üç adımdır:
• Devreden geçen akının yönünü ve artıyor mu azalıyor mu olduğunu belirle.
• Lenz'e göre indüksiyon akımının hangi yönde alan üretmesi gerektiğini bul (artışa karşı zıt, azalmaya karşı aynı yönde).
• Sağ el kuralıyla, bu alanı üretecek akım yönünü belirle.
Görsel: Yönü bulmak için tek bir soru yeter: akı artıyor mu, azalıyor mu? Artıyorsa indüklenen akım, artışı frenlemek için zıt yönde bir alan üretir; azalıyorsa azalmayı yavaşlatmak için aynı yönde bir alan üretir. İndüklenen alanın yönünü bulduktan sonra akımın yönünü sağ el kuralıyla okursun.
Bobine hangi kutbun, hangi yönde geldiğine göre dört durum vardır. Hepsinde bobinin mıknatısa bakan yüzü, hareketi zorlaştıracak kutbu alır:
Mıknatıs | Akı | İndüklenen alan | Bobinin yüzü
N kutbu yaklaşıyor | artıyor | zıt yönde | N (iter)
N kutbu uzaklaşıyor | azalıyor | aynı yönde | S (çeker)
S kutbu yaklaşıyor | artıyor | zıt yönde | S (iter)
S kutbu uzaklaşıyor | azalıyor | aynı yönde | N (çeker)
Yüzün kutbunu bulduktan sonra akım yönü kolaydır: mıknatıstan bakıldığında N gibi davranan yüzde akım saatin tersi yönde, S gibi davranan yüzde saat yönünde döner. Sayfadaki 01 numaralı deneyde mıknatıs yaklaşırken akım bir yöne, uzaklaşırken ters yöne akar; galvanometre iki kez, zıt yönlerde sapar.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Hareketli iletken çubuk
Kısaca: Alanda kayan çubuk ε = B·L·v emk'si üretir; doğan akım çubuğa harekete zıt F = B²L²v/R kuvveti uygular. Çubuğu itmek için harcanan güç, dirençte ısıya dönüşen güce eşittir.
Manyetik alan içinde, raylar üzerinde v hızıyla kayan L uzunluğundaki çubuk için akı değişimi ΔΦ = B·L·v·Δt olur ve emk:
ε = B · L · v   I = B·L·v / R   F = B·I·L = B²L²v / R
• Alan büyür: Çubuk Δt sürede v·Δt kadar kayar; devrenin çevrelediği yüzey ΔA = L·v·Δt kadar büyür.
• Akı artar: Alan yüzeye dik olduğundan ΔΦ = B·ΔA = B·L·v·Δt.
• Faraday: ε = ΔΦ/Δt = B·L·v; Δt sadeleşir.
• İkinci bakış: Çubuktaki yükler v hızıyla alanda hareket eder; çubuk boyunca q·v·B kuvveti görür ve bir uca itilir. Çubuk bir pil gibi davranır.
Bu kuvvet harekete zıt yöndedir: çubuğu sabit hızla sürmek için dışarıdan bir kuvvet uygulanmalıdır. Harcanan mekanik güç (F·v), devrede açığa çıkan elektriksel güce (I²R) eşittir — enerji korunur. Sayfanın 03 numaralı deneyindeki başlangıç değerleriyle (B = 0,5 T, L = 0,5 m, v = 4 m/s, R = 2 Ω): ε = 1 V, I = 0,5 A, F = 0,125 N ve F·v = I²R = 0,5 W.
Görsel: Çubuk sağa kaydıkça devrenin çevrelediği alan büyür, akı artar ve devrede akım doğar. Ama bu akım da alanın içindedir: ona etkiyen manyetik kuvvet harekete zıt yöndedir (kırmızı ok). Yani çubuğu sabit hızla sürüklemek için sürekli kuvvet uygulamak gerekir — harcadığın mekanik güç, direnç üzerinde ısıya dönüşen elektriksel güce eşittir.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emk?
Kısaca: Elle oynatılan mıknatıs birkaç on milivolt, sayfadaki çubuk 1 V, saniyede 50 tur atan küçük bir jeneratör yüzlerce volt üretir. Emk'yi belirleyen, değişimin hızıdır.
Faraday yasasının verdiği gerilimler durumdan duruma çok değişir. Tanıdık düzeneklerde ne kadar emk doğduğuna bakalım:
Durum | Değerler | emk
Mıknatısı elle bobine sokmak | 200 sarım, ΔΦ = 3·10⁻⁵ Wb, 0,2 s | 0,03 V
Uçan yolcu uçağının kanatları | B = 40 µT, L = 60 m, v = 250 m/s | 0,6 V
Sayfadaki 03 çubuğu | B = 0,5 T, L = 0,5 m, v = 4 m/s | 1 V
Sayfadaki 02 jeneratörü | 100 sarım, 0,02 m², 0,5 T, 2 tur/s | 12,6 V (tepe)
Aynı jeneratör, 50 tur/s | 100 sarım, 0,02 m², 0,5 T | 314 V (tepe)
Tablodan okunan düzen: emk'yi alanın büyüklüğünden çok değişimin hızı belirler. Aynı jeneratör 25 kat hızlı dönünce 25 kat büyük gerilim üretir; saniyede 50 tur, şebekenin gerilimine yaklaşan bir değer verir. Elle oynatılan bir mıknatıs ise yalnızca birkaç on milivolt üretir; Faraday'ın hassas bir galvanometreye ihtiyaç duyması bu yüzdendir. Uçak örneğinde alan, Dünya'nın zayıf alanının düşey bileşenidir; buna rağmen kanatların uzunluğu ve uçağın hızı yarım voltu aşan bir emk doğurur.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Jeneratör ve alternatif akım
Kısaca: Dönen çerçevede akı kosinüs, emk sinüs gibi değişir ve tepe emk N·B·A·ω'dır. Akı en büyükken emk sıfır, akı sıfırken emk en büyüktür; sonuç alternatif akımdır.
Düzgün alan içinde sabit hızla dönen bir çerçevede akı sürekli değişir:
Φ = B·A·cos(ω·t)   ε = N·B·A·ω·sin(ω·t)   ε(maks) = B·A·ω·N
Burada ω, çerçevenin açısal hızıdır (ω = 2π·f). Tepe değer, hareketli çubuk bağıntısından adım adım çıkar:
• Çerçevenin eksene paralel iki kenarı a uzunluğunda, eksenden b/2 uzaktadır; ikisi de v = ω·b/2 hızıyla döner.
• Çerçeve alana paralelken bu kenarlar alana dik hareket eder; her biri ε = B·a·v emk'si üretir.
• İki kenar seri bağlıdır: ε = 2·B·a·ω·b/2 = B·A·ω (A = a·b). N sarımda N·B·A·ω.
• Başka konumlarda hızın yalnızca alana dik bileşeni sayılır; bu da sin(ω·t) çarpanını getirir.
Üretilen emk sinüs biçiminde değişir ve yön değiştirir: buna alternatif akım (AC) denir. Çerçeve alana dik olduğunda akı en büyüktür ama değişim hızı sıfırdır, dolayısıyla emk sıfırdır; çerçeve alana paralel olduğunda ise akı sıfır, emk en büyüktür.
Görsel: Çerçeve döndükçe içinden geçen akı kosinüs gibi salınır. Emk ise akının değişim hızıyla orantılı olduğu için sinüs olur — yani ikisi arasında çeyrek periyot fark vardır. Akının en büyük olduğu anda emk sıfırdır (o an akı değişmiyordur); akının sıfır olduğu anda ise emk en büyüktür. Şehir şebekesindeki alternatif akım tam olarak bu eğridir.
Türkiye'de şebeke: 230 V, 50 Hz. Yani iki kutuplu bir jeneratörün çerçevesi saniyede 50 tam tur atar ve gerilim saniyede 50 kez tam çevrim yapar. 230 V, gerilimin etkin değeridir; tepe değeri 230·√2 ≈ 325 V'tur.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akım bir telde değil de bütün bir metal parçada dolaşınca, devre açıkken ya da motor dönerken ne olur?
10 Girdap akımları: bakır boru deneyi
11 İnce durumlar: açık devre, karşı emk, öz-indüksiyon
12 İndüksiyon gerçek dünyada
Görsel: İndüksiyonlu ocakta ısı camdan değil, tencerenin kendisinden doğar. Camın altındaki bobinin hızla değişen alanı çelik tabanda girdap akımları oluşturur ve tabanı ısıtır; cam yalnızca sıcak tencereye değdiği yerde ısınır. Yanındaki buz küpünün erimeden durabilmesi bundandır.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Girdap akımları: bakır boru deneyi
Kısaca: Değişen alanın içindeki iletkenlerde girdap akımları doğar ve Lenz yasası gereği hareketi frenler. Bakır boruda mıknatıs, plastik borudakinden on kattan fazla uzun sürede düşer.
Faraday yasası yalnızca bobinler için geçerli değildir. Değişen bir alanın içindeki her iletken parçada, metalin içinde kapalı halkalar çizen akımlar doğar: girdap akımları. Lenz yasası gereği bu akımlar da değişime karşı koyar ve hareketi frenler.
Sayfanın 04 numaralı deneyinde aynı mıknatıs 1,2 m'lik iki borudan bırakılıyor. Plastik boruda serbest düşerek yaklaşık 0,49 saniyede iner. Bakır boruda ise mıknatısın altındaki bölgede akı artar, üstündeki bölgede azalır; boru çeperinde doğan girdap akımları mıknatısı yukarı iter. Mıknatıs neredeyse hemen sabit ve küçük bir hıza ulaşır ve boruyu yaklaşık 5,5 saniyede, on kattan da yavaş geçer. Kaybolan potansiyel enerji boruda ısıya dönüşür.
Görsel: Bakır mıknatıslanmaz — ama iletkendir. Mıknatıs boruya girerken boru duvarında halka halka girdap akımları doğar ve Lenz yasası gereği bu akımlar mıknatısı frenler. Sonuç şaşırtıcı: aynı mıknatıs plastik boruda yarım saniyede düşerken bakır boruda on kat uzun sürede iner. Hiçbir temas, hiçbir sürtünme olmadan frenleme — aynı ilke ağır vasıtaların girdap akımı frenlerinde kullanılır.
• Girdap akımı freni: Lenz kuvvetiyle temassız frenleme; ağır vasıtalarda ve trenlerde balatayı aşındırmadan yavaşlatır.
• Metal dedektörü: değişen alan metalde girdap akımları doğurur; bu akımların alanı dedektörün bobinince algılanır.
• İnce levhalı çekirdek: transformatör çekirdekleri yalıtılmış ince levhalardan yapılır; girdap akımlarının yolu kesilir, ısı kaybı azalır.
Düşün: Bakır boruyu boylamasına kesip ince bir yarık açarsan mıknatıs daha hızlı mı düşer?
Cevap: Evet. Girdap akımları borunun çevresinde halka biçiminde dolaşır; yarık bu halkaları keser. Akımlar zayıflayınca frenleyen kuvvet de zayıflar ve mıknatıs belirgin biçimde daha hızlı düşer. Transformatör çekirdeğini ince levhalara bölmek de aynı fikre dayanır.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Bakır boruyu boylamasına kesip ince bir yarık açarsan mıknatıs daha hızlı mı düşer?
Sınıfa sorun, birkaç tahmin alın; sonra cevap slaytına geçin.
Cevap: Evet. Girdap akımları borunun çevresinde halka biçiminde dolaşır; yarık bu halkaları keser. Akımlar zayıflayınca frenleyen kuvvet de zayıflar ve mıknatıs belirgin biçimde daha hızlı düşer. Transformatör çekirdeğini ince levhalara bölmek de aynı fikre dayanır.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Evet. Girdap akımları borunun çevresinde halka biçiminde dolaşır; yarık bu halkaları keser. Akımlar zayıflayınca frenleyen kuvvet de zayıflar ve mıknatıs belirgin biçimde daha hızlı düşer. Transformatör çekirdeğini ince levhalara bölmek de aynı fikre dayanır.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 durumlar: açık devre, karşı emk, öz-indüksiyon
Kısaca: Açık devrede emk vardır ama akım yoktur. Dönen motor karşı emk üretir ve akımını azaltır; bobin kendi akımındaki değişime de direnir (öz-indüksiyon).
Faraday yasasını doğru kullanmak için dört ince noktayı bilmek gerekir. Hepsi aynı ilkeye dayanır, ama ilk bakışta şaşırtır:
• Açık devre: emk doğar ama akım akmaz. Uçağın kanat uçları arasında 0,6 V vardır, ama uçakla birlikte hareket eden bir devrenin akısı değişmediği için akım dolaşmaz.
• Karşı emk: dönen her motor aynı zamanda bir jeneratördür ve beslemeye karşı bir emk üretir. Motorun çektiği akım bu yüzden dönerken azalır.
• Öz-indüksiyon: bobinin kendi akımı değişince kendi akısı da değişir; bobin bu değişime direnir. Anahtar açılınca kıvılcım çıkması bundandır.
• Doğru akım: sabit akım sabit akı demektir; transformatör yalnızca akım açılıp kapanırken, yani akı değişirken emk üretir.
I = (V − εkarşı) / R
Karşı emk'nin etkisini sayılarla görelim: 12 V'luk bir motorun sargı direnci 1 Ω olsun. Motor ilk çalıştığı an henüz dönmediği için karşı emk sıfırdır ve akım 12 A'dir. Motor hızlanıp 10 V'luk karşı emk ürettiğinde akım (12 − 10)/1 = 2 A'e iner. Arabaların çalıştırma anında farların bir an sönükleşmesi, bu büyük ilk akım yüzündendir. İndüksiyon arabaların ateşleme bobininde de işe koşulur: birincil bobindeki akım aniden kesilince hızla çöken manyetik alan, çok sarımlı ikincil bobinde on binlerce voltluk bir emk doğurur ve bujide kıvılcım çakar.
Düşün: Bir elektrik motorunun mili sıkışıp dönemezse motor neden ısınıp yanabilir?
Cevap: Mil dönmezse karşı emk doğmaz ve motor sürekli ilk anın büyük akımını çeker. Sargılarda açığa çıkan ısı akımın karesiyle büyür (I²R); 2 A yerine 12 A akması ısıyı 36 kat artırır. Sargıların yalıtımı bu ısıya dayanamaz ve motor yanar.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Bir elektrik motorunun mili sıkışıp dönemezse motor neden ısınıp yanabilir?
Sınıfa sorun, birkaç tahmin alın; sonra cevap slaytına geçin.
Cevap: Mil dönmezse karşı emk doğmaz ve motor sürekli ilk anın büyük akımını çeker. Sargılarda açığa çıkan ısı akımın karesiyle büyür (I²R); 2 A yerine 12 A akması ısıyı 36 kat artırır. Sargıların yalıtımı bu ısıya dayanamaz ve motor yanar.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Mil dönmezse karşı emk doğmaz ve motor sürekli ilk anın büyük akımını çeker. Sargılarda açığa çıkan ısı akımın karesiyle büyür (I²R); 2 A yerine 12 A akması ısıyı 36 kat artırır. Sargıların yalıtımı bu ısıya dayanamaz ve motor yanar.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İndüksiyon gerçek dünyada
Kısaca: Santraller, rüzgâr türbinleri, dinamolar, indüksiyonlu ocaklar, transformatörler ve temassız kartlar aynı ilkeyle çalışır: bir yerde akı değiştirilir, başka bir yerde akım doğar.
Evine gelen elektrikten cebindeki temassız karta kadar indüksiyon her yerde çalışıyor. Ortak nokta hep aynı: bir yerde akı değiştirilir, başka bir yerde akım doğar.
Görsel: İndüksiyonlu ocakta ısı camdan değil, tencerenin kendisinden doğar. Camın altındaki bobinin hızla değişen alanı çelik tabanda girdap akımları oluşturur ve tabanı ısıtır; cam yalnızca sıcak tencereye değdiği yerde ısınır. Yanındaki buz küpünün erimeden durabilmesi bundandır.
• Santral jeneratörü: iki kutuplu bir jeneratör 50 Hz üretmek için dakikada 3000 tur atar; barajlardaki çok kutuplu jeneratörler daha yavaş döner.
• Rüzgâr türbini: büyük kanatlar dakikada yalnızca 10–20 tur atar; dişli kutuları ya da elektronik dönüştürücüler bunu şebekeye uydurur.
• İndüksiyonlu ocak: bobinin akımı saniyede on binlerce kez yön değiştirir; ısı doğrudan tencerenin demir içeren tabanında doğar.
• Bisiklet dinamosu: tipik bir dinamo yaklaşık 6 V ve 3 W verir; bu, bir bisiklet farını yakmaya yeter.
• Temassız kart: okuyucunun 13,56 MHz'lik alanı karttaki anten bobininde akım doğurur; kartın pili yoktur.
Uygulama | Nasıl çalışır
Jeneratör / dinamo | Dönen çerçevede akı değişimi
Transformatör | Değişen akımın ikinci bobinde akı değişimi yaratması
Kablosuz şarj | Bobinden bobine akı aktarımı
Metal dedektör | Metalde doğan girdap akımlarının alanı bozması
İndüksiyonlu ocak | Tencere tabanında doğan girdap akımlarının ısıtması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İndüksiyon gerçek dünyada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Akının açıya bağlılığı (kolay)
Aşağıdaki çözümlerde emk'nin büyüklüğü hesaplanmış, yönü Lenz yasasıyla ayrıca bulunmuştur.
Alanı 0,2 m² olan bir çerçeve, 0,4 T'lık düzgün alan içinde duruyor. Çerçevenin normali alanla (a) 0°, (b) 60°, (c) 90° açı yaptığında akı kaç Wb olur?
1. (a) Φ = B·A·cos0° = 0,4 · 0,2 · 1 = 0,08 Wb
2. (b) Φ = 0,08 · cos60° = 0,08 · 0,5 = 0,04 Wb
3. (c) Φ = 0,08 · cos90° = 0 (alan yüzeye paralel)
4. Çerçeve döndükçe akı bu değerler arasında salınır; jeneratörün temeli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Akı değişiminden emk (kolay)
Aşağıdaki çözümlerde emk'nin büyüklüğü hesaplanmış, yönü Lenz yasasıyla ayrıca bulunmuştur.
200 sarımlı bir bobinden geçen manyetik akı 0,1 saniyede 4·10⁻³ Wb'den 1·10⁻³ Wb'e düşüyor. İndüklenen emk'nin büyüklüğü nedir?
1. ΔΦ = 1·10⁻³ − 4·10⁻³ = −3·10⁻³ Wb
2. |ε| = N·|ΔΦ|/Δt = 200 · 3·10⁻³ / 0,1
3. |ε| = 200 · 0,03 = 6 V
4. Akı azaldığı için indüksiyon akımı, akıyı sürdürecek yönde akar (Lenz).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Lenz yasasıyla yön (orta)
Aşağıdaki çözümlerde emk'nin büyüklüğü hesaplanmış, yönü Lenz yasasıyla ayrıca bulunmuştur.
Bir mıknatısın N kutbu bobine yaklaştırılıyor. Bobinin mıknatısa bakan yüzü hangi kutup gibi davranır ve neden?
1. N kutbu yaklaştıkça bobinden geçen akı artar.
2. Lenz yasası: indüksiyon akımı bu artışa karşı koyar, yani mıknatısı iter.
3. İtebilmesi için bobinin o yüzü N kutbu gibi davranmalıdır.
4. Mıknatıs uzaklaştırılsaydı akı azalırdı; bu kez bobin onu çekmek için S kutbu gibi davranırdı.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Hareketli çubuk (orta)
Aşağıdaki çözümlerde emk'nin büyüklüğü hesaplanmış, yönü Lenz yasasıyla ayrıca bulunmuştur.
0,5 T'lık alanda, 40 cm uzunluğundaki çubuk raylar üzerinde 5 m/s hızla kayıyor. Devrenin direnci 2 Ω'dur. emk, akım ve çubuğa etki eden karşı kuvveti bulunuz.
1. ε = B·L·v = 0,5 · 0,4 · 5 = 1 V
2. I = ε/R = 1/2 = 0,5 A
3. F = B·I·L = 0,5 · 0,5 · 0,4 = 0,1 N (harekete zıt)
4. Kontrol: mekanik güç F·v = 0,5 W; elektriksel güç I²R = 0,25·2 = 0,5 W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Jeneratörün tepe emk'si (zor)
Aşağıdaki çözümlerde emk'nin büyüklüğü hesaplanmış, yönü Lenz yasasıyla ayrıca bulunmuştur.
100 sarımlı, 0,02 m² alanlı bir çerçeve 0,5 T'lık düzgün alanda dönüyor. (a) Saniyede 2 tur atarken, (b) saniyede 50 tur atarken tepe emk nedir? (c) 50 tur/s'de tepe emk'nin şebekenin 325 V'luk tepe değerine ulaşması için en az kaç sarım gerekir? (π ≈ 3,14)
1. (a) ω = 2π·f = 2 · 3,14 · 2 ≈ 12,6 rad/s → εmaks = N·B·A·ω = 100 · 0,5 · 0,02 · 12,6 ≈ 12,6 V
2. (b) ω = 2 · 3,14 · 50 = 314 rad/s → εmaks = 100 · 0,5 · 0,02 · 314 = 314 V
3. (c) Bir sarımın payı 0,5 · 0,02 · 314 = 3,14 V; N = 325 / 3,14 ≈ 103,5 → en az 104 sarım
4. Çerçeve alana dik konumdan geçtiği her an emk sıfırdır; tepe değer, çerçeve alana paralelken görülür.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Sabit kuvvetle çekilen çubuk (zor)
Aşağıdaki çözümlerde emk'nin büyüklüğü hesaplanmış, yönü Lenz yasasıyla ayrıca bulunmuştur.
0,5 T'lık alanda raylar üzerindeki 0,5 m'lik çubuk, 0,5 N'luk sabit bir kuvvetle çekiliyor. Devrenin direnci 2 Ω'dur; sürtünme yoktur. Çubuğun ulaşacağı en büyük hızı, bu hızdaki emk'yi, akımı ve dirençteki gücü bulunuz.
1. Çubuk hızlandıkça karşı kuvvet B²L²v/R büyür; çekme kuvvetine eşitlendiğinde ivme biter.
2. F = B²L²v/R → v = F·R/(B²L²) = 0,5 · 2 / (0,25 · 0,25) = 16 m/s
3. ε = B·L·v = 0,5 · 0,5 · 16 = 4 V; I = ε/R = 2 A
4. P = I²R = 4 · 2 = 8 W. Kontrol: F·v = 0,5 · 16 = 8 W ✓
Bu durum, havada düşen cismin limit hıza ulaşmasına benzer: sürükleyen kuvvet sabit, frenleyen kuvvet hızla büyür ve ikisi eşitlenince hız sabitlenir.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“Manyetik alan varsa akım vardır.” Akım için alanın değil, akının değişmesi gerekir.
• “Güçlü mıknatıs her zaman daha çok akım üretir.” Belirleyici olan ΔΦ/Δt'dir; yavaş oynatılan güçlü mıknatıs, hızlı oynatılan zayıf mıknatıstan daha az emk üretebilir.
• Lenz'in eksi işaretini büyüklük sanmak. Eksi işareti yalnızca yönü anlatır.
• “İndüksiyon akımı hareketi destekler.” Daima karşı koyar; aksi hâlde enerji korunumu bozulurdu.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Akıyı alanla karıştırmak. Φ = B·A·cosα; alan aynı kalsa bile yüzey ya da açı değişirse akı değişir.
• “ε = B·L·v her durumda geçerlidir.” Bu bağıntı, çubuğun alana ve kendine dik hareket ettiği özel durum içindir.
• Jeneratörde emk ile akıyı aynı anda en büyük sanmak. Φ en büyükken ε sıfır, Φ sıfırken ε en büyüktür.
• “Devre açıksa emk de yoktur.” Açık devrede de emk doğar; yalnızca akım akmaz. Uçları bir voltmetreye bağlarsan gerilimi ölçersin.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Akı Φ = B·A·cosα · Faraday ε = −N·ΔΦ/Δt · Lenz değişime karşı · Çubuk ε = B·L·v
Φ = B · A · cosα — manyetik akı (weber)
ε = −N · ΔΦ / Δt — Faraday indüksiyon yasası
ε = B · L · v — hareketli iletken çubuk
I = ε / R — indüksiyon akımı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5/sek/induksiyon-akimi-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ELEKTRİK VE MANYETİZMA · KONU 03</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500" b="1" spc="-100" kern="0" dirty="0">
                <a:solidFill>
                  <a:srgbClr val="FFFFFF"/>
                </a:solidFill>
                <a:latin typeface="Cambria" pitchFamily="34" charset="0"/>
                <a:ea typeface="Cambria" pitchFamily="34" charset="-122"/>
                <a:cs typeface="Cambria" pitchFamily="34" charset="-120"/>
              </a:rPr>
              <a:t>İndüksiyon akımı</a:t>
            </a:r>
            <a:endParaRPr lang="en-US" sz="45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Manyetik alan tek başına akım üretmez; üreten şey alanın değişmesidir. Bir devreden geçen manyetik akı değiştiği sürece devrede bir indüksiyon emk'sı doğar — ve bu akım, kendisini doğuran değişime karşı koyar.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dersler.perinet.org/induksiyon-akimi.html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Pil yok, priz yok, yalnızca dönen bir tekerlek: bisiklet farı nasıl yanıyor?</a:t>
            </a:r>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Evindeki prizden gelen elektriğin büyük bölümü de aynı fikirden doğuyor: bir bobinin içinden geçen manyetik alan </a:t>
            </a:r>
            <a:pPr indent="0" marL="0">
              <a:lnSpc>
                <a:spcPct val="130000"/>
              </a:lnSpc>
              <a:buNone/>
            </a:pPr>
            <a:r>
              <a:rPr lang="en-US" sz="2000" b="1" dirty="0">
                <a:solidFill>
                  <a:srgbClr val="5F4BD8"/>
                </a:solidFill>
                <a:latin typeface="Cambria" pitchFamily="34" charset="0"/>
                <a:ea typeface="Cambria" pitchFamily="34" charset="-122"/>
                <a:cs typeface="Cambria" pitchFamily="34" charset="-120"/>
              </a:rPr>
              <a:t>değişirse</a:t>
            </a:r>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 o bobinde akım doğar.</a:t>
            </a:r>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Faraday bunu 1831'de bir mıknatısı bobinin içinde ileri geri oynatarak buldu.</a:t>
            </a:r>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Bugün barajlar, rüzgâr türbinleri, termik santraller ve arabaların alternatörleri hep aynı şeyi yapıyor — </a:t>
            </a:r>
            <a:pPr indent="0" marL="0">
              <a:lnSpc>
                <a:spcPct val="130000"/>
              </a:lnSpc>
              <a:buNone/>
            </a:pPr>
            <a:r>
              <a:rPr lang="en-US" sz="2000" b="1" dirty="0">
                <a:solidFill>
                  <a:srgbClr val="5F4BD8"/>
                </a:solidFill>
                <a:latin typeface="Cambria" pitchFamily="34" charset="0"/>
                <a:ea typeface="Cambria" pitchFamily="34" charset="-122"/>
                <a:cs typeface="Cambria" pitchFamily="34" charset="-120"/>
              </a:rPr>
              <a:t>hareketi, akı değişimine çevirmek.</a:t>
            </a:r>
            <a:endParaRPr lang="en-US" sz="20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akım nereden doğuyor, akı ne demek ve doğa değişime neden karşı koyuyor?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bisiklet farı nasıl yanar?</a:t>
            </a:r>
            <a:endParaRPr lang="en-US" sz="120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Manyetik akı</a:t>
            </a:r>
            <a:endParaRPr lang="en-US" sz="125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Faraday'ın keşfi: değişim akım doğurur</a:t>
            </a:r>
            <a:endParaRPr lang="en-US" sz="12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Lenz yasası: doğa değişime direnir</a:t>
            </a:r>
            <a:endParaRPr lang="en-US" sz="12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00" dirty="0">
                <a:solidFill>
                  <a:srgbClr val="4A5470"/>
                </a:solidFill>
                <a:latin typeface="Calibri" pitchFamily="34" charset="0"/>
                <a:ea typeface="Calibri" pitchFamily="34" charset="-122"/>
                <a:cs typeface="Calibri" pitchFamily="34" charset="-120"/>
              </a:rPr>
              <a:t>Bağıntılar: Faraday yasasını kullan, akımın yönünü bul, kayan çubuğun ve dönen çerçevenin emk'sini adım adım çıkar.</a:t>
            </a:r>
            <a:endParaRPr lang="en-US" sz="110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Faraday indüksiyon yasası</a:t>
            </a:r>
            <a:endParaRPr lang="en-US" sz="1250" dirty="0"/>
          </a:p>
        </p:txBody>
      </p:sp>
      <p:sp>
        <p:nvSpPr>
          <p:cNvPr id="30" name="Text 28"/>
          <p:cNvSpPr txBox="1"/>
          <p:nvPr/>
        </p:nvSpPr>
        <p:spPr>
          <a:xfrm>
            <a:off x="3637712" y="4072738"/>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072738"/>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İndüksiyon akımının yönü</a:t>
            </a:r>
            <a:endParaRPr lang="en-US" sz="1250" dirty="0"/>
          </a:p>
        </p:txBody>
      </p:sp>
      <p:sp>
        <p:nvSpPr>
          <p:cNvPr id="32" name="Text 30"/>
          <p:cNvSpPr txBox="1"/>
          <p:nvPr/>
        </p:nvSpPr>
        <p:spPr>
          <a:xfrm>
            <a:off x="3637712" y="4579315"/>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579315"/>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Hareketli iletken çubuk</a:t>
            </a:r>
            <a:endParaRPr lang="en-US" sz="1250" dirty="0"/>
          </a:p>
        </p:txBody>
      </p:sp>
      <p:sp>
        <p:nvSpPr>
          <p:cNvPr id="34" name="Text 32"/>
          <p:cNvSpPr txBox="1"/>
          <p:nvPr/>
        </p:nvSpPr>
        <p:spPr>
          <a:xfrm>
            <a:off x="3637712" y="5085893"/>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085893"/>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Sayılarla hisset: ne kadar emk?</a:t>
            </a:r>
            <a:endParaRPr lang="en-US" sz="1250" dirty="0"/>
          </a:p>
        </p:txBody>
      </p:sp>
      <p:sp>
        <p:nvSpPr>
          <p:cNvPr id="36" name="Text 34"/>
          <p:cNvSpPr txBox="1"/>
          <p:nvPr/>
        </p:nvSpPr>
        <p:spPr>
          <a:xfrm>
            <a:off x="3637712" y="559247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09</a:t>
            </a:r>
            <a:endParaRPr lang="en-US" sz="1100" dirty="0"/>
          </a:p>
        </p:txBody>
      </p:sp>
      <p:sp>
        <p:nvSpPr>
          <p:cNvPr id="37" name="Text 35"/>
          <p:cNvSpPr txBox="1"/>
          <p:nvPr/>
        </p:nvSpPr>
        <p:spPr>
          <a:xfrm>
            <a:off x="4021760" y="559247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Jeneratör ve alternatif akım</a:t>
            </a:r>
            <a:endParaRPr lang="en-US" sz="1250" dirty="0"/>
          </a:p>
        </p:txBody>
      </p:sp>
      <p:sp>
        <p:nvSpPr>
          <p:cNvPr id="38" name="Shape 36"/>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9" name="Shape 37"/>
          <p:cNvSpPr/>
          <p:nvPr/>
        </p:nvSpPr>
        <p:spPr>
          <a:xfrm>
            <a:off x="6379312" y="1645920"/>
            <a:ext cx="2211248" cy="64008"/>
          </a:xfrm>
          <a:prstGeom prst="rect">
            <a:avLst/>
          </a:prstGeom>
          <a:solidFill>
            <a:srgbClr val="5F4BD8"/>
          </a:solidFill>
          <a:ln/>
        </p:spPr>
      </p:sp>
      <p:sp>
        <p:nvSpPr>
          <p:cNvPr id="40" name="Shape 38"/>
          <p:cNvSpPr/>
          <p:nvPr/>
        </p:nvSpPr>
        <p:spPr>
          <a:xfrm>
            <a:off x="6415888" y="1920240"/>
            <a:ext cx="420624" cy="420624"/>
          </a:xfrm>
          <a:prstGeom prst="roundRect">
            <a:avLst>
              <a:gd name="adj" fmla="val 26000"/>
            </a:avLst>
          </a:prstGeom>
          <a:solidFill>
            <a:srgbClr val="5F4BD8"/>
          </a:solidFill>
          <a:ln/>
        </p:spPr>
      </p:sp>
      <p:sp>
        <p:nvSpPr>
          <p:cNvPr id="41" name="Text 39"/>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Text 40"/>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3" name="Text 41"/>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00" dirty="0">
                <a:solidFill>
                  <a:srgbClr val="4A5470"/>
                </a:solidFill>
                <a:latin typeface="Calibri" pitchFamily="34" charset="0"/>
                <a:ea typeface="Calibri" pitchFamily="34" charset="-122"/>
                <a:cs typeface="Calibri" pitchFamily="34" charset="-120"/>
              </a:rPr>
              <a:t>Derinleşme: akım bir telde değil de bütün bir metal parçada dolaşınca, devre açıkken ya da motor dönerken ne olur?</a:t>
            </a:r>
            <a:endParaRPr lang="en-US" sz="1100" dirty="0"/>
          </a:p>
        </p:txBody>
      </p:sp>
      <p:sp>
        <p:nvSpPr>
          <p:cNvPr id="44" name="Shape 42"/>
          <p:cNvSpPr/>
          <p:nvPr/>
        </p:nvSpPr>
        <p:spPr>
          <a:xfrm>
            <a:off x="6415888" y="3429000"/>
            <a:ext cx="2138096" cy="0"/>
          </a:xfrm>
          <a:prstGeom prst="line">
            <a:avLst/>
          </a:prstGeom>
          <a:noFill/>
          <a:ln w="9525">
            <a:solidFill>
              <a:srgbClr val="E1E5EE"/>
            </a:solidFill>
            <a:prstDash val="dash"/>
          </a:ln>
        </p:spPr>
      </p:sp>
      <p:sp>
        <p:nvSpPr>
          <p:cNvPr id="45" name="Text 43"/>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Girdap akımları: bakır boru deneyi</a:t>
            </a:r>
            <a:endParaRPr lang="en-US" sz="1250" dirty="0"/>
          </a:p>
        </p:txBody>
      </p:sp>
      <p:sp>
        <p:nvSpPr>
          <p:cNvPr id="47" name="Text 45"/>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İnce durumlar: açık devre, karşı emk, öz-indüksiyon</a:t>
            </a:r>
            <a:endParaRPr lang="en-US" sz="1200" dirty="0"/>
          </a:p>
        </p:txBody>
      </p:sp>
      <p:sp>
        <p:nvSpPr>
          <p:cNvPr id="49" name="Text 47"/>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İndüksiyon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akım nereden doğuyor, akı ne demek ve doğa değişime neden karşı koyuyor? Bu basamakta hesap yok denecek kadar az.</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bisiklet farı nasıl yanar?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Manyetik akı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Faraday'ın keşfi: değişim akım doğurur</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Lenz yasası: doğa değişime direnir</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5/sek/induksiyon-akimi-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00" dirty="0">
                <a:solidFill>
                  <a:srgbClr val="C3CEE8"/>
                </a:solidFill>
                <a:latin typeface="Calibri" pitchFamily="34" charset="0"/>
                <a:ea typeface="Calibri" pitchFamily="34" charset="-122"/>
                <a:cs typeface="Calibri" pitchFamily="34" charset="-120"/>
              </a:rPr>
              <a:t>Birçok bisiklet farı pille değil, tekerleğin hareketiyle çalışan küçük bir </a:t>
            </a:r>
            <a:pPr indent="0" marL="0">
              <a:lnSpc>
                <a:spcPct val="115000"/>
              </a:lnSpc>
              <a:buNone/>
            </a:pPr>
            <a:r>
              <a:rPr lang="en-US" sz="1100" b="1" dirty="0">
                <a:solidFill>
                  <a:srgbClr val="FFFFFF"/>
                </a:solidFill>
                <a:latin typeface="Calibri" pitchFamily="34" charset="0"/>
                <a:ea typeface="Calibri" pitchFamily="34" charset="-122"/>
                <a:cs typeface="Calibri" pitchFamily="34" charset="-120"/>
              </a:rPr>
              <a:t>dinamoyla</a:t>
            </a:r>
            <a:pPr indent="0" marL="0">
              <a:lnSpc>
                <a:spcPct val="115000"/>
              </a:lnSpc>
              <a:buNone/>
            </a:pPr>
            <a:r>
              <a:rPr lang="en-US" sz="1100" dirty="0">
                <a:solidFill>
                  <a:srgbClr val="C3CEE8"/>
                </a:solidFill>
                <a:latin typeface="Calibri" pitchFamily="34" charset="0"/>
                <a:ea typeface="Calibri" pitchFamily="34" charset="-122"/>
                <a:cs typeface="Calibri" pitchFamily="34" charset="-120"/>
              </a:rPr>
              <a:t> yanar. Bu bisiklette ön çataldaki dinamonun tırtıklı başlığı lastiğe bastırıyor: tekerlek döndükçe başlık da döner ve dinamonun içindeki mıknatısı çevirir. Bobinden geçen manyetik alan sürekli değiştiği için bobinde akım doğar ve kablo bu akımı fara taşır. Bisiklet hızlandıkça değişim hızlanır, far daha parlak yanar; bisiklet durunca far da söner.</a:t>
            </a:r>
            <a:endParaRPr lang="en-US" sz="110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dersler.perinet.org/induksiyon-akimi.html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bisiklet farı nasıl yanar?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Dinamoda dönen mıknatıs bobinde akım doğurur; mıknatıs hızlandıkça akım artar, durunca akım kesilir. Akımı doğuran mıknatısın kendisi değil, hareketinin yarattığı değişimdir.</a:t>
            </a:r>
            <a:endParaRPr lang="en-US" sz="1850" dirty="0"/>
          </a:p>
        </p:txBody>
      </p:sp>
      <p:sp>
        <p:nvSpPr>
          <p:cNvPr id="9" name="Text 7"/>
          <p:cNvSpPr txBox="1"/>
          <p:nvPr/>
        </p:nvSpPr>
        <p:spPr>
          <a:xfrm>
            <a:off x="640080" y="2593238"/>
            <a:ext cx="10911535" cy="36195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Dinamolu bir bisikletle yola çıkan herkes aynı dört şeyi fark eder:</a:t>
            </a:r>
            <a:endParaRPr lang="en-US" sz="1700" dirty="0"/>
          </a:p>
        </p:txBody>
      </p:sp>
      <p:sp>
        <p:nvSpPr>
          <p:cNvPr id="10" name="Text 8"/>
          <p:cNvSpPr txBox="1"/>
          <p:nvPr/>
        </p:nvSpPr>
        <p:spPr>
          <a:xfrm>
            <a:off x="640080" y="3064916"/>
            <a:ext cx="10911535" cy="144780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Dönerse yanar: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tekerlek döndükçe far yanar, bisiklet durunca söner.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Hızlandıkça parlar: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pedalı hızlı çevirdiğinde far daha parlak yanar.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Pedal ağırlaşır: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dinamo çalışırken pedal çevirmek biraz daha zor gelir.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Pil harcanmaz:</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farın enerjisi tükenmez, çünkü enerji senin bacaklarından gelir.</a:t>
            </a:r>
            <a:endParaRPr lang="en-US" sz="1700" dirty="0"/>
          </a:p>
        </p:txBody>
      </p:sp>
      <p:sp>
        <p:nvSpPr>
          <p:cNvPr id="11" name="Shape 9"/>
          <p:cNvSpPr/>
          <p:nvPr/>
        </p:nvSpPr>
        <p:spPr>
          <a:xfrm>
            <a:off x="640080" y="6382512"/>
            <a:ext cx="128016" cy="128016"/>
          </a:xfrm>
          <a:prstGeom prst="roundRect">
            <a:avLst>
              <a:gd name="adj" fmla="val 28571"/>
            </a:avLst>
          </a:prstGeom>
          <a:solidFill>
            <a:srgbClr val="A9E648"/>
          </a:solidFill>
          <a:ln/>
        </p:spPr>
      </p:sp>
      <p:sp>
        <p:nvSpPr>
          <p:cNvPr id="12"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3"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Dinamolu farı olan bisikletçi kırmızı ışıkta durunca farı neden söner?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bisiklet farı nasıl yanar?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Dinamolu farı olan bisikletçi kırmızı ışıkta durunca farı neden söner?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Tekerlek durunca dinamodaki mıknatıs da durur. Bobinden geçen alan artık değişmediği için bobinde akım doğmaz ve far söner. Bazı modern farlarda bu yüzden, hareket sırasında dolan ve durunca bir süre ışık veren küçük bir enerji deposu bulunur.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akı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Manyetik akı, bir yüzeyden geçen alan çizgisi miktarıdır: Φ = B·A·cosα, birimi weber. Alan yüzeye dikken akı en büyük, paralelken sıfırdır.</a:t>
            </a:r>
            <a:endParaRPr lang="en-US" sz="1900" dirty="0"/>
          </a:p>
        </p:txBody>
      </p:sp>
      <p:sp>
        <p:nvSpPr>
          <p:cNvPr id="9" name="Shape 7"/>
          <p:cNvSpPr/>
          <p:nvPr/>
        </p:nvSpPr>
        <p:spPr>
          <a:xfrm>
            <a:off x="640080" y="2294534"/>
            <a:ext cx="2037283"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Φ = B · A · cosα</a:t>
            </a:r>
            <a:endParaRPr lang="en-US" sz="1300" dirty="0"/>
          </a:p>
        </p:txBody>
      </p:sp>
      <p:sp>
        <p:nvSpPr>
          <p:cNvPr id="11" name="Shape 9"/>
          <p:cNvSpPr/>
          <p:nvPr/>
        </p:nvSpPr>
        <p:spPr>
          <a:xfrm>
            <a:off x="2787091" y="2294534"/>
            <a:ext cx="1741018"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787091" y="2294534"/>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1 Wb = 1 T·m²</a:t>
            </a:r>
            <a:endParaRPr lang="en-US" sz="1300" dirty="0"/>
          </a:p>
        </p:txBody>
      </p:sp>
      <p:sp>
        <p:nvSpPr>
          <p:cNvPr id="13" name="Text 11"/>
          <p:cNvSpPr txBox="1"/>
          <p:nvPr/>
        </p:nvSpPr>
        <p:spPr>
          <a:xfrm>
            <a:off x="640080" y="2916326"/>
            <a:ext cx="5486400" cy="96926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Buradaki α, alan ile yüzeyin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normali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(yüzeye dik doğrultu) arasındaki açıdır.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Üç durum önemlidir:</a:t>
            </a:r>
            <a:endParaRPr lang="en-US" sz="1600" dirty="0"/>
          </a:p>
        </p:txBody>
      </p:sp>
      <p:sp>
        <p:nvSpPr>
          <p:cNvPr id="14" name="Text 12"/>
          <p:cNvSpPr txBox="1"/>
          <p:nvPr/>
        </p:nvSpPr>
        <p:spPr>
          <a:xfrm>
            <a:off x="640080" y="3995318"/>
            <a:ext cx="5486400" cy="159410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Alan yüzeye dik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(α = 0): akı en büyüktür, Φ = B·A.</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Alan yüzeye paralel</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(α = 90°): akı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sıfırdır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Akı; B, A ya da α'dan </a:t>
            </a:r>
            <a:pPr indent="0" marL="0">
              <a:lnSpc>
                <a:spcPct val="115000"/>
              </a:lnSpc>
              <a:buNone/>
            </a:pPr>
            <a:r>
              <a:rPr lang="en-US" sz="1600" i="1" dirty="0">
                <a:solidFill>
                  <a:srgbClr val="4A5470"/>
                </a:solidFill>
                <a:latin typeface="Calibri" pitchFamily="34" charset="0"/>
                <a:ea typeface="Calibri" pitchFamily="34" charset="-122"/>
                <a:cs typeface="Calibri" pitchFamily="34" charset="-120"/>
              </a:rPr>
              <a:t>herhangi biri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değiştiğinde değişir.</a:t>
            </a:r>
            <a:endParaRPr lang="en-US" sz="1600" dirty="0"/>
          </a:p>
        </p:txBody>
      </p:sp>
      <p:sp>
        <p:nvSpPr>
          <p:cNvPr id="15" name="Shape 13"/>
          <p:cNvSpPr/>
          <p:nvPr/>
        </p:nvSpPr>
        <p:spPr>
          <a:xfrm>
            <a:off x="6419088" y="2294534"/>
            <a:ext cx="5132527" cy="3488916"/>
          </a:xfrm>
          <a:prstGeom prst="roundRect">
            <a:avLst>
              <a:gd name="adj" fmla="val 419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6" name="Image 0" descr="/tmp/claude-1000/-opt-dersler/8a8328c3-841c-44fa-b76f-82572d338d3d/scratchpad/d5/sek/induksiyon-akimi-01.png">    </p:cNvPr>
          <p:cNvPicPr>
            <a:picLocks noChangeAspect="1"/>
          </p:cNvPicPr>
          <p:nvPr/>
        </p:nvPicPr>
        <p:blipFill>
          <a:blip r:embed="rId1"/>
          <a:stretch>
            <a:fillRect/>
          </a:stretch>
        </p:blipFill>
        <p:spPr>
          <a:xfrm>
            <a:off x="6601968" y="2477414"/>
            <a:ext cx="4766767" cy="2025876"/>
          </a:xfrm>
          <a:prstGeom prst="rect">
            <a:avLst/>
          </a:prstGeom>
        </p:spPr>
      </p:pic>
      <p:sp>
        <p:nvSpPr>
          <p:cNvPr id="17" name="Shape 14"/>
          <p:cNvSpPr/>
          <p:nvPr/>
        </p:nvSpPr>
        <p:spPr>
          <a:xfrm>
            <a:off x="6601968" y="4594730"/>
            <a:ext cx="4766767" cy="0"/>
          </a:xfrm>
          <a:prstGeom prst="line">
            <a:avLst/>
          </a:prstGeom>
          <a:noFill/>
          <a:ln w="9525">
            <a:solidFill>
              <a:srgbClr val="E1E5EE"/>
            </a:solidFill>
            <a:prstDash val="dash"/>
          </a:ln>
        </p:spPr>
      </p:sp>
      <p:sp>
        <p:nvSpPr>
          <p:cNvPr id="18" name="Text 15"/>
          <p:cNvSpPr txBox="1"/>
          <p:nvPr/>
        </p:nvSpPr>
        <p:spPr>
          <a:xfrm>
            <a:off x="6601968" y="464959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Manyetik akı, çerçevenin içinden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kaç alan çizgisinin geçtiğidir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Çerçeveyi eğdikçe alan çizgilerine gösterdiği yüzey küçülür — sanki alanın gördüğü "gölgesi" daralır. Tam yan çevirdiğinde hiçbir çizgi içeriden geçmez ve akı sıfırlanır. Bağıntıdaki cosα çarpanı tam olarak bu gölgeyi hesaplar.</a:t>
            </a:r>
            <a:endParaRPr lang="en-US" sz="1050" dirty="0"/>
          </a:p>
        </p:txBody>
      </p:sp>
      <p:sp>
        <p:nvSpPr>
          <p:cNvPr id="19" name="Shape 16"/>
          <p:cNvSpPr/>
          <p:nvPr/>
        </p:nvSpPr>
        <p:spPr>
          <a:xfrm>
            <a:off x="640080" y="6382512"/>
            <a:ext cx="128016" cy="128016"/>
          </a:xfrm>
          <a:prstGeom prst="roundRect">
            <a:avLst>
              <a:gd name="adj" fmla="val 28571"/>
            </a:avLst>
          </a:prstGeom>
          <a:solidFill>
            <a:srgbClr val="A9E648"/>
          </a:solidFill>
          <a:ln/>
        </p:spPr>
      </p:sp>
      <p:sp>
        <p:nvSpPr>
          <p:cNvPr id="20"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1"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Faraday'ın keşfi: değişim akım doğurur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Akı değiştiğinde devrede emk ve indüksiyon akımı doğar; sabit alan ne kadar güçlü olursa olsun akım üretmez. Değişim hızlandıkça ve sarım sayısı arttıkça emk büyür.</a:t>
            </a:r>
            <a:endParaRPr lang="en-US" sz="1900" dirty="0"/>
          </a:p>
        </p:txBody>
      </p:sp>
      <p:sp>
        <p:nvSpPr>
          <p:cNvPr id="9" name="Shape 7"/>
          <p:cNvSpPr/>
          <p:nvPr/>
        </p:nvSpPr>
        <p:spPr>
          <a:xfrm>
            <a:off x="640080" y="2294534"/>
            <a:ext cx="5852160" cy="1383792"/>
          </a:xfrm>
          <a:prstGeom prst="roundRect">
            <a:avLst>
              <a:gd name="adj" fmla="val 793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658368" y="2440838"/>
            <a:ext cx="45720" cy="1091184"/>
          </a:xfrm>
          <a:prstGeom prst="rect">
            <a:avLst/>
          </a:prstGeom>
          <a:solidFill>
            <a:srgbClr val="3C8C21"/>
          </a:solidFill>
          <a:ln/>
        </p:spPr>
      </p:sp>
      <p:sp>
        <p:nvSpPr>
          <p:cNvPr id="11" name="Text 9"/>
          <p:cNvSpPr txBox="1"/>
          <p:nvPr/>
        </p:nvSpPr>
        <p:spPr>
          <a:xfrm>
            <a:off x="914400" y="2404262"/>
            <a:ext cx="5394960" cy="1164336"/>
          </a:xfrm>
          <a:prstGeom prst="rect">
            <a:avLst/>
          </a:prstGeom>
          <a:noFill/>
          <a:ln/>
        </p:spPr>
        <p:txBody>
          <a:bodyPr wrap="square" lIns="0" tIns="0" rIns="0" bIns="0" rtlCol="0" anchor="ctr"/>
          <a:lstStyle/>
          <a:p>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Belirleyici olan değişimdir.</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Güçlü ama </a:t>
            </a:r>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sabit</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bir alan hiçbir akım üretmez. Mıknatıs bobinin içinde hareketsiz dururken galvanometre sıfırı gösterir; hareket başladığı anda sapar.</a:t>
            </a:r>
            <a:endParaRPr lang="en-US" sz="1400" dirty="0"/>
          </a:p>
        </p:txBody>
      </p:sp>
      <p:sp>
        <p:nvSpPr>
          <p:cNvPr id="12" name="Text 10"/>
          <p:cNvSpPr txBox="1"/>
          <p:nvPr/>
        </p:nvSpPr>
        <p:spPr>
          <a:xfrm>
            <a:off x="640080" y="3788054"/>
            <a:ext cx="5852160" cy="176936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Alanı değiştir: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mıknatısı yaklaştır ya da uzaklaştır, yakındaki bir bobinin akımını değiştir.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Yüzeyi değiştir: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devrenin bir kenarını kaydırarak çevrelenen alanı büyüt ya da küçült.</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Açıyı değiştir: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bobini alanın içinde döndür; jeneratörler böyle çalışır.</a:t>
            </a:r>
            <a:endParaRPr lang="en-US" sz="1500" dirty="0"/>
          </a:p>
        </p:txBody>
      </p:sp>
      <p:sp>
        <p:nvSpPr>
          <p:cNvPr id="13" name="Shape 11"/>
          <p:cNvSpPr/>
          <p:nvPr/>
        </p:nvSpPr>
        <p:spPr>
          <a:xfrm>
            <a:off x="6784848" y="2294534"/>
            <a:ext cx="4766767" cy="3512690"/>
          </a:xfrm>
          <a:prstGeom prst="roundRect">
            <a:avLst>
              <a:gd name="adj" fmla="val 416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5/sek/induksiyon-akimi-02.png">    </p:cNvPr>
          <p:cNvPicPr>
            <a:picLocks noChangeAspect="1"/>
          </p:cNvPicPr>
          <p:nvPr/>
        </p:nvPicPr>
        <p:blipFill>
          <a:blip r:embed="rId1"/>
          <a:stretch>
            <a:fillRect/>
          </a:stretch>
        </p:blipFill>
        <p:spPr>
          <a:xfrm>
            <a:off x="6967728" y="2477414"/>
            <a:ext cx="4401007" cy="1870428"/>
          </a:xfrm>
          <a:prstGeom prst="rect">
            <a:avLst/>
          </a:prstGeom>
        </p:spPr>
      </p:pic>
      <p:sp>
        <p:nvSpPr>
          <p:cNvPr id="15" name="Shape 12"/>
          <p:cNvSpPr/>
          <p:nvPr/>
        </p:nvSpPr>
        <p:spPr>
          <a:xfrm>
            <a:off x="6967728" y="4439282"/>
            <a:ext cx="4401007" cy="0"/>
          </a:xfrm>
          <a:prstGeom prst="line">
            <a:avLst/>
          </a:prstGeom>
          <a:noFill/>
          <a:ln w="9525">
            <a:solidFill>
              <a:srgbClr val="E1E5EE"/>
            </a:solidFill>
            <a:prstDash val="dash"/>
          </a:ln>
        </p:spPr>
      </p:sp>
      <p:sp>
        <p:nvSpPr>
          <p:cNvPr id="16" name="Text 13"/>
          <p:cNvSpPr txBox="1"/>
          <p:nvPr/>
        </p:nvSpPr>
        <p:spPr>
          <a:xfrm>
            <a:off x="6967728" y="4494146"/>
            <a:ext cx="44010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Akım üreten şey alanın büyüklüğü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akının değişim hızıdır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Mıknatısı ne kadar hızlı hareket ettirirsen ΔΦ/Δt o kadar büyür ve galvanometre iğnesi o kadar çok sapar. Mıknatısı bobinin içinde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durdurursan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alan hâlâ güçlü olmasına rağmen akım tamamen kesilir. Sarım sayısını artırmak da emk'yı aynı oranda büyütür.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Lenz yasası: doğa değişime direnir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İndüksiyon akımı, kendisini doğuran değişime karşı koyar: yaklaşan mıknatısı iter, uzaklaşanı çeker. Bu karşı koyma, enerjinin korunumunun gereğidir.</a:t>
            </a:r>
            <a:endParaRPr lang="en-US" sz="1900" dirty="0"/>
          </a:p>
        </p:txBody>
      </p:sp>
      <p:sp>
        <p:nvSpPr>
          <p:cNvPr id="9" name="Text 7"/>
          <p:cNvSpPr txBox="1"/>
          <p:nvPr/>
        </p:nvSpPr>
        <p:spPr>
          <a:xfrm>
            <a:off x="640080" y="2294534"/>
            <a:ext cx="5486400" cy="12496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Akı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artıyorsa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indüksiyon akımı, artışı azaltacak yönde alan üretir.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Akı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azalıyorsa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akım, azalmayı telafi edecek yönde alan üretir.</a:t>
            </a:r>
            <a:endParaRPr lang="en-US" sz="1600" dirty="0"/>
          </a:p>
        </p:txBody>
      </p:sp>
      <p:sp>
        <p:nvSpPr>
          <p:cNvPr id="10" name="Shape 8"/>
          <p:cNvSpPr/>
          <p:nvPr/>
        </p:nvSpPr>
        <p:spPr>
          <a:xfrm>
            <a:off x="640080" y="3653942"/>
            <a:ext cx="5486400" cy="1453896"/>
          </a:xfrm>
          <a:prstGeom prst="roundRect">
            <a:avLst>
              <a:gd name="adj" fmla="val 754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3800246"/>
            <a:ext cx="45720" cy="1161288"/>
          </a:xfrm>
          <a:prstGeom prst="rect">
            <a:avLst/>
          </a:prstGeom>
          <a:solidFill>
            <a:srgbClr val="A56209"/>
          </a:solidFill>
          <a:ln/>
        </p:spPr>
      </p:sp>
      <p:sp>
        <p:nvSpPr>
          <p:cNvPr id="12" name="Text 10"/>
          <p:cNvSpPr txBox="1"/>
          <p:nvPr/>
        </p:nvSpPr>
        <p:spPr>
          <a:xfrm>
            <a:off x="914400" y="3763670"/>
            <a:ext cx="5029200" cy="1234440"/>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Lenz olmasaydı ne olurdu?</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Akım değişimi desteklerdi; sistem kendi kendini hızlandırır, bedava enerji üretirdi. Faraday yasasında birazdan göreceğin eksi işareti, enerji korunumunun bekçisidir.</a:t>
            </a:r>
            <a:endParaRPr lang="en-US" sz="1500" dirty="0"/>
          </a:p>
        </p:txBody>
      </p:sp>
      <p:sp>
        <p:nvSpPr>
          <p:cNvPr id="13" name="Shape 11"/>
          <p:cNvSpPr/>
          <p:nvPr/>
        </p:nvSpPr>
        <p:spPr>
          <a:xfrm>
            <a:off x="6419088" y="2294534"/>
            <a:ext cx="5132527" cy="3668138"/>
          </a:xfrm>
          <a:prstGeom prst="roundRect">
            <a:avLst>
              <a:gd name="adj" fmla="val 39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5/sek/induksiyon-akimi-03.png">    </p:cNvPr>
          <p:cNvPicPr>
            <a:picLocks noChangeAspect="1"/>
          </p:cNvPicPr>
          <p:nvPr/>
        </p:nvPicPr>
        <p:blipFill>
          <a:blip r:embed="rId1"/>
          <a:stretch>
            <a:fillRect/>
          </a:stretch>
        </p:blipFill>
        <p:spPr>
          <a:xfrm>
            <a:off x="6601968" y="2477414"/>
            <a:ext cx="4766767" cy="2025876"/>
          </a:xfrm>
          <a:prstGeom prst="rect">
            <a:avLst/>
          </a:prstGeom>
        </p:spPr>
      </p:pic>
      <p:sp>
        <p:nvSpPr>
          <p:cNvPr id="15" name="Shape 12"/>
          <p:cNvSpPr/>
          <p:nvPr/>
        </p:nvSpPr>
        <p:spPr>
          <a:xfrm>
            <a:off x="6601968" y="4594730"/>
            <a:ext cx="4766767" cy="0"/>
          </a:xfrm>
          <a:prstGeom prst="line">
            <a:avLst/>
          </a:prstGeom>
          <a:noFill/>
          <a:ln w="9525">
            <a:solidFill>
              <a:srgbClr val="E1E5EE"/>
            </a:solidFill>
            <a:prstDash val="dash"/>
          </a:ln>
        </p:spPr>
      </p:sp>
      <p:sp>
        <p:nvSpPr>
          <p:cNvPr id="16" name="Text 13"/>
          <p:cNvSpPr txBox="1"/>
          <p:nvPr/>
        </p:nvSpPr>
        <p:spPr>
          <a:xfrm>
            <a:off x="6601968" y="4649594"/>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Lenz yasası tek cümledir: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indüklenen akım, kendisini doğuran değişime karşı çıkacak yönde akar.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Mıknatıs yaklaşırken bobin ona bakan yüzünü aynı kutup yapar ve iter; uzaklaşırken zıt kutup yapar ve çeker. Yani mıknatısı hareket ettirmek için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iş yapman gerekir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üretilen elektrik enerjisi tam olarak buradan gelir. Aksi olsaydı hareket kendini besler, enerjinin korunumu çökerdi.</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Bobinin uçları birbirine bağlı değilse, mıknatısı yaklaştırırken yine itme hisseder misin?</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04 · Lenz yasası: doğa değişime direnir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Bobinin uçları birbirine bağlı değilse, mıknatısı yaklaştırırken yine itme hisseder misin?</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Hayır. Devre açık olduğu için bobinin uçları arasında emk doğar ama akım akamaz. Akım yoksa bobin mıknatıs gibi davranmaz ve mıknatısı itmez. Uçları birleştirdiğin anda akım akar, itme de başlar.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Faraday yasasını kullan, akımın yönünü bul, kayan çubuğun ve dönen çerçevenin emk'sini adım adım çıkar.</a:t>
            </a:r>
            <a:endParaRPr lang="en-US" sz="1600" dirty="0"/>
          </a:p>
        </p:txBody>
      </p:sp>
      <p:sp>
        <p:nvSpPr>
          <p:cNvPr id="6" name="Text 4"/>
          <p:cNvSpPr txBox="1"/>
          <p:nvPr/>
        </p:nvSpPr>
        <p:spPr>
          <a:xfrm>
            <a:off x="731520" y="457200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Faraday indüksiyon yasası</a:t>
            </a:r>
            <a:endParaRPr lang="en-US" sz="1300" dirty="0"/>
          </a:p>
        </p:txBody>
      </p:sp>
      <p:sp>
        <p:nvSpPr>
          <p:cNvPr id="7" name="Text 5"/>
          <p:cNvSpPr txBox="1"/>
          <p:nvPr/>
        </p:nvSpPr>
        <p:spPr>
          <a:xfrm>
            <a:off x="731520" y="489204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İndüksiyon akımının yönü</a:t>
            </a:r>
            <a:endParaRPr lang="en-US" sz="1300" dirty="0"/>
          </a:p>
        </p:txBody>
      </p:sp>
      <p:sp>
        <p:nvSpPr>
          <p:cNvPr id="8" name="Text 6"/>
          <p:cNvSpPr txBox="1"/>
          <p:nvPr/>
        </p:nvSpPr>
        <p:spPr>
          <a:xfrm>
            <a:off x="731520" y="521208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Hareketli iletken çubuk</a:t>
            </a:r>
            <a:endParaRPr lang="en-US" sz="1300" dirty="0"/>
          </a:p>
        </p:txBody>
      </p:sp>
      <p:sp>
        <p:nvSpPr>
          <p:cNvPr id="9" name="Text 7"/>
          <p:cNvSpPr txBox="1"/>
          <p:nvPr/>
        </p:nvSpPr>
        <p:spPr>
          <a:xfrm>
            <a:off x="731520" y="553212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Sayılarla hisset: ne kadar emk?</a:t>
            </a:r>
            <a:endParaRPr lang="en-US" sz="1300" dirty="0"/>
          </a:p>
        </p:txBody>
      </p:sp>
      <p:sp>
        <p:nvSpPr>
          <p:cNvPr id="10" name="Text 8"/>
          <p:cNvSpPr txBox="1"/>
          <p:nvPr/>
        </p:nvSpPr>
        <p:spPr>
          <a:xfrm>
            <a:off x="731520" y="585216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Jeneratör ve alternatif akım</a:t>
            </a:r>
            <a:endParaRPr lang="en-US" sz="1300" dirty="0"/>
          </a:p>
        </p:txBody>
      </p:sp>
      <p:sp>
        <p:nvSpPr>
          <p:cNvPr id="11" name="Text 9"/>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2" name="Shape 10"/>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3" name="Text 11"/>
          <p:cNvSpPr txBox="1"/>
          <p:nvPr/>
        </p:nvSpPr>
        <p:spPr>
          <a:xfrm>
            <a:off x="6400800" y="1481328"/>
            <a:ext cx="2176272"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Φ = B · A · cosα</a:t>
            </a:r>
            <a:endParaRPr lang="en-US" sz="1500" dirty="0"/>
          </a:p>
        </p:txBody>
      </p:sp>
      <p:sp>
        <p:nvSpPr>
          <p:cNvPr id="14" name="Text 12"/>
          <p:cNvSpPr txBox="1"/>
          <p:nvPr/>
        </p:nvSpPr>
        <p:spPr>
          <a:xfrm>
            <a:off x="8668512" y="1481328"/>
            <a:ext cx="2700223"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manyetik akı (weber)</a:t>
            </a:r>
            <a:endParaRPr lang="en-US" sz="1200" dirty="0"/>
          </a:p>
        </p:txBody>
      </p:sp>
      <p:sp>
        <p:nvSpPr>
          <p:cNvPr id="15" name="Shape 13"/>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6" name="Text 14"/>
          <p:cNvSpPr txBox="1"/>
          <p:nvPr/>
        </p:nvSpPr>
        <p:spPr>
          <a:xfrm>
            <a:off x="6400800" y="2350008"/>
            <a:ext cx="2176272"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ε = −N · ΔΦ / Δt</a:t>
            </a:r>
            <a:endParaRPr lang="en-US" sz="1500" dirty="0"/>
          </a:p>
        </p:txBody>
      </p:sp>
      <p:sp>
        <p:nvSpPr>
          <p:cNvPr id="17" name="Text 15"/>
          <p:cNvSpPr txBox="1"/>
          <p:nvPr/>
        </p:nvSpPr>
        <p:spPr>
          <a:xfrm>
            <a:off x="8668512" y="2350008"/>
            <a:ext cx="2700223"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Faraday indüksiyon yasası</a:t>
            </a:r>
            <a:endParaRPr lang="en-US" sz="1200" dirty="0"/>
          </a:p>
        </p:txBody>
      </p:sp>
      <p:sp>
        <p:nvSpPr>
          <p:cNvPr id="18" name="Shape 16"/>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9" name="Text 17"/>
          <p:cNvSpPr txBox="1"/>
          <p:nvPr/>
        </p:nvSpPr>
        <p:spPr>
          <a:xfrm>
            <a:off x="6400800" y="3218688"/>
            <a:ext cx="181965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ε = B · L · v</a:t>
            </a:r>
            <a:endParaRPr lang="en-US" sz="1500" dirty="0"/>
          </a:p>
        </p:txBody>
      </p:sp>
      <p:sp>
        <p:nvSpPr>
          <p:cNvPr id="20" name="Text 18"/>
          <p:cNvSpPr txBox="1"/>
          <p:nvPr/>
        </p:nvSpPr>
        <p:spPr>
          <a:xfrm>
            <a:off x="8311896" y="3218688"/>
            <a:ext cx="305683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hareketli iletken çubuk</a:t>
            </a:r>
            <a:endParaRPr lang="en-US" sz="1200" dirty="0"/>
          </a:p>
        </p:txBody>
      </p:sp>
      <p:sp>
        <p:nvSpPr>
          <p:cNvPr id="21" name="Shape 19"/>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2" name="Text 20"/>
          <p:cNvSpPr txBox="1"/>
          <p:nvPr/>
        </p:nvSpPr>
        <p:spPr>
          <a:xfrm>
            <a:off x="6400800" y="408736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I = ε / R</a:t>
            </a:r>
            <a:endParaRPr lang="en-US" sz="1500" dirty="0"/>
          </a:p>
        </p:txBody>
      </p:sp>
      <p:sp>
        <p:nvSpPr>
          <p:cNvPr id="23" name="Text 21"/>
          <p:cNvSpPr txBox="1"/>
          <p:nvPr/>
        </p:nvSpPr>
        <p:spPr>
          <a:xfrm>
            <a:off x="8138160" y="408736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indüksiyon akımı</a:t>
            </a:r>
            <a:endParaRPr lang="en-US" sz="1200" dirty="0"/>
          </a:p>
        </p:txBody>
      </p:sp>
      <p:sp>
        <p:nvSpPr>
          <p:cNvPr id="24" name="Shape 22"/>
          <p:cNvSpPr/>
          <p:nvPr/>
        </p:nvSpPr>
        <p:spPr>
          <a:xfrm>
            <a:off x="640080" y="6382512"/>
            <a:ext cx="128016" cy="128016"/>
          </a:xfrm>
          <a:prstGeom prst="roundRect">
            <a:avLst>
              <a:gd name="adj" fmla="val 28571"/>
            </a:avLst>
          </a:prstGeom>
          <a:solidFill>
            <a:srgbClr val="C6F36B"/>
          </a:solidFill>
          <a:ln/>
        </p:spPr>
      </p:sp>
      <p:sp>
        <p:nvSpPr>
          <p:cNvPr id="25"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dersler.perinet.org/induksiyon-akimi.html</a:t>
            </a:r>
            <a:endParaRPr lang="en-US" sz="1050" dirty="0"/>
          </a:p>
        </p:txBody>
      </p:sp>
      <p:sp>
        <p:nvSpPr>
          <p:cNvPr id="26"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 indüksiyon yasası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İndüklenen emk, akının değişim hızıyla ve sarım sayısıyla orantılıdır: ε = −N·ΔΦ/Δt. Wb/s birimi volta eşittir; emk, Φ–t grafiğinin eğimidir.</a:t>
            </a:r>
            <a:endParaRPr lang="en-US" sz="1900" dirty="0"/>
          </a:p>
        </p:txBody>
      </p:sp>
      <p:sp>
        <p:nvSpPr>
          <p:cNvPr id="9" name="Shape 7"/>
          <p:cNvSpPr/>
          <p:nvPr/>
        </p:nvSpPr>
        <p:spPr>
          <a:xfrm>
            <a:off x="640080" y="2294534"/>
            <a:ext cx="2037283"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ε = −N · ΔΦ / Δt</a:t>
            </a:r>
            <a:endParaRPr lang="en-US" sz="1300" dirty="0"/>
          </a:p>
        </p:txBody>
      </p:sp>
      <p:sp>
        <p:nvSpPr>
          <p:cNvPr id="11" name="Shape 9"/>
          <p:cNvSpPr/>
          <p:nvPr/>
        </p:nvSpPr>
        <p:spPr>
          <a:xfrm>
            <a:off x="2787091" y="2294534"/>
            <a:ext cx="1345997"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787091" y="2294534"/>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I = ε / R</a:t>
            </a:r>
            <a:endParaRPr lang="en-US" sz="1300" dirty="0"/>
          </a:p>
        </p:txBody>
      </p:sp>
      <p:sp>
        <p:nvSpPr>
          <p:cNvPr id="13" name="Text 11"/>
          <p:cNvSpPr txBox="1"/>
          <p:nvPr/>
        </p:nvSpPr>
        <p:spPr>
          <a:xfrm>
            <a:off x="640080" y="2916326"/>
            <a:ext cx="10911535" cy="172212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İlk akı:</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Φ₁ = B₁·A₁·cosα₁</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Son akı:</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Φ₂ = B₂·A₂·cosα₂</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Değişim:</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ΔΦ = Φ₂ − Φ₁ (artıyor mu, azalıyor mu?)</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emk: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|ε| = N·|ΔΦ| / Δt; Δt sonlu bir süreyse bu, o süredeki </a:t>
            </a:r>
            <a:pPr indent="0" marL="0">
              <a:lnSpc>
                <a:spcPct val="115000"/>
              </a:lnSpc>
              <a:buNone/>
            </a:pPr>
            <a:r>
              <a:rPr lang="en-US" sz="1600" i="1" dirty="0">
                <a:solidFill>
                  <a:srgbClr val="4A5470"/>
                </a:solidFill>
                <a:latin typeface="Calibri" pitchFamily="34" charset="0"/>
                <a:ea typeface="Calibri" pitchFamily="34" charset="-122"/>
                <a:cs typeface="Calibri" pitchFamily="34" charset="-120"/>
              </a:rPr>
              <a:t>ortalama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emk'dir.</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Akım:</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I = ε / R; yönünü Lenz yasası verir.</a:t>
            </a:r>
            <a:endParaRPr lang="en-US" sz="1600" dirty="0"/>
          </a:p>
        </p:txBody>
      </p:sp>
      <p:sp>
        <p:nvSpPr>
          <p:cNvPr id="14" name="Shape 12"/>
          <p:cNvSpPr/>
          <p:nvPr/>
        </p:nvSpPr>
        <p:spPr>
          <a:xfrm>
            <a:off x="640080" y="4748174"/>
            <a:ext cx="10911535" cy="928116"/>
          </a:xfrm>
          <a:prstGeom prst="roundRect">
            <a:avLst>
              <a:gd name="adj" fmla="val 118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58368" y="4894478"/>
            <a:ext cx="45720" cy="635508"/>
          </a:xfrm>
          <a:prstGeom prst="rect">
            <a:avLst/>
          </a:prstGeom>
          <a:solidFill>
            <a:srgbClr val="3C8C21"/>
          </a:solidFill>
          <a:ln/>
        </p:spPr>
      </p:sp>
      <p:sp>
        <p:nvSpPr>
          <p:cNvPr id="16" name="Text 14"/>
          <p:cNvSpPr txBox="1"/>
          <p:nvPr/>
        </p:nvSpPr>
        <p:spPr>
          <a:xfrm>
            <a:off x="914400" y="4857902"/>
            <a:ext cx="10454335" cy="708660"/>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Birim kontrolü:</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Wb/s = T·m²/s. 1 T = 1 N/(A·m) olduğundan T·m²/s = N·m/(A·s) = J/C = V ✓. Akının değişim hızı gerçekten bir gerilimdir.</a:t>
            </a:r>
            <a:endParaRPr lang="en-US" sz="1500" dirty="0"/>
          </a:p>
        </p:txBody>
      </p:sp>
      <p:sp>
        <p:nvSpPr>
          <p:cNvPr id="17" name="Shape 15"/>
          <p:cNvSpPr/>
          <p:nvPr/>
        </p:nvSpPr>
        <p:spPr>
          <a:xfrm>
            <a:off x="640080" y="6382512"/>
            <a:ext cx="128016" cy="128016"/>
          </a:xfrm>
          <a:prstGeom prst="roundRect">
            <a:avLst>
              <a:gd name="adj" fmla="val 28571"/>
            </a:avLst>
          </a:prstGeom>
          <a:solidFill>
            <a:srgbClr val="A9E648"/>
          </a:solidFill>
          <a:ln/>
        </p:spPr>
      </p:sp>
      <p:sp>
        <p:nvSpPr>
          <p:cNvPr id="18"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9"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Φ–t grafiğinde akının tepe yaptığı anda emk neden sıfırdır?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05 · Faraday indüksiyon yasası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Φ–t grafiğinde akının tepe yaptığı anda emk neden sıfırdır?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Emk, akının değişim hızıdır, yani Φ–t eğrisinin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eğimidir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Tepe noktasında eğri bir an için yatay olur; akı büyük ama o an değişmiyordur. Sayfanın 01 numaralı deneyinde mıknatıs bobinin ortasına geldiğinde ε–t eğrisinin sıfırdan geçmesi bu yüzdendir.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akımının yönü</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Önce akının artıp azaldığına bak: artıyorsa indüklenen alan zıt, azalıyorsa aynı yöndedir. Sonra bu alanı üretecek akım yönünü sağ el kuralıyla bul.</a:t>
            </a:r>
            <a:endParaRPr lang="en-US" sz="1900" dirty="0"/>
          </a:p>
        </p:txBody>
      </p:sp>
      <p:sp>
        <p:nvSpPr>
          <p:cNvPr id="9" name="Text 7"/>
          <p:cNvSpPr txBox="1"/>
          <p:nvPr/>
        </p:nvSpPr>
        <p:spPr>
          <a:xfrm>
            <a:off x="640080" y="2294534"/>
            <a:ext cx="6309360" cy="141884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dirty="0">
                <a:solidFill>
                  <a:srgbClr val="4A5470"/>
                </a:solidFill>
                <a:latin typeface="Calibri" pitchFamily="34" charset="0"/>
                <a:ea typeface="Calibri" pitchFamily="34" charset="-122"/>
                <a:cs typeface="Calibri" pitchFamily="34" charset="-120"/>
              </a:rPr>
              <a:t>Devreden geçen akının yönünü ve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artıyor mu azalıyor mu</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olduğunu belirle.</a:t>
            </a:r>
            <a:endParaRPr lang="en-US" sz="1400" dirty="0"/>
          </a:p>
          <a:p>
            <a:pPr marL="228600" indent="-228600">
              <a:lnSpc>
                <a:spcPct val="115000"/>
              </a:lnSpc>
              <a:spcAft>
                <a:spcPts val="500"/>
              </a:spcAft>
              <a:buSzPct val="100000"/>
              <a:buFont typeface="+mj-lt"/>
              <a:buAutoNum type="arabicPeriod" startAt="1"/>
            </a:pPr>
            <a:r>
              <a:rPr lang="en-US" sz="1400" dirty="0">
                <a:solidFill>
                  <a:srgbClr val="4A5470"/>
                </a:solidFill>
                <a:latin typeface="Calibri" pitchFamily="34" charset="0"/>
                <a:ea typeface="Calibri" pitchFamily="34" charset="-122"/>
                <a:cs typeface="Calibri" pitchFamily="34" charset="-120"/>
              </a:rPr>
              <a:t>Lenz'e göre indüksiyon akımının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hangi yönde alan üretmesi gerektiğini</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bul (artışa karşı zıt, azalmaya karşı aynı yönde).</a:t>
            </a:r>
            <a:endParaRPr lang="en-US" sz="1400" dirty="0"/>
          </a:p>
          <a:p>
            <a:pPr marL="228600" indent="-228600">
              <a:lnSpc>
                <a:spcPct val="115000"/>
              </a:lnSpc>
              <a:spcAft>
                <a:spcPts val="500"/>
              </a:spcAft>
              <a:buSzPct val="100000"/>
              <a:buFont typeface="+mj-lt"/>
              <a:buAutoNum type="arabicPeriod" startAt="1"/>
            </a:pPr>
            <a:r>
              <a:rPr lang="en-US" sz="1400" dirty="0">
                <a:solidFill>
                  <a:srgbClr val="4A5470"/>
                </a:solidFill>
                <a:latin typeface="Calibri" pitchFamily="34" charset="0"/>
                <a:ea typeface="Calibri" pitchFamily="34" charset="-122"/>
                <a:cs typeface="Calibri" pitchFamily="34" charset="-120"/>
              </a:rPr>
              <a:t>Sağ el kuralıyla, bu alanı üretecek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akım yönünü</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belirle.</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3823106"/>
          <a:ext cx="6309360" cy="914400"/>
        </p:xfrm>
        <a:graphic>
          <a:graphicData uri="http://schemas.openxmlformats.org/drawingml/2006/table">
            <a:tbl>
              <a:tblPr/>
              <a:tblGrid>
                <a:gridCol w="2195215"/>
                <a:gridCol w="994628"/>
                <a:gridCol w="1733065"/>
                <a:gridCol w="1386452"/>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Mıknatıs</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Akı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İndüklenen alan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Bobinin yüzü</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N kutbu yaklaşıyor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artıyor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zıt yönde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N (iter)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N kutbu uzaklaşıyor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azalıyor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aynı yönde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 (çeker)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 kutbu yaklaşıyor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artıyor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zıt yönde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 (iter)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 kutbu uzaklaşıyor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azalıyor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aynı yönde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N (çeker)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1" name="Shape 8"/>
          <p:cNvSpPr/>
          <p:nvPr/>
        </p:nvSpPr>
        <p:spPr>
          <a:xfrm>
            <a:off x="7242048" y="2294534"/>
            <a:ext cx="4309567" cy="3285436"/>
          </a:xfrm>
          <a:prstGeom prst="roundRect">
            <a:avLst>
              <a:gd name="adj" fmla="val 445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8a8328c3-841c-44fa-b76f-82572d338d3d/scratchpad/d5/sek/induksiyon-akimi-04.png">    </p:cNvPr>
          <p:cNvPicPr>
            <a:picLocks noChangeAspect="1"/>
          </p:cNvPicPr>
          <p:nvPr/>
        </p:nvPicPr>
        <p:blipFill>
          <a:blip r:embed="rId1"/>
          <a:stretch>
            <a:fillRect/>
          </a:stretch>
        </p:blipFill>
        <p:spPr>
          <a:xfrm>
            <a:off x="7424928" y="2477414"/>
            <a:ext cx="3943807" cy="1643174"/>
          </a:xfrm>
          <a:prstGeom prst="rect">
            <a:avLst/>
          </a:prstGeom>
        </p:spPr>
      </p:pic>
      <p:sp>
        <p:nvSpPr>
          <p:cNvPr id="13" name="Shape 9"/>
          <p:cNvSpPr/>
          <p:nvPr/>
        </p:nvSpPr>
        <p:spPr>
          <a:xfrm>
            <a:off x="7424928" y="4212028"/>
            <a:ext cx="3943807" cy="0"/>
          </a:xfrm>
          <a:prstGeom prst="line">
            <a:avLst/>
          </a:prstGeom>
          <a:noFill/>
          <a:ln w="9525">
            <a:solidFill>
              <a:srgbClr val="E1E5EE"/>
            </a:solidFill>
            <a:prstDash val="dash"/>
          </a:ln>
        </p:spPr>
      </p:sp>
      <p:sp>
        <p:nvSpPr>
          <p:cNvPr id="14" name="Text 10"/>
          <p:cNvSpPr txBox="1"/>
          <p:nvPr/>
        </p:nvSpPr>
        <p:spPr>
          <a:xfrm>
            <a:off x="7424928" y="4266892"/>
            <a:ext cx="39438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Yönü bulmak için tek bir soru yeter: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akı artıyor mu, azalıyor mu?</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Artıyorsa indüklenen akım, artışı frenlemek için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zıt yönde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bir alan üretir; azalıyorsa azalmayı yavaşlatmak için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aynı yönde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bir alan üretir. İndüklenen alanın yönünü bulduktan sonra akımın yönünü sağ el kuralıyla okursun.</a:t>
            </a:r>
            <a:endParaRPr lang="en-US" sz="1050" dirty="0"/>
          </a:p>
        </p:txBody>
      </p:sp>
      <p:sp>
        <p:nvSpPr>
          <p:cNvPr id="15" name="Shape 11"/>
          <p:cNvSpPr/>
          <p:nvPr/>
        </p:nvSpPr>
        <p:spPr>
          <a:xfrm>
            <a:off x="640080" y="6382512"/>
            <a:ext cx="128016" cy="128016"/>
          </a:xfrm>
          <a:prstGeom prst="roundRect">
            <a:avLst>
              <a:gd name="adj" fmla="val 28571"/>
            </a:avLst>
          </a:prstGeom>
          <a:solidFill>
            <a:srgbClr val="A9E648"/>
          </a:solidFill>
          <a:ln/>
        </p:spPr>
      </p:sp>
      <p:sp>
        <p:nvSpPr>
          <p:cNvPr id="16"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7"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Hareketli iletken çubuk</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Alanda kayan çubuk ε = B·L·v emk'si üretir; doğan akım çubuğa harekete zıt F = B²L²v/R kuvveti uygular. Çubuğu itmek için harcanan güç, dirençte ısıya dönüşen güce eşittir.</a:t>
            </a:r>
            <a:endParaRPr lang="en-US" sz="1850" dirty="0"/>
          </a:p>
        </p:txBody>
      </p:sp>
      <p:sp>
        <p:nvSpPr>
          <p:cNvPr id="9" name="Shape 7"/>
          <p:cNvSpPr/>
          <p:nvPr/>
        </p:nvSpPr>
        <p:spPr>
          <a:xfrm>
            <a:off x="640080" y="2593238"/>
            <a:ext cx="1741018"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ε = B · L · v</a:t>
            </a:r>
            <a:endParaRPr lang="en-US" sz="1300" dirty="0"/>
          </a:p>
        </p:txBody>
      </p:sp>
      <p:sp>
        <p:nvSpPr>
          <p:cNvPr id="11" name="Shape 9"/>
          <p:cNvSpPr/>
          <p:nvPr/>
        </p:nvSpPr>
        <p:spPr>
          <a:xfrm>
            <a:off x="2490826" y="2593238"/>
            <a:ext cx="1741018"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490826" y="2593238"/>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I = B·L·v / R</a:t>
            </a:r>
            <a:endParaRPr lang="en-US" sz="1300" dirty="0"/>
          </a:p>
        </p:txBody>
      </p:sp>
      <p:sp>
        <p:nvSpPr>
          <p:cNvPr id="13" name="Shape 11"/>
          <p:cNvSpPr/>
          <p:nvPr/>
        </p:nvSpPr>
        <p:spPr>
          <a:xfrm>
            <a:off x="4341571" y="2593238"/>
            <a:ext cx="2531059"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4341571" y="2593238"/>
            <a:ext cx="253105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B·I·L = B²L²v / R</a:t>
            </a:r>
            <a:endParaRPr lang="en-US" sz="1300" dirty="0"/>
          </a:p>
        </p:txBody>
      </p:sp>
      <p:sp>
        <p:nvSpPr>
          <p:cNvPr id="15" name="Text 13"/>
          <p:cNvSpPr txBox="1"/>
          <p:nvPr/>
        </p:nvSpPr>
        <p:spPr>
          <a:xfrm>
            <a:off x="640080" y="3215030"/>
            <a:ext cx="6309360" cy="197358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Alan büyür: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Çubuk Δt sürede v·Δt kadar kayar; devrenin çevrelediği yüzey ΔA = L·v·Δt kadar büyür.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Akı artar: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Alan yüzeye dik olduğundan ΔΦ = B·ΔA = B·L·v·Δt.</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Faraday:</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ε = ΔΦ/Δt = B·L·v; Δt sadeleşir.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İkinci bakış:</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Çubuktaki yükler v hızıyla alanda hareket eder; çubuk boyunca q·v·B kuvveti görür ve bir uca itilir. Çubuk bir pil gibi davranır.</a:t>
            </a:r>
            <a:endParaRPr lang="en-US" sz="1400" dirty="0"/>
          </a:p>
        </p:txBody>
      </p:sp>
      <p:sp>
        <p:nvSpPr>
          <p:cNvPr id="16" name="Shape 14"/>
          <p:cNvSpPr/>
          <p:nvPr/>
        </p:nvSpPr>
        <p:spPr>
          <a:xfrm>
            <a:off x="7242048" y="2593238"/>
            <a:ext cx="4309567" cy="3285436"/>
          </a:xfrm>
          <a:prstGeom prst="roundRect">
            <a:avLst>
              <a:gd name="adj" fmla="val 445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8a8328c3-841c-44fa-b76f-82572d338d3d/scratchpad/d5/sek/induksiyon-akimi-05.png">    </p:cNvPr>
          <p:cNvPicPr>
            <a:picLocks noChangeAspect="1"/>
          </p:cNvPicPr>
          <p:nvPr/>
        </p:nvPicPr>
        <p:blipFill>
          <a:blip r:embed="rId1"/>
          <a:stretch>
            <a:fillRect/>
          </a:stretch>
        </p:blipFill>
        <p:spPr>
          <a:xfrm>
            <a:off x="7424928" y="2776118"/>
            <a:ext cx="3943807" cy="1643174"/>
          </a:xfrm>
          <a:prstGeom prst="rect">
            <a:avLst/>
          </a:prstGeom>
        </p:spPr>
      </p:pic>
      <p:sp>
        <p:nvSpPr>
          <p:cNvPr id="18" name="Shape 15"/>
          <p:cNvSpPr/>
          <p:nvPr/>
        </p:nvSpPr>
        <p:spPr>
          <a:xfrm>
            <a:off x="7424928" y="4510732"/>
            <a:ext cx="3943807" cy="0"/>
          </a:xfrm>
          <a:prstGeom prst="line">
            <a:avLst/>
          </a:prstGeom>
          <a:noFill/>
          <a:ln w="9525">
            <a:solidFill>
              <a:srgbClr val="E1E5EE"/>
            </a:solidFill>
            <a:prstDash val="dash"/>
          </a:ln>
        </p:spPr>
      </p:sp>
      <p:sp>
        <p:nvSpPr>
          <p:cNvPr id="19" name="Text 16"/>
          <p:cNvSpPr txBox="1"/>
          <p:nvPr/>
        </p:nvSpPr>
        <p:spPr>
          <a:xfrm>
            <a:off x="7424928" y="4565596"/>
            <a:ext cx="39438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Çubuk sağa kaydıkça devrenin çevrelediği alan büyür, akı artar ve devrede akım doğar. Ama bu akım da alanın içindedir: ona etkiyen manyetik kuvvet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harekete zıt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yöndedir (kırmızı ok). Yani çubuğu sabit hızla sürüklemek için sürekli kuvvet uygulamak gerekir — harcadığın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mekanik güç, direnç üzerinde ısıya dönüşen elektriksel güce eşittir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ne kadar emk?</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Elle oynatılan mıknatıs birkaç on milivolt, sayfadaki çubuk 1 V, saniyede 50 tur atan küçük bir jeneratör yüzlerce volt üretir. Emk'yi belirleyen, değişimin hızıdır.</a:t>
            </a:r>
            <a:endParaRPr lang="en-US" sz="1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2294534"/>
          <a:ext cx="10911535" cy="914400"/>
        </p:xfrm>
        <a:graphic>
          <a:graphicData uri="http://schemas.openxmlformats.org/drawingml/2006/table">
            <a:tbl>
              <a:tblPr/>
              <a:tblGrid>
                <a:gridCol w="4163612"/>
                <a:gridCol w="4881476"/>
                <a:gridCol w="1866447"/>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Durum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Değerler</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emk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Mıknatısı elle bobine sokmak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200 sarım, ΔΦ = 3·10⁻⁵ Wb, 0,2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0,03 V</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Uçan yolcu uçağının kanatları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B = 40 µT, L = 60 m, v = 250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0,6 V</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Sayfadaki 03 çubuğu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B = 0,5 T, L = 0,5 m, v = 4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 V</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Sayfadaki 02 jeneratörü</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 sarım, 0,02 m², 0,5 T, 2 tur/s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12,6 V (tepe)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Aynı jeneratör, 50 tur/s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 sarım, 0,02 m², 0,5 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314 V (tepe)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Jeneratör ve alternatif akım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Dönen çerçevede akı kosinüs, emk sinüs gibi değişir ve tepe emk N·B·A·ω'dır. Akı en büyükken emk sıfır, akı sıfırken emk en büyüktür; sonuç alternatif akımdır.</a:t>
            </a:r>
            <a:endParaRPr lang="en-US" sz="1900" dirty="0"/>
          </a:p>
        </p:txBody>
      </p:sp>
      <p:sp>
        <p:nvSpPr>
          <p:cNvPr id="9" name="Shape 7"/>
          <p:cNvSpPr/>
          <p:nvPr/>
        </p:nvSpPr>
        <p:spPr>
          <a:xfrm>
            <a:off x="640080" y="2294534"/>
            <a:ext cx="2037283"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Φ = B·A·cos(ω·t)</a:t>
            </a:r>
            <a:endParaRPr lang="en-US" sz="1300" dirty="0"/>
          </a:p>
        </p:txBody>
      </p:sp>
      <p:sp>
        <p:nvSpPr>
          <p:cNvPr id="11" name="Shape 9"/>
          <p:cNvSpPr/>
          <p:nvPr/>
        </p:nvSpPr>
        <p:spPr>
          <a:xfrm>
            <a:off x="2787091" y="2294534"/>
            <a:ext cx="2432304"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787091" y="2294534"/>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ε = N·B·A·ω·sin(ω·t)</a:t>
            </a:r>
            <a:endParaRPr lang="en-US" sz="1300" dirty="0"/>
          </a:p>
        </p:txBody>
      </p:sp>
      <p:sp>
        <p:nvSpPr>
          <p:cNvPr id="13" name="Shape 11"/>
          <p:cNvSpPr/>
          <p:nvPr/>
        </p:nvSpPr>
        <p:spPr>
          <a:xfrm>
            <a:off x="5329123" y="2294534"/>
            <a:ext cx="2136038"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5329123" y="2294534"/>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ε(maks) = B·A·ω·N</a:t>
            </a:r>
            <a:endParaRPr lang="en-US" sz="1300" dirty="0"/>
          </a:p>
        </p:txBody>
      </p:sp>
      <p:sp>
        <p:nvSpPr>
          <p:cNvPr id="15" name="Text 13"/>
          <p:cNvSpPr txBox="1"/>
          <p:nvPr/>
        </p:nvSpPr>
        <p:spPr>
          <a:xfrm>
            <a:off x="640080" y="2916326"/>
            <a:ext cx="6949440" cy="1789557"/>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250" dirty="0">
                <a:solidFill>
                  <a:srgbClr val="4A5470"/>
                </a:solidFill>
                <a:latin typeface="Calibri" pitchFamily="34" charset="0"/>
                <a:ea typeface="Calibri" pitchFamily="34" charset="-122"/>
                <a:cs typeface="Calibri" pitchFamily="34" charset="-120"/>
              </a:rPr>
              <a:t>Çerçevenin eksene paralel iki kenarı a uzunluğunda, eksenden b/2 uzaktadır; ikisi de v = ω·b/2 hızıyla döner.</a:t>
            </a:r>
            <a:endParaRPr lang="en-US" sz="1250" dirty="0"/>
          </a:p>
          <a:p>
            <a:pPr marL="228600" indent="-228600">
              <a:lnSpc>
                <a:spcPct val="115000"/>
              </a:lnSpc>
              <a:spcAft>
                <a:spcPts val="500"/>
              </a:spcAft>
              <a:buSzPct val="100000"/>
              <a:buFont typeface="+mj-lt"/>
              <a:buAutoNum type="arabicPeriod" startAt="1"/>
            </a:pPr>
            <a:r>
              <a:rPr lang="en-US" sz="1250" dirty="0">
                <a:solidFill>
                  <a:srgbClr val="4A5470"/>
                </a:solidFill>
                <a:latin typeface="Calibri" pitchFamily="34" charset="0"/>
                <a:ea typeface="Calibri" pitchFamily="34" charset="-122"/>
                <a:cs typeface="Calibri" pitchFamily="34" charset="-120"/>
              </a:rPr>
              <a:t>Çerçeve alana paralelken bu kenarlar alana dik hareket eder; her biri ε = B·a·v emk'si üretir.</a:t>
            </a:r>
            <a:endParaRPr lang="en-US" sz="1250" dirty="0"/>
          </a:p>
          <a:p>
            <a:pPr marL="228600" indent="-228600">
              <a:lnSpc>
                <a:spcPct val="115000"/>
              </a:lnSpc>
              <a:spcAft>
                <a:spcPts val="500"/>
              </a:spcAft>
              <a:buSzPct val="100000"/>
              <a:buFont typeface="+mj-lt"/>
              <a:buAutoNum type="arabicPeriod" startAt="1"/>
            </a:pPr>
            <a:r>
              <a:rPr lang="en-US" sz="1250" dirty="0">
                <a:solidFill>
                  <a:srgbClr val="4A5470"/>
                </a:solidFill>
                <a:latin typeface="Calibri" pitchFamily="34" charset="0"/>
                <a:ea typeface="Calibri" pitchFamily="34" charset="-122"/>
                <a:cs typeface="Calibri" pitchFamily="34" charset="-120"/>
              </a:rPr>
              <a:t>İki kenar seri bağlıdır: ε = 2·B·a·ω·b/2 = B·A·ω (A = a·b). N sarımda N·B·A·ω.</a:t>
            </a:r>
            <a:endParaRPr lang="en-US" sz="1250" dirty="0"/>
          </a:p>
          <a:p>
            <a:pPr marL="228600" indent="-228600">
              <a:lnSpc>
                <a:spcPct val="115000"/>
              </a:lnSpc>
              <a:spcAft>
                <a:spcPts val="500"/>
              </a:spcAft>
              <a:buSzPct val="100000"/>
              <a:buFont typeface="+mj-lt"/>
              <a:buAutoNum type="arabicPeriod" startAt="1"/>
            </a:pPr>
            <a:r>
              <a:rPr lang="en-US" sz="1250" dirty="0">
                <a:solidFill>
                  <a:srgbClr val="4A5470"/>
                </a:solidFill>
                <a:latin typeface="Calibri" pitchFamily="34" charset="0"/>
                <a:ea typeface="Calibri" pitchFamily="34" charset="-122"/>
                <a:cs typeface="Calibri" pitchFamily="34" charset="-120"/>
              </a:rPr>
              <a:t>Başka konumlarda hızın yalnızca alana dik bileşeni sayılır; bu da sin(ω·t) çarpanını getirir.</a:t>
            </a:r>
            <a:endParaRPr lang="en-US" sz="1250" dirty="0"/>
          </a:p>
        </p:txBody>
      </p:sp>
      <p:sp>
        <p:nvSpPr>
          <p:cNvPr id="16" name="Shape 14"/>
          <p:cNvSpPr/>
          <p:nvPr/>
        </p:nvSpPr>
        <p:spPr>
          <a:xfrm>
            <a:off x="640080" y="4815611"/>
            <a:ext cx="6949440" cy="1006983"/>
          </a:xfrm>
          <a:prstGeom prst="roundRect">
            <a:avLst>
              <a:gd name="adj" fmla="val 1089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658368" y="4961915"/>
            <a:ext cx="45720" cy="714375"/>
          </a:xfrm>
          <a:prstGeom prst="rect">
            <a:avLst/>
          </a:prstGeom>
          <a:solidFill>
            <a:srgbClr val="3C8C21"/>
          </a:solidFill>
          <a:ln/>
        </p:spPr>
      </p:sp>
      <p:sp>
        <p:nvSpPr>
          <p:cNvPr id="18" name="Text 16"/>
          <p:cNvSpPr txBox="1"/>
          <p:nvPr/>
        </p:nvSpPr>
        <p:spPr>
          <a:xfrm>
            <a:off x="914400" y="4925339"/>
            <a:ext cx="6492240" cy="787527"/>
          </a:xfrm>
          <a:prstGeom prst="rect">
            <a:avLst/>
          </a:prstGeom>
          <a:noFill/>
          <a:ln/>
        </p:spPr>
        <p:txBody>
          <a:bodyPr wrap="square" lIns="0" tIns="0" rIns="0" bIns="0" rtlCol="0" anchor="ctr"/>
          <a:lstStyle/>
          <a:p>
            <a:pPr indent="0" marL="0">
              <a:lnSpc>
                <a:spcPct val="112000"/>
              </a:lnSpc>
              <a:buNone/>
            </a:pPr>
            <a:r>
              <a:rPr lang="en-US" sz="1150" b="1" dirty="0">
                <a:solidFill>
                  <a:srgbClr val="0E1426"/>
                </a:solidFill>
                <a:latin typeface="Calibri" pitchFamily="34" charset="0"/>
                <a:ea typeface="Calibri" pitchFamily="34" charset="-122"/>
                <a:cs typeface="Calibri" pitchFamily="34" charset="-120"/>
              </a:rPr>
              <a:t>Türkiye'de şebeke:</a:t>
            </a:r>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 230 V, 50 Hz. Yani iki kutuplu bir jeneratörün çerçevesi saniyede 50 tam tur atar ve gerilim saniyede 50 kez tam çevrim yapar. 230 V, gerilimin etkin değeridir; tepe değeri 230·√2 ≈ 325 V'tur.</a:t>
            </a:r>
            <a:endParaRPr lang="en-US" sz="1150" dirty="0"/>
          </a:p>
        </p:txBody>
      </p:sp>
      <p:sp>
        <p:nvSpPr>
          <p:cNvPr id="19" name="Shape 17"/>
          <p:cNvSpPr/>
          <p:nvPr/>
        </p:nvSpPr>
        <p:spPr>
          <a:xfrm>
            <a:off x="7882128" y="2294534"/>
            <a:ext cx="3669487" cy="3459787"/>
          </a:xfrm>
          <a:prstGeom prst="roundRect">
            <a:avLst>
              <a:gd name="adj" fmla="val 422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20" name="Image 0" descr="/tmp/claude-1000/-opt-dersler/8a8328c3-841c-44fa-b76f-82572d338d3d/scratchpad/d5/sek/induksiyon-akimi-06.png">    </p:cNvPr>
          <p:cNvPicPr>
            <a:picLocks noChangeAspect="1"/>
          </p:cNvPicPr>
          <p:nvPr/>
        </p:nvPicPr>
        <p:blipFill>
          <a:blip r:embed="rId1"/>
          <a:stretch>
            <a:fillRect/>
          </a:stretch>
        </p:blipFill>
        <p:spPr>
          <a:xfrm>
            <a:off x="8065008" y="2477414"/>
            <a:ext cx="3303727" cy="1459080"/>
          </a:xfrm>
          <a:prstGeom prst="rect">
            <a:avLst/>
          </a:prstGeom>
        </p:spPr>
      </p:pic>
      <p:sp>
        <p:nvSpPr>
          <p:cNvPr id="21" name="Shape 18"/>
          <p:cNvSpPr/>
          <p:nvPr/>
        </p:nvSpPr>
        <p:spPr>
          <a:xfrm>
            <a:off x="8065008" y="4027934"/>
            <a:ext cx="3303727" cy="0"/>
          </a:xfrm>
          <a:prstGeom prst="line">
            <a:avLst/>
          </a:prstGeom>
          <a:noFill/>
          <a:ln w="9525">
            <a:solidFill>
              <a:srgbClr val="E1E5EE"/>
            </a:solidFill>
            <a:prstDash val="dash"/>
          </a:ln>
        </p:spPr>
      </p:sp>
      <p:sp>
        <p:nvSpPr>
          <p:cNvPr id="22" name="Text 19"/>
          <p:cNvSpPr txBox="1"/>
          <p:nvPr/>
        </p:nvSpPr>
        <p:spPr>
          <a:xfrm>
            <a:off x="8065008" y="4082798"/>
            <a:ext cx="3303727" cy="1488643"/>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Çerçeve döndükçe içinden geçen akı kosinüs gibi salınır. Emk ise akının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değişim hızıyla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orantılı olduğu için sinüs olur — yani ikisi arasında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çeyrek periyot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fark vardır. Akının en büyük olduğu anda emk sıfırdır (o an akı değişmiyordur); akının sıfır olduğu anda ise emk en büyüktür. Şehir şebekesindeki alternatif akım tam olarak bu eğridir.</a:t>
            </a:r>
            <a:endParaRPr lang="en-US" sz="1050" dirty="0"/>
          </a:p>
        </p:txBody>
      </p:sp>
      <p:sp>
        <p:nvSpPr>
          <p:cNvPr id="23" name="Shape 20"/>
          <p:cNvSpPr/>
          <p:nvPr/>
        </p:nvSpPr>
        <p:spPr>
          <a:xfrm>
            <a:off x="640080" y="6382512"/>
            <a:ext cx="128016" cy="128016"/>
          </a:xfrm>
          <a:prstGeom prst="roundRect">
            <a:avLst>
              <a:gd name="adj" fmla="val 28571"/>
            </a:avLst>
          </a:prstGeom>
          <a:solidFill>
            <a:srgbClr val="A9E648"/>
          </a:solidFill>
          <a:ln/>
        </p:spPr>
      </p:sp>
      <p:sp>
        <p:nvSpPr>
          <p:cNvPr id="24"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5" name="Text 2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akım bir telde değil de bütün bir metal parçada dolaşınca, devre açıkken ya da motor dönerken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Girdap akımları: bakır boru deneyi</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İnce durumlar: açık devre, karşı emk, öz-indüksiyon</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İndüksiyon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5/sek/induksiyon-akimi-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İndüksiyonlu ocakta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ısı camdan değil, tencerenin kendisinden doğar. Camın altındaki bobinin hızla değişen alanı çelik tabanda girdap akımları oluşturur ve tabanı ısıtır; cam yalnızca sıcak tencereye değdiği yerde ısınır. Yanındaki buz küpünün erimeden durabilmesi bundandır.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dersler.perinet.org/induksiyon-akimi.html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Girdap akımları: bakır boru deneyi</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Değişen alanın içindeki iletkenlerde girdap akımları doğar ve Lenz yasası gereği hareketi frenler. Bakır boruda mıknatıs, plastik borudakinden on kattan fazla uzun sürede düşer.</a:t>
            </a:r>
            <a:endParaRPr lang="en-US" sz="1850" dirty="0"/>
          </a:p>
        </p:txBody>
      </p:sp>
      <p:sp>
        <p:nvSpPr>
          <p:cNvPr id="9" name="Text 7"/>
          <p:cNvSpPr txBox="1"/>
          <p:nvPr/>
        </p:nvSpPr>
        <p:spPr>
          <a:xfrm>
            <a:off x="640080" y="2593238"/>
            <a:ext cx="5486400" cy="271576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Girdap akımı freni: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Lenz kuvvetiyle temassız frenleme; ağır vasıtalarda ve trenlerde balatayı aşındırmadan yavaşlatır.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Metal dedektörü:</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değişen alan metalde girdap akımları doğurur; bu akımların alanı dedektörün bobinince algılanır.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İnce levhalı çekirdek: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transformatör çekirdekleri yalıtılmış ince levhalardan yapılır; girdap akımlarının yolu kesilir, ısı kaybı azalır.</a:t>
            </a:r>
            <a:endParaRPr lang="en-US" sz="1600" dirty="0"/>
          </a:p>
        </p:txBody>
      </p:sp>
      <p:sp>
        <p:nvSpPr>
          <p:cNvPr id="10" name="Shape 8"/>
          <p:cNvSpPr/>
          <p:nvPr/>
        </p:nvSpPr>
        <p:spPr>
          <a:xfrm>
            <a:off x="6419088" y="2593238"/>
            <a:ext cx="513252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5/sek/induksiyon-akimi-07.png">    </p:cNvPr>
          <p:cNvPicPr>
            <a:picLocks noChangeAspect="1"/>
          </p:cNvPicPr>
          <p:nvPr/>
        </p:nvPicPr>
        <p:blipFill>
          <a:blip r:embed="rId1"/>
          <a:stretch>
            <a:fillRect/>
          </a:stretch>
        </p:blipFill>
        <p:spPr>
          <a:xfrm>
            <a:off x="6959215" y="2776118"/>
            <a:ext cx="4052272" cy="1890979"/>
          </a:xfrm>
          <a:prstGeom prst="rect">
            <a:avLst/>
          </a:prstGeom>
        </p:spPr>
      </p:pic>
      <p:sp>
        <p:nvSpPr>
          <p:cNvPr id="12" name="Shape 9"/>
          <p:cNvSpPr/>
          <p:nvPr/>
        </p:nvSpPr>
        <p:spPr>
          <a:xfrm>
            <a:off x="6601968" y="4758538"/>
            <a:ext cx="4766767" cy="0"/>
          </a:xfrm>
          <a:prstGeom prst="line">
            <a:avLst/>
          </a:prstGeom>
          <a:noFill/>
          <a:ln w="9525">
            <a:solidFill>
              <a:srgbClr val="E1E5EE"/>
            </a:solidFill>
            <a:prstDash val="dash"/>
          </a:ln>
        </p:spPr>
      </p:sp>
      <p:sp>
        <p:nvSpPr>
          <p:cNvPr id="13" name="Text 10"/>
          <p:cNvSpPr txBox="1"/>
          <p:nvPr/>
        </p:nvSpPr>
        <p:spPr>
          <a:xfrm>
            <a:off x="6601968" y="4813402"/>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Bakır mıknatıslanmaz — ama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iletkendir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Mıknatıs boruya girerken boru duvarında halka halka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girdap akımları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doğar ve Lenz yasası gereği bu akımlar mıknatısı frenler. Sonuç şaşırtıcı: aynı mıknatıs plastik boruda yarım saniyede düşerken bakır boruda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on kat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uzun sürede iner. Hiçbir temas, hiçbir sürtünme olmadan frenleme — aynı ilke ağır vasıtaların girdap akımı frenlerinde kullanılır.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Bakır boruyu boylamasına kesip ince bir yarık açarsan mıknatıs daha hızlı mı düşer?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Girdap akımları: bakır boru deneyi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Bakır boruyu boylamasına kesip ince bir yarık açarsan mıknatıs daha hızlı mı düşer?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Evet. Girdap akımları borunun çevresinde halka biçiminde dolaşır; yarık bu halkaları keser. Akımlar zayıflayınca frenleyen kuvvet de zayıflar ve mıknatıs belirgin biçimde daha hızlı düşer. Transformatör çekirdeğini ince levhalara bölmek de aynı fikre dayanır.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İnce durumlar: açık devre, karşı emk, öz-indüksiyon</a:t>
            </a:r>
            <a:endParaRPr lang="en-US" sz="27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Açık devrede emk vardır ama akım yoktur. Dönen motor karşı emk üretir ve akımını azaltır; bobin kendi akımındaki değişime de direnir (öz-indüksiyon).</a:t>
            </a:r>
            <a:endParaRPr lang="en-US" sz="1900" dirty="0"/>
          </a:p>
        </p:txBody>
      </p:sp>
      <p:sp>
        <p:nvSpPr>
          <p:cNvPr id="9" name="Text 7"/>
          <p:cNvSpPr txBox="1"/>
          <p:nvPr/>
        </p:nvSpPr>
        <p:spPr>
          <a:xfrm>
            <a:off x="640080" y="2294534"/>
            <a:ext cx="10911535" cy="263956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Açık devre:</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emk doğar ama akım akmaz. Uçağın kanat uçları arasında 0,6 V vardır, ama uçakla birlikte hareket eden bir devrenin akısı değişmediği için akım dolaşmaz.</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Karşı emk:</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dönen her motor aynı zamanda bir jeneratördür ve beslemeye karşı bir emk üretir. Motorun çektiği akım bu yüzden dönerken azalır.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Öz-indüksiyon:</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bobinin kendi akımı değişince kendi akısı da değişir; bobin bu değişime direnir. Anahtar açılınca kıvılcım çıkması bundandır.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Doğru akım:</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sabit akım sabit akı demektir; transformatör yalnızca akım açılıp kapanırken, yani akı değişirken emk üretir.</a:t>
            </a:r>
            <a:endParaRPr lang="en-US" sz="1700" dirty="0"/>
          </a:p>
        </p:txBody>
      </p:sp>
      <p:sp>
        <p:nvSpPr>
          <p:cNvPr id="10" name="Shape 8"/>
          <p:cNvSpPr/>
          <p:nvPr/>
        </p:nvSpPr>
        <p:spPr>
          <a:xfrm>
            <a:off x="640080" y="5043830"/>
            <a:ext cx="2432304"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5043830"/>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I = (V − εkarşı) / R</a:t>
            </a:r>
            <a:endParaRPr lang="en-US" sz="1300" dirty="0"/>
          </a:p>
        </p:txBody>
      </p:sp>
      <p:sp>
        <p:nvSpPr>
          <p:cNvPr id="12" name="Shape 10"/>
          <p:cNvSpPr/>
          <p:nvPr/>
        </p:nvSpPr>
        <p:spPr>
          <a:xfrm>
            <a:off x="640080" y="6382512"/>
            <a:ext cx="128016" cy="128016"/>
          </a:xfrm>
          <a:prstGeom prst="roundRect">
            <a:avLst>
              <a:gd name="adj" fmla="val 28571"/>
            </a:avLst>
          </a:prstGeom>
          <a:solidFill>
            <a:srgbClr val="A9E648"/>
          </a:solidFill>
          <a:ln/>
        </p:spPr>
      </p:sp>
      <p:sp>
        <p:nvSpPr>
          <p:cNvPr id="13"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4"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Bir elektrik motorunun mili sıkışıp dönemezse motor neden ısınıp yanabilir?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İnce durumlar: açık devre, karşı emk, öz-indüksiyon</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Bir elektrik motorunun mili sıkışıp dönemezse motor neden ısınıp yanabilir?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Mil dönmezse karşı emk doğmaz ve motor sürekli ilk anın büyük akımını çeker. Sargılarda açığa çıkan ısı akımın karesiyle büyür (I²R); 2 A yerine 12 A akması ısıyı 36 kat artırır. Sargıların yalıtımı bu ısıya dayanamaz ve motor yanar.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Santraller, rüzgâr türbinleri, dinamolar, indüksiyonlu ocaklar, transformatörler ve temassız kartlar aynı ilkeyle çalışır: bir yerde akı değiştirilir, başka bir yerde akım doğar.</a:t>
            </a:r>
            <a:endParaRPr lang="en-US" sz="1850" dirty="0"/>
          </a:p>
        </p:txBody>
      </p:sp>
      <p:sp>
        <p:nvSpPr>
          <p:cNvPr id="9" name="Text 7"/>
          <p:cNvSpPr txBox="1"/>
          <p:nvPr/>
        </p:nvSpPr>
        <p:spPr>
          <a:xfrm>
            <a:off x="640080" y="2593238"/>
            <a:ext cx="10911535" cy="214274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Santral jeneratörü:</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iki kutuplu bir jeneratör 50 Hz üretmek için dakikada 3000 tur atar; barajlardaki çok kutuplu jeneratörler daha yavaş döner.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Rüzgâr türbini:</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büyük kanatlar dakikada yalnızca 10–20 tur atar; dişli kutuları ya da elektronik dönüştürücüler bunu şebekeye uydurur.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İndüksiyonlu ocak: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bobinin akımı saniyede on binlerce kez yön değiştirir; ısı doğrudan tencerenin demir içeren tabanında doğar.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Bisiklet dinamosu:</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tipik bir dinamo yaklaşık 6 V ve 3 W verir; bu, bir bisiklet farını yakmaya yeter.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Temassız kart:</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okuyucunun 13,56 MHz'lik alanı karttaki anten bobininde akım doğurur; kartın pili yoktur.</a:t>
            </a:r>
            <a:endParaRPr lang="en-US" sz="13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gerçek dünyada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911535" cy="914400"/>
        </p:xfrm>
        <a:graphic>
          <a:graphicData uri="http://schemas.openxmlformats.org/drawingml/2006/table">
            <a:tbl>
              <a:tblPr/>
              <a:tblGrid>
                <a:gridCol w="3386339"/>
                <a:gridCol w="7525197"/>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Uygulama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Nasıl çalışır</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Jeneratör / dinamo</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Dönen çerçevede akı değişimi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Transformatör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Değişen akımın ikinci bobinde akı değişimi yaratması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Kablosuz şarj</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Bobinden bobine akı aktarımı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Metal dedektör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Metalde doğan girdap akımlarının alanı bozması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İndüksiyonlu ocak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Tencere tabanında doğan girdap akımlarının ısıtması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7" name="Shape 4"/>
          <p:cNvSpPr/>
          <p:nvPr/>
        </p:nvSpPr>
        <p:spPr>
          <a:xfrm>
            <a:off x="640080" y="6382512"/>
            <a:ext cx="128016" cy="128016"/>
          </a:xfrm>
          <a:prstGeom prst="roundRect">
            <a:avLst>
              <a:gd name="adj" fmla="val 28571"/>
            </a:avLst>
          </a:prstGeom>
          <a:solidFill>
            <a:srgbClr val="A9E648"/>
          </a:solidFill>
          <a:ln/>
        </p:spPr>
      </p:sp>
      <p:sp>
        <p:nvSpPr>
          <p:cNvPr id="8"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9"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6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Akının açıya bağlılığı</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Akı değişiminden emk</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Lenz yasasıyla yön</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Hareketli çubuk</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Jeneratörün tepe emk'si</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Sabit kuvvetle çekilen çubuk</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40080" y="6382512"/>
            <a:ext cx="128016" cy="128016"/>
          </a:xfrm>
          <a:prstGeom prst="roundRect">
            <a:avLst>
              <a:gd name="adj" fmla="val 28571"/>
            </a:avLst>
          </a:prstGeom>
          <a:solidFill>
            <a:srgbClr val="C6F36B"/>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dersler.perinet.org/induksiyon-akimi.html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Akının açıya bağlılığı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Alanı 0,2 m² olan bir çerçeve, 0,4 T'lık düzgün alan içinde duruyor. Çerçevenin normali alanla (a) 0°, (b) 60°, (c) 90° açı yaptığında akı kaç Wb olur?</a:t>
            </a:r>
            <a:endParaRPr lang="en-US" sz="1600" dirty="0"/>
          </a:p>
        </p:txBody>
      </p:sp>
      <p:sp>
        <p:nvSpPr>
          <p:cNvPr id="11" name="Shape 9"/>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92026"/>
            <a:ext cx="384048" cy="384048"/>
          </a:xfrm>
          <a:prstGeom prst="roundRect">
            <a:avLst>
              <a:gd name="adj" fmla="val 26000"/>
            </a:avLst>
          </a:prstGeom>
          <a:solidFill>
            <a:srgbClr val="A56209"/>
          </a:solidFill>
          <a:ln/>
        </p:spPr>
      </p:sp>
      <p:sp>
        <p:nvSpPr>
          <p:cNvPr id="13" name="Text 11"/>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Φ = B·A·cos0° = 0,4 · 0,2 · 1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0,08 Wb</a:t>
            </a:r>
            <a:endParaRPr lang="en-US" sz="1600" dirty="0"/>
          </a:p>
        </p:txBody>
      </p:sp>
      <p:sp>
        <p:nvSpPr>
          <p:cNvPr id="15" name="Shape 13"/>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951166"/>
            <a:ext cx="384048" cy="384048"/>
          </a:xfrm>
          <a:prstGeom prst="roundRect">
            <a:avLst>
              <a:gd name="adj" fmla="val 26000"/>
            </a:avLst>
          </a:prstGeom>
          <a:solidFill>
            <a:srgbClr val="A56209"/>
          </a:solidFill>
          <a:ln/>
        </p:spPr>
      </p:sp>
      <p:sp>
        <p:nvSpPr>
          <p:cNvPr id="17" name="Text 15"/>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Φ = 0,08 · cos60° = 0,08 · 0,5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0,04 Wb</a:t>
            </a:r>
            <a:endParaRPr lang="en-US" sz="1600" dirty="0"/>
          </a:p>
        </p:txBody>
      </p:sp>
      <p:sp>
        <p:nvSpPr>
          <p:cNvPr id="19" name="Shape 17"/>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010306"/>
            <a:ext cx="384048" cy="384048"/>
          </a:xfrm>
          <a:prstGeom prst="roundRect">
            <a:avLst>
              <a:gd name="adj" fmla="val 26000"/>
            </a:avLst>
          </a:prstGeom>
          <a:solidFill>
            <a:srgbClr val="A56209"/>
          </a:solidFill>
          <a:ln/>
        </p:spPr>
      </p:sp>
      <p:sp>
        <p:nvSpPr>
          <p:cNvPr id="21" name="Text 19"/>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Φ = 0,08 · cos90°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(alan yüzeye paralel)</a:t>
            </a:r>
            <a:endParaRPr lang="en-US" sz="1600" dirty="0"/>
          </a:p>
        </p:txBody>
      </p:sp>
      <p:sp>
        <p:nvSpPr>
          <p:cNvPr id="23" name="Shape 21"/>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82886"/>
            <a:ext cx="384048" cy="384048"/>
          </a:xfrm>
          <a:prstGeom prst="roundRect">
            <a:avLst>
              <a:gd name="adj" fmla="val 26000"/>
            </a:avLst>
          </a:prstGeom>
          <a:solidFill>
            <a:srgbClr val="A56209"/>
          </a:solidFill>
          <a:ln/>
        </p:spPr>
      </p:sp>
      <p:sp>
        <p:nvSpPr>
          <p:cNvPr id="25" name="Text 23"/>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Çerçeve döndükçe akı bu değerler arasında salınır; jeneratörün temeli budur.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Akı değişiminden emk</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200 sarımlı bir bobinden geçen manyetik akı 0,1 saniyede 4·10⁻³ Wb'den 1·10⁻³ Wb'e düşüyor. İndüklenen emk'nin büyüklüğü nedir?</a:t>
            </a:r>
            <a:endParaRPr lang="en-US" sz="1600" dirty="0"/>
          </a:p>
        </p:txBody>
      </p:sp>
      <p:sp>
        <p:nvSpPr>
          <p:cNvPr id="11" name="Shape 9"/>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92026"/>
            <a:ext cx="384048" cy="384048"/>
          </a:xfrm>
          <a:prstGeom prst="roundRect">
            <a:avLst>
              <a:gd name="adj" fmla="val 26000"/>
            </a:avLst>
          </a:prstGeom>
          <a:solidFill>
            <a:srgbClr val="A56209"/>
          </a:solidFill>
          <a:ln/>
        </p:spPr>
      </p:sp>
      <p:sp>
        <p:nvSpPr>
          <p:cNvPr id="13" name="Text 11"/>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ΔΦ = 1·10⁻³ − 4·10⁻³ = −3·10⁻³ Wb</a:t>
            </a:r>
            <a:endParaRPr lang="en-US" sz="1600" dirty="0"/>
          </a:p>
        </p:txBody>
      </p:sp>
      <p:sp>
        <p:nvSpPr>
          <p:cNvPr id="15" name="Shape 13"/>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951166"/>
            <a:ext cx="384048" cy="384048"/>
          </a:xfrm>
          <a:prstGeom prst="roundRect">
            <a:avLst>
              <a:gd name="adj" fmla="val 26000"/>
            </a:avLst>
          </a:prstGeom>
          <a:solidFill>
            <a:srgbClr val="A56209"/>
          </a:solidFill>
          <a:ln/>
        </p:spPr>
      </p:sp>
      <p:sp>
        <p:nvSpPr>
          <p:cNvPr id="17" name="Text 15"/>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|ε| = N·|ΔΦ|/Δt = 200 · 3·10⁻³ / 0,1</a:t>
            </a:r>
            <a:endParaRPr lang="en-US" sz="1600" dirty="0"/>
          </a:p>
        </p:txBody>
      </p:sp>
      <p:sp>
        <p:nvSpPr>
          <p:cNvPr id="19" name="Shape 17"/>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010306"/>
            <a:ext cx="384048" cy="384048"/>
          </a:xfrm>
          <a:prstGeom prst="roundRect">
            <a:avLst>
              <a:gd name="adj" fmla="val 26000"/>
            </a:avLst>
          </a:prstGeom>
          <a:solidFill>
            <a:srgbClr val="A56209"/>
          </a:solidFill>
          <a:ln/>
        </p:spPr>
      </p:sp>
      <p:sp>
        <p:nvSpPr>
          <p:cNvPr id="21" name="Text 19"/>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|ε| = 200 · 0,03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6 V</a:t>
            </a:r>
            <a:endParaRPr lang="en-US" sz="1600" dirty="0"/>
          </a:p>
        </p:txBody>
      </p:sp>
      <p:sp>
        <p:nvSpPr>
          <p:cNvPr id="23" name="Shape 21"/>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82886"/>
            <a:ext cx="384048" cy="384048"/>
          </a:xfrm>
          <a:prstGeom prst="roundRect">
            <a:avLst>
              <a:gd name="adj" fmla="val 26000"/>
            </a:avLst>
          </a:prstGeom>
          <a:solidFill>
            <a:srgbClr val="A56209"/>
          </a:solidFill>
          <a:ln/>
        </p:spPr>
      </p:sp>
      <p:sp>
        <p:nvSpPr>
          <p:cNvPr id="25" name="Text 23"/>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Akı azaldığı için indüksiyon akımı, akıyı sürdürecek yönde akar (Lenz).</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Lenz yasasıyla yön</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mıknatısın </a:t>
            </a:r>
            <a:pPr indent="0" marL="0">
              <a:lnSpc>
                <a:spcPct val="118000"/>
              </a:lnSpc>
              <a:buNone/>
            </a:pPr>
            <a:r>
              <a:rPr lang="en-US" sz="1600" b="1" dirty="0">
                <a:solidFill>
                  <a:srgbClr val="0E1426"/>
                </a:solidFill>
                <a:latin typeface="Calibri" pitchFamily="34" charset="0"/>
                <a:ea typeface="Calibri" pitchFamily="34" charset="-122"/>
                <a:cs typeface="Calibri" pitchFamily="34" charset="-120"/>
              </a:rPr>
              <a:t>N kutbu</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bobine yaklaştırılıyor. Bobinin mıknatısa bakan yüzü hangi kutup gibi davranır ve neden?</a:t>
            </a:r>
            <a:endParaRPr lang="en-US" sz="1600" dirty="0"/>
          </a:p>
        </p:txBody>
      </p:sp>
      <p:sp>
        <p:nvSpPr>
          <p:cNvPr id="11" name="Shape 9"/>
          <p:cNvSpPr/>
          <p:nvPr/>
        </p:nvSpPr>
        <p:spPr>
          <a:xfrm>
            <a:off x="5212080" y="1627632"/>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13017"/>
            <a:ext cx="384048" cy="384048"/>
          </a:xfrm>
          <a:prstGeom prst="roundRect">
            <a:avLst>
              <a:gd name="adj" fmla="val 26000"/>
            </a:avLst>
          </a:prstGeom>
          <a:solidFill>
            <a:srgbClr val="A56209"/>
          </a:solidFill>
          <a:ln/>
        </p:spPr>
      </p:sp>
      <p:sp>
        <p:nvSpPr>
          <p:cNvPr id="13" name="Text 11"/>
          <p:cNvSpPr txBox="1"/>
          <p:nvPr/>
        </p:nvSpPr>
        <p:spPr>
          <a:xfrm>
            <a:off x="5449824" y="181301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6450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kutbu yaklaştıkça bobinden geçen akı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artar</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5" name="Shape 13"/>
          <p:cNvSpPr/>
          <p:nvPr/>
        </p:nvSpPr>
        <p:spPr>
          <a:xfrm>
            <a:off x="5212080" y="2528754"/>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890631"/>
            <a:ext cx="384048" cy="384048"/>
          </a:xfrm>
          <a:prstGeom prst="roundRect">
            <a:avLst>
              <a:gd name="adj" fmla="val 26000"/>
            </a:avLst>
          </a:prstGeom>
          <a:solidFill>
            <a:srgbClr val="A56209"/>
          </a:solidFill>
          <a:ln/>
        </p:spPr>
      </p:sp>
      <p:sp>
        <p:nvSpPr>
          <p:cNvPr id="17" name="Text 15"/>
          <p:cNvSpPr txBox="1"/>
          <p:nvPr/>
        </p:nvSpPr>
        <p:spPr>
          <a:xfrm>
            <a:off x="5449824" y="289063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583618"/>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Lenz yasası: indüksiyon akımı bu artışa karşı koyar, yani mıknatısı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iter</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9" name="Shape 17"/>
          <p:cNvSpPr/>
          <p:nvPr/>
        </p:nvSpPr>
        <p:spPr>
          <a:xfrm>
            <a:off x="5212080" y="3782860"/>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144737"/>
            <a:ext cx="384048" cy="384048"/>
          </a:xfrm>
          <a:prstGeom prst="roundRect">
            <a:avLst>
              <a:gd name="adj" fmla="val 26000"/>
            </a:avLst>
          </a:prstGeom>
          <a:solidFill>
            <a:srgbClr val="A56209"/>
          </a:solidFill>
          <a:ln/>
        </p:spPr>
      </p:sp>
      <p:sp>
        <p:nvSpPr>
          <p:cNvPr id="21" name="Text 19"/>
          <p:cNvSpPr txBox="1"/>
          <p:nvPr/>
        </p:nvSpPr>
        <p:spPr>
          <a:xfrm>
            <a:off x="5449824" y="414473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37724"/>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İtebilmesi için bobinin o yüzü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N kutbu</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gibi davranmalıdır.</a:t>
            </a:r>
            <a:endParaRPr lang="en-US" sz="1600" dirty="0"/>
          </a:p>
        </p:txBody>
      </p:sp>
      <p:sp>
        <p:nvSpPr>
          <p:cNvPr id="23" name="Shape 21"/>
          <p:cNvSpPr/>
          <p:nvPr/>
        </p:nvSpPr>
        <p:spPr>
          <a:xfrm>
            <a:off x="5212080" y="5036966"/>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98843"/>
            <a:ext cx="384048" cy="384048"/>
          </a:xfrm>
          <a:prstGeom prst="roundRect">
            <a:avLst>
              <a:gd name="adj" fmla="val 26000"/>
            </a:avLst>
          </a:prstGeom>
          <a:solidFill>
            <a:srgbClr val="A56209"/>
          </a:solidFill>
          <a:ln/>
        </p:spPr>
      </p:sp>
      <p:sp>
        <p:nvSpPr>
          <p:cNvPr id="25" name="Text 23"/>
          <p:cNvSpPr txBox="1"/>
          <p:nvPr/>
        </p:nvSpPr>
        <p:spPr>
          <a:xfrm>
            <a:off x="5449824" y="539884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091830"/>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Mıknatıs uzaklaştırılsaydı akı azalırdı; bu kez bobin onu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çekmek</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için S kutbu gibi davranırdı.</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Hareketli çubuk</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0,5 T'lık alanda, 40 cm uzunluğundaki çubuk raylar üzerinde 5 m/s hızla kayıyor. Devrenin direnci 2 Ω'dur. emk, akım ve çubuğa etki eden karşı kuvveti bulunuz.</a:t>
            </a:r>
            <a:endParaRPr lang="en-US" sz="1600" dirty="0"/>
          </a:p>
        </p:txBody>
      </p:sp>
      <p:sp>
        <p:nvSpPr>
          <p:cNvPr id="11" name="Shape 9"/>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92026"/>
            <a:ext cx="384048" cy="384048"/>
          </a:xfrm>
          <a:prstGeom prst="roundRect">
            <a:avLst>
              <a:gd name="adj" fmla="val 26000"/>
            </a:avLst>
          </a:prstGeom>
          <a:solidFill>
            <a:srgbClr val="A56209"/>
          </a:solidFill>
          <a:ln/>
        </p:spPr>
      </p:sp>
      <p:sp>
        <p:nvSpPr>
          <p:cNvPr id="13" name="Text 11"/>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ε = B·L·v = 0,5 · 0,4 · 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 V</a:t>
            </a:r>
            <a:endParaRPr lang="en-US" sz="1600" dirty="0"/>
          </a:p>
        </p:txBody>
      </p:sp>
      <p:sp>
        <p:nvSpPr>
          <p:cNvPr id="15" name="Shape 13"/>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951166"/>
            <a:ext cx="384048" cy="384048"/>
          </a:xfrm>
          <a:prstGeom prst="roundRect">
            <a:avLst>
              <a:gd name="adj" fmla="val 26000"/>
            </a:avLst>
          </a:prstGeom>
          <a:solidFill>
            <a:srgbClr val="A56209"/>
          </a:solidFill>
          <a:ln/>
        </p:spPr>
      </p:sp>
      <p:sp>
        <p:nvSpPr>
          <p:cNvPr id="17" name="Text 15"/>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 = ε/R = 1/2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0,5 A</a:t>
            </a:r>
            <a:endParaRPr lang="en-US" sz="1600" dirty="0"/>
          </a:p>
        </p:txBody>
      </p:sp>
      <p:sp>
        <p:nvSpPr>
          <p:cNvPr id="19" name="Shape 17"/>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010306"/>
            <a:ext cx="384048" cy="384048"/>
          </a:xfrm>
          <a:prstGeom prst="roundRect">
            <a:avLst>
              <a:gd name="adj" fmla="val 26000"/>
            </a:avLst>
          </a:prstGeom>
          <a:solidFill>
            <a:srgbClr val="A56209"/>
          </a:solidFill>
          <a:ln/>
        </p:spPr>
      </p:sp>
      <p:sp>
        <p:nvSpPr>
          <p:cNvPr id="21" name="Text 19"/>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B·I·L = 0,5 · 0,5 · 0,4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0,1 N</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(harekete zıt)</a:t>
            </a:r>
            <a:endParaRPr lang="en-US" sz="1600" dirty="0"/>
          </a:p>
        </p:txBody>
      </p:sp>
      <p:sp>
        <p:nvSpPr>
          <p:cNvPr id="23" name="Shape 21"/>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82886"/>
            <a:ext cx="384048" cy="384048"/>
          </a:xfrm>
          <a:prstGeom prst="roundRect">
            <a:avLst>
              <a:gd name="adj" fmla="val 26000"/>
            </a:avLst>
          </a:prstGeom>
          <a:solidFill>
            <a:srgbClr val="A56209"/>
          </a:solidFill>
          <a:ln/>
        </p:spPr>
      </p:sp>
      <p:sp>
        <p:nvSpPr>
          <p:cNvPr id="25" name="Text 23"/>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mekanik güç F·v = 0,5 W; elektriksel güç I²R = 0,25·2 = 0,5 W ✓</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6</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Jeneratörün tepe emk'si</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33476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100 sarımlı, 0,02 m² alanlı bir çerçeve 0,5 T'lık düzgün alanda dönüyor. (a) Saniyede 2 tur atarken, (b) saniyede 50 tur atarken tepe emk nedir? (c) 50 tur/s'de tepe emk'nin şebekenin 325 V'luk tepe değerine ulaşması için en az kaç sarım gerekir? (π ≈ 3,14)</a:t>
            </a:r>
            <a:endParaRPr lang="en-US" sz="1600" dirty="0"/>
          </a:p>
        </p:txBody>
      </p:sp>
      <p:sp>
        <p:nvSpPr>
          <p:cNvPr id="11" name="Shape 9"/>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45386"/>
            <a:ext cx="384048" cy="384048"/>
          </a:xfrm>
          <a:prstGeom prst="roundRect">
            <a:avLst>
              <a:gd name="adj" fmla="val 26000"/>
            </a:avLst>
          </a:prstGeom>
          <a:solidFill>
            <a:srgbClr val="A56209"/>
          </a:solidFill>
          <a:ln/>
        </p:spPr>
      </p:sp>
      <p:sp>
        <p:nvSpPr>
          <p:cNvPr id="13" name="Text 11"/>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ω = 2π·f = 2 · 3,14 · 2 ≈ 12,6 rad/s → ε</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maks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N·B·A·ω = 100 · 0,5 · 0,02 · 12,6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12,6 V</a:t>
            </a:r>
            <a:endParaRPr lang="en-US" sz="1600" dirty="0"/>
          </a:p>
        </p:txBody>
      </p:sp>
      <p:sp>
        <p:nvSpPr>
          <p:cNvPr id="15" name="Shape 13"/>
          <p:cNvSpPr/>
          <p:nvPr/>
        </p:nvSpPr>
        <p:spPr>
          <a:xfrm>
            <a:off x="5212080" y="279349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111246"/>
            <a:ext cx="384048" cy="384048"/>
          </a:xfrm>
          <a:prstGeom prst="roundRect">
            <a:avLst>
              <a:gd name="adj" fmla="val 26000"/>
            </a:avLst>
          </a:prstGeom>
          <a:solidFill>
            <a:srgbClr val="A56209"/>
          </a:solidFill>
          <a:ln/>
        </p:spPr>
      </p:sp>
      <p:sp>
        <p:nvSpPr>
          <p:cNvPr id="17" name="Text 15"/>
          <p:cNvSpPr txBox="1"/>
          <p:nvPr/>
        </p:nvSpPr>
        <p:spPr>
          <a:xfrm>
            <a:off x="5449824" y="31112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848356"/>
            <a:ext cx="5379415" cy="90982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ω = 2 · 3,14 · 50 = 314 rad/s → ε</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maks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100 · 0,5 · 0,02 · 314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314 V</a:t>
            </a:r>
            <a:endParaRPr lang="en-US" sz="1600" dirty="0"/>
          </a:p>
        </p:txBody>
      </p:sp>
      <p:sp>
        <p:nvSpPr>
          <p:cNvPr id="19" name="Shape 17"/>
          <p:cNvSpPr/>
          <p:nvPr/>
        </p:nvSpPr>
        <p:spPr>
          <a:xfrm>
            <a:off x="5212080" y="395935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277106"/>
            <a:ext cx="384048" cy="384048"/>
          </a:xfrm>
          <a:prstGeom prst="roundRect">
            <a:avLst>
              <a:gd name="adj" fmla="val 26000"/>
            </a:avLst>
          </a:prstGeom>
          <a:solidFill>
            <a:srgbClr val="A56209"/>
          </a:solidFill>
          <a:ln/>
        </p:spPr>
      </p:sp>
      <p:sp>
        <p:nvSpPr>
          <p:cNvPr id="21" name="Text 19"/>
          <p:cNvSpPr txBox="1"/>
          <p:nvPr/>
        </p:nvSpPr>
        <p:spPr>
          <a:xfrm>
            <a:off x="5449824" y="42771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90982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Bir sarımın payı 0,5 · 0,02 · 314 = 3,14 V; N = 325 / 3,14 ≈ 103,5 → en az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104 sarım</a:t>
            </a:r>
            <a:endParaRPr lang="en-US" sz="1600" dirty="0"/>
          </a:p>
        </p:txBody>
      </p:sp>
      <p:sp>
        <p:nvSpPr>
          <p:cNvPr id="23" name="Shape 21"/>
          <p:cNvSpPr/>
          <p:nvPr/>
        </p:nvSpPr>
        <p:spPr>
          <a:xfrm>
            <a:off x="5212080" y="512521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442966"/>
            <a:ext cx="384048" cy="384048"/>
          </a:xfrm>
          <a:prstGeom prst="roundRect">
            <a:avLst>
              <a:gd name="adj" fmla="val 26000"/>
            </a:avLst>
          </a:prstGeom>
          <a:solidFill>
            <a:srgbClr val="A56209"/>
          </a:solidFill>
          <a:ln/>
        </p:spPr>
      </p:sp>
      <p:sp>
        <p:nvSpPr>
          <p:cNvPr id="25" name="Text 23"/>
          <p:cNvSpPr txBox="1"/>
          <p:nvPr/>
        </p:nvSpPr>
        <p:spPr>
          <a:xfrm>
            <a:off x="5449824" y="54429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18007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Çerçeve alana dik konumdan geçtiği her an emk sıfırdır; tepe değer, çerçeve alana paralelken görülür.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6</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Sabit kuvvetle çekilen çubuk</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054352"/>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0,5 T'lık alanda raylar üzerindeki 0,5 m'lik çubuk, 0,5 N'luk sabit bir kuvvetle çekiliyor. Devrenin direnci 2 Ω'dur; sürtünme yoktur. Çubuğun ulaşacağı en büyük hızı, bu hızdaki emk'yi, akımı ve dirençteki gücü bulunuz.</a:t>
            </a:r>
            <a:endParaRPr lang="en-US" sz="1600" dirty="0"/>
          </a:p>
        </p:txBody>
      </p:sp>
      <p:sp>
        <p:nvSpPr>
          <p:cNvPr id="11" name="Text 9"/>
          <p:cNvSpPr txBox="1"/>
          <p:nvPr/>
        </p:nvSpPr>
        <p:spPr>
          <a:xfrm>
            <a:off x="932688" y="4459224"/>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715256"/>
            <a:ext cx="3712464" cy="840029"/>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Bu durum, havada düşen cismin limit hıza ulaşmasına benzer: sürükleyen kuvvet sabit, frenleyen kuvvet hızla büyür ve ikisi eşitlenince hız sabitlenir.</a:t>
            </a:r>
            <a:endParaRPr lang="en-US" sz="1150" dirty="0"/>
          </a:p>
        </p:txBody>
      </p:sp>
      <p:sp>
        <p:nvSpPr>
          <p:cNvPr id="13" name="Shape 11"/>
          <p:cNvSpPr/>
          <p:nvPr/>
        </p:nvSpPr>
        <p:spPr>
          <a:xfrm>
            <a:off x="5212080" y="1627632"/>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989509"/>
            <a:ext cx="384048" cy="384048"/>
          </a:xfrm>
          <a:prstGeom prst="roundRect">
            <a:avLst>
              <a:gd name="adj" fmla="val 26000"/>
            </a:avLst>
          </a:prstGeom>
          <a:solidFill>
            <a:srgbClr val="A56209"/>
          </a:solidFill>
          <a:ln/>
        </p:spPr>
      </p:sp>
      <p:sp>
        <p:nvSpPr>
          <p:cNvPr id="15" name="Text 13"/>
          <p:cNvSpPr txBox="1"/>
          <p:nvPr/>
        </p:nvSpPr>
        <p:spPr>
          <a:xfrm>
            <a:off x="5449824" y="198950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Çubuk hızlandıkça karşı kuvvet B²L²v/R büyür; çekme kuvvetine eşitlendiğinde ivme biter.</a:t>
            </a:r>
            <a:endParaRPr lang="en-US" sz="1600" dirty="0"/>
          </a:p>
        </p:txBody>
      </p:sp>
      <p:sp>
        <p:nvSpPr>
          <p:cNvPr id="17" name="Shape 15"/>
          <p:cNvSpPr/>
          <p:nvPr/>
        </p:nvSpPr>
        <p:spPr>
          <a:xfrm>
            <a:off x="5212080" y="2881738"/>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243615"/>
            <a:ext cx="384048" cy="384048"/>
          </a:xfrm>
          <a:prstGeom prst="roundRect">
            <a:avLst>
              <a:gd name="adj" fmla="val 26000"/>
            </a:avLst>
          </a:prstGeom>
          <a:solidFill>
            <a:srgbClr val="A56209"/>
          </a:solidFill>
          <a:ln/>
        </p:spPr>
      </p:sp>
      <p:sp>
        <p:nvSpPr>
          <p:cNvPr id="19" name="Text 17"/>
          <p:cNvSpPr txBox="1"/>
          <p:nvPr/>
        </p:nvSpPr>
        <p:spPr>
          <a:xfrm>
            <a:off x="5449824" y="324361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936602"/>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B²L²v/R → v = F·R/(B²L²) = 0,5 · 2 / (0,25 · 0,25)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16 m/s</a:t>
            </a:r>
            <a:endParaRPr lang="en-US" sz="1600" dirty="0"/>
          </a:p>
        </p:txBody>
      </p:sp>
      <p:sp>
        <p:nvSpPr>
          <p:cNvPr id="21" name="Shape 19"/>
          <p:cNvSpPr/>
          <p:nvPr/>
        </p:nvSpPr>
        <p:spPr>
          <a:xfrm>
            <a:off x="5212080" y="4135844"/>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4321229"/>
            <a:ext cx="384048" cy="384048"/>
          </a:xfrm>
          <a:prstGeom prst="roundRect">
            <a:avLst>
              <a:gd name="adj" fmla="val 26000"/>
            </a:avLst>
          </a:prstGeom>
          <a:solidFill>
            <a:srgbClr val="A56209"/>
          </a:solidFill>
          <a:ln/>
        </p:spPr>
      </p:sp>
      <p:sp>
        <p:nvSpPr>
          <p:cNvPr id="23" name="Text 21"/>
          <p:cNvSpPr txBox="1"/>
          <p:nvPr/>
        </p:nvSpPr>
        <p:spPr>
          <a:xfrm>
            <a:off x="5449824" y="432122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4190708"/>
            <a:ext cx="5379415" cy="6450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ε = B·L·v = 0,5 · 0,5 · 16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 V</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I = ε/R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 A</a:t>
            </a:r>
            <a:endParaRPr lang="en-US" sz="1600" dirty="0"/>
          </a:p>
        </p:txBody>
      </p:sp>
      <p:sp>
        <p:nvSpPr>
          <p:cNvPr id="25" name="Shape 23"/>
          <p:cNvSpPr/>
          <p:nvPr/>
        </p:nvSpPr>
        <p:spPr>
          <a:xfrm>
            <a:off x="5212080" y="5036966"/>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5398843"/>
            <a:ext cx="384048" cy="384048"/>
          </a:xfrm>
          <a:prstGeom prst="roundRect">
            <a:avLst>
              <a:gd name="adj" fmla="val 26000"/>
            </a:avLst>
          </a:prstGeom>
          <a:solidFill>
            <a:srgbClr val="A56209"/>
          </a:solidFill>
          <a:ln/>
        </p:spPr>
      </p:sp>
      <p:sp>
        <p:nvSpPr>
          <p:cNvPr id="27" name="Text 25"/>
          <p:cNvSpPr txBox="1"/>
          <p:nvPr/>
        </p:nvSpPr>
        <p:spPr>
          <a:xfrm>
            <a:off x="5449824" y="539884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5091830"/>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P = I²R = 4 · 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8 W</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Kontrol: F·v = 0,5 · 16 = 8 W ✓</a:t>
            </a:r>
            <a:endParaRPr lang="en-US" sz="1600" dirty="0"/>
          </a:p>
        </p:txBody>
      </p:sp>
      <p:sp>
        <p:nvSpPr>
          <p:cNvPr id="29" name="Shape 27"/>
          <p:cNvSpPr/>
          <p:nvPr/>
        </p:nvSpPr>
        <p:spPr>
          <a:xfrm>
            <a:off x="640080" y="6382512"/>
            <a:ext cx="128016" cy="128016"/>
          </a:xfrm>
          <a:prstGeom prst="roundRect">
            <a:avLst>
              <a:gd name="adj" fmla="val 28571"/>
            </a:avLst>
          </a:prstGeom>
          <a:solidFill>
            <a:srgbClr val="A9E648"/>
          </a:solidFill>
          <a:ln/>
        </p:spPr>
      </p:sp>
      <p:sp>
        <p:nvSpPr>
          <p:cNvPr id="30" name="Text 2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31" name="Text 2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“Manyetik alan varsa akım vardır.”</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Akım için alanın değil,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akının değişmesi</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gerekir.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“Güçlü mıknatıs her zaman daha çok akım üretir.”</a:t>
            </a:r>
            <a:endParaRPr lang="en-US" sz="1600" dirty="0"/>
          </a:p>
        </p:txBody>
      </p:sp>
      <p:sp>
        <p:nvSpPr>
          <p:cNvPr id="18" name="Shape 16"/>
          <p:cNvSpPr/>
          <p:nvPr/>
        </p:nvSpPr>
        <p:spPr>
          <a:xfrm>
            <a:off x="6406744" y="2435352"/>
            <a:ext cx="274320" cy="274320"/>
          </a:xfrm>
          <a:prstGeom prst="roundRect">
            <a:avLst>
              <a:gd name="adj" fmla="val 26667"/>
            </a:avLst>
          </a:prstGeom>
          <a:solidFill>
            <a:srgbClr val="EAF7DC"/>
          </a:solidFill>
          <a:ln/>
        </p:spPr>
      </p:sp>
      <p:sp>
        <p:nvSpPr>
          <p:cNvPr id="19" name="Text 17"/>
          <p:cNvSpPr txBox="1"/>
          <p:nvPr/>
        </p:nvSpPr>
        <p:spPr>
          <a:xfrm>
            <a:off x="6406744"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Belirleyici olan ΔΦ/Δt'dir; yavaş oynatılan güçlü mıknatıs, hızlı oynatılan zayıf mıknatıstan daha az emk üretebilir.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Lenz'in eksi işaretini büyüklük sanmak.</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Eksi işareti yalnızca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yönü</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anlatır.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“İndüksiyon akımı hareketi destekler.”</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Daima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karşı koyar</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aksi hâlde enerji korunumu bozulurdu.</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Akıyı alanla karıştırmak.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Φ = B·A·cosα; alan aynı kalsa bile yüzey ya da açı değişirse akı değişir.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“ε = B·L·v her durumda geçerlidir.”</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Bu bağıntı, çubuğun alana ve kendine dik hareket ettiği özel durum içindir.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Jeneratörde emk ile akıyı aynı anda en büyük sanmak.</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Φ en büyükken ε sıfır, Φ sıfırken ε en büyüktür.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“Devre açıksa emk de yoktur.”</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Açık devrede de emk doğar; yalnızca akım akmaz. Uçları bir voltmetreye bağlarsan gerilimi ölçersin.</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Akı </a:t>
            </a:r>
            <a:pPr indent="0" marL="0">
              <a:buNone/>
            </a:pPr>
            <a:r>
              <a:rPr lang="en-US" sz="1500" b="1" dirty="0">
                <a:solidFill>
                  <a:srgbClr val="FFFFFF"/>
                </a:solidFill>
                <a:latin typeface="Calibri" pitchFamily="34" charset="0"/>
                <a:ea typeface="Calibri" pitchFamily="34" charset="-122"/>
                <a:cs typeface="Calibri" pitchFamily="34" charset="-120"/>
              </a:rPr>
              <a:t>Φ = B·A·cosα</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Faraday </a:t>
            </a:r>
            <a:pPr indent="0" marL="0">
              <a:buNone/>
            </a:pPr>
            <a:r>
              <a:rPr lang="en-US" sz="1500" b="1" dirty="0">
                <a:solidFill>
                  <a:srgbClr val="FFFFFF"/>
                </a:solidFill>
                <a:latin typeface="Calibri" pitchFamily="34" charset="0"/>
                <a:ea typeface="Calibri" pitchFamily="34" charset="-122"/>
                <a:cs typeface="Calibri" pitchFamily="34" charset="-120"/>
              </a:rPr>
              <a:t>ε = −N·ΔΦ/Δt</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Lenz </a:t>
            </a:r>
            <a:pPr indent="0" marL="0">
              <a:buNone/>
            </a:pPr>
            <a:r>
              <a:rPr lang="en-US" sz="1500" b="1" dirty="0">
                <a:solidFill>
                  <a:srgbClr val="FFFFFF"/>
                </a:solidFill>
                <a:latin typeface="Calibri" pitchFamily="34" charset="0"/>
                <a:ea typeface="Calibri" pitchFamily="34" charset="-122"/>
                <a:cs typeface="Calibri" pitchFamily="34" charset="-120"/>
              </a:rPr>
              <a:t>değişime karşı</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Çubuk </a:t>
            </a:r>
            <a:pPr indent="0" marL="0">
              <a:buNone/>
            </a:pPr>
            <a:r>
              <a:rPr lang="en-US" sz="1500" b="1" dirty="0">
                <a:solidFill>
                  <a:srgbClr val="FFFFFF"/>
                </a:solidFill>
                <a:latin typeface="Calibri" pitchFamily="34" charset="0"/>
                <a:ea typeface="Calibri" pitchFamily="34" charset="-122"/>
                <a:cs typeface="Calibri" pitchFamily="34" charset="-120"/>
              </a:rPr>
              <a:t>ε = B·L·v</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956816"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Φ = B · A · cosα</a:t>
            </a:r>
            <a:endParaRPr lang="en-US" sz="1350" dirty="0"/>
          </a:p>
        </p:txBody>
      </p:sp>
      <p:sp>
        <p:nvSpPr>
          <p:cNvPr id="16" name="Text 14"/>
          <p:cNvSpPr txBox="1"/>
          <p:nvPr/>
        </p:nvSpPr>
        <p:spPr>
          <a:xfrm>
            <a:off x="8677656" y="2395728"/>
            <a:ext cx="2691079"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manyetik akı (weber)</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956816"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ε = −N · ΔΦ / Δt</a:t>
            </a:r>
            <a:endParaRPr lang="en-US" sz="1350" dirty="0"/>
          </a:p>
        </p:txBody>
      </p:sp>
      <p:sp>
        <p:nvSpPr>
          <p:cNvPr id="19" name="Text 17"/>
          <p:cNvSpPr txBox="1"/>
          <p:nvPr/>
        </p:nvSpPr>
        <p:spPr>
          <a:xfrm>
            <a:off x="8677656" y="3218688"/>
            <a:ext cx="2691079"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Faraday indüksiyon yasası</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64134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ε = B · L · v</a:t>
            </a:r>
            <a:endParaRPr lang="en-US" sz="1350" dirty="0"/>
          </a:p>
        </p:txBody>
      </p:sp>
      <p:sp>
        <p:nvSpPr>
          <p:cNvPr id="22" name="Text 20"/>
          <p:cNvSpPr txBox="1"/>
          <p:nvPr/>
        </p:nvSpPr>
        <p:spPr>
          <a:xfrm>
            <a:off x="8362188" y="4041648"/>
            <a:ext cx="300654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hareketli iletken çubuk</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I = ε / R</a:t>
            </a:r>
            <a:endParaRPr lang="en-US" sz="1350" dirty="0"/>
          </a:p>
        </p:txBody>
      </p:sp>
      <p:sp>
        <p:nvSpPr>
          <p:cNvPr id="25" name="Text 23"/>
          <p:cNvSpPr txBox="1"/>
          <p:nvPr/>
        </p:nvSpPr>
        <p:spPr>
          <a:xfrm>
            <a:off x="8183880" y="486460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indüksiyon akımı</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dersler.perinet.org/induksiyon-akimi.html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04 · Transformatörler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İndüksiyon akımı — Dersler</dc:title>
  <dc:subject>Fizik · Elektrik ve Manyetizma</dc:subject>
  <dc:creator>Dersler</dc:creator>
  <cp:lastModifiedBy>Dersler</cp:lastModifiedBy>
  <cp:revision>1</cp:revision>
  <dcterms:created xsi:type="dcterms:W3CDTF">2026-09-30T06:40:29Z</dcterms:created>
  <dcterms:modified xsi:type="dcterms:W3CDTF">2026-09-30T06:40:29Z</dcterms:modified>
</cp:coreProperties>
</file>