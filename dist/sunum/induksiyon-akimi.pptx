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Evindeki prizden gelen elektriğin neredeyse tamamı tek bir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Evindeki prizden gelen elektriğin neredeyse tamamı tek bir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Manyetik akı
2. Faraday indüksiyon yasası
3. Lenz yasası
4. İndüksiyon akımının yönü
5. Hareketli iletken çubuk
6. Jeneratör ve alternatif akım
7. Uygulamalar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Bir yüzeyden geçen manyetik alan çizgilerinin sayısına manyetik akı (Φ) denir. Birimi weber (Wb)'dir.
Φ = B · A · cosα   1 Wb = 1 T·m²
Buradaki α, alan ile yüzeyin normali (yüzeye dik doğrultu) arasındaki açıdır. Üç durum önemlidir:
• Alan yüzeye dik (α = 0): akı en büyüktür, Φ = B·A.
• Alan yüzeye paralel (α = 90°): akı sıfırdır.
• Akı; B, A ya da α'dan herhangi biri değiştiğinde değişir.
Çizim: Manyetik akı, çerçevenin içinden kaç alan çizgisinin geçtiğidir.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Bir devreden geçen manyetik akı değiştiğinde devrede bir elektromotor kuvvet (emk) indüklenir. Bu emk'nin büyüklüğü, akının değişim hızıyla orantılıdır:
ε = −N · ΔΦ / Δt   I = ε / R
N sarım sayısıdır: aynı akı değişimi N kez sayıldığı için emk sarımla doğru orantılı büyür. Baştaki eksi işareti yönü anlatır (Lenz yasası).
Belirleyici olan değişimdir. Güçlü ama sabit bir alan hiçbir akım üretmez. Mıknatıs bobinin içinde hareketsiz dururken galvanometre sıfırı gösterir; hareket başladığı anda sapar.
Çizim: Akım üreten şey alanın büyüklüğü değil, akının değişim hızıdır. Mıknatısı ne kadar hızlı hareket ettirirsen ΔΦ/Δt o kadar büyür ve galvanometre iğnesi o kadar çok sapar. Mıknatısı bobinin içinde durdurursan, alan hâlâ güçlü olmasına rağmen akım tamamen kesilir. Sarım sayısını artırmak da emk'yı aynı oranda büyütür.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İndüksiyon akımı, kendisini doğuran akı değişimine karşı koyacak yönde akar. Bu, enerjinin korunumunun doğrudan bir sonucudur.
• Akı artıyorsa: indüksiyon akımı, artışı azaltacak yönde alan üretir.
• Akı azalıyorsa: akım, azalmayı telafi edecek yönde alan üretir.
Bu yüzden mıknatısı bobine yaklaştırırken bir itme, uzaklaştırırken bir çekme hissedersin. Mıknatısı hareket ettirmek için yaptığın iş, devrede üretilen elektrik enerjisine dönüşür.
Lenz olmasaydı ne olurdu? Akım değişimi desteklerdi; sistem kendi kendini hızlandırır, bedava enerji üretirdi. Eksi işareti, enerji korunumunun bekçisidir.
Çizim: Lenz yasası tek cümledir: indüklenen akım, kendisini doğuran değişime karşı çıkacak yönde akar. Mıknatıs yaklaşırken bobin ona bakan yüzünü aynı kutup yapar ve iter; uzaklaşırken zıt kutup yapar ve çeker. Yani mıknatısı hareket ettirmek için iş yapman gerekir — üretilen elektrik enerjisi tam olarak buradan gelir. Aksi olsaydı hareket kendini besler, enerjinin korunumu çökerdi.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Yönü bulmanın pratik yolu üç adımdır:
• Devreden geçen akının yönünü ve artıyor mu azalıyor mu olduğunu belirle.
• Lenz'e göre indüksiyon akımının hangi yönde alan üretmesi gerektiğini bul (artışa karşı zıt, azalmaya karşı aynı yönde).
• Sağ el kuralıyla, bu alanı üretecek akım yönünü belirle.
Sayfadaki 01 numaralı deneyde mıknatıs yaklaşırken akım bir yöne, uzaklaşırken ters yöne akar; galvanometre iki kez, zıt yönlerde sapar.
Çizim: Yönü bulmak için tek bir soru yeter: akı artıyor mu, azalıyor mu? Artıyorsa indüklenen akım, artışı frenlemek için zıt yönde bir alan üretir; azalıyorsa azalmayı yavaşlatmak için aynı yönde bir alan üretir. İndüklenen alanın yönünü bulduktan sonra akımın yönünü sağ el kuralıyla okursun.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Manyetik alan içinde, raylar üzerinde v hızıyla kayan L uzunluğundaki çubuk için akı değişimi ΔΦ = B·L·v·Δt olur ve emk:
ε = B · L · v   I = B·L·v / R   F = B·I·L = B²L²v / R
Bu kuvvet harekete zıt yöndedir: çubuğu sabit hızla sürmek için dışarıdan bir kuvvet uygulanmalıdır. Harcanan mekanik güç (F·v), devrede açığa çıkan elektriksel güce (I²R) eşittir — enerji korunur.
Çizim: Çubuk sağa kaydıkça devrenin çevrelediği alan büyür, akı artar ve devrede akım doğar. Ama bu akım da alanın içindedir: ona etkiyen manyetik kuvvet harekete zıt yöndedir (kırmızı ok). Yani çubuğu sabit hızla sürüklemek için sürekli kuvvet uygulamak gerekir — harcadığın mekanik güç, direnç üzerinde ısıya dönüşen elektriksel güce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Düzgün alan içinde sabit hızla dönen bir çerçevede akı sürekli değişir:
Φ = B·A·cos(ω·t)   ε = B·A·ω·sin(ω·t)   ε(maks) = B·A·ω·N
Üretilen emk sinüs biçiminde değişir ve yön değiştirir: buna alternatif akım (AC) denir. Çerçeve alana dik olduğunda akı en büyüktür ama değişim hızı sıfırdır, dolayısıyla emk sıfırdır; çerçeve alana paralel olduğunda ise akı sıfır, emk en büyüktür.
Türkiye'de şebeke: 230 V, 50 Hz. Yani jeneratör çerçevesi saniyede 50 tam tur atar ve gerilim saniyede 50 kez tam çevrim yapar.
Çizim: Çerçeve döndükçe içinden geçen akı kosinüs gibi salınır. Emk ise akının değişim hızıyla orantılı olduğu için sinüs olur — yani ikisi arasında çeyrek periyot fark vardır. Akının en büyük olduğu anda emk sıfırdır (o an akı değişmiyordur); akının sıfır olduğu anda ise emk en büyüktür. Şehir şebekesindeki alternatif akım tam olarak bu eğridir.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Uygulamalar
Uygulama | Nasıl çalışır
Jeneratör / dinamo | Dönen çerçevede akı değişimi
Transformatör | Değişen akımın ikinci bobinde akı değişimi yaratması
Kablosuz şarj | Bobinden bobine akı aktarımı
Metal dedektör | Metalde doğan girdap akımlarının alanı bozması
İndüksiyonlu ocak | Tencere tabanında doğan girdap akımlarının ısıtması
Girdap akımı freni | Lenz kuvvetiyle temassız frenleme
Çizim: Bakır mıknatıslanmaz — ama iletkendir. Mıknatıs boruya girerken boru duvarında halka halka girdap akımları doğar ve Lenz yasası gereği bu akımlar mıknatısı frenler. Sonuç şaşırtıcı: aynı mıknatıs plastik boruda yarım saniyede düşerken bakır boruda on kat uzun sürede iner. Hiçbir temas, hiçbir sürtünme olmadan frenleme — aynı ilke ağır vasıtaların girdap akımı frenlerinde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 değişiminden emk
200 sarımlı bir bobinden geçen manyetik akı 0,1 saniyede 4·10⁻³ Wb'den 1·10⁻³ Wb'ye düşüyor. İndüklenen emk'nin büyüklüğü nedir?
1. ΔΦ = 1·10⁻³ − 4·10⁻³ = −3·10⁻³ Wb
2. |ε| = N·|ΔΦ|/Δt = 200 · 3·10⁻³ / 0,1
3. |ε| = 200 · 0,03 = 6 V
4. Akı azaldığı için indüksiyon akımı, akıyı sürdürecek yönde akar (Lenz).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Hareketli çubuk
0,5 T'lık alanda, 40 cm uzunluğundaki çubuk raylar üzerinde 5 m/s hızla kayıyor. Devrenin direnci 2 Ω'dur. emk, akım ve çubuğa etki eden karşı kuvveti bulunuz.
1. ε = B·L·v = 0,5 · 0,4 · 5 = 1 V
2. I = ε/R = 1/2 = 0,5 A
3. F = B·I·L = 0,5 · 0,5 · 0,4 = 0,1 N (harekete zıt)
4. Kontrol: mekanik güç F·v = 0,5 W; elektriksel güç I²R = 0,25·2 = 0,5 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Akının açıya bağlılığı
Alanı 0,2 m² olan bir çerçeve, 0,4 T'lık düzgün alan içinde duruyor. Çerçevenin normali alanla (a) 0°, (b) 60°, (c) 90° açı yaptığında akı kaç Wb olur?
1. (a) Φ = B·A·cos0° = 0,4 · 0,2 · 1 = 0,08 Wb
2. (b) Φ = 0,08 · cos60° = 0,08 · 0,5 = 0,04 Wb
3. (c) Φ = 0,08 · cos90° = 0 (alan yüzeye paralel)
4. Çerçeve döndükçe akı bu değerler arasında salınır; jeneratörün temeli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Lenz yasasıyla yön
Bir mıknatısın N kutbu bobine yaklaştırılıyor. Bobinin mıknatısa bakan yüzü hangi kutup gibi davranır ve neden?
1. N kutbu yaklaştıkça bobinden geçen akı artar.
2. Lenz yasası: indüksiyon akımı bu artışa karşı koyar, yani mıknatısı iter.
3. İtebilmesi için bobinin o yüzü N kutbu gibi davranmalıdır.
4. Mıknatıs uzaklaştırılsaydı akı azalırdı; bu kez bobin onu çekmek için S kutbu gibi davranırdı.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alan varsa akım vardır.” Akım için alanın değil, akının değişmesi gerekir.
• “Güçlü mıknatıs her zaman daha çok akım üretir.” Belirleyici olan ΔΦ/Δt'dir; yavaş hareket ettirilen güçlü mıknatıs, hızlı hareket ettirilen zayıf mıknatıstan daha az emk üretebilir.
• Lenz'in eksi işaretini büyüklük sanmak. Eksi işareti yalnızca yönü anlatır.
• “İndüksiyon akımı hareketi destekler.” Daima karşı koyar; aksi hâlde enerji korunumu bozulurdu.
• Akıyı alanla karıştırmak. Φ = B·A·cosα; alan aynı kalsa bile yüzey ya da açı değişirse akı değişir.
• “ε = B·L·v her durumda geçerlidir.” Bu bağıntı, çubuğun alana ve kendine dik hareket ettiği özel durum içindir.
• Jeneratörde emk ile akıyı aynı anda en büyük sanmak. Φ en büyükken ε sıfır, Φ sıfırken ε en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Akı Φ = B·A·cosα · Faraday ε = −N·ΔΦ/Δt · Lenz değişime karşı · Çubuk ε = B·L·v
Φ = B · A · cosα — manyetik akı (weber)
ε = −N · ΔΦ / Δt — Faraday indüksiyon yasası
ε = B · L · v — hareketli iletken çubuk
I = ε / R — indüksiyon akımı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03</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İndüksiyon akımı</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Manyetik alan tek başına akım üretmez; üreten şey alanın değişmesidir. Bir devreden geçen manyetik akı değiştiği sürece devrede bir indüksiyon emk'sı doğar — ve bu akım, kendisini doğuran değişime karşı koyar.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B · A · cosα   ·   ε = −N · ΔΦ / Δt   ·   ε = B · L · v</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Evindeki prizden gelen elektriğin neredeyse tamamı tek bir fikirden doğuyor: bir bobinin içinden geçen manyetik alan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değişirse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o bobinde akım doğar. Faraday bunu 1831'de bir mıknatısı bobinin içinde ileri geri oynatarak buldu. Bugün barajlar, rüzgâr türbinleri, termik santraller ve arabaların alternatörleri hep aynı şeyi yapıyor —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hareketi, akı değişimine çevirmek.</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Manyetik akı</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yüzeyden geçen manyetik alan çizgilerinin sayısına manyetik akı (Φ) denir.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Faraday indüksiyon yasası</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devreden geçen manyetik akı değiştiğinde devrede bir elektromotor kuvvet (emk)…</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Lenz yasası</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İndüksiyon akımı, kendisini doğuran akı değişimine karşı koyacak yönde akar.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İndüksiyon akımının yönü</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Yönü bulmanın pratik yolu üç adımdır: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Hareketli iletken çubuk</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Manyetik alan içinde, raylar üzerinde v hızıyla kayan L uzunluğundaki çubuk için akı…</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Jeneratör ve alternatif akım</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Düzgün alan içinde sabit hızla dönen bir çerçevede akı sürekli değişir: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Uygulamalar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640080" y="1481328"/>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Bir yüzeyden geçen manyetik alan çizgilerinin sayısına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manyetik akı (Φ)</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denir.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weber (Wb)</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'dir.</a:t>
            </a:r>
            <a:endParaRPr lang="en-US" sz="1500" dirty="0"/>
          </a:p>
        </p:txBody>
      </p:sp>
      <p:sp>
        <p:nvSpPr>
          <p:cNvPr id="6" name="Shape 4"/>
          <p:cNvSpPr/>
          <p:nvPr/>
        </p:nvSpPr>
        <p:spPr>
          <a:xfrm>
            <a:off x="640080" y="2507742"/>
            <a:ext cx="2037283"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0774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B · A · cosα</a:t>
            </a:r>
            <a:endParaRPr lang="en-US" sz="1300" dirty="0"/>
          </a:p>
        </p:txBody>
      </p:sp>
      <p:sp>
        <p:nvSpPr>
          <p:cNvPr id="8" name="Shape 6"/>
          <p:cNvSpPr/>
          <p:nvPr/>
        </p:nvSpPr>
        <p:spPr>
          <a:xfrm>
            <a:off x="2787091" y="2507742"/>
            <a:ext cx="174101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787091" y="2507742"/>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Wb = 1 T·m²</a:t>
            </a:r>
            <a:endParaRPr lang="en-US" sz="1300" dirty="0"/>
          </a:p>
        </p:txBody>
      </p:sp>
      <p:sp>
        <p:nvSpPr>
          <p:cNvPr id="10" name="Text 8"/>
          <p:cNvSpPr txBox="1"/>
          <p:nvPr/>
        </p:nvSpPr>
        <p:spPr>
          <a:xfrm>
            <a:off x="640080" y="3129534"/>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Buradaki α, alan ile yüzeyin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normali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(yüzeye dik doğrultu) arasındaki açıdır.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Üç durum önemlidir:</a:t>
            </a:r>
            <a:endParaRPr lang="en-US" sz="1500" dirty="0"/>
          </a:p>
        </p:txBody>
      </p:sp>
      <p:sp>
        <p:nvSpPr>
          <p:cNvPr id="11" name="Text 9"/>
          <p:cNvSpPr txBox="1"/>
          <p:nvPr/>
        </p:nvSpPr>
        <p:spPr>
          <a:xfrm>
            <a:off x="640080" y="4155948"/>
            <a:ext cx="5852160" cy="12435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Alan yüzeye dik</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(α = 0): akı en büyüktür, Φ = B·A.</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Alan yüzeye paralel</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(α = 90°): akı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Akı; B, A ya da α'dan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herhangi biri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değiştiğinde değişir.</a:t>
            </a:r>
            <a:endParaRPr lang="en-US" sz="1500" dirty="0"/>
          </a:p>
        </p:txBody>
      </p:sp>
      <p:sp>
        <p:nvSpPr>
          <p:cNvPr id="12" name="Shape 10"/>
          <p:cNvSpPr/>
          <p:nvPr/>
        </p:nvSpPr>
        <p:spPr>
          <a:xfrm>
            <a:off x="6784848" y="1481328"/>
            <a:ext cx="4766767" cy="3333468"/>
          </a:xfrm>
          <a:prstGeom prst="roundRect">
            <a:avLst>
              <a:gd name="adj" fmla="val 4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induksiyon-akimi-01.png">    </p:cNvPr>
          <p:cNvPicPr>
            <a:picLocks noChangeAspect="1"/>
          </p:cNvPicPr>
          <p:nvPr/>
        </p:nvPicPr>
        <p:blipFill>
          <a:blip r:embed="rId1"/>
          <a:stretch>
            <a:fillRect/>
          </a:stretch>
        </p:blipFill>
        <p:spPr>
          <a:xfrm>
            <a:off x="6967728" y="1664208"/>
            <a:ext cx="4401007" cy="1870428"/>
          </a:xfrm>
          <a:prstGeom prst="rect">
            <a:avLst/>
          </a:prstGeom>
        </p:spPr>
      </p:pic>
      <p:sp>
        <p:nvSpPr>
          <p:cNvPr id="14" name="Shape 11"/>
          <p:cNvSpPr/>
          <p:nvPr/>
        </p:nvSpPr>
        <p:spPr>
          <a:xfrm>
            <a:off x="6967728" y="3626076"/>
            <a:ext cx="4401007" cy="0"/>
          </a:xfrm>
          <a:prstGeom prst="line">
            <a:avLst/>
          </a:prstGeom>
          <a:noFill/>
          <a:ln w="9525">
            <a:solidFill>
              <a:srgbClr val="E1E5EE"/>
            </a:solidFill>
            <a:prstDash val="dash"/>
          </a:ln>
        </p:spPr>
      </p:sp>
      <p:sp>
        <p:nvSpPr>
          <p:cNvPr id="15" name="Text 12"/>
          <p:cNvSpPr txBox="1"/>
          <p:nvPr/>
        </p:nvSpPr>
        <p:spPr>
          <a:xfrm>
            <a:off x="6967728" y="3680940"/>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akı, çerçevenin içinden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kaç alan çizgisinin geçtiğidir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640080" y="1481328"/>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Bir devreden geçen manyetik akı değiştiğinde devrede bir elektromotor kuvvet (emk) indüklenir.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emk'nin büyüklüğü, akının </a:t>
            </a:r>
            <a:pPr indent="0" marL="0">
              <a:lnSpc>
                <a:spcPct val="115000"/>
              </a:lnSpc>
              <a:buNone/>
            </a:pPr>
            <a:r>
              <a:rPr lang="en-US" sz="1400" i="1" dirty="0">
                <a:solidFill>
                  <a:srgbClr val="4A5470"/>
                </a:solidFill>
                <a:latin typeface="Calibri" pitchFamily="34" charset="0"/>
                <a:ea typeface="Calibri" pitchFamily="34" charset="-122"/>
                <a:cs typeface="Calibri" pitchFamily="34" charset="-120"/>
              </a:rPr>
              <a:t>değişim hızıyla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orantılıdır:</a:t>
            </a:r>
            <a:endParaRPr lang="en-US" sz="1400" dirty="0"/>
          </a:p>
        </p:txBody>
      </p:sp>
      <p:sp>
        <p:nvSpPr>
          <p:cNvPr id="6" name="Shape 4"/>
          <p:cNvSpPr/>
          <p:nvPr/>
        </p:nvSpPr>
        <p:spPr>
          <a:xfrm>
            <a:off x="640080" y="2455164"/>
            <a:ext cx="2037283"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5516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 = −N · ΔΦ / Δt</a:t>
            </a:r>
            <a:endParaRPr lang="en-US" sz="1300" dirty="0"/>
          </a:p>
        </p:txBody>
      </p:sp>
      <p:sp>
        <p:nvSpPr>
          <p:cNvPr id="8" name="Shape 6"/>
          <p:cNvSpPr/>
          <p:nvPr/>
        </p:nvSpPr>
        <p:spPr>
          <a:xfrm>
            <a:off x="2787091" y="2455164"/>
            <a:ext cx="1345997"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787091" y="245516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ε / R</a:t>
            </a:r>
            <a:endParaRPr lang="en-US" sz="1300" dirty="0"/>
          </a:p>
        </p:txBody>
      </p:sp>
      <p:sp>
        <p:nvSpPr>
          <p:cNvPr id="10" name="Text 8"/>
          <p:cNvSpPr txBox="1"/>
          <p:nvPr/>
        </p:nvSpPr>
        <p:spPr>
          <a:xfrm>
            <a:off x="640080" y="3076956"/>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N sarım sayısıdır: aynı akı değişimi N kez sayıldığı için emk sarımla doğru orantılı büyür.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Baştaki eksi işareti yönü anlatır (Lenz yasası).</a:t>
            </a:r>
            <a:endParaRPr lang="en-US" sz="1400" dirty="0"/>
          </a:p>
        </p:txBody>
      </p:sp>
      <p:sp>
        <p:nvSpPr>
          <p:cNvPr id="11" name="Shape 9"/>
          <p:cNvSpPr/>
          <p:nvPr/>
        </p:nvSpPr>
        <p:spPr>
          <a:xfrm>
            <a:off x="640080" y="4050792"/>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97096"/>
            <a:ext cx="45720" cy="793242"/>
          </a:xfrm>
          <a:prstGeom prst="rect">
            <a:avLst/>
          </a:prstGeom>
          <a:solidFill>
            <a:srgbClr val="3C8C21"/>
          </a:solidFill>
          <a:ln/>
        </p:spPr>
      </p:sp>
      <p:sp>
        <p:nvSpPr>
          <p:cNvPr id="13" name="Text 11"/>
          <p:cNvSpPr txBox="1"/>
          <p:nvPr/>
        </p:nvSpPr>
        <p:spPr>
          <a:xfrm>
            <a:off x="914400" y="4160520"/>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Belirleyici olan değişimdir.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Güçlü ama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sabit</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bir alan hiçbir akım üretmez. Mıknatıs bobinin içinde hareketsiz dururken galvanometre sıfırı gösterir; hareket başladığı anda sapar.</a:t>
            </a:r>
            <a:endParaRPr lang="en-US" sz="1300" dirty="0"/>
          </a:p>
        </p:txBody>
      </p:sp>
      <p:sp>
        <p:nvSpPr>
          <p:cNvPr id="14" name="Shape 12"/>
          <p:cNvSpPr/>
          <p:nvPr/>
        </p:nvSpPr>
        <p:spPr>
          <a:xfrm>
            <a:off x="7242048" y="1481328"/>
            <a:ext cx="4309567" cy="3318380"/>
          </a:xfrm>
          <a:prstGeom prst="roundRect">
            <a:avLst>
              <a:gd name="adj" fmla="val 440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a4dee546-de71-4ec2-8add-be39dd273d29/scratchpad/sekiller/induksiyon-akimi-02.png">    </p:cNvPr>
          <p:cNvPicPr>
            <a:picLocks noChangeAspect="1"/>
          </p:cNvPicPr>
          <p:nvPr/>
        </p:nvPicPr>
        <p:blipFill>
          <a:blip r:embed="rId1"/>
          <a:stretch>
            <a:fillRect/>
          </a:stretch>
        </p:blipFill>
        <p:spPr>
          <a:xfrm>
            <a:off x="7424928" y="1664208"/>
            <a:ext cx="3943807" cy="1676118"/>
          </a:xfrm>
          <a:prstGeom prst="rect">
            <a:avLst/>
          </a:prstGeom>
        </p:spPr>
      </p:pic>
      <p:sp>
        <p:nvSpPr>
          <p:cNvPr id="16" name="Shape 13"/>
          <p:cNvSpPr/>
          <p:nvPr/>
        </p:nvSpPr>
        <p:spPr>
          <a:xfrm>
            <a:off x="7424928" y="3431766"/>
            <a:ext cx="3943807" cy="0"/>
          </a:xfrm>
          <a:prstGeom prst="line">
            <a:avLst/>
          </a:prstGeom>
          <a:noFill/>
          <a:ln w="9525">
            <a:solidFill>
              <a:srgbClr val="E1E5EE"/>
            </a:solidFill>
            <a:prstDash val="dash"/>
          </a:ln>
        </p:spPr>
      </p:sp>
      <p:sp>
        <p:nvSpPr>
          <p:cNvPr id="17" name="Text 14"/>
          <p:cNvSpPr txBox="1"/>
          <p:nvPr/>
        </p:nvSpPr>
        <p:spPr>
          <a:xfrm>
            <a:off x="7424928" y="3486630"/>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Akım üreten şey alanın büyüklüğü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akının değişim hızıdır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Mıknatısı ne kadar hızlı hareket ettirirsen ΔΦ/Δt o kadar büyür ve galvanometre iğnesi o kadar çok sapar. Mıknatısı bobinin içinde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durdurursan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alan hâlâ güçlü olmasına rağmen akım tamamen kesilir. Sarım sayısını artırmak da emk'yı aynı oranda büyütür.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a:t>
            </a:r>
            <a:endParaRPr lang="en-US" sz="3200" dirty="0"/>
          </a:p>
        </p:txBody>
      </p:sp>
      <p:sp>
        <p:nvSpPr>
          <p:cNvPr id="5" name="Text 3"/>
          <p:cNvSpPr txBox="1"/>
          <p:nvPr/>
        </p:nvSpPr>
        <p:spPr>
          <a:xfrm>
            <a:off x="640080" y="1481328"/>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İndüksiyon akımı, kendisini doğuran akı değişimine karşı koyacak yönde akar.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enerjinin korunumunun doğrudan bir sonucudur.</a:t>
            </a:r>
            <a:endParaRPr lang="en-US" sz="1400" dirty="0"/>
          </a:p>
        </p:txBody>
      </p:sp>
      <p:sp>
        <p:nvSpPr>
          <p:cNvPr id="6" name="Text 4"/>
          <p:cNvSpPr txBox="1"/>
          <p:nvPr/>
        </p:nvSpPr>
        <p:spPr>
          <a:xfrm>
            <a:off x="640080" y="2455164"/>
            <a:ext cx="630936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Akı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artıyorsa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indüksiyon akımı, artışı azaltacak yönde alan üretir.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Akı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azalıyorsa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akım, azalmayı telafi edecek yönde alan üretir.</a:t>
            </a:r>
            <a:endParaRPr lang="en-US" sz="1400" dirty="0"/>
          </a:p>
        </p:txBody>
      </p:sp>
      <p:sp>
        <p:nvSpPr>
          <p:cNvPr id="7" name="Text 5"/>
          <p:cNvSpPr txBox="1"/>
          <p:nvPr/>
        </p:nvSpPr>
        <p:spPr>
          <a:xfrm>
            <a:off x="640080" y="3429000"/>
            <a:ext cx="6309360" cy="11094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yüzden mıknatısı bobine yaklaştırırken bir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itme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uzaklaştırırken bir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çekme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hissedersin.</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Mıknatısı hareket ettirmek için yaptığın iş, devrede üretilen elektrik enerjisine dönüşür.</a:t>
            </a:r>
            <a:endParaRPr lang="en-US" sz="1400" dirty="0"/>
          </a:p>
        </p:txBody>
      </p:sp>
      <p:sp>
        <p:nvSpPr>
          <p:cNvPr id="8" name="Shape 6"/>
          <p:cNvSpPr/>
          <p:nvPr/>
        </p:nvSpPr>
        <p:spPr>
          <a:xfrm>
            <a:off x="640080" y="4648200"/>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4794504"/>
            <a:ext cx="45720" cy="793242"/>
          </a:xfrm>
          <a:prstGeom prst="rect">
            <a:avLst/>
          </a:prstGeom>
          <a:solidFill>
            <a:srgbClr val="A56209"/>
          </a:solidFill>
          <a:ln/>
        </p:spPr>
      </p:sp>
      <p:sp>
        <p:nvSpPr>
          <p:cNvPr id="10" name="Text 8"/>
          <p:cNvSpPr txBox="1"/>
          <p:nvPr/>
        </p:nvSpPr>
        <p:spPr>
          <a:xfrm>
            <a:off x="914400" y="4757928"/>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Lenz olmasaydı ne olurdu?</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Akım değişimi desteklerdi; sistem kendi kendini hızlandırır, bedava enerji üretirdi. Eksi işareti, enerji korunumunun bekçisidir.</a:t>
            </a:r>
            <a:endParaRPr lang="en-US" sz="1300" dirty="0"/>
          </a:p>
        </p:txBody>
      </p:sp>
      <p:sp>
        <p:nvSpPr>
          <p:cNvPr id="11" name="Shape 9"/>
          <p:cNvSpPr/>
          <p:nvPr/>
        </p:nvSpPr>
        <p:spPr>
          <a:xfrm>
            <a:off x="7242048" y="1481328"/>
            <a:ext cx="4309567" cy="3497603"/>
          </a:xfrm>
          <a:prstGeom prst="roundRect">
            <a:avLst>
              <a:gd name="adj" fmla="val 418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induksiyon-akimi-03.png">    </p:cNvPr>
          <p:cNvPicPr>
            <a:picLocks noChangeAspect="1"/>
          </p:cNvPicPr>
          <p:nvPr/>
        </p:nvPicPr>
        <p:blipFill>
          <a:blip r:embed="rId1"/>
          <a:stretch>
            <a:fillRect/>
          </a:stretch>
        </p:blipFill>
        <p:spPr>
          <a:xfrm>
            <a:off x="7424928" y="1664208"/>
            <a:ext cx="3943807" cy="1676118"/>
          </a:xfrm>
          <a:prstGeom prst="rect">
            <a:avLst/>
          </a:prstGeom>
        </p:spPr>
      </p:pic>
      <p:sp>
        <p:nvSpPr>
          <p:cNvPr id="13" name="Shape 10"/>
          <p:cNvSpPr/>
          <p:nvPr/>
        </p:nvSpPr>
        <p:spPr>
          <a:xfrm>
            <a:off x="7424928" y="3431766"/>
            <a:ext cx="3943807" cy="0"/>
          </a:xfrm>
          <a:prstGeom prst="line">
            <a:avLst/>
          </a:prstGeom>
          <a:noFill/>
          <a:ln w="9525">
            <a:solidFill>
              <a:srgbClr val="E1E5EE"/>
            </a:solidFill>
            <a:prstDash val="dash"/>
          </a:ln>
        </p:spPr>
      </p:sp>
      <p:sp>
        <p:nvSpPr>
          <p:cNvPr id="14" name="Text 11"/>
          <p:cNvSpPr txBox="1"/>
          <p:nvPr/>
        </p:nvSpPr>
        <p:spPr>
          <a:xfrm>
            <a:off x="7424928" y="3486630"/>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Lenz yasası tek cümledir: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indüklenen akım, kendisini doğuran değişime karşı çıkacak yönde akar.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Mıknatıs yaklaşırken bobin ona bakan yüzünü aynı kutup yapar ve iter; uzaklaşırken zıt kutup yapar ve çeker. Yani mıknatısı hareket ettirmek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 yapman gerekir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üretilen elektrik enerjisi tam olarak buradan gelir. Aksi olsaydı hareket kendini besler, enerjinin korunumu çökerdi.</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640080" y="1481328"/>
            <a:ext cx="5486400" cy="280416"/>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Yönü bulmanın pratik yolu üç adımdır:</a:t>
            </a:r>
            <a:endParaRPr lang="en-US" sz="1600" dirty="0"/>
          </a:p>
        </p:txBody>
      </p:sp>
      <p:sp>
        <p:nvSpPr>
          <p:cNvPr id="6" name="Text 4"/>
          <p:cNvSpPr txBox="1"/>
          <p:nvPr/>
        </p:nvSpPr>
        <p:spPr>
          <a:xfrm>
            <a:off x="640080" y="1889760"/>
            <a:ext cx="5486400" cy="215493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Devreden geçen akının yönünü ve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artıyor mu azalıyor mu</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olduğunu belirle.</a:t>
            </a:r>
            <a:endParaRPr lang="en-US" sz="1600" dirty="0"/>
          </a:p>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Lenz'e göre indüksiyon akımının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hangi yönde alan üretmesi gerektiğini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bul (artışa karşı zıt, azalmaya karşı aynı yönde).</a:t>
            </a:r>
            <a:endParaRPr lang="en-US" sz="1600" dirty="0"/>
          </a:p>
          <a:p>
            <a:pPr marL="228600" indent="-228600">
              <a:lnSpc>
                <a:spcPct val="115000"/>
              </a:lnSpc>
              <a:spcAft>
                <a:spcPts val="500"/>
              </a:spcAft>
              <a:buSzPct val="100000"/>
              <a:buFont typeface="+mj-lt"/>
              <a:buAutoNum type="arabicPeriod" startAt="1"/>
            </a:pPr>
            <a:r>
              <a:rPr lang="en-US" sz="1600" dirty="0">
                <a:solidFill>
                  <a:srgbClr val="4A5470"/>
                </a:solidFill>
                <a:latin typeface="Calibri" pitchFamily="34" charset="0"/>
                <a:ea typeface="Calibri" pitchFamily="34" charset="-122"/>
                <a:cs typeface="Calibri" pitchFamily="34" charset="-120"/>
              </a:rPr>
              <a:t>Sağ el kuralıyla, bu alanı üretecek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akım yönünü</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belirle.</a:t>
            </a:r>
            <a:endParaRPr lang="en-US" sz="1600" dirty="0"/>
          </a:p>
        </p:txBody>
      </p:sp>
      <p:sp>
        <p:nvSpPr>
          <p:cNvPr id="7" name="Text 5"/>
          <p:cNvSpPr txBox="1"/>
          <p:nvPr/>
        </p:nvSpPr>
        <p:spPr>
          <a:xfrm>
            <a:off x="640080" y="4154424"/>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Sayfadaki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numaralı deneyde mıknatıs yaklaşırken akım bir yöne, uzaklaşırken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ters yöne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akar; galvanometre iki kez, zıt yönlerde sapar.</a:t>
            </a:r>
            <a:endParaRPr lang="en-US" sz="1600" dirty="0"/>
          </a:p>
        </p:txBody>
      </p:sp>
      <p:sp>
        <p:nvSpPr>
          <p:cNvPr id="8" name="Shape 6"/>
          <p:cNvSpPr/>
          <p:nvPr/>
        </p:nvSpPr>
        <p:spPr>
          <a:xfrm>
            <a:off x="6419088" y="148132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9" name="Image 0" descr="/tmp/claude-1000/-opt-dersler/a4dee546-de71-4ec2-8add-be39dd273d29/scratchpad/sekiller/induksiyon-akimi-04.png">    </p:cNvPr>
          <p:cNvPicPr>
            <a:picLocks noChangeAspect="1"/>
          </p:cNvPicPr>
          <p:nvPr/>
        </p:nvPicPr>
        <p:blipFill>
          <a:blip r:embed="rId1"/>
          <a:stretch>
            <a:fillRect/>
          </a:stretch>
        </p:blipFill>
        <p:spPr>
          <a:xfrm>
            <a:off x="6601968" y="1664208"/>
            <a:ext cx="4766767" cy="1986058"/>
          </a:xfrm>
          <a:prstGeom prst="rect">
            <a:avLst/>
          </a:prstGeom>
        </p:spPr>
      </p:pic>
      <p:sp>
        <p:nvSpPr>
          <p:cNvPr id="10" name="Shape 7"/>
          <p:cNvSpPr/>
          <p:nvPr/>
        </p:nvSpPr>
        <p:spPr>
          <a:xfrm>
            <a:off x="6601968" y="3741706"/>
            <a:ext cx="4766767" cy="0"/>
          </a:xfrm>
          <a:prstGeom prst="line">
            <a:avLst/>
          </a:prstGeom>
          <a:noFill/>
          <a:ln w="9525">
            <a:solidFill>
              <a:srgbClr val="E1E5EE"/>
            </a:solidFill>
            <a:prstDash val="dash"/>
          </a:ln>
        </p:spPr>
      </p:sp>
      <p:sp>
        <p:nvSpPr>
          <p:cNvPr id="11" name="Text 8"/>
          <p:cNvSpPr txBox="1"/>
          <p:nvPr/>
        </p:nvSpPr>
        <p:spPr>
          <a:xfrm>
            <a:off x="6601968" y="379657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Yönü bulmak için tek bir soru yeter: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akı artıyor mu, azalıyor mu?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Artıyorsa indüklenen akım, artışı frenlemek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zıt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alan üretir; azalıyorsa azalmayı yavaşlatmak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alan üretir. İndüklenen alanın yönünü bulduktan sonra akımın yönünü sağ el kuralıyla okursun.</a:t>
            </a:r>
            <a:endParaRPr lang="en-US" sz="105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640080" y="1481328"/>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Manyetik alan içinde, raylar üzerinde v hızıyla kayan L uzunluğundaki çubuk için akı değişimi ΔΦ = B·L·v·Δt olur ve emk:</a:t>
            </a:r>
            <a:endParaRPr lang="en-US" sz="1600" dirty="0"/>
          </a:p>
        </p:txBody>
      </p:sp>
      <p:sp>
        <p:nvSpPr>
          <p:cNvPr id="6" name="Shape 4"/>
          <p:cNvSpPr/>
          <p:nvPr/>
        </p:nvSpPr>
        <p:spPr>
          <a:xfrm>
            <a:off x="640080" y="2450592"/>
            <a:ext cx="174101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50592"/>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 = B · L · v</a:t>
            </a:r>
            <a:endParaRPr lang="en-US" sz="1300" dirty="0"/>
          </a:p>
        </p:txBody>
      </p:sp>
      <p:sp>
        <p:nvSpPr>
          <p:cNvPr id="8" name="Shape 6"/>
          <p:cNvSpPr/>
          <p:nvPr/>
        </p:nvSpPr>
        <p:spPr>
          <a:xfrm>
            <a:off x="2490826" y="2450592"/>
            <a:ext cx="174101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490826" y="2450592"/>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B·L·v / R</a:t>
            </a:r>
            <a:endParaRPr lang="en-US" sz="1300" dirty="0"/>
          </a:p>
        </p:txBody>
      </p:sp>
      <p:sp>
        <p:nvSpPr>
          <p:cNvPr id="10" name="Shape 8"/>
          <p:cNvSpPr/>
          <p:nvPr/>
        </p:nvSpPr>
        <p:spPr>
          <a:xfrm>
            <a:off x="640080" y="3017520"/>
            <a:ext cx="2531059"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017520"/>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B·I·L = B²L²v / R</a:t>
            </a:r>
            <a:endParaRPr lang="en-US" sz="1300" dirty="0"/>
          </a:p>
        </p:txBody>
      </p:sp>
      <p:sp>
        <p:nvSpPr>
          <p:cNvPr id="12" name="Text 10"/>
          <p:cNvSpPr txBox="1"/>
          <p:nvPr/>
        </p:nvSpPr>
        <p:spPr>
          <a:xfrm>
            <a:off x="640080" y="3639312"/>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kuvvet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harekete zıt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yöndedir: çubuğu sabit hızla sürmek için dışarıdan bir kuvvet uygulanmalıdır.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Harcanan mekanik güç (F·v), devrede açığa çıkan elektriksel güce (I²R) eşittir —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enerji korunur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6419088" y="148132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induksiyon-akimi-05.png">    </p:cNvPr>
          <p:cNvPicPr>
            <a:picLocks noChangeAspect="1"/>
          </p:cNvPicPr>
          <p:nvPr/>
        </p:nvPicPr>
        <p:blipFill>
          <a:blip r:embed="rId1"/>
          <a:stretch>
            <a:fillRect/>
          </a:stretch>
        </p:blipFill>
        <p:spPr>
          <a:xfrm>
            <a:off x="6601968" y="1664208"/>
            <a:ext cx="4766767" cy="1986058"/>
          </a:xfrm>
          <a:prstGeom prst="rect">
            <a:avLst/>
          </a:prstGeom>
        </p:spPr>
      </p:pic>
      <p:sp>
        <p:nvSpPr>
          <p:cNvPr id="15" name="Shape 12"/>
          <p:cNvSpPr/>
          <p:nvPr/>
        </p:nvSpPr>
        <p:spPr>
          <a:xfrm>
            <a:off x="6601968" y="3741706"/>
            <a:ext cx="4766767" cy="0"/>
          </a:xfrm>
          <a:prstGeom prst="line">
            <a:avLst/>
          </a:prstGeom>
          <a:noFill/>
          <a:ln w="9525">
            <a:solidFill>
              <a:srgbClr val="E1E5EE"/>
            </a:solidFill>
            <a:prstDash val="dash"/>
          </a:ln>
        </p:spPr>
      </p:sp>
      <p:sp>
        <p:nvSpPr>
          <p:cNvPr id="16" name="Text 13"/>
          <p:cNvSpPr txBox="1"/>
          <p:nvPr/>
        </p:nvSpPr>
        <p:spPr>
          <a:xfrm>
            <a:off x="6601968" y="379657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Çubuk sağa kaydıkça devrenin çevrelediği alan büyür, akı artar ve devrede akım doğar. Ama bu akım da alanın içindedir: ona etkiyen 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harekete zıt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yöndedir (kırmızı ok). Yani çubuğu sabit hızla sürüklemek için sürekli kuvvet uygulamak gerekir — harcadığın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mekanik güç, direnç üzerinde ısıya dönüşen elektriksel güce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640080" y="1481328"/>
            <a:ext cx="6309360" cy="490728"/>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Düzgün alan içinde sabit hızla dönen bir çerçevede akı sürekli değişir:</a:t>
            </a:r>
            <a:endParaRPr lang="en-US" sz="1400" dirty="0"/>
          </a:p>
        </p:txBody>
      </p:sp>
      <p:sp>
        <p:nvSpPr>
          <p:cNvPr id="6" name="Shape 4"/>
          <p:cNvSpPr/>
          <p:nvPr/>
        </p:nvSpPr>
        <p:spPr>
          <a:xfrm>
            <a:off x="640080" y="2100072"/>
            <a:ext cx="2037283"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0007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B·A·cos(ω·t)</a:t>
            </a:r>
            <a:endParaRPr lang="en-US" sz="1300" dirty="0"/>
          </a:p>
        </p:txBody>
      </p:sp>
      <p:sp>
        <p:nvSpPr>
          <p:cNvPr id="8" name="Shape 6"/>
          <p:cNvSpPr/>
          <p:nvPr/>
        </p:nvSpPr>
        <p:spPr>
          <a:xfrm>
            <a:off x="2787091" y="2100072"/>
            <a:ext cx="2234794"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787091" y="2100072"/>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 = B·A·ω·sin(ω·t)</a:t>
            </a:r>
            <a:endParaRPr lang="en-US" sz="1300" dirty="0"/>
          </a:p>
        </p:txBody>
      </p:sp>
      <p:sp>
        <p:nvSpPr>
          <p:cNvPr id="10" name="Shape 8"/>
          <p:cNvSpPr/>
          <p:nvPr/>
        </p:nvSpPr>
        <p:spPr>
          <a:xfrm>
            <a:off x="640080" y="2667000"/>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266700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ε(maks) = B·A·ω·N</a:t>
            </a:r>
            <a:endParaRPr lang="en-US" sz="1300" dirty="0"/>
          </a:p>
        </p:txBody>
      </p:sp>
      <p:sp>
        <p:nvSpPr>
          <p:cNvPr id="12" name="Text 10"/>
          <p:cNvSpPr txBox="1"/>
          <p:nvPr/>
        </p:nvSpPr>
        <p:spPr>
          <a:xfrm>
            <a:off x="640080" y="3288792"/>
            <a:ext cx="6309360" cy="13548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Üretilen emk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sinüs biçiminde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değişir ve yön değiştirir: buna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alternatif akım (AC)</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denir.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Çerçeve alana dik olduğunda akı en büyüktür ama </a:t>
            </a:r>
            <a:pPr indent="0" marL="0">
              <a:lnSpc>
                <a:spcPct val="115000"/>
              </a:lnSpc>
              <a:buNone/>
            </a:pPr>
            <a:r>
              <a:rPr lang="en-US" sz="1400" i="1" dirty="0">
                <a:solidFill>
                  <a:srgbClr val="4A5470"/>
                </a:solidFill>
                <a:latin typeface="Calibri" pitchFamily="34" charset="0"/>
                <a:ea typeface="Calibri" pitchFamily="34" charset="-122"/>
                <a:cs typeface="Calibri" pitchFamily="34" charset="-120"/>
              </a:rPr>
              <a:t>değişim hızı sıfırdır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dolayısıyla emk sıfırdır; çerçeve alana paralel olduğunda ise akı sıfır, emk en büyüktür.</a:t>
            </a:r>
            <a:endParaRPr lang="en-US" sz="1400" dirty="0"/>
          </a:p>
        </p:txBody>
      </p:sp>
      <p:sp>
        <p:nvSpPr>
          <p:cNvPr id="13" name="Shape 11"/>
          <p:cNvSpPr/>
          <p:nvPr/>
        </p:nvSpPr>
        <p:spPr>
          <a:xfrm>
            <a:off x="640080" y="4753356"/>
            <a:ext cx="6309360"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4899660"/>
            <a:ext cx="45720" cy="565404"/>
          </a:xfrm>
          <a:prstGeom prst="rect">
            <a:avLst/>
          </a:prstGeom>
          <a:solidFill>
            <a:srgbClr val="3C8C21"/>
          </a:solidFill>
          <a:ln/>
        </p:spPr>
      </p:sp>
      <p:sp>
        <p:nvSpPr>
          <p:cNvPr id="15" name="Text 13"/>
          <p:cNvSpPr txBox="1"/>
          <p:nvPr/>
        </p:nvSpPr>
        <p:spPr>
          <a:xfrm>
            <a:off x="914400" y="4863084"/>
            <a:ext cx="5852160"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Türkiye'de şebeke: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230 V, 50 Hz. Yani jeneratör çerçevesi saniyede 50 tam tur atar ve gerilim saniyede 50 kez tam çevrim yapar.</a:t>
            </a:r>
            <a:endParaRPr lang="en-US" sz="1300" dirty="0"/>
          </a:p>
        </p:txBody>
      </p:sp>
      <p:sp>
        <p:nvSpPr>
          <p:cNvPr id="16" name="Shape 14"/>
          <p:cNvSpPr/>
          <p:nvPr/>
        </p:nvSpPr>
        <p:spPr>
          <a:xfrm>
            <a:off x="7242048" y="1481328"/>
            <a:ext cx="4309567" cy="3563254"/>
          </a:xfrm>
          <a:prstGeom prst="roundRect">
            <a:avLst>
              <a:gd name="adj" fmla="val 410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a4dee546-de71-4ec2-8add-be39dd273d29/scratchpad/sekiller/induksiyon-akimi-06.png">    </p:cNvPr>
          <p:cNvPicPr>
            <a:picLocks noChangeAspect="1"/>
          </p:cNvPicPr>
          <p:nvPr/>
        </p:nvPicPr>
        <p:blipFill>
          <a:blip r:embed="rId1"/>
          <a:stretch>
            <a:fillRect/>
          </a:stretch>
        </p:blipFill>
        <p:spPr>
          <a:xfrm>
            <a:off x="7424928" y="1664208"/>
            <a:ext cx="3943807" cy="1741769"/>
          </a:xfrm>
          <a:prstGeom prst="rect">
            <a:avLst/>
          </a:prstGeom>
        </p:spPr>
      </p:pic>
      <p:sp>
        <p:nvSpPr>
          <p:cNvPr id="18" name="Shape 15"/>
          <p:cNvSpPr/>
          <p:nvPr/>
        </p:nvSpPr>
        <p:spPr>
          <a:xfrm>
            <a:off x="7424928" y="3497417"/>
            <a:ext cx="3943807" cy="0"/>
          </a:xfrm>
          <a:prstGeom prst="line">
            <a:avLst/>
          </a:prstGeom>
          <a:noFill/>
          <a:ln w="9525">
            <a:solidFill>
              <a:srgbClr val="E1E5EE"/>
            </a:solidFill>
            <a:prstDash val="dash"/>
          </a:ln>
        </p:spPr>
      </p:sp>
      <p:sp>
        <p:nvSpPr>
          <p:cNvPr id="19" name="Text 16"/>
          <p:cNvSpPr txBox="1"/>
          <p:nvPr/>
        </p:nvSpPr>
        <p:spPr>
          <a:xfrm>
            <a:off x="7424928" y="3552281"/>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Çerçeve döndükçe içinden geçen akı kosinüs gibi salınır. Emk ise akının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değişim hızıyla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orantılı olduğu için sinüs olur — yani ikisi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çeyrek periyot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vardır. Akının en büyük olduğu anda emk sıfırdır (o an akı değişmiyordur); akının sıfır olduğu anda ise emk en büyüktür. Şehir şebekesindeki alternatif akım tam olarak bu eğridir.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Uygulamalar</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5486400" cy="914400"/>
        </p:xfrm>
        <a:graphic>
          <a:graphicData uri="http://schemas.openxmlformats.org/drawingml/2006/table">
            <a:tbl>
              <a:tblPr/>
              <a:tblGrid>
                <a:gridCol w="1702676"/>
                <a:gridCol w="378372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Uygulama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Nasıl çalışır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Jeneratör / dinamo</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Dönen çerçevede akı değişimi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Transformatör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Değişen akımın ikinci bobinde akı değişimi yaratması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Kablosuz şarj</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Bobinden bobine akı aktarımı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Metal dedektör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Metalde doğan girdap akımlarının alanı bozması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İndüksiyonlu ocak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Tencere tabanında doğan girdap akımlarının ısıtması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Girdap akımı freni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Lenz kuvvetiyle temassız frenleme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Shape 3"/>
          <p:cNvSpPr/>
          <p:nvPr/>
        </p:nvSpPr>
        <p:spPr>
          <a:xfrm>
            <a:off x="6419088" y="1481328"/>
            <a:ext cx="5132527" cy="3866658"/>
          </a:xfrm>
          <a:prstGeom prst="roundRect">
            <a:avLst>
              <a:gd name="adj" fmla="val 378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induksiyon-akimi-07.png">    </p:cNvPr>
          <p:cNvPicPr>
            <a:picLocks noChangeAspect="1"/>
          </p:cNvPicPr>
          <p:nvPr/>
        </p:nvPicPr>
        <p:blipFill>
          <a:blip r:embed="rId1"/>
          <a:stretch>
            <a:fillRect/>
          </a:stretch>
        </p:blipFill>
        <p:spPr>
          <a:xfrm>
            <a:off x="6601968" y="1664208"/>
            <a:ext cx="4766767" cy="2224396"/>
          </a:xfrm>
          <a:prstGeom prst="rect">
            <a:avLst/>
          </a:prstGeom>
        </p:spPr>
      </p:pic>
      <p:sp>
        <p:nvSpPr>
          <p:cNvPr id="8" name="Shape 4"/>
          <p:cNvSpPr/>
          <p:nvPr/>
        </p:nvSpPr>
        <p:spPr>
          <a:xfrm>
            <a:off x="6601968" y="3980044"/>
            <a:ext cx="4766767" cy="0"/>
          </a:xfrm>
          <a:prstGeom prst="line">
            <a:avLst/>
          </a:prstGeom>
          <a:noFill/>
          <a:ln w="9525">
            <a:solidFill>
              <a:srgbClr val="E1E5EE"/>
            </a:solidFill>
            <a:prstDash val="dash"/>
          </a:ln>
        </p:spPr>
      </p:sp>
      <p:sp>
        <p:nvSpPr>
          <p:cNvPr id="9" name="Text 5"/>
          <p:cNvSpPr txBox="1"/>
          <p:nvPr/>
        </p:nvSpPr>
        <p:spPr>
          <a:xfrm>
            <a:off x="6601968" y="4034908"/>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Bakır mıknatıslanmaz —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iletkendir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Mıknatıs boruya girerken boru duvarında halka halka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girdap akımları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doğar ve Lenz yasası gereği bu akımlar mıknatısı frenler. Sonuç şaşırtıcı: aynı mıknatıs plastik boruda yarım saniyede düşerken bakır boruda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uzun sürede iner. Hiçbir temas, hiçbir sürtünme olmadan frenleme — aynı ilke ağır vasıtaların girdap akımı frenlerinde kullanılır.</a:t>
            </a:r>
            <a:endParaRPr lang="en-US" sz="10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200 sarımlı bir bobinden geçen manyetik akı 0,1 saniyede 4·10⁻³ Wb'den 1·10⁻³ Wb'ye düşüyor. İndüklenen emk'nin büyüklüğü nedir?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ΔΦ = 1·10⁻³ − 4·10⁻³ = −3·10⁻³ Wb</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N·|ΔΦ|/Δt = 200 · 3·10⁻³ / 0,1</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200 · 0,03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 V</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Akı azaldığı için indüksiyon akımı, akıyı sürdürecek yönde akar (Lenz).</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T'lık alanda, 40 cm uzunluğundaki çubuk raylar üzerinde 5 m/s hızla kayıyor. Devrenin direnci 2 Ω'dur. emk, akım ve çubuğa etki eden karşı kuvveti bulunuz.</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ε = B·L·v = 0,5 · 0,4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 V</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 = ε/R = 1/2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0,5 A</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B·I·L = 0,5 · 0,5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0,1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(harekete zıt)</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mekanik güç F·v = 0,5 W; elektriksel güç I²R = 0,25·2 = 0,5 W ✓</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Alanı 0,2 m² olan bir çerçeve, 0,4 T'lık düzgün alan içinde duruyor. Çerçevenin normali alanla (a) 0°, (b) 60°, (c) 90° açı yaptığında akı kaç Wb olur?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Φ = B·A·cos0° = 0,4 · 0,2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0,08 Wb</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Φ = 0,08 · cos60° = 0,08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0,04 Wb</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Φ = 0,08 · cos90°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(alan yüzeye paralel)</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Çerçeve döndükçe akı bu değerler arasında salınır; jeneratörün temeli budur.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mıknatısın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N kutbu</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bobine yaklaştırılıyor. Bobinin mıknatısa bakan yüzü hangi kutup gibi davranır ve neden?</a:t>
            </a:r>
            <a:endParaRPr lang="en-US" sz="1600" dirty="0"/>
          </a:p>
        </p:txBody>
      </p:sp>
      <p:sp>
        <p:nvSpPr>
          <p:cNvPr id="9" name="Shape 7"/>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13017"/>
            <a:ext cx="384048" cy="384048"/>
          </a:xfrm>
          <a:prstGeom prst="roundRect">
            <a:avLst>
              <a:gd name="adj" fmla="val 26000"/>
            </a:avLst>
          </a:prstGeom>
          <a:solidFill>
            <a:srgbClr val="A56209"/>
          </a:solidFill>
          <a:ln/>
        </p:spPr>
      </p:sp>
      <p:sp>
        <p:nvSpPr>
          <p:cNvPr id="11" name="Text 9"/>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kutbu yaklaştıkça bobinden geçen akı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artar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5212080" y="252875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890631"/>
            <a:ext cx="384048" cy="384048"/>
          </a:xfrm>
          <a:prstGeom prst="roundRect">
            <a:avLst>
              <a:gd name="adj" fmla="val 26000"/>
            </a:avLst>
          </a:prstGeom>
          <a:solidFill>
            <a:srgbClr val="A56209"/>
          </a:solidFill>
          <a:ln/>
        </p:spPr>
      </p:sp>
      <p:sp>
        <p:nvSpPr>
          <p:cNvPr id="15" name="Text 13"/>
          <p:cNvSpPr txBox="1"/>
          <p:nvPr/>
        </p:nvSpPr>
        <p:spPr>
          <a:xfrm>
            <a:off x="5449824" y="28906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58361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Lenz yasası: indüksiyon akımı bu artışa karşı koyar, yani mıknatısı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iter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44737"/>
            <a:ext cx="384048" cy="384048"/>
          </a:xfrm>
          <a:prstGeom prst="roundRect">
            <a:avLst>
              <a:gd name="adj" fmla="val 26000"/>
            </a:avLst>
          </a:prstGeom>
          <a:solidFill>
            <a:srgbClr val="A56209"/>
          </a:solidFill>
          <a:ln/>
        </p:spPr>
      </p:sp>
      <p:sp>
        <p:nvSpPr>
          <p:cNvPr id="19" name="Text 17"/>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İtebilmesi için bobinin o yüzü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 kutbu</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gibi davranmalıdır.</a:t>
            </a:r>
            <a:endParaRPr lang="en-US" sz="1600" dirty="0"/>
          </a:p>
        </p:txBody>
      </p:sp>
      <p:sp>
        <p:nvSpPr>
          <p:cNvPr id="21" name="Shape 19"/>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98843"/>
            <a:ext cx="384048" cy="384048"/>
          </a:xfrm>
          <a:prstGeom prst="roundRect">
            <a:avLst>
              <a:gd name="adj" fmla="val 26000"/>
            </a:avLst>
          </a:prstGeom>
          <a:solidFill>
            <a:srgbClr val="A56209"/>
          </a:solidFill>
          <a:ln/>
        </p:spPr>
      </p:sp>
      <p:sp>
        <p:nvSpPr>
          <p:cNvPr id="23" name="Text 21"/>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Mıknatıs uzaklaştırılsaydı akı azalırdı; bu kez bobin onu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çekmek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için S kutbu gibi davranırdı.</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“Manyetik alan varsa akım vardır.”</a:t>
            </a:r>
            <a:endParaRPr lang="en-US" sz="1150" dirty="0"/>
          </a:p>
        </p:txBody>
      </p:sp>
      <p:sp>
        <p:nvSpPr>
          <p:cNvPr id="10" name="Shape 8"/>
          <p:cNvSpPr/>
          <p:nvPr/>
        </p:nvSpPr>
        <p:spPr>
          <a:xfrm>
            <a:off x="841248" y="2076069"/>
            <a:ext cx="274320" cy="274320"/>
          </a:xfrm>
          <a:prstGeom prst="roundRect">
            <a:avLst>
              <a:gd name="adj" fmla="val 26667"/>
            </a:avLst>
          </a:prstGeom>
          <a:solidFill>
            <a:srgbClr val="EAF7DC"/>
          </a:solidFill>
          <a:ln/>
        </p:spPr>
      </p:sp>
      <p:sp>
        <p:nvSpPr>
          <p:cNvPr id="11" name="Text 9"/>
          <p:cNvSpPr txBox="1"/>
          <p:nvPr/>
        </p:nvSpPr>
        <p:spPr>
          <a:xfrm>
            <a:off x="841248" y="207606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5778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Akım için alanın değil, </a:t>
            </a:r>
            <a:pPr indent="0" marL="0">
              <a:lnSpc>
                <a:spcPct val="108000"/>
              </a:lnSpc>
              <a:buNone/>
            </a:pPr>
            <a:r>
              <a:rPr lang="en-US" sz="1050" i="1" dirty="0">
                <a:solidFill>
                  <a:srgbClr val="4A5470"/>
                </a:solidFill>
                <a:latin typeface="Calibri" pitchFamily="34" charset="0"/>
                <a:ea typeface="Calibri" pitchFamily="34" charset="-122"/>
                <a:cs typeface="Calibri" pitchFamily="34" charset="-120"/>
              </a:rPr>
              <a:t>akının değişmesi</a:t>
            </a:r>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gerekir.</a:t>
            </a:r>
            <a:endParaRPr lang="en-US" sz="10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“Güçlü mıknatıs her zaman daha çok akım üretir.”</a:t>
            </a:r>
            <a:endParaRPr lang="en-US" sz="1150" dirty="0"/>
          </a:p>
        </p:txBody>
      </p:sp>
      <p:sp>
        <p:nvSpPr>
          <p:cNvPr id="17" name="Shape 15"/>
          <p:cNvSpPr/>
          <p:nvPr/>
        </p:nvSpPr>
        <p:spPr>
          <a:xfrm>
            <a:off x="6406744" y="2076069"/>
            <a:ext cx="274320" cy="274320"/>
          </a:xfrm>
          <a:prstGeom prst="roundRect">
            <a:avLst>
              <a:gd name="adj" fmla="val 26667"/>
            </a:avLst>
          </a:prstGeom>
          <a:solidFill>
            <a:srgbClr val="EAF7DC"/>
          </a:solidFill>
          <a:ln/>
        </p:spPr>
      </p:sp>
      <p:sp>
        <p:nvSpPr>
          <p:cNvPr id="18" name="Text 16"/>
          <p:cNvSpPr txBox="1"/>
          <p:nvPr/>
        </p:nvSpPr>
        <p:spPr>
          <a:xfrm>
            <a:off x="6406744" y="207606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5778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Belirleyici olan ΔΦ/Δt'dir; yavaş hareket ettirilen güçlü mıknatıs, hızlı hareket ettirilen zayıf mıknatıstan daha az emk üretebilir.</a:t>
            </a:r>
            <a:endParaRPr lang="en-US" sz="10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Lenz'in eksi işaretini büyüklük sanmak.</a:t>
            </a:r>
            <a:endParaRPr lang="en-US" sz="1150" dirty="0"/>
          </a:p>
        </p:txBody>
      </p:sp>
      <p:sp>
        <p:nvSpPr>
          <p:cNvPr id="24" name="Shape 22"/>
          <p:cNvSpPr/>
          <p:nvPr/>
        </p:nvSpPr>
        <p:spPr>
          <a:xfrm>
            <a:off x="841248" y="3241929"/>
            <a:ext cx="274320" cy="274320"/>
          </a:xfrm>
          <a:prstGeom prst="roundRect">
            <a:avLst>
              <a:gd name="adj" fmla="val 26667"/>
            </a:avLst>
          </a:prstGeom>
          <a:solidFill>
            <a:srgbClr val="EAF7DC"/>
          </a:solidFill>
          <a:ln/>
        </p:spPr>
      </p:sp>
      <p:sp>
        <p:nvSpPr>
          <p:cNvPr id="25" name="Text 23"/>
          <p:cNvSpPr txBox="1"/>
          <p:nvPr/>
        </p:nvSpPr>
        <p:spPr>
          <a:xfrm>
            <a:off x="841248" y="324192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2364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Eksi işareti yalnızca </a:t>
            </a:r>
            <a:pPr indent="0" marL="0">
              <a:lnSpc>
                <a:spcPct val="108000"/>
              </a:lnSpc>
              <a:buNone/>
            </a:pPr>
            <a:r>
              <a:rPr lang="en-US" sz="105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anlatır.</a:t>
            </a:r>
            <a:endParaRPr lang="en-US" sz="10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“İndüksiyon akımı hareketi destekler.”</a:t>
            </a:r>
            <a:endParaRPr lang="en-US" sz="1150" dirty="0"/>
          </a:p>
        </p:txBody>
      </p:sp>
      <p:sp>
        <p:nvSpPr>
          <p:cNvPr id="31" name="Shape 29"/>
          <p:cNvSpPr/>
          <p:nvPr/>
        </p:nvSpPr>
        <p:spPr>
          <a:xfrm>
            <a:off x="6406744" y="3241929"/>
            <a:ext cx="274320" cy="274320"/>
          </a:xfrm>
          <a:prstGeom prst="roundRect">
            <a:avLst>
              <a:gd name="adj" fmla="val 26667"/>
            </a:avLst>
          </a:prstGeom>
          <a:solidFill>
            <a:srgbClr val="EAF7DC"/>
          </a:solidFill>
          <a:ln/>
        </p:spPr>
      </p:sp>
      <p:sp>
        <p:nvSpPr>
          <p:cNvPr id="32" name="Text 30"/>
          <p:cNvSpPr txBox="1"/>
          <p:nvPr/>
        </p:nvSpPr>
        <p:spPr>
          <a:xfrm>
            <a:off x="6406744" y="324192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2364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Daima </a:t>
            </a:r>
            <a:pPr indent="0" marL="0">
              <a:lnSpc>
                <a:spcPct val="108000"/>
              </a:lnSpc>
              <a:buNone/>
            </a:pPr>
            <a:r>
              <a:rPr lang="en-US" sz="1050" i="1" dirty="0">
                <a:solidFill>
                  <a:srgbClr val="4A5470"/>
                </a:solidFill>
                <a:latin typeface="Calibri" pitchFamily="34" charset="0"/>
                <a:ea typeface="Calibri" pitchFamily="34" charset="-122"/>
                <a:cs typeface="Calibri" pitchFamily="34" charset="-120"/>
              </a:rPr>
              <a:t>karşı koyar</a:t>
            </a:r>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aksi hâlde enerji korunumu bozulurdu.</a:t>
            </a:r>
            <a:endParaRPr lang="en-US" sz="10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Akıyı alanla karıştırmak.</a:t>
            </a:r>
            <a:endParaRPr lang="en-US" sz="1150" dirty="0"/>
          </a:p>
        </p:txBody>
      </p:sp>
      <p:sp>
        <p:nvSpPr>
          <p:cNvPr id="38" name="Shape 36"/>
          <p:cNvSpPr/>
          <p:nvPr/>
        </p:nvSpPr>
        <p:spPr>
          <a:xfrm>
            <a:off x="841248" y="4407789"/>
            <a:ext cx="274320" cy="274320"/>
          </a:xfrm>
          <a:prstGeom prst="roundRect">
            <a:avLst>
              <a:gd name="adj" fmla="val 26667"/>
            </a:avLst>
          </a:prstGeom>
          <a:solidFill>
            <a:srgbClr val="EAF7DC"/>
          </a:solidFill>
          <a:ln/>
        </p:spPr>
      </p:sp>
      <p:sp>
        <p:nvSpPr>
          <p:cNvPr id="39" name="Text 37"/>
          <p:cNvSpPr txBox="1"/>
          <p:nvPr/>
        </p:nvSpPr>
        <p:spPr>
          <a:xfrm>
            <a:off x="841248" y="440778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38950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Φ = B·A·cosα; alan aynı kalsa bile yüzey ya da açı değişirse akı değişir.</a:t>
            </a:r>
            <a:endParaRPr lang="en-US" sz="10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“ε = B·L·v her durumda geçerlidir.”</a:t>
            </a:r>
            <a:endParaRPr lang="en-US" sz="1150" dirty="0"/>
          </a:p>
        </p:txBody>
      </p:sp>
      <p:sp>
        <p:nvSpPr>
          <p:cNvPr id="45" name="Shape 43"/>
          <p:cNvSpPr/>
          <p:nvPr/>
        </p:nvSpPr>
        <p:spPr>
          <a:xfrm>
            <a:off x="6406744" y="4407789"/>
            <a:ext cx="274320" cy="274320"/>
          </a:xfrm>
          <a:prstGeom prst="roundRect">
            <a:avLst>
              <a:gd name="adj" fmla="val 26667"/>
            </a:avLst>
          </a:prstGeom>
          <a:solidFill>
            <a:srgbClr val="EAF7DC"/>
          </a:solidFill>
          <a:ln/>
        </p:spPr>
      </p:sp>
      <p:sp>
        <p:nvSpPr>
          <p:cNvPr id="46" name="Text 44"/>
          <p:cNvSpPr txBox="1"/>
          <p:nvPr/>
        </p:nvSpPr>
        <p:spPr>
          <a:xfrm>
            <a:off x="6406744" y="440778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38950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Bu bağıntı, çubuğun alana ve kendine dik hareket ettiği özel durum içindir.</a:t>
            </a:r>
            <a:endParaRPr lang="en-US" sz="10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56413"/>
          </a:xfrm>
          <a:prstGeom prst="rect">
            <a:avLst/>
          </a:prstGeom>
          <a:noFill/>
          <a:ln/>
        </p:spPr>
        <p:txBody>
          <a:bodyPr wrap="square" lIns="0" tIns="0" rIns="0" bIns="0" rtlCol="0" anchor="t"/>
          <a:lstStyle/>
          <a:p>
            <a:pPr indent="0" marL="0">
              <a:lnSpc>
                <a:spcPct val="108000"/>
              </a:lnSpc>
              <a:buNone/>
            </a:pPr>
            <a:r>
              <a:rPr lang="en-US" sz="1150" b="1" dirty="0">
                <a:solidFill>
                  <a:srgbClr val="0E1426"/>
                </a:solidFill>
                <a:latin typeface="Calibri" pitchFamily="34" charset="0"/>
                <a:ea typeface="Calibri" pitchFamily="34" charset="-122"/>
                <a:cs typeface="Calibri" pitchFamily="34" charset="-120"/>
              </a:rPr>
              <a:t>Jeneratörde emk ile akıyı aynı anda en büyük sanmak.</a:t>
            </a:r>
            <a:endParaRPr lang="en-US" sz="1150" dirty="0"/>
          </a:p>
        </p:txBody>
      </p:sp>
      <p:sp>
        <p:nvSpPr>
          <p:cNvPr id="52" name="Shape 50"/>
          <p:cNvSpPr/>
          <p:nvPr/>
        </p:nvSpPr>
        <p:spPr>
          <a:xfrm>
            <a:off x="841248" y="5573649"/>
            <a:ext cx="274320" cy="274320"/>
          </a:xfrm>
          <a:prstGeom prst="roundRect">
            <a:avLst>
              <a:gd name="adj" fmla="val 26667"/>
            </a:avLst>
          </a:prstGeom>
          <a:solidFill>
            <a:srgbClr val="EAF7DC"/>
          </a:solidFill>
          <a:ln/>
        </p:spPr>
      </p:sp>
      <p:sp>
        <p:nvSpPr>
          <p:cNvPr id="53" name="Text 51"/>
          <p:cNvSpPr txBox="1"/>
          <p:nvPr/>
        </p:nvSpPr>
        <p:spPr>
          <a:xfrm>
            <a:off x="841248" y="5573649"/>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55361"/>
            <a:ext cx="4559656" cy="479679"/>
          </a:xfrm>
          <a:prstGeom prst="rect">
            <a:avLst/>
          </a:prstGeom>
          <a:noFill/>
          <a:ln/>
        </p:spPr>
        <p:txBody>
          <a:bodyPr wrap="square" lIns="0" tIns="0" rIns="0" bIns="0" rtlCol="0" anchor="t"/>
          <a:lstStyle/>
          <a:p>
            <a:pPr indent="0" marL="0">
              <a:lnSpc>
                <a:spcPct val="108000"/>
              </a:lnSpc>
              <a:buNone/>
            </a:pPr>
            <a:r>
              <a:rPr lang="en-US" sz="1050" dirty="0">
                <a:solidFill>
                  <a:srgbClr val="4A5470"/>
                </a:solidFill>
                <a:latin typeface="Calibri" pitchFamily="34" charset="0"/>
                <a:ea typeface="Calibri" pitchFamily="34" charset="-122"/>
                <a:cs typeface="Calibri" pitchFamily="34" charset="-120"/>
              </a:rPr>
              <a:t> Φ en büyükken ε sıfır, Φ sıfırken ε en büyüktür.</a:t>
            </a:r>
            <a:endParaRPr lang="en-US" sz="10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Φ = B·A·cosα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Faraday </a:t>
            </a:r>
            <a:pPr indent="0" marL="0">
              <a:buNone/>
            </a:pPr>
            <a:r>
              <a:rPr lang="en-US" sz="1500" b="1" dirty="0">
                <a:solidFill>
                  <a:srgbClr val="FFFFFF"/>
                </a:solidFill>
                <a:latin typeface="Calibri" pitchFamily="34" charset="0"/>
                <a:ea typeface="Calibri" pitchFamily="34" charset="-122"/>
                <a:cs typeface="Calibri" pitchFamily="34" charset="-120"/>
              </a:rPr>
              <a:t>ε = −N·ΔΦ/Δt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Lenz </a:t>
            </a:r>
            <a:pPr indent="0" marL="0">
              <a:buNone/>
            </a:pPr>
            <a:r>
              <a:rPr lang="en-US" sz="1500" b="1" dirty="0">
                <a:solidFill>
                  <a:srgbClr val="FFFFFF"/>
                </a:solidFill>
                <a:latin typeface="Calibri" pitchFamily="34" charset="0"/>
                <a:ea typeface="Calibri" pitchFamily="34" charset="-122"/>
                <a:cs typeface="Calibri" pitchFamily="34" charset="-120"/>
              </a:rPr>
              <a:t>değişime karşı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Çubuk </a:t>
            </a:r>
            <a:pPr indent="0" marL="0">
              <a:buNone/>
            </a:pPr>
            <a:r>
              <a:rPr lang="en-US" sz="1500" b="1" dirty="0">
                <a:solidFill>
                  <a:srgbClr val="FFFFFF"/>
                </a:solidFill>
                <a:latin typeface="Calibri" pitchFamily="34" charset="0"/>
                <a:ea typeface="Calibri" pitchFamily="34" charset="-122"/>
                <a:cs typeface="Calibri" pitchFamily="34" charset="-120"/>
              </a:rPr>
              <a:t>ε = B·L·v</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B · A · cosα</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−N · ΔΦ / Δt</a:t>
            </a:r>
            <a:endParaRPr lang="en-US" sz="1350" dirty="0"/>
          </a:p>
        </p:txBody>
      </p:sp>
      <p:sp>
        <p:nvSpPr>
          <p:cNvPr id="19" name="Text 17"/>
          <p:cNvSpPr txBox="1"/>
          <p:nvPr/>
        </p:nvSpPr>
        <p:spPr>
          <a:xfrm>
            <a:off x="8677656" y="321868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B · L · v</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ε / R</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dersler.perinet.org/induksiyon-akimi.html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Transformatörler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İndüksiyon akımı — Dersler</dc:title>
  <dc:subject>Fizik · Elektrik ve Manyetizma</dc:subject>
  <dc:creator>Dersler</dc:creator>
  <cp:lastModifiedBy>Dersler</cp:lastModifiedBy>
  <cp:revision>1</cp:revision>
  <dcterms:created xsi:type="dcterms:W3CDTF">2026-09-20T18:42:33Z</dcterms:created>
  <dcterms:modified xsi:type="dcterms:W3CDTF">2026-09-20T18:42:33Z</dcterms:modified>
</cp:coreProperties>
</file>