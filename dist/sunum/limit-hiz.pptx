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paraşütçü 4 km yüksekten atlar; hava direnci olmasaydı yere 280 m/s ile çarpardı. Oysa açık paraşütle yaklaşık 5 m/s ile, bir bisikletlinin hızıyla iner. Yağmur damlası 2 km düşer, yine de canımızı yakmaz. İkisinin de sebebi aynı: hava direnci hızla birlikte büyür ve bir noktada ağırlığı tam olarak dengeler. O andan sonra hız artmaz — her cismin bir hız sınırı vardır. Anlatım dört basamakta ilerliyor: önce bu sınırı yağmurda ve paraşütte gözleyip nedenini kuvvetlerle anlayacağız, sonra hava direncinin ve limit hızın bağıntılarını çıkarıp v–t grafiğini okuyacağız, ardından serbest düşme modelinin nerede yetersiz kaldığına ve paraşütün nasıl çalıştığına geçeceğiz. En sonda kolaydan zora sıralanmış örneklerle hepsini birlikte kullanacağız.
Kapak görseli: El ele düşmek için aynı hızda düşmek gerekir. Serbest düşüşteki paraşütçüler, atladıktan yaklaşık on saniye sonra 55 m/s civarındaki limit hızlarına oturur. Limit hızları eşit olan dört kişi birbirine göre neredeyse hareketsiz kalır ve halka kurabilir; biri kollarını toplayıp alanını küçültse hemen aşağı doğru ayrılırdı.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paraşütçü 4 km yüksekten atlar; hava direnci olmasaydı yere 280 m/s ile çarpardı. Oysa açık paraşütle yaklaşık 5 m/s ile, bir bisikletlinin hızıyla iner. Yağmur damlası 2 km düşer, yine de canımızı yakmaz. İkisinin de sebebi aynı: hava direnci hızla birlikte büyür ve bir noktada ağırlığı tam olarak dengeler. O andan sonra hız artmaz — her cismin bir hız sınırı vardır. Anlatım dört basamakta ilerliyor: önce bu sınırı yağmurda ve paraşütte gözleyip nedenini kuvvetlerle anlayacağız, sonra hava direncinin ve limit hızın bağıntılarını çıkarıp v–t grafiğini okuyacağız, ardından serbest düşme modelinin nerede yetersiz kaldığına ve paraşütün nasıl çalıştığına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hava direncini yağmurda, bisiklette ve paraşütte gözle; neden bir hız sınırı olduğunu kuvvetlerle anla. Bu basamakta hesap yok denecek kadar az.
   01 Önce gözlemle: yağmur neden canımızı yakmaz?
   02 Hava direnci: hıza bağlı bir kuvvet
   03 Neden bir hız sınırı var?
2. Orta — Bağıntılar: direnci ve limit hızı formüle dök, doyan v–t eğrisini oku, gerçek cisimlerin sayılarıyla karşılaştır.
   04 Hava direncinin bağıntısı: F = k·v²
   05 Limit hız bağıntısı
   06 v – t grafiği: doyan eğri
   07 Sayılarla hisset: kim, hangi hızla, ne kadar sürede?
3. İleri — Derinleşme: serbest düşme modeli nerede yetmez, paraşüt nasıl çalışır ve limit hız gerçek hayatta nerede karşımıza çıkar?
   08 Serbest düşmeden farkı: model ne zaman yeter?
   09 Paraşüt ve ölçek etkisi
   10 Limit hız gerçek dünyada
4. Pekiştir — Kolaydan zora çözümlü örnekler ve limit hız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Hız ve ivme: hız, bir saniyede alınan yoldur (m/s). İvme ise hızın her saniye ne kadar değiştiğidir (m/s²); ivme sıfırsa hız sabit kalır.
• Serbest düşme: hava olmasaydı düşen her cisim her saniye yaklaşık 10 m/s daha hızlanırdı (g = 10 m/s²). Bu hızlanmanın bir sonu olmazdı.
• Ağırlık: Dünya'nın bir cismi kendine çekme kuvvetidir ve m·g ile bulunur. 2 kg'lık bir çantanın ağırlığı 2 · 10 = 20 N'dur.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Net kuvvet: cisme etki eden kuvvetlerin toplamıdır. 20 N aşağı, 5 N yukarı kuvvet varsa net kuvvet 20 − 5 = 15 N, aşağı yönlüdür. Net kuvvet ivme doğurur: a = Fnet / m; net kuvvet sıfırsa ivme de sıfırdır.
• Kare ve karekök: 3² = 3 · 3 = 9 ve √9 = 3. Bir sayı 2 katına çıkınca karesi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hava direncini yağmurda, bisiklette ve paraşütte gözle; neden bir hız sınırı olduğunu kuvvetlerle anla. Bu basamakta hesap yok denecek kadar az.
01 Önce gözlemle: yağmur neden canımızı yakmaz?
02 Hava direnci: hıza bağlı bir kuvvet
03 Neden bir hız sınırı var?
Görsel: Yağmur damlaları kilometrelerce yüksekten düşer, ama yere saniyede birkaç metrelik bir hızla değer. Hava direnci olmasaydı yaklaşık 200 m/s ile çarparlardı. Su birikintilerindeki küçük halkalar bu yumuşak inişin izidir: her damla düşüşünün neredeyse tamamını sabit bir hızla, limit hızıyla tamamlar.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1/5
• Yağmur damlaları bulutlardan, yani yaklaşık 2 km yüksekten düşer.
• Serbest düşme konusundaki hesap, hava olmasaydı bu damlaların yere saatte 700 kilometreyi aşan bir hızla çarpacağını söyler.
• Oysa yağmurun altında yürümek zararsızdır; damlalar yüzüne hafifçe dokunur.
• Demek ki düşerken bir şey onları frenliyor ve bu frenleme, hızları belli bir değere ulaştıktan sonra daha fazla hızlanmalarına izin vermiyor.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şekil
Aynı damlanın eşit zaman aralıklarıyla çekilmiş iki strobosunu düşün. Hava olmasaydı görüntüler arası hep açılırdı: damla hiç durmadan hızlanır ve yere yaklaşık 200 m/s ile çarpardı. Havada ise aralıklar kısa sürede eşitlenir; eşit aralık, damlanın artık sabit hızla düştüğünü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3/5
• Hava direncini gündelik hayatta kendin de hissedebilirsin: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4/5
• Bisiklette: hızlandıkça yüzüne çarpan rüzgâr sertleşir; düz yolda bile hızı artırmak giderek zorlaşır.
• Şemsiyeyle: rüzgârlı havada açık şemsiye seni geriye çeker; kapatınca bu etki hemen küçülür.
• Kâğıtla: açık bir kâğıt yaprağı salınarak yavaşça iner; aynı kâğıdı buruşturunca çok daha hızlı düşer.
• Tüyle: kuş tüyü neredeyse süzülür; havası boşaltılmış bir tüpte ise bilyeyle aynı anda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5/5
• Paraşütle: kapalıyken hızla düşen paraşütçü, paraşüt açılınca yavaşça süzülür.
• Bu gözlemlerin hepsinde aynı iki düzen var: frenleyen etki hız arttıkça büyüyor ve cismin şekline, genişliğine bağlı.
• Kütlesi değişmeyen kâğıdın buruşturulunca hızlanması, işin sırrının ağırlıktan çok biçimde olduğunu söylüyor.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Havada hareket eden her cisim, hızı arttıkça büyüyen bir frenleyici etkiyle karşılaşır. Bu etki cismin şekline ve genişliğine bağlıdır; yağmur damlasını da paraşütçüyü de bu etki frenler.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Düz bir yolda pedal çevirirken, hızlandıkça neden aynı hızı korumak bile giderek zorlaşır?
Sınıfa sorun, birkaç tahmin alın; sonra cevap slaytına geçin.
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1/6
• Bir cisim havada ilerlerken önündeki hava moleküllerini itmek zorundadır.
• Bu itmenin tepkisi, harekete zıt yönde bir kuvvet olarak cisme geri döner: hava direnci (sürükleme kuvveti).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2/6
• Bunu kalabalık bir koridorda koşmaya benzetebilirsin.
• Ne kadar hızlı koşarsan her saniye o kadar çok kişiye çarparsın ve her çarpma da o kadar sert olur; iki etki birlikte büyür.
• Hava için de aynısı geçerlidir: hız iki katına çıkınca cisim saniyede iki kat daha çok havayı iter ve bu havayı iki kat daha hızlı iter.
• Sonuç dört kat dirençtir.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3/6
• Sürtünmeden en önemli farkı şudur: kinetik sürtünme kuvveti hızdan (yaklaşık olarak) bağımsızken, hava direnci hız büyüdükçe hızla büyür.
• Hava direncini belirleyen dört etken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4/6
• Hız: hız 2 katına çıkınca direnç yaklaşık 4, 3 katına çıkınca 9 katına çıkar.
• Kesit alanı: harekete dik yüzey genişledikçe itilen hava artar.
• Şekil: sivri ve akıcı biçimli cisimler havayı kolay yarar, düz bir levha zor yarar.
• Havanın yoğunluğu: yükseğe çıkıldıkça hava seyrelir ve direnç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5/6
Kütle burada yok. Direnç kuvveti cismin kütlesine değil, şekline, alanına ve hızına bağlıdır. Kütlenin rolü, bu direncin hangi hızda ağırlığı dengeleyeceğini belirlemektir.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şekil
Hava direnci sabit bir kuvvet değildir; hızın karesiyle büyür. Hızı iki katına çıkarmak direnci dört katına, üç katına çıkarmak dokuz katına çıkarır. İşte bu hızlı büyüme, düşen bir cismin er geç ağırlığına eşit bir dirençle karşılaşmasını kaçınılmaz kılar.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 direnci, cismin önündeki havayı itmesinin tepkisidir ve harekete zıt yöndedir. Hızla, alanla, şekille ve havanın yoğunluğuyla büyür, kütleye bağlı değildir; hız 2 katına çıkınca direnç 4 katına çıkar.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1/5
• Cisim bırakıldığı anda hızı sıfırdır, dolayısıyla direnç de sıfırdır: tek kuvvet ağırlıktır ve ivme g'dir.
• Hız büyüdükçe direnç büyür, net kuvvet küçülür, ivme azalır.
• Bir noktada direnç ağırlığa tam olarak eşitlenir.
• O andan itibaren net kuvvet sıfırdır.
• Newton'un 1. yasası gereği cisim sabit hızla düşmeye devam eder.
• Bu sabit hıza limit hız (terminal hız)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2/5
An | Direnç | Net kuvvet ve ivme | Hız
Bırakma anı | 0 | Net kuvvet m·g, ivme g | 0
Ara evre | 0 &lt; Fd &lt; m·g | İkisi de azalıyor | Artıyor
Limit hız | m·g | İkisi de sıfır | Sabit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3/5
• Aynı şeyi düz yolda gaza sabit basan bir arabada da görürsün.
• Motorun itmesi değişmez, ama araba hızlandıkça hava direnci büyür.
• Bir hızda direnç itmeye eşitlenir ve araba o hızda sabitlenir; motor itmeye devam eder, ama itme artık direnci ancak karşılar.
• Düşen cisimde motorun yerini ağırlık alır.
• Önemli olan şu: dengeye ulaşmak için cismin hiçbir şey yapması gerekmez.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4/5
• Direnç hızla büyüdüğü için, yeterince uzun düşen her cisim er geç bu dengeye kendiliğinden gelir.
• Sayfanın 01 numaralı laboratuvarında kuvvet oklarını açıp cismi bıraktığında direnç okunun büyüyüp ağırlık okuna eşitlendiğini, ivme göstergesinin de sıfıra indiğini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şekil
Ağırlık hiç değişmez (sarı çubuk hep aynı). Cisim hızlandıkça direnç (mavi çubuk) büyür ve aradaki fark — yani net kuvvet — küçülür. Net kuvvet küçüldükçe ivme de küçülür, hız daha yavaş artar. Dördüncü karede iki çubuk eşitlenir: net kuvvet sıfır, ivme sıfır. Cisim durmaz; sabit hızla düşmeye devam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Düşen cisimde ağırlık sabittir, direnç hızla büyür. Direnç ağırlığa eşitlenince net kuvvet ve ivme sıfırlanır; cisim durmaz, limit hız denen sabit hızla düşmeye devam eder.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Limit hıza ulaşan bir cismin ivmesi sıfırsa, cisim neden durmuyor da düşmeye devam ediyor?
Sınıfa sorun, birkaç tahmin alın; sonra cevap slaytına geçin.
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direnci ve limit hızı formüle dök, doyan v–t eğrisini oku, gerçek cisimlerin sayılarıyla karşılaştır.
04 Hava direncinin bağıntısı: F = k·v²
05 Limit hız bağıntısı
06 v – t grafiği: doyan eğri
07 Sayılarla hisset: kim, hangi hızla, ne kadar sürede?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1/8
• Günlük hızlarda iyi çalışan model şudur:
Fd = k · v²   k = ½ · ρ · C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2/8
Formüldeki harfler ne anlama geliyor?
Sembol | Anlamı | Birimi
Fd | hava direnci (sürükleme kuvveti); harekete zıt yöndedir | N
k | direnç katsayısı: havayı, cismin biçimini ve alanını tek sayıda toplar | kg/m
v | cismin o anki hızı | m/s
ρ | havanın yoğunluğu (okunuşu “ro”; deniz seviyesinde yaklaşık 1,2) | kg/m³
C | sürükleme katsayısı: cismin şekline bağlı, birimsiz bir sayı | —
A | kesit alanı: cisme hareket yönünden bakınca görünen yüzey | 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3/8
• ρ: havanın yoğunluğu (deniz seviyesinde ≈ 1,2 kg/m³)
• C: sürükleme katsayısı — cismin şekline bağlı (küre ≈ 0,5; düz levha ≈ 1,2)
• A: harekete dik kesit alanı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4/8
v² nereden geliyor?
• Süpürülen hava: cisim Δt sürede v·Δt yol alır ve önündeki A·v·Δt hacmindeki havayı iter.
• Bu havanın kütlesi: ρ·A·v·Δt; hız iki katına çıkınca iki kat hava itilir.
• Havaya verilen hız: itilen hava yaklaşık v mertebesinde hızlanır; hız iki katına çıkınca bu da iki katına çıkar.
• Newton'un ikinci yasası: her saniye ρ·A·v kütlesindeki hava yaklaşık v kadar hızlandırılıyorsa gereken kuvvet ρ·A·v² mertebesindedir.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5/8
• İki çarpanın ikisi de v'den geldiği için direnç v² ile büyür. ½ ve C çarpanları, havanın cismin çevresinden nasıl aktığını hesaba katar; bu akışı cismin biçimi belirlediği için C'ye şekil katsayısı da denebilir.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şekil
Cisim Δt sürede v·Δt yol alır ve önündeki bu hava bölümünü iter. Hızı 2 katına çıkarınca iki kat uzun bir bölümü, yani 2 kat havayı iter; üstelik bu havaya 2 kat hız verir. İki çarpan birleşince direnç 2 · 2 = 4 katına çıkar: Fd'nin v² ile büyümesi buradan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7/8
Birim kontrolü: k = ½·ρ·C·A için (kg/m³)·m² = kg/m çıkar. k·v² için (kg/m)·(m²/s²) = kg·m/s² = N ✓. Çözümlü örneklerdeki k değerleri bu yüzden kg/m ile yazılır.
• Bu bağıntı bir modeldir: yağmur damlasından paraşütçüye kadar gündelik boyuttaki cisimlerde çok iyi çalışır.
• Sınırlarına üçüncü basamakta döneceğiz.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şekil
Duman çizgileri, bisikletçinin önündeki havanın nasıl itilip gövdenin çevresinden dolaştığını ve arkasında nasıl girdaplara dönüştüğünü görünür kılar. Öne eğilmek, önden görünen alanı (A) küçültür; akıcı kask ve dar giysi de havanın gövdeyi kolay sarmasını sağlayıp sürükleme katsayısını (C) düşürür. İkisi birlikte k'yi, dolayısıyla aynı hızdaki hava direncini azaltır.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Günlük hızlarda hava direnci Fd = k·v²'dir; k = ½·ρ·C·A havanın yoğunluğunu, cismin şeklini ve kesit alanını bir araya toplar. v² çarpanı, hem itilen hava miktarının hem de ona verilen hızın v ile büyümesinden gelir.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1/6
• Aşağı yönü pozitif alalım.
• Düşen cisme iki kuvvet etki eder: aşağı yönlü ağırlık ve yukarı yönlü direnç.
• Net kuvvet ve denge koşulu şöyle yazılır:
ΣF = m·g − k·v²   m·g = k·vl² →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2/6
• Denge koşulundan limit hızı adım adım çekelim:
• Denge: limit hızda a = 0, yani m·g − k·vl² = 0.
• Düzenle: k·vl² = m·g, buradan vl² = m·g / k.
• Karekök al: vl = √(m·g / k).
• k'yi aç: k = ½·ρ·C·A yazınca vl = √(2·m·g / (ρ·C·A)).
vl = √(m·g / k)   vl = √(2·m·g / (ρ·C·A))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3/6
• Bağıntıdan üç sonuç doğrudan okunur:
• Kütle artarsa limit hız artar — ama karekökle: kütle 4 katına çıkarsa hız 2 katına.
• Alan artarsa limit hız azalır — yine karekökle: alan 4 katına çıkarsa hız yarıya.
• Belirleyici olan m/A oranıdır. Aynı kütleli iki cisimden yüzeyi geniş olan daha yavaş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4/6
Yükseklik de etkiler: ρ yukarıda küçüldüğü için aynı cismin limit hızı yüksek irtifada daha büyüktür. Serbest düşüş rekorları bu yüzden stratosferden yapılır.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şekil
Limit hız iki şeye bağlıdır ve ikisine de karekökle: kütle dört katına çıkarsa limit hız yalnızca iki katına çıkar, alan dört katına çıkarsa hız yarıya iner. Belirleyici olan tek başına kütle ya da alan değil, m/A oranıdır — bu yüzden aynı kâğıdın buruşturulmuşu açık hâlinden çok daha hızlı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6/6
• Sayfanın 04 numaralı bölümünde kütleyi ve alanı ayrı ayrı değiştirerek bu iki karekök eğrisinin üzerinde gezinebilirsin.
• 03 numaralı bölümdeki kâğıt deneyi ise kütleye hiç dokunmadan yalnızca alanı değiştirir: buruşturulan kâğıdın limit hızı açık kâğıdınkinin yaklaşık 7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Limit hız, m·g = k·vl² dengesinden vl = √(m·g/k) olarak çıkar. Kütle 4 katına çıkınca limit hız 2 katına çıkar, alan 4 katına çıkınca yarıya iner; belirleyici olan m/A oranıdır.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boyda bir tahta bilye ile bir demir bilyeden hangisinin limit hızı daha büyüktür?
Sınıfa sorun, birkaç tahmin alın; sonra cevap slaytına geçin.
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1/5
• Hava direnci yokken v – t grafiği eğimi g olan bir doğrudur.
• Hava direnci varken eğri başlangıçta bu doğruya teğettir, sonra eğimi azalır ve limit hıza asimptotik olarak, yani giderek yaklaşıp hiç tam ulaşmadan yaklaşır.
• Bu eğrinin bağıntısı şudur:
v(t) = vl · tanh(g·t / vl)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2/5
• Buradaki tanh (hiperbolik tanjant) fonksiyonunu ayrıntılı tanıman gerekmez; grafiği okumak için üç özelliğini bilmen yeter:
• Sıfırda sıfırdır: t = 0'da v = 0; cisim durgun bırakılmıştır.
• Başta doğru gibi davranır: küçük t için v ≈ g·t; ilk anlarda cisim neredeyse serbest düşer.
• 1'e yaklaşır ama ulaşmaz: tanh(1,83) ≈ 0,95 ve tanh(2,65) ≈ 0,99; v, vl'ye hiç tam ulaşmaz.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3/5
• Cisim limit hıza matematiksel olarak hiçbir zaman tam ulaşmaz; ama pratikte kısa sürede %95'ine oturur.
• Bu süre üçüncü maddeden çıkar: g·t/vl = 1,83 olduğunda v = 0,95·vl'dir.
t%95 ≈ 1,83 · vl /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4/5
• Limit hızı küçük olan cisim dengeye çabuk, büyük olan geç oturur: yağmur damlası 2 saniyeden kısa, kolları açık paraşütçü yaklaşık 10 saniyede. a – t grafiği ise g'den başlayıp sıfıra iner: ivmenin sıfırlanması, hızın sabitlenmesi demektir.
Limit hızda hız sıfır değildir! Sıfır olan ivmedir. Cisim hâlâ (hem de hızla) düşmektedir; yalnızca artık hızlanmamaktadır.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şekil
Eğrinin her noktasındaki eğim o andaki ivmedir. Başlangıçta eğim tam olarak g'dir — ilk anda hız sıfır olduğu için direnç de sıfırdır. Hız büyüdükçe eğim azalır ve eğri, limit hız doğrusuna hiç değmeden sonsuza kadar yaklaşır. Pratikte cisim birkaç saniyede limit hızın %99'una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Havada düşen cismin v – t eğrisi eğimi g olan bir doğru gibi başlar, sonra doyarak limit hıza yaklaşır: v = vl·tanh(g·t/vl). Limitin %95'ine varma süresi yaklaşık 1,83·vl/g'dir.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Doyan v – t eğrisinde eğim hangi anda en büyüktür ve o anki değeri nedir?
Sınıfa sorun, birkaç tahmin alın; sonra cevap slaytına geçin.
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1/7
• Aynı yerçekimi, aynı hava; ama en yavaşla en hızlı arasında yaklaşık on bin kat fark var.
• Tipik değerler: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2/7
Cisim | Limit hız | Neden
Sis damlacığı | ≈ 0,01 m/s | çok küçük m/A
Yağmur damlası | ≈ 9 m/s | küçük kütle, küresel
Tenis topu | ≈ 25 m/s | orta m/A
Paraşütçü: kol-bacak açık / dalış pozisyonu | ≈ 55 / ≈ 90 m/s | büyük kütle, orta alan / alan iyice küçülür
Açık paraşüt | ≈ 5 m/s | alan onlarca kat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şekil
Aynı yerçekimi, aynı hava — ama limit hızlar arasında yaklaşık on bin kat fark var. Farkı yapan tek şey m/A oranı: sis damlacığı neredeyse asılı kalır, kollarını yanına toplayan bir paraşütçü ise 90 m/s'ye çıkar. Paraşütü açmak, aynı insanın limit hızını on bire bölmeye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4/7
• Limit hıza ne kadar sürede ve ne kadar yol düştükten sonra oturulur?
• Sayfanın 01 numaralı laboratuvarı bunu "Limitin %95'ine" ve "O ana kadar düşülen" satırlarında gösterir.
• Aynı modelle (g = 9,81 m/s², durgun bırakılan cisim) yuvarlanmış değerler: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5/7
Cisim | Limit hız | %95'ine varma süresi | O ana kadar düşülen yol
Yağmur damlası | 9 m/s | 1,7 s | 10 m
Tenis topu | 25 m/s | 4,7 s | 74 m
Paraşütçü (kol-bacak açık) | 55 m/s | 10,3 s | 360 m
Paraşütçü (dalış) | 90 m/s | 16,8 s | 960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6/7
• Tablolardan okunan düzen:
• Süre limit hızla doğru orantılıdır: limit hızı 10 kat büyük olan dalıştaki paraşütçü, dengeye yağmur damlasından 10 kat geç oturur.
• Yol limit hızın karesiyle büyür: yağmur damlası ilk 10 m'de, paraşütçü ancak ilk 360 m'de limitine oturur.
• Yağmur damlası neredeyse hep sabit hızlıdır: 2 km'lik düşüşün yalnızca ilk 10 metresi hızlanmayla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7/7
• Bir karşılaştırma: hava direnci olmasaydı 2 km'den düşen damla yere yaklaşık 198 m/s ile çarpardı.
• Gerçek hızı bunun yaklaşık yirmide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Limit hızlar sis damlacığında 0,01 m/s'den dalıştaki paraşütçüde 90 m/s'ye kadar uzanır. Limite oturma süresi vl ile, bu sırada düşülen yol vl² ile büyür: yağmur damlası ilk 10 m'de dengeye gelir.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serbest düşme modeli nerede yetmez, paraşüt nasıl çalışır ve limit hız gerçek hayatta nerede karşımıza çıkar?
08 Serbest düşmeden farkı: model ne zaman yeter?
09 Paraşüt ve ölçek etkisi
10 Limit hız gerçek dünyada
Görsel: Açık paraşütle limit hız saniyede birkaç metreye iner.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1/6
 | Serbest düşme (ideal) | Gerçek düşüş
Etkiyen kuvvet | Yalnızca ağırlık | Ağırlık + hava direnci
İvme | Sabit, g | g'den başlar, sıfıra iner
Hız | Sınırsız artar | Limit hızda sabitlenir
Kütlenin rolü | Yok | Var (m/A oranı)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2/6
• Serbest düşme, hava direncinin ihmal edilebildiği durumların modelidir: kısa mesafe, yoğun ve küçük cisim, düşük hız.
• Uzun süreli düşüşlerde ya da hafif ve geniş cisimlerde bu model geçersizleşir.
• Önceki bölümdeki tablo bunun için kaba bir ölçüt de verir: cisim limitine, vl²/g mertebesinde bir yol düştükten sonra oturur.
h ≪ vl²/g → serbest düşme   h ≫ vl²/g → limit hız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3/6
• Bilye: sayfanın 03 numaralı bölümündeki bilyenin vl ≈ 44 m/s, vl²/g ≈ 200 m; 1 m'lik düşüşte direnç ihmal edilebilir.
• Yağmur damlası: vl²/g ≈ 8 m; 2 km'lik düşüşte serbest düşme tamamen yanlış sonuç verir.
• Paraşütçü: vl²/g ≈ 300 m; ilk birkaç saniye serbest düşmeye yakındır, sonrası limit hızdır.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şekil
Vakumda ivme hiç değişmez, hız sınırsız artar ve kütlenin hiçbir rolü yoktur. Havada ise ivme g'den başlayıp sıfıra iner, hız bir değerde sabitlenir ve artık kütle ile alan işin içine girer. Serbest düşme, hava direncinin ihmal edilebildiği özel bir durumdur — kısa mesafelerde ve ağır cisimlerde iyi bir yaklaşımdır.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5/6
Yukarı atılan top
• Hava direnci atıştaki simetriyi de bozar.
• Yukarı çıkan topta direnç aşağı yönlüdür ve ağırlığa eklenir; top g'den büyük bir ivmeyle yavaşlar.
• İnerken direnç yukarı yönlüdür ve ağırlıktan çıkar; top g'den küçük bir ivmeyle hızlanır.
• Sonuç: top havasız ortamdakinden daha alçağa çıkar, inişi çıkışından uzun sürer ve atıldığı noktaya v₀'dan küçük bir hızla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6/6
• Son bir incelik: çok küçük ve yavaş cisimlerde (sis damlacığı, toz, polen) direnç hızın karesiyle değil, hızın kendisiyle orantılı büyür; F = k·v² modelinin bir sınırı da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Serbest düşme, düşme yüksekliği vl²/g'nin yanında küçük kaldığında iyi bir yaklaşımdır. Havada yukarı atılan cisimde simetri bozulur: çıkış inişten kısa sürer ve cisim atıldığından küçük bir hızla döner.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 yukarı atılan bir topun tepe noktasındaki ivmesi g'den büyük mü, g'ye eşit mi, g'den küçük mü?
Sınıfa sorun, birkaç tahmin alın; sonra cevap slaytına geçin.
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1/6
• Paraşüt, kütleyi değil alanı değiştirir.
• Açıldığı anda A onlarca katına çıkar, k büyür ve yeni limit hız çok küçülür:
A → 25A ⇒ vl → vl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2/6
• Açılma anında hız hâlâ eski limit hızdadır; direnç birden ağırlığın çok üstüne çıkar ve cisim yukarı yönlü net kuvvetle hızla yavaşlar.
• Paraşütçünün hissettiği sarsıntı budur.
• Birkaç saniye içinde yeni dengeye oturulur.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3/6
• Yalnızca alan hesaba katılırsa 25 katlık büyüme 55 m/s'lik limit hızı 11 m/s'ye indirir.
• Gerçek kubbede şekil de değiştiği için sürükleme katsayısı C büyür ve hız 5 m/s civarına kadar düşer; bu, k'nin toplamda yaklaşık 120 katına çıkması demektir.
• Sayfanın 02 numaralı bölümünde bu iki basamaklı inişi, iki platolu bir v – t grafiği olarak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şekil
Paraşüt açıldığı anda kütle değişmez ama alan onlarca kat büyür. Direnç bir anda ağırlığın çok üstüne çıkar, net kuvvet yukarı döner ve atlayıcı yavaşlar — bu ani frenlemeyi vücudunda hissettiği an budur. Yavaşladıkça direnç küçülür ve hız yeni, çok daha düşük bir limitte dengelenir. Alan ve kubbenin şekli birlikte k'yi yaklaşık 120 katına çıkarır; hız karekökle, 55 m/s'den 5 m/s'ye, yani on birde birine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5/6
• Aynı mantık canlılar için de geçerlidir: boyut küçüldükçe kütle uzunluğun küpüyle, alan ise karesiyle küçülür.
• Bu yüzden küçük bir böceğin m/A oranı çok düşüktür; limit hızı o kadar küçüktür ki yüksekten düşmesi onu incitmez.
m ∝ L³   A ∝ L²   m/A ∝ L ⇒ vl ∝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6/6
• Boyutları 10 kat küçük bir canlının kütlesi 1000 kat, alanı 100 kat küçüktür; m/A oranı 10 kat düşer, limit hızı √10 ≈ 3 kat küçülür.
• Çarpmadaki kinetik enerji ½·m·v² olduğundan hem kütle hem hız yüzünden yaklaşık on bin kat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Paraşüt kütleyi değil k'yi büyütür: açıldığı anda direnç ağırlığı aşar, net kuvvet yukarı döner ve paraşütçü yavaşlayarak yeni, küçük limit hıza oturur. Küçük canlıların m/A oranı küçük olduğundan limit hızları da küçüktür.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Paraşüt açılınca, yanında düşen arkadaşının kamerasında paraşütçü neden yukarı fırlıyor gibi görünür?
Sınıfa sorun, birkaç tahmin alın; sonra cevap slaytına geçin.
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1/5
• Limit hız, havada düşen her şeyin kaderidir.
• Mühendisler onu kimi zaman küçültmeye, kimi zaman büyütmeye çalışır; paraşüt bunun en bilinen örneğidir.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2/5
• Bulutlar neden düşmez? 0,01 m/s ile düşen bir bulut damlacığı 1 km'yi ancak yaklaşık 28 saatte iner; hafif yukarı hava akımları onu kolayca taşır.
• Yağmur damlası: 2 mm çaplı bir damla yaklaşık 6,5 m/s ile düşer; yaklaşık 5 mm'den iri damlalar düşerken çoğunlukla parçalanır.
• Dolu: 5 cm çaplı bir dolu tanesi için basit model yaklaşık 30 m/s (110 km/h) verir; iri dolunun cam kırması bundandır.
• Formasyon atlayışı: el ele düşmek için limit hızlar eşit olmalı; hafif atlayıcılar ağırlık kemeri, ağır olanlar bol tulum kullanabilir.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3/5
• Stratosfer atlayışları: 30 km'de hava deniz seviyesindekinden yaklaşık 65 kat seyrektir; limit hız yaklaşık 8 kat büyür ve ses hızı aşılabilir.
• Otoyolda yakıt: 90 yerine 120 km/h ile gitmek hava direncini (120/90)² ≈ 1,8 katına çıkarır; yüksek hızda motorun yaptığı işin büyük kısmı bu direnci yenmeye harcanır.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4/5
• Bütün bu örneklerde aynı iki kural iş başındadır: direnç hızın karesiyle büyür ve limit hızı m/A oranı belirler.
• Kayakçılar ve bisikletçiler gövdelerini toplayıp akıcı kasklar takarak A ile C'yi küçültür ve hızlanır; paraşüt, uçuşan tohumlar ve bulut damlacıkları ise tam tersini yaparak yavaş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şekil
Limit hızda direnç ağırlığa eşittir (F = G), bu yüzden iki paraşütçünün kuvvet okları aynı boyda. Fark hızda: kapalı paraşütün küçük alanı bu direnci ancak yaklaşık 55 m/s'de üretir. Açık kubbenin büyük alanı aynı direnci yaklaşık 5 m/s'de sağlar; paraşüt bu yüzden yavaş ve güvenli iner. Mavi okların boyu hızlarla orantılı.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Limit hız, yağmurun zararsızlığını, bulutların asılı kalmasını ve paraşütle güvenli inişi açıklar. A ile C'yi küçültmek hız kazandırır, büyütmek yavaşlatır; seyrek hava limit hızı büyütür.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limit hız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80 kg kütleli bir paraşütçü, paraşütü kapalıyken 50 m/s'lik limit hızıyla düşmektedir. (a) Bu anda hava direnci kaç N'dur? (b) İvmesi nedir?
Durum çizimi: Durum: paraşütü kapalı paraşütçü 50 m/s'lik limit hızıyla düşüyor. Ağırlık G aşağı yönlü; yukarı yönlü hava direncinin büyüklüğü F ve paraşütçünün ivmesi 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80 kg kütleli bir paraşütçü, paraşütü kapalıyken 50 m/s'lik limit hızıyla düşmektedir. (a) Bu anda hava direnci kaç N'dur? (b) İvmesi nedir?
Verilenler: m = 80 kg · vl = 50 m/s (paraşütçü limit hızda düşüyor) · g = 10 m/s²
İstenen: (a) hava direnci Fd · (b)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 çözüm
1. (a) Limit hızda net kuvvet sıfırdır: Fd = m·g = 80 · 10 = 800 N
2. (b) ΣF = 0 olduğu için a = 0'dır.
3. Hız sıfır değildir: cisim 50 m/s ile düşmeye devam eder. Sabit olan hızdır, sıfır olan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Bir bisikletli 5 m/s hızla giderken 8 N'luk hava direnciyle karşılaşıyor. (a) Direnç katsayısı k kaçtır? Hızını (b) 10 m/s'ye, (c) 15 m/s'ye çıkarırsa hava direnci kaç N olur?
Durum çizimi: Durum: bisikletli 5 m/s ile giderken 8 N'luk hava direnciyle karşılaşıyor. Mavi okların boyu hızla orantılı: alttaki iki ok aynı bisikletlinin 10 m/s ve 15 m/s'lik hızları. Direnç katsayısı k ve bu iki hızdaki dirençler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Bir bisikletli 5 m/s hızla giderken 8 N'luk hava direnciyle karşılaşıyor. (a) Direnç katsayısı k kaçtır? Hızını (b) 10 m/s'ye, (c) 15 m/s'ye çıkarırsa hava direnci kaç N olur?
Verilenler: v = 5 m/s iken Fd = 8 N · yeni hızlar 10 m/s ve 15 m/s
İstenen: (a) direnç katsayısı k · (b) 10 m/s'deki direnç · (c) 15 m/s'deki direnç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 çözüm
1. (a) Fd = k·v² → k = 8 / 5² = 8 / 25 = 0,32 kg/m
2. (b) Hız 2 katı → direnç 2² = 4 katı: 4 · 8 = 32 N (kontrol: 0,32 · 100 = 32 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 çözüm
3. (c) Hız 3 katı → direnç 3² = 9 katı: 9 · 8 = 72 N
4. Hızı üç katına çıkarmak dokuz kat direnç demektir; yarış bisikletçileri gövdelerini öne eğip A'yı bu yüzden küçültür.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kütle, farklı alan
Aynı kâğıttan yapılmış açık bir levha ile buruşturulmuş bir top düşünelim. Buruşturunca kesit alanı dokuzda birine iniyorsa limit hız nasıl değişir?
Durum çizimi: Durum: aynı kâğıt önce açık levha, sonra buruşturulmuş top olarak düşüyor. Kütle değişmiyor; hareket yönünden görünen kesit alanı A'dan A/9'a iniyor. Limit hızın kaç katına çıktığı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kütle, farklı alan
Aynı kâğıttan yapılmış açık bir levha ile buruşturulmuş bir top düşünelim. Buruşturunca kesit alanı dokuzda birine iniyorsa limit hız nasıl değişir?
Verilenler: aynı kâğıt, yani m değişmiyor · kesit alanı A → A/9 (dokuzda birine iniyor)
İstenen: limit hızın kaç katına çıktığı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kütle, farklı alan — çözüm
1. Kütle değişmedi; yalnızca A küçüldü: A → A/9
2. vl = √(2mg / (ρCA)) ∝ 1/√A → A dokuzda birine inince vl 3 katına çıkar.
3. Bu yüzden buruşturulmuş kâğıt, açık kâğıttan çok daha hızlı düşer — kütleleri aynı olmasına rağmen.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Bir cismin kütlesi 2 kg, limit hızı 20 m/s ölçülüyor. Direnç Fd = k·v² modeliyle veriliyorsa k kaçtır? Hız 10 m/s iken ivme ne olur?
Durum çizimi: Durum: 2 kg'lık cisim havada düşüyor; limit hızı 20 m/s. Mavi okların boyu hızla orantılı. Direnç katsayısı k ve cismin hızı 10 m/s iken ivmesi 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Bir cismin kütlesi 2 kg, limit hızı 20 m/s ölçülüyor. Direnç Fd = k·v² modeliyle veriliyorsa k kaçtır? Hız 10 m/s iken ivme ne olur?
Verilenler: m = 2 kg · vl = 20 m/s · Fd = k·v² · ara hız v = 10 m/s · g = 10 m/s²
İstenen: direnç katsayısı k · hız 10 m/s iken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 çözüm
1. Limit hızda: m·g = k·vl² → 20 = k · 400 → k = 0,05 kg/m
2. v = 10 m/s iken direnç: Fd = 0,05 · 100 = 5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 çözüm
3. Net kuvvet: 20 − 5 = 15 N → a = 15/2 = 7,5 m/s²
4. Hız limitin yarısındayken ivme hâlâ g'nin dörtte üçü kadardır (direnç v² ile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Limit hızı 50 m/s olan paraşütçü, paraşütünü açtığında yüzey alanı 25 katına çıkıyor. (a) Yeni limit hız nedir? (b) Açılma anında ivmesi ne olur?
Durum çizimi: Durum: 50 m/s'lik limit hızla düşen paraşütçü paraşütünü açıyor ve alanı 25 katına çıkıyor. Açıldığı anda hız hâlâ 50 m/s. O andaki ivme a ve paraşüt açıkken ulaşılacak yeni limit hız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Limit hızı 50 m/s olan paraşütçü, paraşütünü açtığında yüzey alanı 25 katına çıkıyor. (a) Yeni limit hız nedir? (b) Açılma anında ivmesi ne olur?
Verilenler: vl = 50 m/s (paraşüt kapalıyken) · yeni alan 25·A · açılma anında hız hâlâ 50 m/s · g = 10 m/s²
İstenen: (a) yeni limit hız · (b) açılma anındaki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 çözüm
1. (a) vl ∝ 1/√A olduğundan: 50 / √25 = 10 m/s
2. (b) Açılma anında hız hâlâ 50 m/s. Yeni k ile direnç: Fd = 25 · (eski direnç) = 25 · 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 çözüm
3. Net kuvvet = 25mg − mg = 24mg, yukarı yönde → a = 24g (yaklaşık 240 m/s², yukarı)
4. Bu yüzden açılma çok sert hissedilir; gerçek paraşütler açılmayı birkaç saniyeye yayarak bu ivmeyi düşürür.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Çapı 2 mm (yarıçapı r = 1 mm) olan küresel bir yağmur damlasının limit hızını bulunuz. (ρsu = 1000 kg/m³, ρhava = 1,2 kg/m³, C = 0,5; kürenin hacmi (4/3)·π·r³, kesit alanı π·r²)
Durum çizimi: Durum: 2 mm çaplı küresel yağmur damlası havada düşüyor; çizim büyütüldü. Damlanın yarıçapı, suyun ve havanın yoğunluğu ile sürükleme katsayısı verilmiş; kesikli elips hareket yönünden görünen kesit alanını gösteriyor. Damlanın limit hızı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Çapı 2 mm (yarıçapı r = 1 mm) olan küresel bir yağmur damlasının limit hızını bulunuz. (ρsu = 1000 kg/m³, ρhava = 1,2 kg/m³, C = 0,5; kürenin hacmi (4/3)·π·r³, kesit alanı π·r²)
Verilenler: r = 1 mm = 0,001 m · ρsu = 1000 kg/m³ · ρhava = 1,2 kg/m³ · C = 0,5 · g = 10 m/s² · küre: hacim (4/3)·π·r³, kesit alanı π·r²
İstenen: damlanın limit hızı vl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 çözüm
1. Belirleyici olan m/A oranıdır: m/A = ρsu·(4/3)·π·r³ / (π·r²) = (4/3)·ρsu·r; π sadeleşir.
2. m/A = (4/3) · 1000 · 0,001 ≈ 1,33 kg/m²
3. vl = √(2·(m/A)·g / (ρhava·C)) = √(2 · 1,33 · 10 / (1,2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 çözüm
4. vl = √(26,7 / 0,6) = √44,4 ≈ 6,7 m/s
5. m/A yarıçapla doğru orantılı olduğu için vl ∝ √r: yarıçapı 2 katı olan damlanın limit hızı √2 ≈ 1,4 katı, yani ≈ 9,4 m/s olur.
Ölçülen değer 2 mm çaplı damla için yaklaşık 6,5 m/s'dir; bu basit model gerçeğe oldukça yakın sonuç verir. İri damlaların 9 m/s civarında düşmesi de bu karekök ilişkisinden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Direnç katsayısı k = 0,5 kg/m olan bir cisim 6 m/s hızla düşüyor. Cisme etki eden hava direnci kaç N'dur?
Öğrencilere 2–3 dakika verin; sonra cevap slaytını açın.
Cevap: Cevap: Fd = k · v² = 0,5 · 6² = 0,5 · 36 = 18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Fd = k · v² = 0,5 · 6² = 0,5 · 36 = 18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Kütlesi 2 kg, direnç katsayısı k = 0,2 kg/m olan bir cismin limit hızı kaç m/s'dir?
Öğrencilere 2–3 dakika verin; sonra cevap slaytını açın.
Cevap: Cevap: vl = √(m · g / k) = √(2 · 10 / 0,2) = √100 = 10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vl = √(m · g / k) = √(2 · 10 / 0,2) = √100 = 10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0,5 kg'lık bir top 10 m/s hızla düşerken ona 1 N'luk hava direnci etki ediyor. Topun o anki ivmesi kaç m/s²'dir?
Öğrencilere 2–3 dakika verin; sonra cevap slaytını açın.
Cevap: Cevap: Ağırlık m · g = 0,5 · 10 = 5 N (aşağı), direnç 1 N (yukarı). Net kuvvet 5 − 1 = 4 N → a = Fnet / m = 4 / 0,5 = 8 m/s², aşağı. Top hâlâ hızlanıyor, ama ivmesi g'den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Ağırlık m · g = 0,5 · 10 = 5 N (aşağı), direnç 1 N (yukarı). Net kuvvet 5 − 1 = 4 N → a = Fnet / m = 4 / 0,5 = 8 m/s², aşağı. Top hâlâ hızlanıyor, ama ivmesi g'den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Aynı boyda ve biçimde iki kutudan dolu olanın kütlesi boş olanın 4 katıdır. Boş kutunun limit hızı 6 m/s ise dolu kutununki kaç m/s'dir?
Öğrencilere 2–3 dakika verin; sonra cevap slaytını açın.
Cevap: Cevap: Boy ve biçim aynı olduğu için k da aynıdır. vl = √(m · g / k) olduğundan limit hız √m ile büyür: kütle 4 katı → hız √4 = 2 katı. Dolu kutu 2 · 6 = 12 m/s ile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Boy ve biçim aynı olduğu için k da aynıdır. vl = √(m · g / k) olduğundan limit hız √m ile büyür: kütle 4 katı → hız √4 = 2 katı. Dolu kutu 2 · 6 = 12 m/s ile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Paraşütü açık, 80 kg'lık bir paraşütçünün limit hızı 5 m/s'dir. Hızı 10 m/s iken ivmesi kaç m/s²'dir ve hangi yöndedir?
Öğrencilere 2–3 dakika verin; sonra cevap slaytını açın.
Cevap: Cevap: Limit hızda k · vl² = m · g → k = 800 / 25 = 32 kg/m. Hız 10 m/s iken Fd = 32 · 10² = 3200 N. Net kuvvet 3200 − 800 = 2400 N, yukarı → a = 2400 / 80 = 30 m/s², yukarı. Paraşütçü hâlâ aşağı iner, ama hızla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Limit hızda k · vl² = m · g → k = 800 / 25 = 32 kg/m. Hız 10 m/s iken Fd = 32 · 10² = 3200 N. Net kuvvet 3200 − 800 = 2400 N, yukarı → a = 2400 / 80 = 30 m/s², yukarı. Paraşütçü hâlâ aşağı iner, ama hızla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“Limit hızda hız sıfırdır.” Sıfır olan ivmedir; hız sabit ve genellikle büyüktür.
• “Limit hızda cisme kuvvet etki etmez.” İki büyük kuvvet vardır (ağırlık ve direnç); net kuvvet sıfırdır.
• “Ağır cisim her zaman daha hızlı düşer.” Belirleyici olan m/A oranıdır; hava direnci yoksa kütle hiç rol oynamaz.
• “Hava direnci hızla doğru orantılıdır.” Günlük hızlarda v² ile artar; hız 2 katına çıkarsa direnç 4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“Paraşüt kütleyi azaltır.” Paraşüt yalnızca alanı büyütür; kütle aynıdır.
• “Limit hıza ulaşınca cisim durur.” Durmaz; sabit hızla düşmeye devam eder ve yere o hızla çarpar.
• “Serbest düşme her zaman geçerlidir.” Serbest düşme, direncin ihmal edildiği bir modeldir.
• “Paraşüt açılınca paraşütçü yukarı çıkar.” Net kuvvet yukarı döner, ama hız hâlâ aşağı yönlüdür; paraşütçü yalnızca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Direnç hıza bağlı · Dengede a = 0 · Yağmur damlası ≈ 9 m/s · Paraşütçü ≈ 55 m/s
Fd = k · v² — hava direnci
m·g = k · vl² — limit hızda denge
vl = √(m·g / k) — limit hız
k = ½·ρ·C·A — şekil ve alana bağlı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limit-hiz-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05</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Limit hız</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Gerçek dünyada hiçbir cisim sonsuza kadar hızlanmaz. Hava direnci hızla büyür; ağırlığa eşitlendiği anda net kuvvet sıfırlanır ve cisim sabit bir hızla düşmeye devam eder. Aşağıda bu dengeyi kendin kur, paraşütü aç, kâğıdı buruştur.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Bir paraşütçü 4 km yüksekten atlar; hava direnci olmasaydı yere 280 m/s ile çarpardı.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Oysa açık paraşütle yaklaşık 5 m/s ile,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bir bisikletlinin hızıyla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iner.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Yağmur damlası 2 km düşer, yine de canımızı yakmaz.</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İkisinin de sebebi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hava direnci hızla birlikte büyür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bir noktada ağırlığı tam olarak dengeler.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 andan sonra hız artmaz — her cismin bir hız sınırı vardır.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hava direncini yağmurda, bisiklette ve paraşütte gözle; neden bir hız sınırı olduğunu kuvvetlerle anla.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yağmur neden canımızı yakmaz?</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Hava direnci: hıza bağlı bir kuvvet</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Neden bir hız sınırı var?</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direnci ve limit hızı formüle dök, doyan v–t eğrisini oku, gerçek cisimlerin sayılarıyla karşılaştır.</a:t>
            </a:r>
            <a:endParaRPr lang="en-US" sz="11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Hava direncinin bağıntısı: F = k·v²</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Limit hız bağıntısı</a:t>
            </a:r>
            <a:endParaRPr lang="en-US" sz="12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v – t grafiği: doyan eğri</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kim, hangi hızla, ne kadar sürede?</a:t>
            </a:r>
            <a:endParaRPr lang="en-US" sz="11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serbest düşme modeli nerede yetmez, paraşüt nasıl çalışır ve limit hız gerçek hayatta nerede karşımıza çıkar?</a:t>
            </a:r>
            <a:endParaRPr lang="en-US" sz="10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Serbest düşmeden farkı: model ne zaman yeter?</a:t>
            </a:r>
            <a:endParaRPr lang="en-US" sz="120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Paraşüt ve ölçek etkisi</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Limit hız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limit hız sorularında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 ve ivme: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 bir saniyede alınan yoldur (m/s). İvme ise hızın her saniye ne kadar değiştiğidir (m/s²); ivme sıfırsa hız sabit kalır.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Serbest düşme: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hava olmasaydı düşen her cisim her saniye yaklaşık 10 m/s daha hızlanırdı (g = 10 m/s²). Bu hızlanmanın bir sonu olmazdı.</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Dünya'nın bir cismi kendine çekme kuvvetidir ve m·g ile bulunur. 2 kg'lık bir çantanın ağırlığı 2 · 10 = 20 N'dur.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Net kuvvet: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cisme etki eden kuvvetlerin toplamıdır. 20 N aşağı, 5 N yukarı kuvvet varsa net kuvvet 20 − 5 = 15 N, aşağı yönlüdür. Net kuvvet ivme doğurur: a = F</a:t>
            </a:r>
            <a:pPr indent="0" marL="0">
              <a:lnSpc>
                <a:spcPct val="115000"/>
              </a:lnSpc>
              <a:buNone/>
            </a:pPr>
            <a:r>
              <a:rPr lang="en-US" sz="2000" baseline="-40000" dirty="0">
                <a:solidFill>
                  <a:srgbClr val="4A5470"/>
                </a:solidFill>
                <a:latin typeface="Calibri" pitchFamily="34" charset="0"/>
                <a:ea typeface="Calibri" pitchFamily="34" charset="-122"/>
                <a:cs typeface="Calibri" pitchFamily="34" charset="-120"/>
              </a:rPr>
              <a:t>net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 m; net kuvvet sıfırsa ivme de sıfırdır.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Kare ve karekök: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3² = 3 · 3 = 9 ve √9 = 3. Bir sayı 2 katına çıkınca karesi 4 katına çıkar.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00" dirty="0">
                <a:solidFill>
                  <a:srgbClr val="C3CEE8"/>
                </a:solidFill>
                <a:latin typeface="Calibri" pitchFamily="34" charset="0"/>
                <a:ea typeface="Calibri" pitchFamily="34" charset="-122"/>
                <a:cs typeface="Calibri" pitchFamily="34" charset="-120"/>
              </a:rPr>
              <a:t>Önce sezgi: hava direncini yağmurda, bisiklette ve paraşütte gözle; neden bir hız sınırı olduğunu kuvvetlerle anla. Bu basamakta hesap yok denecek kadar az.</a:t>
            </a:r>
            <a:endParaRPr lang="en-US" sz="14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yağmur neden canımızı yakmaz?</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Hava direnci: hıza bağlı bir kuvvet</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Neden bir hız sınırı var?</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limit-hiz-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Yağmur damlaları kilometrelerce yüksekten düşer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ama yere saniyede birkaç metrelik bir hızla değer. Hava direnci olmasaydı yaklaşık 200 m/s ile çarparlardı. Su birikintilerindeki küçük halkalar bu yumuşak inişin izidir: her damla düşüşünün neredeyse tamamını sabit bir hızla, limit hızıyla tamamlar.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 damlaları bulutlardan, yani yaklaşık 2 km yüksekten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konusundaki hesap, hava olmasaydı bu damlaların yere saatte 700 kilometreyi aşan bir hızla çarpacağını söyler.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yağmurun altında yürümek zararsızdır; damlalar yüzüne hafifçe dokunur.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Demek ki düşerken bir şey onları frenliyor ve bu frenleme, hızları belli bir değere ulaştıktan sonra daha fazla hızlanmalarına izin vermiyor.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3128281" y="1234440"/>
            <a:ext cx="593513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1.png">    </p:cNvPr>
          <p:cNvPicPr>
            <a:picLocks noChangeAspect="1"/>
          </p:cNvPicPr>
          <p:nvPr/>
        </p:nvPicPr>
        <p:blipFill>
          <a:blip r:embed="rId1"/>
          <a:stretch>
            <a:fillRect/>
          </a:stretch>
        </p:blipFill>
        <p:spPr>
          <a:xfrm>
            <a:off x="3356881" y="1325880"/>
            <a:ext cx="547793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damlanın eşit zaman aralıklarıyla çekilmiş iki strobosunu düşün.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Hava olmasaydı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görüntüler arası hep açılırdı: damla hiç durmadan hızlanır ve yere yaklaşık 200 m/s ile çarpardı.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Havada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aralıklar kısa sürede eşitlenir; eşit aralık, damlanın artık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sabit hızla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düştüğünü gösterir.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direncini gündelik hayatta kendin de hissedebilirsin: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Bisiklette: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hızlandıkça yüzüne çarpan rüzgâr sertleşir; düz yolda bile hızı artırmak giderek zorlaşır.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Şemsiyeyle: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rüzgârlı havada açık şemsiye seni geriye çeker; kapatınca bu etki hemen küçülür.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Kâğıtla: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açık bir kâğıt yaprağı salınarak yavaşça iner; aynı kâğıdı buruşturunca çok daha hızlı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Tüyle: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kuş tüyü neredeyse süzülür; havası boşaltılmış bir tüpte ise bilyeyle aynı anda düşer.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Paraşütle: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kapalıyken hızla düşen paraşütçü, paraşüt açılınca yavaşça süzülür.</a:t>
            </a:r>
            <a:endParaRPr lang="en-US" sz="2100" dirty="0"/>
          </a:p>
        </p:txBody>
      </p:sp>
      <p:sp>
        <p:nvSpPr>
          <p:cNvPr id="7" name="Text 5"/>
          <p:cNvSpPr txBox="1"/>
          <p:nvPr/>
        </p:nvSpPr>
        <p:spPr>
          <a:xfrm>
            <a:off x="640080" y="23545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gözlemlerin hepsinde aynı iki düzen var: frenleyen etki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 arttıkça büyüyor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cismin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şekline, genişliğine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bağlı.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Kütlesi değişmeyen kâğıdın buruşturulunca hızlanması, işin sırrının ağırlıktan çok biçimde olduğunu söylüyor.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Havada hareket eden her cisim, hızı arttıkça büyüyen bir frenleyici etkiyle karşılaşır. Bu etki cismin şekline ve genişliğine bağlıdır; yağmur damlasını da paraşütçüyü de bu etki frenler.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Düz bir yolda pedal çevirirken, hızlandıkça neden aynı hızı korumak bile giderek zorlaşır?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yağmur neden canımızı yakmaz?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Düz bir yolda pedal çevirirken, hızlandıkça neden aynı hızı korumak bile giderek zorlaşır?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cisim havada ilerlerken önündeki hava moleküllerini itmek zorundadır.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itmenin tepkisi, harekete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zıt yönde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kuvvet olarak cisme geri döner: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hava direnci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(sürükleme kuvveti).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kalabalık bir koridorda koşmaya benzetebilirsin.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 kadar hızlı koşarsan her saniye o kadar çok kişiye çarparsın ve her çarpma da o kadar sert olur; iki etki birlikte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için de aynısı geçerlidir: hız iki katına çıkınca cisim saniyede iki kat daha çok havayı iter ve bu havayı iki kat daha hızlı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 kat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dirençtir.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Sürtünmeden en önemli farkı şudur: kinetik sürtünme kuvveti hızdan (yaklaşık olarak) bağımsızken, hava direnci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 büyüdükçe hızla büyür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direncini belirleyen dört etken vardır: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 2 katına çıkınca direnç yaklaşık 4, 3 katına çıkınca 9 katına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Kesit alanı: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harekete dik yüzey genişledikçe itilen hava artar.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Şekil: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sivri ve akıcı biçimli cisimler havayı kolay yarar, düz bir levha zor yarar.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Havanın yoğunluğu: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yükseğe çıkıldıkça hava seyrelir ve direnç azalır.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Kütle burada yok.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Direnç kuvveti cismin kütlesine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şekline, alanına ve hızına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bağlıdır. Kütlenin rolü, bu direncin hangi hızda ağırlığı dengeleyeceğini belirlemektir.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2.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Hava direnci sabit bir kuvvet değildir;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hızın 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büyür. Hızı iki katına çıkarmak direnci dört katına, üç katına çıkarmak dokuz katına çıkarır. İşte bu hızlı büyüme, düşen bir cismin er geç ağırlığına eşit bir dirençle karşılaşmasını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kaçınılmaz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kılar.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Hava direnci, cismin önündeki havayı itmesinin tepkisidir ve harekete zıt yöndedir. Hızla, alanla, şekille ve havanın yoğunluğuyla büyür, kütleye bağlı değildir; hız 2 katına çıkınca direnç 4 katına çıkar.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2476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bırakıldığı anda hızı sıfırdır, dolayısıyla direnç de sıfırdır: tek kuvvet ağırlıktır ve ivme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büyüdükçe direnç büyür, net kuvvet küçülür, ivme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noktada direnç ağırlığa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olarak eşitlenir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 andan itibaren net kuvvet sıfırdır.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1. yasası gereği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hızla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düşmeye devam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sabit hıza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limit hız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(terminal hız)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308209"/>
                <a:gridCol w="2518047"/>
                <a:gridCol w="4616419"/>
                <a:gridCol w="146886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Direnç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Net kuvvet ve 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Bırakma 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Net kuvvet m·g, ivme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Ara evre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&lt; Fd &lt;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İkisi de azalıyor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Limit 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İkisi de sıfır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Sabit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şeyi düz yolda gaza sabit basan bir arabada da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Motorun itmesi değişmez, ama araba hızlandıkça hava direnci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hızda direnç itmeye eşitlenir ve araba o hızda sabitlenir; motor itmeye devam eder, ama itme artık direnci ancak karşılar.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Düşen cisimde motorun yerini ağırlık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Önemli olan şu: dengeye ulaşmak için cismin hiçbir şey yapması gerekmez.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Direnç hızla büyüdüğü için, yeterince uzun düşen her cisim er geç bu dengeye kendiliğinden gelir.</a:t>
            </a:r>
            <a:endParaRPr lang="en-US" sz="2200" dirty="0"/>
          </a:p>
        </p:txBody>
      </p:sp>
      <p:sp>
        <p:nvSpPr>
          <p:cNvPr id="7" name="Text 5"/>
          <p:cNvSpPr txBox="1"/>
          <p:nvPr/>
        </p:nvSpPr>
        <p:spPr>
          <a:xfrm>
            <a:off x="640080" y="2389632"/>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laboratuvarında kuvvet oklarını açıp cismi bıraktığında direnç okunun büyüyüp ağırlık okuna eşitlendiğini, ivme göstergesinin de sıfıra indiğini görürsün.</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559157" y="1234440"/>
            <a:ext cx="90733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3.png">    </p:cNvPr>
          <p:cNvPicPr>
            <a:picLocks noChangeAspect="1"/>
          </p:cNvPicPr>
          <p:nvPr/>
        </p:nvPicPr>
        <p:blipFill>
          <a:blip r:embed="rId1"/>
          <a:stretch>
            <a:fillRect/>
          </a:stretch>
        </p:blipFill>
        <p:spPr>
          <a:xfrm>
            <a:off x="1787757" y="1325880"/>
            <a:ext cx="86161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Ağırlık hiç değişmez (sarı çubuk hep aynı). Cisim hızlandıkça direnç (mavi çubuk) büyür ve aradaki fark — yani net kuvvet — küçülür. Net kuvvet küçüldükçe ivme de küçülür, hız daha yavaş artar. Dördüncü karede iki çubuk eşitlenir: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net kuvvet sıfır, ivme sıfır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Cisim durmaz; sabit hızla düşmeye devam eder.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Düşen cisimde ağırlık sabittir, direnç hızla büyür. Direnç ağırlığa eşitlenince net kuvvet ve ivme sıfırlanır; cisim durmaz, limit hız denen sabit hızla düşmeye devam eder.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Limit hıza ulaşan bir cismin ivmesi sıfırsa, cisim neden durmuyor da düşmeye devam ediyor?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Neden bir hız sınırı var?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Limit hıza ulaşan bir cismin ivmesi sıfırsa, cisim neden durmuyor da düşmeye devam ediyor?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İvmenin sıfır olması hızın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değişmediği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direnci ve limit hızı formüle dök, doyan v–t eğrisini oku, gerçek cisimlerin sayılarıyla karşılaştır.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Hava direncinin bağıntısı: F = k·v²</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Limit hız bağıntısı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v – t grafiği: doyan eğri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Sayılarla hisset: kim, hangi hızla, ne kadar sürede?</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Fd = k · v²</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m·g = k · vl²</a:t>
            </a:r>
            <a:endParaRPr lang="en-US" sz="1500" dirty="0"/>
          </a:p>
        </p:txBody>
      </p:sp>
      <p:sp>
        <p:nvSpPr>
          <p:cNvPr id="16" name="Text 14"/>
          <p:cNvSpPr txBox="1"/>
          <p:nvPr/>
        </p:nvSpPr>
        <p:spPr>
          <a:xfrm>
            <a:off x="8311896" y="235000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vl = √(m·g / k)</a:t>
            </a:r>
            <a:endParaRPr lang="en-US" sz="1500" dirty="0"/>
          </a:p>
        </p:txBody>
      </p:sp>
      <p:sp>
        <p:nvSpPr>
          <p:cNvPr id="19" name="Text 17"/>
          <p:cNvSpPr txBox="1"/>
          <p:nvPr/>
        </p:nvSpPr>
        <p:spPr>
          <a:xfrm>
            <a:off x="8549640" y="321868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k = ½·ρ·C·A</a:t>
            </a:r>
            <a:endParaRPr lang="en-US" sz="1500" dirty="0"/>
          </a:p>
        </p:txBody>
      </p:sp>
      <p:sp>
        <p:nvSpPr>
          <p:cNvPr id="22" name="Text 20"/>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hızlarda iyi çalışan model şudur:</a:t>
            </a:r>
            <a:endParaRPr lang="en-US" sz="2200" dirty="0"/>
          </a:p>
        </p:txBody>
      </p:sp>
      <p:sp>
        <p:nvSpPr>
          <p:cNvPr id="7" name="Shape 5"/>
          <p:cNvSpPr/>
          <p:nvPr/>
        </p:nvSpPr>
        <p:spPr>
          <a:xfrm>
            <a:off x="640080" y="2004060"/>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Fd = k · v²</a:t>
            </a:r>
            <a:endParaRPr lang="en-US" sz="1800" dirty="0"/>
          </a:p>
        </p:txBody>
      </p:sp>
      <p:sp>
        <p:nvSpPr>
          <p:cNvPr id="9" name="Shape 7"/>
          <p:cNvSpPr/>
          <p:nvPr/>
        </p:nvSpPr>
        <p:spPr>
          <a:xfrm>
            <a:off x="2863901" y="2004060"/>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200406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 = ½ · ρ · C · 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hava direnci (sürükleme kuvveti); harekete zıt yöndedir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direnç katsayısı: havayı, cismin biçimini ve alanını tek sayıda toplar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o anki hızı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havanın yoğunluğu (okunuşu “ro”; deniz seviyesinde yaklaşık 1,2)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kg/m³</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sürükleme katsayısı: cismin şekline bağlı, birimsiz bir sayı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kesit alanı: cisme hareket yönünden bakınca görünen yüzey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havanın yoğunluğu (deniz seviyesinde ≈ 1,2 kg/m³)</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sürükleme katsayısı — cismin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şekline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bağlı (küre ≈ 0,5; düz levha ≈ 1,2)</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harekete dik kesit alanı</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v² nereden geliyor?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Süpürülen hava: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Δt sürede v·Δt yol alır ve önündeki A·v·Δt hacmindeki havayı iter.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Bu havanın kütlesi: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ρ·A·v·Δt; hız iki katına çıkınca iki kat hava itilir.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Havaya verilen 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itilen hava yaklaşık v mertebesinde hızlanır; hız iki katına çıkınca bu da iki katına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Newton'un ikinci yasası: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saniye ρ·A·v kütlesindeki hava yaklaşık v kadar hızlandırılıyorsa gereken kuvvet ρ·A·v² mertebesindedir.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çarpanın ikisi de v'den geldiği için direnç v² ile büyür. ½ ve C çarpanları, havanın cismin çevresinden nasıl aktığını hesaba katar; bu akışı cismin biçimi belirlediği için C'ye şekil katsayısı da denebilir.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Shape 4"/>
          <p:cNvSpPr/>
          <p:nvPr/>
        </p:nvSpPr>
        <p:spPr>
          <a:xfrm>
            <a:off x="2453948" y="1234440"/>
            <a:ext cx="728380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4.png">    </p:cNvPr>
          <p:cNvPicPr>
            <a:picLocks noChangeAspect="1"/>
          </p:cNvPicPr>
          <p:nvPr/>
        </p:nvPicPr>
        <p:blipFill>
          <a:blip r:embed="rId1"/>
          <a:stretch>
            <a:fillRect/>
          </a:stretch>
        </p:blipFill>
        <p:spPr>
          <a:xfrm>
            <a:off x="2682548" y="1325880"/>
            <a:ext cx="682660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Cisim Δt sürede v·Δt yol alır ve önündeki bu hava bölümünü iter. Hızı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çıkarınca iki kat uzun bir bölümü, yani 2 kat havayı iter; üstelik bu havaya 2 kat hız verir. İki çarpan birleşince direnç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 · 2 = 4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 F</a:t>
            </a:r>
            <a:pPr algn="ctr" indent="0" marL="0">
              <a:lnSpc>
                <a:spcPct val="115000"/>
              </a:lnSpc>
              <a:buNone/>
            </a:pPr>
            <a:r>
              <a:rPr lang="en-US" sz="1350" baseline="-40000" dirty="0">
                <a:solidFill>
                  <a:srgbClr val="4A5470"/>
                </a:solidFill>
                <a:latin typeface="Calibri" pitchFamily="34" charset="0"/>
                <a:ea typeface="Calibri" pitchFamily="34" charset="-122"/>
                <a:cs typeface="Calibri" pitchFamily="34" charset="-120"/>
              </a:rPr>
              <a:t>d</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'nin v² ile büyümesi buradan gelir.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 = ½·ρ·C·A için (kg/m³)·m² = kg/m çıkar. k·v² için (kg/m)·(m²/s²) = kg·m/s² = N ✓. Çözümlü örneklerdeki k değerleri bu yüzden kg/m ile yazılır.</a:t>
            </a:r>
            <a:endParaRPr lang="en-US" sz="1800" dirty="0"/>
          </a:p>
        </p:txBody>
      </p:sp>
      <p:sp>
        <p:nvSpPr>
          <p:cNvPr id="9" name="Text 7"/>
          <p:cNvSpPr txBox="1"/>
          <p:nvPr/>
        </p:nvSpPr>
        <p:spPr>
          <a:xfrm>
            <a:off x="640080" y="2542032"/>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bağıntı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modeldir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yağmur damlasından paraşütçüye kadar gündelik boyuttaki cisimlerde çok iyi çalışır.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Sınırlarına üçüncü basamakta döneceğiz.</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Duman çizgileri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bisikletçinin önündeki havanın nasıl itilip gövdenin çevresinden dolaştığını ve arkasında nasıl girdaplara dönüştüğünü görünür kılar. Öne eğilmek, önden görünen alanı (A) küçültür; akıcı kask ve dar giysi de havanın gövdeyi kolay sarmasını sağlayıp sürükleme katsayısını (C) düşürür. İkisi birlikte k'yi, dolayısıyla aynı hızdaki hava direncini azaltır.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Günlük hızlarda hava direnci F</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d</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 = k·v²'dir; k = ½·ρ·C·A havanın yoğunluğunu, cismin şeklini ve kesit alanını bir araya toplar. v² çarpanı, hem itilen hava miktarının hem de ona verilen hızın v ile büyümesinden gelir.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 yönü pozitif alalım.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Düşen cisme iki kuvvet etki eder: aşağı yönlü ağırlık ve yukarı yönlü direnç.</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Net kuvvet ve denge koşulu şöyle yazılır:</a:t>
            </a:r>
            <a:endParaRPr lang="en-US" sz="2200" dirty="0"/>
          </a:p>
        </p:txBody>
      </p:sp>
      <p:sp>
        <p:nvSpPr>
          <p:cNvPr id="7" name="Shape 5"/>
          <p:cNvSpPr/>
          <p:nvPr/>
        </p:nvSpPr>
        <p:spPr>
          <a:xfrm>
            <a:off x="640080" y="3343656"/>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343656"/>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 = m·g − k·v²</a:t>
            </a:r>
            <a:endParaRPr lang="en-US" sz="1800" dirty="0"/>
          </a:p>
        </p:txBody>
      </p:sp>
      <p:sp>
        <p:nvSpPr>
          <p:cNvPr id="9" name="Shape 7"/>
          <p:cNvSpPr/>
          <p:nvPr/>
        </p:nvSpPr>
        <p:spPr>
          <a:xfrm>
            <a:off x="3419856" y="3343656"/>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343656"/>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m·g = k·vl² → a = 0</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Denge koşulundan limit hızı adım adım çekelim:</a:t>
            </a:r>
            <a:endParaRPr lang="en-US" sz="2200" dirty="0"/>
          </a:p>
        </p:txBody>
      </p:sp>
      <p:sp>
        <p:nvSpPr>
          <p:cNvPr id="7" name="Text 5"/>
          <p:cNvSpPr txBox="1"/>
          <p:nvPr/>
        </p:nvSpPr>
        <p:spPr>
          <a:xfrm>
            <a:off x="640080" y="2004060"/>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Denge: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limit hızda a = 0, yani m·g − k·v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0.</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Düzenle: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m·g, buradan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m·g / k.</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Karekök 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√(m·g / k).</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k'yi aç: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 = ½·ρ·C·A yazınca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√(2·m·g / (ρ·C·A)).</a:t>
            </a:r>
            <a:endParaRPr lang="en-US" sz="2100" dirty="0"/>
          </a:p>
        </p:txBody>
      </p:sp>
      <p:sp>
        <p:nvSpPr>
          <p:cNvPr id="8" name="Shape 6"/>
          <p:cNvSpPr/>
          <p:nvPr/>
        </p:nvSpPr>
        <p:spPr>
          <a:xfrm>
            <a:off x="640080" y="4043172"/>
            <a:ext cx="2633472"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04317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vl = √(m·g / k)</a:t>
            </a:r>
            <a:endParaRPr lang="en-US" sz="1800" dirty="0"/>
          </a:p>
        </p:txBody>
      </p:sp>
      <p:sp>
        <p:nvSpPr>
          <p:cNvPr id="10" name="Shape 8"/>
          <p:cNvSpPr/>
          <p:nvPr/>
        </p:nvSpPr>
        <p:spPr>
          <a:xfrm>
            <a:off x="3419856" y="4043172"/>
            <a:ext cx="3745382"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3419856" y="4043172"/>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vl = √(2·m·g / (ρ·C·A))</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Bağıntıdan üç sonuç doğrudan okunur: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Kütle artarsa limit hız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ama karekökle: kütle 4 katına çıkarsa hız 2 katına.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 artarsa limit hız azalır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yine karekökle: alan 4 katına çıkarsa hız yarıya.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Belirleyici olan m/A oranıdır.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kütleli iki cisimden yüzeyi geniş olan daha yavaş iner.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Yükseklik de etkiler: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ρ yukarıda küçüldüğü için aynı cismin limit hızı yüksek irtifada daha büyüktür. Serbest düşüş rekorları bu yüzden stratosferden yapılır.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5.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Limit hız iki şeye bağlıdır ve ikisine 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karekökle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kütle dört katına çıkarsa limit hız yalnızca iki katına çıkar, alan dört katına çıkarsa hız yarıya iner. Belirleyici olan tek başına kütle ya da alan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m/A oranıdır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bu yüzden aynı kâğıdın buruşturulmuşu açık hâlinden çok daha hızlı iner.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04</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bölümünde kütleyi ve alanı ayrı ayrı değiştirerek bu iki karekök eğrisinin üzerinde gezinebilirsin.</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bölümdeki kâğıt deneyi ise kütleye hiç dokunmadan yalnızca alanı değiştirir: buruşturulan kâğıdın limit hızı açık kâğıdınkinin yaklaşık 7 katına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Limit hız, m·g = k·v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² dengesinden 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√(m·g/k) olarak çıkar. Kütle 4 katına çıkınca limit hız 2 katına çıkar, alan 4 katına çıkınca yarıya iner; belirleyici olan m/A oranıdır.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boyda bir tahta bilye ile bir demir bilyeden hangisinin limit hızı daha büyüktür?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Limit hız bağıntısı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boyda bir tahta bilye ile bir demir bilyeden hangisinin limit hızı daha büyüktür?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Demir bilyenin.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Şekil ve alan aynı olduğu için k de aynıdır; fark yalnızca kütlededir. Demir bilye tahtadan 10 kat ağırsa limit hızı √10 ≈ 3 kat büyüktür. Kütle limit hızı artırır, ama karekökle.</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yokken v – t grafiği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eğimi g olan bir doğrudur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varken eğri başlangıçta bu doğruya teğettir, sonra eğimi azalır ve limit hıza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asimptotik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olarak, yani giderek yaklaşıp hiç tam ulaşmadan yaklaşır.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eğrinin bağıntısı şudur:</a:t>
            </a:r>
            <a:endParaRPr lang="en-US" sz="2200" dirty="0"/>
          </a:p>
        </p:txBody>
      </p:sp>
      <p:sp>
        <p:nvSpPr>
          <p:cNvPr id="7" name="Shape 5"/>
          <p:cNvSpPr/>
          <p:nvPr/>
        </p:nvSpPr>
        <p:spPr>
          <a:xfrm>
            <a:off x="640080" y="3729228"/>
            <a:ext cx="416234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v(t) = vl · tanh(g·t / vl)</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Buradaki tanh (hiperbolik tanjant) fonksiyonunu ayrıntılı tanıman gerekmez; grafiği okumak için üç özelliğini bilmen yeter:</a:t>
            </a:r>
            <a:endParaRPr lang="en-US" sz="2200" dirty="0"/>
          </a:p>
        </p:txBody>
      </p:sp>
      <p:sp>
        <p:nvSpPr>
          <p:cNvPr id="7" name="Text 5"/>
          <p:cNvSpPr txBox="1"/>
          <p:nvPr/>
        </p:nvSpPr>
        <p:spPr>
          <a:xfrm>
            <a:off x="640080" y="2389632"/>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Sıfırda sıfırdır: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 0'da v = 0; cisim durgun bırakılmıştır.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Başta doğru gibi davranır: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küçük t için v ≈ g·t; ilk anlarda cisim neredeyse serbest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1'e yaklaşır ama ulaşmaz: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tanh(1,83) ≈ 0,95 ve tanh(2,65) ≈ 0,99; v,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'ye hiç tam ulaşmaz.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limit hıza matematiksel olarak hiçbir zaman tam ulaşmaz; ama pratikte kısa sürede %95'ine oturur.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süre üçüncü maddeden çıkar: g·t/v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1,83 olduğunda v = 0,95·v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p:txBody>
      </p:sp>
      <p:sp>
        <p:nvSpPr>
          <p:cNvPr id="7" name="Shape 5"/>
          <p:cNvSpPr/>
          <p:nvPr/>
        </p:nvSpPr>
        <p:spPr>
          <a:xfrm>
            <a:off x="640080" y="2866644"/>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t%95 ≈ 1,83 · vl / g</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6337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Limit hızı küçük olan cisim dengeye çabuk, büyük olan geç oturur: yağmur damlası 2 saniyeden kısa, kolları açık paraşütçü yaklaşık 10 saniyede. a – t grafiği ise g'den başlayıp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sıfıra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iner: ivmenin sıfırlanması, hızın sabitlenmesi demektir.</a:t>
            </a:r>
            <a:endParaRPr lang="en-US" sz="2200" dirty="0"/>
          </a:p>
        </p:txBody>
      </p:sp>
      <p:sp>
        <p:nvSpPr>
          <p:cNvPr id="7" name="Shape 5"/>
          <p:cNvSpPr/>
          <p:nvPr/>
        </p:nvSpPr>
        <p:spPr>
          <a:xfrm>
            <a:off x="640080" y="316077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325368"/>
            <a:ext cx="54864" cy="704088"/>
          </a:xfrm>
          <a:prstGeom prst="rect">
            <a:avLst/>
          </a:prstGeom>
          <a:solidFill>
            <a:srgbClr val="A56209"/>
          </a:solidFill>
          <a:ln/>
        </p:spPr>
      </p:sp>
      <p:sp>
        <p:nvSpPr>
          <p:cNvPr id="9" name="Text 7"/>
          <p:cNvSpPr txBox="1"/>
          <p:nvPr/>
        </p:nvSpPr>
        <p:spPr>
          <a:xfrm>
            <a:off x="950976" y="328879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Limit hızda hız sıfır değildir!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Sıfır olan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ivmedir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Cisim hâlâ (hem de hızla) düşmektedir; yalnızca artık hızlanmamaktadır.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6.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Eğrinin her noktasındaki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 o andaki ivmedir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Başlangıçta eğim tam olarak g'dir — ilk anda hız sıfır olduğu için direnç de sıfırdır. Hız büyüdükçe eğim azalır ve eğri, limit hız doğrusuna hiç değmeden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sonsuza kadar yaklaşır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Pratikte cisim birkaç saniyede limit hızın %99'una ulaşır.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Havada düşen cismin v – t eğrisi eğimi g olan bir doğru gibi başlar, sonra doyarak limit hıza yaklaşır: v = 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·tanh(g·t/v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Limitin %95'ine varma süresi yaklaşık 1,83·v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Doyan v – t eğrisinde eğim hangi anda en büyüktür ve o anki değeri nedir?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v – t grafiği: doyan eğri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Doyan v – t eğrisinde eğim hangi anda en büyüktür ve o anki değeri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Bırakma anında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en büyüktür ve tam olarak g'dir. O anda hız sıfır olduğu için direnç de sıfırdır; cisim yalnızca ağırlığın etkisindedir. Sonra direnç büyüdükçe eğim, yani ivme, azalır ve limit hızda sıfıra iner.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yerçekimi, aynı hava; ama en yavaşla en hızlı arasında yaklaşık on bin kat fark var.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Tipik değerler: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594331"/>
                <a:gridCol w="1722874"/>
                <a:gridCol w="459433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Limit 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Neden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Sis damlacığı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0,01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çok küçük 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Yağmur damlası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9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küçük kütle, küresel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Tenis topu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orta 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Paraşütçü: kol-bacak açık / dalış pozisyonu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55 / ≈ 90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büyük kütle, orta alan / alan iyice küçülür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Açık paraşüt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alan onlarca kat büyür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7.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yerçekimi, aynı hava — ama limit hızlar arasında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yaklaşık on bin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fark var. Farkı yapan tek şey m/A oranı: sis damlacığı neredeyse asılı kalır, kollarını yanına toplayan bir paraşütçü ise 90 m/s'ye çıkar. Paraşütü açmak, aynı insanın limit hızını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bire bölmeye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yeter.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Limit hıza ne kadar sürede ve ne kadar yol düştükten sonra oturulur?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laboratuvarı bunu "Limitin %95'ine" ve "O ana kadar düşülen" satırlarında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modelle (g = 9,81 m/s², durgun bırakılan cisim) yuvarlanmış değerler: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637178"/>
                <a:gridCol w="1259023"/>
                <a:gridCol w="2797830"/>
                <a:gridCol w="3217504"/>
              </a:tblGrid>
              <a:tr h="690372">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Limit 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%95'ine varma süresi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 ana kadar düşülen yol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Yağmur damlası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1,7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Tenis topu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4,7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Paraşütçü (kol-bacak açık)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Paraşütçü (dalış)</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16,8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960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Tablolardan okunan düzen:</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Süre limit hızla doğru orantılıdır: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limit hızı 10 kat büyük olan dalıştaki paraşütçü, dengeye yağmur damlasından 10 kat geç oturur.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 limit hızın karesiyle büyür: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yağmur damlası ilk 10 m'de, paraşütçü ancak ilk 360 m'de limitine oturur.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Yağmur damlası neredeyse hep sabit hızlıdır: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 km'lik düşüşün yalnızca ilk 10 metresi hızlanmayla geçer.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karşılaştırma: hava direnci olmasaydı 2 km'den düşen damla yere yaklaşık 198 m/s ile çarpardı.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hızı bunun yaklaşık yirmide biridir.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Limit hızlar sis damlacığında 0,01 m/s'den dalıştaki paraşütçüde 90 m/s'ye kadar uzanır. Limite oturma süresi v</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 ile, bu sırada düşülen yol v</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² ile büyür: yağmur damlası ilk 10 m'de dengeye gelir.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serbest düşme modeli nerede yetmez, paraşüt nasıl çalışır ve limit hız gerçek hayatta nerede karşımıza çıkar?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Serbest düşmeden farkı: model ne zaman yeter?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Paraşüt ve ölçek etkisi</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Limit hız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limit-hiz-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Açık paraşütle limit hız saniyede birkaç metreye iner.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546025"/>
                <a:gridCol w="3819037"/>
                <a:gridCol w="4546473"/>
              </a:tblGrid>
              <a:tr h="418338">
                <a:tc>
                  <a:txBody>
                    <a:bodyPr/>
                    <a:lstStyle/>
                    <a:p>
                      <a:pPr indent="0" marL="0">
                        <a:buNone/>
                      </a:pP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Serbest düşme (ideal)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Gerçek düşüş</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Etkiyen kuvvet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Yalnızca ağırlık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Ağırlık + hava direnci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İvme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Sabit,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g'den başlar, sıfıra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Sınırsız artar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Limit hızda sabitlenir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Kütlenin rolü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Yok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Var (m/A oranı)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hava direncinin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ihmal edilebildiği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durumların modelidir: kısa mesafe, yoğun ve küçük cisim, düşük hız.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Uzun süreli düşüşlerde ya da hafif ve geniş cisimlerde bu model geçersizleşir.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Önceki bölümdeki tablo bunun için kaba bir ölçüt de verir: cisim limitine, 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²/g mertebesinde bir yol düştükten sonra oturur.</a:t>
            </a:r>
            <a:endParaRPr lang="en-US" sz="2200" dirty="0"/>
          </a:p>
        </p:txBody>
      </p:sp>
      <p:sp>
        <p:nvSpPr>
          <p:cNvPr id="7" name="Shape 5"/>
          <p:cNvSpPr/>
          <p:nvPr/>
        </p:nvSpPr>
        <p:spPr>
          <a:xfrm>
            <a:off x="640080" y="4114800"/>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14800"/>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vl²/g → serbest düşme</a:t>
            </a:r>
            <a:endParaRPr lang="en-US" sz="1800" dirty="0"/>
          </a:p>
        </p:txBody>
      </p:sp>
      <p:sp>
        <p:nvSpPr>
          <p:cNvPr id="9" name="Shape 7"/>
          <p:cNvSpPr/>
          <p:nvPr/>
        </p:nvSpPr>
        <p:spPr>
          <a:xfrm>
            <a:off x="4809744" y="4114800"/>
            <a:ext cx="3467405"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411480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vl²/g → limit hız</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Bilye: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sayfanın 03 numaralı bölümündeki bilyenin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44 m/s,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²/g ≈ 200 m; 1 m'lik düşüşte direnç ihmal edilebilir.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Yağmur damlası: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²/g ≈ 8 m; 2 km'lik düşüşte serbest düşme tamamen yanlış sonuç verir.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Paraşütçü: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²/g ≈ 300 m; ilk birkaç saniye serbest düşmeye yakındır, sonrası limit hızdır.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1096144" y="1234440"/>
            <a:ext cx="999940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8.png">    </p:cNvPr>
          <p:cNvPicPr>
            <a:picLocks noChangeAspect="1"/>
          </p:cNvPicPr>
          <p:nvPr/>
        </p:nvPicPr>
        <p:blipFill>
          <a:blip r:embed="rId1"/>
          <a:stretch>
            <a:fillRect/>
          </a:stretch>
        </p:blipFill>
        <p:spPr>
          <a:xfrm>
            <a:off x="1324744" y="1325880"/>
            <a:ext cx="954220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Vakumda ivme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değişmez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 sınırsız artar ve kütlenin hiçbir rolü yoktur. Havada ise ivme g'den başlayıp sıfıra iner, hız bir değerde sabitlenir ve artık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kütle ile alan işin içine girer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Serbest düşme, hava direncinin ihmal edilebildiği özel bir durumdur — kısa mesafelerde ve ağır cisimlerde iyi bir yaklaşımdır.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Yukarı atılan top</a:t>
            </a:r>
            <a:endParaRPr lang="en-US" sz="2200" dirty="0"/>
          </a:p>
        </p:txBody>
      </p:sp>
      <p:sp>
        <p:nvSpPr>
          <p:cNvPr id="8" name="Text 6"/>
          <p:cNvSpPr txBox="1"/>
          <p:nvPr/>
        </p:nvSpPr>
        <p:spPr>
          <a:xfrm>
            <a:off x="640080" y="1892808"/>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atıştaki simetriyi de bozar.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 çıkan topta direnç aşağı yönlüdür ve ağırlığa eklenir; top g'den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ivmeyle yavaşlar.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İnerken direnç yukarı yönlüdür ve ağırlıktan çıkar; top g'den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küçük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ivmeyle hızlanır.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top havasız ortamdakinden daha alçağa çıkar, inişi çıkışından uzun sürer ve atıldığı noktaya v₀'dan küçük bir hızla döner.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bir incelik: çok küçük ve yavaş cisimlerde (sis damlacığı, toz, polen) direnç hızın karesiyle değil, hızın kendisiyle orantılı büyür; F = k·v² modelinin bir sınırı da budur.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Serbest düşme, düşme yüksekliği v</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²/g'nin yanında küçük kaldığında iyi bir yaklaşımdır. Havada yukarı atılan cisimde simetri bozulur: çıkış inişten kısa sürer ve cisim atıldığından küçük bir hızla döner.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 yukarı atılan bir topun tepe noktasındaki ivmesi g'den büyük mü, g'ye eşit mi, g'den küçük mü?</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Serbest düşmeden farkı: model ne zaman yeter?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 yukarı atılan bir topun tepe noktasındaki ivmesi g'den büyük mü, g'ye eşit mi, g'den küçük mü?</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Tam g'ye eşittir.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 noktada hız sıfırdır, dolayısıyla hava direnci de sıfırdır; o an topa yalnızca ağırlık etki eder. Çıkarken ivme g'den büyük, inerken g'den küçüktür; tam tepede, bu iki evrenin arasındaki geçiş anında direnç ortadan kalkar.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Paraşüt, kütleyi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alanı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değiştirir.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Açıldığı anda A onlarca katına çıkar, k büyür ve yeni limit hız çok küçülür:</a:t>
            </a:r>
            <a:endParaRPr lang="en-US" sz="2200" dirty="0"/>
          </a:p>
        </p:txBody>
      </p:sp>
      <p:sp>
        <p:nvSpPr>
          <p:cNvPr id="7" name="Shape 5"/>
          <p:cNvSpPr/>
          <p:nvPr/>
        </p:nvSpPr>
        <p:spPr>
          <a:xfrm>
            <a:off x="640080" y="2866644"/>
            <a:ext cx="3467405"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25A ⇒ vl → vl / 5</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Açılma anında hız hâlâ eski limit hızdadır; direnç birden ağırlığın çok üstüne çıkar ve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yukarı yönlü net kuvvetle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hızla yavaşlar.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Paraşütçünün hissettiği sarsıntı budur.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Birkaç saniye içinde yeni dengeye oturulur.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Yalnızca alan hesaba katılırsa 25 katlık büyüme 55 m/s'lik limit hızı 11 m/s'ye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kubbede şekil de değiştiği için sürükleme katsayısı C büyür ve hız 5 m/s civarına kadar düşer; bu, k'nin toplamda yaklaşık 120 katına çıkması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bölümünde bu iki basamaklı inişi, iki platolu bir v – t grafiği olarak görebilirsin.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09.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Paraşüt açıldığı anda kütle değişmez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alan onlarca kat büyür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Direnç bir anda ağırlığın çok üstüne çıkar, net kuvvet yukarı döner ve atlayıcı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yavaşlar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bu ani frenlemeyi vücudunda hissettiği an budur. Yavaşladıkça direnç küçülür ve hız yeni, çok daha düşük bir limitte dengelenir. Alan ve kubbenin şekli birlikte k'yi yaklaşık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120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çıkarır; hız karekökle, 55 m/s'den 5 m/s'ye, yani on birde birine iner.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mantık canlılar için de geçerlidir: boyut küçüldükçe kütle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uzunluğun küpüyle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alan ise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küçük bir böceğin m/A oranı çok düşüktür; limit hızı o kadar küçüktür ki yüksekten düşmesi onu incitmez.</a:t>
            </a:r>
            <a:endParaRPr lang="en-US" sz="2200" dirty="0"/>
          </a:p>
        </p:txBody>
      </p:sp>
      <p:sp>
        <p:nvSpPr>
          <p:cNvPr id="7" name="Shape 5"/>
          <p:cNvSpPr/>
          <p:nvPr/>
        </p:nvSpPr>
        <p:spPr>
          <a:xfrm>
            <a:off x="640080" y="3252216"/>
            <a:ext cx="1382573"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138257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L³</a:t>
            </a:r>
            <a:endParaRPr lang="en-US" sz="1800" dirty="0"/>
          </a:p>
        </p:txBody>
      </p:sp>
      <p:sp>
        <p:nvSpPr>
          <p:cNvPr id="9" name="Shape 7"/>
          <p:cNvSpPr/>
          <p:nvPr/>
        </p:nvSpPr>
        <p:spPr>
          <a:xfrm>
            <a:off x="2168957" y="3252216"/>
            <a:ext cx="1382573"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168957" y="3252216"/>
            <a:ext cx="138257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L²</a:t>
            </a:r>
            <a:endParaRPr lang="en-US" sz="1800" dirty="0"/>
          </a:p>
        </p:txBody>
      </p:sp>
      <p:sp>
        <p:nvSpPr>
          <p:cNvPr id="11" name="Shape 9"/>
          <p:cNvSpPr/>
          <p:nvPr/>
        </p:nvSpPr>
        <p:spPr>
          <a:xfrm>
            <a:off x="3697834" y="3252216"/>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3697834" y="3252216"/>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m/A ∝ L ⇒ vl ∝ √L</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Boyutları 10 kat küçük bir canlının kütlesi 1000 kat, alanı 100 kat küçüktür; m/A oranı 10 kat düşer, limit hızı √10 ≈ 3 kat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Çarpmadaki kinetik enerji ½·m·v² olduğundan hem kütle hem hız yüzünden yaklaşık on bin kat azalır.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Paraşüt kütleyi değil k'yi büyütür: açıldığı anda direnç ağırlığı aşar, net kuvvet yukarı döner ve paraşütçü yavaşlayarak yeni, küçük limit hıza oturur. Küçük canlıların m/A oranı küçük olduğundan limit hızları da küçüktür.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Paraşüt açılınca, yanında düşen arkadaşının kamerasında paraşütçü neden yukarı fırlıyor gibi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Paraşüt ve ölçek etkisi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Paraşüt açılınca, yanında düşen arkadaşının kamerasında paraşütçü neden yukarı fırlıyor gibi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paraşütçü birden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yavaşlar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Limit hız, havada düşen her şeyin kaderidir.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Mühendisler onu kimi zaman küçültmeye, kimi zaman büyütmeye çalışır; paraşüt bunun en bilinen örneğidir.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Bulutlar neden düşmez?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0,01 m/s ile düşen bir bulut damlacığı 1 km'yi ancak yaklaşık 28 saatte iner; hafif yukarı hava akımları onu kolayca taşır.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Yağmur damlası: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 mm çaplı bir damla yaklaşık 6,5 m/s ile düşer; yaklaşık 5 mm'den iri damlalar düşerken çoğunlukla parçalanır.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Dolu: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5 cm çaplı bir dolu tanesi için basit model yaklaşık 30 m/s (110 km/h) verir; iri dolunun cam kırması bundandır.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Formasyon atlayışı: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el ele düşmek için limit hızlar eşit olmalı; hafif atlayıcılar ağırlık kemeri, ağır olanlar bol tulum kullanabilir.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02311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Stratosfer atlayışları: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30 km'de hava deniz seviyesindekinden yaklaşık 65 kat seyrektir; limit hız yaklaşık 8 kat büyür ve ses hızı aşılabilir.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Otoyolda yakıt: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90 yerine 120 km/h ile gitmek hava direncini (120/90)² ≈ 1,8 katına çıkarır; yüksek hızda motorun yaptığı işin büyük kısmı bu direnci yenmeye harcanır.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örneklerde aynı iki kural iş başındadır: direnç hızın karesiyle büyür ve limit hızı m/A oranı belirler.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Kayakçılar ve bisikletçiler gövdelerini toplayıp akıcı kasklar takarak A ile C'yi küçültür ve hızlanır; paraşüt, uçuşan tohumlar ve bulut damlacıkları ise tam tersini yaparak yavaş iner.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098444" y="1234440"/>
            <a:ext cx="599480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limit-hiz-10.png">    </p:cNvPr>
          <p:cNvPicPr>
            <a:picLocks noChangeAspect="1"/>
          </p:cNvPicPr>
          <p:nvPr/>
        </p:nvPicPr>
        <p:blipFill>
          <a:blip r:embed="rId1"/>
          <a:stretch>
            <a:fillRect/>
          </a:stretch>
        </p:blipFill>
        <p:spPr>
          <a:xfrm>
            <a:off x="3327044" y="1325880"/>
            <a:ext cx="553760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Limit hızda direnç ağırlığa eşittir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 = G</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iki paraşütçünün kuvvet okları aynı boyda. Fark hızda: kapalı paraşütün küçük alanı bu direnci ancak yaklaşık 55 m/s'de üretir. Açık kubbenin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büyük alanı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direnci yaklaşık 5 m/s'de sağlar; paraşüt bu yüzden yavaş ve güvenli iner. Mavi okların boyu hızlarla orantılı.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Limit hız, yağmurun zararsızlığını, bulutların asılı kalmasını ve paraşütle güvenli inişi açıklar. A ile C'yi küçültmek hız kazandırır, büyütmek yavaşlatır; seyrek hava limit hızı büyütür.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limit hız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Limit hızda kuvvetler</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Hızlanan bisikletli</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Aynı kütle, farklı alan</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Direnç katsayısını bulma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Paraşüt açılınca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Bir yağmur damlasının limit hızı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80 kg kütleli bir paraşütçü, paraşütü kapalıyken 50 m/s'lik limit hızıyla düşmektedir. (a) Bu anda hava direnci kaç N'dur? (b) İvmesi nedir?</a:t>
            </a:r>
            <a:endParaRPr lang="en-US" sz="2000" dirty="0"/>
          </a:p>
        </p:txBody>
      </p:sp>
      <p:sp>
        <p:nvSpPr>
          <p:cNvPr id="11" name="Shape 9"/>
          <p:cNvSpPr/>
          <p:nvPr/>
        </p:nvSpPr>
        <p:spPr>
          <a:xfrm>
            <a:off x="2066425" y="3121152"/>
            <a:ext cx="8058846"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limit-hiz-11.png">    </p:cNvPr>
          <p:cNvPicPr>
            <a:picLocks noChangeAspect="1"/>
          </p:cNvPicPr>
          <p:nvPr/>
        </p:nvPicPr>
        <p:blipFill>
          <a:blip r:embed="rId1"/>
          <a:stretch>
            <a:fillRect/>
          </a:stretch>
        </p:blipFill>
        <p:spPr>
          <a:xfrm>
            <a:off x="2295025" y="3230880"/>
            <a:ext cx="7601646"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80 kg kütleli bir paraşütçü, paraşütü kapalıyken 50 m/s'lik limit hızıyla düşmektedir. (a) Bu anda hava direnci kaç N'dur? (b) İvmesi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80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vl = 50 m/s (paraşütçü limit hızda düşüyor)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hava direnci Fd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Limit hızda net kuvvet sıfırdır: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m·g = 80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0 olduğu için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 = 0</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'dır.</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 sıfır değildir: cisim 50 m/s ile düşmeye devam eder. Sabit olan hızdır, sıfır olan ivmedir.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bisikletli 5 m/s hızla giderken 8 N'luk hava direnciyle karşılaşıyor. (a) Direnç katsayısı k kaçtır? Hızını (b) 10 m/s'ye, (c) 15 m/s'ye çıkarırsa hava direnci kaç N olur?</a:t>
            </a:r>
            <a:endParaRPr lang="en-US" sz="2000" dirty="0"/>
          </a:p>
        </p:txBody>
      </p:sp>
      <p:sp>
        <p:nvSpPr>
          <p:cNvPr id="11" name="Shape 9"/>
          <p:cNvSpPr/>
          <p:nvPr/>
        </p:nvSpPr>
        <p:spPr>
          <a:xfrm>
            <a:off x="3099334" y="3474720"/>
            <a:ext cx="5993027"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limit-hiz-12.png">    </p:cNvPr>
          <p:cNvPicPr>
            <a:picLocks noChangeAspect="1"/>
          </p:cNvPicPr>
          <p:nvPr/>
        </p:nvPicPr>
        <p:blipFill>
          <a:blip r:embed="rId1"/>
          <a:stretch>
            <a:fillRect/>
          </a:stretch>
        </p:blipFill>
        <p:spPr>
          <a:xfrm>
            <a:off x="3327934" y="3584448"/>
            <a:ext cx="5535827"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bisikletli 5 m/s hızla giderken 8 N'luk hava direnciyle karşılaşıyor. (a) Direnç katsayısı k kaçtır? Hızını (b) 10 m/s'ye, (c) 15 m/s'ye çıkarırsa hava direnci kaç N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5 m/s iken Fd = 8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yeni hızlar 10 m/s ve 15 m/s</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direnç katsayısı 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10 m/s'deki direnç</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15 m/s'deki direnç</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k·v² → k = 8 / 5² = 8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0,32 kg/m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 2 katı → direnç 2² = 4 katı: 4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32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(kontrol: 0,32 · 100 = 32 N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 3 katı → direnç 3² = 9 katı: 9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Hızı üç katına çıkarmak dokuz kat direnç demektir; yarış bisikletçileri gövdelerini öne eğip A'yı bu yüzden küçültür.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Aynı kâğıttan yapılmış açık bir levha ile buruşturulmuş bir top düşünelim. Buruşturunca kesit alanı dokuzda birine iniyorsa limit hız nasıl değişir?</a:t>
            </a:r>
            <a:endParaRPr lang="en-US" sz="2000" dirty="0"/>
          </a:p>
        </p:txBody>
      </p:sp>
      <p:sp>
        <p:nvSpPr>
          <p:cNvPr id="11" name="Shape 9"/>
          <p:cNvSpPr/>
          <p:nvPr/>
        </p:nvSpPr>
        <p:spPr>
          <a:xfrm>
            <a:off x="2439144" y="3121152"/>
            <a:ext cx="731340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limit-hiz-13.png">    </p:cNvPr>
          <p:cNvPicPr>
            <a:picLocks noChangeAspect="1"/>
          </p:cNvPicPr>
          <p:nvPr/>
        </p:nvPicPr>
        <p:blipFill>
          <a:blip r:embed="rId1"/>
          <a:stretch>
            <a:fillRect/>
          </a:stretch>
        </p:blipFill>
        <p:spPr>
          <a:xfrm>
            <a:off x="2667744" y="3230880"/>
            <a:ext cx="685620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Aynı kâğıttan yapılmış açık bir levha ile buruşturulmuş bir top düşünelim. Buruşturunca kesit alanı dokuzda birine iniyorsa limit hız nasıl değişir?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aynı kâğıt, yani m değişmiyor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kesit alanı A → A/9 (dokuzda birine iniyor)</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limit hızın kaç katına çıktığı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değişmedi; yalnızca A küçüldü: A → A/9</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√(2mg / (ρCA)) ∝ 1/√A → A dokuzda birine inince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katına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çıkar.</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yüzden buruşturulmuş kâğıt, açık kâğıttan çok daha hızlı düşer — kütleleri aynı olmasına rağmen.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cismin kütlesi 2 kg, limit hızı 20 m/s ölçülüyor. Direnç F</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k·v² modeliyle veriliyorsa k kaçtır? Hız 10 m/s iken ivme ne olur?</a:t>
            </a:r>
            <a:endParaRPr lang="en-US" sz="2000" dirty="0"/>
          </a:p>
        </p:txBody>
      </p:sp>
      <p:sp>
        <p:nvSpPr>
          <p:cNvPr id="11" name="Shape 9"/>
          <p:cNvSpPr/>
          <p:nvPr/>
        </p:nvSpPr>
        <p:spPr>
          <a:xfrm>
            <a:off x="2799997" y="3121152"/>
            <a:ext cx="6591701"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limit-hiz-14.png">    </p:cNvPr>
          <p:cNvPicPr>
            <a:picLocks noChangeAspect="1"/>
          </p:cNvPicPr>
          <p:nvPr/>
        </p:nvPicPr>
        <p:blipFill>
          <a:blip r:embed="rId1"/>
          <a:stretch>
            <a:fillRect/>
          </a:stretch>
        </p:blipFill>
        <p:spPr>
          <a:xfrm>
            <a:off x="3028597" y="3230880"/>
            <a:ext cx="6134501"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cismin kütlesi 2 kg, limit hızı 20 m/s ölçülüyor. Direnç F</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k·v² modeliyle veriliyorsa k kaçtır? Hız 10 m/s iken ivme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2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vl = 20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Fd = k·v²</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ara hız v = 10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direnç katsayısı 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hız 10 m/s iken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Limit hızda: m·g = k·v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² → 20 = k · 400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k = 0,05 kg/m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10 m/s iken direnç: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0,05 · 100 = 5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20 − 5 = 15 N → a = 15/2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7,5 m/s²</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 limitin yarısındayken ivme hâlâ g'nin dörtte üçü kadardır (direnç v² ile büyür).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Limit hızı 50 m/s olan paraşütçü, paraşütünü açtığında yüzey alanı 25 katına çıkıyor. (a) Yeni limit hız nedir? (b) Açılma anında ivmesi ne olur?</a:t>
            </a:r>
            <a:endParaRPr lang="en-US" sz="2000" dirty="0"/>
          </a:p>
        </p:txBody>
      </p:sp>
      <p:sp>
        <p:nvSpPr>
          <p:cNvPr id="11" name="Shape 9"/>
          <p:cNvSpPr/>
          <p:nvPr/>
        </p:nvSpPr>
        <p:spPr>
          <a:xfrm>
            <a:off x="3047247" y="3121152"/>
            <a:ext cx="6097202"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limit-hiz-15.png">    </p:cNvPr>
          <p:cNvPicPr>
            <a:picLocks noChangeAspect="1"/>
          </p:cNvPicPr>
          <p:nvPr/>
        </p:nvPicPr>
        <p:blipFill>
          <a:blip r:embed="rId1"/>
          <a:stretch>
            <a:fillRect/>
          </a:stretch>
        </p:blipFill>
        <p:spPr>
          <a:xfrm>
            <a:off x="3275847" y="3230880"/>
            <a:ext cx="5640002"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Limit hızı 50 m/s olan paraşütçü, paraşütünü açtığında yüzey alanı 25 katına çıkıyor. (a) Yeni limit hız nedir? (b) Açılma anında ivmesi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vl = 50 m/s (paraşüt kapalıyken)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yeni alan 25·A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açılma anında hız hâlâ 50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yeni limit hız</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açılma anındaki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1/√A olduğundan: 50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Açılma anında hız hâlâ 50 m/s. Yeni k ile direnç: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25 · (eski direnç) = 25 · m·g</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 25mg − mg = 24mg, yukarı yönde → 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(yaklaşık 240 m/s², yukarı)</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yüzden açılma çok sert hissedilir; gerçek paraşütler açılmayı birkaç saniyeye yayarak bu ivmeyi düşürür.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Çapı 2 mm (yarıçapı r = 1 mm) olan küresel bir yağmur damlasının limit hızını bulunuz. (ρ</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1000 kg/m³, ρ</a:t>
            </a:r>
            <a:pPr indent="0" marL="0">
              <a:lnSpc>
                <a:spcPct val="116000"/>
              </a:lnSpc>
              <a:buNone/>
            </a:pPr>
            <a:r>
              <a:rPr lang="en-US" sz="2000" baseline="-40000" dirty="0">
                <a:solidFill>
                  <a:srgbClr val="0E1426"/>
                </a:solidFill>
                <a:latin typeface="Calibri" pitchFamily="34" charset="0"/>
                <a:ea typeface="Calibri" pitchFamily="34" charset="-122"/>
                <a:cs typeface="Calibri" pitchFamily="34" charset="-120"/>
              </a:rPr>
              <a:t>hava</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 1,2 kg/m³, C = 0,5; kürenin hacmi (4/3)·π·r³, kesit alanı π·r²)</a:t>
            </a:r>
            <a:endParaRPr lang="en-US" sz="2000" dirty="0"/>
          </a:p>
        </p:txBody>
      </p:sp>
      <p:sp>
        <p:nvSpPr>
          <p:cNvPr id="11" name="Shape 9"/>
          <p:cNvSpPr/>
          <p:nvPr/>
        </p:nvSpPr>
        <p:spPr>
          <a:xfrm>
            <a:off x="3263426" y="3474720"/>
            <a:ext cx="566484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limit-hiz-16.png">    </p:cNvPr>
          <p:cNvPicPr>
            <a:picLocks noChangeAspect="1"/>
          </p:cNvPicPr>
          <p:nvPr/>
        </p:nvPicPr>
        <p:blipFill>
          <a:blip r:embed="rId1"/>
          <a:stretch>
            <a:fillRect/>
          </a:stretch>
        </p:blipFill>
        <p:spPr>
          <a:xfrm>
            <a:off x="3492026" y="3584448"/>
            <a:ext cx="520764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Çapı 2 mm (yarıçapı r = 1 mm) olan küresel bir yağmur damlasının limit hızını bulunuz. (ρ</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1000 kg/m³, ρ</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hava</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1,2 kg/m³, C = 0,5; kürenin hacmi (4/3)·π·r³, kesit alanı π·r²)</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r = 1 mm = 0,001 m</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ρsu = 1000 kg/m³</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ρhava = 1,2 kg/m³</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C = 0,5</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g = 10 m/s²</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küre: hacim (4/3)·π·r³, kesit alanı π·r²</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damlanın limit hızı vl</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Belirleyici olan m/A oranıdır: m/A = ρ</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·(4/3)·π·r³ / (π·r²) = (4/3)·ρ</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π sadeleşir.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m/A = (4/3) · 1000 · 0,001 ≈ 1,33 kg/m²</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√(2·(m/A)·g / (ρ</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hava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 = √(2 · 1,33 · 10 / (1,2 · 0,5))</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√(26,7 / 0,6) = √44,4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6,7 m/s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m/A yarıçapla doğru orantılı olduğu için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√r: yarıçapı 2 katı olan damlanın limit hızı √2 ≈ 1,4 katı, yani ≈ 9,4 m/s olur.</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Ölçülen değer 2 mm çaplı damla için yaklaşık 6,5 m/s'dir; bu basit model gerçeğe oldukça yakın sonuç verir. İri damlaların 9 m/s civarında düşmesi de bu karekök ilişkisinden gelir.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Direnç katsayısı k = 0,5 kg/m olan bir cisim 6 m/s hızla düşüyor. Cisme etki eden hava direnci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Direnç katsayısı k = 0,5 kg/m olan bir cisim 6 m/s hızla düşüyor. Cisme etki eden hava direnci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d</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k · v² = 0,5 · 6² = 0,5 · 36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18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Kütlesi 2 kg, direnç katsayısı k = 0,2 kg/m olan bir cismin limit hızı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Kütlesi 2 kg, direnç katsayısı k = 0,2 kg/m olan bir cismin limit hızı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g / k) = √(2 · 10 / 0,2) = √100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0,5 kg'lık bir top 10 m/s hızla düşerken ona 1 N'luk hava direnci etki ediyor. Topun o anki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0,5 kg'lık bir top 10 m/s hızla düşerken ona 1 N'luk hava direnci etki ediyor. Topun o anki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Ağırlık m · g = 0,5 · 10 = 5 N (aşağı), direnç 1 N (yukarı). Net kuvvet 5 − 1 = 4 N → a =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net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4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8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aşağı. Top hâlâ hızlanıyor, ama ivmesi g'den küçük.</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boyda ve biçimde iki kutudan dolu olanın kütlesi boş olanın 4 katıdır. Boş kutunun limit hızı 6 m/s ise dolu kutununki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boyda ve biçimde iki kutudan dolu olanın kütlesi boş olanın 4 katıdır. Boş kutunun limit hızı 6 m/s ise dolu kutununki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Boy ve biçim aynı olduğu için k da aynıdır.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g / k) olduğundan limit hız √m ile büyür: kütle 4 katı → hız √4 = 2 katı. Dolu kutu 2 · 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ile düşer.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Paraşütü açık, 80 kg'lık bir paraşütçünün limit hızı 5 m/s'dir. Hızı 10 m/s iken ivmesi kaç m/s²'dir ve hangi yöndedir?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Paraşütü açık, 80 kg'lık bir paraşütçünün limit hızı 5 m/s'dir. Hızı 10 m/s iken ivmesi kaç m/s²'dir ve hangi yöndedir?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Limit hızda k ·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² = m · g → k = 800 / 25 = 32 kg/m. Hız 10 m/s iken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d</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32 · 10² = 3200 N. Net kuvvet 3200 − 800 = 2400 N, yukarı → a = 2400 / 80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m/s², yukarı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Paraşütçü hâlâ aşağı iner, ama hızla yavaşlar.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“Limit hızda hız sıfırdır.”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Sıfır olan ivmedir; hız sabit ve genellikle büyüktür.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“Limit hızda cisme kuvvet etki etmez.”</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İki büyük kuvvet vardır (ağırlık ve direnç);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net</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 sıfırdır.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“Ağır cisim her zaman daha hızlı düşer.”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Belirleyici olan m/A oranıdır; hava direnci yoksa kütle hiç rol oynamaz.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“Hava direnci hızla doğru orantılıdır.”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Günlük hızlarda v² ile artar; hız 2 katına çıkarsa direnç 4 katına çıkar.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“Paraşüt kütleyi azaltır.”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Paraşüt yalnızca alanı büyütür; kütle aynıdır.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“Limit hıza ulaşınca cisim durur.”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Durmaz; sabit hızla düşmeye devam eder ve yere o hızla çarpar.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“Serbest düşme her zaman geçerlidir.”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Serbest düşme, direncin ihmal edildiği bir modeldir.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“Paraşüt açılınca paraşütçü yukarı çıkar.”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Net kuvvet yukarı döner, ama hız hâlâ aşağı yönlüdür; paraşütçü yalnızca yavaşlar.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Direnç </a:t>
            </a:r>
            <a:pPr indent="0" marL="0">
              <a:buNone/>
            </a:pPr>
            <a:r>
              <a:rPr lang="en-US" sz="1500" b="1" dirty="0">
                <a:solidFill>
                  <a:srgbClr val="FFFFFF"/>
                </a:solidFill>
                <a:latin typeface="Calibri" pitchFamily="34" charset="0"/>
                <a:ea typeface="Calibri" pitchFamily="34" charset="-122"/>
                <a:cs typeface="Calibri" pitchFamily="34" charset="-120"/>
              </a:rPr>
              <a:t>hıza bağlı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Dengede </a:t>
            </a:r>
            <a:pPr indent="0" marL="0">
              <a:buNone/>
            </a:pPr>
            <a:r>
              <a:rPr lang="en-US" sz="1500" b="1" dirty="0">
                <a:solidFill>
                  <a:srgbClr val="FFFFFF"/>
                </a:solidFill>
                <a:latin typeface="Calibri" pitchFamily="34" charset="0"/>
                <a:ea typeface="Calibri" pitchFamily="34" charset="-122"/>
                <a:cs typeface="Calibri" pitchFamily="34" charset="-120"/>
              </a:rPr>
              <a:t>a = 0</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Yağmur damlası </a:t>
            </a:r>
            <a:pPr indent="0" marL="0">
              <a:buNone/>
            </a:pPr>
            <a:r>
              <a:rPr lang="en-US" sz="1500" b="1" dirty="0">
                <a:solidFill>
                  <a:srgbClr val="FFFFFF"/>
                </a:solidFill>
                <a:latin typeface="Calibri" pitchFamily="34" charset="0"/>
                <a:ea typeface="Calibri" pitchFamily="34" charset="-122"/>
                <a:cs typeface="Calibri" pitchFamily="34" charset="-120"/>
              </a:rPr>
              <a:t>≈ 9 m/s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Paraşütçü </a:t>
            </a:r>
            <a:pPr indent="0" marL="0">
              <a:buNone/>
            </a:pPr>
            <a:r>
              <a:rPr lang="en-US" sz="1500" b="1" dirty="0">
                <a:solidFill>
                  <a:srgbClr val="FFFFFF"/>
                </a:solidFill>
                <a:latin typeface="Calibri" pitchFamily="34" charset="0"/>
                <a:ea typeface="Calibri" pitchFamily="34" charset="-122"/>
                <a:cs typeface="Calibri" pitchFamily="34" charset="-120"/>
              </a:rPr>
              <a:t>≈ 55 m/s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Fd = k · v²</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m·g = k · vl²</a:t>
            </a:r>
            <a:endParaRPr lang="en-US" sz="1350" dirty="0"/>
          </a:p>
        </p:txBody>
      </p:sp>
      <p:sp>
        <p:nvSpPr>
          <p:cNvPr id="19" name="Text 17"/>
          <p:cNvSpPr txBox="1"/>
          <p:nvPr/>
        </p:nvSpPr>
        <p:spPr>
          <a:xfrm>
            <a:off x="8362188" y="321868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vl = √(m·g / k)</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½·ρ·C·A</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dersler.perinet.org/limit-hiz.html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Düzgün çembersel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Limit hız — Dersler</dc:title>
  <dc:subject>Fizik · Kuvvet ve Hareket</dc:subject>
  <dc:creator>Dersler</dc:creator>
  <cp:lastModifiedBy>Dersler</cp:lastModifiedBy>
  <cp:revision>1</cp:revision>
  <dcterms:created xsi:type="dcterms:W3CDTF">2026-09-30T12:20:56Z</dcterms:created>
  <dcterms:modified xsi:type="dcterms:W3CDTF">2026-09-30T12:20:56Z</dcterms:modified>
</cp:coreProperties>
</file>