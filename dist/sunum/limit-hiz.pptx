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paraşütçü 4 km yüksekten atlar; hava direnci olmasaydı yere 280 m/s ile çarpardı. Oysa açık paraşütle yaklaşık 5 m/s ile, bir bisikletlinin hızıyla iner. Yağmur damlası 2 km düşer, yine de canımızı yakmaz. İkisinin de sebebi aynı: hava direnci hızla birlikte büyür ve bir noktada ağırlığı tam olarak dengeler. O andan sonra hız artmaz — her cismin bir hız sınırı vardır. Anlatım dört basamakta ilerliyor: önce bu sınırı yağmurda ve paraşütte gözleyip nedenini kuvvetlerle anlayacağız, sonra hava direncinin ve limit hızın bağıntılarını çıkarıp v–t grafiğini okuyacağız, ardından serbest düşme modelinin nerede yetersiz kaldığına ve paraşütün nasıl çalıştığına geçeceğiz. En sonda kolaydan zora sıralanmış örneklerle hepsini birlikte kullanacağız.
Kapak görseli: El ele düşmek için aynı hızda düşmek gerekir. Serbest düşüşteki paraşütçüler, atladıktan yaklaşık on saniye sonra 55 m/s civarındaki limit hızlarına oturur. Limit hızları eşit olan dört kişi birbirine göre neredeyse hareketsiz kalır ve halka kurabilir; biri kollarını toplayıp alanını küçültse hemen aşağı doğru ayrılırdı.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paraşütçü 4 km yüksekten atlar; hava direnci olmasaydı yere 280 m/s ile çarpardı. Oysa açık paraşütle yaklaşık 5 m/s ile, bir bisikletlinin hızıyla iner. Yağmur damlası 2 km düşer, yine de canımızı yakmaz. İkisinin de sebebi aynı: hava direnci hızla birlikte büyür ve bir noktada ağırlığı tam olarak dengeler. O andan sonra hız artmaz — her cismin bir hız sınırı vardır. Anlatım dört basamakta ilerliyor: önce bu sınırı yağmurda ve paraşütte gözleyip nedenini kuvvetlerle anlayacağız, sonra hava direncinin ve limit hızın bağıntılarını çıkarıp v–t grafiğini okuyacağız, ardından serbest düşme modelinin nerede yetersiz kaldığına ve paraşütün nasıl çalıştığına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hava direncini yağmurda, bisiklette ve paraşütte gözle; neden bir hız sınırı olduğunu kuvvetlerle anla. Bu basamakta hesap yok denecek kadar az.
   01 Önce gözlemle: yağmur neden canımızı yakmaz?
   02 Hava direnci: hıza bağlı bir kuvvet
   03 Neden bir hız sınırı var?
2. Orta — Bağıntılar: direnci ve limit hızı formüle dök, doyan v–t eğrisini oku, gerçek cisimlerin sayılarıyla karşılaştır.
   04 Hava direncinin bağıntısı: F = k·v²
   05 Limit hız bağıntısı
   06 v – t grafiği: doyan eğri
   07 Sayılarla hisset: kim, hangi hızla, ne kadar sürede?
3. İleri — Derinleşme: serbest düşme modeli nerede yetmez, paraşüt nasıl çalışır ve limit hız gerçek hayatta nerede karşımıza çıkar?
   08 Serbest düşmeden farkı: model ne zaman yeter?
   09 Paraşüt ve ölçek etkisi
   10 Limit hız gerçek dünyada
4. Pekiştir — Kolaydan zora çözümlü örnekler ve limit hız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hava direncini yağmurda, bisiklette ve paraşütte gözle; neden bir hız sınırı olduğunu kuvvetlerle anla. Bu basamakta hesap yok denecek kadar az.
01 Önce gözlemle: yağmur neden canımızı yakmaz?
02 Hava direnci: hıza bağlı bir kuvvet
03 Neden bir hız sınırı var?
Görsel: Yağmur damlaları kilometrelerce yüksekten düşer, ama yere saniyede birkaç metrelik bir hızla değer. Hava direnci olmasaydı yaklaşık 200 m/s ile çarparlardı. Su birikintilerindeki küçük halkalar bu yumuşak inişin izidir: her damla düşüşünün neredeyse tamamını sabit bir hızla, limit hızıyla tamamlar.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Kısaca: Havada hareket eden her cisim, hızı arttıkça büyüyen bir frenleyici etkiyle karşılaşır. Bu etki cismin şekline ve genişliğine bağlıdır; yağmur damlasını da paraşütçüyü de bu etki frenler.
Yağmur damlaları bulutlardan, yani yaklaşık 2 km yüksekten düşer. Serbest düşme konusundaki hesap, hava olmasaydı bu damlaların yere saatte 700 kilometreyi aşan bir hızla çarpacağını söyler. Oysa yağmurun altında yürümek zararsızdır; damlalar yüzüne hafifçe dokunur. Demek ki düşerken bir şey onları frenliyor ve bu frenleme, hızları belli bir değere ulaştıktan sonra daha fazla hızlanmalarına izin vermiyor.
Görsel: Yağmur damlaları kilometrelerce yüksekten düşer, ama yere saniyede birkaç metrelik bir hızla değer. Hava direnci olmasaydı yaklaşık 200 m/s ile çarparlardı. Su birikintilerindeki küçük halkalar bu yumuşak inişin izidir: her damla düşüşünün neredeyse tamamını sabit bir hızla, limit hızıyla tamamlar.
Hava direncini gündelik hayatta kendin de hissedebilirsin:
• Bisiklette: hızlandıkça yüzüne çarpan rüzgâr sertleşir; düz yolda bile hızı artırmak giderek zorlaşır.
• Şemsiyeyle: rüzgârlı havada açık şemsiye seni geriye çeker; kapatınca bu etki hemen küçülür.
• Kâğıtla: açık bir kâğıt yaprağı salınarak yavaşça iner; aynı kâğıdı buruşturunca çok daha hızlı düşer.
• Tüyle: kuş tüyü neredeyse süzülür; havası boşaltılmış bir tüpte ise bilyeyle aynı anda düşer.
• Paraşütle: kapalıyken hızla düşen paraşütçü, paraşüt açılınca yavaşça süzülür.
Bu gözlemlerin hepsinde aynı iki düzen var: frenleyen etki hız arttıkça büyüyor ve cismin şekline, genişliğine bağlı. Kütlesi değişmeyen kâğıdın buruşturulunca hızlanması, işin sırrının ağırlıktan çok biçimde olduğunu söylüyor.
Düşün: Düz bir yolda pedal çevirirken, hızlandıkça neden aynı hızı korumak bile giderek zorlaşır?
Cevap: 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Düz bir yolda pedal çevirirken, hızlandıkça neden aynı hızı korumak bile giderek zorlaşır?
Sınıfa sorun, birkaç tahmin alın; sonra cevap slaytına geçin.
Cevap: 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Kısaca: Hava direnci, cismin önündeki havayı itmesinin tepkisidir ve harekete zıt yöndedir. Hızla, alanla, şekille ve havanın yoğunluğuyla büyür, kütleye bağlı değildir; hız 2 katına çıkınca direnç 4 katına çıkar.
Bir cisim havada ilerlerken önündeki hava moleküllerini itmek zorundadır. Bu itmenin tepkisi, harekete zıt yönde bir kuvvet olarak cisme geri döner: hava direnci (sürükleme kuvveti).
Bunu kalabalık bir koridorda koşmaya benzetebilirsin. Ne kadar hızlı koşarsan her saniye o kadar çok kişiye çarparsın ve her çarpma da o kadar sert olur; iki etki birlikte büyür. Hava için de aynısı geçerlidir: hız iki katına çıkınca cisim saniyede iki kat daha çok havayı iter ve bu havayı iki kat daha hızlı iter. Sonuç dört kat dirençtir.
Sürtünmeden en önemli farkı şudur: kinetik sürtünme kuvveti hızdan (yaklaşık olarak) bağımsızken, hava direnci hız büyüdükçe hızla büyür. Hava direncini belirleyen dört etken vardır:
• Hız: hız 2 katına çıkınca direnç yaklaşık 4, 3 katına çıkınca 9 katına çıkar.
• Kesit alanı: harekete dik yüzey genişledikçe itilen hava artar.
• Şekil: sivri ve akıcı biçimli cisimler havayı kolay yarar, düz bir levha zor yarar.
• Havanın yoğunluğu: yükseğe çıkıldıkça hava seyrelir ve direnç azalır.
Kütle burada yok. Direnç kuvveti cismin kütlesine değil, şekline, alanına ve hızına bağlıdır. Kütlenin rolü, bu direncin hangi hızda ağırlığı dengeleyeceğini belirlemektir.
Görsel: Hava direnci sabit bir kuvvet değildir; hızın karesiyle büyür. Hızı iki katına çıkarmak direnci dört katına, üç katına çıkarmak dokuz katına çıkarır. İşte bu hızlı büyüme, düşen bir cismin er geç ağırlığına eşit bir dirençle karşılaşmasını kaçınılmaz kılar.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Kısaca: Düşen cisimde ağırlık sabittir, direnç hızla büyür. Direnç ağırlığa eşitlenince net kuvvet ve ivme sıfırlanır; cisim durmaz, limit hız denen sabit hızla düşmeye devam eder.
Cisim bırakıldığı anda hızı sıfırdır, dolayısıyla direnç de sıfırdır: tek kuvvet ağırlıktır ve ivme g'dir. Hız büyüdükçe direnç büyür, net kuvvet küçülür, ivme azalır. Bir noktada direnç ağırlığa tam olarak eşitlenir. O andan itibaren net kuvvet sıfırdır. Newton'un 1. yasası gereği cisim sabit hızla düşmeye devam eder. Bu sabit hıza limit hız (terminal hız) denir.
An | Direnç | Net kuvvet ve ivme | Hız
Bırakma anı | 0 | Net kuvvet m·g, ivme g | 0
Ara evre | 0 &lt; Fd &lt; m·g | İkisi de azalıyor | Artıyor
Limit hız | m·g | İkisi de sıfır | Sabit
Aynı şeyi düz yolda gaza sabit basan bir arabada da görürsün. Motorun itmesi değişmez, ama araba hızlandıkça hava direnci büyür. Bir hızda direnç itmeye eşitlenir ve araba o hızda sabitlenir; motor itmeye devam eder, ama itme artık direnci ancak karşılar. Düşen cisimde motorun yerini ağırlık alır. Önemli olan şu: dengeye ulaşmak için cismin hiçbir şey yapması gerekmez. Direnç hızla büyüdüğü için, yeterince uzun düşen her cisim er geç bu dengeye kendiliğinden gelir.
Sayfanın 01 numaralı laboratuvarında kuvvet oklarını açıp cismi bıraktığında direnç okunun büyüyüp ağırlık okuna eşitlendiğini, ivme göstergesinin de sıfıra indiğini görürsün.
Görsel: Ağırlık hiç değişmez (sarı çubuk hep aynı). Cisim hızlandıkça direnç (mavi çubuk) büyür ve aradaki fark — yani net kuvvet — küçülür. Net kuvvet küçüldükçe ivme de küçülür, hız daha yavaş artar. Dördüncü karede iki çubuk eşitlenir: net kuvvet sıfır, ivme sıfır. Cisim durmaz; sabit hızla düşmeye devam eder.
Düşün: Limit hıza ulaşan bir cismin ivmesi sıfırsa, cisim neden durmuyor da düşmeye devam ediyor?
Cevap: İvmenin sıfır olması hızın değişmediği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Limit hıza ulaşan bir cismin ivmesi sıfırsa, cisim neden durmuyor da düşmeye devam ediyor?
Sınıfa sorun, birkaç tahmin alın; sonra cevap slaytına geçin.
Cevap: İvmenin sıfır olması hızın değişmediği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İvmenin sıfır olması hızın değişmediği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direnci ve limit hızı formüle dök, doyan v–t eğrisini oku, gerçek cisimlerin sayılarıyla karşılaştır.
04 Hava direncinin bağıntısı: F = k·v²
05 Limit hız bağıntısı
06 v – t grafiği: doyan eğri
07 Sayılarla hisset: kim, hangi hızla, ne kadar sürede?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Kısaca: Günlük hızlarda hava direnci Fd = k·v²'dir; k = ½·ρ·C·A havanın yoğunluğunu, cismin şeklini ve kesit alanını bir araya toplar. v² çarpanı, hem itilen hava miktarının hem de ona verilen hızın v ile büyümesinden gelir.
Günlük hızlarda iyi çalışan model şudur:
Fd = k · v²   k = ½ · ρ · C · A
• ρ: havanın yoğunluğu (deniz seviyesinde ≈ 1,2 kg/m³)
• C: sürükleme katsayısı — cismin şekline bağlı (küre ≈ 0,5; düz levha ≈ 1,2)
• A: harekete dik kesit alanı
v² nereden geliyor?
• Süpürülen hava: cisim Δt sürede v·Δt yol alır ve önündeki A·v·Δt hacmindeki havayı iter.
• Bu havanın kütlesi: ρ·A·v·Δt; hız iki katına çıkınca iki kat hava itilir.
• Havaya verilen hız: itilen hava yaklaşık v mertebesinde hızlanır; hız iki katına çıkınca bu da iki katına çıkar.
• Newton'un ikinci yasası: her saniye ρ·A·v kütlesindeki hava yaklaşık v kadar hızlandırılıyorsa gereken kuvvet ρ·A·v² mertebesindedir.
İki çarpanın ikisi de v'den geldiği için direnç v² ile büyür. ½ ve C çarpanları, havanın cismin çevresinden nasıl aktığını hesaba katar; bu akışı cismin biçimi belirlediği için C'ye şekil katsayısı da denebilir.
Birim kontrolü: k = ½·ρ·C·A için (kg/m³)·m² = kg/m çıkar. k·v² için (kg/m)·(m²/s²) = kg·m/s² = N ✓. Çözümlü örneklerdeki k değerleri bu yüzden kg/m ile yazılır.
Bu bağıntı bir modeldir: yağmur damlasından paraşütçüye kadar gündelik boyuttaki cisimlerde çok iyi çalışır. Sınırlarına üçüncü basamakta döneceğiz.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Kısaca: Limit hız, m·g = k·vl² dengesinden vl = √(m·g/k) olarak çıkar. Kütle 4 katına çıkınca limit hız 2 katına çıkar, alan 4 katına çıkınca yarıya iner; belirleyici olan m/A oranıdır.
Aşağı yönü pozitif alalım. Düşen cisme iki kuvvet etki eder: aşağı yönlü ağırlık ve yukarı yönlü direnç. Net kuvvet ve denge koşulu şöyle yazılır:
ΣF = m·g − k·v²   m·g = k·vl² → a = 0
Denge koşulundan limit hızı adım adım çekelim:
• Denge: limit hızda a = 0, yani m·g − k·vl² = 0.
• Düzenle: k·vl² = m·g, buradan vl² = m·g / k.
• Karekök al: vl = √(m·g / k).
• k'yi aç: k = ½·ρ·C·A yazınca vl = √(2·m·g / (ρ·C·A)).
vl = √(m·g / k)   vl = √(2·m·g / (ρ·C·A))
Bağıntıdan üç sonuç doğrudan okunur:
• Kütle artarsa limit hız artar — ama karekökle: kütle 4 katına çıkarsa hız 2 katına.
• Alan artarsa limit hız azalır — yine karekökle: alan 4 katına çıkarsa hız yarıya.
• Belirleyici olan m/A oranıdır. Aynı kütleli iki cisimden yüzeyi geniş olan daha yavaş iner.
Yükseklik de etkiler: ρ yukarıda küçüldüğü için aynı cismin limit hızı yüksek irtifada daha büyüktür. Serbest düşüş rekorları bu yüzden stratosferden yapılır.
Görsel: Limit hız iki şeye bağlıdır ve ikisine de karekökle: kütle dört katına çıkarsa limit hız yalnızca iki katına çıkar, alan dört katına çıkarsa hız yarıya iner. Belirleyici olan tek başına kütle ya da alan değil, m/A oranıdır — bu yüzden aynı kâğıdın buruşturulmuşu açık hâlinden çok daha hızlı iner.
Sayfanın 04 numaralı bölümünde kütleyi ve alanı ayrı ayrı değiştirerek bu iki karekök eğrisinin üzerinde gezinebilirsin. 03 numaralı bölümdeki kâğıt deneyi ise kütleye hiç dokunmadan yalnızca alanı değiştirir: buruşturulan kâğıdın limit hızı açık kâğıdınkinin yaklaşık 7 katına çıkar.
Düşün: Aynı boyda bir tahta bilye ile bir demir bilyeden hangisinin limit hızı daha büyüktür?
Cevap: Demir bilyenin. Şekil ve alan aynı olduğu için k de aynıdır; fark yalnızca kütlededir. Demir bilye tahtadan 10 kat ağırsa limit hızı √10 ≈ 3 kat büyüktür. Kütle limit hızı artırır, ama karekökle.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boyda bir tahta bilye ile bir demir bilyeden hangisinin limit hızı daha büyüktür?
Sınıfa sorun, birkaç tahmin alın; sonra cevap slaytına geçin.
Cevap: Demir bilyenin. Şekil ve alan aynı olduğu için k de aynıdır; fark yalnızca kütlededir. Demir bilye tahtadan 10 kat ağırsa limit hızı √10 ≈ 3 kat büyüktür. Kütle limit hızı artırır, ama karekökle.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Demir bilyenin. Şekil ve alan aynı olduğu için k de aynıdır; fark yalnızca kütlededir. Demir bilye tahtadan 10 kat ağırsa limit hızı √10 ≈ 3 kat büyüktür. Kütle limit hızı artırır, ama karekökle.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Kısaca: Havada düşen cismin v – t eğrisi eğimi g olan bir doğru gibi başlar, sonra doyarak limit hıza yaklaşır: v = vl·tanh(g·t/vl). Limitin %95'ine varma süresi yaklaşık 1,83·vl/g'dir.
Hava direnci yokken v – t grafiği eğimi g olan bir doğrudur. Hava direnci varken eğri başlangıçta bu doğruya teğettir, sonra eğimi azalır ve limit hıza asimptotik olarak, yani giderek yaklaşıp hiç tam ulaşmadan yaklaşır. Bu eğrinin bağıntısı şudur:
v(t) = vl · tanh(g·t / vl)
Buradaki tanh (hiperbolik tanjant) fonksiyonunu ayrıntılı tanıman gerekmez; grafiği okumak için üç özelliğini bilmen yeter:
• Sıfırda sıfırdır: t = 0'da v = 0; cisim durgun bırakılmıştır.
• Başta doğru gibi davranır: küçük t için v ≈ g·t; ilk anlarda cisim neredeyse serbest düşer.
• 1'e yaklaşır ama ulaşmaz: tanh(1,83) ≈ 0,95 ve tanh(2,65) ≈ 0,99; v, vl'ye hiç tam ulaşmaz.
Cisim limit hıza matematiksel olarak hiçbir zaman tam ulaşmaz; ama pratikte kısa sürede %95'ine oturur. Bu süre üçüncü maddeden çıkar: g·t/vl = 1,83 olduğunda v = 0,95·vl'dir.
t%95 ≈ 1,83 · vl / g
Limit hızı küçük olan cisim dengeye çabuk, büyük olan geç oturur: yağmur damlası 2 saniyeden kısa, kolları açık paraşütçü yaklaşık 10 saniyede. a – t grafiği ise g'den başlayıp sıfıra iner: ivmenin sıfırlanması, hızın sabitlenmesi demektir.
Limit hızda hız sıfır değildir! Sıfır olan ivmedir. Cisim hâlâ (hem de hızla) düşmektedir; yalnızca artık hızlanmamaktadır.
Görsel: Eğrinin her noktasındaki eğim o andaki ivmedir. Başlangıçta eğim tam olarak g'dir — ilk anda hız sıfır olduğu için direnç de sıfırdır. Hız büyüdükçe eğim azalır ve eğri, limit hız doğrusuna hiç değmeden sonsuza kadar yaklaşır. Pratikte cisim birkaç saniyede limit hızın %99'una ulaşır.
Düşün: Doyan v – t eğrisinde eğim hangi anda en büyüktür ve o anki değeri nedir?
Cevap: Bırakma anında en büyüktür ve tam olarak g'dir. O anda hız sıfır olduğu için direnç de sıfırdır; cisim yalnızca ağırlığın etkisindedir. Sonra direnç büyüdükçe eğim, yani ivme, azalır ve limit hızda sıfıra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Doyan v – t eğrisinde eğim hangi anda en büyüktür ve o anki değeri nedir?
Sınıfa sorun, birkaç tahmin alın; sonra cevap slaytına geçin.
Cevap: Bırakma anında en büyüktür ve tam olarak g'dir. O anda hız sıfır olduğu için direnç de sıfırdır; cisim yalnızca ağırlığın etkisindedir. Sonra direnç büyüdükçe eğim, yani ivme, azalır ve limit hızda sıfıra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Bırakma anında en büyüktür ve tam olarak g'dir. O anda hız sıfır olduğu için direnç de sıfırdır; cisim yalnızca ağırlığın etkisindedir. Sonra direnç büyüdükçe eğim, yani ivme, azalır ve limit hızda sıfıra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Kısaca: Limit hızlar sis damlacığında 0,01 m/s'den dalıştaki paraşütçüde 90 m/s'ye kadar uzanır. Limite oturma süresi vl ile, bu sırada düşülen yol vl² ile büyür: yağmur damlası ilk 10 m'de dengeye gelir.
Aynı yerçekimi, aynı hava; ama en yavaşla en hızlı arasında yaklaşık on bin kat fark var. Tipik değerler:
Cisim | Limit hız | Neden
Sis damlacığı | ≈ 0,01 m/s | çok küçük m/A
Yağmur damlası | ≈ 9 m/s | küçük kütle, küresel
Tenis topu | ≈ 25 m/s | orta m/A
Paraşütçü: kol-bacak açık / dalış pozisyonu | ≈ 55 / ≈ 90 m/s | büyük kütle, orta alan / alan iyice küçülür
Açık paraşüt | ≈ 5 m/s | alan onlarca kat büyür
Görsel: Aynı yerçekimi, aynı hava — ama limit hızlar arasında on binlerce kat fark var. Farkı yapan tek şey m/A oranı: sis damlacığı neredeyse asılı kalır, kollarını yanına toplayan bir paraşütçü ise 90 m/s'ye çıkar. Paraşütü açmak, aynı insanın limit hızını on bire bölmeye yeter.
Limit hıza ne kadar sürede ve ne kadar yol düştükten sonra oturulur? Sayfanın 01 numaralı laboratuvarı bunu "Limitin %95'ine" ve "O ana kadar düşülen" satırlarında gösterir. Aynı modelle (g = 9,81 m/s², durgun bırakılan cisim) yuvarlanmış değerler:
Cisim | Limit hız | %95'ine varma süresi | O ana kadar düşülen yol
Yağmur damlası | 9 m/s | 1,7 s | 10 m
Tenis topu | 25 m/s | 4,7 s | 74 m
Paraşütçü (kol-bacak açık) | 55 m/s | 10,3 s | 360 m
Paraşütçü (dalış) | 90 m/s | 16,8 s | 960 m
Tablolardan okunan düzen:
• Süre limit hızla doğru orantılıdır: limit hızı 10 kat büyük olan dalıştaki paraşütçü, dengeye yağmur damlasından 10 kat geç oturur.
• Yol limit hızın karesiyle büyür: yağmur damlası ilk 10 m'de, paraşütçü ancak ilk 360 m'de limitine oturur.
• Yağmur damlası neredeyse hep sabit hızlıdır: 2 km'lik düşüşün yalnızca ilk 10 metresi hızlanmayla geçer.
Bir karşılaştırma: hava direnci olmasaydı 2 km'den düşen damla yere yaklaşık 198 m/s ile çarpardı. Gerçek hızı bunun yaklaşık yirmide biridir.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serbest düşme modeli nerede yetmez, paraşüt nasıl çalışır ve limit hız gerçek hayatta nerede karşımıza çıkar?
08 Serbest düşmeden farkı: model ne zaman yeter?
09 Paraşüt ve ölçek etkisi
10 Limit hız gerçek dünyada
Görsel: Açık paraşütle limit hız saniyede birkaç metreye iner. 5 m/s ile yere değmek, yaklaşık 1,25 m yükseklikten atlamaya denktir; bacaklar bu darbeyi rahatça karşılar. Dikdörtgen kubbeler üstelik bir kanat gibi ileri doğru süzülür; paraşütçü iplerle yön verir ve yere değmeden hemen önce kubbeyi frenleyerek daha da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Kısaca: Serbest düşme, düşme yüksekliği vl²/g'nin yanında küçük kaldığında iyi bir yaklaşımdır. Havada yukarı atılan cisimde simetri bozulur: çıkış inişten kısa sürer ve cisim atıldığından küçük bir hızla döner.
 | Serbest düşme (ideal) | Gerçek düşüş
Etkiyen kuvvet | Yalnızca ağırlık | Ağırlık + hava direnci
İvme | Sabit, g | g'den başlar, sıfıra iner
Hız | Sınırsız artar | Limit hızda sabitlenir
Kütlenin rolü | Yok | Var (m/A oranı)
Serbest düşme, hava direncinin ihmal edilebildiği durumların modelidir: kısa mesafe, yoğun ve küçük cisim, düşük hız. Uzun süreli düşüşlerde ya da hafif ve geniş cisimlerde bu model geçersizleşir. Önceki bölümdeki tablo bunun için kaba bir ölçüt de verir: cisim limitine, vl²/g mertebesinde bir yol düştükten sonra oturur.
h ≪ vl²/g → serbest düşme   h ≫ vl²/g → limit hız
• Bilye: sayfanın 03 numaralı bölümündeki bilyenin vl ≈ 44 m/s, vl²/g ≈ 200 m; 1 m'lik düşüşte direnç ihmal edilebilir.
• Yağmur damlası: vl²/g ≈ 8 m; 2 km'lik düşüşte serbest düşme tamamen yanlış sonuç verir.
• Paraşütçü: vl²/g ≈ 300 m; ilk birkaç saniye serbest düşmeye yakındır, sonrası limit hızdır.
Görsel: Vakumda ivme hiç değişmez, hız sınırsız artar ve kütlenin hiçbir rolü yoktur. Havada ise ivme g'den başlayıp sıfıra iner, hız bir değerde sabitlenir ve artık kütle ile alan işin içine girer. Serbest düşme, hava direncinin ihmal edilebildiği özel bir durumdur — kısa mesafelerde ve ağır cisimlerde iyi bir yaklaşımdır.
Yukarı atılan top
Hava direnci atıştaki simetriyi de bozar. Yukarı çıkan topta direnç aşağı yönlüdür ve ağırlığa eklenir; top g'den büyük bir ivmeyle yavaşlar. İnerken direnç yukarı yönlüdür ve ağırlıktan çıkar; top g'den küçük bir ivmeyle hızlanır. Sonuç: top havasız ortamdakinden daha alçağa çıkar, inişi çıkışından uzun sürer ve atıldığı noktaya v₀'dan küçük bir hızla döner. Son bir incelik: çok küçük ve yavaş cisimlerde (sis damlacığı, toz, polen) direnç hızın karesiyle değil, hızın kendisiyle orantılı büyür; F = k·v² modelinin bir sınırı da budur.
Düşün: Havada yukarı atılan bir topun tepe noktasındaki ivmesi g'den büyük mü, g'ye eşit mi, g'den küçük mü?
Cevap: Tam g'ye eşittir. Tepe noktada hız sıfırdır, dolayısıyla hava direnci de sıfırdır; o an topa yalnızca ağırlık etki eder. Çıkarken ivme g'den büyük, inerken g'den küçüktür; tam tepede, bu iki evrenin arasındaki geçiş anında direnç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 yukarı atılan bir topun tepe noktasındaki ivmesi g'den büyük mü, g'ye eşit mi, g'den küçük mü?
Sınıfa sorun, birkaç tahmin alın; sonra cevap slaytına geçin.
Cevap: Tam g'ye eşittir. Tepe noktada hız sıfırdır, dolayısıyla hava direnci de sıfırdır; o an topa yalnızca ağırlık etki eder. Çıkarken ivme g'den büyük, inerken g'den küçüktür; tam tepede, bu iki evrenin arasındaki geçiş anında direnç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g'ye eşittir. Tepe noktada hız sıfırdır, dolayısıyla hava direnci de sıfırdır; o an topa yalnızca ağırlık etki eder. Çıkarken ivme g'den büyük, inerken g'den küçüktür; tam tepede, bu iki evrenin arasındaki geçiş anında direnç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Kısaca: Paraşüt kütleyi değil k'yi büyütür: açıldığı anda direnç ağırlığı aşar, net kuvvet yukarı döner ve paraşütçü yavaşlayarak yeni, küçük limit hıza oturur. Küçük canlıların m/A oranı küçük olduğundan limit hızları da küçüktür.
Paraşüt, kütleyi değil alanı değiştirir. Açıldığı anda A onlarca katına çıkar, k büyür ve yeni limit hız çok küçülür:
A → 25A ⇒ vl → vl / 5
Açılma anında hız hâlâ eski limit hızdadır; direnç birden ağırlığın çok üstüne çıkar ve cisim yukarı yönlü net kuvvetle hızla yavaşlar. Paraşütçünün hissettiği sarsıntı budur. Birkaç saniye içinde yeni dengeye oturulur.
Yalnızca alan hesaba katılırsa 25 katlık büyüme 55 m/s'lik limit hızı 11 m/s'ye indirir. Gerçek kubbede şekil de değiştiği için sürükleme katsayısı C büyür ve hız 5 m/s civarına kadar düşer; bu, k'nin toplamda yaklaşık 120 katına çıkması demektir. Sayfanın 02 numaralı bölümünde bu iki basamaklı inişi, iki platolu bir v – t grafiği olarak görebilirsin.
Görsel: Paraşüt açıldığı anda kütle değişmez ama alan onlarca kat büyür. Direnç bir anda ağırlığın çok üstüne çıkar, net kuvvet yukarı döner ve atlayıcı yavaşlar — bu ani frenlemeyi vücudunda hissettiği an budur. Yavaşladıkça direnç küçülür ve hız yeni, çok daha düşük bir limitte dengelenir. Alan 25 kat büyüyünce hız karekökle, yani yaklaşık beşte birine iner.
Aynı mantık canlılar için de geçerlidir: boyut küçüldükçe kütle uzunluğun küpüyle, alan ise karesiyle küçülür. Bu yüzden küçük bir böceğin m/A oranı çok düşüktür; limit hızı o kadar küçüktür ki yüksekten düşmesi onu incitmez.
m ∝ L³   A ∝ L²   m/A ∝ L ⇒ vl ∝ √L
Boyutları 10 kat küçük bir canlının kütlesi 1000 kat, alanı 100 kat küçüktür; m/A oranı 10 kat düşer, limit hızı √10 ≈ 3 kat küçülür. Çarpmadaki kinetik enerji ½·m·v² olduğundan hem kütle hem hız yüzünden yaklaşık on bin kat azalır.
Düşün: Paraşüt açılınca, yanında düşen arkadaşının kamerasında paraşütçü neden yukarı fırlıyor gibi görünür?
Cevap: Çünkü paraşütçü birden yavaşlar,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Paraşüt açılınca, yanında düşen arkadaşının kamerasında paraşütçü neden yukarı fırlıyor gibi görünür?
Sınıfa sorun, birkaç tahmin alın; sonra cevap slaytına geçin.
Cevap: Çünkü paraşütçü birden yavaşlar,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paraşütçü birden yavaşlar,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Kısaca: Limit hız, yağmurun zararsızlığını, bulutların asılı kalmasını ve paraşütle güvenli inişi açıklar. A ile C'yi küçültmek hız kazandırır, büyütmek yavaşlatır; seyrek hava limit hızı büyütür.
Limit hız, havada düşen her şeyin kaderidir. Mühendisler onu kimi zaman küçültmeye, kimi zaman büyütmeye çalışır; paraşüt bunun en bilinen örneğidir.
Görsel: Açık paraşütle limit hız saniyede birkaç metreye iner. 5 m/s ile yere değmek, yaklaşık 1,25 m yükseklikten atlamaya denktir; bacaklar bu darbeyi rahatça karşılar. Dikdörtgen kubbeler üstelik bir kanat gibi ileri doğru süzülür; paraşütçü iplerle yön verir ve yere değmeden hemen önce kubbeyi frenleyerek daha da yavaşlar.
• Bulutlar neden düşmez? 0,01 m/s ile düşen bir bulut damlacığı 1 km'yi ancak yaklaşık 28 saatte iner; hafif yukarı hava akımları onu kolayca taşır.
• Yağmur damlası: 2 mm çaplı bir damla yaklaşık 6,5 m/s ile düşer; yaklaşık 5 mm'den iri damlalar düşerken çoğunlukla parçalanır.
• Dolu: 5 cm çaplı bir dolu tanesi için basit model yaklaşık 30 m/s (110 km/h) verir; iri dolunun cam kırması bundandır.
• Formasyon atlayışı: el ele düşmek için limit hızlar eşit olmalı; hafif atlayıcılar ağırlık kemeri, ağır olanlar bol tulum kullanabilir.
• Stratosfer atlayışları: 30 km'de hava deniz seviyesindekinden yaklaşık 65 kat seyrektir; limit hız yaklaşık 8 kat büyür ve ses hızı aşılabilir.
• Otoyolda yakıt: 90 yerine 120 km/h ile gitmek hava direncini (120/90)² ≈ 1,8 katına çıkarır; yüksek hızda motorun yaptığı işin büyük kısmı bu direnci yenmeye harcanır.
Bütün bu örneklerde aynı iki kural iş başındadır: direnç hızın karesiyle büyür ve limit hızı m/A oranı belirler. Kayakçılar ve bisikletçiler gövdelerini toplayıp akıcı kasklar takarak A ile C'yi küçültür ve hızlanır; paraşüt, uçuşan tohumlar ve bulut damlacıkları ise tam tersini yaparak yavaş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limit hız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Limit hızda kuvvetler (kolay)
Aşağıdaki çözümlerde g = 10 m/s² alınmıştır.
80 kg kütleli bir paraşütçü, paraşütü kapalıyken 50 m/s'lik limit hızıyla düşmektedir. (a) Bu anda hava direnci kaç N'dur? (b) İvmesi nedir?
1. (a) Limit hızda net kuvvet sıfırdır: Fd = m·g = 80 · 10 = 800 N
2. (b) ΣF = 0 olduğu için a = 0'dır.
3. Hız sıfır değildir: cisim 50 m/s ile düşmeye devam eder. Sabit olan hızdır, sıfır olan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(kolay)
Aşağıdaki çözümlerde g = 10 m/s² alınmıştır.
Bir bisikletli 5 m/s hızla giderken 8 N'luk hava direnciyle karşılaşıyor. (a) Direnç katsayısı k kaçtır? Hızını (b) 10 m/s'ye, (c) 15 m/s'ye çıkarırsa hava direnci kaç N olur?
1. (a) Fd = k·v² → k = 8 / 5² = 8 / 25 = 0,32 kg/m
2. (b) Hız 2 katı → direnç 2² = 4 katı: 4 · 8 = 32 N (kontrol: 0,32 · 100 = 32 N ✓)
3. (c) Hız 3 katı → direnç 3² = 9 katı: 9 · 8 = 72 N
4. Hızı üç katına çıkarmak dokuz kat direnç demektir; yarış bisikletçileri gövdelerini öne eğip A'yı bu yüzden küçültür.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kütle, farklı alan (orta)
Aşağıdaki çözümlerde g = 10 m/s² alınmıştır.
Aynı kâğıttan yapılmış açık bir levha ile buruşturulmuş bir top düşünelim. Buruşturunca kesit alanı dokuzda birine iniyorsa limit hız nasıl değişir?
1. Kütle değişmedi; yalnızca A küçüldü: A → A/9
2. vl = √(2mg / (ρCA)) ∝ 1/√A → A dokuzda birine inince vl 3 katına çıkar.
3. Bu yüzden buruşturulmuş kâğıt, açık kâğıttan çok daha hızlı düşer — kütleleri aynı olmasına rağmen.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(orta)
Aşağıdaki çözümlerde g = 10 m/s² alınmıştır.
Bir cismin kütlesi 2 kg, limit hızı 20 m/s ölçülüyor. Direnç Fd = k·v² modeliyle veriliyorsa k kaçtır? Hız 10 m/s iken ivme ne olur?
1. Limit hızda: m·g = k·vl² → 20 = k · 400 → k = 0,05 kg/m
2. v = 10 m/s iken direnç: Fd = 0,05 · 100 = 5 N
3. Net kuvvet: 20 − 5 = 15 N → a = 15/2 = 7,5 m/s²
4. Hız limitin yarısındayken ivme hâlâ g'nin dörtte üçü kadardır (direnç v² ile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(zor)
Aşağıdaki çözümlerde g = 10 m/s² alınmıştır.
Limit hızı 50 m/s olan paraşütçü, paraşütünü açtığında yüzey alanı 25 katına çıkıyor. (a) Yeni limit hız nedir? (b) Açılma anında ivmesi ne olur?
1. (a) vl ∝ 1/√A olduğundan: 50 / √25 = 10 m/s
2. (b) Açılma anında hız hâlâ 50 m/s. Yeni k ile direnç: Fd = 25 · (eski direnç) = 25 · m·g
3. Net kuvvet = 25mg − mg = 24mg, yukarı yönde → a = 24g (yaklaşık 240 m/s², yukarı)
4. Bu yüzden açılma çok sert hissedilir; gerçek paraşütler açılmayı birkaç saniyeye yayarak bu ivmeyi düşürür.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(zor)
Aşağıdaki çözümlerde g = 10 m/s² alınmıştır.
Çapı 2 mm (yarıçapı r = 1 mm) olan küresel bir yağmur damlasının limit hızını bulunuz. (ρsu = 1000 kg/m³, ρhava = 1,2 kg/m³, C = 0,5; kürenin hacmi (4/3)·π·r³, kesit alanı π·r²)
1. Belirleyici olan m/A oranıdır: m/A = ρsu·(4/3)·π·r³ / (π·r²) = (4/3)·ρsu·r; π sadeleşir.
2. m/A = (4/3) · 1000 · 0,001 ≈ 1,33 kg/m²
3. vl = √(2·(m/A)·g / (ρhava·C)) = √(2 · 1,33 · 10 / (1,2 · 0,5))
4. vl = √(26,7 / 0,6) = √44,4 ≈ 6,7 m/s
5. m/A yarıçapla doğru orantılı olduğu için vl ∝ √r: yarıçapı 2 katı olan damlanın limit hızı √2 ≈ 1,4 katı, yani ≈ 9,4 m/s olur.
Ölçülen değer 2 mm çaplı damla için yaklaşık 6,5 m/s'dir; bu basit model gerçeğe oldukça yakın sonuç verir. İri damlaların 9 m/s civarında düşmesi de bu karekök ilişkisinden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“Limit hızda hız sıfırdır.” Sıfır olan ivmedir; hız sabit ve genellikle büyüktür.
• “Limit hızda cisme kuvvet etki etmez.” İki büyük kuvvet vardır (ağırlık ve direnç); net kuvvet sıfırdır.
• “Ağır cisim her zaman daha hızlı düşer.” Belirleyici olan m/A oranıdır; hava direnci yoksa kütle hiç rol oynamaz.
• “Hava direnci hızla doğru orantılıdır.” Günlük hızlarda v² ile artar; hız 2 katına çıkarsa direnç 4 katına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“Paraşüt kütleyi azaltır.” Paraşüt yalnızca alanı büyütür; kütle aynıdır.
• “Limit hıza ulaşınca cisim durur.” Durmaz; sabit hızla düşmeye devam eder ve yere o hızla çarpar.
• “Serbest düşme her zaman geçerlidir.” Serbest düşme, direncin ihmal edildiği bir modeldir.
• “Paraşüt açılınca paraşütçü yukarı çıkar.” Net kuvvet yukarı döner, ama hız hâlâ aşağı yönlüdür; paraşütçü yalnızca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Direnç hıza bağlı · Dengede a = 0 · Yağmur damlası ≈ 9 m/s · Paraşütçü ≈ 55 m/s
Fd = k · v² — hava direnci
m·g = k · vl² — limit hızda denge
vl = √(m·g / k) — limit hız
k = ½·ρ·C·A — şekil ve alana bağlı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limit-hiz-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05</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Limit hız</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Gerçek dünyada hiçbir cisim sonsuza kadar hızlanmaz. Hava direnci hızla büyür; ağırlığa eşitlendiği anda net kuvvet sıfırlanır ve cisim sabit bir hızla düşmeye devam eder. Aşağıda bu dengeyi kendin kur, paraşütü aç, kâğıdı buruştur.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Bir paraşütçü 4 km yüksekten atlar; hava direnci olmasaydı yere 280 m/s ile çarpardı.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Oysa açık paraşütle yaklaşık 5 m/s ile,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bir bisikletlinin hızıyla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iner.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Yağmur damlası 2 km düşer, yine de canımızı yakmaz.</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İkisinin de sebebi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hava direnci hızla birlikte büyür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bir noktada ağırlığı tam olarak dengeler.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 andan sonra hız artmaz — her cismin bir hız sınırı vardır.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hava direncini yağmurda, bisiklette ve paraşütte gözle; neden bir hız sınırı olduğunu kuvvetlerle anla.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yağmur neden canımızı yakmaz?</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Hava direnci: hıza bağlı bir kuvvet</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Neden bir hız sınırı var?</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direnci ve limit hızı formüle dök, doyan v–t eğrisini oku, gerçek cisimlerin sayılarıyla karşılaştır.</a:t>
            </a:r>
            <a:endParaRPr lang="en-US" sz="11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Hava direncinin bağıntısı: F = k·v²</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Limit hız bağıntısı</a:t>
            </a:r>
            <a:endParaRPr lang="en-US" sz="12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v – t grafiği: doyan eğri</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kim, hangi hızla, ne kadar sürede?</a:t>
            </a:r>
            <a:endParaRPr lang="en-US" sz="11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serbest düşme modeli nerede yetmez, paraşüt nasıl çalışır ve limit hız gerçek hayatta nerede karşımıza çıkar?</a:t>
            </a:r>
            <a:endParaRPr lang="en-US" sz="10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Serbest düşmeden farkı: model ne zaman yeter?</a:t>
            </a:r>
            <a:endParaRPr lang="en-US" sz="120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Paraşüt ve ölçek etkisi</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Limit hız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limit hız sorularında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00" dirty="0">
                <a:solidFill>
                  <a:srgbClr val="C3CEE8"/>
                </a:solidFill>
                <a:latin typeface="Calibri" pitchFamily="34" charset="0"/>
                <a:ea typeface="Calibri" pitchFamily="34" charset="-122"/>
                <a:cs typeface="Calibri" pitchFamily="34" charset="-120"/>
              </a:rPr>
              <a:t>Önce sezgi: hava direncini yağmurda, bisiklette ve paraşütte gözle; neden bir hız sınırı olduğunu kuvvetlerle anla. Bu basamakta hesap yok denecek kadar az.</a:t>
            </a:r>
            <a:endParaRPr lang="en-US" sz="14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yağmur neden canımızı yakmaz?</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Hava direnci: hıza bağlı bir kuvvet</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Neden bir hız sınırı var?</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limit-hiz-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Yağmur damlaları kilometrelerce yüksekten düşer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ama yere saniyede birkaç metrelik bir hızla değer. Hava direnci olmasaydı yaklaşık 200 m/s ile çarparlardı. Su birikintilerindeki küçük halkalar bu yumuşak inişin izidir: her damla düşüşünün neredeyse tamamını sabit bir hızla, limit hızıyla tamamlar.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Havada hareket eden her cisim, hızı arttıkça büyüyen bir frenleyici etkiyle karşılaşır. Bu etki cismin şekline ve genişliğine bağlıdır; yağmur damlasını da paraşütçüyü de bu etki frenler.</a:t>
            </a:r>
            <a:endParaRPr lang="en-US" sz="1850" dirty="0"/>
          </a:p>
        </p:txBody>
      </p:sp>
      <p:sp>
        <p:nvSpPr>
          <p:cNvPr id="9" name="Text 7"/>
          <p:cNvSpPr txBox="1"/>
          <p:nvPr/>
        </p:nvSpPr>
        <p:spPr>
          <a:xfrm>
            <a:off x="640080" y="2593238"/>
            <a:ext cx="10911535" cy="240563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Bisiklette: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hızlandıkça yüzüne çarpan rüzgâr sertleşir; düz yolda bile hızı artırmak giderek zorlaşır.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Şemsiyeyle: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rüzgârlı havada açık şemsiye seni geriye çeker; kapatınca bu etki hemen küçülür.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Kâğıtla: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açık bir kâğıt yaprağı salınarak yavaşça iner; aynı kâğıdı buruşturunca çok daha hızlı düşer.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Tüyle: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kuş tüyü neredeyse süzülür; havası boşaltılmış bir tüpte ise bilyeyle aynı anda düşer.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Paraşütle: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kapalıyken hızla düşen paraşütçü, paraşüt açılınca yavaşça süzülür.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Düz bir yolda pedal çevirirken, hızlandıkça neden aynı hızı korumak bile giderek zorlaşır?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yağmur neden canımızı yakmaz?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Düz bir yolda pedal çevirirken, hızlandıkça neden aynı hızı korumak bile giderek zorlaşır?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Hava direnci, cismin önündeki havayı itmesinin tepkisidir ve harekete zıt yöndedir. Hızla, alanla, şekille ve havanın yoğunluğuyla büyür, kütleye bağlı değildir; hız 2 katına çıkınca direnç 4 katına çıkar.</a:t>
            </a:r>
            <a:endParaRPr lang="en-US" sz="1850" dirty="0"/>
          </a:p>
        </p:txBody>
      </p:sp>
      <p:sp>
        <p:nvSpPr>
          <p:cNvPr id="9" name="Text 7"/>
          <p:cNvSpPr txBox="1"/>
          <p:nvPr/>
        </p:nvSpPr>
        <p:spPr>
          <a:xfrm>
            <a:off x="640080" y="2593238"/>
            <a:ext cx="6309360" cy="19735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hız 2 katına çıkınca direnç yaklaşık 4, 3 katına çıkınca 9 katına çıkar.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Kesit alanı: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harekete dik yüzey genişledikçe itilen hava artar.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Şekil: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sivri ve akıcı biçimli cisimler havayı kolay yarar, düz bir levha zor yarar.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Havanın yoğunluğu:</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yükseğe çıkıldıkça hava seyrelir ve direnç azalır.</a:t>
            </a:r>
            <a:endParaRPr lang="en-US" sz="1400" dirty="0"/>
          </a:p>
        </p:txBody>
      </p:sp>
      <p:sp>
        <p:nvSpPr>
          <p:cNvPr id="10" name="Shape 8"/>
          <p:cNvSpPr/>
          <p:nvPr/>
        </p:nvSpPr>
        <p:spPr>
          <a:xfrm>
            <a:off x="640080" y="4676546"/>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822850"/>
            <a:ext cx="45720" cy="793242"/>
          </a:xfrm>
          <a:prstGeom prst="rect">
            <a:avLst/>
          </a:prstGeom>
          <a:solidFill>
            <a:srgbClr val="3C8C21"/>
          </a:solidFill>
          <a:ln/>
        </p:spPr>
      </p:sp>
      <p:sp>
        <p:nvSpPr>
          <p:cNvPr id="12" name="Text 10"/>
          <p:cNvSpPr txBox="1"/>
          <p:nvPr/>
        </p:nvSpPr>
        <p:spPr>
          <a:xfrm>
            <a:off x="914400" y="4786274"/>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Kütle burada yok.</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Direnç kuvveti cismin kütlesine değil,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şekline, alanına ve hızına</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bağlıdır. Kütlenin rolü, bu direncin hangi hızda ağırlığı dengeleyeceğini belirlemektir.</a:t>
            </a:r>
            <a:endParaRPr lang="en-US" sz="1300" dirty="0"/>
          </a:p>
        </p:txBody>
      </p:sp>
      <p:sp>
        <p:nvSpPr>
          <p:cNvPr id="13" name="Shape 11"/>
          <p:cNvSpPr/>
          <p:nvPr/>
        </p:nvSpPr>
        <p:spPr>
          <a:xfrm>
            <a:off x="7242048" y="2593238"/>
            <a:ext cx="4309567" cy="3139158"/>
          </a:xfrm>
          <a:prstGeom prst="roundRect">
            <a:avLst>
              <a:gd name="adj" fmla="val 466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limit-hiz-01.png">    </p:cNvPr>
          <p:cNvPicPr>
            <a:picLocks noChangeAspect="1"/>
          </p:cNvPicPr>
          <p:nvPr/>
        </p:nvPicPr>
        <p:blipFill>
          <a:blip r:embed="rId1"/>
          <a:stretch>
            <a:fillRect/>
          </a:stretch>
        </p:blipFill>
        <p:spPr>
          <a:xfrm>
            <a:off x="7424928" y="2776118"/>
            <a:ext cx="3943807" cy="1676118"/>
          </a:xfrm>
          <a:prstGeom prst="rect">
            <a:avLst/>
          </a:prstGeom>
        </p:spPr>
      </p:pic>
      <p:sp>
        <p:nvSpPr>
          <p:cNvPr id="15" name="Shape 12"/>
          <p:cNvSpPr/>
          <p:nvPr/>
        </p:nvSpPr>
        <p:spPr>
          <a:xfrm>
            <a:off x="7424928" y="4543676"/>
            <a:ext cx="3943807" cy="0"/>
          </a:xfrm>
          <a:prstGeom prst="line">
            <a:avLst/>
          </a:prstGeom>
          <a:noFill/>
          <a:ln w="9525">
            <a:solidFill>
              <a:srgbClr val="E1E5EE"/>
            </a:solidFill>
            <a:prstDash val="dash"/>
          </a:ln>
        </p:spPr>
      </p:sp>
      <p:sp>
        <p:nvSpPr>
          <p:cNvPr id="16" name="Text 13"/>
          <p:cNvSpPr txBox="1"/>
          <p:nvPr/>
        </p:nvSpPr>
        <p:spPr>
          <a:xfrm>
            <a:off x="7424928" y="4598540"/>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Hava direnci sabit bir kuvvet değildir;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hızın 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büyür. Hızı iki katına çıkarmak direnci dört katına, üç katına çıkarmak dokuz katına çıkarır. İşte bu hızlı büyüme, düşen bir cismin er geç ağırlığına eşit bir dirençle karşılaşmasını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kaçınılmaz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kılar.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Düşen cisimde ağırlık sabittir, direnç hızla büyür. Direnç ağırlığa eşitlenince net kuvvet ve ivme sıfırlanır; cisim durmaz, limit hız denen sabit hızla düşmeye devam eder.</a:t>
            </a:r>
            <a:endParaRPr lang="en-US" sz="1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5486400" cy="914400"/>
        </p:xfrm>
        <a:graphic>
          <a:graphicData uri="http://schemas.openxmlformats.org/drawingml/2006/table">
            <a:tbl>
              <a:tblPr/>
              <a:tblGrid>
                <a:gridCol w="1106670"/>
                <a:gridCol w="1207276"/>
                <a:gridCol w="2213340"/>
                <a:gridCol w="95911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Direnç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Net kuvvet ve ivme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Bırakma anı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Net kuvvet m·g, ivme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Ara evre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&lt; Fd &lt; 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İkisi de azalıyor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Artıyor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Limit 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İkisi de sıfır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266590"/>
            <a:ext cx="5486400" cy="11856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Sayfanın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numaralı laboratuvarında kuvvet oklarını açıp cismi bıraktığında direnç okunun büyüyüp ağırlık okuna eşitlendiğini, ivme göstergesinin de sıfıra indiğini görürsün.</a:t>
            </a:r>
            <a:endParaRPr lang="en-US" sz="1600" dirty="0"/>
          </a:p>
        </p:txBody>
      </p:sp>
      <p:sp>
        <p:nvSpPr>
          <p:cNvPr id="11" name="Shape 8"/>
          <p:cNvSpPr/>
          <p:nvPr/>
        </p:nvSpPr>
        <p:spPr>
          <a:xfrm>
            <a:off x="6419088" y="2593238"/>
            <a:ext cx="5132527" cy="3508682"/>
          </a:xfrm>
          <a:prstGeom prst="roundRect">
            <a:avLst>
              <a:gd name="adj" fmla="val 41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limit-hiz-02.png">    </p:cNvPr>
          <p:cNvPicPr>
            <a:picLocks noChangeAspect="1"/>
          </p:cNvPicPr>
          <p:nvPr/>
        </p:nvPicPr>
        <p:blipFill>
          <a:blip r:embed="rId1"/>
          <a:stretch>
            <a:fillRect/>
          </a:stretch>
        </p:blipFill>
        <p:spPr>
          <a:xfrm>
            <a:off x="6601968" y="2776118"/>
            <a:ext cx="4766767" cy="2045642"/>
          </a:xfrm>
          <a:prstGeom prst="rect">
            <a:avLst/>
          </a:prstGeom>
        </p:spPr>
      </p:pic>
      <p:sp>
        <p:nvSpPr>
          <p:cNvPr id="13" name="Shape 9"/>
          <p:cNvSpPr/>
          <p:nvPr/>
        </p:nvSpPr>
        <p:spPr>
          <a:xfrm>
            <a:off x="6601968" y="4913201"/>
            <a:ext cx="4766767" cy="0"/>
          </a:xfrm>
          <a:prstGeom prst="line">
            <a:avLst/>
          </a:prstGeom>
          <a:noFill/>
          <a:ln w="9525">
            <a:solidFill>
              <a:srgbClr val="E1E5EE"/>
            </a:solidFill>
            <a:prstDash val="dash"/>
          </a:ln>
        </p:spPr>
      </p:sp>
      <p:sp>
        <p:nvSpPr>
          <p:cNvPr id="14" name="Text 10"/>
          <p:cNvSpPr txBox="1"/>
          <p:nvPr/>
        </p:nvSpPr>
        <p:spPr>
          <a:xfrm>
            <a:off x="6601968" y="496806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Ağırlık hiç değişmez (sarı çubuk hep aynı). Cisim hızlandıkça direnç (mavi çubuk) büyür ve aradaki fark — yani net kuvvet — küçülür. Net kuvvet küçüldükçe ivme de küçülür, hız daha yavaş artar. Dördüncü karede iki çubuk eşitlenir: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net kuvvet sıfır, ivme sıfır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Cisim durmaz; sabit hızla düşmeye devam eder.</a:t>
            </a:r>
            <a:endParaRPr lang="en-US" sz="1050" dirty="0"/>
          </a:p>
        </p:txBody>
      </p:sp>
      <p:sp>
        <p:nvSpPr>
          <p:cNvPr id="15" name="Shape 11"/>
          <p:cNvSpPr/>
          <p:nvPr/>
        </p:nvSpPr>
        <p:spPr>
          <a:xfrm>
            <a:off x="640080" y="6382512"/>
            <a:ext cx="128016" cy="128016"/>
          </a:xfrm>
          <a:prstGeom prst="roundRect">
            <a:avLst>
              <a:gd name="adj" fmla="val 28571"/>
            </a:avLst>
          </a:prstGeom>
          <a:solidFill>
            <a:srgbClr val="A9E648"/>
          </a:solidFill>
          <a:ln/>
        </p:spPr>
      </p:sp>
      <p:sp>
        <p:nvSpPr>
          <p:cNvPr id="16"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7"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Limit hıza ulaşan bir cismin ivmesi sıfırsa, cisim neden durmuyor da düşmeye devam ediyor?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Neden bir hız sınırı var?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Limit hıza ulaşan bir cismin ivmesi sıfırsa, cisim neden durmuyor da düşmeye devam ediyor?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İvmenin sıfır olması hızın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değişmediği</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direnci ve limit hızı formüle dök, doyan v–t eğrisini oku, gerçek cisimlerin sayılarıyla karşılaştır.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Hava direncinin bağıntısı: F = k·v²</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Limit hız bağıntısı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v – t grafiği: doyan eğri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Sayılarla hisset: kim, hangi hızla, ne kadar sürede?</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Fd = k · v²</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 direnci</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m·g = k · vl²</a:t>
            </a:r>
            <a:endParaRPr lang="en-US" sz="1500" dirty="0"/>
          </a:p>
        </p:txBody>
      </p:sp>
      <p:sp>
        <p:nvSpPr>
          <p:cNvPr id="16" name="Text 14"/>
          <p:cNvSpPr txBox="1"/>
          <p:nvPr/>
        </p:nvSpPr>
        <p:spPr>
          <a:xfrm>
            <a:off x="8311896" y="235000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hızda denge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vl = √(m·g / k)</a:t>
            </a:r>
            <a:endParaRPr lang="en-US" sz="1500" dirty="0"/>
          </a:p>
        </p:txBody>
      </p:sp>
      <p:sp>
        <p:nvSpPr>
          <p:cNvPr id="19" name="Text 17"/>
          <p:cNvSpPr txBox="1"/>
          <p:nvPr/>
        </p:nvSpPr>
        <p:spPr>
          <a:xfrm>
            <a:off x="8549640" y="321868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k = ½·ρ·C·A</a:t>
            </a:r>
            <a:endParaRPr lang="en-US" sz="1500" dirty="0"/>
          </a:p>
        </p:txBody>
      </p:sp>
      <p:sp>
        <p:nvSpPr>
          <p:cNvPr id="22" name="Text 20"/>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şekil ve alana bağlı</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Günlük hızlarda hava direnci Fd = k·v²'dir; k = ½·ρ·C·A havanın yoğunluğunu, cismin şeklini ve kesit alanını bir araya toplar. v² çarpanı, hem itilen hava miktarının hem de ona verilen hızın v ile büyümesinden gelir.</a:t>
            </a:r>
            <a:endParaRPr lang="en-US" sz="1850" dirty="0"/>
          </a:p>
        </p:txBody>
      </p:sp>
      <p:sp>
        <p:nvSpPr>
          <p:cNvPr id="9" name="Shape 7"/>
          <p:cNvSpPr/>
          <p:nvPr/>
        </p:nvSpPr>
        <p:spPr>
          <a:xfrm>
            <a:off x="640080" y="2593238"/>
            <a:ext cx="154350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Fd = k · v²</a:t>
            </a:r>
            <a:endParaRPr lang="en-US" sz="1300" dirty="0"/>
          </a:p>
        </p:txBody>
      </p:sp>
      <p:sp>
        <p:nvSpPr>
          <p:cNvPr id="11" name="Shape 9"/>
          <p:cNvSpPr/>
          <p:nvPr/>
        </p:nvSpPr>
        <p:spPr>
          <a:xfrm>
            <a:off x="2293315" y="2593238"/>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293315" y="259323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k = ½ · ρ · C · A</a:t>
            </a:r>
            <a:endParaRPr lang="en-US" sz="1300" dirty="0"/>
          </a:p>
        </p:txBody>
      </p:sp>
      <p:sp>
        <p:nvSpPr>
          <p:cNvPr id="13" name="Text 11"/>
          <p:cNvSpPr txBox="1"/>
          <p:nvPr/>
        </p:nvSpPr>
        <p:spPr>
          <a:xfrm>
            <a:off x="640080" y="3215030"/>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ρ</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havanın yoğunluğu (deniz seviyesinde ≈ 1,2 kg/m³)</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C</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sürükleme katsayısı — cismin </a:t>
            </a:r>
            <a:pPr indent="0" marL="0">
              <a:lnSpc>
                <a:spcPct val="115000"/>
              </a:lnSpc>
              <a:buNone/>
            </a:pPr>
            <a:r>
              <a:rPr lang="en-US" sz="1300" i="1" dirty="0">
                <a:solidFill>
                  <a:srgbClr val="4A5470"/>
                </a:solidFill>
                <a:latin typeface="Calibri" pitchFamily="34" charset="0"/>
                <a:ea typeface="Calibri" pitchFamily="34" charset="-122"/>
                <a:cs typeface="Calibri" pitchFamily="34" charset="-120"/>
              </a:rPr>
              <a:t>şekline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bağlı (küre ≈ 0,5; düz levha ≈ 1,2)</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harekete dik kesit alanı</a:t>
            </a:r>
            <a:endParaRPr lang="en-US" sz="1300" dirty="0"/>
          </a:p>
        </p:txBody>
      </p:sp>
      <p:sp>
        <p:nvSpPr>
          <p:cNvPr id="14" name="Text 12"/>
          <p:cNvSpPr txBox="1"/>
          <p:nvPr/>
        </p:nvSpPr>
        <p:spPr>
          <a:xfrm>
            <a:off x="640080" y="4236872"/>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v² nereden geliyor?</a:t>
            </a:r>
            <a:endParaRPr lang="en-US" sz="1350" dirty="0"/>
          </a:p>
        </p:txBody>
      </p:sp>
      <p:sp>
        <p:nvSpPr>
          <p:cNvPr id="15" name="Shape 13"/>
          <p:cNvSpPr/>
          <p:nvPr/>
        </p:nvSpPr>
        <p:spPr>
          <a:xfrm>
            <a:off x="640080" y="6382512"/>
            <a:ext cx="128016" cy="128016"/>
          </a:xfrm>
          <a:prstGeom prst="roundRect">
            <a:avLst>
              <a:gd name="adj" fmla="val 28571"/>
            </a:avLst>
          </a:prstGeom>
          <a:solidFill>
            <a:srgbClr val="A9E648"/>
          </a:solidFill>
          <a:ln/>
        </p:spPr>
      </p:sp>
      <p:sp>
        <p:nvSpPr>
          <p:cNvPr id="16"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7"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Süpürülen hava: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Δt sürede v·Δt yol alır ve önündeki A·v·Δt hacmindeki havayı iter.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Bu havanın kütlesi: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ρ·A·v·Δt; hız iki katına çıkınca iki kat hava itilir.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Havaya verilen hız: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itilen hava yaklaşık v mertebesinde hızlanır; hız iki katına çıkınca bu da iki katına çıkar.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Newton'un ikinci yasası: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her saniye ρ·A·v kütlesindeki hava yaklaşık v kadar hızlandırılıyorsa gereken kuvvet ρ·A·v² mertebesindedir.</a:t>
            </a:r>
            <a:endParaRPr lang="en-US" sz="1300" dirty="0"/>
          </a:p>
        </p:txBody>
      </p:sp>
      <p:sp>
        <p:nvSpPr>
          <p:cNvPr id="7" name="Shape 5"/>
          <p:cNvSpPr/>
          <p:nvPr/>
        </p:nvSpPr>
        <p:spPr>
          <a:xfrm>
            <a:off x="640080" y="2986278"/>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132582"/>
            <a:ext cx="45720" cy="530352"/>
          </a:xfrm>
          <a:prstGeom prst="rect">
            <a:avLst/>
          </a:prstGeom>
          <a:solidFill>
            <a:srgbClr val="3C8C21"/>
          </a:solidFill>
          <a:ln/>
        </p:spPr>
      </p:sp>
      <p:sp>
        <p:nvSpPr>
          <p:cNvPr id="9" name="Text 7"/>
          <p:cNvSpPr txBox="1"/>
          <p:nvPr/>
        </p:nvSpPr>
        <p:spPr>
          <a:xfrm>
            <a:off x="914400" y="3096006"/>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k = ½·ρ·C·A için (kg/m³)·m² = kg/m çıkar. k·v² için (kg/m)·(m²/s²) = kg·m/s² = N ✓. Çözümlü örneklerdeki k değerleri bu yüzden kg/m ile yazılır.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Limit hız, m·g = k·vl² dengesinden vl = √(m·g/k) olarak çıkar. Kütle 4 katına çıkınca limit hız 2 katına çıkar, alan 4 katına çıkınca yarıya iner; belirleyici olan m/A oranıdır.</a:t>
            </a:r>
            <a:endParaRPr lang="en-US" sz="1850" dirty="0"/>
          </a:p>
        </p:txBody>
      </p:sp>
      <p:sp>
        <p:nvSpPr>
          <p:cNvPr id="9" name="Shape 7"/>
          <p:cNvSpPr/>
          <p:nvPr/>
        </p:nvSpPr>
        <p:spPr>
          <a:xfrm>
            <a:off x="640080" y="2593238"/>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ΣF = m·g − k·v²</a:t>
            </a:r>
            <a:endParaRPr lang="en-US" sz="1300" dirty="0"/>
          </a:p>
        </p:txBody>
      </p:sp>
      <p:sp>
        <p:nvSpPr>
          <p:cNvPr id="11" name="Shape 9"/>
          <p:cNvSpPr/>
          <p:nvPr/>
        </p:nvSpPr>
        <p:spPr>
          <a:xfrm>
            <a:off x="2688336" y="2593238"/>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593238"/>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m·g = k·vl² → a = 0</a:t>
            </a:r>
            <a:endParaRPr lang="en-US" sz="1300" dirty="0"/>
          </a:p>
        </p:txBody>
      </p:sp>
      <p:sp>
        <p:nvSpPr>
          <p:cNvPr id="13" name="Text 11"/>
          <p:cNvSpPr txBox="1"/>
          <p:nvPr/>
        </p:nvSpPr>
        <p:spPr>
          <a:xfrm>
            <a:off x="640080" y="3215030"/>
            <a:ext cx="6675120"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Denge: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limit hızda a = 0, yani m·g − k·v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0.</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Düzenle: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m·g, buradan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m·g / k.</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Karekök al: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√(m·g / k).</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k'yi aç: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 = ½·ρ·C·A yazınca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√(2·m·g / (ρ·C·A)).</a:t>
            </a:r>
            <a:endParaRPr lang="en-US" sz="1300" dirty="0"/>
          </a:p>
        </p:txBody>
      </p:sp>
      <p:sp>
        <p:nvSpPr>
          <p:cNvPr id="14" name="Shape 12"/>
          <p:cNvSpPr/>
          <p:nvPr/>
        </p:nvSpPr>
        <p:spPr>
          <a:xfrm>
            <a:off x="7607808" y="2593238"/>
            <a:ext cx="3943807" cy="3133044"/>
          </a:xfrm>
          <a:prstGeom prst="roundRect">
            <a:avLst>
              <a:gd name="adj" fmla="val 46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limit-hiz-03.png">    </p:cNvPr>
          <p:cNvPicPr>
            <a:picLocks noChangeAspect="1"/>
          </p:cNvPicPr>
          <p:nvPr/>
        </p:nvPicPr>
        <p:blipFill>
          <a:blip r:embed="rId1"/>
          <a:stretch>
            <a:fillRect/>
          </a:stretch>
        </p:blipFill>
        <p:spPr>
          <a:xfrm>
            <a:off x="7790688" y="2776118"/>
            <a:ext cx="3578047" cy="1490781"/>
          </a:xfrm>
          <a:prstGeom prst="rect">
            <a:avLst/>
          </a:prstGeom>
        </p:spPr>
      </p:pic>
      <p:sp>
        <p:nvSpPr>
          <p:cNvPr id="16" name="Shape 13"/>
          <p:cNvSpPr/>
          <p:nvPr/>
        </p:nvSpPr>
        <p:spPr>
          <a:xfrm>
            <a:off x="7790688" y="4358340"/>
            <a:ext cx="3578047" cy="0"/>
          </a:xfrm>
          <a:prstGeom prst="line">
            <a:avLst/>
          </a:prstGeom>
          <a:noFill/>
          <a:ln w="9525">
            <a:solidFill>
              <a:srgbClr val="E1E5EE"/>
            </a:solidFill>
            <a:prstDash val="dash"/>
          </a:ln>
        </p:spPr>
      </p:sp>
      <p:sp>
        <p:nvSpPr>
          <p:cNvPr id="17" name="Text 14"/>
          <p:cNvSpPr txBox="1"/>
          <p:nvPr/>
        </p:nvSpPr>
        <p:spPr>
          <a:xfrm>
            <a:off x="7790688" y="4413204"/>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Limit hız iki şeye bağlıdır ve ikisine 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karekökle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kütle dört katına çıkarsa limit hız yalnızca iki katına çıkar, alan dört katına çıkarsa hız yarıya iner. Belirleyici olan tek başına kütle ya da alan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m/A oranıdır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bu yüzden aynı kâğıdın buruşturulmuşu açık hâlinden çok daha hızlı iner.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vl = √(m·g / k)</a:t>
            </a:r>
            <a:endParaRPr lang="en-US" sz="1300" dirty="0"/>
          </a:p>
        </p:txBody>
      </p:sp>
      <p:sp>
        <p:nvSpPr>
          <p:cNvPr id="8" name="Shape 6"/>
          <p:cNvSpPr/>
          <p:nvPr/>
        </p:nvSpPr>
        <p:spPr>
          <a:xfrm>
            <a:off x="2688336" y="1481328"/>
            <a:ext cx="2728570"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688336" y="148132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vl = √(2·m·g / (ρ·C·A))</a:t>
            </a:r>
            <a:endParaRPr lang="en-US" sz="1300" dirty="0"/>
          </a:p>
        </p:txBody>
      </p:sp>
      <p:sp>
        <p:nvSpPr>
          <p:cNvPr id="10" name="Text 8"/>
          <p:cNvSpPr txBox="1"/>
          <p:nvPr/>
        </p:nvSpPr>
        <p:spPr>
          <a:xfrm>
            <a:off x="640080" y="2103120"/>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Kütle artarsa limit hız artar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ama karekökle: kütle 4 katına çıkarsa hız 2 katına.</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Alan artarsa limit hız azalır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yine karekökle: alan 4 katına çıkarsa hız yarıya.</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Belirleyici olan m/A oranıdır.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Aynı kütleli iki cisimden yüzeyi geniş olan daha yavaş iner.</a:t>
            </a:r>
            <a:endParaRPr lang="en-US" sz="1300" dirty="0"/>
          </a:p>
        </p:txBody>
      </p:sp>
      <p:sp>
        <p:nvSpPr>
          <p:cNvPr id="11" name="Shape 9"/>
          <p:cNvSpPr/>
          <p:nvPr/>
        </p:nvSpPr>
        <p:spPr>
          <a:xfrm>
            <a:off x="640080" y="3088386"/>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234690"/>
            <a:ext cx="45720" cy="530352"/>
          </a:xfrm>
          <a:prstGeom prst="rect">
            <a:avLst/>
          </a:prstGeom>
          <a:solidFill>
            <a:srgbClr val="3C8C21"/>
          </a:solidFill>
          <a:ln/>
        </p:spPr>
      </p:sp>
      <p:sp>
        <p:nvSpPr>
          <p:cNvPr id="13" name="Text 11"/>
          <p:cNvSpPr txBox="1"/>
          <p:nvPr/>
        </p:nvSpPr>
        <p:spPr>
          <a:xfrm>
            <a:off x="914400" y="3198114"/>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Yükseklik de etkiler: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ρ yukarıda küçüldüğü için aynı cismin limit hızı yüksek irtifada daha büyüktür. Serbest düşüş rekorları bu yüzden stratosferden yapılır.</a:t>
            </a:r>
            <a:endParaRPr lang="en-US" sz="12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boyda bir tahta bilye ile bir demir bilyeden hangisinin limit hızı daha büyüktür?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Limit hız bağıntısı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boyda bir tahta bilye ile bir demir bilyeden hangisinin limit hızı daha büyüktür?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Demir bilyenin.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Şekil ve alan aynı olduğu için k de aynıdır; fark yalnızca kütlededir. Demir bilye tahtadan 10 kat ağırsa limit hızı √10 ≈ 3 kat büyüktür. Kütle limit hızı artırır, ama karekökle.</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Havada düşen cismin v – t eğrisi eğimi g olan bir doğru gibi başlar, sonra doyarak limit hıza yaklaşır: v = vl·tanh(g·t/vl). Limitin %95'ine varma süresi yaklaşık 1,83·vl/g'dir.</a:t>
            </a:r>
            <a:endParaRPr lang="en-US" sz="1850" dirty="0"/>
          </a:p>
        </p:txBody>
      </p:sp>
      <p:sp>
        <p:nvSpPr>
          <p:cNvPr id="9" name="Shape 7"/>
          <p:cNvSpPr/>
          <p:nvPr/>
        </p:nvSpPr>
        <p:spPr>
          <a:xfrm>
            <a:off x="640080" y="2593238"/>
            <a:ext cx="3024835"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v(t) = vl · tanh(g·t / vl)</a:t>
            </a:r>
            <a:endParaRPr lang="en-US" sz="1300" dirty="0"/>
          </a:p>
        </p:txBody>
      </p:sp>
      <p:sp>
        <p:nvSpPr>
          <p:cNvPr id="11" name="Text 9"/>
          <p:cNvSpPr txBox="1"/>
          <p:nvPr/>
        </p:nvSpPr>
        <p:spPr>
          <a:xfrm>
            <a:off x="640080" y="3215030"/>
            <a:ext cx="7223760" cy="12435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Sıfırda sıfırdır:</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 = 0'da v = 0; cisim durgun bırakılmıştır.</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Başta doğru gibi davranır:</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küçük t için v ≈ g·t; ilk anlarda cisim neredeyse serbest düşer.</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1'e yaklaşır ama ulaşmaz: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tanh(1,83) ≈ 0,95 ve tanh(2,65) ≈ 0,99; v, v</a:t>
            </a:r>
            <a:pPr indent="0" marL="0">
              <a:lnSpc>
                <a:spcPct val="115000"/>
              </a:lnSpc>
              <a:buNone/>
            </a:pPr>
            <a:r>
              <a:rPr lang="en-US" sz="12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'ye hiç tam ulaşmaz.</a:t>
            </a:r>
            <a:endParaRPr lang="en-US" sz="1200" dirty="0"/>
          </a:p>
        </p:txBody>
      </p:sp>
      <p:sp>
        <p:nvSpPr>
          <p:cNvPr id="12" name="Shape 10"/>
          <p:cNvSpPr/>
          <p:nvPr/>
        </p:nvSpPr>
        <p:spPr>
          <a:xfrm>
            <a:off x="640080" y="4568342"/>
            <a:ext cx="2432304"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640080" y="4568342"/>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t%95 ≈ 1,83 · vl / g</a:t>
            </a:r>
            <a:endParaRPr lang="en-US" sz="1300" dirty="0"/>
          </a:p>
        </p:txBody>
      </p:sp>
      <p:sp>
        <p:nvSpPr>
          <p:cNvPr id="14" name="Shape 12"/>
          <p:cNvSpPr/>
          <p:nvPr/>
        </p:nvSpPr>
        <p:spPr>
          <a:xfrm>
            <a:off x="640080" y="5190134"/>
            <a:ext cx="7223760" cy="787908"/>
          </a:xfrm>
          <a:prstGeom prst="roundRect">
            <a:avLst>
              <a:gd name="adj" fmla="val 1392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58368" y="5336438"/>
            <a:ext cx="45720" cy="495300"/>
          </a:xfrm>
          <a:prstGeom prst="rect">
            <a:avLst/>
          </a:prstGeom>
          <a:solidFill>
            <a:srgbClr val="A56209"/>
          </a:solidFill>
          <a:ln/>
        </p:spPr>
      </p:sp>
      <p:sp>
        <p:nvSpPr>
          <p:cNvPr id="16" name="Text 14"/>
          <p:cNvSpPr txBox="1"/>
          <p:nvPr/>
        </p:nvSpPr>
        <p:spPr>
          <a:xfrm>
            <a:off x="914400" y="5299862"/>
            <a:ext cx="6766560" cy="568452"/>
          </a:xfrm>
          <a:prstGeom prst="rect">
            <a:avLst/>
          </a:prstGeom>
          <a:noFill/>
          <a:ln/>
        </p:spPr>
        <p:txBody>
          <a:bodyPr wrap="square" lIns="0" tIns="0" rIns="0" bIns="0" rtlCol="0" anchor="ctr"/>
          <a:lstStyle/>
          <a:p>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Limit hızda hız sıfır değildir!</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Sıfır olan </a:t>
            </a:r>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ivmedir</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Cisim hâlâ (hem de hızla) düşmektedir; yalnızca artık hızlanmamaktadır.</a:t>
            </a:r>
            <a:endParaRPr lang="en-US" sz="1100" dirty="0"/>
          </a:p>
        </p:txBody>
      </p:sp>
      <p:sp>
        <p:nvSpPr>
          <p:cNvPr id="17" name="Shape 15"/>
          <p:cNvSpPr/>
          <p:nvPr/>
        </p:nvSpPr>
        <p:spPr>
          <a:xfrm>
            <a:off x="8156448" y="2593238"/>
            <a:ext cx="3395167" cy="3083677"/>
          </a:xfrm>
          <a:prstGeom prst="roundRect">
            <a:avLst>
              <a:gd name="adj" fmla="val 474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4/sek/limit-hiz-04.png">    </p:cNvPr>
          <p:cNvPicPr>
            <a:picLocks noChangeAspect="1"/>
          </p:cNvPicPr>
          <p:nvPr/>
        </p:nvPicPr>
        <p:blipFill>
          <a:blip r:embed="rId1"/>
          <a:stretch>
            <a:fillRect/>
          </a:stretch>
        </p:blipFill>
        <p:spPr>
          <a:xfrm>
            <a:off x="8339328" y="2776118"/>
            <a:ext cx="3029407" cy="1262192"/>
          </a:xfrm>
          <a:prstGeom prst="rect">
            <a:avLst/>
          </a:prstGeom>
        </p:spPr>
      </p:pic>
      <p:sp>
        <p:nvSpPr>
          <p:cNvPr id="19" name="Shape 16"/>
          <p:cNvSpPr/>
          <p:nvPr/>
        </p:nvSpPr>
        <p:spPr>
          <a:xfrm>
            <a:off x="8339328" y="4129751"/>
            <a:ext cx="3029407" cy="0"/>
          </a:xfrm>
          <a:prstGeom prst="line">
            <a:avLst/>
          </a:prstGeom>
          <a:noFill/>
          <a:ln w="9525">
            <a:solidFill>
              <a:srgbClr val="E1E5EE"/>
            </a:solidFill>
            <a:prstDash val="dash"/>
          </a:ln>
        </p:spPr>
      </p:sp>
      <p:sp>
        <p:nvSpPr>
          <p:cNvPr id="20" name="Text 17"/>
          <p:cNvSpPr txBox="1"/>
          <p:nvPr/>
        </p:nvSpPr>
        <p:spPr>
          <a:xfrm>
            <a:off x="8339328" y="4184615"/>
            <a:ext cx="30294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Eğrinin her noktasındaki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eğim o andaki ivmedir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Başlangıçta eğim tam olarak g'dir — ilk anda hız sıfır olduğu için direnç de sıfırdır. Hız büyüdükçe eğim azalır ve eğri, limit hız doğrusuna hiç değmeden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 kadar yaklaşır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Pratikte cisim birkaç saniyede limit hızın %99'una ulaşır.</a:t>
            </a:r>
            <a:endParaRPr lang="en-US" sz="1050" dirty="0"/>
          </a:p>
        </p:txBody>
      </p:sp>
      <p:sp>
        <p:nvSpPr>
          <p:cNvPr id="21" name="Shape 18"/>
          <p:cNvSpPr/>
          <p:nvPr/>
        </p:nvSpPr>
        <p:spPr>
          <a:xfrm>
            <a:off x="640080" y="6382512"/>
            <a:ext cx="128016" cy="128016"/>
          </a:xfrm>
          <a:prstGeom prst="roundRect">
            <a:avLst>
              <a:gd name="adj" fmla="val 28571"/>
            </a:avLst>
          </a:prstGeom>
          <a:solidFill>
            <a:srgbClr val="A9E648"/>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3"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Doyan v – t eğrisinde eğim hangi anda en büyüktür ve o anki değeri nedir?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v – t grafiği: doyan eğri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Doyan v – t eğrisinde eğim hangi anda en büyüktür ve o anki değeri nedir?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Bırakma anında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en büyüktür ve tam olarak g'dir. O anda hız sıfır olduğu için direnç de sıfırdır; cisim yalnızca ağırlığın etkisindedir. Sonra direnç büyüdükçe eğim, yani ivme, azalır ve limit hızda sıfıra iner.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Limit hızlar sis damlacığında 0,01 m/s'den dalıştaki paraşütçüde 90 m/s'ye kadar uzanır. Limite oturma süresi vl ile, bu sırada düşülen yol vl² ile büyür: yağmur damlası ilk 10 m'de dengeye gelir.</a:t>
            </a:r>
            <a:endParaRPr lang="en-US" sz="1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6675120" cy="914400"/>
        </p:xfrm>
        <a:graphic>
          <a:graphicData uri="http://schemas.openxmlformats.org/drawingml/2006/table">
            <a:tbl>
              <a:tblPr/>
              <a:tblGrid>
                <a:gridCol w="2810577"/>
                <a:gridCol w="1053966"/>
                <a:gridCol w="281057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Limit 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Neden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Sis damlacığı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0,01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çok küçük 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Yağmur damlası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9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küçük kütle, küresel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Tenis topu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25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orta 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Paraşütçü: kol-bacak açık / dalış pozisyonu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55 / ≈ 90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büyük kütle, orta alan / alan iyice küçülür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Açık paraşüt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alan onlarca kat büyür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7607808" y="2593238"/>
            <a:ext cx="3943807" cy="3133044"/>
          </a:xfrm>
          <a:prstGeom prst="roundRect">
            <a:avLst>
              <a:gd name="adj" fmla="val 46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limit-hiz-05.png">    </p:cNvPr>
          <p:cNvPicPr>
            <a:picLocks noChangeAspect="1"/>
          </p:cNvPicPr>
          <p:nvPr/>
        </p:nvPicPr>
        <p:blipFill>
          <a:blip r:embed="rId1"/>
          <a:stretch>
            <a:fillRect/>
          </a:stretch>
        </p:blipFill>
        <p:spPr>
          <a:xfrm>
            <a:off x="7790688" y="2776118"/>
            <a:ext cx="3578047" cy="1490781"/>
          </a:xfrm>
          <a:prstGeom prst="rect">
            <a:avLst/>
          </a:prstGeom>
        </p:spPr>
      </p:pic>
      <p:sp>
        <p:nvSpPr>
          <p:cNvPr id="12" name="Shape 8"/>
          <p:cNvSpPr/>
          <p:nvPr/>
        </p:nvSpPr>
        <p:spPr>
          <a:xfrm>
            <a:off x="7790688" y="4358340"/>
            <a:ext cx="3578047" cy="0"/>
          </a:xfrm>
          <a:prstGeom prst="line">
            <a:avLst/>
          </a:prstGeom>
          <a:noFill/>
          <a:ln w="9525">
            <a:solidFill>
              <a:srgbClr val="E1E5EE"/>
            </a:solidFill>
            <a:prstDash val="dash"/>
          </a:ln>
        </p:spPr>
      </p:sp>
      <p:sp>
        <p:nvSpPr>
          <p:cNvPr id="13" name="Text 9"/>
          <p:cNvSpPr txBox="1"/>
          <p:nvPr/>
        </p:nvSpPr>
        <p:spPr>
          <a:xfrm>
            <a:off x="7790688" y="4413204"/>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yerçekimi, aynı hava — ama limit hızlar arasında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binlerce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 var. Farkı yapan tek şey m/A oranı: sis damlacığı neredeyse asılı kalır, kollarını yanına toplayan bir paraşütçü ise 90 m/s'ye çıkar. Paraşütü açmak, aynı insanın limit hızını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bire bölmeye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yeter.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Sayılarla hisset: kim, hangi hızla, ne kadar sürede? · devam</a:t>
            </a:r>
            <a:endParaRPr lang="en-US" sz="23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3637178"/>
                <a:gridCol w="1259023"/>
                <a:gridCol w="2797830"/>
                <a:gridCol w="321750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Limit 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%95'ine varma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 ana kadar düşülen yol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Yağmur damlası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1,7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Tenis topu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4,7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74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Paraşütçü (kol-bacak açık)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55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Paraşütçü (dalış)</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16,8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960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Text 4"/>
          <p:cNvSpPr txBox="1"/>
          <p:nvPr/>
        </p:nvSpPr>
        <p:spPr>
          <a:xfrm>
            <a:off x="640080" y="3300984"/>
            <a:ext cx="10911535"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Süre limit hızla doğru orantılıdır: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limit hızı 10 kat büyük olan dalıştaki paraşütçü, dengeye yağmur damlasından 10 kat geç oturur.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Yol limit hızın karesiyle büyür: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yağmur damlası ilk 10 m'de, paraşütçü ancak ilk 360 m'de limitine oturur.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Yağmur damlası neredeyse hep sabit hızlıdır: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2 km'lik düşüşün yalnızca ilk 10 metresi hızlanmayla geçer.</a:t>
            </a:r>
            <a:endParaRPr lang="en-US" sz="13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serbest düşme modeli nerede yetmez, paraşüt nasıl çalışır ve limit hız gerçek hayatta nerede karşımıza çıkar?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Serbest düşmeden farkı: model ne zaman yeter?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Paraşüt ve ölçek etkisi</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Limit hız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limit-hiz-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Açık paraşütle limit hız saniyede birkaç metreye iner.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5 m/s ile yere değmek, yaklaşık 1,25 m yükseklikten atlamaya denktir; bacaklar bu darbeyi rahatça karşılar. Dikdörtgen kubbeler üstelik bir kanat gibi ileri doğru süzülür; paraşütçü iplerle yön verir ve yere değmeden hemen önce kubbeyi frenleyerek daha da yavaşlar.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Serbest düşme, düşme yüksekliği vl²/g'nin yanında küçük kaldığında iyi bir yaklaşımdır. Havada yukarı atılan cisimde simetri bozulur: çıkış inişten kısa sürer ve cisim atıldığından küçük bir hızla döner.</a:t>
            </a:r>
            <a:endParaRPr lang="en-US" sz="1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6675120" cy="914400"/>
        </p:xfrm>
        <a:graphic>
          <a:graphicData uri="http://schemas.openxmlformats.org/drawingml/2006/table">
            <a:tbl>
              <a:tblPr/>
              <a:tblGrid>
                <a:gridCol w="1557528"/>
                <a:gridCol w="2336292"/>
                <a:gridCol w="2781300"/>
              </a:tblGrid>
              <a:tr h="338328">
                <a:tc>
                  <a:txBody>
                    <a:bodyPr/>
                    <a:lstStyle/>
                    <a:p>
                      <a:pPr indent="0" marL="0">
                        <a:buNone/>
                      </a:pP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Serbest düşme (ideal)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Gerçek düşüş</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Etkiyen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Yalnızca ağırlık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Ağırlık + hava direnci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İvme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Sabit,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g'den başlar, sıfıra iner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Sınırsız artar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Limit hızda sabitlenir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Kütlenin rolü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Var (m/A oranı)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7607808" y="2593238"/>
            <a:ext cx="3943807" cy="3207978"/>
          </a:xfrm>
          <a:prstGeom prst="roundRect">
            <a:avLst>
              <a:gd name="adj" fmla="val 456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limit-hiz-06.png">    </p:cNvPr>
          <p:cNvPicPr>
            <a:picLocks noChangeAspect="1"/>
          </p:cNvPicPr>
          <p:nvPr/>
        </p:nvPicPr>
        <p:blipFill>
          <a:blip r:embed="rId1"/>
          <a:stretch>
            <a:fillRect/>
          </a:stretch>
        </p:blipFill>
        <p:spPr>
          <a:xfrm>
            <a:off x="7790688" y="2776118"/>
            <a:ext cx="3578047" cy="1386493"/>
          </a:xfrm>
          <a:prstGeom prst="rect">
            <a:avLst/>
          </a:prstGeom>
        </p:spPr>
      </p:pic>
      <p:sp>
        <p:nvSpPr>
          <p:cNvPr id="12" name="Shape 8"/>
          <p:cNvSpPr/>
          <p:nvPr/>
        </p:nvSpPr>
        <p:spPr>
          <a:xfrm>
            <a:off x="7790688" y="4254052"/>
            <a:ext cx="3578047" cy="0"/>
          </a:xfrm>
          <a:prstGeom prst="line">
            <a:avLst/>
          </a:prstGeom>
          <a:noFill/>
          <a:ln w="9525">
            <a:solidFill>
              <a:srgbClr val="E1E5EE"/>
            </a:solidFill>
            <a:prstDash val="dash"/>
          </a:ln>
        </p:spPr>
      </p:sp>
      <p:sp>
        <p:nvSpPr>
          <p:cNvPr id="13" name="Text 9"/>
          <p:cNvSpPr txBox="1"/>
          <p:nvPr/>
        </p:nvSpPr>
        <p:spPr>
          <a:xfrm>
            <a:off x="7790688" y="4308916"/>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Vakumda ivme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sınırsız artar ve kütlenin hiçbir rolü yoktur. Havada ise ivme g'den başlayıp sıfıra iner, hız bir değerde sabitlenir ve artık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kütle ile alan işin içine girer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Serbest düşme, hava direncinin ihmal edilebildiği özel bir durumdur — kısa mesafelerde ve ağır cisimlerde iyi bir yaklaşımdır.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Serbest düşmeden farkı: model ne zaman yeter? · devam</a:t>
            </a:r>
            <a:endParaRPr lang="en-US" sz="26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481328"/>
            <a:ext cx="2926080"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vl²/g → serbest düşme</a:t>
            </a:r>
            <a:endParaRPr lang="en-US" sz="1300" dirty="0"/>
          </a:p>
        </p:txBody>
      </p:sp>
      <p:sp>
        <p:nvSpPr>
          <p:cNvPr id="8" name="Shape 6"/>
          <p:cNvSpPr/>
          <p:nvPr/>
        </p:nvSpPr>
        <p:spPr>
          <a:xfrm>
            <a:off x="3675888" y="1481328"/>
            <a:ext cx="253105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675888" y="148132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vl²/g → limit hız</a:t>
            </a:r>
            <a:endParaRPr lang="en-US" sz="1300" dirty="0"/>
          </a:p>
        </p:txBody>
      </p:sp>
      <p:sp>
        <p:nvSpPr>
          <p:cNvPr id="10" name="Text 8"/>
          <p:cNvSpPr txBox="1"/>
          <p:nvPr/>
        </p:nvSpPr>
        <p:spPr>
          <a:xfrm>
            <a:off x="640080" y="2103120"/>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Bilye: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sayfanın 03 numaralı bölümündeki bilyenin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44 m/s,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²/g ≈ 200 m; 1 m'lik düşüşte direnç ihmal edilebilir.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Yağmur damlası: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²/g ≈ 8 m; 2 km'lik düşüşte serbest düşme tamamen yanlış sonuç verir.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Paraşütçü:</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²/g ≈ 300 m; ilk birkaç saniye serbest düşmeye yakındır, sonrası limit hızdır.</a:t>
            </a:r>
            <a:endParaRPr lang="en-US" sz="13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 yukarı atılan bir topun tepe noktasındaki ivmesi g'den büyük mü, g'ye eşit mi, g'den küçük mü?</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Serbest düşmeden farkı: model ne zaman yeter?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 yukarı atılan bir topun tepe noktasındaki ivmesi g'den büyük mü, g'ye eşit mi, g'den küçük mü?</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Tam g'ye eşittir.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Tepe noktada hız sıfırdır, dolayısıyla hava direnci de sıfırdır; o an topa yalnızca ağırlık etki eder. Çıkarken ivme g'den büyük, inerken g'den küçüktür; tam tepede, bu iki evrenin arasındaki geçiş anında direnç ortadan kalkar.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Paraşüt kütleyi değil k'yi büyütür: açıldığı anda direnç ağırlığı aşar, net kuvvet yukarı döner ve paraşütçü yavaşlayarak yeni, küçük limit hıza oturur. Küçük canlıların m/A oranı küçük olduğundan limit hızları da küçüktür.</a:t>
            </a:r>
            <a:endParaRPr lang="en-US" sz="1850" dirty="0"/>
          </a:p>
        </p:txBody>
      </p:sp>
      <p:sp>
        <p:nvSpPr>
          <p:cNvPr id="9" name="Text 7"/>
          <p:cNvSpPr txBox="1"/>
          <p:nvPr/>
        </p:nvSpPr>
        <p:spPr>
          <a:xfrm>
            <a:off x="640080" y="259323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Paraşüt, kütleyi değil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alanı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değiştirir.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Açıldığı anda A onlarca katına çıkar, k büyür ve yeni limit hız çok küçülür:</a:t>
            </a:r>
            <a:endParaRPr lang="en-US" sz="1600" dirty="0"/>
          </a:p>
        </p:txBody>
      </p:sp>
      <p:sp>
        <p:nvSpPr>
          <p:cNvPr id="10" name="Shape 8"/>
          <p:cNvSpPr/>
          <p:nvPr/>
        </p:nvSpPr>
        <p:spPr>
          <a:xfrm>
            <a:off x="640080" y="3672230"/>
            <a:ext cx="2531059"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672230"/>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25A ⇒ vl → vl / 5</a:t>
            </a:r>
            <a:endParaRPr lang="en-US" sz="1300" dirty="0"/>
          </a:p>
        </p:txBody>
      </p:sp>
      <p:sp>
        <p:nvSpPr>
          <p:cNvPr id="12" name="Shape 10"/>
          <p:cNvSpPr/>
          <p:nvPr/>
        </p:nvSpPr>
        <p:spPr>
          <a:xfrm>
            <a:off x="640080" y="4294022"/>
            <a:ext cx="1049731"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640080" y="4294022"/>
            <a:ext cx="1049731"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L³</a:t>
            </a:r>
            <a:endParaRPr lang="en-US" sz="1300" dirty="0"/>
          </a:p>
        </p:txBody>
      </p:sp>
      <p:sp>
        <p:nvSpPr>
          <p:cNvPr id="14" name="Shape 12"/>
          <p:cNvSpPr/>
          <p:nvPr/>
        </p:nvSpPr>
        <p:spPr>
          <a:xfrm>
            <a:off x="1799539" y="4294022"/>
            <a:ext cx="1049731"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1799539" y="4294022"/>
            <a:ext cx="1049731"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L²</a:t>
            </a:r>
            <a:endParaRPr lang="en-US" sz="1300" dirty="0"/>
          </a:p>
        </p:txBody>
      </p:sp>
      <p:sp>
        <p:nvSpPr>
          <p:cNvPr id="16" name="Shape 14"/>
          <p:cNvSpPr/>
          <p:nvPr/>
        </p:nvSpPr>
        <p:spPr>
          <a:xfrm>
            <a:off x="2958998" y="4294022"/>
            <a:ext cx="2136038" cy="457200"/>
          </a:xfrm>
          <a:prstGeom prst="roundRect">
            <a:avLst>
              <a:gd name="adj" fmla="val 24000"/>
            </a:avLst>
          </a:prstGeom>
          <a:solidFill>
            <a:srgbClr val="EEF2FC"/>
          </a:solidFill>
          <a:ln w="9525">
            <a:solidFill>
              <a:srgbClr val="CBD7F4"/>
            </a:solidFill>
            <a:prstDash val="solid"/>
          </a:ln>
        </p:spPr>
      </p:sp>
      <p:sp>
        <p:nvSpPr>
          <p:cNvPr id="17" name="Text 15"/>
          <p:cNvSpPr txBox="1"/>
          <p:nvPr/>
        </p:nvSpPr>
        <p:spPr>
          <a:xfrm>
            <a:off x="2958998" y="4294022"/>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m/A ∝ L ⇒ vl ∝ √L</a:t>
            </a:r>
            <a:endParaRPr lang="en-US" sz="1300" dirty="0"/>
          </a:p>
        </p:txBody>
      </p:sp>
      <p:sp>
        <p:nvSpPr>
          <p:cNvPr id="18" name="Shape 16"/>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4/sek/limit-hiz-07.png">    </p:cNvPr>
          <p:cNvPicPr>
            <a:picLocks noChangeAspect="1"/>
          </p:cNvPicPr>
          <p:nvPr/>
        </p:nvPicPr>
        <p:blipFill>
          <a:blip r:embed="rId1"/>
          <a:stretch>
            <a:fillRect/>
          </a:stretch>
        </p:blipFill>
        <p:spPr>
          <a:xfrm>
            <a:off x="6669810" y="2776118"/>
            <a:ext cx="4631083" cy="1890979"/>
          </a:xfrm>
          <a:prstGeom prst="rect">
            <a:avLst/>
          </a:prstGeom>
        </p:spPr>
      </p:pic>
      <p:sp>
        <p:nvSpPr>
          <p:cNvPr id="20" name="Shape 17"/>
          <p:cNvSpPr/>
          <p:nvPr/>
        </p:nvSpPr>
        <p:spPr>
          <a:xfrm>
            <a:off x="6601968" y="4758538"/>
            <a:ext cx="4766767" cy="0"/>
          </a:xfrm>
          <a:prstGeom prst="line">
            <a:avLst/>
          </a:prstGeom>
          <a:noFill/>
          <a:ln w="9525">
            <a:solidFill>
              <a:srgbClr val="E1E5EE"/>
            </a:solidFill>
            <a:prstDash val="dash"/>
          </a:ln>
        </p:spPr>
      </p:sp>
      <p:sp>
        <p:nvSpPr>
          <p:cNvPr id="21" name="Text 18"/>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Paraşüt açıldığı anda kütle değişmez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alan onlarca kat büyür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Direnç bir anda ağırlığın çok üstüne çıkar, net kuvvet yukarı döner ve atlayıcı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yavaşlar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bu ani frenlemeyi vücudunda hissettiği an budur. Yavaşladıkça direnç küçülür ve hız yeni, çok daha düşük bir limitte dengelenir. Alan 25 kat büyüyünce hız karekökle, yani yaklaşık beşte birine iner.</a:t>
            </a:r>
            <a:endParaRPr lang="en-US" sz="1050" dirty="0"/>
          </a:p>
        </p:txBody>
      </p:sp>
      <p:sp>
        <p:nvSpPr>
          <p:cNvPr id="22" name="Shape 19"/>
          <p:cNvSpPr/>
          <p:nvPr/>
        </p:nvSpPr>
        <p:spPr>
          <a:xfrm>
            <a:off x="640080" y="6382512"/>
            <a:ext cx="128016" cy="128016"/>
          </a:xfrm>
          <a:prstGeom prst="roundRect">
            <a:avLst>
              <a:gd name="adj" fmla="val 28571"/>
            </a:avLst>
          </a:prstGeom>
          <a:solidFill>
            <a:srgbClr val="A9E648"/>
          </a:solidFill>
          <a:ln/>
        </p:spPr>
      </p:sp>
      <p:sp>
        <p:nvSpPr>
          <p:cNvPr id="23"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4"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Paraşüt açılınca, yanında düşen arkadaşının kamerasında paraşütçü neden yukarı fırlıyor gibi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Paraşüt ve ölçek etkisi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Paraşüt açılınca, yanında düşen arkadaşının kamerasında paraşütçü neden yukarı fırlıyor gibi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paraşütçü birden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yavaşlar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Limit hız, yağmurun zararsızlığını, bulutların asılı kalmasını ve paraşütle güvenli inişi açıklar. A ile C'yi küçültmek hız kazandırır, büyütmek yavaşlatır; seyrek hava limit hızı büyütür.</a:t>
            </a:r>
            <a:endParaRPr lang="en-US" sz="1850" dirty="0"/>
          </a:p>
        </p:txBody>
      </p:sp>
      <p:sp>
        <p:nvSpPr>
          <p:cNvPr id="9" name="Text 7"/>
          <p:cNvSpPr txBox="1"/>
          <p:nvPr/>
        </p:nvSpPr>
        <p:spPr>
          <a:xfrm>
            <a:off x="640080" y="2593238"/>
            <a:ext cx="10911535" cy="33284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Bulutlar neden düşmez?</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0,01 m/s ile düşen bir bulut damlacığı 1 km'yi ancak yaklaşık 28 saatte iner; hafif yukarı hava akımları onu kolayca taşır.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Yağmur damlası: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2 mm çaplı bir damla yaklaşık 6,5 m/s ile düşer; yaklaşık 5 mm'den iri damlalar düşerken çoğunlukla parçalanır.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Dolu:</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5 cm çaplı bir dolu tanesi için basit model yaklaşık 30 m/s (110 km/h) verir; iri dolunun cam kırması bundandır.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Formasyon atlayışı: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el ele düşmek için limit hızlar eşit olmalı; hafif atlayıcılar ağırlık kemeri, ağır olanlar bol tulum kullanabilir.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Stratosfer atlayışları: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30 km'de hava deniz seviyesindekinden yaklaşık 65 kat seyrektir; limit hız yaklaşık 8 kat büyür ve ses hızı aşılabilir.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Otoyolda yakıt:</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90 yerine 120 km/h ile gitmek hava direncini (120/90)² ≈ 1,8 katına çıkarır; yüksek hızda motorun yaptığı işin büyük kısmı bu direnci yenmeye harcanır.</a:t>
            </a:r>
            <a:endParaRPr lang="en-US" sz="1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limit hız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Limit hızda kuvvetler</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Hızlanan bisikletli</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Aynı kütle, farklı alan</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Direnç katsayısını bulma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Paraşüt açılınca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Bir yağmur damlasının limit hızı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Limit hızda kuvvetler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80 kg kütleli bir paraşütçü, paraşütü kapalıyken 50 m/s'lik limit hızıyla düşmektedir. (a) Bu anda hava direnci kaç N'dur? (b) İvmesi nedir?</a:t>
            </a:r>
            <a:endParaRPr lang="en-US" sz="1600" dirty="0"/>
          </a:p>
        </p:txBody>
      </p:sp>
      <p:sp>
        <p:nvSpPr>
          <p:cNvPr id="11" name="Shape 9"/>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23365"/>
            <a:ext cx="384048" cy="384048"/>
          </a:xfrm>
          <a:prstGeom prst="roundRect">
            <a:avLst>
              <a:gd name="adj" fmla="val 26000"/>
            </a:avLst>
          </a:prstGeom>
          <a:solidFill>
            <a:srgbClr val="A56209"/>
          </a:solidFill>
          <a:ln/>
        </p:spPr>
      </p:sp>
      <p:sp>
        <p:nvSpPr>
          <p:cNvPr id="13" name="Text 11"/>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Limit hızda net kuvvet sıfırdır: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m·g = 80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800 N</a:t>
            </a:r>
            <a:endParaRPr lang="en-US" sz="1600" dirty="0"/>
          </a:p>
        </p:txBody>
      </p:sp>
      <p:sp>
        <p:nvSpPr>
          <p:cNvPr id="15" name="Shape 13"/>
          <p:cNvSpPr/>
          <p:nvPr/>
        </p:nvSpPr>
        <p:spPr>
          <a:xfrm>
            <a:off x="5212080" y="3349450"/>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404314"/>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ΣF = 0 olduğu için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 = 0</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'dır.</a:t>
            </a:r>
            <a:endParaRPr lang="en-US" sz="1600" dirty="0"/>
          </a:p>
        </p:txBody>
      </p:sp>
      <p:sp>
        <p:nvSpPr>
          <p:cNvPr id="19" name="Shape 17"/>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64987"/>
            <a:ext cx="384048" cy="384048"/>
          </a:xfrm>
          <a:prstGeom prst="roundRect">
            <a:avLst>
              <a:gd name="adj" fmla="val 26000"/>
            </a:avLst>
          </a:prstGeom>
          <a:solidFill>
            <a:srgbClr val="A56209"/>
          </a:solidFill>
          <a:ln/>
        </p:spPr>
      </p:sp>
      <p:sp>
        <p:nvSpPr>
          <p:cNvPr id="21" name="Text 19"/>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sıfır değildir: cisim 50 m/s ile düşmeye devam eder. Sabit olan hızdır, sıfır olan ivmedir.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bisikletli 5 m/s hızla giderken 8 N'luk hava direnciyle karşılaşıyor. (a) Direnç katsayısı k kaçtır? Hızını (b) 10 m/s'ye, (c) 15 m/s'ye çıkarırsa hava direnci kaç N olur?</a:t>
            </a:r>
            <a:endParaRPr lang="en-US" sz="1600" dirty="0"/>
          </a:p>
        </p:txBody>
      </p:sp>
      <p:sp>
        <p:nvSpPr>
          <p:cNvPr id="11" name="Shape 9"/>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13017"/>
            <a:ext cx="384048" cy="384048"/>
          </a:xfrm>
          <a:prstGeom prst="roundRect">
            <a:avLst>
              <a:gd name="adj" fmla="val 26000"/>
            </a:avLst>
          </a:prstGeom>
          <a:solidFill>
            <a:srgbClr val="A56209"/>
          </a:solidFill>
          <a:ln/>
        </p:spPr>
      </p:sp>
      <p:sp>
        <p:nvSpPr>
          <p:cNvPr id="13" name="Text 11"/>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k·v² → k = 8 / 5² = 8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0,32 kg/m</a:t>
            </a:r>
            <a:endParaRPr lang="en-US" sz="1600" dirty="0"/>
          </a:p>
        </p:txBody>
      </p:sp>
      <p:sp>
        <p:nvSpPr>
          <p:cNvPr id="15" name="Shape 13"/>
          <p:cNvSpPr/>
          <p:nvPr/>
        </p:nvSpPr>
        <p:spPr>
          <a:xfrm>
            <a:off x="5212080" y="252875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90631"/>
            <a:ext cx="384048" cy="384048"/>
          </a:xfrm>
          <a:prstGeom prst="roundRect">
            <a:avLst>
              <a:gd name="adj" fmla="val 26000"/>
            </a:avLst>
          </a:prstGeom>
          <a:solidFill>
            <a:srgbClr val="A56209"/>
          </a:solidFill>
          <a:ln/>
        </p:spPr>
      </p:sp>
      <p:sp>
        <p:nvSpPr>
          <p:cNvPr id="17" name="Text 15"/>
          <p:cNvSpPr txBox="1"/>
          <p:nvPr/>
        </p:nvSpPr>
        <p:spPr>
          <a:xfrm>
            <a:off x="5449824" y="28906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83618"/>
            <a:ext cx="5379415" cy="99807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Hız 2 katı → direnç 2² = 4 katı: 4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32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(kontrol: 0,32 · 100 = 32 N ✓)</a:t>
            </a:r>
            <a:endParaRPr lang="en-US" sz="1600" dirty="0"/>
          </a:p>
        </p:txBody>
      </p:sp>
      <p:sp>
        <p:nvSpPr>
          <p:cNvPr id="19" name="Shape 17"/>
          <p:cNvSpPr/>
          <p:nvPr/>
        </p:nvSpPr>
        <p:spPr>
          <a:xfrm>
            <a:off x="5212080" y="3782860"/>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68245"/>
            <a:ext cx="384048" cy="384048"/>
          </a:xfrm>
          <a:prstGeom prst="roundRect">
            <a:avLst>
              <a:gd name="adj" fmla="val 26000"/>
            </a:avLst>
          </a:prstGeom>
          <a:solidFill>
            <a:srgbClr val="A56209"/>
          </a:solidFill>
          <a:ln/>
        </p:spPr>
      </p:sp>
      <p:sp>
        <p:nvSpPr>
          <p:cNvPr id="21" name="Text 19"/>
          <p:cNvSpPr txBox="1"/>
          <p:nvPr/>
        </p:nvSpPr>
        <p:spPr>
          <a:xfrm>
            <a:off x="5449824" y="39682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Hız 3 katı → direnç 3² = 9 katı: 9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72 N</a:t>
            </a:r>
            <a:endParaRPr lang="en-US" sz="1600" dirty="0"/>
          </a:p>
        </p:txBody>
      </p:sp>
      <p:sp>
        <p:nvSpPr>
          <p:cNvPr id="23" name="Shape 21"/>
          <p:cNvSpPr/>
          <p:nvPr/>
        </p:nvSpPr>
        <p:spPr>
          <a:xfrm>
            <a:off x="5212080" y="4683982"/>
            <a:ext cx="6339535" cy="1460786"/>
          </a:xfrm>
          <a:prstGeom prst="roundRect">
            <a:avLst>
              <a:gd name="adj" fmla="val 1001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22351"/>
            <a:ext cx="384048" cy="384048"/>
          </a:xfrm>
          <a:prstGeom prst="roundRect">
            <a:avLst>
              <a:gd name="adj" fmla="val 26000"/>
            </a:avLst>
          </a:prstGeom>
          <a:solidFill>
            <a:srgbClr val="A56209"/>
          </a:solidFill>
          <a:ln/>
        </p:spPr>
      </p:sp>
      <p:sp>
        <p:nvSpPr>
          <p:cNvPr id="25" name="Text 23"/>
          <p:cNvSpPr txBox="1"/>
          <p:nvPr/>
        </p:nvSpPr>
        <p:spPr>
          <a:xfrm>
            <a:off x="5449824" y="52223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738846"/>
            <a:ext cx="5379415" cy="135105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Hızı üç katına çıkarmak dokuz kat direnç demektir; yarış bisikletçileri gövdelerini öne eğip A'yı bu yüzden küçültür.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kütle, farklı alan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Aynı kâğıttan yapılmış açık bir levha ile buruşturulmuş bir top düşünelim. Buruşturunca kesit alanı dokuzda birine iniyorsa limit hız nasıl değişir?</a:t>
            </a:r>
            <a:endParaRPr lang="en-US" sz="1600" dirty="0"/>
          </a:p>
        </p:txBody>
      </p:sp>
      <p:sp>
        <p:nvSpPr>
          <p:cNvPr id="11" name="Shape 9"/>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2358"/>
            <a:ext cx="384048" cy="384048"/>
          </a:xfrm>
          <a:prstGeom prst="roundRect">
            <a:avLst>
              <a:gd name="adj" fmla="val 26000"/>
            </a:avLst>
          </a:prstGeom>
          <a:solidFill>
            <a:srgbClr val="A56209"/>
          </a:solidFill>
          <a:ln/>
        </p:spPr>
      </p:sp>
      <p:sp>
        <p:nvSpPr>
          <p:cNvPr id="13" name="Text 11"/>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değişmedi; yalnızca A küçüldü: A → A/9</a:t>
            </a:r>
            <a:endParaRPr lang="en-US" sz="1600" dirty="0"/>
          </a:p>
        </p:txBody>
      </p:sp>
      <p:sp>
        <p:nvSpPr>
          <p:cNvPr id="15" name="Shape 13"/>
          <p:cNvSpPr/>
          <p:nvPr/>
        </p:nvSpPr>
        <p:spPr>
          <a:xfrm>
            <a:off x="5212080" y="2847437"/>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43170"/>
            <a:ext cx="384048" cy="384048"/>
          </a:xfrm>
          <a:prstGeom prst="roundRect">
            <a:avLst>
              <a:gd name="adj" fmla="val 26000"/>
            </a:avLst>
          </a:prstGeom>
          <a:solidFill>
            <a:srgbClr val="A56209"/>
          </a:solidFill>
          <a:ln/>
        </p:spPr>
      </p:sp>
      <p:sp>
        <p:nvSpPr>
          <p:cNvPr id="17" name="Text 15"/>
          <p:cNvSpPr txBox="1"/>
          <p:nvPr/>
        </p:nvSpPr>
        <p:spPr>
          <a:xfrm>
            <a:off x="5449824" y="34431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02301"/>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√(2mg / (ρCA)) ∝ 1/√A → A dokuzda birine inince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9" name="Shape 17"/>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64987"/>
            <a:ext cx="384048" cy="384048"/>
          </a:xfrm>
          <a:prstGeom prst="roundRect">
            <a:avLst>
              <a:gd name="adj" fmla="val 26000"/>
            </a:avLst>
          </a:prstGeom>
          <a:solidFill>
            <a:srgbClr val="A56209"/>
          </a:solidFill>
          <a:ln/>
        </p:spPr>
      </p:sp>
      <p:sp>
        <p:nvSpPr>
          <p:cNvPr id="21" name="Text 19"/>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yüzden buruşturulmuş kâğıt, açık kâğıttan çok daha hızlı düşer — kütleleri aynı olmasına rağmen.</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cismin kütlesi 2 kg, limit hızı 20 m/s ölçülüyor. Direnç F</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d</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k·v² modeliyle veriliyorsa k kaçtır? Hız 10 m/s iken ivme ne olur?</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Limit hızda: m·g = k·v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² → 20 = k · 400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k = 0,05 kg/m</a:t>
            </a:r>
            <a:endParaRPr lang="en-US" sz="1600" dirty="0"/>
          </a:p>
        </p:txBody>
      </p:sp>
      <p:sp>
        <p:nvSpPr>
          <p:cNvPr id="15" name="Shape 13"/>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854"/>
            <a:ext cx="384048" cy="384048"/>
          </a:xfrm>
          <a:prstGeom prst="roundRect">
            <a:avLst>
              <a:gd name="adj" fmla="val 26000"/>
            </a:avLst>
          </a:prstGeom>
          <a:solidFill>
            <a:srgbClr val="A56209"/>
          </a:solidFill>
          <a:ln/>
        </p:spPr>
      </p:sp>
      <p:sp>
        <p:nvSpPr>
          <p:cNvPr id="17" name="Text 15"/>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10 m/s iken direnç: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0,05 · 100 = 5 N</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20 − 5 = 15 N → a = 15/2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7,5 m/s²</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limitin yarısındayken ivme hâlâ g'nin dörtte üçü kadardır (direnç v² ile büyür).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Limit hızı 50 m/s olan paraşütçü, paraşütünü açtığında yüzey alanı 25 katına çıkıyor. (a) Yeni limit hız nedir? (b) Açılma anında ivmesi ne olur?</a:t>
            </a:r>
            <a:endParaRPr lang="en-US" sz="1600" dirty="0"/>
          </a:p>
        </p:txBody>
      </p:sp>
      <p:sp>
        <p:nvSpPr>
          <p:cNvPr id="11" name="Shape 9"/>
          <p:cNvSpPr/>
          <p:nvPr/>
        </p:nvSpPr>
        <p:spPr>
          <a:xfrm>
            <a:off x="5212080" y="1627632"/>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82953"/>
            <a:ext cx="384048" cy="384048"/>
          </a:xfrm>
          <a:prstGeom prst="roundRect">
            <a:avLst>
              <a:gd name="adj" fmla="val 26000"/>
            </a:avLst>
          </a:prstGeom>
          <a:solidFill>
            <a:srgbClr val="A56209"/>
          </a:solidFill>
          <a:ln/>
        </p:spPr>
      </p:sp>
      <p:sp>
        <p:nvSpPr>
          <p:cNvPr id="13" name="Text 11"/>
          <p:cNvSpPr txBox="1"/>
          <p:nvPr/>
        </p:nvSpPr>
        <p:spPr>
          <a:xfrm>
            <a:off x="5449824" y="178295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84962"/>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1/√A olduğundan: 50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m/s</a:t>
            </a:r>
            <a:endParaRPr lang="en-US" sz="1600" dirty="0"/>
          </a:p>
        </p:txBody>
      </p:sp>
      <p:sp>
        <p:nvSpPr>
          <p:cNvPr id="15" name="Shape 13"/>
          <p:cNvSpPr/>
          <p:nvPr/>
        </p:nvSpPr>
        <p:spPr>
          <a:xfrm>
            <a:off x="5212080" y="246862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86380"/>
            <a:ext cx="384048" cy="384048"/>
          </a:xfrm>
          <a:prstGeom prst="roundRect">
            <a:avLst>
              <a:gd name="adj" fmla="val 26000"/>
            </a:avLst>
          </a:prstGeom>
          <a:solidFill>
            <a:srgbClr val="A56209"/>
          </a:solidFill>
          <a:ln/>
        </p:spPr>
      </p:sp>
      <p:sp>
        <p:nvSpPr>
          <p:cNvPr id="17" name="Text 15"/>
          <p:cNvSpPr txBox="1"/>
          <p:nvPr/>
        </p:nvSpPr>
        <p:spPr>
          <a:xfrm>
            <a:off x="5449824" y="27863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23490"/>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Açılma anında hız hâlâ 50 m/s. Yeni k ile direnç: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25 · (eski direnç) = 25 · m·g</a:t>
            </a:r>
            <a:endParaRPr lang="en-US" sz="1600" dirty="0"/>
          </a:p>
        </p:txBody>
      </p:sp>
      <p:sp>
        <p:nvSpPr>
          <p:cNvPr id="19" name="Shape 17"/>
          <p:cNvSpPr/>
          <p:nvPr/>
        </p:nvSpPr>
        <p:spPr>
          <a:xfrm>
            <a:off x="5212080" y="363448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52240"/>
            <a:ext cx="384048" cy="384048"/>
          </a:xfrm>
          <a:prstGeom prst="roundRect">
            <a:avLst>
              <a:gd name="adj" fmla="val 26000"/>
            </a:avLst>
          </a:prstGeom>
          <a:solidFill>
            <a:srgbClr val="A56209"/>
          </a:solidFill>
          <a:ln/>
        </p:spPr>
      </p:sp>
      <p:sp>
        <p:nvSpPr>
          <p:cNvPr id="21" name="Text 19"/>
          <p:cNvSpPr txBox="1"/>
          <p:nvPr/>
        </p:nvSpPr>
        <p:spPr>
          <a:xfrm>
            <a:off x="5449824" y="395224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8935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 25mg − mg = 24mg, yukarı yönde → 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24g</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(yaklaşık 240 m/s², yukarı)</a:t>
            </a:r>
            <a:endParaRPr lang="en-US" sz="1600" dirty="0"/>
          </a:p>
        </p:txBody>
      </p:sp>
      <p:sp>
        <p:nvSpPr>
          <p:cNvPr id="23" name="Shape 21"/>
          <p:cNvSpPr/>
          <p:nvPr/>
        </p:nvSpPr>
        <p:spPr>
          <a:xfrm>
            <a:off x="5212080" y="4800346"/>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0533"/>
            <a:ext cx="384048" cy="384048"/>
          </a:xfrm>
          <a:prstGeom prst="roundRect">
            <a:avLst>
              <a:gd name="adj" fmla="val 26000"/>
            </a:avLst>
          </a:prstGeom>
          <a:solidFill>
            <a:srgbClr val="A56209"/>
          </a:solidFill>
          <a:ln/>
        </p:spPr>
      </p:sp>
      <p:sp>
        <p:nvSpPr>
          <p:cNvPr id="25" name="Text 23"/>
          <p:cNvSpPr txBox="1"/>
          <p:nvPr/>
        </p:nvSpPr>
        <p:spPr>
          <a:xfrm>
            <a:off x="5449824" y="5280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5210"/>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yüzden açılma çok sert hissedilir; gerçek paraşütler açılmayı birkaç saniyeye yayarak bu ivmeyi düşürür.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Çapı 2 mm (yarıçapı r = 1 mm) olan küresel bir yağmur damlasının limit hızını bulunuz. (ρ</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su</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1000 kg/m³, ρ</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hava</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1,2 kg/m³, C = 0,5; kürenin hacmi (4/3)·π·r³, kesit alanı π·r²)</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Ölçülen değer 2 mm çaplı damla için yaklaşık 6,5 m/s'dir; bu basit model gerçeğe oldukça yakın sonuç verir. İri damlaların 9 m/s civarında düşmesi de bu karekök ilişkisinden gelir.</a:t>
            </a:r>
            <a:endParaRPr lang="en-US" sz="1150" dirty="0"/>
          </a:p>
        </p:txBody>
      </p:sp>
      <p:sp>
        <p:nvSpPr>
          <p:cNvPr id="13" name="Shape 11"/>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54889"/>
            <a:ext cx="384048" cy="384048"/>
          </a:xfrm>
          <a:prstGeom prst="roundRect">
            <a:avLst>
              <a:gd name="adj" fmla="val 26000"/>
            </a:avLst>
          </a:prstGeom>
          <a:solidFill>
            <a:srgbClr val="A56209"/>
          </a:solidFill>
          <a:ln/>
        </p:spPr>
      </p:sp>
      <p:sp>
        <p:nvSpPr>
          <p:cNvPr id="15" name="Text 13"/>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Belirleyici olan m/A oranıdır: m/A = ρ</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su</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·(4/3)·π·r³ / (π·r²) = (4/3)·ρ</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su</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·r; π sadeleşir.</a:t>
            </a:r>
            <a:endParaRPr lang="en-US" sz="1500" dirty="0"/>
          </a:p>
        </p:txBody>
      </p:sp>
      <p:sp>
        <p:nvSpPr>
          <p:cNvPr id="17" name="Shape 15"/>
          <p:cNvSpPr/>
          <p:nvPr/>
        </p:nvSpPr>
        <p:spPr>
          <a:xfrm>
            <a:off x="5212080" y="2612497"/>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709311"/>
            <a:ext cx="384048" cy="384048"/>
          </a:xfrm>
          <a:prstGeom prst="roundRect">
            <a:avLst>
              <a:gd name="adj" fmla="val 26000"/>
            </a:avLst>
          </a:prstGeom>
          <a:solidFill>
            <a:srgbClr val="A56209"/>
          </a:solidFill>
          <a:ln/>
        </p:spPr>
      </p:sp>
      <p:sp>
        <p:nvSpPr>
          <p:cNvPr id="19" name="Text 17"/>
          <p:cNvSpPr txBox="1"/>
          <p:nvPr/>
        </p:nvSpPr>
        <p:spPr>
          <a:xfrm>
            <a:off x="5449824" y="27093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67361"/>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m/A = (4/3) · 1000 · 0,001 ≈ 1,33 kg/m²</a:t>
            </a:r>
            <a:endParaRPr lang="en-US" sz="1500" dirty="0"/>
          </a:p>
        </p:txBody>
      </p:sp>
      <p:sp>
        <p:nvSpPr>
          <p:cNvPr id="21" name="Shape 19"/>
          <p:cNvSpPr/>
          <p:nvPr/>
        </p:nvSpPr>
        <p:spPr>
          <a:xfrm>
            <a:off x="5212080" y="333647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563733"/>
            <a:ext cx="384048" cy="384048"/>
          </a:xfrm>
          <a:prstGeom prst="roundRect">
            <a:avLst>
              <a:gd name="adj" fmla="val 26000"/>
            </a:avLst>
          </a:prstGeom>
          <a:solidFill>
            <a:srgbClr val="A56209"/>
          </a:solidFill>
          <a:ln/>
        </p:spPr>
      </p:sp>
      <p:sp>
        <p:nvSpPr>
          <p:cNvPr id="23" name="Text 21"/>
          <p:cNvSpPr txBox="1"/>
          <p:nvPr/>
        </p:nvSpPr>
        <p:spPr>
          <a:xfrm>
            <a:off x="5449824" y="35637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39134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√(2·(m/A)·g / (ρ</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hava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 = √(2 · 1,33 · 10 / (1,2 · 0,5))</a:t>
            </a:r>
            <a:endParaRPr lang="en-US" sz="1500" dirty="0"/>
          </a:p>
        </p:txBody>
      </p:sp>
      <p:sp>
        <p:nvSpPr>
          <p:cNvPr id="25" name="Shape 23"/>
          <p:cNvSpPr/>
          <p:nvPr/>
        </p:nvSpPr>
        <p:spPr>
          <a:xfrm>
            <a:off x="5212080" y="4321342"/>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418155"/>
            <a:ext cx="384048" cy="384048"/>
          </a:xfrm>
          <a:prstGeom prst="roundRect">
            <a:avLst>
              <a:gd name="adj" fmla="val 26000"/>
            </a:avLst>
          </a:prstGeom>
          <a:solidFill>
            <a:srgbClr val="A56209"/>
          </a:solidFill>
          <a:ln/>
        </p:spPr>
      </p:sp>
      <p:sp>
        <p:nvSpPr>
          <p:cNvPr id="27" name="Text 25"/>
          <p:cNvSpPr txBox="1"/>
          <p:nvPr/>
        </p:nvSpPr>
        <p:spPr>
          <a:xfrm>
            <a:off x="5449824" y="441815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376206"/>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√(26,7 / 0,6) = √44,4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6,7 m/s</a:t>
            </a:r>
            <a:endParaRPr lang="en-US" sz="1500" dirty="0"/>
          </a:p>
        </p:txBody>
      </p:sp>
      <p:sp>
        <p:nvSpPr>
          <p:cNvPr id="29" name="Shape 27"/>
          <p:cNvSpPr/>
          <p:nvPr/>
        </p:nvSpPr>
        <p:spPr>
          <a:xfrm>
            <a:off x="5212080" y="5045321"/>
            <a:ext cx="6339535" cy="1099447"/>
          </a:xfrm>
          <a:prstGeom prst="roundRect">
            <a:avLst>
              <a:gd name="adj" fmla="val 133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403021"/>
            <a:ext cx="384048" cy="384048"/>
          </a:xfrm>
          <a:prstGeom prst="roundRect">
            <a:avLst>
              <a:gd name="adj" fmla="val 26000"/>
            </a:avLst>
          </a:prstGeom>
          <a:solidFill>
            <a:srgbClr val="A56209"/>
          </a:solidFill>
          <a:ln/>
        </p:spPr>
      </p:sp>
      <p:sp>
        <p:nvSpPr>
          <p:cNvPr id="31" name="Text 29"/>
          <p:cNvSpPr txBox="1"/>
          <p:nvPr/>
        </p:nvSpPr>
        <p:spPr>
          <a:xfrm>
            <a:off x="5449824" y="540302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100185"/>
            <a:ext cx="5379415" cy="989719"/>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m/A yarıçapla doğru orantılı olduğu için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√r: yarıçapı 2 katı olan damlanın limit hızı √2 ≈ 1,4 katı, yani ≈ 9,4 m/s olur.</a:t>
            </a:r>
            <a:endParaRPr lang="en-US" sz="15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“Limit hızda hız sıfırdır.”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Sıfır olan ivmedir; hız sabit ve genellikle büyüktür.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“Limit hızda cisme kuvvet etki etmez.”</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İki büyük kuvvet vardır (ağırlık ve direnç);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net</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kuvvet sıfırdır.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 cisim her zaman daha hızlı düşer.”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Belirleyici olan m/A oranıdır; hava direnci yoksa kütle hiç rol oynamaz.</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“Hava direnci hızla doğru orantılıdır.”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Günlük hızlarda v² ile artar; hız 2 katına çıkarsa direnç 4 katına çıkar.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“Paraşüt kütleyi azaltır.”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Paraşüt yalnızca alanı büyütür; kütle aynıdır.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“Limit hıza ulaşınca cisim durur.”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Durmaz; sabit hızla düşmeye devam eder ve yere o hızla çarpar.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“Serbest düşme her zaman geçerlidir.”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Serbest düşme, direncin ihmal edildiği bir modeldir.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“Paraşüt açılınca paraşütçü yukarı çıkar.”</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Net kuvvet yukarı döner, ama hız hâlâ aşağı yönlüdür; paraşütçü yalnızca yavaşlar.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Direnç </a:t>
            </a:r>
            <a:pPr indent="0" marL="0">
              <a:buNone/>
            </a:pPr>
            <a:r>
              <a:rPr lang="en-US" sz="1500" b="1" dirty="0">
                <a:solidFill>
                  <a:srgbClr val="FFFFFF"/>
                </a:solidFill>
                <a:latin typeface="Calibri" pitchFamily="34" charset="0"/>
                <a:ea typeface="Calibri" pitchFamily="34" charset="-122"/>
                <a:cs typeface="Calibri" pitchFamily="34" charset="-120"/>
              </a:rPr>
              <a:t>hıza bağlı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Dengede </a:t>
            </a:r>
            <a:pPr indent="0" marL="0">
              <a:buNone/>
            </a:pPr>
            <a:r>
              <a:rPr lang="en-US" sz="1500" b="1" dirty="0">
                <a:solidFill>
                  <a:srgbClr val="FFFFFF"/>
                </a:solidFill>
                <a:latin typeface="Calibri" pitchFamily="34" charset="0"/>
                <a:ea typeface="Calibri" pitchFamily="34" charset="-122"/>
                <a:cs typeface="Calibri" pitchFamily="34" charset="-120"/>
              </a:rPr>
              <a:t>a = 0</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Yağmur damlası </a:t>
            </a:r>
            <a:pPr indent="0" marL="0">
              <a:buNone/>
            </a:pPr>
            <a:r>
              <a:rPr lang="en-US" sz="1500" b="1" dirty="0">
                <a:solidFill>
                  <a:srgbClr val="FFFFFF"/>
                </a:solidFill>
                <a:latin typeface="Calibri" pitchFamily="34" charset="0"/>
                <a:ea typeface="Calibri" pitchFamily="34" charset="-122"/>
                <a:cs typeface="Calibri" pitchFamily="34" charset="-120"/>
              </a:rPr>
              <a:t>≈ 9 m/s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Paraşütçü </a:t>
            </a:r>
            <a:pPr indent="0" marL="0">
              <a:buNone/>
            </a:pPr>
            <a:r>
              <a:rPr lang="en-US" sz="1500" b="1" dirty="0">
                <a:solidFill>
                  <a:srgbClr val="FFFFFF"/>
                </a:solidFill>
                <a:latin typeface="Calibri" pitchFamily="34" charset="0"/>
                <a:ea typeface="Calibri" pitchFamily="34" charset="-122"/>
                <a:cs typeface="Calibri" pitchFamily="34" charset="-120"/>
              </a:rPr>
              <a:t>≈ 55 m/s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Fd = k · v²</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 direnci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m·g = k · vl²</a:t>
            </a:r>
            <a:endParaRPr lang="en-US" sz="1350" dirty="0"/>
          </a:p>
        </p:txBody>
      </p:sp>
      <p:sp>
        <p:nvSpPr>
          <p:cNvPr id="19" name="Text 17"/>
          <p:cNvSpPr txBox="1"/>
          <p:nvPr/>
        </p:nvSpPr>
        <p:spPr>
          <a:xfrm>
            <a:off x="8362188" y="321868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hızda denge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vl = √(m·g / k)</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k = ½·ρ·C·A</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şekil ve alana bağlı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dersler.perinet.org/limit-hiz.html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Düzgün çembersel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Limit hız — Dersler</dc:title>
  <dc:subject>Fizik · Kuvvet ve Hareket</dc:subject>
  <dc:creator>Dersler</dc:creator>
  <cp:lastModifiedBy>Dersler</cp:lastModifiedBy>
  <cp:revision>1</cp:revision>
  <dcterms:created xsi:type="dcterms:W3CDTF">2026-09-29T23:25:39Z</dcterms:created>
  <dcterms:modified xsi:type="dcterms:W3CDTF">2026-09-29T23:25:39Z</dcterms:modified>
</cp:coreProperties>
</file>