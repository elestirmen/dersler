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paraşütçü 4 km yüksekten atlar; hava direnci olmasaydı yere 280 m/s ile çarpardı. Oysa açık paraşütle yürüme hızında iner. Yağmur damlası 2 km düşer, yine de canımızı yakmaz. İkisinin de sebebi aynı: hava direnci hızla birlikte büyür ve bir noktada ağırlığı tam olarak dengeler. O andan sonra hız artmaz — her cismin bir hız sınırı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paraşütçü 4 km yüksekten atlar; hava direnci olmasaydı yere 280 m/s ile çarpardı. Oysa açık paraşütle yürüme hızında iner. Yağmur damlası 2 km düşer, yine de canımızı yakmaz. İkisinin de sebebi aynı: hava direnci hızla birlikte büyür ve bir noktada ağırlığı tam olarak dengeler. O andan sonra hız artmaz — her cismin bir hız sınırı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Hava direnci: hıza bağlı bir kuvvet
2. Neden bir hız sınırı var?
3. Limit hız bağıntısı
4. v – t grafiği: doyan eğri
5. Serbest düşmeden farkı
6. Paraşüt ve ölçek etkisi
7. Tipik limit hızlar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hıza bağlı bir kuvvet
Bir cisim havada ilerlerken önündeki hava moleküllerini itmek zorundadır. Bu itmenin tepkisi, harekete zıt yönde bir kuvvet olarak cisme geri döner: hava direnci (sürükleme kuvveti).
Sürtünmeden en önemli farkı şudur: kinetik sürtünme kuvveti hızdan (yaklaşık olarak) bağımsızken, hava direnci hız büyüdükçe hızla büyür. Günlük hızlarda iyi çalışan model:
Fd = k · v²   k = ½ · ρ · C · A
• ρ: havanın yoğunluğu (deniz seviyesinde ≈ 1,2 kg/m³)
• C: sürükleme katsayısı — cismin şekline bağlı (küre ≈ 0,5; düz levha ≈ 1,2)
• A: harekete dik kesit alanı
Kütle burada yok. Direnç kuvveti cismin kütlesine değil, şekline, alanına ve hızına bağlıdır. Kütlenin rolü, bu direncin hangi hızda ağırlığı dengeleyeceğini belirlemektir.
Çizim: Hava direnci sabit bir kuvvet değildir; hızın karesiyle büyür. Hızı iki katına çıkarmak direnci dört katına, üç katına çıkarmak dokuz katına çıkarır. İşte bu hızlı büyüme, düşen bir cismin er geç ağırlığına eşit bir dirençle karşılaşmasını kaçınılmaz kılar.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bir hız sınırı var?
Cisim bırakıldığı anda hızı sıfırdır, dolayısıyla direnç de sıfırdır: tek kuvvet ağırlıktır ve ivme g'dir. Hız büyüdükçe direnç büyür, net kuvvet küçülür, ivme azalır. Bir noktada direnç ağırlığa tam olarak eşitlenir:
ΣF = m·g − k·v²   m·g = k·vl² → a = 0
O andan itibaren net kuvvet sıfırdır. Newton'un 1. yasası gereği cisim sabit hızla düşmeye devam eder. Bu sabit hıza limit hız (terminal hız) denir.
An | Direnç | Net kuvvet | İvme | Hız
Bırakma anı | 0 | m·g | g | 0
Ara evre | 0 &lt; Fd &lt; m·g | azalıyor | azalıyor | artıyor
Limit hız | m·g | 0 | 0 | sabit
Çizim: Ağırlık hiç değişmez (sarı çubuk hep aynı). Cisim hızlandıkça direnç (mavi çubuk) büyür ve aradaki fark — yani net kuvvet — küçülür. Net kuvvet küçüldükçe ivme de küçülür, hız daha yavaş artar. Dördüncü karede iki çubuk eşitlenir: net kuvvet sıfır, ivme sıfır. Cisim durmaz; sabit hızla düşmeye devam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 hız bağıntısı
Denge koşulundan limit hızı çekelim:
vl = √(m·g / k)   vl = √(2·m·g / (ρ·C·A))
Bağıntıdan üç sonuç doğrudan okunur:
• Kütle artarsa limit hız artar — ama karekökle: kütle 4 katına çıkarsa hız 2 katına.
• Alan artarsa limit hız azalır — yine karekökle: alan 4 katına çıkarsa hız yarıya.
• Belirleyici olan m/A oranıdır. Aynı kütleli iki cisimden yüzeyi geniş olan daha yavaş iner.
Yükseklik de etkiler: ρ yukarıda küçüldüğü için aynı cismin limit hızı yüksek irtifada daha büyüktür. Serbest düşüş rekorları bu yüzden stratosferden yapılır.
Çizim: Limit hız iki şeye bağlıdır ve ikisine de karekökle: kütle dört katına çıkarsa limit hız yalnızca iki katına çıkar, alan dört katına çıkarsa hız yarıya iner. Belirleyici olan tek başına kütle ya da alan değil, m/A oranıdır — bu yüzden aynı kâğıdın buruşturulmuşu açık hâlinden çok daha hızlı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 – t grafiği: doyan eğri
Hava direnci yokken v – t grafiği eğimi g olan bir doğrudur. Hava direnci varken eğri başlangıçta bu doğruya teğettir, sonra eğimi azalır ve limit hıza asimptotik olarak yaklaşır.
v(t) = vl · tanh(g·t / vl)
Cisim limit hıza matematiksel olarak hiçbir zaman tam ulaşmaz; ama pratikte birkaç saniyede %95'ine oturur. a – t grafiği ise g'den başlayıp sıfıra iner: ivmenin sıfırlanması, hızın sabitlenmesi demektir.
Limit hızda hız sıfır değildir! Sıfır olan ivmedir. Cisim hâlâ (hem de hızla) düşmektedir; yalnızca artık hızlanmamaktadır.
Çizim: Eğrinin her noktasındaki eğim o andaki ivmedir. Başlangıçta eğim tam olarak g'dir — ilk anda hız sıfır olduğu için direnç de sıfırdır. Hız büyüdükçe eğim azalır ve eğri, limit hız doğrusuna hiç değmeden sonsuza kadar yaklaşır. Pratikte cisim birkaç saniyede limit hızın %99'una ulaşır.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düşmeden farkı
 | Serbest düşme (ideal) | Gerçek düşüş
Etkiyen kuvvet | Yalnızca ağırlık | Ağırlık + hava direnci
İvme | Sabit, g | g'den başlar, sıfıra iner
Hız | Sınırsız artar | Limit hızda sabitlenir
Kütlenin rolü | Yok | Var (m/A oranı)
Serbest düşme, hava direncinin ihmal edilebildiği durumların modelidir: kısa mesafe, yoğun ve küçük cisim, düşük hız. Uzun süreli düşüşlerde ya da hafif ve geniş cisimlerde bu model geçersizleşir.
Çizim: Vakumda ivme hiç değişmez, hız sınırsız artar ve kütlenin hiçbir rolü yoktur. Havada ise ivme g'den başlayıp sıfıra iner, hız bir değerde sabitlenir ve artık kütle ile alan işin içine girer. Serbest düşme, hava direncinin ihmal edilebildiği özel bir durumdur — kısa mesafelerde ve ağır cisimlerde iyi bir yaklaşımdır.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Paraşüt ve ölçek etkisi
Paraşüt, kütleyi değil alanı değiştirir. Açıldığı anda A onlarca katına çıkar, k büyür ve yeni limit hız çok küçülür:
A → 25A ⇒ vl → vl / 5
Açılma anında hız hâlâ eski limit hızdadır; direnç birden ağırlığın çok üstüne çıkar ve cisim yukarı yönlü net kuvvetle hızla yavaşlar. Paraşütçünün hissettiği sarsıntı budur. Birkaç saniye içinde yeni dengeye oturulur.
Aynı mantık canlılar için de geçerlidir: boyut küçüldükçe kütle uzunluğun küpüyle, alan ise karesiyle küçülür. Bu yüzden küçük bir böceğin m/A oranı çok düşüktür; limit hızı o kadar küçüktür ki yüksekten düşmesi onu incitmez.
Çizim: Paraşüt açıldığı anda kütle değişmez ama alan onlarca kat büyür. Direnç bir anda ağırlığın çok üstüne çıkar, net kuvvet yukarı döner ve atlayıcı yavaşlar — bu ani frenlemeyi vücudunda hissettiği an budur. Yavaşladıkça direnç küçülür ve hız yeni, çok daha düşük bir limitte dengelenir. Alan 25 kat büyüyünce hız karekökle, yani yaklaşık beşte birine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Tipik limit hızlar
Cisim | Limit hız | Neden
Sis damlacığı | ≈ 0,01 m/s | çok küçük m/A
Yağmur damlası | ≈ 9 m/s | küçük kütle, küresel
Tenis topu | ≈ 25 m/s | orta m/A
Paraşütçü (kol-bacak açık) | ≈ 55 m/s | büyük kütle, orta alan
Paraşütçü (dalış pozisyonu) | ≈ 90 m/s | alan iyice küçülür
Açık paraşüt | ≈ 5 m/s | alan onlarca kat büyür
Çizim: Aynı yerçekimi, aynı hava — ama limit hızlar arasında on binlerce kat fark var. Farkı yapan tek şey m/A oranı: sis damlacığı neredeyse asılı kalır, kollarını yanına toplayan bir paraşütçü ise 90 m/s'ye çıkar. Paraşütü açmak, aynı insanın limit hızını on bire bölmeye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Limit hızda kuvvetler
80 kg kütleli bir paraşütçü, paraşütü kapalıyken 50 m/s'lik limit hızıyla düşmektedir. (a) Bu anda hava direnci kaç N'dur? (b) İvmesi nedir?
1. (a) Limit hızda net kuvvet sıfırdır: Fd = m·g = 80 · 10 = 800 N
2. (b) ΣF = 0 olduğu için a = 0'dır.
3. Hız sıfır değildir: cisim 50 m/s ile düşmeye devam eder. Sabit olan hızdır, sıfır olan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Direnç katsayısını bulma
Bir cismin kütlesi 2 kg, limit hızı 20 m/s ölçülüyor. Direnç Fd = k·v² modeliyle veriliyorsa k kaçtır? Hız 10 m/s iken ivme ne olur?
1. Limit hızda: m·g = k·vl² → 20 = k · 400 → k = 0,05 kg/m
2. v = 10 m/s iken direnç: Fd = 0,05 · 100 = 5 N
3. Net kuvvet: 20 − 5 = 15 N → a = 15/2 = 7,5 m/s²
4. Hız limitin yarısındayken ivme hâlâ g'nin dörtte üçü kadardır (direnç v² ile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Paraşüt açılınca
Limit hızı 50 m/s olan paraşütçü, paraşütünü açtığında yüzey alanı 25 katına çıkıyor. (a) Yeni limit hız nedir? (b) Açılma anında ivmesi ne olur?
1. (a) vl ∝ 1/√A olduğundan: 50 / √25 = 10 m/s
2. (b) Açılma anında hız hâlâ 50 m/s. Yeni k ile direnç: Fd = 25 · (eski direnç) = 25 · m·g
3. Net kuvvet = 25mg − mg = 24mg, yukarı yönde → a = 24g (yaklaşık 240 m/s², yukarı)
4. Bu yüzden açılma çok sert hissedilir; gerçek paraşütler açılmayı birkaç saniyeye yayarak bu ivmeyi düşürür.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Aynı kütle, farklı alan
Aynı kâğıttan yapılmış açık bir levha ile buruşturulmuş bir top düşünelim. Buruşturunca kesit alanı 9 katına küçülüyorsa limit hız nasıl değişir?
1. Kütle değişmedi; yalnızca A küçüldü: A → A/9
2. vl = √(2mg / (ρCA)) ∝ 1/√A → A dokuzda birine inince vl 3 katına çıkar.
3. Bu yüzden buruşturulmuş kâğıt, açık kâğıttan çok daha hızlı düşer — kütleleri aynı olmasına rağmen.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“Limit hızda hız sıfırdır.” Sıfır olan ivmedir; hız sabit ve genellikle büyüktür.
• “Limit hızda cisme kuvvet etki etmez.” İki büyük kuvvet vardır (ağırlık ve direnç); net kuvvet sıfırdır.
• “Ağır cisim her zaman daha hızlı düşer.” Belirleyici olan m/A oranıdır; hava direnci yoksa kütle hiç rol oynamaz.
• “Hava direnci hızla doğru orantılıdır.” Günlük hızlarda v² ile artar; hız 2 katına çıkarsa direnç 4 katına çıkar.
• “Paraşüt kütleyi azaltır.” Paraşüt yalnızca alanı büyütür; kütle aynıdır.
• “Limit hıza ulaşınca cisim durur.” Durmaz; sabit hızla düşmeye devam eder ve yere o hızla çarpar.
• “Serbest düşme her zaman geçerlidir.” Serbest düşme, direncin ihmal edildiği bir modeldir.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Direnç hıza bağlı · Dengede a = 0 · Yağmur damlası ≈ 9 m/s · Paraşütçü ≈ 55 m/s
Fd = k · v² — hava direnci
m·g = k · vl² — limit hızda denge
vl = √(m·g / k) — limit hız
k = ½·ρ·C·A — şekil ve alana bağlı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05</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Limit hız</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Gerçek dünyada hiçbir cisim sonsuza kadar hızlanmaz. Hava direnci hızla büyür; ağırlığa eşitlendiği anda net kuvvet sıfırlanır ve cisim sabit bir hızla düşmeye devam eder. Aşağıda bu dengeyi kendin kur, paraşütü aç, kâğıdı buruştur.</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Fd = k · v²   ·   m·g = k · vl²   ·   vl = √(m·g / k)</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dersler.perinet.org/limit-hiz.html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Bir paraşütçü 4 km yüksekten atlar; hava direnci olmasaydı yere 280 m/s ile çarpardı. Oysa açık paraşütle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yürüme hızında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iner. Yağmur damlası 2 km düşer, yine de canımızı yakmaz. İkisinin de sebebi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hava direnci hızla birlikte büyür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ve bir noktada ağırlığı tam olarak dengeler. O andan sonra hız artmaz — her cismin bir hız sınırı vardır.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Hava direnci: hıza bağlı bir kuvvet</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cisim havada ilerlerken önündeki hava moleküllerini itmek zorundadır.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Neden bir hız sınırı var?</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Cisim bırakıldığı anda hızı sıfırdır, dolayısıyla direnç de sıfırdır: tek kuvvet…</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Limit hız bağıntısı</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Denge koşulundan limit hızı çekelim:</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v – t grafiği: doyan eğri</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Hava direnci yokken v – t grafiği eğimi g olan bir doğrudur.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Serbest düşmeden farkı</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Serbest düşme, hava direncinin ihmal edilebildiği durumların modelidir: kısa mesafe, yoğun…</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Paraşüt ve ölçek etkisi</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Paraşüt, kütleyi değil alanı değiştirir.</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Tipik limit hızlar</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7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Hava direnci: hıza bağlı bir kuvvet</a:t>
            </a:r>
            <a:endParaRPr lang="en-US" sz="3200" dirty="0"/>
          </a:p>
        </p:txBody>
      </p:sp>
      <p:sp>
        <p:nvSpPr>
          <p:cNvPr id="5" name="Text 3"/>
          <p:cNvSpPr txBox="1"/>
          <p:nvPr/>
        </p:nvSpPr>
        <p:spPr>
          <a:xfrm>
            <a:off x="640080" y="1481328"/>
            <a:ext cx="6949440" cy="785241"/>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Bir cisim havada ilerlerken önündeki hava moleküllerini itmek zorundadır.</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Bu itmenin tepkisi, harekete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zıt yönde</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bir kuvvet olarak cisme geri döner: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hava direnci</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(sürükleme kuvveti).</a:t>
            </a:r>
            <a:endParaRPr lang="en-US" sz="1250" dirty="0"/>
          </a:p>
        </p:txBody>
      </p:sp>
      <p:sp>
        <p:nvSpPr>
          <p:cNvPr id="6" name="Text 4"/>
          <p:cNvSpPr txBox="1"/>
          <p:nvPr/>
        </p:nvSpPr>
        <p:spPr>
          <a:xfrm>
            <a:off x="640080" y="2376297"/>
            <a:ext cx="6949440" cy="785241"/>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Sürtünmeden en önemli farkı şudur: kinetik sürtünme kuvveti hızdan (yaklaşık olarak) bağımsızken, hava direnci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hız büyüdükçe hızla büyür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Günlük hızlarda iyi çalışan model:</a:t>
            </a:r>
            <a:endParaRPr lang="en-US" sz="1250" dirty="0"/>
          </a:p>
        </p:txBody>
      </p:sp>
      <p:sp>
        <p:nvSpPr>
          <p:cNvPr id="7" name="Shape 5"/>
          <p:cNvSpPr/>
          <p:nvPr/>
        </p:nvSpPr>
        <p:spPr>
          <a:xfrm>
            <a:off x="640080" y="3271266"/>
            <a:ext cx="1543507" cy="457200"/>
          </a:xfrm>
          <a:prstGeom prst="roundRect">
            <a:avLst>
              <a:gd name="adj" fmla="val 24000"/>
            </a:avLst>
          </a:prstGeom>
          <a:solidFill>
            <a:srgbClr val="EEF2FC"/>
          </a:solidFill>
          <a:ln w="9525">
            <a:solidFill>
              <a:srgbClr val="CBD7F4"/>
            </a:solidFill>
            <a:prstDash val="solid"/>
          </a:ln>
        </p:spPr>
      </p:sp>
      <p:sp>
        <p:nvSpPr>
          <p:cNvPr id="8" name="Text 6"/>
          <p:cNvSpPr txBox="1"/>
          <p:nvPr/>
        </p:nvSpPr>
        <p:spPr>
          <a:xfrm>
            <a:off x="640080" y="3271266"/>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Fd = k · v²</a:t>
            </a:r>
            <a:endParaRPr lang="en-US" sz="1300" dirty="0"/>
          </a:p>
        </p:txBody>
      </p:sp>
      <p:sp>
        <p:nvSpPr>
          <p:cNvPr id="9" name="Shape 7"/>
          <p:cNvSpPr/>
          <p:nvPr/>
        </p:nvSpPr>
        <p:spPr>
          <a:xfrm>
            <a:off x="2293315" y="3271266"/>
            <a:ext cx="213603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2293315" y="3271266"/>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k = ½ · ρ · C · A</a:t>
            </a:r>
            <a:endParaRPr lang="en-US" sz="1300" dirty="0"/>
          </a:p>
        </p:txBody>
      </p:sp>
      <p:sp>
        <p:nvSpPr>
          <p:cNvPr id="11" name="Text 9"/>
          <p:cNvSpPr txBox="1"/>
          <p:nvPr/>
        </p:nvSpPr>
        <p:spPr>
          <a:xfrm>
            <a:off x="640080" y="3893058"/>
            <a:ext cx="6949440" cy="849249"/>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ρ</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havanın yoğunluğu (deniz seviyesinde ≈ 1,2 kg/m³)</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C</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sürükleme katsayısı — cismin </a:t>
            </a:r>
            <a:pPr indent="0" marL="0">
              <a:lnSpc>
                <a:spcPct val="115000"/>
              </a:lnSpc>
              <a:buNone/>
            </a:pPr>
            <a:r>
              <a:rPr lang="en-US" sz="1250" i="1" dirty="0">
                <a:solidFill>
                  <a:srgbClr val="4A5470"/>
                </a:solidFill>
                <a:latin typeface="Calibri" pitchFamily="34" charset="0"/>
                <a:ea typeface="Calibri" pitchFamily="34" charset="-122"/>
                <a:cs typeface="Calibri" pitchFamily="34" charset="-120"/>
              </a:rPr>
              <a:t>şekline</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bağlı (küre ≈ 0,5; düz levha ≈ 1,2)</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harekete dik kesit alanı</a:t>
            </a:r>
            <a:endParaRPr lang="en-US" sz="1250" dirty="0"/>
          </a:p>
        </p:txBody>
      </p:sp>
      <p:sp>
        <p:nvSpPr>
          <p:cNvPr id="12" name="Shape 10"/>
          <p:cNvSpPr/>
          <p:nvPr/>
        </p:nvSpPr>
        <p:spPr>
          <a:xfrm>
            <a:off x="640080" y="4852035"/>
            <a:ext cx="6949440" cy="1006983"/>
          </a:xfrm>
          <a:prstGeom prst="roundRect">
            <a:avLst>
              <a:gd name="adj" fmla="val 1089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658368" y="4998339"/>
            <a:ext cx="45720" cy="714375"/>
          </a:xfrm>
          <a:prstGeom prst="rect">
            <a:avLst/>
          </a:prstGeom>
          <a:solidFill>
            <a:srgbClr val="3C8C21"/>
          </a:solidFill>
          <a:ln/>
        </p:spPr>
      </p:sp>
      <p:sp>
        <p:nvSpPr>
          <p:cNvPr id="14" name="Text 12"/>
          <p:cNvSpPr txBox="1"/>
          <p:nvPr/>
        </p:nvSpPr>
        <p:spPr>
          <a:xfrm>
            <a:off x="914400" y="4961763"/>
            <a:ext cx="6492240" cy="787527"/>
          </a:xfrm>
          <a:prstGeom prst="rect">
            <a:avLst/>
          </a:prstGeom>
          <a:noFill/>
          <a:ln/>
        </p:spPr>
        <p:txBody>
          <a:bodyPr wrap="square" lIns="0" tIns="0" rIns="0" bIns="0" rtlCol="0" anchor="ctr"/>
          <a:lstStyle/>
          <a:p>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Kütle burada yok.</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Direnç kuvveti cismin kütlesine değil, </a:t>
            </a:r>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şekline, alanına ve hızına</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bağlıdır. Kütlenin rolü, bu direncin hangi hızda ağırlığı dengeleyeceğini belirlemektir.</a:t>
            </a:r>
            <a:endParaRPr lang="en-US" sz="1150" dirty="0"/>
          </a:p>
        </p:txBody>
      </p:sp>
      <p:sp>
        <p:nvSpPr>
          <p:cNvPr id="15" name="Shape 13"/>
          <p:cNvSpPr/>
          <p:nvPr/>
        </p:nvSpPr>
        <p:spPr>
          <a:xfrm>
            <a:off x="7882128" y="1481328"/>
            <a:ext cx="3669487" cy="3046346"/>
          </a:xfrm>
          <a:prstGeom prst="roundRect">
            <a:avLst>
              <a:gd name="adj" fmla="val 480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a4dee546-de71-4ec2-8add-be39dd273d29/scratchpad/sekiller/limit-hiz-01.png">    </p:cNvPr>
          <p:cNvPicPr>
            <a:picLocks noChangeAspect="1"/>
          </p:cNvPicPr>
          <p:nvPr/>
        </p:nvPicPr>
        <p:blipFill>
          <a:blip r:embed="rId1"/>
          <a:stretch>
            <a:fillRect/>
          </a:stretch>
        </p:blipFill>
        <p:spPr>
          <a:xfrm>
            <a:off x="8065008" y="1664208"/>
            <a:ext cx="3303727" cy="1404084"/>
          </a:xfrm>
          <a:prstGeom prst="rect">
            <a:avLst/>
          </a:prstGeom>
        </p:spPr>
      </p:pic>
      <p:sp>
        <p:nvSpPr>
          <p:cNvPr id="17" name="Shape 14"/>
          <p:cNvSpPr/>
          <p:nvPr/>
        </p:nvSpPr>
        <p:spPr>
          <a:xfrm>
            <a:off x="8065008" y="3159732"/>
            <a:ext cx="3303727" cy="0"/>
          </a:xfrm>
          <a:prstGeom prst="line">
            <a:avLst/>
          </a:prstGeom>
          <a:noFill/>
          <a:ln w="9525">
            <a:solidFill>
              <a:srgbClr val="E1E5EE"/>
            </a:solidFill>
            <a:prstDash val="dash"/>
          </a:ln>
        </p:spPr>
      </p:sp>
      <p:sp>
        <p:nvSpPr>
          <p:cNvPr id="18" name="Text 15"/>
          <p:cNvSpPr txBox="1"/>
          <p:nvPr/>
        </p:nvSpPr>
        <p:spPr>
          <a:xfrm>
            <a:off x="8065008" y="3214596"/>
            <a:ext cx="330372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Hava direnci sabit bir kuvvet değildir;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hızın karesiyle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büyür. Hızı iki katına çıkarmak direnci dört katına, üç katına çıkarmak dokuz katına çıkarır. İşte bu hızlı büyüme, düşen bir cismin er geç ağırlığına eşit bir dirençle karşılaşmasını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kaçınılmaz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kılar.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Neden bir hız sınırı var?</a:t>
            </a:r>
            <a:endParaRPr lang="en-US" sz="3200" dirty="0"/>
          </a:p>
        </p:txBody>
      </p:sp>
      <p:sp>
        <p:nvSpPr>
          <p:cNvPr id="5" name="Text 3"/>
          <p:cNvSpPr txBox="1"/>
          <p:nvPr/>
        </p:nvSpPr>
        <p:spPr>
          <a:xfrm>
            <a:off x="640080" y="1481328"/>
            <a:ext cx="6309360" cy="11734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Cisim bırakıldığı anda hızı sıfırdır, dolayısıyla direnç de sıfırdır: tek kuvvet ağırlıktır ve ivme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g</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'dir.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Hız büyüdükçe direnç büyür, net kuvvet küçülür, ivme azalır.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Bir noktada direnç ağırlığa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tam olarak eşitlenir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6" name="Shape 4"/>
          <p:cNvSpPr/>
          <p:nvPr/>
        </p:nvSpPr>
        <p:spPr>
          <a:xfrm>
            <a:off x="640080" y="2764536"/>
            <a:ext cx="193852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764536"/>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ΣF = m·g − k·v²</a:t>
            </a:r>
            <a:endParaRPr lang="en-US" sz="1300" dirty="0"/>
          </a:p>
        </p:txBody>
      </p:sp>
      <p:sp>
        <p:nvSpPr>
          <p:cNvPr id="8" name="Shape 6"/>
          <p:cNvSpPr/>
          <p:nvPr/>
        </p:nvSpPr>
        <p:spPr>
          <a:xfrm>
            <a:off x="2688336" y="2764536"/>
            <a:ext cx="2333549"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688336" y="2764536"/>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m·g = k·vl² → a = 0</a:t>
            </a:r>
            <a:endParaRPr lang="en-US" sz="1300" dirty="0"/>
          </a:p>
        </p:txBody>
      </p:sp>
      <p:sp>
        <p:nvSpPr>
          <p:cNvPr id="10" name="Text 8"/>
          <p:cNvSpPr txBox="1"/>
          <p:nvPr/>
        </p:nvSpPr>
        <p:spPr>
          <a:xfrm>
            <a:off x="640080" y="3386328"/>
            <a:ext cx="6309360" cy="92811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O andan itibaren net kuvvet sıfırdır.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Newton'un 1. yasası gereği cisim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sabit hızla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düşmeye devam eder.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sabit hıza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limit hız</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(terminal hız) denir.</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4424172"/>
          <a:ext cx="6309360" cy="914400"/>
        </p:xfrm>
        <a:graphic>
          <a:graphicData uri="http://schemas.openxmlformats.org/drawingml/2006/table">
            <a:tbl>
              <a:tblPr/>
              <a:tblGrid>
                <a:gridCol w="1426513"/>
                <a:gridCol w="1556196"/>
                <a:gridCol w="1296830"/>
                <a:gridCol w="1037464"/>
                <a:gridCol w="99235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Direnç</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Net kuvvet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İvme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Bırakma anı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Ara evre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 &lt; Fd &lt; m·g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azalıyor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azalıyor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artıyor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Limit 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sabit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2" name="Shape 9"/>
          <p:cNvSpPr/>
          <p:nvPr/>
        </p:nvSpPr>
        <p:spPr>
          <a:xfrm>
            <a:off x="7242048" y="1481328"/>
            <a:ext cx="4309567" cy="3334734"/>
          </a:xfrm>
          <a:prstGeom prst="roundRect">
            <a:avLst>
              <a:gd name="adj" fmla="val 438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limit-hiz-02.png">    </p:cNvPr>
          <p:cNvPicPr>
            <a:picLocks noChangeAspect="1"/>
          </p:cNvPicPr>
          <p:nvPr/>
        </p:nvPicPr>
        <p:blipFill>
          <a:blip r:embed="rId1"/>
          <a:stretch>
            <a:fillRect/>
          </a:stretch>
        </p:blipFill>
        <p:spPr>
          <a:xfrm>
            <a:off x="7424928" y="1664208"/>
            <a:ext cx="3943807" cy="1692472"/>
          </a:xfrm>
          <a:prstGeom prst="rect">
            <a:avLst/>
          </a:prstGeom>
        </p:spPr>
      </p:pic>
      <p:sp>
        <p:nvSpPr>
          <p:cNvPr id="14" name="Shape 10"/>
          <p:cNvSpPr/>
          <p:nvPr/>
        </p:nvSpPr>
        <p:spPr>
          <a:xfrm>
            <a:off x="7424928" y="3448120"/>
            <a:ext cx="3943807" cy="0"/>
          </a:xfrm>
          <a:prstGeom prst="line">
            <a:avLst/>
          </a:prstGeom>
          <a:noFill/>
          <a:ln w="9525">
            <a:solidFill>
              <a:srgbClr val="E1E5EE"/>
            </a:solidFill>
            <a:prstDash val="dash"/>
          </a:ln>
        </p:spPr>
      </p:sp>
      <p:sp>
        <p:nvSpPr>
          <p:cNvPr id="15" name="Text 11"/>
          <p:cNvSpPr txBox="1"/>
          <p:nvPr/>
        </p:nvSpPr>
        <p:spPr>
          <a:xfrm>
            <a:off x="7424928" y="3502984"/>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Ağırlık hiç değişmez (sarı çubuk hep aynı). Cisim hızlandıkça direnç (mavi çubuk) büyür ve aradaki fark — yani net kuvvet — küçülür. Net kuvvet küçüldükçe ivme de küçülür, hız daha yavaş artar. Dördüncü karede iki çubuk eşitlenir: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net kuvvet sıfır, ivme sıfır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Cisim durmaz; sabit hızla düşmeye devam eder.</a:t>
            </a:r>
            <a:endParaRPr lang="en-US" sz="1050" dirty="0"/>
          </a:p>
        </p:txBody>
      </p:sp>
      <p:sp>
        <p:nvSpPr>
          <p:cNvPr id="16" name="Shape 12"/>
          <p:cNvSpPr/>
          <p:nvPr/>
        </p:nvSpPr>
        <p:spPr>
          <a:xfrm>
            <a:off x="640080" y="6382512"/>
            <a:ext cx="128016" cy="128016"/>
          </a:xfrm>
          <a:prstGeom prst="roundRect">
            <a:avLst>
              <a:gd name="adj" fmla="val 28571"/>
            </a:avLst>
          </a:prstGeom>
          <a:solidFill>
            <a:srgbClr val="A9E648"/>
          </a:solidFill>
          <a:ln/>
        </p:spPr>
      </p:sp>
      <p:sp>
        <p:nvSpPr>
          <p:cNvPr id="17"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Limit hız bağıntısı</a:t>
            </a:r>
            <a:endParaRPr lang="en-US" sz="3200" dirty="0"/>
          </a:p>
        </p:txBody>
      </p:sp>
      <p:sp>
        <p:nvSpPr>
          <p:cNvPr id="5" name="Text 3"/>
          <p:cNvSpPr txBox="1"/>
          <p:nvPr/>
        </p:nvSpPr>
        <p:spPr>
          <a:xfrm>
            <a:off x="640080" y="1481328"/>
            <a:ext cx="6309360" cy="245364"/>
          </a:xfrm>
          <a:prstGeom prst="rect">
            <a:avLst/>
          </a:prstGeom>
          <a:noFill/>
          <a:ln/>
        </p:spPr>
        <p:txBody>
          <a:bodyPr wrap="square" lIns="0" tIns="0" rIns="0" bIns="0" rtlCol="0" anchor="t"/>
          <a:lstStyle/>
          <a:p>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Denge koşulundan limit hızı çekelim:</a:t>
            </a:r>
            <a:endParaRPr lang="en-US" sz="1400" dirty="0"/>
          </a:p>
        </p:txBody>
      </p:sp>
      <p:sp>
        <p:nvSpPr>
          <p:cNvPr id="6" name="Shape 4"/>
          <p:cNvSpPr/>
          <p:nvPr/>
        </p:nvSpPr>
        <p:spPr>
          <a:xfrm>
            <a:off x="640080" y="1854708"/>
            <a:ext cx="193852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85470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vl = √(m·g / k)</a:t>
            </a:r>
            <a:endParaRPr lang="en-US" sz="1300" dirty="0"/>
          </a:p>
        </p:txBody>
      </p:sp>
      <p:sp>
        <p:nvSpPr>
          <p:cNvPr id="8" name="Shape 6"/>
          <p:cNvSpPr/>
          <p:nvPr/>
        </p:nvSpPr>
        <p:spPr>
          <a:xfrm>
            <a:off x="2688336" y="1854708"/>
            <a:ext cx="2728570"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688336" y="1854708"/>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vl = √(2·m·g / (ρ·C·A))</a:t>
            </a:r>
            <a:endParaRPr lang="en-US" sz="1300" dirty="0"/>
          </a:p>
        </p:txBody>
      </p:sp>
      <p:sp>
        <p:nvSpPr>
          <p:cNvPr id="10" name="Text 8"/>
          <p:cNvSpPr txBox="1"/>
          <p:nvPr/>
        </p:nvSpPr>
        <p:spPr>
          <a:xfrm>
            <a:off x="640080" y="2476500"/>
            <a:ext cx="6309360" cy="245364"/>
          </a:xfrm>
          <a:prstGeom prst="rect">
            <a:avLst/>
          </a:prstGeom>
          <a:noFill/>
          <a:ln/>
        </p:spPr>
        <p:txBody>
          <a:bodyPr wrap="square" lIns="0" tIns="0" rIns="0" bIns="0" rtlCol="0" anchor="t"/>
          <a:lstStyle/>
          <a:p>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Bağıntıdan üç sonuç doğrudan okunur:</a:t>
            </a:r>
            <a:endParaRPr lang="en-US" sz="1400" dirty="0"/>
          </a:p>
        </p:txBody>
      </p:sp>
      <p:sp>
        <p:nvSpPr>
          <p:cNvPr id="11" name="Text 9"/>
          <p:cNvSpPr txBox="1"/>
          <p:nvPr/>
        </p:nvSpPr>
        <p:spPr>
          <a:xfrm>
            <a:off x="640080" y="2849880"/>
            <a:ext cx="6309360" cy="16642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Kütle artarsa limit hız artar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 ama karekökle: kütle 4 katına çıkarsa hız 2 katına.</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Alan artarsa limit hız azalır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 yine karekökle: alan 4 katına çıkarsa hız yarıya.</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Belirleyici olan m/A oranıdır.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Aynı kütleli iki cisimden yüzeyi geniş olan daha yavaş iner.</a:t>
            </a:r>
            <a:endParaRPr lang="en-US" sz="1400" dirty="0"/>
          </a:p>
        </p:txBody>
      </p:sp>
      <p:sp>
        <p:nvSpPr>
          <p:cNvPr id="12" name="Shape 10"/>
          <p:cNvSpPr/>
          <p:nvPr/>
        </p:nvSpPr>
        <p:spPr>
          <a:xfrm>
            <a:off x="640080" y="4623816"/>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658368" y="4770120"/>
            <a:ext cx="45720" cy="793242"/>
          </a:xfrm>
          <a:prstGeom prst="rect">
            <a:avLst/>
          </a:prstGeom>
          <a:solidFill>
            <a:srgbClr val="3C8C21"/>
          </a:solidFill>
          <a:ln/>
        </p:spPr>
      </p:sp>
      <p:sp>
        <p:nvSpPr>
          <p:cNvPr id="14" name="Text 12"/>
          <p:cNvSpPr txBox="1"/>
          <p:nvPr/>
        </p:nvSpPr>
        <p:spPr>
          <a:xfrm>
            <a:off x="914400" y="4733544"/>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Yükseklik de etkiler: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ρ yukarıda küçüldüğü için aynı cismin limit hızı yüksek irtifada daha büyüktür. Serbest düşüş rekorları bu yüzden stratosferden yapılır.</a:t>
            </a:r>
            <a:endParaRPr lang="en-US" sz="1300" dirty="0"/>
          </a:p>
        </p:txBody>
      </p:sp>
      <p:sp>
        <p:nvSpPr>
          <p:cNvPr id="15" name="Shape 13"/>
          <p:cNvSpPr/>
          <p:nvPr/>
        </p:nvSpPr>
        <p:spPr>
          <a:xfrm>
            <a:off x="7242048" y="1481328"/>
            <a:ext cx="4309567" cy="3285436"/>
          </a:xfrm>
          <a:prstGeom prst="roundRect">
            <a:avLst>
              <a:gd name="adj" fmla="val 44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a4dee546-de71-4ec2-8add-be39dd273d29/scratchpad/sekiller/limit-hiz-03.png">    </p:cNvPr>
          <p:cNvPicPr>
            <a:picLocks noChangeAspect="1"/>
          </p:cNvPicPr>
          <p:nvPr/>
        </p:nvPicPr>
        <p:blipFill>
          <a:blip r:embed="rId1"/>
          <a:stretch>
            <a:fillRect/>
          </a:stretch>
        </p:blipFill>
        <p:spPr>
          <a:xfrm>
            <a:off x="7424928" y="1664208"/>
            <a:ext cx="3943807" cy="1643174"/>
          </a:xfrm>
          <a:prstGeom prst="rect">
            <a:avLst/>
          </a:prstGeom>
        </p:spPr>
      </p:pic>
      <p:sp>
        <p:nvSpPr>
          <p:cNvPr id="17" name="Shape 14"/>
          <p:cNvSpPr/>
          <p:nvPr/>
        </p:nvSpPr>
        <p:spPr>
          <a:xfrm>
            <a:off x="7424928" y="3398822"/>
            <a:ext cx="3943807" cy="0"/>
          </a:xfrm>
          <a:prstGeom prst="line">
            <a:avLst/>
          </a:prstGeom>
          <a:noFill/>
          <a:ln w="9525">
            <a:solidFill>
              <a:srgbClr val="E1E5EE"/>
            </a:solidFill>
            <a:prstDash val="dash"/>
          </a:ln>
        </p:spPr>
      </p:sp>
      <p:sp>
        <p:nvSpPr>
          <p:cNvPr id="18" name="Text 15"/>
          <p:cNvSpPr txBox="1"/>
          <p:nvPr/>
        </p:nvSpPr>
        <p:spPr>
          <a:xfrm>
            <a:off x="7424928" y="3453686"/>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Limit hız iki şeye bağlıdır ve ikisine 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karekökle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kütle dört katına çıkarsa limit hız yalnızca iki katına çıkar, alan dört katına çıkarsa hız yarıya iner. Belirleyici olan tek başına kütle ya da alan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m/A oranıdır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bu yüzden aynı kâğıdın buruşturulmuşu açık hâlinden çok daha hızlı iner.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 – t grafiği: doyan eğri</a:t>
            </a:r>
            <a:endParaRPr lang="en-US" sz="3200" dirty="0"/>
          </a:p>
        </p:txBody>
      </p:sp>
      <p:sp>
        <p:nvSpPr>
          <p:cNvPr id="5" name="Text 3"/>
          <p:cNvSpPr txBox="1"/>
          <p:nvPr/>
        </p:nvSpPr>
        <p:spPr>
          <a:xfrm>
            <a:off x="640080" y="1481328"/>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Hava direnci yokken v – t grafiği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eğimi g olan bir doğrudur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Hava direnci varken eğri başlangıçta bu doğruya teğettir, sonra eğimi azalır ve limit hıza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asimptotik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olarak yaklaşır.</a:t>
            </a:r>
            <a:endParaRPr lang="en-US" sz="1400" dirty="0"/>
          </a:p>
        </p:txBody>
      </p:sp>
      <p:sp>
        <p:nvSpPr>
          <p:cNvPr id="6" name="Shape 4"/>
          <p:cNvSpPr/>
          <p:nvPr/>
        </p:nvSpPr>
        <p:spPr>
          <a:xfrm>
            <a:off x="640080" y="2455164"/>
            <a:ext cx="3024835"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55164"/>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v(t) = vl · tanh(g·t / vl)</a:t>
            </a:r>
            <a:endParaRPr lang="en-US" sz="1300" dirty="0"/>
          </a:p>
        </p:txBody>
      </p:sp>
      <p:sp>
        <p:nvSpPr>
          <p:cNvPr id="8" name="Text 6"/>
          <p:cNvSpPr txBox="1"/>
          <p:nvPr/>
        </p:nvSpPr>
        <p:spPr>
          <a:xfrm>
            <a:off x="640080" y="3076956"/>
            <a:ext cx="6309360" cy="981456"/>
          </a:xfrm>
          <a:prstGeom prst="rect">
            <a:avLst/>
          </a:prstGeom>
          <a:noFill/>
          <a:ln/>
        </p:spPr>
        <p:txBody>
          <a:bodyPr wrap="square" lIns="0" tIns="0" rIns="0" bIns="0" rtlCol="0" anchor="t"/>
          <a:lstStyle/>
          <a:p>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Cisim limit hıza matematiksel olarak hiçbir zaman tam ulaşmaz; ama pratikte birkaç saniyede %95'ine oturur. a – t grafiği ise g'den başlayıp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sıfıra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iner: ivmenin sıfırlanması, hızın sabitlenmesi demektir.</a:t>
            </a:r>
            <a:endParaRPr lang="en-US" sz="1400" dirty="0"/>
          </a:p>
        </p:txBody>
      </p:sp>
      <p:sp>
        <p:nvSpPr>
          <p:cNvPr id="9" name="Shape 7"/>
          <p:cNvSpPr/>
          <p:nvPr/>
        </p:nvSpPr>
        <p:spPr>
          <a:xfrm>
            <a:off x="640080" y="4186428"/>
            <a:ext cx="6309360" cy="858012"/>
          </a:xfrm>
          <a:prstGeom prst="roundRect">
            <a:avLst>
              <a:gd name="adj" fmla="val 127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4332732"/>
            <a:ext cx="45720" cy="565404"/>
          </a:xfrm>
          <a:prstGeom prst="rect">
            <a:avLst/>
          </a:prstGeom>
          <a:solidFill>
            <a:srgbClr val="A56209"/>
          </a:solidFill>
          <a:ln/>
        </p:spPr>
      </p:sp>
      <p:sp>
        <p:nvSpPr>
          <p:cNvPr id="11" name="Text 9"/>
          <p:cNvSpPr txBox="1"/>
          <p:nvPr/>
        </p:nvSpPr>
        <p:spPr>
          <a:xfrm>
            <a:off x="914400" y="4296156"/>
            <a:ext cx="5852160" cy="638556"/>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Limit hızda hız sıfır değildir!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Sıfır olan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ivmedir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Cisim hâlâ (hem de hızla) düşmektedir; yalnızca artık hızlanmamaktadır.</a:t>
            </a:r>
            <a:endParaRPr lang="en-US" sz="1300" dirty="0"/>
          </a:p>
        </p:txBody>
      </p:sp>
      <p:sp>
        <p:nvSpPr>
          <p:cNvPr id="12" name="Shape 10"/>
          <p:cNvSpPr/>
          <p:nvPr/>
        </p:nvSpPr>
        <p:spPr>
          <a:xfrm>
            <a:off x="7242048" y="1481328"/>
            <a:ext cx="4309567" cy="3285436"/>
          </a:xfrm>
          <a:prstGeom prst="roundRect">
            <a:avLst>
              <a:gd name="adj" fmla="val 44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limit-hiz-04.png">    </p:cNvPr>
          <p:cNvPicPr>
            <a:picLocks noChangeAspect="1"/>
          </p:cNvPicPr>
          <p:nvPr/>
        </p:nvPicPr>
        <p:blipFill>
          <a:blip r:embed="rId1"/>
          <a:stretch>
            <a:fillRect/>
          </a:stretch>
        </p:blipFill>
        <p:spPr>
          <a:xfrm>
            <a:off x="7424928" y="1664208"/>
            <a:ext cx="3943807" cy="1643174"/>
          </a:xfrm>
          <a:prstGeom prst="rect">
            <a:avLst/>
          </a:prstGeom>
        </p:spPr>
      </p:pic>
      <p:sp>
        <p:nvSpPr>
          <p:cNvPr id="14" name="Shape 11"/>
          <p:cNvSpPr/>
          <p:nvPr/>
        </p:nvSpPr>
        <p:spPr>
          <a:xfrm>
            <a:off x="7424928" y="3398822"/>
            <a:ext cx="3943807" cy="0"/>
          </a:xfrm>
          <a:prstGeom prst="line">
            <a:avLst/>
          </a:prstGeom>
          <a:noFill/>
          <a:ln w="9525">
            <a:solidFill>
              <a:srgbClr val="E1E5EE"/>
            </a:solidFill>
            <a:prstDash val="dash"/>
          </a:ln>
        </p:spPr>
      </p:sp>
      <p:sp>
        <p:nvSpPr>
          <p:cNvPr id="15" name="Text 12"/>
          <p:cNvSpPr txBox="1"/>
          <p:nvPr/>
        </p:nvSpPr>
        <p:spPr>
          <a:xfrm>
            <a:off x="7424928" y="3453686"/>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Eğrinin her noktasındaki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eğim o andaki ivmedir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Başlangıçta eğim tam olarak g'dir — ilk anda hız sıfır olduğu için direnç de sıfırdır. Hız büyüdükçe eğim azalır ve eğri, limit hız doğrusuna hiç değmeden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sonsuza kadar yaklaşır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Pratikte cisim birkaç saniyede limit hızın %99'una ulaşır.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düşmeden farkı</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5486400" cy="914400"/>
        </p:xfrm>
        <a:graphic>
          <a:graphicData uri="http://schemas.openxmlformats.org/drawingml/2006/table">
            <a:tbl>
              <a:tblPr/>
              <a:tblGrid>
                <a:gridCol w="1280160"/>
                <a:gridCol w="1920240"/>
                <a:gridCol w="2286000"/>
              </a:tblGrid>
              <a:tr h="530352">
                <a:tc>
                  <a:txBody>
                    <a:bodyPr/>
                    <a:lstStyle/>
                    <a:p>
                      <a:pPr indent="0" marL="0">
                        <a:buNone/>
                      </a:pP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Serbest düşme (ideal)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Gerçek düşüş</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Etkiyen kuvvet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Yalnızca ağırlık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Ağırlık + hava direnci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İvme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Sabit,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g'den başlar, sıfıra iner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Sınırsız artar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Limit hızda sabitlenir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Kütlenin rolü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Yok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Var (m/A oranı)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6" name="Text 3"/>
          <p:cNvSpPr txBox="1"/>
          <p:nvPr/>
        </p:nvSpPr>
        <p:spPr>
          <a:xfrm>
            <a:off x="640080" y="3877056"/>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Serbest düşme, hava direncinin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ihmal edilebildiği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durumların modelidir: kısa mesafe, yoğun ve küçük cisim, düşük hız.</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Uzun süreli düşüşlerde ya da hafif ve geniş cisimlerde bu model geçersizleşir.</a:t>
            </a:r>
            <a:endParaRPr lang="en-US" sz="1600" dirty="0"/>
          </a:p>
        </p:txBody>
      </p:sp>
      <p:sp>
        <p:nvSpPr>
          <p:cNvPr id="7" name="Shape 4"/>
          <p:cNvSpPr/>
          <p:nvPr/>
        </p:nvSpPr>
        <p:spPr>
          <a:xfrm>
            <a:off x="6419088" y="1481328"/>
            <a:ext cx="5132527" cy="3310162"/>
          </a:xfrm>
          <a:prstGeom prst="roundRect">
            <a:avLst>
              <a:gd name="adj" fmla="val 442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limit-hiz-05.png">    </p:cNvPr>
          <p:cNvPicPr>
            <a:picLocks noChangeAspect="1"/>
          </p:cNvPicPr>
          <p:nvPr/>
        </p:nvPicPr>
        <p:blipFill>
          <a:blip r:embed="rId1"/>
          <a:stretch>
            <a:fillRect/>
          </a:stretch>
        </p:blipFill>
        <p:spPr>
          <a:xfrm>
            <a:off x="6601968" y="1664208"/>
            <a:ext cx="4766767" cy="1847122"/>
          </a:xfrm>
          <a:prstGeom prst="rect">
            <a:avLst/>
          </a:prstGeom>
        </p:spPr>
      </p:pic>
      <p:sp>
        <p:nvSpPr>
          <p:cNvPr id="9" name="Shape 5"/>
          <p:cNvSpPr/>
          <p:nvPr/>
        </p:nvSpPr>
        <p:spPr>
          <a:xfrm>
            <a:off x="6601968" y="3602770"/>
            <a:ext cx="4766767" cy="0"/>
          </a:xfrm>
          <a:prstGeom prst="line">
            <a:avLst/>
          </a:prstGeom>
          <a:noFill/>
          <a:ln w="9525">
            <a:solidFill>
              <a:srgbClr val="E1E5EE"/>
            </a:solidFill>
            <a:prstDash val="dash"/>
          </a:ln>
        </p:spPr>
      </p:sp>
      <p:sp>
        <p:nvSpPr>
          <p:cNvPr id="10" name="Text 6"/>
          <p:cNvSpPr txBox="1"/>
          <p:nvPr/>
        </p:nvSpPr>
        <p:spPr>
          <a:xfrm>
            <a:off x="6601968" y="365763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Vakumda ivme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değişmez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 sınırsız artar ve kütlenin hiçbir rolü yoktur. Havada ise ivme g'den başlayıp sıfıra iner, hız bir değerde sabitlenir ve artık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kütle ile alan işin içine girer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Serbest düşme, hava direncinin ihmal edilebildiği özel bir durumdur — kısa mesafelerde ve ağır cisimlerde iyi bir yaklaşımdır.</a:t>
            </a:r>
            <a:endParaRPr lang="en-US" sz="1050" dirty="0"/>
          </a:p>
        </p:txBody>
      </p:sp>
      <p:sp>
        <p:nvSpPr>
          <p:cNvPr id="11" name="Shape 7"/>
          <p:cNvSpPr/>
          <p:nvPr/>
        </p:nvSpPr>
        <p:spPr>
          <a:xfrm>
            <a:off x="640080" y="6382512"/>
            <a:ext cx="128016" cy="128016"/>
          </a:xfrm>
          <a:prstGeom prst="roundRect">
            <a:avLst>
              <a:gd name="adj" fmla="val 28571"/>
            </a:avLst>
          </a:prstGeom>
          <a:solidFill>
            <a:srgbClr val="A9E648"/>
          </a:solidFill>
          <a:ln/>
        </p:spPr>
      </p:sp>
      <p:sp>
        <p:nvSpPr>
          <p:cNvPr id="12"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3"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Paraşüt ve ölçek etkisi</a:t>
            </a:r>
            <a:endParaRPr lang="en-US" sz="3200" dirty="0"/>
          </a:p>
        </p:txBody>
      </p:sp>
      <p:sp>
        <p:nvSpPr>
          <p:cNvPr id="5" name="Text 3"/>
          <p:cNvSpPr txBox="1"/>
          <p:nvPr/>
        </p:nvSpPr>
        <p:spPr>
          <a:xfrm>
            <a:off x="640080" y="1481328"/>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Paraşüt, kütleyi değil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alanı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değiştirir.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Açıldığı anda A onlarca katına çıkar, k büyür ve yeni limit hız çok küçülür:</a:t>
            </a:r>
            <a:endParaRPr lang="en-US" sz="1400" dirty="0"/>
          </a:p>
        </p:txBody>
      </p:sp>
      <p:sp>
        <p:nvSpPr>
          <p:cNvPr id="6" name="Shape 4"/>
          <p:cNvSpPr/>
          <p:nvPr/>
        </p:nvSpPr>
        <p:spPr>
          <a:xfrm>
            <a:off x="640080" y="2455164"/>
            <a:ext cx="2531059"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55164"/>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25A ⇒ vl → vl / 5</a:t>
            </a:r>
            <a:endParaRPr lang="en-US" sz="1300" dirty="0"/>
          </a:p>
        </p:txBody>
      </p:sp>
      <p:sp>
        <p:nvSpPr>
          <p:cNvPr id="8" name="Text 6"/>
          <p:cNvSpPr txBox="1"/>
          <p:nvPr/>
        </p:nvSpPr>
        <p:spPr>
          <a:xfrm>
            <a:off x="640080" y="3076956"/>
            <a:ext cx="6309360" cy="14188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Açılma anında hız hâlâ eski limit hızdadır; direnç birden ağırlığın çok üstüne çıkar ve cisim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yukarı yönlü net kuvvetle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hızla yavaşlar.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Paraşütçünün hissettiği sarsıntı budur.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Birkaç saniye içinde yeni dengeye oturulur.</a:t>
            </a:r>
            <a:endParaRPr lang="en-US" sz="1400" dirty="0"/>
          </a:p>
        </p:txBody>
      </p:sp>
      <p:sp>
        <p:nvSpPr>
          <p:cNvPr id="9" name="Text 7"/>
          <p:cNvSpPr txBox="1"/>
          <p:nvPr/>
        </p:nvSpPr>
        <p:spPr>
          <a:xfrm>
            <a:off x="640080" y="4605528"/>
            <a:ext cx="6309360" cy="11094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Aynı mantık canlılar için de geçerlidir: boyut küçüldükçe kütle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uzunluğun küpüyle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alan ise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karesiyle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küçülür.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yüzden küçük bir böceğin m/A oranı çok düşüktür; limit hızı o kadar küçüktür ki yüksekten düşmesi onu incitmez.</a:t>
            </a:r>
            <a:endParaRPr lang="en-US" sz="1400" dirty="0"/>
          </a:p>
        </p:txBody>
      </p:sp>
      <p:sp>
        <p:nvSpPr>
          <p:cNvPr id="10" name="Shape 8"/>
          <p:cNvSpPr/>
          <p:nvPr/>
        </p:nvSpPr>
        <p:spPr>
          <a:xfrm>
            <a:off x="7242048" y="1481328"/>
            <a:ext cx="4309567" cy="3431833"/>
          </a:xfrm>
          <a:prstGeom prst="roundRect">
            <a:avLst>
              <a:gd name="adj" fmla="val 4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limit-hiz-06.png">    </p:cNvPr>
          <p:cNvPicPr>
            <a:picLocks noChangeAspect="1"/>
          </p:cNvPicPr>
          <p:nvPr/>
        </p:nvPicPr>
        <p:blipFill>
          <a:blip r:embed="rId1"/>
          <a:stretch>
            <a:fillRect/>
          </a:stretch>
        </p:blipFill>
        <p:spPr>
          <a:xfrm>
            <a:off x="7424928" y="1664208"/>
            <a:ext cx="3943807" cy="1610348"/>
          </a:xfrm>
          <a:prstGeom prst="rect">
            <a:avLst/>
          </a:prstGeom>
        </p:spPr>
      </p:pic>
      <p:sp>
        <p:nvSpPr>
          <p:cNvPr id="12" name="Shape 9"/>
          <p:cNvSpPr/>
          <p:nvPr/>
        </p:nvSpPr>
        <p:spPr>
          <a:xfrm>
            <a:off x="7424928" y="3365996"/>
            <a:ext cx="3943807" cy="0"/>
          </a:xfrm>
          <a:prstGeom prst="line">
            <a:avLst/>
          </a:prstGeom>
          <a:noFill/>
          <a:ln w="9525">
            <a:solidFill>
              <a:srgbClr val="E1E5EE"/>
            </a:solidFill>
            <a:prstDash val="dash"/>
          </a:ln>
        </p:spPr>
      </p:sp>
      <p:sp>
        <p:nvSpPr>
          <p:cNvPr id="13" name="Text 10"/>
          <p:cNvSpPr txBox="1"/>
          <p:nvPr/>
        </p:nvSpPr>
        <p:spPr>
          <a:xfrm>
            <a:off x="7424928" y="3420860"/>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Paraşüt açıldığı anda kütle değişmez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alan onlarca kat büyür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Direnç bir anda ağırlığın çok üstüne çıkar, net kuvvet yukarı döner ve atlayıcı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yavaşlar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bu ani frenlemeyi vücudunda hissettiği an budur. Yavaşladıkça direnç küçülür ve hız yeni, çok daha düşük bir limitte dengelenir. Alan 25 kat büyüyünce hız karekökle, yani yaklaşık beşte birine iner.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Tipik limit hızlar</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5486400" cy="914400"/>
        </p:xfrm>
        <a:graphic>
          <a:graphicData uri="http://schemas.openxmlformats.org/drawingml/2006/table">
            <a:tbl>
              <a:tblPr/>
              <a:tblGrid>
                <a:gridCol w="2476447"/>
                <a:gridCol w="992107"/>
                <a:gridCol w="201784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Cisim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Limit 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Neden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Sis damlacığı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0,01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çok küçük 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Yağmur damlası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9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küçük kütle, küresel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Tenis topu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25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orta 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Paraşütçü (kol-bacak açık)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55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büyük kütle, orta alan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Paraşütçü (dalış pozisyonu)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90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alan iyice küçülür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Açık paraşüt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alan onlarca kat büyür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6" name="Shape 3"/>
          <p:cNvSpPr/>
          <p:nvPr/>
        </p:nvSpPr>
        <p:spPr>
          <a:xfrm>
            <a:off x="6419088" y="1481328"/>
            <a:ext cx="5132527" cy="3269875"/>
          </a:xfrm>
          <a:prstGeom prst="roundRect">
            <a:avLst>
              <a:gd name="adj" fmla="val 447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a4dee546-de71-4ec2-8add-be39dd273d29/scratchpad/sekiller/limit-hiz-07.png">    </p:cNvPr>
          <p:cNvPicPr>
            <a:picLocks noChangeAspect="1"/>
          </p:cNvPicPr>
          <p:nvPr/>
        </p:nvPicPr>
        <p:blipFill>
          <a:blip r:embed="rId1"/>
          <a:stretch>
            <a:fillRect/>
          </a:stretch>
        </p:blipFill>
        <p:spPr>
          <a:xfrm>
            <a:off x="6601968" y="1664208"/>
            <a:ext cx="4766767" cy="1986058"/>
          </a:xfrm>
          <a:prstGeom prst="rect">
            <a:avLst/>
          </a:prstGeom>
        </p:spPr>
      </p:pic>
      <p:sp>
        <p:nvSpPr>
          <p:cNvPr id="8" name="Shape 4"/>
          <p:cNvSpPr/>
          <p:nvPr/>
        </p:nvSpPr>
        <p:spPr>
          <a:xfrm>
            <a:off x="6601968" y="3741706"/>
            <a:ext cx="4766767" cy="0"/>
          </a:xfrm>
          <a:prstGeom prst="line">
            <a:avLst/>
          </a:prstGeom>
          <a:noFill/>
          <a:ln w="9525">
            <a:solidFill>
              <a:srgbClr val="E1E5EE"/>
            </a:solidFill>
            <a:prstDash val="dash"/>
          </a:ln>
        </p:spPr>
      </p:sp>
      <p:sp>
        <p:nvSpPr>
          <p:cNvPr id="9" name="Text 5"/>
          <p:cNvSpPr txBox="1"/>
          <p:nvPr/>
        </p:nvSpPr>
        <p:spPr>
          <a:xfrm>
            <a:off x="6601968" y="3796570"/>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yerçekimi, aynı hava — ama limit hızlar arasında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on binlerce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fark var. Farkı yapan tek şey m/A oranı: sis damlacığı neredeyse asılı kalır, kollarını yanına toplayan bir paraşütçü ise 90 m/s'ye çıkar. Paraşütü açmak, aynı insanın limit hızını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on bire bölmeye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yeter.</a:t>
            </a:r>
            <a:endParaRPr lang="en-US" sz="10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Limit hızda kuvvetler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80 kg kütleli bir paraşütçü, paraşütü kapalıyken 50 m/s'lik limit hızıyla düşmektedir. (a) Bu anda hava direnci kaç N'dur? (b) İvmesi nedir?</a:t>
            </a:r>
            <a:endParaRPr lang="en-US" sz="1600" dirty="0"/>
          </a:p>
        </p:txBody>
      </p:sp>
      <p:sp>
        <p:nvSpPr>
          <p:cNvPr id="9" name="Shape 7"/>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223365"/>
            <a:ext cx="384048" cy="384048"/>
          </a:xfrm>
          <a:prstGeom prst="roundRect">
            <a:avLst>
              <a:gd name="adj" fmla="val 26000"/>
            </a:avLst>
          </a:prstGeom>
          <a:solidFill>
            <a:srgbClr val="A56209"/>
          </a:solidFill>
          <a:ln/>
        </p:spPr>
      </p:sp>
      <p:sp>
        <p:nvSpPr>
          <p:cNvPr id="11" name="Text 9"/>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Limit hızda net kuvvet sıfırdır: F</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d</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m·g = 80 · 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800 N</a:t>
            </a:r>
            <a:endParaRPr lang="en-US" sz="1600" dirty="0"/>
          </a:p>
        </p:txBody>
      </p:sp>
      <p:sp>
        <p:nvSpPr>
          <p:cNvPr id="13" name="Shape 11"/>
          <p:cNvSpPr/>
          <p:nvPr/>
        </p:nvSpPr>
        <p:spPr>
          <a:xfrm>
            <a:off x="5212080" y="3349450"/>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694176"/>
            <a:ext cx="384048" cy="384048"/>
          </a:xfrm>
          <a:prstGeom prst="roundRect">
            <a:avLst>
              <a:gd name="adj" fmla="val 26000"/>
            </a:avLst>
          </a:prstGeom>
          <a:solidFill>
            <a:srgbClr val="A56209"/>
          </a:solidFill>
          <a:ln/>
        </p:spPr>
      </p:sp>
      <p:sp>
        <p:nvSpPr>
          <p:cNvPr id="15" name="Text 13"/>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404314"/>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ΣF = 0 olduğu için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 = 0</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'dır.</a:t>
            </a:r>
            <a:endParaRPr lang="en-US" sz="1600" dirty="0"/>
          </a:p>
        </p:txBody>
      </p:sp>
      <p:sp>
        <p:nvSpPr>
          <p:cNvPr id="17" name="Shape 15"/>
          <p:cNvSpPr/>
          <p:nvPr/>
        </p:nvSpPr>
        <p:spPr>
          <a:xfrm>
            <a:off x="5212080" y="4569254"/>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164987"/>
            <a:ext cx="384048" cy="384048"/>
          </a:xfrm>
          <a:prstGeom prst="roundRect">
            <a:avLst>
              <a:gd name="adj" fmla="val 26000"/>
            </a:avLst>
          </a:prstGeom>
          <a:solidFill>
            <a:srgbClr val="A56209"/>
          </a:solidFill>
          <a:ln/>
        </p:spPr>
      </p:sp>
      <p:sp>
        <p:nvSpPr>
          <p:cNvPr id="19" name="Text 17"/>
          <p:cNvSpPr txBox="1"/>
          <p:nvPr/>
        </p:nvSpPr>
        <p:spPr>
          <a:xfrm>
            <a:off x="5449824" y="51649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624118"/>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Hız sıfır değildir: cisim 50 m/s ile düşmeye devam eder. Sabit olan hızdır, sıfır olan ivmedir.</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Direnç katsayısını bulma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cismin kütlesi 2 kg, limit hızı 20 m/s ölçülüyor. Direnç F</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d</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k·v² modeliyle veriliyorsa k kaçtır? Hız 10 m/s iken ivme ne olur?</a:t>
            </a:r>
            <a:endParaRPr lang="en-US" sz="1600" dirty="0"/>
          </a:p>
        </p:txBody>
      </p:sp>
      <p:sp>
        <p:nvSpPr>
          <p:cNvPr id="9" name="Shape 7"/>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1994"/>
            <a:ext cx="384048" cy="384048"/>
          </a:xfrm>
          <a:prstGeom prst="roundRect">
            <a:avLst>
              <a:gd name="adj" fmla="val 26000"/>
            </a:avLst>
          </a:prstGeom>
          <a:solidFill>
            <a:srgbClr val="A56209"/>
          </a:solidFill>
          <a:ln/>
        </p:spPr>
      </p:sp>
      <p:sp>
        <p:nvSpPr>
          <p:cNvPr id="11" name="Text 9"/>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Limit hızda: m·g = k·v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² → 20 = k · 400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k = 0,05 kg/m</a:t>
            </a:r>
            <a:endParaRPr lang="en-US" sz="1600" dirty="0"/>
          </a:p>
        </p:txBody>
      </p:sp>
      <p:sp>
        <p:nvSpPr>
          <p:cNvPr id="13" name="Shape 11"/>
          <p:cNvSpPr/>
          <p:nvPr/>
        </p:nvSpPr>
        <p:spPr>
          <a:xfrm>
            <a:off x="5212080" y="298670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207854"/>
            <a:ext cx="384048" cy="384048"/>
          </a:xfrm>
          <a:prstGeom prst="roundRect">
            <a:avLst>
              <a:gd name="adj" fmla="val 26000"/>
            </a:avLst>
          </a:prstGeom>
          <a:solidFill>
            <a:srgbClr val="A56209"/>
          </a:solidFill>
          <a:ln/>
        </p:spPr>
      </p:sp>
      <p:sp>
        <p:nvSpPr>
          <p:cNvPr id="15" name="Text 13"/>
          <p:cNvSpPr txBox="1"/>
          <p:nvPr/>
        </p:nvSpPr>
        <p:spPr>
          <a:xfrm>
            <a:off x="5449824" y="32078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157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10 m/s iken direnç: F</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d</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0,05 · 100 = 5 N</a:t>
            </a:r>
            <a:endParaRPr lang="en-US" sz="1600" dirty="0"/>
          </a:p>
        </p:txBody>
      </p:sp>
      <p:sp>
        <p:nvSpPr>
          <p:cNvPr id="17" name="Shape 15"/>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180498"/>
            <a:ext cx="384048" cy="384048"/>
          </a:xfrm>
          <a:prstGeom prst="roundRect">
            <a:avLst>
              <a:gd name="adj" fmla="val 26000"/>
            </a:avLst>
          </a:prstGeom>
          <a:solidFill>
            <a:srgbClr val="A56209"/>
          </a:solidFill>
          <a:ln/>
        </p:spPr>
      </p:sp>
      <p:sp>
        <p:nvSpPr>
          <p:cNvPr id="19" name="Text 17"/>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Net kuvvet: 20 − 5 = 15 N → a = 15/2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7,5 m/s²</a:t>
            </a:r>
            <a:endParaRPr lang="en-US" sz="1600" dirty="0"/>
          </a:p>
        </p:txBody>
      </p:sp>
      <p:sp>
        <p:nvSpPr>
          <p:cNvPr id="21" name="Shape 19"/>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346358"/>
            <a:ext cx="384048" cy="384048"/>
          </a:xfrm>
          <a:prstGeom prst="roundRect">
            <a:avLst>
              <a:gd name="adj" fmla="val 26000"/>
            </a:avLst>
          </a:prstGeom>
          <a:solidFill>
            <a:srgbClr val="A56209"/>
          </a:solidFill>
          <a:ln/>
        </p:spPr>
      </p:sp>
      <p:sp>
        <p:nvSpPr>
          <p:cNvPr id="23" name="Text 21"/>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Hız limitin yarısındayken ivme hâlâ g'nin dörtte üçü kadardır (direnç v² ile büyür).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Paraşüt açılınca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Limit hızı 50 m/s olan paraşütçü, paraşütünü açtığında yüzey alanı 25 katına çıkıyor. (a) Yeni limit hız nedir? (b) Açılma anında ivmesi ne olur?</a:t>
            </a:r>
            <a:endParaRPr lang="en-US" sz="1600" dirty="0"/>
          </a:p>
        </p:txBody>
      </p:sp>
      <p:sp>
        <p:nvSpPr>
          <p:cNvPr id="9" name="Shape 7"/>
          <p:cNvSpPr/>
          <p:nvPr/>
        </p:nvSpPr>
        <p:spPr>
          <a:xfrm>
            <a:off x="5212080" y="1627632"/>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782953"/>
            <a:ext cx="384048" cy="384048"/>
          </a:xfrm>
          <a:prstGeom prst="roundRect">
            <a:avLst>
              <a:gd name="adj" fmla="val 26000"/>
            </a:avLst>
          </a:prstGeom>
          <a:solidFill>
            <a:srgbClr val="A56209"/>
          </a:solidFill>
          <a:ln/>
        </p:spPr>
      </p:sp>
      <p:sp>
        <p:nvSpPr>
          <p:cNvPr id="11" name="Text 9"/>
          <p:cNvSpPr txBox="1"/>
          <p:nvPr/>
        </p:nvSpPr>
        <p:spPr>
          <a:xfrm>
            <a:off x="5449824" y="178295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584962"/>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1/√A olduğundan: 50 / √25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 m/s</a:t>
            </a:r>
            <a:endParaRPr lang="en-US" sz="1600" dirty="0"/>
          </a:p>
        </p:txBody>
      </p:sp>
      <p:sp>
        <p:nvSpPr>
          <p:cNvPr id="13" name="Shape 11"/>
          <p:cNvSpPr/>
          <p:nvPr/>
        </p:nvSpPr>
        <p:spPr>
          <a:xfrm>
            <a:off x="5212080" y="2468626"/>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786380"/>
            <a:ext cx="384048" cy="384048"/>
          </a:xfrm>
          <a:prstGeom prst="roundRect">
            <a:avLst>
              <a:gd name="adj" fmla="val 26000"/>
            </a:avLst>
          </a:prstGeom>
          <a:solidFill>
            <a:srgbClr val="A56209"/>
          </a:solidFill>
          <a:ln/>
        </p:spPr>
      </p:sp>
      <p:sp>
        <p:nvSpPr>
          <p:cNvPr id="15" name="Text 13"/>
          <p:cNvSpPr txBox="1"/>
          <p:nvPr/>
        </p:nvSpPr>
        <p:spPr>
          <a:xfrm>
            <a:off x="5449824" y="278638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523490"/>
            <a:ext cx="5379415" cy="9098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Açılma anında hız hâlâ 50 m/s. Yeni k ile direnç: F</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d</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25 · (eski direnç) = 25 · m·g</a:t>
            </a:r>
            <a:endParaRPr lang="en-US" sz="1600" dirty="0"/>
          </a:p>
        </p:txBody>
      </p:sp>
      <p:sp>
        <p:nvSpPr>
          <p:cNvPr id="17" name="Shape 15"/>
          <p:cNvSpPr/>
          <p:nvPr/>
        </p:nvSpPr>
        <p:spPr>
          <a:xfrm>
            <a:off x="5212080" y="3634486"/>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952240"/>
            <a:ext cx="384048" cy="384048"/>
          </a:xfrm>
          <a:prstGeom prst="roundRect">
            <a:avLst>
              <a:gd name="adj" fmla="val 26000"/>
            </a:avLst>
          </a:prstGeom>
          <a:solidFill>
            <a:srgbClr val="A56209"/>
          </a:solidFill>
          <a:ln/>
        </p:spPr>
      </p:sp>
      <p:sp>
        <p:nvSpPr>
          <p:cNvPr id="19" name="Text 17"/>
          <p:cNvSpPr txBox="1"/>
          <p:nvPr/>
        </p:nvSpPr>
        <p:spPr>
          <a:xfrm>
            <a:off x="5449824" y="395224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689350"/>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Net kuvvet = 25mg − mg = 24mg, yukarı yönde → a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24g</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(yaklaşık 240 m/s², yukarı)</a:t>
            </a:r>
            <a:endParaRPr lang="en-US" sz="1600" dirty="0"/>
          </a:p>
        </p:txBody>
      </p:sp>
      <p:sp>
        <p:nvSpPr>
          <p:cNvPr id="21" name="Shape 19"/>
          <p:cNvSpPr/>
          <p:nvPr/>
        </p:nvSpPr>
        <p:spPr>
          <a:xfrm>
            <a:off x="5212080" y="4800346"/>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0533"/>
            <a:ext cx="384048" cy="384048"/>
          </a:xfrm>
          <a:prstGeom prst="roundRect">
            <a:avLst>
              <a:gd name="adj" fmla="val 26000"/>
            </a:avLst>
          </a:prstGeom>
          <a:solidFill>
            <a:srgbClr val="A56209"/>
          </a:solidFill>
          <a:ln/>
        </p:spPr>
      </p:sp>
      <p:sp>
        <p:nvSpPr>
          <p:cNvPr id="23" name="Text 21"/>
          <p:cNvSpPr txBox="1"/>
          <p:nvPr/>
        </p:nvSpPr>
        <p:spPr>
          <a:xfrm>
            <a:off x="5449824" y="52805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5210"/>
            <a:ext cx="5379415" cy="1234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Bu yüzden açılma çok sert hissedilir; gerçek paraşütler açılmayı birkaç saniyeye yayarak bu ivmeyi düşürür.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kütle, farklı alan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Aynı kâğıttan yapılmış açık bir levha ile buruşturulmuş bir top düşünelim. Buruşturunca kesit alanı 9 katına küçülüyorsa limit hız nasıl değişir?</a:t>
            </a:r>
            <a:endParaRPr lang="en-US" sz="1600" dirty="0"/>
          </a:p>
        </p:txBody>
      </p:sp>
      <p:sp>
        <p:nvSpPr>
          <p:cNvPr id="9" name="Shape 7"/>
          <p:cNvSpPr/>
          <p:nvPr/>
        </p:nvSpPr>
        <p:spPr>
          <a:xfrm>
            <a:off x="5212080" y="1627632"/>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72358"/>
            <a:ext cx="384048" cy="384048"/>
          </a:xfrm>
          <a:prstGeom prst="roundRect">
            <a:avLst>
              <a:gd name="adj" fmla="val 26000"/>
            </a:avLst>
          </a:prstGeom>
          <a:solidFill>
            <a:srgbClr val="A56209"/>
          </a:solidFill>
          <a:ln/>
        </p:spPr>
      </p:sp>
      <p:sp>
        <p:nvSpPr>
          <p:cNvPr id="11" name="Text 9"/>
          <p:cNvSpPr txBox="1"/>
          <p:nvPr/>
        </p:nvSpPr>
        <p:spPr>
          <a:xfrm>
            <a:off x="5449824" y="1972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6377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Kütle değişmedi; yalnızca A küçüldü: A → A/9</a:t>
            </a:r>
            <a:endParaRPr lang="en-US" sz="1600" dirty="0"/>
          </a:p>
        </p:txBody>
      </p:sp>
      <p:sp>
        <p:nvSpPr>
          <p:cNvPr id="13" name="Shape 11"/>
          <p:cNvSpPr/>
          <p:nvPr/>
        </p:nvSpPr>
        <p:spPr>
          <a:xfrm>
            <a:off x="5212080" y="2847437"/>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43170"/>
            <a:ext cx="384048" cy="384048"/>
          </a:xfrm>
          <a:prstGeom prst="roundRect">
            <a:avLst>
              <a:gd name="adj" fmla="val 26000"/>
            </a:avLst>
          </a:prstGeom>
          <a:solidFill>
            <a:srgbClr val="A56209"/>
          </a:solidFill>
          <a:ln/>
        </p:spPr>
      </p:sp>
      <p:sp>
        <p:nvSpPr>
          <p:cNvPr id="15" name="Text 13"/>
          <p:cNvSpPr txBox="1"/>
          <p:nvPr/>
        </p:nvSpPr>
        <p:spPr>
          <a:xfrm>
            <a:off x="5449824" y="344317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902301"/>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√(2mg / (ρCA)) ∝ 1/√A → A dokuzda birine inince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katına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çıkar.</a:t>
            </a:r>
            <a:endParaRPr lang="en-US" sz="1600" dirty="0"/>
          </a:p>
        </p:txBody>
      </p:sp>
      <p:sp>
        <p:nvSpPr>
          <p:cNvPr id="17" name="Shape 15"/>
          <p:cNvSpPr/>
          <p:nvPr/>
        </p:nvSpPr>
        <p:spPr>
          <a:xfrm>
            <a:off x="5212080" y="4569254"/>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164987"/>
            <a:ext cx="384048" cy="384048"/>
          </a:xfrm>
          <a:prstGeom prst="roundRect">
            <a:avLst>
              <a:gd name="adj" fmla="val 26000"/>
            </a:avLst>
          </a:prstGeom>
          <a:solidFill>
            <a:srgbClr val="A56209"/>
          </a:solidFill>
          <a:ln/>
        </p:spPr>
      </p:sp>
      <p:sp>
        <p:nvSpPr>
          <p:cNvPr id="19" name="Text 17"/>
          <p:cNvSpPr txBox="1"/>
          <p:nvPr/>
        </p:nvSpPr>
        <p:spPr>
          <a:xfrm>
            <a:off x="5449824" y="51649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624118"/>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Bu yüzden buruşturulmuş kâğıt, açık kâğıttan çok daha hızlı düşer — kütleleri aynı olmasına rağmen.</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“Limit hızda hız sıfırdır.”</a:t>
            </a:r>
            <a:endParaRPr lang="en-US" sz="1250" dirty="0"/>
          </a:p>
        </p:txBody>
      </p:sp>
      <p:sp>
        <p:nvSpPr>
          <p:cNvPr id="10" name="Shape 8"/>
          <p:cNvSpPr/>
          <p:nvPr/>
        </p:nvSpPr>
        <p:spPr>
          <a:xfrm>
            <a:off x="841248" y="2093595"/>
            <a:ext cx="274320" cy="274320"/>
          </a:xfrm>
          <a:prstGeom prst="roundRect">
            <a:avLst>
              <a:gd name="adj" fmla="val 26667"/>
            </a:avLst>
          </a:prstGeom>
          <a:solidFill>
            <a:srgbClr val="EAF7DC"/>
          </a:solidFill>
          <a:ln/>
        </p:spPr>
      </p:sp>
      <p:sp>
        <p:nvSpPr>
          <p:cNvPr id="11" name="Text 9"/>
          <p:cNvSpPr txBox="1"/>
          <p:nvPr/>
        </p:nvSpPr>
        <p:spPr>
          <a:xfrm>
            <a:off x="841248"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Sıfır olan ivmedir; hız sabit ve genellikle büyüktür.</a:t>
            </a:r>
            <a:endParaRPr lang="en-US" sz="1150" dirty="0"/>
          </a:p>
        </p:txBody>
      </p:sp>
      <p:sp>
        <p:nvSpPr>
          <p:cNvPr id="13" name="Shape 11"/>
          <p:cNvSpPr/>
          <p:nvPr/>
        </p:nvSpPr>
        <p:spPr>
          <a:xfrm>
            <a:off x="6205576"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“Limit hızda cisme kuvvet etki etmez.”</a:t>
            </a:r>
            <a:endParaRPr lang="en-US" sz="1250" dirty="0"/>
          </a:p>
        </p:txBody>
      </p:sp>
      <p:sp>
        <p:nvSpPr>
          <p:cNvPr id="17" name="Shape 15"/>
          <p:cNvSpPr/>
          <p:nvPr/>
        </p:nvSpPr>
        <p:spPr>
          <a:xfrm>
            <a:off x="6406744" y="2093595"/>
            <a:ext cx="274320" cy="274320"/>
          </a:xfrm>
          <a:prstGeom prst="roundRect">
            <a:avLst>
              <a:gd name="adj" fmla="val 26667"/>
            </a:avLst>
          </a:prstGeom>
          <a:solidFill>
            <a:srgbClr val="EAF7DC"/>
          </a:solidFill>
          <a:ln/>
        </p:spPr>
      </p:sp>
      <p:sp>
        <p:nvSpPr>
          <p:cNvPr id="18" name="Text 16"/>
          <p:cNvSpPr txBox="1"/>
          <p:nvPr/>
        </p:nvSpPr>
        <p:spPr>
          <a:xfrm>
            <a:off x="6406744"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İki büyük kuvvet vardır (ağırlık ve direnç);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net</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kuvvet sıfırdır.</a:t>
            </a:r>
            <a:endParaRPr lang="en-US" sz="1150" dirty="0"/>
          </a:p>
        </p:txBody>
      </p:sp>
      <p:sp>
        <p:nvSpPr>
          <p:cNvPr id="20" name="Shape 18"/>
          <p:cNvSpPr/>
          <p:nvPr/>
        </p:nvSpPr>
        <p:spPr>
          <a:xfrm>
            <a:off x="640080"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2939796"/>
            <a:ext cx="274320" cy="274320"/>
          </a:xfrm>
          <a:prstGeom prst="roundRect">
            <a:avLst>
              <a:gd name="adj" fmla="val 26667"/>
            </a:avLst>
          </a:prstGeom>
          <a:solidFill>
            <a:srgbClr val="FBE9EE"/>
          </a:solidFill>
          <a:ln/>
        </p:spPr>
      </p:sp>
      <p:sp>
        <p:nvSpPr>
          <p:cNvPr id="22" name="Text 20"/>
          <p:cNvSpPr txBox="1"/>
          <p:nvPr/>
        </p:nvSpPr>
        <p:spPr>
          <a:xfrm>
            <a:off x="841248"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“Ağır cisim her zaman daha hızlı düşer.”</a:t>
            </a:r>
            <a:endParaRPr lang="en-US" sz="1250" dirty="0"/>
          </a:p>
        </p:txBody>
      </p:sp>
      <p:sp>
        <p:nvSpPr>
          <p:cNvPr id="24" name="Shape 22"/>
          <p:cNvSpPr/>
          <p:nvPr/>
        </p:nvSpPr>
        <p:spPr>
          <a:xfrm>
            <a:off x="841248" y="3259455"/>
            <a:ext cx="274320" cy="274320"/>
          </a:xfrm>
          <a:prstGeom prst="roundRect">
            <a:avLst>
              <a:gd name="adj" fmla="val 26667"/>
            </a:avLst>
          </a:prstGeom>
          <a:solidFill>
            <a:srgbClr val="EAF7DC"/>
          </a:solidFill>
          <a:ln/>
        </p:spPr>
      </p:sp>
      <p:sp>
        <p:nvSpPr>
          <p:cNvPr id="25" name="Text 23"/>
          <p:cNvSpPr txBox="1"/>
          <p:nvPr/>
        </p:nvSpPr>
        <p:spPr>
          <a:xfrm>
            <a:off x="841248"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Belirleyici olan m/A oranıdır; hava direnci yoksa kütle hiç rol oynamaz.</a:t>
            </a:r>
            <a:endParaRPr lang="en-US" sz="1150" dirty="0"/>
          </a:p>
        </p:txBody>
      </p:sp>
      <p:sp>
        <p:nvSpPr>
          <p:cNvPr id="27" name="Shape 25"/>
          <p:cNvSpPr/>
          <p:nvPr/>
        </p:nvSpPr>
        <p:spPr>
          <a:xfrm>
            <a:off x="6205576"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2939796"/>
            <a:ext cx="274320" cy="274320"/>
          </a:xfrm>
          <a:prstGeom prst="roundRect">
            <a:avLst>
              <a:gd name="adj" fmla="val 26667"/>
            </a:avLst>
          </a:prstGeom>
          <a:solidFill>
            <a:srgbClr val="FBE9EE"/>
          </a:solidFill>
          <a:ln/>
        </p:spPr>
      </p:sp>
      <p:sp>
        <p:nvSpPr>
          <p:cNvPr id="29" name="Text 27"/>
          <p:cNvSpPr txBox="1"/>
          <p:nvPr/>
        </p:nvSpPr>
        <p:spPr>
          <a:xfrm>
            <a:off x="6406744"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“Hava direnci hızla doğru orantılıdır.”</a:t>
            </a:r>
            <a:endParaRPr lang="en-US" sz="1250" dirty="0"/>
          </a:p>
        </p:txBody>
      </p:sp>
      <p:sp>
        <p:nvSpPr>
          <p:cNvPr id="31" name="Shape 29"/>
          <p:cNvSpPr/>
          <p:nvPr/>
        </p:nvSpPr>
        <p:spPr>
          <a:xfrm>
            <a:off x="6406744" y="3259455"/>
            <a:ext cx="274320" cy="274320"/>
          </a:xfrm>
          <a:prstGeom prst="roundRect">
            <a:avLst>
              <a:gd name="adj" fmla="val 26667"/>
            </a:avLst>
          </a:prstGeom>
          <a:solidFill>
            <a:srgbClr val="EAF7DC"/>
          </a:solidFill>
          <a:ln/>
        </p:spPr>
      </p:sp>
      <p:sp>
        <p:nvSpPr>
          <p:cNvPr id="32" name="Text 30"/>
          <p:cNvSpPr txBox="1"/>
          <p:nvPr/>
        </p:nvSpPr>
        <p:spPr>
          <a:xfrm>
            <a:off x="6406744"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Günlük hızlarda v² ile artar; hız 2 katına çıkarsa direnç 4 katına çıkar.</a:t>
            </a:r>
            <a:endParaRPr lang="en-US" sz="1150" dirty="0"/>
          </a:p>
        </p:txBody>
      </p:sp>
      <p:sp>
        <p:nvSpPr>
          <p:cNvPr id="34" name="Shape 32"/>
          <p:cNvSpPr/>
          <p:nvPr/>
        </p:nvSpPr>
        <p:spPr>
          <a:xfrm>
            <a:off x="640080"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105656"/>
            <a:ext cx="274320" cy="274320"/>
          </a:xfrm>
          <a:prstGeom prst="roundRect">
            <a:avLst>
              <a:gd name="adj" fmla="val 26667"/>
            </a:avLst>
          </a:prstGeom>
          <a:solidFill>
            <a:srgbClr val="FBE9EE"/>
          </a:solidFill>
          <a:ln/>
        </p:spPr>
      </p:sp>
      <p:sp>
        <p:nvSpPr>
          <p:cNvPr id="36" name="Text 34"/>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“Paraşüt kütleyi azaltır.”</a:t>
            </a:r>
            <a:endParaRPr lang="en-US" sz="1250" dirty="0"/>
          </a:p>
        </p:txBody>
      </p:sp>
      <p:sp>
        <p:nvSpPr>
          <p:cNvPr id="38" name="Shape 36"/>
          <p:cNvSpPr/>
          <p:nvPr/>
        </p:nvSpPr>
        <p:spPr>
          <a:xfrm>
            <a:off x="841248" y="4425315"/>
            <a:ext cx="274320" cy="274320"/>
          </a:xfrm>
          <a:prstGeom prst="roundRect">
            <a:avLst>
              <a:gd name="adj" fmla="val 26667"/>
            </a:avLst>
          </a:prstGeom>
          <a:solidFill>
            <a:srgbClr val="EAF7DC"/>
          </a:solidFill>
          <a:ln/>
        </p:spPr>
      </p:sp>
      <p:sp>
        <p:nvSpPr>
          <p:cNvPr id="39" name="Text 37"/>
          <p:cNvSpPr txBox="1"/>
          <p:nvPr/>
        </p:nvSpPr>
        <p:spPr>
          <a:xfrm>
            <a:off x="841248"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Paraşüt yalnızca alanı büyütür; kütle aynıdır.</a:t>
            </a:r>
            <a:endParaRPr lang="en-US" sz="1150" dirty="0"/>
          </a:p>
        </p:txBody>
      </p:sp>
      <p:sp>
        <p:nvSpPr>
          <p:cNvPr id="41" name="Shape 39"/>
          <p:cNvSpPr/>
          <p:nvPr/>
        </p:nvSpPr>
        <p:spPr>
          <a:xfrm>
            <a:off x="6205576"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105656"/>
            <a:ext cx="274320" cy="274320"/>
          </a:xfrm>
          <a:prstGeom prst="roundRect">
            <a:avLst>
              <a:gd name="adj" fmla="val 26667"/>
            </a:avLst>
          </a:prstGeom>
          <a:solidFill>
            <a:srgbClr val="FBE9EE"/>
          </a:solidFill>
          <a:ln/>
        </p:spPr>
      </p:sp>
      <p:sp>
        <p:nvSpPr>
          <p:cNvPr id="43" name="Text 41"/>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“Limit hıza ulaşınca cisim durur.”</a:t>
            </a:r>
            <a:endParaRPr lang="en-US" sz="1250" dirty="0"/>
          </a:p>
        </p:txBody>
      </p:sp>
      <p:sp>
        <p:nvSpPr>
          <p:cNvPr id="45" name="Shape 43"/>
          <p:cNvSpPr/>
          <p:nvPr/>
        </p:nvSpPr>
        <p:spPr>
          <a:xfrm>
            <a:off x="6406744" y="4425315"/>
            <a:ext cx="274320" cy="274320"/>
          </a:xfrm>
          <a:prstGeom prst="roundRect">
            <a:avLst>
              <a:gd name="adj" fmla="val 26667"/>
            </a:avLst>
          </a:prstGeom>
          <a:solidFill>
            <a:srgbClr val="EAF7DC"/>
          </a:solidFill>
          <a:ln/>
        </p:spPr>
      </p:sp>
      <p:sp>
        <p:nvSpPr>
          <p:cNvPr id="46" name="Text 44"/>
          <p:cNvSpPr txBox="1"/>
          <p:nvPr/>
        </p:nvSpPr>
        <p:spPr>
          <a:xfrm>
            <a:off x="6406744"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Durmaz; sabit hızla düşmeye devam eder ve yere o hızla çarpar.</a:t>
            </a:r>
            <a:endParaRPr lang="en-US" sz="1150" dirty="0"/>
          </a:p>
        </p:txBody>
      </p:sp>
      <p:sp>
        <p:nvSpPr>
          <p:cNvPr id="48" name="Shape 46"/>
          <p:cNvSpPr/>
          <p:nvPr/>
        </p:nvSpPr>
        <p:spPr>
          <a:xfrm>
            <a:off x="640080" y="512521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9" name="Shape 47"/>
          <p:cNvSpPr/>
          <p:nvPr/>
        </p:nvSpPr>
        <p:spPr>
          <a:xfrm>
            <a:off x="841248" y="5271516"/>
            <a:ext cx="274320" cy="274320"/>
          </a:xfrm>
          <a:prstGeom prst="roundRect">
            <a:avLst>
              <a:gd name="adj" fmla="val 26667"/>
            </a:avLst>
          </a:prstGeom>
          <a:solidFill>
            <a:srgbClr val="FBE9EE"/>
          </a:solidFill>
          <a:ln/>
        </p:spPr>
      </p:sp>
      <p:sp>
        <p:nvSpPr>
          <p:cNvPr id="50" name="Text 48"/>
          <p:cNvSpPr txBox="1"/>
          <p:nvPr/>
        </p:nvSpPr>
        <p:spPr>
          <a:xfrm>
            <a:off x="841248" y="52715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51" name="Text 49"/>
          <p:cNvSpPr txBox="1"/>
          <p:nvPr/>
        </p:nvSpPr>
        <p:spPr>
          <a:xfrm>
            <a:off x="1225296" y="524408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“Serbest düşme her zaman geçerlidir.”</a:t>
            </a:r>
            <a:endParaRPr lang="en-US" sz="1250" dirty="0"/>
          </a:p>
        </p:txBody>
      </p:sp>
      <p:sp>
        <p:nvSpPr>
          <p:cNvPr id="52" name="Shape 50"/>
          <p:cNvSpPr/>
          <p:nvPr/>
        </p:nvSpPr>
        <p:spPr>
          <a:xfrm>
            <a:off x="841248" y="5591175"/>
            <a:ext cx="274320" cy="274320"/>
          </a:xfrm>
          <a:prstGeom prst="roundRect">
            <a:avLst>
              <a:gd name="adj" fmla="val 26667"/>
            </a:avLst>
          </a:prstGeom>
          <a:solidFill>
            <a:srgbClr val="EAF7DC"/>
          </a:solidFill>
          <a:ln/>
        </p:spPr>
      </p:sp>
      <p:sp>
        <p:nvSpPr>
          <p:cNvPr id="53" name="Text 51"/>
          <p:cNvSpPr txBox="1"/>
          <p:nvPr/>
        </p:nvSpPr>
        <p:spPr>
          <a:xfrm>
            <a:off x="841248" y="559117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54" name="Text 52"/>
          <p:cNvSpPr txBox="1"/>
          <p:nvPr/>
        </p:nvSpPr>
        <p:spPr>
          <a:xfrm>
            <a:off x="1225296" y="557288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Serbest düşme, direncin ihmal edildiği bir modeldir.</a:t>
            </a:r>
            <a:endParaRPr lang="en-US" sz="1150" dirty="0"/>
          </a:p>
        </p:txBody>
      </p:sp>
      <p:sp>
        <p:nvSpPr>
          <p:cNvPr id="55" name="Shape 53"/>
          <p:cNvSpPr/>
          <p:nvPr/>
        </p:nvSpPr>
        <p:spPr>
          <a:xfrm>
            <a:off x="640080" y="6382512"/>
            <a:ext cx="128016" cy="128016"/>
          </a:xfrm>
          <a:prstGeom prst="roundRect">
            <a:avLst>
              <a:gd name="adj" fmla="val 28571"/>
            </a:avLst>
          </a:prstGeom>
          <a:solidFill>
            <a:srgbClr val="A9E648"/>
          </a:solidFill>
          <a:ln/>
        </p:spPr>
      </p:sp>
      <p:sp>
        <p:nvSpPr>
          <p:cNvPr id="56" name="Text 5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dersler.perinet.org/limit-hiz.html</a:t>
            </a:r>
            <a:endParaRPr lang="en-US" sz="1050" dirty="0"/>
          </a:p>
        </p:txBody>
      </p:sp>
      <p:sp>
        <p:nvSpPr>
          <p:cNvPr id="57" name="Text 5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Direnç </a:t>
            </a:r>
            <a:pPr indent="0" marL="0">
              <a:buNone/>
            </a:pPr>
            <a:r>
              <a:rPr lang="en-US" sz="1500" b="1" dirty="0">
                <a:solidFill>
                  <a:srgbClr val="FFFFFF"/>
                </a:solidFill>
                <a:latin typeface="Calibri" pitchFamily="34" charset="0"/>
                <a:ea typeface="Calibri" pitchFamily="34" charset="-122"/>
                <a:cs typeface="Calibri" pitchFamily="34" charset="-120"/>
              </a:rPr>
              <a:t>hıza bağlı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Dengede </a:t>
            </a:r>
            <a:pPr indent="0" marL="0">
              <a:buNone/>
            </a:pPr>
            <a:r>
              <a:rPr lang="en-US" sz="1500" b="1" dirty="0">
                <a:solidFill>
                  <a:srgbClr val="FFFFFF"/>
                </a:solidFill>
                <a:latin typeface="Calibri" pitchFamily="34" charset="0"/>
                <a:ea typeface="Calibri" pitchFamily="34" charset="-122"/>
                <a:cs typeface="Calibri" pitchFamily="34" charset="-120"/>
              </a:rPr>
              <a:t>a = 0</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Yağmur damlası </a:t>
            </a:r>
            <a:pPr indent="0" marL="0">
              <a:buNone/>
            </a:pPr>
            <a:r>
              <a:rPr lang="en-US" sz="1500" b="1" dirty="0">
                <a:solidFill>
                  <a:srgbClr val="FFFFFF"/>
                </a:solidFill>
                <a:latin typeface="Calibri" pitchFamily="34" charset="0"/>
                <a:ea typeface="Calibri" pitchFamily="34" charset="-122"/>
                <a:cs typeface="Calibri" pitchFamily="34" charset="-120"/>
              </a:rPr>
              <a:t>≈ 9 m/s</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Paraşütçü </a:t>
            </a:r>
            <a:pPr indent="0" marL="0">
              <a:buNone/>
            </a:pPr>
            <a:r>
              <a:rPr lang="en-US" sz="1500" b="1" dirty="0">
                <a:solidFill>
                  <a:srgbClr val="FFFFFF"/>
                </a:solidFill>
                <a:latin typeface="Calibri" pitchFamily="34" charset="0"/>
                <a:ea typeface="Calibri" pitchFamily="34" charset="-122"/>
                <a:cs typeface="Calibri" pitchFamily="34" charset="-120"/>
              </a:rPr>
              <a:t>≈ 55 m/s</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Fd = k · v²</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 direnci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m·g = k · vl²</a:t>
            </a:r>
            <a:endParaRPr lang="en-US" sz="1350" dirty="0"/>
          </a:p>
        </p:txBody>
      </p:sp>
      <p:sp>
        <p:nvSpPr>
          <p:cNvPr id="19" name="Text 17"/>
          <p:cNvSpPr txBox="1"/>
          <p:nvPr/>
        </p:nvSpPr>
        <p:spPr>
          <a:xfrm>
            <a:off x="8362188" y="321868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hızda denge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vl = √(m·g / k)</a:t>
            </a:r>
            <a:endParaRPr lang="en-US" sz="1350" dirty="0"/>
          </a:p>
        </p:txBody>
      </p:sp>
      <p:sp>
        <p:nvSpPr>
          <p:cNvPr id="22" name="Text 20"/>
          <p:cNvSpPr txBox="1"/>
          <p:nvPr/>
        </p:nvSpPr>
        <p:spPr>
          <a:xfrm>
            <a:off x="8572500" y="404164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limit hız</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k = ½·ρ·C·A</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şekil ve alana bağlı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dersler.perinet.org/limit-hiz.html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06 · Düzgün çembersel hareket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Limit hız — Dersler</dc:title>
  <dc:subject>Fizik · Kuvvet ve Hareket</dc:subject>
  <dc:creator>Dersler</dc:creator>
  <cp:lastModifiedBy>Dersler</cp:lastModifiedBy>
  <cp:revision>1</cp:revision>
  <dcterms:created xsi:type="dcterms:W3CDTF">2026-09-20T18:42:41Z</dcterms:created>
  <dcterms:modified xsi:type="dcterms:W3CDTF">2026-09-20T18:42:41Z</dcterms:modified>
</cp:coreProperties>
</file>