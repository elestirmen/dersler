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Lst>
  <p:notesMasterIdLst>
    <p:notesMasterId r:id="rId4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notesMaster" Target="notesMasters/notesMaster1.xml"/><Relationship Id="rId45" Type="http://schemas.openxmlformats.org/officeDocument/2006/relationships/presProps" Target="presProps.xml"/><Relationship Id="rId46" Type="http://schemas.openxmlformats.org/officeDocument/2006/relationships/viewProps" Target="viewProps.xml"/><Relationship Id="rId47" Type="http://schemas.openxmlformats.org/officeDocument/2006/relationships/theme" Target="theme/theme1.xml"/><Relationship Id="rId4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Bir paraşütçü 4 km yüksekten atlar; hava direnci olmasaydı yere 280 m/s ile çarpardı. Oysa açık paraşütle yaklaşık 5 m/s ile, bir bisikletlinin hızıyla iner. Yağmur damlası 2 km düşer, yine de canımızı yakmaz. İkisinin de sebebi aynı: hava direnci hızla birlikte büyür ve bir noktada ağırlığı tam olarak dengeler. O andan sonra hız artmaz — her cismin bir hız sınırı vardır. Anlatım dört basamakta ilerliyor: önce bu sınırı yağmurda ve paraşütte gözleyip nedenini kuvvetlerle anlayacağız, sonra hava direncinin ve limit hızın bağıntılarını çıkarıp v–t grafiğini okuyacağız, ardından serbest düşme modelinin nerede yetersiz kaldığına ve paraşütün nasıl çalıştığına geçeceğiz. En sonda kolaydan zora sıralanmış örneklerle hepsini birlikte kullanacağız.
Kapak görseli: El ele düşmek için aynı hızda düşmek gerekir. Serbest düşüşteki paraşütçüler, atladıktan yaklaşık on saniye sonra 55 m/s civarındaki limit hızlarına oturur. Limit hızları eşit olan dört kişi birbirine göre neredeyse hareketsiz kalır ve halka kurabilir; biri kollarını toplayıp alanını küçültse hemen aşağı doğru ayrılırdı.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Açılış sorusu — sınıfa sorup birkaç cevap alın, sonra konuya geçin.
Bir paraşütçü 4 km yüksekten atlar; hava direnci olmasaydı yere 280 m/s ile çarpardı. Oysa açık paraşütle yaklaşık 5 m/s ile, bir bisikletlinin hızıyla iner. Yağmur damlası 2 km düşer, yine de canımızı yakmaz. İkisinin de sebebi aynı: hava direnci hızla birlikte büyür ve bir noktada ağırlığı tam olarak dengeler. O andan sonra hız artmaz — her cismin bir hız sınırı vardır. Anlatım dört basamakta ilerliyor: önce bu sınırı yağmurda ve paraşütte gözleyip nedenini kuvvetlerle anlayacağız, sonra hava direncinin ve limit hızın bağıntılarını çıkarıp v–t grafiğini okuyacağız, ardından serbest düşme modelinin nerede yetersiz kaldığına ve paraşütün nasıl çalıştığına geçeceğiz. En sonda kolaydan zora sıralanmış örneklerle hepsini birlikte kullanacağız.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derste:
1. Temel — Önce sezgi: hava direncini yağmurda, bisiklette ve paraşütte gözle; neden bir hız sınırı olduğunu kuvvetlerle anla. Bu basamakta hesap yok denecek kadar az.
   01 Önce gözlemle: yağmur neden canımızı yakmaz?
   02 Hava direnci: hıza bağlı bir kuvvet
   03 Neden bir hız sınırı var?
2. Orta — Bağıntılar: direnci ve limit hızı formüle dök, doyan v–t eğrisini oku, gerçek cisimlerin sayılarıyla karşılaştır.
   04 Hava direncinin bağıntısı: F = k·v²
   05 Limit hız bağıntısı
   06 v – t grafiği: doyan eğri
   07 Sayılarla hisset: kim, hangi hızla, ne kadar sürede?
3. İleri — Derinleşme: serbest düşme modeli nerede yetmez, paraşüt nasıl çalışır ve limit hız gerçek hayatta nerede karşımıza çıkar?
   08 Serbest düşmeden farkı: model ne zaman yeter?
   09 Paraşüt ve ölçek etkisi
   10 Limit hız gerçek dünyada
4. Pekiştir — Kolaydan zora çözümlü örnekler ve limit hız sorularında puan kaybettiren klasik hatalar.
   11 Çözümlü örnekler
   12 Sık yapılan hatalar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Basamak 1 — Temel: Önce sezgi: hava direncini yağmurda, bisiklette ve paraşütte gözle; neden bir hız sınırı olduğunu kuvvetlerle anla. Bu basamakta hesap yok denecek kadar az.
01 Önce gözlemle: yağmur neden canımızı yakmaz?
02 Hava direnci: hıza bağlı bir kuvvet
03 Neden bir hız sınırı var?
Görsel: Yağmur damlaları kilometrelerce yüksekten düşer, ama yere saniyede birkaç metrelik bir hızla değer. Hava direnci olmasaydı yaklaşık 200 m/s ile çarparlardı. Su birikintilerindeki küçük halkalar bu yumuşak inişin izidir: her damla düşüşünün neredeyse tamamını sabit bir hızla, limit hızıyla tamamlar.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Önce gözlemle: yağmur neden canımızı yakmaz?
Kısaca: Havada hareket eden her cisim, hızı arttıkça büyüyen bir frenleyici etkiyle karşılaşır. Bu etki cismin şekline ve genişliğine bağlıdır; yağmur damlasını da paraşütçüyü de bu etki frenler.
Yağmur damlaları bulutlardan, yani yaklaşık 2 km yüksekten düşer. Serbest düşme konusundaki hesap, hava olmasaydı bu damlaların yere saatte 700 kilometreyi aşan bir hızla çarpacağını söyler. Oysa yağmurun altında yürümek zararsızdır; damlalar yüzüne hafifçe dokunur. Demek ki düşerken bir şey onları frenliyor ve bu frenleme, hızları belli bir değere ulaştıktan sonra daha fazla hızlanmalarına izin vermiyor.
Görsel: Yağmur damlaları kilometrelerce yüksekten düşer, ama yere saniyede birkaç metrelik bir hızla değer. Hava direnci olmasaydı yaklaşık 200 m/s ile çarparlardı. Su birikintilerindeki küçük halkalar bu yumuşak inişin izidir: her damla düşüşünün neredeyse tamamını sabit bir hızla, limit hızıyla tamamlar.
Hava direncini gündelik hayatta kendin de hissedebilirsin:
• Bisiklette: hızlandıkça yüzüne çarpan rüzgâr sertleşir; düz yolda bile hızı artırmak giderek zorlaşır.
• Şemsiyeyle: rüzgârlı havada açık şemsiye seni geriye çeker; kapatınca bu etki hemen küçülür.
• Kâğıtla: açık bir kâğıt yaprağı salınarak yavaşça iner; aynı kâğıdı buruşturunca çok daha hızlı düşer.
• Tüyle: kuş tüyü neredeyse süzülür; havası boşaltılmış bir tüpte ise bilyeyle aynı anda düşer.
• Paraşütle: kapalıyken hızla düşen paraşütçü, paraşüt açılınca yavaşça süzülür.
Bu gözlemlerin hepsinde aynı iki düzen var: frenleyen etki hız arttıkça büyüyor ve cismin şekline, genişliğine bağlı. Kütlesi değişmeyen kâğıdın buruşturulunca hızlanması, işin sırrının ağırlıktan çok biçimde olduğunu söylüyor.
Düşün: Düz bir yolda pedal çevirirken, hızlandıkça neden aynı hızı korumak bile giderek zorlaşır?
Cevap: Çünkü seni geriye iten hava direnci hızınla birlikte büyür. Yavaş giderken hafif bir esinti kadardır; hızlandıkça pedallarla yenmen gereken büyük bir kuvvete dönüşür. Aynı hızı korumak için bu direnci her an karşılayacak kadar kuvvet uygulaman gerekir ve hız arttıkça bu kuvvet de artar.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Düz bir yolda pedal çevirirken, hızlandıkça neden aynı hızı korumak bile giderek zorlaşır?
Sınıfa sorun, birkaç tahmin alın; sonra cevap slaytına geçin.
Cevap: Çünkü seni geriye iten hava direnci hızınla birlikte büyür. Yavaş giderken hafif bir esinti kadardır; hızlandıkça pedallarla yenmen gereken büyük bir kuvvete dönüşür. Aynı hızı korumak için bu direnci her an karşılayacak kadar kuvvet uygulaman gerekir ve hız arttıkça bu kuvvet de artar.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Çünkü seni geriye iten hava direnci hızınla birlikte büyür. Yavaş giderken hafif bir esinti kadardır; hızlandıkça pedallarla yenmen gereken büyük bir kuvvete dönüşür. Aynı hızı korumak için bu direnci her an karşılayacak kadar kuvvet uygulaman gerekir ve hız arttıkça bu kuvvet de artar.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Hava direnci: hıza bağlı bir kuvvet
Kısaca: Hava direnci, cismin önündeki havayı itmesinin tepkisidir ve harekete zıt yöndedir. Hızla, alanla, şekille ve havanın yoğunluğuyla büyür, kütleye bağlı değildir; hız 2 katına çıkınca direnç 4 katına çıkar.
Bir cisim havada ilerlerken önündeki hava moleküllerini itmek zorundadır. Bu itmenin tepkisi, harekete zıt yönde bir kuvvet olarak cisme geri döner: hava direnci (sürükleme kuvveti).
Bunu kalabalık bir koridorda koşmaya benzetebilirsin. Ne kadar hızlı koşarsan her saniye o kadar çok kişiye çarparsın ve her çarpma da o kadar sert olur; iki etki birlikte büyür. Hava için de aynısı geçerlidir: hız iki katına çıkınca cisim saniyede iki kat daha çok havayı iter ve bu havayı iki kat daha hızlı iter. Sonuç dört kat dirençtir.
Sürtünmeden en önemli farkı şudur: kinetik sürtünme kuvveti hızdan (yaklaşık olarak) bağımsızken, hava direnci hız büyüdükçe hızla büyür. Hava direncini belirleyen dört etken vardır:
• Hız: hız 2 katına çıkınca direnç yaklaşık 4, 3 katına çıkınca 9 katına çıkar.
• Kesit alanı: harekete dik yüzey genişledikçe itilen hava artar.
• Şekil: sivri ve akıcı biçimli cisimler havayı kolay yarar, düz bir levha zor yarar.
• Havanın yoğunluğu: yükseğe çıkıldıkça hava seyrelir ve direnç azalır.
Kütle burada yok. Direnç kuvveti cismin kütlesine değil, şekline, alanına ve hızına bağlıdır. Kütlenin rolü, bu direncin hangi hızda ağırlığı dengeleyeceğini belirlemektir.
Görsel: Hava direnci sabit bir kuvvet değildir; hızın karesiyle büyür. Hızı iki katına çıkarmak direnci dört katına, üç katına çıkarmak dokuz katına çıkarır. İşte bu hızlı büyüme, düşen bir cismin er geç ağırlığına eşit bir dirençle karşılaşmasını kaçınılmaz kılar.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Neden bir hız sınırı var?
Kısaca: Düşen cisimde ağırlık sabittir, direnç hızla büyür. Direnç ağırlığa eşitlenince net kuvvet ve ivme sıfırlanır; cisim durmaz, limit hız denen sabit hızla düşmeye devam eder.
Cisim bırakıldığı anda hızı sıfırdır, dolayısıyla direnç de sıfırdır: tek kuvvet ağırlıktır ve ivme g'dir. Hız büyüdükçe direnç büyür, net kuvvet küçülür, ivme azalır. Bir noktada direnç ağırlığa tam olarak eşitlenir. O andan itibaren net kuvvet sıfırdır. Newton'un 1. yasası gereği cisim sabit hızla düşmeye devam eder. Bu sabit hıza limit hız (terminal hız) denir.
An | Direnç | Net kuvvet ve ivme | Hız
Bırakma anı | 0 | Net kuvvet m·g, ivme g | 0
Ara evre | 0 &lt; Fd &lt; m·g | İkisi de azalıyor | Artıyor
Limit hız | m·g | İkisi de sıfır | Sabit
Aynı şeyi düz yolda gaza sabit basan bir arabada da görürsün. Motorun itmesi değişmez, ama araba hızlandıkça hava direnci büyür. Bir hızda direnç itmeye eşitlenir ve araba o hızda sabitlenir; motor itmeye devam eder, ama itme artık direnci ancak karşılar. Düşen cisimde motorun yerini ağırlık alır. Önemli olan şu: dengeye ulaşmak için cismin hiçbir şey yapması gerekmez. Direnç hızla büyüdüğü için, yeterince uzun düşen her cisim er geç bu dengeye kendiliğinden gelir.
Sayfanın 01 numaralı laboratuvarında kuvvet oklarını açıp cismi bıraktığında direnç okunun büyüyüp ağırlık okuna eşitlendiğini, ivme göstergesinin de sıfıra indiğini görürsün.
Görsel: Ağırlık hiç değişmez (sarı çubuk hep aynı). Cisim hızlandıkça direnç (mavi çubuk) büyür ve aradaki fark — yani net kuvvet — küçülür. Net kuvvet küçüldükçe ivme de küçülür, hız daha yavaş artar. Dördüncü karede iki çubuk eşitlenir: net kuvvet sıfır, ivme sıfır. Cisim durmaz; sabit hızla düşmeye devam eder.
Düşün: Limit hıza ulaşan bir cismin ivmesi sıfırsa, cisim neden durmuyor da düşmeye devam ediyor?
Cevap: İvmenin sıfır olması hızın değişmediği anlamına gelir, hızın sıfır olduğu anlamına değil. Cisim dengeye ulaştığında zaten büyük bir hızla düşmektedir; net kuvvet sıfır olduğu için bu hız ne artar ne azalır. Newton'un birinci yasası tam olarak bunu söyler: net kuvvet sıfırsa cisim hareket durumunu korur.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Limit hıza ulaşan bir cismin ivmesi sıfırsa, cisim neden durmuyor da düşmeye devam ediyor?
Sınıfa sorun, birkaç tahmin alın; sonra cevap slaytına geçin.
Cevap: İvmenin sıfır olması hızın değişmediği anlamına gelir, hızın sıfır olduğu anlamına değil. Cisim dengeye ulaştığında zaten büyük bir hızla düşmektedir; net kuvvet sıfır olduğu için bu hız ne artar ne azalır. Newton'un birinci yasası tam olarak bunu söyler: net kuvvet sıfırsa cisim hareket durumunu korur.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İvmenin sıfır olması hızın değişmediği anlamına gelir, hızın sıfır olduğu anlamına değil. Cisim dengeye ulaştığında zaten büyük bir hızla düşmektedir; net kuvvet sıfır olduğu için bu hız ne artar ne azalır. Newton'un birinci yasası tam olarak bunu söyler: net kuvvet sıfırsa cisim hareket durumunu korur.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Basamak 2 — Orta: Bağıntılar: direnci ve limit hızı formüle dök, doyan v–t eğrisini oku, gerçek cisimlerin sayılarıyla karşılaştır.
04 Hava direncinin bağıntısı: F = k·v²
05 Limit hız bağıntısı
06 v – t grafiği: doyan eğri
07 Sayılarla hisset: kim, hangi hızla, ne kadar sürede?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Hava direncinin bağıntısı: F = k·v²
Kısaca: Günlük hızlarda hava direnci Fd = k·v²'dir; k = ½·ρ·C·A havanın yoğunluğunu, cismin şeklini ve kesit alanını bir araya toplar. v² çarpanı, hem itilen hava miktarının hem de ona verilen hızın v ile büyümesinden gelir.
Günlük hızlarda iyi çalışan model şudur:
Fd = k · v²   k = ½ · ρ · C · A
• ρ: havanın yoğunluğu (deniz seviyesinde ≈ 1,2 kg/m³)
• C: sürükleme katsayısı — cismin şekline bağlı (küre ≈ 0,5; düz levha ≈ 1,2)
• A: harekete dik kesit alanı
v² nereden geliyor?
• Süpürülen hava: cisim Δt sürede v·Δt yol alır ve önündeki A·v·Δt hacmindeki havayı iter.
• Bu havanın kütlesi: ρ·A·v·Δt; hız iki katına çıkınca iki kat hava itilir.
• Havaya verilen hız: itilen hava yaklaşık v mertebesinde hızlanır; hız iki katına çıkınca bu da iki katına çıkar.
• Newton'un ikinci yasası: her saniye ρ·A·v kütlesindeki hava yaklaşık v kadar hızlandırılıyorsa gereken kuvvet ρ·A·v² mertebesindedir.
İki çarpanın ikisi de v'den geldiği için direnç v² ile büyür. ½ ve C çarpanları, havanın cismin çevresinden nasıl aktığını hesaba katar; bu akışı cismin biçimi belirlediği için C'ye şekil katsayısı da denebilir.
Birim kontrolü: k = ½·ρ·C·A için (kg/m³)·m² = kg/m çıkar. k·v² için (kg/m)·(m²/s²) = kg·m/s² = N ✓. Çözümlü örneklerdeki k değerleri bu yüzden kg/m ile yazılır.
Bu bağıntı bir modeldir: yağmur damlasından paraşütçüye kadar gündelik boyuttaki cisimlerde çok iyi çalışır. Sınırlarına üçüncü basamakta döneceğiz.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Hava direncinin bağıntısı: F = k·v² (devam)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Limit hız bağıntısı
Kısaca: Limit hız, m·g = k·vl² dengesinden vl = √(m·g/k) olarak çıkar. Kütle 4 katına çıkınca limit hız 2 katına çıkar, alan 4 katına çıkınca yarıya iner; belirleyici olan m/A oranıdır.
Aşağı yönü pozitif alalım. Düşen cisme iki kuvvet etki eder: aşağı yönlü ağırlık ve yukarı yönlü direnç. Net kuvvet ve denge koşulu şöyle yazılır:
ΣF = m·g − k·v²   m·g = k·vl² → a = 0
Denge koşulundan limit hızı adım adım çekelim:
• Denge: limit hızda a = 0, yani m·g − k·vl² = 0.
• Düzenle: k·vl² = m·g, buradan vl² = m·g / k.
• Karekök al: vl = √(m·g / k).
• k'yi aç: k = ½·ρ·C·A yazınca vl = √(2·m·g / (ρ·C·A)).
vl = √(m·g / k)   vl = √(2·m·g / (ρ·C·A))
Bağıntıdan üç sonuç doğrudan okunur:
• Kütle artarsa limit hız artar — ama karekökle: kütle 4 katına çıkarsa hız 2 katına.
• Alan artarsa limit hız azalır — yine karekökle: alan 4 katına çıkarsa hız yarıya.
• Belirleyici olan m/A oranıdır. Aynı kütleli iki cisimden yüzeyi geniş olan daha yavaş iner.
Yükseklik de etkiler: ρ yukarıda küçüldüğü için aynı cismin limit hızı yüksek irtifada daha büyüktür. Serbest düşüş rekorları bu yüzden stratosferden yapılır.
Görsel: Limit hız iki şeye bağlıdır ve ikisine de karekökle: kütle dört katına çıkarsa limit hız yalnızca iki katına çıkar, alan dört katına çıkarsa hız yarıya iner. Belirleyici olan tek başına kütle ya da alan değil, m/A oranıdır — bu yüzden aynı kâğıdın buruşturulmuşu açık hâlinden çok daha hızlı iner.
Sayfanın 04 numaralı bölümünde kütleyi ve alanı ayrı ayrı değiştirerek bu iki karekök eğrisinin üzerinde gezinebilirsin. 03 numaralı bölümdeki kâğıt deneyi ise kütleye hiç dokunmadan yalnızca alanı değiştirir: buruşturulan kâğıdın limit hızı açık kâğıdınkinin yaklaşık 7 katına çıkar.
Düşün: Aynı boyda bir tahta bilye ile bir demir bilyeden hangisinin limit hızı daha büyüktür?
Cevap: Demir bilyenin. Şekil ve alan aynı olduğu için k de aynıdır; fark yalnızca kütlededir. Demir bilye tahtadan 10 kat ağırsa limit hızı √10 ≈ 3 kat büyüktür. Kütle limit hızı artırır, ama karekökle.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Limit hız bağıntısı (devam)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Aynı boyda bir tahta bilye ile bir demir bilyeden hangisinin limit hızı daha büyüktür?
Sınıfa sorun, birkaç tahmin alın; sonra cevap slaytına geçin.
Cevap: Demir bilyenin. Şekil ve alan aynı olduğu için k de aynıdır; fark yalnızca kütlededir. Demir bilye tahtadan 10 kat ağırsa limit hızı √10 ≈ 3 kat büyüktür. Kütle limit hızı artırır, ama karekökle.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Demir bilyenin. Şekil ve alan aynı olduğu için k de aynıdır; fark yalnızca kütlededir. Demir bilye tahtadan 10 kat ağırsa limit hızı √10 ≈ 3 kat büyüktür. Kütle limit hızı artırır, ama karekökle.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 – t grafiği: doyan eğri
Kısaca: Havada düşen cismin v – t eğrisi eğimi g olan bir doğru gibi başlar, sonra doyarak limit hıza yaklaşır: v = vl·tanh(g·t/vl). Limitin %95'ine varma süresi yaklaşık 1,83·vl/g'dir.
Hava direnci yokken v – t grafiği eğimi g olan bir doğrudur. Hava direnci varken eğri başlangıçta bu doğruya teğettir, sonra eğimi azalır ve limit hıza asimptotik olarak, yani giderek yaklaşıp hiç tam ulaşmadan yaklaşır. Bu eğrinin bağıntısı şudur:
v(t) = vl · tanh(g·t / vl)
Buradaki tanh (hiperbolik tanjant) fonksiyonunu ayrıntılı tanıman gerekmez; grafiği okumak için üç özelliğini bilmen yeter:
• Sıfırda sıfırdır: t = 0'da v = 0; cisim durgun bırakılmıştır.
• Başta doğru gibi davranır: küçük t için v ≈ g·t; ilk anlarda cisim neredeyse serbest düşer.
• 1'e yaklaşır ama ulaşmaz: tanh(1,83) ≈ 0,95 ve tanh(2,65) ≈ 0,99; v, vl'ye hiç tam ulaşmaz.
Cisim limit hıza matematiksel olarak hiçbir zaman tam ulaşmaz; ama pratikte kısa sürede %95'ine oturur. Bu süre üçüncü maddeden çıkar: g·t/vl = 1,83 olduğunda v = 0,95·vl'dir.
t%95 ≈ 1,83 · vl / g
Limit hızı küçük olan cisim dengeye çabuk, büyük olan geç oturur: yağmur damlası 2 saniyeden kısa, kolları açık paraşütçü yaklaşık 10 saniyede. a – t grafiği ise g'den başlayıp sıfıra iner: ivmenin sıfırlanması, hızın sabitlenmesi demektir.
Limit hızda hız sıfır değildir! Sıfır olan ivmedir. Cisim hâlâ (hem de hızla) düşmektedir; yalnızca artık hızlanmamaktadır.
Görsel: Eğrinin her noktasındaki eğim o andaki ivmedir. Başlangıçta eğim tam olarak g'dir — ilk anda hız sıfır olduğu için direnç de sıfırdır. Hız büyüdükçe eğim azalır ve eğri, limit hız doğrusuna hiç değmeden sonsuza kadar yaklaşır. Pratikte cisim birkaç saniyede limit hızın %99'una ulaşır.
Düşün: Doyan v – t eğrisinde eğim hangi anda en büyüktür ve o anki değeri nedir?
Cevap: Bırakma anında en büyüktür ve tam olarak g'dir. O anda hız sıfır olduğu için direnç de sıfırdır; cisim yalnızca ağırlığın etkisindedir. Sonra direnç büyüdükçe eğim, yani ivme, azalır ve limit hızda sıfıra iner.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Doyan v – t eğrisinde eğim hangi anda en büyüktür ve o anki değeri nedir?
Sınıfa sorun, birkaç tahmin alın; sonra cevap slaytına geçin.
Cevap: Bırakma anında en büyüktür ve tam olarak g'dir. O anda hız sıfır olduğu için direnç de sıfırdır; cisim yalnızca ağırlığın etkisindedir. Sonra direnç büyüdükçe eğim, yani ivme, azalır ve limit hızda sıfıra iner.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Bırakma anında en büyüktür ve tam olarak g'dir. O anda hız sıfır olduğu için direnç de sıfırdır; cisim yalnızca ağırlığın etkisindedir. Sonra direnç büyüdükçe eğim, yani ivme, azalır ve limit hızda sıfıra iner.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Sayılarla hisset: kim, hangi hızla, ne kadar sürede?
Kısaca: Limit hızlar sis damlacığında 0,01 m/s'den dalıştaki paraşütçüde 90 m/s'ye kadar uzanır. Limite oturma süresi vl ile, bu sırada düşülen yol vl² ile büyür: yağmur damlası ilk 10 m'de dengeye gelir.
Aynı yerçekimi, aynı hava; ama en yavaşla en hızlı arasında yaklaşık on bin kat fark var. Tipik değerler:
Cisim | Limit hız | Neden
Sis damlacığı | ≈ 0,01 m/s | çok küçük m/A
Yağmur damlası | ≈ 9 m/s | küçük kütle, küresel
Tenis topu | ≈ 25 m/s | orta m/A
Paraşütçü: kol-bacak açık / dalış pozisyonu | ≈ 55 / ≈ 90 m/s | büyük kütle, orta alan / alan iyice küçülür
Açık paraşüt | ≈ 5 m/s | alan onlarca kat büyür
Görsel: Aynı yerçekimi, aynı hava — ama limit hızlar arasında on binlerce kat fark var. Farkı yapan tek şey m/A oranı: sis damlacığı neredeyse asılı kalır, kollarını yanına toplayan bir paraşütçü ise 90 m/s'ye çıkar. Paraşütü açmak, aynı insanın limit hızını on bire bölmeye yeter.
Limit hıza ne kadar sürede ve ne kadar yol düştükten sonra oturulur? Sayfanın 01 numaralı laboratuvarı bunu "Limitin %95'ine" ve "O ana kadar düşülen" satırlarında gösterir. Aynı modelle (g = 9,81 m/s², durgun bırakılan cisim) yuvarlanmış değerler:
Cisim | Limit hız | %95'ine varma süresi | O ana kadar düşülen yol
Yağmur damlası | 9 m/s | 1,7 s | 10 m
Tenis topu | 25 m/s | 4,7 s | 74 m
Paraşütçü (kol-bacak açık) | 55 m/s | 10,3 s | 360 m
Paraşütçü (dalış) | 90 m/s | 16,8 s | 960 m
Tablolardan okunan düzen:
• Süre limit hızla doğru orantılıdır: limit hızı 10 kat büyük olan dalıştaki paraşütçü, dengeye yağmur damlasından 10 kat geç oturur.
• Yol limit hızın karesiyle büyür: yağmur damlası ilk 10 m'de, paraşütçü ancak ilk 360 m'de limitine oturur.
• Yağmur damlası neredeyse hep sabit hızlıdır: 2 km'lik düşüşün yalnızca ilk 10 metresi hızlanmayla geçer.
Bir karşılaştırma: hava direnci olmasaydı 2 km'den düşen damla yere yaklaşık 198 m/s ile çarpardı. Gerçek hızı bunun yaklaşık yirmide biridir.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Sayılarla hisset: kim, hangi hızla, ne kadar sürede? (devam)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Basamak 3 — İleri: Derinleşme: serbest düşme modeli nerede yetmez, paraşüt nasıl çalışır ve limit hız gerçek hayatta nerede karşımıza çıkar?
08 Serbest düşmeden farkı: model ne zaman yeter?
09 Paraşüt ve ölçek etkisi
10 Limit hız gerçek dünyada
Görsel: Açık paraşütle limit hız saniyede birkaç metreye iner. 5 m/s ile yere değmek, yaklaşık 1,25 m yükseklikten atlamaya denktir; bacaklar bu darbeyi rahatça karşılar. Dikdörtgen kubbeler üstelik bir kanat gibi ileri doğru süzülür; paraşütçü iplerle yön verir ve yere değmeden hemen önce kubbeyi frenleyerek daha da yavaşlar.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Serbest düşmeden farkı: model ne zaman yeter?
Kısaca: Serbest düşme, düşme yüksekliği vl²/g'nin yanında küçük kaldığında iyi bir yaklaşımdır. Havada yukarı atılan cisimde simetri bozulur: çıkış inişten kısa sürer ve cisim atıldığından küçük bir hızla döner.
 | Serbest düşme (ideal) | Gerçek düşüş
Etkiyen kuvvet | Yalnızca ağırlık | Ağırlık + hava direnci
İvme | Sabit, g | g'den başlar, sıfıra iner
Hız | Sınırsız artar | Limit hızda sabitlenir
Kütlenin rolü | Yok | Var (m/A oranı)
Serbest düşme, hava direncinin ihmal edilebildiği durumların modelidir: kısa mesafe, yoğun ve küçük cisim, düşük hız. Uzun süreli düşüşlerde ya da hafif ve geniş cisimlerde bu model geçersizleşir. Önceki bölümdeki tablo bunun için kaba bir ölçüt de verir: cisim limitine, vl²/g mertebesinde bir yol düştükten sonra oturur.
h ≪ vl²/g → serbest düşme   h ≫ vl²/g → limit hız
• Bilye: sayfanın 03 numaralı bölümündeki bilyenin vl ≈ 44 m/s, vl²/g ≈ 200 m; 1 m'lik düşüşte direnç ihmal edilebilir.
• Yağmur damlası: vl²/g ≈ 8 m; 2 km'lik düşüşte serbest düşme tamamen yanlış sonuç verir.
• Paraşütçü: vl²/g ≈ 300 m; ilk birkaç saniye serbest düşmeye yakındır, sonrası limit hızdır.
Görsel: Vakumda ivme hiç değişmez, hız sınırsız artar ve kütlenin hiçbir rolü yoktur. Havada ise ivme g'den başlayıp sıfıra iner, hız bir değerde sabitlenir ve artık kütle ile alan işin içine girer. Serbest düşme, hava direncinin ihmal edilebildiği özel bir durumdur — kısa mesafelerde ve ağır cisimlerde iyi bir yaklaşımdır.
Yukarı atılan top
Hava direnci atıştaki simetriyi de bozar. Yukarı çıkan topta direnç aşağı yönlüdür ve ağırlığa eklenir; top g'den büyük bir ivmeyle yavaşlar. İnerken direnç yukarı yönlüdür ve ağırlıktan çıkar; top g'den küçük bir ivmeyle hızlanır. Sonuç: top havasız ortamdakinden daha alçağa çıkar, inişi çıkışından uzun sürer ve atıldığı noktaya v₀'dan küçük bir hızla döner. Son bir incelik: çok küçük ve yavaş cisimlerde (sis damlacığı, toz, polen) direnç hızın karesiyle değil, hızın kendisiyle orantılı büyür; F = k·v² modelinin bir sınırı da budur.
Düşün: Havada yukarı atılan bir topun tepe noktasındaki ivmesi g'den büyük mü, g'ye eşit mi, g'den küçük mü?
Cevap: Tam g'ye eşittir. Tepe noktada hız sıfırdır, dolayısıyla hava direnci de sıfırdır; o an topa yalnızca ağırlık etki eder. Çıkarken ivme g'den büyük, inerken g'den küçüktür; tam tepede, bu iki evrenin arasındaki geçiş anında direnç ortadan kalkar.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Serbest düşmeden farkı: model ne zaman yeter? (devam)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Havada yukarı atılan bir topun tepe noktasındaki ivmesi g'den büyük mü, g'ye eşit mi, g'den küçük mü?
Sınıfa sorun, birkaç tahmin alın; sonra cevap slaytına geçin.
Cevap: Tam g'ye eşittir. Tepe noktada hız sıfırdır, dolayısıyla hava direnci de sıfırdır; o an topa yalnızca ağırlık etki eder. Çıkarken ivme g'den büyük, inerken g'den küçüktür; tam tepede, bu iki evrenin arasındaki geçiş anında direnç ortadan kalkar.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Tam g'ye eşittir. Tepe noktada hız sıfırdır, dolayısıyla hava direnci de sıfırdır; o an topa yalnızca ağırlık etki eder. Çıkarken ivme g'den büyük, inerken g'den küçüktür; tam tepede, bu iki evrenin arasındaki geçiş anında direnç ortadan kalkar.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Paraşüt ve ölçek etkisi
Kısaca: Paraşüt kütleyi değil k'yi büyütür: açıldığı anda direnç ağırlığı aşar, net kuvvet yukarı döner ve paraşütçü yavaşlayarak yeni, küçük limit hıza oturur. Küçük canlıların m/A oranı küçük olduğundan limit hızları da küçüktür.
Paraşüt, kütleyi değil alanı değiştirir. Açıldığı anda A onlarca katına çıkar, k büyür ve yeni limit hız çok küçülür:
A → 25A ⇒ vl → vl / 5
Açılma anında hız hâlâ eski limit hızdadır; direnç birden ağırlığın çok üstüne çıkar ve cisim yukarı yönlü net kuvvetle hızla yavaşlar. Paraşütçünün hissettiği sarsıntı budur. Birkaç saniye içinde yeni dengeye oturulur.
Yalnızca alan hesaba katılırsa 25 katlık büyüme 55 m/s'lik limit hızı 11 m/s'ye indirir. Gerçek kubbede şekil de değiştiği için sürükleme katsayısı C büyür ve hız 5 m/s civarına kadar düşer; bu, k'nin toplamda yaklaşık 120 katına çıkması demektir. Sayfanın 02 numaralı bölümünde bu iki basamaklı inişi, iki platolu bir v – t grafiği olarak görebilirsin.
Görsel: Paraşüt açıldığı anda kütle değişmez ama alan onlarca kat büyür. Direnç bir anda ağırlığın çok üstüne çıkar, net kuvvet yukarı döner ve atlayıcı yavaşlar — bu ani frenlemeyi vücudunda hissettiği an budur. Yavaşladıkça direnç küçülür ve hız yeni, çok daha düşük bir limitte dengelenir. Alan 25 kat büyüyünce hız karekökle, yani yaklaşık beşte birine iner.
Aynı mantık canlılar için de geçerlidir: boyut küçüldükçe kütle uzunluğun küpüyle, alan ise karesiyle küçülür. Bu yüzden küçük bir böceğin m/A oranı çok düşüktür; limit hızı o kadar küçüktür ki yüksekten düşmesi onu incitmez.
m ∝ L³   A ∝ L²   m/A ∝ L ⇒ vl ∝ √L
Boyutları 10 kat küçük bir canlının kütlesi 1000 kat, alanı 100 kat küçüktür; m/A oranı 10 kat düşer, limit hızı √10 ≈ 3 kat küçülür. Çarpmadaki kinetik enerji ½·m·v² olduğundan hem kütle hem hız yüzünden yaklaşık on bin kat azalır.
Düşün: Paraşüt açılınca, yanında düşen arkadaşının kamerasında paraşütçü neden yukarı fırlıyor gibi görünür?
Cevap: Çünkü paraşütçü birden yavaşlar, kameralı arkadaşı ise hâlâ 55 m/s ile düşmeye devam eder. Arkadaşına göre paraşütçü yukarı gidiyormuş gibi görünür; yere göre ise hâlâ aşağı iner, yalnızca çok daha yavaş. Yukarı yönlü net kuvvet yukarı hareket değil, yavaşlama demektir.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Paraşüt açılınca, yanında düşen arkadaşının kamerasında paraşütçü neden yukarı fırlıyor gibi görünür?
Sınıfa sorun, birkaç tahmin alın; sonra cevap slaytına geçin.
Cevap: Çünkü paraşütçü birden yavaşlar, kameralı arkadaşı ise hâlâ 55 m/s ile düşmeye devam eder. Arkadaşına göre paraşütçü yukarı gidiyormuş gibi görünür; yere göre ise hâlâ aşağı iner, yalnızca çok daha yavaş. Yukarı yönlü net kuvvet yukarı hareket değil, yavaşlama demektir.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Çünkü paraşütçü birden yavaşlar, kameralı arkadaşı ise hâlâ 55 m/s ile düşmeye devam eder. Arkadaşına göre paraşütçü yukarı gidiyormuş gibi görünür; yere göre ise hâlâ aşağı iner, yalnızca çok daha yavaş. Yukarı yönlü net kuvvet yukarı hareket değil, yavaşlama demektir.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Limit hız gerçek dünyada
Kısaca: Limit hız, yağmurun zararsızlığını, bulutların asılı kalmasını ve paraşütle güvenli inişi açıklar. A ile C'yi küçültmek hız kazandırır, büyütmek yavaşlatır; seyrek hava limit hızı büyütür.
Limit hız, havada düşen her şeyin kaderidir. Mühendisler onu kimi zaman küçültmeye, kimi zaman büyütmeye çalışır; paraşüt bunun en bilinen örneğidir.
Görsel: Açık paraşütle limit hız saniyede birkaç metreye iner. 5 m/s ile yere değmek, yaklaşık 1,25 m yükseklikten atlamaya denktir; bacaklar bu darbeyi rahatça karşılar. Dikdörtgen kubbeler üstelik bir kanat gibi ileri doğru süzülür; paraşütçü iplerle yön verir ve yere değmeden hemen önce kubbeyi frenleyerek daha da yavaşlar.
• Bulutlar neden düşmez? 0,01 m/s ile düşen bir bulut damlacığı 1 km'yi ancak yaklaşık 28 saatte iner; hafif yukarı hava akımları onu kolayca taşır.
• Yağmur damlası: 2 mm çaplı bir damla yaklaşık 6,5 m/s ile düşer; yaklaşık 5 mm'den iri damlalar düşerken çoğunlukla parçalanır.
• Dolu: 5 cm çaplı bir dolu tanesi için basit model yaklaşık 30 m/s (110 km/h) verir; iri dolunun cam kırması bundandır.
• Formasyon atlayışı: el ele düşmek için limit hızlar eşit olmalı; hafif atlayıcılar ağırlık kemeri, ağır olanlar bol tulum kullanabilir.
• Stratosfer atlayışları: 30 km'de hava deniz seviyesindekinden yaklaşık 65 kat seyrektir; limit hız yaklaşık 8 kat büyür ve ses hızı aşılabilir.
• Otoyolda yakıt: 90 yerine 120 km/h ile gitmek hava direncini (120/90)² ≈ 1,8 katına çıkarır; yüksek hızda motorun yaptığı işin büyük kısmı bu direnci yenmeye harcanır.
Bütün bu örneklerde aynı iki kural iş başındadır: direnç hızın karesiyle büyür ve limit hızı m/A oranı belirler. Kayakçılar ve bisikletçiler gövdelerini toplayıp akıcı kasklar takarak A ile C'yi küçültür ve hızlanır; paraşüt, uçuşan tohumlar ve bulut damlacıkları ise tam tersini yaparak yavaş iner.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Basamak 4 — Pekiştir: Kolaydan zora çözümlü örnekler ve limit hız sorularında puan kaybettiren klasik hatalar.
11 Çözümlü örnekler
12 Sık yapılan hatalar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1 — Limit hızda kuvvetler (kolay)
Aşağıdaki çözümlerde g = 10 m/s² alınmıştır.
80 kg kütleli bir paraşütçü, paraşütü kapalıyken 50 m/s'lik limit hızıyla düşmektedir. (a) Bu anda hava direnci kaç N'dur? (b) İvmesi nedir?
1. (a) Limit hızda net kuvvet sıfırdır: Fd = m·g = 80 · 10 = 800 N
2. (b) ΣF = 0 olduğu için a = 0'dır.
3. Hız sıfır değildir: cisim 50 m/s ile düşmeye devam eder. Sabit olan hızdır, sıfır olan ivmedir.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2 — Hızlanan bisikletli (kolay)
Aşağıdaki çözümlerde g = 10 m/s² alınmıştır.
Bir bisikletli 5 m/s hızla giderken 8 N'luk hava direnciyle karşılaşıyor. (a) Direnç katsayısı k kaçtır? Hızını (b) 10 m/s'ye, (c) 15 m/s'ye çıkarırsa hava direnci kaç N olur?
1. (a) Fd = k·v² → k = 8 / 5² = 8 / 25 = 0,32 kg/m
2. (b) Hız 2 katı → direnç 2² = 4 katı: 4 · 8 = 32 N (kontrol: 0,32 · 100 = 32 N ✓)
3. (c) Hız 3 katı → direnç 3² = 9 katı: 9 · 8 = 72 N
4. Hızı üç katına çıkarmak dokuz kat direnç demektir; yarış bisikletçileri gövdelerini öne eğip A'yı bu yüzden küçültür.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3 — Aynı kütle, farklı alan (orta)
Aşağıdaki çözümlerde g = 10 m/s² alınmıştır.
Aynı kâğıttan yapılmış açık bir levha ile buruşturulmuş bir top düşünelim. Buruşturunca kesit alanı dokuzda birine iniyorsa limit hız nasıl değişir?
1. Kütle değişmedi; yalnızca A küçüldü: A → A/9
2. vl = √(2mg / (ρCA)) ∝ 1/√A → A dokuzda birine inince vl 3 katına çıkar.
3. Bu yüzden buruşturulmuş kâğıt, açık kâğıttan çok daha hızlı düşer — kütleleri aynı olmasına rağmen.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4 — Direnç katsayısını bulma (orta)
Aşağıdaki çözümlerde g = 10 m/s² alınmıştır.
Bir cismin kütlesi 2 kg, limit hızı 20 m/s ölçülüyor. Direnç Fd = k·v² modeliyle veriliyorsa k kaçtır? Hız 10 m/s iken ivme ne olur?
1. Limit hızda: m·g = k·vl² → 20 = k · 400 → k = 0,05 kg/m
2. v = 10 m/s iken direnç: Fd = 0,05 · 100 = 5 N
3. Net kuvvet: 20 − 5 = 15 N → a = 15/2 = 7,5 m/s²
4. Hız limitin yarısındayken ivme hâlâ g'nin dörtte üçü kadardır (direnç v² ile büyür).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5 — Paraşüt açılınca (zor)
Aşağıdaki çözümlerde g = 10 m/s² alınmıştır.
Limit hızı 50 m/s olan paraşütçü, paraşütünü açtığında yüzey alanı 25 katına çıkıyor. (a) Yeni limit hız nedir? (b) Açılma anında ivmesi ne olur?
1. (a) vl ∝ 1/√A olduğundan: 50 / √25 = 10 m/s
2. (b) Açılma anında hız hâlâ 50 m/s. Yeni k ile direnç: Fd = 25 · (eski direnç) = 25 · m·g
3. Net kuvvet = 25mg − mg = 24mg, yukarı yönde → a = 24g (yaklaşık 240 m/s², yukarı)
4. Bu yüzden açılma çok sert hissedilir; gerçek paraşütler açılmayı birkaç saniyeye yayarak bu ivmeyi düşürür.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6 — Bir yağmur damlasının limit hızı (zor)
Aşağıdaki çözümlerde g = 10 m/s² alınmıştır.
Çapı 2 mm (yarıçapı r = 1 mm) olan küresel bir yağmur damlasının limit hızını bulunuz. (ρsu = 1000 kg/m³, ρhava = 1,2 kg/m³, C = 0,5; kürenin hacmi (4/3)·π·r³, kesit alanı π·r²)
1. Belirleyici olan m/A oranıdır: m/A = ρsu·(4/3)·π·r³ / (π·r²) = (4/3)·ρsu·r; π sadeleşir.
2. m/A = (4/3) · 1000 · 0,001 ≈ 1,33 kg/m²
3. vl = √(2·(m/A)·g / (ρhava·C)) = √(2 · 1,33 · 10 / (1,2 · 0,5))
4. vl = √(26,7 / 0,6) = √44,4 ≈ 6,7 m/s
5. m/A yarıçapla doğru orantılı olduğu için vl ∝ √r: yarıçapı 2 katı olan damlanın limit hızı √2 ≈ 1,4 katı, yani ≈ 9,4 m/s olur.
Ölçülen değer 2 mm çaplı damla için yaklaşık 6,5 m/s'dir; bu basit model gerçeğe oldukça yakın sonuç verir. İri damlaların 9 m/s civarında düşmesi de bu karekök ilişkisinden gelir.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Sık yapılan hatalar
• “Limit hızda hız sıfırdır.” Sıfır olan ivmedir; hız sabit ve genellikle büyüktür.
• “Limit hızda cisme kuvvet etki etmez.” İki büyük kuvvet vardır (ağırlık ve direnç); net kuvvet sıfırdır.
• “Ağır cisim her zaman daha hızlı düşer.” Belirleyici olan m/A oranıdır; hava direnci yoksa kütle hiç rol oynamaz.
• “Hava direnci hızla doğru orantılıdır.” Günlük hızlarda v² ile artar; hız 2 katına çıkarsa direnç 4 katına çıkar.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Sık yapılan hatalar
• “Paraşüt kütleyi azaltır.” Paraşüt yalnızca alanı büyütür; kütle aynıdır.
• “Limit hıza ulaşınca cisim durur.” Durmaz; sabit hızla düşmeye devam eder ve yere o hızla çarpar.
• “Serbest düşme her zaman geçerlidir.” Serbest düşme, direncin ihmal edildiği bir modeldir.
• “Paraşüt açılınca paraşütçü yukarı çıkar.” Net kuvvet yukarı döner, ama hız hâlâ aşağı yönlüdür; paraşütçü yalnızca yavaşlar.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Özet: Direnç hıza bağlı · Dengede a = 0 · Yağmur damlası ≈ 9 m/s · Paraşütçü ≈ 55 m/s
Fd = k · v² — hava direnci
m·g = k · vl² — limit hızda denge
vl = √(m·g / k) — limit hız
k = ½·ρ·C·A — şekil ve alana bağlı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426"/>
        </a:solidFill>
      </p:bgPr>
    </p:bg>
    <p:spTree>
      <p:nvGrpSpPr>
        <p:cNvPr id="1" name=""/>
        <p:cNvGrpSpPr/>
        <p:nvPr/>
      </p:nvGrpSpPr>
      <p:grpSpPr>
        <a:xfrm>
          <a:off x="0" y="0"/>
          <a:ext cx="0" cy="0"/>
          <a:chOff x="0" y="0"/>
          <a:chExt cx="0" cy="0"/>
        </a:xfrm>
      </p:grpSpPr>
      <p:pic>
        <p:nvPicPr>
          <p:cNvPr id="2" name="Image 0" descr="/tmp/claude-1000/-opt-dersler/8a8328c3-841c-44fa-b76f-82572d338d3d/scratchpad/d5/sek/limit-hiz-kapak.jpg">    </p:cNvPr>
          <p:cNvPicPr>
            <a:picLocks noChangeAspect="1"/>
          </p:cNvPicPr>
          <p:nvPr/>
        </p:nvPicPr>
        <p:blipFill>
          <a:blip r:embed="rId1"/>
          <a:stretch>
            <a:fillRect/>
          </a:stretch>
        </p:blipFill>
        <p:spPr>
          <a:xfrm>
            <a:off x="4967935" y="0"/>
            <a:ext cx="7223760" cy="6858000"/>
          </a:xfrm>
          <a:prstGeom prst="rect">
            <a:avLst/>
          </a:prstGeom>
        </p:spPr>
      </p:pic>
      <p:sp>
        <p:nvSpPr>
          <p:cNvPr id="3" name="Shape 0"/>
          <p:cNvSpPr/>
          <p:nvPr/>
        </p:nvSpPr>
        <p:spPr>
          <a:xfrm>
            <a:off x="868680" y="822960"/>
            <a:ext cx="310896" cy="310896"/>
          </a:xfrm>
          <a:prstGeom prst="roundRect">
            <a:avLst>
              <a:gd name="adj" fmla="val 29412"/>
            </a:avLst>
          </a:prstGeom>
          <a:solidFill>
            <a:srgbClr val="A9E648"/>
          </a:solidFill>
          <a:ln/>
        </p:spPr>
      </p:sp>
      <p:sp>
        <p:nvSpPr>
          <p:cNvPr id="4" name="Text 1"/>
          <p:cNvSpPr txBox="1"/>
          <p:nvPr/>
        </p:nvSpPr>
        <p:spPr>
          <a:xfrm>
            <a:off x="1280160" y="822960"/>
            <a:ext cx="3657600" cy="310896"/>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Dersler</a:t>
            </a:r>
            <a:pPr indent="0" marL="0">
              <a:buNone/>
            </a:pPr>
            <a:r>
              <a:rPr lang="en-US" sz="1250" dirty="0">
                <a:solidFill>
                  <a:srgbClr val="8D97B5"/>
                </a:solidFill>
                <a:latin typeface="Calibri" pitchFamily="34" charset="0"/>
                <a:ea typeface="Calibri" pitchFamily="34" charset="-122"/>
                <a:cs typeface="Calibri" pitchFamily="34" charset="-120"/>
              </a:rPr>
              <a:t>  ·  fizik</a:t>
            </a:r>
            <a:endParaRPr lang="en-US" sz="1250" dirty="0"/>
          </a:p>
        </p:txBody>
      </p:sp>
      <p:sp>
        <p:nvSpPr>
          <p:cNvPr id="5" name="Shape 2"/>
          <p:cNvSpPr/>
          <p:nvPr/>
        </p:nvSpPr>
        <p:spPr>
          <a:xfrm>
            <a:off x="640080" y="1965960"/>
            <a:ext cx="54864" cy="1097280"/>
          </a:xfrm>
          <a:prstGeom prst="rect">
            <a:avLst/>
          </a:prstGeom>
          <a:solidFill>
            <a:srgbClr val="C6F36B"/>
          </a:solidFill>
          <a:ln/>
        </p:spPr>
      </p:sp>
      <p:sp>
        <p:nvSpPr>
          <p:cNvPr id="6" name="Text 3"/>
          <p:cNvSpPr txBox="1"/>
          <p:nvPr/>
        </p:nvSpPr>
        <p:spPr>
          <a:xfrm>
            <a:off x="868680" y="1554480"/>
            <a:ext cx="5852160" cy="320040"/>
          </a:xfrm>
          <a:prstGeom prst="rect">
            <a:avLst/>
          </a:prstGeom>
          <a:noFill/>
          <a:ln/>
        </p:spPr>
        <p:txBody>
          <a:bodyPr wrap="square" lIns="0" tIns="0" rIns="0" bIns="0" rtlCol="0" anchor="ctr"/>
          <a:lstStyle/>
          <a:p>
            <a:pPr indent="0" marL="0">
              <a:buNone/>
            </a:pPr>
            <a:r>
              <a:rPr lang="en-US" sz="1300" b="1" spc="300" kern="0" dirty="0">
                <a:solidFill>
                  <a:srgbClr val="C6F36B"/>
                </a:solidFill>
                <a:latin typeface="Calibri" pitchFamily="34" charset="0"/>
                <a:ea typeface="Calibri" pitchFamily="34" charset="-122"/>
                <a:cs typeface="Calibri" pitchFamily="34" charset="-120"/>
              </a:rPr>
              <a:t>KUVVET VE HAREKET · KONU 05</a:t>
            </a:r>
            <a:endParaRPr lang="en-US" sz="1300" dirty="0"/>
          </a:p>
        </p:txBody>
      </p:sp>
      <p:sp>
        <p:nvSpPr>
          <p:cNvPr id="7" name="Text 4"/>
          <p:cNvSpPr txBox="1"/>
          <p:nvPr/>
        </p:nvSpPr>
        <p:spPr>
          <a:xfrm>
            <a:off x="822960" y="1920240"/>
            <a:ext cx="5120640" cy="1188720"/>
          </a:xfrm>
          <a:prstGeom prst="rect">
            <a:avLst/>
          </a:prstGeom>
          <a:noFill/>
          <a:ln/>
        </p:spPr>
        <p:txBody>
          <a:bodyPr wrap="square" lIns="0" tIns="0" rIns="0" bIns="0" rtlCol="0" anchor="ctr"/>
          <a:lstStyle/>
          <a:p>
            <a:pPr indent="0" marL="0">
              <a:buNone/>
            </a:pPr>
            <a:r>
              <a:rPr lang="en-US" sz="4600" b="1" spc="-100" kern="0" dirty="0">
                <a:solidFill>
                  <a:srgbClr val="FFFFFF"/>
                </a:solidFill>
                <a:latin typeface="Cambria" pitchFamily="34" charset="0"/>
                <a:ea typeface="Cambria" pitchFamily="34" charset="-122"/>
                <a:cs typeface="Cambria" pitchFamily="34" charset="-120"/>
              </a:rPr>
              <a:t>Limit hız</a:t>
            </a:r>
            <a:endParaRPr lang="en-US" sz="4600" dirty="0"/>
          </a:p>
        </p:txBody>
      </p:sp>
      <p:sp>
        <p:nvSpPr>
          <p:cNvPr id="8" name="Text 5"/>
          <p:cNvSpPr txBox="1"/>
          <p:nvPr/>
        </p:nvSpPr>
        <p:spPr>
          <a:xfrm>
            <a:off x="868680" y="3291840"/>
            <a:ext cx="4754880" cy="1371600"/>
          </a:xfrm>
          <a:prstGeom prst="rect">
            <a:avLst/>
          </a:prstGeom>
          <a:noFill/>
          <a:ln/>
        </p:spPr>
        <p:txBody>
          <a:bodyPr wrap="square" lIns="0" tIns="0" rIns="0" bIns="0" rtlCol="0" anchor="t"/>
          <a:lstStyle/>
          <a:p>
            <a:pPr indent="0" marL="0">
              <a:lnSpc>
                <a:spcPct val="125000"/>
              </a:lnSpc>
              <a:buNone/>
            </a:pPr>
            <a:r>
              <a:rPr lang="en-US" sz="1400" dirty="0">
                <a:solidFill>
                  <a:srgbClr val="C3CEE8"/>
                </a:solidFill>
                <a:latin typeface="Calibri" pitchFamily="34" charset="0"/>
                <a:ea typeface="Calibri" pitchFamily="34" charset="-122"/>
                <a:cs typeface="Calibri" pitchFamily="34" charset="-120"/>
              </a:rPr>
              <a:t>Gerçek dünyada hiçbir cisim sonsuza kadar hızlanmaz. Hava direnci hızla büyür; ağırlığa eşitlendiği anda net kuvvet sıfırlanır ve cisim sabit bir hızla düşmeye devam eder. Aşağıda bu dengeyi kendin kur, paraşütü aç, kâğıdı buruştur.</a:t>
            </a:r>
            <a:endParaRPr lang="en-US" sz="1400" dirty="0"/>
          </a:p>
        </p:txBody>
      </p:sp>
      <p:sp>
        <p:nvSpPr>
          <p:cNvPr id="9" name="Shape 6"/>
          <p:cNvSpPr/>
          <p:nvPr/>
        </p:nvSpPr>
        <p:spPr>
          <a:xfrm>
            <a:off x="868680" y="4892040"/>
            <a:ext cx="1115568" cy="566928"/>
          </a:xfrm>
          <a:prstGeom prst="roundRect">
            <a:avLst>
              <a:gd name="adj" fmla="val 16129"/>
            </a:avLst>
          </a:prstGeom>
          <a:solidFill>
            <a:srgbClr val="1C2542">
              <a:alpha val="90000"/>
            </a:srgbClr>
          </a:solidFill>
          <a:ln w="9525">
            <a:solidFill>
              <a:srgbClr val="2C3860"/>
            </a:solidFill>
            <a:prstDash val="solid"/>
          </a:ln>
        </p:spPr>
      </p:sp>
      <p:sp>
        <p:nvSpPr>
          <p:cNvPr id="10" name="Shape 7"/>
          <p:cNvSpPr/>
          <p:nvPr/>
        </p:nvSpPr>
        <p:spPr>
          <a:xfrm>
            <a:off x="978408" y="5020056"/>
            <a:ext cx="45720" cy="310896"/>
          </a:xfrm>
          <a:prstGeom prst="rect">
            <a:avLst/>
          </a:prstGeom>
          <a:solidFill>
            <a:srgbClr val="C6F36B"/>
          </a:solidFill>
          <a:ln/>
        </p:spPr>
      </p:sp>
      <p:sp>
        <p:nvSpPr>
          <p:cNvPr id="11" name="Text 8"/>
          <p:cNvSpPr txBox="1"/>
          <p:nvPr/>
        </p:nvSpPr>
        <p:spPr>
          <a:xfrm>
            <a:off x="1124712" y="4892040"/>
            <a:ext cx="841248" cy="566928"/>
          </a:xfrm>
          <a:prstGeom prst="rect">
            <a:avLst/>
          </a:prstGeom>
          <a:noFill/>
          <a:ln/>
        </p:spPr>
        <p:txBody>
          <a:bodyPr wrap="square" lIns="0" tIns="0" rIns="0" bIns="0" rtlCol="0" anchor="ctr"/>
          <a:lstStyle/>
          <a:p>
            <a:pPr indent="0" marL="0">
              <a:buNone/>
            </a:pPr>
            <a:r>
              <a:rPr lang="en-US" sz="1300" b="1" dirty="0">
                <a:solidFill>
                  <a:srgbClr val="C6F36B"/>
                </a:solidFill>
                <a:latin typeface="Calibri" pitchFamily="34" charset="0"/>
                <a:ea typeface="Calibri" pitchFamily="34" charset="-122"/>
                <a:cs typeface="Calibri" pitchFamily="34" charset="-120"/>
              </a:rPr>
              <a:t>1  </a:t>
            </a:r>
            <a:pPr indent="0" marL="0">
              <a:buNone/>
            </a:pPr>
            <a:r>
              <a:rPr lang="en-US" sz="1300" b="1" dirty="0">
                <a:solidFill>
                  <a:srgbClr val="FFFFFF"/>
                </a:solidFill>
                <a:latin typeface="Calibri" pitchFamily="34" charset="0"/>
                <a:ea typeface="Calibri" pitchFamily="34" charset="-122"/>
                <a:cs typeface="Calibri" pitchFamily="34" charset="-120"/>
              </a:rPr>
              <a:t>Temel</a:t>
            </a:r>
            <a:endParaRPr lang="en-US" sz="1300" dirty="0"/>
          </a:p>
        </p:txBody>
      </p:sp>
      <p:sp>
        <p:nvSpPr>
          <p:cNvPr id="12" name="Shape 9"/>
          <p:cNvSpPr/>
          <p:nvPr/>
        </p:nvSpPr>
        <p:spPr>
          <a:xfrm>
            <a:off x="2075688" y="4892040"/>
            <a:ext cx="1115568" cy="566928"/>
          </a:xfrm>
          <a:prstGeom prst="roundRect">
            <a:avLst>
              <a:gd name="adj" fmla="val 16129"/>
            </a:avLst>
          </a:prstGeom>
          <a:solidFill>
            <a:srgbClr val="1C2542">
              <a:alpha val="90000"/>
            </a:srgbClr>
          </a:solidFill>
          <a:ln w="9525">
            <a:solidFill>
              <a:srgbClr val="2C3860"/>
            </a:solidFill>
            <a:prstDash val="solid"/>
          </a:ln>
        </p:spPr>
      </p:sp>
      <p:sp>
        <p:nvSpPr>
          <p:cNvPr id="13" name="Shape 10"/>
          <p:cNvSpPr/>
          <p:nvPr/>
        </p:nvSpPr>
        <p:spPr>
          <a:xfrm>
            <a:off x="2185416" y="5020056"/>
            <a:ext cx="45720" cy="310896"/>
          </a:xfrm>
          <a:prstGeom prst="rect">
            <a:avLst/>
          </a:prstGeom>
          <a:solidFill>
            <a:srgbClr val="82AAFF"/>
          </a:solidFill>
          <a:ln/>
        </p:spPr>
      </p:sp>
      <p:sp>
        <p:nvSpPr>
          <p:cNvPr id="14" name="Text 11"/>
          <p:cNvSpPr txBox="1"/>
          <p:nvPr/>
        </p:nvSpPr>
        <p:spPr>
          <a:xfrm>
            <a:off x="2331720" y="4892040"/>
            <a:ext cx="841248" cy="566928"/>
          </a:xfrm>
          <a:prstGeom prst="rect">
            <a:avLst/>
          </a:prstGeom>
          <a:noFill/>
          <a:ln/>
        </p:spPr>
        <p:txBody>
          <a:bodyPr wrap="square" lIns="0" tIns="0" rIns="0" bIns="0" rtlCol="0" anchor="ctr"/>
          <a:lstStyle/>
          <a:p>
            <a:pPr indent="0" marL="0">
              <a:buNone/>
            </a:pPr>
            <a:r>
              <a:rPr lang="en-US" sz="1300" b="1" dirty="0">
                <a:solidFill>
                  <a:srgbClr val="82AAFF"/>
                </a:solidFill>
                <a:latin typeface="Calibri" pitchFamily="34" charset="0"/>
                <a:ea typeface="Calibri" pitchFamily="34" charset="-122"/>
                <a:cs typeface="Calibri" pitchFamily="34" charset="-120"/>
              </a:rPr>
              <a:t>2  </a:t>
            </a:r>
            <a:pPr indent="0" marL="0">
              <a:buNone/>
            </a:pPr>
            <a:r>
              <a:rPr lang="en-US" sz="1300" b="1" dirty="0">
                <a:solidFill>
                  <a:srgbClr val="FFFFFF"/>
                </a:solidFill>
                <a:latin typeface="Calibri" pitchFamily="34" charset="0"/>
                <a:ea typeface="Calibri" pitchFamily="34" charset="-122"/>
                <a:cs typeface="Calibri" pitchFamily="34" charset="-120"/>
              </a:rPr>
              <a:t>Orta</a:t>
            </a:r>
            <a:endParaRPr lang="en-US" sz="1300" dirty="0"/>
          </a:p>
        </p:txBody>
      </p:sp>
      <p:sp>
        <p:nvSpPr>
          <p:cNvPr id="15" name="Shape 12"/>
          <p:cNvSpPr/>
          <p:nvPr/>
        </p:nvSpPr>
        <p:spPr>
          <a:xfrm>
            <a:off x="3282696" y="4892040"/>
            <a:ext cx="1115568" cy="566928"/>
          </a:xfrm>
          <a:prstGeom prst="roundRect">
            <a:avLst>
              <a:gd name="adj" fmla="val 16129"/>
            </a:avLst>
          </a:prstGeom>
          <a:solidFill>
            <a:srgbClr val="1C2542">
              <a:alpha val="90000"/>
            </a:srgbClr>
          </a:solidFill>
          <a:ln w="9525">
            <a:solidFill>
              <a:srgbClr val="2C3860"/>
            </a:solidFill>
            <a:prstDash val="solid"/>
          </a:ln>
        </p:spPr>
      </p:sp>
      <p:sp>
        <p:nvSpPr>
          <p:cNvPr id="16" name="Shape 13"/>
          <p:cNvSpPr/>
          <p:nvPr/>
        </p:nvSpPr>
        <p:spPr>
          <a:xfrm>
            <a:off x="3392424" y="5020056"/>
            <a:ext cx="45720" cy="310896"/>
          </a:xfrm>
          <a:prstGeom prst="rect">
            <a:avLst/>
          </a:prstGeom>
          <a:solidFill>
            <a:srgbClr val="A093FF"/>
          </a:solidFill>
          <a:ln/>
        </p:spPr>
      </p:sp>
      <p:sp>
        <p:nvSpPr>
          <p:cNvPr id="17" name="Text 14"/>
          <p:cNvSpPr txBox="1"/>
          <p:nvPr/>
        </p:nvSpPr>
        <p:spPr>
          <a:xfrm>
            <a:off x="3538728" y="4892040"/>
            <a:ext cx="841248" cy="566928"/>
          </a:xfrm>
          <a:prstGeom prst="rect">
            <a:avLst/>
          </a:prstGeom>
          <a:noFill/>
          <a:ln/>
        </p:spPr>
        <p:txBody>
          <a:bodyPr wrap="square" lIns="0" tIns="0" rIns="0" bIns="0" rtlCol="0" anchor="ctr"/>
          <a:lstStyle/>
          <a:p>
            <a:pPr indent="0" marL="0">
              <a:buNone/>
            </a:pPr>
            <a:r>
              <a:rPr lang="en-US" sz="1300" b="1" dirty="0">
                <a:solidFill>
                  <a:srgbClr val="A093FF"/>
                </a:solidFill>
                <a:latin typeface="Calibri" pitchFamily="34" charset="0"/>
                <a:ea typeface="Calibri" pitchFamily="34" charset="-122"/>
                <a:cs typeface="Calibri" pitchFamily="34" charset="-120"/>
              </a:rPr>
              <a:t>3  </a:t>
            </a:r>
            <a:pPr indent="0" marL="0">
              <a:buNone/>
            </a:pPr>
            <a:r>
              <a:rPr lang="en-US" sz="1300" b="1" dirty="0">
                <a:solidFill>
                  <a:srgbClr val="FFFFFF"/>
                </a:solidFill>
                <a:latin typeface="Calibri" pitchFamily="34" charset="0"/>
                <a:ea typeface="Calibri" pitchFamily="34" charset="-122"/>
                <a:cs typeface="Calibri" pitchFamily="34" charset="-120"/>
              </a:rPr>
              <a:t>İleri</a:t>
            </a:r>
            <a:endParaRPr lang="en-US" sz="1300" dirty="0"/>
          </a:p>
        </p:txBody>
      </p:sp>
      <p:sp>
        <p:nvSpPr>
          <p:cNvPr id="18" name="Shape 15"/>
          <p:cNvSpPr/>
          <p:nvPr/>
        </p:nvSpPr>
        <p:spPr>
          <a:xfrm>
            <a:off x="4489704" y="4892040"/>
            <a:ext cx="1115568" cy="566928"/>
          </a:xfrm>
          <a:prstGeom prst="roundRect">
            <a:avLst>
              <a:gd name="adj" fmla="val 16129"/>
            </a:avLst>
          </a:prstGeom>
          <a:solidFill>
            <a:srgbClr val="1C2542">
              <a:alpha val="90000"/>
            </a:srgbClr>
          </a:solidFill>
          <a:ln w="9525">
            <a:solidFill>
              <a:srgbClr val="2C3860"/>
            </a:solidFill>
            <a:prstDash val="solid"/>
          </a:ln>
        </p:spPr>
      </p:sp>
      <p:sp>
        <p:nvSpPr>
          <p:cNvPr id="19" name="Shape 16"/>
          <p:cNvSpPr/>
          <p:nvPr/>
        </p:nvSpPr>
        <p:spPr>
          <a:xfrm>
            <a:off x="4599432" y="5020056"/>
            <a:ext cx="45720" cy="310896"/>
          </a:xfrm>
          <a:prstGeom prst="rect">
            <a:avLst/>
          </a:prstGeom>
          <a:solidFill>
            <a:srgbClr val="FFCB6B"/>
          </a:solidFill>
          <a:ln/>
        </p:spPr>
      </p:sp>
      <p:sp>
        <p:nvSpPr>
          <p:cNvPr id="20" name="Text 17"/>
          <p:cNvSpPr txBox="1"/>
          <p:nvPr/>
        </p:nvSpPr>
        <p:spPr>
          <a:xfrm>
            <a:off x="4745736" y="4892040"/>
            <a:ext cx="841248" cy="566928"/>
          </a:xfrm>
          <a:prstGeom prst="rect">
            <a:avLst/>
          </a:prstGeom>
          <a:noFill/>
          <a:ln/>
        </p:spPr>
        <p:txBody>
          <a:bodyPr wrap="square" lIns="0" tIns="0" rIns="0" bIns="0" rtlCol="0" anchor="ctr"/>
          <a:lstStyle/>
          <a:p>
            <a:pPr indent="0" marL="0">
              <a:buNone/>
            </a:pPr>
            <a:r>
              <a:rPr lang="en-US" sz="1300" b="1" dirty="0">
                <a:solidFill>
                  <a:srgbClr val="FFCB6B"/>
                </a:solidFill>
                <a:latin typeface="Calibri" pitchFamily="34" charset="0"/>
                <a:ea typeface="Calibri" pitchFamily="34" charset="-122"/>
                <a:cs typeface="Calibri" pitchFamily="34" charset="-120"/>
              </a:rPr>
              <a:t>4  </a:t>
            </a:r>
            <a:pPr indent="0" marL="0">
              <a:buNone/>
            </a:pPr>
            <a:r>
              <a:rPr lang="en-US" sz="1300" b="1" dirty="0">
                <a:solidFill>
                  <a:srgbClr val="FFFFFF"/>
                </a:solidFill>
                <a:latin typeface="Calibri" pitchFamily="34" charset="0"/>
                <a:ea typeface="Calibri" pitchFamily="34" charset="-122"/>
                <a:cs typeface="Calibri" pitchFamily="34" charset="-120"/>
              </a:rPr>
              <a:t>Pekiştir</a:t>
            </a:r>
            <a:endParaRPr lang="en-US" sz="1300" dirty="0"/>
          </a:p>
        </p:txBody>
      </p:sp>
      <p:sp>
        <p:nvSpPr>
          <p:cNvPr id="21" name="Shape 18"/>
          <p:cNvSpPr/>
          <p:nvPr/>
        </p:nvSpPr>
        <p:spPr>
          <a:xfrm>
            <a:off x="640080" y="6382512"/>
            <a:ext cx="128016" cy="128016"/>
          </a:xfrm>
          <a:prstGeom prst="roundRect">
            <a:avLst>
              <a:gd name="adj" fmla="val 28571"/>
            </a:avLst>
          </a:prstGeom>
          <a:solidFill>
            <a:srgbClr val="C6F36B"/>
          </a:solidFill>
          <a:ln/>
        </p:spPr>
      </p:sp>
      <p:sp>
        <p:nvSpPr>
          <p:cNvPr id="22" name="Text 1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6A7798"/>
                </a:solidFill>
                <a:latin typeface="Calibri" pitchFamily="34" charset="0"/>
                <a:ea typeface="Calibri" pitchFamily="34" charset="-122"/>
                <a:cs typeface="Calibri" pitchFamily="34" charset="-120"/>
              </a:rPr>
              <a:t>dersler.perinet.org/limit-hiz.html</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Başlarken</a:t>
            </a:r>
            <a:endParaRPr lang="en-US" sz="3200" dirty="0"/>
          </a:p>
        </p:txBody>
      </p:sp>
      <p:sp>
        <p:nvSpPr>
          <p:cNvPr id="5" name="Text 3"/>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Konuya günlük bir soruyla giriyoruz.</a:t>
            </a:r>
            <a:endParaRPr lang="en-US" sz="1450" dirty="0"/>
          </a:p>
        </p:txBody>
      </p:sp>
      <p:sp>
        <p:nvSpPr>
          <p:cNvPr id="6" name="Shape 4"/>
          <p:cNvSpPr/>
          <p:nvPr/>
        </p:nvSpPr>
        <p:spPr>
          <a:xfrm>
            <a:off x="1188720" y="1828800"/>
            <a:ext cx="9814255" cy="3931920"/>
          </a:xfrm>
          <a:prstGeom prst="roundRect">
            <a:avLst>
              <a:gd name="adj" fmla="val 5116"/>
            </a:avLst>
          </a:prstGeom>
          <a:solidFill>
            <a:srgbClr val="FFFFFF"/>
          </a:solidFill>
          <a:ln w="9525">
            <a:solidFill>
              <a:srgbClr val="CFC8F5"/>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225296" y="2286000"/>
            <a:ext cx="64008" cy="3017520"/>
          </a:xfrm>
          <a:prstGeom prst="rect">
            <a:avLst/>
          </a:prstGeom>
          <a:solidFill>
            <a:srgbClr val="5F4BD8"/>
          </a:solidFill>
          <a:ln/>
        </p:spPr>
      </p:sp>
      <p:sp>
        <p:nvSpPr>
          <p:cNvPr id="8" name="Text 6"/>
          <p:cNvSpPr txBox="1"/>
          <p:nvPr/>
        </p:nvSpPr>
        <p:spPr>
          <a:xfrm>
            <a:off x="1828800" y="2194560"/>
            <a:ext cx="8534095" cy="3200400"/>
          </a:xfrm>
          <a:prstGeom prst="rect">
            <a:avLst/>
          </a:prstGeom>
          <a:noFill/>
          <a:ln/>
        </p:spPr>
        <p:txBody>
          <a:bodyPr wrap="square" lIns="0" tIns="0" rIns="0" bIns="0" rtlCol="0" anchor="ctr"/>
          <a:lstStyle/>
          <a:p>
            <a:pPr indent="0" marL="0">
              <a:lnSpc>
                <a:spcPct val="130000"/>
              </a:lnSpc>
              <a:buNone/>
            </a:pPr>
            <a:r>
              <a:rPr lang="en-US" sz="2200" dirty="0">
                <a:solidFill>
                  <a:srgbClr val="0E1426"/>
                </a:solidFill>
                <a:latin typeface="Cambria" pitchFamily="34" charset="0"/>
                <a:ea typeface="Cambria" pitchFamily="34" charset="-122"/>
                <a:cs typeface="Cambria" pitchFamily="34" charset="-120"/>
              </a:rPr>
              <a:t>Bir paraşütçü 4 km yüksekten atlar; hava direnci olmasaydı yere 280 m/s ile çarpardı.</a:t>
            </a:r>
            <a:pPr indent="0" marL="0">
              <a:lnSpc>
                <a:spcPct val="130000"/>
              </a:lnSpc>
              <a:buNone/>
            </a:pPr>
            <a:r>
              <a:rPr lang="en-US" sz="2200" dirty="0">
                <a:solidFill>
                  <a:srgbClr val="0E1426"/>
                </a:solidFill>
                <a:latin typeface="Cambria" pitchFamily="34" charset="0"/>
                <a:ea typeface="Cambria" pitchFamily="34" charset="-122"/>
                <a:cs typeface="Cambria" pitchFamily="34" charset="-120"/>
              </a:rPr>
              <a:t> </a:t>
            </a:r>
            <a:pPr indent="0" marL="0">
              <a:lnSpc>
                <a:spcPct val="130000"/>
              </a:lnSpc>
              <a:buNone/>
            </a:pPr>
            <a:r>
              <a:rPr lang="en-US" sz="2200" dirty="0">
                <a:solidFill>
                  <a:srgbClr val="0E1426"/>
                </a:solidFill>
                <a:latin typeface="Cambria" pitchFamily="34" charset="0"/>
                <a:ea typeface="Cambria" pitchFamily="34" charset="-122"/>
                <a:cs typeface="Cambria" pitchFamily="34" charset="-120"/>
              </a:rPr>
              <a:t>Oysa açık paraşütle yaklaşık 5 m/s ile, </a:t>
            </a:r>
            <a:pPr indent="0" marL="0">
              <a:lnSpc>
                <a:spcPct val="130000"/>
              </a:lnSpc>
              <a:buNone/>
            </a:pPr>
            <a:r>
              <a:rPr lang="en-US" sz="2200" b="1" dirty="0">
                <a:solidFill>
                  <a:srgbClr val="5F4BD8"/>
                </a:solidFill>
                <a:latin typeface="Cambria" pitchFamily="34" charset="0"/>
                <a:ea typeface="Cambria" pitchFamily="34" charset="-122"/>
                <a:cs typeface="Cambria" pitchFamily="34" charset="-120"/>
              </a:rPr>
              <a:t>bir bisikletlinin hızıyla</a:t>
            </a:r>
            <a:pPr indent="0" marL="0">
              <a:lnSpc>
                <a:spcPct val="130000"/>
              </a:lnSpc>
              <a:buNone/>
            </a:pPr>
            <a:r>
              <a:rPr lang="en-US" sz="2200" dirty="0">
                <a:solidFill>
                  <a:srgbClr val="0E1426"/>
                </a:solidFill>
                <a:latin typeface="Cambria" pitchFamily="34" charset="0"/>
                <a:ea typeface="Cambria" pitchFamily="34" charset="-122"/>
                <a:cs typeface="Cambria" pitchFamily="34" charset="-120"/>
              </a:rPr>
              <a:t> iner.</a:t>
            </a:r>
            <a:pPr indent="0" marL="0">
              <a:lnSpc>
                <a:spcPct val="130000"/>
              </a:lnSpc>
              <a:buNone/>
            </a:pPr>
            <a:r>
              <a:rPr lang="en-US" sz="2200" dirty="0">
                <a:solidFill>
                  <a:srgbClr val="0E1426"/>
                </a:solidFill>
                <a:latin typeface="Cambria" pitchFamily="34" charset="0"/>
                <a:ea typeface="Cambria" pitchFamily="34" charset="-122"/>
                <a:cs typeface="Cambria" pitchFamily="34" charset="-120"/>
              </a:rPr>
              <a:t> </a:t>
            </a:r>
            <a:pPr indent="0" marL="0">
              <a:lnSpc>
                <a:spcPct val="130000"/>
              </a:lnSpc>
              <a:buNone/>
            </a:pPr>
            <a:r>
              <a:rPr lang="en-US" sz="2200" dirty="0">
                <a:solidFill>
                  <a:srgbClr val="0E1426"/>
                </a:solidFill>
                <a:latin typeface="Cambria" pitchFamily="34" charset="0"/>
                <a:ea typeface="Cambria" pitchFamily="34" charset="-122"/>
                <a:cs typeface="Cambria" pitchFamily="34" charset="-120"/>
              </a:rPr>
              <a:t>Yağmur damlası 2 km düşer, yine de canımızı yakmaz.</a:t>
            </a:r>
            <a:pPr indent="0" marL="0">
              <a:lnSpc>
                <a:spcPct val="130000"/>
              </a:lnSpc>
              <a:buNone/>
            </a:pPr>
            <a:r>
              <a:rPr lang="en-US" sz="2200" dirty="0">
                <a:solidFill>
                  <a:srgbClr val="0E1426"/>
                </a:solidFill>
                <a:latin typeface="Cambria" pitchFamily="34" charset="0"/>
                <a:ea typeface="Cambria" pitchFamily="34" charset="-122"/>
                <a:cs typeface="Cambria" pitchFamily="34" charset="-120"/>
              </a:rPr>
              <a:t> </a:t>
            </a:r>
            <a:pPr indent="0" marL="0">
              <a:lnSpc>
                <a:spcPct val="130000"/>
              </a:lnSpc>
              <a:buNone/>
            </a:pPr>
            <a:r>
              <a:rPr lang="en-US" sz="2200" dirty="0">
                <a:solidFill>
                  <a:srgbClr val="0E1426"/>
                </a:solidFill>
                <a:latin typeface="Cambria" pitchFamily="34" charset="0"/>
                <a:ea typeface="Cambria" pitchFamily="34" charset="-122"/>
                <a:cs typeface="Cambria" pitchFamily="34" charset="-120"/>
              </a:rPr>
              <a:t>İkisinin de sebebi aynı: </a:t>
            </a:r>
            <a:pPr indent="0" marL="0">
              <a:lnSpc>
                <a:spcPct val="130000"/>
              </a:lnSpc>
              <a:buNone/>
            </a:pPr>
            <a:r>
              <a:rPr lang="en-US" sz="2200" b="1" dirty="0">
                <a:solidFill>
                  <a:srgbClr val="5F4BD8"/>
                </a:solidFill>
                <a:latin typeface="Cambria" pitchFamily="34" charset="0"/>
                <a:ea typeface="Cambria" pitchFamily="34" charset="-122"/>
                <a:cs typeface="Cambria" pitchFamily="34" charset="-120"/>
              </a:rPr>
              <a:t>hava direnci hızla birlikte büyür</a:t>
            </a:r>
            <a:pPr indent="0" marL="0">
              <a:lnSpc>
                <a:spcPct val="130000"/>
              </a:lnSpc>
              <a:buNone/>
            </a:pPr>
            <a:r>
              <a:rPr lang="en-US" sz="2200" dirty="0">
                <a:solidFill>
                  <a:srgbClr val="0E1426"/>
                </a:solidFill>
                <a:latin typeface="Cambria" pitchFamily="34" charset="0"/>
                <a:ea typeface="Cambria" pitchFamily="34" charset="-122"/>
                <a:cs typeface="Cambria" pitchFamily="34" charset="-120"/>
              </a:rPr>
              <a:t> ve bir noktada ağırlığı tam olarak dengeler.</a:t>
            </a:r>
            <a:pPr indent="0" marL="0">
              <a:lnSpc>
                <a:spcPct val="130000"/>
              </a:lnSpc>
              <a:buNone/>
            </a:pPr>
            <a:r>
              <a:rPr lang="en-US" sz="2200" dirty="0">
                <a:solidFill>
                  <a:srgbClr val="0E1426"/>
                </a:solidFill>
                <a:latin typeface="Cambria" pitchFamily="34" charset="0"/>
                <a:ea typeface="Cambria" pitchFamily="34" charset="-122"/>
                <a:cs typeface="Cambria" pitchFamily="34" charset="-120"/>
              </a:rPr>
              <a:t> </a:t>
            </a:r>
            <a:pPr indent="0" marL="0">
              <a:lnSpc>
                <a:spcPct val="130000"/>
              </a:lnSpc>
              <a:buNone/>
            </a:pPr>
            <a:r>
              <a:rPr lang="en-US" sz="2200" dirty="0">
                <a:solidFill>
                  <a:srgbClr val="0E1426"/>
                </a:solidFill>
                <a:latin typeface="Cambria" pitchFamily="34" charset="0"/>
                <a:ea typeface="Cambria" pitchFamily="34" charset="-122"/>
                <a:cs typeface="Cambria" pitchFamily="34" charset="-120"/>
              </a:rPr>
              <a:t>O andan sonra hız artmaz — her cismin bir hız sınırı vardır.</a:t>
            </a:r>
            <a:endParaRPr lang="en-US" sz="2200" dirty="0"/>
          </a:p>
        </p:txBody>
      </p:sp>
      <p:sp>
        <p:nvSpPr>
          <p:cNvPr id="9" name="Shape 7"/>
          <p:cNvSpPr/>
          <p:nvPr/>
        </p:nvSpPr>
        <p:spPr>
          <a:xfrm>
            <a:off x="640080" y="6382512"/>
            <a:ext cx="128016" cy="128016"/>
          </a:xfrm>
          <a:prstGeom prst="roundRect">
            <a:avLst>
              <a:gd name="adj" fmla="val 28571"/>
            </a:avLst>
          </a:prstGeom>
          <a:solidFill>
            <a:srgbClr val="A9E648"/>
          </a:solidFill>
          <a:ln/>
        </p:spPr>
      </p:sp>
      <p:sp>
        <p:nvSpPr>
          <p:cNvPr id="10" name="Text 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dersler.perinet.org/limit-hiz.html</a:t>
            </a:r>
            <a:endParaRPr lang="en-US" sz="1050" dirty="0"/>
          </a:p>
        </p:txBody>
      </p:sp>
      <p:sp>
        <p:nvSpPr>
          <p:cNvPr id="11" name="Text 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02</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Bu derste</a:t>
            </a:r>
            <a:endParaRPr lang="en-US" sz="3200" dirty="0"/>
          </a:p>
        </p:txBody>
      </p:sp>
      <p:sp>
        <p:nvSpPr>
          <p:cNvPr id="5" name="Text 3"/>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Dört basamak, kolaydan zora: önce sezgi, sonra bağıntılar, sonra derinleşme; en sonda pekiştirme.</a:t>
            </a:r>
            <a:endParaRPr lang="en-US" sz="1450" dirty="0"/>
          </a:p>
        </p:txBody>
      </p:sp>
      <p:sp>
        <p:nvSpPr>
          <p:cNvPr id="6" name="Shape 4"/>
          <p:cNvSpPr/>
          <p:nvPr/>
        </p:nvSpPr>
        <p:spPr>
          <a:xfrm>
            <a:off x="640080" y="1645920"/>
            <a:ext cx="2577008" cy="4498848"/>
          </a:xfrm>
          <a:prstGeom prst="roundRect">
            <a:avLst>
              <a:gd name="adj" fmla="val 5677"/>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822960" y="1645920"/>
            <a:ext cx="2211248" cy="64008"/>
          </a:xfrm>
          <a:prstGeom prst="rect">
            <a:avLst/>
          </a:prstGeom>
          <a:solidFill>
            <a:srgbClr val="3C8C21"/>
          </a:solidFill>
          <a:ln/>
        </p:spPr>
      </p:sp>
      <p:sp>
        <p:nvSpPr>
          <p:cNvPr id="8" name="Shape 6"/>
          <p:cNvSpPr/>
          <p:nvPr/>
        </p:nvSpPr>
        <p:spPr>
          <a:xfrm>
            <a:off x="859536" y="1920240"/>
            <a:ext cx="420624" cy="420624"/>
          </a:xfrm>
          <a:prstGeom prst="roundRect">
            <a:avLst>
              <a:gd name="adj" fmla="val 26000"/>
            </a:avLst>
          </a:prstGeom>
          <a:solidFill>
            <a:srgbClr val="3C8C21"/>
          </a:solidFill>
          <a:ln/>
        </p:spPr>
      </p:sp>
      <p:sp>
        <p:nvSpPr>
          <p:cNvPr id="9" name="Text 7"/>
          <p:cNvSpPr txBox="1"/>
          <p:nvPr/>
        </p:nvSpPr>
        <p:spPr>
          <a:xfrm>
            <a:off x="859536" y="192024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Text 8"/>
          <p:cNvSpPr txBox="1"/>
          <p:nvPr/>
        </p:nvSpPr>
        <p:spPr>
          <a:xfrm>
            <a:off x="1408176" y="1901952"/>
            <a:ext cx="1662608" cy="457200"/>
          </a:xfrm>
          <a:prstGeom prst="rect">
            <a:avLst/>
          </a:prstGeom>
          <a:noFill/>
          <a:ln/>
        </p:spPr>
        <p:txBody>
          <a:bodyPr wrap="square" lIns="0" tIns="0" rIns="0" bIns="0" rtlCol="0" anchor="ctr"/>
          <a:lstStyle/>
          <a:p>
            <a:pPr indent="0" marL="0">
              <a:buNone/>
            </a:pPr>
            <a:r>
              <a:rPr lang="en-US" sz="1900" b="1" dirty="0">
                <a:solidFill>
                  <a:srgbClr val="0E1426"/>
                </a:solidFill>
                <a:latin typeface="Cambria" pitchFamily="34" charset="0"/>
                <a:ea typeface="Cambria" pitchFamily="34" charset="-122"/>
                <a:cs typeface="Cambria" pitchFamily="34" charset="-120"/>
              </a:rPr>
              <a:t>Temel</a:t>
            </a:r>
            <a:endParaRPr lang="en-US" sz="1900" dirty="0"/>
          </a:p>
        </p:txBody>
      </p:sp>
      <p:sp>
        <p:nvSpPr>
          <p:cNvPr id="11" name="Text 9"/>
          <p:cNvSpPr txBox="1"/>
          <p:nvPr/>
        </p:nvSpPr>
        <p:spPr>
          <a:xfrm>
            <a:off x="859536" y="2487168"/>
            <a:ext cx="2138096" cy="868680"/>
          </a:xfrm>
          <a:prstGeom prst="rect">
            <a:avLst/>
          </a:prstGeom>
          <a:noFill/>
          <a:ln/>
        </p:spPr>
        <p:txBody>
          <a:bodyPr wrap="square" lIns="0" tIns="0" rIns="0" bIns="0" rtlCol="0" anchor="t"/>
          <a:lstStyle/>
          <a:p>
            <a:pPr indent="0" marL="0">
              <a:lnSpc>
                <a:spcPct val="110000"/>
              </a:lnSpc>
              <a:buNone/>
            </a:pPr>
            <a:r>
              <a:rPr lang="en-US" sz="1000" dirty="0">
                <a:solidFill>
                  <a:srgbClr val="4A5470"/>
                </a:solidFill>
                <a:latin typeface="Calibri" pitchFamily="34" charset="0"/>
                <a:ea typeface="Calibri" pitchFamily="34" charset="-122"/>
                <a:cs typeface="Calibri" pitchFamily="34" charset="-120"/>
              </a:rPr>
              <a:t>Önce sezgi: hava direncini yağmurda, bisiklette ve paraşütte gözle; neden bir hız sınırı olduğunu kuvvetlerle anla. Bu basamakta hesap yok denecek kadar az.</a:t>
            </a:r>
            <a:endParaRPr lang="en-US" sz="1000" dirty="0"/>
          </a:p>
        </p:txBody>
      </p:sp>
      <p:sp>
        <p:nvSpPr>
          <p:cNvPr id="12" name="Shape 10"/>
          <p:cNvSpPr/>
          <p:nvPr/>
        </p:nvSpPr>
        <p:spPr>
          <a:xfrm>
            <a:off x="859536" y="3429000"/>
            <a:ext cx="2138096" cy="0"/>
          </a:xfrm>
          <a:prstGeom prst="line">
            <a:avLst/>
          </a:prstGeom>
          <a:noFill/>
          <a:ln w="9525">
            <a:solidFill>
              <a:srgbClr val="E1E5EE"/>
            </a:solidFill>
            <a:prstDash val="dash"/>
          </a:ln>
        </p:spPr>
      </p:sp>
      <p:sp>
        <p:nvSpPr>
          <p:cNvPr id="13" name="Text 11"/>
          <p:cNvSpPr txBox="1"/>
          <p:nvPr/>
        </p:nvSpPr>
        <p:spPr>
          <a:xfrm>
            <a:off x="859536" y="3566160"/>
            <a:ext cx="384048" cy="603504"/>
          </a:xfrm>
          <a:prstGeom prst="rect">
            <a:avLst/>
          </a:prstGeom>
          <a:noFill/>
          <a:ln/>
        </p:spPr>
        <p:txBody>
          <a:bodyPr wrap="square" lIns="0" tIns="0" rIns="0" bIns="0" rtlCol="0" anchor="t"/>
          <a:lstStyle/>
          <a:p>
            <a:pPr indent="0" marL="0">
              <a:buNone/>
            </a:pPr>
            <a:r>
              <a:rPr lang="en-US" sz="1100" b="1" dirty="0">
                <a:solidFill>
                  <a:srgbClr val="3C8C21"/>
                </a:solidFill>
                <a:latin typeface="Calibri" pitchFamily="34" charset="0"/>
                <a:ea typeface="Calibri" pitchFamily="34" charset="-122"/>
                <a:cs typeface="Calibri" pitchFamily="34" charset="-120"/>
              </a:rPr>
              <a:t>01</a:t>
            </a:r>
            <a:endParaRPr lang="en-US" sz="1100" dirty="0"/>
          </a:p>
        </p:txBody>
      </p:sp>
      <p:sp>
        <p:nvSpPr>
          <p:cNvPr id="14" name="Text 12"/>
          <p:cNvSpPr txBox="1"/>
          <p:nvPr/>
        </p:nvSpPr>
        <p:spPr>
          <a:xfrm>
            <a:off x="1243584" y="3566160"/>
            <a:ext cx="1754048" cy="603504"/>
          </a:xfrm>
          <a:prstGeom prst="rect">
            <a:avLst/>
          </a:prstGeom>
          <a:noFill/>
          <a:ln/>
        </p:spPr>
        <p:txBody>
          <a:bodyPr wrap="square" lIns="0" tIns="0" rIns="0" bIns="0" rtlCol="0" anchor="t"/>
          <a:lstStyle/>
          <a:p>
            <a:pPr indent="0" marL="0">
              <a:lnSpc>
                <a:spcPct val="105000"/>
              </a:lnSpc>
              <a:buNone/>
            </a:pPr>
            <a:r>
              <a:rPr lang="en-US" sz="1200" b="1" dirty="0">
                <a:solidFill>
                  <a:srgbClr val="0E1426"/>
                </a:solidFill>
                <a:latin typeface="Calibri" pitchFamily="34" charset="0"/>
                <a:ea typeface="Calibri" pitchFamily="34" charset="-122"/>
                <a:cs typeface="Calibri" pitchFamily="34" charset="-120"/>
              </a:rPr>
              <a:t>Önce gözlemle: yağmur neden canımızı yakmaz?</a:t>
            </a:r>
            <a:endParaRPr lang="en-US" sz="1200" dirty="0"/>
          </a:p>
        </p:txBody>
      </p:sp>
      <p:sp>
        <p:nvSpPr>
          <p:cNvPr id="15" name="Text 13"/>
          <p:cNvSpPr txBox="1"/>
          <p:nvPr/>
        </p:nvSpPr>
        <p:spPr>
          <a:xfrm>
            <a:off x="859536" y="4224528"/>
            <a:ext cx="384048" cy="603504"/>
          </a:xfrm>
          <a:prstGeom prst="rect">
            <a:avLst/>
          </a:prstGeom>
          <a:noFill/>
          <a:ln/>
        </p:spPr>
        <p:txBody>
          <a:bodyPr wrap="square" lIns="0" tIns="0" rIns="0" bIns="0" rtlCol="0" anchor="t"/>
          <a:lstStyle/>
          <a:p>
            <a:pPr indent="0" marL="0">
              <a:buNone/>
            </a:pPr>
            <a:r>
              <a:rPr lang="en-US" sz="1100" b="1" dirty="0">
                <a:solidFill>
                  <a:srgbClr val="3C8C21"/>
                </a:solidFill>
                <a:latin typeface="Calibri" pitchFamily="34" charset="0"/>
                <a:ea typeface="Calibri" pitchFamily="34" charset="-122"/>
                <a:cs typeface="Calibri" pitchFamily="34" charset="-120"/>
              </a:rPr>
              <a:t>02</a:t>
            </a:r>
            <a:endParaRPr lang="en-US" sz="1100" dirty="0"/>
          </a:p>
        </p:txBody>
      </p:sp>
      <p:sp>
        <p:nvSpPr>
          <p:cNvPr id="16" name="Text 14"/>
          <p:cNvSpPr txBox="1"/>
          <p:nvPr/>
        </p:nvSpPr>
        <p:spPr>
          <a:xfrm>
            <a:off x="1243584" y="4224528"/>
            <a:ext cx="1754048" cy="60350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Hava direnci: hıza bağlı bir kuvvet</a:t>
            </a:r>
            <a:endParaRPr lang="en-US" sz="1250" dirty="0"/>
          </a:p>
        </p:txBody>
      </p:sp>
      <p:sp>
        <p:nvSpPr>
          <p:cNvPr id="17" name="Text 15"/>
          <p:cNvSpPr txBox="1"/>
          <p:nvPr/>
        </p:nvSpPr>
        <p:spPr>
          <a:xfrm>
            <a:off x="859536" y="4882896"/>
            <a:ext cx="384048" cy="603504"/>
          </a:xfrm>
          <a:prstGeom prst="rect">
            <a:avLst/>
          </a:prstGeom>
          <a:noFill/>
          <a:ln/>
        </p:spPr>
        <p:txBody>
          <a:bodyPr wrap="square" lIns="0" tIns="0" rIns="0" bIns="0" rtlCol="0" anchor="t"/>
          <a:lstStyle/>
          <a:p>
            <a:pPr indent="0" marL="0">
              <a:buNone/>
            </a:pPr>
            <a:r>
              <a:rPr lang="en-US" sz="1100" b="1" dirty="0">
                <a:solidFill>
                  <a:srgbClr val="3C8C21"/>
                </a:solidFill>
                <a:latin typeface="Calibri" pitchFamily="34" charset="0"/>
                <a:ea typeface="Calibri" pitchFamily="34" charset="-122"/>
                <a:cs typeface="Calibri" pitchFamily="34" charset="-120"/>
              </a:rPr>
              <a:t>03</a:t>
            </a:r>
            <a:endParaRPr lang="en-US" sz="1100" dirty="0"/>
          </a:p>
        </p:txBody>
      </p:sp>
      <p:sp>
        <p:nvSpPr>
          <p:cNvPr id="18" name="Text 16"/>
          <p:cNvSpPr txBox="1"/>
          <p:nvPr/>
        </p:nvSpPr>
        <p:spPr>
          <a:xfrm>
            <a:off x="1243584" y="4882896"/>
            <a:ext cx="1754048" cy="60350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Neden bir hız sınırı var?</a:t>
            </a:r>
            <a:endParaRPr lang="en-US" sz="1250" dirty="0"/>
          </a:p>
        </p:txBody>
      </p:sp>
      <p:sp>
        <p:nvSpPr>
          <p:cNvPr id="19" name="Shape 17"/>
          <p:cNvSpPr/>
          <p:nvPr/>
        </p:nvSpPr>
        <p:spPr>
          <a:xfrm>
            <a:off x="3418256" y="1645920"/>
            <a:ext cx="2577008" cy="4498848"/>
          </a:xfrm>
          <a:prstGeom prst="roundRect">
            <a:avLst>
              <a:gd name="adj" fmla="val 5677"/>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0" name="Shape 18"/>
          <p:cNvSpPr/>
          <p:nvPr/>
        </p:nvSpPr>
        <p:spPr>
          <a:xfrm>
            <a:off x="3601136" y="1645920"/>
            <a:ext cx="2211248" cy="64008"/>
          </a:xfrm>
          <a:prstGeom prst="rect">
            <a:avLst/>
          </a:prstGeom>
          <a:solidFill>
            <a:srgbClr val="2957D4"/>
          </a:solidFill>
          <a:ln/>
        </p:spPr>
      </p:sp>
      <p:sp>
        <p:nvSpPr>
          <p:cNvPr id="21" name="Shape 19"/>
          <p:cNvSpPr/>
          <p:nvPr/>
        </p:nvSpPr>
        <p:spPr>
          <a:xfrm>
            <a:off x="3637712" y="1920240"/>
            <a:ext cx="420624" cy="420624"/>
          </a:xfrm>
          <a:prstGeom prst="roundRect">
            <a:avLst>
              <a:gd name="adj" fmla="val 26000"/>
            </a:avLst>
          </a:prstGeom>
          <a:solidFill>
            <a:srgbClr val="2957D4"/>
          </a:solidFill>
          <a:ln/>
        </p:spPr>
      </p:sp>
      <p:sp>
        <p:nvSpPr>
          <p:cNvPr id="22" name="Text 20"/>
          <p:cNvSpPr txBox="1"/>
          <p:nvPr/>
        </p:nvSpPr>
        <p:spPr>
          <a:xfrm>
            <a:off x="3637712" y="192024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3" name="Text 21"/>
          <p:cNvSpPr txBox="1"/>
          <p:nvPr/>
        </p:nvSpPr>
        <p:spPr>
          <a:xfrm>
            <a:off x="4186352" y="1901952"/>
            <a:ext cx="1662608" cy="457200"/>
          </a:xfrm>
          <a:prstGeom prst="rect">
            <a:avLst/>
          </a:prstGeom>
          <a:noFill/>
          <a:ln/>
        </p:spPr>
        <p:txBody>
          <a:bodyPr wrap="square" lIns="0" tIns="0" rIns="0" bIns="0" rtlCol="0" anchor="ctr"/>
          <a:lstStyle/>
          <a:p>
            <a:pPr indent="0" marL="0">
              <a:buNone/>
            </a:pPr>
            <a:r>
              <a:rPr lang="en-US" sz="1900" b="1" dirty="0">
                <a:solidFill>
                  <a:srgbClr val="0E1426"/>
                </a:solidFill>
                <a:latin typeface="Cambria" pitchFamily="34" charset="0"/>
                <a:ea typeface="Cambria" pitchFamily="34" charset="-122"/>
                <a:cs typeface="Cambria" pitchFamily="34" charset="-120"/>
              </a:rPr>
              <a:t>Orta</a:t>
            </a:r>
            <a:endParaRPr lang="en-US" sz="1900" dirty="0"/>
          </a:p>
        </p:txBody>
      </p:sp>
      <p:sp>
        <p:nvSpPr>
          <p:cNvPr id="24" name="Text 22"/>
          <p:cNvSpPr txBox="1"/>
          <p:nvPr/>
        </p:nvSpPr>
        <p:spPr>
          <a:xfrm>
            <a:off x="3637712" y="2487168"/>
            <a:ext cx="2138096" cy="868680"/>
          </a:xfrm>
          <a:prstGeom prst="rect">
            <a:avLst/>
          </a:prstGeom>
          <a:noFill/>
          <a:ln/>
        </p:spPr>
        <p:txBody>
          <a:bodyPr wrap="square" lIns="0" tIns="0" rIns="0" bIns="0" rtlCol="0" anchor="t"/>
          <a:lstStyle/>
          <a:p>
            <a:pPr indent="0" marL="0">
              <a:lnSpc>
                <a:spcPct val="110000"/>
              </a:lnSpc>
              <a:buNone/>
            </a:pPr>
            <a:r>
              <a:rPr lang="en-US" sz="1100" dirty="0">
                <a:solidFill>
                  <a:srgbClr val="4A5470"/>
                </a:solidFill>
                <a:latin typeface="Calibri" pitchFamily="34" charset="0"/>
                <a:ea typeface="Calibri" pitchFamily="34" charset="-122"/>
                <a:cs typeface="Calibri" pitchFamily="34" charset="-120"/>
              </a:rPr>
              <a:t>Bağıntılar: direnci ve limit hızı formüle dök, doyan v–t eğrisini oku, gerçek cisimlerin sayılarıyla karşılaştır.</a:t>
            </a:r>
            <a:endParaRPr lang="en-US" sz="1100" dirty="0"/>
          </a:p>
        </p:txBody>
      </p:sp>
      <p:sp>
        <p:nvSpPr>
          <p:cNvPr id="25" name="Shape 23"/>
          <p:cNvSpPr/>
          <p:nvPr/>
        </p:nvSpPr>
        <p:spPr>
          <a:xfrm>
            <a:off x="3637712" y="3429000"/>
            <a:ext cx="2138096" cy="0"/>
          </a:xfrm>
          <a:prstGeom prst="line">
            <a:avLst/>
          </a:prstGeom>
          <a:noFill/>
          <a:ln w="9525">
            <a:solidFill>
              <a:srgbClr val="E1E5EE"/>
            </a:solidFill>
            <a:prstDash val="dash"/>
          </a:ln>
        </p:spPr>
      </p:sp>
      <p:sp>
        <p:nvSpPr>
          <p:cNvPr id="26" name="Text 24"/>
          <p:cNvSpPr txBox="1"/>
          <p:nvPr/>
        </p:nvSpPr>
        <p:spPr>
          <a:xfrm>
            <a:off x="3637712" y="3566160"/>
            <a:ext cx="384048" cy="578358"/>
          </a:xfrm>
          <a:prstGeom prst="rect">
            <a:avLst/>
          </a:prstGeom>
          <a:noFill/>
          <a:ln/>
        </p:spPr>
        <p:txBody>
          <a:bodyPr wrap="square" lIns="0" tIns="0" rIns="0" bIns="0" rtlCol="0" anchor="t"/>
          <a:lstStyle/>
          <a:p>
            <a:pPr indent="0" marL="0">
              <a:buNone/>
            </a:pPr>
            <a:r>
              <a:rPr lang="en-US" sz="1100" b="1" dirty="0">
                <a:solidFill>
                  <a:srgbClr val="2957D4"/>
                </a:solidFill>
                <a:latin typeface="Calibri" pitchFamily="34" charset="0"/>
                <a:ea typeface="Calibri" pitchFamily="34" charset="-122"/>
                <a:cs typeface="Calibri" pitchFamily="34" charset="-120"/>
              </a:rPr>
              <a:t>04</a:t>
            </a:r>
            <a:endParaRPr lang="en-US" sz="1100" dirty="0"/>
          </a:p>
        </p:txBody>
      </p:sp>
      <p:sp>
        <p:nvSpPr>
          <p:cNvPr id="27" name="Text 25"/>
          <p:cNvSpPr txBox="1"/>
          <p:nvPr/>
        </p:nvSpPr>
        <p:spPr>
          <a:xfrm>
            <a:off x="4021760" y="3566160"/>
            <a:ext cx="1754048" cy="578358"/>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Hava direncinin bağıntısı: F = k·v²</a:t>
            </a:r>
            <a:endParaRPr lang="en-US" sz="1250" dirty="0"/>
          </a:p>
        </p:txBody>
      </p:sp>
      <p:sp>
        <p:nvSpPr>
          <p:cNvPr id="28" name="Text 26"/>
          <p:cNvSpPr txBox="1"/>
          <p:nvPr/>
        </p:nvSpPr>
        <p:spPr>
          <a:xfrm>
            <a:off x="3637712" y="4199382"/>
            <a:ext cx="384048" cy="578358"/>
          </a:xfrm>
          <a:prstGeom prst="rect">
            <a:avLst/>
          </a:prstGeom>
          <a:noFill/>
          <a:ln/>
        </p:spPr>
        <p:txBody>
          <a:bodyPr wrap="square" lIns="0" tIns="0" rIns="0" bIns="0" rtlCol="0" anchor="t"/>
          <a:lstStyle/>
          <a:p>
            <a:pPr indent="0" marL="0">
              <a:buNone/>
            </a:pPr>
            <a:r>
              <a:rPr lang="en-US" sz="1100" b="1" dirty="0">
                <a:solidFill>
                  <a:srgbClr val="2957D4"/>
                </a:solidFill>
                <a:latin typeface="Calibri" pitchFamily="34" charset="0"/>
                <a:ea typeface="Calibri" pitchFamily="34" charset="-122"/>
                <a:cs typeface="Calibri" pitchFamily="34" charset="-120"/>
              </a:rPr>
              <a:t>05</a:t>
            </a:r>
            <a:endParaRPr lang="en-US" sz="1100" dirty="0"/>
          </a:p>
        </p:txBody>
      </p:sp>
      <p:sp>
        <p:nvSpPr>
          <p:cNvPr id="29" name="Text 27"/>
          <p:cNvSpPr txBox="1"/>
          <p:nvPr/>
        </p:nvSpPr>
        <p:spPr>
          <a:xfrm>
            <a:off x="4021760" y="4199382"/>
            <a:ext cx="1754048" cy="578358"/>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Limit hız bağıntısı</a:t>
            </a:r>
            <a:endParaRPr lang="en-US" sz="1250" dirty="0"/>
          </a:p>
        </p:txBody>
      </p:sp>
      <p:sp>
        <p:nvSpPr>
          <p:cNvPr id="30" name="Text 28"/>
          <p:cNvSpPr txBox="1"/>
          <p:nvPr/>
        </p:nvSpPr>
        <p:spPr>
          <a:xfrm>
            <a:off x="3637712" y="4832604"/>
            <a:ext cx="384048" cy="578358"/>
          </a:xfrm>
          <a:prstGeom prst="rect">
            <a:avLst/>
          </a:prstGeom>
          <a:noFill/>
          <a:ln/>
        </p:spPr>
        <p:txBody>
          <a:bodyPr wrap="square" lIns="0" tIns="0" rIns="0" bIns="0" rtlCol="0" anchor="t"/>
          <a:lstStyle/>
          <a:p>
            <a:pPr indent="0" marL="0">
              <a:buNone/>
            </a:pPr>
            <a:r>
              <a:rPr lang="en-US" sz="1100" b="1" dirty="0">
                <a:solidFill>
                  <a:srgbClr val="2957D4"/>
                </a:solidFill>
                <a:latin typeface="Calibri" pitchFamily="34" charset="0"/>
                <a:ea typeface="Calibri" pitchFamily="34" charset="-122"/>
                <a:cs typeface="Calibri" pitchFamily="34" charset="-120"/>
              </a:rPr>
              <a:t>06</a:t>
            </a:r>
            <a:endParaRPr lang="en-US" sz="1100" dirty="0"/>
          </a:p>
        </p:txBody>
      </p:sp>
      <p:sp>
        <p:nvSpPr>
          <p:cNvPr id="31" name="Text 29"/>
          <p:cNvSpPr txBox="1"/>
          <p:nvPr/>
        </p:nvSpPr>
        <p:spPr>
          <a:xfrm>
            <a:off x="4021760" y="4832604"/>
            <a:ext cx="1754048" cy="578358"/>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v – t grafiği: doyan eğri</a:t>
            </a:r>
            <a:endParaRPr lang="en-US" sz="1250" dirty="0"/>
          </a:p>
        </p:txBody>
      </p:sp>
      <p:sp>
        <p:nvSpPr>
          <p:cNvPr id="32" name="Text 30"/>
          <p:cNvSpPr txBox="1"/>
          <p:nvPr/>
        </p:nvSpPr>
        <p:spPr>
          <a:xfrm>
            <a:off x="3637712" y="5465826"/>
            <a:ext cx="384048" cy="578358"/>
          </a:xfrm>
          <a:prstGeom prst="rect">
            <a:avLst/>
          </a:prstGeom>
          <a:noFill/>
          <a:ln/>
        </p:spPr>
        <p:txBody>
          <a:bodyPr wrap="square" lIns="0" tIns="0" rIns="0" bIns="0" rtlCol="0" anchor="t"/>
          <a:lstStyle/>
          <a:p>
            <a:pPr indent="0" marL="0">
              <a:buNone/>
            </a:pPr>
            <a:r>
              <a:rPr lang="en-US" sz="1100" b="1" dirty="0">
                <a:solidFill>
                  <a:srgbClr val="2957D4"/>
                </a:solidFill>
                <a:latin typeface="Calibri" pitchFamily="34" charset="0"/>
                <a:ea typeface="Calibri" pitchFamily="34" charset="-122"/>
                <a:cs typeface="Calibri" pitchFamily="34" charset="-120"/>
              </a:rPr>
              <a:t>07</a:t>
            </a:r>
            <a:endParaRPr lang="en-US" sz="1100" dirty="0"/>
          </a:p>
        </p:txBody>
      </p:sp>
      <p:sp>
        <p:nvSpPr>
          <p:cNvPr id="33" name="Text 31"/>
          <p:cNvSpPr txBox="1"/>
          <p:nvPr/>
        </p:nvSpPr>
        <p:spPr>
          <a:xfrm>
            <a:off x="4021760" y="5465826"/>
            <a:ext cx="1754048" cy="578358"/>
          </a:xfrm>
          <a:prstGeom prst="rect">
            <a:avLst/>
          </a:prstGeom>
          <a:noFill/>
          <a:ln/>
        </p:spPr>
        <p:txBody>
          <a:bodyPr wrap="square" lIns="0" tIns="0" rIns="0" bIns="0" rtlCol="0" anchor="t"/>
          <a:lstStyle/>
          <a:p>
            <a:pPr indent="0" marL="0">
              <a:lnSpc>
                <a:spcPct val="105000"/>
              </a:lnSpc>
              <a:buNone/>
            </a:pPr>
            <a:r>
              <a:rPr lang="en-US" sz="1150" b="1" dirty="0">
                <a:solidFill>
                  <a:srgbClr val="0E1426"/>
                </a:solidFill>
                <a:latin typeface="Calibri" pitchFamily="34" charset="0"/>
                <a:ea typeface="Calibri" pitchFamily="34" charset="-122"/>
                <a:cs typeface="Calibri" pitchFamily="34" charset="-120"/>
              </a:rPr>
              <a:t>Sayılarla hisset: kim, hangi hızla, ne kadar sürede?</a:t>
            </a:r>
            <a:endParaRPr lang="en-US" sz="1150" dirty="0"/>
          </a:p>
        </p:txBody>
      </p:sp>
      <p:sp>
        <p:nvSpPr>
          <p:cNvPr id="34" name="Shape 32"/>
          <p:cNvSpPr/>
          <p:nvPr/>
        </p:nvSpPr>
        <p:spPr>
          <a:xfrm>
            <a:off x="6196432" y="1645920"/>
            <a:ext cx="2577008" cy="4498848"/>
          </a:xfrm>
          <a:prstGeom prst="roundRect">
            <a:avLst>
              <a:gd name="adj" fmla="val 5677"/>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35" name="Shape 33"/>
          <p:cNvSpPr/>
          <p:nvPr/>
        </p:nvSpPr>
        <p:spPr>
          <a:xfrm>
            <a:off x="6379312" y="1645920"/>
            <a:ext cx="2211248" cy="64008"/>
          </a:xfrm>
          <a:prstGeom prst="rect">
            <a:avLst/>
          </a:prstGeom>
          <a:solidFill>
            <a:srgbClr val="5F4BD8"/>
          </a:solidFill>
          <a:ln/>
        </p:spPr>
      </p:sp>
      <p:sp>
        <p:nvSpPr>
          <p:cNvPr id="36" name="Shape 34"/>
          <p:cNvSpPr/>
          <p:nvPr/>
        </p:nvSpPr>
        <p:spPr>
          <a:xfrm>
            <a:off x="6415888" y="1920240"/>
            <a:ext cx="420624" cy="420624"/>
          </a:xfrm>
          <a:prstGeom prst="roundRect">
            <a:avLst>
              <a:gd name="adj" fmla="val 26000"/>
            </a:avLst>
          </a:prstGeom>
          <a:solidFill>
            <a:srgbClr val="5F4BD8"/>
          </a:solidFill>
          <a:ln/>
        </p:spPr>
      </p:sp>
      <p:sp>
        <p:nvSpPr>
          <p:cNvPr id="37" name="Text 35"/>
          <p:cNvSpPr txBox="1"/>
          <p:nvPr/>
        </p:nvSpPr>
        <p:spPr>
          <a:xfrm>
            <a:off x="6415888" y="192024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8" name="Text 36"/>
          <p:cNvSpPr txBox="1"/>
          <p:nvPr/>
        </p:nvSpPr>
        <p:spPr>
          <a:xfrm>
            <a:off x="6964528" y="1901952"/>
            <a:ext cx="1662608" cy="457200"/>
          </a:xfrm>
          <a:prstGeom prst="rect">
            <a:avLst/>
          </a:prstGeom>
          <a:noFill/>
          <a:ln/>
        </p:spPr>
        <p:txBody>
          <a:bodyPr wrap="square" lIns="0" tIns="0" rIns="0" bIns="0" rtlCol="0" anchor="ctr"/>
          <a:lstStyle/>
          <a:p>
            <a:pPr indent="0" marL="0">
              <a:buNone/>
            </a:pPr>
            <a:r>
              <a:rPr lang="en-US" sz="1900" b="1" dirty="0">
                <a:solidFill>
                  <a:srgbClr val="0E1426"/>
                </a:solidFill>
                <a:latin typeface="Cambria" pitchFamily="34" charset="0"/>
                <a:ea typeface="Cambria" pitchFamily="34" charset="-122"/>
                <a:cs typeface="Cambria" pitchFamily="34" charset="-120"/>
              </a:rPr>
              <a:t>İleri</a:t>
            </a:r>
            <a:endParaRPr lang="en-US" sz="1900" dirty="0"/>
          </a:p>
        </p:txBody>
      </p:sp>
      <p:sp>
        <p:nvSpPr>
          <p:cNvPr id="39" name="Text 37"/>
          <p:cNvSpPr txBox="1"/>
          <p:nvPr/>
        </p:nvSpPr>
        <p:spPr>
          <a:xfrm>
            <a:off x="6415888" y="2487168"/>
            <a:ext cx="2138096" cy="868680"/>
          </a:xfrm>
          <a:prstGeom prst="rect">
            <a:avLst/>
          </a:prstGeom>
          <a:noFill/>
          <a:ln/>
        </p:spPr>
        <p:txBody>
          <a:bodyPr wrap="square" lIns="0" tIns="0" rIns="0" bIns="0" rtlCol="0" anchor="t"/>
          <a:lstStyle/>
          <a:p>
            <a:pPr indent="0" marL="0">
              <a:lnSpc>
                <a:spcPct val="110000"/>
              </a:lnSpc>
              <a:buNone/>
            </a:pPr>
            <a:r>
              <a:rPr lang="en-US" sz="1050" dirty="0">
                <a:solidFill>
                  <a:srgbClr val="4A5470"/>
                </a:solidFill>
                <a:latin typeface="Calibri" pitchFamily="34" charset="0"/>
                <a:ea typeface="Calibri" pitchFamily="34" charset="-122"/>
                <a:cs typeface="Calibri" pitchFamily="34" charset="-120"/>
              </a:rPr>
              <a:t>Derinleşme: serbest düşme modeli nerede yetmez, paraşüt nasıl çalışır ve limit hız gerçek hayatta nerede karşımıza çıkar?</a:t>
            </a:r>
            <a:endParaRPr lang="en-US" sz="1050" dirty="0"/>
          </a:p>
        </p:txBody>
      </p:sp>
      <p:sp>
        <p:nvSpPr>
          <p:cNvPr id="40" name="Shape 38"/>
          <p:cNvSpPr/>
          <p:nvPr/>
        </p:nvSpPr>
        <p:spPr>
          <a:xfrm>
            <a:off x="6415888" y="3429000"/>
            <a:ext cx="2138096" cy="0"/>
          </a:xfrm>
          <a:prstGeom prst="line">
            <a:avLst/>
          </a:prstGeom>
          <a:noFill/>
          <a:ln w="9525">
            <a:solidFill>
              <a:srgbClr val="E1E5EE"/>
            </a:solidFill>
            <a:prstDash val="dash"/>
          </a:ln>
        </p:spPr>
      </p:sp>
      <p:sp>
        <p:nvSpPr>
          <p:cNvPr id="41" name="Text 39"/>
          <p:cNvSpPr txBox="1"/>
          <p:nvPr/>
        </p:nvSpPr>
        <p:spPr>
          <a:xfrm>
            <a:off x="6415888" y="3566160"/>
            <a:ext cx="384048" cy="603504"/>
          </a:xfrm>
          <a:prstGeom prst="rect">
            <a:avLst/>
          </a:prstGeom>
          <a:noFill/>
          <a:ln/>
        </p:spPr>
        <p:txBody>
          <a:bodyPr wrap="square" lIns="0" tIns="0" rIns="0" bIns="0" rtlCol="0" anchor="t"/>
          <a:lstStyle/>
          <a:p>
            <a:pPr indent="0" marL="0">
              <a:buNone/>
            </a:pPr>
            <a:r>
              <a:rPr lang="en-US" sz="1100" b="1" dirty="0">
                <a:solidFill>
                  <a:srgbClr val="5F4BD8"/>
                </a:solidFill>
                <a:latin typeface="Calibri" pitchFamily="34" charset="0"/>
                <a:ea typeface="Calibri" pitchFamily="34" charset="-122"/>
                <a:cs typeface="Calibri" pitchFamily="34" charset="-120"/>
              </a:rPr>
              <a:t>08</a:t>
            </a:r>
            <a:endParaRPr lang="en-US" sz="1100" dirty="0"/>
          </a:p>
        </p:txBody>
      </p:sp>
      <p:sp>
        <p:nvSpPr>
          <p:cNvPr id="42" name="Text 40"/>
          <p:cNvSpPr txBox="1"/>
          <p:nvPr/>
        </p:nvSpPr>
        <p:spPr>
          <a:xfrm>
            <a:off x="6799936" y="3566160"/>
            <a:ext cx="1754048" cy="603504"/>
          </a:xfrm>
          <a:prstGeom prst="rect">
            <a:avLst/>
          </a:prstGeom>
          <a:noFill/>
          <a:ln/>
        </p:spPr>
        <p:txBody>
          <a:bodyPr wrap="square" lIns="0" tIns="0" rIns="0" bIns="0" rtlCol="0" anchor="t"/>
          <a:lstStyle/>
          <a:p>
            <a:pPr indent="0" marL="0">
              <a:lnSpc>
                <a:spcPct val="105000"/>
              </a:lnSpc>
              <a:buNone/>
            </a:pPr>
            <a:r>
              <a:rPr lang="en-US" sz="1200" b="1" dirty="0">
                <a:solidFill>
                  <a:srgbClr val="0E1426"/>
                </a:solidFill>
                <a:latin typeface="Calibri" pitchFamily="34" charset="0"/>
                <a:ea typeface="Calibri" pitchFamily="34" charset="-122"/>
                <a:cs typeface="Calibri" pitchFamily="34" charset="-120"/>
              </a:rPr>
              <a:t>Serbest düşmeden farkı: model ne zaman yeter?</a:t>
            </a:r>
            <a:endParaRPr lang="en-US" sz="1200" dirty="0"/>
          </a:p>
        </p:txBody>
      </p:sp>
      <p:sp>
        <p:nvSpPr>
          <p:cNvPr id="43" name="Text 41"/>
          <p:cNvSpPr txBox="1"/>
          <p:nvPr/>
        </p:nvSpPr>
        <p:spPr>
          <a:xfrm>
            <a:off x="6415888" y="4224528"/>
            <a:ext cx="384048" cy="603504"/>
          </a:xfrm>
          <a:prstGeom prst="rect">
            <a:avLst/>
          </a:prstGeom>
          <a:noFill/>
          <a:ln/>
        </p:spPr>
        <p:txBody>
          <a:bodyPr wrap="square" lIns="0" tIns="0" rIns="0" bIns="0" rtlCol="0" anchor="t"/>
          <a:lstStyle/>
          <a:p>
            <a:pPr indent="0" marL="0">
              <a:buNone/>
            </a:pPr>
            <a:r>
              <a:rPr lang="en-US" sz="1100" b="1" dirty="0">
                <a:solidFill>
                  <a:srgbClr val="5F4BD8"/>
                </a:solidFill>
                <a:latin typeface="Calibri" pitchFamily="34" charset="0"/>
                <a:ea typeface="Calibri" pitchFamily="34" charset="-122"/>
                <a:cs typeface="Calibri" pitchFamily="34" charset="-120"/>
              </a:rPr>
              <a:t>09</a:t>
            </a:r>
            <a:endParaRPr lang="en-US" sz="1100" dirty="0"/>
          </a:p>
        </p:txBody>
      </p:sp>
      <p:sp>
        <p:nvSpPr>
          <p:cNvPr id="44" name="Text 42"/>
          <p:cNvSpPr txBox="1"/>
          <p:nvPr/>
        </p:nvSpPr>
        <p:spPr>
          <a:xfrm>
            <a:off x="6799936" y="4224528"/>
            <a:ext cx="1754048" cy="60350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Paraşüt ve ölçek etkisi</a:t>
            </a:r>
            <a:endParaRPr lang="en-US" sz="1250" dirty="0"/>
          </a:p>
        </p:txBody>
      </p:sp>
      <p:sp>
        <p:nvSpPr>
          <p:cNvPr id="45" name="Text 43"/>
          <p:cNvSpPr txBox="1"/>
          <p:nvPr/>
        </p:nvSpPr>
        <p:spPr>
          <a:xfrm>
            <a:off x="6415888" y="4882896"/>
            <a:ext cx="384048" cy="603504"/>
          </a:xfrm>
          <a:prstGeom prst="rect">
            <a:avLst/>
          </a:prstGeom>
          <a:noFill/>
          <a:ln/>
        </p:spPr>
        <p:txBody>
          <a:bodyPr wrap="square" lIns="0" tIns="0" rIns="0" bIns="0" rtlCol="0" anchor="t"/>
          <a:lstStyle/>
          <a:p>
            <a:pPr indent="0" marL="0">
              <a:buNone/>
            </a:pPr>
            <a:r>
              <a:rPr lang="en-US" sz="1100" b="1" dirty="0">
                <a:solidFill>
                  <a:srgbClr val="5F4BD8"/>
                </a:solidFill>
                <a:latin typeface="Calibri" pitchFamily="34" charset="0"/>
                <a:ea typeface="Calibri" pitchFamily="34" charset="-122"/>
                <a:cs typeface="Calibri" pitchFamily="34" charset="-120"/>
              </a:rPr>
              <a:t>10</a:t>
            </a:r>
            <a:endParaRPr lang="en-US" sz="1100" dirty="0"/>
          </a:p>
        </p:txBody>
      </p:sp>
      <p:sp>
        <p:nvSpPr>
          <p:cNvPr id="46" name="Text 44"/>
          <p:cNvSpPr txBox="1"/>
          <p:nvPr/>
        </p:nvSpPr>
        <p:spPr>
          <a:xfrm>
            <a:off x="6799936" y="4882896"/>
            <a:ext cx="1754048" cy="60350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Limit hız gerçek dünyada</a:t>
            </a:r>
            <a:endParaRPr lang="en-US" sz="1250" dirty="0"/>
          </a:p>
        </p:txBody>
      </p:sp>
      <p:sp>
        <p:nvSpPr>
          <p:cNvPr id="47" name="Shape 45"/>
          <p:cNvSpPr/>
          <p:nvPr/>
        </p:nvSpPr>
        <p:spPr>
          <a:xfrm>
            <a:off x="8974607" y="1645920"/>
            <a:ext cx="2577008" cy="4498848"/>
          </a:xfrm>
          <a:prstGeom prst="roundRect">
            <a:avLst>
              <a:gd name="adj" fmla="val 5677"/>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48" name="Shape 46"/>
          <p:cNvSpPr/>
          <p:nvPr/>
        </p:nvSpPr>
        <p:spPr>
          <a:xfrm>
            <a:off x="9157487" y="1645920"/>
            <a:ext cx="2211248" cy="64008"/>
          </a:xfrm>
          <a:prstGeom prst="rect">
            <a:avLst/>
          </a:prstGeom>
          <a:solidFill>
            <a:srgbClr val="A56209"/>
          </a:solidFill>
          <a:ln/>
        </p:spPr>
      </p:sp>
      <p:sp>
        <p:nvSpPr>
          <p:cNvPr id="49" name="Shape 47"/>
          <p:cNvSpPr/>
          <p:nvPr/>
        </p:nvSpPr>
        <p:spPr>
          <a:xfrm>
            <a:off x="9194063" y="1920240"/>
            <a:ext cx="420624" cy="420624"/>
          </a:xfrm>
          <a:prstGeom prst="roundRect">
            <a:avLst>
              <a:gd name="adj" fmla="val 26000"/>
            </a:avLst>
          </a:prstGeom>
          <a:solidFill>
            <a:srgbClr val="A56209"/>
          </a:solidFill>
          <a:ln/>
        </p:spPr>
      </p:sp>
      <p:sp>
        <p:nvSpPr>
          <p:cNvPr id="50" name="Text 48"/>
          <p:cNvSpPr txBox="1"/>
          <p:nvPr/>
        </p:nvSpPr>
        <p:spPr>
          <a:xfrm>
            <a:off x="9194063" y="192024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51" name="Text 49"/>
          <p:cNvSpPr txBox="1"/>
          <p:nvPr/>
        </p:nvSpPr>
        <p:spPr>
          <a:xfrm>
            <a:off x="9742703" y="1901952"/>
            <a:ext cx="1662608" cy="457200"/>
          </a:xfrm>
          <a:prstGeom prst="rect">
            <a:avLst/>
          </a:prstGeom>
          <a:noFill/>
          <a:ln/>
        </p:spPr>
        <p:txBody>
          <a:bodyPr wrap="square" lIns="0" tIns="0" rIns="0" bIns="0" rtlCol="0" anchor="ctr"/>
          <a:lstStyle/>
          <a:p>
            <a:pPr indent="0" marL="0">
              <a:buNone/>
            </a:pPr>
            <a:r>
              <a:rPr lang="en-US" sz="1900" b="1" dirty="0">
                <a:solidFill>
                  <a:srgbClr val="0E1426"/>
                </a:solidFill>
                <a:latin typeface="Cambria" pitchFamily="34" charset="0"/>
                <a:ea typeface="Cambria" pitchFamily="34" charset="-122"/>
                <a:cs typeface="Cambria" pitchFamily="34" charset="-120"/>
              </a:rPr>
              <a:t>Pekiştir</a:t>
            </a:r>
            <a:endParaRPr lang="en-US" sz="1900" dirty="0"/>
          </a:p>
        </p:txBody>
      </p:sp>
      <p:sp>
        <p:nvSpPr>
          <p:cNvPr id="52" name="Text 50"/>
          <p:cNvSpPr txBox="1"/>
          <p:nvPr/>
        </p:nvSpPr>
        <p:spPr>
          <a:xfrm>
            <a:off x="9194063" y="2487168"/>
            <a:ext cx="2138096" cy="868680"/>
          </a:xfrm>
          <a:prstGeom prst="rect">
            <a:avLst/>
          </a:prstGeom>
          <a:noFill/>
          <a:ln/>
        </p:spPr>
        <p:txBody>
          <a:bodyPr wrap="square" lIns="0" tIns="0" rIns="0" bIns="0" rtlCol="0" anchor="t"/>
          <a:lstStyle/>
          <a:p>
            <a:pPr indent="0" marL="0">
              <a:lnSpc>
                <a:spcPct val="110000"/>
              </a:lnSpc>
              <a:buNone/>
            </a:pPr>
            <a:r>
              <a:rPr lang="en-US" sz="1150" dirty="0">
                <a:solidFill>
                  <a:srgbClr val="4A5470"/>
                </a:solidFill>
                <a:latin typeface="Calibri" pitchFamily="34" charset="0"/>
                <a:ea typeface="Calibri" pitchFamily="34" charset="-122"/>
                <a:cs typeface="Calibri" pitchFamily="34" charset="-120"/>
              </a:rPr>
              <a:t>Kolaydan zora çözümlü örnekler ve limit hız sorularında puan kaybettiren klasik hatalar.</a:t>
            </a:r>
            <a:endParaRPr lang="en-US" sz="1150" dirty="0"/>
          </a:p>
        </p:txBody>
      </p:sp>
      <p:sp>
        <p:nvSpPr>
          <p:cNvPr id="53" name="Shape 51"/>
          <p:cNvSpPr/>
          <p:nvPr/>
        </p:nvSpPr>
        <p:spPr>
          <a:xfrm>
            <a:off x="9194063" y="3429000"/>
            <a:ext cx="2138096" cy="0"/>
          </a:xfrm>
          <a:prstGeom prst="line">
            <a:avLst/>
          </a:prstGeom>
          <a:noFill/>
          <a:ln w="9525">
            <a:solidFill>
              <a:srgbClr val="E1E5EE"/>
            </a:solidFill>
            <a:prstDash val="dash"/>
          </a:ln>
        </p:spPr>
      </p:sp>
      <p:sp>
        <p:nvSpPr>
          <p:cNvPr id="54" name="Text 52"/>
          <p:cNvSpPr txBox="1"/>
          <p:nvPr/>
        </p:nvSpPr>
        <p:spPr>
          <a:xfrm>
            <a:off x="9194063" y="3566160"/>
            <a:ext cx="384048" cy="603504"/>
          </a:xfrm>
          <a:prstGeom prst="rect">
            <a:avLst/>
          </a:prstGeom>
          <a:noFill/>
          <a:ln/>
        </p:spPr>
        <p:txBody>
          <a:bodyPr wrap="square" lIns="0" tIns="0" rIns="0" bIns="0" rtlCol="0" anchor="t"/>
          <a:lstStyle/>
          <a:p>
            <a:pPr indent="0" marL="0">
              <a:buNone/>
            </a:pPr>
            <a:r>
              <a:rPr lang="en-US" sz="1100" b="1" dirty="0">
                <a:solidFill>
                  <a:srgbClr val="A56209"/>
                </a:solidFill>
                <a:latin typeface="Calibri" pitchFamily="34" charset="0"/>
                <a:ea typeface="Calibri" pitchFamily="34" charset="-122"/>
                <a:cs typeface="Calibri" pitchFamily="34" charset="-120"/>
              </a:rPr>
              <a:t>11</a:t>
            </a:r>
            <a:endParaRPr lang="en-US" sz="1100" dirty="0"/>
          </a:p>
        </p:txBody>
      </p:sp>
      <p:sp>
        <p:nvSpPr>
          <p:cNvPr id="55" name="Text 53"/>
          <p:cNvSpPr txBox="1"/>
          <p:nvPr/>
        </p:nvSpPr>
        <p:spPr>
          <a:xfrm>
            <a:off x="9578111" y="3566160"/>
            <a:ext cx="1754048" cy="60350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Çözümlü örnekler</a:t>
            </a:r>
            <a:endParaRPr lang="en-US" sz="1250" dirty="0"/>
          </a:p>
        </p:txBody>
      </p:sp>
      <p:sp>
        <p:nvSpPr>
          <p:cNvPr id="56" name="Text 54"/>
          <p:cNvSpPr txBox="1"/>
          <p:nvPr/>
        </p:nvSpPr>
        <p:spPr>
          <a:xfrm>
            <a:off x="9194063" y="4224528"/>
            <a:ext cx="384048" cy="603504"/>
          </a:xfrm>
          <a:prstGeom prst="rect">
            <a:avLst/>
          </a:prstGeom>
          <a:noFill/>
          <a:ln/>
        </p:spPr>
        <p:txBody>
          <a:bodyPr wrap="square" lIns="0" tIns="0" rIns="0" bIns="0" rtlCol="0" anchor="t"/>
          <a:lstStyle/>
          <a:p>
            <a:pPr indent="0" marL="0">
              <a:buNone/>
            </a:pPr>
            <a:r>
              <a:rPr lang="en-US" sz="1100" b="1" dirty="0">
                <a:solidFill>
                  <a:srgbClr val="A56209"/>
                </a:solidFill>
                <a:latin typeface="Calibri" pitchFamily="34" charset="0"/>
                <a:ea typeface="Calibri" pitchFamily="34" charset="-122"/>
                <a:cs typeface="Calibri" pitchFamily="34" charset="-120"/>
              </a:rPr>
              <a:t>12</a:t>
            </a:r>
            <a:endParaRPr lang="en-US" sz="1100" dirty="0"/>
          </a:p>
        </p:txBody>
      </p:sp>
      <p:sp>
        <p:nvSpPr>
          <p:cNvPr id="57" name="Text 55"/>
          <p:cNvSpPr txBox="1"/>
          <p:nvPr/>
        </p:nvSpPr>
        <p:spPr>
          <a:xfrm>
            <a:off x="9578111" y="4224528"/>
            <a:ext cx="1754048" cy="60350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Sık yapılan hatalar</a:t>
            </a:r>
            <a:endParaRPr lang="en-US" sz="1250" dirty="0"/>
          </a:p>
        </p:txBody>
      </p:sp>
      <p:sp>
        <p:nvSpPr>
          <p:cNvPr id="58" name="Shape 56"/>
          <p:cNvSpPr/>
          <p:nvPr/>
        </p:nvSpPr>
        <p:spPr>
          <a:xfrm>
            <a:off x="640080" y="6382512"/>
            <a:ext cx="128016" cy="128016"/>
          </a:xfrm>
          <a:prstGeom prst="roundRect">
            <a:avLst>
              <a:gd name="adj" fmla="val 28571"/>
            </a:avLst>
          </a:prstGeom>
          <a:solidFill>
            <a:srgbClr val="A9E648"/>
          </a:solidFill>
          <a:ln/>
        </p:spPr>
      </p:sp>
      <p:sp>
        <p:nvSpPr>
          <p:cNvPr id="59" name="Text 5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dersler.perinet.org/limit-hiz.html</a:t>
            </a:r>
            <a:endParaRPr lang="en-US" sz="1050" dirty="0"/>
          </a:p>
        </p:txBody>
      </p:sp>
      <p:sp>
        <p:nvSpPr>
          <p:cNvPr id="60" name="Text 5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03</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1426"/>
        </a:solidFill>
      </p:bgPr>
    </p:bg>
    <p:spTree>
      <p:nvGrpSpPr>
        <p:cNvPr id="1" name=""/>
        <p:cNvGrpSpPr/>
        <p:nvPr/>
      </p:nvGrpSpPr>
      <p:grpSpPr>
        <a:xfrm>
          <a:off x="0" y="0"/>
          <a:ext cx="0" cy="0"/>
          <a:chOff x="0" y="0"/>
          <a:chExt cx="0" cy="0"/>
        </a:xfrm>
      </p:grpSpPr>
      <p:sp>
        <p:nvSpPr>
          <p:cNvPr id="2" name="Text 0"/>
          <p:cNvSpPr txBox="1"/>
          <p:nvPr/>
        </p:nvSpPr>
        <p:spPr>
          <a:xfrm>
            <a:off x="685800" y="365760"/>
            <a:ext cx="1828800" cy="1874520"/>
          </a:xfrm>
          <a:prstGeom prst="rect">
            <a:avLst/>
          </a:prstGeom>
          <a:noFill/>
          <a:ln/>
        </p:spPr>
        <p:txBody>
          <a:bodyPr wrap="square" lIns="0" tIns="0" rIns="0" bIns="0" rtlCol="0" anchor="ctr"/>
          <a:lstStyle/>
          <a:p>
            <a:pPr indent="0" marL="0">
              <a:buNone/>
            </a:pPr>
            <a:r>
              <a:rPr lang="en-US" sz="11600" b="1" dirty="0">
                <a:solidFill>
                  <a:srgbClr val="C6F36B"/>
                </a:solidFill>
                <a:latin typeface="Cambria" pitchFamily="34" charset="0"/>
                <a:ea typeface="Cambria" pitchFamily="34" charset="-122"/>
                <a:cs typeface="Cambria" pitchFamily="34" charset="-120"/>
              </a:rPr>
              <a:t>1</a:t>
            </a:r>
            <a:endParaRPr lang="en-US" sz="11600" dirty="0"/>
          </a:p>
        </p:txBody>
      </p:sp>
      <p:sp>
        <p:nvSpPr>
          <p:cNvPr id="3" name="Text 1"/>
          <p:cNvSpPr txBox="1"/>
          <p:nvPr/>
        </p:nvSpPr>
        <p:spPr>
          <a:xfrm>
            <a:off x="731520" y="2286000"/>
            <a:ext cx="4572000" cy="292608"/>
          </a:xfrm>
          <a:prstGeom prst="rect">
            <a:avLst/>
          </a:prstGeom>
          <a:noFill/>
          <a:ln/>
        </p:spPr>
        <p:txBody>
          <a:bodyPr wrap="square" lIns="0" tIns="0" rIns="0" bIns="0" rtlCol="0" anchor="ctr"/>
          <a:lstStyle/>
          <a:p>
            <a:pPr indent="0" marL="0">
              <a:buNone/>
            </a:pPr>
            <a:r>
              <a:rPr lang="en-US" sz="1200" b="1" spc="300" kern="0" dirty="0">
                <a:solidFill>
                  <a:srgbClr val="C6F36B"/>
                </a:solidFill>
                <a:latin typeface="Calibri" pitchFamily="34" charset="0"/>
                <a:ea typeface="Calibri" pitchFamily="34" charset="-122"/>
                <a:cs typeface="Calibri" pitchFamily="34" charset="-120"/>
              </a:rPr>
              <a:t>BASAMAK 1 / 4</a:t>
            </a:r>
            <a:endParaRPr lang="en-US" sz="1200" dirty="0"/>
          </a:p>
        </p:txBody>
      </p:sp>
      <p:sp>
        <p:nvSpPr>
          <p:cNvPr id="4" name="Text 2"/>
          <p:cNvSpPr txBox="1"/>
          <p:nvPr/>
        </p:nvSpPr>
        <p:spPr>
          <a:xfrm>
            <a:off x="685800" y="2578608"/>
            <a:ext cx="5120640" cy="822960"/>
          </a:xfrm>
          <a:prstGeom prst="rect">
            <a:avLst/>
          </a:prstGeom>
          <a:noFill/>
          <a:ln/>
        </p:spPr>
        <p:txBody>
          <a:bodyPr wrap="square" lIns="0" tIns="0" rIns="0" bIns="0" rtlCol="0" anchor="ctr"/>
          <a:lstStyle/>
          <a:p>
            <a:pPr indent="0" marL="0">
              <a:buNone/>
            </a:pPr>
            <a:r>
              <a:rPr lang="en-US" sz="4600" b="1" spc="-100" kern="0" dirty="0">
                <a:solidFill>
                  <a:srgbClr val="FFFFFF"/>
                </a:solidFill>
                <a:latin typeface="Cambria" pitchFamily="34" charset="0"/>
                <a:ea typeface="Cambria" pitchFamily="34" charset="-122"/>
                <a:cs typeface="Cambria" pitchFamily="34" charset="-120"/>
              </a:rPr>
              <a:t>Temel</a:t>
            </a:r>
            <a:endParaRPr lang="en-US" sz="4600" dirty="0"/>
          </a:p>
        </p:txBody>
      </p:sp>
      <p:sp>
        <p:nvSpPr>
          <p:cNvPr id="5" name="Text 3"/>
          <p:cNvSpPr txBox="1"/>
          <p:nvPr/>
        </p:nvSpPr>
        <p:spPr>
          <a:xfrm>
            <a:off x="731520" y="3474720"/>
            <a:ext cx="4846320" cy="914400"/>
          </a:xfrm>
          <a:prstGeom prst="rect">
            <a:avLst/>
          </a:prstGeom>
          <a:noFill/>
          <a:ln/>
        </p:spPr>
        <p:txBody>
          <a:bodyPr wrap="square" lIns="0" tIns="0" rIns="0" bIns="0" rtlCol="0" anchor="t"/>
          <a:lstStyle/>
          <a:p>
            <a:pPr indent="0" marL="0">
              <a:lnSpc>
                <a:spcPct val="120000"/>
              </a:lnSpc>
              <a:buNone/>
            </a:pPr>
            <a:r>
              <a:rPr lang="en-US" sz="1400" dirty="0">
                <a:solidFill>
                  <a:srgbClr val="C3CEE8"/>
                </a:solidFill>
                <a:latin typeface="Calibri" pitchFamily="34" charset="0"/>
                <a:ea typeface="Calibri" pitchFamily="34" charset="-122"/>
                <a:cs typeface="Calibri" pitchFamily="34" charset="-120"/>
              </a:rPr>
              <a:t>Önce sezgi: hava direncini yağmurda, bisiklette ve paraşütte gözle; neden bir hız sınırı olduğunu kuvvetlerle anla. Bu basamakta hesap yok denecek kadar az.</a:t>
            </a:r>
            <a:endParaRPr lang="en-US" sz="1400" dirty="0"/>
          </a:p>
        </p:txBody>
      </p:sp>
      <p:sp>
        <p:nvSpPr>
          <p:cNvPr id="6" name="Text 4"/>
          <p:cNvSpPr txBox="1"/>
          <p:nvPr/>
        </p:nvSpPr>
        <p:spPr>
          <a:xfrm>
            <a:off x="731520" y="4572000"/>
            <a:ext cx="5120640" cy="329184"/>
          </a:xfrm>
          <a:prstGeom prst="rect">
            <a:avLst/>
          </a:prstGeom>
          <a:noFill/>
          <a:ln/>
        </p:spPr>
        <p:txBody>
          <a:bodyPr wrap="square" lIns="0" tIns="0" rIns="0" bIns="0" rtlCol="0" anchor="ctr"/>
          <a:lstStyle/>
          <a:p>
            <a:pPr indent="0" marL="0">
              <a:buNone/>
            </a:pPr>
            <a:r>
              <a:rPr lang="en-US" sz="1300" b="1" dirty="0">
                <a:solidFill>
                  <a:srgbClr val="C6F36B"/>
                </a:solidFill>
                <a:latin typeface="Calibri" pitchFamily="34" charset="0"/>
                <a:ea typeface="Calibri" pitchFamily="34" charset="-122"/>
                <a:cs typeface="Calibri" pitchFamily="34" charset="-120"/>
              </a:rPr>
              <a:t>01   </a:t>
            </a:r>
            <a:pPr indent="0" marL="0">
              <a:buNone/>
            </a:pPr>
            <a:r>
              <a:rPr lang="en-US" sz="1300" dirty="0">
                <a:solidFill>
                  <a:srgbClr val="FFFFFF"/>
                </a:solidFill>
                <a:latin typeface="Calibri" pitchFamily="34" charset="0"/>
                <a:ea typeface="Calibri" pitchFamily="34" charset="-122"/>
                <a:cs typeface="Calibri" pitchFamily="34" charset="-120"/>
              </a:rPr>
              <a:t>Önce gözlemle: yağmur neden canımızı yakmaz?</a:t>
            </a:r>
            <a:endParaRPr lang="en-US" sz="1300" dirty="0"/>
          </a:p>
        </p:txBody>
      </p:sp>
      <p:sp>
        <p:nvSpPr>
          <p:cNvPr id="7" name="Text 5"/>
          <p:cNvSpPr txBox="1"/>
          <p:nvPr/>
        </p:nvSpPr>
        <p:spPr>
          <a:xfrm>
            <a:off x="731520" y="4901184"/>
            <a:ext cx="5120640" cy="329184"/>
          </a:xfrm>
          <a:prstGeom prst="rect">
            <a:avLst/>
          </a:prstGeom>
          <a:noFill/>
          <a:ln/>
        </p:spPr>
        <p:txBody>
          <a:bodyPr wrap="square" lIns="0" tIns="0" rIns="0" bIns="0" rtlCol="0" anchor="ctr"/>
          <a:lstStyle/>
          <a:p>
            <a:pPr indent="0" marL="0">
              <a:buNone/>
            </a:pPr>
            <a:r>
              <a:rPr lang="en-US" sz="1300" b="1" dirty="0">
                <a:solidFill>
                  <a:srgbClr val="C6F36B"/>
                </a:solidFill>
                <a:latin typeface="Calibri" pitchFamily="34" charset="0"/>
                <a:ea typeface="Calibri" pitchFamily="34" charset="-122"/>
                <a:cs typeface="Calibri" pitchFamily="34" charset="-120"/>
              </a:rPr>
              <a:t>02   </a:t>
            </a:r>
            <a:pPr indent="0" marL="0">
              <a:buNone/>
            </a:pPr>
            <a:r>
              <a:rPr lang="en-US" sz="1300" dirty="0">
                <a:solidFill>
                  <a:srgbClr val="FFFFFF"/>
                </a:solidFill>
                <a:latin typeface="Calibri" pitchFamily="34" charset="0"/>
                <a:ea typeface="Calibri" pitchFamily="34" charset="-122"/>
                <a:cs typeface="Calibri" pitchFamily="34" charset="-120"/>
              </a:rPr>
              <a:t>Hava direnci: hıza bağlı bir kuvvet</a:t>
            </a:r>
            <a:endParaRPr lang="en-US" sz="1300" dirty="0"/>
          </a:p>
        </p:txBody>
      </p:sp>
      <p:sp>
        <p:nvSpPr>
          <p:cNvPr id="8" name="Text 6"/>
          <p:cNvSpPr txBox="1"/>
          <p:nvPr/>
        </p:nvSpPr>
        <p:spPr>
          <a:xfrm>
            <a:off x="731520" y="5230368"/>
            <a:ext cx="5120640" cy="329184"/>
          </a:xfrm>
          <a:prstGeom prst="rect">
            <a:avLst/>
          </a:prstGeom>
          <a:noFill/>
          <a:ln/>
        </p:spPr>
        <p:txBody>
          <a:bodyPr wrap="square" lIns="0" tIns="0" rIns="0" bIns="0" rtlCol="0" anchor="ctr"/>
          <a:lstStyle/>
          <a:p>
            <a:pPr indent="0" marL="0">
              <a:buNone/>
            </a:pPr>
            <a:r>
              <a:rPr lang="en-US" sz="1300" b="1" dirty="0">
                <a:solidFill>
                  <a:srgbClr val="C6F36B"/>
                </a:solidFill>
                <a:latin typeface="Calibri" pitchFamily="34" charset="0"/>
                <a:ea typeface="Calibri" pitchFamily="34" charset="-122"/>
                <a:cs typeface="Calibri" pitchFamily="34" charset="-120"/>
              </a:rPr>
              <a:t>03   </a:t>
            </a:r>
            <a:pPr indent="0" marL="0">
              <a:buNone/>
            </a:pPr>
            <a:r>
              <a:rPr lang="en-US" sz="1300" dirty="0">
                <a:solidFill>
                  <a:srgbClr val="FFFFFF"/>
                </a:solidFill>
                <a:latin typeface="Calibri" pitchFamily="34" charset="0"/>
                <a:ea typeface="Calibri" pitchFamily="34" charset="-122"/>
                <a:cs typeface="Calibri" pitchFamily="34" charset="-120"/>
              </a:rPr>
              <a:t>Neden bir hız sınırı var?</a:t>
            </a:r>
            <a:endParaRPr lang="en-US" sz="1300" dirty="0"/>
          </a:p>
        </p:txBody>
      </p:sp>
      <p:sp>
        <p:nvSpPr>
          <p:cNvPr id="9" name="Shape 7"/>
          <p:cNvSpPr/>
          <p:nvPr/>
        </p:nvSpPr>
        <p:spPr>
          <a:xfrm>
            <a:off x="6117336" y="905256"/>
            <a:ext cx="5489143" cy="3696005"/>
          </a:xfrm>
          <a:prstGeom prst="roundRect">
            <a:avLst>
              <a:gd name="adj" fmla="val 3464"/>
            </a:avLst>
          </a:prstGeom>
          <a:solidFill>
            <a:srgbClr val="1C2542"/>
          </a:solidFill>
          <a:ln w="9525">
            <a:solidFill>
              <a:srgbClr val="2C3860"/>
            </a:solidFill>
            <a:prstDash val="solid"/>
          </a:ln>
        </p:spPr>
      </p:sp>
      <p:pic>
        <p:nvPicPr>
          <p:cNvPr id="10" name="Image 0" descr="/tmp/claude-1000/-opt-dersler/8a8328c3-841c-44fa-b76f-82572d338d3d/scratchpad/d5/sek/limit-hiz-gunluk-kart.jpg">    </p:cNvPr>
          <p:cNvPicPr>
            <a:picLocks noChangeAspect="1"/>
          </p:cNvPicPr>
          <p:nvPr/>
        </p:nvPicPr>
        <p:blipFill>
          <a:blip r:embed="rId1"/>
          <a:stretch>
            <a:fillRect/>
          </a:stretch>
        </p:blipFill>
        <p:spPr>
          <a:xfrm>
            <a:off x="6172200" y="960120"/>
            <a:ext cx="5379415" cy="3586277"/>
          </a:xfrm>
          <a:prstGeom prst="rect">
            <a:avLst/>
          </a:prstGeom>
        </p:spPr>
      </p:pic>
      <p:sp>
        <p:nvSpPr>
          <p:cNvPr id="11" name="Text 8"/>
          <p:cNvSpPr txBox="1"/>
          <p:nvPr/>
        </p:nvSpPr>
        <p:spPr>
          <a:xfrm>
            <a:off x="6172200" y="4774997"/>
            <a:ext cx="5379415" cy="1214323"/>
          </a:xfrm>
          <a:prstGeom prst="rect">
            <a:avLst/>
          </a:prstGeom>
          <a:noFill/>
          <a:ln/>
        </p:spPr>
        <p:txBody>
          <a:bodyPr wrap="square" lIns="0" tIns="0" rIns="0" bIns="0" rtlCol="0" anchor="t"/>
          <a:lstStyle/>
          <a:p>
            <a:pPr indent="0" marL="0">
              <a:lnSpc>
                <a:spcPct val="115000"/>
              </a:lnSpc>
              <a:buNone/>
            </a:pPr>
            <a:r>
              <a:rPr lang="en-US" sz="1150" b="1" dirty="0">
                <a:solidFill>
                  <a:srgbClr val="FFFFFF"/>
                </a:solidFill>
                <a:latin typeface="Calibri" pitchFamily="34" charset="0"/>
                <a:ea typeface="Calibri" pitchFamily="34" charset="-122"/>
                <a:cs typeface="Calibri" pitchFamily="34" charset="-120"/>
              </a:rPr>
              <a:t>Yağmur damlaları kilometrelerce yüksekten düşer</a:t>
            </a:r>
            <a:pPr indent="0" marL="0">
              <a:lnSpc>
                <a:spcPct val="115000"/>
              </a:lnSpc>
              <a:buNone/>
            </a:pPr>
            <a:r>
              <a:rPr lang="en-US" sz="1150" dirty="0">
                <a:solidFill>
                  <a:srgbClr val="C3CEE8"/>
                </a:solidFill>
                <a:latin typeface="Calibri" pitchFamily="34" charset="0"/>
                <a:ea typeface="Calibri" pitchFamily="34" charset="-122"/>
                <a:cs typeface="Calibri" pitchFamily="34" charset="-120"/>
              </a:rPr>
              <a:t>, ama yere saniyede birkaç metrelik bir hızla değer. Hava direnci olmasaydı yaklaşık 200 m/s ile çarparlardı. Su birikintilerindeki küçük halkalar bu yumuşak inişin izidir: her damla düşüşünün neredeyse tamamını sabit bir hızla, limit hızıyla tamamlar.</a:t>
            </a:r>
            <a:endParaRPr lang="en-US" sz="1150" dirty="0"/>
          </a:p>
        </p:txBody>
      </p:sp>
      <p:sp>
        <p:nvSpPr>
          <p:cNvPr id="12" name="Shape 9"/>
          <p:cNvSpPr/>
          <p:nvPr/>
        </p:nvSpPr>
        <p:spPr>
          <a:xfrm>
            <a:off x="640080" y="6382512"/>
            <a:ext cx="128016" cy="128016"/>
          </a:xfrm>
          <a:prstGeom prst="roundRect">
            <a:avLst>
              <a:gd name="adj" fmla="val 28571"/>
            </a:avLst>
          </a:prstGeom>
          <a:solidFill>
            <a:srgbClr val="C6F36B"/>
          </a:solidFill>
          <a:ln/>
        </p:spPr>
      </p:sp>
      <p:sp>
        <p:nvSpPr>
          <p:cNvPr id="13" name="Text 10"/>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6A7798"/>
                </a:solidFill>
                <a:latin typeface="Calibri" pitchFamily="34" charset="0"/>
                <a:ea typeface="Calibri" pitchFamily="34" charset="-122"/>
                <a:cs typeface="Calibri" pitchFamily="34" charset="-120"/>
              </a:rPr>
              <a:t>dersler.perinet.org/limit-hiz.html</a:t>
            </a:r>
            <a:endParaRPr lang="en-US" sz="1050" dirty="0"/>
          </a:p>
        </p:txBody>
      </p:sp>
      <p:sp>
        <p:nvSpPr>
          <p:cNvPr id="14" name="Text 11"/>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6A7798"/>
                </a:solidFill>
                <a:latin typeface="Calibri" pitchFamily="34" charset="0"/>
                <a:ea typeface="Calibri" pitchFamily="34" charset="-122"/>
                <a:cs typeface="Calibri" pitchFamily="34" charset="-120"/>
              </a:rPr>
              <a:t>04</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Önce gözlemle: yağmur neden canımızı yakmaz?</a:t>
            </a:r>
            <a:endParaRPr lang="en-US" sz="3200" dirty="0"/>
          </a:p>
        </p:txBody>
      </p:sp>
      <p:sp>
        <p:nvSpPr>
          <p:cNvPr id="5" name="Text 3"/>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6" name="Shape 4"/>
          <p:cNvSpPr/>
          <p:nvPr/>
        </p:nvSpPr>
        <p:spPr>
          <a:xfrm>
            <a:off x="640080" y="1188720"/>
            <a:ext cx="10911535" cy="1185062"/>
          </a:xfrm>
          <a:prstGeom prst="roundRect">
            <a:avLst>
              <a:gd name="adj" fmla="val 9259"/>
            </a:avLst>
          </a:prstGeom>
          <a:solidFill>
            <a:srgbClr val="F8F9FC"/>
          </a:solidFill>
          <a:ln w="9525">
            <a:solidFill>
              <a:srgbClr val="E1E5EE"/>
            </a:solidFill>
            <a:prstDash val="solid"/>
          </a:ln>
        </p:spPr>
      </p:sp>
      <p:sp>
        <p:nvSpPr>
          <p:cNvPr id="7" name="Shape 5"/>
          <p:cNvSpPr/>
          <p:nvPr/>
        </p:nvSpPr>
        <p:spPr>
          <a:xfrm>
            <a:off x="658368" y="1298448"/>
            <a:ext cx="54864" cy="965606"/>
          </a:xfrm>
          <a:prstGeom prst="rect">
            <a:avLst/>
          </a:prstGeom>
          <a:solidFill>
            <a:srgbClr val="3C8C21"/>
          </a:solidFill>
          <a:ln/>
        </p:spPr>
      </p:sp>
      <p:sp>
        <p:nvSpPr>
          <p:cNvPr id="8" name="Text 6"/>
          <p:cNvSpPr txBox="1"/>
          <p:nvPr/>
        </p:nvSpPr>
        <p:spPr>
          <a:xfrm>
            <a:off x="932688" y="1234440"/>
            <a:ext cx="10454335" cy="1093622"/>
          </a:xfrm>
          <a:prstGeom prst="rect">
            <a:avLst/>
          </a:prstGeom>
          <a:noFill/>
          <a:ln/>
        </p:spPr>
        <p:txBody>
          <a:bodyPr wrap="square" lIns="0" tIns="0" rIns="0" bIns="0" rtlCol="0" anchor="ctr"/>
          <a:lstStyle/>
          <a:p>
            <a:pPr indent="0" marL="0">
              <a:lnSpc>
                <a:spcPct val="112000"/>
              </a:lnSpc>
              <a:buNone/>
            </a:pPr>
            <a:r>
              <a:rPr lang="en-US" sz="1850" dirty="0">
                <a:solidFill>
                  <a:srgbClr val="0E1426"/>
                </a:solidFill>
                <a:latin typeface="Calibri" pitchFamily="34" charset="0"/>
                <a:ea typeface="Calibri" pitchFamily="34" charset="-122"/>
                <a:cs typeface="Calibri" pitchFamily="34" charset="-120"/>
              </a:rPr>
              <a:t>Havada hareket eden her cisim, hızı arttıkça büyüyen bir frenleyici etkiyle karşılaşır. Bu etki cismin şekline ve genişliğine bağlıdır; yağmur damlasını da paraşütçüyü de bu etki frenler.</a:t>
            </a:r>
            <a:endParaRPr lang="en-US" sz="1850" dirty="0"/>
          </a:p>
        </p:txBody>
      </p:sp>
      <p:sp>
        <p:nvSpPr>
          <p:cNvPr id="9" name="Text 7"/>
          <p:cNvSpPr txBox="1"/>
          <p:nvPr/>
        </p:nvSpPr>
        <p:spPr>
          <a:xfrm>
            <a:off x="640080" y="2593238"/>
            <a:ext cx="10911535" cy="2405634"/>
          </a:xfrm>
          <a:prstGeom prst="rect">
            <a:avLst/>
          </a:prstGeom>
          <a:noFill/>
          <a:ln/>
        </p:spPr>
        <p:txBody>
          <a:bodyPr wrap="square" lIns="0" tIns="0" rIns="0" bIns="0" rtlCol="0" anchor="t"/>
          <a:lstStyle/>
          <a:p>
            <a:pPr marL="203200" indent="-203200">
              <a:lnSpc>
                <a:spcPct val="115000"/>
              </a:lnSpc>
              <a:spcAft>
                <a:spcPts val="500"/>
              </a:spcAft>
              <a:buSzPct val="100000"/>
              <a:buChar char="▪"/>
            </a:pPr>
            <a:r>
              <a:rPr lang="en-US" sz="1700" b="1" dirty="0">
                <a:solidFill>
                  <a:srgbClr val="0E1426"/>
                </a:solidFill>
                <a:latin typeface="Calibri" pitchFamily="34" charset="0"/>
                <a:ea typeface="Calibri" pitchFamily="34" charset="-122"/>
                <a:cs typeface="Calibri" pitchFamily="34" charset="-120"/>
              </a:rPr>
              <a:t>Bisiklette:</a:t>
            </a:r>
            <a:pPr indent="0" marL="0">
              <a:lnSpc>
                <a:spcPct val="115000"/>
              </a:lnSpc>
              <a:buNone/>
            </a:pPr>
            <a:r>
              <a:rPr lang="en-US" sz="1700" dirty="0">
                <a:solidFill>
                  <a:srgbClr val="4A5470"/>
                </a:solidFill>
                <a:latin typeface="Calibri" pitchFamily="34" charset="0"/>
                <a:ea typeface="Calibri" pitchFamily="34" charset="-122"/>
                <a:cs typeface="Calibri" pitchFamily="34" charset="-120"/>
              </a:rPr>
              <a:t> hızlandıkça yüzüne çarpan rüzgâr sertleşir; düz yolda bile hızı artırmak giderek zorlaşır.</a:t>
            </a:r>
            <a:endParaRPr lang="en-US" sz="1700" dirty="0"/>
          </a:p>
          <a:p>
            <a:pPr marL="203200" indent="-203200">
              <a:lnSpc>
                <a:spcPct val="115000"/>
              </a:lnSpc>
              <a:spcAft>
                <a:spcPts val="500"/>
              </a:spcAft>
              <a:buSzPct val="100000"/>
              <a:buChar char="▪"/>
            </a:pPr>
            <a:r>
              <a:rPr lang="en-US" sz="1700" b="1" dirty="0">
                <a:solidFill>
                  <a:srgbClr val="0E1426"/>
                </a:solidFill>
                <a:latin typeface="Calibri" pitchFamily="34" charset="0"/>
                <a:ea typeface="Calibri" pitchFamily="34" charset="-122"/>
                <a:cs typeface="Calibri" pitchFamily="34" charset="-120"/>
              </a:rPr>
              <a:t>Şemsiyeyle:</a:t>
            </a:r>
            <a:pPr indent="0" marL="0">
              <a:lnSpc>
                <a:spcPct val="115000"/>
              </a:lnSpc>
              <a:buNone/>
            </a:pPr>
            <a:r>
              <a:rPr lang="en-US" sz="1700" dirty="0">
                <a:solidFill>
                  <a:srgbClr val="4A5470"/>
                </a:solidFill>
                <a:latin typeface="Calibri" pitchFamily="34" charset="0"/>
                <a:ea typeface="Calibri" pitchFamily="34" charset="-122"/>
                <a:cs typeface="Calibri" pitchFamily="34" charset="-120"/>
              </a:rPr>
              <a:t> rüzgârlı havada açık şemsiye seni geriye çeker; kapatınca bu etki hemen küçülür.</a:t>
            </a:r>
            <a:endParaRPr lang="en-US" sz="1700" dirty="0"/>
          </a:p>
          <a:p>
            <a:pPr marL="203200" indent="-203200">
              <a:lnSpc>
                <a:spcPct val="115000"/>
              </a:lnSpc>
              <a:spcAft>
                <a:spcPts val="500"/>
              </a:spcAft>
              <a:buSzPct val="100000"/>
              <a:buChar char="▪"/>
            </a:pPr>
            <a:r>
              <a:rPr lang="en-US" sz="1700" b="1" dirty="0">
                <a:solidFill>
                  <a:srgbClr val="0E1426"/>
                </a:solidFill>
                <a:latin typeface="Calibri" pitchFamily="34" charset="0"/>
                <a:ea typeface="Calibri" pitchFamily="34" charset="-122"/>
                <a:cs typeface="Calibri" pitchFamily="34" charset="-120"/>
              </a:rPr>
              <a:t>Kâğıtla:</a:t>
            </a:r>
            <a:pPr indent="0" marL="0">
              <a:lnSpc>
                <a:spcPct val="115000"/>
              </a:lnSpc>
              <a:buNone/>
            </a:pPr>
            <a:r>
              <a:rPr lang="en-US" sz="1700" dirty="0">
                <a:solidFill>
                  <a:srgbClr val="4A5470"/>
                </a:solidFill>
                <a:latin typeface="Calibri" pitchFamily="34" charset="0"/>
                <a:ea typeface="Calibri" pitchFamily="34" charset="-122"/>
                <a:cs typeface="Calibri" pitchFamily="34" charset="-120"/>
              </a:rPr>
              <a:t> açık bir kâğıt yaprağı salınarak yavaşça iner; aynı kâğıdı buruşturunca çok daha hızlı düşer.</a:t>
            </a:r>
            <a:endParaRPr lang="en-US" sz="1700" dirty="0"/>
          </a:p>
          <a:p>
            <a:pPr marL="203200" indent="-203200">
              <a:lnSpc>
                <a:spcPct val="115000"/>
              </a:lnSpc>
              <a:spcAft>
                <a:spcPts val="500"/>
              </a:spcAft>
              <a:buSzPct val="100000"/>
              <a:buChar char="▪"/>
            </a:pPr>
            <a:r>
              <a:rPr lang="en-US" sz="1700" b="1" dirty="0">
                <a:solidFill>
                  <a:srgbClr val="0E1426"/>
                </a:solidFill>
                <a:latin typeface="Calibri" pitchFamily="34" charset="0"/>
                <a:ea typeface="Calibri" pitchFamily="34" charset="-122"/>
                <a:cs typeface="Calibri" pitchFamily="34" charset="-120"/>
              </a:rPr>
              <a:t>Tüyle:</a:t>
            </a:r>
            <a:pPr indent="0" marL="0">
              <a:lnSpc>
                <a:spcPct val="115000"/>
              </a:lnSpc>
              <a:buNone/>
            </a:pPr>
            <a:r>
              <a:rPr lang="en-US" sz="1700" dirty="0">
                <a:solidFill>
                  <a:srgbClr val="4A5470"/>
                </a:solidFill>
                <a:latin typeface="Calibri" pitchFamily="34" charset="0"/>
                <a:ea typeface="Calibri" pitchFamily="34" charset="-122"/>
                <a:cs typeface="Calibri" pitchFamily="34" charset="-120"/>
              </a:rPr>
              <a:t> kuş tüyü neredeyse süzülür; havası boşaltılmış bir tüpte ise bilyeyle aynı anda düşer.</a:t>
            </a:r>
            <a:endParaRPr lang="en-US" sz="1700" dirty="0"/>
          </a:p>
          <a:p>
            <a:pPr marL="203200" indent="-203200">
              <a:lnSpc>
                <a:spcPct val="115000"/>
              </a:lnSpc>
              <a:spcAft>
                <a:spcPts val="500"/>
              </a:spcAft>
              <a:buSzPct val="100000"/>
              <a:buChar char="▪"/>
            </a:pPr>
            <a:r>
              <a:rPr lang="en-US" sz="1700" b="1" dirty="0">
                <a:solidFill>
                  <a:srgbClr val="0E1426"/>
                </a:solidFill>
                <a:latin typeface="Calibri" pitchFamily="34" charset="0"/>
                <a:ea typeface="Calibri" pitchFamily="34" charset="-122"/>
                <a:cs typeface="Calibri" pitchFamily="34" charset="-120"/>
              </a:rPr>
              <a:t>Paraşütle:</a:t>
            </a:r>
            <a:pPr indent="0" marL="0">
              <a:lnSpc>
                <a:spcPct val="115000"/>
              </a:lnSpc>
              <a:buNone/>
            </a:pPr>
            <a:r>
              <a:rPr lang="en-US" sz="1700" dirty="0">
                <a:solidFill>
                  <a:srgbClr val="4A5470"/>
                </a:solidFill>
                <a:latin typeface="Calibri" pitchFamily="34" charset="0"/>
                <a:ea typeface="Calibri" pitchFamily="34" charset="-122"/>
                <a:cs typeface="Calibri" pitchFamily="34" charset="-120"/>
              </a:rPr>
              <a:t> kapalıyken hızla düşen paraşütçü, paraşüt açılınca yavaşça süzülür.</a:t>
            </a:r>
            <a:endParaRPr lang="en-US" sz="17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dersler.perinet.org/limit-hiz.html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05</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Düz bir yolda pedal çevirirken, hızlandıkça neden aynı hızı korumak bile giderek zorlaşır?</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01 · Önce gözlemle: yağmur neden canımızı yakmaz?</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dersler.perinet.org/limit-hiz.html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06</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Düz bir yolda pedal çevirirken, hızlandıkça neden aynı hızı korumak bile giderek zorlaşır?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CFC8F5"/>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200" dirty="0">
                <a:solidFill>
                  <a:srgbClr val="0E1426"/>
                </a:solidFill>
                <a:latin typeface="Calibri" pitchFamily="34" charset="0"/>
                <a:ea typeface="Calibri" pitchFamily="34" charset="-122"/>
                <a:cs typeface="Calibri" pitchFamily="34" charset="-120"/>
              </a:rPr>
              <a:t>Çünkü seni geriye iten hava direnci hızınla birlikte büyür. Yavaş giderken hafif bir esinti kadardır; hızlandıkça pedallarla yenmen gereken büyük bir kuvvete dönüşür. Aynı hızı korumak için bu direnci her an karşılayacak kadar kuvvet uygulaman gerekir ve hız arttıkça bu kuvvet de artar.</a:t>
            </a:r>
            <a:endParaRPr lang="en-US" sz="22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dersler.perinet.org/limit-hiz.html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07</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Hava direnci: hıza bağlı bir kuvvet</a:t>
            </a:r>
            <a:endParaRPr lang="en-US" sz="3200" dirty="0"/>
          </a:p>
        </p:txBody>
      </p:sp>
      <p:sp>
        <p:nvSpPr>
          <p:cNvPr id="5" name="Text 3"/>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6" name="Shape 4"/>
          <p:cNvSpPr/>
          <p:nvPr/>
        </p:nvSpPr>
        <p:spPr>
          <a:xfrm>
            <a:off x="640080" y="1188720"/>
            <a:ext cx="10911535" cy="1185062"/>
          </a:xfrm>
          <a:prstGeom prst="roundRect">
            <a:avLst>
              <a:gd name="adj" fmla="val 9259"/>
            </a:avLst>
          </a:prstGeom>
          <a:solidFill>
            <a:srgbClr val="F8F9FC"/>
          </a:solidFill>
          <a:ln w="9525">
            <a:solidFill>
              <a:srgbClr val="E1E5EE"/>
            </a:solidFill>
            <a:prstDash val="solid"/>
          </a:ln>
        </p:spPr>
      </p:sp>
      <p:sp>
        <p:nvSpPr>
          <p:cNvPr id="7" name="Shape 5"/>
          <p:cNvSpPr/>
          <p:nvPr/>
        </p:nvSpPr>
        <p:spPr>
          <a:xfrm>
            <a:off x="658368" y="1298448"/>
            <a:ext cx="54864" cy="965606"/>
          </a:xfrm>
          <a:prstGeom prst="rect">
            <a:avLst/>
          </a:prstGeom>
          <a:solidFill>
            <a:srgbClr val="3C8C21"/>
          </a:solidFill>
          <a:ln/>
        </p:spPr>
      </p:sp>
      <p:sp>
        <p:nvSpPr>
          <p:cNvPr id="8" name="Text 6"/>
          <p:cNvSpPr txBox="1"/>
          <p:nvPr/>
        </p:nvSpPr>
        <p:spPr>
          <a:xfrm>
            <a:off x="932688" y="1234440"/>
            <a:ext cx="10454335" cy="1093622"/>
          </a:xfrm>
          <a:prstGeom prst="rect">
            <a:avLst/>
          </a:prstGeom>
          <a:noFill/>
          <a:ln/>
        </p:spPr>
        <p:txBody>
          <a:bodyPr wrap="square" lIns="0" tIns="0" rIns="0" bIns="0" rtlCol="0" anchor="ctr"/>
          <a:lstStyle/>
          <a:p>
            <a:pPr indent="0" marL="0">
              <a:lnSpc>
                <a:spcPct val="112000"/>
              </a:lnSpc>
              <a:buNone/>
            </a:pPr>
            <a:r>
              <a:rPr lang="en-US" sz="1850" dirty="0">
                <a:solidFill>
                  <a:srgbClr val="0E1426"/>
                </a:solidFill>
                <a:latin typeface="Calibri" pitchFamily="34" charset="0"/>
                <a:ea typeface="Calibri" pitchFamily="34" charset="-122"/>
                <a:cs typeface="Calibri" pitchFamily="34" charset="-120"/>
              </a:rPr>
              <a:t>Hava direnci, cismin önündeki havayı itmesinin tepkisidir ve harekete zıt yöndedir. Hızla, alanla, şekille ve havanın yoğunluğuyla büyür, kütleye bağlı değildir; hız 2 katına çıkınca direnç 4 katına çıkar.</a:t>
            </a:r>
            <a:endParaRPr lang="en-US" sz="1850" dirty="0"/>
          </a:p>
        </p:txBody>
      </p:sp>
      <p:sp>
        <p:nvSpPr>
          <p:cNvPr id="9" name="Text 7"/>
          <p:cNvSpPr txBox="1"/>
          <p:nvPr/>
        </p:nvSpPr>
        <p:spPr>
          <a:xfrm>
            <a:off x="640080" y="2593238"/>
            <a:ext cx="6309360" cy="1973580"/>
          </a:xfrm>
          <a:prstGeom prst="rect">
            <a:avLst/>
          </a:prstGeom>
          <a:noFill/>
          <a:ln/>
        </p:spPr>
        <p:txBody>
          <a:bodyPr wrap="square" lIns="0" tIns="0" rIns="0" bIns="0" rtlCol="0" anchor="t"/>
          <a:lstStyle/>
          <a:p>
            <a:pPr marL="203200" indent="-203200">
              <a:lnSpc>
                <a:spcPct val="115000"/>
              </a:lnSpc>
              <a:spcAft>
                <a:spcPts val="500"/>
              </a:spcAft>
              <a:buSzPct val="100000"/>
              <a:buChar char="▪"/>
            </a:pPr>
            <a:r>
              <a:rPr lang="en-US" sz="1400" b="1" dirty="0">
                <a:solidFill>
                  <a:srgbClr val="0E1426"/>
                </a:solidFill>
                <a:latin typeface="Calibri" pitchFamily="34" charset="0"/>
                <a:ea typeface="Calibri" pitchFamily="34" charset="-122"/>
                <a:cs typeface="Calibri" pitchFamily="34" charset="-120"/>
              </a:rPr>
              <a:t>Hız:</a:t>
            </a:r>
            <a:pPr indent="0" marL="0">
              <a:lnSpc>
                <a:spcPct val="115000"/>
              </a:lnSpc>
              <a:buNone/>
            </a:pPr>
            <a:r>
              <a:rPr lang="en-US" sz="1400" dirty="0">
                <a:solidFill>
                  <a:srgbClr val="4A5470"/>
                </a:solidFill>
                <a:latin typeface="Calibri" pitchFamily="34" charset="0"/>
                <a:ea typeface="Calibri" pitchFamily="34" charset="-122"/>
                <a:cs typeface="Calibri" pitchFamily="34" charset="-120"/>
              </a:rPr>
              <a:t> hız 2 katına çıkınca direnç yaklaşık 4, 3 katına çıkınca 9 katına çıkar.</a:t>
            </a:r>
            <a:endParaRPr lang="en-US" sz="1400" dirty="0"/>
          </a:p>
          <a:p>
            <a:pPr marL="203200" indent="-203200">
              <a:lnSpc>
                <a:spcPct val="115000"/>
              </a:lnSpc>
              <a:spcAft>
                <a:spcPts val="500"/>
              </a:spcAft>
              <a:buSzPct val="100000"/>
              <a:buChar char="▪"/>
            </a:pPr>
            <a:r>
              <a:rPr lang="en-US" sz="1400" b="1" dirty="0">
                <a:solidFill>
                  <a:srgbClr val="0E1426"/>
                </a:solidFill>
                <a:latin typeface="Calibri" pitchFamily="34" charset="0"/>
                <a:ea typeface="Calibri" pitchFamily="34" charset="-122"/>
                <a:cs typeface="Calibri" pitchFamily="34" charset="-120"/>
              </a:rPr>
              <a:t>Kesit alanı:</a:t>
            </a:r>
            <a:pPr indent="0" marL="0">
              <a:lnSpc>
                <a:spcPct val="115000"/>
              </a:lnSpc>
              <a:buNone/>
            </a:pPr>
            <a:r>
              <a:rPr lang="en-US" sz="1400" dirty="0">
                <a:solidFill>
                  <a:srgbClr val="4A5470"/>
                </a:solidFill>
                <a:latin typeface="Calibri" pitchFamily="34" charset="0"/>
                <a:ea typeface="Calibri" pitchFamily="34" charset="-122"/>
                <a:cs typeface="Calibri" pitchFamily="34" charset="-120"/>
              </a:rPr>
              <a:t> harekete dik yüzey genişledikçe itilen hava artar.</a:t>
            </a:r>
            <a:endParaRPr lang="en-US" sz="1400" dirty="0"/>
          </a:p>
          <a:p>
            <a:pPr marL="203200" indent="-203200">
              <a:lnSpc>
                <a:spcPct val="115000"/>
              </a:lnSpc>
              <a:spcAft>
                <a:spcPts val="500"/>
              </a:spcAft>
              <a:buSzPct val="100000"/>
              <a:buChar char="▪"/>
            </a:pPr>
            <a:r>
              <a:rPr lang="en-US" sz="1400" b="1" dirty="0">
                <a:solidFill>
                  <a:srgbClr val="0E1426"/>
                </a:solidFill>
                <a:latin typeface="Calibri" pitchFamily="34" charset="0"/>
                <a:ea typeface="Calibri" pitchFamily="34" charset="-122"/>
                <a:cs typeface="Calibri" pitchFamily="34" charset="-120"/>
              </a:rPr>
              <a:t>Şekil:</a:t>
            </a:r>
            <a:pPr indent="0" marL="0">
              <a:lnSpc>
                <a:spcPct val="115000"/>
              </a:lnSpc>
              <a:buNone/>
            </a:pPr>
            <a:r>
              <a:rPr lang="en-US" sz="1400" dirty="0">
                <a:solidFill>
                  <a:srgbClr val="4A5470"/>
                </a:solidFill>
                <a:latin typeface="Calibri" pitchFamily="34" charset="0"/>
                <a:ea typeface="Calibri" pitchFamily="34" charset="-122"/>
                <a:cs typeface="Calibri" pitchFamily="34" charset="-120"/>
              </a:rPr>
              <a:t> sivri ve akıcı biçimli cisimler havayı kolay yarar, düz bir levha zor yarar.</a:t>
            </a:r>
            <a:endParaRPr lang="en-US" sz="1400" dirty="0"/>
          </a:p>
          <a:p>
            <a:pPr marL="203200" indent="-203200">
              <a:lnSpc>
                <a:spcPct val="115000"/>
              </a:lnSpc>
              <a:spcAft>
                <a:spcPts val="500"/>
              </a:spcAft>
              <a:buSzPct val="100000"/>
              <a:buChar char="▪"/>
            </a:pPr>
            <a:r>
              <a:rPr lang="en-US" sz="1400" b="1" dirty="0">
                <a:solidFill>
                  <a:srgbClr val="0E1426"/>
                </a:solidFill>
                <a:latin typeface="Calibri" pitchFamily="34" charset="0"/>
                <a:ea typeface="Calibri" pitchFamily="34" charset="-122"/>
                <a:cs typeface="Calibri" pitchFamily="34" charset="-120"/>
              </a:rPr>
              <a:t>Havanın yoğunluğu:</a:t>
            </a:r>
            <a:pPr indent="0" marL="0">
              <a:lnSpc>
                <a:spcPct val="115000"/>
              </a:lnSpc>
              <a:buNone/>
            </a:pPr>
            <a:r>
              <a:rPr lang="en-US" sz="1400" dirty="0">
                <a:solidFill>
                  <a:srgbClr val="4A5470"/>
                </a:solidFill>
                <a:latin typeface="Calibri" pitchFamily="34" charset="0"/>
                <a:ea typeface="Calibri" pitchFamily="34" charset="-122"/>
                <a:cs typeface="Calibri" pitchFamily="34" charset="-120"/>
              </a:rPr>
              <a:t> yükseğe çıkıldıkça hava seyrelir ve direnç azalır.</a:t>
            </a:r>
            <a:endParaRPr lang="en-US" sz="1400" dirty="0"/>
          </a:p>
        </p:txBody>
      </p:sp>
      <p:sp>
        <p:nvSpPr>
          <p:cNvPr id="10" name="Shape 8"/>
          <p:cNvSpPr/>
          <p:nvPr/>
        </p:nvSpPr>
        <p:spPr>
          <a:xfrm>
            <a:off x="640080" y="4676546"/>
            <a:ext cx="6309360" cy="1085850"/>
          </a:xfrm>
          <a:prstGeom prst="roundRect">
            <a:avLst>
              <a:gd name="adj" fmla="val 1010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1" name="Shape 9"/>
          <p:cNvSpPr/>
          <p:nvPr/>
        </p:nvSpPr>
        <p:spPr>
          <a:xfrm>
            <a:off x="658368" y="4822850"/>
            <a:ext cx="45720" cy="793242"/>
          </a:xfrm>
          <a:prstGeom prst="rect">
            <a:avLst/>
          </a:prstGeom>
          <a:solidFill>
            <a:srgbClr val="3C8C21"/>
          </a:solidFill>
          <a:ln/>
        </p:spPr>
      </p:sp>
      <p:sp>
        <p:nvSpPr>
          <p:cNvPr id="12" name="Text 10"/>
          <p:cNvSpPr txBox="1"/>
          <p:nvPr/>
        </p:nvSpPr>
        <p:spPr>
          <a:xfrm>
            <a:off x="914400" y="4786274"/>
            <a:ext cx="5852160" cy="866394"/>
          </a:xfrm>
          <a:prstGeom prst="rect">
            <a:avLst/>
          </a:prstGeom>
          <a:noFill/>
          <a:ln/>
        </p:spPr>
        <p:txBody>
          <a:bodyPr wrap="square" lIns="0" tIns="0" rIns="0" bIns="0" rtlCol="0" anchor="ctr"/>
          <a:lstStyle/>
          <a:p>
            <a:pPr indent="0" marL="0">
              <a:lnSpc>
                <a:spcPct val="112000"/>
              </a:lnSpc>
              <a:buNone/>
            </a:pPr>
            <a:r>
              <a:rPr lang="en-US" sz="1300" b="1" dirty="0">
                <a:solidFill>
                  <a:srgbClr val="0E1426"/>
                </a:solidFill>
                <a:latin typeface="Calibri" pitchFamily="34" charset="0"/>
                <a:ea typeface="Calibri" pitchFamily="34" charset="-122"/>
                <a:cs typeface="Calibri" pitchFamily="34" charset="-120"/>
              </a:rPr>
              <a:t>Kütle burada yok.</a:t>
            </a:r>
            <a:pPr indent="0" marL="0">
              <a:lnSpc>
                <a:spcPct val="112000"/>
              </a:lnSpc>
              <a:buNone/>
            </a:pPr>
            <a:r>
              <a:rPr lang="en-US" sz="1300" dirty="0">
                <a:solidFill>
                  <a:srgbClr val="4A5470"/>
                </a:solidFill>
                <a:latin typeface="Calibri" pitchFamily="34" charset="0"/>
                <a:ea typeface="Calibri" pitchFamily="34" charset="-122"/>
                <a:cs typeface="Calibri" pitchFamily="34" charset="-120"/>
              </a:rPr>
              <a:t> Direnç kuvveti cismin kütlesine değil, </a:t>
            </a:r>
            <a:pPr indent="0" marL="0">
              <a:lnSpc>
                <a:spcPct val="112000"/>
              </a:lnSpc>
              <a:buNone/>
            </a:pPr>
            <a:r>
              <a:rPr lang="en-US" sz="1300" b="1" dirty="0">
                <a:solidFill>
                  <a:srgbClr val="0E1426"/>
                </a:solidFill>
                <a:latin typeface="Calibri" pitchFamily="34" charset="0"/>
                <a:ea typeface="Calibri" pitchFamily="34" charset="-122"/>
                <a:cs typeface="Calibri" pitchFamily="34" charset="-120"/>
              </a:rPr>
              <a:t>şekline, alanına ve hızına</a:t>
            </a:r>
            <a:pPr indent="0" marL="0">
              <a:lnSpc>
                <a:spcPct val="112000"/>
              </a:lnSpc>
              <a:buNone/>
            </a:pPr>
            <a:r>
              <a:rPr lang="en-US" sz="1300" dirty="0">
                <a:solidFill>
                  <a:srgbClr val="4A5470"/>
                </a:solidFill>
                <a:latin typeface="Calibri" pitchFamily="34" charset="0"/>
                <a:ea typeface="Calibri" pitchFamily="34" charset="-122"/>
                <a:cs typeface="Calibri" pitchFamily="34" charset="-120"/>
              </a:rPr>
              <a:t> bağlıdır. Kütlenin rolü, bu direncin hangi hızda ağırlığı dengeleyeceğini belirlemektir.</a:t>
            </a:r>
            <a:endParaRPr lang="en-US" sz="1300" dirty="0"/>
          </a:p>
        </p:txBody>
      </p:sp>
      <p:sp>
        <p:nvSpPr>
          <p:cNvPr id="13" name="Shape 11"/>
          <p:cNvSpPr/>
          <p:nvPr/>
        </p:nvSpPr>
        <p:spPr>
          <a:xfrm>
            <a:off x="7242048" y="2593238"/>
            <a:ext cx="4309567" cy="3139158"/>
          </a:xfrm>
          <a:prstGeom prst="roundRect">
            <a:avLst>
              <a:gd name="adj" fmla="val 4661"/>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14" name="Image 0" descr="/tmp/claude-1000/-opt-dersler/8a8328c3-841c-44fa-b76f-82572d338d3d/scratchpad/d5/sek/limit-hiz-01.png">    </p:cNvPr>
          <p:cNvPicPr>
            <a:picLocks noChangeAspect="1"/>
          </p:cNvPicPr>
          <p:nvPr/>
        </p:nvPicPr>
        <p:blipFill>
          <a:blip r:embed="rId1"/>
          <a:stretch>
            <a:fillRect/>
          </a:stretch>
        </p:blipFill>
        <p:spPr>
          <a:xfrm>
            <a:off x="7424928" y="2776118"/>
            <a:ext cx="3943807" cy="1676118"/>
          </a:xfrm>
          <a:prstGeom prst="rect">
            <a:avLst/>
          </a:prstGeom>
        </p:spPr>
      </p:pic>
      <p:sp>
        <p:nvSpPr>
          <p:cNvPr id="15" name="Shape 12"/>
          <p:cNvSpPr/>
          <p:nvPr/>
        </p:nvSpPr>
        <p:spPr>
          <a:xfrm>
            <a:off x="7424928" y="4543676"/>
            <a:ext cx="3943807" cy="0"/>
          </a:xfrm>
          <a:prstGeom prst="line">
            <a:avLst/>
          </a:prstGeom>
          <a:noFill/>
          <a:ln w="9525">
            <a:solidFill>
              <a:srgbClr val="E1E5EE"/>
            </a:solidFill>
            <a:prstDash val="dash"/>
          </a:ln>
        </p:spPr>
      </p:sp>
      <p:sp>
        <p:nvSpPr>
          <p:cNvPr id="16" name="Text 13"/>
          <p:cNvSpPr txBox="1"/>
          <p:nvPr/>
        </p:nvSpPr>
        <p:spPr>
          <a:xfrm>
            <a:off x="7424928" y="4598540"/>
            <a:ext cx="3943807" cy="950976"/>
          </a:xfrm>
          <a:prstGeom prst="rect">
            <a:avLst/>
          </a:prstGeom>
          <a:noFill/>
          <a:ln/>
        </p:spPr>
        <p:txBody>
          <a:bodyPr wrap="square" lIns="0" tIns="0" rIns="0" bIns="0" rtlCol="0" anchor="t"/>
          <a:lstStyle/>
          <a:p>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Hava direnci sabit bir kuvvet değildir; </a:t>
            </a:r>
            <a:pPr indent="0" marL="0">
              <a:lnSpc>
                <a:spcPct val="112000"/>
              </a:lnSpc>
              <a:buNone/>
            </a:pPr>
            <a:r>
              <a:rPr lang="en-US" sz="1050" b="1" dirty="0">
                <a:solidFill>
                  <a:srgbClr val="4A5470"/>
                </a:solidFill>
                <a:latin typeface="Calibri" pitchFamily="34" charset="0"/>
                <a:ea typeface="Calibri" pitchFamily="34" charset="-122"/>
                <a:cs typeface="Calibri" pitchFamily="34" charset="-120"/>
              </a:rPr>
              <a:t>hızın karesiyle</a:t>
            </a:r>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 büyür. Hızı iki katına çıkarmak direnci dört katına, üç katına çıkarmak dokuz katına çıkarır. İşte bu hızlı büyüme, düşen bir cismin er geç ağırlığına eşit bir dirençle karşılaşmasını </a:t>
            </a:r>
            <a:pPr indent="0" marL="0">
              <a:lnSpc>
                <a:spcPct val="112000"/>
              </a:lnSpc>
              <a:buNone/>
            </a:pPr>
            <a:r>
              <a:rPr lang="en-US" sz="1050" b="1" dirty="0">
                <a:solidFill>
                  <a:srgbClr val="4A5470"/>
                </a:solidFill>
                <a:latin typeface="Calibri" pitchFamily="34" charset="0"/>
                <a:ea typeface="Calibri" pitchFamily="34" charset="-122"/>
                <a:cs typeface="Calibri" pitchFamily="34" charset="-120"/>
              </a:rPr>
              <a:t>kaçınılmaz</a:t>
            </a:r>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 kılar.</a:t>
            </a:r>
            <a:endParaRPr lang="en-US" sz="1050" dirty="0"/>
          </a:p>
        </p:txBody>
      </p:sp>
      <p:sp>
        <p:nvSpPr>
          <p:cNvPr id="17" name="Shape 14"/>
          <p:cNvSpPr/>
          <p:nvPr/>
        </p:nvSpPr>
        <p:spPr>
          <a:xfrm>
            <a:off x="640080" y="6382512"/>
            <a:ext cx="128016" cy="128016"/>
          </a:xfrm>
          <a:prstGeom prst="roundRect">
            <a:avLst>
              <a:gd name="adj" fmla="val 28571"/>
            </a:avLst>
          </a:prstGeom>
          <a:solidFill>
            <a:srgbClr val="A9E648"/>
          </a:solidFill>
          <a:ln/>
        </p:spPr>
      </p:sp>
      <p:sp>
        <p:nvSpPr>
          <p:cNvPr id="18"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dersler.perinet.org/limit-hiz.html</a:t>
            </a:r>
            <a:endParaRPr lang="en-US" sz="1050" dirty="0"/>
          </a:p>
        </p:txBody>
      </p:sp>
      <p:sp>
        <p:nvSpPr>
          <p:cNvPr id="19"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08</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Neden bir hız sınırı var?</a:t>
            </a:r>
            <a:endParaRPr lang="en-US" sz="3200" dirty="0"/>
          </a:p>
        </p:txBody>
      </p:sp>
      <p:sp>
        <p:nvSpPr>
          <p:cNvPr id="5" name="Text 3"/>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6" name="Shape 4"/>
          <p:cNvSpPr/>
          <p:nvPr/>
        </p:nvSpPr>
        <p:spPr>
          <a:xfrm>
            <a:off x="640080" y="1188720"/>
            <a:ext cx="10911535" cy="1185062"/>
          </a:xfrm>
          <a:prstGeom prst="roundRect">
            <a:avLst>
              <a:gd name="adj" fmla="val 9259"/>
            </a:avLst>
          </a:prstGeom>
          <a:solidFill>
            <a:srgbClr val="F8F9FC"/>
          </a:solidFill>
          <a:ln w="9525">
            <a:solidFill>
              <a:srgbClr val="E1E5EE"/>
            </a:solidFill>
            <a:prstDash val="solid"/>
          </a:ln>
        </p:spPr>
      </p:sp>
      <p:sp>
        <p:nvSpPr>
          <p:cNvPr id="7" name="Shape 5"/>
          <p:cNvSpPr/>
          <p:nvPr/>
        </p:nvSpPr>
        <p:spPr>
          <a:xfrm>
            <a:off x="658368" y="1298448"/>
            <a:ext cx="54864" cy="965606"/>
          </a:xfrm>
          <a:prstGeom prst="rect">
            <a:avLst/>
          </a:prstGeom>
          <a:solidFill>
            <a:srgbClr val="3C8C21"/>
          </a:solidFill>
          <a:ln/>
        </p:spPr>
      </p:sp>
      <p:sp>
        <p:nvSpPr>
          <p:cNvPr id="8" name="Text 6"/>
          <p:cNvSpPr txBox="1"/>
          <p:nvPr/>
        </p:nvSpPr>
        <p:spPr>
          <a:xfrm>
            <a:off x="932688" y="1234440"/>
            <a:ext cx="10454335" cy="1093622"/>
          </a:xfrm>
          <a:prstGeom prst="rect">
            <a:avLst/>
          </a:prstGeom>
          <a:noFill/>
          <a:ln/>
        </p:spPr>
        <p:txBody>
          <a:bodyPr wrap="square" lIns="0" tIns="0" rIns="0" bIns="0" rtlCol="0" anchor="ctr"/>
          <a:lstStyle/>
          <a:p>
            <a:pPr indent="0" marL="0">
              <a:lnSpc>
                <a:spcPct val="112000"/>
              </a:lnSpc>
              <a:buNone/>
            </a:pPr>
            <a:r>
              <a:rPr lang="en-US" sz="1850" dirty="0">
                <a:solidFill>
                  <a:srgbClr val="0E1426"/>
                </a:solidFill>
                <a:latin typeface="Calibri" pitchFamily="34" charset="0"/>
                <a:ea typeface="Calibri" pitchFamily="34" charset="-122"/>
                <a:cs typeface="Calibri" pitchFamily="34" charset="-120"/>
              </a:rPr>
              <a:t>Düşen cisimde ağırlık sabittir, direnç hızla büyür. Direnç ağırlığa eşitlenince net kuvvet ve ivme sıfırlanır; cisim durmaz, limit hız denen sabit hızla düşmeye devam eder.</a:t>
            </a:r>
            <a:endParaRPr lang="en-US" sz="18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40080" y="2593238"/>
          <a:ext cx="5486400" cy="914400"/>
        </p:xfrm>
        <a:graphic>
          <a:graphicData uri="http://schemas.openxmlformats.org/drawingml/2006/table">
            <a:tbl>
              <a:tblPr/>
              <a:tblGrid>
                <a:gridCol w="1106670"/>
                <a:gridCol w="1207276"/>
                <a:gridCol w="2213340"/>
                <a:gridCol w="959114"/>
              </a:tblGrid>
              <a:tr h="338328">
                <a:tc>
                  <a:txBody>
                    <a:bodyPr/>
                    <a:lstStyle/>
                    <a:p>
                      <a:pPr indent="0" marL="0">
                        <a:buNone/>
                      </a:pPr>
                      <a:r>
                        <a:rPr lang="en-US" sz="1050" b="1" dirty="0">
                          <a:solidFill>
                            <a:srgbClr val="7B849E"/>
                          </a:solidFill>
                          <a:latin typeface="Calibri" pitchFamily="34" charset="0"/>
                          <a:ea typeface="Calibri" pitchFamily="34" charset="-122"/>
                          <a:cs typeface="Calibri" pitchFamily="34" charset="-120"/>
                        </a:rPr>
                        <a:t>An</a:t>
                      </a:r>
                      <a:endParaRPr lang="en-US" sz="105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050" b="1" dirty="0">
                          <a:solidFill>
                            <a:srgbClr val="7B849E"/>
                          </a:solidFill>
                          <a:latin typeface="Calibri" pitchFamily="34" charset="0"/>
                          <a:ea typeface="Calibri" pitchFamily="34" charset="-122"/>
                          <a:cs typeface="Calibri" pitchFamily="34" charset="-120"/>
                        </a:rPr>
                        <a:t>Direnç</a:t>
                      </a:r>
                      <a:endParaRPr lang="en-US" sz="105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050" b="1" dirty="0">
                          <a:solidFill>
                            <a:srgbClr val="7B849E"/>
                          </a:solidFill>
                          <a:latin typeface="Calibri" pitchFamily="34" charset="0"/>
                          <a:ea typeface="Calibri" pitchFamily="34" charset="-122"/>
                          <a:cs typeface="Calibri" pitchFamily="34" charset="-120"/>
                        </a:rPr>
                        <a:t>Net kuvvet ve ivme</a:t>
                      </a:r>
                      <a:endParaRPr lang="en-US" sz="105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050" b="1" dirty="0">
                          <a:solidFill>
                            <a:srgbClr val="7B849E"/>
                          </a:solidFill>
                          <a:latin typeface="Calibri" pitchFamily="34" charset="0"/>
                          <a:ea typeface="Calibri" pitchFamily="34" charset="-122"/>
                          <a:cs typeface="Calibri" pitchFamily="34" charset="-120"/>
                        </a:rPr>
                        <a:t>Hız</a:t>
                      </a:r>
                      <a:endParaRPr lang="en-US" sz="105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r>
              <a:tr h="530352">
                <a:tc>
                  <a:txBody>
                    <a:bodyPr/>
                    <a:lstStyle/>
                    <a:p>
                      <a:pPr indent="0" marL="0">
                        <a:buNone/>
                      </a:pPr>
                      <a:r>
                        <a:rPr lang="en-US" sz="1200" b="1" dirty="0">
                          <a:solidFill>
                            <a:srgbClr val="0E1426"/>
                          </a:solidFill>
                          <a:latin typeface="Calibri" pitchFamily="34" charset="0"/>
                          <a:ea typeface="Calibri" pitchFamily="34" charset="-122"/>
                          <a:cs typeface="Calibri" pitchFamily="34" charset="-120"/>
                        </a:rPr>
                        <a:t>Bırakma anı</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Net kuvvet m·g, ivme g</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338328">
                <a:tc>
                  <a:txBody>
                    <a:bodyPr/>
                    <a:lstStyle/>
                    <a:p>
                      <a:pPr indent="0" marL="0">
                        <a:buNone/>
                      </a:pPr>
                      <a:r>
                        <a:rPr lang="en-US" sz="1200" b="1" dirty="0">
                          <a:solidFill>
                            <a:srgbClr val="0E1426"/>
                          </a:solidFill>
                          <a:latin typeface="Calibri" pitchFamily="34" charset="0"/>
                          <a:ea typeface="Calibri" pitchFamily="34" charset="-122"/>
                          <a:cs typeface="Calibri" pitchFamily="34" charset="-120"/>
                        </a:rPr>
                        <a:t>Ara evre</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0 &lt; Fd &lt; m·g</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İkisi de azalıyor</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Artıyor</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338328">
                <a:tc>
                  <a:txBody>
                    <a:bodyPr/>
                    <a:lstStyle/>
                    <a:p>
                      <a:pPr indent="0" marL="0">
                        <a:buNone/>
                      </a:pPr>
                      <a:r>
                        <a:rPr lang="en-US" sz="1200" b="1" dirty="0">
                          <a:solidFill>
                            <a:srgbClr val="0E1426"/>
                          </a:solidFill>
                          <a:latin typeface="Calibri" pitchFamily="34" charset="0"/>
                          <a:ea typeface="Calibri" pitchFamily="34" charset="-122"/>
                          <a:cs typeface="Calibri" pitchFamily="34" charset="-120"/>
                        </a:rPr>
                        <a:t>Limit hız</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m·g</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İkisi de sıfır</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Sabit</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bl>
          </a:graphicData>
        </a:graphic>
      </p:graphicFrame>
      <p:sp>
        <p:nvSpPr>
          <p:cNvPr id="10" name="Text 7"/>
          <p:cNvSpPr txBox="1"/>
          <p:nvPr/>
        </p:nvSpPr>
        <p:spPr>
          <a:xfrm>
            <a:off x="640080" y="4266590"/>
            <a:ext cx="5486400" cy="1185672"/>
          </a:xfrm>
          <a:prstGeom prst="rect">
            <a:avLst/>
          </a:prstGeom>
          <a:noFill/>
          <a:ln/>
        </p:spPr>
        <p:txBody>
          <a:bodyPr wrap="square" lIns="0" tIns="0" rIns="0" bIns="0" rtlCol="0" anchor="t"/>
          <a:lstStyle/>
          <a:p>
            <a:pPr marL="203200" indent="-203200">
              <a:lnSpc>
                <a:spcPct val="115000"/>
              </a:lnSpc>
              <a:spcAft>
                <a:spcPts val="500"/>
              </a:spcAft>
              <a:buSzPct val="100000"/>
              <a:buChar char="▪"/>
            </a:pPr>
            <a:r>
              <a:rPr lang="en-US" sz="1600" dirty="0">
                <a:solidFill>
                  <a:srgbClr val="4A5470"/>
                </a:solidFill>
                <a:latin typeface="Calibri" pitchFamily="34" charset="0"/>
                <a:ea typeface="Calibri" pitchFamily="34" charset="-122"/>
                <a:cs typeface="Calibri" pitchFamily="34" charset="-120"/>
              </a:rPr>
              <a:t>Sayfanın </a:t>
            </a:r>
            <a:pPr indent="0" marL="0">
              <a:lnSpc>
                <a:spcPct val="115000"/>
              </a:lnSpc>
              <a:buNone/>
            </a:pPr>
            <a:r>
              <a:rPr lang="en-US" sz="1600" b="1" dirty="0">
                <a:solidFill>
                  <a:srgbClr val="0E1426"/>
                </a:solidFill>
                <a:latin typeface="Calibri" pitchFamily="34" charset="0"/>
                <a:ea typeface="Calibri" pitchFamily="34" charset="-122"/>
                <a:cs typeface="Calibri" pitchFamily="34" charset="-120"/>
              </a:rPr>
              <a:t>01</a:t>
            </a:r>
            <a:pPr indent="0" marL="0">
              <a:lnSpc>
                <a:spcPct val="115000"/>
              </a:lnSpc>
              <a:buNone/>
            </a:pPr>
            <a:r>
              <a:rPr lang="en-US" sz="1600" dirty="0">
                <a:solidFill>
                  <a:srgbClr val="4A5470"/>
                </a:solidFill>
                <a:latin typeface="Calibri" pitchFamily="34" charset="0"/>
                <a:ea typeface="Calibri" pitchFamily="34" charset="-122"/>
                <a:cs typeface="Calibri" pitchFamily="34" charset="-120"/>
              </a:rPr>
              <a:t> numaralı laboratuvarında kuvvet oklarını açıp cismi bıraktığında direnç okunun büyüyüp ağırlık okuna eşitlendiğini, ivme göstergesinin de sıfıra indiğini görürsün.</a:t>
            </a:r>
            <a:endParaRPr lang="en-US" sz="1600" dirty="0"/>
          </a:p>
        </p:txBody>
      </p:sp>
      <p:sp>
        <p:nvSpPr>
          <p:cNvPr id="11" name="Shape 8"/>
          <p:cNvSpPr/>
          <p:nvPr/>
        </p:nvSpPr>
        <p:spPr>
          <a:xfrm>
            <a:off x="6419088" y="2593238"/>
            <a:ext cx="5132527" cy="3508682"/>
          </a:xfrm>
          <a:prstGeom prst="roundRect">
            <a:avLst>
              <a:gd name="adj" fmla="val 4170"/>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12" name="Image 0" descr="/tmp/claude-1000/-opt-dersler/8a8328c3-841c-44fa-b76f-82572d338d3d/scratchpad/d5/sek/limit-hiz-02.png">    </p:cNvPr>
          <p:cNvPicPr>
            <a:picLocks noChangeAspect="1"/>
          </p:cNvPicPr>
          <p:nvPr/>
        </p:nvPicPr>
        <p:blipFill>
          <a:blip r:embed="rId1"/>
          <a:stretch>
            <a:fillRect/>
          </a:stretch>
        </p:blipFill>
        <p:spPr>
          <a:xfrm>
            <a:off x="6601968" y="2776118"/>
            <a:ext cx="4766767" cy="2045642"/>
          </a:xfrm>
          <a:prstGeom prst="rect">
            <a:avLst/>
          </a:prstGeom>
        </p:spPr>
      </p:pic>
      <p:sp>
        <p:nvSpPr>
          <p:cNvPr id="13" name="Shape 9"/>
          <p:cNvSpPr/>
          <p:nvPr/>
        </p:nvSpPr>
        <p:spPr>
          <a:xfrm>
            <a:off x="6601968" y="4913201"/>
            <a:ext cx="4766767" cy="0"/>
          </a:xfrm>
          <a:prstGeom prst="line">
            <a:avLst/>
          </a:prstGeom>
          <a:noFill/>
          <a:ln w="9525">
            <a:solidFill>
              <a:srgbClr val="E1E5EE"/>
            </a:solidFill>
            <a:prstDash val="dash"/>
          </a:ln>
        </p:spPr>
      </p:sp>
      <p:sp>
        <p:nvSpPr>
          <p:cNvPr id="14" name="Text 10"/>
          <p:cNvSpPr txBox="1"/>
          <p:nvPr/>
        </p:nvSpPr>
        <p:spPr>
          <a:xfrm>
            <a:off x="6601968" y="4968065"/>
            <a:ext cx="4766767" cy="950976"/>
          </a:xfrm>
          <a:prstGeom prst="rect">
            <a:avLst/>
          </a:prstGeom>
          <a:noFill/>
          <a:ln/>
        </p:spPr>
        <p:txBody>
          <a:bodyPr wrap="square" lIns="0" tIns="0" rIns="0" bIns="0" rtlCol="0" anchor="t"/>
          <a:lstStyle/>
          <a:p>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Ağırlık hiç değişmez (sarı çubuk hep aynı). Cisim hızlandıkça direnç (mavi çubuk) büyür ve aradaki fark — yani net kuvvet — küçülür. Net kuvvet küçüldükçe ivme de küçülür, hız daha yavaş artar. Dördüncü karede iki çubuk eşitlenir: </a:t>
            </a:r>
            <a:pPr indent="0" marL="0">
              <a:lnSpc>
                <a:spcPct val="112000"/>
              </a:lnSpc>
              <a:buNone/>
            </a:pPr>
            <a:r>
              <a:rPr lang="en-US" sz="1050" b="1" dirty="0">
                <a:solidFill>
                  <a:srgbClr val="4A5470"/>
                </a:solidFill>
                <a:latin typeface="Calibri" pitchFamily="34" charset="0"/>
                <a:ea typeface="Calibri" pitchFamily="34" charset="-122"/>
                <a:cs typeface="Calibri" pitchFamily="34" charset="-120"/>
              </a:rPr>
              <a:t>net kuvvet sıfır, ivme sıfır</a:t>
            </a:r>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 Cisim durmaz; sabit hızla düşmeye devam eder.</a:t>
            </a:r>
            <a:endParaRPr lang="en-US" sz="1050" dirty="0"/>
          </a:p>
        </p:txBody>
      </p:sp>
      <p:sp>
        <p:nvSpPr>
          <p:cNvPr id="15" name="Shape 11"/>
          <p:cNvSpPr/>
          <p:nvPr/>
        </p:nvSpPr>
        <p:spPr>
          <a:xfrm>
            <a:off x="640080" y="6382512"/>
            <a:ext cx="128016" cy="128016"/>
          </a:xfrm>
          <a:prstGeom prst="roundRect">
            <a:avLst>
              <a:gd name="adj" fmla="val 28571"/>
            </a:avLst>
          </a:prstGeom>
          <a:solidFill>
            <a:srgbClr val="A9E648"/>
          </a:solidFill>
          <a:ln/>
        </p:spPr>
      </p:sp>
      <p:sp>
        <p:nvSpPr>
          <p:cNvPr id="16" name="Text 12"/>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dersler.perinet.org/limit-hiz.html</a:t>
            </a:r>
            <a:endParaRPr lang="en-US" sz="1050" dirty="0"/>
          </a:p>
        </p:txBody>
      </p:sp>
      <p:sp>
        <p:nvSpPr>
          <p:cNvPr id="17" name="Text 13"/>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09</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Limit hıza ulaşan bir cismin ivmesi sıfırsa, cisim neden durmuyor da düşmeye devam ediyor?</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03 · Neden bir hız sınırı var?</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dersler.perinet.org/limit-hiz.html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Limit hıza ulaşan bir cismin ivmesi sıfırsa, cisim neden durmuyor da düşmeye devam ediyor?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CFC8F5"/>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200" dirty="0">
                <a:solidFill>
                  <a:srgbClr val="0E1426"/>
                </a:solidFill>
                <a:latin typeface="Calibri" pitchFamily="34" charset="0"/>
                <a:ea typeface="Calibri" pitchFamily="34" charset="-122"/>
                <a:cs typeface="Calibri" pitchFamily="34" charset="-120"/>
              </a:rPr>
              <a:t>İvmenin sıfır olması hızın </a:t>
            </a:r>
            <a:pPr indent="0" marL="0">
              <a:lnSpc>
                <a:spcPct val="125000"/>
              </a:lnSpc>
              <a:buNone/>
            </a:pPr>
            <a:r>
              <a:rPr lang="en-US" sz="2200" b="1" dirty="0">
                <a:solidFill>
                  <a:srgbClr val="5F4BD8"/>
                </a:solidFill>
                <a:latin typeface="Calibri" pitchFamily="34" charset="0"/>
                <a:ea typeface="Calibri" pitchFamily="34" charset="-122"/>
                <a:cs typeface="Calibri" pitchFamily="34" charset="-120"/>
              </a:rPr>
              <a:t>değişmediği</a:t>
            </a:r>
            <a:pPr indent="0" marL="0">
              <a:lnSpc>
                <a:spcPct val="125000"/>
              </a:lnSpc>
              <a:buNone/>
            </a:pPr>
            <a:r>
              <a:rPr lang="en-US" sz="2200" dirty="0">
                <a:solidFill>
                  <a:srgbClr val="0E1426"/>
                </a:solidFill>
                <a:latin typeface="Calibri" pitchFamily="34" charset="0"/>
                <a:ea typeface="Calibri" pitchFamily="34" charset="-122"/>
                <a:cs typeface="Calibri" pitchFamily="34" charset="-120"/>
              </a:rPr>
              <a:t> anlamına gelir, hızın sıfır olduğu anlamına değil. Cisim dengeye ulaştığında zaten büyük bir hızla düşmektedir; net kuvvet sıfır olduğu için bu hız ne artar ne azalır. Newton'un birinci yasası tam olarak bunu söyler: net kuvvet sıfırsa cisim hareket durumunu korur.</a:t>
            </a:r>
            <a:endParaRPr lang="en-US" sz="22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dersler.perinet.org/limit-hiz.html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E1426"/>
        </a:solidFill>
      </p:bgPr>
    </p:bg>
    <p:spTree>
      <p:nvGrpSpPr>
        <p:cNvPr id="1" name=""/>
        <p:cNvGrpSpPr/>
        <p:nvPr/>
      </p:nvGrpSpPr>
      <p:grpSpPr>
        <a:xfrm>
          <a:off x="0" y="0"/>
          <a:ext cx="0" cy="0"/>
          <a:chOff x="0" y="0"/>
          <a:chExt cx="0" cy="0"/>
        </a:xfrm>
      </p:grpSpPr>
      <p:sp>
        <p:nvSpPr>
          <p:cNvPr id="2" name="Text 0"/>
          <p:cNvSpPr txBox="1"/>
          <p:nvPr/>
        </p:nvSpPr>
        <p:spPr>
          <a:xfrm>
            <a:off x="685800" y="365760"/>
            <a:ext cx="1828800" cy="1874520"/>
          </a:xfrm>
          <a:prstGeom prst="rect">
            <a:avLst/>
          </a:prstGeom>
          <a:noFill/>
          <a:ln/>
        </p:spPr>
        <p:txBody>
          <a:bodyPr wrap="square" lIns="0" tIns="0" rIns="0" bIns="0" rtlCol="0" anchor="ctr"/>
          <a:lstStyle/>
          <a:p>
            <a:pPr indent="0" marL="0">
              <a:buNone/>
            </a:pPr>
            <a:r>
              <a:rPr lang="en-US" sz="11600" b="1" dirty="0">
                <a:solidFill>
                  <a:srgbClr val="82AAFF"/>
                </a:solidFill>
                <a:latin typeface="Cambria" pitchFamily="34" charset="0"/>
                <a:ea typeface="Cambria" pitchFamily="34" charset="-122"/>
                <a:cs typeface="Cambria" pitchFamily="34" charset="-120"/>
              </a:rPr>
              <a:t>2</a:t>
            </a:r>
            <a:endParaRPr lang="en-US" sz="11600" dirty="0"/>
          </a:p>
        </p:txBody>
      </p:sp>
      <p:sp>
        <p:nvSpPr>
          <p:cNvPr id="3" name="Text 1"/>
          <p:cNvSpPr txBox="1"/>
          <p:nvPr/>
        </p:nvSpPr>
        <p:spPr>
          <a:xfrm>
            <a:off x="731520" y="2286000"/>
            <a:ext cx="4572000" cy="292608"/>
          </a:xfrm>
          <a:prstGeom prst="rect">
            <a:avLst/>
          </a:prstGeom>
          <a:noFill/>
          <a:ln/>
        </p:spPr>
        <p:txBody>
          <a:bodyPr wrap="square" lIns="0" tIns="0" rIns="0" bIns="0" rtlCol="0" anchor="ctr"/>
          <a:lstStyle/>
          <a:p>
            <a:pPr indent="0" marL="0">
              <a:buNone/>
            </a:pPr>
            <a:r>
              <a:rPr lang="en-US" sz="1200" b="1" spc="300" kern="0" dirty="0">
                <a:solidFill>
                  <a:srgbClr val="82AAFF"/>
                </a:solidFill>
                <a:latin typeface="Calibri" pitchFamily="34" charset="0"/>
                <a:ea typeface="Calibri" pitchFamily="34" charset="-122"/>
                <a:cs typeface="Calibri" pitchFamily="34" charset="-120"/>
              </a:rPr>
              <a:t>BASAMAK 2 / 4</a:t>
            </a:r>
            <a:endParaRPr lang="en-US" sz="1200" dirty="0"/>
          </a:p>
        </p:txBody>
      </p:sp>
      <p:sp>
        <p:nvSpPr>
          <p:cNvPr id="4" name="Text 2"/>
          <p:cNvSpPr txBox="1"/>
          <p:nvPr/>
        </p:nvSpPr>
        <p:spPr>
          <a:xfrm>
            <a:off x="685800" y="2578608"/>
            <a:ext cx="5120640" cy="822960"/>
          </a:xfrm>
          <a:prstGeom prst="rect">
            <a:avLst/>
          </a:prstGeom>
          <a:noFill/>
          <a:ln/>
        </p:spPr>
        <p:txBody>
          <a:bodyPr wrap="square" lIns="0" tIns="0" rIns="0" bIns="0" rtlCol="0" anchor="ctr"/>
          <a:lstStyle/>
          <a:p>
            <a:pPr indent="0" marL="0">
              <a:buNone/>
            </a:pPr>
            <a:r>
              <a:rPr lang="en-US" sz="4600" b="1" spc="-100" kern="0" dirty="0">
                <a:solidFill>
                  <a:srgbClr val="FFFFFF"/>
                </a:solidFill>
                <a:latin typeface="Cambria" pitchFamily="34" charset="0"/>
                <a:ea typeface="Cambria" pitchFamily="34" charset="-122"/>
                <a:cs typeface="Cambria" pitchFamily="34" charset="-120"/>
              </a:rPr>
              <a:t>Orta</a:t>
            </a:r>
            <a:endParaRPr lang="en-US" sz="4600" dirty="0"/>
          </a:p>
        </p:txBody>
      </p:sp>
      <p:sp>
        <p:nvSpPr>
          <p:cNvPr id="5" name="Text 3"/>
          <p:cNvSpPr txBox="1"/>
          <p:nvPr/>
        </p:nvSpPr>
        <p:spPr>
          <a:xfrm>
            <a:off x="731520" y="3474720"/>
            <a:ext cx="4846320" cy="914400"/>
          </a:xfrm>
          <a:prstGeom prst="rect">
            <a:avLst/>
          </a:prstGeom>
          <a:noFill/>
          <a:ln/>
        </p:spPr>
        <p:txBody>
          <a:bodyPr wrap="square" lIns="0" tIns="0" rIns="0" bIns="0" rtlCol="0" anchor="t"/>
          <a:lstStyle/>
          <a:p>
            <a:pPr indent="0" marL="0">
              <a:lnSpc>
                <a:spcPct val="120000"/>
              </a:lnSpc>
              <a:buNone/>
            </a:pPr>
            <a:r>
              <a:rPr lang="en-US" sz="1600" dirty="0">
                <a:solidFill>
                  <a:srgbClr val="C3CEE8"/>
                </a:solidFill>
                <a:latin typeface="Calibri" pitchFamily="34" charset="0"/>
                <a:ea typeface="Calibri" pitchFamily="34" charset="-122"/>
                <a:cs typeface="Calibri" pitchFamily="34" charset="-120"/>
              </a:rPr>
              <a:t>Bağıntılar: direnci ve limit hızı formüle dök, doyan v–t eğrisini oku, gerçek cisimlerin sayılarıyla karşılaştır.</a:t>
            </a:r>
            <a:endParaRPr lang="en-US" sz="1600" dirty="0"/>
          </a:p>
        </p:txBody>
      </p:sp>
      <p:sp>
        <p:nvSpPr>
          <p:cNvPr id="6" name="Text 4"/>
          <p:cNvSpPr txBox="1"/>
          <p:nvPr/>
        </p:nvSpPr>
        <p:spPr>
          <a:xfrm>
            <a:off x="731520" y="4572000"/>
            <a:ext cx="5120640" cy="329184"/>
          </a:xfrm>
          <a:prstGeom prst="rect">
            <a:avLst/>
          </a:prstGeom>
          <a:noFill/>
          <a:ln/>
        </p:spPr>
        <p:txBody>
          <a:bodyPr wrap="square" lIns="0" tIns="0" rIns="0" bIns="0" rtlCol="0" anchor="ctr"/>
          <a:lstStyle/>
          <a:p>
            <a:pPr indent="0" marL="0">
              <a:buNone/>
            </a:pPr>
            <a:r>
              <a:rPr lang="en-US" sz="1300" b="1" dirty="0">
                <a:solidFill>
                  <a:srgbClr val="82AAFF"/>
                </a:solidFill>
                <a:latin typeface="Calibri" pitchFamily="34" charset="0"/>
                <a:ea typeface="Calibri" pitchFamily="34" charset="-122"/>
                <a:cs typeface="Calibri" pitchFamily="34" charset="-120"/>
              </a:rPr>
              <a:t>04   </a:t>
            </a:r>
            <a:pPr indent="0" marL="0">
              <a:buNone/>
            </a:pPr>
            <a:r>
              <a:rPr lang="en-US" sz="1300" dirty="0">
                <a:solidFill>
                  <a:srgbClr val="FFFFFF"/>
                </a:solidFill>
                <a:latin typeface="Calibri" pitchFamily="34" charset="0"/>
                <a:ea typeface="Calibri" pitchFamily="34" charset="-122"/>
                <a:cs typeface="Calibri" pitchFamily="34" charset="-120"/>
              </a:rPr>
              <a:t>Hava direncinin bağıntısı: F = k·v²</a:t>
            </a:r>
            <a:endParaRPr lang="en-US" sz="1300" dirty="0"/>
          </a:p>
        </p:txBody>
      </p:sp>
      <p:sp>
        <p:nvSpPr>
          <p:cNvPr id="7" name="Text 5"/>
          <p:cNvSpPr txBox="1"/>
          <p:nvPr/>
        </p:nvSpPr>
        <p:spPr>
          <a:xfrm>
            <a:off x="731520" y="4901184"/>
            <a:ext cx="5120640" cy="329184"/>
          </a:xfrm>
          <a:prstGeom prst="rect">
            <a:avLst/>
          </a:prstGeom>
          <a:noFill/>
          <a:ln/>
        </p:spPr>
        <p:txBody>
          <a:bodyPr wrap="square" lIns="0" tIns="0" rIns="0" bIns="0" rtlCol="0" anchor="ctr"/>
          <a:lstStyle/>
          <a:p>
            <a:pPr indent="0" marL="0">
              <a:buNone/>
            </a:pPr>
            <a:r>
              <a:rPr lang="en-US" sz="1300" b="1" dirty="0">
                <a:solidFill>
                  <a:srgbClr val="82AAFF"/>
                </a:solidFill>
                <a:latin typeface="Calibri" pitchFamily="34" charset="0"/>
                <a:ea typeface="Calibri" pitchFamily="34" charset="-122"/>
                <a:cs typeface="Calibri" pitchFamily="34" charset="-120"/>
              </a:rPr>
              <a:t>05   </a:t>
            </a:r>
            <a:pPr indent="0" marL="0">
              <a:buNone/>
            </a:pPr>
            <a:r>
              <a:rPr lang="en-US" sz="1300" dirty="0">
                <a:solidFill>
                  <a:srgbClr val="FFFFFF"/>
                </a:solidFill>
                <a:latin typeface="Calibri" pitchFamily="34" charset="0"/>
                <a:ea typeface="Calibri" pitchFamily="34" charset="-122"/>
                <a:cs typeface="Calibri" pitchFamily="34" charset="-120"/>
              </a:rPr>
              <a:t>Limit hız bağıntısı</a:t>
            </a:r>
            <a:endParaRPr lang="en-US" sz="1300" dirty="0"/>
          </a:p>
        </p:txBody>
      </p:sp>
      <p:sp>
        <p:nvSpPr>
          <p:cNvPr id="8" name="Text 6"/>
          <p:cNvSpPr txBox="1"/>
          <p:nvPr/>
        </p:nvSpPr>
        <p:spPr>
          <a:xfrm>
            <a:off x="731520" y="5230368"/>
            <a:ext cx="5120640" cy="329184"/>
          </a:xfrm>
          <a:prstGeom prst="rect">
            <a:avLst/>
          </a:prstGeom>
          <a:noFill/>
          <a:ln/>
        </p:spPr>
        <p:txBody>
          <a:bodyPr wrap="square" lIns="0" tIns="0" rIns="0" bIns="0" rtlCol="0" anchor="ctr"/>
          <a:lstStyle/>
          <a:p>
            <a:pPr indent="0" marL="0">
              <a:buNone/>
            </a:pPr>
            <a:r>
              <a:rPr lang="en-US" sz="1300" b="1" dirty="0">
                <a:solidFill>
                  <a:srgbClr val="82AAFF"/>
                </a:solidFill>
                <a:latin typeface="Calibri" pitchFamily="34" charset="0"/>
                <a:ea typeface="Calibri" pitchFamily="34" charset="-122"/>
                <a:cs typeface="Calibri" pitchFamily="34" charset="-120"/>
              </a:rPr>
              <a:t>06   </a:t>
            </a:r>
            <a:pPr indent="0" marL="0">
              <a:buNone/>
            </a:pPr>
            <a:r>
              <a:rPr lang="en-US" sz="1300" dirty="0">
                <a:solidFill>
                  <a:srgbClr val="FFFFFF"/>
                </a:solidFill>
                <a:latin typeface="Calibri" pitchFamily="34" charset="0"/>
                <a:ea typeface="Calibri" pitchFamily="34" charset="-122"/>
                <a:cs typeface="Calibri" pitchFamily="34" charset="-120"/>
              </a:rPr>
              <a:t>v – t grafiği: doyan eğri</a:t>
            </a:r>
            <a:endParaRPr lang="en-US" sz="1300" dirty="0"/>
          </a:p>
        </p:txBody>
      </p:sp>
      <p:sp>
        <p:nvSpPr>
          <p:cNvPr id="9" name="Text 7"/>
          <p:cNvSpPr txBox="1"/>
          <p:nvPr/>
        </p:nvSpPr>
        <p:spPr>
          <a:xfrm>
            <a:off x="731520" y="5559552"/>
            <a:ext cx="5120640" cy="329184"/>
          </a:xfrm>
          <a:prstGeom prst="rect">
            <a:avLst/>
          </a:prstGeom>
          <a:noFill/>
          <a:ln/>
        </p:spPr>
        <p:txBody>
          <a:bodyPr wrap="square" lIns="0" tIns="0" rIns="0" bIns="0" rtlCol="0" anchor="ctr"/>
          <a:lstStyle/>
          <a:p>
            <a:pPr indent="0" marL="0">
              <a:buNone/>
            </a:pPr>
            <a:r>
              <a:rPr lang="en-US" sz="1300" b="1" dirty="0">
                <a:solidFill>
                  <a:srgbClr val="82AAFF"/>
                </a:solidFill>
                <a:latin typeface="Calibri" pitchFamily="34" charset="0"/>
                <a:ea typeface="Calibri" pitchFamily="34" charset="-122"/>
                <a:cs typeface="Calibri" pitchFamily="34" charset="-120"/>
              </a:rPr>
              <a:t>07   </a:t>
            </a:r>
            <a:pPr indent="0" marL="0">
              <a:buNone/>
            </a:pPr>
            <a:r>
              <a:rPr lang="en-US" sz="1300" dirty="0">
                <a:solidFill>
                  <a:srgbClr val="FFFFFF"/>
                </a:solidFill>
                <a:latin typeface="Calibri" pitchFamily="34" charset="0"/>
                <a:ea typeface="Calibri" pitchFamily="34" charset="-122"/>
                <a:cs typeface="Calibri" pitchFamily="34" charset="-120"/>
              </a:rPr>
              <a:t>Sayılarla hisset: kim, hangi hızla, ne kadar sürede?</a:t>
            </a:r>
            <a:endParaRPr lang="en-US" sz="1300" dirty="0"/>
          </a:p>
        </p:txBody>
      </p:sp>
      <p:sp>
        <p:nvSpPr>
          <p:cNvPr id="10" name="Text 8"/>
          <p:cNvSpPr txBox="1"/>
          <p:nvPr/>
        </p:nvSpPr>
        <p:spPr>
          <a:xfrm>
            <a:off x="6172200" y="1097280"/>
            <a:ext cx="5379415" cy="274320"/>
          </a:xfrm>
          <a:prstGeom prst="rect">
            <a:avLst/>
          </a:prstGeom>
          <a:noFill/>
          <a:ln/>
        </p:spPr>
        <p:txBody>
          <a:bodyPr wrap="square" lIns="0" tIns="0" rIns="0" bIns="0" rtlCol="0" anchor="ctr"/>
          <a:lstStyle/>
          <a:p>
            <a:pPr indent="0" marL="0">
              <a:buNone/>
            </a:pPr>
            <a:r>
              <a:rPr lang="en-US" sz="1050" b="1" spc="200" kern="0" dirty="0">
                <a:solidFill>
                  <a:srgbClr val="8D97B5"/>
                </a:solidFill>
                <a:latin typeface="Calibri" pitchFamily="34" charset="0"/>
                <a:ea typeface="Calibri" pitchFamily="34" charset="-122"/>
                <a:cs typeface="Calibri" pitchFamily="34" charset="-120"/>
              </a:rPr>
              <a:t>TEMEL BAĞINTILAR</a:t>
            </a:r>
            <a:endParaRPr lang="en-US" sz="1050" dirty="0"/>
          </a:p>
        </p:txBody>
      </p:sp>
      <p:sp>
        <p:nvSpPr>
          <p:cNvPr id="11" name="Shape 9"/>
          <p:cNvSpPr/>
          <p:nvPr/>
        </p:nvSpPr>
        <p:spPr>
          <a:xfrm>
            <a:off x="6172200" y="1481328"/>
            <a:ext cx="5379415" cy="731520"/>
          </a:xfrm>
          <a:prstGeom prst="roundRect">
            <a:avLst>
              <a:gd name="adj" fmla="val 12500"/>
            </a:avLst>
          </a:prstGeom>
          <a:solidFill>
            <a:srgbClr val="1C2542"/>
          </a:solidFill>
          <a:ln w="9525">
            <a:solidFill>
              <a:srgbClr val="2C3860"/>
            </a:solidFill>
            <a:prstDash val="solid"/>
          </a:ln>
        </p:spPr>
      </p:sp>
      <p:sp>
        <p:nvSpPr>
          <p:cNvPr id="12" name="Text 10"/>
          <p:cNvSpPr txBox="1"/>
          <p:nvPr/>
        </p:nvSpPr>
        <p:spPr>
          <a:xfrm>
            <a:off x="6400800" y="1481328"/>
            <a:ext cx="1645920" cy="731520"/>
          </a:xfrm>
          <a:prstGeom prst="rect">
            <a:avLst/>
          </a:prstGeom>
          <a:noFill/>
          <a:ln/>
        </p:spPr>
        <p:txBody>
          <a:bodyPr wrap="square" lIns="0" tIns="0" rIns="0" bIns="0" rtlCol="0" anchor="ctr"/>
          <a:lstStyle/>
          <a:p>
            <a:pPr indent="0" marL="0">
              <a:buNone/>
            </a:pPr>
            <a:r>
              <a:rPr lang="en-US" sz="1500" b="1" dirty="0">
                <a:solidFill>
                  <a:srgbClr val="82AAFF"/>
                </a:solidFill>
                <a:latin typeface="Courier New" pitchFamily="34" charset="0"/>
                <a:ea typeface="Courier New" pitchFamily="34" charset="-122"/>
                <a:cs typeface="Courier New" pitchFamily="34" charset="-120"/>
              </a:rPr>
              <a:t>Fd = k · v²</a:t>
            </a:r>
            <a:endParaRPr lang="en-US" sz="1500" dirty="0"/>
          </a:p>
        </p:txBody>
      </p:sp>
      <p:sp>
        <p:nvSpPr>
          <p:cNvPr id="13" name="Text 11"/>
          <p:cNvSpPr txBox="1"/>
          <p:nvPr/>
        </p:nvSpPr>
        <p:spPr>
          <a:xfrm>
            <a:off x="8138160" y="1481328"/>
            <a:ext cx="3230575" cy="731520"/>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hava direnci</a:t>
            </a:r>
            <a:endParaRPr lang="en-US" sz="1200" dirty="0"/>
          </a:p>
        </p:txBody>
      </p:sp>
      <p:sp>
        <p:nvSpPr>
          <p:cNvPr id="14" name="Shape 12"/>
          <p:cNvSpPr/>
          <p:nvPr/>
        </p:nvSpPr>
        <p:spPr>
          <a:xfrm>
            <a:off x="6172200" y="2350008"/>
            <a:ext cx="5379415" cy="731520"/>
          </a:xfrm>
          <a:prstGeom prst="roundRect">
            <a:avLst>
              <a:gd name="adj" fmla="val 12500"/>
            </a:avLst>
          </a:prstGeom>
          <a:solidFill>
            <a:srgbClr val="1C2542"/>
          </a:solidFill>
          <a:ln w="9525">
            <a:solidFill>
              <a:srgbClr val="2C3860"/>
            </a:solidFill>
            <a:prstDash val="solid"/>
          </a:ln>
        </p:spPr>
      </p:sp>
      <p:sp>
        <p:nvSpPr>
          <p:cNvPr id="15" name="Text 13"/>
          <p:cNvSpPr txBox="1"/>
          <p:nvPr/>
        </p:nvSpPr>
        <p:spPr>
          <a:xfrm>
            <a:off x="6400800" y="2350008"/>
            <a:ext cx="1819656" cy="731520"/>
          </a:xfrm>
          <a:prstGeom prst="rect">
            <a:avLst/>
          </a:prstGeom>
          <a:noFill/>
          <a:ln/>
        </p:spPr>
        <p:txBody>
          <a:bodyPr wrap="square" lIns="0" tIns="0" rIns="0" bIns="0" rtlCol="0" anchor="ctr"/>
          <a:lstStyle/>
          <a:p>
            <a:pPr indent="0" marL="0">
              <a:buNone/>
            </a:pPr>
            <a:r>
              <a:rPr lang="en-US" sz="1500" b="1" dirty="0">
                <a:solidFill>
                  <a:srgbClr val="82AAFF"/>
                </a:solidFill>
                <a:latin typeface="Courier New" pitchFamily="34" charset="0"/>
                <a:ea typeface="Courier New" pitchFamily="34" charset="-122"/>
                <a:cs typeface="Courier New" pitchFamily="34" charset="-120"/>
              </a:rPr>
              <a:t>m·g = k · vl²</a:t>
            </a:r>
            <a:endParaRPr lang="en-US" sz="1500" dirty="0"/>
          </a:p>
        </p:txBody>
      </p:sp>
      <p:sp>
        <p:nvSpPr>
          <p:cNvPr id="16" name="Text 14"/>
          <p:cNvSpPr txBox="1"/>
          <p:nvPr/>
        </p:nvSpPr>
        <p:spPr>
          <a:xfrm>
            <a:off x="8311896" y="2350008"/>
            <a:ext cx="3056839" cy="731520"/>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limit hızda denge</a:t>
            </a:r>
            <a:endParaRPr lang="en-US" sz="1200" dirty="0"/>
          </a:p>
        </p:txBody>
      </p:sp>
      <p:sp>
        <p:nvSpPr>
          <p:cNvPr id="17" name="Shape 15"/>
          <p:cNvSpPr/>
          <p:nvPr/>
        </p:nvSpPr>
        <p:spPr>
          <a:xfrm>
            <a:off x="6172200" y="3218688"/>
            <a:ext cx="5379415" cy="731520"/>
          </a:xfrm>
          <a:prstGeom prst="roundRect">
            <a:avLst>
              <a:gd name="adj" fmla="val 12500"/>
            </a:avLst>
          </a:prstGeom>
          <a:solidFill>
            <a:srgbClr val="1C2542"/>
          </a:solidFill>
          <a:ln w="9525">
            <a:solidFill>
              <a:srgbClr val="2C3860"/>
            </a:solidFill>
            <a:prstDash val="solid"/>
          </a:ln>
        </p:spPr>
      </p:sp>
      <p:sp>
        <p:nvSpPr>
          <p:cNvPr id="18" name="Text 16"/>
          <p:cNvSpPr txBox="1"/>
          <p:nvPr/>
        </p:nvSpPr>
        <p:spPr>
          <a:xfrm>
            <a:off x="6400800" y="3218688"/>
            <a:ext cx="2057400" cy="731520"/>
          </a:xfrm>
          <a:prstGeom prst="rect">
            <a:avLst/>
          </a:prstGeom>
          <a:noFill/>
          <a:ln/>
        </p:spPr>
        <p:txBody>
          <a:bodyPr wrap="square" lIns="0" tIns="0" rIns="0" bIns="0" rtlCol="0" anchor="ctr"/>
          <a:lstStyle/>
          <a:p>
            <a:pPr indent="0" marL="0">
              <a:buNone/>
            </a:pPr>
            <a:r>
              <a:rPr lang="en-US" sz="1500" b="1" dirty="0">
                <a:solidFill>
                  <a:srgbClr val="82AAFF"/>
                </a:solidFill>
                <a:latin typeface="Courier New" pitchFamily="34" charset="0"/>
                <a:ea typeface="Courier New" pitchFamily="34" charset="-122"/>
                <a:cs typeface="Courier New" pitchFamily="34" charset="-120"/>
              </a:rPr>
              <a:t>vl = √(m·g / k)</a:t>
            </a:r>
            <a:endParaRPr lang="en-US" sz="1500" dirty="0"/>
          </a:p>
        </p:txBody>
      </p:sp>
      <p:sp>
        <p:nvSpPr>
          <p:cNvPr id="19" name="Text 17"/>
          <p:cNvSpPr txBox="1"/>
          <p:nvPr/>
        </p:nvSpPr>
        <p:spPr>
          <a:xfrm>
            <a:off x="8549640" y="3218688"/>
            <a:ext cx="2819095" cy="731520"/>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limit hız</a:t>
            </a:r>
            <a:endParaRPr lang="en-US" sz="1200" dirty="0"/>
          </a:p>
        </p:txBody>
      </p:sp>
      <p:sp>
        <p:nvSpPr>
          <p:cNvPr id="20" name="Shape 18"/>
          <p:cNvSpPr/>
          <p:nvPr/>
        </p:nvSpPr>
        <p:spPr>
          <a:xfrm>
            <a:off x="6172200" y="4087368"/>
            <a:ext cx="5379415" cy="731520"/>
          </a:xfrm>
          <a:prstGeom prst="roundRect">
            <a:avLst>
              <a:gd name="adj" fmla="val 12500"/>
            </a:avLst>
          </a:prstGeom>
          <a:solidFill>
            <a:srgbClr val="1C2542"/>
          </a:solidFill>
          <a:ln w="9525">
            <a:solidFill>
              <a:srgbClr val="2C3860"/>
            </a:solidFill>
            <a:prstDash val="solid"/>
          </a:ln>
        </p:spPr>
      </p:sp>
      <p:sp>
        <p:nvSpPr>
          <p:cNvPr id="21" name="Text 19"/>
          <p:cNvSpPr txBox="1"/>
          <p:nvPr/>
        </p:nvSpPr>
        <p:spPr>
          <a:xfrm>
            <a:off x="6400800" y="4087368"/>
            <a:ext cx="1645920" cy="731520"/>
          </a:xfrm>
          <a:prstGeom prst="rect">
            <a:avLst/>
          </a:prstGeom>
          <a:noFill/>
          <a:ln/>
        </p:spPr>
        <p:txBody>
          <a:bodyPr wrap="square" lIns="0" tIns="0" rIns="0" bIns="0" rtlCol="0" anchor="ctr"/>
          <a:lstStyle/>
          <a:p>
            <a:pPr indent="0" marL="0">
              <a:buNone/>
            </a:pPr>
            <a:r>
              <a:rPr lang="en-US" sz="1500" b="1" dirty="0">
                <a:solidFill>
                  <a:srgbClr val="82AAFF"/>
                </a:solidFill>
                <a:latin typeface="Courier New" pitchFamily="34" charset="0"/>
                <a:ea typeface="Courier New" pitchFamily="34" charset="-122"/>
                <a:cs typeface="Courier New" pitchFamily="34" charset="-120"/>
              </a:rPr>
              <a:t>k = ½·ρ·C·A</a:t>
            </a:r>
            <a:endParaRPr lang="en-US" sz="1500" dirty="0"/>
          </a:p>
        </p:txBody>
      </p:sp>
      <p:sp>
        <p:nvSpPr>
          <p:cNvPr id="22" name="Text 20"/>
          <p:cNvSpPr txBox="1"/>
          <p:nvPr/>
        </p:nvSpPr>
        <p:spPr>
          <a:xfrm>
            <a:off x="8138160" y="4087368"/>
            <a:ext cx="3230575" cy="731520"/>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şekil ve alana bağlı</a:t>
            </a:r>
            <a:endParaRPr lang="en-US" sz="1200" dirty="0"/>
          </a:p>
        </p:txBody>
      </p:sp>
      <p:sp>
        <p:nvSpPr>
          <p:cNvPr id="23" name="Shape 21"/>
          <p:cNvSpPr/>
          <p:nvPr/>
        </p:nvSpPr>
        <p:spPr>
          <a:xfrm>
            <a:off x="640080" y="6382512"/>
            <a:ext cx="128016" cy="128016"/>
          </a:xfrm>
          <a:prstGeom prst="roundRect">
            <a:avLst>
              <a:gd name="adj" fmla="val 28571"/>
            </a:avLst>
          </a:prstGeom>
          <a:solidFill>
            <a:srgbClr val="C6F36B"/>
          </a:solidFill>
          <a:ln/>
        </p:spPr>
      </p:sp>
      <p:sp>
        <p:nvSpPr>
          <p:cNvPr id="24" name="Text 22"/>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6A7798"/>
                </a:solidFill>
                <a:latin typeface="Calibri" pitchFamily="34" charset="0"/>
                <a:ea typeface="Calibri" pitchFamily="34" charset="-122"/>
                <a:cs typeface="Calibri" pitchFamily="34" charset="-120"/>
              </a:rPr>
              <a:t>dersler.perinet.org/limit-hiz.html</a:t>
            </a:r>
            <a:endParaRPr lang="en-US" sz="1050" dirty="0"/>
          </a:p>
        </p:txBody>
      </p:sp>
      <p:sp>
        <p:nvSpPr>
          <p:cNvPr id="25" name="Text 23"/>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6A7798"/>
                </a:solidFill>
                <a:latin typeface="Calibri" pitchFamily="34" charset="0"/>
                <a:ea typeface="Calibri" pitchFamily="34" charset="-122"/>
                <a:cs typeface="Calibri" pitchFamily="34" charset="-120"/>
              </a:rPr>
              <a:t>12</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Hava direncinin bağıntısı: F = k·v²</a:t>
            </a:r>
            <a:endParaRPr lang="en-US" sz="3200" dirty="0"/>
          </a:p>
        </p:txBody>
      </p:sp>
      <p:sp>
        <p:nvSpPr>
          <p:cNvPr id="5" name="Text 3"/>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6" name="Shape 4"/>
          <p:cNvSpPr/>
          <p:nvPr/>
        </p:nvSpPr>
        <p:spPr>
          <a:xfrm>
            <a:off x="640080" y="1188720"/>
            <a:ext cx="10911535" cy="1185062"/>
          </a:xfrm>
          <a:prstGeom prst="roundRect">
            <a:avLst>
              <a:gd name="adj" fmla="val 9259"/>
            </a:avLst>
          </a:prstGeom>
          <a:solidFill>
            <a:srgbClr val="F8F9FC"/>
          </a:solidFill>
          <a:ln w="9525">
            <a:solidFill>
              <a:srgbClr val="E1E5EE"/>
            </a:solidFill>
            <a:prstDash val="solid"/>
          </a:ln>
        </p:spPr>
      </p:sp>
      <p:sp>
        <p:nvSpPr>
          <p:cNvPr id="7" name="Shape 5"/>
          <p:cNvSpPr/>
          <p:nvPr/>
        </p:nvSpPr>
        <p:spPr>
          <a:xfrm>
            <a:off x="658368" y="1298448"/>
            <a:ext cx="54864" cy="965606"/>
          </a:xfrm>
          <a:prstGeom prst="rect">
            <a:avLst/>
          </a:prstGeom>
          <a:solidFill>
            <a:srgbClr val="2957D4"/>
          </a:solidFill>
          <a:ln/>
        </p:spPr>
      </p:sp>
      <p:sp>
        <p:nvSpPr>
          <p:cNvPr id="8" name="Text 6"/>
          <p:cNvSpPr txBox="1"/>
          <p:nvPr/>
        </p:nvSpPr>
        <p:spPr>
          <a:xfrm>
            <a:off x="932688" y="1234440"/>
            <a:ext cx="10454335" cy="1093622"/>
          </a:xfrm>
          <a:prstGeom prst="rect">
            <a:avLst/>
          </a:prstGeom>
          <a:noFill/>
          <a:ln/>
        </p:spPr>
        <p:txBody>
          <a:bodyPr wrap="square" lIns="0" tIns="0" rIns="0" bIns="0" rtlCol="0" anchor="ctr"/>
          <a:lstStyle/>
          <a:p>
            <a:pPr indent="0" marL="0">
              <a:lnSpc>
                <a:spcPct val="112000"/>
              </a:lnSpc>
              <a:buNone/>
            </a:pPr>
            <a:r>
              <a:rPr lang="en-US" sz="1850" dirty="0">
                <a:solidFill>
                  <a:srgbClr val="0E1426"/>
                </a:solidFill>
                <a:latin typeface="Calibri" pitchFamily="34" charset="0"/>
                <a:ea typeface="Calibri" pitchFamily="34" charset="-122"/>
                <a:cs typeface="Calibri" pitchFamily="34" charset="-120"/>
              </a:rPr>
              <a:t>Günlük hızlarda hava direnci Fd = k·v²'dir; k = ½·ρ·C·A havanın yoğunluğunu, cismin şeklini ve kesit alanını bir araya toplar. v² çarpanı, hem itilen hava miktarının hem de ona verilen hızın v ile büyümesinden gelir.</a:t>
            </a:r>
            <a:endParaRPr lang="en-US" sz="1850" dirty="0"/>
          </a:p>
        </p:txBody>
      </p:sp>
      <p:sp>
        <p:nvSpPr>
          <p:cNvPr id="9" name="Shape 7"/>
          <p:cNvSpPr/>
          <p:nvPr/>
        </p:nvSpPr>
        <p:spPr>
          <a:xfrm>
            <a:off x="640080" y="2593238"/>
            <a:ext cx="1543507" cy="457200"/>
          </a:xfrm>
          <a:prstGeom prst="roundRect">
            <a:avLst>
              <a:gd name="adj" fmla="val 24000"/>
            </a:avLst>
          </a:prstGeom>
          <a:solidFill>
            <a:srgbClr val="EEF2FC"/>
          </a:solidFill>
          <a:ln w="9525">
            <a:solidFill>
              <a:srgbClr val="CBD7F4"/>
            </a:solidFill>
            <a:prstDash val="solid"/>
          </a:ln>
        </p:spPr>
      </p:sp>
      <p:sp>
        <p:nvSpPr>
          <p:cNvPr id="10" name="Text 8"/>
          <p:cNvSpPr txBox="1"/>
          <p:nvPr/>
        </p:nvSpPr>
        <p:spPr>
          <a:xfrm>
            <a:off x="640080" y="2593238"/>
            <a:ext cx="1543507" cy="457200"/>
          </a:xfrm>
          <a:prstGeom prst="rect">
            <a:avLst/>
          </a:prstGeom>
          <a:noFill/>
          <a:ln/>
        </p:spPr>
        <p:txBody>
          <a:bodyPr wrap="square" lIns="0" tIns="0" rIns="0" bIns="0" rtlCol="0" anchor="ctr"/>
          <a:lstStyle/>
          <a:p>
            <a:pPr algn="ctr" indent="0" marL="0">
              <a:buNone/>
            </a:pPr>
            <a:r>
              <a:rPr lang="en-US" sz="1300" b="1" dirty="0">
                <a:solidFill>
                  <a:srgbClr val="2957D4"/>
                </a:solidFill>
                <a:latin typeface="Courier New" pitchFamily="34" charset="0"/>
                <a:ea typeface="Courier New" pitchFamily="34" charset="-122"/>
                <a:cs typeface="Courier New" pitchFamily="34" charset="-120"/>
              </a:rPr>
              <a:t>Fd = k · v²</a:t>
            </a:r>
            <a:endParaRPr lang="en-US" sz="1300" dirty="0"/>
          </a:p>
        </p:txBody>
      </p:sp>
      <p:sp>
        <p:nvSpPr>
          <p:cNvPr id="11" name="Shape 9"/>
          <p:cNvSpPr/>
          <p:nvPr/>
        </p:nvSpPr>
        <p:spPr>
          <a:xfrm>
            <a:off x="2293315" y="2593238"/>
            <a:ext cx="2136038" cy="457200"/>
          </a:xfrm>
          <a:prstGeom prst="roundRect">
            <a:avLst>
              <a:gd name="adj" fmla="val 24000"/>
            </a:avLst>
          </a:prstGeom>
          <a:solidFill>
            <a:srgbClr val="EEF2FC"/>
          </a:solidFill>
          <a:ln w="9525">
            <a:solidFill>
              <a:srgbClr val="CBD7F4"/>
            </a:solidFill>
            <a:prstDash val="solid"/>
          </a:ln>
        </p:spPr>
      </p:sp>
      <p:sp>
        <p:nvSpPr>
          <p:cNvPr id="12" name="Text 10"/>
          <p:cNvSpPr txBox="1"/>
          <p:nvPr/>
        </p:nvSpPr>
        <p:spPr>
          <a:xfrm>
            <a:off x="2293315" y="2593238"/>
            <a:ext cx="2136038" cy="457200"/>
          </a:xfrm>
          <a:prstGeom prst="rect">
            <a:avLst/>
          </a:prstGeom>
          <a:noFill/>
          <a:ln/>
        </p:spPr>
        <p:txBody>
          <a:bodyPr wrap="square" lIns="0" tIns="0" rIns="0" bIns="0" rtlCol="0" anchor="ctr"/>
          <a:lstStyle/>
          <a:p>
            <a:pPr algn="ctr" indent="0" marL="0">
              <a:buNone/>
            </a:pPr>
            <a:r>
              <a:rPr lang="en-US" sz="1300" b="1" dirty="0">
                <a:solidFill>
                  <a:srgbClr val="2957D4"/>
                </a:solidFill>
                <a:latin typeface="Courier New" pitchFamily="34" charset="0"/>
                <a:ea typeface="Courier New" pitchFamily="34" charset="-122"/>
                <a:cs typeface="Courier New" pitchFamily="34" charset="-120"/>
              </a:rPr>
              <a:t>k = ½ · ρ · C · A</a:t>
            </a:r>
            <a:endParaRPr lang="en-US" sz="1300" dirty="0"/>
          </a:p>
        </p:txBody>
      </p:sp>
      <p:sp>
        <p:nvSpPr>
          <p:cNvPr id="13" name="Text 11"/>
          <p:cNvSpPr txBox="1"/>
          <p:nvPr/>
        </p:nvSpPr>
        <p:spPr>
          <a:xfrm>
            <a:off x="640080" y="3215030"/>
            <a:ext cx="10911535" cy="875538"/>
          </a:xfrm>
          <a:prstGeom prst="rect">
            <a:avLst/>
          </a:prstGeom>
          <a:noFill/>
          <a:ln/>
        </p:spPr>
        <p:txBody>
          <a:bodyPr wrap="square" lIns="0" tIns="0" rIns="0" bIns="0" rtlCol="0" anchor="t"/>
          <a:lstStyle/>
          <a:p>
            <a:pPr marL="203200" indent="-203200">
              <a:lnSpc>
                <a:spcPct val="115000"/>
              </a:lnSpc>
              <a:spcAft>
                <a:spcPts val="500"/>
              </a:spcAft>
              <a:buSzPct val="100000"/>
              <a:buChar char="▪"/>
            </a:pPr>
            <a:r>
              <a:rPr lang="en-US" sz="1300" b="1" dirty="0">
                <a:solidFill>
                  <a:srgbClr val="0E1426"/>
                </a:solidFill>
                <a:latin typeface="Calibri" pitchFamily="34" charset="0"/>
                <a:ea typeface="Calibri" pitchFamily="34" charset="-122"/>
                <a:cs typeface="Calibri" pitchFamily="34" charset="-120"/>
              </a:rPr>
              <a:t>ρ</a:t>
            </a:r>
            <a:pPr indent="0" marL="0">
              <a:lnSpc>
                <a:spcPct val="115000"/>
              </a:lnSpc>
              <a:buNone/>
            </a:pPr>
            <a:r>
              <a:rPr lang="en-US" sz="1300" dirty="0">
                <a:solidFill>
                  <a:srgbClr val="4A5470"/>
                </a:solidFill>
                <a:latin typeface="Calibri" pitchFamily="34" charset="0"/>
                <a:ea typeface="Calibri" pitchFamily="34" charset="-122"/>
                <a:cs typeface="Calibri" pitchFamily="34" charset="-120"/>
              </a:rPr>
              <a:t>: havanın yoğunluğu (deniz seviyesinde ≈ 1,2 kg/m³)</a:t>
            </a:r>
            <a:endParaRPr lang="en-US" sz="1300" dirty="0"/>
          </a:p>
          <a:p>
            <a:pPr marL="203200" indent="-203200">
              <a:lnSpc>
                <a:spcPct val="115000"/>
              </a:lnSpc>
              <a:spcAft>
                <a:spcPts val="500"/>
              </a:spcAft>
              <a:buSzPct val="100000"/>
              <a:buChar char="▪"/>
            </a:pPr>
            <a:r>
              <a:rPr lang="en-US" sz="1300" b="1" dirty="0">
                <a:solidFill>
                  <a:srgbClr val="0E1426"/>
                </a:solidFill>
                <a:latin typeface="Calibri" pitchFamily="34" charset="0"/>
                <a:ea typeface="Calibri" pitchFamily="34" charset="-122"/>
                <a:cs typeface="Calibri" pitchFamily="34" charset="-120"/>
              </a:rPr>
              <a:t>C</a:t>
            </a:r>
            <a:pPr indent="0" marL="0">
              <a:lnSpc>
                <a:spcPct val="115000"/>
              </a:lnSpc>
              <a:buNone/>
            </a:pPr>
            <a:r>
              <a:rPr lang="en-US" sz="1300" dirty="0">
                <a:solidFill>
                  <a:srgbClr val="4A5470"/>
                </a:solidFill>
                <a:latin typeface="Calibri" pitchFamily="34" charset="0"/>
                <a:ea typeface="Calibri" pitchFamily="34" charset="-122"/>
                <a:cs typeface="Calibri" pitchFamily="34" charset="-120"/>
              </a:rPr>
              <a:t>: sürükleme katsayısı — cismin </a:t>
            </a:r>
            <a:pPr indent="0" marL="0">
              <a:lnSpc>
                <a:spcPct val="115000"/>
              </a:lnSpc>
              <a:buNone/>
            </a:pPr>
            <a:r>
              <a:rPr lang="en-US" sz="1300" i="1" dirty="0">
                <a:solidFill>
                  <a:srgbClr val="4A5470"/>
                </a:solidFill>
                <a:latin typeface="Calibri" pitchFamily="34" charset="0"/>
                <a:ea typeface="Calibri" pitchFamily="34" charset="-122"/>
                <a:cs typeface="Calibri" pitchFamily="34" charset="-120"/>
              </a:rPr>
              <a:t>şekline</a:t>
            </a:r>
            <a:pPr indent="0" marL="0">
              <a:lnSpc>
                <a:spcPct val="115000"/>
              </a:lnSpc>
              <a:buNone/>
            </a:pPr>
            <a:r>
              <a:rPr lang="en-US" sz="1300" dirty="0">
                <a:solidFill>
                  <a:srgbClr val="4A5470"/>
                </a:solidFill>
                <a:latin typeface="Calibri" pitchFamily="34" charset="0"/>
                <a:ea typeface="Calibri" pitchFamily="34" charset="-122"/>
                <a:cs typeface="Calibri" pitchFamily="34" charset="-120"/>
              </a:rPr>
              <a:t> bağlı (küre ≈ 0,5; düz levha ≈ 1,2)</a:t>
            </a:r>
            <a:endParaRPr lang="en-US" sz="1300" dirty="0"/>
          </a:p>
          <a:p>
            <a:pPr marL="203200" indent="-203200">
              <a:lnSpc>
                <a:spcPct val="115000"/>
              </a:lnSpc>
              <a:spcAft>
                <a:spcPts val="500"/>
              </a:spcAft>
              <a:buSzPct val="100000"/>
              <a:buChar char="▪"/>
            </a:pPr>
            <a:r>
              <a:rPr lang="en-US" sz="1300" b="1" dirty="0">
                <a:solidFill>
                  <a:srgbClr val="0E1426"/>
                </a:solidFill>
                <a:latin typeface="Calibri" pitchFamily="34" charset="0"/>
                <a:ea typeface="Calibri" pitchFamily="34" charset="-122"/>
                <a:cs typeface="Calibri" pitchFamily="34" charset="-120"/>
              </a:rPr>
              <a:t>A</a:t>
            </a:r>
            <a:pPr indent="0" marL="0">
              <a:lnSpc>
                <a:spcPct val="115000"/>
              </a:lnSpc>
              <a:buNone/>
            </a:pPr>
            <a:r>
              <a:rPr lang="en-US" sz="1300" dirty="0">
                <a:solidFill>
                  <a:srgbClr val="4A5470"/>
                </a:solidFill>
                <a:latin typeface="Calibri" pitchFamily="34" charset="0"/>
                <a:ea typeface="Calibri" pitchFamily="34" charset="-122"/>
                <a:cs typeface="Calibri" pitchFamily="34" charset="-120"/>
              </a:rPr>
              <a:t>: harekete dik kesit alanı</a:t>
            </a:r>
            <a:endParaRPr lang="en-US" sz="1300" dirty="0"/>
          </a:p>
        </p:txBody>
      </p:sp>
      <p:sp>
        <p:nvSpPr>
          <p:cNvPr id="14" name="Text 12"/>
          <p:cNvSpPr txBox="1"/>
          <p:nvPr/>
        </p:nvSpPr>
        <p:spPr>
          <a:xfrm>
            <a:off x="640080" y="4236872"/>
            <a:ext cx="10911535" cy="274320"/>
          </a:xfrm>
          <a:prstGeom prst="rect">
            <a:avLst/>
          </a:prstGeom>
          <a:noFill/>
          <a:ln/>
        </p:spPr>
        <p:txBody>
          <a:bodyPr wrap="square" lIns="0" tIns="0" rIns="0" bIns="0" rtlCol="0" anchor="ctr"/>
          <a:lstStyle/>
          <a:p>
            <a:pPr indent="0" marL="0">
              <a:buNone/>
            </a:pPr>
            <a:r>
              <a:rPr lang="en-US" sz="1350" b="1" dirty="0">
                <a:solidFill>
                  <a:srgbClr val="2957D4"/>
                </a:solidFill>
                <a:latin typeface="Calibri" pitchFamily="34" charset="0"/>
                <a:ea typeface="Calibri" pitchFamily="34" charset="-122"/>
                <a:cs typeface="Calibri" pitchFamily="34" charset="-120"/>
              </a:rPr>
              <a:t>v² nereden geliyor?</a:t>
            </a:r>
            <a:endParaRPr lang="en-US" sz="1350" dirty="0"/>
          </a:p>
        </p:txBody>
      </p:sp>
      <p:sp>
        <p:nvSpPr>
          <p:cNvPr id="15" name="Shape 13"/>
          <p:cNvSpPr/>
          <p:nvPr/>
        </p:nvSpPr>
        <p:spPr>
          <a:xfrm>
            <a:off x="640080" y="6382512"/>
            <a:ext cx="128016" cy="128016"/>
          </a:xfrm>
          <a:prstGeom prst="roundRect">
            <a:avLst>
              <a:gd name="adj" fmla="val 28571"/>
            </a:avLst>
          </a:prstGeom>
          <a:solidFill>
            <a:srgbClr val="A9E648"/>
          </a:solidFill>
          <a:ln/>
        </p:spPr>
      </p:sp>
      <p:sp>
        <p:nvSpPr>
          <p:cNvPr id="16" name="Text 14"/>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dersler.perinet.org/limit-hiz.html</a:t>
            </a:r>
            <a:endParaRPr lang="en-US" sz="1050" dirty="0"/>
          </a:p>
        </p:txBody>
      </p:sp>
      <p:sp>
        <p:nvSpPr>
          <p:cNvPr id="17" name="Text 15"/>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13</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Hava direncinin bağıntısı: F = k·v² · devam</a:t>
            </a:r>
            <a:endParaRPr lang="en-US" sz="3200" dirty="0"/>
          </a:p>
        </p:txBody>
      </p:sp>
      <p:sp>
        <p:nvSpPr>
          <p:cNvPr id="5" name="Text 3"/>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6" name="Text 4"/>
          <p:cNvSpPr txBox="1"/>
          <p:nvPr/>
        </p:nvSpPr>
        <p:spPr>
          <a:xfrm>
            <a:off x="640080" y="1481328"/>
            <a:ext cx="10911535" cy="1395222"/>
          </a:xfrm>
          <a:prstGeom prst="rect">
            <a:avLst/>
          </a:prstGeom>
          <a:noFill/>
          <a:ln/>
        </p:spPr>
        <p:txBody>
          <a:bodyPr wrap="square" lIns="0" tIns="0" rIns="0" bIns="0" rtlCol="0" anchor="t"/>
          <a:lstStyle/>
          <a:p>
            <a:pPr marL="228600" indent="-228600">
              <a:lnSpc>
                <a:spcPct val="115000"/>
              </a:lnSpc>
              <a:spcAft>
                <a:spcPts val="500"/>
              </a:spcAft>
              <a:buSzPct val="100000"/>
              <a:buFont typeface="+mj-lt"/>
              <a:buAutoNum type="arabicPeriod" startAt="1"/>
            </a:pPr>
            <a:r>
              <a:rPr lang="en-US" sz="1300" b="1" dirty="0">
                <a:solidFill>
                  <a:srgbClr val="0E1426"/>
                </a:solidFill>
                <a:latin typeface="Calibri" pitchFamily="34" charset="0"/>
                <a:ea typeface="Calibri" pitchFamily="34" charset="-122"/>
                <a:cs typeface="Calibri" pitchFamily="34" charset="-120"/>
              </a:rPr>
              <a:t>Süpürülen hava:</a:t>
            </a:r>
            <a:pPr indent="0" marL="0">
              <a:lnSpc>
                <a:spcPct val="115000"/>
              </a:lnSpc>
              <a:buNone/>
            </a:pPr>
            <a:r>
              <a:rPr lang="en-US" sz="1300" dirty="0">
                <a:solidFill>
                  <a:srgbClr val="4A5470"/>
                </a:solidFill>
                <a:latin typeface="Calibri" pitchFamily="34" charset="0"/>
                <a:ea typeface="Calibri" pitchFamily="34" charset="-122"/>
                <a:cs typeface="Calibri" pitchFamily="34" charset="-120"/>
              </a:rPr>
              <a:t> cisim Δt sürede v·Δt yol alır ve önündeki A·v·Δt hacmindeki havayı iter.</a:t>
            </a:r>
            <a:endParaRPr lang="en-US" sz="1300" dirty="0"/>
          </a:p>
          <a:p>
            <a:pPr marL="228600" indent="-228600">
              <a:lnSpc>
                <a:spcPct val="115000"/>
              </a:lnSpc>
              <a:spcAft>
                <a:spcPts val="500"/>
              </a:spcAft>
              <a:buSzPct val="100000"/>
              <a:buFont typeface="+mj-lt"/>
              <a:buAutoNum type="arabicPeriod" startAt="1"/>
            </a:pPr>
            <a:r>
              <a:rPr lang="en-US" sz="1300" b="1" dirty="0">
                <a:solidFill>
                  <a:srgbClr val="0E1426"/>
                </a:solidFill>
                <a:latin typeface="Calibri" pitchFamily="34" charset="0"/>
                <a:ea typeface="Calibri" pitchFamily="34" charset="-122"/>
                <a:cs typeface="Calibri" pitchFamily="34" charset="-120"/>
              </a:rPr>
              <a:t>Bu havanın kütlesi:</a:t>
            </a:r>
            <a:pPr indent="0" marL="0">
              <a:lnSpc>
                <a:spcPct val="115000"/>
              </a:lnSpc>
              <a:buNone/>
            </a:pPr>
            <a:r>
              <a:rPr lang="en-US" sz="1300" dirty="0">
                <a:solidFill>
                  <a:srgbClr val="4A5470"/>
                </a:solidFill>
                <a:latin typeface="Calibri" pitchFamily="34" charset="0"/>
                <a:ea typeface="Calibri" pitchFamily="34" charset="-122"/>
                <a:cs typeface="Calibri" pitchFamily="34" charset="-120"/>
              </a:rPr>
              <a:t> ρ·A·v·Δt; hız iki katına çıkınca iki kat hava itilir.</a:t>
            </a:r>
            <a:endParaRPr lang="en-US" sz="1300" dirty="0"/>
          </a:p>
          <a:p>
            <a:pPr marL="228600" indent="-228600">
              <a:lnSpc>
                <a:spcPct val="115000"/>
              </a:lnSpc>
              <a:spcAft>
                <a:spcPts val="500"/>
              </a:spcAft>
              <a:buSzPct val="100000"/>
              <a:buFont typeface="+mj-lt"/>
              <a:buAutoNum type="arabicPeriod" startAt="1"/>
            </a:pPr>
            <a:r>
              <a:rPr lang="en-US" sz="1300" b="1" dirty="0">
                <a:solidFill>
                  <a:srgbClr val="0E1426"/>
                </a:solidFill>
                <a:latin typeface="Calibri" pitchFamily="34" charset="0"/>
                <a:ea typeface="Calibri" pitchFamily="34" charset="-122"/>
                <a:cs typeface="Calibri" pitchFamily="34" charset="-120"/>
              </a:rPr>
              <a:t>Havaya verilen hız:</a:t>
            </a:r>
            <a:pPr indent="0" marL="0">
              <a:lnSpc>
                <a:spcPct val="115000"/>
              </a:lnSpc>
              <a:buNone/>
            </a:pPr>
            <a:r>
              <a:rPr lang="en-US" sz="1300" dirty="0">
                <a:solidFill>
                  <a:srgbClr val="4A5470"/>
                </a:solidFill>
                <a:latin typeface="Calibri" pitchFamily="34" charset="0"/>
                <a:ea typeface="Calibri" pitchFamily="34" charset="-122"/>
                <a:cs typeface="Calibri" pitchFamily="34" charset="-120"/>
              </a:rPr>
              <a:t> itilen hava yaklaşık v mertebesinde hızlanır; hız iki katına çıkınca bu da iki katına çıkar.</a:t>
            </a:r>
            <a:endParaRPr lang="en-US" sz="1300" dirty="0"/>
          </a:p>
          <a:p>
            <a:pPr marL="228600" indent="-228600">
              <a:lnSpc>
                <a:spcPct val="115000"/>
              </a:lnSpc>
              <a:spcAft>
                <a:spcPts val="500"/>
              </a:spcAft>
              <a:buSzPct val="100000"/>
              <a:buFont typeface="+mj-lt"/>
              <a:buAutoNum type="arabicPeriod" startAt="1"/>
            </a:pPr>
            <a:r>
              <a:rPr lang="en-US" sz="1300" b="1" dirty="0">
                <a:solidFill>
                  <a:srgbClr val="0E1426"/>
                </a:solidFill>
                <a:latin typeface="Calibri" pitchFamily="34" charset="0"/>
                <a:ea typeface="Calibri" pitchFamily="34" charset="-122"/>
                <a:cs typeface="Calibri" pitchFamily="34" charset="-120"/>
              </a:rPr>
              <a:t>Newton'un ikinci yasası:</a:t>
            </a:r>
            <a:pPr indent="0" marL="0">
              <a:lnSpc>
                <a:spcPct val="115000"/>
              </a:lnSpc>
              <a:buNone/>
            </a:pPr>
            <a:r>
              <a:rPr lang="en-US" sz="1300" dirty="0">
                <a:solidFill>
                  <a:srgbClr val="4A5470"/>
                </a:solidFill>
                <a:latin typeface="Calibri" pitchFamily="34" charset="0"/>
                <a:ea typeface="Calibri" pitchFamily="34" charset="-122"/>
                <a:cs typeface="Calibri" pitchFamily="34" charset="-120"/>
              </a:rPr>
              <a:t> her saniye ρ·A·v kütlesindeki hava yaklaşık v kadar hızlandırılıyorsa gereken kuvvet ρ·A·v² mertebesindedir.</a:t>
            </a:r>
            <a:endParaRPr lang="en-US" sz="1300" dirty="0"/>
          </a:p>
        </p:txBody>
      </p:sp>
      <p:sp>
        <p:nvSpPr>
          <p:cNvPr id="7" name="Shape 5"/>
          <p:cNvSpPr/>
          <p:nvPr/>
        </p:nvSpPr>
        <p:spPr>
          <a:xfrm>
            <a:off x="640080" y="2986278"/>
            <a:ext cx="10911535" cy="822960"/>
          </a:xfrm>
          <a:prstGeom prst="roundRect">
            <a:avLst>
              <a:gd name="adj" fmla="val 1333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58368" y="3132582"/>
            <a:ext cx="45720" cy="530352"/>
          </a:xfrm>
          <a:prstGeom prst="rect">
            <a:avLst/>
          </a:prstGeom>
          <a:solidFill>
            <a:srgbClr val="3C8C21"/>
          </a:solidFill>
          <a:ln/>
        </p:spPr>
      </p:sp>
      <p:sp>
        <p:nvSpPr>
          <p:cNvPr id="9" name="Text 7"/>
          <p:cNvSpPr txBox="1"/>
          <p:nvPr/>
        </p:nvSpPr>
        <p:spPr>
          <a:xfrm>
            <a:off x="914400" y="3096006"/>
            <a:ext cx="10454335" cy="603504"/>
          </a:xfrm>
          <a:prstGeom prst="rect">
            <a:avLst/>
          </a:prstGeom>
          <a:noFill/>
          <a:ln/>
        </p:spPr>
        <p:txBody>
          <a:bodyPr wrap="square" lIns="0" tIns="0" rIns="0" bIns="0" rtlCol="0" anchor="ctr"/>
          <a:lstStyle/>
          <a:p>
            <a:pPr indent="0" marL="0">
              <a:lnSpc>
                <a:spcPct val="112000"/>
              </a:lnSpc>
              <a:buNone/>
            </a:pPr>
            <a:r>
              <a:rPr lang="en-US" sz="1200" b="1" dirty="0">
                <a:solidFill>
                  <a:srgbClr val="0E1426"/>
                </a:solidFill>
                <a:latin typeface="Calibri" pitchFamily="34" charset="0"/>
                <a:ea typeface="Calibri" pitchFamily="34" charset="-122"/>
                <a:cs typeface="Calibri" pitchFamily="34" charset="-120"/>
              </a:rPr>
              <a:t>Birim kontrolü:</a:t>
            </a:r>
            <a:pPr indent="0" marL="0">
              <a:lnSpc>
                <a:spcPct val="112000"/>
              </a:lnSpc>
              <a:buNone/>
            </a:pPr>
            <a:r>
              <a:rPr lang="en-US" sz="1200" dirty="0">
                <a:solidFill>
                  <a:srgbClr val="4A5470"/>
                </a:solidFill>
                <a:latin typeface="Calibri" pitchFamily="34" charset="0"/>
                <a:ea typeface="Calibri" pitchFamily="34" charset="-122"/>
                <a:cs typeface="Calibri" pitchFamily="34" charset="-120"/>
              </a:rPr>
              <a:t> k = ½·ρ·C·A için (kg/m³)·m² = kg/m çıkar. k·v² için (kg/m)·(m²/s²) = kg·m/s² = N ✓. Çözümlü örneklerdeki k değerleri bu yüzden kg/m ile yazılır.</a:t>
            </a:r>
            <a:endParaRPr lang="en-US" sz="12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dersler.perinet.org/limit-hiz.html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14</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Limit hız bağıntısı</a:t>
            </a:r>
            <a:endParaRPr lang="en-US" sz="3200" dirty="0"/>
          </a:p>
        </p:txBody>
      </p:sp>
      <p:sp>
        <p:nvSpPr>
          <p:cNvPr id="5" name="Text 3"/>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6" name="Shape 4"/>
          <p:cNvSpPr/>
          <p:nvPr/>
        </p:nvSpPr>
        <p:spPr>
          <a:xfrm>
            <a:off x="640080" y="1188720"/>
            <a:ext cx="10911535" cy="1185062"/>
          </a:xfrm>
          <a:prstGeom prst="roundRect">
            <a:avLst>
              <a:gd name="adj" fmla="val 9259"/>
            </a:avLst>
          </a:prstGeom>
          <a:solidFill>
            <a:srgbClr val="F8F9FC"/>
          </a:solidFill>
          <a:ln w="9525">
            <a:solidFill>
              <a:srgbClr val="E1E5EE"/>
            </a:solidFill>
            <a:prstDash val="solid"/>
          </a:ln>
        </p:spPr>
      </p:sp>
      <p:sp>
        <p:nvSpPr>
          <p:cNvPr id="7" name="Shape 5"/>
          <p:cNvSpPr/>
          <p:nvPr/>
        </p:nvSpPr>
        <p:spPr>
          <a:xfrm>
            <a:off x="658368" y="1298448"/>
            <a:ext cx="54864" cy="965606"/>
          </a:xfrm>
          <a:prstGeom prst="rect">
            <a:avLst/>
          </a:prstGeom>
          <a:solidFill>
            <a:srgbClr val="2957D4"/>
          </a:solidFill>
          <a:ln/>
        </p:spPr>
      </p:sp>
      <p:sp>
        <p:nvSpPr>
          <p:cNvPr id="8" name="Text 6"/>
          <p:cNvSpPr txBox="1"/>
          <p:nvPr/>
        </p:nvSpPr>
        <p:spPr>
          <a:xfrm>
            <a:off x="932688" y="1234440"/>
            <a:ext cx="10454335" cy="1093622"/>
          </a:xfrm>
          <a:prstGeom prst="rect">
            <a:avLst/>
          </a:prstGeom>
          <a:noFill/>
          <a:ln/>
        </p:spPr>
        <p:txBody>
          <a:bodyPr wrap="square" lIns="0" tIns="0" rIns="0" bIns="0" rtlCol="0" anchor="ctr"/>
          <a:lstStyle/>
          <a:p>
            <a:pPr indent="0" marL="0">
              <a:lnSpc>
                <a:spcPct val="112000"/>
              </a:lnSpc>
              <a:buNone/>
            </a:pPr>
            <a:r>
              <a:rPr lang="en-US" sz="1850" dirty="0">
                <a:solidFill>
                  <a:srgbClr val="0E1426"/>
                </a:solidFill>
                <a:latin typeface="Calibri" pitchFamily="34" charset="0"/>
                <a:ea typeface="Calibri" pitchFamily="34" charset="-122"/>
                <a:cs typeface="Calibri" pitchFamily="34" charset="-120"/>
              </a:rPr>
              <a:t>Limit hız, m·g = k·vl² dengesinden vl = √(m·g/k) olarak çıkar. Kütle 4 katına çıkınca limit hız 2 katına çıkar, alan 4 katına çıkınca yarıya iner; belirleyici olan m/A oranıdır.</a:t>
            </a:r>
            <a:endParaRPr lang="en-US" sz="1850" dirty="0"/>
          </a:p>
        </p:txBody>
      </p:sp>
      <p:sp>
        <p:nvSpPr>
          <p:cNvPr id="9" name="Shape 7"/>
          <p:cNvSpPr/>
          <p:nvPr/>
        </p:nvSpPr>
        <p:spPr>
          <a:xfrm>
            <a:off x="640080" y="2593238"/>
            <a:ext cx="1938528" cy="457200"/>
          </a:xfrm>
          <a:prstGeom prst="roundRect">
            <a:avLst>
              <a:gd name="adj" fmla="val 24000"/>
            </a:avLst>
          </a:prstGeom>
          <a:solidFill>
            <a:srgbClr val="EEF2FC"/>
          </a:solidFill>
          <a:ln w="9525">
            <a:solidFill>
              <a:srgbClr val="CBD7F4"/>
            </a:solidFill>
            <a:prstDash val="solid"/>
          </a:ln>
        </p:spPr>
      </p:sp>
      <p:sp>
        <p:nvSpPr>
          <p:cNvPr id="10" name="Text 8"/>
          <p:cNvSpPr txBox="1"/>
          <p:nvPr/>
        </p:nvSpPr>
        <p:spPr>
          <a:xfrm>
            <a:off x="640080" y="2593238"/>
            <a:ext cx="1938528" cy="457200"/>
          </a:xfrm>
          <a:prstGeom prst="rect">
            <a:avLst/>
          </a:prstGeom>
          <a:noFill/>
          <a:ln/>
        </p:spPr>
        <p:txBody>
          <a:bodyPr wrap="square" lIns="0" tIns="0" rIns="0" bIns="0" rtlCol="0" anchor="ctr"/>
          <a:lstStyle/>
          <a:p>
            <a:pPr algn="ctr" indent="0" marL="0">
              <a:buNone/>
            </a:pPr>
            <a:r>
              <a:rPr lang="en-US" sz="1300" b="1" dirty="0">
                <a:solidFill>
                  <a:srgbClr val="2957D4"/>
                </a:solidFill>
                <a:latin typeface="Courier New" pitchFamily="34" charset="0"/>
                <a:ea typeface="Courier New" pitchFamily="34" charset="-122"/>
                <a:cs typeface="Courier New" pitchFamily="34" charset="-120"/>
              </a:rPr>
              <a:t>ΣF = m·g − k·v²</a:t>
            </a:r>
            <a:endParaRPr lang="en-US" sz="1300" dirty="0"/>
          </a:p>
        </p:txBody>
      </p:sp>
      <p:sp>
        <p:nvSpPr>
          <p:cNvPr id="11" name="Shape 9"/>
          <p:cNvSpPr/>
          <p:nvPr/>
        </p:nvSpPr>
        <p:spPr>
          <a:xfrm>
            <a:off x="2688336" y="2593238"/>
            <a:ext cx="2333549" cy="457200"/>
          </a:xfrm>
          <a:prstGeom prst="roundRect">
            <a:avLst>
              <a:gd name="adj" fmla="val 24000"/>
            </a:avLst>
          </a:prstGeom>
          <a:solidFill>
            <a:srgbClr val="EEF2FC"/>
          </a:solidFill>
          <a:ln w="9525">
            <a:solidFill>
              <a:srgbClr val="CBD7F4"/>
            </a:solidFill>
            <a:prstDash val="solid"/>
          </a:ln>
        </p:spPr>
      </p:sp>
      <p:sp>
        <p:nvSpPr>
          <p:cNvPr id="12" name="Text 10"/>
          <p:cNvSpPr txBox="1"/>
          <p:nvPr/>
        </p:nvSpPr>
        <p:spPr>
          <a:xfrm>
            <a:off x="2688336" y="2593238"/>
            <a:ext cx="2333549" cy="457200"/>
          </a:xfrm>
          <a:prstGeom prst="rect">
            <a:avLst/>
          </a:prstGeom>
          <a:noFill/>
          <a:ln/>
        </p:spPr>
        <p:txBody>
          <a:bodyPr wrap="square" lIns="0" tIns="0" rIns="0" bIns="0" rtlCol="0" anchor="ctr"/>
          <a:lstStyle/>
          <a:p>
            <a:pPr algn="ctr" indent="0" marL="0">
              <a:buNone/>
            </a:pPr>
            <a:r>
              <a:rPr lang="en-US" sz="1300" b="1" dirty="0">
                <a:solidFill>
                  <a:srgbClr val="2957D4"/>
                </a:solidFill>
                <a:latin typeface="Courier New" pitchFamily="34" charset="0"/>
                <a:ea typeface="Courier New" pitchFamily="34" charset="-122"/>
                <a:cs typeface="Courier New" pitchFamily="34" charset="-120"/>
              </a:rPr>
              <a:t>m·g = k·vl² → a = 0</a:t>
            </a:r>
            <a:endParaRPr lang="en-US" sz="1300" dirty="0"/>
          </a:p>
        </p:txBody>
      </p:sp>
      <p:sp>
        <p:nvSpPr>
          <p:cNvPr id="13" name="Text 11"/>
          <p:cNvSpPr txBox="1"/>
          <p:nvPr/>
        </p:nvSpPr>
        <p:spPr>
          <a:xfrm>
            <a:off x="640080" y="3215030"/>
            <a:ext cx="6675120" cy="1167384"/>
          </a:xfrm>
          <a:prstGeom prst="rect">
            <a:avLst/>
          </a:prstGeom>
          <a:noFill/>
          <a:ln/>
        </p:spPr>
        <p:txBody>
          <a:bodyPr wrap="square" lIns="0" tIns="0" rIns="0" bIns="0" rtlCol="0" anchor="t"/>
          <a:lstStyle/>
          <a:p>
            <a:pPr marL="228600" indent="-228600">
              <a:lnSpc>
                <a:spcPct val="115000"/>
              </a:lnSpc>
              <a:spcAft>
                <a:spcPts val="500"/>
              </a:spcAft>
              <a:buSzPct val="100000"/>
              <a:buFont typeface="+mj-lt"/>
              <a:buAutoNum type="arabicPeriod" startAt="1"/>
            </a:pPr>
            <a:r>
              <a:rPr lang="en-US" sz="1300" b="1" dirty="0">
                <a:solidFill>
                  <a:srgbClr val="0E1426"/>
                </a:solidFill>
                <a:latin typeface="Calibri" pitchFamily="34" charset="0"/>
                <a:ea typeface="Calibri" pitchFamily="34" charset="-122"/>
                <a:cs typeface="Calibri" pitchFamily="34" charset="-120"/>
              </a:rPr>
              <a:t>Denge:</a:t>
            </a:r>
            <a:pPr indent="0" marL="0">
              <a:lnSpc>
                <a:spcPct val="115000"/>
              </a:lnSpc>
              <a:buNone/>
            </a:pPr>
            <a:r>
              <a:rPr lang="en-US" sz="1300" dirty="0">
                <a:solidFill>
                  <a:srgbClr val="4A5470"/>
                </a:solidFill>
                <a:latin typeface="Calibri" pitchFamily="34" charset="0"/>
                <a:ea typeface="Calibri" pitchFamily="34" charset="-122"/>
                <a:cs typeface="Calibri" pitchFamily="34" charset="-120"/>
              </a:rPr>
              <a:t> limit hızda a = 0, yani m·g − k·v</a:t>
            </a:r>
            <a:pPr indent="0" marL="0">
              <a:lnSpc>
                <a:spcPct val="115000"/>
              </a:lnSpc>
              <a:buNone/>
            </a:pPr>
            <a:r>
              <a:rPr lang="en-US" sz="1300" baseline="-40000" dirty="0">
                <a:solidFill>
                  <a:srgbClr val="4A5470"/>
                </a:solidFill>
                <a:latin typeface="Calibri" pitchFamily="34" charset="0"/>
                <a:ea typeface="Calibri" pitchFamily="34" charset="-122"/>
                <a:cs typeface="Calibri" pitchFamily="34" charset="-120"/>
              </a:rPr>
              <a:t>l</a:t>
            </a:r>
            <a:pPr indent="0" marL="0">
              <a:lnSpc>
                <a:spcPct val="115000"/>
              </a:lnSpc>
              <a:buNone/>
            </a:pPr>
            <a:r>
              <a:rPr lang="en-US" sz="1300" dirty="0">
                <a:solidFill>
                  <a:srgbClr val="4A5470"/>
                </a:solidFill>
                <a:latin typeface="Calibri" pitchFamily="34" charset="0"/>
                <a:ea typeface="Calibri" pitchFamily="34" charset="-122"/>
                <a:cs typeface="Calibri" pitchFamily="34" charset="-120"/>
              </a:rPr>
              <a:t>² = 0.</a:t>
            </a:r>
            <a:endParaRPr lang="en-US" sz="1300" dirty="0"/>
          </a:p>
          <a:p>
            <a:pPr marL="228600" indent="-228600">
              <a:lnSpc>
                <a:spcPct val="115000"/>
              </a:lnSpc>
              <a:spcAft>
                <a:spcPts val="500"/>
              </a:spcAft>
              <a:buSzPct val="100000"/>
              <a:buFont typeface="+mj-lt"/>
              <a:buAutoNum type="arabicPeriod" startAt="1"/>
            </a:pPr>
            <a:r>
              <a:rPr lang="en-US" sz="1300" b="1" dirty="0">
                <a:solidFill>
                  <a:srgbClr val="0E1426"/>
                </a:solidFill>
                <a:latin typeface="Calibri" pitchFamily="34" charset="0"/>
                <a:ea typeface="Calibri" pitchFamily="34" charset="-122"/>
                <a:cs typeface="Calibri" pitchFamily="34" charset="-120"/>
              </a:rPr>
              <a:t>Düzenle:</a:t>
            </a:r>
            <a:pPr indent="0" marL="0">
              <a:lnSpc>
                <a:spcPct val="115000"/>
              </a:lnSpc>
              <a:buNone/>
            </a:pPr>
            <a:r>
              <a:rPr lang="en-US" sz="1300" dirty="0">
                <a:solidFill>
                  <a:srgbClr val="4A5470"/>
                </a:solidFill>
                <a:latin typeface="Calibri" pitchFamily="34" charset="0"/>
                <a:ea typeface="Calibri" pitchFamily="34" charset="-122"/>
                <a:cs typeface="Calibri" pitchFamily="34" charset="-120"/>
              </a:rPr>
              <a:t> k·v</a:t>
            </a:r>
            <a:pPr indent="0" marL="0">
              <a:lnSpc>
                <a:spcPct val="115000"/>
              </a:lnSpc>
              <a:buNone/>
            </a:pPr>
            <a:r>
              <a:rPr lang="en-US" sz="1300" baseline="-40000" dirty="0">
                <a:solidFill>
                  <a:srgbClr val="4A5470"/>
                </a:solidFill>
                <a:latin typeface="Calibri" pitchFamily="34" charset="0"/>
                <a:ea typeface="Calibri" pitchFamily="34" charset="-122"/>
                <a:cs typeface="Calibri" pitchFamily="34" charset="-120"/>
              </a:rPr>
              <a:t>l</a:t>
            </a:r>
            <a:pPr indent="0" marL="0">
              <a:lnSpc>
                <a:spcPct val="115000"/>
              </a:lnSpc>
              <a:buNone/>
            </a:pPr>
            <a:r>
              <a:rPr lang="en-US" sz="1300" dirty="0">
                <a:solidFill>
                  <a:srgbClr val="4A5470"/>
                </a:solidFill>
                <a:latin typeface="Calibri" pitchFamily="34" charset="0"/>
                <a:ea typeface="Calibri" pitchFamily="34" charset="-122"/>
                <a:cs typeface="Calibri" pitchFamily="34" charset="-120"/>
              </a:rPr>
              <a:t>² = m·g, buradan v</a:t>
            </a:r>
            <a:pPr indent="0" marL="0">
              <a:lnSpc>
                <a:spcPct val="115000"/>
              </a:lnSpc>
              <a:buNone/>
            </a:pPr>
            <a:r>
              <a:rPr lang="en-US" sz="1300" baseline="-40000" dirty="0">
                <a:solidFill>
                  <a:srgbClr val="4A5470"/>
                </a:solidFill>
                <a:latin typeface="Calibri" pitchFamily="34" charset="0"/>
                <a:ea typeface="Calibri" pitchFamily="34" charset="-122"/>
                <a:cs typeface="Calibri" pitchFamily="34" charset="-120"/>
              </a:rPr>
              <a:t>l</a:t>
            </a:r>
            <a:pPr indent="0" marL="0">
              <a:lnSpc>
                <a:spcPct val="115000"/>
              </a:lnSpc>
              <a:buNone/>
            </a:pPr>
            <a:r>
              <a:rPr lang="en-US" sz="1300" dirty="0">
                <a:solidFill>
                  <a:srgbClr val="4A5470"/>
                </a:solidFill>
                <a:latin typeface="Calibri" pitchFamily="34" charset="0"/>
                <a:ea typeface="Calibri" pitchFamily="34" charset="-122"/>
                <a:cs typeface="Calibri" pitchFamily="34" charset="-120"/>
              </a:rPr>
              <a:t>² = m·g / k.</a:t>
            </a:r>
            <a:endParaRPr lang="en-US" sz="1300" dirty="0"/>
          </a:p>
          <a:p>
            <a:pPr marL="228600" indent="-228600">
              <a:lnSpc>
                <a:spcPct val="115000"/>
              </a:lnSpc>
              <a:spcAft>
                <a:spcPts val="500"/>
              </a:spcAft>
              <a:buSzPct val="100000"/>
              <a:buFont typeface="+mj-lt"/>
              <a:buAutoNum type="arabicPeriod" startAt="1"/>
            </a:pPr>
            <a:r>
              <a:rPr lang="en-US" sz="1300" b="1" dirty="0">
                <a:solidFill>
                  <a:srgbClr val="0E1426"/>
                </a:solidFill>
                <a:latin typeface="Calibri" pitchFamily="34" charset="0"/>
                <a:ea typeface="Calibri" pitchFamily="34" charset="-122"/>
                <a:cs typeface="Calibri" pitchFamily="34" charset="-120"/>
              </a:rPr>
              <a:t>Karekök al:</a:t>
            </a:r>
            <a:pPr indent="0" marL="0">
              <a:lnSpc>
                <a:spcPct val="115000"/>
              </a:lnSpc>
              <a:buNone/>
            </a:pPr>
            <a:r>
              <a:rPr lang="en-US" sz="1300" dirty="0">
                <a:solidFill>
                  <a:srgbClr val="4A5470"/>
                </a:solidFill>
                <a:latin typeface="Calibri" pitchFamily="34" charset="0"/>
                <a:ea typeface="Calibri" pitchFamily="34" charset="-122"/>
                <a:cs typeface="Calibri" pitchFamily="34" charset="-120"/>
              </a:rPr>
              <a:t> v</a:t>
            </a:r>
            <a:pPr indent="0" marL="0">
              <a:lnSpc>
                <a:spcPct val="115000"/>
              </a:lnSpc>
              <a:buNone/>
            </a:pPr>
            <a:r>
              <a:rPr lang="en-US" sz="1300" baseline="-40000" dirty="0">
                <a:solidFill>
                  <a:srgbClr val="4A5470"/>
                </a:solidFill>
                <a:latin typeface="Calibri" pitchFamily="34" charset="0"/>
                <a:ea typeface="Calibri" pitchFamily="34" charset="-122"/>
                <a:cs typeface="Calibri" pitchFamily="34" charset="-120"/>
              </a:rPr>
              <a:t>l</a:t>
            </a:r>
            <a:pPr indent="0" marL="0">
              <a:lnSpc>
                <a:spcPct val="115000"/>
              </a:lnSpc>
              <a:buNone/>
            </a:pPr>
            <a:r>
              <a:rPr lang="en-US" sz="1300" dirty="0">
                <a:solidFill>
                  <a:srgbClr val="4A5470"/>
                </a:solidFill>
                <a:latin typeface="Calibri" pitchFamily="34" charset="0"/>
                <a:ea typeface="Calibri" pitchFamily="34" charset="-122"/>
                <a:cs typeface="Calibri" pitchFamily="34" charset="-120"/>
              </a:rPr>
              <a:t> = √(m·g / k).</a:t>
            </a:r>
            <a:endParaRPr lang="en-US" sz="1300" dirty="0"/>
          </a:p>
          <a:p>
            <a:pPr marL="228600" indent="-228600">
              <a:lnSpc>
                <a:spcPct val="115000"/>
              </a:lnSpc>
              <a:spcAft>
                <a:spcPts val="500"/>
              </a:spcAft>
              <a:buSzPct val="100000"/>
              <a:buFont typeface="+mj-lt"/>
              <a:buAutoNum type="arabicPeriod" startAt="1"/>
            </a:pPr>
            <a:r>
              <a:rPr lang="en-US" sz="1300" b="1" dirty="0">
                <a:solidFill>
                  <a:srgbClr val="0E1426"/>
                </a:solidFill>
                <a:latin typeface="Calibri" pitchFamily="34" charset="0"/>
                <a:ea typeface="Calibri" pitchFamily="34" charset="-122"/>
                <a:cs typeface="Calibri" pitchFamily="34" charset="-120"/>
              </a:rPr>
              <a:t>k'yi aç:</a:t>
            </a:r>
            <a:pPr indent="0" marL="0">
              <a:lnSpc>
                <a:spcPct val="115000"/>
              </a:lnSpc>
              <a:buNone/>
            </a:pPr>
            <a:r>
              <a:rPr lang="en-US" sz="1300" dirty="0">
                <a:solidFill>
                  <a:srgbClr val="4A5470"/>
                </a:solidFill>
                <a:latin typeface="Calibri" pitchFamily="34" charset="0"/>
                <a:ea typeface="Calibri" pitchFamily="34" charset="-122"/>
                <a:cs typeface="Calibri" pitchFamily="34" charset="-120"/>
              </a:rPr>
              <a:t> k = ½·ρ·C·A yazınca v</a:t>
            </a:r>
            <a:pPr indent="0" marL="0">
              <a:lnSpc>
                <a:spcPct val="115000"/>
              </a:lnSpc>
              <a:buNone/>
            </a:pPr>
            <a:r>
              <a:rPr lang="en-US" sz="1300" baseline="-40000" dirty="0">
                <a:solidFill>
                  <a:srgbClr val="4A5470"/>
                </a:solidFill>
                <a:latin typeface="Calibri" pitchFamily="34" charset="0"/>
                <a:ea typeface="Calibri" pitchFamily="34" charset="-122"/>
                <a:cs typeface="Calibri" pitchFamily="34" charset="-120"/>
              </a:rPr>
              <a:t>l</a:t>
            </a:r>
            <a:pPr indent="0" marL="0">
              <a:lnSpc>
                <a:spcPct val="115000"/>
              </a:lnSpc>
              <a:buNone/>
            </a:pPr>
            <a:r>
              <a:rPr lang="en-US" sz="1300" dirty="0">
                <a:solidFill>
                  <a:srgbClr val="4A5470"/>
                </a:solidFill>
                <a:latin typeface="Calibri" pitchFamily="34" charset="0"/>
                <a:ea typeface="Calibri" pitchFamily="34" charset="-122"/>
                <a:cs typeface="Calibri" pitchFamily="34" charset="-120"/>
              </a:rPr>
              <a:t> = √(2·m·g / (ρ·C·A)).</a:t>
            </a:r>
            <a:endParaRPr lang="en-US" sz="1300" dirty="0"/>
          </a:p>
        </p:txBody>
      </p:sp>
      <p:sp>
        <p:nvSpPr>
          <p:cNvPr id="14" name="Shape 12"/>
          <p:cNvSpPr/>
          <p:nvPr/>
        </p:nvSpPr>
        <p:spPr>
          <a:xfrm>
            <a:off x="7607808" y="2593238"/>
            <a:ext cx="3943807" cy="3133044"/>
          </a:xfrm>
          <a:prstGeom prst="roundRect">
            <a:avLst>
              <a:gd name="adj" fmla="val 4670"/>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15" name="Image 0" descr="/tmp/claude-1000/-opt-dersler/8a8328c3-841c-44fa-b76f-82572d338d3d/scratchpad/d5/sek/limit-hiz-03.png">    </p:cNvPr>
          <p:cNvPicPr>
            <a:picLocks noChangeAspect="1"/>
          </p:cNvPicPr>
          <p:nvPr/>
        </p:nvPicPr>
        <p:blipFill>
          <a:blip r:embed="rId1"/>
          <a:stretch>
            <a:fillRect/>
          </a:stretch>
        </p:blipFill>
        <p:spPr>
          <a:xfrm>
            <a:off x="7790688" y="2776118"/>
            <a:ext cx="3578047" cy="1490781"/>
          </a:xfrm>
          <a:prstGeom prst="rect">
            <a:avLst/>
          </a:prstGeom>
        </p:spPr>
      </p:pic>
      <p:sp>
        <p:nvSpPr>
          <p:cNvPr id="16" name="Shape 13"/>
          <p:cNvSpPr/>
          <p:nvPr/>
        </p:nvSpPr>
        <p:spPr>
          <a:xfrm>
            <a:off x="7790688" y="4358340"/>
            <a:ext cx="3578047" cy="0"/>
          </a:xfrm>
          <a:prstGeom prst="line">
            <a:avLst/>
          </a:prstGeom>
          <a:noFill/>
          <a:ln w="9525">
            <a:solidFill>
              <a:srgbClr val="E1E5EE"/>
            </a:solidFill>
            <a:prstDash val="dash"/>
          </a:ln>
        </p:spPr>
      </p:sp>
      <p:sp>
        <p:nvSpPr>
          <p:cNvPr id="17" name="Text 14"/>
          <p:cNvSpPr txBox="1"/>
          <p:nvPr/>
        </p:nvSpPr>
        <p:spPr>
          <a:xfrm>
            <a:off x="7790688" y="4413204"/>
            <a:ext cx="3578047" cy="1130198"/>
          </a:xfrm>
          <a:prstGeom prst="rect">
            <a:avLst/>
          </a:prstGeom>
          <a:noFill/>
          <a:ln/>
        </p:spPr>
        <p:txBody>
          <a:bodyPr wrap="square" lIns="0" tIns="0" rIns="0" bIns="0" rtlCol="0" anchor="t"/>
          <a:lstStyle/>
          <a:p>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Limit hız iki şeye bağlıdır ve ikisine de </a:t>
            </a:r>
            <a:pPr indent="0" marL="0">
              <a:lnSpc>
                <a:spcPct val="112000"/>
              </a:lnSpc>
              <a:buNone/>
            </a:pPr>
            <a:r>
              <a:rPr lang="en-US" sz="1050" b="1" dirty="0">
                <a:solidFill>
                  <a:srgbClr val="4A5470"/>
                </a:solidFill>
                <a:latin typeface="Calibri" pitchFamily="34" charset="0"/>
                <a:ea typeface="Calibri" pitchFamily="34" charset="-122"/>
                <a:cs typeface="Calibri" pitchFamily="34" charset="-120"/>
              </a:rPr>
              <a:t>karekökle</a:t>
            </a:r>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 kütle dört katına çıkarsa limit hız yalnızca iki katına çıkar, alan dört katına çıkarsa hız yarıya iner. Belirleyici olan tek başına kütle ya da alan değil, </a:t>
            </a:r>
            <a:pPr indent="0" marL="0">
              <a:lnSpc>
                <a:spcPct val="112000"/>
              </a:lnSpc>
              <a:buNone/>
            </a:pPr>
            <a:r>
              <a:rPr lang="en-US" sz="1050" b="1" dirty="0">
                <a:solidFill>
                  <a:srgbClr val="4A5470"/>
                </a:solidFill>
                <a:latin typeface="Calibri" pitchFamily="34" charset="0"/>
                <a:ea typeface="Calibri" pitchFamily="34" charset="-122"/>
                <a:cs typeface="Calibri" pitchFamily="34" charset="-120"/>
              </a:rPr>
              <a:t>m/A oranıdır</a:t>
            </a:r>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 — bu yüzden aynı kâğıdın buruşturulmuşu açık hâlinden çok daha hızlı iner.</a:t>
            </a:r>
            <a:endParaRPr lang="en-US" sz="1050" dirty="0"/>
          </a:p>
        </p:txBody>
      </p:sp>
      <p:sp>
        <p:nvSpPr>
          <p:cNvPr id="18" name="Shape 15"/>
          <p:cNvSpPr/>
          <p:nvPr/>
        </p:nvSpPr>
        <p:spPr>
          <a:xfrm>
            <a:off x="640080" y="6382512"/>
            <a:ext cx="128016" cy="128016"/>
          </a:xfrm>
          <a:prstGeom prst="roundRect">
            <a:avLst>
              <a:gd name="adj" fmla="val 28571"/>
            </a:avLst>
          </a:prstGeom>
          <a:solidFill>
            <a:srgbClr val="A9E648"/>
          </a:solidFill>
          <a:ln/>
        </p:spPr>
      </p:sp>
      <p:sp>
        <p:nvSpPr>
          <p:cNvPr id="19" name="Text 1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dersler.perinet.org/limit-hiz.html</a:t>
            </a:r>
            <a:endParaRPr lang="en-US" sz="1050" dirty="0"/>
          </a:p>
        </p:txBody>
      </p:sp>
      <p:sp>
        <p:nvSpPr>
          <p:cNvPr id="20" name="Text 1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15</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Limit hız bağıntısı · devam</a:t>
            </a:r>
            <a:endParaRPr lang="en-US" sz="3200" dirty="0"/>
          </a:p>
        </p:txBody>
      </p:sp>
      <p:sp>
        <p:nvSpPr>
          <p:cNvPr id="5" name="Text 3"/>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6" name="Shape 4"/>
          <p:cNvSpPr/>
          <p:nvPr/>
        </p:nvSpPr>
        <p:spPr>
          <a:xfrm>
            <a:off x="640080" y="1481328"/>
            <a:ext cx="1938528" cy="457200"/>
          </a:xfrm>
          <a:prstGeom prst="roundRect">
            <a:avLst>
              <a:gd name="adj" fmla="val 24000"/>
            </a:avLst>
          </a:prstGeom>
          <a:solidFill>
            <a:srgbClr val="EEF2FC"/>
          </a:solidFill>
          <a:ln w="9525">
            <a:solidFill>
              <a:srgbClr val="CBD7F4"/>
            </a:solidFill>
            <a:prstDash val="solid"/>
          </a:ln>
        </p:spPr>
      </p:sp>
      <p:sp>
        <p:nvSpPr>
          <p:cNvPr id="7" name="Text 5"/>
          <p:cNvSpPr txBox="1"/>
          <p:nvPr/>
        </p:nvSpPr>
        <p:spPr>
          <a:xfrm>
            <a:off x="640080" y="1481328"/>
            <a:ext cx="1938528" cy="457200"/>
          </a:xfrm>
          <a:prstGeom prst="rect">
            <a:avLst/>
          </a:prstGeom>
          <a:noFill/>
          <a:ln/>
        </p:spPr>
        <p:txBody>
          <a:bodyPr wrap="square" lIns="0" tIns="0" rIns="0" bIns="0" rtlCol="0" anchor="ctr"/>
          <a:lstStyle/>
          <a:p>
            <a:pPr algn="ctr" indent="0" marL="0">
              <a:buNone/>
            </a:pPr>
            <a:r>
              <a:rPr lang="en-US" sz="1300" b="1" dirty="0">
                <a:solidFill>
                  <a:srgbClr val="2957D4"/>
                </a:solidFill>
                <a:latin typeface="Courier New" pitchFamily="34" charset="0"/>
                <a:ea typeface="Courier New" pitchFamily="34" charset="-122"/>
                <a:cs typeface="Courier New" pitchFamily="34" charset="-120"/>
              </a:rPr>
              <a:t>vl = √(m·g / k)</a:t>
            </a:r>
            <a:endParaRPr lang="en-US" sz="1300" dirty="0"/>
          </a:p>
        </p:txBody>
      </p:sp>
      <p:sp>
        <p:nvSpPr>
          <p:cNvPr id="8" name="Shape 6"/>
          <p:cNvSpPr/>
          <p:nvPr/>
        </p:nvSpPr>
        <p:spPr>
          <a:xfrm>
            <a:off x="2688336" y="1481328"/>
            <a:ext cx="2728570" cy="457200"/>
          </a:xfrm>
          <a:prstGeom prst="roundRect">
            <a:avLst>
              <a:gd name="adj" fmla="val 24000"/>
            </a:avLst>
          </a:prstGeom>
          <a:solidFill>
            <a:srgbClr val="EEF2FC"/>
          </a:solidFill>
          <a:ln w="9525">
            <a:solidFill>
              <a:srgbClr val="CBD7F4"/>
            </a:solidFill>
            <a:prstDash val="solid"/>
          </a:ln>
        </p:spPr>
      </p:sp>
      <p:sp>
        <p:nvSpPr>
          <p:cNvPr id="9" name="Text 7"/>
          <p:cNvSpPr txBox="1"/>
          <p:nvPr/>
        </p:nvSpPr>
        <p:spPr>
          <a:xfrm>
            <a:off x="2688336" y="1481328"/>
            <a:ext cx="2728570" cy="457200"/>
          </a:xfrm>
          <a:prstGeom prst="rect">
            <a:avLst/>
          </a:prstGeom>
          <a:noFill/>
          <a:ln/>
        </p:spPr>
        <p:txBody>
          <a:bodyPr wrap="square" lIns="0" tIns="0" rIns="0" bIns="0" rtlCol="0" anchor="ctr"/>
          <a:lstStyle/>
          <a:p>
            <a:pPr algn="ctr" indent="0" marL="0">
              <a:buNone/>
            </a:pPr>
            <a:r>
              <a:rPr lang="en-US" sz="1300" b="1" dirty="0">
                <a:solidFill>
                  <a:srgbClr val="2957D4"/>
                </a:solidFill>
                <a:latin typeface="Courier New" pitchFamily="34" charset="0"/>
                <a:ea typeface="Courier New" pitchFamily="34" charset="-122"/>
                <a:cs typeface="Courier New" pitchFamily="34" charset="-120"/>
              </a:rPr>
              <a:t>vl = √(2·m·g / (ρ·C·A))</a:t>
            </a:r>
            <a:endParaRPr lang="en-US" sz="1300" dirty="0"/>
          </a:p>
        </p:txBody>
      </p:sp>
      <p:sp>
        <p:nvSpPr>
          <p:cNvPr id="10" name="Text 8"/>
          <p:cNvSpPr txBox="1"/>
          <p:nvPr/>
        </p:nvSpPr>
        <p:spPr>
          <a:xfrm>
            <a:off x="640080" y="2103120"/>
            <a:ext cx="10911535" cy="875538"/>
          </a:xfrm>
          <a:prstGeom prst="rect">
            <a:avLst/>
          </a:prstGeom>
          <a:noFill/>
          <a:ln/>
        </p:spPr>
        <p:txBody>
          <a:bodyPr wrap="square" lIns="0" tIns="0" rIns="0" bIns="0" rtlCol="0" anchor="t"/>
          <a:lstStyle/>
          <a:p>
            <a:pPr marL="203200" indent="-203200">
              <a:lnSpc>
                <a:spcPct val="115000"/>
              </a:lnSpc>
              <a:spcAft>
                <a:spcPts val="500"/>
              </a:spcAft>
              <a:buSzPct val="100000"/>
              <a:buChar char="▪"/>
            </a:pPr>
            <a:r>
              <a:rPr lang="en-US" sz="1300" b="1" dirty="0">
                <a:solidFill>
                  <a:srgbClr val="0E1426"/>
                </a:solidFill>
                <a:latin typeface="Calibri" pitchFamily="34" charset="0"/>
                <a:ea typeface="Calibri" pitchFamily="34" charset="-122"/>
                <a:cs typeface="Calibri" pitchFamily="34" charset="-120"/>
              </a:rPr>
              <a:t>Kütle artarsa limit hız artar</a:t>
            </a:r>
            <a:pPr indent="0" marL="0">
              <a:lnSpc>
                <a:spcPct val="115000"/>
              </a:lnSpc>
              <a:buNone/>
            </a:pPr>
            <a:r>
              <a:rPr lang="en-US" sz="1300" dirty="0">
                <a:solidFill>
                  <a:srgbClr val="4A5470"/>
                </a:solidFill>
                <a:latin typeface="Calibri" pitchFamily="34" charset="0"/>
                <a:ea typeface="Calibri" pitchFamily="34" charset="-122"/>
                <a:cs typeface="Calibri" pitchFamily="34" charset="-120"/>
              </a:rPr>
              <a:t> — ama karekökle: kütle 4 katına çıkarsa hız 2 katına.</a:t>
            </a:r>
            <a:endParaRPr lang="en-US" sz="1300" dirty="0"/>
          </a:p>
          <a:p>
            <a:pPr marL="203200" indent="-203200">
              <a:lnSpc>
                <a:spcPct val="115000"/>
              </a:lnSpc>
              <a:spcAft>
                <a:spcPts val="500"/>
              </a:spcAft>
              <a:buSzPct val="100000"/>
              <a:buChar char="▪"/>
            </a:pPr>
            <a:r>
              <a:rPr lang="en-US" sz="1300" b="1" dirty="0">
                <a:solidFill>
                  <a:srgbClr val="0E1426"/>
                </a:solidFill>
                <a:latin typeface="Calibri" pitchFamily="34" charset="0"/>
                <a:ea typeface="Calibri" pitchFamily="34" charset="-122"/>
                <a:cs typeface="Calibri" pitchFamily="34" charset="-120"/>
              </a:rPr>
              <a:t>Alan artarsa limit hız azalır</a:t>
            </a:r>
            <a:pPr indent="0" marL="0">
              <a:lnSpc>
                <a:spcPct val="115000"/>
              </a:lnSpc>
              <a:buNone/>
            </a:pPr>
            <a:r>
              <a:rPr lang="en-US" sz="1300" dirty="0">
                <a:solidFill>
                  <a:srgbClr val="4A5470"/>
                </a:solidFill>
                <a:latin typeface="Calibri" pitchFamily="34" charset="0"/>
                <a:ea typeface="Calibri" pitchFamily="34" charset="-122"/>
                <a:cs typeface="Calibri" pitchFamily="34" charset="-120"/>
              </a:rPr>
              <a:t> — yine karekökle: alan 4 katına çıkarsa hız yarıya.</a:t>
            </a:r>
            <a:endParaRPr lang="en-US" sz="1300" dirty="0"/>
          </a:p>
          <a:p>
            <a:pPr marL="203200" indent="-203200">
              <a:lnSpc>
                <a:spcPct val="115000"/>
              </a:lnSpc>
              <a:spcAft>
                <a:spcPts val="500"/>
              </a:spcAft>
              <a:buSzPct val="100000"/>
              <a:buChar char="▪"/>
            </a:pPr>
            <a:r>
              <a:rPr lang="en-US" sz="1300" b="1" dirty="0">
                <a:solidFill>
                  <a:srgbClr val="0E1426"/>
                </a:solidFill>
                <a:latin typeface="Calibri" pitchFamily="34" charset="0"/>
                <a:ea typeface="Calibri" pitchFamily="34" charset="-122"/>
                <a:cs typeface="Calibri" pitchFamily="34" charset="-120"/>
              </a:rPr>
              <a:t>Belirleyici olan m/A oranıdır.</a:t>
            </a:r>
            <a:pPr indent="0" marL="0">
              <a:lnSpc>
                <a:spcPct val="115000"/>
              </a:lnSpc>
              <a:buNone/>
            </a:pPr>
            <a:r>
              <a:rPr lang="en-US" sz="1300" dirty="0">
                <a:solidFill>
                  <a:srgbClr val="4A5470"/>
                </a:solidFill>
                <a:latin typeface="Calibri" pitchFamily="34" charset="0"/>
                <a:ea typeface="Calibri" pitchFamily="34" charset="-122"/>
                <a:cs typeface="Calibri" pitchFamily="34" charset="-120"/>
              </a:rPr>
              <a:t> Aynı kütleli iki cisimden yüzeyi geniş olan daha yavaş iner.</a:t>
            </a:r>
            <a:endParaRPr lang="en-US" sz="1300" dirty="0"/>
          </a:p>
        </p:txBody>
      </p:sp>
      <p:sp>
        <p:nvSpPr>
          <p:cNvPr id="11" name="Shape 9"/>
          <p:cNvSpPr/>
          <p:nvPr/>
        </p:nvSpPr>
        <p:spPr>
          <a:xfrm>
            <a:off x="640080" y="3088386"/>
            <a:ext cx="10911535" cy="822960"/>
          </a:xfrm>
          <a:prstGeom prst="roundRect">
            <a:avLst>
              <a:gd name="adj" fmla="val 1333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658368" y="3234690"/>
            <a:ext cx="45720" cy="530352"/>
          </a:xfrm>
          <a:prstGeom prst="rect">
            <a:avLst/>
          </a:prstGeom>
          <a:solidFill>
            <a:srgbClr val="3C8C21"/>
          </a:solidFill>
          <a:ln/>
        </p:spPr>
      </p:sp>
      <p:sp>
        <p:nvSpPr>
          <p:cNvPr id="13" name="Text 11"/>
          <p:cNvSpPr txBox="1"/>
          <p:nvPr/>
        </p:nvSpPr>
        <p:spPr>
          <a:xfrm>
            <a:off x="914400" y="3198114"/>
            <a:ext cx="10454335" cy="603504"/>
          </a:xfrm>
          <a:prstGeom prst="rect">
            <a:avLst/>
          </a:prstGeom>
          <a:noFill/>
          <a:ln/>
        </p:spPr>
        <p:txBody>
          <a:bodyPr wrap="square" lIns="0" tIns="0" rIns="0" bIns="0" rtlCol="0" anchor="ctr"/>
          <a:lstStyle/>
          <a:p>
            <a:pPr indent="0" marL="0">
              <a:lnSpc>
                <a:spcPct val="112000"/>
              </a:lnSpc>
              <a:buNone/>
            </a:pPr>
            <a:r>
              <a:rPr lang="en-US" sz="1200" b="1" dirty="0">
                <a:solidFill>
                  <a:srgbClr val="0E1426"/>
                </a:solidFill>
                <a:latin typeface="Calibri" pitchFamily="34" charset="0"/>
                <a:ea typeface="Calibri" pitchFamily="34" charset="-122"/>
                <a:cs typeface="Calibri" pitchFamily="34" charset="-120"/>
              </a:rPr>
              <a:t>Yükseklik de etkiler:</a:t>
            </a:r>
            <a:pPr indent="0" marL="0">
              <a:lnSpc>
                <a:spcPct val="112000"/>
              </a:lnSpc>
              <a:buNone/>
            </a:pPr>
            <a:r>
              <a:rPr lang="en-US" sz="1200" dirty="0">
                <a:solidFill>
                  <a:srgbClr val="4A5470"/>
                </a:solidFill>
                <a:latin typeface="Calibri" pitchFamily="34" charset="0"/>
                <a:ea typeface="Calibri" pitchFamily="34" charset="-122"/>
                <a:cs typeface="Calibri" pitchFamily="34" charset="-120"/>
              </a:rPr>
              <a:t> ρ yukarıda küçüldüğü için aynı cismin limit hızı yüksek irtifada daha büyüktür. Serbest düşüş rekorları bu yüzden stratosferden yapılır.</a:t>
            </a:r>
            <a:endParaRPr lang="en-US" sz="1200" dirty="0"/>
          </a:p>
        </p:txBody>
      </p:sp>
      <p:sp>
        <p:nvSpPr>
          <p:cNvPr id="14" name="Shape 12"/>
          <p:cNvSpPr/>
          <p:nvPr/>
        </p:nvSpPr>
        <p:spPr>
          <a:xfrm>
            <a:off x="640080" y="6382512"/>
            <a:ext cx="128016" cy="128016"/>
          </a:xfrm>
          <a:prstGeom prst="roundRect">
            <a:avLst>
              <a:gd name="adj" fmla="val 28571"/>
            </a:avLst>
          </a:prstGeom>
          <a:solidFill>
            <a:srgbClr val="A9E648"/>
          </a:solidFill>
          <a:ln/>
        </p:spPr>
      </p:sp>
      <p:sp>
        <p:nvSpPr>
          <p:cNvPr id="15" name="Text 13"/>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dersler.perinet.org/limit-hiz.html</a:t>
            </a:r>
            <a:endParaRPr lang="en-US" sz="1050" dirty="0"/>
          </a:p>
        </p:txBody>
      </p:sp>
      <p:sp>
        <p:nvSpPr>
          <p:cNvPr id="16" name="Text 14"/>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16</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Aynı boyda bir tahta bilye ile bir demir bilyeden hangisinin limit hızı daha büyüktür?</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05 · Limit hız bağıntısı</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dersler.perinet.org/limit-hiz.html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17</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Aynı boyda bir tahta bilye ile bir demir bilyeden hangisinin limit hızı daha büyüktür?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CFC8F5"/>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200" b="1" dirty="0">
                <a:solidFill>
                  <a:srgbClr val="5F4BD8"/>
                </a:solidFill>
                <a:latin typeface="Calibri" pitchFamily="34" charset="0"/>
                <a:ea typeface="Calibri" pitchFamily="34" charset="-122"/>
                <a:cs typeface="Calibri" pitchFamily="34" charset="-120"/>
              </a:rPr>
              <a:t>Demir bilyenin.</a:t>
            </a:r>
            <a:pPr indent="0" marL="0">
              <a:lnSpc>
                <a:spcPct val="125000"/>
              </a:lnSpc>
              <a:buNone/>
            </a:pPr>
            <a:r>
              <a:rPr lang="en-US" sz="2200" dirty="0">
                <a:solidFill>
                  <a:srgbClr val="0E1426"/>
                </a:solidFill>
                <a:latin typeface="Calibri" pitchFamily="34" charset="0"/>
                <a:ea typeface="Calibri" pitchFamily="34" charset="-122"/>
                <a:cs typeface="Calibri" pitchFamily="34" charset="-120"/>
              </a:rPr>
              <a:t> Şekil ve alan aynı olduğu için k de aynıdır; fark yalnızca kütlededir. Demir bilye tahtadan 10 kat ağırsa limit hızı √10 ≈ 3 kat büyüktür. Kütle limit hızı artırır, ama karekökle.</a:t>
            </a:r>
            <a:endParaRPr lang="en-US" sz="22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dersler.perinet.org/limit-hiz.html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18</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v – t grafiği: doyan eğri</a:t>
            </a:r>
            <a:endParaRPr lang="en-US" sz="3200" dirty="0"/>
          </a:p>
        </p:txBody>
      </p:sp>
      <p:sp>
        <p:nvSpPr>
          <p:cNvPr id="5" name="Text 3"/>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6" name="Shape 4"/>
          <p:cNvSpPr/>
          <p:nvPr/>
        </p:nvSpPr>
        <p:spPr>
          <a:xfrm>
            <a:off x="640080" y="1188720"/>
            <a:ext cx="10911535" cy="1185062"/>
          </a:xfrm>
          <a:prstGeom prst="roundRect">
            <a:avLst>
              <a:gd name="adj" fmla="val 9259"/>
            </a:avLst>
          </a:prstGeom>
          <a:solidFill>
            <a:srgbClr val="F8F9FC"/>
          </a:solidFill>
          <a:ln w="9525">
            <a:solidFill>
              <a:srgbClr val="E1E5EE"/>
            </a:solidFill>
            <a:prstDash val="solid"/>
          </a:ln>
        </p:spPr>
      </p:sp>
      <p:sp>
        <p:nvSpPr>
          <p:cNvPr id="7" name="Shape 5"/>
          <p:cNvSpPr/>
          <p:nvPr/>
        </p:nvSpPr>
        <p:spPr>
          <a:xfrm>
            <a:off x="658368" y="1298448"/>
            <a:ext cx="54864" cy="965606"/>
          </a:xfrm>
          <a:prstGeom prst="rect">
            <a:avLst/>
          </a:prstGeom>
          <a:solidFill>
            <a:srgbClr val="2957D4"/>
          </a:solidFill>
          <a:ln/>
        </p:spPr>
      </p:sp>
      <p:sp>
        <p:nvSpPr>
          <p:cNvPr id="8" name="Text 6"/>
          <p:cNvSpPr txBox="1"/>
          <p:nvPr/>
        </p:nvSpPr>
        <p:spPr>
          <a:xfrm>
            <a:off x="932688" y="1234440"/>
            <a:ext cx="10454335" cy="1093622"/>
          </a:xfrm>
          <a:prstGeom prst="rect">
            <a:avLst/>
          </a:prstGeom>
          <a:noFill/>
          <a:ln/>
        </p:spPr>
        <p:txBody>
          <a:bodyPr wrap="square" lIns="0" tIns="0" rIns="0" bIns="0" rtlCol="0" anchor="ctr"/>
          <a:lstStyle/>
          <a:p>
            <a:pPr indent="0" marL="0">
              <a:lnSpc>
                <a:spcPct val="112000"/>
              </a:lnSpc>
              <a:buNone/>
            </a:pPr>
            <a:r>
              <a:rPr lang="en-US" sz="1850" dirty="0">
                <a:solidFill>
                  <a:srgbClr val="0E1426"/>
                </a:solidFill>
                <a:latin typeface="Calibri" pitchFamily="34" charset="0"/>
                <a:ea typeface="Calibri" pitchFamily="34" charset="-122"/>
                <a:cs typeface="Calibri" pitchFamily="34" charset="-120"/>
              </a:rPr>
              <a:t>Havada düşen cismin v – t eğrisi eğimi g olan bir doğru gibi başlar, sonra doyarak limit hıza yaklaşır: v = vl·tanh(g·t/vl). Limitin %95'ine varma süresi yaklaşık 1,83·vl/g'dir.</a:t>
            </a:r>
            <a:endParaRPr lang="en-US" sz="1850" dirty="0"/>
          </a:p>
        </p:txBody>
      </p:sp>
      <p:sp>
        <p:nvSpPr>
          <p:cNvPr id="9" name="Shape 7"/>
          <p:cNvSpPr/>
          <p:nvPr/>
        </p:nvSpPr>
        <p:spPr>
          <a:xfrm>
            <a:off x="640080" y="2593238"/>
            <a:ext cx="3024835" cy="457200"/>
          </a:xfrm>
          <a:prstGeom prst="roundRect">
            <a:avLst>
              <a:gd name="adj" fmla="val 24000"/>
            </a:avLst>
          </a:prstGeom>
          <a:solidFill>
            <a:srgbClr val="EEF2FC"/>
          </a:solidFill>
          <a:ln w="9525">
            <a:solidFill>
              <a:srgbClr val="CBD7F4"/>
            </a:solidFill>
            <a:prstDash val="solid"/>
          </a:ln>
        </p:spPr>
      </p:sp>
      <p:sp>
        <p:nvSpPr>
          <p:cNvPr id="10" name="Text 8"/>
          <p:cNvSpPr txBox="1"/>
          <p:nvPr/>
        </p:nvSpPr>
        <p:spPr>
          <a:xfrm>
            <a:off x="640080" y="2593238"/>
            <a:ext cx="3024835" cy="457200"/>
          </a:xfrm>
          <a:prstGeom prst="rect">
            <a:avLst/>
          </a:prstGeom>
          <a:noFill/>
          <a:ln/>
        </p:spPr>
        <p:txBody>
          <a:bodyPr wrap="square" lIns="0" tIns="0" rIns="0" bIns="0" rtlCol="0" anchor="ctr"/>
          <a:lstStyle/>
          <a:p>
            <a:pPr algn="ctr" indent="0" marL="0">
              <a:buNone/>
            </a:pPr>
            <a:r>
              <a:rPr lang="en-US" sz="1300" b="1" dirty="0">
                <a:solidFill>
                  <a:srgbClr val="2957D4"/>
                </a:solidFill>
                <a:latin typeface="Courier New" pitchFamily="34" charset="0"/>
                <a:ea typeface="Courier New" pitchFamily="34" charset="-122"/>
                <a:cs typeface="Courier New" pitchFamily="34" charset="-120"/>
              </a:rPr>
              <a:t>v(t) = vl · tanh(g·t / vl)</a:t>
            </a:r>
            <a:endParaRPr lang="en-US" sz="1300" dirty="0"/>
          </a:p>
        </p:txBody>
      </p:sp>
      <p:sp>
        <p:nvSpPr>
          <p:cNvPr id="11" name="Text 9"/>
          <p:cNvSpPr txBox="1"/>
          <p:nvPr/>
        </p:nvSpPr>
        <p:spPr>
          <a:xfrm>
            <a:off x="640080" y="3215030"/>
            <a:ext cx="7223760" cy="1243584"/>
          </a:xfrm>
          <a:prstGeom prst="rect">
            <a:avLst/>
          </a:prstGeom>
          <a:noFill/>
          <a:ln/>
        </p:spPr>
        <p:txBody>
          <a:bodyPr wrap="square" lIns="0" tIns="0" rIns="0" bIns="0" rtlCol="0" anchor="t"/>
          <a:lstStyle/>
          <a:p>
            <a:pPr marL="203200" indent="-203200">
              <a:lnSpc>
                <a:spcPct val="115000"/>
              </a:lnSpc>
              <a:spcAft>
                <a:spcPts val="500"/>
              </a:spcAft>
              <a:buSzPct val="100000"/>
              <a:buChar char="▪"/>
            </a:pPr>
            <a:r>
              <a:rPr lang="en-US" sz="1200" b="1" dirty="0">
                <a:solidFill>
                  <a:srgbClr val="0E1426"/>
                </a:solidFill>
                <a:latin typeface="Calibri" pitchFamily="34" charset="0"/>
                <a:ea typeface="Calibri" pitchFamily="34" charset="-122"/>
                <a:cs typeface="Calibri" pitchFamily="34" charset="-120"/>
              </a:rPr>
              <a:t>Sıfırda sıfırdır:</a:t>
            </a:r>
            <a:pPr indent="0" marL="0">
              <a:lnSpc>
                <a:spcPct val="115000"/>
              </a:lnSpc>
              <a:buNone/>
            </a:pPr>
            <a:r>
              <a:rPr lang="en-US" sz="1200" dirty="0">
                <a:solidFill>
                  <a:srgbClr val="4A5470"/>
                </a:solidFill>
                <a:latin typeface="Calibri" pitchFamily="34" charset="0"/>
                <a:ea typeface="Calibri" pitchFamily="34" charset="-122"/>
                <a:cs typeface="Calibri" pitchFamily="34" charset="-120"/>
              </a:rPr>
              <a:t> t = 0'da v = 0; cisim durgun bırakılmıştır.</a:t>
            </a:r>
            <a:endParaRPr lang="en-US" sz="1200" dirty="0"/>
          </a:p>
          <a:p>
            <a:pPr marL="203200" indent="-203200">
              <a:lnSpc>
                <a:spcPct val="115000"/>
              </a:lnSpc>
              <a:spcAft>
                <a:spcPts val="500"/>
              </a:spcAft>
              <a:buSzPct val="100000"/>
              <a:buChar char="▪"/>
            </a:pPr>
            <a:r>
              <a:rPr lang="en-US" sz="1200" b="1" dirty="0">
                <a:solidFill>
                  <a:srgbClr val="0E1426"/>
                </a:solidFill>
                <a:latin typeface="Calibri" pitchFamily="34" charset="0"/>
                <a:ea typeface="Calibri" pitchFamily="34" charset="-122"/>
                <a:cs typeface="Calibri" pitchFamily="34" charset="-120"/>
              </a:rPr>
              <a:t>Başta doğru gibi davranır:</a:t>
            </a:r>
            <a:pPr indent="0" marL="0">
              <a:lnSpc>
                <a:spcPct val="115000"/>
              </a:lnSpc>
              <a:buNone/>
            </a:pPr>
            <a:r>
              <a:rPr lang="en-US" sz="1200" dirty="0">
                <a:solidFill>
                  <a:srgbClr val="4A5470"/>
                </a:solidFill>
                <a:latin typeface="Calibri" pitchFamily="34" charset="0"/>
                <a:ea typeface="Calibri" pitchFamily="34" charset="-122"/>
                <a:cs typeface="Calibri" pitchFamily="34" charset="-120"/>
              </a:rPr>
              <a:t> küçük t için v ≈ g·t; ilk anlarda cisim neredeyse serbest düşer.</a:t>
            </a:r>
            <a:endParaRPr lang="en-US" sz="1200" dirty="0"/>
          </a:p>
          <a:p>
            <a:pPr marL="203200" indent="-203200">
              <a:lnSpc>
                <a:spcPct val="115000"/>
              </a:lnSpc>
              <a:spcAft>
                <a:spcPts val="500"/>
              </a:spcAft>
              <a:buSzPct val="100000"/>
              <a:buChar char="▪"/>
            </a:pPr>
            <a:r>
              <a:rPr lang="en-US" sz="1200" b="1" dirty="0">
                <a:solidFill>
                  <a:srgbClr val="0E1426"/>
                </a:solidFill>
                <a:latin typeface="Calibri" pitchFamily="34" charset="0"/>
                <a:ea typeface="Calibri" pitchFamily="34" charset="-122"/>
                <a:cs typeface="Calibri" pitchFamily="34" charset="-120"/>
              </a:rPr>
              <a:t>1'e yaklaşır ama ulaşmaz:</a:t>
            </a:r>
            <a:pPr indent="0" marL="0">
              <a:lnSpc>
                <a:spcPct val="115000"/>
              </a:lnSpc>
              <a:buNone/>
            </a:pPr>
            <a:r>
              <a:rPr lang="en-US" sz="1200" dirty="0">
                <a:solidFill>
                  <a:srgbClr val="4A5470"/>
                </a:solidFill>
                <a:latin typeface="Calibri" pitchFamily="34" charset="0"/>
                <a:ea typeface="Calibri" pitchFamily="34" charset="-122"/>
                <a:cs typeface="Calibri" pitchFamily="34" charset="-120"/>
              </a:rPr>
              <a:t> tanh(1,83) ≈ 0,95 ve tanh(2,65) ≈ 0,99; v, v</a:t>
            </a:r>
            <a:pPr indent="0" marL="0">
              <a:lnSpc>
                <a:spcPct val="115000"/>
              </a:lnSpc>
              <a:buNone/>
            </a:pPr>
            <a:r>
              <a:rPr lang="en-US" sz="1200" baseline="-40000" dirty="0">
                <a:solidFill>
                  <a:srgbClr val="4A5470"/>
                </a:solidFill>
                <a:latin typeface="Calibri" pitchFamily="34" charset="0"/>
                <a:ea typeface="Calibri" pitchFamily="34" charset="-122"/>
                <a:cs typeface="Calibri" pitchFamily="34" charset="-120"/>
              </a:rPr>
              <a:t>l</a:t>
            </a:r>
            <a:pPr indent="0" marL="0">
              <a:lnSpc>
                <a:spcPct val="115000"/>
              </a:lnSpc>
              <a:buNone/>
            </a:pPr>
            <a:r>
              <a:rPr lang="en-US" sz="1200" dirty="0">
                <a:solidFill>
                  <a:srgbClr val="4A5470"/>
                </a:solidFill>
                <a:latin typeface="Calibri" pitchFamily="34" charset="0"/>
                <a:ea typeface="Calibri" pitchFamily="34" charset="-122"/>
                <a:cs typeface="Calibri" pitchFamily="34" charset="-120"/>
              </a:rPr>
              <a:t>'ye hiç tam ulaşmaz.</a:t>
            </a:r>
            <a:endParaRPr lang="en-US" sz="1200" dirty="0"/>
          </a:p>
        </p:txBody>
      </p:sp>
      <p:sp>
        <p:nvSpPr>
          <p:cNvPr id="12" name="Shape 10"/>
          <p:cNvSpPr/>
          <p:nvPr/>
        </p:nvSpPr>
        <p:spPr>
          <a:xfrm>
            <a:off x="640080" y="4568342"/>
            <a:ext cx="2432304" cy="457200"/>
          </a:xfrm>
          <a:prstGeom prst="roundRect">
            <a:avLst>
              <a:gd name="adj" fmla="val 24000"/>
            </a:avLst>
          </a:prstGeom>
          <a:solidFill>
            <a:srgbClr val="EEF2FC"/>
          </a:solidFill>
          <a:ln w="9525">
            <a:solidFill>
              <a:srgbClr val="CBD7F4"/>
            </a:solidFill>
            <a:prstDash val="solid"/>
          </a:ln>
        </p:spPr>
      </p:sp>
      <p:sp>
        <p:nvSpPr>
          <p:cNvPr id="13" name="Text 11"/>
          <p:cNvSpPr txBox="1"/>
          <p:nvPr/>
        </p:nvSpPr>
        <p:spPr>
          <a:xfrm>
            <a:off x="640080" y="4568342"/>
            <a:ext cx="2432304" cy="457200"/>
          </a:xfrm>
          <a:prstGeom prst="rect">
            <a:avLst/>
          </a:prstGeom>
          <a:noFill/>
          <a:ln/>
        </p:spPr>
        <p:txBody>
          <a:bodyPr wrap="square" lIns="0" tIns="0" rIns="0" bIns="0" rtlCol="0" anchor="ctr"/>
          <a:lstStyle/>
          <a:p>
            <a:pPr algn="ctr" indent="0" marL="0">
              <a:buNone/>
            </a:pPr>
            <a:r>
              <a:rPr lang="en-US" sz="1300" b="1" dirty="0">
                <a:solidFill>
                  <a:srgbClr val="2957D4"/>
                </a:solidFill>
                <a:latin typeface="Courier New" pitchFamily="34" charset="0"/>
                <a:ea typeface="Courier New" pitchFamily="34" charset="-122"/>
                <a:cs typeface="Courier New" pitchFamily="34" charset="-120"/>
              </a:rPr>
              <a:t>t%95 ≈ 1,83 · vl / g</a:t>
            </a:r>
            <a:endParaRPr lang="en-US" sz="1300" dirty="0"/>
          </a:p>
        </p:txBody>
      </p:sp>
      <p:sp>
        <p:nvSpPr>
          <p:cNvPr id="14" name="Shape 12"/>
          <p:cNvSpPr/>
          <p:nvPr/>
        </p:nvSpPr>
        <p:spPr>
          <a:xfrm>
            <a:off x="640080" y="5190134"/>
            <a:ext cx="7223760" cy="787908"/>
          </a:xfrm>
          <a:prstGeom prst="roundRect">
            <a:avLst>
              <a:gd name="adj" fmla="val 13926"/>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5" name="Shape 13"/>
          <p:cNvSpPr/>
          <p:nvPr/>
        </p:nvSpPr>
        <p:spPr>
          <a:xfrm>
            <a:off x="658368" y="5336438"/>
            <a:ext cx="45720" cy="495300"/>
          </a:xfrm>
          <a:prstGeom prst="rect">
            <a:avLst/>
          </a:prstGeom>
          <a:solidFill>
            <a:srgbClr val="A56209"/>
          </a:solidFill>
          <a:ln/>
        </p:spPr>
      </p:sp>
      <p:sp>
        <p:nvSpPr>
          <p:cNvPr id="16" name="Text 14"/>
          <p:cNvSpPr txBox="1"/>
          <p:nvPr/>
        </p:nvSpPr>
        <p:spPr>
          <a:xfrm>
            <a:off x="914400" y="5299862"/>
            <a:ext cx="6766560" cy="568452"/>
          </a:xfrm>
          <a:prstGeom prst="rect">
            <a:avLst/>
          </a:prstGeom>
          <a:noFill/>
          <a:ln/>
        </p:spPr>
        <p:txBody>
          <a:bodyPr wrap="square" lIns="0" tIns="0" rIns="0" bIns="0" rtlCol="0" anchor="ctr"/>
          <a:lstStyle/>
          <a:p>
            <a:pPr indent="0" marL="0">
              <a:lnSpc>
                <a:spcPct val="112000"/>
              </a:lnSpc>
              <a:buNone/>
            </a:pPr>
            <a:r>
              <a:rPr lang="en-US" sz="1100" b="1" dirty="0">
                <a:solidFill>
                  <a:srgbClr val="0E1426"/>
                </a:solidFill>
                <a:latin typeface="Calibri" pitchFamily="34" charset="0"/>
                <a:ea typeface="Calibri" pitchFamily="34" charset="-122"/>
                <a:cs typeface="Calibri" pitchFamily="34" charset="-120"/>
              </a:rPr>
              <a:t>Limit hızda hız sıfır değildir!</a:t>
            </a:r>
            <a:pPr indent="0" marL="0">
              <a:lnSpc>
                <a:spcPct val="112000"/>
              </a:lnSpc>
              <a:buNone/>
            </a:pPr>
            <a:r>
              <a:rPr lang="en-US" sz="1100" dirty="0">
                <a:solidFill>
                  <a:srgbClr val="4A5470"/>
                </a:solidFill>
                <a:latin typeface="Calibri" pitchFamily="34" charset="0"/>
                <a:ea typeface="Calibri" pitchFamily="34" charset="-122"/>
                <a:cs typeface="Calibri" pitchFamily="34" charset="-120"/>
              </a:rPr>
              <a:t> Sıfır olan </a:t>
            </a:r>
            <a:pPr indent="0" marL="0">
              <a:lnSpc>
                <a:spcPct val="112000"/>
              </a:lnSpc>
              <a:buNone/>
            </a:pPr>
            <a:r>
              <a:rPr lang="en-US" sz="1100" b="1" dirty="0">
                <a:solidFill>
                  <a:srgbClr val="0E1426"/>
                </a:solidFill>
                <a:latin typeface="Calibri" pitchFamily="34" charset="0"/>
                <a:ea typeface="Calibri" pitchFamily="34" charset="-122"/>
                <a:cs typeface="Calibri" pitchFamily="34" charset="-120"/>
              </a:rPr>
              <a:t>ivmedir</a:t>
            </a:r>
            <a:pPr indent="0" marL="0">
              <a:lnSpc>
                <a:spcPct val="112000"/>
              </a:lnSpc>
              <a:buNone/>
            </a:pPr>
            <a:r>
              <a:rPr lang="en-US" sz="1100" dirty="0">
                <a:solidFill>
                  <a:srgbClr val="4A5470"/>
                </a:solidFill>
                <a:latin typeface="Calibri" pitchFamily="34" charset="0"/>
                <a:ea typeface="Calibri" pitchFamily="34" charset="-122"/>
                <a:cs typeface="Calibri" pitchFamily="34" charset="-120"/>
              </a:rPr>
              <a:t>. Cisim hâlâ (hem de hızla) düşmektedir; yalnızca artık hızlanmamaktadır.</a:t>
            </a:r>
            <a:endParaRPr lang="en-US" sz="1100" dirty="0"/>
          </a:p>
        </p:txBody>
      </p:sp>
      <p:sp>
        <p:nvSpPr>
          <p:cNvPr id="17" name="Shape 15"/>
          <p:cNvSpPr/>
          <p:nvPr/>
        </p:nvSpPr>
        <p:spPr>
          <a:xfrm>
            <a:off x="8156448" y="2593238"/>
            <a:ext cx="3395167" cy="3083677"/>
          </a:xfrm>
          <a:prstGeom prst="roundRect">
            <a:avLst>
              <a:gd name="adj" fmla="val 4744"/>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18" name="Image 0" descr="/tmp/claude-1000/-opt-dersler/8a8328c3-841c-44fa-b76f-82572d338d3d/scratchpad/d5/sek/limit-hiz-04.png">    </p:cNvPr>
          <p:cNvPicPr>
            <a:picLocks noChangeAspect="1"/>
          </p:cNvPicPr>
          <p:nvPr/>
        </p:nvPicPr>
        <p:blipFill>
          <a:blip r:embed="rId1"/>
          <a:stretch>
            <a:fillRect/>
          </a:stretch>
        </p:blipFill>
        <p:spPr>
          <a:xfrm>
            <a:off x="8339328" y="2776118"/>
            <a:ext cx="3029407" cy="1262192"/>
          </a:xfrm>
          <a:prstGeom prst="rect">
            <a:avLst/>
          </a:prstGeom>
        </p:spPr>
      </p:pic>
      <p:sp>
        <p:nvSpPr>
          <p:cNvPr id="19" name="Shape 16"/>
          <p:cNvSpPr/>
          <p:nvPr/>
        </p:nvSpPr>
        <p:spPr>
          <a:xfrm>
            <a:off x="8339328" y="4129751"/>
            <a:ext cx="3029407" cy="0"/>
          </a:xfrm>
          <a:prstGeom prst="line">
            <a:avLst/>
          </a:prstGeom>
          <a:noFill/>
          <a:ln w="9525">
            <a:solidFill>
              <a:srgbClr val="E1E5EE"/>
            </a:solidFill>
            <a:prstDash val="dash"/>
          </a:ln>
        </p:spPr>
      </p:sp>
      <p:sp>
        <p:nvSpPr>
          <p:cNvPr id="20" name="Text 17"/>
          <p:cNvSpPr txBox="1"/>
          <p:nvPr/>
        </p:nvSpPr>
        <p:spPr>
          <a:xfrm>
            <a:off x="8339328" y="4184615"/>
            <a:ext cx="3029407" cy="1309421"/>
          </a:xfrm>
          <a:prstGeom prst="rect">
            <a:avLst/>
          </a:prstGeom>
          <a:noFill/>
          <a:ln/>
        </p:spPr>
        <p:txBody>
          <a:bodyPr wrap="square" lIns="0" tIns="0" rIns="0" bIns="0" rtlCol="0" anchor="t"/>
          <a:lstStyle/>
          <a:p>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Eğrinin her noktasındaki </a:t>
            </a:r>
            <a:pPr indent="0" marL="0">
              <a:lnSpc>
                <a:spcPct val="112000"/>
              </a:lnSpc>
              <a:buNone/>
            </a:pPr>
            <a:r>
              <a:rPr lang="en-US" sz="1050" b="1" dirty="0">
                <a:solidFill>
                  <a:srgbClr val="4A5470"/>
                </a:solidFill>
                <a:latin typeface="Calibri" pitchFamily="34" charset="0"/>
                <a:ea typeface="Calibri" pitchFamily="34" charset="-122"/>
                <a:cs typeface="Calibri" pitchFamily="34" charset="-120"/>
              </a:rPr>
              <a:t>eğim o andaki ivmedir</a:t>
            </a:r>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 Başlangıçta eğim tam olarak g'dir — ilk anda hız sıfır olduğu için direnç de sıfırdır. Hız büyüdükçe eğim azalır ve eğri, limit hız doğrusuna hiç değmeden </a:t>
            </a:r>
            <a:pPr indent="0" marL="0">
              <a:lnSpc>
                <a:spcPct val="112000"/>
              </a:lnSpc>
              <a:buNone/>
            </a:pPr>
            <a:r>
              <a:rPr lang="en-US" sz="1050" b="1" dirty="0">
                <a:solidFill>
                  <a:srgbClr val="4A5470"/>
                </a:solidFill>
                <a:latin typeface="Calibri" pitchFamily="34" charset="0"/>
                <a:ea typeface="Calibri" pitchFamily="34" charset="-122"/>
                <a:cs typeface="Calibri" pitchFamily="34" charset="-120"/>
              </a:rPr>
              <a:t>sonsuza kadar yaklaşır</a:t>
            </a:r>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 Pratikte cisim birkaç saniyede limit hızın %99'una ulaşır.</a:t>
            </a:r>
            <a:endParaRPr lang="en-US" sz="1050" dirty="0"/>
          </a:p>
        </p:txBody>
      </p:sp>
      <p:sp>
        <p:nvSpPr>
          <p:cNvPr id="21" name="Shape 18"/>
          <p:cNvSpPr/>
          <p:nvPr/>
        </p:nvSpPr>
        <p:spPr>
          <a:xfrm>
            <a:off x="640080" y="6382512"/>
            <a:ext cx="128016" cy="128016"/>
          </a:xfrm>
          <a:prstGeom prst="roundRect">
            <a:avLst>
              <a:gd name="adj" fmla="val 28571"/>
            </a:avLst>
          </a:prstGeom>
          <a:solidFill>
            <a:srgbClr val="A9E648"/>
          </a:solidFill>
          <a:ln/>
        </p:spPr>
      </p:sp>
      <p:sp>
        <p:nvSpPr>
          <p:cNvPr id="22" name="Text 1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dersler.perinet.org/limit-hiz.html</a:t>
            </a:r>
            <a:endParaRPr lang="en-US" sz="1050" dirty="0"/>
          </a:p>
        </p:txBody>
      </p:sp>
      <p:sp>
        <p:nvSpPr>
          <p:cNvPr id="23" name="Text 2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19</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Doyan v – t eğrisinde eğim hangi anda en büyüktür ve o anki değeri nedir?</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06 · v – t grafiği: doyan eğri</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dersler.perinet.org/limit-hiz.html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20</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Doyan v – t eğrisinde eğim hangi anda en büyüktür ve o anki değeri nedir?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CFC8F5"/>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200" b="1" dirty="0">
                <a:solidFill>
                  <a:srgbClr val="5F4BD8"/>
                </a:solidFill>
                <a:latin typeface="Calibri" pitchFamily="34" charset="0"/>
                <a:ea typeface="Calibri" pitchFamily="34" charset="-122"/>
                <a:cs typeface="Calibri" pitchFamily="34" charset="-120"/>
              </a:rPr>
              <a:t>Bırakma anında</a:t>
            </a:r>
            <a:pPr indent="0" marL="0">
              <a:lnSpc>
                <a:spcPct val="125000"/>
              </a:lnSpc>
              <a:buNone/>
            </a:pPr>
            <a:r>
              <a:rPr lang="en-US" sz="2200" dirty="0">
                <a:solidFill>
                  <a:srgbClr val="0E1426"/>
                </a:solidFill>
                <a:latin typeface="Calibri" pitchFamily="34" charset="0"/>
                <a:ea typeface="Calibri" pitchFamily="34" charset="-122"/>
                <a:cs typeface="Calibri" pitchFamily="34" charset="-120"/>
              </a:rPr>
              <a:t> en büyüktür ve tam olarak g'dir. O anda hız sıfır olduğu için direnç de sıfırdır; cisim yalnızca ağırlığın etkisindedir. Sonra direnç büyüdükçe eğim, yani ivme, azalır ve limit hızda sıfıra iner.</a:t>
            </a:r>
            <a:endParaRPr lang="en-US" sz="22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dersler.perinet.org/limit-hiz.html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21</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07</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2700" b="1" spc="-50" kern="0" dirty="0">
                <a:solidFill>
                  <a:srgbClr val="0E1426"/>
                </a:solidFill>
                <a:latin typeface="Cambria" pitchFamily="34" charset="0"/>
                <a:ea typeface="Cambria" pitchFamily="34" charset="-122"/>
                <a:cs typeface="Cambria" pitchFamily="34" charset="-120"/>
              </a:rPr>
              <a:t>Sayılarla hisset: kim, hangi hızla, ne kadar sürede?</a:t>
            </a:r>
            <a:endParaRPr lang="en-US" sz="2700" dirty="0"/>
          </a:p>
        </p:txBody>
      </p:sp>
      <p:sp>
        <p:nvSpPr>
          <p:cNvPr id="5" name="Text 3"/>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6" name="Shape 4"/>
          <p:cNvSpPr/>
          <p:nvPr/>
        </p:nvSpPr>
        <p:spPr>
          <a:xfrm>
            <a:off x="640080" y="1188720"/>
            <a:ext cx="10911535" cy="1185062"/>
          </a:xfrm>
          <a:prstGeom prst="roundRect">
            <a:avLst>
              <a:gd name="adj" fmla="val 9259"/>
            </a:avLst>
          </a:prstGeom>
          <a:solidFill>
            <a:srgbClr val="F8F9FC"/>
          </a:solidFill>
          <a:ln w="9525">
            <a:solidFill>
              <a:srgbClr val="E1E5EE"/>
            </a:solidFill>
            <a:prstDash val="solid"/>
          </a:ln>
        </p:spPr>
      </p:sp>
      <p:sp>
        <p:nvSpPr>
          <p:cNvPr id="7" name="Shape 5"/>
          <p:cNvSpPr/>
          <p:nvPr/>
        </p:nvSpPr>
        <p:spPr>
          <a:xfrm>
            <a:off x="658368" y="1298448"/>
            <a:ext cx="54864" cy="965606"/>
          </a:xfrm>
          <a:prstGeom prst="rect">
            <a:avLst/>
          </a:prstGeom>
          <a:solidFill>
            <a:srgbClr val="2957D4"/>
          </a:solidFill>
          <a:ln/>
        </p:spPr>
      </p:sp>
      <p:sp>
        <p:nvSpPr>
          <p:cNvPr id="8" name="Text 6"/>
          <p:cNvSpPr txBox="1"/>
          <p:nvPr/>
        </p:nvSpPr>
        <p:spPr>
          <a:xfrm>
            <a:off x="932688" y="1234440"/>
            <a:ext cx="10454335" cy="1093622"/>
          </a:xfrm>
          <a:prstGeom prst="rect">
            <a:avLst/>
          </a:prstGeom>
          <a:noFill/>
          <a:ln/>
        </p:spPr>
        <p:txBody>
          <a:bodyPr wrap="square" lIns="0" tIns="0" rIns="0" bIns="0" rtlCol="0" anchor="ctr"/>
          <a:lstStyle/>
          <a:p>
            <a:pPr indent="0" marL="0">
              <a:lnSpc>
                <a:spcPct val="112000"/>
              </a:lnSpc>
              <a:buNone/>
            </a:pPr>
            <a:r>
              <a:rPr lang="en-US" sz="1850" dirty="0">
                <a:solidFill>
                  <a:srgbClr val="0E1426"/>
                </a:solidFill>
                <a:latin typeface="Calibri" pitchFamily="34" charset="0"/>
                <a:ea typeface="Calibri" pitchFamily="34" charset="-122"/>
                <a:cs typeface="Calibri" pitchFamily="34" charset="-120"/>
              </a:rPr>
              <a:t>Limit hızlar sis damlacığında 0,01 m/s'den dalıştaki paraşütçüde 90 m/s'ye kadar uzanır. Limite oturma süresi vl ile, bu sırada düşülen yol vl² ile büyür: yağmur damlası ilk 10 m'de dengeye gelir.</a:t>
            </a:r>
            <a:endParaRPr lang="en-US" sz="185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640080" y="2593238"/>
          <a:ext cx="6675120" cy="914400"/>
        </p:xfrm>
        <a:graphic>
          <a:graphicData uri="http://schemas.openxmlformats.org/drawingml/2006/table">
            <a:tbl>
              <a:tblPr/>
              <a:tblGrid>
                <a:gridCol w="2810577"/>
                <a:gridCol w="1053966"/>
                <a:gridCol w="2810577"/>
              </a:tblGrid>
              <a:tr h="338328">
                <a:tc>
                  <a:txBody>
                    <a:bodyPr/>
                    <a:lstStyle/>
                    <a:p>
                      <a:pPr indent="0" marL="0">
                        <a:buNone/>
                      </a:pPr>
                      <a:r>
                        <a:rPr lang="en-US" sz="1050" b="1" dirty="0">
                          <a:solidFill>
                            <a:srgbClr val="7B849E"/>
                          </a:solidFill>
                          <a:latin typeface="Calibri" pitchFamily="34" charset="0"/>
                          <a:ea typeface="Calibri" pitchFamily="34" charset="-122"/>
                          <a:cs typeface="Calibri" pitchFamily="34" charset="-120"/>
                        </a:rPr>
                        <a:t>Cisim</a:t>
                      </a:r>
                      <a:endParaRPr lang="en-US" sz="105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050" b="1" dirty="0">
                          <a:solidFill>
                            <a:srgbClr val="7B849E"/>
                          </a:solidFill>
                          <a:latin typeface="Calibri" pitchFamily="34" charset="0"/>
                          <a:ea typeface="Calibri" pitchFamily="34" charset="-122"/>
                          <a:cs typeface="Calibri" pitchFamily="34" charset="-120"/>
                        </a:rPr>
                        <a:t>Limit hız</a:t>
                      </a:r>
                      <a:endParaRPr lang="en-US" sz="105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050" b="1" dirty="0">
                          <a:solidFill>
                            <a:srgbClr val="7B849E"/>
                          </a:solidFill>
                          <a:latin typeface="Calibri" pitchFamily="34" charset="0"/>
                          <a:ea typeface="Calibri" pitchFamily="34" charset="-122"/>
                          <a:cs typeface="Calibri" pitchFamily="34" charset="-120"/>
                        </a:rPr>
                        <a:t>Neden</a:t>
                      </a:r>
                      <a:endParaRPr lang="en-US" sz="105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r>
              <a:tr h="338328">
                <a:tc>
                  <a:txBody>
                    <a:bodyPr/>
                    <a:lstStyle/>
                    <a:p>
                      <a:pPr indent="0" marL="0">
                        <a:buNone/>
                      </a:pPr>
                      <a:r>
                        <a:rPr lang="en-US" sz="1200" b="1" dirty="0">
                          <a:solidFill>
                            <a:srgbClr val="0E1426"/>
                          </a:solidFill>
                          <a:latin typeface="Calibri" pitchFamily="34" charset="0"/>
                          <a:ea typeface="Calibri" pitchFamily="34" charset="-122"/>
                          <a:cs typeface="Calibri" pitchFamily="34" charset="-120"/>
                        </a:rPr>
                        <a:t>Sis damlacığı</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 0,01 m/s</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çok küçük m/A</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338328">
                <a:tc>
                  <a:txBody>
                    <a:bodyPr/>
                    <a:lstStyle/>
                    <a:p>
                      <a:pPr indent="0" marL="0">
                        <a:buNone/>
                      </a:pPr>
                      <a:r>
                        <a:rPr lang="en-US" sz="1200" b="1" dirty="0">
                          <a:solidFill>
                            <a:srgbClr val="0E1426"/>
                          </a:solidFill>
                          <a:latin typeface="Calibri" pitchFamily="34" charset="0"/>
                          <a:ea typeface="Calibri" pitchFamily="34" charset="-122"/>
                          <a:cs typeface="Calibri" pitchFamily="34" charset="-120"/>
                        </a:rPr>
                        <a:t>Yağmur damlası</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 9 m/s</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küçük kütle, küresel</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338328">
                <a:tc>
                  <a:txBody>
                    <a:bodyPr/>
                    <a:lstStyle/>
                    <a:p>
                      <a:pPr indent="0" marL="0">
                        <a:buNone/>
                      </a:pPr>
                      <a:r>
                        <a:rPr lang="en-US" sz="1200" b="1" dirty="0">
                          <a:solidFill>
                            <a:srgbClr val="0E1426"/>
                          </a:solidFill>
                          <a:latin typeface="Calibri" pitchFamily="34" charset="0"/>
                          <a:ea typeface="Calibri" pitchFamily="34" charset="-122"/>
                          <a:cs typeface="Calibri" pitchFamily="34" charset="-120"/>
                        </a:rPr>
                        <a:t>Tenis topu</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 25 m/s</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orta m/A</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530352">
                <a:tc>
                  <a:txBody>
                    <a:bodyPr/>
                    <a:lstStyle/>
                    <a:p>
                      <a:pPr indent="0" marL="0">
                        <a:buNone/>
                      </a:pPr>
                      <a:r>
                        <a:rPr lang="en-US" sz="1200" b="1" dirty="0">
                          <a:solidFill>
                            <a:srgbClr val="0E1426"/>
                          </a:solidFill>
                          <a:latin typeface="Calibri" pitchFamily="34" charset="0"/>
                          <a:ea typeface="Calibri" pitchFamily="34" charset="-122"/>
                          <a:cs typeface="Calibri" pitchFamily="34" charset="-120"/>
                        </a:rPr>
                        <a:t>Paraşütçü: kol-bacak açık / dalış pozisyonu</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 55 / ≈ 90 m/s</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büyük kütle, orta alan / alan iyice küçülür</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338328">
                <a:tc>
                  <a:txBody>
                    <a:bodyPr/>
                    <a:lstStyle/>
                    <a:p>
                      <a:pPr indent="0" marL="0">
                        <a:buNone/>
                      </a:pPr>
                      <a:r>
                        <a:rPr lang="en-US" sz="1200" b="1" dirty="0">
                          <a:solidFill>
                            <a:srgbClr val="0E1426"/>
                          </a:solidFill>
                          <a:latin typeface="Calibri" pitchFamily="34" charset="0"/>
                          <a:ea typeface="Calibri" pitchFamily="34" charset="-122"/>
                          <a:cs typeface="Calibri" pitchFamily="34" charset="-120"/>
                        </a:rPr>
                        <a:t>Açık paraşüt</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 5 m/s</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alan onlarca kat büyür</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bl>
          </a:graphicData>
        </a:graphic>
      </p:graphicFrame>
      <p:sp>
        <p:nvSpPr>
          <p:cNvPr id="10" name="Shape 7"/>
          <p:cNvSpPr/>
          <p:nvPr/>
        </p:nvSpPr>
        <p:spPr>
          <a:xfrm>
            <a:off x="7607808" y="2593238"/>
            <a:ext cx="3943807" cy="3133044"/>
          </a:xfrm>
          <a:prstGeom prst="roundRect">
            <a:avLst>
              <a:gd name="adj" fmla="val 4670"/>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11" name="Image 0" descr="/tmp/claude-1000/-opt-dersler/8a8328c3-841c-44fa-b76f-82572d338d3d/scratchpad/d5/sek/limit-hiz-05.png">    </p:cNvPr>
          <p:cNvPicPr>
            <a:picLocks noChangeAspect="1"/>
          </p:cNvPicPr>
          <p:nvPr/>
        </p:nvPicPr>
        <p:blipFill>
          <a:blip r:embed="rId1"/>
          <a:stretch>
            <a:fillRect/>
          </a:stretch>
        </p:blipFill>
        <p:spPr>
          <a:xfrm>
            <a:off x="7790688" y="2776118"/>
            <a:ext cx="3578047" cy="1490781"/>
          </a:xfrm>
          <a:prstGeom prst="rect">
            <a:avLst/>
          </a:prstGeom>
        </p:spPr>
      </p:pic>
      <p:sp>
        <p:nvSpPr>
          <p:cNvPr id="12" name="Shape 8"/>
          <p:cNvSpPr/>
          <p:nvPr/>
        </p:nvSpPr>
        <p:spPr>
          <a:xfrm>
            <a:off x="7790688" y="4358340"/>
            <a:ext cx="3578047" cy="0"/>
          </a:xfrm>
          <a:prstGeom prst="line">
            <a:avLst/>
          </a:prstGeom>
          <a:noFill/>
          <a:ln w="9525">
            <a:solidFill>
              <a:srgbClr val="E1E5EE"/>
            </a:solidFill>
            <a:prstDash val="dash"/>
          </a:ln>
        </p:spPr>
      </p:sp>
      <p:sp>
        <p:nvSpPr>
          <p:cNvPr id="13" name="Text 9"/>
          <p:cNvSpPr txBox="1"/>
          <p:nvPr/>
        </p:nvSpPr>
        <p:spPr>
          <a:xfrm>
            <a:off x="7790688" y="4413204"/>
            <a:ext cx="3578047" cy="1130198"/>
          </a:xfrm>
          <a:prstGeom prst="rect">
            <a:avLst/>
          </a:prstGeom>
          <a:noFill/>
          <a:ln/>
        </p:spPr>
        <p:txBody>
          <a:bodyPr wrap="square" lIns="0" tIns="0" rIns="0" bIns="0" rtlCol="0" anchor="t"/>
          <a:lstStyle/>
          <a:p>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Aynı yerçekimi, aynı hava — ama limit hızlar arasında </a:t>
            </a:r>
            <a:pPr indent="0" marL="0">
              <a:lnSpc>
                <a:spcPct val="112000"/>
              </a:lnSpc>
              <a:buNone/>
            </a:pPr>
            <a:r>
              <a:rPr lang="en-US" sz="1050" b="1" dirty="0">
                <a:solidFill>
                  <a:srgbClr val="4A5470"/>
                </a:solidFill>
                <a:latin typeface="Calibri" pitchFamily="34" charset="0"/>
                <a:ea typeface="Calibri" pitchFamily="34" charset="-122"/>
                <a:cs typeface="Calibri" pitchFamily="34" charset="-120"/>
              </a:rPr>
              <a:t>on binlerce kat</a:t>
            </a:r>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 fark var. Farkı yapan tek şey m/A oranı: sis damlacığı neredeyse asılı kalır, kollarını yanına toplayan bir paraşütçü ise 90 m/s'ye çıkar. Paraşütü açmak, aynı insanın limit hızını </a:t>
            </a:r>
            <a:pPr indent="0" marL="0">
              <a:lnSpc>
                <a:spcPct val="112000"/>
              </a:lnSpc>
              <a:buNone/>
            </a:pPr>
            <a:r>
              <a:rPr lang="en-US" sz="1050" b="1" dirty="0">
                <a:solidFill>
                  <a:srgbClr val="4A5470"/>
                </a:solidFill>
                <a:latin typeface="Calibri" pitchFamily="34" charset="0"/>
                <a:ea typeface="Calibri" pitchFamily="34" charset="-122"/>
                <a:cs typeface="Calibri" pitchFamily="34" charset="-120"/>
              </a:rPr>
              <a:t>on bire bölmeye</a:t>
            </a:r>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 yeter.</a:t>
            </a:r>
            <a:endParaRPr lang="en-US" sz="1050" dirty="0"/>
          </a:p>
        </p:txBody>
      </p:sp>
      <p:sp>
        <p:nvSpPr>
          <p:cNvPr id="14" name="Shape 10"/>
          <p:cNvSpPr/>
          <p:nvPr/>
        </p:nvSpPr>
        <p:spPr>
          <a:xfrm>
            <a:off x="640080" y="6382512"/>
            <a:ext cx="128016" cy="128016"/>
          </a:xfrm>
          <a:prstGeom prst="roundRect">
            <a:avLst>
              <a:gd name="adj" fmla="val 28571"/>
            </a:avLst>
          </a:prstGeom>
          <a:solidFill>
            <a:srgbClr val="A9E648"/>
          </a:solidFill>
          <a:ln/>
        </p:spPr>
      </p:sp>
      <p:sp>
        <p:nvSpPr>
          <p:cNvPr id="15" name="Text 1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dersler.perinet.org/limit-hiz.html</a:t>
            </a:r>
            <a:endParaRPr lang="en-US" sz="1050" dirty="0"/>
          </a:p>
        </p:txBody>
      </p:sp>
      <p:sp>
        <p:nvSpPr>
          <p:cNvPr id="16" name="Text 12"/>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22</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07</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2300" b="1" spc="-50" kern="0" dirty="0">
                <a:solidFill>
                  <a:srgbClr val="0E1426"/>
                </a:solidFill>
                <a:latin typeface="Cambria" pitchFamily="34" charset="0"/>
                <a:ea typeface="Cambria" pitchFamily="34" charset="-122"/>
                <a:cs typeface="Cambria" pitchFamily="34" charset="-120"/>
              </a:rPr>
              <a:t>Sayılarla hisset: kim, hangi hızla, ne kadar sürede? · devam</a:t>
            </a:r>
            <a:endParaRPr lang="en-US" sz="2300" dirty="0"/>
          </a:p>
        </p:txBody>
      </p:sp>
      <p:sp>
        <p:nvSpPr>
          <p:cNvPr id="5" name="Text 3"/>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640080" y="1481328"/>
          <a:ext cx="10911535" cy="914400"/>
        </p:xfrm>
        <a:graphic>
          <a:graphicData uri="http://schemas.openxmlformats.org/drawingml/2006/table">
            <a:tbl>
              <a:tblPr/>
              <a:tblGrid>
                <a:gridCol w="3637178"/>
                <a:gridCol w="1259023"/>
                <a:gridCol w="2797830"/>
                <a:gridCol w="3217504"/>
              </a:tblGrid>
              <a:tr h="338328">
                <a:tc>
                  <a:txBody>
                    <a:bodyPr/>
                    <a:lstStyle/>
                    <a:p>
                      <a:pPr indent="0" marL="0">
                        <a:buNone/>
                      </a:pPr>
                      <a:r>
                        <a:rPr lang="en-US" sz="1050" b="1" dirty="0">
                          <a:solidFill>
                            <a:srgbClr val="7B849E"/>
                          </a:solidFill>
                          <a:latin typeface="Calibri" pitchFamily="34" charset="0"/>
                          <a:ea typeface="Calibri" pitchFamily="34" charset="-122"/>
                          <a:cs typeface="Calibri" pitchFamily="34" charset="-120"/>
                        </a:rPr>
                        <a:t>Cisim</a:t>
                      </a:r>
                      <a:endParaRPr lang="en-US" sz="105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050" b="1" dirty="0">
                          <a:solidFill>
                            <a:srgbClr val="7B849E"/>
                          </a:solidFill>
                          <a:latin typeface="Calibri" pitchFamily="34" charset="0"/>
                          <a:ea typeface="Calibri" pitchFamily="34" charset="-122"/>
                          <a:cs typeface="Calibri" pitchFamily="34" charset="-120"/>
                        </a:rPr>
                        <a:t>Limit hız</a:t>
                      </a:r>
                      <a:endParaRPr lang="en-US" sz="105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050" b="1" dirty="0">
                          <a:solidFill>
                            <a:srgbClr val="7B849E"/>
                          </a:solidFill>
                          <a:latin typeface="Calibri" pitchFamily="34" charset="0"/>
                          <a:ea typeface="Calibri" pitchFamily="34" charset="-122"/>
                          <a:cs typeface="Calibri" pitchFamily="34" charset="-120"/>
                        </a:rPr>
                        <a:t>%95'ine varma süresi</a:t>
                      </a:r>
                      <a:endParaRPr lang="en-US" sz="105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050" b="1" dirty="0">
                          <a:solidFill>
                            <a:srgbClr val="7B849E"/>
                          </a:solidFill>
                          <a:latin typeface="Calibri" pitchFamily="34" charset="0"/>
                          <a:ea typeface="Calibri" pitchFamily="34" charset="-122"/>
                          <a:cs typeface="Calibri" pitchFamily="34" charset="-120"/>
                        </a:rPr>
                        <a:t>O ana kadar düşülen yol</a:t>
                      </a:r>
                      <a:endParaRPr lang="en-US" sz="105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r>
              <a:tr h="338328">
                <a:tc>
                  <a:txBody>
                    <a:bodyPr/>
                    <a:lstStyle/>
                    <a:p>
                      <a:pPr indent="0" marL="0">
                        <a:buNone/>
                      </a:pPr>
                      <a:r>
                        <a:rPr lang="en-US" sz="1200" b="1" dirty="0">
                          <a:solidFill>
                            <a:srgbClr val="0E1426"/>
                          </a:solidFill>
                          <a:latin typeface="Calibri" pitchFamily="34" charset="0"/>
                          <a:ea typeface="Calibri" pitchFamily="34" charset="-122"/>
                          <a:cs typeface="Calibri" pitchFamily="34" charset="-120"/>
                        </a:rPr>
                        <a:t>Yağmur damlası</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9 m/s</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1,7 s</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10 m</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338328">
                <a:tc>
                  <a:txBody>
                    <a:bodyPr/>
                    <a:lstStyle/>
                    <a:p>
                      <a:pPr indent="0" marL="0">
                        <a:buNone/>
                      </a:pPr>
                      <a:r>
                        <a:rPr lang="en-US" sz="1200" b="1" dirty="0">
                          <a:solidFill>
                            <a:srgbClr val="0E1426"/>
                          </a:solidFill>
                          <a:latin typeface="Calibri" pitchFamily="34" charset="0"/>
                          <a:ea typeface="Calibri" pitchFamily="34" charset="-122"/>
                          <a:cs typeface="Calibri" pitchFamily="34" charset="-120"/>
                        </a:rPr>
                        <a:t>Tenis topu</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25 m/s</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4,7 s</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74 m</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338328">
                <a:tc>
                  <a:txBody>
                    <a:bodyPr/>
                    <a:lstStyle/>
                    <a:p>
                      <a:pPr indent="0" marL="0">
                        <a:buNone/>
                      </a:pPr>
                      <a:r>
                        <a:rPr lang="en-US" sz="1200" b="1" dirty="0">
                          <a:solidFill>
                            <a:srgbClr val="0E1426"/>
                          </a:solidFill>
                          <a:latin typeface="Calibri" pitchFamily="34" charset="0"/>
                          <a:ea typeface="Calibri" pitchFamily="34" charset="-122"/>
                          <a:cs typeface="Calibri" pitchFamily="34" charset="-120"/>
                        </a:rPr>
                        <a:t>Paraşütçü (kol-bacak açık)</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55 m/s</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10,3 s</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360 m</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338328">
                <a:tc>
                  <a:txBody>
                    <a:bodyPr/>
                    <a:lstStyle/>
                    <a:p>
                      <a:pPr indent="0" marL="0">
                        <a:buNone/>
                      </a:pPr>
                      <a:r>
                        <a:rPr lang="en-US" sz="1200" b="1" dirty="0">
                          <a:solidFill>
                            <a:srgbClr val="0E1426"/>
                          </a:solidFill>
                          <a:latin typeface="Calibri" pitchFamily="34" charset="0"/>
                          <a:ea typeface="Calibri" pitchFamily="34" charset="-122"/>
                          <a:cs typeface="Calibri" pitchFamily="34" charset="-120"/>
                        </a:rPr>
                        <a:t>Paraşütçü (dalış)</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90 m/s</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16,8 s</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960 m</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bl>
          </a:graphicData>
        </a:graphic>
      </p:graphicFrame>
      <p:sp>
        <p:nvSpPr>
          <p:cNvPr id="7" name="Text 4"/>
          <p:cNvSpPr txBox="1"/>
          <p:nvPr/>
        </p:nvSpPr>
        <p:spPr>
          <a:xfrm>
            <a:off x="640080" y="3300984"/>
            <a:ext cx="10911535" cy="1103376"/>
          </a:xfrm>
          <a:prstGeom prst="rect">
            <a:avLst/>
          </a:prstGeom>
          <a:noFill/>
          <a:ln/>
        </p:spPr>
        <p:txBody>
          <a:bodyPr wrap="square" lIns="0" tIns="0" rIns="0" bIns="0" rtlCol="0" anchor="t"/>
          <a:lstStyle/>
          <a:p>
            <a:pPr marL="203200" indent="-203200">
              <a:lnSpc>
                <a:spcPct val="115000"/>
              </a:lnSpc>
              <a:spcAft>
                <a:spcPts val="500"/>
              </a:spcAft>
              <a:buSzPct val="100000"/>
              <a:buChar char="▪"/>
            </a:pPr>
            <a:r>
              <a:rPr lang="en-US" sz="1300" b="1" dirty="0">
                <a:solidFill>
                  <a:srgbClr val="0E1426"/>
                </a:solidFill>
                <a:latin typeface="Calibri" pitchFamily="34" charset="0"/>
                <a:ea typeface="Calibri" pitchFamily="34" charset="-122"/>
                <a:cs typeface="Calibri" pitchFamily="34" charset="-120"/>
              </a:rPr>
              <a:t>Süre limit hızla doğru orantılıdır:</a:t>
            </a:r>
            <a:pPr indent="0" marL="0">
              <a:lnSpc>
                <a:spcPct val="115000"/>
              </a:lnSpc>
              <a:buNone/>
            </a:pPr>
            <a:r>
              <a:rPr lang="en-US" sz="1300" dirty="0">
                <a:solidFill>
                  <a:srgbClr val="4A5470"/>
                </a:solidFill>
                <a:latin typeface="Calibri" pitchFamily="34" charset="0"/>
                <a:ea typeface="Calibri" pitchFamily="34" charset="-122"/>
                <a:cs typeface="Calibri" pitchFamily="34" charset="-120"/>
              </a:rPr>
              <a:t> limit hızı 10 kat büyük olan dalıştaki paraşütçü, dengeye yağmur damlasından 10 kat geç oturur.</a:t>
            </a:r>
            <a:endParaRPr lang="en-US" sz="1300" dirty="0"/>
          </a:p>
          <a:p>
            <a:pPr marL="203200" indent="-203200">
              <a:lnSpc>
                <a:spcPct val="115000"/>
              </a:lnSpc>
              <a:spcAft>
                <a:spcPts val="500"/>
              </a:spcAft>
              <a:buSzPct val="100000"/>
              <a:buChar char="▪"/>
            </a:pPr>
            <a:r>
              <a:rPr lang="en-US" sz="1300" b="1" dirty="0">
                <a:solidFill>
                  <a:srgbClr val="0E1426"/>
                </a:solidFill>
                <a:latin typeface="Calibri" pitchFamily="34" charset="0"/>
                <a:ea typeface="Calibri" pitchFamily="34" charset="-122"/>
                <a:cs typeface="Calibri" pitchFamily="34" charset="-120"/>
              </a:rPr>
              <a:t>Yol limit hızın karesiyle büyür:</a:t>
            </a:r>
            <a:pPr indent="0" marL="0">
              <a:lnSpc>
                <a:spcPct val="115000"/>
              </a:lnSpc>
              <a:buNone/>
            </a:pPr>
            <a:r>
              <a:rPr lang="en-US" sz="1300" dirty="0">
                <a:solidFill>
                  <a:srgbClr val="4A5470"/>
                </a:solidFill>
                <a:latin typeface="Calibri" pitchFamily="34" charset="0"/>
                <a:ea typeface="Calibri" pitchFamily="34" charset="-122"/>
                <a:cs typeface="Calibri" pitchFamily="34" charset="-120"/>
              </a:rPr>
              <a:t> yağmur damlası ilk 10 m'de, paraşütçü ancak ilk 360 m'de limitine oturur.</a:t>
            </a:r>
            <a:endParaRPr lang="en-US" sz="1300" dirty="0"/>
          </a:p>
          <a:p>
            <a:pPr marL="203200" indent="-203200">
              <a:lnSpc>
                <a:spcPct val="115000"/>
              </a:lnSpc>
              <a:spcAft>
                <a:spcPts val="500"/>
              </a:spcAft>
              <a:buSzPct val="100000"/>
              <a:buChar char="▪"/>
            </a:pPr>
            <a:r>
              <a:rPr lang="en-US" sz="1300" b="1" dirty="0">
                <a:solidFill>
                  <a:srgbClr val="0E1426"/>
                </a:solidFill>
                <a:latin typeface="Calibri" pitchFamily="34" charset="0"/>
                <a:ea typeface="Calibri" pitchFamily="34" charset="-122"/>
                <a:cs typeface="Calibri" pitchFamily="34" charset="-120"/>
              </a:rPr>
              <a:t>Yağmur damlası neredeyse hep sabit hızlıdır:</a:t>
            </a:r>
            <a:pPr indent="0" marL="0">
              <a:lnSpc>
                <a:spcPct val="115000"/>
              </a:lnSpc>
              <a:buNone/>
            </a:pPr>
            <a:r>
              <a:rPr lang="en-US" sz="1300" dirty="0">
                <a:solidFill>
                  <a:srgbClr val="4A5470"/>
                </a:solidFill>
                <a:latin typeface="Calibri" pitchFamily="34" charset="0"/>
                <a:ea typeface="Calibri" pitchFamily="34" charset="-122"/>
                <a:cs typeface="Calibri" pitchFamily="34" charset="-120"/>
              </a:rPr>
              <a:t> 2 km'lik düşüşün yalnızca ilk 10 metresi hızlanmayla geçer.</a:t>
            </a:r>
            <a:endParaRPr lang="en-US" sz="13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dersler.perinet.org/limit-hiz.html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23</a:t>
            </a:r>
            <a:endParaRPr lang="en-US" sz="10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E1426"/>
        </a:solidFill>
      </p:bgPr>
    </p:bg>
    <p:spTree>
      <p:nvGrpSpPr>
        <p:cNvPr id="1" name=""/>
        <p:cNvGrpSpPr/>
        <p:nvPr/>
      </p:nvGrpSpPr>
      <p:grpSpPr>
        <a:xfrm>
          <a:off x="0" y="0"/>
          <a:ext cx="0" cy="0"/>
          <a:chOff x="0" y="0"/>
          <a:chExt cx="0" cy="0"/>
        </a:xfrm>
      </p:grpSpPr>
      <p:sp>
        <p:nvSpPr>
          <p:cNvPr id="2" name="Text 0"/>
          <p:cNvSpPr txBox="1"/>
          <p:nvPr/>
        </p:nvSpPr>
        <p:spPr>
          <a:xfrm>
            <a:off x="685800" y="365760"/>
            <a:ext cx="1828800" cy="1874520"/>
          </a:xfrm>
          <a:prstGeom prst="rect">
            <a:avLst/>
          </a:prstGeom>
          <a:noFill/>
          <a:ln/>
        </p:spPr>
        <p:txBody>
          <a:bodyPr wrap="square" lIns="0" tIns="0" rIns="0" bIns="0" rtlCol="0" anchor="ctr"/>
          <a:lstStyle/>
          <a:p>
            <a:pPr indent="0" marL="0">
              <a:buNone/>
            </a:pPr>
            <a:r>
              <a:rPr lang="en-US" sz="11600" b="1" dirty="0">
                <a:solidFill>
                  <a:srgbClr val="A093FF"/>
                </a:solidFill>
                <a:latin typeface="Cambria" pitchFamily="34" charset="0"/>
                <a:ea typeface="Cambria" pitchFamily="34" charset="-122"/>
                <a:cs typeface="Cambria" pitchFamily="34" charset="-120"/>
              </a:rPr>
              <a:t>3</a:t>
            </a:r>
            <a:endParaRPr lang="en-US" sz="11600" dirty="0"/>
          </a:p>
        </p:txBody>
      </p:sp>
      <p:sp>
        <p:nvSpPr>
          <p:cNvPr id="3" name="Text 1"/>
          <p:cNvSpPr txBox="1"/>
          <p:nvPr/>
        </p:nvSpPr>
        <p:spPr>
          <a:xfrm>
            <a:off x="731520" y="2286000"/>
            <a:ext cx="4572000" cy="292608"/>
          </a:xfrm>
          <a:prstGeom prst="rect">
            <a:avLst/>
          </a:prstGeom>
          <a:noFill/>
          <a:ln/>
        </p:spPr>
        <p:txBody>
          <a:bodyPr wrap="square" lIns="0" tIns="0" rIns="0" bIns="0" rtlCol="0" anchor="ctr"/>
          <a:lstStyle/>
          <a:p>
            <a:pPr indent="0" marL="0">
              <a:buNone/>
            </a:pPr>
            <a:r>
              <a:rPr lang="en-US" sz="1200" b="1" spc="300" kern="0" dirty="0">
                <a:solidFill>
                  <a:srgbClr val="A093FF"/>
                </a:solidFill>
                <a:latin typeface="Calibri" pitchFamily="34" charset="0"/>
                <a:ea typeface="Calibri" pitchFamily="34" charset="-122"/>
                <a:cs typeface="Calibri" pitchFamily="34" charset="-120"/>
              </a:rPr>
              <a:t>BASAMAK 3 / 4</a:t>
            </a:r>
            <a:endParaRPr lang="en-US" sz="1200" dirty="0"/>
          </a:p>
        </p:txBody>
      </p:sp>
      <p:sp>
        <p:nvSpPr>
          <p:cNvPr id="4" name="Text 2"/>
          <p:cNvSpPr txBox="1"/>
          <p:nvPr/>
        </p:nvSpPr>
        <p:spPr>
          <a:xfrm>
            <a:off x="685800" y="2578608"/>
            <a:ext cx="5120640" cy="822960"/>
          </a:xfrm>
          <a:prstGeom prst="rect">
            <a:avLst/>
          </a:prstGeom>
          <a:noFill/>
          <a:ln/>
        </p:spPr>
        <p:txBody>
          <a:bodyPr wrap="square" lIns="0" tIns="0" rIns="0" bIns="0" rtlCol="0" anchor="ctr"/>
          <a:lstStyle/>
          <a:p>
            <a:pPr indent="0" marL="0">
              <a:buNone/>
            </a:pPr>
            <a:r>
              <a:rPr lang="en-US" sz="4600" b="1" spc="-100" kern="0" dirty="0">
                <a:solidFill>
                  <a:srgbClr val="FFFFFF"/>
                </a:solidFill>
                <a:latin typeface="Cambria" pitchFamily="34" charset="0"/>
                <a:ea typeface="Cambria" pitchFamily="34" charset="-122"/>
                <a:cs typeface="Cambria" pitchFamily="34" charset="-120"/>
              </a:rPr>
              <a:t>İleri</a:t>
            </a:r>
            <a:endParaRPr lang="en-US" sz="4600" dirty="0"/>
          </a:p>
        </p:txBody>
      </p:sp>
      <p:sp>
        <p:nvSpPr>
          <p:cNvPr id="5" name="Text 3"/>
          <p:cNvSpPr txBox="1"/>
          <p:nvPr/>
        </p:nvSpPr>
        <p:spPr>
          <a:xfrm>
            <a:off x="731520" y="3474720"/>
            <a:ext cx="4846320" cy="914400"/>
          </a:xfrm>
          <a:prstGeom prst="rect">
            <a:avLst/>
          </a:prstGeom>
          <a:noFill/>
          <a:ln/>
        </p:spPr>
        <p:txBody>
          <a:bodyPr wrap="square" lIns="0" tIns="0" rIns="0" bIns="0" rtlCol="0" anchor="t"/>
          <a:lstStyle/>
          <a:p>
            <a:pPr indent="0" marL="0">
              <a:lnSpc>
                <a:spcPct val="120000"/>
              </a:lnSpc>
              <a:buNone/>
            </a:pPr>
            <a:r>
              <a:rPr lang="en-US" sz="1600" dirty="0">
                <a:solidFill>
                  <a:srgbClr val="C3CEE8"/>
                </a:solidFill>
                <a:latin typeface="Calibri" pitchFamily="34" charset="0"/>
                <a:ea typeface="Calibri" pitchFamily="34" charset="-122"/>
                <a:cs typeface="Calibri" pitchFamily="34" charset="-120"/>
              </a:rPr>
              <a:t>Derinleşme: serbest düşme modeli nerede yetmez, paraşüt nasıl çalışır ve limit hız gerçek hayatta nerede karşımıza çıkar?</a:t>
            </a:r>
            <a:endParaRPr lang="en-US" sz="1600" dirty="0"/>
          </a:p>
        </p:txBody>
      </p:sp>
      <p:sp>
        <p:nvSpPr>
          <p:cNvPr id="6" name="Text 4"/>
          <p:cNvSpPr txBox="1"/>
          <p:nvPr/>
        </p:nvSpPr>
        <p:spPr>
          <a:xfrm>
            <a:off x="731520" y="4572000"/>
            <a:ext cx="5120640" cy="329184"/>
          </a:xfrm>
          <a:prstGeom prst="rect">
            <a:avLst/>
          </a:prstGeom>
          <a:noFill/>
          <a:ln/>
        </p:spPr>
        <p:txBody>
          <a:bodyPr wrap="square" lIns="0" tIns="0" rIns="0" bIns="0" rtlCol="0" anchor="ctr"/>
          <a:lstStyle/>
          <a:p>
            <a:pPr indent="0" marL="0">
              <a:buNone/>
            </a:pPr>
            <a:r>
              <a:rPr lang="en-US" sz="1300" b="1" dirty="0">
                <a:solidFill>
                  <a:srgbClr val="A093FF"/>
                </a:solidFill>
                <a:latin typeface="Calibri" pitchFamily="34" charset="0"/>
                <a:ea typeface="Calibri" pitchFamily="34" charset="-122"/>
                <a:cs typeface="Calibri" pitchFamily="34" charset="-120"/>
              </a:rPr>
              <a:t>08   </a:t>
            </a:r>
            <a:pPr indent="0" marL="0">
              <a:buNone/>
            </a:pPr>
            <a:r>
              <a:rPr lang="en-US" sz="1300" dirty="0">
                <a:solidFill>
                  <a:srgbClr val="FFFFFF"/>
                </a:solidFill>
                <a:latin typeface="Calibri" pitchFamily="34" charset="0"/>
                <a:ea typeface="Calibri" pitchFamily="34" charset="-122"/>
                <a:cs typeface="Calibri" pitchFamily="34" charset="-120"/>
              </a:rPr>
              <a:t>Serbest düşmeden farkı: model ne zaman yeter?</a:t>
            </a:r>
            <a:endParaRPr lang="en-US" sz="1300" dirty="0"/>
          </a:p>
        </p:txBody>
      </p:sp>
      <p:sp>
        <p:nvSpPr>
          <p:cNvPr id="7" name="Text 5"/>
          <p:cNvSpPr txBox="1"/>
          <p:nvPr/>
        </p:nvSpPr>
        <p:spPr>
          <a:xfrm>
            <a:off x="731520" y="4901184"/>
            <a:ext cx="5120640" cy="329184"/>
          </a:xfrm>
          <a:prstGeom prst="rect">
            <a:avLst/>
          </a:prstGeom>
          <a:noFill/>
          <a:ln/>
        </p:spPr>
        <p:txBody>
          <a:bodyPr wrap="square" lIns="0" tIns="0" rIns="0" bIns="0" rtlCol="0" anchor="ctr"/>
          <a:lstStyle/>
          <a:p>
            <a:pPr indent="0" marL="0">
              <a:buNone/>
            </a:pPr>
            <a:r>
              <a:rPr lang="en-US" sz="1300" b="1" dirty="0">
                <a:solidFill>
                  <a:srgbClr val="A093FF"/>
                </a:solidFill>
                <a:latin typeface="Calibri" pitchFamily="34" charset="0"/>
                <a:ea typeface="Calibri" pitchFamily="34" charset="-122"/>
                <a:cs typeface="Calibri" pitchFamily="34" charset="-120"/>
              </a:rPr>
              <a:t>09   </a:t>
            </a:r>
            <a:pPr indent="0" marL="0">
              <a:buNone/>
            </a:pPr>
            <a:r>
              <a:rPr lang="en-US" sz="1300" dirty="0">
                <a:solidFill>
                  <a:srgbClr val="FFFFFF"/>
                </a:solidFill>
                <a:latin typeface="Calibri" pitchFamily="34" charset="0"/>
                <a:ea typeface="Calibri" pitchFamily="34" charset="-122"/>
                <a:cs typeface="Calibri" pitchFamily="34" charset="-120"/>
              </a:rPr>
              <a:t>Paraşüt ve ölçek etkisi</a:t>
            </a:r>
            <a:endParaRPr lang="en-US" sz="1300" dirty="0"/>
          </a:p>
        </p:txBody>
      </p:sp>
      <p:sp>
        <p:nvSpPr>
          <p:cNvPr id="8" name="Text 6"/>
          <p:cNvSpPr txBox="1"/>
          <p:nvPr/>
        </p:nvSpPr>
        <p:spPr>
          <a:xfrm>
            <a:off x="731520" y="5230368"/>
            <a:ext cx="5120640" cy="329184"/>
          </a:xfrm>
          <a:prstGeom prst="rect">
            <a:avLst/>
          </a:prstGeom>
          <a:noFill/>
          <a:ln/>
        </p:spPr>
        <p:txBody>
          <a:bodyPr wrap="square" lIns="0" tIns="0" rIns="0" bIns="0" rtlCol="0" anchor="ctr"/>
          <a:lstStyle/>
          <a:p>
            <a:pPr indent="0" marL="0">
              <a:buNone/>
            </a:pPr>
            <a:r>
              <a:rPr lang="en-US" sz="1300" b="1" dirty="0">
                <a:solidFill>
                  <a:srgbClr val="A093FF"/>
                </a:solidFill>
                <a:latin typeface="Calibri" pitchFamily="34" charset="0"/>
                <a:ea typeface="Calibri" pitchFamily="34" charset="-122"/>
                <a:cs typeface="Calibri" pitchFamily="34" charset="-120"/>
              </a:rPr>
              <a:t>10   </a:t>
            </a:r>
            <a:pPr indent="0" marL="0">
              <a:buNone/>
            </a:pPr>
            <a:r>
              <a:rPr lang="en-US" sz="1300" dirty="0">
                <a:solidFill>
                  <a:srgbClr val="FFFFFF"/>
                </a:solidFill>
                <a:latin typeface="Calibri" pitchFamily="34" charset="0"/>
                <a:ea typeface="Calibri" pitchFamily="34" charset="-122"/>
                <a:cs typeface="Calibri" pitchFamily="34" charset="-120"/>
              </a:rPr>
              <a:t>Limit hız gerçek dünyada</a:t>
            </a:r>
            <a:endParaRPr lang="en-US" sz="1300" dirty="0"/>
          </a:p>
        </p:txBody>
      </p:sp>
      <p:sp>
        <p:nvSpPr>
          <p:cNvPr id="9" name="Shape 7"/>
          <p:cNvSpPr/>
          <p:nvPr/>
        </p:nvSpPr>
        <p:spPr>
          <a:xfrm>
            <a:off x="6117336" y="905256"/>
            <a:ext cx="5489143" cy="3696005"/>
          </a:xfrm>
          <a:prstGeom prst="roundRect">
            <a:avLst>
              <a:gd name="adj" fmla="val 3464"/>
            </a:avLst>
          </a:prstGeom>
          <a:solidFill>
            <a:srgbClr val="1C2542"/>
          </a:solidFill>
          <a:ln w="9525">
            <a:solidFill>
              <a:srgbClr val="2C3860"/>
            </a:solidFill>
            <a:prstDash val="solid"/>
          </a:ln>
        </p:spPr>
      </p:sp>
      <p:pic>
        <p:nvPicPr>
          <p:cNvPr id="10" name="Image 0" descr="/tmp/claude-1000/-opt-dersler/8a8328c3-841c-44fa-b76f-82572d338d3d/scratchpad/d5/sek/limit-hiz-uygulama-kart.jpg">    </p:cNvPr>
          <p:cNvPicPr>
            <a:picLocks noChangeAspect="1"/>
          </p:cNvPicPr>
          <p:nvPr/>
        </p:nvPicPr>
        <p:blipFill>
          <a:blip r:embed="rId1"/>
          <a:stretch>
            <a:fillRect/>
          </a:stretch>
        </p:blipFill>
        <p:spPr>
          <a:xfrm>
            <a:off x="6172200" y="960120"/>
            <a:ext cx="5379415" cy="3586277"/>
          </a:xfrm>
          <a:prstGeom prst="rect">
            <a:avLst/>
          </a:prstGeom>
        </p:spPr>
      </p:pic>
      <p:sp>
        <p:nvSpPr>
          <p:cNvPr id="11" name="Text 8"/>
          <p:cNvSpPr txBox="1"/>
          <p:nvPr/>
        </p:nvSpPr>
        <p:spPr>
          <a:xfrm>
            <a:off x="6172200" y="4774997"/>
            <a:ext cx="5379415" cy="1214323"/>
          </a:xfrm>
          <a:prstGeom prst="rect">
            <a:avLst/>
          </a:prstGeom>
          <a:noFill/>
          <a:ln/>
        </p:spPr>
        <p:txBody>
          <a:bodyPr wrap="square" lIns="0" tIns="0" rIns="0" bIns="0" rtlCol="0" anchor="t"/>
          <a:lstStyle/>
          <a:p>
            <a:pPr indent="0" marL="0">
              <a:lnSpc>
                <a:spcPct val="115000"/>
              </a:lnSpc>
              <a:buNone/>
            </a:pPr>
            <a:r>
              <a:rPr lang="en-US" sz="1150" b="1" dirty="0">
                <a:solidFill>
                  <a:srgbClr val="FFFFFF"/>
                </a:solidFill>
                <a:latin typeface="Calibri" pitchFamily="34" charset="0"/>
                <a:ea typeface="Calibri" pitchFamily="34" charset="-122"/>
                <a:cs typeface="Calibri" pitchFamily="34" charset="-120"/>
              </a:rPr>
              <a:t>Açık paraşütle limit hız saniyede birkaç metreye iner.</a:t>
            </a:r>
            <a:pPr indent="0" marL="0">
              <a:lnSpc>
                <a:spcPct val="115000"/>
              </a:lnSpc>
              <a:buNone/>
            </a:pPr>
            <a:r>
              <a:rPr lang="en-US" sz="1150" dirty="0">
                <a:solidFill>
                  <a:srgbClr val="C3CEE8"/>
                </a:solidFill>
                <a:latin typeface="Calibri" pitchFamily="34" charset="0"/>
                <a:ea typeface="Calibri" pitchFamily="34" charset="-122"/>
                <a:cs typeface="Calibri" pitchFamily="34" charset="-120"/>
              </a:rPr>
              <a:t> 5 m/s ile yere değmek, yaklaşık 1,25 m yükseklikten atlamaya denktir; bacaklar bu darbeyi rahatça karşılar. Dikdörtgen kubbeler üstelik bir kanat gibi ileri doğru süzülür; paraşütçü iplerle yön verir ve yere değmeden hemen önce kubbeyi frenleyerek daha da yavaşlar.</a:t>
            </a:r>
            <a:endParaRPr lang="en-US" sz="1150" dirty="0"/>
          </a:p>
        </p:txBody>
      </p:sp>
      <p:sp>
        <p:nvSpPr>
          <p:cNvPr id="12" name="Shape 9"/>
          <p:cNvSpPr/>
          <p:nvPr/>
        </p:nvSpPr>
        <p:spPr>
          <a:xfrm>
            <a:off x="640080" y="6382512"/>
            <a:ext cx="128016" cy="128016"/>
          </a:xfrm>
          <a:prstGeom prst="roundRect">
            <a:avLst>
              <a:gd name="adj" fmla="val 28571"/>
            </a:avLst>
          </a:prstGeom>
          <a:solidFill>
            <a:srgbClr val="C6F36B"/>
          </a:solidFill>
          <a:ln/>
        </p:spPr>
      </p:sp>
      <p:sp>
        <p:nvSpPr>
          <p:cNvPr id="13" name="Text 10"/>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6A7798"/>
                </a:solidFill>
                <a:latin typeface="Calibri" pitchFamily="34" charset="0"/>
                <a:ea typeface="Calibri" pitchFamily="34" charset="-122"/>
                <a:cs typeface="Calibri" pitchFamily="34" charset="-120"/>
              </a:rPr>
              <a:t>dersler.perinet.org/limit-hiz.html</a:t>
            </a:r>
            <a:endParaRPr lang="en-US" sz="1050" dirty="0"/>
          </a:p>
        </p:txBody>
      </p:sp>
      <p:sp>
        <p:nvSpPr>
          <p:cNvPr id="14" name="Text 11"/>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6A7798"/>
                </a:solidFill>
                <a:latin typeface="Calibri" pitchFamily="34" charset="0"/>
                <a:ea typeface="Calibri" pitchFamily="34" charset="-122"/>
                <a:cs typeface="Calibri" pitchFamily="34" charset="-120"/>
              </a:rPr>
              <a:t>24</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08</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100" b="1" spc="-50" kern="0" dirty="0">
                <a:solidFill>
                  <a:srgbClr val="0E1426"/>
                </a:solidFill>
                <a:latin typeface="Cambria" pitchFamily="34" charset="0"/>
                <a:ea typeface="Cambria" pitchFamily="34" charset="-122"/>
                <a:cs typeface="Cambria" pitchFamily="34" charset="-120"/>
              </a:rPr>
              <a:t>Serbest düşmeden farkı: model ne zaman yeter?</a:t>
            </a:r>
            <a:endParaRPr lang="en-US" sz="3100" dirty="0"/>
          </a:p>
        </p:txBody>
      </p:sp>
      <p:sp>
        <p:nvSpPr>
          <p:cNvPr id="5" name="Text 3"/>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6" name="Shape 4"/>
          <p:cNvSpPr/>
          <p:nvPr/>
        </p:nvSpPr>
        <p:spPr>
          <a:xfrm>
            <a:off x="640080" y="1188720"/>
            <a:ext cx="10911535" cy="1185062"/>
          </a:xfrm>
          <a:prstGeom prst="roundRect">
            <a:avLst>
              <a:gd name="adj" fmla="val 9259"/>
            </a:avLst>
          </a:prstGeom>
          <a:solidFill>
            <a:srgbClr val="F8F9FC"/>
          </a:solidFill>
          <a:ln w="9525">
            <a:solidFill>
              <a:srgbClr val="E1E5EE"/>
            </a:solidFill>
            <a:prstDash val="solid"/>
          </a:ln>
        </p:spPr>
      </p:sp>
      <p:sp>
        <p:nvSpPr>
          <p:cNvPr id="7" name="Shape 5"/>
          <p:cNvSpPr/>
          <p:nvPr/>
        </p:nvSpPr>
        <p:spPr>
          <a:xfrm>
            <a:off x="658368" y="1298448"/>
            <a:ext cx="54864" cy="965606"/>
          </a:xfrm>
          <a:prstGeom prst="rect">
            <a:avLst/>
          </a:prstGeom>
          <a:solidFill>
            <a:srgbClr val="5F4BD8"/>
          </a:solidFill>
          <a:ln/>
        </p:spPr>
      </p:sp>
      <p:sp>
        <p:nvSpPr>
          <p:cNvPr id="8" name="Text 6"/>
          <p:cNvSpPr txBox="1"/>
          <p:nvPr/>
        </p:nvSpPr>
        <p:spPr>
          <a:xfrm>
            <a:off x="932688" y="1234440"/>
            <a:ext cx="10454335" cy="1093622"/>
          </a:xfrm>
          <a:prstGeom prst="rect">
            <a:avLst/>
          </a:prstGeom>
          <a:noFill/>
          <a:ln/>
        </p:spPr>
        <p:txBody>
          <a:bodyPr wrap="square" lIns="0" tIns="0" rIns="0" bIns="0" rtlCol="0" anchor="ctr"/>
          <a:lstStyle/>
          <a:p>
            <a:pPr indent="0" marL="0">
              <a:lnSpc>
                <a:spcPct val="112000"/>
              </a:lnSpc>
              <a:buNone/>
            </a:pPr>
            <a:r>
              <a:rPr lang="en-US" sz="1850" dirty="0">
                <a:solidFill>
                  <a:srgbClr val="0E1426"/>
                </a:solidFill>
                <a:latin typeface="Calibri" pitchFamily="34" charset="0"/>
                <a:ea typeface="Calibri" pitchFamily="34" charset="-122"/>
                <a:cs typeface="Calibri" pitchFamily="34" charset="-120"/>
              </a:rPr>
              <a:t>Serbest düşme, düşme yüksekliği vl²/g'nin yanında küçük kaldığında iyi bir yaklaşımdır. Havada yukarı atılan cisimde simetri bozulur: çıkış inişten kısa sürer ve cisim atıldığından küçük bir hızla döner.</a:t>
            </a:r>
            <a:endParaRPr lang="en-US" sz="185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640080" y="2593238"/>
          <a:ext cx="6675120" cy="914400"/>
        </p:xfrm>
        <a:graphic>
          <a:graphicData uri="http://schemas.openxmlformats.org/drawingml/2006/table">
            <a:tbl>
              <a:tblPr/>
              <a:tblGrid>
                <a:gridCol w="1557528"/>
                <a:gridCol w="2336292"/>
                <a:gridCol w="2781300"/>
              </a:tblGrid>
              <a:tr h="338328">
                <a:tc>
                  <a:txBody>
                    <a:bodyPr/>
                    <a:lstStyle/>
                    <a:p>
                      <a:pPr indent="0" marL="0">
                        <a:buNone/>
                      </a:pPr>
                      <a:endParaRPr lang="en-US" sz="105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050" b="1" dirty="0">
                          <a:solidFill>
                            <a:srgbClr val="7B849E"/>
                          </a:solidFill>
                          <a:latin typeface="Calibri" pitchFamily="34" charset="0"/>
                          <a:ea typeface="Calibri" pitchFamily="34" charset="-122"/>
                          <a:cs typeface="Calibri" pitchFamily="34" charset="-120"/>
                        </a:rPr>
                        <a:t>Serbest düşme (ideal)</a:t>
                      </a:r>
                      <a:endParaRPr lang="en-US" sz="105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050" b="1" dirty="0">
                          <a:solidFill>
                            <a:srgbClr val="7B849E"/>
                          </a:solidFill>
                          <a:latin typeface="Calibri" pitchFamily="34" charset="0"/>
                          <a:ea typeface="Calibri" pitchFamily="34" charset="-122"/>
                          <a:cs typeface="Calibri" pitchFamily="34" charset="-120"/>
                        </a:rPr>
                        <a:t>Gerçek düşüş</a:t>
                      </a:r>
                      <a:endParaRPr lang="en-US" sz="105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r>
              <a:tr h="338328">
                <a:tc>
                  <a:txBody>
                    <a:bodyPr/>
                    <a:lstStyle/>
                    <a:p>
                      <a:pPr indent="0" marL="0">
                        <a:buNone/>
                      </a:pPr>
                      <a:r>
                        <a:rPr lang="en-US" sz="1200" b="1" dirty="0">
                          <a:solidFill>
                            <a:srgbClr val="0E1426"/>
                          </a:solidFill>
                          <a:latin typeface="Calibri" pitchFamily="34" charset="0"/>
                          <a:ea typeface="Calibri" pitchFamily="34" charset="-122"/>
                          <a:cs typeface="Calibri" pitchFamily="34" charset="-120"/>
                        </a:rPr>
                        <a:t>Etkiyen kuvvet</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Yalnızca ağırlık</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Ağırlık + hava direnci</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338328">
                <a:tc>
                  <a:txBody>
                    <a:bodyPr/>
                    <a:lstStyle/>
                    <a:p>
                      <a:pPr indent="0" marL="0">
                        <a:buNone/>
                      </a:pPr>
                      <a:r>
                        <a:rPr lang="en-US" sz="1200" b="1" dirty="0">
                          <a:solidFill>
                            <a:srgbClr val="0E1426"/>
                          </a:solidFill>
                          <a:latin typeface="Calibri" pitchFamily="34" charset="0"/>
                          <a:ea typeface="Calibri" pitchFamily="34" charset="-122"/>
                          <a:cs typeface="Calibri" pitchFamily="34" charset="-120"/>
                        </a:rPr>
                        <a:t>İvme</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Sabit, g</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g'den başlar, sıfıra iner</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338328">
                <a:tc>
                  <a:txBody>
                    <a:bodyPr/>
                    <a:lstStyle/>
                    <a:p>
                      <a:pPr indent="0" marL="0">
                        <a:buNone/>
                      </a:pPr>
                      <a:r>
                        <a:rPr lang="en-US" sz="1200" b="1" dirty="0">
                          <a:solidFill>
                            <a:srgbClr val="0E1426"/>
                          </a:solidFill>
                          <a:latin typeface="Calibri" pitchFamily="34" charset="0"/>
                          <a:ea typeface="Calibri" pitchFamily="34" charset="-122"/>
                          <a:cs typeface="Calibri" pitchFamily="34" charset="-120"/>
                        </a:rPr>
                        <a:t>Hız</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Sınırsız artar</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Limit hızda sabitlenir</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338328">
                <a:tc>
                  <a:txBody>
                    <a:bodyPr/>
                    <a:lstStyle/>
                    <a:p>
                      <a:pPr indent="0" marL="0">
                        <a:buNone/>
                      </a:pPr>
                      <a:r>
                        <a:rPr lang="en-US" sz="1200" b="1" dirty="0">
                          <a:solidFill>
                            <a:srgbClr val="0E1426"/>
                          </a:solidFill>
                          <a:latin typeface="Calibri" pitchFamily="34" charset="0"/>
                          <a:ea typeface="Calibri" pitchFamily="34" charset="-122"/>
                          <a:cs typeface="Calibri" pitchFamily="34" charset="-120"/>
                        </a:rPr>
                        <a:t>Kütlenin rolü</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Yok</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Var (m/A oranı)</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bl>
          </a:graphicData>
        </a:graphic>
      </p:graphicFrame>
      <p:sp>
        <p:nvSpPr>
          <p:cNvPr id="10" name="Shape 7"/>
          <p:cNvSpPr/>
          <p:nvPr/>
        </p:nvSpPr>
        <p:spPr>
          <a:xfrm>
            <a:off x="7607808" y="2593238"/>
            <a:ext cx="3943807" cy="3207978"/>
          </a:xfrm>
          <a:prstGeom prst="roundRect">
            <a:avLst>
              <a:gd name="adj" fmla="val 4561"/>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11" name="Image 0" descr="/tmp/claude-1000/-opt-dersler/8a8328c3-841c-44fa-b76f-82572d338d3d/scratchpad/d5/sek/limit-hiz-06.png">    </p:cNvPr>
          <p:cNvPicPr>
            <a:picLocks noChangeAspect="1"/>
          </p:cNvPicPr>
          <p:nvPr/>
        </p:nvPicPr>
        <p:blipFill>
          <a:blip r:embed="rId1"/>
          <a:stretch>
            <a:fillRect/>
          </a:stretch>
        </p:blipFill>
        <p:spPr>
          <a:xfrm>
            <a:off x="7790688" y="2776118"/>
            <a:ext cx="3578047" cy="1386493"/>
          </a:xfrm>
          <a:prstGeom prst="rect">
            <a:avLst/>
          </a:prstGeom>
        </p:spPr>
      </p:pic>
      <p:sp>
        <p:nvSpPr>
          <p:cNvPr id="12" name="Shape 8"/>
          <p:cNvSpPr/>
          <p:nvPr/>
        </p:nvSpPr>
        <p:spPr>
          <a:xfrm>
            <a:off x="7790688" y="4254052"/>
            <a:ext cx="3578047" cy="0"/>
          </a:xfrm>
          <a:prstGeom prst="line">
            <a:avLst/>
          </a:prstGeom>
          <a:noFill/>
          <a:ln w="9525">
            <a:solidFill>
              <a:srgbClr val="E1E5EE"/>
            </a:solidFill>
            <a:prstDash val="dash"/>
          </a:ln>
        </p:spPr>
      </p:sp>
      <p:sp>
        <p:nvSpPr>
          <p:cNvPr id="13" name="Text 9"/>
          <p:cNvSpPr txBox="1"/>
          <p:nvPr/>
        </p:nvSpPr>
        <p:spPr>
          <a:xfrm>
            <a:off x="7790688" y="4308916"/>
            <a:ext cx="3578047" cy="1309421"/>
          </a:xfrm>
          <a:prstGeom prst="rect">
            <a:avLst/>
          </a:prstGeom>
          <a:noFill/>
          <a:ln/>
        </p:spPr>
        <p:txBody>
          <a:bodyPr wrap="square" lIns="0" tIns="0" rIns="0" bIns="0" rtlCol="0" anchor="t"/>
          <a:lstStyle/>
          <a:p>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Vakumda ivme </a:t>
            </a:r>
            <a:pPr indent="0" marL="0">
              <a:lnSpc>
                <a:spcPct val="112000"/>
              </a:lnSpc>
              <a:buNone/>
            </a:pPr>
            <a:r>
              <a:rPr lang="en-US" sz="1050" b="1" dirty="0">
                <a:solidFill>
                  <a:srgbClr val="4A5470"/>
                </a:solidFill>
                <a:latin typeface="Calibri" pitchFamily="34" charset="0"/>
                <a:ea typeface="Calibri" pitchFamily="34" charset="-122"/>
                <a:cs typeface="Calibri" pitchFamily="34" charset="-120"/>
              </a:rPr>
              <a:t>hiç değişmez</a:t>
            </a:r>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 hız sınırsız artar ve kütlenin hiçbir rolü yoktur. Havada ise ivme g'den başlayıp sıfıra iner, hız bir değerde sabitlenir ve artık </a:t>
            </a:r>
            <a:pPr indent="0" marL="0">
              <a:lnSpc>
                <a:spcPct val="112000"/>
              </a:lnSpc>
              <a:buNone/>
            </a:pPr>
            <a:r>
              <a:rPr lang="en-US" sz="1050" b="1" dirty="0">
                <a:solidFill>
                  <a:srgbClr val="4A5470"/>
                </a:solidFill>
                <a:latin typeface="Calibri" pitchFamily="34" charset="0"/>
                <a:ea typeface="Calibri" pitchFamily="34" charset="-122"/>
                <a:cs typeface="Calibri" pitchFamily="34" charset="-120"/>
              </a:rPr>
              <a:t>kütle ile alan işin içine girer</a:t>
            </a:r>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 Serbest düşme, hava direncinin ihmal edilebildiği özel bir durumdur — kısa mesafelerde ve ağır cisimlerde iyi bir yaklaşımdır.</a:t>
            </a:r>
            <a:endParaRPr lang="en-US" sz="1050" dirty="0"/>
          </a:p>
        </p:txBody>
      </p:sp>
      <p:sp>
        <p:nvSpPr>
          <p:cNvPr id="14" name="Shape 10"/>
          <p:cNvSpPr/>
          <p:nvPr/>
        </p:nvSpPr>
        <p:spPr>
          <a:xfrm>
            <a:off x="640080" y="6382512"/>
            <a:ext cx="128016" cy="128016"/>
          </a:xfrm>
          <a:prstGeom prst="roundRect">
            <a:avLst>
              <a:gd name="adj" fmla="val 28571"/>
            </a:avLst>
          </a:prstGeom>
          <a:solidFill>
            <a:srgbClr val="A9E648"/>
          </a:solidFill>
          <a:ln/>
        </p:spPr>
      </p:sp>
      <p:sp>
        <p:nvSpPr>
          <p:cNvPr id="15" name="Text 1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dersler.perinet.org/limit-hiz.html</a:t>
            </a:r>
            <a:endParaRPr lang="en-US" sz="1050" dirty="0"/>
          </a:p>
        </p:txBody>
      </p:sp>
      <p:sp>
        <p:nvSpPr>
          <p:cNvPr id="16" name="Text 12"/>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25</a:t>
            </a:r>
            <a:endParaRPr lang="en-US" sz="10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08</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2600" b="1" spc="-50" kern="0" dirty="0">
                <a:solidFill>
                  <a:srgbClr val="0E1426"/>
                </a:solidFill>
                <a:latin typeface="Cambria" pitchFamily="34" charset="0"/>
                <a:ea typeface="Cambria" pitchFamily="34" charset="-122"/>
                <a:cs typeface="Cambria" pitchFamily="34" charset="-120"/>
              </a:rPr>
              <a:t>Serbest düşmeden farkı: model ne zaman yeter? · devam</a:t>
            </a:r>
            <a:endParaRPr lang="en-US" sz="2600" dirty="0"/>
          </a:p>
        </p:txBody>
      </p:sp>
      <p:sp>
        <p:nvSpPr>
          <p:cNvPr id="5" name="Text 3"/>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6" name="Shape 4"/>
          <p:cNvSpPr/>
          <p:nvPr/>
        </p:nvSpPr>
        <p:spPr>
          <a:xfrm>
            <a:off x="640080" y="1481328"/>
            <a:ext cx="2926080" cy="457200"/>
          </a:xfrm>
          <a:prstGeom prst="roundRect">
            <a:avLst>
              <a:gd name="adj" fmla="val 24000"/>
            </a:avLst>
          </a:prstGeom>
          <a:solidFill>
            <a:srgbClr val="EEF2FC"/>
          </a:solidFill>
          <a:ln w="9525">
            <a:solidFill>
              <a:srgbClr val="CBD7F4"/>
            </a:solidFill>
            <a:prstDash val="solid"/>
          </a:ln>
        </p:spPr>
      </p:sp>
      <p:sp>
        <p:nvSpPr>
          <p:cNvPr id="7" name="Text 5"/>
          <p:cNvSpPr txBox="1"/>
          <p:nvPr/>
        </p:nvSpPr>
        <p:spPr>
          <a:xfrm>
            <a:off x="640080" y="1481328"/>
            <a:ext cx="2926080" cy="457200"/>
          </a:xfrm>
          <a:prstGeom prst="rect">
            <a:avLst/>
          </a:prstGeom>
          <a:noFill/>
          <a:ln/>
        </p:spPr>
        <p:txBody>
          <a:bodyPr wrap="square" lIns="0" tIns="0" rIns="0" bIns="0" rtlCol="0" anchor="ctr"/>
          <a:lstStyle/>
          <a:p>
            <a:pPr algn="ctr" indent="0" marL="0">
              <a:buNone/>
            </a:pPr>
            <a:r>
              <a:rPr lang="en-US" sz="1300" b="1" dirty="0">
                <a:solidFill>
                  <a:srgbClr val="2957D4"/>
                </a:solidFill>
                <a:latin typeface="Courier New" pitchFamily="34" charset="0"/>
                <a:ea typeface="Courier New" pitchFamily="34" charset="-122"/>
                <a:cs typeface="Courier New" pitchFamily="34" charset="-120"/>
              </a:rPr>
              <a:t>h ≪ vl²/g → serbest düşme</a:t>
            </a:r>
            <a:endParaRPr lang="en-US" sz="1300" dirty="0"/>
          </a:p>
        </p:txBody>
      </p:sp>
      <p:sp>
        <p:nvSpPr>
          <p:cNvPr id="8" name="Shape 6"/>
          <p:cNvSpPr/>
          <p:nvPr/>
        </p:nvSpPr>
        <p:spPr>
          <a:xfrm>
            <a:off x="3675888" y="1481328"/>
            <a:ext cx="2531059" cy="457200"/>
          </a:xfrm>
          <a:prstGeom prst="roundRect">
            <a:avLst>
              <a:gd name="adj" fmla="val 24000"/>
            </a:avLst>
          </a:prstGeom>
          <a:solidFill>
            <a:srgbClr val="EEF2FC"/>
          </a:solidFill>
          <a:ln w="9525">
            <a:solidFill>
              <a:srgbClr val="CBD7F4"/>
            </a:solidFill>
            <a:prstDash val="solid"/>
          </a:ln>
        </p:spPr>
      </p:sp>
      <p:sp>
        <p:nvSpPr>
          <p:cNvPr id="9" name="Text 7"/>
          <p:cNvSpPr txBox="1"/>
          <p:nvPr/>
        </p:nvSpPr>
        <p:spPr>
          <a:xfrm>
            <a:off x="3675888" y="1481328"/>
            <a:ext cx="2531059" cy="457200"/>
          </a:xfrm>
          <a:prstGeom prst="rect">
            <a:avLst/>
          </a:prstGeom>
          <a:noFill/>
          <a:ln/>
        </p:spPr>
        <p:txBody>
          <a:bodyPr wrap="square" lIns="0" tIns="0" rIns="0" bIns="0" rtlCol="0" anchor="ctr"/>
          <a:lstStyle/>
          <a:p>
            <a:pPr algn="ctr" indent="0" marL="0">
              <a:buNone/>
            </a:pPr>
            <a:r>
              <a:rPr lang="en-US" sz="1300" b="1" dirty="0">
                <a:solidFill>
                  <a:srgbClr val="2957D4"/>
                </a:solidFill>
                <a:latin typeface="Courier New" pitchFamily="34" charset="0"/>
                <a:ea typeface="Courier New" pitchFamily="34" charset="-122"/>
                <a:cs typeface="Courier New" pitchFamily="34" charset="-120"/>
              </a:rPr>
              <a:t>h ≫ vl²/g → limit hız</a:t>
            </a:r>
            <a:endParaRPr lang="en-US" sz="1300" dirty="0"/>
          </a:p>
        </p:txBody>
      </p:sp>
      <p:sp>
        <p:nvSpPr>
          <p:cNvPr id="10" name="Text 8"/>
          <p:cNvSpPr txBox="1"/>
          <p:nvPr/>
        </p:nvSpPr>
        <p:spPr>
          <a:xfrm>
            <a:off x="640080" y="2103120"/>
            <a:ext cx="10911535" cy="875538"/>
          </a:xfrm>
          <a:prstGeom prst="rect">
            <a:avLst/>
          </a:prstGeom>
          <a:noFill/>
          <a:ln/>
        </p:spPr>
        <p:txBody>
          <a:bodyPr wrap="square" lIns="0" tIns="0" rIns="0" bIns="0" rtlCol="0" anchor="t"/>
          <a:lstStyle/>
          <a:p>
            <a:pPr marL="203200" indent="-203200">
              <a:lnSpc>
                <a:spcPct val="115000"/>
              </a:lnSpc>
              <a:spcAft>
                <a:spcPts val="500"/>
              </a:spcAft>
              <a:buSzPct val="100000"/>
              <a:buChar char="▪"/>
            </a:pPr>
            <a:r>
              <a:rPr lang="en-US" sz="1300" b="1" dirty="0">
                <a:solidFill>
                  <a:srgbClr val="0E1426"/>
                </a:solidFill>
                <a:latin typeface="Calibri" pitchFamily="34" charset="0"/>
                <a:ea typeface="Calibri" pitchFamily="34" charset="-122"/>
                <a:cs typeface="Calibri" pitchFamily="34" charset="-120"/>
              </a:rPr>
              <a:t>Bilye:</a:t>
            </a:r>
            <a:pPr indent="0" marL="0">
              <a:lnSpc>
                <a:spcPct val="115000"/>
              </a:lnSpc>
              <a:buNone/>
            </a:pPr>
            <a:r>
              <a:rPr lang="en-US" sz="1300" dirty="0">
                <a:solidFill>
                  <a:srgbClr val="4A5470"/>
                </a:solidFill>
                <a:latin typeface="Calibri" pitchFamily="34" charset="0"/>
                <a:ea typeface="Calibri" pitchFamily="34" charset="-122"/>
                <a:cs typeface="Calibri" pitchFamily="34" charset="-120"/>
              </a:rPr>
              <a:t> sayfanın 03 numaralı bölümündeki bilyenin v</a:t>
            </a:r>
            <a:pPr indent="0" marL="0">
              <a:lnSpc>
                <a:spcPct val="115000"/>
              </a:lnSpc>
              <a:buNone/>
            </a:pPr>
            <a:r>
              <a:rPr lang="en-US" sz="1300" baseline="-40000" dirty="0">
                <a:solidFill>
                  <a:srgbClr val="4A5470"/>
                </a:solidFill>
                <a:latin typeface="Calibri" pitchFamily="34" charset="0"/>
                <a:ea typeface="Calibri" pitchFamily="34" charset="-122"/>
                <a:cs typeface="Calibri" pitchFamily="34" charset="-120"/>
              </a:rPr>
              <a:t>l</a:t>
            </a:r>
            <a:pPr indent="0" marL="0">
              <a:lnSpc>
                <a:spcPct val="115000"/>
              </a:lnSpc>
              <a:buNone/>
            </a:pPr>
            <a:r>
              <a:rPr lang="en-US" sz="1300" dirty="0">
                <a:solidFill>
                  <a:srgbClr val="4A5470"/>
                </a:solidFill>
                <a:latin typeface="Calibri" pitchFamily="34" charset="0"/>
                <a:ea typeface="Calibri" pitchFamily="34" charset="-122"/>
                <a:cs typeface="Calibri" pitchFamily="34" charset="-120"/>
              </a:rPr>
              <a:t> ≈ 44 m/s, v</a:t>
            </a:r>
            <a:pPr indent="0" marL="0">
              <a:lnSpc>
                <a:spcPct val="115000"/>
              </a:lnSpc>
              <a:buNone/>
            </a:pPr>
            <a:r>
              <a:rPr lang="en-US" sz="1300" baseline="-40000" dirty="0">
                <a:solidFill>
                  <a:srgbClr val="4A5470"/>
                </a:solidFill>
                <a:latin typeface="Calibri" pitchFamily="34" charset="0"/>
                <a:ea typeface="Calibri" pitchFamily="34" charset="-122"/>
                <a:cs typeface="Calibri" pitchFamily="34" charset="-120"/>
              </a:rPr>
              <a:t>l</a:t>
            </a:r>
            <a:pPr indent="0" marL="0">
              <a:lnSpc>
                <a:spcPct val="115000"/>
              </a:lnSpc>
              <a:buNone/>
            </a:pPr>
            <a:r>
              <a:rPr lang="en-US" sz="1300" dirty="0">
                <a:solidFill>
                  <a:srgbClr val="4A5470"/>
                </a:solidFill>
                <a:latin typeface="Calibri" pitchFamily="34" charset="0"/>
                <a:ea typeface="Calibri" pitchFamily="34" charset="-122"/>
                <a:cs typeface="Calibri" pitchFamily="34" charset="-120"/>
              </a:rPr>
              <a:t>²/g ≈ 200 m; 1 m'lik düşüşte direnç ihmal edilebilir.</a:t>
            </a:r>
            <a:endParaRPr lang="en-US" sz="1300" dirty="0"/>
          </a:p>
          <a:p>
            <a:pPr marL="203200" indent="-203200">
              <a:lnSpc>
                <a:spcPct val="115000"/>
              </a:lnSpc>
              <a:spcAft>
                <a:spcPts val="500"/>
              </a:spcAft>
              <a:buSzPct val="100000"/>
              <a:buChar char="▪"/>
            </a:pPr>
            <a:r>
              <a:rPr lang="en-US" sz="1300" b="1" dirty="0">
                <a:solidFill>
                  <a:srgbClr val="0E1426"/>
                </a:solidFill>
                <a:latin typeface="Calibri" pitchFamily="34" charset="0"/>
                <a:ea typeface="Calibri" pitchFamily="34" charset="-122"/>
                <a:cs typeface="Calibri" pitchFamily="34" charset="-120"/>
              </a:rPr>
              <a:t>Yağmur damlası:</a:t>
            </a:r>
            <a:pPr indent="0" marL="0">
              <a:lnSpc>
                <a:spcPct val="115000"/>
              </a:lnSpc>
              <a:buNone/>
            </a:pPr>
            <a:r>
              <a:rPr lang="en-US" sz="1300" dirty="0">
                <a:solidFill>
                  <a:srgbClr val="4A5470"/>
                </a:solidFill>
                <a:latin typeface="Calibri" pitchFamily="34" charset="0"/>
                <a:ea typeface="Calibri" pitchFamily="34" charset="-122"/>
                <a:cs typeface="Calibri" pitchFamily="34" charset="-120"/>
              </a:rPr>
              <a:t> v</a:t>
            </a:r>
            <a:pPr indent="0" marL="0">
              <a:lnSpc>
                <a:spcPct val="115000"/>
              </a:lnSpc>
              <a:buNone/>
            </a:pPr>
            <a:r>
              <a:rPr lang="en-US" sz="1300" baseline="-40000" dirty="0">
                <a:solidFill>
                  <a:srgbClr val="4A5470"/>
                </a:solidFill>
                <a:latin typeface="Calibri" pitchFamily="34" charset="0"/>
                <a:ea typeface="Calibri" pitchFamily="34" charset="-122"/>
                <a:cs typeface="Calibri" pitchFamily="34" charset="-120"/>
              </a:rPr>
              <a:t>l</a:t>
            </a:r>
            <a:pPr indent="0" marL="0">
              <a:lnSpc>
                <a:spcPct val="115000"/>
              </a:lnSpc>
              <a:buNone/>
            </a:pPr>
            <a:r>
              <a:rPr lang="en-US" sz="1300" dirty="0">
                <a:solidFill>
                  <a:srgbClr val="4A5470"/>
                </a:solidFill>
                <a:latin typeface="Calibri" pitchFamily="34" charset="0"/>
                <a:ea typeface="Calibri" pitchFamily="34" charset="-122"/>
                <a:cs typeface="Calibri" pitchFamily="34" charset="-120"/>
              </a:rPr>
              <a:t>²/g ≈ 8 m; 2 km'lik düşüşte serbest düşme tamamen yanlış sonuç verir.</a:t>
            </a:r>
            <a:endParaRPr lang="en-US" sz="1300" dirty="0"/>
          </a:p>
          <a:p>
            <a:pPr marL="203200" indent="-203200">
              <a:lnSpc>
                <a:spcPct val="115000"/>
              </a:lnSpc>
              <a:spcAft>
                <a:spcPts val="500"/>
              </a:spcAft>
              <a:buSzPct val="100000"/>
              <a:buChar char="▪"/>
            </a:pPr>
            <a:r>
              <a:rPr lang="en-US" sz="1300" b="1" dirty="0">
                <a:solidFill>
                  <a:srgbClr val="0E1426"/>
                </a:solidFill>
                <a:latin typeface="Calibri" pitchFamily="34" charset="0"/>
                <a:ea typeface="Calibri" pitchFamily="34" charset="-122"/>
                <a:cs typeface="Calibri" pitchFamily="34" charset="-120"/>
              </a:rPr>
              <a:t>Paraşütçü:</a:t>
            </a:r>
            <a:pPr indent="0" marL="0">
              <a:lnSpc>
                <a:spcPct val="115000"/>
              </a:lnSpc>
              <a:buNone/>
            </a:pPr>
            <a:r>
              <a:rPr lang="en-US" sz="1300" dirty="0">
                <a:solidFill>
                  <a:srgbClr val="4A5470"/>
                </a:solidFill>
                <a:latin typeface="Calibri" pitchFamily="34" charset="0"/>
                <a:ea typeface="Calibri" pitchFamily="34" charset="-122"/>
                <a:cs typeface="Calibri" pitchFamily="34" charset="-120"/>
              </a:rPr>
              <a:t> v</a:t>
            </a:r>
            <a:pPr indent="0" marL="0">
              <a:lnSpc>
                <a:spcPct val="115000"/>
              </a:lnSpc>
              <a:buNone/>
            </a:pPr>
            <a:r>
              <a:rPr lang="en-US" sz="1300" baseline="-40000" dirty="0">
                <a:solidFill>
                  <a:srgbClr val="4A5470"/>
                </a:solidFill>
                <a:latin typeface="Calibri" pitchFamily="34" charset="0"/>
                <a:ea typeface="Calibri" pitchFamily="34" charset="-122"/>
                <a:cs typeface="Calibri" pitchFamily="34" charset="-120"/>
              </a:rPr>
              <a:t>l</a:t>
            </a:r>
            <a:pPr indent="0" marL="0">
              <a:lnSpc>
                <a:spcPct val="115000"/>
              </a:lnSpc>
              <a:buNone/>
            </a:pPr>
            <a:r>
              <a:rPr lang="en-US" sz="1300" dirty="0">
                <a:solidFill>
                  <a:srgbClr val="4A5470"/>
                </a:solidFill>
                <a:latin typeface="Calibri" pitchFamily="34" charset="0"/>
                <a:ea typeface="Calibri" pitchFamily="34" charset="-122"/>
                <a:cs typeface="Calibri" pitchFamily="34" charset="-120"/>
              </a:rPr>
              <a:t>²/g ≈ 300 m; ilk birkaç saniye serbest düşmeye yakındır, sonrası limit hızdır.</a:t>
            </a:r>
            <a:endParaRPr lang="en-US" sz="1300" dirty="0"/>
          </a:p>
        </p:txBody>
      </p:sp>
      <p:sp>
        <p:nvSpPr>
          <p:cNvPr id="11" name="Shape 9"/>
          <p:cNvSpPr/>
          <p:nvPr/>
        </p:nvSpPr>
        <p:spPr>
          <a:xfrm>
            <a:off x="640080" y="6382512"/>
            <a:ext cx="128016" cy="128016"/>
          </a:xfrm>
          <a:prstGeom prst="roundRect">
            <a:avLst>
              <a:gd name="adj" fmla="val 28571"/>
            </a:avLst>
          </a:prstGeom>
          <a:solidFill>
            <a:srgbClr val="A9E648"/>
          </a:solidFill>
          <a:ln/>
        </p:spPr>
      </p:sp>
      <p:sp>
        <p:nvSpPr>
          <p:cNvPr id="12" name="Text 10"/>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dersler.perinet.org/limit-hiz.html</a:t>
            </a:r>
            <a:endParaRPr lang="en-US" sz="1050" dirty="0"/>
          </a:p>
        </p:txBody>
      </p:sp>
      <p:sp>
        <p:nvSpPr>
          <p:cNvPr id="13" name="Text 11"/>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26</a:t>
            </a:r>
            <a:endParaRPr lang="en-US" sz="10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Havada yukarı atılan bir topun tepe noktasındaki ivmesi g'den büyük mü, g'ye eşit mi, g'den küçük mü?</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08 · Serbest düşmeden farkı: model ne zaman yeter?</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dersler.perinet.org/limit-hiz.html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27</a:t>
            </a:r>
            <a:endParaRPr lang="en-US" sz="10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Havada yukarı atılan bir topun tepe noktasındaki ivmesi g'den büyük mü, g'ye eşit mi, g'den küçük mü?</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CFC8F5"/>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200" b="1" dirty="0">
                <a:solidFill>
                  <a:srgbClr val="5F4BD8"/>
                </a:solidFill>
                <a:latin typeface="Calibri" pitchFamily="34" charset="0"/>
                <a:ea typeface="Calibri" pitchFamily="34" charset="-122"/>
                <a:cs typeface="Calibri" pitchFamily="34" charset="-120"/>
              </a:rPr>
              <a:t>Tam g'ye eşittir.</a:t>
            </a:r>
            <a:pPr indent="0" marL="0">
              <a:lnSpc>
                <a:spcPct val="125000"/>
              </a:lnSpc>
              <a:buNone/>
            </a:pPr>
            <a:r>
              <a:rPr lang="en-US" sz="2200" dirty="0">
                <a:solidFill>
                  <a:srgbClr val="0E1426"/>
                </a:solidFill>
                <a:latin typeface="Calibri" pitchFamily="34" charset="0"/>
                <a:ea typeface="Calibri" pitchFamily="34" charset="-122"/>
                <a:cs typeface="Calibri" pitchFamily="34" charset="-120"/>
              </a:rPr>
              <a:t> Tepe noktada hız sıfırdır, dolayısıyla hava direnci de sıfırdır; o an topa yalnızca ağırlık etki eder. Çıkarken ivme g'den büyük, inerken g'den küçüktür; tam tepede, bu iki evrenin arasındaki geçiş anında direnç ortadan kalkar.</a:t>
            </a:r>
            <a:endParaRPr lang="en-US" sz="22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dersler.perinet.org/limit-hiz.html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28</a:t>
            </a:r>
            <a:endParaRPr lang="en-US" sz="10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09</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Paraşüt ve ölçek etkisi</a:t>
            </a:r>
            <a:endParaRPr lang="en-US" sz="3200" dirty="0"/>
          </a:p>
        </p:txBody>
      </p:sp>
      <p:sp>
        <p:nvSpPr>
          <p:cNvPr id="5" name="Text 3"/>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6" name="Shape 4"/>
          <p:cNvSpPr/>
          <p:nvPr/>
        </p:nvSpPr>
        <p:spPr>
          <a:xfrm>
            <a:off x="640080" y="1188720"/>
            <a:ext cx="10911535" cy="1185062"/>
          </a:xfrm>
          <a:prstGeom prst="roundRect">
            <a:avLst>
              <a:gd name="adj" fmla="val 9259"/>
            </a:avLst>
          </a:prstGeom>
          <a:solidFill>
            <a:srgbClr val="F8F9FC"/>
          </a:solidFill>
          <a:ln w="9525">
            <a:solidFill>
              <a:srgbClr val="E1E5EE"/>
            </a:solidFill>
            <a:prstDash val="solid"/>
          </a:ln>
        </p:spPr>
      </p:sp>
      <p:sp>
        <p:nvSpPr>
          <p:cNvPr id="7" name="Shape 5"/>
          <p:cNvSpPr/>
          <p:nvPr/>
        </p:nvSpPr>
        <p:spPr>
          <a:xfrm>
            <a:off x="658368" y="1298448"/>
            <a:ext cx="54864" cy="965606"/>
          </a:xfrm>
          <a:prstGeom prst="rect">
            <a:avLst/>
          </a:prstGeom>
          <a:solidFill>
            <a:srgbClr val="5F4BD8"/>
          </a:solidFill>
          <a:ln/>
        </p:spPr>
      </p:sp>
      <p:sp>
        <p:nvSpPr>
          <p:cNvPr id="8" name="Text 6"/>
          <p:cNvSpPr txBox="1"/>
          <p:nvPr/>
        </p:nvSpPr>
        <p:spPr>
          <a:xfrm>
            <a:off x="932688" y="1234440"/>
            <a:ext cx="10454335" cy="1093622"/>
          </a:xfrm>
          <a:prstGeom prst="rect">
            <a:avLst/>
          </a:prstGeom>
          <a:noFill/>
          <a:ln/>
        </p:spPr>
        <p:txBody>
          <a:bodyPr wrap="square" lIns="0" tIns="0" rIns="0" bIns="0" rtlCol="0" anchor="ctr"/>
          <a:lstStyle/>
          <a:p>
            <a:pPr indent="0" marL="0">
              <a:lnSpc>
                <a:spcPct val="112000"/>
              </a:lnSpc>
              <a:buNone/>
            </a:pPr>
            <a:r>
              <a:rPr lang="en-US" sz="1850" dirty="0">
                <a:solidFill>
                  <a:srgbClr val="0E1426"/>
                </a:solidFill>
                <a:latin typeface="Calibri" pitchFamily="34" charset="0"/>
                <a:ea typeface="Calibri" pitchFamily="34" charset="-122"/>
                <a:cs typeface="Calibri" pitchFamily="34" charset="-120"/>
              </a:rPr>
              <a:t>Paraşüt kütleyi değil k'yi büyütür: açıldığı anda direnç ağırlığı aşar, net kuvvet yukarı döner ve paraşütçü yavaşlayarak yeni, küçük limit hıza oturur. Küçük canlıların m/A oranı küçük olduğundan limit hızları da küçüktür.</a:t>
            </a:r>
            <a:endParaRPr lang="en-US" sz="1850" dirty="0"/>
          </a:p>
        </p:txBody>
      </p:sp>
      <p:sp>
        <p:nvSpPr>
          <p:cNvPr id="9" name="Text 7"/>
          <p:cNvSpPr txBox="1"/>
          <p:nvPr/>
        </p:nvSpPr>
        <p:spPr>
          <a:xfrm>
            <a:off x="640080" y="2593238"/>
            <a:ext cx="5486400" cy="969264"/>
          </a:xfrm>
          <a:prstGeom prst="rect">
            <a:avLst/>
          </a:prstGeom>
          <a:noFill/>
          <a:ln/>
        </p:spPr>
        <p:txBody>
          <a:bodyPr wrap="square" lIns="0" tIns="0" rIns="0" bIns="0" rtlCol="0" anchor="t"/>
          <a:lstStyle/>
          <a:p>
            <a:pPr marL="203200" indent="-203200">
              <a:lnSpc>
                <a:spcPct val="115000"/>
              </a:lnSpc>
              <a:spcAft>
                <a:spcPts val="500"/>
              </a:spcAft>
              <a:buSzPct val="100000"/>
              <a:buChar char="▪"/>
            </a:pPr>
            <a:r>
              <a:rPr lang="en-US" sz="1600" dirty="0">
                <a:solidFill>
                  <a:srgbClr val="4A5470"/>
                </a:solidFill>
                <a:latin typeface="Calibri" pitchFamily="34" charset="0"/>
                <a:ea typeface="Calibri" pitchFamily="34" charset="-122"/>
                <a:cs typeface="Calibri" pitchFamily="34" charset="-120"/>
              </a:rPr>
              <a:t>Paraşüt, kütleyi değil </a:t>
            </a:r>
            <a:pPr indent="0" marL="0">
              <a:lnSpc>
                <a:spcPct val="115000"/>
              </a:lnSpc>
              <a:buNone/>
            </a:pPr>
            <a:r>
              <a:rPr lang="en-US" sz="1600" b="1" dirty="0">
                <a:solidFill>
                  <a:srgbClr val="0E1426"/>
                </a:solidFill>
                <a:latin typeface="Calibri" pitchFamily="34" charset="0"/>
                <a:ea typeface="Calibri" pitchFamily="34" charset="-122"/>
                <a:cs typeface="Calibri" pitchFamily="34" charset="-120"/>
              </a:rPr>
              <a:t>alanı</a:t>
            </a:r>
            <a:pPr indent="0" marL="0">
              <a:lnSpc>
                <a:spcPct val="115000"/>
              </a:lnSpc>
              <a:buNone/>
            </a:pPr>
            <a:r>
              <a:rPr lang="en-US" sz="1600" dirty="0">
                <a:solidFill>
                  <a:srgbClr val="4A5470"/>
                </a:solidFill>
                <a:latin typeface="Calibri" pitchFamily="34" charset="0"/>
                <a:ea typeface="Calibri" pitchFamily="34" charset="-122"/>
                <a:cs typeface="Calibri" pitchFamily="34" charset="-120"/>
              </a:rPr>
              <a:t> değiştirir.</a:t>
            </a:r>
            <a:endParaRPr lang="en-US" sz="1600" dirty="0"/>
          </a:p>
          <a:p>
            <a:pPr marL="203200" indent="-203200">
              <a:lnSpc>
                <a:spcPct val="115000"/>
              </a:lnSpc>
              <a:spcAft>
                <a:spcPts val="500"/>
              </a:spcAft>
              <a:buSzPct val="100000"/>
              <a:buChar char="▪"/>
            </a:pPr>
            <a:r>
              <a:rPr lang="en-US" sz="1600" dirty="0">
                <a:solidFill>
                  <a:srgbClr val="4A5470"/>
                </a:solidFill>
                <a:latin typeface="Calibri" pitchFamily="34" charset="0"/>
                <a:ea typeface="Calibri" pitchFamily="34" charset="-122"/>
                <a:cs typeface="Calibri" pitchFamily="34" charset="-120"/>
              </a:rPr>
              <a:t>Açıldığı anda A onlarca katına çıkar, k büyür ve yeni limit hız çok küçülür:</a:t>
            </a:r>
            <a:endParaRPr lang="en-US" sz="1600" dirty="0"/>
          </a:p>
        </p:txBody>
      </p:sp>
      <p:sp>
        <p:nvSpPr>
          <p:cNvPr id="10" name="Shape 8"/>
          <p:cNvSpPr/>
          <p:nvPr/>
        </p:nvSpPr>
        <p:spPr>
          <a:xfrm>
            <a:off x="640080" y="3672230"/>
            <a:ext cx="2531059" cy="457200"/>
          </a:xfrm>
          <a:prstGeom prst="roundRect">
            <a:avLst>
              <a:gd name="adj" fmla="val 24000"/>
            </a:avLst>
          </a:prstGeom>
          <a:solidFill>
            <a:srgbClr val="EEF2FC"/>
          </a:solidFill>
          <a:ln w="9525">
            <a:solidFill>
              <a:srgbClr val="CBD7F4"/>
            </a:solidFill>
            <a:prstDash val="solid"/>
          </a:ln>
        </p:spPr>
      </p:sp>
      <p:sp>
        <p:nvSpPr>
          <p:cNvPr id="11" name="Text 9"/>
          <p:cNvSpPr txBox="1"/>
          <p:nvPr/>
        </p:nvSpPr>
        <p:spPr>
          <a:xfrm>
            <a:off x="640080" y="3672230"/>
            <a:ext cx="2531059" cy="457200"/>
          </a:xfrm>
          <a:prstGeom prst="rect">
            <a:avLst/>
          </a:prstGeom>
          <a:noFill/>
          <a:ln/>
        </p:spPr>
        <p:txBody>
          <a:bodyPr wrap="square" lIns="0" tIns="0" rIns="0" bIns="0" rtlCol="0" anchor="ctr"/>
          <a:lstStyle/>
          <a:p>
            <a:pPr algn="ctr" indent="0" marL="0">
              <a:buNone/>
            </a:pPr>
            <a:r>
              <a:rPr lang="en-US" sz="1300" b="1" dirty="0">
                <a:solidFill>
                  <a:srgbClr val="2957D4"/>
                </a:solidFill>
                <a:latin typeface="Courier New" pitchFamily="34" charset="0"/>
                <a:ea typeface="Courier New" pitchFamily="34" charset="-122"/>
                <a:cs typeface="Courier New" pitchFamily="34" charset="-120"/>
              </a:rPr>
              <a:t>A → 25A ⇒ vl → vl / 5</a:t>
            </a:r>
            <a:endParaRPr lang="en-US" sz="1300" dirty="0"/>
          </a:p>
        </p:txBody>
      </p:sp>
      <p:sp>
        <p:nvSpPr>
          <p:cNvPr id="12" name="Shape 10"/>
          <p:cNvSpPr/>
          <p:nvPr/>
        </p:nvSpPr>
        <p:spPr>
          <a:xfrm>
            <a:off x="640080" y="4294022"/>
            <a:ext cx="1049731" cy="457200"/>
          </a:xfrm>
          <a:prstGeom prst="roundRect">
            <a:avLst>
              <a:gd name="adj" fmla="val 24000"/>
            </a:avLst>
          </a:prstGeom>
          <a:solidFill>
            <a:srgbClr val="EEF2FC"/>
          </a:solidFill>
          <a:ln w="9525">
            <a:solidFill>
              <a:srgbClr val="CBD7F4"/>
            </a:solidFill>
            <a:prstDash val="solid"/>
          </a:ln>
        </p:spPr>
      </p:sp>
      <p:sp>
        <p:nvSpPr>
          <p:cNvPr id="13" name="Text 11"/>
          <p:cNvSpPr txBox="1"/>
          <p:nvPr/>
        </p:nvSpPr>
        <p:spPr>
          <a:xfrm>
            <a:off x="640080" y="4294022"/>
            <a:ext cx="1049731" cy="457200"/>
          </a:xfrm>
          <a:prstGeom prst="rect">
            <a:avLst/>
          </a:prstGeom>
          <a:noFill/>
          <a:ln/>
        </p:spPr>
        <p:txBody>
          <a:bodyPr wrap="square" lIns="0" tIns="0" rIns="0" bIns="0" rtlCol="0" anchor="ctr"/>
          <a:lstStyle/>
          <a:p>
            <a:pPr algn="ctr" indent="0" marL="0">
              <a:buNone/>
            </a:pPr>
            <a:r>
              <a:rPr lang="en-US" sz="1300" b="1" dirty="0">
                <a:solidFill>
                  <a:srgbClr val="2957D4"/>
                </a:solidFill>
                <a:latin typeface="Courier New" pitchFamily="34" charset="0"/>
                <a:ea typeface="Courier New" pitchFamily="34" charset="-122"/>
                <a:cs typeface="Courier New" pitchFamily="34" charset="-120"/>
              </a:rPr>
              <a:t>m ∝ L³</a:t>
            </a:r>
            <a:endParaRPr lang="en-US" sz="1300" dirty="0"/>
          </a:p>
        </p:txBody>
      </p:sp>
      <p:sp>
        <p:nvSpPr>
          <p:cNvPr id="14" name="Shape 12"/>
          <p:cNvSpPr/>
          <p:nvPr/>
        </p:nvSpPr>
        <p:spPr>
          <a:xfrm>
            <a:off x="1799539" y="4294022"/>
            <a:ext cx="1049731" cy="457200"/>
          </a:xfrm>
          <a:prstGeom prst="roundRect">
            <a:avLst>
              <a:gd name="adj" fmla="val 24000"/>
            </a:avLst>
          </a:prstGeom>
          <a:solidFill>
            <a:srgbClr val="EEF2FC"/>
          </a:solidFill>
          <a:ln w="9525">
            <a:solidFill>
              <a:srgbClr val="CBD7F4"/>
            </a:solidFill>
            <a:prstDash val="solid"/>
          </a:ln>
        </p:spPr>
      </p:sp>
      <p:sp>
        <p:nvSpPr>
          <p:cNvPr id="15" name="Text 13"/>
          <p:cNvSpPr txBox="1"/>
          <p:nvPr/>
        </p:nvSpPr>
        <p:spPr>
          <a:xfrm>
            <a:off x="1799539" y="4294022"/>
            <a:ext cx="1049731" cy="457200"/>
          </a:xfrm>
          <a:prstGeom prst="rect">
            <a:avLst/>
          </a:prstGeom>
          <a:noFill/>
          <a:ln/>
        </p:spPr>
        <p:txBody>
          <a:bodyPr wrap="square" lIns="0" tIns="0" rIns="0" bIns="0" rtlCol="0" anchor="ctr"/>
          <a:lstStyle/>
          <a:p>
            <a:pPr algn="ctr" indent="0" marL="0">
              <a:buNone/>
            </a:pPr>
            <a:r>
              <a:rPr lang="en-US" sz="1300" b="1" dirty="0">
                <a:solidFill>
                  <a:srgbClr val="2957D4"/>
                </a:solidFill>
                <a:latin typeface="Courier New" pitchFamily="34" charset="0"/>
                <a:ea typeface="Courier New" pitchFamily="34" charset="-122"/>
                <a:cs typeface="Courier New" pitchFamily="34" charset="-120"/>
              </a:rPr>
              <a:t>A ∝ L²</a:t>
            </a:r>
            <a:endParaRPr lang="en-US" sz="1300" dirty="0"/>
          </a:p>
        </p:txBody>
      </p:sp>
      <p:sp>
        <p:nvSpPr>
          <p:cNvPr id="16" name="Shape 14"/>
          <p:cNvSpPr/>
          <p:nvPr/>
        </p:nvSpPr>
        <p:spPr>
          <a:xfrm>
            <a:off x="2958998" y="4294022"/>
            <a:ext cx="2136038" cy="457200"/>
          </a:xfrm>
          <a:prstGeom prst="roundRect">
            <a:avLst>
              <a:gd name="adj" fmla="val 24000"/>
            </a:avLst>
          </a:prstGeom>
          <a:solidFill>
            <a:srgbClr val="EEF2FC"/>
          </a:solidFill>
          <a:ln w="9525">
            <a:solidFill>
              <a:srgbClr val="CBD7F4"/>
            </a:solidFill>
            <a:prstDash val="solid"/>
          </a:ln>
        </p:spPr>
      </p:sp>
      <p:sp>
        <p:nvSpPr>
          <p:cNvPr id="17" name="Text 15"/>
          <p:cNvSpPr txBox="1"/>
          <p:nvPr/>
        </p:nvSpPr>
        <p:spPr>
          <a:xfrm>
            <a:off x="2958998" y="4294022"/>
            <a:ext cx="2136038" cy="457200"/>
          </a:xfrm>
          <a:prstGeom prst="rect">
            <a:avLst/>
          </a:prstGeom>
          <a:noFill/>
          <a:ln/>
        </p:spPr>
        <p:txBody>
          <a:bodyPr wrap="square" lIns="0" tIns="0" rIns="0" bIns="0" rtlCol="0" anchor="ctr"/>
          <a:lstStyle/>
          <a:p>
            <a:pPr algn="ctr" indent="0" marL="0">
              <a:buNone/>
            </a:pPr>
            <a:r>
              <a:rPr lang="en-US" sz="1300" b="1" dirty="0">
                <a:solidFill>
                  <a:srgbClr val="2957D4"/>
                </a:solidFill>
                <a:latin typeface="Courier New" pitchFamily="34" charset="0"/>
                <a:ea typeface="Courier New" pitchFamily="34" charset="-122"/>
                <a:cs typeface="Courier New" pitchFamily="34" charset="-120"/>
              </a:rPr>
              <a:t>m/A ∝ L ⇒ vl ∝ √L</a:t>
            </a:r>
            <a:endParaRPr lang="en-US" sz="1300" dirty="0"/>
          </a:p>
        </p:txBody>
      </p:sp>
      <p:sp>
        <p:nvSpPr>
          <p:cNvPr id="18" name="Shape 16"/>
          <p:cNvSpPr/>
          <p:nvPr/>
        </p:nvSpPr>
        <p:spPr>
          <a:xfrm>
            <a:off x="6419088" y="2593238"/>
            <a:ext cx="5132527" cy="3533242"/>
          </a:xfrm>
          <a:prstGeom prst="roundRect">
            <a:avLst>
              <a:gd name="adj" fmla="val 4141"/>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19" name="Image 0" descr="/tmp/claude-1000/-opt-dersler/8a8328c3-841c-44fa-b76f-82572d338d3d/scratchpad/d5/sek/limit-hiz-07.png">    </p:cNvPr>
          <p:cNvPicPr>
            <a:picLocks noChangeAspect="1"/>
          </p:cNvPicPr>
          <p:nvPr/>
        </p:nvPicPr>
        <p:blipFill>
          <a:blip r:embed="rId1"/>
          <a:stretch>
            <a:fillRect/>
          </a:stretch>
        </p:blipFill>
        <p:spPr>
          <a:xfrm>
            <a:off x="6669810" y="2776118"/>
            <a:ext cx="4631083" cy="1890979"/>
          </a:xfrm>
          <a:prstGeom prst="rect">
            <a:avLst/>
          </a:prstGeom>
        </p:spPr>
      </p:pic>
      <p:sp>
        <p:nvSpPr>
          <p:cNvPr id="20" name="Shape 17"/>
          <p:cNvSpPr/>
          <p:nvPr/>
        </p:nvSpPr>
        <p:spPr>
          <a:xfrm>
            <a:off x="6601968" y="4758538"/>
            <a:ext cx="4766767" cy="0"/>
          </a:xfrm>
          <a:prstGeom prst="line">
            <a:avLst/>
          </a:prstGeom>
          <a:noFill/>
          <a:ln w="9525">
            <a:solidFill>
              <a:srgbClr val="E1E5EE"/>
            </a:solidFill>
            <a:prstDash val="dash"/>
          </a:ln>
        </p:spPr>
      </p:sp>
      <p:sp>
        <p:nvSpPr>
          <p:cNvPr id="21" name="Text 18"/>
          <p:cNvSpPr txBox="1"/>
          <p:nvPr/>
        </p:nvSpPr>
        <p:spPr>
          <a:xfrm>
            <a:off x="6601968" y="4813402"/>
            <a:ext cx="4766767" cy="1130198"/>
          </a:xfrm>
          <a:prstGeom prst="rect">
            <a:avLst/>
          </a:prstGeom>
          <a:noFill/>
          <a:ln/>
        </p:spPr>
        <p:txBody>
          <a:bodyPr wrap="square" lIns="0" tIns="0" rIns="0" bIns="0" rtlCol="0" anchor="t"/>
          <a:lstStyle/>
          <a:p>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Paraşüt açıldığı anda kütle değişmez ama </a:t>
            </a:r>
            <a:pPr indent="0" marL="0">
              <a:lnSpc>
                <a:spcPct val="112000"/>
              </a:lnSpc>
              <a:buNone/>
            </a:pPr>
            <a:r>
              <a:rPr lang="en-US" sz="1050" b="1" dirty="0">
                <a:solidFill>
                  <a:srgbClr val="4A5470"/>
                </a:solidFill>
                <a:latin typeface="Calibri" pitchFamily="34" charset="0"/>
                <a:ea typeface="Calibri" pitchFamily="34" charset="-122"/>
                <a:cs typeface="Calibri" pitchFamily="34" charset="-120"/>
              </a:rPr>
              <a:t>alan onlarca kat büyür</a:t>
            </a:r>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 Direnç bir anda ağırlığın çok üstüne çıkar, net kuvvet yukarı döner ve atlayıcı </a:t>
            </a:r>
            <a:pPr indent="0" marL="0">
              <a:lnSpc>
                <a:spcPct val="112000"/>
              </a:lnSpc>
              <a:buNone/>
            </a:pPr>
            <a:r>
              <a:rPr lang="en-US" sz="1050" b="1" dirty="0">
                <a:solidFill>
                  <a:srgbClr val="4A5470"/>
                </a:solidFill>
                <a:latin typeface="Calibri" pitchFamily="34" charset="0"/>
                <a:ea typeface="Calibri" pitchFamily="34" charset="-122"/>
                <a:cs typeface="Calibri" pitchFamily="34" charset="-120"/>
              </a:rPr>
              <a:t>yavaşlar</a:t>
            </a:r>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 — bu ani frenlemeyi vücudunda hissettiği an budur. Yavaşladıkça direnç küçülür ve hız yeni, çok daha düşük bir limitte dengelenir. Alan 25 kat büyüyünce hız karekökle, yani yaklaşık beşte birine iner.</a:t>
            </a:r>
            <a:endParaRPr lang="en-US" sz="1050" dirty="0"/>
          </a:p>
        </p:txBody>
      </p:sp>
      <p:sp>
        <p:nvSpPr>
          <p:cNvPr id="22" name="Shape 19"/>
          <p:cNvSpPr/>
          <p:nvPr/>
        </p:nvSpPr>
        <p:spPr>
          <a:xfrm>
            <a:off x="640080" y="6382512"/>
            <a:ext cx="128016" cy="128016"/>
          </a:xfrm>
          <a:prstGeom prst="roundRect">
            <a:avLst>
              <a:gd name="adj" fmla="val 28571"/>
            </a:avLst>
          </a:prstGeom>
          <a:solidFill>
            <a:srgbClr val="A9E648"/>
          </a:solidFill>
          <a:ln/>
        </p:spPr>
      </p:sp>
      <p:sp>
        <p:nvSpPr>
          <p:cNvPr id="23" name="Text 20"/>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dersler.perinet.org/limit-hiz.html</a:t>
            </a:r>
            <a:endParaRPr lang="en-US" sz="1050" dirty="0"/>
          </a:p>
        </p:txBody>
      </p:sp>
      <p:sp>
        <p:nvSpPr>
          <p:cNvPr id="24" name="Text 21"/>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29</a:t>
            </a:r>
            <a:endParaRPr lang="en-US" sz="10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Paraşüt açılınca, yanında düşen arkadaşının kamerasında paraşütçü neden yukarı fırlıyor gibi görünür?</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09 · Paraşüt ve ölçek etkisi</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dersler.perinet.org/limit-hiz.html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30</a:t>
            </a:r>
            <a:endParaRPr lang="en-US" sz="10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Paraşüt açılınca, yanında düşen arkadaşının kamerasında paraşütçü neden yukarı fırlıyor gibi görünür?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CFC8F5"/>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200" dirty="0">
                <a:solidFill>
                  <a:srgbClr val="0E1426"/>
                </a:solidFill>
                <a:latin typeface="Calibri" pitchFamily="34" charset="0"/>
                <a:ea typeface="Calibri" pitchFamily="34" charset="-122"/>
                <a:cs typeface="Calibri" pitchFamily="34" charset="-120"/>
              </a:rPr>
              <a:t>Çünkü paraşütçü birden </a:t>
            </a:r>
            <a:pPr indent="0" marL="0">
              <a:lnSpc>
                <a:spcPct val="125000"/>
              </a:lnSpc>
              <a:buNone/>
            </a:pPr>
            <a:r>
              <a:rPr lang="en-US" sz="2200" b="1" dirty="0">
                <a:solidFill>
                  <a:srgbClr val="5F4BD8"/>
                </a:solidFill>
                <a:latin typeface="Calibri" pitchFamily="34" charset="0"/>
                <a:ea typeface="Calibri" pitchFamily="34" charset="-122"/>
                <a:cs typeface="Calibri" pitchFamily="34" charset="-120"/>
              </a:rPr>
              <a:t>yavaşlar</a:t>
            </a:r>
            <a:pPr indent="0" marL="0">
              <a:lnSpc>
                <a:spcPct val="125000"/>
              </a:lnSpc>
              <a:buNone/>
            </a:pPr>
            <a:r>
              <a:rPr lang="en-US" sz="2200" dirty="0">
                <a:solidFill>
                  <a:srgbClr val="0E1426"/>
                </a:solidFill>
                <a:latin typeface="Calibri" pitchFamily="34" charset="0"/>
                <a:ea typeface="Calibri" pitchFamily="34" charset="-122"/>
                <a:cs typeface="Calibri" pitchFamily="34" charset="-120"/>
              </a:rPr>
              <a:t>, kameralı arkadaşı ise hâlâ 55 m/s ile düşmeye devam eder. Arkadaşına göre paraşütçü yukarı gidiyormuş gibi görünür; yere göre ise hâlâ aşağı iner, yalnızca çok daha yavaş. Yukarı yönlü net kuvvet yukarı hareket değil, yavaşlama demektir.</a:t>
            </a:r>
            <a:endParaRPr lang="en-US" sz="22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dersler.perinet.org/limit-hiz.html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31</a:t>
            </a:r>
            <a:endParaRPr lang="en-US" sz="10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Limit hız gerçek dünyada</a:t>
            </a:r>
            <a:endParaRPr lang="en-US" sz="3200" dirty="0"/>
          </a:p>
        </p:txBody>
      </p:sp>
      <p:sp>
        <p:nvSpPr>
          <p:cNvPr id="5" name="Text 3"/>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6" name="Shape 4"/>
          <p:cNvSpPr/>
          <p:nvPr/>
        </p:nvSpPr>
        <p:spPr>
          <a:xfrm>
            <a:off x="640080" y="1188720"/>
            <a:ext cx="10911535" cy="1185062"/>
          </a:xfrm>
          <a:prstGeom prst="roundRect">
            <a:avLst>
              <a:gd name="adj" fmla="val 9259"/>
            </a:avLst>
          </a:prstGeom>
          <a:solidFill>
            <a:srgbClr val="F8F9FC"/>
          </a:solidFill>
          <a:ln w="9525">
            <a:solidFill>
              <a:srgbClr val="E1E5EE"/>
            </a:solidFill>
            <a:prstDash val="solid"/>
          </a:ln>
        </p:spPr>
      </p:sp>
      <p:sp>
        <p:nvSpPr>
          <p:cNvPr id="7" name="Shape 5"/>
          <p:cNvSpPr/>
          <p:nvPr/>
        </p:nvSpPr>
        <p:spPr>
          <a:xfrm>
            <a:off x="658368" y="1298448"/>
            <a:ext cx="54864" cy="965606"/>
          </a:xfrm>
          <a:prstGeom prst="rect">
            <a:avLst/>
          </a:prstGeom>
          <a:solidFill>
            <a:srgbClr val="5F4BD8"/>
          </a:solidFill>
          <a:ln/>
        </p:spPr>
      </p:sp>
      <p:sp>
        <p:nvSpPr>
          <p:cNvPr id="8" name="Text 6"/>
          <p:cNvSpPr txBox="1"/>
          <p:nvPr/>
        </p:nvSpPr>
        <p:spPr>
          <a:xfrm>
            <a:off x="932688" y="1234440"/>
            <a:ext cx="10454335" cy="1093622"/>
          </a:xfrm>
          <a:prstGeom prst="rect">
            <a:avLst/>
          </a:prstGeom>
          <a:noFill/>
          <a:ln/>
        </p:spPr>
        <p:txBody>
          <a:bodyPr wrap="square" lIns="0" tIns="0" rIns="0" bIns="0" rtlCol="0" anchor="ctr"/>
          <a:lstStyle/>
          <a:p>
            <a:pPr indent="0" marL="0">
              <a:lnSpc>
                <a:spcPct val="112000"/>
              </a:lnSpc>
              <a:buNone/>
            </a:pPr>
            <a:r>
              <a:rPr lang="en-US" sz="1850" dirty="0">
                <a:solidFill>
                  <a:srgbClr val="0E1426"/>
                </a:solidFill>
                <a:latin typeface="Calibri" pitchFamily="34" charset="0"/>
                <a:ea typeface="Calibri" pitchFamily="34" charset="-122"/>
                <a:cs typeface="Calibri" pitchFamily="34" charset="-120"/>
              </a:rPr>
              <a:t>Limit hız, yağmurun zararsızlığını, bulutların asılı kalmasını ve paraşütle güvenli inişi açıklar. A ile C'yi küçültmek hız kazandırır, büyütmek yavaşlatır; seyrek hava limit hızı büyütür.</a:t>
            </a:r>
            <a:endParaRPr lang="en-US" sz="1850" dirty="0"/>
          </a:p>
        </p:txBody>
      </p:sp>
      <p:sp>
        <p:nvSpPr>
          <p:cNvPr id="9" name="Text 7"/>
          <p:cNvSpPr txBox="1"/>
          <p:nvPr/>
        </p:nvSpPr>
        <p:spPr>
          <a:xfrm>
            <a:off x="640080" y="2593238"/>
            <a:ext cx="10911535" cy="3328416"/>
          </a:xfrm>
          <a:prstGeom prst="rect">
            <a:avLst/>
          </a:prstGeom>
          <a:noFill/>
          <a:ln/>
        </p:spPr>
        <p:txBody>
          <a:bodyPr wrap="square" lIns="0" tIns="0" rIns="0" bIns="0" rtlCol="0" anchor="t"/>
          <a:lstStyle/>
          <a:p>
            <a:pPr marL="203200" indent="-203200">
              <a:lnSpc>
                <a:spcPct val="115000"/>
              </a:lnSpc>
              <a:spcAft>
                <a:spcPts val="500"/>
              </a:spcAft>
              <a:buSzPct val="100000"/>
              <a:buChar char="▪"/>
            </a:pPr>
            <a:r>
              <a:rPr lang="en-US" sz="1400" b="1" dirty="0">
                <a:solidFill>
                  <a:srgbClr val="0E1426"/>
                </a:solidFill>
                <a:latin typeface="Calibri" pitchFamily="34" charset="0"/>
                <a:ea typeface="Calibri" pitchFamily="34" charset="-122"/>
                <a:cs typeface="Calibri" pitchFamily="34" charset="-120"/>
              </a:rPr>
              <a:t>Bulutlar neden düşmez?</a:t>
            </a:r>
            <a:pPr indent="0" marL="0">
              <a:lnSpc>
                <a:spcPct val="115000"/>
              </a:lnSpc>
              <a:buNone/>
            </a:pPr>
            <a:r>
              <a:rPr lang="en-US" sz="1400" dirty="0">
                <a:solidFill>
                  <a:srgbClr val="4A5470"/>
                </a:solidFill>
                <a:latin typeface="Calibri" pitchFamily="34" charset="0"/>
                <a:ea typeface="Calibri" pitchFamily="34" charset="-122"/>
                <a:cs typeface="Calibri" pitchFamily="34" charset="-120"/>
              </a:rPr>
              <a:t> 0,01 m/s ile düşen bir bulut damlacığı 1 km'yi ancak yaklaşık 28 saatte iner; hafif yukarı hava akımları onu kolayca taşır.</a:t>
            </a:r>
            <a:endParaRPr lang="en-US" sz="1400" dirty="0"/>
          </a:p>
          <a:p>
            <a:pPr marL="203200" indent="-203200">
              <a:lnSpc>
                <a:spcPct val="115000"/>
              </a:lnSpc>
              <a:spcAft>
                <a:spcPts val="500"/>
              </a:spcAft>
              <a:buSzPct val="100000"/>
              <a:buChar char="▪"/>
            </a:pPr>
            <a:r>
              <a:rPr lang="en-US" sz="1400" b="1" dirty="0">
                <a:solidFill>
                  <a:srgbClr val="0E1426"/>
                </a:solidFill>
                <a:latin typeface="Calibri" pitchFamily="34" charset="0"/>
                <a:ea typeface="Calibri" pitchFamily="34" charset="-122"/>
                <a:cs typeface="Calibri" pitchFamily="34" charset="-120"/>
              </a:rPr>
              <a:t>Yağmur damlası:</a:t>
            </a:r>
            <a:pPr indent="0" marL="0">
              <a:lnSpc>
                <a:spcPct val="115000"/>
              </a:lnSpc>
              <a:buNone/>
            </a:pPr>
            <a:r>
              <a:rPr lang="en-US" sz="1400" dirty="0">
                <a:solidFill>
                  <a:srgbClr val="4A5470"/>
                </a:solidFill>
                <a:latin typeface="Calibri" pitchFamily="34" charset="0"/>
                <a:ea typeface="Calibri" pitchFamily="34" charset="-122"/>
                <a:cs typeface="Calibri" pitchFamily="34" charset="-120"/>
              </a:rPr>
              <a:t> 2 mm çaplı bir damla yaklaşık 6,5 m/s ile düşer; yaklaşık 5 mm'den iri damlalar düşerken çoğunlukla parçalanır.</a:t>
            </a:r>
            <a:endParaRPr lang="en-US" sz="1400" dirty="0"/>
          </a:p>
          <a:p>
            <a:pPr marL="203200" indent="-203200">
              <a:lnSpc>
                <a:spcPct val="115000"/>
              </a:lnSpc>
              <a:spcAft>
                <a:spcPts val="500"/>
              </a:spcAft>
              <a:buSzPct val="100000"/>
              <a:buChar char="▪"/>
            </a:pPr>
            <a:r>
              <a:rPr lang="en-US" sz="1400" b="1" dirty="0">
                <a:solidFill>
                  <a:srgbClr val="0E1426"/>
                </a:solidFill>
                <a:latin typeface="Calibri" pitchFamily="34" charset="0"/>
                <a:ea typeface="Calibri" pitchFamily="34" charset="-122"/>
                <a:cs typeface="Calibri" pitchFamily="34" charset="-120"/>
              </a:rPr>
              <a:t>Dolu:</a:t>
            </a:r>
            <a:pPr indent="0" marL="0">
              <a:lnSpc>
                <a:spcPct val="115000"/>
              </a:lnSpc>
              <a:buNone/>
            </a:pPr>
            <a:r>
              <a:rPr lang="en-US" sz="1400" dirty="0">
                <a:solidFill>
                  <a:srgbClr val="4A5470"/>
                </a:solidFill>
                <a:latin typeface="Calibri" pitchFamily="34" charset="0"/>
                <a:ea typeface="Calibri" pitchFamily="34" charset="-122"/>
                <a:cs typeface="Calibri" pitchFamily="34" charset="-120"/>
              </a:rPr>
              <a:t> 5 cm çaplı bir dolu tanesi için basit model yaklaşık 30 m/s (110 km/h) verir; iri dolunun cam kırması bundandır.</a:t>
            </a:r>
            <a:endParaRPr lang="en-US" sz="1400" dirty="0"/>
          </a:p>
          <a:p>
            <a:pPr marL="203200" indent="-203200">
              <a:lnSpc>
                <a:spcPct val="115000"/>
              </a:lnSpc>
              <a:spcAft>
                <a:spcPts val="500"/>
              </a:spcAft>
              <a:buSzPct val="100000"/>
              <a:buChar char="▪"/>
            </a:pPr>
            <a:r>
              <a:rPr lang="en-US" sz="1400" b="1" dirty="0">
                <a:solidFill>
                  <a:srgbClr val="0E1426"/>
                </a:solidFill>
                <a:latin typeface="Calibri" pitchFamily="34" charset="0"/>
                <a:ea typeface="Calibri" pitchFamily="34" charset="-122"/>
                <a:cs typeface="Calibri" pitchFamily="34" charset="-120"/>
              </a:rPr>
              <a:t>Formasyon atlayışı:</a:t>
            </a:r>
            <a:pPr indent="0" marL="0">
              <a:lnSpc>
                <a:spcPct val="115000"/>
              </a:lnSpc>
              <a:buNone/>
            </a:pPr>
            <a:r>
              <a:rPr lang="en-US" sz="1400" dirty="0">
                <a:solidFill>
                  <a:srgbClr val="4A5470"/>
                </a:solidFill>
                <a:latin typeface="Calibri" pitchFamily="34" charset="0"/>
                <a:ea typeface="Calibri" pitchFamily="34" charset="-122"/>
                <a:cs typeface="Calibri" pitchFamily="34" charset="-120"/>
              </a:rPr>
              <a:t> el ele düşmek için limit hızlar eşit olmalı; hafif atlayıcılar ağırlık kemeri, ağır olanlar bol tulum kullanabilir.</a:t>
            </a:r>
            <a:endParaRPr lang="en-US" sz="1400" dirty="0"/>
          </a:p>
          <a:p>
            <a:pPr marL="203200" indent="-203200">
              <a:lnSpc>
                <a:spcPct val="115000"/>
              </a:lnSpc>
              <a:spcAft>
                <a:spcPts val="500"/>
              </a:spcAft>
              <a:buSzPct val="100000"/>
              <a:buChar char="▪"/>
            </a:pPr>
            <a:r>
              <a:rPr lang="en-US" sz="1400" b="1" dirty="0">
                <a:solidFill>
                  <a:srgbClr val="0E1426"/>
                </a:solidFill>
                <a:latin typeface="Calibri" pitchFamily="34" charset="0"/>
                <a:ea typeface="Calibri" pitchFamily="34" charset="-122"/>
                <a:cs typeface="Calibri" pitchFamily="34" charset="-120"/>
              </a:rPr>
              <a:t>Stratosfer atlayışları:</a:t>
            </a:r>
            <a:pPr indent="0" marL="0">
              <a:lnSpc>
                <a:spcPct val="115000"/>
              </a:lnSpc>
              <a:buNone/>
            </a:pPr>
            <a:r>
              <a:rPr lang="en-US" sz="1400" dirty="0">
                <a:solidFill>
                  <a:srgbClr val="4A5470"/>
                </a:solidFill>
                <a:latin typeface="Calibri" pitchFamily="34" charset="0"/>
                <a:ea typeface="Calibri" pitchFamily="34" charset="-122"/>
                <a:cs typeface="Calibri" pitchFamily="34" charset="-120"/>
              </a:rPr>
              <a:t> 30 km'de hava deniz seviyesindekinden yaklaşık 65 kat seyrektir; limit hız yaklaşık 8 kat büyür ve ses hızı aşılabilir.</a:t>
            </a:r>
            <a:endParaRPr lang="en-US" sz="1400" dirty="0"/>
          </a:p>
          <a:p>
            <a:pPr marL="203200" indent="-203200">
              <a:lnSpc>
                <a:spcPct val="115000"/>
              </a:lnSpc>
              <a:spcAft>
                <a:spcPts val="500"/>
              </a:spcAft>
              <a:buSzPct val="100000"/>
              <a:buChar char="▪"/>
            </a:pPr>
            <a:r>
              <a:rPr lang="en-US" sz="1400" b="1" dirty="0">
                <a:solidFill>
                  <a:srgbClr val="0E1426"/>
                </a:solidFill>
                <a:latin typeface="Calibri" pitchFamily="34" charset="0"/>
                <a:ea typeface="Calibri" pitchFamily="34" charset="-122"/>
                <a:cs typeface="Calibri" pitchFamily="34" charset="-120"/>
              </a:rPr>
              <a:t>Otoyolda yakıt:</a:t>
            </a:r>
            <a:pPr indent="0" marL="0">
              <a:lnSpc>
                <a:spcPct val="115000"/>
              </a:lnSpc>
              <a:buNone/>
            </a:pPr>
            <a:r>
              <a:rPr lang="en-US" sz="1400" dirty="0">
                <a:solidFill>
                  <a:srgbClr val="4A5470"/>
                </a:solidFill>
                <a:latin typeface="Calibri" pitchFamily="34" charset="0"/>
                <a:ea typeface="Calibri" pitchFamily="34" charset="-122"/>
                <a:cs typeface="Calibri" pitchFamily="34" charset="-120"/>
              </a:rPr>
              <a:t> 90 yerine 120 km/h ile gitmek hava direncini (120/90)² ≈ 1,8 katına çıkarır; yüksek hızda motorun yaptığı işin büyük kısmı bu direnci yenmeye harcanır.</a:t>
            </a:r>
            <a:endParaRPr lang="en-US" sz="1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dersler.perinet.org/limit-hiz.html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32</a:t>
            </a:r>
            <a:endParaRPr lang="en-US" sz="10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E1426"/>
        </a:solidFill>
      </p:bgPr>
    </p:bg>
    <p:spTree>
      <p:nvGrpSpPr>
        <p:cNvPr id="1" name=""/>
        <p:cNvGrpSpPr/>
        <p:nvPr/>
      </p:nvGrpSpPr>
      <p:grpSpPr>
        <a:xfrm>
          <a:off x="0" y="0"/>
          <a:ext cx="0" cy="0"/>
          <a:chOff x="0" y="0"/>
          <a:chExt cx="0" cy="0"/>
        </a:xfrm>
      </p:grpSpPr>
      <p:sp>
        <p:nvSpPr>
          <p:cNvPr id="2" name="Text 0"/>
          <p:cNvSpPr txBox="1"/>
          <p:nvPr/>
        </p:nvSpPr>
        <p:spPr>
          <a:xfrm>
            <a:off x="685800" y="365760"/>
            <a:ext cx="1828800" cy="1874520"/>
          </a:xfrm>
          <a:prstGeom prst="rect">
            <a:avLst/>
          </a:prstGeom>
          <a:noFill/>
          <a:ln/>
        </p:spPr>
        <p:txBody>
          <a:bodyPr wrap="square" lIns="0" tIns="0" rIns="0" bIns="0" rtlCol="0" anchor="ctr"/>
          <a:lstStyle/>
          <a:p>
            <a:pPr indent="0" marL="0">
              <a:buNone/>
            </a:pPr>
            <a:r>
              <a:rPr lang="en-US" sz="11600" b="1" dirty="0">
                <a:solidFill>
                  <a:srgbClr val="FFCB6B"/>
                </a:solidFill>
                <a:latin typeface="Cambria" pitchFamily="34" charset="0"/>
                <a:ea typeface="Cambria" pitchFamily="34" charset="-122"/>
                <a:cs typeface="Cambria" pitchFamily="34" charset="-120"/>
              </a:rPr>
              <a:t>4</a:t>
            </a:r>
            <a:endParaRPr lang="en-US" sz="11600" dirty="0"/>
          </a:p>
        </p:txBody>
      </p:sp>
      <p:sp>
        <p:nvSpPr>
          <p:cNvPr id="3" name="Text 1"/>
          <p:cNvSpPr txBox="1"/>
          <p:nvPr/>
        </p:nvSpPr>
        <p:spPr>
          <a:xfrm>
            <a:off x="731520" y="2286000"/>
            <a:ext cx="4572000" cy="292608"/>
          </a:xfrm>
          <a:prstGeom prst="rect">
            <a:avLst/>
          </a:prstGeom>
          <a:noFill/>
          <a:ln/>
        </p:spPr>
        <p:txBody>
          <a:bodyPr wrap="square" lIns="0" tIns="0" rIns="0" bIns="0" rtlCol="0" anchor="ctr"/>
          <a:lstStyle/>
          <a:p>
            <a:pPr indent="0" marL="0">
              <a:buNone/>
            </a:pPr>
            <a:r>
              <a:rPr lang="en-US" sz="1200" b="1" spc="300" kern="0" dirty="0">
                <a:solidFill>
                  <a:srgbClr val="FFCB6B"/>
                </a:solidFill>
                <a:latin typeface="Calibri" pitchFamily="34" charset="0"/>
                <a:ea typeface="Calibri" pitchFamily="34" charset="-122"/>
                <a:cs typeface="Calibri" pitchFamily="34" charset="-120"/>
              </a:rPr>
              <a:t>BASAMAK 4 / 4</a:t>
            </a:r>
            <a:endParaRPr lang="en-US" sz="1200" dirty="0"/>
          </a:p>
        </p:txBody>
      </p:sp>
      <p:sp>
        <p:nvSpPr>
          <p:cNvPr id="4" name="Text 2"/>
          <p:cNvSpPr txBox="1"/>
          <p:nvPr/>
        </p:nvSpPr>
        <p:spPr>
          <a:xfrm>
            <a:off x="685800" y="2578608"/>
            <a:ext cx="5120640" cy="822960"/>
          </a:xfrm>
          <a:prstGeom prst="rect">
            <a:avLst/>
          </a:prstGeom>
          <a:noFill/>
          <a:ln/>
        </p:spPr>
        <p:txBody>
          <a:bodyPr wrap="square" lIns="0" tIns="0" rIns="0" bIns="0" rtlCol="0" anchor="ctr"/>
          <a:lstStyle/>
          <a:p>
            <a:pPr indent="0" marL="0">
              <a:buNone/>
            </a:pPr>
            <a:r>
              <a:rPr lang="en-US" sz="4600" b="1" spc="-100" kern="0" dirty="0">
                <a:solidFill>
                  <a:srgbClr val="FFFFFF"/>
                </a:solidFill>
                <a:latin typeface="Cambria" pitchFamily="34" charset="0"/>
                <a:ea typeface="Cambria" pitchFamily="34" charset="-122"/>
                <a:cs typeface="Cambria" pitchFamily="34" charset="-120"/>
              </a:rPr>
              <a:t>Pekiştir</a:t>
            </a:r>
            <a:endParaRPr lang="en-US" sz="4600" dirty="0"/>
          </a:p>
        </p:txBody>
      </p:sp>
      <p:sp>
        <p:nvSpPr>
          <p:cNvPr id="5" name="Text 3"/>
          <p:cNvSpPr txBox="1"/>
          <p:nvPr/>
        </p:nvSpPr>
        <p:spPr>
          <a:xfrm>
            <a:off x="731520" y="3474720"/>
            <a:ext cx="4846320" cy="914400"/>
          </a:xfrm>
          <a:prstGeom prst="rect">
            <a:avLst/>
          </a:prstGeom>
          <a:noFill/>
          <a:ln/>
        </p:spPr>
        <p:txBody>
          <a:bodyPr wrap="square" lIns="0" tIns="0" rIns="0" bIns="0" rtlCol="0" anchor="t"/>
          <a:lstStyle/>
          <a:p>
            <a:pPr indent="0" marL="0">
              <a:lnSpc>
                <a:spcPct val="120000"/>
              </a:lnSpc>
              <a:buNone/>
            </a:pPr>
            <a:r>
              <a:rPr lang="en-US" sz="1600" dirty="0">
                <a:solidFill>
                  <a:srgbClr val="C3CEE8"/>
                </a:solidFill>
                <a:latin typeface="Calibri" pitchFamily="34" charset="0"/>
                <a:ea typeface="Calibri" pitchFamily="34" charset="-122"/>
                <a:cs typeface="Calibri" pitchFamily="34" charset="-120"/>
              </a:rPr>
              <a:t>Kolaydan zora çözümlü örnekler ve limit hız sorularında puan kaybettiren klasik hatalar.</a:t>
            </a:r>
            <a:endParaRPr lang="en-US" sz="1600" dirty="0"/>
          </a:p>
        </p:txBody>
      </p:sp>
      <p:sp>
        <p:nvSpPr>
          <p:cNvPr id="6" name="Text 4"/>
          <p:cNvSpPr txBox="1"/>
          <p:nvPr/>
        </p:nvSpPr>
        <p:spPr>
          <a:xfrm>
            <a:off x="731520" y="4572000"/>
            <a:ext cx="5120640" cy="329184"/>
          </a:xfrm>
          <a:prstGeom prst="rect">
            <a:avLst/>
          </a:prstGeom>
          <a:noFill/>
          <a:ln/>
        </p:spPr>
        <p:txBody>
          <a:bodyPr wrap="square" lIns="0" tIns="0" rIns="0" bIns="0" rtlCol="0" anchor="ctr"/>
          <a:lstStyle/>
          <a:p>
            <a:pPr indent="0" marL="0">
              <a:buNone/>
            </a:pPr>
            <a:r>
              <a:rPr lang="en-US" sz="1300" b="1" dirty="0">
                <a:solidFill>
                  <a:srgbClr val="FFCB6B"/>
                </a:solidFill>
                <a:latin typeface="Calibri" pitchFamily="34" charset="0"/>
                <a:ea typeface="Calibri" pitchFamily="34" charset="-122"/>
                <a:cs typeface="Calibri" pitchFamily="34" charset="-120"/>
              </a:rPr>
              <a:t>11   </a:t>
            </a:r>
            <a:pPr indent="0" marL="0">
              <a:buNone/>
            </a:pPr>
            <a:r>
              <a:rPr lang="en-US" sz="1300" dirty="0">
                <a:solidFill>
                  <a:srgbClr val="FFFFFF"/>
                </a:solidFill>
                <a:latin typeface="Calibri" pitchFamily="34" charset="0"/>
                <a:ea typeface="Calibri" pitchFamily="34" charset="-122"/>
                <a:cs typeface="Calibri" pitchFamily="34" charset="-120"/>
              </a:rPr>
              <a:t>Çözümlü örnekler</a:t>
            </a:r>
            <a:endParaRPr lang="en-US" sz="1300" dirty="0"/>
          </a:p>
        </p:txBody>
      </p:sp>
      <p:sp>
        <p:nvSpPr>
          <p:cNvPr id="7" name="Text 5"/>
          <p:cNvSpPr txBox="1"/>
          <p:nvPr/>
        </p:nvSpPr>
        <p:spPr>
          <a:xfrm>
            <a:off x="731520" y="4901184"/>
            <a:ext cx="5120640" cy="329184"/>
          </a:xfrm>
          <a:prstGeom prst="rect">
            <a:avLst/>
          </a:prstGeom>
          <a:noFill/>
          <a:ln/>
        </p:spPr>
        <p:txBody>
          <a:bodyPr wrap="square" lIns="0" tIns="0" rIns="0" bIns="0" rtlCol="0" anchor="ctr"/>
          <a:lstStyle/>
          <a:p>
            <a:pPr indent="0" marL="0">
              <a:buNone/>
            </a:pPr>
            <a:r>
              <a:rPr lang="en-US" sz="1300" b="1" dirty="0">
                <a:solidFill>
                  <a:srgbClr val="FFCB6B"/>
                </a:solidFill>
                <a:latin typeface="Calibri" pitchFamily="34" charset="0"/>
                <a:ea typeface="Calibri" pitchFamily="34" charset="-122"/>
                <a:cs typeface="Calibri" pitchFamily="34" charset="-120"/>
              </a:rPr>
              <a:t>12   </a:t>
            </a:r>
            <a:pPr indent="0" marL="0">
              <a:buNone/>
            </a:pPr>
            <a:r>
              <a:rPr lang="en-US" sz="1300" dirty="0">
                <a:solidFill>
                  <a:srgbClr val="FFFFFF"/>
                </a:solidFill>
                <a:latin typeface="Calibri" pitchFamily="34" charset="0"/>
                <a:ea typeface="Calibri" pitchFamily="34" charset="-122"/>
                <a:cs typeface="Calibri" pitchFamily="34" charset="-120"/>
              </a:rPr>
              <a:t>Sık yapılan hatalar</a:t>
            </a:r>
            <a:endParaRPr lang="en-US" sz="1300" dirty="0"/>
          </a:p>
        </p:txBody>
      </p:sp>
      <p:sp>
        <p:nvSpPr>
          <p:cNvPr id="8" name="Text 6"/>
          <p:cNvSpPr txBox="1"/>
          <p:nvPr/>
        </p:nvSpPr>
        <p:spPr>
          <a:xfrm>
            <a:off x="6172200" y="1097280"/>
            <a:ext cx="5379415" cy="274320"/>
          </a:xfrm>
          <a:prstGeom prst="rect">
            <a:avLst/>
          </a:prstGeom>
          <a:noFill/>
          <a:ln/>
        </p:spPr>
        <p:txBody>
          <a:bodyPr wrap="square" lIns="0" tIns="0" rIns="0" bIns="0" rtlCol="0" anchor="ctr"/>
          <a:lstStyle/>
          <a:p>
            <a:pPr indent="0" marL="0">
              <a:buNone/>
            </a:pPr>
            <a:r>
              <a:rPr lang="en-US" sz="1050" b="1" spc="200" kern="0" dirty="0">
                <a:solidFill>
                  <a:srgbClr val="8D97B5"/>
                </a:solidFill>
                <a:latin typeface="Calibri" pitchFamily="34" charset="0"/>
                <a:ea typeface="Calibri" pitchFamily="34" charset="-122"/>
                <a:cs typeface="Calibri" pitchFamily="34" charset="-120"/>
              </a:rPr>
              <a:t>KOLAYDAN ZORA 6 ÇÖZÜMLÜ ÖRNEK</a:t>
            </a:r>
            <a:endParaRPr lang="en-US" sz="1050" dirty="0"/>
          </a:p>
        </p:txBody>
      </p:sp>
      <p:sp>
        <p:nvSpPr>
          <p:cNvPr id="9" name="Shape 7"/>
          <p:cNvSpPr/>
          <p:nvPr/>
        </p:nvSpPr>
        <p:spPr>
          <a:xfrm>
            <a:off x="6172200" y="1481328"/>
            <a:ext cx="5379415" cy="512064"/>
          </a:xfrm>
          <a:prstGeom prst="roundRect">
            <a:avLst>
              <a:gd name="adj" fmla="val 17857"/>
            </a:avLst>
          </a:prstGeom>
          <a:solidFill>
            <a:srgbClr val="1C2542"/>
          </a:solidFill>
          <a:ln w="9525">
            <a:solidFill>
              <a:srgbClr val="2C3860"/>
            </a:solidFill>
            <a:prstDash val="solid"/>
          </a:ln>
        </p:spPr>
      </p:sp>
      <p:sp>
        <p:nvSpPr>
          <p:cNvPr id="10" name="Text 8"/>
          <p:cNvSpPr txBox="1"/>
          <p:nvPr/>
        </p:nvSpPr>
        <p:spPr>
          <a:xfrm>
            <a:off x="6400800" y="1481328"/>
            <a:ext cx="3916375" cy="51206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1   Limit hızda kuvvetler</a:t>
            </a:r>
            <a:endParaRPr lang="en-US" sz="1300" dirty="0"/>
          </a:p>
        </p:txBody>
      </p:sp>
      <p:sp>
        <p:nvSpPr>
          <p:cNvPr id="11" name="Text 9"/>
          <p:cNvSpPr txBox="1"/>
          <p:nvPr/>
        </p:nvSpPr>
        <p:spPr>
          <a:xfrm>
            <a:off x="10362895" y="1481328"/>
            <a:ext cx="1005840" cy="512064"/>
          </a:xfrm>
          <a:prstGeom prst="rect">
            <a:avLst/>
          </a:prstGeom>
          <a:noFill/>
          <a:ln/>
        </p:spPr>
        <p:txBody>
          <a:bodyPr wrap="square" lIns="0" tIns="0" rIns="0" bIns="0" rtlCol="0" anchor="ctr"/>
          <a:lstStyle/>
          <a:p>
            <a:pPr algn="r" indent="0" marL="0">
              <a:buNone/>
            </a:pPr>
            <a:r>
              <a:rPr lang="en-US" sz="1050" b="1" spc="200" kern="0" dirty="0">
                <a:solidFill>
                  <a:srgbClr val="C6F36B"/>
                </a:solidFill>
                <a:latin typeface="Calibri" pitchFamily="34" charset="0"/>
                <a:ea typeface="Calibri" pitchFamily="34" charset="-122"/>
                <a:cs typeface="Calibri" pitchFamily="34" charset="-120"/>
              </a:rPr>
              <a:t>KOLAY</a:t>
            </a:r>
            <a:endParaRPr lang="en-US" sz="1050" dirty="0"/>
          </a:p>
        </p:txBody>
      </p:sp>
      <p:sp>
        <p:nvSpPr>
          <p:cNvPr id="12" name="Shape 10"/>
          <p:cNvSpPr/>
          <p:nvPr/>
        </p:nvSpPr>
        <p:spPr>
          <a:xfrm>
            <a:off x="6172200" y="2084832"/>
            <a:ext cx="5379415" cy="512064"/>
          </a:xfrm>
          <a:prstGeom prst="roundRect">
            <a:avLst>
              <a:gd name="adj" fmla="val 17857"/>
            </a:avLst>
          </a:prstGeom>
          <a:solidFill>
            <a:srgbClr val="1C2542"/>
          </a:solidFill>
          <a:ln w="9525">
            <a:solidFill>
              <a:srgbClr val="2C3860"/>
            </a:solidFill>
            <a:prstDash val="solid"/>
          </a:ln>
        </p:spPr>
      </p:sp>
      <p:sp>
        <p:nvSpPr>
          <p:cNvPr id="13" name="Text 11"/>
          <p:cNvSpPr txBox="1"/>
          <p:nvPr/>
        </p:nvSpPr>
        <p:spPr>
          <a:xfrm>
            <a:off x="6400800" y="2084832"/>
            <a:ext cx="3916375" cy="51206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2   Hızlanan bisikletli</a:t>
            </a:r>
            <a:endParaRPr lang="en-US" sz="1300" dirty="0"/>
          </a:p>
        </p:txBody>
      </p:sp>
      <p:sp>
        <p:nvSpPr>
          <p:cNvPr id="14" name="Text 12"/>
          <p:cNvSpPr txBox="1"/>
          <p:nvPr/>
        </p:nvSpPr>
        <p:spPr>
          <a:xfrm>
            <a:off x="10362895" y="2084832"/>
            <a:ext cx="1005840" cy="512064"/>
          </a:xfrm>
          <a:prstGeom prst="rect">
            <a:avLst/>
          </a:prstGeom>
          <a:noFill/>
          <a:ln/>
        </p:spPr>
        <p:txBody>
          <a:bodyPr wrap="square" lIns="0" tIns="0" rIns="0" bIns="0" rtlCol="0" anchor="ctr"/>
          <a:lstStyle/>
          <a:p>
            <a:pPr algn="r" indent="0" marL="0">
              <a:buNone/>
            </a:pPr>
            <a:r>
              <a:rPr lang="en-US" sz="1050" b="1" spc="200" kern="0" dirty="0">
                <a:solidFill>
                  <a:srgbClr val="C6F36B"/>
                </a:solidFill>
                <a:latin typeface="Calibri" pitchFamily="34" charset="0"/>
                <a:ea typeface="Calibri" pitchFamily="34" charset="-122"/>
                <a:cs typeface="Calibri" pitchFamily="34" charset="-120"/>
              </a:rPr>
              <a:t>KOLAY</a:t>
            </a:r>
            <a:endParaRPr lang="en-US" sz="1050" dirty="0"/>
          </a:p>
        </p:txBody>
      </p:sp>
      <p:sp>
        <p:nvSpPr>
          <p:cNvPr id="15" name="Shape 13"/>
          <p:cNvSpPr/>
          <p:nvPr/>
        </p:nvSpPr>
        <p:spPr>
          <a:xfrm>
            <a:off x="6172200" y="2688336"/>
            <a:ext cx="5379415" cy="512064"/>
          </a:xfrm>
          <a:prstGeom prst="roundRect">
            <a:avLst>
              <a:gd name="adj" fmla="val 17857"/>
            </a:avLst>
          </a:prstGeom>
          <a:solidFill>
            <a:srgbClr val="1C2542"/>
          </a:solidFill>
          <a:ln w="9525">
            <a:solidFill>
              <a:srgbClr val="2C3860"/>
            </a:solidFill>
            <a:prstDash val="solid"/>
          </a:ln>
        </p:spPr>
      </p:sp>
      <p:sp>
        <p:nvSpPr>
          <p:cNvPr id="16" name="Text 14"/>
          <p:cNvSpPr txBox="1"/>
          <p:nvPr/>
        </p:nvSpPr>
        <p:spPr>
          <a:xfrm>
            <a:off x="6400800" y="2688336"/>
            <a:ext cx="3916375" cy="51206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3   Aynı kütle, farklı alan</a:t>
            </a:r>
            <a:endParaRPr lang="en-US" sz="1300" dirty="0"/>
          </a:p>
        </p:txBody>
      </p:sp>
      <p:sp>
        <p:nvSpPr>
          <p:cNvPr id="17" name="Text 15"/>
          <p:cNvSpPr txBox="1"/>
          <p:nvPr/>
        </p:nvSpPr>
        <p:spPr>
          <a:xfrm>
            <a:off x="10362895" y="2688336"/>
            <a:ext cx="1005840" cy="512064"/>
          </a:xfrm>
          <a:prstGeom prst="rect">
            <a:avLst/>
          </a:prstGeom>
          <a:noFill/>
          <a:ln/>
        </p:spPr>
        <p:txBody>
          <a:bodyPr wrap="square" lIns="0" tIns="0" rIns="0" bIns="0" rtlCol="0" anchor="ctr"/>
          <a:lstStyle/>
          <a:p>
            <a:pPr algn="r" indent="0" marL="0">
              <a:buNone/>
            </a:pPr>
            <a:r>
              <a:rPr lang="en-US" sz="1050" b="1" spc="200" kern="0" dirty="0">
                <a:solidFill>
                  <a:srgbClr val="82AAFF"/>
                </a:solidFill>
                <a:latin typeface="Calibri" pitchFamily="34" charset="0"/>
                <a:ea typeface="Calibri" pitchFamily="34" charset="-122"/>
                <a:cs typeface="Calibri" pitchFamily="34" charset="-120"/>
              </a:rPr>
              <a:t>ORTA</a:t>
            </a:r>
            <a:endParaRPr lang="en-US" sz="1050" dirty="0"/>
          </a:p>
        </p:txBody>
      </p:sp>
      <p:sp>
        <p:nvSpPr>
          <p:cNvPr id="18" name="Shape 16"/>
          <p:cNvSpPr/>
          <p:nvPr/>
        </p:nvSpPr>
        <p:spPr>
          <a:xfrm>
            <a:off x="6172200" y="3291840"/>
            <a:ext cx="5379415" cy="512064"/>
          </a:xfrm>
          <a:prstGeom prst="roundRect">
            <a:avLst>
              <a:gd name="adj" fmla="val 17857"/>
            </a:avLst>
          </a:prstGeom>
          <a:solidFill>
            <a:srgbClr val="1C2542"/>
          </a:solidFill>
          <a:ln w="9525">
            <a:solidFill>
              <a:srgbClr val="2C3860"/>
            </a:solidFill>
            <a:prstDash val="solid"/>
          </a:ln>
        </p:spPr>
      </p:sp>
      <p:sp>
        <p:nvSpPr>
          <p:cNvPr id="19" name="Text 17"/>
          <p:cNvSpPr txBox="1"/>
          <p:nvPr/>
        </p:nvSpPr>
        <p:spPr>
          <a:xfrm>
            <a:off x="6400800" y="3291840"/>
            <a:ext cx="3916375" cy="51206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4   Direnç katsayısını bulma</a:t>
            </a:r>
            <a:endParaRPr lang="en-US" sz="1300" dirty="0"/>
          </a:p>
        </p:txBody>
      </p:sp>
      <p:sp>
        <p:nvSpPr>
          <p:cNvPr id="20" name="Text 18"/>
          <p:cNvSpPr txBox="1"/>
          <p:nvPr/>
        </p:nvSpPr>
        <p:spPr>
          <a:xfrm>
            <a:off x="10362895" y="3291840"/>
            <a:ext cx="1005840" cy="512064"/>
          </a:xfrm>
          <a:prstGeom prst="rect">
            <a:avLst/>
          </a:prstGeom>
          <a:noFill/>
          <a:ln/>
        </p:spPr>
        <p:txBody>
          <a:bodyPr wrap="square" lIns="0" tIns="0" rIns="0" bIns="0" rtlCol="0" anchor="ctr"/>
          <a:lstStyle/>
          <a:p>
            <a:pPr algn="r" indent="0" marL="0">
              <a:buNone/>
            </a:pPr>
            <a:r>
              <a:rPr lang="en-US" sz="1050" b="1" spc="200" kern="0" dirty="0">
                <a:solidFill>
                  <a:srgbClr val="82AAFF"/>
                </a:solidFill>
                <a:latin typeface="Calibri" pitchFamily="34" charset="0"/>
                <a:ea typeface="Calibri" pitchFamily="34" charset="-122"/>
                <a:cs typeface="Calibri" pitchFamily="34" charset="-120"/>
              </a:rPr>
              <a:t>ORTA</a:t>
            </a:r>
            <a:endParaRPr lang="en-US" sz="1050" dirty="0"/>
          </a:p>
        </p:txBody>
      </p:sp>
      <p:sp>
        <p:nvSpPr>
          <p:cNvPr id="21" name="Shape 19"/>
          <p:cNvSpPr/>
          <p:nvPr/>
        </p:nvSpPr>
        <p:spPr>
          <a:xfrm>
            <a:off x="6172200" y="3895344"/>
            <a:ext cx="5379415" cy="512064"/>
          </a:xfrm>
          <a:prstGeom prst="roundRect">
            <a:avLst>
              <a:gd name="adj" fmla="val 17857"/>
            </a:avLst>
          </a:prstGeom>
          <a:solidFill>
            <a:srgbClr val="1C2542"/>
          </a:solidFill>
          <a:ln w="9525">
            <a:solidFill>
              <a:srgbClr val="2C3860"/>
            </a:solidFill>
            <a:prstDash val="solid"/>
          </a:ln>
        </p:spPr>
      </p:sp>
      <p:sp>
        <p:nvSpPr>
          <p:cNvPr id="22" name="Text 20"/>
          <p:cNvSpPr txBox="1"/>
          <p:nvPr/>
        </p:nvSpPr>
        <p:spPr>
          <a:xfrm>
            <a:off x="6400800" y="3895344"/>
            <a:ext cx="3916375" cy="51206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5   Paraşüt açılınca</a:t>
            </a:r>
            <a:endParaRPr lang="en-US" sz="1300" dirty="0"/>
          </a:p>
        </p:txBody>
      </p:sp>
      <p:sp>
        <p:nvSpPr>
          <p:cNvPr id="23" name="Text 21"/>
          <p:cNvSpPr txBox="1"/>
          <p:nvPr/>
        </p:nvSpPr>
        <p:spPr>
          <a:xfrm>
            <a:off x="10362895" y="3895344"/>
            <a:ext cx="1005840" cy="512064"/>
          </a:xfrm>
          <a:prstGeom prst="rect">
            <a:avLst/>
          </a:prstGeom>
          <a:noFill/>
          <a:ln/>
        </p:spPr>
        <p:txBody>
          <a:bodyPr wrap="square" lIns="0" tIns="0" rIns="0" bIns="0" rtlCol="0" anchor="ctr"/>
          <a:lstStyle/>
          <a:p>
            <a:pPr algn="r" indent="0" marL="0">
              <a:buNone/>
            </a:pPr>
            <a:r>
              <a:rPr lang="en-US" sz="1050" b="1" spc="200" kern="0" dirty="0">
                <a:solidFill>
                  <a:srgbClr val="FF8FA3"/>
                </a:solidFill>
                <a:latin typeface="Calibri" pitchFamily="34" charset="0"/>
                <a:ea typeface="Calibri" pitchFamily="34" charset="-122"/>
                <a:cs typeface="Calibri" pitchFamily="34" charset="-120"/>
              </a:rPr>
              <a:t>ZOR</a:t>
            </a:r>
            <a:endParaRPr lang="en-US" sz="1050" dirty="0"/>
          </a:p>
        </p:txBody>
      </p:sp>
      <p:sp>
        <p:nvSpPr>
          <p:cNvPr id="24" name="Shape 22"/>
          <p:cNvSpPr/>
          <p:nvPr/>
        </p:nvSpPr>
        <p:spPr>
          <a:xfrm>
            <a:off x="6172200" y="4498848"/>
            <a:ext cx="5379415" cy="512064"/>
          </a:xfrm>
          <a:prstGeom prst="roundRect">
            <a:avLst>
              <a:gd name="adj" fmla="val 17857"/>
            </a:avLst>
          </a:prstGeom>
          <a:solidFill>
            <a:srgbClr val="1C2542"/>
          </a:solidFill>
          <a:ln w="9525">
            <a:solidFill>
              <a:srgbClr val="2C3860"/>
            </a:solidFill>
            <a:prstDash val="solid"/>
          </a:ln>
        </p:spPr>
      </p:sp>
      <p:sp>
        <p:nvSpPr>
          <p:cNvPr id="25" name="Text 23"/>
          <p:cNvSpPr txBox="1"/>
          <p:nvPr/>
        </p:nvSpPr>
        <p:spPr>
          <a:xfrm>
            <a:off x="6400800" y="4498848"/>
            <a:ext cx="3916375" cy="51206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6   Bir yağmur damlasının limit hızı</a:t>
            </a:r>
            <a:endParaRPr lang="en-US" sz="1300" dirty="0"/>
          </a:p>
        </p:txBody>
      </p:sp>
      <p:sp>
        <p:nvSpPr>
          <p:cNvPr id="26" name="Text 24"/>
          <p:cNvSpPr txBox="1"/>
          <p:nvPr/>
        </p:nvSpPr>
        <p:spPr>
          <a:xfrm>
            <a:off x="10362895" y="4498848"/>
            <a:ext cx="1005840" cy="512064"/>
          </a:xfrm>
          <a:prstGeom prst="rect">
            <a:avLst/>
          </a:prstGeom>
          <a:noFill/>
          <a:ln/>
        </p:spPr>
        <p:txBody>
          <a:bodyPr wrap="square" lIns="0" tIns="0" rIns="0" bIns="0" rtlCol="0" anchor="ctr"/>
          <a:lstStyle/>
          <a:p>
            <a:pPr algn="r" indent="0" marL="0">
              <a:buNone/>
            </a:pPr>
            <a:r>
              <a:rPr lang="en-US" sz="1050" b="1" spc="200" kern="0" dirty="0">
                <a:solidFill>
                  <a:srgbClr val="FF8FA3"/>
                </a:solidFill>
                <a:latin typeface="Calibri" pitchFamily="34" charset="0"/>
                <a:ea typeface="Calibri" pitchFamily="34" charset="-122"/>
                <a:cs typeface="Calibri" pitchFamily="34" charset="-120"/>
              </a:rPr>
              <a:t>ZOR</a:t>
            </a:r>
            <a:endParaRPr lang="en-US" sz="1050" dirty="0"/>
          </a:p>
        </p:txBody>
      </p:sp>
      <p:sp>
        <p:nvSpPr>
          <p:cNvPr id="27" name="Shape 25"/>
          <p:cNvSpPr/>
          <p:nvPr/>
        </p:nvSpPr>
        <p:spPr>
          <a:xfrm>
            <a:off x="640080" y="6382512"/>
            <a:ext cx="128016" cy="128016"/>
          </a:xfrm>
          <a:prstGeom prst="roundRect">
            <a:avLst>
              <a:gd name="adj" fmla="val 28571"/>
            </a:avLst>
          </a:prstGeom>
          <a:solidFill>
            <a:srgbClr val="C6F36B"/>
          </a:solidFill>
          <a:ln/>
        </p:spPr>
      </p:sp>
      <p:sp>
        <p:nvSpPr>
          <p:cNvPr id="28" name="Text 2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6A7798"/>
                </a:solidFill>
                <a:latin typeface="Calibri" pitchFamily="34" charset="0"/>
                <a:ea typeface="Calibri" pitchFamily="34" charset="-122"/>
                <a:cs typeface="Calibri" pitchFamily="34" charset="-120"/>
              </a:rPr>
              <a:t>dersler.perinet.org/limit-hiz.html</a:t>
            </a:r>
            <a:endParaRPr lang="en-US" sz="1050" dirty="0"/>
          </a:p>
        </p:txBody>
      </p:sp>
      <p:sp>
        <p:nvSpPr>
          <p:cNvPr id="29" name="Text 2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6A7798"/>
                </a:solidFill>
                <a:latin typeface="Calibri" pitchFamily="34" charset="0"/>
                <a:ea typeface="Calibri" pitchFamily="34" charset="-122"/>
                <a:cs typeface="Calibri" pitchFamily="34" charset="-120"/>
              </a:rPr>
              <a:t>33</a:t>
            </a:r>
            <a:endParaRPr lang="en-US" sz="10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Çözümlü örnek 1 / 6</a:t>
            </a:r>
            <a:endParaRPr lang="en-US" sz="3200" dirty="0"/>
          </a:p>
        </p:txBody>
      </p:sp>
      <p:sp>
        <p:nvSpPr>
          <p:cNvPr id="5" name="Shape 3"/>
          <p:cNvSpPr/>
          <p:nvPr/>
        </p:nvSpPr>
        <p:spPr>
          <a:xfrm>
            <a:off x="10408615" y="512064"/>
            <a:ext cx="1143000" cy="384048"/>
          </a:xfrm>
          <a:prstGeom prst="roundRect">
            <a:avLst>
              <a:gd name="adj" fmla="val 50000"/>
            </a:avLst>
          </a:prstGeom>
          <a:solidFill>
            <a:srgbClr val="EAF7DC"/>
          </a:solidFill>
          <a:ln w="9525">
            <a:solidFill>
              <a:srgbClr val="3C8C21"/>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Limit hızda kuvvetler  ·  Aşağıdaki çözümlerde g = 10 m/s² alınmıştır.</a:t>
            </a:r>
            <a:endParaRPr lang="en-US" sz="1450" dirty="0"/>
          </a:p>
        </p:txBody>
      </p:sp>
      <p:sp>
        <p:nvSpPr>
          <p:cNvPr id="8" name="Shape 6"/>
          <p:cNvSpPr/>
          <p:nvPr/>
        </p:nvSpPr>
        <p:spPr>
          <a:xfrm>
            <a:off x="640080" y="1627632"/>
            <a:ext cx="4297680" cy="4517136"/>
          </a:xfrm>
          <a:prstGeom prst="roundRect">
            <a:avLst>
              <a:gd name="adj" fmla="val 3404"/>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32688" y="1847088"/>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32688" y="2176272"/>
            <a:ext cx="3712464" cy="1493520"/>
          </a:xfrm>
          <a:prstGeom prst="rect">
            <a:avLst/>
          </a:prstGeom>
          <a:noFill/>
          <a:ln/>
        </p:spPr>
        <p:txBody>
          <a:bodyPr wrap="square" lIns="0" tIns="0" rIns="0" bIns="0" rtlCol="0" anchor="t"/>
          <a:lstStyle/>
          <a:p>
            <a:pPr indent="0" marL="0">
              <a:lnSpc>
                <a:spcPct val="118000"/>
              </a:lnSpc>
              <a:buNone/>
            </a:pPr>
            <a:r>
              <a:rPr lang="en-US" sz="1600" dirty="0">
                <a:solidFill>
                  <a:srgbClr val="0E1426"/>
                </a:solidFill>
                <a:latin typeface="Calibri" pitchFamily="34" charset="0"/>
                <a:ea typeface="Calibri" pitchFamily="34" charset="-122"/>
                <a:cs typeface="Calibri" pitchFamily="34" charset="-120"/>
              </a:rPr>
              <a:t>80 kg kütleli bir paraşütçü, paraşütü kapalıyken 50 m/s'lik limit hızıyla düşmektedir. (a) Bu anda hava direnci kaç N'dur? (b) İvmesi nedir?</a:t>
            </a:r>
            <a:endParaRPr lang="en-US" sz="1600" dirty="0"/>
          </a:p>
        </p:txBody>
      </p:sp>
      <p:sp>
        <p:nvSpPr>
          <p:cNvPr id="11" name="Shape 9"/>
          <p:cNvSpPr/>
          <p:nvPr/>
        </p:nvSpPr>
        <p:spPr>
          <a:xfrm>
            <a:off x="5212080" y="1627632"/>
            <a:ext cx="6339535" cy="1575514"/>
          </a:xfrm>
          <a:prstGeom prst="roundRect">
            <a:avLst>
              <a:gd name="adj" fmla="val 928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5449824" y="2223365"/>
            <a:ext cx="384048" cy="384048"/>
          </a:xfrm>
          <a:prstGeom prst="roundRect">
            <a:avLst>
              <a:gd name="adj" fmla="val 26000"/>
            </a:avLst>
          </a:prstGeom>
          <a:solidFill>
            <a:srgbClr val="A56209"/>
          </a:solidFill>
          <a:ln/>
        </p:spPr>
      </p:sp>
      <p:sp>
        <p:nvSpPr>
          <p:cNvPr id="13" name="Text 11"/>
          <p:cNvSpPr txBox="1"/>
          <p:nvPr/>
        </p:nvSpPr>
        <p:spPr>
          <a:xfrm>
            <a:off x="5449824" y="2223365"/>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a:t>
            </a:r>
            <a:endParaRPr lang="en-US" sz="1150" dirty="0"/>
          </a:p>
        </p:txBody>
      </p:sp>
      <p:sp>
        <p:nvSpPr>
          <p:cNvPr id="14" name="Text 12"/>
          <p:cNvSpPr txBox="1"/>
          <p:nvPr/>
        </p:nvSpPr>
        <p:spPr>
          <a:xfrm>
            <a:off x="5989320" y="1682496"/>
            <a:ext cx="5379415" cy="1465786"/>
          </a:xfrm>
          <a:prstGeom prst="rect">
            <a:avLst/>
          </a:prstGeom>
          <a:noFill/>
          <a:ln/>
        </p:spPr>
        <p:txBody>
          <a:bodyPr wrap="square" lIns="0" tIns="0" rIns="0" bIns="0" rtlCol="0" anchor="ctr"/>
          <a:lstStyle/>
          <a:p>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(a)</a:t>
            </a:r>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 Limit hızda net kuvvet sıfırdır: F</a:t>
            </a:r>
            <a:pPr indent="0" marL="0">
              <a:lnSpc>
                <a:spcPct val="112000"/>
              </a:lnSpc>
              <a:buNone/>
            </a:pPr>
            <a:r>
              <a:rPr lang="en-US" sz="1600" baseline="-40000" dirty="0">
                <a:solidFill>
                  <a:srgbClr val="4A5470"/>
                </a:solidFill>
                <a:latin typeface="Calibri" pitchFamily="34" charset="0"/>
                <a:ea typeface="Calibri" pitchFamily="34" charset="-122"/>
                <a:cs typeface="Calibri" pitchFamily="34" charset="-120"/>
              </a:rPr>
              <a:t>d</a:t>
            </a:r>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 = m·g = 80 · 10 = </a:t>
            </a:r>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800 N</a:t>
            </a:r>
            <a:endParaRPr lang="en-US" sz="1600" dirty="0"/>
          </a:p>
        </p:txBody>
      </p:sp>
      <p:sp>
        <p:nvSpPr>
          <p:cNvPr id="15" name="Shape 13"/>
          <p:cNvSpPr/>
          <p:nvPr/>
        </p:nvSpPr>
        <p:spPr>
          <a:xfrm>
            <a:off x="5212080" y="3349450"/>
            <a:ext cx="6339535" cy="1073501"/>
          </a:xfrm>
          <a:prstGeom prst="roundRect">
            <a:avLst>
              <a:gd name="adj" fmla="val 13629"/>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5449824" y="3694176"/>
            <a:ext cx="384048" cy="384048"/>
          </a:xfrm>
          <a:prstGeom prst="roundRect">
            <a:avLst>
              <a:gd name="adj" fmla="val 26000"/>
            </a:avLst>
          </a:prstGeom>
          <a:solidFill>
            <a:srgbClr val="A56209"/>
          </a:solidFill>
          <a:ln/>
        </p:spPr>
      </p:sp>
      <p:sp>
        <p:nvSpPr>
          <p:cNvPr id="17" name="Text 15"/>
          <p:cNvSpPr txBox="1"/>
          <p:nvPr/>
        </p:nvSpPr>
        <p:spPr>
          <a:xfrm>
            <a:off x="5449824" y="3694176"/>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2</a:t>
            </a:r>
            <a:endParaRPr lang="en-US" sz="1150" dirty="0"/>
          </a:p>
        </p:txBody>
      </p:sp>
      <p:sp>
        <p:nvSpPr>
          <p:cNvPr id="18" name="Text 16"/>
          <p:cNvSpPr txBox="1"/>
          <p:nvPr/>
        </p:nvSpPr>
        <p:spPr>
          <a:xfrm>
            <a:off x="5989320" y="3404314"/>
            <a:ext cx="5379415" cy="963773"/>
          </a:xfrm>
          <a:prstGeom prst="rect">
            <a:avLst/>
          </a:prstGeom>
          <a:noFill/>
          <a:ln/>
        </p:spPr>
        <p:txBody>
          <a:bodyPr wrap="square" lIns="0" tIns="0" rIns="0" bIns="0" rtlCol="0" anchor="ctr"/>
          <a:lstStyle/>
          <a:p>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(b)</a:t>
            </a:r>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 ΣF = 0 olduğu için </a:t>
            </a:r>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a = 0</a:t>
            </a:r>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'dır.</a:t>
            </a:r>
            <a:endParaRPr lang="en-US" sz="1600" dirty="0"/>
          </a:p>
        </p:txBody>
      </p:sp>
      <p:sp>
        <p:nvSpPr>
          <p:cNvPr id="19" name="Shape 17"/>
          <p:cNvSpPr/>
          <p:nvPr/>
        </p:nvSpPr>
        <p:spPr>
          <a:xfrm>
            <a:off x="5212080" y="4569254"/>
            <a:ext cx="6339535" cy="1575514"/>
          </a:xfrm>
          <a:prstGeom prst="roundRect">
            <a:avLst>
              <a:gd name="adj" fmla="val 928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0" name="Shape 18"/>
          <p:cNvSpPr/>
          <p:nvPr/>
        </p:nvSpPr>
        <p:spPr>
          <a:xfrm>
            <a:off x="5449824" y="5164987"/>
            <a:ext cx="384048" cy="384048"/>
          </a:xfrm>
          <a:prstGeom prst="roundRect">
            <a:avLst>
              <a:gd name="adj" fmla="val 26000"/>
            </a:avLst>
          </a:prstGeom>
          <a:solidFill>
            <a:srgbClr val="A56209"/>
          </a:solidFill>
          <a:ln/>
        </p:spPr>
      </p:sp>
      <p:sp>
        <p:nvSpPr>
          <p:cNvPr id="21" name="Text 19"/>
          <p:cNvSpPr txBox="1"/>
          <p:nvPr/>
        </p:nvSpPr>
        <p:spPr>
          <a:xfrm>
            <a:off x="5449824" y="5164987"/>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3</a:t>
            </a:r>
            <a:endParaRPr lang="en-US" sz="1150" dirty="0"/>
          </a:p>
        </p:txBody>
      </p:sp>
      <p:sp>
        <p:nvSpPr>
          <p:cNvPr id="22" name="Text 20"/>
          <p:cNvSpPr txBox="1"/>
          <p:nvPr/>
        </p:nvSpPr>
        <p:spPr>
          <a:xfrm>
            <a:off x="5989320" y="4624118"/>
            <a:ext cx="5379415" cy="1465786"/>
          </a:xfrm>
          <a:prstGeom prst="rect">
            <a:avLst/>
          </a:prstGeom>
          <a:noFill/>
          <a:ln/>
        </p:spPr>
        <p:txBody>
          <a:bodyPr wrap="square" lIns="0" tIns="0" rIns="0" bIns="0" rtlCol="0" anchor="ctr"/>
          <a:lstStyle/>
          <a:p>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Hız sıfır değildir: cisim 50 m/s ile düşmeye devam eder. Sabit olan hızdır, sıfır olan ivmedir.</a:t>
            </a:r>
            <a:endParaRPr lang="en-US" sz="1600" dirty="0"/>
          </a:p>
        </p:txBody>
      </p:sp>
      <p:sp>
        <p:nvSpPr>
          <p:cNvPr id="23" name="Shape 21"/>
          <p:cNvSpPr/>
          <p:nvPr/>
        </p:nvSpPr>
        <p:spPr>
          <a:xfrm>
            <a:off x="640080" y="6382512"/>
            <a:ext cx="128016" cy="128016"/>
          </a:xfrm>
          <a:prstGeom prst="roundRect">
            <a:avLst>
              <a:gd name="adj" fmla="val 28571"/>
            </a:avLst>
          </a:prstGeom>
          <a:solidFill>
            <a:srgbClr val="A9E648"/>
          </a:solidFill>
          <a:ln/>
        </p:spPr>
      </p:sp>
      <p:sp>
        <p:nvSpPr>
          <p:cNvPr id="24" name="Text 22"/>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dersler.perinet.org/limit-hiz.html</a:t>
            </a:r>
            <a:endParaRPr lang="en-US" sz="1050" dirty="0"/>
          </a:p>
        </p:txBody>
      </p:sp>
      <p:sp>
        <p:nvSpPr>
          <p:cNvPr id="25" name="Text 23"/>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34</a:t>
            </a:r>
            <a:endParaRPr lang="en-US" sz="10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Çözümlü örnek 2 / 6</a:t>
            </a:r>
            <a:endParaRPr lang="en-US" sz="3200" dirty="0"/>
          </a:p>
        </p:txBody>
      </p:sp>
      <p:sp>
        <p:nvSpPr>
          <p:cNvPr id="5" name="Shape 3"/>
          <p:cNvSpPr/>
          <p:nvPr/>
        </p:nvSpPr>
        <p:spPr>
          <a:xfrm>
            <a:off x="10408615" y="512064"/>
            <a:ext cx="1143000" cy="384048"/>
          </a:xfrm>
          <a:prstGeom prst="roundRect">
            <a:avLst>
              <a:gd name="adj" fmla="val 50000"/>
            </a:avLst>
          </a:prstGeom>
          <a:solidFill>
            <a:srgbClr val="EAF7DC"/>
          </a:solidFill>
          <a:ln w="9525">
            <a:solidFill>
              <a:srgbClr val="3C8C21"/>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Hızlanan bisikletli  ·  Aşağıdaki çözümlerde g = 10 m/s² alınmıştır.</a:t>
            </a:r>
            <a:endParaRPr lang="en-US" sz="1450" dirty="0"/>
          </a:p>
        </p:txBody>
      </p:sp>
      <p:sp>
        <p:nvSpPr>
          <p:cNvPr id="8" name="Shape 6"/>
          <p:cNvSpPr/>
          <p:nvPr/>
        </p:nvSpPr>
        <p:spPr>
          <a:xfrm>
            <a:off x="640080" y="1627632"/>
            <a:ext cx="4297680" cy="4517136"/>
          </a:xfrm>
          <a:prstGeom prst="roundRect">
            <a:avLst>
              <a:gd name="adj" fmla="val 3404"/>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32688" y="1847088"/>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32688" y="2176272"/>
            <a:ext cx="3712464" cy="1773936"/>
          </a:xfrm>
          <a:prstGeom prst="rect">
            <a:avLst/>
          </a:prstGeom>
          <a:noFill/>
          <a:ln/>
        </p:spPr>
        <p:txBody>
          <a:bodyPr wrap="square" lIns="0" tIns="0" rIns="0" bIns="0" rtlCol="0" anchor="t"/>
          <a:lstStyle/>
          <a:p>
            <a:pPr indent="0" marL="0">
              <a:lnSpc>
                <a:spcPct val="118000"/>
              </a:lnSpc>
              <a:buNone/>
            </a:pPr>
            <a:r>
              <a:rPr lang="en-US" sz="1600" dirty="0">
                <a:solidFill>
                  <a:srgbClr val="0E1426"/>
                </a:solidFill>
                <a:latin typeface="Calibri" pitchFamily="34" charset="0"/>
                <a:ea typeface="Calibri" pitchFamily="34" charset="-122"/>
                <a:cs typeface="Calibri" pitchFamily="34" charset="-120"/>
              </a:rPr>
              <a:t>Bir bisikletli 5 m/s hızla giderken 8 N'luk hava direnciyle karşılaşıyor. (a) Direnç katsayısı k kaçtır? Hızını (b) 10 m/s'ye, (c) 15 m/s'ye çıkarırsa hava direnci kaç N olur?</a:t>
            </a:r>
            <a:endParaRPr lang="en-US" sz="1600" dirty="0"/>
          </a:p>
        </p:txBody>
      </p:sp>
      <p:sp>
        <p:nvSpPr>
          <p:cNvPr id="11" name="Shape 9"/>
          <p:cNvSpPr/>
          <p:nvPr/>
        </p:nvSpPr>
        <p:spPr>
          <a:xfrm>
            <a:off x="5212080" y="1627632"/>
            <a:ext cx="6339535" cy="754818"/>
          </a:xfrm>
          <a:prstGeom prst="roundRect">
            <a:avLst>
              <a:gd name="adj" fmla="val 19383"/>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5449824" y="1813017"/>
            <a:ext cx="384048" cy="384048"/>
          </a:xfrm>
          <a:prstGeom prst="roundRect">
            <a:avLst>
              <a:gd name="adj" fmla="val 26000"/>
            </a:avLst>
          </a:prstGeom>
          <a:solidFill>
            <a:srgbClr val="A56209"/>
          </a:solidFill>
          <a:ln/>
        </p:spPr>
      </p:sp>
      <p:sp>
        <p:nvSpPr>
          <p:cNvPr id="13" name="Text 11"/>
          <p:cNvSpPr txBox="1"/>
          <p:nvPr/>
        </p:nvSpPr>
        <p:spPr>
          <a:xfrm>
            <a:off x="5449824" y="1813017"/>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a:t>
            </a:r>
            <a:endParaRPr lang="en-US" sz="1150" dirty="0"/>
          </a:p>
        </p:txBody>
      </p:sp>
      <p:sp>
        <p:nvSpPr>
          <p:cNvPr id="14" name="Text 12"/>
          <p:cNvSpPr txBox="1"/>
          <p:nvPr/>
        </p:nvSpPr>
        <p:spPr>
          <a:xfrm>
            <a:off x="5989320" y="1682496"/>
            <a:ext cx="5379415" cy="645090"/>
          </a:xfrm>
          <a:prstGeom prst="rect">
            <a:avLst/>
          </a:prstGeom>
          <a:noFill/>
          <a:ln/>
        </p:spPr>
        <p:txBody>
          <a:bodyPr wrap="square" lIns="0" tIns="0" rIns="0" bIns="0" rtlCol="0" anchor="ctr"/>
          <a:lstStyle/>
          <a:p>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(a)</a:t>
            </a:r>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 F</a:t>
            </a:r>
            <a:pPr indent="0" marL="0">
              <a:lnSpc>
                <a:spcPct val="112000"/>
              </a:lnSpc>
              <a:buNone/>
            </a:pPr>
            <a:r>
              <a:rPr lang="en-US" sz="1600" baseline="-40000" dirty="0">
                <a:solidFill>
                  <a:srgbClr val="4A5470"/>
                </a:solidFill>
                <a:latin typeface="Calibri" pitchFamily="34" charset="0"/>
                <a:ea typeface="Calibri" pitchFamily="34" charset="-122"/>
                <a:cs typeface="Calibri" pitchFamily="34" charset="-120"/>
              </a:rPr>
              <a:t>d</a:t>
            </a:r>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 = k·v² → k = 8 / 5² = 8 / 25 = </a:t>
            </a:r>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0,32 kg/m</a:t>
            </a:r>
            <a:endParaRPr lang="en-US" sz="1600" dirty="0"/>
          </a:p>
        </p:txBody>
      </p:sp>
      <p:sp>
        <p:nvSpPr>
          <p:cNvPr id="15" name="Shape 13"/>
          <p:cNvSpPr/>
          <p:nvPr/>
        </p:nvSpPr>
        <p:spPr>
          <a:xfrm>
            <a:off x="5212080" y="2528754"/>
            <a:ext cx="6339535" cy="1107802"/>
          </a:xfrm>
          <a:prstGeom prst="roundRect">
            <a:avLst>
              <a:gd name="adj" fmla="val 13207"/>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5449824" y="2890631"/>
            <a:ext cx="384048" cy="384048"/>
          </a:xfrm>
          <a:prstGeom prst="roundRect">
            <a:avLst>
              <a:gd name="adj" fmla="val 26000"/>
            </a:avLst>
          </a:prstGeom>
          <a:solidFill>
            <a:srgbClr val="A56209"/>
          </a:solidFill>
          <a:ln/>
        </p:spPr>
      </p:sp>
      <p:sp>
        <p:nvSpPr>
          <p:cNvPr id="17" name="Text 15"/>
          <p:cNvSpPr txBox="1"/>
          <p:nvPr/>
        </p:nvSpPr>
        <p:spPr>
          <a:xfrm>
            <a:off x="5449824" y="2890631"/>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2</a:t>
            </a:r>
            <a:endParaRPr lang="en-US" sz="1150" dirty="0"/>
          </a:p>
        </p:txBody>
      </p:sp>
      <p:sp>
        <p:nvSpPr>
          <p:cNvPr id="18" name="Text 16"/>
          <p:cNvSpPr txBox="1"/>
          <p:nvPr/>
        </p:nvSpPr>
        <p:spPr>
          <a:xfrm>
            <a:off x="5989320" y="2583618"/>
            <a:ext cx="5379415" cy="998074"/>
          </a:xfrm>
          <a:prstGeom prst="rect">
            <a:avLst/>
          </a:prstGeom>
          <a:noFill/>
          <a:ln/>
        </p:spPr>
        <p:txBody>
          <a:bodyPr wrap="square" lIns="0" tIns="0" rIns="0" bIns="0" rtlCol="0" anchor="ctr"/>
          <a:lstStyle/>
          <a:p>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(b)</a:t>
            </a:r>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 Hız 2 katı → direnç 2² = 4 katı: 4 · 8 = </a:t>
            </a:r>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32 N</a:t>
            </a:r>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 (kontrol: 0,32 · 100 = 32 N ✓)</a:t>
            </a:r>
            <a:endParaRPr lang="en-US" sz="1600" dirty="0"/>
          </a:p>
        </p:txBody>
      </p:sp>
      <p:sp>
        <p:nvSpPr>
          <p:cNvPr id="19" name="Shape 17"/>
          <p:cNvSpPr/>
          <p:nvPr/>
        </p:nvSpPr>
        <p:spPr>
          <a:xfrm>
            <a:off x="5212080" y="3782860"/>
            <a:ext cx="6339535" cy="754818"/>
          </a:xfrm>
          <a:prstGeom prst="roundRect">
            <a:avLst>
              <a:gd name="adj" fmla="val 19383"/>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0" name="Shape 18"/>
          <p:cNvSpPr/>
          <p:nvPr/>
        </p:nvSpPr>
        <p:spPr>
          <a:xfrm>
            <a:off x="5449824" y="3968245"/>
            <a:ext cx="384048" cy="384048"/>
          </a:xfrm>
          <a:prstGeom prst="roundRect">
            <a:avLst>
              <a:gd name="adj" fmla="val 26000"/>
            </a:avLst>
          </a:prstGeom>
          <a:solidFill>
            <a:srgbClr val="A56209"/>
          </a:solidFill>
          <a:ln/>
        </p:spPr>
      </p:sp>
      <p:sp>
        <p:nvSpPr>
          <p:cNvPr id="21" name="Text 19"/>
          <p:cNvSpPr txBox="1"/>
          <p:nvPr/>
        </p:nvSpPr>
        <p:spPr>
          <a:xfrm>
            <a:off x="5449824" y="3968245"/>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3</a:t>
            </a:r>
            <a:endParaRPr lang="en-US" sz="1150" dirty="0"/>
          </a:p>
        </p:txBody>
      </p:sp>
      <p:sp>
        <p:nvSpPr>
          <p:cNvPr id="22" name="Text 20"/>
          <p:cNvSpPr txBox="1"/>
          <p:nvPr/>
        </p:nvSpPr>
        <p:spPr>
          <a:xfrm>
            <a:off x="5989320" y="3837724"/>
            <a:ext cx="5379415" cy="645090"/>
          </a:xfrm>
          <a:prstGeom prst="rect">
            <a:avLst/>
          </a:prstGeom>
          <a:noFill/>
          <a:ln/>
        </p:spPr>
        <p:txBody>
          <a:bodyPr wrap="square" lIns="0" tIns="0" rIns="0" bIns="0" rtlCol="0" anchor="ctr"/>
          <a:lstStyle/>
          <a:p>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(c)</a:t>
            </a:r>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 Hız 3 katı → direnç 3² = 9 katı: 9 · 8 = </a:t>
            </a:r>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72 N</a:t>
            </a:r>
            <a:endParaRPr lang="en-US" sz="1600" dirty="0"/>
          </a:p>
        </p:txBody>
      </p:sp>
      <p:sp>
        <p:nvSpPr>
          <p:cNvPr id="23" name="Shape 21"/>
          <p:cNvSpPr/>
          <p:nvPr/>
        </p:nvSpPr>
        <p:spPr>
          <a:xfrm>
            <a:off x="5212080" y="4683982"/>
            <a:ext cx="6339535" cy="1460786"/>
          </a:xfrm>
          <a:prstGeom prst="roundRect">
            <a:avLst>
              <a:gd name="adj" fmla="val 10015"/>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4" name="Shape 22"/>
          <p:cNvSpPr/>
          <p:nvPr/>
        </p:nvSpPr>
        <p:spPr>
          <a:xfrm>
            <a:off x="5449824" y="5222351"/>
            <a:ext cx="384048" cy="384048"/>
          </a:xfrm>
          <a:prstGeom prst="roundRect">
            <a:avLst>
              <a:gd name="adj" fmla="val 26000"/>
            </a:avLst>
          </a:prstGeom>
          <a:solidFill>
            <a:srgbClr val="A56209"/>
          </a:solidFill>
          <a:ln/>
        </p:spPr>
      </p:sp>
      <p:sp>
        <p:nvSpPr>
          <p:cNvPr id="25" name="Text 23"/>
          <p:cNvSpPr txBox="1"/>
          <p:nvPr/>
        </p:nvSpPr>
        <p:spPr>
          <a:xfrm>
            <a:off x="5449824" y="5222351"/>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4</a:t>
            </a:r>
            <a:endParaRPr lang="en-US" sz="1150" dirty="0"/>
          </a:p>
        </p:txBody>
      </p:sp>
      <p:sp>
        <p:nvSpPr>
          <p:cNvPr id="26" name="Text 24"/>
          <p:cNvSpPr txBox="1"/>
          <p:nvPr/>
        </p:nvSpPr>
        <p:spPr>
          <a:xfrm>
            <a:off x="5989320" y="4738846"/>
            <a:ext cx="5379415" cy="1351058"/>
          </a:xfrm>
          <a:prstGeom prst="rect">
            <a:avLst/>
          </a:prstGeom>
          <a:noFill/>
          <a:ln/>
        </p:spPr>
        <p:txBody>
          <a:bodyPr wrap="square" lIns="0" tIns="0" rIns="0" bIns="0" rtlCol="0" anchor="ctr"/>
          <a:lstStyle/>
          <a:p>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Hızı üç katına çıkarmak dokuz kat direnç demektir; yarış bisikletçileri gövdelerini öne eğip A'yı bu yüzden küçültür.</a:t>
            </a:r>
            <a:endParaRPr lang="en-US" sz="1600" dirty="0"/>
          </a:p>
        </p:txBody>
      </p:sp>
      <p:sp>
        <p:nvSpPr>
          <p:cNvPr id="27" name="Shape 25"/>
          <p:cNvSpPr/>
          <p:nvPr/>
        </p:nvSpPr>
        <p:spPr>
          <a:xfrm>
            <a:off x="640080" y="6382512"/>
            <a:ext cx="128016" cy="128016"/>
          </a:xfrm>
          <a:prstGeom prst="roundRect">
            <a:avLst>
              <a:gd name="adj" fmla="val 28571"/>
            </a:avLst>
          </a:prstGeom>
          <a:solidFill>
            <a:srgbClr val="A9E648"/>
          </a:solidFill>
          <a:ln/>
        </p:spPr>
      </p:sp>
      <p:sp>
        <p:nvSpPr>
          <p:cNvPr id="28" name="Text 2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dersler.perinet.org/limit-hiz.html</a:t>
            </a:r>
            <a:endParaRPr lang="en-US" sz="1050" dirty="0"/>
          </a:p>
        </p:txBody>
      </p:sp>
      <p:sp>
        <p:nvSpPr>
          <p:cNvPr id="29" name="Text 2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35</a:t>
            </a:r>
            <a:endParaRPr lang="en-US" sz="10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Çözümlü örnek 3 / 6</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Aynı kütle, farklı alan  ·  Aşağıdaki çözümlerde g = 10 m/s² alınmıştır.</a:t>
            </a:r>
            <a:endParaRPr lang="en-US" sz="1450" dirty="0"/>
          </a:p>
        </p:txBody>
      </p:sp>
      <p:sp>
        <p:nvSpPr>
          <p:cNvPr id="8" name="Shape 6"/>
          <p:cNvSpPr/>
          <p:nvPr/>
        </p:nvSpPr>
        <p:spPr>
          <a:xfrm>
            <a:off x="640080" y="1627632"/>
            <a:ext cx="4297680" cy="4517136"/>
          </a:xfrm>
          <a:prstGeom prst="roundRect">
            <a:avLst>
              <a:gd name="adj" fmla="val 3404"/>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32688" y="1847088"/>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32688" y="2176272"/>
            <a:ext cx="3712464" cy="1493520"/>
          </a:xfrm>
          <a:prstGeom prst="rect">
            <a:avLst/>
          </a:prstGeom>
          <a:noFill/>
          <a:ln/>
        </p:spPr>
        <p:txBody>
          <a:bodyPr wrap="square" lIns="0" tIns="0" rIns="0" bIns="0" rtlCol="0" anchor="t"/>
          <a:lstStyle/>
          <a:p>
            <a:pPr indent="0" marL="0">
              <a:lnSpc>
                <a:spcPct val="118000"/>
              </a:lnSpc>
              <a:buNone/>
            </a:pPr>
            <a:r>
              <a:rPr lang="en-US" sz="1600" dirty="0">
                <a:solidFill>
                  <a:srgbClr val="0E1426"/>
                </a:solidFill>
                <a:latin typeface="Calibri" pitchFamily="34" charset="0"/>
                <a:ea typeface="Calibri" pitchFamily="34" charset="-122"/>
                <a:cs typeface="Calibri" pitchFamily="34" charset="-120"/>
              </a:rPr>
              <a:t>Aynı kâğıttan yapılmış açık bir levha ile buruşturulmuş bir top düşünelim. Buruşturunca kesit alanı dokuzda birine iniyorsa limit hız nasıl değişir?</a:t>
            </a:r>
            <a:endParaRPr lang="en-US" sz="1600" dirty="0"/>
          </a:p>
        </p:txBody>
      </p:sp>
      <p:sp>
        <p:nvSpPr>
          <p:cNvPr id="11" name="Shape 9"/>
          <p:cNvSpPr/>
          <p:nvPr/>
        </p:nvSpPr>
        <p:spPr>
          <a:xfrm>
            <a:off x="5212080" y="1627632"/>
            <a:ext cx="6339535" cy="1073501"/>
          </a:xfrm>
          <a:prstGeom prst="roundRect">
            <a:avLst>
              <a:gd name="adj" fmla="val 13629"/>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5449824" y="1972358"/>
            <a:ext cx="384048" cy="384048"/>
          </a:xfrm>
          <a:prstGeom prst="roundRect">
            <a:avLst>
              <a:gd name="adj" fmla="val 26000"/>
            </a:avLst>
          </a:prstGeom>
          <a:solidFill>
            <a:srgbClr val="A56209"/>
          </a:solidFill>
          <a:ln/>
        </p:spPr>
      </p:sp>
      <p:sp>
        <p:nvSpPr>
          <p:cNvPr id="13" name="Text 11"/>
          <p:cNvSpPr txBox="1"/>
          <p:nvPr/>
        </p:nvSpPr>
        <p:spPr>
          <a:xfrm>
            <a:off x="5449824" y="1972358"/>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a:t>
            </a:r>
            <a:endParaRPr lang="en-US" sz="1150" dirty="0"/>
          </a:p>
        </p:txBody>
      </p:sp>
      <p:sp>
        <p:nvSpPr>
          <p:cNvPr id="14" name="Text 12"/>
          <p:cNvSpPr txBox="1"/>
          <p:nvPr/>
        </p:nvSpPr>
        <p:spPr>
          <a:xfrm>
            <a:off x="5989320" y="1682496"/>
            <a:ext cx="5379415" cy="963773"/>
          </a:xfrm>
          <a:prstGeom prst="rect">
            <a:avLst/>
          </a:prstGeom>
          <a:noFill/>
          <a:ln/>
        </p:spPr>
        <p:txBody>
          <a:bodyPr wrap="square" lIns="0" tIns="0" rIns="0" bIns="0" rtlCol="0" anchor="ctr"/>
          <a:lstStyle/>
          <a:p>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Kütle değişmedi; yalnızca A küçüldü: A → A/9</a:t>
            </a:r>
            <a:endParaRPr lang="en-US" sz="1600" dirty="0"/>
          </a:p>
        </p:txBody>
      </p:sp>
      <p:sp>
        <p:nvSpPr>
          <p:cNvPr id="15" name="Shape 13"/>
          <p:cNvSpPr/>
          <p:nvPr/>
        </p:nvSpPr>
        <p:spPr>
          <a:xfrm>
            <a:off x="5212080" y="2847437"/>
            <a:ext cx="6339535" cy="1575514"/>
          </a:xfrm>
          <a:prstGeom prst="roundRect">
            <a:avLst>
              <a:gd name="adj" fmla="val 928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5449824" y="3443170"/>
            <a:ext cx="384048" cy="384048"/>
          </a:xfrm>
          <a:prstGeom prst="roundRect">
            <a:avLst>
              <a:gd name="adj" fmla="val 26000"/>
            </a:avLst>
          </a:prstGeom>
          <a:solidFill>
            <a:srgbClr val="A56209"/>
          </a:solidFill>
          <a:ln/>
        </p:spPr>
      </p:sp>
      <p:sp>
        <p:nvSpPr>
          <p:cNvPr id="17" name="Text 15"/>
          <p:cNvSpPr txBox="1"/>
          <p:nvPr/>
        </p:nvSpPr>
        <p:spPr>
          <a:xfrm>
            <a:off x="5449824" y="3443170"/>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2</a:t>
            </a:r>
            <a:endParaRPr lang="en-US" sz="1150" dirty="0"/>
          </a:p>
        </p:txBody>
      </p:sp>
      <p:sp>
        <p:nvSpPr>
          <p:cNvPr id="18" name="Text 16"/>
          <p:cNvSpPr txBox="1"/>
          <p:nvPr/>
        </p:nvSpPr>
        <p:spPr>
          <a:xfrm>
            <a:off x="5989320" y="2902301"/>
            <a:ext cx="5379415" cy="1465786"/>
          </a:xfrm>
          <a:prstGeom prst="rect">
            <a:avLst/>
          </a:prstGeom>
          <a:noFill/>
          <a:ln/>
        </p:spPr>
        <p:txBody>
          <a:bodyPr wrap="square" lIns="0" tIns="0" rIns="0" bIns="0" rtlCol="0" anchor="ctr"/>
          <a:lstStyle/>
          <a:p>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v</a:t>
            </a:r>
            <a:pPr indent="0" marL="0">
              <a:lnSpc>
                <a:spcPct val="112000"/>
              </a:lnSpc>
              <a:buNone/>
            </a:pPr>
            <a:r>
              <a:rPr lang="en-US" sz="1600" baseline="-40000" dirty="0">
                <a:solidFill>
                  <a:srgbClr val="4A5470"/>
                </a:solidFill>
                <a:latin typeface="Calibri" pitchFamily="34" charset="0"/>
                <a:ea typeface="Calibri" pitchFamily="34" charset="-122"/>
                <a:cs typeface="Calibri" pitchFamily="34" charset="-120"/>
              </a:rPr>
              <a:t>l</a:t>
            </a:r>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 = √(2mg / (ρCA)) ∝ 1/√A → A dokuzda birine inince v</a:t>
            </a:r>
            <a:pPr indent="0" marL="0">
              <a:lnSpc>
                <a:spcPct val="112000"/>
              </a:lnSpc>
              <a:buNone/>
            </a:pPr>
            <a:r>
              <a:rPr lang="en-US" sz="1600" baseline="-40000" dirty="0">
                <a:solidFill>
                  <a:srgbClr val="4A5470"/>
                </a:solidFill>
                <a:latin typeface="Calibri" pitchFamily="34" charset="0"/>
                <a:ea typeface="Calibri" pitchFamily="34" charset="-122"/>
                <a:cs typeface="Calibri" pitchFamily="34" charset="-120"/>
              </a:rPr>
              <a:t>l</a:t>
            </a:r>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 </a:t>
            </a:r>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3 katına</a:t>
            </a:r>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 çıkar.</a:t>
            </a:r>
            <a:endParaRPr lang="en-US" sz="1600" dirty="0"/>
          </a:p>
        </p:txBody>
      </p:sp>
      <p:sp>
        <p:nvSpPr>
          <p:cNvPr id="19" name="Shape 17"/>
          <p:cNvSpPr/>
          <p:nvPr/>
        </p:nvSpPr>
        <p:spPr>
          <a:xfrm>
            <a:off x="5212080" y="4569254"/>
            <a:ext cx="6339535" cy="1575514"/>
          </a:xfrm>
          <a:prstGeom prst="roundRect">
            <a:avLst>
              <a:gd name="adj" fmla="val 928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0" name="Shape 18"/>
          <p:cNvSpPr/>
          <p:nvPr/>
        </p:nvSpPr>
        <p:spPr>
          <a:xfrm>
            <a:off x="5449824" y="5164987"/>
            <a:ext cx="384048" cy="384048"/>
          </a:xfrm>
          <a:prstGeom prst="roundRect">
            <a:avLst>
              <a:gd name="adj" fmla="val 26000"/>
            </a:avLst>
          </a:prstGeom>
          <a:solidFill>
            <a:srgbClr val="A56209"/>
          </a:solidFill>
          <a:ln/>
        </p:spPr>
      </p:sp>
      <p:sp>
        <p:nvSpPr>
          <p:cNvPr id="21" name="Text 19"/>
          <p:cNvSpPr txBox="1"/>
          <p:nvPr/>
        </p:nvSpPr>
        <p:spPr>
          <a:xfrm>
            <a:off x="5449824" y="5164987"/>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3</a:t>
            </a:r>
            <a:endParaRPr lang="en-US" sz="1150" dirty="0"/>
          </a:p>
        </p:txBody>
      </p:sp>
      <p:sp>
        <p:nvSpPr>
          <p:cNvPr id="22" name="Text 20"/>
          <p:cNvSpPr txBox="1"/>
          <p:nvPr/>
        </p:nvSpPr>
        <p:spPr>
          <a:xfrm>
            <a:off x="5989320" y="4624118"/>
            <a:ext cx="5379415" cy="1465786"/>
          </a:xfrm>
          <a:prstGeom prst="rect">
            <a:avLst/>
          </a:prstGeom>
          <a:noFill/>
          <a:ln/>
        </p:spPr>
        <p:txBody>
          <a:bodyPr wrap="square" lIns="0" tIns="0" rIns="0" bIns="0" rtlCol="0" anchor="ctr"/>
          <a:lstStyle/>
          <a:p>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Bu yüzden buruşturulmuş kâğıt, açık kâğıttan çok daha hızlı düşer — kütleleri aynı olmasına rağmen.</a:t>
            </a:r>
            <a:endParaRPr lang="en-US" sz="1600" dirty="0"/>
          </a:p>
        </p:txBody>
      </p:sp>
      <p:sp>
        <p:nvSpPr>
          <p:cNvPr id="23" name="Shape 21"/>
          <p:cNvSpPr/>
          <p:nvPr/>
        </p:nvSpPr>
        <p:spPr>
          <a:xfrm>
            <a:off x="640080" y="6382512"/>
            <a:ext cx="128016" cy="128016"/>
          </a:xfrm>
          <a:prstGeom prst="roundRect">
            <a:avLst>
              <a:gd name="adj" fmla="val 28571"/>
            </a:avLst>
          </a:prstGeom>
          <a:solidFill>
            <a:srgbClr val="A9E648"/>
          </a:solidFill>
          <a:ln/>
        </p:spPr>
      </p:sp>
      <p:sp>
        <p:nvSpPr>
          <p:cNvPr id="24" name="Text 22"/>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dersler.perinet.org/limit-hiz.html</a:t>
            </a:r>
            <a:endParaRPr lang="en-US" sz="1050" dirty="0"/>
          </a:p>
        </p:txBody>
      </p:sp>
      <p:sp>
        <p:nvSpPr>
          <p:cNvPr id="25" name="Text 23"/>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36</a:t>
            </a:r>
            <a:endParaRPr lang="en-US" sz="10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Çözümlü örnek 4 / 6</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Direnç katsayısını bulma  ·  Aşağıdaki çözümlerde g = 10 m/s² alınmıştır.</a:t>
            </a:r>
            <a:endParaRPr lang="en-US" sz="1450" dirty="0"/>
          </a:p>
        </p:txBody>
      </p:sp>
      <p:sp>
        <p:nvSpPr>
          <p:cNvPr id="8" name="Shape 6"/>
          <p:cNvSpPr/>
          <p:nvPr/>
        </p:nvSpPr>
        <p:spPr>
          <a:xfrm>
            <a:off x="640080" y="1627632"/>
            <a:ext cx="4297680" cy="4517136"/>
          </a:xfrm>
          <a:prstGeom prst="roundRect">
            <a:avLst>
              <a:gd name="adj" fmla="val 3404"/>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32688" y="1847088"/>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32688" y="2176272"/>
            <a:ext cx="3712464" cy="1213104"/>
          </a:xfrm>
          <a:prstGeom prst="rect">
            <a:avLst/>
          </a:prstGeom>
          <a:noFill/>
          <a:ln/>
        </p:spPr>
        <p:txBody>
          <a:bodyPr wrap="square" lIns="0" tIns="0" rIns="0" bIns="0" rtlCol="0" anchor="t"/>
          <a:lstStyle/>
          <a:p>
            <a:pPr indent="0" marL="0">
              <a:lnSpc>
                <a:spcPct val="118000"/>
              </a:lnSpc>
              <a:buNone/>
            </a:pPr>
            <a:r>
              <a:rPr lang="en-US" sz="1600" dirty="0">
                <a:solidFill>
                  <a:srgbClr val="0E1426"/>
                </a:solidFill>
                <a:latin typeface="Calibri" pitchFamily="34" charset="0"/>
                <a:ea typeface="Calibri" pitchFamily="34" charset="-122"/>
                <a:cs typeface="Calibri" pitchFamily="34" charset="-120"/>
              </a:rPr>
              <a:t>Bir cismin kütlesi 2 kg, limit hızı 20 m/s ölçülüyor. Direnç F</a:t>
            </a:r>
            <a:pPr indent="0" marL="0">
              <a:lnSpc>
                <a:spcPct val="118000"/>
              </a:lnSpc>
              <a:buNone/>
            </a:pPr>
            <a:r>
              <a:rPr lang="en-US" sz="1600" baseline="-40000" dirty="0">
                <a:solidFill>
                  <a:srgbClr val="0E1426"/>
                </a:solidFill>
                <a:latin typeface="Calibri" pitchFamily="34" charset="0"/>
                <a:ea typeface="Calibri" pitchFamily="34" charset="-122"/>
                <a:cs typeface="Calibri" pitchFamily="34" charset="-120"/>
              </a:rPr>
              <a:t>d</a:t>
            </a:r>
            <a:pPr indent="0" marL="0">
              <a:lnSpc>
                <a:spcPct val="118000"/>
              </a:lnSpc>
              <a:buNone/>
            </a:pPr>
            <a:r>
              <a:rPr lang="en-US" sz="1600" dirty="0">
                <a:solidFill>
                  <a:srgbClr val="0E1426"/>
                </a:solidFill>
                <a:latin typeface="Calibri" pitchFamily="34" charset="0"/>
                <a:ea typeface="Calibri" pitchFamily="34" charset="-122"/>
                <a:cs typeface="Calibri" pitchFamily="34" charset="-120"/>
              </a:rPr>
              <a:t> = k·v² modeliyle veriliyorsa k kaçtır? Hız 10 m/s iken ivme ne olur?</a:t>
            </a:r>
            <a:endParaRPr lang="en-US" sz="1600" dirty="0"/>
          </a:p>
        </p:txBody>
      </p:sp>
      <p:sp>
        <p:nvSpPr>
          <p:cNvPr id="11" name="Shape 9"/>
          <p:cNvSpPr/>
          <p:nvPr/>
        </p:nvSpPr>
        <p:spPr>
          <a:xfrm>
            <a:off x="5212080" y="1627632"/>
            <a:ext cx="6339535" cy="1212771"/>
          </a:xfrm>
          <a:prstGeom prst="roundRect">
            <a:avLst>
              <a:gd name="adj" fmla="val 12064"/>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5449824" y="2041994"/>
            <a:ext cx="384048" cy="384048"/>
          </a:xfrm>
          <a:prstGeom prst="roundRect">
            <a:avLst>
              <a:gd name="adj" fmla="val 26000"/>
            </a:avLst>
          </a:prstGeom>
          <a:solidFill>
            <a:srgbClr val="A56209"/>
          </a:solidFill>
          <a:ln/>
        </p:spPr>
      </p:sp>
      <p:sp>
        <p:nvSpPr>
          <p:cNvPr id="13" name="Text 11"/>
          <p:cNvSpPr txBox="1"/>
          <p:nvPr/>
        </p:nvSpPr>
        <p:spPr>
          <a:xfrm>
            <a:off x="5449824" y="2041994"/>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a:t>
            </a:r>
            <a:endParaRPr lang="en-US" sz="1150" dirty="0"/>
          </a:p>
        </p:txBody>
      </p:sp>
      <p:sp>
        <p:nvSpPr>
          <p:cNvPr id="14" name="Text 12"/>
          <p:cNvSpPr txBox="1"/>
          <p:nvPr/>
        </p:nvSpPr>
        <p:spPr>
          <a:xfrm>
            <a:off x="5989320" y="1682496"/>
            <a:ext cx="5379415" cy="1103043"/>
          </a:xfrm>
          <a:prstGeom prst="rect">
            <a:avLst/>
          </a:prstGeom>
          <a:noFill/>
          <a:ln/>
        </p:spPr>
        <p:txBody>
          <a:bodyPr wrap="square" lIns="0" tIns="0" rIns="0" bIns="0" rtlCol="0" anchor="ctr"/>
          <a:lstStyle/>
          <a:p>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Limit hızda: m·g = k·v</a:t>
            </a:r>
            <a:pPr indent="0" marL="0">
              <a:lnSpc>
                <a:spcPct val="112000"/>
              </a:lnSpc>
              <a:buNone/>
            </a:pPr>
            <a:r>
              <a:rPr lang="en-US" sz="1600" baseline="-40000" dirty="0">
                <a:solidFill>
                  <a:srgbClr val="4A5470"/>
                </a:solidFill>
                <a:latin typeface="Calibri" pitchFamily="34" charset="0"/>
                <a:ea typeface="Calibri" pitchFamily="34" charset="-122"/>
                <a:cs typeface="Calibri" pitchFamily="34" charset="-120"/>
              </a:rPr>
              <a:t>l</a:t>
            </a:r>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² → 20 = k · 400 → </a:t>
            </a:r>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k = 0,05 kg/m</a:t>
            </a:r>
            <a:endParaRPr lang="en-US" sz="1600" dirty="0"/>
          </a:p>
        </p:txBody>
      </p:sp>
      <p:sp>
        <p:nvSpPr>
          <p:cNvPr id="15" name="Shape 13"/>
          <p:cNvSpPr/>
          <p:nvPr/>
        </p:nvSpPr>
        <p:spPr>
          <a:xfrm>
            <a:off x="5212080" y="2986707"/>
            <a:ext cx="6339535" cy="826341"/>
          </a:xfrm>
          <a:prstGeom prst="roundRect">
            <a:avLst>
              <a:gd name="adj" fmla="val 17705"/>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5449824" y="3207854"/>
            <a:ext cx="384048" cy="384048"/>
          </a:xfrm>
          <a:prstGeom prst="roundRect">
            <a:avLst>
              <a:gd name="adj" fmla="val 26000"/>
            </a:avLst>
          </a:prstGeom>
          <a:solidFill>
            <a:srgbClr val="A56209"/>
          </a:solidFill>
          <a:ln/>
        </p:spPr>
      </p:sp>
      <p:sp>
        <p:nvSpPr>
          <p:cNvPr id="17" name="Text 15"/>
          <p:cNvSpPr txBox="1"/>
          <p:nvPr/>
        </p:nvSpPr>
        <p:spPr>
          <a:xfrm>
            <a:off x="5449824" y="3207854"/>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2</a:t>
            </a:r>
            <a:endParaRPr lang="en-US" sz="1150" dirty="0"/>
          </a:p>
        </p:txBody>
      </p:sp>
      <p:sp>
        <p:nvSpPr>
          <p:cNvPr id="18" name="Text 16"/>
          <p:cNvSpPr txBox="1"/>
          <p:nvPr/>
        </p:nvSpPr>
        <p:spPr>
          <a:xfrm>
            <a:off x="5989320" y="3041571"/>
            <a:ext cx="5379415" cy="716613"/>
          </a:xfrm>
          <a:prstGeom prst="rect">
            <a:avLst/>
          </a:prstGeom>
          <a:noFill/>
          <a:ln/>
        </p:spPr>
        <p:txBody>
          <a:bodyPr wrap="square" lIns="0" tIns="0" rIns="0" bIns="0" rtlCol="0" anchor="ctr"/>
          <a:lstStyle/>
          <a:p>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v = 10 m/s iken direnç: F</a:t>
            </a:r>
            <a:pPr indent="0" marL="0">
              <a:lnSpc>
                <a:spcPct val="112000"/>
              </a:lnSpc>
              <a:buNone/>
            </a:pPr>
            <a:r>
              <a:rPr lang="en-US" sz="1600" baseline="-40000" dirty="0">
                <a:solidFill>
                  <a:srgbClr val="4A5470"/>
                </a:solidFill>
                <a:latin typeface="Calibri" pitchFamily="34" charset="0"/>
                <a:ea typeface="Calibri" pitchFamily="34" charset="-122"/>
                <a:cs typeface="Calibri" pitchFamily="34" charset="-120"/>
              </a:rPr>
              <a:t>d</a:t>
            </a:r>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 = 0,05 · 100 = 5 N</a:t>
            </a:r>
            <a:endParaRPr lang="en-US" sz="1600" dirty="0"/>
          </a:p>
        </p:txBody>
      </p:sp>
      <p:sp>
        <p:nvSpPr>
          <p:cNvPr id="19" name="Shape 17"/>
          <p:cNvSpPr/>
          <p:nvPr/>
        </p:nvSpPr>
        <p:spPr>
          <a:xfrm>
            <a:off x="5212080" y="3959352"/>
            <a:ext cx="6339535" cy="826341"/>
          </a:xfrm>
          <a:prstGeom prst="roundRect">
            <a:avLst>
              <a:gd name="adj" fmla="val 17705"/>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0" name="Shape 18"/>
          <p:cNvSpPr/>
          <p:nvPr/>
        </p:nvSpPr>
        <p:spPr>
          <a:xfrm>
            <a:off x="5449824" y="4180498"/>
            <a:ext cx="384048" cy="384048"/>
          </a:xfrm>
          <a:prstGeom prst="roundRect">
            <a:avLst>
              <a:gd name="adj" fmla="val 26000"/>
            </a:avLst>
          </a:prstGeom>
          <a:solidFill>
            <a:srgbClr val="A56209"/>
          </a:solidFill>
          <a:ln/>
        </p:spPr>
      </p:sp>
      <p:sp>
        <p:nvSpPr>
          <p:cNvPr id="21" name="Text 19"/>
          <p:cNvSpPr txBox="1"/>
          <p:nvPr/>
        </p:nvSpPr>
        <p:spPr>
          <a:xfrm>
            <a:off x="5449824" y="4180498"/>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3</a:t>
            </a:r>
            <a:endParaRPr lang="en-US" sz="1150" dirty="0"/>
          </a:p>
        </p:txBody>
      </p:sp>
      <p:sp>
        <p:nvSpPr>
          <p:cNvPr id="22" name="Text 20"/>
          <p:cNvSpPr txBox="1"/>
          <p:nvPr/>
        </p:nvSpPr>
        <p:spPr>
          <a:xfrm>
            <a:off x="5989320" y="4014216"/>
            <a:ext cx="5379415" cy="716613"/>
          </a:xfrm>
          <a:prstGeom prst="rect">
            <a:avLst/>
          </a:prstGeom>
          <a:noFill/>
          <a:ln/>
        </p:spPr>
        <p:txBody>
          <a:bodyPr wrap="square" lIns="0" tIns="0" rIns="0" bIns="0" rtlCol="0" anchor="ctr"/>
          <a:lstStyle/>
          <a:p>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Net kuvvet: 20 − 5 = 15 N → a = 15/2 = </a:t>
            </a:r>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7,5 m/s²</a:t>
            </a:r>
            <a:endParaRPr lang="en-US" sz="1600" dirty="0"/>
          </a:p>
        </p:txBody>
      </p:sp>
      <p:sp>
        <p:nvSpPr>
          <p:cNvPr id="23" name="Shape 21"/>
          <p:cNvSpPr/>
          <p:nvPr/>
        </p:nvSpPr>
        <p:spPr>
          <a:xfrm>
            <a:off x="5212080" y="4931997"/>
            <a:ext cx="6339535" cy="1212771"/>
          </a:xfrm>
          <a:prstGeom prst="roundRect">
            <a:avLst>
              <a:gd name="adj" fmla="val 12064"/>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4" name="Shape 22"/>
          <p:cNvSpPr/>
          <p:nvPr/>
        </p:nvSpPr>
        <p:spPr>
          <a:xfrm>
            <a:off x="5449824" y="5346358"/>
            <a:ext cx="384048" cy="384048"/>
          </a:xfrm>
          <a:prstGeom prst="roundRect">
            <a:avLst>
              <a:gd name="adj" fmla="val 26000"/>
            </a:avLst>
          </a:prstGeom>
          <a:solidFill>
            <a:srgbClr val="A56209"/>
          </a:solidFill>
          <a:ln/>
        </p:spPr>
      </p:sp>
      <p:sp>
        <p:nvSpPr>
          <p:cNvPr id="25" name="Text 23"/>
          <p:cNvSpPr txBox="1"/>
          <p:nvPr/>
        </p:nvSpPr>
        <p:spPr>
          <a:xfrm>
            <a:off x="5449824" y="5346358"/>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4</a:t>
            </a:r>
            <a:endParaRPr lang="en-US" sz="1150" dirty="0"/>
          </a:p>
        </p:txBody>
      </p:sp>
      <p:sp>
        <p:nvSpPr>
          <p:cNvPr id="26" name="Text 24"/>
          <p:cNvSpPr txBox="1"/>
          <p:nvPr/>
        </p:nvSpPr>
        <p:spPr>
          <a:xfrm>
            <a:off x="5989320" y="4986861"/>
            <a:ext cx="5379415" cy="1103043"/>
          </a:xfrm>
          <a:prstGeom prst="rect">
            <a:avLst/>
          </a:prstGeom>
          <a:noFill/>
          <a:ln/>
        </p:spPr>
        <p:txBody>
          <a:bodyPr wrap="square" lIns="0" tIns="0" rIns="0" bIns="0" rtlCol="0" anchor="ctr"/>
          <a:lstStyle/>
          <a:p>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Hız limitin yarısındayken ivme hâlâ g'nin dörtte üçü kadardır (direnç v² ile büyür).</a:t>
            </a:r>
            <a:endParaRPr lang="en-US" sz="1600" dirty="0"/>
          </a:p>
        </p:txBody>
      </p:sp>
      <p:sp>
        <p:nvSpPr>
          <p:cNvPr id="27" name="Shape 25"/>
          <p:cNvSpPr/>
          <p:nvPr/>
        </p:nvSpPr>
        <p:spPr>
          <a:xfrm>
            <a:off x="640080" y="6382512"/>
            <a:ext cx="128016" cy="128016"/>
          </a:xfrm>
          <a:prstGeom prst="roundRect">
            <a:avLst>
              <a:gd name="adj" fmla="val 28571"/>
            </a:avLst>
          </a:prstGeom>
          <a:solidFill>
            <a:srgbClr val="A9E648"/>
          </a:solidFill>
          <a:ln/>
        </p:spPr>
      </p:sp>
      <p:sp>
        <p:nvSpPr>
          <p:cNvPr id="28" name="Text 2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dersler.perinet.org/limit-hiz.html</a:t>
            </a:r>
            <a:endParaRPr lang="en-US" sz="1050" dirty="0"/>
          </a:p>
        </p:txBody>
      </p:sp>
      <p:sp>
        <p:nvSpPr>
          <p:cNvPr id="29" name="Text 2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37</a:t>
            </a:r>
            <a:endParaRPr lang="en-US" sz="10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Çözümlü örnek 5 / 6</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Paraşüt açılınca  ·  Aşağıdaki çözümlerde g = 10 m/s² alınmıştır.</a:t>
            </a:r>
            <a:endParaRPr lang="en-US" sz="1450" dirty="0"/>
          </a:p>
        </p:txBody>
      </p:sp>
      <p:sp>
        <p:nvSpPr>
          <p:cNvPr id="8" name="Shape 6"/>
          <p:cNvSpPr/>
          <p:nvPr/>
        </p:nvSpPr>
        <p:spPr>
          <a:xfrm>
            <a:off x="640080" y="1627632"/>
            <a:ext cx="4297680" cy="4517136"/>
          </a:xfrm>
          <a:prstGeom prst="roundRect">
            <a:avLst>
              <a:gd name="adj" fmla="val 3404"/>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32688" y="1847088"/>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32688" y="2176272"/>
            <a:ext cx="3712464" cy="1493520"/>
          </a:xfrm>
          <a:prstGeom prst="rect">
            <a:avLst/>
          </a:prstGeom>
          <a:noFill/>
          <a:ln/>
        </p:spPr>
        <p:txBody>
          <a:bodyPr wrap="square" lIns="0" tIns="0" rIns="0" bIns="0" rtlCol="0" anchor="t"/>
          <a:lstStyle/>
          <a:p>
            <a:pPr indent="0" marL="0">
              <a:lnSpc>
                <a:spcPct val="118000"/>
              </a:lnSpc>
              <a:buNone/>
            </a:pPr>
            <a:r>
              <a:rPr lang="en-US" sz="1600" dirty="0">
                <a:solidFill>
                  <a:srgbClr val="0E1426"/>
                </a:solidFill>
                <a:latin typeface="Calibri" pitchFamily="34" charset="0"/>
                <a:ea typeface="Calibri" pitchFamily="34" charset="-122"/>
                <a:cs typeface="Calibri" pitchFamily="34" charset="-120"/>
              </a:rPr>
              <a:t>Limit hızı 50 m/s olan paraşütçü, paraşütünü açtığında yüzey alanı 25 katına çıkıyor. (a) Yeni limit hız nedir? (b) Açılma anında ivmesi ne olur?</a:t>
            </a:r>
            <a:endParaRPr lang="en-US" sz="1600" dirty="0"/>
          </a:p>
        </p:txBody>
      </p:sp>
      <p:sp>
        <p:nvSpPr>
          <p:cNvPr id="11" name="Shape 9"/>
          <p:cNvSpPr/>
          <p:nvPr/>
        </p:nvSpPr>
        <p:spPr>
          <a:xfrm>
            <a:off x="5212080" y="1627632"/>
            <a:ext cx="6339535" cy="694690"/>
          </a:xfrm>
          <a:prstGeom prst="roundRect">
            <a:avLst>
              <a:gd name="adj" fmla="val 21060"/>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5449824" y="1782953"/>
            <a:ext cx="384048" cy="384048"/>
          </a:xfrm>
          <a:prstGeom prst="roundRect">
            <a:avLst>
              <a:gd name="adj" fmla="val 26000"/>
            </a:avLst>
          </a:prstGeom>
          <a:solidFill>
            <a:srgbClr val="A56209"/>
          </a:solidFill>
          <a:ln/>
        </p:spPr>
      </p:sp>
      <p:sp>
        <p:nvSpPr>
          <p:cNvPr id="13" name="Text 11"/>
          <p:cNvSpPr txBox="1"/>
          <p:nvPr/>
        </p:nvSpPr>
        <p:spPr>
          <a:xfrm>
            <a:off x="5449824" y="1782953"/>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a:t>
            </a:r>
            <a:endParaRPr lang="en-US" sz="1150" dirty="0"/>
          </a:p>
        </p:txBody>
      </p:sp>
      <p:sp>
        <p:nvSpPr>
          <p:cNvPr id="14" name="Text 12"/>
          <p:cNvSpPr txBox="1"/>
          <p:nvPr/>
        </p:nvSpPr>
        <p:spPr>
          <a:xfrm>
            <a:off x="5989320" y="1682496"/>
            <a:ext cx="5379415" cy="584962"/>
          </a:xfrm>
          <a:prstGeom prst="rect">
            <a:avLst/>
          </a:prstGeom>
          <a:noFill/>
          <a:ln/>
        </p:spPr>
        <p:txBody>
          <a:bodyPr wrap="square" lIns="0" tIns="0" rIns="0" bIns="0" rtlCol="0" anchor="ctr"/>
          <a:lstStyle/>
          <a:p>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(a)</a:t>
            </a:r>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 v</a:t>
            </a:r>
            <a:pPr indent="0" marL="0">
              <a:lnSpc>
                <a:spcPct val="112000"/>
              </a:lnSpc>
              <a:buNone/>
            </a:pPr>
            <a:r>
              <a:rPr lang="en-US" sz="1600" baseline="-40000" dirty="0">
                <a:solidFill>
                  <a:srgbClr val="4A5470"/>
                </a:solidFill>
                <a:latin typeface="Calibri" pitchFamily="34" charset="0"/>
                <a:ea typeface="Calibri" pitchFamily="34" charset="-122"/>
                <a:cs typeface="Calibri" pitchFamily="34" charset="-120"/>
              </a:rPr>
              <a:t>l</a:t>
            </a:r>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 ∝ 1/√A olduğundan: 50 / √25 = </a:t>
            </a:r>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10 m/s</a:t>
            </a:r>
            <a:endParaRPr lang="en-US" sz="1600" dirty="0"/>
          </a:p>
        </p:txBody>
      </p:sp>
      <p:sp>
        <p:nvSpPr>
          <p:cNvPr id="15" name="Shape 13"/>
          <p:cNvSpPr/>
          <p:nvPr/>
        </p:nvSpPr>
        <p:spPr>
          <a:xfrm>
            <a:off x="5212080" y="2468626"/>
            <a:ext cx="6339535" cy="1019556"/>
          </a:xfrm>
          <a:prstGeom prst="roundRect">
            <a:avLst>
              <a:gd name="adj" fmla="val 14350"/>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5449824" y="2786380"/>
            <a:ext cx="384048" cy="384048"/>
          </a:xfrm>
          <a:prstGeom prst="roundRect">
            <a:avLst>
              <a:gd name="adj" fmla="val 26000"/>
            </a:avLst>
          </a:prstGeom>
          <a:solidFill>
            <a:srgbClr val="A56209"/>
          </a:solidFill>
          <a:ln/>
        </p:spPr>
      </p:sp>
      <p:sp>
        <p:nvSpPr>
          <p:cNvPr id="17" name="Text 15"/>
          <p:cNvSpPr txBox="1"/>
          <p:nvPr/>
        </p:nvSpPr>
        <p:spPr>
          <a:xfrm>
            <a:off x="5449824" y="2786380"/>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2</a:t>
            </a:r>
            <a:endParaRPr lang="en-US" sz="1150" dirty="0"/>
          </a:p>
        </p:txBody>
      </p:sp>
      <p:sp>
        <p:nvSpPr>
          <p:cNvPr id="18" name="Text 16"/>
          <p:cNvSpPr txBox="1"/>
          <p:nvPr/>
        </p:nvSpPr>
        <p:spPr>
          <a:xfrm>
            <a:off x="5989320" y="2523490"/>
            <a:ext cx="5379415" cy="909828"/>
          </a:xfrm>
          <a:prstGeom prst="rect">
            <a:avLst/>
          </a:prstGeom>
          <a:noFill/>
          <a:ln/>
        </p:spPr>
        <p:txBody>
          <a:bodyPr wrap="square" lIns="0" tIns="0" rIns="0" bIns="0" rtlCol="0" anchor="ctr"/>
          <a:lstStyle/>
          <a:p>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(b)</a:t>
            </a:r>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 Açılma anında hız hâlâ 50 m/s. Yeni k ile direnç: F</a:t>
            </a:r>
            <a:pPr indent="0" marL="0">
              <a:lnSpc>
                <a:spcPct val="112000"/>
              </a:lnSpc>
              <a:buNone/>
            </a:pPr>
            <a:r>
              <a:rPr lang="en-US" sz="1600" baseline="-40000" dirty="0">
                <a:solidFill>
                  <a:srgbClr val="4A5470"/>
                </a:solidFill>
                <a:latin typeface="Calibri" pitchFamily="34" charset="0"/>
                <a:ea typeface="Calibri" pitchFamily="34" charset="-122"/>
                <a:cs typeface="Calibri" pitchFamily="34" charset="-120"/>
              </a:rPr>
              <a:t>d</a:t>
            </a:r>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 = 25 · (eski direnç) = 25 · m·g</a:t>
            </a:r>
            <a:endParaRPr lang="en-US" sz="1600" dirty="0"/>
          </a:p>
        </p:txBody>
      </p:sp>
      <p:sp>
        <p:nvSpPr>
          <p:cNvPr id="19" name="Shape 17"/>
          <p:cNvSpPr/>
          <p:nvPr/>
        </p:nvSpPr>
        <p:spPr>
          <a:xfrm>
            <a:off x="5212080" y="3634486"/>
            <a:ext cx="6339535" cy="1019556"/>
          </a:xfrm>
          <a:prstGeom prst="roundRect">
            <a:avLst>
              <a:gd name="adj" fmla="val 14350"/>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0" name="Shape 18"/>
          <p:cNvSpPr/>
          <p:nvPr/>
        </p:nvSpPr>
        <p:spPr>
          <a:xfrm>
            <a:off x="5449824" y="3952240"/>
            <a:ext cx="384048" cy="384048"/>
          </a:xfrm>
          <a:prstGeom prst="roundRect">
            <a:avLst>
              <a:gd name="adj" fmla="val 26000"/>
            </a:avLst>
          </a:prstGeom>
          <a:solidFill>
            <a:srgbClr val="A56209"/>
          </a:solidFill>
          <a:ln/>
        </p:spPr>
      </p:sp>
      <p:sp>
        <p:nvSpPr>
          <p:cNvPr id="21" name="Text 19"/>
          <p:cNvSpPr txBox="1"/>
          <p:nvPr/>
        </p:nvSpPr>
        <p:spPr>
          <a:xfrm>
            <a:off x="5449824" y="3952240"/>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3</a:t>
            </a:r>
            <a:endParaRPr lang="en-US" sz="1150" dirty="0"/>
          </a:p>
        </p:txBody>
      </p:sp>
      <p:sp>
        <p:nvSpPr>
          <p:cNvPr id="22" name="Text 20"/>
          <p:cNvSpPr txBox="1"/>
          <p:nvPr/>
        </p:nvSpPr>
        <p:spPr>
          <a:xfrm>
            <a:off x="5989320" y="3689350"/>
            <a:ext cx="5379415" cy="909828"/>
          </a:xfrm>
          <a:prstGeom prst="rect">
            <a:avLst/>
          </a:prstGeom>
          <a:noFill/>
          <a:ln/>
        </p:spPr>
        <p:txBody>
          <a:bodyPr wrap="square" lIns="0" tIns="0" rIns="0" bIns="0" rtlCol="0" anchor="ctr"/>
          <a:lstStyle/>
          <a:p>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Net kuvvet = 25mg − mg = 24mg, yukarı yönde → a = </a:t>
            </a:r>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24g</a:t>
            </a:r>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 (yaklaşık 240 m/s², yukarı)</a:t>
            </a:r>
            <a:endParaRPr lang="en-US" sz="1600" dirty="0"/>
          </a:p>
        </p:txBody>
      </p:sp>
      <p:sp>
        <p:nvSpPr>
          <p:cNvPr id="23" name="Shape 21"/>
          <p:cNvSpPr/>
          <p:nvPr/>
        </p:nvSpPr>
        <p:spPr>
          <a:xfrm>
            <a:off x="5212080" y="4800346"/>
            <a:ext cx="6339535" cy="1344422"/>
          </a:xfrm>
          <a:prstGeom prst="roundRect">
            <a:avLst>
              <a:gd name="adj" fmla="val 10882"/>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4" name="Shape 22"/>
          <p:cNvSpPr/>
          <p:nvPr/>
        </p:nvSpPr>
        <p:spPr>
          <a:xfrm>
            <a:off x="5449824" y="5280533"/>
            <a:ext cx="384048" cy="384048"/>
          </a:xfrm>
          <a:prstGeom prst="roundRect">
            <a:avLst>
              <a:gd name="adj" fmla="val 26000"/>
            </a:avLst>
          </a:prstGeom>
          <a:solidFill>
            <a:srgbClr val="A56209"/>
          </a:solidFill>
          <a:ln/>
        </p:spPr>
      </p:sp>
      <p:sp>
        <p:nvSpPr>
          <p:cNvPr id="25" name="Text 23"/>
          <p:cNvSpPr txBox="1"/>
          <p:nvPr/>
        </p:nvSpPr>
        <p:spPr>
          <a:xfrm>
            <a:off x="5449824" y="5280533"/>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4</a:t>
            </a:r>
            <a:endParaRPr lang="en-US" sz="1150" dirty="0"/>
          </a:p>
        </p:txBody>
      </p:sp>
      <p:sp>
        <p:nvSpPr>
          <p:cNvPr id="26" name="Text 24"/>
          <p:cNvSpPr txBox="1"/>
          <p:nvPr/>
        </p:nvSpPr>
        <p:spPr>
          <a:xfrm>
            <a:off x="5989320" y="4855210"/>
            <a:ext cx="5379415" cy="1234694"/>
          </a:xfrm>
          <a:prstGeom prst="rect">
            <a:avLst/>
          </a:prstGeom>
          <a:noFill/>
          <a:ln/>
        </p:spPr>
        <p:txBody>
          <a:bodyPr wrap="square" lIns="0" tIns="0" rIns="0" bIns="0" rtlCol="0" anchor="ctr"/>
          <a:lstStyle/>
          <a:p>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Bu yüzden açılma çok sert hissedilir; gerçek paraşütler açılmayı birkaç saniyeye yayarak bu ivmeyi düşürür.</a:t>
            </a:r>
            <a:endParaRPr lang="en-US" sz="1600" dirty="0"/>
          </a:p>
        </p:txBody>
      </p:sp>
      <p:sp>
        <p:nvSpPr>
          <p:cNvPr id="27" name="Shape 25"/>
          <p:cNvSpPr/>
          <p:nvPr/>
        </p:nvSpPr>
        <p:spPr>
          <a:xfrm>
            <a:off x="640080" y="6382512"/>
            <a:ext cx="128016" cy="128016"/>
          </a:xfrm>
          <a:prstGeom prst="roundRect">
            <a:avLst>
              <a:gd name="adj" fmla="val 28571"/>
            </a:avLst>
          </a:prstGeom>
          <a:solidFill>
            <a:srgbClr val="A9E648"/>
          </a:solidFill>
          <a:ln/>
        </p:spPr>
      </p:sp>
      <p:sp>
        <p:nvSpPr>
          <p:cNvPr id="28" name="Text 2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dersler.perinet.org/limit-hiz.html</a:t>
            </a:r>
            <a:endParaRPr lang="en-US" sz="1050" dirty="0"/>
          </a:p>
        </p:txBody>
      </p:sp>
      <p:sp>
        <p:nvSpPr>
          <p:cNvPr id="29" name="Text 2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38</a:t>
            </a:r>
            <a:endParaRPr lang="en-US" sz="10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Çözümlü örnek 6 / 6</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Bir yağmur damlasının limit hızı  ·  Aşağıdaki çözümlerde g = 10 m/s² alınmıştır.</a:t>
            </a:r>
            <a:endParaRPr lang="en-US" sz="1450" dirty="0"/>
          </a:p>
        </p:txBody>
      </p:sp>
      <p:sp>
        <p:nvSpPr>
          <p:cNvPr id="8" name="Shape 6"/>
          <p:cNvSpPr/>
          <p:nvPr/>
        </p:nvSpPr>
        <p:spPr>
          <a:xfrm>
            <a:off x="640080" y="1627632"/>
            <a:ext cx="4297680" cy="4517136"/>
          </a:xfrm>
          <a:prstGeom prst="roundRect">
            <a:avLst>
              <a:gd name="adj" fmla="val 3404"/>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32688" y="1847088"/>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32688" y="2176272"/>
            <a:ext cx="3712464" cy="1773936"/>
          </a:xfrm>
          <a:prstGeom prst="rect">
            <a:avLst/>
          </a:prstGeom>
          <a:noFill/>
          <a:ln/>
        </p:spPr>
        <p:txBody>
          <a:bodyPr wrap="square" lIns="0" tIns="0" rIns="0" bIns="0" rtlCol="0" anchor="t"/>
          <a:lstStyle/>
          <a:p>
            <a:pPr indent="0" marL="0">
              <a:lnSpc>
                <a:spcPct val="118000"/>
              </a:lnSpc>
              <a:buNone/>
            </a:pPr>
            <a:r>
              <a:rPr lang="en-US" sz="1600" dirty="0">
                <a:solidFill>
                  <a:srgbClr val="0E1426"/>
                </a:solidFill>
                <a:latin typeface="Calibri" pitchFamily="34" charset="0"/>
                <a:ea typeface="Calibri" pitchFamily="34" charset="-122"/>
                <a:cs typeface="Calibri" pitchFamily="34" charset="-120"/>
              </a:rPr>
              <a:t>Çapı 2 mm (yarıçapı r = 1 mm) olan küresel bir yağmur damlasının limit hızını bulunuz. (ρ</a:t>
            </a:r>
            <a:pPr indent="0" marL="0">
              <a:lnSpc>
                <a:spcPct val="118000"/>
              </a:lnSpc>
              <a:buNone/>
            </a:pPr>
            <a:r>
              <a:rPr lang="en-US" sz="1600" baseline="-40000" dirty="0">
                <a:solidFill>
                  <a:srgbClr val="0E1426"/>
                </a:solidFill>
                <a:latin typeface="Calibri" pitchFamily="34" charset="0"/>
                <a:ea typeface="Calibri" pitchFamily="34" charset="-122"/>
                <a:cs typeface="Calibri" pitchFamily="34" charset="-120"/>
              </a:rPr>
              <a:t>su</a:t>
            </a:r>
            <a:pPr indent="0" marL="0">
              <a:lnSpc>
                <a:spcPct val="118000"/>
              </a:lnSpc>
              <a:buNone/>
            </a:pPr>
            <a:r>
              <a:rPr lang="en-US" sz="1600" dirty="0">
                <a:solidFill>
                  <a:srgbClr val="0E1426"/>
                </a:solidFill>
                <a:latin typeface="Calibri" pitchFamily="34" charset="0"/>
                <a:ea typeface="Calibri" pitchFamily="34" charset="-122"/>
                <a:cs typeface="Calibri" pitchFamily="34" charset="-120"/>
              </a:rPr>
              <a:t> = 1000 kg/m³, ρ</a:t>
            </a:r>
            <a:pPr indent="0" marL="0">
              <a:lnSpc>
                <a:spcPct val="118000"/>
              </a:lnSpc>
              <a:buNone/>
            </a:pPr>
            <a:r>
              <a:rPr lang="en-US" sz="1600" baseline="-40000" dirty="0">
                <a:solidFill>
                  <a:srgbClr val="0E1426"/>
                </a:solidFill>
                <a:latin typeface="Calibri" pitchFamily="34" charset="0"/>
                <a:ea typeface="Calibri" pitchFamily="34" charset="-122"/>
                <a:cs typeface="Calibri" pitchFamily="34" charset="-120"/>
              </a:rPr>
              <a:t>hava</a:t>
            </a:r>
            <a:pPr indent="0" marL="0">
              <a:lnSpc>
                <a:spcPct val="118000"/>
              </a:lnSpc>
              <a:buNone/>
            </a:pPr>
            <a:r>
              <a:rPr lang="en-US" sz="1600" dirty="0">
                <a:solidFill>
                  <a:srgbClr val="0E1426"/>
                </a:solidFill>
                <a:latin typeface="Calibri" pitchFamily="34" charset="0"/>
                <a:ea typeface="Calibri" pitchFamily="34" charset="-122"/>
                <a:cs typeface="Calibri" pitchFamily="34" charset="-120"/>
              </a:rPr>
              <a:t> = 1,2 kg/m³, C = 0,5; kürenin hacmi (4/3)·π·r³, kesit alanı π·r²)</a:t>
            </a:r>
            <a:endParaRPr lang="en-US" sz="1600" dirty="0"/>
          </a:p>
        </p:txBody>
      </p:sp>
      <p:sp>
        <p:nvSpPr>
          <p:cNvPr id="11" name="Text 9"/>
          <p:cNvSpPr txBox="1"/>
          <p:nvPr/>
        </p:nvSpPr>
        <p:spPr>
          <a:xfrm>
            <a:off x="932688" y="4178808"/>
            <a:ext cx="2743200" cy="219456"/>
          </a:xfrm>
          <a:prstGeom prst="rect">
            <a:avLst/>
          </a:prstGeom>
          <a:noFill/>
          <a:ln/>
        </p:spPr>
        <p:txBody>
          <a:bodyPr wrap="square" lIns="0" tIns="0" rIns="0" bIns="0" rtlCol="0" anchor="ctr"/>
          <a:lstStyle/>
          <a:p>
            <a:pPr indent="0" marL="0">
              <a:buNone/>
            </a:pPr>
            <a:r>
              <a:rPr lang="en-US" sz="950" b="1" spc="200" kern="0" dirty="0">
                <a:solidFill>
                  <a:srgbClr val="7B849E"/>
                </a:solidFill>
                <a:latin typeface="Calibri" pitchFamily="34" charset="0"/>
                <a:ea typeface="Calibri" pitchFamily="34" charset="-122"/>
                <a:cs typeface="Calibri" pitchFamily="34" charset="-120"/>
              </a:rPr>
              <a:t>NOT</a:t>
            </a:r>
            <a:endParaRPr lang="en-US" sz="950" dirty="0"/>
          </a:p>
        </p:txBody>
      </p:sp>
      <p:sp>
        <p:nvSpPr>
          <p:cNvPr id="12" name="Text 10"/>
          <p:cNvSpPr txBox="1"/>
          <p:nvPr/>
        </p:nvSpPr>
        <p:spPr>
          <a:xfrm>
            <a:off x="932688" y="4434840"/>
            <a:ext cx="3712464" cy="840029"/>
          </a:xfrm>
          <a:prstGeom prst="rect">
            <a:avLst/>
          </a:prstGeom>
          <a:noFill/>
          <a:ln/>
        </p:spPr>
        <p:txBody>
          <a:bodyPr wrap="square" lIns="0" tIns="0" rIns="0" bIns="0" rtlCol="0" anchor="t"/>
          <a:lstStyle/>
          <a:p>
            <a:pPr indent="0" marL="0">
              <a:lnSpc>
                <a:spcPct val="112000"/>
              </a:lnSpc>
              <a:buNone/>
            </a:pPr>
            <a:r>
              <a:rPr lang="en-US" sz="1150" dirty="0">
                <a:solidFill>
                  <a:srgbClr val="4A5470"/>
                </a:solidFill>
                <a:latin typeface="Calibri" pitchFamily="34" charset="0"/>
                <a:ea typeface="Calibri" pitchFamily="34" charset="-122"/>
                <a:cs typeface="Calibri" pitchFamily="34" charset="-120"/>
              </a:rPr>
              <a:t>Ölçülen değer 2 mm çaplı damla için yaklaşık 6,5 m/s'dir; bu basit model gerçeğe oldukça yakın sonuç verir. İri damlaların 9 m/s civarında düşmesi de bu karekök ilişkisinden gelir.</a:t>
            </a:r>
            <a:endParaRPr lang="en-US" sz="1150" dirty="0"/>
          </a:p>
        </p:txBody>
      </p:sp>
      <p:sp>
        <p:nvSpPr>
          <p:cNvPr id="13" name="Shape 11"/>
          <p:cNvSpPr/>
          <p:nvPr/>
        </p:nvSpPr>
        <p:spPr>
          <a:xfrm>
            <a:off x="5212080" y="1627632"/>
            <a:ext cx="6339535" cy="838561"/>
          </a:xfrm>
          <a:prstGeom prst="roundRect">
            <a:avLst>
              <a:gd name="adj" fmla="val 17447"/>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4" name="Shape 12"/>
          <p:cNvSpPr/>
          <p:nvPr/>
        </p:nvSpPr>
        <p:spPr>
          <a:xfrm>
            <a:off x="5449824" y="1854889"/>
            <a:ext cx="384048" cy="384048"/>
          </a:xfrm>
          <a:prstGeom prst="roundRect">
            <a:avLst>
              <a:gd name="adj" fmla="val 26000"/>
            </a:avLst>
          </a:prstGeom>
          <a:solidFill>
            <a:srgbClr val="A56209"/>
          </a:solidFill>
          <a:ln/>
        </p:spPr>
      </p:sp>
      <p:sp>
        <p:nvSpPr>
          <p:cNvPr id="15" name="Text 13"/>
          <p:cNvSpPr txBox="1"/>
          <p:nvPr/>
        </p:nvSpPr>
        <p:spPr>
          <a:xfrm>
            <a:off x="5449824" y="1854889"/>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a:t>
            </a:r>
            <a:endParaRPr lang="en-US" sz="1150" dirty="0"/>
          </a:p>
        </p:txBody>
      </p:sp>
      <p:sp>
        <p:nvSpPr>
          <p:cNvPr id="16" name="Text 14"/>
          <p:cNvSpPr txBox="1"/>
          <p:nvPr/>
        </p:nvSpPr>
        <p:spPr>
          <a:xfrm>
            <a:off x="5989320" y="1682496"/>
            <a:ext cx="5379415" cy="728833"/>
          </a:xfrm>
          <a:prstGeom prst="rect">
            <a:avLst/>
          </a:prstGeom>
          <a:noFill/>
          <a:ln/>
        </p:spPr>
        <p:txBody>
          <a:bodyPr wrap="square" lIns="0" tIns="0" rIns="0" bIns="0" rtlCol="0" anchor="ctr"/>
          <a:lstStyle/>
          <a:p>
            <a:pPr indent="0" marL="0">
              <a:lnSpc>
                <a:spcPct val="112000"/>
              </a:lnSpc>
              <a:buNone/>
            </a:pPr>
            <a:r>
              <a:rPr lang="en-US" sz="1500" dirty="0">
                <a:solidFill>
                  <a:srgbClr val="4A5470"/>
                </a:solidFill>
                <a:latin typeface="Calibri" pitchFamily="34" charset="0"/>
                <a:ea typeface="Calibri" pitchFamily="34" charset="-122"/>
                <a:cs typeface="Calibri" pitchFamily="34" charset="-120"/>
              </a:rPr>
              <a:t>Belirleyici olan m/A oranıdır: m/A = ρ</a:t>
            </a:r>
            <a:pPr indent="0" marL="0">
              <a:lnSpc>
                <a:spcPct val="112000"/>
              </a:lnSpc>
              <a:buNone/>
            </a:pPr>
            <a:r>
              <a:rPr lang="en-US" sz="1500" baseline="-40000" dirty="0">
                <a:solidFill>
                  <a:srgbClr val="4A5470"/>
                </a:solidFill>
                <a:latin typeface="Calibri" pitchFamily="34" charset="0"/>
                <a:ea typeface="Calibri" pitchFamily="34" charset="-122"/>
                <a:cs typeface="Calibri" pitchFamily="34" charset="-120"/>
              </a:rPr>
              <a:t>su</a:t>
            </a:r>
            <a:pPr indent="0" marL="0">
              <a:lnSpc>
                <a:spcPct val="112000"/>
              </a:lnSpc>
              <a:buNone/>
            </a:pPr>
            <a:r>
              <a:rPr lang="en-US" sz="1500" dirty="0">
                <a:solidFill>
                  <a:srgbClr val="4A5470"/>
                </a:solidFill>
                <a:latin typeface="Calibri" pitchFamily="34" charset="0"/>
                <a:ea typeface="Calibri" pitchFamily="34" charset="-122"/>
                <a:cs typeface="Calibri" pitchFamily="34" charset="-120"/>
              </a:rPr>
              <a:t>·(4/3)·π·r³ / (π·r²) = (4/3)·ρ</a:t>
            </a:r>
            <a:pPr indent="0" marL="0">
              <a:lnSpc>
                <a:spcPct val="112000"/>
              </a:lnSpc>
              <a:buNone/>
            </a:pPr>
            <a:r>
              <a:rPr lang="en-US" sz="1500" baseline="-40000" dirty="0">
                <a:solidFill>
                  <a:srgbClr val="4A5470"/>
                </a:solidFill>
                <a:latin typeface="Calibri" pitchFamily="34" charset="0"/>
                <a:ea typeface="Calibri" pitchFamily="34" charset="-122"/>
                <a:cs typeface="Calibri" pitchFamily="34" charset="-120"/>
              </a:rPr>
              <a:t>su</a:t>
            </a:r>
            <a:pPr indent="0" marL="0">
              <a:lnSpc>
                <a:spcPct val="112000"/>
              </a:lnSpc>
              <a:buNone/>
            </a:pPr>
            <a:r>
              <a:rPr lang="en-US" sz="1500" dirty="0">
                <a:solidFill>
                  <a:srgbClr val="4A5470"/>
                </a:solidFill>
                <a:latin typeface="Calibri" pitchFamily="34" charset="0"/>
                <a:ea typeface="Calibri" pitchFamily="34" charset="-122"/>
                <a:cs typeface="Calibri" pitchFamily="34" charset="-120"/>
              </a:rPr>
              <a:t>·r; π sadeleşir.</a:t>
            </a:r>
            <a:endParaRPr lang="en-US" sz="1500" dirty="0"/>
          </a:p>
        </p:txBody>
      </p:sp>
      <p:sp>
        <p:nvSpPr>
          <p:cNvPr id="17" name="Shape 15"/>
          <p:cNvSpPr/>
          <p:nvPr/>
        </p:nvSpPr>
        <p:spPr>
          <a:xfrm>
            <a:off x="5212080" y="2612497"/>
            <a:ext cx="6339535" cy="577675"/>
          </a:xfrm>
          <a:prstGeom prst="roundRect">
            <a:avLst>
              <a:gd name="adj" fmla="val 2532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8" name="Shape 16"/>
          <p:cNvSpPr/>
          <p:nvPr/>
        </p:nvSpPr>
        <p:spPr>
          <a:xfrm>
            <a:off x="5449824" y="2709311"/>
            <a:ext cx="384048" cy="384048"/>
          </a:xfrm>
          <a:prstGeom prst="roundRect">
            <a:avLst>
              <a:gd name="adj" fmla="val 26000"/>
            </a:avLst>
          </a:prstGeom>
          <a:solidFill>
            <a:srgbClr val="A56209"/>
          </a:solidFill>
          <a:ln/>
        </p:spPr>
      </p:sp>
      <p:sp>
        <p:nvSpPr>
          <p:cNvPr id="19" name="Text 17"/>
          <p:cNvSpPr txBox="1"/>
          <p:nvPr/>
        </p:nvSpPr>
        <p:spPr>
          <a:xfrm>
            <a:off x="5449824" y="2709311"/>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2</a:t>
            </a:r>
            <a:endParaRPr lang="en-US" sz="1150" dirty="0"/>
          </a:p>
        </p:txBody>
      </p:sp>
      <p:sp>
        <p:nvSpPr>
          <p:cNvPr id="20" name="Text 18"/>
          <p:cNvSpPr txBox="1"/>
          <p:nvPr/>
        </p:nvSpPr>
        <p:spPr>
          <a:xfrm>
            <a:off x="5989320" y="2667361"/>
            <a:ext cx="5379415" cy="467947"/>
          </a:xfrm>
          <a:prstGeom prst="rect">
            <a:avLst/>
          </a:prstGeom>
          <a:noFill/>
          <a:ln/>
        </p:spPr>
        <p:txBody>
          <a:bodyPr wrap="square" lIns="0" tIns="0" rIns="0" bIns="0" rtlCol="0" anchor="ctr"/>
          <a:lstStyle/>
          <a:p>
            <a:pPr indent="0" marL="0">
              <a:lnSpc>
                <a:spcPct val="112000"/>
              </a:lnSpc>
              <a:buNone/>
            </a:pPr>
            <a:r>
              <a:rPr lang="en-US" sz="1500" dirty="0">
                <a:solidFill>
                  <a:srgbClr val="4A5470"/>
                </a:solidFill>
                <a:latin typeface="Calibri" pitchFamily="34" charset="0"/>
                <a:ea typeface="Calibri" pitchFamily="34" charset="-122"/>
                <a:cs typeface="Calibri" pitchFamily="34" charset="-120"/>
              </a:rPr>
              <a:t>m/A = (4/3) · 1000 · 0,001 ≈ 1,33 kg/m²</a:t>
            </a:r>
            <a:endParaRPr lang="en-US" sz="1500" dirty="0"/>
          </a:p>
        </p:txBody>
      </p:sp>
      <p:sp>
        <p:nvSpPr>
          <p:cNvPr id="21" name="Shape 19"/>
          <p:cNvSpPr/>
          <p:nvPr/>
        </p:nvSpPr>
        <p:spPr>
          <a:xfrm>
            <a:off x="5212080" y="3336477"/>
            <a:ext cx="6339535" cy="838561"/>
          </a:xfrm>
          <a:prstGeom prst="roundRect">
            <a:avLst>
              <a:gd name="adj" fmla="val 17447"/>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2" name="Shape 20"/>
          <p:cNvSpPr/>
          <p:nvPr/>
        </p:nvSpPr>
        <p:spPr>
          <a:xfrm>
            <a:off x="5449824" y="3563733"/>
            <a:ext cx="384048" cy="384048"/>
          </a:xfrm>
          <a:prstGeom prst="roundRect">
            <a:avLst>
              <a:gd name="adj" fmla="val 26000"/>
            </a:avLst>
          </a:prstGeom>
          <a:solidFill>
            <a:srgbClr val="A56209"/>
          </a:solidFill>
          <a:ln/>
        </p:spPr>
      </p:sp>
      <p:sp>
        <p:nvSpPr>
          <p:cNvPr id="23" name="Text 21"/>
          <p:cNvSpPr txBox="1"/>
          <p:nvPr/>
        </p:nvSpPr>
        <p:spPr>
          <a:xfrm>
            <a:off x="5449824" y="3563733"/>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3</a:t>
            </a:r>
            <a:endParaRPr lang="en-US" sz="1150" dirty="0"/>
          </a:p>
        </p:txBody>
      </p:sp>
      <p:sp>
        <p:nvSpPr>
          <p:cNvPr id="24" name="Text 22"/>
          <p:cNvSpPr txBox="1"/>
          <p:nvPr/>
        </p:nvSpPr>
        <p:spPr>
          <a:xfrm>
            <a:off x="5989320" y="3391341"/>
            <a:ext cx="5379415" cy="728833"/>
          </a:xfrm>
          <a:prstGeom prst="rect">
            <a:avLst/>
          </a:prstGeom>
          <a:noFill/>
          <a:ln/>
        </p:spPr>
        <p:txBody>
          <a:bodyPr wrap="square" lIns="0" tIns="0" rIns="0" bIns="0" rtlCol="0" anchor="ctr"/>
          <a:lstStyle/>
          <a:p>
            <a:pPr indent="0" marL="0">
              <a:lnSpc>
                <a:spcPct val="112000"/>
              </a:lnSpc>
              <a:buNone/>
            </a:pPr>
            <a:r>
              <a:rPr lang="en-US" sz="1500" dirty="0">
                <a:solidFill>
                  <a:srgbClr val="4A5470"/>
                </a:solidFill>
                <a:latin typeface="Calibri" pitchFamily="34" charset="0"/>
                <a:ea typeface="Calibri" pitchFamily="34" charset="-122"/>
                <a:cs typeface="Calibri" pitchFamily="34" charset="-120"/>
              </a:rPr>
              <a:t>v</a:t>
            </a:r>
            <a:pPr indent="0" marL="0">
              <a:lnSpc>
                <a:spcPct val="112000"/>
              </a:lnSpc>
              <a:buNone/>
            </a:pPr>
            <a:r>
              <a:rPr lang="en-US" sz="1500" baseline="-40000" dirty="0">
                <a:solidFill>
                  <a:srgbClr val="4A5470"/>
                </a:solidFill>
                <a:latin typeface="Calibri" pitchFamily="34" charset="0"/>
                <a:ea typeface="Calibri" pitchFamily="34" charset="-122"/>
                <a:cs typeface="Calibri" pitchFamily="34" charset="-120"/>
              </a:rPr>
              <a:t>l</a:t>
            </a:r>
            <a:pPr indent="0" marL="0">
              <a:lnSpc>
                <a:spcPct val="112000"/>
              </a:lnSpc>
              <a:buNone/>
            </a:pPr>
            <a:r>
              <a:rPr lang="en-US" sz="1500" dirty="0">
                <a:solidFill>
                  <a:srgbClr val="4A5470"/>
                </a:solidFill>
                <a:latin typeface="Calibri" pitchFamily="34" charset="0"/>
                <a:ea typeface="Calibri" pitchFamily="34" charset="-122"/>
                <a:cs typeface="Calibri" pitchFamily="34" charset="-120"/>
              </a:rPr>
              <a:t> = √(2·(m/A)·g / (ρ</a:t>
            </a:r>
            <a:pPr indent="0" marL="0">
              <a:lnSpc>
                <a:spcPct val="112000"/>
              </a:lnSpc>
              <a:buNone/>
            </a:pPr>
            <a:r>
              <a:rPr lang="en-US" sz="1500" baseline="-40000" dirty="0">
                <a:solidFill>
                  <a:srgbClr val="4A5470"/>
                </a:solidFill>
                <a:latin typeface="Calibri" pitchFamily="34" charset="0"/>
                <a:ea typeface="Calibri" pitchFamily="34" charset="-122"/>
                <a:cs typeface="Calibri" pitchFamily="34" charset="-120"/>
              </a:rPr>
              <a:t>hava</a:t>
            </a:r>
            <a:pPr indent="0" marL="0">
              <a:lnSpc>
                <a:spcPct val="112000"/>
              </a:lnSpc>
              <a:buNone/>
            </a:pPr>
            <a:r>
              <a:rPr lang="en-US" sz="1500" dirty="0">
                <a:solidFill>
                  <a:srgbClr val="4A5470"/>
                </a:solidFill>
                <a:latin typeface="Calibri" pitchFamily="34" charset="0"/>
                <a:ea typeface="Calibri" pitchFamily="34" charset="-122"/>
                <a:cs typeface="Calibri" pitchFamily="34" charset="-120"/>
              </a:rPr>
              <a:t>·C)) = √(2 · 1,33 · 10 / (1,2 · 0,5))</a:t>
            </a:r>
            <a:endParaRPr lang="en-US" sz="1500" dirty="0"/>
          </a:p>
        </p:txBody>
      </p:sp>
      <p:sp>
        <p:nvSpPr>
          <p:cNvPr id="25" name="Shape 23"/>
          <p:cNvSpPr/>
          <p:nvPr/>
        </p:nvSpPr>
        <p:spPr>
          <a:xfrm>
            <a:off x="5212080" y="4321342"/>
            <a:ext cx="6339535" cy="577675"/>
          </a:xfrm>
          <a:prstGeom prst="roundRect">
            <a:avLst>
              <a:gd name="adj" fmla="val 2532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6" name="Shape 24"/>
          <p:cNvSpPr/>
          <p:nvPr/>
        </p:nvSpPr>
        <p:spPr>
          <a:xfrm>
            <a:off x="5449824" y="4418155"/>
            <a:ext cx="384048" cy="384048"/>
          </a:xfrm>
          <a:prstGeom prst="roundRect">
            <a:avLst>
              <a:gd name="adj" fmla="val 26000"/>
            </a:avLst>
          </a:prstGeom>
          <a:solidFill>
            <a:srgbClr val="A56209"/>
          </a:solidFill>
          <a:ln/>
        </p:spPr>
      </p:sp>
      <p:sp>
        <p:nvSpPr>
          <p:cNvPr id="27" name="Text 25"/>
          <p:cNvSpPr txBox="1"/>
          <p:nvPr/>
        </p:nvSpPr>
        <p:spPr>
          <a:xfrm>
            <a:off x="5449824" y="4418155"/>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4</a:t>
            </a:r>
            <a:endParaRPr lang="en-US" sz="1150" dirty="0"/>
          </a:p>
        </p:txBody>
      </p:sp>
      <p:sp>
        <p:nvSpPr>
          <p:cNvPr id="28" name="Text 26"/>
          <p:cNvSpPr txBox="1"/>
          <p:nvPr/>
        </p:nvSpPr>
        <p:spPr>
          <a:xfrm>
            <a:off x="5989320" y="4376206"/>
            <a:ext cx="5379415" cy="467947"/>
          </a:xfrm>
          <a:prstGeom prst="rect">
            <a:avLst/>
          </a:prstGeom>
          <a:noFill/>
          <a:ln/>
        </p:spPr>
        <p:txBody>
          <a:bodyPr wrap="square" lIns="0" tIns="0" rIns="0" bIns="0" rtlCol="0" anchor="ctr"/>
          <a:lstStyle/>
          <a:p>
            <a:pPr indent="0" marL="0">
              <a:lnSpc>
                <a:spcPct val="112000"/>
              </a:lnSpc>
              <a:buNone/>
            </a:pPr>
            <a:r>
              <a:rPr lang="en-US" sz="1500" dirty="0">
                <a:solidFill>
                  <a:srgbClr val="4A5470"/>
                </a:solidFill>
                <a:latin typeface="Calibri" pitchFamily="34" charset="0"/>
                <a:ea typeface="Calibri" pitchFamily="34" charset="-122"/>
                <a:cs typeface="Calibri" pitchFamily="34" charset="-120"/>
              </a:rPr>
              <a:t>v</a:t>
            </a:r>
            <a:pPr indent="0" marL="0">
              <a:lnSpc>
                <a:spcPct val="112000"/>
              </a:lnSpc>
              <a:buNone/>
            </a:pPr>
            <a:r>
              <a:rPr lang="en-US" sz="1500" baseline="-40000" dirty="0">
                <a:solidFill>
                  <a:srgbClr val="4A5470"/>
                </a:solidFill>
                <a:latin typeface="Calibri" pitchFamily="34" charset="0"/>
                <a:ea typeface="Calibri" pitchFamily="34" charset="-122"/>
                <a:cs typeface="Calibri" pitchFamily="34" charset="-120"/>
              </a:rPr>
              <a:t>l</a:t>
            </a:r>
            <a:pPr indent="0" marL="0">
              <a:lnSpc>
                <a:spcPct val="112000"/>
              </a:lnSpc>
              <a:buNone/>
            </a:pPr>
            <a:r>
              <a:rPr lang="en-US" sz="1500" dirty="0">
                <a:solidFill>
                  <a:srgbClr val="4A5470"/>
                </a:solidFill>
                <a:latin typeface="Calibri" pitchFamily="34" charset="0"/>
                <a:ea typeface="Calibri" pitchFamily="34" charset="-122"/>
                <a:cs typeface="Calibri" pitchFamily="34" charset="-120"/>
              </a:rPr>
              <a:t> = √(26,7 / 0,6) = √44,4 ≈ </a:t>
            </a:r>
            <a:pPr indent="0" marL="0">
              <a:lnSpc>
                <a:spcPct val="112000"/>
              </a:lnSpc>
              <a:buNone/>
            </a:pPr>
            <a:r>
              <a:rPr lang="en-US" sz="1500" b="1" dirty="0">
                <a:solidFill>
                  <a:srgbClr val="0E1426"/>
                </a:solidFill>
                <a:latin typeface="Calibri" pitchFamily="34" charset="0"/>
                <a:ea typeface="Calibri" pitchFamily="34" charset="-122"/>
                <a:cs typeface="Calibri" pitchFamily="34" charset="-120"/>
              </a:rPr>
              <a:t>6,7 m/s</a:t>
            </a:r>
            <a:endParaRPr lang="en-US" sz="1500" dirty="0"/>
          </a:p>
        </p:txBody>
      </p:sp>
      <p:sp>
        <p:nvSpPr>
          <p:cNvPr id="29" name="Shape 27"/>
          <p:cNvSpPr/>
          <p:nvPr/>
        </p:nvSpPr>
        <p:spPr>
          <a:xfrm>
            <a:off x="5212080" y="5045321"/>
            <a:ext cx="6339535" cy="1099447"/>
          </a:xfrm>
          <a:prstGeom prst="roundRect">
            <a:avLst>
              <a:gd name="adj" fmla="val 13307"/>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30" name="Shape 28"/>
          <p:cNvSpPr/>
          <p:nvPr/>
        </p:nvSpPr>
        <p:spPr>
          <a:xfrm>
            <a:off x="5449824" y="5403021"/>
            <a:ext cx="384048" cy="384048"/>
          </a:xfrm>
          <a:prstGeom prst="roundRect">
            <a:avLst>
              <a:gd name="adj" fmla="val 26000"/>
            </a:avLst>
          </a:prstGeom>
          <a:solidFill>
            <a:srgbClr val="A56209"/>
          </a:solidFill>
          <a:ln/>
        </p:spPr>
      </p:sp>
      <p:sp>
        <p:nvSpPr>
          <p:cNvPr id="31" name="Text 29"/>
          <p:cNvSpPr txBox="1"/>
          <p:nvPr/>
        </p:nvSpPr>
        <p:spPr>
          <a:xfrm>
            <a:off x="5449824" y="5403021"/>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5</a:t>
            </a:r>
            <a:endParaRPr lang="en-US" sz="1150" dirty="0"/>
          </a:p>
        </p:txBody>
      </p:sp>
      <p:sp>
        <p:nvSpPr>
          <p:cNvPr id="32" name="Text 30"/>
          <p:cNvSpPr txBox="1"/>
          <p:nvPr/>
        </p:nvSpPr>
        <p:spPr>
          <a:xfrm>
            <a:off x="5989320" y="5100185"/>
            <a:ext cx="5379415" cy="989719"/>
          </a:xfrm>
          <a:prstGeom prst="rect">
            <a:avLst/>
          </a:prstGeom>
          <a:noFill/>
          <a:ln/>
        </p:spPr>
        <p:txBody>
          <a:bodyPr wrap="square" lIns="0" tIns="0" rIns="0" bIns="0" rtlCol="0" anchor="ctr"/>
          <a:lstStyle/>
          <a:p>
            <a:pPr indent="0" marL="0">
              <a:lnSpc>
                <a:spcPct val="112000"/>
              </a:lnSpc>
              <a:buNone/>
            </a:pPr>
            <a:r>
              <a:rPr lang="en-US" sz="1500" dirty="0">
                <a:solidFill>
                  <a:srgbClr val="4A5470"/>
                </a:solidFill>
                <a:latin typeface="Calibri" pitchFamily="34" charset="0"/>
                <a:ea typeface="Calibri" pitchFamily="34" charset="-122"/>
                <a:cs typeface="Calibri" pitchFamily="34" charset="-120"/>
              </a:rPr>
              <a:t>m/A yarıçapla doğru orantılı olduğu için v</a:t>
            </a:r>
            <a:pPr indent="0" marL="0">
              <a:lnSpc>
                <a:spcPct val="112000"/>
              </a:lnSpc>
              <a:buNone/>
            </a:pPr>
            <a:r>
              <a:rPr lang="en-US" sz="1500" baseline="-40000" dirty="0">
                <a:solidFill>
                  <a:srgbClr val="4A5470"/>
                </a:solidFill>
                <a:latin typeface="Calibri" pitchFamily="34" charset="0"/>
                <a:ea typeface="Calibri" pitchFamily="34" charset="-122"/>
                <a:cs typeface="Calibri" pitchFamily="34" charset="-120"/>
              </a:rPr>
              <a:t>l</a:t>
            </a:r>
            <a:pPr indent="0" marL="0">
              <a:lnSpc>
                <a:spcPct val="112000"/>
              </a:lnSpc>
              <a:buNone/>
            </a:pPr>
            <a:r>
              <a:rPr lang="en-US" sz="1500" dirty="0">
                <a:solidFill>
                  <a:srgbClr val="4A5470"/>
                </a:solidFill>
                <a:latin typeface="Calibri" pitchFamily="34" charset="0"/>
                <a:ea typeface="Calibri" pitchFamily="34" charset="-122"/>
                <a:cs typeface="Calibri" pitchFamily="34" charset="-120"/>
              </a:rPr>
              <a:t> ∝ √r: yarıçapı 2 katı olan damlanın limit hızı √2 ≈ 1,4 katı, yani ≈ 9,4 m/s olur.</a:t>
            </a:r>
            <a:endParaRPr lang="en-US" sz="1500" dirty="0"/>
          </a:p>
        </p:txBody>
      </p:sp>
      <p:sp>
        <p:nvSpPr>
          <p:cNvPr id="33" name="Shape 31"/>
          <p:cNvSpPr/>
          <p:nvPr/>
        </p:nvSpPr>
        <p:spPr>
          <a:xfrm>
            <a:off x="640080" y="6382512"/>
            <a:ext cx="128016" cy="128016"/>
          </a:xfrm>
          <a:prstGeom prst="roundRect">
            <a:avLst>
              <a:gd name="adj" fmla="val 28571"/>
            </a:avLst>
          </a:prstGeom>
          <a:solidFill>
            <a:srgbClr val="A9E648"/>
          </a:solidFill>
          <a:ln/>
        </p:spPr>
      </p:sp>
      <p:sp>
        <p:nvSpPr>
          <p:cNvPr id="34" name="Text 32"/>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dersler.perinet.org/limit-hiz.html</a:t>
            </a:r>
            <a:endParaRPr lang="en-US" sz="1050" dirty="0"/>
          </a:p>
        </p:txBody>
      </p:sp>
      <p:sp>
        <p:nvSpPr>
          <p:cNvPr id="35" name="Text 33"/>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39</a:t>
            </a:r>
            <a:endParaRPr lang="en-US" sz="10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C53455"/>
          </a:solidFill>
          <a:ln/>
          <a:effectLst>
            <a:outerShdw sx="100000" sy="100000" kx="0" ky="0" algn="bl" rotWithShape="0" blurRad="101600" dist="25400" dir="5400000">
              <a:srgbClr val="C53455">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Sık yapılan hatalar · 1 / 2</a:t>
            </a:r>
            <a:endParaRPr lang="en-US" sz="3200" dirty="0"/>
          </a:p>
        </p:txBody>
      </p:sp>
      <p:sp>
        <p:nvSpPr>
          <p:cNvPr id="5" name="Text 3"/>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6" name="Text 4"/>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Sınavda puan kaybettiren klasikler ve doğrusu.</a:t>
            </a:r>
            <a:endParaRPr lang="en-US" sz="1450" dirty="0"/>
          </a:p>
        </p:txBody>
      </p:sp>
      <p:sp>
        <p:nvSpPr>
          <p:cNvPr id="7" name="Shape 5"/>
          <p:cNvSpPr/>
          <p:nvPr/>
        </p:nvSpPr>
        <p:spPr>
          <a:xfrm>
            <a:off x="640080" y="1627632"/>
            <a:ext cx="5346040" cy="2185416"/>
          </a:xfrm>
          <a:prstGeom prst="roundRect">
            <a:avLst>
              <a:gd name="adj" fmla="val 669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841248" y="1773936"/>
            <a:ext cx="274320" cy="274320"/>
          </a:xfrm>
          <a:prstGeom prst="roundRect">
            <a:avLst>
              <a:gd name="adj" fmla="val 26667"/>
            </a:avLst>
          </a:prstGeom>
          <a:solidFill>
            <a:srgbClr val="FBE9EE"/>
          </a:solidFill>
          <a:ln/>
        </p:spPr>
      </p:sp>
      <p:sp>
        <p:nvSpPr>
          <p:cNvPr id="9" name="Text 7"/>
          <p:cNvSpPr txBox="1"/>
          <p:nvPr/>
        </p:nvSpPr>
        <p:spPr>
          <a:xfrm>
            <a:off x="841248" y="1773936"/>
            <a:ext cx="274320" cy="274320"/>
          </a:xfrm>
          <a:prstGeom prst="rect">
            <a:avLst/>
          </a:prstGeom>
          <a:noFill/>
          <a:ln/>
        </p:spPr>
        <p:txBody>
          <a:bodyPr wrap="square" lIns="0" tIns="0" rIns="0" bIns="0" rtlCol="0" anchor="ctr"/>
          <a:lstStyle/>
          <a:p>
            <a:pPr algn="ctr" indent="0" marL="0">
              <a:buNone/>
            </a:pPr>
            <a:r>
              <a:rPr lang="en-US" sz="1250" b="1" dirty="0">
                <a:solidFill>
                  <a:srgbClr val="C53455"/>
                </a:solidFill>
                <a:latin typeface="Calibri" pitchFamily="34" charset="0"/>
                <a:ea typeface="Calibri" pitchFamily="34" charset="-122"/>
                <a:cs typeface="Calibri" pitchFamily="34" charset="-120"/>
              </a:rPr>
              <a:t>✗</a:t>
            </a:r>
            <a:endParaRPr lang="en-US" sz="1250" dirty="0"/>
          </a:p>
        </p:txBody>
      </p:sp>
      <p:sp>
        <p:nvSpPr>
          <p:cNvPr id="10" name="Text 8"/>
          <p:cNvSpPr txBox="1"/>
          <p:nvPr/>
        </p:nvSpPr>
        <p:spPr>
          <a:xfrm>
            <a:off x="1225296" y="1746504"/>
            <a:ext cx="4559656" cy="335280"/>
          </a:xfrm>
          <a:prstGeom prst="rect">
            <a:avLst/>
          </a:prstGeom>
          <a:noFill/>
          <a:ln/>
        </p:spPr>
        <p:txBody>
          <a:bodyPr wrap="square" lIns="0" tIns="0" rIns="0" bIns="0" rtlCol="0" anchor="t"/>
          <a:lstStyle/>
          <a:p>
            <a:pPr indent="0" marL="0">
              <a:lnSpc>
                <a:spcPct val="108000"/>
              </a:lnSpc>
              <a:buNone/>
            </a:pPr>
            <a:r>
              <a:rPr lang="en-US" sz="1600" b="1" dirty="0">
                <a:solidFill>
                  <a:srgbClr val="0E1426"/>
                </a:solidFill>
                <a:latin typeface="Calibri" pitchFamily="34" charset="0"/>
                <a:ea typeface="Calibri" pitchFamily="34" charset="-122"/>
                <a:cs typeface="Calibri" pitchFamily="34" charset="-120"/>
              </a:rPr>
              <a:t>“Limit hızda hız sıfırdır.”</a:t>
            </a:r>
            <a:endParaRPr lang="en-US" sz="1600" dirty="0"/>
          </a:p>
        </p:txBody>
      </p:sp>
      <p:sp>
        <p:nvSpPr>
          <p:cNvPr id="11" name="Shape 9"/>
          <p:cNvSpPr/>
          <p:nvPr/>
        </p:nvSpPr>
        <p:spPr>
          <a:xfrm>
            <a:off x="841248" y="2154936"/>
            <a:ext cx="274320" cy="274320"/>
          </a:xfrm>
          <a:prstGeom prst="roundRect">
            <a:avLst>
              <a:gd name="adj" fmla="val 26667"/>
            </a:avLst>
          </a:prstGeom>
          <a:solidFill>
            <a:srgbClr val="EAF7DC"/>
          </a:solidFill>
          <a:ln/>
        </p:spPr>
      </p:sp>
      <p:sp>
        <p:nvSpPr>
          <p:cNvPr id="12" name="Text 10"/>
          <p:cNvSpPr txBox="1"/>
          <p:nvPr/>
        </p:nvSpPr>
        <p:spPr>
          <a:xfrm>
            <a:off x="841248" y="2154936"/>
            <a:ext cx="274320" cy="274320"/>
          </a:xfrm>
          <a:prstGeom prst="rect">
            <a:avLst/>
          </a:prstGeom>
          <a:noFill/>
          <a:ln/>
        </p:spPr>
        <p:txBody>
          <a:bodyPr wrap="square" lIns="0" tIns="0" rIns="0" bIns="0" rtlCol="0" anchor="ctr"/>
          <a:lstStyle/>
          <a:p>
            <a:pPr algn="ctr" indent="0" marL="0">
              <a:buNone/>
            </a:pPr>
            <a:r>
              <a:rPr lang="en-US" sz="1250" b="1" dirty="0">
                <a:solidFill>
                  <a:srgbClr val="3C8C21"/>
                </a:solidFill>
                <a:latin typeface="Calibri" pitchFamily="34" charset="0"/>
                <a:ea typeface="Calibri" pitchFamily="34" charset="-122"/>
                <a:cs typeface="Calibri" pitchFamily="34" charset="-120"/>
              </a:rPr>
              <a:t>✓</a:t>
            </a:r>
            <a:endParaRPr lang="en-US" sz="1250" dirty="0"/>
          </a:p>
        </p:txBody>
      </p:sp>
      <p:sp>
        <p:nvSpPr>
          <p:cNvPr id="13" name="Text 11"/>
          <p:cNvSpPr txBox="1"/>
          <p:nvPr/>
        </p:nvSpPr>
        <p:spPr>
          <a:xfrm>
            <a:off x="1225296" y="2136648"/>
            <a:ext cx="4559656" cy="1566672"/>
          </a:xfrm>
          <a:prstGeom prst="rect">
            <a:avLst/>
          </a:prstGeom>
          <a:noFill/>
          <a:ln/>
        </p:spPr>
        <p:txBody>
          <a:bodyPr wrap="square" lIns="0" tIns="0" rIns="0" bIns="0" rtlCol="0" anchor="t"/>
          <a:lstStyle/>
          <a:p>
            <a:pPr indent="0" marL="0">
              <a:lnSpc>
                <a:spcPct val="108000"/>
              </a:lnSpc>
              <a:buNone/>
            </a:pPr>
            <a:r>
              <a:rPr lang="en-US" sz="1500" dirty="0">
                <a:solidFill>
                  <a:srgbClr val="4A5470"/>
                </a:solidFill>
                <a:latin typeface="Calibri" pitchFamily="34" charset="0"/>
                <a:ea typeface="Calibri" pitchFamily="34" charset="-122"/>
                <a:cs typeface="Calibri" pitchFamily="34" charset="-120"/>
              </a:rPr>
              <a:t> Sıfır olan ivmedir; hız sabit ve genellikle büyüktür.</a:t>
            </a:r>
            <a:endParaRPr lang="en-US" sz="1500" dirty="0"/>
          </a:p>
        </p:txBody>
      </p:sp>
      <p:sp>
        <p:nvSpPr>
          <p:cNvPr id="14" name="Shape 12"/>
          <p:cNvSpPr/>
          <p:nvPr/>
        </p:nvSpPr>
        <p:spPr>
          <a:xfrm>
            <a:off x="6205576" y="1627632"/>
            <a:ext cx="5346040" cy="2185416"/>
          </a:xfrm>
          <a:prstGeom prst="roundRect">
            <a:avLst>
              <a:gd name="adj" fmla="val 669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5" name="Shape 13"/>
          <p:cNvSpPr/>
          <p:nvPr/>
        </p:nvSpPr>
        <p:spPr>
          <a:xfrm>
            <a:off x="6406744" y="1773936"/>
            <a:ext cx="274320" cy="274320"/>
          </a:xfrm>
          <a:prstGeom prst="roundRect">
            <a:avLst>
              <a:gd name="adj" fmla="val 26667"/>
            </a:avLst>
          </a:prstGeom>
          <a:solidFill>
            <a:srgbClr val="FBE9EE"/>
          </a:solidFill>
          <a:ln/>
        </p:spPr>
      </p:sp>
      <p:sp>
        <p:nvSpPr>
          <p:cNvPr id="16" name="Text 14"/>
          <p:cNvSpPr txBox="1"/>
          <p:nvPr/>
        </p:nvSpPr>
        <p:spPr>
          <a:xfrm>
            <a:off x="6406744" y="1773936"/>
            <a:ext cx="274320" cy="274320"/>
          </a:xfrm>
          <a:prstGeom prst="rect">
            <a:avLst/>
          </a:prstGeom>
          <a:noFill/>
          <a:ln/>
        </p:spPr>
        <p:txBody>
          <a:bodyPr wrap="square" lIns="0" tIns="0" rIns="0" bIns="0" rtlCol="0" anchor="ctr"/>
          <a:lstStyle/>
          <a:p>
            <a:pPr algn="ctr" indent="0" marL="0">
              <a:buNone/>
            </a:pPr>
            <a:r>
              <a:rPr lang="en-US" sz="1250" b="1" dirty="0">
                <a:solidFill>
                  <a:srgbClr val="C53455"/>
                </a:solidFill>
                <a:latin typeface="Calibri" pitchFamily="34" charset="0"/>
                <a:ea typeface="Calibri" pitchFamily="34" charset="-122"/>
                <a:cs typeface="Calibri" pitchFamily="34" charset="-120"/>
              </a:rPr>
              <a:t>✗</a:t>
            </a:r>
            <a:endParaRPr lang="en-US" sz="1250" dirty="0"/>
          </a:p>
        </p:txBody>
      </p:sp>
      <p:sp>
        <p:nvSpPr>
          <p:cNvPr id="17" name="Text 15"/>
          <p:cNvSpPr txBox="1"/>
          <p:nvPr/>
        </p:nvSpPr>
        <p:spPr>
          <a:xfrm>
            <a:off x="6790792" y="1746504"/>
            <a:ext cx="4559656" cy="335280"/>
          </a:xfrm>
          <a:prstGeom prst="rect">
            <a:avLst/>
          </a:prstGeom>
          <a:noFill/>
          <a:ln/>
        </p:spPr>
        <p:txBody>
          <a:bodyPr wrap="square" lIns="0" tIns="0" rIns="0" bIns="0" rtlCol="0" anchor="t"/>
          <a:lstStyle/>
          <a:p>
            <a:pPr indent="0" marL="0">
              <a:lnSpc>
                <a:spcPct val="108000"/>
              </a:lnSpc>
              <a:buNone/>
            </a:pPr>
            <a:r>
              <a:rPr lang="en-US" sz="1600" b="1" dirty="0">
                <a:solidFill>
                  <a:srgbClr val="0E1426"/>
                </a:solidFill>
                <a:latin typeface="Calibri" pitchFamily="34" charset="0"/>
                <a:ea typeface="Calibri" pitchFamily="34" charset="-122"/>
                <a:cs typeface="Calibri" pitchFamily="34" charset="-120"/>
              </a:rPr>
              <a:t>“Limit hızda cisme kuvvet etki etmez.”</a:t>
            </a:r>
            <a:endParaRPr lang="en-US" sz="1600" dirty="0"/>
          </a:p>
        </p:txBody>
      </p:sp>
      <p:sp>
        <p:nvSpPr>
          <p:cNvPr id="18" name="Shape 16"/>
          <p:cNvSpPr/>
          <p:nvPr/>
        </p:nvSpPr>
        <p:spPr>
          <a:xfrm>
            <a:off x="6406744" y="2154936"/>
            <a:ext cx="274320" cy="274320"/>
          </a:xfrm>
          <a:prstGeom prst="roundRect">
            <a:avLst>
              <a:gd name="adj" fmla="val 26667"/>
            </a:avLst>
          </a:prstGeom>
          <a:solidFill>
            <a:srgbClr val="EAF7DC"/>
          </a:solidFill>
          <a:ln/>
        </p:spPr>
      </p:sp>
      <p:sp>
        <p:nvSpPr>
          <p:cNvPr id="19" name="Text 17"/>
          <p:cNvSpPr txBox="1"/>
          <p:nvPr/>
        </p:nvSpPr>
        <p:spPr>
          <a:xfrm>
            <a:off x="6406744" y="2154936"/>
            <a:ext cx="274320" cy="274320"/>
          </a:xfrm>
          <a:prstGeom prst="rect">
            <a:avLst/>
          </a:prstGeom>
          <a:noFill/>
          <a:ln/>
        </p:spPr>
        <p:txBody>
          <a:bodyPr wrap="square" lIns="0" tIns="0" rIns="0" bIns="0" rtlCol="0" anchor="ctr"/>
          <a:lstStyle/>
          <a:p>
            <a:pPr algn="ctr" indent="0" marL="0">
              <a:buNone/>
            </a:pPr>
            <a:r>
              <a:rPr lang="en-US" sz="1250" b="1" dirty="0">
                <a:solidFill>
                  <a:srgbClr val="3C8C21"/>
                </a:solidFill>
                <a:latin typeface="Calibri" pitchFamily="34" charset="0"/>
                <a:ea typeface="Calibri" pitchFamily="34" charset="-122"/>
                <a:cs typeface="Calibri" pitchFamily="34" charset="-120"/>
              </a:rPr>
              <a:t>✓</a:t>
            </a:r>
            <a:endParaRPr lang="en-US" sz="1250" dirty="0"/>
          </a:p>
        </p:txBody>
      </p:sp>
      <p:sp>
        <p:nvSpPr>
          <p:cNvPr id="20" name="Text 18"/>
          <p:cNvSpPr txBox="1"/>
          <p:nvPr/>
        </p:nvSpPr>
        <p:spPr>
          <a:xfrm>
            <a:off x="6790792" y="2136648"/>
            <a:ext cx="4559656" cy="1566672"/>
          </a:xfrm>
          <a:prstGeom prst="rect">
            <a:avLst/>
          </a:prstGeom>
          <a:noFill/>
          <a:ln/>
        </p:spPr>
        <p:txBody>
          <a:bodyPr wrap="square" lIns="0" tIns="0" rIns="0" bIns="0" rtlCol="0" anchor="t"/>
          <a:lstStyle/>
          <a:p>
            <a:pPr indent="0" marL="0">
              <a:lnSpc>
                <a:spcPct val="108000"/>
              </a:lnSpc>
              <a:buNone/>
            </a:pPr>
            <a:r>
              <a:rPr lang="en-US" sz="1500" dirty="0">
                <a:solidFill>
                  <a:srgbClr val="4A5470"/>
                </a:solidFill>
                <a:latin typeface="Calibri" pitchFamily="34" charset="0"/>
                <a:ea typeface="Calibri" pitchFamily="34" charset="-122"/>
                <a:cs typeface="Calibri" pitchFamily="34" charset="-120"/>
              </a:rPr>
              <a:t> İki büyük kuvvet vardır (ağırlık ve direnç); </a:t>
            </a:r>
            <a:pPr indent="0" marL="0">
              <a:lnSpc>
                <a:spcPct val="108000"/>
              </a:lnSpc>
              <a:buNone/>
            </a:pPr>
            <a:r>
              <a:rPr lang="en-US" sz="1500" i="1" dirty="0">
                <a:solidFill>
                  <a:srgbClr val="4A5470"/>
                </a:solidFill>
                <a:latin typeface="Calibri" pitchFamily="34" charset="0"/>
                <a:ea typeface="Calibri" pitchFamily="34" charset="-122"/>
                <a:cs typeface="Calibri" pitchFamily="34" charset="-120"/>
              </a:rPr>
              <a:t>net</a:t>
            </a:r>
            <a:pPr indent="0" marL="0">
              <a:lnSpc>
                <a:spcPct val="108000"/>
              </a:lnSpc>
              <a:buNone/>
            </a:pPr>
            <a:r>
              <a:rPr lang="en-US" sz="1500" dirty="0">
                <a:solidFill>
                  <a:srgbClr val="4A5470"/>
                </a:solidFill>
                <a:latin typeface="Calibri" pitchFamily="34" charset="0"/>
                <a:ea typeface="Calibri" pitchFamily="34" charset="-122"/>
                <a:cs typeface="Calibri" pitchFamily="34" charset="-120"/>
              </a:rPr>
              <a:t> kuvvet sıfırdır.</a:t>
            </a:r>
            <a:endParaRPr lang="en-US" sz="1500" dirty="0"/>
          </a:p>
        </p:txBody>
      </p:sp>
      <p:sp>
        <p:nvSpPr>
          <p:cNvPr id="21" name="Shape 19"/>
          <p:cNvSpPr/>
          <p:nvPr/>
        </p:nvSpPr>
        <p:spPr>
          <a:xfrm>
            <a:off x="640080" y="3959352"/>
            <a:ext cx="5346040" cy="2185416"/>
          </a:xfrm>
          <a:prstGeom prst="roundRect">
            <a:avLst>
              <a:gd name="adj" fmla="val 669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2" name="Shape 20"/>
          <p:cNvSpPr/>
          <p:nvPr/>
        </p:nvSpPr>
        <p:spPr>
          <a:xfrm>
            <a:off x="841248" y="4105656"/>
            <a:ext cx="274320" cy="274320"/>
          </a:xfrm>
          <a:prstGeom prst="roundRect">
            <a:avLst>
              <a:gd name="adj" fmla="val 26667"/>
            </a:avLst>
          </a:prstGeom>
          <a:solidFill>
            <a:srgbClr val="FBE9EE"/>
          </a:solidFill>
          <a:ln/>
        </p:spPr>
      </p:sp>
      <p:sp>
        <p:nvSpPr>
          <p:cNvPr id="23" name="Text 21"/>
          <p:cNvSpPr txBox="1"/>
          <p:nvPr/>
        </p:nvSpPr>
        <p:spPr>
          <a:xfrm>
            <a:off x="841248" y="4105656"/>
            <a:ext cx="274320" cy="274320"/>
          </a:xfrm>
          <a:prstGeom prst="rect">
            <a:avLst/>
          </a:prstGeom>
          <a:noFill/>
          <a:ln/>
        </p:spPr>
        <p:txBody>
          <a:bodyPr wrap="square" lIns="0" tIns="0" rIns="0" bIns="0" rtlCol="0" anchor="ctr"/>
          <a:lstStyle/>
          <a:p>
            <a:pPr algn="ctr" indent="0" marL="0">
              <a:buNone/>
            </a:pPr>
            <a:r>
              <a:rPr lang="en-US" sz="1250" b="1" dirty="0">
                <a:solidFill>
                  <a:srgbClr val="C53455"/>
                </a:solidFill>
                <a:latin typeface="Calibri" pitchFamily="34" charset="0"/>
                <a:ea typeface="Calibri" pitchFamily="34" charset="-122"/>
                <a:cs typeface="Calibri" pitchFamily="34" charset="-120"/>
              </a:rPr>
              <a:t>✗</a:t>
            </a:r>
            <a:endParaRPr lang="en-US" sz="1250" dirty="0"/>
          </a:p>
        </p:txBody>
      </p:sp>
      <p:sp>
        <p:nvSpPr>
          <p:cNvPr id="24" name="Text 22"/>
          <p:cNvSpPr txBox="1"/>
          <p:nvPr/>
        </p:nvSpPr>
        <p:spPr>
          <a:xfrm>
            <a:off x="1225296" y="4078224"/>
            <a:ext cx="4559656" cy="335280"/>
          </a:xfrm>
          <a:prstGeom prst="rect">
            <a:avLst/>
          </a:prstGeom>
          <a:noFill/>
          <a:ln/>
        </p:spPr>
        <p:txBody>
          <a:bodyPr wrap="square" lIns="0" tIns="0" rIns="0" bIns="0" rtlCol="0" anchor="t"/>
          <a:lstStyle/>
          <a:p>
            <a:pPr indent="0" marL="0">
              <a:lnSpc>
                <a:spcPct val="108000"/>
              </a:lnSpc>
              <a:buNone/>
            </a:pPr>
            <a:r>
              <a:rPr lang="en-US" sz="1600" b="1" dirty="0">
                <a:solidFill>
                  <a:srgbClr val="0E1426"/>
                </a:solidFill>
                <a:latin typeface="Calibri" pitchFamily="34" charset="0"/>
                <a:ea typeface="Calibri" pitchFamily="34" charset="-122"/>
                <a:cs typeface="Calibri" pitchFamily="34" charset="-120"/>
              </a:rPr>
              <a:t>“Ağır cisim her zaman daha hızlı düşer.”</a:t>
            </a:r>
            <a:endParaRPr lang="en-US" sz="1600" dirty="0"/>
          </a:p>
        </p:txBody>
      </p:sp>
      <p:sp>
        <p:nvSpPr>
          <p:cNvPr id="25" name="Shape 23"/>
          <p:cNvSpPr/>
          <p:nvPr/>
        </p:nvSpPr>
        <p:spPr>
          <a:xfrm>
            <a:off x="841248" y="4486656"/>
            <a:ext cx="274320" cy="274320"/>
          </a:xfrm>
          <a:prstGeom prst="roundRect">
            <a:avLst>
              <a:gd name="adj" fmla="val 26667"/>
            </a:avLst>
          </a:prstGeom>
          <a:solidFill>
            <a:srgbClr val="EAF7DC"/>
          </a:solidFill>
          <a:ln/>
        </p:spPr>
      </p:sp>
      <p:sp>
        <p:nvSpPr>
          <p:cNvPr id="26" name="Text 24"/>
          <p:cNvSpPr txBox="1"/>
          <p:nvPr/>
        </p:nvSpPr>
        <p:spPr>
          <a:xfrm>
            <a:off x="841248" y="4486656"/>
            <a:ext cx="274320" cy="274320"/>
          </a:xfrm>
          <a:prstGeom prst="rect">
            <a:avLst/>
          </a:prstGeom>
          <a:noFill/>
          <a:ln/>
        </p:spPr>
        <p:txBody>
          <a:bodyPr wrap="square" lIns="0" tIns="0" rIns="0" bIns="0" rtlCol="0" anchor="ctr"/>
          <a:lstStyle/>
          <a:p>
            <a:pPr algn="ctr" indent="0" marL="0">
              <a:buNone/>
            </a:pPr>
            <a:r>
              <a:rPr lang="en-US" sz="1250" b="1" dirty="0">
                <a:solidFill>
                  <a:srgbClr val="3C8C21"/>
                </a:solidFill>
                <a:latin typeface="Calibri" pitchFamily="34" charset="0"/>
                <a:ea typeface="Calibri" pitchFamily="34" charset="-122"/>
                <a:cs typeface="Calibri" pitchFamily="34" charset="-120"/>
              </a:rPr>
              <a:t>✓</a:t>
            </a:r>
            <a:endParaRPr lang="en-US" sz="1250" dirty="0"/>
          </a:p>
        </p:txBody>
      </p:sp>
      <p:sp>
        <p:nvSpPr>
          <p:cNvPr id="27" name="Text 25"/>
          <p:cNvSpPr txBox="1"/>
          <p:nvPr/>
        </p:nvSpPr>
        <p:spPr>
          <a:xfrm>
            <a:off x="1225296" y="4468368"/>
            <a:ext cx="4559656" cy="1566672"/>
          </a:xfrm>
          <a:prstGeom prst="rect">
            <a:avLst/>
          </a:prstGeom>
          <a:noFill/>
          <a:ln/>
        </p:spPr>
        <p:txBody>
          <a:bodyPr wrap="square" lIns="0" tIns="0" rIns="0" bIns="0" rtlCol="0" anchor="t"/>
          <a:lstStyle/>
          <a:p>
            <a:pPr indent="0" marL="0">
              <a:lnSpc>
                <a:spcPct val="108000"/>
              </a:lnSpc>
              <a:buNone/>
            </a:pPr>
            <a:r>
              <a:rPr lang="en-US" sz="1500" dirty="0">
                <a:solidFill>
                  <a:srgbClr val="4A5470"/>
                </a:solidFill>
                <a:latin typeface="Calibri" pitchFamily="34" charset="0"/>
                <a:ea typeface="Calibri" pitchFamily="34" charset="-122"/>
                <a:cs typeface="Calibri" pitchFamily="34" charset="-120"/>
              </a:rPr>
              <a:t> Belirleyici olan m/A oranıdır; hava direnci yoksa kütle hiç rol oynamaz.</a:t>
            </a:r>
            <a:endParaRPr lang="en-US" sz="1500" dirty="0"/>
          </a:p>
        </p:txBody>
      </p:sp>
      <p:sp>
        <p:nvSpPr>
          <p:cNvPr id="28" name="Shape 26"/>
          <p:cNvSpPr/>
          <p:nvPr/>
        </p:nvSpPr>
        <p:spPr>
          <a:xfrm>
            <a:off x="6205576" y="3959352"/>
            <a:ext cx="5346040" cy="2185416"/>
          </a:xfrm>
          <a:prstGeom prst="roundRect">
            <a:avLst>
              <a:gd name="adj" fmla="val 669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9" name="Shape 27"/>
          <p:cNvSpPr/>
          <p:nvPr/>
        </p:nvSpPr>
        <p:spPr>
          <a:xfrm>
            <a:off x="6406744" y="4105656"/>
            <a:ext cx="274320" cy="274320"/>
          </a:xfrm>
          <a:prstGeom prst="roundRect">
            <a:avLst>
              <a:gd name="adj" fmla="val 26667"/>
            </a:avLst>
          </a:prstGeom>
          <a:solidFill>
            <a:srgbClr val="FBE9EE"/>
          </a:solidFill>
          <a:ln/>
        </p:spPr>
      </p:sp>
      <p:sp>
        <p:nvSpPr>
          <p:cNvPr id="30" name="Text 28"/>
          <p:cNvSpPr txBox="1"/>
          <p:nvPr/>
        </p:nvSpPr>
        <p:spPr>
          <a:xfrm>
            <a:off x="6406744" y="4105656"/>
            <a:ext cx="274320" cy="274320"/>
          </a:xfrm>
          <a:prstGeom prst="rect">
            <a:avLst/>
          </a:prstGeom>
          <a:noFill/>
          <a:ln/>
        </p:spPr>
        <p:txBody>
          <a:bodyPr wrap="square" lIns="0" tIns="0" rIns="0" bIns="0" rtlCol="0" anchor="ctr"/>
          <a:lstStyle/>
          <a:p>
            <a:pPr algn="ctr" indent="0" marL="0">
              <a:buNone/>
            </a:pPr>
            <a:r>
              <a:rPr lang="en-US" sz="1250" b="1" dirty="0">
                <a:solidFill>
                  <a:srgbClr val="C53455"/>
                </a:solidFill>
                <a:latin typeface="Calibri" pitchFamily="34" charset="0"/>
                <a:ea typeface="Calibri" pitchFamily="34" charset="-122"/>
                <a:cs typeface="Calibri" pitchFamily="34" charset="-120"/>
              </a:rPr>
              <a:t>✗</a:t>
            </a:r>
            <a:endParaRPr lang="en-US" sz="1250" dirty="0"/>
          </a:p>
        </p:txBody>
      </p:sp>
      <p:sp>
        <p:nvSpPr>
          <p:cNvPr id="31" name="Text 29"/>
          <p:cNvSpPr txBox="1"/>
          <p:nvPr/>
        </p:nvSpPr>
        <p:spPr>
          <a:xfrm>
            <a:off x="6790792" y="4078224"/>
            <a:ext cx="4559656" cy="335280"/>
          </a:xfrm>
          <a:prstGeom prst="rect">
            <a:avLst/>
          </a:prstGeom>
          <a:noFill/>
          <a:ln/>
        </p:spPr>
        <p:txBody>
          <a:bodyPr wrap="square" lIns="0" tIns="0" rIns="0" bIns="0" rtlCol="0" anchor="t"/>
          <a:lstStyle/>
          <a:p>
            <a:pPr indent="0" marL="0">
              <a:lnSpc>
                <a:spcPct val="108000"/>
              </a:lnSpc>
              <a:buNone/>
            </a:pPr>
            <a:r>
              <a:rPr lang="en-US" sz="1600" b="1" dirty="0">
                <a:solidFill>
                  <a:srgbClr val="0E1426"/>
                </a:solidFill>
                <a:latin typeface="Calibri" pitchFamily="34" charset="0"/>
                <a:ea typeface="Calibri" pitchFamily="34" charset="-122"/>
                <a:cs typeface="Calibri" pitchFamily="34" charset="-120"/>
              </a:rPr>
              <a:t>“Hava direnci hızla doğru orantılıdır.”</a:t>
            </a:r>
            <a:endParaRPr lang="en-US" sz="1600" dirty="0"/>
          </a:p>
        </p:txBody>
      </p:sp>
      <p:sp>
        <p:nvSpPr>
          <p:cNvPr id="32" name="Shape 30"/>
          <p:cNvSpPr/>
          <p:nvPr/>
        </p:nvSpPr>
        <p:spPr>
          <a:xfrm>
            <a:off x="6406744" y="4486656"/>
            <a:ext cx="274320" cy="274320"/>
          </a:xfrm>
          <a:prstGeom prst="roundRect">
            <a:avLst>
              <a:gd name="adj" fmla="val 26667"/>
            </a:avLst>
          </a:prstGeom>
          <a:solidFill>
            <a:srgbClr val="EAF7DC"/>
          </a:solidFill>
          <a:ln/>
        </p:spPr>
      </p:sp>
      <p:sp>
        <p:nvSpPr>
          <p:cNvPr id="33" name="Text 31"/>
          <p:cNvSpPr txBox="1"/>
          <p:nvPr/>
        </p:nvSpPr>
        <p:spPr>
          <a:xfrm>
            <a:off x="6406744" y="4486656"/>
            <a:ext cx="274320" cy="274320"/>
          </a:xfrm>
          <a:prstGeom prst="rect">
            <a:avLst/>
          </a:prstGeom>
          <a:noFill/>
          <a:ln/>
        </p:spPr>
        <p:txBody>
          <a:bodyPr wrap="square" lIns="0" tIns="0" rIns="0" bIns="0" rtlCol="0" anchor="ctr"/>
          <a:lstStyle/>
          <a:p>
            <a:pPr algn="ctr" indent="0" marL="0">
              <a:buNone/>
            </a:pPr>
            <a:r>
              <a:rPr lang="en-US" sz="1250" b="1" dirty="0">
                <a:solidFill>
                  <a:srgbClr val="3C8C21"/>
                </a:solidFill>
                <a:latin typeface="Calibri" pitchFamily="34" charset="0"/>
                <a:ea typeface="Calibri" pitchFamily="34" charset="-122"/>
                <a:cs typeface="Calibri" pitchFamily="34" charset="-120"/>
              </a:rPr>
              <a:t>✓</a:t>
            </a:r>
            <a:endParaRPr lang="en-US" sz="1250" dirty="0"/>
          </a:p>
        </p:txBody>
      </p:sp>
      <p:sp>
        <p:nvSpPr>
          <p:cNvPr id="34" name="Text 32"/>
          <p:cNvSpPr txBox="1"/>
          <p:nvPr/>
        </p:nvSpPr>
        <p:spPr>
          <a:xfrm>
            <a:off x="6790792" y="4468368"/>
            <a:ext cx="4559656" cy="1566672"/>
          </a:xfrm>
          <a:prstGeom prst="rect">
            <a:avLst/>
          </a:prstGeom>
          <a:noFill/>
          <a:ln/>
        </p:spPr>
        <p:txBody>
          <a:bodyPr wrap="square" lIns="0" tIns="0" rIns="0" bIns="0" rtlCol="0" anchor="t"/>
          <a:lstStyle/>
          <a:p>
            <a:pPr indent="0" marL="0">
              <a:lnSpc>
                <a:spcPct val="108000"/>
              </a:lnSpc>
              <a:buNone/>
            </a:pPr>
            <a:r>
              <a:rPr lang="en-US" sz="1500" dirty="0">
                <a:solidFill>
                  <a:srgbClr val="4A5470"/>
                </a:solidFill>
                <a:latin typeface="Calibri" pitchFamily="34" charset="0"/>
                <a:ea typeface="Calibri" pitchFamily="34" charset="-122"/>
                <a:cs typeface="Calibri" pitchFamily="34" charset="-120"/>
              </a:rPr>
              <a:t> Günlük hızlarda v² ile artar; hız 2 katına çıkarsa direnç 4 katına çıkar.</a:t>
            </a:r>
            <a:endParaRPr lang="en-US" sz="1500" dirty="0"/>
          </a:p>
        </p:txBody>
      </p:sp>
      <p:sp>
        <p:nvSpPr>
          <p:cNvPr id="35" name="Shape 33"/>
          <p:cNvSpPr/>
          <p:nvPr/>
        </p:nvSpPr>
        <p:spPr>
          <a:xfrm>
            <a:off x="640080" y="6382512"/>
            <a:ext cx="128016" cy="128016"/>
          </a:xfrm>
          <a:prstGeom prst="roundRect">
            <a:avLst>
              <a:gd name="adj" fmla="val 28571"/>
            </a:avLst>
          </a:prstGeom>
          <a:solidFill>
            <a:srgbClr val="A9E648"/>
          </a:solidFill>
          <a:ln/>
        </p:spPr>
      </p:sp>
      <p:sp>
        <p:nvSpPr>
          <p:cNvPr id="36" name="Text 34"/>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dersler.perinet.org/limit-hiz.html</a:t>
            </a:r>
            <a:endParaRPr lang="en-US" sz="1050" dirty="0"/>
          </a:p>
        </p:txBody>
      </p:sp>
      <p:sp>
        <p:nvSpPr>
          <p:cNvPr id="37" name="Text 35"/>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40</a:t>
            </a:r>
            <a:endParaRPr lang="en-US" sz="10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C53455"/>
          </a:solidFill>
          <a:ln/>
          <a:effectLst>
            <a:outerShdw sx="100000" sy="100000" kx="0" ky="0" algn="bl" rotWithShape="0" blurRad="101600" dist="25400" dir="5400000">
              <a:srgbClr val="C53455">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Sık yapılan hatalar · 2 / 2</a:t>
            </a:r>
            <a:endParaRPr lang="en-US" sz="3200" dirty="0"/>
          </a:p>
        </p:txBody>
      </p:sp>
      <p:sp>
        <p:nvSpPr>
          <p:cNvPr id="5" name="Text 3"/>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6" name="Text 4"/>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Sınavda puan kaybettiren klasikler ve doğrusu.</a:t>
            </a:r>
            <a:endParaRPr lang="en-US" sz="1450" dirty="0"/>
          </a:p>
        </p:txBody>
      </p:sp>
      <p:sp>
        <p:nvSpPr>
          <p:cNvPr id="7" name="Shape 5"/>
          <p:cNvSpPr/>
          <p:nvPr/>
        </p:nvSpPr>
        <p:spPr>
          <a:xfrm>
            <a:off x="640080" y="1627632"/>
            <a:ext cx="5346040" cy="2185416"/>
          </a:xfrm>
          <a:prstGeom prst="roundRect">
            <a:avLst>
              <a:gd name="adj" fmla="val 669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841248" y="1773936"/>
            <a:ext cx="274320" cy="274320"/>
          </a:xfrm>
          <a:prstGeom prst="roundRect">
            <a:avLst>
              <a:gd name="adj" fmla="val 26667"/>
            </a:avLst>
          </a:prstGeom>
          <a:solidFill>
            <a:srgbClr val="FBE9EE"/>
          </a:solidFill>
          <a:ln/>
        </p:spPr>
      </p:sp>
      <p:sp>
        <p:nvSpPr>
          <p:cNvPr id="9" name="Text 7"/>
          <p:cNvSpPr txBox="1"/>
          <p:nvPr/>
        </p:nvSpPr>
        <p:spPr>
          <a:xfrm>
            <a:off x="841248" y="1773936"/>
            <a:ext cx="274320" cy="274320"/>
          </a:xfrm>
          <a:prstGeom prst="rect">
            <a:avLst/>
          </a:prstGeom>
          <a:noFill/>
          <a:ln/>
        </p:spPr>
        <p:txBody>
          <a:bodyPr wrap="square" lIns="0" tIns="0" rIns="0" bIns="0" rtlCol="0" anchor="ctr"/>
          <a:lstStyle/>
          <a:p>
            <a:pPr algn="ctr" indent="0" marL="0">
              <a:buNone/>
            </a:pPr>
            <a:r>
              <a:rPr lang="en-US" sz="1250" b="1" dirty="0">
                <a:solidFill>
                  <a:srgbClr val="C53455"/>
                </a:solidFill>
                <a:latin typeface="Calibri" pitchFamily="34" charset="0"/>
                <a:ea typeface="Calibri" pitchFamily="34" charset="-122"/>
                <a:cs typeface="Calibri" pitchFamily="34" charset="-120"/>
              </a:rPr>
              <a:t>✗</a:t>
            </a:r>
            <a:endParaRPr lang="en-US" sz="1250" dirty="0"/>
          </a:p>
        </p:txBody>
      </p:sp>
      <p:sp>
        <p:nvSpPr>
          <p:cNvPr id="10" name="Text 8"/>
          <p:cNvSpPr txBox="1"/>
          <p:nvPr/>
        </p:nvSpPr>
        <p:spPr>
          <a:xfrm>
            <a:off x="1225296" y="1746504"/>
            <a:ext cx="4559656" cy="335280"/>
          </a:xfrm>
          <a:prstGeom prst="rect">
            <a:avLst/>
          </a:prstGeom>
          <a:noFill/>
          <a:ln/>
        </p:spPr>
        <p:txBody>
          <a:bodyPr wrap="square" lIns="0" tIns="0" rIns="0" bIns="0" rtlCol="0" anchor="t"/>
          <a:lstStyle/>
          <a:p>
            <a:pPr indent="0" marL="0">
              <a:lnSpc>
                <a:spcPct val="108000"/>
              </a:lnSpc>
              <a:buNone/>
            </a:pPr>
            <a:r>
              <a:rPr lang="en-US" sz="1600" b="1" dirty="0">
                <a:solidFill>
                  <a:srgbClr val="0E1426"/>
                </a:solidFill>
                <a:latin typeface="Calibri" pitchFamily="34" charset="0"/>
                <a:ea typeface="Calibri" pitchFamily="34" charset="-122"/>
                <a:cs typeface="Calibri" pitchFamily="34" charset="-120"/>
              </a:rPr>
              <a:t>“Paraşüt kütleyi azaltır.”</a:t>
            </a:r>
            <a:endParaRPr lang="en-US" sz="1600" dirty="0"/>
          </a:p>
        </p:txBody>
      </p:sp>
      <p:sp>
        <p:nvSpPr>
          <p:cNvPr id="11" name="Shape 9"/>
          <p:cNvSpPr/>
          <p:nvPr/>
        </p:nvSpPr>
        <p:spPr>
          <a:xfrm>
            <a:off x="841248" y="2154936"/>
            <a:ext cx="274320" cy="274320"/>
          </a:xfrm>
          <a:prstGeom prst="roundRect">
            <a:avLst>
              <a:gd name="adj" fmla="val 26667"/>
            </a:avLst>
          </a:prstGeom>
          <a:solidFill>
            <a:srgbClr val="EAF7DC"/>
          </a:solidFill>
          <a:ln/>
        </p:spPr>
      </p:sp>
      <p:sp>
        <p:nvSpPr>
          <p:cNvPr id="12" name="Text 10"/>
          <p:cNvSpPr txBox="1"/>
          <p:nvPr/>
        </p:nvSpPr>
        <p:spPr>
          <a:xfrm>
            <a:off x="841248" y="2154936"/>
            <a:ext cx="274320" cy="274320"/>
          </a:xfrm>
          <a:prstGeom prst="rect">
            <a:avLst/>
          </a:prstGeom>
          <a:noFill/>
          <a:ln/>
        </p:spPr>
        <p:txBody>
          <a:bodyPr wrap="square" lIns="0" tIns="0" rIns="0" bIns="0" rtlCol="0" anchor="ctr"/>
          <a:lstStyle/>
          <a:p>
            <a:pPr algn="ctr" indent="0" marL="0">
              <a:buNone/>
            </a:pPr>
            <a:r>
              <a:rPr lang="en-US" sz="1250" b="1" dirty="0">
                <a:solidFill>
                  <a:srgbClr val="3C8C21"/>
                </a:solidFill>
                <a:latin typeface="Calibri" pitchFamily="34" charset="0"/>
                <a:ea typeface="Calibri" pitchFamily="34" charset="-122"/>
                <a:cs typeface="Calibri" pitchFamily="34" charset="-120"/>
              </a:rPr>
              <a:t>✓</a:t>
            </a:r>
            <a:endParaRPr lang="en-US" sz="1250" dirty="0"/>
          </a:p>
        </p:txBody>
      </p:sp>
      <p:sp>
        <p:nvSpPr>
          <p:cNvPr id="13" name="Text 11"/>
          <p:cNvSpPr txBox="1"/>
          <p:nvPr/>
        </p:nvSpPr>
        <p:spPr>
          <a:xfrm>
            <a:off x="1225296" y="2136648"/>
            <a:ext cx="4559656" cy="1566672"/>
          </a:xfrm>
          <a:prstGeom prst="rect">
            <a:avLst/>
          </a:prstGeom>
          <a:noFill/>
          <a:ln/>
        </p:spPr>
        <p:txBody>
          <a:bodyPr wrap="square" lIns="0" tIns="0" rIns="0" bIns="0" rtlCol="0" anchor="t"/>
          <a:lstStyle/>
          <a:p>
            <a:pPr indent="0" marL="0">
              <a:lnSpc>
                <a:spcPct val="108000"/>
              </a:lnSpc>
              <a:buNone/>
            </a:pPr>
            <a:r>
              <a:rPr lang="en-US" sz="1500" dirty="0">
                <a:solidFill>
                  <a:srgbClr val="4A5470"/>
                </a:solidFill>
                <a:latin typeface="Calibri" pitchFamily="34" charset="0"/>
                <a:ea typeface="Calibri" pitchFamily="34" charset="-122"/>
                <a:cs typeface="Calibri" pitchFamily="34" charset="-120"/>
              </a:rPr>
              <a:t> Paraşüt yalnızca alanı büyütür; kütle aynıdır.</a:t>
            </a:r>
            <a:endParaRPr lang="en-US" sz="1500" dirty="0"/>
          </a:p>
        </p:txBody>
      </p:sp>
      <p:sp>
        <p:nvSpPr>
          <p:cNvPr id="14" name="Shape 12"/>
          <p:cNvSpPr/>
          <p:nvPr/>
        </p:nvSpPr>
        <p:spPr>
          <a:xfrm>
            <a:off x="6205576" y="1627632"/>
            <a:ext cx="5346040" cy="2185416"/>
          </a:xfrm>
          <a:prstGeom prst="roundRect">
            <a:avLst>
              <a:gd name="adj" fmla="val 669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5" name="Shape 13"/>
          <p:cNvSpPr/>
          <p:nvPr/>
        </p:nvSpPr>
        <p:spPr>
          <a:xfrm>
            <a:off x="6406744" y="1773936"/>
            <a:ext cx="274320" cy="274320"/>
          </a:xfrm>
          <a:prstGeom prst="roundRect">
            <a:avLst>
              <a:gd name="adj" fmla="val 26667"/>
            </a:avLst>
          </a:prstGeom>
          <a:solidFill>
            <a:srgbClr val="FBE9EE"/>
          </a:solidFill>
          <a:ln/>
        </p:spPr>
      </p:sp>
      <p:sp>
        <p:nvSpPr>
          <p:cNvPr id="16" name="Text 14"/>
          <p:cNvSpPr txBox="1"/>
          <p:nvPr/>
        </p:nvSpPr>
        <p:spPr>
          <a:xfrm>
            <a:off x="6406744" y="1773936"/>
            <a:ext cx="274320" cy="274320"/>
          </a:xfrm>
          <a:prstGeom prst="rect">
            <a:avLst/>
          </a:prstGeom>
          <a:noFill/>
          <a:ln/>
        </p:spPr>
        <p:txBody>
          <a:bodyPr wrap="square" lIns="0" tIns="0" rIns="0" bIns="0" rtlCol="0" anchor="ctr"/>
          <a:lstStyle/>
          <a:p>
            <a:pPr algn="ctr" indent="0" marL="0">
              <a:buNone/>
            </a:pPr>
            <a:r>
              <a:rPr lang="en-US" sz="1250" b="1" dirty="0">
                <a:solidFill>
                  <a:srgbClr val="C53455"/>
                </a:solidFill>
                <a:latin typeface="Calibri" pitchFamily="34" charset="0"/>
                <a:ea typeface="Calibri" pitchFamily="34" charset="-122"/>
                <a:cs typeface="Calibri" pitchFamily="34" charset="-120"/>
              </a:rPr>
              <a:t>✗</a:t>
            </a:r>
            <a:endParaRPr lang="en-US" sz="1250" dirty="0"/>
          </a:p>
        </p:txBody>
      </p:sp>
      <p:sp>
        <p:nvSpPr>
          <p:cNvPr id="17" name="Text 15"/>
          <p:cNvSpPr txBox="1"/>
          <p:nvPr/>
        </p:nvSpPr>
        <p:spPr>
          <a:xfrm>
            <a:off x="6790792" y="1746504"/>
            <a:ext cx="4559656" cy="335280"/>
          </a:xfrm>
          <a:prstGeom prst="rect">
            <a:avLst/>
          </a:prstGeom>
          <a:noFill/>
          <a:ln/>
        </p:spPr>
        <p:txBody>
          <a:bodyPr wrap="square" lIns="0" tIns="0" rIns="0" bIns="0" rtlCol="0" anchor="t"/>
          <a:lstStyle/>
          <a:p>
            <a:pPr indent="0" marL="0">
              <a:lnSpc>
                <a:spcPct val="108000"/>
              </a:lnSpc>
              <a:buNone/>
            </a:pPr>
            <a:r>
              <a:rPr lang="en-US" sz="1600" b="1" dirty="0">
                <a:solidFill>
                  <a:srgbClr val="0E1426"/>
                </a:solidFill>
                <a:latin typeface="Calibri" pitchFamily="34" charset="0"/>
                <a:ea typeface="Calibri" pitchFamily="34" charset="-122"/>
                <a:cs typeface="Calibri" pitchFamily="34" charset="-120"/>
              </a:rPr>
              <a:t>“Limit hıza ulaşınca cisim durur.”</a:t>
            </a:r>
            <a:endParaRPr lang="en-US" sz="1600" dirty="0"/>
          </a:p>
        </p:txBody>
      </p:sp>
      <p:sp>
        <p:nvSpPr>
          <p:cNvPr id="18" name="Shape 16"/>
          <p:cNvSpPr/>
          <p:nvPr/>
        </p:nvSpPr>
        <p:spPr>
          <a:xfrm>
            <a:off x="6406744" y="2154936"/>
            <a:ext cx="274320" cy="274320"/>
          </a:xfrm>
          <a:prstGeom prst="roundRect">
            <a:avLst>
              <a:gd name="adj" fmla="val 26667"/>
            </a:avLst>
          </a:prstGeom>
          <a:solidFill>
            <a:srgbClr val="EAF7DC"/>
          </a:solidFill>
          <a:ln/>
        </p:spPr>
      </p:sp>
      <p:sp>
        <p:nvSpPr>
          <p:cNvPr id="19" name="Text 17"/>
          <p:cNvSpPr txBox="1"/>
          <p:nvPr/>
        </p:nvSpPr>
        <p:spPr>
          <a:xfrm>
            <a:off x="6406744" y="2154936"/>
            <a:ext cx="274320" cy="274320"/>
          </a:xfrm>
          <a:prstGeom prst="rect">
            <a:avLst/>
          </a:prstGeom>
          <a:noFill/>
          <a:ln/>
        </p:spPr>
        <p:txBody>
          <a:bodyPr wrap="square" lIns="0" tIns="0" rIns="0" bIns="0" rtlCol="0" anchor="ctr"/>
          <a:lstStyle/>
          <a:p>
            <a:pPr algn="ctr" indent="0" marL="0">
              <a:buNone/>
            </a:pPr>
            <a:r>
              <a:rPr lang="en-US" sz="1250" b="1" dirty="0">
                <a:solidFill>
                  <a:srgbClr val="3C8C21"/>
                </a:solidFill>
                <a:latin typeface="Calibri" pitchFamily="34" charset="0"/>
                <a:ea typeface="Calibri" pitchFamily="34" charset="-122"/>
                <a:cs typeface="Calibri" pitchFamily="34" charset="-120"/>
              </a:rPr>
              <a:t>✓</a:t>
            </a:r>
            <a:endParaRPr lang="en-US" sz="1250" dirty="0"/>
          </a:p>
        </p:txBody>
      </p:sp>
      <p:sp>
        <p:nvSpPr>
          <p:cNvPr id="20" name="Text 18"/>
          <p:cNvSpPr txBox="1"/>
          <p:nvPr/>
        </p:nvSpPr>
        <p:spPr>
          <a:xfrm>
            <a:off x="6790792" y="2136648"/>
            <a:ext cx="4559656" cy="1566672"/>
          </a:xfrm>
          <a:prstGeom prst="rect">
            <a:avLst/>
          </a:prstGeom>
          <a:noFill/>
          <a:ln/>
        </p:spPr>
        <p:txBody>
          <a:bodyPr wrap="square" lIns="0" tIns="0" rIns="0" bIns="0" rtlCol="0" anchor="t"/>
          <a:lstStyle/>
          <a:p>
            <a:pPr indent="0" marL="0">
              <a:lnSpc>
                <a:spcPct val="108000"/>
              </a:lnSpc>
              <a:buNone/>
            </a:pPr>
            <a:r>
              <a:rPr lang="en-US" sz="1500" dirty="0">
                <a:solidFill>
                  <a:srgbClr val="4A5470"/>
                </a:solidFill>
                <a:latin typeface="Calibri" pitchFamily="34" charset="0"/>
                <a:ea typeface="Calibri" pitchFamily="34" charset="-122"/>
                <a:cs typeface="Calibri" pitchFamily="34" charset="-120"/>
              </a:rPr>
              <a:t> Durmaz; sabit hızla düşmeye devam eder ve yere o hızla çarpar.</a:t>
            </a:r>
            <a:endParaRPr lang="en-US" sz="1500" dirty="0"/>
          </a:p>
        </p:txBody>
      </p:sp>
      <p:sp>
        <p:nvSpPr>
          <p:cNvPr id="21" name="Shape 19"/>
          <p:cNvSpPr/>
          <p:nvPr/>
        </p:nvSpPr>
        <p:spPr>
          <a:xfrm>
            <a:off x="640080" y="3959352"/>
            <a:ext cx="5346040" cy="2185416"/>
          </a:xfrm>
          <a:prstGeom prst="roundRect">
            <a:avLst>
              <a:gd name="adj" fmla="val 669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2" name="Shape 20"/>
          <p:cNvSpPr/>
          <p:nvPr/>
        </p:nvSpPr>
        <p:spPr>
          <a:xfrm>
            <a:off x="841248" y="4105656"/>
            <a:ext cx="274320" cy="274320"/>
          </a:xfrm>
          <a:prstGeom prst="roundRect">
            <a:avLst>
              <a:gd name="adj" fmla="val 26667"/>
            </a:avLst>
          </a:prstGeom>
          <a:solidFill>
            <a:srgbClr val="FBE9EE"/>
          </a:solidFill>
          <a:ln/>
        </p:spPr>
      </p:sp>
      <p:sp>
        <p:nvSpPr>
          <p:cNvPr id="23" name="Text 21"/>
          <p:cNvSpPr txBox="1"/>
          <p:nvPr/>
        </p:nvSpPr>
        <p:spPr>
          <a:xfrm>
            <a:off x="841248" y="4105656"/>
            <a:ext cx="274320" cy="274320"/>
          </a:xfrm>
          <a:prstGeom prst="rect">
            <a:avLst/>
          </a:prstGeom>
          <a:noFill/>
          <a:ln/>
        </p:spPr>
        <p:txBody>
          <a:bodyPr wrap="square" lIns="0" tIns="0" rIns="0" bIns="0" rtlCol="0" anchor="ctr"/>
          <a:lstStyle/>
          <a:p>
            <a:pPr algn="ctr" indent="0" marL="0">
              <a:buNone/>
            </a:pPr>
            <a:r>
              <a:rPr lang="en-US" sz="1250" b="1" dirty="0">
                <a:solidFill>
                  <a:srgbClr val="C53455"/>
                </a:solidFill>
                <a:latin typeface="Calibri" pitchFamily="34" charset="0"/>
                <a:ea typeface="Calibri" pitchFamily="34" charset="-122"/>
                <a:cs typeface="Calibri" pitchFamily="34" charset="-120"/>
              </a:rPr>
              <a:t>✗</a:t>
            </a:r>
            <a:endParaRPr lang="en-US" sz="1250" dirty="0"/>
          </a:p>
        </p:txBody>
      </p:sp>
      <p:sp>
        <p:nvSpPr>
          <p:cNvPr id="24" name="Text 22"/>
          <p:cNvSpPr txBox="1"/>
          <p:nvPr/>
        </p:nvSpPr>
        <p:spPr>
          <a:xfrm>
            <a:off x="1225296" y="4078224"/>
            <a:ext cx="4559656" cy="335280"/>
          </a:xfrm>
          <a:prstGeom prst="rect">
            <a:avLst/>
          </a:prstGeom>
          <a:noFill/>
          <a:ln/>
        </p:spPr>
        <p:txBody>
          <a:bodyPr wrap="square" lIns="0" tIns="0" rIns="0" bIns="0" rtlCol="0" anchor="t"/>
          <a:lstStyle/>
          <a:p>
            <a:pPr indent="0" marL="0">
              <a:lnSpc>
                <a:spcPct val="108000"/>
              </a:lnSpc>
              <a:buNone/>
            </a:pPr>
            <a:r>
              <a:rPr lang="en-US" sz="1600" b="1" dirty="0">
                <a:solidFill>
                  <a:srgbClr val="0E1426"/>
                </a:solidFill>
                <a:latin typeface="Calibri" pitchFamily="34" charset="0"/>
                <a:ea typeface="Calibri" pitchFamily="34" charset="-122"/>
                <a:cs typeface="Calibri" pitchFamily="34" charset="-120"/>
              </a:rPr>
              <a:t>“Serbest düşme her zaman geçerlidir.”</a:t>
            </a:r>
            <a:endParaRPr lang="en-US" sz="1600" dirty="0"/>
          </a:p>
        </p:txBody>
      </p:sp>
      <p:sp>
        <p:nvSpPr>
          <p:cNvPr id="25" name="Shape 23"/>
          <p:cNvSpPr/>
          <p:nvPr/>
        </p:nvSpPr>
        <p:spPr>
          <a:xfrm>
            <a:off x="841248" y="4486656"/>
            <a:ext cx="274320" cy="274320"/>
          </a:xfrm>
          <a:prstGeom prst="roundRect">
            <a:avLst>
              <a:gd name="adj" fmla="val 26667"/>
            </a:avLst>
          </a:prstGeom>
          <a:solidFill>
            <a:srgbClr val="EAF7DC"/>
          </a:solidFill>
          <a:ln/>
        </p:spPr>
      </p:sp>
      <p:sp>
        <p:nvSpPr>
          <p:cNvPr id="26" name="Text 24"/>
          <p:cNvSpPr txBox="1"/>
          <p:nvPr/>
        </p:nvSpPr>
        <p:spPr>
          <a:xfrm>
            <a:off x="841248" y="4486656"/>
            <a:ext cx="274320" cy="274320"/>
          </a:xfrm>
          <a:prstGeom prst="rect">
            <a:avLst/>
          </a:prstGeom>
          <a:noFill/>
          <a:ln/>
        </p:spPr>
        <p:txBody>
          <a:bodyPr wrap="square" lIns="0" tIns="0" rIns="0" bIns="0" rtlCol="0" anchor="ctr"/>
          <a:lstStyle/>
          <a:p>
            <a:pPr algn="ctr" indent="0" marL="0">
              <a:buNone/>
            </a:pPr>
            <a:r>
              <a:rPr lang="en-US" sz="1250" b="1" dirty="0">
                <a:solidFill>
                  <a:srgbClr val="3C8C21"/>
                </a:solidFill>
                <a:latin typeface="Calibri" pitchFamily="34" charset="0"/>
                <a:ea typeface="Calibri" pitchFamily="34" charset="-122"/>
                <a:cs typeface="Calibri" pitchFamily="34" charset="-120"/>
              </a:rPr>
              <a:t>✓</a:t>
            </a:r>
            <a:endParaRPr lang="en-US" sz="1250" dirty="0"/>
          </a:p>
        </p:txBody>
      </p:sp>
      <p:sp>
        <p:nvSpPr>
          <p:cNvPr id="27" name="Text 25"/>
          <p:cNvSpPr txBox="1"/>
          <p:nvPr/>
        </p:nvSpPr>
        <p:spPr>
          <a:xfrm>
            <a:off x="1225296" y="4468368"/>
            <a:ext cx="4559656" cy="1566672"/>
          </a:xfrm>
          <a:prstGeom prst="rect">
            <a:avLst/>
          </a:prstGeom>
          <a:noFill/>
          <a:ln/>
        </p:spPr>
        <p:txBody>
          <a:bodyPr wrap="square" lIns="0" tIns="0" rIns="0" bIns="0" rtlCol="0" anchor="t"/>
          <a:lstStyle/>
          <a:p>
            <a:pPr indent="0" marL="0">
              <a:lnSpc>
                <a:spcPct val="108000"/>
              </a:lnSpc>
              <a:buNone/>
            </a:pPr>
            <a:r>
              <a:rPr lang="en-US" sz="1500" dirty="0">
                <a:solidFill>
                  <a:srgbClr val="4A5470"/>
                </a:solidFill>
                <a:latin typeface="Calibri" pitchFamily="34" charset="0"/>
                <a:ea typeface="Calibri" pitchFamily="34" charset="-122"/>
                <a:cs typeface="Calibri" pitchFamily="34" charset="-120"/>
              </a:rPr>
              <a:t> Serbest düşme, direncin ihmal edildiği bir modeldir.</a:t>
            </a:r>
            <a:endParaRPr lang="en-US" sz="1500" dirty="0"/>
          </a:p>
        </p:txBody>
      </p:sp>
      <p:sp>
        <p:nvSpPr>
          <p:cNvPr id="28" name="Shape 26"/>
          <p:cNvSpPr/>
          <p:nvPr/>
        </p:nvSpPr>
        <p:spPr>
          <a:xfrm>
            <a:off x="6205576" y="3959352"/>
            <a:ext cx="5346040" cy="2185416"/>
          </a:xfrm>
          <a:prstGeom prst="roundRect">
            <a:avLst>
              <a:gd name="adj" fmla="val 669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9" name="Shape 27"/>
          <p:cNvSpPr/>
          <p:nvPr/>
        </p:nvSpPr>
        <p:spPr>
          <a:xfrm>
            <a:off x="6406744" y="4105656"/>
            <a:ext cx="274320" cy="274320"/>
          </a:xfrm>
          <a:prstGeom prst="roundRect">
            <a:avLst>
              <a:gd name="adj" fmla="val 26667"/>
            </a:avLst>
          </a:prstGeom>
          <a:solidFill>
            <a:srgbClr val="FBE9EE"/>
          </a:solidFill>
          <a:ln/>
        </p:spPr>
      </p:sp>
      <p:sp>
        <p:nvSpPr>
          <p:cNvPr id="30" name="Text 28"/>
          <p:cNvSpPr txBox="1"/>
          <p:nvPr/>
        </p:nvSpPr>
        <p:spPr>
          <a:xfrm>
            <a:off x="6406744" y="4105656"/>
            <a:ext cx="274320" cy="274320"/>
          </a:xfrm>
          <a:prstGeom prst="rect">
            <a:avLst/>
          </a:prstGeom>
          <a:noFill/>
          <a:ln/>
        </p:spPr>
        <p:txBody>
          <a:bodyPr wrap="square" lIns="0" tIns="0" rIns="0" bIns="0" rtlCol="0" anchor="ctr"/>
          <a:lstStyle/>
          <a:p>
            <a:pPr algn="ctr" indent="0" marL="0">
              <a:buNone/>
            </a:pPr>
            <a:r>
              <a:rPr lang="en-US" sz="1250" b="1" dirty="0">
                <a:solidFill>
                  <a:srgbClr val="C53455"/>
                </a:solidFill>
                <a:latin typeface="Calibri" pitchFamily="34" charset="0"/>
                <a:ea typeface="Calibri" pitchFamily="34" charset="-122"/>
                <a:cs typeface="Calibri" pitchFamily="34" charset="-120"/>
              </a:rPr>
              <a:t>✗</a:t>
            </a:r>
            <a:endParaRPr lang="en-US" sz="1250" dirty="0"/>
          </a:p>
        </p:txBody>
      </p:sp>
      <p:sp>
        <p:nvSpPr>
          <p:cNvPr id="31" name="Text 29"/>
          <p:cNvSpPr txBox="1"/>
          <p:nvPr/>
        </p:nvSpPr>
        <p:spPr>
          <a:xfrm>
            <a:off x="6790792" y="4078224"/>
            <a:ext cx="4559656" cy="615696"/>
          </a:xfrm>
          <a:prstGeom prst="rect">
            <a:avLst/>
          </a:prstGeom>
          <a:noFill/>
          <a:ln/>
        </p:spPr>
        <p:txBody>
          <a:bodyPr wrap="square" lIns="0" tIns="0" rIns="0" bIns="0" rtlCol="0" anchor="t"/>
          <a:lstStyle/>
          <a:p>
            <a:pPr indent="0" marL="0">
              <a:lnSpc>
                <a:spcPct val="108000"/>
              </a:lnSpc>
              <a:buNone/>
            </a:pPr>
            <a:r>
              <a:rPr lang="en-US" sz="1600" b="1" dirty="0">
                <a:solidFill>
                  <a:srgbClr val="0E1426"/>
                </a:solidFill>
                <a:latin typeface="Calibri" pitchFamily="34" charset="0"/>
                <a:ea typeface="Calibri" pitchFamily="34" charset="-122"/>
                <a:cs typeface="Calibri" pitchFamily="34" charset="-120"/>
              </a:rPr>
              <a:t>“Paraşüt açılınca paraşütçü yukarı çıkar.”</a:t>
            </a:r>
            <a:endParaRPr lang="en-US" sz="1600" dirty="0"/>
          </a:p>
        </p:txBody>
      </p:sp>
      <p:sp>
        <p:nvSpPr>
          <p:cNvPr id="32" name="Shape 30"/>
          <p:cNvSpPr/>
          <p:nvPr/>
        </p:nvSpPr>
        <p:spPr>
          <a:xfrm>
            <a:off x="6406744" y="4767072"/>
            <a:ext cx="274320" cy="274320"/>
          </a:xfrm>
          <a:prstGeom prst="roundRect">
            <a:avLst>
              <a:gd name="adj" fmla="val 26667"/>
            </a:avLst>
          </a:prstGeom>
          <a:solidFill>
            <a:srgbClr val="EAF7DC"/>
          </a:solidFill>
          <a:ln/>
        </p:spPr>
      </p:sp>
      <p:sp>
        <p:nvSpPr>
          <p:cNvPr id="33" name="Text 31"/>
          <p:cNvSpPr txBox="1"/>
          <p:nvPr/>
        </p:nvSpPr>
        <p:spPr>
          <a:xfrm>
            <a:off x="6406744" y="4767072"/>
            <a:ext cx="274320" cy="274320"/>
          </a:xfrm>
          <a:prstGeom prst="rect">
            <a:avLst/>
          </a:prstGeom>
          <a:noFill/>
          <a:ln/>
        </p:spPr>
        <p:txBody>
          <a:bodyPr wrap="square" lIns="0" tIns="0" rIns="0" bIns="0" rtlCol="0" anchor="ctr"/>
          <a:lstStyle/>
          <a:p>
            <a:pPr algn="ctr" indent="0" marL="0">
              <a:buNone/>
            </a:pPr>
            <a:r>
              <a:rPr lang="en-US" sz="1250" b="1" dirty="0">
                <a:solidFill>
                  <a:srgbClr val="3C8C21"/>
                </a:solidFill>
                <a:latin typeface="Calibri" pitchFamily="34" charset="0"/>
                <a:ea typeface="Calibri" pitchFamily="34" charset="-122"/>
                <a:cs typeface="Calibri" pitchFamily="34" charset="-120"/>
              </a:rPr>
              <a:t>✓</a:t>
            </a:r>
            <a:endParaRPr lang="en-US" sz="1250" dirty="0"/>
          </a:p>
        </p:txBody>
      </p:sp>
      <p:sp>
        <p:nvSpPr>
          <p:cNvPr id="34" name="Text 32"/>
          <p:cNvSpPr txBox="1"/>
          <p:nvPr/>
        </p:nvSpPr>
        <p:spPr>
          <a:xfrm>
            <a:off x="6790792" y="4748784"/>
            <a:ext cx="4559656" cy="1286256"/>
          </a:xfrm>
          <a:prstGeom prst="rect">
            <a:avLst/>
          </a:prstGeom>
          <a:noFill/>
          <a:ln/>
        </p:spPr>
        <p:txBody>
          <a:bodyPr wrap="square" lIns="0" tIns="0" rIns="0" bIns="0" rtlCol="0" anchor="t"/>
          <a:lstStyle/>
          <a:p>
            <a:pPr indent="0" marL="0">
              <a:lnSpc>
                <a:spcPct val="108000"/>
              </a:lnSpc>
              <a:buNone/>
            </a:pPr>
            <a:r>
              <a:rPr lang="en-US" sz="1500" dirty="0">
                <a:solidFill>
                  <a:srgbClr val="4A5470"/>
                </a:solidFill>
                <a:latin typeface="Calibri" pitchFamily="34" charset="0"/>
                <a:ea typeface="Calibri" pitchFamily="34" charset="-122"/>
                <a:cs typeface="Calibri" pitchFamily="34" charset="-120"/>
              </a:rPr>
              <a:t> Net kuvvet yukarı döner, ama hız hâlâ aşağı yönlüdür; paraşütçü yalnızca yavaşlar.</a:t>
            </a:r>
            <a:endParaRPr lang="en-US" sz="1500" dirty="0"/>
          </a:p>
        </p:txBody>
      </p:sp>
      <p:sp>
        <p:nvSpPr>
          <p:cNvPr id="35" name="Shape 33"/>
          <p:cNvSpPr/>
          <p:nvPr/>
        </p:nvSpPr>
        <p:spPr>
          <a:xfrm>
            <a:off x="640080" y="6382512"/>
            <a:ext cx="128016" cy="128016"/>
          </a:xfrm>
          <a:prstGeom prst="roundRect">
            <a:avLst>
              <a:gd name="adj" fmla="val 28571"/>
            </a:avLst>
          </a:prstGeom>
          <a:solidFill>
            <a:srgbClr val="A9E648"/>
          </a:solidFill>
          <a:ln/>
        </p:spPr>
      </p:sp>
      <p:sp>
        <p:nvSpPr>
          <p:cNvPr id="36" name="Text 34"/>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dersler.perinet.org/limit-hiz.html</a:t>
            </a:r>
            <a:endParaRPr lang="en-US" sz="1050" dirty="0"/>
          </a:p>
        </p:txBody>
      </p:sp>
      <p:sp>
        <p:nvSpPr>
          <p:cNvPr id="37" name="Text 35"/>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41</a:t>
            </a:r>
            <a:endParaRPr lang="en-US" sz="10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E1426"/>
        </a:solidFill>
      </p:bgPr>
    </p:bg>
    <p:spTree>
      <p:nvGrpSpPr>
        <p:cNvPr id="1" name=""/>
        <p:cNvGrpSpPr/>
        <p:nvPr/>
      </p:nvGrpSpPr>
      <p:grpSpPr>
        <a:xfrm>
          <a:off x="0" y="0"/>
          <a:ext cx="0" cy="0"/>
          <a:chOff x="0" y="0"/>
          <a:chExt cx="0" cy="0"/>
        </a:xfrm>
      </p:grpSpPr>
      <p:sp>
        <p:nvSpPr>
          <p:cNvPr id="2" name="Shape 0"/>
          <p:cNvSpPr/>
          <p:nvPr/>
        </p:nvSpPr>
        <p:spPr>
          <a:xfrm>
            <a:off x="868680" y="1143000"/>
            <a:ext cx="54864" cy="548640"/>
          </a:xfrm>
          <a:prstGeom prst="rect">
            <a:avLst/>
          </a:prstGeom>
          <a:solidFill>
            <a:srgbClr val="C6F36B"/>
          </a:solidFill>
          <a:ln/>
        </p:spPr>
      </p:sp>
      <p:sp>
        <p:nvSpPr>
          <p:cNvPr id="3" name="Text 1"/>
          <p:cNvSpPr txBox="1"/>
          <p:nvPr/>
        </p:nvSpPr>
        <p:spPr>
          <a:xfrm>
            <a:off x="1097280" y="1005840"/>
            <a:ext cx="5486400" cy="822960"/>
          </a:xfrm>
          <a:prstGeom prst="rect">
            <a:avLst/>
          </a:prstGeom>
          <a:noFill/>
          <a:ln/>
        </p:spPr>
        <p:txBody>
          <a:bodyPr wrap="square" lIns="0" tIns="0" rIns="0" bIns="0" rtlCol="0" anchor="ctr"/>
          <a:lstStyle/>
          <a:p>
            <a:pPr indent="0" marL="0">
              <a:buNone/>
            </a:pPr>
            <a:r>
              <a:rPr lang="en-US" sz="4000" b="1" spc="-100" kern="0" dirty="0">
                <a:solidFill>
                  <a:srgbClr val="FFFFFF"/>
                </a:solidFill>
                <a:latin typeface="Cambria" pitchFamily="34" charset="0"/>
                <a:ea typeface="Cambria" pitchFamily="34" charset="-122"/>
                <a:cs typeface="Cambria" pitchFamily="34" charset="-120"/>
              </a:rPr>
              <a:t>Özetle</a:t>
            </a:r>
            <a:endParaRPr lang="en-US" sz="4000" dirty="0"/>
          </a:p>
        </p:txBody>
      </p:sp>
      <p:sp>
        <p:nvSpPr>
          <p:cNvPr id="4" name="Text 2"/>
          <p:cNvSpPr txBox="1"/>
          <p:nvPr/>
        </p:nvSpPr>
        <p:spPr>
          <a:xfrm>
            <a:off x="868680" y="2057400"/>
            <a:ext cx="4572000" cy="274320"/>
          </a:xfrm>
          <a:prstGeom prst="rect">
            <a:avLst/>
          </a:prstGeom>
          <a:noFill/>
          <a:ln/>
        </p:spPr>
        <p:txBody>
          <a:bodyPr wrap="square" lIns="0" tIns="0" rIns="0" bIns="0" rtlCol="0" anchor="ctr"/>
          <a:lstStyle/>
          <a:p>
            <a:pPr indent="0" marL="0">
              <a:buNone/>
            </a:pPr>
            <a:r>
              <a:rPr lang="en-US" sz="1050" b="1" spc="200" kern="0" dirty="0">
                <a:solidFill>
                  <a:srgbClr val="8D97B5"/>
                </a:solidFill>
                <a:latin typeface="Calibri" pitchFamily="34" charset="0"/>
                <a:ea typeface="Calibri" pitchFamily="34" charset="-122"/>
                <a:cs typeface="Calibri" pitchFamily="34" charset="-120"/>
              </a:rPr>
              <a:t>AKLINDA KALSIN</a:t>
            </a:r>
            <a:endParaRPr lang="en-US" sz="1050" dirty="0"/>
          </a:p>
        </p:txBody>
      </p:sp>
      <p:sp>
        <p:nvSpPr>
          <p:cNvPr id="5" name="Text 3"/>
          <p:cNvSpPr txBox="1"/>
          <p:nvPr/>
        </p:nvSpPr>
        <p:spPr>
          <a:xfrm>
            <a:off x="868680" y="2450592"/>
            <a:ext cx="548640" cy="457200"/>
          </a:xfrm>
          <a:prstGeom prst="rect">
            <a:avLst/>
          </a:prstGeom>
          <a:noFill/>
          <a:ln/>
        </p:spPr>
        <p:txBody>
          <a:bodyPr wrap="square" lIns="0" tIns="0" rIns="0" bIns="0" rtlCol="0" anchor="ctr"/>
          <a:lstStyle/>
          <a:p>
            <a:pPr indent="0" marL="0">
              <a:buNone/>
            </a:pPr>
            <a:r>
              <a:rPr lang="en-US" sz="1800" b="1" dirty="0">
                <a:solidFill>
                  <a:srgbClr val="C6F36B"/>
                </a:solidFill>
                <a:latin typeface="Cambria" pitchFamily="34" charset="0"/>
                <a:ea typeface="Cambria" pitchFamily="34" charset="-122"/>
                <a:cs typeface="Cambria" pitchFamily="34" charset="-120"/>
              </a:rPr>
              <a:t>01</a:t>
            </a:r>
            <a:endParaRPr lang="en-US" sz="1800" dirty="0"/>
          </a:p>
        </p:txBody>
      </p:sp>
      <p:sp>
        <p:nvSpPr>
          <p:cNvPr id="6" name="Text 4"/>
          <p:cNvSpPr txBox="1"/>
          <p:nvPr/>
        </p:nvSpPr>
        <p:spPr>
          <a:xfrm>
            <a:off x="1463040" y="2450592"/>
            <a:ext cx="4480560" cy="457200"/>
          </a:xfrm>
          <a:prstGeom prst="rect">
            <a:avLst/>
          </a:prstGeom>
          <a:noFill/>
          <a:ln/>
        </p:spPr>
        <p:txBody>
          <a:bodyPr wrap="square" lIns="0" tIns="0" rIns="0" bIns="0" rtlCol="0" anchor="ctr"/>
          <a:lstStyle/>
          <a:p>
            <a:pPr indent="0" marL="0">
              <a:buNone/>
            </a:pPr>
            <a:r>
              <a:rPr lang="en-US" sz="1500" dirty="0">
                <a:solidFill>
                  <a:srgbClr val="C3CEE8"/>
                </a:solidFill>
                <a:latin typeface="Calibri" pitchFamily="34" charset="0"/>
                <a:ea typeface="Calibri" pitchFamily="34" charset="-122"/>
                <a:cs typeface="Calibri" pitchFamily="34" charset="-120"/>
              </a:rPr>
              <a:t>Direnç </a:t>
            </a:r>
            <a:pPr indent="0" marL="0">
              <a:buNone/>
            </a:pPr>
            <a:r>
              <a:rPr lang="en-US" sz="1500" b="1" dirty="0">
                <a:solidFill>
                  <a:srgbClr val="FFFFFF"/>
                </a:solidFill>
                <a:latin typeface="Calibri" pitchFamily="34" charset="0"/>
                <a:ea typeface="Calibri" pitchFamily="34" charset="-122"/>
                <a:cs typeface="Calibri" pitchFamily="34" charset="-120"/>
              </a:rPr>
              <a:t>hıza bağlı</a:t>
            </a:r>
            <a:endParaRPr lang="en-US" sz="1500" dirty="0"/>
          </a:p>
        </p:txBody>
      </p:sp>
      <p:sp>
        <p:nvSpPr>
          <p:cNvPr id="7" name="Text 5"/>
          <p:cNvSpPr txBox="1"/>
          <p:nvPr/>
        </p:nvSpPr>
        <p:spPr>
          <a:xfrm>
            <a:off x="868680" y="3236976"/>
            <a:ext cx="548640" cy="457200"/>
          </a:xfrm>
          <a:prstGeom prst="rect">
            <a:avLst/>
          </a:prstGeom>
          <a:noFill/>
          <a:ln/>
        </p:spPr>
        <p:txBody>
          <a:bodyPr wrap="square" lIns="0" tIns="0" rIns="0" bIns="0" rtlCol="0" anchor="ctr"/>
          <a:lstStyle/>
          <a:p>
            <a:pPr indent="0" marL="0">
              <a:buNone/>
            </a:pPr>
            <a:r>
              <a:rPr lang="en-US" sz="1800" b="1" dirty="0">
                <a:solidFill>
                  <a:srgbClr val="C6F36B"/>
                </a:solidFill>
                <a:latin typeface="Cambria" pitchFamily="34" charset="0"/>
                <a:ea typeface="Cambria" pitchFamily="34" charset="-122"/>
                <a:cs typeface="Cambria" pitchFamily="34" charset="-120"/>
              </a:rPr>
              <a:t>02</a:t>
            </a:r>
            <a:endParaRPr lang="en-US" sz="1800" dirty="0"/>
          </a:p>
        </p:txBody>
      </p:sp>
      <p:sp>
        <p:nvSpPr>
          <p:cNvPr id="8" name="Text 6"/>
          <p:cNvSpPr txBox="1"/>
          <p:nvPr/>
        </p:nvSpPr>
        <p:spPr>
          <a:xfrm>
            <a:off x="1463040" y="3236976"/>
            <a:ext cx="4480560" cy="457200"/>
          </a:xfrm>
          <a:prstGeom prst="rect">
            <a:avLst/>
          </a:prstGeom>
          <a:noFill/>
          <a:ln/>
        </p:spPr>
        <p:txBody>
          <a:bodyPr wrap="square" lIns="0" tIns="0" rIns="0" bIns="0" rtlCol="0" anchor="ctr"/>
          <a:lstStyle/>
          <a:p>
            <a:pPr indent="0" marL="0">
              <a:buNone/>
            </a:pPr>
            <a:r>
              <a:rPr lang="en-US" sz="1500" dirty="0">
                <a:solidFill>
                  <a:srgbClr val="C3CEE8"/>
                </a:solidFill>
                <a:latin typeface="Calibri" pitchFamily="34" charset="0"/>
                <a:ea typeface="Calibri" pitchFamily="34" charset="-122"/>
                <a:cs typeface="Calibri" pitchFamily="34" charset="-120"/>
              </a:rPr>
              <a:t>Dengede </a:t>
            </a:r>
            <a:pPr indent="0" marL="0">
              <a:buNone/>
            </a:pPr>
            <a:r>
              <a:rPr lang="en-US" sz="1500" b="1" dirty="0">
                <a:solidFill>
                  <a:srgbClr val="FFFFFF"/>
                </a:solidFill>
                <a:latin typeface="Calibri" pitchFamily="34" charset="0"/>
                <a:ea typeface="Calibri" pitchFamily="34" charset="-122"/>
                <a:cs typeface="Calibri" pitchFamily="34" charset="-120"/>
              </a:rPr>
              <a:t>a = 0</a:t>
            </a:r>
            <a:endParaRPr lang="en-US" sz="1500" dirty="0"/>
          </a:p>
        </p:txBody>
      </p:sp>
      <p:sp>
        <p:nvSpPr>
          <p:cNvPr id="9" name="Text 7"/>
          <p:cNvSpPr txBox="1"/>
          <p:nvPr/>
        </p:nvSpPr>
        <p:spPr>
          <a:xfrm>
            <a:off x="868680" y="4023360"/>
            <a:ext cx="548640" cy="457200"/>
          </a:xfrm>
          <a:prstGeom prst="rect">
            <a:avLst/>
          </a:prstGeom>
          <a:noFill/>
          <a:ln/>
        </p:spPr>
        <p:txBody>
          <a:bodyPr wrap="square" lIns="0" tIns="0" rIns="0" bIns="0" rtlCol="0" anchor="ctr"/>
          <a:lstStyle/>
          <a:p>
            <a:pPr indent="0" marL="0">
              <a:buNone/>
            </a:pPr>
            <a:r>
              <a:rPr lang="en-US" sz="1800" b="1" dirty="0">
                <a:solidFill>
                  <a:srgbClr val="C6F36B"/>
                </a:solidFill>
                <a:latin typeface="Cambria" pitchFamily="34" charset="0"/>
                <a:ea typeface="Cambria" pitchFamily="34" charset="-122"/>
                <a:cs typeface="Cambria" pitchFamily="34" charset="-120"/>
              </a:rPr>
              <a:t>03</a:t>
            </a:r>
            <a:endParaRPr lang="en-US" sz="1800" dirty="0"/>
          </a:p>
        </p:txBody>
      </p:sp>
      <p:sp>
        <p:nvSpPr>
          <p:cNvPr id="10" name="Text 8"/>
          <p:cNvSpPr txBox="1"/>
          <p:nvPr/>
        </p:nvSpPr>
        <p:spPr>
          <a:xfrm>
            <a:off x="1463040" y="4023360"/>
            <a:ext cx="4480560" cy="457200"/>
          </a:xfrm>
          <a:prstGeom prst="rect">
            <a:avLst/>
          </a:prstGeom>
          <a:noFill/>
          <a:ln/>
        </p:spPr>
        <p:txBody>
          <a:bodyPr wrap="square" lIns="0" tIns="0" rIns="0" bIns="0" rtlCol="0" anchor="ctr"/>
          <a:lstStyle/>
          <a:p>
            <a:pPr indent="0" marL="0">
              <a:buNone/>
            </a:pPr>
            <a:r>
              <a:rPr lang="en-US" sz="1500" dirty="0">
                <a:solidFill>
                  <a:srgbClr val="C3CEE8"/>
                </a:solidFill>
                <a:latin typeface="Calibri" pitchFamily="34" charset="0"/>
                <a:ea typeface="Calibri" pitchFamily="34" charset="-122"/>
                <a:cs typeface="Calibri" pitchFamily="34" charset="-120"/>
              </a:rPr>
              <a:t>Yağmur damlası </a:t>
            </a:r>
            <a:pPr indent="0" marL="0">
              <a:buNone/>
            </a:pPr>
            <a:r>
              <a:rPr lang="en-US" sz="1500" b="1" dirty="0">
                <a:solidFill>
                  <a:srgbClr val="FFFFFF"/>
                </a:solidFill>
                <a:latin typeface="Calibri" pitchFamily="34" charset="0"/>
                <a:ea typeface="Calibri" pitchFamily="34" charset="-122"/>
                <a:cs typeface="Calibri" pitchFamily="34" charset="-120"/>
              </a:rPr>
              <a:t>≈ 9 m/s</a:t>
            </a:r>
            <a:endParaRPr lang="en-US" sz="1500" dirty="0"/>
          </a:p>
        </p:txBody>
      </p:sp>
      <p:sp>
        <p:nvSpPr>
          <p:cNvPr id="11" name="Text 9"/>
          <p:cNvSpPr txBox="1"/>
          <p:nvPr/>
        </p:nvSpPr>
        <p:spPr>
          <a:xfrm>
            <a:off x="868680" y="4809744"/>
            <a:ext cx="548640" cy="457200"/>
          </a:xfrm>
          <a:prstGeom prst="rect">
            <a:avLst/>
          </a:prstGeom>
          <a:noFill/>
          <a:ln/>
        </p:spPr>
        <p:txBody>
          <a:bodyPr wrap="square" lIns="0" tIns="0" rIns="0" bIns="0" rtlCol="0" anchor="ctr"/>
          <a:lstStyle/>
          <a:p>
            <a:pPr indent="0" marL="0">
              <a:buNone/>
            </a:pPr>
            <a:r>
              <a:rPr lang="en-US" sz="1800" b="1" dirty="0">
                <a:solidFill>
                  <a:srgbClr val="C6F36B"/>
                </a:solidFill>
                <a:latin typeface="Cambria" pitchFamily="34" charset="0"/>
                <a:ea typeface="Cambria" pitchFamily="34" charset="-122"/>
                <a:cs typeface="Cambria" pitchFamily="34" charset="-120"/>
              </a:rPr>
              <a:t>04</a:t>
            </a:r>
            <a:endParaRPr lang="en-US" sz="1800" dirty="0"/>
          </a:p>
        </p:txBody>
      </p:sp>
      <p:sp>
        <p:nvSpPr>
          <p:cNvPr id="12" name="Text 10"/>
          <p:cNvSpPr txBox="1"/>
          <p:nvPr/>
        </p:nvSpPr>
        <p:spPr>
          <a:xfrm>
            <a:off x="1463040" y="4809744"/>
            <a:ext cx="4480560" cy="457200"/>
          </a:xfrm>
          <a:prstGeom prst="rect">
            <a:avLst/>
          </a:prstGeom>
          <a:noFill/>
          <a:ln/>
        </p:spPr>
        <p:txBody>
          <a:bodyPr wrap="square" lIns="0" tIns="0" rIns="0" bIns="0" rtlCol="0" anchor="ctr"/>
          <a:lstStyle/>
          <a:p>
            <a:pPr indent="0" marL="0">
              <a:buNone/>
            </a:pPr>
            <a:r>
              <a:rPr lang="en-US" sz="1500" dirty="0">
                <a:solidFill>
                  <a:srgbClr val="C3CEE8"/>
                </a:solidFill>
                <a:latin typeface="Calibri" pitchFamily="34" charset="0"/>
                <a:ea typeface="Calibri" pitchFamily="34" charset="-122"/>
                <a:cs typeface="Calibri" pitchFamily="34" charset="-120"/>
              </a:rPr>
              <a:t>Paraşütçü </a:t>
            </a:r>
            <a:pPr indent="0" marL="0">
              <a:buNone/>
            </a:pPr>
            <a:r>
              <a:rPr lang="en-US" sz="1500" b="1" dirty="0">
                <a:solidFill>
                  <a:srgbClr val="FFFFFF"/>
                </a:solidFill>
                <a:latin typeface="Calibri" pitchFamily="34" charset="0"/>
                <a:ea typeface="Calibri" pitchFamily="34" charset="-122"/>
                <a:cs typeface="Calibri" pitchFamily="34" charset="-120"/>
              </a:rPr>
              <a:t>≈ 55 m/s</a:t>
            </a:r>
            <a:endParaRPr lang="en-US" sz="1500" dirty="0"/>
          </a:p>
        </p:txBody>
      </p:sp>
      <p:sp>
        <p:nvSpPr>
          <p:cNvPr id="13" name="Text 11"/>
          <p:cNvSpPr txBox="1"/>
          <p:nvPr/>
        </p:nvSpPr>
        <p:spPr>
          <a:xfrm>
            <a:off x="6446520" y="2057400"/>
            <a:ext cx="4572000" cy="274320"/>
          </a:xfrm>
          <a:prstGeom prst="rect">
            <a:avLst/>
          </a:prstGeom>
          <a:noFill/>
          <a:ln/>
        </p:spPr>
        <p:txBody>
          <a:bodyPr wrap="square" lIns="0" tIns="0" rIns="0" bIns="0" rtlCol="0" anchor="ctr"/>
          <a:lstStyle/>
          <a:p>
            <a:pPr indent="0" marL="0">
              <a:buNone/>
            </a:pPr>
            <a:r>
              <a:rPr lang="en-US" sz="1050" b="1" spc="200" kern="0" dirty="0">
                <a:solidFill>
                  <a:srgbClr val="8D97B5"/>
                </a:solidFill>
                <a:latin typeface="Calibri" pitchFamily="34" charset="0"/>
                <a:ea typeface="Calibri" pitchFamily="34" charset="-122"/>
                <a:cs typeface="Calibri" pitchFamily="34" charset="-120"/>
              </a:rPr>
              <a:t>TEMEL BAĞINTILAR</a:t>
            </a:r>
            <a:endParaRPr lang="en-US" sz="1050" dirty="0"/>
          </a:p>
        </p:txBody>
      </p:sp>
      <p:sp>
        <p:nvSpPr>
          <p:cNvPr id="14" name="Shape 12"/>
          <p:cNvSpPr/>
          <p:nvPr/>
        </p:nvSpPr>
        <p:spPr>
          <a:xfrm>
            <a:off x="6446520" y="2395728"/>
            <a:ext cx="5105095" cy="694944"/>
          </a:xfrm>
          <a:prstGeom prst="roundRect">
            <a:avLst>
              <a:gd name="adj" fmla="val 13158"/>
            </a:avLst>
          </a:prstGeom>
          <a:solidFill>
            <a:srgbClr val="1C2542"/>
          </a:solidFill>
          <a:ln w="9525">
            <a:solidFill>
              <a:srgbClr val="2C3860"/>
            </a:solidFill>
            <a:prstDash val="solid"/>
          </a:ln>
        </p:spPr>
      </p:sp>
      <p:sp>
        <p:nvSpPr>
          <p:cNvPr id="15" name="Text 13"/>
          <p:cNvSpPr txBox="1"/>
          <p:nvPr/>
        </p:nvSpPr>
        <p:spPr>
          <a:xfrm>
            <a:off x="6647688" y="2395728"/>
            <a:ext cx="1463040" cy="694944"/>
          </a:xfrm>
          <a:prstGeom prst="rect">
            <a:avLst/>
          </a:prstGeom>
          <a:noFill/>
          <a:ln/>
        </p:spPr>
        <p:txBody>
          <a:bodyPr wrap="square" lIns="0" tIns="0" rIns="0" bIns="0" rtlCol="0" anchor="ctr"/>
          <a:lstStyle/>
          <a:p>
            <a:pPr indent="0" marL="0">
              <a:buNone/>
            </a:pPr>
            <a:r>
              <a:rPr lang="en-US" sz="1350" b="1" dirty="0">
                <a:solidFill>
                  <a:srgbClr val="C6F36B"/>
                </a:solidFill>
                <a:latin typeface="Courier New" pitchFamily="34" charset="0"/>
                <a:ea typeface="Courier New" pitchFamily="34" charset="-122"/>
                <a:cs typeface="Courier New" pitchFamily="34" charset="-120"/>
              </a:rPr>
              <a:t>Fd = k · v²</a:t>
            </a:r>
            <a:endParaRPr lang="en-US" sz="1350" dirty="0"/>
          </a:p>
        </p:txBody>
      </p:sp>
      <p:sp>
        <p:nvSpPr>
          <p:cNvPr id="16" name="Text 14"/>
          <p:cNvSpPr txBox="1"/>
          <p:nvPr/>
        </p:nvSpPr>
        <p:spPr>
          <a:xfrm>
            <a:off x="8183880" y="2395728"/>
            <a:ext cx="3184855" cy="694944"/>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hava direnci</a:t>
            </a:r>
            <a:endParaRPr lang="en-US" sz="1200" dirty="0"/>
          </a:p>
        </p:txBody>
      </p:sp>
      <p:sp>
        <p:nvSpPr>
          <p:cNvPr id="17" name="Shape 15"/>
          <p:cNvSpPr/>
          <p:nvPr/>
        </p:nvSpPr>
        <p:spPr>
          <a:xfrm>
            <a:off x="6446520" y="3218688"/>
            <a:ext cx="5105095" cy="694944"/>
          </a:xfrm>
          <a:prstGeom prst="roundRect">
            <a:avLst>
              <a:gd name="adj" fmla="val 13158"/>
            </a:avLst>
          </a:prstGeom>
          <a:solidFill>
            <a:srgbClr val="1C2542"/>
          </a:solidFill>
          <a:ln w="9525">
            <a:solidFill>
              <a:srgbClr val="2C3860"/>
            </a:solidFill>
            <a:prstDash val="solid"/>
          </a:ln>
        </p:spPr>
      </p:sp>
      <p:sp>
        <p:nvSpPr>
          <p:cNvPr id="18" name="Text 16"/>
          <p:cNvSpPr txBox="1"/>
          <p:nvPr/>
        </p:nvSpPr>
        <p:spPr>
          <a:xfrm>
            <a:off x="6647688" y="3218688"/>
            <a:ext cx="1641348" cy="694944"/>
          </a:xfrm>
          <a:prstGeom prst="rect">
            <a:avLst/>
          </a:prstGeom>
          <a:noFill/>
          <a:ln/>
        </p:spPr>
        <p:txBody>
          <a:bodyPr wrap="square" lIns="0" tIns="0" rIns="0" bIns="0" rtlCol="0" anchor="ctr"/>
          <a:lstStyle/>
          <a:p>
            <a:pPr indent="0" marL="0">
              <a:buNone/>
            </a:pPr>
            <a:r>
              <a:rPr lang="en-US" sz="1350" b="1" dirty="0">
                <a:solidFill>
                  <a:srgbClr val="C6F36B"/>
                </a:solidFill>
                <a:latin typeface="Courier New" pitchFamily="34" charset="0"/>
                <a:ea typeface="Courier New" pitchFamily="34" charset="-122"/>
                <a:cs typeface="Courier New" pitchFamily="34" charset="-120"/>
              </a:rPr>
              <a:t>m·g = k · vl²</a:t>
            </a:r>
            <a:endParaRPr lang="en-US" sz="1350" dirty="0"/>
          </a:p>
        </p:txBody>
      </p:sp>
      <p:sp>
        <p:nvSpPr>
          <p:cNvPr id="19" name="Text 17"/>
          <p:cNvSpPr txBox="1"/>
          <p:nvPr/>
        </p:nvSpPr>
        <p:spPr>
          <a:xfrm>
            <a:off x="8362188" y="3218688"/>
            <a:ext cx="3006547" cy="694944"/>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limit hızda denge</a:t>
            </a:r>
            <a:endParaRPr lang="en-US" sz="1200" dirty="0"/>
          </a:p>
        </p:txBody>
      </p:sp>
      <p:sp>
        <p:nvSpPr>
          <p:cNvPr id="20" name="Shape 18"/>
          <p:cNvSpPr/>
          <p:nvPr/>
        </p:nvSpPr>
        <p:spPr>
          <a:xfrm>
            <a:off x="6446520" y="4041648"/>
            <a:ext cx="5105095" cy="694944"/>
          </a:xfrm>
          <a:prstGeom prst="roundRect">
            <a:avLst>
              <a:gd name="adj" fmla="val 13158"/>
            </a:avLst>
          </a:prstGeom>
          <a:solidFill>
            <a:srgbClr val="1C2542"/>
          </a:solidFill>
          <a:ln w="9525">
            <a:solidFill>
              <a:srgbClr val="2C3860"/>
            </a:solidFill>
            <a:prstDash val="solid"/>
          </a:ln>
        </p:spPr>
      </p:sp>
      <p:sp>
        <p:nvSpPr>
          <p:cNvPr id="21" name="Text 19"/>
          <p:cNvSpPr txBox="1"/>
          <p:nvPr/>
        </p:nvSpPr>
        <p:spPr>
          <a:xfrm>
            <a:off x="6647688" y="4041648"/>
            <a:ext cx="1851660" cy="694944"/>
          </a:xfrm>
          <a:prstGeom prst="rect">
            <a:avLst/>
          </a:prstGeom>
          <a:noFill/>
          <a:ln/>
        </p:spPr>
        <p:txBody>
          <a:bodyPr wrap="square" lIns="0" tIns="0" rIns="0" bIns="0" rtlCol="0" anchor="ctr"/>
          <a:lstStyle/>
          <a:p>
            <a:pPr indent="0" marL="0">
              <a:buNone/>
            </a:pPr>
            <a:r>
              <a:rPr lang="en-US" sz="1350" b="1" dirty="0">
                <a:solidFill>
                  <a:srgbClr val="C6F36B"/>
                </a:solidFill>
                <a:latin typeface="Courier New" pitchFamily="34" charset="0"/>
                <a:ea typeface="Courier New" pitchFamily="34" charset="-122"/>
                <a:cs typeface="Courier New" pitchFamily="34" charset="-120"/>
              </a:rPr>
              <a:t>vl = √(m·g / k)</a:t>
            </a:r>
            <a:endParaRPr lang="en-US" sz="1350" dirty="0"/>
          </a:p>
        </p:txBody>
      </p:sp>
      <p:sp>
        <p:nvSpPr>
          <p:cNvPr id="22" name="Text 20"/>
          <p:cNvSpPr txBox="1"/>
          <p:nvPr/>
        </p:nvSpPr>
        <p:spPr>
          <a:xfrm>
            <a:off x="8572500" y="4041648"/>
            <a:ext cx="2796235" cy="694944"/>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limit hız</a:t>
            </a:r>
            <a:endParaRPr lang="en-US" sz="1200" dirty="0"/>
          </a:p>
        </p:txBody>
      </p:sp>
      <p:sp>
        <p:nvSpPr>
          <p:cNvPr id="23" name="Shape 21"/>
          <p:cNvSpPr/>
          <p:nvPr/>
        </p:nvSpPr>
        <p:spPr>
          <a:xfrm>
            <a:off x="6446520" y="4864608"/>
            <a:ext cx="5105095" cy="694944"/>
          </a:xfrm>
          <a:prstGeom prst="roundRect">
            <a:avLst>
              <a:gd name="adj" fmla="val 13158"/>
            </a:avLst>
          </a:prstGeom>
          <a:solidFill>
            <a:srgbClr val="1C2542"/>
          </a:solidFill>
          <a:ln w="9525">
            <a:solidFill>
              <a:srgbClr val="2C3860"/>
            </a:solidFill>
            <a:prstDash val="solid"/>
          </a:ln>
        </p:spPr>
      </p:sp>
      <p:sp>
        <p:nvSpPr>
          <p:cNvPr id="24" name="Text 22"/>
          <p:cNvSpPr txBox="1"/>
          <p:nvPr/>
        </p:nvSpPr>
        <p:spPr>
          <a:xfrm>
            <a:off x="6647688" y="4864608"/>
            <a:ext cx="1463040" cy="694944"/>
          </a:xfrm>
          <a:prstGeom prst="rect">
            <a:avLst/>
          </a:prstGeom>
          <a:noFill/>
          <a:ln/>
        </p:spPr>
        <p:txBody>
          <a:bodyPr wrap="square" lIns="0" tIns="0" rIns="0" bIns="0" rtlCol="0" anchor="ctr"/>
          <a:lstStyle/>
          <a:p>
            <a:pPr indent="0" marL="0">
              <a:buNone/>
            </a:pPr>
            <a:r>
              <a:rPr lang="en-US" sz="1350" b="1" dirty="0">
                <a:solidFill>
                  <a:srgbClr val="C6F36B"/>
                </a:solidFill>
                <a:latin typeface="Courier New" pitchFamily="34" charset="0"/>
                <a:ea typeface="Courier New" pitchFamily="34" charset="-122"/>
                <a:cs typeface="Courier New" pitchFamily="34" charset="-120"/>
              </a:rPr>
              <a:t>k = ½·ρ·C·A</a:t>
            </a:r>
            <a:endParaRPr lang="en-US" sz="1350" dirty="0"/>
          </a:p>
        </p:txBody>
      </p:sp>
      <p:sp>
        <p:nvSpPr>
          <p:cNvPr id="25" name="Text 23"/>
          <p:cNvSpPr txBox="1"/>
          <p:nvPr/>
        </p:nvSpPr>
        <p:spPr>
          <a:xfrm>
            <a:off x="8183880" y="4864608"/>
            <a:ext cx="3184855" cy="694944"/>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şekil ve alana bağlı</a:t>
            </a:r>
            <a:endParaRPr lang="en-US" sz="1200" dirty="0"/>
          </a:p>
        </p:txBody>
      </p:sp>
      <p:sp>
        <p:nvSpPr>
          <p:cNvPr id="26" name="Shape 24"/>
          <p:cNvSpPr/>
          <p:nvPr/>
        </p:nvSpPr>
        <p:spPr>
          <a:xfrm>
            <a:off x="868680" y="5806440"/>
            <a:ext cx="10058400" cy="566928"/>
          </a:xfrm>
          <a:prstGeom prst="roundRect">
            <a:avLst>
              <a:gd name="adj" fmla="val 16129"/>
            </a:avLst>
          </a:prstGeom>
          <a:solidFill>
            <a:srgbClr val="1C2542"/>
          </a:solidFill>
          <a:ln w="9525">
            <a:solidFill>
              <a:srgbClr val="2C3860"/>
            </a:solidFill>
            <a:prstDash val="solid"/>
          </a:ln>
        </p:spPr>
      </p:sp>
      <p:sp>
        <p:nvSpPr>
          <p:cNvPr id="27" name="Text 25"/>
          <p:cNvSpPr txBox="1"/>
          <p:nvPr/>
        </p:nvSpPr>
        <p:spPr>
          <a:xfrm>
            <a:off x="1188720" y="5806440"/>
            <a:ext cx="9418320" cy="566928"/>
          </a:xfrm>
          <a:prstGeom prst="rect">
            <a:avLst/>
          </a:prstGeom>
          <a:noFill/>
          <a:ln/>
        </p:spPr>
        <p:txBody>
          <a:bodyPr wrap="square" lIns="0" tIns="0" rIns="0" bIns="0" rtlCol="0" anchor="ctr"/>
          <a:lstStyle/>
          <a:p>
            <a:pPr indent="0" marL="0">
              <a:buNone/>
            </a:pPr>
            <a:r>
              <a:rPr lang="en-US" sz="1300" dirty="0">
                <a:solidFill>
                  <a:srgbClr val="AEBBD6"/>
                </a:solidFill>
                <a:latin typeface="Calibri" pitchFamily="34" charset="0"/>
                <a:ea typeface="Calibri" pitchFamily="34" charset="-122"/>
                <a:cs typeface="Calibri" pitchFamily="34" charset="-120"/>
              </a:rPr>
              <a:t>Etkileşimli deneyler, canlı grafikler ve hızlı test:  </a:t>
            </a:r>
            <a:pPr indent="0" marL="0">
              <a:buNone/>
            </a:pPr>
            <a:r>
              <a:rPr lang="en-US" sz="1300" b="1" dirty="0">
                <a:solidFill>
                  <a:srgbClr val="C6F36B"/>
                </a:solidFill>
                <a:latin typeface="Calibri" pitchFamily="34" charset="0"/>
                <a:ea typeface="Calibri" pitchFamily="34" charset="-122"/>
                <a:cs typeface="Calibri" pitchFamily="34" charset="-120"/>
              </a:rPr>
              <a:t>dersler.perinet.org/limit-hiz.html</a:t>
            </a:r>
            <a:endParaRPr lang="en-US" sz="1300" dirty="0"/>
          </a:p>
        </p:txBody>
      </p:sp>
      <p:sp>
        <p:nvSpPr>
          <p:cNvPr id="28" name="Text 26"/>
          <p:cNvSpPr txBox="1"/>
          <p:nvPr/>
        </p:nvSpPr>
        <p:spPr>
          <a:xfrm>
            <a:off x="5852160" y="1078992"/>
            <a:ext cx="5699455" cy="457200"/>
          </a:xfrm>
          <a:prstGeom prst="rect">
            <a:avLst/>
          </a:prstGeom>
          <a:noFill/>
          <a:ln/>
        </p:spPr>
        <p:txBody>
          <a:bodyPr wrap="square" lIns="0" tIns="0" rIns="0" bIns="0" rtlCol="0" anchor="ctr"/>
          <a:lstStyle/>
          <a:p>
            <a:pPr algn="r" indent="0" marL="0">
              <a:buNone/>
            </a:pPr>
            <a:r>
              <a:rPr lang="en-US" sz="1000" b="1" spc="200" kern="0" dirty="0">
                <a:solidFill>
                  <a:srgbClr val="8D97B5"/>
                </a:solidFill>
                <a:latin typeface="Calibri" pitchFamily="34" charset="0"/>
                <a:ea typeface="Calibri" pitchFamily="34" charset="-122"/>
                <a:cs typeface="Calibri" pitchFamily="34" charset="-120"/>
              </a:rPr>
              <a:t>SIRADAKİ KONU  </a:t>
            </a:r>
            <a:pPr algn="r" indent="0" marL="0">
              <a:buNone/>
            </a:pPr>
            <a:r>
              <a:rPr lang="en-US" sz="1300" b="1" dirty="0">
                <a:solidFill>
                  <a:srgbClr val="FFFFFF"/>
                </a:solidFill>
                <a:latin typeface="Calibri" pitchFamily="34" charset="0"/>
                <a:ea typeface="Calibri" pitchFamily="34" charset="-122"/>
                <a:cs typeface="Calibri" pitchFamily="34" charset="-120"/>
              </a:rPr>
              <a:t>06 · Düzgün çembersel hareket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42</Slides>
  <Notes>42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42</vt:i4>
      </vt:variant>
    </vt:vector>
  </HeadingPairs>
  <TitlesOfParts>
    <vt:vector size="4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vector>
  </TitlesOfParts>
  <Company>dersler.perinet.org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Limit hız — Dersler</dc:title>
  <dc:subject>Fizik · Kuvvet ve Hareket</dc:subject>
  <dc:creator>Dersler</dc:creator>
  <cp:lastModifiedBy>Dersler</cp:lastModifiedBy>
  <cp:revision>1</cp:revision>
  <dcterms:created xsi:type="dcterms:W3CDTF">2026-09-30T06:40:42Z</dcterms:created>
  <dcterms:modified xsi:type="dcterms:W3CDTF">2026-09-30T06:40:42Z</dcterms:modified>
</cp:coreProperties>
</file>