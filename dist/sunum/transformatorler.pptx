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Transformatörün yapısı
2. Çalışma ilkesi: karşılıklı indüksiyon
3. Sarım sayısı ve gerilim
4. Akım ve güç korunumu
5. Yükseltici ve düşürücü transformatör
6. Verim ve kayıplar
7. Enerji iletimi: neden yüksek gerilim?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Transformatör, alternatif gerilimin değerini değiştirmeye yarayan bir araçtır. Üç parçadan oluşur:
• Primer (birincil) sarım: kaynağa bağlanan, N₁ sarımlı bobin.
• Sekonder (ikincil) sarım: yükün bağlandığı, N₂ sarımlı bobin.
• Nüve (demir çekirdek): iki bobini birbirine bağlayan, manyetik alan çizgilerini toplayıp sekonderden geçmeye zorlayan yumuşak demir halka.
İki bobin arasında elektriksel bağlantı yoktur; aralarındaki tek köprü nüvedeki manyetik akıdır. Bu yüzden transformatör aynı zamanda bir yalıtım aracıdır.
Nüve neden ince levhalardan yapılır? Demir kütlesi tek parça olsaydı içinde dolanan girdap akımları onu ısıtır, enerjiyi boşa harcardı. Yalıtılmış ince levhalar (saclar) bu akımların yolunu keser.
Çizim: Transformatörün üç parçası var: kaynağa bağlanan primer, yüke bağlanan sekonder ve ikisi arasında hiç elektriksel bağlantı olmadan akıyı taşıyan demir nüve. Bobinler birbirine değmez; aralarındaki tek köprü manyetik alandır. Nüve ince levhalardan yapılır, çünkü tek parça demirde dolanacak girdap akımları onu ısıtıp enerjiyi boşa harcardı.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karşılıklı indüksiyon
Primere alternatif gerilim uygulanınca bobinden sürekli yön ve şiddet değiştiren bir akım geçer. Bu akım nüvede değişen bir manyetik akı oluşturur. Akı nüve boyunca ilerleyip sekonder sarımdan geçer ve Faraday yasası gereği sekonderde bir emk indükler.
V₁ = N₁ · ΔΦ/Δt   V₂ = N₂ · ΔΦ/Δt
Her iki sarımdan aynı akı geçtiği için ΔΦ/Δt ortaktır. İki bağıntıyı taraf tarafa bölünce transformatörün temel eşitliği çıkar.
Doğru akımda çalışmaz. Pil bağlanırsa akım sabit olur, akı değişmez, sekonderde emk indüklenmez. Transformatörün canı değişimdir: bu yüzden evlerimize doğru akım değil alternatif akım gelir. İndüksiyon akımı konusunu hatırla.
Çizim: Transformatörün canı değişimdir. Alternatif akım nüvedeki akıyı saniyede 100 kez değiştirir; bu değişim sekonderde emk indükler. Pil bağlarsan akım sabit olur, akı değişmez ve sekonderde hiçbir gerilim doğmaz — yalnızca anahtarı açıp kapattığın anlarda kısa birer sıçrama görürsün. Evlerimize doğru akım değil, alternatif akım gelmesinin başlıca sebeplerinden biri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Gerilim, sarım sayısıyla doğru orantılıdır. Sekonderde daha çok sarım varsa daha yüksek gerilim elde edilir:
V₁ / V₂ = N₁ / N₂   V₂ = V₁ · N₂ / N₁
Her sarıma düşen gerilim iki bobinde de aynıdır: örneğin 220 V'luk gerilim 500 sarıma uygulanıyorsa sarım başına 0,44 V düşer. 1000 sarımlı sekonderde 1000 · 0,44 = 440 V elde edilir.
Çizim: Her sarım aynı akı değişimini gördüğü için, her sarım aynı miktarda gerilim üretir. Dolayısıyla toplam gerilim sarım sayısıyla doğru orantılıdır: V₁/V₂ = N₁/N₂. Sekonderde daha çok sarım varsa gerilim büyür (yükseltici), daha az sarım varsa küçülür (düşürücü). Aynı transformatör ters bağlanırsa görevi de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Transformatör enerji üretmez, yalnızca dönüştürür. İdeal bir transformatörde giren güç çıkan güce eşittir:
P₁ = P₂   V₁·I₁ = V₂·I₂   I₁ / I₂ = N₂ / N₁
Bu yüzden gerilim kaç kat büyütülürse akım o kadar küçülür. Gerilimi 10 katına çıkaran bir transformatörün sekonderinden, primerdekinin onda biri kadar akım geçebilir.
Çizim: İdeal bir transformatör enerji üretmez, yalnızca biçim değiştirir. Gerilimi dört katına çıkarırsan akım dörtte birine iner; iki dikdörtgenin alanı — yani güç — aynı kalır. Bu yüzden "gerilimi yükselten transformatör gücü de yükseltir" demek yanlıştır. Frekans da hiç değişmez: sekonderdeki gerilim, primerdekiyle aynı ritimde salınır.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Büyüklük | Sarımla ilişkisi | N₂ &gt; N₁ ise
Gerilim | doğru orantılı | artar
Akım | ters orantılı | azalır
Güç | değişmez (ideal) | aynı kalır
Frekans | değişmez | aynı kalır
Frekans asla değişmez. Sekonderdeki gerilimin saniyedeki değişim sayısı, primerdekiyle aynıdır — akı ortak olduğu için başka türlüsü mümkün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Yükseltici ve düşürücü transformatör
• Yükseltici (N₂ &gt; N₁): gerilimi büyütür, akımı küçültür. Santral çıkışında, iletim hattına girerken kullanılır.
• Düşürücü (N₂ &lt; N₁): gerilimi küçültür, akımı büyütür. Şehir girişinde, mahalle trafosunda, telefon şarj adaptöründe kullanılır.
• 1 : 1 (N₂ = N₁): gerilimi değiştirmez; yalnızca devreyi şebekeden yalıtmak için kullanılır.
Kaynak hangi bobine bağlanırsa orası primerdir. Aynı transformatör ters bağlanarak yükselticiden düşürücüye çevrilebilir.
Çizim: Aynı bağıntının iki yüzü. Primeri sabit tutup sekonder sarımı artırırsan çıkış gerilimi doğru orantılı büyür — grafik orijinden geçen bir doğrudur. Sekonderi sabit tutup primer sarımı artırırsan çıkış gerilimi ters orantılı küçülür. Sayfadaki laboratuvarda iki grafiği de kaydırıcıları oynatarak canlı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Gerçek transformatörde çıkan güç, giren güçten biraz küçüktür. Oranlarına verim denir:
verim = P₂ / P₁   % verim = (P₂ / P₁) · 100
• Bakır kaybı: sarım tellerinin direncinde harcanan I²R gücü.
• Girdap akımı kaybı: nüvede dolanan akımların ısıtması.
• Histerezis kaybı: demirin mıknatıslanma yönünü sürekli değiştirmesi için harcanan enerji.
Kayıpların tamamı sonunda ısıya dönüşür. Büyük güç transformatörleri bu yüzden yağla doldurulur ve radyatörlerle soğutulur. Verimleri %98–99 civarındadır.
Çizim: Gerçek bir transformatörde giren gücün küçük bir kısmı ısıya gider. Bakır kaybı sarım tellerinin direncinde harcanır (I²R), girdap akımı kaybı nüvede dolanan akımlardan, histerezis kaybı ise demirin mıknatıslanma yönünü saniyede yüz kez çevirmesinden doğar. Büyük güç transformatörlerinde verim %98'in üzerine çıkar — bu, insanın yaptığı en verimli makinelerden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Enerji iletimi: neden yüksek gerilim?
Santralden şehre giden hat da bir dirençtir. Hatta kaybedilen güç:
P_kayıp = I² · R_hat   I = P / V
Taşınacak güç P belliyken, gerilimi yükseltmek akımı aynı oranda küçültür; kayıp ise akımın karesiyle azalır. Gerilimi 10 katına çıkarmak kaybı 100'de bire indirir. Bu yüzden elektrik, santral çıkışında yükseltici transformatörle 154 kV – 400 kV'a çıkarılır, şehirde düşürücülerle kademe kademe 220 V'a indirilir.
Kaybı azaltmanın öteki yolu hattın direncini küçültmektir; ama bu daha kalın (daha pahalı ve ağır) iletken demektir. Gerilimi yükseltmek çok daha ucuzdur.
Çizim: Aynı 1 MW gücü aynı hattan iletiyoruz; değişen tek şey gerilim. Gerilimi 40 kat yükseltmek akımı 40 kat düşürür, kayıp ise akımın karesiyle gittiği için 1600 kat azalır. Yeşil çubuk şehre ulaşan gücü, kırmızı çubuk hatta ısıya dönüşeni gösteriyor. Yüksek gerilim hatlarının sebebi budur — ve evlere girmeden önce gerilimi tekrar düşürmek için yine transformatör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Çıkış gerilimi ve akımı
Primeri 500, sekonderi 100 sarımlı ideal bir transformatörün primerine 220 V uygulanıyor. Sekonderden 3 A akım çekiliyor. V₂, I₁ ve güçleri bulunuz.
1. V₂ = V₁·N₂/N₁ = 220 · 100/500 = 44 V
2. P₂ = V₂·I₂ = 44 · 3 = 132 W
3. İdeal olduğu için P₁ = P₂ = 132 W
4. I₁ = P₁/V₁ = 132/220 = 0,6 A
5. Kontrol: I₁/I₂ = 0,6/3 = 1/5 = N₂/N₁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Sarım sayısını bulma
220 V'luk şebekeden 12 V elde etmek isteyen bir adaptörün primeri 1100 sarımlıdır. Sekonder kaç sarım olmalıdır?
1. N₂ = N₁ · V₂/V₁
2. N₂ = 1100 · 12/220 = 1100 · 0,0545…
3. N₂ = 60 sarım
4. Sarım başına gerilim: 220/1100 = 0,2 V; 60 · 0,2 = 12 V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Bir transformatörün primerinden 4 A akım geçerken uçlarındaki gerilim 220 V'tur. Sekonderde 44 V altında 17 A akım ölçülmüştür. Verimi bulunuz.
1. P₁ = 220 · 4 = 880 W
2. P₂ = 44 · 17 = 748 W
3. verim = 748/880 = 0,85 → %85
4. Kayıp = 880 − 748 = 132 W; bu güç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Bir santral 1 MW gücü, toplam direnci 5 Ω olan bir hatla taşıyor. İletim gerilimi (a) 10 kV (b) 100 kV ise hatta kaybedilen güçleri karşılaştırınız.
1. (a) I = P/V = 10⁶/10⁴ = 100 A → P_kayıp = 100² · 5 = 50 kW (%5)
2. (b) I = 10⁶/10⁵ = 10 A → P_kayıp = 10² · 5 = 500 W (%0,05)
3. Gerilim 10 katına çıkınca kayıp 100'de bire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“Transformatör gücü artırır.” Artırmaz. Gerilimi artırırken akımı azaltır; ideal durumda güç sabit, gerçekte biraz azalmıştır.
• Akımı da sarımla doğru orantılı sanmak. Gerilim doğru, akım ters orantılıdır.
• Transformatörü doğru akımla çalıştırmaya çalışmak. Akı değişmezse emk indüklenmez.
• Frekansın değiştiğini düşünmek. Frekans primer ve sekonderde aynıdır.
• Kaybı akımla doğru orantılı sanmak. Hat kaybı I²R'dir; akım 2 katına çıkarsa kayıp 4 katına çıkar.
• Primer–sekonder karıştırmak. Kaynağın bağlı olduğu sarım her zaman primerdir.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Gerilim N ile orantılı · Akım N ile ters · İdealde P₁ = P₂ · Kayıp I²·R
V₁ / V₂ = N₁ / N₂ — sarım–gerilim oranı
I₁ / I₂ = N₂ / N₁ — akım ters orantılı
P₁ = P₂ (ideal) — güç korunumu
verim = P₂ / P₁ — gerçek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04</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Transformatörler</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Transformatör, indüksiyonun en yaygın uygulamasıdır: gerilimi yükseltir ya da düşürür, ama gücü üretmez. Gerilimi kaç kat büyütürse akımı o kadar küçültür — ve elektriği yüzlerce kilometre öteye taşıyabilmemizin tek sebebi budur.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V₁ / V₂ = N₁ / N₂   ·   I₁ / I₂ = N₂ / N₁   ·   P₁ = P₂ (ideal)</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Santralde üretilen elektrik evine gelene kadar gerilimi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dört kez değiştirilir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önce 400 000 volta çıkarılır, sonra kademe kademe 220 volta indirilir. Bu dönüşümü yapan şeyin hareketli hiçbir parçası yoktur — iki bobin ve bir demir çekirdek. Neden bu kadar zahmete girildiğini anlamak için tek bir bağıntıya bakmak yeter: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P(kayıp) = I²·R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Gerilimi yükseltmek, akımı düşürmenin tek yoludur.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Transformatörün yapısı</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Transformatör, alternatif gerilimin değerini değiştirmeye yarayan bir araçtır.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Çalışma ilkesi: karşılıklı indüksiyon</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Primere alternatif gerilim uygulanınca bobinden sürekli yön ve şiddet değiştiren bir akım…</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Sarım sayısı ve gerilim</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Gerilim, sarım sayısıyla doğru orantılıdır.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Akım ve güç korunumu</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Transformatör enerji üretmez, yalnızca dönüştürür.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Yükseltici ve düşürücü transformatör</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Kaynak hangi bobine bağlanırsa orası primerdir.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Verim ve kayıplar</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Gerçek transformatörde çıkan güç, giren güçten biraz küçüktür.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Enerji iletimi: neden yüksek gerilim?</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Santralden şehre giden hat da bir dirençtir.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Transformatör, alternatif gerilimin değerini değiştirmeye yarayan bir araçtır.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Üç parçadan oluşur:</a:t>
            </a:r>
            <a:endParaRPr lang="en-US" sz="1300" dirty="0"/>
          </a:p>
        </p:txBody>
      </p:sp>
      <p:sp>
        <p:nvSpPr>
          <p:cNvPr id="6" name="Text 4"/>
          <p:cNvSpPr txBox="1"/>
          <p:nvPr/>
        </p:nvSpPr>
        <p:spPr>
          <a:xfrm>
            <a:off x="640080" y="2402586"/>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Primer (birincil) sarım: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kaynağa bağlanan, N₁ sarımlı bobin.</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Sekonder (ikincil) sarım: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yükün bağlandığı, N₂ sarımlı bobin.</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Nüve (demir çekirdek):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bobini birbirine bağlayan, manyetik alan çizgilerini toplayıp sekonderden geçmeye zorlayan yumuşak demir halka.</a:t>
            </a:r>
            <a:endParaRPr lang="en-US" sz="1300" dirty="0"/>
          </a:p>
        </p:txBody>
      </p:sp>
      <p:sp>
        <p:nvSpPr>
          <p:cNvPr id="7" name="Text 5"/>
          <p:cNvSpPr txBox="1"/>
          <p:nvPr/>
        </p:nvSpPr>
        <p:spPr>
          <a:xfrm>
            <a:off x="640080" y="3615690"/>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İki bobin arasında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elektriksel bağlantı yoktur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aralarındaki tek köprü nüvedeki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manyetik akıdır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yüzden transformatör aynı zamanda bir yalıtım aracıdır.</a:t>
            </a:r>
            <a:endParaRPr lang="en-US" sz="1300" dirty="0"/>
          </a:p>
        </p:txBody>
      </p:sp>
      <p:sp>
        <p:nvSpPr>
          <p:cNvPr id="8" name="Shape 6"/>
          <p:cNvSpPr/>
          <p:nvPr/>
        </p:nvSpPr>
        <p:spPr>
          <a:xfrm>
            <a:off x="640080" y="4536948"/>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4683252"/>
            <a:ext cx="45720" cy="740664"/>
          </a:xfrm>
          <a:prstGeom prst="rect">
            <a:avLst/>
          </a:prstGeom>
          <a:solidFill>
            <a:srgbClr val="3C8C21"/>
          </a:solidFill>
          <a:ln/>
        </p:spPr>
      </p:sp>
      <p:sp>
        <p:nvSpPr>
          <p:cNvPr id="10" name="Text 8"/>
          <p:cNvSpPr txBox="1"/>
          <p:nvPr/>
        </p:nvSpPr>
        <p:spPr>
          <a:xfrm>
            <a:off x="914400" y="4646676"/>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Nüve neden ince levhalardan yapılır?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Demir kütlesi tek parça olsaydı içinde dolanan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girdap akımları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onu ısıtır, enerjiyi boşa harcardı. Yalıtılmış ince levhalar (saclar) bu akımların yolunu keser.</a:t>
            </a:r>
            <a:endParaRPr lang="en-US" sz="1200" dirty="0"/>
          </a:p>
        </p:txBody>
      </p:sp>
      <p:sp>
        <p:nvSpPr>
          <p:cNvPr id="11" name="Shape 9"/>
          <p:cNvSpPr/>
          <p:nvPr/>
        </p:nvSpPr>
        <p:spPr>
          <a:xfrm>
            <a:off x="7607808" y="1481328"/>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transformatorler-01.png">    </p:cNvPr>
          <p:cNvPicPr>
            <a:picLocks noChangeAspect="1"/>
          </p:cNvPicPr>
          <p:nvPr/>
        </p:nvPicPr>
        <p:blipFill>
          <a:blip r:embed="rId1"/>
          <a:stretch>
            <a:fillRect/>
          </a:stretch>
        </p:blipFill>
        <p:spPr>
          <a:xfrm>
            <a:off x="7790688" y="1664208"/>
            <a:ext cx="3578047" cy="1550451"/>
          </a:xfrm>
          <a:prstGeom prst="rect">
            <a:avLst/>
          </a:prstGeom>
        </p:spPr>
      </p:pic>
      <p:sp>
        <p:nvSpPr>
          <p:cNvPr id="13" name="Shape 10"/>
          <p:cNvSpPr/>
          <p:nvPr/>
        </p:nvSpPr>
        <p:spPr>
          <a:xfrm>
            <a:off x="7790688" y="3306099"/>
            <a:ext cx="3578047" cy="0"/>
          </a:xfrm>
          <a:prstGeom prst="line">
            <a:avLst/>
          </a:prstGeom>
          <a:noFill/>
          <a:ln w="9525">
            <a:solidFill>
              <a:srgbClr val="E1E5EE"/>
            </a:solidFill>
            <a:prstDash val="dash"/>
          </a:ln>
        </p:spPr>
      </p:sp>
      <p:sp>
        <p:nvSpPr>
          <p:cNvPr id="14" name="Text 11"/>
          <p:cNvSpPr txBox="1"/>
          <p:nvPr/>
        </p:nvSpPr>
        <p:spPr>
          <a:xfrm>
            <a:off x="7790688" y="336096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Transformatörün üç parçası var: kaynağa bağlanan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primer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yüke bağlanan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sekonder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ikisi arasında hiç elektriksel bağlantı olmadan akıyı taşıyan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demir nüve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Bobinler birbirine değmez; aralarındaki tek köprü manyetik alandır. Nüve ince levhalardan yapılır, çünkü tek parça demirde dolanacak girdap akımları onu ısıtıp enerjiyi boşa harcardı.</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karşılıklı indüksiyon</a:t>
            </a:r>
            <a:endParaRPr lang="en-US" sz="3200" dirty="0"/>
          </a:p>
        </p:txBody>
      </p:sp>
      <p:sp>
        <p:nvSpPr>
          <p:cNvPr id="5" name="Text 3"/>
          <p:cNvSpPr txBox="1"/>
          <p:nvPr/>
        </p:nvSpPr>
        <p:spPr>
          <a:xfrm>
            <a:off x="640080" y="1481328"/>
            <a:ext cx="6309360"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Primere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alternatif</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gerilim uygulanınca bobinden sürekli yön ve şiddet değiştiren bir akım geçer.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akım nüvede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değişen bir manyetik akı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oluşturur.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Akı nüve boyunca ilerleyip sekonder sarımdan geçer ve Faraday yasası gereği sekonderde bir emk indükler.</a:t>
            </a:r>
            <a:endParaRPr lang="en-US" sz="1400" dirty="0"/>
          </a:p>
        </p:txBody>
      </p:sp>
      <p:sp>
        <p:nvSpPr>
          <p:cNvPr id="6" name="Shape 4"/>
          <p:cNvSpPr/>
          <p:nvPr/>
        </p:nvSpPr>
        <p:spPr>
          <a:xfrm>
            <a:off x="640080" y="3009900"/>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3009900"/>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 = N₁ · ΔΦ/Δt</a:t>
            </a:r>
            <a:endParaRPr lang="en-US" sz="1300" dirty="0"/>
          </a:p>
        </p:txBody>
      </p:sp>
      <p:sp>
        <p:nvSpPr>
          <p:cNvPr id="8" name="Shape 6"/>
          <p:cNvSpPr/>
          <p:nvPr/>
        </p:nvSpPr>
        <p:spPr>
          <a:xfrm>
            <a:off x="2688336" y="3009900"/>
            <a:ext cx="193852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3009900"/>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V₂ = N₂ · ΔΦ/Δt</a:t>
            </a:r>
            <a:endParaRPr lang="en-US" sz="1300" dirty="0"/>
          </a:p>
        </p:txBody>
      </p:sp>
      <p:sp>
        <p:nvSpPr>
          <p:cNvPr id="10" name="Text 8"/>
          <p:cNvSpPr txBox="1"/>
          <p:nvPr/>
        </p:nvSpPr>
        <p:spPr>
          <a:xfrm>
            <a:off x="640080" y="3631692"/>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Her iki sarımdan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aynı akı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geçtiği için ΔΦ/Δt ortaktır.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İki bağıntıyı taraf tarafa bölünce transformatörün temel eşitliği çıkar.</a:t>
            </a:r>
            <a:endParaRPr lang="en-US" sz="1400" dirty="0"/>
          </a:p>
        </p:txBody>
      </p:sp>
      <p:sp>
        <p:nvSpPr>
          <p:cNvPr id="11" name="Shape 9"/>
          <p:cNvSpPr/>
          <p:nvPr/>
        </p:nvSpPr>
        <p:spPr>
          <a:xfrm>
            <a:off x="640080" y="4605528"/>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751832"/>
            <a:ext cx="45720" cy="1021080"/>
          </a:xfrm>
          <a:prstGeom prst="rect">
            <a:avLst/>
          </a:prstGeom>
          <a:solidFill>
            <a:srgbClr val="A56209"/>
          </a:solidFill>
          <a:ln/>
        </p:spPr>
      </p:sp>
      <p:sp>
        <p:nvSpPr>
          <p:cNvPr id="13" name="Text 11"/>
          <p:cNvSpPr txBox="1"/>
          <p:nvPr/>
        </p:nvSpPr>
        <p:spPr>
          <a:xfrm>
            <a:off x="914400" y="4715256"/>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Doğru akımda çalışmaz.</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Pil bağlanırsa akım sabit olur, akı değişmez, sekonderde emk indüklenmez. Transformatörün canı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değişimdir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bu yüzden evlerimize doğru akım değil alternatif akım gelir. İndüksiyon akımı konusunu hatırla.</a:t>
            </a:r>
            <a:endParaRPr lang="en-US" sz="1300" dirty="0"/>
          </a:p>
        </p:txBody>
      </p:sp>
      <p:sp>
        <p:nvSpPr>
          <p:cNvPr id="14" name="Shape 12"/>
          <p:cNvSpPr/>
          <p:nvPr/>
        </p:nvSpPr>
        <p:spPr>
          <a:xfrm>
            <a:off x="7242048" y="1481328"/>
            <a:ext cx="4309567" cy="3316766"/>
          </a:xfrm>
          <a:prstGeom prst="roundRect">
            <a:avLst>
              <a:gd name="adj" fmla="val 441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transformatorler-02.png">    </p:cNvPr>
          <p:cNvPicPr>
            <a:picLocks noChangeAspect="1"/>
          </p:cNvPicPr>
          <p:nvPr/>
        </p:nvPicPr>
        <p:blipFill>
          <a:blip r:embed="rId1"/>
          <a:stretch>
            <a:fillRect/>
          </a:stretch>
        </p:blipFill>
        <p:spPr>
          <a:xfrm>
            <a:off x="7424928" y="1664208"/>
            <a:ext cx="3943807" cy="1495281"/>
          </a:xfrm>
          <a:prstGeom prst="rect">
            <a:avLst/>
          </a:prstGeom>
        </p:spPr>
      </p:pic>
      <p:sp>
        <p:nvSpPr>
          <p:cNvPr id="16" name="Shape 13"/>
          <p:cNvSpPr/>
          <p:nvPr/>
        </p:nvSpPr>
        <p:spPr>
          <a:xfrm>
            <a:off x="7424928" y="3250929"/>
            <a:ext cx="3943807" cy="0"/>
          </a:xfrm>
          <a:prstGeom prst="line">
            <a:avLst/>
          </a:prstGeom>
          <a:noFill/>
          <a:ln w="9525">
            <a:solidFill>
              <a:srgbClr val="E1E5EE"/>
            </a:solidFill>
            <a:prstDash val="dash"/>
          </a:ln>
        </p:spPr>
      </p:sp>
      <p:sp>
        <p:nvSpPr>
          <p:cNvPr id="17" name="Text 14"/>
          <p:cNvSpPr txBox="1"/>
          <p:nvPr/>
        </p:nvSpPr>
        <p:spPr>
          <a:xfrm>
            <a:off x="7424928" y="3305793"/>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Transformatörün canı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değişimdir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Alternatif akım nüvedeki akıyı saniyede 100 kez değiştirir; bu değişim sekonderde emk indükler. Pil bağlarsan akım sabit olur, akı değişmez ve sekonderde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hiçbir gerilim doğmaz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yalnızca anahtarı açıp kapattığın anlarda kısa birer sıçrama görürsün. Evlerimize doğru akım değil, alternatif akım gelmesinin başlıca sebeplerinden biri budur.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ve gerilim</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Gerilim, sarım sayısıyla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Sekonderde daha çok sarım varsa daha yüksek gerilim elde edilir:</a:t>
            </a:r>
            <a:endParaRPr lang="en-US" sz="1600" dirty="0"/>
          </a:p>
        </p:txBody>
      </p:sp>
      <p:sp>
        <p:nvSpPr>
          <p:cNvPr id="6" name="Shape 4"/>
          <p:cNvSpPr/>
          <p:nvPr/>
        </p:nvSpPr>
        <p:spPr>
          <a:xfrm>
            <a:off x="640080" y="2560320"/>
            <a:ext cx="213603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6032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 / V₂ = N₁ / N₂</a:t>
            </a:r>
            <a:endParaRPr lang="en-US" sz="1300" dirty="0"/>
          </a:p>
        </p:txBody>
      </p:sp>
      <p:sp>
        <p:nvSpPr>
          <p:cNvPr id="8" name="Shape 6"/>
          <p:cNvSpPr/>
          <p:nvPr/>
        </p:nvSpPr>
        <p:spPr>
          <a:xfrm>
            <a:off x="2885846" y="2560320"/>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885846" y="256032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V₂ = V₁ · N₂ / N₁</a:t>
            </a:r>
            <a:endParaRPr lang="en-US" sz="1300" dirty="0"/>
          </a:p>
        </p:txBody>
      </p:sp>
      <p:sp>
        <p:nvSpPr>
          <p:cNvPr id="10" name="Text 8"/>
          <p:cNvSpPr txBox="1"/>
          <p:nvPr/>
        </p:nvSpPr>
        <p:spPr>
          <a:xfrm>
            <a:off x="640080" y="3182112"/>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Her sarıma düşen gerilim iki bobinde de aynıdır: örneğin 220 V'luk gerilim 500 sarıma uygulanıyorsa sarım başına 0,44 V düşer.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1000 sarımlı sekonderde 1000 · 0,44 = 440 V elde edilir.</a:t>
            </a:r>
            <a:endParaRPr lang="en-US" sz="1600" dirty="0"/>
          </a:p>
        </p:txBody>
      </p:sp>
      <p:sp>
        <p:nvSpPr>
          <p:cNvPr id="11" name="Shape 9"/>
          <p:cNvSpPr/>
          <p:nvPr/>
        </p:nvSpPr>
        <p:spPr>
          <a:xfrm>
            <a:off x="6419088" y="1481328"/>
            <a:ext cx="5132527" cy="3469007"/>
          </a:xfrm>
          <a:prstGeom prst="roundRect">
            <a:avLst>
              <a:gd name="adj" fmla="val 42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transformatorler-03.png">    </p:cNvPr>
          <p:cNvPicPr>
            <a:picLocks noChangeAspect="1"/>
          </p:cNvPicPr>
          <p:nvPr/>
        </p:nvPicPr>
        <p:blipFill>
          <a:blip r:embed="rId1"/>
          <a:stretch>
            <a:fillRect/>
          </a:stretch>
        </p:blipFill>
        <p:spPr>
          <a:xfrm>
            <a:off x="6601968" y="1664208"/>
            <a:ext cx="4766767" cy="2005967"/>
          </a:xfrm>
          <a:prstGeom prst="rect">
            <a:avLst/>
          </a:prstGeom>
        </p:spPr>
      </p:pic>
      <p:sp>
        <p:nvSpPr>
          <p:cNvPr id="13" name="Shape 10"/>
          <p:cNvSpPr/>
          <p:nvPr/>
        </p:nvSpPr>
        <p:spPr>
          <a:xfrm>
            <a:off x="6601968" y="3761615"/>
            <a:ext cx="4766767" cy="0"/>
          </a:xfrm>
          <a:prstGeom prst="line">
            <a:avLst/>
          </a:prstGeom>
          <a:noFill/>
          <a:ln w="9525">
            <a:solidFill>
              <a:srgbClr val="E1E5EE"/>
            </a:solidFill>
            <a:prstDash val="dash"/>
          </a:ln>
        </p:spPr>
      </p:sp>
      <p:sp>
        <p:nvSpPr>
          <p:cNvPr id="14" name="Text 11"/>
          <p:cNvSpPr txBox="1"/>
          <p:nvPr/>
        </p:nvSpPr>
        <p:spPr>
          <a:xfrm>
            <a:off x="6601968" y="381647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Her sarım aynı akı değişimini gördüğü için, her sarım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miktarda gerilim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üretir. Dolayısıyla toplam gerilim sarım sayısıyla doğru orantılıdır: V₁/V₂ = N₁/N₂. Sekonderde daha çok sarım varsa gerilim büyür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yükseltici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daha az sarım varsa küçülür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düşürücü</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Aynı transformatör ters bağlanırsa görevi de tersine döner.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640080" y="1481328"/>
            <a:ext cx="6675120" cy="5836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Transformatör enerji üretmez, yalnızca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dönüştürür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İdeal bir transformatörde giren güç çıkan güce eşittir:</a:t>
            </a:r>
            <a:endParaRPr lang="en-US" sz="1300" dirty="0"/>
          </a:p>
        </p:txBody>
      </p:sp>
      <p:sp>
        <p:nvSpPr>
          <p:cNvPr id="6" name="Shape 4"/>
          <p:cNvSpPr/>
          <p:nvPr/>
        </p:nvSpPr>
        <p:spPr>
          <a:xfrm>
            <a:off x="640080" y="2174748"/>
            <a:ext cx="1148486"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74748"/>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P₁ = P₂</a:t>
            </a:r>
            <a:endParaRPr lang="en-US" sz="1300" dirty="0"/>
          </a:p>
        </p:txBody>
      </p:sp>
      <p:sp>
        <p:nvSpPr>
          <p:cNvPr id="8" name="Shape 6"/>
          <p:cNvSpPr/>
          <p:nvPr/>
        </p:nvSpPr>
        <p:spPr>
          <a:xfrm>
            <a:off x="1898294" y="2174748"/>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1898294" y="217474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V₁·I₁ = V₂·I₂</a:t>
            </a:r>
            <a:endParaRPr lang="en-US" sz="1300" dirty="0"/>
          </a:p>
        </p:txBody>
      </p:sp>
      <p:sp>
        <p:nvSpPr>
          <p:cNvPr id="10" name="Shape 8"/>
          <p:cNvSpPr/>
          <p:nvPr/>
        </p:nvSpPr>
        <p:spPr>
          <a:xfrm>
            <a:off x="3749040" y="2174748"/>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3749040" y="217474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I₂ = N₂ / N₁</a:t>
            </a:r>
            <a:endParaRPr lang="en-US" sz="1300" dirty="0"/>
          </a:p>
        </p:txBody>
      </p:sp>
      <p:sp>
        <p:nvSpPr>
          <p:cNvPr id="12" name="Text 10"/>
          <p:cNvSpPr txBox="1"/>
          <p:nvPr/>
        </p:nvSpPr>
        <p:spPr>
          <a:xfrm>
            <a:off x="640080" y="2796540"/>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yüzden gerilim kaç kat büyütülürse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akım o kadar küçülür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Gerilimi 10 katına çıkaran bir transformatörün sekonderinden, primerdekinin onda biri kadar akım geçebilir.</a:t>
            </a:r>
            <a:endParaRPr lang="en-US" sz="1300" dirty="0"/>
          </a:p>
        </p:txBody>
      </p:sp>
      <p:sp>
        <p:nvSpPr>
          <p:cNvPr id="13" name="Shape 11"/>
          <p:cNvSpPr/>
          <p:nvPr/>
        </p:nvSpPr>
        <p:spPr>
          <a:xfrm>
            <a:off x="7607808" y="1481328"/>
            <a:ext cx="3943807" cy="3282485"/>
          </a:xfrm>
          <a:prstGeom prst="roundRect">
            <a:avLst>
              <a:gd name="adj" fmla="val 445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transformatorler-04.png">    </p:cNvPr>
          <p:cNvPicPr>
            <a:picLocks noChangeAspect="1"/>
          </p:cNvPicPr>
          <p:nvPr/>
        </p:nvPicPr>
        <p:blipFill>
          <a:blip r:embed="rId1"/>
          <a:stretch>
            <a:fillRect/>
          </a:stretch>
        </p:blipFill>
        <p:spPr>
          <a:xfrm>
            <a:off x="7790688" y="1664208"/>
            <a:ext cx="3578047" cy="1461000"/>
          </a:xfrm>
          <a:prstGeom prst="rect">
            <a:avLst/>
          </a:prstGeom>
        </p:spPr>
      </p:pic>
      <p:sp>
        <p:nvSpPr>
          <p:cNvPr id="15" name="Shape 12"/>
          <p:cNvSpPr/>
          <p:nvPr/>
        </p:nvSpPr>
        <p:spPr>
          <a:xfrm>
            <a:off x="7790688" y="3216648"/>
            <a:ext cx="3578047" cy="0"/>
          </a:xfrm>
          <a:prstGeom prst="line">
            <a:avLst/>
          </a:prstGeom>
          <a:noFill/>
          <a:ln w="9525">
            <a:solidFill>
              <a:srgbClr val="E1E5EE"/>
            </a:solidFill>
            <a:prstDash val="dash"/>
          </a:ln>
        </p:spPr>
      </p:sp>
      <p:sp>
        <p:nvSpPr>
          <p:cNvPr id="16" name="Text 13"/>
          <p:cNvSpPr txBox="1"/>
          <p:nvPr/>
        </p:nvSpPr>
        <p:spPr>
          <a:xfrm>
            <a:off x="7790688" y="3271512"/>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İdeal bir transformatör enerji üretmez,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biçim değiştirir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Gerilimi dört katına çıkarırsan akım dörtte birine iner; iki dikdörtgenin alanı — yani güç — aynı kalır. Bu yüzden "gerilimi yükselten transformatör gücü de yükseltir" demek yanlıştır. Frekans da hiç değişmez: sekonderdeki gerilim, primerdekiyle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ritimde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salınır.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 · devam</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869680" cy="914400"/>
        </p:xfrm>
        <a:graphic>
          <a:graphicData uri="http://schemas.openxmlformats.org/drawingml/2006/table">
            <a:tbl>
              <a:tblPr/>
              <a:tblGrid>
                <a:gridCol w="2027355"/>
                <a:gridCol w="4054711"/>
                <a:gridCol w="278761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Sarımla ilişkisi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N₂ &gt; N₁ ise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Gerilim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doğru orantılı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Akım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ters orantılı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Güç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(ideal)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kalır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Frekans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kalır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Shape 3"/>
          <p:cNvSpPr/>
          <p:nvPr/>
        </p:nvSpPr>
        <p:spPr>
          <a:xfrm>
            <a:off x="640080" y="3300984"/>
            <a:ext cx="886968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4"/>
          <p:cNvSpPr/>
          <p:nvPr/>
        </p:nvSpPr>
        <p:spPr>
          <a:xfrm>
            <a:off x="658368" y="3447288"/>
            <a:ext cx="45720" cy="530352"/>
          </a:xfrm>
          <a:prstGeom prst="rect">
            <a:avLst/>
          </a:prstGeom>
          <a:solidFill>
            <a:srgbClr val="3C8C21"/>
          </a:solidFill>
          <a:ln/>
        </p:spPr>
      </p:sp>
      <p:sp>
        <p:nvSpPr>
          <p:cNvPr id="8" name="Text 5"/>
          <p:cNvSpPr txBox="1"/>
          <p:nvPr/>
        </p:nvSpPr>
        <p:spPr>
          <a:xfrm>
            <a:off x="914400" y="3410712"/>
            <a:ext cx="841248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Frekans asla değişmez.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Sekonderdeki gerilimin saniyedeki değişim sayısı, primerdekiyle aynıdır — akı ortak olduğu için başka türlüsü mümkün değildir.</a:t>
            </a:r>
            <a:endParaRPr lang="en-US" sz="1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Yükseltici ve düşürücü transformatör</a:t>
            </a:r>
            <a:endParaRPr lang="en-US" sz="3200" dirty="0"/>
          </a:p>
        </p:txBody>
      </p:sp>
      <p:sp>
        <p:nvSpPr>
          <p:cNvPr id="5" name="Text 3"/>
          <p:cNvSpPr txBox="1"/>
          <p:nvPr/>
        </p:nvSpPr>
        <p:spPr>
          <a:xfrm>
            <a:off x="640080" y="1481328"/>
            <a:ext cx="5486400" cy="24353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Yükseltici (N₂ &gt;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büyütür, akımı küçültür. Santral çıkışında, iletim hattına girerken kullanılır.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Düşürücü (N₂ &lt;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küçültür, akımı büyütür. Şehir girişinde, mahalle trafosunda, telefon şarj adaptöründe kullanılır.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1 : 1 (N₂ =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değiştirmez; yalnızca devreyi şebekeden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yalıtmak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için kullanılır.</a:t>
            </a:r>
            <a:endParaRPr lang="en-US" sz="1600" dirty="0"/>
          </a:p>
        </p:txBody>
      </p:sp>
      <p:sp>
        <p:nvSpPr>
          <p:cNvPr id="6" name="Text 4"/>
          <p:cNvSpPr txBox="1"/>
          <p:nvPr/>
        </p:nvSpPr>
        <p:spPr>
          <a:xfrm>
            <a:off x="640080" y="402640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Kaynak hangi bobine bağlanırsa orası primerdir.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Aynı transformatör ters bağlanarak yükselticiden düşürücüye çevrilebilir.</a:t>
            </a:r>
            <a:endParaRPr lang="en-US" sz="1600" dirty="0"/>
          </a:p>
        </p:txBody>
      </p:sp>
      <p:sp>
        <p:nvSpPr>
          <p:cNvPr id="7" name="Shape 5"/>
          <p:cNvSpPr/>
          <p:nvPr/>
        </p:nvSpPr>
        <p:spPr>
          <a:xfrm>
            <a:off x="6419088" y="1481328"/>
            <a:ext cx="5132527" cy="3290253"/>
          </a:xfrm>
          <a:prstGeom prst="roundRect">
            <a:avLst>
              <a:gd name="adj" fmla="val 44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transformatorler-05.png">    </p:cNvPr>
          <p:cNvPicPr>
            <a:picLocks noChangeAspect="1"/>
          </p:cNvPicPr>
          <p:nvPr/>
        </p:nvPicPr>
        <p:blipFill>
          <a:blip r:embed="rId1"/>
          <a:stretch>
            <a:fillRect/>
          </a:stretch>
        </p:blipFill>
        <p:spPr>
          <a:xfrm>
            <a:off x="6601968" y="1664208"/>
            <a:ext cx="4766767" cy="1827213"/>
          </a:xfrm>
          <a:prstGeom prst="rect">
            <a:avLst/>
          </a:prstGeom>
        </p:spPr>
      </p:pic>
      <p:sp>
        <p:nvSpPr>
          <p:cNvPr id="9" name="Shape 6"/>
          <p:cNvSpPr/>
          <p:nvPr/>
        </p:nvSpPr>
        <p:spPr>
          <a:xfrm>
            <a:off x="6601968" y="3582861"/>
            <a:ext cx="4766767" cy="0"/>
          </a:xfrm>
          <a:prstGeom prst="line">
            <a:avLst/>
          </a:prstGeom>
          <a:noFill/>
          <a:ln w="9525">
            <a:solidFill>
              <a:srgbClr val="E1E5EE"/>
            </a:solidFill>
            <a:prstDash val="dash"/>
          </a:ln>
        </p:spPr>
      </p:sp>
      <p:sp>
        <p:nvSpPr>
          <p:cNvPr id="10" name="Text 7"/>
          <p:cNvSpPr txBox="1"/>
          <p:nvPr/>
        </p:nvSpPr>
        <p:spPr>
          <a:xfrm>
            <a:off x="6601968" y="363772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bağıntının iki yüzü. Primeri sabit tutup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sekonder sarımı artırırsan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çıkış gerilimi doğru orantılı büyür — grafik orijinden geçen bir doğrudur. Sekonderi sabit tutup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primer sarımı artırırsan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çıkış gerilimi ters orantılı küçülür. Sayfadaki laboratuvarda iki grafiği de kaydırıcıları oynatarak canlı görebilirsin.</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640080" y="1481328"/>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Gerçek transformatörde çıkan güç, giren güçten biraz küçüktür.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Oranlarına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verim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denir:</a:t>
            </a:r>
            <a:endParaRPr lang="en-US" sz="1400" dirty="0"/>
          </a:p>
        </p:txBody>
      </p:sp>
      <p:sp>
        <p:nvSpPr>
          <p:cNvPr id="6" name="Shape 4"/>
          <p:cNvSpPr/>
          <p:nvPr/>
        </p:nvSpPr>
        <p:spPr>
          <a:xfrm>
            <a:off x="640080" y="2209800"/>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209800"/>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verim = P₂ / P₁</a:t>
            </a:r>
            <a:endParaRPr lang="en-US" sz="1300" dirty="0"/>
          </a:p>
        </p:txBody>
      </p:sp>
      <p:sp>
        <p:nvSpPr>
          <p:cNvPr id="8" name="Shape 6"/>
          <p:cNvSpPr/>
          <p:nvPr/>
        </p:nvSpPr>
        <p:spPr>
          <a:xfrm>
            <a:off x="2688336" y="2209800"/>
            <a:ext cx="2926080"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2209800"/>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 verim = (P₂ / P₁) · 100</a:t>
            </a:r>
            <a:endParaRPr lang="en-US" sz="1300" dirty="0"/>
          </a:p>
        </p:txBody>
      </p:sp>
      <p:sp>
        <p:nvSpPr>
          <p:cNvPr id="10" name="Text 8"/>
          <p:cNvSpPr txBox="1"/>
          <p:nvPr/>
        </p:nvSpPr>
        <p:spPr>
          <a:xfrm>
            <a:off x="640080" y="2831592"/>
            <a:ext cx="6309360" cy="11734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Bakır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sarım tellerinin direncinde harcanan I²R gücü.</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Girdap akımı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nüvede dolanan akımların ısıtması.</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Histerezis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demirin mıknatıslanma yönünü sürekli değiştirmesi için harcanan enerji.</a:t>
            </a:r>
            <a:endParaRPr lang="en-US" sz="1400" dirty="0"/>
          </a:p>
        </p:txBody>
      </p:sp>
      <p:sp>
        <p:nvSpPr>
          <p:cNvPr id="11" name="Text 9"/>
          <p:cNvSpPr txBox="1"/>
          <p:nvPr/>
        </p:nvSpPr>
        <p:spPr>
          <a:xfrm>
            <a:off x="640080" y="4114800"/>
            <a:ext cx="6309360" cy="11734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Kayıpların tamamı sonunda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ısıya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dönüşür.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Büyük güç transformatörleri bu yüzden yağla doldurulur ve radyatörlerle soğutulur.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Verimleri %98–99 civarındadır.</a:t>
            </a:r>
            <a:endParaRPr lang="en-US" sz="1400" dirty="0"/>
          </a:p>
        </p:txBody>
      </p:sp>
      <p:sp>
        <p:nvSpPr>
          <p:cNvPr id="12" name="Shape 10"/>
          <p:cNvSpPr/>
          <p:nvPr/>
        </p:nvSpPr>
        <p:spPr>
          <a:xfrm>
            <a:off x="7242048" y="1481328"/>
            <a:ext cx="4309567" cy="3431833"/>
          </a:xfrm>
          <a:prstGeom prst="roundRect">
            <a:avLst>
              <a:gd name="adj" fmla="val 4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transformatorler-06.png">    </p:cNvPr>
          <p:cNvPicPr>
            <a:picLocks noChangeAspect="1"/>
          </p:cNvPicPr>
          <p:nvPr/>
        </p:nvPicPr>
        <p:blipFill>
          <a:blip r:embed="rId1"/>
          <a:stretch>
            <a:fillRect/>
          </a:stretch>
        </p:blipFill>
        <p:spPr>
          <a:xfrm>
            <a:off x="7424928" y="1664208"/>
            <a:ext cx="3943807" cy="1610348"/>
          </a:xfrm>
          <a:prstGeom prst="rect">
            <a:avLst/>
          </a:prstGeom>
        </p:spPr>
      </p:pic>
      <p:sp>
        <p:nvSpPr>
          <p:cNvPr id="14" name="Shape 11"/>
          <p:cNvSpPr/>
          <p:nvPr/>
        </p:nvSpPr>
        <p:spPr>
          <a:xfrm>
            <a:off x="7424928" y="3365996"/>
            <a:ext cx="3943807" cy="0"/>
          </a:xfrm>
          <a:prstGeom prst="line">
            <a:avLst/>
          </a:prstGeom>
          <a:noFill/>
          <a:ln w="9525">
            <a:solidFill>
              <a:srgbClr val="E1E5EE"/>
            </a:solidFill>
            <a:prstDash val="dash"/>
          </a:ln>
        </p:spPr>
      </p:sp>
      <p:sp>
        <p:nvSpPr>
          <p:cNvPr id="15" name="Text 12"/>
          <p:cNvSpPr txBox="1"/>
          <p:nvPr/>
        </p:nvSpPr>
        <p:spPr>
          <a:xfrm>
            <a:off x="7424928" y="3420860"/>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Gerçek bir transformatörde giren gücün küçük bir kısmı ısıya gider.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Bakır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sarım tellerinin direncinde harcanır (I²R),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girdap akımı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nüvede dolanan akımlardan,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histerezis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demirin mıknatıslanma yönünü saniyede yüz kez çevirmesinden doğar. Büyük güç transformatörlerinde verim %98'in üzerine çıkar — bu, insanın yaptığı en verimli makinelerden biridir.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Enerji iletimi: neden yüksek gerilim?</a:t>
            </a:r>
            <a:endParaRPr lang="en-US" sz="3200" dirty="0"/>
          </a:p>
        </p:txBody>
      </p:sp>
      <p:sp>
        <p:nvSpPr>
          <p:cNvPr id="5" name="Text 3"/>
          <p:cNvSpPr txBox="1"/>
          <p:nvPr/>
        </p:nvSpPr>
        <p:spPr>
          <a:xfrm>
            <a:off x="640080" y="1481328"/>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Santralden şehre giden hat da bir dirençtir.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Hatta kaybedilen güç:</a:t>
            </a:r>
            <a:endParaRPr lang="en-US" sz="1400" dirty="0"/>
          </a:p>
        </p:txBody>
      </p:sp>
      <p:sp>
        <p:nvSpPr>
          <p:cNvPr id="6" name="Shape 4"/>
          <p:cNvSpPr/>
          <p:nvPr/>
        </p:nvSpPr>
        <p:spPr>
          <a:xfrm>
            <a:off x="640080" y="2209800"/>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209800"/>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P_kayıp = I² · R_hat</a:t>
            </a:r>
            <a:endParaRPr lang="en-US" sz="1300" dirty="0"/>
          </a:p>
        </p:txBody>
      </p:sp>
      <p:sp>
        <p:nvSpPr>
          <p:cNvPr id="8" name="Shape 6"/>
          <p:cNvSpPr/>
          <p:nvPr/>
        </p:nvSpPr>
        <p:spPr>
          <a:xfrm>
            <a:off x="3182112" y="2209800"/>
            <a:ext cx="1345997"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182112" y="2209800"/>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P / V</a:t>
            </a:r>
            <a:endParaRPr lang="en-US" sz="1300" dirty="0"/>
          </a:p>
        </p:txBody>
      </p:sp>
      <p:sp>
        <p:nvSpPr>
          <p:cNvPr id="10" name="Text 8"/>
          <p:cNvSpPr txBox="1"/>
          <p:nvPr/>
        </p:nvSpPr>
        <p:spPr>
          <a:xfrm>
            <a:off x="640080" y="2831592"/>
            <a:ext cx="6309360" cy="16642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Taşınacak güç P belliyken, gerilimi yükseltmek akımı aynı oranda küçültür; kayıp ise akımın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azalır.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Gerilimi 10 katına çıkarmak kaybı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100'de bire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indirir.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yüzden elektrik, santral çıkışında yükseltici transformatörle 154 kV – 400 kV'a çıkarılır, şehirde düşürücülerle kademe kademe 220 V'a indirilir.</a:t>
            </a:r>
            <a:endParaRPr lang="en-US" sz="1400" dirty="0"/>
          </a:p>
        </p:txBody>
      </p:sp>
      <p:sp>
        <p:nvSpPr>
          <p:cNvPr id="11" name="Shape 9"/>
          <p:cNvSpPr/>
          <p:nvPr/>
        </p:nvSpPr>
        <p:spPr>
          <a:xfrm>
            <a:off x="640080" y="4605528"/>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751832"/>
            <a:ext cx="45720" cy="793242"/>
          </a:xfrm>
          <a:prstGeom prst="rect">
            <a:avLst/>
          </a:prstGeom>
          <a:solidFill>
            <a:srgbClr val="3C8C21"/>
          </a:solidFill>
          <a:ln/>
        </p:spPr>
      </p:sp>
      <p:sp>
        <p:nvSpPr>
          <p:cNvPr id="13" name="Text 11"/>
          <p:cNvSpPr txBox="1"/>
          <p:nvPr/>
        </p:nvSpPr>
        <p:spPr>
          <a:xfrm>
            <a:off x="914400" y="4715256"/>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Kaybı azaltmanın öteki yolu</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hattın direncini küçültmektir; ama bu daha kalın (daha pahalı ve ağır) iletken demektir. Gerilimi yükseltmek çok daha ucuzdur.</a:t>
            </a:r>
            <a:endParaRPr lang="en-US" sz="1300" dirty="0"/>
          </a:p>
        </p:txBody>
      </p:sp>
      <p:sp>
        <p:nvSpPr>
          <p:cNvPr id="14" name="Shape 12"/>
          <p:cNvSpPr/>
          <p:nvPr/>
        </p:nvSpPr>
        <p:spPr>
          <a:xfrm>
            <a:off x="7242048" y="1481328"/>
            <a:ext cx="4309567" cy="3727619"/>
          </a:xfrm>
          <a:prstGeom prst="roundRect">
            <a:avLst>
              <a:gd name="adj" fmla="val 39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transformatorler-07.png">    </p:cNvPr>
          <p:cNvPicPr>
            <a:picLocks noChangeAspect="1"/>
          </p:cNvPicPr>
          <p:nvPr/>
        </p:nvPicPr>
        <p:blipFill>
          <a:blip r:embed="rId1"/>
          <a:stretch>
            <a:fillRect/>
          </a:stretch>
        </p:blipFill>
        <p:spPr>
          <a:xfrm>
            <a:off x="7424928" y="1664208"/>
            <a:ext cx="3943807" cy="1906134"/>
          </a:xfrm>
          <a:prstGeom prst="rect">
            <a:avLst/>
          </a:prstGeom>
        </p:spPr>
      </p:pic>
      <p:sp>
        <p:nvSpPr>
          <p:cNvPr id="16" name="Shape 13"/>
          <p:cNvSpPr/>
          <p:nvPr/>
        </p:nvSpPr>
        <p:spPr>
          <a:xfrm>
            <a:off x="7424928" y="3661782"/>
            <a:ext cx="3943807" cy="0"/>
          </a:xfrm>
          <a:prstGeom prst="line">
            <a:avLst/>
          </a:prstGeom>
          <a:noFill/>
          <a:ln w="9525">
            <a:solidFill>
              <a:srgbClr val="E1E5EE"/>
            </a:solidFill>
            <a:prstDash val="dash"/>
          </a:ln>
        </p:spPr>
      </p:sp>
      <p:sp>
        <p:nvSpPr>
          <p:cNvPr id="17" name="Text 14"/>
          <p:cNvSpPr txBox="1"/>
          <p:nvPr/>
        </p:nvSpPr>
        <p:spPr>
          <a:xfrm>
            <a:off x="7424928" y="3716646"/>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1 MW gücü aynı hattan iletiyoruz; değişen tek şey gerilim. Gerilimi 40 kat yükseltmek akımı 40 kat düşürür, kayıp ise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akımın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gittiği için 1600 kat azalır. Yeşil çubuk şehre ulaşan gücü, kırmızı çubuk hatta ısıya dönüşeni gösteriyor. Yüksek gerilim hatlarının sebebi budur — ve evlere girmeden önce gerilimi tekrar düşürmek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yine transformatör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kullanılır.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Primeri 500, sekonderi 100 sarımlı ideal bir transformatörün primerine 220 V uygulanıyor. Sekonderden 3 A akım çekiliyor. V₂, I₁ ve güçleri bulunuz.</a:t>
            </a:r>
            <a:endParaRPr lang="en-US" sz="1600" dirty="0"/>
          </a:p>
        </p:txBody>
      </p:sp>
      <p:sp>
        <p:nvSpPr>
          <p:cNvPr id="9" name="Shape 7"/>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28800"/>
            <a:ext cx="384048" cy="384048"/>
          </a:xfrm>
          <a:prstGeom prst="roundRect">
            <a:avLst>
              <a:gd name="adj" fmla="val 26000"/>
            </a:avLst>
          </a:prstGeom>
          <a:solidFill>
            <a:srgbClr val="A56209"/>
          </a:solidFill>
          <a:ln/>
        </p:spPr>
      </p:sp>
      <p:sp>
        <p:nvSpPr>
          <p:cNvPr id="11" name="Text 9"/>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V₂ = V₁·N₂/N₁ = 220 · 100/500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44 V</a:t>
            </a:r>
            <a:endParaRPr lang="en-US" sz="1600" dirty="0"/>
          </a:p>
        </p:txBody>
      </p:sp>
      <p:sp>
        <p:nvSpPr>
          <p:cNvPr id="13" name="Shape 11"/>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761488"/>
            <a:ext cx="384048" cy="384048"/>
          </a:xfrm>
          <a:prstGeom prst="roundRect">
            <a:avLst>
              <a:gd name="adj" fmla="val 26000"/>
            </a:avLst>
          </a:prstGeom>
          <a:solidFill>
            <a:srgbClr val="A56209"/>
          </a:solidFill>
          <a:ln/>
        </p:spPr>
      </p:sp>
      <p:sp>
        <p:nvSpPr>
          <p:cNvPr id="15" name="Text 13"/>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P₂ = V₂·I₂ = 44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132 W</a:t>
            </a:r>
            <a:endParaRPr lang="en-US" sz="1600" dirty="0"/>
          </a:p>
        </p:txBody>
      </p:sp>
      <p:sp>
        <p:nvSpPr>
          <p:cNvPr id="17" name="Shape 15"/>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İdeal olduğu için P₁ = P₂ = 132 W</a:t>
            </a:r>
            <a:endParaRPr lang="en-US" sz="1600" dirty="0"/>
          </a:p>
        </p:txBody>
      </p:sp>
      <p:sp>
        <p:nvSpPr>
          <p:cNvPr id="21" name="Shape 19"/>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626864"/>
            <a:ext cx="384048" cy="384048"/>
          </a:xfrm>
          <a:prstGeom prst="roundRect">
            <a:avLst>
              <a:gd name="adj" fmla="val 26000"/>
            </a:avLst>
          </a:prstGeom>
          <a:solidFill>
            <a:srgbClr val="A56209"/>
          </a:solidFill>
          <a:ln/>
        </p:spPr>
      </p:sp>
      <p:sp>
        <p:nvSpPr>
          <p:cNvPr id="23" name="Text 21"/>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I₁ = P₁/V₁ = 132/220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A</a:t>
            </a:r>
            <a:endParaRPr lang="en-US" sz="1600" dirty="0"/>
          </a:p>
        </p:txBody>
      </p:sp>
      <p:sp>
        <p:nvSpPr>
          <p:cNvPr id="25" name="Shape 23"/>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59552"/>
            <a:ext cx="384048" cy="384048"/>
          </a:xfrm>
          <a:prstGeom prst="roundRect">
            <a:avLst>
              <a:gd name="adj" fmla="val 26000"/>
            </a:avLst>
          </a:prstGeom>
          <a:solidFill>
            <a:srgbClr val="A56209"/>
          </a:solidFill>
          <a:ln/>
        </p:spPr>
      </p:sp>
      <p:sp>
        <p:nvSpPr>
          <p:cNvPr id="27" name="Text 25"/>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I₁/I₂ = 0,6/3 = 1/5 = N₂/N₁ ✓</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220 V'luk şebekeden 12 V elde etmek isteyen bir adaptörün primeri 1100 sarımlıdır. Sekonder kaç sarım olmalıdır?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N₁ · V₂/V₁</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1100 · 12/220 = 1100 · 0,0545…</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sarım</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Sarım başına gerilim: 220/1100 = 0,2 V; 60 · 0,2 = 12 V ✓</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transformatörün primerinden 4 A akım geçerken uçlarındaki gerilim 220 V'tur. Sekonderde 44 V altında 17 A akım ölçülmüştür. Verimi bulunuz.</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P₁ = 220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880 W</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P₂ = 44 · 17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748 W</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verim = 748/880 = 0,85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%85</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Kayıp = 880 − 748 = 132 W; bu güç ısıya dönüşür.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santral 1 MW gücü, toplam direnci 5 Ω olan bir hatla taşıyor. İletim gerilimi (a) 10 kV (b) 100 kV ise hatta kaybedilen güçleri karşılaştırınız.</a:t>
            </a:r>
            <a:endParaRPr lang="en-US" sz="1600" dirty="0"/>
          </a:p>
        </p:txBody>
      </p:sp>
      <p:sp>
        <p:nvSpPr>
          <p:cNvPr id="9" name="Shape 7"/>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223365"/>
            <a:ext cx="384048" cy="384048"/>
          </a:xfrm>
          <a:prstGeom prst="roundRect">
            <a:avLst>
              <a:gd name="adj" fmla="val 26000"/>
            </a:avLst>
          </a:prstGeom>
          <a:solidFill>
            <a:srgbClr val="A56209"/>
          </a:solidFill>
          <a:ln/>
        </p:spPr>
      </p:sp>
      <p:sp>
        <p:nvSpPr>
          <p:cNvPr id="11" name="Text 9"/>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I = P/V = 10⁶/10⁴ = 100 A → P_kayıp = 100²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kW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(%5)</a:t>
            </a:r>
            <a:endParaRPr lang="en-US" sz="1600" dirty="0"/>
          </a:p>
        </p:txBody>
      </p:sp>
      <p:sp>
        <p:nvSpPr>
          <p:cNvPr id="13" name="Shape 11"/>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945182"/>
            <a:ext cx="384048" cy="384048"/>
          </a:xfrm>
          <a:prstGeom prst="roundRect">
            <a:avLst>
              <a:gd name="adj" fmla="val 26000"/>
            </a:avLst>
          </a:prstGeom>
          <a:solidFill>
            <a:srgbClr val="A56209"/>
          </a:solidFill>
          <a:ln/>
        </p:spPr>
      </p:sp>
      <p:sp>
        <p:nvSpPr>
          <p:cNvPr id="15" name="Text 13"/>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I = 10⁶/10⁵ = 10 A → P_kayıp = 10²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500 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(%0,05)</a:t>
            </a:r>
            <a:endParaRPr lang="en-US" sz="1600" dirty="0"/>
          </a:p>
        </p:txBody>
      </p:sp>
      <p:sp>
        <p:nvSpPr>
          <p:cNvPr id="17" name="Shape 15"/>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415994"/>
            <a:ext cx="384048" cy="384048"/>
          </a:xfrm>
          <a:prstGeom prst="roundRect">
            <a:avLst>
              <a:gd name="adj" fmla="val 26000"/>
            </a:avLst>
          </a:prstGeom>
          <a:solidFill>
            <a:srgbClr val="A56209"/>
          </a:solidFill>
          <a:ln/>
        </p:spPr>
      </p:sp>
      <p:sp>
        <p:nvSpPr>
          <p:cNvPr id="19" name="Text 17"/>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Gerilim 10 katına çıkınca kayıp 100'de bire indi.</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“Transformatör gücü artırır.”</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Artırmaz. Gerilimi artırırken akımı azaltır; ideal durumda güç sabit, gerçekte biraz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azalmıştır</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Akımı da sarımla doğru orantılı sanmak.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Gerilim doğru, akım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ters</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orantılıdır.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Transformatörü doğru akımla çalıştırmaya çalışmak.</a:t>
            </a:r>
            <a:endParaRPr lang="en-US" sz="1500" dirty="0"/>
          </a:p>
        </p:txBody>
      </p:sp>
      <p:sp>
        <p:nvSpPr>
          <p:cNvPr id="24" name="Shape 22"/>
          <p:cNvSpPr/>
          <p:nvPr/>
        </p:nvSpPr>
        <p:spPr>
          <a:xfrm>
            <a:off x="841248" y="3954780"/>
            <a:ext cx="274320" cy="274320"/>
          </a:xfrm>
          <a:prstGeom prst="roundRect">
            <a:avLst>
              <a:gd name="adj" fmla="val 26667"/>
            </a:avLst>
          </a:prstGeom>
          <a:solidFill>
            <a:srgbClr val="EAF7DC"/>
          </a:solidFill>
          <a:ln/>
        </p:spPr>
      </p:sp>
      <p:sp>
        <p:nvSpPr>
          <p:cNvPr id="25" name="Text 23"/>
          <p:cNvSpPr txBox="1"/>
          <p:nvPr/>
        </p:nvSpPr>
        <p:spPr>
          <a:xfrm>
            <a:off x="841248" y="395478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93649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Akı değişmezse emk indüklenmez.</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Frekansın değiştiğini düşünmek.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Frekans primer ve sekonderde aynıdır.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Kaybı akımla doğru orantılı sanmak.</a:t>
            </a:r>
            <a:endParaRPr lang="en-US" sz="1500" dirty="0"/>
          </a:p>
        </p:txBody>
      </p:sp>
      <p:sp>
        <p:nvSpPr>
          <p:cNvPr id="38" name="Shape 36"/>
          <p:cNvSpPr/>
          <p:nvPr/>
        </p:nvSpPr>
        <p:spPr>
          <a:xfrm>
            <a:off x="841248" y="5246370"/>
            <a:ext cx="274320" cy="274320"/>
          </a:xfrm>
          <a:prstGeom prst="roundRect">
            <a:avLst>
              <a:gd name="adj" fmla="val 26667"/>
            </a:avLst>
          </a:prstGeom>
          <a:solidFill>
            <a:srgbClr val="EAF7DC"/>
          </a:solidFill>
          <a:ln/>
        </p:spPr>
      </p:sp>
      <p:sp>
        <p:nvSpPr>
          <p:cNvPr id="39" name="Text 37"/>
          <p:cNvSpPr txBox="1"/>
          <p:nvPr/>
        </p:nvSpPr>
        <p:spPr>
          <a:xfrm>
            <a:off x="841248"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Hat kaybı I²R'dir; akım 2 katına çıkarsa kayıp 4 katına çıkar.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Primer–sekonder karıştırmak.</a:t>
            </a:r>
            <a:endParaRPr lang="en-US" sz="1500" dirty="0"/>
          </a:p>
        </p:txBody>
      </p:sp>
      <p:sp>
        <p:nvSpPr>
          <p:cNvPr id="45" name="Shape 43"/>
          <p:cNvSpPr/>
          <p:nvPr/>
        </p:nvSpPr>
        <p:spPr>
          <a:xfrm>
            <a:off x="6406744" y="5246370"/>
            <a:ext cx="274320" cy="274320"/>
          </a:xfrm>
          <a:prstGeom prst="roundRect">
            <a:avLst>
              <a:gd name="adj" fmla="val 26667"/>
            </a:avLst>
          </a:prstGeom>
          <a:solidFill>
            <a:srgbClr val="EAF7DC"/>
          </a:solidFill>
          <a:ln/>
        </p:spPr>
      </p:sp>
      <p:sp>
        <p:nvSpPr>
          <p:cNvPr id="46" name="Text 44"/>
          <p:cNvSpPr txBox="1"/>
          <p:nvPr/>
        </p:nvSpPr>
        <p:spPr>
          <a:xfrm>
            <a:off x="6406744"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Kaynağın bağlı olduğu sarım her zaman primerdir.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Gerilim </a:t>
            </a:r>
            <a:pPr indent="0" marL="0">
              <a:buNone/>
            </a:pPr>
            <a:r>
              <a:rPr lang="en-US" sz="1500" b="1" dirty="0">
                <a:solidFill>
                  <a:srgbClr val="FFFFFF"/>
                </a:solidFill>
                <a:latin typeface="Calibri" pitchFamily="34" charset="0"/>
                <a:ea typeface="Calibri" pitchFamily="34" charset="-122"/>
                <a:cs typeface="Calibri" pitchFamily="34" charset="-120"/>
              </a:rPr>
              <a:t>N ile orantılı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Akım </a:t>
            </a:r>
            <a:pPr indent="0" marL="0">
              <a:buNone/>
            </a:pPr>
            <a:r>
              <a:rPr lang="en-US" sz="1500" b="1" dirty="0">
                <a:solidFill>
                  <a:srgbClr val="FFFFFF"/>
                </a:solidFill>
                <a:latin typeface="Calibri" pitchFamily="34" charset="0"/>
                <a:ea typeface="Calibri" pitchFamily="34" charset="-122"/>
                <a:cs typeface="Calibri" pitchFamily="34" charset="-120"/>
              </a:rPr>
              <a:t>N ile ters</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İdealde </a:t>
            </a:r>
            <a:pPr indent="0" marL="0">
              <a:buNone/>
            </a:pPr>
            <a:r>
              <a:rPr lang="en-US" sz="1500" b="1" dirty="0">
                <a:solidFill>
                  <a:srgbClr val="FFFFFF"/>
                </a:solidFill>
                <a:latin typeface="Calibri" pitchFamily="34" charset="0"/>
                <a:ea typeface="Calibri" pitchFamily="34" charset="-122"/>
                <a:cs typeface="Calibri" pitchFamily="34" charset="-120"/>
              </a:rPr>
              <a:t>P₁ = P₂</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Kayıp </a:t>
            </a:r>
            <a:pPr indent="0" marL="0">
              <a:buNone/>
            </a:pPr>
            <a:r>
              <a:rPr lang="en-US" sz="1500" b="1" dirty="0">
                <a:solidFill>
                  <a:srgbClr val="FFFFFF"/>
                </a:solidFill>
                <a:latin typeface="Calibri" pitchFamily="34" charset="0"/>
                <a:ea typeface="Calibri" pitchFamily="34" charset="-122"/>
                <a:cs typeface="Calibri" pitchFamily="34" charset="-120"/>
              </a:rPr>
              <a:t>I²·R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V₁ / V₂ = N₁ / N₂</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I₁ / I₂ = N₂ / N₁</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P₁ = P₂ (ideal)</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verim = P₂ / P₁</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dersler.perinet.org/transformatorler.html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Transformatörler — Dersler</dc:title>
  <dc:subject>Fizik · Elektrik ve Manyetizma</dc:subject>
  <dc:creator>Dersler</dc:creator>
  <cp:lastModifiedBy>Dersler</cp:lastModifiedBy>
  <cp:revision>1</cp:revision>
  <dcterms:created xsi:type="dcterms:W3CDTF">2026-09-20T18:42:57Z</dcterms:created>
  <dcterms:modified xsi:type="dcterms:W3CDTF">2026-09-20T18:42:57Z</dcterms:modified>
</cp:coreProperties>
</file>