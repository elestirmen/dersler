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V₁ = 220 V ve N₁ = 500 için çıkış gerilimi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V₂</c:v>
                </c:pt>
              </c:strCache>
            </c:strRef>
          </c:tx>
          <c:spPr>
            <a:solidFill>
              <a:srgbClr val="3C8C21"/>
            </a:solidFill>
            <a:ln w="31750" cap="flat">
              <a:solidFill>
                <a:srgbClr val="3C8C21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3C8C21"/>
              </a:solidFill>
              <a:ln w="9525" cap="flat">
                <a:solidFill>
                  <a:srgbClr val="3C8C21"/>
                </a:solidFill>
                <a:prstDash val="solid"/>
                <a:round/>
              </a:ln>
              <a:effectLst/>
            </c:spPr>
          </c:marker>
          <c:xVal>
            <c:numRef>
              <c:f>Sheet1!$A$2:$A$42</c:f>
              <c:numCache>
                <c:formatCode>General</c:formatCode>
                <c:ptCount val="41"/>
                <c:pt idx="0">
                  <c:v>0</c:v>
                </c:pt>
                <c:pt idx="1">
                  <c:v>50</c:v>
                </c:pt>
                <c:pt idx="2">
                  <c:v>100</c:v>
                </c:pt>
                <c:pt idx="3">
                  <c:v>150</c:v>
                </c:pt>
                <c:pt idx="4">
                  <c:v>200</c:v>
                </c:pt>
                <c:pt idx="5">
                  <c:v>250</c:v>
                </c:pt>
                <c:pt idx="6">
                  <c:v>300</c:v>
                </c:pt>
                <c:pt idx="7">
                  <c:v>350</c:v>
                </c:pt>
                <c:pt idx="8">
                  <c:v>400</c:v>
                </c:pt>
                <c:pt idx="9">
                  <c:v>450</c:v>
                </c:pt>
                <c:pt idx="10">
                  <c:v>500</c:v>
                </c:pt>
                <c:pt idx="11">
                  <c:v>550</c:v>
                </c:pt>
                <c:pt idx="12">
                  <c:v>600</c:v>
                </c:pt>
                <c:pt idx="13">
                  <c:v>650</c:v>
                </c:pt>
                <c:pt idx="14">
                  <c:v>700</c:v>
                </c:pt>
                <c:pt idx="15">
                  <c:v>750</c:v>
                </c:pt>
                <c:pt idx="16">
                  <c:v>800</c:v>
                </c:pt>
                <c:pt idx="17">
                  <c:v>850</c:v>
                </c:pt>
                <c:pt idx="18">
                  <c:v>900</c:v>
                </c:pt>
                <c:pt idx="19">
                  <c:v>950</c:v>
                </c:pt>
                <c:pt idx="20">
                  <c:v>1000</c:v>
                </c:pt>
                <c:pt idx="21">
                  <c:v>1050</c:v>
                </c:pt>
                <c:pt idx="22">
                  <c:v>1100</c:v>
                </c:pt>
                <c:pt idx="23">
                  <c:v>1150</c:v>
                </c:pt>
                <c:pt idx="24">
                  <c:v>1200</c:v>
                </c:pt>
                <c:pt idx="25">
                  <c:v>1250</c:v>
                </c:pt>
                <c:pt idx="26">
                  <c:v>1300</c:v>
                </c:pt>
                <c:pt idx="27">
                  <c:v>1350</c:v>
                </c:pt>
                <c:pt idx="28">
                  <c:v>1400</c:v>
                </c:pt>
                <c:pt idx="29">
                  <c:v>1450</c:v>
                </c:pt>
                <c:pt idx="30">
                  <c:v>1500</c:v>
                </c:pt>
                <c:pt idx="31">
                  <c:v>1550</c:v>
                </c:pt>
                <c:pt idx="32">
                  <c:v>1600</c:v>
                </c:pt>
                <c:pt idx="33">
                  <c:v>1650</c:v>
                </c:pt>
                <c:pt idx="34">
                  <c:v>1700</c:v>
                </c:pt>
                <c:pt idx="35">
                  <c:v>1750</c:v>
                </c:pt>
                <c:pt idx="36">
                  <c:v>1800</c:v>
                </c:pt>
                <c:pt idx="37">
                  <c:v>1850</c:v>
                </c:pt>
                <c:pt idx="38">
                  <c:v>1900</c:v>
                </c:pt>
                <c:pt idx="39">
                  <c:v>1950</c:v>
                </c:pt>
                <c:pt idx="40">
                  <c:v>2000</c:v>
                </c:pt>
              </c:numCache>
            </c:numRef>
          </c:xVal>
          <c:yVal>
            <c:numRef>
              <c:f>Sheet1!$B$2:$B$42</c:f>
              <c:numCache>
                <c:formatCode>General</c:formatCode>
                <c:ptCount val="41"/>
                <c:pt idx="0">
                  <c:v>0</c:v>
                </c:pt>
                <c:pt idx="1">
                  <c:v>22</c:v>
                </c:pt>
                <c:pt idx="2">
                  <c:v>44</c:v>
                </c:pt>
                <c:pt idx="3">
                  <c:v>66</c:v>
                </c:pt>
                <c:pt idx="4">
                  <c:v>88</c:v>
                </c:pt>
                <c:pt idx="5">
                  <c:v>110</c:v>
                </c:pt>
                <c:pt idx="6">
                  <c:v>132</c:v>
                </c:pt>
                <c:pt idx="7">
                  <c:v>154</c:v>
                </c:pt>
                <c:pt idx="8">
                  <c:v>176</c:v>
                </c:pt>
                <c:pt idx="9">
                  <c:v>198</c:v>
                </c:pt>
                <c:pt idx="10">
                  <c:v>220</c:v>
                </c:pt>
                <c:pt idx="11">
                  <c:v>242</c:v>
                </c:pt>
                <c:pt idx="12">
                  <c:v>264</c:v>
                </c:pt>
                <c:pt idx="13">
                  <c:v>286</c:v>
                </c:pt>
                <c:pt idx="14">
                  <c:v>308</c:v>
                </c:pt>
                <c:pt idx="15">
                  <c:v>330</c:v>
                </c:pt>
                <c:pt idx="16">
                  <c:v>352</c:v>
                </c:pt>
                <c:pt idx="17">
                  <c:v>374</c:v>
                </c:pt>
                <c:pt idx="18">
                  <c:v>396</c:v>
                </c:pt>
                <c:pt idx="19">
                  <c:v>418</c:v>
                </c:pt>
                <c:pt idx="20">
                  <c:v>440</c:v>
                </c:pt>
                <c:pt idx="21">
                  <c:v>462</c:v>
                </c:pt>
                <c:pt idx="22">
                  <c:v>484</c:v>
                </c:pt>
                <c:pt idx="23">
                  <c:v>506</c:v>
                </c:pt>
                <c:pt idx="24">
                  <c:v>528</c:v>
                </c:pt>
                <c:pt idx="25">
                  <c:v>550</c:v>
                </c:pt>
                <c:pt idx="26">
                  <c:v>572</c:v>
                </c:pt>
                <c:pt idx="27">
                  <c:v>594</c:v>
                </c:pt>
                <c:pt idx="28">
                  <c:v>616</c:v>
                </c:pt>
                <c:pt idx="29">
                  <c:v>638</c:v>
                </c:pt>
                <c:pt idx="30">
                  <c:v>660</c:v>
                </c:pt>
                <c:pt idx="31">
                  <c:v>682</c:v>
                </c:pt>
                <c:pt idx="32">
                  <c:v>704</c:v>
                </c:pt>
                <c:pt idx="33">
                  <c:v>726</c:v>
                </c:pt>
                <c:pt idx="34">
                  <c:v>748</c:v>
                </c:pt>
                <c:pt idx="35">
                  <c:v>770</c:v>
                </c:pt>
                <c:pt idx="36">
                  <c:v>792</c:v>
                </c:pt>
                <c:pt idx="37">
                  <c:v>814</c:v>
                </c:pt>
                <c:pt idx="38">
                  <c:v>836</c:v>
                </c:pt>
                <c:pt idx="39">
                  <c:v>858</c:v>
                </c:pt>
                <c:pt idx="40">
                  <c:v>880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sekonder sarım sayısı N₂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V₂ (V)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%95 verimli bir transformatörde güç dağılımı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Güç (W)</c:v>
                </c:pt>
              </c:strCache>
            </c:strRef>
          </c:tx>
          <c:spPr>
            <a:solidFill>
              <a:srgbClr val="C53455"/>
            </a:solidFill>
            <a:ln w="9525" cap="flat">
              <a:solidFill>
                <a:srgbClr val="FFFF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73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5345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C8C2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56209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Giren P₁</c:v>
                  </c:pt>
                  <c:pt idx="1">
                    <c:v>Çıkan P₂</c:v>
                  </c:pt>
                  <c:pt idx="2">
                    <c:v>Kayıp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1000</c:v>
                </c:pt>
                <c:pt idx="1">
                  <c:v>950</c:v>
                </c:pt>
                <c:pt idx="2">
                  <c:v>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F173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0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güç (W)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 algn="l">
              <a:defRPr sz="1200" b="0" i="0" u="none" strike="noStrike">
                <a:solidFill>
                  <a:srgbClr val="0F173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F1730"/>
                </a:solidFill>
                <a:latin typeface="Calibri"/>
              </a:rPr>
              <a:t>1 MW gücün 5 Ω'luk hatla iletiminde kayıp oranı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kayıp</c:v>
                </c:pt>
              </c:strCache>
            </c:strRef>
          </c:tx>
          <c:spPr>
            <a:solidFill>
              <a:srgbClr val="2A5FD6"/>
            </a:solidFill>
            <a:ln w="31750" cap="flat">
              <a:solidFill>
                <a:srgbClr val="2A5FD6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A5FD6"/>
              </a:solidFill>
              <a:ln w="9525" cap="flat">
                <a:solidFill>
                  <a:srgbClr val="2A5FD6"/>
                </a:solidFill>
                <a:prstDash val="solid"/>
                <a:round/>
              </a:ln>
              <a:effectLst/>
            </c:spPr>
          </c:marker>
          <c:xVal>
            <c:numRef>
              <c:f>Sheet1!$A$2:$A$197</c:f>
              <c:numCache>
                <c:formatCode>General</c:formatCode>
                <c:ptCount val="196"/>
                <c:pt idx="0">
                  <c:v>5</c:v>
                </c:pt>
                <c:pt idx="1">
                  <c:v>6</c:v>
                </c:pt>
                <c:pt idx="2">
                  <c:v>7</c:v>
                </c:pt>
                <c:pt idx="3">
                  <c:v>8</c:v>
                </c:pt>
                <c:pt idx="4">
                  <c:v>9</c:v>
                </c:pt>
                <c:pt idx="5">
                  <c:v>10</c:v>
                </c:pt>
                <c:pt idx="6">
                  <c:v>11</c:v>
                </c:pt>
                <c:pt idx="7">
                  <c:v>12</c:v>
                </c:pt>
                <c:pt idx="8">
                  <c:v>13</c:v>
                </c:pt>
                <c:pt idx="9">
                  <c:v>14</c:v>
                </c:pt>
                <c:pt idx="10">
                  <c:v>15</c:v>
                </c:pt>
                <c:pt idx="11">
                  <c:v>16</c:v>
                </c:pt>
                <c:pt idx="12">
                  <c:v>17</c:v>
                </c:pt>
                <c:pt idx="13">
                  <c:v>18</c:v>
                </c:pt>
                <c:pt idx="14">
                  <c:v>19</c:v>
                </c:pt>
                <c:pt idx="15">
                  <c:v>20</c:v>
                </c:pt>
                <c:pt idx="16">
                  <c:v>21</c:v>
                </c:pt>
                <c:pt idx="17">
                  <c:v>22</c:v>
                </c:pt>
                <c:pt idx="18">
                  <c:v>23</c:v>
                </c:pt>
                <c:pt idx="19">
                  <c:v>24</c:v>
                </c:pt>
                <c:pt idx="20">
                  <c:v>25</c:v>
                </c:pt>
                <c:pt idx="21">
                  <c:v>26</c:v>
                </c:pt>
                <c:pt idx="22">
                  <c:v>27</c:v>
                </c:pt>
                <c:pt idx="23">
                  <c:v>28</c:v>
                </c:pt>
                <c:pt idx="24">
                  <c:v>29</c:v>
                </c:pt>
                <c:pt idx="25">
                  <c:v>30</c:v>
                </c:pt>
                <c:pt idx="26">
                  <c:v>31</c:v>
                </c:pt>
                <c:pt idx="27">
                  <c:v>32</c:v>
                </c:pt>
                <c:pt idx="28">
                  <c:v>33</c:v>
                </c:pt>
                <c:pt idx="29">
                  <c:v>34</c:v>
                </c:pt>
                <c:pt idx="30">
                  <c:v>35</c:v>
                </c:pt>
                <c:pt idx="31">
                  <c:v>36</c:v>
                </c:pt>
                <c:pt idx="32">
                  <c:v>37</c:v>
                </c:pt>
                <c:pt idx="33">
                  <c:v>38</c:v>
                </c:pt>
                <c:pt idx="34">
                  <c:v>39</c:v>
                </c:pt>
                <c:pt idx="35">
                  <c:v>40</c:v>
                </c:pt>
                <c:pt idx="36">
                  <c:v>41</c:v>
                </c:pt>
                <c:pt idx="37">
                  <c:v>42</c:v>
                </c:pt>
                <c:pt idx="38">
                  <c:v>43</c:v>
                </c:pt>
                <c:pt idx="39">
                  <c:v>44</c:v>
                </c:pt>
                <c:pt idx="40">
                  <c:v>45</c:v>
                </c:pt>
                <c:pt idx="41">
                  <c:v>46</c:v>
                </c:pt>
                <c:pt idx="42">
                  <c:v>47</c:v>
                </c:pt>
                <c:pt idx="43">
                  <c:v>48</c:v>
                </c:pt>
                <c:pt idx="44">
                  <c:v>49</c:v>
                </c:pt>
                <c:pt idx="45">
                  <c:v>50</c:v>
                </c:pt>
                <c:pt idx="46">
                  <c:v>51</c:v>
                </c:pt>
                <c:pt idx="47">
                  <c:v>52</c:v>
                </c:pt>
                <c:pt idx="48">
                  <c:v>53</c:v>
                </c:pt>
                <c:pt idx="49">
                  <c:v>54</c:v>
                </c:pt>
                <c:pt idx="50">
                  <c:v>55</c:v>
                </c:pt>
                <c:pt idx="51">
                  <c:v>56</c:v>
                </c:pt>
                <c:pt idx="52">
                  <c:v>57</c:v>
                </c:pt>
                <c:pt idx="53">
                  <c:v>58</c:v>
                </c:pt>
                <c:pt idx="54">
                  <c:v>59</c:v>
                </c:pt>
                <c:pt idx="55">
                  <c:v>60</c:v>
                </c:pt>
                <c:pt idx="56">
                  <c:v>61</c:v>
                </c:pt>
                <c:pt idx="57">
                  <c:v>62</c:v>
                </c:pt>
                <c:pt idx="58">
                  <c:v>63</c:v>
                </c:pt>
                <c:pt idx="59">
                  <c:v>64</c:v>
                </c:pt>
                <c:pt idx="60">
                  <c:v>65</c:v>
                </c:pt>
                <c:pt idx="61">
                  <c:v>66</c:v>
                </c:pt>
                <c:pt idx="62">
                  <c:v>67</c:v>
                </c:pt>
                <c:pt idx="63">
                  <c:v>68</c:v>
                </c:pt>
                <c:pt idx="64">
                  <c:v>69</c:v>
                </c:pt>
                <c:pt idx="65">
                  <c:v>70</c:v>
                </c:pt>
                <c:pt idx="66">
                  <c:v>71</c:v>
                </c:pt>
                <c:pt idx="67">
                  <c:v>72</c:v>
                </c:pt>
                <c:pt idx="68">
                  <c:v>73</c:v>
                </c:pt>
                <c:pt idx="69">
                  <c:v>74</c:v>
                </c:pt>
                <c:pt idx="70">
                  <c:v>75</c:v>
                </c:pt>
                <c:pt idx="71">
                  <c:v>76</c:v>
                </c:pt>
                <c:pt idx="72">
                  <c:v>77</c:v>
                </c:pt>
                <c:pt idx="73">
                  <c:v>78</c:v>
                </c:pt>
                <c:pt idx="74">
                  <c:v>79</c:v>
                </c:pt>
                <c:pt idx="75">
                  <c:v>80</c:v>
                </c:pt>
                <c:pt idx="76">
                  <c:v>81</c:v>
                </c:pt>
                <c:pt idx="77">
                  <c:v>82</c:v>
                </c:pt>
                <c:pt idx="78">
                  <c:v>83</c:v>
                </c:pt>
                <c:pt idx="79">
                  <c:v>84</c:v>
                </c:pt>
                <c:pt idx="80">
                  <c:v>85</c:v>
                </c:pt>
                <c:pt idx="81">
                  <c:v>86</c:v>
                </c:pt>
                <c:pt idx="82">
                  <c:v>87</c:v>
                </c:pt>
                <c:pt idx="83">
                  <c:v>88</c:v>
                </c:pt>
                <c:pt idx="84">
                  <c:v>89</c:v>
                </c:pt>
                <c:pt idx="85">
                  <c:v>90</c:v>
                </c:pt>
                <c:pt idx="86">
                  <c:v>91</c:v>
                </c:pt>
                <c:pt idx="87">
                  <c:v>92</c:v>
                </c:pt>
                <c:pt idx="88">
                  <c:v>93</c:v>
                </c:pt>
                <c:pt idx="89">
                  <c:v>94</c:v>
                </c:pt>
                <c:pt idx="90">
                  <c:v>95</c:v>
                </c:pt>
                <c:pt idx="91">
                  <c:v>96</c:v>
                </c:pt>
                <c:pt idx="92">
                  <c:v>97</c:v>
                </c:pt>
                <c:pt idx="93">
                  <c:v>98</c:v>
                </c:pt>
                <c:pt idx="94">
                  <c:v>99</c:v>
                </c:pt>
                <c:pt idx="95">
                  <c:v>100</c:v>
                </c:pt>
                <c:pt idx="96">
                  <c:v>101</c:v>
                </c:pt>
                <c:pt idx="97">
                  <c:v>102</c:v>
                </c:pt>
                <c:pt idx="98">
                  <c:v>103</c:v>
                </c:pt>
                <c:pt idx="99">
                  <c:v>104</c:v>
                </c:pt>
                <c:pt idx="100">
                  <c:v>105</c:v>
                </c:pt>
                <c:pt idx="101">
                  <c:v>106</c:v>
                </c:pt>
                <c:pt idx="102">
                  <c:v>107</c:v>
                </c:pt>
                <c:pt idx="103">
                  <c:v>108</c:v>
                </c:pt>
                <c:pt idx="104">
                  <c:v>109</c:v>
                </c:pt>
                <c:pt idx="105">
                  <c:v>110</c:v>
                </c:pt>
                <c:pt idx="106">
                  <c:v>111</c:v>
                </c:pt>
                <c:pt idx="107">
                  <c:v>112</c:v>
                </c:pt>
                <c:pt idx="108">
                  <c:v>113</c:v>
                </c:pt>
                <c:pt idx="109">
                  <c:v>114</c:v>
                </c:pt>
                <c:pt idx="110">
                  <c:v>115</c:v>
                </c:pt>
                <c:pt idx="111">
                  <c:v>116</c:v>
                </c:pt>
                <c:pt idx="112">
                  <c:v>117</c:v>
                </c:pt>
                <c:pt idx="113">
                  <c:v>118</c:v>
                </c:pt>
                <c:pt idx="114">
                  <c:v>119</c:v>
                </c:pt>
                <c:pt idx="115">
                  <c:v>120</c:v>
                </c:pt>
                <c:pt idx="116">
                  <c:v>121</c:v>
                </c:pt>
                <c:pt idx="117">
                  <c:v>122</c:v>
                </c:pt>
                <c:pt idx="118">
                  <c:v>123</c:v>
                </c:pt>
                <c:pt idx="119">
                  <c:v>124</c:v>
                </c:pt>
                <c:pt idx="120">
                  <c:v>125</c:v>
                </c:pt>
                <c:pt idx="121">
                  <c:v>126</c:v>
                </c:pt>
                <c:pt idx="122">
                  <c:v>127</c:v>
                </c:pt>
                <c:pt idx="123">
                  <c:v>128</c:v>
                </c:pt>
                <c:pt idx="124">
                  <c:v>129</c:v>
                </c:pt>
                <c:pt idx="125">
                  <c:v>130</c:v>
                </c:pt>
                <c:pt idx="126">
                  <c:v>131</c:v>
                </c:pt>
                <c:pt idx="127">
                  <c:v>132</c:v>
                </c:pt>
                <c:pt idx="128">
                  <c:v>133</c:v>
                </c:pt>
                <c:pt idx="129">
                  <c:v>134</c:v>
                </c:pt>
                <c:pt idx="130">
                  <c:v>135</c:v>
                </c:pt>
                <c:pt idx="131">
                  <c:v>136</c:v>
                </c:pt>
                <c:pt idx="132">
                  <c:v>137</c:v>
                </c:pt>
                <c:pt idx="133">
                  <c:v>138</c:v>
                </c:pt>
                <c:pt idx="134">
                  <c:v>139</c:v>
                </c:pt>
                <c:pt idx="135">
                  <c:v>140</c:v>
                </c:pt>
                <c:pt idx="136">
                  <c:v>141</c:v>
                </c:pt>
                <c:pt idx="137">
                  <c:v>142</c:v>
                </c:pt>
                <c:pt idx="138">
                  <c:v>143</c:v>
                </c:pt>
                <c:pt idx="139">
                  <c:v>144</c:v>
                </c:pt>
                <c:pt idx="140">
                  <c:v>145</c:v>
                </c:pt>
                <c:pt idx="141">
                  <c:v>146</c:v>
                </c:pt>
                <c:pt idx="142">
                  <c:v>147</c:v>
                </c:pt>
                <c:pt idx="143">
                  <c:v>148</c:v>
                </c:pt>
                <c:pt idx="144">
                  <c:v>149</c:v>
                </c:pt>
                <c:pt idx="145">
                  <c:v>150</c:v>
                </c:pt>
                <c:pt idx="146">
                  <c:v>151</c:v>
                </c:pt>
                <c:pt idx="147">
                  <c:v>152</c:v>
                </c:pt>
                <c:pt idx="148">
                  <c:v>153</c:v>
                </c:pt>
                <c:pt idx="149">
                  <c:v>154</c:v>
                </c:pt>
                <c:pt idx="150">
                  <c:v>155</c:v>
                </c:pt>
                <c:pt idx="151">
                  <c:v>156</c:v>
                </c:pt>
                <c:pt idx="152">
                  <c:v>157</c:v>
                </c:pt>
                <c:pt idx="153">
                  <c:v>158</c:v>
                </c:pt>
                <c:pt idx="154">
                  <c:v>159</c:v>
                </c:pt>
                <c:pt idx="155">
                  <c:v>160</c:v>
                </c:pt>
                <c:pt idx="156">
                  <c:v>161</c:v>
                </c:pt>
                <c:pt idx="157">
                  <c:v>162</c:v>
                </c:pt>
                <c:pt idx="158">
                  <c:v>163</c:v>
                </c:pt>
                <c:pt idx="159">
                  <c:v>164</c:v>
                </c:pt>
                <c:pt idx="160">
                  <c:v>165</c:v>
                </c:pt>
                <c:pt idx="161">
                  <c:v>166</c:v>
                </c:pt>
                <c:pt idx="162">
                  <c:v>167</c:v>
                </c:pt>
                <c:pt idx="163">
                  <c:v>168</c:v>
                </c:pt>
                <c:pt idx="164">
                  <c:v>169</c:v>
                </c:pt>
                <c:pt idx="165">
                  <c:v>170</c:v>
                </c:pt>
                <c:pt idx="166">
                  <c:v>171</c:v>
                </c:pt>
                <c:pt idx="167">
                  <c:v>172</c:v>
                </c:pt>
                <c:pt idx="168">
                  <c:v>173</c:v>
                </c:pt>
                <c:pt idx="169">
                  <c:v>174</c:v>
                </c:pt>
                <c:pt idx="170">
                  <c:v>175</c:v>
                </c:pt>
                <c:pt idx="171">
                  <c:v>176</c:v>
                </c:pt>
                <c:pt idx="172">
                  <c:v>177</c:v>
                </c:pt>
                <c:pt idx="173">
                  <c:v>178</c:v>
                </c:pt>
                <c:pt idx="174">
                  <c:v>179</c:v>
                </c:pt>
                <c:pt idx="175">
                  <c:v>180</c:v>
                </c:pt>
                <c:pt idx="176">
                  <c:v>181</c:v>
                </c:pt>
                <c:pt idx="177">
                  <c:v>182</c:v>
                </c:pt>
                <c:pt idx="178">
                  <c:v>183</c:v>
                </c:pt>
                <c:pt idx="179">
                  <c:v>184</c:v>
                </c:pt>
                <c:pt idx="180">
                  <c:v>185</c:v>
                </c:pt>
                <c:pt idx="181">
                  <c:v>186</c:v>
                </c:pt>
                <c:pt idx="182">
                  <c:v>187</c:v>
                </c:pt>
                <c:pt idx="183">
                  <c:v>188</c:v>
                </c:pt>
                <c:pt idx="184">
                  <c:v>189</c:v>
                </c:pt>
                <c:pt idx="185">
                  <c:v>190</c:v>
                </c:pt>
                <c:pt idx="186">
                  <c:v>191</c:v>
                </c:pt>
                <c:pt idx="187">
                  <c:v>192</c:v>
                </c:pt>
                <c:pt idx="188">
                  <c:v>193</c:v>
                </c:pt>
                <c:pt idx="189">
                  <c:v>194</c:v>
                </c:pt>
                <c:pt idx="190">
                  <c:v>195</c:v>
                </c:pt>
                <c:pt idx="191">
                  <c:v>196</c:v>
                </c:pt>
                <c:pt idx="192">
                  <c:v>197</c:v>
                </c:pt>
                <c:pt idx="193">
                  <c:v>198</c:v>
                </c:pt>
                <c:pt idx="194">
                  <c:v>199</c:v>
                </c:pt>
                <c:pt idx="195">
                  <c:v>200</c:v>
                </c:pt>
              </c:numCache>
            </c:numRef>
          </c:xVal>
          <c:yVal>
            <c:numRef>
              <c:f>Sheet1!$B$2:$B$197</c:f>
              <c:numCache>
                <c:formatCode>General</c:formatCode>
                <c:ptCount val="196"/>
                <c:pt idx="0">
                  <c:v>20</c:v>
                </c:pt>
                <c:pt idx="1">
                  <c:v>13.889</c:v>
                </c:pt>
                <c:pt idx="2">
                  <c:v>10.204</c:v>
                </c:pt>
                <c:pt idx="3">
                  <c:v>7.813</c:v>
                </c:pt>
                <c:pt idx="4">
                  <c:v>6.173</c:v>
                </c:pt>
                <c:pt idx="5">
                  <c:v>5</c:v>
                </c:pt>
                <c:pt idx="6">
                  <c:v>4.132</c:v>
                </c:pt>
                <c:pt idx="7">
                  <c:v>3.472</c:v>
                </c:pt>
                <c:pt idx="8">
                  <c:v>2.959</c:v>
                </c:pt>
                <c:pt idx="9">
                  <c:v>2.551</c:v>
                </c:pt>
                <c:pt idx="10">
                  <c:v>2.222</c:v>
                </c:pt>
                <c:pt idx="11">
                  <c:v>1.953</c:v>
                </c:pt>
                <c:pt idx="12">
                  <c:v>1.73</c:v>
                </c:pt>
                <c:pt idx="13">
                  <c:v>1.543</c:v>
                </c:pt>
                <c:pt idx="14">
                  <c:v>1.385</c:v>
                </c:pt>
                <c:pt idx="15">
                  <c:v>1.25</c:v>
                </c:pt>
                <c:pt idx="16">
                  <c:v>1.134</c:v>
                </c:pt>
                <c:pt idx="17">
                  <c:v>1.033</c:v>
                </c:pt>
                <c:pt idx="18">
                  <c:v>0.945</c:v>
                </c:pt>
                <c:pt idx="19">
                  <c:v>0.868</c:v>
                </c:pt>
                <c:pt idx="20">
                  <c:v>0.8</c:v>
                </c:pt>
                <c:pt idx="21">
                  <c:v>0.74</c:v>
                </c:pt>
                <c:pt idx="22">
                  <c:v>0.686</c:v>
                </c:pt>
                <c:pt idx="23">
                  <c:v>0.638</c:v>
                </c:pt>
                <c:pt idx="24">
                  <c:v>0.595</c:v>
                </c:pt>
                <c:pt idx="25">
                  <c:v>0.556</c:v>
                </c:pt>
                <c:pt idx="26">
                  <c:v>0.52</c:v>
                </c:pt>
                <c:pt idx="27">
                  <c:v>0.488</c:v>
                </c:pt>
                <c:pt idx="28">
                  <c:v>0.459</c:v>
                </c:pt>
                <c:pt idx="29">
                  <c:v>0.433</c:v>
                </c:pt>
                <c:pt idx="30">
                  <c:v>0.408</c:v>
                </c:pt>
                <c:pt idx="31">
                  <c:v>0.386</c:v>
                </c:pt>
                <c:pt idx="32">
                  <c:v>0.365</c:v>
                </c:pt>
                <c:pt idx="33">
                  <c:v>0.346</c:v>
                </c:pt>
                <c:pt idx="34">
                  <c:v>0.329</c:v>
                </c:pt>
                <c:pt idx="35">
                  <c:v>0.313</c:v>
                </c:pt>
                <c:pt idx="36">
                  <c:v>0.297</c:v>
                </c:pt>
                <c:pt idx="37">
                  <c:v>0.283</c:v>
                </c:pt>
                <c:pt idx="38">
                  <c:v>0.27</c:v>
                </c:pt>
                <c:pt idx="39">
                  <c:v>0.258</c:v>
                </c:pt>
                <c:pt idx="40">
                  <c:v>0.247</c:v>
                </c:pt>
                <c:pt idx="41">
                  <c:v>0.236</c:v>
                </c:pt>
                <c:pt idx="42">
                  <c:v>0.226</c:v>
                </c:pt>
                <c:pt idx="43">
                  <c:v>0.217</c:v>
                </c:pt>
                <c:pt idx="44">
                  <c:v>0.208</c:v>
                </c:pt>
                <c:pt idx="45">
                  <c:v>0.2</c:v>
                </c:pt>
                <c:pt idx="46">
                  <c:v>0.192</c:v>
                </c:pt>
                <c:pt idx="47">
                  <c:v>0.185</c:v>
                </c:pt>
                <c:pt idx="48">
                  <c:v>0.178</c:v>
                </c:pt>
                <c:pt idx="49">
                  <c:v>0.171</c:v>
                </c:pt>
                <c:pt idx="50">
                  <c:v>0.165</c:v>
                </c:pt>
                <c:pt idx="51">
                  <c:v>0.159</c:v>
                </c:pt>
                <c:pt idx="52">
                  <c:v>0.154</c:v>
                </c:pt>
                <c:pt idx="53">
                  <c:v>0.149</c:v>
                </c:pt>
                <c:pt idx="54">
                  <c:v>0.144</c:v>
                </c:pt>
                <c:pt idx="55">
                  <c:v>0.139</c:v>
                </c:pt>
                <c:pt idx="56">
                  <c:v>0.134</c:v>
                </c:pt>
                <c:pt idx="57">
                  <c:v>0.13</c:v>
                </c:pt>
                <c:pt idx="58">
                  <c:v>0.126</c:v>
                </c:pt>
                <c:pt idx="59">
                  <c:v>0.122</c:v>
                </c:pt>
                <c:pt idx="60">
                  <c:v>0.118</c:v>
                </c:pt>
                <c:pt idx="61">
                  <c:v>0.115</c:v>
                </c:pt>
                <c:pt idx="62">
                  <c:v>0.111</c:v>
                </c:pt>
                <c:pt idx="63">
                  <c:v>0.108</c:v>
                </c:pt>
                <c:pt idx="64">
                  <c:v>0.105</c:v>
                </c:pt>
                <c:pt idx="65">
                  <c:v>0.102</c:v>
                </c:pt>
                <c:pt idx="66">
                  <c:v>0.099</c:v>
                </c:pt>
                <c:pt idx="67">
                  <c:v>0.096</c:v>
                </c:pt>
                <c:pt idx="68">
                  <c:v>0.094</c:v>
                </c:pt>
                <c:pt idx="69">
                  <c:v>0.091</c:v>
                </c:pt>
                <c:pt idx="70">
                  <c:v>0.089</c:v>
                </c:pt>
                <c:pt idx="71">
                  <c:v>0.087</c:v>
                </c:pt>
                <c:pt idx="72">
                  <c:v>0.084</c:v>
                </c:pt>
                <c:pt idx="73">
                  <c:v>0.082</c:v>
                </c:pt>
                <c:pt idx="74">
                  <c:v>0.08</c:v>
                </c:pt>
                <c:pt idx="75">
                  <c:v>0.078</c:v>
                </c:pt>
                <c:pt idx="76">
                  <c:v>0.076</c:v>
                </c:pt>
                <c:pt idx="77">
                  <c:v>0.074</c:v>
                </c:pt>
                <c:pt idx="78">
                  <c:v>0.073</c:v>
                </c:pt>
                <c:pt idx="79">
                  <c:v>0.071</c:v>
                </c:pt>
                <c:pt idx="80">
                  <c:v>0.069</c:v>
                </c:pt>
                <c:pt idx="81">
                  <c:v>0.068</c:v>
                </c:pt>
                <c:pt idx="82">
                  <c:v>0.066</c:v>
                </c:pt>
                <c:pt idx="83">
                  <c:v>0.065</c:v>
                </c:pt>
                <c:pt idx="84">
                  <c:v>0.063</c:v>
                </c:pt>
                <c:pt idx="85">
                  <c:v>0.062</c:v>
                </c:pt>
                <c:pt idx="86">
                  <c:v>0.06</c:v>
                </c:pt>
                <c:pt idx="87">
                  <c:v>0.059</c:v>
                </c:pt>
                <c:pt idx="88">
                  <c:v>0.058</c:v>
                </c:pt>
                <c:pt idx="89">
                  <c:v>0.057</c:v>
                </c:pt>
                <c:pt idx="90">
                  <c:v>0.055</c:v>
                </c:pt>
                <c:pt idx="91">
                  <c:v>0.054</c:v>
                </c:pt>
                <c:pt idx="92">
                  <c:v>0.053</c:v>
                </c:pt>
                <c:pt idx="93">
                  <c:v>0.052</c:v>
                </c:pt>
                <c:pt idx="94">
                  <c:v>0.051</c:v>
                </c:pt>
                <c:pt idx="95">
                  <c:v>0.05</c:v>
                </c:pt>
                <c:pt idx="96">
                  <c:v>0.049</c:v>
                </c:pt>
                <c:pt idx="97">
                  <c:v>0.048</c:v>
                </c:pt>
                <c:pt idx="98">
                  <c:v>0.047</c:v>
                </c:pt>
                <c:pt idx="99">
                  <c:v>0.046</c:v>
                </c:pt>
                <c:pt idx="100">
                  <c:v>0.045</c:v>
                </c:pt>
                <c:pt idx="101">
                  <c:v>0.044</c:v>
                </c:pt>
                <c:pt idx="102">
                  <c:v>0.044</c:v>
                </c:pt>
                <c:pt idx="103">
                  <c:v>0.043</c:v>
                </c:pt>
                <c:pt idx="104">
                  <c:v>0.042</c:v>
                </c:pt>
                <c:pt idx="105">
                  <c:v>0.041</c:v>
                </c:pt>
                <c:pt idx="106">
                  <c:v>0.041</c:v>
                </c:pt>
                <c:pt idx="107">
                  <c:v>0.04</c:v>
                </c:pt>
                <c:pt idx="108">
                  <c:v>0.039</c:v>
                </c:pt>
                <c:pt idx="109">
                  <c:v>0.038</c:v>
                </c:pt>
                <c:pt idx="110">
                  <c:v>0.038</c:v>
                </c:pt>
                <c:pt idx="111">
                  <c:v>0.037</c:v>
                </c:pt>
                <c:pt idx="112">
                  <c:v>0.037</c:v>
                </c:pt>
                <c:pt idx="113">
                  <c:v>0.036</c:v>
                </c:pt>
                <c:pt idx="114">
                  <c:v>0.035</c:v>
                </c:pt>
                <c:pt idx="115">
                  <c:v>0.035</c:v>
                </c:pt>
                <c:pt idx="116">
                  <c:v>0.034</c:v>
                </c:pt>
                <c:pt idx="117">
                  <c:v>0.034</c:v>
                </c:pt>
                <c:pt idx="118">
                  <c:v>0.033</c:v>
                </c:pt>
                <c:pt idx="119">
                  <c:v>0.033</c:v>
                </c:pt>
                <c:pt idx="120">
                  <c:v>0.032</c:v>
                </c:pt>
                <c:pt idx="121">
                  <c:v>0.031</c:v>
                </c:pt>
                <c:pt idx="122">
                  <c:v>0.031</c:v>
                </c:pt>
                <c:pt idx="123">
                  <c:v>0.031</c:v>
                </c:pt>
                <c:pt idx="124">
                  <c:v>0.03</c:v>
                </c:pt>
                <c:pt idx="125">
                  <c:v>0.03</c:v>
                </c:pt>
                <c:pt idx="126">
                  <c:v>0.029</c:v>
                </c:pt>
                <c:pt idx="127">
                  <c:v>0.029</c:v>
                </c:pt>
                <c:pt idx="128">
                  <c:v>0.028</c:v>
                </c:pt>
                <c:pt idx="129">
                  <c:v>0.028</c:v>
                </c:pt>
                <c:pt idx="130">
                  <c:v>0.027</c:v>
                </c:pt>
                <c:pt idx="131">
                  <c:v>0.027</c:v>
                </c:pt>
                <c:pt idx="132">
                  <c:v>0.027</c:v>
                </c:pt>
                <c:pt idx="133">
                  <c:v>0.026</c:v>
                </c:pt>
                <c:pt idx="134">
                  <c:v>0.026</c:v>
                </c:pt>
                <c:pt idx="135">
                  <c:v>0.026</c:v>
                </c:pt>
                <c:pt idx="136">
                  <c:v>0.025</c:v>
                </c:pt>
                <c:pt idx="137">
                  <c:v>0.025</c:v>
                </c:pt>
                <c:pt idx="138">
                  <c:v>0.024</c:v>
                </c:pt>
                <c:pt idx="139">
                  <c:v>0.024</c:v>
                </c:pt>
                <c:pt idx="140">
                  <c:v>0.024</c:v>
                </c:pt>
                <c:pt idx="141">
                  <c:v>0.023</c:v>
                </c:pt>
                <c:pt idx="142">
                  <c:v>0.023</c:v>
                </c:pt>
                <c:pt idx="143">
                  <c:v>0.023</c:v>
                </c:pt>
                <c:pt idx="144">
                  <c:v>0.023</c:v>
                </c:pt>
                <c:pt idx="145">
                  <c:v>0.022</c:v>
                </c:pt>
                <c:pt idx="146">
                  <c:v>0.022</c:v>
                </c:pt>
                <c:pt idx="147">
                  <c:v>0.022</c:v>
                </c:pt>
                <c:pt idx="148">
                  <c:v>0.021</c:v>
                </c:pt>
                <c:pt idx="149">
                  <c:v>0.021</c:v>
                </c:pt>
                <c:pt idx="150">
                  <c:v>0.021</c:v>
                </c:pt>
                <c:pt idx="151">
                  <c:v>0.021</c:v>
                </c:pt>
                <c:pt idx="152">
                  <c:v>0.02</c:v>
                </c:pt>
                <c:pt idx="153">
                  <c:v>0.02</c:v>
                </c:pt>
                <c:pt idx="154">
                  <c:v>0.02</c:v>
                </c:pt>
                <c:pt idx="155">
                  <c:v>0.02</c:v>
                </c:pt>
                <c:pt idx="156">
                  <c:v>0.019</c:v>
                </c:pt>
                <c:pt idx="157">
                  <c:v>0.019</c:v>
                </c:pt>
                <c:pt idx="158">
                  <c:v>0.019</c:v>
                </c:pt>
                <c:pt idx="159">
                  <c:v>0.019</c:v>
                </c:pt>
                <c:pt idx="160">
                  <c:v>0.018</c:v>
                </c:pt>
                <c:pt idx="161">
                  <c:v>0.018</c:v>
                </c:pt>
                <c:pt idx="162">
                  <c:v>0.018</c:v>
                </c:pt>
                <c:pt idx="163">
                  <c:v>0.018</c:v>
                </c:pt>
                <c:pt idx="164">
                  <c:v>0.018</c:v>
                </c:pt>
                <c:pt idx="165">
                  <c:v>0.017</c:v>
                </c:pt>
                <c:pt idx="166">
                  <c:v>0.017</c:v>
                </c:pt>
                <c:pt idx="167">
                  <c:v>0.017</c:v>
                </c:pt>
                <c:pt idx="168">
                  <c:v>0.017</c:v>
                </c:pt>
                <c:pt idx="169">
                  <c:v>0.017</c:v>
                </c:pt>
                <c:pt idx="170">
                  <c:v>0.016</c:v>
                </c:pt>
                <c:pt idx="171">
                  <c:v>0.016</c:v>
                </c:pt>
                <c:pt idx="172">
                  <c:v>0.016</c:v>
                </c:pt>
                <c:pt idx="173">
                  <c:v>0.016</c:v>
                </c:pt>
                <c:pt idx="174">
                  <c:v>0.016</c:v>
                </c:pt>
                <c:pt idx="175">
                  <c:v>0.015</c:v>
                </c:pt>
                <c:pt idx="176">
                  <c:v>0.015</c:v>
                </c:pt>
                <c:pt idx="177">
                  <c:v>0.015</c:v>
                </c:pt>
                <c:pt idx="178">
                  <c:v>0.015</c:v>
                </c:pt>
                <c:pt idx="179">
                  <c:v>0.015</c:v>
                </c:pt>
                <c:pt idx="180">
                  <c:v>0.015</c:v>
                </c:pt>
                <c:pt idx="181">
                  <c:v>0.014</c:v>
                </c:pt>
                <c:pt idx="182">
                  <c:v>0.014</c:v>
                </c:pt>
                <c:pt idx="183">
                  <c:v>0.014</c:v>
                </c:pt>
                <c:pt idx="184">
                  <c:v>0.014</c:v>
                </c:pt>
                <c:pt idx="185">
                  <c:v>0.014</c:v>
                </c:pt>
                <c:pt idx="186">
                  <c:v>0.014</c:v>
                </c:pt>
                <c:pt idx="187">
                  <c:v>0.014</c:v>
                </c:pt>
                <c:pt idx="188">
                  <c:v>0.013</c:v>
                </c:pt>
                <c:pt idx="189">
                  <c:v>0.013</c:v>
                </c:pt>
                <c:pt idx="190">
                  <c:v>0.013</c:v>
                </c:pt>
                <c:pt idx="191">
                  <c:v>0.013</c:v>
                </c:pt>
                <c:pt idx="192">
                  <c:v>0.013</c:v>
                </c:pt>
                <c:pt idx="193">
                  <c:v>0.013</c:v>
                </c:pt>
                <c:pt idx="194">
                  <c:v>0.013</c:v>
                </c:pt>
                <c:pt idx="195">
                  <c:v>0.013</c:v>
                </c:pt>
              </c:numCache>
            </c:numRef>
          </c:yVal>
          <c:smooth val="1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iletim gerilimi (kV)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12700" cap="flat">
              <a:solidFill>
                <a:srgbClr val="E6EBF6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78829F"/>
                    </a:solidFill>
                    <a:latin typeface="Calibri"/>
                  </a:defRPr>
                </a:pPr>
                <a:r>
                  <a:rPr sz="950" b="0" i="0" u="none" strike="noStrike">
                    <a:solidFill>
                      <a:srgbClr val="78829F"/>
                    </a:solidFill>
                    <a:latin typeface="Calibri"/>
                  </a:rPr>
                  <a:t>kayıp (%)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8829F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 sorusu: 'Şehre gelen elektrik neden 154 kV ile taşınıp evde 220 V'a indiriliyor?'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Transformatör, indüksiyonun en yaygın uygulaması: bir önceki konunun doğrudan devamı.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İki devre arasında elektriksel bağlantı olmaması, transformatörün yalıtım aracı olarak da kullanılmasını sağlar.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Grafiğin doğru olması önemli: gerilim sarımla doğru orantılı, akım değil.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'Gerilim arttı, güç de arttı' hatası bu tabloda kapanıyor: akım küçüldüğü için çarpım sabit.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Telefon şarj adaptörünü sınıfa getir: üzerindeki giriş/çıkış değerlerini birlikte okuyun.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Verim %95 bile olsa 1000 W'lık bir cihazda 50 W ısı demek: elle tutulamayacak kadar sıcak.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Tablodaki 154 kV satırı Türkiye'deki gerçek iletim gerilimidir; 400 kV hatlar da vardır.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Mahalle trafosunun uğultusu histerezis ve manyetostriksiyondan gelir: 50 Hz'in iki katı, 100 Hz.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Kontrol satırını mutlaka yaptır: akım ve gerilim oranlarının ters olması konunun özeti.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İdeal kabulün kaldırıldığı tek örnek: ölçülen değerlerle hesaplananın neden tutmadığını tartışın.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örnek, ünitenin kapanış fikri: transformatör olmasaydı uzak mesafeye elektrik taşınamazdı.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İlk madde en yaygın: transformatörü bir güç kaynağı sanmak. P₁ = P₂ eşitliğini tekrar yaz.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Kapanışta enerji iletimi bölümünü aç: gerilimi 1 kV'a indirince hattın taşıyamadığını canlı göster.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554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ELEKTRİK VE MANYETİZMA · KONU 04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92024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Transformatörler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329184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C3C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Gerilimi yükseltir ya da düşürür, ama gücü üretmez. Gerilimi kaç kat büyütürse akımı o kadar küçültür — elektriği yüzlerce kilometre öteye taşıyabilmemizin tek sebebi budur.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45720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EE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V₁ / V₂ = N₁ / N₂        I₁ / I₂ = N₂ / N₁        P₁ = P₂ (ideal)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9052560" y="2697480"/>
            <a:ext cx="2286000" cy="1737360"/>
          </a:xfrm>
          <a:prstGeom prst="rect">
            <a:avLst/>
          </a:prstGeom>
          <a:ln w="114300">
            <a:solidFill>
              <a:srgbClr val="6A779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96528" y="2971800"/>
            <a:ext cx="512064" cy="274320"/>
          </a:xfrm>
          <a:prstGeom prst="ellipse">
            <a:avLst/>
          </a:prstGeom>
          <a:ln w="27940">
            <a:solidFill>
              <a:srgbClr val="FF8FA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96528" y="3374136"/>
            <a:ext cx="512064" cy="274320"/>
          </a:xfrm>
          <a:prstGeom prst="ellipse">
            <a:avLst/>
          </a:prstGeom>
          <a:ln w="27940">
            <a:solidFill>
              <a:srgbClr val="FF8FA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796528" y="3776472"/>
            <a:ext cx="512064" cy="274320"/>
          </a:xfrm>
          <a:prstGeom prst="ellipse">
            <a:avLst/>
          </a:prstGeom>
          <a:ln w="27940">
            <a:solidFill>
              <a:srgbClr val="FF8FA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82528" y="2834640"/>
            <a:ext cx="512064" cy="237744"/>
          </a:xfrm>
          <a:prstGeom prst="ellipse">
            <a:avLst/>
          </a:prstGeom>
          <a:ln w="27940">
            <a:solidFill>
              <a:srgbClr val="82AA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082528" y="3145536"/>
            <a:ext cx="512064" cy="237744"/>
          </a:xfrm>
          <a:prstGeom prst="ellipse">
            <a:avLst/>
          </a:prstGeom>
          <a:ln w="27940">
            <a:solidFill>
              <a:srgbClr val="82AA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082528" y="3456432"/>
            <a:ext cx="512064" cy="237744"/>
          </a:xfrm>
          <a:prstGeom prst="ellipse">
            <a:avLst/>
          </a:prstGeom>
          <a:ln w="27940">
            <a:solidFill>
              <a:srgbClr val="82AA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082528" y="3767328"/>
            <a:ext cx="512064" cy="237744"/>
          </a:xfrm>
          <a:prstGeom prst="ellipse">
            <a:avLst/>
          </a:prstGeom>
          <a:ln w="27940">
            <a:solidFill>
              <a:srgbClr val="82AA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082528" y="4078224"/>
            <a:ext cx="512064" cy="237744"/>
          </a:xfrm>
          <a:prstGeom prst="ellipse">
            <a:avLst/>
          </a:prstGeom>
          <a:ln w="27940">
            <a:solidFill>
              <a:srgbClr val="82AA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49640" y="45720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018520" y="45720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2AA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N₂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4937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ortak akı iki bobini birbirine bağlar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A77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dersler.perinet.org/transformatorler.html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 derste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başlık: nüveden enerji iletimine.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039112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Yapısı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Primer, sekonder ve iki bobini bağlayan demir nüve.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54296" y="2039112"/>
            <a:ext cx="384048" cy="384048"/>
          </a:xfrm>
          <a:prstGeom prst="ellipse">
            <a:avLst/>
          </a:prstGeom>
          <a:solidFill>
            <a:srgbClr val="6348D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54296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175504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Çalışma ilkesi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Değişen akı, ikinci bobinde emk indükler.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12480" y="2039112"/>
            <a:ext cx="384048" cy="384048"/>
          </a:xfrm>
          <a:prstGeom prst="ellipse">
            <a:avLst/>
          </a:prstGeom>
          <a:solidFill>
            <a:srgbClr val="3C8C2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0" y="2039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933688" y="2020824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Sarım ve gerilim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430768" y="2651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doğru orantılı: V₂ = V₁·N₂/N₁.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96112" y="4123944"/>
            <a:ext cx="384048" cy="384048"/>
          </a:xfrm>
          <a:prstGeom prst="ellipse">
            <a:avLst/>
          </a:prstGeom>
          <a:solidFill>
            <a:srgbClr val="A5620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96112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Akım ve güç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Akım ters orantılı; ideal durumda P₁ = P₂.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54296" y="4123944"/>
            <a:ext cx="384048" cy="384048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654296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175504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Verim ve kayıplar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672584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Bakır, girdap ve histerezis kayıpları ısıya gider.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412480" y="4123944"/>
            <a:ext cx="384048" cy="384048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1248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933688" y="4105656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Enerji iletimi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8430768" y="4736592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Yüksek gerilim, küçük akım, küçük kayıp.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04 · Transformatörler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Yapısı ve çalışma ilkesi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bobin arasında elektriksel bağlantı yoktur; tek köprü manyetik akıdır.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035040" cy="777240"/>
          </a:xfrm>
          <a:prstGeom prst="roundRect">
            <a:avLst>
              <a:gd name="adj" fmla="val 16471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17830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sarım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17830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Kaynağa bağlanan, N₁ sarımlı bobin.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697480"/>
            <a:ext cx="6035040" cy="777240"/>
          </a:xfrm>
          <a:prstGeom prst="roundRect">
            <a:avLst>
              <a:gd name="adj" fmla="val 16471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14400" y="26974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Sekonder sarım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26974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Yükün bağlandığı, N₂ sarımlı bobin.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611880"/>
            <a:ext cx="6035040" cy="777240"/>
          </a:xfrm>
          <a:prstGeom prst="roundRect">
            <a:avLst>
              <a:gd name="adj" fmla="val 16471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4400" y="36118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Nüve (demir çekirdek)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6118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Akıyı toplayıp sekonderden geçmeye zorlar.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617720"/>
            <a:ext cx="6035040" cy="685800"/>
          </a:xfrm>
          <a:prstGeom prst="roundRect">
            <a:avLst>
              <a:gd name="adj" fmla="val 13333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4617720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V₁ = N₁ · ΔΦ/Δt        V₂ = N₂ · ΔΦ/Δt        →        V₁/V₂ = N₁/N₂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3949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iki sarımdan aynı akı geçtiği için ΔΦ/Δt ortaktır.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995160" y="1783080"/>
            <a:ext cx="4556455" cy="2148840"/>
          </a:xfrm>
          <a:prstGeom prst="roundRect">
            <a:avLst>
              <a:gd name="adj" fmla="val 5957"/>
            </a:avLst>
          </a:prstGeom>
          <a:solidFill>
            <a:srgbClr val="FCECF0"/>
          </a:solidFill>
          <a:ln w="12700">
            <a:solidFill>
              <a:srgbClr val="F3C9D4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315200" y="20116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 akımda çalışmaz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246888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 bağlanırsa akım sabit olur, nüvedeki akı değişmez ve sekonderde emk indüklenmez. Transformatörün canı değişimdir; bu yüzden evlerimize alternatif akım gelir.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995160" y="4114800"/>
            <a:ext cx="4556455" cy="1645920"/>
          </a:xfrm>
          <a:prstGeom prst="roundRect">
            <a:avLst>
              <a:gd name="adj" fmla="val 7778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315200" y="431596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Nüve neden ince levhalardan yapılır?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475488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Demir tek parça olsaydı içinde dolanan girdap akımları onu ısıtır, enerjiyi boşa harcardı. Yalıtılmış ince saclar bu akımların yolunu keser.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04 · Transformatörler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3C8C21"/>
          </a:solidFill>
          <a:ln w="12700">
            <a:solidFill>
              <a:srgbClr val="3C8C2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Sarım sayısı ve gerilim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Gerilim sarım sayısıyla doğru orantılıdır: her sarıma aynı gerilim düşer.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943600" cy="731520"/>
          </a:xfrm>
          <a:prstGeom prst="roundRect">
            <a:avLst>
              <a:gd name="adj" fmla="val 12500"/>
            </a:avLst>
          </a:prstGeom>
          <a:solidFill>
            <a:srgbClr val="EAF7DC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V₁ / V₂ = N₁ / N₂          V₂ = V₁ · N₂ / N₁</a:t>
            </a:r>
            <a:endParaRPr lang="en-US" sz="17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2697480"/>
          <a:ext cx="594360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6903720" y="2697480"/>
            <a:ext cx="4647895" cy="1417320"/>
          </a:xfrm>
          <a:prstGeom prst="roundRect">
            <a:avLst>
              <a:gd name="adj" fmla="val 9032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178040" y="28803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Sarım başına gerilim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178040" y="32918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220 V, 500 sarıma uygulanıyorsa sarım başına 0,44 V düşer. 1000 sarımlı sekonderde 1000 · 0,44 = 440 V elde edilir.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178040" y="4251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N₂ = 2·N₁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9235440" y="4251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V₂ = 2·V₁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178040" y="48006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N₂ = N₁ / 4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235440" y="48006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V₂ = V₁ / 4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178040" y="5349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N₂ = N₁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5349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882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V₂ = V₁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04 · Transformatörler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A56209"/>
          </a:solidFill>
          <a:ln w="12700">
            <a:solidFill>
              <a:srgbClr val="A5620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Akım ve güç korunumu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Transformatör enerji üretmez, yalnızca dönüştürür.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911535" cy="731520"/>
          </a:xfrm>
          <a:prstGeom prst="roundRect">
            <a:avLst>
              <a:gd name="adj" fmla="val 12500"/>
            </a:avLst>
          </a:prstGeom>
          <a:solidFill>
            <a:srgbClr val="FDF4E3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P₁ = P₂        V₁·I₁ = V₂·I₂        I₁ / I₂ = N₂ / N₁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60604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Büyüklük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60604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Sarımla ilişkisi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2606040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N₂ &gt; N₁ ise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9052560" y="260604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N₂ &lt; N₁ ise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191256"/>
            <a:ext cx="10911535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319125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Gerilim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319125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 orantılı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3191256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artar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052560" y="319125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azalır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3776472"/>
            <a:ext cx="10911535" cy="512064"/>
          </a:xfrm>
          <a:prstGeom prst="roundRect">
            <a:avLst>
              <a:gd name="adj" fmla="val 1428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377647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Akım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77647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ters orantılı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675120" y="3776472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azalır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0" y="377647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artar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361688"/>
            <a:ext cx="10911535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36168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Güç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436168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değişmez (ideal)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675120" y="4361688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kalır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052560" y="436168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kalır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4946904"/>
            <a:ext cx="10911535" cy="512064"/>
          </a:xfrm>
          <a:prstGeom prst="roundRect">
            <a:avLst>
              <a:gd name="adj" fmla="val 1428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4400" y="4946904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Frekans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566160" y="4946904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değişmez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675120" y="4946904"/>
            <a:ext cx="21945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kalır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052560" y="494690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kalır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0080" y="5605272"/>
            <a:ext cx="10911535" cy="457200"/>
          </a:xfrm>
          <a:prstGeom prst="roundRect">
            <a:avLst>
              <a:gd name="adj" fmla="val 28000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60120" y="560527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Frekans asla değişmez: </a:t>
            </a:r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 her iki bobinde ortak olduğu için sekonderdeki gerilimin değişim sayısı primerdekiyle aynıdır.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04 · Transformatörler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Yükseltici, düşürücü ve 1 : 1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 hangi bobine bağlıysa orası primerdir; aynı transformatör ters de bağlanabilir.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2880360"/>
          </a:xfrm>
          <a:prstGeom prst="roundRect">
            <a:avLst>
              <a:gd name="adj" fmla="val 4444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19659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Yükseltici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4231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N₂ &gt; N₁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8803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Gerilimi büyütür, akımı küçültür.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6118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NEREDE?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8862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Santral çıkışında, iletim hattına girerken.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98264" y="1783080"/>
            <a:ext cx="3392424" cy="2880360"/>
          </a:xfrm>
          <a:prstGeom prst="roundRect">
            <a:avLst>
              <a:gd name="adj" fmla="val 4444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672584" y="19659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Düşürücü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72584" y="24231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N₂ &lt; N₁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28803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Gerilimi küçültür, akımı büyütür.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672584" y="36118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NEREDE?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672584" y="38862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Şehir girişinde, mahalle trafosunda, şarj adaptöründe.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56448" y="1783080"/>
            <a:ext cx="3392424" cy="2880360"/>
          </a:xfrm>
          <a:prstGeom prst="roundRect">
            <a:avLst>
              <a:gd name="adj" fmla="val 4444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430768" y="19659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: 1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430768" y="24231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N₂ = N₁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430768" y="288036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Gerilimi değiştirmez.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430768" y="36118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NEREDE?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430768" y="38862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Devreyi şebekeden yalıtmak için (yalıtım trafosu).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892040"/>
            <a:ext cx="10911535" cy="960120"/>
          </a:xfrm>
          <a:prstGeom prst="roundRect">
            <a:avLst>
              <a:gd name="adj" fmla="val 13333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60120" y="4892040"/>
            <a:ext cx="102714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Örnek: </a:t>
            </a:r>
            <a:pPr indent="0" marL="0">
              <a:buNone/>
            </a:pPr>
            <a:r>
              <a:rPr lang="en-US" sz="13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220 V'luk şebekeden 12 V üretmek isteyen bir adaptörün primeri 1100 sarımlıysa sekonderi N₂ = 1100 · 12 / 220 = 60 sarım olmalıdır. Sarım başına gerilim 0,2 V'tur.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04 · Transformatörler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Verim ve kayıplar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Gerçek transformatörde çıkan güç, girenden biraz küçüktür.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852160" cy="731520"/>
          </a:xfrm>
          <a:prstGeom prst="roundRect">
            <a:avLst>
              <a:gd name="adj" fmla="val 12500"/>
            </a:avLst>
          </a:prstGeom>
          <a:solidFill>
            <a:srgbClr val="FCECF0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verim = P₂ / P₁          % verim = (P₂ / P₁) · 100</a:t>
            </a:r>
            <a:endParaRPr lang="en-US" sz="16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2697480"/>
          <a:ext cx="585216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6812280" y="1783080"/>
            <a:ext cx="4739335" cy="896112"/>
          </a:xfrm>
          <a:prstGeom prst="roundRect">
            <a:avLst>
              <a:gd name="adj" fmla="val 14286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086600" y="1856232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Bakır kaybı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086600" y="2203704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Sarım tellerinin direncinde harcanan I²·R gücü.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812280" y="2807208"/>
            <a:ext cx="4739335" cy="896112"/>
          </a:xfrm>
          <a:prstGeom prst="roundRect">
            <a:avLst>
              <a:gd name="adj" fmla="val 14286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086600" y="28803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Girdap akımı kaybı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086600" y="322783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Nüvede dolanan akımların ısıtması; ince saclarla azaltılır.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812280" y="3831336"/>
            <a:ext cx="4739335" cy="896112"/>
          </a:xfrm>
          <a:prstGeom prst="roundRect">
            <a:avLst>
              <a:gd name="adj" fmla="val 14286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086600" y="390448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34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Histerezis kaybı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086600" y="4251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Demirin mıknatıslanma yönünü sürekli değiştirmesi.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812280" y="4937760"/>
            <a:ext cx="4739335" cy="914400"/>
          </a:xfrm>
          <a:prstGeom prst="roundRect">
            <a:avLst>
              <a:gd name="adj" fmla="val 14000"/>
            </a:avLst>
          </a:prstGeom>
          <a:solidFill>
            <a:srgbClr val="EAF7DC"/>
          </a:solidFill>
          <a:ln w="12700">
            <a:solidFill>
              <a:srgbClr val="CFE8B2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086600" y="49377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Kayıpların tamamı ısıya dönüşür. </a:t>
            </a:r>
            <a:pPr indent="0" marL="0">
              <a:buNone/>
            </a:pPr>
            <a:r>
              <a:rPr lang="en-US" sz="11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Büyük güç transformatörlerinin verimi %98–99'dur; buna rağmen kaybedilen güç kilowatt mertebesinde olduğu için yağla soğutulurlar.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04 · Transformatörler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Neden yüksek gerilimle iletiyoruz?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Kayıp akımın karesiyle değişir; gerilimi yükseltmek akımı küçültür.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943600" cy="731520"/>
          </a:xfrm>
          <a:prstGeom prst="roundRect">
            <a:avLst>
              <a:gd name="adj" fmla="val 12500"/>
            </a:avLst>
          </a:prstGeom>
          <a:solidFill>
            <a:srgbClr val="EAF0FD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78308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P(kayıp) = I² · R        I = P / V</a:t>
            </a:r>
            <a:endParaRPr lang="en-US" sz="17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40080" y="2697480"/>
          <a:ext cx="594360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903720" y="269748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Gerilim · akım · kayıp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903720" y="3108960"/>
            <a:ext cx="4647895" cy="493776"/>
          </a:xfrm>
          <a:prstGeom prst="roundRect">
            <a:avLst>
              <a:gd name="adj" fmla="val 14815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40880" y="3108960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kV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138160" y="3108960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A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3108960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kW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332720" y="3108960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%20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903720" y="3675888"/>
            <a:ext cx="4647895" cy="493776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40880" y="367588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kV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8138160" y="367588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A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189720" y="3675888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kW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0" y="367588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%5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903720" y="4242816"/>
            <a:ext cx="4647895" cy="493776"/>
          </a:xfrm>
          <a:prstGeom prst="roundRect">
            <a:avLst>
              <a:gd name="adj" fmla="val 14815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040880" y="424281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 kV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8138160" y="424281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A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9189720" y="4242816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kW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332720" y="424281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17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%0,2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903720" y="4809744"/>
            <a:ext cx="4647895" cy="493776"/>
          </a:xfrm>
          <a:prstGeom prst="roundRect">
            <a:avLst>
              <a:gd name="adj" fmla="val 14815"/>
            </a:avLst>
          </a:prstGeom>
          <a:solidFill>
            <a:srgbClr val="EAF7DC"/>
          </a:solidFill>
          <a:ln w="12700">
            <a:solidFill>
              <a:srgbClr val="CFE8B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040880" y="4809744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154 kV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8138160" y="4809744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6,5 A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9189720" y="4809744"/>
            <a:ext cx="1097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211 W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10332720" y="4809744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%0,02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903720" y="5440680"/>
            <a:ext cx="4647895" cy="411480"/>
          </a:xfrm>
          <a:prstGeom prst="roundRect">
            <a:avLst>
              <a:gd name="adj" fmla="val 31111"/>
            </a:avLst>
          </a:prstGeom>
          <a:solidFill>
            <a:srgbClr val="FDF4E3"/>
          </a:solidFill>
          <a:ln w="12700">
            <a:solidFill>
              <a:srgbClr val="F0DCB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178040" y="544068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562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Gerilimi 10 katına çıkarmak kaybı 100'de bire indirir.</a:t>
            </a:r>
            <a:endParaRPr lang="en-US" sz="1150" dirty="0"/>
          </a:p>
        </p:txBody>
      </p:sp>
      <p:sp>
        <p:nvSpPr>
          <p:cNvPr id="32" name="Text 29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04 · Transformatörler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6348D4"/>
          </a:solidFill>
          <a:ln w="12700">
            <a:solidFill>
              <a:srgbClr val="6348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Nerede karşımıza çıkar?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Evden santrale, her gerilim değişiminin arkasında bir transformatör vardır.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1984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Santral çıkışı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4414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Üretilen gerilim yükselticiyle 154 kV – 400 kV'a çıkarılır.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246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yükseltici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8264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72584" y="1984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Mahalle trafosu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672584" y="24414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 gerilimi 380/220 V'a indirir; direklerde ya da kabinlerde.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72584" y="3246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düşürücü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56448" y="1783080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430768" y="198424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Şarj adaptörü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430768" y="2441448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220 V'u 5 – 20 V'a indirir; küçük ve hafif olması için yüksek frekanslıdır.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430768" y="324612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C8C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düşürücü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14400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 makinesi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45262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Gerilimi düşürüp akımı yüzlerce ampere çıkarır.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53309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562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çok yüksek akım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398264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672584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Mikrodalga fırın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672584" y="45262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Magnetronu besleyen yükseltici, binlerce volt üretir.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72584" y="53309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34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yükseltici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56448" y="3867912"/>
            <a:ext cx="3392424" cy="1874520"/>
          </a:xfrm>
          <a:prstGeom prst="roundRect">
            <a:avLst>
              <a:gd name="adj" fmla="val 6829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430768" y="40690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Yalıtım trafosu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430768" y="45262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 çevirir; laboratuvarda ve tıbbi cihazlarda güvenlik sağlar.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430768" y="533095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882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: 1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04 · Transformatörler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çıkış gerilimi ve akımı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 belirtilmedikçe transformatör ideal kabul edilmiştir.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Primeri 500, sekonderi 100 sarımlı ideal bir transformatörün primerine 220 V uygulanıyor. Sekonderden 3 A akım çekiliyor.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V₂ nedir?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Güçler nedir?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I₁ nedir?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44 V · (b) 132 W · (c) 0,6 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V₂ = V₁·N₂/N₁ = 220 · 100/500 = 44 V (düşürücü)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P₂ = V₂·I₂ = 44 · 3 = 132 W; ideal olduğu için P₁ = P₂ = 132 W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 = P₁/V₁ = 132 / 220 = 0,6 A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Kontrol: I₁/I₂ = 0,6/3 = 1/5 = N₂/N₁ ✓ Gerilim 5'te bire indi, akım 5 katına çıktı.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04 · Transformatörler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verim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 belirtilmedikçe transformatör ideal kabul edilmiştir.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transformatörün primerinden 4 A akım geçerken uçlarındaki gerilim 220 V'tur. Sekonderde 44 V altında 17 A akım ölçülmüştür.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Verimi nedir?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Kaybedilen güç nedir?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53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%85 · (b) 132 W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P₁ = 220 · 4 = 880 W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P₂ = 44 · 17 = 748 W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verim = P₂/P₁ = 748/880 = 0,85 → %85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C5345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Kayıp = 880 − 748 = 132 W; bu güç bakır, girdap ve histerezis kayıplarıyla ısıya gider.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04 · Transformatörler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2A5FD6"/>
          </a:solidFill>
          <a:ln w="12700">
            <a:solidFill>
              <a:srgbClr val="2A5FD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Çözümlü örnek · iletim kaybı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 belirtilmedikçe transformatör ideal kabul edilmiştir.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114800" cy="4069080"/>
          </a:xfrm>
          <a:prstGeom prst="roundRect">
            <a:avLst>
              <a:gd name="adj" fmla="val 3146"/>
            </a:avLst>
          </a:prstGeom>
          <a:solidFill>
            <a:srgbClr val="F7F9FE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60120" y="20116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5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7744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santral 1 MW gücü, toplam direnci 5 Ω olan bir hatla taşıyor.</a:t>
            </a: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endParaRPr lang="en-US" sz="1400" dirty="0"/>
          </a:p>
          <a:p>
            <a:pPr algn="l"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İletim gerilimi (a) 10 kV (b) 100 kV ise hatta kaybedilen güçleri karşılaştırınız.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50749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CEVAPLAR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960120" y="5349240"/>
            <a:ext cx="34747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7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5349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A5F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50 kW (%5) · (b) 500 W (%0,05)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74920" y="178308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349240" y="200482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49240" y="200482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178308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= P/V = 10⁶ / 10⁴ = 100 A → P(kayıp) = I²·R = 100² · 5 = 50 kW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74920" y="285750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49240" y="307924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349240" y="30792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285750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= 10⁶ / 10⁵ = 10 A → P(kayıp) = 10² · 5 = 500 W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074920" y="393192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349240" y="415366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49240" y="415366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393192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Gerilim 10 katına çıkınca akım 10'da bire, kayıp 100'de bire indi.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074920" y="5006340"/>
            <a:ext cx="6476695" cy="845820"/>
          </a:xfrm>
          <a:prstGeom prst="roundRect">
            <a:avLst>
              <a:gd name="adj" fmla="val 15135"/>
            </a:avLst>
          </a:prstGeom>
          <a:solidFill>
            <a:srgbClr val="F3F5FC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349240" y="5228082"/>
            <a:ext cx="402336" cy="402336"/>
          </a:xfrm>
          <a:prstGeom prst="ellipse">
            <a:avLst/>
          </a:prstGeom>
          <a:solidFill>
            <a:srgbClr val="2A5FD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349240" y="522808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5006340"/>
            <a:ext cx="5333695" cy="8458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Kaybı azaltmanın öteki yolu hattın direncini küçültmektir; ama bu çok daha kalın ve pahalı iletken demektir.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04 · Transformatörler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20624"/>
            <a:ext cx="493776" cy="493776"/>
          </a:xfrm>
          <a:prstGeom prst="ellipse">
            <a:avLst/>
          </a:prstGeom>
          <a:solidFill>
            <a:srgbClr val="C53455"/>
          </a:solidFill>
          <a:ln w="12700">
            <a:solidFill>
              <a:srgbClr val="C5345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42062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53312" y="365760"/>
            <a:ext cx="101983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Sık yapılan hatalar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1353312" y="1024128"/>
            <a:ext cx="100885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Sınavda puan kaybettiren altı klasik.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61872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Transformatör gücü artırır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Gerilimi artırırken akımı azaltır; güç artmaz.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1783080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28232" y="1947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21424" y="1920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Akım da sarımla doğru orantılıdır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28232" y="24048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21424" y="2350008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Gerilim doğru, akım ters orantılıdır.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68680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61872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Doğru akımla da çalışır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 değişmezse emk indüklenmez.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199632" y="3172968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33375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821424" y="331012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Frekans da değişir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794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21424" y="3739896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Frekans primer ve sekonderde aynıdır.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68680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261872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 kaybı akımla doğru orantılıdır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261872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Kayıp I²·R'dir: akım 2 katına çıkarsa kayıp 4 katına.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99632" y="4562856"/>
            <a:ext cx="5349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 w="12700">
            <a:solidFill>
              <a:srgbClr val="DDE3F1"/>
            </a:solidFill>
            <a:prstDash val="solid"/>
          </a:ln>
          <a:effectLst>
            <a:outerShdw sx="100000" sy="100000" kx="0" ky="0" algn="bl" rotWithShape="0" blurRad="152400" dist="25400" dir="5400000">
              <a:srgbClr val="8894B8">
                <a:alpha val="18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28232" y="47274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534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21424" y="470001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Sekonder her zaman çıkıştır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428232" y="5184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C8C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821424" y="5129784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C5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Kaynağın bağlı olduğu sarım primerdir; bağlantı ters çevrilebilir.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6291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Elektrik ve Manyetizma · Konu 04 · Transformatörler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454335" y="629107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882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68680" y="10058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Özetle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68680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066544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Köprü manyetik akıdır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5623560" y="206654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 bobin arasında elektriksel bağlantı yoktur; yalnızca AC ile çalışır.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999232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Gerilim sarımla doğru orantılı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623560" y="299923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V₂ = V₁·N₂/N₁: her sarıma aynı gerilim düşer.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96849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9319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Akım ters orantılı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5623560" y="393192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Güç korunur: gerilim kaç kat büyürse akım o kadar küçülür.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490118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EE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864608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Yüksek gerilim = küçük kayıp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5623560" y="4864608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Kayıp I²·R; gerilimi 10 katına çıkarmak kaybı 100'de bire indirir.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68680" y="5806440"/>
            <a:ext cx="10058400" cy="566928"/>
          </a:xfrm>
          <a:prstGeom prst="roundRect">
            <a:avLst>
              <a:gd name="adj" fmla="val 16129"/>
            </a:avLst>
          </a:prstGeom>
          <a:solidFill>
            <a:srgbClr val="1B2544"/>
          </a:solidFill>
          <a:ln w="12700">
            <a:solidFill>
              <a:srgbClr val="2C386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8720" y="5806440"/>
            <a:ext cx="9418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Transformatör laboratuvarı, enerji iletimi ve hedef gerilim oyunu:  </a:t>
            </a:r>
            <a:pPr indent="0" marL="0">
              <a:buNone/>
            </a:pPr>
            <a:r>
              <a:rPr lang="en-US" sz="1300" b="1" dirty="0">
                <a:solidFill>
                  <a:srgbClr val="B9E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dersler.perinet.org/transformatorler.html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dersler.perinet.org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Transformatörler</dc:title>
  <dc:subject>Fizik · Elektrik ve Manyetizma</dc:subject>
  <dc:creator>Dersler</dc:creator>
  <cp:lastModifiedBy>Dersler</cp:lastModifiedBy>
  <cp:revision>1</cp:revision>
  <dcterms:created xsi:type="dcterms:W3CDTF">2026-09-18T20:19:46Z</dcterms:created>
  <dcterms:modified xsi:type="dcterms:W3CDTF">2026-09-18T20:19:46Z</dcterms:modified>
</cp:coreProperties>
</file>