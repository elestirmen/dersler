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notesMaster" Target="notesMasters/notesMaster1.xml"/><Relationship Id="rId135" Type="http://schemas.openxmlformats.org/officeDocument/2006/relationships/presProps" Target="presProps.xml"/><Relationship Id="rId136" Type="http://schemas.openxmlformats.org/officeDocument/2006/relationships/viewProps" Target="viewProps.xml"/><Relationship Id="rId137" Type="http://schemas.openxmlformats.org/officeDocument/2006/relationships/theme" Target="theme/theme1.xml"/><Relationship Id="rId1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 Bu anlatım dört basamakta ilerliyor: önce transformatörün neden var olduğunu, nelerden yapıldığını ve neden yalnızca değişen akımla çalıştığını göreceğiz. Sonra sarım sayısı, gerilim, akım ve güç arasındaki bağıntıları Faraday yasasından çıkaracağız. Ardından gerçek transformatörün kayıplarına ve santralden prize uzanan zincire geçeceğiz. En sonda kolaydan zora sıralanmış örneklerle hepsini birlikte kullanacağız.
Kapak görseli: Şehre giden yol. Bu kablolar santralde üretilen elektriği yüz binlerce voltluk gerilimle taşır; aynı gücü düşük gerilimle taşımaya kalksaydık teller ısınır, enerjinin büyük kısmı yolda kaybolurdu. Hattın iki ucunda da işi aynı araç yapar: gerilimi önce yükselten, sonra kademe kademe düşüren transformatör.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 Bu anlatım dört basamakta ilerliyor: önce transformatörün neden var olduğunu, nelerden yapıldığını ve neden yalnızca değişen akımla çalıştığını göreceğiz. Sonra sarım sayısı, gerilim, akım ve güç arasındaki bağıntıları Faraday yasasından çıkaracağız. Ardından gerçek transformatörün kayıplarına ve santralden prize uzanan zincire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transformatörün neden gerektiğini, nelerden yapıldığını ve neden yalnızca değişen akımla çalıştığını formülsüz kavra.
   01 Önce gözlemle: prizden telefona
   02 Transformatörün yapısı
   03 Çalışma ilkesi: değişim şart
   04 Sarım sayısı neyi değiştirir?
2. Orta — Bağıntılar: sarım–gerilim ve akım–güç oranlarını Faraday yasasından çıkar, iletim kaybını sayılarla hisset.
   05 Sarım sayısı ve gerilim: bağıntı nereden geliyor?
   06 Akım ve güç korunumu
   07 Sayılarla hisset: aynı güç, farklı gerilim
3. İleri — Derinleşme: gerçek transformatörün kayıpları, ideal modelin sınırları ve santralden prize uzanan zincir.
   08 Verim ve kayıplar
   09 İdeal modelin sınırları
   10 Transformatörler gerçek dünyada
4. Pekiştir — Kolaydan zora çözümlü örnekler ve transformatör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Gerilim ve akım: gerilim (V) yükleri iten etkidir ve volt ile ölçülür; akım (I) telden her saniye geçen yük miktarıdır ve amper (A) ile ölçülür. Prizde yaklaşık 220 V vardır.
• Elektriksel güç: bir cihazın her saniye harcadığı enerjidir: P = V · I, birimi watt (W). 220 V'ta 5 A çeken bir ısıtıcının gücü 220 · 5 = 1100 W'tır.
• Direnç ve ısınma: akım geçen tel ısınır; ısıya giden güç P = I² · R'dir. Akım 2 katına çıkarsa ısınma 4 katına çıkar.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İndüksiyon: bir bobinden geçen manyetik akı değişirse bobinde bir gerilim (emk) doğar. Akı değişmezse, alan ne kadar güçlü olursa olsun gerilim doğmaz.
• Oran ve orantı: 2 / 4 = 5 / x ise çapraz çarparsın: 2 · x = 4 · 5, yani x = 10. Transformatör sorularının çoğu böyle bir orantıdır.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transformatörün neden gerektiğini, nelerden yapıldığını ve neden yalnızca değişen akımla çalıştığını formülsüz kavra.
01 Önce gözlemle: prizden telefona
02 Transformatörün yapısı
03 Çalışma ilkesi: değişim şart
04 Sarım sayısı neyi değiştirir?
Görsel: Prize takılı bu küçük kutu, 220 voltluk şebeke gerilimini telefonun kaldırabileceği birkaç volta indirir. İçinde küçük bir düşürücü transformatör ve akımı tek yöne çeviren bir doğrultucu bulunur. Aynı işi mahalle trafosu çok daha büyük ölçekte, bütün bir sokak için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1/5
• Telefonunu şarj ederken aslında iki ayrı dünyayı birbirine bağlıyorsun.
• Duvardaki prizde yaklaşık 220 V alternatif gerilim var; telefonun pili ise yalnızca birkaç voltla şarj olur.
• Prizdeki gerilimi doğrudan telefona verseydin telefon anında bozulurdu.
• Arada bu farkı kapatan küçük bir kutu durur: şarj adaptörü.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2/5
• Etrafına bu gözle bakınca gerilimi değiştiren cihazları her yerde görürsün.
• Hepsinin ortak birkaç özelliği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3/5
• Gerilim her yerde aynı değil: prizde 220 V, telefon girişinde yaklaşık 5 V, dizüstü bilgisayar adaptöründe 20 V civarı, yüksek gerilim hatlarında yüz binlerce volt.
• Dönüştürücüler her yerde: mahalle aralarındaki küçük trafo binaları, direklerin tepesindeki kutular, eski oyuncakların ve radyoların ağır adaptörleri.
• Hareketli parça yok: bu cihazlarda dönen ya da kayan hiçbir şey yoktur; yalnızca hafif bir uğultu duyulur ve biraz ısınırlar.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4/5
• Hepsi alternatif akımla beslenir: prizdeki gerilim sabit değildir, saniyede 50 kez ileri geri salınır.
• Son madde bir rastlantı değil, transformatörün sırrıdır.
• Önce içini açıp nelerden yapıldığına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şekil
Aynı ölçekle çizince fark çarpıcı: prizdeki 220 V, telefonun istediği yaklaşık 5 V'un 44 katı. Bu yüzden telefonu prize doğrudan bağlayamazsın; aradaki adaptörün içindeki küçük transformatör gerilimi düşürür. Transformatörde dönen, kayan hiçbir parça yok: yalnızca iki bobin ve bir demir çekirdek.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Prizden telefona, santralden eve gerilimi değiştirmek gerekir. Bu işi hareketli parçası olmayan, alternatif akımla çalışan transformatörler yapar.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Telefon şarj olurken adaptör neden hafifçe ısınır?
Sınıfa sorun, birkaç tahmin alın; sonra cevap slaytına geçin.
Cevap: Dönüşüm kusursuz değildir. Prizden çekilen enerjinin küçük bir kısmı telefona ulaşmadan adaptörün tellerinde ve çekirdeğinde ısıya dönüşür. Bu kayıpların nereden geldiğini üçüncü basamakta göreceğiz; büyük güç transformatörlerinde bu pay yüzde birkaçın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Dönüşüm kusursuz değildir. Prizden çekilen enerjinin küçük bir kısmı telefona ulaşmadan adaptörün tellerinde ve çekirdeğinde ısıya dönüşür. Bu kayıpların nereden geldiğini üçüncü basamakta göreceğiz; büyük güç transformatörlerinde bu pay yüzde birkaçın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adım 1/4
• Transformatör, alternatif gerilimin değerini değiştirmeye yarayan bir araçtır.
• Üç parçadan oluşur:
• Primer (birincil) sarım: kaynağa bağlanan, N₁ sarımlı bobin.
• Sekonder (ikincil) sarım: yükün bağlandığı, N₂ sarımlı bobin.
• Nüve (demir çekirdek): iki bobini birbirine bağlayan, manyetik alan çizgilerini toplayıp sekonderden geçmeye zorlayan yumuşak demir halka.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adım 2/4
• İki bobin arasında elektriksel bağlantı yoktur; aralarındaki tek köprü nüvedeki manyetik akıdır.
• Bu yüzden transformatör aynı zamanda bir yalıtım aracıdır.
• Nüveyi iki bobin arasında uzanan manyetik bir köprü gibi düşünebilirsin: primerin ürettiği alan çizgileri havaya dağılmak yerine demirin içinde kalır ve sekonderin içinden geçmek zorunda kalır.
• Demir, alan çizgilerini havadan yüzlerce, hatta binlerce kat daha kolay taşır.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adım 3/4
• “Yumuşak” demir ise kolay mıknatıslanıp mıknatıslığını kolayca bırakan demir demektir; alan saniyede defalarca yön değiştireceği için bu özellik önemlidir.
Nüve neden ince levhalardan yapılır? Demir kütlesi tek parça olsaydı içinde dolanan girdap akımları onu ısıtır, enerjiyi boşa harcardı. Yalıtılmış ince levhalar (saclar) bu akımların yolunu keser.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şekil
Transformatörün üç parçası var: kaynağa bağlanan primer, yüke bağlanan sekonder ve ikisi arasında hiç elektriksel bağlantı olmadan akıyı taşıyan demir nüve. Bobinler birbirine değmez; aralarındaki tek köprü manyetik alandır. Nüve ince levhalardan yapılır, çünkü tek parça demirde dolanacak girdap akımları onu ısıtıp enerjiyi boşa harcardı.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Transformatör primer ve sekonder adlı iki bobinle bunları bağlayan ince levhalı demir nüveden oluşur. Bobinler arasında tel bağlantısı yoktur; enerjiyi nüvedeki manyetik akı taşır.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Transformatörün hiç hareketli parçası yoksa, çalışırken duyulan o hafif uğultu nereden gelir?
Sınıfa sorun, birkaç tahmin alın; sonra cevap slaytına geçin.
Cevap: Nüvenin sacları her mıknatıslanışta boyca çok az uzayıp kısalır. 50 Hz'lik şebekede nüve saniyede 100 kez en güçlü mıknatıslanmasına ulaşır (yarısında bir yönde, yarısında öteki yönde); bu yüzden titreşim alçak, sürekli bir uğultu olarak duyulur. Parça dönmez; titreyen, demirin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Nüvenin sacları her mıknatıslanışta boyca çok az uzayıp kısalır. 50 Hz'lik şebekede nüve saniyede 100 kez en güçlü mıknatıslanmasına ulaşır (yarısında bir yönde, yarısında öteki yönde); bu yüzden titreşim alçak, sürekli bir uğultu olarak duyulur. Parça dönmez; titreyen, demirin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1/5
• Bobinler birbirine değmiyorsa enerji sekondere nasıl geçiyor?
• Cevap, bir önceki konunun temel kuralı olan Faraday yasasında: bir bobinin içinden geçen manyetik akı değiştiğinde bobinde bir gerilim (emk) doğar.
• Transformatör bu kuralı arka arkaya iki kez kullanır.
• Bir bobindeki akım değişiminin öteki bobinde emk doğurmasına karşılıklı indüksiyon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2/5
• Zincir şöyle işler:
• Primere alternatif gerilim uygulanır; bobinden sürekli yön ve şiddet değiştiren bir akım geçer.
• Bu akım nüvede değişen bir manyetik akı oluşturur; akı da akımla birlikte büyür, küçülür, yön değiştirir.
• Akı nüve boyunca ilerleyip sekonderin içinden geçer.
• Sekonderdeki akı değiştiği için Faraday yasası gereği sekonderde bir emk indüklenir; uçlarına bir lamba bağlarsan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3/5
• Zincirin her halkasında anahtar sözcük aynıdır: değişim.
• Akım durursa akı durur, akı durursa sekonder susar.
• Evlerimize gelen akımın saniyede 50 tam salınım yapması, yani saniyede 100 kez yön değiştirmesi tam da bu yüzden işe yarar: nüvedeki akı hiç durmadan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4/5
Doğru akımda çalışmaz. Pil bağlanırsa akım sabit olur, akı değişmez, sekonderde emk indüklenmez. Transformatörün canı değişimdir: bu yüzden evlerimize doğru akım değil alternatif akım gelir. İndüksiyon akımı konusunu hatırla.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şekil
Transformatörün canı değişimdir. Alternatif akım nüvedeki akıyı saniyede 100 kez değiştirir; bu değişim sekonderde emk indükler. Pil bağlarsan akım sabit olur, akı değişmez ve sekonderde hiçbir gerilim doğmaz — yalnızca anahtarı açıp kapattığın anlarda kısa birer sıçrama görürsün. Evlerimize doğru akım değil, alternatif akım gelmesinin başlıca sebeplerinden biri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Primerdeki alternatif akım nüvede değişen bir akı oluşturur; bu akı sekonderde emk indükler. Akı değişmezse gerilim de doğmaz, bu yüzden transformatör doğru akımla çalışmaz.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Primere pil bağlıyken anahtarı kapattığın anda sekonderdeki lamba neden bir an yanıp söner?
Sınıfa sorun, birkaç tahmin alın; sonra cevap slaytına geçin.
Cevap: Anahtar kapandığı anda primer akımı sıfırdan son değerine çıkar; bu kısa sürede nüvedeki akı da değişir ve sekonderde kısa bir emk doğar. Akım sabitlenince akı da sabitlenir, emk kaybolur, lamba söner. Anahtarı açtığında akı bu kez azalırken lamba bir kez daha yanıp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Anahtar kapandığı anda primer akımı sıfırdan son değerine çıkar; bu kısa sürede nüvedeki akı da değişir ve sekonderde kısa bir emk doğar. Akım sabitlenince akı da sabitlenir, emk kaybolur, lamba söner. Anahtarı açtığında akı bu kez azalırken lamba bir kez daha yanıp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1/6
• Nüvedeki akı iki bobinin her sarımından aynen geçer.
• Bu yüzden her sarım, hangi bobinde olursa olsun, aynı küçük gerilimi üretir.
• Sarımlar bobin boyunca arka arkaya bağlıdır; tıpkı seri bağlı piller gibi gerilimleri toplanır.
• Sarım çoksa toplam gerilim büyük, sarım azsa küçük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2/6
• Basit bir hesap bunu somutlaştırır: 220 V'luk gerilim 500 sarımlı primere uygulanırsa sarım başına 0,44 V düşer.
• Sekonderde 1000 sarım varsa 1000 · 0,44 = 440 V, 100 sarım varsa 100 · 0,44 = 44 V elde edilir.
• Gerilimi yükseltmek ya da düşürmek için yalnızca sarım sayılarını seçmek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3/6
• Yükseltici (N₂ &gt; N₁): gerilimi büyütür, akımı küçültür. Santral çıkışında, iletim hattına girerken kullanılır.
• Düşürücü (N₂ &lt; N₁): gerilimi küçültür, akımı büyütür. Şehir girişinde, mahalle trafosunda, telefon şarj adaptöründe kullanılır.
• 1 : 1 (N₂ = N₁): gerilimi değiştirmez; yalnızca devreyi şebekeden yalıtmak için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4/6
• Kaynak hangi bobine bağlanırsa orası primerdir.
• Aynı transformatör ters bağlanarak yükselticiden düşürücüye çevrilebilir.
• Peki gerilim bedavaya mı büyüyor?
• Hayır.
• Bisikletin vitesini düşün: vites, pedala uyguladığın gücü artırmaz, yalnızca hız ile kuvvet arasında takas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5/6
• Transformatör de gerilim ile akım arasında takas yapar: gerilimi büyütürken akımı küçültür.
• Sayfanın 01 numaralı laboratuvarındaki “Yükseltici 1:2” ve “Düşürücü 4:1” düğmeleriyle bu takası canlı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şekil
Her sarım aynı akı değişimini gördüğü için, her sarım aynı miktarda gerilim üretir. Dolayısıyla toplam gerilim sarım sayısıyla doğru orantılıdır: V₁/V₂ = N₁/N₂. Sekonderde daha çok sarım varsa gerilim büyür (yükseltici), daha az sarım varsa küçülür (düşürücü). Aynı transformatör ters bağlanırsa görevi de tersine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Her sarım aynı gerilimi ürettiği için gerilim sarım sayısıyla büyür. Sekonderde sarım çoksa transformatör yükseltici, azsa düşürücüdür; gerilim büyürken akım küçülür.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100 ve 400 sarımlı bir transformatörde kaynağı 400 sarımlı bobine bağlarsan ne olur?
Sınıfa sorun, birkaç tahmin alın; sonra cevap slaytına geçin.
Cevap: Kaynağa bağlanan bobin primer olur; artık primer 400, sekonder 100 sarımlıdır. Sekonderde sarım dörtte bir olduğu için gerilim de dörtte birine iner: 220 V girerse 55 V çıkar. Aynı araç, bağlandığı yöne göre yükseltici ya da düşürücüdür.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Kaynağa bağlanan bobin primer olur; artık primer 400, sekonder 100 sarımlıdır. Sekonderde sarım dörtte bir olduğu için gerilim de dörtte birine iner: 220 V girerse 55 V çıkar. Aynı araç, bağlandığı yöne göre yükseltici ya da düşürücüdür.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sarım–gerilim ve akım–güç oranlarını Faraday yasasından çıkar, iletim kaybını sayılarla hisset.
05 Sarım sayısı ve gerilim: bağıntı nereden geliyor?
06 Akım ve güç korunumu
07 Sayılarla hisset: aynı güç, farklı gerilim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1/6
• Temel basamaktaki “her sarım aynı gerilimi üretir” sezgisini şimdi bağıntıya dökelim.
• Faraday yasasına göre tek bir sarımda doğan emk, içinden geçen akının değişim hızına (ΔΦ/Δt) eşittir.
• N sarımlı bir bobinde bu emk N kez toplanır:
V₁ = N₁ · ΔΦ/Δt   V₂ = N₂ · ΔΦ/Δt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2/6
Formüldeki harfler ne anlama geliyor?
Sembol | Anlamı | Birimi
V₁ | primere (kaynağa bağlı bobine) uygulanan gerilim | V
V₂ | sekonderde (yüke bağlı bobinde) oluşan gerilim | V
N₁ | primerin sarım sayısı | —
N₂ | sekonderin sarım sayısı | —
ΔΦ/Δt | nüvedeki akının değişim hızı: akının bir saniyede ne kadar değiştiği | Wb/s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3/6
• Sekonder: her sarımda ΔΦ/Δt kadar emk doğar; N₂ sarım seri bağlı olduğu için toplam V₂ = N₂·ΔΦ/Δt olur.
• Primer: değişen akı primerin kendi sarımlarında da emk indükler. İdeal transformatörde bu emk kaynağın gerilimini tam dengeler: V₁ = N₁·ΔΦ/Δt.
• Ortak akı: her iki sarımdan aynı akı geçtiği için ΔΦ/Δt ikisinde de aynıdır.
• Oran: iki bağıntıyı taraf tarafa bölünce ΔΦ/Δt sadeleşir ve transformatörün temel eşitliği çıkar.
V₁ / V₂ = N₁ / N₂   V₂ = V₁ · N₂ / N₁   N₂ = N₁ · V₂ / V₁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4/6
• Gerilim, sarım sayısıyla doğru orantılıdır.
• Her sarıma düşen gerilim iki bobinde de aynıdır: örneğin 220 V'luk gerilim 500 sarıma uygulanıyorsa sarım başına 0,44 V düşer.
• 1000 sarımlı sekonderde 1000 · 0,44 = 440 V elde edilir.
• Sayfanın 04 numaralı bölümündeki “Hedef gerilim” oyununda istenen çıkışı tutturmak için son bağıntıyı kullanırsın.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5/6
Birim kontrolü: Akının birimi weberdir ve 1 Wb = 1 V·s'dir. Bu yüzden ΔΦ/Δt'nin birimi Wb/s = V olur, yani gerçekten bir gerilimdir ✓. Sarım sayısı birimsizdir; V₁/V₂ ve N₁/N₂ oranları da birimsizdir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şekil
Aynı bağıntının iki yüzü. Primeri sabit tutup sekonder sarımı artırırsan çıkış gerilimi doğru orantılı büyür — grafik orijinden geçen bir doğrudur. Sekonderi sabit tutup primer sarımı artırırsan çıkış gerilimi ters orantılı küçülür. Sayfadaki laboratuvarda iki grafiği de kaydırıcıları oynatarak canlı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Her iki sarımdan aynı akı geçtiği için sarım başına gerilim ortaktır ve V₁/V₂ = N₁/N₂ olur. Çıkış gerilimi sekonder sarımıyla doğru, primer sarımıyla ters orantılıdır.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Primer sarımını iki katına çıkarıp sekonderi aynı bırakırsan çıkış gerilimi nasıl değişir?
Sınıfa sorun, birkaç tahmin alın; sonra cevap slaytına geçin.
Cevap: Yarıya iner. Kaynağın gerilimi artık iki kat fazla sarıma paylaşılır, sarım başına gerilim yarıya düşer; sekonderdeki sarımların her biri de yarım gerilim üretir. V₂ = V₁·N₂/N₁ bağıntısında N₁ paydadadır: çıkış, primer sarımıyla ters orantılıdır.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Yarıya iner. Kaynağın gerilimi artık iki kat fazla sarıma paylaşılır, sarım başına gerilim yarıya düşer; sekonderdeki sarımların her biri de yarım gerilim üretir. V₂ = V₁·N₂/N₁ bağıntısında N₁ paydadadır: çıkış, primer sarımıyla ters orantılıdır.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1/7
• Transformatör enerji üretmez, yalnızca dönüştürür.
• İdeal bir transformatörde giren güç çıkan güce eşittir:
P₁ = P₂   V₁·I₁ = V₂·I₂   I₁ / I₂ = N₂ / N₁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2/7
Formüldeki harfler ne anlama geliyor?
Sembol | Anlamı | Birimi
P₁ | primere giren güç | W
P₂ | sekonderden çıkan, yüke verilen güç | W
I₁ | primerden geçen akım | A
I₂ | sekonderden geçen akım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3/7
• Enerji korunumu: ideal transformatörde ısıya giden bir şey yoksa primerden giren güç sekonderden çıkar: P₁ = P₂.
• Güç = gerilim × akım: P = V·I olduğundan V₁·I₁ = V₂·I₂ yazılır.
• Akım oranı: düzenlenince I₁/I₂ = V₂/V₁ çıkar; gerilim oranının tersidir.
• Sarımla bağla: V₂/V₁ = N₂/N₁ olduğundan I₁/I₂ = N₂/N₁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4/7
• Bu yüzden gerilim kaç kat büyütülürse akım o kadar küçülür.
• Gerilimi 10 katına çıkaran bir transformatörün sekonderinden, primerdekinin onda biri kadar akım geçebilir.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5/7
Akımı kim belirler?
• Sekonder akımını transformatör değil, ona bağlanan yük belirler: I₂ = V₂/R.
• Primer akımı da buna göre kendiliğinden ayarlanır.
• Sayfanın 01 numaralı laboratuvarındaki başlangıç değerlerini kontrol et: 220 V, N₁ = 500, N₂ = 1000 ve 100 Ω'luk yük için V₂ = 440 V, I₂ = 440/100 = 4,4 A ve P₂ = 440 · 4,4 = 1936 W olur.
• Primer aynı gücü 220 V'la taşımak için I₁ = 1936/220 = 8,8 A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6/7
Büyüklük | Sarımla ilişkisi | N₂ &gt; N₁ ise
Gerilim | doğru orantılı | artar
Akım | ters orantılı | azalır
Güç | değişmez (ideal) | aynı kalır
Frekans | değişmez | aynı kalır
Frekans asla değişmez. Sekonderdeki gerilimin saniyedeki değişim sayısı, primerdekiyle aynıdır — akı ortak olduğu için başka türlüsü mümkün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şekil
İdeal bir transformatör enerji üretmez, yalnızca biçim değiştirir. Gerilimi dört katına çıkarırsan akım dörtte birine iner; iki dikdörtgenin alanı — yani güç — aynı kalır. Bu yüzden "gerilimi yükselten transformatör gücü de yükseltir" demek yanlıştır. Frekans da hiç değişmez: sekonderdeki gerilim, primerdekiyle aynı ritimde salınır.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İdeal transformatörde P₁ = P₂, yani V₁·I₁ = V₂·I₂'dir; akım sarım sayısıyla ters orantılıdır. Sekonder akımını yük belirler, frekans hiç değişmez.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1/6
• Transformatörün en önemli işi enerji iletimidir.
• Santralden şehre giden hat da bir dirençtir ve içinden akım geçtikçe ısınır.
• Hatta kaybedilen güç:
Pkayıp = I² · Rhat   I = P / V   Pkayıp = (P / V)² · Rhat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2/6
• Son bağıntı ilk ikisinden çıkar: taşınacak güç P belliyken akım I = P/V'dir, bunu kayıp bağıntısına koyarsın.
• Şimdi aynı 1 MW gücü toplam direnci 5 Ω olan bir hattan farklı gerilimlerle gönderelim: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3/6
İletim gerilimi | Hat akımı | Hattaki kayıp | Kayıp oranı
10 kV | 100 A | 50 kW | %5
20 kV | 50 A | 12,5 kW | %1,25
100 kV | 10 A | 500 W | %0,05
154 kV | ≈ 6,5 A | ≈ 211 W | ≈ %0,02
400 kV | 2,5 A | ≈ 31 W | ≈ %0,003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4/6
• Tablodan hemen okunan düzen şu: gerilim 2 katına çıkınca kayıp 4'te bire, gerilim 10 katına çıkınca kayıp 100'de bire iniyor.
• Taşınacak güç P belliyken, gerilimi yükseltmek akımı aynı oranda küçültür; kayıp ise akımın karesiyle azalır.
• Bu yüzden elektrik, santral çıkışında yükseltici transformatörle 154 kV – 400 kV'a çıkarılır, şehirde düşürücülerle kademe kademe 220 V'a indirilir.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5/6
• Aşağıdaki çizimdeki hat daha uzundur, direnci yaklaşık 25 Ω'dur; bu yüzden 10 kV'ta kayıp %25'e çıkıyor.
• Gerilim 40 katına çıkınca kayıp 40² = 1600 kat azalıyor.
• Sayfanın 03 numaralı bölümünde gerilim ve direnç kaydırıcılarıyla aynı hesabı kendin yapabilirsin.
Kaybı azaltmanın öteki yolu hattın direncini küçültmektir; ama bu daha kalın (daha pahalı ve ağır) iletken demektir. Gerilimi yükseltmek çok daha ucuzdur.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şekil
Aynı 1 MW gücü aynı hattan iletiyoruz; değişen tek şey gerilim. Gerilimi 40 kat yükseltmek akımı 40 kat düşürür, kayıp ise akımın karesiyle gittiği için 1600 kat azalır. Yeşil çubuk şehre ulaşan gücü, kırmızı çubuk hatta ısıya dönüşeni gösteriyor. Yüksek gerilim hatlarının sebebi budur — ve evlere girmeden önce gerilimi tekrar düşürmek için yine transformatör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güç için hat akımı I = P/V, kayıp I²·R'dir. Gerilimi 10 katına çıkarmak kaybı 100'de bire indirir; yüksek gerilim hatlarının tek sebebi budur.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Hattın direncini yarıya indirmek mi, gerilimi iki katına çıkarmak mı kaybı daha çok azaltır?
Sınıfa sorun, birkaç tahmin alın; sonra cevap slaytına geçin.
Cevap: Gerilimi iki katına çıkarmak. Direnci yarıya indirmek kaybı yalnızca yarıya indirir, çünkü kayıp R ile doğru orantılıdır. Gerilimi iki katına çıkarmak akımı yarıya, kaybı ise akımın karesiyle dörtte bire indirir. Üstelik direnci yarıya indirmek için kesiti iki kat büyük, dolayısıyla iki kat ağır tel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Gerilimi iki katına çıkarmak. Direnci yarıya indirmek kaybı yalnızca yarıya indirir, çünkü kayıp R ile doğru orantılıdır. Gerilimi iki katına çıkarmak akımı yarıya, kaybı ise akımın karesiyle dörtte bire indirir. Üstelik direnci yarıya indirmek için kesiti iki kat büyük, dolayısıyla iki kat ağır tel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gerçek transformatörün kayıpları, ideal modelin sınırları ve santralden prize uzanan zincir.
08 Verim ve kayıplar
09 İdeal modelin sınırları
10 Transformatörler gerçek dünyada
Görsel: Bir trafo merkezi. Gri gövdenin içinde nüve ve sarımlar yağa gömülüdür; yağ, kayıplardan doğan ısıyı yandaki radyatör kanatçıklarına taşır. Üstteki silindir, ısınınca genleşen yağın taşmaması için bir genleşme deposudur; uzun porselen izolatörler ise yüksek gerilimli iletkenleri gövdeden yalıtarak içeri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1/5
• Gerçek transformatörde çıkan güç, giren güçten biraz küçüktür.
• Oranlarına verim denir:
verim = P₂ / P₁   % verim = (P₂ / P₁) · 100   Pkayıp = P₁ − P₂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2/5
• Aradaki fark üç ana yoldan kaybolur; her birine karşı ayrı bir önlem alınır:
• Bakır kaybı: sarım tellerinin direncinde harcanan I²R gücü. Önlem: kalın, düşük dirençli tel.
• Girdap akımı kaybı: nüvede dolanan akımların ısıtması. Önlem: nüveyi yalıtılmış ince saclardan yapmak.
• Histerezis kaybı: demirin mıknatıslanma yönünü sürekli değiştirmesi için harcanan enerji. Önlem: kolay mıknatıslanıp kolay bırakan yumuşak demir.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3/5
• Kayıpların tamamı sonunda ısıya dönüşür.
• Büyük güç transformatörleri bu yüzden yağla doldurulur ve radyatörlerle soğutulur.
• Verimleri %98–99 civarındadır.
• Bu oran küçük bir kayıp gibi görünür, ama taşınan güçle birlikte düşünmek gerekir: 100 MW taşıyan %99 verimli bir transformatör bile 1 MW'ı ısıya çevirir.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4/5
• Bu, aynı anda çalışan yaklaşık 500 tane 2 kW'lık elektrikli ısıtıcının ürettiği ısı kadardır.
• Sayfanın 02 numaralı bölümünde verimi azaltarak kaybın nasıl büyüdüğünü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şekil
Gerçek bir transformatörde giren gücün küçük bir kısmı ısıya gider. Bakır kaybı sarım tellerinin direncinde harcanır (I²R), girdap akımı kaybı nüvede dolanan akımlardan, histerezis kaybı ise demirin mıknatıslanma yönünü saniyede yüz kez çevirmesinden doğar. Büyük güç transformatörlerinde verim %98'in üzerine çıkar — bu, insanın yaptığı en verimli makinelerden biridir.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Verim P₂/P₁'dir; aradaki fark bakır, girdap akımı ve histerezis kayıpları olarak ısıya dönüşür. Büyük transformatörlerde verim %98–99'dur, ama büyük güçlerde bu küçük pay bile soğutma gerektirir.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Düşürücü bir transformatörde sekonder sarımın teli neden primerinkinden kalındır?
Sınıfa sorun, birkaç tahmin alın; sonra cevap slaytına geçin.
Cevap: Düşürücüde sekonder akımı primer akımından büyüktür. Bakır kaybı I²R olduğu için büyük akım taşıyan sarımın direncinin küçük olması gerekir; bu da kalın tel demektir. Az sarımlı, kalın telli sekonder ile çok sarımlı, ince telli primer düşürücü transformatörün tipik görünüşüdür.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Düşürücüde sekonder akımı primer akımından büyüktür. Bakır kaybı I²R olduğu için büyük akım taşıyan sarımın direncinin küçük olması gerekir; bu da kalın tel demektir. Az sarımlı, kalın telli sekonder ile çok sarımlı, ince telli primer düşürücü transformatörün tipik görünüşüdür.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1/6
• Şimdiye kadar kullandığımız bağıntılar ideal transformatör içindir: sarımların direnci yok, akının tamamı iki bobinden de geçiyor, nüve hiç ısınmıyor.
• Gerçek transformatör buna çok yaklaşır, ama bazı durumlarda modelin nerede durduğunu bilmek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2/6
• Gücü yük belirler: sekonder boştayken primerden yalnızca nüveyi mıknatıslayan küçük bir akım geçer. Yük bağlandıkça primer akımı kendiliğinden büyür.
• Doğru akım primeri yakabilir: değişim olmayınca primerde kaynağa karşı koyan emk doğmaz; akımı yalnızca telin küçük direnci sınırlar, bobin aşırı ısınır.
• Kısa devre tehlikelidir: sekonder uçları birleşirse I₂ çok büyür, I₁ de onunla birlikte büyür; bu yüzden transformatörler sigortayla korunur.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3/6
• Çıkış gerilimi yükle biraz düşer: sarım direnci ve nüveden kaçan akı yüzünden gerçek V₂, N₂/N₁ oranının verdiğinden biraz küçüktür.
• Frekans boyutu belirler: frekans büyüdükçe aynı gerilim için daha küçük nüve yeter; yeni şarj cihazlarının hafif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4/6
• Son madde günlük hayattan bir bilmeceyi çözer.
• Eski tip adaptörler şebekenin 50 Hz'i ile çalışan, demir nüveli, ağır kutulardı.
• Bugünkü şarj cihazları ise gerilimi önce doğrultur, sonra saniyede on binlerce kez açıp kapatarak çok yüksek frekanslı bir değişim üretir ve bunu küçük bir transformatöre verir.
• Akı çok hızlı değiştiği için aynı gerilimi çok daha az demir ve sarımla elde eder.
• İlke yine aynıdır: değişen akı.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şekil
Sekonderdeki gerilimi akının büyüklüğü değil, ne kadar hızlı değiştiği (ΔΦ/Δt) belirler; sarı çizgiler bu hızı, yani eğrinin eğimini gösteriyor. 50 Hz'de akı yavaş salındığı için aynı eğimi yakalamak üzere büyük bir akı, yani iri bir demir nüve gerekir. Çok hızlı salınımda küçücük bir akı aynı eğimi verir ve nüve küçülür (çizimde fark küçültülerek gösterildi).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şekil
Eski ve yeni adaptörü yan yana açınca fark hemen görülür: soldakinin içini demir saclı iri bir nüve ve iki bakır sargı doldururken, sağdaki şarj cihazının transformatörü devre kartındaki küçük parçalardan biridir. Eski adaptör şebekenin 50 Hz'lik gerilimiyle çalışır; bu yavaş değişim için büyük bir demir nüve ve çok sarım gerekir. Yeni şarj cihazı gerilimi saniyede on binlerce kez açıp kapattığı için akı çok hızlı değişir ve aynı gerilim çok daha az demir ve sarımla elde edilir.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İdeal model yük altında da iyi çalışır, ama gücü yükün belirlediğini, doğru akımın ve kısa devrenin tehlikeli olduğunu unutma. Frekans arttıkça aynı iş daha küçük bir nüveyle görülür.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Telefon bağlı değilken prizde takılı duran adaptör neden neredeyse hiç enerji harcamaz?
Sınıfa sorun, birkaç tahmin alın; sonra cevap slaytına geçin.
Cevap: Sekondere yük bağlı değilse sekonder akımı sıfırdır; enerji çıkmadığı için primer de yalnızca nüveyi mıknatıslamaya yetecek küçük bir akım çeker. Transformatör enerjiyi kendiliğinden itmez; yük ne kadar çekerse o kadar aktarır.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Sekondere yük bağlı değilse sekonder akımı sıfırdır; enerji çıkmadığı için primer de yalnızca nüveyi mıknatıslamaya yetecek küçük bir akım çeker. Transformatör enerjiyi kendiliğinden itmez; yük ne kadar çekerse o kadar aktarır.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1/5
• Evine ulaşan elektrik yolda birkaç transformatörden geçer; her kademe, gerilimi o mesafeye ve o ortama en uygun değere getirir.
• Uzun yolda yüksek gerilim kaybı küçültür, şehrin içinde ise düşük gerilim güvenlik ve yalıtım kolaylığı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2/5
• İletim zinciri: santralde on bin volt mertebesinde üretilen gerilim 154 ya da 400 kV'a yükseltilir; şehirde orta gerilime (örneğin 34,5 kV), mahallede 220 V'a düşürülür.
• Şarj adaptörleri: 220 V'u telefon için yaklaşık 5 V'a, dizüstü bilgisayar için 20 V civarına düşürür; ardından bir doğrultucu akımı tek yöne çevirir.
• Kaynak makinesi: gerilimi birkaç on volta düşürüp akımı yüzlerce ampere çıkarır; metali eritecek ısıyı bu büyük akım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3/5
• Mikrodalga fırın: içindeki yükseltici, şebeke gerilimini birkaç bin volta çıkararak mikrodalgaları üreten tüpü besler.
• Yalıtım transformatörü (1 : 1): hastane ve laboratuvarlarda cihazı şebekeden elektriksel olarak ayırır; iki bobin arasında tel bağlantısı olmaması burada güvenlik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şekil
Santralden evine giden yol birkaç transformatörden geçer. Yükseltici, santralin 10 kV'unu 400 kV'a çıkarır; uzun hatta akım küçük olduğu için kayıp da küçük kalır. Şehir girişindeki düşürücü gerilimi 34,5 kV'a, mahalledeki düşürücü 220 V'a indirir. Her kademede gerilim ile akım yer değiştirir, güç ise (kayıplar dışında)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5/5
• Bütün bu uygulamaların ortak noktası aynı iki kuraldır: gerilim sarım sayısıyla orantılı değişir ve güç (kayıplar dışında) korunur.
• Yüksek gerilim hattı ile kaynak makinesi aynı takasın iki ucudur: birinde gerilim çok büyük, akım görece küçük; ötekinde gerilim küçük, akım çok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Elektrik santralden prize kadar birkaç transformatörden geçer: uzun yolda yüksek gerilim, şehirde düşük gerilim. Şarj adaptöründen kaynak makinesine kadar hepsi gerilim–akım takasıyla çalışır.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Santral ile ev arasında tek bir büyük düşürücü yerine neden birkaç kademe kullanılır?
Sınıfa sorun, birkaç tahmin alın; sonra cevap slaytına geçin.
Cevap: Her gerilim düzeyi bir mesafeye uygundur. 400 kV uzun yolda kaybı küçültür ama çok büyük direkler ve izolatörler ister; şehrin içine sokulamaz. Orta gerilim mahallelere kadar makul kayıpla ulaşır, 220 V ise evin içinde güvenlidir. Düşük gerilimde akım büyük olduğundan 220 V uzun yol gidemez; bu yüzden son düşürücü tüketiciye olabildiğince yakın kurulur.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gerilim düzeyi bir mesafeye uygundur. 400 kV uzun yolda kaybı küçültür ama çok büyük direkler ve izolatörler ister; şehrin içine sokulamaz. Orta gerilim mahallelere kadar makul kayıpla ulaşır, 220 V ise evin içinde güvenlidir. Düşük gerilimde akım büyük olduğundan 220 V uzun yol gidemez; bu yüzden son düşürücü tüketiciye olabildiğince yakın kurulur.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transformatör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220 V'luk şebekeden 12 V elde etmek isteyen bir adaptörün primeri 1100 sarımlıdır. Sekonder kaç sarım olmalıdır?
Durum çizimi: Durum: adaptörün 1100 sarımlı primeri 220 V'luk şebekeye bağlı, sekonderinden 12 V alınmak isteniyor. Soruda istenen, sekonderin sarım sayısı N₂.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220 V'luk şebekeden 12 V elde etmek isteyen bir adaptörün primeri 1100 sarımlıdır. Sekonder kaç sarım olmalıdır?
Verilenler: V₁ = 220 V · V₂ = 12 V · N₁ = 1100
İstenen: sekonderin sarım sayısı N₂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 çözüm
1. N₂ = N₁ · V₂/V₁
2. N₂ = 1100 · 12/220 = 1100 · 0,0545…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 çözüm
3. N₂ = 60 sarım
4. Sarım başına gerilim: 220/1100 = 0,2 V; 60 · 0,2 = 12 V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Primeri 500, sekonderi 100 sarımlı ideal bir transformatörün primerine 220 V uygulanıyor. Sekonderden 3 A akım çekiliyor. V₂, I₁ ve güçleri bulunuz.
Durum çizimi: Durum: 500 sarımlı primere 220 V uygulanıyor, 100 sarımlı sekonderden 3 A çekiliyor. Soruda istenenler “?” ile gösterildi: sekonder gerilimi V₂, primer akımı I₁ ve iki taraftaki güçler P₁, P₂.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Primeri 500, sekonderi 100 sarımlı ideal bir transformatörün primerine 220 V uygulanıyor. Sekonderden 3 A akım çekiliyor. V₂, I₁ ve güçleri bulunuz.
Verilenler: N₁ = 500 · N₂ = 100 · V₁ = 220 V · I₂ = 3 A · transformatör ideal (P₁ = P₂)
İstenen: sekonder gerilimi V₂ · primer akımı I₁ · güçler P₁ ve P₂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 çözüm
1. V₂ = V₁·N₂/N₁ = 220 · 100/500 = 44 V
2. P₂ = V₂·I₂ = 44 · 3 = 132 W
3. İdeal olduğu için P₁ = P₂ = 132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 çözüm
4. I₁ = P₁/V₁ = 132/220 = 0,6 A
5. Kontrol: I₁/I₂ = 0,6/3 = 1/5 = N₂/N₁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Bir transformatörün primerinden 4 A akım geçerken uçlarındaki gerilim 220 V'tur. Sekonderde 44 V altında 17 A akım ölçülmüştür. Verimi bulunuz.
Durum çizimi: Durum: primere 220 V altında 4 A giriyor, sekonderden 44 V altında 17 A çıkıyor. Soruda istenen, çıkan gücün giren güce oranı olan verim.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Bir transformatörün primerinden 4 A akım geçerken uçlarındaki gerilim 220 V'tur. Sekonderde 44 V altında 17 A akım ölçülmüştür. Verimi bulunuz.
Verilenler: I₁ = 4 A · V₁ = 220 V · V₂ = 44 V · I₂ = 17 A
İstenen: verim (P₂ / P₁)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 çözüm
1. P₁ = 220 · 4 = 880 W
2. P₂ = 44 · 17 = 748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 çözüm
3. verim = 748/880 = 0,85 → %85
4. Kayıp = 880 − 748 = 132 W; bu güç ısıya dönüşür.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İletim kaybı
Bir santral 1 MW gücü, toplam direnci 5 Ω olan bir hatla taşıyor. İletim gerilimi (a) 10 kV (b) 100 kV ise hatta kaybedilen güçleri karşılaştırınız.
Durum çizimi: Durum: aynı 1 MW güç, direnci 5 Ω olan aynı hattan önce 10 kV, sonra 100 kV ile gönderiliyor. Soruda istenen, iki durumda hattaki kayıp ve bunların karşılaştırması.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İletim kaybı
Bir santral 1 MW gücü, toplam direnci 5 Ω olan bir hatla taşıyor. İletim gerilimi (a) 10 kV (b) 100 kV ise hatta kaybedilen güçleri karşılaştırınız.
Verilenler: P = 1 MW = 10⁶ W · Rhat = 5 Ω · (a) V = 10 kV = 10⁴ V · (b) V = 100 kV = 10⁵ V
İstenen: iki durumda hattaki kayıp Pkayıp ve karşılaştırması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İletim kaybı — çözüm
1. (a) I = P/V = 10⁶/10⁴ = 100 A → Pkayıp = 100² · 5 = 50 kW (%5)
2. (b) I = 10⁶/10⁵ = 10 A → Pkayıp = 10² · 5 = 500 W (%0,05)
3. Gerilim 10 katına çıkınca kayıp 100'de bire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Primeri 1000, sekonderi 200 sarımlı bir transformatör 220 V'luk şebekeye bağlıdır. Sekondere 11 Ω'luk bir direnç bağlanıyor. Verim %80 ise (a) sekonder akımını, (b) primer akımını, (c) ısıya dönüşen gücü bulunuz.
Durum çizimi: Durum: 1000 sarımlı primer 220 V'a bağlı, 200 sarımlı sekondere 11 Ω'luk direnç bağlanmış; transformatörün verimi %80. Soruda istenenler: sekonder akımı I₂, primer akımı I₁ ve transformatörde ısıya dönüşen güç.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Primeri 1000, sekonderi 200 sarımlı bir transformatör 220 V'luk şebekeye bağlıdır. Sekondere 11 Ω'luk bir direnç bağlanıyor. Verim %80 ise (a) sekonder akımını, (b) primer akımını, (c) ısıya dönüşen gücü bulunuz.
Verilenler: N₁ = 1000 · N₂ = 200 · V₁ = 220 V · sekonderdeki yük R = 11 Ω · verim = %80 = 0,80
İstenen: (a) sekonder akımı I₂ · (b) primer akımı I₁ · (c) ısıya dönüşen güç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 çözüm
1. V₂ = 220 · 200/1000 = 44 V → (a) I₂ = V₂/R = 44/11 = 4 A
2. P₂ = 44 · 4 = 176 W
3. P₁ = P₂ / verim = 176 / 0,80 = 220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 çözüm
4. (b) I₁ = P₁/V₁ = 220/220 = 1 A
5. (c) Kayıp = 220 − 176 = 44 W
Transformatör ideal olsaydı I₁ = 176/220 = 0,8 A olurdu. Kayıplar, primerin fazladan 0,2 A çekmesine yol açıyor.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Bir santral 2 MW gücü 10 kV gerilimle üretiyor. Güç, toplam direnci 10 Ω olan bir hatla şehre taşınacak. (a) Güç doğrudan 10 kV ile gönderilirse, (b) önce sarım oranı N₁ : N₂ = 1 : 20 olan bir yükseltici kullanılırsa hattaki kayıp ne olur?
Durum çizimi: Durum: santral 2 MW gücü 10 kV ile üretiyor; hattın direnci 10 Ω. Üstte güç doğrudan gönderiliyor, altta önce sarım oranı 1 : 20 olan bir yükselticiden geçiyor. Soruda istenen, iki durumda hattaki kayıp.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Bir santral 2 MW gücü 10 kV gerilimle üretiyor. Güç, toplam direnci 10 Ω olan bir hatla şehre taşınacak. (a) Güç doğrudan 10 kV ile gönderilirse, (b) önce sarım oranı N₁ : N₂ = 1 : 20 olan bir yükseltici kullanılırsa hattaki kayıp ne olur?
Verilenler: P = 2 MW = 2·10⁶ W · santral gerilimi V = 10 kV = 10⁴ V · Rhat = 10 Ω · yükselticide N₁ : N₂ = 1 : 20
İstenen: (a) doğrudan 10 kV ile gönderilince hattaki kayıp · (b) yükseltici kullanılınca hattaki kayıp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 çözüm
1. (a) I = 2·10⁶ / 10⁴ = 200 A → Pkayıp = 200² · 10 = 400 kW (%20)
2. (b) Yükseltici çıkışı: V₂ = 10 kV · 20 = 200 kV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 çözüm
3. I = 2·10⁶ / 2·10⁵ = 10 A → Pkayıp = 10² · 10 = 1 kW (%0,05)
4. Oran: 400 kW / 1 kW = 400 = 20². Gerilim 20 kat → kayıp 400'de bir.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
Durum çizimi: Durum: 10 kV üreten santral 10 MW gücü bir yükselticiden geçirip 5 Ω'luk hatla gönderiyor; hattaki kayıp gücün %0,5'ini geçmemeli. Soruda istenenler: en büyük hat akımı I, en küçük iletim gerilimi V ve yükselticinin sarım oranı.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
Verilenler: P = 10 MW = 10⁷ W · Rhat = 5 Ω · izin verilen kayıp = gücün %0,5'i · santral gerilimi V₁ = 10 kV
İstenen: (a) en büyük hat akımı I · (b) en küçük iletim gerilimi V · (c) yükselticinin sarım oranı N₁ : N₂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 çözüm
1. İzin verilen kayıp: 0,005 · 10⁷ W = 5·10⁴ W = 50 kW
2. (a) I² · 5 = 5·10⁴ → I² = 10⁴ → I = 100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 çözüm
3. (b) V = P / I = 10⁷ / 100 = 10⁵ V = 100 kV
4. (c) N₂/N₁ = V₂/V₁ = 100 kV / 10 kV → N₁ : N₂ = 1 : 10
Kontrol: 100 kV'ta I = 100 A, kayıp 100² · 5 = 50 kW = %0,5 ✓. Gerilim bundan yüksek seçilirse kayıp daha da küçülür.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Primeri 400, sekonderi 1200 sarımlı bir transformatörün primerine 220 V uygulanıyor. Sekonder gerilimi kaç V'tur? Transformatör yükseltici mi, düşürücü mü?
Öğrencilere 2–3 dakika verin; sonra cevap slaytını açın.
Cevap: Cevap: V₂ = V₁ · N₂ / N₁ = 220 · 1200 / 400 = 660 V. Sekonderde sarım daha çok olduğu için transformatör yükselticidir.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V₂ = V₁ · N₂ / N₁ = 220 · 1200 / 400 = 660 V. Sekonderde sarım daha çok olduğu için transformatör yükselticidir.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Bir transformatörün sekonderinden 11 V'ta 10 A akım çekiliyor. Primer 220 V'a bağlıysa primer akımı kaç A'dir?
Öğrencilere 2–3 dakika verin; sonra cevap slaytını açın.
Cevap: Cevap: İdeal transformatörde V₁ · I₁ = V₂ · I₂: 220 · I₁ = 11 · 10 = 110 → I₁ = 110 / 220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İdeal transformatörde V₁ · I₁ = V₂ · I₂: 220 · I₁ = 11 · 10 = 110 → I₁ = 110 / 220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Primerine 220 V'ta 2 A giren bir transformatörün sekonderinden 22 V'ta 18 A çekiliyor. Verimi yüzde kaçtır? Kaç W ısıya dönüşür?
Öğrencilere 2–3 dakika verin; sonra cevap slaytını açın.
Cevap: Cevap: P₁ = 220 · 2 = 440 W, P₂ = 22 · 18 = 396 W. Verim = 396 / 440 = 0,9 → %90. Isıya dönüşen güç: 440 − 396 = 44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P₁ = 220 · 2 = 440 W, P₂ = 22 · 18 = 396 W. Verim = 396 / 440 = 0,9 → %90. Isıya dönüşen güç: 440 − 396 = 44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100 kW'lık güç, toplam direnci 2 Ω olan bir hattan 10 kV gerilimle iletiliyor. Hat akımı kaç A, hattaki kayıp kaç W'tır?
Öğrencilere 2–3 dakika verin; sonra cevap slaytını açın.
Cevap: Cevap: I = P / V = 100 000 / 10 000 = 10 A. Pkayıp = I² · Rhat = 10² · 2 = 200 W; bu, taşınan gücün yalnızca %0,2'sidir.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 = P / V = 100 000 / 10 000 = 10 A. Pkayıp = I² · Rhat = 10² · 2 = 200 W; bu, taşınan gücün yalnızca %0,2'sidir.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Primeri 1100 sarımlı bir transformatör 220 V'a bağlı. Sekondere bağlı 11 Ω'luk dirençten 2 A akım geçiyor. Sekonder kaç sarımlıdır? Primer akımı kaç A'dir?
Öğrencilere 2–3 dakika verin; sonra cevap slaytını açın.
Cevap: Cevap: Önce sekonder gerilimini bul: V₂ = I₂ · R = 2 · 11 = 22 V. Sarım: N₂ = N₁ · V₂ / V₁ = 1100 · 22 / 220 = 110 sarım. Güç: P₂ = 22 · 2 = 44 W = P₁, primer akımı I₁ = 44 / 220 = 0,2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Önce sekonder gerilimini bul: V₂ = I₂ · R = 2 · 11 = 22 V. Sarım: N₂ = N₁ · V₂ / V₁ = 1100 · 22 / 220 = 110 sarım. Güç: P₂ = 22 · 2 = 44 W = P₁, primer akımı I₁ = 44 / 220 = 0,2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“Transformatör gücü artırır.” Artırmaz. Gerilimi artırırken akımı azaltır; ideal durumda güç sabit, gerçekte biraz azalmıştır.
• Akımı da sarımla doğru orantılı sanmak. Gerilim doğru, akım ters orantılıdır.
• Transformatörü doğru akımla çalıştırmaya çalışmak. Akı değişmezse emk indüklenmez.
• Frekansın değiştiğini düşünmek. Frekans primer ve sekonderde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Kaybı akımla doğru orantılı sanmak. Hat kaybı I²R'dir; akım 2 katına çıkarsa kayıp 4 katına çıkar.
• Primer–sekonder karıştırmak. Kaynağın bağlı olduğu sarım her zaman primerdir.
• “Yüksek gerilim hattından büyük akım geçer.” Tersine: aynı gücü taşırken gerilim yüksekse akım küçüktür; kaybın küçük olmasının sebebi de budur.
• Sekonder akımını transformatörün belirlediğini sanmak. Akımı yük belirler (I₂ = V₂/R); primer akımı da ona göre ayarlanır.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Gerilim N ile orantılı · Akım N ile ters · İdealde P₁ = P₂ · Kayıp I²·R
V₁ / V₂ = N₁ / N₂ — sarım–gerilim oranı
I₁ / I₂ = N₂ / N₁ — akım ters orantılı
P₁ = P₂ (ideal) — güç korunumu
verim = P₂ / P₁ — gerçek transformatör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transformatorle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Transformatörler</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Transformatör, indüksiyonun en yaygın uygulamasıdır: gerilimi yükseltir ya da düşürür, ama gücü üretmez. Gerilimi kaç kat büyütürse akımı o kadar küçültür — ve elektriği yüzlerce kilometre öteye taşıyabilmemizin tek sebebi budur.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Santralde üretilen elektrik evine gelene kadar gerilimi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dört kez değiştirilir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önce 400 000 volta çıkarılır, sonra kademe kademe 220 volta indirilir.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dönüşümü yapan şeyin hareketli hiçbir parçası yoktur — iki bobin ve bir demir çekirdek.</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Neden bu kadar zahmete girildiğini anlamak için tek bir bağıntıya bakmak yeter: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P(kayıp) = I²·R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Gerilimi yükseltmek, akımı düşürmenin tek yoludur.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transformatörün neden gerektiğini, nelerden yapıldığını ve neden yalnızca değişen akımla çalıştığını formülsüz kavra.</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prizden telefona</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Transformatörün yapısı</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Çalışma ilkesi: değişim şart</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Sarım sayısı neyi değiştirir?</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sarım–gerilim ve akım–güç oranlarını Faraday yasasından çıkar, iletim kaybını sayılarla hisset.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Sarım sayısı ve gerilim: bağıntı nereden geliyor?</a:t>
            </a:r>
            <a:endParaRPr lang="en-US" sz="1200" dirty="0"/>
          </a:p>
        </p:txBody>
      </p:sp>
      <p:sp>
        <p:nvSpPr>
          <p:cNvPr id="30" name="Text 28"/>
          <p:cNvSpPr txBox="1"/>
          <p:nvPr/>
        </p:nvSpPr>
        <p:spPr>
          <a:xfrm>
            <a:off x="3637712" y="4224528"/>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 ve güç korunumu</a:t>
            </a:r>
            <a:endParaRPr lang="en-US" sz="1250" dirty="0"/>
          </a:p>
        </p:txBody>
      </p:sp>
      <p:sp>
        <p:nvSpPr>
          <p:cNvPr id="32" name="Text 30"/>
          <p:cNvSpPr txBox="1"/>
          <p:nvPr/>
        </p:nvSpPr>
        <p:spPr>
          <a:xfrm>
            <a:off x="3637712" y="4882896"/>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aynı güç, farklı gerilim</a:t>
            </a:r>
            <a:endParaRPr lang="en-US" sz="120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gerçek transformatörün kayıpları, ideal modelin sınırları ve santralden prize uzanan zincir.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Verim ve kayıplar</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İdeal modelin sınırları</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Transformatörler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transformatör sorularında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Gerilim ve akım:</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gerilim (V) yükleri iten etkidir ve volt ile ölçülür; akım (I) telden her saniye geçen yük miktarıdır ve amper (A) ile ölçülür. Prizde yaklaşık 220 V vardır.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Elektriksel güç:</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cihazın her saniye harcadığı enerjidir: P = V · I, birimi watt (W). 220 V'ta 5 A çeken bir ısıtıcının gücü 220 · 5 = 1100 W'tır.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Direnç ve ısınma: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akım geçen tel ısınır; ısıya giden güç P = I² · R'dir. Akım 2 katına çıkarsa ısınma 4 katına çıkar.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İndüksiyon: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bobinden geçen manyetik akı değişirse bobinde bir gerilim (emk) doğar. Akı değişmezse, alan ne kadar güçlü olursa olsun gerilim doğmaz.</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Oran ve orantı: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2 / 4 = 5 / x ise çapraz çarparsın: 2 · x = 4 · 5, yani x = 10. Transformatör sorularının çoğu böyle bir orantıdır.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transformatörün neden gerektiğini, nelerden yapıldığını ve neden yalnızca değişen akımla çalıştığını formülsüz kavra.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prizden telefona</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Transformatörün yapısı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Çalışma ilkesi: değişim şart</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Sarım sayısı neyi değiştirir?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transformatorle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Prize takılı bu küçük kutu, 220 voltluk şebeke gerilimini telefonun kaldırabileceği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birkaç volta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indirir. İçinde küçük bir düşürücü transformatör ve akımı tek yöne çeviren bir doğrultucu bulunur. Aynı işi mahalle trafosu çok daha büyük ölçekte, bütün bir sokak için yapar.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Telefonunu şarj ederken aslında iki ayrı dünyayı birbirine bağlıyorsun.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Duvardaki prizde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220 V</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alternatif gerilim var; telefonun pili ise yalnızca birkaç voltla şarj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Prizdeki gerilimi doğrudan telefona verseydin telefon anında bozulurdu.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Arada bu farkı kapatan küçük bir kutu durur: şarj adaptörü.</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Etrafına bu gözle bakınca gerilimi değiştiren cihazları her yerde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Hepsinin ortak birkaç özelliği var: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Gerilim her yerde aynı değil: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prizde 220 V, telefon girişinde yaklaşık 5 V, dizüstü bilgisayar adaptöründe 20 V civarı, yüksek gerilim hatlarında yüz binlerce volt.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Dönüştürücüler her yerde: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mahalle aralarındaki küçük trafo binaları, direklerin tepesindeki kutular, eski oyuncakların ve radyoların ağır adaptörleri.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Hareketli parça yok: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cihazlarda dönen ya da kayan hiçbir şey yoktur; yalnızca hafif bir uğultu duyulur ve biraz ısınırlar.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Hepsi alternatif akımla beslenir: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prizdeki gerilim sabit değildir, saniyede 50 kez ileri geri salınır.</a:t>
            </a:r>
            <a:endParaRPr lang="en-US" sz="2100" dirty="0"/>
          </a:p>
        </p:txBody>
      </p:sp>
      <p:sp>
        <p:nvSpPr>
          <p:cNvPr id="7" name="Text 5"/>
          <p:cNvSpPr txBox="1"/>
          <p:nvPr/>
        </p:nvSpPr>
        <p:spPr>
          <a:xfrm>
            <a:off x="640080" y="23545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bir rastlantı değil, transformatörün sırrıdır.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içini açıp nelerden yapıldığına bakalım.</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230187" y="1234440"/>
            <a:ext cx="773132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1.png">    </p:cNvPr>
          <p:cNvPicPr>
            <a:picLocks noChangeAspect="1"/>
          </p:cNvPicPr>
          <p:nvPr/>
        </p:nvPicPr>
        <p:blipFill>
          <a:blip r:embed="rId1"/>
          <a:stretch>
            <a:fillRect/>
          </a:stretch>
        </p:blipFill>
        <p:spPr>
          <a:xfrm>
            <a:off x="2458787" y="1325880"/>
            <a:ext cx="727412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ölçekle çizince fark çarpıcı: prizdeki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220 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telefonun istediği yaklaşık 5 V'un 44 katı. Bu yüzden telefonu prize doğrudan bağlayamazsın; aradaki adaptörün içindeki küçük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transformatör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gerilimi düşürür. Transformatörde dönen, kayan hiçbir parça yok: yalnızca iki bobin ve bir demir çekirdek.</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Prizden telefona, santralden eve gerilimi değiştirmek gerekir. Bu işi hareketli parçası olmayan, alternatif akımla çalışan transformatörler yapar.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Telefon şarj olurken adaptör neden hafifçe ısınır?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prizden telefona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Telefon şarj olurken adaptör neden hafifçe ısınır?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Dönüşüm kusursuz değildir. Prizden çekilen enerjinin küçük bir kısmı telefona ulaşmadan adaptörün tellerinde ve çekirdeğinde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ısıya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dönüşür. Bu kayıpların nereden geldiğini üçüncü basamakta göreceğiz; büyük güç transformatörlerinde bu pay yüzde birkaçın altına iner.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Transformatör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alternatif gerilimin değerini değiştirmeye yarayan bir araçtır.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parçadan oluşur:</a:t>
            </a:r>
            <a:endParaRPr lang="en-US" sz="2200" dirty="0"/>
          </a:p>
        </p:txBody>
      </p:sp>
      <p:sp>
        <p:nvSpPr>
          <p:cNvPr id="7" name="Text 5"/>
          <p:cNvSpPr txBox="1"/>
          <p:nvPr/>
        </p:nvSpPr>
        <p:spPr>
          <a:xfrm>
            <a:off x="640080" y="2866644"/>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Primer (birincil) sarım: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kaynağa bağlanan, N₁ sarımlı bobin.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Sekonder (ikincil) sarım: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yükün bağlandığı, N₂ sarımlı bobin.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Nüve (demir çekirdek):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bobini birbirine bağlayan, manyetik alan çizgilerini toplayıp sekonderden geçmeye zorlayan yumuşak demir halka.</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bobin arasında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elektriksel bağlantı yoktur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aralarındaki tek köprü nüvedeki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manyetik akıdır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transformatör aynı zamanda bir yalıtım aracıdır.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Nüveyi iki bobin arasında uzanan manyetik bir köprü gibi düşünebilirsin: primerin ürettiği alan çizgileri havaya dağılmak yerine demirin içinde kalır ve sekonderin içinden geçmek zorunda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Demir, alan çizgilerini havadan yüzlerce, hatta binlerce kat daha kolay taşır.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“Yumuşak” demir ise kolay mıknatıslanıp mıknatıslığını kolayca bırakan demir demektir; alan saniyede defalarca yön değiştireceği için bu özellik önemlidir.</a:t>
            </a:r>
            <a:endParaRPr lang="en-US" sz="2200" dirty="0"/>
          </a:p>
        </p:txBody>
      </p:sp>
      <p:sp>
        <p:nvSpPr>
          <p:cNvPr id="7" name="Shape 5"/>
          <p:cNvSpPr/>
          <p:nvPr/>
        </p:nvSpPr>
        <p:spPr>
          <a:xfrm>
            <a:off x="640080" y="2775204"/>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939796"/>
            <a:ext cx="54864" cy="1019556"/>
          </a:xfrm>
          <a:prstGeom prst="rect">
            <a:avLst/>
          </a:prstGeom>
          <a:solidFill>
            <a:srgbClr val="3C8C21"/>
          </a:solidFill>
          <a:ln/>
        </p:spPr>
      </p:sp>
      <p:sp>
        <p:nvSpPr>
          <p:cNvPr id="9" name="Text 7"/>
          <p:cNvSpPr txBox="1"/>
          <p:nvPr/>
        </p:nvSpPr>
        <p:spPr>
          <a:xfrm>
            <a:off x="950976" y="2903220"/>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Nüve neden ince levhalardan yapılır?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Demir kütlesi tek parça olsaydı içinde dolanan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girdap akımları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onu ısıtır, enerjiyi boşa harcardı. Yalıtılmış ince levhalar (saclar) bu akımların yolunu keser.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873689" y="1234440"/>
            <a:ext cx="844431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2.png">    </p:cNvPr>
          <p:cNvPicPr>
            <a:picLocks noChangeAspect="1"/>
          </p:cNvPicPr>
          <p:nvPr/>
        </p:nvPicPr>
        <p:blipFill>
          <a:blip r:embed="rId1"/>
          <a:stretch>
            <a:fillRect/>
          </a:stretch>
        </p:blipFill>
        <p:spPr>
          <a:xfrm>
            <a:off x="2102289" y="1325880"/>
            <a:ext cx="798711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Transformatörün üç parçası var: kaynağa bağlanan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primer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yüke bağlanan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sekonder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ikisi arasında hiç elektriksel bağlantı olmadan akıyı taşıyan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demir nüve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Bobinler birbirine değmez; aralarındaki tek köprü manyetik alandır. Nüve ince levhalardan yapılır, çünkü tek parça demirde dolanacak girdap akımları onu ısıtıp enerjiyi boşa harcardı.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Transformatör primer ve sekonder adlı iki bobinle bunları bağlayan ince levhalı demir nüveden oluşur. Bobinler arasında tel bağlantısı yoktur; enerjiyi nüvedeki manyetik akı taşır.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Transformatörün hiç hareketli parçası yoksa, çalışırken duyulan o hafif uğultu nereden gelir?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Transformatörün yapısı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Transformatörün hiç hareketli parçası yoksa, çalışırken duyulan o hafif uğultu nereden gelir?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Nüvenin sacları her mıknatıslanışta boyca çok az uzayıp kısalır. 50 Hz'lik şebekede nüve saniyede 100 kez en güçlü mıknatıslanmasına ulaşır (yarısında bir yönde, yarısında öteki yönde); bu yüzden titreşim alçak, sürekli bir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uğultu</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olarak duyulur. Parça dönmez; titreyen, demirin kendisidir.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Bobinler birbirine değmiyorsa enerji sekondere nasıl geçiyor?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Cevap, bir önceki konunun temel kuralı olan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Faraday yasasında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bobinin içinden geçen manyetik akı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değiştiğinde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bobinde bir gerilim (emk) doğar.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 bu kuralı arka arkaya iki kez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bobindeki akım değişiminin öteki bobinde emk doğurmasına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karşılıklı indüksiyon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Zincir şöyle işler:</a:t>
            </a:r>
            <a:endParaRPr lang="en-US" sz="2200" dirty="0"/>
          </a:p>
        </p:txBody>
      </p:sp>
      <p:sp>
        <p:nvSpPr>
          <p:cNvPr id="7" name="Text 5"/>
          <p:cNvSpPr txBox="1"/>
          <p:nvPr/>
        </p:nvSpPr>
        <p:spPr>
          <a:xfrm>
            <a:off x="640080" y="200406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Primere alternatif gerilim uygulanır;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bobinden sürekli yön ve şiddet değiştiren bir akım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Bu akım nüvede değişen bir manyetik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oluşturur; akı da akımla birlikte büyür, küçülür, yön değiştirir.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 nüve boyunca ilerleyip sekonderin içinden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Sekonderdeki akı değiştiği için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Faraday yasası gereği sekonderde bir emk indüklenir; uçlarına bir lamba bağlarsan yanar.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Zincirin her halkasında anahtar sözcük aynıdır: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Akım durursa akı durur, akı durursa sekonder susar.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Evlerimize gelen akımın saniyede 50 tam salınım yapması, yani saniyede 100 kez yön değiştirmesi tam da bu yüzden işe yarar: nüvedeki akı hiç durmadan değişir.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Doğru akımda çalışmaz.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Pil bağlanırsa akım sabit olur, akı değişmez, sekonderde emk indüklenmez. Transformatörün canı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değişimdir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bu yüzden evlerimize doğru akım değil alternatif akım gelir. İndüksiyon akımı konusunu hatırla.</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303045" y="1234440"/>
            <a:ext cx="9585605"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3.png">    </p:cNvPr>
          <p:cNvPicPr>
            <a:picLocks noChangeAspect="1"/>
          </p:cNvPicPr>
          <p:nvPr/>
        </p:nvPicPr>
        <p:blipFill>
          <a:blip r:embed="rId1"/>
          <a:stretch>
            <a:fillRect/>
          </a:stretch>
        </p:blipFill>
        <p:spPr>
          <a:xfrm>
            <a:off x="1531645" y="1325880"/>
            <a:ext cx="9128405"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Transformatörün canı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değişimdir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Alternatif akım nüvedeki akıyı saniyede 100 kez değiştirir; bu değişim sekonderde emk indükler. Pil bağlarsan akım sabit olur, akı değişmez ve sekonderde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hiçbir gerilim doğmaz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yalnızca anahtarı açıp kapattığın anlarda kısa birer sıçrama görürsün. Evlerimize doğru akım değil, alternatif akım gelmesinin başlıca sebeplerinden biri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Primerdeki alternatif akım nüvede değişen bir akı oluşturur; bu akı sekonderde emk indükler. Akı değişmezse gerilim de doğmaz, bu yüzden transformatör doğru akımla çalışmaz.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Primere pil bağlıyken anahtarı kapattığın anda sekonderdeki lamba neden bir an yanıp söner?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Çalışma ilkesi: değişim şart</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Primere pil bağlıyken anahtarı kapattığın anda sekonderdeki lamba neden bir an yanıp söner?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Anahtar kapandığı anda primer akımı sıfırdan son değerine çıkar; bu kısa sürede nüvedeki akı da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değişir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ve sekonderde kısa bir emk doğar. Akım sabitlenince akı da sabitlenir, emk kaybolur, lamba söner. Anahtarı açtığında akı bu kez azalırken lamba bir kez daha yanıp söner.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Nüvedeki akı iki bobinin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sarımından aynen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her sarım, hangi bobinde olursa olsun, aynı küçük gerilimi üretir.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Sarımlar bobin boyunca arka arkaya bağlıdır; tıpkı seri bağlı piller gibi gerilimleri toplanır.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Sarım çoksa toplam gerilim büyük, sarım azsa küçük 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Basit bir hesap bunu somutlaştırır: 220 V'luk gerilim 500 sarımlı primere uygulanırsa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sarım başına 0,44 V</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Sekonderde 1000 sarım varsa 1000 · 0,44 = 440 V, 100 sarım varsa 100 · 0,44 = 44 V elde edilir.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Gerilimi yükseltmek ya da düşürmek için yalnızca sarım sayılarını seçmek yeter: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Yükseltici (N₂ &gt;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büyütür, akımı küçültür. Santral çıkışında, iletim hattına girerken kullanılır.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Düşürücü (N₂ &lt;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küçültür, akımı büyütür. Şehir girişinde, mahalle trafosunda, telefon şarj adaptöründe kullanılır.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1 : 1 (N₂ =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değiştirmez; yalnızca devreyi şebekeden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yalıtmak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için kullanılır.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Kaynak hangi bobine bağlanırsa orası primerdir.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transformatör ters bağlanarak yükselticiden düşürücüye çevrilebilir.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gerilim bedavaya mı büyüyor?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Hayır.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Bisikletin vitesini düşün: vites, pedala uyguladığın gücü artırmaz, yalnızca hız ile kuvvet arasında takas yapar.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gerilim ile akım arasında takas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yapar: gerilimi büyütürken akımı küçültür.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“Yükseltici 1:2” ve “Düşürücü 4:1” düğmeleriyle bu takası canlı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473949" y="1234440"/>
            <a:ext cx="924379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4.png">    </p:cNvPr>
          <p:cNvPicPr>
            <a:picLocks noChangeAspect="1"/>
          </p:cNvPicPr>
          <p:nvPr/>
        </p:nvPicPr>
        <p:blipFill>
          <a:blip r:embed="rId1"/>
          <a:stretch>
            <a:fillRect/>
          </a:stretch>
        </p:blipFill>
        <p:spPr>
          <a:xfrm>
            <a:off x="1702549" y="1325880"/>
            <a:ext cx="878659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Her sarım aynı akı değişimini gördüğü için, her sarım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miktarda gerilim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üretir. Dolayısıyla toplam gerilim sarım sayısıyla doğru orantılıdır: V₁/V₂ = N₁/N₂. Sekonderde daha çok sarım varsa gerilim büyür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yükseltici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daha az sarım varsa küçülür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düşürücü</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transformatör ters bağlanırsa görevi de tersine döner.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Her sarım aynı gerilimi ürettiği için gerilim sarım sayısıyla büyür. Sekonderde sarım çoksa transformatör yükseltici, azsa düşürücüdür; gerilim büyürken akım küçülür.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ve 400 sarımlı bir transformatörde kaynağı 400 sarımlı bobine bağlarsan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Sarım sayısı neyi değiştirir?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ve 400 sarımlı bir transformatörde kaynağı 400 sarımlı bobine bağlarsan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Kaynağa bağlanan bobin primer olur; artık primer 400, sekonder 100 sarımlıdır. Sekonderde sarım dörtte bir olduğu için gerilim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dörtte birine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iner: 220 V girerse 55 V çıkar. Aynı araç, bağlandığı yöne göre yükseltici ya da düşürücüdür.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sarım–gerilim ve akım–güç oranlarını Faraday yasasından çıkar, iletim kaybını sayılarla hisset.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Sarım sayısı ve gerilim: bağıntı nereden geliyor?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Akım ve güç korunumu</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Sayılarla hisset: aynı güç, farklı gerilim</a:t>
            </a:r>
            <a:endParaRPr lang="en-US" sz="1300" dirty="0"/>
          </a:p>
        </p:txBody>
      </p:sp>
      <p:sp>
        <p:nvSpPr>
          <p:cNvPr id="9" name="Text 7"/>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0" name="Shape 8"/>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1" name="Text 9"/>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V₁ / V₂ = N₁ / N₂</a:t>
            </a:r>
            <a:endParaRPr lang="en-US" sz="1500" dirty="0"/>
          </a:p>
        </p:txBody>
      </p:sp>
      <p:sp>
        <p:nvSpPr>
          <p:cNvPr id="12" name="Text 10"/>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sarım–gerilim oranı</a:t>
            </a:r>
            <a:endParaRPr lang="en-US" sz="1200" dirty="0"/>
          </a:p>
        </p:txBody>
      </p:sp>
      <p:sp>
        <p:nvSpPr>
          <p:cNvPr id="13" name="Shape 11"/>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I₁ / I₂ = N₂ / N₁</a:t>
            </a:r>
            <a:endParaRPr lang="en-US" sz="1500" dirty="0"/>
          </a:p>
        </p:txBody>
      </p:sp>
      <p:sp>
        <p:nvSpPr>
          <p:cNvPr id="15" name="Text 13"/>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ters orantılı</a:t>
            </a:r>
            <a:endParaRPr lang="en-US" sz="1200" dirty="0"/>
          </a:p>
        </p:txBody>
      </p:sp>
      <p:sp>
        <p:nvSpPr>
          <p:cNvPr id="16" name="Shape 14"/>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321868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P₁ = P₂ (ideal)</a:t>
            </a:r>
            <a:endParaRPr lang="en-US" sz="1500" dirty="0"/>
          </a:p>
        </p:txBody>
      </p:sp>
      <p:sp>
        <p:nvSpPr>
          <p:cNvPr id="18" name="Text 16"/>
          <p:cNvSpPr txBox="1"/>
          <p:nvPr/>
        </p:nvSpPr>
        <p:spPr>
          <a:xfrm>
            <a:off x="8549640" y="321868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güç korunumu</a:t>
            </a:r>
            <a:endParaRPr lang="en-US" sz="1200" dirty="0"/>
          </a:p>
        </p:txBody>
      </p:sp>
      <p:sp>
        <p:nvSpPr>
          <p:cNvPr id="19" name="Shape 17"/>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verim = P₂ / P₁</a:t>
            </a:r>
            <a:endParaRPr lang="en-US" sz="1500" dirty="0"/>
          </a:p>
        </p:txBody>
      </p:sp>
      <p:sp>
        <p:nvSpPr>
          <p:cNvPr id="21" name="Text 19"/>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gerçek transformatör</a:t>
            </a:r>
            <a:endParaRPr lang="en-US" sz="1200" dirty="0"/>
          </a:p>
        </p:txBody>
      </p:sp>
      <p:sp>
        <p:nvSpPr>
          <p:cNvPr id="22" name="Shape 20"/>
          <p:cNvSpPr/>
          <p:nvPr/>
        </p:nvSpPr>
        <p:spPr>
          <a:xfrm>
            <a:off x="640080" y="6382512"/>
            <a:ext cx="128016" cy="128016"/>
          </a:xfrm>
          <a:prstGeom prst="roundRect">
            <a:avLst>
              <a:gd name="adj" fmla="val 28571"/>
            </a:avLst>
          </a:prstGeom>
          <a:solidFill>
            <a:srgbClr val="C6F36B"/>
          </a:solidFill>
          <a:ln/>
        </p:spPr>
      </p:sp>
      <p:sp>
        <p:nvSpPr>
          <p:cNvPr id="23"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24"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Temel basamaktaki “her sarım aynı gerilimi üretir” sezgisini şimdi bağıntıya dökelim.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yasasına göre tek bir sarımda doğan emk, içinden geçen akının değişim hızına (ΔΦ/Δt)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 sarımlı bir bobinde bu emk N kez toplanır:</a:t>
            </a:r>
            <a:endParaRPr lang="en-US" sz="2200" dirty="0"/>
          </a:p>
        </p:txBody>
      </p:sp>
      <p:sp>
        <p:nvSpPr>
          <p:cNvPr id="7" name="Shape 5"/>
          <p:cNvSpPr/>
          <p:nvPr/>
        </p:nvSpPr>
        <p:spPr>
          <a:xfrm>
            <a:off x="640080" y="3729228"/>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V₁ = N₁ · ΔΦ/Δt</a:t>
            </a:r>
            <a:endParaRPr lang="en-US" sz="1800" dirty="0"/>
          </a:p>
        </p:txBody>
      </p:sp>
      <p:sp>
        <p:nvSpPr>
          <p:cNvPr id="9" name="Shape 7"/>
          <p:cNvSpPr/>
          <p:nvPr/>
        </p:nvSpPr>
        <p:spPr>
          <a:xfrm>
            <a:off x="3419856" y="3729228"/>
            <a:ext cx="263347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3729228"/>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V₂ = N₂ · ΔΦ/Δt</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primere (kaynağa bağlı bobine) uygulanan gerilim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sekonderde (yüke bağlı bobinde) oluşan gerilim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primerin sarım sayısı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sekonderin sarım sayısı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ΔΦ/Δt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nüvedeki akının değişim hızı: akının bir saniyede ne kadar değiştiği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Wb/s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Sekonder: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sarımda ΔΦ/Δt kadar emk doğar; N₂ sarım seri bağlı olduğu için toplam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V₂ = N₂·ΔΦ/Δt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Primer: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değişen akı primerin kendi sarımlarında da emk indükler. İdeal transformatörde bu emk kaynağın gerilimini tam dengeler: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V₁ = N₁·ΔΦ/Δt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Ortak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iki sarımdan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aynı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geçtiği için ΔΦ/Δt ikisinde de aynıdır.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Oran: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bağıntıyı taraf tarafa bölünce ΔΦ/Δt sadeleşir ve transformatörün temel eşitliği çıkar.</a:t>
            </a:r>
            <a:endParaRPr lang="en-US" sz="2100" dirty="0"/>
          </a:p>
        </p:txBody>
      </p:sp>
      <p:sp>
        <p:nvSpPr>
          <p:cNvPr id="7" name="Shape 5"/>
          <p:cNvSpPr/>
          <p:nvPr/>
        </p:nvSpPr>
        <p:spPr>
          <a:xfrm>
            <a:off x="640080" y="4469130"/>
            <a:ext cx="291145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46913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V₁ / V₂ = N₁ / N₂</a:t>
            </a:r>
            <a:endParaRPr lang="en-US" sz="1800" dirty="0"/>
          </a:p>
        </p:txBody>
      </p:sp>
      <p:sp>
        <p:nvSpPr>
          <p:cNvPr id="9" name="Shape 7"/>
          <p:cNvSpPr/>
          <p:nvPr/>
        </p:nvSpPr>
        <p:spPr>
          <a:xfrm>
            <a:off x="3697834" y="4469130"/>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697834" y="446913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V₂ = V₁ · N₂ / N₁</a:t>
            </a:r>
            <a:endParaRPr lang="en-US" sz="1800" dirty="0"/>
          </a:p>
        </p:txBody>
      </p:sp>
      <p:sp>
        <p:nvSpPr>
          <p:cNvPr id="11" name="Shape 9"/>
          <p:cNvSpPr/>
          <p:nvPr/>
        </p:nvSpPr>
        <p:spPr>
          <a:xfrm>
            <a:off x="6755587" y="4469130"/>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755587" y="446913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N₂ = N₁ · V₂ / V₁</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 sarım sayısıyla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 orantılıdır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sarıma düşen gerilim iki bobinde de aynıdır: örneğin 220 V'luk gerilim 500 sarıma uygulanıyorsa sarım başına 0,44 V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1000 sarımlı sekonderde 1000 · 0,44 = 440 V elde edilir.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bölümündeki “Hedef gerilim” oyununda istenen çıkışı tutturmak için son bağıntıyı kullanırsın.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Akının birimi weberdir ve 1 Wb = 1 V·s'dir. Bu yüzden ΔΦ/Δt'nin birimi Wb/s = V olur, yani gerçekten bir gerilimdir ✓. Sarım sayısı birimsizdir; V₁/V₂ ve N₁/N₂ oranları da birimsizdir ✓.</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044159" y="1234440"/>
            <a:ext cx="10103378"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5.png">    </p:cNvPr>
          <p:cNvPicPr>
            <a:picLocks noChangeAspect="1"/>
          </p:cNvPicPr>
          <p:nvPr/>
        </p:nvPicPr>
        <p:blipFill>
          <a:blip r:embed="rId1"/>
          <a:stretch>
            <a:fillRect/>
          </a:stretch>
        </p:blipFill>
        <p:spPr>
          <a:xfrm>
            <a:off x="1272759" y="1325880"/>
            <a:ext cx="9646178"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bağıntının iki yüzü. Primeri sabit tutup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sekonder sarımı artırırsan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çıkış gerilimi doğru orantılı büyür — grafik orijinden geçen bir doğrudur. Sekonderi sabit tutup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primer sarımı artırırsan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çıkış gerilimi ters orantılı küçülür. Sayfadaki laboratuvarda iki grafiği de kaydırıcıları oynatarak canlı görebilirsin.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Her iki sarımdan aynı akı geçtiği için sarım başına gerilim ortaktır ve V₁/V₂ = N₁/N₂ olur. Çıkış gerilimi sekonder sarımıyla doğru, primer sarımıyla ters orantılıdır.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 sarımını iki katına çıkarıp sekonderi aynı bırakırsan çıkış gerilimi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Sarım sayısı ve gerilim: bağıntı nereden geliyor?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 sarımını iki katına çıkarıp sekonderi aynı bırakırsan çıkış gerilimi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Yarıya iner. Kaynağın gerilimi artık iki kat fazla sarıma paylaşılır, sarım başına gerilim yarıya düşer; sekonderdeki sarımların her biri de yarım gerilim üretir. V₂ = V₁·N₂/N₁ bağıntısında N₁ paydadadır: çıkış, primer sarımıyla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ters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orantılıdır.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 enerji üretmez,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dönüştürür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İdeal bir transformatörde giren güç çıkan güce eşittir:</a:t>
            </a:r>
            <a:endParaRPr lang="en-US" sz="2200" dirty="0"/>
          </a:p>
        </p:txBody>
      </p:sp>
      <p:sp>
        <p:nvSpPr>
          <p:cNvPr id="7" name="Shape 5"/>
          <p:cNvSpPr/>
          <p:nvPr/>
        </p:nvSpPr>
        <p:spPr>
          <a:xfrm>
            <a:off x="640080" y="2481072"/>
            <a:ext cx="152156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152156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P₁ = P₂</a:t>
            </a:r>
            <a:endParaRPr lang="en-US" sz="1800" dirty="0"/>
          </a:p>
        </p:txBody>
      </p:sp>
      <p:sp>
        <p:nvSpPr>
          <p:cNvPr id="9" name="Shape 7"/>
          <p:cNvSpPr/>
          <p:nvPr/>
        </p:nvSpPr>
        <p:spPr>
          <a:xfrm>
            <a:off x="2307946" y="2481072"/>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307946" y="248107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V₁·I₁ = V₂·I₂</a:t>
            </a:r>
            <a:endParaRPr lang="en-US" sz="1800" dirty="0"/>
          </a:p>
        </p:txBody>
      </p:sp>
      <p:sp>
        <p:nvSpPr>
          <p:cNvPr id="11" name="Shape 9"/>
          <p:cNvSpPr/>
          <p:nvPr/>
        </p:nvSpPr>
        <p:spPr>
          <a:xfrm>
            <a:off x="4809744" y="2481072"/>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4809744" y="2481072"/>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I₁ / I₂ = N₂ / N₁</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392962"/>
                <a:gridCol w="8125611"/>
                <a:gridCol w="139296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primere giren güç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sekonderden çıkan, yüke verilen güç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primerden geçen akım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sekonderden geçen akım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20599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Enerji korunumu: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ideal transformatörde ısıya giden bir şey yoksa primerden giren güç sekonderden çıkar: P₁ = P₂.</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Güç = gerilim × 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 = V·I olduğundan V₁·I₁ = V₂·I₂ yazılır.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Akım oranı: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düzenlenince I₁/I₂ = V₂/V₁ çıkar; gerilim oranının tersidir.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Sarımla bağla: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V₂/V₁ = N₂/N₁ olduğundan I₁/I₂ = N₂/N₁ bulunur.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gerilim kaç kat büyütülürse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akım o kadar küçülür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Gerilimi 10 katına çıkaran bir transformatörün sekonderinden, primerdekinin onda biri kadar akım geçebilir.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Akımı kim belirler?</a:t>
            </a:r>
            <a:endParaRPr lang="en-US" sz="2200" dirty="0"/>
          </a:p>
        </p:txBody>
      </p:sp>
      <p:sp>
        <p:nvSpPr>
          <p:cNvPr id="8" name="Text 6"/>
          <p:cNvSpPr txBox="1"/>
          <p:nvPr/>
        </p:nvSpPr>
        <p:spPr>
          <a:xfrm>
            <a:off x="640080" y="1892808"/>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Sekonder akımını transformatör değil, ona bağlanan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belirler: I₂ = V₂/R.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Primer akımı da buna göre kendiliğinden ayarlanır.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başlangıç değerlerini kontrol et: 220 V, N₁ = 500, N₂ = 1000 ve 100 Ω'luk yük için V₂ = 440 V, I₂ = 440/100 = 4,4 A ve P₂ = 440 · 4,4 = 1936 W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Primer aynı gücü 220 V'la taşımak için I₁ = 1936/220 = 8,8 A çeker.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494065"/>
                <a:gridCol w="4988130"/>
                <a:gridCol w="342934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Büyüklük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Sarımla ilişkisi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N₂ &gt; N₁ ise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Gerilim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doğru orantılı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Akım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ters orantılı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azalır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Güç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değişmez (ideal)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kalır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Frekans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değişmez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kalır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63702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801618"/>
            <a:ext cx="54864" cy="704088"/>
          </a:xfrm>
          <a:prstGeom prst="rect">
            <a:avLst/>
          </a:prstGeom>
          <a:solidFill>
            <a:srgbClr val="3C8C21"/>
          </a:solidFill>
          <a:ln/>
        </p:spPr>
      </p:sp>
      <p:sp>
        <p:nvSpPr>
          <p:cNvPr id="9" name="Text 6"/>
          <p:cNvSpPr txBox="1"/>
          <p:nvPr/>
        </p:nvSpPr>
        <p:spPr>
          <a:xfrm>
            <a:off x="950976" y="376504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Frekans asla değişmez.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Sekonderdeki gerilimin saniyedeki değişim sayısı, primerdekiyle aynıdır — akı ortak olduğu için başka türlüsü mümkün değildir.</a:t>
            </a:r>
            <a:endParaRPr lang="en-US" sz="180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6.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İdeal bir transformatör enerji üretmez,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biçim değiştirir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Gerilimi dört katına çıkarırsan akım dörtte birine iner; iki dikdörtgenin alanı — yani güç — aynı kalır. Bu yüzden "gerilimi yükselten transformatör gücü de yükseltir" demek yanlıştır. Frekans da hiç değişmez: sekonderdeki gerilim, primerdekiyle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ritimde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salınır.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İdeal transformatörde P₁ = P₂, yani V₁·I₁ = V₂·I₂'dir; akım sarım sayısıyla ters orantılıdır. Sekonder akımını yük belirler, frekans hiç değişmez.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Transformatörün en önemli işi enerji iletimidir.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Santralden şehre giden hat da bir dirençtir ve içinden akım geçtikçe ısınır.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Hatta kaybedilen güç:</a:t>
            </a:r>
            <a:endParaRPr lang="en-US" sz="2200" dirty="0"/>
          </a:p>
        </p:txBody>
      </p:sp>
      <p:sp>
        <p:nvSpPr>
          <p:cNvPr id="7" name="Shape 5"/>
          <p:cNvSpPr/>
          <p:nvPr/>
        </p:nvSpPr>
        <p:spPr>
          <a:xfrm>
            <a:off x="640080" y="3343656"/>
            <a:ext cx="30504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343656"/>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Pkayıp = I² · Rhat</a:t>
            </a:r>
            <a:endParaRPr lang="en-US" sz="1800" dirty="0"/>
          </a:p>
        </p:txBody>
      </p:sp>
      <p:sp>
        <p:nvSpPr>
          <p:cNvPr id="9" name="Shape 7"/>
          <p:cNvSpPr/>
          <p:nvPr/>
        </p:nvSpPr>
        <p:spPr>
          <a:xfrm>
            <a:off x="3836822" y="3343656"/>
            <a:ext cx="179953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836822" y="334365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P / V</a:t>
            </a:r>
            <a:endParaRPr lang="en-US" sz="1800" dirty="0"/>
          </a:p>
        </p:txBody>
      </p:sp>
      <p:sp>
        <p:nvSpPr>
          <p:cNvPr id="11" name="Shape 9"/>
          <p:cNvSpPr/>
          <p:nvPr/>
        </p:nvSpPr>
        <p:spPr>
          <a:xfrm>
            <a:off x="5782666" y="3343656"/>
            <a:ext cx="388437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782666" y="3343656"/>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Pkayıp = (P / V)² · Rhat</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bağıntı ilk ikisinden çıkar: taşınacak güç P belliyken akım I = P/V'dir, bunu kayıp bağıntısına koyarsın.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aynı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 MW</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gücü toplam direnci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5 Ω</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olan bir hattan farklı gerilimlerle gönderelim: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409855"/>
                <a:gridCol w="2045913"/>
                <a:gridCol w="2955207"/>
                <a:gridCol w="250056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İletim gerilimi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Hat akımı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Hattaki kayıp</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Kayıp oranı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kW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12,5 kW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500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154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6,5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211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%0,02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31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%0,003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hemen okunan düzen şu: gerilim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katına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çıkınca kayıp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4'te bire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gerilim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 katına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çıkınca kayıp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100'de bire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iniyor.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Taşınacak güç P belliyken, gerilimi yükseltmek akımı aynı oranda küçültür; kayıp ise akımın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elektrik, santral çıkışında yükseltici transformatörle 154 kV – 400 kV'a çıkarılır, şehirde düşürücülerle kademe kademe 220 V'a indirilir.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çizimdeki hat daha uzundur, direnci yaklaşık 25 Ω'dur; bu yüzden 10 kV'ta kayıp %25'e çıkıyor.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 40 katına çıkınca kayıp 40² = 1600 kat azalıyor.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gerilim ve direnç kaydırıcılarıyla aynı hesabı kendin yapabilirsin.</a:t>
            </a:r>
            <a:endParaRPr lang="en-US" sz="2200" dirty="0"/>
          </a:p>
        </p:txBody>
      </p:sp>
      <p:sp>
        <p:nvSpPr>
          <p:cNvPr id="7" name="Shape 5"/>
          <p:cNvSpPr/>
          <p:nvPr/>
        </p:nvSpPr>
        <p:spPr>
          <a:xfrm>
            <a:off x="640080" y="3729228"/>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893820"/>
            <a:ext cx="54864" cy="704088"/>
          </a:xfrm>
          <a:prstGeom prst="rect">
            <a:avLst/>
          </a:prstGeom>
          <a:solidFill>
            <a:srgbClr val="3C8C21"/>
          </a:solidFill>
          <a:ln/>
        </p:spPr>
      </p:sp>
      <p:sp>
        <p:nvSpPr>
          <p:cNvPr id="9" name="Text 7"/>
          <p:cNvSpPr txBox="1"/>
          <p:nvPr/>
        </p:nvSpPr>
        <p:spPr>
          <a:xfrm>
            <a:off x="950976" y="3857244"/>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Kaybı azaltmanın öteki yolu</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hattın direncini küçültmektir; ama bu daha kalın (daha pahalı ve ağır) iletken demektir. Gerilimi yükseltmek çok daha ucuzdur.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286824" y="1234440"/>
            <a:ext cx="761804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7.png">    </p:cNvPr>
          <p:cNvPicPr>
            <a:picLocks noChangeAspect="1"/>
          </p:cNvPicPr>
          <p:nvPr/>
        </p:nvPicPr>
        <p:blipFill>
          <a:blip r:embed="rId1"/>
          <a:stretch>
            <a:fillRect/>
          </a:stretch>
        </p:blipFill>
        <p:spPr>
          <a:xfrm>
            <a:off x="2515424" y="1325880"/>
            <a:ext cx="716084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1 MW gücü aynı hattan iletiyoruz; değişen tek şey gerilim. Gerilimi 40 kat yükseltmek akımı 40 kat düşürür, kayıp ise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akımın karesiyle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gittiği için 1600 kat azalır. Yeşil çubuk şehre ulaşan gücü, kırmızı çubuk hatta ısıya dönüşeni gösteriyor. Yüksek gerilim hatlarının sebebi budur — ve evlere girmeden önce gerilimi tekrar düşürmek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yine transformatör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kullanılır.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güç için hat akımı I = P/V, kayıp I²·R'dir. Gerilimi 10 katına çıkarmak kaybı 100'de bire indirir; yüksek gerilim hatlarının tek sebebi budur.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Hattın direncini yarıya indirmek mi, gerilimi iki katına çıkarmak mı kaybı daha çok azaltır?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Sayılarla hisset: aynı güç, farklı gerilim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Hattın direncini yarıya indirmek mi, gerilimi iki katına çıkarmak mı kaybı daha çok azaltır?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Gerilimi iki katına çıkarmak. Direnci yarıya indirmek kaybı yalnızca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yarıya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indirir, çünkü kayıp R ile doğru orantılıdır. Gerilimi iki katına çıkarmak akımı yarıya, kaybı ise akımın karesiyle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dörtte bire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indirir. Üstelik direnci yarıya indirmek için kesiti iki kat büyük, dolayısıyla iki kat ağır tel gerekir.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gerçek transformatörün kayıpları, ideal modelin sınırları ve santralden prize uzanan zincir.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Verim ve kayıplar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İdeal modelin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Transformatörler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transformatorle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Bir trafo merkezi.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Gri gövdenin içinde nüve ve sarımlar yağa gömülüdür; yağ, kayıplardan doğan ısıyı yandaki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radyatör kanatçıklarına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taşır. Üstteki silindir, ısınınca genleşen yağın taşmaması için bir genleşme deposudur; uzun porselen izolatörler ise yüksek gerilimli iletkenleri gövdeden yalıtarak içeri alır.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transformatörde çıkan güç, giren güçten biraz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Oranlarına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verim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7" name="Shape 5"/>
          <p:cNvSpPr/>
          <p:nvPr/>
        </p:nvSpPr>
        <p:spPr>
          <a:xfrm>
            <a:off x="640080" y="2481072"/>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verim = P₂ / P₁</a:t>
            </a:r>
            <a:endParaRPr lang="en-US" sz="1800" dirty="0"/>
          </a:p>
        </p:txBody>
      </p:sp>
      <p:sp>
        <p:nvSpPr>
          <p:cNvPr id="9" name="Shape 7"/>
          <p:cNvSpPr/>
          <p:nvPr/>
        </p:nvSpPr>
        <p:spPr>
          <a:xfrm>
            <a:off x="3419856" y="2481072"/>
            <a:ext cx="402336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2481072"/>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 verim = (P₂ / P₁) · 100</a:t>
            </a:r>
            <a:endParaRPr lang="en-US" sz="1800" dirty="0"/>
          </a:p>
        </p:txBody>
      </p:sp>
      <p:sp>
        <p:nvSpPr>
          <p:cNvPr id="11" name="Shape 9"/>
          <p:cNvSpPr/>
          <p:nvPr/>
        </p:nvSpPr>
        <p:spPr>
          <a:xfrm>
            <a:off x="7589520" y="2481072"/>
            <a:ext cx="277246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589520" y="2481072"/>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Pkayıp = P₁ − P₂</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Aradaki fark üç ana yoldan kaybolur; her birine karşı ayrı bir önlem alınır:</a:t>
            </a:r>
            <a:endParaRPr lang="en-US" sz="2200" dirty="0"/>
          </a:p>
        </p:txBody>
      </p:sp>
      <p:sp>
        <p:nvSpPr>
          <p:cNvPr id="7" name="Text 5"/>
          <p:cNvSpPr txBox="1"/>
          <p:nvPr/>
        </p:nvSpPr>
        <p:spPr>
          <a:xfrm>
            <a:off x="640080" y="2389632"/>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Bakır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sarım tellerinin direncinde harcanan I²R gücü. Önlem: kalın, düşük dirençli tel.</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Girdap akımı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nüvede dolanan akımların ısıtması. Önlem: nüveyi yalıtılmış ince saclardan yapmak.</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Histerezis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demirin mıknatıslanma yönünü sürekli değiştirmesi için harcanan enerji. Önlem: kolay mıknatıslanıp kolay bırakan yumuşak demir.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Kayıpların tamamı sonunda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ısıya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dönüşür.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Büyük güç transformatörleri bu yüzden yağla doldurulur ve radyatörlerle soğutulur.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Verimleri %98–99 civarındadır.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 küçük bir kayıp gibi görünür, ama taşınan güçle birlikte düşünmek gerekir: 100 MW taşıyan %99 verimli bir transformatör bile 1 MW'ı ısıya çevirir.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aynı anda çalışan yaklaşık 500 tane 2 kW'lık elektrikli ısıtıcının ürettiği ısı kadardır.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verimi azaltarak kaybın nasıl büyüdüğünü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8.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Gerçek bir transformatörde giren gücün küçük bir kısmı ısıya gider.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Bakır kaybı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sarım tellerinin direncinde harcanır (I²R),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girdap akımı kaybı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nüvede dolanan akımlardan,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histerezis kaybı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demirin mıknatıslanma yönünü saniyede yüz kez çevirmesinden doğar. Büyük güç transformatörlerinde verim %98'in üzerine çıkar — bu, insanın yaptığı en verimli makinelerden biridir.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Verim P₂/P₁'dir; aradaki fark bakır, girdap akımı ve histerezis kayıpları olarak ısıya dönüşür. Büyük transformatörlerde verim %98–99'dur, ama büyük güçlerde bu küçük pay bile soğutma gerektirir.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Düşürücü bir transformatörde sekonder sarımın teli neden primerinkinden kalındır?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Verim ve kayıplar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Düşürücü bir transformatörde sekonder sarımın teli neden primerinkinden kalındır?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Düşürücüde sekonder akımı primer akımından büyüktür. Bakır kaybı I²R olduğu için büyük akım taşıyan sarımın direncinin küçük olması gerekir; bu da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kalın tel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demektir. Az sarımlı, kalın telli sekonder ile çok sarımlı, ince telli primer düşürücü transformatörün tipik görünüşüdür.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Şimdiye kadar kullandığımız bağıntılar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ideal transformatör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içindir: sarımların direnci yok, akının tamamı iki bobinden de geçiyor, nüve hiç ısınmıyor.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transformatör buna çok yaklaşır, ama bazı durumlarda modelin nerede durduğunu bilmek gerekir: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Gücü yük belirler: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sekonder boştayken primerden yalnızca nüveyi mıknatıslayan küçük bir akım geçer. Yük bağlandıkça primer akımı kendiliğinden büyür.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Doğru akım primeri yakabilir: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değişim olmayınca primerde kaynağa karşı koyan emk doğmaz; akımı yalnızca telin küçük direnci sınırlar, bobin aşırı ısınır.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Kısa devre tehlikelidir: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sekonder uçları birleşirse I₂ çok büyür, I₁ de onunla birlikte büyür; bu yüzden transformatörler sigortayla korunur.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Çıkış gerilimi yükle biraz düşer: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sarım direnci ve nüveden kaçan akı yüzünden gerçek V₂, N₂/N₁ oranının verdiğinden biraz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Frekans boyutu belirler: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frekans büyüdükçe aynı gerilim için daha küçük nüve yeter; yeni şarj cihazlarının hafif olmasının sebebi budur.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günlük hayattan bir bilmeceyi çözer.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Eski tip adaptörler şebekenin 50 Hz'i ile çalışan, demir nüveli, ağır kutulardı.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Bugünkü şarj cihazları ise gerilimi önce doğrultur, sonra saniyede on binlerce kez açıp kapatarak çok yüksek frekanslı bir değişim üretir ve bunu küçük bir transformatöre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 çok hızlı değiştiği için aynı gerilimi çok daha az demir ve sarımla elde eder.</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İlke yine aynıdır: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değişen akı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2790800" y="1234440"/>
            <a:ext cx="661009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09.png">    </p:cNvPr>
          <p:cNvPicPr>
            <a:picLocks noChangeAspect="1"/>
          </p:cNvPicPr>
          <p:nvPr/>
        </p:nvPicPr>
        <p:blipFill>
          <a:blip r:embed="rId1"/>
          <a:stretch>
            <a:fillRect/>
          </a:stretch>
        </p:blipFill>
        <p:spPr>
          <a:xfrm>
            <a:off x="3019400" y="1325880"/>
            <a:ext cx="615289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Sekonderdeki gerilimi akının büyüklüğü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 kadar hızlı değiştiği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(ΔΦ/Δt) belirler; sarı çizgiler bu hızı, yani eğrinin eğimini gösteriyor. 50 Hz'de akı yavaş salındığı için aynı eğimi yakalamak üzere büyük bir akı, yani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iri bir demir nüve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gerekir. Çok hızlı salınımda küçücük bir akı aynı eğimi verir ve nüve küçülür (çizimde fark küçültülerek gösterildi).</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ek1-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Eski ve yeni adaptörü</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yan yana açınca fark hemen görülür: soldakinin içini demir saclı iri bir nüve ve iki bakır sargı doldururken, sağdaki şarj cihazının transformatörü devre kartındaki küçük parçalardan biridir. Eski adaptör şebekenin 50 Hz'lik gerilimiyle çalışır; bu yavaş değişim için büyük bir demir nüve ve çok sarım gerekir. Yeni şarj cihazı gerilimi saniyede on binlerce kez açıp kapattığı için akı çok hızlı değişir ve aynı gerilim çok daha az demir ve sarımla elde edilir.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İdeal model yük altında da iyi çalışır, ama gücü yükün belirlediğini, doğru akımın ve kısa devrenin tehlikeli olduğunu unutma. Frekans arttıkça aynı iş daha küçük bir nüveyle görülür.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Telefon bağlı değilken prizde takılı duran adaptör neden neredeyse hiç enerji harcamaz?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İdeal modelin sınırları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Telefon bağlı değilken prizde takılı duran adaptör neden neredeyse hiç enerji harcamaz?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Sekondere yük bağlı değilse sekonder akımı sıfırdır; enerji çıkmadığı için primer de yalnızca nüveyi mıknatıslamaya yetecek küçük bir akım çeker. Transformatör enerjiyi kendiliğinden itmez; yük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ne kadar çekerse o kadar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aktarır.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Evine ulaşan elektrik yolda birkaç transformatörden geçer; her kademe, gerilimi o mesafeye ve o ortama en uygun değere getirir.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Uzun yolda yüksek gerilim kaybı küçültür, şehrin içinde ise düşük gerilim güvenlik ve yalıtım kolaylığı sağlar.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İletim zinciri: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santralde on bin volt mertebesinde üretilen gerilim 154 ya da 400 kV'a yükseltilir; şehirde orta gerilime (örneğin 34,5 kV), mahallede 220 V'a düşürülür.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Şarj adaptörleri: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220 V'u telefon için yaklaşık 5 V'a, dizüstü bilgisayar için 20 V civarına düşürür; ardından bir doğrultucu akımı tek yöne çevirir.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Kaynak makinesi: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birkaç on volta düşürüp akımı yüzlerce ampere çıkarır; metali eritecek ısıyı bu büyük akım üretir.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02311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Mikrodalga fırın: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içindeki yükseltici, şebeke gerilimini birkaç bin volta çıkararak mikrodalgaları üreten tüpü besler.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Yalıtım transformatörü (1 : 1):</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hastane ve laboratuvarlarda cihazı şebekeden elektriksel olarak ayırır; iki bobin arasında tel bağlantısı olmaması burada güvenlik sağlar.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147439" y="1234440"/>
            <a:ext cx="9896818"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transformatorler-10.png">    </p:cNvPr>
          <p:cNvPicPr>
            <a:picLocks noChangeAspect="1"/>
          </p:cNvPicPr>
          <p:nvPr/>
        </p:nvPicPr>
        <p:blipFill>
          <a:blip r:embed="rId1"/>
          <a:stretch>
            <a:fillRect/>
          </a:stretch>
        </p:blipFill>
        <p:spPr>
          <a:xfrm>
            <a:off x="1376039" y="1325880"/>
            <a:ext cx="9439618"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Santralden evine giden yol birkaç transformatörden geçer.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Yükseltici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santralin 10 kV'unu 400 kV'a çıkarır; uzun hatta akım küçük olduğu için kayıp da küçük kalır. Şehir girişindeki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düşürücü</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gerilimi 34,5 kV'a, mahalledeki düşürücü 220 V'a indirir. Her kademede gerilim ile akım yer değiştirir, güç ise (kayıplar dışında) aynı kalır.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bu uygulamaların ortak noktası aynı iki kuraldır: gerilim sarım sayısıyla orantılı değişir ve güç (kayıplar dışında) korunur.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Yüksek gerilim hattı ile kaynak makinesi aynı takasın iki ucudur: birinde gerilim çok büyük, akım görece küçük; ötekinde gerilim küçük, akım çok büyüktür.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Elektrik santralden prize kadar birkaç transformatörden geçer: uzun yolda yüksek gerilim, şehirde düşük gerilim. Şarj adaptöründen kaynak makinesine kadar hepsi gerilim–akım takasıyla çalışır.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Santral ile ev arasında tek bir büyük düşürücü yerine neden birkaç kademe kullanılır?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Transformatörler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Santral ile ev arasında tek bir büyük düşürücü yerine neden birkaç kademe kullanılır?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Her gerilim düzeyi bir mesafeye uygundur. 400 kV uzun yolda kaybı küçültür ama çok büyük direkler ve izolatörler ister; şehrin içine sokulamaz. Orta gerilim mahallelere kadar makul kayıpla ulaşır, 220 V ise evin içinde güvenlidir. Düşük gerilimde akım büyük olduğundan 220 V uzun yol gidemez; bu yüzden son düşürücü tüketiciye olabildiğince yakın kurulur.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transformatör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Sarım sayısını bulma</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Çıkış gerilimi ve akımı</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Verim</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İletim kaybı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Gerçek transformatörde primer akımı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Yükseltici trafo ne kazandırır?</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Kaybı sınırlamak için gereken gerilim</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220 V'luk şebekeden 12 V elde etmek isteyen bir adaptörün primeri 1100 sarımlıdır. Sekonder kaç sarım olmalıdır?</a:t>
            </a:r>
            <a:endParaRPr lang="en-US" sz="2000" dirty="0"/>
          </a:p>
        </p:txBody>
      </p:sp>
      <p:sp>
        <p:nvSpPr>
          <p:cNvPr id="11" name="Shape 9"/>
          <p:cNvSpPr/>
          <p:nvPr/>
        </p:nvSpPr>
        <p:spPr>
          <a:xfrm>
            <a:off x="2439144" y="3121152"/>
            <a:ext cx="731340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transformatorler-11.png">    </p:cNvPr>
          <p:cNvPicPr>
            <a:picLocks noChangeAspect="1"/>
          </p:cNvPicPr>
          <p:nvPr/>
        </p:nvPicPr>
        <p:blipFill>
          <a:blip r:embed="rId1"/>
          <a:stretch>
            <a:fillRect/>
          </a:stretch>
        </p:blipFill>
        <p:spPr>
          <a:xfrm>
            <a:off x="2667744" y="3230880"/>
            <a:ext cx="685620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220 V'luk şebekeden 12 V elde etmek isteyen bir adaptörün primeri 1100 sarımlıdır. Sekonder kaç sarım olmalıdır?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V₂ = 12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1100</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sekonderin sarım sayısı N₂</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N₂ = N₁ · V₂/V₁</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N₂ = 1100 · 12/220 = 1100 · 0,0545…</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N₂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sarım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Sarım başına gerilim: 220/1100 = 0,2 V; 60 · 0,2 = 12 V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Primeri 500, sekonderi 100 sarımlı ideal bir transformatörün primerine 220 V uygulanıyor. Sekonderden 3 A akım çekiliyor. V₂, I₁ ve güçleri bulunuz.</a:t>
            </a:r>
            <a:endParaRPr lang="en-US" sz="2000" dirty="0"/>
          </a:p>
        </p:txBody>
      </p:sp>
      <p:sp>
        <p:nvSpPr>
          <p:cNvPr id="11" name="Shape 9"/>
          <p:cNvSpPr/>
          <p:nvPr/>
        </p:nvSpPr>
        <p:spPr>
          <a:xfrm>
            <a:off x="2439144" y="3121152"/>
            <a:ext cx="731340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transformatorler-12.png">    </p:cNvPr>
          <p:cNvPicPr>
            <a:picLocks noChangeAspect="1"/>
          </p:cNvPicPr>
          <p:nvPr/>
        </p:nvPicPr>
        <p:blipFill>
          <a:blip r:embed="rId1"/>
          <a:stretch>
            <a:fillRect/>
          </a:stretch>
        </p:blipFill>
        <p:spPr>
          <a:xfrm>
            <a:off x="2667744" y="3230880"/>
            <a:ext cx="685620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Primeri 500, sekonderi 100 sarımlı ideal bir transformatörün primerine 220 V uygulanıyor. Sekonderden 3 A akım çekiliyor. V₂, I₁ ve güçleri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500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I₂ = 3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transformatör ideal (P₁ = P₂)</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sekonder gerilimi V₂</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primer akımı I₁</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güçler P₁ ve P₂</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V₂ = V₁·N₂/N₁ = 220 · 100/500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44 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P₂ = V₂·I₂ = 44 · 3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132 W</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İdeal olduğu için P₁ = P₂ = 132 W</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I₁ = P₁/V₁ = 132/220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0,6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I₁/I₂ = 0,6/3 = 1/5 = N₂/N₁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Bir transformatörün primerinden 4 A akım geçerken uçlarındaki gerilim 220 V'tur. Sekonderde 44 V altında 17 A akım ölçülmüştür. Verimi bulunuz.</a:t>
            </a:r>
            <a:endParaRPr lang="en-US" sz="2000" dirty="0"/>
          </a:p>
        </p:txBody>
      </p:sp>
      <p:sp>
        <p:nvSpPr>
          <p:cNvPr id="11" name="Shape 9"/>
          <p:cNvSpPr/>
          <p:nvPr/>
        </p:nvSpPr>
        <p:spPr>
          <a:xfrm>
            <a:off x="2439144" y="3121152"/>
            <a:ext cx="731340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transformatorler-13.png">    </p:cNvPr>
          <p:cNvPicPr>
            <a:picLocks noChangeAspect="1"/>
          </p:cNvPicPr>
          <p:nvPr/>
        </p:nvPicPr>
        <p:blipFill>
          <a:blip r:embed="rId1"/>
          <a:stretch>
            <a:fillRect/>
          </a:stretch>
        </p:blipFill>
        <p:spPr>
          <a:xfrm>
            <a:off x="2667744" y="3230880"/>
            <a:ext cx="685620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transformatörün primerinden 4 A akım geçerken uçlarındaki gerilim 220 V'tur. Sekonderde 44 V altında 17 A akım ölçülmüştür. Verimi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I₁ = 4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V₂ = 44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I₂ = 17 A</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verim (P₂ / P₁)</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P₁ = 220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880 W</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P₂ = 44 · 17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748 W</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verim = 748/880 = 0,85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Kayıp = 880 − 748 = 132 W; bu güç ısıya dönüşür.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İletim kaybı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Bir santral 1 MW gücü, toplam direnci 5 Ω olan bir hatla taşıyor. İletim gerilimi (a) 10 kV (b) 100 kV ise hatta kaybedilen güçleri karşılaştırınız.</a:t>
            </a:r>
            <a:endParaRPr lang="en-US" sz="2000" dirty="0"/>
          </a:p>
        </p:txBody>
      </p:sp>
      <p:sp>
        <p:nvSpPr>
          <p:cNvPr id="11" name="Shape 9"/>
          <p:cNvSpPr/>
          <p:nvPr/>
        </p:nvSpPr>
        <p:spPr>
          <a:xfrm>
            <a:off x="2629594" y="3121152"/>
            <a:ext cx="693250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transformatorler-14.png">    </p:cNvPr>
          <p:cNvPicPr>
            <a:picLocks noChangeAspect="1"/>
          </p:cNvPicPr>
          <p:nvPr/>
        </p:nvPicPr>
        <p:blipFill>
          <a:blip r:embed="rId1"/>
          <a:stretch>
            <a:fillRect/>
          </a:stretch>
        </p:blipFill>
        <p:spPr>
          <a:xfrm>
            <a:off x="2858194" y="3230880"/>
            <a:ext cx="647530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İletim kaybı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santral 1 MW gücü, toplam direnci 5 Ω olan bir hatla taşıyor. İletim gerilimi (a) 10 kV (b) 100 kV ise hatta kaybedilen güçleri karşılaştırınız.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 = 1 MW = 10⁶ W</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Rhat = 5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V = 10 kV = 10⁴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V = 100 kV = 10⁵ V</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durumda hattaki kayıp Pkayıp ve karşılaştırması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İletim kaybı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I = P/V = 10⁶/10⁴ = 100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100²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kW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I = 10⁶/10⁵ = 10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10²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500 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(%0,05)</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Gerilim 10 katına çıkınca kayıp 100'de bire indi.</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Primeri 1000, sekonderi 200 sarımlı bir transformatör 220 V'luk şebekeye bağlıdır. Sekondere 11 Ω'luk bir direnç bağlanıyor. Verim %80 ise (a) sekonder akımını, (b) primer akımını, (c) ısıya dönüşen gücü bulunuz.</a:t>
            </a:r>
            <a:endParaRPr lang="en-US" sz="2000" dirty="0"/>
          </a:p>
        </p:txBody>
      </p:sp>
      <p:sp>
        <p:nvSpPr>
          <p:cNvPr id="11" name="Shape 9"/>
          <p:cNvSpPr/>
          <p:nvPr/>
        </p:nvSpPr>
        <p:spPr>
          <a:xfrm>
            <a:off x="2855106" y="3474720"/>
            <a:ext cx="6481482"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transformatorler-15.png">    </p:cNvPr>
          <p:cNvPicPr>
            <a:picLocks noChangeAspect="1"/>
          </p:cNvPicPr>
          <p:nvPr/>
        </p:nvPicPr>
        <p:blipFill>
          <a:blip r:embed="rId1"/>
          <a:stretch>
            <a:fillRect/>
          </a:stretch>
        </p:blipFill>
        <p:spPr>
          <a:xfrm>
            <a:off x="3083706" y="3584448"/>
            <a:ext cx="6024282"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Primeri 1000, sekonderi 200 sarımlı bir transformatör 220 V'luk şebekeye bağlıdır. Sekondere 11 Ω'luk bir direnç bağlanıyor. Verim %80 ise (a) sekonder akımını, (b) primer akımını, (c) ısıya dönüşen gücü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1000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200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sekonderdeki yük R = 11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verim = %80 = 0,80</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sekonder akımı I₂</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primer akımı I₁</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ısıya dönüşen güç</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V₂ = 220 · 200/1000 = 44 V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I₂ = V₂/R = 44/11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P₂ = 44 · 4 = 176 W</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P₁ = P₂ / verim = 176 / 0,80 = 220 W</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I₁ = P₁/V₁ = 220/220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Kayıp = 220 − 176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44 W</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Transformatör ideal olsaydı I₁ = 176/220 = 0,8 A olurdu. Kayıplar, primerin fazladan 0,2 A çekmesine yol açıyor.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45920"/>
            <a:ext cx="10911535" cy="1574597"/>
          </a:xfrm>
          <a:prstGeom prst="roundRect">
            <a:avLst>
              <a:gd name="adj" fmla="val 929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17397"/>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Bir santral 2 MW gücü 10 kV gerilimle üretiyor. Güç, toplam direnci 10 Ω olan bir hatla şehre taşınacak. (a) Güç doğrudan 10 kV ile gönderilirse, (b) önce sarım oranı N₁ : N₂ = 1 : 20 olan bir yükseltici kullanılırsa hattaki kayıp ne olur?</a:t>
            </a:r>
            <a:endParaRPr lang="en-US" sz="1900" dirty="0"/>
          </a:p>
        </p:txBody>
      </p:sp>
      <p:sp>
        <p:nvSpPr>
          <p:cNvPr id="11" name="Shape 9"/>
          <p:cNvSpPr/>
          <p:nvPr/>
        </p:nvSpPr>
        <p:spPr>
          <a:xfrm>
            <a:off x="3209490" y="3421685"/>
            <a:ext cx="5772715" cy="2832811"/>
          </a:xfrm>
          <a:prstGeom prst="roundRect">
            <a:avLst>
              <a:gd name="adj" fmla="val 516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transformatorler-16.png">    </p:cNvPr>
          <p:cNvPicPr>
            <a:picLocks noChangeAspect="1"/>
          </p:cNvPicPr>
          <p:nvPr/>
        </p:nvPicPr>
        <p:blipFill>
          <a:blip r:embed="rId1"/>
          <a:stretch>
            <a:fillRect/>
          </a:stretch>
        </p:blipFill>
        <p:spPr>
          <a:xfrm>
            <a:off x="3438090" y="3531413"/>
            <a:ext cx="5315515" cy="2613355"/>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santral 2 MW gücü 10 kV gerilimle üretiyor. Güç, toplam direnci 10 Ω olan bir hatla şehre taşınacak. (a) Güç doğrudan 10 kV ile gönderilirse, (b) önce sarım oranı N₁ : N₂ = 1 : 20 olan bir yükseltici kullanılırsa hattaki kayıp ne olur?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 = 2 MW = 2·10⁶ W</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santral gerilimi V = 10 kV = 10⁴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Rhat = 10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yükselticide N₁ : N₂ = 1 : 20</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doğrudan 10 kV ile gönderilince hattaki kayıp</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yükseltici kullanılınca hattaki kayıp</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 = 2·10⁶ / 10⁴ = 200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200²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400 kW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(%20)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Yükseltici çıkışı: V₂ = 10 kV · 20 = 200 kV</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 = 2·10⁶ / 2·10⁵ = 10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10²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kW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(%0,05)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Oran: 400 kW / 1 kW = 400 = 20². Gerilim 20 kat → kayıp 400'de bir.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a:t>
            </a:r>
            <a:endParaRPr lang="en-US" sz="1900" dirty="0"/>
          </a:p>
        </p:txBody>
      </p:sp>
      <p:sp>
        <p:nvSpPr>
          <p:cNvPr id="11" name="Shape 9"/>
          <p:cNvSpPr/>
          <p:nvPr/>
        </p:nvSpPr>
        <p:spPr>
          <a:xfrm>
            <a:off x="2191249" y="3584448"/>
            <a:ext cx="7809197"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transformatorler-17.png">    </p:cNvPr>
          <p:cNvPicPr>
            <a:picLocks noChangeAspect="1"/>
          </p:cNvPicPr>
          <p:nvPr/>
        </p:nvPicPr>
        <p:blipFill>
          <a:blip r:embed="rId1"/>
          <a:stretch>
            <a:fillRect/>
          </a:stretch>
        </p:blipFill>
        <p:spPr>
          <a:xfrm>
            <a:off x="2419849" y="3694176"/>
            <a:ext cx="7351997"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 = 10 MW = 10⁷ W</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Rhat = 5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izin verilen kayıp = gücün %0,5'i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santral gerilimi V₁ = 10 kV</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en büyük hat akımı 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en küçük iletim gerilimi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yükselticinin sarım oranı N₁ : N₂</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İzin verilen kayıp: 0,005 · 10⁷ W = 5·10⁴ W = 50 kW</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I² · 5 = 5·10⁴ → I² = 10⁴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I = 100 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 = P / I = 10⁷ / 100 = 10⁵ V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100 kV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N₂/N₁ = V₂/V₁ = 100 kV / 10 kV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N₁ : N₂ = 1 : 10</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Kontrol: 100 kV'ta I = 100 A, kayıp 100² · 5 = 50 kW = %0,5 ✓. Gerilim bundan yüksek seçilirse kayıp daha da küçülür.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Primeri 400, sekonderi 1200 sarımlı bir transformatörün primerine 220 V uygulanıyor. Sekonder gerilimi kaç V'tur? Transformatör yükseltici mi, düşürücü mü?</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Primeri 400, sekonderi 1200 sarımlı bir transformatörün primerine 220 V uygulanıyor. Sekonder gerilimi kaç V'tur? Transformatör yükseltici mi, düşürücü mü?</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V₂ = V₁ · N₂ / N₁ = 220 · 1200 / 400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660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Sekonderde sarım daha çok olduğu için transformatör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yükselticidir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transformatörün sekonderinden 11 V'ta 10 A akım çekiliyor. Primer 220 V'a bağlıysa primer akımı kaç A'dir?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transformatörün sekonderinden 11 V'ta 10 A akım çekiliyor. Primer 220 V'a bağlıysa primer akımı kaç A'dir?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İdeal transformatörde V₁ · I₁ = V₂ · I₂: 220 · I₁ = 11 · 10 = 110 → I₁ = 110 / 220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Primerine 220 V'ta 2 A giren bir transformatörün sekonderinden 22 V'ta 18 A çekiliyor. Verimi yüzde kaçtır? Kaç W ısıya dönüşür?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Primerine 220 V'ta 2 A giren bir transformatörün sekonderinden 22 V'ta 18 A çekiliyor. Verimi yüzde kaçtır? Kaç W ısıya dönüşür?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P₁ = 220 · 2 = 440 W, P₂ = 22 · 18 = 396 W. Verim = 396 / 440 = 0,9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%90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Isıya dönüşen güç: 440 − 396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44 W</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kW'lık güç, toplam direnci 2 Ω olan bir hattan 10 kV gerilimle iletiliyor. Hat akımı kaç A, hattaki kayıp kaç W'tır?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kW'lık güç, toplam direnci 2 Ω olan bir hattan 10 kV gerilimle iletiliyor. Hat akımı kaç A, hattaki kayıp kaç W'tır?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 = P / V = 100 000 / 10 000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10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kayıp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I² · R</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hat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10²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200 W</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bu, taşınan gücün yalnızca %0,2'sidir.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Primeri 1100 sarımlı bir transformatör 220 V'a bağlı. Sekondere bağlı 11 Ω'luk dirençten 2 A akım geçiyor. Sekonder kaç sarımlıdır? Primer akımı kaç A'dir?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Primeri 1100 sarımlı bir transformatör 220 V'a bağlı. Sekondere bağlı 11 Ω'luk dirençten 2 A akım geçiyor. Sekonder kaç sarımlıdır? Primer akımı kaç A'dir?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Önce sekonder gerilimini bul: V₂ = I₂ · R = 2 · 11 = 22 V. Sarım: N₂ = N₁ · V₂ / V₁ = 1100 · 22 / 220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110 sarım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Güç: P₂ = 22 · 2 = 44 W = P₁, primer akımı I₁ = 44 / 220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0,2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“Transformatör gücü artırır.”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Artırmaz. Gerilimi artırırken akımı azaltır; ideal durumda güç sabit, gerçekte biraz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azalmıştır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Akımı da sarımla doğru orantılı sanmak.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Gerilim doğru, akım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ters</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orantılıdır.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Transformatörü doğru akımla çalıştırmaya çalışmak.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Akı değişmezse emk indüklenmez.</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Frekansın değiştiğini düşünmek.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Frekans primer ve sekonderde aynıdır.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Kaybı akımla doğru orantılı sanmak.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Hat kaybı I²R'dir; akım 2 katına çıkarsa kayıp 4 katına çıkar.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Primer–sekonder karıştırmak.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Kaynağın bağlı olduğu sarım her zaman primerdir.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“Yüksek gerilim hattından büyük akım geçer.”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Tersine: aynı gücü taşırken gerilim yüksekse akım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küçüktür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kaybın küçük olmasının sebebi de budur.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Sekonder akımını transformatörün belirlediğini sanmak.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Akımı yük belirler (I₂ = V₂/R); primer akımı da ona göre ayarlanır.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Gerilim </a:t>
            </a:r>
            <a:pPr indent="0" marL="0">
              <a:buNone/>
            </a:pPr>
            <a:r>
              <a:rPr lang="en-US" sz="1500" b="1" dirty="0">
                <a:solidFill>
                  <a:srgbClr val="FFFFFF"/>
                </a:solidFill>
                <a:latin typeface="Calibri" pitchFamily="34" charset="0"/>
                <a:ea typeface="Calibri" pitchFamily="34" charset="-122"/>
                <a:cs typeface="Calibri" pitchFamily="34" charset="-120"/>
              </a:rPr>
              <a:t>N ile orantılı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Akım </a:t>
            </a:r>
            <a:pPr indent="0" marL="0">
              <a:buNone/>
            </a:pPr>
            <a:r>
              <a:rPr lang="en-US" sz="1500" b="1" dirty="0">
                <a:solidFill>
                  <a:srgbClr val="FFFFFF"/>
                </a:solidFill>
                <a:latin typeface="Calibri" pitchFamily="34" charset="0"/>
                <a:ea typeface="Calibri" pitchFamily="34" charset="-122"/>
                <a:cs typeface="Calibri" pitchFamily="34" charset="-120"/>
              </a:rPr>
              <a:t>N ile ters</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İdealde </a:t>
            </a:r>
            <a:pPr indent="0" marL="0">
              <a:buNone/>
            </a:pPr>
            <a:r>
              <a:rPr lang="en-US" sz="1500" b="1" dirty="0">
                <a:solidFill>
                  <a:srgbClr val="FFFFFF"/>
                </a:solidFill>
                <a:latin typeface="Calibri" pitchFamily="34" charset="0"/>
                <a:ea typeface="Calibri" pitchFamily="34" charset="-122"/>
                <a:cs typeface="Calibri" pitchFamily="34" charset="-120"/>
              </a:rPr>
              <a:t>P₁ = P₂</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Kayıp </a:t>
            </a:r>
            <a:pPr indent="0" marL="0">
              <a:buNone/>
            </a:pPr>
            <a:r>
              <a:rPr lang="en-US" sz="1500" b="1" dirty="0">
                <a:solidFill>
                  <a:srgbClr val="FFFFFF"/>
                </a:solidFill>
                <a:latin typeface="Calibri" pitchFamily="34" charset="0"/>
                <a:ea typeface="Calibri" pitchFamily="34" charset="-122"/>
                <a:cs typeface="Calibri" pitchFamily="34" charset="-120"/>
              </a:rPr>
              <a:t>I²·R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V₁ / V₂ = N₁ / N₂</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sarım–gerilim oranı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I₁ / I₂ = N₂ / N₁</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ters orantılı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P₁ = P₂ (ideal)</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güç korunumu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verim = P₂ / P₁</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gerçek transformatör</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dersler.perinet.org/transformatorler.html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Transformatörler — Dersler</dc:title>
  <dc:subject>Fizik · Elektrik ve Manyetizma</dc:subject>
  <dc:creator>Dersler</dc:creator>
  <cp:lastModifiedBy>Dersler</cp:lastModifiedBy>
  <cp:revision>1</cp:revision>
  <dcterms:created xsi:type="dcterms:W3CDTF">2026-09-30T12:21:39Z</dcterms:created>
  <dcterms:modified xsi:type="dcterms:W3CDTF">2026-09-30T12:21:39Z</dcterms:modified>
</cp:coreProperties>
</file>