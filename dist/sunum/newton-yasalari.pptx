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slideMasters/slideMaster82.xml" ContentType="application/vnd.openxmlformats-officedocument.presentationml.slideMaster+xml"/>
  <Override PartName="/ppt/slides/slide82.xml" ContentType="application/vnd.openxmlformats-officedocument.presentationml.slide+xml"/>
  <Override PartName="/ppt/slideMasters/slideMaster83.xml" ContentType="application/vnd.openxmlformats-officedocument.presentationml.slideMaster+xml"/>
  <Override PartName="/ppt/slides/slide83.xml" ContentType="application/vnd.openxmlformats-officedocument.presentationml.slide+xml"/>
  <Override PartName="/ppt/slideMasters/slideMaster84.xml" ContentType="application/vnd.openxmlformats-officedocument.presentationml.slideMaster+xml"/>
  <Override PartName="/ppt/slides/slide84.xml" ContentType="application/vnd.openxmlformats-officedocument.presentationml.slide+xml"/>
  <Override PartName="/ppt/slideMasters/slideMaster85.xml" ContentType="application/vnd.openxmlformats-officedocument.presentationml.slideMaster+xml"/>
  <Override PartName="/ppt/slides/slide85.xml" ContentType="application/vnd.openxmlformats-officedocument.presentationml.slide+xml"/>
  <Override PartName="/ppt/slideMasters/slideMaster86.xml" ContentType="application/vnd.openxmlformats-officedocument.presentationml.slideMaster+xml"/>
  <Override PartName="/ppt/slides/slide86.xml" ContentType="application/vnd.openxmlformats-officedocument.presentationml.slide+xml"/>
  <Override PartName="/ppt/slideMasters/slideMaster87.xml" ContentType="application/vnd.openxmlformats-officedocument.presentationml.slideMaster+xml"/>
  <Override PartName="/ppt/slides/slide87.xml" ContentType="application/vnd.openxmlformats-officedocument.presentationml.slide+xml"/>
  <Override PartName="/ppt/slideMasters/slideMaster88.xml" ContentType="application/vnd.openxmlformats-officedocument.presentationml.slideMaster+xml"/>
  <Override PartName="/ppt/slides/slide88.xml" ContentType="application/vnd.openxmlformats-officedocument.presentationml.slide+xml"/>
  <Override PartName="/ppt/slideMasters/slideMaster89.xml" ContentType="application/vnd.openxmlformats-officedocument.presentationml.slideMaster+xml"/>
  <Override PartName="/ppt/slides/slide89.xml" ContentType="application/vnd.openxmlformats-officedocument.presentationml.slide+xml"/>
  <Override PartName="/ppt/slideMasters/slideMaster90.xml" ContentType="application/vnd.openxmlformats-officedocument.presentationml.slideMaster+xml"/>
  <Override PartName="/ppt/slides/slide90.xml" ContentType="application/vnd.openxmlformats-officedocument.presentationml.slide+xml"/>
  <Override PartName="/ppt/slideMasters/slideMaster91.xml" ContentType="application/vnd.openxmlformats-officedocument.presentationml.slideMaster+xml"/>
  <Override PartName="/ppt/slides/slide91.xml" ContentType="application/vnd.openxmlformats-officedocument.presentationml.slide+xml"/>
  <Override PartName="/ppt/slideMasters/slideMaster92.xml" ContentType="application/vnd.openxmlformats-officedocument.presentationml.slideMaster+xml"/>
  <Override PartName="/ppt/slides/slide92.xml" ContentType="application/vnd.openxmlformats-officedocument.presentationml.slide+xml"/>
  <Override PartName="/ppt/slideMasters/slideMaster93.xml" ContentType="application/vnd.openxmlformats-officedocument.presentationml.slideMaster+xml"/>
  <Override PartName="/ppt/slides/slide93.xml" ContentType="application/vnd.openxmlformats-officedocument.presentationml.slide+xml"/>
  <Override PartName="/ppt/slideMasters/slideMaster94.xml" ContentType="application/vnd.openxmlformats-officedocument.presentationml.slideMaster+xml"/>
  <Override PartName="/ppt/slides/slide94.xml" ContentType="application/vnd.openxmlformats-officedocument.presentationml.slide+xml"/>
  <Override PartName="/ppt/slideMasters/slideMaster95.xml" ContentType="application/vnd.openxmlformats-officedocument.presentationml.slideMaster+xml"/>
  <Override PartName="/ppt/slides/slide95.xml" ContentType="application/vnd.openxmlformats-officedocument.presentationml.slide+xml"/>
  <Override PartName="/ppt/slideMasters/slideMaster96.xml" ContentType="application/vnd.openxmlformats-officedocument.presentationml.slideMaster+xml"/>
  <Override PartName="/ppt/slides/slide96.xml" ContentType="application/vnd.openxmlformats-officedocument.presentationml.slide+xml"/>
  <Override PartName="/ppt/slideMasters/slideMaster97.xml" ContentType="application/vnd.openxmlformats-officedocument.presentationml.slideMaster+xml"/>
  <Override PartName="/ppt/slides/slide97.xml" ContentType="application/vnd.openxmlformats-officedocument.presentationml.slide+xml"/>
  <Override PartName="/ppt/slideMasters/slideMaster98.xml" ContentType="application/vnd.openxmlformats-officedocument.presentationml.slideMaster+xml"/>
  <Override PartName="/ppt/slides/slide98.xml" ContentType="application/vnd.openxmlformats-officedocument.presentationml.slide+xml"/>
  <Override PartName="/ppt/slideMasters/slideMaster99.xml" ContentType="application/vnd.openxmlformats-officedocument.presentationml.slideMaster+xml"/>
  <Override PartName="/ppt/slides/slide99.xml" ContentType="application/vnd.openxmlformats-officedocument.presentationml.slide+xml"/>
  <Override PartName="/ppt/slideMasters/slideMaster100.xml" ContentType="application/vnd.openxmlformats-officedocument.presentationml.slideMaster+xml"/>
  <Override PartName="/ppt/slides/slide100.xml" ContentType="application/vnd.openxmlformats-officedocument.presentationml.slide+xml"/>
  <Override PartName="/ppt/slideMasters/slideMaster101.xml" ContentType="application/vnd.openxmlformats-officedocument.presentationml.slideMaster+xml"/>
  <Override PartName="/ppt/slides/slide101.xml" ContentType="application/vnd.openxmlformats-officedocument.presentationml.slide+xml"/>
  <Override PartName="/ppt/slideMasters/slideMaster102.xml" ContentType="application/vnd.openxmlformats-officedocument.presentationml.slideMaster+xml"/>
  <Override PartName="/ppt/slides/slide102.xml" ContentType="application/vnd.openxmlformats-officedocument.presentationml.slide+xml"/>
  <Override PartName="/ppt/slideMasters/slideMaster103.xml" ContentType="application/vnd.openxmlformats-officedocument.presentationml.slideMaster+xml"/>
  <Override PartName="/ppt/slides/slide103.xml" ContentType="application/vnd.openxmlformats-officedocument.presentationml.slide+xml"/>
  <Override PartName="/ppt/slideMasters/slideMaster104.xml" ContentType="application/vnd.openxmlformats-officedocument.presentationml.slideMaster+xml"/>
  <Override PartName="/ppt/slides/slide104.xml" ContentType="application/vnd.openxmlformats-officedocument.presentationml.slide+xml"/>
  <Override PartName="/ppt/slideMasters/slideMaster105.xml" ContentType="application/vnd.openxmlformats-officedocument.presentationml.slideMaster+xml"/>
  <Override PartName="/ppt/slides/slide105.xml" ContentType="application/vnd.openxmlformats-officedocument.presentationml.slide+xml"/>
  <Override PartName="/ppt/slideMasters/slideMaster106.xml" ContentType="application/vnd.openxmlformats-officedocument.presentationml.slideMaster+xml"/>
  <Override PartName="/ppt/slides/slide106.xml" ContentType="application/vnd.openxmlformats-officedocument.presentationml.slide+xml"/>
  <Override PartName="/ppt/slideMasters/slideMaster107.xml" ContentType="application/vnd.openxmlformats-officedocument.presentationml.slideMaster+xml"/>
  <Override PartName="/ppt/slides/slide107.xml" ContentType="application/vnd.openxmlformats-officedocument.presentationml.slide+xml"/>
  <Override PartName="/ppt/slideMasters/slideMaster108.xml" ContentType="application/vnd.openxmlformats-officedocument.presentationml.slideMaster+xml"/>
  <Override PartName="/ppt/slides/slide108.xml" ContentType="application/vnd.openxmlformats-officedocument.presentationml.slide+xml"/>
  <Override PartName="/ppt/slideMasters/slideMaster109.xml" ContentType="application/vnd.openxmlformats-officedocument.presentationml.slideMaster+xml"/>
  <Override PartName="/ppt/slides/slide109.xml" ContentType="application/vnd.openxmlformats-officedocument.presentationml.slide+xml"/>
  <Override PartName="/ppt/slideMasters/slideMaster110.xml" ContentType="application/vnd.openxmlformats-officedocument.presentationml.slideMaster+xml"/>
  <Override PartName="/ppt/slides/slide110.xml" ContentType="application/vnd.openxmlformats-officedocument.presentationml.slide+xml"/>
  <Override PartName="/ppt/slideMasters/slideMaster111.xml" ContentType="application/vnd.openxmlformats-officedocument.presentationml.slideMaster+xml"/>
  <Override PartName="/ppt/slides/slide111.xml" ContentType="application/vnd.openxmlformats-officedocument.presentationml.slide+xml"/>
  <Override PartName="/ppt/slideMasters/slideMaster112.xml" ContentType="application/vnd.openxmlformats-officedocument.presentationml.slideMaster+xml"/>
  <Override PartName="/ppt/slides/slide112.xml" ContentType="application/vnd.openxmlformats-officedocument.presentationml.slide+xml"/>
  <Override PartName="/ppt/slideMasters/slideMaster113.xml" ContentType="application/vnd.openxmlformats-officedocument.presentationml.slideMaster+xml"/>
  <Override PartName="/ppt/slides/slide113.xml" ContentType="application/vnd.openxmlformats-officedocument.presentationml.slide+xml"/>
  <Override PartName="/ppt/slideMasters/slideMaster114.xml" ContentType="application/vnd.openxmlformats-officedocument.presentationml.slideMaster+xml"/>
  <Override PartName="/ppt/slides/slide114.xml" ContentType="application/vnd.openxmlformats-officedocument.presentationml.slide+xml"/>
  <Override PartName="/ppt/slideMasters/slideMaster115.xml" ContentType="application/vnd.openxmlformats-officedocument.presentationml.slideMaster+xml"/>
  <Override PartName="/ppt/slides/slide115.xml" ContentType="application/vnd.openxmlformats-officedocument.presentationml.slide+xml"/>
  <Override PartName="/ppt/slideMasters/slideMaster116.xml" ContentType="application/vnd.openxmlformats-officedocument.presentationml.slideMaster+xml"/>
  <Override PartName="/ppt/slides/slide116.xml" ContentType="application/vnd.openxmlformats-officedocument.presentationml.slide+xml"/>
  <Override PartName="/ppt/slideMasters/slideMaster117.xml" ContentType="application/vnd.openxmlformats-officedocument.presentationml.slideMaster+xml"/>
  <Override PartName="/ppt/slides/slide117.xml" ContentType="application/vnd.openxmlformats-officedocument.presentationml.slide+xml"/>
  <Override PartName="/ppt/slideMasters/slideMaster118.xml" ContentType="application/vnd.openxmlformats-officedocument.presentationml.slideMaster+xml"/>
  <Override PartName="/ppt/slides/slide118.xml" ContentType="application/vnd.openxmlformats-officedocument.presentationml.slide+xml"/>
  <Override PartName="/ppt/slideMasters/slideMaster119.xml" ContentType="application/vnd.openxmlformats-officedocument.presentationml.slideMaster+xml"/>
  <Override PartName="/ppt/slides/slide119.xml" ContentType="application/vnd.openxmlformats-officedocument.presentationml.slide+xml"/>
  <Override PartName="/ppt/slideMasters/slideMaster120.xml" ContentType="application/vnd.openxmlformats-officedocument.presentationml.slideMaster+xml"/>
  <Override PartName="/ppt/slides/slide120.xml" ContentType="application/vnd.openxmlformats-officedocument.presentationml.slide+xml"/>
  <Override PartName="/ppt/slideMasters/slideMaster121.xml" ContentType="application/vnd.openxmlformats-officedocument.presentationml.slideMaster+xml"/>
  <Override PartName="/ppt/slides/slide121.xml" ContentType="application/vnd.openxmlformats-officedocument.presentationml.slide+xml"/>
  <Override PartName="/ppt/slideMasters/slideMaster122.xml" ContentType="application/vnd.openxmlformats-officedocument.presentationml.slideMaster+xml"/>
  <Override PartName="/ppt/slides/slide122.xml" ContentType="application/vnd.openxmlformats-officedocument.presentationml.slide+xml"/>
  <Override PartName="/ppt/slideMasters/slideMaster123.xml" ContentType="application/vnd.openxmlformats-officedocument.presentationml.slideMaster+xml"/>
  <Override PartName="/ppt/slides/slide123.xml" ContentType="application/vnd.openxmlformats-officedocument.presentationml.slide+xml"/>
  <Override PartName="/ppt/slideMasters/slideMaster124.xml" ContentType="application/vnd.openxmlformats-officedocument.presentationml.slideMaster+xml"/>
  <Override PartName="/ppt/slides/slide124.xml" ContentType="application/vnd.openxmlformats-officedocument.presentationml.slide+xml"/>
  <Override PartName="/ppt/slideMasters/slideMaster125.xml" ContentType="application/vnd.openxmlformats-officedocument.presentationml.slideMaster+xml"/>
  <Override PartName="/ppt/slides/slide125.xml" ContentType="application/vnd.openxmlformats-officedocument.presentationml.slide+xml"/>
  <Override PartName="/ppt/slideMasters/slideMaster126.xml" ContentType="application/vnd.openxmlformats-officedocument.presentationml.slideMaster+xml"/>
  <Override PartName="/ppt/slides/slide126.xml" ContentType="application/vnd.openxmlformats-officedocument.presentationml.slide+xml"/>
  <Override PartName="/ppt/slideMasters/slideMaster127.xml" ContentType="application/vnd.openxmlformats-officedocument.presentationml.slideMaster+xml"/>
  <Override PartName="/ppt/slides/slide127.xml" ContentType="application/vnd.openxmlformats-officedocument.presentationml.slide+xml"/>
  <Override PartName="/ppt/slideMasters/slideMaster128.xml" ContentType="application/vnd.openxmlformats-officedocument.presentationml.slideMaster+xml"/>
  <Override PartName="/ppt/slides/slide128.xml" ContentType="application/vnd.openxmlformats-officedocument.presentationml.slide+xml"/>
  <Override PartName="/ppt/slideMasters/slideMaster129.xml" ContentType="application/vnd.openxmlformats-officedocument.presentationml.slideMaster+xml"/>
  <Override PartName="/ppt/slides/slide129.xml" ContentType="application/vnd.openxmlformats-officedocument.presentationml.slide+xml"/>
  <Override PartName="/ppt/slideMasters/slideMaster130.xml" ContentType="application/vnd.openxmlformats-officedocument.presentationml.slideMaster+xml"/>
  <Override PartName="/ppt/slides/slide130.xml" ContentType="application/vnd.openxmlformats-officedocument.presentationml.slide+xml"/>
  <Override PartName="/ppt/slideMasters/slideMaster131.xml" ContentType="application/vnd.openxmlformats-officedocument.presentationml.slideMaster+xml"/>
  <Override PartName="/ppt/slides/slide131.xml" ContentType="application/vnd.openxmlformats-officedocument.presentationml.slide+xml"/>
  <Override PartName="/ppt/slideMasters/slideMaster132.xml" ContentType="application/vnd.openxmlformats-officedocument.presentationml.slideMaster+xml"/>
  <Override PartName="/ppt/slides/slide132.xml" ContentType="application/vnd.openxmlformats-officedocument.presentationml.slide+xml"/>
  <Override PartName="/ppt/slideMasters/slideMaster133.xml" ContentType="application/vnd.openxmlformats-officedocument.presentationml.slideMaster+xml"/>
  <Override PartName="/ppt/slides/slide133.xml" ContentType="application/vnd.openxmlformats-officedocument.presentationml.slide+xml"/>
  <Override PartName="/ppt/slideMasters/slideMaster134.xml" ContentType="application/vnd.openxmlformats-officedocument.presentationml.slideMaster+xml"/>
  <Override PartName="/ppt/slides/slide134.xml" ContentType="application/vnd.openxmlformats-officedocument.presentationml.slide+xml"/>
  <Override PartName="/ppt/slideMasters/slideMaster135.xml" ContentType="application/vnd.openxmlformats-officedocument.presentationml.slideMaster+xml"/>
  <Override PartName="/ppt/slides/slide135.xml" ContentType="application/vnd.openxmlformats-officedocument.presentationml.slide+xml"/>
  <Override PartName="/ppt/slideMasters/slideMaster136.xml" ContentType="application/vnd.openxmlformats-officedocument.presentationml.slideMaster+xml"/>
  <Override PartName="/ppt/slides/slide136.xml" ContentType="application/vnd.openxmlformats-officedocument.presentationml.slide+xml"/>
  <Override PartName="/ppt/slideMasters/slideMaster137.xml" ContentType="application/vnd.openxmlformats-officedocument.presentationml.slideMaster+xml"/>
  <Override PartName="/ppt/slides/slide137.xml" ContentType="application/vnd.openxmlformats-officedocument.presentationml.slide+xml"/>
  <Override PartName="/ppt/slideMasters/slideMaster138.xml" ContentType="application/vnd.openxmlformats-officedocument.presentationml.slideMaster+xml"/>
  <Override PartName="/ppt/slides/slide138.xml" ContentType="application/vnd.openxmlformats-officedocument.presentationml.slide+xml"/>
  <Override PartName="/ppt/slideMasters/slideMaster139.xml" ContentType="application/vnd.openxmlformats-officedocument.presentationml.slideMaster+xml"/>
  <Override PartName="/ppt/slides/slide139.xml" ContentType="application/vnd.openxmlformats-officedocument.presentationml.slide+xml"/>
  <Override PartName="/ppt/slideMasters/slideMaster140.xml" ContentType="application/vnd.openxmlformats-officedocument.presentationml.slideMaster+xml"/>
  <Override PartName="/ppt/slides/slide140.xml" ContentType="application/vnd.openxmlformats-officedocument.presentationml.slide+xml"/>
  <Override PartName="/ppt/slideMasters/slideMaster141.xml" ContentType="application/vnd.openxmlformats-officedocument.presentationml.slideMaster+xml"/>
  <Override PartName="/ppt/slides/slide141.xml" ContentType="application/vnd.openxmlformats-officedocument.presentationml.slide+xml"/>
  <Override PartName="/ppt/slideMasters/slideMaster142.xml" ContentType="application/vnd.openxmlformats-officedocument.presentationml.slideMaster+xml"/>
  <Override PartName="/ppt/slides/slide142.xml" ContentType="application/vnd.openxmlformats-officedocument.presentationml.slide+xml"/>
  <Override PartName="/ppt/slideMasters/slideMaster143.xml" ContentType="application/vnd.openxmlformats-officedocument.presentationml.slideMaster+xml"/>
  <Override PartName="/ppt/slides/slide14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Lst>
  <p:notesMasterIdLst>
    <p:notesMasterId r:id="rId14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notesMaster" Target="notesMasters/notesMaster1.xml"/><Relationship Id="rId146" Type="http://schemas.openxmlformats.org/officeDocument/2006/relationships/presProps" Target="presProps.xml"/><Relationship Id="rId147" Type="http://schemas.openxmlformats.org/officeDocument/2006/relationships/viewProps" Target="viewProps.xml"/><Relationship Id="rId148" Type="http://schemas.openxmlformats.org/officeDocument/2006/relationships/theme" Target="theme/theme1.xml"/><Relationship Id="rId14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_rels/notesSlide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xml"/>
		</Relationships>
</file>

<file path=ppt/notesSlides/_rels/notesSlide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3.xml"/>
		</Relationships>
</file>

<file path=ppt/notesSlides/_rels/notesSlide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4.xml"/>
		</Relationships>
</file>

<file path=ppt/notesSlides/_rels/notesSlide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5.xml"/>
		</Relationships>
</file>

<file path=ppt/notesSlides/_rels/notesSlide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6.xml"/>
		</Relationships>
</file>

<file path=ppt/notesSlides/_rels/notesSlide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7.xml"/>
		</Relationships>
</file>

<file path=ppt/notesSlides/_rels/notesSlide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8.xml"/>
		</Relationships>
</file>

<file path=ppt/notesSlides/_rels/notesSlide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9.xml"/>
		</Relationships>
</file>

<file path=ppt/notesSlides/_rels/notesSlide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0.xml"/>
		</Relationships>
</file>

<file path=ppt/notesSlides/_rels/notesSlide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1.xml"/>
		</Relationships>
</file>

<file path=ppt/notesSlides/_rels/notesSlide9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2.xml"/>
		</Relationships>
</file>

<file path=ppt/notesSlides/_rels/notesSlide9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3.xml"/>
		</Relationships>
</file>

<file path=ppt/notesSlides/_rels/notesSlide9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4.xml"/>
		</Relationships>
</file>

<file path=ppt/notesSlides/_rels/notesSlide9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5.xml"/>
		</Relationships>
</file>

<file path=ppt/notesSlides/_rels/notesSlide9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6.xml"/>
		</Relationships>
</file>

<file path=ppt/notesSlides/_rels/notesSlide9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7.xml"/>
		</Relationships>
</file>

<file path=ppt/notesSlides/_rels/notesSlide9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8.xml"/>
		</Relationships>
</file>

<file path=ppt/notesSlides/_rels/notesSlide9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9.xml"/>
		</Relationships>
</file>

<file path=ppt/notesSlides/_rels/notesSlide10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0.xml"/>
		</Relationships>
</file>

<file path=ppt/notesSlides/_rels/notesSlide10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1.xml"/>
		</Relationships>
</file>

<file path=ppt/notesSlides/_rels/notesSlide10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2.xml"/>
		</Relationships>
</file>

<file path=ppt/notesSlides/_rels/notesSlide10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3.xml"/>
		</Relationships>
</file>

<file path=ppt/notesSlides/_rels/notesSlide10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4.xml"/>
		</Relationships>
</file>

<file path=ppt/notesSlides/_rels/notesSlide10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5.xml"/>
		</Relationships>
</file>

<file path=ppt/notesSlides/_rels/notesSlide10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6.xml"/>
		</Relationships>
</file>

<file path=ppt/notesSlides/_rels/notesSlide10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7.xml"/>
		</Relationships>
</file>

<file path=ppt/notesSlides/_rels/notesSlide10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8.xml"/>
		</Relationships>
</file>

<file path=ppt/notesSlides/_rels/notesSlide10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9.xml"/>
		</Relationships>
</file>

<file path=ppt/notesSlides/_rels/notesSlide1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0.xml"/>
		</Relationships>
</file>

<file path=ppt/notesSlides/_rels/notesSlide1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1.xml"/>
		</Relationships>
</file>

<file path=ppt/notesSlides/_rels/notesSlide1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2.xml"/>
		</Relationships>
</file>

<file path=ppt/notesSlides/_rels/notesSlide1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3.xml"/>
		</Relationships>
</file>

<file path=ppt/notesSlides/_rels/notesSlide1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4.xml"/>
		</Relationships>
</file>

<file path=ppt/notesSlides/_rels/notesSlide1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5.xml"/>
		</Relationships>
</file>

<file path=ppt/notesSlides/_rels/notesSlide1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6.xml"/>
		</Relationships>
</file>

<file path=ppt/notesSlides/_rels/notesSlide1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7.xml"/>
		</Relationships>
</file>

<file path=ppt/notesSlides/_rels/notesSlide1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8.xml"/>
		</Relationships>
</file>

<file path=ppt/notesSlides/_rels/notesSlide1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9.xml"/>
		</Relationships>
</file>

<file path=ppt/notesSlides/_rels/notesSlide1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0.xml"/>
		</Relationships>
</file>

<file path=ppt/notesSlides/_rels/notesSlide1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1.xml"/>
		</Relationships>
</file>

<file path=ppt/notesSlides/_rels/notesSlide1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2.xml"/>
		</Relationships>
</file>

<file path=ppt/notesSlides/_rels/notesSlide1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3.xml"/>
		</Relationships>
</file>

<file path=ppt/notesSlides/_rels/notesSlide1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4.xml"/>
		</Relationships>
</file>

<file path=ppt/notesSlides/_rels/notesSlide1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5.xml"/>
		</Relationships>
</file>

<file path=ppt/notesSlides/_rels/notesSlide1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6.xml"/>
		</Relationships>
</file>

<file path=ppt/notesSlides/_rels/notesSlide1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7.xml"/>
		</Relationships>
</file>

<file path=ppt/notesSlides/_rels/notesSlide1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8.xml"/>
		</Relationships>
</file>

<file path=ppt/notesSlides/_rels/notesSlide1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9.xml"/>
		</Relationships>
</file>

<file path=ppt/notesSlides/_rels/notesSlide1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0.xml"/>
		</Relationships>
</file>

<file path=ppt/notesSlides/_rels/notesSlide1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1.xml"/>
		</Relationships>
</file>

<file path=ppt/notesSlides/_rels/notesSlide1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2.xml"/>
		</Relationships>
</file>

<file path=ppt/notesSlides/_rels/notesSlide1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3.xml"/>
		</Relationships>
</file>

<file path=ppt/notesSlides/_rels/notesSlide1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4.xml"/>
		</Relationships>
</file>

<file path=ppt/notesSlides/_rels/notesSlide1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5.xml"/>
		</Relationships>
</file>

<file path=ppt/notesSlides/_rels/notesSlide1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6.xml"/>
		</Relationships>
</file>

<file path=ppt/notesSlides/_rels/notesSlide1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7.xml"/>
		</Relationships>
</file>

<file path=ppt/notesSlides/_rels/notesSlide1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8.xml"/>
		</Relationships>
</file>

<file path=ppt/notesSlides/_rels/notesSlide1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9.xml"/>
		</Relationships>
</file>

<file path=ppt/notesSlides/_rels/notesSlide1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0.xml"/>
		</Relationships>
</file>

<file path=ppt/notesSlides/_rels/notesSlide1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1.xml"/>
		</Relationships>
</file>

<file path=ppt/notesSlides/_rels/notesSlide1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2.xml"/>
		</Relationships>
</file>

<file path=ppt/notesSlides/_rels/notesSlide1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Otobüs ani fren yapınca neden öne savrulursun? Roket, itecek hiçbir şeyin olmadığı boşlukta nasıl hızlanır? Asansörde tartı neden bazen fazla, bazen az yazar? Üç sorunun da cevabı aynı üç yasada. Newton'un yaptığı şey, "kuvvet" gibi bulanık bir sezgiyi ölçülebilir bir büyüklüğe çevirmekti: artık kuvveti biliyorsan hareketi hesaplayabilir, hareketi görüyorsan kuvveti geri okuyabilirsin. Bu anlatım dört basamakta ilerliyor: önce otobüsteki savrulmayı gözleyip kuvvet, net kuvvet ve eylemsizlik kavramlarını kuracağız; sonra ΣF = m·a'yı, etki–tepkiyi, serbest cisim diyagramını, sürtünmeyi ve asansörü bağıntılarıyla çözeceğiz; ardından bağlı cisimlere, yasaların sınırlarına ve roketlere geçeceğiz. En sonda kolaydan zora sıralanmış örneklerle hepsini birlikte kullanacağız.
Kapak görseli: Bir itiş, iki kuvvet. Yetişkin ile çocuk avuç avuca itişti: ikisi de öbürüne aynı büyüklükte, zıt yönlü bir kuvvet uyguladı (3. yasa), bu yüzden ikisi de geriye, zıt yönlere kayıyor. Kuvvetler eşittir ama kütleler değil: hafif çocuk büyük bir ivme kazanıp hızla uzaklaşır, ağır yetişkinin hızı çok daha az değişir. Buzun sürtünmesi küçük olduğu için itiş bittikten sonra da ikisi uzun süre kaymayı sürdürür (1. yasa).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Açılış sorusu — sınıfa sorup birkaç cevap alın, sonra konuya geçin.
Otobüs ani fren yapınca neden öne savrulursun? Roket, itecek hiçbir şeyin olmadığı boşlukta nasıl hızlanır? Asansörde tartı neden bazen fazla, bazen az yazar? Üç sorunun da cevabı aynı üç yasada. Newton'un yaptığı şey, "kuvvet" gibi bulanık bir sezgiyi ölçülebilir bir büyüklüğe çevirmekti: artık kuvveti biliyorsan hareketi hesaplayabilir, hareketi görüyorsan kuvveti geri okuyabilirsin. Bu anlatım dört basamakta ilerliyor: önce otobüsteki savrulmayı gözleyip kuvvet, net kuvvet ve eylemsizlik kavramlarını kuracağız; sonra ΣF = m·a'yı, etki–tepkiyi, serbest cisim diyagramını, sürtünmeyi ve asansörü bağıntılarıyla çözeceğiz; ardından bağlı cisimlere, yasaların sınırlarına ve roketlere geçeceğiz. En sonda kolaydan zora sıralanmış örneklerle hepsini birlikte kullanacağız.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 derste:
1. Temel — Önce sezgi: günlük bir savrulmayı gözle, kuvvete ve net kuvvete ad koy, eylemsizliği ve kütle ile ağırlığın farkını kavra. Bu basamakta hesap yok denecek kadar az.
   01 Önce gözlemle: otobüs ani fren yapınca ne olur?
   02 Kuvvet ve net kuvvet
   03 1. yasa: eylemsizlik
   04 Kütle ve ağırlık: aynı şey değil
2. Orta — Bağıntılar: ΣF = m·a'yı, etki–tepkiyi, serbest cisim diyagramını, sürtünmeyi ve asansörü adım adım çöz.
   05 2. yasa: ΣF = m·a
   06 Sayılarla hisset: ne kadar kuvvet, ne kadar ivme?
   07 3. yasa: etki–tepki
   08 Serbest cisim diyagramı
   09 Sürtünme kuvveti
   10 Ağırlık, normal kuvvet ve asansör
3. İleri — Derinleşme: birlikte hareket eden cisimler, yasaların geçerli olduğu sınırlar ve Newton yasalarının gerçek hayattaki yüzü.
   11 Birlikte hareket eden cisimler: sistem ve iç kuvvetler
   12 Yasaların sınırları: kime göre, ne kadar hızlı?
   13 Newton yasaları gerçek dünyada
4. Pekiştir — Kolaydan zora çözümlü örnekler ve sınavda puan kaybettiren klasik hatalar.
   14 Çözümlü örnekler
   15 Sık yapılan hatalar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Önce hatırlayalım:
• Hız: bir cismin bir saniyede aldığı yol. Metre/saniye (m/s) ile ölçülür; 10 m/s, “her saniye 10 metre” demektir.
• İvme: hızın her saniye ne kadar değiştiği; birimi m/s². 2 m/s² ile hızlanan bir araba her saniye 2 m/s daha hızlı gider. Serbest düşen bir cismin ivmesi g ≈ 10 m/s²'dir.
• Vektör: hem büyüklüğü hem yönü olan bir nicelik; ok ile çizilir. Aynı yönlü iki ok toplanır, zıt yönlü iki ok birbirinden çıkarılır.
Her maddeyi sınıfa sorarak hatırlatın.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Önce hatırlayalım:
• Doğru ve ters orantı: doğru orantıda biri 2 katına çıkınca öbürü de 2 katına çıkar; ters orantıda biri 2 katına çıkınca öbürü yarıya iner.
• Dik üçgen, sinüs ve kosinüs: kenarları 3, 4, 5 olan dik üçgende 3² + 4² = 5² olur; bu üçgende sin37° = 3/5 = 0,6 ve cos37° = 4/5 = 0,8.
Her maddeyi sınıfa sorarak hatırlatın.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Basamak 1 — Temel: Önce sezgi: günlük bir savrulmayı gözle, kuvvete ve net kuvvete ad koy, eylemsizliği ve kütle ile ağırlığın farkını kavra. Bu basamakta hesap yok denecek kadar az.
01 Önce gözlemle: otobüs ani fren yapınca ne olur?
02 Kuvvet ve net kuvvet
03 1. yasa: eylemsizlik
04 Kütle ve ağırlık: aynı şey değil
Görsel: Otobüs yavaşlıyor ama yolcular, kahve ve poşet eski hızlarıyla gitmeye devam ediyor. Onları öne iten bir kuvvet yok; yavaşlayan otobüstür. Yolcuları otobüsle birlikte yavaşlatan, ayaklarındaki sürtünme ile tutundukları direklerin ve tutamakların onları geriye çeken kuvvetidir.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Önce gözlemle: otobüs ani fren yapınca ne olur? — adım 1/4
• Ayakta durduğun bir otobüs aniden fren yapıyor.
• Tutunduğun kol gerilir, gövden öne doğru savrulur; koltuktaki poşet öne kayar, bardaktaki kahve öne doğru çalkalanıp taşar.
• Bu sahnede tuhaf bir şey var: seni öne doğru iten hiçbir şey yok.
• Ne bir el, ne bir ip, ne de bir rüzgâr.
• Peki neden öne gidiyorsun?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Önce gözlemle: otobüs ani fren yapınca ne olur? — adım 2/4
• Cevap şaşırtıcı derecede basittir: seni öne atan bir şey yok, otobüs senin altında yavaşlıyor.
• Sen ise eski hızınla gitmeye devam etmek istiyorsun.
• Otobüsün tabanı ayaklarını sürtünmeyle yavaşlatır, ama gövdeni yavaşlatacak böyle bir etki yoktur; bu yüzden gövden öne eğilir.
• Otobüsteki her ayrıntı aynı eğilimle açıklanır: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Önce gözlemle: otobüs ani fren yapınca ne olur? — adım 3/4
• Yolcular öne savrulur: ayakları zeminle birlikte yavaşlar, gövdeleri eski hızla ilerlemeyi sürdürür.
• Kahve öne sıçrar: bardak otobüsle birlikte yavaşlar, içindeki sıvı ise ilerlemeyi sürdürüp taşar.
• Poşet öne kayar: koltuğun sürtünmesi onu otobüsle birlikte yavaşlatmaya yetmez.
• Kalkışta tersi olur: otobüs hızlanınca yolcular arkaya yaslanır, kahve arkaya doğru çalkalanır.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Önce gözlemle: otobüs ani fren yapınca ne olur? — adım 4/4
• Hepsinin ortak noktası şu: cisimler hareket durumlarını korumak ister.
• Hareketi değiştiren şey bir itme ya da çekmedir; değişim yoksa hiçbir kuvvete de gerek yoktur.
• Newton'un üç yasası bu gözlemi sayılara döker.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Kısaca: Ani frende öne savrulmanın sebebi seni iten bir kuvvet değil, eski hızınla gitmeyi sürdürme eğilimindir. Hareketi değiştirmek için kuvvet gerekir, sürdürmek için gerekmez.
Sınıfa bu cümleyi kendi sözleriyle tekrar ettirin.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Düşün: Otobüs sağa dönerken neden sola doğru savrulursun?
Sınıfa sorun, birkaç tahmin alın; sonra cevap slaytına geçin.
Cevap: Aslında sola itilmiyorsun: gövden dümdüz gitmeyi sürdürmek ister. Otobüs sağa döndüğü için zemin ve koltuk sağa kayar; sen ona göre sola kalmış gibi görünürsün. Seni otobüsle birlikte döndüren şey, tutunduğun direğin sana sağa doğru uyguladığı kuvvettir.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Aslında sola itilmiyorsun: gövden dümdüz gitmeyi sürdürmek ister. Otobüs sağa döndüğü için zemin ve koltuk sağa kayar; sen ona göre sola kalmış gibi görünürsün. Seni otobüsle birlikte döndüren şey, tutunduğun direğin sana sağa doğru uyguladığı kuvvettir.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Kuvvet ve net kuvvet — adım 1/5
• Kuvvet, bir cismin hareket durumunu ya da şeklini değiştiren etkidir.
• Vektörel bir büyüklüktür: büyüklüğü, doğrultusu ve yönü vardır.
• Birimi newton (N)'dur ve 1 N = 1 kg·m/s² demektir.
• Bir fikir versin: elinde tuttuğun 100 gramlık bir elmanın ağırlığı yaklaşık 1 N'dur.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Kuvvet ve net kuvvet — adım 2/5
• Bir cisme aynı anda birçok kuvvet etki edebilir.
• Hareketi belirleyen tek tek kuvvetler değil, hepsinin vektörel toplamı olan net kuvvettir (bileşke kuvvet, ΣF).
ΣF = F₁ + F₂ + F₃ + …   aynı yönde: ΣF = F₁ + F₂   zıt yönde: ΣF = F₁ − F₂   dik ise: ΣF = √(F₁² + F₂²)</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Kuvvet ve net kuvvet — adım 3/5
• Halat çekme yarışını düşün.
• İki takım da halatı yüzlerce newtonla çekiyor, ama kuvvetler eşitse halat kıpırdamaz: net kuvvet sıfırdır.
• Takımlardan biri biraz daha güçlü çektiği anda halat o yöne doğru hızlanmaya başlar.
• Birbirine dik iki kuvvet ise Pisagor ile toplanır: 3 N ile 4 N'luk dik kuvvetlerin toplamı 7 N değil, 5 N'dur.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Kuvvet ve net kuvvet — adım 4/5
• Net kuvvet sıfırsa kuvvetler dengelenmiştir; cisim ya durgundur ya da sabit hızla doğrusal hareket eder.
• İkisi de denge hâlidir: fizik açısından aralarında hiçbir fark yoktur.
Üç yasa tek cümlede: Net kuvvet yoksa hareket değişmez (1. yasa), net kuvvet varsa ne kadar değişeceğini ΣF = m·a söyler (2. yasa), ve kuvvetler daima çiftler hâlinde ortaya çıkar (3. yasa).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Kuvvet ve net kuvvet — şekil
Kuvvet bir vektördür; bu yüzden kuvvetler sayı gibi değil, ok gibi toplanır. Cismin ne yapacağını tek tek kuvvetler değil, yeşil okla gösterilen net kuvvet belirler. Net kuvvet sıfırsa cisim ya durur ya da sabit hızla gider — ikisi de denge hâlidir.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Kısaca: Kuvvet, hareketi ya da şekli değiştiren vektörel bir etkidir ve newtonla ölçülür. Hareketi tek tek kuvvetler değil, onların vektörel toplamı olan net kuvvet belirler.
Sınıfa bu cümleyi kendi sözleriyle tekrar ettirin.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yasa: eylemsizlik — adım 1/6
• Bir cisme etki eden net kuvvet sıfırsa, duran cisim durmaya devam eder; hareketli cisim sabit hızla doğrusal hareketine devam eder.
• Cisimlerin hareket durumundaki değişime gösterdiği bu dirence eylemsizlik (atalet) denir.
• Eylemsizliğin ölçüsü kütledir: kütle büyüdükçe cismin hızını değiştirmek zorlaşır.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yasa: eylemsizlik — adım 2/6
• Bu yasa bugün sade görünür, ama yaklaşık iki bin yıl boyunca tersine inanıldı.
• Aristoteles'e göre hareket eden bir cisim, onu itmeye devam eden bir şey olmadıkça dururdu; gözlem de bunu doğruluyor gibiydi, çünkü itmeyi bıraktığın araba durur.
• Galileo 1600'lerde bir düşünce deneyi önerdi: bir rampadan bırakılan bilye karşıdaki rampaya neredeyse aynı yüksekliğe tırmanır.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yasa: eylemsizlik — adım 3/6
• İkinci rampayı yatıklaştırdıkça bilye aynı yüksekliğe ulaşmak için daha uzağa gider.
• Rampa tamamen yatay olsaydı?
• Bilye hiç durmadan gitmeliydi.
• Onu durduran şey hareketin doğası değil, sürtünmedir.
• Newton bu fikri 1687'de yasalarının ilki yaptı.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yasa: eylemsizlik — adım 4/6
• Ani frende öne savrulmak: otobüs yavaşlar, sen eski hızınla gitmeye devam edersin.
• Kalkışta arkaya yaslanmak: araç hızlanır, sen durgunluğunu korumaya çalışırsın.
• Masa örtüsünü hızlı çekmek: tabaklara yeterince kuvvet aktarılmaz, yerlerinde kalırlar.
• Emniyet kemeri tam olarak bu yüzden vardır.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yasa: eylemsizlik — adım 5/6
• Sayfadaki 02 numaralı deney bu yasanın deneysel yüzüdür: diski durduran şey hareketin doğası değil, sürtünmedir.
• Sürtünme sıfıra giderse durma mesafesi sonsuza gider.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yasa: eylemsizlik — şekil
Diskleri durduran şey hareketin doğası değil, sürtünmedir. μ küçüldükçe durma mesafesi d = v²/(2μg) ile uzar; sürtünme sıfıra giderse mesafe sonsuza gider ve disk sonsuza kadar aynı hızla ilerler. 1. yasanın söylediği tam olarak budur: hareketi sürdürmek için kuvvet gerekmez, değiştirmek için gerekir.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Kısaca: Net kuvvet sıfırsa duran cisim durur, hareketli cisim sabit hızla doğrusal gider. Cisimleri durduran hareketin doğası değil, sürtünme gibi dış kuvvetlerdir.
Sınıfa bu cümleyi kendi sözleriyle tekrar ettirin.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Düşün: Uzay boşluğunda fırlatılan ve üzerine hiçbir kuvvet etki etmeyen bir top ne zaman durur?
Sınıfa sorun, birkaç tahmin alın; sonra cevap slaytına geçin.
Cevap: Hiçbir zaman. Topu yavaşlatacak ne sürtünme ne de hava direnci vardır; top aynı hızla, aynı doğrultuda gitmeyi sürdürür. Gerçek uzayda gökcisimlerinin çekimi yolunu yavaş yavaş değiştirir, ama hareketini sürdürmek için hiçbir motora gerek yoktur.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Hiçbir zaman. Topu yavaşlatacak ne sürtünme ne de hava direnci vardır; top aynı hızla, aynı doğrultuda gitmeyi sürdürür. Gerçek uzayda gökcisimlerinin çekimi yolunu yavaş yavaş değiştirir, ama hareketini sürdürmek için hiçbir motora gerek yoktur.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Kütle ve ağırlık: aynı şey değil — adım 1/6
• Günlük dilde “kilom 60” deriz ve kütle ile ağırlığı aynı şey sanırız.
• Fizikte ikisi farklı büyüklüklerdir.
• Kütle, cismin eylemsizliğinin ölçüsüdür: hızını değiştirmenin ne kadar zor olduğunu söyler.
• Skalerdir, kilogramla ölçülür ve nereye gidersen git değişmez.
• Ağırlık ise cismin bulunduğu gökcisminin onu çektiği kuvvettir: G = m·g.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Kütle ve ağırlık: aynı şey değil — adım 2/6
• Vektördür, newtonla ölçülür, daima aşağı yönlüdür ve bulunduğun yerin g değerine bağlıdır.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Kütle ve ağırlık: aynı şey değil — adım 3/6
• 60 kg kütleli bir öğrenci farklı gökcisimlerinde şu ağırlıklara sahip olur:
Nerede | g | Kütle | Ağırlık
Dünya | 9,81 m/s² | 60 kg | ≈ 589 N
Ay | 1,62 m/s² | 60 kg | ≈ 97 N
Mars | 3,72 m/s² | 60 kg | ≈ 223 N
Jüpiter | 24,79 m/s² | 60 kg | ≈ 1487 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Kütle ve ağırlık: aynı şey değil — adım 4/6
• Tablonun kütle sütunu hiç değişmiyor, ağırlık sütunu ise on beş kattan fazla oynuyor.
• İlginç bir sonuç: uzay istasyonunda her şey süzülür, ama ağır bir dolabı itmek yine zordur.
• Dolap orada ağırlıksız görünse de kütlesi, yani eylemsizliği aynen durur; onu hızlandırmak da durdurmak da, Dünya'da sürtünmesiz bir zeminde olacağı kadar kuvvet ister.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Kütle ve ağırlık: aynı şey değil — adım 5/6
Kütle ile ağırlığı karıştırma. Kütle skalerdir, kilogramla ölçülür ve gittiğin yere göre değişmez. Ağırlık bir kuvvettir (G = m·g), newtonla ölçülür ve g'ye bağlıdır: Ay'da kütlen aynı, ağırlığın altıda birdir.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Kütle ve ağırlık: aynı şey değil — şekil
İstasyonda her şey süzülür, ama büyük yük kutusunun kütlesi, yani eylemsizliği yerindedir. Astronot onu harekete geçirmek için ayaklarını tutamağa takıp güçlü itmek zorundadır ve kutu yine de yavaş hızlanır; yanında süzülen küçük poşeti ise hafif bir fiske bile hızla uzaklaştırır.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Kısaca: Kütle eylemsizliğin ölçüsüdür, kilogramla ölçülür ve her yerde aynıdır. Ağırlık G = m·g kuvvetidir, newtonla ölçülür ve bulunulan yerin g değerine bağlıdır.
Sınıfa bu cümleyi kendi sözleriyle tekrar ettirin.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Düşün: Uzay istasyonunda süzülen 100 kg'lık bir dolabı itmek, 1 kg'lık bir kutuyu itmek kadar kolay mıdır?
Sınıfa sorun, birkaç tahmin alın; sonra cevap slaytına geçin.
Cevap: Hayır. İkisi de ağırlıksız görünür, ama kütleleri aynen durur. Aynı kuvvetle itersen dolap kutudan 100 kat daha az hızlanır; hareket eden dolabı durdurmak da o kadar zordur.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Hayır. İkisi de ağırlıksız görünür, ama kütleleri aynen durur. Aynı kuvvetle itersen dolap kutudan 100 kat daha az hızlanır; hareket eden dolabı durdurmak da o kadar zordur.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Basamak 2 — Orta: Bağıntılar: ΣF = m·a'yı, etki–tepkiyi, serbest cisim diyagramını, sürtünmeyi ve asansörü adım adım çöz.
05 2. yasa: ΣF = m·a
06 Sayılarla hisset: ne kadar kuvvet, ne kadar ivme?
07 3. yasa: etki–tepki
08 Serbest cisim diyagramı
09 Sürtünme kuvveti
10 Ağırlık, normal kuvvet ve asansör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yasa: ΣF = m·a — adım 1/8
• Net kuvvet sıfır değilse cisim ivmelenir.
• İvme, net kuvvetle doğru, kütleyle ters orantılıdır ve yönü daima net kuvvetin yönündedir.
ΣF = m · a   a = ΣF / m   1 N = 1 kg · m/s²</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yasa: ΣF = m·a — adım 2/8
Formüldeki harfler ne anlama geliyor?
Sembol | Anlamı | Birimi
ΣF | net kuvvet (Σ: “toplam” demek) | N
m | kütle (m/s²'deki m ise metre) | kg
a | ivme: hızın saniyedeki değişimi | m/s²
N | burada newton, kuvvet birimi |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yasa: ΣF = m·a — adım 3/8
Yasa nereden geliyor?
• 2. yasa bir matematik türetmesi değil, deneylerden çıkan bir genellemedir.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yasa: ΣF = m·a — adım 4/8
• Sürtünmesiz bir zeminde bir arabayı sabit kuvvetle çektiğini ve ivmesini ölçtüğünü düşün:
• Kuvveti değiştir: kütle sabitken kuvvet 2, 3 katına çıkınca ivme de 2, 3 katına çıkar: a ∝ ΣF.
• Kütleyi değiştir: kuvvet sabitken kütle 2 katına çıkınca ivme yarıya iner: a ∝ 1/m.
• Birleştir: iki gözlem birlikte a ∝ ΣF/m, yani ΣF = k·m·a verir.
• Birimi seç: 1 kg'lık kütleye 1 m/s² ivme veren kuvvete 1 N denirse k = 1 olur: ΣF = 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yasa: ΣF = m·a — adım 5/8
Değişen | Sonuç | Örnek
Kuvvet 2 katına çıkar | İvme 2 katına çıkar | 20 N → 40 N, a: 4 → 8 m/s²
Kütle 2 katına çıkar | İvme yarıya iner | 5 kg → 10 kg, a: 4 → 2 m/s²
Net kuvvet sıfır olur | İvme sıfır olur | hız sabit kalır (1. yasa)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yasa: ΣF = m·a — adım 6/8
• Dikkat: ivme hızın değil, net kuvvetin yönündedir.
• Yavaşlayan bir cisimde net kuvvet hıza zıt yöndedir.
• Hız ile ivme aynı yönlüyse cisim hızlanır, zıt yönlüyse yavaşlar.
• Sayfadaki laboratuvarda “Sürtünmesiz · 20 N, 5 kg” ile “Kütle 2 katı” hazır deneylerini art arda çalıştır: ivme 4 m/s²'den 2 m/s²'ye iner, hız grafiğinin eğimi yarıya düşer.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yasa: ΣF = m·a — adım 7/8
• İki boyutta yasa bileşenlere ayrılarak yazılır: ΣFₓ = m·aₓ ve ΣFᵧ = m·aᵧ.
• 1. yasa da aslında 2. yasanın özel hâlidir: ΣF = 0 ise a = 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yasa: ΣF = m·a — şekil
Kütle 5 kg iken kuvveti iki katına çıkarmak ivmeyi de iki katına çıkarır; aynı kuvveti iki kat kütleye uygulamak ivmeyi yarıya indirir. Yeşil oklar bu üç durumun ivmelerini aynı ölçekte gösteriyor. İvmenin yönü daima net kuvvetin yönündedir — hızın yönü değil.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Kısaca: Net kuvvet cismi ivmelendirir: a = ΣF/m. İvme net kuvvetle doğru, kütleyle ters orantılıdır ve yönü hızın değil, net kuvvetin yönündedir.
Sınıfa bu cümleyi kendi sözleriyle tekrar ettirin.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Sayılarla hisset: ne kadar kuvvet, ne kadar ivme? — adım 1/5
• ΣF = m·a'nın asıl gücü, çok farklı durumları aynı ölçekte karşılaştırabilmesidir.
• Aşağıdaki değerler gündelik durumlar için gerçekçi yaklaşık değerlerdir: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Sayılarla hisset: ne kadar kuvvet, ne kadar ivme? — adım 2/5
Durum | Kütle | Net kuvvet | İvme
İtilen market arabası | 20 kg | 40 N | 2 m/s²
Kalkan bisikletli | 80 kg | 80 N | 1 m/s²
Hızlanan otomobil | 1200 kg | 3600 N | 3 m/s²
Sert fren yapan otomobil | 1200 kg | 9600 N | 8 m/s²
Tekme yiyen futbol topu | 0,45 kg | 900 N | 2000 m/s²</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Sayılarla hisset: ne kadar kuvvet, ne kadar ivme? — adım 3/5
• Tablodan okunan ilk düzen: büyük kuvvet, büyük ivme demek değildir.
• Otomobili hızlandıran kuvvet topa vurulan tekmenin dört katı, ama otomobilin ivmesi topunkinin ancak binde bir buçuğu kadar.
• Belirleyici olan kuvvetin kendisi değil, kuvvetin kütleye oranıdır.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Sayılarla hisset: ne kadar kuvvet, ne kadar ivme? — adım 4/5
• Sayılar başka şeyler de söylüyor.
• 3 m/s²'lik ivmeyle otomobil 0'dan 100 km/h'e (27,8 m/s) yaklaşık 9 saniyede çıkar; bu, sıradan bir binek otomobilin değeridir.
• 8 m/s²'lik fren ivmesi yaklaşık 0,8·g eder ve kuru asfaltta lastiğin sağlayabildiği en büyük sürtünmeye yakındır.
• Topun 2000 m/s²'lik ivmesi ise yalnızca yaklaşık 0,01 saniyelik temas süresince sürer; bu kısa sürede top 20 m/s'ye (72 km/h) ulaşır.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Sayılarla hisset: ne kadar kuvvet, ne kadar ivme? — şekil
Kramponun topa değdiği anda top, ayakkabının bastığı yerden gözle görülür biçimde içe çöküyor; tekmenin kuvveti bu kısa temas süresinde çok büyüktür. Topun kütlesi küçük olduğu için a = ΣF/m çok büyük çıkar: tablodaki 900 N'luk tekme 0,45 kg'lık topa 2000 m/s²'lik ivme verir. Aynı kuvvet 1200 kg'lık bir otomobile ancak 0,75 m/s² ivme verirdi; aradaki farkı yalnızca kütle yaratır.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Kısaca: İvmeyi kuvvetin kendisi değil, kuvvetin kütleye oranı belirler. Otomobili hızlandırmak için gereken binlerce newton ona birkaç m/s² verir; 900 N ise hafif bir topa 2000 m/s²'lik ivme verir.
Sınıfa bu cümleyi kendi sözleriyle tekrar ettirin.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Düşün: Topa vurulan 900 N'luk kuvvet 1200 kg'lık otomobile uygulansaydı ivmesi ne olurdu?
Sınıfa sorun, birkaç tahmin alın; sonra cevap slaytına geçin.
Cevap: a = 900 / 1200 = 0,75 m/s². Aynı kuvvet topa, hızını saniyede 2000 m/s artıracak büyüklükte bir ivme verirken otomobilin hızını saniyede ancak 0,75 m/s artırır. Aradaki fark tamamen kütleden gelir.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a = 900 / 1200 = 0,75 m/s². Aynı kuvvet topa, hızını saniyede 2000 m/s artıracak büyüklükte bir ivme verirken otomobilin hızını saniyede ancak 0,75 m/s artırır. Aradaki fark tamamen kütleden gelir.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yasa: etki–tepki — adım 1/6
• Bir cisim ikinci bir cisme kuvvet uyguladığında, ikinci cisim de birinciye eşit büyüklükte ve zıt yönde bir kuvvet uygular.
• Kuvvetler yalnız başına var olmaz; daima çiftler hâlinde ortaya çıkar.
F₁₂ = −F₂₁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yasa: etki–tepki — adım 2/6
• Yürümek: ayağın yeri geriye iter, yer seni ileriye iter.
• Roket: gazı aşağı iter, gaz roketi yukarı iter.
• Tüfeğin geri tepmesi: mermiye uygulanan kuvvetin tepkisi.
• Yüzmek: suyu geriye itersin, su seni ileriye iter.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yasa: etki–tepki — adım 3/6
Etki ve tepki birbirini dengelemez! Çünkü farklı cisimlere etki ederler. Dengeleme ancak aynı cisme etki eden kuvvetler arasında olur. Masadaki kitapta ağırlığı dengeleyen şey, kitabın masaya uyguladığı kuvvet değil, masanın kitaba uyguladığı normal kuvvettir.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yasa: etki–tepki — adım 4/6
• Kuvvetler eşit olsa da sonuçları eşit olmak zorunda değildir: a = F/m olduğu için küçük kütleli cisim daha büyük ivme kazanır.
• Sayfadaki 03 numaralı deneyde 2 kg'lık araba, 6 kg'lık arabanın 3 katı hızla ayrılır.
• Buzda birbirini iten iki patenci de böyledir.
• En uç örnek Dünya ile elmadır: Dünya elmayı 1 N ile çekerken elma da Dünya'yı 1 N ile çeker.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yasa: etki–tepki — adım 5/6
• Ama Dünya'nın kütlesi yaklaşık 6·10²⁴ kg olduğu için kazandığı ivme ölçülemeyecek kadar küçüktür; düşen hep elma gibi görünür.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yasa: etki–tepki — şekil
İki araba birbirini iter: arabaya etkiyen kuvvetlerin büyüklüğü her zaman eşittir, yönleri zıttır. Ama sonuçları eşit değildir — a = F/m olduğu için 2 kg'lık araba 6 kg'lık arabanın üç katı ivme kazanır. Bu iki kuvvet birbirini dengeleyemez, çünkü farklı cisimlere etki ederler.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Kısaca: Kuvvetler daima eşit büyüklükte, zıt yönlü çiftler hâlinde ortaya çıkar. Etki ve tepki farklı cisimlere etki ettiği için birbirini dengelemez; sonuçları kütleye göre farklıdır.
Sınıfa bu cümleyi kendi sözleriyle tekrar ettirin.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Düşün: At arabayı çektiği kadar araba da atı geri çekiyorsa, ikisi birlikte nasıl hızlanabilir?
Sınıfa sorun, birkaç tahmin alın; sonra cevap slaytına geçin.
Cevap: Çünkü bu iki kuvvet farklı cisimlere etki eder ve birbirini götürmez. Atı ileri götüren, toynaklarıyla yeri geriye itmesine karşılık yerin ona uyguladığı ileri yönlü kuvvettir; bu kuvvet arabanın geri çekişinden büyükse at hızlanır. Araba da atın çekişi sürtünmeden büyük olduğu için hızlanır.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Çünkü bu iki kuvvet farklı cisimlere etki eder ve birbirini götürmez. Atı ileri götüren, toynaklarıyla yeri geriye itmesine karşılık yerin ona uyguladığı ileri yönlü kuvvettir; bu kuvvet arabanın geri çekişinden büyükse at hızlanır. Araba da atın çekişi sürtünmeden büyük olduğu için hızlanır.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Serbest cisim diyagramı — adım 1/6
• Dinamik problemlerinin tamamı aynı yöntemle çözülür: cismi yalnız bırak, üzerine etki eden kuvvetleri çiz, sonra ΣF = m·a yaz.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Serbest cisim diyagramı — adım 2/6
• Cismi seç: hangi cismi inceleyeceğine karar ver; onu bir nokta ya da kutu olarak çiz.
• Kuvvetleri çiz: yalnızca o cisme etki edenleri: ağırlık (daima aşağı), normal kuvvet (yüzeye dik), sürtünme (kaymaya zıt), ip gerilmesi, uygulanan kuvvet.
• Fazlasını çizme: cismin başkalarına uyguladığı kuvvetler diyagrama girmez.
• Eksen kur: hareket doğrultusunu pozitif seç; eğik kuvvetleri bileşenlerine ayır.
• Yasayı yaz: her eksen için ΣF = m·a yaz ve bilinmeyenleri çöz.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Serbest cisim diyagramı — adım 3/6
Hareketin olmadığı eksende ivme sıfırdır. Yatay zeminde giden bir kutu için düşeyde N − G = 0 → N = m·g. Ama asansörde ya da eğik düzlemde bu eşitlik bozulur; her seferinde yeniden yazmak gerekir.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Serbest cisim diyagramı — adım 4/6
• Aşağıdaki çizimdeki gibi ip yatayla α açısı yaparak çekiyorsa F kuvvetinin iki etkisi vardır.
• Yatay bileşeni F·cosα kutuyu ileri çeker; düşey bileşeni F·sinα ise kutuyu biraz yukarı kaldırır ve zeminin kutuya bastırması azalır.
• Düşey eksende ivme olmadığı için N + F·sinα − G = 0 yazılır:
N = m·g − F·sinα   ΣFₓ = F·cosα − f = 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Serbest cisim diyagramı — adım 5/6
• Normal kuvvet küçüldüğü için sürtünme de küçülür.
• Bir kızağı ya da ağır bir kutuyu ipi yukarı doğru eğik tutarak çekmenin, yere paralel çekmekten daha kolay gelmesinin bir sebebi budur.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Serbest cisim diyagramı — şekil
Yöntem her problemde aynı: cismi sahneden söküp al, bir nokta olarak çiz ve yalnızca ona etkiyen kuvvetleri koy. Kutunun yere ya da ipe uyguladığı kuvvetler bu diyagrama girmez. Dikkat: ip yukarı doğru çektiği için burada N &lt; G'dir — normal kuvveti otomatik olarak m·g yazmak en sık yapılan hatadır.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Kısaca: Cismi yalnız çiz, yalnızca ona etkiyen kuvvetleri koy, eksen seç ve her eksen için ΣF = m·a yaz. Normal kuvveti ezbere m·g yazma; her problemde düşey eksenden yeniden bul.
Sınıfa bu cümleyi kendi sözleriyle tekrar ettirin.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Sürtünme kuvveti — adım 1/6
• Sürtünme, temas hâlindeki yüzeyler arasında, bağıl kaymaya zıt yönde ortaya çıkan kuvvettir.
• İki türü vardır:
statik: f ≤ μs · N   kinetik: f = μk · 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Sürtünme kuvveti — adım 2/6
• Statik sürtünme cisim henüz hareket etmiyorken uygulanan kuvvete eşit büyüklükte ortaya çıkar ve onu dengeler; ancak μs·N değerini aşamaz.
• Uygulanan kuvvet bu eşiği geçtiği anda cisim harekete başlar ve kinetik sürtünme devreye girer.
• Genellikle μk &lt; μs olduğu için bir cismi hareket ettirmek, hareketini sürdürmekten zordur.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Sürtünme kuvveti — adım 3/6
• Neye bağlı: sürtünme kuvveti normal kuvvete ve yüzey çiftine bağlıdır.
• Neye bağlı değil: temas alanına ve (yaklaşık olarak) hıza bağlı değildir.
• Her zaman kötü değil: yürümeyi, frenlemeyi, vidanın durmasını sağlayan da sürtünmedir.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Sürtünme kuvveti — adım 4/6
Yüzey çifti | Yaklaşık μ
Buz – çelik | 0,03 – 0,05
Ahşap – ahşap | 0,25 – 0,5
Lastik – kuru asfalt | 0,7 – 0,9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Sürtünme kuvveti — adım 5/6
• Laboratuvardaki “Kuvvet yetersiz” hazır deneyi statik sürtünmeyi gösterir: 10 kg'lık kutuya 12 N uygulanır, ama zemin en fazla yaklaşık 0,5 · 98 ≈ 49 N'luk sürtünme verebildiği için sürtünme tam 12 N olur ve kutu kıpırdamaz.
• Sürtünmenin ayrıntıları bu ünitenin bir sonraki konusu olan “Sürtünme kuvveti” anlatımında.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Sürtünme kuvveti — şekil
Statik sürtünme uygulanan kuvvetle birlikte büyür ve onu tam olarak dengeler — bu yüzden mavi kısım 45°'lik bir doğrudur. Ama μs·N eşiğini aşamaz; o noktada cisim kurtulur ve sürtünme daha küçük olan kinetik değerine düşer. Bir eşyayı yerinden oynatmanın, sonra itmekten daha zor olmasının sebebi budur.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Kısaca: Statik sürtünme uygulanan kuvveti μs·N eşiğine kadar tam dengeler; eşik aşılınca cisim kayar ve sürtünme daha küçük olan μk·N değerine düşer.
Sınıfa bu cümleyi kendi sözleriyle tekrar ettirin.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Düşün: Duran ağır bir dolabı 100 N ile itiyorsun ama kıpırdamıyor. Dolaba etki eden sürtünme kuvveti kaç newtondur?
Sınıfa sorun, birkaç tahmin alın; sonra cevap slaytına geçin.
Cevap: Tam 100 N. Dolap durgun kaldığına göre net kuvvet sıfırdır; statik sürtünme uygulanan kuvvete eşit büyüklükte ve zıt yönde oluşur. μs·N değeri 100 N'dan büyük olabilir, ama sürtünme yalnızca gerektiği kadarını üretir.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Tam 100 N. Dolap durgun kaldığına göre net kuvvet sıfırdır; statik sürtünme uygulanan kuvvete eşit büyüklükte ve zıt yönde oluşur. μs·N değeri 100 N'dan büyük olabilir, ama sürtünme yalnızca gerektiği kadarını üretir.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Ağırlık, normal kuvvet ve asansör — adım 1/7
• Ağırlık, kütleye etki eden çekim kuvvetidir: G = m·g, daima aşağı yöndedir.
• Normal kuvvet ise yüzeyin cisme uyguladığı, yüzeye dik tepki kuvvetidir.
• Normal kuvvet her zaman ağırlığa eşit değildir.
yatay zemin: N = m·g   asansör: N = m·(g + a)   eğik düzlem: N = m·g·cosθ</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Ağırlık, normal kuvvet ve asansör — adım 2/7
• Asansörde tartının gösterdiği değer, tartının sana uyguladığı normal kuvvettir.
• Yukarı doğru ivmelenirken net kuvvet yukarı olmalıdır, bu yüzden N &gt; G olur ve tartı daha fazlasını yazar.
• Aşağı doğru ivmelenirken N &lt; G olur.
• Bağıntı serbest cisim diyagramından adım adım çıkar: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Ağırlık, normal kuvvet ve asansör — adım 3/7
• Kuvvetler: sana yalnızca iki kuvvet etki eder: ağırlık G = m·g (aşağı) ve tartının normal kuvveti N (yukarı).
• Yön seç: yukarıyı pozitif al; asansörün ivmesi a olsun (aşağı ivmede a negatiftir).
• 2. yasa: ΣF = N − m·g = m·a, buradan N = m·(g + 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Ağırlık, normal kuvvet ve asansör — adım 4/7
Durum | İvme | Normal kuvvet | Tartı
Durgun ya da sabit hız | a = 0 | N = m·g | gerçek değer
Yukarı hızlanıyor | a &gt; 0 | N = m(g + a) | fazla gösterir
Aşağı hızlanıyor | a &lt; 0 | N = m(g − |a|) | az gösterir
Serbest düşme | a = −g | N = 0 | sıfır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Ağırlık, normal kuvvet ve asansör — adım 5/7
• Serbest düşmedeki "ağırlıksızlık" yerçekiminin yok olması değildir; sen de tartı da aynı ivmeyle düştüğü için aranızda kuvvet kalmamasıdır.
• Uzay istasyonundaki astronotlar da aslında sürekli serbest düşmektedir.
• Sayfanın 04 numaralı bölümünde 60 kg'lık biri için 3 m/s²'lik yukarı ivmede tartı yaklaşık 78 kg, aynı büyüklükte aşağı ivmede yaklaşık 42 kg gösterir.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Ağırlık, normal kuvvet ve asansör — adım 6/7
Tartıyı hızın yönü değil, ivmenin yönü belirler. Yukarı çıkarken yavaşlayan bir asansörün ivmesi aşağı doğrudur; tartı, aşağı doğru hızlanan asansördeki gibi az gösterir.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Ağırlık, normal kuvvet ve asansör — şekil
Tartı senin ağırlığını değil, sana uyguladığı normal kuvveti yazar. Yukarı ivmelenirken net kuvvetin yukarı olması gerekir, bu yüzden N büyür; aşağı ivmelenirken küçülür. Halat koparsa sen de tartı da aynı ivmeyle düşersiniz, aranızda kuvvet kalmaz ve tartı sıfır gösterir. Uzaydaki "ağırlıksızlık" da tam olarak budur — yerçekimi yok olduğu için değil, sürekli düşüldüğü için.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Kısaca: Tartı ağırlığı değil normal kuvveti ölçer: N = m·(g + a). İvme yukarıysa fazla, aşağıysa az, serbest düşmede sıfır gösterir; belirleyici olan hızın değil ivmenin yönüdür.
Sınıfa bu cümleyi kendi sözleriyle tekrar ettirin.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Düşün: Asansör aşağı inerken durmak için yavaşlıyor. Tartı fazla mı gösterir, az mı?
Sınıfa sorun, birkaç tahmin alın; sonra cevap slaytına geçin.
Cevap: Fazla gösterir. Aşağı inen asansörün yavaşlaması için ivmesinin yukarı doğru olması gerekir; o zaman N = m(g + a) ağırlıktan büyüktür. Asansör dururken dizlerinin hafifçe büküldüğünü hissetmen bundandır.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Fazla gösterir. Aşağı inen asansörün yavaşlaması için ivmesinin yukarı doğru olması gerekir; o zaman N = m(g + a) ağırlıktan büyüktür. Asansör dururken dizlerinin hafifçe büküldüğünü hissetmen bundandır.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Basamak 3 — İleri: Derinleşme: birlikte hareket eden cisimler, yasaların geçerli olduğu sınırlar ve Newton yasalarının gerçek hayattaki yüzü.
11 Birlikte hareket eden cisimler: sistem ve iç kuvvetler
12 Yasaların sınırları: kime göre, ne kadar hızlı?
13 Newton yasaları gerçek dünyada
Görsel: Roket, püskürttüğü gazı iterek yükselir. Motorlar yanmış gazı büyük bir hızla aşağı iter; gaz da rokete eşit büyüklükte, yukarı yönlü bir kuvvet uygular (3. yasa). Bu itme kuvveti roketin ağırlığını aştığı anda net kuvvet yukarı döner ve roket ivmelenerek yükselir (2. yasa).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Birlikte hareket eden cisimler: sistem ve iç kuvvetler — adım 1/4
• İple bağlı iki kutu, birbirine değen iki blok ya da bir makaradan sarkan yük…
• Birden çok cismin birlikte hareket ettiği problemlerde iki bakış açısı vardır ve ikisini birlikte kullanmak en kısa yoldur.
• Önce bütün cisimleri tek bir sistem gibi düşünürsün.
• Sistemin içindeki cisimlerin birbirine uyguladığı kuvvetler (örneğin ip gerilmesi) iç kuvvetlerdir; 3. yasa gereği çiftler hâlinde, eşit ve zıt oldukları için sistemin toplam hareketine hiçbir katkıları yoktur.
• Sistemi yalnızca dış kuvvetler hızlandırır.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Birlikte hareket eden cisimler: sistem ve iç kuvvetler — adım 2/4
• Sistemin ivmesi: dış kuvvetlerin hareket yönündeki toplamını toplam kütleye böl.
• Bir cismi ayır: ip gerilmesi gibi bir iç kuvveti bulmak için tek bir cismin serbest cisim diyagramını çiz.
• Kontrol et: öbür cisim için de ΣF = m·a yazıp aynı ivmenin çıktığını gör.
a = ΣFdış / mtoplam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Birlikte hareket eden cisimler: sistem ve iç kuvvetler — adım 3/4
• Örnek: sürtünmesiz bir masa üstündeki 4 kg'lık kutu, masanın kenarındaki makaradan geçen iple 1 kg'lık sarkan bir yüke bağlı olsun (g = 10 m/s²).
• Sistemi hareket ettiren tek dış kuvvet sarkan yükün ağırlığıdır: 10 N.
• Sistemin ivmesi a = 10 / 5 = 2 m/s².
• Masadaki kutuyu yalnızca ip çeker: T = 4 · 2 = 8 N.
• Kontrol: sarkan yük için 10 − 8 = 2 N = 1 · 2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Birlikte hareket eden cisimler: sistem ve iç kuvvetler — şekil
Masadaki araba ile sarkan yük aynı gergin ipe bağlı olduğu için, bırakıldıklarında aynı büyüklükte ivmeyle hareket eder. Sistemi yürüten dış kuvvet sarkan yükün ağırlığıdır ve bu kuvvet iki kütleyi birlikte hızlandırır: a = ΣFdış/mtoplam. İpteki gerilme ise bir iç kuvvettir; onu bulmak için arabayı ya da yükü ayrı ayrı incelersin ve gerilmenin yükün ağırlığından küçük çıktığını görürsün.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Kısaca: Birlikte hareket eden cisimlerde önce sistemi tek cisim say: a = ΣFdış/mtoplam. İç kuvvetler birbirini götürür; ip gerilmesi gibi bir iç kuvveti tek bir cismi ayırarak bulursun.
Sınıfa bu cümleyi kendi sözleriyle tekrar ettirin.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Düşün: Bu örnekte ipteki gerilme neden sarkan yükün ağırlığından (10 N) küçük çıktı?
Sınıfa sorun, birkaç tahmin alın; sonra cevap slaytına geçin.
Cevap: Çünkü sarkan yük aşağı doğru hızlanıyor; bunun için ona etkiyen net kuvvet aşağı yönlü olmalı, yani ağırlığı ip gerilmesinden büyük olmalı. Gerilme ağırlığa eşit olsaydı yük sabit hızla hareket ederdi.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Çünkü sarkan yük aşağı doğru hızlanıyor; bunun için ona etkiyen net kuvvet aşağı yönlü olmalı, yani ağırlığı ip gerilmesinden büyük olmalı. Gerilme ağırlığa eşit olsaydı yük sabit hızla hareket ederdi.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Yasaların sınırları: kime göre, ne kadar hızlı? — adım 1/3
• Newton yasaları yüzyıllardır köprüleri, uçakları ve uzay araçlarını hesaplamak için kullanılıyor.
• Yine de her model gibi geçerli olduğu bir alan vardır.
• Bu sınırları bilmek, yasaları doğru yerde kullanmanın parçasıdır.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Yasaların sınırları: kime göre, ne kadar hızlı? — adım 2/3
• İlk sınır gözlemcidir.
• Fren yapan otobüsün içinden bakan bir yolcu, koltuktaki poşetin hiçbir kuvvet etki etmeden öne doğru hızlandığını görür; ona göre 1. yasa bozulmuş gibidir.
• Yoldaki bir gözlemci ise poşetin yalnızca eski hızıyla gitmeyi sürdürdüğünü, yavaşlayanın otobüs olduğunu görür.
• Newton yasaları, ivmesi olmayan eylemsiz gözlem çerçevelerinde geçerlidir.
• Yer, günlük problemler için yeterince iyi bir eylemsiz çerçevedir.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Yasaların sınırları: kime göre, ne kadar hızlı? — adım 3/3
• İvmeli gözlemci: fren yapan araçta ya da dönen bir platformda yasalar olduğu gibi uygulanamaz.
• Çok büyük hızlar: ışık hızına yaklaşan cisimlerde görelilik kuramı gerekir; günlük hızlarda fark ölçülemeyecek kadar küçüktür.
• Çok küçük ölçekler: atomların ve elektronların dünyasını kuantum fiziği anlatır.
• Kütlesi değişen cisimler: yakıt yakan bir roketin kütlesi azalır; yasa her an o anki kütleyle yazılır ve aynı itme giderek daha büyük ivme verir.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Kısaca: Newton yasaları eylemsiz gözlem çerçevelerinde, günlük hızlarda ve gözle görülür ölçeklerde geçerlidir. İvmeli gözlemciler, ışık hızına yakın hızlar ve atom ölçeği bu modelin dışıdır.
Sınıfa bu cümleyi kendi sözleriyle tekrar ettirin.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Düşün: Fren yapan otobüsteki bir yolcu, poşetin hiçbir kuvvet olmadan öne kaydığını görüyor. 1. yasa bozuldu mu?
Sınıfa sorun, birkaç tahmin alın; sonra cevap slaytına geçin.
Cevap: Hayır. Yolcu ivmeli bir çerçeveden bakıyor. Yere göre poşet yalnızca eski hızıyla gitmeyi sürdürüyor, yavaşlayan otobüstür. Newton yasaları ivmesiz (eylemsiz) çerçevelerde geçerlidir.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Hayır. Yolcu ivmeli bir çerçeveden bakıyor. Yere göre poşet yalnızca eski hızıyla gitmeyi sürdürüyor, yavaşlayan otobüstür. Newton yasaları ivmesiz (eylemsiz) çerçevelerde geçerlidir.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Newton yasaları gerçek dünyada — adım 1/4
• Üç yasa, arabaların güvenlik donanımından roketlere kadar mühendisliğin her köşesinde hesaplanır.
• Aşağıdaki sayılar g = 10 m/s² ile yuvarlatılmış örneklerdir; ama hepsinde aynı soru sorulur: hangi kuvvet, hangi kütleye, ne kadar süre etki ediyor?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Newton yasaları gerçek dünyada — adım 2/4
• Roket kalkışı: itme ağırlığın 1,3 katıysa net kuvvet 0,3·m·g olur ve roket a ≈ 3 m/s² ile yükselir.
• Hava yastığı: 15 m/s ile giden 60 kg'lık sürücüyü 0,1 s'de durdurmak ortalama 9000 N ister; 0,01 s'de durursa 90 000 N.
• Buzlu yol: kuru asfaltta μ ≈ 0,8, buzda 0,1 civarı. 15 m/s'den en kısa duruş asfaltta ≈ 14 m, buzda ≈ 113 m.
• Asansör: 1 m/s²'lik yukarı ivmede 70 kg'lık yolcuya N = 70·11 = 770 N etki eder; tartı 77 kg gösterir.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Newton yasaları gerçek dünyada — adım 3/4
• Koşuya çıkış: koşucu ayağıyla çıkış bloğunu geriye iter, blok onu ileri iter; bloksuz zeminde ayak kayabilir.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Newton yasaları gerçek dünyada — adım 4/4
• Hava yastığı ve emniyet kemerinin sırrı 2. yasadadır.
• Sürücünün hızı ne olursa olsun sıfıra inecektir; değiştirilebilen tek şey bunun ne kadar sürede olduğudur.
• İvme, hız değişiminin süreye oranı olduğu için süreyi on katına çıkarmak ivmeyi, dolayısıyla kuvveti onda birine indirir.
• Buzlu yol örneği ise sürtünmenin neden hayati olduğunu gösterir: fren ivmesinin üst sınırı μ·g'dir ve μ küçülünce durma mesafesi aynı oranda uzar.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Kısaca: Roketler 3. yasayla yükselir, hava yastıkları durma süresini uzatarak kuvveti küçültür, buzlu yolda fren ivmesi μ·g ile sınırlanır. Hepsi ΣF = m·a'nın günlük hayattaki yüzüdür.
Sınıfa bu cümleyi kendi sözleriyle tekrar ettirin.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Basamak 4 — Pekiştir: Kolaydan zora çözümlü örnekler ve sınavda puan kaybettiren klasik hatalar.
14 Çözümlü örnekler
15 Sık yapılan hatalar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1 — İki kuvvetin üç hâli
Sürtünmesiz yatay zeminde duran 5 kg'lık bir kutuya 30 N ve 40 N'luk iki yatay kuvvet uygulanıyor. Kuvvetler (a) aynı yönde, (b) zıt yönde, (c) birbirine dik olduğunda kutunun ivmesini bulunuz.
Verilenler: m = 5 kg · F₁ = 30 N · F₂ = 40 N (ikisi de yatay) · zemin sürtünmesiz
İstenen: kuvvetler (a) aynı yönde · (b) zıt yönde · (c) birbirine dik olduğunda kutunun ivmesi a
Önce öğrencilere verilenleri ve isteneni söyletin; hangi bağıntının kullanılacağını sorun.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1 — İki kuvvetin üç hâli — çözüm
1. (a) ΣF = 30 + 40 = 70 N → a = 70 / 5 = 14 m/s²
2. (b) ΣF = 40 − 30 = 10 N (40 N'un yönünde) → a = 2 m/s²
3. (c) ΣF = √(30² + 40²) = 50 N → a = 50 / 5 = 10 m/s², net kuvvet yönünde.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2 — Sürtünmeli zeminde itilen kutu
Sürtünme katsayısı 0,2 olan yatay bir zeminde duran 4 kg'lık kutuya yatay doğrultuda 12 N'luk kuvvet uygulanıyor. Kutunun ivmesini bulunuz.
Verilenler: m = 4 kg · F = 12 N (yatay) · μ = 0,2 · g = 10 m/s²
İstenen: kutunun ivmesi a
Önce öğrencilere verilenleri ve isteneni söyletin; hangi bağıntının kullanılacağını sorun.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2 — Sürtünmeli zeminde itilen kutu — çözüm
1. Düşeyde denge: N = m·g = 4 · 10 = 40 N
2. Sürtünme kuvveti: f = μ·N = 0,2 · 40 = 8 N
3. Net kuvvet: ΣF = 12 − 8 = 4 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2 — Sürtünmeli zeminde itilen kutu — çözüm
4. İvme: a = ΣF / m = 4 / 4 = 1 m/s²
5. Sürtünme olmasaydı a = 12/4 = 3 m/s² olurdu.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3 — Asansördeki tartı
60 kg kütleli bir kişi, 2 m/s² ile yukarı doğru hızlanan bir asansörde tartının üzerinde duruyor. Tartı kaç kilogram gösterir?
Verilenler: m = 60 kg · asansörün ivmesi a = 2 m/s² (yukarı) · g = 10 m/s²
İstenen: tartının gösterdiği değer (kg olarak)
Önce öğrencilere verilenleri ve isteneni söyletin; hangi bağıntının kullanılacağını sorun.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3 — Asansördeki tartı — çözüm
1. Kişiye etki eden kuvvetler: ağırlık G = 600 N (aşağı), normal kuvvet N (yukarı).
2. Net kuvvet yukarı olmalı: N − G = 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3 — Asansördeki tartı — çözüm
3. N = m(g + a) = 60 · (10 + 2) = 720 N
4. Tartı N/g = 720/10 = 72 kg gösterir; kişinin kütlesi ise hâlâ 60 kg'dır.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4 — Bağlı iki cisim ve ip gerilmesi
Sürtünmesiz yatay zeminde, ipte bağlı 2 kg ve 3 kg'lık cisimler F = 20 N'luk kuvvetle çekiliyor (kuvvet 2 kg'lık cisme uygulanıyor). Sistemin ivmesini ve ipteki gerilme kuvvetini bulunuz.
Verilenler: m₁ = 2 kg · m₂ = 3 kg · F = 20 N (2 kg'lık cisme uygulanıyor) · zemin sürtünmesiz
İstenen: sistemin ivmesi a · ipteki gerilme kuvveti T
Önce öğrencilere verilenleri ve isteneni söyletin; hangi bağıntının kullanılacağını sorun.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4 — Bağlı iki cisim ve ip gerilmesi — çözüm
1. Sistemi tek cisim gibi düşün: a = F / (m₁ + m₂) = 20 / 5 = 4 m/s²
2. Şimdi yalnızca 3 kg'lık cismi incele: ona etki eden tek yatay kuvvet ip gerilmesidir.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4 — Bağlı iki cisim ve ip gerilmesi — çözüm
3. T = m₂ · a = 3 · 4 = 12 N
4. Kontrol (2 kg): 20 − 12 = 8 N = 2 · 4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5 — Eğik düzlemde kayan cisim
Yatayla 37° açı yapan eğik düzlemde 10 kg'lık bir cisim aşağı doğru kayıyor. Sürtünme katsayısı 0,2 ise ivmesi nedir? (sin37° = 0,6 · cos37° = 0,8)
Verilenler: θ = 37° · m = 10 kg · μ = 0,2 · sin37° = 0,6 · cos37° = 0,8 · g = 10 m/s²
İstenen: aşağı doğru kayan cismin ivmesi a
Önce öğrencilere verilenleri ve isteneni söyletin; hangi bağıntının kullanılacağını sorun.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5 — Eğik düzlemde kayan cisim — çözüm
1. Eğime paralel bileşen: m·g·sinθ = 10 · 10 · 0,6 = 60 N
2. Eğime dik denge: N = m·g·cosθ = 10 · 10 · 0,8 = 80 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5 — Eğik düzlemde kayan cisim — çözüm
3. Sürtünme: f = μ·N = 0,2 · 80 = 16 N (harekete zıt, yukarı doğru)
4. a = (60 − 16) / 10 = 4,4 m/s²</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6 — Eğik kuvvetle çekilen kutu
Kinetik sürtünme katsayısı 0,2 olan yatay zeminde 10 kg'lık bir kutu, yatayla 37° açı yapan bir iple 50 N'luk kuvvetle çekilerek kaydırılıyor. Kutunun ivmesini bulunuz. (sin37° = 0,6 · cos37° = 0,8)
Verilenler: m = 10 kg · F = 50 N · ipin yatayla açısı α = 37° · μk = 0,2 · sin37° = 0,6 · cos37° = 0,8 · g = 10 m/s²
İstenen: kutunun ivmesi a
Önce öğrencilere verilenleri ve isteneni söyletin; hangi bağıntının kullanılacağını sorun.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6 — Eğik kuvvetle çekilen kutu — çözüm
1. Kuvvetin bileşenleri: Fₓ = 50 · 0,8 = 40 N (ileri), Fᵧ = 50 · 0,6 = 30 N (yukarı)
2. Düşeyde denge: N + 30 − 100 = 0 → N = 70 N (m·g değil!)
3. Sürtünme: f = 0,2 · 70 = 14 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6 — Eğik kuvvetle çekilen kutu — çözüm
4. Yatayda: a = (40 − 14) / 10 = 2,6 m/s²
5. N'yi yanlışlıkla 100 N alsaydın f = 20 N ve a = 2 m/s² bulurdun: tipik tuzak.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7 — Masadan sarkan yük
Kinetik sürtünme katsayısı 0,2 olan yatay bir masadaki 3 kg'lık kutu, masanın kenarındaki sürtünmesiz makaradan geçen iple 2 kg'lık sarkan bir yüke bağlıdır. Sistem serbest bırakılıyor. (a) Sistemin ivmesini, (b) ipteki gerilmeyi bulunuz.
Verilenler: masadaki kutu m₁ = 3 kg · sarkan yük m₂ = 2 kg · μk = 0,2 · makara sürtünmesiz · sistem durgunken bırakılıyor · g = 10 m/s²
İstenen: (a) sistemin ivmesi a · (b) ipteki gerilme T
Önce öğrencilere verilenleri ve isteneni söyletin; hangi bağıntının kullanılacağını sorun.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7 — Masadan sarkan yük — çözüm
1. Hareket yönündeki dış kuvvetler: sarkan yükün ağırlığı 2 · 10 = 20 N, kutudaki sürtünme 0,2 · 30 = 6 N (zıt).
2. (a) a = (20 − 6) / (3 + 2) = 14 / 5 = 2,8 m/s²</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7 — Masadan sarkan yük — çözüm
3. (b) Sarkan yük: 20 − T = 2 · 2,8 → T = 20 − 5,6 = 14,4 N
4. Kontrol (kutu): T − f = 14,4 − 6 = 8,4 N = 3 · 2,8 ✓
Gerilme sarkan yükün ağırlığından küçüktür, çünkü yük aşağı doğru hızlanmaktadır.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Sıra sende: Sürtünmesiz yatay zeminde duran 4 kg'lık bir kutuya 20 N'luk yatay kuvvet uygulanıyor. Kutunun ivmesi kaç m/s² olur?
Öğrencilere 2–3 dakika verin; sonra cevap slaytını açın.
Cevap: Cevap: a = ΣF / m = 20 / 4 = 5 m/s². Kutu her saniye 5 m/s daha hızlı gider.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Cevap: a = ΣF / m = 20 / 4 = 5 m/s². Kutu her saniye 5 m/s daha hızlı gider.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Sıra sende: 0,5 kg'lık bir top, vurulduğu anda 40 m/s² ivme kazanıyor. Topa etki eden net kuvvet kaç N'dur?
Öğrencilere 2–3 dakika verin; sonra cevap slaytını açın.
Cevap: Cevap: ΣF = m · a = 0,5 · 40 = 20 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Cevap: ΣF = m · a = 0,5 · 40 = 20 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Sıra sende: Kinetik sürtünme katsayısı 0,3 olan yatay zeminde 5 kg'lık bir kutu 25 N'luk yatay kuvvetle kaydırılıyor. Kutunun ivmesi kaç m/s²'dir?
Öğrencilere 2–3 dakika verin; sonra cevap slaytını açın.
Cevap: Cevap: N = m · g = 5 · 10 = 50 N. Sürtünme f = μ · N = 0,3 · 50 = 15 N. Net kuvvet ΣF = 25 − 15 = 10 N → a = 10 / 5 = 2 m/s².</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Cevap: N = m · g = 5 · 10 = 50 N. Sürtünme f = μ · N = 0,3 · 50 = 15 N. Net kuvvet ΣF = 25 − 15 = 10 N → a = 10 / 5 = 2 m/s².</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Sıra sende: 50 kg'lık bir öğrenci, aşağı doğru 2 m/s² ile hızlanan bir asansörde tartının üstünde duruyor. Tartı kaç kg gösterir?
Öğrencilere 2–3 dakika verin; sonra cevap slaytını açın.
Cevap: Cevap: İvme aşağı olduğu için N ağırlıktan küçüktür: N = m · (g − a) = 50 · (10 − 2) = 400 N. Tartı 400 / 10 = 40 kg gösterir; öğrencinin kütlesi yine 50 kg'dır.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Cevap: İvme aşağı olduğu için N ağırlıktan küçüktür: N = m · (g − a) = 50 · (10 − 2) = 400 N. Tartı 400 / 10 = 40 kg gösterir; öğrencinin kütlesi yine 50 kg'dır.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Sıra sende: Sürtünmesiz bir makaranın iki yanında, iple bağlı 3 kg ve 2 kg'lık iki yük asılı. Serbest bırakılınca sistemin ivmesi ve ipteki gerilme ne olur?
Öğrencilere 2–3 dakika verin; sonra cevap slaytını açın.
Cevap: Cevap: 3 kg'lık yük aşağı, 2 kg'lık yük yukarı gider. Sistemi yürüten net kuvvet 30 − 20 = 10 N, toplam kütle 5 kg: a = 10 / 5 = 2 m/s². Yukarı çıkan 2 kg'lık yük için T − 20 = 2 · 2 → T = 24 N. Kontrol (3 kg): 30 − 24 = 6 N = 3 · 2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Cevap: 3 kg'lık yük aşağı, 2 kg'lık yük yukarı gider. Sistemi yürüten net kuvvet 30 − 20 = 10 N, toplam kütle 5 kg: a = 10 / 5 = 2 m/s². Yukarı çıkan 2 kg'lık yük için T − 20 = 2 · 2 → T = 24 N. Kontrol (3 kg): 30 − 24 = 6 N = 3 · 2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Sık yapılan hatalar
• “Hareket eden cisme mutlaka kuvvet etki eder.” Sabit hızla giden cisimde net kuvvet sıfırdır. Kuvvet hareketi değil, hareketteki değişimi doğurur.
• “Etki ve tepki birbirini dengeler.” Farklı cisimlere etki ettikleri için dengeleyemezler; dengeleme aynı cisimdeki kuvvetler arasında olur.
• “Kütle ile ağırlık aynı şeydir.” Kütle kg, ağırlık N ile ölçülür; biri skaler, diğeri vektördür.
• “Normal kuvvet her zaman m·g'dir.” Asansörde, eğik düzlemde ya da eğik bir kuvvet uygulandığında değişir.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Sık yapılan hatalar
• “Sürtünme daima hareketi engeller.” Yürümeni, frenlemeni ve dönüşte savrulmamanı sağlayan da sürtünmedir; sürtünme bağıl kaymaya zıttır.
• “İvme hız yönündedir.” İvme net kuvvetin yönündedir; yavaşlayan cisimde hıza zıt yöndedir.
• “Cisim kuvvete sahiptir.” Kuvvet bir etkileşimdir, cismin taşıdığı bir özellik değil. "Cismin üzerindeki kuvvet" demek doğrudur.
• “Roket arkasındaki havayı iterek ilerler.” Roket kendi püskürttüğü gazı iter, gaz da roketi iter. Bu yüzden hava olmayan uzay boşluğunda da çalışır.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Özet: 1. yasa eylemsizlik · 2. yasa F = m·a · 3. yasa etki–tepki · Net kuvvet sıfırsa ivme sıfır
ΣF = m · a — net kuvvet, ivmeyi belirler
G = m · g — ağırlık: kütleye etki eden çekim
f = μ · N — sürtünme kuvveti
F₁₂ = −F₂₁ — etki ve tepki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jp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jpg"/><Relationship Id="rId2" Type="http://schemas.openxmlformats.org/officeDocument/2006/relationships/slideLayout" Target="../slideLayouts/slideLayout1.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1.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image" Target="../media/image-70-1.png"/><Relationship Id="rId2" Type="http://schemas.openxmlformats.org/officeDocument/2006/relationships/slideLayout" Target="../slideLayouts/slideLayout1.xml"/><Relationship Id="rId3"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image" Target="../media/image-77-1.png"/><Relationship Id="rId2" Type="http://schemas.openxmlformats.org/officeDocument/2006/relationships/slideLayout" Target="../slideLayouts/slideLayout1.xml"/><Relationship Id="rId3"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image" Target="../media/image-87-1.png"/><Relationship Id="rId2" Type="http://schemas.openxmlformats.org/officeDocument/2006/relationships/slideLayout" Target="../slideLayouts/slideLayout1.xml"/><Relationship Id="rId3"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image" Target="../media/image-91-1.jpg"/><Relationship Id="rId2" Type="http://schemas.openxmlformats.org/officeDocument/2006/relationships/slideLayout" Target="../slideLayouts/slideLayout1.xml"/><Relationship Id="rId3"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image" Target="../media/image-95-1.jpg"/><Relationship Id="rId2" Type="http://schemas.openxmlformats.org/officeDocument/2006/relationships/slideLayout" Target="../slideLayouts/slideLayout1.xml"/><Relationship Id="rId3"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8.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9.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0.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1.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1426"/>
        </a:solidFill>
      </p:bgPr>
    </p:bg>
    <p:spTree>
      <p:nvGrpSpPr>
        <p:cNvPr id="1" name=""/>
        <p:cNvGrpSpPr/>
        <p:nvPr/>
      </p:nvGrpSpPr>
      <p:grpSpPr>
        <a:xfrm>
          <a:off x="0" y="0"/>
          <a:ext cx="0" cy="0"/>
          <a:chOff x="0" y="0"/>
          <a:chExt cx="0" cy="0"/>
        </a:xfrm>
      </p:grpSpPr>
      <p:pic>
        <p:nvPicPr>
          <p:cNvPr id="2" name="Image 0" descr="/tmp/claude-1000/-opt-dersler/8a8328c3-841c-44fa-b76f-82572d338d3d/scratchpad/d10/sek/newton-yasalari-kapak.jpg">    </p:cNvPr>
          <p:cNvPicPr>
            <a:picLocks noChangeAspect="1"/>
          </p:cNvPicPr>
          <p:nvPr/>
        </p:nvPicPr>
        <p:blipFill>
          <a:blip r:embed="rId1"/>
          <a:stretch>
            <a:fillRect/>
          </a:stretch>
        </p:blipFill>
        <p:spPr>
          <a:xfrm>
            <a:off x="4967935" y="0"/>
            <a:ext cx="7223760" cy="6858000"/>
          </a:xfrm>
          <a:prstGeom prst="rect">
            <a:avLst/>
          </a:prstGeom>
        </p:spPr>
      </p:pic>
      <p:sp>
        <p:nvSpPr>
          <p:cNvPr id="3" name="Shape 0"/>
          <p:cNvSpPr/>
          <p:nvPr/>
        </p:nvSpPr>
        <p:spPr>
          <a:xfrm>
            <a:off x="868680" y="822960"/>
            <a:ext cx="310896" cy="310896"/>
          </a:xfrm>
          <a:prstGeom prst="roundRect">
            <a:avLst>
              <a:gd name="adj" fmla="val 29412"/>
            </a:avLst>
          </a:prstGeom>
          <a:solidFill>
            <a:srgbClr val="A9E648"/>
          </a:solidFill>
          <a:ln/>
        </p:spPr>
      </p:sp>
      <p:sp>
        <p:nvSpPr>
          <p:cNvPr id="4" name="Text 1"/>
          <p:cNvSpPr txBox="1"/>
          <p:nvPr/>
        </p:nvSpPr>
        <p:spPr>
          <a:xfrm>
            <a:off x="1280160" y="822960"/>
            <a:ext cx="3657600" cy="310896"/>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Dersler</a:t>
            </a:r>
            <a:pPr indent="0" marL="0">
              <a:buNone/>
            </a:pPr>
            <a:r>
              <a:rPr lang="en-US" sz="1250" dirty="0">
                <a:solidFill>
                  <a:srgbClr val="8D97B5"/>
                </a:solidFill>
                <a:latin typeface="Calibri" pitchFamily="34" charset="0"/>
                <a:ea typeface="Calibri" pitchFamily="34" charset="-122"/>
                <a:cs typeface="Calibri" pitchFamily="34" charset="-120"/>
              </a:rPr>
              <a:t>  ·  fizik</a:t>
            </a:r>
            <a:endParaRPr lang="en-US" sz="1250" dirty="0"/>
          </a:p>
        </p:txBody>
      </p:sp>
      <p:sp>
        <p:nvSpPr>
          <p:cNvPr id="5" name="Shape 2"/>
          <p:cNvSpPr/>
          <p:nvPr/>
        </p:nvSpPr>
        <p:spPr>
          <a:xfrm>
            <a:off x="640080" y="1965960"/>
            <a:ext cx="54864" cy="1097280"/>
          </a:xfrm>
          <a:prstGeom prst="rect">
            <a:avLst/>
          </a:prstGeom>
          <a:solidFill>
            <a:srgbClr val="C6F36B"/>
          </a:solidFill>
          <a:ln/>
        </p:spPr>
      </p:sp>
      <p:sp>
        <p:nvSpPr>
          <p:cNvPr id="6" name="Text 3"/>
          <p:cNvSpPr txBox="1"/>
          <p:nvPr/>
        </p:nvSpPr>
        <p:spPr>
          <a:xfrm>
            <a:off x="868680" y="1554480"/>
            <a:ext cx="5852160" cy="320040"/>
          </a:xfrm>
          <a:prstGeom prst="rect">
            <a:avLst/>
          </a:prstGeom>
          <a:noFill/>
          <a:ln/>
        </p:spPr>
        <p:txBody>
          <a:bodyPr wrap="square" lIns="0" tIns="0" rIns="0" bIns="0" rtlCol="0" anchor="ctr"/>
          <a:lstStyle/>
          <a:p>
            <a:pPr indent="0" marL="0">
              <a:buNone/>
            </a:pPr>
            <a:r>
              <a:rPr lang="en-US" sz="1300" b="1" spc="300" kern="0" dirty="0">
                <a:solidFill>
                  <a:srgbClr val="C6F36B"/>
                </a:solidFill>
                <a:latin typeface="Calibri" pitchFamily="34" charset="0"/>
                <a:ea typeface="Calibri" pitchFamily="34" charset="-122"/>
                <a:cs typeface="Calibri" pitchFamily="34" charset="-120"/>
              </a:rPr>
              <a:t>KUVVET VE HAREKET · KONU 03</a:t>
            </a:r>
            <a:endParaRPr lang="en-US" sz="1300" dirty="0"/>
          </a:p>
        </p:txBody>
      </p:sp>
      <p:sp>
        <p:nvSpPr>
          <p:cNvPr id="7" name="Text 4"/>
          <p:cNvSpPr txBox="1"/>
          <p:nvPr/>
        </p:nvSpPr>
        <p:spPr>
          <a:xfrm>
            <a:off x="822960" y="1920240"/>
            <a:ext cx="5120640" cy="1188720"/>
          </a:xfrm>
          <a:prstGeom prst="rect">
            <a:avLst/>
          </a:prstGeom>
          <a:noFill/>
          <a:ln/>
        </p:spPr>
        <p:txBody>
          <a:bodyPr wrap="square" lIns="0" tIns="0" rIns="0" bIns="0" rtlCol="0" anchor="ctr"/>
          <a:lstStyle/>
          <a:p>
            <a:pPr indent="0" marL="0">
              <a:buNone/>
            </a:pPr>
            <a:r>
              <a:rPr lang="en-US" sz="3900" b="1" spc="-100" kern="0" dirty="0">
                <a:solidFill>
                  <a:srgbClr val="FFFFFF"/>
                </a:solidFill>
                <a:latin typeface="Cambria" pitchFamily="34" charset="0"/>
                <a:ea typeface="Cambria" pitchFamily="34" charset="-122"/>
                <a:cs typeface="Cambria" pitchFamily="34" charset="-120"/>
              </a:rPr>
              <a:t>Newton'un hareket yasaları</a:t>
            </a:r>
            <a:endParaRPr lang="en-US" sz="3900" dirty="0"/>
          </a:p>
        </p:txBody>
      </p:sp>
      <p:sp>
        <p:nvSpPr>
          <p:cNvPr id="8" name="Text 5"/>
          <p:cNvSpPr txBox="1"/>
          <p:nvPr/>
        </p:nvSpPr>
        <p:spPr>
          <a:xfrm>
            <a:off x="868680" y="3291840"/>
            <a:ext cx="4754880" cy="1371600"/>
          </a:xfrm>
          <a:prstGeom prst="rect">
            <a:avLst/>
          </a:prstGeom>
          <a:noFill/>
          <a:ln/>
        </p:spPr>
        <p:txBody>
          <a:bodyPr wrap="square" lIns="0" tIns="0" rIns="0" bIns="0" rtlCol="0" anchor="t"/>
          <a:lstStyle/>
          <a:p>
            <a:pPr indent="0" marL="0">
              <a:lnSpc>
                <a:spcPct val="125000"/>
              </a:lnSpc>
              <a:buNone/>
            </a:pPr>
            <a:r>
              <a:rPr lang="en-US" sz="1400" dirty="0">
                <a:solidFill>
                  <a:srgbClr val="C3CEE8"/>
                </a:solidFill>
                <a:latin typeface="Calibri" pitchFamily="34" charset="0"/>
                <a:ea typeface="Calibri" pitchFamily="34" charset="-122"/>
                <a:cs typeface="Calibri" pitchFamily="34" charset="-120"/>
              </a:rPr>
              <a:t>Cisimler kendiliğinden hızlanmaz, yavaşlamaz, dönmez. Hareketi değiştiren tek şey net kuvvettir. Üç yasa bu cümlenin ne anlama geldiğini, ne kadarını ve kime etki ettiğini söyler. Aşağıda kuvvetleri kendin ver ve sonucu ölç.</a:t>
            </a:r>
            <a:endParaRPr lang="en-US" sz="1400" dirty="0"/>
          </a:p>
        </p:txBody>
      </p:sp>
      <p:sp>
        <p:nvSpPr>
          <p:cNvPr id="9" name="Shape 6"/>
          <p:cNvSpPr/>
          <p:nvPr/>
        </p:nvSpPr>
        <p:spPr>
          <a:xfrm>
            <a:off x="868680" y="4892040"/>
            <a:ext cx="1115568" cy="566928"/>
          </a:xfrm>
          <a:prstGeom prst="roundRect">
            <a:avLst>
              <a:gd name="adj" fmla="val 16129"/>
            </a:avLst>
          </a:prstGeom>
          <a:solidFill>
            <a:srgbClr val="1C2542">
              <a:alpha val="90000"/>
            </a:srgbClr>
          </a:solidFill>
          <a:ln w="9525">
            <a:solidFill>
              <a:srgbClr val="2C3860"/>
            </a:solidFill>
            <a:prstDash val="solid"/>
          </a:ln>
        </p:spPr>
      </p:sp>
      <p:sp>
        <p:nvSpPr>
          <p:cNvPr id="10" name="Shape 7"/>
          <p:cNvSpPr/>
          <p:nvPr/>
        </p:nvSpPr>
        <p:spPr>
          <a:xfrm>
            <a:off x="978408" y="5020056"/>
            <a:ext cx="45720" cy="310896"/>
          </a:xfrm>
          <a:prstGeom prst="rect">
            <a:avLst/>
          </a:prstGeom>
          <a:solidFill>
            <a:srgbClr val="C6F36B"/>
          </a:solidFill>
          <a:ln/>
        </p:spPr>
      </p:sp>
      <p:sp>
        <p:nvSpPr>
          <p:cNvPr id="11" name="Text 8"/>
          <p:cNvSpPr txBox="1"/>
          <p:nvPr/>
        </p:nvSpPr>
        <p:spPr>
          <a:xfrm>
            <a:off x="1124712" y="4892040"/>
            <a:ext cx="841248" cy="566928"/>
          </a:xfrm>
          <a:prstGeom prst="rect">
            <a:avLst/>
          </a:prstGeom>
          <a:noFill/>
          <a:ln/>
        </p:spPr>
        <p:txBody>
          <a:bodyPr wrap="square" lIns="0" tIns="0" rIns="0" bIns="0" rtlCol="0" anchor="ctr"/>
          <a:lstStyle/>
          <a:p>
            <a:pPr indent="0" marL="0">
              <a:buNone/>
            </a:pPr>
            <a:r>
              <a:rPr lang="en-US" sz="1300" b="1" dirty="0">
                <a:solidFill>
                  <a:srgbClr val="C6F36B"/>
                </a:solidFill>
                <a:latin typeface="Calibri" pitchFamily="34" charset="0"/>
                <a:ea typeface="Calibri" pitchFamily="34" charset="-122"/>
                <a:cs typeface="Calibri" pitchFamily="34" charset="-120"/>
              </a:rPr>
              <a:t>1  </a:t>
            </a:r>
            <a:pPr indent="0" marL="0">
              <a:buNone/>
            </a:pPr>
            <a:r>
              <a:rPr lang="en-US" sz="1300" b="1" dirty="0">
                <a:solidFill>
                  <a:srgbClr val="FFFFFF"/>
                </a:solidFill>
                <a:latin typeface="Calibri" pitchFamily="34" charset="0"/>
                <a:ea typeface="Calibri" pitchFamily="34" charset="-122"/>
                <a:cs typeface="Calibri" pitchFamily="34" charset="-120"/>
              </a:rPr>
              <a:t>Temel</a:t>
            </a:r>
            <a:endParaRPr lang="en-US" sz="1300" dirty="0"/>
          </a:p>
        </p:txBody>
      </p:sp>
      <p:sp>
        <p:nvSpPr>
          <p:cNvPr id="12" name="Shape 9"/>
          <p:cNvSpPr/>
          <p:nvPr/>
        </p:nvSpPr>
        <p:spPr>
          <a:xfrm>
            <a:off x="2075688" y="4892040"/>
            <a:ext cx="1115568" cy="566928"/>
          </a:xfrm>
          <a:prstGeom prst="roundRect">
            <a:avLst>
              <a:gd name="adj" fmla="val 16129"/>
            </a:avLst>
          </a:prstGeom>
          <a:solidFill>
            <a:srgbClr val="1C2542">
              <a:alpha val="90000"/>
            </a:srgbClr>
          </a:solidFill>
          <a:ln w="9525">
            <a:solidFill>
              <a:srgbClr val="2C3860"/>
            </a:solidFill>
            <a:prstDash val="solid"/>
          </a:ln>
        </p:spPr>
      </p:sp>
      <p:sp>
        <p:nvSpPr>
          <p:cNvPr id="13" name="Shape 10"/>
          <p:cNvSpPr/>
          <p:nvPr/>
        </p:nvSpPr>
        <p:spPr>
          <a:xfrm>
            <a:off x="2185416" y="5020056"/>
            <a:ext cx="45720" cy="310896"/>
          </a:xfrm>
          <a:prstGeom prst="rect">
            <a:avLst/>
          </a:prstGeom>
          <a:solidFill>
            <a:srgbClr val="82AAFF"/>
          </a:solidFill>
          <a:ln/>
        </p:spPr>
      </p:sp>
      <p:sp>
        <p:nvSpPr>
          <p:cNvPr id="14" name="Text 11"/>
          <p:cNvSpPr txBox="1"/>
          <p:nvPr/>
        </p:nvSpPr>
        <p:spPr>
          <a:xfrm>
            <a:off x="2331720" y="4892040"/>
            <a:ext cx="841248" cy="566928"/>
          </a:xfrm>
          <a:prstGeom prst="rect">
            <a:avLst/>
          </a:prstGeom>
          <a:noFill/>
          <a:ln/>
        </p:spPr>
        <p:txBody>
          <a:bodyPr wrap="square" lIns="0" tIns="0" rIns="0" bIns="0" rtlCol="0" anchor="ctr"/>
          <a:lstStyle/>
          <a:p>
            <a:pPr indent="0" marL="0">
              <a:buNone/>
            </a:pPr>
            <a:r>
              <a:rPr lang="en-US" sz="1300" b="1" dirty="0">
                <a:solidFill>
                  <a:srgbClr val="82AAFF"/>
                </a:solidFill>
                <a:latin typeface="Calibri" pitchFamily="34" charset="0"/>
                <a:ea typeface="Calibri" pitchFamily="34" charset="-122"/>
                <a:cs typeface="Calibri" pitchFamily="34" charset="-120"/>
              </a:rPr>
              <a:t>2  </a:t>
            </a:r>
            <a:pPr indent="0" marL="0">
              <a:buNone/>
            </a:pPr>
            <a:r>
              <a:rPr lang="en-US" sz="1300" b="1" dirty="0">
                <a:solidFill>
                  <a:srgbClr val="FFFFFF"/>
                </a:solidFill>
                <a:latin typeface="Calibri" pitchFamily="34" charset="0"/>
                <a:ea typeface="Calibri" pitchFamily="34" charset="-122"/>
                <a:cs typeface="Calibri" pitchFamily="34" charset="-120"/>
              </a:rPr>
              <a:t>Orta</a:t>
            </a:r>
            <a:endParaRPr lang="en-US" sz="1300" dirty="0"/>
          </a:p>
        </p:txBody>
      </p:sp>
      <p:sp>
        <p:nvSpPr>
          <p:cNvPr id="15" name="Shape 12"/>
          <p:cNvSpPr/>
          <p:nvPr/>
        </p:nvSpPr>
        <p:spPr>
          <a:xfrm>
            <a:off x="3282696" y="4892040"/>
            <a:ext cx="1115568" cy="566928"/>
          </a:xfrm>
          <a:prstGeom prst="roundRect">
            <a:avLst>
              <a:gd name="adj" fmla="val 16129"/>
            </a:avLst>
          </a:prstGeom>
          <a:solidFill>
            <a:srgbClr val="1C2542">
              <a:alpha val="90000"/>
            </a:srgbClr>
          </a:solidFill>
          <a:ln w="9525">
            <a:solidFill>
              <a:srgbClr val="2C3860"/>
            </a:solidFill>
            <a:prstDash val="solid"/>
          </a:ln>
        </p:spPr>
      </p:sp>
      <p:sp>
        <p:nvSpPr>
          <p:cNvPr id="16" name="Shape 13"/>
          <p:cNvSpPr/>
          <p:nvPr/>
        </p:nvSpPr>
        <p:spPr>
          <a:xfrm>
            <a:off x="3392424" y="5020056"/>
            <a:ext cx="45720" cy="310896"/>
          </a:xfrm>
          <a:prstGeom prst="rect">
            <a:avLst/>
          </a:prstGeom>
          <a:solidFill>
            <a:srgbClr val="A093FF"/>
          </a:solidFill>
          <a:ln/>
        </p:spPr>
      </p:sp>
      <p:sp>
        <p:nvSpPr>
          <p:cNvPr id="17" name="Text 14"/>
          <p:cNvSpPr txBox="1"/>
          <p:nvPr/>
        </p:nvSpPr>
        <p:spPr>
          <a:xfrm>
            <a:off x="3538728" y="4892040"/>
            <a:ext cx="841248" cy="566928"/>
          </a:xfrm>
          <a:prstGeom prst="rect">
            <a:avLst/>
          </a:prstGeom>
          <a:noFill/>
          <a:ln/>
        </p:spPr>
        <p:txBody>
          <a:bodyPr wrap="square" lIns="0" tIns="0" rIns="0" bIns="0" rtlCol="0" anchor="ctr"/>
          <a:lstStyle/>
          <a:p>
            <a:pPr indent="0" marL="0">
              <a:buNone/>
            </a:pPr>
            <a:r>
              <a:rPr lang="en-US" sz="1300" b="1" dirty="0">
                <a:solidFill>
                  <a:srgbClr val="A093FF"/>
                </a:solidFill>
                <a:latin typeface="Calibri" pitchFamily="34" charset="0"/>
                <a:ea typeface="Calibri" pitchFamily="34" charset="-122"/>
                <a:cs typeface="Calibri" pitchFamily="34" charset="-120"/>
              </a:rPr>
              <a:t>3  </a:t>
            </a:r>
            <a:pPr indent="0" marL="0">
              <a:buNone/>
            </a:pPr>
            <a:r>
              <a:rPr lang="en-US" sz="1300" b="1" dirty="0">
                <a:solidFill>
                  <a:srgbClr val="FFFFFF"/>
                </a:solidFill>
                <a:latin typeface="Calibri" pitchFamily="34" charset="0"/>
                <a:ea typeface="Calibri" pitchFamily="34" charset="-122"/>
                <a:cs typeface="Calibri" pitchFamily="34" charset="-120"/>
              </a:rPr>
              <a:t>İleri</a:t>
            </a:r>
            <a:endParaRPr lang="en-US" sz="1300" dirty="0"/>
          </a:p>
        </p:txBody>
      </p:sp>
      <p:sp>
        <p:nvSpPr>
          <p:cNvPr id="18" name="Shape 15"/>
          <p:cNvSpPr/>
          <p:nvPr/>
        </p:nvSpPr>
        <p:spPr>
          <a:xfrm>
            <a:off x="4489704" y="4892040"/>
            <a:ext cx="1115568" cy="566928"/>
          </a:xfrm>
          <a:prstGeom prst="roundRect">
            <a:avLst>
              <a:gd name="adj" fmla="val 16129"/>
            </a:avLst>
          </a:prstGeom>
          <a:solidFill>
            <a:srgbClr val="1C2542">
              <a:alpha val="90000"/>
            </a:srgbClr>
          </a:solidFill>
          <a:ln w="9525">
            <a:solidFill>
              <a:srgbClr val="2C3860"/>
            </a:solidFill>
            <a:prstDash val="solid"/>
          </a:ln>
        </p:spPr>
      </p:sp>
      <p:sp>
        <p:nvSpPr>
          <p:cNvPr id="19" name="Shape 16"/>
          <p:cNvSpPr/>
          <p:nvPr/>
        </p:nvSpPr>
        <p:spPr>
          <a:xfrm>
            <a:off x="4599432" y="5020056"/>
            <a:ext cx="45720" cy="310896"/>
          </a:xfrm>
          <a:prstGeom prst="rect">
            <a:avLst/>
          </a:prstGeom>
          <a:solidFill>
            <a:srgbClr val="FFCB6B"/>
          </a:solidFill>
          <a:ln/>
        </p:spPr>
      </p:sp>
      <p:sp>
        <p:nvSpPr>
          <p:cNvPr id="20" name="Text 17"/>
          <p:cNvSpPr txBox="1"/>
          <p:nvPr/>
        </p:nvSpPr>
        <p:spPr>
          <a:xfrm>
            <a:off x="4745736" y="4892040"/>
            <a:ext cx="841248" cy="566928"/>
          </a:xfrm>
          <a:prstGeom prst="rect">
            <a:avLst/>
          </a:prstGeom>
          <a:noFill/>
          <a:ln/>
        </p:spPr>
        <p:txBody>
          <a:bodyPr wrap="square" lIns="0" tIns="0" rIns="0" bIns="0" rtlCol="0" anchor="ctr"/>
          <a:lstStyle/>
          <a:p>
            <a:pPr indent="0" marL="0">
              <a:buNone/>
            </a:pPr>
            <a:r>
              <a:rPr lang="en-US" sz="1300" b="1" dirty="0">
                <a:solidFill>
                  <a:srgbClr val="FFCB6B"/>
                </a:solidFill>
                <a:latin typeface="Calibri" pitchFamily="34" charset="0"/>
                <a:ea typeface="Calibri" pitchFamily="34" charset="-122"/>
                <a:cs typeface="Calibri" pitchFamily="34" charset="-120"/>
              </a:rPr>
              <a:t>4  </a:t>
            </a:r>
            <a:pPr indent="0" marL="0">
              <a:buNone/>
            </a:pPr>
            <a:r>
              <a:rPr lang="en-US" sz="1300" b="1" dirty="0">
                <a:solidFill>
                  <a:srgbClr val="FFFFFF"/>
                </a:solidFill>
                <a:latin typeface="Calibri" pitchFamily="34" charset="0"/>
                <a:ea typeface="Calibri" pitchFamily="34" charset="-122"/>
                <a:cs typeface="Calibri" pitchFamily="34" charset="-120"/>
              </a:rPr>
              <a:t>Pekiştir</a:t>
            </a:r>
            <a:endParaRPr lang="en-US" sz="1300" dirty="0"/>
          </a:p>
        </p:txBody>
      </p:sp>
      <p:sp>
        <p:nvSpPr>
          <p:cNvPr id="21" name="Shape 18"/>
          <p:cNvSpPr/>
          <p:nvPr/>
        </p:nvSpPr>
        <p:spPr>
          <a:xfrm>
            <a:off x="640080" y="6382512"/>
            <a:ext cx="128016" cy="128016"/>
          </a:xfrm>
          <a:prstGeom prst="roundRect">
            <a:avLst>
              <a:gd name="adj" fmla="val 28571"/>
            </a:avLst>
          </a:prstGeom>
          <a:solidFill>
            <a:srgbClr val="C6F36B"/>
          </a:solidFill>
          <a:ln/>
        </p:spPr>
      </p:sp>
      <p:sp>
        <p:nvSpPr>
          <p:cNvPr id="22" name="Text 1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6A7798"/>
                </a:solidFill>
                <a:latin typeface="Calibri" pitchFamily="34" charset="0"/>
                <a:ea typeface="Calibri" pitchFamily="34" charset="-122"/>
                <a:cs typeface="Calibri" pitchFamily="34" charset="-120"/>
              </a:rPr>
              <a:t>dersler.perinet.org/newton-yasalari.html</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Başlarken</a:t>
            </a:r>
            <a:endParaRPr lang="en-US" sz="3200" dirty="0"/>
          </a:p>
        </p:txBody>
      </p:sp>
      <p:sp>
        <p:nvSpPr>
          <p:cNvPr id="5" name="Text 3"/>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Konuya günlük bir soruyla giriyoruz.</a:t>
            </a:r>
            <a:endParaRPr lang="en-US" sz="1450" dirty="0"/>
          </a:p>
        </p:txBody>
      </p:sp>
      <p:sp>
        <p:nvSpPr>
          <p:cNvPr id="6" name="Shape 4"/>
          <p:cNvSpPr/>
          <p:nvPr/>
        </p:nvSpPr>
        <p:spPr>
          <a:xfrm>
            <a:off x="1188720" y="1828800"/>
            <a:ext cx="9814255" cy="3931920"/>
          </a:xfrm>
          <a:prstGeom prst="roundRect">
            <a:avLst>
              <a:gd name="adj" fmla="val 5116"/>
            </a:avLst>
          </a:prstGeom>
          <a:solidFill>
            <a:srgbClr val="FFFFFF"/>
          </a:solidFill>
          <a:ln w="9525">
            <a:solidFill>
              <a:srgbClr val="CFC8F5"/>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225296" y="2286000"/>
            <a:ext cx="64008" cy="3017520"/>
          </a:xfrm>
          <a:prstGeom prst="rect">
            <a:avLst/>
          </a:prstGeom>
          <a:solidFill>
            <a:srgbClr val="5F4BD8"/>
          </a:solidFill>
          <a:ln/>
        </p:spPr>
      </p:sp>
      <p:sp>
        <p:nvSpPr>
          <p:cNvPr id="8" name="Text 6"/>
          <p:cNvSpPr txBox="1"/>
          <p:nvPr/>
        </p:nvSpPr>
        <p:spPr>
          <a:xfrm>
            <a:off x="1828800" y="2194560"/>
            <a:ext cx="8534095" cy="3200400"/>
          </a:xfrm>
          <a:prstGeom prst="rect">
            <a:avLst/>
          </a:prstGeom>
          <a:noFill/>
          <a:ln/>
        </p:spPr>
        <p:txBody>
          <a:bodyPr wrap="square" lIns="0" tIns="0" rIns="0" bIns="0" rtlCol="0" anchor="ctr"/>
          <a:lstStyle/>
          <a:p>
            <a:pPr indent="0" marL="0">
              <a:lnSpc>
                <a:spcPct val="130000"/>
              </a:lnSpc>
              <a:buNone/>
            </a:pPr>
            <a:r>
              <a:rPr lang="en-US" sz="2200" dirty="0">
                <a:solidFill>
                  <a:srgbClr val="0E1426"/>
                </a:solidFill>
                <a:latin typeface="Cambria" pitchFamily="34" charset="0"/>
                <a:ea typeface="Cambria" pitchFamily="34" charset="-122"/>
                <a:cs typeface="Cambria" pitchFamily="34" charset="-120"/>
              </a:rPr>
              <a:t>Otobüs ani fren yapınca neden öne savrulursun?</a:t>
            </a:r>
            <a:pPr indent="0" marL="0">
              <a:lnSpc>
                <a:spcPct val="130000"/>
              </a:lnSpc>
              <a:buNone/>
            </a:pPr>
            <a:r>
              <a:rPr lang="en-US" sz="2200" dirty="0">
                <a:solidFill>
                  <a:srgbClr val="0E1426"/>
                </a:solidFill>
                <a:latin typeface="Cambria" pitchFamily="34" charset="0"/>
                <a:ea typeface="Cambria" pitchFamily="34" charset="-122"/>
                <a:cs typeface="Cambria" pitchFamily="34" charset="-120"/>
              </a:rPr>
              <a:t> </a:t>
            </a:r>
            <a:pPr indent="0" marL="0">
              <a:lnSpc>
                <a:spcPct val="130000"/>
              </a:lnSpc>
              <a:buNone/>
            </a:pPr>
            <a:r>
              <a:rPr lang="en-US" sz="2200" dirty="0">
                <a:solidFill>
                  <a:srgbClr val="0E1426"/>
                </a:solidFill>
                <a:latin typeface="Cambria" pitchFamily="34" charset="0"/>
                <a:ea typeface="Cambria" pitchFamily="34" charset="-122"/>
                <a:cs typeface="Cambria" pitchFamily="34" charset="-120"/>
              </a:rPr>
              <a:t>Roket, itecek hiçbir şeyin olmadığı boşlukta nasıl hızlanır?</a:t>
            </a:r>
            <a:pPr indent="0" marL="0">
              <a:lnSpc>
                <a:spcPct val="130000"/>
              </a:lnSpc>
              <a:buNone/>
            </a:pPr>
            <a:r>
              <a:rPr lang="en-US" sz="2200" dirty="0">
                <a:solidFill>
                  <a:srgbClr val="0E1426"/>
                </a:solidFill>
                <a:latin typeface="Cambria" pitchFamily="34" charset="0"/>
                <a:ea typeface="Cambria" pitchFamily="34" charset="-122"/>
                <a:cs typeface="Cambria" pitchFamily="34" charset="-120"/>
              </a:rPr>
              <a:t> </a:t>
            </a:r>
            <a:pPr indent="0" marL="0">
              <a:lnSpc>
                <a:spcPct val="130000"/>
              </a:lnSpc>
              <a:buNone/>
            </a:pPr>
            <a:r>
              <a:rPr lang="en-US" sz="2200" dirty="0">
                <a:solidFill>
                  <a:srgbClr val="0E1426"/>
                </a:solidFill>
                <a:latin typeface="Cambria" pitchFamily="34" charset="0"/>
                <a:ea typeface="Cambria" pitchFamily="34" charset="-122"/>
                <a:cs typeface="Cambria" pitchFamily="34" charset="-120"/>
              </a:rPr>
              <a:t>Asansörde tartı neden bazen fazla, bazen az yazar?</a:t>
            </a:r>
            <a:pPr indent="0" marL="0">
              <a:lnSpc>
                <a:spcPct val="130000"/>
              </a:lnSpc>
              <a:buNone/>
            </a:pPr>
            <a:r>
              <a:rPr lang="en-US" sz="2200" dirty="0">
                <a:solidFill>
                  <a:srgbClr val="0E1426"/>
                </a:solidFill>
                <a:latin typeface="Cambria" pitchFamily="34" charset="0"/>
                <a:ea typeface="Cambria" pitchFamily="34" charset="-122"/>
                <a:cs typeface="Cambria" pitchFamily="34" charset="-120"/>
              </a:rPr>
              <a:t> </a:t>
            </a:r>
            <a:pPr indent="0" marL="0">
              <a:lnSpc>
                <a:spcPct val="130000"/>
              </a:lnSpc>
              <a:buNone/>
            </a:pPr>
            <a:r>
              <a:rPr lang="en-US" sz="2200" dirty="0">
                <a:solidFill>
                  <a:srgbClr val="0E1426"/>
                </a:solidFill>
                <a:latin typeface="Cambria" pitchFamily="34" charset="0"/>
                <a:ea typeface="Cambria" pitchFamily="34" charset="-122"/>
                <a:cs typeface="Cambria" pitchFamily="34" charset="-120"/>
              </a:rPr>
              <a:t>Üç sorunun da cevabı aynı </a:t>
            </a:r>
            <a:pPr indent="0" marL="0">
              <a:lnSpc>
                <a:spcPct val="130000"/>
              </a:lnSpc>
              <a:buNone/>
            </a:pPr>
            <a:r>
              <a:rPr lang="en-US" sz="2200" b="1" dirty="0">
                <a:solidFill>
                  <a:srgbClr val="5F4BD8"/>
                </a:solidFill>
                <a:latin typeface="Cambria" pitchFamily="34" charset="0"/>
                <a:ea typeface="Cambria" pitchFamily="34" charset="-122"/>
                <a:cs typeface="Cambria" pitchFamily="34" charset="-120"/>
              </a:rPr>
              <a:t>üç yasada</a:t>
            </a:r>
            <a:pPr indent="0" marL="0">
              <a:lnSpc>
                <a:spcPct val="130000"/>
              </a:lnSpc>
              <a:buNone/>
            </a:pPr>
            <a:r>
              <a:rPr lang="en-US" sz="2200" dirty="0">
                <a:solidFill>
                  <a:srgbClr val="0E1426"/>
                </a:solidFill>
                <a:latin typeface="Cambria" pitchFamily="34" charset="0"/>
                <a:ea typeface="Cambria" pitchFamily="34" charset="-122"/>
                <a:cs typeface="Cambria" pitchFamily="34" charset="-120"/>
              </a:rPr>
              <a:t>.</a:t>
            </a:r>
            <a:pPr indent="0" marL="0">
              <a:lnSpc>
                <a:spcPct val="130000"/>
              </a:lnSpc>
              <a:buNone/>
            </a:pPr>
            <a:r>
              <a:rPr lang="en-US" sz="2200" dirty="0">
                <a:solidFill>
                  <a:srgbClr val="0E1426"/>
                </a:solidFill>
                <a:latin typeface="Cambria" pitchFamily="34" charset="0"/>
                <a:ea typeface="Cambria" pitchFamily="34" charset="-122"/>
                <a:cs typeface="Cambria" pitchFamily="34" charset="-120"/>
              </a:rPr>
              <a:t> </a:t>
            </a:r>
            <a:pPr indent="0" marL="0">
              <a:lnSpc>
                <a:spcPct val="130000"/>
              </a:lnSpc>
              <a:buNone/>
            </a:pPr>
            <a:r>
              <a:rPr lang="en-US" sz="2200" dirty="0">
                <a:solidFill>
                  <a:srgbClr val="0E1426"/>
                </a:solidFill>
                <a:latin typeface="Cambria" pitchFamily="34" charset="0"/>
                <a:ea typeface="Cambria" pitchFamily="34" charset="-122"/>
                <a:cs typeface="Cambria" pitchFamily="34" charset="-120"/>
              </a:rPr>
              <a:t>Newton'un yaptığı şey, "kuvvet" gibi bulanık bir sezgiyi </a:t>
            </a:r>
            <a:pPr indent="0" marL="0">
              <a:lnSpc>
                <a:spcPct val="130000"/>
              </a:lnSpc>
              <a:buNone/>
            </a:pPr>
            <a:r>
              <a:rPr lang="en-US" sz="2200" b="1" dirty="0">
                <a:solidFill>
                  <a:srgbClr val="5F4BD8"/>
                </a:solidFill>
                <a:latin typeface="Cambria" pitchFamily="34" charset="0"/>
                <a:ea typeface="Cambria" pitchFamily="34" charset="-122"/>
                <a:cs typeface="Cambria" pitchFamily="34" charset="-120"/>
              </a:rPr>
              <a:t>ölçülebilir bir büyüklüğe</a:t>
            </a:r>
            <a:pPr indent="0" marL="0">
              <a:lnSpc>
                <a:spcPct val="130000"/>
              </a:lnSpc>
              <a:buNone/>
            </a:pPr>
            <a:r>
              <a:rPr lang="en-US" sz="2200" dirty="0">
                <a:solidFill>
                  <a:srgbClr val="0E1426"/>
                </a:solidFill>
                <a:latin typeface="Cambria" pitchFamily="34" charset="0"/>
                <a:ea typeface="Cambria" pitchFamily="34" charset="-122"/>
                <a:cs typeface="Cambria" pitchFamily="34" charset="-120"/>
              </a:rPr>
              <a:t> çevirmekti: artık kuvveti biliyorsan hareketi hesaplayabilir, hareketi görüyorsan kuvveti geri okuyabilirsin.</a:t>
            </a:r>
            <a:endParaRPr lang="en-US" sz="2200" dirty="0"/>
          </a:p>
        </p:txBody>
      </p:sp>
      <p:sp>
        <p:nvSpPr>
          <p:cNvPr id="9" name="Shape 7"/>
          <p:cNvSpPr/>
          <p:nvPr/>
        </p:nvSpPr>
        <p:spPr>
          <a:xfrm>
            <a:off x="640080" y="6382512"/>
            <a:ext cx="128016" cy="128016"/>
          </a:xfrm>
          <a:prstGeom prst="roundRect">
            <a:avLst>
              <a:gd name="adj" fmla="val 28571"/>
            </a:avLst>
          </a:prstGeom>
          <a:solidFill>
            <a:srgbClr val="A9E648"/>
          </a:solidFill>
          <a:ln/>
        </p:spPr>
      </p:sp>
      <p:sp>
        <p:nvSpPr>
          <p:cNvPr id="10" name="Text 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dersler.perinet.org/newton-yasalari.html</a:t>
            </a:r>
            <a:endParaRPr lang="en-US" sz="1050" dirty="0"/>
          </a:p>
        </p:txBody>
      </p:sp>
      <p:sp>
        <p:nvSpPr>
          <p:cNvPr id="11" name="Text 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02</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Bu derste</a:t>
            </a:r>
            <a:endParaRPr lang="en-US" sz="3200" dirty="0"/>
          </a:p>
        </p:txBody>
      </p:sp>
      <p:sp>
        <p:nvSpPr>
          <p:cNvPr id="5" name="Text 3"/>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Dört basamak, kolaydan zora: önce sezgi, sonra bağıntılar, sonra derinleşme; en sonda pekiştirme.</a:t>
            </a:r>
            <a:endParaRPr lang="en-US" sz="1450" dirty="0"/>
          </a:p>
        </p:txBody>
      </p:sp>
      <p:sp>
        <p:nvSpPr>
          <p:cNvPr id="6" name="Shape 4"/>
          <p:cNvSpPr/>
          <p:nvPr/>
        </p:nvSpPr>
        <p:spPr>
          <a:xfrm>
            <a:off x="640080" y="1645920"/>
            <a:ext cx="2577008" cy="4498848"/>
          </a:xfrm>
          <a:prstGeom prst="roundRect">
            <a:avLst>
              <a:gd name="adj" fmla="val 5677"/>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822960" y="1645920"/>
            <a:ext cx="2211248" cy="64008"/>
          </a:xfrm>
          <a:prstGeom prst="rect">
            <a:avLst/>
          </a:prstGeom>
          <a:solidFill>
            <a:srgbClr val="3C8C21"/>
          </a:solidFill>
          <a:ln/>
        </p:spPr>
      </p:sp>
      <p:sp>
        <p:nvSpPr>
          <p:cNvPr id="8" name="Shape 6"/>
          <p:cNvSpPr/>
          <p:nvPr/>
        </p:nvSpPr>
        <p:spPr>
          <a:xfrm>
            <a:off x="859536" y="1920240"/>
            <a:ext cx="420624" cy="420624"/>
          </a:xfrm>
          <a:prstGeom prst="roundRect">
            <a:avLst>
              <a:gd name="adj" fmla="val 26000"/>
            </a:avLst>
          </a:prstGeom>
          <a:solidFill>
            <a:srgbClr val="3C8C21"/>
          </a:solidFill>
          <a:ln/>
        </p:spPr>
      </p:sp>
      <p:sp>
        <p:nvSpPr>
          <p:cNvPr id="9" name="Text 7"/>
          <p:cNvSpPr txBox="1"/>
          <p:nvPr/>
        </p:nvSpPr>
        <p:spPr>
          <a:xfrm>
            <a:off x="859536" y="1920240"/>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0" name="Text 8"/>
          <p:cNvSpPr txBox="1"/>
          <p:nvPr/>
        </p:nvSpPr>
        <p:spPr>
          <a:xfrm>
            <a:off x="1408176" y="1901952"/>
            <a:ext cx="1662608" cy="457200"/>
          </a:xfrm>
          <a:prstGeom prst="rect">
            <a:avLst/>
          </a:prstGeom>
          <a:noFill/>
          <a:ln/>
        </p:spPr>
        <p:txBody>
          <a:bodyPr wrap="square" lIns="0" tIns="0" rIns="0" bIns="0" rtlCol="0" anchor="ctr"/>
          <a:lstStyle/>
          <a:p>
            <a:pPr indent="0" marL="0">
              <a:buNone/>
            </a:pPr>
            <a:r>
              <a:rPr lang="en-US" sz="1900" b="1" dirty="0">
                <a:solidFill>
                  <a:srgbClr val="0E1426"/>
                </a:solidFill>
                <a:latin typeface="Cambria" pitchFamily="34" charset="0"/>
                <a:ea typeface="Cambria" pitchFamily="34" charset="-122"/>
                <a:cs typeface="Cambria" pitchFamily="34" charset="-120"/>
              </a:rPr>
              <a:t>Temel</a:t>
            </a:r>
            <a:endParaRPr lang="en-US" sz="1900" dirty="0"/>
          </a:p>
        </p:txBody>
      </p:sp>
      <p:sp>
        <p:nvSpPr>
          <p:cNvPr id="11" name="Text 9"/>
          <p:cNvSpPr txBox="1"/>
          <p:nvPr/>
        </p:nvSpPr>
        <p:spPr>
          <a:xfrm>
            <a:off x="859536" y="2487168"/>
            <a:ext cx="2138096" cy="868680"/>
          </a:xfrm>
          <a:prstGeom prst="rect">
            <a:avLst/>
          </a:prstGeom>
          <a:noFill/>
          <a:ln/>
        </p:spPr>
        <p:txBody>
          <a:bodyPr wrap="square" lIns="0" tIns="0" rIns="0" bIns="0" rtlCol="0" anchor="t"/>
          <a:lstStyle/>
          <a:p>
            <a:pPr indent="0" marL="0">
              <a:lnSpc>
                <a:spcPct val="110000"/>
              </a:lnSpc>
              <a:buNone/>
            </a:pPr>
            <a:r>
              <a:rPr lang="en-US" sz="950" dirty="0">
                <a:solidFill>
                  <a:srgbClr val="4A5470"/>
                </a:solidFill>
                <a:latin typeface="Calibri" pitchFamily="34" charset="0"/>
                <a:ea typeface="Calibri" pitchFamily="34" charset="-122"/>
                <a:cs typeface="Calibri" pitchFamily="34" charset="-120"/>
              </a:rPr>
              <a:t>Önce sezgi: günlük bir savrulmayı gözle, kuvvete ve net kuvvete ad koy, eylemsizliği ve kütle ile ağırlığın farkını kavra. Bu basamakta hesap yok denecek kadar az.</a:t>
            </a:r>
            <a:endParaRPr lang="en-US" sz="950" dirty="0"/>
          </a:p>
        </p:txBody>
      </p:sp>
      <p:sp>
        <p:nvSpPr>
          <p:cNvPr id="12" name="Shape 10"/>
          <p:cNvSpPr/>
          <p:nvPr/>
        </p:nvSpPr>
        <p:spPr>
          <a:xfrm>
            <a:off x="859536" y="3429000"/>
            <a:ext cx="2138096" cy="0"/>
          </a:xfrm>
          <a:prstGeom prst="line">
            <a:avLst/>
          </a:prstGeom>
          <a:noFill/>
          <a:ln w="9525">
            <a:solidFill>
              <a:srgbClr val="E1E5EE"/>
            </a:solidFill>
            <a:prstDash val="dash"/>
          </a:ln>
        </p:spPr>
      </p:sp>
      <p:sp>
        <p:nvSpPr>
          <p:cNvPr id="13" name="Text 11"/>
          <p:cNvSpPr txBox="1"/>
          <p:nvPr/>
        </p:nvSpPr>
        <p:spPr>
          <a:xfrm>
            <a:off x="859536" y="3566160"/>
            <a:ext cx="384048" cy="578358"/>
          </a:xfrm>
          <a:prstGeom prst="rect">
            <a:avLst/>
          </a:prstGeom>
          <a:noFill/>
          <a:ln/>
        </p:spPr>
        <p:txBody>
          <a:bodyPr wrap="square" lIns="0" tIns="0" rIns="0" bIns="0" rtlCol="0" anchor="t"/>
          <a:lstStyle/>
          <a:p>
            <a:pPr indent="0" marL="0">
              <a:buNone/>
            </a:pPr>
            <a:r>
              <a:rPr lang="en-US" sz="1100" b="1" dirty="0">
                <a:solidFill>
                  <a:srgbClr val="3C8C21"/>
                </a:solidFill>
                <a:latin typeface="Calibri" pitchFamily="34" charset="0"/>
                <a:ea typeface="Calibri" pitchFamily="34" charset="-122"/>
                <a:cs typeface="Calibri" pitchFamily="34" charset="-120"/>
              </a:rPr>
              <a:t>01</a:t>
            </a:r>
            <a:endParaRPr lang="en-US" sz="1100" dirty="0"/>
          </a:p>
        </p:txBody>
      </p:sp>
      <p:sp>
        <p:nvSpPr>
          <p:cNvPr id="14" name="Text 12"/>
          <p:cNvSpPr txBox="1"/>
          <p:nvPr/>
        </p:nvSpPr>
        <p:spPr>
          <a:xfrm>
            <a:off x="1243584" y="3566160"/>
            <a:ext cx="1754048" cy="578358"/>
          </a:xfrm>
          <a:prstGeom prst="rect">
            <a:avLst/>
          </a:prstGeom>
          <a:noFill/>
          <a:ln/>
        </p:spPr>
        <p:txBody>
          <a:bodyPr wrap="square" lIns="0" tIns="0" rIns="0" bIns="0" rtlCol="0" anchor="t"/>
          <a:lstStyle/>
          <a:p>
            <a:pPr indent="0" marL="0">
              <a:lnSpc>
                <a:spcPct val="105000"/>
              </a:lnSpc>
              <a:buNone/>
            </a:pPr>
            <a:r>
              <a:rPr lang="en-US" sz="1150" b="1" dirty="0">
                <a:solidFill>
                  <a:srgbClr val="0E1426"/>
                </a:solidFill>
                <a:latin typeface="Calibri" pitchFamily="34" charset="0"/>
                <a:ea typeface="Calibri" pitchFamily="34" charset="-122"/>
                <a:cs typeface="Calibri" pitchFamily="34" charset="-120"/>
              </a:rPr>
              <a:t>Önce gözlemle: otobüs ani fren yapınca ne olur?</a:t>
            </a:r>
            <a:endParaRPr lang="en-US" sz="1150" dirty="0"/>
          </a:p>
        </p:txBody>
      </p:sp>
      <p:sp>
        <p:nvSpPr>
          <p:cNvPr id="15" name="Text 13"/>
          <p:cNvSpPr txBox="1"/>
          <p:nvPr/>
        </p:nvSpPr>
        <p:spPr>
          <a:xfrm>
            <a:off x="859536" y="4199382"/>
            <a:ext cx="384048" cy="578358"/>
          </a:xfrm>
          <a:prstGeom prst="rect">
            <a:avLst/>
          </a:prstGeom>
          <a:noFill/>
          <a:ln/>
        </p:spPr>
        <p:txBody>
          <a:bodyPr wrap="square" lIns="0" tIns="0" rIns="0" bIns="0" rtlCol="0" anchor="t"/>
          <a:lstStyle/>
          <a:p>
            <a:pPr indent="0" marL="0">
              <a:buNone/>
            </a:pPr>
            <a:r>
              <a:rPr lang="en-US" sz="1100" b="1" dirty="0">
                <a:solidFill>
                  <a:srgbClr val="3C8C21"/>
                </a:solidFill>
                <a:latin typeface="Calibri" pitchFamily="34" charset="0"/>
                <a:ea typeface="Calibri" pitchFamily="34" charset="-122"/>
                <a:cs typeface="Calibri" pitchFamily="34" charset="-120"/>
              </a:rPr>
              <a:t>02</a:t>
            </a:r>
            <a:endParaRPr lang="en-US" sz="1100" dirty="0"/>
          </a:p>
        </p:txBody>
      </p:sp>
      <p:sp>
        <p:nvSpPr>
          <p:cNvPr id="16" name="Text 14"/>
          <p:cNvSpPr txBox="1"/>
          <p:nvPr/>
        </p:nvSpPr>
        <p:spPr>
          <a:xfrm>
            <a:off x="1243584" y="4199382"/>
            <a:ext cx="1754048" cy="578358"/>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Kuvvet ve net kuvvet</a:t>
            </a:r>
            <a:endParaRPr lang="en-US" sz="1250" dirty="0"/>
          </a:p>
        </p:txBody>
      </p:sp>
      <p:sp>
        <p:nvSpPr>
          <p:cNvPr id="17" name="Text 15"/>
          <p:cNvSpPr txBox="1"/>
          <p:nvPr/>
        </p:nvSpPr>
        <p:spPr>
          <a:xfrm>
            <a:off x="859536" y="4832604"/>
            <a:ext cx="384048" cy="578358"/>
          </a:xfrm>
          <a:prstGeom prst="rect">
            <a:avLst/>
          </a:prstGeom>
          <a:noFill/>
          <a:ln/>
        </p:spPr>
        <p:txBody>
          <a:bodyPr wrap="square" lIns="0" tIns="0" rIns="0" bIns="0" rtlCol="0" anchor="t"/>
          <a:lstStyle/>
          <a:p>
            <a:pPr indent="0" marL="0">
              <a:buNone/>
            </a:pPr>
            <a:r>
              <a:rPr lang="en-US" sz="1100" b="1" dirty="0">
                <a:solidFill>
                  <a:srgbClr val="3C8C21"/>
                </a:solidFill>
                <a:latin typeface="Calibri" pitchFamily="34" charset="0"/>
                <a:ea typeface="Calibri" pitchFamily="34" charset="-122"/>
                <a:cs typeface="Calibri" pitchFamily="34" charset="-120"/>
              </a:rPr>
              <a:t>03</a:t>
            </a:r>
            <a:endParaRPr lang="en-US" sz="1100" dirty="0"/>
          </a:p>
        </p:txBody>
      </p:sp>
      <p:sp>
        <p:nvSpPr>
          <p:cNvPr id="18" name="Text 16"/>
          <p:cNvSpPr txBox="1"/>
          <p:nvPr/>
        </p:nvSpPr>
        <p:spPr>
          <a:xfrm>
            <a:off x="1243584" y="4832604"/>
            <a:ext cx="1754048" cy="578358"/>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1. yasa: eylemsizlik</a:t>
            </a:r>
            <a:endParaRPr lang="en-US" sz="1250" dirty="0"/>
          </a:p>
        </p:txBody>
      </p:sp>
      <p:sp>
        <p:nvSpPr>
          <p:cNvPr id="19" name="Text 17"/>
          <p:cNvSpPr txBox="1"/>
          <p:nvPr/>
        </p:nvSpPr>
        <p:spPr>
          <a:xfrm>
            <a:off x="859536" y="5465826"/>
            <a:ext cx="384048" cy="578358"/>
          </a:xfrm>
          <a:prstGeom prst="rect">
            <a:avLst/>
          </a:prstGeom>
          <a:noFill/>
          <a:ln/>
        </p:spPr>
        <p:txBody>
          <a:bodyPr wrap="square" lIns="0" tIns="0" rIns="0" bIns="0" rtlCol="0" anchor="t"/>
          <a:lstStyle/>
          <a:p>
            <a:pPr indent="0" marL="0">
              <a:buNone/>
            </a:pPr>
            <a:r>
              <a:rPr lang="en-US" sz="1100" b="1" dirty="0">
                <a:solidFill>
                  <a:srgbClr val="3C8C21"/>
                </a:solidFill>
                <a:latin typeface="Calibri" pitchFamily="34" charset="0"/>
                <a:ea typeface="Calibri" pitchFamily="34" charset="-122"/>
                <a:cs typeface="Calibri" pitchFamily="34" charset="-120"/>
              </a:rPr>
              <a:t>04</a:t>
            </a:r>
            <a:endParaRPr lang="en-US" sz="1100" dirty="0"/>
          </a:p>
        </p:txBody>
      </p:sp>
      <p:sp>
        <p:nvSpPr>
          <p:cNvPr id="20" name="Text 18"/>
          <p:cNvSpPr txBox="1"/>
          <p:nvPr/>
        </p:nvSpPr>
        <p:spPr>
          <a:xfrm>
            <a:off x="1243584" y="5465826"/>
            <a:ext cx="1754048" cy="578358"/>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Kütle ve ağırlık: aynı şey değil</a:t>
            </a:r>
            <a:endParaRPr lang="en-US" sz="1250" dirty="0"/>
          </a:p>
        </p:txBody>
      </p:sp>
      <p:sp>
        <p:nvSpPr>
          <p:cNvPr id="21" name="Shape 19"/>
          <p:cNvSpPr/>
          <p:nvPr/>
        </p:nvSpPr>
        <p:spPr>
          <a:xfrm>
            <a:off x="3418256" y="1645920"/>
            <a:ext cx="2577008" cy="4498848"/>
          </a:xfrm>
          <a:prstGeom prst="roundRect">
            <a:avLst>
              <a:gd name="adj" fmla="val 5677"/>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2" name="Shape 20"/>
          <p:cNvSpPr/>
          <p:nvPr/>
        </p:nvSpPr>
        <p:spPr>
          <a:xfrm>
            <a:off x="3601136" y="1645920"/>
            <a:ext cx="2211248" cy="64008"/>
          </a:xfrm>
          <a:prstGeom prst="rect">
            <a:avLst/>
          </a:prstGeom>
          <a:solidFill>
            <a:srgbClr val="2957D4"/>
          </a:solidFill>
          <a:ln/>
        </p:spPr>
      </p:sp>
      <p:sp>
        <p:nvSpPr>
          <p:cNvPr id="23" name="Shape 21"/>
          <p:cNvSpPr/>
          <p:nvPr/>
        </p:nvSpPr>
        <p:spPr>
          <a:xfrm>
            <a:off x="3637712" y="1920240"/>
            <a:ext cx="420624" cy="420624"/>
          </a:xfrm>
          <a:prstGeom prst="roundRect">
            <a:avLst>
              <a:gd name="adj" fmla="val 26000"/>
            </a:avLst>
          </a:prstGeom>
          <a:solidFill>
            <a:srgbClr val="2957D4"/>
          </a:solidFill>
          <a:ln/>
        </p:spPr>
      </p:sp>
      <p:sp>
        <p:nvSpPr>
          <p:cNvPr id="24" name="Text 22"/>
          <p:cNvSpPr txBox="1"/>
          <p:nvPr/>
        </p:nvSpPr>
        <p:spPr>
          <a:xfrm>
            <a:off x="3637712" y="1920240"/>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5" name="Text 23"/>
          <p:cNvSpPr txBox="1"/>
          <p:nvPr/>
        </p:nvSpPr>
        <p:spPr>
          <a:xfrm>
            <a:off x="4186352" y="1901952"/>
            <a:ext cx="1662608" cy="457200"/>
          </a:xfrm>
          <a:prstGeom prst="rect">
            <a:avLst/>
          </a:prstGeom>
          <a:noFill/>
          <a:ln/>
        </p:spPr>
        <p:txBody>
          <a:bodyPr wrap="square" lIns="0" tIns="0" rIns="0" bIns="0" rtlCol="0" anchor="ctr"/>
          <a:lstStyle/>
          <a:p>
            <a:pPr indent="0" marL="0">
              <a:buNone/>
            </a:pPr>
            <a:r>
              <a:rPr lang="en-US" sz="1900" b="1" dirty="0">
                <a:solidFill>
                  <a:srgbClr val="0E1426"/>
                </a:solidFill>
                <a:latin typeface="Cambria" pitchFamily="34" charset="0"/>
                <a:ea typeface="Cambria" pitchFamily="34" charset="-122"/>
                <a:cs typeface="Cambria" pitchFamily="34" charset="-120"/>
              </a:rPr>
              <a:t>Orta</a:t>
            </a:r>
            <a:endParaRPr lang="en-US" sz="1900" dirty="0"/>
          </a:p>
        </p:txBody>
      </p:sp>
      <p:sp>
        <p:nvSpPr>
          <p:cNvPr id="26" name="Text 24"/>
          <p:cNvSpPr txBox="1"/>
          <p:nvPr/>
        </p:nvSpPr>
        <p:spPr>
          <a:xfrm>
            <a:off x="3637712" y="2487168"/>
            <a:ext cx="2138096" cy="868680"/>
          </a:xfrm>
          <a:prstGeom prst="rect">
            <a:avLst/>
          </a:prstGeom>
          <a:noFill/>
          <a:ln/>
        </p:spPr>
        <p:txBody>
          <a:bodyPr wrap="square" lIns="0" tIns="0" rIns="0" bIns="0" rtlCol="0" anchor="t"/>
          <a:lstStyle/>
          <a:p>
            <a:pPr indent="0" marL="0">
              <a:lnSpc>
                <a:spcPct val="110000"/>
              </a:lnSpc>
              <a:buNone/>
            </a:pPr>
            <a:r>
              <a:rPr lang="en-US" sz="1150" dirty="0">
                <a:solidFill>
                  <a:srgbClr val="4A5470"/>
                </a:solidFill>
                <a:latin typeface="Calibri" pitchFamily="34" charset="0"/>
                <a:ea typeface="Calibri" pitchFamily="34" charset="-122"/>
                <a:cs typeface="Calibri" pitchFamily="34" charset="-120"/>
              </a:rPr>
              <a:t>Bağıntılar: ΣF = m·a'yı, etki–tepkiyi, serbest cisim diyagramını, sürtünmeyi ve asansörü adım adım çöz.</a:t>
            </a:r>
            <a:endParaRPr lang="en-US" sz="1150" dirty="0"/>
          </a:p>
        </p:txBody>
      </p:sp>
      <p:sp>
        <p:nvSpPr>
          <p:cNvPr id="27" name="Shape 25"/>
          <p:cNvSpPr/>
          <p:nvPr/>
        </p:nvSpPr>
        <p:spPr>
          <a:xfrm>
            <a:off x="3637712" y="3429000"/>
            <a:ext cx="2138096" cy="0"/>
          </a:xfrm>
          <a:prstGeom prst="line">
            <a:avLst/>
          </a:prstGeom>
          <a:noFill/>
          <a:ln w="9525">
            <a:solidFill>
              <a:srgbClr val="E1E5EE"/>
            </a:solidFill>
            <a:prstDash val="dash"/>
          </a:ln>
        </p:spPr>
      </p:sp>
      <p:sp>
        <p:nvSpPr>
          <p:cNvPr id="28" name="Text 26"/>
          <p:cNvSpPr txBox="1"/>
          <p:nvPr/>
        </p:nvSpPr>
        <p:spPr>
          <a:xfrm>
            <a:off x="3637712" y="3566160"/>
            <a:ext cx="384048" cy="367284"/>
          </a:xfrm>
          <a:prstGeom prst="rect">
            <a:avLst/>
          </a:prstGeom>
          <a:noFill/>
          <a:ln/>
        </p:spPr>
        <p:txBody>
          <a:bodyPr wrap="square" lIns="0" tIns="0" rIns="0" bIns="0" rtlCol="0" anchor="t"/>
          <a:lstStyle/>
          <a:p>
            <a:pPr indent="0" marL="0">
              <a:buNone/>
            </a:pPr>
            <a:r>
              <a:rPr lang="en-US" sz="1100" b="1" dirty="0">
                <a:solidFill>
                  <a:srgbClr val="2957D4"/>
                </a:solidFill>
                <a:latin typeface="Calibri" pitchFamily="34" charset="0"/>
                <a:ea typeface="Calibri" pitchFamily="34" charset="-122"/>
                <a:cs typeface="Calibri" pitchFamily="34" charset="-120"/>
              </a:rPr>
              <a:t>05</a:t>
            </a:r>
            <a:endParaRPr lang="en-US" sz="1100" dirty="0"/>
          </a:p>
        </p:txBody>
      </p:sp>
      <p:sp>
        <p:nvSpPr>
          <p:cNvPr id="29" name="Text 27"/>
          <p:cNvSpPr txBox="1"/>
          <p:nvPr/>
        </p:nvSpPr>
        <p:spPr>
          <a:xfrm>
            <a:off x="4021760" y="3566160"/>
            <a:ext cx="1754048" cy="36728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2. yasa: ΣF = m·a</a:t>
            </a:r>
            <a:endParaRPr lang="en-US" sz="1250" dirty="0"/>
          </a:p>
        </p:txBody>
      </p:sp>
      <p:sp>
        <p:nvSpPr>
          <p:cNvPr id="30" name="Text 28"/>
          <p:cNvSpPr txBox="1"/>
          <p:nvPr/>
        </p:nvSpPr>
        <p:spPr>
          <a:xfrm>
            <a:off x="3637712" y="3988308"/>
            <a:ext cx="384048" cy="367284"/>
          </a:xfrm>
          <a:prstGeom prst="rect">
            <a:avLst/>
          </a:prstGeom>
          <a:noFill/>
          <a:ln/>
        </p:spPr>
        <p:txBody>
          <a:bodyPr wrap="square" lIns="0" tIns="0" rIns="0" bIns="0" rtlCol="0" anchor="t"/>
          <a:lstStyle/>
          <a:p>
            <a:pPr indent="0" marL="0">
              <a:buNone/>
            </a:pPr>
            <a:r>
              <a:rPr lang="en-US" sz="1100" b="1" dirty="0">
                <a:solidFill>
                  <a:srgbClr val="2957D4"/>
                </a:solidFill>
                <a:latin typeface="Calibri" pitchFamily="34" charset="0"/>
                <a:ea typeface="Calibri" pitchFamily="34" charset="-122"/>
                <a:cs typeface="Calibri" pitchFamily="34" charset="-120"/>
              </a:rPr>
              <a:t>06</a:t>
            </a:r>
            <a:endParaRPr lang="en-US" sz="1100" dirty="0"/>
          </a:p>
        </p:txBody>
      </p:sp>
      <p:sp>
        <p:nvSpPr>
          <p:cNvPr id="31" name="Text 29"/>
          <p:cNvSpPr txBox="1"/>
          <p:nvPr/>
        </p:nvSpPr>
        <p:spPr>
          <a:xfrm>
            <a:off x="4021760" y="3988308"/>
            <a:ext cx="1754048" cy="367284"/>
          </a:xfrm>
          <a:prstGeom prst="rect">
            <a:avLst/>
          </a:prstGeom>
          <a:noFill/>
          <a:ln/>
        </p:spPr>
        <p:txBody>
          <a:bodyPr wrap="square" lIns="0" tIns="0" rIns="0" bIns="0" rtlCol="0" anchor="t"/>
          <a:lstStyle/>
          <a:p>
            <a:pPr indent="0" marL="0">
              <a:lnSpc>
                <a:spcPct val="105000"/>
              </a:lnSpc>
              <a:buNone/>
            </a:pPr>
            <a:r>
              <a:rPr lang="en-US" sz="1000" b="1" dirty="0">
                <a:solidFill>
                  <a:srgbClr val="0E1426"/>
                </a:solidFill>
                <a:latin typeface="Calibri" pitchFamily="34" charset="0"/>
                <a:ea typeface="Calibri" pitchFamily="34" charset="-122"/>
                <a:cs typeface="Calibri" pitchFamily="34" charset="-120"/>
              </a:rPr>
              <a:t>Sayılarla hisset: ne kadar kuvvet, ne kadar ivme?</a:t>
            </a:r>
            <a:endParaRPr lang="en-US" sz="1000" dirty="0"/>
          </a:p>
        </p:txBody>
      </p:sp>
      <p:sp>
        <p:nvSpPr>
          <p:cNvPr id="32" name="Text 30"/>
          <p:cNvSpPr txBox="1"/>
          <p:nvPr/>
        </p:nvSpPr>
        <p:spPr>
          <a:xfrm>
            <a:off x="3637712" y="4410456"/>
            <a:ext cx="384048" cy="367284"/>
          </a:xfrm>
          <a:prstGeom prst="rect">
            <a:avLst/>
          </a:prstGeom>
          <a:noFill/>
          <a:ln/>
        </p:spPr>
        <p:txBody>
          <a:bodyPr wrap="square" lIns="0" tIns="0" rIns="0" bIns="0" rtlCol="0" anchor="t"/>
          <a:lstStyle/>
          <a:p>
            <a:pPr indent="0" marL="0">
              <a:buNone/>
            </a:pPr>
            <a:r>
              <a:rPr lang="en-US" sz="1100" b="1" dirty="0">
                <a:solidFill>
                  <a:srgbClr val="2957D4"/>
                </a:solidFill>
                <a:latin typeface="Calibri" pitchFamily="34" charset="0"/>
                <a:ea typeface="Calibri" pitchFamily="34" charset="-122"/>
                <a:cs typeface="Calibri" pitchFamily="34" charset="-120"/>
              </a:rPr>
              <a:t>07</a:t>
            </a:r>
            <a:endParaRPr lang="en-US" sz="1100" dirty="0"/>
          </a:p>
        </p:txBody>
      </p:sp>
      <p:sp>
        <p:nvSpPr>
          <p:cNvPr id="33" name="Text 31"/>
          <p:cNvSpPr txBox="1"/>
          <p:nvPr/>
        </p:nvSpPr>
        <p:spPr>
          <a:xfrm>
            <a:off x="4021760" y="4410456"/>
            <a:ext cx="1754048" cy="36728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3. yasa: etki–tepki</a:t>
            </a:r>
            <a:endParaRPr lang="en-US" sz="1250" dirty="0"/>
          </a:p>
        </p:txBody>
      </p:sp>
      <p:sp>
        <p:nvSpPr>
          <p:cNvPr id="34" name="Text 32"/>
          <p:cNvSpPr txBox="1"/>
          <p:nvPr/>
        </p:nvSpPr>
        <p:spPr>
          <a:xfrm>
            <a:off x="3637712" y="4832604"/>
            <a:ext cx="384048" cy="367284"/>
          </a:xfrm>
          <a:prstGeom prst="rect">
            <a:avLst/>
          </a:prstGeom>
          <a:noFill/>
          <a:ln/>
        </p:spPr>
        <p:txBody>
          <a:bodyPr wrap="square" lIns="0" tIns="0" rIns="0" bIns="0" rtlCol="0" anchor="t"/>
          <a:lstStyle/>
          <a:p>
            <a:pPr indent="0" marL="0">
              <a:buNone/>
            </a:pPr>
            <a:r>
              <a:rPr lang="en-US" sz="1100" b="1" dirty="0">
                <a:solidFill>
                  <a:srgbClr val="2957D4"/>
                </a:solidFill>
                <a:latin typeface="Calibri" pitchFamily="34" charset="0"/>
                <a:ea typeface="Calibri" pitchFamily="34" charset="-122"/>
                <a:cs typeface="Calibri" pitchFamily="34" charset="-120"/>
              </a:rPr>
              <a:t>08</a:t>
            </a:r>
            <a:endParaRPr lang="en-US" sz="1100" dirty="0"/>
          </a:p>
        </p:txBody>
      </p:sp>
      <p:sp>
        <p:nvSpPr>
          <p:cNvPr id="35" name="Text 33"/>
          <p:cNvSpPr txBox="1"/>
          <p:nvPr/>
        </p:nvSpPr>
        <p:spPr>
          <a:xfrm>
            <a:off x="4021760" y="4832604"/>
            <a:ext cx="1754048" cy="367284"/>
          </a:xfrm>
          <a:prstGeom prst="rect">
            <a:avLst/>
          </a:prstGeom>
          <a:noFill/>
          <a:ln/>
        </p:spPr>
        <p:txBody>
          <a:bodyPr wrap="square" lIns="0" tIns="0" rIns="0" bIns="0" rtlCol="0" anchor="t"/>
          <a:lstStyle/>
          <a:p>
            <a:pPr indent="0" marL="0">
              <a:lnSpc>
                <a:spcPct val="105000"/>
              </a:lnSpc>
              <a:buNone/>
            </a:pPr>
            <a:r>
              <a:rPr lang="en-US" sz="1050" b="1" dirty="0">
                <a:solidFill>
                  <a:srgbClr val="0E1426"/>
                </a:solidFill>
                <a:latin typeface="Calibri" pitchFamily="34" charset="0"/>
                <a:ea typeface="Calibri" pitchFamily="34" charset="-122"/>
                <a:cs typeface="Calibri" pitchFamily="34" charset="-120"/>
              </a:rPr>
              <a:t>Serbest cisim diyagramı</a:t>
            </a:r>
            <a:endParaRPr lang="en-US" sz="1050" dirty="0"/>
          </a:p>
        </p:txBody>
      </p:sp>
      <p:sp>
        <p:nvSpPr>
          <p:cNvPr id="36" name="Text 34"/>
          <p:cNvSpPr txBox="1"/>
          <p:nvPr/>
        </p:nvSpPr>
        <p:spPr>
          <a:xfrm>
            <a:off x="3637712" y="5254752"/>
            <a:ext cx="384048" cy="367284"/>
          </a:xfrm>
          <a:prstGeom prst="rect">
            <a:avLst/>
          </a:prstGeom>
          <a:noFill/>
          <a:ln/>
        </p:spPr>
        <p:txBody>
          <a:bodyPr wrap="square" lIns="0" tIns="0" rIns="0" bIns="0" rtlCol="0" anchor="t"/>
          <a:lstStyle/>
          <a:p>
            <a:pPr indent="0" marL="0">
              <a:buNone/>
            </a:pPr>
            <a:r>
              <a:rPr lang="en-US" sz="1100" b="1" dirty="0">
                <a:solidFill>
                  <a:srgbClr val="2957D4"/>
                </a:solidFill>
                <a:latin typeface="Calibri" pitchFamily="34" charset="0"/>
                <a:ea typeface="Calibri" pitchFamily="34" charset="-122"/>
                <a:cs typeface="Calibri" pitchFamily="34" charset="-120"/>
              </a:rPr>
              <a:t>09</a:t>
            </a:r>
            <a:endParaRPr lang="en-US" sz="1100" dirty="0"/>
          </a:p>
        </p:txBody>
      </p:sp>
      <p:sp>
        <p:nvSpPr>
          <p:cNvPr id="37" name="Text 35"/>
          <p:cNvSpPr txBox="1"/>
          <p:nvPr/>
        </p:nvSpPr>
        <p:spPr>
          <a:xfrm>
            <a:off x="4021760" y="5254752"/>
            <a:ext cx="1754048" cy="36728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Sürtünme kuvveti</a:t>
            </a:r>
            <a:endParaRPr lang="en-US" sz="1250" dirty="0"/>
          </a:p>
        </p:txBody>
      </p:sp>
      <p:sp>
        <p:nvSpPr>
          <p:cNvPr id="38" name="Text 36"/>
          <p:cNvSpPr txBox="1"/>
          <p:nvPr/>
        </p:nvSpPr>
        <p:spPr>
          <a:xfrm>
            <a:off x="3637712" y="5676900"/>
            <a:ext cx="384048" cy="367284"/>
          </a:xfrm>
          <a:prstGeom prst="rect">
            <a:avLst/>
          </a:prstGeom>
          <a:noFill/>
          <a:ln/>
        </p:spPr>
        <p:txBody>
          <a:bodyPr wrap="square" lIns="0" tIns="0" rIns="0" bIns="0" rtlCol="0" anchor="t"/>
          <a:lstStyle/>
          <a:p>
            <a:pPr indent="0" marL="0">
              <a:buNone/>
            </a:pPr>
            <a:r>
              <a:rPr lang="en-US" sz="1100" b="1" dirty="0">
                <a:solidFill>
                  <a:srgbClr val="2957D4"/>
                </a:solidFill>
                <a:latin typeface="Calibri" pitchFamily="34" charset="0"/>
                <a:ea typeface="Calibri" pitchFamily="34" charset="-122"/>
                <a:cs typeface="Calibri" pitchFamily="34" charset="-120"/>
              </a:rPr>
              <a:t>10</a:t>
            </a:r>
            <a:endParaRPr lang="en-US" sz="1100" dirty="0"/>
          </a:p>
        </p:txBody>
      </p:sp>
      <p:sp>
        <p:nvSpPr>
          <p:cNvPr id="39" name="Text 37"/>
          <p:cNvSpPr txBox="1"/>
          <p:nvPr/>
        </p:nvSpPr>
        <p:spPr>
          <a:xfrm>
            <a:off x="4021760" y="5676900"/>
            <a:ext cx="1754048" cy="367284"/>
          </a:xfrm>
          <a:prstGeom prst="rect">
            <a:avLst/>
          </a:prstGeom>
          <a:noFill/>
          <a:ln/>
        </p:spPr>
        <p:txBody>
          <a:bodyPr wrap="square" lIns="0" tIns="0" rIns="0" bIns="0" rtlCol="0" anchor="t"/>
          <a:lstStyle/>
          <a:p>
            <a:pPr indent="0" marL="0">
              <a:lnSpc>
                <a:spcPct val="105000"/>
              </a:lnSpc>
              <a:buNone/>
            </a:pPr>
            <a:r>
              <a:rPr lang="en-US" sz="1050" b="1" dirty="0">
                <a:solidFill>
                  <a:srgbClr val="0E1426"/>
                </a:solidFill>
                <a:latin typeface="Calibri" pitchFamily="34" charset="0"/>
                <a:ea typeface="Calibri" pitchFamily="34" charset="-122"/>
                <a:cs typeface="Calibri" pitchFamily="34" charset="-120"/>
              </a:rPr>
              <a:t>Ağırlık, normal kuvvet ve asansör</a:t>
            </a:r>
            <a:endParaRPr lang="en-US" sz="1050" dirty="0"/>
          </a:p>
        </p:txBody>
      </p:sp>
      <p:sp>
        <p:nvSpPr>
          <p:cNvPr id="40" name="Shape 38"/>
          <p:cNvSpPr/>
          <p:nvPr/>
        </p:nvSpPr>
        <p:spPr>
          <a:xfrm>
            <a:off x="6196432" y="1645920"/>
            <a:ext cx="2577008" cy="4498848"/>
          </a:xfrm>
          <a:prstGeom prst="roundRect">
            <a:avLst>
              <a:gd name="adj" fmla="val 5677"/>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41" name="Shape 39"/>
          <p:cNvSpPr/>
          <p:nvPr/>
        </p:nvSpPr>
        <p:spPr>
          <a:xfrm>
            <a:off x="6379312" y="1645920"/>
            <a:ext cx="2211248" cy="64008"/>
          </a:xfrm>
          <a:prstGeom prst="rect">
            <a:avLst/>
          </a:prstGeom>
          <a:solidFill>
            <a:srgbClr val="5F4BD8"/>
          </a:solidFill>
          <a:ln/>
        </p:spPr>
      </p:sp>
      <p:sp>
        <p:nvSpPr>
          <p:cNvPr id="42" name="Shape 40"/>
          <p:cNvSpPr/>
          <p:nvPr/>
        </p:nvSpPr>
        <p:spPr>
          <a:xfrm>
            <a:off x="6415888" y="1920240"/>
            <a:ext cx="420624" cy="420624"/>
          </a:xfrm>
          <a:prstGeom prst="roundRect">
            <a:avLst>
              <a:gd name="adj" fmla="val 26000"/>
            </a:avLst>
          </a:prstGeom>
          <a:solidFill>
            <a:srgbClr val="5F4BD8"/>
          </a:solidFill>
          <a:ln/>
        </p:spPr>
      </p:sp>
      <p:sp>
        <p:nvSpPr>
          <p:cNvPr id="43" name="Text 41"/>
          <p:cNvSpPr txBox="1"/>
          <p:nvPr/>
        </p:nvSpPr>
        <p:spPr>
          <a:xfrm>
            <a:off x="6415888" y="1920240"/>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44" name="Text 42"/>
          <p:cNvSpPr txBox="1"/>
          <p:nvPr/>
        </p:nvSpPr>
        <p:spPr>
          <a:xfrm>
            <a:off x="6964528" y="1901952"/>
            <a:ext cx="1662608" cy="457200"/>
          </a:xfrm>
          <a:prstGeom prst="rect">
            <a:avLst/>
          </a:prstGeom>
          <a:noFill/>
          <a:ln/>
        </p:spPr>
        <p:txBody>
          <a:bodyPr wrap="square" lIns="0" tIns="0" rIns="0" bIns="0" rtlCol="0" anchor="ctr"/>
          <a:lstStyle/>
          <a:p>
            <a:pPr indent="0" marL="0">
              <a:buNone/>
            </a:pPr>
            <a:r>
              <a:rPr lang="en-US" sz="1900" b="1" dirty="0">
                <a:solidFill>
                  <a:srgbClr val="0E1426"/>
                </a:solidFill>
                <a:latin typeface="Cambria" pitchFamily="34" charset="0"/>
                <a:ea typeface="Cambria" pitchFamily="34" charset="-122"/>
                <a:cs typeface="Cambria" pitchFamily="34" charset="-120"/>
              </a:rPr>
              <a:t>İleri</a:t>
            </a:r>
            <a:endParaRPr lang="en-US" sz="1900" dirty="0"/>
          </a:p>
        </p:txBody>
      </p:sp>
      <p:sp>
        <p:nvSpPr>
          <p:cNvPr id="45" name="Text 43"/>
          <p:cNvSpPr txBox="1"/>
          <p:nvPr/>
        </p:nvSpPr>
        <p:spPr>
          <a:xfrm>
            <a:off x="6415888" y="2487168"/>
            <a:ext cx="2138096" cy="868680"/>
          </a:xfrm>
          <a:prstGeom prst="rect">
            <a:avLst/>
          </a:prstGeom>
          <a:noFill/>
          <a:ln/>
        </p:spPr>
        <p:txBody>
          <a:bodyPr wrap="square" lIns="0" tIns="0" rIns="0" bIns="0" rtlCol="0" anchor="t"/>
          <a:lstStyle/>
          <a:p>
            <a:pPr indent="0" marL="0">
              <a:lnSpc>
                <a:spcPct val="110000"/>
              </a:lnSpc>
              <a:buNone/>
            </a:pPr>
            <a:r>
              <a:rPr lang="en-US" sz="1050" dirty="0">
                <a:solidFill>
                  <a:srgbClr val="4A5470"/>
                </a:solidFill>
                <a:latin typeface="Calibri" pitchFamily="34" charset="0"/>
                <a:ea typeface="Calibri" pitchFamily="34" charset="-122"/>
                <a:cs typeface="Calibri" pitchFamily="34" charset="-120"/>
              </a:rPr>
              <a:t>Derinleşme: birlikte hareket eden cisimler, yasaların geçerli olduğu sınırlar ve Newton yasalarının gerçek hayattaki yüzü.</a:t>
            </a:r>
            <a:endParaRPr lang="en-US" sz="1050" dirty="0"/>
          </a:p>
        </p:txBody>
      </p:sp>
      <p:sp>
        <p:nvSpPr>
          <p:cNvPr id="46" name="Shape 44"/>
          <p:cNvSpPr/>
          <p:nvPr/>
        </p:nvSpPr>
        <p:spPr>
          <a:xfrm>
            <a:off x="6415888" y="3429000"/>
            <a:ext cx="2138096" cy="0"/>
          </a:xfrm>
          <a:prstGeom prst="line">
            <a:avLst/>
          </a:prstGeom>
          <a:noFill/>
          <a:ln w="9525">
            <a:solidFill>
              <a:srgbClr val="E1E5EE"/>
            </a:solidFill>
            <a:prstDash val="dash"/>
          </a:ln>
        </p:spPr>
      </p:sp>
      <p:sp>
        <p:nvSpPr>
          <p:cNvPr id="47" name="Text 45"/>
          <p:cNvSpPr txBox="1"/>
          <p:nvPr/>
        </p:nvSpPr>
        <p:spPr>
          <a:xfrm>
            <a:off x="6415888" y="3566160"/>
            <a:ext cx="384048" cy="603504"/>
          </a:xfrm>
          <a:prstGeom prst="rect">
            <a:avLst/>
          </a:prstGeom>
          <a:noFill/>
          <a:ln/>
        </p:spPr>
        <p:txBody>
          <a:bodyPr wrap="square" lIns="0" tIns="0" rIns="0" bIns="0" rtlCol="0" anchor="t"/>
          <a:lstStyle/>
          <a:p>
            <a:pPr indent="0" marL="0">
              <a:buNone/>
            </a:pPr>
            <a:r>
              <a:rPr lang="en-US" sz="1100" b="1" dirty="0">
                <a:solidFill>
                  <a:srgbClr val="5F4BD8"/>
                </a:solidFill>
                <a:latin typeface="Calibri" pitchFamily="34" charset="0"/>
                <a:ea typeface="Calibri" pitchFamily="34" charset="-122"/>
                <a:cs typeface="Calibri" pitchFamily="34" charset="-120"/>
              </a:rPr>
              <a:t>11</a:t>
            </a:r>
            <a:endParaRPr lang="en-US" sz="1100" dirty="0"/>
          </a:p>
        </p:txBody>
      </p:sp>
      <p:sp>
        <p:nvSpPr>
          <p:cNvPr id="48" name="Text 46"/>
          <p:cNvSpPr txBox="1"/>
          <p:nvPr/>
        </p:nvSpPr>
        <p:spPr>
          <a:xfrm>
            <a:off x="6799936" y="3566160"/>
            <a:ext cx="1754048" cy="603504"/>
          </a:xfrm>
          <a:prstGeom prst="rect">
            <a:avLst/>
          </a:prstGeom>
          <a:noFill/>
          <a:ln/>
        </p:spPr>
        <p:txBody>
          <a:bodyPr wrap="square" lIns="0" tIns="0" rIns="0" bIns="0" rtlCol="0" anchor="t"/>
          <a:lstStyle/>
          <a:p>
            <a:pPr indent="0" marL="0">
              <a:lnSpc>
                <a:spcPct val="105000"/>
              </a:lnSpc>
              <a:buNone/>
            </a:pPr>
            <a:r>
              <a:rPr lang="en-US" sz="1200" b="1" dirty="0">
                <a:solidFill>
                  <a:srgbClr val="0E1426"/>
                </a:solidFill>
                <a:latin typeface="Calibri" pitchFamily="34" charset="0"/>
                <a:ea typeface="Calibri" pitchFamily="34" charset="-122"/>
                <a:cs typeface="Calibri" pitchFamily="34" charset="-120"/>
              </a:rPr>
              <a:t>Birlikte hareket eden cisimler: sistem ve iç kuvvetler</a:t>
            </a:r>
            <a:endParaRPr lang="en-US" sz="1200" dirty="0"/>
          </a:p>
        </p:txBody>
      </p:sp>
      <p:sp>
        <p:nvSpPr>
          <p:cNvPr id="49" name="Text 47"/>
          <p:cNvSpPr txBox="1"/>
          <p:nvPr/>
        </p:nvSpPr>
        <p:spPr>
          <a:xfrm>
            <a:off x="6415888" y="4224528"/>
            <a:ext cx="384048" cy="603504"/>
          </a:xfrm>
          <a:prstGeom prst="rect">
            <a:avLst/>
          </a:prstGeom>
          <a:noFill/>
          <a:ln/>
        </p:spPr>
        <p:txBody>
          <a:bodyPr wrap="square" lIns="0" tIns="0" rIns="0" bIns="0" rtlCol="0" anchor="t"/>
          <a:lstStyle/>
          <a:p>
            <a:pPr indent="0" marL="0">
              <a:buNone/>
            </a:pPr>
            <a:r>
              <a:rPr lang="en-US" sz="1100" b="1" dirty="0">
                <a:solidFill>
                  <a:srgbClr val="5F4BD8"/>
                </a:solidFill>
                <a:latin typeface="Calibri" pitchFamily="34" charset="0"/>
                <a:ea typeface="Calibri" pitchFamily="34" charset="-122"/>
                <a:cs typeface="Calibri" pitchFamily="34" charset="-120"/>
              </a:rPr>
              <a:t>12</a:t>
            </a:r>
            <a:endParaRPr lang="en-US" sz="1100" dirty="0"/>
          </a:p>
        </p:txBody>
      </p:sp>
      <p:sp>
        <p:nvSpPr>
          <p:cNvPr id="50" name="Text 48"/>
          <p:cNvSpPr txBox="1"/>
          <p:nvPr/>
        </p:nvSpPr>
        <p:spPr>
          <a:xfrm>
            <a:off x="6799936" y="4224528"/>
            <a:ext cx="1754048" cy="603504"/>
          </a:xfrm>
          <a:prstGeom prst="rect">
            <a:avLst/>
          </a:prstGeom>
          <a:noFill/>
          <a:ln/>
        </p:spPr>
        <p:txBody>
          <a:bodyPr wrap="square" lIns="0" tIns="0" rIns="0" bIns="0" rtlCol="0" anchor="t"/>
          <a:lstStyle/>
          <a:p>
            <a:pPr indent="0" marL="0">
              <a:lnSpc>
                <a:spcPct val="105000"/>
              </a:lnSpc>
              <a:buNone/>
            </a:pPr>
            <a:r>
              <a:rPr lang="en-US" sz="1200" b="1" dirty="0">
                <a:solidFill>
                  <a:srgbClr val="0E1426"/>
                </a:solidFill>
                <a:latin typeface="Calibri" pitchFamily="34" charset="0"/>
                <a:ea typeface="Calibri" pitchFamily="34" charset="-122"/>
                <a:cs typeface="Calibri" pitchFamily="34" charset="-120"/>
              </a:rPr>
              <a:t>Yasaların sınırları: kime göre, ne kadar hızlı?</a:t>
            </a:r>
            <a:endParaRPr lang="en-US" sz="1200" dirty="0"/>
          </a:p>
        </p:txBody>
      </p:sp>
      <p:sp>
        <p:nvSpPr>
          <p:cNvPr id="51" name="Text 49"/>
          <p:cNvSpPr txBox="1"/>
          <p:nvPr/>
        </p:nvSpPr>
        <p:spPr>
          <a:xfrm>
            <a:off x="6415888" y="4882896"/>
            <a:ext cx="384048" cy="603504"/>
          </a:xfrm>
          <a:prstGeom prst="rect">
            <a:avLst/>
          </a:prstGeom>
          <a:noFill/>
          <a:ln/>
        </p:spPr>
        <p:txBody>
          <a:bodyPr wrap="square" lIns="0" tIns="0" rIns="0" bIns="0" rtlCol="0" anchor="t"/>
          <a:lstStyle/>
          <a:p>
            <a:pPr indent="0" marL="0">
              <a:buNone/>
            </a:pPr>
            <a:r>
              <a:rPr lang="en-US" sz="1100" b="1" dirty="0">
                <a:solidFill>
                  <a:srgbClr val="5F4BD8"/>
                </a:solidFill>
                <a:latin typeface="Calibri" pitchFamily="34" charset="0"/>
                <a:ea typeface="Calibri" pitchFamily="34" charset="-122"/>
                <a:cs typeface="Calibri" pitchFamily="34" charset="-120"/>
              </a:rPr>
              <a:t>13</a:t>
            </a:r>
            <a:endParaRPr lang="en-US" sz="1100" dirty="0"/>
          </a:p>
        </p:txBody>
      </p:sp>
      <p:sp>
        <p:nvSpPr>
          <p:cNvPr id="52" name="Text 50"/>
          <p:cNvSpPr txBox="1"/>
          <p:nvPr/>
        </p:nvSpPr>
        <p:spPr>
          <a:xfrm>
            <a:off x="6799936" y="4882896"/>
            <a:ext cx="1754048" cy="60350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Newton yasaları gerçek dünyada</a:t>
            </a:r>
            <a:endParaRPr lang="en-US" sz="1250" dirty="0"/>
          </a:p>
        </p:txBody>
      </p:sp>
      <p:sp>
        <p:nvSpPr>
          <p:cNvPr id="53" name="Shape 51"/>
          <p:cNvSpPr/>
          <p:nvPr/>
        </p:nvSpPr>
        <p:spPr>
          <a:xfrm>
            <a:off x="8974607" y="1645920"/>
            <a:ext cx="2577008" cy="4498848"/>
          </a:xfrm>
          <a:prstGeom prst="roundRect">
            <a:avLst>
              <a:gd name="adj" fmla="val 5677"/>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54" name="Shape 52"/>
          <p:cNvSpPr/>
          <p:nvPr/>
        </p:nvSpPr>
        <p:spPr>
          <a:xfrm>
            <a:off x="9157487" y="1645920"/>
            <a:ext cx="2211248" cy="64008"/>
          </a:xfrm>
          <a:prstGeom prst="rect">
            <a:avLst/>
          </a:prstGeom>
          <a:solidFill>
            <a:srgbClr val="A56209"/>
          </a:solidFill>
          <a:ln/>
        </p:spPr>
      </p:sp>
      <p:sp>
        <p:nvSpPr>
          <p:cNvPr id="55" name="Shape 53"/>
          <p:cNvSpPr/>
          <p:nvPr/>
        </p:nvSpPr>
        <p:spPr>
          <a:xfrm>
            <a:off x="9194063" y="1920240"/>
            <a:ext cx="420624" cy="420624"/>
          </a:xfrm>
          <a:prstGeom prst="roundRect">
            <a:avLst>
              <a:gd name="adj" fmla="val 26000"/>
            </a:avLst>
          </a:prstGeom>
          <a:solidFill>
            <a:srgbClr val="A56209"/>
          </a:solidFill>
          <a:ln/>
        </p:spPr>
      </p:sp>
      <p:sp>
        <p:nvSpPr>
          <p:cNvPr id="56" name="Text 54"/>
          <p:cNvSpPr txBox="1"/>
          <p:nvPr/>
        </p:nvSpPr>
        <p:spPr>
          <a:xfrm>
            <a:off x="9194063" y="1920240"/>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57" name="Text 55"/>
          <p:cNvSpPr txBox="1"/>
          <p:nvPr/>
        </p:nvSpPr>
        <p:spPr>
          <a:xfrm>
            <a:off x="9742703" y="1901952"/>
            <a:ext cx="1662608" cy="457200"/>
          </a:xfrm>
          <a:prstGeom prst="rect">
            <a:avLst/>
          </a:prstGeom>
          <a:noFill/>
          <a:ln/>
        </p:spPr>
        <p:txBody>
          <a:bodyPr wrap="square" lIns="0" tIns="0" rIns="0" bIns="0" rtlCol="0" anchor="ctr"/>
          <a:lstStyle/>
          <a:p>
            <a:pPr indent="0" marL="0">
              <a:buNone/>
            </a:pPr>
            <a:r>
              <a:rPr lang="en-US" sz="1900" b="1" dirty="0">
                <a:solidFill>
                  <a:srgbClr val="0E1426"/>
                </a:solidFill>
                <a:latin typeface="Cambria" pitchFamily="34" charset="0"/>
                <a:ea typeface="Cambria" pitchFamily="34" charset="-122"/>
                <a:cs typeface="Cambria" pitchFamily="34" charset="-120"/>
              </a:rPr>
              <a:t>Pekiştir</a:t>
            </a:r>
            <a:endParaRPr lang="en-US" sz="1900" dirty="0"/>
          </a:p>
        </p:txBody>
      </p:sp>
      <p:sp>
        <p:nvSpPr>
          <p:cNvPr id="58" name="Text 56"/>
          <p:cNvSpPr txBox="1"/>
          <p:nvPr/>
        </p:nvSpPr>
        <p:spPr>
          <a:xfrm>
            <a:off x="9194063" y="2487168"/>
            <a:ext cx="2138096" cy="868680"/>
          </a:xfrm>
          <a:prstGeom prst="rect">
            <a:avLst/>
          </a:prstGeom>
          <a:noFill/>
          <a:ln/>
        </p:spPr>
        <p:txBody>
          <a:bodyPr wrap="square" lIns="0" tIns="0" rIns="0" bIns="0" rtlCol="0" anchor="t"/>
          <a:lstStyle/>
          <a:p>
            <a:pPr indent="0" marL="0">
              <a:lnSpc>
                <a:spcPct val="110000"/>
              </a:lnSpc>
              <a:buNone/>
            </a:pPr>
            <a:r>
              <a:rPr lang="en-US" sz="1150" dirty="0">
                <a:solidFill>
                  <a:srgbClr val="4A5470"/>
                </a:solidFill>
                <a:latin typeface="Calibri" pitchFamily="34" charset="0"/>
                <a:ea typeface="Calibri" pitchFamily="34" charset="-122"/>
                <a:cs typeface="Calibri" pitchFamily="34" charset="-120"/>
              </a:rPr>
              <a:t>Kolaydan zora çözümlü örnekler ve sınavda puan kaybettiren klasik hatalar.</a:t>
            </a:r>
            <a:endParaRPr lang="en-US" sz="1150" dirty="0"/>
          </a:p>
        </p:txBody>
      </p:sp>
      <p:sp>
        <p:nvSpPr>
          <p:cNvPr id="59" name="Shape 57"/>
          <p:cNvSpPr/>
          <p:nvPr/>
        </p:nvSpPr>
        <p:spPr>
          <a:xfrm>
            <a:off x="9194063" y="3429000"/>
            <a:ext cx="2138096" cy="0"/>
          </a:xfrm>
          <a:prstGeom prst="line">
            <a:avLst/>
          </a:prstGeom>
          <a:noFill/>
          <a:ln w="9525">
            <a:solidFill>
              <a:srgbClr val="E1E5EE"/>
            </a:solidFill>
            <a:prstDash val="dash"/>
          </a:ln>
        </p:spPr>
      </p:sp>
      <p:sp>
        <p:nvSpPr>
          <p:cNvPr id="60" name="Text 58"/>
          <p:cNvSpPr txBox="1"/>
          <p:nvPr/>
        </p:nvSpPr>
        <p:spPr>
          <a:xfrm>
            <a:off x="9194063" y="3566160"/>
            <a:ext cx="384048" cy="603504"/>
          </a:xfrm>
          <a:prstGeom prst="rect">
            <a:avLst/>
          </a:prstGeom>
          <a:noFill/>
          <a:ln/>
        </p:spPr>
        <p:txBody>
          <a:bodyPr wrap="square" lIns="0" tIns="0" rIns="0" bIns="0" rtlCol="0" anchor="t"/>
          <a:lstStyle/>
          <a:p>
            <a:pPr indent="0" marL="0">
              <a:buNone/>
            </a:pPr>
            <a:r>
              <a:rPr lang="en-US" sz="1100" b="1" dirty="0">
                <a:solidFill>
                  <a:srgbClr val="A56209"/>
                </a:solidFill>
                <a:latin typeface="Calibri" pitchFamily="34" charset="0"/>
                <a:ea typeface="Calibri" pitchFamily="34" charset="-122"/>
                <a:cs typeface="Calibri" pitchFamily="34" charset="-120"/>
              </a:rPr>
              <a:t>14</a:t>
            </a:r>
            <a:endParaRPr lang="en-US" sz="1100" dirty="0"/>
          </a:p>
        </p:txBody>
      </p:sp>
      <p:sp>
        <p:nvSpPr>
          <p:cNvPr id="61" name="Text 59"/>
          <p:cNvSpPr txBox="1"/>
          <p:nvPr/>
        </p:nvSpPr>
        <p:spPr>
          <a:xfrm>
            <a:off x="9578111" y="3566160"/>
            <a:ext cx="1754048" cy="60350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Çözümlü örnekler</a:t>
            </a:r>
            <a:endParaRPr lang="en-US" sz="1250" dirty="0"/>
          </a:p>
        </p:txBody>
      </p:sp>
      <p:sp>
        <p:nvSpPr>
          <p:cNvPr id="62" name="Text 60"/>
          <p:cNvSpPr txBox="1"/>
          <p:nvPr/>
        </p:nvSpPr>
        <p:spPr>
          <a:xfrm>
            <a:off x="9194063" y="4224528"/>
            <a:ext cx="384048" cy="603504"/>
          </a:xfrm>
          <a:prstGeom prst="rect">
            <a:avLst/>
          </a:prstGeom>
          <a:noFill/>
          <a:ln/>
        </p:spPr>
        <p:txBody>
          <a:bodyPr wrap="square" lIns="0" tIns="0" rIns="0" bIns="0" rtlCol="0" anchor="t"/>
          <a:lstStyle/>
          <a:p>
            <a:pPr indent="0" marL="0">
              <a:buNone/>
            </a:pPr>
            <a:r>
              <a:rPr lang="en-US" sz="1100" b="1" dirty="0">
                <a:solidFill>
                  <a:srgbClr val="A56209"/>
                </a:solidFill>
                <a:latin typeface="Calibri" pitchFamily="34" charset="0"/>
                <a:ea typeface="Calibri" pitchFamily="34" charset="-122"/>
                <a:cs typeface="Calibri" pitchFamily="34" charset="-120"/>
              </a:rPr>
              <a:t>15</a:t>
            </a:r>
            <a:endParaRPr lang="en-US" sz="1100" dirty="0"/>
          </a:p>
        </p:txBody>
      </p:sp>
      <p:sp>
        <p:nvSpPr>
          <p:cNvPr id="63" name="Text 61"/>
          <p:cNvSpPr txBox="1"/>
          <p:nvPr/>
        </p:nvSpPr>
        <p:spPr>
          <a:xfrm>
            <a:off x="9578111" y="4224528"/>
            <a:ext cx="1754048" cy="60350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Sık yapılan hatalar</a:t>
            </a:r>
            <a:endParaRPr lang="en-US" sz="1250" dirty="0"/>
          </a:p>
        </p:txBody>
      </p:sp>
      <p:sp>
        <p:nvSpPr>
          <p:cNvPr id="64" name="Shape 62"/>
          <p:cNvSpPr/>
          <p:nvPr/>
        </p:nvSpPr>
        <p:spPr>
          <a:xfrm>
            <a:off x="640080" y="6382512"/>
            <a:ext cx="128016" cy="128016"/>
          </a:xfrm>
          <a:prstGeom prst="roundRect">
            <a:avLst>
              <a:gd name="adj" fmla="val 28571"/>
            </a:avLst>
          </a:prstGeom>
          <a:solidFill>
            <a:srgbClr val="A9E648"/>
          </a:solidFill>
          <a:ln/>
        </p:spPr>
      </p:sp>
      <p:sp>
        <p:nvSpPr>
          <p:cNvPr id="65" name="Text 63"/>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dersler.perinet.org/newton-yasalari.html</a:t>
            </a:r>
            <a:endParaRPr lang="en-US" sz="1050" dirty="0"/>
          </a:p>
        </p:txBody>
      </p:sp>
      <p:sp>
        <p:nvSpPr>
          <p:cNvPr id="66" name="Text 64"/>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03</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Önce hatırlayalım · 1 / 2</a:t>
            </a:r>
            <a:endParaRPr lang="en-US" sz="3200" dirty="0"/>
          </a:p>
        </p:txBody>
      </p:sp>
      <p:sp>
        <p:nvSpPr>
          <p:cNvPr id="5" name="Text 3"/>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Bu konuya başlamadan önce bilmen gereken birkaç şey.</a:t>
            </a:r>
            <a:endParaRPr lang="en-US" sz="1450" dirty="0"/>
          </a:p>
        </p:txBody>
      </p:sp>
      <p:sp>
        <p:nvSpPr>
          <p:cNvPr id="6" name="Shape 4"/>
          <p:cNvSpPr/>
          <p:nvPr/>
        </p:nvSpPr>
        <p:spPr>
          <a:xfrm>
            <a:off x="640080" y="1645920"/>
            <a:ext cx="10911535" cy="1365504"/>
          </a:xfrm>
          <a:prstGeom prst="roundRect">
            <a:avLst>
              <a:gd name="adj" fmla="val 10714"/>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914400" y="2100072"/>
            <a:ext cx="457200" cy="457200"/>
          </a:xfrm>
          <a:prstGeom prst="roundRect">
            <a:avLst>
              <a:gd name="adj" fmla="val 26000"/>
            </a:avLst>
          </a:prstGeom>
          <a:solidFill>
            <a:srgbClr val="3C8C21"/>
          </a:solidFill>
          <a:ln/>
        </p:spPr>
      </p:sp>
      <p:sp>
        <p:nvSpPr>
          <p:cNvPr id="8" name="Text 6"/>
          <p:cNvSpPr txBox="1"/>
          <p:nvPr/>
        </p:nvSpPr>
        <p:spPr>
          <a:xfrm>
            <a:off x="914400" y="2100072"/>
            <a:ext cx="457200" cy="45720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9" name="Text 7"/>
          <p:cNvSpPr txBox="1"/>
          <p:nvPr/>
        </p:nvSpPr>
        <p:spPr>
          <a:xfrm>
            <a:off x="1645920" y="1755648"/>
            <a:ext cx="9631375" cy="1146048"/>
          </a:xfrm>
          <a:prstGeom prst="rect">
            <a:avLst/>
          </a:prstGeom>
          <a:noFill/>
          <a:ln/>
        </p:spPr>
        <p:txBody>
          <a:bodyPr wrap="square" lIns="0" tIns="0" rIns="0" bIns="0" rtlCol="0" anchor="ctr"/>
          <a:lstStyle/>
          <a:p>
            <a:pPr indent="0" marL="0">
              <a:lnSpc>
                <a:spcPct val="115000"/>
              </a:lnSpc>
              <a:buNone/>
            </a:pPr>
            <a:r>
              <a:rPr lang="en-US" sz="2000" b="1" dirty="0">
                <a:solidFill>
                  <a:srgbClr val="0E1426"/>
                </a:solidFill>
                <a:latin typeface="Calibri" pitchFamily="34" charset="0"/>
                <a:ea typeface="Calibri" pitchFamily="34" charset="-122"/>
                <a:cs typeface="Calibri" pitchFamily="34" charset="-120"/>
              </a:rPr>
              <a:t>Hız:</a:t>
            </a:r>
            <a:pPr indent="0" marL="0">
              <a:lnSpc>
                <a:spcPct val="115000"/>
              </a:lnSpc>
              <a:buNone/>
            </a:pPr>
            <a:r>
              <a:rPr lang="en-US" sz="2000" dirty="0">
                <a:solidFill>
                  <a:srgbClr val="4A5470"/>
                </a:solidFill>
                <a:latin typeface="Calibri" pitchFamily="34" charset="0"/>
                <a:ea typeface="Calibri" pitchFamily="34" charset="-122"/>
                <a:cs typeface="Calibri" pitchFamily="34" charset="-120"/>
              </a:rPr>
              <a:t> bir cismin bir saniyede aldığı yol. Metre/saniye (m/s) ile ölçülür; 10 m/s, “her saniye 10 metre” demektir.</a:t>
            </a:r>
            <a:endParaRPr lang="en-US" sz="2000" dirty="0"/>
          </a:p>
        </p:txBody>
      </p:sp>
      <p:sp>
        <p:nvSpPr>
          <p:cNvPr id="10" name="Shape 8"/>
          <p:cNvSpPr/>
          <p:nvPr/>
        </p:nvSpPr>
        <p:spPr>
          <a:xfrm>
            <a:off x="640080" y="3212592"/>
            <a:ext cx="10911535" cy="1365504"/>
          </a:xfrm>
          <a:prstGeom prst="roundRect">
            <a:avLst>
              <a:gd name="adj" fmla="val 10714"/>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1" name="Shape 9"/>
          <p:cNvSpPr/>
          <p:nvPr/>
        </p:nvSpPr>
        <p:spPr>
          <a:xfrm>
            <a:off x="914400" y="3666744"/>
            <a:ext cx="457200" cy="457200"/>
          </a:xfrm>
          <a:prstGeom prst="roundRect">
            <a:avLst>
              <a:gd name="adj" fmla="val 26000"/>
            </a:avLst>
          </a:prstGeom>
          <a:solidFill>
            <a:srgbClr val="3C8C21"/>
          </a:solidFill>
          <a:ln/>
        </p:spPr>
      </p:sp>
      <p:sp>
        <p:nvSpPr>
          <p:cNvPr id="12" name="Text 10"/>
          <p:cNvSpPr txBox="1"/>
          <p:nvPr/>
        </p:nvSpPr>
        <p:spPr>
          <a:xfrm>
            <a:off x="914400" y="3666744"/>
            <a:ext cx="457200" cy="45720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3" name="Text 11"/>
          <p:cNvSpPr txBox="1"/>
          <p:nvPr/>
        </p:nvSpPr>
        <p:spPr>
          <a:xfrm>
            <a:off x="1645920" y="3322320"/>
            <a:ext cx="9631375" cy="1146048"/>
          </a:xfrm>
          <a:prstGeom prst="rect">
            <a:avLst/>
          </a:prstGeom>
          <a:noFill/>
          <a:ln/>
        </p:spPr>
        <p:txBody>
          <a:bodyPr wrap="square" lIns="0" tIns="0" rIns="0" bIns="0" rtlCol="0" anchor="ctr"/>
          <a:lstStyle/>
          <a:p>
            <a:pPr indent="0" marL="0">
              <a:lnSpc>
                <a:spcPct val="115000"/>
              </a:lnSpc>
              <a:buNone/>
            </a:pPr>
            <a:r>
              <a:rPr lang="en-US" sz="2000" b="1" dirty="0">
                <a:solidFill>
                  <a:srgbClr val="0E1426"/>
                </a:solidFill>
                <a:latin typeface="Calibri" pitchFamily="34" charset="0"/>
                <a:ea typeface="Calibri" pitchFamily="34" charset="-122"/>
                <a:cs typeface="Calibri" pitchFamily="34" charset="-120"/>
              </a:rPr>
              <a:t>İvme:</a:t>
            </a:r>
            <a:pPr indent="0" marL="0">
              <a:lnSpc>
                <a:spcPct val="115000"/>
              </a:lnSpc>
              <a:buNone/>
            </a:pPr>
            <a:r>
              <a:rPr lang="en-US" sz="2000" dirty="0">
                <a:solidFill>
                  <a:srgbClr val="4A5470"/>
                </a:solidFill>
                <a:latin typeface="Calibri" pitchFamily="34" charset="0"/>
                <a:ea typeface="Calibri" pitchFamily="34" charset="-122"/>
                <a:cs typeface="Calibri" pitchFamily="34" charset="-120"/>
              </a:rPr>
              <a:t> hızın her saniye ne kadar değiştiği; birimi m/s². 2 m/s² ile hızlanan bir araba her saniye 2 m/s daha hızlı gider. Serbest düşen bir cismin ivmesi g ≈ 10 m/s²'dir.</a:t>
            </a:r>
            <a:endParaRPr lang="en-US" sz="2000" dirty="0"/>
          </a:p>
        </p:txBody>
      </p:sp>
      <p:sp>
        <p:nvSpPr>
          <p:cNvPr id="14" name="Shape 12"/>
          <p:cNvSpPr/>
          <p:nvPr/>
        </p:nvSpPr>
        <p:spPr>
          <a:xfrm>
            <a:off x="640080" y="4779264"/>
            <a:ext cx="10911535" cy="1365504"/>
          </a:xfrm>
          <a:prstGeom prst="roundRect">
            <a:avLst>
              <a:gd name="adj" fmla="val 10714"/>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5" name="Shape 13"/>
          <p:cNvSpPr/>
          <p:nvPr/>
        </p:nvSpPr>
        <p:spPr>
          <a:xfrm>
            <a:off x="914400" y="5233416"/>
            <a:ext cx="457200" cy="457200"/>
          </a:xfrm>
          <a:prstGeom prst="roundRect">
            <a:avLst>
              <a:gd name="adj" fmla="val 26000"/>
            </a:avLst>
          </a:prstGeom>
          <a:solidFill>
            <a:srgbClr val="3C8C21"/>
          </a:solidFill>
          <a:ln/>
        </p:spPr>
      </p:sp>
      <p:sp>
        <p:nvSpPr>
          <p:cNvPr id="16" name="Text 14"/>
          <p:cNvSpPr txBox="1"/>
          <p:nvPr/>
        </p:nvSpPr>
        <p:spPr>
          <a:xfrm>
            <a:off x="914400" y="5233416"/>
            <a:ext cx="457200" cy="45720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7" name="Text 15"/>
          <p:cNvSpPr txBox="1"/>
          <p:nvPr/>
        </p:nvSpPr>
        <p:spPr>
          <a:xfrm>
            <a:off x="1645920" y="4888992"/>
            <a:ext cx="9631375" cy="1146048"/>
          </a:xfrm>
          <a:prstGeom prst="rect">
            <a:avLst/>
          </a:prstGeom>
          <a:noFill/>
          <a:ln/>
        </p:spPr>
        <p:txBody>
          <a:bodyPr wrap="square" lIns="0" tIns="0" rIns="0" bIns="0" rtlCol="0" anchor="ctr"/>
          <a:lstStyle/>
          <a:p>
            <a:pPr indent="0" marL="0">
              <a:lnSpc>
                <a:spcPct val="115000"/>
              </a:lnSpc>
              <a:buNone/>
            </a:pPr>
            <a:r>
              <a:rPr lang="en-US" sz="2000" b="1" dirty="0">
                <a:solidFill>
                  <a:srgbClr val="0E1426"/>
                </a:solidFill>
                <a:latin typeface="Calibri" pitchFamily="34" charset="0"/>
                <a:ea typeface="Calibri" pitchFamily="34" charset="-122"/>
                <a:cs typeface="Calibri" pitchFamily="34" charset="-120"/>
              </a:rPr>
              <a:t>Vektör:</a:t>
            </a:r>
            <a:pPr indent="0" marL="0">
              <a:lnSpc>
                <a:spcPct val="115000"/>
              </a:lnSpc>
              <a:buNone/>
            </a:pPr>
            <a:r>
              <a:rPr lang="en-US" sz="2000" dirty="0">
                <a:solidFill>
                  <a:srgbClr val="4A5470"/>
                </a:solidFill>
                <a:latin typeface="Calibri" pitchFamily="34" charset="0"/>
                <a:ea typeface="Calibri" pitchFamily="34" charset="-122"/>
                <a:cs typeface="Calibri" pitchFamily="34" charset="-120"/>
              </a:rPr>
              <a:t> hem büyüklüğü hem yönü olan bir nicelik; ok ile çizilir. Aynı yönlü iki ok toplanır, zıt yönlü iki ok birbirinden çıkarılır.</a:t>
            </a:r>
            <a:endParaRPr lang="en-US" sz="2000" dirty="0"/>
          </a:p>
        </p:txBody>
      </p:sp>
      <p:sp>
        <p:nvSpPr>
          <p:cNvPr id="18" name="Shape 16"/>
          <p:cNvSpPr/>
          <p:nvPr/>
        </p:nvSpPr>
        <p:spPr>
          <a:xfrm>
            <a:off x="640080" y="6382512"/>
            <a:ext cx="128016" cy="128016"/>
          </a:xfrm>
          <a:prstGeom prst="roundRect">
            <a:avLst>
              <a:gd name="adj" fmla="val 28571"/>
            </a:avLst>
          </a:prstGeom>
          <a:solidFill>
            <a:srgbClr val="A9E648"/>
          </a:solidFill>
          <a:ln/>
        </p:spPr>
      </p:sp>
      <p:sp>
        <p:nvSpPr>
          <p:cNvPr id="19" name="Text 1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dersler.perinet.org/newton-yasalari.html</a:t>
            </a:r>
            <a:endParaRPr lang="en-US" sz="1050" dirty="0"/>
          </a:p>
        </p:txBody>
      </p:sp>
      <p:sp>
        <p:nvSpPr>
          <p:cNvPr id="20" name="Text 1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04</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Önce hatırlayalım · 2 / 2</a:t>
            </a:r>
            <a:endParaRPr lang="en-US" sz="3200" dirty="0"/>
          </a:p>
        </p:txBody>
      </p:sp>
      <p:sp>
        <p:nvSpPr>
          <p:cNvPr id="5" name="Text 3"/>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Bu konuya başlamadan önce bilmen gereken birkaç şey.</a:t>
            </a:r>
            <a:endParaRPr lang="en-US" sz="1450" dirty="0"/>
          </a:p>
        </p:txBody>
      </p:sp>
      <p:sp>
        <p:nvSpPr>
          <p:cNvPr id="6" name="Shape 4"/>
          <p:cNvSpPr/>
          <p:nvPr/>
        </p:nvSpPr>
        <p:spPr>
          <a:xfrm>
            <a:off x="640080" y="1645920"/>
            <a:ext cx="10911535" cy="1365504"/>
          </a:xfrm>
          <a:prstGeom prst="roundRect">
            <a:avLst>
              <a:gd name="adj" fmla="val 10714"/>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914400" y="2100072"/>
            <a:ext cx="457200" cy="457200"/>
          </a:xfrm>
          <a:prstGeom prst="roundRect">
            <a:avLst>
              <a:gd name="adj" fmla="val 26000"/>
            </a:avLst>
          </a:prstGeom>
          <a:solidFill>
            <a:srgbClr val="3C8C21"/>
          </a:solidFill>
          <a:ln/>
        </p:spPr>
      </p:sp>
      <p:sp>
        <p:nvSpPr>
          <p:cNvPr id="8" name="Text 6"/>
          <p:cNvSpPr txBox="1"/>
          <p:nvPr/>
        </p:nvSpPr>
        <p:spPr>
          <a:xfrm>
            <a:off x="914400" y="2100072"/>
            <a:ext cx="457200" cy="45720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9" name="Text 7"/>
          <p:cNvSpPr txBox="1"/>
          <p:nvPr/>
        </p:nvSpPr>
        <p:spPr>
          <a:xfrm>
            <a:off x="1645920" y="1755648"/>
            <a:ext cx="9631375" cy="1146048"/>
          </a:xfrm>
          <a:prstGeom prst="rect">
            <a:avLst/>
          </a:prstGeom>
          <a:noFill/>
          <a:ln/>
        </p:spPr>
        <p:txBody>
          <a:bodyPr wrap="square" lIns="0" tIns="0" rIns="0" bIns="0" rtlCol="0" anchor="ctr"/>
          <a:lstStyle/>
          <a:p>
            <a:pPr indent="0" marL="0">
              <a:lnSpc>
                <a:spcPct val="115000"/>
              </a:lnSpc>
              <a:buNone/>
            </a:pPr>
            <a:r>
              <a:rPr lang="en-US" sz="2000" b="1" dirty="0">
                <a:solidFill>
                  <a:srgbClr val="0E1426"/>
                </a:solidFill>
                <a:latin typeface="Calibri" pitchFamily="34" charset="0"/>
                <a:ea typeface="Calibri" pitchFamily="34" charset="-122"/>
                <a:cs typeface="Calibri" pitchFamily="34" charset="-120"/>
              </a:rPr>
              <a:t>Doğru ve ters orantı:</a:t>
            </a:r>
            <a:pPr indent="0" marL="0">
              <a:lnSpc>
                <a:spcPct val="115000"/>
              </a:lnSpc>
              <a:buNone/>
            </a:pPr>
            <a:r>
              <a:rPr lang="en-US" sz="2000" dirty="0">
                <a:solidFill>
                  <a:srgbClr val="4A5470"/>
                </a:solidFill>
                <a:latin typeface="Calibri" pitchFamily="34" charset="0"/>
                <a:ea typeface="Calibri" pitchFamily="34" charset="-122"/>
                <a:cs typeface="Calibri" pitchFamily="34" charset="-120"/>
              </a:rPr>
              <a:t> doğru orantıda biri 2 katına çıkınca öbürü de 2 katına çıkar; ters orantıda biri 2 katına çıkınca öbürü yarıya iner.</a:t>
            </a:r>
            <a:endParaRPr lang="en-US" sz="2000" dirty="0"/>
          </a:p>
        </p:txBody>
      </p:sp>
      <p:sp>
        <p:nvSpPr>
          <p:cNvPr id="10" name="Shape 8"/>
          <p:cNvSpPr/>
          <p:nvPr/>
        </p:nvSpPr>
        <p:spPr>
          <a:xfrm>
            <a:off x="640080" y="3212592"/>
            <a:ext cx="10911535" cy="1365504"/>
          </a:xfrm>
          <a:prstGeom prst="roundRect">
            <a:avLst>
              <a:gd name="adj" fmla="val 10714"/>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1" name="Shape 9"/>
          <p:cNvSpPr/>
          <p:nvPr/>
        </p:nvSpPr>
        <p:spPr>
          <a:xfrm>
            <a:off x="914400" y="3666744"/>
            <a:ext cx="457200" cy="457200"/>
          </a:xfrm>
          <a:prstGeom prst="roundRect">
            <a:avLst>
              <a:gd name="adj" fmla="val 26000"/>
            </a:avLst>
          </a:prstGeom>
          <a:solidFill>
            <a:srgbClr val="3C8C21"/>
          </a:solidFill>
          <a:ln/>
        </p:spPr>
      </p:sp>
      <p:sp>
        <p:nvSpPr>
          <p:cNvPr id="12" name="Text 10"/>
          <p:cNvSpPr txBox="1"/>
          <p:nvPr/>
        </p:nvSpPr>
        <p:spPr>
          <a:xfrm>
            <a:off x="914400" y="3666744"/>
            <a:ext cx="457200" cy="45720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13" name="Text 11"/>
          <p:cNvSpPr txBox="1"/>
          <p:nvPr/>
        </p:nvSpPr>
        <p:spPr>
          <a:xfrm>
            <a:off x="1645920" y="3322320"/>
            <a:ext cx="9631375" cy="1146048"/>
          </a:xfrm>
          <a:prstGeom prst="rect">
            <a:avLst/>
          </a:prstGeom>
          <a:noFill/>
          <a:ln/>
        </p:spPr>
        <p:txBody>
          <a:bodyPr wrap="square" lIns="0" tIns="0" rIns="0" bIns="0" rtlCol="0" anchor="ctr"/>
          <a:lstStyle/>
          <a:p>
            <a:pPr indent="0" marL="0">
              <a:lnSpc>
                <a:spcPct val="115000"/>
              </a:lnSpc>
              <a:buNone/>
            </a:pPr>
            <a:r>
              <a:rPr lang="en-US" sz="2000" b="1" dirty="0">
                <a:solidFill>
                  <a:srgbClr val="0E1426"/>
                </a:solidFill>
                <a:latin typeface="Calibri" pitchFamily="34" charset="0"/>
                <a:ea typeface="Calibri" pitchFamily="34" charset="-122"/>
                <a:cs typeface="Calibri" pitchFamily="34" charset="-120"/>
              </a:rPr>
              <a:t>Dik üçgen, sinüs ve kosinüs:</a:t>
            </a:r>
            <a:pPr indent="0" marL="0">
              <a:lnSpc>
                <a:spcPct val="115000"/>
              </a:lnSpc>
              <a:buNone/>
            </a:pPr>
            <a:r>
              <a:rPr lang="en-US" sz="2000" dirty="0">
                <a:solidFill>
                  <a:srgbClr val="4A5470"/>
                </a:solidFill>
                <a:latin typeface="Calibri" pitchFamily="34" charset="0"/>
                <a:ea typeface="Calibri" pitchFamily="34" charset="-122"/>
                <a:cs typeface="Calibri" pitchFamily="34" charset="-120"/>
              </a:rPr>
              <a:t> kenarları 3, 4, 5 olan dik üçgende 3² + 4² = 5² olur; bu üçgende sin37° = 3/5 = 0,6 ve cos37° = 4/5 = 0,8.</a:t>
            </a:r>
            <a:endParaRPr lang="en-US" sz="2000" dirty="0"/>
          </a:p>
        </p:txBody>
      </p:sp>
      <p:sp>
        <p:nvSpPr>
          <p:cNvPr id="14" name="Shape 12"/>
          <p:cNvSpPr/>
          <p:nvPr/>
        </p:nvSpPr>
        <p:spPr>
          <a:xfrm>
            <a:off x="640080" y="6382512"/>
            <a:ext cx="128016" cy="128016"/>
          </a:xfrm>
          <a:prstGeom prst="roundRect">
            <a:avLst>
              <a:gd name="adj" fmla="val 28571"/>
            </a:avLst>
          </a:prstGeom>
          <a:solidFill>
            <a:srgbClr val="A9E648"/>
          </a:solidFill>
          <a:ln/>
        </p:spPr>
      </p:sp>
      <p:sp>
        <p:nvSpPr>
          <p:cNvPr id="15" name="Text 13"/>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dersler.perinet.org/newton-yasalari.html</a:t>
            </a:r>
            <a:endParaRPr lang="en-US" sz="1050" dirty="0"/>
          </a:p>
        </p:txBody>
      </p:sp>
      <p:sp>
        <p:nvSpPr>
          <p:cNvPr id="16" name="Text 14"/>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05</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E1426"/>
        </a:solidFill>
      </p:bgPr>
    </p:bg>
    <p:spTree>
      <p:nvGrpSpPr>
        <p:cNvPr id="1" name=""/>
        <p:cNvGrpSpPr/>
        <p:nvPr/>
      </p:nvGrpSpPr>
      <p:grpSpPr>
        <a:xfrm>
          <a:off x="0" y="0"/>
          <a:ext cx="0" cy="0"/>
          <a:chOff x="0" y="0"/>
          <a:chExt cx="0" cy="0"/>
        </a:xfrm>
      </p:grpSpPr>
      <p:sp>
        <p:nvSpPr>
          <p:cNvPr id="2" name="Text 0"/>
          <p:cNvSpPr txBox="1"/>
          <p:nvPr/>
        </p:nvSpPr>
        <p:spPr>
          <a:xfrm>
            <a:off x="685800" y="365760"/>
            <a:ext cx="1828800" cy="1874520"/>
          </a:xfrm>
          <a:prstGeom prst="rect">
            <a:avLst/>
          </a:prstGeom>
          <a:noFill/>
          <a:ln/>
        </p:spPr>
        <p:txBody>
          <a:bodyPr wrap="square" lIns="0" tIns="0" rIns="0" bIns="0" rtlCol="0" anchor="ctr"/>
          <a:lstStyle/>
          <a:p>
            <a:pPr indent="0" marL="0">
              <a:buNone/>
            </a:pPr>
            <a:r>
              <a:rPr lang="en-US" sz="11600" b="1" dirty="0">
                <a:solidFill>
                  <a:srgbClr val="C6F36B"/>
                </a:solidFill>
                <a:latin typeface="Cambria" pitchFamily="34" charset="0"/>
                <a:ea typeface="Cambria" pitchFamily="34" charset="-122"/>
                <a:cs typeface="Cambria" pitchFamily="34" charset="-120"/>
              </a:rPr>
              <a:t>1</a:t>
            </a:r>
            <a:endParaRPr lang="en-US" sz="11600" dirty="0"/>
          </a:p>
        </p:txBody>
      </p:sp>
      <p:sp>
        <p:nvSpPr>
          <p:cNvPr id="3" name="Text 1"/>
          <p:cNvSpPr txBox="1"/>
          <p:nvPr/>
        </p:nvSpPr>
        <p:spPr>
          <a:xfrm>
            <a:off x="731520" y="2286000"/>
            <a:ext cx="4572000" cy="292608"/>
          </a:xfrm>
          <a:prstGeom prst="rect">
            <a:avLst/>
          </a:prstGeom>
          <a:noFill/>
          <a:ln/>
        </p:spPr>
        <p:txBody>
          <a:bodyPr wrap="square" lIns="0" tIns="0" rIns="0" bIns="0" rtlCol="0" anchor="ctr"/>
          <a:lstStyle/>
          <a:p>
            <a:pPr indent="0" marL="0">
              <a:buNone/>
            </a:pPr>
            <a:r>
              <a:rPr lang="en-US" sz="1200" b="1" spc="300" kern="0" dirty="0">
                <a:solidFill>
                  <a:srgbClr val="C6F36B"/>
                </a:solidFill>
                <a:latin typeface="Calibri" pitchFamily="34" charset="0"/>
                <a:ea typeface="Calibri" pitchFamily="34" charset="-122"/>
                <a:cs typeface="Calibri" pitchFamily="34" charset="-120"/>
              </a:rPr>
              <a:t>BASAMAK 1 / 4</a:t>
            </a:r>
            <a:endParaRPr lang="en-US" sz="1200" dirty="0"/>
          </a:p>
        </p:txBody>
      </p:sp>
      <p:sp>
        <p:nvSpPr>
          <p:cNvPr id="4" name="Text 2"/>
          <p:cNvSpPr txBox="1"/>
          <p:nvPr/>
        </p:nvSpPr>
        <p:spPr>
          <a:xfrm>
            <a:off x="685800" y="2578608"/>
            <a:ext cx="5120640" cy="822960"/>
          </a:xfrm>
          <a:prstGeom prst="rect">
            <a:avLst/>
          </a:prstGeom>
          <a:noFill/>
          <a:ln/>
        </p:spPr>
        <p:txBody>
          <a:bodyPr wrap="square" lIns="0" tIns="0" rIns="0" bIns="0" rtlCol="0" anchor="ctr"/>
          <a:lstStyle/>
          <a:p>
            <a:pPr indent="0" marL="0">
              <a:buNone/>
            </a:pPr>
            <a:r>
              <a:rPr lang="en-US" sz="4600" b="1" spc="-100" kern="0" dirty="0">
                <a:solidFill>
                  <a:srgbClr val="FFFFFF"/>
                </a:solidFill>
                <a:latin typeface="Cambria" pitchFamily="34" charset="0"/>
                <a:ea typeface="Cambria" pitchFamily="34" charset="-122"/>
                <a:cs typeface="Cambria" pitchFamily="34" charset="-120"/>
              </a:rPr>
              <a:t>Temel</a:t>
            </a:r>
            <a:endParaRPr lang="en-US" sz="4600" dirty="0"/>
          </a:p>
        </p:txBody>
      </p:sp>
      <p:sp>
        <p:nvSpPr>
          <p:cNvPr id="5" name="Text 3"/>
          <p:cNvSpPr txBox="1"/>
          <p:nvPr/>
        </p:nvSpPr>
        <p:spPr>
          <a:xfrm>
            <a:off x="731520" y="3474720"/>
            <a:ext cx="4846320" cy="914400"/>
          </a:xfrm>
          <a:prstGeom prst="rect">
            <a:avLst/>
          </a:prstGeom>
          <a:noFill/>
          <a:ln/>
        </p:spPr>
        <p:txBody>
          <a:bodyPr wrap="square" lIns="0" tIns="0" rIns="0" bIns="0" rtlCol="0" anchor="t"/>
          <a:lstStyle/>
          <a:p>
            <a:pPr indent="0" marL="0">
              <a:lnSpc>
                <a:spcPct val="120000"/>
              </a:lnSpc>
              <a:buNone/>
            </a:pPr>
            <a:r>
              <a:rPr lang="en-US" sz="1300" dirty="0">
                <a:solidFill>
                  <a:srgbClr val="C3CEE8"/>
                </a:solidFill>
                <a:latin typeface="Calibri" pitchFamily="34" charset="0"/>
                <a:ea typeface="Calibri" pitchFamily="34" charset="-122"/>
                <a:cs typeface="Calibri" pitchFamily="34" charset="-120"/>
              </a:rPr>
              <a:t>Önce sezgi: günlük bir savrulmayı gözle, kuvvete ve net kuvvete ad koy, eylemsizliği ve kütle ile ağırlığın farkını kavra. Bu basamakta hesap yok denecek kadar az.</a:t>
            </a:r>
            <a:endParaRPr lang="en-US" sz="1300" dirty="0"/>
          </a:p>
        </p:txBody>
      </p:sp>
      <p:sp>
        <p:nvSpPr>
          <p:cNvPr id="6" name="Text 4"/>
          <p:cNvSpPr txBox="1"/>
          <p:nvPr/>
        </p:nvSpPr>
        <p:spPr>
          <a:xfrm>
            <a:off x="731520" y="4572000"/>
            <a:ext cx="5120640" cy="329184"/>
          </a:xfrm>
          <a:prstGeom prst="rect">
            <a:avLst/>
          </a:prstGeom>
          <a:noFill/>
          <a:ln/>
        </p:spPr>
        <p:txBody>
          <a:bodyPr wrap="square" lIns="0" tIns="0" rIns="0" bIns="0" rtlCol="0" anchor="ctr"/>
          <a:lstStyle/>
          <a:p>
            <a:pPr indent="0" marL="0">
              <a:buNone/>
            </a:pPr>
            <a:r>
              <a:rPr lang="en-US" sz="1300" b="1" dirty="0">
                <a:solidFill>
                  <a:srgbClr val="C6F36B"/>
                </a:solidFill>
                <a:latin typeface="Calibri" pitchFamily="34" charset="0"/>
                <a:ea typeface="Calibri" pitchFamily="34" charset="-122"/>
                <a:cs typeface="Calibri" pitchFamily="34" charset="-120"/>
              </a:rPr>
              <a:t>01   </a:t>
            </a:r>
            <a:pPr indent="0" marL="0">
              <a:buNone/>
            </a:pPr>
            <a:r>
              <a:rPr lang="en-US" sz="1300" dirty="0">
                <a:solidFill>
                  <a:srgbClr val="FFFFFF"/>
                </a:solidFill>
                <a:latin typeface="Calibri" pitchFamily="34" charset="0"/>
                <a:ea typeface="Calibri" pitchFamily="34" charset="-122"/>
                <a:cs typeface="Calibri" pitchFamily="34" charset="-120"/>
              </a:rPr>
              <a:t>Önce gözlemle: otobüs ani fren yapınca ne olur?</a:t>
            </a:r>
            <a:endParaRPr lang="en-US" sz="1300" dirty="0"/>
          </a:p>
        </p:txBody>
      </p:sp>
      <p:sp>
        <p:nvSpPr>
          <p:cNvPr id="7" name="Text 5"/>
          <p:cNvSpPr txBox="1"/>
          <p:nvPr/>
        </p:nvSpPr>
        <p:spPr>
          <a:xfrm>
            <a:off x="731520" y="4901184"/>
            <a:ext cx="5120640" cy="329184"/>
          </a:xfrm>
          <a:prstGeom prst="rect">
            <a:avLst/>
          </a:prstGeom>
          <a:noFill/>
          <a:ln/>
        </p:spPr>
        <p:txBody>
          <a:bodyPr wrap="square" lIns="0" tIns="0" rIns="0" bIns="0" rtlCol="0" anchor="ctr"/>
          <a:lstStyle/>
          <a:p>
            <a:pPr indent="0" marL="0">
              <a:buNone/>
            </a:pPr>
            <a:r>
              <a:rPr lang="en-US" sz="1300" b="1" dirty="0">
                <a:solidFill>
                  <a:srgbClr val="C6F36B"/>
                </a:solidFill>
                <a:latin typeface="Calibri" pitchFamily="34" charset="0"/>
                <a:ea typeface="Calibri" pitchFamily="34" charset="-122"/>
                <a:cs typeface="Calibri" pitchFamily="34" charset="-120"/>
              </a:rPr>
              <a:t>02   </a:t>
            </a:r>
            <a:pPr indent="0" marL="0">
              <a:buNone/>
            </a:pPr>
            <a:r>
              <a:rPr lang="en-US" sz="1300" dirty="0">
                <a:solidFill>
                  <a:srgbClr val="FFFFFF"/>
                </a:solidFill>
                <a:latin typeface="Calibri" pitchFamily="34" charset="0"/>
                <a:ea typeface="Calibri" pitchFamily="34" charset="-122"/>
                <a:cs typeface="Calibri" pitchFamily="34" charset="-120"/>
              </a:rPr>
              <a:t>Kuvvet ve net kuvvet</a:t>
            </a:r>
            <a:endParaRPr lang="en-US" sz="1300" dirty="0"/>
          </a:p>
        </p:txBody>
      </p:sp>
      <p:sp>
        <p:nvSpPr>
          <p:cNvPr id="8" name="Text 6"/>
          <p:cNvSpPr txBox="1"/>
          <p:nvPr/>
        </p:nvSpPr>
        <p:spPr>
          <a:xfrm>
            <a:off x="731520" y="5230368"/>
            <a:ext cx="5120640" cy="329184"/>
          </a:xfrm>
          <a:prstGeom prst="rect">
            <a:avLst/>
          </a:prstGeom>
          <a:noFill/>
          <a:ln/>
        </p:spPr>
        <p:txBody>
          <a:bodyPr wrap="square" lIns="0" tIns="0" rIns="0" bIns="0" rtlCol="0" anchor="ctr"/>
          <a:lstStyle/>
          <a:p>
            <a:pPr indent="0" marL="0">
              <a:buNone/>
            </a:pPr>
            <a:r>
              <a:rPr lang="en-US" sz="1300" b="1" dirty="0">
                <a:solidFill>
                  <a:srgbClr val="C6F36B"/>
                </a:solidFill>
                <a:latin typeface="Calibri" pitchFamily="34" charset="0"/>
                <a:ea typeface="Calibri" pitchFamily="34" charset="-122"/>
                <a:cs typeface="Calibri" pitchFamily="34" charset="-120"/>
              </a:rPr>
              <a:t>03   </a:t>
            </a:r>
            <a:pPr indent="0" marL="0">
              <a:buNone/>
            </a:pPr>
            <a:r>
              <a:rPr lang="en-US" sz="1300" dirty="0">
                <a:solidFill>
                  <a:srgbClr val="FFFFFF"/>
                </a:solidFill>
                <a:latin typeface="Calibri" pitchFamily="34" charset="0"/>
                <a:ea typeface="Calibri" pitchFamily="34" charset="-122"/>
                <a:cs typeface="Calibri" pitchFamily="34" charset="-120"/>
              </a:rPr>
              <a:t>1. yasa: eylemsizlik</a:t>
            </a:r>
            <a:endParaRPr lang="en-US" sz="1300" dirty="0"/>
          </a:p>
        </p:txBody>
      </p:sp>
      <p:sp>
        <p:nvSpPr>
          <p:cNvPr id="9" name="Text 7"/>
          <p:cNvSpPr txBox="1"/>
          <p:nvPr/>
        </p:nvSpPr>
        <p:spPr>
          <a:xfrm>
            <a:off x="731520" y="5559552"/>
            <a:ext cx="5120640" cy="329184"/>
          </a:xfrm>
          <a:prstGeom prst="rect">
            <a:avLst/>
          </a:prstGeom>
          <a:noFill/>
          <a:ln/>
        </p:spPr>
        <p:txBody>
          <a:bodyPr wrap="square" lIns="0" tIns="0" rIns="0" bIns="0" rtlCol="0" anchor="ctr"/>
          <a:lstStyle/>
          <a:p>
            <a:pPr indent="0" marL="0">
              <a:buNone/>
            </a:pPr>
            <a:r>
              <a:rPr lang="en-US" sz="1300" b="1" dirty="0">
                <a:solidFill>
                  <a:srgbClr val="C6F36B"/>
                </a:solidFill>
                <a:latin typeface="Calibri" pitchFamily="34" charset="0"/>
                <a:ea typeface="Calibri" pitchFamily="34" charset="-122"/>
                <a:cs typeface="Calibri" pitchFamily="34" charset="-120"/>
              </a:rPr>
              <a:t>04   </a:t>
            </a:r>
            <a:pPr indent="0" marL="0">
              <a:buNone/>
            </a:pPr>
            <a:r>
              <a:rPr lang="en-US" sz="1300" dirty="0">
                <a:solidFill>
                  <a:srgbClr val="FFFFFF"/>
                </a:solidFill>
                <a:latin typeface="Calibri" pitchFamily="34" charset="0"/>
                <a:ea typeface="Calibri" pitchFamily="34" charset="-122"/>
                <a:cs typeface="Calibri" pitchFamily="34" charset="-120"/>
              </a:rPr>
              <a:t>Kütle ve ağırlık: aynı şey değil</a:t>
            </a:r>
            <a:endParaRPr lang="en-US" sz="1300" dirty="0"/>
          </a:p>
        </p:txBody>
      </p:sp>
      <p:sp>
        <p:nvSpPr>
          <p:cNvPr id="10" name="Shape 8"/>
          <p:cNvSpPr/>
          <p:nvPr/>
        </p:nvSpPr>
        <p:spPr>
          <a:xfrm>
            <a:off x="6117336" y="905256"/>
            <a:ext cx="5489143" cy="3696005"/>
          </a:xfrm>
          <a:prstGeom prst="roundRect">
            <a:avLst>
              <a:gd name="adj" fmla="val 3464"/>
            </a:avLst>
          </a:prstGeom>
          <a:solidFill>
            <a:srgbClr val="1C2542"/>
          </a:solidFill>
          <a:ln w="9525">
            <a:solidFill>
              <a:srgbClr val="2C3860"/>
            </a:solidFill>
            <a:prstDash val="solid"/>
          </a:ln>
        </p:spPr>
      </p:sp>
      <p:pic>
        <p:nvPicPr>
          <p:cNvPr id="11" name="Image 0" descr="/tmp/claude-1000/-opt-dersler/8a8328c3-841c-44fa-b76f-82572d338d3d/scratchpad/d10/sek/newton-yasalari-gunluk-kart.jpg">    </p:cNvPr>
          <p:cNvPicPr>
            <a:picLocks noChangeAspect="1"/>
          </p:cNvPicPr>
          <p:nvPr/>
        </p:nvPicPr>
        <p:blipFill>
          <a:blip r:embed="rId1"/>
          <a:stretch>
            <a:fillRect/>
          </a:stretch>
        </p:blipFill>
        <p:spPr>
          <a:xfrm>
            <a:off x="6172200" y="960120"/>
            <a:ext cx="5379415" cy="3586277"/>
          </a:xfrm>
          <a:prstGeom prst="rect">
            <a:avLst/>
          </a:prstGeom>
        </p:spPr>
      </p:pic>
      <p:sp>
        <p:nvSpPr>
          <p:cNvPr id="12" name="Text 9"/>
          <p:cNvSpPr txBox="1"/>
          <p:nvPr/>
        </p:nvSpPr>
        <p:spPr>
          <a:xfrm>
            <a:off x="6172200" y="4774997"/>
            <a:ext cx="5379415" cy="1214323"/>
          </a:xfrm>
          <a:prstGeom prst="rect">
            <a:avLst/>
          </a:prstGeom>
          <a:noFill/>
          <a:ln/>
        </p:spPr>
        <p:txBody>
          <a:bodyPr wrap="square" lIns="0" tIns="0" rIns="0" bIns="0" rtlCol="0" anchor="t"/>
          <a:lstStyle/>
          <a:p>
            <a:pPr indent="0" marL="0">
              <a:lnSpc>
                <a:spcPct val="115000"/>
              </a:lnSpc>
              <a:buNone/>
            </a:pPr>
            <a:r>
              <a:rPr lang="en-US" sz="1150" dirty="0">
                <a:solidFill>
                  <a:srgbClr val="C3CEE8"/>
                </a:solidFill>
                <a:latin typeface="Calibri" pitchFamily="34" charset="0"/>
                <a:ea typeface="Calibri" pitchFamily="34" charset="-122"/>
                <a:cs typeface="Calibri" pitchFamily="34" charset="-120"/>
              </a:rPr>
              <a:t>Otobüs yavaşlıyor ama yolcular, kahve ve poşet </a:t>
            </a:r>
            <a:pPr indent="0" marL="0">
              <a:lnSpc>
                <a:spcPct val="115000"/>
              </a:lnSpc>
              <a:buNone/>
            </a:pPr>
            <a:r>
              <a:rPr lang="en-US" sz="1150" b="1" dirty="0">
                <a:solidFill>
                  <a:srgbClr val="FFFFFF"/>
                </a:solidFill>
                <a:latin typeface="Calibri" pitchFamily="34" charset="0"/>
                <a:ea typeface="Calibri" pitchFamily="34" charset="-122"/>
                <a:cs typeface="Calibri" pitchFamily="34" charset="-120"/>
              </a:rPr>
              <a:t>eski hızlarıyla</a:t>
            </a:r>
            <a:pPr indent="0" marL="0">
              <a:lnSpc>
                <a:spcPct val="115000"/>
              </a:lnSpc>
              <a:buNone/>
            </a:pPr>
            <a:r>
              <a:rPr lang="en-US" sz="1150" dirty="0">
                <a:solidFill>
                  <a:srgbClr val="C3CEE8"/>
                </a:solidFill>
                <a:latin typeface="Calibri" pitchFamily="34" charset="0"/>
                <a:ea typeface="Calibri" pitchFamily="34" charset="-122"/>
                <a:cs typeface="Calibri" pitchFamily="34" charset="-120"/>
              </a:rPr>
              <a:t> gitmeye devam ediyor. Onları öne iten bir kuvvet yok; yavaşlayan otobüstür. Yolcuları otobüsle birlikte yavaşlatan, ayaklarındaki sürtünme ile tutundukları direklerin ve tutamakların onları geriye çeken kuvvetidir.</a:t>
            </a:r>
            <a:endParaRPr lang="en-US" sz="1150" dirty="0"/>
          </a:p>
        </p:txBody>
      </p:sp>
      <p:sp>
        <p:nvSpPr>
          <p:cNvPr id="13" name="Shape 10"/>
          <p:cNvSpPr/>
          <p:nvPr/>
        </p:nvSpPr>
        <p:spPr>
          <a:xfrm>
            <a:off x="640080" y="6382512"/>
            <a:ext cx="128016" cy="128016"/>
          </a:xfrm>
          <a:prstGeom prst="roundRect">
            <a:avLst>
              <a:gd name="adj" fmla="val 28571"/>
            </a:avLst>
          </a:prstGeom>
          <a:solidFill>
            <a:srgbClr val="C6F36B"/>
          </a:solidFill>
          <a:ln/>
        </p:spPr>
      </p:sp>
      <p:sp>
        <p:nvSpPr>
          <p:cNvPr id="14" name="Text 11"/>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6A7798"/>
                </a:solidFill>
                <a:latin typeface="Calibri" pitchFamily="34" charset="0"/>
                <a:ea typeface="Calibri" pitchFamily="34" charset="-122"/>
                <a:cs typeface="Calibri" pitchFamily="34" charset="-120"/>
              </a:rPr>
              <a:t>dersler.perinet.org/newton-yasalari.html</a:t>
            </a:r>
            <a:endParaRPr lang="en-US" sz="1050" dirty="0"/>
          </a:p>
        </p:txBody>
      </p:sp>
      <p:sp>
        <p:nvSpPr>
          <p:cNvPr id="15" name="Text 12"/>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6A7798"/>
                </a:solidFill>
                <a:latin typeface="Calibri" pitchFamily="34" charset="0"/>
                <a:ea typeface="Calibri" pitchFamily="34" charset="-122"/>
                <a:cs typeface="Calibri" pitchFamily="34" charset="-120"/>
              </a:rPr>
              <a:t>06</a:t>
            </a:r>
            <a:endParaRPr lang="en-US" sz="10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000" b="1" spc="-50" kern="0" dirty="0">
                <a:solidFill>
                  <a:srgbClr val="0E1426"/>
                </a:solidFill>
                <a:latin typeface="Cambria" pitchFamily="34" charset="0"/>
                <a:ea typeface="Cambria" pitchFamily="34" charset="-122"/>
                <a:cs typeface="Cambria" pitchFamily="34" charset="-120"/>
              </a:rPr>
              <a:t>Önce gözlemle: otobüs ani fren yapınca ne olur?</a:t>
            </a:r>
            <a:endParaRPr lang="en-US" sz="30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1 / 4</a:t>
            </a:r>
            <a:endParaRPr lang="en-US" sz="950" dirty="0"/>
          </a:p>
        </p:txBody>
      </p:sp>
      <p:sp>
        <p:nvSpPr>
          <p:cNvPr id="6" name="Text 4"/>
          <p:cNvSpPr txBox="1"/>
          <p:nvPr/>
        </p:nvSpPr>
        <p:spPr>
          <a:xfrm>
            <a:off x="640080" y="1325880"/>
            <a:ext cx="10911535" cy="2770632"/>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Ayakta durduğun bir otobüs aniden fren yapıyor.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Tutunduğun kol gerilir, gövden öne doğru savrulur; koltuktaki poşet öne kayar, bardaktaki kahve öne doğru çalkalanıp taşar.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Bu sahnede tuhaf bir şey var: seni öne doğru iten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hiçbir şey yok</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Ne bir el, ne bir ip, ne de bir rüzgâr.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Peki neden öne gidiyorsun?</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dersler.perinet.org/newton-yasalari.html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07</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000" b="1" spc="-50" kern="0" dirty="0">
                <a:solidFill>
                  <a:srgbClr val="0E1426"/>
                </a:solidFill>
                <a:latin typeface="Cambria" pitchFamily="34" charset="0"/>
                <a:ea typeface="Cambria" pitchFamily="34" charset="-122"/>
                <a:cs typeface="Cambria" pitchFamily="34" charset="-120"/>
              </a:rPr>
              <a:t>Önce gözlemle: otobüs ani fren yapınca ne olur?</a:t>
            </a:r>
            <a:endParaRPr lang="en-US" sz="30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2 / 4</a:t>
            </a:r>
            <a:endParaRPr lang="en-US" sz="950" dirty="0"/>
          </a:p>
        </p:txBody>
      </p:sp>
      <p:sp>
        <p:nvSpPr>
          <p:cNvPr id="6" name="Text 4"/>
          <p:cNvSpPr txBox="1"/>
          <p:nvPr/>
        </p:nvSpPr>
        <p:spPr>
          <a:xfrm>
            <a:off x="640080" y="1325880"/>
            <a:ext cx="10911535" cy="2679192"/>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Cevap şaşırtıcı derecede basittir: seni öne atan bir şey yok, otobüs senin altında yavaşlıyor.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Sen ise eski hızınla gitmeye devam etmek istiyorsun.</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Otobüsün tabanı ayaklarını sürtünmeyle yavaşlatır, ama gövdeni yavaşlatacak böyle bir etki yoktur; bu yüzden gövden öne eğilir.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Otobüsteki her ayrıntı aynı eğilimle açıklanır: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dersler.perinet.org/newton-yasalari.html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08</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000" b="1" spc="-50" kern="0" dirty="0">
                <a:solidFill>
                  <a:srgbClr val="0E1426"/>
                </a:solidFill>
                <a:latin typeface="Cambria" pitchFamily="34" charset="0"/>
                <a:ea typeface="Cambria" pitchFamily="34" charset="-122"/>
                <a:cs typeface="Cambria" pitchFamily="34" charset="-120"/>
              </a:rPr>
              <a:t>Önce gözlemle: otobüs ani fren yapınca ne olur?</a:t>
            </a:r>
            <a:endParaRPr lang="en-US" sz="30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3 / 4</a:t>
            </a:r>
            <a:endParaRPr lang="en-US" sz="950" dirty="0"/>
          </a:p>
        </p:txBody>
      </p:sp>
      <p:sp>
        <p:nvSpPr>
          <p:cNvPr id="6" name="Text 4"/>
          <p:cNvSpPr txBox="1"/>
          <p:nvPr/>
        </p:nvSpPr>
        <p:spPr>
          <a:xfrm>
            <a:off x="640080" y="1325880"/>
            <a:ext cx="10911535" cy="3310128"/>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Yolcular öne savrulur:</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ayakları zeminle birlikte yavaşlar, gövdeleri eski hızla ilerlemeyi sürdürür.</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Kahve öne sıçrar:</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bardak otobüsle birlikte yavaşlar, içindeki sıvı ise ilerlemeyi sürdürüp taşar.</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Poşet öne kayar:</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koltuğun sürtünmesi onu otobüsle birlikte yavaşlatmaya yetmez.</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Kalkışta tersi olur:</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otobüs hızlanınca yolcular arkaya yaslanır, kahve arkaya doğru çalkalanır.</a:t>
            </a:r>
            <a:endParaRPr lang="en-US" sz="21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dersler.perinet.org/newton-yasalari.html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09</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000" b="1" spc="-50" kern="0" dirty="0">
                <a:solidFill>
                  <a:srgbClr val="0E1426"/>
                </a:solidFill>
                <a:latin typeface="Cambria" pitchFamily="34" charset="0"/>
                <a:ea typeface="Cambria" pitchFamily="34" charset="-122"/>
                <a:cs typeface="Cambria" pitchFamily="34" charset="-120"/>
              </a:rPr>
              <a:t>Önce gözlemle: otobüs ani fren yapınca ne olur?</a:t>
            </a:r>
            <a:endParaRPr lang="en-US" sz="30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4 / 4</a:t>
            </a:r>
            <a:endParaRPr lang="en-US" sz="950" dirty="0"/>
          </a:p>
        </p:txBody>
      </p:sp>
      <p:sp>
        <p:nvSpPr>
          <p:cNvPr id="6" name="Text 4"/>
          <p:cNvSpPr txBox="1"/>
          <p:nvPr/>
        </p:nvSpPr>
        <p:spPr>
          <a:xfrm>
            <a:off x="640080" y="1325880"/>
            <a:ext cx="10911535" cy="1816608"/>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Hepsinin ortak noktası şu: cisimler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hareket durumlarını korumak ister</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Hareketi değiştiren şey bir itme ya da çekmedir; değişim yoksa hiçbir kuvvete de gerek yoktur.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Newton'un üç yasası bu gözlemi sayılara döker.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dersler.perinet.org/newton-yasalari.html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10</a:t>
            </a:r>
            <a:endParaRPr lang="en-US" sz="10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000" b="1" spc="-50" kern="0" dirty="0">
                <a:solidFill>
                  <a:srgbClr val="0E1426"/>
                </a:solidFill>
                <a:latin typeface="Cambria" pitchFamily="34" charset="0"/>
                <a:ea typeface="Cambria" pitchFamily="34" charset="-122"/>
                <a:cs typeface="Cambria" pitchFamily="34" charset="-120"/>
              </a:rPr>
              <a:t>Önce gözlemle: otobüs ani fren yapınca ne olur?</a:t>
            </a:r>
            <a:endParaRPr lang="en-US" sz="30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6" name="Shape 4"/>
          <p:cNvSpPr/>
          <p:nvPr/>
        </p:nvSpPr>
        <p:spPr>
          <a:xfrm>
            <a:off x="1005840" y="1691640"/>
            <a:ext cx="10180015" cy="3840480"/>
          </a:xfrm>
          <a:prstGeom prst="roundRect">
            <a:avLst>
              <a:gd name="adj" fmla="val 523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042416" y="2148840"/>
            <a:ext cx="73152" cy="2926080"/>
          </a:xfrm>
          <a:prstGeom prst="rect">
            <a:avLst/>
          </a:prstGeom>
          <a:solidFill>
            <a:srgbClr val="3C8C21"/>
          </a:solidFill>
          <a:ln/>
        </p:spPr>
      </p:sp>
      <p:sp>
        <p:nvSpPr>
          <p:cNvPr id="8" name="Text 6"/>
          <p:cNvSpPr txBox="1"/>
          <p:nvPr/>
        </p:nvSpPr>
        <p:spPr>
          <a:xfrm>
            <a:off x="1554480" y="1984248"/>
            <a:ext cx="9082735" cy="292608"/>
          </a:xfrm>
          <a:prstGeom prst="rect">
            <a:avLst/>
          </a:prstGeom>
          <a:noFill/>
          <a:ln/>
        </p:spPr>
        <p:txBody>
          <a:bodyPr wrap="square" lIns="0" tIns="0" rIns="0" bIns="0" rtlCol="0" anchor="ctr"/>
          <a:lstStyle/>
          <a:p>
            <a:pPr indent="0" marL="0">
              <a:buNone/>
            </a:pPr>
            <a:r>
              <a:rPr lang="en-US" sz="1200" b="1" spc="300" kern="0" dirty="0">
                <a:solidFill>
                  <a:srgbClr val="3C8C21"/>
                </a:solidFill>
                <a:latin typeface="Calibri" pitchFamily="34" charset="0"/>
                <a:ea typeface="Calibri" pitchFamily="34" charset="-122"/>
                <a:cs typeface="Calibri" pitchFamily="34" charset="-120"/>
              </a:rPr>
              <a:t>KISACA  ·  BU BÖLÜMDE ÖĞRENDİK</a:t>
            </a:r>
            <a:endParaRPr lang="en-US" sz="1200" dirty="0"/>
          </a:p>
        </p:txBody>
      </p:sp>
      <p:sp>
        <p:nvSpPr>
          <p:cNvPr id="9" name="Text 7"/>
          <p:cNvSpPr txBox="1"/>
          <p:nvPr/>
        </p:nvSpPr>
        <p:spPr>
          <a:xfrm>
            <a:off x="1554480" y="2423160"/>
            <a:ext cx="9082735" cy="2743200"/>
          </a:xfrm>
          <a:prstGeom prst="rect">
            <a:avLst/>
          </a:prstGeom>
          <a:noFill/>
          <a:ln/>
        </p:spPr>
        <p:txBody>
          <a:bodyPr wrap="square" lIns="0" tIns="0" rIns="0" bIns="0" rtlCol="0" anchor="ctr"/>
          <a:lstStyle/>
          <a:p>
            <a:pPr indent="0" marL="0">
              <a:lnSpc>
                <a:spcPct val="125000"/>
              </a:lnSpc>
              <a:buNone/>
            </a:pPr>
            <a:r>
              <a:rPr lang="en-US" sz="2800" dirty="0">
                <a:solidFill>
                  <a:srgbClr val="0E1426"/>
                </a:solidFill>
                <a:latin typeface="Cambria" pitchFamily="34" charset="0"/>
                <a:ea typeface="Cambria" pitchFamily="34" charset="-122"/>
                <a:cs typeface="Cambria" pitchFamily="34" charset="-120"/>
              </a:rPr>
              <a:t>Ani frende öne savrulmanın sebebi seni iten bir kuvvet değil, eski hızınla gitmeyi sürdürme eğilimindir. Hareketi değiştirmek için kuvvet gerekir, sürdürmek için gerekmez.</a:t>
            </a:r>
            <a:endParaRPr lang="en-US" sz="28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dersler.perinet.org/newton-yasalari.html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11</a:t>
            </a:r>
            <a:endParaRPr lang="en-US" sz="10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6FE"/>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3" name="Shape 1"/>
          <p:cNvSpPr/>
          <p:nvPr/>
        </p:nvSpPr>
        <p:spPr>
          <a:xfrm>
            <a:off x="822960" y="2011680"/>
            <a:ext cx="1554480" cy="1554480"/>
          </a:xfrm>
          <a:prstGeom prst="ellipse">
            <a:avLst/>
          </a:prstGeom>
          <a:solidFill>
            <a:srgbClr val="5F4BD8"/>
          </a:solidFill>
          <a:ln/>
          <a:effectLst>
            <a:outerShdw sx="100000" sy="100000" kx="0" ky="0" algn="bl" rotWithShape="0" blurRad="177800" dist="50800" dir="5400000">
              <a:srgbClr val="5F4BD8">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8000" b="1" dirty="0">
                <a:solidFill>
                  <a:srgbClr val="FFFFFF"/>
                </a:solidFill>
                <a:latin typeface="Cambria" pitchFamily="34" charset="0"/>
                <a:ea typeface="Cambria" pitchFamily="34" charset="-122"/>
                <a:cs typeface="Cambria" pitchFamily="34" charset="-120"/>
              </a:rPr>
              <a:t>?</a:t>
            </a:r>
            <a:endParaRPr lang="en-US" sz="8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5F4BD8"/>
                </a:solidFill>
                <a:latin typeface="Calibri" pitchFamily="34" charset="0"/>
                <a:ea typeface="Calibri" pitchFamily="34" charset="-122"/>
                <a:cs typeface="Calibri" pitchFamily="34" charset="-120"/>
              </a:rPr>
              <a:t>DÜŞÜN</a:t>
            </a:r>
            <a:endParaRPr lang="en-US" sz="1300" dirty="0"/>
          </a:p>
        </p:txBody>
      </p:sp>
      <p:sp>
        <p:nvSpPr>
          <p:cNvPr id="6" name="Text 4"/>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Otobüs sağa dönerken neden sola doğru savrulursun?</a:t>
            </a:r>
            <a:endParaRPr lang="en-US" sz="3200" dirty="0"/>
          </a:p>
        </p:txBody>
      </p:sp>
      <p:sp>
        <p:nvSpPr>
          <p:cNvPr id="7" name="Text 5"/>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01 · Önce gözlemle: otobüs ani fren yapınca ne olur?</a:t>
            </a:r>
            <a:pPr indent="0" marL="0">
              <a:buNone/>
            </a:pPr>
            <a:r>
              <a:rPr lang="en-US" sz="1200" b="1" dirty="0">
                <a:solidFill>
                  <a:srgbClr val="5F4BD8"/>
                </a:solidFill>
                <a:latin typeface="Calibri" pitchFamily="34" charset="0"/>
                <a:ea typeface="Calibri" pitchFamily="34" charset="-122"/>
                <a:cs typeface="Calibri" pitchFamily="34" charset="-120"/>
              </a:rPr>
              <a:t>     Cevap bir sonraki slaytta</a:t>
            </a:r>
            <a:endParaRPr lang="en-US" sz="1200" dirty="0"/>
          </a:p>
        </p:txBody>
      </p:sp>
      <p:sp>
        <p:nvSpPr>
          <p:cNvPr id="8" name="Shape 6"/>
          <p:cNvSpPr/>
          <p:nvPr/>
        </p:nvSpPr>
        <p:spPr>
          <a:xfrm>
            <a:off x="640080" y="6382512"/>
            <a:ext cx="128016" cy="128016"/>
          </a:xfrm>
          <a:prstGeom prst="roundRect">
            <a:avLst>
              <a:gd name="adj" fmla="val 28571"/>
            </a:avLst>
          </a:prstGeom>
          <a:solidFill>
            <a:srgbClr val="A9E648"/>
          </a:solidFill>
          <a:ln/>
        </p:spPr>
      </p:sp>
      <p:sp>
        <p:nvSpPr>
          <p:cNvPr id="9"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dersler.perinet.org/newton-yasalari.html</a:t>
            </a:r>
            <a:endParaRPr lang="en-US" sz="1050" dirty="0"/>
          </a:p>
        </p:txBody>
      </p:sp>
      <p:sp>
        <p:nvSpPr>
          <p:cNvPr id="10"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12</a:t>
            </a:r>
            <a:endParaRPr lang="en-US" sz="10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3" name="Shape 1"/>
          <p:cNvSpPr/>
          <p:nvPr/>
        </p:nvSpPr>
        <p:spPr>
          <a:xfrm>
            <a:off x="640080" y="457200"/>
            <a:ext cx="493776" cy="493776"/>
          </a:xfrm>
          <a:prstGeom prst="roundRect">
            <a:avLst>
              <a:gd name="adj" fmla="val 25926"/>
            </a:avLst>
          </a:prstGeom>
          <a:solidFill>
            <a:srgbClr val="5F4BD8"/>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Otobüs sağa dönerken neden sola doğru savrulursun?</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5F4BD8"/>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Aslında sola itilmiyorsun: gövden </a:t>
            </a:r>
            <a:pPr indent="0" marL="0">
              <a:lnSpc>
                <a:spcPct val="125000"/>
              </a:lnSpc>
              <a:buNone/>
            </a:pPr>
            <a:r>
              <a:rPr lang="en-US" sz="2400" b="1" dirty="0">
                <a:solidFill>
                  <a:srgbClr val="5F4BD8"/>
                </a:solidFill>
                <a:latin typeface="Calibri" pitchFamily="34" charset="0"/>
                <a:ea typeface="Calibri" pitchFamily="34" charset="-122"/>
                <a:cs typeface="Calibri" pitchFamily="34" charset="-120"/>
              </a:rPr>
              <a:t>dümdüz gitmeyi</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sürdürmek ister. Otobüs sağa döndüğü için zemin ve koltuk sağa kayar; sen ona göre sola kalmış gibi görünürsün. Seni otobüsle birlikte döndüren şey, tutunduğun direğin sana sağa doğru uyguladığı kuvvettir.</a:t>
            </a:r>
            <a:endParaRPr lang="en-US" sz="24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dersler.perinet.org/newton-yasalari.html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13</a:t>
            </a:r>
            <a:endParaRPr lang="en-US" sz="10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Kuvvet ve net kuvvet</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1 / 5</a:t>
            </a:r>
            <a:endParaRPr lang="en-US" sz="950" dirty="0"/>
          </a:p>
        </p:txBody>
      </p:sp>
      <p:sp>
        <p:nvSpPr>
          <p:cNvPr id="6" name="Text 4"/>
          <p:cNvSpPr txBox="1"/>
          <p:nvPr/>
        </p:nvSpPr>
        <p:spPr>
          <a:xfrm>
            <a:off x="640080" y="1325880"/>
            <a:ext cx="10911535" cy="2293620"/>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b="1" dirty="0">
                <a:solidFill>
                  <a:srgbClr val="0E1426"/>
                </a:solidFill>
                <a:latin typeface="Calibri" pitchFamily="34" charset="0"/>
                <a:ea typeface="Calibri" pitchFamily="34" charset="-122"/>
                <a:cs typeface="Calibri" pitchFamily="34" charset="-120"/>
              </a:rPr>
              <a:t>Kuvvet</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bir cismin hareket durumunu ya da şeklini değiştiren etkidir.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Vektörel bir büyüklüktür: büyüklüğü, doğrultusu ve yönü vardır.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Birimi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newton (N)</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'dur ve 1 N = 1 kg·m/s² demektir.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Bir fikir versin: elinde tuttuğun 100 gramlık bir elmanın ağırlığı yaklaşık 1 N'dur.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dersler.perinet.org/newton-yasalari.html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14</a:t>
            </a:r>
            <a:endParaRPr lang="en-US" sz="10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Kuvvet ve net kuvvet</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2 / 5</a:t>
            </a:r>
            <a:endParaRPr lang="en-US" sz="950" dirty="0"/>
          </a:p>
        </p:txBody>
      </p:sp>
      <p:sp>
        <p:nvSpPr>
          <p:cNvPr id="6" name="Text 4"/>
          <p:cNvSpPr txBox="1"/>
          <p:nvPr/>
        </p:nvSpPr>
        <p:spPr>
          <a:xfrm>
            <a:off x="640080" y="1325880"/>
            <a:ext cx="10911535" cy="1339596"/>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Bir cisme aynı anda birçok kuvvet etki edebilir.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Hareketi belirleyen tek tek kuvvetler değil, hepsinin vektörel toplamı olan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net kuvvettir</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(bileşke kuvvet, ΣF).</a:t>
            </a:r>
            <a:endParaRPr lang="en-US" sz="2200" dirty="0"/>
          </a:p>
        </p:txBody>
      </p:sp>
      <p:sp>
        <p:nvSpPr>
          <p:cNvPr id="7" name="Shape 5"/>
          <p:cNvSpPr/>
          <p:nvPr/>
        </p:nvSpPr>
        <p:spPr>
          <a:xfrm>
            <a:off x="640080" y="2866644"/>
            <a:ext cx="3467405" cy="585216"/>
          </a:xfrm>
          <a:prstGeom prst="roundRect">
            <a:avLst>
              <a:gd name="adj" fmla="val 18750"/>
            </a:avLst>
          </a:prstGeom>
          <a:solidFill>
            <a:srgbClr val="EEF2FC"/>
          </a:solidFill>
          <a:ln w="9525">
            <a:solidFill>
              <a:srgbClr val="CBD7F4"/>
            </a:solidFill>
            <a:prstDash val="solid"/>
          </a:ln>
        </p:spPr>
      </p:sp>
      <p:sp>
        <p:nvSpPr>
          <p:cNvPr id="8" name="Text 6"/>
          <p:cNvSpPr txBox="1"/>
          <p:nvPr/>
        </p:nvSpPr>
        <p:spPr>
          <a:xfrm>
            <a:off x="640080" y="2866644"/>
            <a:ext cx="3467405" cy="585216"/>
          </a:xfrm>
          <a:prstGeom prst="rect">
            <a:avLst/>
          </a:prstGeom>
          <a:noFill/>
          <a:ln/>
        </p:spPr>
        <p:txBody>
          <a:bodyPr wrap="square" lIns="0" tIns="0" rIns="0" bIns="0" rtlCol="0" anchor="ctr"/>
          <a:lstStyle/>
          <a:p>
            <a:pPr algn="ctr" indent="0" marL="0">
              <a:buNone/>
            </a:pPr>
            <a:r>
              <a:rPr lang="en-US" sz="1800" b="1" dirty="0">
                <a:solidFill>
                  <a:srgbClr val="2957D4"/>
                </a:solidFill>
                <a:latin typeface="Courier New" pitchFamily="34" charset="0"/>
                <a:ea typeface="Courier New" pitchFamily="34" charset="-122"/>
                <a:cs typeface="Courier New" pitchFamily="34" charset="-120"/>
              </a:rPr>
              <a:t>ΣF = F₁ + F₂ + F₃ + …</a:t>
            </a:r>
            <a:endParaRPr lang="en-US" sz="1800" dirty="0"/>
          </a:p>
        </p:txBody>
      </p:sp>
      <p:sp>
        <p:nvSpPr>
          <p:cNvPr id="9" name="Shape 7"/>
          <p:cNvSpPr/>
          <p:nvPr/>
        </p:nvSpPr>
        <p:spPr>
          <a:xfrm>
            <a:off x="4253789" y="2866644"/>
            <a:ext cx="3884371" cy="585216"/>
          </a:xfrm>
          <a:prstGeom prst="roundRect">
            <a:avLst>
              <a:gd name="adj" fmla="val 18750"/>
            </a:avLst>
          </a:prstGeom>
          <a:solidFill>
            <a:srgbClr val="EEF2FC"/>
          </a:solidFill>
          <a:ln w="9525">
            <a:solidFill>
              <a:srgbClr val="CBD7F4"/>
            </a:solidFill>
            <a:prstDash val="solid"/>
          </a:ln>
        </p:spPr>
      </p:sp>
      <p:sp>
        <p:nvSpPr>
          <p:cNvPr id="10" name="Text 8"/>
          <p:cNvSpPr txBox="1"/>
          <p:nvPr/>
        </p:nvSpPr>
        <p:spPr>
          <a:xfrm>
            <a:off x="4253789" y="2866644"/>
            <a:ext cx="3884371" cy="585216"/>
          </a:xfrm>
          <a:prstGeom prst="rect">
            <a:avLst/>
          </a:prstGeom>
          <a:noFill/>
          <a:ln/>
        </p:spPr>
        <p:txBody>
          <a:bodyPr wrap="square" lIns="0" tIns="0" rIns="0" bIns="0" rtlCol="0" anchor="ctr"/>
          <a:lstStyle/>
          <a:p>
            <a:pPr algn="ctr" indent="0" marL="0">
              <a:buNone/>
            </a:pPr>
            <a:r>
              <a:rPr lang="en-US" sz="1800" b="1" dirty="0">
                <a:solidFill>
                  <a:srgbClr val="2957D4"/>
                </a:solidFill>
                <a:latin typeface="Courier New" pitchFamily="34" charset="0"/>
                <a:ea typeface="Courier New" pitchFamily="34" charset="-122"/>
                <a:cs typeface="Courier New" pitchFamily="34" charset="-120"/>
              </a:rPr>
              <a:t>aynı yönde: ΣF = F₁ + F₂</a:t>
            </a:r>
            <a:endParaRPr lang="en-US" sz="1800" dirty="0"/>
          </a:p>
        </p:txBody>
      </p:sp>
      <p:sp>
        <p:nvSpPr>
          <p:cNvPr id="11" name="Shape 9"/>
          <p:cNvSpPr/>
          <p:nvPr/>
        </p:nvSpPr>
        <p:spPr>
          <a:xfrm>
            <a:off x="640080" y="3579876"/>
            <a:ext cx="3745382" cy="585216"/>
          </a:xfrm>
          <a:prstGeom prst="roundRect">
            <a:avLst>
              <a:gd name="adj" fmla="val 18750"/>
            </a:avLst>
          </a:prstGeom>
          <a:solidFill>
            <a:srgbClr val="EEF2FC"/>
          </a:solidFill>
          <a:ln w="9525">
            <a:solidFill>
              <a:srgbClr val="CBD7F4"/>
            </a:solidFill>
            <a:prstDash val="solid"/>
          </a:ln>
        </p:spPr>
      </p:sp>
      <p:sp>
        <p:nvSpPr>
          <p:cNvPr id="12" name="Text 10"/>
          <p:cNvSpPr txBox="1"/>
          <p:nvPr/>
        </p:nvSpPr>
        <p:spPr>
          <a:xfrm>
            <a:off x="640080" y="3579876"/>
            <a:ext cx="3745382" cy="585216"/>
          </a:xfrm>
          <a:prstGeom prst="rect">
            <a:avLst/>
          </a:prstGeom>
          <a:noFill/>
          <a:ln/>
        </p:spPr>
        <p:txBody>
          <a:bodyPr wrap="square" lIns="0" tIns="0" rIns="0" bIns="0" rtlCol="0" anchor="ctr"/>
          <a:lstStyle/>
          <a:p>
            <a:pPr algn="ctr" indent="0" marL="0">
              <a:buNone/>
            </a:pPr>
            <a:r>
              <a:rPr lang="en-US" sz="1800" b="1" dirty="0">
                <a:solidFill>
                  <a:srgbClr val="2957D4"/>
                </a:solidFill>
                <a:latin typeface="Courier New" pitchFamily="34" charset="0"/>
                <a:ea typeface="Courier New" pitchFamily="34" charset="-122"/>
                <a:cs typeface="Courier New" pitchFamily="34" charset="-120"/>
              </a:rPr>
              <a:t>zıt yönde: ΣF = F₁ − F₂</a:t>
            </a:r>
            <a:endParaRPr lang="en-US" sz="1800" dirty="0"/>
          </a:p>
        </p:txBody>
      </p:sp>
      <p:sp>
        <p:nvSpPr>
          <p:cNvPr id="13" name="Shape 11"/>
          <p:cNvSpPr/>
          <p:nvPr/>
        </p:nvSpPr>
        <p:spPr>
          <a:xfrm>
            <a:off x="4531766" y="3579876"/>
            <a:ext cx="4162349" cy="585216"/>
          </a:xfrm>
          <a:prstGeom prst="roundRect">
            <a:avLst>
              <a:gd name="adj" fmla="val 18750"/>
            </a:avLst>
          </a:prstGeom>
          <a:solidFill>
            <a:srgbClr val="EEF2FC"/>
          </a:solidFill>
          <a:ln w="9525">
            <a:solidFill>
              <a:srgbClr val="CBD7F4"/>
            </a:solidFill>
            <a:prstDash val="solid"/>
          </a:ln>
        </p:spPr>
      </p:sp>
      <p:sp>
        <p:nvSpPr>
          <p:cNvPr id="14" name="Text 12"/>
          <p:cNvSpPr txBox="1"/>
          <p:nvPr/>
        </p:nvSpPr>
        <p:spPr>
          <a:xfrm>
            <a:off x="4531766" y="3579876"/>
            <a:ext cx="4162349" cy="585216"/>
          </a:xfrm>
          <a:prstGeom prst="rect">
            <a:avLst/>
          </a:prstGeom>
          <a:noFill/>
          <a:ln/>
        </p:spPr>
        <p:txBody>
          <a:bodyPr wrap="square" lIns="0" tIns="0" rIns="0" bIns="0" rtlCol="0" anchor="ctr"/>
          <a:lstStyle/>
          <a:p>
            <a:pPr algn="ctr" indent="0" marL="0">
              <a:buNone/>
            </a:pPr>
            <a:r>
              <a:rPr lang="en-US" sz="1800" b="1" dirty="0">
                <a:solidFill>
                  <a:srgbClr val="2957D4"/>
                </a:solidFill>
                <a:latin typeface="Courier New" pitchFamily="34" charset="0"/>
                <a:ea typeface="Courier New" pitchFamily="34" charset="-122"/>
                <a:cs typeface="Courier New" pitchFamily="34" charset="-120"/>
              </a:rPr>
              <a:t>dik ise: ΣF = √(F₁² + F₂²)</a:t>
            </a:r>
            <a:endParaRPr lang="en-US" sz="1800" dirty="0"/>
          </a:p>
        </p:txBody>
      </p:sp>
      <p:sp>
        <p:nvSpPr>
          <p:cNvPr id="16" name="Shape 13"/>
          <p:cNvSpPr/>
          <p:nvPr/>
        </p:nvSpPr>
        <p:spPr>
          <a:xfrm>
            <a:off x="640080" y="6382512"/>
            <a:ext cx="128016" cy="128016"/>
          </a:xfrm>
          <a:prstGeom prst="roundRect">
            <a:avLst>
              <a:gd name="adj" fmla="val 28571"/>
            </a:avLst>
          </a:prstGeom>
          <a:solidFill>
            <a:srgbClr val="A9E648"/>
          </a:solidFill>
          <a:ln/>
        </p:spPr>
      </p:sp>
      <p:sp>
        <p:nvSpPr>
          <p:cNvPr id="17" name="Text 14"/>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dersler.perinet.org/newton-yasalari.html</a:t>
            </a:r>
            <a:endParaRPr lang="en-US" sz="1050" dirty="0"/>
          </a:p>
        </p:txBody>
      </p:sp>
      <p:sp>
        <p:nvSpPr>
          <p:cNvPr id="18" name="Text 15"/>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15</a:t>
            </a:r>
            <a:endParaRPr lang="en-US" sz="10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Kuvvet ve net kuvvet</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3 / 5</a:t>
            </a:r>
            <a:endParaRPr lang="en-US" sz="950" dirty="0"/>
          </a:p>
        </p:txBody>
      </p:sp>
      <p:sp>
        <p:nvSpPr>
          <p:cNvPr id="6" name="Text 4"/>
          <p:cNvSpPr txBox="1"/>
          <p:nvPr/>
        </p:nvSpPr>
        <p:spPr>
          <a:xfrm>
            <a:off x="640080" y="1325880"/>
            <a:ext cx="10911535" cy="3064764"/>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Halat çekme yarışını düşün.</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İki takım da halatı yüzlerce newtonla çekiyor, ama kuvvetler eşitse halat kıpırdamaz: net kuvvet sıfırdır.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Takımlardan biri biraz daha güçlü çektiği anda halat o yöne doğru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hızlanmaya</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başlar.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Birbirine dik iki kuvvet ise Pisagor ile toplanır: 3 N ile 4 N'luk dik kuvvetlerin toplamı 7 N değil, 5 N'dur.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dersler.perinet.org/newton-yasalari.html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16</a:t>
            </a:r>
            <a:endParaRPr lang="en-US" sz="10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Kuvvet ve net kuvvet</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4 / 5</a:t>
            </a:r>
            <a:endParaRPr lang="en-US" sz="950" dirty="0"/>
          </a:p>
        </p:txBody>
      </p:sp>
      <p:sp>
        <p:nvSpPr>
          <p:cNvPr id="6" name="Text 4"/>
          <p:cNvSpPr txBox="1"/>
          <p:nvPr/>
        </p:nvSpPr>
        <p:spPr>
          <a:xfrm>
            <a:off x="640080" y="1325880"/>
            <a:ext cx="10911535" cy="1339596"/>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Net kuvvet sıfırsa kuvvetler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dengelenmiştir</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cisim ya durgundur ya da sabit hızla doğrusal hareket eder.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İkisi de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denge hâlidir</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fizik açısından aralarında hiçbir fark yoktur.</a:t>
            </a:r>
            <a:endParaRPr lang="en-US" sz="2200" dirty="0"/>
          </a:p>
        </p:txBody>
      </p:sp>
      <p:sp>
        <p:nvSpPr>
          <p:cNvPr id="7" name="Shape 5"/>
          <p:cNvSpPr/>
          <p:nvPr/>
        </p:nvSpPr>
        <p:spPr>
          <a:xfrm>
            <a:off x="640080" y="2866644"/>
            <a:ext cx="10911535" cy="1348740"/>
          </a:xfrm>
          <a:prstGeom prst="roundRect">
            <a:avLst>
              <a:gd name="adj" fmla="val 9492"/>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58368" y="3031236"/>
            <a:ext cx="54864" cy="1019556"/>
          </a:xfrm>
          <a:prstGeom prst="rect">
            <a:avLst/>
          </a:prstGeom>
          <a:solidFill>
            <a:srgbClr val="3C8C21"/>
          </a:solidFill>
          <a:ln/>
        </p:spPr>
      </p:sp>
      <p:sp>
        <p:nvSpPr>
          <p:cNvPr id="9" name="Text 7"/>
          <p:cNvSpPr txBox="1"/>
          <p:nvPr/>
        </p:nvSpPr>
        <p:spPr>
          <a:xfrm>
            <a:off x="950976" y="2994660"/>
            <a:ext cx="10399471" cy="1092708"/>
          </a:xfrm>
          <a:prstGeom prst="rect">
            <a:avLst/>
          </a:prstGeom>
          <a:noFill/>
          <a:ln/>
        </p:spPr>
        <p:txBody>
          <a:bodyPr wrap="square" lIns="0" tIns="0" rIns="0" bIns="0" rtlCol="0" anchor="ctr"/>
          <a:lstStyle/>
          <a:p>
            <a:pPr indent="0" marL="0">
              <a:lnSpc>
                <a:spcPct val="114000"/>
              </a:lnSpc>
              <a:buNone/>
            </a:pPr>
            <a:r>
              <a:rPr lang="en-US" sz="1800" b="1" dirty="0">
                <a:solidFill>
                  <a:srgbClr val="0E1426"/>
                </a:solidFill>
                <a:latin typeface="Calibri" pitchFamily="34" charset="0"/>
                <a:ea typeface="Calibri" pitchFamily="34" charset="-122"/>
                <a:cs typeface="Calibri" pitchFamily="34" charset="-120"/>
              </a:rPr>
              <a:t>Üç yasa tek cümlede:</a:t>
            </a:r>
            <a:pPr indent="0" marL="0">
              <a:lnSpc>
                <a:spcPct val="114000"/>
              </a:lnSpc>
              <a:buNone/>
            </a:pPr>
            <a:r>
              <a:rPr lang="en-US" sz="1800" dirty="0">
                <a:solidFill>
                  <a:srgbClr val="0E1426"/>
                </a:solidFill>
                <a:latin typeface="Calibri" pitchFamily="34" charset="0"/>
                <a:ea typeface="Calibri" pitchFamily="34" charset="-122"/>
                <a:cs typeface="Calibri" pitchFamily="34" charset="-120"/>
              </a:rPr>
              <a:t> Net kuvvet yoksa hareket değişmez (1. yasa), net kuvvet varsa ne kadar değişeceğini </a:t>
            </a:r>
            <a:pPr indent="0" marL="0">
              <a:lnSpc>
                <a:spcPct val="114000"/>
              </a:lnSpc>
              <a:buNone/>
            </a:pPr>
            <a:r>
              <a:rPr lang="en-US" sz="1800" b="1" dirty="0">
                <a:solidFill>
                  <a:srgbClr val="0E1426"/>
                </a:solidFill>
                <a:latin typeface="Calibri" pitchFamily="34" charset="0"/>
                <a:ea typeface="Calibri" pitchFamily="34" charset="-122"/>
                <a:cs typeface="Calibri" pitchFamily="34" charset="-120"/>
              </a:rPr>
              <a:t>ΣF = m·a</a:t>
            </a:r>
            <a:pPr indent="0" marL="0">
              <a:lnSpc>
                <a:spcPct val="114000"/>
              </a:lnSpc>
              <a:buNone/>
            </a:pPr>
            <a:r>
              <a:rPr lang="en-US" sz="1800" dirty="0">
                <a:solidFill>
                  <a:srgbClr val="0E1426"/>
                </a:solidFill>
                <a:latin typeface="Calibri" pitchFamily="34" charset="0"/>
                <a:ea typeface="Calibri" pitchFamily="34" charset="-122"/>
                <a:cs typeface="Calibri" pitchFamily="34" charset="-120"/>
              </a:rPr>
              <a:t> söyler (2. yasa), ve kuvvetler daima </a:t>
            </a:r>
            <a:pPr indent="0" marL="0">
              <a:lnSpc>
                <a:spcPct val="114000"/>
              </a:lnSpc>
              <a:buNone/>
            </a:pPr>
            <a:r>
              <a:rPr lang="en-US" sz="1800" b="1" dirty="0">
                <a:solidFill>
                  <a:srgbClr val="0E1426"/>
                </a:solidFill>
                <a:latin typeface="Calibri" pitchFamily="34" charset="0"/>
                <a:ea typeface="Calibri" pitchFamily="34" charset="-122"/>
                <a:cs typeface="Calibri" pitchFamily="34" charset="-120"/>
              </a:rPr>
              <a:t>çiftler hâlinde</a:t>
            </a:r>
            <a:pPr indent="0" marL="0">
              <a:lnSpc>
                <a:spcPct val="114000"/>
              </a:lnSpc>
              <a:buNone/>
            </a:pPr>
            <a:r>
              <a:rPr lang="en-US" sz="1800" dirty="0">
                <a:solidFill>
                  <a:srgbClr val="0E1426"/>
                </a:solidFill>
                <a:latin typeface="Calibri" pitchFamily="34" charset="0"/>
                <a:ea typeface="Calibri" pitchFamily="34" charset="-122"/>
                <a:cs typeface="Calibri" pitchFamily="34" charset="-120"/>
              </a:rPr>
              <a:t> ortaya çıkar (3. yasa).</a:t>
            </a:r>
            <a:endParaRPr lang="en-US" sz="1800" dirty="0"/>
          </a:p>
        </p:txBody>
      </p:sp>
      <p:sp>
        <p:nvSpPr>
          <p:cNvPr id="11" name="Shape 8"/>
          <p:cNvSpPr/>
          <p:nvPr/>
        </p:nvSpPr>
        <p:spPr>
          <a:xfrm>
            <a:off x="640080" y="6382512"/>
            <a:ext cx="128016" cy="128016"/>
          </a:xfrm>
          <a:prstGeom prst="roundRect">
            <a:avLst>
              <a:gd name="adj" fmla="val 28571"/>
            </a:avLst>
          </a:prstGeom>
          <a:solidFill>
            <a:srgbClr val="A9E648"/>
          </a:solidFill>
          <a:ln/>
        </p:spPr>
      </p:sp>
      <p:sp>
        <p:nvSpPr>
          <p:cNvPr id="12"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dersler.perinet.org/newton-yasalari.html</a:t>
            </a:r>
            <a:endParaRPr lang="en-US" sz="1050" dirty="0"/>
          </a:p>
        </p:txBody>
      </p:sp>
      <p:sp>
        <p:nvSpPr>
          <p:cNvPr id="13"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17</a:t>
            </a:r>
            <a:endParaRPr lang="en-US" sz="10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Kuvvet ve net kuvvet</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5 / 5</a:t>
            </a:r>
            <a:endParaRPr lang="en-US" sz="950" dirty="0"/>
          </a:p>
        </p:txBody>
      </p:sp>
      <p:sp>
        <p:nvSpPr>
          <p:cNvPr id="6" name="Shape 4"/>
          <p:cNvSpPr/>
          <p:nvPr/>
        </p:nvSpPr>
        <p:spPr>
          <a:xfrm>
            <a:off x="1020928" y="1234440"/>
            <a:ext cx="10149840" cy="3736654"/>
          </a:xfrm>
          <a:prstGeom prst="roundRect">
            <a:avLst>
              <a:gd name="adj" fmla="val 391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7" name="Image 0" descr="/tmp/claude-1000/-opt-dersler/8a8328c3-841c-44fa-b76f-82572d338d3d/scratchpad/d10/sek/newton-yasalari-01.png">    </p:cNvPr>
          <p:cNvPicPr>
            <a:picLocks noChangeAspect="1"/>
          </p:cNvPicPr>
          <p:nvPr/>
        </p:nvPicPr>
        <p:blipFill>
          <a:blip r:embed="rId1"/>
          <a:stretch>
            <a:fillRect/>
          </a:stretch>
        </p:blipFill>
        <p:spPr>
          <a:xfrm>
            <a:off x="1249528" y="1325880"/>
            <a:ext cx="9692640" cy="3553774"/>
          </a:xfrm>
          <a:prstGeom prst="rect">
            <a:avLst/>
          </a:prstGeom>
        </p:spPr>
      </p:pic>
      <p:sp>
        <p:nvSpPr>
          <p:cNvPr id="8" name="Text 5"/>
          <p:cNvSpPr txBox="1"/>
          <p:nvPr/>
        </p:nvSpPr>
        <p:spPr>
          <a:xfrm>
            <a:off x="1249528" y="5153974"/>
            <a:ext cx="9692640" cy="990794"/>
          </a:xfrm>
          <a:prstGeom prst="rect">
            <a:avLst/>
          </a:prstGeom>
          <a:noFill/>
          <a:ln/>
        </p:spPr>
        <p:txBody>
          <a:bodyPr wrap="square" lIns="0" tIns="0" rIns="0" bIns="0" rtlCol="0" anchor="t"/>
          <a:lstStyle/>
          <a:p>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Kuvvet bir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vektördür</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bu yüzden kuvvetler sayı gibi değil, ok gibi toplanır. Cismin ne yapacağını tek tek kuvvetler değil, yeşil okla gösterilen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net kuvvet</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belirler. Net kuvvet sıfırsa cisim ya durur ya da sabit hızla gider — ikisi de denge hâlidir.</a:t>
            </a:r>
            <a:endParaRPr lang="en-US" sz="1350" dirty="0"/>
          </a:p>
        </p:txBody>
      </p:sp>
      <p:sp>
        <p:nvSpPr>
          <p:cNvPr id="10" name="Shape 6"/>
          <p:cNvSpPr/>
          <p:nvPr/>
        </p:nvSpPr>
        <p:spPr>
          <a:xfrm>
            <a:off x="640080" y="6382512"/>
            <a:ext cx="128016" cy="128016"/>
          </a:xfrm>
          <a:prstGeom prst="roundRect">
            <a:avLst>
              <a:gd name="adj" fmla="val 28571"/>
            </a:avLst>
          </a:prstGeom>
          <a:solidFill>
            <a:srgbClr val="A9E648"/>
          </a:solidFill>
          <a:ln/>
        </p:spPr>
      </p:sp>
      <p:sp>
        <p:nvSpPr>
          <p:cNvPr id="11"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dersler.perinet.org/newton-yasalari.html</a:t>
            </a:r>
            <a:endParaRPr lang="en-US" sz="1050" dirty="0"/>
          </a:p>
        </p:txBody>
      </p:sp>
      <p:sp>
        <p:nvSpPr>
          <p:cNvPr id="12"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18</a:t>
            </a:r>
            <a:endParaRPr lang="en-US" sz="10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Kuvvet ve net kuvvet</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6" name="Shape 4"/>
          <p:cNvSpPr/>
          <p:nvPr/>
        </p:nvSpPr>
        <p:spPr>
          <a:xfrm>
            <a:off x="1005840" y="1691640"/>
            <a:ext cx="10180015" cy="3840480"/>
          </a:xfrm>
          <a:prstGeom prst="roundRect">
            <a:avLst>
              <a:gd name="adj" fmla="val 523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042416" y="2148840"/>
            <a:ext cx="73152" cy="2926080"/>
          </a:xfrm>
          <a:prstGeom prst="rect">
            <a:avLst/>
          </a:prstGeom>
          <a:solidFill>
            <a:srgbClr val="3C8C21"/>
          </a:solidFill>
          <a:ln/>
        </p:spPr>
      </p:sp>
      <p:sp>
        <p:nvSpPr>
          <p:cNvPr id="8" name="Text 6"/>
          <p:cNvSpPr txBox="1"/>
          <p:nvPr/>
        </p:nvSpPr>
        <p:spPr>
          <a:xfrm>
            <a:off x="1554480" y="1984248"/>
            <a:ext cx="9082735" cy="292608"/>
          </a:xfrm>
          <a:prstGeom prst="rect">
            <a:avLst/>
          </a:prstGeom>
          <a:noFill/>
          <a:ln/>
        </p:spPr>
        <p:txBody>
          <a:bodyPr wrap="square" lIns="0" tIns="0" rIns="0" bIns="0" rtlCol="0" anchor="ctr"/>
          <a:lstStyle/>
          <a:p>
            <a:pPr indent="0" marL="0">
              <a:buNone/>
            </a:pPr>
            <a:r>
              <a:rPr lang="en-US" sz="1200" b="1" spc="300" kern="0" dirty="0">
                <a:solidFill>
                  <a:srgbClr val="3C8C21"/>
                </a:solidFill>
                <a:latin typeface="Calibri" pitchFamily="34" charset="0"/>
                <a:ea typeface="Calibri" pitchFamily="34" charset="-122"/>
                <a:cs typeface="Calibri" pitchFamily="34" charset="-120"/>
              </a:rPr>
              <a:t>KISACA  ·  BU BÖLÜMDE ÖĞRENDİK</a:t>
            </a:r>
            <a:endParaRPr lang="en-US" sz="1200" dirty="0"/>
          </a:p>
        </p:txBody>
      </p:sp>
      <p:sp>
        <p:nvSpPr>
          <p:cNvPr id="9" name="Text 7"/>
          <p:cNvSpPr txBox="1"/>
          <p:nvPr/>
        </p:nvSpPr>
        <p:spPr>
          <a:xfrm>
            <a:off x="1554480" y="2423160"/>
            <a:ext cx="9082735" cy="2743200"/>
          </a:xfrm>
          <a:prstGeom prst="rect">
            <a:avLst/>
          </a:prstGeom>
          <a:noFill/>
          <a:ln/>
        </p:spPr>
        <p:txBody>
          <a:bodyPr wrap="square" lIns="0" tIns="0" rIns="0" bIns="0" rtlCol="0" anchor="ctr"/>
          <a:lstStyle/>
          <a:p>
            <a:pPr indent="0" marL="0">
              <a:lnSpc>
                <a:spcPct val="125000"/>
              </a:lnSpc>
              <a:buNone/>
            </a:pPr>
            <a:r>
              <a:rPr lang="en-US" sz="2800" dirty="0">
                <a:solidFill>
                  <a:srgbClr val="0E1426"/>
                </a:solidFill>
                <a:latin typeface="Cambria" pitchFamily="34" charset="0"/>
                <a:ea typeface="Cambria" pitchFamily="34" charset="-122"/>
                <a:cs typeface="Cambria" pitchFamily="34" charset="-120"/>
              </a:rPr>
              <a:t>Kuvvet, hareketi ya da şekli değiştiren vektörel bir etkidir ve newtonla ölçülür. Hareketi tek tek kuvvetler değil, onların vektörel toplamı olan net kuvvet belirler.</a:t>
            </a:r>
            <a:endParaRPr lang="en-US" sz="28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dersler.perinet.org/newton-yasalari.html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19</a:t>
            </a:r>
            <a:endParaRPr lang="en-US" sz="10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1. yasa: eylemsizlik</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1 / 6</a:t>
            </a:r>
            <a:endParaRPr lang="en-US" sz="950" dirty="0"/>
          </a:p>
        </p:txBody>
      </p:sp>
      <p:sp>
        <p:nvSpPr>
          <p:cNvPr id="6" name="Text 4"/>
          <p:cNvSpPr txBox="1"/>
          <p:nvPr/>
        </p:nvSpPr>
        <p:spPr>
          <a:xfrm>
            <a:off x="640080" y="1325880"/>
            <a:ext cx="10911535" cy="862584"/>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b="1" dirty="0">
                <a:solidFill>
                  <a:srgbClr val="0E1426"/>
                </a:solidFill>
                <a:latin typeface="Calibri" pitchFamily="34" charset="0"/>
                <a:ea typeface="Calibri" pitchFamily="34" charset="-122"/>
                <a:cs typeface="Calibri" pitchFamily="34" charset="-120"/>
              </a:rPr>
              <a:t>Bir cisme etki eden net kuvvet sıfırsa, duran cisim durmaya devam eder; hareketli cisim sabit hızla doğrusal hareketine devam eder.</a:t>
            </a:r>
            <a:endParaRPr lang="en-US" sz="2200" dirty="0"/>
          </a:p>
        </p:txBody>
      </p:sp>
      <p:sp>
        <p:nvSpPr>
          <p:cNvPr id="7" name="Text 5"/>
          <p:cNvSpPr txBox="1"/>
          <p:nvPr/>
        </p:nvSpPr>
        <p:spPr>
          <a:xfrm>
            <a:off x="640080" y="2389632"/>
            <a:ext cx="10911535" cy="1725168"/>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Cisimlerin hareket durumundaki değişime gösterdiği bu dirence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eylemsizlik (atalet)</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denir.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Eylemsizliğin ölçüsü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kütledir</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kütle büyüdükçe cismin hızını değiştirmek zorlaşır.</a:t>
            </a:r>
            <a:endParaRPr lang="en-US" sz="2200" dirty="0"/>
          </a:p>
        </p:txBody>
      </p:sp>
      <p:sp>
        <p:nvSpPr>
          <p:cNvPr id="9" name="Shape 6"/>
          <p:cNvSpPr/>
          <p:nvPr/>
        </p:nvSpPr>
        <p:spPr>
          <a:xfrm>
            <a:off x="640080" y="6382512"/>
            <a:ext cx="128016" cy="128016"/>
          </a:xfrm>
          <a:prstGeom prst="roundRect">
            <a:avLst>
              <a:gd name="adj" fmla="val 28571"/>
            </a:avLst>
          </a:prstGeom>
          <a:solidFill>
            <a:srgbClr val="A9E648"/>
          </a:solidFill>
          <a:ln/>
        </p:spPr>
      </p:sp>
      <p:sp>
        <p:nvSpPr>
          <p:cNvPr id="10"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dersler.perinet.org/newton-yasalari.html</a:t>
            </a:r>
            <a:endParaRPr lang="en-US" sz="1050" dirty="0"/>
          </a:p>
        </p:txBody>
      </p:sp>
      <p:sp>
        <p:nvSpPr>
          <p:cNvPr id="11"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20</a:t>
            </a:r>
            <a:endParaRPr lang="en-US" sz="10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1. yasa: eylemsizlik</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2 / 6</a:t>
            </a:r>
            <a:endParaRPr lang="en-US" sz="950" dirty="0"/>
          </a:p>
        </p:txBody>
      </p:sp>
      <p:sp>
        <p:nvSpPr>
          <p:cNvPr id="6" name="Text 4"/>
          <p:cNvSpPr txBox="1"/>
          <p:nvPr/>
        </p:nvSpPr>
        <p:spPr>
          <a:xfrm>
            <a:off x="640080" y="1325880"/>
            <a:ext cx="10911535" cy="2973324"/>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Bu yasa bugün sade görünür, ama yaklaşık iki bin yıl boyunca tersine inanıldı.</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Aristoteles'e göre hareket eden bir cisim, onu itmeye devam eden bir şey olmadıkça dururdu; gözlem de bunu doğruluyor gibiydi, çünkü itmeyi bıraktığın araba durur.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Galileo 1600'lerde bir düşünce deneyi önerdi: bir rampadan bırakılan bilye karşıdaki rampaya neredeyse aynı yüksekliğe tırmanır.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dersler.perinet.org/newton-yasalari.html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21</a:t>
            </a:r>
            <a:endParaRPr lang="en-US" sz="10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1. yasa: eylemsizlik</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3 / 6</a:t>
            </a:r>
            <a:endParaRPr lang="en-US" sz="950" dirty="0"/>
          </a:p>
        </p:txBody>
      </p:sp>
      <p:sp>
        <p:nvSpPr>
          <p:cNvPr id="6" name="Text 4"/>
          <p:cNvSpPr txBox="1"/>
          <p:nvPr/>
        </p:nvSpPr>
        <p:spPr>
          <a:xfrm>
            <a:off x="640080" y="1325880"/>
            <a:ext cx="10911535" cy="2770632"/>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İkinci rampayı yatıklaştırdıkça bilye aynı yüksekliğe ulaşmak için daha uzağa gider.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Rampa tamamen yatay olsaydı?</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Bilye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hiç durmadan</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gitmeliydi.</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Onu durduran şey hareketin doğası değil, sürtünmedir.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Newton bu fikri 1687'de yasalarının ilki yaptı.</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dersler.perinet.org/newton-yasalari.html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22</a:t>
            </a:r>
            <a:endParaRPr lang="en-US" sz="10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1. yasa: eylemsizlik</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4 / 6</a:t>
            </a:r>
            <a:endParaRPr lang="en-US" sz="950" dirty="0"/>
          </a:p>
        </p:txBody>
      </p:sp>
      <p:sp>
        <p:nvSpPr>
          <p:cNvPr id="6" name="Text 4"/>
          <p:cNvSpPr txBox="1"/>
          <p:nvPr/>
        </p:nvSpPr>
        <p:spPr>
          <a:xfrm>
            <a:off x="640080" y="1325880"/>
            <a:ext cx="10911535" cy="2942082"/>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Ani frende öne savrulmak:</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otobüs yavaşlar, sen eski hızınla gitmeye devam edersin.</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Kalkışta arkaya yaslanmak:</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araç hızlanır, sen durgunluğunu korumaya çalışırsın.</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Masa örtüsünü hızlı çekmek:</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tabaklara yeterince kuvvet aktarılmaz, yerlerinde kalırlar.</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Emniyet kemeri</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tam olarak bu yüzden vardır.</a:t>
            </a:r>
            <a:endParaRPr lang="en-US" sz="21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dersler.perinet.org/newton-yasalari.html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23</a:t>
            </a:r>
            <a:endParaRPr lang="en-US" sz="10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1. yasa: eylemsizlik</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5 / 6</a:t>
            </a:r>
            <a:endParaRPr lang="en-US" sz="950" dirty="0"/>
          </a:p>
        </p:txBody>
      </p:sp>
      <p:sp>
        <p:nvSpPr>
          <p:cNvPr id="6" name="Text 4"/>
          <p:cNvSpPr txBox="1"/>
          <p:nvPr/>
        </p:nvSpPr>
        <p:spPr>
          <a:xfrm>
            <a:off x="640080" y="1325880"/>
            <a:ext cx="10911535" cy="1339596"/>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Sayfadaki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02</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numaralı deney bu yasanın deneysel yüzüdür: diski durduran şey hareketin doğası değil, sürtünmedir.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Sürtünme sıfıra giderse durma mesafesi sonsuza gider.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dersler.perinet.org/newton-yasalari.html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24</a:t>
            </a:r>
            <a:endParaRPr lang="en-US" sz="10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1. yasa: eylemsizlik</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6 / 6</a:t>
            </a:r>
            <a:endParaRPr lang="en-US" sz="950" dirty="0"/>
          </a:p>
        </p:txBody>
      </p:sp>
      <p:sp>
        <p:nvSpPr>
          <p:cNvPr id="6" name="Shape 4"/>
          <p:cNvSpPr/>
          <p:nvPr/>
        </p:nvSpPr>
        <p:spPr>
          <a:xfrm>
            <a:off x="1339457" y="1234440"/>
            <a:ext cx="9512781" cy="3880485"/>
          </a:xfrm>
          <a:prstGeom prst="roundRect">
            <a:avLst>
              <a:gd name="adj" fmla="val 3770"/>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7" name="Image 0" descr="/tmp/claude-1000/-opt-dersler/8a8328c3-841c-44fa-b76f-82572d338d3d/scratchpad/d10/sek/newton-yasalari-02.png">    </p:cNvPr>
          <p:cNvPicPr>
            <a:picLocks noChangeAspect="1"/>
          </p:cNvPicPr>
          <p:nvPr/>
        </p:nvPicPr>
        <p:blipFill>
          <a:blip r:embed="rId1"/>
          <a:stretch>
            <a:fillRect/>
          </a:stretch>
        </p:blipFill>
        <p:spPr>
          <a:xfrm>
            <a:off x="1568057" y="1325880"/>
            <a:ext cx="9055581" cy="3697605"/>
          </a:xfrm>
          <a:prstGeom prst="rect">
            <a:avLst/>
          </a:prstGeom>
        </p:spPr>
      </p:pic>
      <p:sp>
        <p:nvSpPr>
          <p:cNvPr id="8" name="Text 5"/>
          <p:cNvSpPr txBox="1"/>
          <p:nvPr/>
        </p:nvSpPr>
        <p:spPr>
          <a:xfrm>
            <a:off x="1249528" y="5297805"/>
            <a:ext cx="9692640" cy="846963"/>
          </a:xfrm>
          <a:prstGeom prst="rect">
            <a:avLst/>
          </a:prstGeom>
          <a:noFill/>
          <a:ln/>
        </p:spPr>
        <p:txBody>
          <a:bodyPr wrap="square" lIns="0" tIns="0" rIns="0" bIns="0" rtlCol="0" anchor="t"/>
          <a:lstStyle/>
          <a:p>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Diskleri durduran şey hareketin doğası değil,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sürtünmedir</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μ küçüldükçe durma mesafesi d = v²/(2μg) ile uzar; sürtünme sıfıra giderse mesafe sonsuza gider ve disk sonsuza kadar aynı hızla ilerler. 1. yasanın söylediği tam olarak budur: hareketi sürdürmek için kuvvet gerekmez,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değiştirmek</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için gerekir.</a:t>
            </a:r>
            <a:endParaRPr lang="en-US" sz="1350" dirty="0"/>
          </a:p>
        </p:txBody>
      </p:sp>
      <p:sp>
        <p:nvSpPr>
          <p:cNvPr id="10" name="Shape 6"/>
          <p:cNvSpPr/>
          <p:nvPr/>
        </p:nvSpPr>
        <p:spPr>
          <a:xfrm>
            <a:off x="640080" y="6382512"/>
            <a:ext cx="128016" cy="128016"/>
          </a:xfrm>
          <a:prstGeom prst="roundRect">
            <a:avLst>
              <a:gd name="adj" fmla="val 28571"/>
            </a:avLst>
          </a:prstGeom>
          <a:solidFill>
            <a:srgbClr val="A9E648"/>
          </a:solidFill>
          <a:ln/>
        </p:spPr>
      </p:sp>
      <p:sp>
        <p:nvSpPr>
          <p:cNvPr id="11"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dersler.perinet.org/newton-yasalari.html</a:t>
            </a:r>
            <a:endParaRPr lang="en-US" sz="1050" dirty="0"/>
          </a:p>
        </p:txBody>
      </p:sp>
      <p:sp>
        <p:nvSpPr>
          <p:cNvPr id="12"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25</a:t>
            </a:r>
            <a:endParaRPr lang="en-US" sz="10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1. yasa: eylemsizlik</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6" name="Shape 4"/>
          <p:cNvSpPr/>
          <p:nvPr/>
        </p:nvSpPr>
        <p:spPr>
          <a:xfrm>
            <a:off x="1005840" y="1691640"/>
            <a:ext cx="10180015" cy="3840480"/>
          </a:xfrm>
          <a:prstGeom prst="roundRect">
            <a:avLst>
              <a:gd name="adj" fmla="val 523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042416" y="2148840"/>
            <a:ext cx="73152" cy="2926080"/>
          </a:xfrm>
          <a:prstGeom prst="rect">
            <a:avLst/>
          </a:prstGeom>
          <a:solidFill>
            <a:srgbClr val="3C8C21"/>
          </a:solidFill>
          <a:ln/>
        </p:spPr>
      </p:sp>
      <p:sp>
        <p:nvSpPr>
          <p:cNvPr id="8" name="Text 6"/>
          <p:cNvSpPr txBox="1"/>
          <p:nvPr/>
        </p:nvSpPr>
        <p:spPr>
          <a:xfrm>
            <a:off x="1554480" y="1984248"/>
            <a:ext cx="9082735" cy="292608"/>
          </a:xfrm>
          <a:prstGeom prst="rect">
            <a:avLst/>
          </a:prstGeom>
          <a:noFill/>
          <a:ln/>
        </p:spPr>
        <p:txBody>
          <a:bodyPr wrap="square" lIns="0" tIns="0" rIns="0" bIns="0" rtlCol="0" anchor="ctr"/>
          <a:lstStyle/>
          <a:p>
            <a:pPr indent="0" marL="0">
              <a:buNone/>
            </a:pPr>
            <a:r>
              <a:rPr lang="en-US" sz="1200" b="1" spc="300" kern="0" dirty="0">
                <a:solidFill>
                  <a:srgbClr val="3C8C21"/>
                </a:solidFill>
                <a:latin typeface="Calibri" pitchFamily="34" charset="0"/>
                <a:ea typeface="Calibri" pitchFamily="34" charset="-122"/>
                <a:cs typeface="Calibri" pitchFamily="34" charset="-120"/>
              </a:rPr>
              <a:t>KISACA  ·  BU BÖLÜMDE ÖĞRENDİK</a:t>
            </a:r>
            <a:endParaRPr lang="en-US" sz="1200" dirty="0"/>
          </a:p>
        </p:txBody>
      </p:sp>
      <p:sp>
        <p:nvSpPr>
          <p:cNvPr id="9" name="Text 7"/>
          <p:cNvSpPr txBox="1"/>
          <p:nvPr/>
        </p:nvSpPr>
        <p:spPr>
          <a:xfrm>
            <a:off x="1554480" y="2423160"/>
            <a:ext cx="9082735" cy="2743200"/>
          </a:xfrm>
          <a:prstGeom prst="rect">
            <a:avLst/>
          </a:prstGeom>
          <a:noFill/>
          <a:ln/>
        </p:spPr>
        <p:txBody>
          <a:bodyPr wrap="square" lIns="0" tIns="0" rIns="0" bIns="0" rtlCol="0" anchor="ctr"/>
          <a:lstStyle/>
          <a:p>
            <a:pPr indent="0" marL="0">
              <a:lnSpc>
                <a:spcPct val="125000"/>
              </a:lnSpc>
              <a:buNone/>
            </a:pPr>
            <a:r>
              <a:rPr lang="en-US" sz="2800" dirty="0">
                <a:solidFill>
                  <a:srgbClr val="0E1426"/>
                </a:solidFill>
                <a:latin typeface="Cambria" pitchFamily="34" charset="0"/>
                <a:ea typeface="Cambria" pitchFamily="34" charset="-122"/>
                <a:cs typeface="Cambria" pitchFamily="34" charset="-120"/>
              </a:rPr>
              <a:t>Net kuvvet sıfırsa duran cisim durur, hareketli cisim sabit hızla doğrusal gider. Cisimleri durduran hareketin doğası değil, sürtünme gibi dış kuvvetlerdir.</a:t>
            </a:r>
            <a:endParaRPr lang="en-US" sz="28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dersler.perinet.org/newton-yasalari.html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26</a:t>
            </a:r>
            <a:endParaRPr lang="en-US" sz="10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7F6FE"/>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3" name="Shape 1"/>
          <p:cNvSpPr/>
          <p:nvPr/>
        </p:nvSpPr>
        <p:spPr>
          <a:xfrm>
            <a:off x="822960" y="2011680"/>
            <a:ext cx="1554480" cy="1554480"/>
          </a:xfrm>
          <a:prstGeom prst="ellipse">
            <a:avLst/>
          </a:prstGeom>
          <a:solidFill>
            <a:srgbClr val="5F4BD8"/>
          </a:solidFill>
          <a:ln/>
          <a:effectLst>
            <a:outerShdw sx="100000" sy="100000" kx="0" ky="0" algn="bl" rotWithShape="0" blurRad="177800" dist="50800" dir="5400000">
              <a:srgbClr val="5F4BD8">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8000" b="1" dirty="0">
                <a:solidFill>
                  <a:srgbClr val="FFFFFF"/>
                </a:solidFill>
                <a:latin typeface="Cambria" pitchFamily="34" charset="0"/>
                <a:ea typeface="Cambria" pitchFamily="34" charset="-122"/>
                <a:cs typeface="Cambria" pitchFamily="34" charset="-120"/>
              </a:rPr>
              <a:t>?</a:t>
            </a:r>
            <a:endParaRPr lang="en-US" sz="8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5F4BD8"/>
                </a:solidFill>
                <a:latin typeface="Calibri" pitchFamily="34" charset="0"/>
                <a:ea typeface="Calibri" pitchFamily="34" charset="-122"/>
                <a:cs typeface="Calibri" pitchFamily="34" charset="-120"/>
              </a:rPr>
              <a:t>DÜŞÜN</a:t>
            </a:r>
            <a:endParaRPr lang="en-US" sz="1300" dirty="0"/>
          </a:p>
        </p:txBody>
      </p:sp>
      <p:sp>
        <p:nvSpPr>
          <p:cNvPr id="6" name="Text 4"/>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Uzay boşluğunda fırlatılan ve üzerine hiçbir kuvvet etki etmeyen bir top ne zaman durur?</a:t>
            </a:r>
            <a:endParaRPr lang="en-US" sz="3200" dirty="0"/>
          </a:p>
        </p:txBody>
      </p:sp>
      <p:sp>
        <p:nvSpPr>
          <p:cNvPr id="7" name="Text 5"/>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03 · 1. yasa: eylemsizlik</a:t>
            </a:r>
            <a:pPr indent="0" marL="0">
              <a:buNone/>
            </a:pPr>
            <a:r>
              <a:rPr lang="en-US" sz="1200" b="1" dirty="0">
                <a:solidFill>
                  <a:srgbClr val="5F4BD8"/>
                </a:solidFill>
                <a:latin typeface="Calibri" pitchFamily="34" charset="0"/>
                <a:ea typeface="Calibri" pitchFamily="34" charset="-122"/>
                <a:cs typeface="Calibri" pitchFamily="34" charset="-120"/>
              </a:rPr>
              <a:t>     Cevap bir sonraki slaytta</a:t>
            </a:r>
            <a:endParaRPr lang="en-US" sz="1200" dirty="0"/>
          </a:p>
        </p:txBody>
      </p:sp>
      <p:sp>
        <p:nvSpPr>
          <p:cNvPr id="8" name="Shape 6"/>
          <p:cNvSpPr/>
          <p:nvPr/>
        </p:nvSpPr>
        <p:spPr>
          <a:xfrm>
            <a:off x="640080" y="6382512"/>
            <a:ext cx="128016" cy="128016"/>
          </a:xfrm>
          <a:prstGeom prst="roundRect">
            <a:avLst>
              <a:gd name="adj" fmla="val 28571"/>
            </a:avLst>
          </a:prstGeom>
          <a:solidFill>
            <a:srgbClr val="A9E648"/>
          </a:solidFill>
          <a:ln/>
        </p:spPr>
      </p:sp>
      <p:sp>
        <p:nvSpPr>
          <p:cNvPr id="9"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dersler.perinet.org/newton-yasalari.html</a:t>
            </a:r>
            <a:endParaRPr lang="en-US" sz="1050" dirty="0"/>
          </a:p>
        </p:txBody>
      </p:sp>
      <p:sp>
        <p:nvSpPr>
          <p:cNvPr id="10"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27</a:t>
            </a:r>
            <a:endParaRPr lang="en-US" sz="10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3" name="Shape 1"/>
          <p:cNvSpPr/>
          <p:nvPr/>
        </p:nvSpPr>
        <p:spPr>
          <a:xfrm>
            <a:off x="640080" y="457200"/>
            <a:ext cx="493776" cy="493776"/>
          </a:xfrm>
          <a:prstGeom prst="roundRect">
            <a:avLst>
              <a:gd name="adj" fmla="val 25926"/>
            </a:avLst>
          </a:prstGeom>
          <a:solidFill>
            <a:srgbClr val="5F4BD8"/>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Uzay boşluğunda fırlatılan ve üzerine hiçbir kuvvet etki etmeyen bir top ne zaman durur?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5F4BD8"/>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400" b="1" dirty="0">
                <a:solidFill>
                  <a:srgbClr val="5F4BD8"/>
                </a:solidFill>
                <a:latin typeface="Calibri" pitchFamily="34" charset="0"/>
                <a:ea typeface="Calibri" pitchFamily="34" charset="-122"/>
                <a:cs typeface="Calibri" pitchFamily="34" charset="-120"/>
              </a:rPr>
              <a:t>Hiçbir zaman.</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Topu yavaşlatacak ne sürtünme ne de hava direnci vardır; top aynı hızla, aynı doğrultuda gitmeyi sürdürür. Gerçek uzayda gökcisimlerinin çekimi yolunu yavaş yavaş değiştirir, ama hareketini sürdürmek için hiçbir motora gerek yoktur.</a:t>
            </a:r>
            <a:endParaRPr lang="en-US" sz="24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dersler.perinet.org/newton-yasalari.html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28</a:t>
            </a:r>
            <a:endParaRPr lang="en-US" sz="10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Kütle ve ağırlık: aynı şey değil</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1 / 6</a:t>
            </a:r>
            <a:endParaRPr lang="en-US" sz="950" dirty="0"/>
          </a:p>
        </p:txBody>
      </p:sp>
      <p:sp>
        <p:nvSpPr>
          <p:cNvPr id="6" name="Text 4"/>
          <p:cNvSpPr txBox="1"/>
          <p:nvPr/>
        </p:nvSpPr>
        <p:spPr>
          <a:xfrm>
            <a:off x="640080" y="1325880"/>
            <a:ext cx="10911535" cy="2770632"/>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Günlük dilde “kilom 60” deriz ve kütle ile ağırlığı aynı şey sanırız.</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Fizikte ikisi farklı büyüklüklerdir.</a:t>
            </a:r>
            <a:endParaRPr lang="en-US" sz="2200" dirty="0"/>
          </a:p>
          <a:p>
            <a:pPr marL="203200" indent="-203200">
              <a:lnSpc>
                <a:spcPct val="115000"/>
              </a:lnSpc>
              <a:spcAft>
                <a:spcPts val="800"/>
              </a:spcAft>
              <a:buSzPct val="100000"/>
              <a:buChar char="▪"/>
            </a:pPr>
            <a:r>
              <a:rPr lang="en-US" sz="2200" b="1" dirty="0">
                <a:solidFill>
                  <a:srgbClr val="0E1426"/>
                </a:solidFill>
                <a:latin typeface="Calibri" pitchFamily="34" charset="0"/>
                <a:ea typeface="Calibri" pitchFamily="34" charset="-122"/>
                <a:cs typeface="Calibri" pitchFamily="34" charset="-120"/>
              </a:rPr>
              <a:t>Kütle</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cismin eylemsizliğinin ölçüsüdür: hızını değiştirmenin ne kadar zor olduğunu söyler.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Skalerdir, kilogramla ölçülür ve nereye gidersen git değişmez.</a:t>
            </a:r>
            <a:endParaRPr lang="en-US" sz="2200" dirty="0"/>
          </a:p>
          <a:p>
            <a:pPr marL="203200" indent="-203200">
              <a:lnSpc>
                <a:spcPct val="115000"/>
              </a:lnSpc>
              <a:spcAft>
                <a:spcPts val="800"/>
              </a:spcAft>
              <a:buSzPct val="100000"/>
              <a:buChar char="▪"/>
            </a:pPr>
            <a:r>
              <a:rPr lang="en-US" sz="2200" b="1" dirty="0">
                <a:solidFill>
                  <a:srgbClr val="0E1426"/>
                </a:solidFill>
                <a:latin typeface="Calibri" pitchFamily="34" charset="0"/>
                <a:ea typeface="Calibri" pitchFamily="34" charset="-122"/>
                <a:cs typeface="Calibri" pitchFamily="34" charset="-120"/>
              </a:rPr>
              <a:t>Ağırlık</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ise cismin bulunduğu gökcisminin onu çektiği kuvvettir: G = m·g.</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dersler.perinet.org/newton-yasalari.html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29</a:t>
            </a:r>
            <a:endParaRPr lang="en-US" sz="10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Kütle ve ağırlık: aynı şey değil</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2 / 6</a:t>
            </a:r>
            <a:endParaRPr lang="en-US" sz="950" dirty="0"/>
          </a:p>
        </p:txBody>
      </p:sp>
      <p:sp>
        <p:nvSpPr>
          <p:cNvPr id="6" name="Text 4"/>
          <p:cNvSpPr txBox="1"/>
          <p:nvPr/>
        </p:nvSpPr>
        <p:spPr>
          <a:xfrm>
            <a:off x="640080" y="1325880"/>
            <a:ext cx="10911535" cy="862584"/>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Vektördür, newtonla ölçülür, daima aşağı yönlüdür ve bulunduğun yerin g değerine bağlıdır.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dersler.perinet.org/newton-yasalari.html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30</a:t>
            </a:r>
            <a:endParaRPr lang="en-US" sz="10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Kütle ve ağırlık: aynı şey değil</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3 / 6</a:t>
            </a:r>
            <a:endParaRPr lang="en-US" sz="950" dirty="0"/>
          </a:p>
        </p:txBody>
      </p:sp>
      <p:sp>
        <p:nvSpPr>
          <p:cNvPr id="6" name="Text 4"/>
          <p:cNvSpPr txBox="1"/>
          <p:nvPr/>
        </p:nvSpPr>
        <p:spPr>
          <a:xfrm>
            <a:off x="640080" y="1325880"/>
            <a:ext cx="10911535" cy="862584"/>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60 kg kütleli bir öğrenci farklı gökcisimlerinde şu ağırlıklara sahip olur:</a:t>
            </a:r>
            <a:endParaRPr lang="en-US" sz="2200" dirty="0"/>
          </a:p>
        </p:txBody>
      </p:sp>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640080" y="2389632"/>
          <a:ext cx="10911535" cy="914400"/>
        </p:xfrm>
        <a:graphic>
          <a:graphicData uri="http://schemas.openxmlformats.org/drawingml/2006/table">
            <a:tbl>
              <a:tblPr/>
              <a:tblGrid>
                <a:gridCol w="2546025"/>
                <a:gridCol w="3637178"/>
                <a:gridCol w="1818589"/>
                <a:gridCol w="2909743"/>
              </a:tblGrid>
              <a:tr h="418338">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Nerede</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g</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Kütle</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Ağırlık</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Dünya</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9,81 m/s²</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60 kg</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 589 N</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Ay</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1,62 m/s²</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60 kg</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 97 N</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Mars</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3,72 m/s²</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60 kg</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 223 N</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Jüpiter</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24,79 m/s²</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60 kg</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 1487 N</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bl>
          </a:graphicData>
        </a:graphic>
      </p:graphicFrame>
      <p:sp>
        <p:nvSpPr>
          <p:cNvPr id="9" name="Shape 5"/>
          <p:cNvSpPr/>
          <p:nvPr/>
        </p:nvSpPr>
        <p:spPr>
          <a:xfrm>
            <a:off x="640080" y="6382512"/>
            <a:ext cx="128016" cy="128016"/>
          </a:xfrm>
          <a:prstGeom prst="roundRect">
            <a:avLst>
              <a:gd name="adj" fmla="val 28571"/>
            </a:avLst>
          </a:prstGeom>
          <a:solidFill>
            <a:srgbClr val="A9E648"/>
          </a:solidFill>
          <a:ln/>
        </p:spPr>
      </p:sp>
      <p:sp>
        <p:nvSpPr>
          <p:cNvPr id="10"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dersler.perinet.org/newton-yasalari.html</a:t>
            </a:r>
            <a:endParaRPr lang="en-US" sz="1050" dirty="0"/>
          </a:p>
        </p:txBody>
      </p:sp>
      <p:sp>
        <p:nvSpPr>
          <p:cNvPr id="11"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31</a:t>
            </a:r>
            <a:endParaRPr lang="en-US" sz="10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Kütle ve ağırlık: aynı şey değil</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4 / 6</a:t>
            </a:r>
            <a:endParaRPr lang="en-US" sz="950" dirty="0"/>
          </a:p>
        </p:txBody>
      </p:sp>
      <p:sp>
        <p:nvSpPr>
          <p:cNvPr id="6" name="Text 4"/>
          <p:cNvSpPr txBox="1"/>
          <p:nvPr/>
        </p:nvSpPr>
        <p:spPr>
          <a:xfrm>
            <a:off x="640080" y="1325880"/>
            <a:ext cx="10911535" cy="2973324"/>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Tablonun kütle sütunu hiç değişmiyor, ağırlık sütunu ise on beş kattan fazla oynuyor.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İlginç bir sonuç: uzay istasyonunda her şey süzülür, ama ağır bir dolabı itmek yine zordur.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Dolap orada ağırlıksız görünse de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kütlesi</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yani eylemsizliği aynen durur; onu hızlandırmak da durdurmak da, Dünya'da sürtünmesiz bir zeminde olacağı kadar kuvvet ister.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dersler.perinet.org/newton-yasalari.html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32</a:t>
            </a:r>
            <a:endParaRPr lang="en-US" sz="10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Kütle ve ağırlık: aynı şey değil</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5 / 6</a:t>
            </a:r>
            <a:endParaRPr lang="en-US" sz="950" dirty="0"/>
          </a:p>
        </p:txBody>
      </p:sp>
      <p:sp>
        <p:nvSpPr>
          <p:cNvPr id="6" name="Shape 4"/>
          <p:cNvSpPr/>
          <p:nvPr/>
        </p:nvSpPr>
        <p:spPr>
          <a:xfrm>
            <a:off x="640080" y="1325880"/>
            <a:ext cx="10911535" cy="1348740"/>
          </a:xfrm>
          <a:prstGeom prst="roundRect">
            <a:avLst>
              <a:gd name="adj" fmla="val 9492"/>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658368" y="1490472"/>
            <a:ext cx="54864" cy="1019556"/>
          </a:xfrm>
          <a:prstGeom prst="rect">
            <a:avLst/>
          </a:prstGeom>
          <a:solidFill>
            <a:srgbClr val="A56209"/>
          </a:solidFill>
          <a:ln/>
        </p:spPr>
      </p:sp>
      <p:sp>
        <p:nvSpPr>
          <p:cNvPr id="8" name="Text 6"/>
          <p:cNvSpPr txBox="1"/>
          <p:nvPr/>
        </p:nvSpPr>
        <p:spPr>
          <a:xfrm>
            <a:off x="950976" y="1453896"/>
            <a:ext cx="10399471" cy="1092708"/>
          </a:xfrm>
          <a:prstGeom prst="rect">
            <a:avLst/>
          </a:prstGeom>
          <a:noFill/>
          <a:ln/>
        </p:spPr>
        <p:txBody>
          <a:bodyPr wrap="square" lIns="0" tIns="0" rIns="0" bIns="0" rtlCol="0" anchor="ctr"/>
          <a:lstStyle/>
          <a:p>
            <a:pPr indent="0" marL="0">
              <a:lnSpc>
                <a:spcPct val="114000"/>
              </a:lnSpc>
              <a:buNone/>
            </a:pPr>
            <a:r>
              <a:rPr lang="en-US" sz="1800" b="1" dirty="0">
                <a:solidFill>
                  <a:srgbClr val="0E1426"/>
                </a:solidFill>
                <a:latin typeface="Calibri" pitchFamily="34" charset="0"/>
                <a:ea typeface="Calibri" pitchFamily="34" charset="-122"/>
                <a:cs typeface="Calibri" pitchFamily="34" charset="-120"/>
              </a:rPr>
              <a:t>Kütle ile ağırlığı karıştırma.</a:t>
            </a:r>
            <a:pPr indent="0" marL="0">
              <a:lnSpc>
                <a:spcPct val="114000"/>
              </a:lnSpc>
              <a:buNone/>
            </a:pPr>
            <a:r>
              <a:rPr lang="en-US" sz="1800" dirty="0">
                <a:solidFill>
                  <a:srgbClr val="0E1426"/>
                </a:solidFill>
                <a:latin typeface="Calibri" pitchFamily="34" charset="0"/>
                <a:ea typeface="Calibri" pitchFamily="34" charset="-122"/>
                <a:cs typeface="Calibri" pitchFamily="34" charset="-120"/>
              </a:rPr>
              <a:t> Kütle skalerdir, kilogramla ölçülür ve gittiğin yere göre değişmez. Ağırlık bir kuvvettir (G = m·g), newtonla ölçülür ve g'ye bağlıdır: Ay'da kütlen aynı, ağırlığın altıda birdir.</a:t>
            </a:r>
            <a:endParaRPr lang="en-US" sz="1800" dirty="0"/>
          </a:p>
        </p:txBody>
      </p:sp>
      <p:sp>
        <p:nvSpPr>
          <p:cNvPr id="10" name="Shape 7"/>
          <p:cNvSpPr/>
          <p:nvPr/>
        </p:nvSpPr>
        <p:spPr>
          <a:xfrm>
            <a:off x="640080" y="6382512"/>
            <a:ext cx="128016" cy="128016"/>
          </a:xfrm>
          <a:prstGeom prst="roundRect">
            <a:avLst>
              <a:gd name="adj" fmla="val 28571"/>
            </a:avLst>
          </a:prstGeom>
          <a:solidFill>
            <a:srgbClr val="A9E648"/>
          </a:solidFill>
          <a:ln/>
        </p:spPr>
      </p:sp>
      <p:sp>
        <p:nvSpPr>
          <p:cNvPr id="11" name="Text 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dersler.perinet.org/newton-yasalari.html</a:t>
            </a:r>
            <a:endParaRPr lang="en-US" sz="1050" dirty="0"/>
          </a:p>
        </p:txBody>
      </p:sp>
      <p:sp>
        <p:nvSpPr>
          <p:cNvPr id="12" name="Text 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33</a:t>
            </a:r>
            <a:endParaRPr lang="en-US" sz="10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Kütle ve ağırlık: aynı şey değil</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6 / 6</a:t>
            </a:r>
            <a:endParaRPr lang="en-US" sz="950" dirty="0"/>
          </a:p>
        </p:txBody>
      </p:sp>
      <p:sp>
        <p:nvSpPr>
          <p:cNvPr id="6" name="Shape 4"/>
          <p:cNvSpPr/>
          <p:nvPr/>
        </p:nvSpPr>
        <p:spPr>
          <a:xfrm>
            <a:off x="3267780" y="1271016"/>
            <a:ext cx="5656136" cy="3807333"/>
          </a:xfrm>
          <a:prstGeom prst="roundRect">
            <a:avLst>
              <a:gd name="adj" fmla="val 3362"/>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7" name="Image 0" descr="/tmp/claude-1000/-opt-dersler/8a8328c3-841c-44fa-b76f-82572d338d3d/scratchpad/d10/sek/newton-yasalari-ek1-genis.jpg">    </p:cNvPr>
          <p:cNvPicPr>
            <a:picLocks noChangeAspect="1"/>
          </p:cNvPicPr>
          <p:nvPr/>
        </p:nvPicPr>
        <p:blipFill>
          <a:blip r:embed="rId1"/>
          <a:stretch>
            <a:fillRect/>
          </a:stretch>
        </p:blipFill>
        <p:spPr>
          <a:xfrm>
            <a:off x="3322644" y="1325880"/>
            <a:ext cx="5546408" cy="3697605"/>
          </a:xfrm>
          <a:prstGeom prst="rect">
            <a:avLst/>
          </a:prstGeom>
        </p:spPr>
      </p:pic>
      <p:sp>
        <p:nvSpPr>
          <p:cNvPr id="8" name="Text 5"/>
          <p:cNvSpPr txBox="1"/>
          <p:nvPr/>
        </p:nvSpPr>
        <p:spPr>
          <a:xfrm>
            <a:off x="1249528" y="5261229"/>
            <a:ext cx="9692640" cy="883539"/>
          </a:xfrm>
          <a:prstGeom prst="rect">
            <a:avLst/>
          </a:prstGeom>
          <a:noFill/>
          <a:ln/>
        </p:spPr>
        <p:txBody>
          <a:bodyPr wrap="square" lIns="0" tIns="0" rIns="0" bIns="0" rtlCol="0" anchor="t"/>
          <a:lstStyle/>
          <a:p>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İstasyonda her şey süzülür</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ama büyük yük kutusunun kütlesi, yani eylemsizliği yerindedir. Astronot onu harekete geçirmek için ayaklarını tutamağa takıp güçlü itmek zorundadır ve kutu yine de yavaş hızlanır; yanında süzülen küçük poşeti ise hafif bir fiske bile hızla uzaklaştırır.</a:t>
            </a:r>
            <a:endParaRPr lang="en-US" sz="1350" dirty="0"/>
          </a:p>
        </p:txBody>
      </p:sp>
      <p:sp>
        <p:nvSpPr>
          <p:cNvPr id="10" name="Shape 6"/>
          <p:cNvSpPr/>
          <p:nvPr/>
        </p:nvSpPr>
        <p:spPr>
          <a:xfrm>
            <a:off x="640080" y="6382512"/>
            <a:ext cx="128016" cy="128016"/>
          </a:xfrm>
          <a:prstGeom prst="roundRect">
            <a:avLst>
              <a:gd name="adj" fmla="val 28571"/>
            </a:avLst>
          </a:prstGeom>
          <a:solidFill>
            <a:srgbClr val="A9E648"/>
          </a:solidFill>
          <a:ln/>
        </p:spPr>
      </p:sp>
      <p:sp>
        <p:nvSpPr>
          <p:cNvPr id="11"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dersler.perinet.org/newton-yasalari.html</a:t>
            </a:r>
            <a:endParaRPr lang="en-US" sz="1050" dirty="0"/>
          </a:p>
        </p:txBody>
      </p:sp>
      <p:sp>
        <p:nvSpPr>
          <p:cNvPr id="12"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34</a:t>
            </a:r>
            <a:endParaRPr lang="en-US" sz="10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Kütle ve ağırlık: aynı şey değil</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6" name="Shape 4"/>
          <p:cNvSpPr/>
          <p:nvPr/>
        </p:nvSpPr>
        <p:spPr>
          <a:xfrm>
            <a:off x="1005840" y="1691640"/>
            <a:ext cx="10180015" cy="3840480"/>
          </a:xfrm>
          <a:prstGeom prst="roundRect">
            <a:avLst>
              <a:gd name="adj" fmla="val 523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042416" y="2148840"/>
            <a:ext cx="73152" cy="2926080"/>
          </a:xfrm>
          <a:prstGeom prst="rect">
            <a:avLst/>
          </a:prstGeom>
          <a:solidFill>
            <a:srgbClr val="3C8C21"/>
          </a:solidFill>
          <a:ln/>
        </p:spPr>
      </p:sp>
      <p:sp>
        <p:nvSpPr>
          <p:cNvPr id="8" name="Text 6"/>
          <p:cNvSpPr txBox="1"/>
          <p:nvPr/>
        </p:nvSpPr>
        <p:spPr>
          <a:xfrm>
            <a:off x="1554480" y="1984248"/>
            <a:ext cx="9082735" cy="292608"/>
          </a:xfrm>
          <a:prstGeom prst="rect">
            <a:avLst/>
          </a:prstGeom>
          <a:noFill/>
          <a:ln/>
        </p:spPr>
        <p:txBody>
          <a:bodyPr wrap="square" lIns="0" tIns="0" rIns="0" bIns="0" rtlCol="0" anchor="ctr"/>
          <a:lstStyle/>
          <a:p>
            <a:pPr indent="0" marL="0">
              <a:buNone/>
            </a:pPr>
            <a:r>
              <a:rPr lang="en-US" sz="1200" b="1" spc="300" kern="0" dirty="0">
                <a:solidFill>
                  <a:srgbClr val="3C8C21"/>
                </a:solidFill>
                <a:latin typeface="Calibri" pitchFamily="34" charset="0"/>
                <a:ea typeface="Calibri" pitchFamily="34" charset="-122"/>
                <a:cs typeface="Calibri" pitchFamily="34" charset="-120"/>
              </a:rPr>
              <a:t>KISACA  ·  BU BÖLÜMDE ÖĞRENDİK</a:t>
            </a:r>
            <a:endParaRPr lang="en-US" sz="1200" dirty="0"/>
          </a:p>
        </p:txBody>
      </p:sp>
      <p:sp>
        <p:nvSpPr>
          <p:cNvPr id="9" name="Text 7"/>
          <p:cNvSpPr txBox="1"/>
          <p:nvPr/>
        </p:nvSpPr>
        <p:spPr>
          <a:xfrm>
            <a:off x="1554480" y="2423160"/>
            <a:ext cx="9082735" cy="2743200"/>
          </a:xfrm>
          <a:prstGeom prst="rect">
            <a:avLst/>
          </a:prstGeom>
          <a:noFill/>
          <a:ln/>
        </p:spPr>
        <p:txBody>
          <a:bodyPr wrap="square" lIns="0" tIns="0" rIns="0" bIns="0" rtlCol="0" anchor="ctr"/>
          <a:lstStyle/>
          <a:p>
            <a:pPr indent="0" marL="0">
              <a:lnSpc>
                <a:spcPct val="125000"/>
              </a:lnSpc>
              <a:buNone/>
            </a:pPr>
            <a:r>
              <a:rPr lang="en-US" sz="2800" dirty="0">
                <a:solidFill>
                  <a:srgbClr val="0E1426"/>
                </a:solidFill>
                <a:latin typeface="Cambria" pitchFamily="34" charset="0"/>
                <a:ea typeface="Cambria" pitchFamily="34" charset="-122"/>
                <a:cs typeface="Cambria" pitchFamily="34" charset="-120"/>
              </a:rPr>
              <a:t>Kütle eylemsizliğin ölçüsüdür, kilogramla ölçülür ve her yerde aynıdır. Ağırlık G = m·g kuvvetidir, newtonla ölçülür ve bulunulan yerin g değerine bağlıdır.</a:t>
            </a:r>
            <a:endParaRPr lang="en-US" sz="28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dersler.perinet.org/newton-yasalari.html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35</a:t>
            </a:r>
            <a:endParaRPr lang="en-US" sz="10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7F6FE"/>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3" name="Shape 1"/>
          <p:cNvSpPr/>
          <p:nvPr/>
        </p:nvSpPr>
        <p:spPr>
          <a:xfrm>
            <a:off x="822960" y="2011680"/>
            <a:ext cx="1554480" cy="1554480"/>
          </a:xfrm>
          <a:prstGeom prst="ellipse">
            <a:avLst/>
          </a:prstGeom>
          <a:solidFill>
            <a:srgbClr val="5F4BD8"/>
          </a:solidFill>
          <a:ln/>
          <a:effectLst>
            <a:outerShdw sx="100000" sy="100000" kx="0" ky="0" algn="bl" rotWithShape="0" blurRad="177800" dist="50800" dir="5400000">
              <a:srgbClr val="5F4BD8">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8000" b="1" dirty="0">
                <a:solidFill>
                  <a:srgbClr val="FFFFFF"/>
                </a:solidFill>
                <a:latin typeface="Cambria" pitchFamily="34" charset="0"/>
                <a:ea typeface="Cambria" pitchFamily="34" charset="-122"/>
                <a:cs typeface="Cambria" pitchFamily="34" charset="-120"/>
              </a:rPr>
              <a:t>?</a:t>
            </a:r>
            <a:endParaRPr lang="en-US" sz="8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5F4BD8"/>
                </a:solidFill>
                <a:latin typeface="Calibri" pitchFamily="34" charset="0"/>
                <a:ea typeface="Calibri" pitchFamily="34" charset="-122"/>
                <a:cs typeface="Calibri" pitchFamily="34" charset="-120"/>
              </a:rPr>
              <a:t>DÜŞÜN</a:t>
            </a:r>
            <a:endParaRPr lang="en-US" sz="1300" dirty="0"/>
          </a:p>
        </p:txBody>
      </p:sp>
      <p:sp>
        <p:nvSpPr>
          <p:cNvPr id="6" name="Text 4"/>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Uzay istasyonunda süzülen 100 kg'lık bir dolabı itmek, 1 kg'lık bir kutuyu itmek kadar kolay mıdır?</a:t>
            </a:r>
            <a:endParaRPr lang="en-US" sz="3200" dirty="0"/>
          </a:p>
        </p:txBody>
      </p:sp>
      <p:sp>
        <p:nvSpPr>
          <p:cNvPr id="7" name="Text 5"/>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04 · Kütle ve ağırlık: aynı şey değil</a:t>
            </a:r>
            <a:pPr indent="0" marL="0">
              <a:buNone/>
            </a:pPr>
            <a:r>
              <a:rPr lang="en-US" sz="1200" b="1" dirty="0">
                <a:solidFill>
                  <a:srgbClr val="5F4BD8"/>
                </a:solidFill>
                <a:latin typeface="Calibri" pitchFamily="34" charset="0"/>
                <a:ea typeface="Calibri" pitchFamily="34" charset="-122"/>
                <a:cs typeface="Calibri" pitchFamily="34" charset="-120"/>
              </a:rPr>
              <a:t>     Cevap bir sonraki slaytta</a:t>
            </a:r>
            <a:endParaRPr lang="en-US" sz="1200" dirty="0"/>
          </a:p>
        </p:txBody>
      </p:sp>
      <p:sp>
        <p:nvSpPr>
          <p:cNvPr id="8" name="Shape 6"/>
          <p:cNvSpPr/>
          <p:nvPr/>
        </p:nvSpPr>
        <p:spPr>
          <a:xfrm>
            <a:off x="640080" y="6382512"/>
            <a:ext cx="128016" cy="128016"/>
          </a:xfrm>
          <a:prstGeom prst="roundRect">
            <a:avLst>
              <a:gd name="adj" fmla="val 28571"/>
            </a:avLst>
          </a:prstGeom>
          <a:solidFill>
            <a:srgbClr val="A9E648"/>
          </a:solidFill>
          <a:ln/>
        </p:spPr>
      </p:sp>
      <p:sp>
        <p:nvSpPr>
          <p:cNvPr id="9"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dersler.perinet.org/newton-yasalari.html</a:t>
            </a:r>
            <a:endParaRPr lang="en-US" sz="1050" dirty="0"/>
          </a:p>
        </p:txBody>
      </p:sp>
      <p:sp>
        <p:nvSpPr>
          <p:cNvPr id="10"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36</a:t>
            </a:r>
            <a:endParaRPr lang="en-US" sz="10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3" name="Shape 1"/>
          <p:cNvSpPr/>
          <p:nvPr/>
        </p:nvSpPr>
        <p:spPr>
          <a:xfrm>
            <a:off x="640080" y="457200"/>
            <a:ext cx="493776" cy="493776"/>
          </a:xfrm>
          <a:prstGeom prst="roundRect">
            <a:avLst>
              <a:gd name="adj" fmla="val 25926"/>
            </a:avLst>
          </a:prstGeom>
          <a:solidFill>
            <a:srgbClr val="5F4BD8"/>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Uzay istasyonunda süzülen 100 kg'lık bir dolabı itmek, 1 kg'lık bir kutuyu itmek kadar kolay mıdır?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5F4BD8"/>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Hayır. İkisi de ağırlıksız görünür, ama </a:t>
            </a:r>
            <a:pPr indent="0" marL="0">
              <a:lnSpc>
                <a:spcPct val="125000"/>
              </a:lnSpc>
              <a:buNone/>
            </a:pPr>
            <a:r>
              <a:rPr lang="en-US" sz="2400" b="1" dirty="0">
                <a:solidFill>
                  <a:srgbClr val="5F4BD8"/>
                </a:solidFill>
                <a:latin typeface="Calibri" pitchFamily="34" charset="0"/>
                <a:ea typeface="Calibri" pitchFamily="34" charset="-122"/>
                <a:cs typeface="Calibri" pitchFamily="34" charset="-120"/>
              </a:rPr>
              <a:t>kütleleri</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aynen durur. Aynı kuvvetle itersen dolap kutudan 100 kat daha az hızlanır; hareket eden dolabı durdurmak da o kadar zordur.</a:t>
            </a:r>
            <a:endParaRPr lang="en-US" sz="24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dersler.perinet.org/newton-yasalari.html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37</a:t>
            </a:r>
            <a:endParaRPr lang="en-US" sz="10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0E1426"/>
        </a:solidFill>
      </p:bgPr>
    </p:bg>
    <p:spTree>
      <p:nvGrpSpPr>
        <p:cNvPr id="1" name=""/>
        <p:cNvGrpSpPr/>
        <p:nvPr/>
      </p:nvGrpSpPr>
      <p:grpSpPr>
        <a:xfrm>
          <a:off x="0" y="0"/>
          <a:ext cx="0" cy="0"/>
          <a:chOff x="0" y="0"/>
          <a:chExt cx="0" cy="0"/>
        </a:xfrm>
      </p:grpSpPr>
      <p:sp>
        <p:nvSpPr>
          <p:cNvPr id="2" name="Text 0"/>
          <p:cNvSpPr txBox="1"/>
          <p:nvPr/>
        </p:nvSpPr>
        <p:spPr>
          <a:xfrm>
            <a:off x="685800" y="365760"/>
            <a:ext cx="1828800" cy="1874520"/>
          </a:xfrm>
          <a:prstGeom prst="rect">
            <a:avLst/>
          </a:prstGeom>
          <a:noFill/>
          <a:ln/>
        </p:spPr>
        <p:txBody>
          <a:bodyPr wrap="square" lIns="0" tIns="0" rIns="0" bIns="0" rtlCol="0" anchor="ctr"/>
          <a:lstStyle/>
          <a:p>
            <a:pPr indent="0" marL="0">
              <a:buNone/>
            </a:pPr>
            <a:r>
              <a:rPr lang="en-US" sz="11600" b="1" dirty="0">
                <a:solidFill>
                  <a:srgbClr val="82AAFF"/>
                </a:solidFill>
                <a:latin typeface="Cambria" pitchFamily="34" charset="0"/>
                <a:ea typeface="Cambria" pitchFamily="34" charset="-122"/>
                <a:cs typeface="Cambria" pitchFamily="34" charset="-120"/>
              </a:rPr>
              <a:t>2</a:t>
            </a:r>
            <a:endParaRPr lang="en-US" sz="11600" dirty="0"/>
          </a:p>
        </p:txBody>
      </p:sp>
      <p:sp>
        <p:nvSpPr>
          <p:cNvPr id="3" name="Text 1"/>
          <p:cNvSpPr txBox="1"/>
          <p:nvPr/>
        </p:nvSpPr>
        <p:spPr>
          <a:xfrm>
            <a:off x="731520" y="2286000"/>
            <a:ext cx="4572000" cy="292608"/>
          </a:xfrm>
          <a:prstGeom prst="rect">
            <a:avLst/>
          </a:prstGeom>
          <a:noFill/>
          <a:ln/>
        </p:spPr>
        <p:txBody>
          <a:bodyPr wrap="square" lIns="0" tIns="0" rIns="0" bIns="0" rtlCol="0" anchor="ctr"/>
          <a:lstStyle/>
          <a:p>
            <a:pPr indent="0" marL="0">
              <a:buNone/>
            </a:pPr>
            <a:r>
              <a:rPr lang="en-US" sz="1200" b="1" spc="300" kern="0" dirty="0">
                <a:solidFill>
                  <a:srgbClr val="82AAFF"/>
                </a:solidFill>
                <a:latin typeface="Calibri" pitchFamily="34" charset="0"/>
                <a:ea typeface="Calibri" pitchFamily="34" charset="-122"/>
                <a:cs typeface="Calibri" pitchFamily="34" charset="-120"/>
              </a:rPr>
              <a:t>BASAMAK 2 / 4</a:t>
            </a:r>
            <a:endParaRPr lang="en-US" sz="1200" dirty="0"/>
          </a:p>
        </p:txBody>
      </p:sp>
      <p:sp>
        <p:nvSpPr>
          <p:cNvPr id="4" name="Text 2"/>
          <p:cNvSpPr txBox="1"/>
          <p:nvPr/>
        </p:nvSpPr>
        <p:spPr>
          <a:xfrm>
            <a:off x="685800" y="2578608"/>
            <a:ext cx="5120640" cy="822960"/>
          </a:xfrm>
          <a:prstGeom prst="rect">
            <a:avLst/>
          </a:prstGeom>
          <a:noFill/>
          <a:ln/>
        </p:spPr>
        <p:txBody>
          <a:bodyPr wrap="square" lIns="0" tIns="0" rIns="0" bIns="0" rtlCol="0" anchor="ctr"/>
          <a:lstStyle/>
          <a:p>
            <a:pPr indent="0" marL="0">
              <a:buNone/>
            </a:pPr>
            <a:r>
              <a:rPr lang="en-US" sz="4600" b="1" spc="-100" kern="0" dirty="0">
                <a:solidFill>
                  <a:srgbClr val="FFFFFF"/>
                </a:solidFill>
                <a:latin typeface="Cambria" pitchFamily="34" charset="0"/>
                <a:ea typeface="Cambria" pitchFamily="34" charset="-122"/>
                <a:cs typeface="Cambria" pitchFamily="34" charset="-120"/>
              </a:rPr>
              <a:t>Orta</a:t>
            </a:r>
            <a:endParaRPr lang="en-US" sz="4600" dirty="0"/>
          </a:p>
        </p:txBody>
      </p:sp>
      <p:sp>
        <p:nvSpPr>
          <p:cNvPr id="5" name="Text 3"/>
          <p:cNvSpPr txBox="1"/>
          <p:nvPr/>
        </p:nvSpPr>
        <p:spPr>
          <a:xfrm>
            <a:off x="731520" y="3474720"/>
            <a:ext cx="4846320" cy="914400"/>
          </a:xfrm>
          <a:prstGeom prst="rect">
            <a:avLst/>
          </a:prstGeom>
          <a:noFill/>
          <a:ln/>
        </p:spPr>
        <p:txBody>
          <a:bodyPr wrap="square" lIns="0" tIns="0" rIns="0" bIns="0" rtlCol="0" anchor="t"/>
          <a:lstStyle/>
          <a:p>
            <a:pPr indent="0" marL="0">
              <a:lnSpc>
                <a:spcPct val="120000"/>
              </a:lnSpc>
              <a:buNone/>
            </a:pPr>
            <a:r>
              <a:rPr lang="en-US" sz="1600" dirty="0">
                <a:solidFill>
                  <a:srgbClr val="C3CEE8"/>
                </a:solidFill>
                <a:latin typeface="Calibri" pitchFamily="34" charset="0"/>
                <a:ea typeface="Calibri" pitchFamily="34" charset="-122"/>
                <a:cs typeface="Calibri" pitchFamily="34" charset="-120"/>
              </a:rPr>
              <a:t>Bağıntılar: ΣF = m·a'yı, etki–tepkiyi, serbest cisim diyagramını, sürtünmeyi ve asansörü adım adım çöz.</a:t>
            </a:r>
            <a:endParaRPr lang="en-US" sz="1600" dirty="0"/>
          </a:p>
        </p:txBody>
      </p:sp>
      <p:sp>
        <p:nvSpPr>
          <p:cNvPr id="6" name="Text 4"/>
          <p:cNvSpPr txBox="1"/>
          <p:nvPr/>
        </p:nvSpPr>
        <p:spPr>
          <a:xfrm>
            <a:off x="731520" y="4572000"/>
            <a:ext cx="5120640" cy="266700"/>
          </a:xfrm>
          <a:prstGeom prst="rect">
            <a:avLst/>
          </a:prstGeom>
          <a:noFill/>
          <a:ln/>
        </p:spPr>
        <p:txBody>
          <a:bodyPr wrap="square" lIns="0" tIns="0" rIns="0" bIns="0" rtlCol="0" anchor="ctr"/>
          <a:lstStyle/>
          <a:p>
            <a:pPr indent="0" marL="0">
              <a:buNone/>
            </a:pPr>
            <a:r>
              <a:rPr lang="en-US" sz="1150" b="1" dirty="0">
                <a:solidFill>
                  <a:srgbClr val="82AAFF"/>
                </a:solidFill>
                <a:latin typeface="Calibri" pitchFamily="34" charset="0"/>
                <a:ea typeface="Calibri" pitchFamily="34" charset="-122"/>
                <a:cs typeface="Calibri" pitchFamily="34" charset="-120"/>
              </a:rPr>
              <a:t>05   </a:t>
            </a:r>
            <a:pPr indent="0" marL="0">
              <a:buNone/>
            </a:pPr>
            <a:r>
              <a:rPr lang="en-US" sz="1150" dirty="0">
                <a:solidFill>
                  <a:srgbClr val="FFFFFF"/>
                </a:solidFill>
                <a:latin typeface="Calibri" pitchFamily="34" charset="0"/>
                <a:ea typeface="Calibri" pitchFamily="34" charset="-122"/>
                <a:cs typeface="Calibri" pitchFamily="34" charset="-120"/>
              </a:rPr>
              <a:t>2. yasa: ΣF = m·a</a:t>
            </a:r>
            <a:endParaRPr lang="en-US" sz="1150" dirty="0"/>
          </a:p>
        </p:txBody>
      </p:sp>
      <p:sp>
        <p:nvSpPr>
          <p:cNvPr id="7" name="Text 5"/>
          <p:cNvSpPr txBox="1"/>
          <p:nvPr/>
        </p:nvSpPr>
        <p:spPr>
          <a:xfrm>
            <a:off x="731520" y="4838700"/>
            <a:ext cx="5120640" cy="266700"/>
          </a:xfrm>
          <a:prstGeom prst="rect">
            <a:avLst/>
          </a:prstGeom>
          <a:noFill/>
          <a:ln/>
        </p:spPr>
        <p:txBody>
          <a:bodyPr wrap="square" lIns="0" tIns="0" rIns="0" bIns="0" rtlCol="0" anchor="ctr"/>
          <a:lstStyle/>
          <a:p>
            <a:pPr indent="0" marL="0">
              <a:buNone/>
            </a:pPr>
            <a:r>
              <a:rPr lang="en-US" sz="1150" b="1" dirty="0">
                <a:solidFill>
                  <a:srgbClr val="82AAFF"/>
                </a:solidFill>
                <a:latin typeface="Calibri" pitchFamily="34" charset="0"/>
                <a:ea typeface="Calibri" pitchFamily="34" charset="-122"/>
                <a:cs typeface="Calibri" pitchFamily="34" charset="-120"/>
              </a:rPr>
              <a:t>06   </a:t>
            </a:r>
            <a:pPr indent="0" marL="0">
              <a:buNone/>
            </a:pPr>
            <a:r>
              <a:rPr lang="en-US" sz="1150" dirty="0">
                <a:solidFill>
                  <a:srgbClr val="FFFFFF"/>
                </a:solidFill>
                <a:latin typeface="Calibri" pitchFamily="34" charset="0"/>
                <a:ea typeface="Calibri" pitchFamily="34" charset="-122"/>
                <a:cs typeface="Calibri" pitchFamily="34" charset="-120"/>
              </a:rPr>
              <a:t>Sayılarla hisset: ne kadar kuvvet, ne kadar ivme?</a:t>
            </a:r>
            <a:endParaRPr lang="en-US" sz="1150" dirty="0"/>
          </a:p>
        </p:txBody>
      </p:sp>
      <p:sp>
        <p:nvSpPr>
          <p:cNvPr id="8" name="Text 6"/>
          <p:cNvSpPr txBox="1"/>
          <p:nvPr/>
        </p:nvSpPr>
        <p:spPr>
          <a:xfrm>
            <a:off x="731520" y="5105400"/>
            <a:ext cx="5120640" cy="266700"/>
          </a:xfrm>
          <a:prstGeom prst="rect">
            <a:avLst/>
          </a:prstGeom>
          <a:noFill/>
          <a:ln/>
        </p:spPr>
        <p:txBody>
          <a:bodyPr wrap="square" lIns="0" tIns="0" rIns="0" bIns="0" rtlCol="0" anchor="ctr"/>
          <a:lstStyle/>
          <a:p>
            <a:pPr indent="0" marL="0">
              <a:buNone/>
            </a:pPr>
            <a:r>
              <a:rPr lang="en-US" sz="1150" b="1" dirty="0">
                <a:solidFill>
                  <a:srgbClr val="82AAFF"/>
                </a:solidFill>
                <a:latin typeface="Calibri" pitchFamily="34" charset="0"/>
                <a:ea typeface="Calibri" pitchFamily="34" charset="-122"/>
                <a:cs typeface="Calibri" pitchFamily="34" charset="-120"/>
              </a:rPr>
              <a:t>07   </a:t>
            </a:r>
            <a:pPr indent="0" marL="0">
              <a:buNone/>
            </a:pPr>
            <a:r>
              <a:rPr lang="en-US" sz="1150" dirty="0">
                <a:solidFill>
                  <a:srgbClr val="FFFFFF"/>
                </a:solidFill>
                <a:latin typeface="Calibri" pitchFamily="34" charset="0"/>
                <a:ea typeface="Calibri" pitchFamily="34" charset="-122"/>
                <a:cs typeface="Calibri" pitchFamily="34" charset="-120"/>
              </a:rPr>
              <a:t>3. yasa: etki–tepki</a:t>
            </a:r>
            <a:endParaRPr lang="en-US" sz="1150" dirty="0"/>
          </a:p>
        </p:txBody>
      </p:sp>
      <p:sp>
        <p:nvSpPr>
          <p:cNvPr id="9" name="Text 7"/>
          <p:cNvSpPr txBox="1"/>
          <p:nvPr/>
        </p:nvSpPr>
        <p:spPr>
          <a:xfrm>
            <a:off x="731520" y="5372100"/>
            <a:ext cx="5120640" cy="266700"/>
          </a:xfrm>
          <a:prstGeom prst="rect">
            <a:avLst/>
          </a:prstGeom>
          <a:noFill/>
          <a:ln/>
        </p:spPr>
        <p:txBody>
          <a:bodyPr wrap="square" lIns="0" tIns="0" rIns="0" bIns="0" rtlCol="0" anchor="ctr"/>
          <a:lstStyle/>
          <a:p>
            <a:pPr indent="0" marL="0">
              <a:buNone/>
            </a:pPr>
            <a:r>
              <a:rPr lang="en-US" sz="1150" b="1" dirty="0">
                <a:solidFill>
                  <a:srgbClr val="82AAFF"/>
                </a:solidFill>
                <a:latin typeface="Calibri" pitchFamily="34" charset="0"/>
                <a:ea typeface="Calibri" pitchFamily="34" charset="-122"/>
                <a:cs typeface="Calibri" pitchFamily="34" charset="-120"/>
              </a:rPr>
              <a:t>08   </a:t>
            </a:r>
            <a:pPr indent="0" marL="0">
              <a:buNone/>
            </a:pPr>
            <a:r>
              <a:rPr lang="en-US" sz="1150" dirty="0">
                <a:solidFill>
                  <a:srgbClr val="FFFFFF"/>
                </a:solidFill>
                <a:latin typeface="Calibri" pitchFamily="34" charset="0"/>
                <a:ea typeface="Calibri" pitchFamily="34" charset="-122"/>
                <a:cs typeface="Calibri" pitchFamily="34" charset="-120"/>
              </a:rPr>
              <a:t>Serbest cisim diyagramı</a:t>
            </a:r>
            <a:endParaRPr lang="en-US" sz="1150" dirty="0"/>
          </a:p>
        </p:txBody>
      </p:sp>
      <p:sp>
        <p:nvSpPr>
          <p:cNvPr id="10" name="Text 8"/>
          <p:cNvSpPr txBox="1"/>
          <p:nvPr/>
        </p:nvSpPr>
        <p:spPr>
          <a:xfrm>
            <a:off x="731520" y="5638800"/>
            <a:ext cx="5120640" cy="266700"/>
          </a:xfrm>
          <a:prstGeom prst="rect">
            <a:avLst/>
          </a:prstGeom>
          <a:noFill/>
          <a:ln/>
        </p:spPr>
        <p:txBody>
          <a:bodyPr wrap="square" lIns="0" tIns="0" rIns="0" bIns="0" rtlCol="0" anchor="ctr"/>
          <a:lstStyle/>
          <a:p>
            <a:pPr indent="0" marL="0">
              <a:buNone/>
            </a:pPr>
            <a:r>
              <a:rPr lang="en-US" sz="1150" b="1" dirty="0">
                <a:solidFill>
                  <a:srgbClr val="82AAFF"/>
                </a:solidFill>
                <a:latin typeface="Calibri" pitchFamily="34" charset="0"/>
                <a:ea typeface="Calibri" pitchFamily="34" charset="-122"/>
                <a:cs typeface="Calibri" pitchFamily="34" charset="-120"/>
              </a:rPr>
              <a:t>09   </a:t>
            </a:r>
            <a:pPr indent="0" marL="0">
              <a:buNone/>
            </a:pPr>
            <a:r>
              <a:rPr lang="en-US" sz="1150" dirty="0">
                <a:solidFill>
                  <a:srgbClr val="FFFFFF"/>
                </a:solidFill>
                <a:latin typeface="Calibri" pitchFamily="34" charset="0"/>
                <a:ea typeface="Calibri" pitchFamily="34" charset="-122"/>
                <a:cs typeface="Calibri" pitchFamily="34" charset="-120"/>
              </a:rPr>
              <a:t>Sürtünme kuvveti</a:t>
            </a:r>
            <a:endParaRPr lang="en-US" sz="1150" dirty="0"/>
          </a:p>
        </p:txBody>
      </p:sp>
      <p:sp>
        <p:nvSpPr>
          <p:cNvPr id="11" name="Text 9"/>
          <p:cNvSpPr txBox="1"/>
          <p:nvPr/>
        </p:nvSpPr>
        <p:spPr>
          <a:xfrm>
            <a:off x="731520" y="5905500"/>
            <a:ext cx="5120640" cy="266700"/>
          </a:xfrm>
          <a:prstGeom prst="rect">
            <a:avLst/>
          </a:prstGeom>
          <a:noFill/>
          <a:ln/>
        </p:spPr>
        <p:txBody>
          <a:bodyPr wrap="square" lIns="0" tIns="0" rIns="0" bIns="0" rtlCol="0" anchor="ctr"/>
          <a:lstStyle/>
          <a:p>
            <a:pPr indent="0" marL="0">
              <a:buNone/>
            </a:pPr>
            <a:r>
              <a:rPr lang="en-US" sz="1150" b="1" dirty="0">
                <a:solidFill>
                  <a:srgbClr val="82AAFF"/>
                </a:solidFill>
                <a:latin typeface="Calibri" pitchFamily="34" charset="0"/>
                <a:ea typeface="Calibri" pitchFamily="34" charset="-122"/>
                <a:cs typeface="Calibri" pitchFamily="34" charset="-120"/>
              </a:rPr>
              <a:t>10   </a:t>
            </a:r>
            <a:pPr indent="0" marL="0">
              <a:buNone/>
            </a:pPr>
            <a:r>
              <a:rPr lang="en-US" sz="1150" dirty="0">
                <a:solidFill>
                  <a:srgbClr val="FFFFFF"/>
                </a:solidFill>
                <a:latin typeface="Calibri" pitchFamily="34" charset="0"/>
                <a:ea typeface="Calibri" pitchFamily="34" charset="-122"/>
                <a:cs typeface="Calibri" pitchFamily="34" charset="-120"/>
              </a:rPr>
              <a:t>Ağırlık, normal kuvvet ve asansör</a:t>
            </a:r>
            <a:endParaRPr lang="en-US" sz="1150" dirty="0"/>
          </a:p>
        </p:txBody>
      </p:sp>
      <p:sp>
        <p:nvSpPr>
          <p:cNvPr id="12" name="Text 10"/>
          <p:cNvSpPr txBox="1"/>
          <p:nvPr/>
        </p:nvSpPr>
        <p:spPr>
          <a:xfrm>
            <a:off x="6172200" y="1097280"/>
            <a:ext cx="5379415" cy="274320"/>
          </a:xfrm>
          <a:prstGeom prst="rect">
            <a:avLst/>
          </a:prstGeom>
          <a:noFill/>
          <a:ln/>
        </p:spPr>
        <p:txBody>
          <a:bodyPr wrap="square" lIns="0" tIns="0" rIns="0" bIns="0" rtlCol="0" anchor="ctr"/>
          <a:lstStyle/>
          <a:p>
            <a:pPr indent="0" marL="0">
              <a:buNone/>
            </a:pPr>
            <a:r>
              <a:rPr lang="en-US" sz="1050" b="1" spc="200" kern="0" dirty="0">
                <a:solidFill>
                  <a:srgbClr val="8D97B5"/>
                </a:solidFill>
                <a:latin typeface="Calibri" pitchFamily="34" charset="0"/>
                <a:ea typeface="Calibri" pitchFamily="34" charset="-122"/>
                <a:cs typeface="Calibri" pitchFamily="34" charset="-120"/>
              </a:rPr>
              <a:t>TEMEL BAĞINTILAR</a:t>
            </a:r>
            <a:endParaRPr lang="en-US" sz="1050" dirty="0"/>
          </a:p>
        </p:txBody>
      </p:sp>
      <p:sp>
        <p:nvSpPr>
          <p:cNvPr id="13" name="Shape 11"/>
          <p:cNvSpPr/>
          <p:nvPr/>
        </p:nvSpPr>
        <p:spPr>
          <a:xfrm>
            <a:off x="6172200" y="1481328"/>
            <a:ext cx="5379415" cy="731520"/>
          </a:xfrm>
          <a:prstGeom prst="roundRect">
            <a:avLst>
              <a:gd name="adj" fmla="val 12500"/>
            </a:avLst>
          </a:prstGeom>
          <a:solidFill>
            <a:srgbClr val="1C2542"/>
          </a:solidFill>
          <a:ln w="9525">
            <a:solidFill>
              <a:srgbClr val="2C3860"/>
            </a:solidFill>
            <a:prstDash val="solid"/>
          </a:ln>
        </p:spPr>
      </p:sp>
      <p:sp>
        <p:nvSpPr>
          <p:cNvPr id="14" name="Text 12"/>
          <p:cNvSpPr txBox="1"/>
          <p:nvPr/>
        </p:nvSpPr>
        <p:spPr>
          <a:xfrm>
            <a:off x="6400800" y="1481328"/>
            <a:ext cx="1645920" cy="731520"/>
          </a:xfrm>
          <a:prstGeom prst="rect">
            <a:avLst/>
          </a:prstGeom>
          <a:noFill/>
          <a:ln/>
        </p:spPr>
        <p:txBody>
          <a:bodyPr wrap="square" lIns="0" tIns="0" rIns="0" bIns="0" rtlCol="0" anchor="ctr"/>
          <a:lstStyle/>
          <a:p>
            <a:pPr indent="0" marL="0">
              <a:buNone/>
            </a:pPr>
            <a:r>
              <a:rPr lang="en-US" sz="1500" b="1" dirty="0">
                <a:solidFill>
                  <a:srgbClr val="82AAFF"/>
                </a:solidFill>
                <a:latin typeface="Courier New" pitchFamily="34" charset="0"/>
                <a:ea typeface="Courier New" pitchFamily="34" charset="-122"/>
                <a:cs typeface="Courier New" pitchFamily="34" charset="-120"/>
              </a:rPr>
              <a:t>ΣF = m · a</a:t>
            </a:r>
            <a:endParaRPr lang="en-US" sz="1500" dirty="0"/>
          </a:p>
        </p:txBody>
      </p:sp>
      <p:sp>
        <p:nvSpPr>
          <p:cNvPr id="15" name="Text 13"/>
          <p:cNvSpPr txBox="1"/>
          <p:nvPr/>
        </p:nvSpPr>
        <p:spPr>
          <a:xfrm>
            <a:off x="8138160" y="1481328"/>
            <a:ext cx="3230575" cy="731520"/>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net kuvvet, ivmeyi belirler</a:t>
            </a:r>
            <a:endParaRPr lang="en-US" sz="1200" dirty="0"/>
          </a:p>
        </p:txBody>
      </p:sp>
      <p:sp>
        <p:nvSpPr>
          <p:cNvPr id="16" name="Shape 14"/>
          <p:cNvSpPr/>
          <p:nvPr/>
        </p:nvSpPr>
        <p:spPr>
          <a:xfrm>
            <a:off x="6172200" y="2350008"/>
            <a:ext cx="5379415" cy="731520"/>
          </a:xfrm>
          <a:prstGeom prst="roundRect">
            <a:avLst>
              <a:gd name="adj" fmla="val 12500"/>
            </a:avLst>
          </a:prstGeom>
          <a:solidFill>
            <a:srgbClr val="1C2542"/>
          </a:solidFill>
          <a:ln w="9525">
            <a:solidFill>
              <a:srgbClr val="2C3860"/>
            </a:solidFill>
            <a:prstDash val="solid"/>
          </a:ln>
        </p:spPr>
      </p:sp>
      <p:sp>
        <p:nvSpPr>
          <p:cNvPr id="17" name="Text 15"/>
          <p:cNvSpPr txBox="1"/>
          <p:nvPr/>
        </p:nvSpPr>
        <p:spPr>
          <a:xfrm>
            <a:off x="6400800" y="2350008"/>
            <a:ext cx="1645920" cy="731520"/>
          </a:xfrm>
          <a:prstGeom prst="rect">
            <a:avLst/>
          </a:prstGeom>
          <a:noFill/>
          <a:ln/>
        </p:spPr>
        <p:txBody>
          <a:bodyPr wrap="square" lIns="0" tIns="0" rIns="0" bIns="0" rtlCol="0" anchor="ctr"/>
          <a:lstStyle/>
          <a:p>
            <a:pPr indent="0" marL="0">
              <a:buNone/>
            </a:pPr>
            <a:r>
              <a:rPr lang="en-US" sz="1500" b="1" dirty="0">
                <a:solidFill>
                  <a:srgbClr val="82AAFF"/>
                </a:solidFill>
                <a:latin typeface="Courier New" pitchFamily="34" charset="0"/>
                <a:ea typeface="Courier New" pitchFamily="34" charset="-122"/>
                <a:cs typeface="Courier New" pitchFamily="34" charset="-120"/>
              </a:rPr>
              <a:t>G = m · g</a:t>
            </a:r>
            <a:endParaRPr lang="en-US" sz="1500" dirty="0"/>
          </a:p>
        </p:txBody>
      </p:sp>
      <p:sp>
        <p:nvSpPr>
          <p:cNvPr id="18" name="Text 16"/>
          <p:cNvSpPr txBox="1"/>
          <p:nvPr/>
        </p:nvSpPr>
        <p:spPr>
          <a:xfrm>
            <a:off x="8138160" y="2350008"/>
            <a:ext cx="3230575" cy="731520"/>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ağırlık: kütleye etki eden çekim</a:t>
            </a:r>
            <a:endParaRPr lang="en-US" sz="1200" dirty="0"/>
          </a:p>
        </p:txBody>
      </p:sp>
      <p:sp>
        <p:nvSpPr>
          <p:cNvPr id="19" name="Shape 17"/>
          <p:cNvSpPr/>
          <p:nvPr/>
        </p:nvSpPr>
        <p:spPr>
          <a:xfrm>
            <a:off x="6172200" y="3218688"/>
            <a:ext cx="5379415" cy="731520"/>
          </a:xfrm>
          <a:prstGeom prst="roundRect">
            <a:avLst>
              <a:gd name="adj" fmla="val 12500"/>
            </a:avLst>
          </a:prstGeom>
          <a:solidFill>
            <a:srgbClr val="1C2542"/>
          </a:solidFill>
          <a:ln w="9525">
            <a:solidFill>
              <a:srgbClr val="2C3860"/>
            </a:solidFill>
            <a:prstDash val="solid"/>
          </a:ln>
        </p:spPr>
      </p:sp>
      <p:sp>
        <p:nvSpPr>
          <p:cNvPr id="20" name="Text 18"/>
          <p:cNvSpPr txBox="1"/>
          <p:nvPr/>
        </p:nvSpPr>
        <p:spPr>
          <a:xfrm>
            <a:off x="6400800" y="3218688"/>
            <a:ext cx="1645920" cy="731520"/>
          </a:xfrm>
          <a:prstGeom prst="rect">
            <a:avLst/>
          </a:prstGeom>
          <a:noFill/>
          <a:ln/>
        </p:spPr>
        <p:txBody>
          <a:bodyPr wrap="square" lIns="0" tIns="0" rIns="0" bIns="0" rtlCol="0" anchor="ctr"/>
          <a:lstStyle/>
          <a:p>
            <a:pPr indent="0" marL="0">
              <a:buNone/>
            </a:pPr>
            <a:r>
              <a:rPr lang="en-US" sz="1500" b="1" dirty="0">
                <a:solidFill>
                  <a:srgbClr val="82AAFF"/>
                </a:solidFill>
                <a:latin typeface="Courier New" pitchFamily="34" charset="0"/>
                <a:ea typeface="Courier New" pitchFamily="34" charset="-122"/>
                <a:cs typeface="Courier New" pitchFamily="34" charset="-120"/>
              </a:rPr>
              <a:t>f = μ · N</a:t>
            </a:r>
            <a:endParaRPr lang="en-US" sz="1500" dirty="0"/>
          </a:p>
        </p:txBody>
      </p:sp>
      <p:sp>
        <p:nvSpPr>
          <p:cNvPr id="21" name="Text 19"/>
          <p:cNvSpPr txBox="1"/>
          <p:nvPr/>
        </p:nvSpPr>
        <p:spPr>
          <a:xfrm>
            <a:off x="8138160" y="3218688"/>
            <a:ext cx="3230575" cy="731520"/>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sürtünme kuvveti</a:t>
            </a:r>
            <a:endParaRPr lang="en-US" sz="1200" dirty="0"/>
          </a:p>
        </p:txBody>
      </p:sp>
      <p:sp>
        <p:nvSpPr>
          <p:cNvPr id="22" name="Shape 20"/>
          <p:cNvSpPr/>
          <p:nvPr/>
        </p:nvSpPr>
        <p:spPr>
          <a:xfrm>
            <a:off x="6172200" y="4087368"/>
            <a:ext cx="5379415" cy="731520"/>
          </a:xfrm>
          <a:prstGeom prst="roundRect">
            <a:avLst>
              <a:gd name="adj" fmla="val 12500"/>
            </a:avLst>
          </a:prstGeom>
          <a:solidFill>
            <a:srgbClr val="1C2542"/>
          </a:solidFill>
          <a:ln w="9525">
            <a:solidFill>
              <a:srgbClr val="2C3860"/>
            </a:solidFill>
            <a:prstDash val="solid"/>
          </a:ln>
        </p:spPr>
      </p:sp>
      <p:sp>
        <p:nvSpPr>
          <p:cNvPr id="23" name="Text 21"/>
          <p:cNvSpPr txBox="1"/>
          <p:nvPr/>
        </p:nvSpPr>
        <p:spPr>
          <a:xfrm>
            <a:off x="6400800" y="4087368"/>
            <a:ext cx="1645920" cy="731520"/>
          </a:xfrm>
          <a:prstGeom prst="rect">
            <a:avLst/>
          </a:prstGeom>
          <a:noFill/>
          <a:ln/>
        </p:spPr>
        <p:txBody>
          <a:bodyPr wrap="square" lIns="0" tIns="0" rIns="0" bIns="0" rtlCol="0" anchor="ctr"/>
          <a:lstStyle/>
          <a:p>
            <a:pPr indent="0" marL="0">
              <a:buNone/>
            </a:pPr>
            <a:r>
              <a:rPr lang="en-US" sz="1500" b="1" dirty="0">
                <a:solidFill>
                  <a:srgbClr val="82AAFF"/>
                </a:solidFill>
                <a:latin typeface="Courier New" pitchFamily="34" charset="0"/>
                <a:ea typeface="Courier New" pitchFamily="34" charset="-122"/>
                <a:cs typeface="Courier New" pitchFamily="34" charset="-120"/>
              </a:rPr>
              <a:t>F₁₂ = −F₂₁</a:t>
            </a:r>
            <a:endParaRPr lang="en-US" sz="1500" dirty="0"/>
          </a:p>
        </p:txBody>
      </p:sp>
      <p:sp>
        <p:nvSpPr>
          <p:cNvPr id="24" name="Text 22"/>
          <p:cNvSpPr txBox="1"/>
          <p:nvPr/>
        </p:nvSpPr>
        <p:spPr>
          <a:xfrm>
            <a:off x="8138160" y="4087368"/>
            <a:ext cx="3230575" cy="731520"/>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etki ve tepki</a:t>
            </a:r>
            <a:endParaRPr lang="en-US" sz="1200" dirty="0"/>
          </a:p>
        </p:txBody>
      </p:sp>
      <p:sp>
        <p:nvSpPr>
          <p:cNvPr id="25" name="Shape 23"/>
          <p:cNvSpPr/>
          <p:nvPr/>
        </p:nvSpPr>
        <p:spPr>
          <a:xfrm>
            <a:off x="640080" y="6382512"/>
            <a:ext cx="128016" cy="128016"/>
          </a:xfrm>
          <a:prstGeom prst="roundRect">
            <a:avLst>
              <a:gd name="adj" fmla="val 28571"/>
            </a:avLst>
          </a:prstGeom>
          <a:solidFill>
            <a:srgbClr val="C6F36B"/>
          </a:solidFill>
          <a:ln/>
        </p:spPr>
      </p:sp>
      <p:sp>
        <p:nvSpPr>
          <p:cNvPr id="26" name="Text 24"/>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6A7798"/>
                </a:solidFill>
                <a:latin typeface="Calibri" pitchFamily="34" charset="0"/>
                <a:ea typeface="Calibri" pitchFamily="34" charset="-122"/>
                <a:cs typeface="Calibri" pitchFamily="34" charset="-120"/>
              </a:rPr>
              <a:t>dersler.perinet.org/newton-yasalari.html</a:t>
            </a:r>
            <a:endParaRPr lang="en-US" sz="1050" dirty="0"/>
          </a:p>
        </p:txBody>
      </p:sp>
      <p:sp>
        <p:nvSpPr>
          <p:cNvPr id="27" name="Text 25"/>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6A7798"/>
                </a:solidFill>
                <a:latin typeface="Calibri" pitchFamily="34" charset="0"/>
                <a:ea typeface="Calibri" pitchFamily="34" charset="-122"/>
                <a:cs typeface="Calibri" pitchFamily="34" charset="-120"/>
              </a:rPr>
              <a:t>38</a:t>
            </a:r>
            <a:endParaRPr lang="en-US" sz="10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05</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2. yasa: ΣF = m·a</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1 / 8</a:t>
            </a:r>
            <a:endParaRPr lang="en-US" sz="950" dirty="0"/>
          </a:p>
        </p:txBody>
      </p:sp>
      <p:sp>
        <p:nvSpPr>
          <p:cNvPr id="6" name="Text 4"/>
          <p:cNvSpPr txBox="1"/>
          <p:nvPr/>
        </p:nvSpPr>
        <p:spPr>
          <a:xfrm>
            <a:off x="640080" y="1325880"/>
            <a:ext cx="10911535" cy="1339596"/>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Net kuvvet sıfır değilse cisim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ivmelenir</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İvme, net kuvvetle doğru, kütleyle ters orantılıdır ve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yönü daima net kuvvetin yönündedir</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a:t>
            </a:r>
            <a:endParaRPr lang="en-US" sz="2200" dirty="0"/>
          </a:p>
        </p:txBody>
      </p:sp>
      <p:sp>
        <p:nvSpPr>
          <p:cNvPr id="7" name="Shape 5"/>
          <p:cNvSpPr/>
          <p:nvPr/>
        </p:nvSpPr>
        <p:spPr>
          <a:xfrm>
            <a:off x="640080" y="2866644"/>
            <a:ext cx="1938528" cy="585216"/>
          </a:xfrm>
          <a:prstGeom prst="roundRect">
            <a:avLst>
              <a:gd name="adj" fmla="val 18750"/>
            </a:avLst>
          </a:prstGeom>
          <a:solidFill>
            <a:srgbClr val="EEF2FC"/>
          </a:solidFill>
          <a:ln w="9525">
            <a:solidFill>
              <a:srgbClr val="CBD7F4"/>
            </a:solidFill>
            <a:prstDash val="solid"/>
          </a:ln>
        </p:spPr>
      </p:sp>
      <p:sp>
        <p:nvSpPr>
          <p:cNvPr id="8" name="Text 6"/>
          <p:cNvSpPr txBox="1"/>
          <p:nvPr/>
        </p:nvSpPr>
        <p:spPr>
          <a:xfrm>
            <a:off x="640080" y="2866644"/>
            <a:ext cx="1938528" cy="585216"/>
          </a:xfrm>
          <a:prstGeom prst="rect">
            <a:avLst/>
          </a:prstGeom>
          <a:noFill/>
          <a:ln/>
        </p:spPr>
        <p:txBody>
          <a:bodyPr wrap="square" lIns="0" tIns="0" rIns="0" bIns="0" rtlCol="0" anchor="ctr"/>
          <a:lstStyle/>
          <a:p>
            <a:pPr algn="ctr" indent="0" marL="0">
              <a:buNone/>
            </a:pPr>
            <a:r>
              <a:rPr lang="en-US" sz="1800" b="1" dirty="0">
                <a:solidFill>
                  <a:srgbClr val="2957D4"/>
                </a:solidFill>
                <a:latin typeface="Courier New" pitchFamily="34" charset="0"/>
                <a:ea typeface="Courier New" pitchFamily="34" charset="-122"/>
                <a:cs typeface="Courier New" pitchFamily="34" charset="-120"/>
              </a:rPr>
              <a:t>ΣF = m · a</a:t>
            </a:r>
            <a:endParaRPr lang="en-US" sz="1800" dirty="0"/>
          </a:p>
        </p:txBody>
      </p:sp>
      <p:sp>
        <p:nvSpPr>
          <p:cNvPr id="9" name="Shape 7"/>
          <p:cNvSpPr/>
          <p:nvPr/>
        </p:nvSpPr>
        <p:spPr>
          <a:xfrm>
            <a:off x="2724912" y="2866644"/>
            <a:ext cx="1938528" cy="585216"/>
          </a:xfrm>
          <a:prstGeom prst="roundRect">
            <a:avLst>
              <a:gd name="adj" fmla="val 18750"/>
            </a:avLst>
          </a:prstGeom>
          <a:solidFill>
            <a:srgbClr val="EEF2FC"/>
          </a:solidFill>
          <a:ln w="9525">
            <a:solidFill>
              <a:srgbClr val="CBD7F4"/>
            </a:solidFill>
            <a:prstDash val="solid"/>
          </a:ln>
        </p:spPr>
      </p:sp>
      <p:sp>
        <p:nvSpPr>
          <p:cNvPr id="10" name="Text 8"/>
          <p:cNvSpPr txBox="1"/>
          <p:nvPr/>
        </p:nvSpPr>
        <p:spPr>
          <a:xfrm>
            <a:off x="2724912" y="2866644"/>
            <a:ext cx="1938528" cy="585216"/>
          </a:xfrm>
          <a:prstGeom prst="rect">
            <a:avLst/>
          </a:prstGeom>
          <a:noFill/>
          <a:ln/>
        </p:spPr>
        <p:txBody>
          <a:bodyPr wrap="square" lIns="0" tIns="0" rIns="0" bIns="0" rtlCol="0" anchor="ctr"/>
          <a:lstStyle/>
          <a:p>
            <a:pPr algn="ctr" indent="0" marL="0">
              <a:buNone/>
            </a:pPr>
            <a:r>
              <a:rPr lang="en-US" sz="1800" b="1" dirty="0">
                <a:solidFill>
                  <a:srgbClr val="2957D4"/>
                </a:solidFill>
                <a:latin typeface="Courier New" pitchFamily="34" charset="0"/>
                <a:ea typeface="Courier New" pitchFamily="34" charset="-122"/>
                <a:cs typeface="Courier New" pitchFamily="34" charset="-120"/>
              </a:rPr>
              <a:t>a = ΣF / m</a:t>
            </a:r>
            <a:endParaRPr lang="en-US" sz="1800" dirty="0"/>
          </a:p>
        </p:txBody>
      </p:sp>
      <p:sp>
        <p:nvSpPr>
          <p:cNvPr id="11" name="Shape 9"/>
          <p:cNvSpPr/>
          <p:nvPr/>
        </p:nvSpPr>
        <p:spPr>
          <a:xfrm>
            <a:off x="4809744" y="2866644"/>
            <a:ext cx="2911450" cy="585216"/>
          </a:xfrm>
          <a:prstGeom prst="roundRect">
            <a:avLst>
              <a:gd name="adj" fmla="val 18750"/>
            </a:avLst>
          </a:prstGeom>
          <a:solidFill>
            <a:srgbClr val="EEF2FC"/>
          </a:solidFill>
          <a:ln w="9525">
            <a:solidFill>
              <a:srgbClr val="CBD7F4"/>
            </a:solidFill>
            <a:prstDash val="solid"/>
          </a:ln>
        </p:spPr>
      </p:sp>
      <p:sp>
        <p:nvSpPr>
          <p:cNvPr id="12" name="Text 10"/>
          <p:cNvSpPr txBox="1"/>
          <p:nvPr/>
        </p:nvSpPr>
        <p:spPr>
          <a:xfrm>
            <a:off x="4809744" y="2866644"/>
            <a:ext cx="2911450" cy="585216"/>
          </a:xfrm>
          <a:prstGeom prst="rect">
            <a:avLst/>
          </a:prstGeom>
          <a:noFill/>
          <a:ln/>
        </p:spPr>
        <p:txBody>
          <a:bodyPr wrap="square" lIns="0" tIns="0" rIns="0" bIns="0" rtlCol="0" anchor="ctr"/>
          <a:lstStyle/>
          <a:p>
            <a:pPr algn="ctr" indent="0" marL="0">
              <a:buNone/>
            </a:pPr>
            <a:r>
              <a:rPr lang="en-US" sz="1800" b="1" dirty="0">
                <a:solidFill>
                  <a:srgbClr val="2957D4"/>
                </a:solidFill>
                <a:latin typeface="Courier New" pitchFamily="34" charset="0"/>
                <a:ea typeface="Courier New" pitchFamily="34" charset="-122"/>
                <a:cs typeface="Courier New" pitchFamily="34" charset="-120"/>
              </a:rPr>
              <a:t>1 N = 1 kg · m/s²</a:t>
            </a:r>
            <a:endParaRPr lang="en-US" sz="1800" dirty="0"/>
          </a:p>
        </p:txBody>
      </p:sp>
      <p:sp>
        <p:nvSpPr>
          <p:cNvPr id="14" name="Shape 11"/>
          <p:cNvSpPr/>
          <p:nvPr/>
        </p:nvSpPr>
        <p:spPr>
          <a:xfrm>
            <a:off x="640080" y="6382512"/>
            <a:ext cx="128016" cy="128016"/>
          </a:xfrm>
          <a:prstGeom prst="roundRect">
            <a:avLst>
              <a:gd name="adj" fmla="val 28571"/>
            </a:avLst>
          </a:prstGeom>
          <a:solidFill>
            <a:srgbClr val="A9E648"/>
          </a:solidFill>
          <a:ln/>
        </p:spPr>
      </p:sp>
      <p:sp>
        <p:nvSpPr>
          <p:cNvPr id="15" name="Text 12"/>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dersler.perinet.org/newton-yasalari.html</a:t>
            </a:r>
            <a:endParaRPr lang="en-US" sz="1050" dirty="0"/>
          </a:p>
        </p:txBody>
      </p:sp>
      <p:sp>
        <p:nvSpPr>
          <p:cNvPr id="16" name="Text 13"/>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39</a:t>
            </a:r>
            <a:endParaRPr lang="en-US" sz="10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05</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2. yasa: ΣF = m·a</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2 / 8</a:t>
            </a:r>
            <a:endParaRPr lang="en-US" sz="950" dirty="0"/>
          </a:p>
        </p:txBody>
      </p:sp>
      <p:sp>
        <p:nvSpPr>
          <p:cNvPr id="6" name="Shape 4"/>
          <p:cNvSpPr/>
          <p:nvPr/>
        </p:nvSpPr>
        <p:spPr>
          <a:xfrm>
            <a:off x="640080" y="1399032"/>
            <a:ext cx="64008" cy="310896"/>
          </a:xfrm>
          <a:prstGeom prst="rect">
            <a:avLst/>
          </a:prstGeom>
          <a:solidFill>
            <a:srgbClr val="2957D4"/>
          </a:solidFill>
          <a:ln/>
        </p:spPr>
      </p:sp>
      <p:sp>
        <p:nvSpPr>
          <p:cNvPr id="7" name="Text 5"/>
          <p:cNvSpPr txBox="1"/>
          <p:nvPr/>
        </p:nvSpPr>
        <p:spPr>
          <a:xfrm>
            <a:off x="822960" y="1325880"/>
            <a:ext cx="10728655" cy="457200"/>
          </a:xfrm>
          <a:prstGeom prst="rect">
            <a:avLst/>
          </a:prstGeom>
          <a:noFill/>
          <a:ln/>
        </p:spPr>
        <p:txBody>
          <a:bodyPr wrap="square" lIns="0" tIns="0" rIns="0" bIns="0" rtlCol="0" anchor="ctr"/>
          <a:lstStyle/>
          <a:p>
            <a:pPr indent="0" marL="0">
              <a:buNone/>
            </a:pPr>
            <a:r>
              <a:rPr lang="en-US" sz="2200" b="1" dirty="0">
                <a:solidFill>
                  <a:srgbClr val="0E1426"/>
                </a:solidFill>
                <a:latin typeface="Cambria" pitchFamily="34" charset="0"/>
                <a:ea typeface="Cambria" pitchFamily="34" charset="-122"/>
                <a:cs typeface="Cambria" pitchFamily="34" charset="-120"/>
              </a:rPr>
              <a:t>Formüldeki harfler ne anlama geliyor?</a:t>
            </a:r>
            <a:endParaRPr lang="en-US" sz="2200" dirty="0"/>
          </a:p>
        </p:txBody>
      </p:sp>
      <p:graphicFrame>
        <p:nvGraphicFramePr>
          <p:cNvPr id="41" name="Table 0"/>
          <p:cNvGraphicFramePr>
            <a:graphicFrameLocks noGrp="1"/>
          </p:cNvGraphicFramePr>
          <p:nvPr>
            <p:extLst>
              <p:ext uri="{D42A27DB-BD31-4B8C-83A1-F6EECF244321}">
                <p14:modId xmlns:p14="http://schemas.microsoft.com/office/powerpoint/2010/main" val="1579011935"/>
              </p:ext>
            </p:extLst>
          </p:nvPr>
        </p:nvGraphicFramePr>
        <p:xfrm>
          <a:off x="640080" y="1892808"/>
          <a:ext cx="10911535" cy="914400"/>
        </p:xfrm>
        <a:graphic>
          <a:graphicData uri="http://schemas.openxmlformats.org/drawingml/2006/table">
            <a:tbl>
              <a:tblPr/>
              <a:tblGrid>
                <a:gridCol w="1522540"/>
                <a:gridCol w="7866456"/>
                <a:gridCol w="1522540"/>
              </a:tblGrid>
              <a:tr h="418338">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Sembol</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Anlamı</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Birimi</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ΣF</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net kuvvet (Σ: “toplam” demek)</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N</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m</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kütle (m/s²'deki m ise metre)</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kg</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a</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ivme: hızın saniyedeki değişimi</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m/s²</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N</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burada newton, kuvvet birimi</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bl>
          </a:graphicData>
        </a:graphic>
      </p:graphicFrame>
      <p:sp>
        <p:nvSpPr>
          <p:cNvPr id="10" name="Shape 6"/>
          <p:cNvSpPr/>
          <p:nvPr/>
        </p:nvSpPr>
        <p:spPr>
          <a:xfrm>
            <a:off x="640080" y="6382512"/>
            <a:ext cx="128016" cy="128016"/>
          </a:xfrm>
          <a:prstGeom prst="roundRect">
            <a:avLst>
              <a:gd name="adj" fmla="val 28571"/>
            </a:avLst>
          </a:prstGeom>
          <a:solidFill>
            <a:srgbClr val="A9E648"/>
          </a:solidFill>
          <a:ln/>
        </p:spPr>
      </p:sp>
      <p:sp>
        <p:nvSpPr>
          <p:cNvPr id="11"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dersler.perinet.org/newton-yasalari.html</a:t>
            </a:r>
            <a:endParaRPr lang="en-US" sz="1050" dirty="0"/>
          </a:p>
        </p:txBody>
      </p:sp>
      <p:sp>
        <p:nvSpPr>
          <p:cNvPr id="12"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40</a:t>
            </a:r>
            <a:endParaRPr lang="en-US" sz="10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05</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2. yasa: ΣF = m·a</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3 / 8</a:t>
            </a:r>
            <a:endParaRPr lang="en-US" sz="950" dirty="0"/>
          </a:p>
        </p:txBody>
      </p:sp>
      <p:sp>
        <p:nvSpPr>
          <p:cNvPr id="6" name="Shape 4"/>
          <p:cNvSpPr/>
          <p:nvPr/>
        </p:nvSpPr>
        <p:spPr>
          <a:xfrm>
            <a:off x="640080" y="1399032"/>
            <a:ext cx="64008" cy="310896"/>
          </a:xfrm>
          <a:prstGeom prst="rect">
            <a:avLst/>
          </a:prstGeom>
          <a:solidFill>
            <a:srgbClr val="2957D4"/>
          </a:solidFill>
          <a:ln/>
        </p:spPr>
      </p:sp>
      <p:sp>
        <p:nvSpPr>
          <p:cNvPr id="7" name="Text 5"/>
          <p:cNvSpPr txBox="1"/>
          <p:nvPr/>
        </p:nvSpPr>
        <p:spPr>
          <a:xfrm>
            <a:off x="822960" y="1325880"/>
            <a:ext cx="10728655" cy="457200"/>
          </a:xfrm>
          <a:prstGeom prst="rect">
            <a:avLst/>
          </a:prstGeom>
          <a:noFill/>
          <a:ln/>
        </p:spPr>
        <p:txBody>
          <a:bodyPr wrap="square" lIns="0" tIns="0" rIns="0" bIns="0" rtlCol="0" anchor="ctr"/>
          <a:lstStyle/>
          <a:p>
            <a:pPr indent="0" marL="0">
              <a:buNone/>
            </a:pPr>
            <a:r>
              <a:rPr lang="en-US" sz="2200" b="1" dirty="0">
                <a:solidFill>
                  <a:srgbClr val="0E1426"/>
                </a:solidFill>
                <a:latin typeface="Cambria" pitchFamily="34" charset="0"/>
                <a:ea typeface="Cambria" pitchFamily="34" charset="-122"/>
                <a:cs typeface="Cambria" pitchFamily="34" charset="-120"/>
              </a:rPr>
              <a:t>Yasa nereden geliyor?</a:t>
            </a:r>
            <a:endParaRPr lang="en-US" sz="2200" dirty="0"/>
          </a:p>
        </p:txBody>
      </p:sp>
      <p:sp>
        <p:nvSpPr>
          <p:cNvPr id="8" name="Text 6"/>
          <p:cNvSpPr txBox="1"/>
          <p:nvPr/>
        </p:nvSpPr>
        <p:spPr>
          <a:xfrm>
            <a:off x="640080" y="1892808"/>
            <a:ext cx="10911535" cy="862584"/>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2. yasa bir matematik türetmesi değil, deneylerden çıkan bir genellemedir.</a:t>
            </a:r>
            <a:endParaRPr lang="en-US" sz="2200" dirty="0"/>
          </a:p>
        </p:txBody>
      </p:sp>
      <p:sp>
        <p:nvSpPr>
          <p:cNvPr id="10" name="Shape 7"/>
          <p:cNvSpPr/>
          <p:nvPr/>
        </p:nvSpPr>
        <p:spPr>
          <a:xfrm>
            <a:off x="640080" y="6382512"/>
            <a:ext cx="128016" cy="128016"/>
          </a:xfrm>
          <a:prstGeom prst="roundRect">
            <a:avLst>
              <a:gd name="adj" fmla="val 28571"/>
            </a:avLst>
          </a:prstGeom>
          <a:solidFill>
            <a:srgbClr val="A9E648"/>
          </a:solidFill>
          <a:ln/>
        </p:spPr>
      </p:sp>
      <p:sp>
        <p:nvSpPr>
          <p:cNvPr id="11" name="Text 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dersler.perinet.org/newton-yasalari.html</a:t>
            </a:r>
            <a:endParaRPr lang="en-US" sz="1050" dirty="0"/>
          </a:p>
        </p:txBody>
      </p:sp>
      <p:sp>
        <p:nvSpPr>
          <p:cNvPr id="12" name="Text 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41</a:t>
            </a:r>
            <a:endParaRPr lang="en-US" sz="10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05</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2. yasa: ΣF = m·a</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4 / 8</a:t>
            </a:r>
            <a:endParaRPr lang="en-US" sz="950" dirty="0"/>
          </a:p>
        </p:txBody>
      </p:sp>
      <p:sp>
        <p:nvSpPr>
          <p:cNvPr id="6" name="Text 4"/>
          <p:cNvSpPr txBox="1"/>
          <p:nvPr/>
        </p:nvSpPr>
        <p:spPr>
          <a:xfrm>
            <a:off x="640080" y="1325880"/>
            <a:ext cx="10911535" cy="862584"/>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Sürtünmesiz bir zeminde bir arabayı sabit kuvvetle çektiğini ve ivmesini ölçtüğünü düşün:</a:t>
            </a:r>
            <a:endParaRPr lang="en-US" sz="2200" dirty="0"/>
          </a:p>
        </p:txBody>
      </p:sp>
      <p:sp>
        <p:nvSpPr>
          <p:cNvPr id="7" name="Text 5"/>
          <p:cNvSpPr txBox="1"/>
          <p:nvPr/>
        </p:nvSpPr>
        <p:spPr>
          <a:xfrm>
            <a:off x="640080" y="2389632"/>
            <a:ext cx="10911535" cy="2942082"/>
          </a:xfrm>
          <a:prstGeom prst="rect">
            <a:avLst/>
          </a:prstGeom>
          <a:noFill/>
          <a:ln/>
        </p:spPr>
        <p:txBody>
          <a:bodyPr wrap="square" lIns="0" tIns="0" rIns="0" bIns="0" rtlCol="0" anchor="t"/>
          <a:lstStyle/>
          <a:p>
            <a:pPr marL="228600" indent="-228600">
              <a:lnSpc>
                <a:spcPct val="115000"/>
              </a:lnSpc>
              <a:spcAft>
                <a:spcPts val="800"/>
              </a:spcAft>
              <a:buSzPct val="100000"/>
              <a:buFont typeface="+mj-lt"/>
              <a:buAutoNum type="arabicPeriod" startAt="1"/>
            </a:pPr>
            <a:r>
              <a:rPr lang="en-US" sz="2100" b="1" dirty="0">
                <a:solidFill>
                  <a:srgbClr val="0E1426"/>
                </a:solidFill>
                <a:latin typeface="Calibri" pitchFamily="34" charset="0"/>
                <a:ea typeface="Calibri" pitchFamily="34" charset="-122"/>
                <a:cs typeface="Calibri" pitchFamily="34" charset="-120"/>
              </a:rPr>
              <a:t>Kuvveti değiştir:</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kütle sabitken kuvvet 2, 3 katına çıkınca ivme de 2, 3 katına çıkar: a ∝ ΣF.</a:t>
            </a:r>
            <a:endParaRPr lang="en-US" sz="2100" dirty="0"/>
          </a:p>
          <a:p>
            <a:pPr marL="228600" indent="-228600">
              <a:lnSpc>
                <a:spcPct val="115000"/>
              </a:lnSpc>
              <a:spcAft>
                <a:spcPts val="800"/>
              </a:spcAft>
              <a:buSzPct val="100000"/>
              <a:buFont typeface="+mj-lt"/>
              <a:buAutoNum type="arabicPeriod" startAt="1"/>
            </a:pPr>
            <a:r>
              <a:rPr lang="en-US" sz="2100" b="1" dirty="0">
                <a:solidFill>
                  <a:srgbClr val="0E1426"/>
                </a:solidFill>
                <a:latin typeface="Calibri" pitchFamily="34" charset="0"/>
                <a:ea typeface="Calibri" pitchFamily="34" charset="-122"/>
                <a:cs typeface="Calibri" pitchFamily="34" charset="-120"/>
              </a:rPr>
              <a:t>Kütleyi değiştir:</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kuvvet sabitken kütle 2 katına çıkınca ivme yarıya iner: a ∝ 1/m.</a:t>
            </a:r>
            <a:endParaRPr lang="en-US" sz="2100" dirty="0"/>
          </a:p>
          <a:p>
            <a:pPr marL="228600" indent="-228600">
              <a:lnSpc>
                <a:spcPct val="115000"/>
              </a:lnSpc>
              <a:spcAft>
                <a:spcPts val="800"/>
              </a:spcAft>
              <a:buSzPct val="100000"/>
              <a:buFont typeface="+mj-lt"/>
              <a:buAutoNum type="arabicPeriod" startAt="1"/>
            </a:pPr>
            <a:r>
              <a:rPr lang="en-US" sz="2100" b="1" dirty="0">
                <a:solidFill>
                  <a:srgbClr val="0E1426"/>
                </a:solidFill>
                <a:latin typeface="Calibri" pitchFamily="34" charset="0"/>
                <a:ea typeface="Calibri" pitchFamily="34" charset="-122"/>
                <a:cs typeface="Calibri" pitchFamily="34" charset="-120"/>
              </a:rPr>
              <a:t>Birleştir:</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iki gözlem birlikte a ∝ ΣF/m, yani ΣF = k·m·a verir.</a:t>
            </a:r>
            <a:endParaRPr lang="en-US" sz="2100" dirty="0"/>
          </a:p>
          <a:p>
            <a:pPr marL="228600" indent="-228600">
              <a:lnSpc>
                <a:spcPct val="115000"/>
              </a:lnSpc>
              <a:spcAft>
                <a:spcPts val="800"/>
              </a:spcAft>
              <a:buSzPct val="100000"/>
              <a:buFont typeface="+mj-lt"/>
              <a:buAutoNum type="arabicPeriod" startAt="1"/>
            </a:pPr>
            <a:r>
              <a:rPr lang="en-US" sz="2100" b="1" dirty="0">
                <a:solidFill>
                  <a:srgbClr val="0E1426"/>
                </a:solidFill>
                <a:latin typeface="Calibri" pitchFamily="34" charset="0"/>
                <a:ea typeface="Calibri" pitchFamily="34" charset="-122"/>
                <a:cs typeface="Calibri" pitchFamily="34" charset="-120"/>
              </a:rPr>
              <a:t>Birimi seç:</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1 kg'lık kütleye 1 m/s² ivme veren kuvvete 1 N denirse k = 1 olur: </a:t>
            </a:r>
            <a:pPr indent="0" marL="0">
              <a:lnSpc>
                <a:spcPct val="115000"/>
              </a:lnSpc>
              <a:buNone/>
            </a:pPr>
            <a:r>
              <a:rPr lang="en-US" sz="2100" b="1" dirty="0">
                <a:solidFill>
                  <a:srgbClr val="0E1426"/>
                </a:solidFill>
                <a:latin typeface="Calibri" pitchFamily="34" charset="0"/>
                <a:ea typeface="Calibri" pitchFamily="34" charset="-122"/>
                <a:cs typeface="Calibri" pitchFamily="34" charset="-120"/>
              </a:rPr>
              <a:t>ΣF = m·a</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a:t>
            </a:r>
            <a:endParaRPr lang="en-US" sz="2100" dirty="0"/>
          </a:p>
        </p:txBody>
      </p:sp>
      <p:sp>
        <p:nvSpPr>
          <p:cNvPr id="9" name="Shape 6"/>
          <p:cNvSpPr/>
          <p:nvPr/>
        </p:nvSpPr>
        <p:spPr>
          <a:xfrm>
            <a:off x="640080" y="6382512"/>
            <a:ext cx="128016" cy="128016"/>
          </a:xfrm>
          <a:prstGeom prst="roundRect">
            <a:avLst>
              <a:gd name="adj" fmla="val 28571"/>
            </a:avLst>
          </a:prstGeom>
          <a:solidFill>
            <a:srgbClr val="A9E648"/>
          </a:solidFill>
          <a:ln/>
        </p:spPr>
      </p:sp>
      <p:sp>
        <p:nvSpPr>
          <p:cNvPr id="10"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dersler.perinet.org/newton-yasalari.html</a:t>
            </a:r>
            <a:endParaRPr lang="en-US" sz="1050" dirty="0"/>
          </a:p>
        </p:txBody>
      </p:sp>
      <p:sp>
        <p:nvSpPr>
          <p:cNvPr id="11"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42</a:t>
            </a:r>
            <a:endParaRPr lang="en-US" sz="10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05</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2. yasa: ΣF = m·a</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5 / 8</a:t>
            </a:r>
            <a:endParaRPr lang="en-US" sz="950" dirty="0"/>
          </a:p>
        </p:txBody>
      </p:sp>
      <p:graphicFrame>
        <p:nvGraphicFramePr>
          <p:cNvPr id="44" name="Table 0"/>
          <p:cNvGraphicFramePr>
            <a:graphicFrameLocks noGrp="1"/>
          </p:cNvGraphicFramePr>
          <p:nvPr>
            <p:extLst>
              <p:ext uri="{D42A27DB-BD31-4B8C-83A1-F6EECF244321}">
                <p14:modId xmlns:p14="http://schemas.microsoft.com/office/powerpoint/2010/main" val="1579011935"/>
              </p:ext>
            </p:extLst>
          </p:nvPr>
        </p:nvGraphicFramePr>
        <p:xfrm>
          <a:off x="640080" y="1325880"/>
          <a:ext cx="10911535" cy="914400"/>
        </p:xfrm>
        <a:graphic>
          <a:graphicData uri="http://schemas.openxmlformats.org/drawingml/2006/table">
            <a:tbl>
              <a:tblPr/>
              <a:tblGrid>
                <a:gridCol w="3420033"/>
                <a:gridCol w="3094316"/>
                <a:gridCol w="4397186"/>
              </a:tblGrid>
              <a:tr h="418338">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Değişen</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Sonuç</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Örnek</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Kuvvet 2 katına çıkar</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İvme 2 katına çıkar</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20 N → 40 N, a: 4 → 8 m/s²</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Kütle 2 katına çıkar</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İvme yarıya iner</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5 kg → 10 kg, a: 4 → 2 m/s²</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Net kuvvet sıfır olur</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İvme sıfır olur</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hız sabit kalır (1. yasa)</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bl>
          </a:graphicData>
        </a:graphic>
      </p:graphicFrame>
      <p:sp>
        <p:nvSpPr>
          <p:cNvPr id="8" name="Shape 4"/>
          <p:cNvSpPr/>
          <p:nvPr/>
        </p:nvSpPr>
        <p:spPr>
          <a:xfrm>
            <a:off x="640080" y="6382512"/>
            <a:ext cx="128016" cy="128016"/>
          </a:xfrm>
          <a:prstGeom prst="roundRect">
            <a:avLst>
              <a:gd name="adj" fmla="val 28571"/>
            </a:avLst>
          </a:prstGeom>
          <a:solidFill>
            <a:srgbClr val="A9E648"/>
          </a:solidFill>
          <a:ln/>
        </p:spPr>
      </p:sp>
      <p:sp>
        <p:nvSpPr>
          <p:cNvPr id="9" name="Text 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dersler.perinet.org/newton-yasalari.html</a:t>
            </a:r>
            <a:endParaRPr lang="en-US" sz="1050" dirty="0"/>
          </a:p>
        </p:txBody>
      </p:sp>
      <p:sp>
        <p:nvSpPr>
          <p:cNvPr id="10" name="Text 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43</a:t>
            </a:r>
            <a:endParaRPr lang="en-US" sz="10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05</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2. yasa: ΣF = m·a</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6 / 8</a:t>
            </a:r>
            <a:endParaRPr lang="en-US" sz="950" dirty="0"/>
          </a:p>
        </p:txBody>
      </p:sp>
      <p:sp>
        <p:nvSpPr>
          <p:cNvPr id="6" name="Text 4"/>
          <p:cNvSpPr txBox="1"/>
          <p:nvPr/>
        </p:nvSpPr>
        <p:spPr>
          <a:xfrm>
            <a:off x="640080" y="1325880"/>
            <a:ext cx="10911535" cy="2679192"/>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Dikkat: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ivme hızın değil, net kuvvetin yönündedir</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Yavaşlayan bir cisimde net kuvvet hıza zıt yöndedir.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Hız ile ivme aynı yönlüyse cisim hızlanır, zıt yönlüyse yavaşlar.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Sayfadaki laboratuvarda “Sürtünmesiz · 20 N, 5 kg” ile “Kütle 2 katı” hazır deneylerini art arda çalıştır: ivme 4 m/s²'den 2 m/s²'ye iner, hız grafiğinin eğimi yarıya düşer.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dersler.perinet.org/newton-yasalari.html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44</a:t>
            </a:r>
            <a:endParaRPr lang="en-US" sz="10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05</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2. yasa: ΣF = m·a</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7 / 8</a:t>
            </a:r>
            <a:endParaRPr lang="en-US" sz="950" dirty="0"/>
          </a:p>
        </p:txBody>
      </p:sp>
      <p:sp>
        <p:nvSpPr>
          <p:cNvPr id="6" name="Text 4"/>
          <p:cNvSpPr txBox="1"/>
          <p:nvPr/>
        </p:nvSpPr>
        <p:spPr>
          <a:xfrm>
            <a:off x="640080" y="1325880"/>
            <a:ext cx="10911535" cy="1339596"/>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İki boyutta yasa bileşenlere ayrılarak yazılır: ΣFₓ = m·aₓ ve ΣFᵧ = m·aᵧ.</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1. yasa da aslında 2. yasanın özel hâlidir: ΣF = 0 ise a = 0.</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dersler.perinet.org/newton-yasalari.html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45</a:t>
            </a:r>
            <a:endParaRPr lang="en-US" sz="10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05</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2. yasa: ΣF = m·a</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8 / 8</a:t>
            </a:r>
            <a:endParaRPr lang="en-US" sz="950" dirty="0"/>
          </a:p>
        </p:txBody>
      </p:sp>
      <p:sp>
        <p:nvSpPr>
          <p:cNvPr id="6" name="Shape 4"/>
          <p:cNvSpPr/>
          <p:nvPr/>
        </p:nvSpPr>
        <p:spPr>
          <a:xfrm>
            <a:off x="1020928" y="1234440"/>
            <a:ext cx="10149840" cy="3494338"/>
          </a:xfrm>
          <a:prstGeom prst="roundRect">
            <a:avLst>
              <a:gd name="adj" fmla="val 4187"/>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7" name="Image 0" descr="/tmp/claude-1000/-opt-dersler/8a8328c3-841c-44fa-b76f-82572d338d3d/scratchpad/d10/sek/newton-yasalari-03.png">    </p:cNvPr>
          <p:cNvPicPr>
            <a:picLocks noChangeAspect="1"/>
          </p:cNvPicPr>
          <p:nvPr/>
        </p:nvPicPr>
        <p:blipFill>
          <a:blip r:embed="rId1"/>
          <a:stretch>
            <a:fillRect/>
          </a:stretch>
        </p:blipFill>
        <p:spPr>
          <a:xfrm>
            <a:off x="1249528" y="1325880"/>
            <a:ext cx="9692640" cy="3311458"/>
          </a:xfrm>
          <a:prstGeom prst="rect">
            <a:avLst/>
          </a:prstGeom>
        </p:spPr>
      </p:pic>
      <p:sp>
        <p:nvSpPr>
          <p:cNvPr id="8" name="Text 5"/>
          <p:cNvSpPr txBox="1"/>
          <p:nvPr/>
        </p:nvSpPr>
        <p:spPr>
          <a:xfrm>
            <a:off x="1249528" y="4911658"/>
            <a:ext cx="9692640" cy="1233110"/>
          </a:xfrm>
          <a:prstGeom prst="rect">
            <a:avLst/>
          </a:prstGeom>
          <a:noFill/>
          <a:ln/>
        </p:spPr>
        <p:txBody>
          <a:bodyPr wrap="square" lIns="0" tIns="0" rIns="0" bIns="0" rtlCol="0" anchor="t"/>
          <a:lstStyle/>
          <a:p>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Kütle 5 kg iken</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kuvveti iki katına çıkarmak ivmeyi de iki katına çıkarır; aynı kuvveti iki kat kütleye uygulamak ivmeyi yarıya indirir. Yeşil oklar bu üç durumun ivmelerini aynı ölçekte gösteriyor. İvmenin yönü daima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net kuvvetin yönündedir</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 hızın yönü değil.</a:t>
            </a:r>
            <a:endParaRPr lang="en-US" sz="1350" dirty="0"/>
          </a:p>
        </p:txBody>
      </p:sp>
      <p:sp>
        <p:nvSpPr>
          <p:cNvPr id="10" name="Shape 6"/>
          <p:cNvSpPr/>
          <p:nvPr/>
        </p:nvSpPr>
        <p:spPr>
          <a:xfrm>
            <a:off x="640080" y="6382512"/>
            <a:ext cx="128016" cy="128016"/>
          </a:xfrm>
          <a:prstGeom prst="roundRect">
            <a:avLst>
              <a:gd name="adj" fmla="val 28571"/>
            </a:avLst>
          </a:prstGeom>
          <a:solidFill>
            <a:srgbClr val="A9E648"/>
          </a:solidFill>
          <a:ln/>
        </p:spPr>
      </p:sp>
      <p:sp>
        <p:nvSpPr>
          <p:cNvPr id="11"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dersler.perinet.org/newton-yasalari.html</a:t>
            </a:r>
            <a:endParaRPr lang="en-US" sz="1050" dirty="0"/>
          </a:p>
        </p:txBody>
      </p:sp>
      <p:sp>
        <p:nvSpPr>
          <p:cNvPr id="12"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46</a:t>
            </a:r>
            <a:endParaRPr lang="en-US" sz="10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05</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2. yasa: ΣF = m·a</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6" name="Shape 4"/>
          <p:cNvSpPr/>
          <p:nvPr/>
        </p:nvSpPr>
        <p:spPr>
          <a:xfrm>
            <a:off x="1005840" y="1691640"/>
            <a:ext cx="10180015" cy="3840480"/>
          </a:xfrm>
          <a:prstGeom prst="roundRect">
            <a:avLst>
              <a:gd name="adj" fmla="val 523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042416" y="2148840"/>
            <a:ext cx="73152" cy="2926080"/>
          </a:xfrm>
          <a:prstGeom prst="rect">
            <a:avLst/>
          </a:prstGeom>
          <a:solidFill>
            <a:srgbClr val="2957D4"/>
          </a:solidFill>
          <a:ln/>
        </p:spPr>
      </p:sp>
      <p:sp>
        <p:nvSpPr>
          <p:cNvPr id="8" name="Text 6"/>
          <p:cNvSpPr txBox="1"/>
          <p:nvPr/>
        </p:nvSpPr>
        <p:spPr>
          <a:xfrm>
            <a:off x="1554480" y="1984248"/>
            <a:ext cx="9082735" cy="292608"/>
          </a:xfrm>
          <a:prstGeom prst="rect">
            <a:avLst/>
          </a:prstGeom>
          <a:noFill/>
          <a:ln/>
        </p:spPr>
        <p:txBody>
          <a:bodyPr wrap="square" lIns="0" tIns="0" rIns="0" bIns="0" rtlCol="0" anchor="ctr"/>
          <a:lstStyle/>
          <a:p>
            <a:pPr indent="0" marL="0">
              <a:buNone/>
            </a:pPr>
            <a:r>
              <a:rPr lang="en-US" sz="1200" b="1" spc="300" kern="0" dirty="0">
                <a:solidFill>
                  <a:srgbClr val="2957D4"/>
                </a:solidFill>
                <a:latin typeface="Calibri" pitchFamily="34" charset="0"/>
                <a:ea typeface="Calibri" pitchFamily="34" charset="-122"/>
                <a:cs typeface="Calibri" pitchFamily="34" charset="-120"/>
              </a:rPr>
              <a:t>KISACA  ·  BU BÖLÜMDE ÖĞRENDİK</a:t>
            </a:r>
            <a:endParaRPr lang="en-US" sz="1200" dirty="0"/>
          </a:p>
        </p:txBody>
      </p:sp>
      <p:sp>
        <p:nvSpPr>
          <p:cNvPr id="9" name="Text 7"/>
          <p:cNvSpPr txBox="1"/>
          <p:nvPr/>
        </p:nvSpPr>
        <p:spPr>
          <a:xfrm>
            <a:off x="1554480" y="2423160"/>
            <a:ext cx="9082735" cy="2743200"/>
          </a:xfrm>
          <a:prstGeom prst="rect">
            <a:avLst/>
          </a:prstGeom>
          <a:noFill/>
          <a:ln/>
        </p:spPr>
        <p:txBody>
          <a:bodyPr wrap="square" lIns="0" tIns="0" rIns="0" bIns="0" rtlCol="0" anchor="ctr"/>
          <a:lstStyle/>
          <a:p>
            <a:pPr indent="0" marL="0">
              <a:lnSpc>
                <a:spcPct val="125000"/>
              </a:lnSpc>
              <a:buNone/>
            </a:pPr>
            <a:r>
              <a:rPr lang="en-US" sz="2800" dirty="0">
                <a:solidFill>
                  <a:srgbClr val="0E1426"/>
                </a:solidFill>
                <a:latin typeface="Cambria" pitchFamily="34" charset="0"/>
                <a:ea typeface="Cambria" pitchFamily="34" charset="-122"/>
                <a:cs typeface="Cambria" pitchFamily="34" charset="-120"/>
              </a:rPr>
              <a:t>Net kuvvet cismi ivmelendirir: a = ΣF/m. İvme net kuvvetle doğru, kütleyle ters orantılıdır ve yönü hızın değil, net kuvvetin yönündedir.</a:t>
            </a:r>
            <a:endParaRPr lang="en-US" sz="28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dersler.perinet.org/newton-yasalari.html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47</a:t>
            </a:r>
            <a:endParaRPr lang="en-US" sz="10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06</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2900" b="1" spc="-50" kern="0" dirty="0">
                <a:solidFill>
                  <a:srgbClr val="0E1426"/>
                </a:solidFill>
                <a:latin typeface="Cambria" pitchFamily="34" charset="0"/>
                <a:ea typeface="Cambria" pitchFamily="34" charset="-122"/>
                <a:cs typeface="Cambria" pitchFamily="34" charset="-120"/>
              </a:rPr>
              <a:t>Sayılarla hisset: ne kadar kuvvet, ne kadar ivme?</a:t>
            </a:r>
            <a:endParaRPr lang="en-US" sz="29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1 / 5</a:t>
            </a:r>
            <a:endParaRPr lang="en-US" sz="950" dirty="0"/>
          </a:p>
        </p:txBody>
      </p:sp>
      <p:sp>
        <p:nvSpPr>
          <p:cNvPr id="6" name="Text 4"/>
          <p:cNvSpPr txBox="1"/>
          <p:nvPr/>
        </p:nvSpPr>
        <p:spPr>
          <a:xfrm>
            <a:off x="640080" y="1325880"/>
            <a:ext cx="10911535" cy="1339596"/>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ΣF = m·a'nın asıl gücü, çok farklı durumları aynı ölçekte karşılaştırabilmesidir.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Aşağıdaki değerler gündelik durumlar için gerçekçi yaklaşık değerlerdir: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dersler.perinet.org/newton-yasalari.html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48</a:t>
            </a:r>
            <a:endParaRPr lang="en-US" sz="105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06</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2900" b="1" spc="-50" kern="0" dirty="0">
                <a:solidFill>
                  <a:srgbClr val="0E1426"/>
                </a:solidFill>
                <a:latin typeface="Cambria" pitchFamily="34" charset="0"/>
                <a:ea typeface="Cambria" pitchFamily="34" charset="-122"/>
                <a:cs typeface="Cambria" pitchFamily="34" charset="-120"/>
              </a:rPr>
              <a:t>Sayılarla hisset: ne kadar kuvvet, ne kadar ivme?</a:t>
            </a:r>
            <a:endParaRPr lang="en-US" sz="29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2 / 5</a:t>
            </a:r>
            <a:endParaRPr lang="en-US" sz="95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640080" y="1325880"/>
          <a:ext cx="10911535" cy="914400"/>
        </p:xfrm>
        <a:graphic>
          <a:graphicData uri="http://schemas.openxmlformats.org/drawingml/2006/table">
            <a:tbl>
              <a:tblPr/>
              <a:tblGrid>
                <a:gridCol w="5237537"/>
                <a:gridCol w="1527615"/>
                <a:gridCol w="2182307"/>
                <a:gridCol w="1964076"/>
              </a:tblGrid>
              <a:tr h="418338">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Durum</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Kütle</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Net kuvvet</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İvme</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İtilen market arabası</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20 kg</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40 N</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2 m/s²</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Kalkan bisikletli</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80 kg</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80 N</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1 m/s²</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Hızlanan otomobil</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1200 kg</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3600 N</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3 m/s²</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Sert fren yapan otomobil</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1200 kg</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9600 N</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8 m/s²</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Tekme yiyen futbol topu</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0,45 kg</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900 N</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2000 m/s²</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bl>
          </a:graphicData>
        </a:graphic>
      </p:graphicFrame>
      <p:sp>
        <p:nvSpPr>
          <p:cNvPr id="8" name="Shape 4"/>
          <p:cNvSpPr/>
          <p:nvPr/>
        </p:nvSpPr>
        <p:spPr>
          <a:xfrm>
            <a:off x="640080" y="6382512"/>
            <a:ext cx="128016" cy="128016"/>
          </a:xfrm>
          <a:prstGeom prst="roundRect">
            <a:avLst>
              <a:gd name="adj" fmla="val 28571"/>
            </a:avLst>
          </a:prstGeom>
          <a:solidFill>
            <a:srgbClr val="A9E648"/>
          </a:solidFill>
          <a:ln/>
        </p:spPr>
      </p:sp>
      <p:sp>
        <p:nvSpPr>
          <p:cNvPr id="9" name="Text 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dersler.perinet.org/newton-yasalari.html</a:t>
            </a:r>
            <a:endParaRPr lang="en-US" sz="1050" dirty="0"/>
          </a:p>
        </p:txBody>
      </p:sp>
      <p:sp>
        <p:nvSpPr>
          <p:cNvPr id="10" name="Text 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49</a:t>
            </a:r>
            <a:endParaRPr lang="en-US" sz="105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06</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2900" b="1" spc="-50" kern="0" dirty="0">
                <a:solidFill>
                  <a:srgbClr val="0E1426"/>
                </a:solidFill>
                <a:latin typeface="Cambria" pitchFamily="34" charset="0"/>
                <a:ea typeface="Cambria" pitchFamily="34" charset="-122"/>
                <a:cs typeface="Cambria" pitchFamily="34" charset="-120"/>
              </a:rPr>
              <a:t>Sayılarla hisset: ne kadar kuvvet, ne kadar ivme?</a:t>
            </a:r>
            <a:endParaRPr lang="en-US" sz="29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3 / 5</a:t>
            </a:r>
            <a:endParaRPr lang="en-US" sz="950" dirty="0"/>
          </a:p>
        </p:txBody>
      </p:sp>
      <p:sp>
        <p:nvSpPr>
          <p:cNvPr id="6" name="Text 4"/>
          <p:cNvSpPr txBox="1"/>
          <p:nvPr/>
        </p:nvSpPr>
        <p:spPr>
          <a:xfrm>
            <a:off x="640080" y="1325880"/>
            <a:ext cx="10911535" cy="1816608"/>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Tablodan okunan ilk düzen: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büyük kuvvet, büyük ivme demek değildir</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Otomobili hızlandıran kuvvet topa vurulan tekmenin dört katı, ama otomobilin ivmesi topunkinin ancak binde bir buçuğu kadar.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Belirleyici olan kuvvetin kendisi değil,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kuvvetin kütleye oranıdır</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dersler.perinet.org/newton-yasalari.html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50</a:t>
            </a:r>
            <a:endParaRPr lang="en-US" sz="105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06</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2900" b="1" spc="-50" kern="0" dirty="0">
                <a:solidFill>
                  <a:srgbClr val="0E1426"/>
                </a:solidFill>
                <a:latin typeface="Cambria" pitchFamily="34" charset="0"/>
                <a:ea typeface="Cambria" pitchFamily="34" charset="-122"/>
                <a:cs typeface="Cambria" pitchFamily="34" charset="-120"/>
              </a:rPr>
              <a:t>Sayılarla hisset: ne kadar kuvvet, ne kadar ivme?</a:t>
            </a:r>
            <a:endParaRPr lang="en-US" sz="29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4 / 5</a:t>
            </a:r>
            <a:endParaRPr lang="en-US" sz="950" dirty="0"/>
          </a:p>
        </p:txBody>
      </p:sp>
      <p:sp>
        <p:nvSpPr>
          <p:cNvPr id="6" name="Text 4"/>
          <p:cNvSpPr txBox="1"/>
          <p:nvPr/>
        </p:nvSpPr>
        <p:spPr>
          <a:xfrm>
            <a:off x="640080" y="1325880"/>
            <a:ext cx="10911535" cy="3064764"/>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Sayılar başka şeyler de söylüyor.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3 m/s²'lik ivmeyle otomobil 0'dan 100 km/h'e (27,8 m/s) yaklaşık 9 saniyede çıkar; bu, sıradan bir binek otomobilin değeridir.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8 m/s²'lik fren ivmesi yaklaşık 0,8·g eder ve kuru asfaltta lastiğin sağlayabildiği en büyük sürtünmeye yakındır.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Topun 2000 m/s²'lik ivmesi ise yalnızca yaklaşık 0,01 saniyelik temas süresince sürer; bu kısa sürede top 20 m/s'ye (72 km/h) ulaşır.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dersler.perinet.org/newton-yasalari.html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51</a:t>
            </a:r>
            <a:endParaRPr lang="en-US" sz="105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06</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2900" b="1" spc="-50" kern="0" dirty="0">
                <a:solidFill>
                  <a:srgbClr val="0E1426"/>
                </a:solidFill>
                <a:latin typeface="Cambria" pitchFamily="34" charset="0"/>
                <a:ea typeface="Cambria" pitchFamily="34" charset="-122"/>
                <a:cs typeface="Cambria" pitchFamily="34" charset="-120"/>
              </a:rPr>
              <a:t>Sayılarla hisset: ne kadar kuvvet, ne kadar ivme?</a:t>
            </a:r>
            <a:endParaRPr lang="en-US" sz="29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5 / 5</a:t>
            </a:r>
            <a:endParaRPr lang="en-US" sz="950" dirty="0"/>
          </a:p>
        </p:txBody>
      </p:sp>
      <p:sp>
        <p:nvSpPr>
          <p:cNvPr id="6" name="Shape 4"/>
          <p:cNvSpPr/>
          <p:nvPr/>
        </p:nvSpPr>
        <p:spPr>
          <a:xfrm>
            <a:off x="3445231" y="1271016"/>
            <a:ext cx="5301234" cy="3570732"/>
          </a:xfrm>
          <a:prstGeom prst="roundRect">
            <a:avLst>
              <a:gd name="adj" fmla="val 358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7" name="Image 0" descr="/tmp/claude-1000/-opt-dersler/8a8328c3-841c-44fa-b76f-82572d338d3d/scratchpad/d10/sek/newton-yasalari-ek2-genis.jpg">    </p:cNvPr>
          <p:cNvPicPr>
            <a:picLocks noChangeAspect="1"/>
          </p:cNvPicPr>
          <p:nvPr/>
        </p:nvPicPr>
        <p:blipFill>
          <a:blip r:embed="rId1"/>
          <a:stretch>
            <a:fillRect/>
          </a:stretch>
        </p:blipFill>
        <p:spPr>
          <a:xfrm>
            <a:off x="3500095" y="1325880"/>
            <a:ext cx="5191506" cy="3461004"/>
          </a:xfrm>
          <a:prstGeom prst="rect">
            <a:avLst/>
          </a:prstGeom>
        </p:spPr>
      </p:pic>
      <p:sp>
        <p:nvSpPr>
          <p:cNvPr id="8" name="Text 5"/>
          <p:cNvSpPr txBox="1"/>
          <p:nvPr/>
        </p:nvSpPr>
        <p:spPr>
          <a:xfrm>
            <a:off x="1249528" y="5024628"/>
            <a:ext cx="9692640" cy="1120140"/>
          </a:xfrm>
          <a:prstGeom prst="rect">
            <a:avLst/>
          </a:prstGeom>
          <a:noFill/>
          <a:ln/>
        </p:spPr>
        <p:txBody>
          <a:bodyPr wrap="square" lIns="0" tIns="0" rIns="0" bIns="0" rtlCol="0" anchor="t"/>
          <a:lstStyle/>
          <a:p>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Kramponun topa değdiği anda</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top, ayakkabının bastığı yerden gözle görülür biçimde içe çöküyor; tekmenin kuvveti bu kısa temas süresinde çok büyüktür. Topun kütlesi küçük olduğu için a = ΣF/m çok büyük çıkar: tablodaki 900 N'luk tekme 0,45 kg'lık topa 2000 m/s²'lik ivme verir. Aynı kuvvet 1200 kg'lık bir otomobile ancak 0,75 m/s² ivme verirdi; aradaki farkı yalnızca kütle yaratır.</a:t>
            </a:r>
            <a:endParaRPr lang="en-US" sz="1350" dirty="0"/>
          </a:p>
        </p:txBody>
      </p:sp>
      <p:sp>
        <p:nvSpPr>
          <p:cNvPr id="10" name="Shape 6"/>
          <p:cNvSpPr/>
          <p:nvPr/>
        </p:nvSpPr>
        <p:spPr>
          <a:xfrm>
            <a:off x="640080" y="6382512"/>
            <a:ext cx="128016" cy="128016"/>
          </a:xfrm>
          <a:prstGeom prst="roundRect">
            <a:avLst>
              <a:gd name="adj" fmla="val 28571"/>
            </a:avLst>
          </a:prstGeom>
          <a:solidFill>
            <a:srgbClr val="A9E648"/>
          </a:solidFill>
          <a:ln/>
        </p:spPr>
      </p:sp>
      <p:sp>
        <p:nvSpPr>
          <p:cNvPr id="11"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dersler.perinet.org/newton-yasalari.html</a:t>
            </a:r>
            <a:endParaRPr lang="en-US" sz="1050" dirty="0"/>
          </a:p>
        </p:txBody>
      </p:sp>
      <p:sp>
        <p:nvSpPr>
          <p:cNvPr id="12"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52</a:t>
            </a:r>
            <a:endParaRPr lang="en-US" sz="105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06</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2900" b="1" spc="-50" kern="0" dirty="0">
                <a:solidFill>
                  <a:srgbClr val="0E1426"/>
                </a:solidFill>
                <a:latin typeface="Cambria" pitchFamily="34" charset="0"/>
                <a:ea typeface="Cambria" pitchFamily="34" charset="-122"/>
                <a:cs typeface="Cambria" pitchFamily="34" charset="-120"/>
              </a:rPr>
              <a:t>Sayılarla hisset: ne kadar kuvvet, ne kadar ivme?</a:t>
            </a:r>
            <a:endParaRPr lang="en-US" sz="29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6" name="Shape 4"/>
          <p:cNvSpPr/>
          <p:nvPr/>
        </p:nvSpPr>
        <p:spPr>
          <a:xfrm>
            <a:off x="1005840" y="1691640"/>
            <a:ext cx="10180015" cy="3840480"/>
          </a:xfrm>
          <a:prstGeom prst="roundRect">
            <a:avLst>
              <a:gd name="adj" fmla="val 523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042416" y="2148840"/>
            <a:ext cx="73152" cy="2926080"/>
          </a:xfrm>
          <a:prstGeom prst="rect">
            <a:avLst/>
          </a:prstGeom>
          <a:solidFill>
            <a:srgbClr val="2957D4"/>
          </a:solidFill>
          <a:ln/>
        </p:spPr>
      </p:sp>
      <p:sp>
        <p:nvSpPr>
          <p:cNvPr id="8" name="Text 6"/>
          <p:cNvSpPr txBox="1"/>
          <p:nvPr/>
        </p:nvSpPr>
        <p:spPr>
          <a:xfrm>
            <a:off x="1554480" y="1984248"/>
            <a:ext cx="9082735" cy="292608"/>
          </a:xfrm>
          <a:prstGeom prst="rect">
            <a:avLst/>
          </a:prstGeom>
          <a:noFill/>
          <a:ln/>
        </p:spPr>
        <p:txBody>
          <a:bodyPr wrap="square" lIns="0" tIns="0" rIns="0" bIns="0" rtlCol="0" anchor="ctr"/>
          <a:lstStyle/>
          <a:p>
            <a:pPr indent="0" marL="0">
              <a:buNone/>
            </a:pPr>
            <a:r>
              <a:rPr lang="en-US" sz="1200" b="1" spc="300" kern="0" dirty="0">
                <a:solidFill>
                  <a:srgbClr val="2957D4"/>
                </a:solidFill>
                <a:latin typeface="Calibri" pitchFamily="34" charset="0"/>
                <a:ea typeface="Calibri" pitchFamily="34" charset="-122"/>
                <a:cs typeface="Calibri" pitchFamily="34" charset="-120"/>
              </a:rPr>
              <a:t>KISACA  ·  BU BÖLÜMDE ÖĞRENDİK</a:t>
            </a:r>
            <a:endParaRPr lang="en-US" sz="1200" dirty="0"/>
          </a:p>
        </p:txBody>
      </p:sp>
      <p:sp>
        <p:nvSpPr>
          <p:cNvPr id="9" name="Text 7"/>
          <p:cNvSpPr txBox="1"/>
          <p:nvPr/>
        </p:nvSpPr>
        <p:spPr>
          <a:xfrm>
            <a:off x="1554480" y="2423160"/>
            <a:ext cx="9082735" cy="2743200"/>
          </a:xfrm>
          <a:prstGeom prst="rect">
            <a:avLst/>
          </a:prstGeom>
          <a:noFill/>
          <a:ln/>
        </p:spPr>
        <p:txBody>
          <a:bodyPr wrap="square" lIns="0" tIns="0" rIns="0" bIns="0" rtlCol="0" anchor="ctr"/>
          <a:lstStyle/>
          <a:p>
            <a:pPr indent="0" marL="0">
              <a:lnSpc>
                <a:spcPct val="125000"/>
              </a:lnSpc>
              <a:buNone/>
            </a:pPr>
            <a:r>
              <a:rPr lang="en-US" sz="2800" dirty="0">
                <a:solidFill>
                  <a:srgbClr val="0E1426"/>
                </a:solidFill>
                <a:latin typeface="Cambria" pitchFamily="34" charset="0"/>
                <a:ea typeface="Cambria" pitchFamily="34" charset="-122"/>
                <a:cs typeface="Cambria" pitchFamily="34" charset="-120"/>
              </a:rPr>
              <a:t>İvmeyi kuvvetin kendisi değil, kuvvetin kütleye oranı belirler. Otomobili hızlandırmak için gereken binlerce newton ona birkaç m/s² verir; 900 N ise hafif bir topa 2000 m/s²'lik ivme verir.</a:t>
            </a:r>
            <a:endParaRPr lang="en-US" sz="28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dersler.perinet.org/newton-yasalari.html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53</a:t>
            </a:r>
            <a:endParaRPr lang="en-US" sz="105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7F6FE"/>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3" name="Shape 1"/>
          <p:cNvSpPr/>
          <p:nvPr/>
        </p:nvSpPr>
        <p:spPr>
          <a:xfrm>
            <a:off x="822960" y="2011680"/>
            <a:ext cx="1554480" cy="1554480"/>
          </a:xfrm>
          <a:prstGeom prst="ellipse">
            <a:avLst/>
          </a:prstGeom>
          <a:solidFill>
            <a:srgbClr val="5F4BD8"/>
          </a:solidFill>
          <a:ln/>
          <a:effectLst>
            <a:outerShdw sx="100000" sy="100000" kx="0" ky="0" algn="bl" rotWithShape="0" blurRad="177800" dist="50800" dir="5400000">
              <a:srgbClr val="5F4BD8">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8000" b="1" dirty="0">
                <a:solidFill>
                  <a:srgbClr val="FFFFFF"/>
                </a:solidFill>
                <a:latin typeface="Cambria" pitchFamily="34" charset="0"/>
                <a:ea typeface="Cambria" pitchFamily="34" charset="-122"/>
                <a:cs typeface="Cambria" pitchFamily="34" charset="-120"/>
              </a:rPr>
              <a:t>?</a:t>
            </a:r>
            <a:endParaRPr lang="en-US" sz="8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5F4BD8"/>
                </a:solidFill>
                <a:latin typeface="Calibri" pitchFamily="34" charset="0"/>
                <a:ea typeface="Calibri" pitchFamily="34" charset="-122"/>
                <a:cs typeface="Calibri" pitchFamily="34" charset="-120"/>
              </a:rPr>
              <a:t>DÜŞÜN</a:t>
            </a:r>
            <a:endParaRPr lang="en-US" sz="1300" dirty="0"/>
          </a:p>
        </p:txBody>
      </p:sp>
      <p:sp>
        <p:nvSpPr>
          <p:cNvPr id="6" name="Text 4"/>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Topa vurulan 900 N'luk kuvvet 1200 kg'lık otomobile uygulansaydı ivmesi ne olurdu?</a:t>
            </a:r>
            <a:endParaRPr lang="en-US" sz="3200" dirty="0"/>
          </a:p>
        </p:txBody>
      </p:sp>
      <p:sp>
        <p:nvSpPr>
          <p:cNvPr id="7" name="Text 5"/>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06 · Sayılarla hisset: ne kadar kuvvet, ne kadar ivme?</a:t>
            </a:r>
            <a:pPr indent="0" marL="0">
              <a:buNone/>
            </a:pPr>
            <a:r>
              <a:rPr lang="en-US" sz="1200" b="1" dirty="0">
                <a:solidFill>
                  <a:srgbClr val="5F4BD8"/>
                </a:solidFill>
                <a:latin typeface="Calibri" pitchFamily="34" charset="0"/>
                <a:ea typeface="Calibri" pitchFamily="34" charset="-122"/>
                <a:cs typeface="Calibri" pitchFamily="34" charset="-120"/>
              </a:rPr>
              <a:t>     Cevap bir sonraki slaytta</a:t>
            </a:r>
            <a:endParaRPr lang="en-US" sz="1200" dirty="0"/>
          </a:p>
        </p:txBody>
      </p:sp>
      <p:sp>
        <p:nvSpPr>
          <p:cNvPr id="8" name="Shape 6"/>
          <p:cNvSpPr/>
          <p:nvPr/>
        </p:nvSpPr>
        <p:spPr>
          <a:xfrm>
            <a:off x="640080" y="6382512"/>
            <a:ext cx="128016" cy="128016"/>
          </a:xfrm>
          <a:prstGeom prst="roundRect">
            <a:avLst>
              <a:gd name="adj" fmla="val 28571"/>
            </a:avLst>
          </a:prstGeom>
          <a:solidFill>
            <a:srgbClr val="A9E648"/>
          </a:solidFill>
          <a:ln/>
        </p:spPr>
      </p:sp>
      <p:sp>
        <p:nvSpPr>
          <p:cNvPr id="9"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dersler.perinet.org/newton-yasalari.html</a:t>
            </a:r>
            <a:endParaRPr lang="en-US" sz="1050" dirty="0"/>
          </a:p>
        </p:txBody>
      </p:sp>
      <p:sp>
        <p:nvSpPr>
          <p:cNvPr id="10"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54</a:t>
            </a:r>
            <a:endParaRPr lang="en-US" sz="105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3" name="Shape 1"/>
          <p:cNvSpPr/>
          <p:nvPr/>
        </p:nvSpPr>
        <p:spPr>
          <a:xfrm>
            <a:off x="640080" y="457200"/>
            <a:ext cx="493776" cy="493776"/>
          </a:xfrm>
          <a:prstGeom prst="roundRect">
            <a:avLst>
              <a:gd name="adj" fmla="val 25926"/>
            </a:avLst>
          </a:prstGeom>
          <a:solidFill>
            <a:srgbClr val="5F4BD8"/>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Topa vurulan 900 N'luk kuvvet 1200 kg'lık otomobile uygulansaydı ivmesi ne olurdu?</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5F4BD8"/>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a = 900 / 1200 = </a:t>
            </a:r>
            <a:pPr indent="0" marL="0">
              <a:lnSpc>
                <a:spcPct val="125000"/>
              </a:lnSpc>
              <a:buNone/>
            </a:pPr>
            <a:r>
              <a:rPr lang="en-US" sz="2400" b="1" dirty="0">
                <a:solidFill>
                  <a:srgbClr val="5F4BD8"/>
                </a:solidFill>
                <a:latin typeface="Calibri" pitchFamily="34" charset="0"/>
                <a:ea typeface="Calibri" pitchFamily="34" charset="-122"/>
                <a:cs typeface="Calibri" pitchFamily="34" charset="-120"/>
              </a:rPr>
              <a:t>0,75 m/s²</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Aynı kuvvet topa, hızını saniyede 2000 m/s artıracak büyüklükte bir ivme verirken otomobilin hızını saniyede ancak 0,75 m/s artırır. Aradaki fark tamamen kütleden gelir.</a:t>
            </a:r>
            <a:endParaRPr lang="en-US" sz="24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dersler.perinet.org/newton-yasalari.html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55</a:t>
            </a:r>
            <a:endParaRPr lang="en-US" sz="105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07</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3. yasa: etki–tepki</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1 / 6</a:t>
            </a:r>
            <a:endParaRPr lang="en-US" sz="950" dirty="0"/>
          </a:p>
        </p:txBody>
      </p:sp>
      <p:sp>
        <p:nvSpPr>
          <p:cNvPr id="6" name="Text 4"/>
          <p:cNvSpPr txBox="1"/>
          <p:nvPr/>
        </p:nvSpPr>
        <p:spPr>
          <a:xfrm>
            <a:off x="640080" y="1325880"/>
            <a:ext cx="10911535" cy="1339596"/>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b="1" dirty="0">
                <a:solidFill>
                  <a:srgbClr val="0E1426"/>
                </a:solidFill>
                <a:latin typeface="Calibri" pitchFamily="34" charset="0"/>
                <a:ea typeface="Calibri" pitchFamily="34" charset="-122"/>
                <a:cs typeface="Calibri" pitchFamily="34" charset="-120"/>
              </a:rPr>
              <a:t>Bir cisim ikinci bir cisme kuvvet uyguladığında, ikinci cisim de birinciye eşit büyüklükte ve zıt yönde bir kuvvet uygular.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Kuvvetler yalnız başına var olmaz; daima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çiftler hâlinde</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ortaya çıkar.</a:t>
            </a:r>
            <a:endParaRPr lang="en-US" sz="2200" dirty="0"/>
          </a:p>
        </p:txBody>
      </p:sp>
      <p:sp>
        <p:nvSpPr>
          <p:cNvPr id="7" name="Shape 5"/>
          <p:cNvSpPr/>
          <p:nvPr/>
        </p:nvSpPr>
        <p:spPr>
          <a:xfrm>
            <a:off x="640080" y="2866644"/>
            <a:ext cx="1938528" cy="585216"/>
          </a:xfrm>
          <a:prstGeom prst="roundRect">
            <a:avLst>
              <a:gd name="adj" fmla="val 18750"/>
            </a:avLst>
          </a:prstGeom>
          <a:solidFill>
            <a:srgbClr val="EEF2FC"/>
          </a:solidFill>
          <a:ln w="9525">
            <a:solidFill>
              <a:srgbClr val="CBD7F4"/>
            </a:solidFill>
            <a:prstDash val="solid"/>
          </a:ln>
        </p:spPr>
      </p:sp>
      <p:sp>
        <p:nvSpPr>
          <p:cNvPr id="8" name="Text 6"/>
          <p:cNvSpPr txBox="1"/>
          <p:nvPr/>
        </p:nvSpPr>
        <p:spPr>
          <a:xfrm>
            <a:off x="640080" y="2866644"/>
            <a:ext cx="1938528" cy="585216"/>
          </a:xfrm>
          <a:prstGeom prst="rect">
            <a:avLst/>
          </a:prstGeom>
          <a:noFill/>
          <a:ln/>
        </p:spPr>
        <p:txBody>
          <a:bodyPr wrap="square" lIns="0" tIns="0" rIns="0" bIns="0" rtlCol="0" anchor="ctr"/>
          <a:lstStyle/>
          <a:p>
            <a:pPr algn="ctr" indent="0" marL="0">
              <a:buNone/>
            </a:pPr>
            <a:r>
              <a:rPr lang="en-US" sz="1800" b="1" dirty="0">
                <a:solidFill>
                  <a:srgbClr val="2957D4"/>
                </a:solidFill>
                <a:latin typeface="Courier New" pitchFamily="34" charset="0"/>
                <a:ea typeface="Courier New" pitchFamily="34" charset="-122"/>
                <a:cs typeface="Courier New" pitchFamily="34" charset="-120"/>
              </a:rPr>
              <a:t>F₁₂ = −F₂₁</a:t>
            </a:r>
            <a:endParaRPr lang="en-US" sz="1800" dirty="0"/>
          </a:p>
        </p:txBody>
      </p:sp>
      <p:sp>
        <p:nvSpPr>
          <p:cNvPr id="10" name="Shape 7"/>
          <p:cNvSpPr/>
          <p:nvPr/>
        </p:nvSpPr>
        <p:spPr>
          <a:xfrm>
            <a:off x="640080" y="6382512"/>
            <a:ext cx="128016" cy="128016"/>
          </a:xfrm>
          <a:prstGeom prst="roundRect">
            <a:avLst>
              <a:gd name="adj" fmla="val 28571"/>
            </a:avLst>
          </a:prstGeom>
          <a:solidFill>
            <a:srgbClr val="A9E648"/>
          </a:solidFill>
          <a:ln/>
        </p:spPr>
      </p:sp>
      <p:sp>
        <p:nvSpPr>
          <p:cNvPr id="11" name="Text 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dersler.perinet.org/newton-yasalari.html</a:t>
            </a:r>
            <a:endParaRPr lang="en-US" sz="1050" dirty="0"/>
          </a:p>
        </p:txBody>
      </p:sp>
      <p:sp>
        <p:nvSpPr>
          <p:cNvPr id="12" name="Text 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56</a:t>
            </a:r>
            <a:endParaRPr lang="en-US" sz="105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07</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3. yasa: etki–tepki</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2 / 6</a:t>
            </a:r>
            <a:endParaRPr lang="en-US" sz="950" dirty="0"/>
          </a:p>
        </p:txBody>
      </p:sp>
      <p:sp>
        <p:nvSpPr>
          <p:cNvPr id="6" name="Text 4"/>
          <p:cNvSpPr txBox="1"/>
          <p:nvPr/>
        </p:nvSpPr>
        <p:spPr>
          <a:xfrm>
            <a:off x="640080" y="1325880"/>
            <a:ext cx="10911535" cy="1837944"/>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Yürümek:</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ayağın yeri geriye iter, yer seni ileriye iter.</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Roket:</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gazı aşağı iter, gaz roketi yukarı iter.</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Tüfeğin geri tepmesi:</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mermiye uygulanan kuvvetin tepkisi.</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Yüzmek:</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suyu geriye itersin, su seni ileriye iter.</a:t>
            </a:r>
            <a:endParaRPr lang="en-US" sz="21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dersler.perinet.org/newton-yasalari.html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57</a:t>
            </a:r>
            <a:endParaRPr lang="en-US" sz="105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07</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3. yasa: etki–tepki</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3 / 6</a:t>
            </a:r>
            <a:endParaRPr lang="en-US" sz="950" dirty="0"/>
          </a:p>
        </p:txBody>
      </p:sp>
      <p:sp>
        <p:nvSpPr>
          <p:cNvPr id="6" name="Shape 4"/>
          <p:cNvSpPr/>
          <p:nvPr/>
        </p:nvSpPr>
        <p:spPr>
          <a:xfrm>
            <a:off x="640080" y="1325880"/>
            <a:ext cx="10911535" cy="1664208"/>
          </a:xfrm>
          <a:prstGeom prst="roundRect">
            <a:avLst>
              <a:gd name="adj" fmla="val 7692"/>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658368" y="1490472"/>
            <a:ext cx="54864" cy="1335024"/>
          </a:xfrm>
          <a:prstGeom prst="rect">
            <a:avLst/>
          </a:prstGeom>
          <a:solidFill>
            <a:srgbClr val="A56209"/>
          </a:solidFill>
          <a:ln/>
        </p:spPr>
      </p:sp>
      <p:sp>
        <p:nvSpPr>
          <p:cNvPr id="8" name="Text 6"/>
          <p:cNvSpPr txBox="1"/>
          <p:nvPr/>
        </p:nvSpPr>
        <p:spPr>
          <a:xfrm>
            <a:off x="950976" y="1453896"/>
            <a:ext cx="10399471" cy="1408176"/>
          </a:xfrm>
          <a:prstGeom prst="rect">
            <a:avLst/>
          </a:prstGeom>
          <a:noFill/>
          <a:ln/>
        </p:spPr>
        <p:txBody>
          <a:bodyPr wrap="square" lIns="0" tIns="0" rIns="0" bIns="0" rtlCol="0" anchor="ctr"/>
          <a:lstStyle/>
          <a:p>
            <a:pPr indent="0" marL="0">
              <a:lnSpc>
                <a:spcPct val="114000"/>
              </a:lnSpc>
              <a:buNone/>
            </a:pPr>
            <a:r>
              <a:rPr lang="en-US" sz="1800" b="1" dirty="0">
                <a:solidFill>
                  <a:srgbClr val="0E1426"/>
                </a:solidFill>
                <a:latin typeface="Calibri" pitchFamily="34" charset="0"/>
                <a:ea typeface="Calibri" pitchFamily="34" charset="-122"/>
                <a:cs typeface="Calibri" pitchFamily="34" charset="-120"/>
              </a:rPr>
              <a:t>Etki ve tepki birbirini dengelemez!</a:t>
            </a:r>
            <a:pPr indent="0" marL="0">
              <a:lnSpc>
                <a:spcPct val="114000"/>
              </a:lnSpc>
              <a:buNone/>
            </a:pPr>
            <a:r>
              <a:rPr lang="en-US" sz="1800" dirty="0">
                <a:solidFill>
                  <a:srgbClr val="0E1426"/>
                </a:solidFill>
                <a:latin typeface="Calibri" pitchFamily="34" charset="0"/>
                <a:ea typeface="Calibri" pitchFamily="34" charset="-122"/>
                <a:cs typeface="Calibri" pitchFamily="34" charset="-120"/>
              </a:rPr>
              <a:t> Çünkü </a:t>
            </a:r>
            <a:pPr indent="0" marL="0">
              <a:lnSpc>
                <a:spcPct val="114000"/>
              </a:lnSpc>
              <a:buNone/>
            </a:pPr>
            <a:r>
              <a:rPr lang="en-US" sz="1800" b="1" dirty="0">
                <a:solidFill>
                  <a:srgbClr val="0E1426"/>
                </a:solidFill>
                <a:latin typeface="Calibri" pitchFamily="34" charset="0"/>
                <a:ea typeface="Calibri" pitchFamily="34" charset="-122"/>
                <a:cs typeface="Calibri" pitchFamily="34" charset="-120"/>
              </a:rPr>
              <a:t>farklı cisimlere</a:t>
            </a:r>
            <a:pPr indent="0" marL="0">
              <a:lnSpc>
                <a:spcPct val="114000"/>
              </a:lnSpc>
              <a:buNone/>
            </a:pPr>
            <a:r>
              <a:rPr lang="en-US" sz="1800" dirty="0">
                <a:solidFill>
                  <a:srgbClr val="0E1426"/>
                </a:solidFill>
                <a:latin typeface="Calibri" pitchFamily="34" charset="0"/>
                <a:ea typeface="Calibri" pitchFamily="34" charset="-122"/>
                <a:cs typeface="Calibri" pitchFamily="34" charset="-120"/>
              </a:rPr>
              <a:t> etki ederler. Dengeleme ancak </a:t>
            </a:r>
            <a:pPr indent="0" marL="0">
              <a:lnSpc>
                <a:spcPct val="114000"/>
              </a:lnSpc>
              <a:buNone/>
            </a:pPr>
            <a:r>
              <a:rPr lang="en-US" sz="1800" b="1" dirty="0">
                <a:solidFill>
                  <a:srgbClr val="0E1426"/>
                </a:solidFill>
                <a:latin typeface="Calibri" pitchFamily="34" charset="0"/>
                <a:ea typeface="Calibri" pitchFamily="34" charset="-122"/>
                <a:cs typeface="Calibri" pitchFamily="34" charset="-120"/>
              </a:rPr>
              <a:t>aynı cisme</a:t>
            </a:r>
            <a:pPr indent="0" marL="0">
              <a:lnSpc>
                <a:spcPct val="114000"/>
              </a:lnSpc>
              <a:buNone/>
            </a:pPr>
            <a:r>
              <a:rPr lang="en-US" sz="1800" dirty="0">
                <a:solidFill>
                  <a:srgbClr val="0E1426"/>
                </a:solidFill>
                <a:latin typeface="Calibri" pitchFamily="34" charset="0"/>
                <a:ea typeface="Calibri" pitchFamily="34" charset="-122"/>
                <a:cs typeface="Calibri" pitchFamily="34" charset="-120"/>
              </a:rPr>
              <a:t> etki eden kuvvetler arasında olur. Masadaki kitapta ağırlığı dengeleyen şey, kitabın masaya uyguladığı kuvvet değil, masanın kitaba uyguladığı normal kuvvettir.</a:t>
            </a:r>
            <a:endParaRPr lang="en-US" sz="1800" dirty="0"/>
          </a:p>
        </p:txBody>
      </p:sp>
      <p:sp>
        <p:nvSpPr>
          <p:cNvPr id="10" name="Shape 7"/>
          <p:cNvSpPr/>
          <p:nvPr/>
        </p:nvSpPr>
        <p:spPr>
          <a:xfrm>
            <a:off x="640080" y="6382512"/>
            <a:ext cx="128016" cy="128016"/>
          </a:xfrm>
          <a:prstGeom prst="roundRect">
            <a:avLst>
              <a:gd name="adj" fmla="val 28571"/>
            </a:avLst>
          </a:prstGeom>
          <a:solidFill>
            <a:srgbClr val="A9E648"/>
          </a:solidFill>
          <a:ln/>
        </p:spPr>
      </p:sp>
      <p:sp>
        <p:nvSpPr>
          <p:cNvPr id="11" name="Text 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dersler.perinet.org/newton-yasalari.html</a:t>
            </a:r>
            <a:endParaRPr lang="en-US" sz="1050" dirty="0"/>
          </a:p>
        </p:txBody>
      </p:sp>
      <p:sp>
        <p:nvSpPr>
          <p:cNvPr id="12" name="Text 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58</a:t>
            </a:r>
            <a:endParaRPr lang="en-US" sz="105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07</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3. yasa: etki–tepki</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4 / 6</a:t>
            </a:r>
            <a:endParaRPr lang="en-US" sz="950" dirty="0"/>
          </a:p>
        </p:txBody>
      </p:sp>
      <p:sp>
        <p:nvSpPr>
          <p:cNvPr id="6" name="Text 4"/>
          <p:cNvSpPr txBox="1"/>
          <p:nvPr/>
        </p:nvSpPr>
        <p:spPr>
          <a:xfrm>
            <a:off x="640080" y="1325880"/>
            <a:ext cx="10911535" cy="3064764"/>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Kuvvetler eşit olsa da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sonuçları eşit olmak zorunda değildir</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a = F/m olduğu için küçük kütleli cisim daha büyük ivme kazanır.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Sayfadaki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03</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numaralı deneyde 2 kg'lık araba, 6 kg'lık arabanın 3 katı hızla ayrılır.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Buzda birbirini iten iki patenci de böyledir.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En uç örnek Dünya ile elmadır: Dünya elmayı 1 N ile çekerken elma da Dünya'yı 1 N ile çeker.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dersler.perinet.org/newton-yasalari.html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59</a:t>
            </a:r>
            <a:endParaRPr lang="en-US" sz="105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07</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3. yasa: etki–tepki</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5 / 6</a:t>
            </a:r>
            <a:endParaRPr lang="en-US" sz="950" dirty="0"/>
          </a:p>
        </p:txBody>
      </p:sp>
      <p:sp>
        <p:nvSpPr>
          <p:cNvPr id="6" name="Text 4"/>
          <p:cNvSpPr txBox="1"/>
          <p:nvPr/>
        </p:nvSpPr>
        <p:spPr>
          <a:xfrm>
            <a:off x="640080" y="1325880"/>
            <a:ext cx="10911535" cy="862584"/>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Ama Dünya'nın kütlesi yaklaşık 6·10²⁴ kg olduğu için kazandığı ivme ölçülemeyecek kadar küçüktür; düşen hep elma gibi görünür.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dersler.perinet.org/newton-yasalari.html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60</a:t>
            </a:r>
            <a:endParaRPr lang="en-US" sz="105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07</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3. yasa: etki–tepki</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6 / 6</a:t>
            </a:r>
            <a:endParaRPr lang="en-US" sz="950" dirty="0"/>
          </a:p>
        </p:txBody>
      </p:sp>
      <p:sp>
        <p:nvSpPr>
          <p:cNvPr id="6" name="Shape 4"/>
          <p:cNvSpPr/>
          <p:nvPr/>
        </p:nvSpPr>
        <p:spPr>
          <a:xfrm>
            <a:off x="1429908" y="1234440"/>
            <a:ext cx="9331879" cy="3880485"/>
          </a:xfrm>
          <a:prstGeom prst="roundRect">
            <a:avLst>
              <a:gd name="adj" fmla="val 3770"/>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7" name="Image 0" descr="/tmp/claude-1000/-opt-dersler/8a8328c3-841c-44fa-b76f-82572d338d3d/scratchpad/d10/sek/newton-yasalari-04.png">    </p:cNvPr>
          <p:cNvPicPr>
            <a:picLocks noChangeAspect="1"/>
          </p:cNvPicPr>
          <p:nvPr/>
        </p:nvPicPr>
        <p:blipFill>
          <a:blip r:embed="rId1"/>
          <a:stretch>
            <a:fillRect/>
          </a:stretch>
        </p:blipFill>
        <p:spPr>
          <a:xfrm>
            <a:off x="1658508" y="1325880"/>
            <a:ext cx="8874679" cy="3697605"/>
          </a:xfrm>
          <a:prstGeom prst="rect">
            <a:avLst/>
          </a:prstGeom>
        </p:spPr>
      </p:pic>
      <p:sp>
        <p:nvSpPr>
          <p:cNvPr id="8" name="Text 5"/>
          <p:cNvSpPr txBox="1"/>
          <p:nvPr/>
        </p:nvSpPr>
        <p:spPr>
          <a:xfrm>
            <a:off x="1249528" y="5297805"/>
            <a:ext cx="9692640" cy="846963"/>
          </a:xfrm>
          <a:prstGeom prst="rect">
            <a:avLst/>
          </a:prstGeom>
          <a:noFill/>
          <a:ln/>
        </p:spPr>
        <p:txBody>
          <a:bodyPr wrap="square" lIns="0" tIns="0" rIns="0" bIns="0" rtlCol="0" anchor="t"/>
          <a:lstStyle/>
          <a:p>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İki araba birbirini iter: arabaya etkiyen kuvvetlerin büyüklüğü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her zaman eşittir</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yönleri zıttır. Ama sonuçları eşit değildir — a = F/m olduğu için 2 kg'lık araba 6 kg'lık arabanın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üç katı</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ivme kazanır. Bu iki kuvvet birbirini dengeleyemez, çünkü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farklı cisimlere</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etki ederler.</a:t>
            </a:r>
            <a:endParaRPr lang="en-US" sz="1350" dirty="0"/>
          </a:p>
        </p:txBody>
      </p:sp>
      <p:sp>
        <p:nvSpPr>
          <p:cNvPr id="10" name="Shape 6"/>
          <p:cNvSpPr/>
          <p:nvPr/>
        </p:nvSpPr>
        <p:spPr>
          <a:xfrm>
            <a:off x="640080" y="6382512"/>
            <a:ext cx="128016" cy="128016"/>
          </a:xfrm>
          <a:prstGeom prst="roundRect">
            <a:avLst>
              <a:gd name="adj" fmla="val 28571"/>
            </a:avLst>
          </a:prstGeom>
          <a:solidFill>
            <a:srgbClr val="A9E648"/>
          </a:solidFill>
          <a:ln/>
        </p:spPr>
      </p:sp>
      <p:sp>
        <p:nvSpPr>
          <p:cNvPr id="11"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dersler.perinet.org/newton-yasalari.html</a:t>
            </a:r>
            <a:endParaRPr lang="en-US" sz="1050" dirty="0"/>
          </a:p>
        </p:txBody>
      </p:sp>
      <p:sp>
        <p:nvSpPr>
          <p:cNvPr id="12"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61</a:t>
            </a:r>
            <a:endParaRPr lang="en-US" sz="105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07</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3. yasa: etki–tepki</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6" name="Shape 4"/>
          <p:cNvSpPr/>
          <p:nvPr/>
        </p:nvSpPr>
        <p:spPr>
          <a:xfrm>
            <a:off x="1005840" y="1691640"/>
            <a:ext cx="10180015" cy="3840480"/>
          </a:xfrm>
          <a:prstGeom prst="roundRect">
            <a:avLst>
              <a:gd name="adj" fmla="val 523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042416" y="2148840"/>
            <a:ext cx="73152" cy="2926080"/>
          </a:xfrm>
          <a:prstGeom prst="rect">
            <a:avLst/>
          </a:prstGeom>
          <a:solidFill>
            <a:srgbClr val="2957D4"/>
          </a:solidFill>
          <a:ln/>
        </p:spPr>
      </p:sp>
      <p:sp>
        <p:nvSpPr>
          <p:cNvPr id="8" name="Text 6"/>
          <p:cNvSpPr txBox="1"/>
          <p:nvPr/>
        </p:nvSpPr>
        <p:spPr>
          <a:xfrm>
            <a:off x="1554480" y="1984248"/>
            <a:ext cx="9082735" cy="292608"/>
          </a:xfrm>
          <a:prstGeom prst="rect">
            <a:avLst/>
          </a:prstGeom>
          <a:noFill/>
          <a:ln/>
        </p:spPr>
        <p:txBody>
          <a:bodyPr wrap="square" lIns="0" tIns="0" rIns="0" bIns="0" rtlCol="0" anchor="ctr"/>
          <a:lstStyle/>
          <a:p>
            <a:pPr indent="0" marL="0">
              <a:buNone/>
            </a:pPr>
            <a:r>
              <a:rPr lang="en-US" sz="1200" b="1" spc="300" kern="0" dirty="0">
                <a:solidFill>
                  <a:srgbClr val="2957D4"/>
                </a:solidFill>
                <a:latin typeface="Calibri" pitchFamily="34" charset="0"/>
                <a:ea typeface="Calibri" pitchFamily="34" charset="-122"/>
                <a:cs typeface="Calibri" pitchFamily="34" charset="-120"/>
              </a:rPr>
              <a:t>KISACA  ·  BU BÖLÜMDE ÖĞRENDİK</a:t>
            </a:r>
            <a:endParaRPr lang="en-US" sz="1200" dirty="0"/>
          </a:p>
        </p:txBody>
      </p:sp>
      <p:sp>
        <p:nvSpPr>
          <p:cNvPr id="9" name="Text 7"/>
          <p:cNvSpPr txBox="1"/>
          <p:nvPr/>
        </p:nvSpPr>
        <p:spPr>
          <a:xfrm>
            <a:off x="1554480" y="2423160"/>
            <a:ext cx="9082735" cy="2743200"/>
          </a:xfrm>
          <a:prstGeom prst="rect">
            <a:avLst/>
          </a:prstGeom>
          <a:noFill/>
          <a:ln/>
        </p:spPr>
        <p:txBody>
          <a:bodyPr wrap="square" lIns="0" tIns="0" rIns="0" bIns="0" rtlCol="0" anchor="ctr"/>
          <a:lstStyle/>
          <a:p>
            <a:pPr indent="0" marL="0">
              <a:lnSpc>
                <a:spcPct val="125000"/>
              </a:lnSpc>
              <a:buNone/>
            </a:pPr>
            <a:r>
              <a:rPr lang="en-US" sz="2800" dirty="0">
                <a:solidFill>
                  <a:srgbClr val="0E1426"/>
                </a:solidFill>
                <a:latin typeface="Cambria" pitchFamily="34" charset="0"/>
                <a:ea typeface="Cambria" pitchFamily="34" charset="-122"/>
                <a:cs typeface="Cambria" pitchFamily="34" charset="-120"/>
              </a:rPr>
              <a:t>Kuvvetler daima eşit büyüklükte, zıt yönlü çiftler hâlinde ortaya çıkar. Etki ve tepki farklı cisimlere etki ettiği için birbirini dengelemez; sonuçları kütleye göre farklıdır.</a:t>
            </a:r>
            <a:endParaRPr lang="en-US" sz="28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dersler.perinet.org/newton-yasalari.html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62</a:t>
            </a:r>
            <a:endParaRPr lang="en-US" sz="105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bg>
      <p:bgPr>
        <a:solidFill>
          <a:srgbClr val="F7F6FE"/>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3" name="Shape 1"/>
          <p:cNvSpPr/>
          <p:nvPr/>
        </p:nvSpPr>
        <p:spPr>
          <a:xfrm>
            <a:off x="822960" y="2011680"/>
            <a:ext cx="1554480" cy="1554480"/>
          </a:xfrm>
          <a:prstGeom prst="ellipse">
            <a:avLst/>
          </a:prstGeom>
          <a:solidFill>
            <a:srgbClr val="5F4BD8"/>
          </a:solidFill>
          <a:ln/>
          <a:effectLst>
            <a:outerShdw sx="100000" sy="100000" kx="0" ky="0" algn="bl" rotWithShape="0" blurRad="177800" dist="50800" dir="5400000">
              <a:srgbClr val="5F4BD8">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8000" b="1" dirty="0">
                <a:solidFill>
                  <a:srgbClr val="FFFFFF"/>
                </a:solidFill>
                <a:latin typeface="Cambria" pitchFamily="34" charset="0"/>
                <a:ea typeface="Cambria" pitchFamily="34" charset="-122"/>
                <a:cs typeface="Cambria" pitchFamily="34" charset="-120"/>
              </a:rPr>
              <a:t>?</a:t>
            </a:r>
            <a:endParaRPr lang="en-US" sz="8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5F4BD8"/>
                </a:solidFill>
                <a:latin typeface="Calibri" pitchFamily="34" charset="0"/>
                <a:ea typeface="Calibri" pitchFamily="34" charset="-122"/>
                <a:cs typeface="Calibri" pitchFamily="34" charset="-120"/>
              </a:rPr>
              <a:t>DÜŞÜN</a:t>
            </a:r>
            <a:endParaRPr lang="en-US" sz="1300" dirty="0"/>
          </a:p>
        </p:txBody>
      </p:sp>
      <p:sp>
        <p:nvSpPr>
          <p:cNvPr id="6" name="Text 4"/>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At arabayı çektiği kadar araba da atı geri çekiyorsa, ikisi birlikte nasıl hızlanabilir?</a:t>
            </a:r>
            <a:endParaRPr lang="en-US" sz="3200" dirty="0"/>
          </a:p>
        </p:txBody>
      </p:sp>
      <p:sp>
        <p:nvSpPr>
          <p:cNvPr id="7" name="Text 5"/>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07 · 3. yasa: etki–tepki</a:t>
            </a:r>
            <a:pPr indent="0" marL="0">
              <a:buNone/>
            </a:pPr>
            <a:r>
              <a:rPr lang="en-US" sz="1200" b="1" dirty="0">
                <a:solidFill>
                  <a:srgbClr val="5F4BD8"/>
                </a:solidFill>
                <a:latin typeface="Calibri" pitchFamily="34" charset="0"/>
                <a:ea typeface="Calibri" pitchFamily="34" charset="-122"/>
                <a:cs typeface="Calibri" pitchFamily="34" charset="-120"/>
              </a:rPr>
              <a:t>     Cevap bir sonraki slaytta</a:t>
            </a:r>
            <a:endParaRPr lang="en-US" sz="1200" dirty="0"/>
          </a:p>
        </p:txBody>
      </p:sp>
      <p:sp>
        <p:nvSpPr>
          <p:cNvPr id="8" name="Shape 6"/>
          <p:cNvSpPr/>
          <p:nvPr/>
        </p:nvSpPr>
        <p:spPr>
          <a:xfrm>
            <a:off x="640080" y="6382512"/>
            <a:ext cx="128016" cy="128016"/>
          </a:xfrm>
          <a:prstGeom prst="roundRect">
            <a:avLst>
              <a:gd name="adj" fmla="val 28571"/>
            </a:avLst>
          </a:prstGeom>
          <a:solidFill>
            <a:srgbClr val="A9E648"/>
          </a:solidFill>
          <a:ln/>
        </p:spPr>
      </p:sp>
      <p:sp>
        <p:nvSpPr>
          <p:cNvPr id="9"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dersler.perinet.org/newton-yasalari.html</a:t>
            </a:r>
            <a:endParaRPr lang="en-US" sz="1050" dirty="0"/>
          </a:p>
        </p:txBody>
      </p:sp>
      <p:sp>
        <p:nvSpPr>
          <p:cNvPr id="10"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63</a:t>
            </a:r>
            <a:endParaRPr lang="en-US" sz="105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3" name="Shape 1"/>
          <p:cNvSpPr/>
          <p:nvPr/>
        </p:nvSpPr>
        <p:spPr>
          <a:xfrm>
            <a:off x="640080" y="457200"/>
            <a:ext cx="493776" cy="493776"/>
          </a:xfrm>
          <a:prstGeom prst="roundRect">
            <a:avLst>
              <a:gd name="adj" fmla="val 25926"/>
            </a:avLst>
          </a:prstGeom>
          <a:solidFill>
            <a:srgbClr val="5F4BD8"/>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At arabayı çektiği kadar araba da atı geri çekiyorsa, ikisi birlikte nasıl hızlanabilir?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5F4BD8"/>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Çünkü bu iki kuvvet </a:t>
            </a:r>
            <a:pPr indent="0" marL="0">
              <a:lnSpc>
                <a:spcPct val="125000"/>
              </a:lnSpc>
              <a:buNone/>
            </a:pPr>
            <a:r>
              <a:rPr lang="en-US" sz="2400" b="1" dirty="0">
                <a:solidFill>
                  <a:srgbClr val="5F4BD8"/>
                </a:solidFill>
                <a:latin typeface="Calibri" pitchFamily="34" charset="0"/>
                <a:ea typeface="Calibri" pitchFamily="34" charset="-122"/>
                <a:cs typeface="Calibri" pitchFamily="34" charset="-120"/>
              </a:rPr>
              <a:t>farklı cisimlere</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etki eder ve birbirini götürmez. Atı ileri götüren, toynaklarıyla yeri geriye itmesine karşılık yerin ona uyguladığı ileri yönlü kuvvettir; bu kuvvet arabanın geri çekişinden büyükse at hızlanır. Araba da atın çekişi sürtünmeden büyük olduğu için hızlanır.</a:t>
            </a:r>
            <a:endParaRPr lang="en-US" sz="24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dersler.perinet.org/newton-yasalari.html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64</a:t>
            </a:r>
            <a:endParaRPr lang="en-US" sz="105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08</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Serbest cisim diyagramı</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1 / 6</a:t>
            </a:r>
            <a:endParaRPr lang="en-US" sz="950" dirty="0"/>
          </a:p>
        </p:txBody>
      </p:sp>
      <p:sp>
        <p:nvSpPr>
          <p:cNvPr id="6" name="Text 4"/>
          <p:cNvSpPr txBox="1"/>
          <p:nvPr/>
        </p:nvSpPr>
        <p:spPr>
          <a:xfrm>
            <a:off x="640080" y="1325880"/>
            <a:ext cx="10911535" cy="862584"/>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Dinamik problemlerinin tamamı aynı yöntemle çözülür: cismi yalnız bırak, üzerine etki eden kuvvetleri çiz, sonra ΣF = m·a yaz.</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dersler.perinet.org/newton-yasalari.html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65</a:t>
            </a:r>
            <a:endParaRPr lang="en-US" sz="105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08</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Serbest cisim diyagramı</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2 / 6</a:t>
            </a:r>
            <a:endParaRPr lang="en-US" sz="950" dirty="0"/>
          </a:p>
        </p:txBody>
      </p:sp>
      <p:sp>
        <p:nvSpPr>
          <p:cNvPr id="6" name="Text 4"/>
          <p:cNvSpPr txBox="1"/>
          <p:nvPr/>
        </p:nvSpPr>
        <p:spPr>
          <a:xfrm>
            <a:off x="640080" y="1325880"/>
            <a:ext cx="10911535" cy="3310128"/>
          </a:xfrm>
          <a:prstGeom prst="rect">
            <a:avLst/>
          </a:prstGeom>
          <a:noFill/>
          <a:ln/>
        </p:spPr>
        <p:txBody>
          <a:bodyPr wrap="square" lIns="0" tIns="0" rIns="0" bIns="0" rtlCol="0" anchor="t"/>
          <a:lstStyle/>
          <a:p>
            <a:pPr marL="228600" indent="-228600">
              <a:lnSpc>
                <a:spcPct val="115000"/>
              </a:lnSpc>
              <a:spcAft>
                <a:spcPts val="800"/>
              </a:spcAft>
              <a:buSzPct val="100000"/>
              <a:buFont typeface="+mj-lt"/>
              <a:buAutoNum type="arabicPeriod" startAt="1"/>
            </a:pPr>
            <a:r>
              <a:rPr lang="en-US" sz="2100" b="1" dirty="0">
                <a:solidFill>
                  <a:srgbClr val="0E1426"/>
                </a:solidFill>
                <a:latin typeface="Calibri" pitchFamily="34" charset="0"/>
                <a:ea typeface="Calibri" pitchFamily="34" charset="-122"/>
                <a:cs typeface="Calibri" pitchFamily="34" charset="-120"/>
              </a:rPr>
              <a:t>Cismi seç:</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hangi cismi inceleyeceğine karar ver; onu bir nokta ya da kutu olarak çiz.</a:t>
            </a:r>
            <a:endParaRPr lang="en-US" sz="2100" dirty="0"/>
          </a:p>
          <a:p>
            <a:pPr marL="228600" indent="-228600">
              <a:lnSpc>
                <a:spcPct val="115000"/>
              </a:lnSpc>
              <a:spcAft>
                <a:spcPts val="800"/>
              </a:spcAft>
              <a:buSzPct val="100000"/>
              <a:buFont typeface="+mj-lt"/>
              <a:buAutoNum type="arabicPeriod" startAt="1"/>
            </a:pPr>
            <a:r>
              <a:rPr lang="en-US" sz="2100" b="1" dirty="0">
                <a:solidFill>
                  <a:srgbClr val="0E1426"/>
                </a:solidFill>
                <a:latin typeface="Calibri" pitchFamily="34" charset="0"/>
                <a:ea typeface="Calibri" pitchFamily="34" charset="-122"/>
                <a:cs typeface="Calibri" pitchFamily="34" charset="-120"/>
              </a:rPr>
              <a:t>Kuvvetleri çiz:</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yalnızca o cisme etki edenleri: ağırlık (daima aşağı), normal kuvvet (yüzeye dik), sürtünme (kaymaya zıt), ip gerilmesi, uygulanan kuvvet.</a:t>
            </a:r>
            <a:endParaRPr lang="en-US" sz="2100" dirty="0"/>
          </a:p>
          <a:p>
            <a:pPr marL="228600" indent="-228600">
              <a:lnSpc>
                <a:spcPct val="115000"/>
              </a:lnSpc>
              <a:spcAft>
                <a:spcPts val="800"/>
              </a:spcAft>
              <a:buSzPct val="100000"/>
              <a:buFont typeface="+mj-lt"/>
              <a:buAutoNum type="arabicPeriod" startAt="1"/>
            </a:pPr>
            <a:r>
              <a:rPr lang="en-US" sz="2100" b="1" dirty="0">
                <a:solidFill>
                  <a:srgbClr val="0E1426"/>
                </a:solidFill>
                <a:latin typeface="Calibri" pitchFamily="34" charset="0"/>
                <a:ea typeface="Calibri" pitchFamily="34" charset="-122"/>
                <a:cs typeface="Calibri" pitchFamily="34" charset="-120"/>
              </a:rPr>
              <a:t>Fazlasını çizme:</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cismin </a:t>
            </a:r>
            <a:pPr indent="0" marL="0">
              <a:lnSpc>
                <a:spcPct val="115000"/>
              </a:lnSpc>
              <a:buNone/>
            </a:pPr>
            <a:r>
              <a:rPr lang="en-US" sz="2100" i="1" dirty="0">
                <a:solidFill>
                  <a:srgbClr val="0E1426"/>
                </a:solidFill>
                <a:latin typeface="Calibri" pitchFamily="34" charset="0"/>
                <a:ea typeface="Calibri" pitchFamily="34" charset="-122"/>
                <a:cs typeface="Calibri" pitchFamily="34" charset="-120"/>
              </a:rPr>
              <a:t>başkalarına</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uyguladığı kuvvetler diyagrama girmez.</a:t>
            </a:r>
            <a:endParaRPr lang="en-US" sz="2100" dirty="0"/>
          </a:p>
          <a:p>
            <a:pPr marL="228600" indent="-228600">
              <a:lnSpc>
                <a:spcPct val="115000"/>
              </a:lnSpc>
              <a:spcAft>
                <a:spcPts val="800"/>
              </a:spcAft>
              <a:buSzPct val="100000"/>
              <a:buFont typeface="+mj-lt"/>
              <a:buAutoNum type="arabicPeriod" startAt="1"/>
            </a:pPr>
            <a:r>
              <a:rPr lang="en-US" sz="2100" b="1" dirty="0">
                <a:solidFill>
                  <a:srgbClr val="0E1426"/>
                </a:solidFill>
                <a:latin typeface="Calibri" pitchFamily="34" charset="0"/>
                <a:ea typeface="Calibri" pitchFamily="34" charset="-122"/>
                <a:cs typeface="Calibri" pitchFamily="34" charset="-120"/>
              </a:rPr>
              <a:t>Eksen kur:</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hareket doğrultusunu pozitif seç; eğik kuvvetleri bileşenlerine ayır.</a:t>
            </a:r>
            <a:endParaRPr lang="en-US" sz="2100" dirty="0"/>
          </a:p>
        </p:txBody>
      </p:sp>
      <p:sp>
        <p:nvSpPr>
          <p:cNvPr id="7" name="Text 5"/>
          <p:cNvSpPr txBox="1"/>
          <p:nvPr/>
        </p:nvSpPr>
        <p:spPr>
          <a:xfrm>
            <a:off x="640080" y="4837176"/>
            <a:ext cx="10911535" cy="459486"/>
          </a:xfrm>
          <a:prstGeom prst="rect">
            <a:avLst/>
          </a:prstGeom>
          <a:noFill/>
          <a:ln/>
        </p:spPr>
        <p:txBody>
          <a:bodyPr wrap="square" lIns="0" tIns="0" rIns="0" bIns="0" rtlCol="0" anchor="t"/>
          <a:lstStyle/>
          <a:p>
            <a:pPr marL="279400" indent="-279400">
              <a:lnSpc>
                <a:spcPct val="115000"/>
              </a:lnSpc>
              <a:spcAft>
                <a:spcPts val="800"/>
              </a:spcAft>
              <a:buSzPct val="100000"/>
              <a:buFont typeface="+mj-lt"/>
              <a:buAutoNum type="arabicPeriod" startAt="5"/>
            </a:pPr>
            <a:r>
              <a:rPr lang="en-US" sz="2100" b="1" dirty="0">
                <a:solidFill>
                  <a:srgbClr val="0E1426"/>
                </a:solidFill>
                <a:latin typeface="Calibri" pitchFamily="34" charset="0"/>
                <a:ea typeface="Calibri" pitchFamily="34" charset="-122"/>
                <a:cs typeface="Calibri" pitchFamily="34" charset="-120"/>
              </a:rPr>
              <a:t>Yasayı yaz:</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her eksen için ΣF = m·a yaz ve bilinmeyenleri çöz.</a:t>
            </a:r>
            <a:endParaRPr lang="en-US" sz="2100" dirty="0"/>
          </a:p>
        </p:txBody>
      </p:sp>
      <p:sp>
        <p:nvSpPr>
          <p:cNvPr id="9" name="Shape 6"/>
          <p:cNvSpPr/>
          <p:nvPr/>
        </p:nvSpPr>
        <p:spPr>
          <a:xfrm>
            <a:off x="640080" y="6382512"/>
            <a:ext cx="128016" cy="128016"/>
          </a:xfrm>
          <a:prstGeom prst="roundRect">
            <a:avLst>
              <a:gd name="adj" fmla="val 28571"/>
            </a:avLst>
          </a:prstGeom>
          <a:solidFill>
            <a:srgbClr val="A9E648"/>
          </a:solidFill>
          <a:ln/>
        </p:spPr>
      </p:sp>
      <p:sp>
        <p:nvSpPr>
          <p:cNvPr id="10"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dersler.perinet.org/newton-yasalari.html</a:t>
            </a:r>
            <a:endParaRPr lang="en-US" sz="1050" dirty="0"/>
          </a:p>
        </p:txBody>
      </p:sp>
      <p:sp>
        <p:nvSpPr>
          <p:cNvPr id="11"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66</a:t>
            </a:r>
            <a:endParaRPr lang="en-US" sz="105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08</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Serbest cisim diyagramı</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3 / 6</a:t>
            </a:r>
            <a:endParaRPr lang="en-US" sz="950" dirty="0"/>
          </a:p>
        </p:txBody>
      </p:sp>
      <p:sp>
        <p:nvSpPr>
          <p:cNvPr id="6" name="Shape 4"/>
          <p:cNvSpPr/>
          <p:nvPr/>
        </p:nvSpPr>
        <p:spPr>
          <a:xfrm>
            <a:off x="640080" y="1325880"/>
            <a:ext cx="10911535" cy="1348740"/>
          </a:xfrm>
          <a:prstGeom prst="roundRect">
            <a:avLst>
              <a:gd name="adj" fmla="val 9492"/>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658368" y="1490472"/>
            <a:ext cx="54864" cy="1019556"/>
          </a:xfrm>
          <a:prstGeom prst="rect">
            <a:avLst/>
          </a:prstGeom>
          <a:solidFill>
            <a:srgbClr val="3C8C21"/>
          </a:solidFill>
          <a:ln/>
        </p:spPr>
      </p:sp>
      <p:sp>
        <p:nvSpPr>
          <p:cNvPr id="8" name="Text 6"/>
          <p:cNvSpPr txBox="1"/>
          <p:nvPr/>
        </p:nvSpPr>
        <p:spPr>
          <a:xfrm>
            <a:off x="950976" y="1453896"/>
            <a:ext cx="10399471" cy="1092708"/>
          </a:xfrm>
          <a:prstGeom prst="rect">
            <a:avLst/>
          </a:prstGeom>
          <a:noFill/>
          <a:ln/>
        </p:spPr>
        <p:txBody>
          <a:bodyPr wrap="square" lIns="0" tIns="0" rIns="0" bIns="0" rtlCol="0" anchor="ctr"/>
          <a:lstStyle/>
          <a:p>
            <a:pPr indent="0" marL="0">
              <a:lnSpc>
                <a:spcPct val="114000"/>
              </a:lnSpc>
              <a:buNone/>
            </a:pPr>
            <a:r>
              <a:rPr lang="en-US" sz="1800" b="1" dirty="0">
                <a:solidFill>
                  <a:srgbClr val="0E1426"/>
                </a:solidFill>
                <a:latin typeface="Calibri" pitchFamily="34" charset="0"/>
                <a:ea typeface="Calibri" pitchFamily="34" charset="-122"/>
                <a:cs typeface="Calibri" pitchFamily="34" charset="-120"/>
              </a:rPr>
              <a:t>Hareketin olmadığı eksende ivme sıfırdır.</a:t>
            </a:r>
            <a:pPr indent="0" marL="0">
              <a:lnSpc>
                <a:spcPct val="114000"/>
              </a:lnSpc>
              <a:buNone/>
            </a:pPr>
            <a:r>
              <a:rPr lang="en-US" sz="1800" dirty="0">
                <a:solidFill>
                  <a:srgbClr val="0E1426"/>
                </a:solidFill>
                <a:latin typeface="Calibri" pitchFamily="34" charset="0"/>
                <a:ea typeface="Calibri" pitchFamily="34" charset="-122"/>
                <a:cs typeface="Calibri" pitchFamily="34" charset="-120"/>
              </a:rPr>
              <a:t> Yatay zeminde giden bir kutu için düşeyde N − G = 0 → N = m·g. Ama asansörde ya da eğik düzlemde bu eşitlik bozulur; her seferinde yeniden yazmak gerekir.</a:t>
            </a:r>
            <a:endParaRPr lang="en-US" sz="1800" dirty="0"/>
          </a:p>
        </p:txBody>
      </p:sp>
      <p:sp>
        <p:nvSpPr>
          <p:cNvPr id="10" name="Shape 7"/>
          <p:cNvSpPr/>
          <p:nvPr/>
        </p:nvSpPr>
        <p:spPr>
          <a:xfrm>
            <a:off x="640080" y="6382512"/>
            <a:ext cx="128016" cy="128016"/>
          </a:xfrm>
          <a:prstGeom prst="roundRect">
            <a:avLst>
              <a:gd name="adj" fmla="val 28571"/>
            </a:avLst>
          </a:prstGeom>
          <a:solidFill>
            <a:srgbClr val="A9E648"/>
          </a:solidFill>
          <a:ln/>
        </p:spPr>
      </p:sp>
      <p:sp>
        <p:nvSpPr>
          <p:cNvPr id="11" name="Text 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dersler.perinet.org/newton-yasalari.html</a:t>
            </a:r>
            <a:endParaRPr lang="en-US" sz="1050" dirty="0"/>
          </a:p>
        </p:txBody>
      </p:sp>
      <p:sp>
        <p:nvSpPr>
          <p:cNvPr id="12" name="Text 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67</a:t>
            </a:r>
            <a:endParaRPr lang="en-US" sz="1050"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08</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Serbest cisim diyagramı</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4 / 6</a:t>
            </a:r>
            <a:endParaRPr lang="en-US" sz="950" dirty="0"/>
          </a:p>
        </p:txBody>
      </p:sp>
      <p:sp>
        <p:nvSpPr>
          <p:cNvPr id="6" name="Text 4"/>
          <p:cNvSpPr txBox="1"/>
          <p:nvPr/>
        </p:nvSpPr>
        <p:spPr>
          <a:xfrm>
            <a:off x="640080" y="1325880"/>
            <a:ext cx="10911535" cy="2202180"/>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Aşağıdaki çizimdeki gibi ip yatayla α açısı yaparak çekiyorsa F kuvvetinin iki etkisi vardır.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Yatay bileşeni F·cosα kutuyu ileri çeker; düşey bileşeni F·sinα ise kutuyu biraz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yukarı kaldırır</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ve zeminin kutuya bastırması azalır.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Düşey eksende ivme olmadığı için N + F·sinα − G = 0 yazılır:</a:t>
            </a:r>
            <a:endParaRPr lang="en-US" sz="2200" dirty="0"/>
          </a:p>
        </p:txBody>
      </p:sp>
      <p:sp>
        <p:nvSpPr>
          <p:cNvPr id="7" name="Shape 5"/>
          <p:cNvSpPr/>
          <p:nvPr/>
        </p:nvSpPr>
        <p:spPr>
          <a:xfrm>
            <a:off x="640080" y="3729228"/>
            <a:ext cx="2772461" cy="585216"/>
          </a:xfrm>
          <a:prstGeom prst="roundRect">
            <a:avLst>
              <a:gd name="adj" fmla="val 18750"/>
            </a:avLst>
          </a:prstGeom>
          <a:solidFill>
            <a:srgbClr val="EEF2FC"/>
          </a:solidFill>
          <a:ln w="9525">
            <a:solidFill>
              <a:srgbClr val="CBD7F4"/>
            </a:solidFill>
            <a:prstDash val="solid"/>
          </a:ln>
        </p:spPr>
      </p:sp>
      <p:sp>
        <p:nvSpPr>
          <p:cNvPr id="8" name="Text 6"/>
          <p:cNvSpPr txBox="1"/>
          <p:nvPr/>
        </p:nvSpPr>
        <p:spPr>
          <a:xfrm>
            <a:off x="640080" y="3729228"/>
            <a:ext cx="2772461" cy="585216"/>
          </a:xfrm>
          <a:prstGeom prst="rect">
            <a:avLst/>
          </a:prstGeom>
          <a:noFill/>
          <a:ln/>
        </p:spPr>
        <p:txBody>
          <a:bodyPr wrap="square" lIns="0" tIns="0" rIns="0" bIns="0" rtlCol="0" anchor="ctr"/>
          <a:lstStyle/>
          <a:p>
            <a:pPr algn="ctr" indent="0" marL="0">
              <a:buNone/>
            </a:pPr>
            <a:r>
              <a:rPr lang="en-US" sz="1800" b="1" dirty="0">
                <a:solidFill>
                  <a:srgbClr val="2957D4"/>
                </a:solidFill>
                <a:latin typeface="Courier New" pitchFamily="34" charset="0"/>
                <a:ea typeface="Courier New" pitchFamily="34" charset="-122"/>
                <a:cs typeface="Courier New" pitchFamily="34" charset="-120"/>
              </a:rPr>
              <a:t>N = m·g − F·sinα</a:t>
            </a:r>
            <a:endParaRPr lang="en-US" sz="1800" dirty="0"/>
          </a:p>
        </p:txBody>
      </p:sp>
      <p:sp>
        <p:nvSpPr>
          <p:cNvPr id="9" name="Shape 7"/>
          <p:cNvSpPr/>
          <p:nvPr/>
        </p:nvSpPr>
        <p:spPr>
          <a:xfrm>
            <a:off x="3558845" y="3729228"/>
            <a:ext cx="3606394" cy="585216"/>
          </a:xfrm>
          <a:prstGeom prst="roundRect">
            <a:avLst>
              <a:gd name="adj" fmla="val 18750"/>
            </a:avLst>
          </a:prstGeom>
          <a:solidFill>
            <a:srgbClr val="EEF2FC"/>
          </a:solidFill>
          <a:ln w="9525">
            <a:solidFill>
              <a:srgbClr val="CBD7F4"/>
            </a:solidFill>
            <a:prstDash val="solid"/>
          </a:ln>
        </p:spPr>
      </p:sp>
      <p:sp>
        <p:nvSpPr>
          <p:cNvPr id="10" name="Text 8"/>
          <p:cNvSpPr txBox="1"/>
          <p:nvPr/>
        </p:nvSpPr>
        <p:spPr>
          <a:xfrm>
            <a:off x="3558845" y="3729228"/>
            <a:ext cx="3606394" cy="585216"/>
          </a:xfrm>
          <a:prstGeom prst="rect">
            <a:avLst/>
          </a:prstGeom>
          <a:noFill/>
          <a:ln/>
        </p:spPr>
        <p:txBody>
          <a:bodyPr wrap="square" lIns="0" tIns="0" rIns="0" bIns="0" rtlCol="0" anchor="ctr"/>
          <a:lstStyle/>
          <a:p>
            <a:pPr algn="ctr" indent="0" marL="0">
              <a:buNone/>
            </a:pPr>
            <a:r>
              <a:rPr lang="en-US" sz="1800" b="1" dirty="0">
                <a:solidFill>
                  <a:srgbClr val="2957D4"/>
                </a:solidFill>
                <a:latin typeface="Courier New" pitchFamily="34" charset="0"/>
                <a:ea typeface="Courier New" pitchFamily="34" charset="-122"/>
                <a:cs typeface="Courier New" pitchFamily="34" charset="-120"/>
              </a:rPr>
              <a:t>ΣFₓ = F·cosα − f = m·a</a:t>
            </a:r>
            <a:endParaRPr lang="en-US" sz="1800" dirty="0"/>
          </a:p>
        </p:txBody>
      </p:sp>
      <p:sp>
        <p:nvSpPr>
          <p:cNvPr id="12" name="Shape 9"/>
          <p:cNvSpPr/>
          <p:nvPr/>
        </p:nvSpPr>
        <p:spPr>
          <a:xfrm>
            <a:off x="640080" y="6382512"/>
            <a:ext cx="128016" cy="128016"/>
          </a:xfrm>
          <a:prstGeom prst="roundRect">
            <a:avLst>
              <a:gd name="adj" fmla="val 28571"/>
            </a:avLst>
          </a:prstGeom>
          <a:solidFill>
            <a:srgbClr val="A9E648"/>
          </a:solidFill>
          <a:ln/>
        </p:spPr>
      </p:sp>
      <p:sp>
        <p:nvSpPr>
          <p:cNvPr id="13" name="Text 10"/>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dersler.perinet.org/newton-yasalari.html</a:t>
            </a:r>
            <a:endParaRPr lang="en-US" sz="1050" dirty="0"/>
          </a:p>
        </p:txBody>
      </p:sp>
      <p:sp>
        <p:nvSpPr>
          <p:cNvPr id="14" name="Text 11"/>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68</a:t>
            </a:r>
            <a:endParaRPr lang="en-US" sz="1050"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08</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Serbest cisim diyagramı</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5 / 6</a:t>
            </a:r>
            <a:endParaRPr lang="en-US" sz="950" dirty="0"/>
          </a:p>
        </p:txBody>
      </p:sp>
      <p:sp>
        <p:nvSpPr>
          <p:cNvPr id="6" name="Text 4"/>
          <p:cNvSpPr txBox="1"/>
          <p:nvPr/>
        </p:nvSpPr>
        <p:spPr>
          <a:xfrm>
            <a:off x="640080" y="1325880"/>
            <a:ext cx="10911535" cy="1339596"/>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Normal kuvvet küçüldüğü için sürtünme de küçülür.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Bir kızağı ya da ağır bir kutuyu ipi yukarı doğru eğik tutarak çekmenin, yere paralel çekmekten daha kolay gelmesinin bir sebebi budur.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dersler.perinet.org/newton-yasalari.html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69</a:t>
            </a:r>
            <a:endParaRPr lang="en-US" sz="1050"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08</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Serbest cisim diyagramı</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6 / 6</a:t>
            </a:r>
            <a:endParaRPr lang="en-US" sz="950" dirty="0"/>
          </a:p>
        </p:txBody>
      </p:sp>
      <p:sp>
        <p:nvSpPr>
          <p:cNvPr id="6" name="Shape 4"/>
          <p:cNvSpPr/>
          <p:nvPr/>
        </p:nvSpPr>
        <p:spPr>
          <a:xfrm>
            <a:off x="2008716" y="1234440"/>
            <a:ext cx="8174263" cy="3880485"/>
          </a:xfrm>
          <a:prstGeom prst="roundRect">
            <a:avLst>
              <a:gd name="adj" fmla="val 3770"/>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7" name="Image 0" descr="/tmp/claude-1000/-opt-dersler/8a8328c3-841c-44fa-b76f-82572d338d3d/scratchpad/d10/sek/newton-yasalari-05.png">    </p:cNvPr>
          <p:cNvPicPr>
            <a:picLocks noChangeAspect="1"/>
          </p:cNvPicPr>
          <p:nvPr/>
        </p:nvPicPr>
        <p:blipFill>
          <a:blip r:embed="rId1"/>
          <a:stretch>
            <a:fillRect/>
          </a:stretch>
        </p:blipFill>
        <p:spPr>
          <a:xfrm>
            <a:off x="2237316" y="1325880"/>
            <a:ext cx="7717063" cy="3697605"/>
          </a:xfrm>
          <a:prstGeom prst="rect">
            <a:avLst/>
          </a:prstGeom>
        </p:spPr>
      </p:pic>
      <p:sp>
        <p:nvSpPr>
          <p:cNvPr id="8" name="Text 5"/>
          <p:cNvSpPr txBox="1"/>
          <p:nvPr/>
        </p:nvSpPr>
        <p:spPr>
          <a:xfrm>
            <a:off x="1249528" y="5297805"/>
            <a:ext cx="9692640" cy="846963"/>
          </a:xfrm>
          <a:prstGeom prst="rect">
            <a:avLst/>
          </a:prstGeom>
          <a:noFill/>
          <a:ln/>
        </p:spPr>
        <p:txBody>
          <a:bodyPr wrap="square" lIns="0" tIns="0" rIns="0" bIns="0" rtlCol="0" anchor="t"/>
          <a:lstStyle/>
          <a:p>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Yöntem her problemde aynı: cismi sahneden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söküp al</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bir nokta olarak çiz ve yalnızca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ona etkiyen</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kuvvetleri koy. Kutunun yere ya da ipe uyguladığı kuvvetler bu diyagrama girmez. Dikkat: ip yukarı doğru çektiği için burada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N &lt; G</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'dir — normal kuvveti otomatik olarak m·g yazmak en sık yapılan hatadır.</a:t>
            </a:r>
            <a:endParaRPr lang="en-US" sz="1350" dirty="0"/>
          </a:p>
        </p:txBody>
      </p:sp>
      <p:sp>
        <p:nvSpPr>
          <p:cNvPr id="10" name="Shape 6"/>
          <p:cNvSpPr/>
          <p:nvPr/>
        </p:nvSpPr>
        <p:spPr>
          <a:xfrm>
            <a:off x="640080" y="6382512"/>
            <a:ext cx="128016" cy="128016"/>
          </a:xfrm>
          <a:prstGeom prst="roundRect">
            <a:avLst>
              <a:gd name="adj" fmla="val 28571"/>
            </a:avLst>
          </a:prstGeom>
          <a:solidFill>
            <a:srgbClr val="A9E648"/>
          </a:solidFill>
          <a:ln/>
        </p:spPr>
      </p:sp>
      <p:sp>
        <p:nvSpPr>
          <p:cNvPr id="11"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dersler.perinet.org/newton-yasalari.html</a:t>
            </a:r>
            <a:endParaRPr lang="en-US" sz="1050" dirty="0"/>
          </a:p>
        </p:txBody>
      </p:sp>
      <p:sp>
        <p:nvSpPr>
          <p:cNvPr id="12"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70</a:t>
            </a:r>
            <a:endParaRPr lang="en-US" sz="1050"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08</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Serbest cisim diyagramı</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6" name="Shape 4"/>
          <p:cNvSpPr/>
          <p:nvPr/>
        </p:nvSpPr>
        <p:spPr>
          <a:xfrm>
            <a:off x="1005840" y="1691640"/>
            <a:ext cx="10180015" cy="3840480"/>
          </a:xfrm>
          <a:prstGeom prst="roundRect">
            <a:avLst>
              <a:gd name="adj" fmla="val 523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042416" y="2148840"/>
            <a:ext cx="73152" cy="2926080"/>
          </a:xfrm>
          <a:prstGeom prst="rect">
            <a:avLst/>
          </a:prstGeom>
          <a:solidFill>
            <a:srgbClr val="2957D4"/>
          </a:solidFill>
          <a:ln/>
        </p:spPr>
      </p:sp>
      <p:sp>
        <p:nvSpPr>
          <p:cNvPr id="8" name="Text 6"/>
          <p:cNvSpPr txBox="1"/>
          <p:nvPr/>
        </p:nvSpPr>
        <p:spPr>
          <a:xfrm>
            <a:off x="1554480" y="1984248"/>
            <a:ext cx="9082735" cy="292608"/>
          </a:xfrm>
          <a:prstGeom prst="rect">
            <a:avLst/>
          </a:prstGeom>
          <a:noFill/>
          <a:ln/>
        </p:spPr>
        <p:txBody>
          <a:bodyPr wrap="square" lIns="0" tIns="0" rIns="0" bIns="0" rtlCol="0" anchor="ctr"/>
          <a:lstStyle/>
          <a:p>
            <a:pPr indent="0" marL="0">
              <a:buNone/>
            </a:pPr>
            <a:r>
              <a:rPr lang="en-US" sz="1200" b="1" spc="300" kern="0" dirty="0">
                <a:solidFill>
                  <a:srgbClr val="2957D4"/>
                </a:solidFill>
                <a:latin typeface="Calibri" pitchFamily="34" charset="0"/>
                <a:ea typeface="Calibri" pitchFamily="34" charset="-122"/>
                <a:cs typeface="Calibri" pitchFamily="34" charset="-120"/>
              </a:rPr>
              <a:t>KISACA  ·  BU BÖLÜMDE ÖĞRENDİK</a:t>
            </a:r>
            <a:endParaRPr lang="en-US" sz="1200" dirty="0"/>
          </a:p>
        </p:txBody>
      </p:sp>
      <p:sp>
        <p:nvSpPr>
          <p:cNvPr id="9" name="Text 7"/>
          <p:cNvSpPr txBox="1"/>
          <p:nvPr/>
        </p:nvSpPr>
        <p:spPr>
          <a:xfrm>
            <a:off x="1554480" y="2423160"/>
            <a:ext cx="9082735" cy="2743200"/>
          </a:xfrm>
          <a:prstGeom prst="rect">
            <a:avLst/>
          </a:prstGeom>
          <a:noFill/>
          <a:ln/>
        </p:spPr>
        <p:txBody>
          <a:bodyPr wrap="square" lIns="0" tIns="0" rIns="0" bIns="0" rtlCol="0" anchor="ctr"/>
          <a:lstStyle/>
          <a:p>
            <a:pPr indent="0" marL="0">
              <a:lnSpc>
                <a:spcPct val="125000"/>
              </a:lnSpc>
              <a:buNone/>
            </a:pPr>
            <a:r>
              <a:rPr lang="en-US" sz="2800" dirty="0">
                <a:solidFill>
                  <a:srgbClr val="0E1426"/>
                </a:solidFill>
                <a:latin typeface="Cambria" pitchFamily="34" charset="0"/>
                <a:ea typeface="Cambria" pitchFamily="34" charset="-122"/>
                <a:cs typeface="Cambria" pitchFamily="34" charset="-120"/>
              </a:rPr>
              <a:t>Cismi yalnız çiz, yalnızca ona etkiyen kuvvetleri koy, eksen seç ve her eksen için ΣF = m·a yaz. Normal kuvveti ezbere m·g yazma; her problemde düşey eksenden yeniden bul.</a:t>
            </a:r>
            <a:endParaRPr lang="en-US" sz="28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dersler.perinet.org/newton-yasalari.html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71</a:t>
            </a:r>
            <a:endParaRPr lang="en-US" sz="1050"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09</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Sürtünme kuvveti</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1 / 6</a:t>
            </a:r>
            <a:endParaRPr lang="en-US" sz="950" dirty="0"/>
          </a:p>
        </p:txBody>
      </p:sp>
      <p:sp>
        <p:nvSpPr>
          <p:cNvPr id="6" name="Text 4"/>
          <p:cNvSpPr txBox="1"/>
          <p:nvPr/>
        </p:nvSpPr>
        <p:spPr>
          <a:xfrm>
            <a:off x="640080" y="1325880"/>
            <a:ext cx="10911535" cy="1339596"/>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Sürtünme, temas hâlindeki yüzeyler arasında,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bağıl kaymaya zıt yönde</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ortaya çıkan kuvvettir.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İki türü vardır:</a:t>
            </a:r>
            <a:endParaRPr lang="en-US" sz="2200" dirty="0"/>
          </a:p>
        </p:txBody>
      </p:sp>
      <p:sp>
        <p:nvSpPr>
          <p:cNvPr id="7" name="Shape 5"/>
          <p:cNvSpPr/>
          <p:nvPr/>
        </p:nvSpPr>
        <p:spPr>
          <a:xfrm>
            <a:off x="640080" y="2866644"/>
            <a:ext cx="3050438" cy="585216"/>
          </a:xfrm>
          <a:prstGeom prst="roundRect">
            <a:avLst>
              <a:gd name="adj" fmla="val 18750"/>
            </a:avLst>
          </a:prstGeom>
          <a:solidFill>
            <a:srgbClr val="EEF2FC"/>
          </a:solidFill>
          <a:ln w="9525">
            <a:solidFill>
              <a:srgbClr val="CBD7F4"/>
            </a:solidFill>
            <a:prstDash val="solid"/>
          </a:ln>
        </p:spPr>
      </p:sp>
      <p:sp>
        <p:nvSpPr>
          <p:cNvPr id="8" name="Text 6"/>
          <p:cNvSpPr txBox="1"/>
          <p:nvPr/>
        </p:nvSpPr>
        <p:spPr>
          <a:xfrm>
            <a:off x="640080" y="2866644"/>
            <a:ext cx="3050438" cy="585216"/>
          </a:xfrm>
          <a:prstGeom prst="rect">
            <a:avLst/>
          </a:prstGeom>
          <a:noFill/>
          <a:ln/>
        </p:spPr>
        <p:txBody>
          <a:bodyPr wrap="square" lIns="0" tIns="0" rIns="0" bIns="0" rtlCol="0" anchor="ctr"/>
          <a:lstStyle/>
          <a:p>
            <a:pPr algn="ctr" indent="0" marL="0">
              <a:buNone/>
            </a:pPr>
            <a:r>
              <a:rPr lang="en-US" sz="1800" b="1" dirty="0">
                <a:solidFill>
                  <a:srgbClr val="2957D4"/>
                </a:solidFill>
                <a:latin typeface="Courier New" pitchFamily="34" charset="0"/>
                <a:ea typeface="Courier New" pitchFamily="34" charset="-122"/>
                <a:cs typeface="Courier New" pitchFamily="34" charset="-120"/>
              </a:rPr>
              <a:t>statik: f ≤ μs · N</a:t>
            </a:r>
            <a:endParaRPr lang="en-US" sz="1800" dirty="0"/>
          </a:p>
        </p:txBody>
      </p:sp>
      <p:sp>
        <p:nvSpPr>
          <p:cNvPr id="9" name="Shape 7"/>
          <p:cNvSpPr/>
          <p:nvPr/>
        </p:nvSpPr>
        <p:spPr>
          <a:xfrm>
            <a:off x="3836822" y="2866644"/>
            <a:ext cx="3189427" cy="585216"/>
          </a:xfrm>
          <a:prstGeom prst="roundRect">
            <a:avLst>
              <a:gd name="adj" fmla="val 18750"/>
            </a:avLst>
          </a:prstGeom>
          <a:solidFill>
            <a:srgbClr val="EEF2FC"/>
          </a:solidFill>
          <a:ln w="9525">
            <a:solidFill>
              <a:srgbClr val="CBD7F4"/>
            </a:solidFill>
            <a:prstDash val="solid"/>
          </a:ln>
        </p:spPr>
      </p:sp>
      <p:sp>
        <p:nvSpPr>
          <p:cNvPr id="10" name="Text 8"/>
          <p:cNvSpPr txBox="1"/>
          <p:nvPr/>
        </p:nvSpPr>
        <p:spPr>
          <a:xfrm>
            <a:off x="3836822" y="2866644"/>
            <a:ext cx="3189427" cy="585216"/>
          </a:xfrm>
          <a:prstGeom prst="rect">
            <a:avLst/>
          </a:prstGeom>
          <a:noFill/>
          <a:ln/>
        </p:spPr>
        <p:txBody>
          <a:bodyPr wrap="square" lIns="0" tIns="0" rIns="0" bIns="0" rtlCol="0" anchor="ctr"/>
          <a:lstStyle/>
          <a:p>
            <a:pPr algn="ctr" indent="0" marL="0">
              <a:buNone/>
            </a:pPr>
            <a:r>
              <a:rPr lang="en-US" sz="1800" b="1" dirty="0">
                <a:solidFill>
                  <a:srgbClr val="2957D4"/>
                </a:solidFill>
                <a:latin typeface="Courier New" pitchFamily="34" charset="0"/>
                <a:ea typeface="Courier New" pitchFamily="34" charset="-122"/>
                <a:cs typeface="Courier New" pitchFamily="34" charset="-120"/>
              </a:rPr>
              <a:t>kinetik: f = μk · N</a:t>
            </a:r>
            <a:endParaRPr lang="en-US" sz="1800" dirty="0"/>
          </a:p>
        </p:txBody>
      </p:sp>
      <p:sp>
        <p:nvSpPr>
          <p:cNvPr id="12" name="Shape 9"/>
          <p:cNvSpPr/>
          <p:nvPr/>
        </p:nvSpPr>
        <p:spPr>
          <a:xfrm>
            <a:off x="640080" y="6382512"/>
            <a:ext cx="128016" cy="128016"/>
          </a:xfrm>
          <a:prstGeom prst="roundRect">
            <a:avLst>
              <a:gd name="adj" fmla="val 28571"/>
            </a:avLst>
          </a:prstGeom>
          <a:solidFill>
            <a:srgbClr val="A9E648"/>
          </a:solidFill>
          <a:ln/>
        </p:spPr>
      </p:sp>
      <p:sp>
        <p:nvSpPr>
          <p:cNvPr id="13" name="Text 10"/>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dersler.perinet.org/newton-yasalari.html</a:t>
            </a:r>
            <a:endParaRPr lang="en-US" sz="1050" dirty="0"/>
          </a:p>
        </p:txBody>
      </p:sp>
      <p:sp>
        <p:nvSpPr>
          <p:cNvPr id="14" name="Text 11"/>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72</a:t>
            </a:r>
            <a:endParaRPr lang="en-US" sz="1050"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09</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Sürtünme kuvveti</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2 / 6</a:t>
            </a:r>
            <a:endParaRPr lang="en-US" sz="950" dirty="0"/>
          </a:p>
        </p:txBody>
      </p:sp>
      <p:sp>
        <p:nvSpPr>
          <p:cNvPr id="6" name="Text 4"/>
          <p:cNvSpPr txBox="1"/>
          <p:nvPr/>
        </p:nvSpPr>
        <p:spPr>
          <a:xfrm>
            <a:off x="640080" y="1325880"/>
            <a:ext cx="10911535" cy="2587752"/>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b="1" dirty="0">
                <a:solidFill>
                  <a:srgbClr val="0E1426"/>
                </a:solidFill>
                <a:latin typeface="Calibri" pitchFamily="34" charset="0"/>
                <a:ea typeface="Calibri" pitchFamily="34" charset="-122"/>
                <a:cs typeface="Calibri" pitchFamily="34" charset="-120"/>
              </a:rPr>
              <a:t>Statik sürtünme</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cisim henüz hareket etmiyorken uygulanan kuvvete </a:t>
            </a:r>
            <a:pPr indent="0" marL="0">
              <a:lnSpc>
                <a:spcPct val="115000"/>
              </a:lnSpc>
              <a:buNone/>
            </a:pPr>
            <a:r>
              <a:rPr lang="en-US" sz="2200" i="1" dirty="0">
                <a:solidFill>
                  <a:srgbClr val="0E1426"/>
                </a:solidFill>
                <a:latin typeface="Calibri" pitchFamily="34" charset="0"/>
                <a:ea typeface="Calibri" pitchFamily="34" charset="-122"/>
                <a:cs typeface="Calibri" pitchFamily="34" charset="-120"/>
              </a:rPr>
              <a:t>eşit büyüklükte</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ortaya çıkar ve onu dengeler; ancak μs·N değerini aşamaz.</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Uygulanan kuvvet bu eşiği geçtiği anda cisim harekete başlar ve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kinetik sürtünme</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devreye girer.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Genellikle μk &lt; μs olduğu için bir cismi hareket ettirmek, hareketini sürdürmekten zordur.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dersler.perinet.org/newton-yasalari.html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73</a:t>
            </a:r>
            <a:endParaRPr lang="en-US" sz="1050"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09</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Sürtünme kuvveti</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3 / 6</a:t>
            </a:r>
            <a:endParaRPr lang="en-US" sz="950" dirty="0"/>
          </a:p>
        </p:txBody>
      </p:sp>
      <p:sp>
        <p:nvSpPr>
          <p:cNvPr id="6" name="Text 4"/>
          <p:cNvSpPr txBox="1"/>
          <p:nvPr/>
        </p:nvSpPr>
        <p:spPr>
          <a:xfrm>
            <a:off x="640080" y="1325880"/>
            <a:ext cx="10911535" cy="1746504"/>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Neye bağlı:</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sürtünme kuvveti normal kuvvete ve yüzey çiftine bağlıdır.</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Neye bağlı değil:</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temas alanına ve (yaklaşık olarak) hıza bağlı değildir.</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Her zaman kötü değil:</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yürümeyi, frenlemeyi, vidanın durmasını sağlayan da sürtünmedir.</a:t>
            </a:r>
            <a:endParaRPr lang="en-US" sz="21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dersler.perinet.org/newton-yasalari.html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74</a:t>
            </a:r>
            <a:endParaRPr lang="en-US" sz="1050"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09</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Sürtünme kuvveti</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4 / 6</a:t>
            </a:r>
            <a:endParaRPr lang="en-US" sz="950" dirty="0"/>
          </a:p>
        </p:txBody>
      </p:sp>
      <p:graphicFrame>
        <p:nvGraphicFramePr>
          <p:cNvPr id="76" name="Table 0"/>
          <p:cNvGraphicFramePr>
            <a:graphicFrameLocks noGrp="1"/>
          </p:cNvGraphicFramePr>
          <p:nvPr>
            <p:extLst>
              <p:ext uri="{D42A27DB-BD31-4B8C-83A1-F6EECF244321}">
                <p14:modId xmlns:p14="http://schemas.microsoft.com/office/powerpoint/2010/main" val="1579011935"/>
              </p:ext>
            </p:extLst>
          </p:nvPr>
        </p:nvGraphicFramePr>
        <p:xfrm>
          <a:off x="640080" y="1325880"/>
          <a:ext cx="10911535" cy="914400"/>
        </p:xfrm>
        <a:graphic>
          <a:graphicData uri="http://schemas.openxmlformats.org/drawingml/2006/table">
            <a:tbl>
              <a:tblPr/>
              <a:tblGrid>
                <a:gridCol w="7039700"/>
                <a:gridCol w="3871835"/>
              </a:tblGrid>
              <a:tr h="418338">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Yüzey çifti</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Yaklaşık μ</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Buz – çelik</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0,03 – 0,05</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Ahşap – ahşap</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0,25 – 0,5</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Lastik – kuru asfalt</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0,7 – 0,9</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bl>
          </a:graphicData>
        </a:graphic>
      </p:graphicFrame>
      <p:sp>
        <p:nvSpPr>
          <p:cNvPr id="8" name="Shape 4"/>
          <p:cNvSpPr/>
          <p:nvPr/>
        </p:nvSpPr>
        <p:spPr>
          <a:xfrm>
            <a:off x="640080" y="6382512"/>
            <a:ext cx="128016" cy="128016"/>
          </a:xfrm>
          <a:prstGeom prst="roundRect">
            <a:avLst>
              <a:gd name="adj" fmla="val 28571"/>
            </a:avLst>
          </a:prstGeom>
          <a:solidFill>
            <a:srgbClr val="A9E648"/>
          </a:solidFill>
          <a:ln/>
        </p:spPr>
      </p:sp>
      <p:sp>
        <p:nvSpPr>
          <p:cNvPr id="9" name="Text 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dersler.perinet.org/newton-yasalari.html</a:t>
            </a:r>
            <a:endParaRPr lang="en-US" sz="1050" dirty="0"/>
          </a:p>
        </p:txBody>
      </p:sp>
      <p:sp>
        <p:nvSpPr>
          <p:cNvPr id="10" name="Text 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75</a:t>
            </a:r>
            <a:endParaRPr lang="en-US" sz="1050"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09</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Sürtünme kuvveti</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5 / 6</a:t>
            </a:r>
            <a:endParaRPr lang="en-US" sz="950" dirty="0"/>
          </a:p>
        </p:txBody>
      </p:sp>
      <p:sp>
        <p:nvSpPr>
          <p:cNvPr id="6" name="Text 4"/>
          <p:cNvSpPr txBox="1"/>
          <p:nvPr/>
        </p:nvSpPr>
        <p:spPr>
          <a:xfrm>
            <a:off x="640080" y="1325880"/>
            <a:ext cx="10911535" cy="2496312"/>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Laboratuvardaki “Kuvvet yetersiz” hazır deneyi statik sürtünmeyi gösterir: 10 kg'lık kutuya 12 N uygulanır, ama zemin en fazla yaklaşık 0,5 · 98 ≈ 49 N'luk sürtünme verebildiği için sürtünme tam 12 N olur ve kutu kıpırdamaz.</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Sürtünmenin ayrıntıları bu ünitenin bir sonraki konusu olan “Sürtünme kuvveti” anlatımında.</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dersler.perinet.org/newton-yasalari.html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76</a:t>
            </a:r>
            <a:endParaRPr lang="en-US" sz="1050"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09</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Sürtünme kuvveti</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6 / 6</a:t>
            </a:r>
            <a:endParaRPr lang="en-US" sz="950" dirty="0"/>
          </a:p>
        </p:txBody>
      </p:sp>
      <p:sp>
        <p:nvSpPr>
          <p:cNvPr id="6" name="Shape 4"/>
          <p:cNvSpPr/>
          <p:nvPr/>
        </p:nvSpPr>
        <p:spPr>
          <a:xfrm>
            <a:off x="1429908" y="1234440"/>
            <a:ext cx="9331879" cy="3880485"/>
          </a:xfrm>
          <a:prstGeom prst="roundRect">
            <a:avLst>
              <a:gd name="adj" fmla="val 3770"/>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7" name="Image 0" descr="/tmp/claude-1000/-opt-dersler/8a8328c3-841c-44fa-b76f-82572d338d3d/scratchpad/d10/sek/newton-yasalari-06.png">    </p:cNvPr>
          <p:cNvPicPr>
            <a:picLocks noChangeAspect="1"/>
          </p:cNvPicPr>
          <p:nvPr/>
        </p:nvPicPr>
        <p:blipFill>
          <a:blip r:embed="rId1"/>
          <a:stretch>
            <a:fillRect/>
          </a:stretch>
        </p:blipFill>
        <p:spPr>
          <a:xfrm>
            <a:off x="1658508" y="1325880"/>
            <a:ext cx="8874679" cy="3697605"/>
          </a:xfrm>
          <a:prstGeom prst="rect">
            <a:avLst/>
          </a:prstGeom>
        </p:spPr>
      </p:pic>
      <p:sp>
        <p:nvSpPr>
          <p:cNvPr id="8" name="Text 5"/>
          <p:cNvSpPr txBox="1"/>
          <p:nvPr/>
        </p:nvSpPr>
        <p:spPr>
          <a:xfrm>
            <a:off x="1249528" y="5297805"/>
            <a:ext cx="9692640" cy="846963"/>
          </a:xfrm>
          <a:prstGeom prst="rect">
            <a:avLst/>
          </a:prstGeom>
          <a:noFill/>
          <a:ln/>
        </p:spPr>
        <p:txBody>
          <a:bodyPr wrap="square" lIns="0" tIns="0" rIns="0" bIns="0" rtlCol="0" anchor="t"/>
          <a:lstStyle/>
          <a:p>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Statik sürtünme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uygulanan kuvvetle birlikte büyür</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ve onu tam olarak dengeler — bu yüzden mavi kısım 45°'lik bir doğrudur. Ama μs·N eşiğini aşamaz; o noktada cisim kurtulur ve sürtünme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daha küçük</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olan kinetik değerine düşer. Bir eşyayı yerinden oynatmanın, sonra itmekten daha zor olmasının sebebi budur.</a:t>
            </a:r>
            <a:endParaRPr lang="en-US" sz="1350" dirty="0"/>
          </a:p>
        </p:txBody>
      </p:sp>
      <p:sp>
        <p:nvSpPr>
          <p:cNvPr id="10" name="Shape 6"/>
          <p:cNvSpPr/>
          <p:nvPr/>
        </p:nvSpPr>
        <p:spPr>
          <a:xfrm>
            <a:off x="640080" y="6382512"/>
            <a:ext cx="128016" cy="128016"/>
          </a:xfrm>
          <a:prstGeom prst="roundRect">
            <a:avLst>
              <a:gd name="adj" fmla="val 28571"/>
            </a:avLst>
          </a:prstGeom>
          <a:solidFill>
            <a:srgbClr val="A9E648"/>
          </a:solidFill>
          <a:ln/>
        </p:spPr>
      </p:sp>
      <p:sp>
        <p:nvSpPr>
          <p:cNvPr id="11"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dersler.perinet.org/newton-yasalari.html</a:t>
            </a:r>
            <a:endParaRPr lang="en-US" sz="1050" dirty="0"/>
          </a:p>
        </p:txBody>
      </p:sp>
      <p:sp>
        <p:nvSpPr>
          <p:cNvPr id="12"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77</a:t>
            </a:r>
            <a:endParaRPr lang="en-US" sz="1050"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09</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Sürtünme kuvveti</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6" name="Shape 4"/>
          <p:cNvSpPr/>
          <p:nvPr/>
        </p:nvSpPr>
        <p:spPr>
          <a:xfrm>
            <a:off x="1005840" y="1691640"/>
            <a:ext cx="10180015" cy="3840480"/>
          </a:xfrm>
          <a:prstGeom prst="roundRect">
            <a:avLst>
              <a:gd name="adj" fmla="val 523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042416" y="2148840"/>
            <a:ext cx="73152" cy="2926080"/>
          </a:xfrm>
          <a:prstGeom prst="rect">
            <a:avLst/>
          </a:prstGeom>
          <a:solidFill>
            <a:srgbClr val="2957D4"/>
          </a:solidFill>
          <a:ln/>
        </p:spPr>
      </p:sp>
      <p:sp>
        <p:nvSpPr>
          <p:cNvPr id="8" name="Text 6"/>
          <p:cNvSpPr txBox="1"/>
          <p:nvPr/>
        </p:nvSpPr>
        <p:spPr>
          <a:xfrm>
            <a:off x="1554480" y="1984248"/>
            <a:ext cx="9082735" cy="292608"/>
          </a:xfrm>
          <a:prstGeom prst="rect">
            <a:avLst/>
          </a:prstGeom>
          <a:noFill/>
          <a:ln/>
        </p:spPr>
        <p:txBody>
          <a:bodyPr wrap="square" lIns="0" tIns="0" rIns="0" bIns="0" rtlCol="0" anchor="ctr"/>
          <a:lstStyle/>
          <a:p>
            <a:pPr indent="0" marL="0">
              <a:buNone/>
            </a:pPr>
            <a:r>
              <a:rPr lang="en-US" sz="1200" b="1" spc="300" kern="0" dirty="0">
                <a:solidFill>
                  <a:srgbClr val="2957D4"/>
                </a:solidFill>
                <a:latin typeface="Calibri" pitchFamily="34" charset="0"/>
                <a:ea typeface="Calibri" pitchFamily="34" charset="-122"/>
                <a:cs typeface="Calibri" pitchFamily="34" charset="-120"/>
              </a:rPr>
              <a:t>KISACA  ·  BU BÖLÜMDE ÖĞRENDİK</a:t>
            </a:r>
            <a:endParaRPr lang="en-US" sz="1200" dirty="0"/>
          </a:p>
        </p:txBody>
      </p:sp>
      <p:sp>
        <p:nvSpPr>
          <p:cNvPr id="9" name="Text 7"/>
          <p:cNvSpPr txBox="1"/>
          <p:nvPr/>
        </p:nvSpPr>
        <p:spPr>
          <a:xfrm>
            <a:off x="1554480" y="2423160"/>
            <a:ext cx="9082735" cy="2743200"/>
          </a:xfrm>
          <a:prstGeom prst="rect">
            <a:avLst/>
          </a:prstGeom>
          <a:noFill/>
          <a:ln/>
        </p:spPr>
        <p:txBody>
          <a:bodyPr wrap="square" lIns="0" tIns="0" rIns="0" bIns="0" rtlCol="0" anchor="ctr"/>
          <a:lstStyle/>
          <a:p>
            <a:pPr indent="0" marL="0">
              <a:lnSpc>
                <a:spcPct val="125000"/>
              </a:lnSpc>
              <a:buNone/>
            </a:pPr>
            <a:r>
              <a:rPr lang="en-US" sz="2800" dirty="0">
                <a:solidFill>
                  <a:srgbClr val="0E1426"/>
                </a:solidFill>
                <a:latin typeface="Cambria" pitchFamily="34" charset="0"/>
                <a:ea typeface="Cambria" pitchFamily="34" charset="-122"/>
                <a:cs typeface="Cambria" pitchFamily="34" charset="-120"/>
              </a:rPr>
              <a:t>Statik sürtünme uygulanan kuvveti μs·N eşiğine kadar tam dengeler; eşik aşılınca cisim kayar ve sürtünme daha küçük olan μk·N değerine düşer.</a:t>
            </a:r>
            <a:endParaRPr lang="en-US" sz="28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dersler.perinet.org/newton-yasalari.html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78</a:t>
            </a:r>
            <a:endParaRPr lang="en-US" sz="1050"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bg>
      <p:bgPr>
        <a:solidFill>
          <a:srgbClr val="F7F6FE"/>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3" name="Shape 1"/>
          <p:cNvSpPr/>
          <p:nvPr/>
        </p:nvSpPr>
        <p:spPr>
          <a:xfrm>
            <a:off x="822960" y="2011680"/>
            <a:ext cx="1554480" cy="1554480"/>
          </a:xfrm>
          <a:prstGeom prst="ellipse">
            <a:avLst/>
          </a:prstGeom>
          <a:solidFill>
            <a:srgbClr val="5F4BD8"/>
          </a:solidFill>
          <a:ln/>
          <a:effectLst>
            <a:outerShdw sx="100000" sy="100000" kx="0" ky="0" algn="bl" rotWithShape="0" blurRad="177800" dist="50800" dir="5400000">
              <a:srgbClr val="5F4BD8">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8000" b="1" dirty="0">
                <a:solidFill>
                  <a:srgbClr val="FFFFFF"/>
                </a:solidFill>
                <a:latin typeface="Cambria" pitchFamily="34" charset="0"/>
                <a:ea typeface="Cambria" pitchFamily="34" charset="-122"/>
                <a:cs typeface="Cambria" pitchFamily="34" charset="-120"/>
              </a:rPr>
              <a:t>?</a:t>
            </a:r>
            <a:endParaRPr lang="en-US" sz="8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5F4BD8"/>
                </a:solidFill>
                <a:latin typeface="Calibri" pitchFamily="34" charset="0"/>
                <a:ea typeface="Calibri" pitchFamily="34" charset="-122"/>
                <a:cs typeface="Calibri" pitchFamily="34" charset="-120"/>
              </a:rPr>
              <a:t>DÜŞÜN</a:t>
            </a:r>
            <a:endParaRPr lang="en-US" sz="1300" dirty="0"/>
          </a:p>
        </p:txBody>
      </p:sp>
      <p:sp>
        <p:nvSpPr>
          <p:cNvPr id="6" name="Text 4"/>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Duran ağır bir dolabı 100 N ile itiyorsun ama kıpırdamıyor. Dolaba etki eden sürtünme kuvveti kaç newtondur?</a:t>
            </a:r>
            <a:endParaRPr lang="en-US" sz="3200" dirty="0"/>
          </a:p>
        </p:txBody>
      </p:sp>
      <p:sp>
        <p:nvSpPr>
          <p:cNvPr id="7" name="Text 5"/>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09 · Sürtünme kuvveti</a:t>
            </a:r>
            <a:pPr indent="0" marL="0">
              <a:buNone/>
            </a:pPr>
            <a:r>
              <a:rPr lang="en-US" sz="1200" b="1" dirty="0">
                <a:solidFill>
                  <a:srgbClr val="5F4BD8"/>
                </a:solidFill>
                <a:latin typeface="Calibri" pitchFamily="34" charset="0"/>
                <a:ea typeface="Calibri" pitchFamily="34" charset="-122"/>
                <a:cs typeface="Calibri" pitchFamily="34" charset="-120"/>
              </a:rPr>
              <a:t>     Cevap bir sonraki slaytta</a:t>
            </a:r>
            <a:endParaRPr lang="en-US" sz="1200" dirty="0"/>
          </a:p>
        </p:txBody>
      </p:sp>
      <p:sp>
        <p:nvSpPr>
          <p:cNvPr id="8" name="Shape 6"/>
          <p:cNvSpPr/>
          <p:nvPr/>
        </p:nvSpPr>
        <p:spPr>
          <a:xfrm>
            <a:off x="640080" y="6382512"/>
            <a:ext cx="128016" cy="128016"/>
          </a:xfrm>
          <a:prstGeom prst="roundRect">
            <a:avLst>
              <a:gd name="adj" fmla="val 28571"/>
            </a:avLst>
          </a:prstGeom>
          <a:solidFill>
            <a:srgbClr val="A9E648"/>
          </a:solidFill>
          <a:ln/>
        </p:spPr>
      </p:sp>
      <p:sp>
        <p:nvSpPr>
          <p:cNvPr id="9"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dersler.perinet.org/newton-yasalari.html</a:t>
            </a:r>
            <a:endParaRPr lang="en-US" sz="1050" dirty="0"/>
          </a:p>
        </p:txBody>
      </p:sp>
      <p:sp>
        <p:nvSpPr>
          <p:cNvPr id="10"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79</a:t>
            </a:r>
            <a:endParaRPr lang="en-US" sz="1050"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3" name="Shape 1"/>
          <p:cNvSpPr/>
          <p:nvPr/>
        </p:nvSpPr>
        <p:spPr>
          <a:xfrm>
            <a:off x="640080" y="457200"/>
            <a:ext cx="493776" cy="493776"/>
          </a:xfrm>
          <a:prstGeom prst="roundRect">
            <a:avLst>
              <a:gd name="adj" fmla="val 25926"/>
            </a:avLst>
          </a:prstGeom>
          <a:solidFill>
            <a:srgbClr val="5F4BD8"/>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Duran ağır bir dolabı 100 N ile itiyorsun ama kıpırdamıyor. Dolaba etki eden sürtünme kuvveti kaç newtondur?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5F4BD8"/>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Tam </a:t>
            </a:r>
            <a:pPr indent="0" marL="0">
              <a:lnSpc>
                <a:spcPct val="125000"/>
              </a:lnSpc>
              <a:buNone/>
            </a:pPr>
            <a:r>
              <a:rPr lang="en-US" sz="2400" b="1" dirty="0">
                <a:solidFill>
                  <a:srgbClr val="5F4BD8"/>
                </a:solidFill>
                <a:latin typeface="Calibri" pitchFamily="34" charset="0"/>
                <a:ea typeface="Calibri" pitchFamily="34" charset="-122"/>
                <a:cs typeface="Calibri" pitchFamily="34" charset="-120"/>
              </a:rPr>
              <a:t>100 N</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Dolap durgun kaldığına göre net kuvvet sıfırdır; statik sürtünme uygulanan kuvvete eşit büyüklükte ve zıt yönde oluşur. μs·N değeri 100 N'dan büyük olabilir, ama sürtünme yalnızca gerektiği kadarını üretir.</a:t>
            </a:r>
            <a:endParaRPr lang="en-US" sz="24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dersler.perinet.org/newton-yasalari.html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80</a:t>
            </a:r>
            <a:endParaRPr lang="en-US" sz="1050"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10</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Ağırlık, normal kuvvet ve asansör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1 / 7</a:t>
            </a:r>
            <a:endParaRPr lang="en-US" sz="950" dirty="0"/>
          </a:p>
        </p:txBody>
      </p:sp>
      <p:sp>
        <p:nvSpPr>
          <p:cNvPr id="6" name="Text 4"/>
          <p:cNvSpPr txBox="1"/>
          <p:nvPr/>
        </p:nvSpPr>
        <p:spPr>
          <a:xfrm>
            <a:off x="640080" y="1325880"/>
            <a:ext cx="10911535" cy="1816608"/>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b="1" dirty="0">
                <a:solidFill>
                  <a:srgbClr val="0E1426"/>
                </a:solidFill>
                <a:latin typeface="Calibri" pitchFamily="34" charset="0"/>
                <a:ea typeface="Calibri" pitchFamily="34" charset="-122"/>
                <a:cs typeface="Calibri" pitchFamily="34" charset="-120"/>
              </a:rPr>
              <a:t>Ağırlık</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kütleye etki eden çekim kuvvetidir: G = m·g, daima aşağı yöndedir.</a:t>
            </a:r>
            <a:endParaRPr lang="en-US" sz="2200" dirty="0"/>
          </a:p>
          <a:p>
            <a:pPr marL="203200" indent="-203200">
              <a:lnSpc>
                <a:spcPct val="115000"/>
              </a:lnSpc>
              <a:spcAft>
                <a:spcPts val="800"/>
              </a:spcAft>
              <a:buSzPct val="100000"/>
              <a:buChar char="▪"/>
            </a:pPr>
            <a:r>
              <a:rPr lang="en-US" sz="2200" b="1" dirty="0">
                <a:solidFill>
                  <a:srgbClr val="0E1426"/>
                </a:solidFill>
                <a:latin typeface="Calibri" pitchFamily="34" charset="0"/>
                <a:ea typeface="Calibri" pitchFamily="34" charset="-122"/>
                <a:cs typeface="Calibri" pitchFamily="34" charset="-120"/>
              </a:rPr>
              <a:t>Normal kuvvet</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ise yüzeyin cisme uyguladığı, yüzeye dik tepki kuvvetidir.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Normal kuvvet </a:t>
            </a:r>
            <a:pPr indent="0" marL="0">
              <a:lnSpc>
                <a:spcPct val="115000"/>
              </a:lnSpc>
              <a:buNone/>
            </a:pPr>
            <a:r>
              <a:rPr lang="en-US" sz="2200" i="1" dirty="0">
                <a:solidFill>
                  <a:srgbClr val="0E1426"/>
                </a:solidFill>
                <a:latin typeface="Calibri" pitchFamily="34" charset="0"/>
                <a:ea typeface="Calibri" pitchFamily="34" charset="-122"/>
                <a:cs typeface="Calibri" pitchFamily="34" charset="-120"/>
              </a:rPr>
              <a:t>her zaman</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ağırlığa eşit değildir.</a:t>
            </a:r>
            <a:endParaRPr lang="en-US" sz="2200" dirty="0"/>
          </a:p>
        </p:txBody>
      </p:sp>
      <p:sp>
        <p:nvSpPr>
          <p:cNvPr id="7" name="Shape 5"/>
          <p:cNvSpPr/>
          <p:nvPr/>
        </p:nvSpPr>
        <p:spPr>
          <a:xfrm>
            <a:off x="640080" y="3343656"/>
            <a:ext cx="3328416" cy="585216"/>
          </a:xfrm>
          <a:prstGeom prst="roundRect">
            <a:avLst>
              <a:gd name="adj" fmla="val 18750"/>
            </a:avLst>
          </a:prstGeom>
          <a:solidFill>
            <a:srgbClr val="EEF2FC"/>
          </a:solidFill>
          <a:ln w="9525">
            <a:solidFill>
              <a:srgbClr val="CBD7F4"/>
            </a:solidFill>
            <a:prstDash val="solid"/>
          </a:ln>
        </p:spPr>
      </p:sp>
      <p:sp>
        <p:nvSpPr>
          <p:cNvPr id="8" name="Text 6"/>
          <p:cNvSpPr txBox="1"/>
          <p:nvPr/>
        </p:nvSpPr>
        <p:spPr>
          <a:xfrm>
            <a:off x="640080" y="3343656"/>
            <a:ext cx="3328416" cy="585216"/>
          </a:xfrm>
          <a:prstGeom prst="rect">
            <a:avLst/>
          </a:prstGeom>
          <a:noFill/>
          <a:ln/>
        </p:spPr>
        <p:txBody>
          <a:bodyPr wrap="square" lIns="0" tIns="0" rIns="0" bIns="0" rtlCol="0" anchor="ctr"/>
          <a:lstStyle/>
          <a:p>
            <a:pPr algn="ctr" indent="0" marL="0">
              <a:buNone/>
            </a:pPr>
            <a:r>
              <a:rPr lang="en-US" sz="1800" b="1" dirty="0">
                <a:solidFill>
                  <a:srgbClr val="2957D4"/>
                </a:solidFill>
                <a:latin typeface="Courier New" pitchFamily="34" charset="0"/>
                <a:ea typeface="Courier New" pitchFamily="34" charset="-122"/>
                <a:cs typeface="Courier New" pitchFamily="34" charset="-120"/>
              </a:rPr>
              <a:t>yatay zemin: N = m·g</a:t>
            </a:r>
            <a:endParaRPr lang="en-US" sz="1800" dirty="0"/>
          </a:p>
        </p:txBody>
      </p:sp>
      <p:sp>
        <p:nvSpPr>
          <p:cNvPr id="9" name="Shape 7"/>
          <p:cNvSpPr/>
          <p:nvPr/>
        </p:nvSpPr>
        <p:spPr>
          <a:xfrm>
            <a:off x="4114800" y="3343656"/>
            <a:ext cx="3606394" cy="585216"/>
          </a:xfrm>
          <a:prstGeom prst="roundRect">
            <a:avLst>
              <a:gd name="adj" fmla="val 18750"/>
            </a:avLst>
          </a:prstGeom>
          <a:solidFill>
            <a:srgbClr val="EEF2FC"/>
          </a:solidFill>
          <a:ln w="9525">
            <a:solidFill>
              <a:srgbClr val="CBD7F4"/>
            </a:solidFill>
            <a:prstDash val="solid"/>
          </a:ln>
        </p:spPr>
      </p:sp>
      <p:sp>
        <p:nvSpPr>
          <p:cNvPr id="10" name="Text 8"/>
          <p:cNvSpPr txBox="1"/>
          <p:nvPr/>
        </p:nvSpPr>
        <p:spPr>
          <a:xfrm>
            <a:off x="4114800" y="3343656"/>
            <a:ext cx="3606394" cy="585216"/>
          </a:xfrm>
          <a:prstGeom prst="rect">
            <a:avLst/>
          </a:prstGeom>
          <a:noFill/>
          <a:ln/>
        </p:spPr>
        <p:txBody>
          <a:bodyPr wrap="square" lIns="0" tIns="0" rIns="0" bIns="0" rtlCol="0" anchor="ctr"/>
          <a:lstStyle/>
          <a:p>
            <a:pPr algn="ctr" indent="0" marL="0">
              <a:buNone/>
            </a:pPr>
            <a:r>
              <a:rPr lang="en-US" sz="1800" b="1" dirty="0">
                <a:solidFill>
                  <a:srgbClr val="2957D4"/>
                </a:solidFill>
                <a:latin typeface="Courier New" pitchFamily="34" charset="0"/>
                <a:ea typeface="Courier New" pitchFamily="34" charset="-122"/>
                <a:cs typeface="Courier New" pitchFamily="34" charset="-120"/>
              </a:rPr>
              <a:t>asansör: N = m·(g + a)</a:t>
            </a:r>
            <a:endParaRPr lang="en-US" sz="1800" dirty="0"/>
          </a:p>
        </p:txBody>
      </p:sp>
      <p:sp>
        <p:nvSpPr>
          <p:cNvPr id="11" name="Shape 9"/>
          <p:cNvSpPr/>
          <p:nvPr/>
        </p:nvSpPr>
        <p:spPr>
          <a:xfrm>
            <a:off x="640080" y="4056888"/>
            <a:ext cx="4023360" cy="585216"/>
          </a:xfrm>
          <a:prstGeom prst="roundRect">
            <a:avLst>
              <a:gd name="adj" fmla="val 18750"/>
            </a:avLst>
          </a:prstGeom>
          <a:solidFill>
            <a:srgbClr val="EEF2FC"/>
          </a:solidFill>
          <a:ln w="9525">
            <a:solidFill>
              <a:srgbClr val="CBD7F4"/>
            </a:solidFill>
            <a:prstDash val="solid"/>
          </a:ln>
        </p:spPr>
      </p:sp>
      <p:sp>
        <p:nvSpPr>
          <p:cNvPr id="12" name="Text 10"/>
          <p:cNvSpPr txBox="1"/>
          <p:nvPr/>
        </p:nvSpPr>
        <p:spPr>
          <a:xfrm>
            <a:off x="640080" y="4056888"/>
            <a:ext cx="4023360" cy="585216"/>
          </a:xfrm>
          <a:prstGeom prst="rect">
            <a:avLst/>
          </a:prstGeom>
          <a:noFill/>
          <a:ln/>
        </p:spPr>
        <p:txBody>
          <a:bodyPr wrap="square" lIns="0" tIns="0" rIns="0" bIns="0" rtlCol="0" anchor="ctr"/>
          <a:lstStyle/>
          <a:p>
            <a:pPr algn="ctr" indent="0" marL="0">
              <a:buNone/>
            </a:pPr>
            <a:r>
              <a:rPr lang="en-US" sz="1800" b="1" dirty="0">
                <a:solidFill>
                  <a:srgbClr val="2957D4"/>
                </a:solidFill>
                <a:latin typeface="Courier New" pitchFamily="34" charset="0"/>
                <a:ea typeface="Courier New" pitchFamily="34" charset="-122"/>
                <a:cs typeface="Courier New" pitchFamily="34" charset="-120"/>
              </a:rPr>
              <a:t>eğik düzlem: N = m·g·cosθ</a:t>
            </a:r>
            <a:endParaRPr lang="en-US" sz="1800" dirty="0"/>
          </a:p>
        </p:txBody>
      </p:sp>
      <p:sp>
        <p:nvSpPr>
          <p:cNvPr id="14" name="Shape 11"/>
          <p:cNvSpPr/>
          <p:nvPr/>
        </p:nvSpPr>
        <p:spPr>
          <a:xfrm>
            <a:off x="640080" y="6382512"/>
            <a:ext cx="128016" cy="128016"/>
          </a:xfrm>
          <a:prstGeom prst="roundRect">
            <a:avLst>
              <a:gd name="adj" fmla="val 28571"/>
            </a:avLst>
          </a:prstGeom>
          <a:solidFill>
            <a:srgbClr val="A9E648"/>
          </a:solidFill>
          <a:ln/>
        </p:spPr>
      </p:sp>
      <p:sp>
        <p:nvSpPr>
          <p:cNvPr id="15" name="Text 12"/>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dersler.perinet.org/newton-yasalari.html</a:t>
            </a:r>
            <a:endParaRPr lang="en-US" sz="1050" dirty="0"/>
          </a:p>
        </p:txBody>
      </p:sp>
      <p:sp>
        <p:nvSpPr>
          <p:cNvPr id="16" name="Text 13"/>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81</a:t>
            </a:r>
            <a:endParaRPr lang="en-US" sz="1050"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10</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Ağırlık, normal kuvvet ve asansör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2 / 7</a:t>
            </a:r>
            <a:endParaRPr lang="en-US" sz="950" dirty="0"/>
          </a:p>
        </p:txBody>
      </p:sp>
      <p:sp>
        <p:nvSpPr>
          <p:cNvPr id="6" name="Text 4"/>
          <p:cNvSpPr txBox="1"/>
          <p:nvPr/>
        </p:nvSpPr>
        <p:spPr>
          <a:xfrm>
            <a:off x="640080" y="1325880"/>
            <a:ext cx="10911535" cy="2679192"/>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Asansörde tartının gösterdiği değer, tartının sana uyguladığı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normal kuvvettir</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Yukarı doğru ivmelenirken net kuvvet yukarı olmalıdır, bu yüzden N &gt; G olur ve tartı daha fazlasını yazar.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Aşağı doğru ivmelenirken N &lt; G olur.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Bağıntı serbest cisim diyagramından adım adım çıkar: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dersler.perinet.org/newton-yasalari.html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82</a:t>
            </a:r>
            <a:endParaRPr lang="en-US" sz="1050"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10</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Ağırlık, normal kuvvet ve asansör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3 / 7</a:t>
            </a:r>
            <a:endParaRPr lang="en-US" sz="950" dirty="0"/>
          </a:p>
        </p:txBody>
      </p:sp>
      <p:sp>
        <p:nvSpPr>
          <p:cNvPr id="6" name="Text 4"/>
          <p:cNvSpPr txBox="1"/>
          <p:nvPr/>
        </p:nvSpPr>
        <p:spPr>
          <a:xfrm>
            <a:off x="640080" y="1325880"/>
            <a:ext cx="10911535" cy="2114550"/>
          </a:xfrm>
          <a:prstGeom prst="rect">
            <a:avLst/>
          </a:prstGeom>
          <a:noFill/>
          <a:ln/>
        </p:spPr>
        <p:txBody>
          <a:bodyPr wrap="square" lIns="0" tIns="0" rIns="0" bIns="0" rtlCol="0" anchor="t"/>
          <a:lstStyle/>
          <a:p>
            <a:pPr marL="228600" indent="-228600">
              <a:lnSpc>
                <a:spcPct val="115000"/>
              </a:lnSpc>
              <a:spcAft>
                <a:spcPts val="800"/>
              </a:spcAft>
              <a:buSzPct val="100000"/>
              <a:buFont typeface="+mj-lt"/>
              <a:buAutoNum type="arabicPeriod" startAt="1"/>
            </a:pPr>
            <a:r>
              <a:rPr lang="en-US" sz="2100" b="1" dirty="0">
                <a:solidFill>
                  <a:srgbClr val="0E1426"/>
                </a:solidFill>
                <a:latin typeface="Calibri" pitchFamily="34" charset="0"/>
                <a:ea typeface="Calibri" pitchFamily="34" charset="-122"/>
                <a:cs typeface="Calibri" pitchFamily="34" charset="-120"/>
              </a:rPr>
              <a:t>Kuvvetler:</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sana yalnızca iki kuvvet etki eder: ağırlık G = m·g (aşağı) ve tartının normal kuvveti N (yukarı).</a:t>
            </a:r>
            <a:endParaRPr lang="en-US" sz="2100" dirty="0"/>
          </a:p>
          <a:p>
            <a:pPr marL="228600" indent="-228600">
              <a:lnSpc>
                <a:spcPct val="115000"/>
              </a:lnSpc>
              <a:spcAft>
                <a:spcPts val="800"/>
              </a:spcAft>
              <a:buSzPct val="100000"/>
              <a:buFont typeface="+mj-lt"/>
              <a:buAutoNum type="arabicPeriod" startAt="1"/>
            </a:pPr>
            <a:r>
              <a:rPr lang="en-US" sz="2100" b="1" dirty="0">
                <a:solidFill>
                  <a:srgbClr val="0E1426"/>
                </a:solidFill>
                <a:latin typeface="Calibri" pitchFamily="34" charset="0"/>
                <a:ea typeface="Calibri" pitchFamily="34" charset="-122"/>
                <a:cs typeface="Calibri" pitchFamily="34" charset="-120"/>
              </a:rPr>
              <a:t>Yön seç:</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yukarıyı pozitif al; asansörün ivmesi a olsun (aşağı ivmede a negatiftir).</a:t>
            </a:r>
            <a:endParaRPr lang="en-US" sz="2100" dirty="0"/>
          </a:p>
          <a:p>
            <a:pPr marL="228600" indent="-228600">
              <a:lnSpc>
                <a:spcPct val="115000"/>
              </a:lnSpc>
              <a:spcAft>
                <a:spcPts val="800"/>
              </a:spcAft>
              <a:buSzPct val="100000"/>
              <a:buFont typeface="+mj-lt"/>
              <a:buAutoNum type="arabicPeriod" startAt="1"/>
            </a:pPr>
            <a:r>
              <a:rPr lang="en-US" sz="2100" b="1" dirty="0">
                <a:solidFill>
                  <a:srgbClr val="0E1426"/>
                </a:solidFill>
                <a:latin typeface="Calibri" pitchFamily="34" charset="0"/>
                <a:ea typeface="Calibri" pitchFamily="34" charset="-122"/>
                <a:cs typeface="Calibri" pitchFamily="34" charset="-120"/>
              </a:rPr>
              <a:t>2. yasa:</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ΣF = N − m·g = m·a, buradan </a:t>
            </a:r>
            <a:pPr indent="0" marL="0">
              <a:lnSpc>
                <a:spcPct val="115000"/>
              </a:lnSpc>
              <a:buNone/>
            </a:pPr>
            <a:r>
              <a:rPr lang="en-US" sz="2100" b="1" dirty="0">
                <a:solidFill>
                  <a:srgbClr val="0E1426"/>
                </a:solidFill>
                <a:latin typeface="Calibri" pitchFamily="34" charset="0"/>
                <a:ea typeface="Calibri" pitchFamily="34" charset="-122"/>
                <a:cs typeface="Calibri" pitchFamily="34" charset="-120"/>
              </a:rPr>
              <a:t>N = m·(g + a)</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a:t>
            </a:r>
            <a:endParaRPr lang="en-US" sz="21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dersler.perinet.org/newton-yasalari.html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83</a:t>
            </a:r>
            <a:endParaRPr lang="en-US" sz="1050"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10</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Ağırlık, normal kuvvet ve asansör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4 / 7</a:t>
            </a:r>
            <a:endParaRPr lang="en-US" sz="950" dirty="0"/>
          </a:p>
        </p:txBody>
      </p:sp>
      <p:graphicFrame>
        <p:nvGraphicFramePr>
          <p:cNvPr id="85" name="Table 0"/>
          <p:cNvGraphicFramePr>
            <a:graphicFrameLocks noGrp="1"/>
          </p:cNvGraphicFramePr>
          <p:nvPr>
            <p:extLst>
              <p:ext uri="{D42A27DB-BD31-4B8C-83A1-F6EECF244321}">
                <p14:modId xmlns:p14="http://schemas.microsoft.com/office/powerpoint/2010/main" val="1579011935"/>
              </p:ext>
            </p:extLst>
          </p:nvPr>
        </p:nvGraphicFramePr>
        <p:xfrm>
          <a:off x="640080" y="1325880"/>
          <a:ext cx="10911535" cy="914400"/>
        </p:xfrm>
        <a:graphic>
          <a:graphicData uri="http://schemas.openxmlformats.org/drawingml/2006/table">
            <a:tbl>
              <a:tblPr/>
              <a:tblGrid>
                <a:gridCol w="4286675"/>
                <a:gridCol w="1169093"/>
                <a:gridCol w="2727884"/>
                <a:gridCol w="2727884"/>
              </a:tblGrid>
              <a:tr h="418338">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Durum</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İvme</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Normal kuvvet</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Tartı</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Durgun ya da sabit hız</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a = 0</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N = m·g</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gerçek değer</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Yukarı hızlanıyor</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a &gt; 0</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N = m(g + a)</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fazla gösterir</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Aşağı hızlanıyor</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a &lt; 0</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N = m(g − |a|)</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az gösterir</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Serbest düşme</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a = −g</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N = 0</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sıfır</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bl>
          </a:graphicData>
        </a:graphic>
      </p:graphicFrame>
      <p:sp>
        <p:nvSpPr>
          <p:cNvPr id="8" name="Shape 4"/>
          <p:cNvSpPr/>
          <p:nvPr/>
        </p:nvSpPr>
        <p:spPr>
          <a:xfrm>
            <a:off x="640080" y="6382512"/>
            <a:ext cx="128016" cy="128016"/>
          </a:xfrm>
          <a:prstGeom prst="roundRect">
            <a:avLst>
              <a:gd name="adj" fmla="val 28571"/>
            </a:avLst>
          </a:prstGeom>
          <a:solidFill>
            <a:srgbClr val="A9E648"/>
          </a:solidFill>
          <a:ln/>
        </p:spPr>
      </p:sp>
      <p:sp>
        <p:nvSpPr>
          <p:cNvPr id="9" name="Text 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dersler.perinet.org/newton-yasalari.html</a:t>
            </a:r>
            <a:endParaRPr lang="en-US" sz="1050" dirty="0"/>
          </a:p>
        </p:txBody>
      </p:sp>
      <p:sp>
        <p:nvSpPr>
          <p:cNvPr id="10" name="Text 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84</a:t>
            </a:r>
            <a:endParaRPr lang="en-US" sz="1050"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10</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Ağırlık, normal kuvvet ve asansör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5 / 7</a:t>
            </a:r>
            <a:endParaRPr lang="en-US" sz="950" dirty="0"/>
          </a:p>
        </p:txBody>
      </p:sp>
      <p:sp>
        <p:nvSpPr>
          <p:cNvPr id="6" name="Text 4"/>
          <p:cNvSpPr txBox="1"/>
          <p:nvPr/>
        </p:nvSpPr>
        <p:spPr>
          <a:xfrm>
            <a:off x="640080" y="1325880"/>
            <a:ext cx="10911535" cy="2587752"/>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Serbest düşmedeki "ağırlıksızlık" yerçekiminin yok olması değildir; sen de tartı da aynı ivmeyle düştüğü için aranızda kuvvet kalmamasıdır.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Uzay istasyonundaki astronotlar da aslında sürekli serbest düşmektedir.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Sayfanın 04 numaralı bölümünde 60 kg'lık biri için 3 m/s²'lik yukarı ivmede tartı yaklaşık 78 kg, aynı büyüklükte aşağı ivmede yaklaşık 42 kg gösterir.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dersler.perinet.org/newton-yasalari.html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85</a:t>
            </a:r>
            <a:endParaRPr lang="en-US" sz="1050"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10</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Ağırlık, normal kuvvet ve asansör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6 / 7</a:t>
            </a:r>
            <a:endParaRPr lang="en-US" sz="950" dirty="0"/>
          </a:p>
        </p:txBody>
      </p:sp>
      <p:sp>
        <p:nvSpPr>
          <p:cNvPr id="6" name="Shape 4"/>
          <p:cNvSpPr/>
          <p:nvPr/>
        </p:nvSpPr>
        <p:spPr>
          <a:xfrm>
            <a:off x="640080" y="1325880"/>
            <a:ext cx="10911535" cy="1033272"/>
          </a:xfrm>
          <a:prstGeom prst="roundRect">
            <a:avLst>
              <a:gd name="adj" fmla="val 12389"/>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658368" y="1490472"/>
            <a:ext cx="54864" cy="704088"/>
          </a:xfrm>
          <a:prstGeom prst="rect">
            <a:avLst/>
          </a:prstGeom>
          <a:solidFill>
            <a:srgbClr val="A56209"/>
          </a:solidFill>
          <a:ln/>
        </p:spPr>
      </p:sp>
      <p:sp>
        <p:nvSpPr>
          <p:cNvPr id="8" name="Text 6"/>
          <p:cNvSpPr txBox="1"/>
          <p:nvPr/>
        </p:nvSpPr>
        <p:spPr>
          <a:xfrm>
            <a:off x="950976" y="1453896"/>
            <a:ext cx="10399471" cy="777240"/>
          </a:xfrm>
          <a:prstGeom prst="rect">
            <a:avLst/>
          </a:prstGeom>
          <a:noFill/>
          <a:ln/>
        </p:spPr>
        <p:txBody>
          <a:bodyPr wrap="square" lIns="0" tIns="0" rIns="0" bIns="0" rtlCol="0" anchor="ctr"/>
          <a:lstStyle/>
          <a:p>
            <a:pPr indent="0" marL="0">
              <a:lnSpc>
                <a:spcPct val="114000"/>
              </a:lnSpc>
              <a:buNone/>
            </a:pPr>
            <a:r>
              <a:rPr lang="en-US" sz="1800" b="1" dirty="0">
                <a:solidFill>
                  <a:srgbClr val="0E1426"/>
                </a:solidFill>
                <a:latin typeface="Calibri" pitchFamily="34" charset="0"/>
                <a:ea typeface="Calibri" pitchFamily="34" charset="-122"/>
                <a:cs typeface="Calibri" pitchFamily="34" charset="-120"/>
              </a:rPr>
              <a:t>Tartıyı hızın yönü değil, ivmenin yönü belirler.</a:t>
            </a:r>
            <a:pPr indent="0" marL="0">
              <a:lnSpc>
                <a:spcPct val="114000"/>
              </a:lnSpc>
              <a:buNone/>
            </a:pPr>
            <a:r>
              <a:rPr lang="en-US" sz="1800" dirty="0">
                <a:solidFill>
                  <a:srgbClr val="0E1426"/>
                </a:solidFill>
                <a:latin typeface="Calibri" pitchFamily="34" charset="0"/>
                <a:ea typeface="Calibri" pitchFamily="34" charset="-122"/>
                <a:cs typeface="Calibri" pitchFamily="34" charset="-120"/>
              </a:rPr>
              <a:t> Yukarı çıkarken yavaşlayan bir asansörün ivmesi aşağı doğrudur; tartı, aşağı doğru hızlanan asansördeki gibi az gösterir.</a:t>
            </a:r>
            <a:endParaRPr lang="en-US" sz="1800" dirty="0"/>
          </a:p>
        </p:txBody>
      </p:sp>
      <p:sp>
        <p:nvSpPr>
          <p:cNvPr id="10" name="Shape 7"/>
          <p:cNvSpPr/>
          <p:nvPr/>
        </p:nvSpPr>
        <p:spPr>
          <a:xfrm>
            <a:off x="640080" y="6382512"/>
            <a:ext cx="128016" cy="128016"/>
          </a:xfrm>
          <a:prstGeom prst="roundRect">
            <a:avLst>
              <a:gd name="adj" fmla="val 28571"/>
            </a:avLst>
          </a:prstGeom>
          <a:solidFill>
            <a:srgbClr val="A9E648"/>
          </a:solidFill>
          <a:ln/>
        </p:spPr>
      </p:sp>
      <p:sp>
        <p:nvSpPr>
          <p:cNvPr id="11" name="Text 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dersler.perinet.org/newton-yasalari.html</a:t>
            </a:r>
            <a:endParaRPr lang="en-US" sz="1050" dirty="0"/>
          </a:p>
        </p:txBody>
      </p:sp>
      <p:sp>
        <p:nvSpPr>
          <p:cNvPr id="12" name="Text 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86</a:t>
            </a:r>
            <a:endParaRPr lang="en-US" sz="1050"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10</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Ağırlık, normal kuvvet ve asansör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7 / 7</a:t>
            </a:r>
            <a:endParaRPr lang="en-US" sz="950" dirty="0"/>
          </a:p>
        </p:txBody>
      </p:sp>
      <p:sp>
        <p:nvSpPr>
          <p:cNvPr id="6" name="Shape 4"/>
          <p:cNvSpPr/>
          <p:nvPr/>
        </p:nvSpPr>
        <p:spPr>
          <a:xfrm>
            <a:off x="1911814" y="1234440"/>
            <a:ext cx="8368066" cy="3643884"/>
          </a:xfrm>
          <a:prstGeom prst="roundRect">
            <a:avLst>
              <a:gd name="adj" fmla="val 401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7" name="Image 0" descr="/tmp/claude-1000/-opt-dersler/8a8328c3-841c-44fa-b76f-82572d338d3d/scratchpad/d10/sek/newton-yasalari-07.png">    </p:cNvPr>
          <p:cNvPicPr>
            <a:picLocks noChangeAspect="1"/>
          </p:cNvPicPr>
          <p:nvPr/>
        </p:nvPicPr>
        <p:blipFill>
          <a:blip r:embed="rId1"/>
          <a:stretch>
            <a:fillRect/>
          </a:stretch>
        </p:blipFill>
        <p:spPr>
          <a:xfrm>
            <a:off x="2140414" y="1325880"/>
            <a:ext cx="7910866" cy="3461004"/>
          </a:xfrm>
          <a:prstGeom prst="rect">
            <a:avLst/>
          </a:prstGeom>
        </p:spPr>
      </p:pic>
      <p:sp>
        <p:nvSpPr>
          <p:cNvPr id="8" name="Text 5"/>
          <p:cNvSpPr txBox="1"/>
          <p:nvPr/>
        </p:nvSpPr>
        <p:spPr>
          <a:xfrm>
            <a:off x="1249528" y="5061204"/>
            <a:ext cx="9692640" cy="1083564"/>
          </a:xfrm>
          <a:prstGeom prst="rect">
            <a:avLst/>
          </a:prstGeom>
          <a:noFill/>
          <a:ln/>
        </p:spPr>
        <p:txBody>
          <a:bodyPr wrap="square" lIns="0" tIns="0" rIns="0" bIns="0" rtlCol="0" anchor="t"/>
          <a:lstStyle/>
          <a:p>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Tartı senin ağırlığını değil, sana uyguladığı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normal kuvveti</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yazar. Yukarı ivmelenirken net kuvvetin yukarı olması gerekir, bu yüzden N büyür; aşağı ivmelenirken küçülür. Halat koparsa sen de tartı da aynı ivmeyle düşersiniz, aranızda kuvvet kalmaz ve tartı sıfır gösterir. Uzaydaki "ağırlıksızlık" da tam olarak budur —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yerçekimi yok olduğu için değil, sürekli düşüldüğü için.</a:t>
            </a:r>
            <a:endParaRPr lang="en-US" sz="1350" dirty="0"/>
          </a:p>
        </p:txBody>
      </p:sp>
      <p:sp>
        <p:nvSpPr>
          <p:cNvPr id="10" name="Shape 6"/>
          <p:cNvSpPr/>
          <p:nvPr/>
        </p:nvSpPr>
        <p:spPr>
          <a:xfrm>
            <a:off x="640080" y="6382512"/>
            <a:ext cx="128016" cy="128016"/>
          </a:xfrm>
          <a:prstGeom prst="roundRect">
            <a:avLst>
              <a:gd name="adj" fmla="val 28571"/>
            </a:avLst>
          </a:prstGeom>
          <a:solidFill>
            <a:srgbClr val="A9E648"/>
          </a:solidFill>
          <a:ln/>
        </p:spPr>
      </p:sp>
      <p:sp>
        <p:nvSpPr>
          <p:cNvPr id="11"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dersler.perinet.org/newton-yasalari.html</a:t>
            </a:r>
            <a:endParaRPr lang="en-US" sz="1050" dirty="0"/>
          </a:p>
        </p:txBody>
      </p:sp>
      <p:sp>
        <p:nvSpPr>
          <p:cNvPr id="12"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87</a:t>
            </a:r>
            <a:endParaRPr lang="en-US" sz="1050"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10</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Ağırlık, normal kuvvet ve asansör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6" name="Shape 4"/>
          <p:cNvSpPr/>
          <p:nvPr/>
        </p:nvSpPr>
        <p:spPr>
          <a:xfrm>
            <a:off x="1005840" y="1691640"/>
            <a:ext cx="10180015" cy="3840480"/>
          </a:xfrm>
          <a:prstGeom prst="roundRect">
            <a:avLst>
              <a:gd name="adj" fmla="val 523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042416" y="2148840"/>
            <a:ext cx="73152" cy="2926080"/>
          </a:xfrm>
          <a:prstGeom prst="rect">
            <a:avLst/>
          </a:prstGeom>
          <a:solidFill>
            <a:srgbClr val="2957D4"/>
          </a:solidFill>
          <a:ln/>
        </p:spPr>
      </p:sp>
      <p:sp>
        <p:nvSpPr>
          <p:cNvPr id="8" name="Text 6"/>
          <p:cNvSpPr txBox="1"/>
          <p:nvPr/>
        </p:nvSpPr>
        <p:spPr>
          <a:xfrm>
            <a:off x="1554480" y="1984248"/>
            <a:ext cx="9082735" cy="292608"/>
          </a:xfrm>
          <a:prstGeom prst="rect">
            <a:avLst/>
          </a:prstGeom>
          <a:noFill/>
          <a:ln/>
        </p:spPr>
        <p:txBody>
          <a:bodyPr wrap="square" lIns="0" tIns="0" rIns="0" bIns="0" rtlCol="0" anchor="ctr"/>
          <a:lstStyle/>
          <a:p>
            <a:pPr indent="0" marL="0">
              <a:buNone/>
            </a:pPr>
            <a:r>
              <a:rPr lang="en-US" sz="1200" b="1" spc="300" kern="0" dirty="0">
                <a:solidFill>
                  <a:srgbClr val="2957D4"/>
                </a:solidFill>
                <a:latin typeface="Calibri" pitchFamily="34" charset="0"/>
                <a:ea typeface="Calibri" pitchFamily="34" charset="-122"/>
                <a:cs typeface="Calibri" pitchFamily="34" charset="-120"/>
              </a:rPr>
              <a:t>KISACA  ·  BU BÖLÜMDE ÖĞRENDİK</a:t>
            </a:r>
            <a:endParaRPr lang="en-US" sz="1200" dirty="0"/>
          </a:p>
        </p:txBody>
      </p:sp>
      <p:sp>
        <p:nvSpPr>
          <p:cNvPr id="9" name="Text 7"/>
          <p:cNvSpPr txBox="1"/>
          <p:nvPr/>
        </p:nvSpPr>
        <p:spPr>
          <a:xfrm>
            <a:off x="1554480" y="2423160"/>
            <a:ext cx="9082735" cy="2743200"/>
          </a:xfrm>
          <a:prstGeom prst="rect">
            <a:avLst/>
          </a:prstGeom>
          <a:noFill/>
          <a:ln/>
        </p:spPr>
        <p:txBody>
          <a:bodyPr wrap="square" lIns="0" tIns="0" rIns="0" bIns="0" rtlCol="0" anchor="ctr"/>
          <a:lstStyle/>
          <a:p>
            <a:pPr indent="0" marL="0">
              <a:lnSpc>
                <a:spcPct val="125000"/>
              </a:lnSpc>
              <a:buNone/>
            </a:pPr>
            <a:r>
              <a:rPr lang="en-US" sz="2800" dirty="0">
                <a:solidFill>
                  <a:srgbClr val="0E1426"/>
                </a:solidFill>
                <a:latin typeface="Cambria" pitchFamily="34" charset="0"/>
                <a:ea typeface="Cambria" pitchFamily="34" charset="-122"/>
                <a:cs typeface="Cambria" pitchFamily="34" charset="-120"/>
              </a:rPr>
              <a:t>Tartı ağırlığı değil normal kuvveti ölçer: N = m·(g + a). İvme yukarıysa fazla, aşağıysa az, serbest düşmede sıfır gösterir; belirleyici olan hızın değil ivmenin yönüdür.</a:t>
            </a:r>
            <a:endParaRPr lang="en-US" sz="28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dersler.perinet.org/newton-yasalari.html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88</a:t>
            </a:r>
            <a:endParaRPr lang="en-US" sz="1050"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bg>
      <p:bgPr>
        <a:solidFill>
          <a:srgbClr val="F7F6FE"/>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3" name="Shape 1"/>
          <p:cNvSpPr/>
          <p:nvPr/>
        </p:nvSpPr>
        <p:spPr>
          <a:xfrm>
            <a:off x="822960" y="2011680"/>
            <a:ext cx="1554480" cy="1554480"/>
          </a:xfrm>
          <a:prstGeom prst="ellipse">
            <a:avLst/>
          </a:prstGeom>
          <a:solidFill>
            <a:srgbClr val="5F4BD8"/>
          </a:solidFill>
          <a:ln/>
          <a:effectLst>
            <a:outerShdw sx="100000" sy="100000" kx="0" ky="0" algn="bl" rotWithShape="0" blurRad="177800" dist="50800" dir="5400000">
              <a:srgbClr val="5F4BD8">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8000" b="1" dirty="0">
                <a:solidFill>
                  <a:srgbClr val="FFFFFF"/>
                </a:solidFill>
                <a:latin typeface="Cambria" pitchFamily="34" charset="0"/>
                <a:ea typeface="Cambria" pitchFamily="34" charset="-122"/>
                <a:cs typeface="Cambria" pitchFamily="34" charset="-120"/>
              </a:rPr>
              <a:t>?</a:t>
            </a:r>
            <a:endParaRPr lang="en-US" sz="8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5F4BD8"/>
                </a:solidFill>
                <a:latin typeface="Calibri" pitchFamily="34" charset="0"/>
                <a:ea typeface="Calibri" pitchFamily="34" charset="-122"/>
                <a:cs typeface="Calibri" pitchFamily="34" charset="-120"/>
              </a:rPr>
              <a:t>DÜŞÜN</a:t>
            </a:r>
            <a:endParaRPr lang="en-US" sz="1300" dirty="0"/>
          </a:p>
        </p:txBody>
      </p:sp>
      <p:sp>
        <p:nvSpPr>
          <p:cNvPr id="6" name="Text 4"/>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Asansör aşağı inerken durmak için yavaşlıyor. Tartı fazla mı gösterir, az mı?</a:t>
            </a:r>
            <a:endParaRPr lang="en-US" sz="3200" dirty="0"/>
          </a:p>
        </p:txBody>
      </p:sp>
      <p:sp>
        <p:nvSpPr>
          <p:cNvPr id="7" name="Text 5"/>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10 · Ağırlık, normal kuvvet ve asansör</a:t>
            </a:r>
            <a:pPr indent="0" marL="0">
              <a:buNone/>
            </a:pPr>
            <a:r>
              <a:rPr lang="en-US" sz="1200" b="1" dirty="0">
                <a:solidFill>
                  <a:srgbClr val="5F4BD8"/>
                </a:solidFill>
                <a:latin typeface="Calibri" pitchFamily="34" charset="0"/>
                <a:ea typeface="Calibri" pitchFamily="34" charset="-122"/>
                <a:cs typeface="Calibri" pitchFamily="34" charset="-120"/>
              </a:rPr>
              <a:t>     Cevap bir sonraki slaytta</a:t>
            </a:r>
            <a:endParaRPr lang="en-US" sz="1200" dirty="0"/>
          </a:p>
        </p:txBody>
      </p:sp>
      <p:sp>
        <p:nvSpPr>
          <p:cNvPr id="8" name="Shape 6"/>
          <p:cNvSpPr/>
          <p:nvPr/>
        </p:nvSpPr>
        <p:spPr>
          <a:xfrm>
            <a:off x="640080" y="6382512"/>
            <a:ext cx="128016" cy="128016"/>
          </a:xfrm>
          <a:prstGeom prst="roundRect">
            <a:avLst>
              <a:gd name="adj" fmla="val 28571"/>
            </a:avLst>
          </a:prstGeom>
          <a:solidFill>
            <a:srgbClr val="A9E648"/>
          </a:solidFill>
          <a:ln/>
        </p:spPr>
      </p:sp>
      <p:sp>
        <p:nvSpPr>
          <p:cNvPr id="9"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dersler.perinet.org/newton-yasalari.html</a:t>
            </a:r>
            <a:endParaRPr lang="en-US" sz="1050" dirty="0"/>
          </a:p>
        </p:txBody>
      </p:sp>
      <p:sp>
        <p:nvSpPr>
          <p:cNvPr id="10"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89</a:t>
            </a:r>
            <a:endParaRPr lang="en-US" sz="1050"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3" name="Shape 1"/>
          <p:cNvSpPr/>
          <p:nvPr/>
        </p:nvSpPr>
        <p:spPr>
          <a:xfrm>
            <a:off x="640080" y="457200"/>
            <a:ext cx="493776" cy="493776"/>
          </a:xfrm>
          <a:prstGeom prst="roundRect">
            <a:avLst>
              <a:gd name="adj" fmla="val 25926"/>
            </a:avLst>
          </a:prstGeom>
          <a:solidFill>
            <a:srgbClr val="5F4BD8"/>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Asansör aşağı inerken durmak için yavaşlıyor. Tartı fazla mı gösterir, az mı?</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5F4BD8"/>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400" b="1" dirty="0">
                <a:solidFill>
                  <a:srgbClr val="5F4BD8"/>
                </a:solidFill>
                <a:latin typeface="Calibri" pitchFamily="34" charset="0"/>
                <a:ea typeface="Calibri" pitchFamily="34" charset="-122"/>
                <a:cs typeface="Calibri" pitchFamily="34" charset="-120"/>
              </a:rPr>
              <a:t>Fazla</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gösterir. Aşağı inen asansörün yavaşlaması için ivmesinin yukarı doğru olması gerekir; o zaman N = m(g + a) ağırlıktan büyüktür. Asansör dururken dizlerinin hafifçe büküldüğünü hissetmen bundandır.</a:t>
            </a:r>
            <a:endParaRPr lang="en-US" sz="24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dersler.perinet.org/newton-yasalari.html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90</a:t>
            </a:r>
            <a:endParaRPr lang="en-US" sz="1050"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bg>
      <p:bgPr>
        <a:solidFill>
          <a:srgbClr val="0E1426"/>
        </a:solidFill>
      </p:bgPr>
    </p:bg>
    <p:spTree>
      <p:nvGrpSpPr>
        <p:cNvPr id="1" name=""/>
        <p:cNvGrpSpPr/>
        <p:nvPr/>
      </p:nvGrpSpPr>
      <p:grpSpPr>
        <a:xfrm>
          <a:off x="0" y="0"/>
          <a:ext cx="0" cy="0"/>
          <a:chOff x="0" y="0"/>
          <a:chExt cx="0" cy="0"/>
        </a:xfrm>
      </p:grpSpPr>
      <p:sp>
        <p:nvSpPr>
          <p:cNvPr id="2" name="Text 0"/>
          <p:cNvSpPr txBox="1"/>
          <p:nvPr/>
        </p:nvSpPr>
        <p:spPr>
          <a:xfrm>
            <a:off x="685800" y="365760"/>
            <a:ext cx="1828800" cy="1874520"/>
          </a:xfrm>
          <a:prstGeom prst="rect">
            <a:avLst/>
          </a:prstGeom>
          <a:noFill/>
          <a:ln/>
        </p:spPr>
        <p:txBody>
          <a:bodyPr wrap="square" lIns="0" tIns="0" rIns="0" bIns="0" rtlCol="0" anchor="ctr"/>
          <a:lstStyle/>
          <a:p>
            <a:pPr indent="0" marL="0">
              <a:buNone/>
            </a:pPr>
            <a:r>
              <a:rPr lang="en-US" sz="11600" b="1" dirty="0">
                <a:solidFill>
                  <a:srgbClr val="A093FF"/>
                </a:solidFill>
                <a:latin typeface="Cambria" pitchFamily="34" charset="0"/>
                <a:ea typeface="Cambria" pitchFamily="34" charset="-122"/>
                <a:cs typeface="Cambria" pitchFamily="34" charset="-120"/>
              </a:rPr>
              <a:t>3</a:t>
            </a:r>
            <a:endParaRPr lang="en-US" sz="11600" dirty="0"/>
          </a:p>
        </p:txBody>
      </p:sp>
      <p:sp>
        <p:nvSpPr>
          <p:cNvPr id="3" name="Text 1"/>
          <p:cNvSpPr txBox="1"/>
          <p:nvPr/>
        </p:nvSpPr>
        <p:spPr>
          <a:xfrm>
            <a:off x="731520" y="2286000"/>
            <a:ext cx="4572000" cy="292608"/>
          </a:xfrm>
          <a:prstGeom prst="rect">
            <a:avLst/>
          </a:prstGeom>
          <a:noFill/>
          <a:ln/>
        </p:spPr>
        <p:txBody>
          <a:bodyPr wrap="square" lIns="0" tIns="0" rIns="0" bIns="0" rtlCol="0" anchor="ctr"/>
          <a:lstStyle/>
          <a:p>
            <a:pPr indent="0" marL="0">
              <a:buNone/>
            </a:pPr>
            <a:r>
              <a:rPr lang="en-US" sz="1200" b="1" spc="300" kern="0" dirty="0">
                <a:solidFill>
                  <a:srgbClr val="A093FF"/>
                </a:solidFill>
                <a:latin typeface="Calibri" pitchFamily="34" charset="0"/>
                <a:ea typeface="Calibri" pitchFamily="34" charset="-122"/>
                <a:cs typeface="Calibri" pitchFamily="34" charset="-120"/>
              </a:rPr>
              <a:t>BASAMAK 3 / 4</a:t>
            </a:r>
            <a:endParaRPr lang="en-US" sz="1200" dirty="0"/>
          </a:p>
        </p:txBody>
      </p:sp>
      <p:sp>
        <p:nvSpPr>
          <p:cNvPr id="4" name="Text 2"/>
          <p:cNvSpPr txBox="1"/>
          <p:nvPr/>
        </p:nvSpPr>
        <p:spPr>
          <a:xfrm>
            <a:off x="685800" y="2578608"/>
            <a:ext cx="5120640" cy="822960"/>
          </a:xfrm>
          <a:prstGeom prst="rect">
            <a:avLst/>
          </a:prstGeom>
          <a:noFill/>
          <a:ln/>
        </p:spPr>
        <p:txBody>
          <a:bodyPr wrap="square" lIns="0" tIns="0" rIns="0" bIns="0" rtlCol="0" anchor="ctr"/>
          <a:lstStyle/>
          <a:p>
            <a:pPr indent="0" marL="0">
              <a:buNone/>
            </a:pPr>
            <a:r>
              <a:rPr lang="en-US" sz="4600" b="1" spc="-100" kern="0" dirty="0">
                <a:solidFill>
                  <a:srgbClr val="FFFFFF"/>
                </a:solidFill>
                <a:latin typeface="Cambria" pitchFamily="34" charset="0"/>
                <a:ea typeface="Cambria" pitchFamily="34" charset="-122"/>
                <a:cs typeface="Cambria" pitchFamily="34" charset="-120"/>
              </a:rPr>
              <a:t>İleri</a:t>
            </a:r>
            <a:endParaRPr lang="en-US" sz="4600" dirty="0"/>
          </a:p>
        </p:txBody>
      </p:sp>
      <p:sp>
        <p:nvSpPr>
          <p:cNvPr id="5" name="Text 3"/>
          <p:cNvSpPr txBox="1"/>
          <p:nvPr/>
        </p:nvSpPr>
        <p:spPr>
          <a:xfrm>
            <a:off x="731520" y="3474720"/>
            <a:ext cx="4846320" cy="914400"/>
          </a:xfrm>
          <a:prstGeom prst="rect">
            <a:avLst/>
          </a:prstGeom>
          <a:noFill/>
          <a:ln/>
        </p:spPr>
        <p:txBody>
          <a:bodyPr wrap="square" lIns="0" tIns="0" rIns="0" bIns="0" rtlCol="0" anchor="t"/>
          <a:lstStyle/>
          <a:p>
            <a:pPr indent="0" marL="0">
              <a:lnSpc>
                <a:spcPct val="120000"/>
              </a:lnSpc>
              <a:buNone/>
            </a:pPr>
            <a:r>
              <a:rPr lang="en-US" sz="1600" dirty="0">
                <a:solidFill>
                  <a:srgbClr val="C3CEE8"/>
                </a:solidFill>
                <a:latin typeface="Calibri" pitchFamily="34" charset="0"/>
                <a:ea typeface="Calibri" pitchFamily="34" charset="-122"/>
                <a:cs typeface="Calibri" pitchFamily="34" charset="-120"/>
              </a:rPr>
              <a:t>Derinleşme: birlikte hareket eden cisimler, yasaların geçerli olduğu sınırlar ve Newton yasalarının gerçek hayattaki yüzü.</a:t>
            </a:r>
            <a:endParaRPr lang="en-US" sz="1600" dirty="0"/>
          </a:p>
        </p:txBody>
      </p:sp>
      <p:sp>
        <p:nvSpPr>
          <p:cNvPr id="6" name="Text 4"/>
          <p:cNvSpPr txBox="1"/>
          <p:nvPr/>
        </p:nvSpPr>
        <p:spPr>
          <a:xfrm>
            <a:off x="731520" y="4572000"/>
            <a:ext cx="5120640" cy="329184"/>
          </a:xfrm>
          <a:prstGeom prst="rect">
            <a:avLst/>
          </a:prstGeom>
          <a:noFill/>
          <a:ln/>
        </p:spPr>
        <p:txBody>
          <a:bodyPr wrap="square" lIns="0" tIns="0" rIns="0" bIns="0" rtlCol="0" anchor="ctr"/>
          <a:lstStyle/>
          <a:p>
            <a:pPr indent="0" marL="0">
              <a:buNone/>
            </a:pPr>
            <a:r>
              <a:rPr lang="en-US" sz="1300" b="1" dirty="0">
                <a:solidFill>
                  <a:srgbClr val="A093FF"/>
                </a:solidFill>
                <a:latin typeface="Calibri" pitchFamily="34" charset="0"/>
                <a:ea typeface="Calibri" pitchFamily="34" charset="-122"/>
                <a:cs typeface="Calibri" pitchFamily="34" charset="-120"/>
              </a:rPr>
              <a:t>11   </a:t>
            </a:r>
            <a:pPr indent="0" marL="0">
              <a:buNone/>
            </a:pPr>
            <a:r>
              <a:rPr lang="en-US" sz="1300" dirty="0">
                <a:solidFill>
                  <a:srgbClr val="FFFFFF"/>
                </a:solidFill>
                <a:latin typeface="Calibri" pitchFamily="34" charset="0"/>
                <a:ea typeface="Calibri" pitchFamily="34" charset="-122"/>
                <a:cs typeface="Calibri" pitchFamily="34" charset="-120"/>
              </a:rPr>
              <a:t>Birlikte hareket eden cisimler: sistem ve iç kuvvetler</a:t>
            </a:r>
            <a:endParaRPr lang="en-US" sz="1300" dirty="0"/>
          </a:p>
        </p:txBody>
      </p:sp>
      <p:sp>
        <p:nvSpPr>
          <p:cNvPr id="7" name="Text 5"/>
          <p:cNvSpPr txBox="1"/>
          <p:nvPr/>
        </p:nvSpPr>
        <p:spPr>
          <a:xfrm>
            <a:off x="731520" y="4901184"/>
            <a:ext cx="5120640" cy="329184"/>
          </a:xfrm>
          <a:prstGeom prst="rect">
            <a:avLst/>
          </a:prstGeom>
          <a:noFill/>
          <a:ln/>
        </p:spPr>
        <p:txBody>
          <a:bodyPr wrap="square" lIns="0" tIns="0" rIns="0" bIns="0" rtlCol="0" anchor="ctr"/>
          <a:lstStyle/>
          <a:p>
            <a:pPr indent="0" marL="0">
              <a:buNone/>
            </a:pPr>
            <a:r>
              <a:rPr lang="en-US" sz="1300" b="1" dirty="0">
                <a:solidFill>
                  <a:srgbClr val="A093FF"/>
                </a:solidFill>
                <a:latin typeface="Calibri" pitchFamily="34" charset="0"/>
                <a:ea typeface="Calibri" pitchFamily="34" charset="-122"/>
                <a:cs typeface="Calibri" pitchFamily="34" charset="-120"/>
              </a:rPr>
              <a:t>12   </a:t>
            </a:r>
            <a:pPr indent="0" marL="0">
              <a:buNone/>
            </a:pPr>
            <a:r>
              <a:rPr lang="en-US" sz="1300" dirty="0">
                <a:solidFill>
                  <a:srgbClr val="FFFFFF"/>
                </a:solidFill>
                <a:latin typeface="Calibri" pitchFamily="34" charset="0"/>
                <a:ea typeface="Calibri" pitchFamily="34" charset="-122"/>
                <a:cs typeface="Calibri" pitchFamily="34" charset="-120"/>
              </a:rPr>
              <a:t>Yasaların sınırları: kime göre, ne kadar hızlı?</a:t>
            </a:r>
            <a:endParaRPr lang="en-US" sz="1300" dirty="0"/>
          </a:p>
        </p:txBody>
      </p:sp>
      <p:sp>
        <p:nvSpPr>
          <p:cNvPr id="8" name="Text 6"/>
          <p:cNvSpPr txBox="1"/>
          <p:nvPr/>
        </p:nvSpPr>
        <p:spPr>
          <a:xfrm>
            <a:off x="731520" y="5230368"/>
            <a:ext cx="5120640" cy="329184"/>
          </a:xfrm>
          <a:prstGeom prst="rect">
            <a:avLst/>
          </a:prstGeom>
          <a:noFill/>
          <a:ln/>
        </p:spPr>
        <p:txBody>
          <a:bodyPr wrap="square" lIns="0" tIns="0" rIns="0" bIns="0" rtlCol="0" anchor="ctr"/>
          <a:lstStyle/>
          <a:p>
            <a:pPr indent="0" marL="0">
              <a:buNone/>
            </a:pPr>
            <a:r>
              <a:rPr lang="en-US" sz="1300" b="1" dirty="0">
                <a:solidFill>
                  <a:srgbClr val="A093FF"/>
                </a:solidFill>
                <a:latin typeface="Calibri" pitchFamily="34" charset="0"/>
                <a:ea typeface="Calibri" pitchFamily="34" charset="-122"/>
                <a:cs typeface="Calibri" pitchFamily="34" charset="-120"/>
              </a:rPr>
              <a:t>13   </a:t>
            </a:r>
            <a:pPr indent="0" marL="0">
              <a:buNone/>
            </a:pPr>
            <a:r>
              <a:rPr lang="en-US" sz="1300" dirty="0">
                <a:solidFill>
                  <a:srgbClr val="FFFFFF"/>
                </a:solidFill>
                <a:latin typeface="Calibri" pitchFamily="34" charset="0"/>
                <a:ea typeface="Calibri" pitchFamily="34" charset="-122"/>
                <a:cs typeface="Calibri" pitchFamily="34" charset="-120"/>
              </a:rPr>
              <a:t>Newton yasaları gerçek dünyada</a:t>
            </a:r>
            <a:endParaRPr lang="en-US" sz="1300" dirty="0"/>
          </a:p>
        </p:txBody>
      </p:sp>
      <p:sp>
        <p:nvSpPr>
          <p:cNvPr id="9" name="Shape 7"/>
          <p:cNvSpPr/>
          <p:nvPr/>
        </p:nvSpPr>
        <p:spPr>
          <a:xfrm>
            <a:off x="6117336" y="905256"/>
            <a:ext cx="5489143" cy="3696005"/>
          </a:xfrm>
          <a:prstGeom prst="roundRect">
            <a:avLst>
              <a:gd name="adj" fmla="val 3464"/>
            </a:avLst>
          </a:prstGeom>
          <a:solidFill>
            <a:srgbClr val="1C2542"/>
          </a:solidFill>
          <a:ln w="9525">
            <a:solidFill>
              <a:srgbClr val="2C3860"/>
            </a:solidFill>
            <a:prstDash val="solid"/>
          </a:ln>
        </p:spPr>
      </p:sp>
      <p:pic>
        <p:nvPicPr>
          <p:cNvPr id="10" name="Image 0" descr="/tmp/claude-1000/-opt-dersler/8a8328c3-841c-44fa-b76f-82572d338d3d/scratchpad/d10/sek/newton-yasalari-uygulama-kart.jpg">    </p:cNvPr>
          <p:cNvPicPr>
            <a:picLocks noChangeAspect="1"/>
          </p:cNvPicPr>
          <p:nvPr/>
        </p:nvPicPr>
        <p:blipFill>
          <a:blip r:embed="rId1"/>
          <a:stretch>
            <a:fillRect/>
          </a:stretch>
        </p:blipFill>
        <p:spPr>
          <a:xfrm>
            <a:off x="6172200" y="960120"/>
            <a:ext cx="5379415" cy="3586277"/>
          </a:xfrm>
          <a:prstGeom prst="rect">
            <a:avLst/>
          </a:prstGeom>
        </p:spPr>
      </p:pic>
      <p:sp>
        <p:nvSpPr>
          <p:cNvPr id="11" name="Text 8"/>
          <p:cNvSpPr txBox="1"/>
          <p:nvPr/>
        </p:nvSpPr>
        <p:spPr>
          <a:xfrm>
            <a:off x="6172200" y="4774997"/>
            <a:ext cx="5379415" cy="1214323"/>
          </a:xfrm>
          <a:prstGeom prst="rect">
            <a:avLst/>
          </a:prstGeom>
          <a:noFill/>
          <a:ln/>
        </p:spPr>
        <p:txBody>
          <a:bodyPr wrap="square" lIns="0" tIns="0" rIns="0" bIns="0" rtlCol="0" anchor="t"/>
          <a:lstStyle/>
          <a:p>
            <a:pPr indent="0" marL="0">
              <a:lnSpc>
                <a:spcPct val="115000"/>
              </a:lnSpc>
              <a:buNone/>
            </a:pPr>
            <a:r>
              <a:rPr lang="en-US" sz="1150" b="1" dirty="0">
                <a:solidFill>
                  <a:srgbClr val="FFFFFF"/>
                </a:solidFill>
                <a:latin typeface="Calibri" pitchFamily="34" charset="0"/>
                <a:ea typeface="Calibri" pitchFamily="34" charset="-122"/>
                <a:cs typeface="Calibri" pitchFamily="34" charset="-120"/>
              </a:rPr>
              <a:t>Roket, püskürttüğü gazı iterek yükselir.</a:t>
            </a:r>
            <a:pPr indent="0" marL="0">
              <a:lnSpc>
                <a:spcPct val="115000"/>
              </a:lnSpc>
              <a:buNone/>
            </a:pPr>
            <a:r>
              <a:rPr lang="en-US" sz="1150" dirty="0">
                <a:solidFill>
                  <a:srgbClr val="C3CEE8"/>
                </a:solidFill>
                <a:latin typeface="Calibri" pitchFamily="34" charset="0"/>
                <a:ea typeface="Calibri" pitchFamily="34" charset="-122"/>
                <a:cs typeface="Calibri" pitchFamily="34" charset="-120"/>
              </a:rPr>
              <a:t> Motorlar yanmış gazı büyük bir hızla aşağı iter; gaz da rokete eşit büyüklükte, yukarı yönlü bir kuvvet uygular (3. yasa). Bu itme kuvveti roketin ağırlığını aştığı anda net kuvvet yukarı döner ve roket ivmelenerek yükselir (2. yasa).</a:t>
            </a:r>
            <a:endParaRPr lang="en-US" sz="1150" dirty="0"/>
          </a:p>
        </p:txBody>
      </p:sp>
      <p:sp>
        <p:nvSpPr>
          <p:cNvPr id="12" name="Shape 9"/>
          <p:cNvSpPr/>
          <p:nvPr/>
        </p:nvSpPr>
        <p:spPr>
          <a:xfrm>
            <a:off x="640080" y="6382512"/>
            <a:ext cx="128016" cy="128016"/>
          </a:xfrm>
          <a:prstGeom prst="roundRect">
            <a:avLst>
              <a:gd name="adj" fmla="val 28571"/>
            </a:avLst>
          </a:prstGeom>
          <a:solidFill>
            <a:srgbClr val="C6F36B"/>
          </a:solidFill>
          <a:ln/>
        </p:spPr>
      </p:sp>
      <p:sp>
        <p:nvSpPr>
          <p:cNvPr id="13" name="Text 10"/>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6A7798"/>
                </a:solidFill>
                <a:latin typeface="Calibri" pitchFamily="34" charset="0"/>
                <a:ea typeface="Calibri" pitchFamily="34" charset="-122"/>
                <a:cs typeface="Calibri" pitchFamily="34" charset="-120"/>
              </a:rPr>
              <a:t>dersler.perinet.org/newton-yasalari.html</a:t>
            </a:r>
            <a:endParaRPr lang="en-US" sz="1050" dirty="0"/>
          </a:p>
        </p:txBody>
      </p:sp>
      <p:sp>
        <p:nvSpPr>
          <p:cNvPr id="14" name="Text 11"/>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6A7798"/>
                </a:solidFill>
                <a:latin typeface="Calibri" pitchFamily="34" charset="0"/>
                <a:ea typeface="Calibri" pitchFamily="34" charset="-122"/>
                <a:cs typeface="Calibri" pitchFamily="34" charset="-120"/>
              </a:rPr>
              <a:t>91</a:t>
            </a:r>
            <a:endParaRPr lang="en-US" sz="1050"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2600" b="1" spc="-50" kern="0" dirty="0">
                <a:solidFill>
                  <a:srgbClr val="0E1426"/>
                </a:solidFill>
                <a:latin typeface="Cambria" pitchFamily="34" charset="0"/>
                <a:ea typeface="Cambria" pitchFamily="34" charset="-122"/>
                <a:cs typeface="Cambria" pitchFamily="34" charset="-120"/>
              </a:rPr>
              <a:t>Birlikte hareket eden cisimler: sistem ve iç kuvvetler</a:t>
            </a:r>
            <a:endParaRPr lang="en-US" sz="26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1 / 4</a:t>
            </a:r>
            <a:endParaRPr lang="en-US" sz="950" dirty="0"/>
          </a:p>
        </p:txBody>
      </p:sp>
      <p:sp>
        <p:nvSpPr>
          <p:cNvPr id="6" name="Text 4"/>
          <p:cNvSpPr txBox="1"/>
          <p:nvPr/>
        </p:nvSpPr>
        <p:spPr>
          <a:xfrm>
            <a:off x="640080" y="1325880"/>
            <a:ext cx="10911535" cy="3450336"/>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İple bağlı iki kutu, birbirine değen iki blok ya da bir makaradan sarkan yük…</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Birden çok cismin birlikte hareket ettiği problemlerde iki bakış açısı vardır ve ikisini birlikte kullanmak en kısa yoldur.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Önce bütün cisimleri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tek bir sistem</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gibi düşünürsün.</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Sistemin içindeki cisimlerin birbirine uyguladığı kuvvetler (örneğin ip gerilmesi)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iç kuvvetlerdir</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3. yasa gereği çiftler hâlinde, eşit ve zıt oldukları için sistemin toplam hareketine hiçbir katkıları yoktur.</a:t>
            </a:r>
            <a:endParaRPr lang="en-US" sz="2200" dirty="0"/>
          </a:p>
        </p:txBody>
      </p:sp>
      <p:sp>
        <p:nvSpPr>
          <p:cNvPr id="7" name="Text 5"/>
          <p:cNvSpPr txBox="1"/>
          <p:nvPr/>
        </p:nvSpPr>
        <p:spPr>
          <a:xfrm>
            <a:off x="640080" y="4977384"/>
            <a:ext cx="10911535" cy="477012"/>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Sistemi yalnızca dış kuvvetler hızlandırır.</a:t>
            </a:r>
            <a:endParaRPr lang="en-US" sz="2200" dirty="0"/>
          </a:p>
        </p:txBody>
      </p:sp>
      <p:sp>
        <p:nvSpPr>
          <p:cNvPr id="9" name="Shape 6"/>
          <p:cNvSpPr/>
          <p:nvPr/>
        </p:nvSpPr>
        <p:spPr>
          <a:xfrm>
            <a:off x="640080" y="6382512"/>
            <a:ext cx="128016" cy="128016"/>
          </a:xfrm>
          <a:prstGeom prst="roundRect">
            <a:avLst>
              <a:gd name="adj" fmla="val 28571"/>
            </a:avLst>
          </a:prstGeom>
          <a:solidFill>
            <a:srgbClr val="A9E648"/>
          </a:solidFill>
          <a:ln/>
        </p:spPr>
      </p:sp>
      <p:sp>
        <p:nvSpPr>
          <p:cNvPr id="10"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dersler.perinet.org/newton-yasalari.html</a:t>
            </a:r>
            <a:endParaRPr lang="en-US" sz="1050" dirty="0"/>
          </a:p>
        </p:txBody>
      </p:sp>
      <p:sp>
        <p:nvSpPr>
          <p:cNvPr id="11"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92</a:t>
            </a:r>
            <a:endParaRPr lang="en-US" sz="1050"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2600" b="1" spc="-50" kern="0" dirty="0">
                <a:solidFill>
                  <a:srgbClr val="0E1426"/>
                </a:solidFill>
                <a:latin typeface="Cambria" pitchFamily="34" charset="0"/>
                <a:ea typeface="Cambria" pitchFamily="34" charset="-122"/>
                <a:cs typeface="Cambria" pitchFamily="34" charset="-120"/>
              </a:rPr>
              <a:t>Birlikte hareket eden cisimler: sistem ve iç kuvvetler</a:t>
            </a:r>
            <a:endParaRPr lang="en-US" sz="26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2 / 4</a:t>
            </a:r>
            <a:endParaRPr lang="en-US" sz="950" dirty="0"/>
          </a:p>
        </p:txBody>
      </p:sp>
      <p:sp>
        <p:nvSpPr>
          <p:cNvPr id="6" name="Text 4"/>
          <p:cNvSpPr txBox="1"/>
          <p:nvPr/>
        </p:nvSpPr>
        <p:spPr>
          <a:xfrm>
            <a:off x="640080" y="1325880"/>
            <a:ext cx="10911535" cy="2114550"/>
          </a:xfrm>
          <a:prstGeom prst="rect">
            <a:avLst/>
          </a:prstGeom>
          <a:noFill/>
          <a:ln/>
        </p:spPr>
        <p:txBody>
          <a:bodyPr wrap="square" lIns="0" tIns="0" rIns="0" bIns="0" rtlCol="0" anchor="t"/>
          <a:lstStyle/>
          <a:p>
            <a:pPr marL="228600" indent="-228600">
              <a:lnSpc>
                <a:spcPct val="115000"/>
              </a:lnSpc>
              <a:spcAft>
                <a:spcPts val="800"/>
              </a:spcAft>
              <a:buSzPct val="100000"/>
              <a:buFont typeface="+mj-lt"/>
              <a:buAutoNum type="arabicPeriod" startAt="1"/>
            </a:pPr>
            <a:r>
              <a:rPr lang="en-US" sz="2100" b="1" dirty="0">
                <a:solidFill>
                  <a:srgbClr val="0E1426"/>
                </a:solidFill>
                <a:latin typeface="Calibri" pitchFamily="34" charset="0"/>
                <a:ea typeface="Calibri" pitchFamily="34" charset="-122"/>
                <a:cs typeface="Calibri" pitchFamily="34" charset="-120"/>
              </a:rPr>
              <a:t>Sistemin ivmesi:</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dış kuvvetlerin hareket yönündeki toplamını toplam kütleye böl.</a:t>
            </a:r>
            <a:endParaRPr lang="en-US" sz="2100" dirty="0"/>
          </a:p>
          <a:p>
            <a:pPr marL="228600" indent="-228600">
              <a:lnSpc>
                <a:spcPct val="115000"/>
              </a:lnSpc>
              <a:spcAft>
                <a:spcPts val="800"/>
              </a:spcAft>
              <a:buSzPct val="100000"/>
              <a:buFont typeface="+mj-lt"/>
              <a:buAutoNum type="arabicPeriod" startAt="1"/>
            </a:pPr>
            <a:r>
              <a:rPr lang="en-US" sz="2100" b="1" dirty="0">
                <a:solidFill>
                  <a:srgbClr val="0E1426"/>
                </a:solidFill>
                <a:latin typeface="Calibri" pitchFamily="34" charset="0"/>
                <a:ea typeface="Calibri" pitchFamily="34" charset="-122"/>
                <a:cs typeface="Calibri" pitchFamily="34" charset="-120"/>
              </a:rPr>
              <a:t>Bir cismi ayır:</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ip gerilmesi gibi bir iç kuvveti bulmak için tek bir cismin serbest cisim diyagramını çiz.</a:t>
            </a:r>
            <a:endParaRPr lang="en-US" sz="2100" dirty="0"/>
          </a:p>
          <a:p>
            <a:pPr marL="228600" indent="-228600">
              <a:lnSpc>
                <a:spcPct val="115000"/>
              </a:lnSpc>
              <a:spcAft>
                <a:spcPts val="800"/>
              </a:spcAft>
              <a:buSzPct val="100000"/>
              <a:buFont typeface="+mj-lt"/>
              <a:buAutoNum type="arabicPeriod" startAt="1"/>
            </a:pPr>
            <a:r>
              <a:rPr lang="en-US" sz="2100" b="1" dirty="0">
                <a:solidFill>
                  <a:srgbClr val="0E1426"/>
                </a:solidFill>
                <a:latin typeface="Calibri" pitchFamily="34" charset="0"/>
                <a:ea typeface="Calibri" pitchFamily="34" charset="-122"/>
                <a:cs typeface="Calibri" pitchFamily="34" charset="-120"/>
              </a:rPr>
              <a:t>Kontrol et:</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öbür cisim için de ΣF = m·a yazıp aynı ivmenin çıktığını gör.</a:t>
            </a:r>
            <a:endParaRPr lang="en-US" sz="2100" dirty="0"/>
          </a:p>
        </p:txBody>
      </p:sp>
      <p:sp>
        <p:nvSpPr>
          <p:cNvPr id="7" name="Shape 5"/>
          <p:cNvSpPr/>
          <p:nvPr/>
        </p:nvSpPr>
        <p:spPr>
          <a:xfrm>
            <a:off x="640080" y="3641598"/>
            <a:ext cx="3189427" cy="585216"/>
          </a:xfrm>
          <a:prstGeom prst="roundRect">
            <a:avLst>
              <a:gd name="adj" fmla="val 18750"/>
            </a:avLst>
          </a:prstGeom>
          <a:solidFill>
            <a:srgbClr val="EEF2FC"/>
          </a:solidFill>
          <a:ln w="9525">
            <a:solidFill>
              <a:srgbClr val="CBD7F4"/>
            </a:solidFill>
            <a:prstDash val="solid"/>
          </a:ln>
        </p:spPr>
      </p:sp>
      <p:sp>
        <p:nvSpPr>
          <p:cNvPr id="8" name="Text 6"/>
          <p:cNvSpPr txBox="1"/>
          <p:nvPr/>
        </p:nvSpPr>
        <p:spPr>
          <a:xfrm>
            <a:off x="640080" y="3641598"/>
            <a:ext cx="3189427" cy="585216"/>
          </a:xfrm>
          <a:prstGeom prst="rect">
            <a:avLst/>
          </a:prstGeom>
          <a:noFill/>
          <a:ln/>
        </p:spPr>
        <p:txBody>
          <a:bodyPr wrap="square" lIns="0" tIns="0" rIns="0" bIns="0" rtlCol="0" anchor="ctr"/>
          <a:lstStyle/>
          <a:p>
            <a:pPr algn="ctr" indent="0" marL="0">
              <a:buNone/>
            </a:pPr>
            <a:r>
              <a:rPr lang="en-US" sz="1800" b="1" dirty="0">
                <a:solidFill>
                  <a:srgbClr val="2957D4"/>
                </a:solidFill>
                <a:latin typeface="Courier New" pitchFamily="34" charset="0"/>
                <a:ea typeface="Courier New" pitchFamily="34" charset="-122"/>
                <a:cs typeface="Courier New" pitchFamily="34" charset="-120"/>
              </a:rPr>
              <a:t>a = ΣFdış / mtoplam</a:t>
            </a:r>
            <a:endParaRPr lang="en-US" sz="1800" dirty="0"/>
          </a:p>
        </p:txBody>
      </p:sp>
      <p:sp>
        <p:nvSpPr>
          <p:cNvPr id="10" name="Shape 7"/>
          <p:cNvSpPr/>
          <p:nvPr/>
        </p:nvSpPr>
        <p:spPr>
          <a:xfrm>
            <a:off x="640080" y="6382512"/>
            <a:ext cx="128016" cy="128016"/>
          </a:xfrm>
          <a:prstGeom prst="roundRect">
            <a:avLst>
              <a:gd name="adj" fmla="val 28571"/>
            </a:avLst>
          </a:prstGeom>
          <a:solidFill>
            <a:srgbClr val="A9E648"/>
          </a:solidFill>
          <a:ln/>
        </p:spPr>
      </p:sp>
      <p:sp>
        <p:nvSpPr>
          <p:cNvPr id="11" name="Text 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dersler.perinet.org/newton-yasalari.html</a:t>
            </a:r>
            <a:endParaRPr lang="en-US" sz="1050" dirty="0"/>
          </a:p>
        </p:txBody>
      </p:sp>
      <p:sp>
        <p:nvSpPr>
          <p:cNvPr id="12" name="Text 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93</a:t>
            </a:r>
            <a:endParaRPr lang="en-US" sz="1050"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2600" b="1" spc="-50" kern="0" dirty="0">
                <a:solidFill>
                  <a:srgbClr val="0E1426"/>
                </a:solidFill>
                <a:latin typeface="Cambria" pitchFamily="34" charset="0"/>
                <a:ea typeface="Cambria" pitchFamily="34" charset="-122"/>
                <a:cs typeface="Cambria" pitchFamily="34" charset="-120"/>
              </a:rPr>
              <a:t>Birlikte hareket eden cisimler: sistem ve iç kuvvetler</a:t>
            </a:r>
            <a:endParaRPr lang="en-US" sz="26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3 / 4</a:t>
            </a:r>
            <a:endParaRPr lang="en-US" sz="950" dirty="0"/>
          </a:p>
        </p:txBody>
      </p:sp>
      <p:sp>
        <p:nvSpPr>
          <p:cNvPr id="6" name="Text 4"/>
          <p:cNvSpPr txBox="1"/>
          <p:nvPr/>
        </p:nvSpPr>
        <p:spPr>
          <a:xfrm>
            <a:off x="640080" y="1325880"/>
            <a:ext cx="10911535" cy="2770632"/>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Örnek: sürtünmesiz bir masa üstündeki 4 kg'lık kutu, masanın kenarındaki makaradan geçen iple 1 kg'lık sarkan bir yüke bağlı olsun (g = 10 m/s²).</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Sistemi hareket ettiren tek dış kuvvet sarkan yükün ağırlığıdır: 10 N.</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Sistemin ivmesi a = 10 / 5 =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2 m/s²</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Masadaki kutuyu yalnızca ip çeker: T = 4 · 2 =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8 N</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Kontrol: sarkan yük için 10 − 8 = 2 N = 1 · 2 ✓.</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dersler.perinet.org/newton-yasalari.html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94</a:t>
            </a:r>
            <a:endParaRPr lang="en-US" sz="1050"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2600" b="1" spc="-50" kern="0" dirty="0">
                <a:solidFill>
                  <a:srgbClr val="0E1426"/>
                </a:solidFill>
                <a:latin typeface="Cambria" pitchFamily="34" charset="0"/>
                <a:ea typeface="Cambria" pitchFamily="34" charset="-122"/>
                <a:cs typeface="Cambria" pitchFamily="34" charset="-120"/>
              </a:rPr>
              <a:t>Birlikte hareket eden cisimler: sistem ve iç kuvvetler</a:t>
            </a:r>
            <a:endParaRPr lang="en-US" sz="26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4 / 4</a:t>
            </a:r>
            <a:endParaRPr lang="en-US" sz="950" dirty="0"/>
          </a:p>
        </p:txBody>
      </p:sp>
      <p:sp>
        <p:nvSpPr>
          <p:cNvPr id="6" name="Shape 4"/>
          <p:cNvSpPr/>
          <p:nvPr/>
        </p:nvSpPr>
        <p:spPr>
          <a:xfrm>
            <a:off x="3445231" y="1271016"/>
            <a:ext cx="5301234" cy="3570732"/>
          </a:xfrm>
          <a:prstGeom prst="roundRect">
            <a:avLst>
              <a:gd name="adj" fmla="val 358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7" name="Image 0" descr="/tmp/claude-1000/-opt-dersler/8a8328c3-841c-44fa-b76f-82572d338d3d/scratchpad/d10/sek/newton-yasalari-ek3-genis.jpg">    </p:cNvPr>
          <p:cNvPicPr>
            <a:picLocks noChangeAspect="1"/>
          </p:cNvPicPr>
          <p:nvPr/>
        </p:nvPicPr>
        <p:blipFill>
          <a:blip r:embed="rId1"/>
          <a:stretch>
            <a:fillRect/>
          </a:stretch>
        </p:blipFill>
        <p:spPr>
          <a:xfrm>
            <a:off x="3500095" y="1325880"/>
            <a:ext cx="5191506" cy="3461004"/>
          </a:xfrm>
          <a:prstGeom prst="rect">
            <a:avLst/>
          </a:prstGeom>
        </p:spPr>
      </p:pic>
      <p:sp>
        <p:nvSpPr>
          <p:cNvPr id="8" name="Text 5"/>
          <p:cNvSpPr txBox="1"/>
          <p:nvPr/>
        </p:nvSpPr>
        <p:spPr>
          <a:xfrm>
            <a:off x="1249528" y="5024628"/>
            <a:ext cx="9692640" cy="1120140"/>
          </a:xfrm>
          <a:prstGeom prst="rect">
            <a:avLst/>
          </a:prstGeom>
          <a:noFill/>
          <a:ln/>
        </p:spPr>
        <p:txBody>
          <a:bodyPr wrap="square" lIns="0" tIns="0" rIns="0" bIns="0" rtlCol="0" anchor="t"/>
          <a:lstStyle/>
          <a:p>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Masadaki araba ile sarkan yük</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aynı gergin ipe bağlı olduğu için, bırakıldıklarında aynı büyüklükte ivmeyle hareket eder. Sistemi yürüten dış kuvvet sarkan yükün ağırlığıdır ve bu kuvvet iki kütleyi birlikte hızlandırır: a = ΣF</a:t>
            </a:r>
            <a:pPr algn="ctr" indent="0" marL="0">
              <a:lnSpc>
                <a:spcPct val="115000"/>
              </a:lnSpc>
              <a:buNone/>
            </a:pPr>
            <a:r>
              <a:rPr lang="en-US" sz="1350" baseline="-40000" dirty="0">
                <a:solidFill>
                  <a:srgbClr val="4A5470"/>
                </a:solidFill>
                <a:latin typeface="Calibri" pitchFamily="34" charset="0"/>
                <a:ea typeface="Calibri" pitchFamily="34" charset="-122"/>
                <a:cs typeface="Calibri" pitchFamily="34" charset="-120"/>
              </a:rPr>
              <a:t>dış</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/m</a:t>
            </a:r>
            <a:pPr algn="ctr" indent="0" marL="0">
              <a:lnSpc>
                <a:spcPct val="115000"/>
              </a:lnSpc>
              <a:buNone/>
            </a:pPr>
            <a:r>
              <a:rPr lang="en-US" sz="1350" baseline="-40000" dirty="0">
                <a:solidFill>
                  <a:srgbClr val="4A5470"/>
                </a:solidFill>
                <a:latin typeface="Calibri" pitchFamily="34" charset="0"/>
                <a:ea typeface="Calibri" pitchFamily="34" charset="-122"/>
                <a:cs typeface="Calibri" pitchFamily="34" charset="-120"/>
              </a:rPr>
              <a:t>toplam</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İpteki gerilme ise bir iç kuvvettir; onu bulmak için arabayı ya da yükü ayrı ayrı incelersin ve gerilmenin yükün ağırlığından küçük çıktığını görürsün.</a:t>
            </a:r>
            <a:endParaRPr lang="en-US" sz="1350" dirty="0"/>
          </a:p>
        </p:txBody>
      </p:sp>
      <p:sp>
        <p:nvSpPr>
          <p:cNvPr id="10" name="Shape 6"/>
          <p:cNvSpPr/>
          <p:nvPr/>
        </p:nvSpPr>
        <p:spPr>
          <a:xfrm>
            <a:off x="640080" y="6382512"/>
            <a:ext cx="128016" cy="128016"/>
          </a:xfrm>
          <a:prstGeom prst="roundRect">
            <a:avLst>
              <a:gd name="adj" fmla="val 28571"/>
            </a:avLst>
          </a:prstGeom>
          <a:solidFill>
            <a:srgbClr val="A9E648"/>
          </a:solidFill>
          <a:ln/>
        </p:spPr>
      </p:sp>
      <p:sp>
        <p:nvSpPr>
          <p:cNvPr id="11"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dersler.perinet.org/newton-yasalari.html</a:t>
            </a:r>
            <a:endParaRPr lang="en-US" sz="1050" dirty="0"/>
          </a:p>
        </p:txBody>
      </p:sp>
      <p:sp>
        <p:nvSpPr>
          <p:cNvPr id="12"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95</a:t>
            </a:r>
            <a:endParaRPr lang="en-US" sz="1050"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2600" b="1" spc="-50" kern="0" dirty="0">
                <a:solidFill>
                  <a:srgbClr val="0E1426"/>
                </a:solidFill>
                <a:latin typeface="Cambria" pitchFamily="34" charset="0"/>
                <a:ea typeface="Cambria" pitchFamily="34" charset="-122"/>
                <a:cs typeface="Cambria" pitchFamily="34" charset="-120"/>
              </a:rPr>
              <a:t>Birlikte hareket eden cisimler: sistem ve iç kuvvetler</a:t>
            </a:r>
            <a:endParaRPr lang="en-US" sz="26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6" name="Shape 4"/>
          <p:cNvSpPr/>
          <p:nvPr/>
        </p:nvSpPr>
        <p:spPr>
          <a:xfrm>
            <a:off x="1005840" y="1691640"/>
            <a:ext cx="10180015" cy="3840480"/>
          </a:xfrm>
          <a:prstGeom prst="roundRect">
            <a:avLst>
              <a:gd name="adj" fmla="val 523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042416" y="2148840"/>
            <a:ext cx="73152" cy="2926080"/>
          </a:xfrm>
          <a:prstGeom prst="rect">
            <a:avLst/>
          </a:prstGeom>
          <a:solidFill>
            <a:srgbClr val="5F4BD8"/>
          </a:solidFill>
          <a:ln/>
        </p:spPr>
      </p:sp>
      <p:sp>
        <p:nvSpPr>
          <p:cNvPr id="8" name="Text 6"/>
          <p:cNvSpPr txBox="1"/>
          <p:nvPr/>
        </p:nvSpPr>
        <p:spPr>
          <a:xfrm>
            <a:off x="1554480" y="1984248"/>
            <a:ext cx="9082735" cy="292608"/>
          </a:xfrm>
          <a:prstGeom prst="rect">
            <a:avLst/>
          </a:prstGeom>
          <a:noFill/>
          <a:ln/>
        </p:spPr>
        <p:txBody>
          <a:bodyPr wrap="square" lIns="0" tIns="0" rIns="0" bIns="0" rtlCol="0" anchor="ctr"/>
          <a:lstStyle/>
          <a:p>
            <a:pPr indent="0" marL="0">
              <a:buNone/>
            </a:pPr>
            <a:r>
              <a:rPr lang="en-US" sz="1200" b="1" spc="300" kern="0" dirty="0">
                <a:solidFill>
                  <a:srgbClr val="5F4BD8"/>
                </a:solidFill>
                <a:latin typeface="Calibri" pitchFamily="34" charset="0"/>
                <a:ea typeface="Calibri" pitchFamily="34" charset="-122"/>
                <a:cs typeface="Calibri" pitchFamily="34" charset="-120"/>
              </a:rPr>
              <a:t>KISACA  ·  BU BÖLÜMDE ÖĞRENDİK</a:t>
            </a:r>
            <a:endParaRPr lang="en-US" sz="1200" dirty="0"/>
          </a:p>
        </p:txBody>
      </p:sp>
      <p:sp>
        <p:nvSpPr>
          <p:cNvPr id="9" name="Text 7"/>
          <p:cNvSpPr txBox="1"/>
          <p:nvPr/>
        </p:nvSpPr>
        <p:spPr>
          <a:xfrm>
            <a:off x="1554480" y="2423160"/>
            <a:ext cx="9082735" cy="2743200"/>
          </a:xfrm>
          <a:prstGeom prst="rect">
            <a:avLst/>
          </a:prstGeom>
          <a:noFill/>
          <a:ln/>
        </p:spPr>
        <p:txBody>
          <a:bodyPr wrap="square" lIns="0" tIns="0" rIns="0" bIns="0" rtlCol="0" anchor="ctr"/>
          <a:lstStyle/>
          <a:p>
            <a:pPr indent="0" marL="0">
              <a:lnSpc>
                <a:spcPct val="125000"/>
              </a:lnSpc>
              <a:buNone/>
            </a:pPr>
            <a:r>
              <a:rPr lang="en-US" sz="2800" dirty="0">
                <a:solidFill>
                  <a:srgbClr val="0E1426"/>
                </a:solidFill>
                <a:latin typeface="Cambria" pitchFamily="34" charset="0"/>
                <a:ea typeface="Cambria" pitchFamily="34" charset="-122"/>
                <a:cs typeface="Cambria" pitchFamily="34" charset="-120"/>
              </a:rPr>
              <a:t>Birlikte hareket eden cisimlerde önce sistemi tek cisim say: a = ΣF</a:t>
            </a:r>
            <a:pPr indent="0" marL="0">
              <a:lnSpc>
                <a:spcPct val="125000"/>
              </a:lnSpc>
              <a:buNone/>
            </a:pPr>
            <a:r>
              <a:rPr lang="en-US" sz="2800" baseline="-40000" dirty="0">
                <a:solidFill>
                  <a:srgbClr val="0E1426"/>
                </a:solidFill>
                <a:latin typeface="Cambria" pitchFamily="34" charset="0"/>
                <a:ea typeface="Cambria" pitchFamily="34" charset="-122"/>
                <a:cs typeface="Cambria" pitchFamily="34" charset="-120"/>
              </a:rPr>
              <a:t>dış</a:t>
            </a:r>
            <a:pPr indent="0" marL="0">
              <a:lnSpc>
                <a:spcPct val="125000"/>
              </a:lnSpc>
              <a:buNone/>
            </a:pPr>
            <a:r>
              <a:rPr lang="en-US" sz="2800" dirty="0">
                <a:solidFill>
                  <a:srgbClr val="0E1426"/>
                </a:solidFill>
                <a:latin typeface="Cambria" pitchFamily="34" charset="0"/>
                <a:ea typeface="Cambria" pitchFamily="34" charset="-122"/>
                <a:cs typeface="Cambria" pitchFamily="34" charset="-120"/>
              </a:rPr>
              <a:t>/m</a:t>
            </a:r>
            <a:pPr indent="0" marL="0">
              <a:lnSpc>
                <a:spcPct val="125000"/>
              </a:lnSpc>
              <a:buNone/>
            </a:pPr>
            <a:r>
              <a:rPr lang="en-US" sz="2800" baseline="-40000" dirty="0">
                <a:solidFill>
                  <a:srgbClr val="0E1426"/>
                </a:solidFill>
                <a:latin typeface="Cambria" pitchFamily="34" charset="0"/>
                <a:ea typeface="Cambria" pitchFamily="34" charset="-122"/>
                <a:cs typeface="Cambria" pitchFamily="34" charset="-120"/>
              </a:rPr>
              <a:t>toplam</a:t>
            </a:r>
            <a:pPr indent="0" marL="0">
              <a:lnSpc>
                <a:spcPct val="125000"/>
              </a:lnSpc>
              <a:buNone/>
            </a:pPr>
            <a:r>
              <a:rPr lang="en-US" sz="2800" dirty="0">
                <a:solidFill>
                  <a:srgbClr val="0E1426"/>
                </a:solidFill>
                <a:latin typeface="Cambria" pitchFamily="34" charset="0"/>
                <a:ea typeface="Cambria" pitchFamily="34" charset="-122"/>
                <a:cs typeface="Cambria" pitchFamily="34" charset="-120"/>
              </a:rPr>
              <a:t>. İç kuvvetler birbirini götürür; ip gerilmesi gibi bir iç kuvveti tek bir cismi ayırarak bulursun.</a:t>
            </a:r>
            <a:endParaRPr lang="en-US" sz="28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dersler.perinet.org/newton-yasalari.html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96</a:t>
            </a:r>
            <a:endParaRPr lang="en-US" sz="1050"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bg>
      <p:bgPr>
        <a:solidFill>
          <a:srgbClr val="F7F6FE"/>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3" name="Shape 1"/>
          <p:cNvSpPr/>
          <p:nvPr/>
        </p:nvSpPr>
        <p:spPr>
          <a:xfrm>
            <a:off x="822960" y="2011680"/>
            <a:ext cx="1554480" cy="1554480"/>
          </a:xfrm>
          <a:prstGeom prst="ellipse">
            <a:avLst/>
          </a:prstGeom>
          <a:solidFill>
            <a:srgbClr val="5F4BD8"/>
          </a:solidFill>
          <a:ln/>
          <a:effectLst>
            <a:outerShdw sx="100000" sy="100000" kx="0" ky="0" algn="bl" rotWithShape="0" blurRad="177800" dist="50800" dir="5400000">
              <a:srgbClr val="5F4BD8">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8000" b="1" dirty="0">
                <a:solidFill>
                  <a:srgbClr val="FFFFFF"/>
                </a:solidFill>
                <a:latin typeface="Cambria" pitchFamily="34" charset="0"/>
                <a:ea typeface="Cambria" pitchFamily="34" charset="-122"/>
                <a:cs typeface="Cambria" pitchFamily="34" charset="-120"/>
              </a:rPr>
              <a:t>?</a:t>
            </a:r>
            <a:endParaRPr lang="en-US" sz="8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5F4BD8"/>
                </a:solidFill>
                <a:latin typeface="Calibri" pitchFamily="34" charset="0"/>
                <a:ea typeface="Calibri" pitchFamily="34" charset="-122"/>
                <a:cs typeface="Calibri" pitchFamily="34" charset="-120"/>
              </a:rPr>
              <a:t>DÜŞÜN</a:t>
            </a:r>
            <a:endParaRPr lang="en-US" sz="1300" dirty="0"/>
          </a:p>
        </p:txBody>
      </p:sp>
      <p:sp>
        <p:nvSpPr>
          <p:cNvPr id="6" name="Text 4"/>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Bu örnekte ipteki gerilme neden sarkan yükün ağırlığından (10 N) küçük çıktı?</a:t>
            </a:r>
            <a:endParaRPr lang="en-US" sz="3200" dirty="0"/>
          </a:p>
        </p:txBody>
      </p:sp>
      <p:sp>
        <p:nvSpPr>
          <p:cNvPr id="7" name="Text 5"/>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11 · Birlikte hareket eden cisimler: sistem ve iç kuvvetler</a:t>
            </a:r>
            <a:pPr indent="0" marL="0">
              <a:buNone/>
            </a:pPr>
            <a:r>
              <a:rPr lang="en-US" sz="1200" b="1" dirty="0">
                <a:solidFill>
                  <a:srgbClr val="5F4BD8"/>
                </a:solidFill>
                <a:latin typeface="Calibri" pitchFamily="34" charset="0"/>
                <a:ea typeface="Calibri" pitchFamily="34" charset="-122"/>
                <a:cs typeface="Calibri" pitchFamily="34" charset="-120"/>
              </a:rPr>
              <a:t>     Cevap bir sonraki slaytta</a:t>
            </a:r>
            <a:endParaRPr lang="en-US" sz="1200" dirty="0"/>
          </a:p>
        </p:txBody>
      </p:sp>
      <p:sp>
        <p:nvSpPr>
          <p:cNvPr id="8" name="Shape 6"/>
          <p:cNvSpPr/>
          <p:nvPr/>
        </p:nvSpPr>
        <p:spPr>
          <a:xfrm>
            <a:off x="640080" y="6382512"/>
            <a:ext cx="128016" cy="128016"/>
          </a:xfrm>
          <a:prstGeom prst="roundRect">
            <a:avLst>
              <a:gd name="adj" fmla="val 28571"/>
            </a:avLst>
          </a:prstGeom>
          <a:solidFill>
            <a:srgbClr val="A9E648"/>
          </a:solidFill>
          <a:ln/>
        </p:spPr>
      </p:sp>
      <p:sp>
        <p:nvSpPr>
          <p:cNvPr id="9"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dersler.perinet.org/newton-yasalari.html</a:t>
            </a:r>
            <a:endParaRPr lang="en-US" sz="1050" dirty="0"/>
          </a:p>
        </p:txBody>
      </p:sp>
      <p:sp>
        <p:nvSpPr>
          <p:cNvPr id="10"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97</a:t>
            </a:r>
            <a:endParaRPr lang="en-US" sz="1050"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3" name="Shape 1"/>
          <p:cNvSpPr/>
          <p:nvPr/>
        </p:nvSpPr>
        <p:spPr>
          <a:xfrm>
            <a:off x="640080" y="457200"/>
            <a:ext cx="493776" cy="493776"/>
          </a:xfrm>
          <a:prstGeom prst="roundRect">
            <a:avLst>
              <a:gd name="adj" fmla="val 25926"/>
            </a:avLst>
          </a:prstGeom>
          <a:solidFill>
            <a:srgbClr val="5F4BD8"/>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Bu örnekte ipteki gerilme neden sarkan yükün ağırlığından (10 N) küçük çıktı?</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5F4BD8"/>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Çünkü sarkan yük </a:t>
            </a:r>
            <a:pPr indent="0" marL="0">
              <a:lnSpc>
                <a:spcPct val="125000"/>
              </a:lnSpc>
              <a:buNone/>
            </a:pPr>
            <a:r>
              <a:rPr lang="en-US" sz="2400" b="1" dirty="0">
                <a:solidFill>
                  <a:srgbClr val="5F4BD8"/>
                </a:solidFill>
                <a:latin typeface="Calibri" pitchFamily="34" charset="0"/>
                <a:ea typeface="Calibri" pitchFamily="34" charset="-122"/>
                <a:cs typeface="Calibri" pitchFamily="34" charset="-120"/>
              </a:rPr>
              <a:t>aşağı doğru hızlanıyor</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bunun için ona etkiyen net kuvvet aşağı yönlü olmalı, yani ağırlığı ip gerilmesinden büyük olmalı. Gerilme ağırlığa eşit olsaydı yük sabit hızla hareket ederdi.</a:t>
            </a:r>
            <a:endParaRPr lang="en-US" sz="24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dersler.perinet.org/newton-yasalari.html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98</a:t>
            </a:r>
            <a:endParaRPr lang="en-US" sz="1050"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000" b="1" spc="-50" kern="0" dirty="0">
                <a:solidFill>
                  <a:srgbClr val="0E1426"/>
                </a:solidFill>
                <a:latin typeface="Cambria" pitchFamily="34" charset="0"/>
                <a:ea typeface="Cambria" pitchFamily="34" charset="-122"/>
                <a:cs typeface="Cambria" pitchFamily="34" charset="-120"/>
              </a:rPr>
              <a:t>Yasaların sınırları: kime göre, ne kadar hızlı?</a:t>
            </a:r>
            <a:endParaRPr lang="en-US" sz="30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1 / 3</a:t>
            </a:r>
            <a:endParaRPr lang="en-US" sz="950" dirty="0"/>
          </a:p>
        </p:txBody>
      </p:sp>
      <p:sp>
        <p:nvSpPr>
          <p:cNvPr id="6" name="Text 4"/>
          <p:cNvSpPr txBox="1"/>
          <p:nvPr/>
        </p:nvSpPr>
        <p:spPr>
          <a:xfrm>
            <a:off x="640080" y="1325880"/>
            <a:ext cx="10911535" cy="1816608"/>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Newton yasaları yüzyıllardır köprüleri, uçakları ve uzay araçlarını hesaplamak için kullanılıyor.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Yine de her model gibi geçerli olduğu bir alan vardır.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Bu sınırları bilmek, yasaları doğru yerde kullanmanın parçasıdır.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dersler.perinet.org/newton-yasalari.html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99</a:t>
            </a:r>
            <a:endParaRPr lang="en-US" sz="1050"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000" b="1" spc="-50" kern="0" dirty="0">
                <a:solidFill>
                  <a:srgbClr val="0E1426"/>
                </a:solidFill>
                <a:latin typeface="Cambria" pitchFamily="34" charset="0"/>
                <a:ea typeface="Cambria" pitchFamily="34" charset="-122"/>
                <a:cs typeface="Cambria" pitchFamily="34" charset="-120"/>
              </a:rPr>
              <a:t>Yasaların sınırları: kime göre, ne kadar hızlı?</a:t>
            </a:r>
            <a:endParaRPr lang="en-US" sz="30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2 / 3</a:t>
            </a:r>
            <a:endParaRPr lang="en-US" sz="950" dirty="0"/>
          </a:p>
        </p:txBody>
      </p:sp>
      <p:sp>
        <p:nvSpPr>
          <p:cNvPr id="6" name="Text 4"/>
          <p:cNvSpPr txBox="1"/>
          <p:nvPr/>
        </p:nvSpPr>
        <p:spPr>
          <a:xfrm>
            <a:off x="640080" y="1325880"/>
            <a:ext cx="10911535" cy="3450336"/>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İlk sınır gözlemcidir.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Fren yapan otobüsün içinden bakan bir yolcu, koltuktaki poşetin hiçbir kuvvet etki etmeden öne doğru hızlandığını görür; ona göre 1. yasa bozulmuş gibidir.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Yoldaki bir gözlemci ise poşetin yalnızca eski hızıyla gitmeyi sürdürdüğünü, yavaşlayanın otobüs olduğunu görür.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Newton yasaları, ivmesi olmayan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eylemsiz gözlem çerçevelerinde</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geçerlidir.</a:t>
            </a:r>
            <a:endParaRPr lang="en-US" sz="2200" dirty="0"/>
          </a:p>
        </p:txBody>
      </p:sp>
      <p:sp>
        <p:nvSpPr>
          <p:cNvPr id="7" name="Text 5"/>
          <p:cNvSpPr txBox="1"/>
          <p:nvPr/>
        </p:nvSpPr>
        <p:spPr>
          <a:xfrm>
            <a:off x="640080" y="4977384"/>
            <a:ext cx="10911535" cy="477012"/>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Yer, günlük problemler için yeterince iyi bir eylemsiz çerçevedir.</a:t>
            </a:r>
            <a:endParaRPr lang="en-US" sz="2200" dirty="0"/>
          </a:p>
        </p:txBody>
      </p:sp>
      <p:sp>
        <p:nvSpPr>
          <p:cNvPr id="9" name="Shape 6"/>
          <p:cNvSpPr/>
          <p:nvPr/>
        </p:nvSpPr>
        <p:spPr>
          <a:xfrm>
            <a:off x="640080" y="6382512"/>
            <a:ext cx="128016" cy="128016"/>
          </a:xfrm>
          <a:prstGeom prst="roundRect">
            <a:avLst>
              <a:gd name="adj" fmla="val 28571"/>
            </a:avLst>
          </a:prstGeom>
          <a:solidFill>
            <a:srgbClr val="A9E648"/>
          </a:solidFill>
          <a:ln/>
        </p:spPr>
      </p:sp>
      <p:sp>
        <p:nvSpPr>
          <p:cNvPr id="10"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dersler.perinet.org/newton-yasalari.html</a:t>
            </a:r>
            <a:endParaRPr lang="en-US" sz="1050" dirty="0"/>
          </a:p>
        </p:txBody>
      </p:sp>
      <p:sp>
        <p:nvSpPr>
          <p:cNvPr id="11"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100</a:t>
            </a:r>
            <a:endParaRPr lang="en-US" sz="1050"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000" b="1" spc="-50" kern="0" dirty="0">
                <a:solidFill>
                  <a:srgbClr val="0E1426"/>
                </a:solidFill>
                <a:latin typeface="Cambria" pitchFamily="34" charset="0"/>
                <a:ea typeface="Cambria" pitchFamily="34" charset="-122"/>
                <a:cs typeface="Cambria" pitchFamily="34" charset="-120"/>
              </a:rPr>
              <a:t>Yasaların sınırları: kime göre, ne kadar hızlı?</a:t>
            </a:r>
            <a:endParaRPr lang="en-US" sz="30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3 / 3</a:t>
            </a:r>
            <a:endParaRPr lang="en-US" sz="950" dirty="0"/>
          </a:p>
        </p:txBody>
      </p:sp>
      <p:sp>
        <p:nvSpPr>
          <p:cNvPr id="6" name="Text 4"/>
          <p:cNvSpPr txBox="1"/>
          <p:nvPr/>
        </p:nvSpPr>
        <p:spPr>
          <a:xfrm>
            <a:off x="640080" y="1325880"/>
            <a:ext cx="10911535" cy="3310128"/>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İvmeli gözlemci:</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fren yapan araçta ya da dönen bir platformda yasalar olduğu gibi uygulanamaz.</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Çok büyük hızlar:</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ışık hızına yaklaşan cisimlerde görelilik kuramı gerekir; günlük hızlarda fark ölçülemeyecek kadar küçüktür.</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Çok küçük ölçekler:</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atomların ve elektronların dünyasını kuantum fiziği anlatır.</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Kütlesi değişen cisimler:</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yakıt yakan bir roketin kütlesi azalır; yasa her an o anki kütleyle yazılır ve aynı itme giderek daha büyük ivme verir.</a:t>
            </a:r>
            <a:endParaRPr lang="en-US" sz="21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dersler.perinet.org/newton-yasalari.html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101</a:t>
            </a:r>
            <a:endParaRPr lang="en-US" sz="1050"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000" b="1" spc="-50" kern="0" dirty="0">
                <a:solidFill>
                  <a:srgbClr val="0E1426"/>
                </a:solidFill>
                <a:latin typeface="Cambria" pitchFamily="34" charset="0"/>
                <a:ea typeface="Cambria" pitchFamily="34" charset="-122"/>
                <a:cs typeface="Cambria" pitchFamily="34" charset="-120"/>
              </a:rPr>
              <a:t>Yasaların sınırları: kime göre, ne kadar hızlı?</a:t>
            </a:r>
            <a:endParaRPr lang="en-US" sz="30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6" name="Shape 4"/>
          <p:cNvSpPr/>
          <p:nvPr/>
        </p:nvSpPr>
        <p:spPr>
          <a:xfrm>
            <a:off x="1005840" y="1691640"/>
            <a:ext cx="10180015" cy="3840480"/>
          </a:xfrm>
          <a:prstGeom prst="roundRect">
            <a:avLst>
              <a:gd name="adj" fmla="val 523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042416" y="2148840"/>
            <a:ext cx="73152" cy="2926080"/>
          </a:xfrm>
          <a:prstGeom prst="rect">
            <a:avLst/>
          </a:prstGeom>
          <a:solidFill>
            <a:srgbClr val="5F4BD8"/>
          </a:solidFill>
          <a:ln/>
        </p:spPr>
      </p:sp>
      <p:sp>
        <p:nvSpPr>
          <p:cNvPr id="8" name="Text 6"/>
          <p:cNvSpPr txBox="1"/>
          <p:nvPr/>
        </p:nvSpPr>
        <p:spPr>
          <a:xfrm>
            <a:off x="1554480" y="1984248"/>
            <a:ext cx="9082735" cy="292608"/>
          </a:xfrm>
          <a:prstGeom prst="rect">
            <a:avLst/>
          </a:prstGeom>
          <a:noFill/>
          <a:ln/>
        </p:spPr>
        <p:txBody>
          <a:bodyPr wrap="square" lIns="0" tIns="0" rIns="0" bIns="0" rtlCol="0" anchor="ctr"/>
          <a:lstStyle/>
          <a:p>
            <a:pPr indent="0" marL="0">
              <a:buNone/>
            </a:pPr>
            <a:r>
              <a:rPr lang="en-US" sz="1200" b="1" spc="300" kern="0" dirty="0">
                <a:solidFill>
                  <a:srgbClr val="5F4BD8"/>
                </a:solidFill>
                <a:latin typeface="Calibri" pitchFamily="34" charset="0"/>
                <a:ea typeface="Calibri" pitchFamily="34" charset="-122"/>
                <a:cs typeface="Calibri" pitchFamily="34" charset="-120"/>
              </a:rPr>
              <a:t>KISACA  ·  BU BÖLÜMDE ÖĞRENDİK</a:t>
            </a:r>
            <a:endParaRPr lang="en-US" sz="1200" dirty="0"/>
          </a:p>
        </p:txBody>
      </p:sp>
      <p:sp>
        <p:nvSpPr>
          <p:cNvPr id="9" name="Text 7"/>
          <p:cNvSpPr txBox="1"/>
          <p:nvPr/>
        </p:nvSpPr>
        <p:spPr>
          <a:xfrm>
            <a:off x="1554480" y="2423160"/>
            <a:ext cx="9082735" cy="2743200"/>
          </a:xfrm>
          <a:prstGeom prst="rect">
            <a:avLst/>
          </a:prstGeom>
          <a:noFill/>
          <a:ln/>
        </p:spPr>
        <p:txBody>
          <a:bodyPr wrap="square" lIns="0" tIns="0" rIns="0" bIns="0" rtlCol="0" anchor="ctr"/>
          <a:lstStyle/>
          <a:p>
            <a:pPr indent="0" marL="0">
              <a:lnSpc>
                <a:spcPct val="125000"/>
              </a:lnSpc>
              <a:buNone/>
            </a:pPr>
            <a:r>
              <a:rPr lang="en-US" sz="2800" dirty="0">
                <a:solidFill>
                  <a:srgbClr val="0E1426"/>
                </a:solidFill>
                <a:latin typeface="Cambria" pitchFamily="34" charset="0"/>
                <a:ea typeface="Cambria" pitchFamily="34" charset="-122"/>
                <a:cs typeface="Cambria" pitchFamily="34" charset="-120"/>
              </a:rPr>
              <a:t>Newton yasaları eylemsiz gözlem çerçevelerinde, günlük hızlarda ve gözle görülür ölçeklerde geçerlidir. İvmeli gözlemciler, ışık hızına yakın hızlar ve atom ölçeği bu modelin dışıdır.</a:t>
            </a:r>
            <a:endParaRPr lang="en-US" sz="28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dersler.perinet.org/newton-yasalari.html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102</a:t>
            </a:r>
            <a:endParaRPr lang="en-US" sz="1050"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bg>
      <p:bgPr>
        <a:solidFill>
          <a:srgbClr val="F7F6FE"/>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3" name="Shape 1"/>
          <p:cNvSpPr/>
          <p:nvPr/>
        </p:nvSpPr>
        <p:spPr>
          <a:xfrm>
            <a:off x="822960" y="2011680"/>
            <a:ext cx="1554480" cy="1554480"/>
          </a:xfrm>
          <a:prstGeom prst="ellipse">
            <a:avLst/>
          </a:prstGeom>
          <a:solidFill>
            <a:srgbClr val="5F4BD8"/>
          </a:solidFill>
          <a:ln/>
          <a:effectLst>
            <a:outerShdw sx="100000" sy="100000" kx="0" ky="0" algn="bl" rotWithShape="0" blurRad="177800" dist="50800" dir="5400000">
              <a:srgbClr val="5F4BD8">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8000" b="1" dirty="0">
                <a:solidFill>
                  <a:srgbClr val="FFFFFF"/>
                </a:solidFill>
                <a:latin typeface="Cambria" pitchFamily="34" charset="0"/>
                <a:ea typeface="Cambria" pitchFamily="34" charset="-122"/>
                <a:cs typeface="Cambria" pitchFamily="34" charset="-120"/>
              </a:rPr>
              <a:t>?</a:t>
            </a:r>
            <a:endParaRPr lang="en-US" sz="8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5F4BD8"/>
                </a:solidFill>
                <a:latin typeface="Calibri" pitchFamily="34" charset="0"/>
                <a:ea typeface="Calibri" pitchFamily="34" charset="-122"/>
                <a:cs typeface="Calibri" pitchFamily="34" charset="-120"/>
              </a:rPr>
              <a:t>DÜŞÜN</a:t>
            </a:r>
            <a:endParaRPr lang="en-US" sz="1300" dirty="0"/>
          </a:p>
        </p:txBody>
      </p:sp>
      <p:sp>
        <p:nvSpPr>
          <p:cNvPr id="6" name="Text 4"/>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Fren yapan otobüsteki bir yolcu, poşetin hiçbir kuvvet olmadan öne kaydığını görüyor. 1. yasa bozuldu mu?</a:t>
            </a:r>
            <a:endParaRPr lang="en-US" sz="3200" dirty="0"/>
          </a:p>
        </p:txBody>
      </p:sp>
      <p:sp>
        <p:nvSpPr>
          <p:cNvPr id="7" name="Text 5"/>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12 · Yasaların sınırları: kime göre, ne kadar hızlı?</a:t>
            </a:r>
            <a:pPr indent="0" marL="0">
              <a:buNone/>
            </a:pPr>
            <a:r>
              <a:rPr lang="en-US" sz="1200" b="1" dirty="0">
                <a:solidFill>
                  <a:srgbClr val="5F4BD8"/>
                </a:solidFill>
                <a:latin typeface="Calibri" pitchFamily="34" charset="0"/>
                <a:ea typeface="Calibri" pitchFamily="34" charset="-122"/>
                <a:cs typeface="Calibri" pitchFamily="34" charset="-120"/>
              </a:rPr>
              <a:t>     Cevap bir sonraki slaytta</a:t>
            </a:r>
            <a:endParaRPr lang="en-US" sz="1200" dirty="0"/>
          </a:p>
        </p:txBody>
      </p:sp>
      <p:sp>
        <p:nvSpPr>
          <p:cNvPr id="8" name="Shape 6"/>
          <p:cNvSpPr/>
          <p:nvPr/>
        </p:nvSpPr>
        <p:spPr>
          <a:xfrm>
            <a:off x="640080" y="6382512"/>
            <a:ext cx="128016" cy="128016"/>
          </a:xfrm>
          <a:prstGeom prst="roundRect">
            <a:avLst>
              <a:gd name="adj" fmla="val 28571"/>
            </a:avLst>
          </a:prstGeom>
          <a:solidFill>
            <a:srgbClr val="A9E648"/>
          </a:solidFill>
          <a:ln/>
        </p:spPr>
      </p:sp>
      <p:sp>
        <p:nvSpPr>
          <p:cNvPr id="9"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dersler.perinet.org/newton-yasalari.html</a:t>
            </a:r>
            <a:endParaRPr lang="en-US" sz="1050" dirty="0"/>
          </a:p>
        </p:txBody>
      </p:sp>
      <p:sp>
        <p:nvSpPr>
          <p:cNvPr id="10"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103</a:t>
            </a:r>
            <a:endParaRPr lang="en-US" sz="1050"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3" name="Shape 1"/>
          <p:cNvSpPr/>
          <p:nvPr/>
        </p:nvSpPr>
        <p:spPr>
          <a:xfrm>
            <a:off x="640080" y="457200"/>
            <a:ext cx="493776" cy="493776"/>
          </a:xfrm>
          <a:prstGeom prst="roundRect">
            <a:avLst>
              <a:gd name="adj" fmla="val 25926"/>
            </a:avLst>
          </a:prstGeom>
          <a:solidFill>
            <a:srgbClr val="5F4BD8"/>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Fren yapan otobüsteki bir yolcu, poşetin hiçbir kuvvet olmadan öne kaydığını görüyor. 1. yasa bozuldu mu?</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5F4BD8"/>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Hayır. Yolcu </a:t>
            </a:r>
            <a:pPr indent="0" marL="0">
              <a:lnSpc>
                <a:spcPct val="125000"/>
              </a:lnSpc>
              <a:buNone/>
            </a:pPr>
            <a:r>
              <a:rPr lang="en-US" sz="2400" b="1" dirty="0">
                <a:solidFill>
                  <a:srgbClr val="5F4BD8"/>
                </a:solidFill>
                <a:latin typeface="Calibri" pitchFamily="34" charset="0"/>
                <a:ea typeface="Calibri" pitchFamily="34" charset="-122"/>
                <a:cs typeface="Calibri" pitchFamily="34" charset="-120"/>
              </a:rPr>
              <a:t>ivmeli bir çerçeveden</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bakıyor. Yere göre poşet yalnızca eski hızıyla gitmeyi sürdürüyor, yavaşlayan otobüstür. Newton yasaları ivmesiz (eylemsiz) çerçevelerde geçerlidir.</a:t>
            </a:r>
            <a:endParaRPr lang="en-US" sz="24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dersler.perinet.org/newton-yasalari.html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104</a:t>
            </a:r>
            <a:endParaRPr lang="en-US" sz="1050"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Newton yasaları gerçek dünyada</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1 / 4</a:t>
            </a:r>
            <a:endParaRPr lang="en-US" sz="950" dirty="0"/>
          </a:p>
        </p:txBody>
      </p:sp>
      <p:sp>
        <p:nvSpPr>
          <p:cNvPr id="6" name="Text 4"/>
          <p:cNvSpPr txBox="1"/>
          <p:nvPr/>
        </p:nvSpPr>
        <p:spPr>
          <a:xfrm>
            <a:off x="640080" y="1325880"/>
            <a:ext cx="10911535" cy="2110740"/>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Üç yasa, arabaların güvenlik donanımından roketlere kadar mühendisliğin her köşesinde hesaplanır.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Aşağıdaki sayılar g = 10 m/s² ile yuvarlatılmış örneklerdir; ama hepsinde aynı soru sorulur: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hangi kuvvet, hangi kütleye, ne kadar süre etki ediyor?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dersler.perinet.org/newton-yasalari.html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105</a:t>
            </a:r>
            <a:endParaRPr lang="en-US" sz="1050"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Newton yasaları gerçek dünyada</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2 / 4</a:t>
            </a:r>
            <a:endParaRPr lang="en-US" sz="950" dirty="0"/>
          </a:p>
        </p:txBody>
      </p:sp>
      <p:sp>
        <p:nvSpPr>
          <p:cNvPr id="6" name="Text 4"/>
          <p:cNvSpPr txBox="1"/>
          <p:nvPr/>
        </p:nvSpPr>
        <p:spPr>
          <a:xfrm>
            <a:off x="640080" y="1325880"/>
            <a:ext cx="10911535" cy="3310128"/>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Roket kalkışı:</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itme ağırlığın 1,3 katıysa net kuvvet 0,3·m·g olur ve roket a ≈ 3 m/s² ile yükselir.</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Hava yastığı:</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15 m/s ile giden 60 kg'lık sürücüyü 0,1 s'de durdurmak ortalama 9000 N ister; 0,01 s'de durursa 90 000 N.</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Buzlu yol:</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kuru asfaltta μ ≈ 0,8, buzda 0,1 civarı. 15 m/s'den en kısa duruş asfaltta ≈ 14 m, buzda ≈ 113 m.</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Asansör:</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1 m/s²'lik yukarı ivmede 70 kg'lık yolcuya N = 70·11 = 770 N etki eder; tartı 77 kg gösterir.</a:t>
            </a:r>
            <a:endParaRPr lang="en-US" sz="21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dersler.perinet.org/newton-yasalari.html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106</a:t>
            </a:r>
            <a:endParaRPr lang="en-US" sz="1050"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Newton yasaları gerçek dünyada</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3 / 4</a:t>
            </a:r>
            <a:endParaRPr lang="en-US" sz="950" dirty="0"/>
          </a:p>
        </p:txBody>
      </p:sp>
      <p:sp>
        <p:nvSpPr>
          <p:cNvPr id="6" name="Text 4"/>
          <p:cNvSpPr txBox="1"/>
          <p:nvPr/>
        </p:nvSpPr>
        <p:spPr>
          <a:xfrm>
            <a:off x="640080" y="1325880"/>
            <a:ext cx="10911535" cy="827532"/>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Koşuya çıkış:</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koşucu ayağıyla çıkış bloğunu geriye iter, blok onu ileri iter; bloksuz zeminde ayak kayabilir.</a:t>
            </a:r>
            <a:endParaRPr lang="en-US" sz="21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dersler.perinet.org/newton-yasalari.html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107</a:t>
            </a:r>
            <a:endParaRPr lang="en-US" sz="1050"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Newton yasaları gerçek dünyada</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4 / 4</a:t>
            </a:r>
            <a:endParaRPr lang="en-US" sz="950" dirty="0"/>
          </a:p>
        </p:txBody>
      </p:sp>
      <p:sp>
        <p:nvSpPr>
          <p:cNvPr id="6" name="Text 4"/>
          <p:cNvSpPr txBox="1"/>
          <p:nvPr/>
        </p:nvSpPr>
        <p:spPr>
          <a:xfrm>
            <a:off x="640080" y="1325880"/>
            <a:ext cx="10911535" cy="3450336"/>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Hava yastığı ve emniyet kemerinin sırrı 2. yasadadır.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Sürücünün hızı ne olursa olsun sıfıra inecektir; değiştirilebilen tek şey bunun ne kadar sürede olduğudur.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İvme, hız değişiminin süreye oranı olduğu için süreyi on katına çıkarmak ivmeyi, dolayısıyla kuvveti onda birine indirir.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Buzlu yol örneği ise sürtünmenin neden hayati olduğunu gösterir: fren ivmesinin üst sınırı μ·g'dir ve μ küçülünce durma mesafesi aynı oranda uzar.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dersler.perinet.org/newton-yasalari.html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108</a:t>
            </a:r>
            <a:endParaRPr lang="en-US" sz="1050"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Newton yasaları gerçek dünyada</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6" name="Shape 4"/>
          <p:cNvSpPr/>
          <p:nvPr/>
        </p:nvSpPr>
        <p:spPr>
          <a:xfrm>
            <a:off x="1005840" y="1691640"/>
            <a:ext cx="10180015" cy="3840480"/>
          </a:xfrm>
          <a:prstGeom prst="roundRect">
            <a:avLst>
              <a:gd name="adj" fmla="val 523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042416" y="2148840"/>
            <a:ext cx="73152" cy="2926080"/>
          </a:xfrm>
          <a:prstGeom prst="rect">
            <a:avLst/>
          </a:prstGeom>
          <a:solidFill>
            <a:srgbClr val="5F4BD8"/>
          </a:solidFill>
          <a:ln/>
        </p:spPr>
      </p:sp>
      <p:sp>
        <p:nvSpPr>
          <p:cNvPr id="8" name="Text 6"/>
          <p:cNvSpPr txBox="1"/>
          <p:nvPr/>
        </p:nvSpPr>
        <p:spPr>
          <a:xfrm>
            <a:off x="1554480" y="1984248"/>
            <a:ext cx="9082735" cy="292608"/>
          </a:xfrm>
          <a:prstGeom prst="rect">
            <a:avLst/>
          </a:prstGeom>
          <a:noFill/>
          <a:ln/>
        </p:spPr>
        <p:txBody>
          <a:bodyPr wrap="square" lIns="0" tIns="0" rIns="0" bIns="0" rtlCol="0" anchor="ctr"/>
          <a:lstStyle/>
          <a:p>
            <a:pPr indent="0" marL="0">
              <a:buNone/>
            </a:pPr>
            <a:r>
              <a:rPr lang="en-US" sz="1200" b="1" spc="300" kern="0" dirty="0">
                <a:solidFill>
                  <a:srgbClr val="5F4BD8"/>
                </a:solidFill>
                <a:latin typeface="Calibri" pitchFamily="34" charset="0"/>
                <a:ea typeface="Calibri" pitchFamily="34" charset="-122"/>
                <a:cs typeface="Calibri" pitchFamily="34" charset="-120"/>
              </a:rPr>
              <a:t>KISACA  ·  BU BÖLÜMDE ÖĞRENDİK</a:t>
            </a:r>
            <a:endParaRPr lang="en-US" sz="1200" dirty="0"/>
          </a:p>
        </p:txBody>
      </p:sp>
      <p:sp>
        <p:nvSpPr>
          <p:cNvPr id="9" name="Text 7"/>
          <p:cNvSpPr txBox="1"/>
          <p:nvPr/>
        </p:nvSpPr>
        <p:spPr>
          <a:xfrm>
            <a:off x="1554480" y="2423160"/>
            <a:ext cx="9082735" cy="2743200"/>
          </a:xfrm>
          <a:prstGeom prst="rect">
            <a:avLst/>
          </a:prstGeom>
          <a:noFill/>
          <a:ln/>
        </p:spPr>
        <p:txBody>
          <a:bodyPr wrap="square" lIns="0" tIns="0" rIns="0" bIns="0" rtlCol="0" anchor="ctr"/>
          <a:lstStyle/>
          <a:p>
            <a:pPr indent="0" marL="0">
              <a:lnSpc>
                <a:spcPct val="125000"/>
              </a:lnSpc>
              <a:buNone/>
            </a:pPr>
            <a:r>
              <a:rPr lang="en-US" sz="2800" dirty="0">
                <a:solidFill>
                  <a:srgbClr val="0E1426"/>
                </a:solidFill>
                <a:latin typeface="Cambria" pitchFamily="34" charset="0"/>
                <a:ea typeface="Cambria" pitchFamily="34" charset="-122"/>
                <a:cs typeface="Cambria" pitchFamily="34" charset="-120"/>
              </a:rPr>
              <a:t>Roketler 3. yasayla yükselir, hava yastıkları durma süresini uzatarak kuvveti küçültür, buzlu yolda fren ivmesi μ·g ile sınırlanır. Hepsi ΣF = m·a'nın günlük hayattaki yüzüdür.</a:t>
            </a:r>
            <a:endParaRPr lang="en-US" sz="28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dersler.perinet.org/newton-yasalari.html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109</a:t>
            </a:r>
            <a:endParaRPr lang="en-US" sz="1050"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bg>
      <p:bgPr>
        <a:solidFill>
          <a:srgbClr val="0E1426"/>
        </a:solidFill>
      </p:bgPr>
    </p:bg>
    <p:spTree>
      <p:nvGrpSpPr>
        <p:cNvPr id="1" name=""/>
        <p:cNvGrpSpPr/>
        <p:nvPr/>
      </p:nvGrpSpPr>
      <p:grpSpPr>
        <a:xfrm>
          <a:off x="0" y="0"/>
          <a:ext cx="0" cy="0"/>
          <a:chOff x="0" y="0"/>
          <a:chExt cx="0" cy="0"/>
        </a:xfrm>
      </p:grpSpPr>
      <p:sp>
        <p:nvSpPr>
          <p:cNvPr id="2" name="Text 0"/>
          <p:cNvSpPr txBox="1"/>
          <p:nvPr/>
        </p:nvSpPr>
        <p:spPr>
          <a:xfrm>
            <a:off x="685800" y="365760"/>
            <a:ext cx="1828800" cy="1874520"/>
          </a:xfrm>
          <a:prstGeom prst="rect">
            <a:avLst/>
          </a:prstGeom>
          <a:noFill/>
          <a:ln/>
        </p:spPr>
        <p:txBody>
          <a:bodyPr wrap="square" lIns="0" tIns="0" rIns="0" bIns="0" rtlCol="0" anchor="ctr"/>
          <a:lstStyle/>
          <a:p>
            <a:pPr indent="0" marL="0">
              <a:buNone/>
            </a:pPr>
            <a:r>
              <a:rPr lang="en-US" sz="11600" b="1" dirty="0">
                <a:solidFill>
                  <a:srgbClr val="FFCB6B"/>
                </a:solidFill>
                <a:latin typeface="Cambria" pitchFamily="34" charset="0"/>
                <a:ea typeface="Cambria" pitchFamily="34" charset="-122"/>
                <a:cs typeface="Cambria" pitchFamily="34" charset="-120"/>
              </a:rPr>
              <a:t>4</a:t>
            </a:r>
            <a:endParaRPr lang="en-US" sz="11600" dirty="0"/>
          </a:p>
        </p:txBody>
      </p:sp>
      <p:sp>
        <p:nvSpPr>
          <p:cNvPr id="3" name="Text 1"/>
          <p:cNvSpPr txBox="1"/>
          <p:nvPr/>
        </p:nvSpPr>
        <p:spPr>
          <a:xfrm>
            <a:off x="731520" y="2286000"/>
            <a:ext cx="4572000" cy="292608"/>
          </a:xfrm>
          <a:prstGeom prst="rect">
            <a:avLst/>
          </a:prstGeom>
          <a:noFill/>
          <a:ln/>
        </p:spPr>
        <p:txBody>
          <a:bodyPr wrap="square" lIns="0" tIns="0" rIns="0" bIns="0" rtlCol="0" anchor="ctr"/>
          <a:lstStyle/>
          <a:p>
            <a:pPr indent="0" marL="0">
              <a:buNone/>
            </a:pPr>
            <a:r>
              <a:rPr lang="en-US" sz="1200" b="1" spc="300" kern="0" dirty="0">
                <a:solidFill>
                  <a:srgbClr val="FFCB6B"/>
                </a:solidFill>
                <a:latin typeface="Calibri" pitchFamily="34" charset="0"/>
                <a:ea typeface="Calibri" pitchFamily="34" charset="-122"/>
                <a:cs typeface="Calibri" pitchFamily="34" charset="-120"/>
              </a:rPr>
              <a:t>BASAMAK 4 / 4</a:t>
            </a:r>
            <a:endParaRPr lang="en-US" sz="1200" dirty="0"/>
          </a:p>
        </p:txBody>
      </p:sp>
      <p:sp>
        <p:nvSpPr>
          <p:cNvPr id="4" name="Text 2"/>
          <p:cNvSpPr txBox="1"/>
          <p:nvPr/>
        </p:nvSpPr>
        <p:spPr>
          <a:xfrm>
            <a:off x="685800" y="2578608"/>
            <a:ext cx="5120640" cy="822960"/>
          </a:xfrm>
          <a:prstGeom prst="rect">
            <a:avLst/>
          </a:prstGeom>
          <a:noFill/>
          <a:ln/>
        </p:spPr>
        <p:txBody>
          <a:bodyPr wrap="square" lIns="0" tIns="0" rIns="0" bIns="0" rtlCol="0" anchor="ctr"/>
          <a:lstStyle/>
          <a:p>
            <a:pPr indent="0" marL="0">
              <a:buNone/>
            </a:pPr>
            <a:r>
              <a:rPr lang="en-US" sz="4600" b="1" spc="-100" kern="0" dirty="0">
                <a:solidFill>
                  <a:srgbClr val="FFFFFF"/>
                </a:solidFill>
                <a:latin typeface="Cambria" pitchFamily="34" charset="0"/>
                <a:ea typeface="Cambria" pitchFamily="34" charset="-122"/>
                <a:cs typeface="Cambria" pitchFamily="34" charset="-120"/>
              </a:rPr>
              <a:t>Pekiştir</a:t>
            </a:r>
            <a:endParaRPr lang="en-US" sz="4600" dirty="0"/>
          </a:p>
        </p:txBody>
      </p:sp>
      <p:sp>
        <p:nvSpPr>
          <p:cNvPr id="5" name="Text 3"/>
          <p:cNvSpPr txBox="1"/>
          <p:nvPr/>
        </p:nvSpPr>
        <p:spPr>
          <a:xfrm>
            <a:off x="731520" y="3474720"/>
            <a:ext cx="4846320" cy="914400"/>
          </a:xfrm>
          <a:prstGeom prst="rect">
            <a:avLst/>
          </a:prstGeom>
          <a:noFill/>
          <a:ln/>
        </p:spPr>
        <p:txBody>
          <a:bodyPr wrap="square" lIns="0" tIns="0" rIns="0" bIns="0" rtlCol="0" anchor="t"/>
          <a:lstStyle/>
          <a:p>
            <a:pPr indent="0" marL="0">
              <a:lnSpc>
                <a:spcPct val="120000"/>
              </a:lnSpc>
              <a:buNone/>
            </a:pPr>
            <a:r>
              <a:rPr lang="en-US" sz="1600" dirty="0">
                <a:solidFill>
                  <a:srgbClr val="C3CEE8"/>
                </a:solidFill>
                <a:latin typeface="Calibri" pitchFamily="34" charset="0"/>
                <a:ea typeface="Calibri" pitchFamily="34" charset="-122"/>
                <a:cs typeface="Calibri" pitchFamily="34" charset="-120"/>
              </a:rPr>
              <a:t>Kolaydan zora çözümlü örnekler ve sınavda puan kaybettiren klasik hatalar.</a:t>
            </a:r>
            <a:endParaRPr lang="en-US" sz="1600" dirty="0"/>
          </a:p>
        </p:txBody>
      </p:sp>
      <p:sp>
        <p:nvSpPr>
          <p:cNvPr id="6" name="Text 4"/>
          <p:cNvSpPr txBox="1"/>
          <p:nvPr/>
        </p:nvSpPr>
        <p:spPr>
          <a:xfrm>
            <a:off x="731520" y="4572000"/>
            <a:ext cx="5120640" cy="329184"/>
          </a:xfrm>
          <a:prstGeom prst="rect">
            <a:avLst/>
          </a:prstGeom>
          <a:noFill/>
          <a:ln/>
        </p:spPr>
        <p:txBody>
          <a:bodyPr wrap="square" lIns="0" tIns="0" rIns="0" bIns="0" rtlCol="0" anchor="ctr"/>
          <a:lstStyle/>
          <a:p>
            <a:pPr indent="0" marL="0">
              <a:buNone/>
            </a:pPr>
            <a:r>
              <a:rPr lang="en-US" sz="1300" b="1" dirty="0">
                <a:solidFill>
                  <a:srgbClr val="FFCB6B"/>
                </a:solidFill>
                <a:latin typeface="Calibri" pitchFamily="34" charset="0"/>
                <a:ea typeface="Calibri" pitchFamily="34" charset="-122"/>
                <a:cs typeface="Calibri" pitchFamily="34" charset="-120"/>
              </a:rPr>
              <a:t>14   </a:t>
            </a:r>
            <a:pPr indent="0" marL="0">
              <a:buNone/>
            </a:pPr>
            <a:r>
              <a:rPr lang="en-US" sz="1300" dirty="0">
                <a:solidFill>
                  <a:srgbClr val="FFFFFF"/>
                </a:solidFill>
                <a:latin typeface="Calibri" pitchFamily="34" charset="0"/>
                <a:ea typeface="Calibri" pitchFamily="34" charset="-122"/>
                <a:cs typeface="Calibri" pitchFamily="34" charset="-120"/>
              </a:rPr>
              <a:t>Çözümlü örnekler</a:t>
            </a:r>
            <a:endParaRPr lang="en-US" sz="1300" dirty="0"/>
          </a:p>
        </p:txBody>
      </p:sp>
      <p:sp>
        <p:nvSpPr>
          <p:cNvPr id="7" name="Text 5"/>
          <p:cNvSpPr txBox="1"/>
          <p:nvPr/>
        </p:nvSpPr>
        <p:spPr>
          <a:xfrm>
            <a:off x="731520" y="4901184"/>
            <a:ext cx="5120640" cy="329184"/>
          </a:xfrm>
          <a:prstGeom prst="rect">
            <a:avLst/>
          </a:prstGeom>
          <a:noFill/>
          <a:ln/>
        </p:spPr>
        <p:txBody>
          <a:bodyPr wrap="square" lIns="0" tIns="0" rIns="0" bIns="0" rtlCol="0" anchor="ctr"/>
          <a:lstStyle/>
          <a:p>
            <a:pPr indent="0" marL="0">
              <a:buNone/>
            </a:pPr>
            <a:r>
              <a:rPr lang="en-US" sz="1300" b="1" dirty="0">
                <a:solidFill>
                  <a:srgbClr val="FFCB6B"/>
                </a:solidFill>
                <a:latin typeface="Calibri" pitchFamily="34" charset="0"/>
                <a:ea typeface="Calibri" pitchFamily="34" charset="-122"/>
                <a:cs typeface="Calibri" pitchFamily="34" charset="-120"/>
              </a:rPr>
              <a:t>15   </a:t>
            </a:r>
            <a:pPr indent="0" marL="0">
              <a:buNone/>
            </a:pPr>
            <a:r>
              <a:rPr lang="en-US" sz="1300" dirty="0">
                <a:solidFill>
                  <a:srgbClr val="FFFFFF"/>
                </a:solidFill>
                <a:latin typeface="Calibri" pitchFamily="34" charset="0"/>
                <a:ea typeface="Calibri" pitchFamily="34" charset="-122"/>
                <a:cs typeface="Calibri" pitchFamily="34" charset="-120"/>
              </a:rPr>
              <a:t>Sık yapılan hatalar</a:t>
            </a:r>
            <a:endParaRPr lang="en-US" sz="1300" dirty="0"/>
          </a:p>
        </p:txBody>
      </p:sp>
      <p:sp>
        <p:nvSpPr>
          <p:cNvPr id="8" name="Text 6"/>
          <p:cNvSpPr txBox="1"/>
          <p:nvPr/>
        </p:nvSpPr>
        <p:spPr>
          <a:xfrm>
            <a:off x="6172200" y="1097280"/>
            <a:ext cx="5379415" cy="274320"/>
          </a:xfrm>
          <a:prstGeom prst="rect">
            <a:avLst/>
          </a:prstGeom>
          <a:noFill/>
          <a:ln/>
        </p:spPr>
        <p:txBody>
          <a:bodyPr wrap="square" lIns="0" tIns="0" rIns="0" bIns="0" rtlCol="0" anchor="ctr"/>
          <a:lstStyle/>
          <a:p>
            <a:pPr indent="0" marL="0">
              <a:buNone/>
            </a:pPr>
            <a:r>
              <a:rPr lang="en-US" sz="1050" b="1" spc="200" kern="0" dirty="0">
                <a:solidFill>
                  <a:srgbClr val="8D97B5"/>
                </a:solidFill>
                <a:latin typeface="Calibri" pitchFamily="34" charset="0"/>
                <a:ea typeface="Calibri" pitchFamily="34" charset="-122"/>
                <a:cs typeface="Calibri" pitchFamily="34" charset="-120"/>
              </a:rPr>
              <a:t>KOLAYDAN ZORA 7 ÇÖZÜMLÜ ÖRNEK</a:t>
            </a:r>
            <a:endParaRPr lang="en-US" sz="1050" dirty="0"/>
          </a:p>
        </p:txBody>
      </p:sp>
      <p:sp>
        <p:nvSpPr>
          <p:cNvPr id="9" name="Shape 7"/>
          <p:cNvSpPr/>
          <p:nvPr/>
        </p:nvSpPr>
        <p:spPr>
          <a:xfrm>
            <a:off x="6172200" y="1481328"/>
            <a:ext cx="5379415" cy="512064"/>
          </a:xfrm>
          <a:prstGeom prst="roundRect">
            <a:avLst>
              <a:gd name="adj" fmla="val 17857"/>
            </a:avLst>
          </a:prstGeom>
          <a:solidFill>
            <a:srgbClr val="1C2542"/>
          </a:solidFill>
          <a:ln w="9525">
            <a:solidFill>
              <a:srgbClr val="2C3860"/>
            </a:solidFill>
            <a:prstDash val="solid"/>
          </a:ln>
        </p:spPr>
      </p:sp>
      <p:sp>
        <p:nvSpPr>
          <p:cNvPr id="10" name="Text 8"/>
          <p:cNvSpPr txBox="1"/>
          <p:nvPr/>
        </p:nvSpPr>
        <p:spPr>
          <a:xfrm>
            <a:off x="6400800" y="1481328"/>
            <a:ext cx="3916375" cy="51206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1   İki kuvvetin üç hâli</a:t>
            </a:r>
            <a:endParaRPr lang="en-US" sz="1300" dirty="0"/>
          </a:p>
        </p:txBody>
      </p:sp>
      <p:sp>
        <p:nvSpPr>
          <p:cNvPr id="11" name="Text 9"/>
          <p:cNvSpPr txBox="1"/>
          <p:nvPr/>
        </p:nvSpPr>
        <p:spPr>
          <a:xfrm>
            <a:off x="10362895" y="1481328"/>
            <a:ext cx="1005840" cy="512064"/>
          </a:xfrm>
          <a:prstGeom prst="rect">
            <a:avLst/>
          </a:prstGeom>
          <a:noFill/>
          <a:ln/>
        </p:spPr>
        <p:txBody>
          <a:bodyPr wrap="square" lIns="0" tIns="0" rIns="0" bIns="0" rtlCol="0" anchor="ctr"/>
          <a:lstStyle/>
          <a:p>
            <a:pPr algn="r" indent="0" marL="0">
              <a:buNone/>
            </a:pPr>
            <a:r>
              <a:rPr lang="en-US" sz="1050" b="1" spc="200" kern="0" dirty="0">
                <a:solidFill>
                  <a:srgbClr val="C6F36B"/>
                </a:solidFill>
                <a:latin typeface="Calibri" pitchFamily="34" charset="0"/>
                <a:ea typeface="Calibri" pitchFamily="34" charset="-122"/>
                <a:cs typeface="Calibri" pitchFamily="34" charset="-120"/>
              </a:rPr>
              <a:t>KOLAY</a:t>
            </a:r>
            <a:endParaRPr lang="en-US" sz="1050" dirty="0"/>
          </a:p>
        </p:txBody>
      </p:sp>
      <p:sp>
        <p:nvSpPr>
          <p:cNvPr id="12" name="Shape 10"/>
          <p:cNvSpPr/>
          <p:nvPr/>
        </p:nvSpPr>
        <p:spPr>
          <a:xfrm>
            <a:off x="6172200" y="2084832"/>
            <a:ext cx="5379415" cy="512064"/>
          </a:xfrm>
          <a:prstGeom prst="roundRect">
            <a:avLst>
              <a:gd name="adj" fmla="val 17857"/>
            </a:avLst>
          </a:prstGeom>
          <a:solidFill>
            <a:srgbClr val="1C2542"/>
          </a:solidFill>
          <a:ln w="9525">
            <a:solidFill>
              <a:srgbClr val="2C3860"/>
            </a:solidFill>
            <a:prstDash val="solid"/>
          </a:ln>
        </p:spPr>
      </p:sp>
      <p:sp>
        <p:nvSpPr>
          <p:cNvPr id="13" name="Text 11"/>
          <p:cNvSpPr txBox="1"/>
          <p:nvPr/>
        </p:nvSpPr>
        <p:spPr>
          <a:xfrm>
            <a:off x="6400800" y="2084832"/>
            <a:ext cx="3916375" cy="51206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2   Sürtünmeli zeminde itilen kutu</a:t>
            </a:r>
            <a:endParaRPr lang="en-US" sz="1300" dirty="0"/>
          </a:p>
        </p:txBody>
      </p:sp>
      <p:sp>
        <p:nvSpPr>
          <p:cNvPr id="14" name="Text 12"/>
          <p:cNvSpPr txBox="1"/>
          <p:nvPr/>
        </p:nvSpPr>
        <p:spPr>
          <a:xfrm>
            <a:off x="10362895" y="2084832"/>
            <a:ext cx="1005840" cy="512064"/>
          </a:xfrm>
          <a:prstGeom prst="rect">
            <a:avLst/>
          </a:prstGeom>
          <a:noFill/>
          <a:ln/>
        </p:spPr>
        <p:txBody>
          <a:bodyPr wrap="square" lIns="0" tIns="0" rIns="0" bIns="0" rtlCol="0" anchor="ctr"/>
          <a:lstStyle/>
          <a:p>
            <a:pPr algn="r" indent="0" marL="0">
              <a:buNone/>
            </a:pPr>
            <a:r>
              <a:rPr lang="en-US" sz="1050" b="1" spc="200" kern="0" dirty="0">
                <a:solidFill>
                  <a:srgbClr val="C6F36B"/>
                </a:solidFill>
                <a:latin typeface="Calibri" pitchFamily="34" charset="0"/>
                <a:ea typeface="Calibri" pitchFamily="34" charset="-122"/>
                <a:cs typeface="Calibri" pitchFamily="34" charset="-120"/>
              </a:rPr>
              <a:t>KOLAY</a:t>
            </a:r>
            <a:endParaRPr lang="en-US" sz="1050" dirty="0"/>
          </a:p>
        </p:txBody>
      </p:sp>
      <p:sp>
        <p:nvSpPr>
          <p:cNvPr id="15" name="Shape 13"/>
          <p:cNvSpPr/>
          <p:nvPr/>
        </p:nvSpPr>
        <p:spPr>
          <a:xfrm>
            <a:off x="6172200" y="2688336"/>
            <a:ext cx="5379415" cy="512064"/>
          </a:xfrm>
          <a:prstGeom prst="roundRect">
            <a:avLst>
              <a:gd name="adj" fmla="val 17857"/>
            </a:avLst>
          </a:prstGeom>
          <a:solidFill>
            <a:srgbClr val="1C2542"/>
          </a:solidFill>
          <a:ln w="9525">
            <a:solidFill>
              <a:srgbClr val="2C3860"/>
            </a:solidFill>
            <a:prstDash val="solid"/>
          </a:ln>
        </p:spPr>
      </p:sp>
      <p:sp>
        <p:nvSpPr>
          <p:cNvPr id="16" name="Text 14"/>
          <p:cNvSpPr txBox="1"/>
          <p:nvPr/>
        </p:nvSpPr>
        <p:spPr>
          <a:xfrm>
            <a:off x="6400800" y="2688336"/>
            <a:ext cx="3916375" cy="51206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3   Asansördeki tartı</a:t>
            </a:r>
            <a:endParaRPr lang="en-US" sz="1300" dirty="0"/>
          </a:p>
        </p:txBody>
      </p:sp>
      <p:sp>
        <p:nvSpPr>
          <p:cNvPr id="17" name="Text 15"/>
          <p:cNvSpPr txBox="1"/>
          <p:nvPr/>
        </p:nvSpPr>
        <p:spPr>
          <a:xfrm>
            <a:off x="10362895" y="2688336"/>
            <a:ext cx="1005840" cy="512064"/>
          </a:xfrm>
          <a:prstGeom prst="rect">
            <a:avLst/>
          </a:prstGeom>
          <a:noFill/>
          <a:ln/>
        </p:spPr>
        <p:txBody>
          <a:bodyPr wrap="square" lIns="0" tIns="0" rIns="0" bIns="0" rtlCol="0" anchor="ctr"/>
          <a:lstStyle/>
          <a:p>
            <a:pPr algn="r" indent="0" marL="0">
              <a:buNone/>
            </a:pPr>
            <a:r>
              <a:rPr lang="en-US" sz="1050" b="1" spc="200" kern="0" dirty="0">
                <a:solidFill>
                  <a:srgbClr val="82AAFF"/>
                </a:solidFill>
                <a:latin typeface="Calibri" pitchFamily="34" charset="0"/>
                <a:ea typeface="Calibri" pitchFamily="34" charset="-122"/>
                <a:cs typeface="Calibri" pitchFamily="34" charset="-120"/>
              </a:rPr>
              <a:t>ORTA</a:t>
            </a:r>
            <a:endParaRPr lang="en-US" sz="1050" dirty="0"/>
          </a:p>
        </p:txBody>
      </p:sp>
      <p:sp>
        <p:nvSpPr>
          <p:cNvPr id="18" name="Shape 16"/>
          <p:cNvSpPr/>
          <p:nvPr/>
        </p:nvSpPr>
        <p:spPr>
          <a:xfrm>
            <a:off x="6172200" y="3291840"/>
            <a:ext cx="5379415" cy="512064"/>
          </a:xfrm>
          <a:prstGeom prst="roundRect">
            <a:avLst>
              <a:gd name="adj" fmla="val 17857"/>
            </a:avLst>
          </a:prstGeom>
          <a:solidFill>
            <a:srgbClr val="1C2542"/>
          </a:solidFill>
          <a:ln w="9525">
            <a:solidFill>
              <a:srgbClr val="2C3860"/>
            </a:solidFill>
            <a:prstDash val="solid"/>
          </a:ln>
        </p:spPr>
      </p:sp>
      <p:sp>
        <p:nvSpPr>
          <p:cNvPr id="19" name="Text 17"/>
          <p:cNvSpPr txBox="1"/>
          <p:nvPr/>
        </p:nvSpPr>
        <p:spPr>
          <a:xfrm>
            <a:off x="6400800" y="3291840"/>
            <a:ext cx="3916375" cy="51206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4   Bağlı iki cisim ve ip gerilmesi</a:t>
            </a:r>
            <a:endParaRPr lang="en-US" sz="1300" dirty="0"/>
          </a:p>
        </p:txBody>
      </p:sp>
      <p:sp>
        <p:nvSpPr>
          <p:cNvPr id="20" name="Text 18"/>
          <p:cNvSpPr txBox="1"/>
          <p:nvPr/>
        </p:nvSpPr>
        <p:spPr>
          <a:xfrm>
            <a:off x="10362895" y="3291840"/>
            <a:ext cx="1005840" cy="512064"/>
          </a:xfrm>
          <a:prstGeom prst="rect">
            <a:avLst/>
          </a:prstGeom>
          <a:noFill/>
          <a:ln/>
        </p:spPr>
        <p:txBody>
          <a:bodyPr wrap="square" lIns="0" tIns="0" rIns="0" bIns="0" rtlCol="0" anchor="ctr"/>
          <a:lstStyle/>
          <a:p>
            <a:pPr algn="r" indent="0" marL="0">
              <a:buNone/>
            </a:pPr>
            <a:r>
              <a:rPr lang="en-US" sz="1050" b="1" spc="200" kern="0" dirty="0">
                <a:solidFill>
                  <a:srgbClr val="82AAFF"/>
                </a:solidFill>
                <a:latin typeface="Calibri" pitchFamily="34" charset="0"/>
                <a:ea typeface="Calibri" pitchFamily="34" charset="-122"/>
                <a:cs typeface="Calibri" pitchFamily="34" charset="-120"/>
              </a:rPr>
              <a:t>ORTA</a:t>
            </a:r>
            <a:endParaRPr lang="en-US" sz="1050" dirty="0"/>
          </a:p>
        </p:txBody>
      </p:sp>
      <p:sp>
        <p:nvSpPr>
          <p:cNvPr id="21" name="Shape 19"/>
          <p:cNvSpPr/>
          <p:nvPr/>
        </p:nvSpPr>
        <p:spPr>
          <a:xfrm>
            <a:off x="6172200" y="3895344"/>
            <a:ext cx="5379415" cy="512064"/>
          </a:xfrm>
          <a:prstGeom prst="roundRect">
            <a:avLst>
              <a:gd name="adj" fmla="val 17857"/>
            </a:avLst>
          </a:prstGeom>
          <a:solidFill>
            <a:srgbClr val="1C2542"/>
          </a:solidFill>
          <a:ln w="9525">
            <a:solidFill>
              <a:srgbClr val="2C3860"/>
            </a:solidFill>
            <a:prstDash val="solid"/>
          </a:ln>
        </p:spPr>
      </p:sp>
      <p:sp>
        <p:nvSpPr>
          <p:cNvPr id="22" name="Text 20"/>
          <p:cNvSpPr txBox="1"/>
          <p:nvPr/>
        </p:nvSpPr>
        <p:spPr>
          <a:xfrm>
            <a:off x="6400800" y="3895344"/>
            <a:ext cx="3916375" cy="51206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5   Eğik düzlemde kayan cisim</a:t>
            </a:r>
            <a:endParaRPr lang="en-US" sz="1300" dirty="0"/>
          </a:p>
        </p:txBody>
      </p:sp>
      <p:sp>
        <p:nvSpPr>
          <p:cNvPr id="23" name="Text 21"/>
          <p:cNvSpPr txBox="1"/>
          <p:nvPr/>
        </p:nvSpPr>
        <p:spPr>
          <a:xfrm>
            <a:off x="10362895" y="3895344"/>
            <a:ext cx="1005840" cy="512064"/>
          </a:xfrm>
          <a:prstGeom prst="rect">
            <a:avLst/>
          </a:prstGeom>
          <a:noFill/>
          <a:ln/>
        </p:spPr>
        <p:txBody>
          <a:bodyPr wrap="square" lIns="0" tIns="0" rIns="0" bIns="0" rtlCol="0" anchor="ctr"/>
          <a:lstStyle/>
          <a:p>
            <a:pPr algn="r" indent="0" marL="0">
              <a:buNone/>
            </a:pPr>
            <a:r>
              <a:rPr lang="en-US" sz="1050" b="1" spc="200" kern="0" dirty="0">
                <a:solidFill>
                  <a:srgbClr val="82AAFF"/>
                </a:solidFill>
                <a:latin typeface="Calibri" pitchFamily="34" charset="0"/>
                <a:ea typeface="Calibri" pitchFamily="34" charset="-122"/>
                <a:cs typeface="Calibri" pitchFamily="34" charset="-120"/>
              </a:rPr>
              <a:t>ORTA</a:t>
            </a:r>
            <a:endParaRPr lang="en-US" sz="1050" dirty="0"/>
          </a:p>
        </p:txBody>
      </p:sp>
      <p:sp>
        <p:nvSpPr>
          <p:cNvPr id="24" name="Shape 22"/>
          <p:cNvSpPr/>
          <p:nvPr/>
        </p:nvSpPr>
        <p:spPr>
          <a:xfrm>
            <a:off x="6172200" y="4498848"/>
            <a:ext cx="5379415" cy="512064"/>
          </a:xfrm>
          <a:prstGeom prst="roundRect">
            <a:avLst>
              <a:gd name="adj" fmla="val 17857"/>
            </a:avLst>
          </a:prstGeom>
          <a:solidFill>
            <a:srgbClr val="1C2542"/>
          </a:solidFill>
          <a:ln w="9525">
            <a:solidFill>
              <a:srgbClr val="2C3860"/>
            </a:solidFill>
            <a:prstDash val="solid"/>
          </a:ln>
        </p:spPr>
      </p:sp>
      <p:sp>
        <p:nvSpPr>
          <p:cNvPr id="25" name="Text 23"/>
          <p:cNvSpPr txBox="1"/>
          <p:nvPr/>
        </p:nvSpPr>
        <p:spPr>
          <a:xfrm>
            <a:off x="6400800" y="4498848"/>
            <a:ext cx="3916375" cy="51206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6   Eğik kuvvetle çekilen kutu</a:t>
            </a:r>
            <a:endParaRPr lang="en-US" sz="1300" dirty="0"/>
          </a:p>
        </p:txBody>
      </p:sp>
      <p:sp>
        <p:nvSpPr>
          <p:cNvPr id="26" name="Text 24"/>
          <p:cNvSpPr txBox="1"/>
          <p:nvPr/>
        </p:nvSpPr>
        <p:spPr>
          <a:xfrm>
            <a:off x="10362895" y="4498848"/>
            <a:ext cx="1005840" cy="512064"/>
          </a:xfrm>
          <a:prstGeom prst="rect">
            <a:avLst/>
          </a:prstGeom>
          <a:noFill/>
          <a:ln/>
        </p:spPr>
        <p:txBody>
          <a:bodyPr wrap="square" lIns="0" tIns="0" rIns="0" bIns="0" rtlCol="0" anchor="ctr"/>
          <a:lstStyle/>
          <a:p>
            <a:pPr algn="r" indent="0" marL="0">
              <a:buNone/>
            </a:pPr>
            <a:r>
              <a:rPr lang="en-US" sz="1050" b="1" spc="200" kern="0" dirty="0">
                <a:solidFill>
                  <a:srgbClr val="FF8FA3"/>
                </a:solidFill>
                <a:latin typeface="Calibri" pitchFamily="34" charset="0"/>
                <a:ea typeface="Calibri" pitchFamily="34" charset="-122"/>
                <a:cs typeface="Calibri" pitchFamily="34" charset="-120"/>
              </a:rPr>
              <a:t>ZOR</a:t>
            </a:r>
            <a:endParaRPr lang="en-US" sz="1050" dirty="0"/>
          </a:p>
        </p:txBody>
      </p:sp>
      <p:sp>
        <p:nvSpPr>
          <p:cNvPr id="27" name="Shape 25"/>
          <p:cNvSpPr/>
          <p:nvPr/>
        </p:nvSpPr>
        <p:spPr>
          <a:xfrm>
            <a:off x="6172200" y="5102352"/>
            <a:ext cx="5379415" cy="512064"/>
          </a:xfrm>
          <a:prstGeom prst="roundRect">
            <a:avLst>
              <a:gd name="adj" fmla="val 17857"/>
            </a:avLst>
          </a:prstGeom>
          <a:solidFill>
            <a:srgbClr val="1C2542"/>
          </a:solidFill>
          <a:ln w="9525">
            <a:solidFill>
              <a:srgbClr val="2C3860"/>
            </a:solidFill>
            <a:prstDash val="solid"/>
          </a:ln>
        </p:spPr>
      </p:sp>
      <p:sp>
        <p:nvSpPr>
          <p:cNvPr id="28" name="Text 26"/>
          <p:cNvSpPr txBox="1"/>
          <p:nvPr/>
        </p:nvSpPr>
        <p:spPr>
          <a:xfrm>
            <a:off x="6400800" y="5102352"/>
            <a:ext cx="3916375" cy="51206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7   Masadan sarkan yük</a:t>
            </a:r>
            <a:endParaRPr lang="en-US" sz="1300" dirty="0"/>
          </a:p>
        </p:txBody>
      </p:sp>
      <p:sp>
        <p:nvSpPr>
          <p:cNvPr id="29" name="Text 27"/>
          <p:cNvSpPr txBox="1"/>
          <p:nvPr/>
        </p:nvSpPr>
        <p:spPr>
          <a:xfrm>
            <a:off x="10362895" y="5102352"/>
            <a:ext cx="1005840" cy="512064"/>
          </a:xfrm>
          <a:prstGeom prst="rect">
            <a:avLst/>
          </a:prstGeom>
          <a:noFill/>
          <a:ln/>
        </p:spPr>
        <p:txBody>
          <a:bodyPr wrap="square" lIns="0" tIns="0" rIns="0" bIns="0" rtlCol="0" anchor="ctr"/>
          <a:lstStyle/>
          <a:p>
            <a:pPr algn="r" indent="0" marL="0">
              <a:buNone/>
            </a:pPr>
            <a:r>
              <a:rPr lang="en-US" sz="1050" b="1" spc="200" kern="0" dirty="0">
                <a:solidFill>
                  <a:srgbClr val="FF8FA3"/>
                </a:solidFill>
                <a:latin typeface="Calibri" pitchFamily="34" charset="0"/>
                <a:ea typeface="Calibri" pitchFamily="34" charset="-122"/>
                <a:cs typeface="Calibri" pitchFamily="34" charset="-120"/>
              </a:rPr>
              <a:t>ZOR</a:t>
            </a:r>
            <a:endParaRPr lang="en-US" sz="1050" dirty="0"/>
          </a:p>
        </p:txBody>
      </p:sp>
      <p:sp>
        <p:nvSpPr>
          <p:cNvPr id="30" name="Shape 28"/>
          <p:cNvSpPr/>
          <p:nvPr/>
        </p:nvSpPr>
        <p:spPr>
          <a:xfrm>
            <a:off x="640080" y="6382512"/>
            <a:ext cx="128016" cy="128016"/>
          </a:xfrm>
          <a:prstGeom prst="roundRect">
            <a:avLst>
              <a:gd name="adj" fmla="val 28571"/>
            </a:avLst>
          </a:prstGeom>
          <a:solidFill>
            <a:srgbClr val="C6F36B"/>
          </a:solidFill>
          <a:ln/>
        </p:spPr>
      </p:sp>
      <p:sp>
        <p:nvSpPr>
          <p:cNvPr id="31" name="Text 2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6A7798"/>
                </a:solidFill>
                <a:latin typeface="Calibri" pitchFamily="34" charset="0"/>
                <a:ea typeface="Calibri" pitchFamily="34" charset="-122"/>
                <a:cs typeface="Calibri" pitchFamily="34" charset="-120"/>
              </a:rPr>
              <a:t>dersler.perinet.org/newton-yasalari.html</a:t>
            </a:r>
            <a:endParaRPr lang="en-US" sz="1050" dirty="0"/>
          </a:p>
        </p:txBody>
      </p:sp>
      <p:sp>
        <p:nvSpPr>
          <p:cNvPr id="32" name="Text 3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6A7798"/>
                </a:solidFill>
                <a:latin typeface="Calibri" pitchFamily="34" charset="0"/>
                <a:ea typeface="Calibri" pitchFamily="34" charset="-122"/>
                <a:cs typeface="Calibri" pitchFamily="34" charset="-120"/>
              </a:rPr>
              <a:t>110</a:t>
            </a:r>
            <a:endParaRPr lang="en-US" sz="1050"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1 / 7 · Soru</a:t>
            </a:r>
            <a:endParaRPr lang="en-US" sz="3200" dirty="0"/>
          </a:p>
        </p:txBody>
      </p:sp>
      <p:sp>
        <p:nvSpPr>
          <p:cNvPr id="5" name="Shape 3"/>
          <p:cNvSpPr/>
          <p:nvPr/>
        </p:nvSpPr>
        <p:spPr>
          <a:xfrm>
            <a:off x="10408615" y="512064"/>
            <a:ext cx="1143000" cy="384048"/>
          </a:xfrm>
          <a:prstGeom prst="roundRect">
            <a:avLst>
              <a:gd name="adj" fmla="val 50000"/>
            </a:avLst>
          </a:prstGeom>
          <a:solidFill>
            <a:srgbClr val="EAF7DC"/>
          </a:solidFill>
          <a:ln w="9525">
            <a:solidFill>
              <a:srgbClr val="3C8C21"/>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3C8C21"/>
                </a:solidFill>
                <a:latin typeface="Calibri" pitchFamily="34" charset="0"/>
                <a:ea typeface="Calibri" pitchFamily="34" charset="-122"/>
                <a:cs typeface="Calibri" pitchFamily="34" charset="-120"/>
              </a:rPr>
              <a:t>KOLAY</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İki kuvvetin üç hâli</a:t>
            </a:r>
            <a:endParaRPr lang="en-US" sz="1450" dirty="0"/>
          </a:p>
        </p:txBody>
      </p:sp>
      <p:sp>
        <p:nvSpPr>
          <p:cNvPr id="8" name="Shape 6"/>
          <p:cNvSpPr/>
          <p:nvPr/>
        </p:nvSpPr>
        <p:spPr>
          <a:xfrm>
            <a:off x="640080" y="1645920"/>
            <a:ext cx="10911535" cy="1764792"/>
          </a:xfrm>
          <a:prstGeom prst="roundRect">
            <a:avLst>
              <a:gd name="adj" fmla="val 8290"/>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60120" y="1810512"/>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60120" y="2121408"/>
            <a:ext cx="10271455" cy="1216152"/>
          </a:xfrm>
          <a:prstGeom prst="rect">
            <a:avLst/>
          </a:prstGeom>
          <a:noFill/>
          <a:ln/>
        </p:spPr>
        <p:txBody>
          <a:bodyPr wrap="square" lIns="0" tIns="0" rIns="0" bIns="0" rtlCol="0" anchor="t"/>
          <a:lstStyle/>
          <a:p>
            <a:pPr indent="0" marL="0">
              <a:lnSpc>
                <a:spcPct val="118000"/>
              </a:lnSpc>
              <a:buNone/>
            </a:pPr>
            <a:r>
              <a:rPr lang="en-US" sz="2000" dirty="0">
                <a:solidFill>
                  <a:srgbClr val="0E1426"/>
                </a:solidFill>
                <a:latin typeface="Calibri" pitchFamily="34" charset="0"/>
                <a:ea typeface="Calibri" pitchFamily="34" charset="-122"/>
                <a:cs typeface="Calibri" pitchFamily="34" charset="-120"/>
              </a:rPr>
              <a:t>Sürtünmesiz yatay zeminde duran 5 kg'lık bir kutuya 30 N ve 40 N'luk iki yatay kuvvet uygulanıyor. Kuvvetler (a) aynı yönde, (b) zıt yönde, (c) birbirine dik olduğunda kutunun ivmesini bulunuz.</a:t>
            </a:r>
            <a:endParaRPr lang="en-US" sz="2000" dirty="0"/>
          </a:p>
        </p:txBody>
      </p:sp>
      <p:sp>
        <p:nvSpPr>
          <p:cNvPr id="11" name="Shape 9"/>
          <p:cNvSpPr/>
          <p:nvPr/>
        </p:nvSpPr>
        <p:spPr>
          <a:xfrm>
            <a:off x="640080" y="3611880"/>
            <a:ext cx="5318608" cy="2532888"/>
          </a:xfrm>
          <a:prstGeom prst="roundRect">
            <a:avLst>
              <a:gd name="adj" fmla="val 5776"/>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658368" y="3776472"/>
            <a:ext cx="54864" cy="2203704"/>
          </a:xfrm>
          <a:prstGeom prst="rect">
            <a:avLst/>
          </a:prstGeom>
          <a:solidFill>
            <a:srgbClr val="2957D4"/>
          </a:solidFill>
          <a:ln/>
        </p:spPr>
      </p:sp>
      <p:sp>
        <p:nvSpPr>
          <p:cNvPr id="13" name="Text 11"/>
          <p:cNvSpPr txBox="1"/>
          <p:nvPr/>
        </p:nvSpPr>
        <p:spPr>
          <a:xfrm>
            <a:off x="914400" y="3758184"/>
            <a:ext cx="4861408" cy="256032"/>
          </a:xfrm>
          <a:prstGeom prst="rect">
            <a:avLst/>
          </a:prstGeom>
          <a:noFill/>
          <a:ln/>
        </p:spPr>
        <p:txBody>
          <a:bodyPr wrap="square" lIns="0" tIns="0" rIns="0" bIns="0" rtlCol="0" anchor="ctr"/>
          <a:lstStyle/>
          <a:p>
            <a:pPr indent="0" marL="0">
              <a:buNone/>
            </a:pPr>
            <a:r>
              <a:rPr lang="en-US" sz="1050" b="1" spc="200" kern="0" dirty="0">
                <a:solidFill>
                  <a:srgbClr val="2957D4"/>
                </a:solidFill>
                <a:latin typeface="Calibri" pitchFamily="34" charset="0"/>
                <a:ea typeface="Calibri" pitchFamily="34" charset="-122"/>
                <a:cs typeface="Calibri" pitchFamily="34" charset="-120"/>
              </a:rPr>
              <a:t>VERİLENLER</a:t>
            </a:r>
            <a:endParaRPr lang="en-US" sz="1050" dirty="0"/>
          </a:p>
        </p:txBody>
      </p:sp>
      <p:sp>
        <p:nvSpPr>
          <p:cNvPr id="14" name="Text 12"/>
          <p:cNvSpPr txBox="1"/>
          <p:nvPr/>
        </p:nvSpPr>
        <p:spPr>
          <a:xfrm>
            <a:off x="950976" y="4087368"/>
            <a:ext cx="4769968" cy="1929384"/>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m = 5 kg</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F₁ = 30 N</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F₂ = 40 N (ikisi de yatay)</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zemin sürtünmesiz</a:t>
            </a:r>
            <a:endParaRPr lang="en-US" sz="1800" dirty="0"/>
          </a:p>
        </p:txBody>
      </p:sp>
      <p:sp>
        <p:nvSpPr>
          <p:cNvPr id="15" name="Shape 13"/>
          <p:cNvSpPr/>
          <p:nvPr/>
        </p:nvSpPr>
        <p:spPr>
          <a:xfrm>
            <a:off x="6233008" y="3611880"/>
            <a:ext cx="5318608" cy="2532888"/>
          </a:xfrm>
          <a:prstGeom prst="roundRect">
            <a:avLst>
              <a:gd name="adj" fmla="val 5776"/>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6" name="Shape 14"/>
          <p:cNvSpPr/>
          <p:nvPr/>
        </p:nvSpPr>
        <p:spPr>
          <a:xfrm>
            <a:off x="6251296" y="3776472"/>
            <a:ext cx="54864" cy="2203704"/>
          </a:xfrm>
          <a:prstGeom prst="rect">
            <a:avLst/>
          </a:prstGeom>
          <a:solidFill>
            <a:srgbClr val="5F4BD8"/>
          </a:solidFill>
          <a:ln/>
        </p:spPr>
      </p:sp>
      <p:sp>
        <p:nvSpPr>
          <p:cNvPr id="17" name="Text 15"/>
          <p:cNvSpPr txBox="1"/>
          <p:nvPr/>
        </p:nvSpPr>
        <p:spPr>
          <a:xfrm>
            <a:off x="6507328" y="3758184"/>
            <a:ext cx="4861408" cy="256032"/>
          </a:xfrm>
          <a:prstGeom prst="rect">
            <a:avLst/>
          </a:prstGeom>
          <a:noFill/>
          <a:ln/>
        </p:spPr>
        <p:txBody>
          <a:bodyPr wrap="square" lIns="0" tIns="0" rIns="0" bIns="0" rtlCol="0" anchor="ctr"/>
          <a:lstStyle/>
          <a:p>
            <a:pPr indent="0" marL="0">
              <a:buNone/>
            </a:pPr>
            <a:r>
              <a:rPr lang="en-US" sz="1050" b="1" spc="200" kern="0" dirty="0">
                <a:solidFill>
                  <a:srgbClr val="5F4BD8"/>
                </a:solidFill>
                <a:latin typeface="Calibri" pitchFamily="34" charset="0"/>
                <a:ea typeface="Calibri" pitchFamily="34" charset="-122"/>
                <a:cs typeface="Calibri" pitchFamily="34" charset="-120"/>
              </a:rPr>
              <a:t>İSTENEN</a:t>
            </a:r>
            <a:endParaRPr lang="en-US" sz="1050" dirty="0"/>
          </a:p>
        </p:txBody>
      </p:sp>
      <p:sp>
        <p:nvSpPr>
          <p:cNvPr id="18" name="Text 16"/>
          <p:cNvSpPr txBox="1"/>
          <p:nvPr/>
        </p:nvSpPr>
        <p:spPr>
          <a:xfrm>
            <a:off x="6543904" y="4087368"/>
            <a:ext cx="4769968" cy="1929384"/>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kuvvetler (a) aynı yönde</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(b) zıt yönde</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(c) birbirine dik olduğunda kutunun ivmesi a</a:t>
            </a:r>
            <a:endParaRPr lang="en-US" sz="1800" dirty="0"/>
          </a:p>
        </p:txBody>
      </p:sp>
      <p:sp>
        <p:nvSpPr>
          <p:cNvPr id="19" name="Shape 17"/>
          <p:cNvSpPr/>
          <p:nvPr/>
        </p:nvSpPr>
        <p:spPr>
          <a:xfrm>
            <a:off x="640080" y="6382512"/>
            <a:ext cx="128016" cy="128016"/>
          </a:xfrm>
          <a:prstGeom prst="roundRect">
            <a:avLst>
              <a:gd name="adj" fmla="val 28571"/>
            </a:avLst>
          </a:prstGeom>
          <a:solidFill>
            <a:srgbClr val="A9E648"/>
          </a:solidFill>
          <a:ln/>
        </p:spPr>
      </p:sp>
      <p:sp>
        <p:nvSpPr>
          <p:cNvPr id="20" name="Text 1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dersler.perinet.org/newton-yasalari.html</a:t>
            </a:r>
            <a:endParaRPr lang="en-US" sz="1050" dirty="0"/>
          </a:p>
        </p:txBody>
      </p:sp>
      <p:sp>
        <p:nvSpPr>
          <p:cNvPr id="21" name="Text 1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111</a:t>
            </a:r>
            <a:endParaRPr lang="en-US" sz="1050"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1 · Çözüm</a:t>
            </a:r>
            <a:endParaRPr lang="en-US" sz="3200" dirty="0"/>
          </a:p>
        </p:txBody>
      </p:sp>
      <p:sp>
        <p:nvSpPr>
          <p:cNvPr id="5" name="Shape 3"/>
          <p:cNvSpPr/>
          <p:nvPr/>
        </p:nvSpPr>
        <p:spPr>
          <a:xfrm>
            <a:off x="10408615" y="512064"/>
            <a:ext cx="1143000" cy="384048"/>
          </a:xfrm>
          <a:prstGeom prst="roundRect">
            <a:avLst>
              <a:gd name="adj" fmla="val 50000"/>
            </a:avLst>
          </a:prstGeom>
          <a:solidFill>
            <a:srgbClr val="EAF7DC"/>
          </a:solidFill>
          <a:ln w="9525">
            <a:solidFill>
              <a:srgbClr val="3C8C21"/>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3C8C21"/>
                </a:solidFill>
                <a:latin typeface="Calibri" pitchFamily="34" charset="0"/>
                <a:ea typeface="Calibri" pitchFamily="34" charset="-122"/>
                <a:cs typeface="Calibri" pitchFamily="34" charset="-120"/>
              </a:rPr>
              <a:t>KOLAY</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İki kuvvetin üç hâli</a:t>
            </a:r>
            <a:endParaRPr lang="en-US" sz="1450" dirty="0"/>
          </a:p>
        </p:txBody>
      </p:sp>
      <p:sp>
        <p:nvSpPr>
          <p:cNvPr id="8" name="Shape 6"/>
          <p:cNvSpPr/>
          <p:nvPr/>
        </p:nvSpPr>
        <p:spPr>
          <a:xfrm>
            <a:off x="640080" y="1645920"/>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Shape 7"/>
          <p:cNvSpPr/>
          <p:nvPr/>
        </p:nvSpPr>
        <p:spPr>
          <a:xfrm>
            <a:off x="914400" y="1972056"/>
            <a:ext cx="420624" cy="420624"/>
          </a:xfrm>
          <a:prstGeom prst="roundRect">
            <a:avLst>
              <a:gd name="adj" fmla="val 26000"/>
            </a:avLst>
          </a:prstGeom>
          <a:solidFill>
            <a:srgbClr val="A56209"/>
          </a:solidFill>
          <a:ln/>
        </p:spPr>
      </p:sp>
      <p:sp>
        <p:nvSpPr>
          <p:cNvPr id="10" name="Text 8"/>
          <p:cNvSpPr txBox="1"/>
          <p:nvPr/>
        </p:nvSpPr>
        <p:spPr>
          <a:xfrm>
            <a:off x="914400" y="1972056"/>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1" name="Text 9"/>
          <p:cNvSpPr txBox="1"/>
          <p:nvPr/>
        </p:nvSpPr>
        <p:spPr>
          <a:xfrm>
            <a:off x="1508760" y="1700784"/>
            <a:ext cx="9859975" cy="963168"/>
          </a:xfrm>
          <a:prstGeom prst="rect">
            <a:avLst/>
          </a:prstGeom>
          <a:noFill/>
          <a:ln/>
        </p:spPr>
        <p:txBody>
          <a:bodyPr wrap="square" lIns="0" tIns="0" rIns="0" bIns="0" rtlCol="0" anchor="ctr"/>
          <a:lstStyle/>
          <a:p>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(a)</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ΣF = 30 + 40 = 70 N → a = 70 / 5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14 m/s²</a:t>
            </a:r>
            <a:endParaRPr lang="en-US" sz="2000" dirty="0"/>
          </a:p>
        </p:txBody>
      </p:sp>
      <p:sp>
        <p:nvSpPr>
          <p:cNvPr id="12" name="Shape 10"/>
          <p:cNvSpPr/>
          <p:nvPr/>
        </p:nvSpPr>
        <p:spPr>
          <a:xfrm>
            <a:off x="640080" y="2883408"/>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3" name="Shape 11"/>
          <p:cNvSpPr/>
          <p:nvPr/>
        </p:nvSpPr>
        <p:spPr>
          <a:xfrm>
            <a:off x="914400" y="3209544"/>
            <a:ext cx="420624" cy="420624"/>
          </a:xfrm>
          <a:prstGeom prst="roundRect">
            <a:avLst>
              <a:gd name="adj" fmla="val 26000"/>
            </a:avLst>
          </a:prstGeom>
          <a:solidFill>
            <a:srgbClr val="A56209"/>
          </a:solidFill>
          <a:ln/>
        </p:spPr>
      </p:sp>
      <p:sp>
        <p:nvSpPr>
          <p:cNvPr id="14" name="Text 12"/>
          <p:cNvSpPr txBox="1"/>
          <p:nvPr/>
        </p:nvSpPr>
        <p:spPr>
          <a:xfrm>
            <a:off x="914400" y="3209544"/>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5" name="Text 13"/>
          <p:cNvSpPr txBox="1"/>
          <p:nvPr/>
        </p:nvSpPr>
        <p:spPr>
          <a:xfrm>
            <a:off x="1508760" y="2938272"/>
            <a:ext cx="9859975" cy="963168"/>
          </a:xfrm>
          <a:prstGeom prst="rect">
            <a:avLst/>
          </a:prstGeom>
          <a:noFill/>
          <a:ln/>
        </p:spPr>
        <p:txBody>
          <a:bodyPr wrap="square" lIns="0" tIns="0" rIns="0" bIns="0" rtlCol="0" anchor="ctr"/>
          <a:lstStyle/>
          <a:p>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(b)</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ΣF = 40 − 30 = 10 N (40 N'un yönünde) → a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2 m/s²</a:t>
            </a:r>
            <a:endParaRPr lang="en-US" sz="2000" dirty="0"/>
          </a:p>
        </p:txBody>
      </p:sp>
      <p:sp>
        <p:nvSpPr>
          <p:cNvPr id="16" name="Shape 14"/>
          <p:cNvSpPr/>
          <p:nvPr/>
        </p:nvSpPr>
        <p:spPr>
          <a:xfrm>
            <a:off x="640080" y="4120896"/>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7" name="Shape 15"/>
          <p:cNvSpPr/>
          <p:nvPr/>
        </p:nvSpPr>
        <p:spPr>
          <a:xfrm>
            <a:off x="914400" y="4447032"/>
            <a:ext cx="420624" cy="420624"/>
          </a:xfrm>
          <a:prstGeom prst="roundRect">
            <a:avLst>
              <a:gd name="adj" fmla="val 26000"/>
            </a:avLst>
          </a:prstGeom>
          <a:solidFill>
            <a:srgbClr val="A56209"/>
          </a:solidFill>
          <a:ln/>
        </p:spPr>
      </p:sp>
      <p:sp>
        <p:nvSpPr>
          <p:cNvPr id="18" name="Text 16"/>
          <p:cNvSpPr txBox="1"/>
          <p:nvPr/>
        </p:nvSpPr>
        <p:spPr>
          <a:xfrm>
            <a:off x="914400" y="4447032"/>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9" name="Text 17"/>
          <p:cNvSpPr txBox="1"/>
          <p:nvPr/>
        </p:nvSpPr>
        <p:spPr>
          <a:xfrm>
            <a:off x="1508760" y="4175760"/>
            <a:ext cx="9859975" cy="963168"/>
          </a:xfrm>
          <a:prstGeom prst="rect">
            <a:avLst/>
          </a:prstGeom>
          <a:noFill/>
          <a:ln/>
        </p:spPr>
        <p:txBody>
          <a:bodyPr wrap="square" lIns="0" tIns="0" rIns="0" bIns="0" rtlCol="0" anchor="ctr"/>
          <a:lstStyle/>
          <a:p>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(c)</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ΣF = √(30² + 40²) = 50 N → a = 50 / 5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10 m/s²</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net kuvvet yönünde.</a:t>
            </a:r>
            <a:endParaRPr lang="en-US" sz="2000" dirty="0"/>
          </a:p>
        </p:txBody>
      </p:sp>
      <p:sp>
        <p:nvSpPr>
          <p:cNvPr id="20" name="Shape 18"/>
          <p:cNvSpPr/>
          <p:nvPr/>
        </p:nvSpPr>
        <p:spPr>
          <a:xfrm>
            <a:off x="640080" y="6382512"/>
            <a:ext cx="128016" cy="128016"/>
          </a:xfrm>
          <a:prstGeom prst="roundRect">
            <a:avLst>
              <a:gd name="adj" fmla="val 28571"/>
            </a:avLst>
          </a:prstGeom>
          <a:solidFill>
            <a:srgbClr val="A9E648"/>
          </a:solidFill>
          <a:ln/>
        </p:spPr>
      </p:sp>
      <p:sp>
        <p:nvSpPr>
          <p:cNvPr id="21" name="Text 1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dersler.perinet.org/newton-yasalari.html</a:t>
            </a:r>
            <a:endParaRPr lang="en-US" sz="1050" dirty="0"/>
          </a:p>
        </p:txBody>
      </p:sp>
      <p:sp>
        <p:nvSpPr>
          <p:cNvPr id="22" name="Text 2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112</a:t>
            </a:r>
            <a:endParaRPr lang="en-US" sz="1050"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2 / 7 · Soru</a:t>
            </a:r>
            <a:endParaRPr lang="en-US" sz="3200" dirty="0"/>
          </a:p>
        </p:txBody>
      </p:sp>
      <p:sp>
        <p:nvSpPr>
          <p:cNvPr id="5" name="Shape 3"/>
          <p:cNvSpPr/>
          <p:nvPr/>
        </p:nvSpPr>
        <p:spPr>
          <a:xfrm>
            <a:off x="10408615" y="512064"/>
            <a:ext cx="1143000" cy="384048"/>
          </a:xfrm>
          <a:prstGeom prst="roundRect">
            <a:avLst>
              <a:gd name="adj" fmla="val 50000"/>
            </a:avLst>
          </a:prstGeom>
          <a:solidFill>
            <a:srgbClr val="EAF7DC"/>
          </a:solidFill>
          <a:ln w="9525">
            <a:solidFill>
              <a:srgbClr val="3C8C21"/>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3C8C21"/>
                </a:solidFill>
                <a:latin typeface="Calibri" pitchFamily="34" charset="0"/>
                <a:ea typeface="Calibri" pitchFamily="34" charset="-122"/>
                <a:cs typeface="Calibri" pitchFamily="34" charset="-120"/>
              </a:rPr>
              <a:t>KOLAY</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Sürtünmeli zeminde itilen kutu</a:t>
            </a:r>
            <a:endParaRPr lang="en-US" sz="1450" dirty="0"/>
          </a:p>
        </p:txBody>
      </p:sp>
      <p:sp>
        <p:nvSpPr>
          <p:cNvPr id="8" name="Shape 6"/>
          <p:cNvSpPr/>
          <p:nvPr/>
        </p:nvSpPr>
        <p:spPr>
          <a:xfrm>
            <a:off x="640080" y="1645920"/>
            <a:ext cx="10911535" cy="1405128"/>
          </a:xfrm>
          <a:prstGeom prst="roundRect">
            <a:avLst>
              <a:gd name="adj" fmla="val 10412"/>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60120" y="1810512"/>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60120" y="2121408"/>
            <a:ext cx="10271455" cy="856488"/>
          </a:xfrm>
          <a:prstGeom prst="rect">
            <a:avLst/>
          </a:prstGeom>
          <a:noFill/>
          <a:ln/>
        </p:spPr>
        <p:txBody>
          <a:bodyPr wrap="square" lIns="0" tIns="0" rIns="0" bIns="0" rtlCol="0" anchor="t"/>
          <a:lstStyle/>
          <a:p>
            <a:pPr indent="0" marL="0">
              <a:lnSpc>
                <a:spcPct val="118000"/>
              </a:lnSpc>
              <a:buNone/>
            </a:pPr>
            <a:r>
              <a:rPr lang="en-US" sz="2000" dirty="0">
                <a:solidFill>
                  <a:srgbClr val="0E1426"/>
                </a:solidFill>
                <a:latin typeface="Calibri" pitchFamily="34" charset="0"/>
                <a:ea typeface="Calibri" pitchFamily="34" charset="-122"/>
                <a:cs typeface="Calibri" pitchFamily="34" charset="-120"/>
              </a:rPr>
              <a:t>Sürtünme katsayısı 0,2 olan yatay bir zeminde duran 4 kg'lık kutuya yatay doğrultuda 12 N'luk kuvvet uygulanıyor. Kutunun ivmesini bulunuz.</a:t>
            </a:r>
            <a:endParaRPr lang="en-US" sz="2000" dirty="0"/>
          </a:p>
        </p:txBody>
      </p:sp>
      <p:sp>
        <p:nvSpPr>
          <p:cNvPr id="11" name="Shape 9"/>
          <p:cNvSpPr/>
          <p:nvPr/>
        </p:nvSpPr>
        <p:spPr>
          <a:xfrm>
            <a:off x="640080" y="3252216"/>
            <a:ext cx="5318608" cy="2892552"/>
          </a:xfrm>
          <a:prstGeom prst="roundRect">
            <a:avLst>
              <a:gd name="adj" fmla="val 505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658368" y="3416808"/>
            <a:ext cx="54864" cy="2563368"/>
          </a:xfrm>
          <a:prstGeom prst="rect">
            <a:avLst/>
          </a:prstGeom>
          <a:solidFill>
            <a:srgbClr val="2957D4"/>
          </a:solidFill>
          <a:ln/>
        </p:spPr>
      </p:sp>
      <p:sp>
        <p:nvSpPr>
          <p:cNvPr id="13" name="Text 11"/>
          <p:cNvSpPr txBox="1"/>
          <p:nvPr/>
        </p:nvSpPr>
        <p:spPr>
          <a:xfrm>
            <a:off x="914400" y="3398520"/>
            <a:ext cx="4861408" cy="256032"/>
          </a:xfrm>
          <a:prstGeom prst="rect">
            <a:avLst/>
          </a:prstGeom>
          <a:noFill/>
          <a:ln/>
        </p:spPr>
        <p:txBody>
          <a:bodyPr wrap="square" lIns="0" tIns="0" rIns="0" bIns="0" rtlCol="0" anchor="ctr"/>
          <a:lstStyle/>
          <a:p>
            <a:pPr indent="0" marL="0">
              <a:buNone/>
            </a:pPr>
            <a:r>
              <a:rPr lang="en-US" sz="1050" b="1" spc="200" kern="0" dirty="0">
                <a:solidFill>
                  <a:srgbClr val="2957D4"/>
                </a:solidFill>
                <a:latin typeface="Calibri" pitchFamily="34" charset="0"/>
                <a:ea typeface="Calibri" pitchFamily="34" charset="-122"/>
                <a:cs typeface="Calibri" pitchFamily="34" charset="-120"/>
              </a:rPr>
              <a:t>VERİLENLER</a:t>
            </a:r>
            <a:endParaRPr lang="en-US" sz="1050" dirty="0"/>
          </a:p>
        </p:txBody>
      </p:sp>
      <p:sp>
        <p:nvSpPr>
          <p:cNvPr id="14" name="Text 12"/>
          <p:cNvSpPr txBox="1"/>
          <p:nvPr/>
        </p:nvSpPr>
        <p:spPr>
          <a:xfrm>
            <a:off x="950976" y="3727704"/>
            <a:ext cx="4769968" cy="2289048"/>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m = 4 kg</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F = 12 N (yatay)</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μ = 0,2</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g = 10 m/s²</a:t>
            </a:r>
            <a:endParaRPr lang="en-US" sz="1800" dirty="0"/>
          </a:p>
        </p:txBody>
      </p:sp>
      <p:sp>
        <p:nvSpPr>
          <p:cNvPr id="15" name="Shape 13"/>
          <p:cNvSpPr/>
          <p:nvPr/>
        </p:nvSpPr>
        <p:spPr>
          <a:xfrm>
            <a:off x="6233008" y="3252216"/>
            <a:ext cx="5318608" cy="2892552"/>
          </a:xfrm>
          <a:prstGeom prst="roundRect">
            <a:avLst>
              <a:gd name="adj" fmla="val 505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6" name="Shape 14"/>
          <p:cNvSpPr/>
          <p:nvPr/>
        </p:nvSpPr>
        <p:spPr>
          <a:xfrm>
            <a:off x="6251296" y="3416808"/>
            <a:ext cx="54864" cy="2563368"/>
          </a:xfrm>
          <a:prstGeom prst="rect">
            <a:avLst/>
          </a:prstGeom>
          <a:solidFill>
            <a:srgbClr val="5F4BD8"/>
          </a:solidFill>
          <a:ln/>
        </p:spPr>
      </p:sp>
      <p:sp>
        <p:nvSpPr>
          <p:cNvPr id="17" name="Text 15"/>
          <p:cNvSpPr txBox="1"/>
          <p:nvPr/>
        </p:nvSpPr>
        <p:spPr>
          <a:xfrm>
            <a:off x="6507328" y="3398520"/>
            <a:ext cx="4861408" cy="256032"/>
          </a:xfrm>
          <a:prstGeom prst="rect">
            <a:avLst/>
          </a:prstGeom>
          <a:noFill/>
          <a:ln/>
        </p:spPr>
        <p:txBody>
          <a:bodyPr wrap="square" lIns="0" tIns="0" rIns="0" bIns="0" rtlCol="0" anchor="ctr"/>
          <a:lstStyle/>
          <a:p>
            <a:pPr indent="0" marL="0">
              <a:buNone/>
            </a:pPr>
            <a:r>
              <a:rPr lang="en-US" sz="1050" b="1" spc="200" kern="0" dirty="0">
                <a:solidFill>
                  <a:srgbClr val="5F4BD8"/>
                </a:solidFill>
                <a:latin typeface="Calibri" pitchFamily="34" charset="0"/>
                <a:ea typeface="Calibri" pitchFamily="34" charset="-122"/>
                <a:cs typeface="Calibri" pitchFamily="34" charset="-120"/>
              </a:rPr>
              <a:t>İSTENEN</a:t>
            </a:r>
            <a:endParaRPr lang="en-US" sz="1050" dirty="0"/>
          </a:p>
        </p:txBody>
      </p:sp>
      <p:sp>
        <p:nvSpPr>
          <p:cNvPr id="18" name="Text 16"/>
          <p:cNvSpPr txBox="1"/>
          <p:nvPr/>
        </p:nvSpPr>
        <p:spPr>
          <a:xfrm>
            <a:off x="6543904" y="3727704"/>
            <a:ext cx="4769968" cy="2289048"/>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kutunun ivmesi a</a:t>
            </a:r>
            <a:endParaRPr lang="en-US" sz="1800" dirty="0"/>
          </a:p>
        </p:txBody>
      </p:sp>
      <p:sp>
        <p:nvSpPr>
          <p:cNvPr id="19" name="Shape 17"/>
          <p:cNvSpPr/>
          <p:nvPr/>
        </p:nvSpPr>
        <p:spPr>
          <a:xfrm>
            <a:off x="640080" y="6382512"/>
            <a:ext cx="128016" cy="128016"/>
          </a:xfrm>
          <a:prstGeom prst="roundRect">
            <a:avLst>
              <a:gd name="adj" fmla="val 28571"/>
            </a:avLst>
          </a:prstGeom>
          <a:solidFill>
            <a:srgbClr val="A9E648"/>
          </a:solidFill>
          <a:ln/>
        </p:spPr>
      </p:sp>
      <p:sp>
        <p:nvSpPr>
          <p:cNvPr id="20" name="Text 1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dersler.perinet.org/newton-yasalari.html</a:t>
            </a:r>
            <a:endParaRPr lang="en-US" sz="1050" dirty="0"/>
          </a:p>
        </p:txBody>
      </p:sp>
      <p:sp>
        <p:nvSpPr>
          <p:cNvPr id="21" name="Text 1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113</a:t>
            </a:r>
            <a:endParaRPr lang="en-US" sz="1050"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2 · Çözüm 1 / 2</a:t>
            </a:r>
            <a:endParaRPr lang="en-US" sz="3200" dirty="0"/>
          </a:p>
        </p:txBody>
      </p:sp>
      <p:sp>
        <p:nvSpPr>
          <p:cNvPr id="5" name="Shape 3"/>
          <p:cNvSpPr/>
          <p:nvPr/>
        </p:nvSpPr>
        <p:spPr>
          <a:xfrm>
            <a:off x="10408615" y="512064"/>
            <a:ext cx="1143000" cy="384048"/>
          </a:xfrm>
          <a:prstGeom prst="roundRect">
            <a:avLst>
              <a:gd name="adj" fmla="val 50000"/>
            </a:avLst>
          </a:prstGeom>
          <a:solidFill>
            <a:srgbClr val="EAF7DC"/>
          </a:solidFill>
          <a:ln w="9525">
            <a:solidFill>
              <a:srgbClr val="3C8C21"/>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3C8C21"/>
                </a:solidFill>
                <a:latin typeface="Calibri" pitchFamily="34" charset="0"/>
                <a:ea typeface="Calibri" pitchFamily="34" charset="-122"/>
                <a:cs typeface="Calibri" pitchFamily="34" charset="-120"/>
              </a:rPr>
              <a:t>KOLAY</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Sürtünmeli zeminde itilen kutu</a:t>
            </a:r>
            <a:endParaRPr lang="en-US" sz="1450" dirty="0"/>
          </a:p>
        </p:txBody>
      </p:sp>
      <p:sp>
        <p:nvSpPr>
          <p:cNvPr id="8" name="Shape 6"/>
          <p:cNvSpPr/>
          <p:nvPr/>
        </p:nvSpPr>
        <p:spPr>
          <a:xfrm>
            <a:off x="640080" y="1645920"/>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Shape 7"/>
          <p:cNvSpPr/>
          <p:nvPr/>
        </p:nvSpPr>
        <p:spPr>
          <a:xfrm>
            <a:off x="914400" y="1972056"/>
            <a:ext cx="420624" cy="420624"/>
          </a:xfrm>
          <a:prstGeom prst="roundRect">
            <a:avLst>
              <a:gd name="adj" fmla="val 26000"/>
            </a:avLst>
          </a:prstGeom>
          <a:solidFill>
            <a:srgbClr val="A56209"/>
          </a:solidFill>
          <a:ln/>
        </p:spPr>
      </p:sp>
      <p:sp>
        <p:nvSpPr>
          <p:cNvPr id="10" name="Text 8"/>
          <p:cNvSpPr txBox="1"/>
          <p:nvPr/>
        </p:nvSpPr>
        <p:spPr>
          <a:xfrm>
            <a:off x="914400" y="1972056"/>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1" name="Text 9"/>
          <p:cNvSpPr txBox="1"/>
          <p:nvPr/>
        </p:nvSpPr>
        <p:spPr>
          <a:xfrm>
            <a:off x="1508760" y="1700784"/>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Düşeyde denge: N = m·g = 4 · 10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40 N</a:t>
            </a:r>
            <a:endParaRPr lang="en-US" sz="2000" dirty="0"/>
          </a:p>
        </p:txBody>
      </p:sp>
      <p:sp>
        <p:nvSpPr>
          <p:cNvPr id="12" name="Shape 10"/>
          <p:cNvSpPr/>
          <p:nvPr/>
        </p:nvSpPr>
        <p:spPr>
          <a:xfrm>
            <a:off x="640080" y="2883408"/>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3" name="Shape 11"/>
          <p:cNvSpPr/>
          <p:nvPr/>
        </p:nvSpPr>
        <p:spPr>
          <a:xfrm>
            <a:off x="914400" y="3209544"/>
            <a:ext cx="420624" cy="420624"/>
          </a:xfrm>
          <a:prstGeom prst="roundRect">
            <a:avLst>
              <a:gd name="adj" fmla="val 26000"/>
            </a:avLst>
          </a:prstGeom>
          <a:solidFill>
            <a:srgbClr val="A56209"/>
          </a:solidFill>
          <a:ln/>
        </p:spPr>
      </p:sp>
      <p:sp>
        <p:nvSpPr>
          <p:cNvPr id="14" name="Text 12"/>
          <p:cNvSpPr txBox="1"/>
          <p:nvPr/>
        </p:nvSpPr>
        <p:spPr>
          <a:xfrm>
            <a:off x="914400" y="3209544"/>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5" name="Text 13"/>
          <p:cNvSpPr txBox="1"/>
          <p:nvPr/>
        </p:nvSpPr>
        <p:spPr>
          <a:xfrm>
            <a:off x="1508760" y="2938272"/>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Sürtünme kuvveti: f = μ·N = 0,2 · 40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8 N</a:t>
            </a:r>
            <a:endParaRPr lang="en-US" sz="2000" dirty="0"/>
          </a:p>
        </p:txBody>
      </p:sp>
      <p:sp>
        <p:nvSpPr>
          <p:cNvPr id="16" name="Shape 14"/>
          <p:cNvSpPr/>
          <p:nvPr/>
        </p:nvSpPr>
        <p:spPr>
          <a:xfrm>
            <a:off x="640080" y="4120896"/>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7" name="Shape 15"/>
          <p:cNvSpPr/>
          <p:nvPr/>
        </p:nvSpPr>
        <p:spPr>
          <a:xfrm>
            <a:off x="914400" y="4447032"/>
            <a:ext cx="420624" cy="420624"/>
          </a:xfrm>
          <a:prstGeom prst="roundRect">
            <a:avLst>
              <a:gd name="adj" fmla="val 26000"/>
            </a:avLst>
          </a:prstGeom>
          <a:solidFill>
            <a:srgbClr val="A56209"/>
          </a:solidFill>
          <a:ln/>
        </p:spPr>
      </p:sp>
      <p:sp>
        <p:nvSpPr>
          <p:cNvPr id="18" name="Text 16"/>
          <p:cNvSpPr txBox="1"/>
          <p:nvPr/>
        </p:nvSpPr>
        <p:spPr>
          <a:xfrm>
            <a:off x="914400" y="4447032"/>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9" name="Text 17"/>
          <p:cNvSpPr txBox="1"/>
          <p:nvPr/>
        </p:nvSpPr>
        <p:spPr>
          <a:xfrm>
            <a:off x="1508760" y="4175760"/>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Net kuvvet: ΣF = 12 − 8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4 N</a:t>
            </a:r>
            <a:endParaRPr lang="en-US" sz="2000" dirty="0"/>
          </a:p>
        </p:txBody>
      </p:sp>
      <p:sp>
        <p:nvSpPr>
          <p:cNvPr id="20" name="Shape 18"/>
          <p:cNvSpPr/>
          <p:nvPr/>
        </p:nvSpPr>
        <p:spPr>
          <a:xfrm>
            <a:off x="640080" y="6382512"/>
            <a:ext cx="128016" cy="128016"/>
          </a:xfrm>
          <a:prstGeom prst="roundRect">
            <a:avLst>
              <a:gd name="adj" fmla="val 28571"/>
            </a:avLst>
          </a:prstGeom>
          <a:solidFill>
            <a:srgbClr val="A9E648"/>
          </a:solidFill>
          <a:ln/>
        </p:spPr>
      </p:sp>
      <p:sp>
        <p:nvSpPr>
          <p:cNvPr id="21" name="Text 1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dersler.perinet.org/newton-yasalari.html</a:t>
            </a:r>
            <a:endParaRPr lang="en-US" sz="1050" dirty="0"/>
          </a:p>
        </p:txBody>
      </p:sp>
      <p:sp>
        <p:nvSpPr>
          <p:cNvPr id="22" name="Text 2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114</a:t>
            </a:r>
            <a:endParaRPr lang="en-US" sz="1050"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2 · Çözüm 2 / 2</a:t>
            </a:r>
            <a:endParaRPr lang="en-US" sz="3200" dirty="0"/>
          </a:p>
        </p:txBody>
      </p:sp>
      <p:sp>
        <p:nvSpPr>
          <p:cNvPr id="5" name="Shape 3"/>
          <p:cNvSpPr/>
          <p:nvPr/>
        </p:nvSpPr>
        <p:spPr>
          <a:xfrm>
            <a:off x="10408615" y="512064"/>
            <a:ext cx="1143000" cy="384048"/>
          </a:xfrm>
          <a:prstGeom prst="roundRect">
            <a:avLst>
              <a:gd name="adj" fmla="val 50000"/>
            </a:avLst>
          </a:prstGeom>
          <a:solidFill>
            <a:srgbClr val="EAF7DC"/>
          </a:solidFill>
          <a:ln w="9525">
            <a:solidFill>
              <a:srgbClr val="3C8C21"/>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3C8C21"/>
                </a:solidFill>
                <a:latin typeface="Calibri" pitchFamily="34" charset="0"/>
                <a:ea typeface="Calibri" pitchFamily="34" charset="-122"/>
                <a:cs typeface="Calibri" pitchFamily="34" charset="-120"/>
              </a:rPr>
              <a:t>KOLAY</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Sürtünmeli zeminde itilen kutu</a:t>
            </a:r>
            <a:endParaRPr lang="en-US" sz="1450" dirty="0"/>
          </a:p>
        </p:txBody>
      </p:sp>
      <p:sp>
        <p:nvSpPr>
          <p:cNvPr id="8" name="Shape 6"/>
          <p:cNvSpPr/>
          <p:nvPr/>
        </p:nvSpPr>
        <p:spPr>
          <a:xfrm>
            <a:off x="640080" y="1645920"/>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Shape 7"/>
          <p:cNvSpPr/>
          <p:nvPr/>
        </p:nvSpPr>
        <p:spPr>
          <a:xfrm>
            <a:off x="914400" y="1972056"/>
            <a:ext cx="420624" cy="420624"/>
          </a:xfrm>
          <a:prstGeom prst="roundRect">
            <a:avLst>
              <a:gd name="adj" fmla="val 26000"/>
            </a:avLst>
          </a:prstGeom>
          <a:solidFill>
            <a:srgbClr val="A56209"/>
          </a:solidFill>
          <a:ln/>
        </p:spPr>
      </p:sp>
      <p:sp>
        <p:nvSpPr>
          <p:cNvPr id="10" name="Text 8"/>
          <p:cNvSpPr txBox="1"/>
          <p:nvPr/>
        </p:nvSpPr>
        <p:spPr>
          <a:xfrm>
            <a:off x="914400" y="1972056"/>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11" name="Text 9"/>
          <p:cNvSpPr txBox="1"/>
          <p:nvPr/>
        </p:nvSpPr>
        <p:spPr>
          <a:xfrm>
            <a:off x="1508760" y="1700784"/>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İvme: a = ΣF / m = 4 / 4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1 m/s²</a:t>
            </a:r>
            <a:endParaRPr lang="en-US" sz="2000" dirty="0"/>
          </a:p>
        </p:txBody>
      </p:sp>
      <p:sp>
        <p:nvSpPr>
          <p:cNvPr id="12" name="Shape 10"/>
          <p:cNvSpPr/>
          <p:nvPr/>
        </p:nvSpPr>
        <p:spPr>
          <a:xfrm>
            <a:off x="640080" y="2883408"/>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3" name="Shape 11"/>
          <p:cNvSpPr/>
          <p:nvPr/>
        </p:nvSpPr>
        <p:spPr>
          <a:xfrm>
            <a:off x="914400" y="3209544"/>
            <a:ext cx="420624" cy="420624"/>
          </a:xfrm>
          <a:prstGeom prst="roundRect">
            <a:avLst>
              <a:gd name="adj" fmla="val 26000"/>
            </a:avLst>
          </a:prstGeom>
          <a:solidFill>
            <a:srgbClr val="A56209"/>
          </a:solidFill>
          <a:ln/>
        </p:spPr>
      </p:sp>
      <p:sp>
        <p:nvSpPr>
          <p:cNvPr id="14" name="Text 12"/>
          <p:cNvSpPr txBox="1"/>
          <p:nvPr/>
        </p:nvSpPr>
        <p:spPr>
          <a:xfrm>
            <a:off x="914400" y="3209544"/>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15" name="Text 13"/>
          <p:cNvSpPr txBox="1"/>
          <p:nvPr/>
        </p:nvSpPr>
        <p:spPr>
          <a:xfrm>
            <a:off x="1508760" y="2938272"/>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Sürtünme olmasaydı a = 12/4 = 3 m/s² olurdu.</a:t>
            </a:r>
            <a:endParaRPr lang="en-US" sz="2000" dirty="0"/>
          </a:p>
        </p:txBody>
      </p:sp>
      <p:sp>
        <p:nvSpPr>
          <p:cNvPr id="16" name="Shape 14"/>
          <p:cNvSpPr/>
          <p:nvPr/>
        </p:nvSpPr>
        <p:spPr>
          <a:xfrm>
            <a:off x="640080" y="6382512"/>
            <a:ext cx="128016" cy="128016"/>
          </a:xfrm>
          <a:prstGeom prst="roundRect">
            <a:avLst>
              <a:gd name="adj" fmla="val 28571"/>
            </a:avLst>
          </a:prstGeom>
          <a:solidFill>
            <a:srgbClr val="A9E648"/>
          </a:solidFill>
          <a:ln/>
        </p:spPr>
      </p:sp>
      <p:sp>
        <p:nvSpPr>
          <p:cNvPr id="17" name="Text 1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dersler.perinet.org/newton-yasalari.html</a:t>
            </a:r>
            <a:endParaRPr lang="en-US" sz="1050" dirty="0"/>
          </a:p>
        </p:txBody>
      </p:sp>
      <p:sp>
        <p:nvSpPr>
          <p:cNvPr id="18" name="Text 1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115</a:t>
            </a:r>
            <a:endParaRPr lang="en-US" sz="1050"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3 / 7 · Soru</a:t>
            </a:r>
            <a:endParaRPr lang="en-US" sz="3200" dirty="0"/>
          </a:p>
        </p:txBody>
      </p:sp>
      <p:sp>
        <p:nvSpPr>
          <p:cNvPr id="5" name="Shape 3"/>
          <p:cNvSpPr/>
          <p:nvPr/>
        </p:nvSpPr>
        <p:spPr>
          <a:xfrm>
            <a:off x="10408615" y="512064"/>
            <a:ext cx="1143000" cy="384048"/>
          </a:xfrm>
          <a:prstGeom prst="roundRect">
            <a:avLst>
              <a:gd name="adj" fmla="val 50000"/>
            </a:avLst>
          </a:prstGeom>
          <a:solidFill>
            <a:srgbClr val="E6EDFB"/>
          </a:solidFill>
          <a:ln w="9525">
            <a:solidFill>
              <a:srgbClr val="2957D4"/>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Asansördeki tartı</a:t>
            </a:r>
            <a:endParaRPr lang="en-US" sz="1450" dirty="0"/>
          </a:p>
        </p:txBody>
      </p:sp>
      <p:sp>
        <p:nvSpPr>
          <p:cNvPr id="8" name="Shape 6"/>
          <p:cNvSpPr/>
          <p:nvPr/>
        </p:nvSpPr>
        <p:spPr>
          <a:xfrm>
            <a:off x="640080" y="1645920"/>
            <a:ext cx="10911535" cy="1405128"/>
          </a:xfrm>
          <a:prstGeom prst="roundRect">
            <a:avLst>
              <a:gd name="adj" fmla="val 10412"/>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60120" y="1810512"/>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60120" y="2121408"/>
            <a:ext cx="10271455" cy="856488"/>
          </a:xfrm>
          <a:prstGeom prst="rect">
            <a:avLst/>
          </a:prstGeom>
          <a:noFill/>
          <a:ln/>
        </p:spPr>
        <p:txBody>
          <a:bodyPr wrap="square" lIns="0" tIns="0" rIns="0" bIns="0" rtlCol="0" anchor="t"/>
          <a:lstStyle/>
          <a:p>
            <a:pPr indent="0" marL="0">
              <a:lnSpc>
                <a:spcPct val="118000"/>
              </a:lnSpc>
              <a:buNone/>
            </a:pPr>
            <a:r>
              <a:rPr lang="en-US" sz="2000" dirty="0">
                <a:solidFill>
                  <a:srgbClr val="0E1426"/>
                </a:solidFill>
                <a:latin typeface="Calibri" pitchFamily="34" charset="0"/>
                <a:ea typeface="Calibri" pitchFamily="34" charset="-122"/>
                <a:cs typeface="Calibri" pitchFamily="34" charset="-120"/>
              </a:rPr>
              <a:t>60 kg kütleli bir kişi, 2 m/s² ile yukarı doğru hızlanan bir asansörde tartının üzerinde duruyor. Tartı kaç kilogram gösterir?</a:t>
            </a:r>
            <a:endParaRPr lang="en-US" sz="2000" dirty="0"/>
          </a:p>
        </p:txBody>
      </p:sp>
      <p:sp>
        <p:nvSpPr>
          <p:cNvPr id="11" name="Shape 9"/>
          <p:cNvSpPr/>
          <p:nvPr/>
        </p:nvSpPr>
        <p:spPr>
          <a:xfrm>
            <a:off x="640080" y="3252216"/>
            <a:ext cx="5318608" cy="2892552"/>
          </a:xfrm>
          <a:prstGeom prst="roundRect">
            <a:avLst>
              <a:gd name="adj" fmla="val 505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658368" y="3416808"/>
            <a:ext cx="54864" cy="2563368"/>
          </a:xfrm>
          <a:prstGeom prst="rect">
            <a:avLst/>
          </a:prstGeom>
          <a:solidFill>
            <a:srgbClr val="2957D4"/>
          </a:solidFill>
          <a:ln/>
        </p:spPr>
      </p:sp>
      <p:sp>
        <p:nvSpPr>
          <p:cNvPr id="13" name="Text 11"/>
          <p:cNvSpPr txBox="1"/>
          <p:nvPr/>
        </p:nvSpPr>
        <p:spPr>
          <a:xfrm>
            <a:off x="914400" y="3398520"/>
            <a:ext cx="4861408" cy="256032"/>
          </a:xfrm>
          <a:prstGeom prst="rect">
            <a:avLst/>
          </a:prstGeom>
          <a:noFill/>
          <a:ln/>
        </p:spPr>
        <p:txBody>
          <a:bodyPr wrap="square" lIns="0" tIns="0" rIns="0" bIns="0" rtlCol="0" anchor="ctr"/>
          <a:lstStyle/>
          <a:p>
            <a:pPr indent="0" marL="0">
              <a:buNone/>
            </a:pPr>
            <a:r>
              <a:rPr lang="en-US" sz="1050" b="1" spc="200" kern="0" dirty="0">
                <a:solidFill>
                  <a:srgbClr val="2957D4"/>
                </a:solidFill>
                <a:latin typeface="Calibri" pitchFamily="34" charset="0"/>
                <a:ea typeface="Calibri" pitchFamily="34" charset="-122"/>
                <a:cs typeface="Calibri" pitchFamily="34" charset="-120"/>
              </a:rPr>
              <a:t>VERİLENLER</a:t>
            </a:r>
            <a:endParaRPr lang="en-US" sz="1050" dirty="0"/>
          </a:p>
        </p:txBody>
      </p:sp>
      <p:sp>
        <p:nvSpPr>
          <p:cNvPr id="14" name="Text 12"/>
          <p:cNvSpPr txBox="1"/>
          <p:nvPr/>
        </p:nvSpPr>
        <p:spPr>
          <a:xfrm>
            <a:off x="950976" y="3727704"/>
            <a:ext cx="4769968" cy="2289048"/>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m = 60 kg</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asansörün ivmesi a = 2 m/s² (yukarı)</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g = 10 m/s²</a:t>
            </a:r>
            <a:endParaRPr lang="en-US" sz="1800" dirty="0"/>
          </a:p>
        </p:txBody>
      </p:sp>
      <p:sp>
        <p:nvSpPr>
          <p:cNvPr id="15" name="Shape 13"/>
          <p:cNvSpPr/>
          <p:nvPr/>
        </p:nvSpPr>
        <p:spPr>
          <a:xfrm>
            <a:off x="6233008" y="3252216"/>
            <a:ext cx="5318608" cy="2892552"/>
          </a:xfrm>
          <a:prstGeom prst="roundRect">
            <a:avLst>
              <a:gd name="adj" fmla="val 505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6" name="Shape 14"/>
          <p:cNvSpPr/>
          <p:nvPr/>
        </p:nvSpPr>
        <p:spPr>
          <a:xfrm>
            <a:off x="6251296" y="3416808"/>
            <a:ext cx="54864" cy="2563368"/>
          </a:xfrm>
          <a:prstGeom prst="rect">
            <a:avLst/>
          </a:prstGeom>
          <a:solidFill>
            <a:srgbClr val="5F4BD8"/>
          </a:solidFill>
          <a:ln/>
        </p:spPr>
      </p:sp>
      <p:sp>
        <p:nvSpPr>
          <p:cNvPr id="17" name="Text 15"/>
          <p:cNvSpPr txBox="1"/>
          <p:nvPr/>
        </p:nvSpPr>
        <p:spPr>
          <a:xfrm>
            <a:off x="6507328" y="3398520"/>
            <a:ext cx="4861408" cy="256032"/>
          </a:xfrm>
          <a:prstGeom prst="rect">
            <a:avLst/>
          </a:prstGeom>
          <a:noFill/>
          <a:ln/>
        </p:spPr>
        <p:txBody>
          <a:bodyPr wrap="square" lIns="0" tIns="0" rIns="0" bIns="0" rtlCol="0" anchor="ctr"/>
          <a:lstStyle/>
          <a:p>
            <a:pPr indent="0" marL="0">
              <a:buNone/>
            </a:pPr>
            <a:r>
              <a:rPr lang="en-US" sz="1050" b="1" spc="200" kern="0" dirty="0">
                <a:solidFill>
                  <a:srgbClr val="5F4BD8"/>
                </a:solidFill>
                <a:latin typeface="Calibri" pitchFamily="34" charset="0"/>
                <a:ea typeface="Calibri" pitchFamily="34" charset="-122"/>
                <a:cs typeface="Calibri" pitchFamily="34" charset="-120"/>
              </a:rPr>
              <a:t>İSTENEN</a:t>
            </a:r>
            <a:endParaRPr lang="en-US" sz="1050" dirty="0"/>
          </a:p>
        </p:txBody>
      </p:sp>
      <p:sp>
        <p:nvSpPr>
          <p:cNvPr id="18" name="Text 16"/>
          <p:cNvSpPr txBox="1"/>
          <p:nvPr/>
        </p:nvSpPr>
        <p:spPr>
          <a:xfrm>
            <a:off x="6543904" y="3727704"/>
            <a:ext cx="4769968" cy="2289048"/>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tartının gösterdiği değer (kg olarak)</a:t>
            </a:r>
            <a:endParaRPr lang="en-US" sz="1800" dirty="0"/>
          </a:p>
        </p:txBody>
      </p:sp>
      <p:sp>
        <p:nvSpPr>
          <p:cNvPr id="19" name="Shape 17"/>
          <p:cNvSpPr/>
          <p:nvPr/>
        </p:nvSpPr>
        <p:spPr>
          <a:xfrm>
            <a:off x="640080" y="6382512"/>
            <a:ext cx="128016" cy="128016"/>
          </a:xfrm>
          <a:prstGeom prst="roundRect">
            <a:avLst>
              <a:gd name="adj" fmla="val 28571"/>
            </a:avLst>
          </a:prstGeom>
          <a:solidFill>
            <a:srgbClr val="A9E648"/>
          </a:solidFill>
          <a:ln/>
        </p:spPr>
      </p:sp>
      <p:sp>
        <p:nvSpPr>
          <p:cNvPr id="20" name="Text 1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dersler.perinet.org/newton-yasalari.html</a:t>
            </a:r>
            <a:endParaRPr lang="en-US" sz="1050" dirty="0"/>
          </a:p>
        </p:txBody>
      </p:sp>
      <p:sp>
        <p:nvSpPr>
          <p:cNvPr id="21" name="Text 1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116</a:t>
            </a:r>
            <a:endParaRPr lang="en-US" sz="1050"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3 · Çözüm 1 / 2</a:t>
            </a:r>
            <a:endParaRPr lang="en-US" sz="3200" dirty="0"/>
          </a:p>
        </p:txBody>
      </p:sp>
      <p:sp>
        <p:nvSpPr>
          <p:cNvPr id="5" name="Shape 3"/>
          <p:cNvSpPr/>
          <p:nvPr/>
        </p:nvSpPr>
        <p:spPr>
          <a:xfrm>
            <a:off x="10408615" y="512064"/>
            <a:ext cx="1143000" cy="384048"/>
          </a:xfrm>
          <a:prstGeom prst="roundRect">
            <a:avLst>
              <a:gd name="adj" fmla="val 50000"/>
            </a:avLst>
          </a:prstGeom>
          <a:solidFill>
            <a:srgbClr val="E6EDFB"/>
          </a:solidFill>
          <a:ln w="9525">
            <a:solidFill>
              <a:srgbClr val="2957D4"/>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Asansördeki tartı</a:t>
            </a:r>
            <a:endParaRPr lang="en-US" sz="1450" dirty="0"/>
          </a:p>
        </p:txBody>
      </p:sp>
      <p:sp>
        <p:nvSpPr>
          <p:cNvPr id="8" name="Shape 6"/>
          <p:cNvSpPr/>
          <p:nvPr/>
        </p:nvSpPr>
        <p:spPr>
          <a:xfrm>
            <a:off x="640080" y="1645920"/>
            <a:ext cx="10911535" cy="1619098"/>
          </a:xfrm>
          <a:prstGeom prst="roundRect">
            <a:avLst>
              <a:gd name="adj" fmla="val 90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Shape 7"/>
          <p:cNvSpPr/>
          <p:nvPr/>
        </p:nvSpPr>
        <p:spPr>
          <a:xfrm>
            <a:off x="914400" y="2245157"/>
            <a:ext cx="420624" cy="420624"/>
          </a:xfrm>
          <a:prstGeom prst="roundRect">
            <a:avLst>
              <a:gd name="adj" fmla="val 26000"/>
            </a:avLst>
          </a:prstGeom>
          <a:solidFill>
            <a:srgbClr val="A56209"/>
          </a:solidFill>
          <a:ln/>
        </p:spPr>
      </p:sp>
      <p:sp>
        <p:nvSpPr>
          <p:cNvPr id="10" name="Text 8"/>
          <p:cNvSpPr txBox="1"/>
          <p:nvPr/>
        </p:nvSpPr>
        <p:spPr>
          <a:xfrm>
            <a:off x="914400" y="2245157"/>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1" name="Text 9"/>
          <p:cNvSpPr txBox="1"/>
          <p:nvPr/>
        </p:nvSpPr>
        <p:spPr>
          <a:xfrm>
            <a:off x="1508760" y="1700784"/>
            <a:ext cx="9859975" cy="1509370"/>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Kişiye etki eden kuvvetler: ağırlık G = 600 N (aşağı), normal kuvvet N (yukarı).</a:t>
            </a:r>
            <a:endParaRPr lang="en-US" sz="2000" dirty="0"/>
          </a:p>
        </p:txBody>
      </p:sp>
      <p:sp>
        <p:nvSpPr>
          <p:cNvPr id="12" name="Shape 10"/>
          <p:cNvSpPr/>
          <p:nvPr/>
        </p:nvSpPr>
        <p:spPr>
          <a:xfrm>
            <a:off x="640080" y="3429610"/>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3" name="Shape 11"/>
          <p:cNvSpPr/>
          <p:nvPr/>
        </p:nvSpPr>
        <p:spPr>
          <a:xfrm>
            <a:off x="914400" y="3755746"/>
            <a:ext cx="420624" cy="420624"/>
          </a:xfrm>
          <a:prstGeom prst="roundRect">
            <a:avLst>
              <a:gd name="adj" fmla="val 26000"/>
            </a:avLst>
          </a:prstGeom>
          <a:solidFill>
            <a:srgbClr val="A56209"/>
          </a:solidFill>
          <a:ln/>
        </p:spPr>
      </p:sp>
      <p:sp>
        <p:nvSpPr>
          <p:cNvPr id="14" name="Text 12"/>
          <p:cNvSpPr txBox="1"/>
          <p:nvPr/>
        </p:nvSpPr>
        <p:spPr>
          <a:xfrm>
            <a:off x="914400" y="3755746"/>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5" name="Text 13"/>
          <p:cNvSpPr txBox="1"/>
          <p:nvPr/>
        </p:nvSpPr>
        <p:spPr>
          <a:xfrm>
            <a:off x="1508760" y="3484474"/>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Net kuvvet yukarı olmalı: N − G = m·a</a:t>
            </a:r>
            <a:endParaRPr lang="en-US" sz="2000" dirty="0"/>
          </a:p>
        </p:txBody>
      </p:sp>
      <p:sp>
        <p:nvSpPr>
          <p:cNvPr id="16" name="Shape 14"/>
          <p:cNvSpPr/>
          <p:nvPr/>
        </p:nvSpPr>
        <p:spPr>
          <a:xfrm>
            <a:off x="640080" y="6382512"/>
            <a:ext cx="128016" cy="128016"/>
          </a:xfrm>
          <a:prstGeom prst="roundRect">
            <a:avLst>
              <a:gd name="adj" fmla="val 28571"/>
            </a:avLst>
          </a:prstGeom>
          <a:solidFill>
            <a:srgbClr val="A9E648"/>
          </a:solidFill>
          <a:ln/>
        </p:spPr>
      </p:sp>
      <p:sp>
        <p:nvSpPr>
          <p:cNvPr id="17" name="Text 1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dersler.perinet.org/newton-yasalari.html</a:t>
            </a:r>
            <a:endParaRPr lang="en-US" sz="1050" dirty="0"/>
          </a:p>
        </p:txBody>
      </p:sp>
      <p:sp>
        <p:nvSpPr>
          <p:cNvPr id="18" name="Text 1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117</a:t>
            </a:r>
            <a:endParaRPr lang="en-US" sz="1050"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3 · Çözüm 2 / 2</a:t>
            </a:r>
            <a:endParaRPr lang="en-US" sz="3200" dirty="0"/>
          </a:p>
        </p:txBody>
      </p:sp>
      <p:sp>
        <p:nvSpPr>
          <p:cNvPr id="5" name="Shape 3"/>
          <p:cNvSpPr/>
          <p:nvPr/>
        </p:nvSpPr>
        <p:spPr>
          <a:xfrm>
            <a:off x="10408615" y="512064"/>
            <a:ext cx="1143000" cy="384048"/>
          </a:xfrm>
          <a:prstGeom prst="roundRect">
            <a:avLst>
              <a:gd name="adj" fmla="val 50000"/>
            </a:avLst>
          </a:prstGeom>
          <a:solidFill>
            <a:srgbClr val="E6EDFB"/>
          </a:solidFill>
          <a:ln w="9525">
            <a:solidFill>
              <a:srgbClr val="2957D4"/>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Asansördeki tartı</a:t>
            </a:r>
            <a:endParaRPr lang="en-US" sz="1450" dirty="0"/>
          </a:p>
        </p:txBody>
      </p:sp>
      <p:sp>
        <p:nvSpPr>
          <p:cNvPr id="8" name="Shape 6"/>
          <p:cNvSpPr/>
          <p:nvPr/>
        </p:nvSpPr>
        <p:spPr>
          <a:xfrm>
            <a:off x="640080" y="1645920"/>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Shape 7"/>
          <p:cNvSpPr/>
          <p:nvPr/>
        </p:nvSpPr>
        <p:spPr>
          <a:xfrm>
            <a:off x="914400" y="1972056"/>
            <a:ext cx="420624" cy="420624"/>
          </a:xfrm>
          <a:prstGeom prst="roundRect">
            <a:avLst>
              <a:gd name="adj" fmla="val 26000"/>
            </a:avLst>
          </a:prstGeom>
          <a:solidFill>
            <a:srgbClr val="A56209"/>
          </a:solidFill>
          <a:ln/>
        </p:spPr>
      </p:sp>
      <p:sp>
        <p:nvSpPr>
          <p:cNvPr id="10" name="Text 8"/>
          <p:cNvSpPr txBox="1"/>
          <p:nvPr/>
        </p:nvSpPr>
        <p:spPr>
          <a:xfrm>
            <a:off x="914400" y="1972056"/>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1" name="Text 9"/>
          <p:cNvSpPr txBox="1"/>
          <p:nvPr/>
        </p:nvSpPr>
        <p:spPr>
          <a:xfrm>
            <a:off x="1508760" y="1700784"/>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N = m(g + a) = 60 · (10 + 2)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720 N</a:t>
            </a:r>
            <a:endParaRPr lang="en-US" sz="2000" dirty="0"/>
          </a:p>
        </p:txBody>
      </p:sp>
      <p:sp>
        <p:nvSpPr>
          <p:cNvPr id="12" name="Shape 10"/>
          <p:cNvSpPr/>
          <p:nvPr/>
        </p:nvSpPr>
        <p:spPr>
          <a:xfrm>
            <a:off x="640080" y="2883408"/>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3" name="Shape 11"/>
          <p:cNvSpPr/>
          <p:nvPr/>
        </p:nvSpPr>
        <p:spPr>
          <a:xfrm>
            <a:off x="914400" y="3209544"/>
            <a:ext cx="420624" cy="420624"/>
          </a:xfrm>
          <a:prstGeom prst="roundRect">
            <a:avLst>
              <a:gd name="adj" fmla="val 26000"/>
            </a:avLst>
          </a:prstGeom>
          <a:solidFill>
            <a:srgbClr val="A56209"/>
          </a:solidFill>
          <a:ln/>
        </p:spPr>
      </p:sp>
      <p:sp>
        <p:nvSpPr>
          <p:cNvPr id="14" name="Text 12"/>
          <p:cNvSpPr txBox="1"/>
          <p:nvPr/>
        </p:nvSpPr>
        <p:spPr>
          <a:xfrm>
            <a:off x="914400" y="3209544"/>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15" name="Text 13"/>
          <p:cNvSpPr txBox="1"/>
          <p:nvPr/>
        </p:nvSpPr>
        <p:spPr>
          <a:xfrm>
            <a:off x="1508760" y="2938272"/>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Tartı N/g = 720/10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72 kg</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gösterir; kişinin kütlesi ise hâlâ 60 kg'dır.</a:t>
            </a:r>
            <a:endParaRPr lang="en-US" sz="2000" dirty="0"/>
          </a:p>
        </p:txBody>
      </p:sp>
      <p:sp>
        <p:nvSpPr>
          <p:cNvPr id="16" name="Shape 14"/>
          <p:cNvSpPr/>
          <p:nvPr/>
        </p:nvSpPr>
        <p:spPr>
          <a:xfrm>
            <a:off x="640080" y="6382512"/>
            <a:ext cx="128016" cy="128016"/>
          </a:xfrm>
          <a:prstGeom prst="roundRect">
            <a:avLst>
              <a:gd name="adj" fmla="val 28571"/>
            </a:avLst>
          </a:prstGeom>
          <a:solidFill>
            <a:srgbClr val="A9E648"/>
          </a:solidFill>
          <a:ln/>
        </p:spPr>
      </p:sp>
      <p:sp>
        <p:nvSpPr>
          <p:cNvPr id="17" name="Text 1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dersler.perinet.org/newton-yasalari.html</a:t>
            </a:r>
            <a:endParaRPr lang="en-US" sz="1050" dirty="0"/>
          </a:p>
        </p:txBody>
      </p:sp>
      <p:sp>
        <p:nvSpPr>
          <p:cNvPr id="18" name="Text 1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118</a:t>
            </a:r>
            <a:endParaRPr lang="en-US" sz="1050"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4 / 7 · Soru</a:t>
            </a:r>
            <a:endParaRPr lang="en-US" sz="3200" dirty="0"/>
          </a:p>
        </p:txBody>
      </p:sp>
      <p:sp>
        <p:nvSpPr>
          <p:cNvPr id="5" name="Shape 3"/>
          <p:cNvSpPr/>
          <p:nvPr/>
        </p:nvSpPr>
        <p:spPr>
          <a:xfrm>
            <a:off x="10408615" y="512064"/>
            <a:ext cx="1143000" cy="384048"/>
          </a:xfrm>
          <a:prstGeom prst="roundRect">
            <a:avLst>
              <a:gd name="adj" fmla="val 50000"/>
            </a:avLst>
          </a:prstGeom>
          <a:solidFill>
            <a:srgbClr val="E6EDFB"/>
          </a:solidFill>
          <a:ln w="9525">
            <a:solidFill>
              <a:srgbClr val="2957D4"/>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Bağlı iki cisim ve ip gerilmesi</a:t>
            </a:r>
            <a:endParaRPr lang="en-US" sz="1450" dirty="0"/>
          </a:p>
        </p:txBody>
      </p:sp>
      <p:sp>
        <p:nvSpPr>
          <p:cNvPr id="8" name="Shape 6"/>
          <p:cNvSpPr/>
          <p:nvPr/>
        </p:nvSpPr>
        <p:spPr>
          <a:xfrm>
            <a:off x="640080" y="1645920"/>
            <a:ext cx="10911535" cy="1764792"/>
          </a:xfrm>
          <a:prstGeom prst="roundRect">
            <a:avLst>
              <a:gd name="adj" fmla="val 8290"/>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60120" y="1810512"/>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60120" y="2121408"/>
            <a:ext cx="10271455" cy="1216152"/>
          </a:xfrm>
          <a:prstGeom prst="rect">
            <a:avLst/>
          </a:prstGeom>
          <a:noFill/>
          <a:ln/>
        </p:spPr>
        <p:txBody>
          <a:bodyPr wrap="square" lIns="0" tIns="0" rIns="0" bIns="0" rtlCol="0" anchor="t"/>
          <a:lstStyle/>
          <a:p>
            <a:pPr indent="0" marL="0">
              <a:lnSpc>
                <a:spcPct val="118000"/>
              </a:lnSpc>
              <a:buNone/>
            </a:pPr>
            <a:r>
              <a:rPr lang="en-US" sz="2000" dirty="0">
                <a:solidFill>
                  <a:srgbClr val="0E1426"/>
                </a:solidFill>
                <a:latin typeface="Calibri" pitchFamily="34" charset="0"/>
                <a:ea typeface="Calibri" pitchFamily="34" charset="-122"/>
                <a:cs typeface="Calibri" pitchFamily="34" charset="-120"/>
              </a:rPr>
              <a:t>Sürtünmesiz yatay zeminde, ipte bağlı 2 kg ve 3 kg'lık cisimler F = 20 N'luk kuvvetle çekiliyor (kuvvet 2 kg'lık cisme uygulanıyor). Sistemin ivmesini ve ipteki gerilme kuvvetini bulunuz.</a:t>
            </a:r>
            <a:endParaRPr lang="en-US" sz="2000" dirty="0"/>
          </a:p>
        </p:txBody>
      </p:sp>
      <p:sp>
        <p:nvSpPr>
          <p:cNvPr id="11" name="Shape 9"/>
          <p:cNvSpPr/>
          <p:nvPr/>
        </p:nvSpPr>
        <p:spPr>
          <a:xfrm>
            <a:off x="640080" y="3611880"/>
            <a:ext cx="5318608" cy="2532888"/>
          </a:xfrm>
          <a:prstGeom prst="roundRect">
            <a:avLst>
              <a:gd name="adj" fmla="val 5776"/>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658368" y="3776472"/>
            <a:ext cx="54864" cy="2203704"/>
          </a:xfrm>
          <a:prstGeom prst="rect">
            <a:avLst/>
          </a:prstGeom>
          <a:solidFill>
            <a:srgbClr val="2957D4"/>
          </a:solidFill>
          <a:ln/>
        </p:spPr>
      </p:sp>
      <p:sp>
        <p:nvSpPr>
          <p:cNvPr id="13" name="Text 11"/>
          <p:cNvSpPr txBox="1"/>
          <p:nvPr/>
        </p:nvSpPr>
        <p:spPr>
          <a:xfrm>
            <a:off x="914400" y="3758184"/>
            <a:ext cx="4861408" cy="256032"/>
          </a:xfrm>
          <a:prstGeom prst="rect">
            <a:avLst/>
          </a:prstGeom>
          <a:noFill/>
          <a:ln/>
        </p:spPr>
        <p:txBody>
          <a:bodyPr wrap="square" lIns="0" tIns="0" rIns="0" bIns="0" rtlCol="0" anchor="ctr"/>
          <a:lstStyle/>
          <a:p>
            <a:pPr indent="0" marL="0">
              <a:buNone/>
            </a:pPr>
            <a:r>
              <a:rPr lang="en-US" sz="1050" b="1" spc="200" kern="0" dirty="0">
                <a:solidFill>
                  <a:srgbClr val="2957D4"/>
                </a:solidFill>
                <a:latin typeface="Calibri" pitchFamily="34" charset="0"/>
                <a:ea typeface="Calibri" pitchFamily="34" charset="-122"/>
                <a:cs typeface="Calibri" pitchFamily="34" charset="-120"/>
              </a:rPr>
              <a:t>VERİLENLER</a:t>
            </a:r>
            <a:endParaRPr lang="en-US" sz="1050" dirty="0"/>
          </a:p>
        </p:txBody>
      </p:sp>
      <p:sp>
        <p:nvSpPr>
          <p:cNvPr id="14" name="Text 12"/>
          <p:cNvSpPr txBox="1"/>
          <p:nvPr/>
        </p:nvSpPr>
        <p:spPr>
          <a:xfrm>
            <a:off x="950976" y="4087368"/>
            <a:ext cx="4769968" cy="1929384"/>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m₁ = 2 kg</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m₂ = 3 kg</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F = 20 N (2 kg'lık cisme uygulanıyor)</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zemin sürtünmesiz</a:t>
            </a:r>
            <a:endParaRPr lang="en-US" sz="1800" dirty="0"/>
          </a:p>
        </p:txBody>
      </p:sp>
      <p:sp>
        <p:nvSpPr>
          <p:cNvPr id="15" name="Shape 13"/>
          <p:cNvSpPr/>
          <p:nvPr/>
        </p:nvSpPr>
        <p:spPr>
          <a:xfrm>
            <a:off x="6233008" y="3611880"/>
            <a:ext cx="5318608" cy="2532888"/>
          </a:xfrm>
          <a:prstGeom prst="roundRect">
            <a:avLst>
              <a:gd name="adj" fmla="val 5776"/>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6" name="Shape 14"/>
          <p:cNvSpPr/>
          <p:nvPr/>
        </p:nvSpPr>
        <p:spPr>
          <a:xfrm>
            <a:off x="6251296" y="3776472"/>
            <a:ext cx="54864" cy="2203704"/>
          </a:xfrm>
          <a:prstGeom prst="rect">
            <a:avLst/>
          </a:prstGeom>
          <a:solidFill>
            <a:srgbClr val="5F4BD8"/>
          </a:solidFill>
          <a:ln/>
        </p:spPr>
      </p:sp>
      <p:sp>
        <p:nvSpPr>
          <p:cNvPr id="17" name="Text 15"/>
          <p:cNvSpPr txBox="1"/>
          <p:nvPr/>
        </p:nvSpPr>
        <p:spPr>
          <a:xfrm>
            <a:off x="6507328" y="3758184"/>
            <a:ext cx="4861408" cy="256032"/>
          </a:xfrm>
          <a:prstGeom prst="rect">
            <a:avLst/>
          </a:prstGeom>
          <a:noFill/>
          <a:ln/>
        </p:spPr>
        <p:txBody>
          <a:bodyPr wrap="square" lIns="0" tIns="0" rIns="0" bIns="0" rtlCol="0" anchor="ctr"/>
          <a:lstStyle/>
          <a:p>
            <a:pPr indent="0" marL="0">
              <a:buNone/>
            </a:pPr>
            <a:r>
              <a:rPr lang="en-US" sz="1050" b="1" spc="200" kern="0" dirty="0">
                <a:solidFill>
                  <a:srgbClr val="5F4BD8"/>
                </a:solidFill>
                <a:latin typeface="Calibri" pitchFamily="34" charset="0"/>
                <a:ea typeface="Calibri" pitchFamily="34" charset="-122"/>
                <a:cs typeface="Calibri" pitchFamily="34" charset="-120"/>
              </a:rPr>
              <a:t>İSTENEN</a:t>
            </a:r>
            <a:endParaRPr lang="en-US" sz="1050" dirty="0"/>
          </a:p>
        </p:txBody>
      </p:sp>
      <p:sp>
        <p:nvSpPr>
          <p:cNvPr id="18" name="Text 16"/>
          <p:cNvSpPr txBox="1"/>
          <p:nvPr/>
        </p:nvSpPr>
        <p:spPr>
          <a:xfrm>
            <a:off x="6543904" y="4087368"/>
            <a:ext cx="4769968" cy="1929384"/>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sistemin ivmesi a</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ipteki gerilme kuvveti T</a:t>
            </a:r>
            <a:endParaRPr lang="en-US" sz="1800" dirty="0"/>
          </a:p>
        </p:txBody>
      </p:sp>
      <p:sp>
        <p:nvSpPr>
          <p:cNvPr id="19" name="Shape 17"/>
          <p:cNvSpPr/>
          <p:nvPr/>
        </p:nvSpPr>
        <p:spPr>
          <a:xfrm>
            <a:off x="640080" y="6382512"/>
            <a:ext cx="128016" cy="128016"/>
          </a:xfrm>
          <a:prstGeom prst="roundRect">
            <a:avLst>
              <a:gd name="adj" fmla="val 28571"/>
            </a:avLst>
          </a:prstGeom>
          <a:solidFill>
            <a:srgbClr val="A9E648"/>
          </a:solidFill>
          <a:ln/>
        </p:spPr>
      </p:sp>
      <p:sp>
        <p:nvSpPr>
          <p:cNvPr id="20" name="Text 1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dersler.perinet.org/newton-yasalari.html</a:t>
            </a:r>
            <a:endParaRPr lang="en-US" sz="1050" dirty="0"/>
          </a:p>
        </p:txBody>
      </p:sp>
      <p:sp>
        <p:nvSpPr>
          <p:cNvPr id="21" name="Text 1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119</a:t>
            </a:r>
            <a:endParaRPr lang="en-US" sz="1050"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4 · Çözüm 1 / 2</a:t>
            </a:r>
            <a:endParaRPr lang="en-US" sz="3200" dirty="0"/>
          </a:p>
        </p:txBody>
      </p:sp>
      <p:sp>
        <p:nvSpPr>
          <p:cNvPr id="5" name="Shape 3"/>
          <p:cNvSpPr/>
          <p:nvPr/>
        </p:nvSpPr>
        <p:spPr>
          <a:xfrm>
            <a:off x="10408615" y="512064"/>
            <a:ext cx="1143000" cy="384048"/>
          </a:xfrm>
          <a:prstGeom prst="roundRect">
            <a:avLst>
              <a:gd name="adj" fmla="val 50000"/>
            </a:avLst>
          </a:prstGeom>
          <a:solidFill>
            <a:srgbClr val="E6EDFB"/>
          </a:solidFill>
          <a:ln w="9525">
            <a:solidFill>
              <a:srgbClr val="2957D4"/>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Bağlı iki cisim ve ip gerilmesi</a:t>
            </a:r>
            <a:endParaRPr lang="en-US" sz="1450" dirty="0"/>
          </a:p>
        </p:txBody>
      </p:sp>
      <p:sp>
        <p:nvSpPr>
          <p:cNvPr id="8" name="Shape 6"/>
          <p:cNvSpPr/>
          <p:nvPr/>
        </p:nvSpPr>
        <p:spPr>
          <a:xfrm>
            <a:off x="640080" y="1645920"/>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Shape 7"/>
          <p:cNvSpPr/>
          <p:nvPr/>
        </p:nvSpPr>
        <p:spPr>
          <a:xfrm>
            <a:off x="914400" y="1972056"/>
            <a:ext cx="420624" cy="420624"/>
          </a:xfrm>
          <a:prstGeom prst="roundRect">
            <a:avLst>
              <a:gd name="adj" fmla="val 26000"/>
            </a:avLst>
          </a:prstGeom>
          <a:solidFill>
            <a:srgbClr val="A56209"/>
          </a:solidFill>
          <a:ln/>
        </p:spPr>
      </p:sp>
      <p:sp>
        <p:nvSpPr>
          <p:cNvPr id="10" name="Text 8"/>
          <p:cNvSpPr txBox="1"/>
          <p:nvPr/>
        </p:nvSpPr>
        <p:spPr>
          <a:xfrm>
            <a:off x="914400" y="1972056"/>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1" name="Text 9"/>
          <p:cNvSpPr txBox="1"/>
          <p:nvPr/>
        </p:nvSpPr>
        <p:spPr>
          <a:xfrm>
            <a:off x="1508760" y="1700784"/>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Sistemi tek cisim gibi düşün: a = F / (m₁ + m₂) = 20 / 5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4 m/s²</a:t>
            </a:r>
            <a:endParaRPr lang="en-US" sz="2000" dirty="0"/>
          </a:p>
        </p:txBody>
      </p:sp>
      <p:sp>
        <p:nvSpPr>
          <p:cNvPr id="12" name="Shape 10"/>
          <p:cNvSpPr/>
          <p:nvPr/>
        </p:nvSpPr>
        <p:spPr>
          <a:xfrm>
            <a:off x="640080" y="2883408"/>
            <a:ext cx="10911535" cy="1619098"/>
          </a:xfrm>
          <a:prstGeom prst="roundRect">
            <a:avLst>
              <a:gd name="adj" fmla="val 90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3" name="Shape 11"/>
          <p:cNvSpPr/>
          <p:nvPr/>
        </p:nvSpPr>
        <p:spPr>
          <a:xfrm>
            <a:off x="914400" y="3482645"/>
            <a:ext cx="420624" cy="420624"/>
          </a:xfrm>
          <a:prstGeom prst="roundRect">
            <a:avLst>
              <a:gd name="adj" fmla="val 26000"/>
            </a:avLst>
          </a:prstGeom>
          <a:solidFill>
            <a:srgbClr val="A56209"/>
          </a:solidFill>
          <a:ln/>
        </p:spPr>
      </p:sp>
      <p:sp>
        <p:nvSpPr>
          <p:cNvPr id="14" name="Text 12"/>
          <p:cNvSpPr txBox="1"/>
          <p:nvPr/>
        </p:nvSpPr>
        <p:spPr>
          <a:xfrm>
            <a:off x="914400" y="3482645"/>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5" name="Text 13"/>
          <p:cNvSpPr txBox="1"/>
          <p:nvPr/>
        </p:nvSpPr>
        <p:spPr>
          <a:xfrm>
            <a:off x="1508760" y="2938272"/>
            <a:ext cx="9859975" cy="1509370"/>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Şimdi yalnızca 3 kg'lık cismi incele: ona etki eden tek yatay kuvvet ip gerilmesidir.</a:t>
            </a:r>
            <a:endParaRPr lang="en-US" sz="2000" dirty="0"/>
          </a:p>
        </p:txBody>
      </p:sp>
      <p:sp>
        <p:nvSpPr>
          <p:cNvPr id="16" name="Shape 14"/>
          <p:cNvSpPr/>
          <p:nvPr/>
        </p:nvSpPr>
        <p:spPr>
          <a:xfrm>
            <a:off x="640080" y="6382512"/>
            <a:ext cx="128016" cy="128016"/>
          </a:xfrm>
          <a:prstGeom prst="roundRect">
            <a:avLst>
              <a:gd name="adj" fmla="val 28571"/>
            </a:avLst>
          </a:prstGeom>
          <a:solidFill>
            <a:srgbClr val="A9E648"/>
          </a:solidFill>
          <a:ln/>
        </p:spPr>
      </p:sp>
      <p:sp>
        <p:nvSpPr>
          <p:cNvPr id="17" name="Text 1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dersler.perinet.org/newton-yasalari.html</a:t>
            </a:r>
            <a:endParaRPr lang="en-US" sz="1050" dirty="0"/>
          </a:p>
        </p:txBody>
      </p:sp>
      <p:sp>
        <p:nvSpPr>
          <p:cNvPr id="18" name="Text 1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120</a:t>
            </a:r>
            <a:endParaRPr lang="en-US" sz="1050"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4 · Çözüm 2 / 2</a:t>
            </a:r>
            <a:endParaRPr lang="en-US" sz="3200" dirty="0"/>
          </a:p>
        </p:txBody>
      </p:sp>
      <p:sp>
        <p:nvSpPr>
          <p:cNvPr id="5" name="Shape 3"/>
          <p:cNvSpPr/>
          <p:nvPr/>
        </p:nvSpPr>
        <p:spPr>
          <a:xfrm>
            <a:off x="10408615" y="512064"/>
            <a:ext cx="1143000" cy="384048"/>
          </a:xfrm>
          <a:prstGeom prst="roundRect">
            <a:avLst>
              <a:gd name="adj" fmla="val 50000"/>
            </a:avLst>
          </a:prstGeom>
          <a:solidFill>
            <a:srgbClr val="E6EDFB"/>
          </a:solidFill>
          <a:ln w="9525">
            <a:solidFill>
              <a:srgbClr val="2957D4"/>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Bağlı iki cisim ve ip gerilmesi</a:t>
            </a:r>
            <a:endParaRPr lang="en-US" sz="1450" dirty="0"/>
          </a:p>
        </p:txBody>
      </p:sp>
      <p:sp>
        <p:nvSpPr>
          <p:cNvPr id="8" name="Shape 6"/>
          <p:cNvSpPr/>
          <p:nvPr/>
        </p:nvSpPr>
        <p:spPr>
          <a:xfrm>
            <a:off x="640080" y="1645920"/>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Shape 7"/>
          <p:cNvSpPr/>
          <p:nvPr/>
        </p:nvSpPr>
        <p:spPr>
          <a:xfrm>
            <a:off x="914400" y="1972056"/>
            <a:ext cx="420624" cy="420624"/>
          </a:xfrm>
          <a:prstGeom prst="roundRect">
            <a:avLst>
              <a:gd name="adj" fmla="val 26000"/>
            </a:avLst>
          </a:prstGeom>
          <a:solidFill>
            <a:srgbClr val="A56209"/>
          </a:solidFill>
          <a:ln/>
        </p:spPr>
      </p:sp>
      <p:sp>
        <p:nvSpPr>
          <p:cNvPr id="10" name="Text 8"/>
          <p:cNvSpPr txBox="1"/>
          <p:nvPr/>
        </p:nvSpPr>
        <p:spPr>
          <a:xfrm>
            <a:off x="914400" y="1972056"/>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1" name="Text 9"/>
          <p:cNvSpPr txBox="1"/>
          <p:nvPr/>
        </p:nvSpPr>
        <p:spPr>
          <a:xfrm>
            <a:off x="1508760" y="1700784"/>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T = m₂ · a = 3 · 4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12 N</a:t>
            </a:r>
            <a:endParaRPr lang="en-US" sz="2000" dirty="0"/>
          </a:p>
        </p:txBody>
      </p:sp>
      <p:sp>
        <p:nvSpPr>
          <p:cNvPr id="12" name="Shape 10"/>
          <p:cNvSpPr/>
          <p:nvPr/>
        </p:nvSpPr>
        <p:spPr>
          <a:xfrm>
            <a:off x="640080" y="2883408"/>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3" name="Shape 11"/>
          <p:cNvSpPr/>
          <p:nvPr/>
        </p:nvSpPr>
        <p:spPr>
          <a:xfrm>
            <a:off x="914400" y="3209544"/>
            <a:ext cx="420624" cy="420624"/>
          </a:xfrm>
          <a:prstGeom prst="roundRect">
            <a:avLst>
              <a:gd name="adj" fmla="val 26000"/>
            </a:avLst>
          </a:prstGeom>
          <a:solidFill>
            <a:srgbClr val="A56209"/>
          </a:solidFill>
          <a:ln/>
        </p:spPr>
      </p:sp>
      <p:sp>
        <p:nvSpPr>
          <p:cNvPr id="14" name="Text 12"/>
          <p:cNvSpPr txBox="1"/>
          <p:nvPr/>
        </p:nvSpPr>
        <p:spPr>
          <a:xfrm>
            <a:off x="914400" y="3209544"/>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15" name="Text 13"/>
          <p:cNvSpPr txBox="1"/>
          <p:nvPr/>
        </p:nvSpPr>
        <p:spPr>
          <a:xfrm>
            <a:off x="1508760" y="2938272"/>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Kontrol (2 kg): 20 − 12 = 8 N = 2 · 4 ✓</a:t>
            </a:r>
            <a:endParaRPr lang="en-US" sz="2000" dirty="0"/>
          </a:p>
        </p:txBody>
      </p:sp>
      <p:sp>
        <p:nvSpPr>
          <p:cNvPr id="16" name="Shape 14"/>
          <p:cNvSpPr/>
          <p:nvPr/>
        </p:nvSpPr>
        <p:spPr>
          <a:xfrm>
            <a:off x="640080" y="6382512"/>
            <a:ext cx="128016" cy="128016"/>
          </a:xfrm>
          <a:prstGeom prst="roundRect">
            <a:avLst>
              <a:gd name="adj" fmla="val 28571"/>
            </a:avLst>
          </a:prstGeom>
          <a:solidFill>
            <a:srgbClr val="A9E648"/>
          </a:solidFill>
          <a:ln/>
        </p:spPr>
      </p:sp>
      <p:sp>
        <p:nvSpPr>
          <p:cNvPr id="17" name="Text 1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dersler.perinet.org/newton-yasalari.html</a:t>
            </a:r>
            <a:endParaRPr lang="en-US" sz="1050" dirty="0"/>
          </a:p>
        </p:txBody>
      </p:sp>
      <p:sp>
        <p:nvSpPr>
          <p:cNvPr id="18" name="Text 1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121</a:t>
            </a:r>
            <a:endParaRPr lang="en-US" sz="1050"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5 / 7 · Soru</a:t>
            </a:r>
            <a:endParaRPr lang="en-US" sz="3200" dirty="0"/>
          </a:p>
        </p:txBody>
      </p:sp>
      <p:sp>
        <p:nvSpPr>
          <p:cNvPr id="5" name="Shape 3"/>
          <p:cNvSpPr/>
          <p:nvPr/>
        </p:nvSpPr>
        <p:spPr>
          <a:xfrm>
            <a:off x="10408615" y="512064"/>
            <a:ext cx="1143000" cy="384048"/>
          </a:xfrm>
          <a:prstGeom prst="roundRect">
            <a:avLst>
              <a:gd name="adj" fmla="val 50000"/>
            </a:avLst>
          </a:prstGeom>
          <a:solidFill>
            <a:srgbClr val="E6EDFB"/>
          </a:solidFill>
          <a:ln w="9525">
            <a:solidFill>
              <a:srgbClr val="2957D4"/>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Eğik düzlemde kayan cisim</a:t>
            </a:r>
            <a:endParaRPr lang="en-US" sz="1450" dirty="0"/>
          </a:p>
        </p:txBody>
      </p:sp>
      <p:sp>
        <p:nvSpPr>
          <p:cNvPr id="8" name="Shape 6"/>
          <p:cNvSpPr/>
          <p:nvPr/>
        </p:nvSpPr>
        <p:spPr>
          <a:xfrm>
            <a:off x="640080" y="1645920"/>
            <a:ext cx="10911535" cy="1405128"/>
          </a:xfrm>
          <a:prstGeom prst="roundRect">
            <a:avLst>
              <a:gd name="adj" fmla="val 10412"/>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60120" y="1810512"/>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60120" y="2121408"/>
            <a:ext cx="10271455" cy="856488"/>
          </a:xfrm>
          <a:prstGeom prst="rect">
            <a:avLst/>
          </a:prstGeom>
          <a:noFill/>
          <a:ln/>
        </p:spPr>
        <p:txBody>
          <a:bodyPr wrap="square" lIns="0" tIns="0" rIns="0" bIns="0" rtlCol="0" anchor="t"/>
          <a:lstStyle/>
          <a:p>
            <a:pPr indent="0" marL="0">
              <a:lnSpc>
                <a:spcPct val="118000"/>
              </a:lnSpc>
              <a:buNone/>
            </a:pPr>
            <a:r>
              <a:rPr lang="en-US" sz="2000" dirty="0">
                <a:solidFill>
                  <a:srgbClr val="0E1426"/>
                </a:solidFill>
                <a:latin typeface="Calibri" pitchFamily="34" charset="0"/>
                <a:ea typeface="Calibri" pitchFamily="34" charset="-122"/>
                <a:cs typeface="Calibri" pitchFamily="34" charset="-120"/>
              </a:rPr>
              <a:t>Yatayla 37° açı yapan eğik düzlemde 10 kg'lık bir cisim aşağı doğru kayıyor. Sürtünme katsayısı 0,2 ise ivmesi nedir? (sin37° = 0,6 · cos37° = 0,8)</a:t>
            </a:r>
            <a:endParaRPr lang="en-US" sz="2000" dirty="0"/>
          </a:p>
        </p:txBody>
      </p:sp>
      <p:sp>
        <p:nvSpPr>
          <p:cNvPr id="11" name="Shape 9"/>
          <p:cNvSpPr/>
          <p:nvPr/>
        </p:nvSpPr>
        <p:spPr>
          <a:xfrm>
            <a:off x="640080" y="3252216"/>
            <a:ext cx="5318608" cy="2892552"/>
          </a:xfrm>
          <a:prstGeom prst="roundRect">
            <a:avLst>
              <a:gd name="adj" fmla="val 505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658368" y="3416808"/>
            <a:ext cx="54864" cy="2563368"/>
          </a:xfrm>
          <a:prstGeom prst="rect">
            <a:avLst/>
          </a:prstGeom>
          <a:solidFill>
            <a:srgbClr val="2957D4"/>
          </a:solidFill>
          <a:ln/>
        </p:spPr>
      </p:sp>
      <p:sp>
        <p:nvSpPr>
          <p:cNvPr id="13" name="Text 11"/>
          <p:cNvSpPr txBox="1"/>
          <p:nvPr/>
        </p:nvSpPr>
        <p:spPr>
          <a:xfrm>
            <a:off x="914400" y="3398520"/>
            <a:ext cx="4861408" cy="256032"/>
          </a:xfrm>
          <a:prstGeom prst="rect">
            <a:avLst/>
          </a:prstGeom>
          <a:noFill/>
          <a:ln/>
        </p:spPr>
        <p:txBody>
          <a:bodyPr wrap="square" lIns="0" tIns="0" rIns="0" bIns="0" rtlCol="0" anchor="ctr"/>
          <a:lstStyle/>
          <a:p>
            <a:pPr indent="0" marL="0">
              <a:buNone/>
            </a:pPr>
            <a:r>
              <a:rPr lang="en-US" sz="1050" b="1" spc="200" kern="0" dirty="0">
                <a:solidFill>
                  <a:srgbClr val="2957D4"/>
                </a:solidFill>
                <a:latin typeface="Calibri" pitchFamily="34" charset="0"/>
                <a:ea typeface="Calibri" pitchFamily="34" charset="-122"/>
                <a:cs typeface="Calibri" pitchFamily="34" charset="-120"/>
              </a:rPr>
              <a:t>VERİLENLER</a:t>
            </a:r>
            <a:endParaRPr lang="en-US" sz="1050" dirty="0"/>
          </a:p>
        </p:txBody>
      </p:sp>
      <p:sp>
        <p:nvSpPr>
          <p:cNvPr id="14" name="Text 12"/>
          <p:cNvSpPr txBox="1"/>
          <p:nvPr/>
        </p:nvSpPr>
        <p:spPr>
          <a:xfrm>
            <a:off x="950976" y="3727704"/>
            <a:ext cx="4769968" cy="2289048"/>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θ = 37°</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m = 10 kg</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μ = 0,2</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sin37° = 0,6</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cos37° = 0,8</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g = 10 m/s²</a:t>
            </a:r>
            <a:endParaRPr lang="en-US" sz="1800" dirty="0"/>
          </a:p>
        </p:txBody>
      </p:sp>
      <p:sp>
        <p:nvSpPr>
          <p:cNvPr id="15" name="Shape 13"/>
          <p:cNvSpPr/>
          <p:nvPr/>
        </p:nvSpPr>
        <p:spPr>
          <a:xfrm>
            <a:off x="6233008" y="3252216"/>
            <a:ext cx="5318608" cy="2892552"/>
          </a:xfrm>
          <a:prstGeom prst="roundRect">
            <a:avLst>
              <a:gd name="adj" fmla="val 505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6" name="Shape 14"/>
          <p:cNvSpPr/>
          <p:nvPr/>
        </p:nvSpPr>
        <p:spPr>
          <a:xfrm>
            <a:off x="6251296" y="3416808"/>
            <a:ext cx="54864" cy="2563368"/>
          </a:xfrm>
          <a:prstGeom prst="rect">
            <a:avLst/>
          </a:prstGeom>
          <a:solidFill>
            <a:srgbClr val="5F4BD8"/>
          </a:solidFill>
          <a:ln/>
        </p:spPr>
      </p:sp>
      <p:sp>
        <p:nvSpPr>
          <p:cNvPr id="17" name="Text 15"/>
          <p:cNvSpPr txBox="1"/>
          <p:nvPr/>
        </p:nvSpPr>
        <p:spPr>
          <a:xfrm>
            <a:off x="6507328" y="3398520"/>
            <a:ext cx="4861408" cy="256032"/>
          </a:xfrm>
          <a:prstGeom prst="rect">
            <a:avLst/>
          </a:prstGeom>
          <a:noFill/>
          <a:ln/>
        </p:spPr>
        <p:txBody>
          <a:bodyPr wrap="square" lIns="0" tIns="0" rIns="0" bIns="0" rtlCol="0" anchor="ctr"/>
          <a:lstStyle/>
          <a:p>
            <a:pPr indent="0" marL="0">
              <a:buNone/>
            </a:pPr>
            <a:r>
              <a:rPr lang="en-US" sz="1050" b="1" spc="200" kern="0" dirty="0">
                <a:solidFill>
                  <a:srgbClr val="5F4BD8"/>
                </a:solidFill>
                <a:latin typeface="Calibri" pitchFamily="34" charset="0"/>
                <a:ea typeface="Calibri" pitchFamily="34" charset="-122"/>
                <a:cs typeface="Calibri" pitchFamily="34" charset="-120"/>
              </a:rPr>
              <a:t>İSTENEN</a:t>
            </a:r>
            <a:endParaRPr lang="en-US" sz="1050" dirty="0"/>
          </a:p>
        </p:txBody>
      </p:sp>
      <p:sp>
        <p:nvSpPr>
          <p:cNvPr id="18" name="Text 16"/>
          <p:cNvSpPr txBox="1"/>
          <p:nvPr/>
        </p:nvSpPr>
        <p:spPr>
          <a:xfrm>
            <a:off x="6543904" y="3727704"/>
            <a:ext cx="4769968" cy="2289048"/>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aşağı doğru kayan cismin ivmesi a</a:t>
            </a:r>
            <a:endParaRPr lang="en-US" sz="1800" dirty="0"/>
          </a:p>
        </p:txBody>
      </p:sp>
      <p:sp>
        <p:nvSpPr>
          <p:cNvPr id="19" name="Shape 17"/>
          <p:cNvSpPr/>
          <p:nvPr/>
        </p:nvSpPr>
        <p:spPr>
          <a:xfrm>
            <a:off x="640080" y="6382512"/>
            <a:ext cx="128016" cy="128016"/>
          </a:xfrm>
          <a:prstGeom prst="roundRect">
            <a:avLst>
              <a:gd name="adj" fmla="val 28571"/>
            </a:avLst>
          </a:prstGeom>
          <a:solidFill>
            <a:srgbClr val="A9E648"/>
          </a:solidFill>
          <a:ln/>
        </p:spPr>
      </p:sp>
      <p:sp>
        <p:nvSpPr>
          <p:cNvPr id="20" name="Text 1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dersler.perinet.org/newton-yasalari.html</a:t>
            </a:r>
            <a:endParaRPr lang="en-US" sz="1050" dirty="0"/>
          </a:p>
        </p:txBody>
      </p:sp>
      <p:sp>
        <p:nvSpPr>
          <p:cNvPr id="21" name="Text 1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122</a:t>
            </a:r>
            <a:endParaRPr lang="en-US" sz="1050"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5 · Çözüm 1 / 2</a:t>
            </a:r>
            <a:endParaRPr lang="en-US" sz="3200" dirty="0"/>
          </a:p>
        </p:txBody>
      </p:sp>
      <p:sp>
        <p:nvSpPr>
          <p:cNvPr id="5" name="Shape 3"/>
          <p:cNvSpPr/>
          <p:nvPr/>
        </p:nvSpPr>
        <p:spPr>
          <a:xfrm>
            <a:off x="10408615" y="512064"/>
            <a:ext cx="1143000" cy="384048"/>
          </a:xfrm>
          <a:prstGeom prst="roundRect">
            <a:avLst>
              <a:gd name="adj" fmla="val 50000"/>
            </a:avLst>
          </a:prstGeom>
          <a:solidFill>
            <a:srgbClr val="E6EDFB"/>
          </a:solidFill>
          <a:ln w="9525">
            <a:solidFill>
              <a:srgbClr val="2957D4"/>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Eğik düzlemde kayan cisim</a:t>
            </a:r>
            <a:endParaRPr lang="en-US" sz="1450" dirty="0"/>
          </a:p>
        </p:txBody>
      </p:sp>
      <p:sp>
        <p:nvSpPr>
          <p:cNvPr id="8" name="Shape 6"/>
          <p:cNvSpPr/>
          <p:nvPr/>
        </p:nvSpPr>
        <p:spPr>
          <a:xfrm>
            <a:off x="640080" y="1645920"/>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Shape 7"/>
          <p:cNvSpPr/>
          <p:nvPr/>
        </p:nvSpPr>
        <p:spPr>
          <a:xfrm>
            <a:off x="914400" y="1972056"/>
            <a:ext cx="420624" cy="420624"/>
          </a:xfrm>
          <a:prstGeom prst="roundRect">
            <a:avLst>
              <a:gd name="adj" fmla="val 26000"/>
            </a:avLst>
          </a:prstGeom>
          <a:solidFill>
            <a:srgbClr val="A56209"/>
          </a:solidFill>
          <a:ln/>
        </p:spPr>
      </p:sp>
      <p:sp>
        <p:nvSpPr>
          <p:cNvPr id="10" name="Text 8"/>
          <p:cNvSpPr txBox="1"/>
          <p:nvPr/>
        </p:nvSpPr>
        <p:spPr>
          <a:xfrm>
            <a:off x="914400" y="1972056"/>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1" name="Text 9"/>
          <p:cNvSpPr txBox="1"/>
          <p:nvPr/>
        </p:nvSpPr>
        <p:spPr>
          <a:xfrm>
            <a:off x="1508760" y="1700784"/>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Eğime paralel bileşen: m·g·sinθ = 10 · 10 · 0,6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60 N</a:t>
            </a:r>
            <a:endParaRPr lang="en-US" sz="2000" dirty="0"/>
          </a:p>
        </p:txBody>
      </p:sp>
      <p:sp>
        <p:nvSpPr>
          <p:cNvPr id="12" name="Shape 10"/>
          <p:cNvSpPr/>
          <p:nvPr/>
        </p:nvSpPr>
        <p:spPr>
          <a:xfrm>
            <a:off x="640080" y="2883408"/>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3" name="Shape 11"/>
          <p:cNvSpPr/>
          <p:nvPr/>
        </p:nvSpPr>
        <p:spPr>
          <a:xfrm>
            <a:off x="914400" y="3209544"/>
            <a:ext cx="420624" cy="420624"/>
          </a:xfrm>
          <a:prstGeom prst="roundRect">
            <a:avLst>
              <a:gd name="adj" fmla="val 26000"/>
            </a:avLst>
          </a:prstGeom>
          <a:solidFill>
            <a:srgbClr val="A56209"/>
          </a:solidFill>
          <a:ln/>
        </p:spPr>
      </p:sp>
      <p:sp>
        <p:nvSpPr>
          <p:cNvPr id="14" name="Text 12"/>
          <p:cNvSpPr txBox="1"/>
          <p:nvPr/>
        </p:nvSpPr>
        <p:spPr>
          <a:xfrm>
            <a:off x="914400" y="3209544"/>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5" name="Text 13"/>
          <p:cNvSpPr txBox="1"/>
          <p:nvPr/>
        </p:nvSpPr>
        <p:spPr>
          <a:xfrm>
            <a:off x="1508760" y="2938272"/>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Eğime dik denge: N = m·g·cosθ = 10 · 10 · 0,8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80 N</a:t>
            </a:r>
            <a:endParaRPr lang="en-US" sz="2000" dirty="0"/>
          </a:p>
        </p:txBody>
      </p:sp>
      <p:sp>
        <p:nvSpPr>
          <p:cNvPr id="16" name="Shape 14"/>
          <p:cNvSpPr/>
          <p:nvPr/>
        </p:nvSpPr>
        <p:spPr>
          <a:xfrm>
            <a:off x="640080" y="6382512"/>
            <a:ext cx="128016" cy="128016"/>
          </a:xfrm>
          <a:prstGeom prst="roundRect">
            <a:avLst>
              <a:gd name="adj" fmla="val 28571"/>
            </a:avLst>
          </a:prstGeom>
          <a:solidFill>
            <a:srgbClr val="A9E648"/>
          </a:solidFill>
          <a:ln/>
        </p:spPr>
      </p:sp>
      <p:sp>
        <p:nvSpPr>
          <p:cNvPr id="17" name="Text 1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dersler.perinet.org/newton-yasalari.html</a:t>
            </a:r>
            <a:endParaRPr lang="en-US" sz="1050" dirty="0"/>
          </a:p>
        </p:txBody>
      </p:sp>
      <p:sp>
        <p:nvSpPr>
          <p:cNvPr id="18" name="Text 1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123</a:t>
            </a:r>
            <a:endParaRPr lang="en-US" sz="1050"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5 · Çözüm 2 / 2</a:t>
            </a:r>
            <a:endParaRPr lang="en-US" sz="3200" dirty="0"/>
          </a:p>
        </p:txBody>
      </p:sp>
      <p:sp>
        <p:nvSpPr>
          <p:cNvPr id="5" name="Shape 3"/>
          <p:cNvSpPr/>
          <p:nvPr/>
        </p:nvSpPr>
        <p:spPr>
          <a:xfrm>
            <a:off x="10408615" y="512064"/>
            <a:ext cx="1143000" cy="384048"/>
          </a:xfrm>
          <a:prstGeom prst="roundRect">
            <a:avLst>
              <a:gd name="adj" fmla="val 50000"/>
            </a:avLst>
          </a:prstGeom>
          <a:solidFill>
            <a:srgbClr val="E6EDFB"/>
          </a:solidFill>
          <a:ln w="9525">
            <a:solidFill>
              <a:srgbClr val="2957D4"/>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Eğik düzlemde kayan cisim</a:t>
            </a:r>
            <a:endParaRPr lang="en-US" sz="1450" dirty="0"/>
          </a:p>
        </p:txBody>
      </p:sp>
      <p:sp>
        <p:nvSpPr>
          <p:cNvPr id="8" name="Shape 6"/>
          <p:cNvSpPr/>
          <p:nvPr/>
        </p:nvSpPr>
        <p:spPr>
          <a:xfrm>
            <a:off x="640080" y="1645920"/>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Shape 7"/>
          <p:cNvSpPr/>
          <p:nvPr/>
        </p:nvSpPr>
        <p:spPr>
          <a:xfrm>
            <a:off x="914400" y="1972056"/>
            <a:ext cx="420624" cy="420624"/>
          </a:xfrm>
          <a:prstGeom prst="roundRect">
            <a:avLst>
              <a:gd name="adj" fmla="val 26000"/>
            </a:avLst>
          </a:prstGeom>
          <a:solidFill>
            <a:srgbClr val="A56209"/>
          </a:solidFill>
          <a:ln/>
        </p:spPr>
      </p:sp>
      <p:sp>
        <p:nvSpPr>
          <p:cNvPr id="10" name="Text 8"/>
          <p:cNvSpPr txBox="1"/>
          <p:nvPr/>
        </p:nvSpPr>
        <p:spPr>
          <a:xfrm>
            <a:off x="914400" y="1972056"/>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1" name="Text 9"/>
          <p:cNvSpPr txBox="1"/>
          <p:nvPr/>
        </p:nvSpPr>
        <p:spPr>
          <a:xfrm>
            <a:off x="1508760" y="1700784"/>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Sürtünme: f = μ·N = 0,2 · 80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16 N</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(harekete zıt, yukarı doğru)</a:t>
            </a:r>
            <a:endParaRPr lang="en-US" sz="2000" dirty="0"/>
          </a:p>
        </p:txBody>
      </p:sp>
      <p:sp>
        <p:nvSpPr>
          <p:cNvPr id="12" name="Shape 10"/>
          <p:cNvSpPr/>
          <p:nvPr/>
        </p:nvSpPr>
        <p:spPr>
          <a:xfrm>
            <a:off x="640080" y="2883408"/>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3" name="Shape 11"/>
          <p:cNvSpPr/>
          <p:nvPr/>
        </p:nvSpPr>
        <p:spPr>
          <a:xfrm>
            <a:off x="914400" y="3209544"/>
            <a:ext cx="420624" cy="420624"/>
          </a:xfrm>
          <a:prstGeom prst="roundRect">
            <a:avLst>
              <a:gd name="adj" fmla="val 26000"/>
            </a:avLst>
          </a:prstGeom>
          <a:solidFill>
            <a:srgbClr val="A56209"/>
          </a:solidFill>
          <a:ln/>
        </p:spPr>
      </p:sp>
      <p:sp>
        <p:nvSpPr>
          <p:cNvPr id="14" name="Text 12"/>
          <p:cNvSpPr txBox="1"/>
          <p:nvPr/>
        </p:nvSpPr>
        <p:spPr>
          <a:xfrm>
            <a:off x="914400" y="3209544"/>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15" name="Text 13"/>
          <p:cNvSpPr txBox="1"/>
          <p:nvPr/>
        </p:nvSpPr>
        <p:spPr>
          <a:xfrm>
            <a:off x="1508760" y="2938272"/>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a = (60 − 16) / 10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4,4 m/s²</a:t>
            </a:r>
            <a:endParaRPr lang="en-US" sz="2000" dirty="0"/>
          </a:p>
        </p:txBody>
      </p:sp>
      <p:sp>
        <p:nvSpPr>
          <p:cNvPr id="16" name="Shape 14"/>
          <p:cNvSpPr/>
          <p:nvPr/>
        </p:nvSpPr>
        <p:spPr>
          <a:xfrm>
            <a:off x="640080" y="6382512"/>
            <a:ext cx="128016" cy="128016"/>
          </a:xfrm>
          <a:prstGeom prst="roundRect">
            <a:avLst>
              <a:gd name="adj" fmla="val 28571"/>
            </a:avLst>
          </a:prstGeom>
          <a:solidFill>
            <a:srgbClr val="A9E648"/>
          </a:solidFill>
          <a:ln/>
        </p:spPr>
      </p:sp>
      <p:sp>
        <p:nvSpPr>
          <p:cNvPr id="17" name="Text 1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dersler.perinet.org/newton-yasalari.html</a:t>
            </a:r>
            <a:endParaRPr lang="en-US" sz="1050" dirty="0"/>
          </a:p>
        </p:txBody>
      </p:sp>
      <p:sp>
        <p:nvSpPr>
          <p:cNvPr id="18" name="Text 1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124</a:t>
            </a:r>
            <a:endParaRPr lang="en-US" sz="1050"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6 / 7 · Soru</a:t>
            </a:r>
            <a:endParaRPr lang="en-US" sz="3200" dirty="0"/>
          </a:p>
        </p:txBody>
      </p:sp>
      <p:sp>
        <p:nvSpPr>
          <p:cNvPr id="5" name="Shape 3"/>
          <p:cNvSpPr/>
          <p:nvPr/>
        </p:nvSpPr>
        <p:spPr>
          <a:xfrm>
            <a:off x="10408615" y="512064"/>
            <a:ext cx="1143000" cy="384048"/>
          </a:xfrm>
          <a:prstGeom prst="roundRect">
            <a:avLst>
              <a:gd name="adj" fmla="val 50000"/>
            </a:avLst>
          </a:prstGeom>
          <a:solidFill>
            <a:srgbClr val="FBE9EE"/>
          </a:solidFill>
          <a:ln w="9525">
            <a:solidFill>
              <a:srgbClr val="C53455"/>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C53455"/>
                </a:solidFill>
                <a:latin typeface="Calibri" pitchFamily="34" charset="0"/>
                <a:ea typeface="Calibri" pitchFamily="34" charset="-122"/>
                <a:cs typeface="Calibri" pitchFamily="34" charset="-120"/>
              </a:rPr>
              <a:t>ZOR</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Eğik kuvvetle çekilen kutu</a:t>
            </a:r>
            <a:endParaRPr lang="en-US" sz="1450" dirty="0"/>
          </a:p>
        </p:txBody>
      </p:sp>
      <p:sp>
        <p:nvSpPr>
          <p:cNvPr id="8" name="Shape 6"/>
          <p:cNvSpPr/>
          <p:nvPr/>
        </p:nvSpPr>
        <p:spPr>
          <a:xfrm>
            <a:off x="640080" y="1645920"/>
            <a:ext cx="10911535" cy="1764792"/>
          </a:xfrm>
          <a:prstGeom prst="roundRect">
            <a:avLst>
              <a:gd name="adj" fmla="val 8290"/>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60120" y="1810512"/>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60120" y="2121408"/>
            <a:ext cx="10271455" cy="1216152"/>
          </a:xfrm>
          <a:prstGeom prst="rect">
            <a:avLst/>
          </a:prstGeom>
          <a:noFill/>
          <a:ln/>
        </p:spPr>
        <p:txBody>
          <a:bodyPr wrap="square" lIns="0" tIns="0" rIns="0" bIns="0" rtlCol="0" anchor="t"/>
          <a:lstStyle/>
          <a:p>
            <a:pPr indent="0" marL="0">
              <a:lnSpc>
                <a:spcPct val="118000"/>
              </a:lnSpc>
              <a:buNone/>
            </a:pPr>
            <a:r>
              <a:rPr lang="en-US" sz="2000" dirty="0">
                <a:solidFill>
                  <a:srgbClr val="0E1426"/>
                </a:solidFill>
                <a:latin typeface="Calibri" pitchFamily="34" charset="0"/>
                <a:ea typeface="Calibri" pitchFamily="34" charset="-122"/>
                <a:cs typeface="Calibri" pitchFamily="34" charset="-120"/>
              </a:rPr>
              <a:t>Kinetik sürtünme katsayısı 0,2 olan yatay zeminde 10 kg'lık bir kutu, yatayla 37° açı yapan bir iple 50 N'luk kuvvetle çekilerek kaydırılıyor. Kutunun ivmesini bulunuz. (sin37° = 0,6 · cos37° = 0,8)</a:t>
            </a:r>
            <a:endParaRPr lang="en-US" sz="2000" dirty="0"/>
          </a:p>
        </p:txBody>
      </p:sp>
      <p:sp>
        <p:nvSpPr>
          <p:cNvPr id="11" name="Shape 9"/>
          <p:cNvSpPr/>
          <p:nvPr/>
        </p:nvSpPr>
        <p:spPr>
          <a:xfrm>
            <a:off x="640080" y="3611880"/>
            <a:ext cx="5318608" cy="2532888"/>
          </a:xfrm>
          <a:prstGeom prst="roundRect">
            <a:avLst>
              <a:gd name="adj" fmla="val 5776"/>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658368" y="3776472"/>
            <a:ext cx="54864" cy="2203704"/>
          </a:xfrm>
          <a:prstGeom prst="rect">
            <a:avLst/>
          </a:prstGeom>
          <a:solidFill>
            <a:srgbClr val="2957D4"/>
          </a:solidFill>
          <a:ln/>
        </p:spPr>
      </p:sp>
      <p:sp>
        <p:nvSpPr>
          <p:cNvPr id="13" name="Text 11"/>
          <p:cNvSpPr txBox="1"/>
          <p:nvPr/>
        </p:nvSpPr>
        <p:spPr>
          <a:xfrm>
            <a:off x="914400" y="3758184"/>
            <a:ext cx="4861408" cy="256032"/>
          </a:xfrm>
          <a:prstGeom prst="rect">
            <a:avLst/>
          </a:prstGeom>
          <a:noFill/>
          <a:ln/>
        </p:spPr>
        <p:txBody>
          <a:bodyPr wrap="square" lIns="0" tIns="0" rIns="0" bIns="0" rtlCol="0" anchor="ctr"/>
          <a:lstStyle/>
          <a:p>
            <a:pPr indent="0" marL="0">
              <a:buNone/>
            </a:pPr>
            <a:r>
              <a:rPr lang="en-US" sz="1050" b="1" spc="200" kern="0" dirty="0">
                <a:solidFill>
                  <a:srgbClr val="2957D4"/>
                </a:solidFill>
                <a:latin typeface="Calibri" pitchFamily="34" charset="0"/>
                <a:ea typeface="Calibri" pitchFamily="34" charset="-122"/>
                <a:cs typeface="Calibri" pitchFamily="34" charset="-120"/>
              </a:rPr>
              <a:t>VERİLENLER</a:t>
            </a:r>
            <a:endParaRPr lang="en-US" sz="1050" dirty="0"/>
          </a:p>
        </p:txBody>
      </p:sp>
      <p:sp>
        <p:nvSpPr>
          <p:cNvPr id="14" name="Text 12"/>
          <p:cNvSpPr txBox="1"/>
          <p:nvPr/>
        </p:nvSpPr>
        <p:spPr>
          <a:xfrm>
            <a:off x="950976" y="4087368"/>
            <a:ext cx="4769968" cy="1929384"/>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250" dirty="0">
                <a:solidFill>
                  <a:srgbClr val="0E1426"/>
                </a:solidFill>
                <a:latin typeface="Calibri" pitchFamily="34" charset="0"/>
                <a:ea typeface="Calibri" pitchFamily="34" charset="-122"/>
                <a:cs typeface="Calibri" pitchFamily="34" charset="-120"/>
              </a:rPr>
              <a:t>m = 10 kg</a:t>
            </a:r>
            <a:endParaRPr lang="en-US" sz="1250" dirty="0"/>
          </a:p>
          <a:p>
            <a:pPr marL="203200" indent="-203200">
              <a:lnSpc>
                <a:spcPct val="110000"/>
              </a:lnSpc>
              <a:spcAft>
                <a:spcPts val="500"/>
              </a:spcAft>
              <a:buSzPct val="100000"/>
              <a:buChar char="▪"/>
            </a:pPr>
            <a:r>
              <a:rPr lang="en-US" sz="1250" dirty="0">
                <a:solidFill>
                  <a:srgbClr val="0E1426"/>
                </a:solidFill>
                <a:latin typeface="Calibri" pitchFamily="34" charset="0"/>
                <a:ea typeface="Calibri" pitchFamily="34" charset="-122"/>
                <a:cs typeface="Calibri" pitchFamily="34" charset="-120"/>
              </a:rPr>
              <a:t>F = 50 N</a:t>
            </a:r>
            <a:endParaRPr lang="en-US" sz="1250" dirty="0"/>
          </a:p>
          <a:p>
            <a:pPr marL="203200" indent="-203200">
              <a:lnSpc>
                <a:spcPct val="110000"/>
              </a:lnSpc>
              <a:spcAft>
                <a:spcPts val="500"/>
              </a:spcAft>
              <a:buSzPct val="100000"/>
              <a:buChar char="▪"/>
            </a:pPr>
            <a:r>
              <a:rPr lang="en-US" sz="1250" dirty="0">
                <a:solidFill>
                  <a:srgbClr val="0E1426"/>
                </a:solidFill>
                <a:latin typeface="Calibri" pitchFamily="34" charset="0"/>
                <a:ea typeface="Calibri" pitchFamily="34" charset="-122"/>
                <a:cs typeface="Calibri" pitchFamily="34" charset="-120"/>
              </a:rPr>
              <a:t>ipin yatayla açısı α = 37°</a:t>
            </a:r>
            <a:endParaRPr lang="en-US" sz="1250" dirty="0"/>
          </a:p>
          <a:p>
            <a:pPr marL="203200" indent="-203200">
              <a:lnSpc>
                <a:spcPct val="110000"/>
              </a:lnSpc>
              <a:spcAft>
                <a:spcPts val="500"/>
              </a:spcAft>
              <a:buSzPct val="100000"/>
              <a:buChar char="▪"/>
            </a:pPr>
            <a:r>
              <a:rPr lang="en-US" sz="1250" dirty="0">
                <a:solidFill>
                  <a:srgbClr val="0E1426"/>
                </a:solidFill>
                <a:latin typeface="Calibri" pitchFamily="34" charset="0"/>
                <a:ea typeface="Calibri" pitchFamily="34" charset="-122"/>
                <a:cs typeface="Calibri" pitchFamily="34" charset="-120"/>
              </a:rPr>
              <a:t>μk = 0,2</a:t>
            </a:r>
            <a:endParaRPr lang="en-US" sz="1250" dirty="0"/>
          </a:p>
          <a:p>
            <a:pPr marL="203200" indent="-203200">
              <a:lnSpc>
                <a:spcPct val="110000"/>
              </a:lnSpc>
              <a:spcAft>
                <a:spcPts val="500"/>
              </a:spcAft>
              <a:buSzPct val="100000"/>
              <a:buChar char="▪"/>
            </a:pPr>
            <a:r>
              <a:rPr lang="en-US" sz="1250" dirty="0">
                <a:solidFill>
                  <a:srgbClr val="0E1426"/>
                </a:solidFill>
                <a:latin typeface="Calibri" pitchFamily="34" charset="0"/>
                <a:ea typeface="Calibri" pitchFamily="34" charset="-122"/>
                <a:cs typeface="Calibri" pitchFamily="34" charset="-120"/>
              </a:rPr>
              <a:t>sin37° = 0,6</a:t>
            </a:r>
            <a:endParaRPr lang="en-US" sz="1250" dirty="0"/>
          </a:p>
          <a:p>
            <a:pPr marL="203200" indent="-203200">
              <a:lnSpc>
                <a:spcPct val="110000"/>
              </a:lnSpc>
              <a:spcAft>
                <a:spcPts val="500"/>
              </a:spcAft>
              <a:buSzPct val="100000"/>
              <a:buChar char="▪"/>
            </a:pPr>
            <a:r>
              <a:rPr lang="en-US" sz="1250" dirty="0">
                <a:solidFill>
                  <a:srgbClr val="0E1426"/>
                </a:solidFill>
                <a:latin typeface="Calibri" pitchFamily="34" charset="0"/>
                <a:ea typeface="Calibri" pitchFamily="34" charset="-122"/>
                <a:cs typeface="Calibri" pitchFamily="34" charset="-120"/>
              </a:rPr>
              <a:t>cos37° = 0,8</a:t>
            </a:r>
            <a:endParaRPr lang="en-US" sz="1250" dirty="0"/>
          </a:p>
          <a:p>
            <a:pPr marL="203200" indent="-203200">
              <a:lnSpc>
                <a:spcPct val="110000"/>
              </a:lnSpc>
              <a:spcAft>
                <a:spcPts val="500"/>
              </a:spcAft>
              <a:buSzPct val="100000"/>
              <a:buChar char="▪"/>
            </a:pPr>
            <a:r>
              <a:rPr lang="en-US" sz="1250" dirty="0">
                <a:solidFill>
                  <a:srgbClr val="0E1426"/>
                </a:solidFill>
                <a:latin typeface="Calibri" pitchFamily="34" charset="0"/>
                <a:ea typeface="Calibri" pitchFamily="34" charset="-122"/>
                <a:cs typeface="Calibri" pitchFamily="34" charset="-120"/>
              </a:rPr>
              <a:t>g = 10 m/s²</a:t>
            </a:r>
            <a:endParaRPr lang="en-US" sz="1250" dirty="0"/>
          </a:p>
        </p:txBody>
      </p:sp>
      <p:sp>
        <p:nvSpPr>
          <p:cNvPr id="15" name="Shape 13"/>
          <p:cNvSpPr/>
          <p:nvPr/>
        </p:nvSpPr>
        <p:spPr>
          <a:xfrm>
            <a:off x="6233008" y="3611880"/>
            <a:ext cx="5318608" cy="2532888"/>
          </a:xfrm>
          <a:prstGeom prst="roundRect">
            <a:avLst>
              <a:gd name="adj" fmla="val 5776"/>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6" name="Shape 14"/>
          <p:cNvSpPr/>
          <p:nvPr/>
        </p:nvSpPr>
        <p:spPr>
          <a:xfrm>
            <a:off x="6251296" y="3776472"/>
            <a:ext cx="54864" cy="2203704"/>
          </a:xfrm>
          <a:prstGeom prst="rect">
            <a:avLst/>
          </a:prstGeom>
          <a:solidFill>
            <a:srgbClr val="5F4BD8"/>
          </a:solidFill>
          <a:ln/>
        </p:spPr>
      </p:sp>
      <p:sp>
        <p:nvSpPr>
          <p:cNvPr id="17" name="Text 15"/>
          <p:cNvSpPr txBox="1"/>
          <p:nvPr/>
        </p:nvSpPr>
        <p:spPr>
          <a:xfrm>
            <a:off x="6507328" y="3758184"/>
            <a:ext cx="4861408" cy="256032"/>
          </a:xfrm>
          <a:prstGeom prst="rect">
            <a:avLst/>
          </a:prstGeom>
          <a:noFill/>
          <a:ln/>
        </p:spPr>
        <p:txBody>
          <a:bodyPr wrap="square" lIns="0" tIns="0" rIns="0" bIns="0" rtlCol="0" anchor="ctr"/>
          <a:lstStyle/>
          <a:p>
            <a:pPr indent="0" marL="0">
              <a:buNone/>
            </a:pPr>
            <a:r>
              <a:rPr lang="en-US" sz="1050" b="1" spc="200" kern="0" dirty="0">
                <a:solidFill>
                  <a:srgbClr val="5F4BD8"/>
                </a:solidFill>
                <a:latin typeface="Calibri" pitchFamily="34" charset="0"/>
                <a:ea typeface="Calibri" pitchFamily="34" charset="-122"/>
                <a:cs typeface="Calibri" pitchFamily="34" charset="-120"/>
              </a:rPr>
              <a:t>İSTENEN</a:t>
            </a:r>
            <a:endParaRPr lang="en-US" sz="1050" dirty="0"/>
          </a:p>
        </p:txBody>
      </p:sp>
      <p:sp>
        <p:nvSpPr>
          <p:cNvPr id="18" name="Text 16"/>
          <p:cNvSpPr txBox="1"/>
          <p:nvPr/>
        </p:nvSpPr>
        <p:spPr>
          <a:xfrm>
            <a:off x="6543904" y="4087368"/>
            <a:ext cx="4769968" cy="1929384"/>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kutunun ivmesi a</a:t>
            </a:r>
            <a:endParaRPr lang="en-US" sz="1800" dirty="0"/>
          </a:p>
        </p:txBody>
      </p:sp>
      <p:sp>
        <p:nvSpPr>
          <p:cNvPr id="19" name="Shape 17"/>
          <p:cNvSpPr/>
          <p:nvPr/>
        </p:nvSpPr>
        <p:spPr>
          <a:xfrm>
            <a:off x="640080" y="6382512"/>
            <a:ext cx="128016" cy="128016"/>
          </a:xfrm>
          <a:prstGeom prst="roundRect">
            <a:avLst>
              <a:gd name="adj" fmla="val 28571"/>
            </a:avLst>
          </a:prstGeom>
          <a:solidFill>
            <a:srgbClr val="A9E648"/>
          </a:solidFill>
          <a:ln/>
        </p:spPr>
      </p:sp>
      <p:sp>
        <p:nvSpPr>
          <p:cNvPr id="20" name="Text 1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dersler.perinet.org/newton-yasalari.html</a:t>
            </a:r>
            <a:endParaRPr lang="en-US" sz="1050" dirty="0"/>
          </a:p>
        </p:txBody>
      </p:sp>
      <p:sp>
        <p:nvSpPr>
          <p:cNvPr id="21" name="Text 1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125</a:t>
            </a:r>
            <a:endParaRPr lang="en-US" sz="1050"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6 · Çözüm 1 / 2</a:t>
            </a:r>
            <a:endParaRPr lang="en-US" sz="3200" dirty="0"/>
          </a:p>
        </p:txBody>
      </p:sp>
      <p:sp>
        <p:nvSpPr>
          <p:cNvPr id="5" name="Shape 3"/>
          <p:cNvSpPr/>
          <p:nvPr/>
        </p:nvSpPr>
        <p:spPr>
          <a:xfrm>
            <a:off x="10408615" y="512064"/>
            <a:ext cx="1143000" cy="384048"/>
          </a:xfrm>
          <a:prstGeom prst="roundRect">
            <a:avLst>
              <a:gd name="adj" fmla="val 50000"/>
            </a:avLst>
          </a:prstGeom>
          <a:solidFill>
            <a:srgbClr val="FBE9EE"/>
          </a:solidFill>
          <a:ln w="9525">
            <a:solidFill>
              <a:srgbClr val="C53455"/>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C53455"/>
                </a:solidFill>
                <a:latin typeface="Calibri" pitchFamily="34" charset="0"/>
                <a:ea typeface="Calibri" pitchFamily="34" charset="-122"/>
                <a:cs typeface="Calibri" pitchFamily="34" charset="-120"/>
              </a:rPr>
              <a:t>ZOR</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Eğik kuvvetle çekilen kutu</a:t>
            </a:r>
            <a:endParaRPr lang="en-US" sz="1450" dirty="0"/>
          </a:p>
        </p:txBody>
      </p:sp>
      <p:sp>
        <p:nvSpPr>
          <p:cNvPr id="8" name="Shape 6"/>
          <p:cNvSpPr/>
          <p:nvPr/>
        </p:nvSpPr>
        <p:spPr>
          <a:xfrm>
            <a:off x="640080" y="1645920"/>
            <a:ext cx="10911535" cy="1619098"/>
          </a:xfrm>
          <a:prstGeom prst="roundRect">
            <a:avLst>
              <a:gd name="adj" fmla="val 90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Shape 7"/>
          <p:cNvSpPr/>
          <p:nvPr/>
        </p:nvSpPr>
        <p:spPr>
          <a:xfrm>
            <a:off x="914400" y="2245157"/>
            <a:ext cx="420624" cy="420624"/>
          </a:xfrm>
          <a:prstGeom prst="roundRect">
            <a:avLst>
              <a:gd name="adj" fmla="val 26000"/>
            </a:avLst>
          </a:prstGeom>
          <a:solidFill>
            <a:srgbClr val="A56209"/>
          </a:solidFill>
          <a:ln/>
        </p:spPr>
      </p:sp>
      <p:sp>
        <p:nvSpPr>
          <p:cNvPr id="10" name="Text 8"/>
          <p:cNvSpPr txBox="1"/>
          <p:nvPr/>
        </p:nvSpPr>
        <p:spPr>
          <a:xfrm>
            <a:off x="914400" y="2245157"/>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1" name="Text 9"/>
          <p:cNvSpPr txBox="1"/>
          <p:nvPr/>
        </p:nvSpPr>
        <p:spPr>
          <a:xfrm>
            <a:off x="1508760" y="1700784"/>
            <a:ext cx="9859975" cy="1509370"/>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Kuvvetin bileşenleri: Fₓ = 50 · 0,8 = 40 N (ileri), Fᵧ = 50 · 0,6 = 30 N (yukarı)</a:t>
            </a:r>
            <a:endParaRPr lang="en-US" sz="2000" dirty="0"/>
          </a:p>
        </p:txBody>
      </p:sp>
      <p:sp>
        <p:nvSpPr>
          <p:cNvPr id="12" name="Shape 10"/>
          <p:cNvSpPr/>
          <p:nvPr/>
        </p:nvSpPr>
        <p:spPr>
          <a:xfrm>
            <a:off x="640080" y="3429610"/>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3" name="Shape 11"/>
          <p:cNvSpPr/>
          <p:nvPr/>
        </p:nvSpPr>
        <p:spPr>
          <a:xfrm>
            <a:off x="914400" y="3755746"/>
            <a:ext cx="420624" cy="420624"/>
          </a:xfrm>
          <a:prstGeom prst="roundRect">
            <a:avLst>
              <a:gd name="adj" fmla="val 26000"/>
            </a:avLst>
          </a:prstGeom>
          <a:solidFill>
            <a:srgbClr val="A56209"/>
          </a:solidFill>
          <a:ln/>
        </p:spPr>
      </p:sp>
      <p:sp>
        <p:nvSpPr>
          <p:cNvPr id="14" name="Text 12"/>
          <p:cNvSpPr txBox="1"/>
          <p:nvPr/>
        </p:nvSpPr>
        <p:spPr>
          <a:xfrm>
            <a:off x="914400" y="3755746"/>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5" name="Text 13"/>
          <p:cNvSpPr txBox="1"/>
          <p:nvPr/>
        </p:nvSpPr>
        <p:spPr>
          <a:xfrm>
            <a:off x="1508760" y="3484474"/>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Düşeyde denge: N + 30 − 100 = 0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N = 70 N</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(m·g değil!)</a:t>
            </a:r>
            <a:endParaRPr lang="en-US" sz="2000" dirty="0"/>
          </a:p>
        </p:txBody>
      </p:sp>
      <p:sp>
        <p:nvSpPr>
          <p:cNvPr id="16" name="Shape 14"/>
          <p:cNvSpPr/>
          <p:nvPr/>
        </p:nvSpPr>
        <p:spPr>
          <a:xfrm>
            <a:off x="640080" y="4667098"/>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7" name="Shape 15"/>
          <p:cNvSpPr/>
          <p:nvPr/>
        </p:nvSpPr>
        <p:spPr>
          <a:xfrm>
            <a:off x="914400" y="4993234"/>
            <a:ext cx="420624" cy="420624"/>
          </a:xfrm>
          <a:prstGeom prst="roundRect">
            <a:avLst>
              <a:gd name="adj" fmla="val 26000"/>
            </a:avLst>
          </a:prstGeom>
          <a:solidFill>
            <a:srgbClr val="A56209"/>
          </a:solidFill>
          <a:ln/>
        </p:spPr>
      </p:sp>
      <p:sp>
        <p:nvSpPr>
          <p:cNvPr id="18" name="Text 16"/>
          <p:cNvSpPr txBox="1"/>
          <p:nvPr/>
        </p:nvSpPr>
        <p:spPr>
          <a:xfrm>
            <a:off x="914400" y="4993234"/>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9" name="Text 17"/>
          <p:cNvSpPr txBox="1"/>
          <p:nvPr/>
        </p:nvSpPr>
        <p:spPr>
          <a:xfrm>
            <a:off x="1508760" y="4721962"/>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Sürtünme: f = 0,2 · 70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14 N</a:t>
            </a:r>
            <a:endParaRPr lang="en-US" sz="2000" dirty="0"/>
          </a:p>
        </p:txBody>
      </p:sp>
      <p:sp>
        <p:nvSpPr>
          <p:cNvPr id="20" name="Shape 18"/>
          <p:cNvSpPr/>
          <p:nvPr/>
        </p:nvSpPr>
        <p:spPr>
          <a:xfrm>
            <a:off x="640080" y="6382512"/>
            <a:ext cx="128016" cy="128016"/>
          </a:xfrm>
          <a:prstGeom prst="roundRect">
            <a:avLst>
              <a:gd name="adj" fmla="val 28571"/>
            </a:avLst>
          </a:prstGeom>
          <a:solidFill>
            <a:srgbClr val="A9E648"/>
          </a:solidFill>
          <a:ln/>
        </p:spPr>
      </p:sp>
      <p:sp>
        <p:nvSpPr>
          <p:cNvPr id="21" name="Text 1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dersler.perinet.org/newton-yasalari.html</a:t>
            </a:r>
            <a:endParaRPr lang="en-US" sz="1050" dirty="0"/>
          </a:p>
        </p:txBody>
      </p:sp>
      <p:sp>
        <p:nvSpPr>
          <p:cNvPr id="22" name="Text 2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126</a:t>
            </a:r>
            <a:endParaRPr lang="en-US" sz="1050"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6 · Çözüm 2 / 2</a:t>
            </a:r>
            <a:endParaRPr lang="en-US" sz="3200" dirty="0"/>
          </a:p>
        </p:txBody>
      </p:sp>
      <p:sp>
        <p:nvSpPr>
          <p:cNvPr id="5" name="Shape 3"/>
          <p:cNvSpPr/>
          <p:nvPr/>
        </p:nvSpPr>
        <p:spPr>
          <a:xfrm>
            <a:off x="10408615" y="512064"/>
            <a:ext cx="1143000" cy="384048"/>
          </a:xfrm>
          <a:prstGeom prst="roundRect">
            <a:avLst>
              <a:gd name="adj" fmla="val 50000"/>
            </a:avLst>
          </a:prstGeom>
          <a:solidFill>
            <a:srgbClr val="FBE9EE"/>
          </a:solidFill>
          <a:ln w="9525">
            <a:solidFill>
              <a:srgbClr val="C53455"/>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C53455"/>
                </a:solidFill>
                <a:latin typeface="Calibri" pitchFamily="34" charset="0"/>
                <a:ea typeface="Calibri" pitchFamily="34" charset="-122"/>
                <a:cs typeface="Calibri" pitchFamily="34" charset="-120"/>
              </a:rPr>
              <a:t>ZOR</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Eğik kuvvetle çekilen kutu</a:t>
            </a:r>
            <a:endParaRPr lang="en-US" sz="1450" dirty="0"/>
          </a:p>
        </p:txBody>
      </p:sp>
      <p:sp>
        <p:nvSpPr>
          <p:cNvPr id="8" name="Shape 6"/>
          <p:cNvSpPr/>
          <p:nvPr/>
        </p:nvSpPr>
        <p:spPr>
          <a:xfrm>
            <a:off x="640080" y="1645920"/>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Shape 7"/>
          <p:cNvSpPr/>
          <p:nvPr/>
        </p:nvSpPr>
        <p:spPr>
          <a:xfrm>
            <a:off x="914400" y="1972056"/>
            <a:ext cx="420624" cy="420624"/>
          </a:xfrm>
          <a:prstGeom prst="roundRect">
            <a:avLst>
              <a:gd name="adj" fmla="val 26000"/>
            </a:avLst>
          </a:prstGeom>
          <a:solidFill>
            <a:srgbClr val="A56209"/>
          </a:solidFill>
          <a:ln/>
        </p:spPr>
      </p:sp>
      <p:sp>
        <p:nvSpPr>
          <p:cNvPr id="10" name="Text 8"/>
          <p:cNvSpPr txBox="1"/>
          <p:nvPr/>
        </p:nvSpPr>
        <p:spPr>
          <a:xfrm>
            <a:off x="914400" y="1972056"/>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11" name="Text 9"/>
          <p:cNvSpPr txBox="1"/>
          <p:nvPr/>
        </p:nvSpPr>
        <p:spPr>
          <a:xfrm>
            <a:off x="1508760" y="1700784"/>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Yatayda: a = (40 − 14) / 10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2,6 m/s²</a:t>
            </a:r>
            <a:endParaRPr lang="en-US" sz="2000" dirty="0"/>
          </a:p>
        </p:txBody>
      </p:sp>
      <p:sp>
        <p:nvSpPr>
          <p:cNvPr id="12" name="Shape 10"/>
          <p:cNvSpPr/>
          <p:nvPr/>
        </p:nvSpPr>
        <p:spPr>
          <a:xfrm>
            <a:off x="640080" y="2883408"/>
            <a:ext cx="10911535" cy="1619098"/>
          </a:xfrm>
          <a:prstGeom prst="roundRect">
            <a:avLst>
              <a:gd name="adj" fmla="val 90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3" name="Shape 11"/>
          <p:cNvSpPr/>
          <p:nvPr/>
        </p:nvSpPr>
        <p:spPr>
          <a:xfrm>
            <a:off x="914400" y="3482645"/>
            <a:ext cx="420624" cy="420624"/>
          </a:xfrm>
          <a:prstGeom prst="roundRect">
            <a:avLst>
              <a:gd name="adj" fmla="val 26000"/>
            </a:avLst>
          </a:prstGeom>
          <a:solidFill>
            <a:srgbClr val="A56209"/>
          </a:solidFill>
          <a:ln/>
        </p:spPr>
      </p:sp>
      <p:sp>
        <p:nvSpPr>
          <p:cNvPr id="14" name="Text 12"/>
          <p:cNvSpPr txBox="1"/>
          <p:nvPr/>
        </p:nvSpPr>
        <p:spPr>
          <a:xfrm>
            <a:off x="914400" y="3482645"/>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15" name="Text 13"/>
          <p:cNvSpPr txBox="1"/>
          <p:nvPr/>
        </p:nvSpPr>
        <p:spPr>
          <a:xfrm>
            <a:off x="1508760" y="2938272"/>
            <a:ext cx="9859975" cy="1509370"/>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N'yi yanlışlıkla 100 N alsaydın f = 20 N ve a = 2 m/s² bulurdun: tipik tuzak.</a:t>
            </a:r>
            <a:endParaRPr lang="en-US" sz="2000" dirty="0"/>
          </a:p>
        </p:txBody>
      </p:sp>
      <p:sp>
        <p:nvSpPr>
          <p:cNvPr id="16" name="Shape 14"/>
          <p:cNvSpPr/>
          <p:nvPr/>
        </p:nvSpPr>
        <p:spPr>
          <a:xfrm>
            <a:off x="640080" y="6382512"/>
            <a:ext cx="128016" cy="128016"/>
          </a:xfrm>
          <a:prstGeom prst="roundRect">
            <a:avLst>
              <a:gd name="adj" fmla="val 28571"/>
            </a:avLst>
          </a:prstGeom>
          <a:solidFill>
            <a:srgbClr val="A9E648"/>
          </a:solidFill>
          <a:ln/>
        </p:spPr>
      </p:sp>
      <p:sp>
        <p:nvSpPr>
          <p:cNvPr id="17" name="Text 1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dersler.perinet.org/newton-yasalari.html</a:t>
            </a:r>
            <a:endParaRPr lang="en-US" sz="1050" dirty="0"/>
          </a:p>
        </p:txBody>
      </p:sp>
      <p:sp>
        <p:nvSpPr>
          <p:cNvPr id="18" name="Text 1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127</a:t>
            </a:r>
            <a:endParaRPr lang="en-US" sz="1050"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7 / 7 · Soru</a:t>
            </a:r>
            <a:endParaRPr lang="en-US" sz="3200" dirty="0"/>
          </a:p>
        </p:txBody>
      </p:sp>
      <p:sp>
        <p:nvSpPr>
          <p:cNvPr id="5" name="Shape 3"/>
          <p:cNvSpPr/>
          <p:nvPr/>
        </p:nvSpPr>
        <p:spPr>
          <a:xfrm>
            <a:off x="10408615" y="512064"/>
            <a:ext cx="1143000" cy="384048"/>
          </a:xfrm>
          <a:prstGeom prst="roundRect">
            <a:avLst>
              <a:gd name="adj" fmla="val 50000"/>
            </a:avLst>
          </a:prstGeom>
          <a:solidFill>
            <a:srgbClr val="FBE9EE"/>
          </a:solidFill>
          <a:ln w="9525">
            <a:solidFill>
              <a:srgbClr val="C53455"/>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C53455"/>
                </a:solidFill>
                <a:latin typeface="Calibri" pitchFamily="34" charset="0"/>
                <a:ea typeface="Calibri" pitchFamily="34" charset="-122"/>
                <a:cs typeface="Calibri" pitchFamily="34" charset="-120"/>
              </a:rPr>
              <a:t>ZOR</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Masadan sarkan yük</a:t>
            </a:r>
            <a:endParaRPr lang="en-US" sz="1450" dirty="0"/>
          </a:p>
        </p:txBody>
      </p:sp>
      <p:sp>
        <p:nvSpPr>
          <p:cNvPr id="8" name="Shape 6"/>
          <p:cNvSpPr/>
          <p:nvPr/>
        </p:nvSpPr>
        <p:spPr>
          <a:xfrm>
            <a:off x="640080" y="1645920"/>
            <a:ext cx="10911535" cy="2124456"/>
          </a:xfrm>
          <a:prstGeom prst="roundRect">
            <a:avLst>
              <a:gd name="adj" fmla="val 6887"/>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60120" y="1810512"/>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60120" y="2121408"/>
            <a:ext cx="10271455" cy="1575816"/>
          </a:xfrm>
          <a:prstGeom prst="rect">
            <a:avLst/>
          </a:prstGeom>
          <a:noFill/>
          <a:ln/>
        </p:spPr>
        <p:txBody>
          <a:bodyPr wrap="square" lIns="0" tIns="0" rIns="0" bIns="0" rtlCol="0" anchor="t"/>
          <a:lstStyle/>
          <a:p>
            <a:pPr indent="0" marL="0">
              <a:lnSpc>
                <a:spcPct val="118000"/>
              </a:lnSpc>
              <a:buNone/>
            </a:pPr>
            <a:r>
              <a:rPr lang="en-US" sz="2000" dirty="0">
                <a:solidFill>
                  <a:srgbClr val="0E1426"/>
                </a:solidFill>
                <a:latin typeface="Calibri" pitchFamily="34" charset="0"/>
                <a:ea typeface="Calibri" pitchFamily="34" charset="-122"/>
                <a:cs typeface="Calibri" pitchFamily="34" charset="-120"/>
              </a:rPr>
              <a:t>Kinetik sürtünme katsayısı 0,2 olan yatay bir masadaki 3 kg'lık kutu, masanın kenarındaki sürtünmesiz makaradan geçen iple 2 kg'lık sarkan bir yüke bağlıdır. Sistem serbest bırakılıyor. (a) Sistemin ivmesini, (b) ipteki gerilmeyi bulunuz.</a:t>
            </a:r>
            <a:endParaRPr lang="en-US" sz="2000" dirty="0"/>
          </a:p>
        </p:txBody>
      </p:sp>
      <p:sp>
        <p:nvSpPr>
          <p:cNvPr id="11" name="Shape 9"/>
          <p:cNvSpPr/>
          <p:nvPr/>
        </p:nvSpPr>
        <p:spPr>
          <a:xfrm>
            <a:off x="640080" y="3971544"/>
            <a:ext cx="5318608" cy="2173224"/>
          </a:xfrm>
          <a:prstGeom prst="roundRect">
            <a:avLst>
              <a:gd name="adj" fmla="val 6732"/>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658368" y="4136136"/>
            <a:ext cx="54864" cy="1844040"/>
          </a:xfrm>
          <a:prstGeom prst="rect">
            <a:avLst/>
          </a:prstGeom>
          <a:solidFill>
            <a:srgbClr val="2957D4"/>
          </a:solidFill>
          <a:ln/>
        </p:spPr>
      </p:sp>
      <p:sp>
        <p:nvSpPr>
          <p:cNvPr id="13" name="Text 11"/>
          <p:cNvSpPr txBox="1"/>
          <p:nvPr/>
        </p:nvSpPr>
        <p:spPr>
          <a:xfrm>
            <a:off x="914400" y="4117848"/>
            <a:ext cx="4861408" cy="256032"/>
          </a:xfrm>
          <a:prstGeom prst="rect">
            <a:avLst/>
          </a:prstGeom>
          <a:noFill/>
          <a:ln/>
        </p:spPr>
        <p:txBody>
          <a:bodyPr wrap="square" lIns="0" tIns="0" rIns="0" bIns="0" rtlCol="0" anchor="ctr"/>
          <a:lstStyle/>
          <a:p>
            <a:pPr indent="0" marL="0">
              <a:buNone/>
            </a:pPr>
            <a:r>
              <a:rPr lang="en-US" sz="1050" b="1" spc="200" kern="0" dirty="0">
                <a:solidFill>
                  <a:srgbClr val="2957D4"/>
                </a:solidFill>
                <a:latin typeface="Calibri" pitchFamily="34" charset="0"/>
                <a:ea typeface="Calibri" pitchFamily="34" charset="-122"/>
                <a:cs typeface="Calibri" pitchFamily="34" charset="-120"/>
              </a:rPr>
              <a:t>VERİLENLER</a:t>
            </a:r>
            <a:endParaRPr lang="en-US" sz="1050" dirty="0"/>
          </a:p>
        </p:txBody>
      </p:sp>
      <p:sp>
        <p:nvSpPr>
          <p:cNvPr id="14" name="Text 12"/>
          <p:cNvSpPr txBox="1"/>
          <p:nvPr/>
        </p:nvSpPr>
        <p:spPr>
          <a:xfrm>
            <a:off x="950976" y="4447032"/>
            <a:ext cx="4769968" cy="1569720"/>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150" dirty="0">
                <a:solidFill>
                  <a:srgbClr val="0E1426"/>
                </a:solidFill>
                <a:latin typeface="Calibri" pitchFamily="34" charset="0"/>
                <a:ea typeface="Calibri" pitchFamily="34" charset="-122"/>
                <a:cs typeface="Calibri" pitchFamily="34" charset="-120"/>
              </a:rPr>
              <a:t>masadaki kutu m₁ = 3 kg</a:t>
            </a:r>
            <a:endParaRPr lang="en-US" sz="1150" dirty="0"/>
          </a:p>
          <a:p>
            <a:pPr marL="203200" indent="-203200">
              <a:lnSpc>
                <a:spcPct val="110000"/>
              </a:lnSpc>
              <a:spcAft>
                <a:spcPts val="500"/>
              </a:spcAft>
              <a:buSzPct val="100000"/>
              <a:buChar char="▪"/>
            </a:pPr>
            <a:r>
              <a:rPr lang="en-US" sz="1150" dirty="0">
                <a:solidFill>
                  <a:srgbClr val="0E1426"/>
                </a:solidFill>
                <a:latin typeface="Calibri" pitchFamily="34" charset="0"/>
                <a:ea typeface="Calibri" pitchFamily="34" charset="-122"/>
                <a:cs typeface="Calibri" pitchFamily="34" charset="-120"/>
              </a:rPr>
              <a:t>sarkan yük m₂ = 2 kg</a:t>
            </a:r>
            <a:endParaRPr lang="en-US" sz="1150" dirty="0"/>
          </a:p>
          <a:p>
            <a:pPr marL="203200" indent="-203200">
              <a:lnSpc>
                <a:spcPct val="110000"/>
              </a:lnSpc>
              <a:spcAft>
                <a:spcPts val="500"/>
              </a:spcAft>
              <a:buSzPct val="100000"/>
              <a:buChar char="▪"/>
            </a:pPr>
            <a:r>
              <a:rPr lang="en-US" sz="1150" dirty="0">
                <a:solidFill>
                  <a:srgbClr val="0E1426"/>
                </a:solidFill>
                <a:latin typeface="Calibri" pitchFamily="34" charset="0"/>
                <a:ea typeface="Calibri" pitchFamily="34" charset="-122"/>
                <a:cs typeface="Calibri" pitchFamily="34" charset="-120"/>
              </a:rPr>
              <a:t>μk = 0,2</a:t>
            </a:r>
            <a:endParaRPr lang="en-US" sz="1150" dirty="0"/>
          </a:p>
          <a:p>
            <a:pPr marL="203200" indent="-203200">
              <a:lnSpc>
                <a:spcPct val="110000"/>
              </a:lnSpc>
              <a:spcAft>
                <a:spcPts val="500"/>
              </a:spcAft>
              <a:buSzPct val="100000"/>
              <a:buChar char="▪"/>
            </a:pPr>
            <a:r>
              <a:rPr lang="en-US" sz="1150" dirty="0">
                <a:solidFill>
                  <a:srgbClr val="0E1426"/>
                </a:solidFill>
                <a:latin typeface="Calibri" pitchFamily="34" charset="0"/>
                <a:ea typeface="Calibri" pitchFamily="34" charset="-122"/>
                <a:cs typeface="Calibri" pitchFamily="34" charset="-120"/>
              </a:rPr>
              <a:t>makara sürtünmesiz</a:t>
            </a:r>
            <a:endParaRPr lang="en-US" sz="1150" dirty="0"/>
          </a:p>
          <a:p>
            <a:pPr marL="203200" indent="-203200">
              <a:lnSpc>
                <a:spcPct val="110000"/>
              </a:lnSpc>
              <a:spcAft>
                <a:spcPts val="500"/>
              </a:spcAft>
              <a:buSzPct val="100000"/>
              <a:buChar char="▪"/>
            </a:pPr>
            <a:r>
              <a:rPr lang="en-US" sz="1150" dirty="0">
                <a:solidFill>
                  <a:srgbClr val="0E1426"/>
                </a:solidFill>
                <a:latin typeface="Calibri" pitchFamily="34" charset="0"/>
                <a:ea typeface="Calibri" pitchFamily="34" charset="-122"/>
                <a:cs typeface="Calibri" pitchFamily="34" charset="-120"/>
              </a:rPr>
              <a:t>sistem durgunken bırakılıyor</a:t>
            </a:r>
            <a:endParaRPr lang="en-US" sz="1150" dirty="0"/>
          </a:p>
          <a:p>
            <a:pPr marL="203200" indent="-203200">
              <a:lnSpc>
                <a:spcPct val="110000"/>
              </a:lnSpc>
              <a:spcAft>
                <a:spcPts val="500"/>
              </a:spcAft>
              <a:buSzPct val="100000"/>
              <a:buChar char="▪"/>
            </a:pPr>
            <a:r>
              <a:rPr lang="en-US" sz="1150" dirty="0">
                <a:solidFill>
                  <a:srgbClr val="0E1426"/>
                </a:solidFill>
                <a:latin typeface="Calibri" pitchFamily="34" charset="0"/>
                <a:ea typeface="Calibri" pitchFamily="34" charset="-122"/>
                <a:cs typeface="Calibri" pitchFamily="34" charset="-120"/>
              </a:rPr>
              <a:t>g = 10 m/s²</a:t>
            </a:r>
            <a:endParaRPr lang="en-US" sz="1150" dirty="0"/>
          </a:p>
        </p:txBody>
      </p:sp>
      <p:sp>
        <p:nvSpPr>
          <p:cNvPr id="15" name="Shape 13"/>
          <p:cNvSpPr/>
          <p:nvPr/>
        </p:nvSpPr>
        <p:spPr>
          <a:xfrm>
            <a:off x="6233008" y="3971544"/>
            <a:ext cx="5318608" cy="2173224"/>
          </a:xfrm>
          <a:prstGeom prst="roundRect">
            <a:avLst>
              <a:gd name="adj" fmla="val 6732"/>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6" name="Shape 14"/>
          <p:cNvSpPr/>
          <p:nvPr/>
        </p:nvSpPr>
        <p:spPr>
          <a:xfrm>
            <a:off x="6251296" y="4136136"/>
            <a:ext cx="54864" cy="1844040"/>
          </a:xfrm>
          <a:prstGeom prst="rect">
            <a:avLst/>
          </a:prstGeom>
          <a:solidFill>
            <a:srgbClr val="5F4BD8"/>
          </a:solidFill>
          <a:ln/>
        </p:spPr>
      </p:sp>
      <p:sp>
        <p:nvSpPr>
          <p:cNvPr id="17" name="Text 15"/>
          <p:cNvSpPr txBox="1"/>
          <p:nvPr/>
        </p:nvSpPr>
        <p:spPr>
          <a:xfrm>
            <a:off x="6507328" y="4117848"/>
            <a:ext cx="4861408" cy="256032"/>
          </a:xfrm>
          <a:prstGeom prst="rect">
            <a:avLst/>
          </a:prstGeom>
          <a:noFill/>
          <a:ln/>
        </p:spPr>
        <p:txBody>
          <a:bodyPr wrap="square" lIns="0" tIns="0" rIns="0" bIns="0" rtlCol="0" anchor="ctr"/>
          <a:lstStyle/>
          <a:p>
            <a:pPr indent="0" marL="0">
              <a:buNone/>
            </a:pPr>
            <a:r>
              <a:rPr lang="en-US" sz="1050" b="1" spc="200" kern="0" dirty="0">
                <a:solidFill>
                  <a:srgbClr val="5F4BD8"/>
                </a:solidFill>
                <a:latin typeface="Calibri" pitchFamily="34" charset="0"/>
                <a:ea typeface="Calibri" pitchFamily="34" charset="-122"/>
                <a:cs typeface="Calibri" pitchFamily="34" charset="-120"/>
              </a:rPr>
              <a:t>İSTENEN</a:t>
            </a:r>
            <a:endParaRPr lang="en-US" sz="1050" dirty="0"/>
          </a:p>
        </p:txBody>
      </p:sp>
      <p:sp>
        <p:nvSpPr>
          <p:cNvPr id="18" name="Text 16"/>
          <p:cNvSpPr txBox="1"/>
          <p:nvPr/>
        </p:nvSpPr>
        <p:spPr>
          <a:xfrm>
            <a:off x="6543904" y="4447032"/>
            <a:ext cx="4769968" cy="1569720"/>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(a) sistemin ivmesi a</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(b) ipteki gerilme T</a:t>
            </a:r>
            <a:endParaRPr lang="en-US" sz="1800" dirty="0"/>
          </a:p>
        </p:txBody>
      </p:sp>
      <p:sp>
        <p:nvSpPr>
          <p:cNvPr id="19" name="Shape 17"/>
          <p:cNvSpPr/>
          <p:nvPr/>
        </p:nvSpPr>
        <p:spPr>
          <a:xfrm>
            <a:off x="640080" y="6382512"/>
            <a:ext cx="128016" cy="128016"/>
          </a:xfrm>
          <a:prstGeom prst="roundRect">
            <a:avLst>
              <a:gd name="adj" fmla="val 28571"/>
            </a:avLst>
          </a:prstGeom>
          <a:solidFill>
            <a:srgbClr val="A9E648"/>
          </a:solidFill>
          <a:ln/>
        </p:spPr>
      </p:sp>
      <p:sp>
        <p:nvSpPr>
          <p:cNvPr id="20" name="Text 1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dersler.perinet.org/newton-yasalari.html</a:t>
            </a:r>
            <a:endParaRPr lang="en-US" sz="1050" dirty="0"/>
          </a:p>
        </p:txBody>
      </p:sp>
      <p:sp>
        <p:nvSpPr>
          <p:cNvPr id="21" name="Text 1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128</a:t>
            </a:r>
            <a:endParaRPr lang="en-US" sz="1050"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7 · Çözüm 1 / 2</a:t>
            </a:r>
            <a:endParaRPr lang="en-US" sz="3200" dirty="0"/>
          </a:p>
        </p:txBody>
      </p:sp>
      <p:sp>
        <p:nvSpPr>
          <p:cNvPr id="5" name="Shape 3"/>
          <p:cNvSpPr/>
          <p:nvPr/>
        </p:nvSpPr>
        <p:spPr>
          <a:xfrm>
            <a:off x="10408615" y="512064"/>
            <a:ext cx="1143000" cy="384048"/>
          </a:xfrm>
          <a:prstGeom prst="roundRect">
            <a:avLst>
              <a:gd name="adj" fmla="val 50000"/>
            </a:avLst>
          </a:prstGeom>
          <a:solidFill>
            <a:srgbClr val="FBE9EE"/>
          </a:solidFill>
          <a:ln w="9525">
            <a:solidFill>
              <a:srgbClr val="C53455"/>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C53455"/>
                </a:solidFill>
                <a:latin typeface="Calibri" pitchFamily="34" charset="0"/>
                <a:ea typeface="Calibri" pitchFamily="34" charset="-122"/>
                <a:cs typeface="Calibri" pitchFamily="34" charset="-120"/>
              </a:rPr>
              <a:t>ZOR</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Masadan sarkan yük</a:t>
            </a:r>
            <a:endParaRPr lang="en-US" sz="1450" dirty="0"/>
          </a:p>
        </p:txBody>
      </p:sp>
      <p:sp>
        <p:nvSpPr>
          <p:cNvPr id="8" name="Shape 6"/>
          <p:cNvSpPr/>
          <p:nvPr/>
        </p:nvSpPr>
        <p:spPr>
          <a:xfrm>
            <a:off x="640080" y="1645920"/>
            <a:ext cx="10911535" cy="1619098"/>
          </a:xfrm>
          <a:prstGeom prst="roundRect">
            <a:avLst>
              <a:gd name="adj" fmla="val 90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Shape 7"/>
          <p:cNvSpPr/>
          <p:nvPr/>
        </p:nvSpPr>
        <p:spPr>
          <a:xfrm>
            <a:off x="914400" y="2245157"/>
            <a:ext cx="420624" cy="420624"/>
          </a:xfrm>
          <a:prstGeom prst="roundRect">
            <a:avLst>
              <a:gd name="adj" fmla="val 26000"/>
            </a:avLst>
          </a:prstGeom>
          <a:solidFill>
            <a:srgbClr val="A56209"/>
          </a:solidFill>
          <a:ln/>
        </p:spPr>
      </p:sp>
      <p:sp>
        <p:nvSpPr>
          <p:cNvPr id="10" name="Text 8"/>
          <p:cNvSpPr txBox="1"/>
          <p:nvPr/>
        </p:nvSpPr>
        <p:spPr>
          <a:xfrm>
            <a:off x="914400" y="2245157"/>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1" name="Text 9"/>
          <p:cNvSpPr txBox="1"/>
          <p:nvPr/>
        </p:nvSpPr>
        <p:spPr>
          <a:xfrm>
            <a:off x="1508760" y="1700784"/>
            <a:ext cx="9859975" cy="1509370"/>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Hareket yönündeki dış kuvvetler: sarkan yükün ağırlığı 2 · 10 = 20 N, kutudaki sürtünme 0,2 · 30 = 6 N (zıt).</a:t>
            </a:r>
            <a:endParaRPr lang="en-US" sz="2000" dirty="0"/>
          </a:p>
        </p:txBody>
      </p:sp>
      <p:sp>
        <p:nvSpPr>
          <p:cNvPr id="12" name="Shape 10"/>
          <p:cNvSpPr/>
          <p:nvPr/>
        </p:nvSpPr>
        <p:spPr>
          <a:xfrm>
            <a:off x="640080" y="3429610"/>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3" name="Shape 11"/>
          <p:cNvSpPr/>
          <p:nvPr/>
        </p:nvSpPr>
        <p:spPr>
          <a:xfrm>
            <a:off x="914400" y="3755746"/>
            <a:ext cx="420624" cy="420624"/>
          </a:xfrm>
          <a:prstGeom prst="roundRect">
            <a:avLst>
              <a:gd name="adj" fmla="val 26000"/>
            </a:avLst>
          </a:prstGeom>
          <a:solidFill>
            <a:srgbClr val="A56209"/>
          </a:solidFill>
          <a:ln/>
        </p:spPr>
      </p:sp>
      <p:sp>
        <p:nvSpPr>
          <p:cNvPr id="14" name="Text 12"/>
          <p:cNvSpPr txBox="1"/>
          <p:nvPr/>
        </p:nvSpPr>
        <p:spPr>
          <a:xfrm>
            <a:off x="914400" y="3755746"/>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5" name="Text 13"/>
          <p:cNvSpPr txBox="1"/>
          <p:nvPr/>
        </p:nvSpPr>
        <p:spPr>
          <a:xfrm>
            <a:off x="1508760" y="3484474"/>
            <a:ext cx="9859975" cy="963168"/>
          </a:xfrm>
          <a:prstGeom prst="rect">
            <a:avLst/>
          </a:prstGeom>
          <a:noFill/>
          <a:ln/>
        </p:spPr>
        <p:txBody>
          <a:bodyPr wrap="square" lIns="0" tIns="0" rIns="0" bIns="0" rtlCol="0" anchor="ctr"/>
          <a:lstStyle/>
          <a:p>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(a)</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a = (20 − 6) / (3 + 2) = 14 / 5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2,8 m/s²</a:t>
            </a:r>
            <a:endParaRPr lang="en-US" sz="2000" dirty="0"/>
          </a:p>
        </p:txBody>
      </p:sp>
      <p:sp>
        <p:nvSpPr>
          <p:cNvPr id="16" name="Shape 14"/>
          <p:cNvSpPr/>
          <p:nvPr/>
        </p:nvSpPr>
        <p:spPr>
          <a:xfrm>
            <a:off x="640080" y="6382512"/>
            <a:ext cx="128016" cy="128016"/>
          </a:xfrm>
          <a:prstGeom prst="roundRect">
            <a:avLst>
              <a:gd name="adj" fmla="val 28571"/>
            </a:avLst>
          </a:prstGeom>
          <a:solidFill>
            <a:srgbClr val="A9E648"/>
          </a:solidFill>
          <a:ln/>
        </p:spPr>
      </p:sp>
      <p:sp>
        <p:nvSpPr>
          <p:cNvPr id="17" name="Text 1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dersler.perinet.org/newton-yasalari.html</a:t>
            </a:r>
            <a:endParaRPr lang="en-US" sz="1050" dirty="0"/>
          </a:p>
        </p:txBody>
      </p:sp>
      <p:sp>
        <p:nvSpPr>
          <p:cNvPr id="18" name="Text 1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129</a:t>
            </a:r>
            <a:endParaRPr lang="en-US" sz="1050"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7 · Çözüm 2 / 2</a:t>
            </a:r>
            <a:endParaRPr lang="en-US" sz="3200" dirty="0"/>
          </a:p>
        </p:txBody>
      </p:sp>
      <p:sp>
        <p:nvSpPr>
          <p:cNvPr id="5" name="Shape 3"/>
          <p:cNvSpPr/>
          <p:nvPr/>
        </p:nvSpPr>
        <p:spPr>
          <a:xfrm>
            <a:off x="10408615" y="512064"/>
            <a:ext cx="1143000" cy="384048"/>
          </a:xfrm>
          <a:prstGeom prst="roundRect">
            <a:avLst>
              <a:gd name="adj" fmla="val 50000"/>
            </a:avLst>
          </a:prstGeom>
          <a:solidFill>
            <a:srgbClr val="FBE9EE"/>
          </a:solidFill>
          <a:ln w="9525">
            <a:solidFill>
              <a:srgbClr val="C53455"/>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C53455"/>
                </a:solidFill>
                <a:latin typeface="Calibri" pitchFamily="34" charset="0"/>
                <a:ea typeface="Calibri" pitchFamily="34" charset="-122"/>
                <a:cs typeface="Calibri" pitchFamily="34" charset="-120"/>
              </a:rPr>
              <a:t>ZOR</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Masadan sarkan yük</a:t>
            </a:r>
            <a:endParaRPr lang="en-US" sz="1450" dirty="0"/>
          </a:p>
        </p:txBody>
      </p:sp>
      <p:sp>
        <p:nvSpPr>
          <p:cNvPr id="8" name="Shape 6"/>
          <p:cNvSpPr/>
          <p:nvPr/>
        </p:nvSpPr>
        <p:spPr>
          <a:xfrm>
            <a:off x="640080" y="1645920"/>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Shape 7"/>
          <p:cNvSpPr/>
          <p:nvPr/>
        </p:nvSpPr>
        <p:spPr>
          <a:xfrm>
            <a:off x="914400" y="1972056"/>
            <a:ext cx="420624" cy="420624"/>
          </a:xfrm>
          <a:prstGeom prst="roundRect">
            <a:avLst>
              <a:gd name="adj" fmla="val 26000"/>
            </a:avLst>
          </a:prstGeom>
          <a:solidFill>
            <a:srgbClr val="A56209"/>
          </a:solidFill>
          <a:ln/>
        </p:spPr>
      </p:sp>
      <p:sp>
        <p:nvSpPr>
          <p:cNvPr id="10" name="Text 8"/>
          <p:cNvSpPr txBox="1"/>
          <p:nvPr/>
        </p:nvSpPr>
        <p:spPr>
          <a:xfrm>
            <a:off x="914400" y="1972056"/>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1" name="Text 9"/>
          <p:cNvSpPr txBox="1"/>
          <p:nvPr/>
        </p:nvSpPr>
        <p:spPr>
          <a:xfrm>
            <a:off x="1508760" y="1700784"/>
            <a:ext cx="9859975" cy="963168"/>
          </a:xfrm>
          <a:prstGeom prst="rect">
            <a:avLst/>
          </a:prstGeom>
          <a:noFill/>
          <a:ln/>
        </p:spPr>
        <p:txBody>
          <a:bodyPr wrap="square" lIns="0" tIns="0" rIns="0" bIns="0" rtlCol="0" anchor="ctr"/>
          <a:lstStyle/>
          <a:p>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(b)</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Sarkan yük: 20 − T = 2 · 2,8 → T = 20 − 5,6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14,4 N</a:t>
            </a:r>
            <a:endParaRPr lang="en-US" sz="2000" dirty="0"/>
          </a:p>
        </p:txBody>
      </p:sp>
      <p:sp>
        <p:nvSpPr>
          <p:cNvPr id="12" name="Shape 10"/>
          <p:cNvSpPr/>
          <p:nvPr/>
        </p:nvSpPr>
        <p:spPr>
          <a:xfrm>
            <a:off x="640080" y="2883408"/>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3" name="Shape 11"/>
          <p:cNvSpPr/>
          <p:nvPr/>
        </p:nvSpPr>
        <p:spPr>
          <a:xfrm>
            <a:off x="914400" y="3209544"/>
            <a:ext cx="420624" cy="420624"/>
          </a:xfrm>
          <a:prstGeom prst="roundRect">
            <a:avLst>
              <a:gd name="adj" fmla="val 26000"/>
            </a:avLst>
          </a:prstGeom>
          <a:solidFill>
            <a:srgbClr val="A56209"/>
          </a:solidFill>
          <a:ln/>
        </p:spPr>
      </p:sp>
      <p:sp>
        <p:nvSpPr>
          <p:cNvPr id="14" name="Text 12"/>
          <p:cNvSpPr txBox="1"/>
          <p:nvPr/>
        </p:nvSpPr>
        <p:spPr>
          <a:xfrm>
            <a:off x="914400" y="3209544"/>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15" name="Text 13"/>
          <p:cNvSpPr txBox="1"/>
          <p:nvPr/>
        </p:nvSpPr>
        <p:spPr>
          <a:xfrm>
            <a:off x="1508760" y="2938272"/>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Kontrol (kutu): T − f = 14,4 − 6 = 8,4 N = 3 · 2,8 ✓</a:t>
            </a:r>
            <a:endParaRPr lang="en-US" sz="2000" dirty="0"/>
          </a:p>
        </p:txBody>
      </p:sp>
      <p:sp>
        <p:nvSpPr>
          <p:cNvPr id="16" name="Shape 14"/>
          <p:cNvSpPr/>
          <p:nvPr/>
        </p:nvSpPr>
        <p:spPr>
          <a:xfrm>
            <a:off x="640080" y="5431536"/>
            <a:ext cx="10911535" cy="713232"/>
          </a:xfrm>
          <a:prstGeom prst="roundRect">
            <a:avLst>
              <a:gd name="adj" fmla="val 20513"/>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7" name="Text 15"/>
          <p:cNvSpPr txBox="1"/>
          <p:nvPr/>
        </p:nvSpPr>
        <p:spPr>
          <a:xfrm>
            <a:off x="960120" y="5559552"/>
            <a:ext cx="1828800" cy="219456"/>
          </a:xfrm>
          <a:prstGeom prst="rect">
            <a:avLst/>
          </a:prstGeom>
          <a:noFill/>
          <a:ln/>
        </p:spPr>
        <p:txBody>
          <a:bodyPr wrap="square" lIns="0" tIns="0" rIns="0" bIns="0" rtlCol="0" anchor="ctr"/>
          <a:lstStyle/>
          <a:p>
            <a:pPr indent="0" marL="0">
              <a:buNone/>
            </a:pPr>
            <a:r>
              <a:rPr lang="en-US" sz="1000" b="1" spc="200" kern="0" dirty="0">
                <a:solidFill>
                  <a:srgbClr val="7B849E"/>
                </a:solidFill>
                <a:latin typeface="Calibri" pitchFamily="34" charset="0"/>
                <a:ea typeface="Calibri" pitchFamily="34" charset="-122"/>
                <a:cs typeface="Calibri" pitchFamily="34" charset="-120"/>
              </a:rPr>
              <a:t>NOT</a:t>
            </a:r>
            <a:endParaRPr lang="en-US" sz="1000" dirty="0"/>
          </a:p>
        </p:txBody>
      </p:sp>
      <p:sp>
        <p:nvSpPr>
          <p:cNvPr id="18" name="Text 16"/>
          <p:cNvSpPr txBox="1"/>
          <p:nvPr/>
        </p:nvSpPr>
        <p:spPr>
          <a:xfrm>
            <a:off x="960120" y="5797296"/>
            <a:ext cx="10271455" cy="256032"/>
          </a:xfrm>
          <a:prstGeom prst="rect">
            <a:avLst/>
          </a:prstGeom>
          <a:noFill/>
          <a:ln/>
        </p:spPr>
        <p:txBody>
          <a:bodyPr wrap="square" lIns="0" tIns="0" rIns="0" bIns="0" rtlCol="0" anchor="t"/>
          <a:lstStyle/>
          <a:p>
            <a:pPr indent="0" marL="0">
              <a:lnSpc>
                <a:spcPct val="112000"/>
              </a:lnSpc>
              <a:buNone/>
            </a:pPr>
            <a:r>
              <a:rPr lang="en-US" sz="1500" dirty="0">
                <a:solidFill>
                  <a:srgbClr val="4A5470"/>
                </a:solidFill>
                <a:latin typeface="Calibri" pitchFamily="34" charset="0"/>
                <a:ea typeface="Calibri" pitchFamily="34" charset="-122"/>
                <a:cs typeface="Calibri" pitchFamily="34" charset="-120"/>
              </a:rPr>
              <a:t>Gerilme sarkan yükün ağırlığından küçüktür, çünkü yük aşağı doğru hızlanmaktadır.</a:t>
            </a:r>
            <a:endParaRPr lang="en-US" sz="1500" dirty="0"/>
          </a:p>
        </p:txBody>
      </p:sp>
      <p:sp>
        <p:nvSpPr>
          <p:cNvPr id="19" name="Shape 17"/>
          <p:cNvSpPr/>
          <p:nvPr/>
        </p:nvSpPr>
        <p:spPr>
          <a:xfrm>
            <a:off x="640080" y="6382512"/>
            <a:ext cx="128016" cy="128016"/>
          </a:xfrm>
          <a:prstGeom prst="roundRect">
            <a:avLst>
              <a:gd name="adj" fmla="val 28571"/>
            </a:avLst>
          </a:prstGeom>
          <a:solidFill>
            <a:srgbClr val="A9E648"/>
          </a:solidFill>
          <a:ln/>
        </p:spPr>
      </p:sp>
      <p:sp>
        <p:nvSpPr>
          <p:cNvPr id="20" name="Text 1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dersler.perinet.org/newton-yasalari.html</a:t>
            </a:r>
            <a:endParaRPr lang="en-US" sz="1050" dirty="0"/>
          </a:p>
        </p:txBody>
      </p:sp>
      <p:sp>
        <p:nvSpPr>
          <p:cNvPr id="21" name="Text 1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130</a:t>
            </a:r>
            <a:endParaRPr lang="en-US" sz="1050"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bg>
      <p:bgPr>
        <a:solidFill>
          <a:srgbClr val="FEF8EE"/>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3" name="Shape 1"/>
          <p:cNvSpPr/>
          <p:nvPr/>
        </p:nvSpPr>
        <p:spPr>
          <a:xfrm>
            <a:off x="822960" y="2011680"/>
            <a:ext cx="1554480" cy="1554480"/>
          </a:xfrm>
          <a:prstGeom prst="ellipse">
            <a:avLst/>
          </a:prstGeom>
          <a:solidFill>
            <a:srgbClr val="A56209"/>
          </a:solidFill>
          <a:ln/>
          <a:effectLst>
            <a:outerShdw sx="100000" sy="100000" kx="0" ky="0" algn="bl" rotWithShape="0" blurRad="177800" dist="50800" dir="5400000">
              <a:srgbClr val="A56209">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a:t>
            </a:r>
            <a:endParaRPr lang="en-US" sz="6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A56209"/>
                </a:solidFill>
                <a:latin typeface="Calibri" pitchFamily="34" charset="0"/>
                <a:ea typeface="Calibri" pitchFamily="34" charset="-122"/>
                <a:cs typeface="Calibri" pitchFamily="34" charset="-120"/>
              </a:rPr>
              <a:t>SIRA SENDE 1 / 5</a:t>
            </a:r>
            <a:endParaRPr lang="en-US" sz="1300" dirty="0"/>
          </a:p>
        </p:txBody>
      </p:sp>
      <p:sp>
        <p:nvSpPr>
          <p:cNvPr id="6" name="Shape 4"/>
          <p:cNvSpPr/>
          <p:nvPr/>
        </p:nvSpPr>
        <p:spPr>
          <a:xfrm>
            <a:off x="10408615" y="1371600"/>
            <a:ext cx="1143000" cy="384048"/>
          </a:xfrm>
          <a:prstGeom prst="roundRect">
            <a:avLst>
              <a:gd name="adj" fmla="val 50000"/>
            </a:avLst>
          </a:prstGeom>
          <a:solidFill>
            <a:srgbClr val="EAF7DC"/>
          </a:solidFill>
          <a:ln w="9525">
            <a:solidFill>
              <a:srgbClr val="3C8C21"/>
            </a:solidFill>
            <a:prstDash val="solid"/>
          </a:ln>
        </p:spPr>
      </p:sp>
      <p:sp>
        <p:nvSpPr>
          <p:cNvPr id="7" name="Text 5"/>
          <p:cNvSpPr txBox="1"/>
          <p:nvPr/>
        </p:nvSpPr>
        <p:spPr>
          <a:xfrm>
            <a:off x="10408615" y="1371600"/>
            <a:ext cx="1143000" cy="384048"/>
          </a:xfrm>
          <a:prstGeom prst="rect">
            <a:avLst/>
          </a:prstGeom>
          <a:noFill/>
          <a:ln/>
        </p:spPr>
        <p:txBody>
          <a:bodyPr wrap="square" lIns="0" tIns="0" rIns="0" bIns="0" rtlCol="0" anchor="ctr"/>
          <a:lstStyle/>
          <a:p>
            <a:pPr algn="ctr" indent="0" marL="0">
              <a:buNone/>
            </a:pPr>
            <a:r>
              <a:rPr lang="en-US" sz="1150" b="1" spc="200" kern="0" dirty="0">
                <a:solidFill>
                  <a:srgbClr val="3C8C21"/>
                </a:solidFill>
                <a:latin typeface="Calibri" pitchFamily="34" charset="0"/>
                <a:ea typeface="Calibri" pitchFamily="34" charset="-122"/>
                <a:cs typeface="Calibri" pitchFamily="34" charset="-120"/>
              </a:rPr>
              <a:t>KOLAY</a:t>
            </a:r>
            <a:endParaRPr lang="en-US" sz="1150" dirty="0"/>
          </a:p>
        </p:txBody>
      </p:sp>
      <p:sp>
        <p:nvSpPr>
          <p:cNvPr id="8" name="Text 6"/>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Sürtünmesiz yatay zeminde duran 4 kg'lık bir kutuya 20 N'luk yatay kuvvet uygulanıyor. Kutunun ivmesi kaç m/s² olur?</a:t>
            </a:r>
            <a:endParaRPr lang="en-US" sz="3200" dirty="0"/>
          </a:p>
        </p:txBody>
      </p:sp>
      <p:sp>
        <p:nvSpPr>
          <p:cNvPr id="9" name="Text 7"/>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Önce kendin çöz, sonra cevaba bak. Her soruda önce verilenleri ve isteneni yaz. (g = 10 m/s²)</a:t>
            </a:r>
            <a:pPr indent="0" marL="0">
              <a:buNone/>
            </a:pPr>
            <a:r>
              <a:rPr lang="en-US" sz="1200" b="1" dirty="0">
                <a:solidFill>
                  <a:srgbClr val="A56209"/>
                </a:solidFill>
                <a:latin typeface="Calibri" pitchFamily="34" charset="0"/>
                <a:ea typeface="Calibri" pitchFamily="34" charset="-122"/>
                <a:cs typeface="Calibri" pitchFamily="34" charset="-120"/>
              </a:rPr>
              <a:t>     Cevap bir sonraki slaytta</a:t>
            </a:r>
            <a:endParaRPr lang="en-US" sz="12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dersler.perinet.org/newton-yasalari.html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131</a:t>
            </a:r>
            <a:endParaRPr lang="en-US" sz="1050"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3" name="Shape 1"/>
          <p:cNvSpPr/>
          <p:nvPr/>
        </p:nvSpPr>
        <p:spPr>
          <a:xfrm>
            <a:off x="640080" y="457200"/>
            <a:ext cx="493776" cy="493776"/>
          </a:xfrm>
          <a:prstGeom prst="roundRect">
            <a:avLst>
              <a:gd name="adj" fmla="val 25926"/>
            </a:avLst>
          </a:prstGeom>
          <a:solidFill>
            <a:srgbClr val="A56209"/>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Sürtünmesiz yatay zeminde duran 4 kg'lık bir kutuya 20 N'luk yatay kuvvet uygulanıyor. Kutunun ivmesi kaç m/s² olur?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A56209"/>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400" b="1" dirty="0">
                <a:solidFill>
                  <a:srgbClr val="A56209"/>
                </a:solidFill>
                <a:latin typeface="Calibri" pitchFamily="34" charset="0"/>
                <a:ea typeface="Calibri" pitchFamily="34" charset="-122"/>
                <a:cs typeface="Calibri" pitchFamily="34" charset="-120"/>
              </a:rPr>
              <a:t>Cevap:</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a = ΣF / m = 20 / 4 = </a:t>
            </a:r>
            <a:pPr indent="0" marL="0">
              <a:lnSpc>
                <a:spcPct val="125000"/>
              </a:lnSpc>
              <a:buNone/>
            </a:pPr>
            <a:r>
              <a:rPr lang="en-US" sz="2400" b="1" dirty="0">
                <a:solidFill>
                  <a:srgbClr val="A56209"/>
                </a:solidFill>
                <a:latin typeface="Calibri" pitchFamily="34" charset="0"/>
                <a:ea typeface="Calibri" pitchFamily="34" charset="-122"/>
                <a:cs typeface="Calibri" pitchFamily="34" charset="-120"/>
              </a:rPr>
              <a:t>5 m/s²</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Kutu her saniye 5 m/s daha hızlı gider.</a:t>
            </a:r>
            <a:endParaRPr lang="en-US" sz="24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dersler.perinet.org/newton-yasalari.html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132</a:t>
            </a:r>
            <a:endParaRPr lang="en-US" sz="1050"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bg>
      <p:bgPr>
        <a:solidFill>
          <a:srgbClr val="FEF8EE"/>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3" name="Shape 1"/>
          <p:cNvSpPr/>
          <p:nvPr/>
        </p:nvSpPr>
        <p:spPr>
          <a:xfrm>
            <a:off x="822960" y="2011680"/>
            <a:ext cx="1554480" cy="1554480"/>
          </a:xfrm>
          <a:prstGeom prst="ellipse">
            <a:avLst/>
          </a:prstGeom>
          <a:solidFill>
            <a:srgbClr val="A56209"/>
          </a:solidFill>
          <a:ln/>
          <a:effectLst>
            <a:outerShdw sx="100000" sy="100000" kx="0" ky="0" algn="bl" rotWithShape="0" blurRad="177800" dist="50800" dir="5400000">
              <a:srgbClr val="A56209">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a:t>
            </a:r>
            <a:endParaRPr lang="en-US" sz="6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A56209"/>
                </a:solidFill>
                <a:latin typeface="Calibri" pitchFamily="34" charset="0"/>
                <a:ea typeface="Calibri" pitchFamily="34" charset="-122"/>
                <a:cs typeface="Calibri" pitchFamily="34" charset="-120"/>
              </a:rPr>
              <a:t>SIRA SENDE 2 / 5</a:t>
            </a:r>
            <a:endParaRPr lang="en-US" sz="1300" dirty="0"/>
          </a:p>
        </p:txBody>
      </p:sp>
      <p:sp>
        <p:nvSpPr>
          <p:cNvPr id="6" name="Shape 4"/>
          <p:cNvSpPr/>
          <p:nvPr/>
        </p:nvSpPr>
        <p:spPr>
          <a:xfrm>
            <a:off x="10408615" y="1371600"/>
            <a:ext cx="1143000" cy="384048"/>
          </a:xfrm>
          <a:prstGeom prst="roundRect">
            <a:avLst>
              <a:gd name="adj" fmla="val 50000"/>
            </a:avLst>
          </a:prstGeom>
          <a:solidFill>
            <a:srgbClr val="EAF7DC"/>
          </a:solidFill>
          <a:ln w="9525">
            <a:solidFill>
              <a:srgbClr val="3C8C21"/>
            </a:solidFill>
            <a:prstDash val="solid"/>
          </a:ln>
        </p:spPr>
      </p:sp>
      <p:sp>
        <p:nvSpPr>
          <p:cNvPr id="7" name="Text 5"/>
          <p:cNvSpPr txBox="1"/>
          <p:nvPr/>
        </p:nvSpPr>
        <p:spPr>
          <a:xfrm>
            <a:off x="10408615" y="1371600"/>
            <a:ext cx="1143000" cy="384048"/>
          </a:xfrm>
          <a:prstGeom prst="rect">
            <a:avLst/>
          </a:prstGeom>
          <a:noFill/>
          <a:ln/>
        </p:spPr>
        <p:txBody>
          <a:bodyPr wrap="square" lIns="0" tIns="0" rIns="0" bIns="0" rtlCol="0" anchor="ctr"/>
          <a:lstStyle/>
          <a:p>
            <a:pPr algn="ctr" indent="0" marL="0">
              <a:buNone/>
            </a:pPr>
            <a:r>
              <a:rPr lang="en-US" sz="1150" b="1" spc="200" kern="0" dirty="0">
                <a:solidFill>
                  <a:srgbClr val="3C8C21"/>
                </a:solidFill>
                <a:latin typeface="Calibri" pitchFamily="34" charset="0"/>
                <a:ea typeface="Calibri" pitchFamily="34" charset="-122"/>
                <a:cs typeface="Calibri" pitchFamily="34" charset="-120"/>
              </a:rPr>
              <a:t>KOLAY</a:t>
            </a:r>
            <a:endParaRPr lang="en-US" sz="1150" dirty="0"/>
          </a:p>
        </p:txBody>
      </p:sp>
      <p:sp>
        <p:nvSpPr>
          <p:cNvPr id="8" name="Text 6"/>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0,5 kg'lık bir top, vurulduğu anda 40 m/s² ivme kazanıyor. Topa etki eden net kuvvet kaç N'dur?</a:t>
            </a:r>
            <a:endParaRPr lang="en-US" sz="3200" dirty="0"/>
          </a:p>
        </p:txBody>
      </p:sp>
      <p:sp>
        <p:nvSpPr>
          <p:cNvPr id="9" name="Text 7"/>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Önce kendin çöz, sonra cevaba bak. Her soruda önce verilenleri ve isteneni yaz. (g = 10 m/s²)</a:t>
            </a:r>
            <a:pPr indent="0" marL="0">
              <a:buNone/>
            </a:pPr>
            <a:r>
              <a:rPr lang="en-US" sz="1200" b="1" dirty="0">
                <a:solidFill>
                  <a:srgbClr val="A56209"/>
                </a:solidFill>
                <a:latin typeface="Calibri" pitchFamily="34" charset="0"/>
                <a:ea typeface="Calibri" pitchFamily="34" charset="-122"/>
                <a:cs typeface="Calibri" pitchFamily="34" charset="-120"/>
              </a:rPr>
              <a:t>     Cevap bir sonraki slaytta</a:t>
            </a:r>
            <a:endParaRPr lang="en-US" sz="12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dersler.perinet.org/newton-yasalari.html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133</a:t>
            </a:r>
            <a:endParaRPr lang="en-US" sz="1050"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3" name="Shape 1"/>
          <p:cNvSpPr/>
          <p:nvPr/>
        </p:nvSpPr>
        <p:spPr>
          <a:xfrm>
            <a:off x="640080" y="457200"/>
            <a:ext cx="493776" cy="493776"/>
          </a:xfrm>
          <a:prstGeom prst="roundRect">
            <a:avLst>
              <a:gd name="adj" fmla="val 25926"/>
            </a:avLst>
          </a:prstGeom>
          <a:solidFill>
            <a:srgbClr val="A56209"/>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0,5 kg'lık bir top, vurulduğu anda 40 m/s² ivme kazanıyor. Topa etki eden net kuvvet kaç N'dur?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A56209"/>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400" b="1" dirty="0">
                <a:solidFill>
                  <a:srgbClr val="A56209"/>
                </a:solidFill>
                <a:latin typeface="Calibri" pitchFamily="34" charset="0"/>
                <a:ea typeface="Calibri" pitchFamily="34" charset="-122"/>
                <a:cs typeface="Calibri" pitchFamily="34" charset="-120"/>
              </a:rPr>
              <a:t>Cevap:</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ΣF = m · a = 0,5 · 40 = </a:t>
            </a:r>
            <a:pPr indent="0" marL="0">
              <a:lnSpc>
                <a:spcPct val="125000"/>
              </a:lnSpc>
              <a:buNone/>
            </a:pPr>
            <a:r>
              <a:rPr lang="en-US" sz="2400" b="1" dirty="0">
                <a:solidFill>
                  <a:srgbClr val="A56209"/>
                </a:solidFill>
                <a:latin typeface="Calibri" pitchFamily="34" charset="0"/>
                <a:ea typeface="Calibri" pitchFamily="34" charset="-122"/>
                <a:cs typeface="Calibri" pitchFamily="34" charset="-120"/>
              </a:rPr>
              <a:t>20 N</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a:t>
            </a:r>
            <a:endParaRPr lang="en-US" sz="24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dersler.perinet.org/newton-yasalari.html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134</a:t>
            </a:r>
            <a:endParaRPr lang="en-US" sz="1050"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bg>
      <p:bgPr>
        <a:solidFill>
          <a:srgbClr val="FEF8EE"/>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3" name="Shape 1"/>
          <p:cNvSpPr/>
          <p:nvPr/>
        </p:nvSpPr>
        <p:spPr>
          <a:xfrm>
            <a:off x="822960" y="2011680"/>
            <a:ext cx="1554480" cy="1554480"/>
          </a:xfrm>
          <a:prstGeom prst="ellipse">
            <a:avLst/>
          </a:prstGeom>
          <a:solidFill>
            <a:srgbClr val="A56209"/>
          </a:solidFill>
          <a:ln/>
          <a:effectLst>
            <a:outerShdw sx="100000" sy="100000" kx="0" ky="0" algn="bl" rotWithShape="0" blurRad="177800" dist="50800" dir="5400000">
              <a:srgbClr val="A56209">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a:t>
            </a:r>
            <a:endParaRPr lang="en-US" sz="6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A56209"/>
                </a:solidFill>
                <a:latin typeface="Calibri" pitchFamily="34" charset="0"/>
                <a:ea typeface="Calibri" pitchFamily="34" charset="-122"/>
                <a:cs typeface="Calibri" pitchFamily="34" charset="-120"/>
              </a:rPr>
              <a:t>SIRA SENDE 3 / 5</a:t>
            </a:r>
            <a:endParaRPr lang="en-US" sz="1300" dirty="0"/>
          </a:p>
        </p:txBody>
      </p:sp>
      <p:sp>
        <p:nvSpPr>
          <p:cNvPr id="6" name="Shape 4"/>
          <p:cNvSpPr/>
          <p:nvPr/>
        </p:nvSpPr>
        <p:spPr>
          <a:xfrm>
            <a:off x="10408615" y="1371600"/>
            <a:ext cx="1143000" cy="384048"/>
          </a:xfrm>
          <a:prstGeom prst="roundRect">
            <a:avLst>
              <a:gd name="adj" fmla="val 50000"/>
            </a:avLst>
          </a:prstGeom>
          <a:solidFill>
            <a:srgbClr val="E6EDFB"/>
          </a:solidFill>
          <a:ln w="9525">
            <a:solidFill>
              <a:srgbClr val="2957D4"/>
            </a:solidFill>
            <a:prstDash val="solid"/>
          </a:ln>
        </p:spPr>
      </p:sp>
      <p:sp>
        <p:nvSpPr>
          <p:cNvPr id="7" name="Text 5"/>
          <p:cNvSpPr txBox="1"/>
          <p:nvPr/>
        </p:nvSpPr>
        <p:spPr>
          <a:xfrm>
            <a:off x="10408615" y="1371600"/>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8" name="Text 6"/>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Kinetik sürtünme katsayısı 0,3 olan yatay zeminde 5 kg'lık bir kutu 25 N'luk yatay kuvvetle kaydırılıyor. Kutunun ivmesi kaç m/s²'dir?</a:t>
            </a:r>
            <a:endParaRPr lang="en-US" sz="3200" dirty="0"/>
          </a:p>
        </p:txBody>
      </p:sp>
      <p:sp>
        <p:nvSpPr>
          <p:cNvPr id="9" name="Text 7"/>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Önce kendin çöz, sonra cevaba bak. Her soruda önce verilenleri ve isteneni yaz. (g = 10 m/s²)</a:t>
            </a:r>
            <a:pPr indent="0" marL="0">
              <a:buNone/>
            </a:pPr>
            <a:r>
              <a:rPr lang="en-US" sz="1200" b="1" dirty="0">
                <a:solidFill>
                  <a:srgbClr val="A56209"/>
                </a:solidFill>
                <a:latin typeface="Calibri" pitchFamily="34" charset="0"/>
                <a:ea typeface="Calibri" pitchFamily="34" charset="-122"/>
                <a:cs typeface="Calibri" pitchFamily="34" charset="-120"/>
              </a:rPr>
              <a:t>     Cevap bir sonraki slaytta</a:t>
            </a:r>
            <a:endParaRPr lang="en-US" sz="12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dersler.perinet.org/newton-yasalari.html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135</a:t>
            </a:r>
            <a:endParaRPr lang="en-US" sz="1050"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3" name="Shape 1"/>
          <p:cNvSpPr/>
          <p:nvPr/>
        </p:nvSpPr>
        <p:spPr>
          <a:xfrm>
            <a:off x="640080" y="457200"/>
            <a:ext cx="493776" cy="493776"/>
          </a:xfrm>
          <a:prstGeom prst="roundRect">
            <a:avLst>
              <a:gd name="adj" fmla="val 25926"/>
            </a:avLst>
          </a:prstGeom>
          <a:solidFill>
            <a:srgbClr val="A56209"/>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Kinetik sürtünme katsayısı 0,3 olan yatay zeminde 5 kg'lık bir kutu 25 N'luk yatay kuvvetle kaydırılıyor. Kutunun ivmesi kaç m/s²'dir?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A56209"/>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400" b="1" dirty="0">
                <a:solidFill>
                  <a:srgbClr val="A56209"/>
                </a:solidFill>
                <a:latin typeface="Calibri" pitchFamily="34" charset="0"/>
                <a:ea typeface="Calibri" pitchFamily="34" charset="-122"/>
                <a:cs typeface="Calibri" pitchFamily="34" charset="-120"/>
              </a:rPr>
              <a:t>Cevap:</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N = m · g = 5 · 10 = 50 N. Sürtünme f = μ · N = 0,3 · 50 = 15 N. Net kuvvet ΣF = 25 − 15 = 10 N → a = 10 / 5 = </a:t>
            </a:r>
            <a:pPr indent="0" marL="0">
              <a:lnSpc>
                <a:spcPct val="125000"/>
              </a:lnSpc>
              <a:buNone/>
            </a:pPr>
            <a:r>
              <a:rPr lang="en-US" sz="2400" b="1" dirty="0">
                <a:solidFill>
                  <a:srgbClr val="A56209"/>
                </a:solidFill>
                <a:latin typeface="Calibri" pitchFamily="34" charset="0"/>
                <a:ea typeface="Calibri" pitchFamily="34" charset="-122"/>
                <a:cs typeface="Calibri" pitchFamily="34" charset="-120"/>
              </a:rPr>
              <a:t>2 m/s²</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a:t>
            </a:r>
            <a:endParaRPr lang="en-US" sz="24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dersler.perinet.org/newton-yasalari.html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136</a:t>
            </a:r>
            <a:endParaRPr lang="en-US" sz="1050"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bg>
      <p:bgPr>
        <a:solidFill>
          <a:srgbClr val="FEF8EE"/>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3" name="Shape 1"/>
          <p:cNvSpPr/>
          <p:nvPr/>
        </p:nvSpPr>
        <p:spPr>
          <a:xfrm>
            <a:off x="822960" y="2011680"/>
            <a:ext cx="1554480" cy="1554480"/>
          </a:xfrm>
          <a:prstGeom prst="ellipse">
            <a:avLst/>
          </a:prstGeom>
          <a:solidFill>
            <a:srgbClr val="A56209"/>
          </a:solidFill>
          <a:ln/>
          <a:effectLst>
            <a:outerShdw sx="100000" sy="100000" kx="0" ky="0" algn="bl" rotWithShape="0" blurRad="177800" dist="50800" dir="5400000">
              <a:srgbClr val="A56209">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a:t>
            </a:r>
            <a:endParaRPr lang="en-US" sz="6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A56209"/>
                </a:solidFill>
                <a:latin typeface="Calibri" pitchFamily="34" charset="0"/>
                <a:ea typeface="Calibri" pitchFamily="34" charset="-122"/>
                <a:cs typeface="Calibri" pitchFamily="34" charset="-120"/>
              </a:rPr>
              <a:t>SIRA SENDE 4 / 5</a:t>
            </a:r>
            <a:endParaRPr lang="en-US" sz="1300" dirty="0"/>
          </a:p>
        </p:txBody>
      </p:sp>
      <p:sp>
        <p:nvSpPr>
          <p:cNvPr id="6" name="Shape 4"/>
          <p:cNvSpPr/>
          <p:nvPr/>
        </p:nvSpPr>
        <p:spPr>
          <a:xfrm>
            <a:off x="10408615" y="1371600"/>
            <a:ext cx="1143000" cy="384048"/>
          </a:xfrm>
          <a:prstGeom prst="roundRect">
            <a:avLst>
              <a:gd name="adj" fmla="val 50000"/>
            </a:avLst>
          </a:prstGeom>
          <a:solidFill>
            <a:srgbClr val="E6EDFB"/>
          </a:solidFill>
          <a:ln w="9525">
            <a:solidFill>
              <a:srgbClr val="2957D4"/>
            </a:solidFill>
            <a:prstDash val="solid"/>
          </a:ln>
        </p:spPr>
      </p:sp>
      <p:sp>
        <p:nvSpPr>
          <p:cNvPr id="7" name="Text 5"/>
          <p:cNvSpPr txBox="1"/>
          <p:nvPr/>
        </p:nvSpPr>
        <p:spPr>
          <a:xfrm>
            <a:off x="10408615" y="1371600"/>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8" name="Text 6"/>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50 kg'lık bir öğrenci, aşağı doğru 2 m/s² ile hızlanan bir asansörde tartının üstünde duruyor. Tartı kaç kg gösterir?</a:t>
            </a:r>
            <a:endParaRPr lang="en-US" sz="3200" dirty="0"/>
          </a:p>
        </p:txBody>
      </p:sp>
      <p:sp>
        <p:nvSpPr>
          <p:cNvPr id="9" name="Text 7"/>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Önce kendin çöz, sonra cevaba bak. Her soruda önce verilenleri ve isteneni yaz. (g = 10 m/s²)</a:t>
            </a:r>
            <a:pPr indent="0" marL="0">
              <a:buNone/>
            </a:pPr>
            <a:r>
              <a:rPr lang="en-US" sz="1200" b="1" dirty="0">
                <a:solidFill>
                  <a:srgbClr val="A56209"/>
                </a:solidFill>
                <a:latin typeface="Calibri" pitchFamily="34" charset="0"/>
                <a:ea typeface="Calibri" pitchFamily="34" charset="-122"/>
                <a:cs typeface="Calibri" pitchFamily="34" charset="-120"/>
              </a:rPr>
              <a:t>     Cevap bir sonraki slaytta</a:t>
            </a:r>
            <a:endParaRPr lang="en-US" sz="12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dersler.perinet.org/newton-yasalari.html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137</a:t>
            </a:r>
            <a:endParaRPr lang="en-US" sz="1050"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3" name="Shape 1"/>
          <p:cNvSpPr/>
          <p:nvPr/>
        </p:nvSpPr>
        <p:spPr>
          <a:xfrm>
            <a:off x="640080" y="457200"/>
            <a:ext cx="493776" cy="493776"/>
          </a:xfrm>
          <a:prstGeom prst="roundRect">
            <a:avLst>
              <a:gd name="adj" fmla="val 25926"/>
            </a:avLst>
          </a:prstGeom>
          <a:solidFill>
            <a:srgbClr val="A56209"/>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50 kg'lık bir öğrenci, aşağı doğru 2 m/s² ile hızlanan bir asansörde tartının üstünde duruyor. Tartı kaç kg gösterir?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A56209"/>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400" b="1" dirty="0">
                <a:solidFill>
                  <a:srgbClr val="A56209"/>
                </a:solidFill>
                <a:latin typeface="Calibri" pitchFamily="34" charset="0"/>
                <a:ea typeface="Calibri" pitchFamily="34" charset="-122"/>
                <a:cs typeface="Calibri" pitchFamily="34" charset="-120"/>
              </a:rPr>
              <a:t>Cevap:</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İvme aşağı olduğu için N ağırlıktan küçüktür: N = m · (g − a) = 50 · (10 − 2) = 400 N. Tartı 400 / 10 = </a:t>
            </a:r>
            <a:pPr indent="0" marL="0">
              <a:lnSpc>
                <a:spcPct val="125000"/>
              </a:lnSpc>
              <a:buNone/>
            </a:pPr>
            <a:r>
              <a:rPr lang="en-US" sz="2400" b="1" dirty="0">
                <a:solidFill>
                  <a:srgbClr val="A56209"/>
                </a:solidFill>
                <a:latin typeface="Calibri" pitchFamily="34" charset="0"/>
                <a:ea typeface="Calibri" pitchFamily="34" charset="-122"/>
                <a:cs typeface="Calibri" pitchFamily="34" charset="-120"/>
              </a:rPr>
              <a:t>40 kg</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gösterir; öğrencinin kütlesi yine 50 kg'dır.</a:t>
            </a:r>
            <a:endParaRPr lang="en-US" sz="24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dersler.perinet.org/newton-yasalari.html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138</a:t>
            </a:r>
            <a:endParaRPr lang="en-US" sz="1050"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bg>
      <p:bgPr>
        <a:solidFill>
          <a:srgbClr val="FEF8EE"/>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3" name="Shape 1"/>
          <p:cNvSpPr/>
          <p:nvPr/>
        </p:nvSpPr>
        <p:spPr>
          <a:xfrm>
            <a:off x="822960" y="2011680"/>
            <a:ext cx="1554480" cy="1554480"/>
          </a:xfrm>
          <a:prstGeom prst="ellipse">
            <a:avLst/>
          </a:prstGeom>
          <a:solidFill>
            <a:srgbClr val="A56209"/>
          </a:solidFill>
          <a:ln/>
          <a:effectLst>
            <a:outerShdw sx="100000" sy="100000" kx="0" ky="0" algn="bl" rotWithShape="0" blurRad="177800" dist="50800" dir="5400000">
              <a:srgbClr val="A56209">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a:t>
            </a:r>
            <a:endParaRPr lang="en-US" sz="6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A56209"/>
                </a:solidFill>
                <a:latin typeface="Calibri" pitchFamily="34" charset="0"/>
                <a:ea typeface="Calibri" pitchFamily="34" charset="-122"/>
                <a:cs typeface="Calibri" pitchFamily="34" charset="-120"/>
              </a:rPr>
              <a:t>SIRA SENDE 5 / 5</a:t>
            </a:r>
            <a:endParaRPr lang="en-US" sz="1300" dirty="0"/>
          </a:p>
        </p:txBody>
      </p:sp>
      <p:sp>
        <p:nvSpPr>
          <p:cNvPr id="6" name="Shape 4"/>
          <p:cNvSpPr/>
          <p:nvPr/>
        </p:nvSpPr>
        <p:spPr>
          <a:xfrm>
            <a:off x="10408615" y="1371600"/>
            <a:ext cx="1143000" cy="384048"/>
          </a:xfrm>
          <a:prstGeom prst="roundRect">
            <a:avLst>
              <a:gd name="adj" fmla="val 50000"/>
            </a:avLst>
          </a:prstGeom>
          <a:solidFill>
            <a:srgbClr val="FBE9EE"/>
          </a:solidFill>
          <a:ln w="9525">
            <a:solidFill>
              <a:srgbClr val="C53455"/>
            </a:solidFill>
            <a:prstDash val="solid"/>
          </a:ln>
        </p:spPr>
      </p:sp>
      <p:sp>
        <p:nvSpPr>
          <p:cNvPr id="7" name="Text 5"/>
          <p:cNvSpPr txBox="1"/>
          <p:nvPr/>
        </p:nvSpPr>
        <p:spPr>
          <a:xfrm>
            <a:off x="10408615" y="1371600"/>
            <a:ext cx="1143000" cy="384048"/>
          </a:xfrm>
          <a:prstGeom prst="rect">
            <a:avLst/>
          </a:prstGeom>
          <a:noFill/>
          <a:ln/>
        </p:spPr>
        <p:txBody>
          <a:bodyPr wrap="square" lIns="0" tIns="0" rIns="0" bIns="0" rtlCol="0" anchor="ctr"/>
          <a:lstStyle/>
          <a:p>
            <a:pPr algn="ctr" indent="0" marL="0">
              <a:buNone/>
            </a:pPr>
            <a:r>
              <a:rPr lang="en-US" sz="1150" b="1" spc="200" kern="0" dirty="0">
                <a:solidFill>
                  <a:srgbClr val="C53455"/>
                </a:solidFill>
                <a:latin typeface="Calibri" pitchFamily="34" charset="0"/>
                <a:ea typeface="Calibri" pitchFamily="34" charset="-122"/>
                <a:cs typeface="Calibri" pitchFamily="34" charset="-120"/>
              </a:rPr>
              <a:t>ZOR</a:t>
            </a:r>
            <a:endParaRPr lang="en-US" sz="1150" dirty="0"/>
          </a:p>
        </p:txBody>
      </p:sp>
      <p:sp>
        <p:nvSpPr>
          <p:cNvPr id="8" name="Text 6"/>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Sürtünmesiz bir makaranın iki yanında, iple bağlı 3 kg ve 2 kg'lık iki yük asılı. Serbest bırakılınca sistemin ivmesi ve ipteki gerilme ne olur?</a:t>
            </a:r>
            <a:endParaRPr lang="en-US" sz="3200" dirty="0"/>
          </a:p>
        </p:txBody>
      </p:sp>
      <p:sp>
        <p:nvSpPr>
          <p:cNvPr id="9" name="Text 7"/>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Önce kendin çöz, sonra cevaba bak. Her soruda önce verilenleri ve isteneni yaz. (g = 10 m/s²)</a:t>
            </a:r>
            <a:pPr indent="0" marL="0">
              <a:buNone/>
            </a:pPr>
            <a:r>
              <a:rPr lang="en-US" sz="1200" b="1" dirty="0">
                <a:solidFill>
                  <a:srgbClr val="A56209"/>
                </a:solidFill>
                <a:latin typeface="Calibri" pitchFamily="34" charset="0"/>
                <a:ea typeface="Calibri" pitchFamily="34" charset="-122"/>
                <a:cs typeface="Calibri" pitchFamily="34" charset="-120"/>
              </a:rPr>
              <a:t>     Cevap bir sonraki slaytta</a:t>
            </a:r>
            <a:endParaRPr lang="en-US" sz="12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dersler.perinet.org/newton-yasalari.html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139</a:t>
            </a:r>
            <a:endParaRPr lang="en-US" sz="1050"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3" name="Shape 1"/>
          <p:cNvSpPr/>
          <p:nvPr/>
        </p:nvSpPr>
        <p:spPr>
          <a:xfrm>
            <a:off x="640080" y="457200"/>
            <a:ext cx="493776" cy="493776"/>
          </a:xfrm>
          <a:prstGeom prst="roundRect">
            <a:avLst>
              <a:gd name="adj" fmla="val 25926"/>
            </a:avLst>
          </a:prstGeom>
          <a:solidFill>
            <a:srgbClr val="A56209"/>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Sürtünmesiz bir makaranın iki yanında, iple bağlı 3 kg ve 2 kg'lık iki yük asılı. Serbest bırakılınca sistemin ivmesi ve ipteki gerilme ne olur?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A56209"/>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400" b="1" dirty="0">
                <a:solidFill>
                  <a:srgbClr val="A56209"/>
                </a:solidFill>
                <a:latin typeface="Calibri" pitchFamily="34" charset="0"/>
                <a:ea typeface="Calibri" pitchFamily="34" charset="-122"/>
                <a:cs typeface="Calibri" pitchFamily="34" charset="-120"/>
              </a:rPr>
              <a:t>Cevap:</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3 kg'lık yük aşağı, 2 kg'lık yük yukarı gider. Sistemi yürüten net kuvvet 30 − 20 = 10 N, toplam kütle 5 kg: a = 10 / 5 = </a:t>
            </a:r>
            <a:pPr indent="0" marL="0">
              <a:lnSpc>
                <a:spcPct val="125000"/>
              </a:lnSpc>
              <a:buNone/>
            </a:pPr>
            <a:r>
              <a:rPr lang="en-US" sz="2400" b="1" dirty="0">
                <a:solidFill>
                  <a:srgbClr val="A56209"/>
                </a:solidFill>
                <a:latin typeface="Calibri" pitchFamily="34" charset="0"/>
                <a:ea typeface="Calibri" pitchFamily="34" charset="-122"/>
                <a:cs typeface="Calibri" pitchFamily="34" charset="-120"/>
              </a:rPr>
              <a:t>2 m/s²</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Yukarı çıkan 2 kg'lık yük için T − 20 = 2 · 2 → </a:t>
            </a:r>
            <a:pPr indent="0" marL="0">
              <a:lnSpc>
                <a:spcPct val="125000"/>
              </a:lnSpc>
              <a:buNone/>
            </a:pPr>
            <a:r>
              <a:rPr lang="en-US" sz="2400" b="1" dirty="0">
                <a:solidFill>
                  <a:srgbClr val="A56209"/>
                </a:solidFill>
                <a:latin typeface="Calibri" pitchFamily="34" charset="0"/>
                <a:ea typeface="Calibri" pitchFamily="34" charset="-122"/>
                <a:cs typeface="Calibri" pitchFamily="34" charset="-120"/>
              </a:rPr>
              <a:t>T = 24 N</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Kontrol (3 kg): 30 − 24 = 6 N = 3 · 2 ✓</a:t>
            </a:r>
            <a:endParaRPr lang="en-US" sz="24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dersler.perinet.org/newton-yasalari.html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140</a:t>
            </a:r>
            <a:endParaRPr lang="en-US" sz="1050"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C53455"/>
          </a:solidFill>
          <a:ln/>
          <a:effectLst>
            <a:outerShdw sx="100000" sy="100000" kx="0" ky="0" algn="bl" rotWithShape="0" blurRad="101600" dist="25400" dir="5400000">
              <a:srgbClr val="C53455">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15</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Sık yapılan hatalar · 1 / 2</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6" name="Text 4"/>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Sınavda puan kaybettiren klasikler ve doğrusu.</a:t>
            </a:r>
            <a:endParaRPr lang="en-US" sz="1450" dirty="0"/>
          </a:p>
        </p:txBody>
      </p:sp>
      <p:sp>
        <p:nvSpPr>
          <p:cNvPr id="7" name="Shape 5"/>
          <p:cNvSpPr/>
          <p:nvPr/>
        </p:nvSpPr>
        <p:spPr>
          <a:xfrm>
            <a:off x="640080" y="1627632"/>
            <a:ext cx="5346040" cy="2176272"/>
          </a:xfrm>
          <a:prstGeom prst="roundRect">
            <a:avLst>
              <a:gd name="adj" fmla="val 6723"/>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841248" y="1792224"/>
            <a:ext cx="310896" cy="310896"/>
          </a:xfrm>
          <a:prstGeom prst="roundRect">
            <a:avLst>
              <a:gd name="adj" fmla="val 26471"/>
            </a:avLst>
          </a:prstGeom>
          <a:solidFill>
            <a:srgbClr val="FBE9EE"/>
          </a:solidFill>
          <a:ln/>
        </p:spPr>
      </p:sp>
      <p:sp>
        <p:nvSpPr>
          <p:cNvPr id="9" name="Text 7"/>
          <p:cNvSpPr txBox="1"/>
          <p:nvPr/>
        </p:nvSpPr>
        <p:spPr>
          <a:xfrm>
            <a:off x="841248" y="1792224"/>
            <a:ext cx="310896" cy="310896"/>
          </a:xfrm>
          <a:prstGeom prst="rect">
            <a:avLst/>
          </a:prstGeom>
          <a:noFill/>
          <a:ln/>
        </p:spPr>
        <p:txBody>
          <a:bodyPr wrap="square" lIns="0" tIns="0" rIns="0" bIns="0" rtlCol="0" anchor="ctr"/>
          <a:lstStyle/>
          <a:p>
            <a:pPr algn="ctr" indent="0" marL="0">
              <a:buNone/>
            </a:pPr>
            <a:r>
              <a:rPr lang="en-US" sz="1400" b="1" dirty="0">
                <a:solidFill>
                  <a:srgbClr val="C53455"/>
                </a:solidFill>
                <a:latin typeface="Calibri" pitchFamily="34" charset="0"/>
                <a:ea typeface="Calibri" pitchFamily="34" charset="-122"/>
                <a:cs typeface="Calibri" pitchFamily="34" charset="-120"/>
              </a:rPr>
              <a:t>✗</a:t>
            </a:r>
            <a:endParaRPr lang="en-US" sz="1400" dirty="0"/>
          </a:p>
        </p:txBody>
      </p:sp>
      <p:sp>
        <p:nvSpPr>
          <p:cNvPr id="10" name="Text 8"/>
          <p:cNvSpPr txBox="1"/>
          <p:nvPr/>
        </p:nvSpPr>
        <p:spPr>
          <a:xfrm>
            <a:off x="1280160" y="1755648"/>
            <a:ext cx="4523080" cy="739140"/>
          </a:xfrm>
          <a:prstGeom prst="rect">
            <a:avLst/>
          </a:prstGeom>
          <a:noFill/>
          <a:ln/>
        </p:spPr>
        <p:txBody>
          <a:bodyPr wrap="square" lIns="0" tIns="0" rIns="0" bIns="0" rtlCol="0" anchor="t"/>
          <a:lstStyle/>
          <a:p>
            <a:pPr indent="0" marL="0">
              <a:lnSpc>
                <a:spcPct val="108000"/>
              </a:lnSpc>
              <a:buNone/>
            </a:pPr>
            <a:r>
              <a:rPr lang="en-US" sz="1900" b="1" dirty="0">
                <a:solidFill>
                  <a:srgbClr val="0E1426"/>
                </a:solidFill>
                <a:latin typeface="Calibri" pitchFamily="34" charset="0"/>
                <a:ea typeface="Calibri" pitchFamily="34" charset="-122"/>
                <a:cs typeface="Calibri" pitchFamily="34" charset="-120"/>
              </a:rPr>
              <a:t>“Hareket eden cisme mutlaka kuvvet etki eder.”</a:t>
            </a:r>
            <a:endParaRPr lang="en-US" sz="1900" dirty="0"/>
          </a:p>
        </p:txBody>
      </p:sp>
      <p:sp>
        <p:nvSpPr>
          <p:cNvPr id="11" name="Shape 9"/>
          <p:cNvSpPr/>
          <p:nvPr/>
        </p:nvSpPr>
        <p:spPr>
          <a:xfrm>
            <a:off x="841248" y="2604516"/>
            <a:ext cx="310896" cy="310896"/>
          </a:xfrm>
          <a:prstGeom prst="roundRect">
            <a:avLst>
              <a:gd name="adj" fmla="val 26471"/>
            </a:avLst>
          </a:prstGeom>
          <a:solidFill>
            <a:srgbClr val="EAF7DC"/>
          </a:solidFill>
          <a:ln/>
        </p:spPr>
      </p:sp>
      <p:sp>
        <p:nvSpPr>
          <p:cNvPr id="12" name="Text 10"/>
          <p:cNvSpPr txBox="1"/>
          <p:nvPr/>
        </p:nvSpPr>
        <p:spPr>
          <a:xfrm>
            <a:off x="841248" y="2604516"/>
            <a:ext cx="310896" cy="310896"/>
          </a:xfrm>
          <a:prstGeom prst="rect">
            <a:avLst/>
          </a:prstGeom>
          <a:noFill/>
          <a:ln/>
        </p:spPr>
        <p:txBody>
          <a:bodyPr wrap="square" lIns="0" tIns="0" rIns="0" bIns="0" rtlCol="0" anchor="ctr"/>
          <a:lstStyle/>
          <a:p>
            <a:pPr algn="ctr" indent="0" marL="0">
              <a:buNone/>
            </a:pPr>
            <a:r>
              <a:rPr lang="en-US" sz="1400" b="1" dirty="0">
                <a:solidFill>
                  <a:srgbClr val="3C8C21"/>
                </a:solidFill>
                <a:latin typeface="Calibri" pitchFamily="34" charset="0"/>
                <a:ea typeface="Calibri" pitchFamily="34" charset="-122"/>
                <a:cs typeface="Calibri" pitchFamily="34" charset="-120"/>
              </a:rPr>
              <a:t>✓</a:t>
            </a:r>
            <a:endParaRPr lang="en-US" sz="1400" dirty="0"/>
          </a:p>
        </p:txBody>
      </p:sp>
      <p:sp>
        <p:nvSpPr>
          <p:cNvPr id="13" name="Text 11"/>
          <p:cNvSpPr txBox="1"/>
          <p:nvPr/>
        </p:nvSpPr>
        <p:spPr>
          <a:xfrm>
            <a:off x="1280160" y="2586228"/>
            <a:ext cx="4523080" cy="1089660"/>
          </a:xfrm>
          <a:prstGeom prst="rect">
            <a:avLst/>
          </a:prstGeom>
          <a:noFill/>
          <a:ln/>
        </p:spPr>
        <p:txBody>
          <a:bodyPr wrap="square" lIns="0" tIns="0" rIns="0" bIns="0" rtlCol="0" anchor="t"/>
          <a:lstStyle/>
          <a:p>
            <a:pPr indent="0" marL="0">
              <a:lnSpc>
                <a:spcPct val="108000"/>
              </a:lnSpc>
              <a:buNone/>
            </a:pPr>
            <a:r>
              <a:rPr lang="en-US" sz="1700" dirty="0">
                <a:solidFill>
                  <a:srgbClr val="4A5470"/>
                </a:solidFill>
                <a:latin typeface="Calibri" pitchFamily="34" charset="0"/>
                <a:ea typeface="Calibri" pitchFamily="34" charset="-122"/>
                <a:cs typeface="Calibri" pitchFamily="34" charset="-120"/>
              </a:rPr>
              <a:t> Sabit hızla giden cisimde net kuvvet sıfırdır. Kuvvet hareketi değil, </a:t>
            </a:r>
            <a:pPr indent="0" marL="0">
              <a:lnSpc>
                <a:spcPct val="108000"/>
              </a:lnSpc>
              <a:buNone/>
            </a:pPr>
            <a:r>
              <a:rPr lang="en-US" sz="1700" i="1" dirty="0">
                <a:solidFill>
                  <a:srgbClr val="4A5470"/>
                </a:solidFill>
                <a:latin typeface="Calibri" pitchFamily="34" charset="0"/>
                <a:ea typeface="Calibri" pitchFamily="34" charset="-122"/>
                <a:cs typeface="Calibri" pitchFamily="34" charset="-120"/>
              </a:rPr>
              <a:t>hareketteki değişimi</a:t>
            </a:r>
            <a:pPr indent="0" marL="0">
              <a:lnSpc>
                <a:spcPct val="108000"/>
              </a:lnSpc>
              <a:buNone/>
            </a:pPr>
            <a:r>
              <a:rPr lang="en-US" sz="1700" dirty="0">
                <a:solidFill>
                  <a:srgbClr val="4A5470"/>
                </a:solidFill>
                <a:latin typeface="Calibri" pitchFamily="34" charset="0"/>
                <a:ea typeface="Calibri" pitchFamily="34" charset="-122"/>
                <a:cs typeface="Calibri" pitchFamily="34" charset="-120"/>
              </a:rPr>
              <a:t> doğurur.</a:t>
            </a:r>
            <a:endParaRPr lang="en-US" sz="1700" dirty="0"/>
          </a:p>
        </p:txBody>
      </p:sp>
      <p:sp>
        <p:nvSpPr>
          <p:cNvPr id="14" name="Shape 12"/>
          <p:cNvSpPr/>
          <p:nvPr/>
        </p:nvSpPr>
        <p:spPr>
          <a:xfrm>
            <a:off x="6205576" y="1627632"/>
            <a:ext cx="5346040" cy="2176272"/>
          </a:xfrm>
          <a:prstGeom prst="roundRect">
            <a:avLst>
              <a:gd name="adj" fmla="val 6723"/>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5" name="Shape 13"/>
          <p:cNvSpPr/>
          <p:nvPr/>
        </p:nvSpPr>
        <p:spPr>
          <a:xfrm>
            <a:off x="6406744" y="1792224"/>
            <a:ext cx="310896" cy="310896"/>
          </a:xfrm>
          <a:prstGeom prst="roundRect">
            <a:avLst>
              <a:gd name="adj" fmla="val 26471"/>
            </a:avLst>
          </a:prstGeom>
          <a:solidFill>
            <a:srgbClr val="FBE9EE"/>
          </a:solidFill>
          <a:ln/>
        </p:spPr>
      </p:sp>
      <p:sp>
        <p:nvSpPr>
          <p:cNvPr id="16" name="Text 14"/>
          <p:cNvSpPr txBox="1"/>
          <p:nvPr/>
        </p:nvSpPr>
        <p:spPr>
          <a:xfrm>
            <a:off x="6406744" y="1792224"/>
            <a:ext cx="310896" cy="310896"/>
          </a:xfrm>
          <a:prstGeom prst="rect">
            <a:avLst/>
          </a:prstGeom>
          <a:noFill/>
          <a:ln/>
        </p:spPr>
        <p:txBody>
          <a:bodyPr wrap="square" lIns="0" tIns="0" rIns="0" bIns="0" rtlCol="0" anchor="ctr"/>
          <a:lstStyle/>
          <a:p>
            <a:pPr algn="ctr" indent="0" marL="0">
              <a:buNone/>
            </a:pPr>
            <a:r>
              <a:rPr lang="en-US" sz="1400" b="1" dirty="0">
                <a:solidFill>
                  <a:srgbClr val="C53455"/>
                </a:solidFill>
                <a:latin typeface="Calibri" pitchFamily="34" charset="0"/>
                <a:ea typeface="Calibri" pitchFamily="34" charset="-122"/>
                <a:cs typeface="Calibri" pitchFamily="34" charset="-120"/>
              </a:rPr>
              <a:t>✗</a:t>
            </a:r>
            <a:endParaRPr lang="en-US" sz="1400" dirty="0"/>
          </a:p>
        </p:txBody>
      </p:sp>
      <p:sp>
        <p:nvSpPr>
          <p:cNvPr id="17" name="Text 15"/>
          <p:cNvSpPr txBox="1"/>
          <p:nvPr/>
        </p:nvSpPr>
        <p:spPr>
          <a:xfrm>
            <a:off x="6845656" y="1755648"/>
            <a:ext cx="4523080" cy="406146"/>
          </a:xfrm>
          <a:prstGeom prst="rect">
            <a:avLst/>
          </a:prstGeom>
          <a:noFill/>
          <a:ln/>
        </p:spPr>
        <p:txBody>
          <a:bodyPr wrap="square" lIns="0" tIns="0" rIns="0" bIns="0" rtlCol="0" anchor="t"/>
          <a:lstStyle/>
          <a:p>
            <a:pPr indent="0" marL="0">
              <a:lnSpc>
                <a:spcPct val="108000"/>
              </a:lnSpc>
              <a:buNone/>
            </a:pPr>
            <a:r>
              <a:rPr lang="en-US" sz="1900" b="1" dirty="0">
                <a:solidFill>
                  <a:srgbClr val="0E1426"/>
                </a:solidFill>
                <a:latin typeface="Calibri" pitchFamily="34" charset="0"/>
                <a:ea typeface="Calibri" pitchFamily="34" charset="-122"/>
                <a:cs typeface="Calibri" pitchFamily="34" charset="-120"/>
              </a:rPr>
              <a:t>“Etki ve tepki birbirini dengeler.”</a:t>
            </a:r>
            <a:endParaRPr lang="en-US" sz="1900" dirty="0"/>
          </a:p>
        </p:txBody>
      </p:sp>
      <p:sp>
        <p:nvSpPr>
          <p:cNvPr id="18" name="Shape 16"/>
          <p:cNvSpPr/>
          <p:nvPr/>
        </p:nvSpPr>
        <p:spPr>
          <a:xfrm>
            <a:off x="6406744" y="2271522"/>
            <a:ext cx="310896" cy="310896"/>
          </a:xfrm>
          <a:prstGeom prst="roundRect">
            <a:avLst>
              <a:gd name="adj" fmla="val 26471"/>
            </a:avLst>
          </a:prstGeom>
          <a:solidFill>
            <a:srgbClr val="EAF7DC"/>
          </a:solidFill>
          <a:ln/>
        </p:spPr>
      </p:sp>
      <p:sp>
        <p:nvSpPr>
          <p:cNvPr id="19" name="Text 17"/>
          <p:cNvSpPr txBox="1"/>
          <p:nvPr/>
        </p:nvSpPr>
        <p:spPr>
          <a:xfrm>
            <a:off x="6406744" y="2271522"/>
            <a:ext cx="310896" cy="310896"/>
          </a:xfrm>
          <a:prstGeom prst="rect">
            <a:avLst/>
          </a:prstGeom>
          <a:noFill/>
          <a:ln/>
        </p:spPr>
        <p:txBody>
          <a:bodyPr wrap="square" lIns="0" tIns="0" rIns="0" bIns="0" rtlCol="0" anchor="ctr"/>
          <a:lstStyle/>
          <a:p>
            <a:pPr algn="ctr" indent="0" marL="0">
              <a:buNone/>
            </a:pPr>
            <a:r>
              <a:rPr lang="en-US" sz="1400" b="1" dirty="0">
                <a:solidFill>
                  <a:srgbClr val="3C8C21"/>
                </a:solidFill>
                <a:latin typeface="Calibri" pitchFamily="34" charset="0"/>
                <a:ea typeface="Calibri" pitchFamily="34" charset="-122"/>
                <a:cs typeface="Calibri" pitchFamily="34" charset="-120"/>
              </a:rPr>
              <a:t>✓</a:t>
            </a:r>
            <a:endParaRPr lang="en-US" sz="1400" dirty="0"/>
          </a:p>
        </p:txBody>
      </p:sp>
      <p:sp>
        <p:nvSpPr>
          <p:cNvPr id="20" name="Text 18"/>
          <p:cNvSpPr txBox="1"/>
          <p:nvPr/>
        </p:nvSpPr>
        <p:spPr>
          <a:xfrm>
            <a:off x="6845656" y="2253234"/>
            <a:ext cx="4523080" cy="1422654"/>
          </a:xfrm>
          <a:prstGeom prst="rect">
            <a:avLst/>
          </a:prstGeom>
          <a:noFill/>
          <a:ln/>
        </p:spPr>
        <p:txBody>
          <a:bodyPr wrap="square" lIns="0" tIns="0" rIns="0" bIns="0" rtlCol="0" anchor="t"/>
          <a:lstStyle/>
          <a:p>
            <a:pPr indent="0" marL="0">
              <a:lnSpc>
                <a:spcPct val="108000"/>
              </a:lnSpc>
              <a:buNone/>
            </a:pPr>
            <a:r>
              <a:rPr lang="en-US" sz="1700" dirty="0">
                <a:solidFill>
                  <a:srgbClr val="4A5470"/>
                </a:solidFill>
                <a:latin typeface="Calibri" pitchFamily="34" charset="0"/>
                <a:ea typeface="Calibri" pitchFamily="34" charset="-122"/>
                <a:cs typeface="Calibri" pitchFamily="34" charset="-120"/>
              </a:rPr>
              <a:t> Farklı cisimlere etki ettikleri için dengeleyemezler; dengeleme aynı cisimdeki kuvvetler arasında olur.</a:t>
            </a:r>
            <a:endParaRPr lang="en-US" sz="1700" dirty="0"/>
          </a:p>
        </p:txBody>
      </p:sp>
      <p:sp>
        <p:nvSpPr>
          <p:cNvPr id="21" name="Shape 19"/>
          <p:cNvSpPr/>
          <p:nvPr/>
        </p:nvSpPr>
        <p:spPr>
          <a:xfrm>
            <a:off x="640080" y="3968496"/>
            <a:ext cx="5346040" cy="2176272"/>
          </a:xfrm>
          <a:prstGeom prst="roundRect">
            <a:avLst>
              <a:gd name="adj" fmla="val 6723"/>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2" name="Shape 20"/>
          <p:cNvSpPr/>
          <p:nvPr/>
        </p:nvSpPr>
        <p:spPr>
          <a:xfrm>
            <a:off x="841248" y="4133088"/>
            <a:ext cx="310896" cy="310896"/>
          </a:xfrm>
          <a:prstGeom prst="roundRect">
            <a:avLst>
              <a:gd name="adj" fmla="val 26471"/>
            </a:avLst>
          </a:prstGeom>
          <a:solidFill>
            <a:srgbClr val="FBE9EE"/>
          </a:solidFill>
          <a:ln/>
        </p:spPr>
      </p:sp>
      <p:sp>
        <p:nvSpPr>
          <p:cNvPr id="23" name="Text 21"/>
          <p:cNvSpPr txBox="1"/>
          <p:nvPr/>
        </p:nvSpPr>
        <p:spPr>
          <a:xfrm>
            <a:off x="841248" y="4133088"/>
            <a:ext cx="310896" cy="310896"/>
          </a:xfrm>
          <a:prstGeom prst="rect">
            <a:avLst/>
          </a:prstGeom>
          <a:noFill/>
          <a:ln/>
        </p:spPr>
        <p:txBody>
          <a:bodyPr wrap="square" lIns="0" tIns="0" rIns="0" bIns="0" rtlCol="0" anchor="ctr"/>
          <a:lstStyle/>
          <a:p>
            <a:pPr algn="ctr" indent="0" marL="0">
              <a:buNone/>
            </a:pPr>
            <a:r>
              <a:rPr lang="en-US" sz="1400" b="1" dirty="0">
                <a:solidFill>
                  <a:srgbClr val="C53455"/>
                </a:solidFill>
                <a:latin typeface="Calibri" pitchFamily="34" charset="0"/>
                <a:ea typeface="Calibri" pitchFamily="34" charset="-122"/>
                <a:cs typeface="Calibri" pitchFamily="34" charset="-120"/>
              </a:rPr>
              <a:t>✗</a:t>
            </a:r>
            <a:endParaRPr lang="en-US" sz="1400" dirty="0"/>
          </a:p>
        </p:txBody>
      </p:sp>
      <p:sp>
        <p:nvSpPr>
          <p:cNvPr id="24" name="Text 22"/>
          <p:cNvSpPr txBox="1"/>
          <p:nvPr/>
        </p:nvSpPr>
        <p:spPr>
          <a:xfrm>
            <a:off x="1280160" y="4096512"/>
            <a:ext cx="4523080" cy="406146"/>
          </a:xfrm>
          <a:prstGeom prst="rect">
            <a:avLst/>
          </a:prstGeom>
          <a:noFill/>
          <a:ln/>
        </p:spPr>
        <p:txBody>
          <a:bodyPr wrap="square" lIns="0" tIns="0" rIns="0" bIns="0" rtlCol="0" anchor="t"/>
          <a:lstStyle/>
          <a:p>
            <a:pPr indent="0" marL="0">
              <a:lnSpc>
                <a:spcPct val="108000"/>
              </a:lnSpc>
              <a:buNone/>
            </a:pPr>
            <a:r>
              <a:rPr lang="en-US" sz="1900" b="1" dirty="0">
                <a:solidFill>
                  <a:srgbClr val="0E1426"/>
                </a:solidFill>
                <a:latin typeface="Calibri" pitchFamily="34" charset="0"/>
                <a:ea typeface="Calibri" pitchFamily="34" charset="-122"/>
                <a:cs typeface="Calibri" pitchFamily="34" charset="-120"/>
              </a:rPr>
              <a:t>“Kütle ile ağırlık aynı şeydir.”</a:t>
            </a:r>
            <a:endParaRPr lang="en-US" sz="1900" dirty="0"/>
          </a:p>
        </p:txBody>
      </p:sp>
      <p:sp>
        <p:nvSpPr>
          <p:cNvPr id="25" name="Shape 23"/>
          <p:cNvSpPr/>
          <p:nvPr/>
        </p:nvSpPr>
        <p:spPr>
          <a:xfrm>
            <a:off x="841248" y="4612386"/>
            <a:ext cx="310896" cy="310896"/>
          </a:xfrm>
          <a:prstGeom prst="roundRect">
            <a:avLst>
              <a:gd name="adj" fmla="val 26471"/>
            </a:avLst>
          </a:prstGeom>
          <a:solidFill>
            <a:srgbClr val="EAF7DC"/>
          </a:solidFill>
          <a:ln/>
        </p:spPr>
      </p:sp>
      <p:sp>
        <p:nvSpPr>
          <p:cNvPr id="26" name="Text 24"/>
          <p:cNvSpPr txBox="1"/>
          <p:nvPr/>
        </p:nvSpPr>
        <p:spPr>
          <a:xfrm>
            <a:off x="841248" y="4612386"/>
            <a:ext cx="310896" cy="310896"/>
          </a:xfrm>
          <a:prstGeom prst="rect">
            <a:avLst/>
          </a:prstGeom>
          <a:noFill/>
          <a:ln/>
        </p:spPr>
        <p:txBody>
          <a:bodyPr wrap="square" lIns="0" tIns="0" rIns="0" bIns="0" rtlCol="0" anchor="ctr"/>
          <a:lstStyle/>
          <a:p>
            <a:pPr algn="ctr" indent="0" marL="0">
              <a:buNone/>
            </a:pPr>
            <a:r>
              <a:rPr lang="en-US" sz="1400" b="1" dirty="0">
                <a:solidFill>
                  <a:srgbClr val="3C8C21"/>
                </a:solidFill>
                <a:latin typeface="Calibri" pitchFamily="34" charset="0"/>
                <a:ea typeface="Calibri" pitchFamily="34" charset="-122"/>
                <a:cs typeface="Calibri" pitchFamily="34" charset="-120"/>
              </a:rPr>
              <a:t>✓</a:t>
            </a:r>
            <a:endParaRPr lang="en-US" sz="1400" dirty="0"/>
          </a:p>
        </p:txBody>
      </p:sp>
      <p:sp>
        <p:nvSpPr>
          <p:cNvPr id="27" name="Text 25"/>
          <p:cNvSpPr txBox="1"/>
          <p:nvPr/>
        </p:nvSpPr>
        <p:spPr>
          <a:xfrm>
            <a:off x="1280160" y="4594098"/>
            <a:ext cx="4523080" cy="1422654"/>
          </a:xfrm>
          <a:prstGeom prst="rect">
            <a:avLst/>
          </a:prstGeom>
          <a:noFill/>
          <a:ln/>
        </p:spPr>
        <p:txBody>
          <a:bodyPr wrap="square" lIns="0" tIns="0" rIns="0" bIns="0" rtlCol="0" anchor="t"/>
          <a:lstStyle/>
          <a:p>
            <a:pPr indent="0" marL="0">
              <a:lnSpc>
                <a:spcPct val="108000"/>
              </a:lnSpc>
              <a:buNone/>
            </a:pPr>
            <a:r>
              <a:rPr lang="en-US" sz="1700" dirty="0">
                <a:solidFill>
                  <a:srgbClr val="4A5470"/>
                </a:solidFill>
                <a:latin typeface="Calibri" pitchFamily="34" charset="0"/>
                <a:ea typeface="Calibri" pitchFamily="34" charset="-122"/>
                <a:cs typeface="Calibri" pitchFamily="34" charset="-120"/>
              </a:rPr>
              <a:t> Kütle kg, ağırlık N ile ölçülür; biri skaler, diğeri vektördür.</a:t>
            </a:r>
            <a:endParaRPr lang="en-US" sz="1700" dirty="0"/>
          </a:p>
        </p:txBody>
      </p:sp>
      <p:sp>
        <p:nvSpPr>
          <p:cNvPr id="28" name="Shape 26"/>
          <p:cNvSpPr/>
          <p:nvPr/>
        </p:nvSpPr>
        <p:spPr>
          <a:xfrm>
            <a:off x="6205576" y="3968496"/>
            <a:ext cx="5346040" cy="2176272"/>
          </a:xfrm>
          <a:prstGeom prst="roundRect">
            <a:avLst>
              <a:gd name="adj" fmla="val 6723"/>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9" name="Shape 27"/>
          <p:cNvSpPr/>
          <p:nvPr/>
        </p:nvSpPr>
        <p:spPr>
          <a:xfrm>
            <a:off x="6406744" y="4133088"/>
            <a:ext cx="310896" cy="310896"/>
          </a:xfrm>
          <a:prstGeom prst="roundRect">
            <a:avLst>
              <a:gd name="adj" fmla="val 26471"/>
            </a:avLst>
          </a:prstGeom>
          <a:solidFill>
            <a:srgbClr val="FBE9EE"/>
          </a:solidFill>
          <a:ln/>
        </p:spPr>
      </p:sp>
      <p:sp>
        <p:nvSpPr>
          <p:cNvPr id="30" name="Text 28"/>
          <p:cNvSpPr txBox="1"/>
          <p:nvPr/>
        </p:nvSpPr>
        <p:spPr>
          <a:xfrm>
            <a:off x="6406744" y="4133088"/>
            <a:ext cx="310896" cy="310896"/>
          </a:xfrm>
          <a:prstGeom prst="rect">
            <a:avLst/>
          </a:prstGeom>
          <a:noFill/>
          <a:ln/>
        </p:spPr>
        <p:txBody>
          <a:bodyPr wrap="square" lIns="0" tIns="0" rIns="0" bIns="0" rtlCol="0" anchor="ctr"/>
          <a:lstStyle/>
          <a:p>
            <a:pPr algn="ctr" indent="0" marL="0">
              <a:buNone/>
            </a:pPr>
            <a:r>
              <a:rPr lang="en-US" sz="1400" b="1" dirty="0">
                <a:solidFill>
                  <a:srgbClr val="C53455"/>
                </a:solidFill>
                <a:latin typeface="Calibri" pitchFamily="34" charset="0"/>
                <a:ea typeface="Calibri" pitchFamily="34" charset="-122"/>
                <a:cs typeface="Calibri" pitchFamily="34" charset="-120"/>
              </a:rPr>
              <a:t>✗</a:t>
            </a:r>
            <a:endParaRPr lang="en-US" sz="1400" dirty="0"/>
          </a:p>
        </p:txBody>
      </p:sp>
      <p:sp>
        <p:nvSpPr>
          <p:cNvPr id="31" name="Text 29"/>
          <p:cNvSpPr txBox="1"/>
          <p:nvPr/>
        </p:nvSpPr>
        <p:spPr>
          <a:xfrm>
            <a:off x="6845656" y="4096512"/>
            <a:ext cx="4523080" cy="406146"/>
          </a:xfrm>
          <a:prstGeom prst="rect">
            <a:avLst/>
          </a:prstGeom>
          <a:noFill/>
          <a:ln/>
        </p:spPr>
        <p:txBody>
          <a:bodyPr wrap="square" lIns="0" tIns="0" rIns="0" bIns="0" rtlCol="0" anchor="t"/>
          <a:lstStyle/>
          <a:p>
            <a:pPr indent="0" marL="0">
              <a:lnSpc>
                <a:spcPct val="108000"/>
              </a:lnSpc>
              <a:buNone/>
            </a:pPr>
            <a:r>
              <a:rPr lang="en-US" sz="1900" b="1" dirty="0">
                <a:solidFill>
                  <a:srgbClr val="0E1426"/>
                </a:solidFill>
                <a:latin typeface="Calibri" pitchFamily="34" charset="0"/>
                <a:ea typeface="Calibri" pitchFamily="34" charset="-122"/>
                <a:cs typeface="Calibri" pitchFamily="34" charset="-120"/>
              </a:rPr>
              <a:t>“Normal kuvvet her zaman m·g'dir.”</a:t>
            </a:r>
            <a:endParaRPr lang="en-US" sz="1900" dirty="0"/>
          </a:p>
        </p:txBody>
      </p:sp>
      <p:sp>
        <p:nvSpPr>
          <p:cNvPr id="32" name="Shape 30"/>
          <p:cNvSpPr/>
          <p:nvPr/>
        </p:nvSpPr>
        <p:spPr>
          <a:xfrm>
            <a:off x="6406744" y="4612386"/>
            <a:ext cx="310896" cy="310896"/>
          </a:xfrm>
          <a:prstGeom prst="roundRect">
            <a:avLst>
              <a:gd name="adj" fmla="val 26471"/>
            </a:avLst>
          </a:prstGeom>
          <a:solidFill>
            <a:srgbClr val="EAF7DC"/>
          </a:solidFill>
          <a:ln/>
        </p:spPr>
      </p:sp>
      <p:sp>
        <p:nvSpPr>
          <p:cNvPr id="33" name="Text 31"/>
          <p:cNvSpPr txBox="1"/>
          <p:nvPr/>
        </p:nvSpPr>
        <p:spPr>
          <a:xfrm>
            <a:off x="6406744" y="4612386"/>
            <a:ext cx="310896" cy="310896"/>
          </a:xfrm>
          <a:prstGeom prst="rect">
            <a:avLst/>
          </a:prstGeom>
          <a:noFill/>
          <a:ln/>
        </p:spPr>
        <p:txBody>
          <a:bodyPr wrap="square" lIns="0" tIns="0" rIns="0" bIns="0" rtlCol="0" anchor="ctr"/>
          <a:lstStyle/>
          <a:p>
            <a:pPr algn="ctr" indent="0" marL="0">
              <a:buNone/>
            </a:pPr>
            <a:r>
              <a:rPr lang="en-US" sz="1400" b="1" dirty="0">
                <a:solidFill>
                  <a:srgbClr val="3C8C21"/>
                </a:solidFill>
                <a:latin typeface="Calibri" pitchFamily="34" charset="0"/>
                <a:ea typeface="Calibri" pitchFamily="34" charset="-122"/>
                <a:cs typeface="Calibri" pitchFamily="34" charset="-120"/>
              </a:rPr>
              <a:t>✓</a:t>
            </a:r>
            <a:endParaRPr lang="en-US" sz="1400" dirty="0"/>
          </a:p>
        </p:txBody>
      </p:sp>
      <p:sp>
        <p:nvSpPr>
          <p:cNvPr id="34" name="Text 32"/>
          <p:cNvSpPr txBox="1"/>
          <p:nvPr/>
        </p:nvSpPr>
        <p:spPr>
          <a:xfrm>
            <a:off x="6845656" y="4594098"/>
            <a:ext cx="4523080" cy="1422654"/>
          </a:xfrm>
          <a:prstGeom prst="rect">
            <a:avLst/>
          </a:prstGeom>
          <a:noFill/>
          <a:ln/>
        </p:spPr>
        <p:txBody>
          <a:bodyPr wrap="square" lIns="0" tIns="0" rIns="0" bIns="0" rtlCol="0" anchor="t"/>
          <a:lstStyle/>
          <a:p>
            <a:pPr indent="0" marL="0">
              <a:lnSpc>
                <a:spcPct val="108000"/>
              </a:lnSpc>
              <a:buNone/>
            </a:pPr>
            <a:r>
              <a:rPr lang="en-US" sz="1700" dirty="0">
                <a:solidFill>
                  <a:srgbClr val="4A5470"/>
                </a:solidFill>
                <a:latin typeface="Calibri" pitchFamily="34" charset="0"/>
                <a:ea typeface="Calibri" pitchFamily="34" charset="-122"/>
                <a:cs typeface="Calibri" pitchFamily="34" charset="-120"/>
              </a:rPr>
              <a:t> Asansörde, eğik düzlemde ya da eğik bir kuvvet uygulandığında değişir.</a:t>
            </a:r>
            <a:endParaRPr lang="en-US" sz="1700" dirty="0"/>
          </a:p>
        </p:txBody>
      </p:sp>
      <p:sp>
        <p:nvSpPr>
          <p:cNvPr id="35" name="Shape 33"/>
          <p:cNvSpPr/>
          <p:nvPr/>
        </p:nvSpPr>
        <p:spPr>
          <a:xfrm>
            <a:off x="640080" y="6382512"/>
            <a:ext cx="128016" cy="128016"/>
          </a:xfrm>
          <a:prstGeom prst="roundRect">
            <a:avLst>
              <a:gd name="adj" fmla="val 28571"/>
            </a:avLst>
          </a:prstGeom>
          <a:solidFill>
            <a:srgbClr val="A9E648"/>
          </a:solidFill>
          <a:ln/>
        </p:spPr>
      </p:sp>
      <p:sp>
        <p:nvSpPr>
          <p:cNvPr id="36" name="Text 34"/>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dersler.perinet.org/newton-yasalari.html</a:t>
            </a:r>
            <a:endParaRPr lang="en-US" sz="1050" dirty="0"/>
          </a:p>
        </p:txBody>
      </p:sp>
      <p:sp>
        <p:nvSpPr>
          <p:cNvPr id="37" name="Text 35"/>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141</a:t>
            </a:r>
            <a:endParaRPr lang="en-US" sz="1050"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C53455"/>
          </a:solidFill>
          <a:ln/>
          <a:effectLst>
            <a:outerShdw sx="100000" sy="100000" kx="0" ky="0" algn="bl" rotWithShape="0" blurRad="101600" dist="25400" dir="5400000">
              <a:srgbClr val="C53455">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15</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Sık yapılan hatalar · 2 / 2</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6" name="Text 4"/>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Sınavda puan kaybettiren klasikler ve doğrusu.</a:t>
            </a:r>
            <a:endParaRPr lang="en-US" sz="1450" dirty="0"/>
          </a:p>
        </p:txBody>
      </p:sp>
      <p:sp>
        <p:nvSpPr>
          <p:cNvPr id="7" name="Shape 5"/>
          <p:cNvSpPr/>
          <p:nvPr/>
        </p:nvSpPr>
        <p:spPr>
          <a:xfrm>
            <a:off x="640080" y="1627632"/>
            <a:ext cx="5346040" cy="2176272"/>
          </a:xfrm>
          <a:prstGeom prst="roundRect">
            <a:avLst>
              <a:gd name="adj" fmla="val 6723"/>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841248" y="1792224"/>
            <a:ext cx="310896" cy="310896"/>
          </a:xfrm>
          <a:prstGeom prst="roundRect">
            <a:avLst>
              <a:gd name="adj" fmla="val 26471"/>
            </a:avLst>
          </a:prstGeom>
          <a:solidFill>
            <a:srgbClr val="FBE9EE"/>
          </a:solidFill>
          <a:ln/>
        </p:spPr>
      </p:sp>
      <p:sp>
        <p:nvSpPr>
          <p:cNvPr id="9" name="Text 7"/>
          <p:cNvSpPr txBox="1"/>
          <p:nvPr/>
        </p:nvSpPr>
        <p:spPr>
          <a:xfrm>
            <a:off x="841248" y="1792224"/>
            <a:ext cx="310896" cy="310896"/>
          </a:xfrm>
          <a:prstGeom prst="rect">
            <a:avLst/>
          </a:prstGeom>
          <a:noFill/>
          <a:ln/>
        </p:spPr>
        <p:txBody>
          <a:bodyPr wrap="square" lIns="0" tIns="0" rIns="0" bIns="0" rtlCol="0" anchor="ctr"/>
          <a:lstStyle/>
          <a:p>
            <a:pPr algn="ctr" indent="0" marL="0">
              <a:buNone/>
            </a:pPr>
            <a:r>
              <a:rPr lang="en-US" sz="1400" b="1" dirty="0">
                <a:solidFill>
                  <a:srgbClr val="C53455"/>
                </a:solidFill>
                <a:latin typeface="Calibri" pitchFamily="34" charset="0"/>
                <a:ea typeface="Calibri" pitchFamily="34" charset="-122"/>
                <a:cs typeface="Calibri" pitchFamily="34" charset="-120"/>
              </a:rPr>
              <a:t>✗</a:t>
            </a:r>
            <a:endParaRPr lang="en-US" sz="1400" dirty="0"/>
          </a:p>
        </p:txBody>
      </p:sp>
      <p:sp>
        <p:nvSpPr>
          <p:cNvPr id="10" name="Text 8"/>
          <p:cNvSpPr txBox="1"/>
          <p:nvPr/>
        </p:nvSpPr>
        <p:spPr>
          <a:xfrm>
            <a:off x="1280160" y="1755648"/>
            <a:ext cx="4523080" cy="406146"/>
          </a:xfrm>
          <a:prstGeom prst="rect">
            <a:avLst/>
          </a:prstGeom>
          <a:noFill/>
          <a:ln/>
        </p:spPr>
        <p:txBody>
          <a:bodyPr wrap="square" lIns="0" tIns="0" rIns="0" bIns="0" rtlCol="0" anchor="t"/>
          <a:lstStyle/>
          <a:p>
            <a:pPr indent="0" marL="0">
              <a:lnSpc>
                <a:spcPct val="108000"/>
              </a:lnSpc>
              <a:buNone/>
            </a:pPr>
            <a:r>
              <a:rPr lang="en-US" sz="1900" b="1" dirty="0">
                <a:solidFill>
                  <a:srgbClr val="0E1426"/>
                </a:solidFill>
                <a:latin typeface="Calibri" pitchFamily="34" charset="0"/>
                <a:ea typeface="Calibri" pitchFamily="34" charset="-122"/>
                <a:cs typeface="Calibri" pitchFamily="34" charset="-120"/>
              </a:rPr>
              <a:t>“Sürtünme daima hareketi engeller.”</a:t>
            </a:r>
            <a:endParaRPr lang="en-US" sz="1900" dirty="0"/>
          </a:p>
        </p:txBody>
      </p:sp>
      <p:sp>
        <p:nvSpPr>
          <p:cNvPr id="11" name="Shape 9"/>
          <p:cNvSpPr/>
          <p:nvPr/>
        </p:nvSpPr>
        <p:spPr>
          <a:xfrm>
            <a:off x="841248" y="2271522"/>
            <a:ext cx="310896" cy="310896"/>
          </a:xfrm>
          <a:prstGeom prst="roundRect">
            <a:avLst>
              <a:gd name="adj" fmla="val 26471"/>
            </a:avLst>
          </a:prstGeom>
          <a:solidFill>
            <a:srgbClr val="EAF7DC"/>
          </a:solidFill>
          <a:ln/>
        </p:spPr>
      </p:sp>
      <p:sp>
        <p:nvSpPr>
          <p:cNvPr id="12" name="Text 10"/>
          <p:cNvSpPr txBox="1"/>
          <p:nvPr/>
        </p:nvSpPr>
        <p:spPr>
          <a:xfrm>
            <a:off x="841248" y="2271522"/>
            <a:ext cx="310896" cy="310896"/>
          </a:xfrm>
          <a:prstGeom prst="rect">
            <a:avLst/>
          </a:prstGeom>
          <a:noFill/>
          <a:ln/>
        </p:spPr>
        <p:txBody>
          <a:bodyPr wrap="square" lIns="0" tIns="0" rIns="0" bIns="0" rtlCol="0" anchor="ctr"/>
          <a:lstStyle/>
          <a:p>
            <a:pPr algn="ctr" indent="0" marL="0">
              <a:buNone/>
            </a:pPr>
            <a:r>
              <a:rPr lang="en-US" sz="1400" b="1" dirty="0">
                <a:solidFill>
                  <a:srgbClr val="3C8C21"/>
                </a:solidFill>
                <a:latin typeface="Calibri" pitchFamily="34" charset="0"/>
                <a:ea typeface="Calibri" pitchFamily="34" charset="-122"/>
                <a:cs typeface="Calibri" pitchFamily="34" charset="-120"/>
              </a:rPr>
              <a:t>✓</a:t>
            </a:r>
            <a:endParaRPr lang="en-US" sz="1400" dirty="0"/>
          </a:p>
        </p:txBody>
      </p:sp>
      <p:sp>
        <p:nvSpPr>
          <p:cNvPr id="13" name="Text 11"/>
          <p:cNvSpPr txBox="1"/>
          <p:nvPr/>
        </p:nvSpPr>
        <p:spPr>
          <a:xfrm>
            <a:off x="1280160" y="2253234"/>
            <a:ext cx="4523080" cy="1422654"/>
          </a:xfrm>
          <a:prstGeom prst="rect">
            <a:avLst/>
          </a:prstGeom>
          <a:noFill/>
          <a:ln/>
        </p:spPr>
        <p:txBody>
          <a:bodyPr wrap="square" lIns="0" tIns="0" rIns="0" bIns="0" rtlCol="0" anchor="t"/>
          <a:lstStyle/>
          <a:p>
            <a:pPr indent="0" marL="0">
              <a:lnSpc>
                <a:spcPct val="108000"/>
              </a:lnSpc>
              <a:buNone/>
            </a:pPr>
            <a:r>
              <a:rPr lang="en-US" sz="1700" dirty="0">
                <a:solidFill>
                  <a:srgbClr val="4A5470"/>
                </a:solidFill>
                <a:latin typeface="Calibri" pitchFamily="34" charset="0"/>
                <a:ea typeface="Calibri" pitchFamily="34" charset="-122"/>
                <a:cs typeface="Calibri" pitchFamily="34" charset="-120"/>
              </a:rPr>
              <a:t> Yürümeni, frenlemeni ve dönüşte savrulmamanı sağlayan da sürtünmedir; sürtünme </a:t>
            </a:r>
            <a:pPr indent="0" marL="0">
              <a:lnSpc>
                <a:spcPct val="108000"/>
              </a:lnSpc>
              <a:buNone/>
            </a:pPr>
            <a:r>
              <a:rPr lang="en-US" sz="1700" i="1" dirty="0">
                <a:solidFill>
                  <a:srgbClr val="4A5470"/>
                </a:solidFill>
                <a:latin typeface="Calibri" pitchFamily="34" charset="0"/>
                <a:ea typeface="Calibri" pitchFamily="34" charset="-122"/>
                <a:cs typeface="Calibri" pitchFamily="34" charset="-120"/>
              </a:rPr>
              <a:t>bağıl kaymaya</a:t>
            </a:r>
            <a:pPr indent="0" marL="0">
              <a:lnSpc>
                <a:spcPct val="108000"/>
              </a:lnSpc>
              <a:buNone/>
            </a:pPr>
            <a:r>
              <a:rPr lang="en-US" sz="1700" dirty="0">
                <a:solidFill>
                  <a:srgbClr val="4A5470"/>
                </a:solidFill>
                <a:latin typeface="Calibri" pitchFamily="34" charset="0"/>
                <a:ea typeface="Calibri" pitchFamily="34" charset="-122"/>
                <a:cs typeface="Calibri" pitchFamily="34" charset="-120"/>
              </a:rPr>
              <a:t> zıttır.</a:t>
            </a:r>
            <a:endParaRPr lang="en-US" sz="1700" dirty="0"/>
          </a:p>
        </p:txBody>
      </p:sp>
      <p:sp>
        <p:nvSpPr>
          <p:cNvPr id="14" name="Shape 12"/>
          <p:cNvSpPr/>
          <p:nvPr/>
        </p:nvSpPr>
        <p:spPr>
          <a:xfrm>
            <a:off x="6205576" y="1627632"/>
            <a:ext cx="5346040" cy="2176272"/>
          </a:xfrm>
          <a:prstGeom prst="roundRect">
            <a:avLst>
              <a:gd name="adj" fmla="val 6723"/>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5" name="Shape 13"/>
          <p:cNvSpPr/>
          <p:nvPr/>
        </p:nvSpPr>
        <p:spPr>
          <a:xfrm>
            <a:off x="6406744" y="1792224"/>
            <a:ext cx="310896" cy="310896"/>
          </a:xfrm>
          <a:prstGeom prst="roundRect">
            <a:avLst>
              <a:gd name="adj" fmla="val 26471"/>
            </a:avLst>
          </a:prstGeom>
          <a:solidFill>
            <a:srgbClr val="FBE9EE"/>
          </a:solidFill>
          <a:ln/>
        </p:spPr>
      </p:sp>
      <p:sp>
        <p:nvSpPr>
          <p:cNvPr id="16" name="Text 14"/>
          <p:cNvSpPr txBox="1"/>
          <p:nvPr/>
        </p:nvSpPr>
        <p:spPr>
          <a:xfrm>
            <a:off x="6406744" y="1792224"/>
            <a:ext cx="310896" cy="310896"/>
          </a:xfrm>
          <a:prstGeom prst="rect">
            <a:avLst/>
          </a:prstGeom>
          <a:noFill/>
          <a:ln/>
        </p:spPr>
        <p:txBody>
          <a:bodyPr wrap="square" lIns="0" tIns="0" rIns="0" bIns="0" rtlCol="0" anchor="ctr"/>
          <a:lstStyle/>
          <a:p>
            <a:pPr algn="ctr" indent="0" marL="0">
              <a:buNone/>
            </a:pPr>
            <a:r>
              <a:rPr lang="en-US" sz="1400" b="1" dirty="0">
                <a:solidFill>
                  <a:srgbClr val="C53455"/>
                </a:solidFill>
                <a:latin typeface="Calibri" pitchFamily="34" charset="0"/>
                <a:ea typeface="Calibri" pitchFamily="34" charset="-122"/>
                <a:cs typeface="Calibri" pitchFamily="34" charset="-120"/>
              </a:rPr>
              <a:t>✗</a:t>
            </a:r>
            <a:endParaRPr lang="en-US" sz="1400" dirty="0"/>
          </a:p>
        </p:txBody>
      </p:sp>
      <p:sp>
        <p:nvSpPr>
          <p:cNvPr id="17" name="Text 15"/>
          <p:cNvSpPr txBox="1"/>
          <p:nvPr/>
        </p:nvSpPr>
        <p:spPr>
          <a:xfrm>
            <a:off x="6845656" y="1755648"/>
            <a:ext cx="4523080" cy="406146"/>
          </a:xfrm>
          <a:prstGeom prst="rect">
            <a:avLst/>
          </a:prstGeom>
          <a:noFill/>
          <a:ln/>
        </p:spPr>
        <p:txBody>
          <a:bodyPr wrap="square" lIns="0" tIns="0" rIns="0" bIns="0" rtlCol="0" anchor="t"/>
          <a:lstStyle/>
          <a:p>
            <a:pPr indent="0" marL="0">
              <a:lnSpc>
                <a:spcPct val="108000"/>
              </a:lnSpc>
              <a:buNone/>
            </a:pPr>
            <a:r>
              <a:rPr lang="en-US" sz="1900" b="1" dirty="0">
                <a:solidFill>
                  <a:srgbClr val="0E1426"/>
                </a:solidFill>
                <a:latin typeface="Calibri" pitchFamily="34" charset="0"/>
                <a:ea typeface="Calibri" pitchFamily="34" charset="-122"/>
                <a:cs typeface="Calibri" pitchFamily="34" charset="-120"/>
              </a:rPr>
              <a:t>“İvme hız yönündedir.”</a:t>
            </a:r>
            <a:endParaRPr lang="en-US" sz="1900" dirty="0"/>
          </a:p>
        </p:txBody>
      </p:sp>
      <p:sp>
        <p:nvSpPr>
          <p:cNvPr id="18" name="Shape 16"/>
          <p:cNvSpPr/>
          <p:nvPr/>
        </p:nvSpPr>
        <p:spPr>
          <a:xfrm>
            <a:off x="6406744" y="2271522"/>
            <a:ext cx="310896" cy="310896"/>
          </a:xfrm>
          <a:prstGeom prst="roundRect">
            <a:avLst>
              <a:gd name="adj" fmla="val 26471"/>
            </a:avLst>
          </a:prstGeom>
          <a:solidFill>
            <a:srgbClr val="EAF7DC"/>
          </a:solidFill>
          <a:ln/>
        </p:spPr>
      </p:sp>
      <p:sp>
        <p:nvSpPr>
          <p:cNvPr id="19" name="Text 17"/>
          <p:cNvSpPr txBox="1"/>
          <p:nvPr/>
        </p:nvSpPr>
        <p:spPr>
          <a:xfrm>
            <a:off x="6406744" y="2271522"/>
            <a:ext cx="310896" cy="310896"/>
          </a:xfrm>
          <a:prstGeom prst="rect">
            <a:avLst/>
          </a:prstGeom>
          <a:noFill/>
          <a:ln/>
        </p:spPr>
        <p:txBody>
          <a:bodyPr wrap="square" lIns="0" tIns="0" rIns="0" bIns="0" rtlCol="0" anchor="ctr"/>
          <a:lstStyle/>
          <a:p>
            <a:pPr algn="ctr" indent="0" marL="0">
              <a:buNone/>
            </a:pPr>
            <a:r>
              <a:rPr lang="en-US" sz="1400" b="1" dirty="0">
                <a:solidFill>
                  <a:srgbClr val="3C8C21"/>
                </a:solidFill>
                <a:latin typeface="Calibri" pitchFamily="34" charset="0"/>
                <a:ea typeface="Calibri" pitchFamily="34" charset="-122"/>
                <a:cs typeface="Calibri" pitchFamily="34" charset="-120"/>
              </a:rPr>
              <a:t>✓</a:t>
            </a:r>
            <a:endParaRPr lang="en-US" sz="1400" dirty="0"/>
          </a:p>
        </p:txBody>
      </p:sp>
      <p:sp>
        <p:nvSpPr>
          <p:cNvPr id="20" name="Text 18"/>
          <p:cNvSpPr txBox="1"/>
          <p:nvPr/>
        </p:nvSpPr>
        <p:spPr>
          <a:xfrm>
            <a:off x="6845656" y="2253234"/>
            <a:ext cx="4523080" cy="1422654"/>
          </a:xfrm>
          <a:prstGeom prst="rect">
            <a:avLst/>
          </a:prstGeom>
          <a:noFill/>
          <a:ln/>
        </p:spPr>
        <p:txBody>
          <a:bodyPr wrap="square" lIns="0" tIns="0" rIns="0" bIns="0" rtlCol="0" anchor="t"/>
          <a:lstStyle/>
          <a:p>
            <a:pPr indent="0" marL="0">
              <a:lnSpc>
                <a:spcPct val="108000"/>
              </a:lnSpc>
              <a:buNone/>
            </a:pPr>
            <a:r>
              <a:rPr lang="en-US" sz="1700" dirty="0">
                <a:solidFill>
                  <a:srgbClr val="4A5470"/>
                </a:solidFill>
                <a:latin typeface="Calibri" pitchFamily="34" charset="0"/>
                <a:ea typeface="Calibri" pitchFamily="34" charset="-122"/>
                <a:cs typeface="Calibri" pitchFamily="34" charset="-120"/>
              </a:rPr>
              <a:t> İvme net kuvvetin yönündedir; yavaşlayan cisimde hıza zıt yöndedir.</a:t>
            </a:r>
            <a:endParaRPr lang="en-US" sz="1700" dirty="0"/>
          </a:p>
        </p:txBody>
      </p:sp>
      <p:sp>
        <p:nvSpPr>
          <p:cNvPr id="21" name="Shape 19"/>
          <p:cNvSpPr/>
          <p:nvPr/>
        </p:nvSpPr>
        <p:spPr>
          <a:xfrm>
            <a:off x="640080" y="3968496"/>
            <a:ext cx="5346040" cy="2176272"/>
          </a:xfrm>
          <a:prstGeom prst="roundRect">
            <a:avLst>
              <a:gd name="adj" fmla="val 6723"/>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2" name="Shape 20"/>
          <p:cNvSpPr/>
          <p:nvPr/>
        </p:nvSpPr>
        <p:spPr>
          <a:xfrm>
            <a:off x="841248" y="4133088"/>
            <a:ext cx="310896" cy="310896"/>
          </a:xfrm>
          <a:prstGeom prst="roundRect">
            <a:avLst>
              <a:gd name="adj" fmla="val 26471"/>
            </a:avLst>
          </a:prstGeom>
          <a:solidFill>
            <a:srgbClr val="FBE9EE"/>
          </a:solidFill>
          <a:ln/>
        </p:spPr>
      </p:sp>
      <p:sp>
        <p:nvSpPr>
          <p:cNvPr id="23" name="Text 21"/>
          <p:cNvSpPr txBox="1"/>
          <p:nvPr/>
        </p:nvSpPr>
        <p:spPr>
          <a:xfrm>
            <a:off x="841248" y="4133088"/>
            <a:ext cx="310896" cy="310896"/>
          </a:xfrm>
          <a:prstGeom prst="rect">
            <a:avLst/>
          </a:prstGeom>
          <a:noFill/>
          <a:ln/>
        </p:spPr>
        <p:txBody>
          <a:bodyPr wrap="square" lIns="0" tIns="0" rIns="0" bIns="0" rtlCol="0" anchor="ctr"/>
          <a:lstStyle/>
          <a:p>
            <a:pPr algn="ctr" indent="0" marL="0">
              <a:buNone/>
            </a:pPr>
            <a:r>
              <a:rPr lang="en-US" sz="1400" b="1" dirty="0">
                <a:solidFill>
                  <a:srgbClr val="C53455"/>
                </a:solidFill>
                <a:latin typeface="Calibri" pitchFamily="34" charset="0"/>
                <a:ea typeface="Calibri" pitchFamily="34" charset="-122"/>
                <a:cs typeface="Calibri" pitchFamily="34" charset="-120"/>
              </a:rPr>
              <a:t>✗</a:t>
            </a:r>
            <a:endParaRPr lang="en-US" sz="1400" dirty="0"/>
          </a:p>
        </p:txBody>
      </p:sp>
      <p:sp>
        <p:nvSpPr>
          <p:cNvPr id="24" name="Text 22"/>
          <p:cNvSpPr txBox="1"/>
          <p:nvPr/>
        </p:nvSpPr>
        <p:spPr>
          <a:xfrm>
            <a:off x="1280160" y="4096512"/>
            <a:ext cx="4523080" cy="406146"/>
          </a:xfrm>
          <a:prstGeom prst="rect">
            <a:avLst/>
          </a:prstGeom>
          <a:noFill/>
          <a:ln/>
        </p:spPr>
        <p:txBody>
          <a:bodyPr wrap="square" lIns="0" tIns="0" rIns="0" bIns="0" rtlCol="0" anchor="t"/>
          <a:lstStyle/>
          <a:p>
            <a:pPr indent="0" marL="0">
              <a:lnSpc>
                <a:spcPct val="108000"/>
              </a:lnSpc>
              <a:buNone/>
            </a:pPr>
            <a:r>
              <a:rPr lang="en-US" sz="1900" b="1" dirty="0">
                <a:solidFill>
                  <a:srgbClr val="0E1426"/>
                </a:solidFill>
                <a:latin typeface="Calibri" pitchFamily="34" charset="0"/>
                <a:ea typeface="Calibri" pitchFamily="34" charset="-122"/>
                <a:cs typeface="Calibri" pitchFamily="34" charset="-120"/>
              </a:rPr>
              <a:t>“Cisim kuvvete sahiptir.”</a:t>
            </a:r>
            <a:endParaRPr lang="en-US" sz="1900" dirty="0"/>
          </a:p>
        </p:txBody>
      </p:sp>
      <p:sp>
        <p:nvSpPr>
          <p:cNvPr id="25" name="Shape 23"/>
          <p:cNvSpPr/>
          <p:nvPr/>
        </p:nvSpPr>
        <p:spPr>
          <a:xfrm>
            <a:off x="841248" y="4612386"/>
            <a:ext cx="310896" cy="310896"/>
          </a:xfrm>
          <a:prstGeom prst="roundRect">
            <a:avLst>
              <a:gd name="adj" fmla="val 26471"/>
            </a:avLst>
          </a:prstGeom>
          <a:solidFill>
            <a:srgbClr val="EAF7DC"/>
          </a:solidFill>
          <a:ln/>
        </p:spPr>
      </p:sp>
      <p:sp>
        <p:nvSpPr>
          <p:cNvPr id="26" name="Text 24"/>
          <p:cNvSpPr txBox="1"/>
          <p:nvPr/>
        </p:nvSpPr>
        <p:spPr>
          <a:xfrm>
            <a:off x="841248" y="4612386"/>
            <a:ext cx="310896" cy="310896"/>
          </a:xfrm>
          <a:prstGeom prst="rect">
            <a:avLst/>
          </a:prstGeom>
          <a:noFill/>
          <a:ln/>
        </p:spPr>
        <p:txBody>
          <a:bodyPr wrap="square" lIns="0" tIns="0" rIns="0" bIns="0" rtlCol="0" anchor="ctr"/>
          <a:lstStyle/>
          <a:p>
            <a:pPr algn="ctr" indent="0" marL="0">
              <a:buNone/>
            </a:pPr>
            <a:r>
              <a:rPr lang="en-US" sz="1400" b="1" dirty="0">
                <a:solidFill>
                  <a:srgbClr val="3C8C21"/>
                </a:solidFill>
                <a:latin typeface="Calibri" pitchFamily="34" charset="0"/>
                <a:ea typeface="Calibri" pitchFamily="34" charset="-122"/>
                <a:cs typeface="Calibri" pitchFamily="34" charset="-120"/>
              </a:rPr>
              <a:t>✓</a:t>
            </a:r>
            <a:endParaRPr lang="en-US" sz="1400" dirty="0"/>
          </a:p>
        </p:txBody>
      </p:sp>
      <p:sp>
        <p:nvSpPr>
          <p:cNvPr id="27" name="Text 25"/>
          <p:cNvSpPr txBox="1"/>
          <p:nvPr/>
        </p:nvSpPr>
        <p:spPr>
          <a:xfrm>
            <a:off x="1280160" y="4594098"/>
            <a:ext cx="4523080" cy="1422654"/>
          </a:xfrm>
          <a:prstGeom prst="rect">
            <a:avLst/>
          </a:prstGeom>
          <a:noFill/>
          <a:ln/>
        </p:spPr>
        <p:txBody>
          <a:bodyPr wrap="square" lIns="0" tIns="0" rIns="0" bIns="0" rtlCol="0" anchor="t"/>
          <a:lstStyle/>
          <a:p>
            <a:pPr indent="0" marL="0">
              <a:lnSpc>
                <a:spcPct val="108000"/>
              </a:lnSpc>
              <a:buNone/>
            </a:pPr>
            <a:r>
              <a:rPr lang="en-US" sz="1700" dirty="0">
                <a:solidFill>
                  <a:srgbClr val="4A5470"/>
                </a:solidFill>
                <a:latin typeface="Calibri" pitchFamily="34" charset="0"/>
                <a:ea typeface="Calibri" pitchFamily="34" charset="-122"/>
                <a:cs typeface="Calibri" pitchFamily="34" charset="-120"/>
              </a:rPr>
              <a:t> Kuvvet bir </a:t>
            </a:r>
            <a:pPr indent="0" marL="0">
              <a:lnSpc>
                <a:spcPct val="108000"/>
              </a:lnSpc>
              <a:buNone/>
            </a:pPr>
            <a:r>
              <a:rPr lang="en-US" sz="1700" i="1" dirty="0">
                <a:solidFill>
                  <a:srgbClr val="4A5470"/>
                </a:solidFill>
                <a:latin typeface="Calibri" pitchFamily="34" charset="0"/>
                <a:ea typeface="Calibri" pitchFamily="34" charset="-122"/>
                <a:cs typeface="Calibri" pitchFamily="34" charset="-120"/>
              </a:rPr>
              <a:t>etkileşimdir</a:t>
            </a:r>
            <a:pPr indent="0" marL="0">
              <a:lnSpc>
                <a:spcPct val="108000"/>
              </a:lnSpc>
              <a:buNone/>
            </a:pPr>
            <a:r>
              <a:rPr lang="en-US" sz="1700" dirty="0">
                <a:solidFill>
                  <a:srgbClr val="4A5470"/>
                </a:solidFill>
                <a:latin typeface="Calibri" pitchFamily="34" charset="0"/>
                <a:ea typeface="Calibri" pitchFamily="34" charset="-122"/>
                <a:cs typeface="Calibri" pitchFamily="34" charset="-120"/>
              </a:rPr>
              <a:t>, cismin taşıdığı bir özellik değil. "Cismin üzerindeki kuvvet" demek doğrudur.</a:t>
            </a:r>
            <a:endParaRPr lang="en-US" sz="1700" dirty="0"/>
          </a:p>
        </p:txBody>
      </p:sp>
      <p:sp>
        <p:nvSpPr>
          <p:cNvPr id="28" name="Shape 26"/>
          <p:cNvSpPr/>
          <p:nvPr/>
        </p:nvSpPr>
        <p:spPr>
          <a:xfrm>
            <a:off x="6205576" y="3968496"/>
            <a:ext cx="5346040" cy="2176272"/>
          </a:xfrm>
          <a:prstGeom prst="roundRect">
            <a:avLst>
              <a:gd name="adj" fmla="val 6723"/>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9" name="Shape 27"/>
          <p:cNvSpPr/>
          <p:nvPr/>
        </p:nvSpPr>
        <p:spPr>
          <a:xfrm>
            <a:off x="6406744" y="4133088"/>
            <a:ext cx="310896" cy="310896"/>
          </a:xfrm>
          <a:prstGeom prst="roundRect">
            <a:avLst>
              <a:gd name="adj" fmla="val 26471"/>
            </a:avLst>
          </a:prstGeom>
          <a:solidFill>
            <a:srgbClr val="FBE9EE"/>
          </a:solidFill>
          <a:ln/>
        </p:spPr>
      </p:sp>
      <p:sp>
        <p:nvSpPr>
          <p:cNvPr id="30" name="Text 28"/>
          <p:cNvSpPr txBox="1"/>
          <p:nvPr/>
        </p:nvSpPr>
        <p:spPr>
          <a:xfrm>
            <a:off x="6406744" y="4133088"/>
            <a:ext cx="310896" cy="310896"/>
          </a:xfrm>
          <a:prstGeom prst="rect">
            <a:avLst/>
          </a:prstGeom>
          <a:noFill/>
          <a:ln/>
        </p:spPr>
        <p:txBody>
          <a:bodyPr wrap="square" lIns="0" tIns="0" rIns="0" bIns="0" rtlCol="0" anchor="ctr"/>
          <a:lstStyle/>
          <a:p>
            <a:pPr algn="ctr" indent="0" marL="0">
              <a:buNone/>
            </a:pPr>
            <a:r>
              <a:rPr lang="en-US" sz="1400" b="1" dirty="0">
                <a:solidFill>
                  <a:srgbClr val="C53455"/>
                </a:solidFill>
                <a:latin typeface="Calibri" pitchFamily="34" charset="0"/>
                <a:ea typeface="Calibri" pitchFamily="34" charset="-122"/>
                <a:cs typeface="Calibri" pitchFamily="34" charset="-120"/>
              </a:rPr>
              <a:t>✗</a:t>
            </a:r>
            <a:endParaRPr lang="en-US" sz="1400" dirty="0"/>
          </a:p>
        </p:txBody>
      </p:sp>
      <p:sp>
        <p:nvSpPr>
          <p:cNvPr id="31" name="Text 29"/>
          <p:cNvSpPr txBox="1"/>
          <p:nvPr/>
        </p:nvSpPr>
        <p:spPr>
          <a:xfrm>
            <a:off x="6845656" y="4096512"/>
            <a:ext cx="4523080" cy="739140"/>
          </a:xfrm>
          <a:prstGeom prst="rect">
            <a:avLst/>
          </a:prstGeom>
          <a:noFill/>
          <a:ln/>
        </p:spPr>
        <p:txBody>
          <a:bodyPr wrap="square" lIns="0" tIns="0" rIns="0" bIns="0" rtlCol="0" anchor="t"/>
          <a:lstStyle/>
          <a:p>
            <a:pPr indent="0" marL="0">
              <a:lnSpc>
                <a:spcPct val="108000"/>
              </a:lnSpc>
              <a:buNone/>
            </a:pPr>
            <a:r>
              <a:rPr lang="en-US" sz="1900" b="1" dirty="0">
                <a:solidFill>
                  <a:srgbClr val="0E1426"/>
                </a:solidFill>
                <a:latin typeface="Calibri" pitchFamily="34" charset="0"/>
                <a:ea typeface="Calibri" pitchFamily="34" charset="-122"/>
                <a:cs typeface="Calibri" pitchFamily="34" charset="-120"/>
              </a:rPr>
              <a:t>“Roket arkasındaki havayı iterek ilerler.”</a:t>
            </a:r>
            <a:endParaRPr lang="en-US" sz="1900" dirty="0"/>
          </a:p>
        </p:txBody>
      </p:sp>
      <p:sp>
        <p:nvSpPr>
          <p:cNvPr id="32" name="Shape 30"/>
          <p:cNvSpPr/>
          <p:nvPr/>
        </p:nvSpPr>
        <p:spPr>
          <a:xfrm>
            <a:off x="6406744" y="4945380"/>
            <a:ext cx="310896" cy="310896"/>
          </a:xfrm>
          <a:prstGeom prst="roundRect">
            <a:avLst>
              <a:gd name="adj" fmla="val 26471"/>
            </a:avLst>
          </a:prstGeom>
          <a:solidFill>
            <a:srgbClr val="EAF7DC"/>
          </a:solidFill>
          <a:ln/>
        </p:spPr>
      </p:sp>
      <p:sp>
        <p:nvSpPr>
          <p:cNvPr id="33" name="Text 31"/>
          <p:cNvSpPr txBox="1"/>
          <p:nvPr/>
        </p:nvSpPr>
        <p:spPr>
          <a:xfrm>
            <a:off x="6406744" y="4945380"/>
            <a:ext cx="310896" cy="310896"/>
          </a:xfrm>
          <a:prstGeom prst="rect">
            <a:avLst/>
          </a:prstGeom>
          <a:noFill/>
          <a:ln/>
        </p:spPr>
        <p:txBody>
          <a:bodyPr wrap="square" lIns="0" tIns="0" rIns="0" bIns="0" rtlCol="0" anchor="ctr"/>
          <a:lstStyle/>
          <a:p>
            <a:pPr algn="ctr" indent="0" marL="0">
              <a:buNone/>
            </a:pPr>
            <a:r>
              <a:rPr lang="en-US" sz="1400" b="1" dirty="0">
                <a:solidFill>
                  <a:srgbClr val="3C8C21"/>
                </a:solidFill>
                <a:latin typeface="Calibri" pitchFamily="34" charset="0"/>
                <a:ea typeface="Calibri" pitchFamily="34" charset="-122"/>
                <a:cs typeface="Calibri" pitchFamily="34" charset="-120"/>
              </a:rPr>
              <a:t>✓</a:t>
            </a:r>
            <a:endParaRPr lang="en-US" sz="1400" dirty="0"/>
          </a:p>
        </p:txBody>
      </p:sp>
      <p:sp>
        <p:nvSpPr>
          <p:cNvPr id="34" name="Text 32"/>
          <p:cNvSpPr txBox="1"/>
          <p:nvPr/>
        </p:nvSpPr>
        <p:spPr>
          <a:xfrm>
            <a:off x="6845656" y="4927092"/>
            <a:ext cx="4523080" cy="1089660"/>
          </a:xfrm>
          <a:prstGeom prst="rect">
            <a:avLst/>
          </a:prstGeom>
          <a:noFill/>
          <a:ln/>
        </p:spPr>
        <p:txBody>
          <a:bodyPr wrap="square" lIns="0" tIns="0" rIns="0" bIns="0" rtlCol="0" anchor="t"/>
          <a:lstStyle/>
          <a:p>
            <a:pPr indent="0" marL="0">
              <a:lnSpc>
                <a:spcPct val="108000"/>
              </a:lnSpc>
              <a:buNone/>
            </a:pPr>
            <a:r>
              <a:rPr lang="en-US" sz="1700" dirty="0">
                <a:solidFill>
                  <a:srgbClr val="4A5470"/>
                </a:solidFill>
                <a:latin typeface="Calibri" pitchFamily="34" charset="0"/>
                <a:ea typeface="Calibri" pitchFamily="34" charset="-122"/>
                <a:cs typeface="Calibri" pitchFamily="34" charset="-120"/>
              </a:rPr>
              <a:t> Roket kendi püskürttüğü gazı iter, gaz da roketi iter. Bu yüzden hava olmayan uzay boşluğunda da çalışır.</a:t>
            </a:r>
            <a:endParaRPr lang="en-US" sz="1700" dirty="0"/>
          </a:p>
        </p:txBody>
      </p:sp>
      <p:sp>
        <p:nvSpPr>
          <p:cNvPr id="35" name="Shape 33"/>
          <p:cNvSpPr/>
          <p:nvPr/>
        </p:nvSpPr>
        <p:spPr>
          <a:xfrm>
            <a:off x="640080" y="6382512"/>
            <a:ext cx="128016" cy="128016"/>
          </a:xfrm>
          <a:prstGeom prst="roundRect">
            <a:avLst>
              <a:gd name="adj" fmla="val 28571"/>
            </a:avLst>
          </a:prstGeom>
          <a:solidFill>
            <a:srgbClr val="A9E648"/>
          </a:solidFill>
          <a:ln/>
        </p:spPr>
      </p:sp>
      <p:sp>
        <p:nvSpPr>
          <p:cNvPr id="36" name="Text 34"/>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dersler.perinet.org/newton-yasalari.html</a:t>
            </a:r>
            <a:endParaRPr lang="en-US" sz="1050" dirty="0"/>
          </a:p>
        </p:txBody>
      </p:sp>
      <p:sp>
        <p:nvSpPr>
          <p:cNvPr id="37" name="Text 35"/>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142</a:t>
            </a:r>
            <a:endParaRPr lang="en-US" sz="1050"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bg>
      <p:bgPr>
        <a:solidFill>
          <a:srgbClr val="0E1426"/>
        </a:solidFill>
      </p:bgPr>
    </p:bg>
    <p:spTree>
      <p:nvGrpSpPr>
        <p:cNvPr id="1" name=""/>
        <p:cNvGrpSpPr/>
        <p:nvPr/>
      </p:nvGrpSpPr>
      <p:grpSpPr>
        <a:xfrm>
          <a:off x="0" y="0"/>
          <a:ext cx="0" cy="0"/>
          <a:chOff x="0" y="0"/>
          <a:chExt cx="0" cy="0"/>
        </a:xfrm>
      </p:grpSpPr>
      <p:sp>
        <p:nvSpPr>
          <p:cNvPr id="2" name="Shape 0"/>
          <p:cNvSpPr/>
          <p:nvPr/>
        </p:nvSpPr>
        <p:spPr>
          <a:xfrm>
            <a:off x="868680" y="1143000"/>
            <a:ext cx="54864" cy="548640"/>
          </a:xfrm>
          <a:prstGeom prst="rect">
            <a:avLst/>
          </a:prstGeom>
          <a:solidFill>
            <a:srgbClr val="C6F36B"/>
          </a:solidFill>
          <a:ln/>
        </p:spPr>
      </p:sp>
      <p:sp>
        <p:nvSpPr>
          <p:cNvPr id="3" name="Text 1"/>
          <p:cNvSpPr txBox="1"/>
          <p:nvPr/>
        </p:nvSpPr>
        <p:spPr>
          <a:xfrm>
            <a:off x="1097280" y="1005840"/>
            <a:ext cx="5486400" cy="822960"/>
          </a:xfrm>
          <a:prstGeom prst="rect">
            <a:avLst/>
          </a:prstGeom>
          <a:noFill/>
          <a:ln/>
        </p:spPr>
        <p:txBody>
          <a:bodyPr wrap="square" lIns="0" tIns="0" rIns="0" bIns="0" rtlCol="0" anchor="ctr"/>
          <a:lstStyle/>
          <a:p>
            <a:pPr indent="0" marL="0">
              <a:buNone/>
            </a:pPr>
            <a:r>
              <a:rPr lang="en-US" sz="4000" b="1" spc="-100" kern="0" dirty="0">
                <a:solidFill>
                  <a:srgbClr val="FFFFFF"/>
                </a:solidFill>
                <a:latin typeface="Cambria" pitchFamily="34" charset="0"/>
                <a:ea typeface="Cambria" pitchFamily="34" charset="-122"/>
                <a:cs typeface="Cambria" pitchFamily="34" charset="-120"/>
              </a:rPr>
              <a:t>Özetle</a:t>
            </a:r>
            <a:endParaRPr lang="en-US" sz="4000" dirty="0"/>
          </a:p>
        </p:txBody>
      </p:sp>
      <p:sp>
        <p:nvSpPr>
          <p:cNvPr id="4" name="Text 2"/>
          <p:cNvSpPr txBox="1"/>
          <p:nvPr/>
        </p:nvSpPr>
        <p:spPr>
          <a:xfrm>
            <a:off x="868680" y="2057400"/>
            <a:ext cx="4572000" cy="274320"/>
          </a:xfrm>
          <a:prstGeom prst="rect">
            <a:avLst/>
          </a:prstGeom>
          <a:noFill/>
          <a:ln/>
        </p:spPr>
        <p:txBody>
          <a:bodyPr wrap="square" lIns="0" tIns="0" rIns="0" bIns="0" rtlCol="0" anchor="ctr"/>
          <a:lstStyle/>
          <a:p>
            <a:pPr indent="0" marL="0">
              <a:buNone/>
            </a:pPr>
            <a:r>
              <a:rPr lang="en-US" sz="1050" b="1" spc="200" kern="0" dirty="0">
                <a:solidFill>
                  <a:srgbClr val="8D97B5"/>
                </a:solidFill>
                <a:latin typeface="Calibri" pitchFamily="34" charset="0"/>
                <a:ea typeface="Calibri" pitchFamily="34" charset="-122"/>
                <a:cs typeface="Calibri" pitchFamily="34" charset="-120"/>
              </a:rPr>
              <a:t>AKLINDA KALSIN</a:t>
            </a:r>
            <a:endParaRPr lang="en-US" sz="1050" dirty="0"/>
          </a:p>
        </p:txBody>
      </p:sp>
      <p:sp>
        <p:nvSpPr>
          <p:cNvPr id="5" name="Text 3"/>
          <p:cNvSpPr txBox="1"/>
          <p:nvPr/>
        </p:nvSpPr>
        <p:spPr>
          <a:xfrm>
            <a:off x="868680" y="2450592"/>
            <a:ext cx="548640" cy="457200"/>
          </a:xfrm>
          <a:prstGeom prst="rect">
            <a:avLst/>
          </a:prstGeom>
          <a:noFill/>
          <a:ln/>
        </p:spPr>
        <p:txBody>
          <a:bodyPr wrap="square" lIns="0" tIns="0" rIns="0" bIns="0" rtlCol="0" anchor="ctr"/>
          <a:lstStyle/>
          <a:p>
            <a:pPr indent="0" marL="0">
              <a:buNone/>
            </a:pPr>
            <a:r>
              <a:rPr lang="en-US" sz="1800" b="1" dirty="0">
                <a:solidFill>
                  <a:srgbClr val="C6F36B"/>
                </a:solidFill>
                <a:latin typeface="Cambria" pitchFamily="34" charset="0"/>
                <a:ea typeface="Cambria" pitchFamily="34" charset="-122"/>
                <a:cs typeface="Cambria" pitchFamily="34" charset="-120"/>
              </a:rPr>
              <a:t>01</a:t>
            </a:r>
            <a:endParaRPr lang="en-US" sz="1800" dirty="0"/>
          </a:p>
        </p:txBody>
      </p:sp>
      <p:sp>
        <p:nvSpPr>
          <p:cNvPr id="6" name="Text 4"/>
          <p:cNvSpPr txBox="1"/>
          <p:nvPr/>
        </p:nvSpPr>
        <p:spPr>
          <a:xfrm>
            <a:off x="1463040" y="2450592"/>
            <a:ext cx="4480560" cy="457200"/>
          </a:xfrm>
          <a:prstGeom prst="rect">
            <a:avLst/>
          </a:prstGeom>
          <a:noFill/>
          <a:ln/>
        </p:spPr>
        <p:txBody>
          <a:bodyPr wrap="square" lIns="0" tIns="0" rIns="0" bIns="0" rtlCol="0" anchor="ctr"/>
          <a:lstStyle/>
          <a:p>
            <a:pPr indent="0" marL="0">
              <a:buNone/>
            </a:pPr>
            <a:r>
              <a:rPr lang="en-US" sz="1500" dirty="0">
                <a:solidFill>
                  <a:srgbClr val="C3CEE8"/>
                </a:solidFill>
                <a:latin typeface="Calibri" pitchFamily="34" charset="0"/>
                <a:ea typeface="Calibri" pitchFamily="34" charset="-122"/>
                <a:cs typeface="Calibri" pitchFamily="34" charset="-120"/>
              </a:rPr>
              <a:t>1. yasa </a:t>
            </a:r>
            <a:pPr indent="0" marL="0">
              <a:buNone/>
            </a:pPr>
            <a:r>
              <a:rPr lang="en-US" sz="1500" b="1" dirty="0">
                <a:solidFill>
                  <a:srgbClr val="FFFFFF"/>
                </a:solidFill>
                <a:latin typeface="Calibri" pitchFamily="34" charset="0"/>
                <a:ea typeface="Calibri" pitchFamily="34" charset="-122"/>
                <a:cs typeface="Calibri" pitchFamily="34" charset="-120"/>
              </a:rPr>
              <a:t>eylemsizlik</a:t>
            </a:r>
            <a:endParaRPr lang="en-US" sz="1500" dirty="0"/>
          </a:p>
        </p:txBody>
      </p:sp>
      <p:sp>
        <p:nvSpPr>
          <p:cNvPr id="7" name="Text 5"/>
          <p:cNvSpPr txBox="1"/>
          <p:nvPr/>
        </p:nvSpPr>
        <p:spPr>
          <a:xfrm>
            <a:off x="868680" y="3236976"/>
            <a:ext cx="548640" cy="457200"/>
          </a:xfrm>
          <a:prstGeom prst="rect">
            <a:avLst/>
          </a:prstGeom>
          <a:noFill/>
          <a:ln/>
        </p:spPr>
        <p:txBody>
          <a:bodyPr wrap="square" lIns="0" tIns="0" rIns="0" bIns="0" rtlCol="0" anchor="ctr"/>
          <a:lstStyle/>
          <a:p>
            <a:pPr indent="0" marL="0">
              <a:buNone/>
            </a:pPr>
            <a:r>
              <a:rPr lang="en-US" sz="1800" b="1" dirty="0">
                <a:solidFill>
                  <a:srgbClr val="C6F36B"/>
                </a:solidFill>
                <a:latin typeface="Cambria" pitchFamily="34" charset="0"/>
                <a:ea typeface="Cambria" pitchFamily="34" charset="-122"/>
                <a:cs typeface="Cambria" pitchFamily="34" charset="-120"/>
              </a:rPr>
              <a:t>02</a:t>
            </a:r>
            <a:endParaRPr lang="en-US" sz="1800" dirty="0"/>
          </a:p>
        </p:txBody>
      </p:sp>
      <p:sp>
        <p:nvSpPr>
          <p:cNvPr id="8" name="Text 6"/>
          <p:cNvSpPr txBox="1"/>
          <p:nvPr/>
        </p:nvSpPr>
        <p:spPr>
          <a:xfrm>
            <a:off x="1463040" y="3236976"/>
            <a:ext cx="4480560" cy="457200"/>
          </a:xfrm>
          <a:prstGeom prst="rect">
            <a:avLst/>
          </a:prstGeom>
          <a:noFill/>
          <a:ln/>
        </p:spPr>
        <p:txBody>
          <a:bodyPr wrap="square" lIns="0" tIns="0" rIns="0" bIns="0" rtlCol="0" anchor="ctr"/>
          <a:lstStyle/>
          <a:p>
            <a:pPr indent="0" marL="0">
              <a:buNone/>
            </a:pPr>
            <a:r>
              <a:rPr lang="en-US" sz="1500" dirty="0">
                <a:solidFill>
                  <a:srgbClr val="C3CEE8"/>
                </a:solidFill>
                <a:latin typeface="Calibri" pitchFamily="34" charset="0"/>
                <a:ea typeface="Calibri" pitchFamily="34" charset="-122"/>
                <a:cs typeface="Calibri" pitchFamily="34" charset="-120"/>
              </a:rPr>
              <a:t>2. yasa </a:t>
            </a:r>
            <a:pPr indent="0" marL="0">
              <a:buNone/>
            </a:pPr>
            <a:r>
              <a:rPr lang="en-US" sz="1500" b="1" dirty="0">
                <a:solidFill>
                  <a:srgbClr val="FFFFFF"/>
                </a:solidFill>
                <a:latin typeface="Calibri" pitchFamily="34" charset="0"/>
                <a:ea typeface="Calibri" pitchFamily="34" charset="-122"/>
                <a:cs typeface="Calibri" pitchFamily="34" charset="-120"/>
              </a:rPr>
              <a:t>F = m·a</a:t>
            </a:r>
            <a:endParaRPr lang="en-US" sz="1500" dirty="0"/>
          </a:p>
        </p:txBody>
      </p:sp>
      <p:sp>
        <p:nvSpPr>
          <p:cNvPr id="9" name="Text 7"/>
          <p:cNvSpPr txBox="1"/>
          <p:nvPr/>
        </p:nvSpPr>
        <p:spPr>
          <a:xfrm>
            <a:off x="868680" y="4023360"/>
            <a:ext cx="548640" cy="457200"/>
          </a:xfrm>
          <a:prstGeom prst="rect">
            <a:avLst/>
          </a:prstGeom>
          <a:noFill/>
          <a:ln/>
        </p:spPr>
        <p:txBody>
          <a:bodyPr wrap="square" lIns="0" tIns="0" rIns="0" bIns="0" rtlCol="0" anchor="ctr"/>
          <a:lstStyle/>
          <a:p>
            <a:pPr indent="0" marL="0">
              <a:buNone/>
            </a:pPr>
            <a:r>
              <a:rPr lang="en-US" sz="1800" b="1" dirty="0">
                <a:solidFill>
                  <a:srgbClr val="C6F36B"/>
                </a:solidFill>
                <a:latin typeface="Cambria" pitchFamily="34" charset="0"/>
                <a:ea typeface="Cambria" pitchFamily="34" charset="-122"/>
                <a:cs typeface="Cambria" pitchFamily="34" charset="-120"/>
              </a:rPr>
              <a:t>03</a:t>
            </a:r>
            <a:endParaRPr lang="en-US" sz="1800" dirty="0"/>
          </a:p>
        </p:txBody>
      </p:sp>
      <p:sp>
        <p:nvSpPr>
          <p:cNvPr id="10" name="Text 8"/>
          <p:cNvSpPr txBox="1"/>
          <p:nvPr/>
        </p:nvSpPr>
        <p:spPr>
          <a:xfrm>
            <a:off x="1463040" y="4023360"/>
            <a:ext cx="4480560" cy="457200"/>
          </a:xfrm>
          <a:prstGeom prst="rect">
            <a:avLst/>
          </a:prstGeom>
          <a:noFill/>
          <a:ln/>
        </p:spPr>
        <p:txBody>
          <a:bodyPr wrap="square" lIns="0" tIns="0" rIns="0" bIns="0" rtlCol="0" anchor="ctr"/>
          <a:lstStyle/>
          <a:p>
            <a:pPr indent="0" marL="0">
              <a:buNone/>
            </a:pPr>
            <a:r>
              <a:rPr lang="en-US" sz="1500" dirty="0">
                <a:solidFill>
                  <a:srgbClr val="C3CEE8"/>
                </a:solidFill>
                <a:latin typeface="Calibri" pitchFamily="34" charset="0"/>
                <a:ea typeface="Calibri" pitchFamily="34" charset="-122"/>
                <a:cs typeface="Calibri" pitchFamily="34" charset="-120"/>
              </a:rPr>
              <a:t>3. yasa </a:t>
            </a:r>
            <a:pPr indent="0" marL="0">
              <a:buNone/>
            </a:pPr>
            <a:r>
              <a:rPr lang="en-US" sz="1500" b="1" dirty="0">
                <a:solidFill>
                  <a:srgbClr val="FFFFFF"/>
                </a:solidFill>
                <a:latin typeface="Calibri" pitchFamily="34" charset="0"/>
                <a:ea typeface="Calibri" pitchFamily="34" charset="-122"/>
                <a:cs typeface="Calibri" pitchFamily="34" charset="-120"/>
              </a:rPr>
              <a:t>etki–tepki</a:t>
            </a:r>
            <a:endParaRPr lang="en-US" sz="1500" dirty="0"/>
          </a:p>
        </p:txBody>
      </p:sp>
      <p:sp>
        <p:nvSpPr>
          <p:cNvPr id="11" name="Text 9"/>
          <p:cNvSpPr txBox="1"/>
          <p:nvPr/>
        </p:nvSpPr>
        <p:spPr>
          <a:xfrm>
            <a:off x="868680" y="4809744"/>
            <a:ext cx="548640" cy="457200"/>
          </a:xfrm>
          <a:prstGeom prst="rect">
            <a:avLst/>
          </a:prstGeom>
          <a:noFill/>
          <a:ln/>
        </p:spPr>
        <p:txBody>
          <a:bodyPr wrap="square" lIns="0" tIns="0" rIns="0" bIns="0" rtlCol="0" anchor="ctr"/>
          <a:lstStyle/>
          <a:p>
            <a:pPr indent="0" marL="0">
              <a:buNone/>
            </a:pPr>
            <a:r>
              <a:rPr lang="en-US" sz="1800" b="1" dirty="0">
                <a:solidFill>
                  <a:srgbClr val="C6F36B"/>
                </a:solidFill>
                <a:latin typeface="Cambria" pitchFamily="34" charset="0"/>
                <a:ea typeface="Cambria" pitchFamily="34" charset="-122"/>
                <a:cs typeface="Cambria" pitchFamily="34" charset="-120"/>
              </a:rPr>
              <a:t>04</a:t>
            </a:r>
            <a:endParaRPr lang="en-US" sz="1800" dirty="0"/>
          </a:p>
        </p:txBody>
      </p:sp>
      <p:sp>
        <p:nvSpPr>
          <p:cNvPr id="12" name="Text 10"/>
          <p:cNvSpPr txBox="1"/>
          <p:nvPr/>
        </p:nvSpPr>
        <p:spPr>
          <a:xfrm>
            <a:off x="1463040" y="4809744"/>
            <a:ext cx="4480560" cy="457200"/>
          </a:xfrm>
          <a:prstGeom prst="rect">
            <a:avLst/>
          </a:prstGeom>
          <a:noFill/>
          <a:ln/>
        </p:spPr>
        <p:txBody>
          <a:bodyPr wrap="square" lIns="0" tIns="0" rIns="0" bIns="0" rtlCol="0" anchor="ctr"/>
          <a:lstStyle/>
          <a:p>
            <a:pPr indent="0" marL="0">
              <a:buNone/>
            </a:pPr>
            <a:r>
              <a:rPr lang="en-US" sz="1500" dirty="0">
                <a:solidFill>
                  <a:srgbClr val="C3CEE8"/>
                </a:solidFill>
                <a:latin typeface="Calibri" pitchFamily="34" charset="0"/>
                <a:ea typeface="Calibri" pitchFamily="34" charset="-122"/>
                <a:cs typeface="Calibri" pitchFamily="34" charset="-120"/>
              </a:rPr>
              <a:t>Net kuvvet sıfırsa </a:t>
            </a:r>
            <a:pPr indent="0" marL="0">
              <a:buNone/>
            </a:pPr>
            <a:r>
              <a:rPr lang="en-US" sz="1500" b="1" dirty="0">
                <a:solidFill>
                  <a:srgbClr val="FFFFFF"/>
                </a:solidFill>
                <a:latin typeface="Calibri" pitchFamily="34" charset="0"/>
                <a:ea typeface="Calibri" pitchFamily="34" charset="-122"/>
                <a:cs typeface="Calibri" pitchFamily="34" charset="-120"/>
              </a:rPr>
              <a:t>ivme sıfır</a:t>
            </a:r>
            <a:endParaRPr lang="en-US" sz="1500" dirty="0"/>
          </a:p>
        </p:txBody>
      </p:sp>
      <p:sp>
        <p:nvSpPr>
          <p:cNvPr id="13" name="Text 11"/>
          <p:cNvSpPr txBox="1"/>
          <p:nvPr/>
        </p:nvSpPr>
        <p:spPr>
          <a:xfrm>
            <a:off x="6446520" y="2057400"/>
            <a:ext cx="4572000" cy="274320"/>
          </a:xfrm>
          <a:prstGeom prst="rect">
            <a:avLst/>
          </a:prstGeom>
          <a:noFill/>
          <a:ln/>
        </p:spPr>
        <p:txBody>
          <a:bodyPr wrap="square" lIns="0" tIns="0" rIns="0" bIns="0" rtlCol="0" anchor="ctr"/>
          <a:lstStyle/>
          <a:p>
            <a:pPr indent="0" marL="0">
              <a:buNone/>
            </a:pPr>
            <a:r>
              <a:rPr lang="en-US" sz="1050" b="1" spc="200" kern="0" dirty="0">
                <a:solidFill>
                  <a:srgbClr val="8D97B5"/>
                </a:solidFill>
                <a:latin typeface="Calibri" pitchFamily="34" charset="0"/>
                <a:ea typeface="Calibri" pitchFamily="34" charset="-122"/>
                <a:cs typeface="Calibri" pitchFamily="34" charset="-120"/>
              </a:rPr>
              <a:t>TEMEL BAĞINTILAR</a:t>
            </a:r>
            <a:endParaRPr lang="en-US" sz="1050" dirty="0"/>
          </a:p>
        </p:txBody>
      </p:sp>
      <p:sp>
        <p:nvSpPr>
          <p:cNvPr id="14" name="Shape 12"/>
          <p:cNvSpPr/>
          <p:nvPr/>
        </p:nvSpPr>
        <p:spPr>
          <a:xfrm>
            <a:off x="6446520" y="2395728"/>
            <a:ext cx="5105095" cy="694944"/>
          </a:xfrm>
          <a:prstGeom prst="roundRect">
            <a:avLst>
              <a:gd name="adj" fmla="val 13158"/>
            </a:avLst>
          </a:prstGeom>
          <a:solidFill>
            <a:srgbClr val="1C2542"/>
          </a:solidFill>
          <a:ln w="9525">
            <a:solidFill>
              <a:srgbClr val="2C3860"/>
            </a:solidFill>
            <a:prstDash val="solid"/>
          </a:ln>
        </p:spPr>
      </p:sp>
      <p:sp>
        <p:nvSpPr>
          <p:cNvPr id="15" name="Text 13"/>
          <p:cNvSpPr txBox="1"/>
          <p:nvPr/>
        </p:nvSpPr>
        <p:spPr>
          <a:xfrm>
            <a:off x="6647688" y="2395728"/>
            <a:ext cx="1463040" cy="694944"/>
          </a:xfrm>
          <a:prstGeom prst="rect">
            <a:avLst/>
          </a:prstGeom>
          <a:noFill/>
          <a:ln/>
        </p:spPr>
        <p:txBody>
          <a:bodyPr wrap="square" lIns="0" tIns="0" rIns="0" bIns="0" rtlCol="0" anchor="ctr"/>
          <a:lstStyle/>
          <a:p>
            <a:pPr indent="0" marL="0">
              <a:buNone/>
            </a:pPr>
            <a:r>
              <a:rPr lang="en-US" sz="1350" b="1" dirty="0">
                <a:solidFill>
                  <a:srgbClr val="C6F36B"/>
                </a:solidFill>
                <a:latin typeface="Courier New" pitchFamily="34" charset="0"/>
                <a:ea typeface="Courier New" pitchFamily="34" charset="-122"/>
                <a:cs typeface="Courier New" pitchFamily="34" charset="-120"/>
              </a:rPr>
              <a:t>ΣF = m · a</a:t>
            </a:r>
            <a:endParaRPr lang="en-US" sz="1350" dirty="0"/>
          </a:p>
        </p:txBody>
      </p:sp>
      <p:sp>
        <p:nvSpPr>
          <p:cNvPr id="16" name="Text 14"/>
          <p:cNvSpPr txBox="1"/>
          <p:nvPr/>
        </p:nvSpPr>
        <p:spPr>
          <a:xfrm>
            <a:off x="8183880" y="2395728"/>
            <a:ext cx="3184855" cy="694944"/>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net kuvvet, ivmeyi belirler</a:t>
            </a:r>
            <a:endParaRPr lang="en-US" sz="1200" dirty="0"/>
          </a:p>
        </p:txBody>
      </p:sp>
      <p:sp>
        <p:nvSpPr>
          <p:cNvPr id="17" name="Shape 15"/>
          <p:cNvSpPr/>
          <p:nvPr/>
        </p:nvSpPr>
        <p:spPr>
          <a:xfrm>
            <a:off x="6446520" y="3218688"/>
            <a:ext cx="5105095" cy="694944"/>
          </a:xfrm>
          <a:prstGeom prst="roundRect">
            <a:avLst>
              <a:gd name="adj" fmla="val 13158"/>
            </a:avLst>
          </a:prstGeom>
          <a:solidFill>
            <a:srgbClr val="1C2542"/>
          </a:solidFill>
          <a:ln w="9525">
            <a:solidFill>
              <a:srgbClr val="2C3860"/>
            </a:solidFill>
            <a:prstDash val="solid"/>
          </a:ln>
        </p:spPr>
      </p:sp>
      <p:sp>
        <p:nvSpPr>
          <p:cNvPr id="18" name="Text 16"/>
          <p:cNvSpPr txBox="1"/>
          <p:nvPr/>
        </p:nvSpPr>
        <p:spPr>
          <a:xfrm>
            <a:off x="6647688" y="3218688"/>
            <a:ext cx="1463040" cy="694944"/>
          </a:xfrm>
          <a:prstGeom prst="rect">
            <a:avLst/>
          </a:prstGeom>
          <a:noFill/>
          <a:ln/>
        </p:spPr>
        <p:txBody>
          <a:bodyPr wrap="square" lIns="0" tIns="0" rIns="0" bIns="0" rtlCol="0" anchor="ctr"/>
          <a:lstStyle/>
          <a:p>
            <a:pPr indent="0" marL="0">
              <a:buNone/>
            </a:pPr>
            <a:r>
              <a:rPr lang="en-US" sz="1350" b="1" dirty="0">
                <a:solidFill>
                  <a:srgbClr val="C6F36B"/>
                </a:solidFill>
                <a:latin typeface="Courier New" pitchFamily="34" charset="0"/>
                <a:ea typeface="Courier New" pitchFamily="34" charset="-122"/>
                <a:cs typeface="Courier New" pitchFamily="34" charset="-120"/>
              </a:rPr>
              <a:t>G = m · g</a:t>
            </a:r>
            <a:endParaRPr lang="en-US" sz="1350" dirty="0"/>
          </a:p>
        </p:txBody>
      </p:sp>
      <p:sp>
        <p:nvSpPr>
          <p:cNvPr id="19" name="Text 17"/>
          <p:cNvSpPr txBox="1"/>
          <p:nvPr/>
        </p:nvSpPr>
        <p:spPr>
          <a:xfrm>
            <a:off x="8183880" y="3218688"/>
            <a:ext cx="3184855" cy="694944"/>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ağırlık: kütleye etki eden çekim</a:t>
            </a:r>
            <a:endParaRPr lang="en-US" sz="1200" dirty="0"/>
          </a:p>
        </p:txBody>
      </p:sp>
      <p:sp>
        <p:nvSpPr>
          <p:cNvPr id="20" name="Shape 18"/>
          <p:cNvSpPr/>
          <p:nvPr/>
        </p:nvSpPr>
        <p:spPr>
          <a:xfrm>
            <a:off x="6446520" y="4041648"/>
            <a:ext cx="5105095" cy="694944"/>
          </a:xfrm>
          <a:prstGeom prst="roundRect">
            <a:avLst>
              <a:gd name="adj" fmla="val 13158"/>
            </a:avLst>
          </a:prstGeom>
          <a:solidFill>
            <a:srgbClr val="1C2542"/>
          </a:solidFill>
          <a:ln w="9525">
            <a:solidFill>
              <a:srgbClr val="2C3860"/>
            </a:solidFill>
            <a:prstDash val="solid"/>
          </a:ln>
        </p:spPr>
      </p:sp>
      <p:sp>
        <p:nvSpPr>
          <p:cNvPr id="21" name="Text 19"/>
          <p:cNvSpPr txBox="1"/>
          <p:nvPr/>
        </p:nvSpPr>
        <p:spPr>
          <a:xfrm>
            <a:off x="6647688" y="4041648"/>
            <a:ext cx="1463040" cy="694944"/>
          </a:xfrm>
          <a:prstGeom prst="rect">
            <a:avLst/>
          </a:prstGeom>
          <a:noFill/>
          <a:ln/>
        </p:spPr>
        <p:txBody>
          <a:bodyPr wrap="square" lIns="0" tIns="0" rIns="0" bIns="0" rtlCol="0" anchor="ctr"/>
          <a:lstStyle/>
          <a:p>
            <a:pPr indent="0" marL="0">
              <a:buNone/>
            </a:pPr>
            <a:r>
              <a:rPr lang="en-US" sz="1350" b="1" dirty="0">
                <a:solidFill>
                  <a:srgbClr val="C6F36B"/>
                </a:solidFill>
                <a:latin typeface="Courier New" pitchFamily="34" charset="0"/>
                <a:ea typeface="Courier New" pitchFamily="34" charset="-122"/>
                <a:cs typeface="Courier New" pitchFamily="34" charset="-120"/>
              </a:rPr>
              <a:t>f = μ · N</a:t>
            </a:r>
            <a:endParaRPr lang="en-US" sz="1350" dirty="0"/>
          </a:p>
        </p:txBody>
      </p:sp>
      <p:sp>
        <p:nvSpPr>
          <p:cNvPr id="22" name="Text 20"/>
          <p:cNvSpPr txBox="1"/>
          <p:nvPr/>
        </p:nvSpPr>
        <p:spPr>
          <a:xfrm>
            <a:off x="8183880" y="4041648"/>
            <a:ext cx="3184855" cy="694944"/>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sürtünme kuvveti</a:t>
            </a:r>
            <a:endParaRPr lang="en-US" sz="1200" dirty="0"/>
          </a:p>
        </p:txBody>
      </p:sp>
      <p:sp>
        <p:nvSpPr>
          <p:cNvPr id="23" name="Shape 21"/>
          <p:cNvSpPr/>
          <p:nvPr/>
        </p:nvSpPr>
        <p:spPr>
          <a:xfrm>
            <a:off x="6446520" y="4864608"/>
            <a:ext cx="5105095" cy="694944"/>
          </a:xfrm>
          <a:prstGeom prst="roundRect">
            <a:avLst>
              <a:gd name="adj" fmla="val 13158"/>
            </a:avLst>
          </a:prstGeom>
          <a:solidFill>
            <a:srgbClr val="1C2542"/>
          </a:solidFill>
          <a:ln w="9525">
            <a:solidFill>
              <a:srgbClr val="2C3860"/>
            </a:solidFill>
            <a:prstDash val="solid"/>
          </a:ln>
        </p:spPr>
      </p:sp>
      <p:sp>
        <p:nvSpPr>
          <p:cNvPr id="24" name="Text 22"/>
          <p:cNvSpPr txBox="1"/>
          <p:nvPr/>
        </p:nvSpPr>
        <p:spPr>
          <a:xfrm>
            <a:off x="6647688" y="4864608"/>
            <a:ext cx="1463040" cy="694944"/>
          </a:xfrm>
          <a:prstGeom prst="rect">
            <a:avLst/>
          </a:prstGeom>
          <a:noFill/>
          <a:ln/>
        </p:spPr>
        <p:txBody>
          <a:bodyPr wrap="square" lIns="0" tIns="0" rIns="0" bIns="0" rtlCol="0" anchor="ctr"/>
          <a:lstStyle/>
          <a:p>
            <a:pPr indent="0" marL="0">
              <a:buNone/>
            </a:pPr>
            <a:r>
              <a:rPr lang="en-US" sz="1350" b="1" dirty="0">
                <a:solidFill>
                  <a:srgbClr val="C6F36B"/>
                </a:solidFill>
                <a:latin typeface="Courier New" pitchFamily="34" charset="0"/>
                <a:ea typeface="Courier New" pitchFamily="34" charset="-122"/>
                <a:cs typeface="Courier New" pitchFamily="34" charset="-120"/>
              </a:rPr>
              <a:t>F₁₂ = −F₂₁</a:t>
            </a:r>
            <a:endParaRPr lang="en-US" sz="1350" dirty="0"/>
          </a:p>
        </p:txBody>
      </p:sp>
      <p:sp>
        <p:nvSpPr>
          <p:cNvPr id="25" name="Text 23"/>
          <p:cNvSpPr txBox="1"/>
          <p:nvPr/>
        </p:nvSpPr>
        <p:spPr>
          <a:xfrm>
            <a:off x="8183880" y="4864608"/>
            <a:ext cx="3184855" cy="694944"/>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etki ve tepki</a:t>
            </a:r>
            <a:endParaRPr lang="en-US" sz="1200" dirty="0"/>
          </a:p>
        </p:txBody>
      </p:sp>
      <p:sp>
        <p:nvSpPr>
          <p:cNvPr id="26" name="Shape 24"/>
          <p:cNvSpPr/>
          <p:nvPr/>
        </p:nvSpPr>
        <p:spPr>
          <a:xfrm>
            <a:off x="868680" y="5806440"/>
            <a:ext cx="10058400" cy="566928"/>
          </a:xfrm>
          <a:prstGeom prst="roundRect">
            <a:avLst>
              <a:gd name="adj" fmla="val 16129"/>
            </a:avLst>
          </a:prstGeom>
          <a:solidFill>
            <a:srgbClr val="1C2542"/>
          </a:solidFill>
          <a:ln w="9525">
            <a:solidFill>
              <a:srgbClr val="2C3860"/>
            </a:solidFill>
            <a:prstDash val="solid"/>
          </a:ln>
        </p:spPr>
      </p:sp>
      <p:sp>
        <p:nvSpPr>
          <p:cNvPr id="27" name="Text 25"/>
          <p:cNvSpPr txBox="1"/>
          <p:nvPr/>
        </p:nvSpPr>
        <p:spPr>
          <a:xfrm>
            <a:off x="1188720" y="5806440"/>
            <a:ext cx="9418320" cy="566928"/>
          </a:xfrm>
          <a:prstGeom prst="rect">
            <a:avLst/>
          </a:prstGeom>
          <a:noFill/>
          <a:ln/>
        </p:spPr>
        <p:txBody>
          <a:bodyPr wrap="square" lIns="0" tIns="0" rIns="0" bIns="0" rtlCol="0" anchor="ctr"/>
          <a:lstStyle/>
          <a:p>
            <a:pPr indent="0" marL="0">
              <a:buNone/>
            </a:pPr>
            <a:r>
              <a:rPr lang="en-US" sz="1300" dirty="0">
                <a:solidFill>
                  <a:srgbClr val="AEBBD6"/>
                </a:solidFill>
                <a:latin typeface="Calibri" pitchFamily="34" charset="0"/>
                <a:ea typeface="Calibri" pitchFamily="34" charset="-122"/>
                <a:cs typeface="Calibri" pitchFamily="34" charset="-120"/>
              </a:rPr>
              <a:t>Etkileşimli deneyler, canlı grafikler ve hızlı test:  </a:t>
            </a:r>
            <a:pPr indent="0" marL="0">
              <a:buNone/>
            </a:pPr>
            <a:r>
              <a:rPr lang="en-US" sz="1300" b="1" dirty="0">
                <a:solidFill>
                  <a:srgbClr val="C6F36B"/>
                </a:solidFill>
                <a:latin typeface="Calibri" pitchFamily="34" charset="0"/>
                <a:ea typeface="Calibri" pitchFamily="34" charset="-122"/>
                <a:cs typeface="Calibri" pitchFamily="34" charset="-120"/>
              </a:rPr>
              <a:t>dersler.perinet.org/newton-yasalari.html</a:t>
            </a:r>
            <a:endParaRPr lang="en-US" sz="1300" dirty="0"/>
          </a:p>
        </p:txBody>
      </p:sp>
      <p:sp>
        <p:nvSpPr>
          <p:cNvPr id="28" name="Text 26"/>
          <p:cNvSpPr txBox="1"/>
          <p:nvPr/>
        </p:nvSpPr>
        <p:spPr>
          <a:xfrm>
            <a:off x="5852160" y="1078992"/>
            <a:ext cx="5699455" cy="457200"/>
          </a:xfrm>
          <a:prstGeom prst="rect">
            <a:avLst/>
          </a:prstGeom>
          <a:noFill/>
          <a:ln/>
        </p:spPr>
        <p:txBody>
          <a:bodyPr wrap="square" lIns="0" tIns="0" rIns="0" bIns="0" rtlCol="0" anchor="ctr"/>
          <a:lstStyle/>
          <a:p>
            <a:pPr algn="r" indent="0" marL="0">
              <a:buNone/>
            </a:pPr>
            <a:r>
              <a:rPr lang="en-US" sz="1000" b="1" spc="200" kern="0" dirty="0">
                <a:solidFill>
                  <a:srgbClr val="8D97B5"/>
                </a:solidFill>
                <a:latin typeface="Calibri" pitchFamily="34" charset="0"/>
                <a:ea typeface="Calibri" pitchFamily="34" charset="-122"/>
                <a:cs typeface="Calibri" pitchFamily="34" charset="-120"/>
              </a:rPr>
              <a:t>SIRADAKİ KONU  </a:t>
            </a:r>
            <a:pPr algn="r" indent="0" marL="0">
              <a:buNone/>
            </a:pPr>
            <a:r>
              <a:rPr lang="en-US" sz="1300" b="1" dirty="0">
                <a:solidFill>
                  <a:srgbClr val="FFFFFF"/>
                </a:solidFill>
                <a:latin typeface="Calibri" pitchFamily="34" charset="0"/>
                <a:ea typeface="Calibri" pitchFamily="34" charset="-122"/>
                <a:cs typeface="Calibri" pitchFamily="34" charset="-120"/>
              </a:rPr>
              <a:t>04 · Sürtünme kuvveti</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143</Slides>
  <Notes>143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143</vt:i4>
      </vt:variant>
    </vt:vector>
  </HeadingPairs>
  <TitlesOfParts>
    <vt:vector size="14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vector>
  </TitlesOfParts>
  <Company>dersler.perinet.org</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Newton'un hareket yasaları — Dersler</dc:title>
  <dc:subject>Fizik · Kuvvet ve Hareket</dc:subject>
  <dc:creator>Dersler</dc:creator>
  <cp:lastModifiedBy>Dersler</cp:lastModifiedBy>
  <cp:revision>1</cp:revision>
  <dcterms:created xsi:type="dcterms:W3CDTF">2026-09-30T08:43:24Z</dcterms:created>
  <dcterms:modified xsi:type="dcterms:W3CDTF">2026-09-30T08:43:24Z</dcterms:modified>
</cp:coreProperties>
</file>