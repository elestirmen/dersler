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Kütle sabit (5 kg): a, kuvvetle doğru orantılı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Sheet1!$A$2:$A$27</c:f>
              <c:numCache>
                <c:formatCode>General</c:formatCode>
                <c:ptCount val="2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  <c:pt idx="7">
                  <c:v>14</c:v>
                </c:pt>
                <c:pt idx="8">
                  <c:v>16</c:v>
                </c:pt>
                <c:pt idx="9">
                  <c:v>18</c:v>
                </c:pt>
                <c:pt idx="10">
                  <c:v>20</c:v>
                </c:pt>
                <c:pt idx="11">
                  <c:v>22</c:v>
                </c:pt>
                <c:pt idx="12">
                  <c:v>24</c:v>
                </c:pt>
                <c:pt idx="13">
                  <c:v>26</c:v>
                </c:pt>
                <c:pt idx="14">
                  <c:v>28</c:v>
                </c:pt>
                <c:pt idx="15">
                  <c:v>30</c:v>
                </c:pt>
                <c:pt idx="16">
                  <c:v>32</c:v>
                </c:pt>
                <c:pt idx="17">
                  <c:v>34</c:v>
                </c:pt>
                <c:pt idx="18">
                  <c:v>36</c:v>
                </c:pt>
                <c:pt idx="19">
                  <c:v>38</c:v>
                </c:pt>
                <c:pt idx="20">
                  <c:v>40</c:v>
                </c:pt>
                <c:pt idx="21">
                  <c:v>42</c:v>
                </c:pt>
                <c:pt idx="22">
                  <c:v>44</c:v>
                </c:pt>
                <c:pt idx="23">
                  <c:v>46</c:v>
                </c:pt>
                <c:pt idx="24">
                  <c:v>48</c:v>
                </c:pt>
                <c:pt idx="25">
                  <c:v>50</c:v>
                </c:pt>
              </c:numCache>
            </c:numRef>
          </c:xVal>
          <c:yVal>
            <c:numRef>
              <c:f>Sheet1!$B$2:$B$27</c:f>
              <c:numCache>
                <c:formatCode>General</c:formatCode>
                <c:ptCount val="26"/>
                <c:pt idx="0">
                  <c:v>0</c:v>
                </c:pt>
                <c:pt idx="1">
                  <c:v>0.4</c:v>
                </c:pt>
                <c:pt idx="2">
                  <c:v>0.8</c:v>
                </c:pt>
                <c:pt idx="3">
                  <c:v>1.2</c:v>
                </c:pt>
                <c:pt idx="4">
                  <c:v>1.6</c:v>
                </c:pt>
                <c:pt idx="5">
                  <c:v>2</c:v>
                </c:pt>
                <c:pt idx="6">
                  <c:v>2.4</c:v>
                </c:pt>
                <c:pt idx="7">
                  <c:v>2.8</c:v>
                </c:pt>
                <c:pt idx="8">
                  <c:v>3.2</c:v>
                </c:pt>
                <c:pt idx="9">
                  <c:v>3.6</c:v>
                </c:pt>
                <c:pt idx="10">
                  <c:v>4</c:v>
                </c:pt>
                <c:pt idx="11">
                  <c:v>4.4</c:v>
                </c:pt>
                <c:pt idx="12">
                  <c:v>4.8</c:v>
                </c:pt>
                <c:pt idx="13">
                  <c:v>5.2</c:v>
                </c:pt>
                <c:pt idx="14">
                  <c:v>5.6</c:v>
                </c:pt>
                <c:pt idx="15">
                  <c:v>6</c:v>
                </c:pt>
                <c:pt idx="16">
                  <c:v>6.4</c:v>
                </c:pt>
                <c:pt idx="17">
                  <c:v>6.8</c:v>
                </c:pt>
                <c:pt idx="18">
                  <c:v>7.2</c:v>
                </c:pt>
                <c:pt idx="19">
                  <c:v>7.6</c:v>
                </c:pt>
                <c:pt idx="20">
                  <c:v>8</c:v>
                </c:pt>
                <c:pt idx="21">
                  <c:v>8.4</c:v>
                </c:pt>
                <c:pt idx="22">
                  <c:v>8.8</c:v>
                </c:pt>
                <c:pt idx="23">
                  <c:v>9.2</c:v>
                </c:pt>
                <c:pt idx="24">
                  <c:v>9.6</c:v>
                </c:pt>
                <c:pt idx="25">
                  <c:v>10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net kuvvet (N)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ivme (m/s²)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Kuvvet sabit (20 N): a, kütleyle ters orantılı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Sheet1!$A$2:$A$38</c:f>
              <c:numCache>
                <c:formatCode>General</c:formatCode>
                <c:ptCount val="37"/>
                <c:pt idx="0">
                  <c:v>1</c:v>
                </c:pt>
                <c:pt idx="1">
                  <c:v>1.25</c:v>
                </c:pt>
                <c:pt idx="2">
                  <c:v>1.5</c:v>
                </c:pt>
                <c:pt idx="3">
                  <c:v>1.75</c:v>
                </c:pt>
                <c:pt idx="4">
                  <c:v>2</c:v>
                </c:pt>
                <c:pt idx="5">
                  <c:v>2.25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  <c:pt idx="9">
                  <c:v>3.25</c:v>
                </c:pt>
                <c:pt idx="10">
                  <c:v>3.5</c:v>
                </c:pt>
                <c:pt idx="11">
                  <c:v>3.75</c:v>
                </c:pt>
                <c:pt idx="12">
                  <c:v>4</c:v>
                </c:pt>
                <c:pt idx="13">
                  <c:v>4.25</c:v>
                </c:pt>
                <c:pt idx="14">
                  <c:v>4.5</c:v>
                </c:pt>
                <c:pt idx="15">
                  <c:v>4.75</c:v>
                </c:pt>
                <c:pt idx="16">
                  <c:v>5</c:v>
                </c:pt>
                <c:pt idx="17">
                  <c:v>5.25</c:v>
                </c:pt>
                <c:pt idx="18">
                  <c:v>5.5</c:v>
                </c:pt>
                <c:pt idx="19">
                  <c:v>5.75</c:v>
                </c:pt>
                <c:pt idx="20">
                  <c:v>6</c:v>
                </c:pt>
                <c:pt idx="21">
                  <c:v>6.25</c:v>
                </c:pt>
                <c:pt idx="22">
                  <c:v>6.5</c:v>
                </c:pt>
                <c:pt idx="23">
                  <c:v>6.75</c:v>
                </c:pt>
                <c:pt idx="24">
                  <c:v>7</c:v>
                </c:pt>
                <c:pt idx="25">
                  <c:v>7.25</c:v>
                </c:pt>
                <c:pt idx="26">
                  <c:v>7.5</c:v>
                </c:pt>
                <c:pt idx="27">
                  <c:v>7.75</c:v>
                </c:pt>
                <c:pt idx="28">
                  <c:v>8</c:v>
                </c:pt>
                <c:pt idx="29">
                  <c:v>8.25</c:v>
                </c:pt>
                <c:pt idx="30">
                  <c:v>8.5</c:v>
                </c:pt>
                <c:pt idx="31">
                  <c:v>8.75</c:v>
                </c:pt>
                <c:pt idx="32">
                  <c:v>9</c:v>
                </c:pt>
                <c:pt idx="33">
                  <c:v>9.25</c:v>
                </c:pt>
                <c:pt idx="34">
                  <c:v>9.5</c:v>
                </c:pt>
                <c:pt idx="35">
                  <c:v>9.75</c:v>
                </c:pt>
                <c:pt idx="36">
                  <c:v>10</c:v>
                </c:pt>
              </c:numCache>
            </c:numRef>
          </c:xVal>
          <c:yVal>
            <c:numRef>
              <c:f>Sheet1!$B$2:$B$38</c:f>
              <c:numCache>
                <c:formatCode>General</c:formatCode>
                <c:ptCount val="37"/>
                <c:pt idx="0">
                  <c:v>20</c:v>
                </c:pt>
                <c:pt idx="1">
                  <c:v>16</c:v>
                </c:pt>
                <c:pt idx="2">
                  <c:v>13.33</c:v>
                </c:pt>
                <c:pt idx="3">
                  <c:v>11.43</c:v>
                </c:pt>
                <c:pt idx="4">
                  <c:v>10</c:v>
                </c:pt>
                <c:pt idx="5">
                  <c:v>8.89</c:v>
                </c:pt>
                <c:pt idx="6">
                  <c:v>8</c:v>
                </c:pt>
                <c:pt idx="7">
                  <c:v>7.27</c:v>
                </c:pt>
                <c:pt idx="8">
                  <c:v>6.67</c:v>
                </c:pt>
                <c:pt idx="9">
                  <c:v>6.15</c:v>
                </c:pt>
                <c:pt idx="10">
                  <c:v>5.71</c:v>
                </c:pt>
                <c:pt idx="11">
                  <c:v>5.33</c:v>
                </c:pt>
                <c:pt idx="12">
                  <c:v>5</c:v>
                </c:pt>
                <c:pt idx="13">
                  <c:v>4.71</c:v>
                </c:pt>
                <c:pt idx="14">
                  <c:v>4.44</c:v>
                </c:pt>
                <c:pt idx="15">
                  <c:v>4.21</c:v>
                </c:pt>
                <c:pt idx="16">
                  <c:v>4</c:v>
                </c:pt>
                <c:pt idx="17">
                  <c:v>3.81</c:v>
                </c:pt>
                <c:pt idx="18">
                  <c:v>3.64</c:v>
                </c:pt>
                <c:pt idx="19">
                  <c:v>3.48</c:v>
                </c:pt>
                <c:pt idx="20">
                  <c:v>3.33</c:v>
                </c:pt>
                <c:pt idx="21">
                  <c:v>3.2</c:v>
                </c:pt>
                <c:pt idx="22">
                  <c:v>3.08</c:v>
                </c:pt>
                <c:pt idx="23">
                  <c:v>2.96</c:v>
                </c:pt>
                <c:pt idx="24">
                  <c:v>2.86</c:v>
                </c:pt>
                <c:pt idx="25">
                  <c:v>2.76</c:v>
                </c:pt>
                <c:pt idx="26">
                  <c:v>2.67</c:v>
                </c:pt>
                <c:pt idx="27">
                  <c:v>2.58</c:v>
                </c:pt>
                <c:pt idx="28">
                  <c:v>2.5</c:v>
                </c:pt>
                <c:pt idx="29">
                  <c:v>2.42</c:v>
                </c:pt>
                <c:pt idx="30">
                  <c:v>2.35</c:v>
                </c:pt>
                <c:pt idx="31">
                  <c:v>2.29</c:v>
                </c:pt>
                <c:pt idx="32">
                  <c:v>2.22</c:v>
                </c:pt>
                <c:pt idx="33">
                  <c:v>2.16</c:v>
                </c:pt>
                <c:pt idx="34">
                  <c:v>2.11</c:v>
                </c:pt>
                <c:pt idx="35">
                  <c:v>2.05</c:v>
                </c:pt>
                <c:pt idx="36">
                  <c:v>2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kütle (kg)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ivme (m/s²)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Sürtünme kuvvetinin uygulanan kuvvete göre değişimi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sürtünme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Sheet1!$A$2:$A$62</c:f>
              <c:numCache>
                <c:formatCode>General</c:formatCode>
                <c:ptCount val="6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</c:numCache>
            </c:numRef>
          </c:xVal>
          <c:yVal>
            <c:numRef>
              <c:f>Sheet1!$B$2:$B$62</c:f>
              <c:numCache>
                <c:formatCode>General</c:formatCode>
                <c:ptCount val="6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24</c:v>
                </c:pt>
                <c:pt idx="32">
                  <c:v>24</c:v>
                </c:pt>
                <c:pt idx="33">
                  <c:v>24</c:v>
                </c:pt>
                <c:pt idx="34">
                  <c:v>24</c:v>
                </c:pt>
                <c:pt idx="35">
                  <c:v>24</c:v>
                </c:pt>
                <c:pt idx="36">
                  <c:v>24</c:v>
                </c:pt>
                <c:pt idx="37">
                  <c:v>24</c:v>
                </c:pt>
                <c:pt idx="38">
                  <c:v>24</c:v>
                </c:pt>
                <c:pt idx="39">
                  <c:v>24</c:v>
                </c:pt>
                <c:pt idx="40">
                  <c:v>24</c:v>
                </c:pt>
                <c:pt idx="41">
                  <c:v>24</c:v>
                </c:pt>
                <c:pt idx="42">
                  <c:v>24</c:v>
                </c:pt>
                <c:pt idx="43">
                  <c:v>24</c:v>
                </c:pt>
                <c:pt idx="44">
                  <c:v>24</c:v>
                </c:pt>
                <c:pt idx="45">
                  <c:v>24</c:v>
                </c:pt>
                <c:pt idx="46">
                  <c:v>24</c:v>
                </c:pt>
                <c:pt idx="47">
                  <c:v>24</c:v>
                </c:pt>
                <c:pt idx="48">
                  <c:v>24</c:v>
                </c:pt>
                <c:pt idx="49">
                  <c:v>24</c:v>
                </c:pt>
                <c:pt idx="50">
                  <c:v>24</c:v>
                </c:pt>
                <c:pt idx="51">
                  <c:v>24</c:v>
                </c:pt>
                <c:pt idx="52">
                  <c:v>24</c:v>
                </c:pt>
                <c:pt idx="53">
                  <c:v>24</c:v>
                </c:pt>
                <c:pt idx="54">
                  <c:v>24</c:v>
                </c:pt>
                <c:pt idx="55">
                  <c:v>24</c:v>
                </c:pt>
                <c:pt idx="56">
                  <c:v>24</c:v>
                </c:pt>
                <c:pt idx="57">
                  <c:v>24</c:v>
                </c:pt>
                <c:pt idx="58">
                  <c:v>24</c:v>
                </c:pt>
                <c:pt idx="59">
                  <c:v>24</c:v>
                </c:pt>
                <c:pt idx="60">
                  <c:v>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uygulanan kuvvet (N)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sürtünme kuvveti (N)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sağdaki şemayı göster: dinamikteki her problem bu dört oktan birine bakarak çözülür. Ders boyunca bu diyagrama döneceğiz.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yasa birbirinin devamı: 1. yasa 'ne zaman hiçbir şey olmaz', 2. yasa 'olursa ne kadar olur', 3. yasa 'kuvvet nereden gelir' sorusunu yanıtlar.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Kuvvetin vektör olduğunu vurgula: yönü olmayan bir kuvvetten söz edilemez. Newton biriminin tanımı 2. yasadan gelir.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Sınıfta sor: 'Otobüs frene basınca seni öne iten kuvvet hangisi?' Cevap: hiçbiri. Kuvvet seni öne itmiyor, otobüs altından yavaşlıyor.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Soldaki doğru, sağdaki hiperbol. Kuvveti iki katına çıkarmak ivmeyi iki katına çıkarır; kütleyi iki katına çıkarmak ivmeyi yarıya indirir.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Klasik yanılgı: 'At arabayı çekiyor, araba atı geri çekiyor; öyleyse hareket edemezler.' Cevap: bu iki kuvvet farklı cisimlerde. Atı hareket ettiren, yerin ata uyguladığı kuvvettir.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Diyagramı çizmeden denklem yazdırma. En sık hata 2. ve 3. adımda: öğrenciler cismin masaya uyguladığı kuvveti de diyagrama koyuyor.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Grafikteki kırılma noktası kritik: o noktaya kadar sürtünme uygulanan kuvvete eşit, sonra sabit. Öğrenciler ilk bölümü genellikle atlıyor.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satır satır sordur. Son satır en çarpıcısı: tartı sıfır ama yerçekimi hâlâ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düşey denge, sonra sürtünme, sonra yatay denklem. Bu sıralamayı alışkanlık hâline getirt.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aşamalı yöntem: önce bütün sistem (iç kuvvetler görünmez), sonra tek cisim (iç kuvvet ortaya çıkar).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Eğik düzlemde eksenleri eğime paralel/dik seçmek şart. N = m·g değildir; m·g·cosθ'dır.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altı madde konunun sınav yüzü. Her birini önceki slaytlardaki örneklerle eşleştir.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01'de kuvveti ve kütleyi değiştirip ivmenin nasıl tepki verdiğini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Newton'un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hareket yasaları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840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Cisimler kendiliğinden hızlanmaz, yavaşlamaz, yön değiştirmez. Hareketi değiştiren tek şey net kuvvettir. Üç yasa bunun ne kadarını, nasıl ve kime yaptığını söyler.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029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0  →  a = 0        ΣF = m · a        F₁₂ = −F₂₁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921240" y="320040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1E2A4D"/>
          </a:solidFill>
          <a:ln w="19050">
            <a:solidFill>
              <a:srgbClr val="B9EE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378440" y="2331720"/>
            <a:ext cx="0" cy="868680"/>
          </a:xfrm>
          <a:prstGeom prst="line">
            <a:avLst/>
          </a:prstGeom>
          <a:noFill/>
          <a:ln w="31750">
            <a:solidFill>
              <a:srgbClr val="B9EE6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0378440" y="4114800"/>
            <a:ext cx="0" cy="868680"/>
          </a:xfrm>
          <a:prstGeom prst="line">
            <a:avLst/>
          </a:prstGeom>
          <a:noFill/>
          <a:ln w="3175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0835640" y="3657600"/>
            <a:ext cx="960120" cy="0"/>
          </a:xfrm>
          <a:prstGeom prst="line">
            <a:avLst/>
          </a:prstGeom>
          <a:noFill/>
          <a:ln w="31750">
            <a:solidFill>
              <a:srgbClr val="82AA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9189720" y="3657600"/>
            <a:ext cx="731520" cy="0"/>
          </a:xfrm>
          <a:prstGeom prst="line">
            <a:avLst/>
          </a:prstGeom>
          <a:noFill/>
          <a:ln w="31750">
            <a:solidFill>
              <a:srgbClr val="FF8FA3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1005840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0" y="50109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41480" y="35021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A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350215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dersler.perinet.org/newton-yasalari.html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kuvvet kavramından çözümlü örneklere.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net kuvvet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Vektörel toplama, dengelenmiş kuvvetler.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yasa: eylemsizlik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hareket değişmez.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yasa: ΣF = m·a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kuvvetle doğru, kütleyle ters orantılı.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yasa: etki–tepki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çiftler hâlinde ortaya çıkar.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cisim diyagramı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problemi çözen beş adımlık yöntem.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ve asansör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Statik–kinetik sürtünme, görünen ağırlık.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Kuvvet ve net kuvvet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Hareketi belirleyen tek tek kuvvetler değil, hepsinin vektörel toplamıdır.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yönde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932688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F₁ + F₂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toplanır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90872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Zıt yönde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4690872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90872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F₁ − F₂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690872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büyükten küçük çıkarılır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49056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Birbirine dik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449056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49056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√(F₁² + F₂²)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49056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 üçgen kurulur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6766560" cy="1828800"/>
          </a:xfrm>
          <a:prstGeom prst="roundRect">
            <a:avLst>
              <a:gd name="adj" fmla="val 7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2245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Dengelenmiş kuvvetler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6634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cisim ya durgundur ya da sabit hızla doğrusal hareket eder. Fizik açısından bu iki durum arasında hiçbir fark yoktur: ikisi de denge hâlidir ve ikisinde de ivme sıfırdır.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26680" y="4023360"/>
            <a:ext cx="3824935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46720" y="420624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A5F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N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937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kilogramlık cismi 1 m/s² ivmelendiren kuvvet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yasa: eylemsizlik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hareket durumu hiç değişmez.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1600200"/>
          </a:xfrm>
          <a:prstGeom prst="roundRect">
            <a:avLst>
              <a:gd name="adj" fmla="val 8000"/>
            </a:avLst>
          </a:prstGeom>
          <a:solidFill>
            <a:srgbClr val="F1EDFB"/>
          </a:solidFill>
          <a:ln w="12700">
            <a:solidFill>
              <a:srgbClr val="D9CFF3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17830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 cisim durmaya, hareketli cisim sabit hızla doğrusal hareketine devam eder.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118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Cisimlerin hareket durumundaki değişime gösterdiği bu dirence eylemsizlik (atalet) denir. Eylemsizliğin ölçüsü kütledir: kütle büyüdükçe cismin hızını değiştirmek zorlaşır.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4800600"/>
            <a:ext cx="5852160" cy="548640"/>
          </a:xfrm>
          <a:prstGeom prst="roundRect">
            <a:avLst>
              <a:gd name="adj" fmla="val 16667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800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kütle = eylemsizliğin ölçüsü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0" y="1783080"/>
            <a:ext cx="4693615" cy="4069080"/>
          </a:xfrm>
          <a:prstGeom prst="roundRect">
            <a:avLst>
              <a:gd name="adj" fmla="val 314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178040" y="19933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hayatta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178040" y="2587752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frende öne savrulmak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9806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otobüs yavaşlar, sen eski hızınla devam edersin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178040" y="3429000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0" y="3310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Kalkışta arkaya yaslanmak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6393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 hızlanır, sen durgunluğunu korursun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78040" y="4270248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98080" y="41513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örtüsünü hızlı çekmek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4480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tabaklara yeterince kuvvet aktarılmaz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78040" y="5111496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0" y="49926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Emniyet kemeri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53218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olarak bu yüzden vardır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yasa: ΣF = m · 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varsa cisim ivmelenir; ivmenin yönü daima net kuvvetin yönündedir.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m · a        a = ΣF / m</a:t>
            </a:r>
            <a:endParaRPr lang="en-US" sz="1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30352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245352" y="2697480"/>
          <a:ext cx="5306263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yasa: etki–tepki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yalnız başına var olmaz; daima çiftler hâlinde ortaya çıkar.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675120" cy="1463040"/>
          </a:xfrm>
          <a:prstGeom prst="roundRect">
            <a:avLst>
              <a:gd name="adj" fmla="val 8750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17830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cisim ikinciye kuvvet uygularsa, ikincisi de birinciye eşit büyüklükte ve zıt yönde kuvvet uygular.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14400" y="4617720"/>
            <a:ext cx="6126480" cy="0"/>
          </a:xfrm>
          <a:prstGeom prst="line">
            <a:avLst/>
          </a:prstGeom>
          <a:noFill/>
          <a:ln w="25400">
            <a:solidFill>
              <a:srgbClr val="DDE3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4114800"/>
            <a:ext cx="914400" cy="502920"/>
          </a:xfrm>
          <a:prstGeom prst="roundRect">
            <a:avLst>
              <a:gd name="adj" fmla="val 12727"/>
            </a:avLst>
          </a:prstGeom>
          <a:solidFill>
            <a:srgbClr val="9FB8EE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402336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B5A4EC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143000" y="4361688"/>
            <a:ext cx="777240" cy="0"/>
          </a:xfrm>
          <a:prstGeom prst="line">
            <a:avLst/>
          </a:prstGeom>
          <a:noFill/>
          <a:ln w="3810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17920" y="4361688"/>
            <a:ext cx="777240" cy="0"/>
          </a:xfrm>
          <a:prstGeom prst="line">
            <a:avLst/>
          </a:prstGeom>
          <a:noFill/>
          <a:ln w="38100">
            <a:solidFill>
              <a:srgbClr val="6348D4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144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60 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60 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kg → a = 30 m/s²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kg → a = 10 m/s²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212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eşit, ivmeler değil: hafif araba üç kat hızlanır.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635240" y="1783080"/>
            <a:ext cx="3916375" cy="2057400"/>
          </a:xfrm>
          <a:prstGeom prst="roundRect">
            <a:avLst>
              <a:gd name="adj" fmla="val 622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552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377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Yürümek: ayak yeri geri iter, yer seni ileri iter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Roket: gazı aşağı iter, gaz roketi yukarı iter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Tüfeğin geri tepmesi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Yüzerken suyu geriye itmek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402336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955280" y="40233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dengelemezler?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farklı cisimlere etki eder. Dengeleme ancak aynı cisme etki eden kuvvetler arasında olur.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Serbest cisim diyagramı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 problemlerinin tamamı aynı beş adımla çözülür.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84632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4389120"/>
            <a:ext cx="3840480" cy="0"/>
          </a:xfrm>
          <a:prstGeom prst="line">
            <a:avLst/>
          </a:prstGeom>
          <a:noFill/>
          <a:ln w="25400">
            <a:solidFill>
              <a:srgbClr val="DDE3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429000"/>
            <a:ext cx="960120" cy="960120"/>
          </a:xfrm>
          <a:prstGeom prst="roundRect">
            <a:avLst>
              <a:gd name="adj" fmla="val 9524"/>
            </a:avLst>
          </a:prstGeom>
          <a:solidFill>
            <a:srgbClr val="C9D8F5"/>
          </a:solidFill>
          <a:ln w="19050">
            <a:solidFill>
              <a:srgbClr val="2A5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086100" y="2514600"/>
            <a:ext cx="0" cy="914400"/>
          </a:xfrm>
          <a:prstGeom prst="line">
            <a:avLst/>
          </a:prstGeom>
          <a:noFill/>
          <a:ln w="38100">
            <a:solidFill>
              <a:srgbClr val="3C8C2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86100" y="4389120"/>
            <a:ext cx="0" cy="749808"/>
          </a:xfrm>
          <a:prstGeom prst="line">
            <a:avLst/>
          </a:prstGeom>
          <a:noFill/>
          <a:ln w="38100">
            <a:solidFill>
              <a:srgbClr val="6348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66160" y="3909060"/>
            <a:ext cx="1097280" cy="0"/>
          </a:xfrm>
          <a:prstGeom prst="line">
            <a:avLst/>
          </a:prstGeom>
          <a:noFill/>
          <a:ln w="3810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1828800" y="3909060"/>
            <a:ext cx="777240" cy="0"/>
          </a:xfrm>
          <a:prstGeom prst="line">
            <a:avLst/>
          </a:prstGeom>
          <a:noFill/>
          <a:ln w="3810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720340" y="21671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46020" y="51572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m·g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36592" y="37536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7536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429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486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Cisme etki eden tüm kuvvetler — ve yalnızca onlar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52160" y="1783080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956816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178308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İncelenecek cismi seç; onu tek başına çiz.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852160" y="2624328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80760" y="279806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8076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2624328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o cisme etki eden kuvvetleri çiz: ağırlık, normal, sürtünme, ip gerilmesi, uygulanan kuvvet.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852160" y="3465576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80760" y="3639312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8076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3465576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başkalarına uyguladığı kuvvetleri çizme.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852160" y="4306824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4480560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0807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4306824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doğrultusunu pozitif seç; eğik kuvvetleri bileşenlerine ayır.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852160" y="5148072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8076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5148072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eksen için ΣF = m·a yaz ve bilinmeyeni çöz.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Sürtünme kuvveti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Uygulanan kuvvet arttıkça sürtünme de artar — ama bir yere kadar.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269480" y="1783080"/>
            <a:ext cx="4282135" cy="548640"/>
          </a:xfrm>
          <a:prstGeom prst="roundRect">
            <a:avLst>
              <a:gd name="adj" fmla="val 16667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783080"/>
            <a:ext cx="4282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statik: f ≤ μs·N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245059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henüz hareket etmiyorken sürtünme, uygulanan kuvvete eşit büyüklükte ortaya çıkar ve onu dengeler. Ama μs·N değerini aşamaz.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3429000"/>
            <a:ext cx="4282135" cy="548640"/>
          </a:xfrm>
          <a:prstGeom prst="roundRect">
            <a:avLst>
              <a:gd name="adj" fmla="val 16667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69480" y="3429000"/>
            <a:ext cx="4282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kinetik: f = μk·N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409651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 aşıldığı anda cisim harekete başlar; kinetik sürtünme sabittir ve genellikle statik eşikten küçüktür. Bu yüzden bir cismi hareket ettirmek, hareketini sürdürmekten zordur.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5212080"/>
            <a:ext cx="4282135" cy="640080"/>
          </a:xfrm>
          <a:prstGeom prst="roundRect">
            <a:avLst>
              <a:gd name="adj" fmla="val 20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49808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Sürtünme, temas alanına ve hıza değil; N'ye ve yüzey çiftine bağlıdır.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Ağırlık, normal kuvvet ve asansör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Tartı kütleni değil, sana uyguladığı normal kuvveti ölçer.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685800"/>
          </a:xfrm>
          <a:prstGeom prst="roundRect">
            <a:avLst>
              <a:gd name="adj" fmla="val 13333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 · (g + a)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060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Durum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60604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26060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kuvvet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60604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Tartı (60 kg)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209544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2095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Durgun / sabit hız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320954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0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2095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m·g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0954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kg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813048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8130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Yukarı hızlanıyor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81304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+3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8130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m(g + a)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81304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kg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416552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4165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 hızlanıyor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44165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−3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44165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m(g − |a|)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4165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kg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020056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502005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düşme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749040" y="502005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−g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502005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0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502005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kg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035040" y="1783080"/>
            <a:ext cx="5516575" cy="685800"/>
          </a:xfrm>
          <a:prstGeom prst="roundRect">
            <a:avLst>
              <a:gd name="adj" fmla="val 18667"/>
            </a:avLst>
          </a:prstGeom>
          <a:solidFill>
            <a:srgbClr val="EAF0FD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309360" y="1783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Kütlen hiç değişmez; değişen tartının yazdığı sayıdır.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düşmede "ağırlıksızlık", yerçekiminin yok olması değildir: sen de tartı da aynı ivmeyle düştüğü için aranızda kuvvet kalmaz. Uzay istasyonundaki astronotlar da aslında sürekli serbest düşmektedir.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sürtünmeli zemin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katsayısı 0,2 olan yatay bir zeminde duran 4 kg'lık kutuya yatay doğrultuda 12 N'luk kuvvet uygulanıyor.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Kutunun ivmesi kaç m/s²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Düşeyde denge: N = m·g = 4 · 10 = 40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Sürtünme: f = μ·N = 0,2 · 40 = 8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kuvvet: ΣF = 12 − 8 = 4 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İvme: a = ΣF / m = 4 / 4 = 1 m/s²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olmasaydı a = 3 m/s² olurdu.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bağlı cisimler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Sürtünmesiz yatay zeminde iple bağlı 2 kg ve 3 kg'lık cisimler, 2 kg'lık cisimden F = 20 N ile çekiliyor.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Sistemin ivmesi ve ipteki gerilme kuvveti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 m/s² · T = 12 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tek cisim gibi düşün: a = F / (m₁ + m₂) = 20 / 5 = 4 m/s²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3 kg'lık cismi incele: ona etki eden tek yatay kuvvet ip gerilmesidir.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m₂ · a = 3 · 4 = 12 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(2 kg): 20 − 12 = 8 N = 2 · 4 ✓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eğik düzlem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Yatayla 37° açı yapan eğik düzlemde 10 kg'lık bir cisim aşağı doğru kayıyor. Sürtünme katsayısı 0,2'dir.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ivmesi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(sin37° = 0,6 · cos37° = 0,8)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4,4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Eğime paralel bileşen: m·g·sinθ = 10 · 10 · 0,6 = 60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Eğime dik denge: N = m·g·cosθ = 10 · 10 · 0,8 = 80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Sürtünme: f = μ·N = 0,2 · 80 = 16 N (harekete zıt, yukarı)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(60 − 16) / 10 = 4,4 m/s²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eden cisme mutlaka kuvvet etki eder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hızda net kuvvet sıfırdır; kuvvet hareketi değil, değişimi doğurur.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birbirini dengeler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cisimlere etki ettikleri için dengeleyemezler.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ile ağırlık aynı şeydir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kg (skaler), ağırlık N (vektör) ve g'ye bağlıdır.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kuvvet her zaman m·g'dir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Asansörde, eğik düzlemde ve eğik kuvvette değişir.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daima hareketi engeller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Yürümeyi, frenlemeyi sağlayan da odur; bağıl kaymaya zıttır.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hız yönündedir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net kuvvetin yönündedir; yavaşlamada hıza zıttır.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01 · Newton'un hareket yasaları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her şeyi belirler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257800" y="2066544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tek kuvvetler değil, vektörel toplamları önemlidir.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ΣF = 0 ise hareket değişmez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29992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Durgunluk ile sabit hız aynı kapıya çıkar: ivme sıfır.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ΣF = m·a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3931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kuvvetle doğru, kütleyle ters orantılı; yönü net kuvvetin yönünde.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çift gelir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486460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eşit ve zıttır, ama farklı cisimlere etki eder.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laboratuvarı, etki–tepki arabaları ve asansör deneyi: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dersler.perinet.org/newton-yasalari.html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Newton'un hareket yasaları</dc:title>
  <dc:subject>Fizik · Kuvvet ve Hareket</dc:subject>
  <dc:creator>Dersler</dc:creator>
  <cp:lastModifiedBy>Dersler</cp:lastModifiedBy>
  <cp:revision>1</cp:revision>
  <dcterms:created xsi:type="dcterms:W3CDTF">2026-09-18T16:22:51Z</dcterms:created>
  <dcterms:modified xsi:type="dcterms:W3CDTF">2026-09-18T16:22:51Z</dcterms:modified>
</cp:coreProperties>
</file>