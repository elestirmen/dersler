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Otobüs ani fren yapınca neden öne savrulursun? Roket, itecek hiçbir şeyin olmadığı boşlukta nasıl hızlanır? Asansörde tartı neden bazen fazla, bazen az yazar? Üç sorunun da cevabı aynı üç yasada. Newton'un yaptığı şey, "kuvvet" gibi bulanık bir sezgiyi ölçülebilir bir büyüklüğe çevirmekti: artık kuvveti biliyorsan hareketi hesaplayabilir, hareketi görüyorsan kuvveti geri okuyabilirsin.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Otobüs ani fren yapınca neden öne savrulursun? Roket, itecek hiçbir şeyin olmadığı boşlukta nasıl hızlanır? Asansörde tartı neden bazen fazla, bazen az yazar? Üç sorunun da cevabı aynı üç yasada. Newton'un yaptığı şey, "kuvvet" gibi bulanık bir sezgiyi ölçülebilir bir büyüklüğe çevirmekti: artık kuvveti biliyorsan hareketi hesaplayabilir, hareketi görüyorsan kuvveti geri okuyabilirsin.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Kuvvet ve net kuvvet
2. 1. yasa: eylemsizlik
3. 2. yasa: ΣF = m·a
4. 3. yasa: etki–tepki
5. Serbest cisim diyagramı
6. Sürtünme kuvveti
7. Ağırlık, normal kuvvet ve asansör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Kuvvet, bir cismin hareket durumunu ya da şeklini değiştiren etkidir. Vektörel bir büyüklüktür: büyüklüğü, doğrultusu ve yönü vardır. Birimi newton (N)'dur ve 1 N = 1 kg·m/s² demektir.
Bir cisme aynı anda birçok kuvvet etki edebilir. Hareketi belirleyen tek tek kuvvetler değil, hepsinin vektörel toplamı olan net kuvvettir (bileşke kuvvet, ΣF).
Çizim: Kuvvet bir vektördür; bu yüzden kuvvetler sayı gibi değil, ok gibi toplanır. Cismin ne yapacağını tek tek kuvvetler değil, yeşil okla gösterilen net kuvvet belirler. Net kuvvet sıfırsa cisim ya durur ya da sabit hızla gider — ikisi de denge hâlidir.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Kuvvet ve net kuvvet
ΣF = F₁ + F₂ + F₃ + …   aynı yönde: ΣF = F₁ + F₂   zıt yönde: ΣF = F₁ − F₂   dik ise: ΣF = √(F₁² + F₂²)
Net kuvvet sıfırsa kuvvetler dengelenmiştir; cisim ya durgundur ya da sabit hızla doğrusal hareket eder. İkisi de denge hâlidir: fizik açısından aralarında hiçbir fark yoktur.
Üç yasa tek cümlede: Net kuvvet yoksa hareket değişmez (1. yasa), net kuvvet varsa ne kadar değişeceğini ΣF = m·a söyler (2. yasa), ve kuvvetler daima çiftler hâlinde ortaya çıkar (3. yasa).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yasa: eylemsizlik
Bir cisme etki eden net kuvvet sıfırsa, duran cisim durmaya devam eder; hareketli cisim sabit hızla doğrusal hareketine devam eder.
Cisimlerin hareket durumundaki değişime gösterdiği bu dirence eylemsizlik (atalet) denir. Eylemsizliğin ölçüsü kütledir: kütle büyüdükçe cismin hızını değiştirmek zorlaşır.
• Ani frende öne savrulmak: otobüs yavaşlar, sen eski hızınla gitmeye devam edersin.
• Kalkışta arkaya yaslanmak: araç hızlanır, sen durgunluğunu korumaya çalışırsın.
• Masa örtüsünü hızlı çekmek: tabaklara yeterince kuvvet aktarılmaz, yerlerinde kalırlar.
• Emniyet kemeri tam olarak bu yüzden vardır.
Sayfadaki 02 numaralı deney bu yasanın deneysel yüzüdür: diski durduran şey hareketin doğası değil, sürtünmedir. Sürtünme sıfıra giderse durma mesafesi sonsuza gider.
Kütle ile ağırlığı karıştırma. Kütle skalerdir, kilogramla ölçülür ve gittiğin yere göre değişmez. Ağırlık bir kuvvettir (G = m·g), newtonla ölçülür ve g'ye bağlıdır: Ay'da kütlen aynı, ağırlığın altıda birdir.
Çizim: Diskleri durduran şey hareketin doğası değil, sürtünmedir. μ küçüldükçe durma mesafesi d = v²/(2μg) ile uzar; sürtünme sıfıra giderse mesafe sonsuza gider ve disk sonsuza kadar aynı hızla ilerler. 1. yasanın söylediği tam olarak budur: hareketi sürdürmek için kuvvet gerekmez, değiştirmek için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yasa: ΣF = m·a
Net kuvvet sıfır değilse cisim ivmelenir. İvme, net kuvvetle doğru, kütleyle ters orantılıdır ve yönü daima net kuvvetin yönündedir.
ΣF = m · a   a = ΣF / m   1 N = 1 kg · m/s²
Değişen | Sonuç | Örnek
Kuvvet 2 katına çıkar | İvme 2 katına çıkar | 20 N → 40 N, a: 4 → 8 m/s²
Kütle 2 katına çıkar | İvme yarıya iner | 5 kg → 10 kg, a: 4 → 2 m/s²
Net kuvvet sıfır olur | İvme sıfır olur | hız sabit kalır (1. yasa)
Dikkat: ivme hızın değil, net kuvvetin yönündedir. Yavaşlayan bir cisimde net kuvvet hıza zıt yöndedir. Hız ile ivme aynı yönlüyse cisim hızlanır, zıt yönlüyse yavaşlar.
İki boyutta yasa bileşenlere ayrılarak yazılır: ΣFₓ = m·aₓ ve ΣFᵧ = m·aᵧ. 1. yasa da aslında 2. yasanın özel hâlidir: ΣF = 0 ise a = 0.
Çizim: Kütle 5 kg iken kuvveti iki katına çıkarmak ivmeyi de iki katına çıkarır; aynı kuvveti iki kat kütleye uygulamak ivmeyi yarıya indirir. Yeşil oklar bu üç durumun ivmelerini aynı ölçekte gösteriyor. İvmenin yönü daima net kuvvetin yönündedir — hızın yönü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yasa: etki–tepki
Bir cisim ikinci bir cisme kuvvet uyguladığında, ikinci cisim de birinciye eşit büyüklükte ve zıt yönde bir kuvvet uygular. Kuvvetler yalnız başına var olmaz; daima çiftler hâlinde ortaya çıkar.
F₁₂ = −F₂₁
• Yürümek: ayağın yeri geriye iter, yer seni ileriye iter.
• Roket: gazı aşağı iter, gaz roketi yukarı iter.
• Tüfeğin geri tepmesi: mermiye uygulanan kuvvetin tepkisi.
• Yüzmek: suyu geriye itersin, su seni ileriye iter.
Etki ve tepki birbirini dengelemez! Çünkü farklı cisimlere etki ederler. Dengeleme ancak aynı cisme etki eden kuvvetler arasında olur. Masadaki kitapta ağırlığı dengeleyen şey, kitabın masaya uyguladığı kuvvet değil, masanın kitaba uyguladığı normal kuvvettir.
Kuvvetler eşit olsa da sonuçları eşit olmak zorunda değildir: a = F/m olduğu için küçük kütleli cisim daha büyük ivme kazanır. Sayfadaki 03 numaralı deneyde 2 kg'lık araba, 6 kg'lık arabanın 3 katı hızla ayrılır.
Çizim: İki araba birbirini iter: arabaya etkiyen kuvvetlerin büyüklüğü her zaman eşittir, yönleri zıttır. Ama sonuçları eşit değildir — a = F/m olduğu için 2 kg'lık araba 6 kg'lık arabanın üç katı ivme kazanır. Bu iki kuvvet birbirini dengeleyemez, çünkü farklı cisimlere etki ederler.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Serbest cisim diyagramı
Dinamik problemlerinin tamamı aynı yöntemle çözülür: cismi yalnız bırak, üzerine etki eden kuvvetleri çiz, sonra ΣF = m·a yaz.
• Hangi cismi inceleyeceğine karar ver; onu bir nokta ya da kutu olarak çiz.
• Yalnızca o cisme etki eden kuvvetleri çiz: ağırlık (daima aşağı), normal kuvvet (yüzeye dik), sürtünme (yüzeye paralel, kaymaya zıt), ip gerilmesi, uygulanan kuvvet.
• Cismin başkalarına uyguladığı kuvvetleri çizme.
• Hareket doğrultusunu pozitif seçip eksenleri kur; eğik kuvvetleri bileşenlerine ayır.
• Her eksen için ΣF = m·a yaz ve bilinmeyenleri çöz.
Hareketin olmadığı eksende ivme sıfırdır. Yatay zeminde giden bir kutu için düşeyde N − G = 0 → N = m·g. Ama asansörde ya da eğik düzlemde bu eşitlik bozulur; her seferinde yeniden yazmak gerekir.
Çizim: Yöntem her problemde aynı: cismi sahneden söküp al, bir nokta olarak çiz ve yalnızca ona etkiyen kuvvetleri koy. Kutunun yere ya da ipe uyguladığı kuvvetler bu diyagrama girmez. Dikkat: ip yukarı doğru çektiği için burada N &lt; G'dir — normal kuvveti otomatik olarak m·g yazmak en sık yapılan hatadır.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Sürtünme, temas hâlindeki yüzeyler arasında, bağıl kaymaya zıt yönde ortaya çıkan kuvvettir. İki türü vardır:
statik: f ≤ μs · N   kinetik: f = μk · N
Statik sürtünme cisim henüz hareket etmiyorken uygulanan kuvvete eşit büyüklükte ortaya çıkar ve onu dengeler; ancak μs·N değerini aşamaz. Uygulanan kuvvet bu eşiği geçtiği anda cisim harekete başlar ve kinetik sürtünme devreye girer. Genellikle μk &lt; μs olduğu için bir cismi hareket ettirmek, hareketini sürdürmekten zordur.
Çizim: Statik sürtünme uygulanan kuvvetle birlikte büyür ve onu tam olarak dengeler — bu yüzden mavi kısım 45°'lik bir doğrudur. Ama μs·N eşiğini aşamaz; o noktada cisim kurtulur ve sürtünme daha küçük olan kinetik değerine düşer. Bir eşyayı yerinden oynatmanın, sonra itmekten daha zor olmasının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Sürtünme kuvveti
• Sürtünme kuvveti normal kuvvete ve yüzey çiftine bağlıdır.
• Temas alanına ve (yaklaşık olarak) hıza bağlı değildir.
• Sürtünme her zaman kötü değildir: yürümeyi, frenlemeyi, vidanın durmasını sağlayan da odur.
Yüzey çifti | Yaklaşık μ
Buz – çelik | 0,03 – 0,05
Ahşap – ahşap | 0,25 – 0,5
Lastik – kuru asfalt | 0,7 –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Ağırlık, kütleye etki eden çekim kuvvetidir: G = m·g, daima aşağı yöndedir. Normal kuvvet ise yüzeyin cisme uyguladığı, yüzeye dik tepki kuvvetidir. Normal kuvvet her zaman ağırlığa eşit değildir.
yatay zemin: N = m·g   asansör: N = m·(g + a)   eğik düzlem: N = m·g·cosθ
Asansörde tartının gösterdiği değer, tartının sana uyguladığı normal kuvvettir. Yukarı doğru ivmelenirken net kuvvet yukarı olmalıdır, bu yüzden N &gt; G olur ve tartı daha fazlasını yazar. Aşağı doğru ivmelenirken N &lt; G olur.
Çizim: Tartı senin ağırlığını değil, sana uyguladığı normal kuvveti yazar. Yukarı ivmelenirken net kuvvetin yukarı olması gerekir, bu yüzden N büyür; aşağı ivmelenirken küçülür. Halat koparsa sen de tartı da aynı ivmeyle düşersiniz, aranızda kuvvet kalmaz ve tartı sıfır gösterir. Uzaydaki "ağırlıksızlık" da tam olarak budur — yerçekimi yok olduğu için değil, sürekli düşüldüğü için.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Ağırlık, normal kuvvet ve asansör
Durum | İvme | Normal kuvvet | Tartı
Durgun ya da sabit hız | a = 0 | N = m·g | gerçek değer
Yukarı hızlanıyor | a &gt; 0 | N = m(g + a) | fazla gösterir
Aşağı hızlanıyor | a &lt; 0 | N = m(g − |a|) | az gösterir
Serbest düşme | a = −g | N = 0 | sıfır
Serbest düşmedeki "ağırlıksızlık" yerçekiminin yok olması değildir; sen de tartı da aynı ivmeyle düştüğü için aranızda kuvvet kalmamasıdır. Uzay istasyonundaki astronotlar da aslında sürekli serbest düşmektedir.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Sürtünmeli zeminde itilen kutu
Sürtünme katsayısı 0,2 olan yatay bir zeminde duran 4 kg'lık kutuya yatay doğrultuda 12 N'luk kuvvet uygulanıyor. Kutunun ivmesini bulunuz.
1. Düşeyde denge: N = m·g = 4 · 10 = 40 N
2. Sürtünme kuvveti: f = μ·N = 0,2 · 40 = 8 N
3. Net kuvvet: ΣF = 12 − 8 = 4 N
4. İvme: a = ΣF / m = 4 / 4 = 1 m/s²
5. Sürtünme olmasaydı a = 12/4 = 3 m/s² olurdu.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Bağlı iki cisim ve ip gerilmesi
Sürtünmesiz yatay zeminde, ipte bağlı 2 kg ve 3 kg'lık cisimler F = 20 N'luk kuvvetle çekiliyor (kuvvet 2 kg'lık cisme uygulanıyor). Sistemin ivmesini ve ipteki gerilme kuvvetini bulunuz.
1. Sistemi tek cisim gibi düşün: a = F / (m₁ + m₂) = 20 / 5 = 4 m/s²
2. Şimdi yalnızca 3 kg'lık cismi incele: ona etki eden tek yatay kuvvet ip gerilmesidir.
3. T = m₂ · a = 3 · 4 = 12 N
4. Kontrol (2 kg): 20 − 12 = 8 N = 2 · 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Asansördeki tartı
60 kg kütleli bir kişi, 2 m/s² ile yukarı doğru hızlanan bir asansörde tartının üzerinde duruyor. Tartı kaç kilogram gösterir?
1. Kişiye etki eden kuvvetler: ağırlık G = 600 N (aşağı), normal kuvvet N (yukarı).
2. Net kuvvet yukarı olmalı: N − G = m·a
3. N = m(g + a) = 60 · (10 + 2) = 720 N
4. Tartı N/g = 720/10 = 72 kg gösterir; kişinin kütlesi ise hâlâ 60 kg'dır.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Eğik düzlemde kayan cisim
Yatayla 37° açı yapan eğik düzlemde 10 kg'lık bir cisim aşağı doğru kayıyor. Sürtünme katsayısı 0,2 ise ivmesi nedir? (sin37° = 0,6 · cos37° = 0,8)
1. Eğime paralel bileşen: m·g·sinθ = 10 · 10 · 0,6 = 60 N
2. Eğime dik denge: N = m·g·cosθ = 10 · 10 · 0,8 = 80 N
3. Sürtünme: f = μ·N = 0,2 · 80 = 16 N (harekete zıt, yukarı doğru)
4. a = (60 − 16) / 10 = 4,4 m/s²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“Hareket eden cisme mutlaka kuvvet etki eder.” Sabit hızla giden cisimde net kuvvet sıfırdır. Kuvvet hareketi değil, hareketteki değişimi doğurur.
• “Etki ve tepki birbirini dengeler.” Farklı cisimlere etki ettikleri için dengeleyemezler; dengeleme aynı cisimdeki kuvvetler arasında olur.
• “Kütle ile ağırlık aynı şeydir.” Kütle kg, ağırlık N ile ölçülür; biri skaler, diğeri vektördür.
• “Normal kuvvet her zaman m·g'dir.” Asansörde, eğik düzlemde ya da eğik bir kuvvet uygulandığında değişir.
• “Sürtünme daima hareketi engeller.” Yürümeni, frenlemeni ve dönüşte savrulmamanı sağlayan da sürtünmedir; sürtünme bağıl kaymaya zıttır.
• “İvme hız yönündedir.” İvme net kuvvetin yönündedir; yavaşlayan cisimde hıza zıt yöndedir.
• “Cisim kuvvete sahiptir.” Kuvvet bir etkileşimdir, cismin taşıdığı bir özellik değil. "Cismin üzerindeki kuvvet" demek doğrudur.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1. yasa eylemsizlik · 2. yasa F = m·a · 3. yasa etki–tepki · Net kuvvet sıfırsa ivme sıfır
ΣF = m · a — net kuvvet, ivmeyi belirler
G = m · g — ağırlık: kütleye etki eden çekim
f = μ · N — sürtünme kuvveti
F₁₂ = −F₂₁ — etki ve tepki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KUVVET VE HAREKET · KONU 03</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200" b="1" spc="-100" kern="0" dirty="0">
                <a:solidFill>
                  <a:srgbClr val="FFFFFF"/>
                </a:solidFill>
                <a:latin typeface="Cambria" pitchFamily="34" charset="0"/>
                <a:ea typeface="Cambria" pitchFamily="34" charset="-122"/>
                <a:cs typeface="Cambria" pitchFamily="34" charset="-120"/>
              </a:rPr>
              <a:t>Newton'un hareket yasaları</a:t>
            </a:r>
            <a:endParaRPr lang="en-US" sz="42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Cisimler kendiliğinden hızlanmaz, yavaşlamaz, dönmez. Hareketi değiştiren tek şey net kuvvettir. Üç yasa bu cümlenin ne anlama geldiğini, ne kadarını ve kime etki ettiğini söyler. Aşağıda kuvvetleri kendin ver ve sonucu ölç.</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ΣF = m · a   ·   G = m · g   ·   f = μ · N   ·   F₁₂ = −F₂₁</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dersler.perinet.org/newton-yasalari.html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Otobüs ani fren yapınca neden öne savrulursun? Roket, itecek hiçbir şeyin olmadığı boşlukta nasıl hızlanır? Asansörde tartı neden bazen fazla, bazen az yazar? Üç sorunun da cevabı aynı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üç yasada</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Newton'un yaptığı şey, "kuvvet" gibi bulanık bir sezgiyi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ölçülebilir bir büyüklüğe</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çevirmekti: artık kuvveti biliyorsan hareketi hesaplayabilir, hareketi görüyorsan kuvveti geri okuyabilirsin.</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Kuvvet ve net kuvvet</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Kuvvet, bir cismin hareket durumunu ya da şeklini değiştiren etkidir.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1. yasa: eylemsizlik</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cisme etki eden net kuvvet sıfırsa, duran cisim durmaya devam eder; hareketli cisim…</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2. yasa: ΣF = m·a</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Net kuvvet sıfır değilse cisim ivmelenir.</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3. yasa: etki–tepki</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cisim ikinci bir cisme kuvvet uyguladığında, ikinci cisim de birinciye eşit büyüklükte…</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Serbest cisim diyagramı</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Dinamik problemlerinin tamamı aynı yöntemle çözülür: cismi yalnız bırak, üzerine etki eden…</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Sürtünme kuvveti</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Sürtünme, temas hâlindeki yüzeyler arasında, bağıl kaymaya zıt yönde ortaya çıkan kuvvettir.</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Ağırlık, normal kuvvet ve asansör</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Ağırlık, kütleye etki eden çekim kuvvetidir: G = m·g, daima aşağı yöndedir.</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7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a:t>
            </a:r>
            <a:endParaRPr lang="en-US" sz="3200" dirty="0"/>
          </a:p>
        </p:txBody>
      </p:sp>
      <p:sp>
        <p:nvSpPr>
          <p:cNvPr id="5" name="Text 3"/>
          <p:cNvSpPr txBox="1"/>
          <p:nvPr/>
        </p:nvSpPr>
        <p:spPr>
          <a:xfrm>
            <a:off x="640080" y="1481328"/>
            <a:ext cx="667512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Kuvvet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bir cismin hareket durumunu ya da şeklini değiştiren etkidir.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Vektörel bir büyüklüktür: büyüklüğü, doğrultusu ve yönü vardır.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Birimi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newton (N)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'dur ve 1 N = 1 kg·m/s² demektir.</a:t>
            </a:r>
            <a:endParaRPr lang="en-US" sz="1300" dirty="0"/>
          </a:p>
        </p:txBody>
      </p:sp>
      <p:sp>
        <p:nvSpPr>
          <p:cNvPr id="6" name="Text 4"/>
          <p:cNvSpPr txBox="1"/>
          <p:nvPr/>
        </p:nvSpPr>
        <p:spPr>
          <a:xfrm>
            <a:off x="640080" y="2466594"/>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Bir cisme aynı anda birçok kuvvet etki edebilir.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Hareketi belirleyen tek tek kuvvetler değil, hepsinin vektörel toplamı olan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net kuvvettir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(bileşke kuvvet, ΣF).</a:t>
            </a:r>
            <a:endParaRPr lang="en-US" sz="1300" dirty="0"/>
          </a:p>
        </p:txBody>
      </p:sp>
      <p:sp>
        <p:nvSpPr>
          <p:cNvPr id="7" name="Shape 5"/>
          <p:cNvSpPr/>
          <p:nvPr/>
        </p:nvSpPr>
        <p:spPr>
          <a:xfrm>
            <a:off x="7607808" y="1481328"/>
            <a:ext cx="3943807" cy="2774919"/>
          </a:xfrm>
          <a:prstGeom prst="roundRect">
            <a:avLst>
              <a:gd name="adj" fmla="val 527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newton-yasalari-01.png">    </p:cNvPr>
          <p:cNvPicPr>
            <a:picLocks noChangeAspect="1"/>
          </p:cNvPicPr>
          <p:nvPr/>
        </p:nvPicPr>
        <p:blipFill>
          <a:blip r:embed="rId1"/>
          <a:stretch>
            <a:fillRect/>
          </a:stretch>
        </p:blipFill>
        <p:spPr>
          <a:xfrm>
            <a:off x="7790688" y="1664208"/>
            <a:ext cx="3578047" cy="1311879"/>
          </a:xfrm>
          <a:prstGeom prst="rect">
            <a:avLst/>
          </a:prstGeom>
        </p:spPr>
      </p:pic>
      <p:sp>
        <p:nvSpPr>
          <p:cNvPr id="9" name="Shape 6"/>
          <p:cNvSpPr/>
          <p:nvPr/>
        </p:nvSpPr>
        <p:spPr>
          <a:xfrm>
            <a:off x="7790688" y="3067527"/>
            <a:ext cx="3578047" cy="0"/>
          </a:xfrm>
          <a:prstGeom prst="line">
            <a:avLst/>
          </a:prstGeom>
          <a:noFill/>
          <a:ln w="9525">
            <a:solidFill>
              <a:srgbClr val="E1E5EE"/>
            </a:solidFill>
            <a:prstDash val="dash"/>
          </a:ln>
        </p:spPr>
      </p:sp>
      <p:sp>
        <p:nvSpPr>
          <p:cNvPr id="10" name="Text 7"/>
          <p:cNvSpPr txBox="1"/>
          <p:nvPr/>
        </p:nvSpPr>
        <p:spPr>
          <a:xfrm>
            <a:off x="7790688" y="3122391"/>
            <a:ext cx="357804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Kuvvet bir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vektördür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yüzden kuvvetler sayı gibi değil, ok gibi toplanır. Cismin ne yapacağını tek tek kuvvetler değil, yeşil okla gösterilen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net kuvvet</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belirler. Net kuvvet sıfırsa cisim ya durur ya da sabit hızla gider — ikisi de denge hâlidir.</a:t>
            </a:r>
            <a:endParaRPr lang="en-US" sz="105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Kuvvet ve net kuvvet · devam</a:t>
            </a:r>
            <a:endParaRPr lang="en-US" sz="3200" dirty="0"/>
          </a:p>
        </p:txBody>
      </p:sp>
      <p:sp>
        <p:nvSpPr>
          <p:cNvPr id="5" name="Shape 3"/>
          <p:cNvSpPr/>
          <p:nvPr/>
        </p:nvSpPr>
        <p:spPr>
          <a:xfrm>
            <a:off x="640080" y="1481328"/>
            <a:ext cx="2531059" cy="457200"/>
          </a:xfrm>
          <a:prstGeom prst="roundRect">
            <a:avLst>
              <a:gd name="adj" fmla="val 24000"/>
            </a:avLst>
          </a:prstGeom>
          <a:solidFill>
            <a:srgbClr val="EEF2FC"/>
          </a:solidFill>
          <a:ln w="9525">
            <a:solidFill>
              <a:srgbClr val="CBD7F4"/>
            </a:solidFill>
            <a:prstDash val="solid"/>
          </a:ln>
        </p:spPr>
      </p:sp>
      <p:sp>
        <p:nvSpPr>
          <p:cNvPr id="6" name="Text 4"/>
          <p:cNvSpPr txBox="1"/>
          <p:nvPr/>
        </p:nvSpPr>
        <p:spPr>
          <a:xfrm>
            <a:off x="640080" y="1481328"/>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ΣF = F₁ + F₂ + F₃ + …</a:t>
            </a:r>
            <a:endParaRPr lang="en-US" sz="1300" dirty="0"/>
          </a:p>
        </p:txBody>
      </p:sp>
      <p:sp>
        <p:nvSpPr>
          <p:cNvPr id="7" name="Shape 5"/>
          <p:cNvSpPr/>
          <p:nvPr/>
        </p:nvSpPr>
        <p:spPr>
          <a:xfrm>
            <a:off x="3280867" y="1481328"/>
            <a:ext cx="2827325" cy="457200"/>
          </a:xfrm>
          <a:prstGeom prst="roundRect">
            <a:avLst>
              <a:gd name="adj" fmla="val 24000"/>
            </a:avLst>
          </a:prstGeom>
          <a:solidFill>
            <a:srgbClr val="EEF2FC"/>
          </a:solidFill>
          <a:ln w="9525">
            <a:solidFill>
              <a:srgbClr val="CBD7F4"/>
            </a:solidFill>
            <a:prstDash val="solid"/>
          </a:ln>
        </p:spPr>
      </p:sp>
      <p:sp>
        <p:nvSpPr>
          <p:cNvPr id="8" name="Text 6"/>
          <p:cNvSpPr txBox="1"/>
          <p:nvPr/>
        </p:nvSpPr>
        <p:spPr>
          <a:xfrm>
            <a:off x="3280867" y="1481328"/>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aynı yönde: ΣF = F₁ + F₂</a:t>
            </a:r>
            <a:endParaRPr lang="en-US" sz="1300" dirty="0"/>
          </a:p>
        </p:txBody>
      </p:sp>
      <p:sp>
        <p:nvSpPr>
          <p:cNvPr id="9" name="Shape 7"/>
          <p:cNvSpPr/>
          <p:nvPr/>
        </p:nvSpPr>
        <p:spPr>
          <a:xfrm>
            <a:off x="6217920" y="1481328"/>
            <a:ext cx="272857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217920" y="1481328"/>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zıt yönde: ΣF = F₁ − F₂</a:t>
            </a:r>
            <a:endParaRPr lang="en-US" sz="1300" dirty="0"/>
          </a:p>
        </p:txBody>
      </p:sp>
      <p:sp>
        <p:nvSpPr>
          <p:cNvPr id="11" name="Shape 9"/>
          <p:cNvSpPr/>
          <p:nvPr/>
        </p:nvSpPr>
        <p:spPr>
          <a:xfrm>
            <a:off x="640080" y="2048256"/>
            <a:ext cx="3024835"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640080" y="2048256"/>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dik ise: ΣF = √(F₁² + F₂²)</a:t>
            </a:r>
            <a:endParaRPr lang="en-US" sz="1300" dirty="0"/>
          </a:p>
        </p:txBody>
      </p:sp>
      <p:sp>
        <p:nvSpPr>
          <p:cNvPr id="13" name="Text 11"/>
          <p:cNvSpPr txBox="1"/>
          <p:nvPr/>
        </p:nvSpPr>
        <p:spPr>
          <a:xfrm>
            <a:off x="640080" y="2670048"/>
            <a:ext cx="886968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Net kuvvet sıfırsa kuvvetler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dengelenmiştir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ya durgundur ya da sabit hızla doğrusal hareket eder.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İkisi de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denge hâlidir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fizik açısından aralarında hiçbir fark yoktur.</a:t>
            </a:r>
            <a:endParaRPr lang="en-US" sz="1300" dirty="0"/>
          </a:p>
        </p:txBody>
      </p:sp>
      <p:sp>
        <p:nvSpPr>
          <p:cNvPr id="14" name="Shape 12"/>
          <p:cNvSpPr/>
          <p:nvPr/>
        </p:nvSpPr>
        <p:spPr>
          <a:xfrm>
            <a:off x="640080" y="3591306"/>
            <a:ext cx="8869680"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58368" y="3737610"/>
            <a:ext cx="45720" cy="530352"/>
          </a:xfrm>
          <a:prstGeom prst="rect">
            <a:avLst/>
          </a:prstGeom>
          <a:solidFill>
            <a:srgbClr val="3C8C21"/>
          </a:solidFill>
          <a:ln/>
        </p:spPr>
      </p:sp>
      <p:sp>
        <p:nvSpPr>
          <p:cNvPr id="16" name="Text 14"/>
          <p:cNvSpPr txBox="1"/>
          <p:nvPr/>
        </p:nvSpPr>
        <p:spPr>
          <a:xfrm>
            <a:off x="914400" y="3701034"/>
            <a:ext cx="8412480"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Üç yasa tek cümlede:</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Net kuvvet yoksa hareket değişmez (1. yasa), net kuvvet varsa ne kadar değişeceğini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ΣF = m·a</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söyler (2. yasa), ve kuvvetler daima </a:t>
            </a:r>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çiftler hâlinde</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ortaya çıkar (3. yasa).</a:t>
            </a:r>
            <a:endParaRPr lang="en-US" sz="1200" dirty="0"/>
          </a:p>
        </p:txBody>
      </p:sp>
      <p:sp>
        <p:nvSpPr>
          <p:cNvPr id="17" name="Shape 15"/>
          <p:cNvSpPr/>
          <p:nvPr/>
        </p:nvSpPr>
        <p:spPr>
          <a:xfrm>
            <a:off x="640080" y="6382512"/>
            <a:ext cx="128016" cy="128016"/>
          </a:xfrm>
          <a:prstGeom prst="roundRect">
            <a:avLst>
              <a:gd name="adj" fmla="val 28571"/>
            </a:avLst>
          </a:prstGeom>
          <a:solidFill>
            <a:srgbClr val="A9E648"/>
          </a:solidFill>
          <a:ln/>
        </p:spPr>
      </p:sp>
      <p:sp>
        <p:nvSpPr>
          <p:cNvPr id="18"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9"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1. yasa: eylemsizlik</a:t>
            </a:r>
            <a:endParaRPr lang="en-US" sz="3200" dirty="0"/>
          </a:p>
        </p:txBody>
      </p:sp>
      <p:sp>
        <p:nvSpPr>
          <p:cNvPr id="5" name="Text 3"/>
          <p:cNvSpPr txBox="1"/>
          <p:nvPr/>
        </p:nvSpPr>
        <p:spPr>
          <a:xfrm>
            <a:off x="640080" y="1481328"/>
            <a:ext cx="7223760" cy="420624"/>
          </a:xfrm>
          <a:prstGeom prst="rect">
            <a:avLst/>
          </a:prstGeom>
          <a:noFill/>
          <a:ln/>
        </p:spPr>
        <p:txBody>
          <a:bodyPr wrap="square" lIns="0" tIns="0" rIns="0" bIns="0" rtlCol="0" anchor="t"/>
          <a:lstStyle/>
          <a:p>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Bir cisme etki eden net kuvvet sıfırsa, duran cisim durmaya devam eder; hareketli cisim sabit hızla doğrusal hareketine devam eder.</a:t>
            </a:r>
            <a:endParaRPr lang="en-US" sz="1200" dirty="0"/>
          </a:p>
        </p:txBody>
      </p:sp>
      <p:sp>
        <p:nvSpPr>
          <p:cNvPr id="6" name="Text 4"/>
          <p:cNvSpPr txBox="1"/>
          <p:nvPr/>
        </p:nvSpPr>
        <p:spPr>
          <a:xfrm>
            <a:off x="640080" y="2029968"/>
            <a:ext cx="7223760" cy="7589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Cisimlerin hareket durumundaki değişime gösterdiği bu dirence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eylemsizlik (atalet)</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denir.</a:t>
            </a:r>
            <a:endParaRPr lang="en-US" sz="1200" dirty="0"/>
          </a:p>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Eylemsizliğin ölçüsü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kütledir</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kütle büyüdükçe cismin hızını değiştirmek zorlaşır.</a:t>
            </a:r>
            <a:endParaRPr lang="en-US" sz="1200" dirty="0"/>
          </a:p>
        </p:txBody>
      </p:sp>
      <p:sp>
        <p:nvSpPr>
          <p:cNvPr id="7" name="Text 5"/>
          <p:cNvSpPr txBox="1"/>
          <p:nvPr/>
        </p:nvSpPr>
        <p:spPr>
          <a:xfrm>
            <a:off x="640080" y="2898648"/>
            <a:ext cx="7223760" cy="10972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Ani frende öne savrulmak:</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otobüs yavaşlar, sen eski hızınla gitmeye devam edersin.</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Kalkışta arkaya yaslanmak:</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araç hızlanır, sen durgunluğunu korumaya çalışırsın.</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Masa örtüsünü hızlı çekmek:</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tabaklara yeterince kuvvet aktarılmaz, yerlerinde kalırlar.</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Emniyet kemeri</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tam olarak bu yüzden vardır.</a:t>
            </a:r>
            <a:endParaRPr lang="en-US" sz="1200" dirty="0"/>
          </a:p>
        </p:txBody>
      </p:sp>
      <p:sp>
        <p:nvSpPr>
          <p:cNvPr id="8" name="Text 6"/>
          <p:cNvSpPr txBox="1"/>
          <p:nvPr/>
        </p:nvSpPr>
        <p:spPr>
          <a:xfrm>
            <a:off x="640080" y="4105656"/>
            <a:ext cx="7223760" cy="7589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Sayfadaki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02</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numaralı deney bu yasanın deneysel yüzüdür: diski durduran şey hareketin doğası değil, sürtünmedir.</a:t>
            </a:r>
            <a:endParaRPr lang="en-US" sz="1200" dirty="0"/>
          </a:p>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Sürtünme sıfıra giderse durma mesafesi sonsuza gider.</a:t>
            </a:r>
            <a:endParaRPr lang="en-US" sz="1200" dirty="0"/>
          </a:p>
        </p:txBody>
      </p:sp>
      <p:sp>
        <p:nvSpPr>
          <p:cNvPr id="9" name="Shape 7"/>
          <p:cNvSpPr/>
          <p:nvPr/>
        </p:nvSpPr>
        <p:spPr>
          <a:xfrm>
            <a:off x="640080" y="4974336"/>
            <a:ext cx="7223760" cy="980694"/>
          </a:xfrm>
          <a:prstGeom prst="roundRect">
            <a:avLst>
              <a:gd name="adj" fmla="val 111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5120640"/>
            <a:ext cx="45720" cy="688086"/>
          </a:xfrm>
          <a:prstGeom prst="rect">
            <a:avLst/>
          </a:prstGeom>
          <a:solidFill>
            <a:srgbClr val="A56209"/>
          </a:solidFill>
          <a:ln/>
        </p:spPr>
      </p:sp>
      <p:sp>
        <p:nvSpPr>
          <p:cNvPr id="11" name="Text 9"/>
          <p:cNvSpPr txBox="1"/>
          <p:nvPr/>
        </p:nvSpPr>
        <p:spPr>
          <a:xfrm>
            <a:off x="914400" y="5084064"/>
            <a:ext cx="6766560" cy="761238"/>
          </a:xfrm>
          <a:prstGeom prst="rect">
            <a:avLst/>
          </a:prstGeom>
          <a:noFill/>
          <a:ln/>
        </p:spPr>
        <p:txBody>
          <a:bodyPr wrap="square" lIns="0" tIns="0" rIns="0" bIns="0" rtlCol="0" anchor="ctr"/>
          <a:lstStyle/>
          <a:p>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Kütle ile ağırlığı karıştırma.</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Kütle skalerdir, kilogramla ölçülür ve gittiğin yere göre değişmez. Ağırlık bir kuvvettir (G = m·g), newtonla ölçülür ve g'ye bağlıdır: Ay'da kütlen aynı, ağırlığın altıda birdir.</a:t>
            </a:r>
            <a:endParaRPr lang="en-US" sz="1100" dirty="0"/>
          </a:p>
        </p:txBody>
      </p:sp>
      <p:sp>
        <p:nvSpPr>
          <p:cNvPr id="12" name="Shape 10"/>
          <p:cNvSpPr/>
          <p:nvPr/>
        </p:nvSpPr>
        <p:spPr>
          <a:xfrm>
            <a:off x="8156448" y="1481328"/>
            <a:ext cx="3395167" cy="3058462"/>
          </a:xfrm>
          <a:prstGeom prst="roundRect">
            <a:avLst>
              <a:gd name="adj" fmla="val 478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newton-yasalari-02.png">    </p:cNvPr>
          <p:cNvPicPr>
            <a:picLocks noChangeAspect="1"/>
          </p:cNvPicPr>
          <p:nvPr/>
        </p:nvPicPr>
        <p:blipFill>
          <a:blip r:embed="rId1"/>
          <a:stretch>
            <a:fillRect/>
          </a:stretch>
        </p:blipFill>
        <p:spPr>
          <a:xfrm>
            <a:off x="8339328" y="1664208"/>
            <a:ext cx="3029407" cy="1236978"/>
          </a:xfrm>
          <a:prstGeom prst="rect">
            <a:avLst/>
          </a:prstGeom>
        </p:spPr>
      </p:pic>
      <p:sp>
        <p:nvSpPr>
          <p:cNvPr id="14" name="Shape 11"/>
          <p:cNvSpPr/>
          <p:nvPr/>
        </p:nvSpPr>
        <p:spPr>
          <a:xfrm>
            <a:off x="8339328" y="2992626"/>
            <a:ext cx="3029407" cy="0"/>
          </a:xfrm>
          <a:prstGeom prst="line">
            <a:avLst/>
          </a:prstGeom>
          <a:noFill/>
          <a:ln w="9525">
            <a:solidFill>
              <a:srgbClr val="E1E5EE"/>
            </a:solidFill>
            <a:prstDash val="dash"/>
          </a:ln>
        </p:spPr>
      </p:sp>
      <p:sp>
        <p:nvSpPr>
          <p:cNvPr id="15" name="Text 12"/>
          <p:cNvSpPr txBox="1"/>
          <p:nvPr/>
        </p:nvSpPr>
        <p:spPr>
          <a:xfrm>
            <a:off x="8339328" y="3047490"/>
            <a:ext cx="30294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Diskleri durduran şey hareketin doğası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sürtünmedir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μ küçüldükçe durma mesafesi d = v²/(2μg) ile uzar; sürtünme sıfıra giderse mesafe sonsuza gider ve disk sonsuza kadar aynı hızla ilerler. 1. yasanın söylediği tam olarak budur: hareketi sürdürmek için kuvvet gerekmez,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değiştirmek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için gerekir.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2. yasa: ΣF = m·a</a:t>
            </a:r>
            <a:endParaRPr lang="en-US" sz="3200" dirty="0"/>
          </a:p>
        </p:txBody>
      </p:sp>
      <p:sp>
        <p:nvSpPr>
          <p:cNvPr id="5" name="Text 3"/>
          <p:cNvSpPr txBox="1"/>
          <p:nvPr/>
        </p:nvSpPr>
        <p:spPr>
          <a:xfrm>
            <a:off x="640080" y="1481328"/>
            <a:ext cx="6949440" cy="785241"/>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Net kuvvet sıfır değilse cisim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ivmelenir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İvme, net kuvvetle doğru, kütleyle ters orantılıdır ve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yönü daima net kuvvetin yönündedir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a:t>
            </a:r>
            <a:endParaRPr lang="en-US" sz="1250" dirty="0"/>
          </a:p>
        </p:txBody>
      </p:sp>
      <p:sp>
        <p:nvSpPr>
          <p:cNvPr id="6" name="Shape 4"/>
          <p:cNvSpPr/>
          <p:nvPr/>
        </p:nvSpPr>
        <p:spPr>
          <a:xfrm>
            <a:off x="640080" y="2376297"/>
            <a:ext cx="1444752"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376297"/>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ΣF = m · a</a:t>
            </a:r>
            <a:endParaRPr lang="en-US" sz="1300" dirty="0"/>
          </a:p>
        </p:txBody>
      </p:sp>
      <p:sp>
        <p:nvSpPr>
          <p:cNvPr id="8" name="Shape 6"/>
          <p:cNvSpPr/>
          <p:nvPr/>
        </p:nvSpPr>
        <p:spPr>
          <a:xfrm>
            <a:off x="2194560" y="2376297"/>
            <a:ext cx="1444752"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194560" y="2376297"/>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 = ΣF / m</a:t>
            </a:r>
            <a:endParaRPr lang="en-US" sz="1300" dirty="0"/>
          </a:p>
        </p:txBody>
      </p:sp>
      <p:sp>
        <p:nvSpPr>
          <p:cNvPr id="10" name="Shape 8"/>
          <p:cNvSpPr/>
          <p:nvPr/>
        </p:nvSpPr>
        <p:spPr>
          <a:xfrm>
            <a:off x="3749040" y="2376297"/>
            <a:ext cx="2136038"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3749040" y="2376297"/>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1 N = 1 kg · m/s²</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998089"/>
          <a:ext cx="6949440" cy="914400"/>
        </p:xfrm>
        <a:graphic>
          <a:graphicData uri="http://schemas.openxmlformats.org/drawingml/2006/table">
            <a:tbl>
              <a:tblPr/>
              <a:tblGrid>
                <a:gridCol w="2178183"/>
                <a:gridCol w="1970737"/>
                <a:gridCol w="2800521"/>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Değişen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Sonuç</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Örnek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Kuvvet 2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İvme 2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 N → 40 N, a: 4 → 8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Kütle 2 katına çıkar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İvme yarıya iner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 kg → 10 kg, a: 4 → 2 m/s²</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Net kuvvet sıfır olur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İvme sıfır olur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hız sabit kalır (1. yasa)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640080" y="4479417"/>
            <a:ext cx="6949440" cy="849249"/>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Dikkat: </a:t>
            </a:r>
            <a:pPr indent="0" marL="0">
              <a:lnSpc>
                <a:spcPct val="115000"/>
              </a:lnSpc>
              <a:buNone/>
            </a:pPr>
            <a:r>
              <a:rPr lang="en-US" sz="1250" b="1" dirty="0">
                <a:solidFill>
                  <a:srgbClr val="0E1426"/>
                </a:solidFill>
                <a:latin typeface="Calibri" pitchFamily="34" charset="0"/>
                <a:ea typeface="Calibri" pitchFamily="34" charset="-122"/>
                <a:cs typeface="Calibri" pitchFamily="34" charset="-120"/>
              </a:rPr>
              <a:t>ivme hızın değil, net kuvvetin yönündedir</a:t>
            </a:r>
            <a:pPr indent="0" marL="0">
              <a:lnSpc>
                <a:spcPct val="115000"/>
              </a:lnSpc>
              <a:buNone/>
            </a:pPr>
            <a:r>
              <a:rPr lang="en-US" sz="1250" dirty="0">
                <a:solidFill>
                  <a:srgbClr val="4A5470"/>
                </a:solidFill>
                <a:latin typeface="Calibri" pitchFamily="34" charset="0"/>
                <a:ea typeface="Calibri" pitchFamily="34" charset="-122"/>
                <a:cs typeface="Calibri" pitchFamily="34" charset="-120"/>
              </a:rPr>
              <a:t>.</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Yavaşlayan bir cisimde net kuvvet hıza zıt yöndedir.</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Hız ile ivme aynı yönlüyse cisim hızlanır, zıt yönlüyse yavaşlar.</a:t>
            </a:r>
            <a:endParaRPr lang="en-US" sz="1250" dirty="0"/>
          </a:p>
        </p:txBody>
      </p:sp>
      <p:sp>
        <p:nvSpPr>
          <p:cNvPr id="14" name="Text 11"/>
          <p:cNvSpPr txBox="1"/>
          <p:nvPr/>
        </p:nvSpPr>
        <p:spPr>
          <a:xfrm>
            <a:off x="640080" y="5438394"/>
            <a:ext cx="6949440" cy="56616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İki boyutta yasa bileşenlere ayrılarak yazılır: ΣFₓ = m·aₓ ve ΣFᵧ = m·aᵧ.</a:t>
            </a:r>
            <a:endParaRPr lang="en-US" sz="1250" dirty="0"/>
          </a:p>
          <a:p>
            <a:pPr marL="203200" indent="-203200">
              <a:lnSpc>
                <a:spcPct val="115000"/>
              </a:lnSpc>
              <a:spcAft>
                <a:spcPts val="500"/>
              </a:spcAft>
              <a:buSzPct val="100000"/>
              <a:buChar char="▪"/>
            </a:pPr>
            <a:r>
              <a:rPr lang="en-US" sz="1250" dirty="0">
                <a:solidFill>
                  <a:srgbClr val="4A5470"/>
                </a:solidFill>
                <a:latin typeface="Calibri" pitchFamily="34" charset="0"/>
                <a:ea typeface="Calibri" pitchFamily="34" charset="-122"/>
                <a:cs typeface="Calibri" pitchFamily="34" charset="-120"/>
              </a:rPr>
              <a:t>1. yasa da aslında 2. yasanın özel hâlidir: ΣF = 0 ise a = 0.</a:t>
            </a:r>
            <a:endParaRPr lang="en-US" sz="1250" dirty="0"/>
          </a:p>
        </p:txBody>
      </p:sp>
      <p:sp>
        <p:nvSpPr>
          <p:cNvPr id="15" name="Shape 12"/>
          <p:cNvSpPr/>
          <p:nvPr/>
        </p:nvSpPr>
        <p:spPr>
          <a:xfrm>
            <a:off x="7882128" y="1481328"/>
            <a:ext cx="3669487" cy="2770970"/>
          </a:xfrm>
          <a:prstGeom prst="roundRect">
            <a:avLst>
              <a:gd name="adj" fmla="val 528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6" name="Image 0" descr="/tmp/claude-1000/-opt-dersler/a4dee546-de71-4ec2-8add-be39dd273d29/scratchpad/sekiller/newton-yasalari-03.png">    </p:cNvPr>
          <p:cNvPicPr>
            <a:picLocks noChangeAspect="1"/>
          </p:cNvPicPr>
          <p:nvPr/>
        </p:nvPicPr>
        <p:blipFill>
          <a:blip r:embed="rId1"/>
          <a:stretch>
            <a:fillRect/>
          </a:stretch>
        </p:blipFill>
        <p:spPr>
          <a:xfrm>
            <a:off x="8065008" y="1664208"/>
            <a:ext cx="3303727" cy="1128707"/>
          </a:xfrm>
          <a:prstGeom prst="rect">
            <a:avLst/>
          </a:prstGeom>
        </p:spPr>
      </p:pic>
      <p:sp>
        <p:nvSpPr>
          <p:cNvPr id="17" name="Shape 13"/>
          <p:cNvSpPr/>
          <p:nvPr/>
        </p:nvSpPr>
        <p:spPr>
          <a:xfrm>
            <a:off x="8065008" y="2884355"/>
            <a:ext cx="3303727" cy="0"/>
          </a:xfrm>
          <a:prstGeom prst="line">
            <a:avLst/>
          </a:prstGeom>
          <a:noFill/>
          <a:ln w="9525">
            <a:solidFill>
              <a:srgbClr val="E1E5EE"/>
            </a:solidFill>
            <a:prstDash val="dash"/>
          </a:ln>
        </p:spPr>
      </p:sp>
      <p:sp>
        <p:nvSpPr>
          <p:cNvPr id="18" name="Text 14"/>
          <p:cNvSpPr txBox="1"/>
          <p:nvPr/>
        </p:nvSpPr>
        <p:spPr>
          <a:xfrm>
            <a:off x="8065008" y="2939219"/>
            <a:ext cx="3303727" cy="1130198"/>
          </a:xfrm>
          <a:prstGeom prst="rect">
            <a:avLst/>
          </a:prstGeom>
          <a:noFill/>
          <a:ln/>
        </p:spPr>
        <p:txBody>
          <a:bodyPr wrap="square" lIns="0" tIns="0" rIns="0" bIns="0" rtlCol="0" anchor="t"/>
          <a:lstStyle/>
          <a:p>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Kütle 5 kg iken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kuvveti iki katına çıkarmak ivmeyi de iki katına çıkarır; aynı kuvveti iki kat kütleye uygulamak ivmeyi yarıya indirir. Yeşil oklar bu üç durumun ivmelerini aynı ölçekte gösteriyor. İvmenin yönü daima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net kuvvetin yönündedir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hızın yönü değil.</a:t>
            </a:r>
            <a:endParaRPr lang="en-US" sz="1050" dirty="0"/>
          </a:p>
        </p:txBody>
      </p:sp>
      <p:sp>
        <p:nvSpPr>
          <p:cNvPr id="19" name="Shape 15"/>
          <p:cNvSpPr/>
          <p:nvPr/>
        </p:nvSpPr>
        <p:spPr>
          <a:xfrm>
            <a:off x="640080" y="6382512"/>
            <a:ext cx="128016" cy="128016"/>
          </a:xfrm>
          <a:prstGeom prst="roundRect">
            <a:avLst>
              <a:gd name="adj" fmla="val 28571"/>
            </a:avLst>
          </a:prstGeom>
          <a:solidFill>
            <a:srgbClr val="A9E648"/>
          </a:solidFill>
          <a:ln/>
        </p:spPr>
      </p:sp>
      <p:sp>
        <p:nvSpPr>
          <p:cNvPr id="20" name="Text 1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1" name="Text 1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3. yasa: etki–tepki</a:t>
            </a:r>
            <a:endParaRPr lang="en-US" sz="3200" dirty="0"/>
          </a:p>
        </p:txBody>
      </p:sp>
      <p:sp>
        <p:nvSpPr>
          <p:cNvPr id="5" name="Text 3"/>
          <p:cNvSpPr txBox="1"/>
          <p:nvPr/>
        </p:nvSpPr>
        <p:spPr>
          <a:xfrm>
            <a:off x="640080" y="1481328"/>
            <a:ext cx="7223760" cy="7589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Bir cisim ikinci bir cisme kuvvet uyguladığında, ikinci cisim de birinciye eşit büyüklükte ve zıt yönde bir kuvvet uygular.</a:t>
            </a:r>
            <a:endParaRPr lang="en-US" sz="1200" dirty="0"/>
          </a:p>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Kuvvetler yalnız başına var olmaz; daima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çiftler hâlinde</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ortaya çıkar.</a:t>
            </a:r>
            <a:endParaRPr lang="en-US" sz="1200" dirty="0"/>
          </a:p>
        </p:txBody>
      </p:sp>
      <p:sp>
        <p:nvSpPr>
          <p:cNvPr id="6" name="Shape 4"/>
          <p:cNvSpPr/>
          <p:nvPr/>
        </p:nvSpPr>
        <p:spPr>
          <a:xfrm>
            <a:off x="640080" y="2350008"/>
            <a:ext cx="1444752"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350008"/>
            <a:ext cx="1444752"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F₁₂ = −F₂₁</a:t>
            </a:r>
            <a:endParaRPr lang="en-US" sz="1300" dirty="0"/>
          </a:p>
        </p:txBody>
      </p:sp>
      <p:sp>
        <p:nvSpPr>
          <p:cNvPr id="8" name="Text 6"/>
          <p:cNvSpPr txBox="1"/>
          <p:nvPr/>
        </p:nvSpPr>
        <p:spPr>
          <a:xfrm>
            <a:off x="640080" y="2971800"/>
            <a:ext cx="7223760" cy="10972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Yürümek:</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ayağın yeri geriye iter, yer seni ileriye iter.</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Roket:</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gazı aşağı iter, gaz roketi yukarı iter.</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Tüfeğin geri tepmesi:</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mermiye uygulanan kuvvetin tepkisi.</a:t>
            </a:r>
            <a:endParaRPr lang="en-US" sz="1200" dirty="0"/>
          </a:p>
          <a:p>
            <a:pPr marL="203200" indent="-203200">
              <a:lnSpc>
                <a:spcPct val="115000"/>
              </a:lnSpc>
              <a:spcAft>
                <a:spcPts val="500"/>
              </a:spcAft>
              <a:buSzPct val="100000"/>
              <a:buChar char="▪"/>
            </a:pPr>
            <a:r>
              <a:rPr lang="en-US" sz="1200" b="1" dirty="0">
                <a:solidFill>
                  <a:srgbClr val="0E1426"/>
                </a:solidFill>
                <a:latin typeface="Calibri" pitchFamily="34" charset="0"/>
                <a:ea typeface="Calibri" pitchFamily="34" charset="-122"/>
                <a:cs typeface="Calibri" pitchFamily="34" charset="-120"/>
              </a:rPr>
              <a:t>Yüzmek:</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suyu geriye itersin, su seni ileriye iter.</a:t>
            </a:r>
            <a:endParaRPr lang="en-US" sz="1200" dirty="0"/>
          </a:p>
        </p:txBody>
      </p:sp>
      <p:sp>
        <p:nvSpPr>
          <p:cNvPr id="9" name="Shape 7"/>
          <p:cNvSpPr/>
          <p:nvPr/>
        </p:nvSpPr>
        <p:spPr>
          <a:xfrm>
            <a:off x="640080" y="4178808"/>
            <a:ext cx="7223760" cy="980694"/>
          </a:xfrm>
          <a:prstGeom prst="roundRect">
            <a:avLst>
              <a:gd name="adj" fmla="val 111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4325112"/>
            <a:ext cx="45720" cy="688086"/>
          </a:xfrm>
          <a:prstGeom prst="rect">
            <a:avLst/>
          </a:prstGeom>
          <a:solidFill>
            <a:srgbClr val="A56209"/>
          </a:solidFill>
          <a:ln/>
        </p:spPr>
      </p:sp>
      <p:sp>
        <p:nvSpPr>
          <p:cNvPr id="11" name="Text 9"/>
          <p:cNvSpPr txBox="1"/>
          <p:nvPr/>
        </p:nvSpPr>
        <p:spPr>
          <a:xfrm>
            <a:off x="914400" y="4288536"/>
            <a:ext cx="6766560" cy="761238"/>
          </a:xfrm>
          <a:prstGeom prst="rect">
            <a:avLst/>
          </a:prstGeom>
          <a:noFill/>
          <a:ln/>
        </p:spPr>
        <p:txBody>
          <a:bodyPr wrap="square" lIns="0" tIns="0" rIns="0" bIns="0" rtlCol="0" anchor="ctr"/>
          <a:lstStyle/>
          <a:p>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Etki ve tepki birbirini dengelemez!</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Çünkü </a:t>
            </a:r>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farklı cisimlere</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etki ederler. Dengeleme ancak </a:t>
            </a:r>
            <a:pPr indent="0" marL="0">
              <a:lnSpc>
                <a:spcPct val="112000"/>
              </a:lnSpc>
              <a:buNone/>
            </a:pPr>
            <a:r>
              <a:rPr lang="en-US" sz="1100" b="1" dirty="0">
                <a:solidFill>
                  <a:srgbClr val="0E1426"/>
                </a:solidFill>
                <a:latin typeface="Calibri" pitchFamily="34" charset="0"/>
                <a:ea typeface="Calibri" pitchFamily="34" charset="-122"/>
                <a:cs typeface="Calibri" pitchFamily="34" charset="-120"/>
              </a:rPr>
              <a:t>aynı cisme</a:t>
            </a:r>
            <a:pPr indent="0" marL="0">
              <a:lnSpc>
                <a:spcPct val="112000"/>
              </a:lnSpc>
              <a:buNone/>
            </a:pPr>
            <a:r>
              <a:rPr lang="en-US" sz="1100" dirty="0">
                <a:solidFill>
                  <a:srgbClr val="4A5470"/>
                </a:solidFill>
                <a:latin typeface="Calibri" pitchFamily="34" charset="0"/>
                <a:ea typeface="Calibri" pitchFamily="34" charset="-122"/>
                <a:cs typeface="Calibri" pitchFamily="34" charset="-120"/>
              </a:rPr>
              <a:t> etki eden kuvvetler arasında olur. Masadaki kitapta ağırlığı dengeleyen şey, kitabın masaya uyguladığı kuvvet değil, masanın kitaba uyguladığı normal kuvvettir.</a:t>
            </a:r>
            <a:endParaRPr lang="en-US" sz="1100" dirty="0"/>
          </a:p>
        </p:txBody>
      </p:sp>
      <p:sp>
        <p:nvSpPr>
          <p:cNvPr id="12" name="Text 10"/>
          <p:cNvSpPr txBox="1"/>
          <p:nvPr/>
        </p:nvSpPr>
        <p:spPr>
          <a:xfrm>
            <a:off x="640080" y="5269230"/>
            <a:ext cx="7223760" cy="7589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Kuvvetler eşit olsa da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sonuçları eşit olmak zorunda değildir</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a = F/m olduğu için küçük kütleli cisim daha büyük ivme kazanır.</a:t>
            </a:r>
            <a:endParaRPr lang="en-US" sz="1200" dirty="0"/>
          </a:p>
          <a:p>
            <a:pPr marL="203200" indent="-203200">
              <a:lnSpc>
                <a:spcPct val="115000"/>
              </a:lnSpc>
              <a:spcAft>
                <a:spcPts val="500"/>
              </a:spcAft>
              <a:buSzPct val="100000"/>
              <a:buChar char="▪"/>
            </a:pPr>
            <a:r>
              <a:rPr lang="en-US" sz="1200" dirty="0">
                <a:solidFill>
                  <a:srgbClr val="4A5470"/>
                </a:solidFill>
                <a:latin typeface="Calibri" pitchFamily="34" charset="0"/>
                <a:ea typeface="Calibri" pitchFamily="34" charset="-122"/>
                <a:cs typeface="Calibri" pitchFamily="34" charset="-120"/>
              </a:rPr>
              <a:t>Sayfadaki </a:t>
            </a:r>
            <a:pPr indent="0" marL="0">
              <a:lnSpc>
                <a:spcPct val="115000"/>
              </a:lnSpc>
              <a:buNone/>
            </a:pPr>
            <a:r>
              <a:rPr lang="en-US" sz="1200" b="1" dirty="0">
                <a:solidFill>
                  <a:srgbClr val="0E1426"/>
                </a:solidFill>
                <a:latin typeface="Calibri" pitchFamily="34" charset="0"/>
                <a:ea typeface="Calibri" pitchFamily="34" charset="-122"/>
                <a:cs typeface="Calibri" pitchFamily="34" charset="-120"/>
              </a:rPr>
              <a:t>03</a:t>
            </a:r>
            <a:pPr indent="0" marL="0">
              <a:lnSpc>
                <a:spcPct val="115000"/>
              </a:lnSpc>
              <a:buNone/>
            </a:pPr>
            <a:r>
              <a:rPr lang="en-US" sz="1200" dirty="0">
                <a:solidFill>
                  <a:srgbClr val="4A5470"/>
                </a:solidFill>
                <a:latin typeface="Calibri" pitchFamily="34" charset="0"/>
                <a:ea typeface="Calibri" pitchFamily="34" charset="-122"/>
                <a:cs typeface="Calibri" pitchFamily="34" charset="-120"/>
              </a:rPr>
              <a:t> numaralı deneyde 2 kg'lık araba, 6 kg'lık arabanın 3 katı hızla ayrılır.</a:t>
            </a:r>
            <a:endParaRPr lang="en-US" sz="1200" dirty="0"/>
          </a:p>
        </p:txBody>
      </p:sp>
      <p:sp>
        <p:nvSpPr>
          <p:cNvPr id="13" name="Shape 11"/>
          <p:cNvSpPr/>
          <p:nvPr/>
        </p:nvSpPr>
        <p:spPr>
          <a:xfrm>
            <a:off x="8156448" y="1481328"/>
            <a:ext cx="3395167" cy="3083677"/>
          </a:xfrm>
          <a:prstGeom prst="roundRect">
            <a:avLst>
              <a:gd name="adj" fmla="val 474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newton-yasalari-04.png">    </p:cNvPr>
          <p:cNvPicPr>
            <a:picLocks noChangeAspect="1"/>
          </p:cNvPicPr>
          <p:nvPr/>
        </p:nvPicPr>
        <p:blipFill>
          <a:blip r:embed="rId1"/>
          <a:stretch>
            <a:fillRect/>
          </a:stretch>
        </p:blipFill>
        <p:spPr>
          <a:xfrm>
            <a:off x="8339328" y="1664208"/>
            <a:ext cx="3029407" cy="1262192"/>
          </a:xfrm>
          <a:prstGeom prst="rect">
            <a:avLst/>
          </a:prstGeom>
        </p:spPr>
      </p:pic>
      <p:sp>
        <p:nvSpPr>
          <p:cNvPr id="15" name="Shape 12"/>
          <p:cNvSpPr/>
          <p:nvPr/>
        </p:nvSpPr>
        <p:spPr>
          <a:xfrm>
            <a:off x="8339328" y="3017840"/>
            <a:ext cx="3029407" cy="0"/>
          </a:xfrm>
          <a:prstGeom prst="line">
            <a:avLst/>
          </a:prstGeom>
          <a:noFill/>
          <a:ln w="9525">
            <a:solidFill>
              <a:srgbClr val="E1E5EE"/>
            </a:solidFill>
            <a:prstDash val="dash"/>
          </a:ln>
        </p:spPr>
      </p:sp>
      <p:sp>
        <p:nvSpPr>
          <p:cNvPr id="16" name="Text 13"/>
          <p:cNvSpPr txBox="1"/>
          <p:nvPr/>
        </p:nvSpPr>
        <p:spPr>
          <a:xfrm>
            <a:off x="8339328" y="3072704"/>
            <a:ext cx="30294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araba birbirini iter: arabaya etkiyen kuvvetlerin büyüklüğü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zaman eşittir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yönleri zıttır. Ama sonuçları eşit değildir — a = F/m olduğu için 2 kg'lık araba 6 kg'lık arabanın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üç katı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ivme kazanır. Bu iki kuvvet birbirini dengeleyemez, çünkü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farklı cisimlere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etki ederler.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Serbest cisim diyagramı</a:t>
            </a:r>
            <a:endParaRPr lang="en-US" sz="3200" dirty="0"/>
          </a:p>
        </p:txBody>
      </p:sp>
      <p:sp>
        <p:nvSpPr>
          <p:cNvPr id="5" name="Text 3"/>
          <p:cNvSpPr txBox="1"/>
          <p:nvPr/>
        </p:nvSpPr>
        <p:spPr>
          <a:xfrm>
            <a:off x="640080" y="1481328"/>
            <a:ext cx="6309360" cy="490728"/>
          </a:xfrm>
          <a:prstGeom prst="rect">
            <a:avLst/>
          </a:prstGeom>
          <a:noFill/>
          <a:ln/>
        </p:spPr>
        <p:txBody>
          <a:bodyPr wrap="square" lIns="0" tIns="0" rIns="0" bIns="0" rtlCol="0" anchor="t"/>
          <a:lstStyle/>
          <a:p>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Dinamik problemlerinin tamamı aynı yöntemle çözülür: cismi yalnız bırak, üzerine etki eden kuvvetleri çiz, sonra ΣF = m·a yaz.</a:t>
            </a:r>
            <a:endParaRPr lang="en-US" sz="1400" dirty="0"/>
          </a:p>
        </p:txBody>
      </p:sp>
      <p:sp>
        <p:nvSpPr>
          <p:cNvPr id="6" name="Text 4"/>
          <p:cNvSpPr txBox="1"/>
          <p:nvPr/>
        </p:nvSpPr>
        <p:spPr>
          <a:xfrm>
            <a:off x="640080" y="2100072"/>
            <a:ext cx="6309360" cy="252831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Hangi cismi inceleyeceğine karar ver; onu bir nokta ya da kutu olarak çiz.</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Yalnızca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o cisme etki eden</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kuvvetleri çiz: ağırlık (daima aşağı), normal kuvvet (yüzeye dik), sürtünme (yüzeye paralel, kaymaya zıt), ip gerilmesi, uygulanan kuvvet.</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Cismin </a:t>
            </a:r>
            <a:pPr indent="0" marL="0">
              <a:lnSpc>
                <a:spcPct val="115000"/>
              </a:lnSpc>
              <a:buNone/>
            </a:pPr>
            <a:r>
              <a:rPr lang="en-US" sz="1400" i="1" dirty="0">
                <a:solidFill>
                  <a:srgbClr val="4A5470"/>
                </a:solidFill>
                <a:latin typeface="Calibri" pitchFamily="34" charset="0"/>
                <a:ea typeface="Calibri" pitchFamily="34" charset="-122"/>
                <a:cs typeface="Calibri" pitchFamily="34" charset="-120"/>
              </a:rPr>
              <a:t>başkalarına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uyguladığı kuvvetleri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çizme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Hareket doğrultusunu pozitif seçip eksenleri kur; eğik kuvvetleri bileşenlerine ayır.</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Her eksen için ΣF = m·a yaz ve bilinmeyenleri çöz.</a:t>
            </a:r>
            <a:endParaRPr lang="en-US" sz="1400" dirty="0"/>
          </a:p>
        </p:txBody>
      </p:sp>
      <p:sp>
        <p:nvSpPr>
          <p:cNvPr id="7" name="Shape 5"/>
          <p:cNvSpPr/>
          <p:nvPr/>
        </p:nvSpPr>
        <p:spPr>
          <a:xfrm>
            <a:off x="640080" y="4738116"/>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4884420"/>
            <a:ext cx="45720" cy="793242"/>
          </a:xfrm>
          <a:prstGeom prst="rect">
            <a:avLst/>
          </a:prstGeom>
          <a:solidFill>
            <a:srgbClr val="3C8C21"/>
          </a:solidFill>
          <a:ln/>
        </p:spPr>
      </p:sp>
      <p:sp>
        <p:nvSpPr>
          <p:cNvPr id="9" name="Text 7"/>
          <p:cNvSpPr txBox="1"/>
          <p:nvPr/>
        </p:nvSpPr>
        <p:spPr>
          <a:xfrm>
            <a:off x="914400" y="4847844"/>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Hareketin olmadığı eksende ivme sıfırdır.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Yatay zeminde giden bir kutu için düşeyde N − G = 0 → N = m·g. Ama asansörde ya da eğik düzlemde bu eşitlik bozulur; her seferinde yeniden yazmak gerekir.</a:t>
            </a:r>
            <a:endParaRPr lang="en-US" sz="1300" dirty="0"/>
          </a:p>
        </p:txBody>
      </p:sp>
      <p:sp>
        <p:nvSpPr>
          <p:cNvPr id="10" name="Shape 8"/>
          <p:cNvSpPr/>
          <p:nvPr/>
        </p:nvSpPr>
        <p:spPr>
          <a:xfrm>
            <a:off x="7242048" y="1481328"/>
            <a:ext cx="4309567" cy="3531924"/>
          </a:xfrm>
          <a:prstGeom prst="roundRect">
            <a:avLst>
              <a:gd name="adj" fmla="val 41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a4dee546-de71-4ec2-8add-be39dd273d29/scratchpad/sekiller/newton-yasalari-05.png">    </p:cNvPr>
          <p:cNvPicPr>
            <a:picLocks noChangeAspect="1"/>
          </p:cNvPicPr>
          <p:nvPr/>
        </p:nvPicPr>
        <p:blipFill>
          <a:blip r:embed="rId1"/>
          <a:stretch>
            <a:fillRect/>
          </a:stretch>
        </p:blipFill>
        <p:spPr>
          <a:xfrm>
            <a:off x="7424928" y="1664208"/>
            <a:ext cx="3943807" cy="1889662"/>
          </a:xfrm>
          <a:prstGeom prst="rect">
            <a:avLst/>
          </a:prstGeom>
        </p:spPr>
      </p:pic>
      <p:sp>
        <p:nvSpPr>
          <p:cNvPr id="12" name="Shape 9"/>
          <p:cNvSpPr/>
          <p:nvPr/>
        </p:nvSpPr>
        <p:spPr>
          <a:xfrm>
            <a:off x="7424928" y="3645310"/>
            <a:ext cx="3943807" cy="0"/>
          </a:xfrm>
          <a:prstGeom prst="line">
            <a:avLst/>
          </a:prstGeom>
          <a:noFill/>
          <a:ln w="9525">
            <a:solidFill>
              <a:srgbClr val="E1E5EE"/>
            </a:solidFill>
            <a:prstDash val="dash"/>
          </a:ln>
        </p:spPr>
      </p:sp>
      <p:sp>
        <p:nvSpPr>
          <p:cNvPr id="13" name="Text 10"/>
          <p:cNvSpPr txBox="1"/>
          <p:nvPr/>
        </p:nvSpPr>
        <p:spPr>
          <a:xfrm>
            <a:off x="7424928" y="3700174"/>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Yöntem her problemde aynı: cismi sahneden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söküp al</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nokta olarak çiz ve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ona etkiyen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kuvvetleri koy. Kutunun yere ya da ipe uyguladığı kuvvetler bu diyagrama girmez. Dikkat: ip yukarı doğru çektiği için burada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 &lt; G</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'dir — normal kuvveti otomatik olarak m·g yazmak en sık yapılan hatadır.</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a:t>
            </a:r>
            <a:endParaRPr lang="en-US" sz="3200" dirty="0"/>
          </a:p>
        </p:txBody>
      </p:sp>
      <p:sp>
        <p:nvSpPr>
          <p:cNvPr id="5" name="Text 3"/>
          <p:cNvSpPr txBox="1"/>
          <p:nvPr/>
        </p:nvSpPr>
        <p:spPr>
          <a:xfrm>
            <a:off x="640080" y="1481328"/>
            <a:ext cx="667512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Sürtünme, temas hâlindeki yüzeyler arasında,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bağıl kaymaya zıt yönde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ortaya çıkan kuvvettir.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İki türü vardır:</a:t>
            </a:r>
            <a:endParaRPr lang="en-US" sz="1300" dirty="0"/>
          </a:p>
        </p:txBody>
      </p:sp>
      <p:sp>
        <p:nvSpPr>
          <p:cNvPr id="6" name="Shape 4"/>
          <p:cNvSpPr/>
          <p:nvPr/>
        </p:nvSpPr>
        <p:spPr>
          <a:xfrm>
            <a:off x="640080" y="2402586"/>
            <a:ext cx="223479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402586"/>
            <a:ext cx="223479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statik: f ≤ μs · N</a:t>
            </a:r>
            <a:endParaRPr lang="en-US" sz="1300" dirty="0"/>
          </a:p>
        </p:txBody>
      </p:sp>
      <p:sp>
        <p:nvSpPr>
          <p:cNvPr id="8" name="Shape 6"/>
          <p:cNvSpPr/>
          <p:nvPr/>
        </p:nvSpPr>
        <p:spPr>
          <a:xfrm>
            <a:off x="2984602" y="2402586"/>
            <a:ext cx="2333549"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984602" y="2402586"/>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kinetik: f = μk · N</a:t>
            </a:r>
            <a:endParaRPr lang="en-US" sz="1300" dirty="0"/>
          </a:p>
        </p:txBody>
      </p:sp>
      <p:sp>
        <p:nvSpPr>
          <p:cNvPr id="10" name="Text 8"/>
          <p:cNvSpPr txBox="1"/>
          <p:nvPr/>
        </p:nvSpPr>
        <p:spPr>
          <a:xfrm>
            <a:off x="640080" y="3024378"/>
            <a:ext cx="6675120" cy="155905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Statik sürtünme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henüz hareket etmiyorken uygulanan kuvvete </a:t>
            </a:r>
            <a:pPr indent="0" marL="0">
              <a:lnSpc>
                <a:spcPct val="115000"/>
              </a:lnSpc>
              <a:buNone/>
            </a:pPr>
            <a:r>
              <a:rPr lang="en-US" sz="1300" i="1" dirty="0">
                <a:solidFill>
                  <a:srgbClr val="4A5470"/>
                </a:solidFill>
                <a:latin typeface="Calibri" pitchFamily="34" charset="0"/>
                <a:ea typeface="Calibri" pitchFamily="34" charset="-122"/>
                <a:cs typeface="Calibri" pitchFamily="34" charset="-120"/>
              </a:rPr>
              <a:t>eşit büyüklükte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ortaya çıkar ve onu dengeler; ancak μs·N değerini aşamaz.</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Uygulanan kuvvet bu eşiği geçtiği anda cisim harekete başlar ve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kinetik sürtünme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devreye girer.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Genellikle μk &lt; μs olduğu için bir cismi hareket ettirmek, hareketini sürdürmekten zordur.</a:t>
            </a:r>
            <a:endParaRPr lang="en-US" sz="1300" dirty="0"/>
          </a:p>
        </p:txBody>
      </p:sp>
      <p:sp>
        <p:nvSpPr>
          <p:cNvPr id="11" name="Shape 9"/>
          <p:cNvSpPr/>
          <p:nvPr/>
        </p:nvSpPr>
        <p:spPr>
          <a:xfrm>
            <a:off x="7607808" y="1481328"/>
            <a:ext cx="3943807" cy="3133044"/>
          </a:xfrm>
          <a:prstGeom prst="roundRect">
            <a:avLst>
              <a:gd name="adj" fmla="val 46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newton-yasalari-06.png">    </p:cNvPr>
          <p:cNvPicPr>
            <a:picLocks noChangeAspect="1"/>
          </p:cNvPicPr>
          <p:nvPr/>
        </p:nvPicPr>
        <p:blipFill>
          <a:blip r:embed="rId1"/>
          <a:stretch>
            <a:fillRect/>
          </a:stretch>
        </p:blipFill>
        <p:spPr>
          <a:xfrm>
            <a:off x="7790688" y="1664208"/>
            <a:ext cx="3578047" cy="1490781"/>
          </a:xfrm>
          <a:prstGeom prst="rect">
            <a:avLst/>
          </a:prstGeom>
        </p:spPr>
      </p:pic>
      <p:sp>
        <p:nvSpPr>
          <p:cNvPr id="13" name="Shape 10"/>
          <p:cNvSpPr/>
          <p:nvPr/>
        </p:nvSpPr>
        <p:spPr>
          <a:xfrm>
            <a:off x="7790688" y="3246429"/>
            <a:ext cx="3578047" cy="0"/>
          </a:xfrm>
          <a:prstGeom prst="line">
            <a:avLst/>
          </a:prstGeom>
          <a:noFill/>
          <a:ln w="9525">
            <a:solidFill>
              <a:srgbClr val="E1E5EE"/>
            </a:solidFill>
            <a:prstDash val="dash"/>
          </a:ln>
        </p:spPr>
      </p:sp>
      <p:sp>
        <p:nvSpPr>
          <p:cNvPr id="14" name="Text 11"/>
          <p:cNvSpPr txBox="1"/>
          <p:nvPr/>
        </p:nvSpPr>
        <p:spPr>
          <a:xfrm>
            <a:off x="7790688" y="3301293"/>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Statik sürtünme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uygulanan kuvvetle birlikte büyür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onu tam olarak dengeler — bu yüzden mavi kısım 45°'lik bir doğrudur. Ama μs·N eşiğini aşamaz; o noktada cisim kurtulur ve sürtünme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daha küçük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olan kinetik değerine düşer. Bir eşyayı yerinden oynatmanın, sonra itmekten daha zor olmasının sebebi budur.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Sürtünme kuvveti · devam</a:t>
            </a:r>
            <a:endParaRPr lang="en-US" sz="3200" dirty="0"/>
          </a:p>
        </p:txBody>
      </p:sp>
      <p:sp>
        <p:nvSpPr>
          <p:cNvPr id="5" name="Text 3"/>
          <p:cNvSpPr txBox="1"/>
          <p:nvPr/>
        </p:nvSpPr>
        <p:spPr>
          <a:xfrm>
            <a:off x="640080" y="1481328"/>
            <a:ext cx="886968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Sürtünme kuvveti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normal kuvvete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ve yüzey çiftine bağlıdır.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Temas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alanına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ve (yaklaşık olarak) hıza bağlı değildir.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Sürtünme her zaman kötü değildir: yürümeyi, frenlemeyi, vidanın durmasını sağlayan da odur.</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2466594"/>
          <a:ext cx="8869680" cy="914400"/>
        </p:xfrm>
        <a:graphic>
          <a:graphicData uri="http://schemas.openxmlformats.org/drawingml/2006/table">
            <a:tbl>
              <a:tblPr/>
              <a:tblGrid>
                <a:gridCol w="5722374"/>
                <a:gridCol w="3147306"/>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Yüzey çifti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Yaklaşık μ</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Buz – çelik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0,03 – 0,05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Ahşap – ahşap</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0,25 – 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Lastik – kuru asfalt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0,7 – 0,9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a:t>
            </a:r>
            <a:endParaRPr lang="en-US" sz="3200" dirty="0"/>
          </a:p>
        </p:txBody>
      </p:sp>
      <p:sp>
        <p:nvSpPr>
          <p:cNvPr id="5" name="Text 3"/>
          <p:cNvSpPr txBox="1"/>
          <p:nvPr/>
        </p:nvSpPr>
        <p:spPr>
          <a:xfrm>
            <a:off x="640080" y="1481328"/>
            <a:ext cx="6675120" cy="110337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Ağırlık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kütleye etki eden çekim kuvvetidir: G = m·g, daima aşağı yöndedir.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Normal kuvvet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ise yüzeyin cisme uyguladığı, yüzeye dik tepki kuvvetidir.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Normal kuvvet </a:t>
            </a:r>
            <a:pPr indent="0" marL="0">
              <a:lnSpc>
                <a:spcPct val="115000"/>
              </a:lnSpc>
              <a:buNone/>
            </a:pPr>
            <a:r>
              <a:rPr lang="en-US" sz="1300" i="1" dirty="0">
                <a:solidFill>
                  <a:srgbClr val="4A5470"/>
                </a:solidFill>
                <a:latin typeface="Calibri" pitchFamily="34" charset="0"/>
                <a:ea typeface="Calibri" pitchFamily="34" charset="-122"/>
                <a:cs typeface="Calibri" pitchFamily="34" charset="-120"/>
              </a:rPr>
              <a:t>her zaman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ağırlığa eşit değildir.</a:t>
            </a:r>
            <a:endParaRPr lang="en-US" sz="1300" dirty="0"/>
          </a:p>
        </p:txBody>
      </p:sp>
      <p:sp>
        <p:nvSpPr>
          <p:cNvPr id="6" name="Shape 4"/>
          <p:cNvSpPr/>
          <p:nvPr/>
        </p:nvSpPr>
        <p:spPr>
          <a:xfrm>
            <a:off x="640080" y="2694432"/>
            <a:ext cx="243230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694432"/>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yatay zemin: N = m·g</a:t>
            </a:r>
            <a:endParaRPr lang="en-US" sz="1300" dirty="0"/>
          </a:p>
        </p:txBody>
      </p:sp>
      <p:sp>
        <p:nvSpPr>
          <p:cNvPr id="8" name="Shape 6"/>
          <p:cNvSpPr/>
          <p:nvPr/>
        </p:nvSpPr>
        <p:spPr>
          <a:xfrm>
            <a:off x="3182112" y="2694432"/>
            <a:ext cx="2629814"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3182112" y="2694432"/>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asansör: N = m·(g + a)</a:t>
            </a:r>
            <a:endParaRPr lang="en-US" sz="1300" dirty="0"/>
          </a:p>
        </p:txBody>
      </p:sp>
      <p:sp>
        <p:nvSpPr>
          <p:cNvPr id="10" name="Shape 8"/>
          <p:cNvSpPr/>
          <p:nvPr/>
        </p:nvSpPr>
        <p:spPr>
          <a:xfrm>
            <a:off x="640080" y="3261360"/>
            <a:ext cx="2926080"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3261360"/>
            <a:ext cx="292608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eğik düzlem: N = m·g·cosθ</a:t>
            </a:r>
            <a:endParaRPr lang="en-US" sz="1300" dirty="0"/>
          </a:p>
        </p:txBody>
      </p:sp>
      <p:sp>
        <p:nvSpPr>
          <p:cNvPr id="12" name="Text 10"/>
          <p:cNvSpPr txBox="1"/>
          <p:nvPr/>
        </p:nvSpPr>
        <p:spPr>
          <a:xfrm>
            <a:off x="640080" y="3883152"/>
            <a:ext cx="6675120" cy="133121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Asansörde tartının gösterdiği değer, tartının sana uyguladığı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normal kuvvettir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Yukarı doğru ivmelenirken net kuvvet yukarı olmalıdır, bu yüzden N &gt; G olur ve tartı daha fazlasını yazar.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Aşağı doğru ivmelenirken N &lt; G olur.</a:t>
            </a:r>
            <a:endParaRPr lang="en-US" sz="1300" dirty="0"/>
          </a:p>
        </p:txBody>
      </p:sp>
      <p:sp>
        <p:nvSpPr>
          <p:cNvPr id="13" name="Shape 11"/>
          <p:cNvSpPr/>
          <p:nvPr/>
        </p:nvSpPr>
        <p:spPr>
          <a:xfrm>
            <a:off x="7607808" y="1481328"/>
            <a:ext cx="3943807" cy="3566103"/>
          </a:xfrm>
          <a:prstGeom prst="roundRect">
            <a:avLst>
              <a:gd name="adj" fmla="val 410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a4dee546-de71-4ec2-8add-be39dd273d29/scratchpad/sekiller/newton-yasalari-07.png">    </p:cNvPr>
          <p:cNvPicPr>
            <a:picLocks noChangeAspect="1"/>
          </p:cNvPicPr>
          <p:nvPr/>
        </p:nvPicPr>
        <p:blipFill>
          <a:blip r:embed="rId1"/>
          <a:stretch>
            <a:fillRect/>
          </a:stretch>
        </p:blipFill>
        <p:spPr>
          <a:xfrm>
            <a:off x="7790688" y="1664208"/>
            <a:ext cx="3578047" cy="1565396"/>
          </a:xfrm>
          <a:prstGeom prst="rect">
            <a:avLst/>
          </a:prstGeom>
        </p:spPr>
      </p:pic>
      <p:sp>
        <p:nvSpPr>
          <p:cNvPr id="15" name="Shape 12"/>
          <p:cNvSpPr/>
          <p:nvPr/>
        </p:nvSpPr>
        <p:spPr>
          <a:xfrm>
            <a:off x="7790688" y="3321044"/>
            <a:ext cx="3578047" cy="0"/>
          </a:xfrm>
          <a:prstGeom prst="line">
            <a:avLst/>
          </a:prstGeom>
          <a:noFill/>
          <a:ln w="9525">
            <a:solidFill>
              <a:srgbClr val="E1E5EE"/>
            </a:solidFill>
            <a:prstDash val="dash"/>
          </a:ln>
        </p:spPr>
      </p:sp>
      <p:sp>
        <p:nvSpPr>
          <p:cNvPr id="16" name="Text 13"/>
          <p:cNvSpPr txBox="1"/>
          <p:nvPr/>
        </p:nvSpPr>
        <p:spPr>
          <a:xfrm>
            <a:off x="7790688" y="3375908"/>
            <a:ext cx="3578047" cy="1488643"/>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Tartı senin ağırlığını değil, sana uyguladığı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 kuvveti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yazar. Yukarı ivmelenirken net kuvvetin yukarı olması gerekir, bu yüzden N büyür; aşağı ivmelenirken küçülür. Halat koparsa sen de tartı da aynı ivmeyle düşersiniz, aranızda kuvvet kalmaz ve tartı sıfır gösterir. Uzaydaki "ağırlıksızlık" da tam olarak budur —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yerçekimi yok olduğu için değil, sürekli düşüldüğü için.</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Ağırlık, normal kuvvet ve asansör · devam</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481328"/>
          <a:ext cx="8869680" cy="914400"/>
        </p:xfrm>
        <a:graphic>
          <a:graphicData uri="http://schemas.openxmlformats.org/drawingml/2006/table">
            <a:tbl>
              <a:tblPr/>
              <a:tblGrid>
                <a:gridCol w="3462843"/>
                <a:gridCol w="999583"/>
                <a:gridCol w="2203627"/>
                <a:gridCol w="220362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Durum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İvme</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Normal kuvvet</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Tartı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Durgun ya da sabit hız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 =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gerçek değer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Yukarı hızlanıyor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 &gt;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 +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fazla gösterir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Aşağı hızlanıyor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 &lt;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m(g − |a|)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az gösterir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Serbest düşme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 = −g</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N = 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sıfır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6" name="Text 3"/>
          <p:cNvSpPr txBox="1"/>
          <p:nvPr/>
        </p:nvSpPr>
        <p:spPr>
          <a:xfrm>
            <a:off x="640080" y="3300984"/>
            <a:ext cx="8869680" cy="81153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Serbest düşmedeki "ağırlıksızlık" yerçekiminin yok olması değildir; sen de tartı da aynı ivmeyle düştüğü için aranızda kuvvet kalmamasıdır.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Uzay istasyonundaki astronotlar da aslında sürekli serbest düşmektedir.</a:t>
            </a:r>
            <a:endParaRPr lang="en-US" sz="1300" dirty="0"/>
          </a:p>
        </p:txBody>
      </p:sp>
      <p:sp>
        <p:nvSpPr>
          <p:cNvPr id="7" name="Shape 4"/>
          <p:cNvSpPr/>
          <p:nvPr/>
        </p:nvSpPr>
        <p:spPr>
          <a:xfrm>
            <a:off x="640080" y="6382512"/>
            <a:ext cx="128016" cy="128016"/>
          </a:xfrm>
          <a:prstGeom prst="roundRect">
            <a:avLst>
              <a:gd name="adj" fmla="val 28571"/>
            </a:avLst>
          </a:prstGeom>
          <a:solidFill>
            <a:srgbClr val="A9E648"/>
          </a:solidFill>
          <a:ln/>
        </p:spPr>
      </p:sp>
      <p:sp>
        <p:nvSpPr>
          <p:cNvPr id="8"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9"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Sürtünmeli zeminde itilen kutu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Sürtünme katsayısı 0,2 olan yatay bir zeminde duran 4 kg'lık kutuya yatay doğrultuda 12 N'luk kuvvet uygulanıyor. Kutunun ivmesini bulunuz.</a:t>
            </a:r>
            <a:endParaRPr lang="en-US" sz="1600" dirty="0"/>
          </a:p>
        </p:txBody>
      </p:sp>
      <p:sp>
        <p:nvSpPr>
          <p:cNvPr id="9" name="Shape 7"/>
          <p:cNvSpPr/>
          <p:nvPr/>
        </p:nvSpPr>
        <p:spPr>
          <a:xfrm>
            <a:off x="5212080" y="1627632"/>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28800"/>
            <a:ext cx="384048" cy="384048"/>
          </a:xfrm>
          <a:prstGeom prst="roundRect">
            <a:avLst>
              <a:gd name="adj" fmla="val 26000"/>
            </a:avLst>
          </a:prstGeom>
          <a:solidFill>
            <a:srgbClr val="A56209"/>
          </a:solidFill>
          <a:ln/>
        </p:spPr>
      </p:sp>
      <p:sp>
        <p:nvSpPr>
          <p:cNvPr id="11" name="Text 9"/>
          <p:cNvSpPr txBox="1"/>
          <p:nvPr/>
        </p:nvSpPr>
        <p:spPr>
          <a:xfrm>
            <a:off x="5449824" y="182880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Düşeyde denge: N = m·g = 4 · 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 N</a:t>
            </a:r>
            <a:endParaRPr lang="en-US" sz="1600" dirty="0"/>
          </a:p>
        </p:txBody>
      </p:sp>
      <p:sp>
        <p:nvSpPr>
          <p:cNvPr id="13" name="Shape 11"/>
          <p:cNvSpPr/>
          <p:nvPr/>
        </p:nvSpPr>
        <p:spPr>
          <a:xfrm>
            <a:off x="5212080" y="2560320"/>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761488"/>
            <a:ext cx="384048" cy="384048"/>
          </a:xfrm>
          <a:prstGeom prst="roundRect">
            <a:avLst>
              <a:gd name="adj" fmla="val 26000"/>
            </a:avLst>
          </a:prstGeom>
          <a:solidFill>
            <a:srgbClr val="A56209"/>
          </a:solidFill>
          <a:ln/>
        </p:spPr>
      </p:sp>
      <p:sp>
        <p:nvSpPr>
          <p:cNvPr id="15" name="Text 13"/>
          <p:cNvSpPr txBox="1"/>
          <p:nvPr/>
        </p:nvSpPr>
        <p:spPr>
          <a:xfrm>
            <a:off x="5449824" y="276148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615184"/>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Sürtünme kuvveti: f = μ·N = 0,2 · 40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 N</a:t>
            </a:r>
            <a:endParaRPr lang="en-US" sz="1600" dirty="0"/>
          </a:p>
        </p:txBody>
      </p:sp>
      <p:sp>
        <p:nvSpPr>
          <p:cNvPr id="17" name="Shape 15"/>
          <p:cNvSpPr/>
          <p:nvPr/>
        </p:nvSpPr>
        <p:spPr>
          <a:xfrm>
            <a:off x="5212080" y="3493008"/>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694176"/>
            <a:ext cx="384048" cy="384048"/>
          </a:xfrm>
          <a:prstGeom prst="roundRect">
            <a:avLst>
              <a:gd name="adj" fmla="val 26000"/>
            </a:avLst>
          </a:prstGeom>
          <a:solidFill>
            <a:srgbClr val="A56209"/>
          </a:solidFill>
          <a:ln/>
        </p:spPr>
      </p:sp>
      <p:sp>
        <p:nvSpPr>
          <p:cNvPr id="19" name="Text 17"/>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547872"/>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Net kuvvet: ΣF = 12 − 8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N</a:t>
            </a:r>
            <a:endParaRPr lang="en-US" sz="1600" dirty="0"/>
          </a:p>
        </p:txBody>
      </p:sp>
      <p:sp>
        <p:nvSpPr>
          <p:cNvPr id="21" name="Shape 19"/>
          <p:cNvSpPr/>
          <p:nvPr/>
        </p:nvSpPr>
        <p:spPr>
          <a:xfrm>
            <a:off x="5212080" y="4425696"/>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626864"/>
            <a:ext cx="384048" cy="384048"/>
          </a:xfrm>
          <a:prstGeom prst="roundRect">
            <a:avLst>
              <a:gd name="adj" fmla="val 26000"/>
            </a:avLst>
          </a:prstGeom>
          <a:solidFill>
            <a:srgbClr val="A56209"/>
          </a:solidFill>
          <a:ln/>
        </p:spPr>
      </p:sp>
      <p:sp>
        <p:nvSpPr>
          <p:cNvPr id="23" name="Text 21"/>
          <p:cNvSpPr txBox="1"/>
          <p:nvPr/>
        </p:nvSpPr>
        <p:spPr>
          <a:xfrm>
            <a:off x="5449824" y="462686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480560"/>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İvme: a = ΣF / m = 4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 m/s²</a:t>
            </a:r>
            <a:endParaRPr lang="en-US" sz="1600" dirty="0"/>
          </a:p>
        </p:txBody>
      </p:sp>
      <p:sp>
        <p:nvSpPr>
          <p:cNvPr id="25" name="Shape 23"/>
          <p:cNvSpPr/>
          <p:nvPr/>
        </p:nvSpPr>
        <p:spPr>
          <a:xfrm>
            <a:off x="5212080" y="5358384"/>
            <a:ext cx="6339535" cy="786384"/>
          </a:xfrm>
          <a:prstGeom prst="roundRect">
            <a:avLst>
              <a:gd name="adj" fmla="val 186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559552"/>
            <a:ext cx="384048" cy="384048"/>
          </a:xfrm>
          <a:prstGeom prst="roundRect">
            <a:avLst>
              <a:gd name="adj" fmla="val 26000"/>
            </a:avLst>
          </a:prstGeom>
          <a:solidFill>
            <a:srgbClr val="A56209"/>
          </a:solidFill>
          <a:ln/>
        </p:spPr>
      </p:sp>
      <p:sp>
        <p:nvSpPr>
          <p:cNvPr id="27" name="Text 25"/>
          <p:cNvSpPr txBox="1"/>
          <p:nvPr/>
        </p:nvSpPr>
        <p:spPr>
          <a:xfrm>
            <a:off x="5449824" y="555955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8" name="Text 26"/>
          <p:cNvSpPr txBox="1"/>
          <p:nvPr/>
        </p:nvSpPr>
        <p:spPr>
          <a:xfrm>
            <a:off x="5989320" y="5413248"/>
            <a:ext cx="5379415" cy="6766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Sürtünme olmasaydı a = 12/4 = 3 m/s² olurdu.</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Bağlı iki cisim ve ip gerilmesi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Sürtünmesiz yatay zeminde, ipte bağlı 2 kg ve 3 kg'lık cisimler F = 20 N'luk kuvvetle çekiliyor (kuvvet 2 kg'lık cisme uygulanıyor). Sistemin ivmesini ve ipteki gerilme kuvvetini bulunuz.</a:t>
            </a:r>
            <a:endParaRPr lang="en-US" sz="1600" dirty="0"/>
          </a:p>
        </p:txBody>
      </p:sp>
      <p:sp>
        <p:nvSpPr>
          <p:cNvPr id="9" name="Shape 7"/>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1994"/>
            <a:ext cx="384048" cy="384048"/>
          </a:xfrm>
          <a:prstGeom prst="roundRect">
            <a:avLst>
              <a:gd name="adj" fmla="val 26000"/>
            </a:avLst>
          </a:prstGeom>
          <a:solidFill>
            <a:srgbClr val="A56209"/>
          </a:solidFill>
          <a:ln/>
        </p:spPr>
      </p:sp>
      <p:sp>
        <p:nvSpPr>
          <p:cNvPr id="11" name="Text 9"/>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Sistemi tek cisim gibi düşün: a = F / (m₁ + m₂) = 20 / 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 m/s²</a:t>
            </a:r>
            <a:endParaRPr lang="en-US" sz="1600" dirty="0"/>
          </a:p>
        </p:txBody>
      </p:sp>
      <p:sp>
        <p:nvSpPr>
          <p:cNvPr id="13" name="Shape 11"/>
          <p:cNvSpPr/>
          <p:nvPr/>
        </p:nvSpPr>
        <p:spPr>
          <a:xfrm>
            <a:off x="5212080" y="298670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01069"/>
            <a:ext cx="384048" cy="384048"/>
          </a:xfrm>
          <a:prstGeom prst="roundRect">
            <a:avLst>
              <a:gd name="adj" fmla="val 26000"/>
            </a:avLst>
          </a:prstGeom>
          <a:solidFill>
            <a:srgbClr val="A56209"/>
          </a:solidFill>
          <a:ln/>
        </p:spPr>
      </p:sp>
      <p:sp>
        <p:nvSpPr>
          <p:cNvPr id="15" name="Text 13"/>
          <p:cNvSpPr txBox="1"/>
          <p:nvPr/>
        </p:nvSpPr>
        <p:spPr>
          <a:xfrm>
            <a:off x="5449824" y="340106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157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Şimdi yalnızca 3 kg'lık cismi incele: ona etki eden tek yatay kuvvet ip gerilmesidir.</a:t>
            </a:r>
            <a:endParaRPr lang="en-US" sz="1600" dirty="0"/>
          </a:p>
        </p:txBody>
      </p:sp>
      <p:sp>
        <p:nvSpPr>
          <p:cNvPr id="17" name="Shape 15"/>
          <p:cNvSpPr/>
          <p:nvPr/>
        </p:nvSpPr>
        <p:spPr>
          <a:xfrm>
            <a:off x="5212080" y="4345783"/>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566929"/>
            <a:ext cx="384048" cy="384048"/>
          </a:xfrm>
          <a:prstGeom prst="roundRect">
            <a:avLst>
              <a:gd name="adj" fmla="val 26000"/>
            </a:avLst>
          </a:prstGeom>
          <a:solidFill>
            <a:srgbClr val="A56209"/>
          </a:solidFill>
          <a:ln/>
        </p:spPr>
      </p:sp>
      <p:sp>
        <p:nvSpPr>
          <p:cNvPr id="19" name="Text 17"/>
          <p:cNvSpPr txBox="1"/>
          <p:nvPr/>
        </p:nvSpPr>
        <p:spPr>
          <a:xfrm>
            <a:off x="5449824" y="45669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400647"/>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 = m₂ · a = 3 · 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12 N</a:t>
            </a:r>
            <a:endParaRPr lang="en-US" sz="1600" dirty="0"/>
          </a:p>
        </p:txBody>
      </p:sp>
      <p:sp>
        <p:nvSpPr>
          <p:cNvPr id="21" name="Shape 19"/>
          <p:cNvSpPr/>
          <p:nvPr/>
        </p:nvSpPr>
        <p:spPr>
          <a:xfrm>
            <a:off x="5212080" y="531842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539574"/>
            <a:ext cx="384048" cy="384048"/>
          </a:xfrm>
          <a:prstGeom prst="roundRect">
            <a:avLst>
              <a:gd name="adj" fmla="val 26000"/>
            </a:avLst>
          </a:prstGeom>
          <a:solidFill>
            <a:srgbClr val="A56209"/>
          </a:solidFill>
          <a:ln/>
        </p:spPr>
      </p:sp>
      <p:sp>
        <p:nvSpPr>
          <p:cNvPr id="23" name="Text 21"/>
          <p:cNvSpPr txBox="1"/>
          <p:nvPr/>
        </p:nvSpPr>
        <p:spPr>
          <a:xfrm>
            <a:off x="5449824" y="553957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37329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(2 kg): 20 − 12 = 8 N = 2 · 4 ✓</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Asansördeki tartı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60 kg kütleli bir kişi, 2 m/s² ile yukarı doğru hızlanan bir asansörde tartının üzerinde duruyor. Tartı kaç kilogram gösterir?</a:t>
            </a:r>
            <a:endParaRPr lang="en-US" sz="1600" dirty="0"/>
          </a:p>
        </p:txBody>
      </p:sp>
      <p:sp>
        <p:nvSpPr>
          <p:cNvPr id="9" name="Shape 7"/>
          <p:cNvSpPr/>
          <p:nvPr/>
        </p:nvSpPr>
        <p:spPr>
          <a:xfrm>
            <a:off x="5212080" y="162763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1994"/>
            <a:ext cx="384048" cy="384048"/>
          </a:xfrm>
          <a:prstGeom prst="roundRect">
            <a:avLst>
              <a:gd name="adj" fmla="val 26000"/>
            </a:avLst>
          </a:prstGeom>
          <a:solidFill>
            <a:srgbClr val="A56209"/>
          </a:solidFill>
          <a:ln/>
        </p:spPr>
      </p:sp>
      <p:sp>
        <p:nvSpPr>
          <p:cNvPr id="11" name="Text 9"/>
          <p:cNvSpPr txBox="1"/>
          <p:nvPr/>
        </p:nvSpPr>
        <p:spPr>
          <a:xfrm>
            <a:off x="5449824" y="20419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Kişiye etki eden kuvvetler: ağırlık G = 600 N (aşağı), normal kuvvet N (yukarı).</a:t>
            </a:r>
            <a:endParaRPr lang="en-US" sz="1600" dirty="0"/>
          </a:p>
        </p:txBody>
      </p:sp>
      <p:sp>
        <p:nvSpPr>
          <p:cNvPr id="13" name="Shape 11"/>
          <p:cNvSpPr/>
          <p:nvPr/>
        </p:nvSpPr>
        <p:spPr>
          <a:xfrm>
            <a:off x="5212080" y="298670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207854"/>
            <a:ext cx="384048" cy="384048"/>
          </a:xfrm>
          <a:prstGeom prst="roundRect">
            <a:avLst>
              <a:gd name="adj" fmla="val 26000"/>
            </a:avLst>
          </a:prstGeom>
          <a:solidFill>
            <a:srgbClr val="A56209"/>
          </a:solidFill>
          <a:ln/>
        </p:spPr>
      </p:sp>
      <p:sp>
        <p:nvSpPr>
          <p:cNvPr id="15" name="Text 13"/>
          <p:cNvSpPr txBox="1"/>
          <p:nvPr/>
        </p:nvSpPr>
        <p:spPr>
          <a:xfrm>
            <a:off x="5449824" y="320785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157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Net kuvvet yukarı olmalı: N − G = m·a</a:t>
            </a:r>
            <a:endParaRPr lang="en-US" sz="1600" dirty="0"/>
          </a:p>
        </p:txBody>
      </p:sp>
      <p:sp>
        <p:nvSpPr>
          <p:cNvPr id="17" name="Shape 15"/>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180498"/>
            <a:ext cx="384048" cy="384048"/>
          </a:xfrm>
          <a:prstGeom prst="roundRect">
            <a:avLst>
              <a:gd name="adj" fmla="val 26000"/>
            </a:avLst>
          </a:prstGeom>
          <a:solidFill>
            <a:srgbClr val="A56209"/>
          </a:solidFill>
          <a:ln/>
        </p:spPr>
      </p:sp>
      <p:sp>
        <p:nvSpPr>
          <p:cNvPr id="19" name="Text 17"/>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m(g + a) = 60 · (10 + 2)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720 N</a:t>
            </a:r>
            <a:endParaRPr lang="en-US" sz="1600" dirty="0"/>
          </a:p>
        </p:txBody>
      </p:sp>
      <p:sp>
        <p:nvSpPr>
          <p:cNvPr id="21" name="Shape 19"/>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346358"/>
            <a:ext cx="384048" cy="384048"/>
          </a:xfrm>
          <a:prstGeom prst="roundRect">
            <a:avLst>
              <a:gd name="adj" fmla="val 26000"/>
            </a:avLst>
          </a:prstGeom>
          <a:solidFill>
            <a:srgbClr val="A56209"/>
          </a:solidFill>
          <a:ln/>
        </p:spPr>
      </p:sp>
      <p:sp>
        <p:nvSpPr>
          <p:cNvPr id="23" name="Text 21"/>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Tartı N/g = 720/10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72 kg</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gösterir; kişinin kütlesi ise hâlâ 60 kg'dır.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Eğik düzlemde kayan cisim  ·  Aşağıdaki çözümlerde g = 10 m/s² alınmıştır.</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Yatayla 37° açı yapan eğik düzlemde 10 kg'lık bir cisim aşağı doğru kayıyor. Sürtünme katsayısı 0,2 ise ivmesi nedir? (sin37° = 0,6 · cos37° = 0,8)</a:t>
            </a:r>
            <a:endParaRPr lang="en-US" sz="1600" dirty="0"/>
          </a:p>
        </p:txBody>
      </p:sp>
      <p:sp>
        <p:nvSpPr>
          <p:cNvPr id="9" name="Shape 7"/>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89509"/>
            <a:ext cx="384048" cy="384048"/>
          </a:xfrm>
          <a:prstGeom prst="roundRect">
            <a:avLst>
              <a:gd name="adj" fmla="val 26000"/>
            </a:avLst>
          </a:prstGeom>
          <a:solidFill>
            <a:srgbClr val="A56209"/>
          </a:solidFill>
          <a:ln/>
        </p:spPr>
      </p:sp>
      <p:sp>
        <p:nvSpPr>
          <p:cNvPr id="11" name="Text 9"/>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Eğime paralel bileşen: m·g·sinθ = 10 · 10 · 0,6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60 N</a:t>
            </a:r>
            <a:endParaRPr lang="en-US" sz="1600" dirty="0"/>
          </a:p>
        </p:txBody>
      </p:sp>
      <p:sp>
        <p:nvSpPr>
          <p:cNvPr id="13" name="Shape 11"/>
          <p:cNvSpPr/>
          <p:nvPr/>
        </p:nvSpPr>
        <p:spPr>
          <a:xfrm>
            <a:off x="5212080" y="2881738"/>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243615"/>
            <a:ext cx="384048" cy="384048"/>
          </a:xfrm>
          <a:prstGeom prst="roundRect">
            <a:avLst>
              <a:gd name="adj" fmla="val 26000"/>
            </a:avLst>
          </a:prstGeom>
          <a:solidFill>
            <a:srgbClr val="A56209"/>
          </a:solidFill>
          <a:ln/>
        </p:spPr>
      </p:sp>
      <p:sp>
        <p:nvSpPr>
          <p:cNvPr id="15" name="Text 13"/>
          <p:cNvSpPr txBox="1"/>
          <p:nvPr/>
        </p:nvSpPr>
        <p:spPr>
          <a:xfrm>
            <a:off x="5449824" y="324361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936602"/>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Eğime dik denge: N = m·g·cosθ = 10 · 10 · 0,8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80 N</a:t>
            </a:r>
            <a:endParaRPr lang="en-US" sz="1600" dirty="0"/>
          </a:p>
        </p:txBody>
      </p:sp>
      <p:sp>
        <p:nvSpPr>
          <p:cNvPr id="17" name="Shape 15"/>
          <p:cNvSpPr/>
          <p:nvPr/>
        </p:nvSpPr>
        <p:spPr>
          <a:xfrm>
            <a:off x="5212080" y="4135844"/>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497721"/>
            <a:ext cx="384048" cy="384048"/>
          </a:xfrm>
          <a:prstGeom prst="roundRect">
            <a:avLst>
              <a:gd name="adj" fmla="val 26000"/>
            </a:avLst>
          </a:prstGeom>
          <a:solidFill>
            <a:srgbClr val="A56209"/>
          </a:solidFill>
          <a:ln/>
        </p:spPr>
      </p:sp>
      <p:sp>
        <p:nvSpPr>
          <p:cNvPr id="19" name="Text 17"/>
          <p:cNvSpPr txBox="1"/>
          <p:nvPr/>
        </p:nvSpPr>
        <p:spPr>
          <a:xfrm>
            <a:off x="5449824" y="449772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190708"/>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Sürtünme: f = μ·N = 0,2 · 80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16 N</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(harekete zıt, yukarı doğru)</a:t>
            </a:r>
            <a:endParaRPr lang="en-US" sz="1600" dirty="0"/>
          </a:p>
        </p:txBody>
      </p:sp>
      <p:sp>
        <p:nvSpPr>
          <p:cNvPr id="21" name="Shape 19"/>
          <p:cNvSpPr/>
          <p:nvPr/>
        </p:nvSpPr>
        <p:spPr>
          <a:xfrm>
            <a:off x="5212080" y="5389950"/>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575335"/>
            <a:ext cx="384048" cy="384048"/>
          </a:xfrm>
          <a:prstGeom prst="roundRect">
            <a:avLst>
              <a:gd name="adj" fmla="val 26000"/>
            </a:avLst>
          </a:prstGeom>
          <a:solidFill>
            <a:srgbClr val="A56209"/>
          </a:solidFill>
          <a:ln/>
        </p:spPr>
      </p:sp>
      <p:sp>
        <p:nvSpPr>
          <p:cNvPr id="23" name="Text 21"/>
          <p:cNvSpPr txBox="1"/>
          <p:nvPr/>
        </p:nvSpPr>
        <p:spPr>
          <a:xfrm>
            <a:off x="5449824" y="557533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444814"/>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 = (60 − 16) / 10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4,4 m/s²</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“Hareket eden cisme mutlaka kuvvet etki eder.”</a:t>
            </a:r>
            <a:endParaRPr lang="en-US" sz="1250" dirty="0"/>
          </a:p>
        </p:txBody>
      </p:sp>
      <p:sp>
        <p:nvSpPr>
          <p:cNvPr id="10" name="Shape 8"/>
          <p:cNvSpPr/>
          <p:nvPr/>
        </p:nvSpPr>
        <p:spPr>
          <a:xfrm>
            <a:off x="841248" y="2093595"/>
            <a:ext cx="274320" cy="274320"/>
          </a:xfrm>
          <a:prstGeom prst="roundRect">
            <a:avLst>
              <a:gd name="adj" fmla="val 26667"/>
            </a:avLst>
          </a:prstGeom>
          <a:solidFill>
            <a:srgbClr val="EAF7DC"/>
          </a:solidFill>
          <a:ln/>
        </p:spPr>
      </p:sp>
      <p:sp>
        <p:nvSpPr>
          <p:cNvPr id="11" name="Text 9"/>
          <p:cNvSpPr txBox="1"/>
          <p:nvPr/>
        </p:nvSpPr>
        <p:spPr>
          <a:xfrm>
            <a:off x="841248"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Sabit hızla giden cisimde net kuvvet sıfırdır. Kuvvet hareketi değil,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hareketteki değişimi</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doğurur.</a:t>
            </a:r>
            <a:endParaRPr lang="en-US" sz="1150" dirty="0"/>
          </a:p>
        </p:txBody>
      </p:sp>
      <p:sp>
        <p:nvSpPr>
          <p:cNvPr id="13" name="Shape 11"/>
          <p:cNvSpPr/>
          <p:nvPr/>
        </p:nvSpPr>
        <p:spPr>
          <a:xfrm>
            <a:off x="6205576" y="162763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“Etki ve tepki birbirini dengeler.”</a:t>
            </a:r>
            <a:endParaRPr lang="en-US" sz="1250" dirty="0"/>
          </a:p>
        </p:txBody>
      </p:sp>
      <p:sp>
        <p:nvSpPr>
          <p:cNvPr id="17" name="Shape 15"/>
          <p:cNvSpPr/>
          <p:nvPr/>
        </p:nvSpPr>
        <p:spPr>
          <a:xfrm>
            <a:off x="6406744" y="2093595"/>
            <a:ext cx="274320" cy="274320"/>
          </a:xfrm>
          <a:prstGeom prst="roundRect">
            <a:avLst>
              <a:gd name="adj" fmla="val 26667"/>
            </a:avLst>
          </a:prstGeom>
          <a:solidFill>
            <a:srgbClr val="EAF7DC"/>
          </a:solidFill>
          <a:ln/>
        </p:spPr>
      </p:sp>
      <p:sp>
        <p:nvSpPr>
          <p:cNvPr id="18" name="Text 16"/>
          <p:cNvSpPr txBox="1"/>
          <p:nvPr/>
        </p:nvSpPr>
        <p:spPr>
          <a:xfrm>
            <a:off x="6406744" y="209359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07530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Farklı cisimlere etki ettikleri için dengeleyemezler; dengeleme aynı cisimdeki kuvvetler arasında olur.</a:t>
            </a:r>
            <a:endParaRPr lang="en-US" sz="1150" dirty="0"/>
          </a:p>
        </p:txBody>
      </p:sp>
      <p:sp>
        <p:nvSpPr>
          <p:cNvPr id="20" name="Shape 18"/>
          <p:cNvSpPr/>
          <p:nvPr/>
        </p:nvSpPr>
        <p:spPr>
          <a:xfrm>
            <a:off x="640080"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2939796"/>
            <a:ext cx="274320" cy="274320"/>
          </a:xfrm>
          <a:prstGeom prst="roundRect">
            <a:avLst>
              <a:gd name="adj" fmla="val 26667"/>
            </a:avLst>
          </a:prstGeom>
          <a:solidFill>
            <a:srgbClr val="FBE9EE"/>
          </a:solidFill>
          <a:ln/>
        </p:spPr>
      </p:sp>
      <p:sp>
        <p:nvSpPr>
          <p:cNvPr id="22" name="Text 20"/>
          <p:cNvSpPr txBox="1"/>
          <p:nvPr/>
        </p:nvSpPr>
        <p:spPr>
          <a:xfrm>
            <a:off x="841248"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“Kütle ile ağırlık aynı şeydir.”</a:t>
            </a:r>
            <a:endParaRPr lang="en-US" sz="1250" dirty="0"/>
          </a:p>
        </p:txBody>
      </p:sp>
      <p:sp>
        <p:nvSpPr>
          <p:cNvPr id="24" name="Shape 22"/>
          <p:cNvSpPr/>
          <p:nvPr/>
        </p:nvSpPr>
        <p:spPr>
          <a:xfrm>
            <a:off x="841248" y="3259455"/>
            <a:ext cx="274320" cy="274320"/>
          </a:xfrm>
          <a:prstGeom prst="roundRect">
            <a:avLst>
              <a:gd name="adj" fmla="val 26667"/>
            </a:avLst>
          </a:prstGeom>
          <a:solidFill>
            <a:srgbClr val="EAF7DC"/>
          </a:solidFill>
          <a:ln/>
        </p:spPr>
      </p:sp>
      <p:sp>
        <p:nvSpPr>
          <p:cNvPr id="25" name="Text 23"/>
          <p:cNvSpPr txBox="1"/>
          <p:nvPr/>
        </p:nvSpPr>
        <p:spPr>
          <a:xfrm>
            <a:off x="841248"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Kütle kg, ağırlık N ile ölçülür; biri skaler, diğeri vektördür.</a:t>
            </a:r>
            <a:endParaRPr lang="en-US" sz="1150" dirty="0"/>
          </a:p>
        </p:txBody>
      </p:sp>
      <p:sp>
        <p:nvSpPr>
          <p:cNvPr id="27" name="Shape 25"/>
          <p:cNvSpPr/>
          <p:nvPr/>
        </p:nvSpPr>
        <p:spPr>
          <a:xfrm>
            <a:off x="6205576" y="279349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2939796"/>
            <a:ext cx="274320" cy="274320"/>
          </a:xfrm>
          <a:prstGeom prst="roundRect">
            <a:avLst>
              <a:gd name="adj" fmla="val 26667"/>
            </a:avLst>
          </a:prstGeom>
          <a:solidFill>
            <a:srgbClr val="FBE9EE"/>
          </a:solidFill>
          <a:ln/>
        </p:spPr>
      </p:sp>
      <p:sp>
        <p:nvSpPr>
          <p:cNvPr id="29" name="Text 27"/>
          <p:cNvSpPr txBox="1"/>
          <p:nvPr/>
        </p:nvSpPr>
        <p:spPr>
          <a:xfrm>
            <a:off x="6406744" y="29397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291236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“Normal kuvvet her zaman m·g'dir.”</a:t>
            </a:r>
            <a:endParaRPr lang="en-US" sz="1250" dirty="0"/>
          </a:p>
        </p:txBody>
      </p:sp>
      <p:sp>
        <p:nvSpPr>
          <p:cNvPr id="31" name="Shape 29"/>
          <p:cNvSpPr/>
          <p:nvPr/>
        </p:nvSpPr>
        <p:spPr>
          <a:xfrm>
            <a:off x="6406744" y="3259455"/>
            <a:ext cx="274320" cy="274320"/>
          </a:xfrm>
          <a:prstGeom prst="roundRect">
            <a:avLst>
              <a:gd name="adj" fmla="val 26667"/>
            </a:avLst>
          </a:prstGeom>
          <a:solidFill>
            <a:srgbClr val="EAF7DC"/>
          </a:solidFill>
          <a:ln/>
        </p:spPr>
      </p:sp>
      <p:sp>
        <p:nvSpPr>
          <p:cNvPr id="32" name="Text 30"/>
          <p:cNvSpPr txBox="1"/>
          <p:nvPr/>
        </p:nvSpPr>
        <p:spPr>
          <a:xfrm>
            <a:off x="6406744" y="325945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24116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Asansörde, eğik düzlemde ya da eğik bir kuvvet uygulandığında değişir.</a:t>
            </a:r>
            <a:endParaRPr lang="en-US" sz="1150" dirty="0"/>
          </a:p>
        </p:txBody>
      </p:sp>
      <p:sp>
        <p:nvSpPr>
          <p:cNvPr id="34" name="Shape 32"/>
          <p:cNvSpPr/>
          <p:nvPr/>
        </p:nvSpPr>
        <p:spPr>
          <a:xfrm>
            <a:off x="640080"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105656"/>
            <a:ext cx="274320" cy="274320"/>
          </a:xfrm>
          <a:prstGeom prst="roundRect">
            <a:avLst>
              <a:gd name="adj" fmla="val 26667"/>
            </a:avLst>
          </a:prstGeom>
          <a:solidFill>
            <a:srgbClr val="FBE9EE"/>
          </a:solidFill>
          <a:ln/>
        </p:spPr>
      </p:sp>
      <p:sp>
        <p:nvSpPr>
          <p:cNvPr id="36" name="Text 34"/>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“Sürtünme daima hareketi engeller.”</a:t>
            </a:r>
            <a:endParaRPr lang="en-US" sz="1250" dirty="0"/>
          </a:p>
        </p:txBody>
      </p:sp>
      <p:sp>
        <p:nvSpPr>
          <p:cNvPr id="38" name="Shape 36"/>
          <p:cNvSpPr/>
          <p:nvPr/>
        </p:nvSpPr>
        <p:spPr>
          <a:xfrm>
            <a:off x="841248" y="4425315"/>
            <a:ext cx="274320" cy="274320"/>
          </a:xfrm>
          <a:prstGeom prst="roundRect">
            <a:avLst>
              <a:gd name="adj" fmla="val 26667"/>
            </a:avLst>
          </a:prstGeom>
          <a:solidFill>
            <a:srgbClr val="EAF7DC"/>
          </a:solidFill>
          <a:ln/>
        </p:spPr>
      </p:sp>
      <p:sp>
        <p:nvSpPr>
          <p:cNvPr id="39" name="Text 37"/>
          <p:cNvSpPr txBox="1"/>
          <p:nvPr/>
        </p:nvSpPr>
        <p:spPr>
          <a:xfrm>
            <a:off x="841248"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Yürümeni, frenlemeni ve dönüşte savrulmamanı sağlayan da sürtünmedir; sürtünme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bağıl kaymaya</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zıttır.</a:t>
            </a:r>
            <a:endParaRPr lang="en-US" sz="1150" dirty="0"/>
          </a:p>
        </p:txBody>
      </p:sp>
      <p:sp>
        <p:nvSpPr>
          <p:cNvPr id="41" name="Shape 39"/>
          <p:cNvSpPr/>
          <p:nvPr/>
        </p:nvSpPr>
        <p:spPr>
          <a:xfrm>
            <a:off x="6205576" y="395935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105656"/>
            <a:ext cx="274320" cy="274320"/>
          </a:xfrm>
          <a:prstGeom prst="roundRect">
            <a:avLst>
              <a:gd name="adj" fmla="val 26667"/>
            </a:avLst>
          </a:prstGeom>
          <a:solidFill>
            <a:srgbClr val="FBE9EE"/>
          </a:solidFill>
          <a:ln/>
        </p:spPr>
      </p:sp>
      <p:sp>
        <p:nvSpPr>
          <p:cNvPr id="43" name="Text 41"/>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07822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“İvme hız yönündedir.”</a:t>
            </a:r>
            <a:endParaRPr lang="en-US" sz="1250" dirty="0"/>
          </a:p>
        </p:txBody>
      </p:sp>
      <p:sp>
        <p:nvSpPr>
          <p:cNvPr id="45" name="Shape 43"/>
          <p:cNvSpPr/>
          <p:nvPr/>
        </p:nvSpPr>
        <p:spPr>
          <a:xfrm>
            <a:off x="6406744" y="4425315"/>
            <a:ext cx="274320" cy="274320"/>
          </a:xfrm>
          <a:prstGeom prst="roundRect">
            <a:avLst>
              <a:gd name="adj" fmla="val 26667"/>
            </a:avLst>
          </a:prstGeom>
          <a:solidFill>
            <a:srgbClr val="EAF7DC"/>
          </a:solidFill>
          <a:ln/>
        </p:spPr>
      </p:sp>
      <p:sp>
        <p:nvSpPr>
          <p:cNvPr id="46" name="Text 44"/>
          <p:cNvSpPr txBox="1"/>
          <p:nvPr/>
        </p:nvSpPr>
        <p:spPr>
          <a:xfrm>
            <a:off x="6406744" y="442531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440702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İvme net kuvvetin yönündedir; yavaşlayan cisimde hıza zıt yöndedir.</a:t>
            </a:r>
            <a:endParaRPr lang="en-US" sz="1150" dirty="0"/>
          </a:p>
        </p:txBody>
      </p:sp>
      <p:sp>
        <p:nvSpPr>
          <p:cNvPr id="48" name="Shape 46"/>
          <p:cNvSpPr/>
          <p:nvPr/>
        </p:nvSpPr>
        <p:spPr>
          <a:xfrm>
            <a:off x="640080" y="5125212"/>
            <a:ext cx="5346040" cy="1019556"/>
          </a:xfrm>
          <a:prstGeom prst="roundRect">
            <a:avLst>
              <a:gd name="adj" fmla="val 1435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9" name="Shape 47"/>
          <p:cNvSpPr/>
          <p:nvPr/>
        </p:nvSpPr>
        <p:spPr>
          <a:xfrm>
            <a:off x="841248" y="5271516"/>
            <a:ext cx="274320" cy="274320"/>
          </a:xfrm>
          <a:prstGeom prst="roundRect">
            <a:avLst>
              <a:gd name="adj" fmla="val 26667"/>
            </a:avLst>
          </a:prstGeom>
          <a:solidFill>
            <a:srgbClr val="FBE9EE"/>
          </a:solidFill>
          <a:ln/>
        </p:spPr>
      </p:sp>
      <p:sp>
        <p:nvSpPr>
          <p:cNvPr id="50" name="Text 48"/>
          <p:cNvSpPr txBox="1"/>
          <p:nvPr/>
        </p:nvSpPr>
        <p:spPr>
          <a:xfrm>
            <a:off x="841248" y="52715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51" name="Text 49"/>
          <p:cNvSpPr txBox="1"/>
          <p:nvPr/>
        </p:nvSpPr>
        <p:spPr>
          <a:xfrm>
            <a:off x="1225296" y="5244084"/>
            <a:ext cx="4559656" cy="273939"/>
          </a:xfrm>
          <a:prstGeom prst="rect">
            <a:avLst/>
          </a:prstGeom>
          <a:noFill/>
          <a:ln/>
        </p:spPr>
        <p:txBody>
          <a:bodyPr wrap="square" lIns="0" tIns="0" rIns="0" bIns="0" rtlCol="0" anchor="t"/>
          <a:lstStyle/>
          <a:p>
            <a:pPr indent="0" marL="0">
              <a:lnSpc>
                <a:spcPct val="108000"/>
              </a:lnSpc>
              <a:buNone/>
            </a:pPr>
            <a:r>
              <a:rPr lang="en-US" sz="1250" b="1" dirty="0">
                <a:solidFill>
                  <a:srgbClr val="0E1426"/>
                </a:solidFill>
                <a:latin typeface="Calibri" pitchFamily="34" charset="0"/>
                <a:ea typeface="Calibri" pitchFamily="34" charset="-122"/>
                <a:cs typeface="Calibri" pitchFamily="34" charset="-120"/>
              </a:rPr>
              <a:t>“Cisim kuvvete sahiptir.”</a:t>
            </a:r>
            <a:endParaRPr lang="en-US" sz="1250" dirty="0"/>
          </a:p>
        </p:txBody>
      </p:sp>
      <p:sp>
        <p:nvSpPr>
          <p:cNvPr id="52" name="Shape 50"/>
          <p:cNvSpPr/>
          <p:nvPr/>
        </p:nvSpPr>
        <p:spPr>
          <a:xfrm>
            <a:off x="841248" y="5591175"/>
            <a:ext cx="274320" cy="274320"/>
          </a:xfrm>
          <a:prstGeom prst="roundRect">
            <a:avLst>
              <a:gd name="adj" fmla="val 26667"/>
            </a:avLst>
          </a:prstGeom>
          <a:solidFill>
            <a:srgbClr val="EAF7DC"/>
          </a:solidFill>
          <a:ln/>
        </p:spPr>
      </p:sp>
      <p:sp>
        <p:nvSpPr>
          <p:cNvPr id="53" name="Text 51"/>
          <p:cNvSpPr txBox="1"/>
          <p:nvPr/>
        </p:nvSpPr>
        <p:spPr>
          <a:xfrm>
            <a:off x="841248" y="5591175"/>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54" name="Text 52"/>
          <p:cNvSpPr txBox="1"/>
          <p:nvPr/>
        </p:nvSpPr>
        <p:spPr>
          <a:xfrm>
            <a:off x="1225296" y="5572887"/>
            <a:ext cx="4559656" cy="462153"/>
          </a:xfrm>
          <a:prstGeom prst="rect">
            <a:avLst/>
          </a:prstGeom>
          <a:noFill/>
          <a:ln/>
        </p:spPr>
        <p:txBody>
          <a:bodyPr wrap="square" lIns="0" tIns="0" rIns="0" bIns="0" rtlCol="0" anchor="t"/>
          <a:lstStyle/>
          <a:p>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Kuvvet bir </a:t>
            </a:r>
            <a:pPr indent="0" marL="0">
              <a:lnSpc>
                <a:spcPct val="108000"/>
              </a:lnSpc>
              <a:buNone/>
            </a:pPr>
            <a:r>
              <a:rPr lang="en-US" sz="1150" i="1" dirty="0">
                <a:solidFill>
                  <a:srgbClr val="4A5470"/>
                </a:solidFill>
                <a:latin typeface="Calibri" pitchFamily="34" charset="0"/>
                <a:ea typeface="Calibri" pitchFamily="34" charset="-122"/>
                <a:cs typeface="Calibri" pitchFamily="34" charset="-120"/>
              </a:rPr>
              <a:t>etkileşimdir</a:t>
            </a:r>
            <a:pPr indent="0" marL="0">
              <a:lnSpc>
                <a:spcPct val="108000"/>
              </a:lnSpc>
              <a:buNone/>
            </a:pPr>
            <a:r>
              <a:rPr lang="en-US" sz="1150" dirty="0">
                <a:solidFill>
                  <a:srgbClr val="4A5470"/>
                </a:solidFill>
                <a:latin typeface="Calibri" pitchFamily="34" charset="0"/>
                <a:ea typeface="Calibri" pitchFamily="34" charset="-122"/>
                <a:cs typeface="Calibri" pitchFamily="34" charset="-120"/>
              </a:rPr>
              <a:t>, cismin taşıdığı bir özellik değil. "Cismin üzerindeki kuvvet" demek doğrudur.</a:t>
            </a:r>
            <a:endParaRPr lang="en-US" sz="1150" dirty="0"/>
          </a:p>
        </p:txBody>
      </p:sp>
      <p:sp>
        <p:nvSpPr>
          <p:cNvPr id="55" name="Shape 53"/>
          <p:cNvSpPr/>
          <p:nvPr/>
        </p:nvSpPr>
        <p:spPr>
          <a:xfrm>
            <a:off x="640080" y="6382512"/>
            <a:ext cx="128016" cy="128016"/>
          </a:xfrm>
          <a:prstGeom prst="roundRect">
            <a:avLst>
              <a:gd name="adj" fmla="val 28571"/>
            </a:avLst>
          </a:prstGeom>
          <a:solidFill>
            <a:srgbClr val="A9E648"/>
          </a:solidFill>
          <a:ln/>
        </p:spPr>
      </p:sp>
      <p:sp>
        <p:nvSpPr>
          <p:cNvPr id="56" name="Text 5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dersler.perinet.org/newton-yasalari.html</a:t>
            </a:r>
            <a:endParaRPr lang="en-US" sz="1050" dirty="0"/>
          </a:p>
        </p:txBody>
      </p:sp>
      <p:sp>
        <p:nvSpPr>
          <p:cNvPr id="57" name="Text 5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1. yasa </a:t>
            </a:r>
            <a:pPr indent="0" marL="0">
              <a:buNone/>
            </a:pPr>
            <a:r>
              <a:rPr lang="en-US" sz="1500" b="1" dirty="0">
                <a:solidFill>
                  <a:srgbClr val="FFFFFF"/>
                </a:solidFill>
                <a:latin typeface="Calibri" pitchFamily="34" charset="0"/>
                <a:ea typeface="Calibri" pitchFamily="34" charset="-122"/>
                <a:cs typeface="Calibri" pitchFamily="34" charset="-120"/>
              </a:rPr>
              <a:t>eylemsizlik</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2. yasa </a:t>
            </a:r>
            <a:pPr indent="0" marL="0">
              <a:buNone/>
            </a:pPr>
            <a:r>
              <a:rPr lang="en-US" sz="1500" b="1" dirty="0">
                <a:solidFill>
                  <a:srgbClr val="FFFFFF"/>
                </a:solidFill>
                <a:latin typeface="Calibri" pitchFamily="34" charset="0"/>
                <a:ea typeface="Calibri" pitchFamily="34" charset="-122"/>
                <a:cs typeface="Calibri" pitchFamily="34" charset="-120"/>
              </a:rPr>
              <a:t>F = m·a</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3. yasa </a:t>
            </a:r>
            <a:pPr indent="0" marL="0">
              <a:buNone/>
            </a:pPr>
            <a:r>
              <a:rPr lang="en-US" sz="1500" b="1" dirty="0">
                <a:solidFill>
                  <a:srgbClr val="FFFFFF"/>
                </a:solidFill>
                <a:latin typeface="Calibri" pitchFamily="34" charset="0"/>
                <a:ea typeface="Calibri" pitchFamily="34" charset="-122"/>
                <a:cs typeface="Calibri" pitchFamily="34" charset="-120"/>
              </a:rPr>
              <a:t>etki–tepki</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Net kuvvet sıfırsa </a:t>
            </a:r>
            <a:pPr indent="0" marL="0">
              <a:buNone/>
            </a:pPr>
            <a:r>
              <a:rPr lang="en-US" sz="1500" b="1" dirty="0">
                <a:solidFill>
                  <a:srgbClr val="FFFFFF"/>
                </a:solidFill>
                <a:latin typeface="Calibri" pitchFamily="34" charset="0"/>
                <a:ea typeface="Calibri" pitchFamily="34" charset="-122"/>
                <a:cs typeface="Calibri" pitchFamily="34" charset="-120"/>
              </a:rPr>
              <a:t>ivme sıfır</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ΣF = m · a</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net kuvvet, ivmeyi belirler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G = m · g</a:t>
            </a:r>
            <a:endParaRPr lang="en-US" sz="1350" dirty="0"/>
          </a:p>
        </p:txBody>
      </p:sp>
      <p:sp>
        <p:nvSpPr>
          <p:cNvPr id="19" name="Text 17"/>
          <p:cNvSpPr txBox="1"/>
          <p:nvPr/>
        </p:nvSpPr>
        <p:spPr>
          <a:xfrm>
            <a:off x="8183880" y="321868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ağırlık: kütleye etki eden çekim</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 = μ · N</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sürtünme kuvveti</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F₁₂ = −F₂₁</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etki ve tepki</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dersler.perinet.org/newton-yasalari.html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04 · Sürtünme kuvveti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Newton'un hareket yasaları — Dersler</dc:title>
  <dc:subject>Fizik · Kuvvet ve Hareket</dc:subject>
  <dc:creator>Dersler</dc:creator>
  <cp:lastModifiedBy>Dersler</cp:lastModifiedBy>
  <cp:revision>1</cp:revision>
  <dcterms:created xsi:type="dcterms:W3CDTF">2026-09-20T18:42:47Z</dcterms:created>
  <dcterms:modified xsi:type="dcterms:W3CDTF">2026-09-20T18:42:47Z</dcterms:modified>
</cp:coreProperties>
</file>