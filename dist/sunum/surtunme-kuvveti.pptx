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Sürtünme kuvvetinin uygulanan kuvvete göre değişimi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</c:v>
                </c:pt>
              </c:strCache>
            </c:strRef>
          </c:tx>
          <c:spPr>
            <a:solidFill>
              <a:srgbClr val="C53455"/>
            </a:solidFill>
            <a:ln w="31750" cap="flat">
              <a:solidFill>
                <a:srgbClr val="C53455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C53455"/>
              </a:solidFill>
              <a:ln w="9525" cap="flat">
                <a:solidFill>
                  <a:srgbClr val="C53455"/>
                </a:solidFill>
                <a:prstDash val="solid"/>
                <a:round/>
              </a:ln>
              <a:effectLst/>
            </c:spPr>
          </c:marker>
          <c:xVal>
            <c:numRef>
              <c:f>Sheet1!$A$2:$A$62</c:f>
              <c:numCache>
                <c:formatCode>General</c:formatCode>
                <c:ptCount val="6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</c:numCache>
            </c:numRef>
          </c:xVal>
          <c:yVal>
            <c:numRef>
              <c:f>Sheet1!$B$2:$B$62</c:f>
              <c:numCache>
                <c:formatCode>General</c:formatCode>
                <c:ptCount val="6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24</c:v>
                </c:pt>
                <c:pt idx="32">
                  <c:v>24</c:v>
                </c:pt>
                <c:pt idx="33">
                  <c:v>24</c:v>
                </c:pt>
                <c:pt idx="34">
                  <c:v>24</c:v>
                </c:pt>
                <c:pt idx="35">
                  <c:v>24</c:v>
                </c:pt>
                <c:pt idx="36">
                  <c:v>24</c:v>
                </c:pt>
                <c:pt idx="37">
                  <c:v>24</c:v>
                </c:pt>
                <c:pt idx="38">
                  <c:v>24</c:v>
                </c:pt>
                <c:pt idx="39">
                  <c:v>24</c:v>
                </c:pt>
                <c:pt idx="40">
                  <c:v>24</c:v>
                </c:pt>
                <c:pt idx="41">
                  <c:v>24</c:v>
                </c:pt>
                <c:pt idx="42">
                  <c:v>24</c:v>
                </c:pt>
                <c:pt idx="43">
                  <c:v>24</c:v>
                </c:pt>
                <c:pt idx="44">
                  <c:v>24</c:v>
                </c:pt>
                <c:pt idx="45">
                  <c:v>24</c:v>
                </c:pt>
                <c:pt idx="46">
                  <c:v>24</c:v>
                </c:pt>
                <c:pt idx="47">
                  <c:v>24</c:v>
                </c:pt>
                <c:pt idx="48">
                  <c:v>24</c:v>
                </c:pt>
                <c:pt idx="49">
                  <c:v>24</c:v>
                </c:pt>
                <c:pt idx="50">
                  <c:v>24</c:v>
                </c:pt>
                <c:pt idx="51">
                  <c:v>24</c:v>
                </c:pt>
                <c:pt idx="52">
                  <c:v>24</c:v>
                </c:pt>
                <c:pt idx="53">
                  <c:v>24</c:v>
                </c:pt>
                <c:pt idx="54">
                  <c:v>24</c:v>
                </c:pt>
                <c:pt idx="55">
                  <c:v>24</c:v>
                </c:pt>
                <c:pt idx="56">
                  <c:v>24</c:v>
                </c:pt>
                <c:pt idx="57">
                  <c:v>24</c:v>
                </c:pt>
                <c:pt idx="58">
                  <c:v>24</c:v>
                </c:pt>
                <c:pt idx="59">
                  <c:v>24</c:v>
                </c:pt>
                <c:pt idx="60">
                  <c:v>24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uygulanan kuvvet (N)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sürtünme (N)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Fren mesafesinin hıza göre değişimi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kuru asfalt (μ = 0,8)</c:v>
                </c:pt>
              </c:strCache>
            </c:strRef>
          </c:tx>
          <c:spPr>
            <a:solidFill>
              <a:srgbClr val="2A5FD6"/>
            </a:solidFill>
            <a:ln w="31750" cap="flat">
              <a:solidFill>
                <a:srgbClr val="2A5FD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5FD6"/>
              </a:solidFill>
              <a:ln w="9525" cap="flat">
                <a:solidFill>
                  <a:srgbClr val="2A5FD6"/>
                </a:solidFill>
                <a:prstDash val="solid"/>
                <a:round/>
              </a:ln>
              <a:effectLst/>
            </c:spPr>
          </c:marker>
          <c:xVal>
            <c:numRef>
              <c:f>Sheet1!$A$2:$A$32</c:f>
              <c:numCache>
                <c:formatCode>General</c:formatCode>
                <c:ptCount val="3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</c:numCache>
            </c:numRef>
          </c:xVal>
          <c:yVal>
            <c:numRef>
              <c:f>Sheet1!$B$2:$B$32</c:f>
              <c:numCache>
                <c:formatCode>General</c:formatCode>
                <c:ptCount val="31"/>
                <c:pt idx="0">
                  <c:v>0</c:v>
                </c:pt>
                <c:pt idx="1">
                  <c:v>0.1</c:v>
                </c:pt>
                <c:pt idx="2">
                  <c:v>0.5</c:v>
                </c:pt>
                <c:pt idx="3">
                  <c:v>1.1</c:v>
                </c:pt>
                <c:pt idx="4">
                  <c:v>2</c:v>
                </c:pt>
                <c:pt idx="5">
                  <c:v>3.1</c:v>
                </c:pt>
                <c:pt idx="6">
                  <c:v>4.4</c:v>
                </c:pt>
                <c:pt idx="7">
                  <c:v>6</c:v>
                </c:pt>
                <c:pt idx="8">
                  <c:v>7.9</c:v>
                </c:pt>
                <c:pt idx="9">
                  <c:v>10</c:v>
                </c:pt>
                <c:pt idx="10">
                  <c:v>12.3</c:v>
                </c:pt>
                <c:pt idx="11">
                  <c:v>14.9</c:v>
                </c:pt>
                <c:pt idx="12">
                  <c:v>17.7</c:v>
                </c:pt>
                <c:pt idx="13">
                  <c:v>20.8</c:v>
                </c:pt>
                <c:pt idx="14">
                  <c:v>24.1</c:v>
                </c:pt>
                <c:pt idx="15">
                  <c:v>27.7</c:v>
                </c:pt>
                <c:pt idx="16">
                  <c:v>31.5</c:v>
                </c:pt>
                <c:pt idx="17">
                  <c:v>35.5</c:v>
                </c:pt>
                <c:pt idx="18">
                  <c:v>39.8</c:v>
                </c:pt>
                <c:pt idx="19">
                  <c:v>44.4</c:v>
                </c:pt>
                <c:pt idx="20">
                  <c:v>49.2</c:v>
                </c:pt>
                <c:pt idx="21">
                  <c:v>54.2</c:v>
                </c:pt>
                <c:pt idx="22">
                  <c:v>59.5</c:v>
                </c:pt>
                <c:pt idx="23">
                  <c:v>65</c:v>
                </c:pt>
                <c:pt idx="24">
                  <c:v>70.8</c:v>
                </c:pt>
                <c:pt idx="25">
                  <c:v>76.8</c:v>
                </c:pt>
                <c:pt idx="26">
                  <c:v>83.1</c:v>
                </c:pt>
                <c:pt idx="27">
                  <c:v>89.6</c:v>
                </c:pt>
                <c:pt idx="28">
                  <c:v>96.4</c:v>
                </c:pt>
                <c:pt idx="29">
                  <c:v>103.4</c:v>
                </c:pt>
                <c:pt idx="30">
                  <c:v>110.6</c:v>
                </c:pt>
              </c:numCache>
            </c:numRef>
          </c:y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karlı yol (μ = 0,2)</c:v>
                </c:pt>
              </c:strCache>
            </c:strRef>
          </c:tx>
          <c:spPr>
            <a:solidFill>
              <a:srgbClr val="C53455"/>
            </a:solidFill>
            <a:ln w="31750" cap="flat">
              <a:solidFill>
                <a:srgbClr val="C53455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C53455"/>
              </a:solidFill>
              <a:ln w="9525" cap="flat">
                <a:solidFill>
                  <a:srgbClr val="C53455"/>
                </a:solidFill>
                <a:prstDash val="solid"/>
                <a:round/>
              </a:ln>
              <a:effectLst/>
            </c:spPr>
          </c:marker>
          <c:xVal>
            <c:numRef>
              <c:f>Sheet1!$A$2:$A$32</c:f>
              <c:numCache>
                <c:formatCode>General</c:formatCode>
                <c:ptCount val="3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</c:numCache>
            </c:numRef>
          </c:xVal>
          <c:yVal>
            <c:numRef>
              <c:f>Sheet1!$C$2:$C$32</c:f>
              <c:numCache>
                <c:formatCode>General</c:formatCode>
                <c:ptCount val="31"/>
                <c:pt idx="0">
                  <c:v>0</c:v>
                </c:pt>
                <c:pt idx="1">
                  <c:v>0.5</c:v>
                </c:pt>
                <c:pt idx="2">
                  <c:v>2</c:v>
                </c:pt>
                <c:pt idx="3">
                  <c:v>4.4</c:v>
                </c:pt>
                <c:pt idx="4">
                  <c:v>7.9</c:v>
                </c:pt>
                <c:pt idx="5">
                  <c:v>12.3</c:v>
                </c:pt>
                <c:pt idx="6">
                  <c:v>17.7</c:v>
                </c:pt>
                <c:pt idx="7">
                  <c:v>24.1</c:v>
                </c:pt>
                <c:pt idx="8">
                  <c:v>31.5</c:v>
                </c:pt>
                <c:pt idx="9">
                  <c:v>39.8</c:v>
                </c:pt>
                <c:pt idx="10">
                  <c:v>49.2</c:v>
                </c:pt>
                <c:pt idx="11">
                  <c:v>59.5</c:v>
                </c:pt>
                <c:pt idx="12">
                  <c:v>70.8</c:v>
                </c:pt>
                <c:pt idx="13">
                  <c:v>83.1</c:v>
                </c:pt>
                <c:pt idx="14">
                  <c:v>96.4</c:v>
                </c:pt>
                <c:pt idx="15">
                  <c:v>110.6</c:v>
                </c:pt>
                <c:pt idx="16">
                  <c:v>125.8</c:v>
                </c:pt>
                <c:pt idx="17">
                  <c:v>142.1</c:v>
                </c:pt>
                <c:pt idx="18">
                  <c:v>159.3</c:v>
                </c:pt>
                <c:pt idx="19">
                  <c:v>177.5</c:v>
                </c:pt>
                <c:pt idx="20">
                  <c:v>196.6</c:v>
                </c:pt>
                <c:pt idx="21">
                  <c:v>216.8</c:v>
                </c:pt>
                <c:pt idx="22">
                  <c:v>237.9</c:v>
                </c:pt>
                <c:pt idx="23">
                  <c:v>260.1</c:v>
                </c:pt>
                <c:pt idx="24">
                  <c:v>283.2</c:v>
                </c:pt>
                <c:pt idx="25">
                  <c:v>307.2</c:v>
                </c:pt>
                <c:pt idx="26">
                  <c:v>332.3</c:v>
                </c:pt>
                <c:pt idx="27">
                  <c:v>358.4</c:v>
                </c:pt>
                <c:pt idx="28">
                  <c:v>385.4</c:v>
                </c:pt>
                <c:pt idx="29">
                  <c:v>413.4</c:v>
                </c:pt>
                <c:pt idx="30">
                  <c:v>442.4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hız (km/h)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fren mesafesi (m)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C577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Açılış: 'Masadaki kitabı iterken neden önce hiç kımıldamıyor, sonra birden kayıyor?' Bu dersin tamamı bu sorunun cevabı.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Sürtünme, Newton yasalarının hemen ardından gelir: serbest cisim diyagramındaki dördüncü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Yön kuralını vurgula: 'harekete zıt' demek yanlış, 'bağıl kaymaya zıt' demek doğru. Yürüme örneği bunu kanıtlar.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Tabloyu satır satır oku. Öğrencilerin çoğu f = μN'yi her duruma uygular; bu slayt tam olarak o hatayı hedefler.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grafik konunun amblemi. Kırılma noktasından önce doğru 45°'lik; sonrası yatay. Öğrenciye 'F = 20 N iken f kaç?' diye sordur.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μ'nün birimsiz olduğunu ve iki yüzeyin ortak özelliği olduğunu vurgula. 'Ahşabın sürtünme katsayısı' demek eksik bir ifadedir.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Laboratuvarda μ ölçmenin en kolay yolu: eğimi yavaşça artır, kayma açısını ölç, tanjantını 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Grafikteki iki eğri arasındaki fark, kışlık lastik ve hız sınırı tartışmasının fizik karşılığıdır.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Öğrencilerden kendi örneklerini istemek için iyi bir slayt.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Önce eşiği hesapla, sonra karşılaştır. Bu sıra bütün sürtünme problemlerinde aynıdır.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Bu, laboratuvarda μ ölçme yöntemidir. Öğrenciye 'peki kütleyi iki katına çıkarsak?' diye 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Tepki mesafesi hızla doğru, fren mesafesi hızın karesiyle orantılı. İkisini ayrı hesaplatmak önemli.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İlk iki madde en kritik olanlar; f–F grafiğine dönerek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siteyi aç: kuvveti yavaşça artırıp kopuş anını canlı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Sürtünme kuvveti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291840"/>
            <a:ext cx="6492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Dokunan her iki yüzey arasında, kaymaya karşı koyan bir kuvvet doğar. Cisim dururken sana ayak uydurur; bir eşiği aştığında sabitlenir ve cisim kaymaya başlar.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5720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f(statik) ≤ μs · N        f(kinetik) = μk · N        tanθ = μs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9509760" y="3017520"/>
            <a:ext cx="1371600" cy="914400"/>
          </a:xfrm>
          <a:prstGeom prst="roundRect">
            <a:avLst>
              <a:gd name="adj" fmla="val 10000"/>
            </a:avLst>
          </a:prstGeom>
          <a:solidFill>
            <a:srgbClr val="1E2A4D"/>
          </a:solidFill>
          <a:ln w="19050">
            <a:solidFill>
              <a:srgbClr val="B9EE6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3474720"/>
            <a:ext cx="868680" cy="0"/>
          </a:xfrm>
          <a:prstGeom prst="line">
            <a:avLst/>
          </a:prstGeom>
          <a:noFill/>
          <a:ln w="31750">
            <a:solidFill>
              <a:srgbClr val="82AA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8732520" y="3474720"/>
            <a:ext cx="777240" cy="0"/>
          </a:xfrm>
          <a:prstGeom prst="line">
            <a:avLst/>
          </a:prstGeom>
          <a:noFill/>
          <a:ln w="31750">
            <a:solidFill>
              <a:srgbClr val="FF8FA3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1097280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2A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59536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595360" y="4069080"/>
            <a:ext cx="2834640" cy="0"/>
          </a:xfrm>
          <a:prstGeom prst="line">
            <a:avLst/>
          </a:prstGeom>
          <a:noFill/>
          <a:ln w="25400">
            <a:solidFill>
              <a:srgbClr val="3D4C7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dersler.perinet.org/surtunme-kuvveti.html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tanımdan fren mesafesine.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 nedir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Yüzeyler arası, bağıl kaymaya zıt kuvvet.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Statik sürtünme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Uygulanan kuvvete eşit büyür, bir eşiği aşamaz.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Kinetik sürtünme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Kayma başlayınca sabitlenir, genelde daha küçüktür.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Neye bağlı?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ve yüzey çiftine; alana ve hıza değil.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Eğik düzlem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Kayma açısı doğrudan μs'yi verir.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 mesafesi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Hızın karesiyle büyür; trafikte hayat kurtarır.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04 · Sürtünme kuvveti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Sürtünme kuvveti nedir?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Birbirine değen yüzeyler arasında, bağıl kaymaya zıt yönde ortaya çıkan kuvvet.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583680" cy="1920240"/>
          </a:xfrm>
          <a:prstGeom prst="roundRect">
            <a:avLst>
              <a:gd name="adj" fmla="val 6667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Yüzeyler çıplak gözle pürüzsüz görünse bile mikroskobik ölçekte girinti çıkıntılıdır. Temas noktalarındaki kenetlenme ve moleküler yapışma sürtünmeyi doğurur.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6583680" cy="868680"/>
          </a:xfrm>
          <a:prstGeom prst="roundRect">
            <a:avLst>
              <a:gd name="adj" fmla="val 1473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0120" y="393192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Yüzeye paraleldir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3931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kuvvet yüzeye dik, sürtünme yüzeye paraleldir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937760"/>
            <a:ext cx="6583680" cy="868680"/>
          </a:xfrm>
          <a:prstGeom prst="roundRect">
            <a:avLst>
              <a:gd name="adj" fmla="val 1473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60120" y="49377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Kaymaya zıttır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49377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harekete değil, bağıl kaymaya ters yöndedir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589520" y="1783080"/>
            <a:ext cx="3962095" cy="4069080"/>
          </a:xfrm>
          <a:prstGeom prst="roundRect">
            <a:avLst>
              <a:gd name="adj" fmla="val 3231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909560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 hep kötü değildir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909560" y="24688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Yürürken ayağın yeri geriye itmeye çalışır; sürtünme de seni ileriye iter. Yani burada sürtünme hareketi engellemez, hareketi mümkün kılar.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Frenleme, virajı dönme, vidanın tutması, elimizle bir şey kavramak — hepsi sürtünme sayesinde.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04 · Sürtünme kuvveti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Statik sürtünme: eşiğe kadar dengeler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 bir değeri yoktur: uygulanan kuvvet ne kadarsa, o kadar büyür.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731520"/>
          </a:xfrm>
          <a:prstGeom prst="roundRect">
            <a:avLst>
              <a:gd name="adj" fmla="val 12500"/>
            </a:avLst>
          </a:prstGeom>
          <a:solidFill>
            <a:srgbClr val="F1EDFB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f(statik) = F(uygulanan)        f(statik) ≤ μs · 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6766560" cy="658368"/>
          </a:xfrm>
          <a:prstGeom prst="roundRect">
            <a:avLst>
              <a:gd name="adj" fmla="val 19444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14400" y="27432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N itersen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74320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N sürtünme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577840" y="2743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durur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493008"/>
            <a:ext cx="67665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349300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N itersen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49300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N sürtünme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0" y="3493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yine durur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6766560" cy="658368"/>
          </a:xfrm>
          <a:prstGeom prst="roundRect">
            <a:avLst>
              <a:gd name="adj" fmla="val 19444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400" y="424281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Eşik: μs·N = 50 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4242816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N sürtünme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4242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kayma sınırı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992624"/>
            <a:ext cx="6766560" cy="658368"/>
          </a:xfrm>
          <a:prstGeom prst="roundRect">
            <a:avLst>
              <a:gd name="adj" fmla="val 19444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14400" y="499262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N itersen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4992624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kinetik: μk·N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577840" y="4992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kayar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0" y="2743200"/>
            <a:ext cx="3779215" cy="3072384"/>
          </a:xfrm>
          <a:prstGeom prst="roundRect">
            <a:avLst>
              <a:gd name="adj" fmla="val 4167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092440" y="2971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böyle?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092440" y="342900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hareket etmiyorsa ivmesi sıfırdır; Newton'un 2. yasası gereği net kuvvet de sıfır olmalıdır. Sürtünme, uygulanan kuvveti dengelemek için tam gerektiği kadar ortaya çıkar.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 sınırsız değildir: μs·N değerini aşamaz.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04 · Sürtünme kuvveti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Kinetik sürtünme ve f – F grafiği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Kayma başladığı anda sürtünme sabitlenir ve genellikle eşikten küçüktür.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40080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360920" y="1783080"/>
            <a:ext cx="4190695" cy="594360"/>
          </a:xfrm>
          <a:prstGeom prst="roundRect">
            <a:avLst>
              <a:gd name="adj" fmla="val 15385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60920" y="1783080"/>
            <a:ext cx="41906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f(kinetik) = μk · 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60920" y="25146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Kinetik sürtünme uygulanan kuvvetten bağımsızdır ve (yaklaşık olarak) hıza da bağlı değildir. Grafikteki yatay bölüm bunu gösterir.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360920" y="3611880"/>
            <a:ext cx="4190695" cy="2240280"/>
          </a:xfrm>
          <a:prstGeom prst="roundRect">
            <a:avLst>
              <a:gd name="adj" fmla="val 5714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680960" y="3840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μk &lt; μs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9768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yüzden ağır bir dolabı yerinden oynatmak, oynadıktan sonra itmeye devam etmekten zordur. Grafikte eşikte görülen ani düşüş tam olarak budur.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04 · Sürtünme kuvveti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Neye bağlı, neye bağlı değil?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 katsayısı tek bir cismin değil, iki yüzeyin ortak özelliğidir.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120640" cy="1828800"/>
          </a:xfrm>
          <a:prstGeom prst="roundRect">
            <a:avLst>
              <a:gd name="adj" fmla="val 7000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Bağlıdır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95728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kuvvete (N)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Yüzey çiftine (μ)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26480" y="1783080"/>
            <a:ext cx="5425135" cy="1828800"/>
          </a:xfrm>
          <a:prstGeom prst="roundRect">
            <a:avLst>
              <a:gd name="adj" fmla="val 7000"/>
            </a:avLst>
          </a:prstGeom>
          <a:solidFill>
            <a:srgbClr val="FBE9EE"/>
          </a:solidFill>
          <a:ln w="12700">
            <a:solidFill>
              <a:srgbClr val="F2C9D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4652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Bağlı değildir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395728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 alanına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Kayma hızına (yaklaşık)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840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Yüzey çifti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3840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3840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μk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242816"/>
            <a:ext cx="67665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24281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Buz – çelik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424281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0,10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424281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645152"/>
            <a:ext cx="6766560" cy="365760"/>
          </a:xfrm>
          <a:prstGeom prst="roundRect">
            <a:avLst>
              <a:gd name="adj" fmla="val 150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46451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Ahşap – ahşap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297680" y="46451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0,50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46451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0,35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047488"/>
            <a:ext cx="67665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0474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Çelik – çelik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297680" y="50474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0,70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50474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0,60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5449824"/>
            <a:ext cx="6766560" cy="365760"/>
          </a:xfrm>
          <a:prstGeom prst="roundRect">
            <a:avLst>
              <a:gd name="adj" fmla="val 150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" y="544982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Lastik – kuru asfalt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297680" y="54498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0,90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760720" y="54498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0,70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772400" y="3840480"/>
            <a:ext cx="3779215" cy="2011680"/>
          </a:xfrm>
          <a:prstGeom prst="roundRect">
            <a:avLst>
              <a:gd name="adj" fmla="val 6364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8092440" y="406908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kütleli bir tuğlayı yan yatırmak sürtünmeyi değiştirmez: alan büyüdükçe birim alana düşen basınç azalır, toplam sürtünme aynı kalır.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Hızla belirgin biçimde artan kuvvet sürtünme değil, hava direncidir (Konu 05).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04 · Sürtünme kuvveti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Eğik düzlem: açıyı ölçmek, μ'yü ölçmektir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Eğim arttıkça paralel bileşen büyür, dik bileşen küçülür.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93776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80160" y="5074920"/>
            <a:ext cx="3657600" cy="0"/>
          </a:xfrm>
          <a:prstGeom prst="line">
            <a:avLst/>
          </a:prstGeom>
          <a:noFill/>
          <a:ln w="25400">
            <a:solidFill>
              <a:srgbClr val="DDE3F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80160" y="3063240"/>
            <a:ext cx="0" cy="2011680"/>
          </a:xfrm>
          <a:prstGeom prst="line">
            <a:avLst/>
          </a:prstGeom>
          <a:noFill/>
          <a:ln w="25400">
            <a:solidFill>
              <a:srgbClr val="DDE3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80160" y="3063240"/>
            <a:ext cx="3657600" cy="2011680"/>
          </a:xfrm>
          <a:prstGeom prst="line">
            <a:avLst/>
          </a:prstGeom>
          <a:noFill/>
          <a:ln w="25400">
            <a:solidFill>
              <a:srgbClr val="7882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740000">
            <a:off x="2697480" y="3931920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C9D8F5"/>
          </a:solidFill>
          <a:ln w="15240">
            <a:solidFill>
              <a:srgbClr val="2A5F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80944" y="4206240"/>
            <a:ext cx="0" cy="868680"/>
          </a:xfrm>
          <a:prstGeom prst="line">
            <a:avLst/>
          </a:prstGeom>
          <a:noFill/>
          <a:ln w="31750">
            <a:solidFill>
              <a:srgbClr val="6348D4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4343400" y="46908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61488" y="5093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51560" y="2011680"/>
            <a:ext cx="4114800" cy="640080"/>
          </a:xfrm>
          <a:prstGeom prst="roundRect">
            <a:avLst>
              <a:gd name="adj" fmla="val 14286"/>
            </a:avLst>
          </a:prstGeom>
          <a:solidFill>
            <a:srgbClr val="FBE9EE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20116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tanθ(kritik) = μs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43600" y="1783080"/>
            <a:ext cx="320040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0" y="17830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F(paralel) = m·g·sinθ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92811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eğim boyunca aşağı çeken bileşen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43600" y="2697480"/>
            <a:ext cx="320040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0" y="2697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m·g·cosθ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26974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eğime dik denge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0" y="3611880"/>
            <a:ext cx="320040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43600" y="3611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f(maks) = μs·m·g·cosθ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9281160" y="36118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kaymayı engelleyen en büyük kuvvet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0" y="4526280"/>
            <a:ext cx="320040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0" y="4526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g·(sinθ − μk·cosθ)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281160" y="45262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kayma başladıktan sonra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0" y="5440680"/>
            <a:ext cx="5608015" cy="777240"/>
          </a:xfrm>
          <a:prstGeom prst="roundRect">
            <a:avLst>
              <a:gd name="adj" fmla="val 16471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263640" y="54406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 bağıntılarda yok: </a:t>
            </a:r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ağır da olsa hafif de olsa aynı açıda kayar.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04 · Sürtünme kuvveti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Fren mesafesi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 mesafesi hızın karesiyle artar; tepki mesafesi ise hızla doğru orantılıdır.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58368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543800" y="1783080"/>
            <a:ext cx="4007815" cy="640080"/>
          </a:xfrm>
          <a:prstGeom prst="roundRect">
            <a:avLst>
              <a:gd name="adj" fmla="val 14286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43800" y="1783080"/>
            <a:ext cx="40078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= v² / (2·μ·g)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543800" y="2651760"/>
            <a:ext cx="4007815" cy="658368"/>
          </a:xfrm>
          <a:prstGeom prst="roundRect">
            <a:avLst>
              <a:gd name="adj" fmla="val 19444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818120" y="265176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2 katı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646920" y="26517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mesafe 4 katı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543800" y="3429000"/>
            <a:ext cx="4007815" cy="658368"/>
          </a:xfrm>
          <a:prstGeom prst="roundRect">
            <a:avLst>
              <a:gd name="adj" fmla="val 19444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818120" y="342900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 yarıya iner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9646920" y="342900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mesafe 2 katı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543800" y="4206240"/>
            <a:ext cx="4007815" cy="658368"/>
          </a:xfrm>
          <a:prstGeom prst="roundRect">
            <a:avLst>
              <a:gd name="adj" fmla="val 19444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818120" y="4206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Tepki süresi 1 s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9646920" y="420624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 · 1 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543800" y="5029200"/>
            <a:ext cx="4007815" cy="822960"/>
          </a:xfrm>
          <a:prstGeom prst="roundRect">
            <a:avLst>
              <a:gd name="adj" fmla="val 15556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863840" y="5029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 </a:t>
            </a:r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tekerleği kilitlenme sınırında tutar: daha büyük olan statik sürtünmeden yararlanır.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04 · Sürtünme kuvveti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Faydaları ve zararları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İstemediğimiz yerde azaltırız, istediğimiz yerde artırırız.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03520" cy="2651760"/>
          </a:xfrm>
          <a:prstGeom prst="roundRect">
            <a:avLst>
              <a:gd name="adj" fmla="val 4828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Faydalı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95728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Yürümek ve koşmak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 yapmak, virajı dönmek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Vida, çivi ve düğümün tutması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Elimizle bir şey kavramak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303520" cy="2651760"/>
          </a:xfrm>
          <a:prstGeom prst="roundRect">
            <a:avLst>
              <a:gd name="adj" fmla="val 4828"/>
            </a:avLst>
          </a:prstGeom>
          <a:solidFill>
            <a:srgbClr val="FBE9EE"/>
          </a:solidFill>
          <a:ln w="12700">
            <a:solidFill>
              <a:srgbClr val="F2C9D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37960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Zararlı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395728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Makine parçalarının aşınması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Isınma ve enerji kaybı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Verimin düşmesi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Yakıt tüketiminin artması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663440"/>
            <a:ext cx="10911535" cy="594360"/>
          </a:xfrm>
          <a:prstGeom prst="roundRect">
            <a:avLst>
              <a:gd name="adj" fmla="val 21538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46634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Azaltmak için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46634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yağ · rulman · hava yastığı · cilalı yüzey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5349240"/>
            <a:ext cx="10911535" cy="594360"/>
          </a:xfrm>
          <a:prstGeom prst="roundRect">
            <a:avLst>
              <a:gd name="adj" fmla="val 21538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" y="53492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Artırmak için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53492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tırtıklı yüzey · kışlık lastik · reçine · zımpara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04 · Sürtünme kuvveti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kutu hareket eder mi?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zeminde duran 20 kg'lık kutu için μs = 0,5 ve μk = 0,4'tür.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80 N uygulanırsa sürtünme kaç N olur?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120 N uygulanırsa ivme ne olur?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80 N · (b) 2 m/s²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m·g = 200 N → statik eşik μs·N = 100 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N &lt; 100 N → kutu hareket etmez, f = 80 N (uygulanan kuvvete eşit), a = 0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N &gt; 100 N → kayma başlar, f = μk·N = 0,4 · 200 = 80 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(120 − 80) / 20 = 2 m/s²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04 · Sürtünme kuvveti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kritik açı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Eğimi yavaşça artırılan bir düzlemde cisim 37°'de kaymaya başlıyor.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μs kaçtır?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μk = 0,5 ise kayarken ivmesi nedir?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(sin37° = 0,6 · cos37° = 0,8)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0,75 · (b) 2 m/s²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Kayma sınırında tanθ = μs → μs = 0,6 / 0,8 = 0,75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g·(sinθ − μk·cosθ) = 10·(0,6 − 0,5·0,8)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10 · 0,2 = 2 m/s²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 hiçbir adımda kullanılmadı: sonuç kütleden bağımsızdır.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04 · Sürtünme kuvveti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fren mesafesi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km/h ile giden araç, μ = 0,5 olan yolda fren yapıyor. Tepki süresi 1 s'dir.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Toplam durma mesafesi nedir?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Hız iki katına çıkarsa fren mesafesi ne olur?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60 m · (b) 160 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km/h = 20 m/s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Tepki: 20 · 1 = 20 m · Fren: v²/(2μg) = 400/10 = 40 m → toplam 60 m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40 m/s → fren mesafesi 1600/10 = 160 m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2 katına çıktı, fren mesafesi 4 katına çıktı (v² bağımlılığı).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04 · Sürtünme kuvveti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 her zaman hareketi engeller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Bağıl kaymaya zıttır; yürümeyi ve frenlemeyi o sağlar.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μ·N her durumda geçerlidir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Statikte f uygulanan kuvvete eşittir; μs·N üst sınırdır.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 alanı büyükse sürtünme büyüktür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bağıntıda yoktur.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Kinetik sürtünme hızla artar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Yaklaşık sabittir; hızla artan kuvvet hava direncidir.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her zaman m·g'dir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Eğik düzlemde m·g·cosθ; asansörde de değişir.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 mesafesi hızla orantılıdır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Hızın karesiyle artar.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04 · Sürtünme kuvveti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Statik: eşiğe kadar dengeler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623560" y="206654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uygulanan kuvvete eşittir, μs·N'yi aşamaz.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Kinetik: sabit ve daha küçük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623560" y="299923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Kayma başlayınca f = μk·N olur; μk &lt; μs.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Alana ve hıza bağlı değil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623560" y="393192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normal kuvvete ve yüzey çiftine bağlıdır.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Kritik açı μ'yü verir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4864608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tanθ = μs; fren mesafesi ise v²/(2μg).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 laboratuvarı, eğik düzlem ve fren mesafesi deneyi: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dersler.perinet.org/surtunme-kuvveti.html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Sürtünme kuvveti</dc:title>
  <dc:subject>Fizik · Kuvvet ve Hareket</dc:subject>
  <dc:creator>Dersler</dc:creator>
  <cp:lastModifiedBy>Dersler</cp:lastModifiedBy>
  <cp:revision>1</cp:revision>
  <dcterms:created xsi:type="dcterms:W3CDTF">2026-09-18T17:24:03Z</dcterms:created>
  <dcterms:modified xsi:type="dcterms:W3CDTF">2026-09-18T17:24:03Z</dcterms:modified>
</cp:coreProperties>
</file>