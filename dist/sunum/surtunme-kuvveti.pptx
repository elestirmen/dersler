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Sürtünme kuvveti nedir?
2. Statik sürtünme: eşiğe kadar dengeler
3. Kinetik sürtünme: sabit ve daha küçük
4. Sürtünme neye bağlı, neye bağlı değil?
5. Eğik düzlemde sürtünme
6. Sürtünmenin faydaları ve zararları
7. Fren mesafesi ve trafik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Birbirine değen iki yüzey arasında, bağıl kaymaya zıt yönde ortaya çıkan kuvvete sürtünme kuvveti denir. Yüzeyler çıplak gözle pürüzsüz görünse bile mikroskobik ölçekte girinti çıkıntılıdır; temas noktalarındaki bu kenetlenme ve moleküler yapışma sürtünmeyi doğurur.
Sürtünme kuvvetinin iki temel özelliği vardır:
• Yüzeye paraleldir (normal kuvvet ise yüzeye diktir).
• Yönü, cismin kaymakta olduğu ya da kaymaya çalıştığı yönün tersidir.
Dikkat: Sürtünme "harekete" değil, bağıl kaymaya zıttır. Yürürken ayağın yeri geriye itmeye çalışır; sürtünme de seni ileriye iter. Yani sürtünme burada hareketi engellemez, hareketi mümkün kılar.
Çizim: Sürtünme kuvveti daima yüzeye paraleldir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cilalamak ya da araya yağ koymak işe yarar.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Statik sürtünme: eşiğe kadar dengeler
Cisim henüz hareket etmiyorken ortaya çıkan sürtünmeye statik sürtünme denir. Bu kuvvetin en ilginç yanı, sabit bir değeri olmamasıdır: uygulanan kuvvet ne kadarsa, statik sürtünme de o kadar büyür ve onu tam olarak dengeler.
fs = Fuygulanan (cisim durduğu sürece)   fs ≤ μs · N
Ancak bu uyum sonsuza kadar sürmez. Statik sürtünmenin bir üst sınırı vardır: μs·N. Uygulanan kuvvet bu eşiği geçtiği anda denge bozulur ve cisim kaymaya başlar. Sayfadaki 01 numaralı laboratuvarda kuvveti yavaşça artırdığında bu kopuş anını göreceksin.
Çizim: Statik sürtünme sabit bir sayı değildir: uygulanan kuvvet ne kadarsa o kadar ortaya çıkar ve cismi tam olarak dengede tutar. Ancak bir üst sınırı vardır (μs·N). Üçüncü karede kuvvet bu sınırı aşmıştır; cisim kurtulur ve sürtünme, daha küçük olan kinetik değerine düşer. Kırmızı ok bu yüzden üçüncü karede kısalır.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Kinetik sürtünme: sabit ve daha küçük
Cisim kaymaya başladığı anda devreye kinetik (hareket) sürtünmesi girer. Bu kuvvet, uygulanan kuvvetten bağımsızdır ve sabittir:
fk = μk · N   μk &lt; μs
Kinetik katsayı genellikle statik katsayıdan küçüktür. Bu yüzden ağır bir dolabı yerinden oynatmak, oynadıktan sonra itmeye devam etmekten zordur. Grafikte bu, eşikte görülen ani düşüştür.
 | Statik | Kinetik
Ne zaman | Cisim dururken | Cisim kayarken
Büyüklük | Uygulanan kuvvete eşit | μk·N, sabit
Üst sınır | μs·N | —
Çizim: Soldaki grafik hikâyenin tamamı: mavi kısımda cisim durgundur ve sürtünme uygulanan kuvvetle birlikte büyür; eşikte kopar ve sarı kısımda sabit bir değere yerleşir. Sağdaki çubuklar her yüzey çiftinde μk'nin μs'den küçük olduğunu gösteriyor — bir dolabı yerinden oynatmak, sonra itmekten hep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Bağlıdır:
• Normal kuvvete (N). Cisme bastırırsan ya da kütlesi artarsa sürtünme artar.
• Yüzey çiftine. Katsayı tek bir cismin değil, iki yüzeyin birlikte özelliğidir.
Bağlı değildir:
• Temas alanına. Aynı kütleli bir tuğlayı yan yatırmak sürtünmeyi değiştirmez.
• Kayma hızına (yaklaşık olarak). Hızla belirgin biçimde artan kuvvet, sürtünme değil hava direncidir.
Çizim: Aynı tuğlayı yan yatırmak temas alanını üçe katlar ama sürtünmeyi değiştirmez: f = μ·N bağıntısında alan hiç geçmez. Alan büyüdükçe birim alana düşen basınç küçülür, ikisi birbirini götürür. Sürtünmeyi gerçekten değiştiren şey normal kuvvettir: ikinci tuğlayı üstüne koyunca N iki katına çıkar, sürtünme 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Yüzey çifti | μs | μk
Buz – çelik | 0,10 | 0,03
Ahşap – ahşap | 0,50 | 0,35
Çelik – çelik | 0,70 | 0,60
Lastik – kuru asfalt | 0,90 | 0,70
μ birimsizdir ve genellikle 0 ile 1 arasındadır; ama yapışkan yüzeylerde 1'in üstüne de çıkabilir. Sürtünme katsayısı bir orandır: f ile N'nin oranı.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Eğik düzlemde ağırlığı iki bileşene ayırırız: eğime paralel olan bileşen cismi aşağı çekmeye çalışır, dik olan bileşen ise normal kuvveti belirler.
Fparalel = m·g·sinθ   N = m·g·cosθ   fmaks = μs·m·g·cosθ
Cisim, paralel bileşen statik eşiği geçtiği anda kaymaya başlar: m·g·sinθ &gt; μs·m·g·cosθ. Kütleler sadeleşince geriye çok zarif bir sonuç kalır:
tanθkritik = μs
Çizim: Eğik düzlemde ağırlığı iki bileşene ayırırız: eğime paralel olan G·sinθ cismi aşağı çeker, eğime dik olan G·cosθ ise normal kuvvetle dengelenir. Eğim büyüdükçe birinci büyür, ikinci küçülür — yani kaydırıcı kuvvet artarken sürtünmenin dayanağı azalır. İkisi eşitlendiği anda cisim kayar ve o açıda tanθ = μs olur: eğik düzlem, katsayıyı doğrudan ölçen bir alettir.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Yani cismin kaymaya başladığı açının tanjantı, doğrudan statik sürtünme katsayısını verir. Laboratuvarda μ ölçmenin en kolay yolu budur — sayfadaki 02 numaralı bölüm tam olarak bunu yapıyor. Kayma başladıktan sonra ivme:
a = g·(sinθ − μk·cosθ)
Kütle bu bağıntıların hiçbirinde yoktur: ağır da olsa hafif de olsa aynı açıda kayar, aynı ivmeyle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Sürtünmenin faydaları ve zararları
Faydalı olduğu yerler | Zararlı olduğu yerler
Yürümek, koşmak | Makine parçalarının aşınması
Fren yapmak, virajı dönmek | Isınma ve enerji kaybı
Vida, çivi ve düğümün tutması | Verimin düşmesi
Elimizle bir şey tutabilmek | Uçak ve araçlarda yakıt tüketimi
İstemediğimiz yerde sürtünmeyi azaltmak için yağ, rulman, hava yastığı; istediğimiz yerde artırmak için tırtıklı yüzey, kışlık lastik, reçine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Frenleyen bir araç için sürtünme kuvveti f = μ·m·g, ivme ise a = μ·g'dir (kütle yine sadeleşir). Buradan durma mesafesi:
dfren = v² / (2·μ·g)   dtepki = v · ttepki   dtoplam = dtepki + dfren
Fren mesafesi hızın karesiyle artar: hızı iki katına çıkarmak fren mesafesini dört katına çıkarır. Islak asfaltta μ yarıya inerse mesafe iki katına çıkar. Tepki mesafesi ise hızla doğru orantılıdır ve frenden önce alınır — sayfadaki 04 numaralı bölümde ikisini ayrı ayrı görebilirsin.
ABS neden var? Tekerlek kilitlenip kayarsa devreye kinetik sürtünme girer ve μ küçülür. ABS, tekerleği kilitlenme sınırında tutarak daha büyük olan statik sürtünmeden yararlanır; ayrıca direksiyon hâkimiyetini korur.
Çizim: Durma mesafesi iki parçadan oluşur. Tepki mesafesi hızla doğru orantılıdır (d = v·t), ama fren mesafesi hızın karesiyle artar (d = v²/2μg). Bu yüzden hızı iki katına çıkarmak toplam mesafeyi iki değil üç katına çıkarır. Islak yolda μ yarıya inerse fren mesafesi ikiye katlanır — hız sınırlarının sebebi bu karesel terimdir.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Yatay zeminde duran 20 kg'lık kutu için μs = 0,5 ve μk = 0,4'tür. (a) 80 N'luk yatay kuvvet uygulanırsa kutu hareket eder mi, sürtünme kaç N olur? (b) Kuvvet 120 N'a çıkarılırsa ivme ne olur?
1. N = m·g = 200 N, statik eşik: μs·N = 0,5 · 200 = 100 N
2. (a) 80 N &lt; 100 N olduğu için kutu hareket etmez; statik sürtünme uygulanan kuvvete eşittir: f = 80 N, a = 0.
3. (b) 120 N &gt; 100 N → kayma başlar. Artık kinetik sürtünme geçerlidir: f = μk·N = 0,4 · 200 = 80 N
4. a = (120 − 80) / 20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Kritik açıdan μ bulma
Eğimi yavaşça artırılan bir düzlemde cisim, açı 37° olduğunda kaymaya başlıyor. (a) μs kaçtır? (b) μk = 0,5 ise kaymaya başladıktan sonraki ivmesi nedir? (sin37° = 0,6 · cos37° = 0,8)
1. (a) tanθ = μs → μs = tan37° = 0,6/0,8 = 0,75
2. (b) a = g·(sinθ − μk·cosθ) = 10·(0,6 − 0,5·0,8)
3. a = 10 · (0,6 − 0,4) = 2 m/s²
4. Kütle hiçbir adımda kullanılmadı; sonuç kütleden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Fren mesafesi ve hız
72 km/h ile giden bir araç, μ = 0,5 olan bir yolda fren yapıyor. Sürücünün tepki süresi 1 s'dir. (a) Toplam durma mesafesi nedir? (b) Hız iki katına çıkarsa fren mesafesi ne olur?
1. 72 km/h = 72/3,6 = 20 m/s
2. (a) Tepki mesafesi: 20 · 1 = 20 m
3. Fren mesafesi: v²/(2μg) = 400 / (2·0,5·10) = 40 m → toplam 60 m
4. (b) v = 40 m/s için fren mesafesi: 1600/10 = 160 m — hız 2 katına çıkınca fren mesafesi 4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Kayan cismin durması
Yatay zeminde 10 m/s hızla kayan 5 kg'lık cisim, μk = 0,25 olan yüzeyde yavaşlıyor. Kaç metre sonra ve kaç saniyede durur?
1. Tek yatay kuvvet sürtünmedir: f = μk·m·g = 0,25 · 5 · 10 = 12,5 N
2. a = −f/m = −2,5 m/s² (yavaşlatıcı)
3. Mesafe: v²/(2a) = 100 / 5 = 20 m
4. Süre: v/a = 10 / 2,5 = 4 s
5. Kütle sonuçta görünmez: a = μ·g olduğu için 50 kg'lık cisim de aynı yerde dururdu.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her zaman hareketi engeller.” Sürtünme bağıl kaymaya zıttır; yürümeyi, frenlemeyi ve virajı dönmeyi sağlayan da odur.
• “f = μ·N her durumda geçerlidir.” Statik durumda f, uygulanan kuvvete eşittir; μs·N yalnızca üst sınırdır.
• “Temas alanı büyükse sürtünme büyüktür.” Alan bağıntıda yoktur.
• “Kinetik sürtünme hızla artar.” Yaklaşık olarak sabittir; hızla artan kuvvet hava direncidir (bkz. Konu 05).
• “N her zaman m·g'dir.” Eğik düzlemde N = m·g·cosθ; eğik bir kuvvet uygulandığında ya da asansörde de değişir.
• “Ağır cisim eğik düzlemde daha geç kayar.” Kritik açı kütleden bağımsızdır.
• “Fren mesafesi hızla doğru orantılıdır.” Hızın karesiyle artar; doğru orantılı olan tepki mesafesidir.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Statik f ≤ μs·N · Kinetik f = μk·N · Alana bağlı değil · Kritik açı tanθ = μs
fs ≤ μs · N — statik: eşiğe kadar dengeler
fk = μk · N — kinetik: sabit
tanθ = μs — kaymanın başladığı açı
d = v² / (2·μ·g) — fren mesafesi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04</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Sürtünme kuvveti</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350" dirty="0">
                <a:solidFill>
                  <a:srgbClr val="C3CEE8"/>
                </a:solidFill>
                <a:latin typeface="Calibri" pitchFamily="34" charset="0"/>
                <a:ea typeface="Calibri" pitchFamily="34" charset="-122"/>
                <a:cs typeface="Calibri" pitchFamily="34" charset="-120"/>
              </a:rPr>
              <a:t>Dokunan her iki yüzey arasında, kaymaya karşı koyan bir kuvvet doğar. Cisim henüz hareket etmiyorken bu kuvvet sana ayak uydurur; bir eşiği aştığında ise sabitlenir ve cisim kaymaya başlar. Aşağıda bu eşiği kendin bul, eğik düzlemde μ'yü ölç, fren mesafesini hesapla.</a:t>
            </a:r>
            <a:endParaRPr lang="en-US" sz="13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fs ≤ μs · N   ·   fk = μk · N   ·   tanθ = μs</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Yürüyebilmemizin, frene basınca durabilmemizin, bir bardağı elimizde tutabilmemizin sorumlusu hep aynı kuvvet. Aynı kuvvet motorları aşındırır, yakıt yakar ve buzda arabayı savurur. Bu yüzden sürtünmeyi "iyi" ya da "kötü" diye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ne zaman ne kadar ortaya çıktığını hesaplayabildiğimiz bir kuvvet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olarak öğreniyoruz — ve şaşırtıcı biçimde temas alanının bununla hiç ilgisi yok.</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Sürtünme kuvveti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Birbirine değen iki yüzey arasında, bağıl kaymaya zıt yönde ortaya çıkan kuvvete sürtünme…</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Statik sürtünme: eşiğe kadar dengeler</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henüz hareket etmiyorken ortaya çıkan sürtünmeye statik sürtünme denir.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Kinetik sürtünme: sabit ve daha küçük</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kaymaya başladığı anda devreye kinetik (hareket) sürtünmesi girer.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Sürtünme neye bağlı, neye bağlı değil?</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Normal kuvvete (N). Cisme bastırırsan ya da kütlesi artarsa sürtünme artar.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Eğik düzlemde sürtünme</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Eğik düzlemde ağırlığı iki bileşene ayırırız: eğime paralel olan bileşen cismi aşağı…</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Sürtünmenin faydaları ve zararları</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İstemediğimiz yerde sürtünmeyi azaltmak için yağ, rulman, hava yastığı; istediğimiz yerde…</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Fren mesafesi ve trafik</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Frenleyen bir araç için sürtünme kuvveti f = μ·m·g, ivme ise a = μ·g'dir (kütle yine…</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640080" y="1481328"/>
            <a:ext cx="6309360" cy="13548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Birbirine değen iki yüzey arasında,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ortaya çıkan kuvvete sürtünme kuvveti denir.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Yüzeyler çıplak gözle pürüzsüz görünse bile mikroskobik ölçekte girinti çıkıntılıdır; temas noktalarındaki bu kenetlenme ve moleküler yapışma sürtünmeyi doğurur.</a:t>
            </a:r>
            <a:endParaRPr lang="en-US" sz="1400" dirty="0"/>
          </a:p>
        </p:txBody>
      </p:sp>
      <p:sp>
        <p:nvSpPr>
          <p:cNvPr id="6" name="Text 4"/>
          <p:cNvSpPr txBox="1"/>
          <p:nvPr/>
        </p:nvSpPr>
        <p:spPr>
          <a:xfrm>
            <a:off x="640080" y="2945892"/>
            <a:ext cx="6309360" cy="245364"/>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Sürtünme kuvvetinin iki temel özelliği vardır:</a:t>
            </a:r>
            <a:endParaRPr lang="en-US" sz="1400" dirty="0"/>
          </a:p>
        </p:txBody>
      </p:sp>
      <p:sp>
        <p:nvSpPr>
          <p:cNvPr id="7" name="Text 5"/>
          <p:cNvSpPr txBox="1"/>
          <p:nvPr/>
        </p:nvSpPr>
        <p:spPr>
          <a:xfrm>
            <a:off x="640080" y="3319272"/>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Yüzeye paraleldir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(normal kuvvet ise yüzeye diktir).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Yönü, cismin kaymakta olduğu ya da kaymaya çalıştığı yönün tersidir.</a:t>
            </a:r>
            <a:endParaRPr lang="en-US" sz="1400" dirty="0"/>
          </a:p>
        </p:txBody>
      </p:sp>
      <p:sp>
        <p:nvSpPr>
          <p:cNvPr id="8" name="Shape 6"/>
          <p:cNvSpPr/>
          <p:nvPr/>
        </p:nvSpPr>
        <p:spPr>
          <a:xfrm>
            <a:off x="640080" y="4293108"/>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4439412"/>
            <a:ext cx="45720" cy="793242"/>
          </a:xfrm>
          <a:prstGeom prst="rect">
            <a:avLst/>
          </a:prstGeom>
          <a:solidFill>
            <a:srgbClr val="3C8C21"/>
          </a:solidFill>
          <a:ln/>
        </p:spPr>
      </p:sp>
      <p:sp>
        <p:nvSpPr>
          <p:cNvPr id="10" name="Text 8"/>
          <p:cNvSpPr txBox="1"/>
          <p:nvPr/>
        </p:nvSpPr>
        <p:spPr>
          <a:xfrm>
            <a:off x="914400" y="4402836"/>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Dikkat:</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Sürtünme "harekete" değil,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bağıl kaymaya</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zıttır. Yürürken ayağın yeri geriye itmeye çalışır; sürtünme de seni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ileriye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iter. Yani sürtünme burada hareketi engellemez, hareketi mümkün kılar.</a:t>
            </a:r>
            <a:endParaRPr lang="en-US" sz="1300" dirty="0"/>
          </a:p>
        </p:txBody>
      </p:sp>
      <p:sp>
        <p:nvSpPr>
          <p:cNvPr id="11" name="Shape 9"/>
          <p:cNvSpPr/>
          <p:nvPr/>
        </p:nvSpPr>
        <p:spPr>
          <a:xfrm>
            <a:off x="7242048" y="1481328"/>
            <a:ext cx="4309567" cy="3513956"/>
          </a:xfrm>
          <a:prstGeom prst="roundRect">
            <a:avLst>
              <a:gd name="adj" fmla="val 41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surtunme-kuvveti-01.png">    </p:cNvPr>
          <p:cNvPicPr>
            <a:picLocks noChangeAspect="1"/>
          </p:cNvPicPr>
          <p:nvPr/>
        </p:nvPicPr>
        <p:blipFill>
          <a:blip r:embed="rId1"/>
          <a:stretch>
            <a:fillRect/>
          </a:stretch>
        </p:blipFill>
        <p:spPr>
          <a:xfrm>
            <a:off x="7424928" y="1664208"/>
            <a:ext cx="3943807" cy="1692472"/>
          </a:xfrm>
          <a:prstGeom prst="rect">
            <a:avLst/>
          </a:prstGeom>
        </p:spPr>
      </p:pic>
      <p:sp>
        <p:nvSpPr>
          <p:cNvPr id="13" name="Shape 10"/>
          <p:cNvSpPr/>
          <p:nvPr/>
        </p:nvSpPr>
        <p:spPr>
          <a:xfrm>
            <a:off x="7424928" y="3448120"/>
            <a:ext cx="3943807" cy="0"/>
          </a:xfrm>
          <a:prstGeom prst="line">
            <a:avLst/>
          </a:prstGeom>
          <a:noFill/>
          <a:ln w="9525">
            <a:solidFill>
              <a:srgbClr val="E1E5EE"/>
            </a:solidFill>
            <a:prstDash val="dash"/>
          </a:ln>
        </p:spPr>
      </p:sp>
      <p:sp>
        <p:nvSpPr>
          <p:cNvPr id="14" name="Text 11"/>
          <p:cNvSpPr txBox="1"/>
          <p:nvPr/>
        </p:nvSpPr>
        <p:spPr>
          <a:xfrm>
            <a:off x="7424928" y="3502984"/>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Sürtünme kuvveti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yüzeye paraleldir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cilalamak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 da araya yağ koymak işe yarar.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Statik sürtünme: eşiğe kadar dengeler</a:t>
            </a:r>
            <a:endParaRPr lang="en-US" sz="3200" dirty="0"/>
          </a:p>
        </p:txBody>
      </p:sp>
      <p:sp>
        <p:nvSpPr>
          <p:cNvPr id="5" name="Text 3"/>
          <p:cNvSpPr txBox="1"/>
          <p:nvPr/>
        </p:nvSpPr>
        <p:spPr>
          <a:xfrm>
            <a:off x="640080" y="1481328"/>
            <a:ext cx="6309360" cy="13548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Cisim henüz hareket etmiyorken ortaya çıkan sürtünmeye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kuvvetin en ilginç yanı,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sabit bir değeri olmamasıdır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uygulanan kuvvet ne kadarsa, statik sürtünme de o kadar büyür ve onu tam olarak dengeler.</a:t>
            </a:r>
            <a:endParaRPr lang="en-US" sz="1400" dirty="0"/>
          </a:p>
        </p:txBody>
      </p:sp>
      <p:sp>
        <p:nvSpPr>
          <p:cNvPr id="6" name="Shape 4"/>
          <p:cNvSpPr/>
          <p:nvPr/>
        </p:nvSpPr>
        <p:spPr>
          <a:xfrm>
            <a:off x="640080" y="2945892"/>
            <a:ext cx="420989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945892"/>
            <a:ext cx="420989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fs = Fuygulanan (cisim durduğu sürece)</a:t>
            </a:r>
            <a:endParaRPr lang="en-US" sz="1300" dirty="0"/>
          </a:p>
        </p:txBody>
      </p:sp>
      <p:sp>
        <p:nvSpPr>
          <p:cNvPr id="8" name="Shape 6"/>
          <p:cNvSpPr/>
          <p:nvPr/>
        </p:nvSpPr>
        <p:spPr>
          <a:xfrm>
            <a:off x="4959706" y="2945892"/>
            <a:ext cx="1543507"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4959706" y="2945892"/>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fs ≤ μs · N</a:t>
            </a:r>
            <a:endParaRPr lang="en-US" sz="1300" dirty="0"/>
          </a:p>
        </p:txBody>
      </p:sp>
      <p:sp>
        <p:nvSpPr>
          <p:cNvPr id="10" name="Text 8"/>
          <p:cNvSpPr txBox="1"/>
          <p:nvPr/>
        </p:nvSpPr>
        <p:spPr>
          <a:xfrm>
            <a:off x="640080" y="3567684"/>
            <a:ext cx="6309360" cy="17282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Ancak bu uyum sonsuza kadar sürmez.</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Statik sürtünmenin bir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üst sınırı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vardır: μ</a:t>
            </a:r>
            <a:pPr indent="0" marL="0">
              <a:lnSpc>
                <a:spcPct val="115000"/>
              </a:lnSpc>
              <a:buNone/>
            </a:pPr>
            <a:r>
              <a:rPr lang="en-US" sz="14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·N.</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Uygulanan kuvvet bu eşiği geçtiği anda denge bozulur ve cisim kaymaya başlar.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Sayfadaki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numaralı laboratuvarda kuvveti yavaşça artırdığında bu kopuş anını göreceksin.</a:t>
            </a:r>
            <a:endParaRPr lang="en-US" sz="1400" dirty="0"/>
          </a:p>
        </p:txBody>
      </p:sp>
      <p:sp>
        <p:nvSpPr>
          <p:cNvPr id="11" name="Shape 9"/>
          <p:cNvSpPr/>
          <p:nvPr/>
        </p:nvSpPr>
        <p:spPr>
          <a:xfrm>
            <a:off x="7242048" y="1481328"/>
            <a:ext cx="4309567" cy="3170488"/>
          </a:xfrm>
          <a:prstGeom prst="roundRect">
            <a:avLst>
              <a:gd name="adj" fmla="val 46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surtunme-kuvveti-02.png">    </p:cNvPr>
          <p:cNvPicPr>
            <a:picLocks noChangeAspect="1"/>
          </p:cNvPicPr>
          <p:nvPr/>
        </p:nvPicPr>
        <p:blipFill>
          <a:blip r:embed="rId1"/>
          <a:stretch>
            <a:fillRect/>
          </a:stretch>
        </p:blipFill>
        <p:spPr>
          <a:xfrm>
            <a:off x="7424928" y="1664208"/>
            <a:ext cx="3943807" cy="1528225"/>
          </a:xfrm>
          <a:prstGeom prst="rect">
            <a:avLst/>
          </a:prstGeom>
        </p:spPr>
      </p:pic>
      <p:sp>
        <p:nvSpPr>
          <p:cNvPr id="13" name="Shape 10"/>
          <p:cNvSpPr/>
          <p:nvPr/>
        </p:nvSpPr>
        <p:spPr>
          <a:xfrm>
            <a:off x="7424928" y="3283873"/>
            <a:ext cx="3943807" cy="0"/>
          </a:xfrm>
          <a:prstGeom prst="line">
            <a:avLst/>
          </a:prstGeom>
          <a:noFill/>
          <a:ln w="9525">
            <a:solidFill>
              <a:srgbClr val="E1E5EE"/>
            </a:solidFill>
            <a:prstDash val="dash"/>
          </a:ln>
        </p:spPr>
      </p:sp>
      <p:sp>
        <p:nvSpPr>
          <p:cNvPr id="14" name="Text 11"/>
          <p:cNvSpPr txBox="1"/>
          <p:nvPr/>
        </p:nvSpPr>
        <p:spPr>
          <a:xfrm>
            <a:off x="7424928" y="3338737"/>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Statik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 bir sayı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uygulanan kuvvet ne kadarsa o kadar ortaya çıkar ve cismi tam olarak dengede tutar. Ancak bir üst sınırı vardır (μs·N). Üçüncü karede kuvvet bu sınırı aşmıştır; cisim kurtulur ve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kinetik değerine düşer. Kırmızı ok bu yüzden üçüncü karede kısalır.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Kinetik sürtünme: sabit ve daha küçük</a:t>
            </a:r>
            <a:endParaRPr lang="en-US" sz="3200" dirty="0"/>
          </a:p>
        </p:txBody>
      </p:sp>
      <p:sp>
        <p:nvSpPr>
          <p:cNvPr id="5" name="Text 3"/>
          <p:cNvSpPr txBox="1"/>
          <p:nvPr/>
        </p:nvSpPr>
        <p:spPr>
          <a:xfrm>
            <a:off x="640080" y="14813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Cisim kaymaya başladığı anda devreye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kinetik (hareket) sürtünmesi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girer.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kuvvet, uygulanan kuvvetten bağımsızdır ve sabittir:</a:t>
            </a:r>
            <a:endParaRPr lang="en-US" sz="1400" dirty="0"/>
          </a:p>
        </p:txBody>
      </p:sp>
      <p:sp>
        <p:nvSpPr>
          <p:cNvPr id="6" name="Shape 4"/>
          <p:cNvSpPr/>
          <p:nvPr/>
        </p:nvSpPr>
        <p:spPr>
          <a:xfrm>
            <a:off x="640080" y="2455164"/>
            <a:ext cx="154350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516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fk = μk · N</a:t>
            </a:r>
            <a:endParaRPr lang="en-US" sz="1300" dirty="0"/>
          </a:p>
        </p:txBody>
      </p:sp>
      <p:sp>
        <p:nvSpPr>
          <p:cNvPr id="8" name="Shape 6"/>
          <p:cNvSpPr/>
          <p:nvPr/>
        </p:nvSpPr>
        <p:spPr>
          <a:xfrm>
            <a:off x="2293315" y="2455164"/>
            <a:ext cx="1148486"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293315" y="2455164"/>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μk &lt; μs</a:t>
            </a:r>
            <a:endParaRPr lang="en-US" sz="1300" dirty="0"/>
          </a:p>
        </p:txBody>
      </p:sp>
      <p:sp>
        <p:nvSpPr>
          <p:cNvPr id="10" name="Text 8"/>
          <p:cNvSpPr txBox="1"/>
          <p:nvPr/>
        </p:nvSpPr>
        <p:spPr>
          <a:xfrm>
            <a:off x="640080" y="3076956"/>
            <a:ext cx="6309360" cy="11734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Kinetik katsayı genellikle statik katsayıdan küçüktür.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yüzden ağır bir dolabı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yerinden oynatmak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oynadıktan sonra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itmeye devam etmekten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zordur.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Grafikte bu, eşikte görülen ani düşüştür.</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4360164"/>
          <a:ext cx="6309360" cy="914400"/>
        </p:xfrm>
        <a:graphic>
          <a:graphicData uri="http://schemas.openxmlformats.org/drawingml/2006/table">
            <a:tbl>
              <a:tblPr/>
              <a:tblGrid>
                <a:gridCol w="1261872"/>
                <a:gridCol w="3084576"/>
                <a:gridCol w="1962912"/>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Statik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Kinetik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Ne zaman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 dururken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 kayarken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Büyüklük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Uygulanan kuvvete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μk·N,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Üst sınır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μs·N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9"/>
          <p:cNvSpPr/>
          <p:nvPr/>
        </p:nvSpPr>
        <p:spPr>
          <a:xfrm>
            <a:off x="7242048" y="1481328"/>
            <a:ext cx="4309567" cy="3285436"/>
          </a:xfrm>
          <a:prstGeom prst="roundRect">
            <a:avLst>
              <a:gd name="adj" fmla="val 44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surtunme-kuvveti-03.png">    </p:cNvPr>
          <p:cNvPicPr>
            <a:picLocks noChangeAspect="1"/>
          </p:cNvPicPr>
          <p:nvPr/>
        </p:nvPicPr>
        <p:blipFill>
          <a:blip r:embed="rId1"/>
          <a:stretch>
            <a:fillRect/>
          </a:stretch>
        </p:blipFill>
        <p:spPr>
          <a:xfrm>
            <a:off x="7424928" y="1664208"/>
            <a:ext cx="3943807" cy="1643174"/>
          </a:xfrm>
          <a:prstGeom prst="rect">
            <a:avLst/>
          </a:prstGeom>
        </p:spPr>
      </p:pic>
      <p:sp>
        <p:nvSpPr>
          <p:cNvPr id="14" name="Shape 10"/>
          <p:cNvSpPr/>
          <p:nvPr/>
        </p:nvSpPr>
        <p:spPr>
          <a:xfrm>
            <a:off x="7424928" y="3398822"/>
            <a:ext cx="3943807" cy="0"/>
          </a:xfrm>
          <a:prstGeom prst="line">
            <a:avLst/>
          </a:prstGeom>
          <a:noFill/>
          <a:ln w="9525">
            <a:solidFill>
              <a:srgbClr val="E1E5EE"/>
            </a:solidFill>
            <a:prstDash val="dash"/>
          </a:ln>
        </p:spPr>
      </p:sp>
      <p:sp>
        <p:nvSpPr>
          <p:cNvPr id="15" name="Text 11"/>
          <p:cNvSpPr txBox="1"/>
          <p:nvPr/>
        </p:nvSpPr>
        <p:spPr>
          <a:xfrm>
            <a:off x="7424928" y="345368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Soldaki grafik hikâyenin tamamı: mavi kısımda cisim durgundur ve sürtünme uygulanan kuvvetle birlikte büyür; eşikte kopar ve sarı kısımda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değere yerleşir. Sağdaki çubuklar her yüzey çiftinde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μk'nin μs'den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olduğunu gösteriyor — bir dolabı yerinden oynatmak, sonra itmekten hep daha zordur.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640080" y="1481328"/>
            <a:ext cx="6675120" cy="227838"/>
          </a:xfrm>
          <a:prstGeom prst="rect">
            <a:avLst/>
          </a:prstGeom>
          <a:noFill/>
          <a:ln/>
        </p:spPr>
        <p:txBody>
          <a:bodyPr wrap="square" lIns="0" tIns="0" rIns="0" bIns="0" rtlCol="0" anchor="t"/>
          <a:lstStyle/>
          <a:p>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Bağlıdır:</a:t>
            </a:r>
            <a:endParaRPr lang="en-US" sz="1300" dirty="0"/>
          </a:p>
        </p:txBody>
      </p:sp>
      <p:sp>
        <p:nvSpPr>
          <p:cNvPr id="6" name="Text 4"/>
          <p:cNvSpPr txBox="1"/>
          <p:nvPr/>
        </p:nvSpPr>
        <p:spPr>
          <a:xfrm>
            <a:off x="640080" y="1837182"/>
            <a:ext cx="6675120" cy="1039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Normal kuvvete (N).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Cisme bastırırsan ya da kütlesi artarsa sürtünme artar.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Yüzey çiftine.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Katsayı tek bir cismin değil, </a:t>
            </a:r>
            <a:pPr indent="0" marL="0">
              <a:lnSpc>
                <a:spcPct val="115000"/>
              </a:lnSpc>
              <a:buNone/>
            </a:pPr>
            <a:r>
              <a:rPr lang="en-US" sz="1300" i="1" dirty="0">
                <a:solidFill>
                  <a:srgbClr val="4A5470"/>
                </a:solidFill>
                <a:latin typeface="Calibri" pitchFamily="34" charset="0"/>
                <a:ea typeface="Calibri" pitchFamily="34" charset="-122"/>
                <a:cs typeface="Calibri" pitchFamily="34" charset="-120"/>
              </a:rPr>
              <a:t>iki yüzeyin birlikte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özelliğidir.</a:t>
            </a:r>
            <a:endParaRPr lang="en-US" sz="1300" dirty="0"/>
          </a:p>
        </p:txBody>
      </p:sp>
      <p:sp>
        <p:nvSpPr>
          <p:cNvPr id="7" name="Text 5"/>
          <p:cNvSpPr txBox="1"/>
          <p:nvPr/>
        </p:nvSpPr>
        <p:spPr>
          <a:xfrm>
            <a:off x="640080" y="2986278"/>
            <a:ext cx="6675120" cy="227838"/>
          </a:xfrm>
          <a:prstGeom prst="rect">
            <a:avLst/>
          </a:prstGeom>
          <a:noFill/>
          <a:ln/>
        </p:spPr>
        <p:txBody>
          <a:bodyPr wrap="square" lIns="0" tIns="0" rIns="0" bIns="0" rtlCol="0" anchor="t"/>
          <a:lstStyle/>
          <a:p>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Bağlı değildir:</a:t>
            </a:r>
            <a:endParaRPr lang="en-US" sz="1300" dirty="0"/>
          </a:p>
        </p:txBody>
      </p:sp>
      <p:sp>
        <p:nvSpPr>
          <p:cNvPr id="8" name="Text 6"/>
          <p:cNvSpPr txBox="1"/>
          <p:nvPr/>
        </p:nvSpPr>
        <p:spPr>
          <a:xfrm>
            <a:off x="640080" y="3342132"/>
            <a:ext cx="6675120" cy="10393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Temas alanına.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kütleli bir tuğlayı yan yatırmak sürtünmeyi değiştirmez.</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Kayma hızına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(yaklaşık olarak). Hızla belirgin biçimde artan kuvvet, sürtünme değil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hava direncidir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9" name="Shape 7"/>
          <p:cNvSpPr/>
          <p:nvPr/>
        </p:nvSpPr>
        <p:spPr>
          <a:xfrm>
            <a:off x="7607808" y="1481328"/>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surtunme-kuvveti-04.png">    </p:cNvPr>
          <p:cNvPicPr>
            <a:picLocks noChangeAspect="1"/>
          </p:cNvPicPr>
          <p:nvPr/>
        </p:nvPicPr>
        <p:blipFill>
          <a:blip r:embed="rId1"/>
          <a:stretch>
            <a:fillRect/>
          </a:stretch>
        </p:blipFill>
        <p:spPr>
          <a:xfrm>
            <a:off x="7790688" y="1664208"/>
            <a:ext cx="3578047" cy="1490781"/>
          </a:xfrm>
          <a:prstGeom prst="rect">
            <a:avLst/>
          </a:prstGeom>
        </p:spPr>
      </p:pic>
      <p:sp>
        <p:nvSpPr>
          <p:cNvPr id="11" name="Shape 8"/>
          <p:cNvSpPr/>
          <p:nvPr/>
        </p:nvSpPr>
        <p:spPr>
          <a:xfrm>
            <a:off x="7790688" y="3246429"/>
            <a:ext cx="3578047" cy="0"/>
          </a:xfrm>
          <a:prstGeom prst="line">
            <a:avLst/>
          </a:prstGeom>
          <a:noFill/>
          <a:ln w="9525">
            <a:solidFill>
              <a:srgbClr val="E1E5EE"/>
            </a:solidFill>
            <a:prstDash val="dash"/>
          </a:ln>
        </p:spPr>
      </p:sp>
      <p:sp>
        <p:nvSpPr>
          <p:cNvPr id="12" name="Text 9"/>
          <p:cNvSpPr txBox="1"/>
          <p:nvPr/>
        </p:nvSpPr>
        <p:spPr>
          <a:xfrm>
            <a:off x="7790688" y="330129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tuğlayı yan yatırmak temas alanını üçe katlar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sürtünmeyi değiştirmez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 = μ·N bağıntısında alan hiç geçmez. Alan büyüdükçe birim alana düşen basınç küçülür, ikisi birbirini götürür. Sürtünmeyi gerçekten değiştiren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 kuvvettir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ikinci tuğlayı üstüne koyunca N iki katına çıkar, sürtünme de.</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 · devam</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869680" cy="914400"/>
        </p:xfrm>
        <a:graphic>
          <a:graphicData uri="http://schemas.openxmlformats.org/drawingml/2006/table">
            <a:tbl>
              <a:tblPr/>
              <a:tblGrid>
                <a:gridCol w="6335486"/>
                <a:gridCol w="1267097"/>
                <a:gridCol w="126709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 çifti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μs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 – 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Çelik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Lastik – 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Shape 3"/>
          <p:cNvSpPr/>
          <p:nvPr/>
        </p:nvSpPr>
        <p:spPr>
          <a:xfrm>
            <a:off x="640080" y="3300984"/>
            <a:ext cx="886968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4"/>
          <p:cNvSpPr/>
          <p:nvPr/>
        </p:nvSpPr>
        <p:spPr>
          <a:xfrm>
            <a:off x="658368" y="3447288"/>
            <a:ext cx="45720" cy="530352"/>
          </a:xfrm>
          <a:prstGeom prst="rect">
            <a:avLst/>
          </a:prstGeom>
          <a:solidFill>
            <a:srgbClr val="3C8C21"/>
          </a:solidFill>
          <a:ln/>
        </p:spPr>
      </p:sp>
      <p:sp>
        <p:nvSpPr>
          <p:cNvPr id="8" name="Text 5"/>
          <p:cNvSpPr txBox="1"/>
          <p:nvPr/>
        </p:nvSpPr>
        <p:spPr>
          <a:xfrm>
            <a:off x="914400" y="3410712"/>
            <a:ext cx="841248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μ birimsizdir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ve genellikle 0 ile 1 arasındadır; ama yapışkan yüzeylerde 1'in üstüne de çıkabilir. Sürtünme katsayısı bir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oran</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dır: f ile N'nin oranı.</a:t>
            </a:r>
            <a:endParaRPr lang="en-US" sz="1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640080" y="1481328"/>
            <a:ext cx="6675120" cy="455676"/>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Eğik düzlemde ağırlığı iki bileşene ayırırız: eğime paralel olan bileşen cismi aşağı çekmeye çalışır, dik olan bileşen ise normal kuvveti belirler.</a:t>
            </a:r>
            <a:endParaRPr lang="en-US" sz="1300" dirty="0"/>
          </a:p>
        </p:txBody>
      </p:sp>
      <p:sp>
        <p:nvSpPr>
          <p:cNvPr id="6" name="Shape 4"/>
          <p:cNvSpPr/>
          <p:nvPr/>
        </p:nvSpPr>
        <p:spPr>
          <a:xfrm>
            <a:off x="640080" y="2065020"/>
            <a:ext cx="2333549"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065020"/>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Fparalel = m·g·sinθ</a:t>
            </a:r>
            <a:endParaRPr lang="en-US" sz="1300" dirty="0"/>
          </a:p>
        </p:txBody>
      </p:sp>
      <p:sp>
        <p:nvSpPr>
          <p:cNvPr id="8" name="Shape 6"/>
          <p:cNvSpPr/>
          <p:nvPr/>
        </p:nvSpPr>
        <p:spPr>
          <a:xfrm>
            <a:off x="3083357" y="2065020"/>
            <a:ext cx="1642262"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083357" y="2065020"/>
            <a:ext cx="164226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m·g·cosθ</a:t>
            </a:r>
            <a:endParaRPr lang="en-US" sz="1300" dirty="0"/>
          </a:p>
        </p:txBody>
      </p:sp>
      <p:sp>
        <p:nvSpPr>
          <p:cNvPr id="10" name="Shape 8"/>
          <p:cNvSpPr/>
          <p:nvPr/>
        </p:nvSpPr>
        <p:spPr>
          <a:xfrm>
            <a:off x="4835347" y="2065020"/>
            <a:ext cx="233354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835347" y="2065020"/>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fmaks = μs·m·g·cosθ</a:t>
            </a:r>
            <a:endParaRPr lang="en-US" sz="1300" dirty="0"/>
          </a:p>
        </p:txBody>
      </p:sp>
      <p:sp>
        <p:nvSpPr>
          <p:cNvPr id="12" name="Text 10"/>
          <p:cNvSpPr txBox="1"/>
          <p:nvPr/>
        </p:nvSpPr>
        <p:spPr>
          <a:xfrm>
            <a:off x="640080" y="2686812"/>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paralel bileşen statik eşiği geçtiği anda kaymaya başlar: m·g·sinθ &gt;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·m·g·cosθ.</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Kütleler sadeleşince geriye çok zarif bir sonuç kalır:</a:t>
            </a:r>
            <a:endParaRPr lang="en-US" sz="1300" dirty="0"/>
          </a:p>
        </p:txBody>
      </p:sp>
      <p:sp>
        <p:nvSpPr>
          <p:cNvPr id="13" name="Shape 11"/>
          <p:cNvSpPr/>
          <p:nvPr/>
        </p:nvSpPr>
        <p:spPr>
          <a:xfrm>
            <a:off x="640080" y="3608070"/>
            <a:ext cx="193852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3608070"/>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tanθkritik = μs</a:t>
            </a:r>
            <a:endParaRPr lang="en-US" sz="1300" dirty="0"/>
          </a:p>
        </p:txBody>
      </p:sp>
      <p:sp>
        <p:nvSpPr>
          <p:cNvPr id="15" name="Shape 13"/>
          <p:cNvSpPr/>
          <p:nvPr/>
        </p:nvSpPr>
        <p:spPr>
          <a:xfrm>
            <a:off x="7607808" y="1481328"/>
            <a:ext cx="3943807" cy="3685335"/>
          </a:xfrm>
          <a:prstGeom prst="roundRect">
            <a:avLst>
              <a:gd name="adj" fmla="val 39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a4dee546-de71-4ec2-8add-be39dd273d29/scratchpad/sekiller/surtunme-kuvveti-05.png">    </p:cNvPr>
          <p:cNvPicPr>
            <a:picLocks noChangeAspect="1"/>
          </p:cNvPicPr>
          <p:nvPr/>
        </p:nvPicPr>
        <p:blipFill>
          <a:blip r:embed="rId1"/>
          <a:stretch>
            <a:fillRect/>
          </a:stretch>
        </p:blipFill>
        <p:spPr>
          <a:xfrm>
            <a:off x="7790688" y="1664208"/>
            <a:ext cx="3578047" cy="1684628"/>
          </a:xfrm>
          <a:prstGeom prst="rect">
            <a:avLst/>
          </a:prstGeom>
        </p:spPr>
      </p:pic>
      <p:sp>
        <p:nvSpPr>
          <p:cNvPr id="17" name="Shape 14"/>
          <p:cNvSpPr/>
          <p:nvPr/>
        </p:nvSpPr>
        <p:spPr>
          <a:xfrm>
            <a:off x="7790688" y="3440276"/>
            <a:ext cx="3578047" cy="0"/>
          </a:xfrm>
          <a:prstGeom prst="line">
            <a:avLst/>
          </a:prstGeom>
          <a:noFill/>
          <a:ln w="9525">
            <a:solidFill>
              <a:srgbClr val="E1E5EE"/>
            </a:solidFill>
            <a:prstDash val="dash"/>
          </a:ln>
        </p:spPr>
      </p:sp>
      <p:sp>
        <p:nvSpPr>
          <p:cNvPr id="18" name="Text 15"/>
          <p:cNvSpPr txBox="1"/>
          <p:nvPr/>
        </p:nvSpPr>
        <p:spPr>
          <a:xfrm>
            <a:off x="7790688" y="3495140"/>
            <a:ext cx="357804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Eğik düzlemde ağırlığı iki bileşene ayırırız: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eğime paralel</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G·sinθ cismi aşağı çeker,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eğime 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G·cosθ ise normal kuvvetle dengelenir. Eğim büyüdükçe birinci büyür, ikinci küçülür — yani kaydırıcı kuvvet artarken sürtünmenin dayanağı azalır. İkisi eşitlendiği anda cisim kayar ve o açıda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tanθ = μs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eğik düzlem, katsayıyı doğrudan ölçen bir alettir.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 · devam</a:t>
            </a:r>
            <a:endParaRPr lang="en-US" sz="3200" dirty="0"/>
          </a:p>
        </p:txBody>
      </p:sp>
      <p:sp>
        <p:nvSpPr>
          <p:cNvPr id="5" name="Text 3"/>
          <p:cNvSpPr txBox="1"/>
          <p:nvPr/>
        </p:nvSpPr>
        <p:spPr>
          <a:xfrm>
            <a:off x="640080" y="1481328"/>
            <a:ext cx="886968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Yani cismin kaymaya başladığı açının tanjantı, doğrudan statik sürtünme katsayısını verir.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Laboratuvarda μ ölçmenin en kolay yolu budur — sayfadaki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numaralı bölüm tam olarak bunu yapıyor.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Kayma başladıktan sonra ivme:</a:t>
            </a:r>
            <a:endParaRPr lang="en-US" sz="1300" dirty="0"/>
          </a:p>
        </p:txBody>
      </p:sp>
      <p:sp>
        <p:nvSpPr>
          <p:cNvPr id="6" name="Shape 4"/>
          <p:cNvSpPr/>
          <p:nvPr/>
        </p:nvSpPr>
        <p:spPr>
          <a:xfrm>
            <a:off x="640080" y="2466594"/>
            <a:ext cx="262981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66594"/>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g·(sinθ − μk·cosθ)</a:t>
            </a:r>
            <a:endParaRPr lang="en-US" sz="1300" dirty="0"/>
          </a:p>
        </p:txBody>
      </p:sp>
      <p:sp>
        <p:nvSpPr>
          <p:cNvPr id="8" name="Text 6"/>
          <p:cNvSpPr txBox="1"/>
          <p:nvPr/>
        </p:nvSpPr>
        <p:spPr>
          <a:xfrm>
            <a:off x="640080" y="3088386"/>
            <a:ext cx="8869680" cy="455676"/>
          </a:xfrm>
          <a:prstGeom prst="rect">
            <a:avLst/>
          </a:prstGeom>
          <a:noFill/>
          <a:ln/>
        </p:spPr>
        <p:txBody>
          <a:bodyPr wrap="square" lIns="0" tIns="0" rIns="0" bIns="0" rtlCol="0" anchor="t"/>
          <a:lstStyle/>
          <a:p>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Kütle bu bağıntıların hiçbirinde yoktur: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ağır da olsa hafif de olsa aynı açıda kayar, aynı ivmeyle iner.</a:t>
            </a:r>
            <a:endParaRPr lang="en-US" sz="13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Sürtünmenin faydaları ve zararları</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412480" cy="914400"/>
        </p:xfrm>
        <a:graphic>
          <a:graphicData uri="http://schemas.openxmlformats.org/drawingml/2006/table">
            <a:tbl>
              <a:tblPr/>
              <a:tblGrid>
                <a:gridCol w="3999376"/>
                <a:gridCol w="44131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Faydalı olduğu yerler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Zararlı olduğu yerler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Yürümek, koşmak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Makine parçalarının aşınması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Fren yapmak, virajı dönmek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Isınma ve enerji kaybı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Vida, çivi ve düğümün tutması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Verimin düşmesi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Elimizle bir şey tutabilmek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Uçak ve araçlarda yakıt tüketimi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300984"/>
            <a:ext cx="8412480" cy="560832"/>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İstemediğimiz yerde sürtünmeyi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azaltmak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için yağ, rulman, hava yastığı; istediğimiz yerde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artırmak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için tırtıklı yüzey, kışlık lastik, reçine kullanılır.</a:t>
            </a:r>
            <a:endParaRPr lang="en-US" sz="1600" dirty="0"/>
          </a:p>
        </p:txBody>
      </p:sp>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640080" y="1481328"/>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Frenleyen bir araç için sürtünme kuvveti f = μ·m·g, ivme ise a = μ·g'dir (kütle yine sadeleşir).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Buradan durma mesafesi:</a:t>
            </a:r>
            <a:endParaRPr lang="en-US" sz="1250" dirty="0"/>
          </a:p>
        </p:txBody>
      </p:sp>
      <p:sp>
        <p:nvSpPr>
          <p:cNvPr id="6" name="Shape 4"/>
          <p:cNvSpPr/>
          <p:nvPr/>
        </p:nvSpPr>
        <p:spPr>
          <a:xfrm>
            <a:off x="640080" y="2376297"/>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376297"/>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dfren = v² / (2·μ·g)</a:t>
            </a:r>
            <a:endParaRPr lang="en-US" sz="1300" dirty="0"/>
          </a:p>
        </p:txBody>
      </p:sp>
      <p:sp>
        <p:nvSpPr>
          <p:cNvPr id="8" name="Shape 6"/>
          <p:cNvSpPr/>
          <p:nvPr/>
        </p:nvSpPr>
        <p:spPr>
          <a:xfrm>
            <a:off x="3182112" y="2376297"/>
            <a:ext cx="233354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182112" y="2376297"/>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dtepki = v · ttepki</a:t>
            </a:r>
            <a:endParaRPr lang="en-US" sz="1300" dirty="0"/>
          </a:p>
        </p:txBody>
      </p:sp>
      <p:sp>
        <p:nvSpPr>
          <p:cNvPr id="10" name="Shape 8"/>
          <p:cNvSpPr/>
          <p:nvPr/>
        </p:nvSpPr>
        <p:spPr>
          <a:xfrm>
            <a:off x="640080" y="2943225"/>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2943225"/>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dtoplam = dtepki + dfren</a:t>
            </a:r>
            <a:endParaRPr lang="en-US" sz="1300" dirty="0"/>
          </a:p>
        </p:txBody>
      </p:sp>
      <p:sp>
        <p:nvSpPr>
          <p:cNvPr id="12" name="Text 10"/>
          <p:cNvSpPr txBox="1"/>
          <p:nvPr/>
        </p:nvSpPr>
        <p:spPr>
          <a:xfrm>
            <a:off x="640080" y="3565017"/>
            <a:ext cx="6949440" cy="128739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Fren mesafesi hızın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artar: hızı iki katına çıkarmak fren mesafesini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çıkarır.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Islak asfaltta μ yarıya inerse mesafe iki katına çıkar.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Tepki mesafesi ise hızla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ve frenden önce alınır — sayfadaki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04</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numaralı bölümde ikisini ayrı ayrı görebilirsin.</a:t>
            </a:r>
            <a:endParaRPr lang="en-US" sz="1250" dirty="0"/>
          </a:p>
        </p:txBody>
      </p:sp>
      <p:sp>
        <p:nvSpPr>
          <p:cNvPr id="13" name="Shape 11"/>
          <p:cNvSpPr/>
          <p:nvPr/>
        </p:nvSpPr>
        <p:spPr>
          <a:xfrm>
            <a:off x="640080" y="4962144"/>
            <a:ext cx="6949440" cy="1006983"/>
          </a:xfrm>
          <a:prstGeom prst="roundRect">
            <a:avLst>
              <a:gd name="adj" fmla="val 108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5108448"/>
            <a:ext cx="45720" cy="714375"/>
          </a:xfrm>
          <a:prstGeom prst="rect">
            <a:avLst/>
          </a:prstGeom>
          <a:solidFill>
            <a:srgbClr val="A56209"/>
          </a:solidFill>
          <a:ln/>
        </p:spPr>
      </p:sp>
      <p:sp>
        <p:nvSpPr>
          <p:cNvPr id="15" name="Text 13"/>
          <p:cNvSpPr txBox="1"/>
          <p:nvPr/>
        </p:nvSpPr>
        <p:spPr>
          <a:xfrm>
            <a:off x="914400" y="5071872"/>
            <a:ext cx="6492240" cy="787527"/>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ABS neden var?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Tekerlek kilitlenip kayarsa devreye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kinetik</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sürtünme girer ve μ küçülür. ABS, tekerleği kilitlenme sınırında tutarak daha büyük olan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statik</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sürtünmeden yararlanır; ayrıca direksiyon hâkimiyetini korur.</a:t>
            </a:r>
            <a:endParaRPr lang="en-US" sz="1150" dirty="0"/>
          </a:p>
        </p:txBody>
      </p:sp>
      <p:sp>
        <p:nvSpPr>
          <p:cNvPr id="16" name="Shape 14"/>
          <p:cNvSpPr/>
          <p:nvPr/>
        </p:nvSpPr>
        <p:spPr>
          <a:xfrm>
            <a:off x="7882128" y="1481328"/>
            <a:ext cx="3669487" cy="3253067"/>
          </a:xfrm>
          <a:prstGeom prst="roundRect">
            <a:avLst>
              <a:gd name="adj" fmla="val 44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a4dee546-de71-4ec2-8add-be39dd273d29/scratchpad/sekiller/surtunme-kuvveti-06.png">    </p:cNvPr>
          <p:cNvPicPr>
            <a:picLocks noChangeAspect="1"/>
          </p:cNvPicPr>
          <p:nvPr/>
        </p:nvPicPr>
        <p:blipFill>
          <a:blip r:embed="rId1"/>
          <a:stretch>
            <a:fillRect/>
          </a:stretch>
        </p:blipFill>
        <p:spPr>
          <a:xfrm>
            <a:off x="8065008" y="1664208"/>
            <a:ext cx="3303727" cy="1431582"/>
          </a:xfrm>
          <a:prstGeom prst="rect">
            <a:avLst/>
          </a:prstGeom>
        </p:spPr>
      </p:pic>
      <p:sp>
        <p:nvSpPr>
          <p:cNvPr id="18" name="Shape 15"/>
          <p:cNvSpPr/>
          <p:nvPr/>
        </p:nvSpPr>
        <p:spPr>
          <a:xfrm>
            <a:off x="8065008" y="3187230"/>
            <a:ext cx="3303727" cy="0"/>
          </a:xfrm>
          <a:prstGeom prst="line">
            <a:avLst/>
          </a:prstGeom>
          <a:noFill/>
          <a:ln w="9525">
            <a:solidFill>
              <a:srgbClr val="E1E5EE"/>
            </a:solidFill>
            <a:prstDash val="dash"/>
          </a:ln>
        </p:spPr>
      </p:sp>
      <p:sp>
        <p:nvSpPr>
          <p:cNvPr id="19" name="Text 16"/>
          <p:cNvSpPr txBox="1"/>
          <p:nvPr/>
        </p:nvSpPr>
        <p:spPr>
          <a:xfrm>
            <a:off x="8065008" y="3242094"/>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Durma mesafesi iki parçadan oluşur.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Tepki mesafesi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hızla doğru orantılıdır (d = v·t),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fren mesafesi hızın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artar (d = v²/2μg). Bu yüzden hızı iki katına çıkarmak toplam mesafeyi iki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 katına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çıkarır. Islak yolda μ yarıya inerse fren mesafesi ikiye katlanır — hız sınırlarının sebebi bu karesel terimdir.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 zeminde duran 20 kg'lık kutu için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0,5 ve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0,4'tür. (a) 80 N'luk yatay kuvvet uygulanırsa kutu hareket eder mi, sürtünme kaç N olur? (b) Kuvvet 120 N'a çıkarılırsa ivme ne olur?</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m·g = 200 N, statik eşik: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0,5 · 200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N</a:t>
            </a:r>
            <a:endParaRPr lang="en-US" sz="1600" dirty="0"/>
          </a:p>
        </p:txBody>
      </p:sp>
      <p:sp>
        <p:nvSpPr>
          <p:cNvPr id="13" name="Shape 11"/>
          <p:cNvSpPr/>
          <p:nvPr/>
        </p:nvSpPr>
        <p:spPr>
          <a:xfrm>
            <a:off x="5212080" y="2793492"/>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73679"/>
            <a:ext cx="384048" cy="384048"/>
          </a:xfrm>
          <a:prstGeom prst="roundRect">
            <a:avLst>
              <a:gd name="adj" fmla="val 26000"/>
            </a:avLst>
          </a:prstGeom>
          <a:solidFill>
            <a:srgbClr val="A56209"/>
          </a:solidFill>
          <a:ln/>
        </p:spPr>
      </p:sp>
      <p:sp>
        <p:nvSpPr>
          <p:cNvPr id="15" name="Text 13"/>
          <p:cNvSpPr txBox="1"/>
          <p:nvPr/>
        </p:nvSpPr>
        <p:spPr>
          <a:xfrm>
            <a:off x="5449824" y="327367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123469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80 N &lt; 100 N olduğu için kutu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hareket etmez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statik sürtünme uygulanan kuvvete eşittir: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f = 80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0.</a:t>
            </a:r>
            <a:endParaRPr lang="en-US" sz="1600" dirty="0"/>
          </a:p>
        </p:txBody>
      </p:sp>
      <p:sp>
        <p:nvSpPr>
          <p:cNvPr id="17" name="Shape 15"/>
          <p:cNvSpPr/>
          <p:nvPr/>
        </p:nvSpPr>
        <p:spPr>
          <a:xfrm>
            <a:off x="5212080" y="4284218"/>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601972"/>
            <a:ext cx="384048" cy="384048"/>
          </a:xfrm>
          <a:prstGeom prst="roundRect">
            <a:avLst>
              <a:gd name="adj" fmla="val 26000"/>
            </a:avLst>
          </a:prstGeom>
          <a:solidFill>
            <a:srgbClr val="A56209"/>
          </a:solidFill>
          <a:ln/>
        </p:spPr>
      </p:sp>
      <p:sp>
        <p:nvSpPr>
          <p:cNvPr id="19" name="Text 17"/>
          <p:cNvSpPr txBox="1"/>
          <p:nvPr/>
        </p:nvSpPr>
        <p:spPr>
          <a:xfrm>
            <a:off x="5449824" y="460197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339082"/>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120 N &gt; 100 N → kayma başlar. Artık kinetik sürtünme geçerlidir: f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0,4 · 200 = 80 N</a:t>
            </a:r>
            <a:endParaRPr lang="en-US" sz="1600" dirty="0"/>
          </a:p>
        </p:txBody>
      </p:sp>
      <p:sp>
        <p:nvSpPr>
          <p:cNvPr id="21" name="Shape 19"/>
          <p:cNvSpPr/>
          <p:nvPr/>
        </p:nvSpPr>
        <p:spPr>
          <a:xfrm>
            <a:off x="5212080" y="5450078"/>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605399"/>
            <a:ext cx="384048" cy="384048"/>
          </a:xfrm>
          <a:prstGeom prst="roundRect">
            <a:avLst>
              <a:gd name="adj" fmla="val 26000"/>
            </a:avLst>
          </a:prstGeom>
          <a:solidFill>
            <a:srgbClr val="A56209"/>
          </a:solidFill>
          <a:ln/>
        </p:spPr>
      </p:sp>
      <p:sp>
        <p:nvSpPr>
          <p:cNvPr id="23" name="Text 21"/>
          <p:cNvSpPr txBox="1"/>
          <p:nvPr/>
        </p:nvSpPr>
        <p:spPr>
          <a:xfrm>
            <a:off x="5449824" y="560539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504942"/>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(120 − 80) / 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m/s²</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Eğimi yavaşça artırılan bir düzlemde cisim, açı 37° olduğunda kaymaya başlıyor. (a)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kaçtır? (b)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0,5 ise kaymaya başladıktan sonraki ivmesi nedir? (sin37° = 0,6 · cos37° = 0,8)</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tanθ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tan37° = 0,6/0,8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0,75</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g·(sinθ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·cosθ) = 10·(0,6 − 0,5·0,8)</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10 · (0,6 − 0,4)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m/s²</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hiçbir adımda kullanılmadı; sonuç kütleden bağımsızdır.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72 km/h ile giden bir araç, μ = 0,5 olan bir yolda fren yapıyor. Sürücünün tepki süresi 1 s'dir. (a) Toplam durma mesafesi nedir? (b) Hız iki katına çıkarsa fren mesafesi ne olur?</a:t>
            </a:r>
            <a:endParaRPr lang="en-US" sz="1600" dirty="0"/>
          </a:p>
        </p:txBody>
      </p:sp>
      <p:sp>
        <p:nvSpPr>
          <p:cNvPr id="9" name="Shape 7"/>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13017"/>
            <a:ext cx="384048" cy="384048"/>
          </a:xfrm>
          <a:prstGeom prst="roundRect">
            <a:avLst>
              <a:gd name="adj" fmla="val 26000"/>
            </a:avLst>
          </a:prstGeom>
          <a:solidFill>
            <a:srgbClr val="A56209"/>
          </a:solidFill>
          <a:ln/>
        </p:spPr>
      </p:sp>
      <p:sp>
        <p:nvSpPr>
          <p:cNvPr id="11" name="Text 9"/>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72 km/h = 72/3,6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endParaRPr lang="en-US" sz="1600" dirty="0"/>
          </a:p>
        </p:txBody>
      </p:sp>
      <p:sp>
        <p:nvSpPr>
          <p:cNvPr id="13" name="Shape 11"/>
          <p:cNvSpPr/>
          <p:nvPr/>
        </p:nvSpPr>
        <p:spPr>
          <a:xfrm>
            <a:off x="5212080" y="252875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714139"/>
            <a:ext cx="384048" cy="384048"/>
          </a:xfrm>
          <a:prstGeom prst="roundRect">
            <a:avLst>
              <a:gd name="adj" fmla="val 26000"/>
            </a:avLst>
          </a:prstGeom>
          <a:solidFill>
            <a:srgbClr val="A56209"/>
          </a:solidFill>
          <a:ln/>
        </p:spPr>
      </p:sp>
      <p:sp>
        <p:nvSpPr>
          <p:cNvPr id="15" name="Text 13"/>
          <p:cNvSpPr txBox="1"/>
          <p:nvPr/>
        </p:nvSpPr>
        <p:spPr>
          <a:xfrm>
            <a:off x="5449824" y="27141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583618"/>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Tepki mesafesi: 20 · 1 = 20 m</a:t>
            </a:r>
            <a:endParaRPr lang="en-US" sz="1600" dirty="0"/>
          </a:p>
        </p:txBody>
      </p:sp>
      <p:sp>
        <p:nvSpPr>
          <p:cNvPr id="17" name="Shape 15"/>
          <p:cNvSpPr/>
          <p:nvPr/>
        </p:nvSpPr>
        <p:spPr>
          <a:xfrm>
            <a:off x="5212080" y="342987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791753"/>
            <a:ext cx="384048" cy="384048"/>
          </a:xfrm>
          <a:prstGeom prst="roundRect">
            <a:avLst>
              <a:gd name="adj" fmla="val 26000"/>
            </a:avLst>
          </a:prstGeom>
          <a:solidFill>
            <a:srgbClr val="A56209"/>
          </a:solidFill>
          <a:ln/>
        </p:spPr>
      </p:sp>
      <p:sp>
        <p:nvSpPr>
          <p:cNvPr id="19" name="Text 17"/>
          <p:cNvSpPr txBox="1"/>
          <p:nvPr/>
        </p:nvSpPr>
        <p:spPr>
          <a:xfrm>
            <a:off x="5449824" y="37917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48474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Fren mesafesi: v²/(2μg) = 400 / (2·0,5·10) = 40 m → toplam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m</a:t>
            </a:r>
            <a:endParaRPr lang="en-US" sz="1600" dirty="0"/>
          </a:p>
        </p:txBody>
      </p:sp>
      <p:sp>
        <p:nvSpPr>
          <p:cNvPr id="21" name="Shape 19"/>
          <p:cNvSpPr/>
          <p:nvPr/>
        </p:nvSpPr>
        <p:spPr>
          <a:xfrm>
            <a:off x="5212080" y="468398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22351"/>
            <a:ext cx="384048" cy="384048"/>
          </a:xfrm>
          <a:prstGeom prst="roundRect">
            <a:avLst>
              <a:gd name="adj" fmla="val 26000"/>
            </a:avLst>
          </a:prstGeom>
          <a:solidFill>
            <a:srgbClr val="A56209"/>
          </a:solidFill>
          <a:ln/>
        </p:spPr>
      </p:sp>
      <p:sp>
        <p:nvSpPr>
          <p:cNvPr id="23" name="Text 21"/>
          <p:cNvSpPr txBox="1"/>
          <p:nvPr/>
        </p:nvSpPr>
        <p:spPr>
          <a:xfrm>
            <a:off x="5449824" y="52223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738846"/>
            <a:ext cx="5379415" cy="135105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40 m/s için fren mesafesi: 1600/10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160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hız 2 katına çıkınca fren mesafesi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çıktı.</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 zeminde 10 m/s hızla kayan 5 kg'lık cisim,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0,25 olan yüzeyde yavaşlıyor. Kaç metre sonra ve kaç saniyede durur?</a:t>
            </a:r>
            <a:endParaRPr lang="en-US" sz="1600" dirty="0"/>
          </a:p>
        </p:txBody>
      </p:sp>
      <p:sp>
        <p:nvSpPr>
          <p:cNvPr id="9" name="Shape 7"/>
          <p:cNvSpPr/>
          <p:nvPr/>
        </p:nvSpPr>
        <p:spPr>
          <a:xfrm>
            <a:off x="5212080" y="162763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21739"/>
            <a:ext cx="384048" cy="384048"/>
          </a:xfrm>
          <a:prstGeom prst="roundRect">
            <a:avLst>
              <a:gd name="adj" fmla="val 26000"/>
            </a:avLst>
          </a:prstGeom>
          <a:solidFill>
            <a:srgbClr val="A56209"/>
          </a:solidFill>
          <a:ln/>
        </p:spPr>
      </p:sp>
      <p:sp>
        <p:nvSpPr>
          <p:cNvPr id="11" name="Text 9"/>
          <p:cNvSpPr txBox="1"/>
          <p:nvPr/>
        </p:nvSpPr>
        <p:spPr>
          <a:xfrm>
            <a:off x="5449824" y="19217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Tek yatay kuvvet sürtünmedir: f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·m·g = 0,25 · 5 · 10 = 12,5 N</a:t>
            </a:r>
            <a:endParaRPr lang="en-US" sz="1600" dirty="0"/>
          </a:p>
        </p:txBody>
      </p:sp>
      <p:sp>
        <p:nvSpPr>
          <p:cNvPr id="13" name="Shape 11"/>
          <p:cNvSpPr/>
          <p:nvPr/>
        </p:nvSpPr>
        <p:spPr>
          <a:xfrm>
            <a:off x="5212080" y="2746198"/>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885406"/>
            <a:ext cx="384048" cy="384048"/>
          </a:xfrm>
          <a:prstGeom prst="roundRect">
            <a:avLst>
              <a:gd name="adj" fmla="val 26000"/>
            </a:avLst>
          </a:prstGeom>
          <a:solidFill>
            <a:srgbClr val="A56209"/>
          </a:solidFill>
          <a:ln/>
        </p:spPr>
      </p:sp>
      <p:sp>
        <p:nvSpPr>
          <p:cNvPr id="15" name="Text 13"/>
          <p:cNvSpPr txBox="1"/>
          <p:nvPr/>
        </p:nvSpPr>
        <p:spPr>
          <a:xfrm>
            <a:off x="5449824" y="28854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01062"/>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−f/m = −2,5 m/s² (yavaşlatıcı)</a:t>
            </a:r>
            <a:endParaRPr lang="en-US" sz="1600" dirty="0"/>
          </a:p>
        </p:txBody>
      </p:sp>
      <p:sp>
        <p:nvSpPr>
          <p:cNvPr id="17" name="Shape 15"/>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Mesafe: v²/(2a) = 100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21" name="Shape 19"/>
          <p:cNvSpPr/>
          <p:nvPr/>
        </p:nvSpPr>
        <p:spPr>
          <a:xfrm>
            <a:off x="5212080" y="436373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502946"/>
            <a:ext cx="384048" cy="384048"/>
          </a:xfrm>
          <a:prstGeom prst="roundRect">
            <a:avLst>
              <a:gd name="adj" fmla="val 26000"/>
            </a:avLst>
          </a:prstGeom>
          <a:solidFill>
            <a:srgbClr val="A56209"/>
          </a:solidFill>
          <a:ln/>
        </p:spPr>
      </p:sp>
      <p:sp>
        <p:nvSpPr>
          <p:cNvPr id="23" name="Text 21"/>
          <p:cNvSpPr txBox="1"/>
          <p:nvPr/>
        </p:nvSpPr>
        <p:spPr>
          <a:xfrm>
            <a:off x="5449824" y="45029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41860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Süre: v/a = 10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s</a:t>
            </a:r>
            <a:endParaRPr lang="en-US" sz="1600" dirty="0"/>
          </a:p>
        </p:txBody>
      </p:sp>
      <p:sp>
        <p:nvSpPr>
          <p:cNvPr id="25" name="Shape 23"/>
          <p:cNvSpPr/>
          <p:nvPr/>
        </p:nvSpPr>
        <p:spPr>
          <a:xfrm>
            <a:off x="5212080" y="5172506"/>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466613"/>
            <a:ext cx="384048" cy="384048"/>
          </a:xfrm>
          <a:prstGeom prst="roundRect">
            <a:avLst>
              <a:gd name="adj" fmla="val 26000"/>
            </a:avLst>
          </a:prstGeom>
          <a:solidFill>
            <a:srgbClr val="A56209"/>
          </a:solidFill>
          <a:ln/>
        </p:spPr>
      </p:sp>
      <p:sp>
        <p:nvSpPr>
          <p:cNvPr id="27" name="Text 25"/>
          <p:cNvSpPr txBox="1"/>
          <p:nvPr/>
        </p:nvSpPr>
        <p:spPr>
          <a:xfrm>
            <a:off x="5449824" y="54666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txBox="1"/>
          <p:nvPr/>
        </p:nvSpPr>
        <p:spPr>
          <a:xfrm>
            <a:off x="5989320" y="5227370"/>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sonuçta görünmez: a = μ·g olduğu için 50 kg'lık cisim de aynı yerde dururdu.</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“Sürtünme her zaman hareketi engeller.”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Sürtünme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zıttır; yürümeyi, frenlemeyi ve virajı dönmeyi sağlayan da odur.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“f = μ·N her durumda geçerlidir.”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Statik durumda f, uygulanan kuvvete eşittir; μ</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s</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·N yalnızca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üst sınırdır</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“Temas alanı büyükse sürtünme büyüktür.”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Alan bağıntıda yoktur.</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“Kinetik sürtünme hızla artar.”</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Yaklaşık olarak sabittir; hızla artan kuvvet hava direncidir (bkz. Konu 05).</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“N her zaman m·g'dir.”</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Eğik düzlemde N = m·g·cosθ; eğik bir kuvvet uygulandığında ya da asansörde de değişir.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“Ağır cisim eğik düzlemde daha geç kayar.”</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Kritik açı kütleden bağımsızdır.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“Fren mesafesi hızla doğru orantılıdır.”</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karesiyle</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artar; doğru orantılı olan tepki mesafesidir.</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Statik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Kinetik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k</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Alana </a:t>
            </a:r>
            <a:pPr indent="0" marL="0">
              <a:buNone/>
            </a:pPr>
            <a:r>
              <a:rPr lang="en-US" sz="1500" b="1" dirty="0">
                <a:solidFill>
                  <a:srgbClr val="FFFFFF"/>
                </a:solidFill>
                <a:latin typeface="Calibri" pitchFamily="34" charset="0"/>
                <a:ea typeface="Calibri" pitchFamily="34" charset="-122"/>
                <a:cs typeface="Calibri" pitchFamily="34" charset="-120"/>
              </a:rPr>
              <a:t>bağlı değil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Kritik açı </a:t>
            </a:r>
            <a:pPr indent="0" marL="0">
              <a:buNone/>
            </a:pPr>
            <a:r>
              <a:rPr lang="en-US" sz="1500" b="1" dirty="0">
                <a:solidFill>
                  <a:srgbClr val="FFFFFF"/>
                </a:solidFill>
                <a:latin typeface="Calibri" pitchFamily="34" charset="0"/>
                <a:ea typeface="Calibri" pitchFamily="34" charset="-122"/>
                <a:cs typeface="Calibri" pitchFamily="34" charset="-120"/>
              </a:rPr>
              <a:t>tanθ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fs ≤ μs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fk = μk · N</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tanθ = μs</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 = v² / (2·μ·g)</a:t>
            </a:r>
            <a:endParaRPr lang="en-US" sz="1350" dirty="0"/>
          </a:p>
        </p:txBody>
      </p:sp>
      <p:sp>
        <p:nvSpPr>
          <p:cNvPr id="25" name="Text 23"/>
          <p:cNvSpPr txBox="1"/>
          <p:nvPr/>
        </p:nvSpPr>
        <p:spPr>
          <a:xfrm>
            <a:off x="8677656" y="486460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dersler.perinet.org/surtunme-kuvveti.html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Limit hız</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Sürtünme kuvveti — Dersler</dc:title>
  <dc:subject>Fizik · Kuvvet ve Hareket</dc:subject>
  <dc:creator>Dersler</dc:creator>
  <cp:lastModifiedBy>Dersler</cp:lastModifiedBy>
  <cp:revision>1</cp:revision>
  <dcterms:created xsi:type="dcterms:W3CDTF">2026-09-20T18:42:54Z</dcterms:created>
  <dcterms:modified xsi:type="dcterms:W3CDTF">2026-09-20T18:42:54Z</dcterms:modified>
</cp:coreProperties>
</file>