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Ağır bir sandığı itmeye başladığında neden önce hiç kıpırdamaz, sonra bir anda kurtulup daha kolay kaymaya başlar? Yürüyebilmemizin, frene basınca durabilmemizin, bir bardağı elimizde tutabilmemizin sorumlusu hep aynı kuvvet. Aynı kuvvet motorları aşındırır, yakıt yakar ve buzda arabayı savurur. Bu yüzden sürtünmeyi "iyi" ya da "kötü" diye değil, ne zaman ne kadar ortaya çıktığını hesaplayabildiğimiz bir kuvvet olarak öğreniyoruz — ve şaşırtıcı biçimde temas alanının bununla hiç ilgisi yok. Anlatım dört basamakta ilerliyor: önce sürtünmeyi gözleyip durgun ve kayan cisimdeki iki türünü tanıyacağız, sonra sürtünme katsayısıyla eğik düzlemi ve fren mesafesini hesaplayacağız, ardından normal kuvvetin değiştiği ve basit modelin zorlandığı durumlara geçeceğiz. En sonda kolaydan zora sıralanmış örneklerle hepsini birlikte kullanacağız.
Kapak görseli: İki yerde, iki yönde sürtünme. Sandık yerinden oynamadıkça zemin ona, itme kuvvetine eşit ve zıt yönde bir sürtünme uygular. Aynı anda adamın botları zemini geriye doğru iter; zeminin botlara uyguladığı sürtünme de onu ileriye iterek itmeyi mümkün kılar. Sürtünme aynı sahnede hem engel hem dayanak olabilir.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Açılış sorusu — sınıfa sorup birkaç cevap alın, sonra konuya geçin.
Ağır bir sandığı itmeye başladığında neden önce hiç kıpırdamaz, sonra bir anda kurtulup daha kolay kaymaya başlar? Yürüyebilmemizin, frene basınca durabilmemizin, bir bardağı elimizde tutabilmemizin sorumlusu hep aynı kuvvet. Aynı kuvvet motorları aşındırır, yakıt yakar ve buzda arabayı savurur. Bu yüzden sürtünmeyi "iyi" ya da "kötü" diye değil, ne zaman ne kadar ortaya çıktığını hesaplayabildiğimiz bir kuvvet olarak öğreniyoruz — ve şaşırtıcı biçimde temas alanının bununla hiç ilgisi yok. Anlatım dört basamakta ilerliyor: önce sürtünmeyi gözleyip durgun ve kayan cisimdeki iki türünü tanıyacağız, sonra sürtünme katsayısıyla eğik düzlemi ve fren mesafesini hesaplayacağız, ardından normal kuvvetin değiştiği ve basit modelin zorlandığı durumlara geçeceğiz. En sonda kolaydan zora sıralanmış örneklerle hepsini birlikte kullanacağız.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derste:
1. Temel — Önce sezgi: sürtünmeyi gündelik sahnelerde gözle, adını koy ve durgun cisimle kayan cisim arasındaki farkı gör. Bu basamakta hesap yok denecek kadar az.
   01 Önce gözlemle: sürtünme ne zaman ortaya çıkar?
   02 Sürtünme kuvveti nedir?
   03 Durgunken ve kayarken: iki tür sürtünme
2. Orta — Bağıntılar: eşiği sayıyla yaz, katsayıyı tanı; sonra eğik düzlemde ve frenlemede sürtünmeyi adım adım hesapla.
   04 Sürtünme katsayısı ve temel bağıntılar
   05 Sürtünme neye bağlı, neye bağlı değil?
   06 Sayılarla hisset: ne kadar kuvvet, ne kadar yavaşlama?
   07 Eğik düzlemde sürtünme
   08 Fren mesafesi ve trafik
3. İleri — Derinleşme: normal kuvvet değişince, tekerlek dönünce ve basit model zorlanınca ne olur; sonra sürtünme gerçek hayatta.
   09 Normal kuvvet her zaman m·g değildir
   10 Dönen tekerlek, ABS ve modelin sınırları
   11 Sürtünme gerçek dünyada
4. Pekiştir — Kolaydan zora çözümlü örnekler ve sürtünme sorularında puan kaybettiren klasik hatalar.
   12 Çözümlü örnekler
   13 Sık yapılan hatalar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1 — Temel: Önce sezgi: sürtünmeyi gündelik sahnelerde gözle, adını koy ve durgun cisimle kayan cisim arasındaki farkı gör. Bu basamakta hesap yok denecek kadar az.
01 Önce gözlemle: sürtünme ne zaman ortaya çıkar?
02 Sürtünme kuvveti nedir?
03 Durgunken ve kayarken: iki tür sürtünme
Görsel: Kaydırak küçük bir eğik düzlemdir. Ağırlığın eğime paralel parçası çocuğu aşağı çeker, kıyafet ile metal arasındaki sürtünme ise kaymaya karşı koyar. Çocuğun ne kadar hızlı ineceğini bu ikisinin farkı belirler; farkın eğimle ve kumaşla nasıl değiştiğini ikinci basamakta hesaplayacağız.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sürtünme ne zaman ortaya çıkar?
Kısaca: Duran bir cisim, itme belli bir sınırı aşana dek yerinden oynamaz; kaymaya başlayınca onu itmek kolaylaşır. Bu direncin büyüklüğü yüzeylere ve cismin zemine ne kadar bastırdığına bağlıdır.
Evde kitap dolu bir koliyi yerde itmeyi düşün. Önce hafifçe itersin; koli kıpırdamaz. Biraz daha yüklenirsin; yine yerinde durur. Bir noktada birden "kopar" ve kaymaya başlar. İlginç olan şudur: kaymaya başladıktan sonra onu itmeye devam etmek, yerinden oynatmaktan daha kolaydır. Aynı koliyi halının üstünde itmek cilalı parkede itmekten zordur; içindeki kitapları boşaltınca iş iyice kolaylaşır.
Parktaki kaydırak da aynı etkiyi gösterir. Ağırlığı çocuğu eğim boyunca aşağı çeker, ama çocuk inerken kıyafeti ile metal yüzey arasında onu frenleyen bir etki vardır. Aynı çocuk kotla daha yavaş, kaygan kumaşlı bir eşofmanla daha hızlı iner. Kaydırağın eğimi çok az olsaydı hiç kaymadan üstünde oturabilirdi.
Görsel: Kaydırak küçük bir eğik düzlemdir. Ağırlığın eğime paralel parçası çocuğu aşağı çeker, kıyafet ile metal arasındaki sürtünme ise kaymaya karşı koyar. Çocuğun ne kadar hızlı ineceğini bu ikisinin farkı belirler; farkın eğimle ve kumaşla nasıl değiştiğini ikinci basamakta hesaplayacağız.
Bu sahnelerden şu gözlemleri çıkarabilirsin:
• Duran cisim direnir: itme belli bir sınırı aşana kadar cisim yerinden oynamaz.
• Kayan cisim daha az direnir: kaymaya başlayınca itmeye devam etmek kolaylaşır.
• Yüzeyler önemlidir: halı ile parke, kot ile eşofman aynı sonucu vermez.
• Bastırmak önemlidir: dolu koli boş koliden zor itilir.
• Durgun hâlde de iş başındadır: yürürken ayağının kaymamasını sağlayan da aynı etkidir.
Bütün bu gözlemlerin arkasında tek bir kuvvet var. Önce ona bir ad verelim, sonra neden bir sınırı olduğunu ve cisim kayınca neden küçüldüğünü anlayalım.
Düşün: Aynı çocuk aynı kaydıraktan bir kez kotla, bir kez kaygan bir eşofmanla kayıyor. Değişen ne?
Cevap: Çocuğun ağırlığı da kaydırağın eğimi de aynıdır. Değişen, birbirine değen iki yüzeyin — kumaş ile metalin — birbirine ne kadar tutunduğudur. Demek ki sürtünme tek bir cismin değil, birbirine değen yüzey çiftinin özelliğidir.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Aynı çocuk aynı kaydıraktan bir kez kotla, bir kez kaygan bir eşofmanla kayıyor. Değişen ne?
Sınıfa sorun, birkaç tahmin alın; sonra cevap slaytına geçin.
Cevap: Çocuğun ağırlığı da kaydırağın eğimi de aynıdır. Değişen, birbirine değen iki yüzeyin — kumaş ile metalin — birbirine ne kadar tutunduğudur. Demek ki sürtünme tek bir cismin değil, birbirine değen yüzey çiftinin özelliğidir.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Çocuğun ağırlığı da kaydırağın eğimi de aynıdır. Değişen, birbirine değen iki yüzeyin — kumaş ile metalin — birbirine ne kadar tutunduğudur. Demek ki sürtünme tek bir cismin değil, birbirine değen yüzey çiftinin özelliğidir.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Sürtünme kuvveti nedir?
Kısaca: Sürtünme, birbirine değen yüzeyler arasında yüzeye paralel ve bağıl kaymaya zıt yönde oluşan kuvvettir. Kaynağı mikroskobik pürüzlerin kenetlenmesi ve temas noktalarındaki moleküler yapışmadır.
Birbirine değen iki yüzey arasında, bağıl kaymaya zıt yönde ortaya çıkan kuvvete sürtünme kuvveti denir. Yüzeyler çıplak gözle pürüzsüz görünse bile mikroskobik ölçekte girinti çıkıntılıdır; temas noktalarındaki bu kenetlenme ve moleküler yapışma sürtünmeyi doğurur.
Bağıl kayma, iki yüzeyin birbirine göre kaymasıdır. Masada duran bir kitaba kimse dokunmuyorsa kaymaya çalışan bir şey yoktur; sürtünme de yoktur. Kitabı yana doğru ittiğin anda yüzeyler birbirinin üstünden kaymaya "niyetlenir" ve sürtünme belirir.
Sürtünme, zeminin cisme uyguladığı temas kuvvetinin bir parçasıdır. Bu temas kuvvetini iki bileşene ayırırız. Yüzeye dik olan bileşene normal kuvvet (N) denir: zemin, cismin kendi içine batmaması için onu dik olarak iter. Yüzeye paralel olan bileşen ise sürtünmedir. Yatay bir zeminde başka düşey kuvvet yoksa normal kuvvet cismin ağırlığına eşittir.
Sürtünme kuvvetinin temel özellikleri şunlardır:
• Yüzeye paraleldir (normal kuvvet ise yüzeye diktir).
• Yönü, cismin kaymakta olduğu ya da kaymaya çalıştığı yönün tersidir.
• Çift olarak doğar: zemin kutuyu geriye çekerken kutu da zemini ileriye sürükler (Newton'un üçüncü yasası).
Dikkat: Sürtünme "harekete" değil, bağıl kaymaya zıttır. Yürürken ayağın yeri geriye itmeye çalışır; sürtünme de seni ileriye iter. Yani sürtünme burada hareketi engellemez, hareketi mümkün kılar.
Cilalı bir çelik yüzey bile mikroskop altında sıradağlara benzer. Üst üste konan iki yüzey yalnızca en yüksek tepelerinde birbirine değer ve bu noktalarda atomlar arasında bağlar kurulur. Cismi kaydırmak için bu bağları koparman gerekir; araya giren yağ tepelerin doğrudan değmesini engellediği için sürtünmeyi azaltır.
Görsel: Sürtünme kuvveti daima yüzeye paraleldir ve cismin kaymakta olduğu (ya da kaymaya çalıştığı) yönün tersine bakar. Kaynağı, en pürüzsüz görünen yüzeylerde bile bulunan mikroskobik girinti-çıkıntıların birbirine takılması ve temas noktalarındaki moleküler yapışmadır. Bu yüzden sürtünmeyi azaltmak için yüzeyi cilalamak ya da araya yağ koymak işe yarar.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Durgunken ve kayarken: iki tür sürtünme
Kısaca: Durgun cisimde statik sürtünme uygulanan kuvvete eşittir ve bir eşiğe kadar büyüyebilir. Eşik aşılınca cisim kayar ve sürtünme daha küçük, yaklaşık sabit olan kinetik değere düşer.
Cisim henüz hareket etmiyorken ortaya çıkan sürtünmeye statik sürtünme denir. Bu kuvvetin en ilginç yanı, sabit bir değeri olmamasıdır: uygulanan kuvvet ne kadarsa, statik sürtünme de o kadar büyür ve onu tam olarak dengeler. Kısacası statik sürtünme sana ayak uydurur.
Bunu, bir kapıyı öbür taraftan tutan birine benzetebilirsin: sen ne kadar itersen o da o kadar karşı koyar ve kapı kıpırdamaz; ama onun gücü de sınırlıdır. Statik sürtünmenin de böyle bir üst sınırı (eşiği) vardır: uygulanan kuvvet bu eşiği geçtiği anda denge bozulur ve cisim kaymaya başlar.
Cisim kaymaya başladığı anda devreye kinetik (hareket) sürtünmesi girer. Kinetik sürtünme artık uygulanan kuvvete ayak uydurmaz; yaklaşık sabittir ve genellikle statik sürtünmenin eşiğinden küçüktür. Nedeni sezgiyle anlaşılır: durgun yüzeylerde pürüzler birbirine iyice oturur ve temas noktalarında bağlar kurulmaya zaman bulur; kayarken ise pürüzler tam yerleşemeden birbirinin üstünden atlar.
Sayfanın 01 numaralı laboratuvarındaki 10 kg'lık ahşap kutu için ekranda statik eşik 49,1 N, kinetik sürtünme 34,3 N yazar. Kuvveti yavaşça artırdığında olanlar:
Uygulanan kuvvet | Sürtünme | Kutu ne yapar?
0 N | 0 N | Durur
20 N | 20 N | Durur
40 N | 40 N | Durur
49 N | 49 N | Tam sınırda, kıpırdamak üzere
60 N | 34,3 N | Kayar; net kuvvet 25,7 N
Görsel: Statik sürtünme sabit bir sayı değildir: uygulanan kuvvet ne kadarsa o kadar ortaya çıkar ve cismi tam olarak dengede tutar. Ancak bir üst sınırı vardır (μs·N). Üçüncü karede kuvvet bu sınırı aşmıştır; cisim kurtulur ve sürtünme, daha küçük olan kinetik değerine düşer. Kırmızı ok bu yüzden üçüncü karede kısalır.
Düşün: Yerde duran bir kutuyu hiç itmiyorsan, kutuya etki eden sürtünme kuvveti kaç N'dur?
Cevap: Sıfır. Statik sürtünme yalnızca kaydırmaya çalışan bir kuvvet varken ve o kuvvet kadar ortaya çıkar. Kimse itmiyorsa kutunun kaymaya çalıştığı bir yön yoktur, sürtünmenin karşı koyacağı bir şey de yoktur. Eşik, sürtünmenin alabileceği en büyük değerdir; her an etki eden değer değildir.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Yerde duran bir kutuyu hiç itmiyorsan, kutuya etki eden sürtünme kuvveti kaç N'dur?
Sınıfa sorun, birkaç tahmin alın; sonra cevap slaytına geçin.
Cevap: Sıfır. Statik sürtünme yalnızca kaydırmaya çalışan bir kuvvet varken ve o kuvvet kadar ortaya çıkar. Kimse itmiyorsa kutunun kaymaya çalıştığı bir yön yoktur, sürtünmenin karşı koyacağı bir şey de yoktur. Eşik, sürtünmenin alabileceği en büyük değerdir; her an etki eden değer değildir.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Sıfır. Statik sürtünme yalnızca kaydırmaya çalışan bir kuvvet varken ve o kuvvet kadar ortaya çıkar. Kimse itmiyorsa kutunun kaymaya çalıştığı bir yön yoktur, sürtünmenin karşı koyacağı bir şey de yoktur. Eşik, sürtünmenin alabileceği en büyük değerdir; her an etki eden değer değildir.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2 — Orta: Bağıntılar: eşiği sayıyla yaz, katsayıyı tanı; sonra eğik düzlemde ve frenlemede sürtünmeyi adım adım hesapla.
04 Sürtünme katsayısı ve temel bağıntılar
05 Sürtünme neye bağlı, neye bağlı değil?
06 Sayılarla hisset: ne kadar kuvvet, ne kadar yavaşlama?
07 Eğik düzlemde sürtünme
08 Fren mesafesi ve trafik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Sürtünme katsayısı ve temel bağıntılar
Kısaca: Statik sürtünme fs ≤ μs·N, kinetik sürtünme fk = μk·N'dir ve genellikle μk &lt; μs. Önce cismin kayıp kaymadığına karar ver, sonra geçerli bağıntıyı seç.
Birinci basamakta "eşik" dediğimiz sınırın ne kadar olduğunu şimdi yazabiliriz. Deneyler, eşiğin normal kuvvetle doğru orantılı olduğunu gösterir: N iki katına çıkınca eşik de iki katına çıkar. Bu orantının sabitine statik sürtünme katsayısı (μs) denir. Cisim durduğu sürece statik sürtünme uygulanan kuvvete eşittir, ama μs·N'yi aşamaz:
fs = Fuygulanan   fs ≤ μs · N
Birinci satır yalnızca cisim durduğu sürece geçerlidir; ikinci satırdaki μs·N ise eşiğin kendisidir. Sayfadaki 01 numaralı laboratuvarda kuvveti yavaşça artırdığında bu kopuş anını görürsün. Kayan cisim için de bir sabit tanımlanır: kinetik sürtünme katsayısı (μk). Kinetik sürtünme uygulanan kuvvetten bağımsızdır ve sabittir:
fk = μk · N   μk &lt; μs
Kinetik katsayı genellikle statik katsayıdan küçüktür. Bu yüzden ağır bir dolabı yerinden oynatmak, oynadıktan sonra itmeye devam etmekten zordur. Grafikte bu, eşikte görülen ani düşüştür.
 | Statik | Kinetik
Ne zaman | Cisim dururken | Cisim kayarken
Büyüklük | Uygulanan kuvvete eşit | μk·N, sabit
Üst sınır | μs·N | —
Görsel: Soldaki grafik hikâyenin tamamı: mavi kısımda cisim durgundur ve sürtünme uygulanan kuvvetle birlikte büyür; eşikte kopar ve sarı kısımda sabit bir değere yerleşir. Sağdaki çubuklar her yüzey çiftinde μk'nin μs'den küçük olduğunu gösteriyor — bir dolabı yerinden oynatmak, sonra itmekten hep daha zordur.
μ birimsizdir ve genellikle 0 ile 1 arasındadır; ama yapışkan yüzeylerde 1'in üstüne de çıkabilir. Sürtünme katsayısı bir orandır: f ile N'nin oranı. Birim kontrolü de bunu doğrular: μ = f/N için N/N, yani birim sadeleşir.
Bir sürtünme sorusunu çözme sırası
• Normal kuvveti bul: yatay zeminde, başka düşey kuvvet yoksa N = m·g.
• Eşiği hesapla: μs·N, cismi kıpırdatmak için aşılması gereken kuvvettir.
• Karşılaştır: F ≤ μs·N ise cisim durur; f = F ve a = 0.
• Kayıyorsa kinetiğe geç: F &gt; μs·N ise f = μk·N olur.
• Net kuvvetten ivmeye: a = (F − f) / m.
Düşün: Kıpırdatmak için 100 N gereken kutu kaydıktan sonra sürtünme 80 N'a düşüyor. 100 N ile itmeye devam edersen ne olur?
Cevap: Kutu hızlanır. Kayarken sürtünme 80 N'dur; sen 100 N ile ittiğine göre 20 N'luk net kuvvet kalır. Kutu 20 kg ise ivmesi 20/20 = 1 m/s² olur. Kutuyu sabit hızla götürmek istiyorsan kuvvetini 80 N'a düşürmen yeter.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Sürtünme katsayısı ve temel bağıntılar (devam)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Kıpırdatmak için 100 N gereken kutu kaydıktan sonra sürtünme 80 N'a düşüyor. 100 N ile itmeye devam edersen ne olur?
Sınıfa sorun, birkaç tahmin alın; sonra cevap slaytına geçin.
Cevap: Kutu hızlanır. Kayarken sürtünme 80 N'dur; sen 100 N ile ittiğine göre 20 N'luk net kuvvet kalır. Kutu 20 kg ise ivmesi 20/20 = 1 m/s² olur. Kutuyu sabit hızla götürmek istiyorsan kuvvetini 80 N'a düşürmen yeter.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Kutu hızlanır. Kayarken sürtünme 80 N'dur; sen 100 N ile ittiğine göre 20 N'luk net kuvvet kalır. Kutu 20 kg ise ivmesi 20/20 = 1 m/s² olur. Kutuyu sabit hızla götürmek istiyorsan kuvvetini 80 N'a düşürmen yeter.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Sürtünme neye bağlı, neye bağlı değil?
Kısaca: Sürtünme normal kuvvete ve yüzey çiftine bağlıdır; temas alanına ve (yaklaşık olarak) kayma hızına bağlı değildir. Cisme bastırmak sürtünmeyi artırır, tuğlayı yan yatırmak değiştirmez.
Gözlemlerde yüzeylerin ve bastırmanın önemli olduğunu gördün. f = μ·N bağıntısı bunu kesinleştirir: yüzey çifti μ'nün, bastırma N'nin içindedir. Bağıntıda geçmeyen büyüklüklerden de sezgiye ters iki sonuç çıkar.
Bağlıdır:
• Normal kuvvete (N). Cisme bastırırsan ya da kütlesi artarsa sürtünme artar.
• Yüzey çiftine. Katsayı tek bir cismin değil, iki yüzeyin birlikte özelliğidir.
Bağlı değildir:
• Temas alanına. Aynı kütleli bir tuğlayı yan yatırmak sürtünmeyi değiştirmez.
• Kayma hızına (yaklaşık olarak). Hızla belirgin biçimde artan kuvvet, sürtünme değil hava direncidir.
Temas alanının etkisizliği en şaşırtıcı olanıdır; geniş yüzey daha çok "tutar" gibi görünür. Ama iki yüzey yalnızca pürüzlerinin tepelerinde birbirine değer. Gerçek temas alanı, gözle gördüğün alanın çok küçük bir kesridir. Görünür alan büyüyünce ağırlık daha çok tepeye dağılır, ama her tepe daha az ezilir; görünür alan küçülünce ağırlığı daha az tepe taşır, ama her biri daha çok ezilir. İki etki birbirini götürür ve gerçek temas alanı — dolayısıyla sürtünme — hemen hemen aynı kalır. Onu belirleyen, yüzeylerin birbirine ne kadar bastırıldığıdır.
Yüzey çiftinin etkisi ise büyüktür. Aşağıdaki değerler yaklaşıktır; yüzeyin temizliğine, nemine ve cilasına göre değişir:
Yüzey çifti | μs | μk
Buz – çelik | 0,10 | 0,03
Ahşap – ahşap | 0,50 | 0,35
Çelik – çelik | 0,70 | 0,60
Lastik – kuru asfalt | 0,90 | 0,70
Sayfanın 03 numaralı bölümünde aynı kütleli üç blok, büyüklüğü farklı üç yüzü üzerinde aynı ilk hızla fırlatılır; üçü de aynı noktada durur. Hız için de benzer bir durum vardır: bir kutuyu yavaş ya da hızlı kaydırman sürtünmeyi pek değiştirmez. Değişen tek şey sürtünmenin ne kadar sürdüğüdür.
Görsel: Aynı tuğlayı yan yatırmak temas alanını üçe katlar ama sürtünmeyi değiştirmez: f = μ·N bağıntısında alan hiç geçmez. Alan büyüdükçe birim alana düşen basınç küçülür, ikisi birbirini götürür. Sürtünmeyi gerçekten değiştiren şey normal kuvvettir: ikinci tuğlayı üstüne koyunca N iki katına çıkar, sürtünme 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ne kadar kuvvet, ne kadar yavaşlama?
Kısaca: Aynı 20 kg'lık kutuyu buz–çelikte kıpırdatmak için 20 N, lastik–asfaltta 180 N gerekir. Kendi hâlinde kayan cisim a = μk·g ile yavaşlar; bu yavaşlama kütleden bağımsızdır.
Katsayılar soyut kalmasın. Bir önceki bölümdeki dört yüzey çiftini somut bir cisme uygulayalım: yatay zeminde duran 20 kg'lık bir kutu (g = 10 m/s², N = 200 N). Son sütun, kutu kendi hâlinde kayarken sürtünmenin ona verdiği yavaşlamadır:
Yüzey çifti | Kıpırdatmak için (μs·N) | Kayarken sürtünme (μk·N) | Yavaşlama (μk·g)
Buz – çelik | 20 N | 6 N | 0,3 m/s²
Ahşap – ahşap | 100 N | 70 N | 3,5 m/s²
Çelik – çelik | 140 N | 120 N | 6 m/s²
Lastik – kuru asfalt | 180 N | 140 N | 7 m/s²
Tablodan okunan düzen:
• İkinci sütun hep üçüncüden büyük: her yüzeyde kıpırdatmak, itmeye devam etmekten zordur.
• Buz ile asfalt arasında büyük fark: kutuyu kıpırdatmak için lastik–asfaltta buz–çeliğin 9 katı kuvvet gerekir.
• Yavaşlama kütleden bağımsızdır: 10 m/s ile kayan kutu buz–çelikte yaklaşık 33 s'de, lastik–asfaltta 1,4 s'de durur; kutu kaç kilo olursa olsun.
Yavaşlama neden μk·g?
• Kayan kutuya etki eden tek yatay kuvvet sürtünmedir: f = μk·N.
• Yatay zeminde N = m·g olduğundan f = μk·m·g.
• Newton'un ikinci yasası: m·a = μk·m·g.
• Kütle iki yanda da var, sadeleşir: a = μk·g.
Serbest düşmedeki gibi kütle sadeleşir: ağır kutu daha büyük sürtünmeyle frenlenir, ama durdurulması da o oranda zordur.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ne kadar kuvvet, ne kadar yavaşlama? (devam)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Eğik düzlemde sürtünme
Kısaca: Eğik düzlemde N = m·g·cosθ olur ve cisim tanθ &gt; μs olduğunda kaymaya başlar; kayarken ivme a = g·(sinθ − μk·cosθ)'dır. Kütle bu bağıntıların hiçbirinde yoktur.
Eğik düzlemde ağırlığı iki bileşene ayırırız: eğime paralel olan bileşen cismi aşağı çekmeye çalışır, dik olan bileşen ise normal kuvveti belirler.
Fparalel = m·g·sinθ   N = m·g·cosθ   fmaks = μs·m·g·cosθ
Kritik açı nereden çıkıyor?
• Dik doğrultu: cisim eğime dik yönde hareket etmez; N, ağırlığın dik bileşenini dengeler: N = m·g·cosθ.
• Eşik: statik sürtünme en fazla μs·N = μs·m·g·cosθ olabilir.
• Kayma koşulu: paralel bileşen eşiği geçince cisim kayar: m·g·sinθ &gt; μs·m·g·cosθ.
• Sadeleştir: m·g iki yanda da var; sinθ/cosθ = tanθ olduğundan kayma tanθ &gt; μs iken başlar.
Kütleler sadeleşince geriye çok zarif bir sonuç kalır:
tanθkritik = μs
Yani cismin kaymaya başladığı açının tanjantı, doğrudan statik sürtünme katsayısını verir. Laboratuvarda μ ölçmenin en kolay yolu budur — sayfadaki 02 numaralı bölüm tam olarak bunu yapıyor. Oradaki üç yüzeyin kritik açıları:
Yüzey | μs | Kritik açı
Kaygan | 0,20 | yaklaşık 11°
Ahşap | 0,50 | yaklaşık 27°
Kauçuk | 0,80 | yaklaşık 39°
Kayma başladıktan sonra sürtünme kinetiğe döner ve ivme şöyle olur:
a = g·(sinθ − μk·cosθ)
Kütle bu bağıntıların hiçbirinde yoktur: ağır da olsa hafif de olsa aynı açıda kayar, aynı ivmeyle iner.
Kritik açının altında f ≠ μs·N. Cisim eğik düzlemde duruyorsa statik sürtünme, ağırlığın paralel bileşenine eşittir: f = m·g·sinθ. μs·m·g·cosθ yalnızca bu sürtünmenin çıkabileceği en büyük değerdir.
Görsel: Eğik düzlemde ağırlığı iki bileşene ayırırız: eğime paralel olan G·sinθ cismi aşağı çeker, eğime dik olan G·cosθ ise normal kuvvetle dengelenir. Eğim büyüdükçe birinci büyür, ikinci küçülür — yani kaydırıcı kuvvet artarken sürtünmenin dayanağı azalır. İkisi eşitlendiği anda cisim kayar ve o açıda tanθ = μs olur: eğik düzlem, katsayıyı doğrudan ölçen bir alettir.
Düşün: Eğik düzlemde duran bir kutunun üstüne aynı kütlede ikinci bir kutu koyarsan ikisi kaymaya başlar mı?
Cevap: Hayır. Kütle iki katına çıkınca kutuyu aşağı çeken paralel bileşen de iki katına çıkar, sürtünmenin eşiği de; çünkü N de iki katına çıkar. Kayma koşulu tanθ &gt; μs'de kütle hiç geçmez. Kutuyu kaydırmak istiyorsan açıyı artırman ya da yüzeyi kayganlaştırman gerekir.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Eğik düzlemde sürtünme (devam)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Eğik düzlemde duran bir kutunun üstüne aynı kütlede ikinci bir kutu koyarsan ikisi kaymaya başlar mı?
Sınıfa sorun, birkaç tahmin alın; sonra cevap slaytına geçin.
Cevap: Hayır. Kütle iki katına çıkınca kutuyu aşağı çeken paralel bileşen de iki katına çıkar, sürtünmenin eşiği de; çünkü N de iki katına çıkar. Kayma koşulu tanθ &gt; μs'de kütle hiç geçmez. Kutuyu kaydırmak istiyorsan açıyı artırman ya da yüzeyi kayganlaştırman gerekir.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Hayır. Kütle iki katına çıkınca kutuyu aşağı çeken paralel bileşen de iki katına çıkar, sürtünmenin eşiği de; çünkü N de iki katına çıkar. Kayma koşulu tanθ &gt; μs'de kütle hiç geçmez. Kutuyu kaydırmak istiyorsan açıyı artırman ya da yüzeyi kayganlaştırman gerekir.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Fren mesafesi ve trafik
Kısaca: Fren mesafesi v²/(2·μ·g) hızın karesiyle, tepki mesafesi v·t hızla doğru orantılı büyür. Hız iki katına çıkınca fren mesafesi 4, toplam durma mesafesi yaklaşık 3 katına çıkar.
Frenleyen bir araç için sürtünme kuvveti f = μ·m·g, ivme ise a = μ·g'dir (kütle yine sadeleşir). Bu yavaşlamayı sabit ivmeli hareketin bağıntılarıyla birleştirirsen durma mesafesi adım adım çıkar:
• Yavaşlama: yolun lastiğe uyguladığı sürtünme f = μ·m·g, ivme a = μ·g.
• Zamansız bağıntı: sabit ivmeyle yavaşlayıp duran araç için v² = 2·a·d yazılır (son hız sıfır).
• Yerine koy: v² = 2·μ·g·d, buradan dfren = v² / (2·μ·g).
• Tepki payını ekle: sürücü frene basana kadar araç sabit hızla gider: dtepki = v·ttepki.
dfren = v² / (2·μ·g)   dtepki = v · ttepki   dtoplam = dtepki + dfren
Fren mesafesi hızın karesiyle artar: hızı iki katına çıkarmak fren mesafesini dört katına çıkarır. Islak asfaltta μ yarıya inerse mesafe iki katına çıkar. Tepki mesafesi ise hızla doğru orantılıdır ve frenden önce alınır — sayfadaki 04 numaralı bölümde ikisini ayrı ayrı görebilirsin. Oradaki kuru yol ayarıyla (μ = 0,80, tepki süresi 1,0 s, g = 9,81 m/s²) yuvarlanmış değerler:
Hız | Tepki mesafesi | Fren mesafesi | Toplam
50 km/h | 14 m | 12 m | 26 m
90 km/h | 25 m | 40 m | 65 m
100 km/h | 28 m | 49 m | 77 m
120 km/h | 33 m | 71 m | 104 m
130 km/h | 36 m | 83 m | 119 m
Düşük hızda durma mesafesinin büyük kısmı tepki payıdır; hız arttıkça fren payı hızla öne geçer. 50'den 100 km/h'ye çıkınca tepki mesafesi 2 katına, fren mesafesi 4 katına, toplam ise yaklaşık 3 katına çıkar. Yol ıslanınca (μ = 0,50) 90 km/h'deki fren mesafesi 40 m'den yaklaşık 64 m'ye, karda (μ = 0,20) yaklaşık 159 m'ye uzar.
Görsel: Durma mesafesi iki parçadan oluşur. Tepki mesafesi hızla doğru orantılıdır (d = v·t), ama fren mesafesi hızın karesiyle artar (d = v²/2μg). Bu yüzden hızı iki katına çıkarmak toplam mesafeyi iki değil üç katına çıkarır. Islak yolda μ yarıya inerse fren mesafesi ikiye katlanır — hız sınırlarının sebebi bu karesel terimdir.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Fren mesafesi ve trafik (devam)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3 — İleri: Derinleşme: normal kuvvet değişince, tekerlek dönünce ve basit model zorlanınca ne olur; sonra sürtünme gerçek hayatta.
09 Normal kuvvet her zaman m·g değildir
10 Dönen tekerlek, ABS ve modelin sınırları
11 Sürtünme gerçek dünyada
Görsel: Curling, sürtünmeyi ayarlama oyunudur. Yaklaşık 20 kg'lık granit taş buz üzerinde onlarca metre kayar. Oyuncular taşın yolundaki buzu fırçalayarak sürtünmeyi biraz daha azaltır; böylece taş biraz daha uzağa ve daha düz gider. Taş bırakıldıktan sonra bile yolunu bu küçük sürtünme farkı belirler.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Normal kuvvet her zaman m·g değildir
Kısaca: Normal kuvvet, zeminin gerektiği kadar ittiği bir tepkidir: bastırınca, eğik çekince, asansörde ya da eğik düzlemde değişir. N'yi her soruda yüzeye dik doğrultudaki kuvvetlerden yeniden bul.
Şimdiye kadarki örneklerin çoğunda N = m·g aldık. Oysa normal kuvvet cismin sabit bir özelliği değildir; zemin, cismi içine batırmamak için ne kadar gerekiyorsa o kadar iter. Cisme başka düşey kuvvetler etki edince ya da zemin ivmelenince N, onunla birlikte de sürtünmenin eşiği değişir:
Durum | Normal kuvvet
Yatay zemin, başka düşey kuvvet yok | N = m·g
Üstten F kuvvetiyle bastırılıyor | N = m·g + F
F ile α açısıyla yukarı doğru çekiliyor | N = m·g − F·sinα
F ile α açısıyla aşağı doğru itiliyor | N = m·g + F·sinα
Yukarı doğru a ivmesiyle hızlanan asansör | N = m·(g + a)
Eğik düzlemde de N = m·g·cosθ olduğunu görmüştün. Kısacası N'yi her soruda yüzeye dik doğrultudaki kuvvetlerden yeniden bul; eğik çekilen kızakla eğik itilen kızak arasındaki farkı çözümlü örneklerde sayılarla göreceksin.
Duvara bastırılan kitap
Bir kitabı elinle duvara yatay olarak bastır: düşmez. Burada normal kuvvet yataydır ve senin bastırma kuvvetine eşittir. Sürtünme ise duvara paralel, yani düşeydir ve kitabın ağırlığını yukarı doğru dengeler. Kitabın düşmemesi için gereken koşul:
N = F   m·g ≤ μs·F   F ≥ m·g / μs
1 kg'lık kitap ve μs = 0,5 için F ≥ 10 / 0,5 = 20 N gerekir. Burada kitabın ağırlığı sürtünmeyi artırmaz, yalnızca taşınması gereken yükü artırır; sürtünmeyi artırmanın tek yolu daha sıkı bastırmaktır.
Düşün: Karda bir kızağı ipiyle yukarı doğru eğik çekmek mi, arkadan aşağı doğru eğik itmek mi daha kolaydır?
Cevap: Çekmek. Eğik çektiğinde kuvvetin düşey bileşeni kızağı biraz kaldırır; N ve dolayısıyla sürtünme küçülür. Aşağı doğru eğik ittiğinde düşey bileşen kızağı kara bastırır; N büyür, sürtünme artar. Kuvvetin yatay bileşeni iki durumda da aynıdır, ama çekerken ona karşı koyan sürtünme daha küçüktür.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Karda bir kızağı ipiyle yukarı doğru eğik çekmek mi, arkadan aşağı doğru eğik itmek mi daha kolaydır?
Sınıfa sorun, birkaç tahmin alın; sonra cevap slaytına geçin.
Cevap: Çekmek. Eğik çektiğinde kuvvetin düşey bileşeni kızağı biraz kaldırır; N ve dolayısıyla sürtünme küçülür. Aşağı doğru eğik ittiğinde düşey bileşen kızağı kara bastırır; N büyür, sürtünme artar. Kuvvetin yatay bileşeni iki durumda da aynıdır, ama çekerken ona karşı koyan sürtünme daha küçüktür.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Çekmek. Eğik çektiğinde kuvvetin düşey bileşeni kızağı biraz kaldırır; N ve dolayısıyla sürtünme küçülür. Aşağı doğru eğik ittiğinde düşey bileşen kızağı kara bastırır; N büyür, sürtünme artar. Kuvvetin yatay bileşeni iki durumda da aynıdır, ama çekerken ona karşı koyan sürtünme daha küçüktür.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Dönen tekerlek, ABS ve modelin sınırları
Kısaca: Kaymadan dönen tekerlekte yol ile lastik arasındaki sürtünme statiktir; aracı hızlandıran, durduran ve virajda tutan odur. f = μ·N bir yaklaşımdır: μ sıcaklıkla değişebilir, 1'i aşabilir, araya sıvı girince çok küçülür.
Bir araba yolda kaymadan ilerlerken lastiğin yola değen noktası o an yola göre durgundur: tekerleğin dönüşü ile aracın ilerleyişi o noktada birbirini tam olarak götürür. Bu yüzden yol ile lastik arasındaki sürtünme, araba 100 km/h ile gitse bile statik sürtünmedir. Araba hızlanırken tekerlek yolu geriye doğru iter, yol da arabayı ileriye iter. Arabayı hızlandıran, frenlerken durduran ve virajda yolunda tutan kuvvet hep budur.
ABS neden var? Tekerlek kilitlenip kayarsa devreye kinetik sürtünme girer ve μ küçülür. ABS, tekerleği kilitlenme sınırında tutarak daha büyük olan statik sürtünmeden yararlanır; ayrıca direksiyon hâkimiyetini korur.
Direksiyon hâkimiyeti de sürtünmenin yönüyle ilgilidir: kilitlenmiş tekerlek kayarken kinetik sürtünme kayma yönünün tersine bakar; direksiyonu çevirsen de bu yön değişmez, araç düz gitmeye devam eder. f = μ·N modeli çok kullanışlıdır, ama bir yaklaşımdır:
• μ tam sabit değildir: kayma hızıyla ve sıcaklıkla biraz değişir; uzun yokuş inişinde aşırı ısınan frenler zayıflayabilir.
• μ 1'i aşabilir: yumuşak kauçuk ve silikon gibi malzemelerde yapışma baskındır; sürtünme normal kuvvetten büyük olabilir.
• Araya giren sıvı yüzeyleri ayırır: yağ makinede sürtünmeyi azaltır; ıslak yolda lastik su tabakasının üstüne çıkarsa tutuş neredeyse kaybolur.
• Yuvarlanmak kaymaktan çok kolaydır: yuvarlanma direnci katsayısı araba lastiğinde yaklaşık 0,01'dir, çelik tren tekerleğinde bundan da birkaç kat küçüktür.
• Yumuşak malzemede alan biraz etkiler: kauçuğun katsayısı basınç arttıkça bir miktar düşer; "alan fark etmez" kuralı sert yüzeylerde daha iyi tutar.
Düşün: Temas alanı sürtünmeyi değiştirmiyorsa yarış arabalarının lastikleri neden bu kadar geniştir?
Cevap: Çünkü kauçuk, f = μ·N modeline tam uymaz. Geniş lastik aynı ağırlığı daha geniş bir alana yayıp basıncı düşürür; kauçuğun katsayısı düşük basınçta biraz daha yüksektir. Ayrıca geniş yüzey, sürtünmenin ürettiği ısıyı ve aşınmayı daha büyük bir alana dağıtır ve lastik aşırı ısınmaz.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Temas alanı sürtünmeyi değiştirmiyorsa yarış arabalarının lastikleri neden bu kadar geniştir?
Sınıfa sorun, birkaç tahmin alın; sonra cevap slaytına geçin.
Cevap: Çünkü kauçuk, f = μ·N modeline tam uymaz. Geniş lastik aynı ağırlığı daha geniş bir alana yayıp basıncı düşürür; kauçuğun katsayısı düşük basınçta biraz daha yüksektir. Ayrıca geniş yüzey, sürtünmenin ürettiği ısıyı ve aşınmayı daha büyük bir alana dağıtır ve lastik aşırı ısınmaz.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Çünkü kauçuk, f = μ·N modeline tam uymaz. Geniş lastik aynı ağırlığı daha geniş bir alana yayıp basıncı düşürür; kauçuğun katsayısı düşük basınçta biraz daha yüksektir. Ayrıca geniş yüzey, sürtünmenin ürettiği ısıyı ve aşınmayı daha büyük bir alana dağıtır ve lastik aşırı ısınmaz.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Sürtünme gerçek dünyada
Kısaca: Sürtünme mühendislikte bir ayar düğmesidir: frende, lastikte ve yürürken artırılır, makinelerde yağ ve rulmanla azaltılır. Curling'de oyuncular buzu fırçalayarak taşın ne kadar kayacağını değiştirir.
Mühendislik çoğu zaman sürtünmeyi doğru yerde artırıp doğru yerde azaltma işidir. İstemediğimiz yerde sürtünmeyi azaltmak için yağ, rulman, hava yastığı; istediğimiz yerde artırmak için tırtıklı yüzey, kışlık lastik, reçine kullanılır. Bazı sporlar ise tamamen sürtünmenin ince ayarı üzerine kuruludur.
Görsel: Curling, sürtünmeyi ayarlama oyunudur. Yaklaşık 20 kg'lık granit taş buz üzerinde onlarca metre kayar. Oyuncular taşın yolundaki buzu fırçalayarak sürtünmeyi biraz daha azaltır; böylece taş biraz daha uzağa ve daha düz gider. Taş bırakıldıktan sonra bile yolunu bu küçük sürtünme farkı belirler.
• Curling: 2 m/s ile bırakılıp 28 m kayan bir taş varsayarsan μk = v²/(2·g·d) ≈ 0,007 çıkar; buz–çelikteki 0,03'ün yaklaşık dörtte biri.
• Frenler: 1000 kg'lık bir araç 90 km/h'den durunca yaklaşık 310 kJ kinetik enerji balata–disk sürtünmesiyle ısıya dönüşür.
• Kış lastiği ve zincir: karda μ 0,20'ye iner; 90 km/h'de fren mesafesi kuru yolun 4 katına, yaklaşık 160 m'ye çıkar.
• Yağ ve rulman: kuru çelik–çelikte 0,6 olan katsayı yağlanınca 0,1 civarına iner; bilyeli rulman kaymayı yuvarlanmaya çevirir.
• Yürümek: adım atan ayak yere eğik basar; buzda μ çok küçük olduğundan kısa adımlarla, ayağı daha dik basarak yürürsün.
• Kibrit: kutunun yan yüzeyine sürtülen kibrit başı, sürtünmenin ürettiği ısıyla tutuşma sıcaklığına ulaşır.
Faydalı olduğu yerler | Zararlı olduğu yerler
Yürümek, koşmak | Makine parçalarının aşınması
Fren yapmak, virajı dönmek | Isınma ve enerji kaybı
Vida, çivi ve düğümün tutması | Verimin düşmesi
Elimizle bir şey tutabilmek | Uçak ve araçlarda yakıt tüketimi
Frenler önceki bölüme bağlanır: araç kaymadan durduğunda lastik ile yol arasındaki sürtünme statiktir ve enerjiyi ısıya çevirmez. Isınan, birbirine göre kayan balata ile disktir. Tekerlek kilitlenirse ısınan lastiğin kendisi olur ve yolda siyah bir iz kalır.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Sürtünme gerçek dünyada (devam)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4 — Pekiştir: Kolaydan zora çözümlü örnekler ve sürtünme sorularında puan kaybettiren klasik hatalar.
12 Çözümlü örnekler
13 Sık yapılan hatalar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1 — Kutu hareket eder mi? (kolay)
Aşağıdaki çözümlerde g = 10 m/s² alınmıştır.
Yatay zeminde duran 20 kg'lık kutu için μs = 0,5 ve μk = 0,4'tür. (a) 80 N'luk yatay kuvvet uygulanırsa kutu hareket eder mi, sürtünme kaç N olur? (b) Kuvvet 120 N'a çıkarılırsa ivme ne olur?
1. N = m·g = 200 N, statik eşik: μs·N = 0,5 · 200 = 100 N
2. (a) 80 N &lt; 100 N olduğu için kutu hareket etmez; statik sürtünme uygulanan kuvvete eşittir: f = 80 N, a = 0.
3. (b) 120 N &gt; 100 N → kayma başlar. Artık kinetik sürtünme geçerlidir: f = μk·N = 0,4 · 200 = 80 N
4. a = (120 − 80) / 20 = 2 m/s²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2 — Sabit hızla çekilen kutudan μk ölçmek (kolay)
Aşağıdaki çözümlerde g = 10 m/s² alınmıştır.
5 kg'lık bir kutu, yatay zeminde dinamometreyle sabit hızla çekiliyor; dinamometre 15 N gösteriyor. (a) μk kaçtır? (b) Kutunun üstüne 5 kg'lık ikinci bir kutu konup ikisi yine sabit hızla çekilirse dinamometre kaç N gösterir?
1. Sabit hız → net kuvvet sıfır → kinetik sürtünme çekme kuvvetine eşit: f = 15 N
2. N = m·g = 5 · 10 = 50 N
3. (a) μk = f / N = 15 / 50 = 0,3
4. (b) N = 10 · 10 = 100 N → f = 0,3 · 100 = 30 N; kütle 2 katına çıkınca sürtünme de 2 katına çıktı.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3 — Kayan cismin durması (orta)
Aşağıdaki çözümlerde g = 10 m/s² alınmıştır.
Yatay zeminde 10 m/s hızla kayan 5 kg'lık cisim, μk = 0,25 olan yüzeyde yavaşlıyor. Kaç metre sonra ve kaç saniyede durur?
1. Tek yatay kuvvet sürtünmedir: f = μk·m·g = 0,25 · 5 · 10 = 12,5 N
2. a = −f/m = −2,5 m/s² (yavaşlatıcı)
3. Mesafe: v²/(2a) = 100 / 5 = 20 m
4. Süre: v/a = 10 / 2,5 = 4 s
5. Kütle sonuçta görünmez: a = μ·g olduğu için 50 kg'lık cisim de aynı yerde dururdu.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Kritik açıdan μ bulma (orta)
Aşağıdaki çözümlerde g = 10 m/s² alınmıştır.
Eğimi yavaşça artırılan bir düzlemde cisim, açı 37° olduğunda kaymaya başlıyor. (a) μs kaçtır? (b) μk = 0,5 ise kaymaya başladıktan sonraki ivmesi nedir? (sin37° = 0,6 · cos37° = 0,8)
1. (a) tanθ = μs → μs = tan37° = 0,6/0,8 = 0,75
2. (b) a = g·(sinθ − μk·cosθ) = 10·(0,6 − 0,5·0,8)
3. a = 10 · (0,6 − 0,4) = 2 m/s²
4. Kütle hiçbir adımda kullanılmadı; sonuç kütleden bağımsızdır.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Fren mesafesi ve hız (orta)
Aşağıdaki çözümlerde g = 10 m/s² alınmıştır.
72 km/h ile giden bir araç, μ = 0,5 olan bir yolda fren yapıyor. Sürücünün tepki süresi 1 s'dir. (a) Toplam durma mesafesi nedir? (b) Hız iki katına çıkarsa fren mesafesi ne olur?
1. 72 km/h = 72/3,6 = 20 m/s
2. (a) Tepki mesafesi: 20 · 1 = 20 m
3. Fren mesafesi: v²/(2μg) = 400 / (2·0,5·10) = 40 m → toplam 60 m
4. (b) v = 40 m/s için fren mesafesi: 1600/10 = 160 m — hız 2 katına çıkınca fren mesafesi 4 katına çıktı.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Kızağı çekmek mi, itmek mi? (zor)
Aşağıdaki çözümlerde g = 10 m/s² alınmıştır.
Karda kaymakta olan 20 kg'lık bir kızağa 100 N'luk kuvvet, yatayla 37° açı yapacak biçimde uygulanıyor; μk = 0,2. Kuvvet (a) yukarı doğru eğik çekerek, (b) aşağı doğru eğik iterek uygulanırsa kızağın ivmesi ne olur? (sin37° = 0,6 · cos37° = 0,8)
1. Kuvvetin bileşenleri: yatay 100 · 0,8 = 80 N, düşey 100 · 0,6 = 60 N; ağırlık 200 N.
2. (a) Çekerken düşey bileşen yukarı: N = 200 − 60 = 140 N → f = 0,2 · 140 = 28 N
3. a = (80 − 28) / 20 = 2,6 m/s²
4. (b) İterken düşey bileşen aşağı: N = 200 + 60 = 260 N → f = 0,2 · 260 = 52 N
5. a = (80 − 52) / 20 = 1,4 m/s² — aynı kuvvet, çekerken neredeyse iki kat ivme.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7 — Eğik düzlemde yukarı fırlatılan blok (zor)
Aşağıdaki çözümlerde g = 10 m/s² alınmıştır.
37°'lik eğik düzlemin altından bir blok, eğim boyunca yukarı 10 m/s hızla fırlatılıyor (μs = 0,7 · μk = 0,5). (a) Blok eğim boyunca kaç metre çıkar? (b) Tepede kalır mı? (c) Kalmıyorsa başlangıç noktasına hangi süratle döner?
1. Çıkarken sürtünme de ağırlığın paralel bileşeni de aşağı yönlüdür: a = g·(sinθ + μk·cosθ) = 10·(0,6 + 0,4) = 10 m/s² (yavaşlatıcı)
2. (a) d = v₀² / (2a) = 100 / 20 = 5 m
3. (b) tan37° = 0,75 &gt; μs = 0,7 → statik sürtünme yetmez, blok geri kayar.
4. İnerken sürtünme yukarı yönlüdür: a = g·(sinθ − μk·cosθ) = 10·(0,6 − 0,4) = 2 m/s²
5. (c) v² = 2·a·d = 2 · 2 · 5 = 20 → v = √20 ≈ 4,5 m/s
Serbest düşmedeki simetri burada yoktur: blok 1 s'de çıkar, ama √5 ≈ 2,2 s'de iner ve fırlatıldığı hızın yarısından azıyla döner. Aradaki enerji sürtünmeyle ısıya dönüşmüştür.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Sık yapılan hatalar
• “Sürtünme her zaman hareketi engeller.” Sürtünme bağıl kaymaya zıttır; yürümeyi, frenlemeyi ve virajı dönmeyi sağlayan da odur.
• “f = μ·N her durumda geçerlidir.” Statik durumda f, uygulanan kuvvete eşittir; μs·N yalnızca üst sınırdır.
• “Temas alanı büyükse sürtünme büyüktür.” Alan bağıntıda yoktur.
• “Kinetik sürtünme hızla artar.” Yaklaşık olarak sabittir; hızla artan kuvvet hava direncidir (bkz. Konu 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Sık yapılan hatalar
• “N her zaman m·g'dir.” Eğik düzlemde N = m·g·cosθ; eğik bir kuvvet uygulandığında ya da asansörde de değişir.
• “Ağır cisim eğik düzlemde daha geç kayar.” Kritik açı kütleden bağımsızdır.
• “Fren mesafesi hızla doğru orantılıdır.” Hızın karesiyle artar; doğru orantılı olan tepki mesafesidir.
• “Dönen tekerlekteki sürtünme kinetiktir.” Kaymadan dönen tekerleğin yola değen noktası o an durgundur, sürtünme statiktir; kinetik olan kilitlenip kayan tekerlektir.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Özet: Statik f ≤ μs·N · Kinetik f = μk·N · Alana bağlı değil · Kritik açı tanθ = μs
fs ≤ μs · N — statik: eşiğe kadar dengeler
fk = μk · N — kinetik: sabit
tanθ = μs — kaymanın başladığı açı
d = v² / (2·μ·g) — fren mesafesi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426"/>
        </a:solidFill>
      </p:bgPr>
    </p:bg>
    <p:spTree>
      <p:nvGrpSpPr>
        <p:cNvPr id="1" name=""/>
        <p:cNvGrpSpPr/>
        <p:nvPr/>
      </p:nvGrpSpPr>
      <p:grpSpPr>
        <a:xfrm>
          <a:off x="0" y="0"/>
          <a:ext cx="0" cy="0"/>
          <a:chOff x="0" y="0"/>
          <a:chExt cx="0" cy="0"/>
        </a:xfrm>
      </p:grpSpPr>
      <p:pic>
        <p:nvPicPr>
          <p:cNvPr id="2" name="Image 0" descr="/tmp/claude-1000/-opt-dersler/8a8328c3-841c-44fa-b76f-82572d338d3d/scratchpad/d4/sek/surtunme-kuvveti-kapak.jpg">    </p:cNvPr>
          <p:cNvPicPr>
            <a:picLocks noChangeAspect="1"/>
          </p:cNvPicPr>
          <p:nvPr/>
        </p:nvPicPr>
        <p:blipFill>
          <a:blip r:embed="rId1"/>
          <a:stretch>
            <a:fillRect/>
          </a:stretch>
        </p:blipFill>
        <p:spPr>
          <a:xfrm>
            <a:off x="4967935" y="0"/>
            <a:ext cx="7223760" cy="6858000"/>
          </a:xfrm>
          <a:prstGeom prst="rect">
            <a:avLst/>
          </a:prstGeom>
        </p:spPr>
      </p:pic>
      <p:sp>
        <p:nvSpPr>
          <p:cNvPr id="3" name="Shape 0"/>
          <p:cNvSpPr/>
          <p:nvPr/>
        </p:nvSpPr>
        <p:spPr>
          <a:xfrm>
            <a:off x="868680" y="822960"/>
            <a:ext cx="310896" cy="310896"/>
          </a:xfrm>
          <a:prstGeom prst="roundRect">
            <a:avLst>
              <a:gd name="adj" fmla="val 29412"/>
            </a:avLst>
          </a:prstGeom>
          <a:solidFill>
            <a:srgbClr val="A9E648"/>
          </a:solidFill>
          <a:ln/>
        </p:spPr>
      </p:sp>
      <p:sp>
        <p:nvSpPr>
          <p:cNvPr id="4" name="Text 1"/>
          <p:cNvSpPr txBox="1"/>
          <p:nvPr/>
        </p:nvSpPr>
        <p:spPr>
          <a:xfrm>
            <a:off x="1280160" y="822960"/>
            <a:ext cx="3657600" cy="31089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Dersler</a:t>
            </a:r>
            <a:pPr indent="0" marL="0">
              <a:buNone/>
            </a:pPr>
            <a:r>
              <a:rPr lang="en-US" sz="1250" dirty="0">
                <a:solidFill>
                  <a:srgbClr val="8D97B5"/>
                </a:solidFill>
                <a:latin typeface="Calibri" pitchFamily="34" charset="0"/>
                <a:ea typeface="Calibri" pitchFamily="34" charset="-122"/>
                <a:cs typeface="Calibri" pitchFamily="34" charset="-120"/>
              </a:rPr>
              <a:t>  ·  fizik</a:t>
            </a:r>
            <a:endParaRPr lang="en-US" sz="1250" dirty="0"/>
          </a:p>
        </p:txBody>
      </p:sp>
      <p:sp>
        <p:nvSpPr>
          <p:cNvPr id="5" name="Shape 2"/>
          <p:cNvSpPr/>
          <p:nvPr/>
        </p:nvSpPr>
        <p:spPr>
          <a:xfrm>
            <a:off x="640080" y="1965960"/>
            <a:ext cx="54864" cy="1097280"/>
          </a:xfrm>
          <a:prstGeom prst="rect">
            <a:avLst/>
          </a:prstGeom>
          <a:solidFill>
            <a:srgbClr val="C6F36B"/>
          </a:solidFill>
          <a:ln/>
        </p:spPr>
      </p:sp>
      <p:sp>
        <p:nvSpPr>
          <p:cNvPr id="6" name="Text 3"/>
          <p:cNvSpPr txBox="1"/>
          <p:nvPr/>
        </p:nvSpPr>
        <p:spPr>
          <a:xfrm>
            <a:off x="868680" y="1554480"/>
            <a:ext cx="5852160" cy="320040"/>
          </a:xfrm>
          <a:prstGeom prst="rect">
            <a:avLst/>
          </a:prstGeom>
          <a:noFill/>
          <a:ln/>
        </p:spPr>
        <p:txBody>
          <a:bodyPr wrap="square" lIns="0" tIns="0" rIns="0" bIns="0" rtlCol="0" anchor="ctr"/>
          <a:lstStyle/>
          <a:p>
            <a:pPr indent="0" marL="0">
              <a:buNone/>
            </a:pPr>
            <a:r>
              <a:rPr lang="en-US" sz="1300" b="1" spc="300" kern="0" dirty="0">
                <a:solidFill>
                  <a:srgbClr val="C6F36B"/>
                </a:solidFill>
                <a:latin typeface="Calibri" pitchFamily="34" charset="0"/>
                <a:ea typeface="Calibri" pitchFamily="34" charset="-122"/>
                <a:cs typeface="Calibri" pitchFamily="34" charset="-120"/>
              </a:rPr>
              <a:t>KUVVET VE HAREKET · KONU 04</a:t>
            </a:r>
            <a:endParaRPr lang="en-US" sz="1300" dirty="0"/>
          </a:p>
        </p:txBody>
      </p:sp>
      <p:sp>
        <p:nvSpPr>
          <p:cNvPr id="7" name="Text 4"/>
          <p:cNvSpPr txBox="1"/>
          <p:nvPr/>
        </p:nvSpPr>
        <p:spPr>
          <a:xfrm>
            <a:off x="822960" y="1920240"/>
            <a:ext cx="5120640" cy="1188720"/>
          </a:xfrm>
          <a:prstGeom prst="rect">
            <a:avLst/>
          </a:prstGeom>
          <a:noFill/>
          <a:ln/>
        </p:spPr>
        <p:txBody>
          <a:bodyPr wrap="square" lIns="0" tIns="0" rIns="0" bIns="0" rtlCol="0" anchor="ctr"/>
          <a:lstStyle/>
          <a:p>
            <a:pPr indent="0" marL="0">
              <a:buNone/>
            </a:pPr>
            <a:r>
              <a:rPr lang="en-US" sz="4500" b="1" spc="-100" kern="0" dirty="0">
                <a:solidFill>
                  <a:srgbClr val="FFFFFF"/>
                </a:solidFill>
                <a:latin typeface="Cambria" pitchFamily="34" charset="0"/>
                <a:ea typeface="Cambria" pitchFamily="34" charset="-122"/>
                <a:cs typeface="Cambria" pitchFamily="34" charset="-120"/>
              </a:rPr>
              <a:t>Sürtünme kuvveti</a:t>
            </a:r>
            <a:endParaRPr lang="en-US" sz="4500" dirty="0"/>
          </a:p>
        </p:txBody>
      </p:sp>
      <p:sp>
        <p:nvSpPr>
          <p:cNvPr id="8" name="Text 5"/>
          <p:cNvSpPr txBox="1"/>
          <p:nvPr/>
        </p:nvSpPr>
        <p:spPr>
          <a:xfrm>
            <a:off x="868680" y="3291840"/>
            <a:ext cx="4754880" cy="1371600"/>
          </a:xfrm>
          <a:prstGeom prst="rect">
            <a:avLst/>
          </a:prstGeom>
          <a:noFill/>
          <a:ln/>
        </p:spPr>
        <p:txBody>
          <a:bodyPr wrap="square" lIns="0" tIns="0" rIns="0" bIns="0" rtlCol="0" anchor="t"/>
          <a:lstStyle/>
          <a:p>
            <a:pPr indent="0" marL="0">
              <a:lnSpc>
                <a:spcPct val="125000"/>
              </a:lnSpc>
              <a:buNone/>
            </a:pPr>
            <a:r>
              <a:rPr lang="en-US" sz="1300" dirty="0">
                <a:solidFill>
                  <a:srgbClr val="C3CEE8"/>
                </a:solidFill>
                <a:latin typeface="Calibri" pitchFamily="34" charset="0"/>
                <a:ea typeface="Calibri" pitchFamily="34" charset="-122"/>
                <a:cs typeface="Calibri" pitchFamily="34" charset="-120"/>
              </a:rPr>
              <a:t>Dokunan her iki yüzey arasında, kaymaya karşı koyan bir kuvvet doğar. Cisim henüz hareket etmiyorken bu kuvvet sana ayak uydurur; bir eşiği aştığında ise sabitlenir ve cisim kaymaya başlar. Aşağıda bu eşiği kendin bul, eğik düzlemde μ'yü ölç, fren mesafesini hesapla.</a:t>
            </a:r>
            <a:endParaRPr lang="en-US" sz="1300" dirty="0"/>
          </a:p>
        </p:txBody>
      </p:sp>
      <p:sp>
        <p:nvSpPr>
          <p:cNvPr id="9" name="Shape 6"/>
          <p:cNvSpPr/>
          <p:nvPr/>
        </p:nvSpPr>
        <p:spPr>
          <a:xfrm>
            <a:off x="868680"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0" name="Shape 7"/>
          <p:cNvSpPr/>
          <p:nvPr/>
        </p:nvSpPr>
        <p:spPr>
          <a:xfrm>
            <a:off x="978408" y="5020056"/>
            <a:ext cx="45720" cy="310896"/>
          </a:xfrm>
          <a:prstGeom prst="rect">
            <a:avLst/>
          </a:prstGeom>
          <a:solidFill>
            <a:srgbClr val="C6F36B"/>
          </a:solidFill>
          <a:ln/>
        </p:spPr>
      </p:sp>
      <p:sp>
        <p:nvSpPr>
          <p:cNvPr id="11" name="Text 8"/>
          <p:cNvSpPr txBox="1"/>
          <p:nvPr/>
        </p:nvSpPr>
        <p:spPr>
          <a:xfrm>
            <a:off x="1124712" y="4892040"/>
            <a:ext cx="841248" cy="566928"/>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1  </a:t>
            </a:r>
            <a:pPr indent="0" marL="0">
              <a:buNone/>
            </a:pPr>
            <a:r>
              <a:rPr lang="en-US" sz="1300" b="1" dirty="0">
                <a:solidFill>
                  <a:srgbClr val="FFFFFF"/>
                </a:solidFill>
                <a:latin typeface="Calibri" pitchFamily="34" charset="0"/>
                <a:ea typeface="Calibri" pitchFamily="34" charset="-122"/>
                <a:cs typeface="Calibri" pitchFamily="34" charset="-120"/>
              </a:rPr>
              <a:t>Temel</a:t>
            </a:r>
            <a:endParaRPr lang="en-US" sz="1300" dirty="0"/>
          </a:p>
        </p:txBody>
      </p:sp>
      <p:sp>
        <p:nvSpPr>
          <p:cNvPr id="12" name="Shape 9"/>
          <p:cNvSpPr/>
          <p:nvPr/>
        </p:nvSpPr>
        <p:spPr>
          <a:xfrm>
            <a:off x="2075688"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3" name="Shape 10"/>
          <p:cNvSpPr/>
          <p:nvPr/>
        </p:nvSpPr>
        <p:spPr>
          <a:xfrm>
            <a:off x="2185416" y="5020056"/>
            <a:ext cx="45720" cy="310896"/>
          </a:xfrm>
          <a:prstGeom prst="rect">
            <a:avLst/>
          </a:prstGeom>
          <a:solidFill>
            <a:srgbClr val="82AAFF"/>
          </a:solidFill>
          <a:ln/>
        </p:spPr>
      </p:sp>
      <p:sp>
        <p:nvSpPr>
          <p:cNvPr id="14" name="Text 11"/>
          <p:cNvSpPr txBox="1"/>
          <p:nvPr/>
        </p:nvSpPr>
        <p:spPr>
          <a:xfrm>
            <a:off x="2331720" y="4892040"/>
            <a:ext cx="841248" cy="566928"/>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2  </a:t>
            </a:r>
            <a:pPr indent="0" marL="0">
              <a:buNone/>
            </a:pPr>
            <a:r>
              <a:rPr lang="en-US" sz="1300" b="1" dirty="0">
                <a:solidFill>
                  <a:srgbClr val="FFFFFF"/>
                </a:solidFill>
                <a:latin typeface="Calibri" pitchFamily="34" charset="0"/>
                <a:ea typeface="Calibri" pitchFamily="34" charset="-122"/>
                <a:cs typeface="Calibri" pitchFamily="34" charset="-120"/>
              </a:rPr>
              <a:t>Orta</a:t>
            </a:r>
            <a:endParaRPr lang="en-US" sz="1300" dirty="0"/>
          </a:p>
        </p:txBody>
      </p:sp>
      <p:sp>
        <p:nvSpPr>
          <p:cNvPr id="15" name="Shape 12"/>
          <p:cNvSpPr/>
          <p:nvPr/>
        </p:nvSpPr>
        <p:spPr>
          <a:xfrm>
            <a:off x="3282696"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6" name="Shape 13"/>
          <p:cNvSpPr/>
          <p:nvPr/>
        </p:nvSpPr>
        <p:spPr>
          <a:xfrm>
            <a:off x="3392424" y="5020056"/>
            <a:ext cx="45720" cy="310896"/>
          </a:xfrm>
          <a:prstGeom prst="rect">
            <a:avLst/>
          </a:prstGeom>
          <a:solidFill>
            <a:srgbClr val="A093FF"/>
          </a:solidFill>
          <a:ln/>
        </p:spPr>
      </p:sp>
      <p:sp>
        <p:nvSpPr>
          <p:cNvPr id="17" name="Text 14"/>
          <p:cNvSpPr txBox="1"/>
          <p:nvPr/>
        </p:nvSpPr>
        <p:spPr>
          <a:xfrm>
            <a:off x="3538728" y="4892040"/>
            <a:ext cx="841248" cy="566928"/>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3  </a:t>
            </a:r>
            <a:pPr indent="0" marL="0">
              <a:buNone/>
            </a:pPr>
            <a:r>
              <a:rPr lang="en-US" sz="1300" b="1" dirty="0">
                <a:solidFill>
                  <a:srgbClr val="FFFFFF"/>
                </a:solidFill>
                <a:latin typeface="Calibri" pitchFamily="34" charset="0"/>
                <a:ea typeface="Calibri" pitchFamily="34" charset="-122"/>
                <a:cs typeface="Calibri" pitchFamily="34" charset="-120"/>
              </a:rPr>
              <a:t>İleri</a:t>
            </a:r>
            <a:endParaRPr lang="en-US" sz="1300" dirty="0"/>
          </a:p>
        </p:txBody>
      </p:sp>
      <p:sp>
        <p:nvSpPr>
          <p:cNvPr id="18" name="Shape 15"/>
          <p:cNvSpPr/>
          <p:nvPr/>
        </p:nvSpPr>
        <p:spPr>
          <a:xfrm>
            <a:off x="4489704"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9" name="Shape 16"/>
          <p:cNvSpPr/>
          <p:nvPr/>
        </p:nvSpPr>
        <p:spPr>
          <a:xfrm>
            <a:off x="4599432" y="5020056"/>
            <a:ext cx="45720" cy="310896"/>
          </a:xfrm>
          <a:prstGeom prst="rect">
            <a:avLst/>
          </a:prstGeom>
          <a:solidFill>
            <a:srgbClr val="FFCB6B"/>
          </a:solidFill>
          <a:ln/>
        </p:spPr>
      </p:sp>
      <p:sp>
        <p:nvSpPr>
          <p:cNvPr id="20" name="Text 17"/>
          <p:cNvSpPr txBox="1"/>
          <p:nvPr/>
        </p:nvSpPr>
        <p:spPr>
          <a:xfrm>
            <a:off x="4745736" y="4892040"/>
            <a:ext cx="841248" cy="566928"/>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4  </a:t>
            </a:r>
            <a:pPr indent="0" marL="0">
              <a:buNone/>
            </a:pPr>
            <a:r>
              <a:rPr lang="en-US" sz="1300" b="1" dirty="0">
                <a:solidFill>
                  <a:srgbClr val="FFFFFF"/>
                </a:solidFill>
                <a:latin typeface="Calibri" pitchFamily="34" charset="0"/>
                <a:ea typeface="Calibri" pitchFamily="34" charset="-122"/>
                <a:cs typeface="Calibri" pitchFamily="34" charset="-120"/>
              </a:rPr>
              <a:t>Pekiştir</a:t>
            </a:r>
            <a:endParaRPr lang="en-US" sz="1300" dirty="0"/>
          </a:p>
        </p:txBody>
      </p:sp>
      <p:sp>
        <p:nvSpPr>
          <p:cNvPr id="21" name="Shape 18"/>
          <p:cNvSpPr/>
          <p:nvPr/>
        </p:nvSpPr>
        <p:spPr>
          <a:xfrm>
            <a:off x="9448495" y="6309360"/>
            <a:ext cx="2103120" cy="274320"/>
          </a:xfrm>
          <a:prstGeom prst="roundRect">
            <a:avLst>
              <a:gd name="adj" fmla="val 50000"/>
            </a:avLst>
          </a:prstGeom>
          <a:solidFill>
            <a:srgbClr val="0E1426">
              <a:alpha val="65000"/>
            </a:srgbClr>
          </a:solidFill>
          <a:ln/>
        </p:spPr>
      </p:sp>
      <p:sp>
        <p:nvSpPr>
          <p:cNvPr id="22" name="Text 19"/>
          <p:cNvSpPr txBox="1"/>
          <p:nvPr/>
        </p:nvSpPr>
        <p:spPr>
          <a:xfrm>
            <a:off x="9448495" y="6309360"/>
            <a:ext cx="2103120" cy="274320"/>
          </a:xfrm>
          <a:prstGeom prst="rect">
            <a:avLst/>
          </a:prstGeom>
          <a:noFill/>
          <a:ln/>
        </p:spPr>
        <p:txBody>
          <a:bodyPr wrap="square" lIns="0" tIns="0" rIns="0" bIns="0" rtlCol="0" anchor="ctr"/>
          <a:lstStyle/>
          <a:p>
            <a:pPr algn="ctr" indent="0" marL="0">
              <a:buNone/>
            </a:pPr>
            <a:r>
              <a:rPr lang="en-US" sz="900" dirty="0">
                <a:solidFill>
                  <a:srgbClr val="E4E9F5"/>
                </a:solidFill>
                <a:latin typeface="Calibri" pitchFamily="34" charset="0"/>
                <a:ea typeface="Calibri" pitchFamily="34" charset="-122"/>
                <a:cs typeface="Calibri" pitchFamily="34" charset="-120"/>
              </a:rPr>
              <a:t>Görsel: yapay zekâ ile üretildi</a:t>
            </a:r>
            <a:endParaRPr lang="en-US" sz="900" dirty="0"/>
          </a:p>
        </p:txBody>
      </p:sp>
      <p:sp>
        <p:nvSpPr>
          <p:cNvPr id="23" name="Shape 20"/>
          <p:cNvSpPr/>
          <p:nvPr/>
        </p:nvSpPr>
        <p:spPr>
          <a:xfrm>
            <a:off x="640080" y="6382512"/>
            <a:ext cx="128016" cy="128016"/>
          </a:xfrm>
          <a:prstGeom prst="roundRect">
            <a:avLst>
              <a:gd name="adj" fmla="val 28571"/>
            </a:avLst>
          </a:prstGeom>
          <a:solidFill>
            <a:srgbClr val="C6F36B"/>
          </a:solidFill>
          <a:ln/>
        </p:spPr>
      </p:sp>
      <p:sp>
        <p:nvSpPr>
          <p:cNvPr id="24" name="Text 2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dersler.perinet.org/surtunme-kuvveti.html</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Başlarken</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Konuya günlük bir soruyla giriyoruz.</a:t>
            </a:r>
            <a:endParaRPr lang="en-US" sz="1450" dirty="0"/>
          </a:p>
        </p:txBody>
      </p:sp>
      <p:sp>
        <p:nvSpPr>
          <p:cNvPr id="6" name="Shape 4"/>
          <p:cNvSpPr/>
          <p:nvPr/>
        </p:nvSpPr>
        <p:spPr>
          <a:xfrm>
            <a:off x="1188720" y="1828800"/>
            <a:ext cx="9814255" cy="3931920"/>
          </a:xfrm>
          <a:prstGeom prst="roundRect">
            <a:avLst>
              <a:gd name="adj" fmla="val 5116"/>
            </a:avLst>
          </a:prstGeom>
          <a:solidFill>
            <a:srgbClr val="FFFFFF"/>
          </a:solidFill>
          <a:ln w="9525">
            <a:solidFill>
              <a:srgbClr val="CFC8F5"/>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225296" y="2286000"/>
            <a:ext cx="64008" cy="3017520"/>
          </a:xfrm>
          <a:prstGeom prst="rect">
            <a:avLst/>
          </a:prstGeom>
          <a:solidFill>
            <a:srgbClr val="5F4BD8"/>
          </a:solidFill>
          <a:ln/>
        </p:spPr>
      </p:sp>
      <p:sp>
        <p:nvSpPr>
          <p:cNvPr id="8" name="Text 6"/>
          <p:cNvSpPr txBox="1"/>
          <p:nvPr/>
        </p:nvSpPr>
        <p:spPr>
          <a:xfrm>
            <a:off x="1828800" y="2194560"/>
            <a:ext cx="8534095" cy="3200400"/>
          </a:xfrm>
          <a:prstGeom prst="rect">
            <a:avLst/>
          </a:prstGeom>
          <a:noFill/>
          <a:ln/>
        </p:spPr>
        <p:txBody>
          <a:bodyPr wrap="square" lIns="0" tIns="0" rIns="0" bIns="0" rtlCol="0" anchor="ctr"/>
          <a:lstStyle/>
          <a:p>
            <a:pPr indent="0" marL="0">
              <a:lnSpc>
                <a:spcPct val="130000"/>
              </a:lnSpc>
              <a:buNone/>
            </a:pPr>
            <a:r>
              <a:rPr lang="en-US" sz="1950" dirty="0">
                <a:solidFill>
                  <a:srgbClr val="0E1426"/>
                </a:solidFill>
                <a:latin typeface="Cambria" pitchFamily="34" charset="0"/>
                <a:ea typeface="Cambria" pitchFamily="34" charset="-122"/>
                <a:cs typeface="Cambria" pitchFamily="34" charset="-120"/>
              </a:rPr>
              <a:t>Ağır bir sandığı itmeye başladığında neden önce hiç kıpırdamaz, sonra bir anda kurtulup daha kolay kaymaya başlar?</a:t>
            </a:r>
            <a:pPr indent="0" marL="0">
              <a:lnSpc>
                <a:spcPct val="130000"/>
              </a:lnSpc>
              <a:buNone/>
            </a:pPr>
            <a:r>
              <a:rPr lang="en-US" sz="195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1950" dirty="0">
                <a:solidFill>
                  <a:srgbClr val="0E1426"/>
                </a:solidFill>
                <a:latin typeface="Cambria" pitchFamily="34" charset="0"/>
                <a:ea typeface="Cambria" pitchFamily="34" charset="-122"/>
                <a:cs typeface="Cambria" pitchFamily="34" charset="-120"/>
              </a:rPr>
              <a:t>Yürüyebilmemizin, frene basınca durabilmemizin, bir bardağı elimizde tutabilmemizin sorumlusu hep aynı kuvvet.</a:t>
            </a:r>
            <a:pPr indent="0" marL="0">
              <a:lnSpc>
                <a:spcPct val="130000"/>
              </a:lnSpc>
              <a:buNone/>
            </a:pPr>
            <a:r>
              <a:rPr lang="en-US" sz="195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1950" dirty="0">
                <a:solidFill>
                  <a:srgbClr val="0E1426"/>
                </a:solidFill>
                <a:latin typeface="Cambria" pitchFamily="34" charset="0"/>
                <a:ea typeface="Cambria" pitchFamily="34" charset="-122"/>
                <a:cs typeface="Cambria" pitchFamily="34" charset="-120"/>
              </a:rPr>
              <a:t>Aynı kuvvet motorları aşındırır, yakıt yakar ve buzda arabayı savurur.</a:t>
            </a:r>
            <a:pPr indent="0" marL="0">
              <a:lnSpc>
                <a:spcPct val="130000"/>
              </a:lnSpc>
              <a:buNone/>
            </a:pPr>
            <a:r>
              <a:rPr lang="en-US" sz="195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1950" dirty="0">
                <a:solidFill>
                  <a:srgbClr val="0E1426"/>
                </a:solidFill>
                <a:latin typeface="Cambria" pitchFamily="34" charset="0"/>
                <a:ea typeface="Cambria" pitchFamily="34" charset="-122"/>
                <a:cs typeface="Cambria" pitchFamily="34" charset="-120"/>
              </a:rPr>
              <a:t>Bu yüzden sürtünmeyi "iyi" ya da "kötü" diye değil, </a:t>
            </a:r>
            <a:pPr indent="0" marL="0">
              <a:lnSpc>
                <a:spcPct val="130000"/>
              </a:lnSpc>
              <a:buNone/>
            </a:pPr>
            <a:r>
              <a:rPr lang="en-US" sz="1950" b="1" dirty="0">
                <a:solidFill>
                  <a:srgbClr val="5F4BD8"/>
                </a:solidFill>
                <a:latin typeface="Cambria" pitchFamily="34" charset="0"/>
                <a:ea typeface="Cambria" pitchFamily="34" charset="-122"/>
                <a:cs typeface="Cambria" pitchFamily="34" charset="-120"/>
              </a:rPr>
              <a:t>ne zaman ne kadar ortaya çıktığını hesaplayabildiğimiz bir kuvvet</a:t>
            </a:r>
            <a:pPr indent="0" marL="0">
              <a:lnSpc>
                <a:spcPct val="130000"/>
              </a:lnSpc>
              <a:buNone/>
            </a:pPr>
            <a:r>
              <a:rPr lang="en-US" sz="1950" dirty="0">
                <a:solidFill>
                  <a:srgbClr val="0E1426"/>
                </a:solidFill>
                <a:latin typeface="Cambria" pitchFamily="34" charset="0"/>
                <a:ea typeface="Cambria" pitchFamily="34" charset="-122"/>
                <a:cs typeface="Cambria" pitchFamily="34" charset="-120"/>
              </a:rPr>
              <a:t> olarak öğreniyoruz — ve şaşırtıcı biçimde temas alanının bununla hiç ilgisi yok.</a:t>
            </a:r>
            <a:endParaRPr lang="en-US" sz="1950" dirty="0"/>
          </a:p>
        </p:txBody>
      </p:sp>
      <p:sp>
        <p:nvSpPr>
          <p:cNvPr id="9" name="Shape 7"/>
          <p:cNvSpPr/>
          <p:nvPr/>
        </p:nvSpPr>
        <p:spPr>
          <a:xfrm>
            <a:off x="640080" y="6382512"/>
            <a:ext cx="128016" cy="128016"/>
          </a:xfrm>
          <a:prstGeom prst="roundRect">
            <a:avLst>
              <a:gd name="adj" fmla="val 28571"/>
            </a:avLst>
          </a:prstGeom>
          <a:solidFill>
            <a:srgbClr val="A9E648"/>
          </a:solidFill>
          <a:ln/>
        </p:spPr>
      </p:sp>
      <p:sp>
        <p:nvSpPr>
          <p:cNvPr id="10"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dersler.perinet.org/surtunme-kuvveti.html</a:t>
            </a:r>
            <a:endParaRPr lang="en-US" sz="1050" dirty="0"/>
          </a:p>
        </p:txBody>
      </p:sp>
      <p:sp>
        <p:nvSpPr>
          <p:cNvPr id="11"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Bu derste</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Dört basamak, kolaydan zora: önce sezgi, sonra bağıntılar, sonra derinleşme; en sonda pekiştirme.</a:t>
            </a:r>
            <a:endParaRPr lang="en-US" sz="1450" dirty="0"/>
          </a:p>
        </p:txBody>
      </p:sp>
      <p:sp>
        <p:nvSpPr>
          <p:cNvPr id="6" name="Shape 4"/>
          <p:cNvSpPr/>
          <p:nvPr/>
        </p:nvSpPr>
        <p:spPr>
          <a:xfrm>
            <a:off x="640080"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822960" y="1645920"/>
            <a:ext cx="2211248" cy="64008"/>
          </a:xfrm>
          <a:prstGeom prst="rect">
            <a:avLst/>
          </a:prstGeom>
          <a:solidFill>
            <a:srgbClr val="3C8C21"/>
          </a:solidFill>
          <a:ln/>
        </p:spPr>
      </p:sp>
      <p:sp>
        <p:nvSpPr>
          <p:cNvPr id="8" name="Shape 6"/>
          <p:cNvSpPr/>
          <p:nvPr/>
        </p:nvSpPr>
        <p:spPr>
          <a:xfrm>
            <a:off x="859536" y="1920240"/>
            <a:ext cx="420624" cy="420624"/>
          </a:xfrm>
          <a:prstGeom prst="roundRect">
            <a:avLst>
              <a:gd name="adj" fmla="val 26000"/>
            </a:avLst>
          </a:prstGeom>
          <a:solidFill>
            <a:srgbClr val="3C8C21"/>
          </a:solidFill>
          <a:ln/>
        </p:spPr>
      </p:sp>
      <p:sp>
        <p:nvSpPr>
          <p:cNvPr id="9" name="Text 7"/>
          <p:cNvSpPr txBox="1"/>
          <p:nvPr/>
        </p:nvSpPr>
        <p:spPr>
          <a:xfrm>
            <a:off x="859536"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408176"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Temel</a:t>
            </a:r>
            <a:endParaRPr lang="en-US" sz="1900" dirty="0"/>
          </a:p>
        </p:txBody>
      </p:sp>
      <p:sp>
        <p:nvSpPr>
          <p:cNvPr id="11" name="Text 9"/>
          <p:cNvSpPr txBox="1"/>
          <p:nvPr/>
        </p:nvSpPr>
        <p:spPr>
          <a:xfrm>
            <a:off x="859536" y="2487168"/>
            <a:ext cx="2138096" cy="868680"/>
          </a:xfrm>
          <a:prstGeom prst="rect">
            <a:avLst/>
          </a:prstGeom>
          <a:noFill/>
          <a:ln/>
        </p:spPr>
        <p:txBody>
          <a:bodyPr wrap="square" lIns="0" tIns="0" rIns="0" bIns="0" rtlCol="0" anchor="t"/>
          <a:lstStyle/>
          <a:p>
            <a:pPr indent="0" marL="0">
              <a:lnSpc>
                <a:spcPct val="110000"/>
              </a:lnSpc>
              <a:buNone/>
            </a:pPr>
            <a:r>
              <a:rPr lang="en-US" sz="1000" dirty="0">
                <a:solidFill>
                  <a:srgbClr val="4A5470"/>
                </a:solidFill>
                <a:latin typeface="Calibri" pitchFamily="34" charset="0"/>
                <a:ea typeface="Calibri" pitchFamily="34" charset="-122"/>
                <a:cs typeface="Calibri" pitchFamily="34" charset="-120"/>
              </a:rPr>
              <a:t>Önce sezgi: sürtünmeyi gündelik sahnelerde gözle, adını koy ve durgun cisimle kayan cisim arasındaki farkı gör. Bu basamakta hesap yok denecek kadar az.</a:t>
            </a:r>
            <a:endParaRPr lang="en-US" sz="1000" dirty="0"/>
          </a:p>
        </p:txBody>
      </p:sp>
      <p:sp>
        <p:nvSpPr>
          <p:cNvPr id="12" name="Shape 10"/>
          <p:cNvSpPr/>
          <p:nvPr/>
        </p:nvSpPr>
        <p:spPr>
          <a:xfrm>
            <a:off x="859536" y="3429000"/>
            <a:ext cx="2138096" cy="0"/>
          </a:xfrm>
          <a:prstGeom prst="line">
            <a:avLst/>
          </a:prstGeom>
          <a:noFill/>
          <a:ln w="9525">
            <a:solidFill>
              <a:srgbClr val="E1E5EE"/>
            </a:solidFill>
            <a:prstDash val="dash"/>
          </a:ln>
        </p:spPr>
      </p:sp>
      <p:sp>
        <p:nvSpPr>
          <p:cNvPr id="13" name="Text 11"/>
          <p:cNvSpPr txBox="1"/>
          <p:nvPr/>
        </p:nvSpPr>
        <p:spPr>
          <a:xfrm>
            <a:off x="859536" y="3566160"/>
            <a:ext cx="384048" cy="603504"/>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01</a:t>
            </a:r>
            <a:endParaRPr lang="en-US" sz="1100" dirty="0"/>
          </a:p>
        </p:txBody>
      </p:sp>
      <p:sp>
        <p:nvSpPr>
          <p:cNvPr id="14" name="Text 12"/>
          <p:cNvSpPr txBox="1"/>
          <p:nvPr/>
        </p:nvSpPr>
        <p:spPr>
          <a:xfrm>
            <a:off x="1243584" y="3566160"/>
            <a:ext cx="1754048" cy="603504"/>
          </a:xfrm>
          <a:prstGeom prst="rect">
            <a:avLst/>
          </a:prstGeom>
          <a:noFill/>
          <a:ln/>
        </p:spPr>
        <p:txBody>
          <a:bodyPr wrap="square" lIns="0" tIns="0" rIns="0" bIns="0" rtlCol="0" anchor="t"/>
          <a:lstStyle/>
          <a:p>
            <a:pPr indent="0" marL="0">
              <a:lnSpc>
                <a:spcPct val="105000"/>
              </a:lnSpc>
              <a:buNone/>
            </a:pPr>
            <a:r>
              <a:rPr lang="en-US" sz="1200" b="1" dirty="0">
                <a:solidFill>
                  <a:srgbClr val="0E1426"/>
                </a:solidFill>
                <a:latin typeface="Calibri" pitchFamily="34" charset="0"/>
                <a:ea typeface="Calibri" pitchFamily="34" charset="-122"/>
                <a:cs typeface="Calibri" pitchFamily="34" charset="-120"/>
              </a:rPr>
              <a:t>Önce gözlemle: sürtünme ne zaman ortaya çıkar?</a:t>
            </a:r>
            <a:endParaRPr lang="en-US" sz="1200" dirty="0"/>
          </a:p>
        </p:txBody>
      </p:sp>
      <p:sp>
        <p:nvSpPr>
          <p:cNvPr id="15" name="Text 13"/>
          <p:cNvSpPr txBox="1"/>
          <p:nvPr/>
        </p:nvSpPr>
        <p:spPr>
          <a:xfrm>
            <a:off x="859536" y="4224528"/>
            <a:ext cx="384048" cy="603504"/>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02</a:t>
            </a:r>
            <a:endParaRPr lang="en-US" sz="1100" dirty="0"/>
          </a:p>
        </p:txBody>
      </p:sp>
      <p:sp>
        <p:nvSpPr>
          <p:cNvPr id="16" name="Text 14"/>
          <p:cNvSpPr txBox="1"/>
          <p:nvPr/>
        </p:nvSpPr>
        <p:spPr>
          <a:xfrm>
            <a:off x="1243584" y="4224528"/>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Sürtünme kuvveti nedir?</a:t>
            </a:r>
            <a:endParaRPr lang="en-US" sz="1250" dirty="0"/>
          </a:p>
        </p:txBody>
      </p:sp>
      <p:sp>
        <p:nvSpPr>
          <p:cNvPr id="17" name="Text 15"/>
          <p:cNvSpPr txBox="1"/>
          <p:nvPr/>
        </p:nvSpPr>
        <p:spPr>
          <a:xfrm>
            <a:off x="859536" y="4882896"/>
            <a:ext cx="384048" cy="603504"/>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03</a:t>
            </a:r>
            <a:endParaRPr lang="en-US" sz="1100" dirty="0"/>
          </a:p>
        </p:txBody>
      </p:sp>
      <p:sp>
        <p:nvSpPr>
          <p:cNvPr id="18" name="Text 16"/>
          <p:cNvSpPr txBox="1"/>
          <p:nvPr/>
        </p:nvSpPr>
        <p:spPr>
          <a:xfrm>
            <a:off x="1243584" y="4882896"/>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Durgunken ve kayarken: iki tür sürtünme</a:t>
            </a:r>
            <a:endParaRPr lang="en-US" sz="1250" dirty="0"/>
          </a:p>
        </p:txBody>
      </p:sp>
      <p:sp>
        <p:nvSpPr>
          <p:cNvPr id="19" name="Shape 17"/>
          <p:cNvSpPr/>
          <p:nvPr/>
        </p:nvSpPr>
        <p:spPr>
          <a:xfrm>
            <a:off x="3418256"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0" name="Shape 18"/>
          <p:cNvSpPr/>
          <p:nvPr/>
        </p:nvSpPr>
        <p:spPr>
          <a:xfrm>
            <a:off x="3601136" y="1645920"/>
            <a:ext cx="2211248" cy="64008"/>
          </a:xfrm>
          <a:prstGeom prst="rect">
            <a:avLst/>
          </a:prstGeom>
          <a:solidFill>
            <a:srgbClr val="2957D4"/>
          </a:solidFill>
          <a:ln/>
        </p:spPr>
      </p:sp>
      <p:sp>
        <p:nvSpPr>
          <p:cNvPr id="21" name="Shape 19"/>
          <p:cNvSpPr/>
          <p:nvPr/>
        </p:nvSpPr>
        <p:spPr>
          <a:xfrm>
            <a:off x="3637712" y="1920240"/>
            <a:ext cx="420624" cy="420624"/>
          </a:xfrm>
          <a:prstGeom prst="roundRect">
            <a:avLst>
              <a:gd name="adj" fmla="val 26000"/>
            </a:avLst>
          </a:prstGeom>
          <a:solidFill>
            <a:srgbClr val="2957D4"/>
          </a:solidFill>
          <a:ln/>
        </p:spPr>
      </p:sp>
      <p:sp>
        <p:nvSpPr>
          <p:cNvPr id="22" name="Text 20"/>
          <p:cNvSpPr txBox="1"/>
          <p:nvPr/>
        </p:nvSpPr>
        <p:spPr>
          <a:xfrm>
            <a:off x="3637712"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3" name="Text 21"/>
          <p:cNvSpPr txBox="1"/>
          <p:nvPr/>
        </p:nvSpPr>
        <p:spPr>
          <a:xfrm>
            <a:off x="4186352"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Orta</a:t>
            </a:r>
            <a:endParaRPr lang="en-US" sz="1900" dirty="0"/>
          </a:p>
        </p:txBody>
      </p:sp>
      <p:sp>
        <p:nvSpPr>
          <p:cNvPr id="24" name="Text 22"/>
          <p:cNvSpPr txBox="1"/>
          <p:nvPr/>
        </p:nvSpPr>
        <p:spPr>
          <a:xfrm>
            <a:off x="3637712" y="2487168"/>
            <a:ext cx="2138096" cy="868680"/>
          </a:xfrm>
          <a:prstGeom prst="rect">
            <a:avLst/>
          </a:prstGeom>
          <a:noFill/>
          <a:ln/>
        </p:spPr>
        <p:txBody>
          <a:bodyPr wrap="square" lIns="0" tIns="0" rIns="0" bIns="0" rtlCol="0" anchor="t"/>
          <a:lstStyle/>
          <a:p>
            <a:pPr indent="0" marL="0">
              <a:lnSpc>
                <a:spcPct val="110000"/>
              </a:lnSpc>
              <a:buNone/>
            </a:pPr>
            <a:r>
              <a:rPr lang="en-US" sz="1150" dirty="0">
                <a:solidFill>
                  <a:srgbClr val="4A5470"/>
                </a:solidFill>
                <a:latin typeface="Calibri" pitchFamily="34" charset="0"/>
                <a:ea typeface="Calibri" pitchFamily="34" charset="-122"/>
                <a:cs typeface="Calibri" pitchFamily="34" charset="-120"/>
              </a:rPr>
              <a:t>Bağıntılar: eşiği sayıyla yaz, katsayıyı tanı; sonra eğik düzlemde ve frenlemede sürtünmeyi adım adım hesapla.</a:t>
            </a:r>
            <a:endParaRPr lang="en-US" sz="1150" dirty="0"/>
          </a:p>
        </p:txBody>
      </p:sp>
      <p:sp>
        <p:nvSpPr>
          <p:cNvPr id="25" name="Shape 23"/>
          <p:cNvSpPr/>
          <p:nvPr/>
        </p:nvSpPr>
        <p:spPr>
          <a:xfrm>
            <a:off x="3637712" y="3429000"/>
            <a:ext cx="2138096" cy="0"/>
          </a:xfrm>
          <a:prstGeom prst="line">
            <a:avLst/>
          </a:prstGeom>
          <a:noFill/>
          <a:ln w="9525">
            <a:solidFill>
              <a:srgbClr val="E1E5EE"/>
            </a:solidFill>
            <a:prstDash val="dash"/>
          </a:ln>
        </p:spPr>
      </p:sp>
      <p:sp>
        <p:nvSpPr>
          <p:cNvPr id="26" name="Text 24"/>
          <p:cNvSpPr txBox="1"/>
          <p:nvPr/>
        </p:nvSpPr>
        <p:spPr>
          <a:xfrm>
            <a:off x="3637712" y="3566160"/>
            <a:ext cx="384048" cy="45171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04</a:t>
            </a:r>
            <a:endParaRPr lang="en-US" sz="1100" dirty="0"/>
          </a:p>
        </p:txBody>
      </p:sp>
      <p:sp>
        <p:nvSpPr>
          <p:cNvPr id="27" name="Text 25"/>
          <p:cNvSpPr txBox="1"/>
          <p:nvPr/>
        </p:nvSpPr>
        <p:spPr>
          <a:xfrm>
            <a:off x="4021760" y="3566160"/>
            <a:ext cx="1754048" cy="45171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Sürtünme katsayısı ve temel bağıntılar</a:t>
            </a:r>
            <a:endParaRPr lang="en-US" sz="1250" dirty="0"/>
          </a:p>
        </p:txBody>
      </p:sp>
      <p:sp>
        <p:nvSpPr>
          <p:cNvPr id="28" name="Text 26"/>
          <p:cNvSpPr txBox="1"/>
          <p:nvPr/>
        </p:nvSpPr>
        <p:spPr>
          <a:xfrm>
            <a:off x="3637712" y="4072738"/>
            <a:ext cx="384048" cy="45171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05</a:t>
            </a:r>
            <a:endParaRPr lang="en-US" sz="1100" dirty="0"/>
          </a:p>
        </p:txBody>
      </p:sp>
      <p:sp>
        <p:nvSpPr>
          <p:cNvPr id="29" name="Text 27"/>
          <p:cNvSpPr txBox="1"/>
          <p:nvPr/>
        </p:nvSpPr>
        <p:spPr>
          <a:xfrm>
            <a:off x="4021760" y="4072738"/>
            <a:ext cx="1754048" cy="45171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Sürtünme neye bağlı, neye bağlı değil?</a:t>
            </a:r>
            <a:endParaRPr lang="en-US" sz="1250" dirty="0"/>
          </a:p>
        </p:txBody>
      </p:sp>
      <p:sp>
        <p:nvSpPr>
          <p:cNvPr id="30" name="Text 28"/>
          <p:cNvSpPr txBox="1"/>
          <p:nvPr/>
        </p:nvSpPr>
        <p:spPr>
          <a:xfrm>
            <a:off x="3637712" y="4579315"/>
            <a:ext cx="384048" cy="45171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06</a:t>
            </a:r>
            <a:endParaRPr lang="en-US" sz="1100" dirty="0"/>
          </a:p>
        </p:txBody>
      </p:sp>
      <p:sp>
        <p:nvSpPr>
          <p:cNvPr id="31" name="Text 29"/>
          <p:cNvSpPr txBox="1"/>
          <p:nvPr/>
        </p:nvSpPr>
        <p:spPr>
          <a:xfrm>
            <a:off x="4021760" y="4579315"/>
            <a:ext cx="1754048" cy="451714"/>
          </a:xfrm>
          <a:prstGeom prst="rect">
            <a:avLst/>
          </a:prstGeom>
          <a:noFill/>
          <a:ln/>
        </p:spPr>
        <p:txBody>
          <a:bodyPr wrap="square" lIns="0" tIns="0" rIns="0" bIns="0" rtlCol="0" anchor="t"/>
          <a:lstStyle/>
          <a:p>
            <a:pPr indent="0" marL="0">
              <a:lnSpc>
                <a:spcPct val="105000"/>
              </a:lnSpc>
              <a:buNone/>
            </a:pPr>
            <a:r>
              <a:rPr lang="en-US" sz="1000" b="1" dirty="0">
                <a:solidFill>
                  <a:srgbClr val="0E1426"/>
                </a:solidFill>
                <a:latin typeface="Calibri" pitchFamily="34" charset="0"/>
                <a:ea typeface="Calibri" pitchFamily="34" charset="-122"/>
                <a:cs typeface="Calibri" pitchFamily="34" charset="-120"/>
              </a:rPr>
              <a:t>Sayılarla hisset: ne kadar kuvvet, ne kadar yavaşlama?</a:t>
            </a:r>
            <a:endParaRPr lang="en-US" sz="1000" dirty="0"/>
          </a:p>
        </p:txBody>
      </p:sp>
      <p:sp>
        <p:nvSpPr>
          <p:cNvPr id="32" name="Text 30"/>
          <p:cNvSpPr txBox="1"/>
          <p:nvPr/>
        </p:nvSpPr>
        <p:spPr>
          <a:xfrm>
            <a:off x="3637712" y="5085893"/>
            <a:ext cx="384048" cy="45171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07</a:t>
            </a:r>
            <a:endParaRPr lang="en-US" sz="1100" dirty="0"/>
          </a:p>
        </p:txBody>
      </p:sp>
      <p:sp>
        <p:nvSpPr>
          <p:cNvPr id="33" name="Text 31"/>
          <p:cNvSpPr txBox="1"/>
          <p:nvPr/>
        </p:nvSpPr>
        <p:spPr>
          <a:xfrm>
            <a:off x="4021760" y="5085893"/>
            <a:ext cx="1754048" cy="45171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Eğik düzlemde sürtünme</a:t>
            </a:r>
            <a:endParaRPr lang="en-US" sz="1250" dirty="0"/>
          </a:p>
        </p:txBody>
      </p:sp>
      <p:sp>
        <p:nvSpPr>
          <p:cNvPr id="34" name="Text 32"/>
          <p:cNvSpPr txBox="1"/>
          <p:nvPr/>
        </p:nvSpPr>
        <p:spPr>
          <a:xfrm>
            <a:off x="3637712" y="5592470"/>
            <a:ext cx="384048" cy="45171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08</a:t>
            </a:r>
            <a:endParaRPr lang="en-US" sz="1100" dirty="0"/>
          </a:p>
        </p:txBody>
      </p:sp>
      <p:sp>
        <p:nvSpPr>
          <p:cNvPr id="35" name="Text 33"/>
          <p:cNvSpPr txBox="1"/>
          <p:nvPr/>
        </p:nvSpPr>
        <p:spPr>
          <a:xfrm>
            <a:off x="4021760" y="5592470"/>
            <a:ext cx="1754048" cy="45171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Fren mesafesi ve trafik</a:t>
            </a:r>
            <a:endParaRPr lang="en-US" sz="1250" dirty="0"/>
          </a:p>
        </p:txBody>
      </p:sp>
      <p:sp>
        <p:nvSpPr>
          <p:cNvPr id="36" name="Shape 34"/>
          <p:cNvSpPr/>
          <p:nvPr/>
        </p:nvSpPr>
        <p:spPr>
          <a:xfrm>
            <a:off x="6196432"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37" name="Shape 35"/>
          <p:cNvSpPr/>
          <p:nvPr/>
        </p:nvSpPr>
        <p:spPr>
          <a:xfrm>
            <a:off x="6379312" y="1645920"/>
            <a:ext cx="2211248" cy="64008"/>
          </a:xfrm>
          <a:prstGeom prst="rect">
            <a:avLst/>
          </a:prstGeom>
          <a:solidFill>
            <a:srgbClr val="5F4BD8"/>
          </a:solidFill>
          <a:ln/>
        </p:spPr>
      </p:sp>
      <p:sp>
        <p:nvSpPr>
          <p:cNvPr id="38" name="Shape 36"/>
          <p:cNvSpPr/>
          <p:nvPr/>
        </p:nvSpPr>
        <p:spPr>
          <a:xfrm>
            <a:off x="6415888" y="1920240"/>
            <a:ext cx="420624" cy="420624"/>
          </a:xfrm>
          <a:prstGeom prst="roundRect">
            <a:avLst>
              <a:gd name="adj" fmla="val 26000"/>
            </a:avLst>
          </a:prstGeom>
          <a:solidFill>
            <a:srgbClr val="5F4BD8"/>
          </a:solidFill>
          <a:ln/>
        </p:spPr>
      </p:sp>
      <p:sp>
        <p:nvSpPr>
          <p:cNvPr id="39" name="Text 37"/>
          <p:cNvSpPr txBox="1"/>
          <p:nvPr/>
        </p:nvSpPr>
        <p:spPr>
          <a:xfrm>
            <a:off x="6415888"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0" name="Text 38"/>
          <p:cNvSpPr txBox="1"/>
          <p:nvPr/>
        </p:nvSpPr>
        <p:spPr>
          <a:xfrm>
            <a:off x="6964528"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İleri</a:t>
            </a:r>
            <a:endParaRPr lang="en-US" sz="1900" dirty="0"/>
          </a:p>
        </p:txBody>
      </p:sp>
      <p:sp>
        <p:nvSpPr>
          <p:cNvPr id="41" name="Text 39"/>
          <p:cNvSpPr txBox="1"/>
          <p:nvPr/>
        </p:nvSpPr>
        <p:spPr>
          <a:xfrm>
            <a:off x="6415888" y="2487168"/>
            <a:ext cx="2138096" cy="868680"/>
          </a:xfrm>
          <a:prstGeom prst="rect">
            <a:avLst/>
          </a:prstGeom>
          <a:noFill/>
          <a:ln/>
        </p:spPr>
        <p:txBody>
          <a:bodyPr wrap="square" lIns="0" tIns="0" rIns="0" bIns="0" rtlCol="0" anchor="t"/>
          <a:lstStyle/>
          <a:p>
            <a:pPr indent="0" marL="0">
              <a:lnSpc>
                <a:spcPct val="110000"/>
              </a:lnSpc>
              <a:buNone/>
            </a:pPr>
            <a:r>
              <a:rPr lang="en-US" sz="1050" dirty="0">
                <a:solidFill>
                  <a:srgbClr val="4A5470"/>
                </a:solidFill>
                <a:latin typeface="Calibri" pitchFamily="34" charset="0"/>
                <a:ea typeface="Calibri" pitchFamily="34" charset="-122"/>
                <a:cs typeface="Calibri" pitchFamily="34" charset="-120"/>
              </a:rPr>
              <a:t>Derinleşme: normal kuvvet değişince, tekerlek dönünce ve basit model zorlanınca ne olur; sonra sürtünme gerçek hayatta.</a:t>
            </a:r>
            <a:endParaRPr lang="en-US" sz="1050" dirty="0"/>
          </a:p>
        </p:txBody>
      </p:sp>
      <p:sp>
        <p:nvSpPr>
          <p:cNvPr id="42" name="Shape 40"/>
          <p:cNvSpPr/>
          <p:nvPr/>
        </p:nvSpPr>
        <p:spPr>
          <a:xfrm>
            <a:off x="6415888" y="3429000"/>
            <a:ext cx="2138096" cy="0"/>
          </a:xfrm>
          <a:prstGeom prst="line">
            <a:avLst/>
          </a:prstGeom>
          <a:noFill/>
          <a:ln w="9525">
            <a:solidFill>
              <a:srgbClr val="E1E5EE"/>
            </a:solidFill>
            <a:prstDash val="dash"/>
          </a:ln>
        </p:spPr>
      </p:sp>
      <p:sp>
        <p:nvSpPr>
          <p:cNvPr id="43" name="Text 41"/>
          <p:cNvSpPr txBox="1"/>
          <p:nvPr/>
        </p:nvSpPr>
        <p:spPr>
          <a:xfrm>
            <a:off x="6415888" y="3566160"/>
            <a:ext cx="384048" cy="603504"/>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09</a:t>
            </a:r>
            <a:endParaRPr lang="en-US" sz="1100" dirty="0"/>
          </a:p>
        </p:txBody>
      </p:sp>
      <p:sp>
        <p:nvSpPr>
          <p:cNvPr id="44" name="Text 42"/>
          <p:cNvSpPr txBox="1"/>
          <p:nvPr/>
        </p:nvSpPr>
        <p:spPr>
          <a:xfrm>
            <a:off x="6799936" y="3566160"/>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Normal kuvvet her zaman m·g değildir</a:t>
            </a:r>
            <a:endParaRPr lang="en-US" sz="1250" dirty="0"/>
          </a:p>
        </p:txBody>
      </p:sp>
      <p:sp>
        <p:nvSpPr>
          <p:cNvPr id="45" name="Text 43"/>
          <p:cNvSpPr txBox="1"/>
          <p:nvPr/>
        </p:nvSpPr>
        <p:spPr>
          <a:xfrm>
            <a:off x="6415888" y="4224528"/>
            <a:ext cx="384048" cy="603504"/>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10</a:t>
            </a:r>
            <a:endParaRPr lang="en-US" sz="1100" dirty="0"/>
          </a:p>
        </p:txBody>
      </p:sp>
      <p:sp>
        <p:nvSpPr>
          <p:cNvPr id="46" name="Text 44"/>
          <p:cNvSpPr txBox="1"/>
          <p:nvPr/>
        </p:nvSpPr>
        <p:spPr>
          <a:xfrm>
            <a:off x="6799936" y="4224528"/>
            <a:ext cx="1754048" cy="603504"/>
          </a:xfrm>
          <a:prstGeom prst="rect">
            <a:avLst/>
          </a:prstGeom>
          <a:noFill/>
          <a:ln/>
        </p:spPr>
        <p:txBody>
          <a:bodyPr wrap="square" lIns="0" tIns="0" rIns="0" bIns="0" rtlCol="0" anchor="t"/>
          <a:lstStyle/>
          <a:p>
            <a:pPr indent="0" marL="0">
              <a:lnSpc>
                <a:spcPct val="105000"/>
              </a:lnSpc>
              <a:buNone/>
            </a:pPr>
            <a:r>
              <a:rPr lang="en-US" sz="1200" b="1" dirty="0">
                <a:solidFill>
                  <a:srgbClr val="0E1426"/>
                </a:solidFill>
                <a:latin typeface="Calibri" pitchFamily="34" charset="0"/>
                <a:ea typeface="Calibri" pitchFamily="34" charset="-122"/>
                <a:cs typeface="Calibri" pitchFamily="34" charset="-120"/>
              </a:rPr>
              <a:t>Dönen tekerlek, ABS ve modelin sınırları</a:t>
            </a:r>
            <a:endParaRPr lang="en-US" sz="1200" dirty="0"/>
          </a:p>
        </p:txBody>
      </p:sp>
      <p:sp>
        <p:nvSpPr>
          <p:cNvPr id="47" name="Text 45"/>
          <p:cNvSpPr txBox="1"/>
          <p:nvPr/>
        </p:nvSpPr>
        <p:spPr>
          <a:xfrm>
            <a:off x="6415888" y="4882896"/>
            <a:ext cx="384048" cy="603504"/>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11</a:t>
            </a:r>
            <a:endParaRPr lang="en-US" sz="1100" dirty="0"/>
          </a:p>
        </p:txBody>
      </p:sp>
      <p:sp>
        <p:nvSpPr>
          <p:cNvPr id="48" name="Text 46"/>
          <p:cNvSpPr txBox="1"/>
          <p:nvPr/>
        </p:nvSpPr>
        <p:spPr>
          <a:xfrm>
            <a:off x="6799936" y="4882896"/>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Sürtünme gerçek dünyada</a:t>
            </a:r>
            <a:endParaRPr lang="en-US" sz="1250" dirty="0"/>
          </a:p>
        </p:txBody>
      </p:sp>
      <p:sp>
        <p:nvSpPr>
          <p:cNvPr id="49" name="Shape 47"/>
          <p:cNvSpPr/>
          <p:nvPr/>
        </p:nvSpPr>
        <p:spPr>
          <a:xfrm>
            <a:off x="8974607"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50" name="Shape 48"/>
          <p:cNvSpPr/>
          <p:nvPr/>
        </p:nvSpPr>
        <p:spPr>
          <a:xfrm>
            <a:off x="9157487" y="1645920"/>
            <a:ext cx="2211248" cy="64008"/>
          </a:xfrm>
          <a:prstGeom prst="rect">
            <a:avLst/>
          </a:prstGeom>
          <a:solidFill>
            <a:srgbClr val="A56209"/>
          </a:solidFill>
          <a:ln/>
        </p:spPr>
      </p:sp>
      <p:sp>
        <p:nvSpPr>
          <p:cNvPr id="51" name="Shape 49"/>
          <p:cNvSpPr/>
          <p:nvPr/>
        </p:nvSpPr>
        <p:spPr>
          <a:xfrm>
            <a:off x="9194063" y="1920240"/>
            <a:ext cx="420624" cy="420624"/>
          </a:xfrm>
          <a:prstGeom prst="roundRect">
            <a:avLst>
              <a:gd name="adj" fmla="val 26000"/>
            </a:avLst>
          </a:prstGeom>
          <a:solidFill>
            <a:srgbClr val="A56209"/>
          </a:solidFill>
          <a:ln/>
        </p:spPr>
      </p:sp>
      <p:sp>
        <p:nvSpPr>
          <p:cNvPr id="52" name="Text 50"/>
          <p:cNvSpPr txBox="1"/>
          <p:nvPr/>
        </p:nvSpPr>
        <p:spPr>
          <a:xfrm>
            <a:off x="9194063"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53" name="Text 51"/>
          <p:cNvSpPr txBox="1"/>
          <p:nvPr/>
        </p:nvSpPr>
        <p:spPr>
          <a:xfrm>
            <a:off x="9742703"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Pekiştir</a:t>
            </a:r>
            <a:endParaRPr lang="en-US" sz="1900" dirty="0"/>
          </a:p>
        </p:txBody>
      </p:sp>
      <p:sp>
        <p:nvSpPr>
          <p:cNvPr id="54" name="Text 52"/>
          <p:cNvSpPr txBox="1"/>
          <p:nvPr/>
        </p:nvSpPr>
        <p:spPr>
          <a:xfrm>
            <a:off x="9194063" y="2487168"/>
            <a:ext cx="2138096" cy="868680"/>
          </a:xfrm>
          <a:prstGeom prst="rect">
            <a:avLst/>
          </a:prstGeom>
          <a:noFill/>
          <a:ln/>
        </p:spPr>
        <p:txBody>
          <a:bodyPr wrap="square" lIns="0" tIns="0" rIns="0" bIns="0" rtlCol="0" anchor="t"/>
          <a:lstStyle/>
          <a:p>
            <a:pPr indent="0" marL="0">
              <a:lnSpc>
                <a:spcPct val="110000"/>
              </a:lnSpc>
              <a:buNone/>
            </a:pPr>
            <a:r>
              <a:rPr lang="en-US" sz="1150" dirty="0">
                <a:solidFill>
                  <a:srgbClr val="4A5470"/>
                </a:solidFill>
                <a:latin typeface="Calibri" pitchFamily="34" charset="0"/>
                <a:ea typeface="Calibri" pitchFamily="34" charset="-122"/>
                <a:cs typeface="Calibri" pitchFamily="34" charset="-120"/>
              </a:rPr>
              <a:t>Kolaydan zora çözümlü örnekler ve sürtünme sorularında puan kaybettiren klasik hatalar.</a:t>
            </a:r>
            <a:endParaRPr lang="en-US" sz="1150" dirty="0"/>
          </a:p>
        </p:txBody>
      </p:sp>
      <p:sp>
        <p:nvSpPr>
          <p:cNvPr id="55" name="Shape 53"/>
          <p:cNvSpPr/>
          <p:nvPr/>
        </p:nvSpPr>
        <p:spPr>
          <a:xfrm>
            <a:off x="9194063" y="3429000"/>
            <a:ext cx="2138096" cy="0"/>
          </a:xfrm>
          <a:prstGeom prst="line">
            <a:avLst/>
          </a:prstGeom>
          <a:noFill/>
          <a:ln w="9525">
            <a:solidFill>
              <a:srgbClr val="E1E5EE"/>
            </a:solidFill>
            <a:prstDash val="dash"/>
          </a:ln>
        </p:spPr>
      </p:sp>
      <p:sp>
        <p:nvSpPr>
          <p:cNvPr id="56" name="Text 54"/>
          <p:cNvSpPr txBox="1"/>
          <p:nvPr/>
        </p:nvSpPr>
        <p:spPr>
          <a:xfrm>
            <a:off x="9194063" y="3566160"/>
            <a:ext cx="384048" cy="603504"/>
          </a:xfrm>
          <a:prstGeom prst="rect">
            <a:avLst/>
          </a:prstGeom>
          <a:noFill/>
          <a:ln/>
        </p:spPr>
        <p:txBody>
          <a:bodyPr wrap="square" lIns="0" tIns="0" rIns="0" bIns="0" rtlCol="0" anchor="t"/>
          <a:lstStyle/>
          <a:p>
            <a:pPr indent="0" marL="0">
              <a:buNone/>
            </a:pPr>
            <a:r>
              <a:rPr lang="en-US" sz="1100" b="1" dirty="0">
                <a:solidFill>
                  <a:srgbClr val="A56209"/>
                </a:solidFill>
                <a:latin typeface="Calibri" pitchFamily="34" charset="0"/>
                <a:ea typeface="Calibri" pitchFamily="34" charset="-122"/>
                <a:cs typeface="Calibri" pitchFamily="34" charset="-120"/>
              </a:rPr>
              <a:t>12</a:t>
            </a:r>
            <a:endParaRPr lang="en-US" sz="1100" dirty="0"/>
          </a:p>
        </p:txBody>
      </p:sp>
      <p:sp>
        <p:nvSpPr>
          <p:cNvPr id="57" name="Text 55"/>
          <p:cNvSpPr txBox="1"/>
          <p:nvPr/>
        </p:nvSpPr>
        <p:spPr>
          <a:xfrm>
            <a:off x="9578111" y="3566160"/>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Çözümlü örnekler</a:t>
            </a:r>
            <a:endParaRPr lang="en-US" sz="1250" dirty="0"/>
          </a:p>
        </p:txBody>
      </p:sp>
      <p:sp>
        <p:nvSpPr>
          <p:cNvPr id="58" name="Text 56"/>
          <p:cNvSpPr txBox="1"/>
          <p:nvPr/>
        </p:nvSpPr>
        <p:spPr>
          <a:xfrm>
            <a:off x="9194063" y="4224528"/>
            <a:ext cx="384048" cy="603504"/>
          </a:xfrm>
          <a:prstGeom prst="rect">
            <a:avLst/>
          </a:prstGeom>
          <a:noFill/>
          <a:ln/>
        </p:spPr>
        <p:txBody>
          <a:bodyPr wrap="square" lIns="0" tIns="0" rIns="0" bIns="0" rtlCol="0" anchor="t"/>
          <a:lstStyle/>
          <a:p>
            <a:pPr indent="0" marL="0">
              <a:buNone/>
            </a:pPr>
            <a:r>
              <a:rPr lang="en-US" sz="1100" b="1" dirty="0">
                <a:solidFill>
                  <a:srgbClr val="A56209"/>
                </a:solidFill>
                <a:latin typeface="Calibri" pitchFamily="34" charset="0"/>
                <a:ea typeface="Calibri" pitchFamily="34" charset="-122"/>
                <a:cs typeface="Calibri" pitchFamily="34" charset="-120"/>
              </a:rPr>
              <a:t>13</a:t>
            </a:r>
            <a:endParaRPr lang="en-US" sz="1100" dirty="0"/>
          </a:p>
        </p:txBody>
      </p:sp>
      <p:sp>
        <p:nvSpPr>
          <p:cNvPr id="59" name="Text 57"/>
          <p:cNvSpPr txBox="1"/>
          <p:nvPr/>
        </p:nvSpPr>
        <p:spPr>
          <a:xfrm>
            <a:off x="9578111" y="4224528"/>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Sık yapılan hatalar</a:t>
            </a:r>
            <a:endParaRPr lang="en-US" sz="1250" dirty="0"/>
          </a:p>
        </p:txBody>
      </p:sp>
      <p:sp>
        <p:nvSpPr>
          <p:cNvPr id="60" name="Shape 58"/>
          <p:cNvSpPr/>
          <p:nvPr/>
        </p:nvSpPr>
        <p:spPr>
          <a:xfrm>
            <a:off x="640080" y="6382512"/>
            <a:ext cx="128016" cy="128016"/>
          </a:xfrm>
          <a:prstGeom prst="roundRect">
            <a:avLst>
              <a:gd name="adj" fmla="val 28571"/>
            </a:avLst>
          </a:prstGeom>
          <a:solidFill>
            <a:srgbClr val="A9E648"/>
          </a:solidFill>
          <a:ln/>
        </p:spPr>
      </p:sp>
      <p:sp>
        <p:nvSpPr>
          <p:cNvPr id="61" name="Text 5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dersler.perinet.org/surtunme-kuvveti.html</a:t>
            </a:r>
            <a:endParaRPr lang="en-US" sz="1050" dirty="0"/>
          </a:p>
        </p:txBody>
      </p:sp>
      <p:sp>
        <p:nvSpPr>
          <p:cNvPr id="62" name="Text 6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03</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C6F36B"/>
                </a:solidFill>
                <a:latin typeface="Cambria" pitchFamily="34" charset="0"/>
                <a:ea typeface="Cambria" pitchFamily="34" charset="-122"/>
                <a:cs typeface="Cambria" pitchFamily="34" charset="-120"/>
              </a:rPr>
              <a:t>1</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C6F36B"/>
                </a:solidFill>
                <a:latin typeface="Calibri" pitchFamily="34" charset="0"/>
                <a:ea typeface="Calibri" pitchFamily="34" charset="-122"/>
                <a:cs typeface="Calibri" pitchFamily="34" charset="-120"/>
              </a:rPr>
              <a:t>BASAMAK 1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Temel</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400" dirty="0">
                <a:solidFill>
                  <a:srgbClr val="C3CEE8"/>
                </a:solidFill>
                <a:latin typeface="Calibri" pitchFamily="34" charset="0"/>
                <a:ea typeface="Calibri" pitchFamily="34" charset="-122"/>
                <a:cs typeface="Calibri" pitchFamily="34" charset="-120"/>
              </a:rPr>
              <a:t>Önce sezgi: sürtünmeyi gündelik sahnelerde gözle, adını koy ve durgun cisimle kayan cisim arasındaki farkı gör. Bu basamakta hesap yok denecek kadar az.</a:t>
            </a:r>
            <a:endParaRPr lang="en-US" sz="14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01   </a:t>
            </a:r>
            <a:pPr indent="0" marL="0">
              <a:buNone/>
            </a:pPr>
            <a:r>
              <a:rPr lang="en-US" sz="1300" dirty="0">
                <a:solidFill>
                  <a:srgbClr val="FFFFFF"/>
                </a:solidFill>
                <a:latin typeface="Calibri" pitchFamily="34" charset="0"/>
                <a:ea typeface="Calibri" pitchFamily="34" charset="-122"/>
                <a:cs typeface="Calibri" pitchFamily="34" charset="-120"/>
              </a:rPr>
              <a:t>Önce gözlemle: sürtünme ne zaman ortaya çıkar?</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02   </a:t>
            </a:r>
            <a:pPr indent="0" marL="0">
              <a:buNone/>
            </a:pPr>
            <a:r>
              <a:rPr lang="en-US" sz="1300" dirty="0">
                <a:solidFill>
                  <a:srgbClr val="FFFFFF"/>
                </a:solidFill>
                <a:latin typeface="Calibri" pitchFamily="34" charset="0"/>
                <a:ea typeface="Calibri" pitchFamily="34" charset="-122"/>
                <a:cs typeface="Calibri" pitchFamily="34" charset="-120"/>
              </a:rPr>
              <a:t>Sürtünme kuvveti nedir?</a:t>
            </a:r>
            <a:endParaRPr lang="en-US" sz="1300" dirty="0"/>
          </a:p>
        </p:txBody>
      </p:sp>
      <p:sp>
        <p:nvSpPr>
          <p:cNvPr id="8" name="Text 6"/>
          <p:cNvSpPr txBox="1"/>
          <p:nvPr/>
        </p:nvSpPr>
        <p:spPr>
          <a:xfrm>
            <a:off x="731520" y="5230368"/>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03   </a:t>
            </a:r>
            <a:pPr indent="0" marL="0">
              <a:buNone/>
            </a:pPr>
            <a:r>
              <a:rPr lang="en-US" sz="1300" dirty="0">
                <a:solidFill>
                  <a:srgbClr val="FFFFFF"/>
                </a:solidFill>
                <a:latin typeface="Calibri" pitchFamily="34" charset="0"/>
                <a:ea typeface="Calibri" pitchFamily="34" charset="-122"/>
                <a:cs typeface="Calibri" pitchFamily="34" charset="-120"/>
              </a:rPr>
              <a:t>Durgunken ve kayarken: iki tür sürtünme</a:t>
            </a:r>
            <a:endParaRPr lang="en-US" sz="1300" dirty="0"/>
          </a:p>
        </p:txBody>
      </p:sp>
      <p:sp>
        <p:nvSpPr>
          <p:cNvPr id="9" name="Shape 7"/>
          <p:cNvSpPr/>
          <p:nvPr/>
        </p:nvSpPr>
        <p:spPr>
          <a:xfrm>
            <a:off x="6117336" y="905256"/>
            <a:ext cx="5489143" cy="3696005"/>
          </a:xfrm>
          <a:prstGeom prst="roundRect">
            <a:avLst>
              <a:gd name="adj" fmla="val 3464"/>
            </a:avLst>
          </a:prstGeom>
          <a:solidFill>
            <a:srgbClr val="1C2542"/>
          </a:solidFill>
          <a:ln w="9525">
            <a:solidFill>
              <a:srgbClr val="2C3860"/>
            </a:solidFill>
            <a:prstDash val="solid"/>
          </a:ln>
        </p:spPr>
      </p:sp>
      <p:pic>
        <p:nvPicPr>
          <p:cNvPr id="10" name="Image 0" descr="/tmp/claude-1000/-opt-dersler/8a8328c3-841c-44fa-b76f-82572d338d3d/scratchpad/d4/sek/surtunme-kuvveti-gunluk-kart.jpg">    </p:cNvPr>
          <p:cNvPicPr>
            <a:picLocks noChangeAspect="1"/>
          </p:cNvPicPr>
          <p:nvPr/>
        </p:nvPicPr>
        <p:blipFill>
          <a:blip r:embed="rId1"/>
          <a:stretch>
            <a:fillRect/>
          </a:stretch>
        </p:blipFill>
        <p:spPr>
          <a:xfrm>
            <a:off x="6172200" y="960120"/>
            <a:ext cx="5379415" cy="3586277"/>
          </a:xfrm>
          <a:prstGeom prst="rect">
            <a:avLst/>
          </a:prstGeom>
        </p:spPr>
      </p:pic>
      <p:sp>
        <p:nvSpPr>
          <p:cNvPr id="11" name="Shape 8"/>
          <p:cNvSpPr/>
          <p:nvPr/>
        </p:nvSpPr>
        <p:spPr>
          <a:xfrm>
            <a:off x="9704527" y="4198925"/>
            <a:ext cx="1755648" cy="246888"/>
          </a:xfrm>
          <a:prstGeom prst="roundRect">
            <a:avLst>
              <a:gd name="adj" fmla="val 48148"/>
            </a:avLst>
          </a:prstGeom>
          <a:solidFill>
            <a:srgbClr val="0E1426">
              <a:alpha val="60000"/>
            </a:srgbClr>
          </a:solidFill>
          <a:ln/>
        </p:spPr>
      </p:sp>
      <p:sp>
        <p:nvSpPr>
          <p:cNvPr id="12" name="Text 9"/>
          <p:cNvSpPr txBox="1"/>
          <p:nvPr/>
        </p:nvSpPr>
        <p:spPr>
          <a:xfrm>
            <a:off x="9704527" y="4198925"/>
            <a:ext cx="1755648" cy="246888"/>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Yapay zekâ ile üretildi</a:t>
            </a:r>
            <a:endParaRPr lang="en-US" sz="850" dirty="0"/>
          </a:p>
        </p:txBody>
      </p:sp>
      <p:sp>
        <p:nvSpPr>
          <p:cNvPr id="13" name="Text 10"/>
          <p:cNvSpPr txBox="1"/>
          <p:nvPr/>
        </p:nvSpPr>
        <p:spPr>
          <a:xfrm>
            <a:off x="6172200" y="4774997"/>
            <a:ext cx="5379415" cy="1214323"/>
          </a:xfrm>
          <a:prstGeom prst="rect">
            <a:avLst/>
          </a:prstGeom>
          <a:noFill/>
          <a:ln/>
        </p:spPr>
        <p:txBody>
          <a:bodyPr wrap="square" lIns="0" tIns="0" rIns="0" bIns="0" rtlCol="0" anchor="t"/>
          <a:lstStyle/>
          <a:p>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Kaydırak küçük bir eğik düzlemdir.</a:t>
            </a:r>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 Ağırlığın eğime paralel parçası çocuğu aşağı çeker, kıyafet ile metal arasındaki sürtünme ise kaymaya karşı koyar. Çocuğun ne kadar hızlı ineceğini bu ikisinin farkı belirler; farkın eğimle ve kumaşla nasıl değiştiğini ikinci basamakta hesaplayacağız.</a:t>
            </a:r>
            <a:endParaRPr lang="en-US" sz="1150" dirty="0"/>
          </a:p>
        </p:txBody>
      </p:sp>
      <p:sp>
        <p:nvSpPr>
          <p:cNvPr id="14" name="Shape 11"/>
          <p:cNvSpPr/>
          <p:nvPr/>
        </p:nvSpPr>
        <p:spPr>
          <a:xfrm>
            <a:off x="640080" y="6382512"/>
            <a:ext cx="128016" cy="128016"/>
          </a:xfrm>
          <a:prstGeom prst="roundRect">
            <a:avLst>
              <a:gd name="adj" fmla="val 28571"/>
            </a:avLst>
          </a:prstGeom>
          <a:solidFill>
            <a:srgbClr val="C6F36B"/>
          </a:solidFill>
          <a:ln/>
        </p:spPr>
      </p:sp>
      <p:sp>
        <p:nvSpPr>
          <p:cNvPr id="15" name="Text 1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dersler.perinet.org/surtunme-kuvveti.html</a:t>
            </a:r>
            <a:endParaRPr lang="en-US" sz="1050" dirty="0"/>
          </a:p>
        </p:txBody>
      </p:sp>
      <p:sp>
        <p:nvSpPr>
          <p:cNvPr id="16" name="Text 1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04</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100" b="1" spc="-50" kern="0" dirty="0">
                <a:solidFill>
                  <a:srgbClr val="0E1426"/>
                </a:solidFill>
                <a:latin typeface="Cambria" pitchFamily="34" charset="0"/>
                <a:ea typeface="Cambria" pitchFamily="34" charset="-122"/>
                <a:cs typeface="Cambria" pitchFamily="34" charset="-120"/>
              </a:rPr>
              <a:t>Önce gözlemle: sürtünme ne zaman ortaya çıkar?</a:t>
            </a:r>
            <a:endParaRPr lang="en-US" sz="31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640080" y="1188720"/>
            <a:ext cx="10911535" cy="1185062"/>
          </a:xfrm>
          <a:prstGeom prst="roundRect">
            <a:avLst>
              <a:gd name="adj" fmla="val 9259"/>
            </a:avLst>
          </a:prstGeom>
          <a:solidFill>
            <a:srgbClr val="F8F9FC"/>
          </a:solidFill>
          <a:ln w="9525">
            <a:solidFill>
              <a:srgbClr val="E1E5EE"/>
            </a:solidFill>
            <a:prstDash val="solid"/>
          </a:ln>
        </p:spPr>
      </p:sp>
      <p:sp>
        <p:nvSpPr>
          <p:cNvPr id="7" name="Shape 5"/>
          <p:cNvSpPr/>
          <p:nvPr/>
        </p:nvSpPr>
        <p:spPr>
          <a:xfrm>
            <a:off x="658368" y="1298448"/>
            <a:ext cx="54864" cy="965606"/>
          </a:xfrm>
          <a:prstGeom prst="rect">
            <a:avLst/>
          </a:prstGeom>
          <a:solidFill>
            <a:srgbClr val="3C8C21"/>
          </a:solidFill>
          <a:ln/>
        </p:spPr>
      </p:sp>
      <p:sp>
        <p:nvSpPr>
          <p:cNvPr id="8" name="Text 6"/>
          <p:cNvSpPr txBox="1"/>
          <p:nvPr/>
        </p:nvSpPr>
        <p:spPr>
          <a:xfrm>
            <a:off x="932688" y="1234440"/>
            <a:ext cx="10454335" cy="1093622"/>
          </a:xfrm>
          <a:prstGeom prst="rect">
            <a:avLst/>
          </a:prstGeom>
          <a:noFill/>
          <a:ln/>
        </p:spPr>
        <p:txBody>
          <a:bodyPr wrap="square" lIns="0" tIns="0" rIns="0" bIns="0" rtlCol="0" anchor="ctr"/>
          <a:lstStyle/>
          <a:p>
            <a:pPr indent="0" marL="0">
              <a:lnSpc>
                <a:spcPct val="112000"/>
              </a:lnSpc>
              <a:buNone/>
            </a:pPr>
            <a:r>
              <a:rPr lang="en-US" sz="1850" dirty="0">
                <a:solidFill>
                  <a:srgbClr val="0E1426"/>
                </a:solidFill>
                <a:latin typeface="Calibri" pitchFamily="34" charset="0"/>
                <a:ea typeface="Calibri" pitchFamily="34" charset="-122"/>
                <a:cs typeface="Calibri" pitchFamily="34" charset="-120"/>
              </a:rPr>
              <a:t>Duran bir cisim, itme belli bir sınırı aşana dek yerinden oynamaz; kaymaya başlayınca onu itmek kolaylaşır. Bu direncin büyüklüğü yüzeylere ve cismin zemine ne kadar bastırdığına bağlıdır.</a:t>
            </a:r>
            <a:endParaRPr lang="en-US" sz="1850" dirty="0"/>
          </a:p>
        </p:txBody>
      </p:sp>
      <p:sp>
        <p:nvSpPr>
          <p:cNvPr id="9" name="Text 7"/>
          <p:cNvSpPr txBox="1"/>
          <p:nvPr/>
        </p:nvSpPr>
        <p:spPr>
          <a:xfrm>
            <a:off x="640080" y="2593238"/>
            <a:ext cx="10911535" cy="1809750"/>
          </a:xfrm>
          <a:prstGeom prst="rect">
            <a:avLst/>
          </a:prstGeom>
          <a:noFill/>
          <a:ln/>
        </p:spPr>
        <p:txBody>
          <a:bodyPr wrap="square" lIns="0" tIns="0" rIns="0" bIns="0" rtlCol="0" anchor="t"/>
          <a:lstStyle/>
          <a:p>
            <a:pPr marL="203200" indent="-203200">
              <a:lnSpc>
                <a:spcPct val="115000"/>
              </a:lnSpc>
              <a:spcAft>
                <a:spcPts val="500"/>
              </a:spcAft>
              <a:buSzPct val="100000"/>
              <a:buChar char="▪"/>
            </a:pPr>
            <a:r>
              <a:rPr lang="en-US" sz="1700" b="1" dirty="0">
                <a:solidFill>
                  <a:srgbClr val="0E1426"/>
                </a:solidFill>
                <a:latin typeface="Calibri" pitchFamily="34" charset="0"/>
                <a:ea typeface="Calibri" pitchFamily="34" charset="-122"/>
                <a:cs typeface="Calibri" pitchFamily="34" charset="-120"/>
              </a:rPr>
              <a:t>Duran cisim direnir:</a:t>
            </a:r>
            <a:pPr indent="0" marL="0">
              <a:lnSpc>
                <a:spcPct val="115000"/>
              </a:lnSpc>
              <a:buNone/>
            </a:pPr>
            <a:r>
              <a:rPr lang="en-US" sz="1700" dirty="0">
                <a:solidFill>
                  <a:srgbClr val="4A5470"/>
                </a:solidFill>
                <a:latin typeface="Calibri" pitchFamily="34" charset="0"/>
                <a:ea typeface="Calibri" pitchFamily="34" charset="-122"/>
                <a:cs typeface="Calibri" pitchFamily="34" charset="-120"/>
              </a:rPr>
              <a:t> itme belli bir sınırı aşana kadar cisim yerinden oynamaz.</a:t>
            </a:r>
            <a:endParaRPr lang="en-US" sz="1700" dirty="0"/>
          </a:p>
          <a:p>
            <a:pPr marL="203200" indent="-203200">
              <a:lnSpc>
                <a:spcPct val="115000"/>
              </a:lnSpc>
              <a:spcAft>
                <a:spcPts val="500"/>
              </a:spcAft>
              <a:buSzPct val="100000"/>
              <a:buChar char="▪"/>
            </a:pPr>
            <a:r>
              <a:rPr lang="en-US" sz="1700" b="1" dirty="0">
                <a:solidFill>
                  <a:srgbClr val="0E1426"/>
                </a:solidFill>
                <a:latin typeface="Calibri" pitchFamily="34" charset="0"/>
                <a:ea typeface="Calibri" pitchFamily="34" charset="-122"/>
                <a:cs typeface="Calibri" pitchFamily="34" charset="-120"/>
              </a:rPr>
              <a:t>Kayan cisim daha az direnir:</a:t>
            </a:r>
            <a:pPr indent="0" marL="0">
              <a:lnSpc>
                <a:spcPct val="115000"/>
              </a:lnSpc>
              <a:buNone/>
            </a:pPr>
            <a:r>
              <a:rPr lang="en-US" sz="1700" dirty="0">
                <a:solidFill>
                  <a:srgbClr val="4A5470"/>
                </a:solidFill>
                <a:latin typeface="Calibri" pitchFamily="34" charset="0"/>
                <a:ea typeface="Calibri" pitchFamily="34" charset="-122"/>
                <a:cs typeface="Calibri" pitchFamily="34" charset="-120"/>
              </a:rPr>
              <a:t> kaymaya başlayınca itmeye devam etmek kolaylaşır.</a:t>
            </a:r>
            <a:endParaRPr lang="en-US" sz="1700" dirty="0"/>
          </a:p>
          <a:p>
            <a:pPr marL="203200" indent="-203200">
              <a:lnSpc>
                <a:spcPct val="115000"/>
              </a:lnSpc>
              <a:spcAft>
                <a:spcPts val="500"/>
              </a:spcAft>
              <a:buSzPct val="100000"/>
              <a:buChar char="▪"/>
            </a:pPr>
            <a:r>
              <a:rPr lang="en-US" sz="1700" b="1" dirty="0">
                <a:solidFill>
                  <a:srgbClr val="0E1426"/>
                </a:solidFill>
                <a:latin typeface="Calibri" pitchFamily="34" charset="0"/>
                <a:ea typeface="Calibri" pitchFamily="34" charset="-122"/>
                <a:cs typeface="Calibri" pitchFamily="34" charset="-120"/>
              </a:rPr>
              <a:t>Yüzeyler önemlidir:</a:t>
            </a:r>
            <a:pPr indent="0" marL="0">
              <a:lnSpc>
                <a:spcPct val="115000"/>
              </a:lnSpc>
              <a:buNone/>
            </a:pPr>
            <a:r>
              <a:rPr lang="en-US" sz="1700" dirty="0">
                <a:solidFill>
                  <a:srgbClr val="4A5470"/>
                </a:solidFill>
                <a:latin typeface="Calibri" pitchFamily="34" charset="0"/>
                <a:ea typeface="Calibri" pitchFamily="34" charset="-122"/>
                <a:cs typeface="Calibri" pitchFamily="34" charset="-120"/>
              </a:rPr>
              <a:t> halı ile parke, kot ile eşofman aynı sonucu vermez.</a:t>
            </a:r>
            <a:endParaRPr lang="en-US" sz="1700" dirty="0"/>
          </a:p>
          <a:p>
            <a:pPr marL="203200" indent="-203200">
              <a:lnSpc>
                <a:spcPct val="115000"/>
              </a:lnSpc>
              <a:spcAft>
                <a:spcPts val="500"/>
              </a:spcAft>
              <a:buSzPct val="100000"/>
              <a:buChar char="▪"/>
            </a:pPr>
            <a:r>
              <a:rPr lang="en-US" sz="1700" b="1" dirty="0">
                <a:solidFill>
                  <a:srgbClr val="0E1426"/>
                </a:solidFill>
                <a:latin typeface="Calibri" pitchFamily="34" charset="0"/>
                <a:ea typeface="Calibri" pitchFamily="34" charset="-122"/>
                <a:cs typeface="Calibri" pitchFamily="34" charset="-120"/>
              </a:rPr>
              <a:t>Bastırmak önemlidir:</a:t>
            </a:r>
            <a:pPr indent="0" marL="0">
              <a:lnSpc>
                <a:spcPct val="115000"/>
              </a:lnSpc>
              <a:buNone/>
            </a:pPr>
            <a:r>
              <a:rPr lang="en-US" sz="1700" dirty="0">
                <a:solidFill>
                  <a:srgbClr val="4A5470"/>
                </a:solidFill>
                <a:latin typeface="Calibri" pitchFamily="34" charset="0"/>
                <a:ea typeface="Calibri" pitchFamily="34" charset="-122"/>
                <a:cs typeface="Calibri" pitchFamily="34" charset="-120"/>
              </a:rPr>
              <a:t> dolu koli boş koliden zor itilir.</a:t>
            </a:r>
            <a:endParaRPr lang="en-US" sz="1700" dirty="0"/>
          </a:p>
          <a:p>
            <a:pPr marL="203200" indent="-203200">
              <a:lnSpc>
                <a:spcPct val="115000"/>
              </a:lnSpc>
              <a:spcAft>
                <a:spcPts val="500"/>
              </a:spcAft>
              <a:buSzPct val="100000"/>
              <a:buChar char="▪"/>
            </a:pPr>
            <a:r>
              <a:rPr lang="en-US" sz="1700" b="1" dirty="0">
                <a:solidFill>
                  <a:srgbClr val="0E1426"/>
                </a:solidFill>
                <a:latin typeface="Calibri" pitchFamily="34" charset="0"/>
                <a:ea typeface="Calibri" pitchFamily="34" charset="-122"/>
                <a:cs typeface="Calibri" pitchFamily="34" charset="-120"/>
              </a:rPr>
              <a:t>Durgun hâlde de iş başındadır:</a:t>
            </a:r>
            <a:pPr indent="0" marL="0">
              <a:lnSpc>
                <a:spcPct val="115000"/>
              </a:lnSpc>
              <a:buNone/>
            </a:pPr>
            <a:r>
              <a:rPr lang="en-US" sz="1700" dirty="0">
                <a:solidFill>
                  <a:srgbClr val="4A5470"/>
                </a:solidFill>
                <a:latin typeface="Calibri" pitchFamily="34" charset="0"/>
                <a:ea typeface="Calibri" pitchFamily="34" charset="-122"/>
                <a:cs typeface="Calibri" pitchFamily="34" charset="-120"/>
              </a:rPr>
              <a:t> yürürken ayağının kaymamasını sağlayan da aynı etkidir.</a:t>
            </a:r>
            <a:endParaRPr lang="en-US" sz="17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dersler.perinet.org/surtunme-kuvveti.html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Aynı çocuk aynı kaydıraktan bir kez kotla, bir kez kaygan bir eşofmanla kayıyor. Değişen ne?</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01 · Önce gözlemle: sürtünme ne zaman ortaya çıkar?</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dersler.perinet.org/surtunme-kuvveti.html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06</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Aynı çocuk aynı kaydıraktan bir kez kotla, bir kez kaygan bir eşofmanla kayıyor. Değişen ne?</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CFC8F5"/>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Çocuğun ağırlığı da kaydırağın eğimi de aynıdır. Değişen, birbirine değen </a:t>
            </a:r>
            <a:pPr indent="0" marL="0">
              <a:lnSpc>
                <a:spcPct val="125000"/>
              </a:lnSpc>
              <a:buNone/>
            </a:pPr>
            <a:r>
              <a:rPr lang="en-US" sz="2200" b="1" dirty="0">
                <a:solidFill>
                  <a:srgbClr val="5F4BD8"/>
                </a:solidFill>
                <a:latin typeface="Calibri" pitchFamily="34" charset="0"/>
                <a:ea typeface="Calibri" pitchFamily="34" charset="-122"/>
                <a:cs typeface="Calibri" pitchFamily="34" charset="-120"/>
              </a:rPr>
              <a:t>iki yüzeyin</a:t>
            </a:r>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 — kumaş ile metalin — birbirine ne kadar tutunduğudur. Demek ki sürtünme tek bir cismin değil, birbirine değen yüzey çiftinin özelliğidir.</a:t>
            </a:r>
            <a:endParaRPr lang="en-US" sz="2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dersler.perinet.org/surtunme-kuvveti.html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07</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Sürtünme kuvveti nedir?</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640080" y="1188720"/>
            <a:ext cx="10911535" cy="1185062"/>
          </a:xfrm>
          <a:prstGeom prst="roundRect">
            <a:avLst>
              <a:gd name="adj" fmla="val 9259"/>
            </a:avLst>
          </a:prstGeom>
          <a:solidFill>
            <a:srgbClr val="F8F9FC"/>
          </a:solidFill>
          <a:ln w="9525">
            <a:solidFill>
              <a:srgbClr val="E1E5EE"/>
            </a:solidFill>
            <a:prstDash val="solid"/>
          </a:ln>
        </p:spPr>
      </p:sp>
      <p:sp>
        <p:nvSpPr>
          <p:cNvPr id="7" name="Shape 5"/>
          <p:cNvSpPr/>
          <p:nvPr/>
        </p:nvSpPr>
        <p:spPr>
          <a:xfrm>
            <a:off x="658368" y="1298448"/>
            <a:ext cx="54864" cy="965606"/>
          </a:xfrm>
          <a:prstGeom prst="rect">
            <a:avLst/>
          </a:prstGeom>
          <a:solidFill>
            <a:srgbClr val="3C8C21"/>
          </a:solidFill>
          <a:ln/>
        </p:spPr>
      </p:sp>
      <p:sp>
        <p:nvSpPr>
          <p:cNvPr id="8" name="Text 6"/>
          <p:cNvSpPr txBox="1"/>
          <p:nvPr/>
        </p:nvSpPr>
        <p:spPr>
          <a:xfrm>
            <a:off x="932688" y="1234440"/>
            <a:ext cx="10454335" cy="1093622"/>
          </a:xfrm>
          <a:prstGeom prst="rect">
            <a:avLst/>
          </a:prstGeom>
          <a:noFill/>
          <a:ln/>
        </p:spPr>
        <p:txBody>
          <a:bodyPr wrap="square" lIns="0" tIns="0" rIns="0" bIns="0" rtlCol="0" anchor="ctr"/>
          <a:lstStyle/>
          <a:p>
            <a:pPr indent="0" marL="0">
              <a:lnSpc>
                <a:spcPct val="112000"/>
              </a:lnSpc>
              <a:buNone/>
            </a:pPr>
            <a:r>
              <a:rPr lang="en-US" sz="1850" dirty="0">
                <a:solidFill>
                  <a:srgbClr val="0E1426"/>
                </a:solidFill>
                <a:latin typeface="Calibri" pitchFamily="34" charset="0"/>
                <a:ea typeface="Calibri" pitchFamily="34" charset="-122"/>
                <a:cs typeface="Calibri" pitchFamily="34" charset="-120"/>
              </a:rPr>
              <a:t>Sürtünme, birbirine değen yüzeyler arasında yüzeye paralel ve bağıl kaymaya zıt yönde oluşan kuvvettir. Kaynağı mikroskobik pürüzlerin kenetlenmesi ve temas noktalarındaki moleküler yapışmadır.</a:t>
            </a:r>
            <a:endParaRPr lang="en-US" sz="1850" dirty="0"/>
          </a:p>
        </p:txBody>
      </p:sp>
      <p:sp>
        <p:nvSpPr>
          <p:cNvPr id="9" name="Text 7"/>
          <p:cNvSpPr txBox="1"/>
          <p:nvPr/>
        </p:nvSpPr>
        <p:spPr>
          <a:xfrm>
            <a:off x="640080" y="2593238"/>
            <a:ext cx="5852160" cy="1506474"/>
          </a:xfrm>
          <a:prstGeom prst="rect">
            <a:avLst/>
          </a:prstGeom>
          <a:noFill/>
          <a:ln/>
        </p:spPr>
        <p:txBody>
          <a:bodyPr wrap="square" lIns="0" tIns="0" rIns="0" bIns="0" rtlCol="0" anchor="t"/>
          <a:lstStyle/>
          <a:p>
            <a:pPr marL="203200" indent="-203200">
              <a:lnSpc>
                <a:spcPct val="115000"/>
              </a:lnSpc>
              <a:spcAft>
                <a:spcPts val="500"/>
              </a:spcAft>
              <a:buSzPct val="100000"/>
              <a:buChar char="▪"/>
            </a:pPr>
            <a:r>
              <a:rPr lang="en-US" sz="1500" b="1" dirty="0">
                <a:solidFill>
                  <a:srgbClr val="0E1426"/>
                </a:solidFill>
                <a:latin typeface="Calibri" pitchFamily="34" charset="0"/>
                <a:ea typeface="Calibri" pitchFamily="34" charset="-122"/>
                <a:cs typeface="Calibri" pitchFamily="34" charset="-120"/>
              </a:rPr>
              <a:t>Yüzeye paraleldir</a:t>
            </a:r>
            <a:pPr indent="0" marL="0">
              <a:lnSpc>
                <a:spcPct val="115000"/>
              </a:lnSpc>
              <a:buNone/>
            </a:pPr>
            <a:r>
              <a:rPr lang="en-US" sz="1500" dirty="0">
                <a:solidFill>
                  <a:srgbClr val="4A5470"/>
                </a:solidFill>
                <a:latin typeface="Calibri" pitchFamily="34" charset="0"/>
                <a:ea typeface="Calibri" pitchFamily="34" charset="-122"/>
                <a:cs typeface="Calibri" pitchFamily="34" charset="-120"/>
              </a:rPr>
              <a:t> (normal kuvvet ise yüzeye diktir).</a:t>
            </a:r>
            <a:endParaRPr lang="en-US" sz="1500" dirty="0"/>
          </a:p>
          <a:p>
            <a:pPr marL="203200" indent="-203200">
              <a:lnSpc>
                <a:spcPct val="115000"/>
              </a:lnSpc>
              <a:spcAft>
                <a:spcPts val="500"/>
              </a:spcAft>
              <a:buSzPct val="100000"/>
              <a:buChar char="▪"/>
            </a:pPr>
            <a:r>
              <a:rPr lang="en-US" sz="1500" b="1" dirty="0">
                <a:solidFill>
                  <a:srgbClr val="0E1426"/>
                </a:solidFill>
                <a:latin typeface="Calibri" pitchFamily="34" charset="0"/>
                <a:ea typeface="Calibri" pitchFamily="34" charset="-122"/>
                <a:cs typeface="Calibri" pitchFamily="34" charset="-120"/>
              </a:rPr>
              <a:t>Yönü, cismin kaymakta olduğu ya da kaymaya çalıştığı yönün tersidir.</a:t>
            </a:r>
            <a:endParaRPr lang="en-US" sz="1500" dirty="0"/>
          </a:p>
          <a:p>
            <a:pPr marL="203200" indent="-203200">
              <a:lnSpc>
                <a:spcPct val="115000"/>
              </a:lnSpc>
              <a:spcAft>
                <a:spcPts val="500"/>
              </a:spcAft>
              <a:buSzPct val="100000"/>
              <a:buChar char="▪"/>
            </a:pPr>
            <a:r>
              <a:rPr lang="en-US" sz="1500" b="1" dirty="0">
                <a:solidFill>
                  <a:srgbClr val="0E1426"/>
                </a:solidFill>
                <a:latin typeface="Calibri" pitchFamily="34" charset="0"/>
                <a:ea typeface="Calibri" pitchFamily="34" charset="-122"/>
                <a:cs typeface="Calibri" pitchFamily="34" charset="-120"/>
              </a:rPr>
              <a:t>Çift olarak doğar:</a:t>
            </a:r>
            <a:pPr indent="0" marL="0">
              <a:lnSpc>
                <a:spcPct val="115000"/>
              </a:lnSpc>
              <a:buNone/>
            </a:pPr>
            <a:r>
              <a:rPr lang="en-US" sz="1500" dirty="0">
                <a:solidFill>
                  <a:srgbClr val="4A5470"/>
                </a:solidFill>
                <a:latin typeface="Calibri" pitchFamily="34" charset="0"/>
                <a:ea typeface="Calibri" pitchFamily="34" charset="-122"/>
                <a:cs typeface="Calibri" pitchFamily="34" charset="-120"/>
              </a:rPr>
              <a:t> zemin kutuyu geriye çekerken kutu da zemini ileriye sürükler (Newton'un üçüncü yasası).</a:t>
            </a:r>
            <a:endParaRPr lang="en-US" sz="1500" dirty="0"/>
          </a:p>
        </p:txBody>
      </p:sp>
      <p:sp>
        <p:nvSpPr>
          <p:cNvPr id="10" name="Shape 8"/>
          <p:cNvSpPr/>
          <p:nvPr/>
        </p:nvSpPr>
        <p:spPr>
          <a:xfrm>
            <a:off x="640080" y="4209440"/>
            <a:ext cx="5852160" cy="1383792"/>
          </a:xfrm>
          <a:prstGeom prst="roundRect">
            <a:avLst>
              <a:gd name="adj" fmla="val 793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1" name="Shape 9"/>
          <p:cNvSpPr/>
          <p:nvPr/>
        </p:nvSpPr>
        <p:spPr>
          <a:xfrm>
            <a:off x="658368" y="4355744"/>
            <a:ext cx="45720" cy="1091184"/>
          </a:xfrm>
          <a:prstGeom prst="rect">
            <a:avLst/>
          </a:prstGeom>
          <a:solidFill>
            <a:srgbClr val="3C8C21"/>
          </a:solidFill>
          <a:ln/>
        </p:spPr>
      </p:sp>
      <p:sp>
        <p:nvSpPr>
          <p:cNvPr id="12" name="Text 10"/>
          <p:cNvSpPr txBox="1"/>
          <p:nvPr/>
        </p:nvSpPr>
        <p:spPr>
          <a:xfrm>
            <a:off x="914400" y="4319168"/>
            <a:ext cx="5394960" cy="1164336"/>
          </a:xfrm>
          <a:prstGeom prst="rect">
            <a:avLst/>
          </a:prstGeom>
          <a:noFill/>
          <a:ln/>
        </p:spPr>
        <p:txBody>
          <a:bodyPr wrap="square" lIns="0" tIns="0" rIns="0" bIns="0" rtlCol="0" anchor="ctr"/>
          <a:lstStyle/>
          <a:p>
            <a:pPr indent="0" marL="0">
              <a:lnSpc>
                <a:spcPct val="112000"/>
              </a:lnSpc>
              <a:buNone/>
            </a:pPr>
            <a:r>
              <a:rPr lang="en-US" sz="1400" b="1" dirty="0">
                <a:solidFill>
                  <a:srgbClr val="0E1426"/>
                </a:solidFill>
                <a:latin typeface="Calibri" pitchFamily="34" charset="0"/>
                <a:ea typeface="Calibri" pitchFamily="34" charset="-122"/>
                <a:cs typeface="Calibri" pitchFamily="34" charset="-120"/>
              </a:rPr>
              <a:t>Dikkat:</a:t>
            </a:r>
            <a:pPr indent="0" marL="0">
              <a:lnSpc>
                <a:spcPct val="112000"/>
              </a:lnSpc>
              <a:buNone/>
            </a:pPr>
            <a:r>
              <a:rPr lang="en-US" sz="1400" dirty="0">
                <a:solidFill>
                  <a:srgbClr val="4A5470"/>
                </a:solidFill>
                <a:latin typeface="Calibri" pitchFamily="34" charset="0"/>
                <a:ea typeface="Calibri" pitchFamily="34" charset="-122"/>
                <a:cs typeface="Calibri" pitchFamily="34" charset="-120"/>
              </a:rPr>
              <a:t> Sürtünme "harekete" değil, </a:t>
            </a:r>
            <a:pPr indent="0" marL="0">
              <a:lnSpc>
                <a:spcPct val="112000"/>
              </a:lnSpc>
              <a:buNone/>
            </a:pPr>
            <a:r>
              <a:rPr lang="en-US" sz="1400" b="1" dirty="0">
                <a:solidFill>
                  <a:srgbClr val="0E1426"/>
                </a:solidFill>
                <a:latin typeface="Calibri" pitchFamily="34" charset="0"/>
                <a:ea typeface="Calibri" pitchFamily="34" charset="-122"/>
                <a:cs typeface="Calibri" pitchFamily="34" charset="-120"/>
              </a:rPr>
              <a:t>bağıl kaymaya</a:t>
            </a:r>
            <a:pPr indent="0" marL="0">
              <a:lnSpc>
                <a:spcPct val="112000"/>
              </a:lnSpc>
              <a:buNone/>
            </a:pPr>
            <a:r>
              <a:rPr lang="en-US" sz="1400" dirty="0">
                <a:solidFill>
                  <a:srgbClr val="4A5470"/>
                </a:solidFill>
                <a:latin typeface="Calibri" pitchFamily="34" charset="0"/>
                <a:ea typeface="Calibri" pitchFamily="34" charset="-122"/>
                <a:cs typeface="Calibri" pitchFamily="34" charset="-120"/>
              </a:rPr>
              <a:t> zıttır. Yürürken ayağın yeri geriye itmeye çalışır; sürtünme de seni </a:t>
            </a:r>
            <a:pPr indent="0" marL="0">
              <a:lnSpc>
                <a:spcPct val="112000"/>
              </a:lnSpc>
              <a:buNone/>
            </a:pPr>
            <a:r>
              <a:rPr lang="en-US" sz="1400" b="1" dirty="0">
                <a:solidFill>
                  <a:srgbClr val="0E1426"/>
                </a:solidFill>
                <a:latin typeface="Calibri" pitchFamily="34" charset="0"/>
                <a:ea typeface="Calibri" pitchFamily="34" charset="-122"/>
                <a:cs typeface="Calibri" pitchFamily="34" charset="-120"/>
              </a:rPr>
              <a:t>ileriye</a:t>
            </a:r>
            <a:pPr indent="0" marL="0">
              <a:lnSpc>
                <a:spcPct val="112000"/>
              </a:lnSpc>
              <a:buNone/>
            </a:pPr>
            <a:r>
              <a:rPr lang="en-US" sz="1400" dirty="0">
                <a:solidFill>
                  <a:srgbClr val="4A5470"/>
                </a:solidFill>
                <a:latin typeface="Calibri" pitchFamily="34" charset="0"/>
                <a:ea typeface="Calibri" pitchFamily="34" charset="-122"/>
                <a:cs typeface="Calibri" pitchFamily="34" charset="-120"/>
              </a:rPr>
              <a:t> iter. Yani sürtünme burada hareketi engellemez, hareketi mümkün kılar.</a:t>
            </a:r>
            <a:endParaRPr lang="en-US" sz="1400" dirty="0"/>
          </a:p>
        </p:txBody>
      </p:sp>
      <p:sp>
        <p:nvSpPr>
          <p:cNvPr id="13" name="Shape 11"/>
          <p:cNvSpPr/>
          <p:nvPr/>
        </p:nvSpPr>
        <p:spPr>
          <a:xfrm>
            <a:off x="6784848" y="2593238"/>
            <a:ext cx="4766767" cy="3530940"/>
          </a:xfrm>
          <a:prstGeom prst="roundRect">
            <a:avLst>
              <a:gd name="adj" fmla="val 414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4" name="Image 0" descr="/tmp/claude-1000/-opt-dersler/8a8328c3-841c-44fa-b76f-82572d338d3d/scratchpad/d4/sek/surtunme-kuvveti-01.png">    </p:cNvPr>
          <p:cNvPicPr>
            <a:picLocks noChangeAspect="1"/>
          </p:cNvPicPr>
          <p:nvPr/>
        </p:nvPicPr>
        <p:blipFill>
          <a:blip r:embed="rId1"/>
          <a:stretch>
            <a:fillRect/>
          </a:stretch>
        </p:blipFill>
        <p:spPr>
          <a:xfrm>
            <a:off x="6967728" y="2776118"/>
            <a:ext cx="4401007" cy="1888677"/>
          </a:xfrm>
          <a:prstGeom prst="rect">
            <a:avLst/>
          </a:prstGeom>
        </p:spPr>
      </p:pic>
      <p:sp>
        <p:nvSpPr>
          <p:cNvPr id="15" name="Shape 12"/>
          <p:cNvSpPr/>
          <p:nvPr/>
        </p:nvSpPr>
        <p:spPr>
          <a:xfrm>
            <a:off x="6967728" y="4756236"/>
            <a:ext cx="4401007" cy="0"/>
          </a:xfrm>
          <a:prstGeom prst="line">
            <a:avLst/>
          </a:prstGeom>
          <a:noFill/>
          <a:ln w="9525">
            <a:solidFill>
              <a:srgbClr val="E1E5EE"/>
            </a:solidFill>
            <a:prstDash val="dash"/>
          </a:ln>
        </p:spPr>
      </p:sp>
      <p:sp>
        <p:nvSpPr>
          <p:cNvPr id="16" name="Text 13"/>
          <p:cNvSpPr txBox="1"/>
          <p:nvPr/>
        </p:nvSpPr>
        <p:spPr>
          <a:xfrm>
            <a:off x="6967728" y="4811100"/>
            <a:ext cx="4401007" cy="1130198"/>
          </a:xfrm>
          <a:prstGeom prst="rect">
            <a:avLst/>
          </a:prstGeom>
          <a:noFill/>
          <a:ln/>
        </p:spPr>
        <p:txBody>
          <a:bodyPr wrap="square" lIns="0" tIns="0" rIns="0" bIns="0" rtlCol="0" anchor="t"/>
          <a:lstStyle/>
          <a:p>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Sürtünme kuvveti daima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yüzeye paraleldir</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ve cismin kaymakta olduğu (ya da kaymaya çalıştığı) yönün tersine bakar. Kaynağı, en pürüzsüz görünen yüzeylerde bile bulunan mikroskobik girinti-çıkıntıların birbirine takılması ve temas noktalarındaki moleküler yapışmadır. Bu yüzden sürtünmeyi azaltmak için yüzeyi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cilalamak</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ya da araya yağ koymak işe yarar.</a:t>
            </a:r>
            <a:endParaRPr lang="en-US" sz="1050" dirty="0"/>
          </a:p>
        </p:txBody>
      </p:sp>
      <p:sp>
        <p:nvSpPr>
          <p:cNvPr id="17" name="Shape 14"/>
          <p:cNvSpPr/>
          <p:nvPr/>
        </p:nvSpPr>
        <p:spPr>
          <a:xfrm>
            <a:off x="640080" y="6382512"/>
            <a:ext cx="128016" cy="128016"/>
          </a:xfrm>
          <a:prstGeom prst="roundRect">
            <a:avLst>
              <a:gd name="adj" fmla="val 28571"/>
            </a:avLst>
          </a:prstGeom>
          <a:solidFill>
            <a:srgbClr val="A9E648"/>
          </a:solidFill>
          <a:ln/>
        </p:spPr>
      </p:sp>
      <p:sp>
        <p:nvSpPr>
          <p:cNvPr id="18"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dersler.perinet.org/surtunme-kuvveti.html</a:t>
            </a:r>
            <a:endParaRPr lang="en-US" sz="1050" dirty="0"/>
          </a:p>
        </p:txBody>
      </p:sp>
      <p:sp>
        <p:nvSpPr>
          <p:cNvPr id="19"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08</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Durgunken ve kayarken: iki tür sürtünme</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640080" y="1188720"/>
            <a:ext cx="10911535" cy="1185062"/>
          </a:xfrm>
          <a:prstGeom prst="roundRect">
            <a:avLst>
              <a:gd name="adj" fmla="val 9259"/>
            </a:avLst>
          </a:prstGeom>
          <a:solidFill>
            <a:srgbClr val="F8F9FC"/>
          </a:solidFill>
          <a:ln w="9525">
            <a:solidFill>
              <a:srgbClr val="E1E5EE"/>
            </a:solidFill>
            <a:prstDash val="solid"/>
          </a:ln>
        </p:spPr>
      </p:sp>
      <p:sp>
        <p:nvSpPr>
          <p:cNvPr id="7" name="Shape 5"/>
          <p:cNvSpPr/>
          <p:nvPr/>
        </p:nvSpPr>
        <p:spPr>
          <a:xfrm>
            <a:off x="658368" y="1298448"/>
            <a:ext cx="54864" cy="965606"/>
          </a:xfrm>
          <a:prstGeom prst="rect">
            <a:avLst/>
          </a:prstGeom>
          <a:solidFill>
            <a:srgbClr val="3C8C21"/>
          </a:solidFill>
          <a:ln/>
        </p:spPr>
      </p:sp>
      <p:sp>
        <p:nvSpPr>
          <p:cNvPr id="8" name="Text 6"/>
          <p:cNvSpPr txBox="1"/>
          <p:nvPr/>
        </p:nvSpPr>
        <p:spPr>
          <a:xfrm>
            <a:off x="932688" y="1234440"/>
            <a:ext cx="10454335" cy="1093622"/>
          </a:xfrm>
          <a:prstGeom prst="rect">
            <a:avLst/>
          </a:prstGeom>
          <a:noFill/>
          <a:ln/>
        </p:spPr>
        <p:txBody>
          <a:bodyPr wrap="square" lIns="0" tIns="0" rIns="0" bIns="0" rtlCol="0" anchor="ctr"/>
          <a:lstStyle/>
          <a:p>
            <a:pPr indent="0" marL="0">
              <a:lnSpc>
                <a:spcPct val="112000"/>
              </a:lnSpc>
              <a:buNone/>
            </a:pPr>
            <a:r>
              <a:rPr lang="en-US" sz="1850" dirty="0">
                <a:solidFill>
                  <a:srgbClr val="0E1426"/>
                </a:solidFill>
                <a:latin typeface="Calibri" pitchFamily="34" charset="0"/>
                <a:ea typeface="Calibri" pitchFamily="34" charset="-122"/>
                <a:cs typeface="Calibri" pitchFamily="34" charset="-120"/>
              </a:rPr>
              <a:t>Durgun cisimde statik sürtünme uygulanan kuvvete eşittir ve bir eşiğe kadar büyüyebilir. Eşik aşılınca cisim kayar ve sürtünme daha küçük, yaklaşık sabit olan kinetik değere düşer.</a:t>
            </a:r>
            <a:endParaRPr lang="en-US" sz="18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2593238"/>
          <a:ext cx="5486400" cy="914400"/>
        </p:xfrm>
        <a:graphic>
          <a:graphicData uri="http://schemas.openxmlformats.org/drawingml/2006/table">
            <a:tbl>
              <a:tblPr/>
              <a:tblGrid>
                <a:gridCol w="1604308"/>
                <a:gridCol w="974283"/>
                <a:gridCol w="2907809"/>
              </a:tblGrid>
              <a:tr h="338328">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Uygulanan kuvvet</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Sürtünme</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Kutu ne yapar?</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0 N</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0 N</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Durur</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20 N</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20 N</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Durur</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40 N</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40 N</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Durur</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49 N</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49 N</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Tam sınırda, kıpırdamak üzere</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60 N</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34,3 N</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Kayar; net kuvvet 25,7 N</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10" name="Shape 7"/>
          <p:cNvSpPr/>
          <p:nvPr/>
        </p:nvSpPr>
        <p:spPr>
          <a:xfrm>
            <a:off x="6419088" y="2593238"/>
            <a:ext cx="5132527" cy="3310162"/>
          </a:xfrm>
          <a:prstGeom prst="roundRect">
            <a:avLst>
              <a:gd name="adj" fmla="val 442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1" name="Image 0" descr="/tmp/claude-1000/-opt-dersler/8a8328c3-841c-44fa-b76f-82572d338d3d/scratchpad/d4/sek/surtunme-kuvveti-02.png">    </p:cNvPr>
          <p:cNvPicPr>
            <a:picLocks noChangeAspect="1"/>
          </p:cNvPicPr>
          <p:nvPr/>
        </p:nvPicPr>
        <p:blipFill>
          <a:blip r:embed="rId1"/>
          <a:stretch>
            <a:fillRect/>
          </a:stretch>
        </p:blipFill>
        <p:spPr>
          <a:xfrm>
            <a:off x="6601968" y="2776118"/>
            <a:ext cx="4766767" cy="1847122"/>
          </a:xfrm>
          <a:prstGeom prst="rect">
            <a:avLst/>
          </a:prstGeom>
        </p:spPr>
      </p:pic>
      <p:sp>
        <p:nvSpPr>
          <p:cNvPr id="12" name="Shape 8"/>
          <p:cNvSpPr/>
          <p:nvPr/>
        </p:nvSpPr>
        <p:spPr>
          <a:xfrm>
            <a:off x="6601968" y="4714681"/>
            <a:ext cx="4766767" cy="0"/>
          </a:xfrm>
          <a:prstGeom prst="line">
            <a:avLst/>
          </a:prstGeom>
          <a:noFill/>
          <a:ln w="9525">
            <a:solidFill>
              <a:srgbClr val="E1E5EE"/>
            </a:solidFill>
            <a:prstDash val="dash"/>
          </a:ln>
        </p:spPr>
      </p:sp>
      <p:sp>
        <p:nvSpPr>
          <p:cNvPr id="13" name="Text 9"/>
          <p:cNvSpPr txBox="1"/>
          <p:nvPr/>
        </p:nvSpPr>
        <p:spPr>
          <a:xfrm>
            <a:off x="6601968" y="4769545"/>
            <a:ext cx="4766767" cy="950976"/>
          </a:xfrm>
          <a:prstGeom prst="rect">
            <a:avLst/>
          </a:prstGeom>
          <a:noFill/>
          <a:ln/>
        </p:spPr>
        <p:txBody>
          <a:bodyPr wrap="square" lIns="0" tIns="0" rIns="0" bIns="0" rtlCol="0" anchor="t"/>
          <a:lstStyle/>
          <a:p>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Statik sürtünme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sabit bir sayı değildir</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uygulanan kuvvet ne kadarsa o kadar ortaya çıkar ve cismi tam olarak dengede tutar. Ancak bir üst sınırı vardır (μs·N). Üçüncü karede kuvvet bu sınırı aşmıştır; cisim kurtulur ve sürtünme,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daha küçük</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olan kinetik değerine düşer. Kırmızı ok bu yüzden üçüncü karede kısalır.</a:t>
            </a:r>
            <a:endParaRPr lang="en-US" sz="1050" dirty="0"/>
          </a:p>
        </p:txBody>
      </p:sp>
      <p:sp>
        <p:nvSpPr>
          <p:cNvPr id="14" name="Shape 10"/>
          <p:cNvSpPr/>
          <p:nvPr/>
        </p:nvSpPr>
        <p:spPr>
          <a:xfrm>
            <a:off x="640080" y="6382512"/>
            <a:ext cx="128016" cy="128016"/>
          </a:xfrm>
          <a:prstGeom prst="roundRect">
            <a:avLst>
              <a:gd name="adj" fmla="val 28571"/>
            </a:avLst>
          </a:prstGeom>
          <a:solidFill>
            <a:srgbClr val="A9E648"/>
          </a:solidFill>
          <a:ln/>
        </p:spPr>
      </p:sp>
      <p:sp>
        <p:nvSpPr>
          <p:cNvPr id="15"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dersler.perinet.org/surtunme-kuvveti.html</a:t>
            </a:r>
            <a:endParaRPr lang="en-US" sz="1050" dirty="0"/>
          </a:p>
        </p:txBody>
      </p:sp>
      <p:sp>
        <p:nvSpPr>
          <p:cNvPr id="16"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09</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Yerde duran bir kutuyu hiç itmiyorsan, kutuya etki eden sürtünme kuvveti kaç N'dur?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03 · Durgunken ve kayarken: iki tür sürtünme</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dersler.perinet.org/surtunme-kuvveti.html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Yerde duran bir kutuyu hiç itmiyorsan, kutuya etki eden sürtünme kuvveti kaç N'dur?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CFC8F5"/>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200" b="1" dirty="0">
                <a:solidFill>
                  <a:srgbClr val="5F4BD8"/>
                </a:solidFill>
                <a:latin typeface="Calibri" pitchFamily="34" charset="0"/>
                <a:ea typeface="Calibri" pitchFamily="34" charset="-122"/>
                <a:cs typeface="Calibri" pitchFamily="34" charset="-120"/>
              </a:rPr>
              <a:t>Sıfır.</a:t>
            </a:r>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 Statik sürtünme yalnızca kaydırmaya çalışan bir kuvvet varken ve o kuvvet kadar ortaya çıkar. Kimse itmiyorsa kutunun kaymaya çalıştığı bir yön yoktur, sürtünmenin karşı koyacağı bir şey de yoktur. Eşik, sürtünmenin alabileceği en büyük değerdir; her an etki eden değer değildir.</a:t>
            </a:r>
            <a:endParaRPr lang="en-US" sz="2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dersler.perinet.org/surtunme-kuvveti.html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82AAFF"/>
                </a:solidFill>
                <a:latin typeface="Cambria" pitchFamily="34" charset="0"/>
                <a:ea typeface="Cambria" pitchFamily="34" charset="-122"/>
                <a:cs typeface="Cambria" pitchFamily="34" charset="-120"/>
              </a:rPr>
              <a:t>2</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82AAFF"/>
                </a:solidFill>
                <a:latin typeface="Calibri" pitchFamily="34" charset="0"/>
                <a:ea typeface="Calibri" pitchFamily="34" charset="-122"/>
                <a:cs typeface="Calibri" pitchFamily="34" charset="-120"/>
              </a:rPr>
              <a:t>BASAMAK 2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Orta</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Bağıntılar: eşiği sayıyla yaz, katsayıyı tanı; sonra eğik düzlemde ve frenlemede sürtünmeyi adım adım hesapla.</a:t>
            </a:r>
            <a:endParaRPr lang="en-US" sz="1600" dirty="0"/>
          </a:p>
        </p:txBody>
      </p:sp>
      <p:sp>
        <p:nvSpPr>
          <p:cNvPr id="6" name="Text 4"/>
          <p:cNvSpPr txBox="1"/>
          <p:nvPr/>
        </p:nvSpPr>
        <p:spPr>
          <a:xfrm>
            <a:off x="731520" y="4572000"/>
            <a:ext cx="5120640" cy="320040"/>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04   </a:t>
            </a:r>
            <a:pPr indent="0" marL="0">
              <a:buNone/>
            </a:pPr>
            <a:r>
              <a:rPr lang="en-US" sz="1300" dirty="0">
                <a:solidFill>
                  <a:srgbClr val="FFFFFF"/>
                </a:solidFill>
                <a:latin typeface="Calibri" pitchFamily="34" charset="0"/>
                <a:ea typeface="Calibri" pitchFamily="34" charset="-122"/>
                <a:cs typeface="Calibri" pitchFamily="34" charset="-120"/>
              </a:rPr>
              <a:t>Sürtünme katsayısı ve temel bağıntılar</a:t>
            </a:r>
            <a:endParaRPr lang="en-US" sz="1300" dirty="0"/>
          </a:p>
        </p:txBody>
      </p:sp>
      <p:sp>
        <p:nvSpPr>
          <p:cNvPr id="7" name="Text 5"/>
          <p:cNvSpPr txBox="1"/>
          <p:nvPr/>
        </p:nvSpPr>
        <p:spPr>
          <a:xfrm>
            <a:off x="731520" y="4892040"/>
            <a:ext cx="5120640" cy="320040"/>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05   </a:t>
            </a:r>
            <a:pPr indent="0" marL="0">
              <a:buNone/>
            </a:pPr>
            <a:r>
              <a:rPr lang="en-US" sz="1300" dirty="0">
                <a:solidFill>
                  <a:srgbClr val="FFFFFF"/>
                </a:solidFill>
                <a:latin typeface="Calibri" pitchFamily="34" charset="0"/>
                <a:ea typeface="Calibri" pitchFamily="34" charset="-122"/>
                <a:cs typeface="Calibri" pitchFamily="34" charset="-120"/>
              </a:rPr>
              <a:t>Sürtünme neye bağlı, neye bağlı değil?</a:t>
            </a:r>
            <a:endParaRPr lang="en-US" sz="1300" dirty="0"/>
          </a:p>
        </p:txBody>
      </p:sp>
      <p:sp>
        <p:nvSpPr>
          <p:cNvPr id="8" name="Text 6"/>
          <p:cNvSpPr txBox="1"/>
          <p:nvPr/>
        </p:nvSpPr>
        <p:spPr>
          <a:xfrm>
            <a:off x="731520" y="5212080"/>
            <a:ext cx="5120640" cy="320040"/>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06   </a:t>
            </a:r>
            <a:pPr indent="0" marL="0">
              <a:buNone/>
            </a:pPr>
            <a:r>
              <a:rPr lang="en-US" sz="1300" dirty="0">
                <a:solidFill>
                  <a:srgbClr val="FFFFFF"/>
                </a:solidFill>
                <a:latin typeface="Calibri" pitchFamily="34" charset="0"/>
                <a:ea typeface="Calibri" pitchFamily="34" charset="-122"/>
                <a:cs typeface="Calibri" pitchFamily="34" charset="-120"/>
              </a:rPr>
              <a:t>Sayılarla hisset: ne kadar kuvvet, ne kadar yavaşlama?</a:t>
            </a:r>
            <a:endParaRPr lang="en-US" sz="1300" dirty="0"/>
          </a:p>
        </p:txBody>
      </p:sp>
      <p:sp>
        <p:nvSpPr>
          <p:cNvPr id="9" name="Text 7"/>
          <p:cNvSpPr txBox="1"/>
          <p:nvPr/>
        </p:nvSpPr>
        <p:spPr>
          <a:xfrm>
            <a:off x="731520" y="5532120"/>
            <a:ext cx="5120640" cy="320040"/>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07   </a:t>
            </a:r>
            <a:pPr indent="0" marL="0">
              <a:buNone/>
            </a:pPr>
            <a:r>
              <a:rPr lang="en-US" sz="1300" dirty="0">
                <a:solidFill>
                  <a:srgbClr val="FFFFFF"/>
                </a:solidFill>
                <a:latin typeface="Calibri" pitchFamily="34" charset="0"/>
                <a:ea typeface="Calibri" pitchFamily="34" charset="-122"/>
                <a:cs typeface="Calibri" pitchFamily="34" charset="-120"/>
              </a:rPr>
              <a:t>Eğik düzlemde sürtünme</a:t>
            </a:r>
            <a:endParaRPr lang="en-US" sz="1300" dirty="0"/>
          </a:p>
        </p:txBody>
      </p:sp>
      <p:sp>
        <p:nvSpPr>
          <p:cNvPr id="10" name="Text 8"/>
          <p:cNvSpPr txBox="1"/>
          <p:nvPr/>
        </p:nvSpPr>
        <p:spPr>
          <a:xfrm>
            <a:off x="731520" y="5852160"/>
            <a:ext cx="5120640" cy="320040"/>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08   </a:t>
            </a:r>
            <a:pPr indent="0" marL="0">
              <a:buNone/>
            </a:pPr>
            <a:r>
              <a:rPr lang="en-US" sz="1300" dirty="0">
                <a:solidFill>
                  <a:srgbClr val="FFFFFF"/>
                </a:solidFill>
                <a:latin typeface="Calibri" pitchFamily="34" charset="0"/>
                <a:ea typeface="Calibri" pitchFamily="34" charset="-122"/>
                <a:cs typeface="Calibri" pitchFamily="34" charset="-120"/>
              </a:rPr>
              <a:t>Fren mesafesi ve trafik</a:t>
            </a:r>
            <a:endParaRPr lang="en-US" sz="1300" dirty="0"/>
          </a:p>
        </p:txBody>
      </p:sp>
      <p:sp>
        <p:nvSpPr>
          <p:cNvPr id="11" name="Text 9"/>
          <p:cNvSpPr txBox="1"/>
          <p:nvPr/>
        </p:nvSpPr>
        <p:spPr>
          <a:xfrm>
            <a:off x="6172200" y="1097280"/>
            <a:ext cx="5379415"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TEMEL BAĞINTILAR</a:t>
            </a:r>
            <a:endParaRPr lang="en-US" sz="1050" dirty="0"/>
          </a:p>
        </p:txBody>
      </p:sp>
      <p:sp>
        <p:nvSpPr>
          <p:cNvPr id="12" name="Shape 10"/>
          <p:cNvSpPr/>
          <p:nvPr/>
        </p:nvSpPr>
        <p:spPr>
          <a:xfrm>
            <a:off x="6172200" y="1481328"/>
            <a:ext cx="5379415" cy="731520"/>
          </a:xfrm>
          <a:prstGeom prst="roundRect">
            <a:avLst>
              <a:gd name="adj" fmla="val 12500"/>
            </a:avLst>
          </a:prstGeom>
          <a:solidFill>
            <a:srgbClr val="1C2542"/>
          </a:solidFill>
          <a:ln w="9525">
            <a:solidFill>
              <a:srgbClr val="2C3860"/>
            </a:solidFill>
            <a:prstDash val="solid"/>
          </a:ln>
        </p:spPr>
      </p:sp>
      <p:sp>
        <p:nvSpPr>
          <p:cNvPr id="13" name="Text 11"/>
          <p:cNvSpPr txBox="1"/>
          <p:nvPr/>
        </p:nvSpPr>
        <p:spPr>
          <a:xfrm>
            <a:off x="6400800" y="1481328"/>
            <a:ext cx="1645920"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fs ≤ μs · N</a:t>
            </a:r>
            <a:endParaRPr lang="en-US" sz="1500" dirty="0"/>
          </a:p>
        </p:txBody>
      </p:sp>
      <p:sp>
        <p:nvSpPr>
          <p:cNvPr id="14" name="Text 12"/>
          <p:cNvSpPr txBox="1"/>
          <p:nvPr/>
        </p:nvSpPr>
        <p:spPr>
          <a:xfrm>
            <a:off x="8138160" y="1481328"/>
            <a:ext cx="3230575"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statik: eşiğe kadar dengeler</a:t>
            </a:r>
            <a:endParaRPr lang="en-US" sz="1200" dirty="0"/>
          </a:p>
        </p:txBody>
      </p:sp>
      <p:sp>
        <p:nvSpPr>
          <p:cNvPr id="15" name="Shape 13"/>
          <p:cNvSpPr/>
          <p:nvPr/>
        </p:nvSpPr>
        <p:spPr>
          <a:xfrm>
            <a:off x="6172200" y="2350008"/>
            <a:ext cx="5379415" cy="731520"/>
          </a:xfrm>
          <a:prstGeom prst="roundRect">
            <a:avLst>
              <a:gd name="adj" fmla="val 12500"/>
            </a:avLst>
          </a:prstGeom>
          <a:solidFill>
            <a:srgbClr val="1C2542"/>
          </a:solidFill>
          <a:ln w="9525">
            <a:solidFill>
              <a:srgbClr val="2C3860"/>
            </a:solidFill>
            <a:prstDash val="solid"/>
          </a:ln>
        </p:spPr>
      </p:sp>
      <p:sp>
        <p:nvSpPr>
          <p:cNvPr id="16" name="Text 14"/>
          <p:cNvSpPr txBox="1"/>
          <p:nvPr/>
        </p:nvSpPr>
        <p:spPr>
          <a:xfrm>
            <a:off x="6400800" y="2350008"/>
            <a:ext cx="1645920"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fk = μk · N</a:t>
            </a:r>
            <a:endParaRPr lang="en-US" sz="1500" dirty="0"/>
          </a:p>
        </p:txBody>
      </p:sp>
      <p:sp>
        <p:nvSpPr>
          <p:cNvPr id="17" name="Text 15"/>
          <p:cNvSpPr txBox="1"/>
          <p:nvPr/>
        </p:nvSpPr>
        <p:spPr>
          <a:xfrm>
            <a:off x="8138160" y="2350008"/>
            <a:ext cx="3230575"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kinetik: sabit</a:t>
            </a:r>
            <a:endParaRPr lang="en-US" sz="1200" dirty="0"/>
          </a:p>
        </p:txBody>
      </p:sp>
      <p:sp>
        <p:nvSpPr>
          <p:cNvPr id="18" name="Shape 16"/>
          <p:cNvSpPr/>
          <p:nvPr/>
        </p:nvSpPr>
        <p:spPr>
          <a:xfrm>
            <a:off x="6172200" y="3218688"/>
            <a:ext cx="5379415" cy="731520"/>
          </a:xfrm>
          <a:prstGeom prst="roundRect">
            <a:avLst>
              <a:gd name="adj" fmla="val 12500"/>
            </a:avLst>
          </a:prstGeom>
          <a:solidFill>
            <a:srgbClr val="1C2542"/>
          </a:solidFill>
          <a:ln w="9525">
            <a:solidFill>
              <a:srgbClr val="2C3860"/>
            </a:solidFill>
            <a:prstDash val="solid"/>
          </a:ln>
        </p:spPr>
      </p:sp>
      <p:sp>
        <p:nvSpPr>
          <p:cNvPr id="19" name="Text 17"/>
          <p:cNvSpPr txBox="1"/>
          <p:nvPr/>
        </p:nvSpPr>
        <p:spPr>
          <a:xfrm>
            <a:off x="6400800" y="3218688"/>
            <a:ext cx="1645920"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tanθ = μs</a:t>
            </a:r>
            <a:endParaRPr lang="en-US" sz="1500" dirty="0"/>
          </a:p>
        </p:txBody>
      </p:sp>
      <p:sp>
        <p:nvSpPr>
          <p:cNvPr id="20" name="Text 18"/>
          <p:cNvSpPr txBox="1"/>
          <p:nvPr/>
        </p:nvSpPr>
        <p:spPr>
          <a:xfrm>
            <a:off x="8138160" y="3218688"/>
            <a:ext cx="3230575"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kaymanın başladığı açı</a:t>
            </a:r>
            <a:endParaRPr lang="en-US" sz="1200" dirty="0"/>
          </a:p>
        </p:txBody>
      </p:sp>
      <p:sp>
        <p:nvSpPr>
          <p:cNvPr id="21" name="Shape 19"/>
          <p:cNvSpPr/>
          <p:nvPr/>
        </p:nvSpPr>
        <p:spPr>
          <a:xfrm>
            <a:off x="6172200" y="4087368"/>
            <a:ext cx="5379415" cy="731520"/>
          </a:xfrm>
          <a:prstGeom prst="roundRect">
            <a:avLst>
              <a:gd name="adj" fmla="val 12500"/>
            </a:avLst>
          </a:prstGeom>
          <a:solidFill>
            <a:srgbClr val="1C2542"/>
          </a:solidFill>
          <a:ln w="9525">
            <a:solidFill>
              <a:srgbClr val="2C3860"/>
            </a:solidFill>
            <a:prstDash val="solid"/>
          </a:ln>
        </p:spPr>
      </p:sp>
      <p:sp>
        <p:nvSpPr>
          <p:cNvPr id="22" name="Text 20"/>
          <p:cNvSpPr txBox="1"/>
          <p:nvPr/>
        </p:nvSpPr>
        <p:spPr>
          <a:xfrm>
            <a:off x="6400800" y="4087368"/>
            <a:ext cx="2176272"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d = v² / (2·μ·g)</a:t>
            </a:r>
            <a:endParaRPr lang="en-US" sz="1500" dirty="0"/>
          </a:p>
        </p:txBody>
      </p:sp>
      <p:sp>
        <p:nvSpPr>
          <p:cNvPr id="23" name="Text 21"/>
          <p:cNvSpPr txBox="1"/>
          <p:nvPr/>
        </p:nvSpPr>
        <p:spPr>
          <a:xfrm>
            <a:off x="8668512" y="4087368"/>
            <a:ext cx="2700223"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fren mesafesi</a:t>
            </a:r>
            <a:endParaRPr lang="en-US" sz="1200" dirty="0"/>
          </a:p>
        </p:txBody>
      </p:sp>
      <p:sp>
        <p:nvSpPr>
          <p:cNvPr id="24" name="Shape 22"/>
          <p:cNvSpPr/>
          <p:nvPr/>
        </p:nvSpPr>
        <p:spPr>
          <a:xfrm>
            <a:off x="640080" y="6382512"/>
            <a:ext cx="128016" cy="128016"/>
          </a:xfrm>
          <a:prstGeom prst="roundRect">
            <a:avLst>
              <a:gd name="adj" fmla="val 28571"/>
            </a:avLst>
          </a:prstGeom>
          <a:solidFill>
            <a:srgbClr val="C6F36B"/>
          </a:solidFill>
          <a:ln/>
        </p:spPr>
      </p:sp>
      <p:sp>
        <p:nvSpPr>
          <p:cNvPr id="25" name="Text 23"/>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dersler.perinet.org/surtunme-kuvveti.html</a:t>
            </a:r>
            <a:endParaRPr lang="en-US" sz="1050" dirty="0"/>
          </a:p>
        </p:txBody>
      </p:sp>
      <p:sp>
        <p:nvSpPr>
          <p:cNvPr id="26" name="Text 24"/>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12</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Sürtünme katsayısı ve temel bağıntılar</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640080" y="1188720"/>
            <a:ext cx="10911535" cy="886358"/>
          </a:xfrm>
          <a:prstGeom prst="roundRect">
            <a:avLst>
              <a:gd name="adj" fmla="val 12380"/>
            </a:avLst>
          </a:prstGeom>
          <a:solidFill>
            <a:srgbClr val="F8F9FC"/>
          </a:solidFill>
          <a:ln w="9525">
            <a:solidFill>
              <a:srgbClr val="E1E5EE"/>
            </a:solidFill>
            <a:prstDash val="solid"/>
          </a:ln>
        </p:spPr>
      </p:sp>
      <p:sp>
        <p:nvSpPr>
          <p:cNvPr id="7" name="Shape 5"/>
          <p:cNvSpPr/>
          <p:nvPr/>
        </p:nvSpPr>
        <p:spPr>
          <a:xfrm>
            <a:off x="658368" y="1298448"/>
            <a:ext cx="54864" cy="666902"/>
          </a:xfrm>
          <a:prstGeom prst="rect">
            <a:avLst/>
          </a:prstGeom>
          <a:solidFill>
            <a:srgbClr val="2957D4"/>
          </a:solidFill>
          <a:ln/>
        </p:spPr>
      </p:sp>
      <p:sp>
        <p:nvSpPr>
          <p:cNvPr id="8" name="Text 6"/>
          <p:cNvSpPr txBox="1"/>
          <p:nvPr/>
        </p:nvSpPr>
        <p:spPr>
          <a:xfrm>
            <a:off x="932688" y="1234440"/>
            <a:ext cx="10454335" cy="794918"/>
          </a:xfrm>
          <a:prstGeom prst="rect">
            <a:avLst/>
          </a:prstGeom>
          <a:noFill/>
          <a:ln/>
        </p:spPr>
        <p:txBody>
          <a:bodyPr wrap="square" lIns="0" tIns="0" rIns="0" bIns="0" rtlCol="0" anchor="ctr"/>
          <a:lstStyle/>
          <a:p>
            <a:pPr indent="0" marL="0">
              <a:lnSpc>
                <a:spcPct val="112000"/>
              </a:lnSpc>
              <a:buNone/>
            </a:pPr>
            <a:r>
              <a:rPr lang="en-US" sz="1900" dirty="0">
                <a:solidFill>
                  <a:srgbClr val="0E1426"/>
                </a:solidFill>
                <a:latin typeface="Calibri" pitchFamily="34" charset="0"/>
                <a:ea typeface="Calibri" pitchFamily="34" charset="-122"/>
                <a:cs typeface="Calibri" pitchFamily="34" charset="-120"/>
              </a:rPr>
              <a:t>Statik sürtünme fs ≤ μs·N, kinetik sürtünme fk = μk·N'dir ve genellikle μk &lt; μs. Önce cismin kayıp kaymadığına karar ver, sonra geçerli bağıntıyı seç.</a:t>
            </a:r>
            <a:endParaRPr lang="en-US" sz="1900" dirty="0"/>
          </a:p>
        </p:txBody>
      </p:sp>
      <p:sp>
        <p:nvSpPr>
          <p:cNvPr id="9" name="Shape 7"/>
          <p:cNvSpPr/>
          <p:nvPr/>
        </p:nvSpPr>
        <p:spPr>
          <a:xfrm>
            <a:off x="640080" y="2294534"/>
            <a:ext cx="1938528" cy="457200"/>
          </a:xfrm>
          <a:prstGeom prst="roundRect">
            <a:avLst>
              <a:gd name="adj" fmla="val 24000"/>
            </a:avLst>
          </a:prstGeom>
          <a:solidFill>
            <a:srgbClr val="EEF2FC"/>
          </a:solidFill>
          <a:ln w="9525">
            <a:solidFill>
              <a:srgbClr val="CBD7F4"/>
            </a:solidFill>
            <a:prstDash val="solid"/>
          </a:ln>
        </p:spPr>
      </p:sp>
      <p:sp>
        <p:nvSpPr>
          <p:cNvPr id="10" name="Text 8"/>
          <p:cNvSpPr txBox="1"/>
          <p:nvPr/>
        </p:nvSpPr>
        <p:spPr>
          <a:xfrm>
            <a:off x="640080" y="2294534"/>
            <a:ext cx="1938528"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fs = Fuygulanan</a:t>
            </a:r>
            <a:endParaRPr lang="en-US" sz="1300" dirty="0"/>
          </a:p>
        </p:txBody>
      </p:sp>
      <p:sp>
        <p:nvSpPr>
          <p:cNvPr id="11" name="Shape 9"/>
          <p:cNvSpPr/>
          <p:nvPr/>
        </p:nvSpPr>
        <p:spPr>
          <a:xfrm>
            <a:off x="2688336" y="2294534"/>
            <a:ext cx="1543507" cy="457200"/>
          </a:xfrm>
          <a:prstGeom prst="roundRect">
            <a:avLst>
              <a:gd name="adj" fmla="val 24000"/>
            </a:avLst>
          </a:prstGeom>
          <a:solidFill>
            <a:srgbClr val="EEF2FC"/>
          </a:solidFill>
          <a:ln w="9525">
            <a:solidFill>
              <a:srgbClr val="CBD7F4"/>
            </a:solidFill>
            <a:prstDash val="solid"/>
          </a:ln>
        </p:spPr>
      </p:sp>
      <p:sp>
        <p:nvSpPr>
          <p:cNvPr id="12" name="Text 10"/>
          <p:cNvSpPr txBox="1"/>
          <p:nvPr/>
        </p:nvSpPr>
        <p:spPr>
          <a:xfrm>
            <a:off x="2688336" y="2294534"/>
            <a:ext cx="1543507"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fs ≤ μs · N</a:t>
            </a:r>
            <a:endParaRPr lang="en-US" sz="1300" dirty="0"/>
          </a:p>
        </p:txBody>
      </p:sp>
      <p:sp>
        <p:nvSpPr>
          <p:cNvPr id="13" name="Shape 11"/>
          <p:cNvSpPr/>
          <p:nvPr/>
        </p:nvSpPr>
        <p:spPr>
          <a:xfrm>
            <a:off x="640080" y="2916326"/>
            <a:ext cx="1543507" cy="457200"/>
          </a:xfrm>
          <a:prstGeom prst="roundRect">
            <a:avLst>
              <a:gd name="adj" fmla="val 24000"/>
            </a:avLst>
          </a:prstGeom>
          <a:solidFill>
            <a:srgbClr val="EEF2FC"/>
          </a:solidFill>
          <a:ln w="9525">
            <a:solidFill>
              <a:srgbClr val="CBD7F4"/>
            </a:solidFill>
            <a:prstDash val="solid"/>
          </a:ln>
        </p:spPr>
      </p:sp>
      <p:sp>
        <p:nvSpPr>
          <p:cNvPr id="14" name="Text 12"/>
          <p:cNvSpPr txBox="1"/>
          <p:nvPr/>
        </p:nvSpPr>
        <p:spPr>
          <a:xfrm>
            <a:off x="640080" y="2916326"/>
            <a:ext cx="1543507"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fk = μk · N</a:t>
            </a:r>
            <a:endParaRPr lang="en-US" sz="1300" dirty="0"/>
          </a:p>
        </p:txBody>
      </p:sp>
      <p:sp>
        <p:nvSpPr>
          <p:cNvPr id="15" name="Shape 13"/>
          <p:cNvSpPr/>
          <p:nvPr/>
        </p:nvSpPr>
        <p:spPr>
          <a:xfrm>
            <a:off x="2293315" y="2916326"/>
            <a:ext cx="1148486" cy="457200"/>
          </a:xfrm>
          <a:prstGeom prst="roundRect">
            <a:avLst>
              <a:gd name="adj" fmla="val 24000"/>
            </a:avLst>
          </a:prstGeom>
          <a:solidFill>
            <a:srgbClr val="EEF2FC"/>
          </a:solidFill>
          <a:ln w="9525">
            <a:solidFill>
              <a:srgbClr val="CBD7F4"/>
            </a:solidFill>
            <a:prstDash val="solid"/>
          </a:ln>
        </p:spPr>
      </p:sp>
      <p:sp>
        <p:nvSpPr>
          <p:cNvPr id="16" name="Text 14"/>
          <p:cNvSpPr txBox="1"/>
          <p:nvPr/>
        </p:nvSpPr>
        <p:spPr>
          <a:xfrm>
            <a:off x="2293315" y="2916326"/>
            <a:ext cx="1148486"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μk &lt; μs</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40080" y="3538118"/>
          <a:ext cx="6675120" cy="914400"/>
        </p:xfrm>
        <a:graphic>
          <a:graphicData uri="http://schemas.openxmlformats.org/drawingml/2006/table">
            <a:tbl>
              <a:tblPr/>
              <a:tblGrid>
                <a:gridCol w="1335024"/>
                <a:gridCol w="3263392"/>
                <a:gridCol w="2076704"/>
              </a:tblGrid>
              <a:tr h="338328">
                <a:tc>
                  <a:txBody>
                    <a:bodyPr/>
                    <a:lstStyle/>
                    <a:p>
                      <a:pPr indent="0" marL="0">
                        <a:buNone/>
                      </a:pP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Statik</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Kinetik</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Ne zaman</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Cisim dururken</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Cisim kayarken</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Büyüklük</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Uygulanan kuvvete eşit</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μk·N, sabit</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Üst sınır</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μs·N</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18" name="Shape 15"/>
          <p:cNvSpPr/>
          <p:nvPr/>
        </p:nvSpPr>
        <p:spPr>
          <a:xfrm>
            <a:off x="7607808" y="2294534"/>
            <a:ext cx="3943807" cy="3133044"/>
          </a:xfrm>
          <a:prstGeom prst="roundRect">
            <a:avLst>
              <a:gd name="adj" fmla="val 46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9" name="Image 0" descr="/tmp/claude-1000/-opt-dersler/8a8328c3-841c-44fa-b76f-82572d338d3d/scratchpad/d4/sek/surtunme-kuvveti-03.png">    </p:cNvPr>
          <p:cNvPicPr>
            <a:picLocks noChangeAspect="1"/>
          </p:cNvPicPr>
          <p:nvPr/>
        </p:nvPicPr>
        <p:blipFill>
          <a:blip r:embed="rId1"/>
          <a:stretch>
            <a:fillRect/>
          </a:stretch>
        </p:blipFill>
        <p:spPr>
          <a:xfrm>
            <a:off x="7790688" y="2477414"/>
            <a:ext cx="3578047" cy="1490781"/>
          </a:xfrm>
          <a:prstGeom prst="rect">
            <a:avLst/>
          </a:prstGeom>
        </p:spPr>
      </p:pic>
      <p:sp>
        <p:nvSpPr>
          <p:cNvPr id="20" name="Shape 16"/>
          <p:cNvSpPr/>
          <p:nvPr/>
        </p:nvSpPr>
        <p:spPr>
          <a:xfrm>
            <a:off x="7790688" y="4059636"/>
            <a:ext cx="3578047" cy="0"/>
          </a:xfrm>
          <a:prstGeom prst="line">
            <a:avLst/>
          </a:prstGeom>
          <a:noFill/>
          <a:ln w="9525">
            <a:solidFill>
              <a:srgbClr val="E1E5EE"/>
            </a:solidFill>
            <a:prstDash val="dash"/>
          </a:ln>
        </p:spPr>
      </p:sp>
      <p:sp>
        <p:nvSpPr>
          <p:cNvPr id="21" name="Text 17"/>
          <p:cNvSpPr txBox="1"/>
          <p:nvPr/>
        </p:nvSpPr>
        <p:spPr>
          <a:xfrm>
            <a:off x="7790688" y="4114500"/>
            <a:ext cx="3578047" cy="1130198"/>
          </a:xfrm>
          <a:prstGeom prst="rect">
            <a:avLst/>
          </a:prstGeom>
          <a:noFill/>
          <a:ln/>
        </p:spPr>
        <p:txBody>
          <a:bodyPr wrap="square" lIns="0" tIns="0" rIns="0" bIns="0" rtlCol="0" anchor="t"/>
          <a:lstStyle/>
          <a:p>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Soldaki grafik hikâyenin tamamı: mavi kısımda cisim durgundur ve sürtünme uygulanan kuvvetle birlikte büyür; eşikte kopar ve sarı kısımda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sabit</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bir değere yerleşir. Sağdaki çubuklar her yüzey çiftinde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μk'nin μs'den küçük</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olduğunu gösteriyor — bir dolabı yerinden oynatmak, sonra itmekten hep daha zordur.</a:t>
            </a:r>
            <a:endParaRPr lang="en-US" sz="1050" dirty="0"/>
          </a:p>
        </p:txBody>
      </p:sp>
      <p:sp>
        <p:nvSpPr>
          <p:cNvPr id="22" name="Shape 18"/>
          <p:cNvSpPr/>
          <p:nvPr/>
        </p:nvSpPr>
        <p:spPr>
          <a:xfrm>
            <a:off x="640080" y="6382512"/>
            <a:ext cx="128016" cy="128016"/>
          </a:xfrm>
          <a:prstGeom prst="roundRect">
            <a:avLst>
              <a:gd name="adj" fmla="val 28571"/>
            </a:avLst>
          </a:prstGeom>
          <a:solidFill>
            <a:srgbClr val="A9E648"/>
          </a:solidFill>
          <a:ln/>
        </p:spPr>
      </p:sp>
      <p:sp>
        <p:nvSpPr>
          <p:cNvPr id="23"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dersler.perinet.org/surtunme-kuvveti.html</a:t>
            </a:r>
            <a:endParaRPr lang="en-US" sz="1050" dirty="0"/>
          </a:p>
        </p:txBody>
      </p:sp>
      <p:sp>
        <p:nvSpPr>
          <p:cNvPr id="24"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100" b="1" spc="-50" kern="0" dirty="0">
                <a:solidFill>
                  <a:srgbClr val="0E1426"/>
                </a:solidFill>
                <a:latin typeface="Cambria" pitchFamily="34" charset="0"/>
                <a:ea typeface="Cambria" pitchFamily="34" charset="-122"/>
                <a:cs typeface="Cambria" pitchFamily="34" charset="-120"/>
              </a:rPr>
              <a:t>Sürtünme katsayısı ve temel bağıntılar · devam</a:t>
            </a:r>
            <a:endParaRPr lang="en-US" sz="31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640080" y="1481328"/>
            <a:ext cx="10911535" cy="822960"/>
          </a:xfrm>
          <a:prstGeom prst="roundRect">
            <a:avLst>
              <a:gd name="adj" fmla="val 1333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658368" y="1627632"/>
            <a:ext cx="45720" cy="530352"/>
          </a:xfrm>
          <a:prstGeom prst="rect">
            <a:avLst/>
          </a:prstGeom>
          <a:solidFill>
            <a:srgbClr val="3C8C21"/>
          </a:solidFill>
          <a:ln/>
        </p:spPr>
      </p:sp>
      <p:sp>
        <p:nvSpPr>
          <p:cNvPr id="8" name="Text 6"/>
          <p:cNvSpPr txBox="1"/>
          <p:nvPr/>
        </p:nvSpPr>
        <p:spPr>
          <a:xfrm>
            <a:off x="914400" y="1591056"/>
            <a:ext cx="10454335" cy="603504"/>
          </a:xfrm>
          <a:prstGeom prst="rect">
            <a:avLst/>
          </a:prstGeom>
          <a:noFill/>
          <a:ln/>
        </p:spPr>
        <p:txBody>
          <a:bodyPr wrap="square" lIns="0" tIns="0" rIns="0" bIns="0" rtlCol="0" anchor="ctr"/>
          <a:lstStyle/>
          <a:p>
            <a:pPr indent="0" marL="0">
              <a:lnSpc>
                <a:spcPct val="112000"/>
              </a:lnSpc>
              <a:buNone/>
            </a:pPr>
            <a:r>
              <a:rPr lang="en-US" sz="1200" b="1" dirty="0">
                <a:solidFill>
                  <a:srgbClr val="0E1426"/>
                </a:solidFill>
                <a:latin typeface="Calibri" pitchFamily="34" charset="0"/>
                <a:ea typeface="Calibri" pitchFamily="34" charset="-122"/>
                <a:cs typeface="Calibri" pitchFamily="34" charset="-120"/>
              </a:rPr>
              <a:t>μ birimsizdir</a:t>
            </a:r>
            <a:pPr indent="0" marL="0">
              <a:lnSpc>
                <a:spcPct val="112000"/>
              </a:lnSpc>
              <a:buNone/>
            </a:pPr>
            <a:r>
              <a:rPr lang="en-US" sz="1200" dirty="0">
                <a:solidFill>
                  <a:srgbClr val="4A5470"/>
                </a:solidFill>
                <a:latin typeface="Calibri" pitchFamily="34" charset="0"/>
                <a:ea typeface="Calibri" pitchFamily="34" charset="-122"/>
                <a:cs typeface="Calibri" pitchFamily="34" charset="-120"/>
              </a:rPr>
              <a:t> ve genellikle 0 ile 1 arasındadır; ama yapışkan yüzeylerde 1'in üstüne de çıkabilir. Sürtünme katsayısı bir </a:t>
            </a:r>
            <a:pPr indent="0" marL="0">
              <a:lnSpc>
                <a:spcPct val="112000"/>
              </a:lnSpc>
              <a:buNone/>
            </a:pPr>
            <a:r>
              <a:rPr lang="en-US" sz="1200" b="1" dirty="0">
                <a:solidFill>
                  <a:srgbClr val="0E1426"/>
                </a:solidFill>
                <a:latin typeface="Calibri" pitchFamily="34" charset="0"/>
                <a:ea typeface="Calibri" pitchFamily="34" charset="-122"/>
                <a:cs typeface="Calibri" pitchFamily="34" charset="-120"/>
              </a:rPr>
              <a:t>oran</a:t>
            </a:r>
            <a:pPr indent="0" marL="0">
              <a:lnSpc>
                <a:spcPct val="112000"/>
              </a:lnSpc>
              <a:buNone/>
            </a:pPr>
            <a:r>
              <a:rPr lang="en-US" sz="1200" dirty="0">
                <a:solidFill>
                  <a:srgbClr val="4A5470"/>
                </a:solidFill>
                <a:latin typeface="Calibri" pitchFamily="34" charset="0"/>
                <a:ea typeface="Calibri" pitchFamily="34" charset="-122"/>
                <a:cs typeface="Calibri" pitchFamily="34" charset="-120"/>
              </a:rPr>
              <a:t>dır: f ile N'nin oranı. Birim kontrolü de bunu doğrular: μ = f/N için N/N, yani birim sadeleşir.</a:t>
            </a:r>
            <a:endParaRPr lang="en-US" sz="1200" dirty="0"/>
          </a:p>
        </p:txBody>
      </p:sp>
      <p:sp>
        <p:nvSpPr>
          <p:cNvPr id="9" name="Text 7"/>
          <p:cNvSpPr txBox="1"/>
          <p:nvPr/>
        </p:nvSpPr>
        <p:spPr>
          <a:xfrm>
            <a:off x="640080" y="2450592"/>
            <a:ext cx="10911535" cy="274320"/>
          </a:xfrm>
          <a:prstGeom prst="rect">
            <a:avLst/>
          </a:prstGeom>
          <a:noFill/>
          <a:ln/>
        </p:spPr>
        <p:txBody>
          <a:bodyPr wrap="square" lIns="0" tIns="0" rIns="0" bIns="0" rtlCol="0" anchor="ctr"/>
          <a:lstStyle/>
          <a:p>
            <a:pPr indent="0" marL="0">
              <a:buNone/>
            </a:pPr>
            <a:r>
              <a:rPr lang="en-US" sz="1350" b="1" dirty="0">
                <a:solidFill>
                  <a:srgbClr val="2957D4"/>
                </a:solidFill>
                <a:latin typeface="Calibri" pitchFamily="34" charset="0"/>
                <a:ea typeface="Calibri" pitchFamily="34" charset="-122"/>
                <a:cs typeface="Calibri" pitchFamily="34" charset="-120"/>
              </a:rPr>
              <a:t>Bir sürtünme sorusunu çözme sırası</a:t>
            </a:r>
            <a:endParaRPr lang="en-US" sz="1350" dirty="0"/>
          </a:p>
        </p:txBody>
      </p:sp>
      <p:sp>
        <p:nvSpPr>
          <p:cNvPr id="10" name="Text 8"/>
          <p:cNvSpPr txBox="1"/>
          <p:nvPr/>
        </p:nvSpPr>
        <p:spPr>
          <a:xfrm>
            <a:off x="640080" y="2761488"/>
            <a:ext cx="10911535" cy="1459230"/>
          </a:xfrm>
          <a:prstGeom prst="rect">
            <a:avLst/>
          </a:prstGeom>
          <a:noFill/>
          <a:ln/>
        </p:spPr>
        <p:txBody>
          <a:bodyPr wrap="square" lIns="0" tIns="0" rIns="0" bIns="0" rtlCol="0" anchor="t"/>
          <a:lstStyle/>
          <a:p>
            <a:pPr marL="228600" indent="-228600">
              <a:lnSpc>
                <a:spcPct val="115000"/>
              </a:lnSpc>
              <a:spcAft>
                <a:spcPts val="500"/>
              </a:spcAft>
              <a:buSzPct val="100000"/>
              <a:buFont typeface="+mj-lt"/>
              <a:buAutoNum type="arabicPeriod" startAt="1"/>
            </a:pPr>
            <a:r>
              <a:rPr lang="en-US" sz="1300" b="1" dirty="0">
                <a:solidFill>
                  <a:srgbClr val="0E1426"/>
                </a:solidFill>
                <a:latin typeface="Calibri" pitchFamily="34" charset="0"/>
                <a:ea typeface="Calibri" pitchFamily="34" charset="-122"/>
                <a:cs typeface="Calibri" pitchFamily="34" charset="-120"/>
              </a:rPr>
              <a:t>Normal kuvveti bul:</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yatay zeminde, başka düşey kuvvet yoksa N = m·g.</a:t>
            </a:r>
            <a:endParaRPr lang="en-US" sz="1300" dirty="0"/>
          </a:p>
          <a:p>
            <a:pPr marL="228600" indent="-228600">
              <a:lnSpc>
                <a:spcPct val="115000"/>
              </a:lnSpc>
              <a:spcAft>
                <a:spcPts val="500"/>
              </a:spcAft>
              <a:buSzPct val="100000"/>
              <a:buFont typeface="+mj-lt"/>
              <a:buAutoNum type="arabicPeriod" startAt="1"/>
            </a:pPr>
            <a:r>
              <a:rPr lang="en-US" sz="1300" b="1" dirty="0">
                <a:solidFill>
                  <a:srgbClr val="0E1426"/>
                </a:solidFill>
                <a:latin typeface="Calibri" pitchFamily="34" charset="0"/>
                <a:ea typeface="Calibri" pitchFamily="34" charset="-122"/>
                <a:cs typeface="Calibri" pitchFamily="34" charset="-120"/>
              </a:rPr>
              <a:t>Eşiği hesapla:</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μ</a:t>
            </a:r>
            <a:pPr indent="0" marL="0">
              <a:lnSpc>
                <a:spcPct val="115000"/>
              </a:lnSpc>
              <a:buNone/>
            </a:pPr>
            <a:r>
              <a:rPr lang="en-US" sz="1300" baseline="-40000" dirty="0">
                <a:solidFill>
                  <a:srgbClr val="4A5470"/>
                </a:solidFill>
                <a:latin typeface="Calibri" pitchFamily="34" charset="0"/>
                <a:ea typeface="Calibri" pitchFamily="34" charset="-122"/>
                <a:cs typeface="Calibri" pitchFamily="34" charset="-120"/>
              </a:rPr>
              <a:t>s</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·N, cismi kıpırdatmak için aşılması gereken kuvvettir.</a:t>
            </a:r>
            <a:endParaRPr lang="en-US" sz="1300" dirty="0"/>
          </a:p>
          <a:p>
            <a:pPr marL="228600" indent="-228600">
              <a:lnSpc>
                <a:spcPct val="115000"/>
              </a:lnSpc>
              <a:spcAft>
                <a:spcPts val="500"/>
              </a:spcAft>
              <a:buSzPct val="100000"/>
              <a:buFont typeface="+mj-lt"/>
              <a:buAutoNum type="arabicPeriod" startAt="1"/>
            </a:pPr>
            <a:r>
              <a:rPr lang="en-US" sz="1300" b="1" dirty="0">
                <a:solidFill>
                  <a:srgbClr val="0E1426"/>
                </a:solidFill>
                <a:latin typeface="Calibri" pitchFamily="34" charset="0"/>
                <a:ea typeface="Calibri" pitchFamily="34" charset="-122"/>
                <a:cs typeface="Calibri" pitchFamily="34" charset="-120"/>
              </a:rPr>
              <a:t>Karşılaştır:</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F ≤ μ</a:t>
            </a:r>
            <a:pPr indent="0" marL="0">
              <a:lnSpc>
                <a:spcPct val="115000"/>
              </a:lnSpc>
              <a:buNone/>
            </a:pPr>
            <a:r>
              <a:rPr lang="en-US" sz="1300" baseline="-40000" dirty="0">
                <a:solidFill>
                  <a:srgbClr val="4A5470"/>
                </a:solidFill>
                <a:latin typeface="Calibri" pitchFamily="34" charset="0"/>
                <a:ea typeface="Calibri" pitchFamily="34" charset="-122"/>
                <a:cs typeface="Calibri" pitchFamily="34" charset="-120"/>
              </a:rPr>
              <a:t>s</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·N ise cisim durur; f = F ve a = 0.</a:t>
            </a:r>
            <a:endParaRPr lang="en-US" sz="1300" dirty="0"/>
          </a:p>
          <a:p>
            <a:pPr marL="228600" indent="-228600">
              <a:lnSpc>
                <a:spcPct val="115000"/>
              </a:lnSpc>
              <a:spcAft>
                <a:spcPts val="500"/>
              </a:spcAft>
              <a:buSzPct val="100000"/>
              <a:buFont typeface="+mj-lt"/>
              <a:buAutoNum type="arabicPeriod" startAt="1"/>
            </a:pPr>
            <a:r>
              <a:rPr lang="en-US" sz="1300" b="1" dirty="0">
                <a:solidFill>
                  <a:srgbClr val="0E1426"/>
                </a:solidFill>
                <a:latin typeface="Calibri" pitchFamily="34" charset="0"/>
                <a:ea typeface="Calibri" pitchFamily="34" charset="-122"/>
                <a:cs typeface="Calibri" pitchFamily="34" charset="-120"/>
              </a:rPr>
              <a:t>Kayıyorsa kinetiğe geç:</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F &gt; μ</a:t>
            </a:r>
            <a:pPr indent="0" marL="0">
              <a:lnSpc>
                <a:spcPct val="115000"/>
              </a:lnSpc>
              <a:buNone/>
            </a:pPr>
            <a:r>
              <a:rPr lang="en-US" sz="1300" baseline="-40000" dirty="0">
                <a:solidFill>
                  <a:srgbClr val="4A5470"/>
                </a:solidFill>
                <a:latin typeface="Calibri" pitchFamily="34" charset="0"/>
                <a:ea typeface="Calibri" pitchFamily="34" charset="-122"/>
                <a:cs typeface="Calibri" pitchFamily="34" charset="-120"/>
              </a:rPr>
              <a:t>s</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·N ise f = μ</a:t>
            </a:r>
            <a:pPr indent="0" marL="0">
              <a:lnSpc>
                <a:spcPct val="115000"/>
              </a:lnSpc>
              <a:buNone/>
            </a:pPr>
            <a:r>
              <a:rPr lang="en-US" sz="1300" baseline="-40000" dirty="0">
                <a:solidFill>
                  <a:srgbClr val="4A5470"/>
                </a:solidFill>
                <a:latin typeface="Calibri" pitchFamily="34" charset="0"/>
                <a:ea typeface="Calibri" pitchFamily="34" charset="-122"/>
                <a:cs typeface="Calibri" pitchFamily="34" charset="-120"/>
              </a:rPr>
              <a:t>k</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·N olur.</a:t>
            </a:r>
            <a:endParaRPr lang="en-US" sz="1300" dirty="0"/>
          </a:p>
          <a:p>
            <a:pPr marL="228600" indent="-228600">
              <a:lnSpc>
                <a:spcPct val="115000"/>
              </a:lnSpc>
              <a:spcAft>
                <a:spcPts val="500"/>
              </a:spcAft>
              <a:buSzPct val="100000"/>
              <a:buFont typeface="+mj-lt"/>
              <a:buAutoNum type="arabicPeriod" startAt="1"/>
            </a:pPr>
            <a:r>
              <a:rPr lang="en-US" sz="1300" b="1" dirty="0">
                <a:solidFill>
                  <a:srgbClr val="0E1426"/>
                </a:solidFill>
                <a:latin typeface="Calibri" pitchFamily="34" charset="0"/>
                <a:ea typeface="Calibri" pitchFamily="34" charset="-122"/>
                <a:cs typeface="Calibri" pitchFamily="34" charset="-120"/>
              </a:rPr>
              <a:t>Net kuvvetten ivmeye:</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a = (F − f) / m.</a:t>
            </a:r>
            <a:endParaRPr lang="en-US" sz="1300" dirty="0"/>
          </a:p>
        </p:txBody>
      </p:sp>
      <p:sp>
        <p:nvSpPr>
          <p:cNvPr id="11" name="Shape 9"/>
          <p:cNvSpPr/>
          <p:nvPr/>
        </p:nvSpPr>
        <p:spPr>
          <a:xfrm>
            <a:off x="640080" y="6382512"/>
            <a:ext cx="128016" cy="128016"/>
          </a:xfrm>
          <a:prstGeom prst="roundRect">
            <a:avLst>
              <a:gd name="adj" fmla="val 28571"/>
            </a:avLst>
          </a:prstGeom>
          <a:solidFill>
            <a:srgbClr val="A9E648"/>
          </a:solidFill>
          <a:ln/>
        </p:spPr>
      </p:sp>
      <p:sp>
        <p:nvSpPr>
          <p:cNvPr id="12" name="Text 10"/>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dersler.perinet.org/surtunme-kuvveti.html</a:t>
            </a:r>
            <a:endParaRPr lang="en-US" sz="1050" dirty="0"/>
          </a:p>
        </p:txBody>
      </p:sp>
      <p:sp>
        <p:nvSpPr>
          <p:cNvPr id="13" name="Text 11"/>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Kıpırdatmak için 100 N gereken kutu kaydıktan sonra sürtünme 80 N'a düşüyor. 100 N ile itmeye devam edersen ne olur?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04 · Sürtünme katsayısı ve temel bağıntılar</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dersler.perinet.org/surtunme-kuvveti.html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15</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Kıpırdatmak için 100 N gereken kutu kaydıktan sonra sürtünme 80 N'a düşüyor. 100 N ile itmeye devam edersen ne olur?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CFC8F5"/>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Kutu </a:t>
            </a:r>
            <a:pPr indent="0" marL="0">
              <a:lnSpc>
                <a:spcPct val="125000"/>
              </a:lnSpc>
              <a:buNone/>
            </a:pPr>
            <a:r>
              <a:rPr lang="en-US" sz="2200" b="1" dirty="0">
                <a:solidFill>
                  <a:srgbClr val="5F4BD8"/>
                </a:solidFill>
                <a:latin typeface="Calibri" pitchFamily="34" charset="0"/>
                <a:ea typeface="Calibri" pitchFamily="34" charset="-122"/>
                <a:cs typeface="Calibri" pitchFamily="34" charset="-120"/>
              </a:rPr>
              <a:t>hızlanır</a:t>
            </a:r>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 Kayarken sürtünme 80 N'dur; sen 100 N ile ittiğine göre 20 N'luk net kuvvet kalır. Kutu 20 kg ise ivmesi 20/20 = 1 m/s² olur. Kutuyu sabit hızla götürmek istiyorsan kuvvetini 80 N'a düşürmen yeter.</a:t>
            </a:r>
            <a:endParaRPr lang="en-US" sz="2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dersler.perinet.org/surtunme-kuvveti.html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16</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Sürtünme neye bağlı, neye bağlı değil?</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640080" y="1188720"/>
            <a:ext cx="10911535" cy="1185062"/>
          </a:xfrm>
          <a:prstGeom prst="roundRect">
            <a:avLst>
              <a:gd name="adj" fmla="val 9259"/>
            </a:avLst>
          </a:prstGeom>
          <a:solidFill>
            <a:srgbClr val="F8F9FC"/>
          </a:solidFill>
          <a:ln w="9525">
            <a:solidFill>
              <a:srgbClr val="E1E5EE"/>
            </a:solidFill>
            <a:prstDash val="solid"/>
          </a:ln>
        </p:spPr>
      </p:sp>
      <p:sp>
        <p:nvSpPr>
          <p:cNvPr id="7" name="Shape 5"/>
          <p:cNvSpPr/>
          <p:nvPr/>
        </p:nvSpPr>
        <p:spPr>
          <a:xfrm>
            <a:off x="658368" y="1298448"/>
            <a:ext cx="54864" cy="965606"/>
          </a:xfrm>
          <a:prstGeom prst="rect">
            <a:avLst/>
          </a:prstGeom>
          <a:solidFill>
            <a:srgbClr val="2957D4"/>
          </a:solidFill>
          <a:ln/>
        </p:spPr>
      </p:sp>
      <p:sp>
        <p:nvSpPr>
          <p:cNvPr id="8" name="Text 6"/>
          <p:cNvSpPr txBox="1"/>
          <p:nvPr/>
        </p:nvSpPr>
        <p:spPr>
          <a:xfrm>
            <a:off x="932688" y="1234440"/>
            <a:ext cx="10454335" cy="1093622"/>
          </a:xfrm>
          <a:prstGeom prst="rect">
            <a:avLst/>
          </a:prstGeom>
          <a:noFill/>
          <a:ln/>
        </p:spPr>
        <p:txBody>
          <a:bodyPr wrap="square" lIns="0" tIns="0" rIns="0" bIns="0" rtlCol="0" anchor="ctr"/>
          <a:lstStyle/>
          <a:p>
            <a:pPr indent="0" marL="0">
              <a:lnSpc>
                <a:spcPct val="112000"/>
              </a:lnSpc>
              <a:buNone/>
            </a:pPr>
            <a:r>
              <a:rPr lang="en-US" sz="1850" dirty="0">
                <a:solidFill>
                  <a:srgbClr val="0E1426"/>
                </a:solidFill>
                <a:latin typeface="Calibri" pitchFamily="34" charset="0"/>
                <a:ea typeface="Calibri" pitchFamily="34" charset="-122"/>
                <a:cs typeface="Calibri" pitchFamily="34" charset="-120"/>
              </a:rPr>
              <a:t>Sürtünme normal kuvvete ve yüzey çiftine bağlıdır; temas alanına ve (yaklaşık olarak) kayma hızına bağlı değildir. Cisme bastırmak sürtünmeyi artırır, tuğlayı yan yatırmak değiştirmez.</a:t>
            </a:r>
            <a:endParaRPr lang="en-US" sz="1850" dirty="0"/>
          </a:p>
        </p:txBody>
      </p:sp>
      <p:sp>
        <p:nvSpPr>
          <p:cNvPr id="9" name="Text 7"/>
          <p:cNvSpPr txBox="1"/>
          <p:nvPr/>
        </p:nvSpPr>
        <p:spPr>
          <a:xfrm>
            <a:off x="640080" y="2593238"/>
            <a:ext cx="6949440" cy="566166"/>
          </a:xfrm>
          <a:prstGeom prst="rect">
            <a:avLst/>
          </a:prstGeom>
          <a:noFill/>
          <a:ln/>
        </p:spPr>
        <p:txBody>
          <a:bodyPr wrap="square" lIns="0" tIns="0" rIns="0" bIns="0" rtlCol="0" anchor="t"/>
          <a:lstStyle/>
          <a:p>
            <a:pPr marL="203200" indent="-203200">
              <a:lnSpc>
                <a:spcPct val="115000"/>
              </a:lnSpc>
              <a:spcAft>
                <a:spcPts val="500"/>
              </a:spcAft>
              <a:buSzPct val="100000"/>
              <a:buChar char="▪"/>
            </a:pPr>
            <a:r>
              <a:rPr lang="en-US" sz="1250" b="1" dirty="0">
                <a:solidFill>
                  <a:srgbClr val="0E1426"/>
                </a:solidFill>
                <a:latin typeface="Calibri" pitchFamily="34" charset="0"/>
                <a:ea typeface="Calibri" pitchFamily="34" charset="-122"/>
                <a:cs typeface="Calibri" pitchFamily="34" charset="-120"/>
              </a:rPr>
              <a:t>Normal kuvvete (N).</a:t>
            </a:r>
            <a:pPr indent="0" marL="0">
              <a:lnSpc>
                <a:spcPct val="115000"/>
              </a:lnSpc>
              <a:buNone/>
            </a:pPr>
            <a:r>
              <a:rPr lang="en-US" sz="1250" dirty="0">
                <a:solidFill>
                  <a:srgbClr val="4A5470"/>
                </a:solidFill>
                <a:latin typeface="Calibri" pitchFamily="34" charset="0"/>
                <a:ea typeface="Calibri" pitchFamily="34" charset="-122"/>
                <a:cs typeface="Calibri" pitchFamily="34" charset="-120"/>
              </a:rPr>
              <a:t> Cisme bastırırsan ya da kütlesi artarsa sürtünme artar.</a:t>
            </a:r>
            <a:endParaRPr lang="en-US" sz="1250" dirty="0"/>
          </a:p>
          <a:p>
            <a:pPr marL="203200" indent="-203200">
              <a:lnSpc>
                <a:spcPct val="115000"/>
              </a:lnSpc>
              <a:spcAft>
                <a:spcPts val="500"/>
              </a:spcAft>
              <a:buSzPct val="100000"/>
              <a:buChar char="▪"/>
            </a:pPr>
            <a:r>
              <a:rPr lang="en-US" sz="1250" b="1" dirty="0">
                <a:solidFill>
                  <a:srgbClr val="0E1426"/>
                </a:solidFill>
                <a:latin typeface="Calibri" pitchFamily="34" charset="0"/>
                <a:ea typeface="Calibri" pitchFamily="34" charset="-122"/>
                <a:cs typeface="Calibri" pitchFamily="34" charset="-120"/>
              </a:rPr>
              <a:t>Yüzey çiftine.</a:t>
            </a:r>
            <a:pPr indent="0" marL="0">
              <a:lnSpc>
                <a:spcPct val="115000"/>
              </a:lnSpc>
              <a:buNone/>
            </a:pPr>
            <a:r>
              <a:rPr lang="en-US" sz="1250" dirty="0">
                <a:solidFill>
                  <a:srgbClr val="4A5470"/>
                </a:solidFill>
                <a:latin typeface="Calibri" pitchFamily="34" charset="0"/>
                <a:ea typeface="Calibri" pitchFamily="34" charset="-122"/>
                <a:cs typeface="Calibri" pitchFamily="34" charset="-120"/>
              </a:rPr>
              <a:t> Katsayı tek bir cismin değil, </a:t>
            </a:r>
            <a:pPr indent="0" marL="0">
              <a:lnSpc>
                <a:spcPct val="115000"/>
              </a:lnSpc>
              <a:buNone/>
            </a:pPr>
            <a:r>
              <a:rPr lang="en-US" sz="1250" i="1" dirty="0">
                <a:solidFill>
                  <a:srgbClr val="4A5470"/>
                </a:solidFill>
                <a:latin typeface="Calibri" pitchFamily="34" charset="0"/>
                <a:ea typeface="Calibri" pitchFamily="34" charset="-122"/>
                <a:cs typeface="Calibri" pitchFamily="34" charset="-120"/>
              </a:rPr>
              <a:t>iki yüzeyin birlikte</a:t>
            </a:r>
            <a:pPr indent="0" marL="0">
              <a:lnSpc>
                <a:spcPct val="115000"/>
              </a:lnSpc>
              <a:buNone/>
            </a:pPr>
            <a:r>
              <a:rPr lang="en-US" sz="1250" dirty="0">
                <a:solidFill>
                  <a:srgbClr val="4A5470"/>
                </a:solidFill>
                <a:latin typeface="Calibri" pitchFamily="34" charset="0"/>
                <a:ea typeface="Calibri" pitchFamily="34" charset="-122"/>
                <a:cs typeface="Calibri" pitchFamily="34" charset="-120"/>
              </a:rPr>
              <a:t> özelliğidir.</a:t>
            </a:r>
            <a:endParaRPr lang="en-US" sz="1250" dirty="0"/>
          </a:p>
        </p:txBody>
      </p:sp>
      <p:sp>
        <p:nvSpPr>
          <p:cNvPr id="10" name="Text 8"/>
          <p:cNvSpPr txBox="1"/>
          <p:nvPr/>
        </p:nvSpPr>
        <p:spPr>
          <a:xfrm>
            <a:off x="640080" y="3269132"/>
            <a:ext cx="6949440" cy="785241"/>
          </a:xfrm>
          <a:prstGeom prst="rect">
            <a:avLst/>
          </a:prstGeom>
          <a:noFill/>
          <a:ln/>
        </p:spPr>
        <p:txBody>
          <a:bodyPr wrap="square" lIns="0" tIns="0" rIns="0" bIns="0" rtlCol="0" anchor="t"/>
          <a:lstStyle/>
          <a:p>
            <a:pPr marL="203200" indent="-203200">
              <a:lnSpc>
                <a:spcPct val="115000"/>
              </a:lnSpc>
              <a:spcAft>
                <a:spcPts val="500"/>
              </a:spcAft>
              <a:buSzPct val="100000"/>
              <a:buChar char="▪"/>
            </a:pPr>
            <a:r>
              <a:rPr lang="en-US" sz="1250" b="1" dirty="0">
                <a:solidFill>
                  <a:srgbClr val="0E1426"/>
                </a:solidFill>
                <a:latin typeface="Calibri" pitchFamily="34" charset="0"/>
                <a:ea typeface="Calibri" pitchFamily="34" charset="-122"/>
                <a:cs typeface="Calibri" pitchFamily="34" charset="-120"/>
              </a:rPr>
              <a:t>Temas alanına.</a:t>
            </a:r>
            <a:pPr indent="0" marL="0">
              <a:lnSpc>
                <a:spcPct val="115000"/>
              </a:lnSpc>
              <a:buNone/>
            </a:pPr>
            <a:r>
              <a:rPr lang="en-US" sz="1250" dirty="0">
                <a:solidFill>
                  <a:srgbClr val="4A5470"/>
                </a:solidFill>
                <a:latin typeface="Calibri" pitchFamily="34" charset="0"/>
                <a:ea typeface="Calibri" pitchFamily="34" charset="-122"/>
                <a:cs typeface="Calibri" pitchFamily="34" charset="-120"/>
              </a:rPr>
              <a:t> Aynı kütleli bir tuğlayı yan yatırmak sürtünmeyi değiştirmez.</a:t>
            </a:r>
            <a:endParaRPr lang="en-US" sz="1250" dirty="0"/>
          </a:p>
          <a:p>
            <a:pPr marL="203200" indent="-203200">
              <a:lnSpc>
                <a:spcPct val="115000"/>
              </a:lnSpc>
              <a:spcAft>
                <a:spcPts val="500"/>
              </a:spcAft>
              <a:buSzPct val="100000"/>
              <a:buChar char="▪"/>
            </a:pPr>
            <a:r>
              <a:rPr lang="en-US" sz="1250" b="1" dirty="0">
                <a:solidFill>
                  <a:srgbClr val="0E1426"/>
                </a:solidFill>
                <a:latin typeface="Calibri" pitchFamily="34" charset="0"/>
                <a:ea typeface="Calibri" pitchFamily="34" charset="-122"/>
                <a:cs typeface="Calibri" pitchFamily="34" charset="-120"/>
              </a:rPr>
              <a:t>Kayma hızına</a:t>
            </a:r>
            <a:pPr indent="0" marL="0">
              <a:lnSpc>
                <a:spcPct val="115000"/>
              </a:lnSpc>
              <a:buNone/>
            </a:pPr>
            <a:r>
              <a:rPr lang="en-US" sz="1250" dirty="0">
                <a:solidFill>
                  <a:srgbClr val="4A5470"/>
                </a:solidFill>
                <a:latin typeface="Calibri" pitchFamily="34" charset="0"/>
                <a:ea typeface="Calibri" pitchFamily="34" charset="-122"/>
                <a:cs typeface="Calibri" pitchFamily="34" charset="-120"/>
              </a:rPr>
              <a:t> (yaklaşık olarak). Hızla belirgin biçimde artan kuvvet, sürtünme değil </a:t>
            </a:r>
            <a:pPr indent="0" marL="0">
              <a:lnSpc>
                <a:spcPct val="115000"/>
              </a:lnSpc>
              <a:buNone/>
            </a:pPr>
            <a:r>
              <a:rPr lang="en-US" sz="1250" b="1" dirty="0">
                <a:solidFill>
                  <a:srgbClr val="0E1426"/>
                </a:solidFill>
                <a:latin typeface="Calibri" pitchFamily="34" charset="0"/>
                <a:ea typeface="Calibri" pitchFamily="34" charset="-122"/>
                <a:cs typeface="Calibri" pitchFamily="34" charset="-120"/>
              </a:rPr>
              <a:t>hava direncidir</a:t>
            </a:r>
            <a:pPr indent="0" marL="0">
              <a:lnSpc>
                <a:spcPct val="115000"/>
              </a:lnSpc>
              <a:buNone/>
            </a:pPr>
            <a:r>
              <a:rPr lang="en-US" sz="1250" dirty="0">
                <a:solidFill>
                  <a:srgbClr val="4A5470"/>
                </a:solidFill>
                <a:latin typeface="Calibri" pitchFamily="34" charset="0"/>
                <a:ea typeface="Calibri" pitchFamily="34" charset="-122"/>
                <a:cs typeface="Calibri" pitchFamily="34" charset="-120"/>
              </a:rPr>
              <a:t>.</a:t>
            </a:r>
            <a:endParaRPr lang="en-US" sz="12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40080" y="4164101"/>
          <a:ext cx="6949440" cy="914400"/>
        </p:xfrm>
        <a:graphic>
          <a:graphicData uri="http://schemas.openxmlformats.org/drawingml/2006/table">
            <a:tbl>
              <a:tblPr/>
              <a:tblGrid>
                <a:gridCol w="4945294"/>
                <a:gridCol w="1002073"/>
                <a:gridCol w="1002073"/>
              </a:tblGrid>
              <a:tr h="338328">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Yüzey çifti</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μs</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μk</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Buz – çelik</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0,10</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0,03</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Ahşap – ahşap</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0,35</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Çelik – çelik</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0,70</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0,60</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Lastik – kuru asfalt</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0,90</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0,70</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bl>
          </a:graphicData>
        </a:graphic>
      </p:graphicFrame>
      <p:sp>
        <p:nvSpPr>
          <p:cNvPr id="12" name="Shape 9"/>
          <p:cNvSpPr/>
          <p:nvPr/>
        </p:nvSpPr>
        <p:spPr>
          <a:xfrm>
            <a:off x="7882128" y="2593238"/>
            <a:ext cx="3669487" cy="3197972"/>
          </a:xfrm>
          <a:prstGeom prst="roundRect">
            <a:avLst>
              <a:gd name="adj" fmla="val 457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3" name="Image 0" descr="/tmp/claude-1000/-opt-dersler/8a8328c3-841c-44fa-b76f-82572d338d3d/scratchpad/d4/sek/surtunme-kuvveti-04.png">    </p:cNvPr>
          <p:cNvPicPr>
            <a:picLocks noChangeAspect="1"/>
          </p:cNvPicPr>
          <p:nvPr/>
        </p:nvPicPr>
        <p:blipFill>
          <a:blip r:embed="rId1"/>
          <a:stretch>
            <a:fillRect/>
          </a:stretch>
        </p:blipFill>
        <p:spPr>
          <a:xfrm>
            <a:off x="8065008" y="2776118"/>
            <a:ext cx="3303727" cy="1376487"/>
          </a:xfrm>
          <a:prstGeom prst="rect">
            <a:avLst/>
          </a:prstGeom>
        </p:spPr>
      </p:pic>
      <p:sp>
        <p:nvSpPr>
          <p:cNvPr id="14" name="Shape 10"/>
          <p:cNvSpPr/>
          <p:nvPr/>
        </p:nvSpPr>
        <p:spPr>
          <a:xfrm>
            <a:off x="8065008" y="4244045"/>
            <a:ext cx="3303727" cy="0"/>
          </a:xfrm>
          <a:prstGeom prst="line">
            <a:avLst/>
          </a:prstGeom>
          <a:noFill/>
          <a:ln w="9525">
            <a:solidFill>
              <a:srgbClr val="E1E5EE"/>
            </a:solidFill>
            <a:prstDash val="dash"/>
          </a:ln>
        </p:spPr>
      </p:sp>
      <p:sp>
        <p:nvSpPr>
          <p:cNvPr id="15" name="Text 11"/>
          <p:cNvSpPr txBox="1"/>
          <p:nvPr/>
        </p:nvSpPr>
        <p:spPr>
          <a:xfrm>
            <a:off x="8065008" y="4298909"/>
            <a:ext cx="3303727" cy="1309421"/>
          </a:xfrm>
          <a:prstGeom prst="rect">
            <a:avLst/>
          </a:prstGeom>
          <a:noFill/>
          <a:ln/>
        </p:spPr>
        <p:txBody>
          <a:bodyPr wrap="square" lIns="0" tIns="0" rIns="0" bIns="0" rtlCol="0" anchor="t"/>
          <a:lstStyle/>
          <a:p>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Aynı tuğlayı yan yatırmak temas alanını üçe katlar ama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sürtünmeyi değiştirmez</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f = μ·N bağıntısında alan hiç geçmez. Alan büyüdükçe birim alana düşen basınç küçülür, ikisi birbirini götürür. Sürtünmeyi gerçekten değiştiren şey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normal kuvvettir</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ikinci tuğlayı üstüne koyunca N iki katına çıkar, sürtünme de.</a:t>
            </a:r>
            <a:endParaRPr lang="en-US" sz="1050" dirty="0"/>
          </a:p>
        </p:txBody>
      </p:sp>
      <p:sp>
        <p:nvSpPr>
          <p:cNvPr id="16" name="Shape 12"/>
          <p:cNvSpPr/>
          <p:nvPr/>
        </p:nvSpPr>
        <p:spPr>
          <a:xfrm>
            <a:off x="640080" y="6382512"/>
            <a:ext cx="128016" cy="128016"/>
          </a:xfrm>
          <a:prstGeom prst="roundRect">
            <a:avLst>
              <a:gd name="adj" fmla="val 28571"/>
            </a:avLst>
          </a:prstGeom>
          <a:solidFill>
            <a:srgbClr val="A9E648"/>
          </a:solidFill>
          <a:ln/>
        </p:spPr>
      </p:sp>
      <p:sp>
        <p:nvSpPr>
          <p:cNvPr id="17" name="Text 13"/>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dersler.perinet.org/surtunme-kuvveti.html</a:t>
            </a:r>
            <a:endParaRPr lang="en-US" sz="1050" dirty="0"/>
          </a:p>
        </p:txBody>
      </p:sp>
      <p:sp>
        <p:nvSpPr>
          <p:cNvPr id="18" name="Text 14"/>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17</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600" b="1" spc="-50" kern="0" dirty="0">
                <a:solidFill>
                  <a:srgbClr val="0E1426"/>
                </a:solidFill>
                <a:latin typeface="Cambria" pitchFamily="34" charset="0"/>
                <a:ea typeface="Cambria" pitchFamily="34" charset="-122"/>
                <a:cs typeface="Cambria" pitchFamily="34" charset="-120"/>
              </a:rPr>
              <a:t>Sayılarla hisset: ne kadar kuvvet, ne kadar yavaşlama?</a:t>
            </a:r>
            <a:endParaRPr lang="en-US" sz="26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640080" y="1188720"/>
            <a:ext cx="10911535" cy="1185062"/>
          </a:xfrm>
          <a:prstGeom prst="roundRect">
            <a:avLst>
              <a:gd name="adj" fmla="val 9259"/>
            </a:avLst>
          </a:prstGeom>
          <a:solidFill>
            <a:srgbClr val="F8F9FC"/>
          </a:solidFill>
          <a:ln w="9525">
            <a:solidFill>
              <a:srgbClr val="E1E5EE"/>
            </a:solidFill>
            <a:prstDash val="solid"/>
          </a:ln>
        </p:spPr>
      </p:sp>
      <p:sp>
        <p:nvSpPr>
          <p:cNvPr id="7" name="Shape 5"/>
          <p:cNvSpPr/>
          <p:nvPr/>
        </p:nvSpPr>
        <p:spPr>
          <a:xfrm>
            <a:off x="658368" y="1298448"/>
            <a:ext cx="54864" cy="965606"/>
          </a:xfrm>
          <a:prstGeom prst="rect">
            <a:avLst/>
          </a:prstGeom>
          <a:solidFill>
            <a:srgbClr val="2957D4"/>
          </a:solidFill>
          <a:ln/>
        </p:spPr>
      </p:sp>
      <p:sp>
        <p:nvSpPr>
          <p:cNvPr id="8" name="Text 6"/>
          <p:cNvSpPr txBox="1"/>
          <p:nvPr/>
        </p:nvSpPr>
        <p:spPr>
          <a:xfrm>
            <a:off x="932688" y="1234440"/>
            <a:ext cx="10454335" cy="1093622"/>
          </a:xfrm>
          <a:prstGeom prst="rect">
            <a:avLst/>
          </a:prstGeom>
          <a:noFill/>
          <a:ln/>
        </p:spPr>
        <p:txBody>
          <a:bodyPr wrap="square" lIns="0" tIns="0" rIns="0" bIns="0" rtlCol="0" anchor="ctr"/>
          <a:lstStyle/>
          <a:p>
            <a:pPr indent="0" marL="0">
              <a:lnSpc>
                <a:spcPct val="112000"/>
              </a:lnSpc>
              <a:buNone/>
            </a:pPr>
            <a:r>
              <a:rPr lang="en-US" sz="1850" dirty="0">
                <a:solidFill>
                  <a:srgbClr val="0E1426"/>
                </a:solidFill>
                <a:latin typeface="Calibri" pitchFamily="34" charset="0"/>
                <a:ea typeface="Calibri" pitchFamily="34" charset="-122"/>
                <a:cs typeface="Calibri" pitchFamily="34" charset="-120"/>
              </a:rPr>
              <a:t>Aynı 20 kg'lık kutuyu buz–çelikte kıpırdatmak için 20 N, lastik–asfaltta 180 N gerekir. Kendi hâlinde kayan cisim a = μk·g ile yavaşlar; bu yavaşlama kütleden bağımsızdır.</a:t>
            </a:r>
            <a:endParaRPr lang="en-US" sz="18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40080" y="2593238"/>
          <a:ext cx="10911535" cy="914400"/>
        </p:xfrm>
        <a:graphic>
          <a:graphicData uri="http://schemas.openxmlformats.org/drawingml/2006/table">
            <a:tbl>
              <a:tblPr/>
              <a:tblGrid>
                <a:gridCol w="2629286"/>
                <a:gridCol w="3023678"/>
                <a:gridCol w="3155143"/>
                <a:gridCol w="2103428"/>
              </a:tblGrid>
              <a:tr h="338328">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Yüzey çifti</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Kıpırdatmak için (μs·N)</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Kayarken sürtünme (μk·N)</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Yavaşlama (μk·g)</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Buz – çelik</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20 N</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6 N</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0,3 m/s²</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Ahşap – ahşap</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100 N</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70 N</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3,5 m/s²</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Çelik – çelik</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140 N</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120 N</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6 m/s²</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Lastik – kuru asfalt</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180 N</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140 N</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7 m/s²</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bl>
          </a:graphicData>
        </a:graphic>
      </p:graphicFrame>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dersler.perinet.org/surtunme-kuvveti.html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18</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300" b="1" spc="-50" kern="0" dirty="0">
                <a:solidFill>
                  <a:srgbClr val="0E1426"/>
                </a:solidFill>
                <a:latin typeface="Cambria" pitchFamily="34" charset="0"/>
                <a:ea typeface="Cambria" pitchFamily="34" charset="-122"/>
                <a:cs typeface="Cambria" pitchFamily="34" charset="-120"/>
              </a:rPr>
              <a:t>Sayılarla hisset: ne kadar kuvvet, ne kadar yavaşlama? · devam</a:t>
            </a:r>
            <a:endParaRPr lang="en-US" sz="23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Text 4"/>
          <p:cNvSpPr txBox="1"/>
          <p:nvPr/>
        </p:nvSpPr>
        <p:spPr>
          <a:xfrm>
            <a:off x="640080" y="1481328"/>
            <a:ext cx="10911535" cy="1103376"/>
          </a:xfrm>
          <a:prstGeom prst="rect">
            <a:avLst/>
          </a:prstGeom>
          <a:noFill/>
          <a:ln/>
        </p:spPr>
        <p:txBody>
          <a:bodyPr wrap="square" lIns="0" tIns="0" rIns="0" bIns="0" rtlCol="0" anchor="t"/>
          <a:lstStyle/>
          <a:p>
            <a:pPr marL="203200" indent="-203200">
              <a:lnSpc>
                <a:spcPct val="115000"/>
              </a:lnSpc>
              <a:spcAft>
                <a:spcPts val="500"/>
              </a:spcAft>
              <a:buSzPct val="100000"/>
              <a:buChar char="▪"/>
            </a:pPr>
            <a:r>
              <a:rPr lang="en-US" sz="1300" b="1" dirty="0">
                <a:solidFill>
                  <a:srgbClr val="0E1426"/>
                </a:solidFill>
                <a:latin typeface="Calibri" pitchFamily="34" charset="0"/>
                <a:ea typeface="Calibri" pitchFamily="34" charset="-122"/>
                <a:cs typeface="Calibri" pitchFamily="34" charset="-120"/>
              </a:rPr>
              <a:t>İkinci sütun hep üçüncüden büyük:</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her yüzeyde kıpırdatmak, itmeye devam etmekten zordur.</a:t>
            </a:r>
            <a:endParaRPr lang="en-US" sz="1300" dirty="0"/>
          </a:p>
          <a:p>
            <a:pPr marL="203200" indent="-203200">
              <a:lnSpc>
                <a:spcPct val="115000"/>
              </a:lnSpc>
              <a:spcAft>
                <a:spcPts val="500"/>
              </a:spcAft>
              <a:buSzPct val="100000"/>
              <a:buChar char="▪"/>
            </a:pPr>
            <a:r>
              <a:rPr lang="en-US" sz="1300" b="1" dirty="0">
                <a:solidFill>
                  <a:srgbClr val="0E1426"/>
                </a:solidFill>
                <a:latin typeface="Calibri" pitchFamily="34" charset="0"/>
                <a:ea typeface="Calibri" pitchFamily="34" charset="-122"/>
                <a:cs typeface="Calibri" pitchFamily="34" charset="-120"/>
              </a:rPr>
              <a:t>Buz ile asfalt arasında büyük fark:</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kutuyu kıpırdatmak için lastik–asfaltta buz–çeliğin 9 katı kuvvet gerekir.</a:t>
            </a:r>
            <a:endParaRPr lang="en-US" sz="1300" dirty="0"/>
          </a:p>
          <a:p>
            <a:pPr marL="203200" indent="-203200">
              <a:lnSpc>
                <a:spcPct val="115000"/>
              </a:lnSpc>
              <a:spcAft>
                <a:spcPts val="500"/>
              </a:spcAft>
              <a:buSzPct val="100000"/>
              <a:buChar char="▪"/>
            </a:pPr>
            <a:r>
              <a:rPr lang="en-US" sz="1300" b="1" dirty="0">
                <a:solidFill>
                  <a:srgbClr val="0E1426"/>
                </a:solidFill>
                <a:latin typeface="Calibri" pitchFamily="34" charset="0"/>
                <a:ea typeface="Calibri" pitchFamily="34" charset="-122"/>
                <a:cs typeface="Calibri" pitchFamily="34" charset="-120"/>
              </a:rPr>
              <a:t>Yavaşlama kütleden bağımsızdır:</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10 m/s ile kayan kutu buz–çelikte yaklaşık 33 s'de, lastik–asfaltta 1,4 s'de durur; kutu kaç kilo olursa olsun.</a:t>
            </a:r>
            <a:endParaRPr lang="en-US" sz="1300" dirty="0"/>
          </a:p>
        </p:txBody>
      </p:sp>
      <p:sp>
        <p:nvSpPr>
          <p:cNvPr id="7" name="Text 5"/>
          <p:cNvSpPr txBox="1"/>
          <p:nvPr/>
        </p:nvSpPr>
        <p:spPr>
          <a:xfrm>
            <a:off x="640080" y="2731008"/>
            <a:ext cx="10911535" cy="274320"/>
          </a:xfrm>
          <a:prstGeom prst="rect">
            <a:avLst/>
          </a:prstGeom>
          <a:noFill/>
          <a:ln/>
        </p:spPr>
        <p:txBody>
          <a:bodyPr wrap="square" lIns="0" tIns="0" rIns="0" bIns="0" rtlCol="0" anchor="ctr"/>
          <a:lstStyle/>
          <a:p>
            <a:pPr indent="0" marL="0">
              <a:buNone/>
            </a:pPr>
            <a:r>
              <a:rPr lang="en-US" sz="1350" b="1" dirty="0">
                <a:solidFill>
                  <a:srgbClr val="2957D4"/>
                </a:solidFill>
                <a:latin typeface="Calibri" pitchFamily="34" charset="0"/>
                <a:ea typeface="Calibri" pitchFamily="34" charset="-122"/>
                <a:cs typeface="Calibri" pitchFamily="34" charset="-120"/>
              </a:rPr>
              <a:t>Yavaşlama neden μk·g?</a:t>
            </a:r>
            <a:endParaRPr lang="en-US" sz="1350" dirty="0"/>
          </a:p>
        </p:txBody>
      </p:sp>
      <p:sp>
        <p:nvSpPr>
          <p:cNvPr id="8" name="Text 6"/>
          <p:cNvSpPr txBox="1"/>
          <p:nvPr/>
        </p:nvSpPr>
        <p:spPr>
          <a:xfrm>
            <a:off x="640080" y="3041904"/>
            <a:ext cx="10911535" cy="1167384"/>
          </a:xfrm>
          <a:prstGeom prst="rect">
            <a:avLst/>
          </a:prstGeom>
          <a:noFill/>
          <a:ln/>
        </p:spPr>
        <p:txBody>
          <a:bodyPr wrap="square" lIns="0" tIns="0" rIns="0" bIns="0" rtlCol="0" anchor="t"/>
          <a:lstStyle/>
          <a:p>
            <a:pPr marL="228600" indent="-228600">
              <a:lnSpc>
                <a:spcPct val="115000"/>
              </a:lnSpc>
              <a:spcAft>
                <a:spcPts val="500"/>
              </a:spcAft>
              <a:buSzPct val="100000"/>
              <a:buFont typeface="+mj-lt"/>
              <a:buAutoNum type="arabicPeriod" startAt="1"/>
            </a:pPr>
            <a:r>
              <a:rPr lang="en-US" sz="1300" dirty="0">
                <a:solidFill>
                  <a:srgbClr val="4A5470"/>
                </a:solidFill>
                <a:latin typeface="Calibri" pitchFamily="34" charset="0"/>
                <a:ea typeface="Calibri" pitchFamily="34" charset="-122"/>
                <a:cs typeface="Calibri" pitchFamily="34" charset="-120"/>
              </a:rPr>
              <a:t>Kayan kutuya etki eden tek yatay kuvvet sürtünmedir: f = μ</a:t>
            </a:r>
            <a:pPr indent="0" marL="0">
              <a:lnSpc>
                <a:spcPct val="115000"/>
              </a:lnSpc>
              <a:buNone/>
            </a:pPr>
            <a:r>
              <a:rPr lang="en-US" sz="1300" baseline="-40000" dirty="0">
                <a:solidFill>
                  <a:srgbClr val="4A5470"/>
                </a:solidFill>
                <a:latin typeface="Calibri" pitchFamily="34" charset="0"/>
                <a:ea typeface="Calibri" pitchFamily="34" charset="-122"/>
                <a:cs typeface="Calibri" pitchFamily="34" charset="-120"/>
              </a:rPr>
              <a:t>k</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·N.</a:t>
            </a:r>
            <a:endParaRPr lang="en-US" sz="1300" dirty="0"/>
          </a:p>
          <a:p>
            <a:pPr marL="228600" indent="-228600">
              <a:lnSpc>
                <a:spcPct val="115000"/>
              </a:lnSpc>
              <a:spcAft>
                <a:spcPts val="500"/>
              </a:spcAft>
              <a:buSzPct val="100000"/>
              <a:buFont typeface="+mj-lt"/>
              <a:buAutoNum type="arabicPeriod" startAt="1"/>
            </a:pPr>
            <a:r>
              <a:rPr lang="en-US" sz="1300" dirty="0">
                <a:solidFill>
                  <a:srgbClr val="4A5470"/>
                </a:solidFill>
                <a:latin typeface="Calibri" pitchFamily="34" charset="0"/>
                <a:ea typeface="Calibri" pitchFamily="34" charset="-122"/>
                <a:cs typeface="Calibri" pitchFamily="34" charset="-120"/>
              </a:rPr>
              <a:t>Yatay zeminde N = m·g olduğundan f = μ</a:t>
            </a:r>
            <a:pPr indent="0" marL="0">
              <a:lnSpc>
                <a:spcPct val="115000"/>
              </a:lnSpc>
              <a:buNone/>
            </a:pPr>
            <a:r>
              <a:rPr lang="en-US" sz="1300" baseline="-40000" dirty="0">
                <a:solidFill>
                  <a:srgbClr val="4A5470"/>
                </a:solidFill>
                <a:latin typeface="Calibri" pitchFamily="34" charset="0"/>
                <a:ea typeface="Calibri" pitchFamily="34" charset="-122"/>
                <a:cs typeface="Calibri" pitchFamily="34" charset="-120"/>
              </a:rPr>
              <a:t>k</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·m·g.</a:t>
            </a:r>
            <a:endParaRPr lang="en-US" sz="1300" dirty="0"/>
          </a:p>
          <a:p>
            <a:pPr marL="228600" indent="-228600">
              <a:lnSpc>
                <a:spcPct val="115000"/>
              </a:lnSpc>
              <a:spcAft>
                <a:spcPts val="500"/>
              </a:spcAft>
              <a:buSzPct val="100000"/>
              <a:buFont typeface="+mj-lt"/>
              <a:buAutoNum type="arabicPeriod" startAt="1"/>
            </a:pPr>
            <a:r>
              <a:rPr lang="en-US" sz="1300" dirty="0">
                <a:solidFill>
                  <a:srgbClr val="4A5470"/>
                </a:solidFill>
                <a:latin typeface="Calibri" pitchFamily="34" charset="0"/>
                <a:ea typeface="Calibri" pitchFamily="34" charset="-122"/>
                <a:cs typeface="Calibri" pitchFamily="34" charset="-120"/>
              </a:rPr>
              <a:t>Newton'un ikinci yasası: m·a = μ</a:t>
            </a:r>
            <a:pPr indent="0" marL="0">
              <a:lnSpc>
                <a:spcPct val="115000"/>
              </a:lnSpc>
              <a:buNone/>
            </a:pPr>
            <a:r>
              <a:rPr lang="en-US" sz="1300" baseline="-40000" dirty="0">
                <a:solidFill>
                  <a:srgbClr val="4A5470"/>
                </a:solidFill>
                <a:latin typeface="Calibri" pitchFamily="34" charset="0"/>
                <a:ea typeface="Calibri" pitchFamily="34" charset="-122"/>
                <a:cs typeface="Calibri" pitchFamily="34" charset="-120"/>
              </a:rPr>
              <a:t>k</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·m·g.</a:t>
            </a:r>
            <a:endParaRPr lang="en-US" sz="1300" dirty="0"/>
          </a:p>
          <a:p>
            <a:pPr marL="228600" indent="-228600">
              <a:lnSpc>
                <a:spcPct val="115000"/>
              </a:lnSpc>
              <a:spcAft>
                <a:spcPts val="500"/>
              </a:spcAft>
              <a:buSzPct val="100000"/>
              <a:buFont typeface="+mj-lt"/>
              <a:buAutoNum type="arabicPeriod" startAt="1"/>
            </a:pPr>
            <a:r>
              <a:rPr lang="en-US" sz="1300" dirty="0">
                <a:solidFill>
                  <a:srgbClr val="4A5470"/>
                </a:solidFill>
                <a:latin typeface="Calibri" pitchFamily="34" charset="0"/>
                <a:ea typeface="Calibri" pitchFamily="34" charset="-122"/>
                <a:cs typeface="Calibri" pitchFamily="34" charset="-120"/>
              </a:rPr>
              <a:t>Kütle iki yanda da var, sadeleşir: </a:t>
            </a:r>
            <a:pPr indent="0" marL="0">
              <a:lnSpc>
                <a:spcPct val="115000"/>
              </a:lnSpc>
              <a:buNone/>
            </a:pPr>
            <a:r>
              <a:rPr lang="en-US" sz="1300" b="1" dirty="0">
                <a:solidFill>
                  <a:srgbClr val="0E1426"/>
                </a:solidFill>
                <a:latin typeface="Calibri" pitchFamily="34" charset="0"/>
                <a:ea typeface="Calibri" pitchFamily="34" charset="-122"/>
                <a:cs typeface="Calibri" pitchFamily="34" charset="-120"/>
              </a:rPr>
              <a:t>a = μ</a:t>
            </a:r>
            <a:pPr indent="0" marL="0">
              <a:lnSpc>
                <a:spcPct val="115000"/>
              </a:lnSpc>
              <a:buNone/>
            </a:pPr>
            <a:r>
              <a:rPr lang="en-US" sz="1300" b="1" baseline="-40000" dirty="0">
                <a:solidFill>
                  <a:srgbClr val="0E1426"/>
                </a:solidFill>
                <a:latin typeface="Calibri" pitchFamily="34" charset="0"/>
                <a:ea typeface="Calibri" pitchFamily="34" charset="-122"/>
                <a:cs typeface="Calibri" pitchFamily="34" charset="-120"/>
              </a:rPr>
              <a:t>k</a:t>
            </a:r>
            <a:pPr indent="0" marL="0">
              <a:lnSpc>
                <a:spcPct val="115000"/>
              </a:lnSpc>
              <a:buNone/>
            </a:pPr>
            <a:r>
              <a:rPr lang="en-US" sz="1300" b="1" dirty="0">
                <a:solidFill>
                  <a:srgbClr val="0E1426"/>
                </a:solidFill>
                <a:latin typeface="Calibri" pitchFamily="34" charset="0"/>
                <a:ea typeface="Calibri" pitchFamily="34" charset="-122"/>
                <a:cs typeface="Calibri" pitchFamily="34" charset="-120"/>
              </a:rPr>
              <a:t>·g</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a:t>
            </a:r>
            <a:endParaRPr lang="en-US" sz="1300" dirty="0"/>
          </a:p>
        </p:txBody>
      </p:sp>
      <p:sp>
        <p:nvSpPr>
          <p:cNvPr id="9" name="Shape 7"/>
          <p:cNvSpPr/>
          <p:nvPr/>
        </p:nvSpPr>
        <p:spPr>
          <a:xfrm>
            <a:off x="640080" y="6382512"/>
            <a:ext cx="128016" cy="128016"/>
          </a:xfrm>
          <a:prstGeom prst="roundRect">
            <a:avLst>
              <a:gd name="adj" fmla="val 28571"/>
            </a:avLst>
          </a:prstGeom>
          <a:solidFill>
            <a:srgbClr val="A9E648"/>
          </a:solidFill>
          <a:ln/>
        </p:spPr>
      </p:sp>
      <p:sp>
        <p:nvSpPr>
          <p:cNvPr id="10"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dersler.perinet.org/surtunme-kuvveti.html</a:t>
            </a:r>
            <a:endParaRPr lang="en-US" sz="1050" dirty="0"/>
          </a:p>
        </p:txBody>
      </p:sp>
      <p:sp>
        <p:nvSpPr>
          <p:cNvPr id="11"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19</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Eğik düzlemde sürtünme</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640080" y="1188720"/>
            <a:ext cx="10911535" cy="886358"/>
          </a:xfrm>
          <a:prstGeom prst="roundRect">
            <a:avLst>
              <a:gd name="adj" fmla="val 12380"/>
            </a:avLst>
          </a:prstGeom>
          <a:solidFill>
            <a:srgbClr val="F8F9FC"/>
          </a:solidFill>
          <a:ln w="9525">
            <a:solidFill>
              <a:srgbClr val="E1E5EE"/>
            </a:solidFill>
            <a:prstDash val="solid"/>
          </a:ln>
        </p:spPr>
      </p:sp>
      <p:sp>
        <p:nvSpPr>
          <p:cNvPr id="7" name="Shape 5"/>
          <p:cNvSpPr/>
          <p:nvPr/>
        </p:nvSpPr>
        <p:spPr>
          <a:xfrm>
            <a:off x="658368" y="1298448"/>
            <a:ext cx="54864" cy="666902"/>
          </a:xfrm>
          <a:prstGeom prst="rect">
            <a:avLst/>
          </a:prstGeom>
          <a:solidFill>
            <a:srgbClr val="2957D4"/>
          </a:solidFill>
          <a:ln/>
        </p:spPr>
      </p:sp>
      <p:sp>
        <p:nvSpPr>
          <p:cNvPr id="8" name="Text 6"/>
          <p:cNvSpPr txBox="1"/>
          <p:nvPr/>
        </p:nvSpPr>
        <p:spPr>
          <a:xfrm>
            <a:off x="932688" y="1234440"/>
            <a:ext cx="10454335" cy="794918"/>
          </a:xfrm>
          <a:prstGeom prst="rect">
            <a:avLst/>
          </a:prstGeom>
          <a:noFill/>
          <a:ln/>
        </p:spPr>
        <p:txBody>
          <a:bodyPr wrap="square" lIns="0" tIns="0" rIns="0" bIns="0" rtlCol="0" anchor="ctr"/>
          <a:lstStyle/>
          <a:p>
            <a:pPr indent="0" marL="0">
              <a:lnSpc>
                <a:spcPct val="112000"/>
              </a:lnSpc>
              <a:buNone/>
            </a:pPr>
            <a:r>
              <a:rPr lang="en-US" sz="1900" dirty="0">
                <a:solidFill>
                  <a:srgbClr val="0E1426"/>
                </a:solidFill>
                <a:latin typeface="Calibri" pitchFamily="34" charset="0"/>
                <a:ea typeface="Calibri" pitchFamily="34" charset="-122"/>
                <a:cs typeface="Calibri" pitchFamily="34" charset="-120"/>
              </a:rPr>
              <a:t>Eğik düzlemde N = m·g·cosθ olur ve cisim tanθ &gt; μs olduğunda kaymaya başlar; kayarken ivme a = g·(sinθ − μk·cosθ)'dır. Kütle bu bağıntıların hiçbirinde yoktur.</a:t>
            </a:r>
            <a:endParaRPr lang="en-US" sz="1900" dirty="0"/>
          </a:p>
        </p:txBody>
      </p:sp>
      <p:sp>
        <p:nvSpPr>
          <p:cNvPr id="9" name="Shape 7"/>
          <p:cNvSpPr/>
          <p:nvPr/>
        </p:nvSpPr>
        <p:spPr>
          <a:xfrm>
            <a:off x="640080" y="2294534"/>
            <a:ext cx="2333549" cy="457200"/>
          </a:xfrm>
          <a:prstGeom prst="roundRect">
            <a:avLst>
              <a:gd name="adj" fmla="val 24000"/>
            </a:avLst>
          </a:prstGeom>
          <a:solidFill>
            <a:srgbClr val="EEF2FC"/>
          </a:solidFill>
          <a:ln w="9525">
            <a:solidFill>
              <a:srgbClr val="CBD7F4"/>
            </a:solidFill>
            <a:prstDash val="solid"/>
          </a:ln>
        </p:spPr>
      </p:sp>
      <p:sp>
        <p:nvSpPr>
          <p:cNvPr id="10" name="Text 8"/>
          <p:cNvSpPr txBox="1"/>
          <p:nvPr/>
        </p:nvSpPr>
        <p:spPr>
          <a:xfrm>
            <a:off x="640080" y="2294534"/>
            <a:ext cx="2333549"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Fparalel = m·g·sinθ</a:t>
            </a:r>
            <a:endParaRPr lang="en-US" sz="1300" dirty="0"/>
          </a:p>
        </p:txBody>
      </p:sp>
      <p:sp>
        <p:nvSpPr>
          <p:cNvPr id="11" name="Shape 9"/>
          <p:cNvSpPr/>
          <p:nvPr/>
        </p:nvSpPr>
        <p:spPr>
          <a:xfrm>
            <a:off x="3083357" y="2294534"/>
            <a:ext cx="1642262" cy="457200"/>
          </a:xfrm>
          <a:prstGeom prst="roundRect">
            <a:avLst>
              <a:gd name="adj" fmla="val 24000"/>
            </a:avLst>
          </a:prstGeom>
          <a:solidFill>
            <a:srgbClr val="EEF2FC"/>
          </a:solidFill>
          <a:ln w="9525">
            <a:solidFill>
              <a:srgbClr val="CBD7F4"/>
            </a:solidFill>
            <a:prstDash val="solid"/>
          </a:ln>
        </p:spPr>
      </p:sp>
      <p:sp>
        <p:nvSpPr>
          <p:cNvPr id="12" name="Text 10"/>
          <p:cNvSpPr txBox="1"/>
          <p:nvPr/>
        </p:nvSpPr>
        <p:spPr>
          <a:xfrm>
            <a:off x="3083357" y="2294534"/>
            <a:ext cx="1642262"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N = m·g·cosθ</a:t>
            </a:r>
            <a:endParaRPr lang="en-US" sz="1300" dirty="0"/>
          </a:p>
        </p:txBody>
      </p:sp>
      <p:sp>
        <p:nvSpPr>
          <p:cNvPr id="13" name="Shape 11"/>
          <p:cNvSpPr/>
          <p:nvPr/>
        </p:nvSpPr>
        <p:spPr>
          <a:xfrm>
            <a:off x="4835347" y="2294534"/>
            <a:ext cx="2333549" cy="457200"/>
          </a:xfrm>
          <a:prstGeom prst="roundRect">
            <a:avLst>
              <a:gd name="adj" fmla="val 24000"/>
            </a:avLst>
          </a:prstGeom>
          <a:solidFill>
            <a:srgbClr val="EEF2FC"/>
          </a:solidFill>
          <a:ln w="9525">
            <a:solidFill>
              <a:srgbClr val="CBD7F4"/>
            </a:solidFill>
            <a:prstDash val="solid"/>
          </a:ln>
        </p:spPr>
      </p:sp>
      <p:sp>
        <p:nvSpPr>
          <p:cNvPr id="14" name="Text 12"/>
          <p:cNvSpPr txBox="1"/>
          <p:nvPr/>
        </p:nvSpPr>
        <p:spPr>
          <a:xfrm>
            <a:off x="4835347" y="2294534"/>
            <a:ext cx="2333549"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fmaks = μs·m·g·cosθ</a:t>
            </a:r>
            <a:endParaRPr lang="en-US" sz="1300" dirty="0"/>
          </a:p>
        </p:txBody>
      </p:sp>
      <p:sp>
        <p:nvSpPr>
          <p:cNvPr id="15" name="Text 13"/>
          <p:cNvSpPr txBox="1"/>
          <p:nvPr/>
        </p:nvSpPr>
        <p:spPr>
          <a:xfrm>
            <a:off x="640080" y="2952902"/>
            <a:ext cx="6675120" cy="274320"/>
          </a:xfrm>
          <a:prstGeom prst="rect">
            <a:avLst/>
          </a:prstGeom>
          <a:noFill/>
          <a:ln/>
        </p:spPr>
        <p:txBody>
          <a:bodyPr wrap="square" lIns="0" tIns="0" rIns="0" bIns="0" rtlCol="0" anchor="ctr"/>
          <a:lstStyle/>
          <a:p>
            <a:pPr indent="0" marL="0">
              <a:buNone/>
            </a:pPr>
            <a:r>
              <a:rPr lang="en-US" sz="1350" b="1" dirty="0">
                <a:solidFill>
                  <a:srgbClr val="2957D4"/>
                </a:solidFill>
                <a:latin typeface="Calibri" pitchFamily="34" charset="0"/>
                <a:ea typeface="Calibri" pitchFamily="34" charset="-122"/>
                <a:cs typeface="Calibri" pitchFamily="34" charset="-120"/>
              </a:rPr>
              <a:t>Kritik açı nereden çıkıyor?</a:t>
            </a:r>
            <a:endParaRPr lang="en-US" sz="1350" dirty="0"/>
          </a:p>
        </p:txBody>
      </p:sp>
      <p:sp>
        <p:nvSpPr>
          <p:cNvPr id="16" name="Text 14"/>
          <p:cNvSpPr txBox="1"/>
          <p:nvPr/>
        </p:nvSpPr>
        <p:spPr>
          <a:xfrm>
            <a:off x="640080" y="3263798"/>
            <a:ext cx="6675120" cy="1850898"/>
          </a:xfrm>
          <a:prstGeom prst="rect">
            <a:avLst/>
          </a:prstGeom>
          <a:noFill/>
          <a:ln/>
        </p:spPr>
        <p:txBody>
          <a:bodyPr wrap="square" lIns="0" tIns="0" rIns="0" bIns="0" rtlCol="0" anchor="t"/>
          <a:lstStyle/>
          <a:p>
            <a:pPr marL="228600" indent="-228600">
              <a:lnSpc>
                <a:spcPct val="115000"/>
              </a:lnSpc>
              <a:spcAft>
                <a:spcPts val="500"/>
              </a:spcAft>
              <a:buSzPct val="100000"/>
              <a:buFont typeface="+mj-lt"/>
              <a:buAutoNum type="arabicPeriod" startAt="1"/>
            </a:pPr>
            <a:r>
              <a:rPr lang="en-US" sz="1300" b="1" dirty="0">
                <a:solidFill>
                  <a:srgbClr val="0E1426"/>
                </a:solidFill>
                <a:latin typeface="Calibri" pitchFamily="34" charset="0"/>
                <a:ea typeface="Calibri" pitchFamily="34" charset="-122"/>
                <a:cs typeface="Calibri" pitchFamily="34" charset="-120"/>
              </a:rPr>
              <a:t>Dik doğrultu:</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cisim eğime dik yönde hareket etmez; N, ağırlığın dik bileşenini dengeler: N = m·g·cosθ.</a:t>
            </a:r>
            <a:endParaRPr lang="en-US" sz="1300" dirty="0"/>
          </a:p>
          <a:p>
            <a:pPr marL="228600" indent="-228600">
              <a:lnSpc>
                <a:spcPct val="115000"/>
              </a:lnSpc>
              <a:spcAft>
                <a:spcPts val="500"/>
              </a:spcAft>
              <a:buSzPct val="100000"/>
              <a:buFont typeface="+mj-lt"/>
              <a:buAutoNum type="arabicPeriod" startAt="1"/>
            </a:pPr>
            <a:r>
              <a:rPr lang="en-US" sz="1300" b="1" dirty="0">
                <a:solidFill>
                  <a:srgbClr val="0E1426"/>
                </a:solidFill>
                <a:latin typeface="Calibri" pitchFamily="34" charset="0"/>
                <a:ea typeface="Calibri" pitchFamily="34" charset="-122"/>
                <a:cs typeface="Calibri" pitchFamily="34" charset="-120"/>
              </a:rPr>
              <a:t>Eşik:</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statik sürtünme en fazla μ</a:t>
            </a:r>
            <a:pPr indent="0" marL="0">
              <a:lnSpc>
                <a:spcPct val="115000"/>
              </a:lnSpc>
              <a:buNone/>
            </a:pPr>
            <a:r>
              <a:rPr lang="en-US" sz="1300" baseline="-40000" dirty="0">
                <a:solidFill>
                  <a:srgbClr val="4A5470"/>
                </a:solidFill>
                <a:latin typeface="Calibri" pitchFamily="34" charset="0"/>
                <a:ea typeface="Calibri" pitchFamily="34" charset="-122"/>
                <a:cs typeface="Calibri" pitchFamily="34" charset="-120"/>
              </a:rPr>
              <a:t>s</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·N = μ</a:t>
            </a:r>
            <a:pPr indent="0" marL="0">
              <a:lnSpc>
                <a:spcPct val="115000"/>
              </a:lnSpc>
              <a:buNone/>
            </a:pPr>
            <a:r>
              <a:rPr lang="en-US" sz="1300" baseline="-40000" dirty="0">
                <a:solidFill>
                  <a:srgbClr val="4A5470"/>
                </a:solidFill>
                <a:latin typeface="Calibri" pitchFamily="34" charset="0"/>
                <a:ea typeface="Calibri" pitchFamily="34" charset="-122"/>
                <a:cs typeface="Calibri" pitchFamily="34" charset="-120"/>
              </a:rPr>
              <a:t>s</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·m·g·cosθ olabilir.</a:t>
            </a:r>
            <a:endParaRPr lang="en-US" sz="1300" dirty="0"/>
          </a:p>
          <a:p>
            <a:pPr marL="228600" indent="-228600">
              <a:lnSpc>
                <a:spcPct val="115000"/>
              </a:lnSpc>
              <a:spcAft>
                <a:spcPts val="500"/>
              </a:spcAft>
              <a:buSzPct val="100000"/>
              <a:buFont typeface="+mj-lt"/>
              <a:buAutoNum type="arabicPeriod" startAt="1"/>
            </a:pPr>
            <a:r>
              <a:rPr lang="en-US" sz="1300" b="1" dirty="0">
                <a:solidFill>
                  <a:srgbClr val="0E1426"/>
                </a:solidFill>
                <a:latin typeface="Calibri" pitchFamily="34" charset="0"/>
                <a:ea typeface="Calibri" pitchFamily="34" charset="-122"/>
                <a:cs typeface="Calibri" pitchFamily="34" charset="-120"/>
              </a:rPr>
              <a:t>Kayma koşulu:</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paralel bileşen eşiği geçince cisim kayar: m·g·sinθ &gt; μ</a:t>
            </a:r>
            <a:pPr indent="0" marL="0">
              <a:lnSpc>
                <a:spcPct val="115000"/>
              </a:lnSpc>
              <a:buNone/>
            </a:pPr>
            <a:r>
              <a:rPr lang="en-US" sz="1300" baseline="-40000" dirty="0">
                <a:solidFill>
                  <a:srgbClr val="4A5470"/>
                </a:solidFill>
                <a:latin typeface="Calibri" pitchFamily="34" charset="0"/>
                <a:ea typeface="Calibri" pitchFamily="34" charset="-122"/>
                <a:cs typeface="Calibri" pitchFamily="34" charset="-120"/>
              </a:rPr>
              <a:t>s</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·m·g·cosθ.</a:t>
            </a:r>
            <a:endParaRPr lang="en-US" sz="1300" dirty="0"/>
          </a:p>
          <a:p>
            <a:pPr marL="228600" indent="-228600">
              <a:lnSpc>
                <a:spcPct val="115000"/>
              </a:lnSpc>
              <a:spcAft>
                <a:spcPts val="500"/>
              </a:spcAft>
              <a:buSzPct val="100000"/>
              <a:buFont typeface="+mj-lt"/>
              <a:buAutoNum type="arabicPeriod" startAt="1"/>
            </a:pPr>
            <a:r>
              <a:rPr lang="en-US" sz="1300" b="1" dirty="0">
                <a:solidFill>
                  <a:srgbClr val="0E1426"/>
                </a:solidFill>
                <a:latin typeface="Calibri" pitchFamily="34" charset="0"/>
                <a:ea typeface="Calibri" pitchFamily="34" charset="-122"/>
                <a:cs typeface="Calibri" pitchFamily="34" charset="-120"/>
              </a:rPr>
              <a:t>Sadeleştir:</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m·g iki yanda da var; sinθ/cosθ = tanθ olduğundan kayma tanθ &gt; μ</a:t>
            </a:r>
            <a:pPr indent="0" marL="0">
              <a:lnSpc>
                <a:spcPct val="115000"/>
              </a:lnSpc>
              <a:buNone/>
            </a:pPr>
            <a:r>
              <a:rPr lang="en-US" sz="1300" baseline="-40000" dirty="0">
                <a:solidFill>
                  <a:srgbClr val="4A5470"/>
                </a:solidFill>
                <a:latin typeface="Calibri" pitchFamily="34" charset="0"/>
                <a:ea typeface="Calibri" pitchFamily="34" charset="-122"/>
                <a:cs typeface="Calibri" pitchFamily="34" charset="-120"/>
              </a:rPr>
              <a:t>s</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iken başlar.</a:t>
            </a:r>
            <a:endParaRPr lang="en-US" sz="1300" dirty="0"/>
          </a:p>
        </p:txBody>
      </p:sp>
      <p:sp>
        <p:nvSpPr>
          <p:cNvPr id="17" name="Shape 15"/>
          <p:cNvSpPr/>
          <p:nvPr/>
        </p:nvSpPr>
        <p:spPr>
          <a:xfrm>
            <a:off x="7607808" y="2294534"/>
            <a:ext cx="3943807" cy="3685335"/>
          </a:xfrm>
          <a:prstGeom prst="roundRect">
            <a:avLst>
              <a:gd name="adj" fmla="val 39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8" name="Image 0" descr="/tmp/claude-1000/-opt-dersler/8a8328c3-841c-44fa-b76f-82572d338d3d/scratchpad/d4/sek/surtunme-kuvveti-05.png">    </p:cNvPr>
          <p:cNvPicPr>
            <a:picLocks noChangeAspect="1"/>
          </p:cNvPicPr>
          <p:nvPr/>
        </p:nvPicPr>
        <p:blipFill>
          <a:blip r:embed="rId1"/>
          <a:stretch>
            <a:fillRect/>
          </a:stretch>
        </p:blipFill>
        <p:spPr>
          <a:xfrm>
            <a:off x="7790688" y="2477414"/>
            <a:ext cx="3578047" cy="1684628"/>
          </a:xfrm>
          <a:prstGeom prst="rect">
            <a:avLst/>
          </a:prstGeom>
        </p:spPr>
      </p:pic>
      <p:sp>
        <p:nvSpPr>
          <p:cNvPr id="19" name="Shape 16"/>
          <p:cNvSpPr/>
          <p:nvPr/>
        </p:nvSpPr>
        <p:spPr>
          <a:xfrm>
            <a:off x="7790688" y="4253482"/>
            <a:ext cx="3578047" cy="0"/>
          </a:xfrm>
          <a:prstGeom prst="line">
            <a:avLst/>
          </a:prstGeom>
          <a:noFill/>
          <a:ln w="9525">
            <a:solidFill>
              <a:srgbClr val="E1E5EE"/>
            </a:solidFill>
            <a:prstDash val="dash"/>
          </a:ln>
        </p:spPr>
      </p:sp>
      <p:sp>
        <p:nvSpPr>
          <p:cNvPr id="20" name="Text 17"/>
          <p:cNvSpPr txBox="1"/>
          <p:nvPr/>
        </p:nvSpPr>
        <p:spPr>
          <a:xfrm>
            <a:off x="7790688" y="4308346"/>
            <a:ext cx="3578047" cy="1488643"/>
          </a:xfrm>
          <a:prstGeom prst="rect">
            <a:avLst/>
          </a:prstGeom>
          <a:noFill/>
          <a:ln/>
        </p:spPr>
        <p:txBody>
          <a:bodyPr wrap="square" lIns="0" tIns="0" rIns="0" bIns="0" rtlCol="0" anchor="t"/>
          <a:lstStyle/>
          <a:p>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Eğik düzlemde ağırlığı iki bileşene ayırırız: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eğime paralel</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olan G·sinθ cismi aşağı çeker,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eğime dik</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olan G·cosθ ise normal kuvvetle dengelenir. Eğim büyüdükçe birinci büyür, ikinci küçülür — yani kaydırıcı kuvvet artarken sürtünmenin dayanağı azalır. İkisi eşitlendiği anda cisim kayar ve o açıda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tanθ = μs</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olur: eğik düzlem, katsayıyı doğrudan ölçen bir alettir.</a:t>
            </a:r>
            <a:endParaRPr lang="en-US" sz="1050" dirty="0"/>
          </a:p>
        </p:txBody>
      </p:sp>
      <p:sp>
        <p:nvSpPr>
          <p:cNvPr id="21" name="Shape 18"/>
          <p:cNvSpPr/>
          <p:nvPr/>
        </p:nvSpPr>
        <p:spPr>
          <a:xfrm>
            <a:off x="640080" y="6382512"/>
            <a:ext cx="128016" cy="128016"/>
          </a:xfrm>
          <a:prstGeom prst="roundRect">
            <a:avLst>
              <a:gd name="adj" fmla="val 28571"/>
            </a:avLst>
          </a:prstGeom>
          <a:solidFill>
            <a:srgbClr val="A9E648"/>
          </a:solidFill>
          <a:ln/>
        </p:spPr>
      </p:sp>
      <p:sp>
        <p:nvSpPr>
          <p:cNvPr id="22"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dersler.perinet.org/surtunme-kuvveti.html</a:t>
            </a:r>
            <a:endParaRPr lang="en-US" sz="1050" dirty="0"/>
          </a:p>
        </p:txBody>
      </p:sp>
      <p:sp>
        <p:nvSpPr>
          <p:cNvPr id="23"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20</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Eğik düzlemde sürtünme · devam</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640080" y="1481328"/>
            <a:ext cx="1938528" cy="457200"/>
          </a:xfrm>
          <a:prstGeom prst="roundRect">
            <a:avLst>
              <a:gd name="adj" fmla="val 24000"/>
            </a:avLst>
          </a:prstGeom>
          <a:solidFill>
            <a:srgbClr val="EEF2FC"/>
          </a:solidFill>
          <a:ln w="9525">
            <a:solidFill>
              <a:srgbClr val="CBD7F4"/>
            </a:solidFill>
            <a:prstDash val="solid"/>
          </a:ln>
        </p:spPr>
      </p:sp>
      <p:sp>
        <p:nvSpPr>
          <p:cNvPr id="7" name="Text 5"/>
          <p:cNvSpPr txBox="1"/>
          <p:nvPr/>
        </p:nvSpPr>
        <p:spPr>
          <a:xfrm>
            <a:off x="640080" y="1481328"/>
            <a:ext cx="1938528"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tanθkritik = μs</a:t>
            </a:r>
            <a:endParaRPr lang="en-US" sz="13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40080" y="2103120"/>
          <a:ext cx="10911535" cy="914400"/>
        </p:xfrm>
        <a:graphic>
          <a:graphicData uri="http://schemas.openxmlformats.org/drawingml/2006/table">
            <a:tbl>
              <a:tblPr/>
              <a:tblGrid>
                <a:gridCol w="2975873"/>
                <a:gridCol w="1983915"/>
                <a:gridCol w="5951746"/>
              </a:tblGrid>
              <a:tr h="338328">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Yüzey</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μs</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Kritik açı</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Kaygan</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0,20</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yaklaşık 11°</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Ahşap</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yaklaşık 27°</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Kauçuk</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0,80</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yaklaşık 39°</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9" name="Shape 6"/>
          <p:cNvSpPr/>
          <p:nvPr/>
        </p:nvSpPr>
        <p:spPr>
          <a:xfrm>
            <a:off x="640080" y="3584448"/>
            <a:ext cx="2629814" cy="457200"/>
          </a:xfrm>
          <a:prstGeom prst="roundRect">
            <a:avLst>
              <a:gd name="adj" fmla="val 24000"/>
            </a:avLst>
          </a:prstGeom>
          <a:solidFill>
            <a:srgbClr val="EEF2FC"/>
          </a:solidFill>
          <a:ln w="9525">
            <a:solidFill>
              <a:srgbClr val="CBD7F4"/>
            </a:solidFill>
            <a:prstDash val="solid"/>
          </a:ln>
        </p:spPr>
      </p:sp>
      <p:sp>
        <p:nvSpPr>
          <p:cNvPr id="10" name="Text 7"/>
          <p:cNvSpPr txBox="1"/>
          <p:nvPr/>
        </p:nvSpPr>
        <p:spPr>
          <a:xfrm>
            <a:off x="640080" y="3584448"/>
            <a:ext cx="2629814"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a = g·(sinθ − μk·cosθ)</a:t>
            </a:r>
            <a:endParaRPr lang="en-US" sz="1300" dirty="0"/>
          </a:p>
        </p:txBody>
      </p:sp>
      <p:sp>
        <p:nvSpPr>
          <p:cNvPr id="11" name="Shape 8"/>
          <p:cNvSpPr/>
          <p:nvPr/>
        </p:nvSpPr>
        <p:spPr>
          <a:xfrm>
            <a:off x="640080" y="4206240"/>
            <a:ext cx="10911535" cy="822960"/>
          </a:xfrm>
          <a:prstGeom prst="roundRect">
            <a:avLst>
              <a:gd name="adj" fmla="val 1333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9"/>
          <p:cNvSpPr/>
          <p:nvPr/>
        </p:nvSpPr>
        <p:spPr>
          <a:xfrm>
            <a:off x="658368" y="4352544"/>
            <a:ext cx="45720" cy="530352"/>
          </a:xfrm>
          <a:prstGeom prst="rect">
            <a:avLst/>
          </a:prstGeom>
          <a:solidFill>
            <a:srgbClr val="A56209"/>
          </a:solidFill>
          <a:ln/>
        </p:spPr>
      </p:sp>
      <p:sp>
        <p:nvSpPr>
          <p:cNvPr id="13" name="Text 10"/>
          <p:cNvSpPr txBox="1"/>
          <p:nvPr/>
        </p:nvSpPr>
        <p:spPr>
          <a:xfrm>
            <a:off x="914400" y="4315968"/>
            <a:ext cx="10454335" cy="603504"/>
          </a:xfrm>
          <a:prstGeom prst="rect">
            <a:avLst/>
          </a:prstGeom>
          <a:noFill/>
          <a:ln/>
        </p:spPr>
        <p:txBody>
          <a:bodyPr wrap="square" lIns="0" tIns="0" rIns="0" bIns="0" rtlCol="0" anchor="ctr"/>
          <a:lstStyle/>
          <a:p>
            <a:pPr indent="0" marL="0">
              <a:lnSpc>
                <a:spcPct val="112000"/>
              </a:lnSpc>
              <a:buNone/>
            </a:pPr>
            <a:r>
              <a:rPr lang="en-US" sz="1200" b="1" dirty="0">
                <a:solidFill>
                  <a:srgbClr val="0E1426"/>
                </a:solidFill>
                <a:latin typeface="Calibri" pitchFamily="34" charset="0"/>
                <a:ea typeface="Calibri" pitchFamily="34" charset="-122"/>
                <a:cs typeface="Calibri" pitchFamily="34" charset="-120"/>
              </a:rPr>
              <a:t>Kritik açının altında f ≠ μ</a:t>
            </a:r>
            <a:pPr indent="0" marL="0">
              <a:lnSpc>
                <a:spcPct val="112000"/>
              </a:lnSpc>
              <a:buNone/>
            </a:pPr>
            <a:r>
              <a:rPr lang="en-US" sz="1200" b="1" baseline="-40000" dirty="0">
                <a:solidFill>
                  <a:srgbClr val="0E1426"/>
                </a:solidFill>
                <a:latin typeface="Calibri" pitchFamily="34" charset="0"/>
                <a:ea typeface="Calibri" pitchFamily="34" charset="-122"/>
                <a:cs typeface="Calibri" pitchFamily="34" charset="-120"/>
              </a:rPr>
              <a:t>s</a:t>
            </a:r>
            <a:pPr indent="0" marL="0">
              <a:lnSpc>
                <a:spcPct val="112000"/>
              </a:lnSpc>
              <a:buNone/>
            </a:pPr>
            <a:r>
              <a:rPr lang="en-US" sz="1200" b="1" dirty="0">
                <a:solidFill>
                  <a:srgbClr val="0E1426"/>
                </a:solidFill>
                <a:latin typeface="Calibri" pitchFamily="34" charset="0"/>
                <a:ea typeface="Calibri" pitchFamily="34" charset="-122"/>
                <a:cs typeface="Calibri" pitchFamily="34" charset="-120"/>
              </a:rPr>
              <a:t>·N.</a:t>
            </a:r>
            <a:pPr indent="0" marL="0">
              <a:lnSpc>
                <a:spcPct val="112000"/>
              </a:lnSpc>
              <a:buNone/>
            </a:pPr>
            <a:r>
              <a:rPr lang="en-US" sz="1200" dirty="0">
                <a:solidFill>
                  <a:srgbClr val="4A5470"/>
                </a:solidFill>
                <a:latin typeface="Calibri" pitchFamily="34" charset="0"/>
                <a:ea typeface="Calibri" pitchFamily="34" charset="-122"/>
                <a:cs typeface="Calibri" pitchFamily="34" charset="-120"/>
              </a:rPr>
              <a:t> Cisim eğik düzlemde duruyorsa statik sürtünme, ağırlığın paralel bileşenine eşittir: f = m·g·sinθ. μ</a:t>
            </a:r>
            <a:pPr indent="0" marL="0">
              <a:lnSpc>
                <a:spcPct val="112000"/>
              </a:lnSpc>
              <a:buNone/>
            </a:pPr>
            <a:r>
              <a:rPr lang="en-US" sz="1200" baseline="-40000" dirty="0">
                <a:solidFill>
                  <a:srgbClr val="4A5470"/>
                </a:solidFill>
                <a:latin typeface="Calibri" pitchFamily="34" charset="0"/>
                <a:ea typeface="Calibri" pitchFamily="34" charset="-122"/>
                <a:cs typeface="Calibri" pitchFamily="34" charset="-120"/>
              </a:rPr>
              <a:t>s</a:t>
            </a:r>
            <a:pPr indent="0" marL="0">
              <a:lnSpc>
                <a:spcPct val="112000"/>
              </a:lnSpc>
              <a:buNone/>
            </a:pPr>
            <a:r>
              <a:rPr lang="en-US" sz="1200" dirty="0">
                <a:solidFill>
                  <a:srgbClr val="4A5470"/>
                </a:solidFill>
                <a:latin typeface="Calibri" pitchFamily="34" charset="0"/>
                <a:ea typeface="Calibri" pitchFamily="34" charset="-122"/>
                <a:cs typeface="Calibri" pitchFamily="34" charset="-120"/>
              </a:rPr>
              <a:t>·m·g·cosθ yalnızca bu sürtünmenin çıkabileceği en büyük değerdir.</a:t>
            </a:r>
            <a:endParaRPr lang="en-US" sz="1200" dirty="0"/>
          </a:p>
        </p:txBody>
      </p:sp>
      <p:sp>
        <p:nvSpPr>
          <p:cNvPr id="14" name="Shape 11"/>
          <p:cNvSpPr/>
          <p:nvPr/>
        </p:nvSpPr>
        <p:spPr>
          <a:xfrm>
            <a:off x="640080" y="6382512"/>
            <a:ext cx="128016" cy="128016"/>
          </a:xfrm>
          <a:prstGeom prst="roundRect">
            <a:avLst>
              <a:gd name="adj" fmla="val 28571"/>
            </a:avLst>
          </a:prstGeom>
          <a:solidFill>
            <a:srgbClr val="A9E648"/>
          </a:solidFill>
          <a:ln/>
        </p:spPr>
      </p:sp>
      <p:sp>
        <p:nvSpPr>
          <p:cNvPr id="15" name="Text 1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dersler.perinet.org/surtunme-kuvveti.html</a:t>
            </a:r>
            <a:endParaRPr lang="en-US" sz="1050" dirty="0"/>
          </a:p>
        </p:txBody>
      </p:sp>
      <p:sp>
        <p:nvSpPr>
          <p:cNvPr id="16" name="Text 1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21</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Eğik düzlemde duran bir kutunun üstüne aynı kütlede ikinci bir kutu koyarsan ikisi kaymaya başlar mı?</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07 · Eğik düzlemde sürtünme</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dersler.perinet.org/surtunme-kuvveti.html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22</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Eğik düzlemde duran bir kutunun üstüne aynı kütlede ikinci bir kutu koyarsan ikisi kaymaya başlar mı?</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CFC8F5"/>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200" b="1" dirty="0">
                <a:solidFill>
                  <a:srgbClr val="5F4BD8"/>
                </a:solidFill>
                <a:latin typeface="Calibri" pitchFamily="34" charset="0"/>
                <a:ea typeface="Calibri" pitchFamily="34" charset="-122"/>
                <a:cs typeface="Calibri" pitchFamily="34" charset="-120"/>
              </a:rPr>
              <a:t>Hayır.</a:t>
            </a:r>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 Kütle iki katına çıkınca kutuyu aşağı çeken paralel bileşen de iki katına çıkar, sürtünmenin eşiği de; çünkü N de iki katına çıkar. Kayma koşulu tanθ &gt; μ</a:t>
            </a:r>
            <a:pPr indent="0" marL="0">
              <a:lnSpc>
                <a:spcPct val="125000"/>
              </a:lnSpc>
              <a:buNone/>
            </a:pPr>
            <a:r>
              <a:rPr lang="en-US" sz="2200" baseline="-40000" dirty="0">
                <a:solidFill>
                  <a:srgbClr val="0E1426"/>
                </a:solidFill>
                <a:latin typeface="Calibri" pitchFamily="34" charset="0"/>
                <a:ea typeface="Calibri" pitchFamily="34" charset="-122"/>
                <a:cs typeface="Calibri" pitchFamily="34" charset="-120"/>
              </a:rPr>
              <a:t>s</a:t>
            </a:r>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'de kütle hiç geçmez. Kutuyu kaydırmak istiyorsan açıyı artırman ya da yüzeyi kayganlaştırman gerekir.</a:t>
            </a:r>
            <a:endParaRPr lang="en-US" sz="2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dersler.perinet.org/surtunme-kuvveti.html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23</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Fren mesafesi ve trafik</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640080" y="1188720"/>
            <a:ext cx="10911535" cy="1185062"/>
          </a:xfrm>
          <a:prstGeom prst="roundRect">
            <a:avLst>
              <a:gd name="adj" fmla="val 9259"/>
            </a:avLst>
          </a:prstGeom>
          <a:solidFill>
            <a:srgbClr val="F8F9FC"/>
          </a:solidFill>
          <a:ln w="9525">
            <a:solidFill>
              <a:srgbClr val="E1E5EE"/>
            </a:solidFill>
            <a:prstDash val="solid"/>
          </a:ln>
        </p:spPr>
      </p:sp>
      <p:sp>
        <p:nvSpPr>
          <p:cNvPr id="7" name="Shape 5"/>
          <p:cNvSpPr/>
          <p:nvPr/>
        </p:nvSpPr>
        <p:spPr>
          <a:xfrm>
            <a:off x="658368" y="1298448"/>
            <a:ext cx="54864" cy="965606"/>
          </a:xfrm>
          <a:prstGeom prst="rect">
            <a:avLst/>
          </a:prstGeom>
          <a:solidFill>
            <a:srgbClr val="2957D4"/>
          </a:solidFill>
          <a:ln/>
        </p:spPr>
      </p:sp>
      <p:sp>
        <p:nvSpPr>
          <p:cNvPr id="8" name="Text 6"/>
          <p:cNvSpPr txBox="1"/>
          <p:nvPr/>
        </p:nvSpPr>
        <p:spPr>
          <a:xfrm>
            <a:off x="932688" y="1234440"/>
            <a:ext cx="10454335" cy="1093622"/>
          </a:xfrm>
          <a:prstGeom prst="rect">
            <a:avLst/>
          </a:prstGeom>
          <a:noFill/>
          <a:ln/>
        </p:spPr>
        <p:txBody>
          <a:bodyPr wrap="square" lIns="0" tIns="0" rIns="0" bIns="0" rtlCol="0" anchor="ctr"/>
          <a:lstStyle/>
          <a:p>
            <a:pPr indent="0" marL="0">
              <a:lnSpc>
                <a:spcPct val="112000"/>
              </a:lnSpc>
              <a:buNone/>
            </a:pPr>
            <a:r>
              <a:rPr lang="en-US" sz="1850" dirty="0">
                <a:solidFill>
                  <a:srgbClr val="0E1426"/>
                </a:solidFill>
                <a:latin typeface="Calibri" pitchFamily="34" charset="0"/>
                <a:ea typeface="Calibri" pitchFamily="34" charset="-122"/>
                <a:cs typeface="Calibri" pitchFamily="34" charset="-120"/>
              </a:rPr>
              <a:t>Fren mesafesi v²/(2·μ·g) hızın karesiyle, tepki mesafesi v·t hızla doğru orantılı büyür. Hız iki katına çıkınca fren mesafesi 4, toplam durma mesafesi yaklaşık 3 katına çıkar.</a:t>
            </a:r>
            <a:endParaRPr lang="en-US" sz="1850" dirty="0"/>
          </a:p>
        </p:txBody>
      </p:sp>
      <p:sp>
        <p:nvSpPr>
          <p:cNvPr id="9" name="Text 7"/>
          <p:cNvSpPr txBox="1"/>
          <p:nvPr/>
        </p:nvSpPr>
        <p:spPr>
          <a:xfrm>
            <a:off x="640080" y="2593238"/>
            <a:ext cx="6675120" cy="1623060"/>
          </a:xfrm>
          <a:prstGeom prst="rect">
            <a:avLst/>
          </a:prstGeom>
          <a:noFill/>
          <a:ln/>
        </p:spPr>
        <p:txBody>
          <a:bodyPr wrap="square" lIns="0" tIns="0" rIns="0" bIns="0" rtlCol="0" anchor="t"/>
          <a:lstStyle/>
          <a:p>
            <a:pPr marL="228600" indent="-228600">
              <a:lnSpc>
                <a:spcPct val="115000"/>
              </a:lnSpc>
              <a:spcAft>
                <a:spcPts val="500"/>
              </a:spcAft>
              <a:buSzPct val="100000"/>
              <a:buFont typeface="+mj-lt"/>
              <a:buAutoNum type="arabicPeriod" startAt="1"/>
            </a:pPr>
            <a:r>
              <a:rPr lang="en-US" sz="1300" b="1" dirty="0">
                <a:solidFill>
                  <a:srgbClr val="0E1426"/>
                </a:solidFill>
                <a:latin typeface="Calibri" pitchFamily="34" charset="0"/>
                <a:ea typeface="Calibri" pitchFamily="34" charset="-122"/>
                <a:cs typeface="Calibri" pitchFamily="34" charset="-120"/>
              </a:rPr>
              <a:t>Yavaşlama:</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yolun lastiğe uyguladığı sürtünme f = μ·m·g, ivme a = μ·g.</a:t>
            </a:r>
            <a:endParaRPr lang="en-US" sz="1300" dirty="0"/>
          </a:p>
          <a:p>
            <a:pPr marL="228600" indent="-228600">
              <a:lnSpc>
                <a:spcPct val="115000"/>
              </a:lnSpc>
              <a:spcAft>
                <a:spcPts val="500"/>
              </a:spcAft>
              <a:buSzPct val="100000"/>
              <a:buFont typeface="+mj-lt"/>
              <a:buAutoNum type="arabicPeriod" startAt="1"/>
            </a:pPr>
            <a:r>
              <a:rPr lang="en-US" sz="1300" b="1" dirty="0">
                <a:solidFill>
                  <a:srgbClr val="0E1426"/>
                </a:solidFill>
                <a:latin typeface="Calibri" pitchFamily="34" charset="0"/>
                <a:ea typeface="Calibri" pitchFamily="34" charset="-122"/>
                <a:cs typeface="Calibri" pitchFamily="34" charset="-120"/>
              </a:rPr>
              <a:t>Zamansız bağıntı:</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sabit ivmeyle yavaşlayıp duran araç için v² = 2·a·d yazılır (son hız sıfır).</a:t>
            </a:r>
            <a:endParaRPr lang="en-US" sz="1300" dirty="0"/>
          </a:p>
          <a:p>
            <a:pPr marL="228600" indent="-228600">
              <a:lnSpc>
                <a:spcPct val="115000"/>
              </a:lnSpc>
              <a:spcAft>
                <a:spcPts val="500"/>
              </a:spcAft>
              <a:buSzPct val="100000"/>
              <a:buFont typeface="+mj-lt"/>
              <a:buAutoNum type="arabicPeriod" startAt="1"/>
            </a:pPr>
            <a:r>
              <a:rPr lang="en-US" sz="1300" b="1" dirty="0">
                <a:solidFill>
                  <a:srgbClr val="0E1426"/>
                </a:solidFill>
                <a:latin typeface="Calibri" pitchFamily="34" charset="0"/>
                <a:ea typeface="Calibri" pitchFamily="34" charset="-122"/>
                <a:cs typeface="Calibri" pitchFamily="34" charset="-120"/>
              </a:rPr>
              <a:t>Yerine koy:</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v² = 2·μ·g·d, buradan d</a:t>
            </a:r>
            <a:pPr indent="0" marL="0">
              <a:lnSpc>
                <a:spcPct val="115000"/>
              </a:lnSpc>
              <a:buNone/>
            </a:pPr>
            <a:r>
              <a:rPr lang="en-US" sz="1300" baseline="-40000" dirty="0">
                <a:solidFill>
                  <a:srgbClr val="4A5470"/>
                </a:solidFill>
                <a:latin typeface="Calibri" pitchFamily="34" charset="0"/>
                <a:ea typeface="Calibri" pitchFamily="34" charset="-122"/>
                <a:cs typeface="Calibri" pitchFamily="34" charset="-120"/>
              </a:rPr>
              <a:t>fren</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 v² / (2·μ·g).</a:t>
            </a:r>
            <a:endParaRPr lang="en-US" sz="1300" dirty="0"/>
          </a:p>
          <a:p>
            <a:pPr marL="228600" indent="-228600">
              <a:lnSpc>
                <a:spcPct val="115000"/>
              </a:lnSpc>
              <a:spcAft>
                <a:spcPts val="500"/>
              </a:spcAft>
              <a:buSzPct val="100000"/>
              <a:buFont typeface="+mj-lt"/>
              <a:buAutoNum type="arabicPeriod" startAt="1"/>
            </a:pPr>
            <a:r>
              <a:rPr lang="en-US" sz="1300" b="1" dirty="0">
                <a:solidFill>
                  <a:srgbClr val="0E1426"/>
                </a:solidFill>
                <a:latin typeface="Calibri" pitchFamily="34" charset="0"/>
                <a:ea typeface="Calibri" pitchFamily="34" charset="-122"/>
                <a:cs typeface="Calibri" pitchFamily="34" charset="-120"/>
              </a:rPr>
              <a:t>Tepki payını ekle:</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sürücü frene basana kadar araç sabit hızla gider: d</a:t>
            </a:r>
            <a:pPr indent="0" marL="0">
              <a:lnSpc>
                <a:spcPct val="115000"/>
              </a:lnSpc>
              <a:buNone/>
            </a:pPr>
            <a:r>
              <a:rPr lang="en-US" sz="1300" baseline="-40000" dirty="0">
                <a:solidFill>
                  <a:srgbClr val="4A5470"/>
                </a:solidFill>
                <a:latin typeface="Calibri" pitchFamily="34" charset="0"/>
                <a:ea typeface="Calibri" pitchFamily="34" charset="-122"/>
                <a:cs typeface="Calibri" pitchFamily="34" charset="-120"/>
              </a:rPr>
              <a:t>tepki</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 v·t</a:t>
            </a:r>
            <a:pPr indent="0" marL="0">
              <a:lnSpc>
                <a:spcPct val="115000"/>
              </a:lnSpc>
              <a:buNone/>
            </a:pPr>
            <a:r>
              <a:rPr lang="en-US" sz="1300" baseline="-40000" dirty="0">
                <a:solidFill>
                  <a:srgbClr val="4A5470"/>
                </a:solidFill>
                <a:latin typeface="Calibri" pitchFamily="34" charset="0"/>
                <a:ea typeface="Calibri" pitchFamily="34" charset="-122"/>
                <a:cs typeface="Calibri" pitchFamily="34" charset="-120"/>
              </a:rPr>
              <a:t>tepki</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a:t>
            </a:r>
            <a:endParaRPr lang="en-US" sz="1300" dirty="0"/>
          </a:p>
        </p:txBody>
      </p:sp>
      <p:sp>
        <p:nvSpPr>
          <p:cNvPr id="10" name="Shape 8"/>
          <p:cNvSpPr/>
          <p:nvPr/>
        </p:nvSpPr>
        <p:spPr>
          <a:xfrm>
            <a:off x="7607808" y="2593238"/>
            <a:ext cx="3943807" cy="3371936"/>
          </a:xfrm>
          <a:prstGeom prst="roundRect">
            <a:avLst>
              <a:gd name="adj" fmla="val 433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1" name="Image 0" descr="/tmp/claude-1000/-opt-dersler/8a8328c3-841c-44fa-b76f-82572d338d3d/scratchpad/d4/sek/surtunme-kuvveti-06.png">    </p:cNvPr>
          <p:cNvPicPr>
            <a:picLocks noChangeAspect="1"/>
          </p:cNvPicPr>
          <p:nvPr/>
        </p:nvPicPr>
        <p:blipFill>
          <a:blip r:embed="rId1"/>
          <a:stretch>
            <a:fillRect/>
          </a:stretch>
        </p:blipFill>
        <p:spPr>
          <a:xfrm>
            <a:off x="7790688" y="2776118"/>
            <a:ext cx="3578047" cy="1550451"/>
          </a:xfrm>
          <a:prstGeom prst="rect">
            <a:avLst/>
          </a:prstGeom>
        </p:spPr>
      </p:pic>
      <p:sp>
        <p:nvSpPr>
          <p:cNvPr id="12" name="Shape 9"/>
          <p:cNvSpPr/>
          <p:nvPr/>
        </p:nvSpPr>
        <p:spPr>
          <a:xfrm>
            <a:off x="7790688" y="4418010"/>
            <a:ext cx="3578047" cy="0"/>
          </a:xfrm>
          <a:prstGeom prst="line">
            <a:avLst/>
          </a:prstGeom>
          <a:noFill/>
          <a:ln w="9525">
            <a:solidFill>
              <a:srgbClr val="E1E5EE"/>
            </a:solidFill>
            <a:prstDash val="dash"/>
          </a:ln>
        </p:spPr>
      </p:sp>
      <p:sp>
        <p:nvSpPr>
          <p:cNvPr id="13" name="Text 10"/>
          <p:cNvSpPr txBox="1"/>
          <p:nvPr/>
        </p:nvSpPr>
        <p:spPr>
          <a:xfrm>
            <a:off x="7790688" y="4472874"/>
            <a:ext cx="3578047" cy="1309421"/>
          </a:xfrm>
          <a:prstGeom prst="rect">
            <a:avLst/>
          </a:prstGeom>
          <a:noFill/>
          <a:ln/>
        </p:spPr>
        <p:txBody>
          <a:bodyPr wrap="square" lIns="0" tIns="0" rIns="0" bIns="0" rtlCol="0" anchor="t"/>
          <a:lstStyle/>
          <a:p>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Durma mesafesi iki parçadan oluşur.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Tepki mesafesi</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hızla doğru orantılıdır (d = v·t), ama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fren mesafesi hızın karesiyle</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artar (d = v²/2μg). Bu yüzden hızı iki katına çıkarmak toplam mesafeyi iki değil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üç katına</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çıkarır. Islak yolda μ yarıya inerse fren mesafesi ikiye katlanır — hız sınırlarının sebebi bu karesel terimdir.</a:t>
            </a:r>
            <a:endParaRPr lang="en-US" sz="1050" dirty="0"/>
          </a:p>
        </p:txBody>
      </p:sp>
      <p:sp>
        <p:nvSpPr>
          <p:cNvPr id="14" name="Shape 11"/>
          <p:cNvSpPr/>
          <p:nvPr/>
        </p:nvSpPr>
        <p:spPr>
          <a:xfrm>
            <a:off x="640080" y="6382512"/>
            <a:ext cx="128016" cy="128016"/>
          </a:xfrm>
          <a:prstGeom prst="roundRect">
            <a:avLst>
              <a:gd name="adj" fmla="val 28571"/>
            </a:avLst>
          </a:prstGeom>
          <a:solidFill>
            <a:srgbClr val="A9E648"/>
          </a:solidFill>
          <a:ln/>
        </p:spPr>
      </p:sp>
      <p:sp>
        <p:nvSpPr>
          <p:cNvPr id="15" name="Text 1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dersler.perinet.org/surtunme-kuvveti.html</a:t>
            </a:r>
            <a:endParaRPr lang="en-US" sz="1050" dirty="0"/>
          </a:p>
        </p:txBody>
      </p:sp>
      <p:sp>
        <p:nvSpPr>
          <p:cNvPr id="16" name="Text 1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24</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Fren mesafesi ve trafik · devam</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640080" y="1481328"/>
            <a:ext cx="2432304" cy="457200"/>
          </a:xfrm>
          <a:prstGeom prst="roundRect">
            <a:avLst>
              <a:gd name="adj" fmla="val 24000"/>
            </a:avLst>
          </a:prstGeom>
          <a:solidFill>
            <a:srgbClr val="EEF2FC"/>
          </a:solidFill>
          <a:ln w="9525">
            <a:solidFill>
              <a:srgbClr val="CBD7F4"/>
            </a:solidFill>
            <a:prstDash val="solid"/>
          </a:ln>
        </p:spPr>
      </p:sp>
      <p:sp>
        <p:nvSpPr>
          <p:cNvPr id="7" name="Text 5"/>
          <p:cNvSpPr txBox="1"/>
          <p:nvPr/>
        </p:nvSpPr>
        <p:spPr>
          <a:xfrm>
            <a:off x="640080" y="1481328"/>
            <a:ext cx="2432304"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dfren = v² / (2·μ·g)</a:t>
            </a:r>
            <a:endParaRPr lang="en-US" sz="1300" dirty="0"/>
          </a:p>
        </p:txBody>
      </p:sp>
      <p:sp>
        <p:nvSpPr>
          <p:cNvPr id="8" name="Shape 6"/>
          <p:cNvSpPr/>
          <p:nvPr/>
        </p:nvSpPr>
        <p:spPr>
          <a:xfrm>
            <a:off x="3182112" y="1481328"/>
            <a:ext cx="2333549" cy="457200"/>
          </a:xfrm>
          <a:prstGeom prst="roundRect">
            <a:avLst>
              <a:gd name="adj" fmla="val 24000"/>
            </a:avLst>
          </a:prstGeom>
          <a:solidFill>
            <a:srgbClr val="EEF2FC"/>
          </a:solidFill>
          <a:ln w="9525">
            <a:solidFill>
              <a:srgbClr val="CBD7F4"/>
            </a:solidFill>
            <a:prstDash val="solid"/>
          </a:ln>
        </p:spPr>
      </p:sp>
      <p:sp>
        <p:nvSpPr>
          <p:cNvPr id="9" name="Text 7"/>
          <p:cNvSpPr txBox="1"/>
          <p:nvPr/>
        </p:nvSpPr>
        <p:spPr>
          <a:xfrm>
            <a:off x="3182112" y="1481328"/>
            <a:ext cx="2333549"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dtepki = v · ttepki</a:t>
            </a:r>
            <a:endParaRPr lang="en-US" sz="1300" dirty="0"/>
          </a:p>
        </p:txBody>
      </p:sp>
      <p:sp>
        <p:nvSpPr>
          <p:cNvPr id="10" name="Shape 8"/>
          <p:cNvSpPr/>
          <p:nvPr/>
        </p:nvSpPr>
        <p:spPr>
          <a:xfrm>
            <a:off x="5625389" y="1481328"/>
            <a:ext cx="2827325" cy="457200"/>
          </a:xfrm>
          <a:prstGeom prst="roundRect">
            <a:avLst>
              <a:gd name="adj" fmla="val 24000"/>
            </a:avLst>
          </a:prstGeom>
          <a:solidFill>
            <a:srgbClr val="EEF2FC"/>
          </a:solidFill>
          <a:ln w="9525">
            <a:solidFill>
              <a:srgbClr val="CBD7F4"/>
            </a:solidFill>
            <a:prstDash val="solid"/>
          </a:ln>
        </p:spPr>
      </p:sp>
      <p:sp>
        <p:nvSpPr>
          <p:cNvPr id="11" name="Text 9"/>
          <p:cNvSpPr txBox="1"/>
          <p:nvPr/>
        </p:nvSpPr>
        <p:spPr>
          <a:xfrm>
            <a:off x="5625389" y="1481328"/>
            <a:ext cx="2827325"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dtoplam = dtepki + dfren</a:t>
            </a:r>
            <a:endParaRPr lang="en-US" sz="13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40080" y="2103120"/>
          <a:ext cx="10911535" cy="914400"/>
        </p:xfrm>
        <a:graphic>
          <a:graphicData uri="http://schemas.openxmlformats.org/drawingml/2006/table">
            <a:tbl>
              <a:tblPr/>
              <a:tblGrid>
                <a:gridCol w="2129080"/>
                <a:gridCol w="3725890"/>
                <a:gridCol w="3459755"/>
                <a:gridCol w="1596810"/>
              </a:tblGrid>
              <a:tr h="338328">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Hız</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Tepki mesafesi</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Fren mesafesi</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Toplam</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50 km/h</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14 m</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12 m</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26 m</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90 km/h</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25 m</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40 m</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65 m</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100 km/h</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28 m</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49 m</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77 m</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120 km/h</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33 m</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71 m</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104 m</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130 km/h</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36 m</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83 m</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119 m</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dersler.perinet.org/surtunme-kuvveti.html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25</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A093FF"/>
                </a:solidFill>
                <a:latin typeface="Cambria" pitchFamily="34" charset="0"/>
                <a:ea typeface="Cambria" pitchFamily="34" charset="-122"/>
                <a:cs typeface="Cambria" pitchFamily="34" charset="-120"/>
              </a:rPr>
              <a:t>3</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A093FF"/>
                </a:solidFill>
                <a:latin typeface="Calibri" pitchFamily="34" charset="0"/>
                <a:ea typeface="Calibri" pitchFamily="34" charset="-122"/>
                <a:cs typeface="Calibri" pitchFamily="34" charset="-120"/>
              </a:rPr>
              <a:t>BASAMAK 3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İleri</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Derinleşme: normal kuvvet değişince, tekerlek dönünce ve basit model zorlanınca ne olur; sonra sürtünme gerçek hayatta.</a:t>
            </a:r>
            <a:endParaRPr lang="en-US" sz="16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09   </a:t>
            </a:r>
            <a:pPr indent="0" marL="0">
              <a:buNone/>
            </a:pPr>
            <a:r>
              <a:rPr lang="en-US" sz="1300" dirty="0">
                <a:solidFill>
                  <a:srgbClr val="FFFFFF"/>
                </a:solidFill>
                <a:latin typeface="Calibri" pitchFamily="34" charset="0"/>
                <a:ea typeface="Calibri" pitchFamily="34" charset="-122"/>
                <a:cs typeface="Calibri" pitchFamily="34" charset="-120"/>
              </a:rPr>
              <a:t>Normal kuvvet her zaman m·g değildir</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10   </a:t>
            </a:r>
            <a:pPr indent="0" marL="0">
              <a:buNone/>
            </a:pPr>
            <a:r>
              <a:rPr lang="en-US" sz="1300" dirty="0">
                <a:solidFill>
                  <a:srgbClr val="FFFFFF"/>
                </a:solidFill>
                <a:latin typeface="Calibri" pitchFamily="34" charset="0"/>
                <a:ea typeface="Calibri" pitchFamily="34" charset="-122"/>
                <a:cs typeface="Calibri" pitchFamily="34" charset="-120"/>
              </a:rPr>
              <a:t>Dönen tekerlek, ABS ve modelin sınırları</a:t>
            </a:r>
            <a:endParaRPr lang="en-US" sz="1300" dirty="0"/>
          </a:p>
        </p:txBody>
      </p:sp>
      <p:sp>
        <p:nvSpPr>
          <p:cNvPr id="8" name="Text 6"/>
          <p:cNvSpPr txBox="1"/>
          <p:nvPr/>
        </p:nvSpPr>
        <p:spPr>
          <a:xfrm>
            <a:off x="731520" y="5230368"/>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11   </a:t>
            </a:r>
            <a:pPr indent="0" marL="0">
              <a:buNone/>
            </a:pPr>
            <a:r>
              <a:rPr lang="en-US" sz="1300" dirty="0">
                <a:solidFill>
                  <a:srgbClr val="FFFFFF"/>
                </a:solidFill>
                <a:latin typeface="Calibri" pitchFamily="34" charset="0"/>
                <a:ea typeface="Calibri" pitchFamily="34" charset="-122"/>
                <a:cs typeface="Calibri" pitchFamily="34" charset="-120"/>
              </a:rPr>
              <a:t>Sürtünme gerçek dünyada</a:t>
            </a:r>
            <a:endParaRPr lang="en-US" sz="1300" dirty="0"/>
          </a:p>
        </p:txBody>
      </p:sp>
      <p:sp>
        <p:nvSpPr>
          <p:cNvPr id="9" name="Shape 7"/>
          <p:cNvSpPr/>
          <p:nvPr/>
        </p:nvSpPr>
        <p:spPr>
          <a:xfrm>
            <a:off x="6117336" y="905256"/>
            <a:ext cx="5489143" cy="3696005"/>
          </a:xfrm>
          <a:prstGeom prst="roundRect">
            <a:avLst>
              <a:gd name="adj" fmla="val 3464"/>
            </a:avLst>
          </a:prstGeom>
          <a:solidFill>
            <a:srgbClr val="1C2542"/>
          </a:solidFill>
          <a:ln w="9525">
            <a:solidFill>
              <a:srgbClr val="2C3860"/>
            </a:solidFill>
            <a:prstDash val="solid"/>
          </a:ln>
        </p:spPr>
      </p:sp>
      <p:pic>
        <p:nvPicPr>
          <p:cNvPr id="10" name="Image 0" descr="/tmp/claude-1000/-opt-dersler/8a8328c3-841c-44fa-b76f-82572d338d3d/scratchpad/d4/sek/surtunme-kuvveti-uygulama-kart.jpg">    </p:cNvPr>
          <p:cNvPicPr>
            <a:picLocks noChangeAspect="1"/>
          </p:cNvPicPr>
          <p:nvPr/>
        </p:nvPicPr>
        <p:blipFill>
          <a:blip r:embed="rId1"/>
          <a:stretch>
            <a:fillRect/>
          </a:stretch>
        </p:blipFill>
        <p:spPr>
          <a:xfrm>
            <a:off x="6172200" y="960120"/>
            <a:ext cx="5379415" cy="3586277"/>
          </a:xfrm>
          <a:prstGeom prst="rect">
            <a:avLst/>
          </a:prstGeom>
        </p:spPr>
      </p:pic>
      <p:sp>
        <p:nvSpPr>
          <p:cNvPr id="11" name="Shape 8"/>
          <p:cNvSpPr/>
          <p:nvPr/>
        </p:nvSpPr>
        <p:spPr>
          <a:xfrm>
            <a:off x="9704527" y="4198925"/>
            <a:ext cx="1755648" cy="246888"/>
          </a:xfrm>
          <a:prstGeom prst="roundRect">
            <a:avLst>
              <a:gd name="adj" fmla="val 48148"/>
            </a:avLst>
          </a:prstGeom>
          <a:solidFill>
            <a:srgbClr val="0E1426">
              <a:alpha val="60000"/>
            </a:srgbClr>
          </a:solidFill>
          <a:ln/>
        </p:spPr>
      </p:sp>
      <p:sp>
        <p:nvSpPr>
          <p:cNvPr id="12" name="Text 9"/>
          <p:cNvSpPr txBox="1"/>
          <p:nvPr/>
        </p:nvSpPr>
        <p:spPr>
          <a:xfrm>
            <a:off x="9704527" y="4198925"/>
            <a:ext cx="1755648" cy="246888"/>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Yapay zekâ ile üretildi</a:t>
            </a:r>
            <a:endParaRPr lang="en-US" sz="850" dirty="0"/>
          </a:p>
        </p:txBody>
      </p:sp>
      <p:sp>
        <p:nvSpPr>
          <p:cNvPr id="13" name="Text 10"/>
          <p:cNvSpPr txBox="1"/>
          <p:nvPr/>
        </p:nvSpPr>
        <p:spPr>
          <a:xfrm>
            <a:off x="6172200" y="4774997"/>
            <a:ext cx="5379415" cy="1214323"/>
          </a:xfrm>
          <a:prstGeom prst="rect">
            <a:avLst/>
          </a:prstGeom>
          <a:noFill/>
          <a:ln/>
        </p:spPr>
        <p:txBody>
          <a:bodyPr wrap="square" lIns="0" tIns="0" rIns="0" bIns="0" rtlCol="0" anchor="t"/>
          <a:lstStyle/>
          <a:p>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Curling, sürtünmeyi ayarlama oyunudur.</a:t>
            </a:r>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 Yaklaşık 20 kg'lık granit taş buz üzerinde onlarca metre kayar. Oyuncular taşın yolundaki buzu fırçalayarak sürtünmeyi biraz daha azaltır; böylece taş biraz daha uzağa ve daha düz gider. Taş bırakıldıktan sonra bile yolunu bu küçük sürtünme farkı belirler.</a:t>
            </a:r>
            <a:endParaRPr lang="en-US" sz="1150" dirty="0"/>
          </a:p>
        </p:txBody>
      </p:sp>
      <p:sp>
        <p:nvSpPr>
          <p:cNvPr id="14" name="Shape 11"/>
          <p:cNvSpPr/>
          <p:nvPr/>
        </p:nvSpPr>
        <p:spPr>
          <a:xfrm>
            <a:off x="640080" y="6382512"/>
            <a:ext cx="128016" cy="128016"/>
          </a:xfrm>
          <a:prstGeom prst="roundRect">
            <a:avLst>
              <a:gd name="adj" fmla="val 28571"/>
            </a:avLst>
          </a:prstGeom>
          <a:solidFill>
            <a:srgbClr val="C6F36B"/>
          </a:solidFill>
          <a:ln/>
        </p:spPr>
      </p:sp>
      <p:sp>
        <p:nvSpPr>
          <p:cNvPr id="15" name="Text 1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dersler.perinet.org/surtunme-kuvveti.html</a:t>
            </a:r>
            <a:endParaRPr lang="en-US" sz="1050" dirty="0"/>
          </a:p>
        </p:txBody>
      </p:sp>
      <p:sp>
        <p:nvSpPr>
          <p:cNvPr id="16" name="Text 1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26</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Normal kuvvet her zaman m·g değildir</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640080" y="1188720"/>
            <a:ext cx="10911535" cy="1185062"/>
          </a:xfrm>
          <a:prstGeom prst="roundRect">
            <a:avLst>
              <a:gd name="adj" fmla="val 9259"/>
            </a:avLst>
          </a:prstGeom>
          <a:solidFill>
            <a:srgbClr val="F8F9FC"/>
          </a:solidFill>
          <a:ln w="9525">
            <a:solidFill>
              <a:srgbClr val="E1E5EE"/>
            </a:solidFill>
            <a:prstDash val="solid"/>
          </a:ln>
        </p:spPr>
      </p:sp>
      <p:sp>
        <p:nvSpPr>
          <p:cNvPr id="7" name="Shape 5"/>
          <p:cNvSpPr/>
          <p:nvPr/>
        </p:nvSpPr>
        <p:spPr>
          <a:xfrm>
            <a:off x="658368" y="1298448"/>
            <a:ext cx="54864" cy="965606"/>
          </a:xfrm>
          <a:prstGeom prst="rect">
            <a:avLst/>
          </a:prstGeom>
          <a:solidFill>
            <a:srgbClr val="5F4BD8"/>
          </a:solidFill>
          <a:ln/>
        </p:spPr>
      </p:sp>
      <p:sp>
        <p:nvSpPr>
          <p:cNvPr id="8" name="Text 6"/>
          <p:cNvSpPr txBox="1"/>
          <p:nvPr/>
        </p:nvSpPr>
        <p:spPr>
          <a:xfrm>
            <a:off x="932688" y="1234440"/>
            <a:ext cx="10454335" cy="1093622"/>
          </a:xfrm>
          <a:prstGeom prst="rect">
            <a:avLst/>
          </a:prstGeom>
          <a:noFill/>
          <a:ln/>
        </p:spPr>
        <p:txBody>
          <a:bodyPr wrap="square" lIns="0" tIns="0" rIns="0" bIns="0" rtlCol="0" anchor="ctr"/>
          <a:lstStyle/>
          <a:p>
            <a:pPr indent="0" marL="0">
              <a:lnSpc>
                <a:spcPct val="112000"/>
              </a:lnSpc>
              <a:buNone/>
            </a:pPr>
            <a:r>
              <a:rPr lang="en-US" sz="1850" dirty="0">
                <a:solidFill>
                  <a:srgbClr val="0E1426"/>
                </a:solidFill>
                <a:latin typeface="Calibri" pitchFamily="34" charset="0"/>
                <a:ea typeface="Calibri" pitchFamily="34" charset="-122"/>
                <a:cs typeface="Calibri" pitchFamily="34" charset="-120"/>
              </a:rPr>
              <a:t>Normal kuvvet, zeminin gerektiği kadar ittiği bir tepkidir: bastırınca, eğik çekince, asansörde ya da eğik düzlemde değişir. N'yi her soruda yüzeye dik doğrultudaki kuvvetlerden yeniden bul.</a:t>
            </a:r>
            <a:endParaRPr lang="en-US" sz="185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40080" y="2593238"/>
          <a:ext cx="10911535" cy="914400"/>
        </p:xfrm>
        <a:graphic>
          <a:graphicData uri="http://schemas.openxmlformats.org/drawingml/2006/table">
            <a:tbl>
              <a:tblPr/>
              <a:tblGrid>
                <a:gridCol w="7793954"/>
                <a:gridCol w="3117581"/>
              </a:tblGrid>
              <a:tr h="338328">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Durum</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Normal kuvvet</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Yatay zemin, başka düşey kuvvet yok</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N = m·g</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Üstten F kuvvetiyle bastırılıyor</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N = m·g + F</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F ile α açısıyla yukarı doğru çekiliyor</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N = m·g − F·sinα</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F ile α açısıyla aşağı doğru itiliyor</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N = m·g + F·sinα</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Yukarı doğru a ivmesiyle hızlanan asansör</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N = m·(g + a)</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10" name="Text 7"/>
          <p:cNvSpPr txBox="1"/>
          <p:nvPr/>
        </p:nvSpPr>
        <p:spPr>
          <a:xfrm>
            <a:off x="640080" y="4787798"/>
            <a:ext cx="10911535" cy="274320"/>
          </a:xfrm>
          <a:prstGeom prst="rect">
            <a:avLst/>
          </a:prstGeom>
          <a:noFill/>
          <a:ln/>
        </p:spPr>
        <p:txBody>
          <a:bodyPr wrap="square" lIns="0" tIns="0" rIns="0" bIns="0" rtlCol="0" anchor="ctr"/>
          <a:lstStyle/>
          <a:p>
            <a:pPr indent="0" marL="0">
              <a:buNone/>
            </a:pPr>
            <a:r>
              <a:rPr lang="en-US" sz="1750" b="1" dirty="0">
                <a:solidFill>
                  <a:srgbClr val="5F4BD8"/>
                </a:solidFill>
                <a:latin typeface="Calibri" pitchFamily="34" charset="0"/>
                <a:ea typeface="Calibri" pitchFamily="34" charset="-122"/>
                <a:cs typeface="Calibri" pitchFamily="34" charset="-120"/>
              </a:rPr>
              <a:t>Duvara bastırılan kitap</a:t>
            </a:r>
            <a:endParaRPr lang="en-US" sz="1750" dirty="0"/>
          </a:p>
        </p:txBody>
      </p:sp>
      <p:sp>
        <p:nvSpPr>
          <p:cNvPr id="11" name="Shape 8"/>
          <p:cNvSpPr/>
          <p:nvPr/>
        </p:nvSpPr>
        <p:spPr>
          <a:xfrm>
            <a:off x="640080" y="5098694"/>
            <a:ext cx="950976" cy="457200"/>
          </a:xfrm>
          <a:prstGeom prst="roundRect">
            <a:avLst>
              <a:gd name="adj" fmla="val 24000"/>
            </a:avLst>
          </a:prstGeom>
          <a:solidFill>
            <a:srgbClr val="EEF2FC"/>
          </a:solidFill>
          <a:ln w="9525">
            <a:solidFill>
              <a:srgbClr val="CBD7F4"/>
            </a:solidFill>
            <a:prstDash val="solid"/>
          </a:ln>
        </p:spPr>
      </p:sp>
      <p:sp>
        <p:nvSpPr>
          <p:cNvPr id="12" name="Text 9"/>
          <p:cNvSpPr txBox="1"/>
          <p:nvPr/>
        </p:nvSpPr>
        <p:spPr>
          <a:xfrm>
            <a:off x="640080" y="5098694"/>
            <a:ext cx="950976"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N = F</a:t>
            </a:r>
            <a:endParaRPr lang="en-US" sz="1300" dirty="0"/>
          </a:p>
        </p:txBody>
      </p:sp>
      <p:sp>
        <p:nvSpPr>
          <p:cNvPr id="13" name="Shape 10"/>
          <p:cNvSpPr/>
          <p:nvPr/>
        </p:nvSpPr>
        <p:spPr>
          <a:xfrm>
            <a:off x="1700784" y="5098694"/>
            <a:ext cx="1444752" cy="457200"/>
          </a:xfrm>
          <a:prstGeom prst="roundRect">
            <a:avLst>
              <a:gd name="adj" fmla="val 24000"/>
            </a:avLst>
          </a:prstGeom>
          <a:solidFill>
            <a:srgbClr val="EEF2FC"/>
          </a:solidFill>
          <a:ln w="9525">
            <a:solidFill>
              <a:srgbClr val="CBD7F4"/>
            </a:solidFill>
            <a:prstDash val="solid"/>
          </a:ln>
        </p:spPr>
      </p:sp>
      <p:sp>
        <p:nvSpPr>
          <p:cNvPr id="14" name="Text 11"/>
          <p:cNvSpPr txBox="1"/>
          <p:nvPr/>
        </p:nvSpPr>
        <p:spPr>
          <a:xfrm>
            <a:off x="1700784" y="5098694"/>
            <a:ext cx="1444752"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m·g ≤ μs·F</a:t>
            </a:r>
            <a:endParaRPr lang="en-US" sz="1300" dirty="0"/>
          </a:p>
        </p:txBody>
      </p:sp>
      <p:sp>
        <p:nvSpPr>
          <p:cNvPr id="15" name="Shape 12"/>
          <p:cNvSpPr/>
          <p:nvPr/>
        </p:nvSpPr>
        <p:spPr>
          <a:xfrm>
            <a:off x="3255264" y="5098694"/>
            <a:ext cx="1642262" cy="457200"/>
          </a:xfrm>
          <a:prstGeom prst="roundRect">
            <a:avLst>
              <a:gd name="adj" fmla="val 24000"/>
            </a:avLst>
          </a:prstGeom>
          <a:solidFill>
            <a:srgbClr val="EEF2FC"/>
          </a:solidFill>
          <a:ln w="9525">
            <a:solidFill>
              <a:srgbClr val="CBD7F4"/>
            </a:solidFill>
            <a:prstDash val="solid"/>
          </a:ln>
        </p:spPr>
      </p:sp>
      <p:sp>
        <p:nvSpPr>
          <p:cNvPr id="16" name="Text 13"/>
          <p:cNvSpPr txBox="1"/>
          <p:nvPr/>
        </p:nvSpPr>
        <p:spPr>
          <a:xfrm>
            <a:off x="3255264" y="5098694"/>
            <a:ext cx="1642262"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F ≥ m·g / μs</a:t>
            </a:r>
            <a:endParaRPr lang="en-US" sz="1300" dirty="0"/>
          </a:p>
        </p:txBody>
      </p:sp>
      <p:sp>
        <p:nvSpPr>
          <p:cNvPr id="17" name="Shape 14"/>
          <p:cNvSpPr/>
          <p:nvPr/>
        </p:nvSpPr>
        <p:spPr>
          <a:xfrm>
            <a:off x="640080" y="6382512"/>
            <a:ext cx="128016" cy="128016"/>
          </a:xfrm>
          <a:prstGeom prst="roundRect">
            <a:avLst>
              <a:gd name="adj" fmla="val 28571"/>
            </a:avLst>
          </a:prstGeom>
          <a:solidFill>
            <a:srgbClr val="A9E648"/>
          </a:solidFill>
          <a:ln/>
        </p:spPr>
      </p:sp>
      <p:sp>
        <p:nvSpPr>
          <p:cNvPr id="18"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dersler.perinet.org/surtunme-kuvveti.html</a:t>
            </a:r>
            <a:endParaRPr lang="en-US" sz="1050" dirty="0"/>
          </a:p>
        </p:txBody>
      </p:sp>
      <p:sp>
        <p:nvSpPr>
          <p:cNvPr id="19"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27</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Karda bir kızağı ipiyle yukarı doğru eğik çekmek mi, arkadan aşağı doğru eğik itmek mi daha kolaydır?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09 · Normal kuvvet her zaman m·g değildir</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dersler.perinet.org/surtunme-kuvveti.html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28</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Karda bir kızağı ipiyle yukarı doğru eğik çekmek mi, arkadan aşağı doğru eğik itmek mi daha kolaydır?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CFC8F5"/>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200" b="1" dirty="0">
                <a:solidFill>
                  <a:srgbClr val="5F4BD8"/>
                </a:solidFill>
                <a:latin typeface="Calibri" pitchFamily="34" charset="0"/>
                <a:ea typeface="Calibri" pitchFamily="34" charset="-122"/>
                <a:cs typeface="Calibri" pitchFamily="34" charset="-120"/>
              </a:rPr>
              <a:t>Çekmek.</a:t>
            </a:r>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 Eğik çektiğinde kuvvetin düşey bileşeni kızağı biraz kaldırır; N ve dolayısıyla sürtünme küçülür. Aşağı doğru eğik ittiğinde düşey bileşen kızağı kara bastırır; N büyür, sürtünme artar. Kuvvetin yatay bileşeni iki durumda da aynıdır, ama çekerken ona karşı koyan sürtünme daha küçüktür.</a:t>
            </a:r>
            <a:endParaRPr lang="en-US" sz="2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dersler.perinet.org/surtunme-kuvveti.html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29</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Dönen tekerlek, ABS ve modelin sınırları</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640080" y="1188720"/>
            <a:ext cx="10911535" cy="1185062"/>
          </a:xfrm>
          <a:prstGeom prst="roundRect">
            <a:avLst>
              <a:gd name="adj" fmla="val 9259"/>
            </a:avLst>
          </a:prstGeom>
          <a:solidFill>
            <a:srgbClr val="F8F9FC"/>
          </a:solidFill>
          <a:ln w="9525">
            <a:solidFill>
              <a:srgbClr val="E1E5EE"/>
            </a:solidFill>
            <a:prstDash val="solid"/>
          </a:ln>
        </p:spPr>
      </p:sp>
      <p:sp>
        <p:nvSpPr>
          <p:cNvPr id="7" name="Shape 5"/>
          <p:cNvSpPr/>
          <p:nvPr/>
        </p:nvSpPr>
        <p:spPr>
          <a:xfrm>
            <a:off x="658368" y="1298448"/>
            <a:ext cx="54864" cy="965606"/>
          </a:xfrm>
          <a:prstGeom prst="rect">
            <a:avLst/>
          </a:prstGeom>
          <a:solidFill>
            <a:srgbClr val="5F4BD8"/>
          </a:solidFill>
          <a:ln/>
        </p:spPr>
      </p:sp>
      <p:sp>
        <p:nvSpPr>
          <p:cNvPr id="8" name="Text 6"/>
          <p:cNvSpPr txBox="1"/>
          <p:nvPr/>
        </p:nvSpPr>
        <p:spPr>
          <a:xfrm>
            <a:off x="932688" y="1234440"/>
            <a:ext cx="10454335" cy="1093622"/>
          </a:xfrm>
          <a:prstGeom prst="rect">
            <a:avLst/>
          </a:prstGeom>
          <a:noFill/>
          <a:ln/>
        </p:spPr>
        <p:txBody>
          <a:bodyPr wrap="square" lIns="0" tIns="0" rIns="0" bIns="0" rtlCol="0" anchor="ctr"/>
          <a:lstStyle/>
          <a:p>
            <a:pPr indent="0" marL="0">
              <a:lnSpc>
                <a:spcPct val="112000"/>
              </a:lnSpc>
              <a:buNone/>
            </a:pPr>
            <a:r>
              <a:rPr lang="en-US" sz="1850" dirty="0">
                <a:solidFill>
                  <a:srgbClr val="0E1426"/>
                </a:solidFill>
                <a:latin typeface="Calibri" pitchFamily="34" charset="0"/>
                <a:ea typeface="Calibri" pitchFamily="34" charset="-122"/>
                <a:cs typeface="Calibri" pitchFamily="34" charset="-120"/>
              </a:rPr>
              <a:t>Kaymadan dönen tekerlekte yol ile lastik arasındaki sürtünme statiktir; aracı hızlandıran, durduran ve virajda tutan odur. f = μ·N bir yaklaşımdır: μ sıcaklıkla değişebilir, 1'i aşabilir, araya sıvı girince çok küçülür.</a:t>
            </a:r>
            <a:endParaRPr lang="en-US" sz="1850" dirty="0"/>
          </a:p>
        </p:txBody>
      </p:sp>
      <p:sp>
        <p:nvSpPr>
          <p:cNvPr id="9" name="Shape 7"/>
          <p:cNvSpPr/>
          <p:nvPr/>
        </p:nvSpPr>
        <p:spPr>
          <a:xfrm>
            <a:off x="640080" y="2593238"/>
            <a:ext cx="10911535" cy="822960"/>
          </a:xfrm>
          <a:prstGeom prst="roundRect">
            <a:avLst>
              <a:gd name="adj" fmla="val 1333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0" name="Shape 8"/>
          <p:cNvSpPr/>
          <p:nvPr/>
        </p:nvSpPr>
        <p:spPr>
          <a:xfrm>
            <a:off x="658368" y="2739542"/>
            <a:ext cx="45720" cy="530352"/>
          </a:xfrm>
          <a:prstGeom prst="rect">
            <a:avLst/>
          </a:prstGeom>
          <a:solidFill>
            <a:srgbClr val="A56209"/>
          </a:solidFill>
          <a:ln/>
        </p:spPr>
      </p:sp>
      <p:sp>
        <p:nvSpPr>
          <p:cNvPr id="11" name="Text 9"/>
          <p:cNvSpPr txBox="1"/>
          <p:nvPr/>
        </p:nvSpPr>
        <p:spPr>
          <a:xfrm>
            <a:off x="914400" y="2702966"/>
            <a:ext cx="10454335" cy="603504"/>
          </a:xfrm>
          <a:prstGeom prst="rect">
            <a:avLst/>
          </a:prstGeom>
          <a:noFill/>
          <a:ln/>
        </p:spPr>
        <p:txBody>
          <a:bodyPr wrap="square" lIns="0" tIns="0" rIns="0" bIns="0" rtlCol="0" anchor="ctr"/>
          <a:lstStyle/>
          <a:p>
            <a:pPr indent="0" marL="0">
              <a:lnSpc>
                <a:spcPct val="112000"/>
              </a:lnSpc>
              <a:buNone/>
            </a:pPr>
            <a:r>
              <a:rPr lang="en-US" sz="1200" b="1" dirty="0">
                <a:solidFill>
                  <a:srgbClr val="0E1426"/>
                </a:solidFill>
                <a:latin typeface="Calibri" pitchFamily="34" charset="0"/>
                <a:ea typeface="Calibri" pitchFamily="34" charset="-122"/>
                <a:cs typeface="Calibri" pitchFamily="34" charset="-120"/>
              </a:rPr>
              <a:t>ABS neden var?</a:t>
            </a:r>
            <a:pPr indent="0" marL="0">
              <a:lnSpc>
                <a:spcPct val="112000"/>
              </a:lnSpc>
              <a:buNone/>
            </a:pPr>
            <a:r>
              <a:rPr lang="en-US" sz="1200" dirty="0">
                <a:solidFill>
                  <a:srgbClr val="4A5470"/>
                </a:solidFill>
                <a:latin typeface="Calibri" pitchFamily="34" charset="0"/>
                <a:ea typeface="Calibri" pitchFamily="34" charset="-122"/>
                <a:cs typeface="Calibri" pitchFamily="34" charset="-120"/>
              </a:rPr>
              <a:t> Tekerlek kilitlenip kayarsa devreye </a:t>
            </a:r>
            <a:pPr indent="0" marL="0">
              <a:lnSpc>
                <a:spcPct val="112000"/>
              </a:lnSpc>
              <a:buNone/>
            </a:pPr>
            <a:r>
              <a:rPr lang="en-US" sz="1200" b="1" dirty="0">
                <a:solidFill>
                  <a:srgbClr val="0E1426"/>
                </a:solidFill>
                <a:latin typeface="Calibri" pitchFamily="34" charset="0"/>
                <a:ea typeface="Calibri" pitchFamily="34" charset="-122"/>
                <a:cs typeface="Calibri" pitchFamily="34" charset="-120"/>
              </a:rPr>
              <a:t>kinetik</a:t>
            </a:r>
            <a:pPr indent="0" marL="0">
              <a:lnSpc>
                <a:spcPct val="112000"/>
              </a:lnSpc>
              <a:buNone/>
            </a:pPr>
            <a:r>
              <a:rPr lang="en-US" sz="1200" dirty="0">
                <a:solidFill>
                  <a:srgbClr val="4A5470"/>
                </a:solidFill>
                <a:latin typeface="Calibri" pitchFamily="34" charset="0"/>
                <a:ea typeface="Calibri" pitchFamily="34" charset="-122"/>
                <a:cs typeface="Calibri" pitchFamily="34" charset="-120"/>
              </a:rPr>
              <a:t> sürtünme girer ve μ küçülür. ABS, tekerleği kilitlenme sınırında tutarak daha büyük olan </a:t>
            </a:r>
            <a:pPr indent="0" marL="0">
              <a:lnSpc>
                <a:spcPct val="112000"/>
              </a:lnSpc>
              <a:buNone/>
            </a:pPr>
            <a:r>
              <a:rPr lang="en-US" sz="1200" b="1" dirty="0">
                <a:solidFill>
                  <a:srgbClr val="0E1426"/>
                </a:solidFill>
                <a:latin typeface="Calibri" pitchFamily="34" charset="0"/>
                <a:ea typeface="Calibri" pitchFamily="34" charset="-122"/>
                <a:cs typeface="Calibri" pitchFamily="34" charset="-120"/>
              </a:rPr>
              <a:t>statik</a:t>
            </a:r>
            <a:pPr indent="0" marL="0">
              <a:lnSpc>
                <a:spcPct val="112000"/>
              </a:lnSpc>
              <a:buNone/>
            </a:pPr>
            <a:r>
              <a:rPr lang="en-US" sz="1200" dirty="0">
                <a:solidFill>
                  <a:srgbClr val="4A5470"/>
                </a:solidFill>
                <a:latin typeface="Calibri" pitchFamily="34" charset="0"/>
                <a:ea typeface="Calibri" pitchFamily="34" charset="-122"/>
                <a:cs typeface="Calibri" pitchFamily="34" charset="-120"/>
              </a:rPr>
              <a:t> sürtünmeden yararlanır; ayrıca direksiyon hâkimiyetini korur.</a:t>
            </a:r>
            <a:endParaRPr lang="en-US" sz="1200" dirty="0"/>
          </a:p>
        </p:txBody>
      </p:sp>
      <p:sp>
        <p:nvSpPr>
          <p:cNvPr id="12" name="Text 10"/>
          <p:cNvSpPr txBox="1"/>
          <p:nvPr/>
        </p:nvSpPr>
        <p:spPr>
          <a:xfrm>
            <a:off x="640080" y="3525926"/>
            <a:ext cx="10911535" cy="2142744"/>
          </a:xfrm>
          <a:prstGeom prst="rect">
            <a:avLst/>
          </a:prstGeom>
          <a:noFill/>
          <a:ln/>
        </p:spPr>
        <p:txBody>
          <a:bodyPr wrap="square" lIns="0" tIns="0" rIns="0" bIns="0" rtlCol="0" anchor="t"/>
          <a:lstStyle/>
          <a:p>
            <a:pPr marL="203200" indent="-203200">
              <a:lnSpc>
                <a:spcPct val="115000"/>
              </a:lnSpc>
              <a:spcAft>
                <a:spcPts val="500"/>
              </a:spcAft>
              <a:buSzPct val="100000"/>
              <a:buChar char="▪"/>
            </a:pPr>
            <a:r>
              <a:rPr lang="en-US" sz="1300" b="1" dirty="0">
                <a:solidFill>
                  <a:srgbClr val="0E1426"/>
                </a:solidFill>
                <a:latin typeface="Calibri" pitchFamily="34" charset="0"/>
                <a:ea typeface="Calibri" pitchFamily="34" charset="-122"/>
                <a:cs typeface="Calibri" pitchFamily="34" charset="-120"/>
              </a:rPr>
              <a:t>μ tam sabit değildir:</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kayma hızıyla ve sıcaklıkla biraz değişir; uzun yokuş inişinde aşırı ısınan frenler zayıflayabilir.</a:t>
            </a:r>
            <a:endParaRPr lang="en-US" sz="1300" dirty="0"/>
          </a:p>
          <a:p>
            <a:pPr marL="203200" indent="-203200">
              <a:lnSpc>
                <a:spcPct val="115000"/>
              </a:lnSpc>
              <a:spcAft>
                <a:spcPts val="500"/>
              </a:spcAft>
              <a:buSzPct val="100000"/>
              <a:buChar char="▪"/>
            </a:pPr>
            <a:r>
              <a:rPr lang="en-US" sz="1300" b="1" dirty="0">
                <a:solidFill>
                  <a:srgbClr val="0E1426"/>
                </a:solidFill>
                <a:latin typeface="Calibri" pitchFamily="34" charset="0"/>
                <a:ea typeface="Calibri" pitchFamily="34" charset="-122"/>
                <a:cs typeface="Calibri" pitchFamily="34" charset="-120"/>
              </a:rPr>
              <a:t>μ 1'i aşabilir:</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yumuşak kauçuk ve silikon gibi malzemelerde yapışma baskındır; sürtünme normal kuvvetten büyük olabilir.</a:t>
            </a:r>
            <a:endParaRPr lang="en-US" sz="1300" dirty="0"/>
          </a:p>
          <a:p>
            <a:pPr marL="203200" indent="-203200">
              <a:lnSpc>
                <a:spcPct val="115000"/>
              </a:lnSpc>
              <a:spcAft>
                <a:spcPts val="500"/>
              </a:spcAft>
              <a:buSzPct val="100000"/>
              <a:buChar char="▪"/>
            </a:pPr>
            <a:r>
              <a:rPr lang="en-US" sz="1300" b="1" dirty="0">
                <a:solidFill>
                  <a:srgbClr val="0E1426"/>
                </a:solidFill>
                <a:latin typeface="Calibri" pitchFamily="34" charset="0"/>
                <a:ea typeface="Calibri" pitchFamily="34" charset="-122"/>
                <a:cs typeface="Calibri" pitchFamily="34" charset="-120"/>
              </a:rPr>
              <a:t>Araya giren sıvı yüzeyleri ayırır:</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yağ makinede sürtünmeyi azaltır; ıslak yolda lastik su tabakasının üstüne çıkarsa tutuş neredeyse kaybolur.</a:t>
            </a:r>
            <a:endParaRPr lang="en-US" sz="1300" dirty="0"/>
          </a:p>
          <a:p>
            <a:pPr marL="203200" indent="-203200">
              <a:lnSpc>
                <a:spcPct val="115000"/>
              </a:lnSpc>
              <a:spcAft>
                <a:spcPts val="500"/>
              </a:spcAft>
              <a:buSzPct val="100000"/>
              <a:buChar char="▪"/>
            </a:pPr>
            <a:r>
              <a:rPr lang="en-US" sz="1300" b="1" dirty="0">
                <a:solidFill>
                  <a:srgbClr val="0E1426"/>
                </a:solidFill>
                <a:latin typeface="Calibri" pitchFamily="34" charset="0"/>
                <a:ea typeface="Calibri" pitchFamily="34" charset="-122"/>
                <a:cs typeface="Calibri" pitchFamily="34" charset="-120"/>
              </a:rPr>
              <a:t>Yuvarlanmak kaymaktan çok kolaydır:</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yuvarlanma direnci katsayısı araba lastiğinde yaklaşık 0,01'dir, çelik tren tekerleğinde bundan da birkaç kat küçüktür.</a:t>
            </a:r>
            <a:endParaRPr lang="en-US" sz="1300" dirty="0"/>
          </a:p>
          <a:p>
            <a:pPr marL="203200" indent="-203200">
              <a:lnSpc>
                <a:spcPct val="115000"/>
              </a:lnSpc>
              <a:spcAft>
                <a:spcPts val="500"/>
              </a:spcAft>
              <a:buSzPct val="100000"/>
              <a:buChar char="▪"/>
            </a:pPr>
            <a:r>
              <a:rPr lang="en-US" sz="1300" b="1" dirty="0">
                <a:solidFill>
                  <a:srgbClr val="0E1426"/>
                </a:solidFill>
                <a:latin typeface="Calibri" pitchFamily="34" charset="0"/>
                <a:ea typeface="Calibri" pitchFamily="34" charset="-122"/>
                <a:cs typeface="Calibri" pitchFamily="34" charset="-120"/>
              </a:rPr>
              <a:t>Yumuşak malzemede alan biraz etkiler:</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kauçuğun katsayısı basınç arttıkça bir miktar düşer; "alan fark etmez" kuralı sert yüzeylerde daha iyi tutar.</a:t>
            </a:r>
            <a:endParaRPr lang="en-US" sz="1300" dirty="0"/>
          </a:p>
        </p:txBody>
      </p:sp>
      <p:sp>
        <p:nvSpPr>
          <p:cNvPr id="13" name="Shape 11"/>
          <p:cNvSpPr/>
          <p:nvPr/>
        </p:nvSpPr>
        <p:spPr>
          <a:xfrm>
            <a:off x="640080" y="6382512"/>
            <a:ext cx="128016" cy="128016"/>
          </a:xfrm>
          <a:prstGeom prst="roundRect">
            <a:avLst>
              <a:gd name="adj" fmla="val 28571"/>
            </a:avLst>
          </a:prstGeom>
          <a:solidFill>
            <a:srgbClr val="A9E648"/>
          </a:solidFill>
          <a:ln/>
        </p:spPr>
      </p:sp>
      <p:sp>
        <p:nvSpPr>
          <p:cNvPr id="14" name="Text 1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dersler.perinet.org/surtunme-kuvveti.html</a:t>
            </a:r>
            <a:endParaRPr lang="en-US" sz="1050" dirty="0"/>
          </a:p>
        </p:txBody>
      </p:sp>
      <p:sp>
        <p:nvSpPr>
          <p:cNvPr id="15" name="Text 1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30</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Temas alanı sürtünmeyi değiştirmiyorsa yarış arabalarının lastikleri neden bu kadar geniştir?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10 · Dönen tekerlek, ABS ve modelin sınırları</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dersler.perinet.org/surtunme-kuvveti.html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31</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Temas alanı sürtünmeyi değiştirmiyorsa yarış arabalarının lastikleri neden bu kadar geniştir?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CFC8F5"/>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Çünkü kauçuk, f = μ·N modeline tam uymaz. Geniş lastik aynı ağırlığı daha geniş bir alana yayıp basıncı düşürür; kauçuğun katsayısı düşük basınçta biraz daha yüksektir. Ayrıca geniş yüzey, sürtünmenin ürettiği ısıyı ve aşınmayı daha büyük bir alana dağıtır ve lastik aşırı ısınmaz.</a:t>
            </a:r>
            <a:endParaRPr lang="en-US" sz="2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dersler.perinet.org/surtunme-kuvveti.html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32</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Sürtünme gerçek dünyada</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640080" y="1188720"/>
            <a:ext cx="10911535" cy="1185062"/>
          </a:xfrm>
          <a:prstGeom prst="roundRect">
            <a:avLst>
              <a:gd name="adj" fmla="val 9259"/>
            </a:avLst>
          </a:prstGeom>
          <a:solidFill>
            <a:srgbClr val="F8F9FC"/>
          </a:solidFill>
          <a:ln w="9525">
            <a:solidFill>
              <a:srgbClr val="E1E5EE"/>
            </a:solidFill>
            <a:prstDash val="solid"/>
          </a:ln>
        </p:spPr>
      </p:sp>
      <p:sp>
        <p:nvSpPr>
          <p:cNvPr id="7" name="Shape 5"/>
          <p:cNvSpPr/>
          <p:nvPr/>
        </p:nvSpPr>
        <p:spPr>
          <a:xfrm>
            <a:off x="658368" y="1298448"/>
            <a:ext cx="54864" cy="965606"/>
          </a:xfrm>
          <a:prstGeom prst="rect">
            <a:avLst/>
          </a:prstGeom>
          <a:solidFill>
            <a:srgbClr val="5F4BD8"/>
          </a:solidFill>
          <a:ln/>
        </p:spPr>
      </p:sp>
      <p:sp>
        <p:nvSpPr>
          <p:cNvPr id="8" name="Text 6"/>
          <p:cNvSpPr txBox="1"/>
          <p:nvPr/>
        </p:nvSpPr>
        <p:spPr>
          <a:xfrm>
            <a:off x="932688" y="1234440"/>
            <a:ext cx="10454335" cy="1093622"/>
          </a:xfrm>
          <a:prstGeom prst="rect">
            <a:avLst/>
          </a:prstGeom>
          <a:noFill/>
          <a:ln/>
        </p:spPr>
        <p:txBody>
          <a:bodyPr wrap="square" lIns="0" tIns="0" rIns="0" bIns="0" rtlCol="0" anchor="ctr"/>
          <a:lstStyle/>
          <a:p>
            <a:pPr indent="0" marL="0">
              <a:lnSpc>
                <a:spcPct val="112000"/>
              </a:lnSpc>
              <a:buNone/>
            </a:pPr>
            <a:r>
              <a:rPr lang="en-US" sz="1850" dirty="0">
                <a:solidFill>
                  <a:srgbClr val="0E1426"/>
                </a:solidFill>
                <a:latin typeface="Calibri" pitchFamily="34" charset="0"/>
                <a:ea typeface="Calibri" pitchFamily="34" charset="-122"/>
                <a:cs typeface="Calibri" pitchFamily="34" charset="-120"/>
              </a:rPr>
              <a:t>Sürtünme mühendislikte bir ayar düğmesidir: frende, lastikte ve yürürken artırılır, makinelerde yağ ve rulmanla azaltılır. Curling'de oyuncular buzu fırçalayarak taşın ne kadar kayacağını değiştirir.</a:t>
            </a:r>
            <a:endParaRPr lang="en-US" sz="1850" dirty="0"/>
          </a:p>
        </p:txBody>
      </p:sp>
      <p:sp>
        <p:nvSpPr>
          <p:cNvPr id="9" name="Text 7"/>
          <p:cNvSpPr txBox="1"/>
          <p:nvPr/>
        </p:nvSpPr>
        <p:spPr>
          <a:xfrm>
            <a:off x="640080" y="2593238"/>
            <a:ext cx="10911535" cy="2206752"/>
          </a:xfrm>
          <a:prstGeom prst="rect">
            <a:avLst/>
          </a:prstGeom>
          <a:noFill/>
          <a:ln/>
        </p:spPr>
        <p:txBody>
          <a:bodyPr wrap="square" lIns="0" tIns="0" rIns="0" bIns="0" rtlCol="0" anchor="t"/>
          <a:lstStyle/>
          <a:p>
            <a:pPr marL="203200" indent="-203200">
              <a:lnSpc>
                <a:spcPct val="115000"/>
              </a:lnSpc>
              <a:spcAft>
                <a:spcPts val="500"/>
              </a:spcAft>
              <a:buSzPct val="100000"/>
              <a:buChar char="▪"/>
            </a:pPr>
            <a:r>
              <a:rPr lang="en-US" sz="1300" b="1" dirty="0">
                <a:solidFill>
                  <a:srgbClr val="0E1426"/>
                </a:solidFill>
                <a:latin typeface="Calibri" pitchFamily="34" charset="0"/>
                <a:ea typeface="Calibri" pitchFamily="34" charset="-122"/>
                <a:cs typeface="Calibri" pitchFamily="34" charset="-120"/>
              </a:rPr>
              <a:t>Curling:</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2 m/s ile bırakılıp 28 m kayan bir taş varsayarsan μ</a:t>
            </a:r>
            <a:pPr indent="0" marL="0">
              <a:lnSpc>
                <a:spcPct val="115000"/>
              </a:lnSpc>
              <a:buNone/>
            </a:pPr>
            <a:r>
              <a:rPr lang="en-US" sz="1300" baseline="-40000" dirty="0">
                <a:solidFill>
                  <a:srgbClr val="4A5470"/>
                </a:solidFill>
                <a:latin typeface="Calibri" pitchFamily="34" charset="0"/>
                <a:ea typeface="Calibri" pitchFamily="34" charset="-122"/>
                <a:cs typeface="Calibri" pitchFamily="34" charset="-120"/>
              </a:rPr>
              <a:t>k</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 v²/(2·g·d) ≈ 0,007 çıkar; buz–çelikteki 0,03'ün yaklaşık dörtte biri.</a:t>
            </a:r>
            <a:endParaRPr lang="en-US" sz="1300" dirty="0"/>
          </a:p>
          <a:p>
            <a:pPr marL="203200" indent="-203200">
              <a:lnSpc>
                <a:spcPct val="115000"/>
              </a:lnSpc>
              <a:spcAft>
                <a:spcPts val="500"/>
              </a:spcAft>
              <a:buSzPct val="100000"/>
              <a:buChar char="▪"/>
            </a:pPr>
            <a:r>
              <a:rPr lang="en-US" sz="1300" b="1" dirty="0">
                <a:solidFill>
                  <a:srgbClr val="0E1426"/>
                </a:solidFill>
                <a:latin typeface="Calibri" pitchFamily="34" charset="0"/>
                <a:ea typeface="Calibri" pitchFamily="34" charset="-122"/>
                <a:cs typeface="Calibri" pitchFamily="34" charset="-120"/>
              </a:rPr>
              <a:t>Frenler:</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1000 kg'lık bir araç 90 km/h'den durunca yaklaşık 310 kJ kinetik enerji balata–disk sürtünmesiyle ısıya dönüşür.</a:t>
            </a:r>
            <a:endParaRPr lang="en-US" sz="1300" dirty="0"/>
          </a:p>
          <a:p>
            <a:pPr marL="203200" indent="-203200">
              <a:lnSpc>
                <a:spcPct val="115000"/>
              </a:lnSpc>
              <a:spcAft>
                <a:spcPts val="500"/>
              </a:spcAft>
              <a:buSzPct val="100000"/>
              <a:buChar char="▪"/>
            </a:pPr>
            <a:r>
              <a:rPr lang="en-US" sz="1300" b="1" dirty="0">
                <a:solidFill>
                  <a:srgbClr val="0E1426"/>
                </a:solidFill>
                <a:latin typeface="Calibri" pitchFamily="34" charset="0"/>
                <a:ea typeface="Calibri" pitchFamily="34" charset="-122"/>
                <a:cs typeface="Calibri" pitchFamily="34" charset="-120"/>
              </a:rPr>
              <a:t>Kış lastiği ve zincir:</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karda μ 0,20'ye iner; 90 km/h'de fren mesafesi kuru yolun 4 katına, yaklaşık 160 m'ye çıkar.</a:t>
            </a:r>
            <a:endParaRPr lang="en-US" sz="1300" dirty="0"/>
          </a:p>
          <a:p>
            <a:pPr marL="203200" indent="-203200">
              <a:lnSpc>
                <a:spcPct val="115000"/>
              </a:lnSpc>
              <a:spcAft>
                <a:spcPts val="500"/>
              </a:spcAft>
              <a:buSzPct val="100000"/>
              <a:buChar char="▪"/>
            </a:pPr>
            <a:r>
              <a:rPr lang="en-US" sz="1300" b="1" dirty="0">
                <a:solidFill>
                  <a:srgbClr val="0E1426"/>
                </a:solidFill>
                <a:latin typeface="Calibri" pitchFamily="34" charset="0"/>
                <a:ea typeface="Calibri" pitchFamily="34" charset="-122"/>
                <a:cs typeface="Calibri" pitchFamily="34" charset="-120"/>
              </a:rPr>
              <a:t>Yağ ve rulman:</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kuru çelik–çelikte 0,6 olan katsayı yağlanınca 0,1 civarına iner; bilyeli rulman kaymayı yuvarlanmaya çevirir.</a:t>
            </a:r>
            <a:endParaRPr lang="en-US" sz="1300" dirty="0"/>
          </a:p>
          <a:p>
            <a:pPr marL="203200" indent="-203200">
              <a:lnSpc>
                <a:spcPct val="115000"/>
              </a:lnSpc>
              <a:spcAft>
                <a:spcPts val="500"/>
              </a:spcAft>
              <a:buSzPct val="100000"/>
              <a:buChar char="▪"/>
            </a:pPr>
            <a:r>
              <a:rPr lang="en-US" sz="1300" b="1" dirty="0">
                <a:solidFill>
                  <a:srgbClr val="0E1426"/>
                </a:solidFill>
                <a:latin typeface="Calibri" pitchFamily="34" charset="0"/>
                <a:ea typeface="Calibri" pitchFamily="34" charset="-122"/>
                <a:cs typeface="Calibri" pitchFamily="34" charset="-120"/>
              </a:rPr>
              <a:t>Yürümek:</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adım atan ayak yere eğik basar; buzda μ çok küçük olduğundan kısa adımlarla, ayağı daha dik basarak yürürsün.</a:t>
            </a:r>
            <a:endParaRPr lang="en-US" sz="1300" dirty="0"/>
          </a:p>
          <a:p>
            <a:pPr marL="203200" indent="-203200">
              <a:lnSpc>
                <a:spcPct val="115000"/>
              </a:lnSpc>
              <a:spcAft>
                <a:spcPts val="500"/>
              </a:spcAft>
              <a:buSzPct val="100000"/>
              <a:buChar char="▪"/>
            </a:pPr>
            <a:r>
              <a:rPr lang="en-US" sz="1300" b="1" dirty="0">
                <a:solidFill>
                  <a:srgbClr val="0E1426"/>
                </a:solidFill>
                <a:latin typeface="Calibri" pitchFamily="34" charset="0"/>
                <a:ea typeface="Calibri" pitchFamily="34" charset="-122"/>
                <a:cs typeface="Calibri" pitchFamily="34" charset="-120"/>
              </a:rPr>
              <a:t>Kibrit:</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kutunun yan yüzeyine sürtülen kibrit başı, sürtünmenin ürettiği ısıyla tutuşma sıcaklığına ulaşır.</a:t>
            </a:r>
            <a:endParaRPr lang="en-US" sz="13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dersler.perinet.org/surtunme-kuvveti.html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33</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Sürtünme gerçek dünyada · devam</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640080" y="1481328"/>
          <a:ext cx="10911535" cy="914400"/>
        </p:xfrm>
        <a:graphic>
          <a:graphicData uri="http://schemas.openxmlformats.org/drawingml/2006/table">
            <a:tbl>
              <a:tblPr/>
              <a:tblGrid>
                <a:gridCol w="5187451"/>
                <a:gridCol w="5724084"/>
              </a:tblGrid>
              <a:tr h="338328">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Faydalı olduğu yerler</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Zararlı olduğu yerler</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Yürümek, koşmak</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Makine parçalarının aşınması</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Fren yapmak, virajı dönmek</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Isınma ve enerji kaybı</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Vida, çivi ve düğümün tutması</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Verimin düşmesi</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Elimizle bir şey tutabilmek</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Uçak ve araçlarda yakıt tüketimi</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bl>
          </a:graphicData>
        </a:graphic>
      </p:graphicFrame>
      <p:sp>
        <p:nvSpPr>
          <p:cNvPr id="7" name="Shape 4"/>
          <p:cNvSpPr/>
          <p:nvPr/>
        </p:nvSpPr>
        <p:spPr>
          <a:xfrm>
            <a:off x="640080" y="6382512"/>
            <a:ext cx="128016" cy="128016"/>
          </a:xfrm>
          <a:prstGeom prst="roundRect">
            <a:avLst>
              <a:gd name="adj" fmla="val 28571"/>
            </a:avLst>
          </a:prstGeom>
          <a:solidFill>
            <a:srgbClr val="A9E648"/>
          </a:solidFill>
          <a:ln/>
        </p:spPr>
      </p:sp>
      <p:sp>
        <p:nvSpPr>
          <p:cNvPr id="8" name="Text 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dersler.perinet.org/surtunme-kuvveti.html</a:t>
            </a:r>
            <a:endParaRPr lang="en-US" sz="1050" dirty="0"/>
          </a:p>
        </p:txBody>
      </p:sp>
      <p:sp>
        <p:nvSpPr>
          <p:cNvPr id="9" name="Text 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34</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FFCB6B"/>
                </a:solidFill>
                <a:latin typeface="Cambria" pitchFamily="34" charset="0"/>
                <a:ea typeface="Cambria" pitchFamily="34" charset="-122"/>
                <a:cs typeface="Cambria" pitchFamily="34" charset="-120"/>
              </a:rPr>
              <a:t>4</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FFCB6B"/>
                </a:solidFill>
                <a:latin typeface="Calibri" pitchFamily="34" charset="0"/>
                <a:ea typeface="Calibri" pitchFamily="34" charset="-122"/>
                <a:cs typeface="Calibri" pitchFamily="34" charset="-120"/>
              </a:rPr>
              <a:t>BASAMAK 4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Pekiştir</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Kolaydan zora çözümlü örnekler ve sürtünme sorularında puan kaybettiren klasik hatalar.</a:t>
            </a:r>
            <a:endParaRPr lang="en-US" sz="16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12   </a:t>
            </a:r>
            <a:pPr indent="0" marL="0">
              <a:buNone/>
            </a:pPr>
            <a:r>
              <a:rPr lang="en-US" sz="1300" dirty="0">
                <a:solidFill>
                  <a:srgbClr val="FFFFFF"/>
                </a:solidFill>
                <a:latin typeface="Calibri" pitchFamily="34" charset="0"/>
                <a:ea typeface="Calibri" pitchFamily="34" charset="-122"/>
                <a:cs typeface="Calibri" pitchFamily="34" charset="-120"/>
              </a:rPr>
              <a:t>Çözümlü örnekler</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13   </a:t>
            </a:r>
            <a:pPr indent="0" marL="0">
              <a:buNone/>
            </a:pPr>
            <a:r>
              <a:rPr lang="en-US" sz="1300" dirty="0">
                <a:solidFill>
                  <a:srgbClr val="FFFFFF"/>
                </a:solidFill>
                <a:latin typeface="Calibri" pitchFamily="34" charset="0"/>
                <a:ea typeface="Calibri" pitchFamily="34" charset="-122"/>
                <a:cs typeface="Calibri" pitchFamily="34" charset="-120"/>
              </a:rPr>
              <a:t>Sık yapılan hatalar</a:t>
            </a:r>
            <a:endParaRPr lang="en-US" sz="1300" dirty="0"/>
          </a:p>
        </p:txBody>
      </p:sp>
      <p:sp>
        <p:nvSpPr>
          <p:cNvPr id="8" name="Text 6"/>
          <p:cNvSpPr txBox="1"/>
          <p:nvPr/>
        </p:nvSpPr>
        <p:spPr>
          <a:xfrm>
            <a:off x="6172200" y="1097280"/>
            <a:ext cx="5379415"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KOLAYDAN ZORA 7 ÇÖZÜMLÜ ÖRNEK</a:t>
            </a:r>
            <a:endParaRPr lang="en-US" sz="1050" dirty="0"/>
          </a:p>
        </p:txBody>
      </p:sp>
      <p:sp>
        <p:nvSpPr>
          <p:cNvPr id="9" name="Shape 7"/>
          <p:cNvSpPr/>
          <p:nvPr/>
        </p:nvSpPr>
        <p:spPr>
          <a:xfrm>
            <a:off x="6172200" y="1481328"/>
            <a:ext cx="5379415" cy="512064"/>
          </a:xfrm>
          <a:prstGeom prst="roundRect">
            <a:avLst>
              <a:gd name="adj" fmla="val 17857"/>
            </a:avLst>
          </a:prstGeom>
          <a:solidFill>
            <a:srgbClr val="1C2542"/>
          </a:solidFill>
          <a:ln w="9525">
            <a:solidFill>
              <a:srgbClr val="2C3860"/>
            </a:solidFill>
            <a:prstDash val="solid"/>
          </a:ln>
        </p:spPr>
      </p:sp>
      <p:sp>
        <p:nvSpPr>
          <p:cNvPr id="10" name="Text 8"/>
          <p:cNvSpPr txBox="1"/>
          <p:nvPr/>
        </p:nvSpPr>
        <p:spPr>
          <a:xfrm>
            <a:off x="6400800" y="1481328"/>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1   Kutu hareket eder mi?</a:t>
            </a:r>
            <a:endParaRPr lang="en-US" sz="1300" dirty="0"/>
          </a:p>
        </p:txBody>
      </p:sp>
      <p:sp>
        <p:nvSpPr>
          <p:cNvPr id="11" name="Text 9"/>
          <p:cNvSpPr txBox="1"/>
          <p:nvPr/>
        </p:nvSpPr>
        <p:spPr>
          <a:xfrm>
            <a:off x="10362895" y="1481328"/>
            <a:ext cx="1005840" cy="512064"/>
          </a:xfrm>
          <a:prstGeom prst="rect">
            <a:avLst/>
          </a:prstGeom>
          <a:noFill/>
          <a:ln/>
        </p:spPr>
        <p:txBody>
          <a:bodyPr wrap="square" lIns="0" tIns="0" rIns="0" bIns="0" rtlCol="0" anchor="ctr"/>
          <a:lstStyle/>
          <a:p>
            <a:pPr algn="r" indent="0" marL="0">
              <a:buNone/>
            </a:pPr>
            <a:r>
              <a:rPr lang="en-US" sz="1050" b="1" spc="200" kern="0" dirty="0">
                <a:solidFill>
                  <a:srgbClr val="C6F36B"/>
                </a:solidFill>
                <a:latin typeface="Calibri" pitchFamily="34" charset="0"/>
                <a:ea typeface="Calibri" pitchFamily="34" charset="-122"/>
                <a:cs typeface="Calibri" pitchFamily="34" charset="-120"/>
              </a:rPr>
              <a:t>KOLAY</a:t>
            </a:r>
            <a:endParaRPr lang="en-US" sz="1050" dirty="0"/>
          </a:p>
        </p:txBody>
      </p:sp>
      <p:sp>
        <p:nvSpPr>
          <p:cNvPr id="12" name="Shape 10"/>
          <p:cNvSpPr/>
          <p:nvPr/>
        </p:nvSpPr>
        <p:spPr>
          <a:xfrm>
            <a:off x="6172200" y="2084832"/>
            <a:ext cx="5379415" cy="512064"/>
          </a:xfrm>
          <a:prstGeom prst="roundRect">
            <a:avLst>
              <a:gd name="adj" fmla="val 17857"/>
            </a:avLst>
          </a:prstGeom>
          <a:solidFill>
            <a:srgbClr val="1C2542"/>
          </a:solidFill>
          <a:ln w="9525">
            <a:solidFill>
              <a:srgbClr val="2C3860"/>
            </a:solidFill>
            <a:prstDash val="solid"/>
          </a:ln>
        </p:spPr>
      </p:sp>
      <p:sp>
        <p:nvSpPr>
          <p:cNvPr id="13" name="Text 11"/>
          <p:cNvSpPr txBox="1"/>
          <p:nvPr/>
        </p:nvSpPr>
        <p:spPr>
          <a:xfrm>
            <a:off x="6400800" y="2084832"/>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2   Sabit hızla çekilen kutudan μk ölçmek</a:t>
            </a:r>
            <a:endParaRPr lang="en-US" sz="1300" dirty="0"/>
          </a:p>
        </p:txBody>
      </p:sp>
      <p:sp>
        <p:nvSpPr>
          <p:cNvPr id="14" name="Text 12"/>
          <p:cNvSpPr txBox="1"/>
          <p:nvPr/>
        </p:nvSpPr>
        <p:spPr>
          <a:xfrm>
            <a:off x="10362895" y="2084832"/>
            <a:ext cx="1005840" cy="512064"/>
          </a:xfrm>
          <a:prstGeom prst="rect">
            <a:avLst/>
          </a:prstGeom>
          <a:noFill/>
          <a:ln/>
        </p:spPr>
        <p:txBody>
          <a:bodyPr wrap="square" lIns="0" tIns="0" rIns="0" bIns="0" rtlCol="0" anchor="ctr"/>
          <a:lstStyle/>
          <a:p>
            <a:pPr algn="r" indent="0" marL="0">
              <a:buNone/>
            </a:pPr>
            <a:r>
              <a:rPr lang="en-US" sz="1050" b="1" spc="200" kern="0" dirty="0">
                <a:solidFill>
                  <a:srgbClr val="C6F36B"/>
                </a:solidFill>
                <a:latin typeface="Calibri" pitchFamily="34" charset="0"/>
                <a:ea typeface="Calibri" pitchFamily="34" charset="-122"/>
                <a:cs typeface="Calibri" pitchFamily="34" charset="-120"/>
              </a:rPr>
              <a:t>KOLAY</a:t>
            </a:r>
            <a:endParaRPr lang="en-US" sz="1050" dirty="0"/>
          </a:p>
        </p:txBody>
      </p:sp>
      <p:sp>
        <p:nvSpPr>
          <p:cNvPr id="15" name="Shape 13"/>
          <p:cNvSpPr/>
          <p:nvPr/>
        </p:nvSpPr>
        <p:spPr>
          <a:xfrm>
            <a:off x="6172200" y="2688336"/>
            <a:ext cx="5379415" cy="512064"/>
          </a:xfrm>
          <a:prstGeom prst="roundRect">
            <a:avLst>
              <a:gd name="adj" fmla="val 17857"/>
            </a:avLst>
          </a:prstGeom>
          <a:solidFill>
            <a:srgbClr val="1C2542"/>
          </a:solidFill>
          <a:ln w="9525">
            <a:solidFill>
              <a:srgbClr val="2C3860"/>
            </a:solidFill>
            <a:prstDash val="solid"/>
          </a:ln>
        </p:spPr>
      </p:sp>
      <p:sp>
        <p:nvSpPr>
          <p:cNvPr id="16" name="Text 14"/>
          <p:cNvSpPr txBox="1"/>
          <p:nvPr/>
        </p:nvSpPr>
        <p:spPr>
          <a:xfrm>
            <a:off x="6400800" y="2688336"/>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3   Kayan cismin durması</a:t>
            </a:r>
            <a:endParaRPr lang="en-US" sz="1300" dirty="0"/>
          </a:p>
        </p:txBody>
      </p:sp>
      <p:sp>
        <p:nvSpPr>
          <p:cNvPr id="17" name="Text 15"/>
          <p:cNvSpPr txBox="1"/>
          <p:nvPr/>
        </p:nvSpPr>
        <p:spPr>
          <a:xfrm>
            <a:off x="10362895" y="2688336"/>
            <a:ext cx="1005840" cy="512064"/>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18" name="Shape 16"/>
          <p:cNvSpPr/>
          <p:nvPr/>
        </p:nvSpPr>
        <p:spPr>
          <a:xfrm>
            <a:off x="6172200" y="3291840"/>
            <a:ext cx="5379415" cy="512064"/>
          </a:xfrm>
          <a:prstGeom prst="roundRect">
            <a:avLst>
              <a:gd name="adj" fmla="val 17857"/>
            </a:avLst>
          </a:prstGeom>
          <a:solidFill>
            <a:srgbClr val="1C2542"/>
          </a:solidFill>
          <a:ln w="9525">
            <a:solidFill>
              <a:srgbClr val="2C3860"/>
            </a:solidFill>
            <a:prstDash val="solid"/>
          </a:ln>
        </p:spPr>
      </p:sp>
      <p:sp>
        <p:nvSpPr>
          <p:cNvPr id="19" name="Text 17"/>
          <p:cNvSpPr txBox="1"/>
          <p:nvPr/>
        </p:nvSpPr>
        <p:spPr>
          <a:xfrm>
            <a:off x="6400800" y="3291840"/>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4   Kritik açıdan μ bulma</a:t>
            </a:r>
            <a:endParaRPr lang="en-US" sz="1300" dirty="0"/>
          </a:p>
        </p:txBody>
      </p:sp>
      <p:sp>
        <p:nvSpPr>
          <p:cNvPr id="20" name="Text 18"/>
          <p:cNvSpPr txBox="1"/>
          <p:nvPr/>
        </p:nvSpPr>
        <p:spPr>
          <a:xfrm>
            <a:off x="10362895" y="3291840"/>
            <a:ext cx="1005840" cy="512064"/>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21" name="Shape 19"/>
          <p:cNvSpPr/>
          <p:nvPr/>
        </p:nvSpPr>
        <p:spPr>
          <a:xfrm>
            <a:off x="6172200" y="3895344"/>
            <a:ext cx="5379415" cy="512064"/>
          </a:xfrm>
          <a:prstGeom prst="roundRect">
            <a:avLst>
              <a:gd name="adj" fmla="val 17857"/>
            </a:avLst>
          </a:prstGeom>
          <a:solidFill>
            <a:srgbClr val="1C2542"/>
          </a:solidFill>
          <a:ln w="9525">
            <a:solidFill>
              <a:srgbClr val="2C3860"/>
            </a:solidFill>
            <a:prstDash val="solid"/>
          </a:ln>
        </p:spPr>
      </p:sp>
      <p:sp>
        <p:nvSpPr>
          <p:cNvPr id="22" name="Text 20"/>
          <p:cNvSpPr txBox="1"/>
          <p:nvPr/>
        </p:nvSpPr>
        <p:spPr>
          <a:xfrm>
            <a:off x="6400800" y="3895344"/>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5   Fren mesafesi ve hız</a:t>
            </a:r>
            <a:endParaRPr lang="en-US" sz="1300" dirty="0"/>
          </a:p>
        </p:txBody>
      </p:sp>
      <p:sp>
        <p:nvSpPr>
          <p:cNvPr id="23" name="Text 21"/>
          <p:cNvSpPr txBox="1"/>
          <p:nvPr/>
        </p:nvSpPr>
        <p:spPr>
          <a:xfrm>
            <a:off x="10362895" y="3895344"/>
            <a:ext cx="1005840" cy="512064"/>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24" name="Shape 22"/>
          <p:cNvSpPr/>
          <p:nvPr/>
        </p:nvSpPr>
        <p:spPr>
          <a:xfrm>
            <a:off x="6172200" y="4498848"/>
            <a:ext cx="5379415" cy="512064"/>
          </a:xfrm>
          <a:prstGeom prst="roundRect">
            <a:avLst>
              <a:gd name="adj" fmla="val 17857"/>
            </a:avLst>
          </a:prstGeom>
          <a:solidFill>
            <a:srgbClr val="1C2542"/>
          </a:solidFill>
          <a:ln w="9525">
            <a:solidFill>
              <a:srgbClr val="2C3860"/>
            </a:solidFill>
            <a:prstDash val="solid"/>
          </a:ln>
        </p:spPr>
      </p:sp>
      <p:sp>
        <p:nvSpPr>
          <p:cNvPr id="25" name="Text 23"/>
          <p:cNvSpPr txBox="1"/>
          <p:nvPr/>
        </p:nvSpPr>
        <p:spPr>
          <a:xfrm>
            <a:off x="6400800" y="4498848"/>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6   Kızağı çekmek mi, itmek mi?</a:t>
            </a:r>
            <a:endParaRPr lang="en-US" sz="1300" dirty="0"/>
          </a:p>
        </p:txBody>
      </p:sp>
      <p:sp>
        <p:nvSpPr>
          <p:cNvPr id="26" name="Text 24"/>
          <p:cNvSpPr txBox="1"/>
          <p:nvPr/>
        </p:nvSpPr>
        <p:spPr>
          <a:xfrm>
            <a:off x="10362895" y="4498848"/>
            <a:ext cx="1005840" cy="512064"/>
          </a:xfrm>
          <a:prstGeom prst="rect">
            <a:avLst/>
          </a:prstGeom>
          <a:noFill/>
          <a:ln/>
        </p:spPr>
        <p:txBody>
          <a:bodyPr wrap="square" lIns="0" tIns="0" rIns="0" bIns="0" rtlCol="0" anchor="ctr"/>
          <a:lstStyle/>
          <a:p>
            <a:pPr algn="r" indent="0" marL="0">
              <a:buNone/>
            </a:pPr>
            <a:r>
              <a:rPr lang="en-US" sz="1050" b="1" spc="200" kern="0" dirty="0">
                <a:solidFill>
                  <a:srgbClr val="FF8FA3"/>
                </a:solidFill>
                <a:latin typeface="Calibri" pitchFamily="34" charset="0"/>
                <a:ea typeface="Calibri" pitchFamily="34" charset="-122"/>
                <a:cs typeface="Calibri" pitchFamily="34" charset="-120"/>
              </a:rPr>
              <a:t>ZOR</a:t>
            </a:r>
            <a:endParaRPr lang="en-US" sz="1050" dirty="0"/>
          </a:p>
        </p:txBody>
      </p:sp>
      <p:sp>
        <p:nvSpPr>
          <p:cNvPr id="27" name="Shape 25"/>
          <p:cNvSpPr/>
          <p:nvPr/>
        </p:nvSpPr>
        <p:spPr>
          <a:xfrm>
            <a:off x="6172200" y="5102352"/>
            <a:ext cx="5379415" cy="512064"/>
          </a:xfrm>
          <a:prstGeom prst="roundRect">
            <a:avLst>
              <a:gd name="adj" fmla="val 17857"/>
            </a:avLst>
          </a:prstGeom>
          <a:solidFill>
            <a:srgbClr val="1C2542"/>
          </a:solidFill>
          <a:ln w="9525">
            <a:solidFill>
              <a:srgbClr val="2C3860"/>
            </a:solidFill>
            <a:prstDash val="solid"/>
          </a:ln>
        </p:spPr>
      </p:sp>
      <p:sp>
        <p:nvSpPr>
          <p:cNvPr id="28" name="Text 26"/>
          <p:cNvSpPr txBox="1"/>
          <p:nvPr/>
        </p:nvSpPr>
        <p:spPr>
          <a:xfrm>
            <a:off x="6400800" y="5102352"/>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7   Eğik düzlemde yukarı fırlatılan blok</a:t>
            </a:r>
            <a:endParaRPr lang="en-US" sz="1300" dirty="0"/>
          </a:p>
        </p:txBody>
      </p:sp>
      <p:sp>
        <p:nvSpPr>
          <p:cNvPr id="29" name="Text 27"/>
          <p:cNvSpPr txBox="1"/>
          <p:nvPr/>
        </p:nvSpPr>
        <p:spPr>
          <a:xfrm>
            <a:off x="10362895" y="5102352"/>
            <a:ext cx="1005840" cy="512064"/>
          </a:xfrm>
          <a:prstGeom prst="rect">
            <a:avLst/>
          </a:prstGeom>
          <a:noFill/>
          <a:ln/>
        </p:spPr>
        <p:txBody>
          <a:bodyPr wrap="square" lIns="0" tIns="0" rIns="0" bIns="0" rtlCol="0" anchor="ctr"/>
          <a:lstStyle/>
          <a:p>
            <a:pPr algn="r" indent="0" marL="0">
              <a:buNone/>
            </a:pPr>
            <a:r>
              <a:rPr lang="en-US" sz="1050" b="1" spc="200" kern="0" dirty="0">
                <a:solidFill>
                  <a:srgbClr val="FF8FA3"/>
                </a:solidFill>
                <a:latin typeface="Calibri" pitchFamily="34" charset="0"/>
                <a:ea typeface="Calibri" pitchFamily="34" charset="-122"/>
                <a:cs typeface="Calibri" pitchFamily="34" charset="-120"/>
              </a:rPr>
              <a:t>ZOR</a:t>
            </a:r>
            <a:endParaRPr lang="en-US" sz="1050" dirty="0"/>
          </a:p>
        </p:txBody>
      </p:sp>
      <p:sp>
        <p:nvSpPr>
          <p:cNvPr id="30" name="Shape 28"/>
          <p:cNvSpPr/>
          <p:nvPr/>
        </p:nvSpPr>
        <p:spPr>
          <a:xfrm>
            <a:off x="640080" y="6382512"/>
            <a:ext cx="128016" cy="128016"/>
          </a:xfrm>
          <a:prstGeom prst="roundRect">
            <a:avLst>
              <a:gd name="adj" fmla="val 28571"/>
            </a:avLst>
          </a:prstGeom>
          <a:solidFill>
            <a:srgbClr val="C6F36B"/>
          </a:solidFill>
          <a:ln/>
        </p:spPr>
      </p:sp>
      <p:sp>
        <p:nvSpPr>
          <p:cNvPr id="31" name="Text 2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dersler.perinet.org/surtunme-kuvveti.html</a:t>
            </a:r>
            <a:endParaRPr lang="en-US" sz="1050" dirty="0"/>
          </a:p>
        </p:txBody>
      </p:sp>
      <p:sp>
        <p:nvSpPr>
          <p:cNvPr id="32" name="Text 3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35</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Çözümlü örnek 1 / 7</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Kutu hareket eder mi?  ·  Aşağıdaki çözümlerde g = 10 m/s² alınmıştır.</a:t>
            </a:r>
            <a:endParaRPr lang="en-US" sz="1450" dirty="0"/>
          </a:p>
        </p:txBody>
      </p:sp>
      <p:sp>
        <p:nvSpPr>
          <p:cNvPr id="8" name="Shape 6"/>
          <p:cNvSpPr/>
          <p:nvPr/>
        </p:nvSpPr>
        <p:spPr>
          <a:xfrm>
            <a:off x="640080" y="1627632"/>
            <a:ext cx="4297680" cy="4517136"/>
          </a:xfrm>
          <a:prstGeom prst="roundRect">
            <a:avLst>
              <a:gd name="adj" fmla="val 340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32688" y="1847088"/>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32688" y="2176272"/>
            <a:ext cx="3712464" cy="1773936"/>
          </a:xfrm>
          <a:prstGeom prst="rect">
            <a:avLst/>
          </a:prstGeom>
          <a:noFill/>
          <a:ln/>
        </p:spPr>
        <p:txBody>
          <a:bodyPr wrap="square" lIns="0" tIns="0" rIns="0" bIns="0" rtlCol="0" anchor="t"/>
          <a:lstStyle/>
          <a:p>
            <a:pPr indent="0" marL="0">
              <a:lnSpc>
                <a:spcPct val="118000"/>
              </a:lnSpc>
              <a:buNone/>
            </a:pPr>
            <a:r>
              <a:rPr lang="en-US" sz="1600" dirty="0">
                <a:solidFill>
                  <a:srgbClr val="0E1426"/>
                </a:solidFill>
                <a:latin typeface="Calibri" pitchFamily="34" charset="0"/>
                <a:ea typeface="Calibri" pitchFamily="34" charset="-122"/>
                <a:cs typeface="Calibri" pitchFamily="34" charset="-120"/>
              </a:rPr>
              <a:t>Yatay zeminde duran 20 kg'lık kutu için μ</a:t>
            </a:r>
            <a:pPr indent="0" marL="0">
              <a:lnSpc>
                <a:spcPct val="118000"/>
              </a:lnSpc>
              <a:buNone/>
            </a:pPr>
            <a:r>
              <a:rPr lang="en-US" sz="1600" baseline="-40000" dirty="0">
                <a:solidFill>
                  <a:srgbClr val="0E1426"/>
                </a:solidFill>
                <a:latin typeface="Calibri" pitchFamily="34" charset="0"/>
                <a:ea typeface="Calibri" pitchFamily="34" charset="-122"/>
                <a:cs typeface="Calibri" pitchFamily="34" charset="-120"/>
              </a:rPr>
              <a:t>s</a:t>
            </a:r>
            <a:pPr indent="0" marL="0">
              <a:lnSpc>
                <a:spcPct val="118000"/>
              </a:lnSpc>
              <a:buNone/>
            </a:pPr>
            <a:r>
              <a:rPr lang="en-US" sz="1600" dirty="0">
                <a:solidFill>
                  <a:srgbClr val="0E1426"/>
                </a:solidFill>
                <a:latin typeface="Calibri" pitchFamily="34" charset="0"/>
                <a:ea typeface="Calibri" pitchFamily="34" charset="-122"/>
                <a:cs typeface="Calibri" pitchFamily="34" charset="-120"/>
              </a:rPr>
              <a:t> = 0,5 ve μ</a:t>
            </a:r>
            <a:pPr indent="0" marL="0">
              <a:lnSpc>
                <a:spcPct val="118000"/>
              </a:lnSpc>
              <a:buNone/>
            </a:pPr>
            <a:r>
              <a:rPr lang="en-US" sz="1600" baseline="-40000" dirty="0">
                <a:solidFill>
                  <a:srgbClr val="0E1426"/>
                </a:solidFill>
                <a:latin typeface="Calibri" pitchFamily="34" charset="0"/>
                <a:ea typeface="Calibri" pitchFamily="34" charset="-122"/>
                <a:cs typeface="Calibri" pitchFamily="34" charset="-120"/>
              </a:rPr>
              <a:t>k</a:t>
            </a:r>
            <a:pPr indent="0" marL="0">
              <a:lnSpc>
                <a:spcPct val="118000"/>
              </a:lnSpc>
              <a:buNone/>
            </a:pPr>
            <a:r>
              <a:rPr lang="en-US" sz="1600" dirty="0">
                <a:solidFill>
                  <a:srgbClr val="0E1426"/>
                </a:solidFill>
                <a:latin typeface="Calibri" pitchFamily="34" charset="0"/>
                <a:ea typeface="Calibri" pitchFamily="34" charset="-122"/>
                <a:cs typeface="Calibri" pitchFamily="34" charset="-120"/>
              </a:rPr>
              <a:t> = 0,4'tür. (a) 80 N'luk yatay kuvvet uygulanırsa kutu hareket eder mi, sürtünme kaç N olur? (b) Kuvvet 120 N'a çıkarılırsa ivme ne olur?</a:t>
            </a:r>
            <a:endParaRPr lang="en-US" sz="1600" dirty="0"/>
          </a:p>
        </p:txBody>
      </p:sp>
      <p:sp>
        <p:nvSpPr>
          <p:cNvPr id="11" name="Shape 9"/>
          <p:cNvSpPr/>
          <p:nvPr/>
        </p:nvSpPr>
        <p:spPr>
          <a:xfrm>
            <a:off x="5212080" y="1627632"/>
            <a:ext cx="6339535" cy="1019556"/>
          </a:xfrm>
          <a:prstGeom prst="roundRect">
            <a:avLst>
              <a:gd name="adj" fmla="val 14350"/>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5449824" y="1945386"/>
            <a:ext cx="384048" cy="384048"/>
          </a:xfrm>
          <a:prstGeom prst="roundRect">
            <a:avLst>
              <a:gd name="adj" fmla="val 26000"/>
            </a:avLst>
          </a:prstGeom>
          <a:solidFill>
            <a:srgbClr val="A56209"/>
          </a:solidFill>
          <a:ln/>
        </p:spPr>
      </p:sp>
      <p:sp>
        <p:nvSpPr>
          <p:cNvPr id="13" name="Text 11"/>
          <p:cNvSpPr txBox="1"/>
          <p:nvPr/>
        </p:nvSpPr>
        <p:spPr>
          <a:xfrm>
            <a:off x="5449824" y="194538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4" name="Text 12"/>
          <p:cNvSpPr txBox="1"/>
          <p:nvPr/>
        </p:nvSpPr>
        <p:spPr>
          <a:xfrm>
            <a:off x="5989320" y="1682496"/>
            <a:ext cx="5379415" cy="909828"/>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N = m·g = 200 N, statik eşik: μ</a:t>
            </a:r>
            <a:pPr indent="0" marL="0">
              <a:lnSpc>
                <a:spcPct val="112000"/>
              </a:lnSpc>
              <a:buNone/>
            </a:pPr>
            <a:r>
              <a:rPr lang="en-US" sz="1600" baseline="-40000" dirty="0">
                <a:solidFill>
                  <a:srgbClr val="4A5470"/>
                </a:solidFill>
                <a:latin typeface="Calibri" pitchFamily="34" charset="0"/>
                <a:ea typeface="Calibri" pitchFamily="34" charset="-122"/>
                <a:cs typeface="Calibri" pitchFamily="34" charset="-120"/>
              </a:rPr>
              <a:t>s</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·N = 0,5 · 200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100 N</a:t>
            </a:r>
            <a:endParaRPr lang="en-US" sz="1600" dirty="0"/>
          </a:p>
        </p:txBody>
      </p:sp>
      <p:sp>
        <p:nvSpPr>
          <p:cNvPr id="15" name="Shape 13"/>
          <p:cNvSpPr/>
          <p:nvPr/>
        </p:nvSpPr>
        <p:spPr>
          <a:xfrm>
            <a:off x="5212080" y="2793492"/>
            <a:ext cx="6339535" cy="1344422"/>
          </a:xfrm>
          <a:prstGeom prst="roundRect">
            <a:avLst>
              <a:gd name="adj" fmla="val 10882"/>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5449824" y="3273679"/>
            <a:ext cx="384048" cy="384048"/>
          </a:xfrm>
          <a:prstGeom prst="roundRect">
            <a:avLst>
              <a:gd name="adj" fmla="val 26000"/>
            </a:avLst>
          </a:prstGeom>
          <a:solidFill>
            <a:srgbClr val="A56209"/>
          </a:solidFill>
          <a:ln/>
        </p:spPr>
      </p:sp>
      <p:sp>
        <p:nvSpPr>
          <p:cNvPr id="17" name="Text 15"/>
          <p:cNvSpPr txBox="1"/>
          <p:nvPr/>
        </p:nvSpPr>
        <p:spPr>
          <a:xfrm>
            <a:off x="5449824" y="3273679"/>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8" name="Text 16"/>
          <p:cNvSpPr txBox="1"/>
          <p:nvPr/>
        </p:nvSpPr>
        <p:spPr>
          <a:xfrm>
            <a:off x="5989320" y="2848356"/>
            <a:ext cx="5379415" cy="1234694"/>
          </a:xfrm>
          <a:prstGeom prst="rect">
            <a:avLst/>
          </a:prstGeom>
          <a:noFill/>
          <a:ln/>
        </p:spPr>
        <p:txBody>
          <a:bodyPr wrap="square" lIns="0" tIns="0" rIns="0" bIns="0" rtlCol="0" anchor="ctr"/>
          <a:lstStyle/>
          <a:p>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(a)</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80 N &lt; 100 N olduğu için kutu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hareket etmez</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statik sürtünme uygulanan kuvvete eşittir: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f = 80 N</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a = 0.</a:t>
            </a:r>
            <a:endParaRPr lang="en-US" sz="1600" dirty="0"/>
          </a:p>
        </p:txBody>
      </p:sp>
      <p:sp>
        <p:nvSpPr>
          <p:cNvPr id="19" name="Shape 17"/>
          <p:cNvSpPr/>
          <p:nvPr/>
        </p:nvSpPr>
        <p:spPr>
          <a:xfrm>
            <a:off x="5212080" y="4284218"/>
            <a:ext cx="6339535" cy="1019556"/>
          </a:xfrm>
          <a:prstGeom prst="roundRect">
            <a:avLst>
              <a:gd name="adj" fmla="val 14350"/>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0" name="Shape 18"/>
          <p:cNvSpPr/>
          <p:nvPr/>
        </p:nvSpPr>
        <p:spPr>
          <a:xfrm>
            <a:off x="5449824" y="4601972"/>
            <a:ext cx="384048" cy="384048"/>
          </a:xfrm>
          <a:prstGeom prst="roundRect">
            <a:avLst>
              <a:gd name="adj" fmla="val 26000"/>
            </a:avLst>
          </a:prstGeom>
          <a:solidFill>
            <a:srgbClr val="A56209"/>
          </a:solidFill>
          <a:ln/>
        </p:spPr>
      </p:sp>
      <p:sp>
        <p:nvSpPr>
          <p:cNvPr id="21" name="Text 19"/>
          <p:cNvSpPr txBox="1"/>
          <p:nvPr/>
        </p:nvSpPr>
        <p:spPr>
          <a:xfrm>
            <a:off x="5449824" y="4601972"/>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2" name="Text 20"/>
          <p:cNvSpPr txBox="1"/>
          <p:nvPr/>
        </p:nvSpPr>
        <p:spPr>
          <a:xfrm>
            <a:off x="5989320" y="4339082"/>
            <a:ext cx="5379415" cy="909828"/>
          </a:xfrm>
          <a:prstGeom prst="rect">
            <a:avLst/>
          </a:prstGeom>
          <a:noFill/>
          <a:ln/>
        </p:spPr>
        <p:txBody>
          <a:bodyPr wrap="square" lIns="0" tIns="0" rIns="0" bIns="0" rtlCol="0" anchor="ctr"/>
          <a:lstStyle/>
          <a:p>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(b)</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120 N &gt; 100 N → kayma başlar. Artık kinetik sürtünme geçerlidir: f = μ</a:t>
            </a:r>
            <a:pPr indent="0" marL="0">
              <a:lnSpc>
                <a:spcPct val="112000"/>
              </a:lnSpc>
              <a:buNone/>
            </a:pPr>
            <a:r>
              <a:rPr lang="en-US" sz="1600" baseline="-40000" dirty="0">
                <a:solidFill>
                  <a:srgbClr val="4A5470"/>
                </a:solidFill>
                <a:latin typeface="Calibri" pitchFamily="34" charset="0"/>
                <a:ea typeface="Calibri" pitchFamily="34" charset="-122"/>
                <a:cs typeface="Calibri" pitchFamily="34" charset="-120"/>
              </a:rPr>
              <a:t>k</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·N = 0,4 · 200 = 80 N</a:t>
            </a:r>
            <a:endParaRPr lang="en-US" sz="1600" dirty="0"/>
          </a:p>
        </p:txBody>
      </p:sp>
      <p:sp>
        <p:nvSpPr>
          <p:cNvPr id="23" name="Shape 21"/>
          <p:cNvSpPr/>
          <p:nvPr/>
        </p:nvSpPr>
        <p:spPr>
          <a:xfrm>
            <a:off x="5212080" y="5450078"/>
            <a:ext cx="6339535" cy="694690"/>
          </a:xfrm>
          <a:prstGeom prst="roundRect">
            <a:avLst>
              <a:gd name="adj" fmla="val 21060"/>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4" name="Shape 22"/>
          <p:cNvSpPr/>
          <p:nvPr/>
        </p:nvSpPr>
        <p:spPr>
          <a:xfrm>
            <a:off x="5449824" y="5605399"/>
            <a:ext cx="384048" cy="384048"/>
          </a:xfrm>
          <a:prstGeom prst="roundRect">
            <a:avLst>
              <a:gd name="adj" fmla="val 26000"/>
            </a:avLst>
          </a:prstGeom>
          <a:solidFill>
            <a:srgbClr val="A56209"/>
          </a:solidFill>
          <a:ln/>
        </p:spPr>
      </p:sp>
      <p:sp>
        <p:nvSpPr>
          <p:cNvPr id="25" name="Text 23"/>
          <p:cNvSpPr txBox="1"/>
          <p:nvPr/>
        </p:nvSpPr>
        <p:spPr>
          <a:xfrm>
            <a:off x="5449824" y="5605399"/>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6" name="Text 24"/>
          <p:cNvSpPr txBox="1"/>
          <p:nvPr/>
        </p:nvSpPr>
        <p:spPr>
          <a:xfrm>
            <a:off x="5989320" y="5504942"/>
            <a:ext cx="5379415" cy="584962"/>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a = (120 − 80) / 20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2 m/s²</a:t>
            </a:r>
            <a:endParaRPr lang="en-US" sz="1600" dirty="0"/>
          </a:p>
        </p:txBody>
      </p:sp>
      <p:sp>
        <p:nvSpPr>
          <p:cNvPr id="27" name="Shape 25"/>
          <p:cNvSpPr/>
          <p:nvPr/>
        </p:nvSpPr>
        <p:spPr>
          <a:xfrm>
            <a:off x="640080" y="6382512"/>
            <a:ext cx="128016" cy="128016"/>
          </a:xfrm>
          <a:prstGeom prst="roundRect">
            <a:avLst>
              <a:gd name="adj" fmla="val 28571"/>
            </a:avLst>
          </a:prstGeom>
          <a:solidFill>
            <a:srgbClr val="A9E648"/>
          </a:solidFill>
          <a:ln/>
        </p:spPr>
      </p:sp>
      <p:sp>
        <p:nvSpPr>
          <p:cNvPr id="28" name="Text 2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dersler.perinet.org/surtunme-kuvveti.html</a:t>
            </a:r>
            <a:endParaRPr lang="en-US" sz="1050" dirty="0"/>
          </a:p>
        </p:txBody>
      </p:sp>
      <p:sp>
        <p:nvSpPr>
          <p:cNvPr id="29" name="Text 2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36</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Çözümlü örnek 2 / 7</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Sabit hızla çekilen kutudan μk ölçmek  ·  Aşağıdaki çözümlerde g = 10 m/s² alınmıştır.</a:t>
            </a:r>
            <a:endParaRPr lang="en-US" sz="1450" dirty="0"/>
          </a:p>
        </p:txBody>
      </p:sp>
      <p:sp>
        <p:nvSpPr>
          <p:cNvPr id="8" name="Shape 6"/>
          <p:cNvSpPr/>
          <p:nvPr/>
        </p:nvSpPr>
        <p:spPr>
          <a:xfrm>
            <a:off x="640080" y="1627632"/>
            <a:ext cx="4297680" cy="4517136"/>
          </a:xfrm>
          <a:prstGeom prst="roundRect">
            <a:avLst>
              <a:gd name="adj" fmla="val 340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32688" y="1847088"/>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32688" y="2176272"/>
            <a:ext cx="3712464" cy="2054352"/>
          </a:xfrm>
          <a:prstGeom prst="rect">
            <a:avLst/>
          </a:prstGeom>
          <a:noFill/>
          <a:ln/>
        </p:spPr>
        <p:txBody>
          <a:bodyPr wrap="square" lIns="0" tIns="0" rIns="0" bIns="0" rtlCol="0" anchor="t"/>
          <a:lstStyle/>
          <a:p>
            <a:pPr indent="0" marL="0">
              <a:lnSpc>
                <a:spcPct val="118000"/>
              </a:lnSpc>
              <a:buNone/>
            </a:pPr>
            <a:r>
              <a:rPr lang="en-US" sz="1600" dirty="0">
                <a:solidFill>
                  <a:srgbClr val="0E1426"/>
                </a:solidFill>
                <a:latin typeface="Calibri" pitchFamily="34" charset="0"/>
                <a:ea typeface="Calibri" pitchFamily="34" charset="-122"/>
                <a:cs typeface="Calibri" pitchFamily="34" charset="-120"/>
              </a:rPr>
              <a:t>5 kg'lık bir kutu, yatay zeminde dinamometreyle sabit hızla çekiliyor; dinamometre 15 N gösteriyor. (a) μ</a:t>
            </a:r>
            <a:pPr indent="0" marL="0">
              <a:lnSpc>
                <a:spcPct val="118000"/>
              </a:lnSpc>
              <a:buNone/>
            </a:pPr>
            <a:r>
              <a:rPr lang="en-US" sz="1600" baseline="-40000" dirty="0">
                <a:solidFill>
                  <a:srgbClr val="0E1426"/>
                </a:solidFill>
                <a:latin typeface="Calibri" pitchFamily="34" charset="0"/>
                <a:ea typeface="Calibri" pitchFamily="34" charset="-122"/>
                <a:cs typeface="Calibri" pitchFamily="34" charset="-120"/>
              </a:rPr>
              <a:t>k</a:t>
            </a:r>
            <a:pPr indent="0" marL="0">
              <a:lnSpc>
                <a:spcPct val="118000"/>
              </a:lnSpc>
              <a:buNone/>
            </a:pPr>
            <a:r>
              <a:rPr lang="en-US" sz="1600" dirty="0">
                <a:solidFill>
                  <a:srgbClr val="0E1426"/>
                </a:solidFill>
                <a:latin typeface="Calibri" pitchFamily="34" charset="0"/>
                <a:ea typeface="Calibri" pitchFamily="34" charset="-122"/>
                <a:cs typeface="Calibri" pitchFamily="34" charset="-120"/>
              </a:rPr>
              <a:t> kaçtır? (b) Kutunun üstüne 5 kg'lık ikinci bir kutu konup ikisi yine sabit hızla çekilirse dinamometre kaç N gösterir?</a:t>
            </a:r>
            <a:endParaRPr lang="en-US" sz="1600" dirty="0"/>
          </a:p>
        </p:txBody>
      </p:sp>
      <p:sp>
        <p:nvSpPr>
          <p:cNvPr id="11" name="Shape 9"/>
          <p:cNvSpPr/>
          <p:nvPr/>
        </p:nvSpPr>
        <p:spPr>
          <a:xfrm>
            <a:off x="5212080" y="1627632"/>
            <a:ext cx="6339535" cy="1212771"/>
          </a:xfrm>
          <a:prstGeom prst="roundRect">
            <a:avLst>
              <a:gd name="adj" fmla="val 12064"/>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5449824" y="2041994"/>
            <a:ext cx="384048" cy="384048"/>
          </a:xfrm>
          <a:prstGeom prst="roundRect">
            <a:avLst>
              <a:gd name="adj" fmla="val 26000"/>
            </a:avLst>
          </a:prstGeom>
          <a:solidFill>
            <a:srgbClr val="A56209"/>
          </a:solidFill>
          <a:ln/>
        </p:spPr>
      </p:sp>
      <p:sp>
        <p:nvSpPr>
          <p:cNvPr id="13" name="Text 11"/>
          <p:cNvSpPr txBox="1"/>
          <p:nvPr/>
        </p:nvSpPr>
        <p:spPr>
          <a:xfrm>
            <a:off x="5449824" y="2041994"/>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4" name="Text 12"/>
          <p:cNvSpPr txBox="1"/>
          <p:nvPr/>
        </p:nvSpPr>
        <p:spPr>
          <a:xfrm>
            <a:off x="5989320" y="1682496"/>
            <a:ext cx="5379415" cy="1103043"/>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Sabit hız → net kuvvet sıfır → kinetik sürtünme çekme kuvvetine eşit: f = 15 N</a:t>
            </a:r>
            <a:endParaRPr lang="en-US" sz="1600" dirty="0"/>
          </a:p>
        </p:txBody>
      </p:sp>
      <p:sp>
        <p:nvSpPr>
          <p:cNvPr id="15" name="Shape 13"/>
          <p:cNvSpPr/>
          <p:nvPr/>
        </p:nvSpPr>
        <p:spPr>
          <a:xfrm>
            <a:off x="5212080" y="2986707"/>
            <a:ext cx="6339535" cy="826341"/>
          </a:xfrm>
          <a:prstGeom prst="roundRect">
            <a:avLst>
              <a:gd name="adj" fmla="val 17705"/>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5449824" y="3207854"/>
            <a:ext cx="384048" cy="384048"/>
          </a:xfrm>
          <a:prstGeom prst="roundRect">
            <a:avLst>
              <a:gd name="adj" fmla="val 26000"/>
            </a:avLst>
          </a:prstGeom>
          <a:solidFill>
            <a:srgbClr val="A56209"/>
          </a:solidFill>
          <a:ln/>
        </p:spPr>
      </p:sp>
      <p:sp>
        <p:nvSpPr>
          <p:cNvPr id="17" name="Text 15"/>
          <p:cNvSpPr txBox="1"/>
          <p:nvPr/>
        </p:nvSpPr>
        <p:spPr>
          <a:xfrm>
            <a:off x="5449824" y="3207854"/>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8" name="Text 16"/>
          <p:cNvSpPr txBox="1"/>
          <p:nvPr/>
        </p:nvSpPr>
        <p:spPr>
          <a:xfrm>
            <a:off x="5989320" y="3041571"/>
            <a:ext cx="5379415" cy="716613"/>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N = m·g = 5 · 10 = 50 N</a:t>
            </a:r>
            <a:endParaRPr lang="en-US" sz="1600" dirty="0"/>
          </a:p>
        </p:txBody>
      </p:sp>
      <p:sp>
        <p:nvSpPr>
          <p:cNvPr id="19" name="Shape 17"/>
          <p:cNvSpPr/>
          <p:nvPr/>
        </p:nvSpPr>
        <p:spPr>
          <a:xfrm>
            <a:off x="5212080" y="3959352"/>
            <a:ext cx="6339535" cy="826341"/>
          </a:xfrm>
          <a:prstGeom prst="roundRect">
            <a:avLst>
              <a:gd name="adj" fmla="val 17705"/>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0" name="Shape 18"/>
          <p:cNvSpPr/>
          <p:nvPr/>
        </p:nvSpPr>
        <p:spPr>
          <a:xfrm>
            <a:off x="5449824" y="4180498"/>
            <a:ext cx="384048" cy="384048"/>
          </a:xfrm>
          <a:prstGeom prst="roundRect">
            <a:avLst>
              <a:gd name="adj" fmla="val 26000"/>
            </a:avLst>
          </a:prstGeom>
          <a:solidFill>
            <a:srgbClr val="A56209"/>
          </a:solidFill>
          <a:ln/>
        </p:spPr>
      </p:sp>
      <p:sp>
        <p:nvSpPr>
          <p:cNvPr id="21" name="Text 19"/>
          <p:cNvSpPr txBox="1"/>
          <p:nvPr/>
        </p:nvSpPr>
        <p:spPr>
          <a:xfrm>
            <a:off x="5449824" y="4180498"/>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2" name="Text 20"/>
          <p:cNvSpPr txBox="1"/>
          <p:nvPr/>
        </p:nvSpPr>
        <p:spPr>
          <a:xfrm>
            <a:off x="5989320" y="4014216"/>
            <a:ext cx="5379415" cy="716613"/>
          </a:xfrm>
          <a:prstGeom prst="rect">
            <a:avLst/>
          </a:prstGeom>
          <a:noFill/>
          <a:ln/>
        </p:spPr>
        <p:txBody>
          <a:bodyPr wrap="square" lIns="0" tIns="0" rIns="0" bIns="0" rtlCol="0" anchor="ctr"/>
          <a:lstStyle/>
          <a:p>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(a)</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μ</a:t>
            </a:r>
            <a:pPr indent="0" marL="0">
              <a:lnSpc>
                <a:spcPct val="112000"/>
              </a:lnSpc>
              <a:buNone/>
            </a:pPr>
            <a:r>
              <a:rPr lang="en-US" sz="1600" baseline="-40000" dirty="0">
                <a:solidFill>
                  <a:srgbClr val="4A5470"/>
                </a:solidFill>
                <a:latin typeface="Calibri" pitchFamily="34" charset="0"/>
                <a:ea typeface="Calibri" pitchFamily="34" charset="-122"/>
                <a:cs typeface="Calibri" pitchFamily="34" charset="-120"/>
              </a:rPr>
              <a:t>k</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 f / N = 15 / 50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0,3</a:t>
            </a:r>
            <a:endParaRPr lang="en-US" sz="1600" dirty="0"/>
          </a:p>
        </p:txBody>
      </p:sp>
      <p:sp>
        <p:nvSpPr>
          <p:cNvPr id="23" name="Shape 21"/>
          <p:cNvSpPr/>
          <p:nvPr/>
        </p:nvSpPr>
        <p:spPr>
          <a:xfrm>
            <a:off x="5212080" y="4931997"/>
            <a:ext cx="6339535" cy="1212771"/>
          </a:xfrm>
          <a:prstGeom prst="roundRect">
            <a:avLst>
              <a:gd name="adj" fmla="val 12064"/>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4" name="Shape 22"/>
          <p:cNvSpPr/>
          <p:nvPr/>
        </p:nvSpPr>
        <p:spPr>
          <a:xfrm>
            <a:off x="5449824" y="5346358"/>
            <a:ext cx="384048" cy="384048"/>
          </a:xfrm>
          <a:prstGeom prst="roundRect">
            <a:avLst>
              <a:gd name="adj" fmla="val 26000"/>
            </a:avLst>
          </a:prstGeom>
          <a:solidFill>
            <a:srgbClr val="A56209"/>
          </a:solidFill>
          <a:ln/>
        </p:spPr>
      </p:sp>
      <p:sp>
        <p:nvSpPr>
          <p:cNvPr id="25" name="Text 23"/>
          <p:cNvSpPr txBox="1"/>
          <p:nvPr/>
        </p:nvSpPr>
        <p:spPr>
          <a:xfrm>
            <a:off x="5449824" y="5346358"/>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6" name="Text 24"/>
          <p:cNvSpPr txBox="1"/>
          <p:nvPr/>
        </p:nvSpPr>
        <p:spPr>
          <a:xfrm>
            <a:off x="5989320" y="4986861"/>
            <a:ext cx="5379415" cy="1103043"/>
          </a:xfrm>
          <a:prstGeom prst="rect">
            <a:avLst/>
          </a:prstGeom>
          <a:noFill/>
          <a:ln/>
        </p:spPr>
        <p:txBody>
          <a:bodyPr wrap="square" lIns="0" tIns="0" rIns="0" bIns="0" rtlCol="0" anchor="ctr"/>
          <a:lstStyle/>
          <a:p>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(b)</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N = 10 · 10 = 100 N → f = 0,3 · 100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30 N</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kütle 2 katına çıkınca sürtünme de 2 katına çıktı.</a:t>
            </a:r>
            <a:endParaRPr lang="en-US" sz="1600" dirty="0"/>
          </a:p>
        </p:txBody>
      </p:sp>
      <p:sp>
        <p:nvSpPr>
          <p:cNvPr id="27" name="Shape 25"/>
          <p:cNvSpPr/>
          <p:nvPr/>
        </p:nvSpPr>
        <p:spPr>
          <a:xfrm>
            <a:off x="640080" y="6382512"/>
            <a:ext cx="128016" cy="128016"/>
          </a:xfrm>
          <a:prstGeom prst="roundRect">
            <a:avLst>
              <a:gd name="adj" fmla="val 28571"/>
            </a:avLst>
          </a:prstGeom>
          <a:solidFill>
            <a:srgbClr val="A9E648"/>
          </a:solidFill>
          <a:ln/>
        </p:spPr>
      </p:sp>
      <p:sp>
        <p:nvSpPr>
          <p:cNvPr id="28" name="Text 2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dersler.perinet.org/surtunme-kuvveti.html</a:t>
            </a:r>
            <a:endParaRPr lang="en-US" sz="1050" dirty="0"/>
          </a:p>
        </p:txBody>
      </p:sp>
      <p:sp>
        <p:nvSpPr>
          <p:cNvPr id="29" name="Text 2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37</a:t>
            </a:r>
            <a:endParaRPr lang="en-US" sz="10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Çözümlü örnek 3 / 7</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Kayan cismin durması  ·  Aşağıdaki çözümlerde g = 10 m/s² alınmıştır.</a:t>
            </a:r>
            <a:endParaRPr lang="en-US" sz="1450" dirty="0"/>
          </a:p>
        </p:txBody>
      </p:sp>
      <p:sp>
        <p:nvSpPr>
          <p:cNvPr id="8" name="Shape 6"/>
          <p:cNvSpPr/>
          <p:nvPr/>
        </p:nvSpPr>
        <p:spPr>
          <a:xfrm>
            <a:off x="640080" y="1627632"/>
            <a:ext cx="4297680" cy="4517136"/>
          </a:xfrm>
          <a:prstGeom prst="roundRect">
            <a:avLst>
              <a:gd name="adj" fmla="val 340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32688" y="1847088"/>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32688" y="2176272"/>
            <a:ext cx="3712464" cy="1213104"/>
          </a:xfrm>
          <a:prstGeom prst="rect">
            <a:avLst/>
          </a:prstGeom>
          <a:noFill/>
          <a:ln/>
        </p:spPr>
        <p:txBody>
          <a:bodyPr wrap="square" lIns="0" tIns="0" rIns="0" bIns="0" rtlCol="0" anchor="t"/>
          <a:lstStyle/>
          <a:p>
            <a:pPr indent="0" marL="0">
              <a:lnSpc>
                <a:spcPct val="118000"/>
              </a:lnSpc>
              <a:buNone/>
            </a:pPr>
            <a:r>
              <a:rPr lang="en-US" sz="1600" dirty="0">
                <a:solidFill>
                  <a:srgbClr val="0E1426"/>
                </a:solidFill>
                <a:latin typeface="Calibri" pitchFamily="34" charset="0"/>
                <a:ea typeface="Calibri" pitchFamily="34" charset="-122"/>
                <a:cs typeface="Calibri" pitchFamily="34" charset="-120"/>
              </a:rPr>
              <a:t>Yatay zeminde 10 m/s hızla kayan 5 kg'lık cisim, μ</a:t>
            </a:r>
            <a:pPr indent="0" marL="0">
              <a:lnSpc>
                <a:spcPct val="118000"/>
              </a:lnSpc>
              <a:buNone/>
            </a:pPr>
            <a:r>
              <a:rPr lang="en-US" sz="1600" baseline="-40000" dirty="0">
                <a:solidFill>
                  <a:srgbClr val="0E1426"/>
                </a:solidFill>
                <a:latin typeface="Calibri" pitchFamily="34" charset="0"/>
                <a:ea typeface="Calibri" pitchFamily="34" charset="-122"/>
                <a:cs typeface="Calibri" pitchFamily="34" charset="-120"/>
              </a:rPr>
              <a:t>k</a:t>
            </a:r>
            <a:pPr indent="0" marL="0">
              <a:lnSpc>
                <a:spcPct val="118000"/>
              </a:lnSpc>
              <a:buNone/>
            </a:pPr>
            <a:r>
              <a:rPr lang="en-US" sz="1600" dirty="0">
                <a:solidFill>
                  <a:srgbClr val="0E1426"/>
                </a:solidFill>
                <a:latin typeface="Calibri" pitchFamily="34" charset="0"/>
                <a:ea typeface="Calibri" pitchFamily="34" charset="-122"/>
                <a:cs typeface="Calibri" pitchFamily="34" charset="-120"/>
              </a:rPr>
              <a:t> = 0,25 olan yüzeyde yavaşlıyor. Kaç metre sonra ve kaç saniyede durur?</a:t>
            </a:r>
            <a:endParaRPr lang="en-US" sz="1600" dirty="0"/>
          </a:p>
        </p:txBody>
      </p:sp>
      <p:sp>
        <p:nvSpPr>
          <p:cNvPr id="11" name="Shape 9"/>
          <p:cNvSpPr/>
          <p:nvPr/>
        </p:nvSpPr>
        <p:spPr>
          <a:xfrm>
            <a:off x="5212080" y="1627632"/>
            <a:ext cx="6339535" cy="972262"/>
          </a:xfrm>
          <a:prstGeom prst="roundRect">
            <a:avLst>
              <a:gd name="adj" fmla="val 15048"/>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5449824" y="1921739"/>
            <a:ext cx="384048" cy="384048"/>
          </a:xfrm>
          <a:prstGeom prst="roundRect">
            <a:avLst>
              <a:gd name="adj" fmla="val 26000"/>
            </a:avLst>
          </a:prstGeom>
          <a:solidFill>
            <a:srgbClr val="A56209"/>
          </a:solidFill>
          <a:ln/>
        </p:spPr>
      </p:sp>
      <p:sp>
        <p:nvSpPr>
          <p:cNvPr id="13" name="Text 11"/>
          <p:cNvSpPr txBox="1"/>
          <p:nvPr/>
        </p:nvSpPr>
        <p:spPr>
          <a:xfrm>
            <a:off x="5449824" y="1921739"/>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4" name="Text 12"/>
          <p:cNvSpPr txBox="1"/>
          <p:nvPr/>
        </p:nvSpPr>
        <p:spPr>
          <a:xfrm>
            <a:off x="5989320" y="1682496"/>
            <a:ext cx="5379415" cy="862534"/>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Tek yatay kuvvet sürtünmedir: f = μ</a:t>
            </a:r>
            <a:pPr indent="0" marL="0">
              <a:lnSpc>
                <a:spcPct val="112000"/>
              </a:lnSpc>
              <a:buNone/>
            </a:pPr>
            <a:r>
              <a:rPr lang="en-US" sz="1600" baseline="-40000" dirty="0">
                <a:solidFill>
                  <a:srgbClr val="4A5470"/>
                </a:solidFill>
                <a:latin typeface="Calibri" pitchFamily="34" charset="0"/>
                <a:ea typeface="Calibri" pitchFamily="34" charset="-122"/>
                <a:cs typeface="Calibri" pitchFamily="34" charset="-120"/>
              </a:rPr>
              <a:t>k</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·m·g = 0,25 · 5 · 10 = 12,5 N</a:t>
            </a:r>
            <a:endParaRPr lang="en-US" sz="1600" dirty="0"/>
          </a:p>
        </p:txBody>
      </p:sp>
      <p:sp>
        <p:nvSpPr>
          <p:cNvPr id="15" name="Shape 13"/>
          <p:cNvSpPr/>
          <p:nvPr/>
        </p:nvSpPr>
        <p:spPr>
          <a:xfrm>
            <a:off x="5212080" y="2746198"/>
            <a:ext cx="6339535" cy="662466"/>
          </a:xfrm>
          <a:prstGeom prst="roundRect">
            <a:avLst>
              <a:gd name="adj" fmla="val 22085"/>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5449824" y="2885406"/>
            <a:ext cx="384048" cy="384048"/>
          </a:xfrm>
          <a:prstGeom prst="roundRect">
            <a:avLst>
              <a:gd name="adj" fmla="val 26000"/>
            </a:avLst>
          </a:prstGeom>
          <a:solidFill>
            <a:srgbClr val="A56209"/>
          </a:solidFill>
          <a:ln/>
        </p:spPr>
      </p:sp>
      <p:sp>
        <p:nvSpPr>
          <p:cNvPr id="17" name="Text 15"/>
          <p:cNvSpPr txBox="1"/>
          <p:nvPr/>
        </p:nvSpPr>
        <p:spPr>
          <a:xfrm>
            <a:off x="5449824" y="288540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8" name="Text 16"/>
          <p:cNvSpPr txBox="1"/>
          <p:nvPr/>
        </p:nvSpPr>
        <p:spPr>
          <a:xfrm>
            <a:off x="5989320" y="2801062"/>
            <a:ext cx="5379415" cy="552738"/>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a = −f/m = −2,5 m/s² (yavaşlatıcı)</a:t>
            </a:r>
            <a:endParaRPr lang="en-US" sz="1600" dirty="0"/>
          </a:p>
        </p:txBody>
      </p:sp>
      <p:sp>
        <p:nvSpPr>
          <p:cNvPr id="19" name="Shape 17"/>
          <p:cNvSpPr/>
          <p:nvPr/>
        </p:nvSpPr>
        <p:spPr>
          <a:xfrm>
            <a:off x="5212080" y="3554967"/>
            <a:ext cx="6339535" cy="662466"/>
          </a:xfrm>
          <a:prstGeom prst="roundRect">
            <a:avLst>
              <a:gd name="adj" fmla="val 22085"/>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0" name="Shape 18"/>
          <p:cNvSpPr/>
          <p:nvPr/>
        </p:nvSpPr>
        <p:spPr>
          <a:xfrm>
            <a:off x="5449824" y="3694176"/>
            <a:ext cx="384048" cy="384048"/>
          </a:xfrm>
          <a:prstGeom prst="roundRect">
            <a:avLst>
              <a:gd name="adj" fmla="val 26000"/>
            </a:avLst>
          </a:prstGeom>
          <a:solidFill>
            <a:srgbClr val="A56209"/>
          </a:solidFill>
          <a:ln/>
        </p:spPr>
      </p:sp>
      <p:sp>
        <p:nvSpPr>
          <p:cNvPr id="21" name="Text 19"/>
          <p:cNvSpPr txBox="1"/>
          <p:nvPr/>
        </p:nvSpPr>
        <p:spPr>
          <a:xfrm>
            <a:off x="5449824" y="369417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2" name="Text 20"/>
          <p:cNvSpPr txBox="1"/>
          <p:nvPr/>
        </p:nvSpPr>
        <p:spPr>
          <a:xfrm>
            <a:off x="5989320" y="3609831"/>
            <a:ext cx="5379415" cy="552738"/>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Mesafe: v²/(2a) = 100 / 5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20 m</a:t>
            </a:r>
            <a:endParaRPr lang="en-US" sz="1600" dirty="0"/>
          </a:p>
        </p:txBody>
      </p:sp>
      <p:sp>
        <p:nvSpPr>
          <p:cNvPr id="23" name="Shape 21"/>
          <p:cNvSpPr/>
          <p:nvPr/>
        </p:nvSpPr>
        <p:spPr>
          <a:xfrm>
            <a:off x="5212080" y="4363737"/>
            <a:ext cx="6339535" cy="662466"/>
          </a:xfrm>
          <a:prstGeom prst="roundRect">
            <a:avLst>
              <a:gd name="adj" fmla="val 22085"/>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4" name="Shape 22"/>
          <p:cNvSpPr/>
          <p:nvPr/>
        </p:nvSpPr>
        <p:spPr>
          <a:xfrm>
            <a:off x="5449824" y="4502946"/>
            <a:ext cx="384048" cy="384048"/>
          </a:xfrm>
          <a:prstGeom prst="roundRect">
            <a:avLst>
              <a:gd name="adj" fmla="val 26000"/>
            </a:avLst>
          </a:prstGeom>
          <a:solidFill>
            <a:srgbClr val="A56209"/>
          </a:solidFill>
          <a:ln/>
        </p:spPr>
      </p:sp>
      <p:sp>
        <p:nvSpPr>
          <p:cNvPr id="25" name="Text 23"/>
          <p:cNvSpPr txBox="1"/>
          <p:nvPr/>
        </p:nvSpPr>
        <p:spPr>
          <a:xfrm>
            <a:off x="5449824" y="450294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6" name="Text 24"/>
          <p:cNvSpPr txBox="1"/>
          <p:nvPr/>
        </p:nvSpPr>
        <p:spPr>
          <a:xfrm>
            <a:off x="5989320" y="4418601"/>
            <a:ext cx="5379415" cy="552738"/>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Süre: v/a = 10 / 2,5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4 s</a:t>
            </a:r>
            <a:endParaRPr lang="en-US" sz="1600" dirty="0"/>
          </a:p>
        </p:txBody>
      </p:sp>
      <p:sp>
        <p:nvSpPr>
          <p:cNvPr id="27" name="Shape 25"/>
          <p:cNvSpPr/>
          <p:nvPr/>
        </p:nvSpPr>
        <p:spPr>
          <a:xfrm>
            <a:off x="5212080" y="5172506"/>
            <a:ext cx="6339535" cy="972262"/>
          </a:xfrm>
          <a:prstGeom prst="roundRect">
            <a:avLst>
              <a:gd name="adj" fmla="val 15048"/>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8" name="Shape 26"/>
          <p:cNvSpPr/>
          <p:nvPr/>
        </p:nvSpPr>
        <p:spPr>
          <a:xfrm>
            <a:off x="5449824" y="5466613"/>
            <a:ext cx="384048" cy="384048"/>
          </a:xfrm>
          <a:prstGeom prst="roundRect">
            <a:avLst>
              <a:gd name="adj" fmla="val 26000"/>
            </a:avLst>
          </a:prstGeom>
          <a:solidFill>
            <a:srgbClr val="A56209"/>
          </a:solidFill>
          <a:ln/>
        </p:spPr>
      </p:sp>
      <p:sp>
        <p:nvSpPr>
          <p:cNvPr id="29" name="Text 27"/>
          <p:cNvSpPr txBox="1"/>
          <p:nvPr/>
        </p:nvSpPr>
        <p:spPr>
          <a:xfrm>
            <a:off x="5449824" y="5466613"/>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5</a:t>
            </a:r>
            <a:endParaRPr lang="en-US" sz="1150" dirty="0"/>
          </a:p>
        </p:txBody>
      </p:sp>
      <p:sp>
        <p:nvSpPr>
          <p:cNvPr id="30" name="Text 28"/>
          <p:cNvSpPr txBox="1"/>
          <p:nvPr/>
        </p:nvSpPr>
        <p:spPr>
          <a:xfrm>
            <a:off x="5989320" y="5227370"/>
            <a:ext cx="5379415" cy="862534"/>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Kütle sonuçta görünmez: a = μ·g olduğu için 50 kg'lık cisim de aynı yerde dururdu.</a:t>
            </a:r>
            <a:endParaRPr lang="en-US" sz="1600" dirty="0"/>
          </a:p>
        </p:txBody>
      </p:sp>
      <p:sp>
        <p:nvSpPr>
          <p:cNvPr id="31" name="Shape 29"/>
          <p:cNvSpPr/>
          <p:nvPr/>
        </p:nvSpPr>
        <p:spPr>
          <a:xfrm>
            <a:off x="640080" y="6382512"/>
            <a:ext cx="128016" cy="128016"/>
          </a:xfrm>
          <a:prstGeom prst="roundRect">
            <a:avLst>
              <a:gd name="adj" fmla="val 28571"/>
            </a:avLst>
          </a:prstGeom>
          <a:solidFill>
            <a:srgbClr val="A9E648"/>
          </a:solidFill>
          <a:ln/>
        </p:spPr>
      </p:sp>
      <p:sp>
        <p:nvSpPr>
          <p:cNvPr id="32" name="Text 30"/>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dersler.perinet.org/surtunme-kuvveti.html</a:t>
            </a:r>
            <a:endParaRPr lang="en-US" sz="1050" dirty="0"/>
          </a:p>
        </p:txBody>
      </p:sp>
      <p:sp>
        <p:nvSpPr>
          <p:cNvPr id="33" name="Text 31"/>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38</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Çözümlü örnek 4 / 7</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Kritik açıdan μ bulma  ·  Aşağıdaki çözümlerde g = 10 m/s² alınmıştır.</a:t>
            </a:r>
            <a:endParaRPr lang="en-US" sz="1450" dirty="0"/>
          </a:p>
        </p:txBody>
      </p:sp>
      <p:sp>
        <p:nvSpPr>
          <p:cNvPr id="8" name="Shape 6"/>
          <p:cNvSpPr/>
          <p:nvPr/>
        </p:nvSpPr>
        <p:spPr>
          <a:xfrm>
            <a:off x="640080" y="1627632"/>
            <a:ext cx="4297680" cy="4517136"/>
          </a:xfrm>
          <a:prstGeom prst="roundRect">
            <a:avLst>
              <a:gd name="adj" fmla="val 340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32688" y="1847088"/>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32688" y="2176272"/>
            <a:ext cx="3712464" cy="1773936"/>
          </a:xfrm>
          <a:prstGeom prst="rect">
            <a:avLst/>
          </a:prstGeom>
          <a:noFill/>
          <a:ln/>
        </p:spPr>
        <p:txBody>
          <a:bodyPr wrap="square" lIns="0" tIns="0" rIns="0" bIns="0" rtlCol="0" anchor="t"/>
          <a:lstStyle/>
          <a:p>
            <a:pPr indent="0" marL="0">
              <a:lnSpc>
                <a:spcPct val="118000"/>
              </a:lnSpc>
              <a:buNone/>
            </a:pPr>
            <a:r>
              <a:rPr lang="en-US" sz="1600" dirty="0">
                <a:solidFill>
                  <a:srgbClr val="0E1426"/>
                </a:solidFill>
                <a:latin typeface="Calibri" pitchFamily="34" charset="0"/>
                <a:ea typeface="Calibri" pitchFamily="34" charset="-122"/>
                <a:cs typeface="Calibri" pitchFamily="34" charset="-120"/>
              </a:rPr>
              <a:t>Eğimi yavaşça artırılan bir düzlemde cisim, açı 37° olduğunda kaymaya başlıyor. (a) μ</a:t>
            </a:r>
            <a:pPr indent="0" marL="0">
              <a:lnSpc>
                <a:spcPct val="118000"/>
              </a:lnSpc>
              <a:buNone/>
            </a:pPr>
            <a:r>
              <a:rPr lang="en-US" sz="1600" baseline="-40000" dirty="0">
                <a:solidFill>
                  <a:srgbClr val="0E1426"/>
                </a:solidFill>
                <a:latin typeface="Calibri" pitchFamily="34" charset="0"/>
                <a:ea typeface="Calibri" pitchFamily="34" charset="-122"/>
                <a:cs typeface="Calibri" pitchFamily="34" charset="-120"/>
              </a:rPr>
              <a:t>s</a:t>
            </a:r>
            <a:pPr indent="0" marL="0">
              <a:lnSpc>
                <a:spcPct val="118000"/>
              </a:lnSpc>
              <a:buNone/>
            </a:pPr>
            <a:r>
              <a:rPr lang="en-US" sz="1600" dirty="0">
                <a:solidFill>
                  <a:srgbClr val="0E1426"/>
                </a:solidFill>
                <a:latin typeface="Calibri" pitchFamily="34" charset="0"/>
                <a:ea typeface="Calibri" pitchFamily="34" charset="-122"/>
                <a:cs typeface="Calibri" pitchFamily="34" charset="-120"/>
              </a:rPr>
              <a:t> kaçtır? (b) μ</a:t>
            </a:r>
            <a:pPr indent="0" marL="0">
              <a:lnSpc>
                <a:spcPct val="118000"/>
              </a:lnSpc>
              <a:buNone/>
            </a:pPr>
            <a:r>
              <a:rPr lang="en-US" sz="1600" baseline="-40000" dirty="0">
                <a:solidFill>
                  <a:srgbClr val="0E1426"/>
                </a:solidFill>
                <a:latin typeface="Calibri" pitchFamily="34" charset="0"/>
                <a:ea typeface="Calibri" pitchFamily="34" charset="-122"/>
                <a:cs typeface="Calibri" pitchFamily="34" charset="-120"/>
              </a:rPr>
              <a:t>k</a:t>
            </a:r>
            <a:pPr indent="0" marL="0">
              <a:lnSpc>
                <a:spcPct val="118000"/>
              </a:lnSpc>
              <a:buNone/>
            </a:pPr>
            <a:r>
              <a:rPr lang="en-US" sz="1600" dirty="0">
                <a:solidFill>
                  <a:srgbClr val="0E1426"/>
                </a:solidFill>
                <a:latin typeface="Calibri" pitchFamily="34" charset="0"/>
                <a:ea typeface="Calibri" pitchFamily="34" charset="-122"/>
                <a:cs typeface="Calibri" pitchFamily="34" charset="-120"/>
              </a:rPr>
              <a:t> = 0,5 ise kaymaya başladıktan sonraki ivmesi nedir? (sin37° = 0,6 · cos37° = 0,8)</a:t>
            </a:r>
            <a:endParaRPr lang="en-US" sz="1600" dirty="0"/>
          </a:p>
        </p:txBody>
      </p:sp>
      <p:sp>
        <p:nvSpPr>
          <p:cNvPr id="11" name="Shape 9"/>
          <p:cNvSpPr/>
          <p:nvPr/>
        </p:nvSpPr>
        <p:spPr>
          <a:xfrm>
            <a:off x="5212080" y="1627632"/>
            <a:ext cx="6339535" cy="912836"/>
          </a:xfrm>
          <a:prstGeom prst="roundRect">
            <a:avLst>
              <a:gd name="adj" fmla="val 16027"/>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5449824" y="1892026"/>
            <a:ext cx="384048" cy="384048"/>
          </a:xfrm>
          <a:prstGeom prst="roundRect">
            <a:avLst>
              <a:gd name="adj" fmla="val 26000"/>
            </a:avLst>
          </a:prstGeom>
          <a:solidFill>
            <a:srgbClr val="A56209"/>
          </a:solidFill>
          <a:ln/>
        </p:spPr>
      </p:sp>
      <p:sp>
        <p:nvSpPr>
          <p:cNvPr id="13" name="Text 11"/>
          <p:cNvSpPr txBox="1"/>
          <p:nvPr/>
        </p:nvSpPr>
        <p:spPr>
          <a:xfrm>
            <a:off x="5449824" y="189202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4" name="Text 12"/>
          <p:cNvSpPr txBox="1"/>
          <p:nvPr/>
        </p:nvSpPr>
        <p:spPr>
          <a:xfrm>
            <a:off x="5989320" y="1682496"/>
            <a:ext cx="5379415" cy="803108"/>
          </a:xfrm>
          <a:prstGeom prst="rect">
            <a:avLst/>
          </a:prstGeom>
          <a:noFill/>
          <a:ln/>
        </p:spPr>
        <p:txBody>
          <a:bodyPr wrap="square" lIns="0" tIns="0" rIns="0" bIns="0" rtlCol="0" anchor="ctr"/>
          <a:lstStyle/>
          <a:p>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(a)</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tanθ = μ</a:t>
            </a:r>
            <a:pPr indent="0" marL="0">
              <a:lnSpc>
                <a:spcPct val="112000"/>
              </a:lnSpc>
              <a:buNone/>
            </a:pPr>
            <a:r>
              <a:rPr lang="en-US" sz="1600" baseline="-40000" dirty="0">
                <a:solidFill>
                  <a:srgbClr val="4A5470"/>
                </a:solidFill>
                <a:latin typeface="Calibri" pitchFamily="34" charset="0"/>
                <a:ea typeface="Calibri" pitchFamily="34" charset="-122"/>
                <a:cs typeface="Calibri" pitchFamily="34" charset="-120"/>
              </a:rPr>
              <a:t>s</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 μ</a:t>
            </a:r>
            <a:pPr indent="0" marL="0">
              <a:lnSpc>
                <a:spcPct val="112000"/>
              </a:lnSpc>
              <a:buNone/>
            </a:pPr>
            <a:r>
              <a:rPr lang="en-US" sz="1600" baseline="-40000" dirty="0">
                <a:solidFill>
                  <a:srgbClr val="4A5470"/>
                </a:solidFill>
                <a:latin typeface="Calibri" pitchFamily="34" charset="0"/>
                <a:ea typeface="Calibri" pitchFamily="34" charset="-122"/>
                <a:cs typeface="Calibri" pitchFamily="34" charset="-120"/>
              </a:rPr>
              <a:t>s</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 tan37° = 0,6/0,8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0,75</a:t>
            </a:r>
            <a:endParaRPr lang="en-US" sz="1600" dirty="0"/>
          </a:p>
        </p:txBody>
      </p:sp>
      <p:sp>
        <p:nvSpPr>
          <p:cNvPr id="15" name="Shape 13"/>
          <p:cNvSpPr/>
          <p:nvPr/>
        </p:nvSpPr>
        <p:spPr>
          <a:xfrm>
            <a:off x="5212080" y="2686772"/>
            <a:ext cx="6339535" cy="912836"/>
          </a:xfrm>
          <a:prstGeom prst="roundRect">
            <a:avLst>
              <a:gd name="adj" fmla="val 16027"/>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5449824" y="2951166"/>
            <a:ext cx="384048" cy="384048"/>
          </a:xfrm>
          <a:prstGeom prst="roundRect">
            <a:avLst>
              <a:gd name="adj" fmla="val 26000"/>
            </a:avLst>
          </a:prstGeom>
          <a:solidFill>
            <a:srgbClr val="A56209"/>
          </a:solidFill>
          <a:ln/>
        </p:spPr>
      </p:sp>
      <p:sp>
        <p:nvSpPr>
          <p:cNvPr id="17" name="Text 15"/>
          <p:cNvSpPr txBox="1"/>
          <p:nvPr/>
        </p:nvSpPr>
        <p:spPr>
          <a:xfrm>
            <a:off x="5449824" y="295116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8" name="Text 16"/>
          <p:cNvSpPr txBox="1"/>
          <p:nvPr/>
        </p:nvSpPr>
        <p:spPr>
          <a:xfrm>
            <a:off x="5989320" y="2741636"/>
            <a:ext cx="5379415" cy="803108"/>
          </a:xfrm>
          <a:prstGeom prst="rect">
            <a:avLst/>
          </a:prstGeom>
          <a:noFill/>
          <a:ln/>
        </p:spPr>
        <p:txBody>
          <a:bodyPr wrap="square" lIns="0" tIns="0" rIns="0" bIns="0" rtlCol="0" anchor="ctr"/>
          <a:lstStyle/>
          <a:p>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(b)</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a = g·(sinθ − μ</a:t>
            </a:r>
            <a:pPr indent="0" marL="0">
              <a:lnSpc>
                <a:spcPct val="112000"/>
              </a:lnSpc>
              <a:buNone/>
            </a:pPr>
            <a:r>
              <a:rPr lang="en-US" sz="1600" baseline="-40000" dirty="0">
                <a:solidFill>
                  <a:srgbClr val="4A5470"/>
                </a:solidFill>
                <a:latin typeface="Calibri" pitchFamily="34" charset="0"/>
                <a:ea typeface="Calibri" pitchFamily="34" charset="-122"/>
                <a:cs typeface="Calibri" pitchFamily="34" charset="-120"/>
              </a:rPr>
              <a:t>k</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·cosθ) = 10·(0,6 − 0,5·0,8)</a:t>
            </a:r>
            <a:endParaRPr lang="en-US" sz="1600" dirty="0"/>
          </a:p>
        </p:txBody>
      </p:sp>
      <p:sp>
        <p:nvSpPr>
          <p:cNvPr id="19" name="Shape 17"/>
          <p:cNvSpPr/>
          <p:nvPr/>
        </p:nvSpPr>
        <p:spPr>
          <a:xfrm>
            <a:off x="5212080" y="3745912"/>
            <a:ext cx="6339535" cy="912836"/>
          </a:xfrm>
          <a:prstGeom prst="roundRect">
            <a:avLst>
              <a:gd name="adj" fmla="val 16027"/>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0" name="Shape 18"/>
          <p:cNvSpPr/>
          <p:nvPr/>
        </p:nvSpPr>
        <p:spPr>
          <a:xfrm>
            <a:off x="5449824" y="4010306"/>
            <a:ext cx="384048" cy="384048"/>
          </a:xfrm>
          <a:prstGeom prst="roundRect">
            <a:avLst>
              <a:gd name="adj" fmla="val 26000"/>
            </a:avLst>
          </a:prstGeom>
          <a:solidFill>
            <a:srgbClr val="A56209"/>
          </a:solidFill>
          <a:ln/>
        </p:spPr>
      </p:sp>
      <p:sp>
        <p:nvSpPr>
          <p:cNvPr id="21" name="Text 19"/>
          <p:cNvSpPr txBox="1"/>
          <p:nvPr/>
        </p:nvSpPr>
        <p:spPr>
          <a:xfrm>
            <a:off x="5449824" y="401030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2" name="Text 20"/>
          <p:cNvSpPr txBox="1"/>
          <p:nvPr/>
        </p:nvSpPr>
        <p:spPr>
          <a:xfrm>
            <a:off x="5989320" y="3800776"/>
            <a:ext cx="5379415" cy="803108"/>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a = 10 · (0,6 − 0,4)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2 m/s²</a:t>
            </a:r>
            <a:endParaRPr lang="en-US" sz="1600" dirty="0"/>
          </a:p>
        </p:txBody>
      </p:sp>
      <p:sp>
        <p:nvSpPr>
          <p:cNvPr id="23" name="Shape 21"/>
          <p:cNvSpPr/>
          <p:nvPr/>
        </p:nvSpPr>
        <p:spPr>
          <a:xfrm>
            <a:off x="5212080" y="4805052"/>
            <a:ext cx="6339535" cy="1339716"/>
          </a:xfrm>
          <a:prstGeom prst="roundRect">
            <a:avLst>
              <a:gd name="adj" fmla="val 10921"/>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4" name="Shape 22"/>
          <p:cNvSpPr/>
          <p:nvPr/>
        </p:nvSpPr>
        <p:spPr>
          <a:xfrm>
            <a:off x="5449824" y="5282886"/>
            <a:ext cx="384048" cy="384048"/>
          </a:xfrm>
          <a:prstGeom prst="roundRect">
            <a:avLst>
              <a:gd name="adj" fmla="val 26000"/>
            </a:avLst>
          </a:prstGeom>
          <a:solidFill>
            <a:srgbClr val="A56209"/>
          </a:solidFill>
          <a:ln/>
        </p:spPr>
      </p:sp>
      <p:sp>
        <p:nvSpPr>
          <p:cNvPr id="25" name="Text 23"/>
          <p:cNvSpPr txBox="1"/>
          <p:nvPr/>
        </p:nvSpPr>
        <p:spPr>
          <a:xfrm>
            <a:off x="5449824" y="528288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6" name="Text 24"/>
          <p:cNvSpPr txBox="1"/>
          <p:nvPr/>
        </p:nvSpPr>
        <p:spPr>
          <a:xfrm>
            <a:off x="5989320" y="4859916"/>
            <a:ext cx="5379415" cy="1229988"/>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Kütle hiçbir adımda kullanılmadı; sonuç kütleden bağımsızdır.</a:t>
            </a:r>
            <a:endParaRPr lang="en-US" sz="1600" dirty="0"/>
          </a:p>
        </p:txBody>
      </p:sp>
      <p:sp>
        <p:nvSpPr>
          <p:cNvPr id="27" name="Shape 25"/>
          <p:cNvSpPr/>
          <p:nvPr/>
        </p:nvSpPr>
        <p:spPr>
          <a:xfrm>
            <a:off x="640080" y="6382512"/>
            <a:ext cx="128016" cy="128016"/>
          </a:xfrm>
          <a:prstGeom prst="roundRect">
            <a:avLst>
              <a:gd name="adj" fmla="val 28571"/>
            </a:avLst>
          </a:prstGeom>
          <a:solidFill>
            <a:srgbClr val="A9E648"/>
          </a:solidFill>
          <a:ln/>
        </p:spPr>
      </p:sp>
      <p:sp>
        <p:nvSpPr>
          <p:cNvPr id="28" name="Text 2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dersler.perinet.org/surtunme-kuvveti.html</a:t>
            </a:r>
            <a:endParaRPr lang="en-US" sz="1050" dirty="0"/>
          </a:p>
        </p:txBody>
      </p:sp>
      <p:sp>
        <p:nvSpPr>
          <p:cNvPr id="29" name="Text 2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39</a:t>
            </a:r>
            <a:endParaRPr lang="en-US" sz="10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Çözümlü örnek 5 / 7</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Fren mesafesi ve hız  ·  Aşağıdaki çözümlerde g = 10 m/s² alınmıştır.</a:t>
            </a:r>
            <a:endParaRPr lang="en-US" sz="1450" dirty="0"/>
          </a:p>
        </p:txBody>
      </p:sp>
      <p:sp>
        <p:nvSpPr>
          <p:cNvPr id="8" name="Shape 6"/>
          <p:cNvSpPr/>
          <p:nvPr/>
        </p:nvSpPr>
        <p:spPr>
          <a:xfrm>
            <a:off x="640080" y="1627632"/>
            <a:ext cx="4297680" cy="4517136"/>
          </a:xfrm>
          <a:prstGeom prst="roundRect">
            <a:avLst>
              <a:gd name="adj" fmla="val 340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32688" y="1847088"/>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32688" y="2176272"/>
            <a:ext cx="3712464" cy="1773936"/>
          </a:xfrm>
          <a:prstGeom prst="rect">
            <a:avLst/>
          </a:prstGeom>
          <a:noFill/>
          <a:ln/>
        </p:spPr>
        <p:txBody>
          <a:bodyPr wrap="square" lIns="0" tIns="0" rIns="0" bIns="0" rtlCol="0" anchor="t"/>
          <a:lstStyle/>
          <a:p>
            <a:pPr indent="0" marL="0">
              <a:lnSpc>
                <a:spcPct val="118000"/>
              </a:lnSpc>
              <a:buNone/>
            </a:pPr>
            <a:r>
              <a:rPr lang="en-US" sz="1600" dirty="0">
                <a:solidFill>
                  <a:srgbClr val="0E1426"/>
                </a:solidFill>
                <a:latin typeface="Calibri" pitchFamily="34" charset="0"/>
                <a:ea typeface="Calibri" pitchFamily="34" charset="-122"/>
                <a:cs typeface="Calibri" pitchFamily="34" charset="-120"/>
              </a:rPr>
              <a:t>72 km/h ile giden bir araç, μ = 0,5 olan bir yolda fren yapıyor. Sürücünün tepki süresi 1 s'dir. (a) Toplam durma mesafesi nedir? (b) Hız iki katına çıkarsa fren mesafesi ne olur?</a:t>
            </a:r>
            <a:endParaRPr lang="en-US" sz="1600" dirty="0"/>
          </a:p>
        </p:txBody>
      </p:sp>
      <p:sp>
        <p:nvSpPr>
          <p:cNvPr id="11" name="Shape 9"/>
          <p:cNvSpPr/>
          <p:nvPr/>
        </p:nvSpPr>
        <p:spPr>
          <a:xfrm>
            <a:off x="5212080" y="1627632"/>
            <a:ext cx="6339535" cy="754818"/>
          </a:xfrm>
          <a:prstGeom prst="roundRect">
            <a:avLst>
              <a:gd name="adj" fmla="val 19383"/>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5449824" y="1813017"/>
            <a:ext cx="384048" cy="384048"/>
          </a:xfrm>
          <a:prstGeom prst="roundRect">
            <a:avLst>
              <a:gd name="adj" fmla="val 26000"/>
            </a:avLst>
          </a:prstGeom>
          <a:solidFill>
            <a:srgbClr val="A56209"/>
          </a:solidFill>
          <a:ln/>
        </p:spPr>
      </p:sp>
      <p:sp>
        <p:nvSpPr>
          <p:cNvPr id="13" name="Text 11"/>
          <p:cNvSpPr txBox="1"/>
          <p:nvPr/>
        </p:nvSpPr>
        <p:spPr>
          <a:xfrm>
            <a:off x="5449824" y="1813017"/>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4" name="Text 12"/>
          <p:cNvSpPr txBox="1"/>
          <p:nvPr/>
        </p:nvSpPr>
        <p:spPr>
          <a:xfrm>
            <a:off x="5989320" y="1682496"/>
            <a:ext cx="5379415" cy="645090"/>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72 km/h = 72/3,6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20 m/s</a:t>
            </a:r>
            <a:endParaRPr lang="en-US" sz="1600" dirty="0"/>
          </a:p>
        </p:txBody>
      </p:sp>
      <p:sp>
        <p:nvSpPr>
          <p:cNvPr id="15" name="Shape 13"/>
          <p:cNvSpPr/>
          <p:nvPr/>
        </p:nvSpPr>
        <p:spPr>
          <a:xfrm>
            <a:off x="5212080" y="2528754"/>
            <a:ext cx="6339535" cy="754818"/>
          </a:xfrm>
          <a:prstGeom prst="roundRect">
            <a:avLst>
              <a:gd name="adj" fmla="val 19383"/>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5449824" y="2714139"/>
            <a:ext cx="384048" cy="384048"/>
          </a:xfrm>
          <a:prstGeom prst="roundRect">
            <a:avLst>
              <a:gd name="adj" fmla="val 26000"/>
            </a:avLst>
          </a:prstGeom>
          <a:solidFill>
            <a:srgbClr val="A56209"/>
          </a:solidFill>
          <a:ln/>
        </p:spPr>
      </p:sp>
      <p:sp>
        <p:nvSpPr>
          <p:cNvPr id="17" name="Text 15"/>
          <p:cNvSpPr txBox="1"/>
          <p:nvPr/>
        </p:nvSpPr>
        <p:spPr>
          <a:xfrm>
            <a:off x="5449824" y="2714139"/>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8" name="Text 16"/>
          <p:cNvSpPr txBox="1"/>
          <p:nvPr/>
        </p:nvSpPr>
        <p:spPr>
          <a:xfrm>
            <a:off x="5989320" y="2583618"/>
            <a:ext cx="5379415" cy="645090"/>
          </a:xfrm>
          <a:prstGeom prst="rect">
            <a:avLst/>
          </a:prstGeom>
          <a:noFill/>
          <a:ln/>
        </p:spPr>
        <p:txBody>
          <a:bodyPr wrap="square" lIns="0" tIns="0" rIns="0" bIns="0" rtlCol="0" anchor="ctr"/>
          <a:lstStyle/>
          <a:p>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(a)</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Tepki mesafesi: 20 · 1 = 20 m</a:t>
            </a:r>
            <a:endParaRPr lang="en-US" sz="1600" dirty="0"/>
          </a:p>
        </p:txBody>
      </p:sp>
      <p:sp>
        <p:nvSpPr>
          <p:cNvPr id="19" name="Shape 17"/>
          <p:cNvSpPr/>
          <p:nvPr/>
        </p:nvSpPr>
        <p:spPr>
          <a:xfrm>
            <a:off x="5212080" y="3429876"/>
            <a:ext cx="6339535" cy="1107802"/>
          </a:xfrm>
          <a:prstGeom prst="roundRect">
            <a:avLst>
              <a:gd name="adj" fmla="val 13207"/>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0" name="Shape 18"/>
          <p:cNvSpPr/>
          <p:nvPr/>
        </p:nvSpPr>
        <p:spPr>
          <a:xfrm>
            <a:off x="5449824" y="3791753"/>
            <a:ext cx="384048" cy="384048"/>
          </a:xfrm>
          <a:prstGeom prst="roundRect">
            <a:avLst>
              <a:gd name="adj" fmla="val 26000"/>
            </a:avLst>
          </a:prstGeom>
          <a:solidFill>
            <a:srgbClr val="A56209"/>
          </a:solidFill>
          <a:ln/>
        </p:spPr>
      </p:sp>
      <p:sp>
        <p:nvSpPr>
          <p:cNvPr id="21" name="Text 19"/>
          <p:cNvSpPr txBox="1"/>
          <p:nvPr/>
        </p:nvSpPr>
        <p:spPr>
          <a:xfrm>
            <a:off x="5449824" y="3791753"/>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2" name="Text 20"/>
          <p:cNvSpPr txBox="1"/>
          <p:nvPr/>
        </p:nvSpPr>
        <p:spPr>
          <a:xfrm>
            <a:off x="5989320" y="3484740"/>
            <a:ext cx="5379415" cy="998074"/>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Fren mesafesi: v²/(2μg) = 400 / (2·0,5·10) = 40 m → toplam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60 m</a:t>
            </a:r>
            <a:endParaRPr lang="en-US" sz="1600" dirty="0"/>
          </a:p>
        </p:txBody>
      </p:sp>
      <p:sp>
        <p:nvSpPr>
          <p:cNvPr id="23" name="Shape 21"/>
          <p:cNvSpPr/>
          <p:nvPr/>
        </p:nvSpPr>
        <p:spPr>
          <a:xfrm>
            <a:off x="5212080" y="4683982"/>
            <a:ext cx="6339535" cy="1460786"/>
          </a:xfrm>
          <a:prstGeom prst="roundRect">
            <a:avLst>
              <a:gd name="adj" fmla="val 10015"/>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4" name="Shape 22"/>
          <p:cNvSpPr/>
          <p:nvPr/>
        </p:nvSpPr>
        <p:spPr>
          <a:xfrm>
            <a:off x="5449824" y="5222351"/>
            <a:ext cx="384048" cy="384048"/>
          </a:xfrm>
          <a:prstGeom prst="roundRect">
            <a:avLst>
              <a:gd name="adj" fmla="val 26000"/>
            </a:avLst>
          </a:prstGeom>
          <a:solidFill>
            <a:srgbClr val="A56209"/>
          </a:solidFill>
          <a:ln/>
        </p:spPr>
      </p:sp>
      <p:sp>
        <p:nvSpPr>
          <p:cNvPr id="25" name="Text 23"/>
          <p:cNvSpPr txBox="1"/>
          <p:nvPr/>
        </p:nvSpPr>
        <p:spPr>
          <a:xfrm>
            <a:off x="5449824" y="5222351"/>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6" name="Text 24"/>
          <p:cNvSpPr txBox="1"/>
          <p:nvPr/>
        </p:nvSpPr>
        <p:spPr>
          <a:xfrm>
            <a:off x="5989320" y="4738846"/>
            <a:ext cx="5379415" cy="1351058"/>
          </a:xfrm>
          <a:prstGeom prst="rect">
            <a:avLst/>
          </a:prstGeom>
          <a:noFill/>
          <a:ln/>
        </p:spPr>
        <p:txBody>
          <a:bodyPr wrap="square" lIns="0" tIns="0" rIns="0" bIns="0" rtlCol="0" anchor="ctr"/>
          <a:lstStyle/>
          <a:p>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(b)</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v = 40 m/s için fren mesafesi: 1600/10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160 m</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 hız 2 katına çıkınca fren mesafesi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4 katına</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çıktı.</a:t>
            </a:r>
            <a:endParaRPr lang="en-US" sz="1600" dirty="0"/>
          </a:p>
        </p:txBody>
      </p:sp>
      <p:sp>
        <p:nvSpPr>
          <p:cNvPr id="27" name="Shape 25"/>
          <p:cNvSpPr/>
          <p:nvPr/>
        </p:nvSpPr>
        <p:spPr>
          <a:xfrm>
            <a:off x="640080" y="6382512"/>
            <a:ext cx="128016" cy="128016"/>
          </a:xfrm>
          <a:prstGeom prst="roundRect">
            <a:avLst>
              <a:gd name="adj" fmla="val 28571"/>
            </a:avLst>
          </a:prstGeom>
          <a:solidFill>
            <a:srgbClr val="A9E648"/>
          </a:solidFill>
          <a:ln/>
        </p:spPr>
      </p:sp>
      <p:sp>
        <p:nvSpPr>
          <p:cNvPr id="28" name="Text 2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dersler.perinet.org/surtunme-kuvveti.html</a:t>
            </a:r>
            <a:endParaRPr lang="en-US" sz="1050" dirty="0"/>
          </a:p>
        </p:txBody>
      </p:sp>
      <p:sp>
        <p:nvSpPr>
          <p:cNvPr id="29" name="Text 2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40</a:t>
            </a:r>
            <a:endParaRPr lang="en-US" sz="10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Çözümlü örnek 6 / 7</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Kızağı çekmek mi, itmek mi?  ·  Aşağıdaki çözümlerde g = 10 m/s² alınmıştır.</a:t>
            </a:r>
            <a:endParaRPr lang="en-US" sz="1450" dirty="0"/>
          </a:p>
        </p:txBody>
      </p:sp>
      <p:sp>
        <p:nvSpPr>
          <p:cNvPr id="8" name="Shape 6"/>
          <p:cNvSpPr/>
          <p:nvPr/>
        </p:nvSpPr>
        <p:spPr>
          <a:xfrm>
            <a:off x="640080" y="1627632"/>
            <a:ext cx="4297680" cy="4517136"/>
          </a:xfrm>
          <a:prstGeom prst="roundRect">
            <a:avLst>
              <a:gd name="adj" fmla="val 340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32688" y="1847088"/>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32688" y="2176272"/>
            <a:ext cx="3712464" cy="2334768"/>
          </a:xfrm>
          <a:prstGeom prst="rect">
            <a:avLst/>
          </a:prstGeom>
          <a:noFill/>
          <a:ln/>
        </p:spPr>
        <p:txBody>
          <a:bodyPr wrap="square" lIns="0" tIns="0" rIns="0" bIns="0" rtlCol="0" anchor="t"/>
          <a:lstStyle/>
          <a:p>
            <a:pPr indent="0" marL="0">
              <a:lnSpc>
                <a:spcPct val="118000"/>
              </a:lnSpc>
              <a:buNone/>
            </a:pPr>
            <a:r>
              <a:rPr lang="en-US" sz="1600" dirty="0">
                <a:solidFill>
                  <a:srgbClr val="0E1426"/>
                </a:solidFill>
                <a:latin typeface="Calibri" pitchFamily="34" charset="0"/>
                <a:ea typeface="Calibri" pitchFamily="34" charset="-122"/>
                <a:cs typeface="Calibri" pitchFamily="34" charset="-120"/>
              </a:rPr>
              <a:t>Karda kaymakta olan 20 kg'lık bir kızağa 100 N'luk kuvvet, yatayla 37° açı yapacak biçimde uygulanıyor; μ</a:t>
            </a:r>
            <a:pPr indent="0" marL="0">
              <a:lnSpc>
                <a:spcPct val="118000"/>
              </a:lnSpc>
              <a:buNone/>
            </a:pPr>
            <a:r>
              <a:rPr lang="en-US" sz="1600" baseline="-40000" dirty="0">
                <a:solidFill>
                  <a:srgbClr val="0E1426"/>
                </a:solidFill>
                <a:latin typeface="Calibri" pitchFamily="34" charset="0"/>
                <a:ea typeface="Calibri" pitchFamily="34" charset="-122"/>
                <a:cs typeface="Calibri" pitchFamily="34" charset="-120"/>
              </a:rPr>
              <a:t>k</a:t>
            </a:r>
            <a:pPr indent="0" marL="0">
              <a:lnSpc>
                <a:spcPct val="118000"/>
              </a:lnSpc>
              <a:buNone/>
            </a:pPr>
            <a:r>
              <a:rPr lang="en-US" sz="1600" dirty="0">
                <a:solidFill>
                  <a:srgbClr val="0E1426"/>
                </a:solidFill>
                <a:latin typeface="Calibri" pitchFamily="34" charset="0"/>
                <a:ea typeface="Calibri" pitchFamily="34" charset="-122"/>
                <a:cs typeface="Calibri" pitchFamily="34" charset="-120"/>
              </a:rPr>
              <a:t> = 0,2. Kuvvet (a) yukarı doğru eğik çekerek, (b) aşağı doğru eğik iterek uygulanırsa kızağın ivmesi ne olur? (sin37° = 0,6 · cos37° = 0,8)</a:t>
            </a:r>
            <a:endParaRPr lang="en-US" sz="1600" dirty="0"/>
          </a:p>
        </p:txBody>
      </p:sp>
      <p:sp>
        <p:nvSpPr>
          <p:cNvPr id="11" name="Shape 9"/>
          <p:cNvSpPr/>
          <p:nvPr/>
        </p:nvSpPr>
        <p:spPr>
          <a:xfrm>
            <a:off x="5212080" y="1627632"/>
            <a:ext cx="6339535" cy="838561"/>
          </a:xfrm>
          <a:prstGeom prst="roundRect">
            <a:avLst>
              <a:gd name="adj" fmla="val 17447"/>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5449824" y="1854889"/>
            <a:ext cx="384048" cy="384048"/>
          </a:xfrm>
          <a:prstGeom prst="roundRect">
            <a:avLst>
              <a:gd name="adj" fmla="val 26000"/>
            </a:avLst>
          </a:prstGeom>
          <a:solidFill>
            <a:srgbClr val="A56209"/>
          </a:solidFill>
          <a:ln/>
        </p:spPr>
      </p:sp>
      <p:sp>
        <p:nvSpPr>
          <p:cNvPr id="13" name="Text 11"/>
          <p:cNvSpPr txBox="1"/>
          <p:nvPr/>
        </p:nvSpPr>
        <p:spPr>
          <a:xfrm>
            <a:off x="5449824" y="1854889"/>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4" name="Text 12"/>
          <p:cNvSpPr txBox="1"/>
          <p:nvPr/>
        </p:nvSpPr>
        <p:spPr>
          <a:xfrm>
            <a:off x="5989320" y="1682496"/>
            <a:ext cx="5379415" cy="728833"/>
          </a:xfrm>
          <a:prstGeom prst="rect">
            <a:avLst/>
          </a:prstGeom>
          <a:noFill/>
          <a:ln/>
        </p:spPr>
        <p:txBody>
          <a:bodyPr wrap="square" lIns="0" tIns="0" rIns="0" bIns="0" rtlCol="0" anchor="ctr"/>
          <a:lstStyle/>
          <a:p>
            <a:pPr indent="0" marL="0">
              <a:lnSpc>
                <a:spcPct val="112000"/>
              </a:lnSpc>
              <a:buNone/>
            </a:pPr>
            <a:r>
              <a:rPr lang="en-US" sz="1500" dirty="0">
                <a:solidFill>
                  <a:srgbClr val="4A5470"/>
                </a:solidFill>
                <a:latin typeface="Calibri" pitchFamily="34" charset="0"/>
                <a:ea typeface="Calibri" pitchFamily="34" charset="-122"/>
                <a:cs typeface="Calibri" pitchFamily="34" charset="-120"/>
              </a:rPr>
              <a:t>Kuvvetin bileşenleri: yatay 100 · 0,8 = 80 N, düşey 100 · 0,6 = 60 N; ağırlık 200 N.</a:t>
            </a:r>
            <a:endParaRPr lang="en-US" sz="1500" dirty="0"/>
          </a:p>
        </p:txBody>
      </p:sp>
      <p:sp>
        <p:nvSpPr>
          <p:cNvPr id="15" name="Shape 13"/>
          <p:cNvSpPr/>
          <p:nvPr/>
        </p:nvSpPr>
        <p:spPr>
          <a:xfrm>
            <a:off x="5212080" y="2612497"/>
            <a:ext cx="6339535" cy="838561"/>
          </a:xfrm>
          <a:prstGeom prst="roundRect">
            <a:avLst>
              <a:gd name="adj" fmla="val 17447"/>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5449824" y="2839754"/>
            <a:ext cx="384048" cy="384048"/>
          </a:xfrm>
          <a:prstGeom prst="roundRect">
            <a:avLst>
              <a:gd name="adj" fmla="val 26000"/>
            </a:avLst>
          </a:prstGeom>
          <a:solidFill>
            <a:srgbClr val="A56209"/>
          </a:solidFill>
          <a:ln/>
        </p:spPr>
      </p:sp>
      <p:sp>
        <p:nvSpPr>
          <p:cNvPr id="17" name="Text 15"/>
          <p:cNvSpPr txBox="1"/>
          <p:nvPr/>
        </p:nvSpPr>
        <p:spPr>
          <a:xfrm>
            <a:off x="5449824" y="2839754"/>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8" name="Text 16"/>
          <p:cNvSpPr txBox="1"/>
          <p:nvPr/>
        </p:nvSpPr>
        <p:spPr>
          <a:xfrm>
            <a:off x="5989320" y="2667361"/>
            <a:ext cx="5379415" cy="728833"/>
          </a:xfrm>
          <a:prstGeom prst="rect">
            <a:avLst/>
          </a:prstGeom>
          <a:noFill/>
          <a:ln/>
        </p:spPr>
        <p:txBody>
          <a:bodyPr wrap="square" lIns="0" tIns="0" rIns="0" bIns="0" rtlCol="0" anchor="ctr"/>
          <a:lstStyle/>
          <a:p>
            <a:pPr indent="0" marL="0">
              <a:lnSpc>
                <a:spcPct val="112000"/>
              </a:lnSpc>
              <a:buNone/>
            </a:pPr>
            <a:r>
              <a:rPr lang="en-US" sz="1500" b="1" dirty="0">
                <a:solidFill>
                  <a:srgbClr val="0E1426"/>
                </a:solidFill>
                <a:latin typeface="Calibri" pitchFamily="34" charset="0"/>
                <a:ea typeface="Calibri" pitchFamily="34" charset="-122"/>
                <a:cs typeface="Calibri" pitchFamily="34" charset="-120"/>
              </a:rPr>
              <a:t>(a)</a:t>
            </a:r>
            <a:pPr indent="0" marL="0">
              <a:lnSpc>
                <a:spcPct val="112000"/>
              </a:lnSpc>
              <a:buNone/>
            </a:pPr>
            <a:r>
              <a:rPr lang="en-US" sz="1500" dirty="0">
                <a:solidFill>
                  <a:srgbClr val="4A5470"/>
                </a:solidFill>
                <a:latin typeface="Calibri" pitchFamily="34" charset="0"/>
                <a:ea typeface="Calibri" pitchFamily="34" charset="-122"/>
                <a:cs typeface="Calibri" pitchFamily="34" charset="-120"/>
              </a:rPr>
              <a:t> Çekerken düşey bileşen yukarı: N = 200 − 60 = 140 N → f = 0,2 · 140 = 28 N</a:t>
            </a:r>
            <a:endParaRPr lang="en-US" sz="1500" dirty="0"/>
          </a:p>
        </p:txBody>
      </p:sp>
      <p:sp>
        <p:nvSpPr>
          <p:cNvPr id="19" name="Shape 17"/>
          <p:cNvSpPr/>
          <p:nvPr/>
        </p:nvSpPr>
        <p:spPr>
          <a:xfrm>
            <a:off x="5212080" y="3597362"/>
            <a:ext cx="6339535" cy="577675"/>
          </a:xfrm>
          <a:prstGeom prst="roundRect">
            <a:avLst>
              <a:gd name="adj" fmla="val 2532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0" name="Shape 18"/>
          <p:cNvSpPr/>
          <p:nvPr/>
        </p:nvSpPr>
        <p:spPr>
          <a:xfrm>
            <a:off x="5449824" y="3694176"/>
            <a:ext cx="384048" cy="384048"/>
          </a:xfrm>
          <a:prstGeom prst="roundRect">
            <a:avLst>
              <a:gd name="adj" fmla="val 26000"/>
            </a:avLst>
          </a:prstGeom>
          <a:solidFill>
            <a:srgbClr val="A56209"/>
          </a:solidFill>
          <a:ln/>
        </p:spPr>
      </p:sp>
      <p:sp>
        <p:nvSpPr>
          <p:cNvPr id="21" name="Text 19"/>
          <p:cNvSpPr txBox="1"/>
          <p:nvPr/>
        </p:nvSpPr>
        <p:spPr>
          <a:xfrm>
            <a:off x="5449824" y="369417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2" name="Text 20"/>
          <p:cNvSpPr txBox="1"/>
          <p:nvPr/>
        </p:nvSpPr>
        <p:spPr>
          <a:xfrm>
            <a:off x="5989320" y="3652226"/>
            <a:ext cx="5379415" cy="467947"/>
          </a:xfrm>
          <a:prstGeom prst="rect">
            <a:avLst/>
          </a:prstGeom>
          <a:noFill/>
          <a:ln/>
        </p:spPr>
        <p:txBody>
          <a:bodyPr wrap="square" lIns="0" tIns="0" rIns="0" bIns="0" rtlCol="0" anchor="ctr"/>
          <a:lstStyle/>
          <a:p>
            <a:pPr indent="0" marL="0">
              <a:lnSpc>
                <a:spcPct val="112000"/>
              </a:lnSpc>
              <a:buNone/>
            </a:pPr>
            <a:r>
              <a:rPr lang="en-US" sz="1500" dirty="0">
                <a:solidFill>
                  <a:srgbClr val="4A5470"/>
                </a:solidFill>
                <a:latin typeface="Calibri" pitchFamily="34" charset="0"/>
                <a:ea typeface="Calibri" pitchFamily="34" charset="-122"/>
                <a:cs typeface="Calibri" pitchFamily="34" charset="-120"/>
              </a:rPr>
              <a:t>a = (80 − 28) / 20 = </a:t>
            </a:r>
            <a:pPr indent="0" marL="0">
              <a:lnSpc>
                <a:spcPct val="112000"/>
              </a:lnSpc>
              <a:buNone/>
            </a:pPr>
            <a:r>
              <a:rPr lang="en-US" sz="1500" b="1" dirty="0">
                <a:solidFill>
                  <a:srgbClr val="0E1426"/>
                </a:solidFill>
                <a:latin typeface="Calibri" pitchFamily="34" charset="0"/>
                <a:ea typeface="Calibri" pitchFamily="34" charset="-122"/>
                <a:cs typeface="Calibri" pitchFamily="34" charset="-120"/>
              </a:rPr>
              <a:t>2,6 m/s²</a:t>
            </a:r>
            <a:endParaRPr lang="en-US" sz="1500" dirty="0"/>
          </a:p>
        </p:txBody>
      </p:sp>
      <p:sp>
        <p:nvSpPr>
          <p:cNvPr id="23" name="Shape 21"/>
          <p:cNvSpPr/>
          <p:nvPr/>
        </p:nvSpPr>
        <p:spPr>
          <a:xfrm>
            <a:off x="5212080" y="4321342"/>
            <a:ext cx="6339535" cy="838561"/>
          </a:xfrm>
          <a:prstGeom prst="roundRect">
            <a:avLst>
              <a:gd name="adj" fmla="val 17447"/>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4" name="Shape 22"/>
          <p:cNvSpPr/>
          <p:nvPr/>
        </p:nvSpPr>
        <p:spPr>
          <a:xfrm>
            <a:off x="5449824" y="4548598"/>
            <a:ext cx="384048" cy="384048"/>
          </a:xfrm>
          <a:prstGeom prst="roundRect">
            <a:avLst>
              <a:gd name="adj" fmla="val 26000"/>
            </a:avLst>
          </a:prstGeom>
          <a:solidFill>
            <a:srgbClr val="A56209"/>
          </a:solidFill>
          <a:ln/>
        </p:spPr>
      </p:sp>
      <p:sp>
        <p:nvSpPr>
          <p:cNvPr id="25" name="Text 23"/>
          <p:cNvSpPr txBox="1"/>
          <p:nvPr/>
        </p:nvSpPr>
        <p:spPr>
          <a:xfrm>
            <a:off x="5449824" y="4548598"/>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6" name="Text 24"/>
          <p:cNvSpPr txBox="1"/>
          <p:nvPr/>
        </p:nvSpPr>
        <p:spPr>
          <a:xfrm>
            <a:off x="5989320" y="4376206"/>
            <a:ext cx="5379415" cy="728833"/>
          </a:xfrm>
          <a:prstGeom prst="rect">
            <a:avLst/>
          </a:prstGeom>
          <a:noFill/>
          <a:ln/>
        </p:spPr>
        <p:txBody>
          <a:bodyPr wrap="square" lIns="0" tIns="0" rIns="0" bIns="0" rtlCol="0" anchor="ctr"/>
          <a:lstStyle/>
          <a:p>
            <a:pPr indent="0" marL="0">
              <a:lnSpc>
                <a:spcPct val="112000"/>
              </a:lnSpc>
              <a:buNone/>
            </a:pPr>
            <a:r>
              <a:rPr lang="en-US" sz="1500" b="1" dirty="0">
                <a:solidFill>
                  <a:srgbClr val="0E1426"/>
                </a:solidFill>
                <a:latin typeface="Calibri" pitchFamily="34" charset="0"/>
                <a:ea typeface="Calibri" pitchFamily="34" charset="-122"/>
                <a:cs typeface="Calibri" pitchFamily="34" charset="-120"/>
              </a:rPr>
              <a:t>(b)</a:t>
            </a:r>
            <a:pPr indent="0" marL="0">
              <a:lnSpc>
                <a:spcPct val="112000"/>
              </a:lnSpc>
              <a:buNone/>
            </a:pPr>
            <a:r>
              <a:rPr lang="en-US" sz="1500" dirty="0">
                <a:solidFill>
                  <a:srgbClr val="4A5470"/>
                </a:solidFill>
                <a:latin typeface="Calibri" pitchFamily="34" charset="0"/>
                <a:ea typeface="Calibri" pitchFamily="34" charset="-122"/>
                <a:cs typeface="Calibri" pitchFamily="34" charset="-120"/>
              </a:rPr>
              <a:t> İterken düşey bileşen aşağı: N = 200 + 60 = 260 N → f = 0,2 · 260 = 52 N</a:t>
            </a:r>
            <a:endParaRPr lang="en-US" sz="1500" dirty="0"/>
          </a:p>
        </p:txBody>
      </p:sp>
      <p:sp>
        <p:nvSpPr>
          <p:cNvPr id="27" name="Shape 25"/>
          <p:cNvSpPr/>
          <p:nvPr/>
        </p:nvSpPr>
        <p:spPr>
          <a:xfrm>
            <a:off x="5212080" y="5306207"/>
            <a:ext cx="6339535" cy="838561"/>
          </a:xfrm>
          <a:prstGeom prst="roundRect">
            <a:avLst>
              <a:gd name="adj" fmla="val 17447"/>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8" name="Shape 26"/>
          <p:cNvSpPr/>
          <p:nvPr/>
        </p:nvSpPr>
        <p:spPr>
          <a:xfrm>
            <a:off x="5449824" y="5533463"/>
            <a:ext cx="384048" cy="384048"/>
          </a:xfrm>
          <a:prstGeom prst="roundRect">
            <a:avLst>
              <a:gd name="adj" fmla="val 26000"/>
            </a:avLst>
          </a:prstGeom>
          <a:solidFill>
            <a:srgbClr val="A56209"/>
          </a:solidFill>
          <a:ln/>
        </p:spPr>
      </p:sp>
      <p:sp>
        <p:nvSpPr>
          <p:cNvPr id="29" name="Text 27"/>
          <p:cNvSpPr txBox="1"/>
          <p:nvPr/>
        </p:nvSpPr>
        <p:spPr>
          <a:xfrm>
            <a:off x="5449824" y="5533463"/>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5</a:t>
            </a:r>
            <a:endParaRPr lang="en-US" sz="1150" dirty="0"/>
          </a:p>
        </p:txBody>
      </p:sp>
      <p:sp>
        <p:nvSpPr>
          <p:cNvPr id="30" name="Text 28"/>
          <p:cNvSpPr txBox="1"/>
          <p:nvPr/>
        </p:nvSpPr>
        <p:spPr>
          <a:xfrm>
            <a:off x="5989320" y="5361071"/>
            <a:ext cx="5379415" cy="728833"/>
          </a:xfrm>
          <a:prstGeom prst="rect">
            <a:avLst/>
          </a:prstGeom>
          <a:noFill/>
          <a:ln/>
        </p:spPr>
        <p:txBody>
          <a:bodyPr wrap="square" lIns="0" tIns="0" rIns="0" bIns="0" rtlCol="0" anchor="ctr"/>
          <a:lstStyle/>
          <a:p>
            <a:pPr indent="0" marL="0">
              <a:lnSpc>
                <a:spcPct val="112000"/>
              </a:lnSpc>
              <a:buNone/>
            </a:pPr>
            <a:r>
              <a:rPr lang="en-US" sz="1500" dirty="0">
                <a:solidFill>
                  <a:srgbClr val="4A5470"/>
                </a:solidFill>
                <a:latin typeface="Calibri" pitchFamily="34" charset="0"/>
                <a:ea typeface="Calibri" pitchFamily="34" charset="-122"/>
                <a:cs typeface="Calibri" pitchFamily="34" charset="-120"/>
              </a:rPr>
              <a:t>a = (80 − 52) / 20 = </a:t>
            </a:r>
            <a:pPr indent="0" marL="0">
              <a:lnSpc>
                <a:spcPct val="112000"/>
              </a:lnSpc>
              <a:buNone/>
            </a:pPr>
            <a:r>
              <a:rPr lang="en-US" sz="1500" b="1" dirty="0">
                <a:solidFill>
                  <a:srgbClr val="0E1426"/>
                </a:solidFill>
                <a:latin typeface="Calibri" pitchFamily="34" charset="0"/>
                <a:ea typeface="Calibri" pitchFamily="34" charset="-122"/>
                <a:cs typeface="Calibri" pitchFamily="34" charset="-120"/>
              </a:rPr>
              <a:t>1,4 m/s²</a:t>
            </a:r>
            <a:pPr indent="0" marL="0">
              <a:lnSpc>
                <a:spcPct val="112000"/>
              </a:lnSpc>
              <a:buNone/>
            </a:pPr>
            <a:r>
              <a:rPr lang="en-US" sz="1500" dirty="0">
                <a:solidFill>
                  <a:srgbClr val="4A5470"/>
                </a:solidFill>
                <a:latin typeface="Calibri" pitchFamily="34" charset="0"/>
                <a:ea typeface="Calibri" pitchFamily="34" charset="-122"/>
                <a:cs typeface="Calibri" pitchFamily="34" charset="-120"/>
              </a:rPr>
              <a:t> — aynı kuvvet, çekerken neredeyse iki kat ivme.</a:t>
            </a:r>
            <a:endParaRPr lang="en-US" sz="1500" dirty="0"/>
          </a:p>
        </p:txBody>
      </p:sp>
      <p:sp>
        <p:nvSpPr>
          <p:cNvPr id="31" name="Shape 29"/>
          <p:cNvSpPr/>
          <p:nvPr/>
        </p:nvSpPr>
        <p:spPr>
          <a:xfrm>
            <a:off x="640080" y="6382512"/>
            <a:ext cx="128016" cy="128016"/>
          </a:xfrm>
          <a:prstGeom prst="roundRect">
            <a:avLst>
              <a:gd name="adj" fmla="val 28571"/>
            </a:avLst>
          </a:prstGeom>
          <a:solidFill>
            <a:srgbClr val="A9E648"/>
          </a:solidFill>
          <a:ln/>
        </p:spPr>
      </p:sp>
      <p:sp>
        <p:nvSpPr>
          <p:cNvPr id="32" name="Text 30"/>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dersler.perinet.org/surtunme-kuvveti.html</a:t>
            </a:r>
            <a:endParaRPr lang="en-US" sz="1050" dirty="0"/>
          </a:p>
        </p:txBody>
      </p:sp>
      <p:sp>
        <p:nvSpPr>
          <p:cNvPr id="33" name="Text 31"/>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41</a:t>
            </a:r>
            <a:endParaRPr lang="en-US" sz="10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Çözümlü örnek 7 / 7</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Eğik düzlemde yukarı fırlatılan blok  ·  Aşağıdaki çözümlerde g = 10 m/s² alınmıştır.</a:t>
            </a:r>
            <a:endParaRPr lang="en-US" sz="1450" dirty="0"/>
          </a:p>
        </p:txBody>
      </p:sp>
      <p:sp>
        <p:nvSpPr>
          <p:cNvPr id="8" name="Shape 6"/>
          <p:cNvSpPr/>
          <p:nvPr/>
        </p:nvSpPr>
        <p:spPr>
          <a:xfrm>
            <a:off x="640080" y="1627632"/>
            <a:ext cx="4297680" cy="4517136"/>
          </a:xfrm>
          <a:prstGeom prst="roundRect">
            <a:avLst>
              <a:gd name="adj" fmla="val 340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32688" y="1847088"/>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32688" y="2176272"/>
            <a:ext cx="3712464" cy="2054352"/>
          </a:xfrm>
          <a:prstGeom prst="rect">
            <a:avLst/>
          </a:prstGeom>
          <a:noFill/>
          <a:ln/>
        </p:spPr>
        <p:txBody>
          <a:bodyPr wrap="square" lIns="0" tIns="0" rIns="0" bIns="0" rtlCol="0" anchor="t"/>
          <a:lstStyle/>
          <a:p>
            <a:pPr indent="0" marL="0">
              <a:lnSpc>
                <a:spcPct val="118000"/>
              </a:lnSpc>
              <a:buNone/>
            </a:pPr>
            <a:r>
              <a:rPr lang="en-US" sz="1600" dirty="0">
                <a:solidFill>
                  <a:srgbClr val="0E1426"/>
                </a:solidFill>
                <a:latin typeface="Calibri" pitchFamily="34" charset="0"/>
                <a:ea typeface="Calibri" pitchFamily="34" charset="-122"/>
                <a:cs typeface="Calibri" pitchFamily="34" charset="-120"/>
              </a:rPr>
              <a:t>37°'lik eğik düzlemin altından bir blok, eğim boyunca yukarı 10 m/s hızla fırlatılıyor (μ</a:t>
            </a:r>
            <a:pPr indent="0" marL="0">
              <a:lnSpc>
                <a:spcPct val="118000"/>
              </a:lnSpc>
              <a:buNone/>
            </a:pPr>
            <a:r>
              <a:rPr lang="en-US" sz="1600" baseline="-40000" dirty="0">
                <a:solidFill>
                  <a:srgbClr val="0E1426"/>
                </a:solidFill>
                <a:latin typeface="Calibri" pitchFamily="34" charset="0"/>
                <a:ea typeface="Calibri" pitchFamily="34" charset="-122"/>
                <a:cs typeface="Calibri" pitchFamily="34" charset="-120"/>
              </a:rPr>
              <a:t>s</a:t>
            </a:r>
            <a:pPr indent="0" marL="0">
              <a:lnSpc>
                <a:spcPct val="118000"/>
              </a:lnSpc>
              <a:buNone/>
            </a:pPr>
            <a:r>
              <a:rPr lang="en-US" sz="1600" dirty="0">
                <a:solidFill>
                  <a:srgbClr val="0E1426"/>
                </a:solidFill>
                <a:latin typeface="Calibri" pitchFamily="34" charset="0"/>
                <a:ea typeface="Calibri" pitchFamily="34" charset="-122"/>
                <a:cs typeface="Calibri" pitchFamily="34" charset="-120"/>
              </a:rPr>
              <a:t> = 0,7 · μ</a:t>
            </a:r>
            <a:pPr indent="0" marL="0">
              <a:lnSpc>
                <a:spcPct val="118000"/>
              </a:lnSpc>
              <a:buNone/>
            </a:pPr>
            <a:r>
              <a:rPr lang="en-US" sz="1600" baseline="-40000" dirty="0">
                <a:solidFill>
                  <a:srgbClr val="0E1426"/>
                </a:solidFill>
                <a:latin typeface="Calibri" pitchFamily="34" charset="0"/>
                <a:ea typeface="Calibri" pitchFamily="34" charset="-122"/>
                <a:cs typeface="Calibri" pitchFamily="34" charset="-120"/>
              </a:rPr>
              <a:t>k</a:t>
            </a:r>
            <a:pPr indent="0" marL="0">
              <a:lnSpc>
                <a:spcPct val="118000"/>
              </a:lnSpc>
              <a:buNone/>
            </a:pPr>
            <a:r>
              <a:rPr lang="en-US" sz="1600" dirty="0">
                <a:solidFill>
                  <a:srgbClr val="0E1426"/>
                </a:solidFill>
                <a:latin typeface="Calibri" pitchFamily="34" charset="0"/>
                <a:ea typeface="Calibri" pitchFamily="34" charset="-122"/>
                <a:cs typeface="Calibri" pitchFamily="34" charset="-120"/>
              </a:rPr>
              <a:t> = 0,5). (a) Blok eğim boyunca kaç metre çıkar? (b) Tepede kalır mı? (c) Kalmıyorsa başlangıç noktasına hangi süratle döner?</a:t>
            </a:r>
            <a:endParaRPr lang="en-US" sz="1600" dirty="0"/>
          </a:p>
        </p:txBody>
      </p:sp>
      <p:sp>
        <p:nvSpPr>
          <p:cNvPr id="11" name="Text 9"/>
          <p:cNvSpPr txBox="1"/>
          <p:nvPr/>
        </p:nvSpPr>
        <p:spPr>
          <a:xfrm>
            <a:off x="932688" y="4459224"/>
            <a:ext cx="2743200" cy="219456"/>
          </a:xfrm>
          <a:prstGeom prst="rect">
            <a:avLst/>
          </a:prstGeom>
          <a:noFill/>
          <a:ln/>
        </p:spPr>
        <p:txBody>
          <a:bodyPr wrap="square" lIns="0" tIns="0" rIns="0" bIns="0" rtlCol="0" anchor="ctr"/>
          <a:lstStyle/>
          <a:p>
            <a:pPr indent="0" marL="0">
              <a:buNone/>
            </a:pPr>
            <a:r>
              <a:rPr lang="en-US" sz="950" b="1" spc="200" kern="0" dirty="0">
                <a:solidFill>
                  <a:srgbClr val="7B849E"/>
                </a:solidFill>
                <a:latin typeface="Calibri" pitchFamily="34" charset="0"/>
                <a:ea typeface="Calibri" pitchFamily="34" charset="-122"/>
                <a:cs typeface="Calibri" pitchFamily="34" charset="-120"/>
              </a:rPr>
              <a:t>NOT</a:t>
            </a:r>
            <a:endParaRPr lang="en-US" sz="950" dirty="0"/>
          </a:p>
        </p:txBody>
      </p:sp>
      <p:sp>
        <p:nvSpPr>
          <p:cNvPr id="12" name="Text 10"/>
          <p:cNvSpPr txBox="1"/>
          <p:nvPr/>
        </p:nvSpPr>
        <p:spPr>
          <a:xfrm>
            <a:off x="932688" y="4715256"/>
            <a:ext cx="3712464" cy="840029"/>
          </a:xfrm>
          <a:prstGeom prst="rect">
            <a:avLst/>
          </a:prstGeom>
          <a:noFill/>
          <a:ln/>
        </p:spPr>
        <p:txBody>
          <a:bodyPr wrap="square" lIns="0" tIns="0" rIns="0" bIns="0" rtlCol="0" anchor="t"/>
          <a:lstStyle/>
          <a:p>
            <a:pPr indent="0" marL="0">
              <a:lnSpc>
                <a:spcPct val="112000"/>
              </a:lnSpc>
              <a:buNone/>
            </a:pPr>
            <a:r>
              <a:rPr lang="en-US" sz="1150" dirty="0">
                <a:solidFill>
                  <a:srgbClr val="4A5470"/>
                </a:solidFill>
                <a:latin typeface="Calibri" pitchFamily="34" charset="0"/>
                <a:ea typeface="Calibri" pitchFamily="34" charset="-122"/>
                <a:cs typeface="Calibri" pitchFamily="34" charset="-120"/>
              </a:rPr>
              <a:t>Serbest düşmedeki simetri burada yoktur: blok 1 s'de çıkar, ama √5 ≈ 2,2 s'de iner ve fırlatıldığı hızın yarısından azıyla döner. Aradaki enerji sürtünmeyle ısıya dönüşmüştür.</a:t>
            </a:r>
            <a:endParaRPr lang="en-US" sz="1150" dirty="0"/>
          </a:p>
        </p:txBody>
      </p:sp>
      <p:sp>
        <p:nvSpPr>
          <p:cNvPr id="13" name="Shape 11"/>
          <p:cNvSpPr/>
          <p:nvPr/>
        </p:nvSpPr>
        <p:spPr>
          <a:xfrm>
            <a:off x="5212080" y="1627632"/>
            <a:ext cx="6339535" cy="1099447"/>
          </a:xfrm>
          <a:prstGeom prst="roundRect">
            <a:avLst>
              <a:gd name="adj" fmla="val 13307"/>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4" name="Shape 12"/>
          <p:cNvSpPr/>
          <p:nvPr/>
        </p:nvSpPr>
        <p:spPr>
          <a:xfrm>
            <a:off x="5449824" y="1985331"/>
            <a:ext cx="384048" cy="384048"/>
          </a:xfrm>
          <a:prstGeom prst="roundRect">
            <a:avLst>
              <a:gd name="adj" fmla="val 26000"/>
            </a:avLst>
          </a:prstGeom>
          <a:solidFill>
            <a:srgbClr val="A56209"/>
          </a:solidFill>
          <a:ln/>
        </p:spPr>
      </p:sp>
      <p:sp>
        <p:nvSpPr>
          <p:cNvPr id="15" name="Text 13"/>
          <p:cNvSpPr txBox="1"/>
          <p:nvPr/>
        </p:nvSpPr>
        <p:spPr>
          <a:xfrm>
            <a:off x="5449824" y="1985331"/>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6" name="Text 14"/>
          <p:cNvSpPr txBox="1"/>
          <p:nvPr/>
        </p:nvSpPr>
        <p:spPr>
          <a:xfrm>
            <a:off x="5989320" y="1682496"/>
            <a:ext cx="5379415" cy="989719"/>
          </a:xfrm>
          <a:prstGeom prst="rect">
            <a:avLst/>
          </a:prstGeom>
          <a:noFill/>
          <a:ln/>
        </p:spPr>
        <p:txBody>
          <a:bodyPr wrap="square" lIns="0" tIns="0" rIns="0" bIns="0" rtlCol="0" anchor="ctr"/>
          <a:lstStyle/>
          <a:p>
            <a:pPr indent="0" marL="0">
              <a:lnSpc>
                <a:spcPct val="112000"/>
              </a:lnSpc>
              <a:buNone/>
            </a:pPr>
            <a:r>
              <a:rPr lang="en-US" sz="1500" dirty="0">
                <a:solidFill>
                  <a:srgbClr val="4A5470"/>
                </a:solidFill>
                <a:latin typeface="Calibri" pitchFamily="34" charset="0"/>
                <a:ea typeface="Calibri" pitchFamily="34" charset="-122"/>
                <a:cs typeface="Calibri" pitchFamily="34" charset="-120"/>
              </a:rPr>
              <a:t>Çıkarken sürtünme de ağırlığın paralel bileşeni de aşağı yönlüdür: a = g·(sinθ + μ</a:t>
            </a:r>
            <a:pPr indent="0" marL="0">
              <a:lnSpc>
                <a:spcPct val="112000"/>
              </a:lnSpc>
              <a:buNone/>
            </a:pPr>
            <a:r>
              <a:rPr lang="en-US" sz="1500" baseline="-40000" dirty="0">
                <a:solidFill>
                  <a:srgbClr val="4A5470"/>
                </a:solidFill>
                <a:latin typeface="Calibri" pitchFamily="34" charset="0"/>
                <a:ea typeface="Calibri" pitchFamily="34" charset="-122"/>
                <a:cs typeface="Calibri" pitchFamily="34" charset="-120"/>
              </a:rPr>
              <a:t>k</a:t>
            </a:r>
            <a:pPr indent="0" marL="0">
              <a:lnSpc>
                <a:spcPct val="112000"/>
              </a:lnSpc>
              <a:buNone/>
            </a:pPr>
            <a:r>
              <a:rPr lang="en-US" sz="1500" dirty="0">
                <a:solidFill>
                  <a:srgbClr val="4A5470"/>
                </a:solidFill>
                <a:latin typeface="Calibri" pitchFamily="34" charset="0"/>
                <a:ea typeface="Calibri" pitchFamily="34" charset="-122"/>
                <a:cs typeface="Calibri" pitchFamily="34" charset="-120"/>
              </a:rPr>
              <a:t>·cosθ) = 10·(0,6 + 0,4) = 10 m/s² (yavaşlatıcı)</a:t>
            </a:r>
            <a:endParaRPr lang="en-US" sz="1500" dirty="0"/>
          </a:p>
        </p:txBody>
      </p:sp>
      <p:sp>
        <p:nvSpPr>
          <p:cNvPr id="17" name="Shape 15"/>
          <p:cNvSpPr/>
          <p:nvPr/>
        </p:nvSpPr>
        <p:spPr>
          <a:xfrm>
            <a:off x="5212080" y="2873383"/>
            <a:ext cx="6339535" cy="577675"/>
          </a:xfrm>
          <a:prstGeom prst="roundRect">
            <a:avLst>
              <a:gd name="adj" fmla="val 2532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8" name="Shape 16"/>
          <p:cNvSpPr/>
          <p:nvPr/>
        </p:nvSpPr>
        <p:spPr>
          <a:xfrm>
            <a:off x="5449824" y="2970197"/>
            <a:ext cx="384048" cy="384048"/>
          </a:xfrm>
          <a:prstGeom prst="roundRect">
            <a:avLst>
              <a:gd name="adj" fmla="val 26000"/>
            </a:avLst>
          </a:prstGeom>
          <a:solidFill>
            <a:srgbClr val="A56209"/>
          </a:solidFill>
          <a:ln/>
        </p:spPr>
      </p:sp>
      <p:sp>
        <p:nvSpPr>
          <p:cNvPr id="19" name="Text 17"/>
          <p:cNvSpPr txBox="1"/>
          <p:nvPr/>
        </p:nvSpPr>
        <p:spPr>
          <a:xfrm>
            <a:off x="5449824" y="2970197"/>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20" name="Text 18"/>
          <p:cNvSpPr txBox="1"/>
          <p:nvPr/>
        </p:nvSpPr>
        <p:spPr>
          <a:xfrm>
            <a:off x="5989320" y="2928247"/>
            <a:ext cx="5379415" cy="467947"/>
          </a:xfrm>
          <a:prstGeom prst="rect">
            <a:avLst/>
          </a:prstGeom>
          <a:noFill/>
          <a:ln/>
        </p:spPr>
        <p:txBody>
          <a:bodyPr wrap="square" lIns="0" tIns="0" rIns="0" bIns="0" rtlCol="0" anchor="ctr"/>
          <a:lstStyle/>
          <a:p>
            <a:pPr indent="0" marL="0">
              <a:lnSpc>
                <a:spcPct val="112000"/>
              </a:lnSpc>
              <a:buNone/>
            </a:pPr>
            <a:r>
              <a:rPr lang="en-US" sz="1500" b="1" dirty="0">
                <a:solidFill>
                  <a:srgbClr val="0E1426"/>
                </a:solidFill>
                <a:latin typeface="Calibri" pitchFamily="34" charset="0"/>
                <a:ea typeface="Calibri" pitchFamily="34" charset="-122"/>
                <a:cs typeface="Calibri" pitchFamily="34" charset="-120"/>
              </a:rPr>
              <a:t>(a)</a:t>
            </a:r>
            <a:pPr indent="0" marL="0">
              <a:lnSpc>
                <a:spcPct val="112000"/>
              </a:lnSpc>
              <a:buNone/>
            </a:pPr>
            <a:r>
              <a:rPr lang="en-US" sz="1500" dirty="0">
                <a:solidFill>
                  <a:srgbClr val="4A5470"/>
                </a:solidFill>
                <a:latin typeface="Calibri" pitchFamily="34" charset="0"/>
                <a:ea typeface="Calibri" pitchFamily="34" charset="-122"/>
                <a:cs typeface="Calibri" pitchFamily="34" charset="-120"/>
              </a:rPr>
              <a:t> d = v₀² / (2a) = 100 / 20 = </a:t>
            </a:r>
            <a:pPr indent="0" marL="0">
              <a:lnSpc>
                <a:spcPct val="112000"/>
              </a:lnSpc>
              <a:buNone/>
            </a:pPr>
            <a:r>
              <a:rPr lang="en-US" sz="1500" b="1" dirty="0">
                <a:solidFill>
                  <a:srgbClr val="0E1426"/>
                </a:solidFill>
                <a:latin typeface="Calibri" pitchFamily="34" charset="0"/>
                <a:ea typeface="Calibri" pitchFamily="34" charset="-122"/>
                <a:cs typeface="Calibri" pitchFamily="34" charset="-120"/>
              </a:rPr>
              <a:t>5 m</a:t>
            </a:r>
            <a:endParaRPr lang="en-US" sz="1500" dirty="0"/>
          </a:p>
        </p:txBody>
      </p:sp>
      <p:sp>
        <p:nvSpPr>
          <p:cNvPr id="21" name="Shape 19"/>
          <p:cNvSpPr/>
          <p:nvPr/>
        </p:nvSpPr>
        <p:spPr>
          <a:xfrm>
            <a:off x="5212080" y="3597362"/>
            <a:ext cx="6339535" cy="838561"/>
          </a:xfrm>
          <a:prstGeom prst="roundRect">
            <a:avLst>
              <a:gd name="adj" fmla="val 17447"/>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5449824" y="3824619"/>
            <a:ext cx="384048" cy="384048"/>
          </a:xfrm>
          <a:prstGeom prst="roundRect">
            <a:avLst>
              <a:gd name="adj" fmla="val 26000"/>
            </a:avLst>
          </a:prstGeom>
          <a:solidFill>
            <a:srgbClr val="A56209"/>
          </a:solidFill>
          <a:ln/>
        </p:spPr>
      </p:sp>
      <p:sp>
        <p:nvSpPr>
          <p:cNvPr id="23" name="Text 21"/>
          <p:cNvSpPr txBox="1"/>
          <p:nvPr/>
        </p:nvSpPr>
        <p:spPr>
          <a:xfrm>
            <a:off x="5449824" y="3824619"/>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4" name="Text 22"/>
          <p:cNvSpPr txBox="1"/>
          <p:nvPr/>
        </p:nvSpPr>
        <p:spPr>
          <a:xfrm>
            <a:off x="5989320" y="3652226"/>
            <a:ext cx="5379415" cy="728833"/>
          </a:xfrm>
          <a:prstGeom prst="rect">
            <a:avLst/>
          </a:prstGeom>
          <a:noFill/>
          <a:ln/>
        </p:spPr>
        <p:txBody>
          <a:bodyPr wrap="square" lIns="0" tIns="0" rIns="0" bIns="0" rtlCol="0" anchor="ctr"/>
          <a:lstStyle/>
          <a:p>
            <a:pPr indent="0" marL="0">
              <a:lnSpc>
                <a:spcPct val="112000"/>
              </a:lnSpc>
              <a:buNone/>
            </a:pPr>
            <a:r>
              <a:rPr lang="en-US" sz="1500" b="1" dirty="0">
                <a:solidFill>
                  <a:srgbClr val="0E1426"/>
                </a:solidFill>
                <a:latin typeface="Calibri" pitchFamily="34" charset="0"/>
                <a:ea typeface="Calibri" pitchFamily="34" charset="-122"/>
                <a:cs typeface="Calibri" pitchFamily="34" charset="-120"/>
              </a:rPr>
              <a:t>(b)</a:t>
            </a:r>
            <a:pPr indent="0" marL="0">
              <a:lnSpc>
                <a:spcPct val="112000"/>
              </a:lnSpc>
              <a:buNone/>
            </a:pPr>
            <a:r>
              <a:rPr lang="en-US" sz="1500" dirty="0">
                <a:solidFill>
                  <a:srgbClr val="4A5470"/>
                </a:solidFill>
                <a:latin typeface="Calibri" pitchFamily="34" charset="0"/>
                <a:ea typeface="Calibri" pitchFamily="34" charset="-122"/>
                <a:cs typeface="Calibri" pitchFamily="34" charset="-120"/>
              </a:rPr>
              <a:t> tan37° = 0,75 &gt; μ</a:t>
            </a:r>
            <a:pPr indent="0" marL="0">
              <a:lnSpc>
                <a:spcPct val="112000"/>
              </a:lnSpc>
              <a:buNone/>
            </a:pPr>
            <a:r>
              <a:rPr lang="en-US" sz="1500" baseline="-40000" dirty="0">
                <a:solidFill>
                  <a:srgbClr val="4A5470"/>
                </a:solidFill>
                <a:latin typeface="Calibri" pitchFamily="34" charset="0"/>
                <a:ea typeface="Calibri" pitchFamily="34" charset="-122"/>
                <a:cs typeface="Calibri" pitchFamily="34" charset="-120"/>
              </a:rPr>
              <a:t>s</a:t>
            </a:r>
            <a:pPr indent="0" marL="0">
              <a:lnSpc>
                <a:spcPct val="112000"/>
              </a:lnSpc>
              <a:buNone/>
            </a:pPr>
            <a:r>
              <a:rPr lang="en-US" sz="1500" dirty="0">
                <a:solidFill>
                  <a:srgbClr val="4A5470"/>
                </a:solidFill>
                <a:latin typeface="Calibri" pitchFamily="34" charset="0"/>
                <a:ea typeface="Calibri" pitchFamily="34" charset="-122"/>
                <a:cs typeface="Calibri" pitchFamily="34" charset="-120"/>
              </a:rPr>
              <a:t> = 0,7 → statik sürtünme yetmez, blok </a:t>
            </a:r>
            <a:pPr indent="0" marL="0">
              <a:lnSpc>
                <a:spcPct val="112000"/>
              </a:lnSpc>
              <a:buNone/>
            </a:pPr>
            <a:r>
              <a:rPr lang="en-US" sz="1500" b="1" dirty="0">
                <a:solidFill>
                  <a:srgbClr val="0E1426"/>
                </a:solidFill>
                <a:latin typeface="Calibri" pitchFamily="34" charset="0"/>
                <a:ea typeface="Calibri" pitchFamily="34" charset="-122"/>
                <a:cs typeface="Calibri" pitchFamily="34" charset="-120"/>
              </a:rPr>
              <a:t>geri kayar</a:t>
            </a:r>
            <a:pPr indent="0" marL="0">
              <a:lnSpc>
                <a:spcPct val="112000"/>
              </a:lnSpc>
              <a:buNone/>
            </a:pPr>
            <a:r>
              <a:rPr lang="en-US" sz="1500" dirty="0">
                <a:solidFill>
                  <a:srgbClr val="4A5470"/>
                </a:solidFill>
                <a:latin typeface="Calibri" pitchFamily="34" charset="0"/>
                <a:ea typeface="Calibri" pitchFamily="34" charset="-122"/>
                <a:cs typeface="Calibri" pitchFamily="34" charset="-120"/>
              </a:rPr>
              <a:t>.</a:t>
            </a:r>
            <a:endParaRPr lang="en-US" sz="1500" dirty="0"/>
          </a:p>
        </p:txBody>
      </p:sp>
      <p:sp>
        <p:nvSpPr>
          <p:cNvPr id="25" name="Shape 23"/>
          <p:cNvSpPr/>
          <p:nvPr/>
        </p:nvSpPr>
        <p:spPr>
          <a:xfrm>
            <a:off x="5212080" y="4582227"/>
            <a:ext cx="6339535" cy="838561"/>
          </a:xfrm>
          <a:prstGeom prst="roundRect">
            <a:avLst>
              <a:gd name="adj" fmla="val 17447"/>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6" name="Shape 24"/>
          <p:cNvSpPr/>
          <p:nvPr/>
        </p:nvSpPr>
        <p:spPr>
          <a:xfrm>
            <a:off x="5449824" y="4809484"/>
            <a:ext cx="384048" cy="384048"/>
          </a:xfrm>
          <a:prstGeom prst="roundRect">
            <a:avLst>
              <a:gd name="adj" fmla="val 26000"/>
            </a:avLst>
          </a:prstGeom>
          <a:solidFill>
            <a:srgbClr val="A56209"/>
          </a:solidFill>
          <a:ln/>
        </p:spPr>
      </p:sp>
      <p:sp>
        <p:nvSpPr>
          <p:cNvPr id="27" name="Text 25"/>
          <p:cNvSpPr txBox="1"/>
          <p:nvPr/>
        </p:nvSpPr>
        <p:spPr>
          <a:xfrm>
            <a:off x="5449824" y="4809484"/>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8" name="Text 26"/>
          <p:cNvSpPr txBox="1"/>
          <p:nvPr/>
        </p:nvSpPr>
        <p:spPr>
          <a:xfrm>
            <a:off x="5989320" y="4637091"/>
            <a:ext cx="5379415" cy="728833"/>
          </a:xfrm>
          <a:prstGeom prst="rect">
            <a:avLst/>
          </a:prstGeom>
          <a:noFill/>
          <a:ln/>
        </p:spPr>
        <p:txBody>
          <a:bodyPr wrap="square" lIns="0" tIns="0" rIns="0" bIns="0" rtlCol="0" anchor="ctr"/>
          <a:lstStyle/>
          <a:p>
            <a:pPr indent="0" marL="0">
              <a:lnSpc>
                <a:spcPct val="112000"/>
              </a:lnSpc>
              <a:buNone/>
            </a:pPr>
            <a:r>
              <a:rPr lang="en-US" sz="1500" dirty="0">
                <a:solidFill>
                  <a:srgbClr val="4A5470"/>
                </a:solidFill>
                <a:latin typeface="Calibri" pitchFamily="34" charset="0"/>
                <a:ea typeface="Calibri" pitchFamily="34" charset="-122"/>
                <a:cs typeface="Calibri" pitchFamily="34" charset="-120"/>
              </a:rPr>
              <a:t>İnerken sürtünme yukarı yönlüdür: a = g·(sinθ − μ</a:t>
            </a:r>
            <a:pPr indent="0" marL="0">
              <a:lnSpc>
                <a:spcPct val="112000"/>
              </a:lnSpc>
              <a:buNone/>
            </a:pPr>
            <a:r>
              <a:rPr lang="en-US" sz="1500" baseline="-40000" dirty="0">
                <a:solidFill>
                  <a:srgbClr val="4A5470"/>
                </a:solidFill>
                <a:latin typeface="Calibri" pitchFamily="34" charset="0"/>
                <a:ea typeface="Calibri" pitchFamily="34" charset="-122"/>
                <a:cs typeface="Calibri" pitchFamily="34" charset="-120"/>
              </a:rPr>
              <a:t>k</a:t>
            </a:r>
            <a:pPr indent="0" marL="0">
              <a:lnSpc>
                <a:spcPct val="112000"/>
              </a:lnSpc>
              <a:buNone/>
            </a:pPr>
            <a:r>
              <a:rPr lang="en-US" sz="1500" dirty="0">
                <a:solidFill>
                  <a:srgbClr val="4A5470"/>
                </a:solidFill>
                <a:latin typeface="Calibri" pitchFamily="34" charset="0"/>
                <a:ea typeface="Calibri" pitchFamily="34" charset="-122"/>
                <a:cs typeface="Calibri" pitchFamily="34" charset="-120"/>
              </a:rPr>
              <a:t>·cosθ) = 10·(0,6 − 0,4) = 2 m/s²</a:t>
            </a:r>
            <a:endParaRPr lang="en-US" sz="1500" dirty="0"/>
          </a:p>
        </p:txBody>
      </p:sp>
      <p:sp>
        <p:nvSpPr>
          <p:cNvPr id="29" name="Shape 27"/>
          <p:cNvSpPr/>
          <p:nvPr/>
        </p:nvSpPr>
        <p:spPr>
          <a:xfrm>
            <a:off x="5212080" y="5567093"/>
            <a:ext cx="6339535" cy="577675"/>
          </a:xfrm>
          <a:prstGeom prst="roundRect">
            <a:avLst>
              <a:gd name="adj" fmla="val 2532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30" name="Shape 28"/>
          <p:cNvSpPr/>
          <p:nvPr/>
        </p:nvSpPr>
        <p:spPr>
          <a:xfrm>
            <a:off x="5449824" y="5663906"/>
            <a:ext cx="384048" cy="384048"/>
          </a:xfrm>
          <a:prstGeom prst="roundRect">
            <a:avLst>
              <a:gd name="adj" fmla="val 26000"/>
            </a:avLst>
          </a:prstGeom>
          <a:solidFill>
            <a:srgbClr val="A56209"/>
          </a:solidFill>
          <a:ln/>
        </p:spPr>
      </p:sp>
      <p:sp>
        <p:nvSpPr>
          <p:cNvPr id="31" name="Text 29"/>
          <p:cNvSpPr txBox="1"/>
          <p:nvPr/>
        </p:nvSpPr>
        <p:spPr>
          <a:xfrm>
            <a:off x="5449824" y="566390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5</a:t>
            </a:r>
            <a:endParaRPr lang="en-US" sz="1150" dirty="0"/>
          </a:p>
        </p:txBody>
      </p:sp>
      <p:sp>
        <p:nvSpPr>
          <p:cNvPr id="32" name="Text 30"/>
          <p:cNvSpPr txBox="1"/>
          <p:nvPr/>
        </p:nvSpPr>
        <p:spPr>
          <a:xfrm>
            <a:off x="5989320" y="5621957"/>
            <a:ext cx="5379415" cy="467947"/>
          </a:xfrm>
          <a:prstGeom prst="rect">
            <a:avLst/>
          </a:prstGeom>
          <a:noFill/>
          <a:ln/>
        </p:spPr>
        <p:txBody>
          <a:bodyPr wrap="square" lIns="0" tIns="0" rIns="0" bIns="0" rtlCol="0" anchor="ctr"/>
          <a:lstStyle/>
          <a:p>
            <a:pPr indent="0" marL="0">
              <a:lnSpc>
                <a:spcPct val="112000"/>
              </a:lnSpc>
              <a:buNone/>
            </a:pPr>
            <a:r>
              <a:rPr lang="en-US" sz="1500" b="1" dirty="0">
                <a:solidFill>
                  <a:srgbClr val="0E1426"/>
                </a:solidFill>
                <a:latin typeface="Calibri" pitchFamily="34" charset="0"/>
                <a:ea typeface="Calibri" pitchFamily="34" charset="-122"/>
                <a:cs typeface="Calibri" pitchFamily="34" charset="-120"/>
              </a:rPr>
              <a:t>(c)</a:t>
            </a:r>
            <a:pPr indent="0" marL="0">
              <a:lnSpc>
                <a:spcPct val="112000"/>
              </a:lnSpc>
              <a:buNone/>
            </a:pPr>
            <a:r>
              <a:rPr lang="en-US" sz="1500" dirty="0">
                <a:solidFill>
                  <a:srgbClr val="4A5470"/>
                </a:solidFill>
                <a:latin typeface="Calibri" pitchFamily="34" charset="0"/>
                <a:ea typeface="Calibri" pitchFamily="34" charset="-122"/>
                <a:cs typeface="Calibri" pitchFamily="34" charset="-120"/>
              </a:rPr>
              <a:t> v² = 2·a·d = 2 · 2 · 5 = 20 → v = √20 ≈ </a:t>
            </a:r>
            <a:pPr indent="0" marL="0">
              <a:lnSpc>
                <a:spcPct val="112000"/>
              </a:lnSpc>
              <a:buNone/>
            </a:pPr>
            <a:r>
              <a:rPr lang="en-US" sz="1500" b="1" dirty="0">
                <a:solidFill>
                  <a:srgbClr val="0E1426"/>
                </a:solidFill>
                <a:latin typeface="Calibri" pitchFamily="34" charset="0"/>
                <a:ea typeface="Calibri" pitchFamily="34" charset="-122"/>
                <a:cs typeface="Calibri" pitchFamily="34" charset="-120"/>
              </a:rPr>
              <a:t>4,5 m/s</a:t>
            </a:r>
            <a:endParaRPr lang="en-US" sz="1500" dirty="0"/>
          </a:p>
        </p:txBody>
      </p:sp>
      <p:sp>
        <p:nvSpPr>
          <p:cNvPr id="33" name="Shape 31"/>
          <p:cNvSpPr/>
          <p:nvPr/>
        </p:nvSpPr>
        <p:spPr>
          <a:xfrm>
            <a:off x="640080" y="6382512"/>
            <a:ext cx="128016" cy="128016"/>
          </a:xfrm>
          <a:prstGeom prst="roundRect">
            <a:avLst>
              <a:gd name="adj" fmla="val 28571"/>
            </a:avLst>
          </a:prstGeom>
          <a:solidFill>
            <a:srgbClr val="A9E648"/>
          </a:solidFill>
          <a:ln/>
        </p:spPr>
      </p:sp>
      <p:sp>
        <p:nvSpPr>
          <p:cNvPr id="34" name="Text 3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dersler.perinet.org/surtunme-kuvveti.html</a:t>
            </a:r>
            <a:endParaRPr lang="en-US" sz="1050" dirty="0"/>
          </a:p>
        </p:txBody>
      </p:sp>
      <p:sp>
        <p:nvSpPr>
          <p:cNvPr id="35" name="Text 3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42</a:t>
            </a:r>
            <a:endParaRPr lang="en-US" sz="10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C53455"/>
          </a:solidFill>
          <a:ln/>
          <a:effectLst>
            <a:outerShdw sx="100000" sy="100000" kx="0" ky="0" algn="bl" rotWithShape="0" blurRad="101600" dist="25400" dir="5400000">
              <a:srgbClr val="C53455">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Sık yapılan hatalar · 1 / 2</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6" name="Text 4"/>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Sınavda puan kaybettiren klasikler ve doğrusu.</a:t>
            </a:r>
            <a:endParaRPr lang="en-US" sz="1450" dirty="0"/>
          </a:p>
        </p:txBody>
      </p:sp>
      <p:sp>
        <p:nvSpPr>
          <p:cNvPr id="7" name="Shape 5"/>
          <p:cNvSpPr/>
          <p:nvPr/>
        </p:nvSpPr>
        <p:spPr>
          <a:xfrm>
            <a:off x="640080" y="1627632"/>
            <a:ext cx="5346040" cy="2185416"/>
          </a:xfrm>
          <a:prstGeom prst="roundRect">
            <a:avLst>
              <a:gd name="adj" fmla="val 669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841248" y="1773936"/>
            <a:ext cx="274320" cy="274320"/>
          </a:xfrm>
          <a:prstGeom prst="roundRect">
            <a:avLst>
              <a:gd name="adj" fmla="val 26667"/>
            </a:avLst>
          </a:prstGeom>
          <a:solidFill>
            <a:srgbClr val="FBE9EE"/>
          </a:solidFill>
          <a:ln/>
        </p:spPr>
      </p:sp>
      <p:sp>
        <p:nvSpPr>
          <p:cNvPr id="9" name="Text 7"/>
          <p:cNvSpPr txBox="1"/>
          <p:nvPr/>
        </p:nvSpPr>
        <p:spPr>
          <a:xfrm>
            <a:off x="841248" y="1773936"/>
            <a:ext cx="274320" cy="274320"/>
          </a:xfrm>
          <a:prstGeom prst="rect">
            <a:avLst/>
          </a:prstGeom>
          <a:noFill/>
          <a:ln/>
        </p:spPr>
        <p:txBody>
          <a:bodyPr wrap="square" lIns="0" tIns="0" rIns="0" bIns="0" rtlCol="0" anchor="ctr"/>
          <a:lstStyle/>
          <a:p>
            <a:pPr algn="ctr" indent="0" marL="0">
              <a:buNone/>
            </a:pPr>
            <a:r>
              <a:rPr lang="en-US" sz="1250" b="1" dirty="0">
                <a:solidFill>
                  <a:srgbClr val="C53455"/>
                </a:solidFill>
                <a:latin typeface="Calibri" pitchFamily="34" charset="0"/>
                <a:ea typeface="Calibri" pitchFamily="34" charset="-122"/>
                <a:cs typeface="Calibri" pitchFamily="34" charset="-120"/>
              </a:rPr>
              <a:t>✗</a:t>
            </a:r>
            <a:endParaRPr lang="en-US" sz="1250" dirty="0"/>
          </a:p>
        </p:txBody>
      </p:sp>
      <p:sp>
        <p:nvSpPr>
          <p:cNvPr id="10" name="Text 8"/>
          <p:cNvSpPr txBox="1"/>
          <p:nvPr/>
        </p:nvSpPr>
        <p:spPr>
          <a:xfrm>
            <a:off x="1225296" y="1746504"/>
            <a:ext cx="4559656" cy="335280"/>
          </a:xfrm>
          <a:prstGeom prst="rect">
            <a:avLst/>
          </a:prstGeom>
          <a:noFill/>
          <a:ln/>
        </p:spPr>
        <p:txBody>
          <a:bodyPr wrap="square" lIns="0" tIns="0" rIns="0" bIns="0" rtlCol="0" anchor="t"/>
          <a:lstStyle/>
          <a:p>
            <a:pPr indent="0" marL="0">
              <a:lnSpc>
                <a:spcPct val="108000"/>
              </a:lnSpc>
              <a:buNone/>
            </a:pPr>
            <a:r>
              <a:rPr lang="en-US" sz="1600" b="1" dirty="0">
                <a:solidFill>
                  <a:srgbClr val="0E1426"/>
                </a:solidFill>
                <a:latin typeface="Calibri" pitchFamily="34" charset="0"/>
                <a:ea typeface="Calibri" pitchFamily="34" charset="-122"/>
                <a:cs typeface="Calibri" pitchFamily="34" charset="-120"/>
              </a:rPr>
              <a:t>“Sürtünme her zaman hareketi engeller.”</a:t>
            </a:r>
            <a:endParaRPr lang="en-US" sz="1600" dirty="0"/>
          </a:p>
        </p:txBody>
      </p:sp>
      <p:sp>
        <p:nvSpPr>
          <p:cNvPr id="11" name="Shape 9"/>
          <p:cNvSpPr/>
          <p:nvPr/>
        </p:nvSpPr>
        <p:spPr>
          <a:xfrm>
            <a:off x="841248" y="2154936"/>
            <a:ext cx="274320" cy="274320"/>
          </a:xfrm>
          <a:prstGeom prst="roundRect">
            <a:avLst>
              <a:gd name="adj" fmla="val 26667"/>
            </a:avLst>
          </a:prstGeom>
          <a:solidFill>
            <a:srgbClr val="EAF7DC"/>
          </a:solidFill>
          <a:ln/>
        </p:spPr>
      </p:sp>
      <p:sp>
        <p:nvSpPr>
          <p:cNvPr id="12" name="Text 10"/>
          <p:cNvSpPr txBox="1"/>
          <p:nvPr/>
        </p:nvSpPr>
        <p:spPr>
          <a:xfrm>
            <a:off x="841248" y="2154936"/>
            <a:ext cx="274320" cy="274320"/>
          </a:xfrm>
          <a:prstGeom prst="rect">
            <a:avLst/>
          </a:prstGeom>
          <a:noFill/>
          <a:ln/>
        </p:spPr>
        <p:txBody>
          <a:bodyPr wrap="square" lIns="0" tIns="0" rIns="0" bIns="0" rtlCol="0" anchor="ctr"/>
          <a:lstStyle/>
          <a:p>
            <a:pPr algn="ctr" indent="0" marL="0">
              <a:buNone/>
            </a:pPr>
            <a:r>
              <a:rPr lang="en-US" sz="1250" b="1" dirty="0">
                <a:solidFill>
                  <a:srgbClr val="3C8C21"/>
                </a:solidFill>
                <a:latin typeface="Calibri" pitchFamily="34" charset="0"/>
                <a:ea typeface="Calibri" pitchFamily="34" charset="-122"/>
                <a:cs typeface="Calibri" pitchFamily="34" charset="-120"/>
              </a:rPr>
              <a:t>✓</a:t>
            </a:r>
            <a:endParaRPr lang="en-US" sz="1250" dirty="0"/>
          </a:p>
        </p:txBody>
      </p:sp>
      <p:sp>
        <p:nvSpPr>
          <p:cNvPr id="13" name="Text 11"/>
          <p:cNvSpPr txBox="1"/>
          <p:nvPr/>
        </p:nvSpPr>
        <p:spPr>
          <a:xfrm>
            <a:off x="1225296" y="2136648"/>
            <a:ext cx="4559656" cy="1566672"/>
          </a:xfrm>
          <a:prstGeom prst="rect">
            <a:avLst/>
          </a:prstGeom>
          <a:noFill/>
          <a:ln/>
        </p:spPr>
        <p:txBody>
          <a:bodyPr wrap="square" lIns="0" tIns="0" rIns="0" bIns="0" rtlCol="0" anchor="t"/>
          <a:lstStyle/>
          <a:p>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Sürtünme </a:t>
            </a:r>
            <a:pPr indent="0" marL="0">
              <a:lnSpc>
                <a:spcPct val="108000"/>
              </a:lnSpc>
              <a:buNone/>
            </a:pPr>
            <a:r>
              <a:rPr lang="en-US" sz="1500" i="1" dirty="0">
                <a:solidFill>
                  <a:srgbClr val="4A5470"/>
                </a:solidFill>
                <a:latin typeface="Calibri" pitchFamily="34" charset="0"/>
                <a:ea typeface="Calibri" pitchFamily="34" charset="-122"/>
                <a:cs typeface="Calibri" pitchFamily="34" charset="-120"/>
              </a:rPr>
              <a:t>bağıl kaymaya</a:t>
            </a:r>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zıttır; yürümeyi, frenlemeyi ve virajı dönmeyi sağlayan da odur.</a:t>
            </a:r>
            <a:endParaRPr lang="en-US" sz="1500" dirty="0"/>
          </a:p>
        </p:txBody>
      </p:sp>
      <p:sp>
        <p:nvSpPr>
          <p:cNvPr id="14" name="Shape 12"/>
          <p:cNvSpPr/>
          <p:nvPr/>
        </p:nvSpPr>
        <p:spPr>
          <a:xfrm>
            <a:off x="6205576" y="1627632"/>
            <a:ext cx="5346040" cy="2185416"/>
          </a:xfrm>
          <a:prstGeom prst="roundRect">
            <a:avLst>
              <a:gd name="adj" fmla="val 669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6406744" y="1773936"/>
            <a:ext cx="274320" cy="274320"/>
          </a:xfrm>
          <a:prstGeom prst="roundRect">
            <a:avLst>
              <a:gd name="adj" fmla="val 26667"/>
            </a:avLst>
          </a:prstGeom>
          <a:solidFill>
            <a:srgbClr val="FBE9EE"/>
          </a:solidFill>
          <a:ln/>
        </p:spPr>
      </p:sp>
      <p:sp>
        <p:nvSpPr>
          <p:cNvPr id="16" name="Text 14"/>
          <p:cNvSpPr txBox="1"/>
          <p:nvPr/>
        </p:nvSpPr>
        <p:spPr>
          <a:xfrm>
            <a:off x="6406744" y="1773936"/>
            <a:ext cx="274320" cy="274320"/>
          </a:xfrm>
          <a:prstGeom prst="rect">
            <a:avLst/>
          </a:prstGeom>
          <a:noFill/>
          <a:ln/>
        </p:spPr>
        <p:txBody>
          <a:bodyPr wrap="square" lIns="0" tIns="0" rIns="0" bIns="0" rtlCol="0" anchor="ctr"/>
          <a:lstStyle/>
          <a:p>
            <a:pPr algn="ctr" indent="0" marL="0">
              <a:buNone/>
            </a:pPr>
            <a:r>
              <a:rPr lang="en-US" sz="1250" b="1" dirty="0">
                <a:solidFill>
                  <a:srgbClr val="C53455"/>
                </a:solidFill>
                <a:latin typeface="Calibri" pitchFamily="34" charset="0"/>
                <a:ea typeface="Calibri" pitchFamily="34" charset="-122"/>
                <a:cs typeface="Calibri" pitchFamily="34" charset="-120"/>
              </a:rPr>
              <a:t>✗</a:t>
            </a:r>
            <a:endParaRPr lang="en-US" sz="1250" dirty="0"/>
          </a:p>
        </p:txBody>
      </p:sp>
      <p:sp>
        <p:nvSpPr>
          <p:cNvPr id="17" name="Text 15"/>
          <p:cNvSpPr txBox="1"/>
          <p:nvPr/>
        </p:nvSpPr>
        <p:spPr>
          <a:xfrm>
            <a:off x="6790792" y="1746504"/>
            <a:ext cx="4559656" cy="335280"/>
          </a:xfrm>
          <a:prstGeom prst="rect">
            <a:avLst/>
          </a:prstGeom>
          <a:noFill/>
          <a:ln/>
        </p:spPr>
        <p:txBody>
          <a:bodyPr wrap="square" lIns="0" tIns="0" rIns="0" bIns="0" rtlCol="0" anchor="t"/>
          <a:lstStyle/>
          <a:p>
            <a:pPr indent="0" marL="0">
              <a:lnSpc>
                <a:spcPct val="108000"/>
              </a:lnSpc>
              <a:buNone/>
            </a:pPr>
            <a:r>
              <a:rPr lang="en-US" sz="1600" b="1" dirty="0">
                <a:solidFill>
                  <a:srgbClr val="0E1426"/>
                </a:solidFill>
                <a:latin typeface="Calibri" pitchFamily="34" charset="0"/>
                <a:ea typeface="Calibri" pitchFamily="34" charset="-122"/>
                <a:cs typeface="Calibri" pitchFamily="34" charset="-120"/>
              </a:rPr>
              <a:t>“f = μ·N her durumda geçerlidir.”</a:t>
            </a:r>
            <a:endParaRPr lang="en-US" sz="1600" dirty="0"/>
          </a:p>
        </p:txBody>
      </p:sp>
      <p:sp>
        <p:nvSpPr>
          <p:cNvPr id="18" name="Shape 16"/>
          <p:cNvSpPr/>
          <p:nvPr/>
        </p:nvSpPr>
        <p:spPr>
          <a:xfrm>
            <a:off x="6406744" y="2154936"/>
            <a:ext cx="274320" cy="274320"/>
          </a:xfrm>
          <a:prstGeom prst="roundRect">
            <a:avLst>
              <a:gd name="adj" fmla="val 26667"/>
            </a:avLst>
          </a:prstGeom>
          <a:solidFill>
            <a:srgbClr val="EAF7DC"/>
          </a:solidFill>
          <a:ln/>
        </p:spPr>
      </p:sp>
      <p:sp>
        <p:nvSpPr>
          <p:cNvPr id="19" name="Text 17"/>
          <p:cNvSpPr txBox="1"/>
          <p:nvPr/>
        </p:nvSpPr>
        <p:spPr>
          <a:xfrm>
            <a:off x="6406744" y="2154936"/>
            <a:ext cx="274320" cy="274320"/>
          </a:xfrm>
          <a:prstGeom prst="rect">
            <a:avLst/>
          </a:prstGeom>
          <a:noFill/>
          <a:ln/>
        </p:spPr>
        <p:txBody>
          <a:bodyPr wrap="square" lIns="0" tIns="0" rIns="0" bIns="0" rtlCol="0" anchor="ctr"/>
          <a:lstStyle/>
          <a:p>
            <a:pPr algn="ctr" indent="0" marL="0">
              <a:buNone/>
            </a:pPr>
            <a:r>
              <a:rPr lang="en-US" sz="1250" b="1" dirty="0">
                <a:solidFill>
                  <a:srgbClr val="3C8C21"/>
                </a:solidFill>
                <a:latin typeface="Calibri" pitchFamily="34" charset="0"/>
                <a:ea typeface="Calibri" pitchFamily="34" charset="-122"/>
                <a:cs typeface="Calibri" pitchFamily="34" charset="-120"/>
              </a:rPr>
              <a:t>✓</a:t>
            </a:r>
            <a:endParaRPr lang="en-US" sz="1250" dirty="0"/>
          </a:p>
        </p:txBody>
      </p:sp>
      <p:sp>
        <p:nvSpPr>
          <p:cNvPr id="20" name="Text 18"/>
          <p:cNvSpPr txBox="1"/>
          <p:nvPr/>
        </p:nvSpPr>
        <p:spPr>
          <a:xfrm>
            <a:off x="6790792" y="2136648"/>
            <a:ext cx="4559656" cy="1566672"/>
          </a:xfrm>
          <a:prstGeom prst="rect">
            <a:avLst/>
          </a:prstGeom>
          <a:noFill/>
          <a:ln/>
        </p:spPr>
        <p:txBody>
          <a:bodyPr wrap="square" lIns="0" tIns="0" rIns="0" bIns="0" rtlCol="0" anchor="t"/>
          <a:lstStyle/>
          <a:p>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Statik durumda f, uygulanan kuvvete eşittir; μ</a:t>
            </a:r>
            <a:pPr indent="0" marL="0">
              <a:lnSpc>
                <a:spcPct val="108000"/>
              </a:lnSpc>
              <a:buNone/>
            </a:pPr>
            <a:r>
              <a:rPr lang="en-US" sz="1500" baseline="-40000" dirty="0">
                <a:solidFill>
                  <a:srgbClr val="4A5470"/>
                </a:solidFill>
                <a:latin typeface="Calibri" pitchFamily="34" charset="0"/>
                <a:ea typeface="Calibri" pitchFamily="34" charset="-122"/>
                <a:cs typeface="Calibri" pitchFamily="34" charset="-120"/>
              </a:rPr>
              <a:t>s</a:t>
            </a:r>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·N yalnızca </a:t>
            </a:r>
            <a:pPr indent="0" marL="0">
              <a:lnSpc>
                <a:spcPct val="108000"/>
              </a:lnSpc>
              <a:buNone/>
            </a:pPr>
            <a:r>
              <a:rPr lang="en-US" sz="1500" i="1" dirty="0">
                <a:solidFill>
                  <a:srgbClr val="4A5470"/>
                </a:solidFill>
                <a:latin typeface="Calibri" pitchFamily="34" charset="0"/>
                <a:ea typeface="Calibri" pitchFamily="34" charset="-122"/>
                <a:cs typeface="Calibri" pitchFamily="34" charset="-120"/>
              </a:rPr>
              <a:t>üst sınırdır</a:t>
            </a:r>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a:t>
            </a:r>
            <a:endParaRPr lang="en-US" sz="1500" dirty="0"/>
          </a:p>
        </p:txBody>
      </p:sp>
      <p:sp>
        <p:nvSpPr>
          <p:cNvPr id="21" name="Shape 19"/>
          <p:cNvSpPr/>
          <p:nvPr/>
        </p:nvSpPr>
        <p:spPr>
          <a:xfrm>
            <a:off x="640080" y="3959352"/>
            <a:ext cx="5346040" cy="2185416"/>
          </a:xfrm>
          <a:prstGeom prst="roundRect">
            <a:avLst>
              <a:gd name="adj" fmla="val 669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841248" y="4105656"/>
            <a:ext cx="274320" cy="274320"/>
          </a:xfrm>
          <a:prstGeom prst="roundRect">
            <a:avLst>
              <a:gd name="adj" fmla="val 26667"/>
            </a:avLst>
          </a:prstGeom>
          <a:solidFill>
            <a:srgbClr val="FBE9EE"/>
          </a:solidFill>
          <a:ln/>
        </p:spPr>
      </p:sp>
      <p:sp>
        <p:nvSpPr>
          <p:cNvPr id="23" name="Text 21"/>
          <p:cNvSpPr txBox="1"/>
          <p:nvPr/>
        </p:nvSpPr>
        <p:spPr>
          <a:xfrm>
            <a:off x="841248" y="4105656"/>
            <a:ext cx="274320" cy="274320"/>
          </a:xfrm>
          <a:prstGeom prst="rect">
            <a:avLst/>
          </a:prstGeom>
          <a:noFill/>
          <a:ln/>
        </p:spPr>
        <p:txBody>
          <a:bodyPr wrap="square" lIns="0" tIns="0" rIns="0" bIns="0" rtlCol="0" anchor="ctr"/>
          <a:lstStyle/>
          <a:p>
            <a:pPr algn="ctr" indent="0" marL="0">
              <a:buNone/>
            </a:pPr>
            <a:r>
              <a:rPr lang="en-US" sz="1250" b="1" dirty="0">
                <a:solidFill>
                  <a:srgbClr val="C53455"/>
                </a:solidFill>
                <a:latin typeface="Calibri" pitchFamily="34" charset="0"/>
                <a:ea typeface="Calibri" pitchFamily="34" charset="-122"/>
                <a:cs typeface="Calibri" pitchFamily="34" charset="-120"/>
              </a:rPr>
              <a:t>✗</a:t>
            </a:r>
            <a:endParaRPr lang="en-US" sz="1250" dirty="0"/>
          </a:p>
        </p:txBody>
      </p:sp>
      <p:sp>
        <p:nvSpPr>
          <p:cNvPr id="24" name="Text 22"/>
          <p:cNvSpPr txBox="1"/>
          <p:nvPr/>
        </p:nvSpPr>
        <p:spPr>
          <a:xfrm>
            <a:off x="1225296" y="4078224"/>
            <a:ext cx="4559656" cy="335280"/>
          </a:xfrm>
          <a:prstGeom prst="rect">
            <a:avLst/>
          </a:prstGeom>
          <a:noFill/>
          <a:ln/>
        </p:spPr>
        <p:txBody>
          <a:bodyPr wrap="square" lIns="0" tIns="0" rIns="0" bIns="0" rtlCol="0" anchor="t"/>
          <a:lstStyle/>
          <a:p>
            <a:pPr indent="0" marL="0">
              <a:lnSpc>
                <a:spcPct val="108000"/>
              </a:lnSpc>
              <a:buNone/>
            </a:pPr>
            <a:r>
              <a:rPr lang="en-US" sz="1600" b="1" dirty="0">
                <a:solidFill>
                  <a:srgbClr val="0E1426"/>
                </a:solidFill>
                <a:latin typeface="Calibri" pitchFamily="34" charset="0"/>
                <a:ea typeface="Calibri" pitchFamily="34" charset="-122"/>
                <a:cs typeface="Calibri" pitchFamily="34" charset="-120"/>
              </a:rPr>
              <a:t>“Temas alanı büyükse sürtünme büyüktür.”</a:t>
            </a:r>
            <a:endParaRPr lang="en-US" sz="1600" dirty="0"/>
          </a:p>
        </p:txBody>
      </p:sp>
      <p:sp>
        <p:nvSpPr>
          <p:cNvPr id="25" name="Shape 23"/>
          <p:cNvSpPr/>
          <p:nvPr/>
        </p:nvSpPr>
        <p:spPr>
          <a:xfrm>
            <a:off x="841248" y="4486656"/>
            <a:ext cx="274320" cy="274320"/>
          </a:xfrm>
          <a:prstGeom prst="roundRect">
            <a:avLst>
              <a:gd name="adj" fmla="val 26667"/>
            </a:avLst>
          </a:prstGeom>
          <a:solidFill>
            <a:srgbClr val="EAF7DC"/>
          </a:solidFill>
          <a:ln/>
        </p:spPr>
      </p:sp>
      <p:sp>
        <p:nvSpPr>
          <p:cNvPr id="26" name="Text 24"/>
          <p:cNvSpPr txBox="1"/>
          <p:nvPr/>
        </p:nvSpPr>
        <p:spPr>
          <a:xfrm>
            <a:off x="841248" y="4486656"/>
            <a:ext cx="274320" cy="274320"/>
          </a:xfrm>
          <a:prstGeom prst="rect">
            <a:avLst/>
          </a:prstGeom>
          <a:noFill/>
          <a:ln/>
        </p:spPr>
        <p:txBody>
          <a:bodyPr wrap="square" lIns="0" tIns="0" rIns="0" bIns="0" rtlCol="0" anchor="ctr"/>
          <a:lstStyle/>
          <a:p>
            <a:pPr algn="ctr" indent="0" marL="0">
              <a:buNone/>
            </a:pPr>
            <a:r>
              <a:rPr lang="en-US" sz="1250" b="1" dirty="0">
                <a:solidFill>
                  <a:srgbClr val="3C8C21"/>
                </a:solidFill>
                <a:latin typeface="Calibri" pitchFamily="34" charset="0"/>
                <a:ea typeface="Calibri" pitchFamily="34" charset="-122"/>
                <a:cs typeface="Calibri" pitchFamily="34" charset="-120"/>
              </a:rPr>
              <a:t>✓</a:t>
            </a:r>
            <a:endParaRPr lang="en-US" sz="1250" dirty="0"/>
          </a:p>
        </p:txBody>
      </p:sp>
      <p:sp>
        <p:nvSpPr>
          <p:cNvPr id="27" name="Text 25"/>
          <p:cNvSpPr txBox="1"/>
          <p:nvPr/>
        </p:nvSpPr>
        <p:spPr>
          <a:xfrm>
            <a:off x="1225296" y="4468368"/>
            <a:ext cx="4559656" cy="1566672"/>
          </a:xfrm>
          <a:prstGeom prst="rect">
            <a:avLst/>
          </a:prstGeom>
          <a:noFill/>
          <a:ln/>
        </p:spPr>
        <p:txBody>
          <a:bodyPr wrap="square" lIns="0" tIns="0" rIns="0" bIns="0" rtlCol="0" anchor="t"/>
          <a:lstStyle/>
          <a:p>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Alan bağıntıda yoktur.</a:t>
            </a:r>
            <a:endParaRPr lang="en-US" sz="1500" dirty="0"/>
          </a:p>
        </p:txBody>
      </p:sp>
      <p:sp>
        <p:nvSpPr>
          <p:cNvPr id="28" name="Shape 26"/>
          <p:cNvSpPr/>
          <p:nvPr/>
        </p:nvSpPr>
        <p:spPr>
          <a:xfrm>
            <a:off x="6205576" y="3959352"/>
            <a:ext cx="5346040" cy="2185416"/>
          </a:xfrm>
          <a:prstGeom prst="roundRect">
            <a:avLst>
              <a:gd name="adj" fmla="val 669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9" name="Shape 27"/>
          <p:cNvSpPr/>
          <p:nvPr/>
        </p:nvSpPr>
        <p:spPr>
          <a:xfrm>
            <a:off x="6406744" y="4105656"/>
            <a:ext cx="274320" cy="274320"/>
          </a:xfrm>
          <a:prstGeom prst="roundRect">
            <a:avLst>
              <a:gd name="adj" fmla="val 26667"/>
            </a:avLst>
          </a:prstGeom>
          <a:solidFill>
            <a:srgbClr val="FBE9EE"/>
          </a:solidFill>
          <a:ln/>
        </p:spPr>
      </p:sp>
      <p:sp>
        <p:nvSpPr>
          <p:cNvPr id="30" name="Text 28"/>
          <p:cNvSpPr txBox="1"/>
          <p:nvPr/>
        </p:nvSpPr>
        <p:spPr>
          <a:xfrm>
            <a:off x="6406744" y="4105656"/>
            <a:ext cx="274320" cy="274320"/>
          </a:xfrm>
          <a:prstGeom prst="rect">
            <a:avLst/>
          </a:prstGeom>
          <a:noFill/>
          <a:ln/>
        </p:spPr>
        <p:txBody>
          <a:bodyPr wrap="square" lIns="0" tIns="0" rIns="0" bIns="0" rtlCol="0" anchor="ctr"/>
          <a:lstStyle/>
          <a:p>
            <a:pPr algn="ctr" indent="0" marL="0">
              <a:buNone/>
            </a:pPr>
            <a:r>
              <a:rPr lang="en-US" sz="1250" b="1" dirty="0">
                <a:solidFill>
                  <a:srgbClr val="C53455"/>
                </a:solidFill>
                <a:latin typeface="Calibri" pitchFamily="34" charset="0"/>
                <a:ea typeface="Calibri" pitchFamily="34" charset="-122"/>
                <a:cs typeface="Calibri" pitchFamily="34" charset="-120"/>
              </a:rPr>
              <a:t>✗</a:t>
            </a:r>
            <a:endParaRPr lang="en-US" sz="1250" dirty="0"/>
          </a:p>
        </p:txBody>
      </p:sp>
      <p:sp>
        <p:nvSpPr>
          <p:cNvPr id="31" name="Text 29"/>
          <p:cNvSpPr txBox="1"/>
          <p:nvPr/>
        </p:nvSpPr>
        <p:spPr>
          <a:xfrm>
            <a:off x="6790792" y="4078224"/>
            <a:ext cx="4559656" cy="335280"/>
          </a:xfrm>
          <a:prstGeom prst="rect">
            <a:avLst/>
          </a:prstGeom>
          <a:noFill/>
          <a:ln/>
        </p:spPr>
        <p:txBody>
          <a:bodyPr wrap="square" lIns="0" tIns="0" rIns="0" bIns="0" rtlCol="0" anchor="t"/>
          <a:lstStyle/>
          <a:p>
            <a:pPr indent="0" marL="0">
              <a:lnSpc>
                <a:spcPct val="108000"/>
              </a:lnSpc>
              <a:buNone/>
            </a:pPr>
            <a:r>
              <a:rPr lang="en-US" sz="1600" b="1" dirty="0">
                <a:solidFill>
                  <a:srgbClr val="0E1426"/>
                </a:solidFill>
                <a:latin typeface="Calibri" pitchFamily="34" charset="0"/>
                <a:ea typeface="Calibri" pitchFamily="34" charset="-122"/>
                <a:cs typeface="Calibri" pitchFamily="34" charset="-120"/>
              </a:rPr>
              <a:t>“Kinetik sürtünme hızla artar.”</a:t>
            </a:r>
            <a:endParaRPr lang="en-US" sz="1600" dirty="0"/>
          </a:p>
        </p:txBody>
      </p:sp>
      <p:sp>
        <p:nvSpPr>
          <p:cNvPr id="32" name="Shape 30"/>
          <p:cNvSpPr/>
          <p:nvPr/>
        </p:nvSpPr>
        <p:spPr>
          <a:xfrm>
            <a:off x="6406744" y="4486656"/>
            <a:ext cx="274320" cy="274320"/>
          </a:xfrm>
          <a:prstGeom prst="roundRect">
            <a:avLst>
              <a:gd name="adj" fmla="val 26667"/>
            </a:avLst>
          </a:prstGeom>
          <a:solidFill>
            <a:srgbClr val="EAF7DC"/>
          </a:solidFill>
          <a:ln/>
        </p:spPr>
      </p:sp>
      <p:sp>
        <p:nvSpPr>
          <p:cNvPr id="33" name="Text 31"/>
          <p:cNvSpPr txBox="1"/>
          <p:nvPr/>
        </p:nvSpPr>
        <p:spPr>
          <a:xfrm>
            <a:off x="6406744" y="4486656"/>
            <a:ext cx="274320" cy="274320"/>
          </a:xfrm>
          <a:prstGeom prst="rect">
            <a:avLst/>
          </a:prstGeom>
          <a:noFill/>
          <a:ln/>
        </p:spPr>
        <p:txBody>
          <a:bodyPr wrap="square" lIns="0" tIns="0" rIns="0" bIns="0" rtlCol="0" anchor="ctr"/>
          <a:lstStyle/>
          <a:p>
            <a:pPr algn="ctr" indent="0" marL="0">
              <a:buNone/>
            </a:pPr>
            <a:r>
              <a:rPr lang="en-US" sz="1250" b="1" dirty="0">
                <a:solidFill>
                  <a:srgbClr val="3C8C21"/>
                </a:solidFill>
                <a:latin typeface="Calibri" pitchFamily="34" charset="0"/>
                <a:ea typeface="Calibri" pitchFamily="34" charset="-122"/>
                <a:cs typeface="Calibri" pitchFamily="34" charset="-120"/>
              </a:rPr>
              <a:t>✓</a:t>
            </a:r>
            <a:endParaRPr lang="en-US" sz="1250" dirty="0"/>
          </a:p>
        </p:txBody>
      </p:sp>
      <p:sp>
        <p:nvSpPr>
          <p:cNvPr id="34" name="Text 32"/>
          <p:cNvSpPr txBox="1"/>
          <p:nvPr/>
        </p:nvSpPr>
        <p:spPr>
          <a:xfrm>
            <a:off x="6790792" y="4468368"/>
            <a:ext cx="4559656" cy="1566672"/>
          </a:xfrm>
          <a:prstGeom prst="rect">
            <a:avLst/>
          </a:prstGeom>
          <a:noFill/>
          <a:ln/>
        </p:spPr>
        <p:txBody>
          <a:bodyPr wrap="square" lIns="0" tIns="0" rIns="0" bIns="0" rtlCol="0" anchor="t"/>
          <a:lstStyle/>
          <a:p>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Yaklaşık olarak sabittir; hızla artan kuvvet hava direncidir (bkz. Konu 05).</a:t>
            </a:r>
            <a:endParaRPr lang="en-US" sz="1500" dirty="0"/>
          </a:p>
        </p:txBody>
      </p:sp>
      <p:sp>
        <p:nvSpPr>
          <p:cNvPr id="35" name="Shape 33"/>
          <p:cNvSpPr/>
          <p:nvPr/>
        </p:nvSpPr>
        <p:spPr>
          <a:xfrm>
            <a:off x="640080" y="6382512"/>
            <a:ext cx="128016" cy="128016"/>
          </a:xfrm>
          <a:prstGeom prst="roundRect">
            <a:avLst>
              <a:gd name="adj" fmla="val 28571"/>
            </a:avLst>
          </a:prstGeom>
          <a:solidFill>
            <a:srgbClr val="A9E648"/>
          </a:solidFill>
          <a:ln/>
        </p:spPr>
      </p:sp>
      <p:sp>
        <p:nvSpPr>
          <p:cNvPr id="36" name="Text 34"/>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dersler.perinet.org/surtunme-kuvveti.html</a:t>
            </a:r>
            <a:endParaRPr lang="en-US" sz="1050" dirty="0"/>
          </a:p>
        </p:txBody>
      </p:sp>
      <p:sp>
        <p:nvSpPr>
          <p:cNvPr id="37" name="Text 35"/>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43</a:t>
            </a:r>
            <a:endParaRPr lang="en-US" sz="10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C53455"/>
          </a:solidFill>
          <a:ln/>
          <a:effectLst>
            <a:outerShdw sx="100000" sy="100000" kx="0" ky="0" algn="bl" rotWithShape="0" blurRad="101600" dist="25400" dir="5400000">
              <a:srgbClr val="C53455">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Sık yapılan hatalar · 2 / 2</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6" name="Text 4"/>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Sınavda puan kaybettiren klasikler ve doğrusu.</a:t>
            </a:r>
            <a:endParaRPr lang="en-US" sz="1450" dirty="0"/>
          </a:p>
        </p:txBody>
      </p:sp>
      <p:sp>
        <p:nvSpPr>
          <p:cNvPr id="7" name="Shape 5"/>
          <p:cNvSpPr/>
          <p:nvPr/>
        </p:nvSpPr>
        <p:spPr>
          <a:xfrm>
            <a:off x="640080" y="1627632"/>
            <a:ext cx="5346040" cy="2185416"/>
          </a:xfrm>
          <a:prstGeom prst="roundRect">
            <a:avLst>
              <a:gd name="adj" fmla="val 669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841248" y="1773936"/>
            <a:ext cx="274320" cy="274320"/>
          </a:xfrm>
          <a:prstGeom prst="roundRect">
            <a:avLst>
              <a:gd name="adj" fmla="val 26667"/>
            </a:avLst>
          </a:prstGeom>
          <a:solidFill>
            <a:srgbClr val="FBE9EE"/>
          </a:solidFill>
          <a:ln/>
        </p:spPr>
      </p:sp>
      <p:sp>
        <p:nvSpPr>
          <p:cNvPr id="9" name="Text 7"/>
          <p:cNvSpPr txBox="1"/>
          <p:nvPr/>
        </p:nvSpPr>
        <p:spPr>
          <a:xfrm>
            <a:off x="841248" y="1773936"/>
            <a:ext cx="274320" cy="274320"/>
          </a:xfrm>
          <a:prstGeom prst="rect">
            <a:avLst/>
          </a:prstGeom>
          <a:noFill/>
          <a:ln/>
        </p:spPr>
        <p:txBody>
          <a:bodyPr wrap="square" lIns="0" tIns="0" rIns="0" bIns="0" rtlCol="0" anchor="ctr"/>
          <a:lstStyle/>
          <a:p>
            <a:pPr algn="ctr" indent="0" marL="0">
              <a:buNone/>
            </a:pPr>
            <a:r>
              <a:rPr lang="en-US" sz="1250" b="1" dirty="0">
                <a:solidFill>
                  <a:srgbClr val="C53455"/>
                </a:solidFill>
                <a:latin typeface="Calibri" pitchFamily="34" charset="0"/>
                <a:ea typeface="Calibri" pitchFamily="34" charset="-122"/>
                <a:cs typeface="Calibri" pitchFamily="34" charset="-120"/>
              </a:rPr>
              <a:t>✗</a:t>
            </a:r>
            <a:endParaRPr lang="en-US" sz="1250" dirty="0"/>
          </a:p>
        </p:txBody>
      </p:sp>
      <p:sp>
        <p:nvSpPr>
          <p:cNvPr id="10" name="Text 8"/>
          <p:cNvSpPr txBox="1"/>
          <p:nvPr/>
        </p:nvSpPr>
        <p:spPr>
          <a:xfrm>
            <a:off x="1225296" y="1746504"/>
            <a:ext cx="4559656" cy="335280"/>
          </a:xfrm>
          <a:prstGeom prst="rect">
            <a:avLst/>
          </a:prstGeom>
          <a:noFill/>
          <a:ln/>
        </p:spPr>
        <p:txBody>
          <a:bodyPr wrap="square" lIns="0" tIns="0" rIns="0" bIns="0" rtlCol="0" anchor="t"/>
          <a:lstStyle/>
          <a:p>
            <a:pPr indent="0" marL="0">
              <a:lnSpc>
                <a:spcPct val="108000"/>
              </a:lnSpc>
              <a:buNone/>
            </a:pPr>
            <a:r>
              <a:rPr lang="en-US" sz="1600" b="1" dirty="0">
                <a:solidFill>
                  <a:srgbClr val="0E1426"/>
                </a:solidFill>
                <a:latin typeface="Calibri" pitchFamily="34" charset="0"/>
                <a:ea typeface="Calibri" pitchFamily="34" charset="-122"/>
                <a:cs typeface="Calibri" pitchFamily="34" charset="-120"/>
              </a:rPr>
              <a:t>“N her zaman m·g'dir.”</a:t>
            </a:r>
            <a:endParaRPr lang="en-US" sz="1600" dirty="0"/>
          </a:p>
        </p:txBody>
      </p:sp>
      <p:sp>
        <p:nvSpPr>
          <p:cNvPr id="11" name="Shape 9"/>
          <p:cNvSpPr/>
          <p:nvPr/>
        </p:nvSpPr>
        <p:spPr>
          <a:xfrm>
            <a:off x="841248" y="2154936"/>
            <a:ext cx="274320" cy="274320"/>
          </a:xfrm>
          <a:prstGeom prst="roundRect">
            <a:avLst>
              <a:gd name="adj" fmla="val 26667"/>
            </a:avLst>
          </a:prstGeom>
          <a:solidFill>
            <a:srgbClr val="EAF7DC"/>
          </a:solidFill>
          <a:ln/>
        </p:spPr>
      </p:sp>
      <p:sp>
        <p:nvSpPr>
          <p:cNvPr id="12" name="Text 10"/>
          <p:cNvSpPr txBox="1"/>
          <p:nvPr/>
        </p:nvSpPr>
        <p:spPr>
          <a:xfrm>
            <a:off x="841248" y="2154936"/>
            <a:ext cx="274320" cy="274320"/>
          </a:xfrm>
          <a:prstGeom prst="rect">
            <a:avLst/>
          </a:prstGeom>
          <a:noFill/>
          <a:ln/>
        </p:spPr>
        <p:txBody>
          <a:bodyPr wrap="square" lIns="0" tIns="0" rIns="0" bIns="0" rtlCol="0" anchor="ctr"/>
          <a:lstStyle/>
          <a:p>
            <a:pPr algn="ctr" indent="0" marL="0">
              <a:buNone/>
            </a:pPr>
            <a:r>
              <a:rPr lang="en-US" sz="1250" b="1" dirty="0">
                <a:solidFill>
                  <a:srgbClr val="3C8C21"/>
                </a:solidFill>
                <a:latin typeface="Calibri" pitchFamily="34" charset="0"/>
                <a:ea typeface="Calibri" pitchFamily="34" charset="-122"/>
                <a:cs typeface="Calibri" pitchFamily="34" charset="-120"/>
              </a:rPr>
              <a:t>✓</a:t>
            </a:r>
            <a:endParaRPr lang="en-US" sz="1250" dirty="0"/>
          </a:p>
        </p:txBody>
      </p:sp>
      <p:sp>
        <p:nvSpPr>
          <p:cNvPr id="13" name="Text 11"/>
          <p:cNvSpPr txBox="1"/>
          <p:nvPr/>
        </p:nvSpPr>
        <p:spPr>
          <a:xfrm>
            <a:off x="1225296" y="2136648"/>
            <a:ext cx="4559656" cy="1566672"/>
          </a:xfrm>
          <a:prstGeom prst="rect">
            <a:avLst/>
          </a:prstGeom>
          <a:noFill/>
          <a:ln/>
        </p:spPr>
        <p:txBody>
          <a:bodyPr wrap="square" lIns="0" tIns="0" rIns="0" bIns="0" rtlCol="0" anchor="t"/>
          <a:lstStyle/>
          <a:p>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Eğik düzlemde N = m·g·cosθ; eğik bir kuvvet uygulandığında ya da asansörde de değişir.</a:t>
            </a:r>
            <a:endParaRPr lang="en-US" sz="1500" dirty="0"/>
          </a:p>
        </p:txBody>
      </p:sp>
      <p:sp>
        <p:nvSpPr>
          <p:cNvPr id="14" name="Shape 12"/>
          <p:cNvSpPr/>
          <p:nvPr/>
        </p:nvSpPr>
        <p:spPr>
          <a:xfrm>
            <a:off x="6205576" y="1627632"/>
            <a:ext cx="5346040" cy="2185416"/>
          </a:xfrm>
          <a:prstGeom prst="roundRect">
            <a:avLst>
              <a:gd name="adj" fmla="val 669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6406744" y="1773936"/>
            <a:ext cx="274320" cy="274320"/>
          </a:xfrm>
          <a:prstGeom prst="roundRect">
            <a:avLst>
              <a:gd name="adj" fmla="val 26667"/>
            </a:avLst>
          </a:prstGeom>
          <a:solidFill>
            <a:srgbClr val="FBE9EE"/>
          </a:solidFill>
          <a:ln/>
        </p:spPr>
      </p:sp>
      <p:sp>
        <p:nvSpPr>
          <p:cNvPr id="16" name="Text 14"/>
          <p:cNvSpPr txBox="1"/>
          <p:nvPr/>
        </p:nvSpPr>
        <p:spPr>
          <a:xfrm>
            <a:off x="6406744" y="1773936"/>
            <a:ext cx="274320" cy="274320"/>
          </a:xfrm>
          <a:prstGeom prst="rect">
            <a:avLst/>
          </a:prstGeom>
          <a:noFill/>
          <a:ln/>
        </p:spPr>
        <p:txBody>
          <a:bodyPr wrap="square" lIns="0" tIns="0" rIns="0" bIns="0" rtlCol="0" anchor="ctr"/>
          <a:lstStyle/>
          <a:p>
            <a:pPr algn="ctr" indent="0" marL="0">
              <a:buNone/>
            </a:pPr>
            <a:r>
              <a:rPr lang="en-US" sz="1250" b="1" dirty="0">
                <a:solidFill>
                  <a:srgbClr val="C53455"/>
                </a:solidFill>
                <a:latin typeface="Calibri" pitchFamily="34" charset="0"/>
                <a:ea typeface="Calibri" pitchFamily="34" charset="-122"/>
                <a:cs typeface="Calibri" pitchFamily="34" charset="-120"/>
              </a:rPr>
              <a:t>✗</a:t>
            </a:r>
            <a:endParaRPr lang="en-US" sz="1250" dirty="0"/>
          </a:p>
        </p:txBody>
      </p:sp>
      <p:sp>
        <p:nvSpPr>
          <p:cNvPr id="17" name="Text 15"/>
          <p:cNvSpPr txBox="1"/>
          <p:nvPr/>
        </p:nvSpPr>
        <p:spPr>
          <a:xfrm>
            <a:off x="6790792" y="1746504"/>
            <a:ext cx="4559656" cy="615696"/>
          </a:xfrm>
          <a:prstGeom prst="rect">
            <a:avLst/>
          </a:prstGeom>
          <a:noFill/>
          <a:ln/>
        </p:spPr>
        <p:txBody>
          <a:bodyPr wrap="square" lIns="0" tIns="0" rIns="0" bIns="0" rtlCol="0" anchor="t"/>
          <a:lstStyle/>
          <a:p>
            <a:pPr indent="0" marL="0">
              <a:lnSpc>
                <a:spcPct val="108000"/>
              </a:lnSpc>
              <a:buNone/>
            </a:pPr>
            <a:r>
              <a:rPr lang="en-US" sz="1600" b="1" dirty="0">
                <a:solidFill>
                  <a:srgbClr val="0E1426"/>
                </a:solidFill>
                <a:latin typeface="Calibri" pitchFamily="34" charset="0"/>
                <a:ea typeface="Calibri" pitchFamily="34" charset="-122"/>
                <a:cs typeface="Calibri" pitchFamily="34" charset="-120"/>
              </a:rPr>
              <a:t>“Ağır cisim eğik düzlemde daha geç kayar.”</a:t>
            </a:r>
            <a:endParaRPr lang="en-US" sz="1600" dirty="0"/>
          </a:p>
        </p:txBody>
      </p:sp>
      <p:sp>
        <p:nvSpPr>
          <p:cNvPr id="18" name="Shape 16"/>
          <p:cNvSpPr/>
          <p:nvPr/>
        </p:nvSpPr>
        <p:spPr>
          <a:xfrm>
            <a:off x="6406744" y="2435352"/>
            <a:ext cx="274320" cy="274320"/>
          </a:xfrm>
          <a:prstGeom prst="roundRect">
            <a:avLst>
              <a:gd name="adj" fmla="val 26667"/>
            </a:avLst>
          </a:prstGeom>
          <a:solidFill>
            <a:srgbClr val="EAF7DC"/>
          </a:solidFill>
          <a:ln/>
        </p:spPr>
      </p:sp>
      <p:sp>
        <p:nvSpPr>
          <p:cNvPr id="19" name="Text 17"/>
          <p:cNvSpPr txBox="1"/>
          <p:nvPr/>
        </p:nvSpPr>
        <p:spPr>
          <a:xfrm>
            <a:off x="6406744" y="2435352"/>
            <a:ext cx="274320" cy="274320"/>
          </a:xfrm>
          <a:prstGeom prst="rect">
            <a:avLst/>
          </a:prstGeom>
          <a:noFill/>
          <a:ln/>
        </p:spPr>
        <p:txBody>
          <a:bodyPr wrap="square" lIns="0" tIns="0" rIns="0" bIns="0" rtlCol="0" anchor="ctr"/>
          <a:lstStyle/>
          <a:p>
            <a:pPr algn="ctr" indent="0" marL="0">
              <a:buNone/>
            </a:pPr>
            <a:r>
              <a:rPr lang="en-US" sz="1250" b="1" dirty="0">
                <a:solidFill>
                  <a:srgbClr val="3C8C21"/>
                </a:solidFill>
                <a:latin typeface="Calibri" pitchFamily="34" charset="0"/>
                <a:ea typeface="Calibri" pitchFamily="34" charset="-122"/>
                <a:cs typeface="Calibri" pitchFamily="34" charset="-120"/>
              </a:rPr>
              <a:t>✓</a:t>
            </a:r>
            <a:endParaRPr lang="en-US" sz="1250" dirty="0"/>
          </a:p>
        </p:txBody>
      </p:sp>
      <p:sp>
        <p:nvSpPr>
          <p:cNvPr id="20" name="Text 18"/>
          <p:cNvSpPr txBox="1"/>
          <p:nvPr/>
        </p:nvSpPr>
        <p:spPr>
          <a:xfrm>
            <a:off x="6790792" y="2417064"/>
            <a:ext cx="4559656" cy="1286256"/>
          </a:xfrm>
          <a:prstGeom prst="rect">
            <a:avLst/>
          </a:prstGeom>
          <a:noFill/>
          <a:ln/>
        </p:spPr>
        <p:txBody>
          <a:bodyPr wrap="square" lIns="0" tIns="0" rIns="0" bIns="0" rtlCol="0" anchor="t"/>
          <a:lstStyle/>
          <a:p>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Kritik açı kütleden bağımsızdır.</a:t>
            </a:r>
            <a:endParaRPr lang="en-US" sz="1500" dirty="0"/>
          </a:p>
        </p:txBody>
      </p:sp>
      <p:sp>
        <p:nvSpPr>
          <p:cNvPr id="21" name="Shape 19"/>
          <p:cNvSpPr/>
          <p:nvPr/>
        </p:nvSpPr>
        <p:spPr>
          <a:xfrm>
            <a:off x="640080" y="3959352"/>
            <a:ext cx="5346040" cy="2185416"/>
          </a:xfrm>
          <a:prstGeom prst="roundRect">
            <a:avLst>
              <a:gd name="adj" fmla="val 669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841248" y="4105656"/>
            <a:ext cx="274320" cy="274320"/>
          </a:xfrm>
          <a:prstGeom prst="roundRect">
            <a:avLst>
              <a:gd name="adj" fmla="val 26667"/>
            </a:avLst>
          </a:prstGeom>
          <a:solidFill>
            <a:srgbClr val="FBE9EE"/>
          </a:solidFill>
          <a:ln/>
        </p:spPr>
      </p:sp>
      <p:sp>
        <p:nvSpPr>
          <p:cNvPr id="23" name="Text 21"/>
          <p:cNvSpPr txBox="1"/>
          <p:nvPr/>
        </p:nvSpPr>
        <p:spPr>
          <a:xfrm>
            <a:off x="841248" y="4105656"/>
            <a:ext cx="274320" cy="274320"/>
          </a:xfrm>
          <a:prstGeom prst="rect">
            <a:avLst/>
          </a:prstGeom>
          <a:noFill/>
          <a:ln/>
        </p:spPr>
        <p:txBody>
          <a:bodyPr wrap="square" lIns="0" tIns="0" rIns="0" bIns="0" rtlCol="0" anchor="ctr"/>
          <a:lstStyle/>
          <a:p>
            <a:pPr algn="ctr" indent="0" marL="0">
              <a:buNone/>
            </a:pPr>
            <a:r>
              <a:rPr lang="en-US" sz="1250" b="1" dirty="0">
                <a:solidFill>
                  <a:srgbClr val="C53455"/>
                </a:solidFill>
                <a:latin typeface="Calibri" pitchFamily="34" charset="0"/>
                <a:ea typeface="Calibri" pitchFamily="34" charset="-122"/>
                <a:cs typeface="Calibri" pitchFamily="34" charset="-120"/>
              </a:rPr>
              <a:t>✗</a:t>
            </a:r>
            <a:endParaRPr lang="en-US" sz="1250" dirty="0"/>
          </a:p>
        </p:txBody>
      </p:sp>
      <p:sp>
        <p:nvSpPr>
          <p:cNvPr id="24" name="Text 22"/>
          <p:cNvSpPr txBox="1"/>
          <p:nvPr/>
        </p:nvSpPr>
        <p:spPr>
          <a:xfrm>
            <a:off x="1225296" y="4078224"/>
            <a:ext cx="4559656" cy="335280"/>
          </a:xfrm>
          <a:prstGeom prst="rect">
            <a:avLst/>
          </a:prstGeom>
          <a:noFill/>
          <a:ln/>
        </p:spPr>
        <p:txBody>
          <a:bodyPr wrap="square" lIns="0" tIns="0" rIns="0" bIns="0" rtlCol="0" anchor="t"/>
          <a:lstStyle/>
          <a:p>
            <a:pPr indent="0" marL="0">
              <a:lnSpc>
                <a:spcPct val="108000"/>
              </a:lnSpc>
              <a:buNone/>
            </a:pPr>
            <a:r>
              <a:rPr lang="en-US" sz="1600" b="1" dirty="0">
                <a:solidFill>
                  <a:srgbClr val="0E1426"/>
                </a:solidFill>
                <a:latin typeface="Calibri" pitchFamily="34" charset="0"/>
                <a:ea typeface="Calibri" pitchFamily="34" charset="-122"/>
                <a:cs typeface="Calibri" pitchFamily="34" charset="-120"/>
              </a:rPr>
              <a:t>“Fren mesafesi hızla doğru orantılıdır.”</a:t>
            </a:r>
            <a:endParaRPr lang="en-US" sz="1600" dirty="0"/>
          </a:p>
        </p:txBody>
      </p:sp>
      <p:sp>
        <p:nvSpPr>
          <p:cNvPr id="25" name="Shape 23"/>
          <p:cNvSpPr/>
          <p:nvPr/>
        </p:nvSpPr>
        <p:spPr>
          <a:xfrm>
            <a:off x="841248" y="4486656"/>
            <a:ext cx="274320" cy="274320"/>
          </a:xfrm>
          <a:prstGeom prst="roundRect">
            <a:avLst>
              <a:gd name="adj" fmla="val 26667"/>
            </a:avLst>
          </a:prstGeom>
          <a:solidFill>
            <a:srgbClr val="EAF7DC"/>
          </a:solidFill>
          <a:ln/>
        </p:spPr>
      </p:sp>
      <p:sp>
        <p:nvSpPr>
          <p:cNvPr id="26" name="Text 24"/>
          <p:cNvSpPr txBox="1"/>
          <p:nvPr/>
        </p:nvSpPr>
        <p:spPr>
          <a:xfrm>
            <a:off x="841248" y="4486656"/>
            <a:ext cx="274320" cy="274320"/>
          </a:xfrm>
          <a:prstGeom prst="rect">
            <a:avLst/>
          </a:prstGeom>
          <a:noFill/>
          <a:ln/>
        </p:spPr>
        <p:txBody>
          <a:bodyPr wrap="square" lIns="0" tIns="0" rIns="0" bIns="0" rtlCol="0" anchor="ctr"/>
          <a:lstStyle/>
          <a:p>
            <a:pPr algn="ctr" indent="0" marL="0">
              <a:buNone/>
            </a:pPr>
            <a:r>
              <a:rPr lang="en-US" sz="1250" b="1" dirty="0">
                <a:solidFill>
                  <a:srgbClr val="3C8C21"/>
                </a:solidFill>
                <a:latin typeface="Calibri" pitchFamily="34" charset="0"/>
                <a:ea typeface="Calibri" pitchFamily="34" charset="-122"/>
                <a:cs typeface="Calibri" pitchFamily="34" charset="-120"/>
              </a:rPr>
              <a:t>✓</a:t>
            </a:r>
            <a:endParaRPr lang="en-US" sz="1250" dirty="0"/>
          </a:p>
        </p:txBody>
      </p:sp>
      <p:sp>
        <p:nvSpPr>
          <p:cNvPr id="27" name="Text 25"/>
          <p:cNvSpPr txBox="1"/>
          <p:nvPr/>
        </p:nvSpPr>
        <p:spPr>
          <a:xfrm>
            <a:off x="1225296" y="4468368"/>
            <a:ext cx="4559656" cy="1566672"/>
          </a:xfrm>
          <a:prstGeom prst="rect">
            <a:avLst/>
          </a:prstGeom>
          <a:noFill/>
          <a:ln/>
        </p:spPr>
        <p:txBody>
          <a:bodyPr wrap="square" lIns="0" tIns="0" rIns="0" bIns="0" rtlCol="0" anchor="t"/>
          <a:lstStyle/>
          <a:p>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Hızın </a:t>
            </a:r>
            <a:pPr indent="0" marL="0">
              <a:lnSpc>
                <a:spcPct val="108000"/>
              </a:lnSpc>
              <a:buNone/>
            </a:pPr>
            <a:r>
              <a:rPr lang="en-US" sz="1500" i="1" dirty="0">
                <a:solidFill>
                  <a:srgbClr val="4A5470"/>
                </a:solidFill>
                <a:latin typeface="Calibri" pitchFamily="34" charset="0"/>
                <a:ea typeface="Calibri" pitchFamily="34" charset="-122"/>
                <a:cs typeface="Calibri" pitchFamily="34" charset="-120"/>
              </a:rPr>
              <a:t>karesiyle</a:t>
            </a:r>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artar; doğru orantılı olan tepki mesafesidir.</a:t>
            </a:r>
            <a:endParaRPr lang="en-US" sz="1500" dirty="0"/>
          </a:p>
        </p:txBody>
      </p:sp>
      <p:sp>
        <p:nvSpPr>
          <p:cNvPr id="28" name="Shape 26"/>
          <p:cNvSpPr/>
          <p:nvPr/>
        </p:nvSpPr>
        <p:spPr>
          <a:xfrm>
            <a:off x="6205576" y="3959352"/>
            <a:ext cx="5346040" cy="2185416"/>
          </a:xfrm>
          <a:prstGeom prst="roundRect">
            <a:avLst>
              <a:gd name="adj" fmla="val 669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9" name="Shape 27"/>
          <p:cNvSpPr/>
          <p:nvPr/>
        </p:nvSpPr>
        <p:spPr>
          <a:xfrm>
            <a:off x="6406744" y="4105656"/>
            <a:ext cx="274320" cy="274320"/>
          </a:xfrm>
          <a:prstGeom prst="roundRect">
            <a:avLst>
              <a:gd name="adj" fmla="val 26667"/>
            </a:avLst>
          </a:prstGeom>
          <a:solidFill>
            <a:srgbClr val="FBE9EE"/>
          </a:solidFill>
          <a:ln/>
        </p:spPr>
      </p:sp>
      <p:sp>
        <p:nvSpPr>
          <p:cNvPr id="30" name="Text 28"/>
          <p:cNvSpPr txBox="1"/>
          <p:nvPr/>
        </p:nvSpPr>
        <p:spPr>
          <a:xfrm>
            <a:off x="6406744" y="4105656"/>
            <a:ext cx="274320" cy="274320"/>
          </a:xfrm>
          <a:prstGeom prst="rect">
            <a:avLst/>
          </a:prstGeom>
          <a:noFill/>
          <a:ln/>
        </p:spPr>
        <p:txBody>
          <a:bodyPr wrap="square" lIns="0" tIns="0" rIns="0" bIns="0" rtlCol="0" anchor="ctr"/>
          <a:lstStyle/>
          <a:p>
            <a:pPr algn="ctr" indent="0" marL="0">
              <a:buNone/>
            </a:pPr>
            <a:r>
              <a:rPr lang="en-US" sz="1250" b="1" dirty="0">
                <a:solidFill>
                  <a:srgbClr val="C53455"/>
                </a:solidFill>
                <a:latin typeface="Calibri" pitchFamily="34" charset="0"/>
                <a:ea typeface="Calibri" pitchFamily="34" charset="-122"/>
                <a:cs typeface="Calibri" pitchFamily="34" charset="-120"/>
              </a:rPr>
              <a:t>✗</a:t>
            </a:r>
            <a:endParaRPr lang="en-US" sz="1250" dirty="0"/>
          </a:p>
        </p:txBody>
      </p:sp>
      <p:sp>
        <p:nvSpPr>
          <p:cNvPr id="31" name="Text 29"/>
          <p:cNvSpPr txBox="1"/>
          <p:nvPr/>
        </p:nvSpPr>
        <p:spPr>
          <a:xfrm>
            <a:off x="6790792" y="4078224"/>
            <a:ext cx="4559656" cy="335280"/>
          </a:xfrm>
          <a:prstGeom prst="rect">
            <a:avLst/>
          </a:prstGeom>
          <a:noFill/>
          <a:ln/>
        </p:spPr>
        <p:txBody>
          <a:bodyPr wrap="square" lIns="0" tIns="0" rIns="0" bIns="0" rtlCol="0" anchor="t"/>
          <a:lstStyle/>
          <a:p>
            <a:pPr indent="0" marL="0">
              <a:lnSpc>
                <a:spcPct val="108000"/>
              </a:lnSpc>
              <a:buNone/>
            </a:pPr>
            <a:r>
              <a:rPr lang="en-US" sz="1600" b="1" dirty="0">
                <a:solidFill>
                  <a:srgbClr val="0E1426"/>
                </a:solidFill>
                <a:latin typeface="Calibri" pitchFamily="34" charset="0"/>
                <a:ea typeface="Calibri" pitchFamily="34" charset="-122"/>
                <a:cs typeface="Calibri" pitchFamily="34" charset="-120"/>
              </a:rPr>
              <a:t>“Dönen tekerlekteki sürtünme kinetiktir.”</a:t>
            </a:r>
            <a:endParaRPr lang="en-US" sz="1600" dirty="0"/>
          </a:p>
        </p:txBody>
      </p:sp>
      <p:sp>
        <p:nvSpPr>
          <p:cNvPr id="32" name="Shape 30"/>
          <p:cNvSpPr/>
          <p:nvPr/>
        </p:nvSpPr>
        <p:spPr>
          <a:xfrm>
            <a:off x="6406744" y="4486656"/>
            <a:ext cx="274320" cy="274320"/>
          </a:xfrm>
          <a:prstGeom prst="roundRect">
            <a:avLst>
              <a:gd name="adj" fmla="val 26667"/>
            </a:avLst>
          </a:prstGeom>
          <a:solidFill>
            <a:srgbClr val="EAF7DC"/>
          </a:solidFill>
          <a:ln/>
        </p:spPr>
      </p:sp>
      <p:sp>
        <p:nvSpPr>
          <p:cNvPr id="33" name="Text 31"/>
          <p:cNvSpPr txBox="1"/>
          <p:nvPr/>
        </p:nvSpPr>
        <p:spPr>
          <a:xfrm>
            <a:off x="6406744" y="4486656"/>
            <a:ext cx="274320" cy="274320"/>
          </a:xfrm>
          <a:prstGeom prst="rect">
            <a:avLst/>
          </a:prstGeom>
          <a:noFill/>
          <a:ln/>
        </p:spPr>
        <p:txBody>
          <a:bodyPr wrap="square" lIns="0" tIns="0" rIns="0" bIns="0" rtlCol="0" anchor="ctr"/>
          <a:lstStyle/>
          <a:p>
            <a:pPr algn="ctr" indent="0" marL="0">
              <a:buNone/>
            </a:pPr>
            <a:r>
              <a:rPr lang="en-US" sz="1250" b="1" dirty="0">
                <a:solidFill>
                  <a:srgbClr val="3C8C21"/>
                </a:solidFill>
                <a:latin typeface="Calibri" pitchFamily="34" charset="0"/>
                <a:ea typeface="Calibri" pitchFamily="34" charset="-122"/>
                <a:cs typeface="Calibri" pitchFamily="34" charset="-120"/>
              </a:rPr>
              <a:t>✓</a:t>
            </a:r>
            <a:endParaRPr lang="en-US" sz="1250" dirty="0"/>
          </a:p>
        </p:txBody>
      </p:sp>
      <p:sp>
        <p:nvSpPr>
          <p:cNvPr id="34" name="Text 32"/>
          <p:cNvSpPr txBox="1"/>
          <p:nvPr/>
        </p:nvSpPr>
        <p:spPr>
          <a:xfrm>
            <a:off x="6790792" y="4468368"/>
            <a:ext cx="4559656" cy="1566672"/>
          </a:xfrm>
          <a:prstGeom prst="rect">
            <a:avLst/>
          </a:prstGeom>
          <a:noFill/>
          <a:ln/>
        </p:spPr>
        <p:txBody>
          <a:bodyPr wrap="square" lIns="0" tIns="0" rIns="0" bIns="0" rtlCol="0" anchor="t"/>
          <a:lstStyle/>
          <a:p>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Kaymadan dönen tekerleğin yola değen noktası o an durgundur, sürtünme statiktir; kinetik olan kilitlenip kayan tekerlektir.</a:t>
            </a:r>
            <a:endParaRPr lang="en-US" sz="1500" dirty="0"/>
          </a:p>
        </p:txBody>
      </p:sp>
      <p:sp>
        <p:nvSpPr>
          <p:cNvPr id="35" name="Shape 33"/>
          <p:cNvSpPr/>
          <p:nvPr/>
        </p:nvSpPr>
        <p:spPr>
          <a:xfrm>
            <a:off x="640080" y="6382512"/>
            <a:ext cx="128016" cy="128016"/>
          </a:xfrm>
          <a:prstGeom prst="roundRect">
            <a:avLst>
              <a:gd name="adj" fmla="val 28571"/>
            </a:avLst>
          </a:prstGeom>
          <a:solidFill>
            <a:srgbClr val="A9E648"/>
          </a:solidFill>
          <a:ln/>
        </p:spPr>
      </p:sp>
      <p:sp>
        <p:nvSpPr>
          <p:cNvPr id="36" name="Text 34"/>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dersler.perinet.org/surtunme-kuvveti.html</a:t>
            </a:r>
            <a:endParaRPr lang="en-US" sz="1050" dirty="0"/>
          </a:p>
        </p:txBody>
      </p:sp>
      <p:sp>
        <p:nvSpPr>
          <p:cNvPr id="37" name="Text 35"/>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44</a:t>
            </a:r>
            <a:endParaRPr lang="en-US" sz="10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E1426"/>
        </a:solidFill>
      </p:bgPr>
    </p:bg>
    <p:spTree>
      <p:nvGrpSpPr>
        <p:cNvPr id="1" name=""/>
        <p:cNvGrpSpPr/>
        <p:nvPr/>
      </p:nvGrpSpPr>
      <p:grpSpPr>
        <a:xfrm>
          <a:off x="0" y="0"/>
          <a:ext cx="0" cy="0"/>
          <a:chOff x="0" y="0"/>
          <a:chExt cx="0" cy="0"/>
        </a:xfrm>
      </p:grpSpPr>
      <p:sp>
        <p:nvSpPr>
          <p:cNvPr id="2" name="Shape 0"/>
          <p:cNvSpPr/>
          <p:nvPr/>
        </p:nvSpPr>
        <p:spPr>
          <a:xfrm>
            <a:off x="868680" y="1143000"/>
            <a:ext cx="54864" cy="548640"/>
          </a:xfrm>
          <a:prstGeom prst="rect">
            <a:avLst/>
          </a:prstGeom>
          <a:solidFill>
            <a:srgbClr val="C6F36B"/>
          </a:solidFill>
          <a:ln/>
        </p:spPr>
      </p:sp>
      <p:sp>
        <p:nvSpPr>
          <p:cNvPr id="3" name="Text 1"/>
          <p:cNvSpPr txBox="1"/>
          <p:nvPr/>
        </p:nvSpPr>
        <p:spPr>
          <a:xfrm>
            <a:off x="1097280" y="1005840"/>
            <a:ext cx="5486400" cy="822960"/>
          </a:xfrm>
          <a:prstGeom prst="rect">
            <a:avLst/>
          </a:prstGeom>
          <a:noFill/>
          <a:ln/>
        </p:spPr>
        <p:txBody>
          <a:bodyPr wrap="square" lIns="0" tIns="0" rIns="0" bIns="0" rtlCol="0" anchor="ctr"/>
          <a:lstStyle/>
          <a:p>
            <a:pPr indent="0" marL="0">
              <a:buNone/>
            </a:pPr>
            <a:r>
              <a:rPr lang="en-US" sz="4000" b="1" spc="-100" kern="0" dirty="0">
                <a:solidFill>
                  <a:srgbClr val="FFFFFF"/>
                </a:solidFill>
                <a:latin typeface="Cambria" pitchFamily="34" charset="0"/>
                <a:ea typeface="Cambria" pitchFamily="34" charset="-122"/>
                <a:cs typeface="Cambria" pitchFamily="34" charset="-120"/>
              </a:rPr>
              <a:t>Özetle</a:t>
            </a:r>
            <a:endParaRPr lang="en-US" sz="4000" dirty="0"/>
          </a:p>
        </p:txBody>
      </p:sp>
      <p:sp>
        <p:nvSpPr>
          <p:cNvPr id="4" name="Text 2"/>
          <p:cNvSpPr txBox="1"/>
          <p:nvPr/>
        </p:nvSpPr>
        <p:spPr>
          <a:xfrm>
            <a:off x="868680" y="2057400"/>
            <a:ext cx="4572000"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AKLINDA KALSIN</a:t>
            </a:r>
            <a:endParaRPr lang="en-US" sz="1050" dirty="0"/>
          </a:p>
        </p:txBody>
      </p:sp>
      <p:sp>
        <p:nvSpPr>
          <p:cNvPr id="5" name="Text 3"/>
          <p:cNvSpPr txBox="1"/>
          <p:nvPr/>
        </p:nvSpPr>
        <p:spPr>
          <a:xfrm>
            <a:off x="868680" y="2450592"/>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01</a:t>
            </a:r>
            <a:endParaRPr lang="en-US" sz="1800" dirty="0"/>
          </a:p>
        </p:txBody>
      </p:sp>
      <p:sp>
        <p:nvSpPr>
          <p:cNvPr id="6" name="Text 4"/>
          <p:cNvSpPr txBox="1"/>
          <p:nvPr/>
        </p:nvSpPr>
        <p:spPr>
          <a:xfrm>
            <a:off x="1463040" y="2450592"/>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Statik </a:t>
            </a:r>
            <a:pPr indent="0" marL="0">
              <a:buNone/>
            </a:pPr>
            <a:r>
              <a:rPr lang="en-US" sz="1500" b="1" dirty="0">
                <a:solidFill>
                  <a:srgbClr val="FFFFFF"/>
                </a:solidFill>
                <a:latin typeface="Calibri" pitchFamily="34" charset="0"/>
                <a:ea typeface="Calibri" pitchFamily="34" charset="-122"/>
                <a:cs typeface="Calibri" pitchFamily="34" charset="-120"/>
              </a:rPr>
              <a:t>f ≤ μ</a:t>
            </a:r>
            <a:pPr indent="0" marL="0">
              <a:buNone/>
            </a:pPr>
            <a:r>
              <a:rPr lang="en-US" sz="1500" b="1" baseline="-40000" dirty="0">
                <a:solidFill>
                  <a:srgbClr val="FFFFFF"/>
                </a:solidFill>
                <a:latin typeface="Calibri" pitchFamily="34" charset="0"/>
                <a:ea typeface="Calibri" pitchFamily="34" charset="-122"/>
                <a:cs typeface="Calibri" pitchFamily="34" charset="-120"/>
              </a:rPr>
              <a:t>s</a:t>
            </a:r>
            <a:pPr indent="0" marL="0">
              <a:buNone/>
            </a:pPr>
            <a:r>
              <a:rPr lang="en-US" sz="1500" b="1" dirty="0">
                <a:solidFill>
                  <a:srgbClr val="FFFFFF"/>
                </a:solidFill>
                <a:latin typeface="Calibri" pitchFamily="34" charset="0"/>
                <a:ea typeface="Calibri" pitchFamily="34" charset="-122"/>
                <a:cs typeface="Calibri" pitchFamily="34" charset="-120"/>
              </a:rPr>
              <a:t>·N</a:t>
            </a:r>
            <a:endParaRPr lang="en-US" sz="1500" dirty="0"/>
          </a:p>
        </p:txBody>
      </p:sp>
      <p:sp>
        <p:nvSpPr>
          <p:cNvPr id="7" name="Text 5"/>
          <p:cNvSpPr txBox="1"/>
          <p:nvPr/>
        </p:nvSpPr>
        <p:spPr>
          <a:xfrm>
            <a:off x="868680" y="3236976"/>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02</a:t>
            </a:r>
            <a:endParaRPr lang="en-US" sz="1800" dirty="0"/>
          </a:p>
        </p:txBody>
      </p:sp>
      <p:sp>
        <p:nvSpPr>
          <p:cNvPr id="8" name="Text 6"/>
          <p:cNvSpPr txBox="1"/>
          <p:nvPr/>
        </p:nvSpPr>
        <p:spPr>
          <a:xfrm>
            <a:off x="1463040" y="3236976"/>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Kinetik </a:t>
            </a:r>
            <a:pPr indent="0" marL="0">
              <a:buNone/>
            </a:pPr>
            <a:r>
              <a:rPr lang="en-US" sz="1500" b="1" dirty="0">
                <a:solidFill>
                  <a:srgbClr val="FFFFFF"/>
                </a:solidFill>
                <a:latin typeface="Calibri" pitchFamily="34" charset="0"/>
                <a:ea typeface="Calibri" pitchFamily="34" charset="-122"/>
                <a:cs typeface="Calibri" pitchFamily="34" charset="-120"/>
              </a:rPr>
              <a:t>f = μ</a:t>
            </a:r>
            <a:pPr indent="0" marL="0">
              <a:buNone/>
            </a:pPr>
            <a:r>
              <a:rPr lang="en-US" sz="1500" b="1" baseline="-40000" dirty="0">
                <a:solidFill>
                  <a:srgbClr val="FFFFFF"/>
                </a:solidFill>
                <a:latin typeface="Calibri" pitchFamily="34" charset="0"/>
                <a:ea typeface="Calibri" pitchFamily="34" charset="-122"/>
                <a:cs typeface="Calibri" pitchFamily="34" charset="-120"/>
              </a:rPr>
              <a:t>k</a:t>
            </a:r>
            <a:pPr indent="0" marL="0">
              <a:buNone/>
            </a:pPr>
            <a:r>
              <a:rPr lang="en-US" sz="1500" b="1" dirty="0">
                <a:solidFill>
                  <a:srgbClr val="FFFFFF"/>
                </a:solidFill>
                <a:latin typeface="Calibri" pitchFamily="34" charset="0"/>
                <a:ea typeface="Calibri" pitchFamily="34" charset="-122"/>
                <a:cs typeface="Calibri" pitchFamily="34" charset="-120"/>
              </a:rPr>
              <a:t>·N</a:t>
            </a:r>
            <a:endParaRPr lang="en-US" sz="1500" dirty="0"/>
          </a:p>
        </p:txBody>
      </p:sp>
      <p:sp>
        <p:nvSpPr>
          <p:cNvPr id="9" name="Text 7"/>
          <p:cNvSpPr txBox="1"/>
          <p:nvPr/>
        </p:nvSpPr>
        <p:spPr>
          <a:xfrm>
            <a:off x="868680" y="4023360"/>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03</a:t>
            </a:r>
            <a:endParaRPr lang="en-US" sz="1800" dirty="0"/>
          </a:p>
        </p:txBody>
      </p:sp>
      <p:sp>
        <p:nvSpPr>
          <p:cNvPr id="10" name="Text 8"/>
          <p:cNvSpPr txBox="1"/>
          <p:nvPr/>
        </p:nvSpPr>
        <p:spPr>
          <a:xfrm>
            <a:off x="1463040" y="4023360"/>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Alana </a:t>
            </a:r>
            <a:pPr indent="0" marL="0">
              <a:buNone/>
            </a:pPr>
            <a:r>
              <a:rPr lang="en-US" sz="1500" b="1" dirty="0">
                <a:solidFill>
                  <a:srgbClr val="FFFFFF"/>
                </a:solidFill>
                <a:latin typeface="Calibri" pitchFamily="34" charset="0"/>
                <a:ea typeface="Calibri" pitchFamily="34" charset="-122"/>
                <a:cs typeface="Calibri" pitchFamily="34" charset="-120"/>
              </a:rPr>
              <a:t>bağlı değil</a:t>
            </a:r>
            <a:endParaRPr lang="en-US" sz="1500" dirty="0"/>
          </a:p>
        </p:txBody>
      </p:sp>
      <p:sp>
        <p:nvSpPr>
          <p:cNvPr id="11" name="Text 9"/>
          <p:cNvSpPr txBox="1"/>
          <p:nvPr/>
        </p:nvSpPr>
        <p:spPr>
          <a:xfrm>
            <a:off x="868680" y="4809744"/>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04</a:t>
            </a:r>
            <a:endParaRPr lang="en-US" sz="1800" dirty="0"/>
          </a:p>
        </p:txBody>
      </p:sp>
      <p:sp>
        <p:nvSpPr>
          <p:cNvPr id="12" name="Text 10"/>
          <p:cNvSpPr txBox="1"/>
          <p:nvPr/>
        </p:nvSpPr>
        <p:spPr>
          <a:xfrm>
            <a:off x="1463040" y="4809744"/>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Kritik açı </a:t>
            </a:r>
            <a:pPr indent="0" marL="0">
              <a:buNone/>
            </a:pPr>
            <a:r>
              <a:rPr lang="en-US" sz="1500" b="1" dirty="0">
                <a:solidFill>
                  <a:srgbClr val="FFFFFF"/>
                </a:solidFill>
                <a:latin typeface="Calibri" pitchFamily="34" charset="0"/>
                <a:ea typeface="Calibri" pitchFamily="34" charset="-122"/>
                <a:cs typeface="Calibri" pitchFamily="34" charset="-120"/>
              </a:rPr>
              <a:t>tanθ = μ</a:t>
            </a:r>
            <a:pPr indent="0" marL="0">
              <a:buNone/>
            </a:pPr>
            <a:r>
              <a:rPr lang="en-US" sz="1500" b="1" baseline="-40000" dirty="0">
                <a:solidFill>
                  <a:srgbClr val="FFFFFF"/>
                </a:solidFill>
                <a:latin typeface="Calibri" pitchFamily="34" charset="0"/>
                <a:ea typeface="Calibri" pitchFamily="34" charset="-122"/>
                <a:cs typeface="Calibri" pitchFamily="34" charset="-120"/>
              </a:rPr>
              <a:t>s</a:t>
            </a:r>
            <a:endParaRPr lang="en-US" sz="1500" dirty="0"/>
          </a:p>
        </p:txBody>
      </p:sp>
      <p:sp>
        <p:nvSpPr>
          <p:cNvPr id="13" name="Text 11"/>
          <p:cNvSpPr txBox="1"/>
          <p:nvPr/>
        </p:nvSpPr>
        <p:spPr>
          <a:xfrm>
            <a:off x="6446520" y="2057400"/>
            <a:ext cx="4572000"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TEMEL BAĞINTILAR</a:t>
            </a:r>
            <a:endParaRPr lang="en-US" sz="1050" dirty="0"/>
          </a:p>
        </p:txBody>
      </p:sp>
      <p:sp>
        <p:nvSpPr>
          <p:cNvPr id="14" name="Shape 12"/>
          <p:cNvSpPr/>
          <p:nvPr/>
        </p:nvSpPr>
        <p:spPr>
          <a:xfrm>
            <a:off x="6446520" y="2395728"/>
            <a:ext cx="5105095" cy="694944"/>
          </a:xfrm>
          <a:prstGeom prst="roundRect">
            <a:avLst>
              <a:gd name="adj" fmla="val 13158"/>
            </a:avLst>
          </a:prstGeom>
          <a:solidFill>
            <a:srgbClr val="1C2542"/>
          </a:solidFill>
          <a:ln w="9525">
            <a:solidFill>
              <a:srgbClr val="2C3860"/>
            </a:solidFill>
            <a:prstDash val="solid"/>
          </a:ln>
        </p:spPr>
      </p:sp>
      <p:sp>
        <p:nvSpPr>
          <p:cNvPr id="15" name="Text 13"/>
          <p:cNvSpPr txBox="1"/>
          <p:nvPr/>
        </p:nvSpPr>
        <p:spPr>
          <a:xfrm>
            <a:off x="6647688" y="2395728"/>
            <a:ext cx="1463040"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fs ≤ μs · N</a:t>
            </a:r>
            <a:endParaRPr lang="en-US" sz="1350" dirty="0"/>
          </a:p>
        </p:txBody>
      </p:sp>
      <p:sp>
        <p:nvSpPr>
          <p:cNvPr id="16" name="Text 14"/>
          <p:cNvSpPr txBox="1"/>
          <p:nvPr/>
        </p:nvSpPr>
        <p:spPr>
          <a:xfrm>
            <a:off x="8183880" y="2395728"/>
            <a:ext cx="3184855"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statik: eşiğe kadar dengeler</a:t>
            </a:r>
            <a:endParaRPr lang="en-US" sz="1200" dirty="0"/>
          </a:p>
        </p:txBody>
      </p:sp>
      <p:sp>
        <p:nvSpPr>
          <p:cNvPr id="17" name="Shape 15"/>
          <p:cNvSpPr/>
          <p:nvPr/>
        </p:nvSpPr>
        <p:spPr>
          <a:xfrm>
            <a:off x="6446520" y="3218688"/>
            <a:ext cx="5105095" cy="694944"/>
          </a:xfrm>
          <a:prstGeom prst="roundRect">
            <a:avLst>
              <a:gd name="adj" fmla="val 13158"/>
            </a:avLst>
          </a:prstGeom>
          <a:solidFill>
            <a:srgbClr val="1C2542"/>
          </a:solidFill>
          <a:ln w="9525">
            <a:solidFill>
              <a:srgbClr val="2C3860"/>
            </a:solidFill>
            <a:prstDash val="solid"/>
          </a:ln>
        </p:spPr>
      </p:sp>
      <p:sp>
        <p:nvSpPr>
          <p:cNvPr id="18" name="Text 16"/>
          <p:cNvSpPr txBox="1"/>
          <p:nvPr/>
        </p:nvSpPr>
        <p:spPr>
          <a:xfrm>
            <a:off x="6647688" y="3218688"/>
            <a:ext cx="1463040"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fk = μk · N</a:t>
            </a:r>
            <a:endParaRPr lang="en-US" sz="1350" dirty="0"/>
          </a:p>
        </p:txBody>
      </p:sp>
      <p:sp>
        <p:nvSpPr>
          <p:cNvPr id="19" name="Text 17"/>
          <p:cNvSpPr txBox="1"/>
          <p:nvPr/>
        </p:nvSpPr>
        <p:spPr>
          <a:xfrm>
            <a:off x="8183880" y="3218688"/>
            <a:ext cx="3184855"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kinetik: sabit</a:t>
            </a:r>
            <a:endParaRPr lang="en-US" sz="1200" dirty="0"/>
          </a:p>
        </p:txBody>
      </p:sp>
      <p:sp>
        <p:nvSpPr>
          <p:cNvPr id="20" name="Shape 18"/>
          <p:cNvSpPr/>
          <p:nvPr/>
        </p:nvSpPr>
        <p:spPr>
          <a:xfrm>
            <a:off x="6446520" y="4041648"/>
            <a:ext cx="5105095" cy="694944"/>
          </a:xfrm>
          <a:prstGeom prst="roundRect">
            <a:avLst>
              <a:gd name="adj" fmla="val 13158"/>
            </a:avLst>
          </a:prstGeom>
          <a:solidFill>
            <a:srgbClr val="1C2542"/>
          </a:solidFill>
          <a:ln w="9525">
            <a:solidFill>
              <a:srgbClr val="2C3860"/>
            </a:solidFill>
            <a:prstDash val="solid"/>
          </a:ln>
        </p:spPr>
      </p:sp>
      <p:sp>
        <p:nvSpPr>
          <p:cNvPr id="21" name="Text 19"/>
          <p:cNvSpPr txBox="1"/>
          <p:nvPr/>
        </p:nvSpPr>
        <p:spPr>
          <a:xfrm>
            <a:off x="6647688" y="4041648"/>
            <a:ext cx="1463040"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tanθ = μs</a:t>
            </a:r>
            <a:endParaRPr lang="en-US" sz="1350" dirty="0"/>
          </a:p>
        </p:txBody>
      </p:sp>
      <p:sp>
        <p:nvSpPr>
          <p:cNvPr id="22" name="Text 20"/>
          <p:cNvSpPr txBox="1"/>
          <p:nvPr/>
        </p:nvSpPr>
        <p:spPr>
          <a:xfrm>
            <a:off x="8183880" y="4041648"/>
            <a:ext cx="3184855"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kaymanın başladığı açı</a:t>
            </a:r>
            <a:endParaRPr lang="en-US" sz="1200" dirty="0"/>
          </a:p>
        </p:txBody>
      </p:sp>
      <p:sp>
        <p:nvSpPr>
          <p:cNvPr id="23" name="Shape 21"/>
          <p:cNvSpPr/>
          <p:nvPr/>
        </p:nvSpPr>
        <p:spPr>
          <a:xfrm>
            <a:off x="6446520" y="4864608"/>
            <a:ext cx="5105095" cy="694944"/>
          </a:xfrm>
          <a:prstGeom prst="roundRect">
            <a:avLst>
              <a:gd name="adj" fmla="val 13158"/>
            </a:avLst>
          </a:prstGeom>
          <a:solidFill>
            <a:srgbClr val="1C2542"/>
          </a:solidFill>
          <a:ln w="9525">
            <a:solidFill>
              <a:srgbClr val="2C3860"/>
            </a:solidFill>
            <a:prstDash val="solid"/>
          </a:ln>
        </p:spPr>
      </p:sp>
      <p:sp>
        <p:nvSpPr>
          <p:cNvPr id="24" name="Text 22"/>
          <p:cNvSpPr txBox="1"/>
          <p:nvPr/>
        </p:nvSpPr>
        <p:spPr>
          <a:xfrm>
            <a:off x="6647688" y="4864608"/>
            <a:ext cx="1956816"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d = v² / (2·μ·g)</a:t>
            </a:r>
            <a:endParaRPr lang="en-US" sz="1350" dirty="0"/>
          </a:p>
        </p:txBody>
      </p:sp>
      <p:sp>
        <p:nvSpPr>
          <p:cNvPr id="25" name="Text 23"/>
          <p:cNvSpPr txBox="1"/>
          <p:nvPr/>
        </p:nvSpPr>
        <p:spPr>
          <a:xfrm>
            <a:off x="8677656" y="4864608"/>
            <a:ext cx="2691079"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fren mesafesi</a:t>
            </a:r>
            <a:endParaRPr lang="en-US" sz="1200" dirty="0"/>
          </a:p>
        </p:txBody>
      </p:sp>
      <p:sp>
        <p:nvSpPr>
          <p:cNvPr id="26" name="Shape 24"/>
          <p:cNvSpPr/>
          <p:nvPr/>
        </p:nvSpPr>
        <p:spPr>
          <a:xfrm>
            <a:off x="868680" y="5806440"/>
            <a:ext cx="10058400" cy="566928"/>
          </a:xfrm>
          <a:prstGeom prst="roundRect">
            <a:avLst>
              <a:gd name="adj" fmla="val 16129"/>
            </a:avLst>
          </a:prstGeom>
          <a:solidFill>
            <a:srgbClr val="1C2542"/>
          </a:solidFill>
          <a:ln w="9525">
            <a:solidFill>
              <a:srgbClr val="2C3860"/>
            </a:solidFill>
            <a:prstDash val="solid"/>
          </a:ln>
        </p:spPr>
      </p:sp>
      <p:sp>
        <p:nvSpPr>
          <p:cNvPr id="27" name="Text 25"/>
          <p:cNvSpPr txBox="1"/>
          <p:nvPr/>
        </p:nvSpPr>
        <p:spPr>
          <a:xfrm>
            <a:off x="1188720" y="5806440"/>
            <a:ext cx="9418320" cy="566928"/>
          </a:xfrm>
          <a:prstGeom prst="rect">
            <a:avLst/>
          </a:prstGeom>
          <a:noFill/>
          <a:ln/>
        </p:spPr>
        <p:txBody>
          <a:bodyPr wrap="square" lIns="0" tIns="0" rIns="0" bIns="0" rtlCol="0" anchor="ctr"/>
          <a:lstStyle/>
          <a:p>
            <a:pPr indent="0" marL="0">
              <a:buNone/>
            </a:pPr>
            <a:r>
              <a:rPr lang="en-US" sz="1300" dirty="0">
                <a:solidFill>
                  <a:srgbClr val="AEBBD6"/>
                </a:solidFill>
                <a:latin typeface="Calibri" pitchFamily="34" charset="0"/>
                <a:ea typeface="Calibri" pitchFamily="34" charset="-122"/>
                <a:cs typeface="Calibri" pitchFamily="34" charset="-120"/>
              </a:rPr>
              <a:t>Etkileşimli deneyler, canlı grafikler ve hızlı test:  </a:t>
            </a:r>
            <a:pPr indent="0" marL="0">
              <a:buNone/>
            </a:pPr>
            <a:r>
              <a:rPr lang="en-US" sz="1300" b="1" dirty="0">
                <a:solidFill>
                  <a:srgbClr val="C6F36B"/>
                </a:solidFill>
                <a:latin typeface="Calibri" pitchFamily="34" charset="0"/>
                <a:ea typeface="Calibri" pitchFamily="34" charset="-122"/>
                <a:cs typeface="Calibri" pitchFamily="34" charset="-120"/>
              </a:rPr>
              <a:t>dersler.perinet.org/surtunme-kuvveti.html</a:t>
            </a:r>
            <a:endParaRPr lang="en-US" sz="1300" dirty="0"/>
          </a:p>
        </p:txBody>
      </p:sp>
      <p:sp>
        <p:nvSpPr>
          <p:cNvPr id="28" name="Text 26"/>
          <p:cNvSpPr txBox="1"/>
          <p:nvPr/>
        </p:nvSpPr>
        <p:spPr>
          <a:xfrm>
            <a:off x="5852160" y="1078992"/>
            <a:ext cx="5699455" cy="457200"/>
          </a:xfrm>
          <a:prstGeom prst="rect">
            <a:avLst/>
          </a:prstGeom>
          <a:noFill/>
          <a:ln/>
        </p:spPr>
        <p:txBody>
          <a:bodyPr wrap="square" lIns="0" tIns="0" rIns="0" bIns="0" rtlCol="0" anchor="ctr"/>
          <a:lstStyle/>
          <a:p>
            <a:pPr algn="r" indent="0" marL="0">
              <a:buNone/>
            </a:pPr>
            <a:r>
              <a:rPr lang="en-US" sz="1000" b="1" spc="200" kern="0" dirty="0">
                <a:solidFill>
                  <a:srgbClr val="8D97B5"/>
                </a:solidFill>
                <a:latin typeface="Calibri" pitchFamily="34" charset="0"/>
                <a:ea typeface="Calibri" pitchFamily="34" charset="-122"/>
                <a:cs typeface="Calibri" pitchFamily="34" charset="-120"/>
              </a:rPr>
              <a:t>SIRADAKİ KONU  </a:t>
            </a:r>
            <a:pPr algn="r" indent="0" marL="0">
              <a:buNone/>
            </a:pPr>
            <a:r>
              <a:rPr lang="en-US" sz="1300" b="1" dirty="0">
                <a:solidFill>
                  <a:srgbClr val="FFFFFF"/>
                </a:solidFill>
                <a:latin typeface="Calibri" pitchFamily="34" charset="0"/>
                <a:ea typeface="Calibri" pitchFamily="34" charset="-122"/>
                <a:cs typeface="Calibri" pitchFamily="34" charset="-120"/>
              </a:rPr>
              <a:t>05 · Limit hız</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dersler.perinet.org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Sürtünme kuvveti — Dersler</dc:title>
  <dc:subject>Fizik · Kuvvet ve Hareket</dc:subject>
  <dc:creator>Dersler</dc:creator>
  <cp:lastModifiedBy>Dersler</cp:lastModifiedBy>
  <cp:revision>1</cp:revision>
  <dcterms:created xsi:type="dcterms:W3CDTF">2026-09-29T23:26:00Z</dcterms:created>
  <dcterms:modified xsi:type="dcterms:W3CDTF">2026-09-29T23:26:00Z</dcterms:modified>
</cp:coreProperties>
</file>