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Lst>
  <p:notesMasterIdLst>
    <p:notesMasterId r:id="rId1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notesMaster" Target="notesMasters/notesMaster1.xml"/><Relationship Id="rId136" Type="http://schemas.openxmlformats.org/officeDocument/2006/relationships/presProps" Target="presProps.xml"/><Relationship Id="rId137" Type="http://schemas.openxmlformats.org/officeDocument/2006/relationships/viewProps" Target="viewProps.xml"/><Relationship Id="rId138" Type="http://schemas.openxmlformats.org/officeDocument/2006/relationships/theme" Target="theme/theme1.xml"/><Relationship Id="rId1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 bir sandığı itmeye başladığında neden önce hiç kıpırdamaz, sonra bir anda kurtulup daha kolay kaymaya başlar? Yürüyebilmemizin, frene basınca durabilmemizin, bir bardağı elimizde tutabilmemizin sorumlusu hep aynı kuvvet. Aynı kuvvet motorları aşındırır, yakıt yakar ve buzda arabayı savurur. Bu yüzden sürtünmeyi "iyi" ya da "kötü" diye değil, ne zaman ne kadar ortaya çıktığını hesaplayabildiğimiz bir kuvvet olarak öğreniyoruz — ve şaşırtıcı biçimde temas alanının bununla hiç ilgisi yok. Anlatım dört basamakta ilerliyor: önce sürtünmeyi gözleyip durgun ve kayan cisimdeki iki türünü tanıyacağız, sonra sürtünme katsayısıyla eğik düzlemi ve fren mesafesini hesaplayacağız, ardından normal kuvvetin değiştiği ve basit modelin zorlandığı durumlara geçeceğiz. En sonda kolaydan zora sıralanmış örneklerle hepsini birlikte kullanacağız.
Kapak görseli: İki yerde, iki yönde sürtünme. Sandık yerinden oynamadıkça zemin ona, itme kuvvetine eşit ve zıt yönde bir sürtünme uygular. Aynı anda adamın botları zemini geriye doğru iter; zeminin botlara uyguladığı sürtünme de onu ileriye iterek itmeyi mümkün kılar. Sürtünme aynı sahnede hem engel hem dayanak olabilir.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Ağır bir sandığı itmeye başladığında neden önce hiç kıpırdamaz, sonra bir anda kurtulup daha kolay kaymaya başlar? Yürüyebilmemizin, frene basınca durabilmemizin, bir bardağı elimizde tutabilmemizin sorumlusu hep aynı kuvvet. Aynı kuvvet motorları aşındırır, yakıt yakar ve buzda arabayı savurur. Bu yüzden sürtünmeyi "iyi" ya da "kötü" diye değil, ne zaman ne kadar ortaya çıktığını hesaplayabildiğimiz bir kuvvet olarak öğreniyoruz — ve şaşırtıcı biçimde temas alanının bununla hiç ilgisi yok. Anlatım dört basamakta ilerliyor: önce sürtünmeyi gözleyip durgun ve kayan cisimdeki iki türünü tanıyacağız, sonra sürtünme katsayısıyla eğik düzlemi ve fren mesafesini hesaplayacağız, ardından normal kuvvetin değiştiği ve basit modelin zorlandığı durumlara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sürtünmeyi gündelik sahnelerde gözle, adını koy ve durgun cisimle kayan cisim arasındaki farkı gör. Bu basamakta hesap yok denecek kadar az.
   01 Önce gözlemle: sürtünme ne zaman ortaya çıkar?
   02 Sürtünme kuvveti nedir?
   03 Durgunken ve kayarken: iki tür sürtünme
2. Orta — Bağıntılar: eşiği sayıyla yaz, katsayıyı tanı; sonra eğik düzlemde ve frenlemede sürtünmeyi adım adım hesapla.
   04 Sürtünme katsayısı ve temel bağıntılar
   05 Sürtünme neye bağlı, neye bağlı değil?
   06 Sayılarla hisset: ne kadar kuvvet, ne kadar yavaşlama?
   07 Eğik düzlemde sürtünme
   08 Fren mesafesi ve trafik
3. İleri — Derinleşme: normal kuvvet değişince, tekerlek dönünce ve basit model zorlanınca ne olur; sonra sürtünme gerçek hayatta.
   09 Normal kuvvet her zaman m·g değildir
   10 Dönen tekerlek, ABS ve modelin sınırları
   11 Sürtünme gerçek dünyada
4. Pekiştir — Kolaydan zora çözümlü örnekler ve sürtünme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Kuvvet ve net kuvvet: kuvvet bir itme ya da çekmedir ve newton (N) ile ölçülür. Zıt yönlü kuvvetler birbirinden çıkarılır: 50 N ileri, 20 N geri → net 30 N ileri.
• Newton'un 2. yasası: net kuvvet cismi ivmelendirir: a = ΣF / m. 10 N'luk net kuvvet 5 kg'lık bir kutuya 10 / 5 = 2 m/s² ivme verir.
• Ağırlık: Dünya'nın bir cismi çekme kuvveti: G = m · g. 20 kg'lık bir kutunun ağırlığı 20 · 10 = 200 N'dur.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İvme ve yavaşlama: ivme, hızın her saniye ne kadar değiştiğidir. Her saniye 2 m/s yavaşlayan ve 10 m/s ile giden bir bisiklet 5 saniyede durur.
• Sinüs, kosinüs, tanjant: kenarları 3, 4, 5 olan dik üçgende sin37° = 0,6, cos37° = 0,8 ve tan37° = sin37° / cos37° = 0,6 / 0,8 = 0,75.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sürtünmeyi gündelik sahnelerde gözle, adını koy ve durgun cisimle kayan cisim arasındaki farkı gör. Bu basamakta hesap yok denecek kadar az.
01 Önce gözlemle: sürtünme ne zaman ortaya çıkar?
02 Sürtünme kuvveti nedir?
03 Durgunken ve kayarken: iki tür sürtünme
Görsel: Kaydırak küçük bir eğik düzlemdir. Ağırlığın eğime paralel parçası çocuğu aşağı çeker, kıyafet ile metal arasındaki sürtünme ise kaymaya karşı koyar. Çocuğun ne kadar hızlı ineceğini bu ikisinin farkı belirler; farkın eğimle ve kumaşla nasıl değiştiğini ikinci basamakta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 adım 1/5
• Evde kitap dolu bir koliyi yerde itmeyi düşün.
• Önce hafifçe itersin; koli kıpırdamaz.
• Biraz daha yüklenirsin; yine yerinde durur.
• Bir noktada birden "kopar" ve kaymaya başlar.
• İlginç olan şudur: kaymaya başladıktan sonra onu itmeye devam etmek, yerinden oynatmaktan daha kolaydır.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 adım 2/5
• Aynı koliyi halının üstünde itmek cilalı parkede itmekten zordur; içindeki kitapları boşaltınca iş iyice kolaylaşır.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 adım 3/5
• Parktaki kaydırak da aynı etkiyi gösterir.
• Ağırlığı çocuğu eğim boyunca aşağı çeker, ama çocuk inerken kıyafeti ile metal yüzey arasında onu frenleyen bir etki vardır.
• Aynı çocuk kotla daha yavaş, kaygan kumaşlı bir eşofmanla daha hızlı iner.
• Kaydırağın eğimi çok az olsaydı hiç kaymadan üstünde oturabilirdi.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 adım 4/5
• Bu sahnelerden şu gözlemleri çıkarabilirsin:
• Duran cisim direnir: itme belli bir sınırı aşana kadar cisim yerinden oynamaz.
• Kayan cisim daha az direnir: kaymaya başlayınca itmeye devam etmek kolaylaşır.
• Yüzeyler önemlidir: halı ile parke, kot ile eşofman aynı sonucu vermez.
• Bastırmak önemlidir: dolu koli boş koliden zor itilir.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sürtünme ne zaman ortaya çıkar? — adım 5/5
• Durgun hâlde de iş başındadır: yürürken ayağının kaymamasını sağlayan da aynı etkidir.
• Bütün bu gözlemlerin arkasında tek bir kuvvet var.
• Önce ona bir ad verelim, sonra neden bir sınırı olduğunu ve cisim kayınca neden küçüldüğünü anlayalım.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Duran bir cisim, itme belli bir sınırı aşana dek yerinden oynamaz; kaymaya başlayınca onu itmek kolaylaşır. Bu direncin büyüklüğü yüzeylere ve cismin zemine ne kadar bastırdığına bağlıdır.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çocuk aynı kaydıraktan bir kez kotla, bir kez kaygan bir eşofmanla kayıyor. Değişen ne?
Sınıfa sorun, birkaç tahmin alın; sonra cevap slaytına geçin.
Cevap: Çocuğun ağırlığı da kaydırağın eğimi de aynıdır. Değişen, birbirine değen iki yüzeyin — kumaş ile metalin — birbirine ne kadar tutunduğudur. Demek ki sürtünme tek bir cismin değil, birbirine değen yüzey çiftinin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Çocuğun ağırlığı da kaydırağın eğimi de aynıdır. Değişen, birbirine değen iki yüzeyin — kumaş ile metalin — birbirine ne kadar tutunduğudur. Demek ki sürtünme tek bir cismin değil, birbirine değen yüzey çiftinin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adım 1/7
• Birbirine değen iki yüzey arasında, bağıl kaymaya zıt yönde ortaya çıkan kuvvete sürtünme kuvveti denir.
• Yüzeyler çıplak gözle pürüzsüz görünse bile mikroskobik ölçekte girinti çıkıntılıdır; temas noktalarındaki bu kenetlenme ve moleküler yapışma sürtünmeyi doğurur.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adım 2/7
• Bağıl kayma, iki yüzeyin birbirine göre kaymasıdır.
• Masada duran bir kitaba kimse dokunmuyorsa kaymaya çalışan bir şey yoktur; sürtünme de yoktur.
• Kitabı yana doğru ittiğin anda yüzeyler birbirinin üstünden kaymaya "niyetlenir" ve sürtünme belirir.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adım 3/7
• Sürtünme, zeminin cisme uyguladığı temas kuvvetinin bir parçasıdır.
• Bu temas kuvvetini iki bileşene ayırırız.
• Yüzeye dik olan bileşene normal kuvvet (N) denir: zemin, cismin kendi içine batmaması için onu dik olarak iter.
• Yüzeye paralel olan bileşen ise sürtünmedir.
• Yatay bir zeminde başka düşey kuvvet yoksa normal kuvvet cismin ağırlığına eşittir.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adım 4/7
• Sürtünme kuvvetinin temel özellikleri şunlardır:
• Yüzeye paraleldir (normal kuvvet ise yüzeye diktir).
• Yönü, cismin kaymakta olduğu ya da kaymaya çalıştığı yönün tersidir.
• Çift olarak doğar: zemin kutuyu geriye çekerken kutu da zemini ileriye sürükler (Newton'un üçüncü yasası).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adım 5/7
Dikkat: Sürtünme "harekete" değil, bağıl kaymaya zıttır. Yürürken ayağın yeri geriye itmeye çalışır; sürtünme de seni ileriye iter. Yani sürtünme burada hareketi engellemez, hareketi mümkün kılar.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adım 6/7
• Cilalı bir çelik yüzey bile mikroskop altında sıradağlara benzer.
• Üst üste konan iki yüzey yalnızca en yüksek tepelerinde birbirine değer ve bu noktalarda atomlar arasında bağlar kurulur.
• Cismi kaydırmak için bu bağları koparman gerekir; araya giren yağ tepelerin doğrudan değmesini engellediği için sürtünmeyi azaltır.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nedir? — şekil
Sürtünme kuvveti daima yüzeye paraleldir ve cismin kaymakta olduğu (ya da kaymaya çalıştığı) yönün tersine bakar. Kaynağı, en pürüzsüz görünen yüzeylerde bile bulunan mikroskobik girinti-çıkıntıların birbirine takılması ve temas noktalarındaki moleküler yapışmadır. Bu yüzden sürtünmeyi azaltmak için yüzeyi cilalamak ya da araya yağ koymak işe yarar.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Sürtünme, birbirine değen yüzeyler arasında yüzeye paralel ve bağıl kaymaya zıt yönde oluşan kuvvettir. Kaynağı mikroskobik pürüzlerin kenetlenmesi ve temas noktalarındaki moleküler yapışmadır.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 adım 1/6
• Cisim henüz hareket etmiyorken ortaya çıkan sürtünmeye statik sürtünme denir.
• Bu kuvvetin en ilginç yanı, sabit bir değeri olmamasıdır: uygulanan kuvvet ne kadarsa, statik sürtünme de o kadar büyür ve onu tam olarak dengeler.
• Kısacası statik sürtünme sana ayak uydurur.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 adım 2/6
• Bunu, bir kapıyı öbür taraftan tutan birine benzetebilirsin: sen ne kadar itersen o da o kadar karşı koyar ve kapı kıpırdamaz; ama onun gücü de sınırlıdır.
• Statik sürtünmenin de böyle bir üst sınırı (eşiği) vardır: uygulanan kuvvet bu eşiği geçtiği anda denge bozulur ve cisim kaymaya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 adım 3/6
• Cisim kaymaya başladığı anda devreye kinetik (hareket) sürtünmesi girer.
• Kinetik sürtünme artık uygulanan kuvvete ayak uydurmaz; yaklaşık sabittir ve genellikle statik sürtünmenin eşiğinden küçüktür.
• Nedeni sezgiyle anlaşılır: durgun yüzeylerde pürüzler birbirine iyice oturur ve temas noktalarında bağlar kurulmaya zaman bulur; kayarken ise pürüzler tam yerleşemeden birbirinin üstünden atlar.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 adım 4/6
• Sayfanın 01 numaralı laboratuvarındaki 10 kg'lık ahşap kutu için ekranda statik eşik 49,1 N, kinetik sürtünme 34,3 N yazar.
• Kuvveti yavaşça artırdığında olanlar: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 adım 5/6
Uygulanan kuvvet | Sürtünme | Kutu ne yapar?
0 N | 0 N | Durur
20 N | 20 N | Durur
40 N | 40 N | Durur
49 N | 49 N | Tam sınırda, kıpırdamak üzere
60 N | 34,3 N | Kayar; net kuvvet 25,7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Durgunken ve kayarken: iki tür sürtünme — şekil
Statik sürtünme sabit bir sayı değildir: uygulanan kuvvet ne kadarsa o kadar ortaya çıkar ve cismi tam olarak dengede tutar. Ancak bir üst sınırı vardır (μs·N). Üçüncü karede kuvvet bu sınırı aşmıştır; cisim kurtulur ve sürtünme, daha küçük olan kinetik değerine düşer. Kırmızı ok bu yüzden üçüncü karede kısalır.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Durgun cisimde statik sürtünme uygulanan kuvvete eşittir ve bir eşiğe kadar büyüyebilir. Eşik aşılınca cisim kayar ve sürtünme daha küçük, yaklaşık sabit olan kinetik değere düşer.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Yerde duran bir kutuyu hiç itmiyorsan, kutuya etki eden sürtünme kuvveti kaç N'dur?
Sınıfa sorun, birkaç tahmin alın; sonra cevap slaytına geçin.
Cevap: Sıfır. Statik sürtünme yalnızca kaydırmaya çalışan bir kuvvet varken ve o kuvvet kadar ortaya çıkar. Kimse itmiyorsa kutunun kaymaya çalıştığı bir yön yoktur, sürtünmenin karşı koyacağı bir şey de yoktur. Eşik, sürtünmenin alabileceği en büyük değerdir; her an etki eden değer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Sıfır. Statik sürtünme yalnızca kaydırmaya çalışan bir kuvvet varken ve o kuvvet kadar ortaya çıkar. Kimse itmiyorsa kutunun kaymaya çalıştığı bir yön yoktur, sürtünmenin karşı koyacağı bir şey de yoktur. Eşik, sürtünmenin alabileceği en büyük değerdir; her an etki eden değer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eşiği sayıyla yaz, katsayıyı tanı; sonra eğik düzlemde ve frenlemede sürtünmeyi adım adım hesapla.
04 Sürtünme katsayısı ve temel bağıntılar
05 Sürtünme neye bağlı, neye bağlı değil?
06 Sayılarla hisset: ne kadar kuvvet, ne kadar yavaşlama?
07 Eğik düzlemde sürtünme
08 Fren mesafesi ve trafik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1/8
• Birinci basamakta "eşik" dediğimiz sınırın ne kadar olduğunu şimdi yazabiliriz.
• Deneyler, eşiğin normal kuvvetle doğru orantılı olduğunu gösterir: N iki katına çıkınca eşik de iki katına çıkar.
• Bu orantının sabitine statik sürtünme katsayısı (μs) denir.
• Cisim durduğu sürece statik sürtünme uygulanan kuvvete eşittir, ama μs·N'yi aşamaz:
fs = Fuygulanan   fs ≤ μs ·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2/8
• Birinci satır yalnızca cisim durduğu sürece geçerlidir; ikinci satırdaki μs·N ise eşiğin kendisidir.
• Sayfadaki 01 numaralı laboratuvarda kuvveti yavaşça artırdığında bu kopuş anını görürsün.
• Kayan cisim için de bir sabit tanımlanır: kinetik sürtünme katsayısı (μk).
• Kinetik sürtünme uygulanan kuvvetten bağımsızdır ve sabittir:
fk = μk · N   μk &lt; μs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3/8
Formüldeki harfler ne anlama geliyor?
Sembol | Anlamı | Birimi
fs | statik sürtünme: cisim dururken oluşan sürtünme | N
Fuygulanan | senin cisme uyguladığın itme ya da çekme kuvveti | N
μs | statik sürtünme katsayısı: yüzeyler duran cismi ne kadar “tutuyor” | —
N | normal kuvvet: zeminin cismi dik olarak itmesi (yatay zeminde m·g) | N
fk | kinetik sürtünme: cisim kayarken oluşan sürtünme | N
μk | kinetik sürtünme katsayısı; genellikle μs'den küçüktür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4/8
• Kinetik katsayı genellikle statik katsayıdan küçüktür.
• Bu yüzden ağır bir dolabı yerinden oynatmak, oynadıktan sonra itmeye devam etmekten zordur.
• Grafikte bu, eşikte görülen ani düşüştür.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5/8
 | Statik | Kinetik
Ne zaman | Cisim dururken | Cisim kayarken
Büyüklük | Uygulanan kuvvete eşit | μk·N, sabit
Üst sınır | μs·N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şekil
Soldaki grafik hikâyenin tamamı: mavi kısımda cisim durgundur ve sürtünme uygulanan kuvvetle birlikte büyür; eşikte kopar ve sarı kısımda sabit bir değere yerleşir. Sağdaki çubuklar her yüzey çiftinde μk'nin μs'den küçük olduğunu gösteriyor — bir dolabı yerinden oynatmak, sonra itmekten hep daha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7/8
μ birimsizdir ve genellikle 0 ile 1 arasındadır; ama yapışkan yüzeylerde 1'in üstüne de çıkabilir. Sürtünme katsayısı bir orandır: f ile N'nin oranı. Birim kontrolü de bunu doğrular: μ = f/N için N/N, yani birim sadeleşir.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katsayısı ve temel bağıntılar — adım 8/8
Bir sürtünme sorusunu çözme sırası
• Normal kuvveti bul: yatay zeminde, başka düşey kuvvet yoksa N = m·g.
• Eşiği hesapla: μs·N, cismi kıpırdatmak için aşılması gereken kuvvettir.
• Karşılaştır: F ≤ μs·N ise cisim durur; f = F ve a = 0.
• Kayıyorsa kinetiğe geç: F &gt; μs·N ise f = μk·N olur.
• Net kuvvetten ivmeye: a = (F − f) /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Statik sürtünme fs ≤ μs·N, kinetik sürtünme fk = μk·N'dir ve genellikle μk &lt; μs. Önce cismin kayıp kaymadığına karar ver, sonra geçerli bağıntıyı seç.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Kıpırdatmak için 100 N gereken kutu kaydıktan sonra sürtünme 80 N'a düşüyor. 100 N ile itmeye devam edersen ne olur?
Sınıfa sorun, birkaç tahmin alın; sonra cevap slaytına geçin.
Cevap: Kutu hızlanır. Kayarken sürtünme 80 N'dur; sen 100 N ile ittiğine göre 20 N'luk net kuvvet kalır. Kutu 20 kg ise ivmesi 20/20 = 1 m/s² olur. Kutuyu sabit hızla götürmek istiyorsan kuvvetini 80 N'a düşürmen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Kutu hızlanır. Kayarken sürtünme 80 N'dur; sen 100 N ile ittiğine göre 20 N'luk net kuvvet kalır. Kutu 20 kg ise ivmesi 20/20 = 1 m/s² olur. Kutuyu sabit hızla götürmek istiyorsan kuvvetini 80 N'a düşürmen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adım 1/7
• Gözlemlerde yüzeylerin ve bastırmanın önemli olduğunu gördün. f = μ·N bağıntısı bunu kesinleştirir: yüzey çifti μ'nün, bastırma N'nin içindedir.
• Bağıntıda geçmeyen büyüklüklerden de sezgiye ters iki sonuç çıkar.
• Bağlıdır:
• Normal kuvvete (N). Cisme bastırırsan ya da kütlesi artarsa sürtünme artar.
• Yüzey çiftine. Katsayı tek bir cismin değil, iki yüzeyin birlikte özelliğidir.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adım 2/7
• Bağlı değildir:
• Temas alanına. Aynı kütleli bir tuğlayı yan yatırmak sürtünmeyi değiştirmez.
• Kayma hızına (yaklaşık olarak). Hızla belirgin biçimde artan kuvvet, sürtünme değil hava direncidir.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adım 3/7
• Temas alanının etkisizliği en şaşırtıcı olanıdır; geniş yüzey daha çok "tutar" gibi görünür.
• Ama iki yüzey yalnızca pürüzlerinin tepelerinde birbirine değer.
• Gerçek temas alanı, gözle gördüğün alanın çok küçük bir kesridir.
• Görünür alan büyüyünce ağırlık daha çok tepeye dağılır, ama her tepe daha az ezilir; görünür alan küçülünce ağırlığı daha az tepe taşır, ama her biri daha çok ezilir.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adım 4/7
• İki etki birbirini götürür ve gerçek temas alanı — dolayısıyla sürtünme — hemen hemen aynı kalır.
• Onu belirleyen, yüzeylerin birbirine ne kadar bastırıldığıdır.
• Yüzey çiftinin etkisi ise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adım 5/7
• Aşağıdaki değerler yaklaşıktır; yüzeyin temizliğine, nemine ve cilasına göre değişir:
Yüzey çifti | μs | μk
Buz – çelik | 0,10 | 0,03
Ahşap – ahşap | 0,50 | 0,35
Çelik – çelik | 0,70 | 0,60
Lastik – kuru asfalt | 0,90 | 0,70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adım 6/7
• Sayfanın 03 numaralı bölümünde aynı kütleli üç blok, büyüklüğü farklı üç yüzü üzerinde aynı ilk hızla fırlatılır; üçü de aynı noktada durur.
• Hız için de benzer bir durum vardır: bir kutuyu yavaş ya da hızlı kaydırman sürtünmeyi pek değiştirmez.
• Değişen tek şey sürtünmenin ne kadar sürdüğüdür.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neye bağlı, neye bağlı değil? — şekil
Aynı tuğlayı yan yatırmak temas alanını üçe katlar ama sürtünmeyi değiştirmez: f = μ·N bağıntısında alan hiç geçmez. Alan büyüdükçe birim alana düşen basınç küçülür, ikisi birbirini götürür. Sürtünmeyi gerçekten değiştiren şey normal kuvvettir: ikinci tuğlayı üstüne koyunca N iki katına çıkar, sürtünme 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Sürtünme normal kuvvete ve yüzey çiftine bağlıdır; temas alanına ve (yaklaşık olarak) kayma hızına bağlı değildir. Cisme bastırmak sürtünmeyi artırır, tuğlayı yan yatırmak değiştirmez.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yavaşlama? — adım 1/4
• Katsayılar soyut kalmasın.
• Bir önceki bölümdeki dört yüzey çiftini somut bir cisme uygulayalım: yatay zeminde duran 20 kg'lık bir kutu (g = 10 m/s², N = 200 N).
• Son sütun, kutu kendi hâlinde kayarken sürtünmenin ona verdiği yavaşlamadır: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yavaşlama? — adım 2/4
Yüzey çifti | Kıpırdatmak için (μs·N) | Kayarken sürtünme (μk·N) | Yavaşlama (μk·g)
Buz – çelik | 20 N | 6 N | 0,3 m/s²
Ahşap – ahşap | 100 N | 70 N | 3,5 m/s²
Çelik – çelik | 140 N | 120 N | 6 m/s²
Lastik – kuru asfalt | 180 N | 140 N | 7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yavaşlama? — adım 3/4
• Tablodan okunan düzen:
• İkinci sütun hep üçüncüden büyük: her yüzeyde kıpırdatmak, itmeye devam etmekten zordur.
• Buz ile asfalt arasında büyük fark: kutuyu kıpırdatmak için lastik–asfaltta buz–çeliğin 9 katı kuvvet gerekir.
• Yavaşlama kütleden bağımsızdır: 10 m/s ile kayan kutu buz–çelikte yaklaşık 33 s'de, lastik–asfaltta 1,4 s'de durur; kutu kaç kilo olursa olsun.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yavaşlama? — adım 4/4
Yavaşlama neden μk·g?
• Kayan kutuya etki eden tek yatay kuvvet sürtünmedir: f = μk·N.
• Yatay zeminde N = m·g olduğundan f = μk·m·g.
• Newton'un ikinci yasası: m·a = μk·m·g.
• Kütle iki yanda da var, sadeleşir: a = μk·g.
• Serbest düşmedeki gibi kütle sadeleşir: ağır kutu daha büyük sürtünmeyle frenlenir, ama durdurulması da o oranda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Aynı 20 kg'lık kutuyu buz–çelikte kıpırdatmak için 20 N, lastik–asfaltta 180 N gerekir. Kendi hâlinde kayan cisim a = μk·g ile yavaşlar; bu yavaşlama kütleden bağımsızdır.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adım 1/7
• Eğik düzlemde ağırlığı iki bileşene ayırırız: eğime paralel olan bileşen cismi aşağı çekmeye çalışır, dik olan bileşen ise normal kuvveti belirler.
Fparalel = m·g·sinθ   N = m·g·cosθ   fmaks = μs·m·g·cosθ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adım 2/7
Kritik açı nereden çıkıyor?
• Dik doğrultu: cisim eğime dik yönde hareket etmez; N, ağırlığın dik bileşenini dengeler: N = m·g·cosθ.
• Eşik: statik sürtünme en fazla μs·N = μs·m·g·cosθ olabilir.
• Kayma koşulu: paralel bileşen eşiği geçince cisim kayar: m·g·sinθ &gt; μs·m·g·cosθ.
• Sadeleştir: m·g iki yanda da var; sinθ/cosθ = tanθ olduğundan kayma tanθ &gt; μs iken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adım 3/7
• Kütleler sadeleşince geriye çok zarif bir sonuç kalır:
tanθkritik = μs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adım 4/7
• Yani cismin kaymaya başladığı açının tanjantı, doğrudan statik sürtünme katsayısını verir.
• Laboratuvarda μ ölçmenin en kolay yolu budur — sayfadaki 02 numaralı bölüm tam olarak bunu yapıyor.
• Oradaki üç yüzeyin kritik açıları: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adım 5/7
Yüzey | μs | Kritik açı
Kaygan | 0,20 | yaklaşık 11°
Ahşap | 0,50 | yaklaşık 27°
Kauçuk | 0,80 | yaklaşık 39°
• Kayma başladıktan sonra sürtünme kinetiğe döner ve ivme şöyle olur:
a = g·(sinθ − μk·cosθ)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adım 6/7
• Kütle bu bağıntıların hiçbirinde yoktur: ağır da olsa hafif de olsa aynı açıda kayar, aynı ivmeyle iner.
Kritik açının altında f ≠ μs·N. Cisim eğik düzlemde duruyorsa statik sürtünme, ağırlığın paralel bileşenine eşittir: f = m·g·sinθ. μs·m·g·cosθ yalnızca bu sürtünmenin çıkabileceği en büyük değerdir.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düzlemde sürtünme — şekil
Eğik düzlemde ağırlığı iki bileşene ayırırız: eğime paralel olan G·sinθ cismi aşağı çeker, eğime dik olan G·cosθ ise normal kuvvetle dengelenir. Eğim büyüdükçe birinci büyür, ikinci küçülür — yani kaydırıcı kuvvet artarken sürtünmenin dayanağı azalır. İkisi eşitlendiği anda cisim kayar ve o açıda tanθ = μs olur: eğik düzlem, katsayıyı doğrudan ölçen bir alettir.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Eğik düzlemde N = m·g·cosθ olur ve cisim tanθ &gt; μs olduğunda kaymaya başlar; kayarken ivme a = g·(sinθ − μk·cosθ)'dır. Kütle bu bağıntıların hiçbirinde yoktur.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Eğik düzlemde duran bir kutunun üstüne aynı kütlede ikinci bir kutu koyarsan ikisi kaymaya başlar mı?
Sınıfa sorun, birkaç tahmin alın; sonra cevap slaytına geçin.
Cevap: Hayır. Kütle iki katına çıkınca kutuyu aşağı çeken paralel bileşen de iki katına çıkar, sürtünmenin eşiği de; çünkü N de iki katına çıkar. Kayma koşulu tanθ &gt; μs'de kütle hiç geçmez. Kutuyu kaydırmak istiyorsan açıyı artırman ya da yüzeyi kayganlaştırman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Kütle iki katına çıkınca kutuyu aşağı çeken paralel bileşen de iki katına çıkar, sürtünmenin eşiği de; çünkü N de iki katına çıkar. Kayma koşulu tanθ &gt; μs'de kütle hiç geçmez. Kutuyu kaydırmak istiyorsan açıyı artırman ya da yüzeyi kayganlaştırman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 adım 1/6
• Frenleyen bir araç için sürtünme kuvveti f = μ·m·g, ivme ise a = μ·g'dir (kütle yine sadeleşir).
• Bu yavaşlamayı sabit ivmeli hareketin bağıntılarıyla birleştirirsen durma mesafesi adım adım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 adım 2/6
• Yavaşlama: yolun lastiğe uyguladığı sürtünme f = μ·m·g, ivme a = μ·g.
• Zamansız bağıntı: sabit ivmeyle yavaşlayıp duran araç için v² = 2·a·d yazılır (son hız sıfır).
• Yerine koy: v² = 2·μ·g·d, buradan dfren = v² / (2·μ·g).
• Tepki payını ekle: sürücü frene basana kadar araç sabit hızla gider: dtepki = v·ttepki.
dfren = v² / (2·μ·g)   dtepki = v · ttepki   dtoplam = dtepki + dfren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 adım 3/6
• Fren mesafesi hızın karesiyle artar: hızı iki katına çıkarmak fren mesafesini dört katına çıkarır.
• Islak asfaltta μ yarıya inerse mesafe iki katına çıkar.
• Tepki mesafesi ise hızla doğru orantılıdır ve frenden önce alınır — sayfadaki 04 numaralı bölümde ikisini ayrı ayrı görebilirsin.
• Oradaki kuru yol ayarıyla (μ = 0,80, tepki süresi 1,0 s, g = 9,81 m/s²) yuvarlanmış değerler: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 adım 4/6
Hız | Tepki mesafesi | Fren mesafesi | Toplam
50 km/h | 14 m | 12 m | 26 m
90 km/h | 25 m | 40 m | 65 m
100 km/h | 28 m | 49 m | 77 m
120 km/h | 33 m | 71 m | 104 m
130 km/h | 36 m | 83 m | 119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 adım 5/6
• Düşük hızda durma mesafesinin büyük kısmı tepki payıdır; hız arttıkça fren payı hızla öne geçer.
• 50'den 100 km/h'ye çıkınca tepki mesafesi 2 katına, fren mesafesi 4 katına, toplam ise yaklaşık 3 katına çıkar.
• Yol ıslanınca (μ = 0,50) 90 km/h'deki fren mesafesi 40 m'den yaklaşık 64 m'ye, karda (μ = 0,20) yaklaşık 159 m'ye uzar.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Fren mesafesi ve trafik — şekil
Durma mesafesi iki parçadan oluşur. Tepki mesafesi hızla doğru orantılıdır (d = v·t), ama fren mesafesi hızın karesiyle artar (d = v²/2μg). Bu yüzden hızı iki katına çıkarmak toplam mesafeyi iki değil üç katına çıkarır. Islak yolda μ yarıya inerse fren mesafesi ikiye katlanır — hız sınırlarının sebebi bu karesel terimdir.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Fren mesafesi v²/(2·μ·g) hızın karesiyle, tepki mesafesi v·t hızla doğru orantılı büyür. Hız iki katına çıkınca fren mesafesi 4, toplam durma mesafesi yaklaşık 3 katına çıkar.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normal kuvvet değişince, tekerlek dönünce ve basit model zorlanınca ne olur; sonra sürtünme gerçek hayatta.
09 Normal kuvvet her zaman m·g değildir
10 Dönen tekerlek, ABS ve modelin sınırları
11 Sürtünme gerçek dünyada
Görsel: Curling, sürtünmeyi ayarlama oyunudur. Yaklaşık 20 kg'lık granit taş buz üzerinde onlarca metre kayar. Oyuncular taşın yolundaki buzu fırçalayarak sürtünmeyi biraz daha azaltır; böylece taş biraz daha uzağa ve daha düz gider. Taş bırakıldıktan sonra bile yolunu bu küçük sürtünme farkı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adım 1/6
• Şimdiye kadarki örneklerin çoğunda N = m·g aldık.
• Oysa normal kuvvet cismin sabit bir özelliği değildir; zemin, cismi içine batırmamak için ne kadar gerekiyorsa o kadar iter.
• Cisme başka düşey kuvvetler etki edince ya da zemin ivmelenince N, onunla birlikte de sürtünmenin eşiği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adım 2/6
Durum | Normal kuvvet
Yatay zemin, başka düşey kuvvet yok | N = m·g
Üstten F kuvvetiyle bastırılıyor | N = m·g + F
F ile α açısıyla yukarı doğru çekiliyor | N = m·g − F·sinα
F ile α açısıyla aşağı doğru itiliyor | N = m·g + F·sinα
Yukarı doğru a ivmesiyle hızlanan asansör | N = m·(g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adım 3/6
• Eğik düzlemde de N = m·g·cosθ olduğunu görmüştün.
• Kısacası N'yi her soruda yüzeye dik doğrultudaki kuvvetlerden yeniden bul; eğik çekilen kızakla eğik itilen kızak arasındaki farkı çözümlü örneklerde sayılarla göreceksin.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adım 4/6
Duvara bastırılan kitap
• Bir kitabı elinle duvara yatay olarak bastır: düşmez.
• Burada normal kuvvet yataydır ve senin bastırma kuvvetine eşittir.
• Sürtünme ise duvara paralel, yani düşeydir ve kitabın ağırlığını yukarı doğru dengeler.
• Kitabın düşmemesi için gereken koşul:
N = F   m·g ≤ μs·F   F ≥ m·g / μs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adım 5/6
• 1 kg'lık kitap ve μs = 0,5 için F ≥ 10 / 0,5 = 20 N gerekir.
• Burada kitabın ağırlığı sürtünmeyi artırmaz, yalnızca taşınması gereken yükü artırır; sürtünmeyi artırmanın tek yolu daha sıkı bastırmaktır.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kuvvet her zaman m·g değildir — şekil
Benzer yük taşıyan iki kızaktan öndeki yukarı doğru eğik bir iple çekiliyor, arkadaki ise aşağı doğru eğik kollarla itiliyor. Eğik ipin düşey bileşeni kızağı biraz kaldırır, N = m·g − F·sinα küçülür ve sürtünme azalır; aşağı doğru eğik itiş ise kızağı kara bastırır, N = m·g + F·sinα büyür ve sürtünme artar. Bu yüzden aynı kızağı çekmek, itmekten daha kolaydır.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Normal kuvvet, zeminin gerektiği kadar ittiği bir tepkidir: bastırınca, eğik çekince, asansörde ya da eğik düzlemde değişir. N'yi her soruda yüzeye dik doğrultudaki kuvvetlerden yeniden bul.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Karda bir kızağı ipiyle yukarı doğru eğik çekmek mi, arkadan aşağı doğru eğik itmek mi daha kolaydır?
Sınıfa sorun, birkaç tahmin alın; sonra cevap slaytına geçin.
Cevap: Çekmek. Eğik çektiğinde kuvvetin düşey bileşeni kızağı biraz kaldırır; N ve dolayısıyla sürtünme küçülür. Aşağı doğru eğik ittiğinde düşey bileşen kızağı kara bastırır; N büyür, sürtünme artar. Kuvvetin yatay bileşeni iki durumda da aynıdır, ama çekerken ona karşı koyan sürtünme daha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Çekmek. Eğik çektiğinde kuvvetin düşey bileşeni kızağı biraz kaldırır; N ve dolayısıyla sürtünme küçülür. Aşağı doğru eğik ittiğinde düşey bileşen kızağı kara bastırır; N büyür, sürtünme artar. Kuvvetin yatay bileşeni iki durumda da aynıdır, ama çekerken ona karşı koyan sürtünme daha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adım 1/6
• Bir araba yolda kaymadan ilerlerken lastiğin yola değen noktası o an yola göre durgundur: tekerleğin dönüşü ile aracın ilerleyişi o noktada birbirini tam olarak götürür.
• Bu yüzden yol ile lastik arasındaki sürtünme, araba 100 km/h ile gitse bile statik sürtünmedir.
• Araba hızlanırken tekerlek yolu geriye doğru iter, yol da arabayı ileriye 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adım 2/6
• Arabayı hızlandıran, frenlerken durduran ve virajda yolunda tutan kuvvet hep budur.
ABS neden var? Tekerlek kilitlenip kayarsa devreye kinetik sürtünme girer ve μ küçülür. ABS, tekerleği kilitlenme sınırında tutarak daha büyük olan statik sürtünmeden yararlanır; ayrıca direksiyon hâkimiyetini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adım 3/6
• Direksiyon hâkimiyeti de sürtünmenin yönüyle ilgilidir: kilitlenmiş tekerlek kayarken kinetik sürtünme kayma yönünün tersine bakar; direksiyonu çevirsen de bu yön değişmez, araç düz gitmeye devam eder. f = μ·N modeli çok kullanışlıdır, ama bir yaklaşımdır: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adım 4/6
• μ tam sabit değildir: kayma hızıyla ve sıcaklıkla biraz değişir; uzun yokuş inişinde aşırı ısınan frenler zayıflayabilir.
• μ 1'i aşabilir: yumuşak kauçuk ve silikon gibi malzemelerde yapışma baskındır; sürtünme normal kuvvetten büyük olabilir.
• Araya giren sıvı yüzeyleri ayırır: yağ makinede sürtünmeyi azaltır; ıslak yolda lastik su tabakasının üstüne çıkarsa tutuş neredeyse kaybolur.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adım 5/6
• Yuvarlanmak kaymaktan çok kolaydır: yuvarlanma direnci katsayısı araba lastiğinde yaklaşık 0,01'dir, çelik tren tekerleğinde bundan da birkaç kat küçüktür.
• Yumuşak malzemede alan biraz etkiler: kauçuğun katsayısı basınç arttıkça bir miktar düşer; "alan fark etmez" kuralı sert yüzeylerde daha iyi tutar.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Dönen tekerlek, ABS ve modelin sınırları — şekil
Asfalttaki iki siyah fren izi tekerleklerin kilitlenip yol üzerinde kaydığını gösteriyor. Kayan lastikte devreye daha küçük olan kinetik sürtünme girer; sürtünme lastiği ısıtıp aşındırarak yolda iz bırakır, direksiyonu çevirsen de araç düz gitmeyi sürdürür. ABS tekerleği kilitlenme sınırında döndürür; böylece daha büyük olan statik sürtünmeden yararlanılır ve direksiyon hâkimiyeti korunur.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Kaymadan dönen tekerlekte yol ile lastik arasındaki sürtünme statiktir; aracı hızlandıran, durduran ve virajda tutan odur. f = μ·N bir yaklaşımdır: μ sıcaklıkla değişebilir, 1'i aşabilir, araya sıvı girince çok küçülür.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Temas alanı sürtünmeyi değiştirmiyorsa yarış arabalarının lastikleri neden bu kadar geniştir?
Sınıfa sorun, birkaç tahmin alın; sonra cevap slaytına geçin.
Cevap: Çünkü kauçuk, f = μ·N modeline tam uymaz. Geniş lastik aynı ağırlığı daha geniş bir alana yayıp basıncı düşürür; kauçuğun katsayısı düşük basınçta biraz daha yüksektir. Ayrıca geniş yüzey, sürtünmenin ürettiği ısıyı ve aşınmayı daha büyük bir alana dağıtır ve lastik aşırı ısınmaz.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kauçuk, f = μ·N modeline tam uymaz. Geniş lastik aynı ağırlığı daha geniş bir alana yayıp basıncı düşürür; kauçuğun katsayısı düşük basınçta biraz daha yüksektir. Ayrıca geniş yüzey, sürtünmenin ürettiği ısıyı ve aşınmayı daha büyük bir alana dağıtır ve lastik aşırı ısınmaz.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 adım 1/5
• Mühendislik çoğu zaman sürtünmeyi doğru yerde artırıp doğru yerde azaltma işidir.
• İstemediğimiz yerde sürtünmeyi azaltmak için yağ, rulman, hava yastığı; istediğimiz yerde artırmak için tırtıklı yüzey, kışlık lastik, reçine kullanılır.
• Bazı sporlar ise tamamen sürtünmenin ince ayarı üzerine kuruludur.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 adım 2/5
• Curling: 2 m/s ile bırakılıp 28 m kayan bir taş varsayarsan μk = v²/(2·g·d) ≈ 0,007 çıkar; buz–çelikteki 0,03'ün yaklaşık dörtte biri.
• Frenler: 1000 kg'lık bir araç 90 km/h'den durunca yaklaşık 310 kJ kinetik enerji balata–disk sürtünmesiyle ısıya dönüşür.
• Kış lastiği ve zincir: karda μ 0,20'ye iner; 90 km/h'de fren mesafesi kuru yolun 4 katına, yaklaşık 160 m'ye çıkar.
• Yağ ve rulman: kuru çelik–çelikte 0,6 olan katsayı yağlanınca 0,1 civarına iner; bilyeli rulman kaymayı yuvarlanmaya çevirir.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 adım 3/5
• Yürümek: adım atan ayak yere eğik basar; buzda μ çok küçük olduğundan kısa adımlarla, ayağı daha dik basarak yürürsün.
• Kibrit: kutunun yan yüzeyine sürtülen kibrit başı, sürtünmenin ürettiği ısıyla tutuşma sıcaklığına ulaşır.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 adım 4/5
Faydalı olduğu yerler | Zararlı olduğu yerler
Yürümek, koşmak | Makine parçalarının aşınması
Fren yapmak, virajı dönmek | Isınma ve enerji kaybı
Vida, çivi ve düğümün tutması | Verimin düşmesi
Elimizle bir şey tutabilmek | Uçak ve araçlarda yakıt tüketimi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gerçek dünyada — adım 5/5
• Frenler önceki bölüme bağlanır: araç kaymadan durduğunda lastik ile yol arasındaki sürtünme statiktir ve enerjiyi ısıya çevirmez.
• Isınan, birbirine göre kayan balata ile disktir.
• Tekerlek kilitlenirse ısınan lastiğin kendisi olur ve yolda siyah bir iz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Sürtünme mühendislikte bir ayar düğmesidir: frende, lastikte ve yürürken artırılır, makinelerde yağ ve rulmanla azaltılır. Curling'de oyuncular buzu fırçalayarak taşın ne kadar kayacağını değiştirir.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sürtünme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Kutu hareket eder mi?
Yatay zeminde duran 20 kg'lık kutu için μs = 0,5 ve μk = 0,4'tür. (a) 80 N'luk yatay kuvvet uygulanırsa kutu hareket eder mi, sürtünme kaç N olur? (b) Kuvvet 120 N'a çıkarılırsa ivme ne olur?
Verilenler: m = 20 kg · μs = 0,5 · μk = 0,4 · kutu başta duruyor · yatay kuvvet (a) F = 80 N, (b) F = 120 N · g = 10 m/s²
İstenen: (a) kutu hareket eder mi, sürtünme f kaç N · (b) ivme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Kutu hareket eder mi? — çözüm
1. N = m·g = 200 N, statik eşik: μs·N = 0,5 · 200 = 100 N
2. (a) 80 N &lt; 100 N olduğu için kutu hareket etmez; statik sürtünme uygulanan kuvvete eşittir: f = 80 N, a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Kutu hareket eder mi? — çözüm
3. (b) 120 N &gt; 100 N → kayma başlar. Artık kinetik sürtünme geçerlidir: f = μk·N = 0,4 · 200 = 80 N
4. a = (120 − 80) / 20 = 2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Sabit hızla çekilen kutudan μk ölçmek
5 kg'lık bir kutu, yatay zeminde dinamometreyle sabit hızla çekiliyor; dinamometre 15 N gösteriyor. (a) μk kaçtır? (b) Kutunun üstüne 5 kg'lık ikinci bir kutu konup ikisi yine sabit hızla çekilirse dinamometre kaç N gösterir?
Verilenler: m = 5 kg · sabit hız → a = 0 · dinamometre F = 15 N · (b) üstüne 5 kg daha → toplam 10 kg · g = 10 m/s²
İstenen: (a) kinetik sürtünme katsayısı μk · (b) iki kutu sabit hızla çekilirken dinamometrenin gösterdiği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Sabit hızla çekilen kutudan μk ölçmek — çözüm
1. Sabit hız → net kuvvet sıfır → kinetik sürtünme çekme kuvvetine eşit: f = 15 N
2. N = m·g = 5 · 10 = 50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Sabit hızla çekilen kutudan μk ölçmek — çözüm
3. (a) μk = f / N = 15 / 50 = 0,3
4. (b) N = 10 · 10 = 100 N → f = 0,3 · 100 = 30 N; kütle 2 katına çıkınca sürtünme de 2 katına çıktı.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Kayan cismin durması
Yatay zeminde 10 m/s hızla kayan 5 kg'lık cisim, μk = 0,25 olan yüzeyde yavaşlıyor. Kaç metre sonra ve kaç saniyede durur?
Verilenler: v₀ = 10 m/s · m = 5 kg · μk = 0,25 · son hız v = 0 (cisim duruyor) · g = 10 m/s²
İstenen: durma mesafesi d · durma süresi 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Kayan cismin durması — çözüm
1. Tek yatay kuvvet sürtünmedir: f = μk·m·g = 0,25 · 5 · 10 = 12,5 N
2. a = −f/m = −2,5 m/s² (yavaşlatıcı)
3. Mesafe: v²/(2a) = 100 / 5 = 20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Kayan cismin durması — çözüm
4. Süre: v/a = 10 / 2,5 = 4 s
5. Kütle sonuçta görünmez: a = μ·g olduğu için 50 kg'lık cisim de aynı yerde dururdu.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Kritik açıdan μ bulma
Eğimi yavaşça artırılan bir düzlemde cisim, açı 37° olduğunda kaymaya başlıyor. (a) μs kaçtır? (b) μk = 0,5 ise kaymaya başladıktan sonraki ivmesi nedir? (sin37° = 0,6 · cos37° = 0,8)
Verilenler: kaymanın başladığı açı θkritik = 37° · μk = 0,5 · sin37° = 0,6 · cos37° = 0,8 · g = 10 m/s²
İstenen: (a) statik sürtünme katsayısı μs · (b) kaymaya başladıktan sonraki ivme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Kritik açıdan μ bulma — çözüm
1. (a) tanθ = μs → μs = tan37° = 0,6/0,8 = 0,75
2. (b) a = g·(sinθ − μk·cosθ) = 10·(0,6 − 0,5·0,8)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Kritik açıdan μ bulma — çözüm
3. a = 10 · (0,6 − 0,4) = 2 m/s²
4. Kütle hiçbir adımda kullanılmadı; sonuç kütleden bağımsızdır.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Fren mesafesi ve hız
72 km/h ile giden bir araç, μ = 0,5 olan bir yolda fren yapıyor. Sürücünün tepki süresi 1 s'dir. (a) Toplam durma mesafesi nedir? (b) Hız iki katına çıkarsa fren mesafesi ne olur?
Verilenler: v = 72 km/h · μ = 0,5 · ttepki = 1 s · g = 10 m/s² · (b) hız iki katına çıkıyor
İstenen: (a) toplam durma mesafesi dtoplam · (b) iki kat hızda fren mesafesi dfren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Fren mesafesi ve hız — çözüm
1. 72 km/h = 72/3,6 = 20 m/s
2. (a) Tepki mesafesi: 20 · 1 = 20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Fren mesafesi ve hız — çözüm
3. Fren mesafesi: v²/(2μg) = 400 / (2·0,5·10) = 40 m → toplam 60 m
4. (b) v = 40 m/s için fren mesafesi: 1600/10 = 160 m — hız 2 katına çıkınca fren mesafesi 4 katına çıktı.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Kızağı çekmek mi, itmek mi?
Karda kaymakta olan 20 kg'lık bir kızağa 100 N'luk kuvvet, yatayla 37° açı yapacak biçimde uygulanıyor; μk = 0,2. Kuvvet (a) yukarı doğru eğik çekerek, (b) aşağı doğru eğik iterek uygulanırsa kızağın ivmesi ne olur? (sin37° = 0,6 · cos37° = 0,8)
Verilenler: m = 20 kg · F = 100 N · yatayla açı α = 37° · μk = 0,2 · kızak zaten kayıyor · sin37° = 0,6 · cos37° = 0,8 · g = 10 m/s²
İstenen: kızağın ivmesi a: (a) yukarı doğru eğik çekerken · (b) aşağı doğru eğik iterken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Kızağı çekmek mi, itmek mi? — çözüm
1. Kuvvetin bileşenleri: yatay 100 · 0,8 = 80 N, düşey 100 · 0,6 = 60 N; ağırlık 200 N.
2. (a) Çekerken düşey bileşen yukarı: N = 200 − 60 = 140 N → f = 0,2 · 140 = 28 N
3. a = (80 − 28) / 20 = 2,6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Kızağı çekmek mi, itmek mi? — çözüm
4. (b) İterken düşey bileşen aşağı: N = 200 + 60 = 260 N → f = 0,2 · 260 = 52 N
5. a = (80 − 52) / 20 = 1,4 m/s² — aynı kuvvet, çekerken neredeyse iki kat ivme.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Eğik düzlemde yukarı fırlatılan blok
37°'lik eğik düzlemin altından bir blok, eğim boyunca yukarı 10 m/s hızla fırlatılıyor (μs = 0,7 · μk = 0,5). (a) Blok eğim boyunca kaç metre çıkar? (b) Tepede kalır mı? (c) Kalmıyorsa başlangıç noktasına hangi süratle döner?
Verilenler: θ = 37° · v₀ = 10 m/s (eğim boyunca yukarı) · μs = 0,7 · μk = 0,5 · sin37° = 0,6 · cos37° = 0,8 · g = 10 m/s²
İstenen: (a) eğim boyunca çıkış mesafesi d · (b) blok tepede kalır mı · (c) başlangıç noktasına dönüş sürati v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Eğik düzlemde yukarı fırlatılan blok — çözüm
1. Çıkarken sürtünme de ağırlığın paralel bileşeni de aşağı yönlüdür: a = g·(sinθ + μk·cosθ) = 10·(0,6 + 0,4) = 10 m/s² (yavaşlatıcı)
2. (a) d = v₀² / (2a) = 100 / 20 = 5 m
3. (b) tan37° = 0,75 &gt; μs = 0,7 → statik sürtünme yetmez, blok geri kayar.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Eğik düzlemde yukarı fırlatılan blok — çözüm
4. İnerken sürtünme yukarı yönlüdür: a = g·(sinθ − μk·cosθ) = 10·(0,6 − 0,4) = 2 m/s²
5. (c) v² = 2·a·d = 2 · 2 · 5 = 20 → v = √20 ≈ 4,5 m/s
Serbest düşmedeki simetri burada yoktur: blok 1 s'de çıkar, ama √5 ≈ 2,2 s'de iner ve fırlatıldığı hızın yarısından azıyla döner. Aradaki enerji sürtünmeyle ısıya dönüşmüştür.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Yatay zeminde kayan 10 kg'lık bir kutu için μk = 0,3'tür. Kutuya etki eden kinetik sürtünme kuvveti kaç N'dur?
Öğrencilere 2–3 dakika verin; sonra cevap slaytını açın.
Cevap: Cevap: N = m · g = 10 · 10 = 100 N. fk = μk · N = 0,3 · 100 = 30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 = m · g = 10 · 10 = 100 N. fk = μk · N = 0,3 · 100 = 30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Yatay zeminde duran 30 kg'lık bir sandık için μs = 0,4'tür. Sandığı kıpırdatmak için en az kaç N'luk yatay kuvvet gerekir?
Öğrencilere 2–3 dakika verin; sonra cevap slaytını açın.
Cevap: Cevap: N = m · g = 30 · 10 = 300 N. Eşik μs · N = 0,4 · 300 = 120 N; kuvvet bunu aşınca sandık kaymaya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 = m · g = 30 · 10 = 300 N. Eşik μs · N = 0,4 · 300 = 120 N; kuvvet bunu aşınca sandık kaymaya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Buz pistinde 6 m/s hızla kaymaya başlayan bir disk için μk = 0,1'dir. Disk kaç metre sonra ve kaç saniyede durur?
Öğrencilere 2–3 dakika verin; sonra cevap slaytını açın.
Cevap: Cevap: Tek yatay kuvvet sürtünmedir: a = μk · g = 0,1 · 10 = 1 m/s² (yavaşlatıcı). Mesafe d = v² / (2a) = 36 / 2 = 18 m. Süre t = v / a = 6 / 1 = 6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Tek yatay kuvvet sürtünmedir: a = μk · g = 0,1 · 10 = 1 m/s² (yavaşlatıcı). Mesafe d = v² / (2a) = 36 / 2 = 18 m. Süre t = v / a = 6 / 1 = 6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37°'lik bir eğik düzlemde aşağı doğru kayan cisim için μk = 0,25'tir. Cismin ivmesi kaç m/s²'dir?
Öğrencilere 2–3 dakika verin; sonra cevap slaytını açın.
Cevap: Cevap: a = g · (sinθ − μk · cosθ) = 10 · (0,6 − 0,25 · 0,8) = 10 · (0,6 − 0,2) = 4 m/s². Kütle gerekmedi; sonuç her kütle için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a = g · (sinθ − μk · cosθ) = 10 · (0,6 − 0,25 · 0,8) = 10 · (0,6 − 0,2) = 4 m/s². Kütle gerekmedi; sonuç her kütle için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Yatay zeminde duran 10 kg'lık bir kutu, 60 N'luk yatay kuvvetle 5 s kaydırılıp bırakılıyor (μk = 0,2). Bırakıldıktan sonra kutu kaç metre daha kayar?
Öğrencilere 2–3 dakika verin; sonra cevap slaytını açın.
Cevap: Cevap: Sürtünme f = μk · m · g = 0,2 · 100 = 20 N. İtilirken a = (60 − 20) / 10 = 4 m/s²; 5 s sonunda v = 4 · 5 = 20 m/s. Bırakılınca yalnızca sürtünme kalır: yavaşlama μk · g = 2 m/s². Kayma mesafesi d = v² / (2 · 2) = 400 / 4 = 100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Sürtünme f = μk · m · g = 0,2 · 100 = 20 N. İtilirken a = (60 − 20) / 10 = 4 m/s²; 5 s sonunda v = 4 · 5 = 20 m/s. Bırakılınca yalnızca sürtünme kalır: yavaşlama μk · g = 2 m/s². Kayma mesafesi d = v² / (2 · 2) = 400 / 4 = 100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“Sürtünme her zaman hareketi engeller.” Sürtünme bağıl kaymaya zıttır; yürümeyi, frenlemeyi ve virajı dönmeyi sağlayan da odur.
• “f = μ·N her durumda geçerlidir.” Statik durumda f, uygulanan kuvvete eşittir; μs·N yalnızca üst sınırdır.
• “Temas alanı büyükse sürtünme büyüktür.” Alan bağıntıda yoktur.
• “Kinetik sürtünme hızla artar.” Yaklaşık olarak sabittir; hızla artan kuvvet hava direncidir (bkz. Konu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“N her zaman m·g'dir.” Eğik düzlemde N = m·g·cosθ; eğik bir kuvvet uygulandığında ya da asansörde de değişir.
• “Ağır cisim eğik düzlemde daha geç kayar.” Kritik açı kütleden bağımsızdır.
• “Fren mesafesi hızla doğru orantılıdır.” Hızın karesiyle artar; doğru orantılı olan tepki mesafesidir.
• “Dönen tekerlekteki sürtünme kinetiktir.” Kaymadan dönen tekerleğin yola değen noktası o an durgundur, sürtünme statiktir; kinetik olan kilitlenip kayan tekerlektir.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Statik f ≤ μs·N · Kinetik f = μk·N · Alana bağlı değil · Kritik açı tanθ = μs
fs ≤ μs · N — statik: eşiğe kadar dengeler
fk = μk · N — kinetik: sabit
tanθ = μs — kaymanın başladığı açı
d = v² / (2·μ·g) — fren mesafesi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surtunme-kuvveti-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04</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500" b="1" spc="-100" kern="0" dirty="0">
                <a:solidFill>
                  <a:srgbClr val="FFFFFF"/>
                </a:solidFill>
                <a:latin typeface="Cambria" pitchFamily="34" charset="0"/>
                <a:ea typeface="Cambria" pitchFamily="34" charset="-122"/>
                <a:cs typeface="Cambria" pitchFamily="34" charset="-120"/>
              </a:rPr>
              <a:t>Sürtünme kuvveti</a:t>
            </a:r>
            <a:endParaRPr lang="en-US" sz="45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300" dirty="0">
                <a:solidFill>
                  <a:srgbClr val="C3CEE8"/>
                </a:solidFill>
                <a:latin typeface="Calibri" pitchFamily="34" charset="0"/>
                <a:ea typeface="Calibri" pitchFamily="34" charset="-122"/>
                <a:cs typeface="Calibri" pitchFamily="34" charset="-120"/>
              </a:rPr>
              <a:t>Dokunan her iki yüzey arasında, kaymaya karşı koyan bir kuvvet doğar. Cisim henüz hareket etmiyorken bu kuvvet sana ayak uydurur; bir eşiği aştığında ise sabitlenir ve cisim kaymaya başlar. Aşağıda bu eşiği kendin bul, eğik düzlemde μ'yü ölç, fren mesafesini hesapla.</a:t>
            </a:r>
            <a:endParaRPr lang="en-US" sz="13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Ağır bir sandığı itmeye başladığında neden önce hiç kıpırdamaz, sonra bir anda kurtulup daha kolay kaymaya başlar?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Yürüyebilmemizin, frene basınca durabilmemizin, bir bardağı elimizde tutabilmemizin sorumlusu hep aynı kuvvet.</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Aynı kuvvet motorları aşındırır, yakıt yakar ve buzda arabayı savurur.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Bu yüzden sürtünmeyi "iyi" ya da "kötü" diye değil, </a:t>
            </a:r>
            <a:pPr indent="0" marL="0">
              <a:lnSpc>
                <a:spcPct val="130000"/>
              </a:lnSpc>
              <a:buNone/>
            </a:pPr>
            <a:r>
              <a:rPr lang="en-US" sz="1950" b="1" dirty="0">
                <a:solidFill>
                  <a:srgbClr val="5F4BD8"/>
                </a:solidFill>
                <a:latin typeface="Cambria" pitchFamily="34" charset="0"/>
                <a:ea typeface="Cambria" pitchFamily="34" charset="-122"/>
                <a:cs typeface="Cambria" pitchFamily="34" charset="-120"/>
              </a:rPr>
              <a:t>ne zaman ne kadar ortaya çıktığını hesaplayabildiğimiz bir kuvvet</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olarak öğreniyoruz — ve şaşırtıcı biçimde temas alanının bununla hiç ilgisi yok.</a:t>
            </a:r>
            <a:endParaRPr lang="en-US" sz="195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sürtünmeyi gündelik sahnelerde gözle, adını koy ve durgun cisimle kayan cisim arasındaki farkı gör.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sürtünme ne zaman ortaya çıkar?</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kuvveti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Durgunken ve kayarken: iki tür sürtünme</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eşiği sayıyla yaz, katsayıyı tanı; sonra eğik düzlemde ve frenlemede sürtünmeyi adım adım hesapla.</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katsayısı ve temel bağıntılar</a:t>
            </a:r>
            <a:endParaRPr lang="en-US" sz="1250" dirty="0"/>
          </a:p>
        </p:txBody>
      </p:sp>
      <p:sp>
        <p:nvSpPr>
          <p:cNvPr id="28" name="Text 26"/>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neye bağlı, neye bağlı değil?</a:t>
            </a:r>
            <a:endParaRPr lang="en-US" sz="1250" dirty="0"/>
          </a:p>
        </p:txBody>
      </p:sp>
      <p:sp>
        <p:nvSpPr>
          <p:cNvPr id="30" name="Text 28"/>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ne kadar kuvvet, ne kadar yavaşlama?</a:t>
            </a:r>
            <a:endParaRPr lang="en-US" sz="1000" dirty="0"/>
          </a:p>
        </p:txBody>
      </p:sp>
      <p:sp>
        <p:nvSpPr>
          <p:cNvPr id="32" name="Text 30"/>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Eğik düzlemde sürtünme</a:t>
            </a:r>
            <a:endParaRPr lang="en-US" sz="1250" dirty="0"/>
          </a:p>
        </p:txBody>
      </p:sp>
      <p:sp>
        <p:nvSpPr>
          <p:cNvPr id="34" name="Text 32"/>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Fren mesafesi ve trafik</a:t>
            </a:r>
            <a:endParaRPr lang="en-US" sz="12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Derinleşme: normal kuvvet değişince, tekerlek dönünce ve basit model zorlanınca ne olur; sonra sürtünme gerçek hayatta.</a:t>
            </a:r>
            <a:endParaRPr lang="en-US" sz="105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Normal kuvvet her zaman m·g değildir</a:t>
            </a:r>
            <a:endParaRPr lang="en-US" sz="1250" dirty="0"/>
          </a:p>
        </p:txBody>
      </p:sp>
      <p:sp>
        <p:nvSpPr>
          <p:cNvPr id="45" name="Text 43"/>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Dönen tekerlek, ABS ve modelin sınırları</a:t>
            </a:r>
            <a:endParaRPr lang="en-US" sz="1200" dirty="0"/>
          </a:p>
        </p:txBody>
      </p:sp>
      <p:sp>
        <p:nvSpPr>
          <p:cNvPr id="47" name="Text 45"/>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gerçek dünyada</a:t>
            </a:r>
            <a:endParaRPr lang="en-US" sz="1250" dirty="0"/>
          </a:p>
        </p:txBody>
      </p:sp>
      <p:sp>
        <p:nvSpPr>
          <p:cNvPr id="49" name="Shape 47"/>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0" name="Shape 48"/>
          <p:cNvSpPr/>
          <p:nvPr/>
        </p:nvSpPr>
        <p:spPr>
          <a:xfrm>
            <a:off x="9157487" y="1645920"/>
            <a:ext cx="2211248" cy="64008"/>
          </a:xfrm>
          <a:prstGeom prst="rect">
            <a:avLst/>
          </a:prstGeom>
          <a:solidFill>
            <a:srgbClr val="A56209"/>
          </a:solidFill>
          <a:ln/>
        </p:spPr>
      </p:sp>
      <p:sp>
        <p:nvSpPr>
          <p:cNvPr id="51" name="Shape 49"/>
          <p:cNvSpPr/>
          <p:nvPr/>
        </p:nvSpPr>
        <p:spPr>
          <a:xfrm>
            <a:off x="9194063" y="1920240"/>
            <a:ext cx="420624" cy="420624"/>
          </a:xfrm>
          <a:prstGeom prst="roundRect">
            <a:avLst>
              <a:gd name="adj" fmla="val 26000"/>
            </a:avLst>
          </a:prstGeom>
          <a:solidFill>
            <a:srgbClr val="A56209"/>
          </a:solidFill>
          <a:ln/>
        </p:spPr>
      </p:sp>
      <p:sp>
        <p:nvSpPr>
          <p:cNvPr id="52" name="Text 50"/>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3" name="Text 51"/>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4" name="Text 52"/>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sürtünme sorularında puan kaybettiren klasik hatalar.</a:t>
            </a:r>
            <a:endParaRPr lang="en-US" sz="1150" dirty="0"/>
          </a:p>
        </p:txBody>
      </p:sp>
      <p:sp>
        <p:nvSpPr>
          <p:cNvPr id="55" name="Shape 53"/>
          <p:cNvSpPr/>
          <p:nvPr/>
        </p:nvSpPr>
        <p:spPr>
          <a:xfrm>
            <a:off x="9194063" y="3429000"/>
            <a:ext cx="2138096" cy="0"/>
          </a:xfrm>
          <a:prstGeom prst="line">
            <a:avLst/>
          </a:prstGeom>
          <a:noFill/>
          <a:ln w="9525">
            <a:solidFill>
              <a:srgbClr val="E1E5EE"/>
            </a:solidFill>
            <a:prstDash val="dash"/>
          </a:ln>
        </p:spPr>
      </p:sp>
      <p:sp>
        <p:nvSpPr>
          <p:cNvPr id="56" name="Text 54"/>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8" name="Text 56"/>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0" name="Shape 58"/>
          <p:cNvSpPr/>
          <p:nvPr/>
        </p:nvSpPr>
        <p:spPr>
          <a:xfrm>
            <a:off x="640080" y="6382512"/>
            <a:ext cx="128016" cy="128016"/>
          </a:xfrm>
          <a:prstGeom prst="roundRect">
            <a:avLst>
              <a:gd name="adj" fmla="val 28571"/>
            </a:avLst>
          </a:prstGeom>
          <a:solidFill>
            <a:srgbClr val="A9E648"/>
          </a:solidFill>
          <a:ln/>
        </p:spPr>
      </p:sp>
      <p:sp>
        <p:nvSpPr>
          <p:cNvPr id="61" name="Text 5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62" name="Text 6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Kuvvet ve net kuvvet:</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kuvvet bir itme ya da çekmedir ve newton (N) ile ölçülür. Zıt yönlü kuvvetler birbirinden çıkarılır: 50 N ileri, 20 N geri → net 30 N ileri.</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Newton'un 2. yasası: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net kuvvet cismi ivmelendirir: a = ΣF / m. 10 N'luk net kuvvet 5 kg'lık bir kutuya 10 / 5 = 2 m/s² ivme verir.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Ağırlık: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Dünya'nın bir cismi çekme kuvveti: G = m · g. 20 kg'lık bir kutunun ağırlığı 20 · 10 = 200 N'dur.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İvme ve yavaşlama: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ivme, hızın her saniye ne kadar değiştiğidir. Her saniye 2 m/s yavaşlayan ve 10 m/s ile giden bir bisiklet 5 saniyede durur.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Sinüs, kosinüs, tanjant:</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kenarları 3, 4, 5 olan dik üçgende sin37° = 0,6, cos37° = 0,8 ve tan37° = sin37° / cos37° = 0,6 / 0,8 = 0,75.</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400" dirty="0">
                <a:solidFill>
                  <a:srgbClr val="C3CEE8"/>
                </a:solidFill>
                <a:latin typeface="Calibri" pitchFamily="34" charset="0"/>
                <a:ea typeface="Calibri" pitchFamily="34" charset="-122"/>
                <a:cs typeface="Calibri" pitchFamily="34" charset="-120"/>
              </a:rPr>
              <a:t>Önce sezgi: sürtünmeyi gündelik sahnelerde gözle, adını koy ve durgun cisimle kayan cisim arasındaki farkı gör. Bu basamakta hesap yok denecek kadar az.</a:t>
            </a:r>
            <a:endParaRPr lang="en-US" sz="14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sürtünme ne zaman ortaya çıkar?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Sürtünme kuvveti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Durgunken ve kayarken: iki tür sürtünme</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surtunme-kuvveti-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Kaydırak küçük bir eğik düzlemdir.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Ağırlığın eğime paralel parçası çocuğu aşağı çeker, kıyafet ile metal arasındaki sürtünme ise kaymaya karşı koyar. Çocuğun ne kadar hızlı ineceğini bu ikisinin farkı belirler; farkın eğimle ve kumaşla nasıl değiştiğini ikinci basamakta hesaplayacağız.</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Evde kitap dolu bir koliyi yerde itmeyi düşün.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 hafifçe itersin; koli kıpırdamaz.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Biraz daha yüklenirsin; yine yerinde durur.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noktada birden "kopar" ve kaymaya başlar.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İlginç olan şudur: kaymaya başladıktan sonra onu itmeye devam etmek, yerinden oynatmaktan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daha kolaydır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koliyi halının üstünde itmek cilalı parkede itmekten zordur; içindeki kitapları boşaltınca iş iyice kolaylaşır.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Parktaki kaydırak da aynı etkiyi gösterir.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Ağırlığı çocuğu eğim boyunca aşağı çeker, ama çocuk inerken kıyafeti ile metal yüzey arasında onu frenleyen bir etki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çocuk kotla daha yavaş, kaygan kumaşlı bir eşofmanla daha hızlı iner.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Kaydırağın eğimi çok az olsaydı hiç kaymadan üstünde oturabilirdi.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sahnelerden şu gözlemleri çıkarabilirsin:</a:t>
            </a:r>
            <a:endParaRPr lang="en-US" sz="2200" dirty="0"/>
          </a:p>
        </p:txBody>
      </p:sp>
      <p:sp>
        <p:nvSpPr>
          <p:cNvPr id="7" name="Text 5"/>
          <p:cNvSpPr txBox="1"/>
          <p:nvPr/>
        </p:nvSpPr>
        <p:spPr>
          <a:xfrm>
            <a:off x="640080" y="2004060"/>
            <a:ext cx="10911535" cy="25740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Duran cisim direnir: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itme belli bir sınırı aşana kadar cisim yerinden oynamaz.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Kayan cisim daha az direnir: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kaymaya başlayınca itmeye devam etmek kolaylaşır.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Yüzeyler önemlidir: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halı ile parke, kot ile eşofman aynı sonucu vermez.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Bastırmak önemlidir: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dolu koli boş koliden zor itilir.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Durgun hâlde de iş başındadır: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yürürken ayağının kaymamasını sağlayan da aynı etkidir.</a:t>
            </a:r>
            <a:endParaRPr lang="en-US" sz="2100" dirty="0"/>
          </a:p>
        </p:txBody>
      </p:sp>
      <p:sp>
        <p:nvSpPr>
          <p:cNvPr id="7" name="Text 5"/>
          <p:cNvSpPr txBox="1"/>
          <p:nvPr/>
        </p:nvSpPr>
        <p:spPr>
          <a:xfrm>
            <a:off x="640080" y="23545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Bütün bu gözlemlerin arkasında tek bir kuvvet var.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 ona bir ad verelim, sonra neden bir sınırı olduğunu ve cisim kayınca neden küçüldüğünü anlayalım.</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100" b="1" spc="-50" kern="0" dirty="0">
                <a:solidFill>
                  <a:srgbClr val="0E1426"/>
                </a:solidFill>
                <a:latin typeface="Cambria" pitchFamily="34" charset="0"/>
                <a:ea typeface="Cambria" pitchFamily="34" charset="-122"/>
                <a:cs typeface="Cambria" pitchFamily="34" charset="-120"/>
              </a:rPr>
              <a:t>Önce gözlemle: sürtünme ne zaman ortaya çıkar?</a:t>
            </a:r>
            <a:endParaRPr lang="en-US" sz="3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Duran bir cisim, itme belli bir sınırı aşana dek yerinden oynamaz; kaymaya başlayınca onu itmek kolaylaşır. Bu direncin büyüklüğü yüzeylere ve cismin zemine ne kadar bastırdığına bağlıdır.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çocuk aynı kaydıraktan bir kez kotla, bir kez kaygan bir eşofmanla kayıyor. Değişen ne?</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sürtünme ne zaman ortaya çıkar?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çocuk aynı kaydıraktan bir kez kotla, bir kez kaygan bir eşofmanla kayıyor. Değişen ne?</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Çocuğun ağırlığı da kaydırağın eğimi de aynıdır. Değişen, birbirine değen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iki yüzeyin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kumaş ile metalin — birbirine ne kadar tutunduğudur. Demek ki sürtünme tek bir cismin değil, birbirine değen yüzey çiftinin özelliğidir.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Birbirine değen iki yüzey arasında,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bağıl kaymaya zıt yönde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ortaya çıkan kuvvete sürtünme kuvveti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Yüzeyler çıplak gözle pürüzsüz görünse bile mikroskobik ölçekte girinti çıkıntılıdır; temas noktalarındaki bu kenetlenme ve moleküler yapışma sürtünmeyi doğurur.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Bağıl kayma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iki yüzeyin birbirine göre kaymasıdır.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Masada duran bir kitaba kimse dokunmuyorsa kaymaya çalışan bir şey yoktur; sürtünme de yoktur.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Kitabı yana doğru ittiğin anda yüzeyler birbirinin üstünden kaymaya "niyetlenir" ve sürtünme belirir.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 zeminin cisme uyguladığı temas kuvvetinin bir parçasıdır.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temas kuvvetini iki bileşene ayırırız.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Yüzeye dik olan bileşene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normal kuvvet (N)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 zemin, cismin kendi içine batmaması için onu dik olarak iter.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Yüzeye paralel olan bileşen ise sürtünmedir.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Yatay bir zeminde başka düşey kuvvet yoksa normal kuvvet cismin ağırlığına eşittir.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 kuvvetinin temel özellikleri şunlardır:</a:t>
            </a:r>
            <a:endParaRPr lang="en-US" sz="2200" dirty="0"/>
          </a:p>
        </p:txBody>
      </p:sp>
      <p:sp>
        <p:nvSpPr>
          <p:cNvPr id="7" name="Text 5"/>
          <p:cNvSpPr txBox="1"/>
          <p:nvPr/>
        </p:nvSpPr>
        <p:spPr>
          <a:xfrm>
            <a:off x="640080" y="2004060"/>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Yüzeye paraleldir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(normal kuvvet ise yüzeye diktir).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Yönü, cismin kaymakta olduğu ya da kaymaya çalıştığı yönün tersidir.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Çift olarak doğar: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zemin kutuyu geriye çekerken kutu da zemini ileriye sürükler (Newton'un üçüncü yasası).</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Dikkat:</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Sürtünme "harekete" değil,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bağıl kaymaya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zıttır. Yürürken ayağın yeri geriye itmeye çalışır; sürtünme de seni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ileriye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iter. Yani sürtünme burada hareketi engellemez, hareketi mümkün kılar.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Cilalı bir çelik yüzey bile mikroskop altında sıradağlara benzer.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Üst üste konan iki yüzey yalnızca en yüksek tepelerinde birbirine değer ve bu noktalarda atomlar arasında bağlar kurulur.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Cismi kaydırmak için bu bağları koparman gerekir; araya giren yağ tepelerin doğrudan değmesini engellediği için sürtünmeyi azaltır.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1834822" y="1234440"/>
            <a:ext cx="8522052"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urtunme-kuvveti-01.png">    </p:cNvPr>
          <p:cNvPicPr>
            <a:picLocks noChangeAspect="1"/>
          </p:cNvPicPr>
          <p:nvPr/>
        </p:nvPicPr>
        <p:blipFill>
          <a:blip r:embed="rId1"/>
          <a:stretch>
            <a:fillRect/>
          </a:stretch>
        </p:blipFill>
        <p:spPr>
          <a:xfrm>
            <a:off x="2063422" y="1325880"/>
            <a:ext cx="8064852"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Sürtünme kuvveti daima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yüzeye paraleldir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cismin kaymakta olduğu (ya da kaymaya çalıştığı) yönün tersine bakar. Kaynağı, en pürüzsüz görünen yüzeylerde bile bulunan mikroskobik girinti-çıkıntıların birbirine takılması ve temas noktalarındaki moleküler yapışmadır. Bu yüzden sürtünmeyi azaltmak için yüzeyi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cilalamak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 da araya yağ koymak işe yarar.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Sürtünme, birbirine değen yüzeyler arasında yüzeye paralel ve bağıl kaymaya zıt yönde oluşan kuvvettir. Kaynağı mikroskobik pürüzlerin kenetlenmesi ve temas noktalarındaki moleküler yapışmadır.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henüz hareket etmiyorken ortaya çıkan sürtünmeye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statik sürtünme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kuvvetin en ilginç yanı,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sabit bir değeri olmamasıdır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uygulanan kuvvet ne kadarsa, statik sürtünme de o kadar büyür ve onu tam olarak dengeler.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Kısacası statik sürtünme sana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ayak uydurur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Bunu, bir kapıyı öbür taraftan tutan birine benzetebilirsin: sen ne kadar itersen o da o kadar karşı koyar ve kapı kıpırdamaz; ama onun gücü de sınırlıdır.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Statik sürtünmenin de böyle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üst sınırı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(eşiği) vardır: uygulanan kuvvet bu eşiği geçtiği anda denge bozulur ve cisim kaymaya başlar.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kaymaya başladığı anda devreye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kinetik (hareket) sürtünmesi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girer.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Kinetik sürtünme artık uygulanan kuvvete ayak uydurmaz; yaklaşık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sabittir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genellikle statik sürtünmenin eşiğinden küçüktür.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Nedeni sezgiyle anlaşılır: durgun yüzeylerde pürüzler birbirine iyice oturur ve temas noktalarında bağlar kurulmaya zaman bulur; kayarken ise pürüzler tam yerleşemeden birbirinin üstünden atlar.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laboratuvarındaki 10 kg'lık ahşap kutu için ekranda statik eşik 49,1 N, kinetik sürtünme 34,3 N yazar.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Kuvveti yavaşça artırdığında olanlar: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294048"/>
                <a:gridCol w="1647024"/>
                <a:gridCol w="597046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Uygulanan kuvvet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Sürtünme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Kutu ne yapar?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Durur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Durur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Durur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49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49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Tam sınırda, kıpırdamak üzere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60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34,3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Kayar; net kuvvet 25,7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096144" y="1234440"/>
            <a:ext cx="9999406"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urtunme-kuvveti-02.png">    </p:cNvPr>
          <p:cNvPicPr>
            <a:picLocks noChangeAspect="1"/>
          </p:cNvPicPr>
          <p:nvPr/>
        </p:nvPicPr>
        <p:blipFill>
          <a:blip r:embed="rId1"/>
          <a:stretch>
            <a:fillRect/>
          </a:stretch>
        </p:blipFill>
        <p:spPr>
          <a:xfrm>
            <a:off x="1324744" y="1325880"/>
            <a:ext cx="9542206"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Statik sürtünme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sabit bir sayı değildir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uygulanan kuvvet ne kadarsa o kadar ortaya çıkar ve cismi tam olarak dengede tutar. Ancak bir üst sınırı vardır (μs·N). Üçüncü karede kuvvet bu sınırı aşmıştır; cisim kurtulur ve sürtünme,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daha küçük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olan kinetik değerine düşer. Kırmızı ok bu yüzden üçüncü karede kısalır.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Durgunken ve kayarken: iki tür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Durgun cisimde statik sürtünme uygulanan kuvvete eşittir ve bir eşiğe kadar büyüyebilir. Eşik aşılınca cisim kayar ve sürtünme daha küçük, yaklaşık sabit olan kinetik değere düşer.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Yerde duran bir kutuyu hiç itmiyorsan, kutuya etki eden sürtünme kuvveti kaç N'dur?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Durgunken ve kayarken: iki tür sürtünme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Yerde duran bir kutuyu hiç itmiyorsan, kutuya etki eden sürtünme kuvveti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Sıfır.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Statik sürtünme yalnızca kaydırmaya çalışan bir kuvvet varken ve o kuvvet kadar ortaya çıkar. Kimse itmiyorsa kutunun kaymaya çalıştığı bir yön yoktur, sürtünmenin karşı koyacağı bir şey de yoktur. Eşik, sürtünmenin alabileceği en büyük değerdir; her an etki eden değer değildir.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eşiği sayıyla yaz, katsayıyı tanı; sonra eğik düzlemde ve frenlemede sürtünmeyi adım adım hesapla.</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Sürtünme katsayısı ve temel bağıntılar</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Sürtünme neye bağlı, neye bağlı değil?</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ne kadar kuvvet, ne kadar yavaşlama?</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Eğik düzlemde sürtünme</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Fren mesafesi ve trafik</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fs ≤ μs · N</a:t>
            </a:r>
            <a:endParaRPr lang="en-US" sz="1500" dirty="0"/>
          </a:p>
        </p:txBody>
      </p:sp>
      <p:sp>
        <p:nvSpPr>
          <p:cNvPr id="14" name="Text 12"/>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statik: eşiğe kadar dengeler</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fk = μk · N</a:t>
            </a:r>
            <a:endParaRPr lang="en-US" sz="1500" dirty="0"/>
          </a:p>
        </p:txBody>
      </p:sp>
      <p:sp>
        <p:nvSpPr>
          <p:cNvPr id="17" name="Text 15"/>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kinetik: sabit</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tanθ = μs</a:t>
            </a:r>
            <a:endParaRPr lang="en-US" sz="1500" dirty="0"/>
          </a:p>
        </p:txBody>
      </p:sp>
      <p:sp>
        <p:nvSpPr>
          <p:cNvPr id="20" name="Text 18"/>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kaymanın başladığı açı</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d = v² / (2·μ·g)</a:t>
            </a:r>
            <a:endParaRPr lang="en-US" sz="1500" dirty="0"/>
          </a:p>
        </p:txBody>
      </p:sp>
      <p:sp>
        <p:nvSpPr>
          <p:cNvPr id="23" name="Text 21"/>
          <p:cNvSpPr txBox="1"/>
          <p:nvPr/>
        </p:nvSpPr>
        <p:spPr>
          <a:xfrm>
            <a:off x="8668512" y="408736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fren mesafesi</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8</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Birinci basamakta "eşik" dediğimiz sınırın ne kadar olduğunu şimdi yazabiliriz.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Deneyler, eşiğin normal kuvvetle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doğru orantılı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olduğunu gösterir: N iki katına çıkınca eşik de iki katına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orantının sabitine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statik sürtünme katsayısı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(μ</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durduğu sürece statik sürtünme uygulanan kuvvete eşittir, ama μ</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·N'yi aşamaz:</a:t>
            </a:r>
            <a:endParaRPr lang="en-US" sz="2200" dirty="0"/>
          </a:p>
        </p:txBody>
      </p:sp>
      <p:sp>
        <p:nvSpPr>
          <p:cNvPr id="7" name="Shape 5"/>
          <p:cNvSpPr/>
          <p:nvPr/>
        </p:nvSpPr>
        <p:spPr>
          <a:xfrm>
            <a:off x="640080" y="4591812"/>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591812"/>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fs = Fuygulanan</a:t>
            </a:r>
            <a:endParaRPr lang="en-US" sz="1800" dirty="0"/>
          </a:p>
        </p:txBody>
      </p:sp>
      <p:sp>
        <p:nvSpPr>
          <p:cNvPr id="9" name="Shape 7"/>
          <p:cNvSpPr/>
          <p:nvPr/>
        </p:nvSpPr>
        <p:spPr>
          <a:xfrm>
            <a:off x="3419856" y="4591812"/>
            <a:ext cx="207751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419856" y="4591812"/>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fs ≤ μs · N</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8</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Birinci satır yalnızca cisim durduğu sürece geçerlidir; ikinci satırdaki μ</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·N ise eşiğin kendisidir.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laboratuvarda kuvveti yavaşça artırdığında bu kopuş anını görürsün.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Kayan cisim için de bir sabit tanımlanır: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kinetik sürtünme katsayısı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(μ</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Kinetik sürtünme uygulanan kuvvetten bağımsızdır ve sabittir:</a:t>
            </a:r>
            <a:endParaRPr lang="en-US" sz="2200" dirty="0"/>
          </a:p>
        </p:txBody>
      </p:sp>
      <p:sp>
        <p:nvSpPr>
          <p:cNvPr id="7" name="Shape 5"/>
          <p:cNvSpPr/>
          <p:nvPr/>
        </p:nvSpPr>
        <p:spPr>
          <a:xfrm>
            <a:off x="640080" y="4591812"/>
            <a:ext cx="2077517"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591812"/>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fk = μk · N</a:t>
            </a:r>
            <a:endParaRPr lang="en-US" sz="1800" dirty="0"/>
          </a:p>
        </p:txBody>
      </p:sp>
      <p:sp>
        <p:nvSpPr>
          <p:cNvPr id="9" name="Shape 7"/>
          <p:cNvSpPr/>
          <p:nvPr/>
        </p:nvSpPr>
        <p:spPr>
          <a:xfrm>
            <a:off x="2863901" y="4591812"/>
            <a:ext cx="1521562"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863901" y="4591812"/>
            <a:ext cx="152156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μk &lt; μs</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948488"/>
                <a:gridCol w="7793954"/>
                <a:gridCol w="116909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statik sürtünme: cisim dururken oluşan sürtünme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Fuygulanan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senin cisme uyguladığın itme ya da çekme kuvveti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μs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statik sürtünme katsayısı: yüzeyler duran cismi ne kadar “tutuyor”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normal kuvvet: zeminin cismi dik olarak itmesi (yatay zeminde m·g)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kinetik sürtünme: cisim kayarken oluşan sürtünme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kinetik sürtünme katsayısı; genellikle μs'den küçüktür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8</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Kinetik katsayı genellikle statik katsayıdan küçüktür.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ağır bir dolabı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yerinden oynatmak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oynadıktan sonra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itmeye devam etmekten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zordur.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Grafikte bu, eşikte görülen ani düşüştür.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8</a:t>
            </a:r>
            <a:endParaRPr lang="en-US" sz="9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182307"/>
                <a:gridCol w="5334528"/>
                <a:gridCol w="3394700"/>
              </a:tblGrid>
              <a:tr h="418338">
                <a:tc>
                  <a:txBody>
                    <a:bodyPr/>
                    <a:lstStyle/>
                    <a:p>
                      <a:pPr indent="0" marL="0">
                        <a:buNone/>
                      </a:pP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Statik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Kinetik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Ne zaman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Cisim dururken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Cisim kayarken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Büyüklük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Uygulanan kuvvete eşit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μk·N, sabit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Üst sınır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μs·N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8</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urtunme-kuvveti-03.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Soldaki grafik hikâyenin tamamı: mavi kısımda cisim durgundur ve sürtünme uygulanan kuvvetle birlikte büyür; eşikte kopar ve sarı kısımda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sabit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değere yerleşir. Sağdaki çubuklar her yüzey çiftinde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μk'nin μs'den küçük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olduğunu gösteriyor — bir dolabı yerinden oynatmak, sonra itmekten hep daha zordur.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8</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μ birimsizdir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ve genellikle 0 ile 1 arasındadır; ama yapışkan yüzeylerde 1'in üstüne de çıkabilir. Sürtünme katsayısı bir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oran</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dır: f ile N'nin oranı. Birim kontrolü de bunu doğrular: μ = f/N için N/N, yani birim sadeleşir.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8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Bir sürtünme sorusunu çözme sırası</a:t>
            </a:r>
            <a:endParaRPr lang="en-US" sz="2200" dirty="0"/>
          </a:p>
        </p:txBody>
      </p:sp>
      <p:sp>
        <p:nvSpPr>
          <p:cNvPr id="8" name="Text 6"/>
          <p:cNvSpPr txBox="1"/>
          <p:nvPr/>
        </p:nvSpPr>
        <p:spPr>
          <a:xfrm>
            <a:off x="640080" y="1892808"/>
            <a:ext cx="10911535" cy="1837944"/>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Normal kuvveti bul: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yatay zeminde, başka düşey kuvvet yoksa N = m·g.</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Eşiği hesapla: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·N, cismi kıpırdatmak için aşılması gereken kuvvettir.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Karşılaştır: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·N ise cisim durur; f = F ve a = 0.</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Kayıyorsa kinetiğe geç: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&gt;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·N ise f =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·N olur.</a:t>
            </a:r>
            <a:endParaRPr lang="en-US" sz="2100" dirty="0"/>
          </a:p>
        </p:txBody>
      </p:sp>
      <p:sp>
        <p:nvSpPr>
          <p:cNvPr id="9" name="Text 7"/>
          <p:cNvSpPr txBox="1"/>
          <p:nvPr/>
        </p:nvSpPr>
        <p:spPr>
          <a:xfrm>
            <a:off x="640080" y="3931920"/>
            <a:ext cx="10911535" cy="459486"/>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5"/>
            </a:pPr>
            <a:r>
              <a:rPr lang="en-US" sz="2100" b="1" dirty="0">
                <a:solidFill>
                  <a:srgbClr val="0E1426"/>
                </a:solidFill>
                <a:latin typeface="Calibri" pitchFamily="34" charset="0"/>
                <a:ea typeface="Calibri" pitchFamily="34" charset="-122"/>
                <a:cs typeface="Calibri" pitchFamily="34" charset="-120"/>
              </a:rPr>
              <a:t>Net kuvvetten ivmeye: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 = (F − f) / m.</a:t>
            </a:r>
            <a:endParaRPr lang="en-US" sz="21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katsayısı ve temel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Statik sürtünme f</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s</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s</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 kinetik sürtünme f</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k</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k</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·N'dir ve genellikle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k</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&lt;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s</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Önce cismin kayıp kaymadığına karar ver, sonra geçerli bağıntıyı seç.</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Kıpırdatmak için 100 N gereken kutu kaydıktan sonra sürtünme 80 N'a düşüyor. 100 N ile itmeye devam edersen ne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Sürtünme katsayısı ve temel bağıntılar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Kıpırdatmak için 100 N gereken kutu kaydıktan sonra sürtünme 80 N'a düşüyor. 100 N ile itmeye devam edersen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Kutu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hızlanır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Kayarken sürtünme 80 N'dur; sen 100 N ile ittiğine göre 20 N'luk net kuvvet kalır. Kutu 20 kg ise ivmesi 20/20 = 1 m/s² olur. Kutuyu sabit hızla götürmek istiyorsan kuvvetini 80 N'a düşürmen yeter.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Gözlemlerde yüzeylerin ve bastırmanın önemli olduğunu gördün. f = μ·N bağıntısı bunu kesinleştirir: yüzey çifti μ'nün, bastırma N'nin içindedir.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Bağıntıda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geçmeyen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büyüklüklerden de sezgiye ters iki sonuç çıkar.</a:t>
            </a:r>
            <a:endParaRPr lang="en-US" sz="2200" dirty="0"/>
          </a:p>
        </p:txBody>
      </p:sp>
      <p:sp>
        <p:nvSpPr>
          <p:cNvPr id="7" name="Text 5"/>
          <p:cNvSpPr txBox="1"/>
          <p:nvPr/>
        </p:nvSpPr>
        <p:spPr>
          <a:xfrm>
            <a:off x="640080" y="286664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Bağlıdır:</a:t>
            </a:r>
            <a:endParaRPr lang="en-US" sz="2200" dirty="0"/>
          </a:p>
        </p:txBody>
      </p:sp>
      <p:sp>
        <p:nvSpPr>
          <p:cNvPr id="8" name="Text 6"/>
          <p:cNvSpPr txBox="1"/>
          <p:nvPr/>
        </p:nvSpPr>
        <p:spPr>
          <a:xfrm>
            <a:off x="640080" y="3544824"/>
            <a:ext cx="10911535" cy="128701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Normal kuvvete (N).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Cisme bastırırsan ya da kütlesi artarsa sürtünme artar.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Yüzey çiftine.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Katsayı tek bir cismin değil,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iki yüzeyin birlikte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özelliğidir.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Bağlı değildir:</a:t>
            </a:r>
            <a:endParaRPr lang="en-US" sz="2200" dirty="0"/>
          </a:p>
        </p:txBody>
      </p:sp>
      <p:sp>
        <p:nvSpPr>
          <p:cNvPr id="7" name="Text 5"/>
          <p:cNvSpPr txBox="1"/>
          <p:nvPr/>
        </p:nvSpPr>
        <p:spPr>
          <a:xfrm>
            <a:off x="640080" y="2004060"/>
            <a:ext cx="10911535" cy="128701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Temas alanına.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kütleli bir tuğlayı yan yatırmak sürtünmeyi değiştirmez.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Kayma hızına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(yaklaşık olarak). Hızla belirgin biçimde artan kuvvet, sürtünme değil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hava direncidir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Temas alanının etkisizliği en şaşırtıcı olanıdır; geniş yüzey daha çok "tutar" gibi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Ama iki yüzey yalnızca pürüzlerinin tepelerinde birbirine değer.</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Gerçek temas alanı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gözle gördüğün alanın çok küçük bir kesridir.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Görünür alan büyüyünce ağırlık daha çok tepeye dağılır, ama her tepe daha az ezilir; görünür alan küçülünce ağırlığı daha az tepe taşır, ama her biri daha çok ezilir.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etki birbirini götürür ve gerçek temas alanı — dolayısıyla sürtünme — hemen hemen aynı kalır.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Onu belirleyen, yüzeylerin birbirine ne kadar bastırıldığıdır.</a:t>
            </a:r>
            <a:endParaRPr lang="en-US" sz="2200" dirty="0"/>
          </a:p>
        </p:txBody>
      </p:sp>
      <p:sp>
        <p:nvSpPr>
          <p:cNvPr id="7" name="Text 5"/>
          <p:cNvSpPr txBox="1"/>
          <p:nvPr/>
        </p:nvSpPr>
        <p:spPr>
          <a:xfrm>
            <a:off x="640080" y="286664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Yüzey çiftinin etkisi ise büyüktür.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değerler yaklaşıktır; yüzeyin temizliğine, nemine ve cilasına göre değişir:</a:t>
            </a:r>
            <a:endParaRPr lang="en-US" sz="2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2389632"/>
          <a:ext cx="10911535" cy="914400"/>
        </p:xfrm>
        <a:graphic>
          <a:graphicData uri="http://schemas.openxmlformats.org/drawingml/2006/table">
            <a:tbl>
              <a:tblPr/>
              <a:tblGrid>
                <a:gridCol w="7793954"/>
                <a:gridCol w="1558791"/>
                <a:gridCol w="155879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Yüzey çifti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μs</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μk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Buz – çelik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0,10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Ahşap – ahşap</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0,50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0,35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Çelik – çelik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0,70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0,60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Lastik – kuru asfalt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0,90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0,70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9" name="Shape 5"/>
          <p:cNvSpPr/>
          <p:nvPr/>
        </p:nvSpPr>
        <p:spPr>
          <a:xfrm>
            <a:off x="640080" y="6382512"/>
            <a:ext cx="128016" cy="128016"/>
          </a:xfrm>
          <a:prstGeom prst="roundRect">
            <a:avLst>
              <a:gd name="adj" fmla="val 28571"/>
            </a:avLst>
          </a:prstGeom>
          <a:solidFill>
            <a:srgbClr val="A9E648"/>
          </a:solidFill>
          <a:ln/>
        </p:spPr>
      </p:sp>
      <p:sp>
        <p:nvSpPr>
          <p:cNvPr id="10"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03</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bölümünde aynı kütleli üç blok, büyüklüğü farklı üç yüzü üzerinde aynı ilk hızla fırlatılır; üçü de aynı noktada durur.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Hız için de benzer bir durum vardır: bir kutuyu yavaş ya da hızlı kaydırman sürtünmeyi pek değiştirmez.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Değişen tek şey sürtünmenin ne kadar sürdüğüdür.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urtunme-kuvveti-04.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tuğlayı yan yatırmak temas alanını üçe katlar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sürtünmeyi değiştirmez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 = μ·N bağıntısında alan hiç geçmez. Alan büyüdükçe birim alana düşen basınç küçülür, ikisi birbirini götürür. Sürtünmeyi gerçekten değiştiren şey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normal kuvvettir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ikinci tuğlayı üstüne koyunca N iki katına çıkar, sürtünme de.</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neye bağlı, neye bağlı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Sürtünme normal kuvvete ve yüzey çiftine bağlıdır; temas alanına ve (yaklaşık olarak) kayma hızına bağlı değildir. Cisme bastırmak sürtünmeyi artırır, tuğlayı yan yatırmak değiştirmez.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Sayılarla hisset: ne kadar kuvvet, ne kadar yavaşlama?</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Katsayılar soyut kalmasın.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önceki bölümdeki dört yüzey çiftini somut bir cisme uygulayalım: yatay zeminde duran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20 kg'lık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kutu (g = 10 m/s², N = 200 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sütun, kutu kendi hâlinde kayarken sürtünmenin ona verdiği yavaşlamadır: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Sayılarla hisset: ne kadar kuvvet, ne kadar yavaşlama?</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629286"/>
                <a:gridCol w="3023678"/>
                <a:gridCol w="3155143"/>
                <a:gridCol w="210342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Yüzey çifti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Kıpırdatmak için (μs·N)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Kayarken sürtünme (μk·N)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Yavaşlama (μk·g)</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Buz – çelik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0,3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Ahşap – ahşap</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3,5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Çelik – çelik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140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Lastik – kuru asfalt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180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140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Sayılarla hisset: ne kadar kuvvet, ne kadar yavaşlama?</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okunan düzen:</a:t>
            </a:r>
            <a:endParaRPr lang="en-US" sz="2200" dirty="0"/>
          </a:p>
        </p:txBody>
      </p:sp>
      <p:sp>
        <p:nvSpPr>
          <p:cNvPr id="7" name="Text 5"/>
          <p:cNvSpPr txBox="1"/>
          <p:nvPr/>
        </p:nvSpPr>
        <p:spPr>
          <a:xfrm>
            <a:off x="640080" y="200406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İkinci sütun hep üçüncüden büyük: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yüzeyde kıpırdatmak, itmeye devam etmekten zordur.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Buz ile asfalt arasında büyük fark: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kutuyu kıpırdatmak için lastik–asfaltta buz–çeliğin 9 katı kuvvet gerekir.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Yavaşlama kütleden bağımsızdır: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10 m/s ile kayan kutu buz–çelikte yaklaşık 33 s'de, lastik–asfaltta 1,4 s'de durur; kutu kaç kilo olursa olsun.</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Sayılarla hisset: ne kadar kuvvet, ne kadar yavaşlama?</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Yavaşlama neden μk·g?</a:t>
            </a:r>
            <a:endParaRPr lang="en-US" sz="2200" dirty="0"/>
          </a:p>
        </p:txBody>
      </p:sp>
      <p:sp>
        <p:nvSpPr>
          <p:cNvPr id="8" name="Text 6"/>
          <p:cNvSpPr txBox="1"/>
          <p:nvPr/>
        </p:nvSpPr>
        <p:spPr>
          <a:xfrm>
            <a:off x="640080" y="1892808"/>
            <a:ext cx="10911535" cy="1837944"/>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Kayan kutuya etki eden tek yatay kuvvet sürtünmedir: f =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·N.</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Yatay zeminde N = m·g olduğundan f =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·m·g.</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Newton'un ikinci yasası: m·a =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·m·g.</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Kütle iki yanda da var, sadeleşir: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 = μ</a:t>
            </a:r>
            <a:pPr indent="0" marL="0">
              <a:lnSpc>
                <a:spcPct val="115000"/>
              </a:lnSpc>
              <a:buNone/>
            </a:pPr>
            <a:r>
              <a:rPr lang="en-US" sz="2100" b="1"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·g</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9" name="Text 7"/>
          <p:cNvSpPr txBox="1"/>
          <p:nvPr/>
        </p:nvSpPr>
        <p:spPr>
          <a:xfrm>
            <a:off x="640080" y="393192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düşmedeki gibi kütle sadeleşir: ağır kutu daha büyük sürtünmeyle frenlenir, ama durdurulması da o oranda zordur.</a:t>
            </a:r>
            <a:endParaRPr lang="en-US" sz="22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Sayılarla hisset: ne kadar kuvvet, ne kadar yavaşlama?</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Aynı 20 kg'lık kutuyu buz–çelikte kıpırdatmak için 20 N, lastik–asfaltta 180 N gerekir. Kendi hâlinde kayan cisim a =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k</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 ile yavaşlar; bu yavaşlama kütleden bağımsızdır.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Eğik düzlemde ağırlığı iki bileşene ayırırız: eğime paralel olan bileşen cismi aşağı çekmeye çalışır, dik olan bileşen ise normal kuvveti belirler.</a:t>
            </a:r>
            <a:endParaRPr lang="en-US" sz="2200" dirty="0"/>
          </a:p>
        </p:txBody>
      </p:sp>
      <p:sp>
        <p:nvSpPr>
          <p:cNvPr id="7" name="Shape 5"/>
          <p:cNvSpPr/>
          <p:nvPr/>
        </p:nvSpPr>
        <p:spPr>
          <a:xfrm>
            <a:off x="640080" y="2775204"/>
            <a:ext cx="3189427"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775204"/>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Fparalel = m·g·sinθ</a:t>
            </a:r>
            <a:endParaRPr lang="en-US" sz="1800" dirty="0"/>
          </a:p>
        </p:txBody>
      </p:sp>
      <p:sp>
        <p:nvSpPr>
          <p:cNvPr id="9" name="Shape 7"/>
          <p:cNvSpPr/>
          <p:nvPr/>
        </p:nvSpPr>
        <p:spPr>
          <a:xfrm>
            <a:off x="3975811" y="2775204"/>
            <a:ext cx="2216506"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975811" y="2775204"/>
            <a:ext cx="221650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 = m·g·cosθ</a:t>
            </a:r>
            <a:endParaRPr lang="en-US" sz="1800" dirty="0"/>
          </a:p>
        </p:txBody>
      </p:sp>
      <p:sp>
        <p:nvSpPr>
          <p:cNvPr id="11" name="Shape 9"/>
          <p:cNvSpPr/>
          <p:nvPr/>
        </p:nvSpPr>
        <p:spPr>
          <a:xfrm>
            <a:off x="6338621" y="2775204"/>
            <a:ext cx="3189427"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338621" y="2775204"/>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fmaks = μs·m·g·cosθ</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Kritik açı nereden çıkıyor?</a:t>
            </a:r>
            <a:endParaRPr lang="en-US" sz="2200" dirty="0"/>
          </a:p>
        </p:txBody>
      </p:sp>
      <p:sp>
        <p:nvSpPr>
          <p:cNvPr id="8" name="Text 6"/>
          <p:cNvSpPr txBox="1"/>
          <p:nvPr/>
        </p:nvSpPr>
        <p:spPr>
          <a:xfrm>
            <a:off x="640080" y="1892808"/>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Dik doğrultu: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cisim eğime dik yönde hareket etmez; N, ağırlığın dik bileşenini dengeler: N = m·g·cosθ.</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Eşik: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statik sürtünme en fazla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·N =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·m·g·cosθ olabilir.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Kayma koşulu: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paralel bileşen eşiği geçince cisim kayar: m·g·sinθ &gt;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·m·g·cosθ.</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Sadeleştir: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m·g iki yanda da var; sinθ/cosθ = tanθ olduğundan kayma tanθ &gt;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iken başlar.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Kütleler sadeleşince geriye çok zarif bir sonuç kalır:</a:t>
            </a:r>
            <a:endParaRPr lang="en-US" sz="2200" dirty="0"/>
          </a:p>
        </p:txBody>
      </p:sp>
      <p:sp>
        <p:nvSpPr>
          <p:cNvPr id="7" name="Shape 5"/>
          <p:cNvSpPr/>
          <p:nvPr/>
        </p:nvSpPr>
        <p:spPr>
          <a:xfrm>
            <a:off x="640080" y="2004060"/>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004060"/>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tanθkritik = μs</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Yani cismin kaymaya başladığı açının tanjantı, doğrudan statik sürtünme katsayısını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Laboratuvarda μ ölçmenin en kolay yolu budur — 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02</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 tam olarak bunu yapıyor.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Oradaki üç yüzeyin kritik açıları: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975873"/>
                <a:gridCol w="1983915"/>
                <a:gridCol w="595174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Yüzey</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μs</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Kritik açı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Kaygan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0,20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yaklaşık 11°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Ahşap</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0,50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yaklaşık 27°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Kauçuk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0,80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yaklaşık 39°</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40080" y="3218688"/>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Kayma başladıktan sonra sürtünme kinetiğe döner ve ivme şöyle olur:</a:t>
            </a:r>
            <a:endParaRPr lang="en-US" sz="2200" dirty="0"/>
          </a:p>
        </p:txBody>
      </p:sp>
      <p:sp>
        <p:nvSpPr>
          <p:cNvPr id="8" name="Shape 5"/>
          <p:cNvSpPr/>
          <p:nvPr/>
        </p:nvSpPr>
        <p:spPr>
          <a:xfrm>
            <a:off x="640080" y="3896868"/>
            <a:ext cx="3606394" cy="585216"/>
          </a:xfrm>
          <a:prstGeom prst="roundRect">
            <a:avLst>
              <a:gd name="adj" fmla="val 18750"/>
            </a:avLst>
          </a:prstGeom>
          <a:solidFill>
            <a:srgbClr val="EEF2FC"/>
          </a:solidFill>
          <a:ln w="9525">
            <a:solidFill>
              <a:srgbClr val="CBD7F4"/>
            </a:solidFill>
            <a:prstDash val="solid"/>
          </a:ln>
        </p:spPr>
      </p:sp>
      <p:sp>
        <p:nvSpPr>
          <p:cNvPr id="9" name="Text 6"/>
          <p:cNvSpPr txBox="1"/>
          <p:nvPr/>
        </p:nvSpPr>
        <p:spPr>
          <a:xfrm>
            <a:off x="640080" y="3896868"/>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g·(sinθ − μk·cosθ)</a:t>
            </a:r>
            <a:endParaRPr lang="en-US" sz="1800" dirty="0"/>
          </a:p>
        </p:txBody>
      </p:sp>
      <p:sp>
        <p:nvSpPr>
          <p:cNvPr id="11" name="Shape 7"/>
          <p:cNvSpPr/>
          <p:nvPr/>
        </p:nvSpPr>
        <p:spPr>
          <a:xfrm>
            <a:off x="640080" y="6382512"/>
            <a:ext cx="128016" cy="128016"/>
          </a:xfrm>
          <a:prstGeom prst="roundRect">
            <a:avLst>
              <a:gd name="adj" fmla="val 28571"/>
            </a:avLst>
          </a:prstGeom>
          <a:solidFill>
            <a:srgbClr val="A9E648"/>
          </a:solidFill>
          <a:ln/>
        </p:spPr>
      </p:sp>
      <p:sp>
        <p:nvSpPr>
          <p:cNvPr id="12"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3"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Kütle bu bağıntıların hiçbirinde yoktur: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ağır da olsa hafif de olsa aynı açıda kayar, aynı ivmeyle iner.</a:t>
            </a:r>
            <a:endParaRPr lang="en-US" sz="2200" dirty="0"/>
          </a:p>
        </p:txBody>
      </p:sp>
      <p:sp>
        <p:nvSpPr>
          <p:cNvPr id="7" name="Shape 5"/>
          <p:cNvSpPr/>
          <p:nvPr/>
        </p:nvSpPr>
        <p:spPr>
          <a:xfrm>
            <a:off x="640080" y="2389632"/>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554224"/>
            <a:ext cx="54864" cy="1019556"/>
          </a:xfrm>
          <a:prstGeom prst="rect">
            <a:avLst/>
          </a:prstGeom>
          <a:solidFill>
            <a:srgbClr val="A56209"/>
          </a:solidFill>
          <a:ln/>
        </p:spPr>
      </p:sp>
      <p:sp>
        <p:nvSpPr>
          <p:cNvPr id="9" name="Text 7"/>
          <p:cNvSpPr txBox="1"/>
          <p:nvPr/>
        </p:nvSpPr>
        <p:spPr>
          <a:xfrm>
            <a:off x="950976" y="2517648"/>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Kritik açının altında f ≠ μ</a:t>
            </a:r>
            <a:pPr indent="0" marL="0">
              <a:lnSpc>
                <a:spcPct val="114000"/>
              </a:lnSpc>
              <a:buNone/>
            </a:pPr>
            <a:r>
              <a:rPr lang="en-US" sz="1800" b="1" baseline="-40000" dirty="0">
                <a:solidFill>
                  <a:srgbClr val="0E1426"/>
                </a:solidFill>
                <a:latin typeface="Calibri" pitchFamily="34" charset="0"/>
                <a:ea typeface="Calibri" pitchFamily="34" charset="-122"/>
                <a:cs typeface="Calibri" pitchFamily="34" charset="-120"/>
              </a:rPr>
              <a:t>s</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·N.</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Cisim eğik düzlemde duruyorsa statik sürtünme, ağırlığın paralel bileşenine eşittir: f = m·g·sinθ. μ</a:t>
            </a:r>
            <a:pPr indent="0" marL="0">
              <a:lnSpc>
                <a:spcPct val="114000"/>
              </a:lnSpc>
              <a:buNone/>
            </a:pPr>
            <a:r>
              <a:rPr lang="en-US" sz="1800" baseline="-40000" dirty="0">
                <a:solidFill>
                  <a:srgbClr val="0E1426"/>
                </a:solidFill>
                <a:latin typeface="Calibri" pitchFamily="34" charset="0"/>
                <a:ea typeface="Calibri" pitchFamily="34" charset="-122"/>
                <a:cs typeface="Calibri" pitchFamily="34" charset="-120"/>
              </a:rPr>
              <a:t>s</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·m·g·cosθ yalnızca bu sürtünmenin çıkabileceği en büyük değerdir.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2191767" y="1234440"/>
            <a:ext cx="7808161"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urtunme-kuvveti-05.png">    </p:cNvPr>
          <p:cNvPicPr>
            <a:picLocks noChangeAspect="1"/>
          </p:cNvPicPr>
          <p:nvPr/>
        </p:nvPicPr>
        <p:blipFill>
          <a:blip r:embed="rId1"/>
          <a:stretch>
            <a:fillRect/>
          </a:stretch>
        </p:blipFill>
        <p:spPr>
          <a:xfrm>
            <a:off x="2420367" y="1325880"/>
            <a:ext cx="7350961"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Eğik düzlemde ağırlığı iki bileşene ayırırız: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eğime paralel</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olan G·sinθ cismi aşağı çeker,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eğime dik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olan G·cosθ ise normal kuvvetle dengelenir. Eğim büyüdükçe birinci büyür, ikinci küçülür — yani kaydırıcı kuvvet artarken sürtünmenin dayanağı azalır. İkisi eşitlendiği anda cisim kayar ve o açıda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tanθ = μs</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olur: eğik düzlem, katsayıyı doğrudan ölçen bir alettir.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düzlemde sürtünme</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Eğik düzlemde N = m·g·cosθ olur ve cisim tanθ &gt;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s</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olduğunda kaymaya başlar; kayarken ivme a = g·(sinθ − μ</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k</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·cosθ)'dır. Kütle bu bağıntıların hiçbirinde yoktur.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Eğik düzlemde duran bir kutunun üstüne aynı kütlede ikinci bir kutu koyarsan ikisi kaymaya başlar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Eğik düzlemde sürtünme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Eğik düzlemde duran bir kutunun üstüne aynı kütlede ikinci bir kutu koyarsan ikisi kaymaya başlar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Hayır.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Kütle iki katına çıkınca kutuyu aşağı çeken paralel bileşen de iki katına çıkar, sürtünmenin eşiği de; çünkü N de iki katına çıkar. Kayma koşulu tanθ &gt;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'de kütle hiç geçmez. Kutuyu kaydırmak istiyorsan açıyı artırman ya da yüzeyi kayganlaştırman gerekir.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Frenleyen bir araç için sürtünme kuvveti f = μ·m·g, ivme ise a = μ·g'dir (kütle yine sadeleşir).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yavaşlamayı sabit ivmeli hareketin bağıntılarıyla birleştirirsen durma mesafesi adım adım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Yavaşlama: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yolun lastiğe uyguladığı sürtünme f = μ·m·g, ivme a = μ·g.</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Zamansız bağıntı: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sabit ivmeyle yavaşlayıp duran araç için v² = 2·a·d yazılır (son hız sıfır).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Yerine koy: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v² = 2·μ·g·d, buradan d</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fren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v² / (2·μ·g).</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Tepki payını ekle: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sürücü frene basana kadar araç sabit hızla gider: d</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tepki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v·t</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tepki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7" name="Shape 5"/>
          <p:cNvSpPr/>
          <p:nvPr/>
        </p:nvSpPr>
        <p:spPr>
          <a:xfrm>
            <a:off x="640080" y="4101084"/>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101084"/>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dfren = v² / (2·μ·g)</a:t>
            </a:r>
            <a:endParaRPr lang="en-US" sz="1800" dirty="0"/>
          </a:p>
        </p:txBody>
      </p:sp>
      <p:sp>
        <p:nvSpPr>
          <p:cNvPr id="9" name="Shape 7"/>
          <p:cNvSpPr/>
          <p:nvPr/>
        </p:nvSpPr>
        <p:spPr>
          <a:xfrm>
            <a:off x="4114800" y="4101084"/>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114800" y="4101084"/>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dtepki = v · ttepki</a:t>
            </a:r>
            <a:endParaRPr lang="en-US" sz="1800" dirty="0"/>
          </a:p>
        </p:txBody>
      </p:sp>
      <p:sp>
        <p:nvSpPr>
          <p:cNvPr id="11" name="Shape 9"/>
          <p:cNvSpPr/>
          <p:nvPr/>
        </p:nvSpPr>
        <p:spPr>
          <a:xfrm>
            <a:off x="7450531" y="4101084"/>
            <a:ext cx="3884371"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7450531" y="4101084"/>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dtoplam = dtepki + dfren</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Fren mesafesi hızın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karesiyle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artar: hızı iki katına çıkarmak fren mesafesini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dört katına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çıkarır.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Islak asfaltta μ yarıya inerse mesafe iki katına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Tepki mesafesi ise hızla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doğru orantılıdır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frenden önce alınır — 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04</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bölümde ikisini ayrı ayrı görebilirsin.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Oradaki kuru yol ayarıyla (μ = 0,80, tepki süresi 1,0 s, g = 9,81 m/s²) yuvarlanmış değerler: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129080"/>
                <a:gridCol w="3725890"/>
                <a:gridCol w="3459755"/>
                <a:gridCol w="1596810"/>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Hız</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Tepki mesafesi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Fren mesafesi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Toplam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50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14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26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90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100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28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49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77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120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33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71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104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130 km/h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36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83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119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Düşük hızda durma mesafesinin büyük kısmı tepki payıdır; hız arttıkça fren payı hızla öne geçer.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50'den 100 km/h'ye çıkınca tepki mesafesi 2 katına, fren mesafesi 4 katına, toplam ise yaklaşık 3 katına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Yol ıslanınca (μ = 0,50) 90 km/h'deki fren mesafesi 40 m'den yaklaşık 64 m'ye, karda (μ = 0,20) yaklaşık 159 m'ye uzar.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600682" y="1234440"/>
            <a:ext cx="8990332"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urtunme-kuvveti-06.png">    </p:cNvPr>
          <p:cNvPicPr>
            <a:picLocks noChangeAspect="1"/>
          </p:cNvPicPr>
          <p:nvPr/>
        </p:nvPicPr>
        <p:blipFill>
          <a:blip r:embed="rId1"/>
          <a:stretch>
            <a:fillRect/>
          </a:stretch>
        </p:blipFill>
        <p:spPr>
          <a:xfrm>
            <a:off x="1829282" y="1325880"/>
            <a:ext cx="8533132"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Durma mesafesi iki parçadan oluşur.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Tepki mesafesi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hızla doğru orantılıdır (d = v·t),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fren mesafesi hızın karesiyle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artar (d = v²/2μg). Bu yüzden hızı iki katına çıkarmak toplam mesafeyi iki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üç katına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çıkarır. Islak yolda μ yarıya inerse fren mesafesi ikiye katlanır — hız sınırlarının sebebi bu karesel terimdir.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Fren mesafesi ve trafik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Fren mesafesi v²/(2·μ·g) hızın karesiyle, tepki mesafesi v·t hızla doğru orantılı büyür. Hız iki katına çıkınca fren mesafesi 4, toplam durma mesafesi yaklaşık 3 katına çıkar.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normal kuvvet değişince, tekerlek dönünce ve basit model zorlanınca ne olur; sonra sürtünme gerçek hayatta.</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Normal kuvvet her zaman m·g değildir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Dönen tekerlek, ABS ve modelin sınırları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Sürtünme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surtunme-kuvveti-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Curling, sürtünmeyi ayarlama oyunudur.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Yaklaşık 20 kg'lık granit taş buz üzerinde onlarca metre kayar. Oyuncular taşın yolundaki buzu fırçalayarak sürtünmeyi biraz daha azaltır; böylece taş biraz daha uzağa ve daha düz gider. Taş bırakıldıktan sonra bile yolunu bu küçük sürtünme farkı belirler.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Şimdiye kadarki örneklerin çoğunda N = m·g aldık.</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Oysa normal kuvvet cismin sabit bir özelliği değildir; zemin, cismi içine batırmamak için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ne kadar gerekiyorsa o kadar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iter.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Cisme başka düşey kuvvetler etki edince ya da zemin ivmelenince N, onunla birlikte de sürtünmenin eşiği değişir: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7793954"/>
                <a:gridCol w="311758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Durum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Normal kuvvet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Yatay zemin, başka düşey kuvvet yok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Üstten F kuvvetiyle bastırılıyor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 + 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 ile α açısıyla yukarı doğru çekiliyor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 − F·sinα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 ile α açısıyla aşağı doğru itiliyor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 + F·sinα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Yukarı doğru a ivmesiyle hızlanan asansör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 +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Eğik düzlemde de N = m·g·cosθ olduğunu görmüştün.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Kısacası N'yi her soruda yüzeye dik doğrultudaki kuvvetlerden yeniden bul; eğik çekilen kızakla eğik itilen kızak arasındaki farkı çözümlü örneklerde sayılarla göreceksin.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640080" y="1399032"/>
            <a:ext cx="64008" cy="310896"/>
          </a:xfrm>
          <a:prstGeom prst="rect">
            <a:avLst/>
          </a:prstGeom>
          <a:solidFill>
            <a:srgbClr val="5F4BD8"/>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Duvara bastırılan kitap</a:t>
            </a:r>
            <a:endParaRPr lang="en-US" sz="2200" dirty="0"/>
          </a:p>
        </p:txBody>
      </p:sp>
      <p:sp>
        <p:nvSpPr>
          <p:cNvPr id="8" name="Text 6"/>
          <p:cNvSpPr txBox="1"/>
          <p:nvPr/>
        </p:nvSpPr>
        <p:spPr>
          <a:xfrm>
            <a:off x="640080" y="1892808"/>
            <a:ext cx="10911535" cy="229362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kitabı elinle duvara yatay olarak bastır: düşmez.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 normal kuvvet yataydır ve senin bastırma kuvvetine eşittir.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 ise duvara paralel, yani düşeydir ve kitabın ağırlığını yukarı doğru dengeler.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Kitabın düşmemesi için gereken koşul:</a:t>
            </a:r>
            <a:endParaRPr lang="en-US" sz="2200" dirty="0"/>
          </a:p>
        </p:txBody>
      </p:sp>
      <p:sp>
        <p:nvSpPr>
          <p:cNvPr id="9" name="Shape 7"/>
          <p:cNvSpPr/>
          <p:nvPr/>
        </p:nvSpPr>
        <p:spPr>
          <a:xfrm>
            <a:off x="640080" y="4387596"/>
            <a:ext cx="124358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640080" y="4387596"/>
            <a:ext cx="124358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 = F</a:t>
            </a:r>
            <a:endParaRPr lang="en-US" sz="1800" dirty="0"/>
          </a:p>
        </p:txBody>
      </p:sp>
      <p:sp>
        <p:nvSpPr>
          <p:cNvPr id="11" name="Shape 9"/>
          <p:cNvSpPr/>
          <p:nvPr/>
        </p:nvSpPr>
        <p:spPr>
          <a:xfrm>
            <a:off x="2029968" y="4387596"/>
            <a:ext cx="1938528"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2029968" y="4387596"/>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m·g ≤ μs·F</a:t>
            </a:r>
            <a:endParaRPr lang="en-US" sz="1800" dirty="0"/>
          </a:p>
        </p:txBody>
      </p:sp>
      <p:sp>
        <p:nvSpPr>
          <p:cNvPr id="13" name="Shape 11"/>
          <p:cNvSpPr/>
          <p:nvPr/>
        </p:nvSpPr>
        <p:spPr>
          <a:xfrm>
            <a:off x="4114800" y="4387596"/>
            <a:ext cx="2216506" cy="585216"/>
          </a:xfrm>
          <a:prstGeom prst="roundRect">
            <a:avLst>
              <a:gd name="adj" fmla="val 18750"/>
            </a:avLst>
          </a:prstGeom>
          <a:solidFill>
            <a:srgbClr val="EEF2FC"/>
          </a:solidFill>
          <a:ln w="9525">
            <a:solidFill>
              <a:srgbClr val="CBD7F4"/>
            </a:solidFill>
            <a:prstDash val="solid"/>
          </a:ln>
        </p:spPr>
      </p:sp>
      <p:sp>
        <p:nvSpPr>
          <p:cNvPr id="14" name="Text 12"/>
          <p:cNvSpPr txBox="1"/>
          <p:nvPr/>
        </p:nvSpPr>
        <p:spPr>
          <a:xfrm>
            <a:off x="4114800" y="4387596"/>
            <a:ext cx="221650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m·g / μs</a:t>
            </a:r>
            <a:endParaRPr lang="en-US" sz="180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 kg'lık kitap ve μ</a:t>
            </a:r>
            <a:pPr indent="0" marL="0">
              <a:lnSpc>
                <a:spcPct val="115000"/>
              </a:lnSpc>
              <a:buNone/>
            </a:pPr>
            <a:r>
              <a:rPr lang="en-US" sz="2200" baseline="-40000" dirty="0">
                <a:solidFill>
                  <a:srgbClr val="0E1426"/>
                </a:solidFill>
                <a:latin typeface="Calibri" pitchFamily="34" charset="0"/>
                <a:ea typeface="Calibri" pitchFamily="34" charset="-122"/>
                <a:cs typeface="Calibri" pitchFamily="34" charset="-120"/>
              </a:rPr>
              <a:t>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 0,5 için F ≥ 10 / 0,5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20 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gerekir.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 kitabın ağırlığı sürtünmeyi artırmaz, yalnızca taşınması gereken yükü artırır; sürtünmeyi artırmanın tek yolu daha sıkı bastırmaktır.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urtunme-kuvveti-ek1-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Benzer yük taşıyan iki kızaktan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öndeki yukarı doğru eğik bir iple çekiliyor, arkadaki ise aşağı doğru eğik kollarla itiliyor. Eğik ipin düşey bileşeni kızağı biraz kaldırır, N = m·g − F·sinα küçülür ve sürtünme azalır; aşağı doğru eğik itiş ise kızağı kara bastırır, N = m·g + F·sinα büyür ve sürtünme artar. Bu yüzden aynı kızağı çekmek, itmekten daha kolaydır.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Normal kuvvet her zaman m·g değildir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Normal kuvvet, zeminin gerektiği kadar ittiği bir tepkidir: bastırınca, eğik çekince, asansörde ya da eğik düzlemde değişir. N'yi her soruda yüzeye dik doğrultudaki kuvvetlerden yeniden bul.</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Karda bir kızağı ipiyle yukarı doğru eğik çekmek mi, arkadan aşağı doğru eğik itmek mi daha kolaydır?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Normal kuvvet her zaman m·g değildir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Karda bir kızağı ipiyle yukarı doğru eğik çekmek mi, arkadan aşağı doğru eğik itmek mi daha kolaydır?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Çekmek.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Eğik çektiğinde kuvvetin düşey bileşeni kızağı biraz kaldırır; N ve dolayısıyla sürtünme küçülür. Aşağı doğru eğik ittiğinde düşey bileşen kızağı kara bastırır; N büyür, sürtünme artar. Kuvvetin yatay bileşeni iki durumda da aynıdır, ama çekerken ona karşı koyan sürtünme daha küçüktür.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araba yolda kaymadan ilerlerken lastiğin yola değen noktası o an yola göre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durgundur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tekerleğin dönüşü ile aracın ilerleyişi o noktada birbirini tam olarak götürür.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yol ile lastik arasındaki sürtünme, araba 100 km/h ile gitse bile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statik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sürtünmedir.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Araba hızlanırken tekerlek yolu geriye doğru iter, yol da arabayı ileriye iter.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Arabayı hızlandıran, frenlerken durduran ve virajda yolunda tutan kuvvet hep budur.</a:t>
            </a:r>
            <a:endParaRPr lang="en-US" sz="2200" dirty="0"/>
          </a:p>
        </p:txBody>
      </p:sp>
      <p:sp>
        <p:nvSpPr>
          <p:cNvPr id="7" name="Shape 5"/>
          <p:cNvSpPr/>
          <p:nvPr/>
        </p:nvSpPr>
        <p:spPr>
          <a:xfrm>
            <a:off x="640080" y="2389632"/>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554224"/>
            <a:ext cx="54864" cy="1019556"/>
          </a:xfrm>
          <a:prstGeom prst="rect">
            <a:avLst/>
          </a:prstGeom>
          <a:solidFill>
            <a:srgbClr val="A56209"/>
          </a:solidFill>
          <a:ln/>
        </p:spPr>
      </p:sp>
      <p:sp>
        <p:nvSpPr>
          <p:cNvPr id="9" name="Text 7"/>
          <p:cNvSpPr txBox="1"/>
          <p:nvPr/>
        </p:nvSpPr>
        <p:spPr>
          <a:xfrm>
            <a:off x="950976" y="2517648"/>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ABS neden var?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Tekerlek kilitlenip kayarsa devreye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kinetik</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sürtünme girer ve μ küçülür. ABS, tekerleği kilitlenme sınırında tutarak daha büyük olan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statik</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sürtünmeden yararlanır; ayrıca direksiyon hâkimiyetini korur.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6337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Direksiyon hâkimiyeti de sürtünmenin yönüyle ilgilidir: kilitlenmiş tekerlek kayarken kinetik sürtünme kayma yönünün tersine bakar; direksiyonu çevirsen de bu yön değişmez, araç düz gitmeye devam eder. f = μ·N modeli çok kullanışlıdır, ama bir yaklaşımdır: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μ tam sabit değildir: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kayma hızıyla ve sıcaklıkla biraz değişir; uzun yokuş inişinde aşırı ısınan frenler zayıflayabilir.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μ 1'i aşabilir: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yumuşak kauçuk ve silikon gibi malzemelerde yapışma baskındır; sürtünme normal kuvvetten büyük olabilir.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Araya giren sıvı yüzeyleri ayırır: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yağ makinede sürtünmeyi azaltır; ıslak yolda lastik su tabakasının üstüne çıkarsa tutuş neredeyse kaybolur.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02311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Yuvarlanmak kaymaktan çok kolaydır: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yuvarlanma direnci katsayısı araba lastiğinde yaklaşık 0,01'dir, çelik tren tekerleğinde bundan da birkaç kat küçüktür.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Yumuşak malzemede alan biraz etkiler: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kauçuğun katsayısı basınç arttıkça bir miktar düşer; "alan fark etmez" kuralı sert yüzeylerde daha iyi tutar.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surtunme-kuvveti-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Asfalttaki iki siyah fren izi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tekerleklerin kilitlenip yol üzerinde kaydığını gösteriyor. Kayan lastikte devreye daha küçük olan kinetik sürtünme girer; sürtünme lastiği ısıtıp aşındırarak yolda iz bırakır, direksiyonu çevirsen de araç düz gitmeyi sürdürür. ABS tekerleği kilitlenme sınırında döndürür; böylece daha büyük olan statik sürtünmeden yararlanılır ve direksiyon hâkimiyeti korunur.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Dönen tekerlek, ABS ve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Kaymadan dönen tekerlekte yol ile lastik arasındaki sürtünme statiktir; aracı hızlandıran, durduran ve virajda tutan odur. f = μ·N bir yaklaşımdır: μ sıcaklıkla değişebilir, 1'i aşabilir, araya sıvı girince çok küçülür.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Temas alanı sürtünmeyi değiştirmiyorsa yarış arabalarının lastikleri neden bu kadar geniştir?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Dönen tekerlek, ABS ve modelin sınırları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Temas alanı sürtünmeyi değiştirmiyorsa yarış arabalarının lastikleri neden bu kadar geniştir?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kauçuk, f = μ·N modeline tam uymaz. Geniş lastik aynı ağırlığı daha geniş bir alana yayıp basıncı düşürür; kauçuğun katsayısı düşük basınçta biraz daha yüksektir. Ayrıca geniş yüzey, sürtünmenin ürettiği ısıyı ve aşınmayı daha büyük bir alana dağıtır ve lastik aşırı ısınmaz.</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Mühendislik çoğu zaman sürtünmeyi doğru yerde artırıp doğru yerde azaltma işidir.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İstemediğimiz yerde sürtünmeyi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azaltmak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için yağ, rulman, hava yastığı; istediğimiz yerde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artırmak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için tırtıklı yüzey, kışlık lastik, reçine kullanılır.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Bazı sporlar ise tamamen sürtünmenin ince ayarı üzerine kuruludur.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Curling:</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2 m/s ile bırakılıp 28 m kayan bir taş varsayarsan μ</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v²/(2·g·d) ≈ 0,007 çıkar; buz–çelikteki 0,03'ün yaklaşık dörtte biri.</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Frenler: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1000 kg'lık bir araç 90 km/h'den durunca yaklaşık 310 kJ kinetik enerji balata–disk sürtünmesiyle ısıya dönüşür.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Kış lastiği ve zincir: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karda μ 0,20'ye iner; 90 km/h'de fren mesafesi kuru yolun 4 katına, yaklaşık 160 m'ye çıkar.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Yağ ve rulman: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kuru çelik–çelikte 0,6 olan katsayı yağlanınca 0,1 civarına iner; bilyeli rulman kaymayı yuvarlanmaya çevirir.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Yürümek: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adım atan ayak yere eğik basar; buzda μ çok küçük olduğundan kısa adımlarla, ayağı daha dik basarak yürürsün.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Kibrit: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kutunun yan yüzeyine sürtülen kibrit başı, sürtünmenin ürettiği ısıyla tutuşma sıcaklığına ulaşır.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5187451"/>
                <a:gridCol w="5724084"/>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Faydalı olduğu yerler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Zararlı olduğu yerler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Yürümek, koşmak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Makine parçalarının aşınması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Fren yapmak, virajı dönmek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Isınma ve enerji kaybı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Vida, çivi ve düğümün tutması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Verimin düşmesi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Elimizle bir şey tutabilmek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Uçak ve araçlarda yakıt tüketimi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Frenler önceki bölüme bağlanır: araç kaymadan durduğunda lastik ile yol arasındaki sürtünme statiktir ve enerjiyi ısıya çevirmez.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Isınan, birbirine göre kayan balata ile disktir.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Tekerlek kilitlenirse ısınan lastiğin kendisi olur ve yolda siyah bir iz kalır.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Sürtünme mühendislikte bir ayar düğmesidir: frende, lastikte ve yürürken artırılır, makinelerde yağ ve rulmanla azaltılır. Curling'de oyuncular buzu fırçalayarak taşın ne kadar kayacağını değiştirir.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sürtünme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Kutu hareket eder mi?</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Sabit hızla çekilen kutudan μk ölçmek</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Kayan cismin durması</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Kritik açıdan μ bulma</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Fren mesafesi ve hız</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Kızağı çekmek mi, itmek mi?</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Eğik düzlemde yukarı fırlatılan blok</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dersler.perinet.org/surtunme-kuvveti.html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Kutu hareket eder mi?</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Yatay zeminde duran 20 kg'lık kutu için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0,5 ve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0,4'tür. (a) 80 N'luk yatay kuvvet uygulanırsa kutu hareket eder mi, sürtünme kaç N olur? (b) Kuvvet 120 N'a çıkarılırsa ivme ne olur?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m = 20 kg</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μs = 0,5</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μk = 0,4</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kutu başta duruyor</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yatay kuvvet (a) F = 80 N, (b) F = 120 N</a:t>
            </a:r>
            <a:endParaRPr lang="en-US" sz="1500" dirty="0"/>
          </a:p>
          <a:p>
            <a:pPr marL="203200" indent="-203200">
              <a:lnSpc>
                <a:spcPct val="110000"/>
              </a:lnSpc>
              <a:spcAft>
                <a:spcPts val="500"/>
              </a:spcAft>
              <a:buSzPct val="100000"/>
              <a:buChar char="▪"/>
            </a:pPr>
            <a:r>
              <a:rPr lang="en-US" sz="1500" dirty="0">
                <a:solidFill>
                  <a:srgbClr val="0E1426"/>
                </a:solidFill>
                <a:latin typeface="Calibri" pitchFamily="34" charset="0"/>
                <a:ea typeface="Calibri" pitchFamily="34" charset="-122"/>
                <a:cs typeface="Calibri" pitchFamily="34" charset="-120"/>
              </a:rPr>
              <a:t>g = 10 m/s²</a:t>
            </a:r>
            <a:endParaRPr lang="en-US" sz="15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kutu hareket eder mi, sürtünme f kaç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ivme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Kutu hareket eder mi?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m·g = 200 N, statik eşik: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0,5 · 200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100 N</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80 N &lt; 100 N olduğu için kutu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hareket etmez</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statik sürtünme uygulanan kuvvete eşittir: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f = 80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 = 0.</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Kutu hareket eder mi?</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120 N &gt; 100 N → kayma başlar. Artık kinetik sürtünme geçerlidir: f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0,4 · 200 = 80 N</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(120 − 80) / 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m/s²</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hızla çekilen kutudan μk ölçmek</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5 kg'lık bir kutu, yatay zeminde dinamometreyle sabit hızla çekiliyor; dinamometre 15 N gösteriyor. (a)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kaçtır? (b) Kutunun üstüne 5 kg'lık ikinci bir kutu konup ikisi yine sabit hızla çekilirse dinamometre kaç N gösterir?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5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sabit hız → a = 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dinamometre F = 15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üstüne 5 kg daha → toplam 10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kinetik sürtünme katsayısı μk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iki kutu sabit hızla çekilirken dinamometrenin gösterdiği F</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hızla çekilen kutudan μk ölçmek</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Sabit hız → net kuvvet sıfır → kinetik sürtünme çekme kuvvetine eşit: f = 15 N</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m·g = 5 · 10 = 50 N</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hızla çekilen kutudan μk ölçmek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f / N = 15 / 50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0,3</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N = 10 · 10 = 100 N → f = 0,3 · 100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30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kütle 2 katına çıkınca sürtünme de 2 katına çıktı.</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Kayan cismin durması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Yatay zeminde 10 m/s hızla kayan 5 kg'lık cisim,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0,25 olan yüzeyde yavaşlıyor. Kaç metre sonra ve kaç saniyede durur?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v₀ = 10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5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μk = 0,25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son hız v = 0 (cisim duruyor)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durma mesafesi 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durma süresi 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Kayan cismin durması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Tek yatay kuvvet sürtünmedir: f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·m·g = 0,25 · 5 · 10 = 12,5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−f/m = −2,5 m/s² (yavaşlatıcı)</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Mesafe: v²/(2a) = 100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m</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Kayan cismin durması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Süre: v/a = 10 / 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s</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Kütle sonuçta görünmez: a = μ·g olduğu için 50 kg'lık cisim de aynı yerde dururdu.</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Kritik açıdan μ bulma</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Eğimi yavaşça artırılan bir düzlemde cisim, açı 37° olduğunda kaymaya başlıyor. (a)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kaçtır? (b)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0,5 ise kaymaya başladıktan sonraki ivmesi nedir? (sin37° = 0,6 · cos37° = 0,8)</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kaymanın başladığı açı θkritik = 37°</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μk = 0,5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sin37° = 0,6</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cos37° = 0,8</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statik sürtünme katsayısı μs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kaymaya başladıktan sonraki ivme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Kritik açıdan μ bulma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tanθ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tan37° = 0,6/0,8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0,75</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 = g·(sinθ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·cosθ) = 10·(0,6 − 0,5·0,8)</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Kritik açıdan μ bulma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10 · (0,6 − 0,4)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m/s²</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Kütle hiçbir adımda kullanılmadı; sonuç kütleden bağımsızdır.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Fren mesafesi ve hız</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72 km/h ile giden bir araç, μ = 0,5 olan bir yolda fren yapıyor. Sürücünün tepki süresi 1 s'dir. (a) Toplam durma mesafesi nedir? (b) Hız iki katına çıkarsa fren mesafesi ne olur?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 = 72 km/h</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μ = 0,5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ttepki = 1 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hız iki katına çıkıyor</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toplam durma mesafesi dtoplam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iki kat hızda fren mesafesi dfren</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Fren mesafesi ve hız</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72 km/h = 72/3,6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m/s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Tepki mesafesi: 20 · 1 = 20 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Fren mesafesi ve hız</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Fren mesafesi: v²/(2μg) = 400 / (2·0,5·10) = 40 m → toplam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60 m</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 = 40 m/s için fren mesafesi: 1600/10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160 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hız 2 katına çıkınca fren mesafesi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katına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çıktı.</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Kızağı çekmek mi, itmek mi?</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Karda kaymakta olan 20 kg'lık bir kızağa 100 N'luk kuvvet, yatayla 37° açı yapacak biçimde uygulanıyor;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0,2. Kuvvet (a) yukarı doğru eğik çekerek, (b) aşağı doğru eğik iterek uygulanırsa kızağın ivmesi ne olur? (sin37° = 0,6 · cos37° = 0,8)</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m = 20 kg</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F = 100 N</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yatayla açı α = 37°</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μk = 0,2</a:t>
            </a:r>
            <a:endParaRPr lang="en-US" sz="1600" dirty="0"/>
          </a:p>
        </p:txBody>
      </p:sp>
      <p:sp>
        <p:nvSpPr>
          <p:cNvPr id="15" name="Text 13"/>
          <p:cNvSpPr txBox="1"/>
          <p:nvPr/>
        </p:nvSpPr>
        <p:spPr>
          <a:xfrm>
            <a:off x="3381680"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kızak zaten kayıyor</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sin37° = 0,6</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cos37° = 0,8</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g = 10 m/s²</a:t>
            </a:r>
            <a:endParaRPr lang="en-US" sz="1600" dirty="0"/>
          </a:p>
        </p:txBody>
      </p:sp>
      <p:sp>
        <p:nvSpPr>
          <p:cNvPr id="16" name="Shape 14"/>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6251296" y="4136136"/>
            <a:ext cx="54864" cy="1844040"/>
          </a:xfrm>
          <a:prstGeom prst="rect">
            <a:avLst/>
          </a:prstGeom>
          <a:solidFill>
            <a:srgbClr val="5F4BD8"/>
          </a:solidFill>
          <a:ln/>
        </p:spPr>
      </p:sp>
      <p:sp>
        <p:nvSpPr>
          <p:cNvPr id="18" name="Text 16"/>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9" name="Text 17"/>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kızağın ivmesi a: (a) yukarı doğru eğik çekerken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aşağı doğru eğik iterken</a:t>
            </a:r>
            <a:endParaRPr lang="en-US" sz="18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Kızağı çekmek mi, itmek mi?</a:t>
            </a:r>
            <a:endParaRPr lang="en-US" sz="1450" dirty="0"/>
          </a:p>
        </p:txBody>
      </p:sp>
      <p:sp>
        <p:nvSpPr>
          <p:cNvPr id="8" name="Shape 6"/>
          <p:cNvSpPr/>
          <p:nvPr/>
        </p:nvSpPr>
        <p:spPr>
          <a:xfrm>
            <a:off x="640080" y="1645920"/>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18599"/>
            <a:ext cx="420624" cy="420624"/>
          </a:xfrm>
          <a:prstGeom prst="roundRect">
            <a:avLst>
              <a:gd name="adj" fmla="val 26000"/>
            </a:avLst>
          </a:prstGeom>
          <a:solidFill>
            <a:srgbClr val="A56209"/>
          </a:solidFill>
          <a:ln/>
        </p:spPr>
      </p:sp>
      <p:sp>
        <p:nvSpPr>
          <p:cNvPr id="10" name="Text 8"/>
          <p:cNvSpPr txBox="1"/>
          <p:nvPr/>
        </p:nvSpPr>
        <p:spPr>
          <a:xfrm>
            <a:off x="914400" y="2218599"/>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Kuvvetin bileşenleri: yatay 100 · 0,8 = 80 N, düşey 100 · 0,6 = 60 N; ağırlık 200 N.</a:t>
            </a:r>
            <a:endParaRPr lang="en-US" sz="2000" dirty="0"/>
          </a:p>
        </p:txBody>
      </p:sp>
      <p:sp>
        <p:nvSpPr>
          <p:cNvPr id="12" name="Shape 10"/>
          <p:cNvSpPr/>
          <p:nvPr/>
        </p:nvSpPr>
        <p:spPr>
          <a:xfrm>
            <a:off x="640080" y="3376494"/>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949174"/>
            <a:ext cx="420624" cy="420624"/>
          </a:xfrm>
          <a:prstGeom prst="roundRect">
            <a:avLst>
              <a:gd name="adj" fmla="val 26000"/>
            </a:avLst>
          </a:prstGeom>
          <a:solidFill>
            <a:srgbClr val="A56209"/>
          </a:solidFill>
          <a:ln/>
        </p:spPr>
      </p:sp>
      <p:sp>
        <p:nvSpPr>
          <p:cNvPr id="14" name="Text 12"/>
          <p:cNvSpPr txBox="1"/>
          <p:nvPr/>
        </p:nvSpPr>
        <p:spPr>
          <a:xfrm>
            <a:off x="914400" y="394917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31358"/>
            <a:ext cx="9859975" cy="1456254"/>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Çekerken düşey bileşen yukarı: N = 200 − 60 = 140 N → f = 0,2 · 140 = 28 N</a:t>
            </a:r>
            <a:endParaRPr lang="en-US" sz="2000" dirty="0"/>
          </a:p>
        </p:txBody>
      </p:sp>
      <p:sp>
        <p:nvSpPr>
          <p:cNvPr id="16" name="Shape 14"/>
          <p:cNvSpPr/>
          <p:nvPr/>
        </p:nvSpPr>
        <p:spPr>
          <a:xfrm>
            <a:off x="640080" y="5107069"/>
            <a:ext cx="10911535" cy="1037699"/>
          </a:xfrm>
          <a:prstGeom prst="roundRect">
            <a:avLst>
              <a:gd name="adj" fmla="val 140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5415606"/>
            <a:ext cx="420624" cy="420624"/>
          </a:xfrm>
          <a:prstGeom prst="roundRect">
            <a:avLst>
              <a:gd name="adj" fmla="val 26000"/>
            </a:avLst>
          </a:prstGeom>
          <a:solidFill>
            <a:srgbClr val="A56209"/>
          </a:solidFill>
          <a:ln/>
        </p:spPr>
      </p:sp>
      <p:sp>
        <p:nvSpPr>
          <p:cNvPr id="18" name="Text 16"/>
          <p:cNvSpPr txBox="1"/>
          <p:nvPr/>
        </p:nvSpPr>
        <p:spPr>
          <a:xfrm>
            <a:off x="914400" y="541560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5161933"/>
            <a:ext cx="9859975" cy="927971"/>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(80 − 28) / 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2,6 m/s²</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Kızağı çekmek mi, itmek mi?</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İterken düşey bileşen aşağı: N = 200 + 60 = 260 N → f = 0,2 · 260 = 52 N</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(80 − 52) / 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1,4 m/s²</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aynı kuvvet, çekerken neredeyse iki kat ivme.</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yukarı fırlatılan blok</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37°'lik eğik düzlemin altından bir blok, eğim boyunca yukarı 10 m/s hızla fırlatılıyor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0,7 · μ</a:t>
            </a:r>
            <a:pPr indent="0" marL="0">
              <a:lnSpc>
                <a:spcPct val="118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 0,5). (a) Blok eğim boyunca kaç metre çıkar? (b) Tepede kalır mı? (c) Kalmıyorsa başlangıç noktasına hangi süratle döner?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θ = 37°</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v₀ = 10 m/s (eğim boyunca yukarı)</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μs = 0,7</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μk = 0,5</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sin37° = 0,6</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cos37° = 0,8</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g = 10 m/s²</a:t>
            </a:r>
            <a:endParaRPr lang="en-US" sz="125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eğim boyunca çıkış mesafesi d</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blok tepede kalır mı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başlangıç noktasına dönüş sürati v</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yukarı fırlatılan blok</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Çıkarken sürtünme de ağırlığın paralel bileşeni de aşağı yönlüdür: a = g·(sinθ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·cosθ) = 10·(0,6 + 0,4) = 10 m/s² (yavaşlatıcı)</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 = v₀² / (2a) = 100 / 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 m</a:t>
            </a:r>
            <a:endParaRPr lang="en-US" sz="2000" dirty="0"/>
          </a:p>
        </p:txBody>
      </p:sp>
      <p:sp>
        <p:nvSpPr>
          <p:cNvPr id="16" name="Shape 14"/>
          <p:cNvSpPr/>
          <p:nvPr/>
        </p:nvSpPr>
        <p:spPr>
          <a:xfrm>
            <a:off x="640080" y="466709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993234"/>
            <a:ext cx="420624" cy="420624"/>
          </a:xfrm>
          <a:prstGeom prst="roundRect">
            <a:avLst>
              <a:gd name="adj" fmla="val 26000"/>
            </a:avLst>
          </a:prstGeom>
          <a:solidFill>
            <a:srgbClr val="A56209"/>
          </a:solidFill>
          <a:ln/>
        </p:spPr>
      </p:sp>
      <p:sp>
        <p:nvSpPr>
          <p:cNvPr id="18" name="Text 16"/>
          <p:cNvSpPr txBox="1"/>
          <p:nvPr/>
        </p:nvSpPr>
        <p:spPr>
          <a:xfrm>
            <a:off x="914400" y="499323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72196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tan37° = 0,75 &gt;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0,7 → statik sürtünme yetmez, blok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geri kayar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yukarı fırlatılan blok</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İnerken sürtünme yukarı yönlüdür: a = g·(sinθ − μ</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·cosθ) = 10·(0,6 − 0,4) = 2 m/s²</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v² = 2·a·d = 2 · 2 · 5 = 20 → v = √20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4,5 m/s</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Serbest düşmedeki simetri burada yoktur: blok 1 s'de çıkar, ama √5 ≈ 2,2 s'de iner ve fırlatıldığı hızın yarısından azıyla döner. Aradaki enerji sürtünmeyle ısıya dönüşmüştür.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Yatay zeminde kayan 10 kg'lık bir kutu için μk = 0,3'tür. Kutuya etki eden kinetik sürtünme kuvveti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Yatay zeminde kayan 10 kg'lık bir kutu için μk = 0,3'tür. Kutuya etki eden kinetik sürtünme kuvveti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 = m · g = 10 · 10 = 100 N. f</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N = 0,3 · 100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30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Yatay zeminde duran 30 kg'lık bir sandık için μs = 0,4'tür. Sandığı kıpırdatmak için en az kaç N'luk yatay kuvvet gerekir?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Yatay zeminde duran 30 kg'lık bir sandık için μs = 0,4'tür. Sandığı kıpırdatmak için en az kaç N'luk yatay kuvvet gerekir?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 = m · g = 30 · 10 = 300 N. Eşik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N = 0,4 · 300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120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kuvvet bunu aşınca sandık kaymaya başlar.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Buz pistinde 6 m/s hızla kaymaya başlayan bir disk için μk = 0,1'dir. Disk kaç metre sonra ve kaç saniyede durur?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Buz pistinde 6 m/s hızla kaymaya başlayan bir disk için μk = 0,1'dir. Disk kaç metre sonra ve kaç saniyede durur?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Tek yatay kuvvet sürtünmedir: a =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g = 0,1 · 10 = 1 m/s² (yavaşlatıcı). Mesafe d = v² / (2a) = 36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18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Süre t = v / a = 6 / 1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6 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37°'lik bir eğik düzlemde aşağı doğru kayan cisim için μk = 0,25'tir. Cismin ivmesi kaç m/s²'dir?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37°'lik bir eğik düzlemde aşağı doğru kayan cisim için μk = 0,25'tir. Cismin ivmesi kaç m/s²'dir?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 = g · (sinθ −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cosθ) = 10 · (0,6 − 0,25 · 0,8) = 10 · (0,6 − 0,2)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Kütle gerekmedi; sonuç her kütle için aynıdır.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128</a:t>
            </a:r>
            <a:endParaRPr lang="en-US" sz="10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Yatay zeminde duran 10 kg'lık bir kutu, 60 N'luk yatay kuvvetle 5 s kaydırılıp bırakılıyor (μk = 0,2). Bırakıldıktan sonra kutu kaç metre daha kayar?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 sin37° = 0,6 · cos37°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129</a:t>
            </a:r>
            <a:endParaRPr lang="en-US" sz="10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Yatay zeminde duran 10 kg'lık bir kutu, 60 N'luk yatay kuvvetle 5 s kaydırılıp bırakılıyor (μk = 0,2). Bırakıldıktan sonra kutu kaç metre daha kayar?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Sürtünme f =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m · g = 0,2 · 100 = 20 N. İtilirken a = (60 − 20) / 10 = 4 m/s²; 5 s sonunda v = 4 · 5 = 20 m/s. Bırakılınca yalnızca sürtünme kalır: yavaşlama μ</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g = 2 m/s². Kayma mesafesi d = v² / (2 · 2) = 400 / 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100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130</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“Sürtünme her zaman hareketi engeller.”</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Sürtünme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bağıl kaymaya</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zıttır; yürümeyi, frenlemeyi ve virajı dönmeyi sağlayan da odur.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“f = μ·N her durumda geçerlidir.”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Statik durumda f, uygulanan kuvvete eşittir; μ</a:t>
            </a:r>
            <a:pPr indent="0" marL="0">
              <a:lnSpc>
                <a:spcPct val="108000"/>
              </a:lnSpc>
              <a:buNone/>
            </a:pPr>
            <a:r>
              <a:rPr lang="en-US" sz="1700" baseline="-40000" dirty="0">
                <a:solidFill>
                  <a:srgbClr val="4A5470"/>
                </a:solidFill>
                <a:latin typeface="Calibri" pitchFamily="34" charset="0"/>
                <a:ea typeface="Calibri" pitchFamily="34" charset="-122"/>
                <a:cs typeface="Calibri" pitchFamily="34" charset="-120"/>
              </a:rPr>
              <a:t>s</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·N yalnızca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üst sınırdır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“Temas alanı büyükse sürtünme büyüktür.”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Alan bağıntıda yoktur.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“Kinetik sürtünme hızla artar.”</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Yaklaşık olarak sabittir; hızla artan kuvvet hava direncidir (bkz. Konu 05).</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131</a:t>
            </a:r>
            <a:endParaRPr lang="en-US" sz="10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397383"/>
          </a:xfrm>
          <a:prstGeom prst="rect">
            <a:avLst/>
          </a:prstGeom>
          <a:noFill/>
          <a:ln/>
        </p:spPr>
        <p:txBody>
          <a:bodyPr wrap="square" lIns="0" tIns="0" rIns="0" bIns="0" rtlCol="0" anchor="t"/>
          <a:lstStyle/>
          <a:p>
            <a:pPr indent="0" marL="0">
              <a:lnSpc>
                <a:spcPct val="108000"/>
              </a:lnSpc>
              <a:buNone/>
            </a:pPr>
            <a:r>
              <a:rPr lang="en-US" sz="1850" b="1" dirty="0">
                <a:solidFill>
                  <a:srgbClr val="0E1426"/>
                </a:solidFill>
                <a:latin typeface="Calibri" pitchFamily="34" charset="0"/>
                <a:ea typeface="Calibri" pitchFamily="34" charset="-122"/>
                <a:cs typeface="Calibri" pitchFamily="34" charset="-120"/>
              </a:rPr>
              <a:t>“N her zaman m·g'dir.”</a:t>
            </a:r>
            <a:endParaRPr lang="en-US" sz="1850" dirty="0"/>
          </a:p>
        </p:txBody>
      </p:sp>
      <p:sp>
        <p:nvSpPr>
          <p:cNvPr id="11" name="Shape 9"/>
          <p:cNvSpPr/>
          <p:nvPr/>
        </p:nvSpPr>
        <p:spPr>
          <a:xfrm>
            <a:off x="841248" y="2262759"/>
            <a:ext cx="310896" cy="310896"/>
          </a:xfrm>
          <a:prstGeom prst="roundRect">
            <a:avLst>
              <a:gd name="adj" fmla="val 26471"/>
            </a:avLst>
          </a:prstGeom>
          <a:solidFill>
            <a:srgbClr val="EAF7DC"/>
          </a:solidFill>
          <a:ln/>
        </p:spPr>
      </p:sp>
      <p:sp>
        <p:nvSpPr>
          <p:cNvPr id="12" name="Text 10"/>
          <p:cNvSpPr txBox="1"/>
          <p:nvPr/>
        </p:nvSpPr>
        <p:spPr>
          <a:xfrm>
            <a:off x="841248" y="2262759"/>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44471"/>
            <a:ext cx="4523080" cy="1431417"/>
          </a:xfrm>
          <a:prstGeom prst="rect">
            <a:avLst/>
          </a:prstGeom>
          <a:noFill/>
          <a:ln/>
        </p:spPr>
        <p:txBody>
          <a:bodyPr wrap="square" lIns="0" tIns="0" rIns="0" bIns="0" rtlCol="0" anchor="t"/>
          <a:lstStyle/>
          <a:p>
            <a:pPr indent="0" marL="0">
              <a:lnSpc>
                <a:spcPct val="108000"/>
              </a:lnSpc>
              <a:buNone/>
            </a:pPr>
            <a:r>
              <a:rPr lang="en-US" sz="1650" dirty="0">
                <a:solidFill>
                  <a:srgbClr val="4A5470"/>
                </a:solidFill>
                <a:latin typeface="Calibri" pitchFamily="34" charset="0"/>
                <a:ea typeface="Calibri" pitchFamily="34" charset="-122"/>
                <a:cs typeface="Calibri" pitchFamily="34" charset="-120"/>
              </a:rPr>
              <a:t> Eğik düzlemde N = m·g·cosθ; eğik bir kuvvet uygulandığında ya da asansörde de değişir.</a:t>
            </a:r>
            <a:endParaRPr lang="en-US" sz="165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21614"/>
          </a:xfrm>
          <a:prstGeom prst="rect">
            <a:avLst/>
          </a:prstGeom>
          <a:noFill/>
          <a:ln/>
        </p:spPr>
        <p:txBody>
          <a:bodyPr wrap="square" lIns="0" tIns="0" rIns="0" bIns="0" rtlCol="0" anchor="t"/>
          <a:lstStyle/>
          <a:p>
            <a:pPr indent="0" marL="0">
              <a:lnSpc>
                <a:spcPct val="108000"/>
              </a:lnSpc>
              <a:buNone/>
            </a:pPr>
            <a:r>
              <a:rPr lang="en-US" sz="1850" b="1" dirty="0">
                <a:solidFill>
                  <a:srgbClr val="0E1426"/>
                </a:solidFill>
                <a:latin typeface="Calibri" pitchFamily="34" charset="0"/>
                <a:ea typeface="Calibri" pitchFamily="34" charset="-122"/>
                <a:cs typeface="Calibri" pitchFamily="34" charset="-120"/>
              </a:rPr>
              <a:t>“Ağır cisim eğik düzlemde daha geç kayar.”</a:t>
            </a:r>
            <a:endParaRPr lang="en-US" sz="1850" dirty="0"/>
          </a:p>
        </p:txBody>
      </p:sp>
      <p:sp>
        <p:nvSpPr>
          <p:cNvPr id="18" name="Shape 16"/>
          <p:cNvSpPr/>
          <p:nvPr/>
        </p:nvSpPr>
        <p:spPr>
          <a:xfrm>
            <a:off x="6406744" y="2586990"/>
            <a:ext cx="310896" cy="310896"/>
          </a:xfrm>
          <a:prstGeom prst="roundRect">
            <a:avLst>
              <a:gd name="adj" fmla="val 26471"/>
            </a:avLst>
          </a:prstGeom>
          <a:solidFill>
            <a:srgbClr val="EAF7DC"/>
          </a:solidFill>
          <a:ln/>
        </p:spPr>
      </p:sp>
      <p:sp>
        <p:nvSpPr>
          <p:cNvPr id="19" name="Text 17"/>
          <p:cNvSpPr txBox="1"/>
          <p:nvPr/>
        </p:nvSpPr>
        <p:spPr>
          <a:xfrm>
            <a:off x="6406744" y="258699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68702"/>
            <a:ext cx="4523080" cy="1107186"/>
          </a:xfrm>
          <a:prstGeom prst="rect">
            <a:avLst/>
          </a:prstGeom>
          <a:noFill/>
          <a:ln/>
        </p:spPr>
        <p:txBody>
          <a:bodyPr wrap="square" lIns="0" tIns="0" rIns="0" bIns="0" rtlCol="0" anchor="t"/>
          <a:lstStyle/>
          <a:p>
            <a:pPr indent="0" marL="0">
              <a:lnSpc>
                <a:spcPct val="108000"/>
              </a:lnSpc>
              <a:buNone/>
            </a:pPr>
            <a:r>
              <a:rPr lang="en-US" sz="1650" dirty="0">
                <a:solidFill>
                  <a:srgbClr val="4A5470"/>
                </a:solidFill>
                <a:latin typeface="Calibri" pitchFamily="34" charset="0"/>
                <a:ea typeface="Calibri" pitchFamily="34" charset="-122"/>
                <a:cs typeface="Calibri" pitchFamily="34" charset="-120"/>
              </a:rPr>
              <a:t> Kritik açı kütleden bağımsızdır.</a:t>
            </a:r>
            <a:endParaRPr lang="en-US" sz="165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21614"/>
          </a:xfrm>
          <a:prstGeom prst="rect">
            <a:avLst/>
          </a:prstGeom>
          <a:noFill/>
          <a:ln/>
        </p:spPr>
        <p:txBody>
          <a:bodyPr wrap="square" lIns="0" tIns="0" rIns="0" bIns="0" rtlCol="0" anchor="t"/>
          <a:lstStyle/>
          <a:p>
            <a:pPr indent="0" marL="0">
              <a:lnSpc>
                <a:spcPct val="108000"/>
              </a:lnSpc>
              <a:buNone/>
            </a:pPr>
            <a:r>
              <a:rPr lang="en-US" sz="1850" b="1" dirty="0">
                <a:solidFill>
                  <a:srgbClr val="0E1426"/>
                </a:solidFill>
                <a:latin typeface="Calibri" pitchFamily="34" charset="0"/>
                <a:ea typeface="Calibri" pitchFamily="34" charset="-122"/>
                <a:cs typeface="Calibri" pitchFamily="34" charset="-120"/>
              </a:rPr>
              <a:t>“Fren mesafesi hızla doğru orantılıdır.”</a:t>
            </a:r>
            <a:endParaRPr lang="en-US" sz="1850" dirty="0"/>
          </a:p>
        </p:txBody>
      </p:sp>
      <p:sp>
        <p:nvSpPr>
          <p:cNvPr id="25" name="Shape 23"/>
          <p:cNvSpPr/>
          <p:nvPr/>
        </p:nvSpPr>
        <p:spPr>
          <a:xfrm>
            <a:off x="841248" y="4927854"/>
            <a:ext cx="310896" cy="310896"/>
          </a:xfrm>
          <a:prstGeom prst="roundRect">
            <a:avLst>
              <a:gd name="adj" fmla="val 26471"/>
            </a:avLst>
          </a:prstGeom>
          <a:solidFill>
            <a:srgbClr val="EAF7DC"/>
          </a:solidFill>
          <a:ln/>
        </p:spPr>
      </p:sp>
      <p:sp>
        <p:nvSpPr>
          <p:cNvPr id="26" name="Text 24"/>
          <p:cNvSpPr txBox="1"/>
          <p:nvPr/>
        </p:nvSpPr>
        <p:spPr>
          <a:xfrm>
            <a:off x="841248" y="4927854"/>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09566"/>
            <a:ext cx="4523080" cy="1107186"/>
          </a:xfrm>
          <a:prstGeom prst="rect">
            <a:avLst/>
          </a:prstGeom>
          <a:noFill/>
          <a:ln/>
        </p:spPr>
        <p:txBody>
          <a:bodyPr wrap="square" lIns="0" tIns="0" rIns="0" bIns="0" rtlCol="0" anchor="t"/>
          <a:lstStyle/>
          <a:p>
            <a:pPr indent="0" marL="0">
              <a:lnSpc>
                <a:spcPct val="108000"/>
              </a:lnSpc>
              <a:buNone/>
            </a:pPr>
            <a:r>
              <a:rPr lang="en-US" sz="1650" dirty="0">
                <a:solidFill>
                  <a:srgbClr val="4A5470"/>
                </a:solidFill>
                <a:latin typeface="Calibri" pitchFamily="34" charset="0"/>
                <a:ea typeface="Calibri" pitchFamily="34" charset="-122"/>
                <a:cs typeface="Calibri" pitchFamily="34" charset="-120"/>
              </a:rPr>
              <a:t> Hızın </a:t>
            </a:r>
            <a:pPr indent="0" marL="0">
              <a:lnSpc>
                <a:spcPct val="108000"/>
              </a:lnSpc>
              <a:buNone/>
            </a:pPr>
            <a:r>
              <a:rPr lang="en-US" sz="1650" i="1" dirty="0">
                <a:solidFill>
                  <a:srgbClr val="4A5470"/>
                </a:solidFill>
                <a:latin typeface="Calibri" pitchFamily="34" charset="0"/>
                <a:ea typeface="Calibri" pitchFamily="34" charset="-122"/>
                <a:cs typeface="Calibri" pitchFamily="34" charset="-120"/>
              </a:rPr>
              <a:t>karesiyle</a:t>
            </a:r>
            <a:pPr indent="0" marL="0">
              <a:lnSpc>
                <a:spcPct val="108000"/>
              </a:lnSpc>
              <a:buNone/>
            </a:pPr>
            <a:r>
              <a:rPr lang="en-US" sz="1650" dirty="0">
                <a:solidFill>
                  <a:srgbClr val="4A5470"/>
                </a:solidFill>
                <a:latin typeface="Calibri" pitchFamily="34" charset="0"/>
                <a:ea typeface="Calibri" pitchFamily="34" charset="-122"/>
                <a:cs typeface="Calibri" pitchFamily="34" charset="-120"/>
              </a:rPr>
              <a:t> artar; doğru orantılı olan tepki mesafesidir.</a:t>
            </a:r>
            <a:endParaRPr lang="en-US" sz="165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21614"/>
          </a:xfrm>
          <a:prstGeom prst="rect">
            <a:avLst/>
          </a:prstGeom>
          <a:noFill/>
          <a:ln/>
        </p:spPr>
        <p:txBody>
          <a:bodyPr wrap="square" lIns="0" tIns="0" rIns="0" bIns="0" rtlCol="0" anchor="t"/>
          <a:lstStyle/>
          <a:p>
            <a:pPr indent="0" marL="0">
              <a:lnSpc>
                <a:spcPct val="108000"/>
              </a:lnSpc>
              <a:buNone/>
            </a:pPr>
            <a:r>
              <a:rPr lang="en-US" sz="1850" b="1" dirty="0">
                <a:solidFill>
                  <a:srgbClr val="0E1426"/>
                </a:solidFill>
                <a:latin typeface="Calibri" pitchFamily="34" charset="0"/>
                <a:ea typeface="Calibri" pitchFamily="34" charset="-122"/>
                <a:cs typeface="Calibri" pitchFamily="34" charset="-120"/>
              </a:rPr>
              <a:t>“Dönen tekerlekteki sürtünme kinetiktir.”</a:t>
            </a:r>
            <a:endParaRPr lang="en-US" sz="1850" dirty="0"/>
          </a:p>
        </p:txBody>
      </p:sp>
      <p:sp>
        <p:nvSpPr>
          <p:cNvPr id="32" name="Shape 30"/>
          <p:cNvSpPr/>
          <p:nvPr/>
        </p:nvSpPr>
        <p:spPr>
          <a:xfrm>
            <a:off x="6406744" y="4927854"/>
            <a:ext cx="310896" cy="310896"/>
          </a:xfrm>
          <a:prstGeom prst="roundRect">
            <a:avLst>
              <a:gd name="adj" fmla="val 26471"/>
            </a:avLst>
          </a:prstGeom>
          <a:solidFill>
            <a:srgbClr val="EAF7DC"/>
          </a:solidFill>
          <a:ln/>
        </p:spPr>
      </p:sp>
      <p:sp>
        <p:nvSpPr>
          <p:cNvPr id="33" name="Text 31"/>
          <p:cNvSpPr txBox="1"/>
          <p:nvPr/>
        </p:nvSpPr>
        <p:spPr>
          <a:xfrm>
            <a:off x="6406744" y="4927854"/>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09566"/>
            <a:ext cx="4523080" cy="1107186"/>
          </a:xfrm>
          <a:prstGeom prst="rect">
            <a:avLst/>
          </a:prstGeom>
          <a:noFill/>
          <a:ln/>
        </p:spPr>
        <p:txBody>
          <a:bodyPr wrap="square" lIns="0" tIns="0" rIns="0" bIns="0" rtlCol="0" anchor="t"/>
          <a:lstStyle/>
          <a:p>
            <a:pPr indent="0" marL="0">
              <a:lnSpc>
                <a:spcPct val="108000"/>
              </a:lnSpc>
              <a:buNone/>
            </a:pPr>
            <a:r>
              <a:rPr lang="en-US" sz="1650" dirty="0">
                <a:solidFill>
                  <a:srgbClr val="4A5470"/>
                </a:solidFill>
                <a:latin typeface="Calibri" pitchFamily="34" charset="0"/>
                <a:ea typeface="Calibri" pitchFamily="34" charset="-122"/>
                <a:cs typeface="Calibri" pitchFamily="34" charset="-120"/>
              </a:rPr>
              <a:t> Kaymadan dönen tekerleğin yola değen noktası o an durgundur, sürtünme statiktir; kinetik olan kilitlenip kayan tekerlektir.</a:t>
            </a:r>
            <a:endParaRPr lang="en-US" sz="165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dersler.perinet.org/surtunme-kuvveti.html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132</a:t>
            </a:r>
            <a:endParaRPr lang="en-US" sz="10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Statik </a:t>
            </a:r>
            <a:pPr indent="0" marL="0">
              <a:buNone/>
            </a:pPr>
            <a:r>
              <a:rPr lang="en-US" sz="1500" b="1" dirty="0">
                <a:solidFill>
                  <a:srgbClr val="FFFFFF"/>
                </a:solidFill>
                <a:latin typeface="Calibri" pitchFamily="34" charset="0"/>
                <a:ea typeface="Calibri" pitchFamily="34" charset="-122"/>
                <a:cs typeface="Calibri" pitchFamily="34" charset="-120"/>
              </a:rPr>
              <a:t>f ≤ μ</a:t>
            </a:r>
            <a:pPr indent="0" marL="0">
              <a:buNone/>
            </a:pPr>
            <a:r>
              <a:rPr lang="en-US" sz="1500" b="1" baseline="-40000" dirty="0">
                <a:solidFill>
                  <a:srgbClr val="FFFFFF"/>
                </a:solidFill>
                <a:latin typeface="Calibri" pitchFamily="34" charset="0"/>
                <a:ea typeface="Calibri" pitchFamily="34" charset="-122"/>
                <a:cs typeface="Calibri" pitchFamily="34" charset="-120"/>
              </a:rPr>
              <a:t>s</a:t>
            </a:r>
            <a:pPr indent="0" marL="0">
              <a:buNone/>
            </a:pPr>
            <a:r>
              <a:rPr lang="en-US" sz="1500" b="1" dirty="0">
                <a:solidFill>
                  <a:srgbClr val="FFFFFF"/>
                </a:solidFill>
                <a:latin typeface="Calibri" pitchFamily="34" charset="0"/>
                <a:ea typeface="Calibri" pitchFamily="34" charset="-122"/>
                <a:cs typeface="Calibri" pitchFamily="34" charset="-120"/>
              </a:rPr>
              <a:t>·N</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Kinetik </a:t>
            </a:r>
            <a:pPr indent="0" marL="0">
              <a:buNone/>
            </a:pPr>
            <a:r>
              <a:rPr lang="en-US" sz="1500" b="1" dirty="0">
                <a:solidFill>
                  <a:srgbClr val="FFFFFF"/>
                </a:solidFill>
                <a:latin typeface="Calibri" pitchFamily="34" charset="0"/>
                <a:ea typeface="Calibri" pitchFamily="34" charset="-122"/>
                <a:cs typeface="Calibri" pitchFamily="34" charset="-120"/>
              </a:rPr>
              <a:t>f = μ</a:t>
            </a:r>
            <a:pPr indent="0" marL="0">
              <a:buNone/>
            </a:pPr>
            <a:r>
              <a:rPr lang="en-US" sz="1500" b="1" baseline="-40000" dirty="0">
                <a:solidFill>
                  <a:srgbClr val="FFFFFF"/>
                </a:solidFill>
                <a:latin typeface="Calibri" pitchFamily="34" charset="0"/>
                <a:ea typeface="Calibri" pitchFamily="34" charset="-122"/>
                <a:cs typeface="Calibri" pitchFamily="34" charset="-120"/>
              </a:rPr>
              <a:t>k</a:t>
            </a:r>
            <a:pPr indent="0" marL="0">
              <a:buNone/>
            </a:pPr>
            <a:r>
              <a:rPr lang="en-US" sz="1500" b="1" dirty="0">
                <a:solidFill>
                  <a:srgbClr val="FFFFFF"/>
                </a:solidFill>
                <a:latin typeface="Calibri" pitchFamily="34" charset="0"/>
                <a:ea typeface="Calibri" pitchFamily="34" charset="-122"/>
                <a:cs typeface="Calibri" pitchFamily="34" charset="-120"/>
              </a:rPr>
              <a:t>·N</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Alana </a:t>
            </a:r>
            <a:pPr indent="0" marL="0">
              <a:buNone/>
            </a:pPr>
            <a:r>
              <a:rPr lang="en-US" sz="1500" b="1" dirty="0">
                <a:solidFill>
                  <a:srgbClr val="FFFFFF"/>
                </a:solidFill>
                <a:latin typeface="Calibri" pitchFamily="34" charset="0"/>
                <a:ea typeface="Calibri" pitchFamily="34" charset="-122"/>
                <a:cs typeface="Calibri" pitchFamily="34" charset="-120"/>
              </a:rPr>
              <a:t>bağlı değil</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Kritik açı </a:t>
            </a:r>
            <a:pPr indent="0" marL="0">
              <a:buNone/>
            </a:pPr>
            <a:r>
              <a:rPr lang="en-US" sz="1500" b="1" dirty="0">
                <a:solidFill>
                  <a:srgbClr val="FFFFFF"/>
                </a:solidFill>
                <a:latin typeface="Calibri" pitchFamily="34" charset="0"/>
                <a:ea typeface="Calibri" pitchFamily="34" charset="-122"/>
                <a:cs typeface="Calibri" pitchFamily="34" charset="-120"/>
              </a:rPr>
              <a:t>tanθ = μ</a:t>
            </a:r>
            <a:pPr indent="0" marL="0">
              <a:buNone/>
            </a:pPr>
            <a:r>
              <a:rPr lang="en-US" sz="1500" b="1" baseline="-40000" dirty="0">
                <a:solidFill>
                  <a:srgbClr val="FFFFFF"/>
                </a:solidFill>
                <a:latin typeface="Calibri" pitchFamily="34" charset="0"/>
                <a:ea typeface="Calibri" pitchFamily="34" charset="-122"/>
                <a:cs typeface="Calibri" pitchFamily="34" charset="-120"/>
              </a:rPr>
              <a:t>s</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fs ≤ μs · N</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statik: eşiğe kadar dengeler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fk = μk · N</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kinetik: sabit</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tanθ = μs</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kaymanın başladığı açı</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d = v² / (2·μ·g)</a:t>
            </a:r>
            <a:endParaRPr lang="en-US" sz="1350" dirty="0"/>
          </a:p>
        </p:txBody>
      </p:sp>
      <p:sp>
        <p:nvSpPr>
          <p:cNvPr id="25" name="Text 23"/>
          <p:cNvSpPr txBox="1"/>
          <p:nvPr/>
        </p:nvSpPr>
        <p:spPr>
          <a:xfrm>
            <a:off x="8677656" y="486460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fren mesafesi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dersler.perinet.org/surtunme-kuvveti.html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05 · Limit hız</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133</Slides>
  <Notes>133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133</vt:i4>
      </vt:variant>
    </vt:vector>
  </HeadingPairs>
  <TitlesOfParts>
    <vt:vector size="1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Sürtünme kuvveti — Dersler</dc:title>
  <dc:subject>Fizik · Kuvvet ve Hareket</dc:subject>
  <dc:creator>Dersler</dc:creator>
  <cp:lastModifiedBy>Dersler</cp:lastModifiedBy>
  <cp:revision>1</cp:revision>
  <dcterms:created xsi:type="dcterms:W3CDTF">2026-09-30T08:43:45Z</dcterms:created>
  <dcterms:modified xsi:type="dcterms:W3CDTF">2026-09-30T08:43:45Z</dcterms:modified>
</cp:coreProperties>
</file>