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slideMasters/slideMaster102.xml" ContentType="application/vnd.openxmlformats-officedocument.presentationml.slideMaster+xml"/>
  <Override PartName="/ppt/slides/slide102.xml" ContentType="application/vnd.openxmlformats-officedocument.presentationml.slide+xml"/>
  <Override PartName="/ppt/slideMasters/slideMaster103.xml" ContentType="application/vnd.openxmlformats-officedocument.presentationml.slideMaster+xml"/>
  <Override PartName="/ppt/slides/slide103.xml" ContentType="application/vnd.openxmlformats-officedocument.presentationml.slide+xml"/>
  <Override PartName="/ppt/slideMasters/slideMaster104.xml" ContentType="application/vnd.openxmlformats-officedocument.presentationml.slideMaster+xml"/>
  <Override PartName="/ppt/slides/slide104.xml" ContentType="application/vnd.openxmlformats-officedocument.presentationml.slide+xml"/>
  <Override PartName="/ppt/slideMasters/slideMaster105.xml" ContentType="application/vnd.openxmlformats-officedocument.presentationml.slideMaster+xml"/>
  <Override PartName="/ppt/slides/slide105.xml" ContentType="application/vnd.openxmlformats-officedocument.presentationml.slide+xml"/>
  <Override PartName="/ppt/slideMasters/slideMaster106.xml" ContentType="application/vnd.openxmlformats-officedocument.presentationml.slideMaster+xml"/>
  <Override PartName="/ppt/slides/slide106.xml" ContentType="application/vnd.openxmlformats-officedocument.presentationml.slide+xml"/>
  <Override PartName="/ppt/slideMasters/slideMaster107.xml" ContentType="application/vnd.openxmlformats-officedocument.presentationml.slideMaster+xml"/>
  <Override PartName="/ppt/slides/slide107.xml" ContentType="application/vnd.openxmlformats-officedocument.presentationml.slide+xml"/>
  <Override PartName="/ppt/slideMasters/slideMaster108.xml" ContentType="application/vnd.openxmlformats-officedocument.presentationml.slideMaster+xml"/>
  <Override PartName="/ppt/slides/slide108.xml" ContentType="application/vnd.openxmlformats-officedocument.presentationml.slide+xml"/>
  <Override PartName="/ppt/slideMasters/slideMaster109.xml" ContentType="application/vnd.openxmlformats-officedocument.presentationml.slideMaster+xml"/>
  <Override PartName="/ppt/slides/slide109.xml" ContentType="application/vnd.openxmlformats-officedocument.presentationml.slide+xml"/>
  <Override PartName="/ppt/slideMasters/slideMaster110.xml" ContentType="application/vnd.openxmlformats-officedocument.presentationml.slideMaster+xml"/>
  <Override PartName="/ppt/slides/slide110.xml" ContentType="application/vnd.openxmlformats-officedocument.presentationml.slide+xml"/>
  <Override PartName="/ppt/slideMasters/slideMaster111.xml" ContentType="application/vnd.openxmlformats-officedocument.presentationml.slideMaster+xml"/>
  <Override PartName="/ppt/slides/slide111.xml" ContentType="application/vnd.openxmlformats-officedocument.presentationml.slide+xml"/>
  <Override PartName="/ppt/slideMasters/slideMaster112.xml" ContentType="application/vnd.openxmlformats-officedocument.presentationml.slideMaster+xml"/>
  <Override PartName="/ppt/slides/slide112.xml" ContentType="application/vnd.openxmlformats-officedocument.presentationml.slide+xml"/>
  <Override PartName="/ppt/slideMasters/slideMaster113.xml" ContentType="application/vnd.openxmlformats-officedocument.presentationml.slideMaster+xml"/>
  <Override PartName="/ppt/slides/slide113.xml" ContentType="application/vnd.openxmlformats-officedocument.presentationml.slide+xml"/>
  <Override PartName="/ppt/slideMasters/slideMaster114.xml" ContentType="application/vnd.openxmlformats-officedocument.presentationml.slideMaster+xml"/>
  <Override PartName="/ppt/slides/slide114.xml" ContentType="application/vnd.openxmlformats-officedocument.presentationml.slide+xml"/>
  <Override PartName="/ppt/slideMasters/slideMaster115.xml" ContentType="application/vnd.openxmlformats-officedocument.presentationml.slideMaster+xml"/>
  <Override PartName="/ppt/slides/slide115.xml" ContentType="application/vnd.openxmlformats-officedocument.presentationml.slide+xml"/>
  <Override PartName="/ppt/slideMasters/slideMaster116.xml" ContentType="application/vnd.openxmlformats-officedocument.presentationml.slideMaster+xml"/>
  <Override PartName="/ppt/slides/slide116.xml" ContentType="application/vnd.openxmlformats-officedocument.presentationml.slide+xml"/>
  <Override PartName="/ppt/slideMasters/slideMaster117.xml" ContentType="application/vnd.openxmlformats-officedocument.presentationml.slideMaster+xml"/>
  <Override PartName="/ppt/slides/slide117.xml" ContentType="application/vnd.openxmlformats-officedocument.presentationml.slide+xml"/>
  <Override PartName="/ppt/slideMasters/slideMaster118.xml" ContentType="application/vnd.openxmlformats-officedocument.presentationml.slideMaster+xml"/>
  <Override PartName="/ppt/slides/slide118.xml" ContentType="application/vnd.openxmlformats-officedocument.presentationml.slide+xml"/>
  <Override PartName="/ppt/slideMasters/slideMaster119.xml" ContentType="application/vnd.openxmlformats-officedocument.presentationml.slideMaster+xml"/>
  <Override PartName="/ppt/slides/slide119.xml" ContentType="application/vnd.openxmlformats-officedocument.presentationml.slide+xml"/>
  <Override PartName="/ppt/slideMasters/slideMaster120.xml" ContentType="application/vnd.openxmlformats-officedocument.presentationml.slideMaster+xml"/>
  <Override PartName="/ppt/slides/slide120.xml" ContentType="application/vnd.openxmlformats-officedocument.presentationml.slide+xml"/>
  <Override PartName="/ppt/slideMasters/slideMaster121.xml" ContentType="application/vnd.openxmlformats-officedocument.presentationml.slideMaster+xml"/>
  <Override PartName="/ppt/slides/slide121.xml" ContentType="application/vnd.openxmlformats-officedocument.presentationml.slide+xml"/>
  <Override PartName="/ppt/slideMasters/slideMaster122.xml" ContentType="application/vnd.openxmlformats-officedocument.presentationml.slideMaster+xml"/>
  <Override PartName="/ppt/slides/slide122.xml" ContentType="application/vnd.openxmlformats-officedocument.presentationml.slide+xml"/>
  <Override PartName="/ppt/slideMasters/slideMaster123.xml" ContentType="application/vnd.openxmlformats-officedocument.presentationml.slideMaster+xml"/>
  <Override PartName="/ppt/slides/slide123.xml" ContentType="application/vnd.openxmlformats-officedocument.presentationml.slide+xml"/>
  <Override PartName="/ppt/slideMasters/slideMaster124.xml" ContentType="application/vnd.openxmlformats-officedocument.presentationml.slideMaster+xml"/>
  <Override PartName="/ppt/slides/slide124.xml" ContentType="application/vnd.openxmlformats-officedocument.presentationml.slide+xml"/>
  <Override PartName="/ppt/slideMasters/slideMaster125.xml" ContentType="application/vnd.openxmlformats-officedocument.presentationml.slideMaster+xml"/>
  <Override PartName="/ppt/slides/slide125.xml" ContentType="application/vnd.openxmlformats-officedocument.presentationml.slide+xml"/>
  <Override PartName="/ppt/slideMasters/slideMaster126.xml" ContentType="application/vnd.openxmlformats-officedocument.presentationml.slideMaster+xml"/>
  <Override PartName="/ppt/slides/slide126.xml" ContentType="application/vnd.openxmlformats-officedocument.presentationml.slide+xml"/>
  <Override PartName="/ppt/slideMasters/slideMaster127.xml" ContentType="application/vnd.openxmlformats-officedocument.presentationml.slideMaster+xml"/>
  <Override PartName="/ppt/slides/slide127.xml" ContentType="application/vnd.openxmlformats-officedocument.presentationml.slide+xml"/>
  <Override PartName="/ppt/slideMasters/slideMaster128.xml" ContentType="application/vnd.openxmlformats-officedocument.presentationml.slideMaster+xml"/>
  <Override PartName="/ppt/slides/slide128.xml" ContentType="application/vnd.openxmlformats-officedocument.presentationml.slide+xml"/>
  <Override PartName="/ppt/slideMasters/slideMaster129.xml" ContentType="application/vnd.openxmlformats-officedocument.presentationml.slideMaster+xml"/>
  <Override PartName="/ppt/slides/slide129.xml" ContentType="application/vnd.openxmlformats-officedocument.presentationml.slide+xml"/>
  <Override PartName="/ppt/slideMasters/slideMaster130.xml" ContentType="application/vnd.openxmlformats-officedocument.presentationml.slideMaster+xml"/>
  <Override PartName="/ppt/slides/slide130.xml" ContentType="application/vnd.openxmlformats-officedocument.presentationml.slide+xml"/>
  <Override PartName="/ppt/slideMasters/slideMaster131.xml" ContentType="application/vnd.openxmlformats-officedocument.presentationml.slideMaster+xml"/>
  <Override PartName="/ppt/slides/slide131.xml" ContentType="application/vnd.openxmlformats-officedocument.presentationml.slide+xml"/>
  <Override PartName="/ppt/slideMasters/slideMaster132.xml" ContentType="application/vnd.openxmlformats-officedocument.presentationml.slideMaster+xml"/>
  <Override PartName="/ppt/slides/slide132.xml" ContentType="application/vnd.openxmlformats-officedocument.presentationml.slide+xml"/>
  <Override PartName="/ppt/slideMasters/slideMaster133.xml" ContentType="application/vnd.openxmlformats-officedocument.presentationml.slideMaster+xml"/>
  <Override PartName="/ppt/slides/slide133.xml" ContentType="application/vnd.openxmlformats-officedocument.presentationml.slide+xml"/>
  <Override PartName="/ppt/slideMasters/slideMaster134.xml" ContentType="application/vnd.openxmlformats-officedocument.presentationml.slideMaster+xml"/>
  <Override PartName="/ppt/slides/slide134.xml" ContentType="application/vnd.openxmlformats-officedocument.presentationml.slide+xml"/>
  <Override PartName="/ppt/slideMasters/slideMaster135.xml" ContentType="application/vnd.openxmlformats-officedocument.presentationml.slideMaster+xml"/>
  <Override PartName="/ppt/slides/slide135.xml" ContentType="application/vnd.openxmlformats-officedocument.presentationml.slide+xml"/>
  <Override PartName="/ppt/slideMasters/slideMaster136.xml" ContentType="application/vnd.openxmlformats-officedocument.presentationml.slideMaster+xml"/>
  <Override PartName="/ppt/slides/slide136.xml" ContentType="application/vnd.openxmlformats-officedocument.presentationml.slide+xml"/>
  <Override PartName="/ppt/slideMasters/slideMaster137.xml" ContentType="application/vnd.openxmlformats-officedocument.presentationml.slideMaster+xml"/>
  <Override PartName="/ppt/slides/slide137.xml" ContentType="application/vnd.openxmlformats-officedocument.presentationml.slide+xml"/>
  <Override PartName="/ppt/slideMasters/slideMaster138.xml" ContentType="application/vnd.openxmlformats-officedocument.presentationml.slideMaster+xml"/>
  <Override PartName="/ppt/slides/slide138.xml" ContentType="application/vnd.openxmlformats-officedocument.presentationml.slide+xml"/>
  <Override PartName="/ppt/slideMasters/slideMaster139.xml" ContentType="application/vnd.openxmlformats-officedocument.presentationml.slideMaster+xml"/>
  <Override PartName="/ppt/slides/slide139.xml" ContentType="application/vnd.openxmlformats-officedocument.presentationml.slide+xml"/>
  <Override PartName="/ppt/slideMasters/slideMaster140.xml" ContentType="application/vnd.openxmlformats-officedocument.presentationml.slideMaster+xml"/>
  <Override PartName="/ppt/slides/slide140.xml" ContentType="application/vnd.openxmlformats-officedocument.presentationml.slide+xml"/>
  <Override PartName="/ppt/slideMasters/slideMaster141.xml" ContentType="application/vnd.openxmlformats-officedocument.presentationml.slideMaster+xml"/>
  <Override PartName="/ppt/slides/slide141.xml" ContentType="application/vnd.openxmlformats-officedocument.presentationml.slide+xml"/>
  <Override PartName="/ppt/slideMasters/slideMaster142.xml" ContentType="application/vnd.openxmlformats-officedocument.presentationml.slideMaster+xml"/>
  <Override PartName="/ppt/slides/slide142.xml" ContentType="application/vnd.openxmlformats-officedocument.presentationml.slide+xml"/>
  <Override PartName="/ppt/slideMasters/slideMaster143.xml" ContentType="application/vnd.openxmlformats-officedocument.presentationml.slideMaster+xml"/>
  <Override PartName="/ppt/slides/slide143.xml" ContentType="application/vnd.openxmlformats-officedocument.presentationml.slide+xml"/>
  <Override PartName="/ppt/slideMasters/slideMaster144.xml" ContentType="application/vnd.openxmlformats-officedocument.presentationml.slideMaster+xml"/>
  <Override PartName="/ppt/slides/slide144.xml" ContentType="application/vnd.openxmlformats-officedocument.presentationml.slide+xml"/>
  <Override PartName="/ppt/slideMasters/slideMaster145.xml" ContentType="application/vnd.openxmlformats-officedocument.presentationml.slideMaster+xml"/>
  <Override PartName="/ppt/slides/slide145.xml" ContentType="application/vnd.openxmlformats-officedocument.presentationml.slide+xml"/>
  <Override PartName="/ppt/slideMasters/slideMaster146.xml" ContentType="application/vnd.openxmlformats-officedocument.presentationml.slideMaster+xml"/>
  <Override PartName="/ppt/slides/slide14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Lst>
  <p:notesMasterIdLst>
    <p:notesMasterId r:id="rId14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notesMaster" Target="notesMasters/notesMaster1.xml"/><Relationship Id="rId149" Type="http://schemas.openxmlformats.org/officeDocument/2006/relationships/presProps" Target="presProps.xml"/><Relationship Id="rId150" Type="http://schemas.openxmlformats.org/officeDocument/2006/relationships/viewProps" Target="viewProps.xml"/><Relationship Id="rId151" Type="http://schemas.openxmlformats.org/officeDocument/2006/relationships/theme" Target="theme/theme1.xml"/><Relationship Id="rId15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_rels/notesSlide1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5.xml"/>
		</Relationships>
</file>

<file path=ppt/notesSlides/_rels/notesSlide1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6.xml"/>
		</Relationships>
</file>

<file path=ppt/notesSlides/_rels/notesSlide1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7.xml"/>
		</Relationships>
</file>

<file path=ppt/notesSlides/_rels/notesSlide1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8.xml"/>
		</Relationships>
</file>

<file path=ppt/notesSlides/_rels/notesSlide1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9.xml"/>
		</Relationships>
</file>

<file path=ppt/notesSlides/_rels/notesSlide1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0.xml"/>
		</Relationships>
</file>

<file path=ppt/notesSlides/_rels/notesSlide1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1.xml"/>
		</Relationships>
</file>

<file path=ppt/notesSlides/_rels/notesSlide1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2.xml"/>
		</Relationships>
</file>

<file path=ppt/notesSlides/_rels/notesSlide1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3.xml"/>
		</Relationships>
</file>

<file path=ppt/notesSlides/_rels/notesSlide1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4.xml"/>
		</Relationships>
</file>

<file path=ppt/notesSlides/_rels/notesSlide1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5.xml"/>
		</Relationships>
</file>

<file path=ppt/notesSlides/_rels/notesSlide1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6.xml"/>
		</Relationships>
</file>

<file path=ppt/notesSlides/_rels/notesSlide1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7.xml"/>
		</Relationships>
</file>

<file path=ppt/notesSlides/_rels/notesSlide1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8.xml"/>
		</Relationships>
</file>

<file path=ppt/notesSlides/_rels/notesSlide1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9.xml"/>
		</Relationships>
</file>

<file path=ppt/notesSlides/_rels/notesSlide1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0.xml"/>
		</Relationships>
</file>

<file path=ppt/notesSlides/_rels/notesSlide1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1.xml"/>
		</Relationships>
</file>

<file path=ppt/notesSlides/_rels/notesSlide1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2.xml"/>
		</Relationships>
</file>

<file path=ppt/notesSlides/_rels/notesSlide1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3.xml"/>
		</Relationships>
</file>

<file path=ppt/notesSlides/_rels/notesSlide1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4.xml"/>
		</Relationships>
</file>

<file path=ppt/notesSlides/_rels/notesSlide1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5.xml"/>
		</Relationships>
</file>

<file path=ppt/notesSlides/_rels/notesSlide1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6.xml"/>
		</Relationships>
</file>

<file path=ppt/notesSlides/_rels/notesSlide1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7.xml"/>
		</Relationships>
</file>

<file path=ppt/notesSlides/_rels/notesSlide1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8.xml"/>
		</Relationships>
</file>

<file path=ppt/notesSlides/_rels/notesSlide1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9.xml"/>
		</Relationships>
</file>

<file path=ppt/notesSlides/_rels/notesSlide1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0.xml"/>
		</Relationships>
</file>

<file path=ppt/notesSlides/_rels/notesSlide1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1.xml"/>
		</Relationships>
</file>

<file path=ppt/notesSlides/_rels/notesSlide1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2.xml"/>
		</Relationships>
</file>

<file path=ppt/notesSlides/_rels/notesSlide1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3.xml"/>
		</Relationships>
</file>

<file path=ppt/notesSlides/_rels/notesSlide1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4.xml"/>
		</Relationships>
</file>

<file path=ppt/notesSlides/_rels/notesSlide1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5.xml"/>
		</Relationships>
</file>

<file path=ppt/notesSlides/_rels/notesSlide1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6.xml"/>
		</Relationships>
</file>

<file path=ppt/notesSlides/_rels/notesSlide1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7.xml"/>
		</Relationships>
</file>

<file path=ppt/notesSlides/_rels/notesSlide1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8.xml"/>
		</Relationships>
</file>

<file path=ppt/notesSlides/_rels/notesSlide1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9.xml"/>
		</Relationships>
</file>

<file path=ppt/notesSlides/_rels/notesSlide1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0.xml"/>
		</Relationships>
</file>

<file path=ppt/notesSlides/_rels/notesSlide1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1.xml"/>
		</Relationships>
</file>

<file path=ppt/notesSlides/_rels/notesSlide1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2.xml"/>
		</Relationships>
</file>

<file path=ppt/notesSlides/_rels/notesSlide1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3.xml"/>
		</Relationships>
</file>

<file path=ppt/notesSlides/_rels/notesSlide1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4.xml"/>
		</Relationships>
</file>

<file path=ppt/notesSlides/_rels/notesSlide1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5.xml"/>
		</Relationships>
</file>

<file path=ppt/notesSlides/_rels/notesSlide1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Ağır bir sandığı itmeye başladığında neden önce hiç kıpırdamaz, sonra bir anda kurtulup daha kolay kaymaya başlar? Yürüyebilmemizin, frene basınca durabilmemizin, bir bardağı elimizde tutabilmemizin sorumlusu hep aynı kuvvet. Aynı kuvvet motorları aşındırır, yakıt yakar ve buzda arabayı savurur. Bu yüzden sürtünmeyi "iyi" ya da "kötü" diye değil, ne zaman ne kadar ortaya çıktığını hesaplayabildiğimiz bir kuvvet olarak öğreniyoruz — ve şaşırtıcı biçimde temas alanının bununla hiç ilgisi yok. Anlatım dört basamakta ilerliyor: önce sürtünmeyi gözleyip durgun ve kayan cisimdeki iki türünü tanıyacağız, sonra sürtünme katsayısıyla eğik düzlemi ve fren mesafesini hesaplayacağız, ardından normal kuvvetin değiştiği ve basit modelin zorlandığı durumlara geçeceğiz. En sonda kolaydan zora sıralanmış örneklerle hepsini birlikte kullanacağız.
Kapak görseli: İki yerde, iki yönde sürtünme. Sandık yerinden oynamadıkça zemin ona, itme kuvvetine eşit ve zıt yönde bir sürtünme uygular. Aynı anda adamın botları zemini geriye doğru iter; zeminin botlara uyguladığı sürtünme de onu ileriye iterek itmeyi mümkün kılar. Sürtünme aynı sahnede hem engel hem dayanak olabilir.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Açılış sorusu — sınıfa sorup birkaç cevap alın, sonra konuya geçin.
Ağır bir sandığı itmeye başladığında neden önce hiç kıpırdamaz, sonra bir anda kurtulup daha kolay kaymaya başlar? Yürüyebilmemizin, frene basınca durabilmemizin, bir bardağı elimizde tutabilmemizin sorumlusu hep aynı kuvvet. Aynı kuvvet motorları aşındırır, yakıt yakar ve buzda arabayı savurur. Bu yüzden sürtünmeyi "iyi" ya da "kötü" diye değil, ne zaman ne kadar ortaya çıktığını hesaplayabildiğimiz bir kuvvet olarak öğreniyoruz — ve şaşırtıcı biçimde temas alanının bununla hiç ilgisi yok. Anlatım dört basamakta ilerliyor: önce sürtünmeyi gözleyip durgun ve kayan cisimdeki iki türünü tanıyacağız, sonra sürtünme katsayısıyla eğik düzlemi ve fren mesafesini hesaplayacağız, ardından normal kuvvetin değiştiği ve basit modelin zorlandığı durumlara geçeceğiz. En sonda kolaydan zora sıralanmış örneklerle hepsini birlikte kullanacağız.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 derste:
1. Temel — Önce sezgi: sürtünmeyi gündelik sahnelerde gözle, adını koy ve durgun cisimle kayan cisim arasındaki farkı gör. Bu basamakta hesap yok denecek kadar az.
   01 Önce gözlemle: sürtünme ne zaman ortaya çıkar?
   02 Sürtünme kuvveti nedir?
   03 Durgunken ve kayarken: iki tür sürtünme
2. Orta — Bağıntılar: eşiği sayıyla yaz, katsayıyı tanı; sonra eğik düzlemde ve frenlemede sürtünmeyi adım adım hesapla.
   04 Sürtünme katsayısı ve temel bağıntılar
   05 Sürtünme neye bağlı, neye bağlı değil?
   06 Sayılarla hisset: ne kadar kuvvet, ne kadar yavaşlama?
   07 Eğik düzlemde sürtünme
   08 Fren mesafesi ve trafik
3. İleri — Derinleşme: normal kuvvet değişince, tekerlek dönünce ve basit model zorlanınca ne olur; sonra sürtünme gerçek hayatta.
   09 Normal kuvvet her zaman m·g değildir
   10 Dönen tekerlek, ABS ve modelin sınırları
   11 Sürtünme gerçek dünyada
4. Pekiştir — Kolaydan zora çözümlü örnekler ve sürtünme sorularında puan kaybettiren klasik hatalar.
   12 Çözümlü örnekler
   13 Sık yapılan hatalar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Önce hatırlayalım:
• Kuvvet ve net kuvvet: kuvvet bir itme ya da çekmedir ve newton (N) ile ölçülür. Zıt yönlü kuvvetler birbirinden çıkarılır: 50 N ileri, 20 N geri → net 30 N ileri.
• Newton'un 2. yasası: net kuvvet cismi ivmelendirir: a = ΣF / m. 10 N'luk net kuvvet 5 kg'lık bir kutuya 10 / 5 = 2 m/s² ivme verir.
• Ağırlık: Dünya'nın bir cismi çekme kuvveti: G = m · g. 20 kg'lık bir kutunun ağırlığı 20 · 10 = 200 N'dur.
Her maddeyi sınıfa sorarak hatırlatın.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Önce hatırlayalım:
• İvme ve yavaşlama: ivme, hızın her saniye ne kadar değiştiğidir. Her saniye 2 m/s yavaşlayan ve 10 m/s ile giden bir bisiklet 5 saniyede durur.
• Sinüs, kosinüs, tanjant: kenarları 3, 4, 5 olan dik üçgende sin37° = 0,6, cos37° = 0,8 ve tan37° = sin37° / cos37° = 0,6 / 0,8 = 0,75.
Her maddeyi sınıfa sorarak hatırlatın.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1 — Temel: Önce sezgi: sürtünmeyi gündelik sahnelerde gözle, adını koy ve durgun cisimle kayan cisim arasındaki farkı gör. Bu basamakta hesap yok denecek kadar az.
01 Önce gözlemle: sürtünme ne zaman ortaya çıkar?
02 Sürtünme kuvveti nedir?
03 Durgunken ve kayarken: iki tür sürtünme
Görsel: Kaydırak küçük bir eğik düzlemdir. Ağırlığın eğime paralel parçası çocuğu aşağı çeker, kıyafet ile metal arasındaki sürtünme ise kaymaya karşı koyar. Çocuğun ne kadar hızlı ineceğini bu ikisinin farkı belirler; farkın eğimle ve kumaşla nasıl değiştiğini ikinci basamakta hesaplayacağız.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Önce gözlemle: sürtünme ne zaman ortaya çıkar? — adım 1/7
• Evde kitap dolu bir koliyi yerde itmeyi düşün.
• Önce hafifçe itersin; koli kıpırdamaz.
• Biraz daha yüklenirsin; yine yerinde durur.
• Bir noktada birden "kopar" ve kaymaya başlar.
• İlginç olan şudur: kaymaya başladıktan sonra onu itmeye devam etmek, yerinden oynatmaktan daha kolaydır.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Önce gözlemle: sürtünme ne zaman ortaya çıkar? — adım 2/7
• Aynı koliyi halının üstünde itmek cilalı parkede itmekten zordur; içindeki kitapları boşaltınca iş iyice kolaylaşır.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Önce gözlemle: sürtünme ne zaman ortaya çıkar? — adım 3/7
• Parktaki kaydırak da aynı etkiyi gösterir.
• Ağırlığı çocuğu eğim boyunca aşağı çeker, ama çocuk inerken kıyafeti ile metal yüzey arasında onu frenleyen bir etki vardır.
• Aynı çocuk kotla daha yavaş, kaygan kumaşlı bir eşofmanla daha hızlı iner.
• Kaydırağın eğimi çok az olsaydı hiç kaymadan üstünde oturabilirdi.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Önce gözlemle: sürtünme ne zaman ortaya çıkar? — adım 4/7
• Bu sahnelerden şu gözlemleri çıkarabilirsin:
• Duran cisim direnir: itme belli bir sınırı aşana kadar cisim yerinden oynamaz.
• Kayan cisim daha az direnir: kaymaya başlayınca itmeye devam etmek kolaylaşır.
• Yüzeyler önemlidir: halı ile parke, kot ile eşofman aynı sonucu vermez.
• Bastırmak önemlidir: dolu koli boş koliden zor itilir.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Önce gözlemle: sürtünme ne zaman ortaya çıkar? — adım 5/7
• Durgun hâlde de iş başındadır: yürürken ayağının kaymamasını sağlayan da aynı etkidir.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Önce gözlemle: sürtünme ne zaman ortaya çıkar? — şekil
Gözlemlerini tek bakışta karşılaştır: mavi ok, koliyi hareket ettirmek için gereken itmedir. Solda ok hep daha uzun. Duran koliyi yerinden oynatmak, kayan koliyi itmeyi sürdürmekten zordur; halı parkeden, dolu koli boş koliden daha çok direnir. Demek ki direnç yüzeylere ve koliyi zemine ne kadar bastırdığına bağlı.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Önce gözlemle: sürtünme ne zaman ortaya çıkar? — adım 7/7
• Bütün bu gözlemlerin arkasında tek bir kuvvet var.
• Önce ona bir ad verelim, sonra neden bir sınırı olduğunu ve cisim kayınca neden küçüldüğünü anlayalım.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Duran bir cisim, itme belli bir sınırı aşana dek yerinden oynamaz; kaymaya başlayınca onu itmek kolaylaşır. Bu direncin büyüklüğü yüzeylere ve cismin zemine ne kadar bastırdığına bağlıdır.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Aynı çocuk aynı kaydıraktan bir kez kotla, bir kez kaygan bir eşofmanla kayıyor. Değişen ne?
Sınıfa sorun, birkaç tahmin alın; sonra cevap slaytına geçin.
Cevap: Çocuğun ağırlığı da kaydırağın eğimi de aynıdır. Değişen, birbirine değen iki yüzeyin — kumaş ile metalin — birbirine ne kadar tutunduğudur. Demek ki sürtünme tek bir cismin değil, birbirine değen yüzey çiftinin özelliğidir.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Çocuğun ağırlığı da kaydırağın eğimi de aynıdır. Değişen, birbirine değen iki yüzeyin — kumaş ile metalin — birbirine ne kadar tutunduğudur. Demek ki sürtünme tek bir cismin değil, birbirine değen yüzey çiftinin özelliğidir.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Sürtünme kuvveti nedir? — adım 1/7
• Birbirine değen iki yüzey arasında, bağıl kaymaya zıt yönde ortaya çıkan kuvvete sürtünme kuvveti denir.
• Yüzeyler çıplak gözle pürüzsüz görünse bile mikroskobik ölçekte girinti çıkıntılıdır; temas noktalarındaki bu kenetlenme ve moleküler yapışma sürtünmeyi doğurur.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Sürtünme kuvveti nedir? — adım 2/7
• Bağıl kayma, iki yüzeyin birbirine göre kaymasıdır.
• Masada duran bir kitaba kimse dokunmuyorsa kaymaya çalışan bir şey yoktur; sürtünme de yoktur.
• Kitabı yana doğru ittiğin anda yüzeyler birbirinin üstünden kaymaya "niyetlenir" ve sürtünme belirir.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Sürtünme kuvveti nedir? — adım 3/7
• Sürtünme, zeminin cisme uyguladığı temas kuvvetinin bir parçasıdır.
• Bu temas kuvvetini iki bileşene ayırırız.
• Yüzeye dik olan bileşene normal kuvvet (N) denir: zemin, cismin kendi içine batmaması için onu dik olarak iter.
• Yüzeye paralel olan bileşen ise sürtünmedir.
• Yatay bir zeminde başka düşey kuvvet yoksa normal kuvvet cismin ağırlığına eşittir.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Sürtünme kuvveti nedir? — adım 4/7
• Sürtünme kuvvetinin temel özellikleri şunlardır:
• Yüzeye paraleldir (normal kuvvet ise yüzeye diktir).
• Yönü, cismin kaymakta olduğu ya da kaymaya çalıştığı yönün tersidir.
• Çift olarak doğar: zemin kutuyu geriye çekerken kutu da zemini ileriye sürükler (Newton'un üçüncü yasası).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Sürtünme kuvveti nedir? — adım 5/7
Dikkat: Sürtünme "harekete" değil, bağıl kaymaya zıttır. Yürürken ayağın yeri geriye itmeye çalışır; sürtünme de seni ileriye iter. Yani sürtünme burada hareketi engellemez, hareketi mümkün kılar.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Sürtünme kuvveti nedir? — adım 6/7
• Cilalı bir çelik yüzey bile mikroskop altında sıradağlara benzer.
• Üst üste konan iki yüzey yalnızca en yüksek tepelerinde birbirine değer ve bu noktalarda atomlar arasında bağlar kurulur.
• Cismi kaydırmak için bu bağları koparman gerekir; araya giren yağ tepelerin doğrudan değmesini engellediği için sürtünmeyi azaltır.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Sürtünme kuvveti nedir? — şekil
Sürtünme kuvveti daima yüzeye paraleldir ve cismin kaymakta olduğu (ya da kaymaya çalıştığı) yönün tersine bakar. Kaynağı, en pürüzsüz görünen yüzeylerde bile bulunan mikroskobik girinti-çıkıntıların birbirine takılması ve temas noktalarındaki moleküler yapışmadır. Bu yüzden sürtünmeyi azaltmak için yüzeyi cilalamak ya da araya yağ koymak işe yarar.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Sürtünme, birbirine değen yüzeyler arasında yüzeye paralel ve bağıl kaymaya zıt yönde oluşan kuvvettir. Kaynağı mikroskobik pürüzlerin kenetlenmesi ve temas noktalarındaki moleküler yapışmadır.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Durgunken ve kayarken: iki tür sürtünme — adım 1/6
• Cisim henüz hareket etmiyorken ortaya çıkan sürtünmeye statik sürtünme denir.
• Bu kuvvetin en ilginç yanı, sabit bir değeri olmamasıdır: uygulanan kuvvet ne kadarsa, statik sürtünme de o kadar büyür ve onu tam olarak dengeler.
• Kısacası statik sürtünme sana ayak uydurur.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Durgunken ve kayarken: iki tür sürtünme — adım 2/6
• Bunu, bir kapıyı öbür taraftan tutan birine benzetebilirsin: sen ne kadar itersen o da o kadar karşı koyar ve kapı kıpırdamaz; ama onun gücü de sınırlıdır.
• Statik sürtünmenin de böyle bir üst sınırı (eşiği) vardır: uygulanan kuvvet bu eşiği geçtiği anda denge bozulur ve cisim kaymaya başlar.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Durgunken ve kayarken: iki tür sürtünme — adım 3/6
• Cisim kaymaya başladığı anda devreye kinetik (hareket) sürtünmesi girer.
• Kinetik sürtünme artık uygulanan kuvvete ayak uydurmaz; yaklaşık sabittir ve genellikle statik sürtünmenin eşiğinden küçüktür.
• Nedeni sezgiyle anlaşılır: durgun yüzeylerde pürüzler birbirine iyice oturur ve temas noktalarında bağlar kurulmaya zaman bulur; kayarken ise pürüzler tam yerleşemeden birbirinin üstünden atlar.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Durgunken ve kayarken: iki tür sürtünme — adım 4/6
• Sayfanın 01 numaralı laboratuvarındaki 10 kg'lık ahşap kutu için ekranda statik eşik 49,1 N, kinetik sürtünme 34,3 N yazar.
• Kuvveti yavaşça artırdığında olanlar: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Durgunken ve kayarken: iki tür sürtünme — adım 5/6
Uygulanan kuvvet | Sürtünme | Kutu ne yapar?
0 N | 0 N | Durur
20 N | 20 N | Durur
40 N | 40 N | Durur
49 N | 49 N | Tam sınırda, kıpırdamak üzere
60 N | 34,3 N | Kayar; net kuvvet 25,7 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Durgunken ve kayarken: iki tür sürtünme — şekil
Statik sürtünme sabit bir sayı değildir: uygulanan kuvvet ne kadarsa o kadar ortaya çıkar ve cismi tam olarak dengede tutar. Ancak bir üst sınırı vardır (μs·N). Üçüncü karede kuvvet bu sınırı aşmıştır; cisim kurtulur ve sürtünme, daha küçük olan kinetik değerine düşer. Kırmızı ok bu yüzden üçüncü karede kısalır.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Durgun cisimde statik sürtünme uygulanan kuvvete eşittir ve bir eşiğe kadar büyüyebilir. Eşik aşılınca cisim kayar ve sürtünme daha küçük, yaklaşık sabit olan kinetik değere düşer.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Yerde duran bir kutuyu hiç itmiyorsan, kutuya etki eden sürtünme kuvveti kaç N'dur?
Sınıfa sorun, birkaç tahmin alın; sonra cevap slaytına geçin.
Cevap: Sıfır. Statik sürtünme yalnızca kaydırmaya çalışan bir kuvvet varken ve o kuvvet kadar ortaya çıkar. Kimse itmiyorsa kutunun kaymaya çalıştığı bir yön yoktur, sürtünmenin karşı koyacağı bir şey de yoktur. Eşik, sürtünmenin alabileceği en büyük değerdir; her an etki eden değer değildir.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Sıfır. Statik sürtünme yalnızca kaydırmaya çalışan bir kuvvet varken ve o kuvvet kadar ortaya çıkar. Kimse itmiyorsa kutunun kaymaya çalıştığı bir yön yoktur, sürtünmenin karşı koyacağı bir şey de yoktur. Eşik, sürtünmenin alabileceği en büyük değerdir; her an etki eden değer değildir.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2 — Orta: Bağıntılar: eşiği sayıyla yaz, katsayıyı tanı; sonra eğik düzlemde ve frenlemede sürtünmeyi adım adım hesapla.
04 Sürtünme katsayısı ve temel bağıntılar
05 Sürtünme neye bağlı, neye bağlı değil?
06 Sayılarla hisset: ne kadar kuvvet, ne kadar yavaşlama?
07 Eğik düzlemde sürtünme
08 Fren mesafesi ve trafik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Sürtünme katsayısı ve temel bağıntılar — adım 1/8
• Birinci basamakta "eşik" dediğimiz sınırın ne kadar olduğunu şimdi yazabiliriz.
• Deneyler, eşiğin normal kuvvetle doğru orantılı olduğunu gösterir: N iki katına çıkınca eşik de iki katına çıkar.
• Bu orantının sabitine statik sürtünme katsayısı (μs) denir.
• Cisim durduğu sürece statik sürtünme uygulanan kuvvete eşittir, ama μs·N'yi aşamaz:
fs = Fuygulanan   fs ≤ μs · 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Sürtünme katsayısı ve temel bağıntılar — adım 2/8
• Birinci satır yalnızca cisim durduğu sürece geçerlidir; ikinci satırdaki μs·N ise eşiğin kendisidir.
• Sayfadaki 01 numaralı laboratuvarda kuvveti yavaşça artırdığında bu kopuş anını görürsün.
• Kayan cisim için de bir sabit tanımlanır: kinetik sürtünme katsayısı (μk).
• Kinetik sürtünme uygulanan kuvvetten bağımsızdır ve sabittir:
fk = μk · N   μk &lt; μs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Sürtünme katsayısı ve temel bağıntılar — adım 3/8
Formüldeki harfler ne anlama geliyor?
Sembol | Anlamı | Birimi
fs | statik sürtünme: cisim dururken oluşan sürtünme | N
Fuygulanan | senin cisme uyguladığın itme ya da çekme kuvveti | N
μs | statik sürtünme katsayısı: yüzeyler duran cismi ne kadar “tutuyor” | —
N | normal kuvvet: zeminin cismi dik olarak itmesi (yatay zeminde m·g) | N
fk | kinetik sürtünme: cisim kayarken oluşan sürtünme | N
μk | kinetik sürtünme katsayısı; genellikle μs'den küçüktür |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Sürtünme katsayısı ve temel bağıntılar — adım 4/8
• Kinetik katsayı genellikle statik katsayıdan küçüktür.
• Bu yüzden ağır bir dolabı yerinden oynatmak, oynadıktan sonra itmeye devam etmekten zordur.
• Grafikte bu, eşikte görülen ani düşüştür.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Sürtünme katsayısı ve temel bağıntılar — adım 5/8
 | Statik | Kinetik
Ne zaman | Cisim dururken | Cisim kayarken
Büyüklük | Uygulanan kuvvete eşit | μk·N, sabit
Üst sınır | μs·N |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Sürtünme katsayısı ve temel bağıntılar — şekil
Soldaki grafik hikâyenin tamamı: mavi kısımda cisim durgundur ve sürtünme uygulanan kuvvetle birlikte büyür; eşikte kopar ve sarı kısımda sabit bir değere yerleşir. Sağdaki çubuklar her yüzey çiftinde μk'nin μs'den küçük olduğunu gösteriyor — bir dolabı yerinden oynatmak, sonra itmekten hep daha zordur.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Sürtünme katsayısı ve temel bağıntılar — adım 7/8
μ birimsizdir ve genellikle 0 ile 1 arasındadır; ama yapışkan yüzeylerde 1'in üstüne de çıkabilir. Sürtünme katsayısı bir orandır: f ile N'nin oranı. Birim kontrolü de bunu doğrular: μ = f/N için N/N, yani birim sadeleşir.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Sürtünme katsayısı ve temel bağıntılar — adım 8/8
Bir sürtünme sorusunu çözme sırası
• Normal kuvveti bul: yatay zeminde, başka düşey kuvvet yoksa N = m·g.
• Eşiği hesapla: μs·N, cismi kıpırdatmak için aşılması gereken kuvvettir.
• Karşılaştır: F ≤ μs·N ise cisim durur; f = F ve a = 0.
• Kayıyorsa kinetiğe geç: F &gt; μs·N ise f = μk·N olur.
• Net kuvvetten ivmeye: a = (F − f) / 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Statik sürtünme fs ≤ μs·N, kinetik sürtünme fk = μk·N'dir ve genellikle μk &lt; μs. Önce cismin kayıp kaymadığına karar ver, sonra geçerli bağıntıyı seç.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Kıpırdatmak için 100 N gereken kutu kaydıktan sonra sürtünme 80 N'a düşüyor. 100 N ile itmeye devam edersen ne olur?
Sınıfa sorun, birkaç tahmin alın; sonra cevap slaytına geçin.
Cevap: Kutu hızlanır. Kayarken sürtünme 80 N'dur; sen 100 N ile ittiğine göre 20 N'luk net kuvvet kalır. Kutu 20 kg ise ivmesi 20/20 = 1 m/s² olur. Kutuyu sabit hızla götürmek istiyorsan kuvvetini 80 N'a düşürmen yeter.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Kutu hızlanır. Kayarken sürtünme 80 N'dur; sen 100 N ile ittiğine göre 20 N'luk net kuvvet kalır. Kutu 20 kg ise ivmesi 20/20 = 1 m/s² olur. Kutuyu sabit hızla götürmek istiyorsan kuvvetini 80 N'a düşürmen yeter.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Sürtünme neye bağlı, neye bağlı değil? — adım 1/7
• Gözlemlerde yüzeylerin ve bastırmanın önemli olduğunu gördün. f = μ·N bağıntısı bunu kesinleştirir: yüzey çifti μ'nün, bastırma N'nin içindedir.
• Bağıntıda geçmeyen büyüklüklerden de sezgiye ters iki sonuç çıkar.
• Bağlıdır:
• Normal kuvvete (N). Cisme bastırırsan ya da kütlesi artarsa sürtünme artar.
• Yüzey çiftine. Katsayı tek bir cismin değil, iki yüzeyin birlikte özelliğidir.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Sürtünme neye bağlı, neye bağlı değil? — adım 2/7
• Bağlı değildir:
• Temas alanına. Aynı kütleli bir tuğlayı yan yatırmak sürtünmeyi değiştirmez.
• Kayma hızına (yaklaşık olarak). Hızla belirgin biçimde artan kuvvet, sürtünme değil hava direncidir.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Sürtünme neye bağlı, neye bağlı değil? — adım 3/7
• Temas alanının etkisizliği en şaşırtıcı olanıdır; geniş yüzey daha çok "tutar" gibi görünür.
• Ama iki yüzey yalnızca pürüzlerinin tepelerinde birbirine değer.
• Gerçek temas alanı, gözle gördüğün alanın çok küçük bir kesridir.
• Görünür alan büyüyünce ağırlık daha çok tepeye dağılır, ama her tepe daha az ezilir; görünür alan küçülünce ağırlığı daha az tepe taşır, ama her biri daha çok ezilir.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Sürtünme neye bağlı, neye bağlı değil? — adım 4/7
• İki etki birbirini götürür ve gerçek temas alanı — dolayısıyla sürtünme — hemen hemen aynı kalır.
• Onu belirleyen, yüzeylerin birbirine ne kadar bastırıldığıdır.
• Yüzey çiftinin etkisi ise büyüktür.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Sürtünme neye bağlı, neye bağlı değil? — adım 5/7
• Aşağıdaki değerler yaklaşıktır; yüzeyin temizliğine, nemine ve cilasına göre değişir:
Yüzey çifti | μs | μk
Buz – çelik | 0,10 | 0,03
Ahşap – ahşap | 0,50 | 0,35
Çelik – çelik | 0,70 | 0,60
Lastik – kuru asfalt | 0,90 | 0,70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Sürtünme neye bağlı, neye bağlı değil? — adım 6/7
• Sayfanın 03 numaralı bölümünde aynı kütleli üç blok, büyüklüğü farklı üç yüzü üzerinde aynı ilk hızla fırlatılır; üçü de aynı noktada durur.
• Hız için de benzer bir durum vardır: bir kutuyu yavaş ya da hızlı kaydırman sürtünmeyi pek değiştirmez.
• Değişen tek şey sürtünmenin ne kadar sürdüğüdür.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Sürtünme neye bağlı, neye bağlı değil? — şekil
Aynı tuğlayı yan yatırmak temas alanını üçe katlar ama sürtünmeyi değiştirmez: f = μ·N bağıntısında alan hiç geçmez. Alan büyüdükçe birim alana düşen basınç küçülür, ikisi birbirini götürür. Sürtünmeyi gerçekten değiştiren şey normal kuvvettir: ikinci tuğlayı üstüne koyunca N iki katına çıkar, sürtünme 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Sürtünme normal kuvvete ve yüzey çiftine bağlıdır; temas alanına ve (yaklaşık olarak) kayma hızına bağlı değildir. Cisme bastırmak sürtünmeyi artırır, tuğlayı yan yatırmak değiştirmez.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Sayılarla hisset: ne kadar kuvvet, ne kadar yavaşlama? — adım 1/5
• Katsayılar soyut kalmasın.
• Bir önceki bölümdeki dört yüzey çiftini somut bir cisme uygulayalım: yatay zeminde duran 20 kg'lık bir kutu (g = 10 m/s², N = 200 N).
• Son sütun, kutu kendi hâlinde kayarken sürtünmenin ona verdiği yavaşlamadır: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Sayılarla hisset: ne kadar kuvvet, ne kadar yavaşlama? — adım 2/5
Yüzey çifti | Kıpırdatmak için (μs·N) | Kayarken sürtünme (μk·N) | Yavaşlama (μk·g)
Buz – çelik | 20 N | 6 N | 0,3 m/s²
Ahşap – ahşap | 100 N | 70 N | 3,5 m/s²
Çelik – çelik | 140 N | 120 N | 6 m/s²
Lastik – kuru asfalt | 180 N | 140 N | 7 m/s²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Sayılarla hisset: ne kadar kuvvet, ne kadar yavaşlama? — adım 3/5
• Tablodan okunan düzen:
• İkinci sütun hep üçüncüden büyük: her yüzeyde kıpırdatmak, itmeye devam etmekten zordur.
• Buz ile asfalt arasında büyük fark: kutuyu kıpırdatmak için lastik–asfaltta buz–çeliğin 9 katı kuvvet gerekir.
• Yavaşlama kütleden bağımsızdır: 10 m/s ile kayan kutu buz–çelikte yaklaşık 33 s'de, lastik–asfaltta 1,4 s'de durur; kutu kaç kilo olursa olsun.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Sayılarla hisset: ne kadar kuvvet, ne kadar yavaşlama? — şekil
Tablonun çubuklara dökülmüş hâli; çubuk boyları kuvvetle orantılı. Her satırda mavi çubuk sarıdan uzun: kıpırdatmak, itmeyi sürdürmekten hep zordur. En alttaki mavi çubuğu buzdaki çubuk boyunda parçalara bölersen tam 9 parça çıkar. Sağdaki yavaşlama da aynı sırayla büyür: yüzey ne kadar tutarsa kayan kutu o kadar çabuk durur.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Sayılarla hisset: ne kadar kuvvet, ne kadar yavaşlama? — adım 5/5
Yavaşlama neden μk·g?
• Kayan kutuya etki eden tek yatay kuvvet sürtünmedir: f = μk·N.
• Yatay zeminde N = m·g olduğundan f = μk·m·g.
• Newton'un ikinci yasası: m·a = μk·m·g.
• Kütle iki yanda da var, sadeleşir: a = μk·g.
• Serbest düşmedeki gibi kütle sadeleşir: ağır kutu daha büyük sürtünmeyle frenlenir, ama durdurulması da o oranda zordur.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Aynı 20 kg'lık kutuyu buz–çelikte kıpırdatmak için 20 N, lastik–asfaltta 180 N gerekir. Kendi hâlinde kayan cisim a = μk·g ile yavaşlar; bu yavaşlama kütleden bağımsızdır.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Eğik düzlemde sürtünme — adım 1/7
• Eğik düzlemde ağırlığı iki bileşene ayırırız: eğime paralel olan bileşen cismi aşağı çekmeye çalışır, dik olan bileşen ise normal kuvveti belirler.
Fparalel = m·g·sinθ   N = m·g·cosθ   fmaks = μs·m·g·cosθ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Eğik düzlemde sürtünme — adım 2/7
Kritik açı nereden çıkıyor?
• Dik doğrultu: cisim eğime dik yönde hareket etmez; N, ağırlığın dik bileşenini dengeler: N = m·g·cosθ.
• Eşik: statik sürtünme en fazla μs·N = μs·m·g·cosθ olabilir.
• Kayma koşulu: paralel bileşen eşiği geçince cisim kayar: m·g·sinθ &gt; μs·m·g·cosθ.
• Sadeleştir: m·g iki yanda da var; sinθ/cosθ = tanθ olduğundan kayma tanθ &gt; μs iken başlar.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Eğik düzlemde sürtünme — adım 3/7
• Kütleler sadeleşince geriye çok zarif bir sonuç kalır:
tanθkritik = μs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Eğik düzlemde sürtünme — adım 4/7
• Yani cismin kaymaya başladığı açının tanjantı, doğrudan statik sürtünme katsayısını verir.
• Laboratuvarda μ ölçmenin en kolay yolu budur — sayfadaki 02 numaralı bölüm tam olarak bunu yapıyor.
• Oradaki üç yüzeyin kritik açıları: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Eğik düzlemde sürtünme — adım 5/7
Yüzey | μs | Kritik açı
Kaygan | 0,20 | yaklaşık 11°
Ahşap | 0,50 | yaklaşık 27°
Kauçuk | 0,80 | yaklaşık 39°
• Kayma başladıktan sonra sürtünme kinetiğe döner ve ivme şöyle olur:
a = g·(sinθ − μk·cosθ)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Eğik düzlemde sürtünme — adım 6/7
• Kütle bu bağıntıların hiçbirinde yoktur: ağır da olsa hafif de olsa aynı açıda kayar, aynı ivmeyle iner.
Kritik açının altında f ≠ μs·N. Cisim eğik düzlemde duruyorsa statik sürtünme, ağırlığın paralel bileşenine eşittir: f = m·g·sinθ. μs·m·g·cosθ yalnızca bu sürtünmenin çıkabileceği en büyük değerdir.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Eğik düzlemde sürtünme — şekil
Eğik düzlemde ağırlığı iki bileşene ayırırız: eğime paralel olan G·sinθ cismi aşağı çeker, eğime dik olan G·cosθ ise normal kuvvetle dengelenir. Eğim büyüdükçe birinci büyür, ikinci küçülür — yani kaydırıcı kuvvet artarken sürtünmenin dayanağı azalır. İkisi eşitlendiği anda cisim kayar ve o açıda tanθ = μs olur: eğik düzlem, katsayıyı doğrudan ölçen bir alettir.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Eğik düzlemde N = m·g·cosθ olur ve cisim tanθ &gt; μs olduğunda kaymaya başlar; kayarken ivme a = g·(sinθ − μk·cosθ)'dır. Kütle bu bağıntıların hiçbirinde yoktur.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Eğik düzlemde duran bir kutunun üstüne aynı kütlede ikinci bir kutu koyarsan ikisi kaymaya başlar mı?
Sınıfa sorun, birkaç tahmin alın; sonra cevap slaytına geçin.
Cevap: Hayır. Kütle iki katına çıkınca kutuyu aşağı çeken paralel bileşen de iki katına çıkar, sürtünmenin eşiği de; çünkü N de iki katına çıkar. Kayma koşulu tanθ &gt; μs'de kütle hiç geçmez. Kutuyu kaydırmak istiyorsan açıyı artırman ya da yüzeyi kayganlaştırman gerekir.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Hayır. Kütle iki katına çıkınca kutuyu aşağı çeken paralel bileşen de iki katına çıkar, sürtünmenin eşiği de; çünkü N de iki katına çıkar. Kayma koşulu tanθ &gt; μs'de kütle hiç geçmez. Kutuyu kaydırmak istiyorsan açıyı artırman ya da yüzeyi kayganlaştırman gerekir.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Fren mesafesi ve trafik — adım 1/6
• Frenleyen bir araç için sürtünme kuvveti f = μ·m·g, ivme ise a = μ·g'dir (kütle yine sadeleşir).
• Bu yavaşlamayı sabit ivmeli hareketin bağıntılarıyla birleştirirsen durma mesafesi adım adım çıkar: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Fren mesafesi ve trafik — adım 2/6
• Yavaşlama: yolun lastiğe uyguladığı sürtünme f = μ·m·g, ivme a = μ·g.
• Zamansız bağıntı: sabit ivmeyle yavaşlayıp duran araç için v² = 2·a·d yazılır (son hız sıfır).
• Yerine koy: v² = 2·μ·g·d, buradan dfren = v² / (2·μ·g).
• Tepki payını ekle: sürücü frene basana kadar araç sabit hızla gider: dtepki = v·ttepki.
dfren = v² / (2·μ·g)   dtepki = v · ttepki   dtoplam = dtepki + dfren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Fren mesafesi ve trafik — adım 3/6
• Fren mesafesi hızın karesiyle artar: hızı iki katına çıkarmak fren mesafesini dört katına çıkarır.
• Islak asfaltta μ yarıya inerse mesafe iki katına çıkar.
• Tepki mesafesi ise hızla doğru orantılıdır ve frenden önce alınır — sayfadaki 04 numaralı bölümde ikisini ayrı ayrı görebilirsin.
• Oradaki kuru yol ayarıyla (μ = 0,80, tepki süresi 1,0 s, g = 9,81 m/s²) yuvarlanmış değerler: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Fren mesafesi ve trafik — adım 4/6
Hız | Tepki mesafesi | Fren mesafesi | Toplam
50 km/h | 14 m | 12 m | 26 m
90 km/h | 25 m | 40 m | 65 m
100 km/h | 28 m | 49 m | 77 m
120 km/h | 33 m | 71 m | 104 m
130 km/h | 36 m | 83 m | 119 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Fren mesafesi ve trafik — adım 5/6
• Düşük hızda durma mesafesinin büyük kısmı tepki payıdır; hız arttıkça fren payı hızla öne geçer.
• 50'den 100 km/h'ye çıkınca tepki mesafesi 2 katına, fren mesafesi 4 katına, toplam ise yaklaşık 3 katına çıkar.
• Yol ıslanınca (μ = 0,50) 90 km/h'deki fren mesafesi 40 m'den yaklaşık 64 m'ye, karda (μ = 0,20) yaklaşık 159 m'ye uzar.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Fren mesafesi ve trafik — şekil
Durma mesafesi iki parçadan oluşur. Tepki mesafesi hızla doğru orantılıdır (d = v·t), ama fren mesafesi hızın karesiyle artar (d = v²/2μg). Bu yüzden hızı iki katına çıkarmak toplam mesafeyi iki değil üç katına çıkarır. Islak yolda μ yarıya inerse fren mesafesi ikiye katlanır — hız sınırlarının sebebi bu karesel terimdir.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Fren mesafesi v²/(2·μ·g) hızın karesiyle, tepki mesafesi v·t hızla doğru orantılı büyür. Hız iki katına çıkınca fren mesafesi 4, toplam durma mesafesi yaklaşık 3 katına çıkar.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3 — İleri: Derinleşme: normal kuvvet değişince, tekerlek dönünce ve basit model zorlanınca ne olur; sonra sürtünme gerçek hayatta.
09 Normal kuvvet her zaman m·g değildir
10 Dönen tekerlek, ABS ve modelin sınırları
11 Sürtünme gerçek dünyada
Görsel: Curling, sürtünmeyi ayarlama oyunudur. Yaklaşık 20 kg'lık granit taş buz üzerinde onlarca metre kayar. Oyuncular taşın yolundaki buzu fırçalayarak sürtünmeyi biraz daha azaltır; böylece taş biraz daha uzağa ve daha düz gider. Taş bırakıldıktan sonra bile yolunu bu küçük sürtünme farkı belirler.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Normal kuvvet her zaman m·g değildir — adım 1/7
• Şimdiye kadarki örneklerin çoğunda N = m·g aldık.
• Oysa normal kuvvet cismin sabit bir özelliği değildir; zemin, cismi içine batırmamak için ne kadar gerekiyorsa o kadar iter.
• Cisme başka düşey kuvvetler etki edince ya da zemin ivmelenince N, onunla birlikte de sürtünmenin eşiği değişir: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Normal kuvvet her zaman m·g değildir — adım 2/7
Durum | Normal kuvvet
Yatay zemin, başka düşey kuvvet yok | N = m·g
Üstten F kuvvetiyle bastırılıyor | N = m·g + F
F ile α açısıyla yukarı doğru çekiliyor | N = m·g − F·sinα
F ile α açısıyla aşağı doğru itiliyor | N = m·g + F·sinα
Yukarı doğru a ivmesiyle hızlanan asansör | N = m·(g +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Normal kuvvet her zaman m·g değildir — adım 3/7
• Eğik düzlemde de N = m·g·cosθ olduğunu görmüştün.
• Kısacası N'yi her soruda yüzeye dik doğrultudaki kuvvetlerden yeniden bul; eğik çekilen kızakla eğik itilen kızak arasındaki farkı çözümlü örneklerde sayılarla göreceksin.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Normal kuvvet her zaman m·g değildir — şekil
Kutunun ağırlığı (sarı) üç karede de aynı, ama zeminin itişi N (mavi) değişiyor. Üstten bastırınca zemin hem ağırlığı hem senin kuvvetini taşır, N büyür. Eğik yukarı çekince ipin düşey parçası yükün bir kısmını alır, N küçülür. Kesikli çizgi m·g düzeyi: sürtünmenin eşiği μs·N olduğundan N büyürse sürtünme de büyür, N küçülürse sürtünme de küçülür.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Normal kuvvet her zaman m·g değildir — adım 5/7
Duvara bastırılan kitap
• Bir kitabı elinle duvara yatay olarak bastır: düşmez.
• Burada normal kuvvet yataydır ve senin bastırma kuvvetine eşittir.
• Sürtünme ise duvara paralel, yani düşeydir ve kitabın ağırlığını yukarı doğru dengeler.
• Kitabın düşmemesi için gereken koşul:
N = F   m·g ≤ μs·F   F ≥ m·g / μs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Normal kuvvet her zaman m·g değildir — adım 6/7
• 1 kg'lık kitap ve μs = 0,5 için F ≥ 10 / 0,5 = 20 N gerekir.
• Burada kitabın ağırlığı sürtünmeyi artırmaz, yalnızca taşınması gereken yükü artırır; sürtünmeyi artırmanın tek yolu daha sıkı bastırmaktır.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Normal kuvvet her zaman m·g değildir — şekil
Benzer yük taşıyan iki kızaktan öndeki yukarı doğru eğik bir iple çekiliyor, arkadaki ise aşağı doğru eğik kollarla itiliyor. Eğik ipin düşey bileşeni kızağı biraz kaldırır, N = m·g − F·sinα küçülür ve sürtünme azalır; aşağı doğru eğik itiş ise kızağı kara bastırır, N = m·g + F·sinα büyür ve sürtünme artar. Bu yüzden aynı kızağı çekmek, itmekten daha kolaydır.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Normal kuvvet, zeminin gerektiği kadar ittiği bir tepkidir: bastırınca, eğik çekince, asansörde ya da eğik düzlemde değişir. N'yi her soruda yüzeye dik doğrultudaki kuvvetlerden yeniden bul.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Karda bir kızağı ipiyle yukarı doğru eğik çekmek mi, arkadan aşağı doğru eğik itmek mi daha kolaydır?
Sınıfa sorun, birkaç tahmin alın; sonra cevap slaytına geçin.
Cevap: Çekmek. Eğik çektiğinde kuvvetin düşey bileşeni kızağı biraz kaldırır; N ve dolayısıyla sürtünme küçülür. Aşağı doğru eğik ittiğinde düşey bileşen kızağı kara bastırır; N büyür, sürtünme artar. Kuvvetin yatay bileşeni iki durumda da aynıdır, ama çekerken ona karşı koyan sürtünme daha küçüktür.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Çekmek. Eğik çektiğinde kuvvetin düşey bileşeni kızağı biraz kaldırır; N ve dolayısıyla sürtünme küçülür. Aşağı doğru eğik ittiğinde düşey bileşen kızağı kara bastırır; N büyür, sürtünme artar. Kuvvetin yatay bileşeni iki durumda da aynıdır, ama çekerken ona karşı koyan sürtünme daha küçüktür.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Dönen tekerlek, ABS ve modelin sınırları — adım 1/7
• Bir araba yolda kaymadan ilerlerken lastiğin yola değen noktası o an yola göre durgundur: tekerleğin dönüşü ile aracın ilerleyişi o noktada birbirini tam olarak götürür.
• Bu yüzden yol ile lastik arasındaki sürtünme, araba 100 km/h ile gitse bile statik sürtünmedir.
• Araba hızlanırken tekerlek yolu geriye doğru iter, yol da arabayı ileriye iter.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Dönen tekerlek, ABS ve modelin sınırları — adım 2/7
• Arabayı hızlandıran, frenlerken durduran ve virajda yolunda tutan kuvvet hep budur.
ABS neden var? Tekerlek kilitlenip kayarsa devreye kinetik sürtünme girer ve μ küçülür. ABS, tekerleği kilitlenme sınırında tutarak daha büyük olan statik sürtünmeden yararlanır; ayrıca direksiyon hâkimiyetini korur.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Dönen tekerlek, ABS ve modelin sınırları — şekil
Kaymadan dönen tekerlekte üst nokta 2v, merkez v ile gider; yola değen nokta ise o an durgundur. Bu yüzden lastikle yol arasındaki sürtünme statiktir. Kilitlenen tekerlek dönmez, her noktası v ile kayar; kinetik sürtünme devreye girer, μ küçülür ve yolda fren izi kalır. ABS tekerleği döndürmeye devam ettirerek soldaki durumu korur.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Dönen tekerlek, ABS ve modelin sınırları — adım 4/7
• Direksiyon hâkimiyeti de sürtünmenin yönüyle ilgilidir: kilitlenmiş tekerlek kayarken kinetik sürtünme kayma yönünün tersine bakar; direksiyonu çevirsen de bu yön değişmez, araç düz gitmeye devam eder. f = μ·N modeli çok kullanışlıdır, ama bir yaklaşımdır: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Dönen tekerlek, ABS ve modelin sınırları — adım 5/7
• μ tam sabit değildir: kayma hızıyla ve sıcaklıkla biraz değişir; uzun yokuş inişinde aşırı ısınan frenler zayıflayabilir.
• μ 1'i aşabilir: yumuşak kauçuk ve silikon gibi malzemelerde yapışma baskındır; sürtünme normal kuvvetten büyük olabilir.
• Araya giren sıvı yüzeyleri ayırır: yağ makinede sürtünmeyi azaltır; ıslak yolda lastik su tabakasının üstüne çıkarsa tutuş neredeyse kaybolur.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Dönen tekerlek, ABS ve modelin sınırları — adım 6/7
• Yuvarlanmak kaymaktan çok kolaydır: yuvarlanma direnci katsayısı araba lastiğinde yaklaşık 0,01'dir, çelik tren tekerleğinde bundan da birkaç kat küçüktür.
• Yumuşak malzemede alan biraz etkiler: kauçuğun katsayısı basınç arttıkça bir miktar düşer; "alan fark etmez" kuralı sert yüzeylerde daha iyi tutar.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Dönen tekerlek, ABS ve modelin sınırları — şekil
Asfalttaki iki siyah fren izi tekerleklerin kilitlenip yol üzerinde kaydığını gösteriyor. Kayan lastikte devreye daha küçük olan kinetik sürtünme girer; sürtünme lastiği ısıtıp aşındırarak yolda iz bırakır, direksiyonu çevirsen de araç düz gitmeyi sürdürür. ABS tekerleği kilitlenme sınırında döndürür; böylece daha büyük olan statik sürtünmeden yararlanılır ve direksiyon hâkimiyeti korunur.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Kaymadan dönen tekerlekte yol ile lastik arasındaki sürtünme statiktir; aracı hızlandıran, durduran ve virajda tutan odur. f = μ·N bir yaklaşımdır: μ sıcaklıkla değişebilir, 1'i aşabilir, araya sıvı girince çok küçülür.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Temas alanı sürtünmeyi değiştirmiyorsa yarış arabalarının lastikleri neden bu kadar geniştir?
Sınıfa sorun, birkaç tahmin alın; sonra cevap slaytına geçin.
Cevap: Çünkü kauçuk, f = μ·N modeline tam uymaz. Geniş lastik aynı ağırlığı daha geniş bir alana yayıp basıncı düşürür; kauçuğun katsayısı düşük basınçta biraz daha yüksektir. Ayrıca geniş yüzey, sürtünmenin ürettiği ısıyı ve aşınmayı daha büyük bir alana dağıtır ve lastik aşırı ısınmaz.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Çünkü kauçuk, f = μ·N modeline tam uymaz. Geniş lastik aynı ağırlığı daha geniş bir alana yayıp basıncı düşürür; kauçuğun katsayısı düşük basınçta biraz daha yüksektir. Ayrıca geniş yüzey, sürtünmenin ürettiği ısıyı ve aşınmayı daha büyük bir alana dağıtır ve lastik aşırı ısınmaz.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Sürtünme gerçek dünyada — adım 1/6
• Mühendislik çoğu zaman sürtünmeyi doğru yerde artırıp doğru yerde azaltma işidir.
• İstemediğimiz yerde sürtünmeyi azaltmak için yağ, rulman, hava yastığı; istediğimiz yerde artırmak için tırtıklı yüzey, kışlık lastik, reçine kullanılır.
• Bazı sporlar ise tamamen sürtünmenin ince ayarı üzerine kuruludur.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Sürtünme gerçek dünyada — adım 2/6
• Curling: 2 m/s ile bırakılıp 28 m kayan bir taş varsayarsan μk = v²/(2·g·d) ≈ 0,007 çıkar; buz–çelikteki 0,03'ün yaklaşık dörtte biri.
• Frenler: 1000 kg'lık bir araç 90 km/h'den durunca yaklaşık 310 kJ kinetik enerji balata–disk sürtünmesiyle ısıya dönüşür.
• Kış lastiği ve zincir: karda μ 0,20'ye iner; 90 km/h'de fren mesafesi kuru yolun 4 katına, yaklaşık 160 m'ye çıkar.
• Yağ ve rulman: kuru çelik–çelikte 0,6 olan katsayı yağlanınca 0,1 civarına iner; bilyeli rulman kaymayı yuvarlanmaya çevirir.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Sürtünme gerçek dünyada — adım 3/6
• Yürümek: adım atan ayak yere eğik basar; buzda μ çok küçük olduğundan kısa adımlarla, ayağı daha dik basarak yürürsün.
• Kibrit: kutunun yan yüzeyine sürtülen kibrit başı, sürtünmenin ürettiği ısıyla tutuşma sıcaklığına ulaşır.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Sürtünme gerçek dünyada — adım 4/6
Faydalı olduğu yerler | Zararlı olduğu yerler
Yürümek, koşmak | Makine parçalarının aşınması
Fren yapmak, virajı dönmek | Isınma ve enerji kaybı
Vida, çivi ve düğümün tutması | Verimin düşmesi
Elimizle bir şey tutabilmek | Uçak ve araçlarda yakıt tüketimi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Sürtünme gerçek dünyada — adım 5/6
• Frenler önceki bölüme bağlanır: araç kaymadan durduğunda lastik ile yol arasındaki sürtünme statiktir ve enerjiyi ısıya çevirmez.
• Isınan, birbirine göre kayan balata ile disktir.
• Tekerlek kilitlenirse ısınan lastiğin kendisi olur ve yolda siyah bir iz kalır.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Sürtünme gerçek dünyada — şekil
Frene basınca iki yerde sürtünme çalışır. Balata dönen diski sıkar; ikisi birbirine göre kaydığı için sürtünme kinetiktir ve hareket enerjisi burada ısıya döner. Lastik ile yol arasında ise temas noktası kaymaz; bu sürtünme statiktir, aracı geriye doğru frenler ama lastiği ısıtmaz.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Sürtünme mühendislikte bir ayar düğmesidir: frende, lastikte ve yürürken artırılır, makinelerde yağ ve rulmanla azaltılır. Curling'de oyuncular buzu fırçalayarak taşın ne kadar kayacağını değiştirir.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4 — Pekiştir: Kolaydan zora çözümlü örnekler ve sürtünme sorularında puan kaybettiren klasik hatalar.
12 Çözümlü örnekler
13 Sık yapılan hatalar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1 — Kutu hareket eder mi?
Yatay zeminde duran 20 kg'lık kutu için μs = 0,5 ve μk = 0,4'tür. (a) 80 N'luk yatay kuvvet uygulanırsa kutu hareket eder mi, sürtünme kaç N olur? (b) Kuvvet 120 N'a çıkarılırsa ivme ne olur?
Durum çizimi: Durum: 20 kg'lık kutu başta duruyor ve sağa doğru yatay kuvvetle itiliyor: önce 80 N, sonra 120 N. Sürtünme itmeye zıt yöndedir; büyüklüğü f ile (b)'deki ivme a soruluyor.
Önce çizimi birlikte okuyun: ne verilmiş, ne soruluyor?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1 — Kutu hareket eder mi?
Yatay zeminde duran 20 kg'lık kutu için μs = 0,5 ve μk = 0,4'tür. (a) 80 N'luk yatay kuvvet uygulanırsa kutu hareket eder mi, sürtünme kaç N olur? (b) Kuvvet 120 N'a çıkarılırsa ivme ne olur?
Verilenler: m = 20 kg · μs = 0,5 · μk = 0,4 · kutu başta duruyor · yatay kuvvet (a) F = 80 N, (b) F = 120 N · g = 10 m/s²
İstenen: (a) kutu hareket eder mi, sürtünme f kaç N · (b) ivme a
Önce öğrencilere verilenleri ve isteneni söyletin; hangi bağıntının kullanılacağını sorun.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1 — Kutu hareket eder mi? — çözüm
1. N = m·g = 200 N, statik eşik: μs·N = 0,5 · 200 = 100 N
2. (a) 80 N &lt; 100 N olduğu için kutu hareket etmez; statik sürtünme uygulanan kuvvete eşittir: f = 80 N, a = 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1 — Kutu hareket eder mi? — çözüm
3. (b) 120 N &gt; 100 N → kayma başlar. Artık kinetik sürtünme geçerlidir: f = μk·N = 0,4 · 200 = 80 N
4. a = (120 − 80) / 20 = 2 m/s²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2 — Sabit hızla çekilen kutudan μk ölçmek
5 kg'lık bir kutu, yatay zeminde dinamometreyle sabit hızla çekiliyor; dinamometre 15 N gösteriyor. (a) μk kaçtır? (b) Kutunun üstüne 5 kg'lık ikinci bir kutu konup ikisi yine sabit hızla çekilirse dinamometre kaç N gösterir?
Durum çizimi: Durum: (a) 5 kg'lık kutu sabit hızla çekilirken dinamometre 15 N gösteriyor; μk soruluyor. (b) Üstüne 5 kg'lık ikinci kutu konuyor ve ikisi aynı zeminde yine sabit hızla çekiliyor; dinamometrenin göstereceği F soruluyor.
Önce çizimi birlikte okuyun: ne verilmiş, ne soruluyor?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2 — Sabit hızla çekilen kutudan μk ölçmek
5 kg'lık bir kutu, yatay zeminde dinamometreyle sabit hızla çekiliyor; dinamometre 15 N gösteriyor. (a) μk kaçtır? (b) Kutunun üstüne 5 kg'lık ikinci bir kutu konup ikisi yine sabit hızla çekilirse dinamometre kaç N gösterir?
Verilenler: m = 5 kg · sabit hız → a = 0 · dinamometre F = 15 N · (b) üstüne 5 kg daha → toplam 10 kg · g = 10 m/s²
İstenen: (a) kinetik sürtünme katsayısı μk · (b) iki kutu sabit hızla çekilirken dinamometrenin gösterdiği F
Önce öğrencilere verilenleri ve isteneni söyletin; hangi bağıntının kullanılacağını sorun.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2 — Sabit hızla çekilen kutudan μk ölçmek — çözüm
1. Sabit hız → net kuvvet sıfır → kinetik sürtünme çekme kuvvetine eşit: f = 15 N
2. N = m·g = 5 · 10 = 50 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2 — Sabit hızla çekilen kutudan μk ölçmek — çözüm
3. (a) μk = f / N = 15 / 50 = 0,3
4. (b) N = 10 · 10 = 100 N → f = 0,3 · 100 = 30 N; kütle 2 katına çıkınca sürtünme de 2 katına çıktı.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3 — Kayan cismin durması
Yatay zeminde 10 m/s hızla kayan 5 kg'lık cisim, μk = 0,25 olan yüzeyde yavaşlıyor. Kaç metre sonra ve kaç saniyede durur?
Durum çizimi: Durum: 5 kg'lık cisim 10 m/s ile kaymaya başlıyor ve üzerinde hiçbir itme olmadan, yalnız sürtünmeyle yavaşlayıp duruyor. Kesikli kutu durduğu yer; aradaki mesafe d ve geçen süre t soruluyor.
Önce çizimi birlikte okuyun: ne verilmiş, ne soruluyor?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3 — Kayan cismin durması
Yatay zeminde 10 m/s hızla kayan 5 kg'lık cisim, μk = 0,25 olan yüzeyde yavaşlıyor. Kaç metre sonra ve kaç saniyede durur?
Verilenler: v₀ = 10 m/s · m = 5 kg · μk = 0,25 · son hız v = 0 (cisim duruyor) · g = 10 m/s²
İstenen: durma mesafesi d · durma süresi t
Önce öğrencilere verilenleri ve isteneni söyletin; hangi bağıntının kullanılacağını sorun.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3 — Kayan cismin durması — çözüm
1. Tek yatay kuvvet sürtünmedir: f = μk·m·g = 0,25 · 5 · 10 = 12,5 N
2. a = −f/m = −2,5 m/s² (yavaşlatıcı)
3. Mesafe: v²/(2a) = 100 / 5 = 20 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3 — Kayan cismin durması — çözüm
4. Süre: v/a = 10 / 2,5 = 4 s
5. Kütle sonuçta görünmez: a = μ·g olduğu için 50 kg'lık cisim de aynı yerde dururdu.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4 — Kritik açıdan μ bulma
Eğimi yavaşça artırılan bir düzlemde cisim, açı 37° olduğunda kaymaya başlıyor. (a) μs kaçtır? (b) μk = 0,5 ise kaymaya başladıktan sonraki ivmesi nedir? (sin37° = 0,6 · cos37° = 0,8)
Durum çizimi: Durum: tahtanın eğimi yavaş yavaş artırılıyor ve blok tam 37°'de kaymaya başlıyor. Soruda bu açıdan μs, sonra μk = 0,5 ile bloğun eğim boyunca aşağı ivmesi a isteniyor.
Önce çizimi birlikte okuyun: ne verilmiş, ne soruluyor?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4 — Kritik açıdan μ bulma
Eğimi yavaşça artırılan bir düzlemde cisim, açı 37° olduğunda kaymaya başlıyor. (a) μs kaçtır? (b) μk = 0,5 ise kaymaya başladıktan sonraki ivmesi nedir? (sin37° = 0,6 · cos37° = 0,8)
Verilenler: kaymanın başladığı açı θkritik = 37° · μk = 0,5 · sin37° = 0,6 · cos37° = 0,8 · g = 10 m/s²
İstenen: (a) statik sürtünme katsayısı μs · (b) kaymaya başladıktan sonraki ivme a
Önce öğrencilere verilenleri ve isteneni söyletin; hangi bağıntının kullanılacağını sorun.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4 — Kritik açıdan μ bulma — çözüm
1. (a) tanθ = μs → μs = tan37° = 0,6/0,8 = 0,75
2. (b) a = g·(sinθ − μk·cosθ) = 10·(0,6 − 0,5·0,8)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4 — Kritik açıdan μ bulma — çözüm
3. a = 10 · (0,6 − 0,4) = 2 m/s²
4. Kütle hiçbir adımda kullanılmadı; sonuç kütleden bağımsızdır.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5 — Fren mesafesi ve hız
72 km/h ile giden bir araç, μ = 0,5 olan bir yolda fren yapıyor. Sürücünün tepki süresi 1 s'dir. (a) Toplam durma mesafesi nedir? (b) Hız iki katına çıkarsa fren mesafesi ne olur?
Durum çizimi: Durum: araç 72 km/h ile giderken sürücü engeli görüyor. 1 s boyunca tepki verirken araç hızını korur (mavi), sonra μ = 0,5 olan yolda fren yapıp durur (kırmızı). Parça boyları ölçekli değil; toplam mesafe ve hız iki katına çıkınca fren mesafesi soruluyor.
Önce çizimi birlikte okuyun: ne verilmiş, ne soruluyor?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5 — Fren mesafesi ve hız
72 km/h ile giden bir araç, μ = 0,5 olan bir yolda fren yapıyor. Sürücünün tepki süresi 1 s'dir. (a) Toplam durma mesafesi nedir? (b) Hız iki katına çıkarsa fren mesafesi ne olur?
Verilenler: v = 72 km/h · μ = 0,5 · ttepki = 1 s · g = 10 m/s² · (b) hız iki katına çıkıyor
İstenen: (a) toplam durma mesafesi dtoplam · (b) iki kat hızda fren mesafesi dfren
Önce öğrencilere verilenleri ve isteneni söyletin; hangi bağıntının kullanılacağını sorun.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5 — Fren mesafesi ve hız — çözüm
1. 72 km/h = 72/3,6 = 20 m/s
2. (a) Tepki mesafesi: 20 · 1 = 20 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5 — Fren mesafesi ve hız — çözüm
3. Fren mesafesi: v²/(2μg) = 400 / (2·0,5·10) = 40 m → toplam 60 m
4. (b) v = 40 m/s için fren mesafesi: 1600/10 = 160 m — hız 2 katına çıkınca fren mesafesi 4 katına çıktı.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6 — Kızağı çekmek mi, itmek mi?
Karda kaymakta olan 20 kg'lık bir kızağa 100 N'luk kuvvet, yatayla 37° açı yapacak biçimde uygulanıyor; μk = 0,2. Kuvvet (a) yukarı doğru eğik çekerek, (b) aşağı doğru eğik iterek uygulanırsa kızağın ivmesi ne olur? (sin37° = 0,6 · cos37° = 0,8)
Durum çizimi: Durum: aynı kızağa aynı büyüklükte (100 N) ve yatayla aynı açıda (37°) kuvvet uygulanıyor; solda ip yukarı doğru eğik çekiyor, sağda kollar aşağı doğru eğik itiyor. Kızak zaten kayıyor; iki durumdaki ivme a soruluyor.
Önce çizimi birlikte okuyun: ne verilmiş, ne soruluyor?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6 — Kızağı çekmek mi, itmek mi?
Karda kaymakta olan 20 kg'lık bir kızağa 100 N'luk kuvvet, yatayla 37° açı yapacak biçimde uygulanıyor; μk = 0,2. Kuvvet (a) yukarı doğru eğik çekerek, (b) aşağı doğru eğik iterek uygulanırsa kızağın ivmesi ne olur? (sin37° = 0,6 · cos37° = 0,8)
Verilenler: m = 20 kg · F = 100 N · yatayla açı α = 37° · μk = 0,2 · kızak zaten kayıyor · sin37° = 0,6 · cos37° = 0,8 · g = 10 m/s²
İstenen: kızağın ivmesi a: (a) yukarı doğru eğik çekerken · (b) aşağı doğru eğik iterken
Önce öğrencilere verilenleri ve isteneni söyletin; hangi bağıntının kullanılacağını sorun.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6 — Kızağı çekmek mi, itmek mi? — çözüm
1. Kuvvetin bileşenleri: yatay 100 · 0,8 = 80 N, düşey 100 · 0,6 = 60 N; ağırlık 200 N.
2. (a) Çekerken düşey bileşen yukarı: N = 200 − 60 = 140 N → f = 0,2 · 140 = 28 N
3. a = (80 − 28) / 20 = 2,6 m/s²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6 — Kızağı çekmek mi, itmek mi? — çözüm
4. (b) İterken düşey bileşen aşağı: N = 200 + 60 = 260 N → f = 0,2 · 260 = 52 N
5. a = (80 − 52) / 20 = 1,4 m/s² — aynı kuvvet, çekerken neredeyse iki kat ivme.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7 — Eğik düzlemde yukarı fırlatılan blok
37°'lik eğik düzlemin altından bir blok, eğim boyunca yukarı 10 m/s hızla fırlatılıyor (μs = 0,7 · μk = 0,5). (a) Blok eğim boyunca kaç metre çıkar? (b) Tepede kalır mı? (c) Kalmıyorsa başlangıç noktasına hangi süratle döner?
Durum çizimi: Durum: blok eğik düzlemin altından yukarı doğru 10 m/s ile fırlatılıyor ve yavaşlayarak kesikli konumda bir an duruyor. Çıkış mesafesi d, orada kalıp kalmayacağı ve geri dönerse başlangıca hangi süratle varacağı soruluyor.
Önce çizimi birlikte okuyun: ne verilmiş, ne soruluyor?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7 — Eğik düzlemde yukarı fırlatılan blok
37°'lik eğik düzlemin altından bir blok, eğim boyunca yukarı 10 m/s hızla fırlatılıyor (μs = 0,7 · μk = 0,5). (a) Blok eğim boyunca kaç metre çıkar? (b) Tepede kalır mı? (c) Kalmıyorsa başlangıç noktasına hangi süratle döner?
Verilenler: θ = 37° · v₀ = 10 m/s (eğim boyunca yukarı) · μs = 0,7 · μk = 0,5 · sin37° = 0,6 · cos37° = 0,8 · g = 10 m/s²
İstenen: (a) eğim boyunca çıkış mesafesi d · (b) blok tepede kalır mı · (c) başlangıç noktasına dönüş sürati v
Önce öğrencilere verilenleri ve isteneni söyletin; hangi bağıntının kullanılacağını sorun.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7 — Eğik düzlemde yukarı fırlatılan blok — çözüm
1. Çıkarken sürtünme de ağırlığın paralel bileşeni de aşağı yönlüdür: a = g·(sinθ + μk·cosθ) = 10·(0,6 + 0,4) = 10 m/s² (yavaşlatıcı)
2. (a) d = v₀² / (2a) = 100 / 20 = 5 m
3. (b) tan37° = 0,75 &gt; μs = 0,7 → statik sürtünme yetmez, blok geri kayar.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7 — Eğik düzlemde yukarı fırlatılan blok — çözüm
4. İnerken sürtünme yukarı yönlüdür: a = g·(sinθ − μk·cosθ) = 10·(0,6 − 0,4) = 2 m/s²
5. (c) v² = 2·a·d = 2 · 2 · 5 = 20 → v = √20 ≈ 4,5 m/s
Serbest düşmedeki simetri burada yoktur: blok 1 s'de çıkar, ama √5 ≈ 2,2 s'de iner ve fırlatıldığı hızın yarısından azıyla döner. Aradaki enerji sürtünmeyle ısıya dönüşmüştür.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Sıra sende: Yatay zeminde kayan 10 kg'lık bir kutu için μk = 0,3'tür. Kutuya etki eden kinetik sürtünme kuvveti kaç N'dur?
Öğrencilere 2–3 dakika verin; sonra cevap slaytını açın.
Cevap: Cevap: N = m · g = 10 · 10 = 100 N. fk = μk · N = 0,3 · 100 = 30 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Cevap: N = m · g = 10 · 10 = 100 N. fk = μk · N = 0,3 · 100 = 30 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Sıra sende: Yatay zeminde duran 30 kg'lık bir sandık için μs = 0,4'tür. Sandığı kıpırdatmak için en az kaç N'luk yatay kuvvet gerekir?
Öğrencilere 2–3 dakika verin; sonra cevap slaytını açın.
Cevap: Cevap: N = m · g = 30 · 10 = 300 N. Eşik μs · N = 0,4 · 300 = 120 N; kuvvet bunu aşınca sandık kaymaya başlar.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Cevap: N = m · g = 30 · 10 = 300 N. Eşik μs · N = 0,4 · 300 = 120 N; kuvvet bunu aşınca sandık kaymaya başlar.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Sıra sende: Buz pistinde 6 m/s hızla kaymaya başlayan bir disk için μk = 0,1'dir. Disk kaç metre sonra ve kaç saniyede durur?
Öğrencilere 2–3 dakika verin; sonra cevap slaytını açın.
Cevap: Cevap: Tek yatay kuvvet sürtünmedir: a = μk · g = 0,1 · 10 = 1 m/s² (yavaşlatıcı). Mesafe d = v² / (2a) = 36 / 2 = 18 m. Süre t = v / a = 6 / 1 = 6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Cevap: Tek yatay kuvvet sürtünmedir: a = μk · g = 0,1 · 10 = 1 m/s² (yavaşlatıcı). Mesafe d = v² / (2a) = 36 / 2 = 18 m. Süre t = v / a = 6 / 1 = 6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Sıra sende: 37°'lik bir eğik düzlemde aşağı doğru kayan cisim için μk = 0,25'tir. Cismin ivmesi kaç m/s²'dir?
Öğrencilere 2–3 dakika verin; sonra cevap slaytını açın.
Cevap: Cevap: a = g · (sinθ − μk · cosθ) = 10 · (0,6 − 0,25 · 0,8) = 10 · (0,6 − 0,2) = 4 m/s². Kütle gerekmedi; sonuç her kütle için aynıdır.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Cevap: a = g · (sinθ − μk · cosθ) = 10 · (0,6 − 0,25 · 0,8) = 10 · (0,6 − 0,2) = 4 m/s². Kütle gerekmedi; sonuç her kütle için aynıdır.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Sıra sende: Yatay zeminde duran 10 kg'lık bir kutu, 60 N'luk yatay kuvvetle 5 s kaydırılıp bırakılıyor (μk = 0,2). Bırakıldıktan sonra kutu kaç metre daha kayar?
Öğrencilere 2–3 dakika verin; sonra cevap slaytını açın.
Cevap: Cevap: Sürtünme f = μk · m · g = 0,2 · 100 = 20 N. İtilirken a = (60 − 20) / 10 = 4 m/s²; 5 s sonunda v = 4 · 5 = 20 m/s. Bırakılınca yalnızca sürtünme kalır: yavaşlama μk · g = 2 m/s². Kayma mesafesi d = v² / (2 · 2) = 400 / 4 = 100 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Cevap: Sürtünme f = μk · m · g = 0,2 · 100 = 20 N. İtilirken a = (60 − 20) / 10 = 4 m/s²; 5 s sonunda v = 4 · 5 = 20 m/s. Bırakılınca yalnızca sürtünme kalır: yavaşlama μk · g = 2 m/s². Kayma mesafesi d = v² / (2 · 2) = 400 / 4 = 100 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Sık yapılan hatalar
• “Sürtünme her zaman hareketi engeller.” Sürtünme bağıl kaymaya zıttır; yürümeyi, frenlemeyi ve virajı dönmeyi sağlayan da odur.
• “f = μ·N her durumda geçerlidir.” Statik durumda f, uygulanan kuvvete eşittir; μs·N yalnızca üst sınırdır.
• “Temas alanı büyükse sürtünme büyüktür.” Alan bağıntıda yoktur.
• “Kinetik sürtünme hızla artar.” Yaklaşık olarak sabittir; hızla artan kuvvet hava direncidir (bkz. Konu 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Sık yapılan hatalar
• “N her zaman m·g'dir.” Eğik düzlemde N = m·g·cosθ; eğik bir kuvvet uygulandığında ya da asansörde de değişir.
• “Ağır cisim eğik düzlemde daha geç kayar.” Kritik açı kütleden bağımsızdır.
• “Fren mesafesi hızla doğru orantılıdır.” Hızın karesiyle artar; doğru orantılı olan tepki mesafesidir.
• “Dönen tekerlekteki sürtünme kinetiktir.” Kaymadan dönen tekerleğin yola değen noktası o an durgundur, sürtünme statiktir; kinetik olan kilitlenip kayan tekerlektir.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Özet: Statik f ≤ μs·N · Kinetik f = μk·N · Alana bağlı değil · Kritik açı tanθ = μs
fs ≤ μs · N — statik: eşiğe kadar dengeler
fk = μk · N — kinetik: sabit
tanθ = μs — kaymanın başladığı açı
d = v² / (2·μ·g) — fren mesafesi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1.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1.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slideLayout" Target="../slideLayouts/slideLayout1.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75-1.png"/><Relationship Id="rId2" Type="http://schemas.openxmlformats.org/officeDocument/2006/relationships/slideLayout" Target="../slideLayouts/slideLayout1.xml"/><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image" Target="../media/image-77-1.jpg"/><Relationship Id="rId2" Type="http://schemas.openxmlformats.org/officeDocument/2006/relationships/slideLayout" Target="../slideLayouts/slideLayout1.xml"/><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image" Target="../media/image-81-1.png"/><Relationship Id="rId2" Type="http://schemas.openxmlformats.org/officeDocument/2006/relationships/slideLayout" Target="../slideLayouts/slideLayout1.xml"/><Relationship Id="rId3"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image" Target="../media/image-84-1.jpg"/><Relationship Id="rId2" Type="http://schemas.openxmlformats.org/officeDocument/2006/relationships/slideLayout" Target="../slideLayouts/slideLayout1.xml"/><Relationship Id="rId3"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image" Target="../media/image-90-1.png"/><Relationship Id="rId2" Type="http://schemas.openxmlformats.org/officeDocument/2006/relationships/slideLayout" Target="../slideLayouts/slideLayout1.xml"/><Relationship Id="rId3"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image" Target="../media/image-94-1.jpg"/><Relationship Id="rId2" Type="http://schemas.openxmlformats.org/officeDocument/2006/relationships/slideLayout" Target="../slideLayouts/slideLayout1.xml"/><Relationship Id="rId3"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image" Target="../media/image-103-1.png"/><Relationship Id="rId2" Type="http://schemas.openxmlformats.org/officeDocument/2006/relationships/slideLayout" Target="../slideLayouts/slideLayout1.xml"/><Relationship Id="rId3"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image" Target="../media/image-106-1.png"/><Relationship Id="rId2" Type="http://schemas.openxmlformats.org/officeDocument/2006/relationships/slideLayout" Target="../slideLayouts/slideLayout1.xml"/><Relationship Id="rId3"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image" Target="../media/image-110-1.png"/><Relationship Id="rId2" Type="http://schemas.openxmlformats.org/officeDocument/2006/relationships/slideLayout" Target="../slideLayouts/slideLayout1.xml"/><Relationship Id="rId3"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image" Target="../media/image-114-1.png"/><Relationship Id="rId2" Type="http://schemas.openxmlformats.org/officeDocument/2006/relationships/slideLayout" Target="../slideLayouts/slideLayout1.xml"/><Relationship Id="rId3"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image" Target="../media/image-118-1.png"/><Relationship Id="rId2" Type="http://schemas.openxmlformats.org/officeDocument/2006/relationships/slideLayout" Target="../slideLayouts/slideLayout1.xml"/><Relationship Id="rId3"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image" Target="../media/image-122-1.png"/><Relationship Id="rId2" Type="http://schemas.openxmlformats.org/officeDocument/2006/relationships/slideLayout" Target="../slideLayouts/slideLayout1.xml"/><Relationship Id="rId3"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image" Target="../media/image-126-1.png"/><Relationship Id="rId2" Type="http://schemas.openxmlformats.org/officeDocument/2006/relationships/slideLayout" Target="../slideLayouts/slideLayout1.xml"/><Relationship Id="rId3"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image" Target="../media/image-130-1.png"/><Relationship Id="rId2" Type="http://schemas.openxmlformats.org/officeDocument/2006/relationships/slideLayout" Target="../slideLayouts/slideLayout1.xml"/><Relationship Id="rId3"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426"/>
        </a:solidFill>
      </p:bgPr>
    </p:bg>
    <p:spTree>
      <p:nvGrpSpPr>
        <p:cNvPr id="1" name=""/>
        <p:cNvGrpSpPr/>
        <p:nvPr/>
      </p:nvGrpSpPr>
      <p:grpSpPr>
        <a:xfrm>
          <a:off x="0" y="0"/>
          <a:ext cx="0" cy="0"/>
          <a:chOff x="0" y="0"/>
          <a:chExt cx="0" cy="0"/>
        </a:xfrm>
      </p:grpSpPr>
      <p:pic>
        <p:nvPicPr>
          <p:cNvPr id="2" name="Image 0" descr="/tmp/dersler-sekiller/surtunme-kuvveti-kapak.jpg">    </p:cNvPr>
          <p:cNvPicPr>
            <a:picLocks noChangeAspect="1"/>
          </p:cNvPicPr>
          <p:nvPr/>
        </p:nvPicPr>
        <p:blipFill>
          <a:blip r:embed="rId1"/>
          <a:stretch>
            <a:fillRect/>
          </a:stretch>
        </p:blipFill>
        <p:spPr>
          <a:xfrm>
            <a:off x="4967935" y="0"/>
            <a:ext cx="7223760" cy="6858000"/>
          </a:xfrm>
          <a:prstGeom prst="rect">
            <a:avLst/>
          </a:prstGeom>
        </p:spPr>
      </p:pic>
      <p:sp>
        <p:nvSpPr>
          <p:cNvPr id="3" name="Shape 0"/>
          <p:cNvSpPr/>
          <p:nvPr/>
        </p:nvSpPr>
        <p:spPr>
          <a:xfrm>
            <a:off x="868680" y="822960"/>
            <a:ext cx="310896" cy="310896"/>
          </a:xfrm>
          <a:prstGeom prst="roundRect">
            <a:avLst>
              <a:gd name="adj" fmla="val 29412"/>
            </a:avLst>
          </a:prstGeom>
          <a:solidFill>
            <a:srgbClr val="A9E648"/>
          </a:solidFill>
          <a:ln/>
        </p:spPr>
      </p:sp>
      <p:sp>
        <p:nvSpPr>
          <p:cNvPr id="4" name="Text 1"/>
          <p:cNvSpPr txBox="1"/>
          <p:nvPr/>
        </p:nvSpPr>
        <p:spPr>
          <a:xfrm>
            <a:off x="1280160" y="822960"/>
            <a:ext cx="3657600" cy="310896"/>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Dersler</a:t>
            </a:r>
            <a:pPr indent="0" marL="0">
              <a:buNone/>
            </a:pPr>
            <a:r>
              <a:rPr lang="en-US" sz="1250" dirty="0">
                <a:solidFill>
                  <a:srgbClr val="8D97B5"/>
                </a:solidFill>
                <a:latin typeface="Calibri" pitchFamily="34" charset="0"/>
                <a:ea typeface="Calibri" pitchFamily="34" charset="-122"/>
                <a:cs typeface="Calibri" pitchFamily="34" charset="-120"/>
              </a:rPr>
              <a:t>  ·  fizik</a:t>
            </a:r>
            <a:endParaRPr lang="en-US" sz="1250" dirty="0"/>
          </a:p>
        </p:txBody>
      </p:sp>
      <p:sp>
        <p:nvSpPr>
          <p:cNvPr id="5" name="Shape 2"/>
          <p:cNvSpPr/>
          <p:nvPr/>
        </p:nvSpPr>
        <p:spPr>
          <a:xfrm>
            <a:off x="640080" y="1965960"/>
            <a:ext cx="54864" cy="1097280"/>
          </a:xfrm>
          <a:prstGeom prst="rect">
            <a:avLst/>
          </a:prstGeom>
          <a:solidFill>
            <a:srgbClr val="C6F36B"/>
          </a:solidFill>
          <a:ln/>
        </p:spPr>
      </p:sp>
      <p:sp>
        <p:nvSpPr>
          <p:cNvPr id="6" name="Text 3"/>
          <p:cNvSpPr txBox="1"/>
          <p:nvPr/>
        </p:nvSpPr>
        <p:spPr>
          <a:xfrm>
            <a:off x="868680" y="1554480"/>
            <a:ext cx="5852160" cy="320040"/>
          </a:xfrm>
          <a:prstGeom prst="rect">
            <a:avLst/>
          </a:prstGeom>
          <a:noFill/>
          <a:ln/>
        </p:spPr>
        <p:txBody>
          <a:bodyPr wrap="square" lIns="0" tIns="0" rIns="0" bIns="0" rtlCol="0" anchor="ctr"/>
          <a:lstStyle/>
          <a:p>
            <a:pPr indent="0" marL="0">
              <a:buNone/>
            </a:pPr>
            <a:r>
              <a:rPr lang="en-US" sz="1300" b="1" spc="300" kern="0" dirty="0">
                <a:solidFill>
                  <a:srgbClr val="C6F36B"/>
                </a:solidFill>
                <a:latin typeface="Calibri" pitchFamily="34" charset="0"/>
                <a:ea typeface="Calibri" pitchFamily="34" charset="-122"/>
                <a:cs typeface="Calibri" pitchFamily="34" charset="-120"/>
              </a:rPr>
              <a:t>KUVVET VE HAREKET · KONU 04</a:t>
            </a:r>
            <a:endParaRPr lang="en-US" sz="1300" dirty="0"/>
          </a:p>
        </p:txBody>
      </p:sp>
      <p:sp>
        <p:nvSpPr>
          <p:cNvPr id="7" name="Text 4"/>
          <p:cNvSpPr txBox="1"/>
          <p:nvPr/>
        </p:nvSpPr>
        <p:spPr>
          <a:xfrm>
            <a:off x="822960" y="1920240"/>
            <a:ext cx="5120640" cy="1188720"/>
          </a:xfrm>
          <a:prstGeom prst="rect">
            <a:avLst/>
          </a:prstGeom>
          <a:noFill/>
          <a:ln/>
        </p:spPr>
        <p:txBody>
          <a:bodyPr wrap="square" lIns="0" tIns="0" rIns="0" bIns="0" rtlCol="0" anchor="ctr"/>
          <a:lstStyle/>
          <a:p>
            <a:pPr indent="0" marL="0">
              <a:buNone/>
            </a:pPr>
            <a:r>
              <a:rPr lang="en-US" sz="4500" b="1" spc="-100" kern="0" dirty="0">
                <a:solidFill>
                  <a:srgbClr val="FFFFFF"/>
                </a:solidFill>
                <a:latin typeface="Cambria" pitchFamily="34" charset="0"/>
                <a:ea typeface="Cambria" pitchFamily="34" charset="-122"/>
                <a:cs typeface="Cambria" pitchFamily="34" charset="-120"/>
              </a:rPr>
              <a:t>Sürtünme kuvveti</a:t>
            </a:r>
            <a:endParaRPr lang="en-US" sz="4500" dirty="0"/>
          </a:p>
        </p:txBody>
      </p:sp>
      <p:sp>
        <p:nvSpPr>
          <p:cNvPr id="8" name="Text 5"/>
          <p:cNvSpPr txBox="1"/>
          <p:nvPr/>
        </p:nvSpPr>
        <p:spPr>
          <a:xfrm>
            <a:off x="868680" y="3291840"/>
            <a:ext cx="4754880" cy="1371600"/>
          </a:xfrm>
          <a:prstGeom prst="rect">
            <a:avLst/>
          </a:prstGeom>
          <a:noFill/>
          <a:ln/>
        </p:spPr>
        <p:txBody>
          <a:bodyPr wrap="square" lIns="0" tIns="0" rIns="0" bIns="0" rtlCol="0" anchor="t"/>
          <a:lstStyle/>
          <a:p>
            <a:pPr indent="0" marL="0">
              <a:lnSpc>
                <a:spcPct val="125000"/>
              </a:lnSpc>
              <a:buNone/>
            </a:pPr>
            <a:r>
              <a:rPr lang="en-US" sz="1300" dirty="0">
                <a:solidFill>
                  <a:srgbClr val="C3CEE8"/>
                </a:solidFill>
                <a:latin typeface="Calibri" pitchFamily="34" charset="0"/>
                <a:ea typeface="Calibri" pitchFamily="34" charset="-122"/>
                <a:cs typeface="Calibri" pitchFamily="34" charset="-120"/>
              </a:rPr>
              <a:t>Dokunan her iki yüzey arasında, kaymaya karşı koyan bir kuvvet doğar. Cisim henüz hareket etmiyorken bu kuvvet sana ayak uydurur; bir eşiği aştığında ise sabitlenir ve cisim kaymaya başlar. Aşağıda bu eşiği kendin bul, eğik düzlemde μ'yü ölç, fren mesafesini hesapla.</a:t>
            </a:r>
            <a:endParaRPr lang="en-US" sz="1300" dirty="0"/>
          </a:p>
        </p:txBody>
      </p:sp>
      <p:sp>
        <p:nvSpPr>
          <p:cNvPr id="9" name="Shape 6"/>
          <p:cNvSpPr/>
          <p:nvPr/>
        </p:nvSpPr>
        <p:spPr>
          <a:xfrm>
            <a:off x="868680"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0" name="Shape 7"/>
          <p:cNvSpPr/>
          <p:nvPr/>
        </p:nvSpPr>
        <p:spPr>
          <a:xfrm>
            <a:off x="978408" y="5020056"/>
            <a:ext cx="45720" cy="310896"/>
          </a:xfrm>
          <a:prstGeom prst="rect">
            <a:avLst/>
          </a:prstGeom>
          <a:solidFill>
            <a:srgbClr val="C6F36B"/>
          </a:solidFill>
          <a:ln/>
        </p:spPr>
      </p:sp>
      <p:sp>
        <p:nvSpPr>
          <p:cNvPr id="11" name="Text 8"/>
          <p:cNvSpPr txBox="1"/>
          <p:nvPr/>
        </p:nvSpPr>
        <p:spPr>
          <a:xfrm>
            <a:off x="1124712" y="4892040"/>
            <a:ext cx="841248" cy="566928"/>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1  </a:t>
            </a:r>
            <a:pPr indent="0" marL="0">
              <a:buNone/>
            </a:pPr>
            <a:r>
              <a:rPr lang="en-US" sz="1300" b="1" dirty="0">
                <a:solidFill>
                  <a:srgbClr val="FFFFFF"/>
                </a:solidFill>
                <a:latin typeface="Calibri" pitchFamily="34" charset="0"/>
                <a:ea typeface="Calibri" pitchFamily="34" charset="-122"/>
                <a:cs typeface="Calibri" pitchFamily="34" charset="-120"/>
              </a:rPr>
              <a:t>Temel</a:t>
            </a:r>
            <a:endParaRPr lang="en-US" sz="1300" dirty="0"/>
          </a:p>
        </p:txBody>
      </p:sp>
      <p:sp>
        <p:nvSpPr>
          <p:cNvPr id="12" name="Shape 9"/>
          <p:cNvSpPr/>
          <p:nvPr/>
        </p:nvSpPr>
        <p:spPr>
          <a:xfrm>
            <a:off x="2075688"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3" name="Shape 10"/>
          <p:cNvSpPr/>
          <p:nvPr/>
        </p:nvSpPr>
        <p:spPr>
          <a:xfrm>
            <a:off x="2185416" y="5020056"/>
            <a:ext cx="45720" cy="310896"/>
          </a:xfrm>
          <a:prstGeom prst="rect">
            <a:avLst/>
          </a:prstGeom>
          <a:solidFill>
            <a:srgbClr val="82AAFF"/>
          </a:solidFill>
          <a:ln/>
        </p:spPr>
      </p:sp>
      <p:sp>
        <p:nvSpPr>
          <p:cNvPr id="14" name="Text 11"/>
          <p:cNvSpPr txBox="1"/>
          <p:nvPr/>
        </p:nvSpPr>
        <p:spPr>
          <a:xfrm>
            <a:off x="2331720" y="4892040"/>
            <a:ext cx="841248" cy="566928"/>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2  </a:t>
            </a:r>
            <a:pPr indent="0" marL="0">
              <a:buNone/>
            </a:pPr>
            <a:r>
              <a:rPr lang="en-US" sz="1300" b="1" dirty="0">
                <a:solidFill>
                  <a:srgbClr val="FFFFFF"/>
                </a:solidFill>
                <a:latin typeface="Calibri" pitchFamily="34" charset="0"/>
                <a:ea typeface="Calibri" pitchFamily="34" charset="-122"/>
                <a:cs typeface="Calibri" pitchFamily="34" charset="-120"/>
              </a:rPr>
              <a:t>Orta</a:t>
            </a:r>
            <a:endParaRPr lang="en-US" sz="1300" dirty="0"/>
          </a:p>
        </p:txBody>
      </p:sp>
      <p:sp>
        <p:nvSpPr>
          <p:cNvPr id="15" name="Shape 12"/>
          <p:cNvSpPr/>
          <p:nvPr/>
        </p:nvSpPr>
        <p:spPr>
          <a:xfrm>
            <a:off x="3282696"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6" name="Shape 13"/>
          <p:cNvSpPr/>
          <p:nvPr/>
        </p:nvSpPr>
        <p:spPr>
          <a:xfrm>
            <a:off x="3392424" y="5020056"/>
            <a:ext cx="45720" cy="310896"/>
          </a:xfrm>
          <a:prstGeom prst="rect">
            <a:avLst/>
          </a:prstGeom>
          <a:solidFill>
            <a:srgbClr val="A093FF"/>
          </a:solidFill>
          <a:ln/>
        </p:spPr>
      </p:sp>
      <p:sp>
        <p:nvSpPr>
          <p:cNvPr id="17" name="Text 14"/>
          <p:cNvSpPr txBox="1"/>
          <p:nvPr/>
        </p:nvSpPr>
        <p:spPr>
          <a:xfrm>
            <a:off x="3538728" y="4892040"/>
            <a:ext cx="841248" cy="566928"/>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3  </a:t>
            </a:r>
            <a:pPr indent="0" marL="0">
              <a:buNone/>
            </a:pPr>
            <a:r>
              <a:rPr lang="en-US" sz="1300" b="1" dirty="0">
                <a:solidFill>
                  <a:srgbClr val="FFFFFF"/>
                </a:solidFill>
                <a:latin typeface="Calibri" pitchFamily="34" charset="0"/>
                <a:ea typeface="Calibri" pitchFamily="34" charset="-122"/>
                <a:cs typeface="Calibri" pitchFamily="34" charset="-120"/>
              </a:rPr>
              <a:t>İleri</a:t>
            </a:r>
            <a:endParaRPr lang="en-US" sz="1300" dirty="0"/>
          </a:p>
        </p:txBody>
      </p:sp>
      <p:sp>
        <p:nvSpPr>
          <p:cNvPr id="18" name="Shape 15"/>
          <p:cNvSpPr/>
          <p:nvPr/>
        </p:nvSpPr>
        <p:spPr>
          <a:xfrm>
            <a:off x="4489704"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9" name="Shape 16"/>
          <p:cNvSpPr/>
          <p:nvPr/>
        </p:nvSpPr>
        <p:spPr>
          <a:xfrm>
            <a:off x="4599432" y="5020056"/>
            <a:ext cx="45720" cy="310896"/>
          </a:xfrm>
          <a:prstGeom prst="rect">
            <a:avLst/>
          </a:prstGeom>
          <a:solidFill>
            <a:srgbClr val="FFCB6B"/>
          </a:solidFill>
          <a:ln/>
        </p:spPr>
      </p:sp>
      <p:sp>
        <p:nvSpPr>
          <p:cNvPr id="20" name="Text 17"/>
          <p:cNvSpPr txBox="1"/>
          <p:nvPr/>
        </p:nvSpPr>
        <p:spPr>
          <a:xfrm>
            <a:off x="4745736" y="4892040"/>
            <a:ext cx="841248" cy="566928"/>
          </a:xfrm>
          <a:prstGeom prst="rect">
            <a:avLst/>
          </a:prstGeom>
          <a:noFill/>
          <a:ln/>
        </p:spPr>
        <p:txBody>
          <a:bodyPr wrap="square" lIns="0" tIns="0" rIns="0" bIns="0" rtlCol="0" anchor="ctr"/>
          <a:lstStyle/>
          <a:p>
            <a:pPr indent="0" marL="0">
              <a:buNone/>
            </a:pPr>
            <a:r>
              <a:rPr lang="en-US" sz="1300" b="1" dirty="0">
                <a:solidFill>
                  <a:srgbClr val="FFCB6B"/>
                </a:solidFill>
                <a:latin typeface="Calibri" pitchFamily="34" charset="0"/>
                <a:ea typeface="Calibri" pitchFamily="34" charset="-122"/>
                <a:cs typeface="Calibri" pitchFamily="34" charset="-120"/>
              </a:rPr>
              <a:t>4  </a:t>
            </a:r>
            <a:pPr indent="0" marL="0">
              <a:buNone/>
            </a:pPr>
            <a:r>
              <a:rPr lang="en-US" sz="1300" b="1" dirty="0">
                <a:solidFill>
                  <a:srgbClr val="FFFFFF"/>
                </a:solidFill>
                <a:latin typeface="Calibri" pitchFamily="34" charset="0"/>
                <a:ea typeface="Calibri" pitchFamily="34" charset="-122"/>
                <a:cs typeface="Calibri" pitchFamily="34" charset="-120"/>
              </a:rPr>
              <a:t>Pekiştir</a:t>
            </a:r>
            <a:endParaRPr lang="en-US" sz="1300" dirty="0"/>
          </a:p>
        </p:txBody>
      </p:sp>
      <p:sp>
        <p:nvSpPr>
          <p:cNvPr id="21" name="Shape 18"/>
          <p:cNvSpPr/>
          <p:nvPr/>
        </p:nvSpPr>
        <p:spPr>
          <a:xfrm>
            <a:off x="640080" y="6382512"/>
            <a:ext cx="128016" cy="128016"/>
          </a:xfrm>
          <a:prstGeom prst="roundRect">
            <a:avLst>
              <a:gd name="adj" fmla="val 28571"/>
            </a:avLst>
          </a:prstGeom>
          <a:solidFill>
            <a:srgbClr val="C6F36B"/>
          </a:solidFill>
          <a:ln/>
        </p:spPr>
      </p:sp>
      <p:sp>
        <p:nvSpPr>
          <p:cNvPr id="22" name="Text 1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dersler.perinet.org/surtunme-kuvveti.html</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Başlarken</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Konuya günlük bir soruyla giriyoruz.</a:t>
            </a:r>
            <a:endParaRPr lang="en-US" sz="1450" dirty="0"/>
          </a:p>
        </p:txBody>
      </p:sp>
      <p:sp>
        <p:nvSpPr>
          <p:cNvPr id="6" name="Shape 4"/>
          <p:cNvSpPr/>
          <p:nvPr/>
        </p:nvSpPr>
        <p:spPr>
          <a:xfrm>
            <a:off x="1188720" y="1828800"/>
            <a:ext cx="9814255" cy="3931920"/>
          </a:xfrm>
          <a:prstGeom prst="roundRect">
            <a:avLst>
              <a:gd name="adj" fmla="val 5116"/>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225296" y="2286000"/>
            <a:ext cx="64008" cy="3017520"/>
          </a:xfrm>
          <a:prstGeom prst="rect">
            <a:avLst/>
          </a:prstGeom>
          <a:solidFill>
            <a:srgbClr val="5F4BD8"/>
          </a:solidFill>
          <a:ln/>
        </p:spPr>
      </p:sp>
      <p:sp>
        <p:nvSpPr>
          <p:cNvPr id="8" name="Text 6"/>
          <p:cNvSpPr txBox="1"/>
          <p:nvPr/>
        </p:nvSpPr>
        <p:spPr>
          <a:xfrm>
            <a:off x="1828800" y="2194560"/>
            <a:ext cx="8534095" cy="3200400"/>
          </a:xfrm>
          <a:prstGeom prst="rect">
            <a:avLst/>
          </a:prstGeom>
          <a:noFill/>
          <a:ln/>
        </p:spPr>
        <p:txBody>
          <a:bodyPr wrap="square" lIns="0" tIns="0" rIns="0" bIns="0" rtlCol="0" anchor="ctr"/>
          <a:lstStyle/>
          <a:p>
            <a:pPr indent="0" marL="0">
              <a:lnSpc>
                <a:spcPct val="130000"/>
              </a:lnSpc>
              <a:buNone/>
            </a:pPr>
            <a:r>
              <a:rPr lang="en-US" sz="1950" dirty="0">
                <a:solidFill>
                  <a:srgbClr val="0E1426"/>
                </a:solidFill>
                <a:latin typeface="Cambria" pitchFamily="34" charset="0"/>
                <a:ea typeface="Cambria" pitchFamily="34" charset="-122"/>
                <a:cs typeface="Cambria" pitchFamily="34" charset="-120"/>
              </a:rPr>
              <a:t>Ağır bir sandığı itmeye başladığında neden önce hiç kıpırdamaz, sonra bir anda kurtulup daha kolay kaymaya başlar?</a:t>
            </a:r>
            <a:pPr indent="0" marL="0">
              <a:lnSpc>
                <a:spcPct val="130000"/>
              </a:lnSpc>
              <a:buNone/>
            </a:pPr>
            <a:r>
              <a:rPr lang="en-US" sz="1950" dirty="0">
                <a:solidFill>
                  <a:srgbClr val="0E1426"/>
                </a:solidFill>
                <a:latin typeface="Cambria" pitchFamily="34" charset="0"/>
                <a:ea typeface="Cambria" pitchFamily="34" charset="-122"/>
                <a:cs typeface="Cambria" pitchFamily="34" charset="-120"/>
              </a:rPr>
              <a:t> </a:t>
            </a:r>
            <a:pPr indent="0" marL="0">
              <a:lnSpc>
                <a:spcPct val="130000"/>
              </a:lnSpc>
              <a:buNone/>
            </a:pPr>
            <a:r>
              <a:rPr lang="en-US" sz="1950" dirty="0">
                <a:solidFill>
                  <a:srgbClr val="0E1426"/>
                </a:solidFill>
                <a:latin typeface="Cambria" pitchFamily="34" charset="0"/>
                <a:ea typeface="Cambria" pitchFamily="34" charset="-122"/>
                <a:cs typeface="Cambria" pitchFamily="34" charset="-120"/>
              </a:rPr>
              <a:t>Yürüyebilmemizin, frene basınca durabilmemizin, bir bardağı elimizde tutabilmemizin sorumlusu hep aynı kuvvet.</a:t>
            </a:r>
            <a:pPr indent="0" marL="0">
              <a:lnSpc>
                <a:spcPct val="130000"/>
              </a:lnSpc>
              <a:buNone/>
            </a:pPr>
            <a:r>
              <a:rPr lang="en-US" sz="1950" dirty="0">
                <a:solidFill>
                  <a:srgbClr val="0E1426"/>
                </a:solidFill>
                <a:latin typeface="Cambria" pitchFamily="34" charset="0"/>
                <a:ea typeface="Cambria" pitchFamily="34" charset="-122"/>
                <a:cs typeface="Cambria" pitchFamily="34" charset="-120"/>
              </a:rPr>
              <a:t> </a:t>
            </a:r>
            <a:pPr indent="0" marL="0">
              <a:lnSpc>
                <a:spcPct val="130000"/>
              </a:lnSpc>
              <a:buNone/>
            </a:pPr>
            <a:r>
              <a:rPr lang="en-US" sz="1950" dirty="0">
                <a:solidFill>
                  <a:srgbClr val="0E1426"/>
                </a:solidFill>
                <a:latin typeface="Cambria" pitchFamily="34" charset="0"/>
                <a:ea typeface="Cambria" pitchFamily="34" charset="-122"/>
                <a:cs typeface="Cambria" pitchFamily="34" charset="-120"/>
              </a:rPr>
              <a:t>Aynı kuvvet motorları aşındırır, yakıt yakar ve buzda arabayı savurur.</a:t>
            </a:r>
            <a:pPr indent="0" marL="0">
              <a:lnSpc>
                <a:spcPct val="130000"/>
              </a:lnSpc>
              <a:buNone/>
            </a:pPr>
            <a:r>
              <a:rPr lang="en-US" sz="1950" dirty="0">
                <a:solidFill>
                  <a:srgbClr val="0E1426"/>
                </a:solidFill>
                <a:latin typeface="Cambria" pitchFamily="34" charset="0"/>
                <a:ea typeface="Cambria" pitchFamily="34" charset="-122"/>
                <a:cs typeface="Cambria" pitchFamily="34" charset="-120"/>
              </a:rPr>
              <a:t> </a:t>
            </a:r>
            <a:pPr indent="0" marL="0">
              <a:lnSpc>
                <a:spcPct val="130000"/>
              </a:lnSpc>
              <a:buNone/>
            </a:pPr>
            <a:r>
              <a:rPr lang="en-US" sz="1950" dirty="0">
                <a:solidFill>
                  <a:srgbClr val="0E1426"/>
                </a:solidFill>
                <a:latin typeface="Cambria" pitchFamily="34" charset="0"/>
                <a:ea typeface="Cambria" pitchFamily="34" charset="-122"/>
                <a:cs typeface="Cambria" pitchFamily="34" charset="-120"/>
              </a:rPr>
              <a:t>Bu yüzden sürtünmeyi "iyi" ya da "kötü" diye değil, </a:t>
            </a:r>
            <a:pPr indent="0" marL="0">
              <a:lnSpc>
                <a:spcPct val="130000"/>
              </a:lnSpc>
              <a:buNone/>
            </a:pPr>
            <a:r>
              <a:rPr lang="en-US" sz="1950" b="1" dirty="0">
                <a:solidFill>
                  <a:srgbClr val="5F4BD8"/>
                </a:solidFill>
                <a:latin typeface="Cambria" pitchFamily="34" charset="0"/>
                <a:ea typeface="Cambria" pitchFamily="34" charset="-122"/>
                <a:cs typeface="Cambria" pitchFamily="34" charset="-120"/>
              </a:rPr>
              <a:t>ne zaman ne kadar ortaya çıktığını hesaplayabildiğimiz bir kuvvet</a:t>
            </a:r>
            <a:pPr indent="0" marL="0">
              <a:lnSpc>
                <a:spcPct val="130000"/>
              </a:lnSpc>
              <a:buNone/>
            </a:pPr>
            <a:r>
              <a:rPr lang="en-US" sz="1950" dirty="0">
                <a:solidFill>
                  <a:srgbClr val="0E1426"/>
                </a:solidFill>
                <a:latin typeface="Cambria" pitchFamily="34" charset="0"/>
                <a:ea typeface="Cambria" pitchFamily="34" charset="-122"/>
                <a:cs typeface="Cambria" pitchFamily="34" charset="-120"/>
              </a:rPr>
              <a:t> olarak öğreniyoruz — ve şaşırtıcı biçimde temas alanının bununla hiç ilgisi yok.</a:t>
            </a:r>
            <a:endParaRPr lang="en-US" sz="1950" dirty="0"/>
          </a:p>
        </p:txBody>
      </p:sp>
      <p:sp>
        <p:nvSpPr>
          <p:cNvPr id="9" name="Shape 7"/>
          <p:cNvSpPr/>
          <p:nvPr/>
        </p:nvSpPr>
        <p:spPr>
          <a:xfrm>
            <a:off x="640080" y="6382512"/>
            <a:ext cx="128016" cy="128016"/>
          </a:xfrm>
          <a:prstGeom prst="roundRect">
            <a:avLst>
              <a:gd name="adj" fmla="val 28571"/>
            </a:avLst>
          </a:prstGeom>
          <a:solidFill>
            <a:srgbClr val="A9E648"/>
          </a:solidFill>
          <a:ln/>
        </p:spPr>
      </p:sp>
      <p:sp>
        <p:nvSpPr>
          <p:cNvPr id="10"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1"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02</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Bu derste</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Dört basamak, kolaydan zora: önce sezgi, sonra bağıntılar, sonra derinleşme; en sonda pekiştirme.</a:t>
            </a:r>
            <a:endParaRPr lang="en-US" sz="1450" dirty="0"/>
          </a:p>
        </p:txBody>
      </p:sp>
      <p:sp>
        <p:nvSpPr>
          <p:cNvPr id="6" name="Shape 4"/>
          <p:cNvSpPr/>
          <p:nvPr/>
        </p:nvSpPr>
        <p:spPr>
          <a:xfrm>
            <a:off x="640080"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822960" y="1645920"/>
            <a:ext cx="2211248" cy="64008"/>
          </a:xfrm>
          <a:prstGeom prst="rect">
            <a:avLst/>
          </a:prstGeom>
          <a:solidFill>
            <a:srgbClr val="3C8C21"/>
          </a:solidFill>
          <a:ln/>
        </p:spPr>
      </p:sp>
      <p:sp>
        <p:nvSpPr>
          <p:cNvPr id="8" name="Shape 6"/>
          <p:cNvSpPr/>
          <p:nvPr/>
        </p:nvSpPr>
        <p:spPr>
          <a:xfrm>
            <a:off x="859536" y="1920240"/>
            <a:ext cx="420624" cy="420624"/>
          </a:xfrm>
          <a:prstGeom prst="roundRect">
            <a:avLst>
              <a:gd name="adj" fmla="val 26000"/>
            </a:avLst>
          </a:prstGeom>
          <a:solidFill>
            <a:srgbClr val="3C8C21"/>
          </a:solidFill>
          <a:ln/>
        </p:spPr>
      </p:sp>
      <p:sp>
        <p:nvSpPr>
          <p:cNvPr id="9" name="Text 7"/>
          <p:cNvSpPr txBox="1"/>
          <p:nvPr/>
        </p:nvSpPr>
        <p:spPr>
          <a:xfrm>
            <a:off x="859536"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0" name="Text 8"/>
          <p:cNvSpPr txBox="1"/>
          <p:nvPr/>
        </p:nvSpPr>
        <p:spPr>
          <a:xfrm>
            <a:off x="1408176"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Temel</a:t>
            </a:r>
            <a:endParaRPr lang="en-US" sz="1900" dirty="0"/>
          </a:p>
        </p:txBody>
      </p:sp>
      <p:sp>
        <p:nvSpPr>
          <p:cNvPr id="11" name="Text 9"/>
          <p:cNvSpPr txBox="1"/>
          <p:nvPr/>
        </p:nvSpPr>
        <p:spPr>
          <a:xfrm>
            <a:off x="859536" y="2487168"/>
            <a:ext cx="2138096" cy="868680"/>
          </a:xfrm>
          <a:prstGeom prst="rect">
            <a:avLst/>
          </a:prstGeom>
          <a:noFill/>
          <a:ln/>
        </p:spPr>
        <p:txBody>
          <a:bodyPr wrap="square" lIns="0" tIns="0" rIns="0" bIns="0" rtlCol="0" anchor="t"/>
          <a:lstStyle/>
          <a:p>
            <a:pPr indent="0" marL="0">
              <a:lnSpc>
                <a:spcPct val="110000"/>
              </a:lnSpc>
              <a:buNone/>
            </a:pPr>
            <a:r>
              <a:rPr lang="en-US" sz="1000" dirty="0">
                <a:solidFill>
                  <a:srgbClr val="4A5470"/>
                </a:solidFill>
                <a:latin typeface="Calibri" pitchFamily="34" charset="0"/>
                <a:ea typeface="Calibri" pitchFamily="34" charset="-122"/>
                <a:cs typeface="Calibri" pitchFamily="34" charset="-120"/>
              </a:rPr>
              <a:t>Önce sezgi: sürtünmeyi gündelik sahnelerde gözle, adını koy ve durgun cisimle kayan cisim arasındaki farkı gör. Bu basamakta hesap yok denecek kadar az.</a:t>
            </a:r>
            <a:endParaRPr lang="en-US" sz="1000" dirty="0"/>
          </a:p>
        </p:txBody>
      </p:sp>
      <p:sp>
        <p:nvSpPr>
          <p:cNvPr id="12" name="Shape 10"/>
          <p:cNvSpPr/>
          <p:nvPr/>
        </p:nvSpPr>
        <p:spPr>
          <a:xfrm>
            <a:off x="859536" y="3429000"/>
            <a:ext cx="2138096" cy="0"/>
          </a:xfrm>
          <a:prstGeom prst="line">
            <a:avLst/>
          </a:prstGeom>
          <a:noFill/>
          <a:ln w="9525">
            <a:solidFill>
              <a:srgbClr val="E1E5EE"/>
            </a:solidFill>
            <a:prstDash val="dash"/>
          </a:ln>
        </p:spPr>
      </p:sp>
      <p:sp>
        <p:nvSpPr>
          <p:cNvPr id="13" name="Text 11"/>
          <p:cNvSpPr txBox="1"/>
          <p:nvPr/>
        </p:nvSpPr>
        <p:spPr>
          <a:xfrm>
            <a:off x="859536" y="3566160"/>
            <a:ext cx="384048" cy="603504"/>
          </a:xfrm>
          <a:prstGeom prst="rect">
            <a:avLst/>
          </a:prstGeom>
          <a:noFill/>
          <a:ln/>
        </p:spPr>
        <p:txBody>
          <a:bodyPr wrap="square" lIns="0" tIns="0" rIns="0" bIns="0" rtlCol="0" anchor="t"/>
          <a:lstStyle/>
          <a:p>
            <a:pPr indent="0" marL="0">
              <a:buNone/>
            </a:pPr>
            <a:r>
              <a:rPr lang="en-US" sz="1100" b="1" dirty="0">
                <a:solidFill>
                  <a:srgbClr val="3C8C21"/>
                </a:solidFill>
                <a:latin typeface="Calibri" pitchFamily="34" charset="0"/>
                <a:ea typeface="Calibri" pitchFamily="34" charset="-122"/>
                <a:cs typeface="Calibri" pitchFamily="34" charset="-120"/>
              </a:rPr>
              <a:t>01</a:t>
            </a:r>
            <a:endParaRPr lang="en-US" sz="1100" dirty="0"/>
          </a:p>
        </p:txBody>
      </p:sp>
      <p:sp>
        <p:nvSpPr>
          <p:cNvPr id="14" name="Text 12"/>
          <p:cNvSpPr txBox="1"/>
          <p:nvPr/>
        </p:nvSpPr>
        <p:spPr>
          <a:xfrm>
            <a:off x="1243584" y="3566160"/>
            <a:ext cx="1754048" cy="603504"/>
          </a:xfrm>
          <a:prstGeom prst="rect">
            <a:avLst/>
          </a:prstGeom>
          <a:noFill/>
          <a:ln/>
        </p:spPr>
        <p:txBody>
          <a:bodyPr wrap="square" lIns="0" tIns="0" rIns="0" bIns="0" rtlCol="0" anchor="t"/>
          <a:lstStyle/>
          <a:p>
            <a:pPr indent="0" marL="0">
              <a:lnSpc>
                <a:spcPct val="105000"/>
              </a:lnSpc>
              <a:buNone/>
            </a:pPr>
            <a:r>
              <a:rPr lang="en-US" sz="1200" b="1" dirty="0">
                <a:solidFill>
                  <a:srgbClr val="0E1426"/>
                </a:solidFill>
                <a:latin typeface="Calibri" pitchFamily="34" charset="0"/>
                <a:ea typeface="Calibri" pitchFamily="34" charset="-122"/>
                <a:cs typeface="Calibri" pitchFamily="34" charset="-120"/>
              </a:rPr>
              <a:t>Önce gözlemle: sürtünme ne zaman ortaya çıkar?</a:t>
            </a:r>
            <a:endParaRPr lang="en-US" sz="1200" dirty="0"/>
          </a:p>
        </p:txBody>
      </p:sp>
      <p:sp>
        <p:nvSpPr>
          <p:cNvPr id="15" name="Text 13"/>
          <p:cNvSpPr txBox="1"/>
          <p:nvPr/>
        </p:nvSpPr>
        <p:spPr>
          <a:xfrm>
            <a:off x="859536" y="4224528"/>
            <a:ext cx="384048" cy="603504"/>
          </a:xfrm>
          <a:prstGeom prst="rect">
            <a:avLst/>
          </a:prstGeom>
          <a:noFill/>
          <a:ln/>
        </p:spPr>
        <p:txBody>
          <a:bodyPr wrap="square" lIns="0" tIns="0" rIns="0" bIns="0" rtlCol="0" anchor="t"/>
          <a:lstStyle/>
          <a:p>
            <a:pPr indent="0" marL="0">
              <a:buNone/>
            </a:pPr>
            <a:r>
              <a:rPr lang="en-US" sz="1100" b="1" dirty="0">
                <a:solidFill>
                  <a:srgbClr val="3C8C21"/>
                </a:solidFill>
                <a:latin typeface="Calibri" pitchFamily="34" charset="0"/>
                <a:ea typeface="Calibri" pitchFamily="34" charset="-122"/>
                <a:cs typeface="Calibri" pitchFamily="34" charset="-120"/>
              </a:rPr>
              <a:t>02</a:t>
            </a:r>
            <a:endParaRPr lang="en-US" sz="1100" dirty="0"/>
          </a:p>
        </p:txBody>
      </p:sp>
      <p:sp>
        <p:nvSpPr>
          <p:cNvPr id="16" name="Text 14"/>
          <p:cNvSpPr txBox="1"/>
          <p:nvPr/>
        </p:nvSpPr>
        <p:spPr>
          <a:xfrm>
            <a:off x="1243584" y="4224528"/>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Sürtünme kuvveti nedir?</a:t>
            </a:r>
            <a:endParaRPr lang="en-US" sz="1250" dirty="0"/>
          </a:p>
        </p:txBody>
      </p:sp>
      <p:sp>
        <p:nvSpPr>
          <p:cNvPr id="17" name="Text 15"/>
          <p:cNvSpPr txBox="1"/>
          <p:nvPr/>
        </p:nvSpPr>
        <p:spPr>
          <a:xfrm>
            <a:off x="859536" y="4882896"/>
            <a:ext cx="384048" cy="603504"/>
          </a:xfrm>
          <a:prstGeom prst="rect">
            <a:avLst/>
          </a:prstGeom>
          <a:noFill/>
          <a:ln/>
        </p:spPr>
        <p:txBody>
          <a:bodyPr wrap="square" lIns="0" tIns="0" rIns="0" bIns="0" rtlCol="0" anchor="t"/>
          <a:lstStyle/>
          <a:p>
            <a:pPr indent="0" marL="0">
              <a:buNone/>
            </a:pPr>
            <a:r>
              <a:rPr lang="en-US" sz="1100" b="1" dirty="0">
                <a:solidFill>
                  <a:srgbClr val="3C8C21"/>
                </a:solidFill>
                <a:latin typeface="Calibri" pitchFamily="34" charset="0"/>
                <a:ea typeface="Calibri" pitchFamily="34" charset="-122"/>
                <a:cs typeface="Calibri" pitchFamily="34" charset="-120"/>
              </a:rPr>
              <a:t>03</a:t>
            </a:r>
            <a:endParaRPr lang="en-US" sz="1100" dirty="0"/>
          </a:p>
        </p:txBody>
      </p:sp>
      <p:sp>
        <p:nvSpPr>
          <p:cNvPr id="18" name="Text 16"/>
          <p:cNvSpPr txBox="1"/>
          <p:nvPr/>
        </p:nvSpPr>
        <p:spPr>
          <a:xfrm>
            <a:off x="1243584" y="4882896"/>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Durgunken ve kayarken: iki tür sürtünme</a:t>
            </a:r>
            <a:endParaRPr lang="en-US" sz="1250" dirty="0"/>
          </a:p>
        </p:txBody>
      </p:sp>
      <p:sp>
        <p:nvSpPr>
          <p:cNvPr id="19" name="Shape 17"/>
          <p:cNvSpPr/>
          <p:nvPr/>
        </p:nvSpPr>
        <p:spPr>
          <a:xfrm>
            <a:off x="3418256"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0" name="Shape 18"/>
          <p:cNvSpPr/>
          <p:nvPr/>
        </p:nvSpPr>
        <p:spPr>
          <a:xfrm>
            <a:off x="3601136" y="1645920"/>
            <a:ext cx="2211248" cy="64008"/>
          </a:xfrm>
          <a:prstGeom prst="rect">
            <a:avLst/>
          </a:prstGeom>
          <a:solidFill>
            <a:srgbClr val="2957D4"/>
          </a:solidFill>
          <a:ln/>
        </p:spPr>
      </p:sp>
      <p:sp>
        <p:nvSpPr>
          <p:cNvPr id="21" name="Shape 19"/>
          <p:cNvSpPr/>
          <p:nvPr/>
        </p:nvSpPr>
        <p:spPr>
          <a:xfrm>
            <a:off x="3637712" y="1920240"/>
            <a:ext cx="420624" cy="420624"/>
          </a:xfrm>
          <a:prstGeom prst="roundRect">
            <a:avLst>
              <a:gd name="adj" fmla="val 26000"/>
            </a:avLst>
          </a:prstGeom>
          <a:solidFill>
            <a:srgbClr val="2957D4"/>
          </a:solidFill>
          <a:ln/>
        </p:spPr>
      </p:sp>
      <p:sp>
        <p:nvSpPr>
          <p:cNvPr id="22" name="Text 20"/>
          <p:cNvSpPr txBox="1"/>
          <p:nvPr/>
        </p:nvSpPr>
        <p:spPr>
          <a:xfrm>
            <a:off x="3637712"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3" name="Text 21"/>
          <p:cNvSpPr txBox="1"/>
          <p:nvPr/>
        </p:nvSpPr>
        <p:spPr>
          <a:xfrm>
            <a:off x="4186352"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Orta</a:t>
            </a:r>
            <a:endParaRPr lang="en-US" sz="1900" dirty="0"/>
          </a:p>
        </p:txBody>
      </p:sp>
      <p:sp>
        <p:nvSpPr>
          <p:cNvPr id="24" name="Text 22"/>
          <p:cNvSpPr txBox="1"/>
          <p:nvPr/>
        </p:nvSpPr>
        <p:spPr>
          <a:xfrm>
            <a:off x="3637712" y="2487168"/>
            <a:ext cx="2138096" cy="868680"/>
          </a:xfrm>
          <a:prstGeom prst="rect">
            <a:avLst/>
          </a:prstGeom>
          <a:noFill/>
          <a:ln/>
        </p:spPr>
        <p:txBody>
          <a:bodyPr wrap="square" lIns="0" tIns="0" rIns="0" bIns="0" rtlCol="0" anchor="t"/>
          <a:lstStyle/>
          <a:p>
            <a:pPr indent="0" marL="0">
              <a:lnSpc>
                <a:spcPct val="110000"/>
              </a:lnSpc>
              <a:buNone/>
            </a:pPr>
            <a:r>
              <a:rPr lang="en-US" sz="1150" dirty="0">
                <a:solidFill>
                  <a:srgbClr val="4A5470"/>
                </a:solidFill>
                <a:latin typeface="Calibri" pitchFamily="34" charset="0"/>
                <a:ea typeface="Calibri" pitchFamily="34" charset="-122"/>
                <a:cs typeface="Calibri" pitchFamily="34" charset="-120"/>
              </a:rPr>
              <a:t>Bağıntılar: eşiği sayıyla yaz, katsayıyı tanı; sonra eğik düzlemde ve frenlemede sürtünmeyi adım adım hesapla.</a:t>
            </a:r>
            <a:endParaRPr lang="en-US" sz="1150" dirty="0"/>
          </a:p>
        </p:txBody>
      </p:sp>
      <p:sp>
        <p:nvSpPr>
          <p:cNvPr id="25" name="Shape 23"/>
          <p:cNvSpPr/>
          <p:nvPr/>
        </p:nvSpPr>
        <p:spPr>
          <a:xfrm>
            <a:off x="3637712" y="3429000"/>
            <a:ext cx="2138096" cy="0"/>
          </a:xfrm>
          <a:prstGeom prst="line">
            <a:avLst/>
          </a:prstGeom>
          <a:noFill/>
          <a:ln w="9525">
            <a:solidFill>
              <a:srgbClr val="E1E5EE"/>
            </a:solidFill>
            <a:prstDash val="dash"/>
          </a:ln>
        </p:spPr>
      </p:sp>
      <p:sp>
        <p:nvSpPr>
          <p:cNvPr id="26" name="Text 24"/>
          <p:cNvSpPr txBox="1"/>
          <p:nvPr/>
        </p:nvSpPr>
        <p:spPr>
          <a:xfrm>
            <a:off x="3637712" y="3566160"/>
            <a:ext cx="384048" cy="451714"/>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04</a:t>
            </a:r>
            <a:endParaRPr lang="en-US" sz="1100" dirty="0"/>
          </a:p>
        </p:txBody>
      </p:sp>
      <p:sp>
        <p:nvSpPr>
          <p:cNvPr id="27" name="Text 25"/>
          <p:cNvSpPr txBox="1"/>
          <p:nvPr/>
        </p:nvSpPr>
        <p:spPr>
          <a:xfrm>
            <a:off x="4021760" y="3566160"/>
            <a:ext cx="1754048" cy="45171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Sürtünme katsayısı ve temel bağıntılar</a:t>
            </a:r>
            <a:endParaRPr lang="en-US" sz="1250" dirty="0"/>
          </a:p>
        </p:txBody>
      </p:sp>
      <p:sp>
        <p:nvSpPr>
          <p:cNvPr id="28" name="Text 26"/>
          <p:cNvSpPr txBox="1"/>
          <p:nvPr/>
        </p:nvSpPr>
        <p:spPr>
          <a:xfrm>
            <a:off x="3637712" y="4072738"/>
            <a:ext cx="384048" cy="451714"/>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05</a:t>
            </a:r>
            <a:endParaRPr lang="en-US" sz="1100" dirty="0"/>
          </a:p>
        </p:txBody>
      </p:sp>
      <p:sp>
        <p:nvSpPr>
          <p:cNvPr id="29" name="Text 27"/>
          <p:cNvSpPr txBox="1"/>
          <p:nvPr/>
        </p:nvSpPr>
        <p:spPr>
          <a:xfrm>
            <a:off x="4021760" y="4072738"/>
            <a:ext cx="1754048" cy="45171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Sürtünme neye bağlı, neye bağlı değil?</a:t>
            </a:r>
            <a:endParaRPr lang="en-US" sz="1250" dirty="0"/>
          </a:p>
        </p:txBody>
      </p:sp>
      <p:sp>
        <p:nvSpPr>
          <p:cNvPr id="30" name="Text 28"/>
          <p:cNvSpPr txBox="1"/>
          <p:nvPr/>
        </p:nvSpPr>
        <p:spPr>
          <a:xfrm>
            <a:off x="3637712" y="4579315"/>
            <a:ext cx="384048" cy="451714"/>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06</a:t>
            </a:r>
            <a:endParaRPr lang="en-US" sz="1100" dirty="0"/>
          </a:p>
        </p:txBody>
      </p:sp>
      <p:sp>
        <p:nvSpPr>
          <p:cNvPr id="31" name="Text 29"/>
          <p:cNvSpPr txBox="1"/>
          <p:nvPr/>
        </p:nvSpPr>
        <p:spPr>
          <a:xfrm>
            <a:off x="4021760" y="4579315"/>
            <a:ext cx="1754048" cy="451714"/>
          </a:xfrm>
          <a:prstGeom prst="rect">
            <a:avLst/>
          </a:prstGeom>
          <a:noFill/>
          <a:ln/>
        </p:spPr>
        <p:txBody>
          <a:bodyPr wrap="square" lIns="0" tIns="0" rIns="0" bIns="0" rtlCol="0" anchor="t"/>
          <a:lstStyle/>
          <a:p>
            <a:pPr indent="0" marL="0">
              <a:lnSpc>
                <a:spcPct val="105000"/>
              </a:lnSpc>
              <a:buNone/>
            </a:pPr>
            <a:r>
              <a:rPr lang="en-US" sz="1000" b="1" dirty="0">
                <a:solidFill>
                  <a:srgbClr val="0E1426"/>
                </a:solidFill>
                <a:latin typeface="Calibri" pitchFamily="34" charset="0"/>
                <a:ea typeface="Calibri" pitchFamily="34" charset="-122"/>
                <a:cs typeface="Calibri" pitchFamily="34" charset="-120"/>
              </a:rPr>
              <a:t>Sayılarla hisset: ne kadar kuvvet, ne kadar yavaşlama?</a:t>
            </a:r>
            <a:endParaRPr lang="en-US" sz="1000" dirty="0"/>
          </a:p>
        </p:txBody>
      </p:sp>
      <p:sp>
        <p:nvSpPr>
          <p:cNvPr id="32" name="Text 30"/>
          <p:cNvSpPr txBox="1"/>
          <p:nvPr/>
        </p:nvSpPr>
        <p:spPr>
          <a:xfrm>
            <a:off x="3637712" y="5085893"/>
            <a:ext cx="384048" cy="451714"/>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07</a:t>
            </a:r>
            <a:endParaRPr lang="en-US" sz="1100" dirty="0"/>
          </a:p>
        </p:txBody>
      </p:sp>
      <p:sp>
        <p:nvSpPr>
          <p:cNvPr id="33" name="Text 31"/>
          <p:cNvSpPr txBox="1"/>
          <p:nvPr/>
        </p:nvSpPr>
        <p:spPr>
          <a:xfrm>
            <a:off x="4021760" y="5085893"/>
            <a:ext cx="1754048" cy="45171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Eğik düzlemde sürtünme</a:t>
            </a:r>
            <a:endParaRPr lang="en-US" sz="1250" dirty="0"/>
          </a:p>
        </p:txBody>
      </p:sp>
      <p:sp>
        <p:nvSpPr>
          <p:cNvPr id="34" name="Text 32"/>
          <p:cNvSpPr txBox="1"/>
          <p:nvPr/>
        </p:nvSpPr>
        <p:spPr>
          <a:xfrm>
            <a:off x="3637712" y="5592470"/>
            <a:ext cx="384048" cy="451714"/>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08</a:t>
            </a:r>
            <a:endParaRPr lang="en-US" sz="1100" dirty="0"/>
          </a:p>
        </p:txBody>
      </p:sp>
      <p:sp>
        <p:nvSpPr>
          <p:cNvPr id="35" name="Text 33"/>
          <p:cNvSpPr txBox="1"/>
          <p:nvPr/>
        </p:nvSpPr>
        <p:spPr>
          <a:xfrm>
            <a:off x="4021760" y="5592470"/>
            <a:ext cx="1754048" cy="45171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Fren mesafesi ve trafik</a:t>
            </a:r>
            <a:endParaRPr lang="en-US" sz="1250" dirty="0"/>
          </a:p>
        </p:txBody>
      </p:sp>
      <p:sp>
        <p:nvSpPr>
          <p:cNvPr id="36" name="Shape 34"/>
          <p:cNvSpPr/>
          <p:nvPr/>
        </p:nvSpPr>
        <p:spPr>
          <a:xfrm>
            <a:off x="6196432"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37" name="Shape 35"/>
          <p:cNvSpPr/>
          <p:nvPr/>
        </p:nvSpPr>
        <p:spPr>
          <a:xfrm>
            <a:off x="6379312" y="1645920"/>
            <a:ext cx="2211248" cy="64008"/>
          </a:xfrm>
          <a:prstGeom prst="rect">
            <a:avLst/>
          </a:prstGeom>
          <a:solidFill>
            <a:srgbClr val="5F4BD8"/>
          </a:solidFill>
          <a:ln/>
        </p:spPr>
      </p:sp>
      <p:sp>
        <p:nvSpPr>
          <p:cNvPr id="38" name="Shape 36"/>
          <p:cNvSpPr/>
          <p:nvPr/>
        </p:nvSpPr>
        <p:spPr>
          <a:xfrm>
            <a:off x="6415888" y="1920240"/>
            <a:ext cx="420624" cy="420624"/>
          </a:xfrm>
          <a:prstGeom prst="roundRect">
            <a:avLst>
              <a:gd name="adj" fmla="val 26000"/>
            </a:avLst>
          </a:prstGeom>
          <a:solidFill>
            <a:srgbClr val="5F4BD8"/>
          </a:solidFill>
          <a:ln/>
        </p:spPr>
      </p:sp>
      <p:sp>
        <p:nvSpPr>
          <p:cNvPr id="39" name="Text 37"/>
          <p:cNvSpPr txBox="1"/>
          <p:nvPr/>
        </p:nvSpPr>
        <p:spPr>
          <a:xfrm>
            <a:off x="6415888"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0" name="Text 38"/>
          <p:cNvSpPr txBox="1"/>
          <p:nvPr/>
        </p:nvSpPr>
        <p:spPr>
          <a:xfrm>
            <a:off x="6964528"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İleri</a:t>
            </a:r>
            <a:endParaRPr lang="en-US" sz="1900" dirty="0"/>
          </a:p>
        </p:txBody>
      </p:sp>
      <p:sp>
        <p:nvSpPr>
          <p:cNvPr id="41" name="Text 39"/>
          <p:cNvSpPr txBox="1"/>
          <p:nvPr/>
        </p:nvSpPr>
        <p:spPr>
          <a:xfrm>
            <a:off x="6415888" y="2487168"/>
            <a:ext cx="2138096" cy="868680"/>
          </a:xfrm>
          <a:prstGeom prst="rect">
            <a:avLst/>
          </a:prstGeom>
          <a:noFill/>
          <a:ln/>
        </p:spPr>
        <p:txBody>
          <a:bodyPr wrap="square" lIns="0" tIns="0" rIns="0" bIns="0" rtlCol="0" anchor="t"/>
          <a:lstStyle/>
          <a:p>
            <a:pPr indent="0" marL="0">
              <a:lnSpc>
                <a:spcPct val="110000"/>
              </a:lnSpc>
              <a:buNone/>
            </a:pPr>
            <a:r>
              <a:rPr lang="en-US" sz="1050" dirty="0">
                <a:solidFill>
                  <a:srgbClr val="4A5470"/>
                </a:solidFill>
                <a:latin typeface="Calibri" pitchFamily="34" charset="0"/>
                <a:ea typeface="Calibri" pitchFamily="34" charset="-122"/>
                <a:cs typeface="Calibri" pitchFamily="34" charset="-120"/>
              </a:rPr>
              <a:t>Derinleşme: normal kuvvet değişince, tekerlek dönünce ve basit model zorlanınca ne olur; sonra sürtünme gerçek hayatta.</a:t>
            </a:r>
            <a:endParaRPr lang="en-US" sz="1050" dirty="0"/>
          </a:p>
        </p:txBody>
      </p:sp>
      <p:sp>
        <p:nvSpPr>
          <p:cNvPr id="42" name="Shape 40"/>
          <p:cNvSpPr/>
          <p:nvPr/>
        </p:nvSpPr>
        <p:spPr>
          <a:xfrm>
            <a:off x="6415888" y="3429000"/>
            <a:ext cx="2138096" cy="0"/>
          </a:xfrm>
          <a:prstGeom prst="line">
            <a:avLst/>
          </a:prstGeom>
          <a:noFill/>
          <a:ln w="9525">
            <a:solidFill>
              <a:srgbClr val="E1E5EE"/>
            </a:solidFill>
            <a:prstDash val="dash"/>
          </a:ln>
        </p:spPr>
      </p:sp>
      <p:sp>
        <p:nvSpPr>
          <p:cNvPr id="43" name="Text 41"/>
          <p:cNvSpPr txBox="1"/>
          <p:nvPr/>
        </p:nvSpPr>
        <p:spPr>
          <a:xfrm>
            <a:off x="6415888" y="3566160"/>
            <a:ext cx="384048" cy="603504"/>
          </a:xfrm>
          <a:prstGeom prst="rect">
            <a:avLst/>
          </a:prstGeom>
          <a:noFill/>
          <a:ln/>
        </p:spPr>
        <p:txBody>
          <a:bodyPr wrap="square" lIns="0" tIns="0" rIns="0" bIns="0" rtlCol="0" anchor="t"/>
          <a:lstStyle/>
          <a:p>
            <a:pPr indent="0" marL="0">
              <a:buNone/>
            </a:pPr>
            <a:r>
              <a:rPr lang="en-US" sz="1100" b="1" dirty="0">
                <a:solidFill>
                  <a:srgbClr val="5F4BD8"/>
                </a:solidFill>
                <a:latin typeface="Calibri" pitchFamily="34" charset="0"/>
                <a:ea typeface="Calibri" pitchFamily="34" charset="-122"/>
                <a:cs typeface="Calibri" pitchFamily="34" charset="-120"/>
              </a:rPr>
              <a:t>09</a:t>
            </a:r>
            <a:endParaRPr lang="en-US" sz="1100" dirty="0"/>
          </a:p>
        </p:txBody>
      </p:sp>
      <p:sp>
        <p:nvSpPr>
          <p:cNvPr id="44" name="Text 42"/>
          <p:cNvSpPr txBox="1"/>
          <p:nvPr/>
        </p:nvSpPr>
        <p:spPr>
          <a:xfrm>
            <a:off x="6799936" y="3566160"/>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Normal kuvvet her zaman m·g değildir</a:t>
            </a:r>
            <a:endParaRPr lang="en-US" sz="1250" dirty="0"/>
          </a:p>
        </p:txBody>
      </p:sp>
      <p:sp>
        <p:nvSpPr>
          <p:cNvPr id="45" name="Text 43"/>
          <p:cNvSpPr txBox="1"/>
          <p:nvPr/>
        </p:nvSpPr>
        <p:spPr>
          <a:xfrm>
            <a:off x="6415888" y="4224528"/>
            <a:ext cx="384048" cy="603504"/>
          </a:xfrm>
          <a:prstGeom prst="rect">
            <a:avLst/>
          </a:prstGeom>
          <a:noFill/>
          <a:ln/>
        </p:spPr>
        <p:txBody>
          <a:bodyPr wrap="square" lIns="0" tIns="0" rIns="0" bIns="0" rtlCol="0" anchor="t"/>
          <a:lstStyle/>
          <a:p>
            <a:pPr indent="0" marL="0">
              <a:buNone/>
            </a:pPr>
            <a:r>
              <a:rPr lang="en-US" sz="1100" b="1" dirty="0">
                <a:solidFill>
                  <a:srgbClr val="5F4BD8"/>
                </a:solidFill>
                <a:latin typeface="Calibri" pitchFamily="34" charset="0"/>
                <a:ea typeface="Calibri" pitchFamily="34" charset="-122"/>
                <a:cs typeface="Calibri" pitchFamily="34" charset="-120"/>
              </a:rPr>
              <a:t>10</a:t>
            </a:r>
            <a:endParaRPr lang="en-US" sz="1100" dirty="0"/>
          </a:p>
        </p:txBody>
      </p:sp>
      <p:sp>
        <p:nvSpPr>
          <p:cNvPr id="46" name="Text 44"/>
          <p:cNvSpPr txBox="1"/>
          <p:nvPr/>
        </p:nvSpPr>
        <p:spPr>
          <a:xfrm>
            <a:off x="6799936" y="4224528"/>
            <a:ext cx="1754048" cy="603504"/>
          </a:xfrm>
          <a:prstGeom prst="rect">
            <a:avLst/>
          </a:prstGeom>
          <a:noFill/>
          <a:ln/>
        </p:spPr>
        <p:txBody>
          <a:bodyPr wrap="square" lIns="0" tIns="0" rIns="0" bIns="0" rtlCol="0" anchor="t"/>
          <a:lstStyle/>
          <a:p>
            <a:pPr indent="0" marL="0">
              <a:lnSpc>
                <a:spcPct val="105000"/>
              </a:lnSpc>
              <a:buNone/>
            </a:pPr>
            <a:r>
              <a:rPr lang="en-US" sz="1200" b="1" dirty="0">
                <a:solidFill>
                  <a:srgbClr val="0E1426"/>
                </a:solidFill>
                <a:latin typeface="Calibri" pitchFamily="34" charset="0"/>
                <a:ea typeface="Calibri" pitchFamily="34" charset="-122"/>
                <a:cs typeface="Calibri" pitchFamily="34" charset="-120"/>
              </a:rPr>
              <a:t>Dönen tekerlek, ABS ve modelin sınırları</a:t>
            </a:r>
            <a:endParaRPr lang="en-US" sz="1200" dirty="0"/>
          </a:p>
        </p:txBody>
      </p:sp>
      <p:sp>
        <p:nvSpPr>
          <p:cNvPr id="47" name="Text 45"/>
          <p:cNvSpPr txBox="1"/>
          <p:nvPr/>
        </p:nvSpPr>
        <p:spPr>
          <a:xfrm>
            <a:off x="6415888" y="4882896"/>
            <a:ext cx="384048" cy="603504"/>
          </a:xfrm>
          <a:prstGeom prst="rect">
            <a:avLst/>
          </a:prstGeom>
          <a:noFill/>
          <a:ln/>
        </p:spPr>
        <p:txBody>
          <a:bodyPr wrap="square" lIns="0" tIns="0" rIns="0" bIns="0" rtlCol="0" anchor="t"/>
          <a:lstStyle/>
          <a:p>
            <a:pPr indent="0" marL="0">
              <a:buNone/>
            </a:pPr>
            <a:r>
              <a:rPr lang="en-US" sz="1100" b="1" dirty="0">
                <a:solidFill>
                  <a:srgbClr val="5F4BD8"/>
                </a:solidFill>
                <a:latin typeface="Calibri" pitchFamily="34" charset="0"/>
                <a:ea typeface="Calibri" pitchFamily="34" charset="-122"/>
                <a:cs typeface="Calibri" pitchFamily="34" charset="-120"/>
              </a:rPr>
              <a:t>11</a:t>
            </a:r>
            <a:endParaRPr lang="en-US" sz="1100" dirty="0"/>
          </a:p>
        </p:txBody>
      </p:sp>
      <p:sp>
        <p:nvSpPr>
          <p:cNvPr id="48" name="Text 46"/>
          <p:cNvSpPr txBox="1"/>
          <p:nvPr/>
        </p:nvSpPr>
        <p:spPr>
          <a:xfrm>
            <a:off x="6799936" y="4882896"/>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Sürtünme gerçek dünyada</a:t>
            </a:r>
            <a:endParaRPr lang="en-US" sz="1250" dirty="0"/>
          </a:p>
        </p:txBody>
      </p:sp>
      <p:sp>
        <p:nvSpPr>
          <p:cNvPr id="49" name="Shape 47"/>
          <p:cNvSpPr/>
          <p:nvPr/>
        </p:nvSpPr>
        <p:spPr>
          <a:xfrm>
            <a:off x="8974607"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50" name="Shape 48"/>
          <p:cNvSpPr/>
          <p:nvPr/>
        </p:nvSpPr>
        <p:spPr>
          <a:xfrm>
            <a:off x="9157487" y="1645920"/>
            <a:ext cx="2211248" cy="64008"/>
          </a:xfrm>
          <a:prstGeom prst="rect">
            <a:avLst/>
          </a:prstGeom>
          <a:solidFill>
            <a:srgbClr val="A56209"/>
          </a:solidFill>
          <a:ln/>
        </p:spPr>
      </p:sp>
      <p:sp>
        <p:nvSpPr>
          <p:cNvPr id="51" name="Shape 49"/>
          <p:cNvSpPr/>
          <p:nvPr/>
        </p:nvSpPr>
        <p:spPr>
          <a:xfrm>
            <a:off x="9194063" y="1920240"/>
            <a:ext cx="420624" cy="420624"/>
          </a:xfrm>
          <a:prstGeom prst="roundRect">
            <a:avLst>
              <a:gd name="adj" fmla="val 26000"/>
            </a:avLst>
          </a:prstGeom>
          <a:solidFill>
            <a:srgbClr val="A56209"/>
          </a:solidFill>
          <a:ln/>
        </p:spPr>
      </p:sp>
      <p:sp>
        <p:nvSpPr>
          <p:cNvPr id="52" name="Text 50"/>
          <p:cNvSpPr txBox="1"/>
          <p:nvPr/>
        </p:nvSpPr>
        <p:spPr>
          <a:xfrm>
            <a:off x="9194063"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53" name="Text 51"/>
          <p:cNvSpPr txBox="1"/>
          <p:nvPr/>
        </p:nvSpPr>
        <p:spPr>
          <a:xfrm>
            <a:off x="9742703"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Pekiştir</a:t>
            </a:r>
            <a:endParaRPr lang="en-US" sz="1900" dirty="0"/>
          </a:p>
        </p:txBody>
      </p:sp>
      <p:sp>
        <p:nvSpPr>
          <p:cNvPr id="54" name="Text 52"/>
          <p:cNvSpPr txBox="1"/>
          <p:nvPr/>
        </p:nvSpPr>
        <p:spPr>
          <a:xfrm>
            <a:off x="9194063" y="2487168"/>
            <a:ext cx="2138096" cy="868680"/>
          </a:xfrm>
          <a:prstGeom prst="rect">
            <a:avLst/>
          </a:prstGeom>
          <a:noFill/>
          <a:ln/>
        </p:spPr>
        <p:txBody>
          <a:bodyPr wrap="square" lIns="0" tIns="0" rIns="0" bIns="0" rtlCol="0" anchor="t"/>
          <a:lstStyle/>
          <a:p>
            <a:pPr indent="0" marL="0">
              <a:lnSpc>
                <a:spcPct val="110000"/>
              </a:lnSpc>
              <a:buNone/>
            </a:pPr>
            <a:r>
              <a:rPr lang="en-US" sz="1150" dirty="0">
                <a:solidFill>
                  <a:srgbClr val="4A5470"/>
                </a:solidFill>
                <a:latin typeface="Calibri" pitchFamily="34" charset="0"/>
                <a:ea typeface="Calibri" pitchFamily="34" charset="-122"/>
                <a:cs typeface="Calibri" pitchFamily="34" charset="-120"/>
              </a:rPr>
              <a:t>Kolaydan zora çözümlü örnekler ve sürtünme sorularında puan kaybettiren klasik hatalar.</a:t>
            </a:r>
            <a:endParaRPr lang="en-US" sz="1150" dirty="0"/>
          </a:p>
        </p:txBody>
      </p:sp>
      <p:sp>
        <p:nvSpPr>
          <p:cNvPr id="55" name="Shape 53"/>
          <p:cNvSpPr/>
          <p:nvPr/>
        </p:nvSpPr>
        <p:spPr>
          <a:xfrm>
            <a:off x="9194063" y="3429000"/>
            <a:ext cx="2138096" cy="0"/>
          </a:xfrm>
          <a:prstGeom prst="line">
            <a:avLst/>
          </a:prstGeom>
          <a:noFill/>
          <a:ln w="9525">
            <a:solidFill>
              <a:srgbClr val="E1E5EE"/>
            </a:solidFill>
            <a:prstDash val="dash"/>
          </a:ln>
        </p:spPr>
      </p:sp>
      <p:sp>
        <p:nvSpPr>
          <p:cNvPr id="56" name="Text 54"/>
          <p:cNvSpPr txBox="1"/>
          <p:nvPr/>
        </p:nvSpPr>
        <p:spPr>
          <a:xfrm>
            <a:off x="9194063" y="3566160"/>
            <a:ext cx="384048" cy="603504"/>
          </a:xfrm>
          <a:prstGeom prst="rect">
            <a:avLst/>
          </a:prstGeom>
          <a:noFill/>
          <a:ln/>
        </p:spPr>
        <p:txBody>
          <a:bodyPr wrap="square" lIns="0" tIns="0" rIns="0" bIns="0" rtlCol="0" anchor="t"/>
          <a:lstStyle/>
          <a:p>
            <a:pPr indent="0" marL="0">
              <a:buNone/>
            </a:pPr>
            <a:r>
              <a:rPr lang="en-US" sz="1100" b="1" dirty="0">
                <a:solidFill>
                  <a:srgbClr val="A56209"/>
                </a:solidFill>
                <a:latin typeface="Calibri" pitchFamily="34" charset="0"/>
                <a:ea typeface="Calibri" pitchFamily="34" charset="-122"/>
                <a:cs typeface="Calibri" pitchFamily="34" charset="-120"/>
              </a:rPr>
              <a:t>12</a:t>
            </a:r>
            <a:endParaRPr lang="en-US" sz="1100" dirty="0"/>
          </a:p>
        </p:txBody>
      </p:sp>
      <p:sp>
        <p:nvSpPr>
          <p:cNvPr id="57" name="Text 55"/>
          <p:cNvSpPr txBox="1"/>
          <p:nvPr/>
        </p:nvSpPr>
        <p:spPr>
          <a:xfrm>
            <a:off x="9578111" y="3566160"/>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Çözümlü örnekler</a:t>
            </a:r>
            <a:endParaRPr lang="en-US" sz="1250" dirty="0"/>
          </a:p>
        </p:txBody>
      </p:sp>
      <p:sp>
        <p:nvSpPr>
          <p:cNvPr id="58" name="Text 56"/>
          <p:cNvSpPr txBox="1"/>
          <p:nvPr/>
        </p:nvSpPr>
        <p:spPr>
          <a:xfrm>
            <a:off x="9194063" y="4224528"/>
            <a:ext cx="384048" cy="603504"/>
          </a:xfrm>
          <a:prstGeom prst="rect">
            <a:avLst/>
          </a:prstGeom>
          <a:noFill/>
          <a:ln/>
        </p:spPr>
        <p:txBody>
          <a:bodyPr wrap="square" lIns="0" tIns="0" rIns="0" bIns="0" rtlCol="0" anchor="t"/>
          <a:lstStyle/>
          <a:p>
            <a:pPr indent="0" marL="0">
              <a:buNone/>
            </a:pPr>
            <a:r>
              <a:rPr lang="en-US" sz="1100" b="1" dirty="0">
                <a:solidFill>
                  <a:srgbClr val="A56209"/>
                </a:solidFill>
                <a:latin typeface="Calibri" pitchFamily="34" charset="0"/>
                <a:ea typeface="Calibri" pitchFamily="34" charset="-122"/>
                <a:cs typeface="Calibri" pitchFamily="34" charset="-120"/>
              </a:rPr>
              <a:t>13</a:t>
            </a:r>
            <a:endParaRPr lang="en-US" sz="1100" dirty="0"/>
          </a:p>
        </p:txBody>
      </p:sp>
      <p:sp>
        <p:nvSpPr>
          <p:cNvPr id="59" name="Text 57"/>
          <p:cNvSpPr txBox="1"/>
          <p:nvPr/>
        </p:nvSpPr>
        <p:spPr>
          <a:xfrm>
            <a:off x="9578111" y="4224528"/>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Sık yapılan hatalar</a:t>
            </a:r>
            <a:endParaRPr lang="en-US" sz="1250" dirty="0"/>
          </a:p>
        </p:txBody>
      </p:sp>
      <p:sp>
        <p:nvSpPr>
          <p:cNvPr id="60" name="Shape 58"/>
          <p:cNvSpPr/>
          <p:nvPr/>
        </p:nvSpPr>
        <p:spPr>
          <a:xfrm>
            <a:off x="640080" y="6382512"/>
            <a:ext cx="128016" cy="128016"/>
          </a:xfrm>
          <a:prstGeom prst="roundRect">
            <a:avLst>
              <a:gd name="adj" fmla="val 28571"/>
            </a:avLst>
          </a:prstGeom>
          <a:solidFill>
            <a:srgbClr val="A9E648"/>
          </a:solidFill>
          <a:ln/>
        </p:spPr>
      </p:sp>
      <p:sp>
        <p:nvSpPr>
          <p:cNvPr id="61" name="Text 5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62" name="Text 6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03</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Önce hatırlayalım · 1 / 2</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Bu konuya başlamadan önce bilmen gereken birkaç şey.</a:t>
            </a:r>
            <a:endParaRPr lang="en-US" sz="1450" dirty="0"/>
          </a:p>
        </p:txBody>
      </p:sp>
      <p:sp>
        <p:nvSpPr>
          <p:cNvPr id="6" name="Shape 4"/>
          <p:cNvSpPr/>
          <p:nvPr/>
        </p:nvSpPr>
        <p:spPr>
          <a:xfrm>
            <a:off x="640080" y="1645920"/>
            <a:ext cx="10911535" cy="1365504"/>
          </a:xfrm>
          <a:prstGeom prst="roundRect">
            <a:avLst>
              <a:gd name="adj" fmla="val 10714"/>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914400" y="2100072"/>
            <a:ext cx="457200" cy="457200"/>
          </a:xfrm>
          <a:prstGeom prst="roundRect">
            <a:avLst>
              <a:gd name="adj" fmla="val 26000"/>
            </a:avLst>
          </a:prstGeom>
          <a:solidFill>
            <a:srgbClr val="3C8C21"/>
          </a:solidFill>
          <a:ln/>
        </p:spPr>
      </p:sp>
      <p:sp>
        <p:nvSpPr>
          <p:cNvPr id="8" name="Text 6"/>
          <p:cNvSpPr txBox="1"/>
          <p:nvPr/>
        </p:nvSpPr>
        <p:spPr>
          <a:xfrm>
            <a:off x="914400" y="2100072"/>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9" name="Text 7"/>
          <p:cNvSpPr txBox="1"/>
          <p:nvPr/>
        </p:nvSpPr>
        <p:spPr>
          <a:xfrm>
            <a:off x="1645920" y="1755648"/>
            <a:ext cx="9631375" cy="1146048"/>
          </a:xfrm>
          <a:prstGeom prst="rect">
            <a:avLst/>
          </a:prstGeom>
          <a:noFill/>
          <a:ln/>
        </p:spPr>
        <p:txBody>
          <a:bodyPr wrap="square" lIns="0" tIns="0" rIns="0" bIns="0" rtlCol="0" anchor="ctr"/>
          <a:lstStyle/>
          <a:p>
            <a:pPr indent="0" marL="0">
              <a:lnSpc>
                <a:spcPct val="115000"/>
              </a:lnSpc>
              <a:buNone/>
            </a:pPr>
            <a:r>
              <a:rPr lang="en-US" sz="2000" b="1" dirty="0">
                <a:solidFill>
                  <a:srgbClr val="0E1426"/>
                </a:solidFill>
                <a:latin typeface="Calibri" pitchFamily="34" charset="0"/>
                <a:ea typeface="Calibri" pitchFamily="34" charset="-122"/>
                <a:cs typeface="Calibri" pitchFamily="34" charset="-120"/>
              </a:rPr>
              <a:t>Kuvvet ve net kuvvet:</a:t>
            </a:r>
            <a:pPr indent="0" marL="0">
              <a:lnSpc>
                <a:spcPct val="115000"/>
              </a:lnSpc>
              <a:buNone/>
            </a:pPr>
            <a:r>
              <a:rPr lang="en-US" sz="2000" dirty="0">
                <a:solidFill>
                  <a:srgbClr val="4A5470"/>
                </a:solidFill>
                <a:latin typeface="Calibri" pitchFamily="34" charset="0"/>
                <a:ea typeface="Calibri" pitchFamily="34" charset="-122"/>
                <a:cs typeface="Calibri" pitchFamily="34" charset="-120"/>
              </a:rPr>
              <a:t> kuvvet bir itme ya da çekmedir ve newton (N) ile ölçülür. Zıt yönlü kuvvetler birbirinden çıkarılır: 50 N ileri, 20 N geri → net 30 N ileri.</a:t>
            </a:r>
            <a:endParaRPr lang="en-US" sz="2000" dirty="0"/>
          </a:p>
        </p:txBody>
      </p:sp>
      <p:sp>
        <p:nvSpPr>
          <p:cNvPr id="10" name="Shape 8"/>
          <p:cNvSpPr/>
          <p:nvPr/>
        </p:nvSpPr>
        <p:spPr>
          <a:xfrm>
            <a:off x="640080" y="3212592"/>
            <a:ext cx="10911535" cy="1365504"/>
          </a:xfrm>
          <a:prstGeom prst="roundRect">
            <a:avLst>
              <a:gd name="adj" fmla="val 10714"/>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1" name="Shape 9"/>
          <p:cNvSpPr/>
          <p:nvPr/>
        </p:nvSpPr>
        <p:spPr>
          <a:xfrm>
            <a:off x="914400" y="3666744"/>
            <a:ext cx="457200" cy="457200"/>
          </a:xfrm>
          <a:prstGeom prst="roundRect">
            <a:avLst>
              <a:gd name="adj" fmla="val 26000"/>
            </a:avLst>
          </a:prstGeom>
          <a:solidFill>
            <a:srgbClr val="3C8C21"/>
          </a:solidFill>
          <a:ln/>
        </p:spPr>
      </p:sp>
      <p:sp>
        <p:nvSpPr>
          <p:cNvPr id="12" name="Text 10"/>
          <p:cNvSpPr txBox="1"/>
          <p:nvPr/>
        </p:nvSpPr>
        <p:spPr>
          <a:xfrm>
            <a:off x="914400" y="3666744"/>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3" name="Text 11"/>
          <p:cNvSpPr txBox="1"/>
          <p:nvPr/>
        </p:nvSpPr>
        <p:spPr>
          <a:xfrm>
            <a:off x="1645920" y="3322320"/>
            <a:ext cx="9631375" cy="1146048"/>
          </a:xfrm>
          <a:prstGeom prst="rect">
            <a:avLst/>
          </a:prstGeom>
          <a:noFill/>
          <a:ln/>
        </p:spPr>
        <p:txBody>
          <a:bodyPr wrap="square" lIns="0" tIns="0" rIns="0" bIns="0" rtlCol="0" anchor="ctr"/>
          <a:lstStyle/>
          <a:p>
            <a:pPr indent="0" marL="0">
              <a:lnSpc>
                <a:spcPct val="115000"/>
              </a:lnSpc>
              <a:buNone/>
            </a:pPr>
            <a:r>
              <a:rPr lang="en-US" sz="2000" b="1" dirty="0">
                <a:solidFill>
                  <a:srgbClr val="0E1426"/>
                </a:solidFill>
                <a:latin typeface="Calibri" pitchFamily="34" charset="0"/>
                <a:ea typeface="Calibri" pitchFamily="34" charset="-122"/>
                <a:cs typeface="Calibri" pitchFamily="34" charset="-120"/>
              </a:rPr>
              <a:t>Newton'un 2. yasası:</a:t>
            </a:r>
            <a:pPr indent="0" marL="0">
              <a:lnSpc>
                <a:spcPct val="115000"/>
              </a:lnSpc>
              <a:buNone/>
            </a:pPr>
            <a:r>
              <a:rPr lang="en-US" sz="2000" dirty="0">
                <a:solidFill>
                  <a:srgbClr val="4A5470"/>
                </a:solidFill>
                <a:latin typeface="Calibri" pitchFamily="34" charset="0"/>
                <a:ea typeface="Calibri" pitchFamily="34" charset="-122"/>
                <a:cs typeface="Calibri" pitchFamily="34" charset="-120"/>
              </a:rPr>
              <a:t> net kuvvet cismi ivmelendirir: a = ΣF / m. 10 N'luk net kuvvet 5 kg'lık bir kutuya 10 / 5 = 2 m/s² ivme verir.</a:t>
            </a:r>
            <a:endParaRPr lang="en-US" sz="2000" dirty="0"/>
          </a:p>
        </p:txBody>
      </p:sp>
      <p:sp>
        <p:nvSpPr>
          <p:cNvPr id="14" name="Shape 12"/>
          <p:cNvSpPr/>
          <p:nvPr/>
        </p:nvSpPr>
        <p:spPr>
          <a:xfrm>
            <a:off x="640080" y="4779264"/>
            <a:ext cx="10911535" cy="1365504"/>
          </a:xfrm>
          <a:prstGeom prst="roundRect">
            <a:avLst>
              <a:gd name="adj" fmla="val 10714"/>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5" name="Shape 13"/>
          <p:cNvSpPr/>
          <p:nvPr/>
        </p:nvSpPr>
        <p:spPr>
          <a:xfrm>
            <a:off x="914400" y="5233416"/>
            <a:ext cx="457200" cy="457200"/>
          </a:xfrm>
          <a:prstGeom prst="roundRect">
            <a:avLst>
              <a:gd name="adj" fmla="val 26000"/>
            </a:avLst>
          </a:prstGeom>
          <a:solidFill>
            <a:srgbClr val="3C8C21"/>
          </a:solidFill>
          <a:ln/>
        </p:spPr>
      </p:sp>
      <p:sp>
        <p:nvSpPr>
          <p:cNvPr id="16" name="Text 14"/>
          <p:cNvSpPr txBox="1"/>
          <p:nvPr/>
        </p:nvSpPr>
        <p:spPr>
          <a:xfrm>
            <a:off x="914400" y="5233416"/>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7" name="Text 15"/>
          <p:cNvSpPr txBox="1"/>
          <p:nvPr/>
        </p:nvSpPr>
        <p:spPr>
          <a:xfrm>
            <a:off x="1645920" y="4888992"/>
            <a:ext cx="9631375" cy="1146048"/>
          </a:xfrm>
          <a:prstGeom prst="rect">
            <a:avLst/>
          </a:prstGeom>
          <a:noFill/>
          <a:ln/>
        </p:spPr>
        <p:txBody>
          <a:bodyPr wrap="square" lIns="0" tIns="0" rIns="0" bIns="0" rtlCol="0" anchor="ctr"/>
          <a:lstStyle/>
          <a:p>
            <a:pPr indent="0" marL="0">
              <a:lnSpc>
                <a:spcPct val="115000"/>
              </a:lnSpc>
              <a:buNone/>
            </a:pPr>
            <a:r>
              <a:rPr lang="en-US" sz="2000" b="1" dirty="0">
                <a:solidFill>
                  <a:srgbClr val="0E1426"/>
                </a:solidFill>
                <a:latin typeface="Calibri" pitchFamily="34" charset="0"/>
                <a:ea typeface="Calibri" pitchFamily="34" charset="-122"/>
                <a:cs typeface="Calibri" pitchFamily="34" charset="-120"/>
              </a:rPr>
              <a:t>Ağırlık:</a:t>
            </a:r>
            <a:pPr indent="0" marL="0">
              <a:lnSpc>
                <a:spcPct val="115000"/>
              </a:lnSpc>
              <a:buNone/>
            </a:pPr>
            <a:r>
              <a:rPr lang="en-US" sz="2000" dirty="0">
                <a:solidFill>
                  <a:srgbClr val="4A5470"/>
                </a:solidFill>
                <a:latin typeface="Calibri" pitchFamily="34" charset="0"/>
                <a:ea typeface="Calibri" pitchFamily="34" charset="-122"/>
                <a:cs typeface="Calibri" pitchFamily="34" charset="-120"/>
              </a:rPr>
              <a:t> Dünya'nın bir cismi çekme kuvveti: G = m · g. 20 kg'lık bir kutunun ağırlığı 20 · 10 = 200 N'dur.</a:t>
            </a:r>
            <a:endParaRPr lang="en-US" sz="2000" dirty="0"/>
          </a:p>
        </p:txBody>
      </p:sp>
      <p:sp>
        <p:nvSpPr>
          <p:cNvPr id="18" name="Shape 16"/>
          <p:cNvSpPr/>
          <p:nvPr/>
        </p:nvSpPr>
        <p:spPr>
          <a:xfrm>
            <a:off x="640080" y="6382512"/>
            <a:ext cx="128016" cy="128016"/>
          </a:xfrm>
          <a:prstGeom prst="roundRect">
            <a:avLst>
              <a:gd name="adj" fmla="val 28571"/>
            </a:avLst>
          </a:prstGeom>
          <a:solidFill>
            <a:srgbClr val="A9E648"/>
          </a:solidFill>
          <a:ln/>
        </p:spPr>
      </p:sp>
      <p:sp>
        <p:nvSpPr>
          <p:cNvPr id="19" name="Text 1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20" name="Text 1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04</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Önce hatırlayalım · 2 / 2</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Bu konuya başlamadan önce bilmen gereken birkaç şey.</a:t>
            </a:r>
            <a:endParaRPr lang="en-US" sz="1450" dirty="0"/>
          </a:p>
        </p:txBody>
      </p:sp>
      <p:sp>
        <p:nvSpPr>
          <p:cNvPr id="6" name="Shape 4"/>
          <p:cNvSpPr/>
          <p:nvPr/>
        </p:nvSpPr>
        <p:spPr>
          <a:xfrm>
            <a:off x="640080" y="1645920"/>
            <a:ext cx="10911535" cy="1365504"/>
          </a:xfrm>
          <a:prstGeom prst="roundRect">
            <a:avLst>
              <a:gd name="adj" fmla="val 10714"/>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914400" y="2100072"/>
            <a:ext cx="457200" cy="457200"/>
          </a:xfrm>
          <a:prstGeom prst="roundRect">
            <a:avLst>
              <a:gd name="adj" fmla="val 26000"/>
            </a:avLst>
          </a:prstGeom>
          <a:solidFill>
            <a:srgbClr val="3C8C21"/>
          </a:solidFill>
          <a:ln/>
        </p:spPr>
      </p:sp>
      <p:sp>
        <p:nvSpPr>
          <p:cNvPr id="8" name="Text 6"/>
          <p:cNvSpPr txBox="1"/>
          <p:nvPr/>
        </p:nvSpPr>
        <p:spPr>
          <a:xfrm>
            <a:off x="914400" y="2100072"/>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9" name="Text 7"/>
          <p:cNvSpPr txBox="1"/>
          <p:nvPr/>
        </p:nvSpPr>
        <p:spPr>
          <a:xfrm>
            <a:off x="1645920" y="1755648"/>
            <a:ext cx="9631375" cy="1146048"/>
          </a:xfrm>
          <a:prstGeom prst="rect">
            <a:avLst/>
          </a:prstGeom>
          <a:noFill/>
          <a:ln/>
        </p:spPr>
        <p:txBody>
          <a:bodyPr wrap="square" lIns="0" tIns="0" rIns="0" bIns="0" rtlCol="0" anchor="ctr"/>
          <a:lstStyle/>
          <a:p>
            <a:pPr indent="0" marL="0">
              <a:lnSpc>
                <a:spcPct val="115000"/>
              </a:lnSpc>
              <a:buNone/>
            </a:pPr>
            <a:r>
              <a:rPr lang="en-US" sz="2000" b="1" dirty="0">
                <a:solidFill>
                  <a:srgbClr val="0E1426"/>
                </a:solidFill>
                <a:latin typeface="Calibri" pitchFamily="34" charset="0"/>
                <a:ea typeface="Calibri" pitchFamily="34" charset="-122"/>
                <a:cs typeface="Calibri" pitchFamily="34" charset="-120"/>
              </a:rPr>
              <a:t>İvme ve yavaşlama:</a:t>
            </a:r>
            <a:pPr indent="0" marL="0">
              <a:lnSpc>
                <a:spcPct val="115000"/>
              </a:lnSpc>
              <a:buNone/>
            </a:pPr>
            <a:r>
              <a:rPr lang="en-US" sz="2000" dirty="0">
                <a:solidFill>
                  <a:srgbClr val="4A5470"/>
                </a:solidFill>
                <a:latin typeface="Calibri" pitchFamily="34" charset="0"/>
                <a:ea typeface="Calibri" pitchFamily="34" charset="-122"/>
                <a:cs typeface="Calibri" pitchFamily="34" charset="-120"/>
              </a:rPr>
              <a:t> ivme, hızın her saniye ne kadar değiştiğidir. Her saniye 2 m/s yavaşlayan ve 10 m/s ile giden bir bisiklet 5 saniyede durur.</a:t>
            </a:r>
            <a:endParaRPr lang="en-US" sz="2000" dirty="0"/>
          </a:p>
        </p:txBody>
      </p:sp>
      <p:sp>
        <p:nvSpPr>
          <p:cNvPr id="10" name="Shape 8"/>
          <p:cNvSpPr/>
          <p:nvPr/>
        </p:nvSpPr>
        <p:spPr>
          <a:xfrm>
            <a:off x="640080" y="3212592"/>
            <a:ext cx="10911535" cy="1365504"/>
          </a:xfrm>
          <a:prstGeom prst="roundRect">
            <a:avLst>
              <a:gd name="adj" fmla="val 10714"/>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1" name="Shape 9"/>
          <p:cNvSpPr/>
          <p:nvPr/>
        </p:nvSpPr>
        <p:spPr>
          <a:xfrm>
            <a:off x="914400" y="3666744"/>
            <a:ext cx="457200" cy="457200"/>
          </a:xfrm>
          <a:prstGeom prst="roundRect">
            <a:avLst>
              <a:gd name="adj" fmla="val 26000"/>
            </a:avLst>
          </a:prstGeom>
          <a:solidFill>
            <a:srgbClr val="3C8C21"/>
          </a:solidFill>
          <a:ln/>
        </p:spPr>
      </p:sp>
      <p:sp>
        <p:nvSpPr>
          <p:cNvPr id="12" name="Text 10"/>
          <p:cNvSpPr txBox="1"/>
          <p:nvPr/>
        </p:nvSpPr>
        <p:spPr>
          <a:xfrm>
            <a:off x="914400" y="3666744"/>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13" name="Text 11"/>
          <p:cNvSpPr txBox="1"/>
          <p:nvPr/>
        </p:nvSpPr>
        <p:spPr>
          <a:xfrm>
            <a:off x="1645920" y="3322320"/>
            <a:ext cx="9631375" cy="1146048"/>
          </a:xfrm>
          <a:prstGeom prst="rect">
            <a:avLst/>
          </a:prstGeom>
          <a:noFill/>
          <a:ln/>
        </p:spPr>
        <p:txBody>
          <a:bodyPr wrap="square" lIns="0" tIns="0" rIns="0" bIns="0" rtlCol="0" anchor="ctr"/>
          <a:lstStyle/>
          <a:p>
            <a:pPr indent="0" marL="0">
              <a:lnSpc>
                <a:spcPct val="115000"/>
              </a:lnSpc>
              <a:buNone/>
            </a:pPr>
            <a:r>
              <a:rPr lang="en-US" sz="2000" b="1" dirty="0">
                <a:solidFill>
                  <a:srgbClr val="0E1426"/>
                </a:solidFill>
                <a:latin typeface="Calibri" pitchFamily="34" charset="0"/>
                <a:ea typeface="Calibri" pitchFamily="34" charset="-122"/>
                <a:cs typeface="Calibri" pitchFamily="34" charset="-120"/>
              </a:rPr>
              <a:t>Sinüs, kosinüs, tanjant:</a:t>
            </a:r>
            <a:pPr indent="0" marL="0">
              <a:lnSpc>
                <a:spcPct val="115000"/>
              </a:lnSpc>
              <a:buNone/>
            </a:pPr>
            <a:r>
              <a:rPr lang="en-US" sz="2000" dirty="0">
                <a:solidFill>
                  <a:srgbClr val="4A5470"/>
                </a:solidFill>
                <a:latin typeface="Calibri" pitchFamily="34" charset="0"/>
                <a:ea typeface="Calibri" pitchFamily="34" charset="-122"/>
                <a:cs typeface="Calibri" pitchFamily="34" charset="-120"/>
              </a:rPr>
              <a:t> kenarları 3, 4, 5 olan dik üçgende sin37° = 0,6, cos37° = 0,8 ve tan37° = sin37° / cos37° = 0,6 / 0,8 = 0,75.</a:t>
            </a:r>
            <a:endParaRPr lang="en-US" sz="2000" dirty="0"/>
          </a:p>
        </p:txBody>
      </p:sp>
      <p:sp>
        <p:nvSpPr>
          <p:cNvPr id="14" name="Shape 12"/>
          <p:cNvSpPr/>
          <p:nvPr/>
        </p:nvSpPr>
        <p:spPr>
          <a:xfrm>
            <a:off x="640080" y="6382512"/>
            <a:ext cx="128016" cy="128016"/>
          </a:xfrm>
          <a:prstGeom prst="roundRect">
            <a:avLst>
              <a:gd name="adj" fmla="val 28571"/>
            </a:avLst>
          </a:prstGeom>
          <a:solidFill>
            <a:srgbClr val="A9E648"/>
          </a:solidFill>
          <a:ln/>
        </p:spPr>
      </p:sp>
      <p:sp>
        <p:nvSpPr>
          <p:cNvPr id="15" name="Text 13"/>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6" name="Text 14"/>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05</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C6F36B"/>
                </a:solidFill>
                <a:latin typeface="Cambria" pitchFamily="34" charset="0"/>
                <a:ea typeface="Cambria" pitchFamily="34" charset="-122"/>
                <a:cs typeface="Cambria" pitchFamily="34" charset="-120"/>
              </a:rPr>
              <a:t>1</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C6F36B"/>
                </a:solidFill>
                <a:latin typeface="Calibri" pitchFamily="34" charset="0"/>
                <a:ea typeface="Calibri" pitchFamily="34" charset="-122"/>
                <a:cs typeface="Calibri" pitchFamily="34" charset="-120"/>
              </a:rPr>
              <a:t>BASAMAK 1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Temel</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400" dirty="0">
                <a:solidFill>
                  <a:srgbClr val="C3CEE8"/>
                </a:solidFill>
                <a:latin typeface="Calibri" pitchFamily="34" charset="0"/>
                <a:ea typeface="Calibri" pitchFamily="34" charset="-122"/>
                <a:cs typeface="Calibri" pitchFamily="34" charset="-120"/>
              </a:rPr>
              <a:t>Önce sezgi: sürtünmeyi gündelik sahnelerde gözle, adını koy ve durgun cisimle kayan cisim arasındaki farkı gör. Bu basamakta hesap yok denecek kadar az.</a:t>
            </a:r>
            <a:endParaRPr lang="en-US" sz="1400" dirty="0"/>
          </a:p>
        </p:txBody>
      </p:sp>
      <p:sp>
        <p:nvSpPr>
          <p:cNvPr id="6" name="Text 4"/>
          <p:cNvSpPr txBox="1"/>
          <p:nvPr/>
        </p:nvSpPr>
        <p:spPr>
          <a:xfrm>
            <a:off x="731520" y="4572000"/>
            <a:ext cx="5120640" cy="329184"/>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01   </a:t>
            </a:r>
            <a:pPr indent="0" marL="0">
              <a:buNone/>
            </a:pPr>
            <a:r>
              <a:rPr lang="en-US" sz="1300" dirty="0">
                <a:solidFill>
                  <a:srgbClr val="FFFFFF"/>
                </a:solidFill>
                <a:latin typeface="Calibri" pitchFamily="34" charset="0"/>
                <a:ea typeface="Calibri" pitchFamily="34" charset="-122"/>
                <a:cs typeface="Calibri" pitchFamily="34" charset="-120"/>
              </a:rPr>
              <a:t>Önce gözlemle: sürtünme ne zaman ortaya çıkar?</a:t>
            </a:r>
            <a:endParaRPr lang="en-US" sz="1300" dirty="0"/>
          </a:p>
        </p:txBody>
      </p:sp>
      <p:sp>
        <p:nvSpPr>
          <p:cNvPr id="7" name="Text 5"/>
          <p:cNvSpPr txBox="1"/>
          <p:nvPr/>
        </p:nvSpPr>
        <p:spPr>
          <a:xfrm>
            <a:off x="731520" y="4901184"/>
            <a:ext cx="5120640" cy="329184"/>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02   </a:t>
            </a:r>
            <a:pPr indent="0" marL="0">
              <a:buNone/>
            </a:pPr>
            <a:r>
              <a:rPr lang="en-US" sz="1300" dirty="0">
                <a:solidFill>
                  <a:srgbClr val="FFFFFF"/>
                </a:solidFill>
                <a:latin typeface="Calibri" pitchFamily="34" charset="0"/>
                <a:ea typeface="Calibri" pitchFamily="34" charset="-122"/>
                <a:cs typeface="Calibri" pitchFamily="34" charset="-120"/>
              </a:rPr>
              <a:t>Sürtünme kuvveti nedir?</a:t>
            </a:r>
            <a:endParaRPr lang="en-US" sz="1300" dirty="0"/>
          </a:p>
        </p:txBody>
      </p:sp>
      <p:sp>
        <p:nvSpPr>
          <p:cNvPr id="8" name="Text 6"/>
          <p:cNvSpPr txBox="1"/>
          <p:nvPr/>
        </p:nvSpPr>
        <p:spPr>
          <a:xfrm>
            <a:off x="731520" y="5230368"/>
            <a:ext cx="5120640" cy="329184"/>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03   </a:t>
            </a:r>
            <a:pPr indent="0" marL="0">
              <a:buNone/>
            </a:pPr>
            <a:r>
              <a:rPr lang="en-US" sz="1300" dirty="0">
                <a:solidFill>
                  <a:srgbClr val="FFFFFF"/>
                </a:solidFill>
                <a:latin typeface="Calibri" pitchFamily="34" charset="0"/>
                <a:ea typeface="Calibri" pitchFamily="34" charset="-122"/>
                <a:cs typeface="Calibri" pitchFamily="34" charset="-120"/>
              </a:rPr>
              <a:t>Durgunken ve kayarken: iki tür sürtünme</a:t>
            </a:r>
            <a:endParaRPr lang="en-US" sz="1300" dirty="0"/>
          </a:p>
        </p:txBody>
      </p:sp>
      <p:sp>
        <p:nvSpPr>
          <p:cNvPr id="9" name="Shape 7"/>
          <p:cNvSpPr/>
          <p:nvPr/>
        </p:nvSpPr>
        <p:spPr>
          <a:xfrm>
            <a:off x="6117336" y="905256"/>
            <a:ext cx="5489143" cy="3696005"/>
          </a:xfrm>
          <a:prstGeom prst="roundRect">
            <a:avLst>
              <a:gd name="adj" fmla="val 3464"/>
            </a:avLst>
          </a:prstGeom>
          <a:solidFill>
            <a:srgbClr val="1C2542"/>
          </a:solidFill>
          <a:ln w="9525">
            <a:solidFill>
              <a:srgbClr val="2C3860"/>
            </a:solidFill>
            <a:prstDash val="solid"/>
          </a:ln>
        </p:spPr>
      </p:sp>
      <p:pic>
        <p:nvPicPr>
          <p:cNvPr id="10" name="Image 0" descr="/tmp/dersler-sekiller/surtunme-kuvveti-gunluk-kart.jpg">    </p:cNvPr>
          <p:cNvPicPr>
            <a:picLocks noChangeAspect="1"/>
          </p:cNvPicPr>
          <p:nvPr/>
        </p:nvPicPr>
        <p:blipFill>
          <a:blip r:embed="rId1"/>
          <a:stretch>
            <a:fillRect/>
          </a:stretch>
        </p:blipFill>
        <p:spPr>
          <a:xfrm>
            <a:off x="6172200" y="960120"/>
            <a:ext cx="5379415" cy="3586277"/>
          </a:xfrm>
          <a:prstGeom prst="rect">
            <a:avLst/>
          </a:prstGeom>
        </p:spPr>
      </p:pic>
      <p:sp>
        <p:nvSpPr>
          <p:cNvPr id="11" name="Text 8"/>
          <p:cNvSpPr txBox="1"/>
          <p:nvPr/>
        </p:nvSpPr>
        <p:spPr>
          <a:xfrm>
            <a:off x="6172200" y="4774997"/>
            <a:ext cx="5379415" cy="1214323"/>
          </a:xfrm>
          <a:prstGeom prst="rect">
            <a:avLst/>
          </a:prstGeom>
          <a:noFill/>
          <a:ln/>
        </p:spPr>
        <p:txBody>
          <a:bodyPr wrap="square" lIns="0" tIns="0" rIns="0" bIns="0" rtlCol="0" anchor="t"/>
          <a:lstStyle/>
          <a:p>
            <a:pPr indent="0" marL="0">
              <a:lnSpc>
                <a:spcPct val="115000"/>
              </a:lnSpc>
              <a:buNone/>
            </a:pPr>
            <a:r>
              <a:rPr lang="en-US" sz="1150" b="1" dirty="0">
                <a:solidFill>
                  <a:srgbClr val="FFFFFF"/>
                </a:solidFill>
                <a:latin typeface="Calibri" pitchFamily="34" charset="0"/>
                <a:ea typeface="Calibri" pitchFamily="34" charset="-122"/>
                <a:cs typeface="Calibri" pitchFamily="34" charset="-120"/>
              </a:rPr>
              <a:t>Kaydırak küçük bir eğik düzlemdir.</a:t>
            </a:r>
            <a:pPr indent="0" marL="0">
              <a:lnSpc>
                <a:spcPct val="115000"/>
              </a:lnSpc>
              <a:buNone/>
            </a:pPr>
            <a:r>
              <a:rPr lang="en-US" sz="1150" dirty="0">
                <a:solidFill>
                  <a:srgbClr val="C3CEE8"/>
                </a:solidFill>
                <a:latin typeface="Calibri" pitchFamily="34" charset="0"/>
                <a:ea typeface="Calibri" pitchFamily="34" charset="-122"/>
                <a:cs typeface="Calibri" pitchFamily="34" charset="-120"/>
              </a:rPr>
              <a:t> Ağırlığın eğime paralel parçası çocuğu aşağı çeker, kıyafet ile metal arasındaki sürtünme ise kaymaya karşı koyar. Çocuğun ne kadar hızlı ineceğini bu ikisinin farkı belirler; farkın eğimle ve kumaşla nasıl değiştiğini ikinci basamakta hesaplayacağız.</a:t>
            </a:r>
            <a:endParaRPr lang="en-US" sz="1150" dirty="0"/>
          </a:p>
        </p:txBody>
      </p:sp>
      <p:sp>
        <p:nvSpPr>
          <p:cNvPr id="12" name="Shape 9"/>
          <p:cNvSpPr/>
          <p:nvPr/>
        </p:nvSpPr>
        <p:spPr>
          <a:xfrm>
            <a:off x="640080" y="6382512"/>
            <a:ext cx="128016" cy="128016"/>
          </a:xfrm>
          <a:prstGeom prst="roundRect">
            <a:avLst>
              <a:gd name="adj" fmla="val 28571"/>
            </a:avLst>
          </a:prstGeom>
          <a:solidFill>
            <a:srgbClr val="C6F36B"/>
          </a:solidFill>
          <a:ln/>
        </p:spPr>
      </p:sp>
      <p:sp>
        <p:nvSpPr>
          <p:cNvPr id="13" name="Text 10"/>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dersler.perinet.org/surtunme-kuvveti.html</a:t>
            </a:r>
            <a:endParaRPr lang="en-US" sz="1050" dirty="0"/>
          </a:p>
        </p:txBody>
      </p:sp>
      <p:sp>
        <p:nvSpPr>
          <p:cNvPr id="14" name="Text 11"/>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06</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100" b="1" spc="-50" kern="0" dirty="0">
                <a:solidFill>
                  <a:srgbClr val="0E1426"/>
                </a:solidFill>
                <a:latin typeface="Cambria" pitchFamily="34" charset="0"/>
                <a:ea typeface="Cambria" pitchFamily="34" charset="-122"/>
                <a:cs typeface="Cambria" pitchFamily="34" charset="-120"/>
              </a:rPr>
              <a:t>Önce gözlemle: sürtünme ne zaman ortaya çıkar?</a:t>
            </a:r>
            <a:endParaRPr lang="en-US" sz="31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7</a:t>
            </a:r>
            <a:endParaRPr lang="en-US" sz="950" dirty="0"/>
          </a:p>
        </p:txBody>
      </p:sp>
      <p:sp>
        <p:nvSpPr>
          <p:cNvPr id="6" name="Text 4"/>
          <p:cNvSpPr txBox="1"/>
          <p:nvPr/>
        </p:nvSpPr>
        <p:spPr>
          <a:xfrm>
            <a:off x="640080" y="1325880"/>
            <a:ext cx="10911535" cy="277063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Evde kitap dolu bir koliyi yerde itmeyi düşün.</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Önce hafifçe itersin; koli kıpırdamaz.</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Biraz daha yüklenirsin; yine yerinde durur.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Bir noktada birden "kopar" ve kaymaya başlar.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İlginç olan şudur: kaymaya başladıktan sonra onu itmeye devam etmek, yerinden oynatmaktan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daha kolaydır</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07</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100" b="1" spc="-50" kern="0" dirty="0">
                <a:solidFill>
                  <a:srgbClr val="0E1426"/>
                </a:solidFill>
                <a:latin typeface="Cambria" pitchFamily="34" charset="0"/>
                <a:ea typeface="Cambria" pitchFamily="34" charset="-122"/>
                <a:cs typeface="Cambria" pitchFamily="34" charset="-120"/>
              </a:rPr>
              <a:t>Önce gözlemle: sürtünme ne zaman ortaya çıkar?</a:t>
            </a:r>
            <a:endParaRPr lang="en-US" sz="31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7</a:t>
            </a:r>
            <a:endParaRPr lang="en-US" sz="950" dirty="0"/>
          </a:p>
        </p:txBody>
      </p:sp>
      <p:sp>
        <p:nvSpPr>
          <p:cNvPr id="6" name="Text 4"/>
          <p:cNvSpPr txBox="1"/>
          <p:nvPr/>
        </p:nvSpPr>
        <p:spPr>
          <a:xfrm>
            <a:off x="640080" y="1325880"/>
            <a:ext cx="10911535" cy="86258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Aynı koliyi halının üstünde itmek cilalı parkede itmekten zordur; içindeki kitapları boşaltınca iş iyice kolaylaşır.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08</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100" b="1" spc="-50" kern="0" dirty="0">
                <a:solidFill>
                  <a:srgbClr val="0E1426"/>
                </a:solidFill>
                <a:latin typeface="Cambria" pitchFamily="34" charset="0"/>
                <a:ea typeface="Cambria" pitchFamily="34" charset="-122"/>
                <a:cs typeface="Cambria" pitchFamily="34" charset="-120"/>
              </a:rPr>
              <a:t>Önce gözlemle: sürtünme ne zaman ortaya çıkar?</a:t>
            </a:r>
            <a:endParaRPr lang="en-US" sz="31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7</a:t>
            </a:r>
            <a:endParaRPr lang="en-US" sz="950" dirty="0"/>
          </a:p>
        </p:txBody>
      </p:sp>
      <p:sp>
        <p:nvSpPr>
          <p:cNvPr id="6" name="Text 4"/>
          <p:cNvSpPr txBox="1"/>
          <p:nvPr/>
        </p:nvSpPr>
        <p:spPr>
          <a:xfrm>
            <a:off x="640080" y="1325880"/>
            <a:ext cx="10911535" cy="267919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Parktaki kaydırak da aynı etkiyi gösterir.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Ağırlığı çocuğu eğim boyunca aşağı çeker, ama çocuk inerken kıyafeti ile metal yüzey arasında onu frenleyen bir etki vardır.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Aynı çocuk kotla daha yavaş, kaygan kumaşlı bir eşofmanla daha hızlı iner.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Kaydırağın eğimi çok az olsaydı hiç kaymadan üstünde oturabilirdi.</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09</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100" b="1" spc="-50" kern="0" dirty="0">
                <a:solidFill>
                  <a:srgbClr val="0E1426"/>
                </a:solidFill>
                <a:latin typeface="Cambria" pitchFamily="34" charset="0"/>
                <a:ea typeface="Cambria" pitchFamily="34" charset="-122"/>
                <a:cs typeface="Cambria" pitchFamily="34" charset="-120"/>
              </a:rPr>
              <a:t>Önce gözlemle: sürtünme ne zaman ortaya çıkar?</a:t>
            </a:r>
            <a:endParaRPr lang="en-US" sz="31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7</a:t>
            </a:r>
            <a:endParaRPr lang="en-US" sz="950" dirty="0"/>
          </a:p>
        </p:txBody>
      </p:sp>
      <p:sp>
        <p:nvSpPr>
          <p:cNvPr id="6" name="Text 4"/>
          <p:cNvSpPr txBox="1"/>
          <p:nvPr/>
        </p:nvSpPr>
        <p:spPr>
          <a:xfrm>
            <a:off x="640080" y="1325880"/>
            <a:ext cx="10911535" cy="47701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Bu sahnelerden şu gözlemleri çıkarabilirsin:</a:t>
            </a:r>
            <a:endParaRPr lang="en-US" sz="2200" dirty="0"/>
          </a:p>
        </p:txBody>
      </p:sp>
      <p:sp>
        <p:nvSpPr>
          <p:cNvPr id="7" name="Text 5"/>
          <p:cNvSpPr txBox="1"/>
          <p:nvPr/>
        </p:nvSpPr>
        <p:spPr>
          <a:xfrm>
            <a:off x="640080" y="2004060"/>
            <a:ext cx="10911535" cy="257403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Duran cisim direnir: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itme belli bir sınırı aşana kadar cisim yerinden oynamaz.</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Kayan cisim daha az direnir: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kaymaya başlayınca itmeye devam etmek kolaylaşır.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Yüzeyler önemlidir: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halı ile parke, kot ile eşofman aynı sonucu vermez.</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Bastırmak önemlidir: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dolu koli boş koliden zor itilir.</a:t>
            </a:r>
            <a:endParaRPr lang="en-US" sz="2100" dirty="0"/>
          </a:p>
        </p:txBody>
      </p:sp>
      <p:sp>
        <p:nvSpPr>
          <p:cNvPr id="9" name="Shape 6"/>
          <p:cNvSpPr/>
          <p:nvPr/>
        </p:nvSpPr>
        <p:spPr>
          <a:xfrm>
            <a:off x="640080" y="6382512"/>
            <a:ext cx="128016" cy="128016"/>
          </a:xfrm>
          <a:prstGeom prst="roundRect">
            <a:avLst>
              <a:gd name="adj" fmla="val 28571"/>
            </a:avLst>
          </a:prstGeom>
          <a:solidFill>
            <a:srgbClr val="A9E648"/>
          </a:solidFill>
          <a:ln/>
        </p:spPr>
      </p:sp>
      <p:sp>
        <p:nvSpPr>
          <p:cNvPr id="10"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1"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100" b="1" spc="-50" kern="0" dirty="0">
                <a:solidFill>
                  <a:srgbClr val="0E1426"/>
                </a:solidFill>
                <a:latin typeface="Cambria" pitchFamily="34" charset="0"/>
                <a:ea typeface="Cambria" pitchFamily="34" charset="-122"/>
                <a:cs typeface="Cambria" pitchFamily="34" charset="-120"/>
              </a:rPr>
              <a:t>Önce gözlemle: sürtünme ne zaman ortaya çıkar?</a:t>
            </a:r>
            <a:endParaRPr lang="en-US" sz="31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7</a:t>
            </a:r>
            <a:endParaRPr lang="en-US" sz="950" dirty="0"/>
          </a:p>
        </p:txBody>
      </p:sp>
      <p:sp>
        <p:nvSpPr>
          <p:cNvPr id="6" name="Text 4"/>
          <p:cNvSpPr txBox="1"/>
          <p:nvPr/>
        </p:nvSpPr>
        <p:spPr>
          <a:xfrm>
            <a:off x="640080" y="1325880"/>
            <a:ext cx="10911535" cy="82753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Durgun hâlde de iş başındadır: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yürürken ayağının kaymamasını sağlayan da aynı etkidir.</a:t>
            </a:r>
            <a:endParaRPr lang="en-US" sz="21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100" b="1" spc="-50" kern="0" dirty="0">
                <a:solidFill>
                  <a:srgbClr val="0E1426"/>
                </a:solidFill>
                <a:latin typeface="Cambria" pitchFamily="34" charset="0"/>
                <a:ea typeface="Cambria" pitchFamily="34" charset="-122"/>
                <a:cs typeface="Cambria" pitchFamily="34" charset="-120"/>
              </a:rPr>
              <a:t>Önce gözlemle: sürtünme ne zaman ortaya çıkar?</a:t>
            </a:r>
            <a:endParaRPr lang="en-US" sz="31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6 / 7</a:t>
            </a:r>
            <a:endParaRPr lang="en-US" sz="950" dirty="0"/>
          </a:p>
        </p:txBody>
      </p:sp>
      <p:sp>
        <p:nvSpPr>
          <p:cNvPr id="6" name="Shape 4"/>
          <p:cNvSpPr/>
          <p:nvPr/>
        </p:nvSpPr>
        <p:spPr>
          <a:xfrm>
            <a:off x="3210248" y="1234440"/>
            <a:ext cx="5771200" cy="3880485"/>
          </a:xfrm>
          <a:prstGeom prst="roundRect">
            <a:avLst>
              <a:gd name="adj" fmla="val 377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dersler-sekiller/surtunme-kuvveti-01.png">    </p:cNvPr>
          <p:cNvPicPr>
            <a:picLocks noChangeAspect="1"/>
          </p:cNvPicPr>
          <p:nvPr/>
        </p:nvPicPr>
        <p:blipFill>
          <a:blip r:embed="rId1"/>
          <a:stretch>
            <a:fillRect/>
          </a:stretch>
        </p:blipFill>
        <p:spPr>
          <a:xfrm>
            <a:off x="3438848" y="1325880"/>
            <a:ext cx="5314000" cy="3697605"/>
          </a:xfrm>
          <a:prstGeom prst="rect">
            <a:avLst/>
          </a:prstGeom>
        </p:spPr>
      </p:pic>
      <p:sp>
        <p:nvSpPr>
          <p:cNvPr id="8" name="Text 5"/>
          <p:cNvSpPr txBox="1"/>
          <p:nvPr/>
        </p:nvSpPr>
        <p:spPr>
          <a:xfrm>
            <a:off x="1249528" y="5297805"/>
            <a:ext cx="9692640" cy="846963"/>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Gözlemlerini tek bakışta karşılaştır: mavi ok, koliyi hareket ettirmek için gereken itmedir. Solda ok hep daha uzun. Duran koliyi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yerinden oynatmak</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kayan koliyi itmeyi sürdürmekten zordur;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halı</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parkeden,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dolu koli</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boş koliden daha çok direnir. Demek ki direnç yüzeylere ve koliyi zemine ne kadar bastırdığına bağlı.</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12</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100" b="1" spc="-50" kern="0" dirty="0">
                <a:solidFill>
                  <a:srgbClr val="0E1426"/>
                </a:solidFill>
                <a:latin typeface="Cambria" pitchFamily="34" charset="0"/>
                <a:ea typeface="Cambria" pitchFamily="34" charset="-122"/>
                <a:cs typeface="Cambria" pitchFamily="34" charset="-120"/>
              </a:rPr>
              <a:t>Önce gözlemle: sürtünme ne zaman ortaya çıkar?</a:t>
            </a:r>
            <a:endParaRPr lang="en-US" sz="31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7 / 7</a:t>
            </a:r>
            <a:endParaRPr lang="en-US" sz="950" dirty="0"/>
          </a:p>
        </p:txBody>
      </p:sp>
      <p:sp>
        <p:nvSpPr>
          <p:cNvPr id="6" name="Text 4"/>
          <p:cNvSpPr txBox="1"/>
          <p:nvPr/>
        </p:nvSpPr>
        <p:spPr>
          <a:xfrm>
            <a:off x="640080" y="1325880"/>
            <a:ext cx="10911535" cy="133959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Bütün bu gözlemlerin arkasında tek bir kuvvet var.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Önce ona bir ad verelim, sonra neden bir sınırı olduğunu ve cisim kayınca neden küçüldüğünü anlayalım.</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13</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100" b="1" spc="-50" kern="0" dirty="0">
                <a:solidFill>
                  <a:srgbClr val="0E1426"/>
                </a:solidFill>
                <a:latin typeface="Cambria" pitchFamily="34" charset="0"/>
                <a:ea typeface="Cambria" pitchFamily="34" charset="-122"/>
                <a:cs typeface="Cambria" pitchFamily="34" charset="-120"/>
              </a:rPr>
              <a:t>Önce gözlemle: sürtünme ne zaman ortaya çıkar?</a:t>
            </a:r>
            <a:endParaRPr lang="en-US" sz="31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3C8C21"/>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3C8C21"/>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Duran bir cisim, itme belli bir sınırı aşana dek yerinden oynamaz; kaymaya başlayınca onu itmek kolaylaşır. Bu direncin büyüklüğü yüzeylere ve cismin zemine ne kadar bastırdığına bağlıdır.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14</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Aynı çocuk aynı kaydıraktan bir kez kotla, bir kez kaygan bir eşofmanla kayıyor. Değişen ne?</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01 · Önce gözlemle: sürtünme ne zaman ortaya çıkar?</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15</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Aynı çocuk aynı kaydıraktan bir kez kotla, bir kez kaygan bir eşofmanla kayıyor. Değişen ne?</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Çocuğun ağırlığı da kaydırağın eğimi de aynıdır. Değişen, birbirine değen </a:t>
            </a:r>
            <a:pPr indent="0" marL="0">
              <a:lnSpc>
                <a:spcPct val="125000"/>
              </a:lnSpc>
              <a:buNone/>
            </a:pPr>
            <a:r>
              <a:rPr lang="en-US" sz="2400" b="1" dirty="0">
                <a:solidFill>
                  <a:srgbClr val="5F4BD8"/>
                </a:solidFill>
                <a:latin typeface="Calibri" pitchFamily="34" charset="0"/>
                <a:ea typeface="Calibri" pitchFamily="34" charset="-122"/>
                <a:cs typeface="Calibri" pitchFamily="34" charset="-120"/>
              </a:rPr>
              <a:t>iki yüzeyin</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 kumaş ile metalin — birbirine ne kadar tutunduğudur. Demek ki sürtünme tek bir cismin değil, birbirine değen yüzey çiftinin özelliğidir.</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16</a:t>
            </a:r>
            <a:endParaRPr lang="en-US" sz="10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Sürtünme kuvveti nedir?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7</a:t>
            </a:r>
            <a:endParaRPr lang="en-US" sz="950" dirty="0"/>
          </a:p>
        </p:txBody>
      </p:sp>
      <p:sp>
        <p:nvSpPr>
          <p:cNvPr id="6" name="Text 4"/>
          <p:cNvSpPr txBox="1"/>
          <p:nvPr/>
        </p:nvSpPr>
        <p:spPr>
          <a:xfrm>
            <a:off x="640080" y="1325880"/>
            <a:ext cx="10911535" cy="2110740"/>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Birbirine değen iki yüzey arasında,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bağıl kaymaya zıt yönde</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ortaya çıkan kuvvete sürtünme kuvveti denir.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Yüzeyler çıplak gözle pürüzsüz görünse bile mikroskobik ölçekte girinti çıkıntılıdır; temas noktalarındaki bu kenetlenme ve moleküler yapışma sürtünmeyi doğurur.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17</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Sürtünme kuvveti nedir?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7</a:t>
            </a:r>
            <a:endParaRPr lang="en-US" sz="950" dirty="0"/>
          </a:p>
        </p:txBody>
      </p:sp>
      <p:sp>
        <p:nvSpPr>
          <p:cNvPr id="6" name="Text 4"/>
          <p:cNvSpPr txBox="1"/>
          <p:nvPr/>
        </p:nvSpPr>
        <p:spPr>
          <a:xfrm>
            <a:off x="640080" y="1325880"/>
            <a:ext cx="10911535" cy="2202180"/>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b="1" dirty="0">
                <a:solidFill>
                  <a:srgbClr val="0E1426"/>
                </a:solidFill>
                <a:latin typeface="Calibri" pitchFamily="34" charset="0"/>
                <a:ea typeface="Calibri" pitchFamily="34" charset="-122"/>
                <a:cs typeface="Calibri" pitchFamily="34" charset="-120"/>
              </a:rPr>
              <a:t>Bağıl kayma</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iki yüzeyin birbirine göre kaymasıdır.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Masada duran bir kitaba kimse dokunmuyorsa kaymaya çalışan bir şey yoktur; sürtünme de yoktur.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Kitabı yana doğru ittiğin anda yüzeyler birbirinin üstünden kaymaya "niyetlenir" ve sürtünme belirir.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18</a:t>
            </a:r>
            <a:endParaRPr lang="en-US" sz="10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Sürtünme kuvveti nedir?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7</a:t>
            </a:r>
            <a:endParaRPr lang="en-US" sz="950" dirty="0"/>
          </a:p>
        </p:txBody>
      </p:sp>
      <p:sp>
        <p:nvSpPr>
          <p:cNvPr id="6" name="Text 4"/>
          <p:cNvSpPr txBox="1"/>
          <p:nvPr/>
        </p:nvSpPr>
        <p:spPr>
          <a:xfrm>
            <a:off x="640080" y="1325880"/>
            <a:ext cx="10911535" cy="315620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Sürtünme, zeminin cisme uyguladığı temas kuvvetinin bir parçasıdır.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Bu temas kuvvetini iki bileşene ayırırız.</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Yüzeye dik olan bileşene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normal kuvvet (N)</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denir: zemin, cismin kendi içine batmaması için onu dik olarak iter.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Yüzeye paralel olan bileşen ise sürtünmedir.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Yatay bir zeminde başka düşey kuvvet yoksa normal kuvvet cismin ağırlığına eşittir.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19</a:t>
            </a:r>
            <a:endParaRPr lang="en-US" sz="10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Sürtünme kuvveti nedir?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7</a:t>
            </a:r>
            <a:endParaRPr lang="en-US" sz="950" dirty="0"/>
          </a:p>
        </p:txBody>
      </p:sp>
      <p:sp>
        <p:nvSpPr>
          <p:cNvPr id="6" name="Text 4"/>
          <p:cNvSpPr txBox="1"/>
          <p:nvPr/>
        </p:nvSpPr>
        <p:spPr>
          <a:xfrm>
            <a:off x="640080" y="1325880"/>
            <a:ext cx="10911535" cy="47701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Sürtünme kuvvetinin temel özellikleri şunlardır:</a:t>
            </a:r>
            <a:endParaRPr lang="en-US" sz="2200" dirty="0"/>
          </a:p>
        </p:txBody>
      </p:sp>
      <p:sp>
        <p:nvSpPr>
          <p:cNvPr id="7" name="Text 5"/>
          <p:cNvSpPr txBox="1"/>
          <p:nvPr/>
        </p:nvSpPr>
        <p:spPr>
          <a:xfrm>
            <a:off x="640080" y="2004060"/>
            <a:ext cx="10911535" cy="174650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Yüzeye paraleldir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(normal kuvvet ise yüzeye diktir).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Yönü, cismin kaymakta olduğu ya da kaymaya çalıştığı yönün tersidir.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Çift olarak doğar: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zemin kutuyu geriye çekerken kutu da zemini ileriye sürükler (Newton'un üçüncü yasası).</a:t>
            </a:r>
            <a:endParaRPr lang="en-US" sz="2100" dirty="0"/>
          </a:p>
        </p:txBody>
      </p:sp>
      <p:sp>
        <p:nvSpPr>
          <p:cNvPr id="9" name="Shape 6"/>
          <p:cNvSpPr/>
          <p:nvPr/>
        </p:nvSpPr>
        <p:spPr>
          <a:xfrm>
            <a:off x="640080" y="6382512"/>
            <a:ext cx="128016" cy="128016"/>
          </a:xfrm>
          <a:prstGeom prst="roundRect">
            <a:avLst>
              <a:gd name="adj" fmla="val 28571"/>
            </a:avLst>
          </a:prstGeom>
          <a:solidFill>
            <a:srgbClr val="A9E648"/>
          </a:solidFill>
          <a:ln/>
        </p:spPr>
      </p:sp>
      <p:sp>
        <p:nvSpPr>
          <p:cNvPr id="10"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1"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20</a:t>
            </a:r>
            <a:endParaRPr lang="en-US" sz="10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Sürtünme kuvveti nedir?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7</a:t>
            </a:r>
            <a:endParaRPr lang="en-US" sz="950" dirty="0"/>
          </a:p>
        </p:txBody>
      </p:sp>
      <p:sp>
        <p:nvSpPr>
          <p:cNvPr id="6" name="Shape 4"/>
          <p:cNvSpPr/>
          <p:nvPr/>
        </p:nvSpPr>
        <p:spPr>
          <a:xfrm>
            <a:off x="640080" y="1325880"/>
            <a:ext cx="10911535" cy="1348740"/>
          </a:xfrm>
          <a:prstGeom prst="roundRect">
            <a:avLst>
              <a:gd name="adj" fmla="val 9492"/>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658368" y="1490472"/>
            <a:ext cx="54864" cy="1019556"/>
          </a:xfrm>
          <a:prstGeom prst="rect">
            <a:avLst/>
          </a:prstGeom>
          <a:solidFill>
            <a:srgbClr val="3C8C21"/>
          </a:solidFill>
          <a:ln/>
        </p:spPr>
      </p:sp>
      <p:sp>
        <p:nvSpPr>
          <p:cNvPr id="8" name="Text 6"/>
          <p:cNvSpPr txBox="1"/>
          <p:nvPr/>
        </p:nvSpPr>
        <p:spPr>
          <a:xfrm>
            <a:off x="950976" y="1453896"/>
            <a:ext cx="10399471" cy="1092708"/>
          </a:xfrm>
          <a:prstGeom prst="rect">
            <a:avLst/>
          </a:prstGeom>
          <a:noFill/>
          <a:ln/>
        </p:spPr>
        <p:txBody>
          <a:bodyPr wrap="square" lIns="0" tIns="0" rIns="0" bIns="0" rtlCol="0" anchor="ctr"/>
          <a:lstStyle/>
          <a:p>
            <a:pPr indent="0" marL="0">
              <a:lnSpc>
                <a:spcPct val="114000"/>
              </a:lnSpc>
              <a:buNone/>
            </a:pPr>
            <a:r>
              <a:rPr lang="en-US" sz="1800" b="1" dirty="0">
                <a:solidFill>
                  <a:srgbClr val="0E1426"/>
                </a:solidFill>
                <a:latin typeface="Calibri" pitchFamily="34" charset="0"/>
                <a:ea typeface="Calibri" pitchFamily="34" charset="-122"/>
                <a:cs typeface="Calibri" pitchFamily="34" charset="-120"/>
              </a:rPr>
              <a:t>Dikkat:</a:t>
            </a:r>
            <a:pPr indent="0" marL="0">
              <a:lnSpc>
                <a:spcPct val="114000"/>
              </a:lnSpc>
              <a:buNone/>
            </a:pPr>
            <a:r>
              <a:rPr lang="en-US" sz="1800" dirty="0">
                <a:solidFill>
                  <a:srgbClr val="0E1426"/>
                </a:solidFill>
                <a:latin typeface="Calibri" pitchFamily="34" charset="0"/>
                <a:ea typeface="Calibri" pitchFamily="34" charset="-122"/>
                <a:cs typeface="Calibri" pitchFamily="34" charset="-120"/>
              </a:rPr>
              <a:t> Sürtünme "harekete" değil, </a:t>
            </a:r>
            <a:pPr indent="0" marL="0">
              <a:lnSpc>
                <a:spcPct val="114000"/>
              </a:lnSpc>
              <a:buNone/>
            </a:pPr>
            <a:r>
              <a:rPr lang="en-US" sz="1800" b="1" dirty="0">
                <a:solidFill>
                  <a:srgbClr val="0E1426"/>
                </a:solidFill>
                <a:latin typeface="Calibri" pitchFamily="34" charset="0"/>
                <a:ea typeface="Calibri" pitchFamily="34" charset="-122"/>
                <a:cs typeface="Calibri" pitchFamily="34" charset="-120"/>
              </a:rPr>
              <a:t>bağıl kaymaya</a:t>
            </a:r>
            <a:pPr indent="0" marL="0">
              <a:lnSpc>
                <a:spcPct val="114000"/>
              </a:lnSpc>
              <a:buNone/>
            </a:pPr>
            <a:r>
              <a:rPr lang="en-US" sz="1800" dirty="0">
                <a:solidFill>
                  <a:srgbClr val="0E1426"/>
                </a:solidFill>
                <a:latin typeface="Calibri" pitchFamily="34" charset="0"/>
                <a:ea typeface="Calibri" pitchFamily="34" charset="-122"/>
                <a:cs typeface="Calibri" pitchFamily="34" charset="-120"/>
              </a:rPr>
              <a:t> zıttır. Yürürken ayağın yeri geriye itmeye çalışır; sürtünme de seni </a:t>
            </a:r>
            <a:pPr indent="0" marL="0">
              <a:lnSpc>
                <a:spcPct val="114000"/>
              </a:lnSpc>
              <a:buNone/>
            </a:pPr>
            <a:r>
              <a:rPr lang="en-US" sz="1800" b="1" dirty="0">
                <a:solidFill>
                  <a:srgbClr val="0E1426"/>
                </a:solidFill>
                <a:latin typeface="Calibri" pitchFamily="34" charset="0"/>
                <a:ea typeface="Calibri" pitchFamily="34" charset="-122"/>
                <a:cs typeface="Calibri" pitchFamily="34" charset="-120"/>
              </a:rPr>
              <a:t>ileriye</a:t>
            </a:r>
            <a:pPr indent="0" marL="0">
              <a:lnSpc>
                <a:spcPct val="114000"/>
              </a:lnSpc>
              <a:buNone/>
            </a:pPr>
            <a:r>
              <a:rPr lang="en-US" sz="1800" dirty="0">
                <a:solidFill>
                  <a:srgbClr val="0E1426"/>
                </a:solidFill>
                <a:latin typeface="Calibri" pitchFamily="34" charset="0"/>
                <a:ea typeface="Calibri" pitchFamily="34" charset="-122"/>
                <a:cs typeface="Calibri" pitchFamily="34" charset="-120"/>
              </a:rPr>
              <a:t> iter. Yani sürtünme burada hareketi engellemez, hareketi mümkün kılar.</a:t>
            </a:r>
            <a:endParaRPr lang="en-US" sz="1800" dirty="0"/>
          </a:p>
        </p:txBody>
      </p:sp>
      <p:sp>
        <p:nvSpPr>
          <p:cNvPr id="10" name="Shape 7"/>
          <p:cNvSpPr/>
          <p:nvPr/>
        </p:nvSpPr>
        <p:spPr>
          <a:xfrm>
            <a:off x="640080" y="6382512"/>
            <a:ext cx="128016" cy="128016"/>
          </a:xfrm>
          <a:prstGeom prst="roundRect">
            <a:avLst>
              <a:gd name="adj" fmla="val 28571"/>
            </a:avLst>
          </a:prstGeom>
          <a:solidFill>
            <a:srgbClr val="A9E648"/>
          </a:solidFill>
          <a:ln/>
        </p:spPr>
      </p:sp>
      <p:sp>
        <p:nvSpPr>
          <p:cNvPr id="11"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2"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21</a:t>
            </a:r>
            <a:endParaRPr lang="en-US" sz="10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Sürtünme kuvveti nedir?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6 / 7</a:t>
            </a:r>
            <a:endParaRPr lang="en-US" sz="950" dirty="0"/>
          </a:p>
        </p:txBody>
      </p:sp>
      <p:sp>
        <p:nvSpPr>
          <p:cNvPr id="6" name="Text 4"/>
          <p:cNvSpPr txBox="1"/>
          <p:nvPr/>
        </p:nvSpPr>
        <p:spPr>
          <a:xfrm>
            <a:off x="640080" y="1325880"/>
            <a:ext cx="10911535" cy="2202180"/>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Cilalı bir çelik yüzey bile mikroskop altında sıradağlara benzer.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Üst üste konan iki yüzey yalnızca en yüksek tepelerinde birbirine değer ve bu noktalarda atomlar arasında bağlar kurulur.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Cismi kaydırmak için bu bağları koparman gerekir; araya giren yağ tepelerin doğrudan değmesini engellediği için sürtünmeyi azaltır.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22</a:t>
            </a:r>
            <a:endParaRPr lang="en-US" sz="10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Sürtünme kuvveti nedir?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7 / 7</a:t>
            </a:r>
            <a:endParaRPr lang="en-US" sz="950" dirty="0"/>
          </a:p>
        </p:txBody>
      </p:sp>
      <p:sp>
        <p:nvSpPr>
          <p:cNvPr id="6" name="Shape 4"/>
          <p:cNvSpPr/>
          <p:nvPr/>
        </p:nvSpPr>
        <p:spPr>
          <a:xfrm>
            <a:off x="1834822" y="1234440"/>
            <a:ext cx="8522052" cy="3643884"/>
          </a:xfrm>
          <a:prstGeom prst="roundRect">
            <a:avLst>
              <a:gd name="adj" fmla="val 401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dersler-sekiller/surtunme-kuvveti-02.png">    </p:cNvPr>
          <p:cNvPicPr>
            <a:picLocks noChangeAspect="1"/>
          </p:cNvPicPr>
          <p:nvPr/>
        </p:nvPicPr>
        <p:blipFill>
          <a:blip r:embed="rId1"/>
          <a:stretch>
            <a:fillRect/>
          </a:stretch>
        </p:blipFill>
        <p:spPr>
          <a:xfrm>
            <a:off x="2063422" y="1325880"/>
            <a:ext cx="8064852" cy="3461004"/>
          </a:xfrm>
          <a:prstGeom prst="rect">
            <a:avLst/>
          </a:prstGeom>
        </p:spPr>
      </p:pic>
      <p:sp>
        <p:nvSpPr>
          <p:cNvPr id="8" name="Text 5"/>
          <p:cNvSpPr txBox="1"/>
          <p:nvPr/>
        </p:nvSpPr>
        <p:spPr>
          <a:xfrm>
            <a:off x="1249528" y="5061204"/>
            <a:ext cx="9692640" cy="1083564"/>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Sürtünme kuvveti daima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yüzeye paraleldir</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ve cismin kaymakta olduğu (ya da kaymaya çalıştığı) yönün tersine bakar. Kaynağı, en pürüzsüz görünen yüzeylerde bile bulunan mikroskobik girinti-çıkıntıların birbirine takılması ve temas noktalarındaki moleküler yapışmadır. Bu yüzden sürtünmeyi azaltmak için yüzeyi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cilalamak</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ya da araya yağ koymak işe yarar.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23</a:t>
            </a:r>
            <a:endParaRPr lang="en-US" sz="10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Sürtünme kuvveti nedir?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3C8C21"/>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3C8C21"/>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Sürtünme, birbirine değen yüzeyler arasında yüzeye paralel ve bağıl kaymaya zıt yönde oluşan kuvvettir. Kaynağı mikroskobik pürüzlerin kenetlenmesi ve temas noktalarındaki moleküler yapışmadır.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24</a:t>
            </a:r>
            <a:endParaRPr lang="en-US" sz="10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Durgunken ve kayarken: iki tür sürtünme</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6</a:t>
            </a:r>
            <a:endParaRPr lang="en-US" sz="950" dirty="0"/>
          </a:p>
        </p:txBody>
      </p:sp>
      <p:sp>
        <p:nvSpPr>
          <p:cNvPr id="6" name="Text 4"/>
          <p:cNvSpPr txBox="1"/>
          <p:nvPr/>
        </p:nvSpPr>
        <p:spPr>
          <a:xfrm>
            <a:off x="640080" y="1325880"/>
            <a:ext cx="10911535" cy="258775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Cisim henüz hareket etmiyorken ortaya çıkan sürtünmeye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statik sürtünme</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denir.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Bu kuvvetin en ilginç yanı,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sabit bir değeri olmamasıdır</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uygulanan kuvvet ne kadarsa, statik sürtünme de o kadar büyür ve onu tam olarak dengeler.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Kısacası statik sürtünme sana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ayak uydurur</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25</a:t>
            </a:r>
            <a:endParaRPr lang="en-US" sz="10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Durgunken ve kayarken: iki tür sürtünme</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6</a:t>
            </a:r>
            <a:endParaRPr lang="en-US" sz="950" dirty="0"/>
          </a:p>
        </p:txBody>
      </p:sp>
      <p:sp>
        <p:nvSpPr>
          <p:cNvPr id="6" name="Text 4"/>
          <p:cNvSpPr txBox="1"/>
          <p:nvPr/>
        </p:nvSpPr>
        <p:spPr>
          <a:xfrm>
            <a:off x="640080" y="1325880"/>
            <a:ext cx="10911535" cy="2110740"/>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Bunu, bir kapıyı öbür taraftan tutan birine benzetebilirsin: sen ne kadar itersen o da o kadar karşı koyar ve kapı kıpırdamaz; ama onun gücü de sınırlıdır.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Statik sürtünmenin de böyle bir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üst sınırı</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(eşiği) vardır: uygulanan kuvvet bu eşiği geçtiği anda denge bozulur ve cisim kaymaya başlar.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26</a:t>
            </a:r>
            <a:endParaRPr lang="en-US" sz="10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Durgunken ve kayarken: iki tür sürtünme</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6</a:t>
            </a:r>
            <a:endParaRPr lang="en-US" sz="950" dirty="0"/>
          </a:p>
        </p:txBody>
      </p:sp>
      <p:sp>
        <p:nvSpPr>
          <p:cNvPr id="6" name="Text 4"/>
          <p:cNvSpPr txBox="1"/>
          <p:nvPr/>
        </p:nvSpPr>
        <p:spPr>
          <a:xfrm>
            <a:off x="640080" y="1325880"/>
            <a:ext cx="10911535" cy="258775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Cisim kaymaya başladığı anda devreye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kinetik (hareket) sürtünmesi</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girer.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Kinetik sürtünme artık uygulanan kuvvete ayak uydurmaz; yaklaşık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sabittir</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ve genellikle statik sürtünmenin eşiğinden küçüktür.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Nedeni sezgiyle anlaşılır: durgun yüzeylerde pürüzler birbirine iyice oturur ve temas noktalarında bağlar kurulmaya zaman bulur; kayarken ise pürüzler tam yerleşemeden birbirinin üstünden atlar.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27</a:t>
            </a:r>
            <a:endParaRPr lang="en-US" sz="10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Durgunken ve kayarken: iki tür sürtünme</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6</a:t>
            </a:r>
            <a:endParaRPr lang="en-US" sz="950" dirty="0"/>
          </a:p>
        </p:txBody>
      </p:sp>
      <p:sp>
        <p:nvSpPr>
          <p:cNvPr id="6" name="Text 4"/>
          <p:cNvSpPr txBox="1"/>
          <p:nvPr/>
        </p:nvSpPr>
        <p:spPr>
          <a:xfrm>
            <a:off x="640080" y="1325880"/>
            <a:ext cx="10911535" cy="133959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Sayfanın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01</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numaralı laboratuvarındaki 10 kg'lık ahşap kutu için ekranda statik eşik 49,1 N, kinetik sürtünme 34,3 N yazar.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Kuvveti yavaşça artırdığında olanlar: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28</a:t>
            </a:r>
            <a:endParaRPr lang="en-US" sz="10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Durgunken ve kayarken: iki tür sürtünme</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6</a:t>
            </a:r>
            <a:endParaRPr lang="en-US" sz="95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640080" y="1325880"/>
          <a:ext cx="10911535" cy="914400"/>
        </p:xfrm>
        <a:graphic>
          <a:graphicData uri="http://schemas.openxmlformats.org/drawingml/2006/table">
            <a:tbl>
              <a:tblPr/>
              <a:tblGrid>
                <a:gridCol w="3294048"/>
                <a:gridCol w="1647024"/>
                <a:gridCol w="5970463"/>
              </a:tblGrid>
              <a:tr h="418338">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Uygulanan kuvvet</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Sürtünme</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Kutu ne yapar?</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0 N</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0 N</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Durur</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20 N</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20 N</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Durur</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40 N</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40 N</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Durur</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49 N</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49 N</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Tam sınırda, kıpırdamak üzere</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60 N</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34,3 N</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Kayar; net kuvvet 25,7 N</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bl>
          </a:graphicData>
        </a:graphic>
      </p:graphicFrame>
      <p:sp>
        <p:nvSpPr>
          <p:cNvPr id="8" name="Shape 4"/>
          <p:cNvSpPr/>
          <p:nvPr/>
        </p:nvSpPr>
        <p:spPr>
          <a:xfrm>
            <a:off x="640080" y="6382512"/>
            <a:ext cx="128016" cy="128016"/>
          </a:xfrm>
          <a:prstGeom prst="roundRect">
            <a:avLst>
              <a:gd name="adj" fmla="val 28571"/>
            </a:avLst>
          </a:prstGeom>
          <a:solidFill>
            <a:srgbClr val="A9E648"/>
          </a:solidFill>
          <a:ln/>
        </p:spPr>
      </p:sp>
      <p:sp>
        <p:nvSpPr>
          <p:cNvPr id="9" name="Text 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0" name="Text 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29</a:t>
            </a:r>
            <a:endParaRPr lang="en-US" sz="10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Durgunken ve kayarken: iki tür sürtünme</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6 / 6</a:t>
            </a:r>
            <a:endParaRPr lang="en-US" sz="950" dirty="0"/>
          </a:p>
        </p:txBody>
      </p:sp>
      <p:sp>
        <p:nvSpPr>
          <p:cNvPr id="6" name="Shape 4"/>
          <p:cNvSpPr/>
          <p:nvPr/>
        </p:nvSpPr>
        <p:spPr>
          <a:xfrm>
            <a:off x="1096144" y="1234440"/>
            <a:ext cx="9999406" cy="3880485"/>
          </a:xfrm>
          <a:prstGeom prst="roundRect">
            <a:avLst>
              <a:gd name="adj" fmla="val 377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dersler-sekiller/surtunme-kuvveti-03.png">    </p:cNvPr>
          <p:cNvPicPr>
            <a:picLocks noChangeAspect="1"/>
          </p:cNvPicPr>
          <p:nvPr/>
        </p:nvPicPr>
        <p:blipFill>
          <a:blip r:embed="rId1"/>
          <a:stretch>
            <a:fillRect/>
          </a:stretch>
        </p:blipFill>
        <p:spPr>
          <a:xfrm>
            <a:off x="1324744" y="1325880"/>
            <a:ext cx="9542206" cy="3697605"/>
          </a:xfrm>
          <a:prstGeom prst="rect">
            <a:avLst/>
          </a:prstGeom>
        </p:spPr>
      </p:pic>
      <p:sp>
        <p:nvSpPr>
          <p:cNvPr id="8" name="Text 5"/>
          <p:cNvSpPr txBox="1"/>
          <p:nvPr/>
        </p:nvSpPr>
        <p:spPr>
          <a:xfrm>
            <a:off x="1249528" y="5297805"/>
            <a:ext cx="9692640" cy="846963"/>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Statik sürtünme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sabit bir sayı değildir</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uygulanan kuvvet ne kadarsa o kadar ortaya çıkar ve cismi tam olarak dengede tutar. Ancak bir üst sınırı vardır (μs·N). Üçüncü karede kuvvet bu sınırı aşmıştır; cisim kurtulur ve sürtünme,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daha küçük</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olan kinetik değerine düşer. Kırmızı ok bu yüzden üçüncü karede kısalır.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30</a:t>
            </a:r>
            <a:endParaRPr lang="en-US" sz="10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Durgunken ve kayarken: iki tür sürtünme</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3C8C21"/>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3C8C21"/>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Durgun cisimde statik sürtünme uygulanan kuvvete eşittir ve bir eşiğe kadar büyüyebilir. Eşik aşılınca cisim kayar ve sürtünme daha küçük, yaklaşık sabit olan kinetik değere düşer.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31</a:t>
            </a:r>
            <a:endParaRPr lang="en-US" sz="10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Yerde duran bir kutuyu hiç itmiyorsan, kutuya etki eden sürtünme kuvveti kaç N'dur?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03 · Durgunken ve kayarken: iki tür sürtünme</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32</a:t>
            </a:r>
            <a:endParaRPr lang="en-US" sz="10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Yerde duran bir kutuyu hiç itmiyorsan, kutuya etki eden sürtünme kuvveti kaç N'dur?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b="1" dirty="0">
                <a:solidFill>
                  <a:srgbClr val="5F4BD8"/>
                </a:solidFill>
                <a:latin typeface="Calibri" pitchFamily="34" charset="0"/>
                <a:ea typeface="Calibri" pitchFamily="34" charset="-122"/>
                <a:cs typeface="Calibri" pitchFamily="34" charset="-120"/>
              </a:rPr>
              <a:t>Sıfır.</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Statik sürtünme yalnızca kaydırmaya çalışan bir kuvvet varken ve o kuvvet kadar ortaya çıkar. Kimse itmiyorsa kutunun kaymaya çalıştığı bir yön yoktur, sürtünmenin karşı koyacağı bir şey de yoktur. Eşik, sürtünmenin alabileceği en büyük değerdir; her an etki eden değer değildir.</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33</a:t>
            </a:r>
            <a:endParaRPr lang="en-US" sz="10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82AAFF"/>
                </a:solidFill>
                <a:latin typeface="Cambria" pitchFamily="34" charset="0"/>
                <a:ea typeface="Cambria" pitchFamily="34" charset="-122"/>
                <a:cs typeface="Cambria" pitchFamily="34" charset="-120"/>
              </a:rPr>
              <a:t>2</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82AAFF"/>
                </a:solidFill>
                <a:latin typeface="Calibri" pitchFamily="34" charset="0"/>
                <a:ea typeface="Calibri" pitchFamily="34" charset="-122"/>
                <a:cs typeface="Calibri" pitchFamily="34" charset="-120"/>
              </a:rPr>
              <a:t>BASAMAK 2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Orta</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600" dirty="0">
                <a:solidFill>
                  <a:srgbClr val="C3CEE8"/>
                </a:solidFill>
                <a:latin typeface="Calibri" pitchFamily="34" charset="0"/>
                <a:ea typeface="Calibri" pitchFamily="34" charset="-122"/>
                <a:cs typeface="Calibri" pitchFamily="34" charset="-120"/>
              </a:rPr>
              <a:t>Bağıntılar: eşiği sayıyla yaz, katsayıyı tanı; sonra eğik düzlemde ve frenlemede sürtünmeyi adım adım hesapla.</a:t>
            </a:r>
            <a:endParaRPr lang="en-US" sz="1600" dirty="0"/>
          </a:p>
        </p:txBody>
      </p:sp>
      <p:sp>
        <p:nvSpPr>
          <p:cNvPr id="6" name="Text 4"/>
          <p:cNvSpPr txBox="1"/>
          <p:nvPr/>
        </p:nvSpPr>
        <p:spPr>
          <a:xfrm>
            <a:off x="731520" y="4572000"/>
            <a:ext cx="5120640" cy="320040"/>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04   </a:t>
            </a:r>
            <a:pPr indent="0" marL="0">
              <a:buNone/>
            </a:pPr>
            <a:r>
              <a:rPr lang="en-US" sz="1300" dirty="0">
                <a:solidFill>
                  <a:srgbClr val="FFFFFF"/>
                </a:solidFill>
                <a:latin typeface="Calibri" pitchFamily="34" charset="0"/>
                <a:ea typeface="Calibri" pitchFamily="34" charset="-122"/>
                <a:cs typeface="Calibri" pitchFamily="34" charset="-120"/>
              </a:rPr>
              <a:t>Sürtünme katsayısı ve temel bağıntılar</a:t>
            </a:r>
            <a:endParaRPr lang="en-US" sz="1300" dirty="0"/>
          </a:p>
        </p:txBody>
      </p:sp>
      <p:sp>
        <p:nvSpPr>
          <p:cNvPr id="7" name="Text 5"/>
          <p:cNvSpPr txBox="1"/>
          <p:nvPr/>
        </p:nvSpPr>
        <p:spPr>
          <a:xfrm>
            <a:off x="731520" y="4892040"/>
            <a:ext cx="5120640" cy="320040"/>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05   </a:t>
            </a:r>
            <a:pPr indent="0" marL="0">
              <a:buNone/>
            </a:pPr>
            <a:r>
              <a:rPr lang="en-US" sz="1300" dirty="0">
                <a:solidFill>
                  <a:srgbClr val="FFFFFF"/>
                </a:solidFill>
                <a:latin typeface="Calibri" pitchFamily="34" charset="0"/>
                <a:ea typeface="Calibri" pitchFamily="34" charset="-122"/>
                <a:cs typeface="Calibri" pitchFamily="34" charset="-120"/>
              </a:rPr>
              <a:t>Sürtünme neye bağlı, neye bağlı değil?</a:t>
            </a:r>
            <a:endParaRPr lang="en-US" sz="1300" dirty="0"/>
          </a:p>
        </p:txBody>
      </p:sp>
      <p:sp>
        <p:nvSpPr>
          <p:cNvPr id="8" name="Text 6"/>
          <p:cNvSpPr txBox="1"/>
          <p:nvPr/>
        </p:nvSpPr>
        <p:spPr>
          <a:xfrm>
            <a:off x="731520" y="5212080"/>
            <a:ext cx="5120640" cy="320040"/>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06   </a:t>
            </a:r>
            <a:pPr indent="0" marL="0">
              <a:buNone/>
            </a:pPr>
            <a:r>
              <a:rPr lang="en-US" sz="1300" dirty="0">
                <a:solidFill>
                  <a:srgbClr val="FFFFFF"/>
                </a:solidFill>
                <a:latin typeface="Calibri" pitchFamily="34" charset="0"/>
                <a:ea typeface="Calibri" pitchFamily="34" charset="-122"/>
                <a:cs typeface="Calibri" pitchFamily="34" charset="-120"/>
              </a:rPr>
              <a:t>Sayılarla hisset: ne kadar kuvvet, ne kadar yavaşlama?</a:t>
            </a:r>
            <a:endParaRPr lang="en-US" sz="1300" dirty="0"/>
          </a:p>
        </p:txBody>
      </p:sp>
      <p:sp>
        <p:nvSpPr>
          <p:cNvPr id="9" name="Text 7"/>
          <p:cNvSpPr txBox="1"/>
          <p:nvPr/>
        </p:nvSpPr>
        <p:spPr>
          <a:xfrm>
            <a:off x="731520" y="5532120"/>
            <a:ext cx="5120640" cy="320040"/>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07   </a:t>
            </a:r>
            <a:pPr indent="0" marL="0">
              <a:buNone/>
            </a:pPr>
            <a:r>
              <a:rPr lang="en-US" sz="1300" dirty="0">
                <a:solidFill>
                  <a:srgbClr val="FFFFFF"/>
                </a:solidFill>
                <a:latin typeface="Calibri" pitchFamily="34" charset="0"/>
                <a:ea typeface="Calibri" pitchFamily="34" charset="-122"/>
                <a:cs typeface="Calibri" pitchFamily="34" charset="-120"/>
              </a:rPr>
              <a:t>Eğik düzlemde sürtünme</a:t>
            </a:r>
            <a:endParaRPr lang="en-US" sz="1300" dirty="0"/>
          </a:p>
        </p:txBody>
      </p:sp>
      <p:sp>
        <p:nvSpPr>
          <p:cNvPr id="10" name="Text 8"/>
          <p:cNvSpPr txBox="1"/>
          <p:nvPr/>
        </p:nvSpPr>
        <p:spPr>
          <a:xfrm>
            <a:off x="731520" y="5852160"/>
            <a:ext cx="5120640" cy="320040"/>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08   </a:t>
            </a:r>
            <a:pPr indent="0" marL="0">
              <a:buNone/>
            </a:pPr>
            <a:r>
              <a:rPr lang="en-US" sz="1300" dirty="0">
                <a:solidFill>
                  <a:srgbClr val="FFFFFF"/>
                </a:solidFill>
                <a:latin typeface="Calibri" pitchFamily="34" charset="0"/>
                <a:ea typeface="Calibri" pitchFamily="34" charset="-122"/>
                <a:cs typeface="Calibri" pitchFamily="34" charset="-120"/>
              </a:rPr>
              <a:t>Fren mesafesi ve trafik</a:t>
            </a:r>
            <a:endParaRPr lang="en-US" sz="1300" dirty="0"/>
          </a:p>
        </p:txBody>
      </p:sp>
      <p:sp>
        <p:nvSpPr>
          <p:cNvPr id="11" name="Text 9"/>
          <p:cNvSpPr txBox="1"/>
          <p:nvPr/>
        </p:nvSpPr>
        <p:spPr>
          <a:xfrm>
            <a:off x="6172200" y="1097280"/>
            <a:ext cx="5379415"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TEMEL BAĞINTILAR</a:t>
            </a:r>
            <a:endParaRPr lang="en-US" sz="1050" dirty="0"/>
          </a:p>
        </p:txBody>
      </p:sp>
      <p:sp>
        <p:nvSpPr>
          <p:cNvPr id="12" name="Shape 10"/>
          <p:cNvSpPr/>
          <p:nvPr/>
        </p:nvSpPr>
        <p:spPr>
          <a:xfrm>
            <a:off x="6172200" y="1481328"/>
            <a:ext cx="5379415" cy="731520"/>
          </a:xfrm>
          <a:prstGeom prst="roundRect">
            <a:avLst>
              <a:gd name="adj" fmla="val 12500"/>
            </a:avLst>
          </a:prstGeom>
          <a:solidFill>
            <a:srgbClr val="1C2542"/>
          </a:solidFill>
          <a:ln w="9525">
            <a:solidFill>
              <a:srgbClr val="2C3860"/>
            </a:solidFill>
            <a:prstDash val="solid"/>
          </a:ln>
        </p:spPr>
      </p:sp>
      <p:sp>
        <p:nvSpPr>
          <p:cNvPr id="13" name="Text 11"/>
          <p:cNvSpPr txBox="1"/>
          <p:nvPr/>
        </p:nvSpPr>
        <p:spPr>
          <a:xfrm>
            <a:off x="6400800" y="1481328"/>
            <a:ext cx="1645920"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fs ≤ μs · N</a:t>
            </a:r>
            <a:endParaRPr lang="en-US" sz="1500" dirty="0"/>
          </a:p>
        </p:txBody>
      </p:sp>
      <p:sp>
        <p:nvSpPr>
          <p:cNvPr id="14" name="Text 12"/>
          <p:cNvSpPr txBox="1"/>
          <p:nvPr/>
        </p:nvSpPr>
        <p:spPr>
          <a:xfrm>
            <a:off x="8138160" y="1481328"/>
            <a:ext cx="3230575"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statik: eşiğe kadar dengeler</a:t>
            </a:r>
            <a:endParaRPr lang="en-US" sz="1200" dirty="0"/>
          </a:p>
        </p:txBody>
      </p:sp>
      <p:sp>
        <p:nvSpPr>
          <p:cNvPr id="15" name="Shape 13"/>
          <p:cNvSpPr/>
          <p:nvPr/>
        </p:nvSpPr>
        <p:spPr>
          <a:xfrm>
            <a:off x="6172200" y="2350008"/>
            <a:ext cx="5379415" cy="731520"/>
          </a:xfrm>
          <a:prstGeom prst="roundRect">
            <a:avLst>
              <a:gd name="adj" fmla="val 12500"/>
            </a:avLst>
          </a:prstGeom>
          <a:solidFill>
            <a:srgbClr val="1C2542"/>
          </a:solidFill>
          <a:ln w="9525">
            <a:solidFill>
              <a:srgbClr val="2C3860"/>
            </a:solidFill>
            <a:prstDash val="solid"/>
          </a:ln>
        </p:spPr>
      </p:sp>
      <p:sp>
        <p:nvSpPr>
          <p:cNvPr id="16" name="Text 14"/>
          <p:cNvSpPr txBox="1"/>
          <p:nvPr/>
        </p:nvSpPr>
        <p:spPr>
          <a:xfrm>
            <a:off x="6400800" y="2350008"/>
            <a:ext cx="1645920"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fk = μk · N</a:t>
            </a:r>
            <a:endParaRPr lang="en-US" sz="1500" dirty="0"/>
          </a:p>
        </p:txBody>
      </p:sp>
      <p:sp>
        <p:nvSpPr>
          <p:cNvPr id="17" name="Text 15"/>
          <p:cNvSpPr txBox="1"/>
          <p:nvPr/>
        </p:nvSpPr>
        <p:spPr>
          <a:xfrm>
            <a:off x="8138160" y="2350008"/>
            <a:ext cx="3230575"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kinetik: sabit</a:t>
            </a:r>
            <a:endParaRPr lang="en-US" sz="1200" dirty="0"/>
          </a:p>
        </p:txBody>
      </p:sp>
      <p:sp>
        <p:nvSpPr>
          <p:cNvPr id="18" name="Shape 16"/>
          <p:cNvSpPr/>
          <p:nvPr/>
        </p:nvSpPr>
        <p:spPr>
          <a:xfrm>
            <a:off x="6172200" y="3218688"/>
            <a:ext cx="5379415" cy="731520"/>
          </a:xfrm>
          <a:prstGeom prst="roundRect">
            <a:avLst>
              <a:gd name="adj" fmla="val 12500"/>
            </a:avLst>
          </a:prstGeom>
          <a:solidFill>
            <a:srgbClr val="1C2542"/>
          </a:solidFill>
          <a:ln w="9525">
            <a:solidFill>
              <a:srgbClr val="2C3860"/>
            </a:solidFill>
            <a:prstDash val="solid"/>
          </a:ln>
        </p:spPr>
      </p:sp>
      <p:sp>
        <p:nvSpPr>
          <p:cNvPr id="19" name="Text 17"/>
          <p:cNvSpPr txBox="1"/>
          <p:nvPr/>
        </p:nvSpPr>
        <p:spPr>
          <a:xfrm>
            <a:off x="6400800" y="3218688"/>
            <a:ext cx="1645920"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tanθ = μs</a:t>
            </a:r>
            <a:endParaRPr lang="en-US" sz="1500" dirty="0"/>
          </a:p>
        </p:txBody>
      </p:sp>
      <p:sp>
        <p:nvSpPr>
          <p:cNvPr id="20" name="Text 18"/>
          <p:cNvSpPr txBox="1"/>
          <p:nvPr/>
        </p:nvSpPr>
        <p:spPr>
          <a:xfrm>
            <a:off x="8138160" y="3218688"/>
            <a:ext cx="3230575"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kaymanın başladığı açı</a:t>
            </a:r>
            <a:endParaRPr lang="en-US" sz="1200" dirty="0"/>
          </a:p>
        </p:txBody>
      </p:sp>
      <p:sp>
        <p:nvSpPr>
          <p:cNvPr id="21" name="Shape 19"/>
          <p:cNvSpPr/>
          <p:nvPr/>
        </p:nvSpPr>
        <p:spPr>
          <a:xfrm>
            <a:off x="6172200" y="4087368"/>
            <a:ext cx="5379415" cy="731520"/>
          </a:xfrm>
          <a:prstGeom prst="roundRect">
            <a:avLst>
              <a:gd name="adj" fmla="val 12500"/>
            </a:avLst>
          </a:prstGeom>
          <a:solidFill>
            <a:srgbClr val="1C2542"/>
          </a:solidFill>
          <a:ln w="9525">
            <a:solidFill>
              <a:srgbClr val="2C3860"/>
            </a:solidFill>
            <a:prstDash val="solid"/>
          </a:ln>
        </p:spPr>
      </p:sp>
      <p:sp>
        <p:nvSpPr>
          <p:cNvPr id="22" name="Text 20"/>
          <p:cNvSpPr txBox="1"/>
          <p:nvPr/>
        </p:nvSpPr>
        <p:spPr>
          <a:xfrm>
            <a:off x="6400800" y="4087368"/>
            <a:ext cx="2176272"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d = v² / (2·μ·g)</a:t>
            </a:r>
            <a:endParaRPr lang="en-US" sz="1500" dirty="0"/>
          </a:p>
        </p:txBody>
      </p:sp>
      <p:sp>
        <p:nvSpPr>
          <p:cNvPr id="23" name="Text 21"/>
          <p:cNvSpPr txBox="1"/>
          <p:nvPr/>
        </p:nvSpPr>
        <p:spPr>
          <a:xfrm>
            <a:off x="8668512" y="4087368"/>
            <a:ext cx="2700223"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fren mesafesi</a:t>
            </a:r>
            <a:endParaRPr lang="en-US" sz="1200" dirty="0"/>
          </a:p>
        </p:txBody>
      </p:sp>
      <p:sp>
        <p:nvSpPr>
          <p:cNvPr id="24" name="Shape 22"/>
          <p:cNvSpPr/>
          <p:nvPr/>
        </p:nvSpPr>
        <p:spPr>
          <a:xfrm>
            <a:off x="640080" y="6382512"/>
            <a:ext cx="128016" cy="128016"/>
          </a:xfrm>
          <a:prstGeom prst="roundRect">
            <a:avLst>
              <a:gd name="adj" fmla="val 28571"/>
            </a:avLst>
          </a:prstGeom>
          <a:solidFill>
            <a:srgbClr val="C6F36B"/>
          </a:solidFill>
          <a:ln/>
        </p:spPr>
      </p:sp>
      <p:sp>
        <p:nvSpPr>
          <p:cNvPr id="25" name="Text 23"/>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dersler.perinet.org/surtunme-kuvveti.html</a:t>
            </a:r>
            <a:endParaRPr lang="en-US" sz="1050" dirty="0"/>
          </a:p>
        </p:txBody>
      </p:sp>
      <p:sp>
        <p:nvSpPr>
          <p:cNvPr id="26" name="Text 24"/>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34</a:t>
            </a:r>
            <a:endParaRPr lang="en-US" sz="10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Sürtünme katsayısı ve temel bağıntılar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8</a:t>
            </a:r>
            <a:endParaRPr lang="en-US" sz="950" dirty="0"/>
          </a:p>
        </p:txBody>
      </p:sp>
      <p:sp>
        <p:nvSpPr>
          <p:cNvPr id="6" name="Text 4"/>
          <p:cNvSpPr txBox="1"/>
          <p:nvPr/>
        </p:nvSpPr>
        <p:spPr>
          <a:xfrm>
            <a:off x="640080" y="1325880"/>
            <a:ext cx="10911535" cy="306476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Birinci basamakta "eşik" dediğimiz sınırın ne kadar olduğunu şimdi yazabiliriz.</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Deneyler, eşiğin normal kuvvetle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doğru orantılı</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olduğunu gösterir: N iki katına çıkınca eşik de iki katına çıkar.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Bu orantının sabitine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statik sürtünme katsayısı</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(μ</a:t>
            </a:r>
            <a:pPr indent="0" marL="0">
              <a:lnSpc>
                <a:spcPct val="115000"/>
              </a:lnSpc>
              <a:buNone/>
            </a:pPr>
            <a:r>
              <a:rPr lang="en-US" sz="2200" baseline="-40000" dirty="0">
                <a:solidFill>
                  <a:srgbClr val="0E1426"/>
                </a:solidFill>
                <a:latin typeface="Calibri" pitchFamily="34" charset="0"/>
                <a:ea typeface="Calibri" pitchFamily="34" charset="-122"/>
                <a:cs typeface="Calibri" pitchFamily="34" charset="-120"/>
              </a:rPr>
              <a:t>s</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denir.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Cisim durduğu sürece statik sürtünme uygulanan kuvvete eşittir, ama μ</a:t>
            </a:r>
            <a:pPr indent="0" marL="0">
              <a:lnSpc>
                <a:spcPct val="115000"/>
              </a:lnSpc>
              <a:buNone/>
            </a:pPr>
            <a:r>
              <a:rPr lang="en-US" sz="2200" baseline="-40000" dirty="0">
                <a:solidFill>
                  <a:srgbClr val="0E1426"/>
                </a:solidFill>
                <a:latin typeface="Calibri" pitchFamily="34" charset="0"/>
                <a:ea typeface="Calibri" pitchFamily="34" charset="-122"/>
                <a:cs typeface="Calibri" pitchFamily="34" charset="-120"/>
              </a:rPr>
              <a:t>s</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·N'yi aşamaz:</a:t>
            </a:r>
            <a:endParaRPr lang="en-US" sz="2200" dirty="0"/>
          </a:p>
        </p:txBody>
      </p:sp>
      <p:sp>
        <p:nvSpPr>
          <p:cNvPr id="7" name="Shape 5"/>
          <p:cNvSpPr/>
          <p:nvPr/>
        </p:nvSpPr>
        <p:spPr>
          <a:xfrm>
            <a:off x="640080" y="4591812"/>
            <a:ext cx="2633472" cy="585216"/>
          </a:xfrm>
          <a:prstGeom prst="roundRect">
            <a:avLst>
              <a:gd name="adj" fmla="val 18750"/>
            </a:avLst>
          </a:prstGeom>
          <a:solidFill>
            <a:srgbClr val="EEF2FC"/>
          </a:solidFill>
          <a:ln w="9525">
            <a:solidFill>
              <a:srgbClr val="CBD7F4"/>
            </a:solidFill>
            <a:prstDash val="solid"/>
          </a:ln>
        </p:spPr>
      </p:sp>
      <p:sp>
        <p:nvSpPr>
          <p:cNvPr id="8" name="Text 6"/>
          <p:cNvSpPr txBox="1"/>
          <p:nvPr/>
        </p:nvSpPr>
        <p:spPr>
          <a:xfrm>
            <a:off x="640080" y="4591812"/>
            <a:ext cx="2633472"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fs = Fuygulanan</a:t>
            </a:r>
            <a:endParaRPr lang="en-US" sz="1800" dirty="0"/>
          </a:p>
        </p:txBody>
      </p:sp>
      <p:sp>
        <p:nvSpPr>
          <p:cNvPr id="9" name="Shape 7"/>
          <p:cNvSpPr/>
          <p:nvPr/>
        </p:nvSpPr>
        <p:spPr>
          <a:xfrm>
            <a:off x="3419856" y="4591812"/>
            <a:ext cx="2077517" cy="585216"/>
          </a:xfrm>
          <a:prstGeom prst="roundRect">
            <a:avLst>
              <a:gd name="adj" fmla="val 18750"/>
            </a:avLst>
          </a:prstGeom>
          <a:solidFill>
            <a:srgbClr val="EEF2FC"/>
          </a:solidFill>
          <a:ln w="9525">
            <a:solidFill>
              <a:srgbClr val="CBD7F4"/>
            </a:solidFill>
            <a:prstDash val="solid"/>
          </a:ln>
        </p:spPr>
      </p:sp>
      <p:sp>
        <p:nvSpPr>
          <p:cNvPr id="10" name="Text 8"/>
          <p:cNvSpPr txBox="1"/>
          <p:nvPr/>
        </p:nvSpPr>
        <p:spPr>
          <a:xfrm>
            <a:off x="3419856" y="4591812"/>
            <a:ext cx="2077517"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fs ≤ μs · N</a:t>
            </a:r>
            <a:endParaRPr lang="en-US" sz="1800" dirty="0"/>
          </a:p>
        </p:txBody>
      </p:sp>
      <p:sp>
        <p:nvSpPr>
          <p:cNvPr id="12" name="Shape 9"/>
          <p:cNvSpPr/>
          <p:nvPr/>
        </p:nvSpPr>
        <p:spPr>
          <a:xfrm>
            <a:off x="640080" y="6382512"/>
            <a:ext cx="128016" cy="128016"/>
          </a:xfrm>
          <a:prstGeom prst="roundRect">
            <a:avLst>
              <a:gd name="adj" fmla="val 28571"/>
            </a:avLst>
          </a:prstGeom>
          <a:solidFill>
            <a:srgbClr val="A9E648"/>
          </a:solidFill>
          <a:ln/>
        </p:spPr>
      </p:sp>
      <p:sp>
        <p:nvSpPr>
          <p:cNvPr id="13" name="Text 10"/>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4" name="Text 11"/>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35</a:t>
            </a:r>
            <a:endParaRPr lang="en-US" sz="10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Sürtünme katsayısı ve temel bağıntılar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8</a:t>
            </a:r>
            <a:endParaRPr lang="en-US" sz="950" dirty="0"/>
          </a:p>
        </p:txBody>
      </p:sp>
      <p:sp>
        <p:nvSpPr>
          <p:cNvPr id="6" name="Text 4"/>
          <p:cNvSpPr txBox="1"/>
          <p:nvPr/>
        </p:nvSpPr>
        <p:spPr>
          <a:xfrm>
            <a:off x="640080" y="1325880"/>
            <a:ext cx="10911535" cy="306476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Birinci satır yalnızca cisim durduğu sürece geçerlidir; ikinci satırdaki μ</a:t>
            </a:r>
            <a:pPr indent="0" marL="0">
              <a:lnSpc>
                <a:spcPct val="115000"/>
              </a:lnSpc>
              <a:buNone/>
            </a:pPr>
            <a:r>
              <a:rPr lang="en-US" sz="2200" baseline="-40000" dirty="0">
                <a:solidFill>
                  <a:srgbClr val="0E1426"/>
                </a:solidFill>
                <a:latin typeface="Calibri" pitchFamily="34" charset="0"/>
                <a:ea typeface="Calibri" pitchFamily="34" charset="-122"/>
                <a:cs typeface="Calibri" pitchFamily="34" charset="-120"/>
              </a:rPr>
              <a:t>s</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·N ise eşiğin kendisidir.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Sayfadaki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01</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numaralı laboratuvarda kuvveti yavaşça artırdığında bu kopuş anını görürsün.</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Kayan cisim için de bir sabit tanımlanır: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kinetik sürtünme katsayısı</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(μ</a:t>
            </a:r>
            <a:pPr indent="0" marL="0">
              <a:lnSpc>
                <a:spcPct val="115000"/>
              </a:lnSpc>
              <a:buNone/>
            </a:pPr>
            <a:r>
              <a:rPr lang="en-US" sz="2200" baseline="-40000" dirty="0">
                <a:solidFill>
                  <a:srgbClr val="0E1426"/>
                </a:solidFill>
                <a:latin typeface="Calibri" pitchFamily="34" charset="0"/>
                <a:ea typeface="Calibri" pitchFamily="34" charset="-122"/>
                <a:cs typeface="Calibri" pitchFamily="34" charset="-120"/>
              </a:rPr>
              <a:t>k</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Kinetik sürtünme uygulanan kuvvetten bağımsızdır ve sabittir:</a:t>
            </a:r>
            <a:endParaRPr lang="en-US" sz="2200" dirty="0"/>
          </a:p>
        </p:txBody>
      </p:sp>
      <p:sp>
        <p:nvSpPr>
          <p:cNvPr id="7" name="Shape 5"/>
          <p:cNvSpPr/>
          <p:nvPr/>
        </p:nvSpPr>
        <p:spPr>
          <a:xfrm>
            <a:off x="640080" y="4591812"/>
            <a:ext cx="2077517" cy="585216"/>
          </a:xfrm>
          <a:prstGeom prst="roundRect">
            <a:avLst>
              <a:gd name="adj" fmla="val 18750"/>
            </a:avLst>
          </a:prstGeom>
          <a:solidFill>
            <a:srgbClr val="EEF2FC"/>
          </a:solidFill>
          <a:ln w="9525">
            <a:solidFill>
              <a:srgbClr val="CBD7F4"/>
            </a:solidFill>
            <a:prstDash val="solid"/>
          </a:ln>
        </p:spPr>
      </p:sp>
      <p:sp>
        <p:nvSpPr>
          <p:cNvPr id="8" name="Text 6"/>
          <p:cNvSpPr txBox="1"/>
          <p:nvPr/>
        </p:nvSpPr>
        <p:spPr>
          <a:xfrm>
            <a:off x="640080" y="4591812"/>
            <a:ext cx="2077517"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fk = μk · N</a:t>
            </a:r>
            <a:endParaRPr lang="en-US" sz="1800" dirty="0"/>
          </a:p>
        </p:txBody>
      </p:sp>
      <p:sp>
        <p:nvSpPr>
          <p:cNvPr id="9" name="Shape 7"/>
          <p:cNvSpPr/>
          <p:nvPr/>
        </p:nvSpPr>
        <p:spPr>
          <a:xfrm>
            <a:off x="2863901" y="4591812"/>
            <a:ext cx="1521562" cy="585216"/>
          </a:xfrm>
          <a:prstGeom prst="roundRect">
            <a:avLst>
              <a:gd name="adj" fmla="val 18750"/>
            </a:avLst>
          </a:prstGeom>
          <a:solidFill>
            <a:srgbClr val="EEF2FC"/>
          </a:solidFill>
          <a:ln w="9525">
            <a:solidFill>
              <a:srgbClr val="CBD7F4"/>
            </a:solidFill>
            <a:prstDash val="solid"/>
          </a:ln>
        </p:spPr>
      </p:sp>
      <p:sp>
        <p:nvSpPr>
          <p:cNvPr id="10" name="Text 8"/>
          <p:cNvSpPr txBox="1"/>
          <p:nvPr/>
        </p:nvSpPr>
        <p:spPr>
          <a:xfrm>
            <a:off x="2863901" y="4591812"/>
            <a:ext cx="1521562"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μk &lt; μs</a:t>
            </a:r>
            <a:endParaRPr lang="en-US" sz="1800" dirty="0"/>
          </a:p>
        </p:txBody>
      </p:sp>
      <p:sp>
        <p:nvSpPr>
          <p:cNvPr id="12" name="Shape 9"/>
          <p:cNvSpPr/>
          <p:nvPr/>
        </p:nvSpPr>
        <p:spPr>
          <a:xfrm>
            <a:off x="640080" y="6382512"/>
            <a:ext cx="128016" cy="128016"/>
          </a:xfrm>
          <a:prstGeom prst="roundRect">
            <a:avLst>
              <a:gd name="adj" fmla="val 28571"/>
            </a:avLst>
          </a:prstGeom>
          <a:solidFill>
            <a:srgbClr val="A9E648"/>
          </a:solidFill>
          <a:ln/>
        </p:spPr>
      </p:sp>
      <p:sp>
        <p:nvSpPr>
          <p:cNvPr id="13" name="Text 10"/>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4" name="Text 11"/>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36</a:t>
            </a:r>
            <a:endParaRPr lang="en-US" sz="10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Sürtünme katsayısı ve temel bağıntılar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8</a:t>
            </a:r>
            <a:endParaRPr lang="en-US" sz="950" dirty="0"/>
          </a:p>
        </p:txBody>
      </p:sp>
      <p:sp>
        <p:nvSpPr>
          <p:cNvPr id="6" name="Shape 4"/>
          <p:cNvSpPr/>
          <p:nvPr/>
        </p:nvSpPr>
        <p:spPr>
          <a:xfrm>
            <a:off x="640080" y="1399032"/>
            <a:ext cx="64008" cy="310896"/>
          </a:xfrm>
          <a:prstGeom prst="rect">
            <a:avLst/>
          </a:prstGeom>
          <a:solidFill>
            <a:srgbClr val="2957D4"/>
          </a:solidFill>
          <a:ln/>
        </p:spPr>
      </p:sp>
      <p:sp>
        <p:nvSpPr>
          <p:cNvPr id="7" name="Text 5"/>
          <p:cNvSpPr txBox="1"/>
          <p:nvPr/>
        </p:nvSpPr>
        <p:spPr>
          <a:xfrm>
            <a:off x="822960" y="1325880"/>
            <a:ext cx="10728655" cy="457200"/>
          </a:xfrm>
          <a:prstGeom prst="rect">
            <a:avLst/>
          </a:prstGeom>
          <a:noFill/>
          <a:ln/>
        </p:spPr>
        <p:txBody>
          <a:bodyPr wrap="square" lIns="0" tIns="0" rIns="0" bIns="0" rtlCol="0" anchor="ctr"/>
          <a:lstStyle/>
          <a:p>
            <a:pPr indent="0" marL="0">
              <a:buNone/>
            </a:pPr>
            <a:r>
              <a:rPr lang="en-US" sz="2200" b="1" dirty="0">
                <a:solidFill>
                  <a:srgbClr val="0E1426"/>
                </a:solidFill>
                <a:latin typeface="Cambria" pitchFamily="34" charset="0"/>
                <a:ea typeface="Cambria" pitchFamily="34" charset="-122"/>
                <a:cs typeface="Cambria" pitchFamily="34" charset="-120"/>
              </a:rPr>
              <a:t>Formüldeki harfler ne anlama geliyor?</a:t>
            </a:r>
            <a:endParaRPr lang="en-US" sz="220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640080" y="1892808"/>
          <a:ext cx="10911535" cy="914400"/>
        </p:xfrm>
        <a:graphic>
          <a:graphicData uri="http://schemas.openxmlformats.org/drawingml/2006/table">
            <a:tbl>
              <a:tblPr/>
              <a:tblGrid>
                <a:gridCol w="1948488"/>
                <a:gridCol w="7793954"/>
                <a:gridCol w="1169093"/>
              </a:tblGrid>
              <a:tr h="418338">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Sembol</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Anlamı</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Birimi</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fs</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statik sürtünme: cisim dururken oluşan sürtünme</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N</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Fuygulanan</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senin cisme uyguladığın itme ya da çekme kuvveti</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N</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μs</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statik sürtünme katsayısı: yüzeyler duran cismi ne kadar “tutuyor”</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N</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normal kuvvet: zeminin cismi dik olarak itmesi (yatay zeminde m·g)</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N</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fk</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kinetik sürtünme: cisim kayarken oluşan sürtünme</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N</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μk</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kinetik sürtünme katsayısı; genellikle μs'den küçüktür</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bl>
          </a:graphicData>
        </a:graphic>
      </p:graphicFrame>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37</a:t>
            </a:r>
            <a:endParaRPr lang="en-US" sz="10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Sürtünme katsayısı ve temel bağıntılar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8</a:t>
            </a:r>
            <a:endParaRPr lang="en-US" sz="950" dirty="0"/>
          </a:p>
        </p:txBody>
      </p:sp>
      <p:sp>
        <p:nvSpPr>
          <p:cNvPr id="6" name="Text 4"/>
          <p:cNvSpPr txBox="1"/>
          <p:nvPr/>
        </p:nvSpPr>
        <p:spPr>
          <a:xfrm>
            <a:off x="640080" y="1325880"/>
            <a:ext cx="10911535" cy="1816608"/>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Kinetik katsayı genellikle statik katsayıdan küçüktür.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Bu yüzden ağır bir dolabı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yerinden oynatmak</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oynadıktan sonra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itmeye devam etmekten</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zordur.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Grafikte bu, eşikte görülen ani düşüştür.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38</a:t>
            </a:r>
            <a:endParaRPr lang="en-US" sz="10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Sürtünme katsayısı ve temel bağıntılar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8</a:t>
            </a:r>
            <a:endParaRPr lang="en-US" sz="95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640080" y="1325880"/>
          <a:ext cx="10911535" cy="914400"/>
        </p:xfrm>
        <a:graphic>
          <a:graphicData uri="http://schemas.openxmlformats.org/drawingml/2006/table">
            <a:tbl>
              <a:tblPr/>
              <a:tblGrid>
                <a:gridCol w="2182307"/>
                <a:gridCol w="5334528"/>
                <a:gridCol w="3394700"/>
              </a:tblGrid>
              <a:tr h="418338">
                <a:tc>
                  <a:txBody>
                    <a:bodyPr/>
                    <a:lstStyle/>
                    <a:p>
                      <a:pPr indent="0" marL="0">
                        <a:buNone/>
                      </a:pP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Statik</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Kinetik</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Ne zaman</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Cisim dururken</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Cisim kayarken</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Büyüklük</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Uygulanan kuvvete eşit</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μk·N, sabit</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Üst sınır</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μs·N</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bl>
          </a:graphicData>
        </a:graphic>
      </p:graphicFrame>
      <p:sp>
        <p:nvSpPr>
          <p:cNvPr id="8" name="Shape 4"/>
          <p:cNvSpPr/>
          <p:nvPr/>
        </p:nvSpPr>
        <p:spPr>
          <a:xfrm>
            <a:off x="640080" y="6382512"/>
            <a:ext cx="128016" cy="128016"/>
          </a:xfrm>
          <a:prstGeom prst="roundRect">
            <a:avLst>
              <a:gd name="adj" fmla="val 28571"/>
            </a:avLst>
          </a:prstGeom>
          <a:solidFill>
            <a:srgbClr val="A9E648"/>
          </a:solidFill>
          <a:ln/>
        </p:spPr>
      </p:sp>
      <p:sp>
        <p:nvSpPr>
          <p:cNvPr id="9" name="Text 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0" name="Text 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39</a:t>
            </a:r>
            <a:endParaRPr lang="en-US" sz="10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Sürtünme katsayısı ve temel bağıntılar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6 / 8</a:t>
            </a:r>
            <a:endParaRPr lang="en-US" sz="950" dirty="0"/>
          </a:p>
        </p:txBody>
      </p:sp>
      <p:sp>
        <p:nvSpPr>
          <p:cNvPr id="6" name="Shape 4"/>
          <p:cNvSpPr/>
          <p:nvPr/>
        </p:nvSpPr>
        <p:spPr>
          <a:xfrm>
            <a:off x="1641413" y="1234440"/>
            <a:ext cx="8908869" cy="3880485"/>
          </a:xfrm>
          <a:prstGeom prst="roundRect">
            <a:avLst>
              <a:gd name="adj" fmla="val 377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dersler-sekiller/surtunme-kuvveti-04.png">    </p:cNvPr>
          <p:cNvPicPr>
            <a:picLocks noChangeAspect="1"/>
          </p:cNvPicPr>
          <p:nvPr/>
        </p:nvPicPr>
        <p:blipFill>
          <a:blip r:embed="rId1"/>
          <a:stretch>
            <a:fillRect/>
          </a:stretch>
        </p:blipFill>
        <p:spPr>
          <a:xfrm>
            <a:off x="1870013" y="1325880"/>
            <a:ext cx="8451669" cy="3697605"/>
          </a:xfrm>
          <a:prstGeom prst="rect">
            <a:avLst/>
          </a:prstGeom>
        </p:spPr>
      </p:pic>
      <p:sp>
        <p:nvSpPr>
          <p:cNvPr id="8" name="Text 5"/>
          <p:cNvSpPr txBox="1"/>
          <p:nvPr/>
        </p:nvSpPr>
        <p:spPr>
          <a:xfrm>
            <a:off x="1249528" y="5297805"/>
            <a:ext cx="9692640" cy="846963"/>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Soldaki grafik hikâyenin tamamı: mavi kısımda cisim durgundur ve sürtünme uygulanan kuvvetle birlikte büyür; eşikte kopar ve sarı kısımda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sabit</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bir değere yerleşir. Sağdaki çubuklar her yüzey çiftinde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μk'nin μs'den küçük</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olduğunu gösteriyor — bir dolabı yerinden oynatmak, sonra itmekten hep daha zordur.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40</a:t>
            </a:r>
            <a:endParaRPr lang="en-US" sz="10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Sürtünme katsayısı ve temel bağıntılar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7 / 8</a:t>
            </a:r>
            <a:endParaRPr lang="en-US" sz="950" dirty="0"/>
          </a:p>
        </p:txBody>
      </p:sp>
      <p:sp>
        <p:nvSpPr>
          <p:cNvPr id="6" name="Shape 4"/>
          <p:cNvSpPr/>
          <p:nvPr/>
        </p:nvSpPr>
        <p:spPr>
          <a:xfrm>
            <a:off x="640080" y="1325880"/>
            <a:ext cx="10911535" cy="1348740"/>
          </a:xfrm>
          <a:prstGeom prst="roundRect">
            <a:avLst>
              <a:gd name="adj" fmla="val 9492"/>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658368" y="1490472"/>
            <a:ext cx="54864" cy="1019556"/>
          </a:xfrm>
          <a:prstGeom prst="rect">
            <a:avLst/>
          </a:prstGeom>
          <a:solidFill>
            <a:srgbClr val="3C8C21"/>
          </a:solidFill>
          <a:ln/>
        </p:spPr>
      </p:sp>
      <p:sp>
        <p:nvSpPr>
          <p:cNvPr id="8" name="Text 6"/>
          <p:cNvSpPr txBox="1"/>
          <p:nvPr/>
        </p:nvSpPr>
        <p:spPr>
          <a:xfrm>
            <a:off x="950976" y="1453896"/>
            <a:ext cx="10399471" cy="1092708"/>
          </a:xfrm>
          <a:prstGeom prst="rect">
            <a:avLst/>
          </a:prstGeom>
          <a:noFill/>
          <a:ln/>
        </p:spPr>
        <p:txBody>
          <a:bodyPr wrap="square" lIns="0" tIns="0" rIns="0" bIns="0" rtlCol="0" anchor="ctr"/>
          <a:lstStyle/>
          <a:p>
            <a:pPr indent="0" marL="0">
              <a:lnSpc>
                <a:spcPct val="114000"/>
              </a:lnSpc>
              <a:buNone/>
            </a:pPr>
            <a:r>
              <a:rPr lang="en-US" sz="1800" b="1" dirty="0">
                <a:solidFill>
                  <a:srgbClr val="0E1426"/>
                </a:solidFill>
                <a:latin typeface="Calibri" pitchFamily="34" charset="0"/>
                <a:ea typeface="Calibri" pitchFamily="34" charset="-122"/>
                <a:cs typeface="Calibri" pitchFamily="34" charset="-120"/>
              </a:rPr>
              <a:t>μ birimsizdir</a:t>
            </a:r>
            <a:pPr indent="0" marL="0">
              <a:lnSpc>
                <a:spcPct val="114000"/>
              </a:lnSpc>
              <a:buNone/>
            </a:pPr>
            <a:r>
              <a:rPr lang="en-US" sz="1800" dirty="0">
                <a:solidFill>
                  <a:srgbClr val="0E1426"/>
                </a:solidFill>
                <a:latin typeface="Calibri" pitchFamily="34" charset="0"/>
                <a:ea typeface="Calibri" pitchFamily="34" charset="-122"/>
                <a:cs typeface="Calibri" pitchFamily="34" charset="-120"/>
              </a:rPr>
              <a:t> ve genellikle 0 ile 1 arasındadır; ama yapışkan yüzeylerde 1'in üstüne de çıkabilir. Sürtünme katsayısı bir </a:t>
            </a:r>
            <a:pPr indent="0" marL="0">
              <a:lnSpc>
                <a:spcPct val="114000"/>
              </a:lnSpc>
              <a:buNone/>
            </a:pPr>
            <a:r>
              <a:rPr lang="en-US" sz="1800" b="1" dirty="0">
                <a:solidFill>
                  <a:srgbClr val="0E1426"/>
                </a:solidFill>
                <a:latin typeface="Calibri" pitchFamily="34" charset="0"/>
                <a:ea typeface="Calibri" pitchFamily="34" charset="-122"/>
                <a:cs typeface="Calibri" pitchFamily="34" charset="-120"/>
              </a:rPr>
              <a:t>oran</a:t>
            </a:r>
            <a:pPr indent="0" marL="0">
              <a:lnSpc>
                <a:spcPct val="114000"/>
              </a:lnSpc>
              <a:buNone/>
            </a:pPr>
            <a:r>
              <a:rPr lang="en-US" sz="1800" dirty="0">
                <a:solidFill>
                  <a:srgbClr val="0E1426"/>
                </a:solidFill>
                <a:latin typeface="Calibri" pitchFamily="34" charset="0"/>
                <a:ea typeface="Calibri" pitchFamily="34" charset="-122"/>
                <a:cs typeface="Calibri" pitchFamily="34" charset="-120"/>
              </a:rPr>
              <a:t>dır: f ile N'nin oranı. Birim kontrolü de bunu doğrular: μ = f/N için N/N, yani birim sadeleşir.</a:t>
            </a:r>
            <a:endParaRPr lang="en-US" sz="1800" dirty="0"/>
          </a:p>
        </p:txBody>
      </p:sp>
      <p:sp>
        <p:nvSpPr>
          <p:cNvPr id="10" name="Shape 7"/>
          <p:cNvSpPr/>
          <p:nvPr/>
        </p:nvSpPr>
        <p:spPr>
          <a:xfrm>
            <a:off x="640080" y="6382512"/>
            <a:ext cx="128016" cy="128016"/>
          </a:xfrm>
          <a:prstGeom prst="roundRect">
            <a:avLst>
              <a:gd name="adj" fmla="val 28571"/>
            </a:avLst>
          </a:prstGeom>
          <a:solidFill>
            <a:srgbClr val="A9E648"/>
          </a:solidFill>
          <a:ln/>
        </p:spPr>
      </p:sp>
      <p:sp>
        <p:nvSpPr>
          <p:cNvPr id="11"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2"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41</a:t>
            </a:r>
            <a:endParaRPr lang="en-US" sz="10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Sürtünme katsayısı ve temel bağıntılar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8 / 8</a:t>
            </a:r>
            <a:endParaRPr lang="en-US" sz="950" dirty="0"/>
          </a:p>
        </p:txBody>
      </p:sp>
      <p:sp>
        <p:nvSpPr>
          <p:cNvPr id="6" name="Shape 4"/>
          <p:cNvSpPr/>
          <p:nvPr/>
        </p:nvSpPr>
        <p:spPr>
          <a:xfrm>
            <a:off x="640080" y="1399032"/>
            <a:ext cx="64008" cy="310896"/>
          </a:xfrm>
          <a:prstGeom prst="rect">
            <a:avLst/>
          </a:prstGeom>
          <a:solidFill>
            <a:srgbClr val="2957D4"/>
          </a:solidFill>
          <a:ln/>
        </p:spPr>
      </p:sp>
      <p:sp>
        <p:nvSpPr>
          <p:cNvPr id="7" name="Text 5"/>
          <p:cNvSpPr txBox="1"/>
          <p:nvPr/>
        </p:nvSpPr>
        <p:spPr>
          <a:xfrm>
            <a:off x="822960" y="1325880"/>
            <a:ext cx="10728655" cy="457200"/>
          </a:xfrm>
          <a:prstGeom prst="rect">
            <a:avLst/>
          </a:prstGeom>
          <a:noFill/>
          <a:ln/>
        </p:spPr>
        <p:txBody>
          <a:bodyPr wrap="square" lIns="0" tIns="0" rIns="0" bIns="0" rtlCol="0" anchor="ctr"/>
          <a:lstStyle/>
          <a:p>
            <a:pPr indent="0" marL="0">
              <a:buNone/>
            </a:pPr>
            <a:r>
              <a:rPr lang="en-US" sz="2200" b="1" dirty="0">
                <a:solidFill>
                  <a:srgbClr val="0E1426"/>
                </a:solidFill>
                <a:latin typeface="Cambria" pitchFamily="34" charset="0"/>
                <a:ea typeface="Cambria" pitchFamily="34" charset="-122"/>
                <a:cs typeface="Cambria" pitchFamily="34" charset="-120"/>
              </a:rPr>
              <a:t>Bir sürtünme sorusunu çözme sırası</a:t>
            </a:r>
            <a:endParaRPr lang="en-US" sz="2200" dirty="0"/>
          </a:p>
        </p:txBody>
      </p:sp>
      <p:sp>
        <p:nvSpPr>
          <p:cNvPr id="8" name="Text 6"/>
          <p:cNvSpPr txBox="1"/>
          <p:nvPr/>
        </p:nvSpPr>
        <p:spPr>
          <a:xfrm>
            <a:off x="640080" y="1892808"/>
            <a:ext cx="10911535" cy="1837944"/>
          </a:xfrm>
          <a:prstGeom prst="rect">
            <a:avLst/>
          </a:prstGeom>
          <a:noFill/>
          <a:ln/>
        </p:spPr>
        <p:txBody>
          <a:bodyPr wrap="square" lIns="0" tIns="0" rIns="0" bIns="0" rtlCol="0" anchor="t"/>
          <a:lstStyle/>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Normal kuvveti bul:</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yatay zeminde, başka düşey kuvvet yoksa N = m·g.</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Eşiği hesapla:</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μ</a:t>
            </a:r>
            <a:pPr indent="0" marL="0">
              <a:lnSpc>
                <a:spcPct val="115000"/>
              </a:lnSpc>
              <a:buNone/>
            </a:pPr>
            <a:r>
              <a:rPr lang="en-US" sz="2100" baseline="-40000" dirty="0">
                <a:solidFill>
                  <a:srgbClr val="0E1426"/>
                </a:solidFill>
                <a:latin typeface="Calibri" pitchFamily="34" charset="0"/>
                <a:ea typeface="Calibri" pitchFamily="34" charset="-122"/>
                <a:cs typeface="Calibri" pitchFamily="34" charset="-120"/>
              </a:rPr>
              <a:t>s</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·N, cismi kıpırdatmak için aşılması gereken kuvvettir.</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Karşılaştır: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F ≤ μ</a:t>
            </a:r>
            <a:pPr indent="0" marL="0">
              <a:lnSpc>
                <a:spcPct val="115000"/>
              </a:lnSpc>
              <a:buNone/>
            </a:pPr>
            <a:r>
              <a:rPr lang="en-US" sz="2100" baseline="-40000" dirty="0">
                <a:solidFill>
                  <a:srgbClr val="0E1426"/>
                </a:solidFill>
                <a:latin typeface="Calibri" pitchFamily="34" charset="0"/>
                <a:ea typeface="Calibri" pitchFamily="34" charset="-122"/>
                <a:cs typeface="Calibri" pitchFamily="34" charset="-120"/>
              </a:rPr>
              <a:t>s</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·N ise cisim durur; f = F ve a = 0.</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Kayıyorsa kinetiğe geç:</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F &gt; μ</a:t>
            </a:r>
            <a:pPr indent="0" marL="0">
              <a:lnSpc>
                <a:spcPct val="115000"/>
              </a:lnSpc>
              <a:buNone/>
            </a:pPr>
            <a:r>
              <a:rPr lang="en-US" sz="2100" baseline="-40000" dirty="0">
                <a:solidFill>
                  <a:srgbClr val="0E1426"/>
                </a:solidFill>
                <a:latin typeface="Calibri" pitchFamily="34" charset="0"/>
                <a:ea typeface="Calibri" pitchFamily="34" charset="-122"/>
                <a:cs typeface="Calibri" pitchFamily="34" charset="-120"/>
              </a:rPr>
              <a:t>s</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·N ise f = μ</a:t>
            </a:r>
            <a:pPr indent="0" marL="0">
              <a:lnSpc>
                <a:spcPct val="115000"/>
              </a:lnSpc>
              <a:buNone/>
            </a:pPr>
            <a:r>
              <a:rPr lang="en-US" sz="2100" baseline="-40000" dirty="0">
                <a:solidFill>
                  <a:srgbClr val="0E1426"/>
                </a:solidFill>
                <a:latin typeface="Calibri" pitchFamily="34" charset="0"/>
                <a:ea typeface="Calibri" pitchFamily="34" charset="-122"/>
                <a:cs typeface="Calibri" pitchFamily="34" charset="-120"/>
              </a:rPr>
              <a:t>k</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·N olur.</a:t>
            </a:r>
            <a:endParaRPr lang="en-US" sz="2100" dirty="0"/>
          </a:p>
        </p:txBody>
      </p:sp>
      <p:sp>
        <p:nvSpPr>
          <p:cNvPr id="9" name="Text 7"/>
          <p:cNvSpPr txBox="1"/>
          <p:nvPr/>
        </p:nvSpPr>
        <p:spPr>
          <a:xfrm>
            <a:off x="640080" y="3931920"/>
            <a:ext cx="10911535" cy="459486"/>
          </a:xfrm>
          <a:prstGeom prst="rect">
            <a:avLst/>
          </a:prstGeom>
          <a:noFill/>
          <a:ln/>
        </p:spPr>
        <p:txBody>
          <a:bodyPr wrap="square" lIns="0" tIns="0" rIns="0" bIns="0" rtlCol="0" anchor="t"/>
          <a:lstStyle/>
          <a:p>
            <a:pPr marL="279400" indent="-279400">
              <a:lnSpc>
                <a:spcPct val="115000"/>
              </a:lnSpc>
              <a:spcAft>
                <a:spcPts val="800"/>
              </a:spcAft>
              <a:buSzPct val="100000"/>
              <a:buFont typeface="+mj-lt"/>
              <a:buAutoNum type="arabicPeriod" startAt="5"/>
            </a:pPr>
            <a:r>
              <a:rPr lang="en-US" sz="2100" b="1" dirty="0">
                <a:solidFill>
                  <a:srgbClr val="0E1426"/>
                </a:solidFill>
                <a:latin typeface="Calibri" pitchFamily="34" charset="0"/>
                <a:ea typeface="Calibri" pitchFamily="34" charset="-122"/>
                <a:cs typeface="Calibri" pitchFamily="34" charset="-120"/>
              </a:rPr>
              <a:t>Net kuvvetten ivmeye:</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a = (F − f) / m.</a:t>
            </a:r>
            <a:endParaRPr lang="en-US" sz="2100" dirty="0"/>
          </a:p>
        </p:txBody>
      </p:sp>
      <p:sp>
        <p:nvSpPr>
          <p:cNvPr id="11" name="Shape 8"/>
          <p:cNvSpPr/>
          <p:nvPr/>
        </p:nvSpPr>
        <p:spPr>
          <a:xfrm>
            <a:off x="640080" y="6382512"/>
            <a:ext cx="128016" cy="128016"/>
          </a:xfrm>
          <a:prstGeom prst="roundRect">
            <a:avLst>
              <a:gd name="adj" fmla="val 28571"/>
            </a:avLst>
          </a:prstGeom>
          <a:solidFill>
            <a:srgbClr val="A9E648"/>
          </a:solidFill>
          <a:ln/>
        </p:spPr>
      </p:sp>
      <p:sp>
        <p:nvSpPr>
          <p:cNvPr id="12"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3"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42</a:t>
            </a:r>
            <a:endParaRPr lang="en-US" sz="10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Sürtünme katsayısı ve temel bağıntılar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2957D4"/>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2957D4"/>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Statik sürtünme f</a:t>
            </a:r>
            <a:pPr indent="0" marL="0">
              <a:lnSpc>
                <a:spcPct val="125000"/>
              </a:lnSpc>
              <a:buNone/>
            </a:pPr>
            <a:r>
              <a:rPr lang="en-US" sz="2800" baseline="-40000" dirty="0">
                <a:solidFill>
                  <a:srgbClr val="0E1426"/>
                </a:solidFill>
                <a:latin typeface="Cambria" pitchFamily="34" charset="0"/>
                <a:ea typeface="Cambria" pitchFamily="34" charset="-122"/>
                <a:cs typeface="Cambria" pitchFamily="34" charset="-120"/>
              </a:rPr>
              <a:t>s</a:t>
            </a:r>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 ≤ μ</a:t>
            </a:r>
            <a:pPr indent="0" marL="0">
              <a:lnSpc>
                <a:spcPct val="125000"/>
              </a:lnSpc>
              <a:buNone/>
            </a:pPr>
            <a:r>
              <a:rPr lang="en-US" sz="2800" baseline="-40000" dirty="0">
                <a:solidFill>
                  <a:srgbClr val="0E1426"/>
                </a:solidFill>
                <a:latin typeface="Cambria" pitchFamily="34" charset="0"/>
                <a:ea typeface="Cambria" pitchFamily="34" charset="-122"/>
                <a:cs typeface="Cambria" pitchFamily="34" charset="-120"/>
              </a:rPr>
              <a:t>s</a:t>
            </a:r>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·N, kinetik sürtünme f</a:t>
            </a:r>
            <a:pPr indent="0" marL="0">
              <a:lnSpc>
                <a:spcPct val="125000"/>
              </a:lnSpc>
              <a:buNone/>
            </a:pPr>
            <a:r>
              <a:rPr lang="en-US" sz="2800" baseline="-40000" dirty="0">
                <a:solidFill>
                  <a:srgbClr val="0E1426"/>
                </a:solidFill>
                <a:latin typeface="Cambria" pitchFamily="34" charset="0"/>
                <a:ea typeface="Cambria" pitchFamily="34" charset="-122"/>
                <a:cs typeface="Cambria" pitchFamily="34" charset="-120"/>
              </a:rPr>
              <a:t>k</a:t>
            </a:r>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 = μ</a:t>
            </a:r>
            <a:pPr indent="0" marL="0">
              <a:lnSpc>
                <a:spcPct val="125000"/>
              </a:lnSpc>
              <a:buNone/>
            </a:pPr>
            <a:r>
              <a:rPr lang="en-US" sz="2800" baseline="-40000" dirty="0">
                <a:solidFill>
                  <a:srgbClr val="0E1426"/>
                </a:solidFill>
                <a:latin typeface="Cambria" pitchFamily="34" charset="0"/>
                <a:ea typeface="Cambria" pitchFamily="34" charset="-122"/>
                <a:cs typeface="Cambria" pitchFamily="34" charset="-120"/>
              </a:rPr>
              <a:t>k</a:t>
            </a:r>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·N'dir ve genellikle μ</a:t>
            </a:r>
            <a:pPr indent="0" marL="0">
              <a:lnSpc>
                <a:spcPct val="125000"/>
              </a:lnSpc>
              <a:buNone/>
            </a:pPr>
            <a:r>
              <a:rPr lang="en-US" sz="2800" baseline="-40000" dirty="0">
                <a:solidFill>
                  <a:srgbClr val="0E1426"/>
                </a:solidFill>
                <a:latin typeface="Cambria" pitchFamily="34" charset="0"/>
                <a:ea typeface="Cambria" pitchFamily="34" charset="-122"/>
                <a:cs typeface="Cambria" pitchFamily="34" charset="-120"/>
              </a:rPr>
              <a:t>k</a:t>
            </a:r>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 &lt; μ</a:t>
            </a:r>
            <a:pPr indent="0" marL="0">
              <a:lnSpc>
                <a:spcPct val="125000"/>
              </a:lnSpc>
              <a:buNone/>
            </a:pPr>
            <a:r>
              <a:rPr lang="en-US" sz="2800" baseline="-40000" dirty="0">
                <a:solidFill>
                  <a:srgbClr val="0E1426"/>
                </a:solidFill>
                <a:latin typeface="Cambria" pitchFamily="34" charset="0"/>
                <a:ea typeface="Cambria" pitchFamily="34" charset="-122"/>
                <a:cs typeface="Cambria" pitchFamily="34" charset="-120"/>
              </a:rPr>
              <a:t>s</a:t>
            </a:r>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 Önce cismin kayıp kaymadığına karar ver, sonra geçerli bağıntıyı seç.</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43</a:t>
            </a:r>
            <a:endParaRPr lang="en-US" sz="10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Kıpırdatmak için 100 N gereken kutu kaydıktan sonra sürtünme 80 N'a düşüyor. 100 N ile itmeye devam edersen ne olur?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04 · Sürtünme katsayısı ve temel bağıntılar</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44</a:t>
            </a:r>
            <a:endParaRPr lang="en-US" sz="10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Kıpırdatmak için 100 N gereken kutu kaydıktan sonra sürtünme 80 N'a düşüyor. 100 N ile itmeye devam edersen ne olur?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Kutu </a:t>
            </a:r>
            <a:pPr indent="0" marL="0">
              <a:lnSpc>
                <a:spcPct val="125000"/>
              </a:lnSpc>
              <a:buNone/>
            </a:pPr>
            <a:r>
              <a:rPr lang="en-US" sz="2400" b="1" dirty="0">
                <a:solidFill>
                  <a:srgbClr val="5F4BD8"/>
                </a:solidFill>
                <a:latin typeface="Calibri" pitchFamily="34" charset="0"/>
                <a:ea typeface="Calibri" pitchFamily="34" charset="-122"/>
                <a:cs typeface="Calibri" pitchFamily="34" charset="-120"/>
              </a:rPr>
              <a:t>hızlanır</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Kayarken sürtünme 80 N'dur; sen 100 N ile ittiğine göre 20 N'luk net kuvvet kalır. Kutu 20 kg ise ivmesi 20/20 = 1 m/s² olur. Kutuyu sabit hızla götürmek istiyorsan kuvvetini 80 N'a düşürmen yeter.</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45</a:t>
            </a:r>
            <a:endParaRPr lang="en-US" sz="10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Sürtünme neye bağlı, neye bağlı değil?</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7</a:t>
            </a:r>
            <a:endParaRPr lang="en-US" sz="950" dirty="0"/>
          </a:p>
        </p:txBody>
      </p:sp>
      <p:sp>
        <p:nvSpPr>
          <p:cNvPr id="6" name="Text 4"/>
          <p:cNvSpPr txBox="1"/>
          <p:nvPr/>
        </p:nvSpPr>
        <p:spPr>
          <a:xfrm>
            <a:off x="640080" y="1325880"/>
            <a:ext cx="10911535" cy="133959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Gözlemlerde yüzeylerin ve bastırmanın önemli olduğunu gördün. f = μ·N bağıntısı bunu kesinleştirir: yüzey çifti μ'nün, bastırma N'nin içindedir.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Bağıntıda </a:t>
            </a:r>
            <a:pPr indent="0" marL="0">
              <a:lnSpc>
                <a:spcPct val="115000"/>
              </a:lnSpc>
              <a:buNone/>
            </a:pPr>
            <a:r>
              <a:rPr lang="en-US" sz="2200" i="1" dirty="0">
                <a:solidFill>
                  <a:srgbClr val="0E1426"/>
                </a:solidFill>
                <a:latin typeface="Calibri" pitchFamily="34" charset="0"/>
                <a:ea typeface="Calibri" pitchFamily="34" charset="-122"/>
                <a:cs typeface="Calibri" pitchFamily="34" charset="-120"/>
              </a:rPr>
              <a:t>geçmeyen</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büyüklüklerden de sezgiye ters iki sonuç çıkar.</a:t>
            </a:r>
            <a:endParaRPr lang="en-US" sz="2200" dirty="0"/>
          </a:p>
        </p:txBody>
      </p:sp>
      <p:sp>
        <p:nvSpPr>
          <p:cNvPr id="7" name="Text 5"/>
          <p:cNvSpPr txBox="1"/>
          <p:nvPr/>
        </p:nvSpPr>
        <p:spPr>
          <a:xfrm>
            <a:off x="640080" y="2866644"/>
            <a:ext cx="10911535" cy="47701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b="1" dirty="0">
                <a:solidFill>
                  <a:srgbClr val="0E1426"/>
                </a:solidFill>
                <a:latin typeface="Calibri" pitchFamily="34" charset="0"/>
                <a:ea typeface="Calibri" pitchFamily="34" charset="-122"/>
                <a:cs typeface="Calibri" pitchFamily="34" charset="-120"/>
              </a:rPr>
              <a:t>Bağlıdır:</a:t>
            </a:r>
            <a:endParaRPr lang="en-US" sz="2200" dirty="0"/>
          </a:p>
        </p:txBody>
      </p:sp>
      <p:sp>
        <p:nvSpPr>
          <p:cNvPr id="8" name="Text 6"/>
          <p:cNvSpPr txBox="1"/>
          <p:nvPr/>
        </p:nvSpPr>
        <p:spPr>
          <a:xfrm>
            <a:off x="640080" y="3544824"/>
            <a:ext cx="10911535" cy="1287018"/>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Normal kuvvete (N).</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Cisme bastırırsan ya da kütlesi artarsa sürtünme artar.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Yüzey çiftine.</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Katsayı tek bir cismin değil, </a:t>
            </a:r>
            <a:pPr indent="0" marL="0">
              <a:lnSpc>
                <a:spcPct val="115000"/>
              </a:lnSpc>
              <a:buNone/>
            </a:pPr>
            <a:r>
              <a:rPr lang="en-US" sz="2100" i="1" dirty="0">
                <a:solidFill>
                  <a:srgbClr val="0E1426"/>
                </a:solidFill>
                <a:latin typeface="Calibri" pitchFamily="34" charset="0"/>
                <a:ea typeface="Calibri" pitchFamily="34" charset="-122"/>
                <a:cs typeface="Calibri" pitchFamily="34" charset="-120"/>
              </a:rPr>
              <a:t>iki yüzeyin birlikte</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özelliğidir.</a:t>
            </a:r>
            <a:endParaRPr lang="en-US" sz="2100" dirty="0"/>
          </a:p>
        </p:txBody>
      </p:sp>
      <p:sp>
        <p:nvSpPr>
          <p:cNvPr id="10" name="Shape 7"/>
          <p:cNvSpPr/>
          <p:nvPr/>
        </p:nvSpPr>
        <p:spPr>
          <a:xfrm>
            <a:off x="640080" y="6382512"/>
            <a:ext cx="128016" cy="128016"/>
          </a:xfrm>
          <a:prstGeom prst="roundRect">
            <a:avLst>
              <a:gd name="adj" fmla="val 28571"/>
            </a:avLst>
          </a:prstGeom>
          <a:solidFill>
            <a:srgbClr val="A9E648"/>
          </a:solidFill>
          <a:ln/>
        </p:spPr>
      </p:sp>
      <p:sp>
        <p:nvSpPr>
          <p:cNvPr id="11"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2"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46</a:t>
            </a:r>
            <a:endParaRPr lang="en-US" sz="10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Sürtünme neye bağlı, neye bağlı değil?</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7</a:t>
            </a:r>
            <a:endParaRPr lang="en-US" sz="950" dirty="0"/>
          </a:p>
        </p:txBody>
      </p:sp>
      <p:sp>
        <p:nvSpPr>
          <p:cNvPr id="6" name="Text 4"/>
          <p:cNvSpPr txBox="1"/>
          <p:nvPr/>
        </p:nvSpPr>
        <p:spPr>
          <a:xfrm>
            <a:off x="640080" y="1325880"/>
            <a:ext cx="10911535" cy="47701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b="1" dirty="0">
                <a:solidFill>
                  <a:srgbClr val="0E1426"/>
                </a:solidFill>
                <a:latin typeface="Calibri" pitchFamily="34" charset="0"/>
                <a:ea typeface="Calibri" pitchFamily="34" charset="-122"/>
                <a:cs typeface="Calibri" pitchFamily="34" charset="-120"/>
              </a:rPr>
              <a:t>Bağlı değildir:</a:t>
            </a:r>
            <a:endParaRPr lang="en-US" sz="2200" dirty="0"/>
          </a:p>
        </p:txBody>
      </p:sp>
      <p:sp>
        <p:nvSpPr>
          <p:cNvPr id="7" name="Text 5"/>
          <p:cNvSpPr txBox="1"/>
          <p:nvPr/>
        </p:nvSpPr>
        <p:spPr>
          <a:xfrm>
            <a:off x="640080" y="2004060"/>
            <a:ext cx="10911535" cy="1287018"/>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Temas alanına.</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Aynı kütleli bir tuğlayı yan yatırmak sürtünmeyi değiştirmez.</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Kayma hızına</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(yaklaşık olarak). Hızla belirgin biçimde artan kuvvet, sürtünme değil </a:t>
            </a:r>
            <a:pPr indent="0" marL="0">
              <a:lnSpc>
                <a:spcPct val="115000"/>
              </a:lnSpc>
              <a:buNone/>
            </a:pPr>
            <a:r>
              <a:rPr lang="en-US" sz="2100" b="1" dirty="0">
                <a:solidFill>
                  <a:srgbClr val="0E1426"/>
                </a:solidFill>
                <a:latin typeface="Calibri" pitchFamily="34" charset="0"/>
                <a:ea typeface="Calibri" pitchFamily="34" charset="-122"/>
                <a:cs typeface="Calibri" pitchFamily="34" charset="-120"/>
              </a:rPr>
              <a:t>hava direncidir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a:t>
            </a:r>
            <a:endParaRPr lang="en-US" sz="2100" dirty="0"/>
          </a:p>
        </p:txBody>
      </p:sp>
      <p:sp>
        <p:nvSpPr>
          <p:cNvPr id="9" name="Shape 6"/>
          <p:cNvSpPr/>
          <p:nvPr/>
        </p:nvSpPr>
        <p:spPr>
          <a:xfrm>
            <a:off x="640080" y="6382512"/>
            <a:ext cx="128016" cy="128016"/>
          </a:xfrm>
          <a:prstGeom prst="roundRect">
            <a:avLst>
              <a:gd name="adj" fmla="val 28571"/>
            </a:avLst>
          </a:prstGeom>
          <a:solidFill>
            <a:srgbClr val="A9E648"/>
          </a:solidFill>
          <a:ln/>
        </p:spPr>
      </p:sp>
      <p:sp>
        <p:nvSpPr>
          <p:cNvPr id="10"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1"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47</a:t>
            </a:r>
            <a:endParaRPr lang="en-US" sz="10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Sürtünme neye bağlı, neye bağlı değil?</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7</a:t>
            </a:r>
            <a:endParaRPr lang="en-US" sz="950" dirty="0"/>
          </a:p>
        </p:txBody>
      </p:sp>
      <p:sp>
        <p:nvSpPr>
          <p:cNvPr id="6" name="Text 4"/>
          <p:cNvSpPr txBox="1"/>
          <p:nvPr/>
        </p:nvSpPr>
        <p:spPr>
          <a:xfrm>
            <a:off x="640080" y="1325880"/>
            <a:ext cx="10911535" cy="306476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Temas alanının etkisizliği en şaşırtıcı olanıdır; geniş yüzey daha çok "tutar" gibi görünür.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Ama iki yüzey yalnızca pürüzlerinin tepelerinde birbirine değer.</a:t>
            </a:r>
            <a:endParaRPr lang="en-US" sz="2200" dirty="0"/>
          </a:p>
          <a:p>
            <a:pPr marL="203200" indent="-203200">
              <a:lnSpc>
                <a:spcPct val="115000"/>
              </a:lnSpc>
              <a:spcAft>
                <a:spcPts val="800"/>
              </a:spcAft>
              <a:buSzPct val="100000"/>
              <a:buChar char="▪"/>
            </a:pPr>
            <a:r>
              <a:rPr lang="en-US" sz="2200" b="1" dirty="0">
                <a:solidFill>
                  <a:srgbClr val="0E1426"/>
                </a:solidFill>
                <a:latin typeface="Calibri" pitchFamily="34" charset="0"/>
                <a:ea typeface="Calibri" pitchFamily="34" charset="-122"/>
                <a:cs typeface="Calibri" pitchFamily="34" charset="-120"/>
              </a:rPr>
              <a:t>Gerçek temas alanı</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gözle gördüğün alanın çok küçük bir kesridir.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Görünür alan büyüyünce ağırlık daha çok tepeye dağılır, ama her tepe daha az ezilir; görünür alan küçülünce ağırlığı daha az tepe taşır, ama her biri daha çok ezilir.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48</a:t>
            </a:r>
            <a:endParaRPr lang="en-US" sz="10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Sürtünme neye bağlı, neye bağlı değil?</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7</a:t>
            </a:r>
            <a:endParaRPr lang="en-US" sz="950" dirty="0"/>
          </a:p>
        </p:txBody>
      </p:sp>
      <p:sp>
        <p:nvSpPr>
          <p:cNvPr id="6" name="Text 4"/>
          <p:cNvSpPr txBox="1"/>
          <p:nvPr/>
        </p:nvSpPr>
        <p:spPr>
          <a:xfrm>
            <a:off x="640080" y="1325880"/>
            <a:ext cx="10911535" cy="133959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İki etki birbirini götürür ve gerçek temas alanı — dolayısıyla sürtünme — hemen hemen aynı kalır.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Onu belirleyen, yüzeylerin birbirine ne kadar bastırıldığıdır.</a:t>
            </a:r>
            <a:endParaRPr lang="en-US" sz="2200" dirty="0"/>
          </a:p>
        </p:txBody>
      </p:sp>
      <p:sp>
        <p:nvSpPr>
          <p:cNvPr id="7" name="Text 5"/>
          <p:cNvSpPr txBox="1"/>
          <p:nvPr/>
        </p:nvSpPr>
        <p:spPr>
          <a:xfrm>
            <a:off x="640080" y="2866644"/>
            <a:ext cx="10911535" cy="47701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Yüzey çiftinin etkisi ise büyüktür.</a:t>
            </a:r>
            <a:endParaRPr lang="en-US" sz="2200" dirty="0"/>
          </a:p>
        </p:txBody>
      </p:sp>
      <p:sp>
        <p:nvSpPr>
          <p:cNvPr id="9" name="Shape 6"/>
          <p:cNvSpPr/>
          <p:nvPr/>
        </p:nvSpPr>
        <p:spPr>
          <a:xfrm>
            <a:off x="640080" y="6382512"/>
            <a:ext cx="128016" cy="128016"/>
          </a:xfrm>
          <a:prstGeom prst="roundRect">
            <a:avLst>
              <a:gd name="adj" fmla="val 28571"/>
            </a:avLst>
          </a:prstGeom>
          <a:solidFill>
            <a:srgbClr val="A9E648"/>
          </a:solidFill>
          <a:ln/>
        </p:spPr>
      </p:sp>
      <p:sp>
        <p:nvSpPr>
          <p:cNvPr id="10"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1"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49</a:t>
            </a:r>
            <a:endParaRPr lang="en-US" sz="105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Sürtünme neye bağlı, neye bağlı değil?</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7</a:t>
            </a:r>
            <a:endParaRPr lang="en-US" sz="950" dirty="0"/>
          </a:p>
        </p:txBody>
      </p:sp>
      <p:sp>
        <p:nvSpPr>
          <p:cNvPr id="6" name="Text 4"/>
          <p:cNvSpPr txBox="1"/>
          <p:nvPr/>
        </p:nvSpPr>
        <p:spPr>
          <a:xfrm>
            <a:off x="640080" y="1325880"/>
            <a:ext cx="10911535" cy="86258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Aşağıdaki değerler yaklaşıktır; yüzeyin temizliğine, nemine ve cilasına göre değişir:</a:t>
            </a:r>
            <a:endParaRPr lang="en-US" sz="22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640080" y="2389632"/>
          <a:ext cx="10911535" cy="914400"/>
        </p:xfrm>
        <a:graphic>
          <a:graphicData uri="http://schemas.openxmlformats.org/drawingml/2006/table">
            <a:tbl>
              <a:tblPr/>
              <a:tblGrid>
                <a:gridCol w="7793954"/>
                <a:gridCol w="1558791"/>
                <a:gridCol w="1558791"/>
              </a:tblGrid>
              <a:tr h="418338">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Yüzey çifti</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μs</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μk</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Buz – çelik</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0,10</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0,03</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Ahşap – ahşap</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0,50</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0,35</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Çelik – çelik</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0,70</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0,60</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Lastik – kuru asfalt</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0,90</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0,70</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bl>
          </a:graphicData>
        </a:graphic>
      </p:graphicFrame>
      <p:sp>
        <p:nvSpPr>
          <p:cNvPr id="9" name="Shape 5"/>
          <p:cNvSpPr/>
          <p:nvPr/>
        </p:nvSpPr>
        <p:spPr>
          <a:xfrm>
            <a:off x="640080" y="6382512"/>
            <a:ext cx="128016" cy="128016"/>
          </a:xfrm>
          <a:prstGeom prst="roundRect">
            <a:avLst>
              <a:gd name="adj" fmla="val 28571"/>
            </a:avLst>
          </a:prstGeom>
          <a:solidFill>
            <a:srgbClr val="A9E648"/>
          </a:solidFill>
          <a:ln/>
        </p:spPr>
      </p:sp>
      <p:sp>
        <p:nvSpPr>
          <p:cNvPr id="10"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1"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50</a:t>
            </a:r>
            <a:endParaRPr lang="en-US" sz="105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Sürtünme neye bağlı, neye bağlı değil?</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6 / 7</a:t>
            </a:r>
            <a:endParaRPr lang="en-US" sz="950" dirty="0"/>
          </a:p>
        </p:txBody>
      </p:sp>
      <p:sp>
        <p:nvSpPr>
          <p:cNvPr id="6" name="Text 4"/>
          <p:cNvSpPr txBox="1"/>
          <p:nvPr/>
        </p:nvSpPr>
        <p:spPr>
          <a:xfrm>
            <a:off x="640080" y="1325880"/>
            <a:ext cx="10911535" cy="2202180"/>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Sayfanın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03</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numaralı bölümünde aynı kütleli üç blok, büyüklüğü farklı üç yüzü üzerinde aynı ilk hızla fırlatılır; üçü de aynı noktada durur.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Hız için de benzer bir durum vardır: bir kutuyu yavaş ya da hızlı kaydırman sürtünmeyi pek değiştirmez.</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Değişen tek şey sürtünmenin ne kadar sürdüğüdür.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51</a:t>
            </a:r>
            <a:endParaRPr lang="en-US" sz="105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Sürtünme neye bağlı, neye bağlı değil?</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7 / 7</a:t>
            </a:r>
            <a:endParaRPr lang="en-US" sz="950" dirty="0"/>
          </a:p>
        </p:txBody>
      </p:sp>
      <p:sp>
        <p:nvSpPr>
          <p:cNvPr id="6" name="Shape 4"/>
          <p:cNvSpPr/>
          <p:nvPr/>
        </p:nvSpPr>
        <p:spPr>
          <a:xfrm>
            <a:off x="1429908" y="1234440"/>
            <a:ext cx="9331879" cy="3880485"/>
          </a:xfrm>
          <a:prstGeom prst="roundRect">
            <a:avLst>
              <a:gd name="adj" fmla="val 377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dersler-sekiller/surtunme-kuvveti-05.png">    </p:cNvPr>
          <p:cNvPicPr>
            <a:picLocks noChangeAspect="1"/>
          </p:cNvPicPr>
          <p:nvPr/>
        </p:nvPicPr>
        <p:blipFill>
          <a:blip r:embed="rId1"/>
          <a:stretch>
            <a:fillRect/>
          </a:stretch>
        </p:blipFill>
        <p:spPr>
          <a:xfrm>
            <a:off x="1658508" y="1325880"/>
            <a:ext cx="8874679" cy="3697605"/>
          </a:xfrm>
          <a:prstGeom prst="rect">
            <a:avLst/>
          </a:prstGeom>
        </p:spPr>
      </p:pic>
      <p:sp>
        <p:nvSpPr>
          <p:cNvPr id="8" name="Text 5"/>
          <p:cNvSpPr txBox="1"/>
          <p:nvPr/>
        </p:nvSpPr>
        <p:spPr>
          <a:xfrm>
            <a:off x="1249528" y="5297805"/>
            <a:ext cx="9692640" cy="846963"/>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Aynı tuğlayı yan yatırmak temas alanını üçe katlar ama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sürtünmeyi değiştirmez</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f = μ·N bağıntısında alan hiç geçmez. Alan büyüdükçe birim alana düşen basınç küçülür, ikisi birbirini götürür. Sürtünmeyi gerçekten değiştiren şey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normal kuvvettir</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ikinci tuğlayı üstüne koyunca N iki katına çıkar, sürtünme de.</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52</a:t>
            </a:r>
            <a:endParaRPr lang="en-US" sz="105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Sürtünme neye bağlı, neye bağlı değil?</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2957D4"/>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2957D4"/>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Sürtünme normal kuvvete ve yüzey çiftine bağlıdır; temas alanına ve (yaklaşık olarak) kayma hızına bağlı değildir. Cisme bastırmak sürtünmeyi artırır, tuğlayı yan yatırmak değiştirmez.</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53</a:t>
            </a:r>
            <a:endParaRPr lang="en-US" sz="105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600" b="1" spc="-50" kern="0" dirty="0">
                <a:solidFill>
                  <a:srgbClr val="0E1426"/>
                </a:solidFill>
                <a:latin typeface="Cambria" pitchFamily="34" charset="0"/>
                <a:ea typeface="Cambria" pitchFamily="34" charset="-122"/>
                <a:cs typeface="Cambria" pitchFamily="34" charset="-120"/>
              </a:rPr>
              <a:t>Sayılarla hisset: ne kadar kuvvet, ne kadar yavaşlama?</a:t>
            </a:r>
            <a:endParaRPr lang="en-US" sz="26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5</a:t>
            </a:r>
            <a:endParaRPr lang="en-US" sz="950" dirty="0"/>
          </a:p>
        </p:txBody>
      </p:sp>
      <p:sp>
        <p:nvSpPr>
          <p:cNvPr id="6" name="Text 4"/>
          <p:cNvSpPr txBox="1"/>
          <p:nvPr/>
        </p:nvSpPr>
        <p:spPr>
          <a:xfrm>
            <a:off x="640080" y="1325880"/>
            <a:ext cx="10911535" cy="2202180"/>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Katsayılar soyut kalmasın.</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Bir önceki bölümdeki dört yüzey çiftini somut bir cisme uygulayalım: yatay zeminde duran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20 kg'lık</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bir kutu (g = 10 m/s², N = 200 N).</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Son sütun, kutu kendi hâlinde kayarken sürtünmenin ona verdiği yavaşlamadır: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54</a:t>
            </a:r>
            <a:endParaRPr lang="en-US" sz="105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600" b="1" spc="-50" kern="0" dirty="0">
                <a:solidFill>
                  <a:srgbClr val="0E1426"/>
                </a:solidFill>
                <a:latin typeface="Cambria" pitchFamily="34" charset="0"/>
                <a:ea typeface="Cambria" pitchFamily="34" charset="-122"/>
                <a:cs typeface="Cambria" pitchFamily="34" charset="-120"/>
              </a:rPr>
              <a:t>Sayılarla hisset: ne kadar kuvvet, ne kadar yavaşlama?</a:t>
            </a:r>
            <a:endParaRPr lang="en-US" sz="26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5</a:t>
            </a:r>
            <a:endParaRPr lang="en-US" sz="95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640080" y="1325880"/>
          <a:ext cx="10911535" cy="914400"/>
        </p:xfrm>
        <a:graphic>
          <a:graphicData uri="http://schemas.openxmlformats.org/drawingml/2006/table">
            <a:tbl>
              <a:tblPr/>
              <a:tblGrid>
                <a:gridCol w="2629286"/>
                <a:gridCol w="3023678"/>
                <a:gridCol w="3155143"/>
                <a:gridCol w="2103428"/>
              </a:tblGrid>
              <a:tr h="418338">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Yüzey çifti</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Kıpırdatmak için (μs·N)</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Kayarken sürtünme (μk·N)</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Yavaşlama (μk·g)</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Buz – çelik</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20 N</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6 N</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0,3 m/s²</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Ahşap – ahşap</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100 N</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70 N</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3,5 m/s²</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Çelik – çelik</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140 N</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120 N</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6 m/s²</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Lastik – kuru asfalt</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180 N</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140 N</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7 m/s²</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bl>
          </a:graphicData>
        </a:graphic>
      </p:graphicFrame>
      <p:sp>
        <p:nvSpPr>
          <p:cNvPr id="8" name="Shape 4"/>
          <p:cNvSpPr/>
          <p:nvPr/>
        </p:nvSpPr>
        <p:spPr>
          <a:xfrm>
            <a:off x="640080" y="6382512"/>
            <a:ext cx="128016" cy="128016"/>
          </a:xfrm>
          <a:prstGeom prst="roundRect">
            <a:avLst>
              <a:gd name="adj" fmla="val 28571"/>
            </a:avLst>
          </a:prstGeom>
          <a:solidFill>
            <a:srgbClr val="A9E648"/>
          </a:solidFill>
          <a:ln/>
        </p:spPr>
      </p:sp>
      <p:sp>
        <p:nvSpPr>
          <p:cNvPr id="9" name="Text 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0" name="Text 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55</a:t>
            </a:r>
            <a:endParaRPr lang="en-US" sz="105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600" b="1" spc="-50" kern="0" dirty="0">
                <a:solidFill>
                  <a:srgbClr val="0E1426"/>
                </a:solidFill>
                <a:latin typeface="Cambria" pitchFamily="34" charset="0"/>
                <a:ea typeface="Cambria" pitchFamily="34" charset="-122"/>
                <a:cs typeface="Cambria" pitchFamily="34" charset="-120"/>
              </a:rPr>
              <a:t>Sayılarla hisset: ne kadar kuvvet, ne kadar yavaşlama?</a:t>
            </a:r>
            <a:endParaRPr lang="en-US" sz="26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5</a:t>
            </a:r>
            <a:endParaRPr lang="en-US" sz="950" dirty="0"/>
          </a:p>
        </p:txBody>
      </p:sp>
      <p:sp>
        <p:nvSpPr>
          <p:cNvPr id="6" name="Text 4"/>
          <p:cNvSpPr txBox="1"/>
          <p:nvPr/>
        </p:nvSpPr>
        <p:spPr>
          <a:xfrm>
            <a:off x="640080" y="1325880"/>
            <a:ext cx="10911535" cy="47701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Tablodan okunan düzen:</a:t>
            </a:r>
            <a:endParaRPr lang="en-US" sz="2200" dirty="0"/>
          </a:p>
        </p:txBody>
      </p:sp>
      <p:sp>
        <p:nvSpPr>
          <p:cNvPr id="7" name="Text 5"/>
          <p:cNvSpPr txBox="1"/>
          <p:nvPr/>
        </p:nvSpPr>
        <p:spPr>
          <a:xfrm>
            <a:off x="640080" y="2004060"/>
            <a:ext cx="10911535" cy="248259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İkinci sütun hep üçüncüden büyük:</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her yüzeyde kıpırdatmak, itmeye devam etmekten zordur.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Buz ile asfalt arasında büyük fark:</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kutuyu kıpırdatmak için lastik–asfaltta buz–çeliğin 9 katı kuvvet gerekir.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Yavaşlama kütleden bağımsızdır: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10 m/s ile kayan kutu buz–çelikte yaklaşık 33 s'de, lastik–asfaltta 1,4 s'de durur; kutu kaç kilo olursa olsun.</a:t>
            </a:r>
            <a:endParaRPr lang="en-US" sz="2100" dirty="0"/>
          </a:p>
        </p:txBody>
      </p:sp>
      <p:sp>
        <p:nvSpPr>
          <p:cNvPr id="9" name="Shape 6"/>
          <p:cNvSpPr/>
          <p:nvPr/>
        </p:nvSpPr>
        <p:spPr>
          <a:xfrm>
            <a:off x="640080" y="6382512"/>
            <a:ext cx="128016" cy="128016"/>
          </a:xfrm>
          <a:prstGeom prst="roundRect">
            <a:avLst>
              <a:gd name="adj" fmla="val 28571"/>
            </a:avLst>
          </a:prstGeom>
          <a:solidFill>
            <a:srgbClr val="A9E648"/>
          </a:solidFill>
          <a:ln/>
        </p:spPr>
      </p:sp>
      <p:sp>
        <p:nvSpPr>
          <p:cNvPr id="10"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1"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56</a:t>
            </a:r>
            <a:endParaRPr lang="en-US" sz="105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600" b="1" spc="-50" kern="0" dirty="0">
                <a:solidFill>
                  <a:srgbClr val="0E1426"/>
                </a:solidFill>
                <a:latin typeface="Cambria" pitchFamily="34" charset="0"/>
                <a:ea typeface="Cambria" pitchFamily="34" charset="-122"/>
                <a:cs typeface="Cambria" pitchFamily="34" charset="-120"/>
              </a:rPr>
              <a:t>Sayılarla hisset: ne kadar kuvvet, ne kadar yavaşlama?</a:t>
            </a:r>
            <a:endParaRPr lang="en-US" sz="26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5</a:t>
            </a:r>
            <a:endParaRPr lang="en-US" sz="950" dirty="0"/>
          </a:p>
        </p:txBody>
      </p:sp>
      <p:sp>
        <p:nvSpPr>
          <p:cNvPr id="6" name="Shape 4"/>
          <p:cNvSpPr/>
          <p:nvPr/>
        </p:nvSpPr>
        <p:spPr>
          <a:xfrm>
            <a:off x="3303541" y="1234440"/>
            <a:ext cx="5584613" cy="3643884"/>
          </a:xfrm>
          <a:prstGeom prst="roundRect">
            <a:avLst>
              <a:gd name="adj" fmla="val 401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dersler-sekiller/surtunme-kuvveti-06.png">    </p:cNvPr>
          <p:cNvPicPr>
            <a:picLocks noChangeAspect="1"/>
          </p:cNvPicPr>
          <p:nvPr/>
        </p:nvPicPr>
        <p:blipFill>
          <a:blip r:embed="rId1"/>
          <a:stretch>
            <a:fillRect/>
          </a:stretch>
        </p:blipFill>
        <p:spPr>
          <a:xfrm>
            <a:off x="3532141" y="1325880"/>
            <a:ext cx="5127413" cy="3461004"/>
          </a:xfrm>
          <a:prstGeom prst="rect">
            <a:avLst/>
          </a:prstGeom>
        </p:spPr>
      </p:pic>
      <p:sp>
        <p:nvSpPr>
          <p:cNvPr id="8" name="Text 5"/>
          <p:cNvSpPr txBox="1"/>
          <p:nvPr/>
        </p:nvSpPr>
        <p:spPr>
          <a:xfrm>
            <a:off x="1249528" y="5061204"/>
            <a:ext cx="9692640" cy="1083564"/>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Tablonun çubuklara dökülmüş hâli; çubuk boyları kuvvetle orantılı. Her satırda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mavi çubuk sarıdan uzun</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kıpırdatmak, itmeyi sürdürmekten hep zordur. En alttaki mavi çubuğu buzdaki çubuk boyunda parçalara bölersen tam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9 parça</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çıkar. Sağdaki yavaşlama da aynı sırayla büyür: yüzey ne kadar tutarsa kayan kutu o kadar çabuk durur.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57</a:t>
            </a:r>
            <a:endParaRPr lang="en-US" sz="105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600" b="1" spc="-50" kern="0" dirty="0">
                <a:solidFill>
                  <a:srgbClr val="0E1426"/>
                </a:solidFill>
                <a:latin typeface="Cambria" pitchFamily="34" charset="0"/>
                <a:ea typeface="Cambria" pitchFamily="34" charset="-122"/>
                <a:cs typeface="Cambria" pitchFamily="34" charset="-120"/>
              </a:rPr>
              <a:t>Sayılarla hisset: ne kadar kuvvet, ne kadar yavaşlama?</a:t>
            </a:r>
            <a:endParaRPr lang="en-US" sz="26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5</a:t>
            </a:r>
            <a:endParaRPr lang="en-US" sz="950" dirty="0"/>
          </a:p>
        </p:txBody>
      </p:sp>
      <p:sp>
        <p:nvSpPr>
          <p:cNvPr id="6" name="Shape 4"/>
          <p:cNvSpPr/>
          <p:nvPr/>
        </p:nvSpPr>
        <p:spPr>
          <a:xfrm>
            <a:off x="640080" y="1399032"/>
            <a:ext cx="64008" cy="310896"/>
          </a:xfrm>
          <a:prstGeom prst="rect">
            <a:avLst/>
          </a:prstGeom>
          <a:solidFill>
            <a:srgbClr val="2957D4"/>
          </a:solidFill>
          <a:ln/>
        </p:spPr>
      </p:sp>
      <p:sp>
        <p:nvSpPr>
          <p:cNvPr id="7" name="Text 5"/>
          <p:cNvSpPr txBox="1"/>
          <p:nvPr/>
        </p:nvSpPr>
        <p:spPr>
          <a:xfrm>
            <a:off x="822960" y="1325880"/>
            <a:ext cx="10728655" cy="457200"/>
          </a:xfrm>
          <a:prstGeom prst="rect">
            <a:avLst/>
          </a:prstGeom>
          <a:noFill/>
          <a:ln/>
        </p:spPr>
        <p:txBody>
          <a:bodyPr wrap="square" lIns="0" tIns="0" rIns="0" bIns="0" rtlCol="0" anchor="ctr"/>
          <a:lstStyle/>
          <a:p>
            <a:pPr indent="0" marL="0">
              <a:buNone/>
            </a:pPr>
            <a:r>
              <a:rPr lang="en-US" sz="2200" b="1" dirty="0">
                <a:solidFill>
                  <a:srgbClr val="0E1426"/>
                </a:solidFill>
                <a:latin typeface="Cambria" pitchFamily="34" charset="0"/>
                <a:ea typeface="Cambria" pitchFamily="34" charset="-122"/>
                <a:cs typeface="Cambria" pitchFamily="34" charset="-120"/>
              </a:rPr>
              <a:t>Yavaşlama neden μk·g?</a:t>
            </a:r>
            <a:endParaRPr lang="en-US" sz="2200" dirty="0"/>
          </a:p>
        </p:txBody>
      </p:sp>
      <p:sp>
        <p:nvSpPr>
          <p:cNvPr id="8" name="Text 6"/>
          <p:cNvSpPr txBox="1"/>
          <p:nvPr/>
        </p:nvSpPr>
        <p:spPr>
          <a:xfrm>
            <a:off x="640080" y="1892808"/>
            <a:ext cx="10911535" cy="1837944"/>
          </a:xfrm>
          <a:prstGeom prst="rect">
            <a:avLst/>
          </a:prstGeom>
          <a:noFill/>
          <a:ln/>
        </p:spPr>
        <p:txBody>
          <a:bodyPr wrap="square" lIns="0" tIns="0" rIns="0" bIns="0" rtlCol="0" anchor="t"/>
          <a:lstStyle/>
          <a:p>
            <a:pPr marL="228600" indent="-228600">
              <a:lnSpc>
                <a:spcPct val="115000"/>
              </a:lnSpc>
              <a:spcAft>
                <a:spcPts val="800"/>
              </a:spcAft>
              <a:buSzPct val="100000"/>
              <a:buFont typeface="+mj-lt"/>
              <a:buAutoNum type="arabicPeriod" startAt="1"/>
            </a:pPr>
            <a:r>
              <a:rPr lang="en-US" sz="2100" dirty="0">
                <a:solidFill>
                  <a:srgbClr val="0E1426"/>
                </a:solidFill>
                <a:latin typeface="Calibri" pitchFamily="34" charset="0"/>
                <a:ea typeface="Calibri" pitchFamily="34" charset="-122"/>
                <a:cs typeface="Calibri" pitchFamily="34" charset="-120"/>
              </a:rPr>
              <a:t>Kayan kutuya etki eden tek yatay kuvvet sürtünmedir: f = μ</a:t>
            </a:r>
            <a:pPr indent="0" marL="0">
              <a:lnSpc>
                <a:spcPct val="115000"/>
              </a:lnSpc>
              <a:buNone/>
            </a:pPr>
            <a:r>
              <a:rPr lang="en-US" sz="2100" baseline="-40000" dirty="0">
                <a:solidFill>
                  <a:srgbClr val="0E1426"/>
                </a:solidFill>
                <a:latin typeface="Calibri" pitchFamily="34" charset="0"/>
                <a:ea typeface="Calibri" pitchFamily="34" charset="-122"/>
                <a:cs typeface="Calibri" pitchFamily="34" charset="-120"/>
              </a:rPr>
              <a:t>k</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·N.</a:t>
            </a:r>
            <a:endParaRPr lang="en-US" sz="2100" dirty="0"/>
          </a:p>
          <a:p>
            <a:pPr marL="228600" indent="-228600">
              <a:lnSpc>
                <a:spcPct val="115000"/>
              </a:lnSpc>
              <a:spcAft>
                <a:spcPts val="800"/>
              </a:spcAft>
              <a:buSzPct val="100000"/>
              <a:buFont typeface="+mj-lt"/>
              <a:buAutoNum type="arabicPeriod" startAt="1"/>
            </a:pPr>
            <a:r>
              <a:rPr lang="en-US" sz="2100" dirty="0">
                <a:solidFill>
                  <a:srgbClr val="0E1426"/>
                </a:solidFill>
                <a:latin typeface="Calibri" pitchFamily="34" charset="0"/>
                <a:ea typeface="Calibri" pitchFamily="34" charset="-122"/>
                <a:cs typeface="Calibri" pitchFamily="34" charset="-120"/>
              </a:rPr>
              <a:t>Yatay zeminde N = m·g olduğundan f = μ</a:t>
            </a:r>
            <a:pPr indent="0" marL="0">
              <a:lnSpc>
                <a:spcPct val="115000"/>
              </a:lnSpc>
              <a:buNone/>
            </a:pPr>
            <a:r>
              <a:rPr lang="en-US" sz="2100" baseline="-40000" dirty="0">
                <a:solidFill>
                  <a:srgbClr val="0E1426"/>
                </a:solidFill>
                <a:latin typeface="Calibri" pitchFamily="34" charset="0"/>
                <a:ea typeface="Calibri" pitchFamily="34" charset="-122"/>
                <a:cs typeface="Calibri" pitchFamily="34" charset="-120"/>
              </a:rPr>
              <a:t>k</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·m·g.</a:t>
            </a:r>
            <a:endParaRPr lang="en-US" sz="2100" dirty="0"/>
          </a:p>
          <a:p>
            <a:pPr marL="228600" indent="-228600">
              <a:lnSpc>
                <a:spcPct val="115000"/>
              </a:lnSpc>
              <a:spcAft>
                <a:spcPts val="800"/>
              </a:spcAft>
              <a:buSzPct val="100000"/>
              <a:buFont typeface="+mj-lt"/>
              <a:buAutoNum type="arabicPeriod" startAt="1"/>
            </a:pPr>
            <a:r>
              <a:rPr lang="en-US" sz="2100" dirty="0">
                <a:solidFill>
                  <a:srgbClr val="0E1426"/>
                </a:solidFill>
                <a:latin typeface="Calibri" pitchFamily="34" charset="0"/>
                <a:ea typeface="Calibri" pitchFamily="34" charset="-122"/>
                <a:cs typeface="Calibri" pitchFamily="34" charset="-120"/>
              </a:rPr>
              <a:t>Newton'un ikinci yasası: m·a = μ</a:t>
            </a:r>
            <a:pPr indent="0" marL="0">
              <a:lnSpc>
                <a:spcPct val="115000"/>
              </a:lnSpc>
              <a:buNone/>
            </a:pPr>
            <a:r>
              <a:rPr lang="en-US" sz="2100" baseline="-40000" dirty="0">
                <a:solidFill>
                  <a:srgbClr val="0E1426"/>
                </a:solidFill>
                <a:latin typeface="Calibri" pitchFamily="34" charset="0"/>
                <a:ea typeface="Calibri" pitchFamily="34" charset="-122"/>
                <a:cs typeface="Calibri" pitchFamily="34" charset="-120"/>
              </a:rPr>
              <a:t>k</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·m·g.</a:t>
            </a:r>
            <a:endParaRPr lang="en-US" sz="2100" dirty="0"/>
          </a:p>
          <a:p>
            <a:pPr marL="228600" indent="-228600">
              <a:lnSpc>
                <a:spcPct val="115000"/>
              </a:lnSpc>
              <a:spcAft>
                <a:spcPts val="800"/>
              </a:spcAft>
              <a:buSzPct val="100000"/>
              <a:buFont typeface="+mj-lt"/>
              <a:buAutoNum type="arabicPeriod" startAt="1"/>
            </a:pPr>
            <a:r>
              <a:rPr lang="en-US" sz="2100" dirty="0">
                <a:solidFill>
                  <a:srgbClr val="0E1426"/>
                </a:solidFill>
                <a:latin typeface="Calibri" pitchFamily="34" charset="0"/>
                <a:ea typeface="Calibri" pitchFamily="34" charset="-122"/>
                <a:cs typeface="Calibri" pitchFamily="34" charset="-120"/>
              </a:rPr>
              <a:t>Kütle iki yanda da var, sadeleşir: </a:t>
            </a:r>
            <a:pPr indent="0" marL="0">
              <a:lnSpc>
                <a:spcPct val="115000"/>
              </a:lnSpc>
              <a:buNone/>
            </a:pPr>
            <a:r>
              <a:rPr lang="en-US" sz="2100" b="1" dirty="0">
                <a:solidFill>
                  <a:srgbClr val="0E1426"/>
                </a:solidFill>
                <a:latin typeface="Calibri" pitchFamily="34" charset="0"/>
                <a:ea typeface="Calibri" pitchFamily="34" charset="-122"/>
                <a:cs typeface="Calibri" pitchFamily="34" charset="-120"/>
              </a:rPr>
              <a:t>a = μ</a:t>
            </a:r>
            <a:pPr indent="0" marL="0">
              <a:lnSpc>
                <a:spcPct val="115000"/>
              </a:lnSpc>
              <a:buNone/>
            </a:pPr>
            <a:r>
              <a:rPr lang="en-US" sz="2100" b="1" baseline="-40000" dirty="0">
                <a:solidFill>
                  <a:srgbClr val="0E1426"/>
                </a:solidFill>
                <a:latin typeface="Calibri" pitchFamily="34" charset="0"/>
                <a:ea typeface="Calibri" pitchFamily="34" charset="-122"/>
                <a:cs typeface="Calibri" pitchFamily="34" charset="-120"/>
              </a:rPr>
              <a:t>k</a:t>
            </a:r>
            <a:pPr indent="0" marL="0">
              <a:lnSpc>
                <a:spcPct val="115000"/>
              </a:lnSpc>
              <a:buNone/>
            </a:pPr>
            <a:r>
              <a:rPr lang="en-US" sz="2100" b="1" dirty="0">
                <a:solidFill>
                  <a:srgbClr val="0E1426"/>
                </a:solidFill>
                <a:latin typeface="Calibri" pitchFamily="34" charset="0"/>
                <a:ea typeface="Calibri" pitchFamily="34" charset="-122"/>
                <a:cs typeface="Calibri" pitchFamily="34" charset="-120"/>
              </a:rPr>
              <a:t>·g</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a:t>
            </a:r>
            <a:endParaRPr lang="en-US" sz="2100" dirty="0"/>
          </a:p>
        </p:txBody>
      </p:sp>
      <p:sp>
        <p:nvSpPr>
          <p:cNvPr id="9" name="Text 7"/>
          <p:cNvSpPr txBox="1"/>
          <p:nvPr/>
        </p:nvSpPr>
        <p:spPr>
          <a:xfrm>
            <a:off x="640080" y="3931920"/>
            <a:ext cx="10911535" cy="86258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Serbest düşmedeki gibi kütle sadeleşir: ağır kutu daha büyük sürtünmeyle frenlenir, ama durdurulması da o oranda zordur.</a:t>
            </a:r>
            <a:endParaRPr lang="en-US" sz="2200" dirty="0"/>
          </a:p>
        </p:txBody>
      </p:sp>
      <p:sp>
        <p:nvSpPr>
          <p:cNvPr id="11" name="Shape 8"/>
          <p:cNvSpPr/>
          <p:nvPr/>
        </p:nvSpPr>
        <p:spPr>
          <a:xfrm>
            <a:off x="640080" y="6382512"/>
            <a:ext cx="128016" cy="128016"/>
          </a:xfrm>
          <a:prstGeom prst="roundRect">
            <a:avLst>
              <a:gd name="adj" fmla="val 28571"/>
            </a:avLst>
          </a:prstGeom>
          <a:solidFill>
            <a:srgbClr val="A9E648"/>
          </a:solidFill>
          <a:ln/>
        </p:spPr>
      </p:sp>
      <p:sp>
        <p:nvSpPr>
          <p:cNvPr id="12"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3"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58</a:t>
            </a:r>
            <a:endParaRPr lang="en-US" sz="105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600" b="1" spc="-50" kern="0" dirty="0">
                <a:solidFill>
                  <a:srgbClr val="0E1426"/>
                </a:solidFill>
                <a:latin typeface="Cambria" pitchFamily="34" charset="0"/>
                <a:ea typeface="Cambria" pitchFamily="34" charset="-122"/>
                <a:cs typeface="Cambria" pitchFamily="34" charset="-120"/>
              </a:rPr>
              <a:t>Sayılarla hisset: ne kadar kuvvet, ne kadar yavaşlama?</a:t>
            </a:r>
            <a:endParaRPr lang="en-US" sz="26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2957D4"/>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2957D4"/>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Aynı 20 kg'lık kutuyu buz–çelikte kıpırdatmak için 20 N, lastik–asfaltta 180 N gerekir. Kendi hâlinde kayan cisim a = μ</a:t>
            </a:r>
            <a:pPr indent="0" marL="0">
              <a:lnSpc>
                <a:spcPct val="125000"/>
              </a:lnSpc>
              <a:buNone/>
            </a:pPr>
            <a:r>
              <a:rPr lang="en-US" sz="2800" baseline="-40000" dirty="0">
                <a:solidFill>
                  <a:srgbClr val="0E1426"/>
                </a:solidFill>
                <a:latin typeface="Cambria" pitchFamily="34" charset="0"/>
                <a:ea typeface="Cambria" pitchFamily="34" charset="-122"/>
                <a:cs typeface="Cambria" pitchFamily="34" charset="-120"/>
              </a:rPr>
              <a:t>k</a:t>
            </a:r>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·g ile yavaşlar; bu yavaşlama kütleden bağımsızdır.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59</a:t>
            </a:r>
            <a:endParaRPr lang="en-US" sz="105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Eğik düzlemde sürtünme</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7</a:t>
            </a:r>
            <a:endParaRPr lang="en-US" sz="950" dirty="0"/>
          </a:p>
        </p:txBody>
      </p:sp>
      <p:sp>
        <p:nvSpPr>
          <p:cNvPr id="6" name="Text 4"/>
          <p:cNvSpPr txBox="1"/>
          <p:nvPr/>
        </p:nvSpPr>
        <p:spPr>
          <a:xfrm>
            <a:off x="640080" y="1325880"/>
            <a:ext cx="10911535" cy="124815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Eğik düzlemde ağırlığı iki bileşene ayırırız: eğime paralel olan bileşen cismi aşağı çekmeye çalışır, dik olan bileşen ise normal kuvveti belirler.</a:t>
            </a:r>
            <a:endParaRPr lang="en-US" sz="2200" dirty="0"/>
          </a:p>
        </p:txBody>
      </p:sp>
      <p:sp>
        <p:nvSpPr>
          <p:cNvPr id="7" name="Shape 5"/>
          <p:cNvSpPr/>
          <p:nvPr/>
        </p:nvSpPr>
        <p:spPr>
          <a:xfrm>
            <a:off x="640080" y="2775204"/>
            <a:ext cx="3189427" cy="585216"/>
          </a:xfrm>
          <a:prstGeom prst="roundRect">
            <a:avLst>
              <a:gd name="adj" fmla="val 18750"/>
            </a:avLst>
          </a:prstGeom>
          <a:solidFill>
            <a:srgbClr val="EEF2FC"/>
          </a:solidFill>
          <a:ln w="9525">
            <a:solidFill>
              <a:srgbClr val="CBD7F4"/>
            </a:solidFill>
            <a:prstDash val="solid"/>
          </a:ln>
        </p:spPr>
      </p:sp>
      <p:sp>
        <p:nvSpPr>
          <p:cNvPr id="8" name="Text 6"/>
          <p:cNvSpPr txBox="1"/>
          <p:nvPr/>
        </p:nvSpPr>
        <p:spPr>
          <a:xfrm>
            <a:off x="640080" y="2775204"/>
            <a:ext cx="3189427"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Fparalel = m·g·sinθ</a:t>
            </a:r>
            <a:endParaRPr lang="en-US" sz="1800" dirty="0"/>
          </a:p>
        </p:txBody>
      </p:sp>
      <p:sp>
        <p:nvSpPr>
          <p:cNvPr id="9" name="Shape 7"/>
          <p:cNvSpPr/>
          <p:nvPr/>
        </p:nvSpPr>
        <p:spPr>
          <a:xfrm>
            <a:off x="3975811" y="2775204"/>
            <a:ext cx="2216506" cy="585216"/>
          </a:xfrm>
          <a:prstGeom prst="roundRect">
            <a:avLst>
              <a:gd name="adj" fmla="val 18750"/>
            </a:avLst>
          </a:prstGeom>
          <a:solidFill>
            <a:srgbClr val="EEF2FC"/>
          </a:solidFill>
          <a:ln w="9525">
            <a:solidFill>
              <a:srgbClr val="CBD7F4"/>
            </a:solidFill>
            <a:prstDash val="solid"/>
          </a:ln>
        </p:spPr>
      </p:sp>
      <p:sp>
        <p:nvSpPr>
          <p:cNvPr id="10" name="Text 8"/>
          <p:cNvSpPr txBox="1"/>
          <p:nvPr/>
        </p:nvSpPr>
        <p:spPr>
          <a:xfrm>
            <a:off x="3975811" y="2775204"/>
            <a:ext cx="2216506"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N = m·g·cosθ</a:t>
            </a:r>
            <a:endParaRPr lang="en-US" sz="1800" dirty="0"/>
          </a:p>
        </p:txBody>
      </p:sp>
      <p:sp>
        <p:nvSpPr>
          <p:cNvPr id="11" name="Shape 9"/>
          <p:cNvSpPr/>
          <p:nvPr/>
        </p:nvSpPr>
        <p:spPr>
          <a:xfrm>
            <a:off x="6338621" y="2775204"/>
            <a:ext cx="3189427" cy="585216"/>
          </a:xfrm>
          <a:prstGeom prst="roundRect">
            <a:avLst>
              <a:gd name="adj" fmla="val 18750"/>
            </a:avLst>
          </a:prstGeom>
          <a:solidFill>
            <a:srgbClr val="EEF2FC"/>
          </a:solidFill>
          <a:ln w="9525">
            <a:solidFill>
              <a:srgbClr val="CBD7F4"/>
            </a:solidFill>
            <a:prstDash val="solid"/>
          </a:ln>
        </p:spPr>
      </p:sp>
      <p:sp>
        <p:nvSpPr>
          <p:cNvPr id="12" name="Text 10"/>
          <p:cNvSpPr txBox="1"/>
          <p:nvPr/>
        </p:nvSpPr>
        <p:spPr>
          <a:xfrm>
            <a:off x="6338621" y="2775204"/>
            <a:ext cx="3189427"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fmaks = μs·m·g·cosθ</a:t>
            </a:r>
            <a:endParaRPr lang="en-US" sz="1800" dirty="0"/>
          </a:p>
        </p:txBody>
      </p:sp>
      <p:sp>
        <p:nvSpPr>
          <p:cNvPr id="14" name="Shape 11"/>
          <p:cNvSpPr/>
          <p:nvPr/>
        </p:nvSpPr>
        <p:spPr>
          <a:xfrm>
            <a:off x="640080" y="6382512"/>
            <a:ext cx="128016" cy="128016"/>
          </a:xfrm>
          <a:prstGeom prst="roundRect">
            <a:avLst>
              <a:gd name="adj" fmla="val 28571"/>
            </a:avLst>
          </a:prstGeom>
          <a:solidFill>
            <a:srgbClr val="A9E648"/>
          </a:solidFill>
          <a:ln/>
        </p:spPr>
      </p:sp>
      <p:sp>
        <p:nvSpPr>
          <p:cNvPr id="15" name="Text 1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6" name="Text 13"/>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60</a:t>
            </a:r>
            <a:endParaRPr lang="en-US" sz="105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Eğik düzlemde sürtünme</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7</a:t>
            </a:r>
            <a:endParaRPr lang="en-US" sz="950" dirty="0"/>
          </a:p>
        </p:txBody>
      </p:sp>
      <p:sp>
        <p:nvSpPr>
          <p:cNvPr id="6" name="Shape 4"/>
          <p:cNvSpPr/>
          <p:nvPr/>
        </p:nvSpPr>
        <p:spPr>
          <a:xfrm>
            <a:off x="640080" y="1399032"/>
            <a:ext cx="64008" cy="310896"/>
          </a:xfrm>
          <a:prstGeom prst="rect">
            <a:avLst/>
          </a:prstGeom>
          <a:solidFill>
            <a:srgbClr val="2957D4"/>
          </a:solidFill>
          <a:ln/>
        </p:spPr>
      </p:sp>
      <p:sp>
        <p:nvSpPr>
          <p:cNvPr id="7" name="Text 5"/>
          <p:cNvSpPr txBox="1"/>
          <p:nvPr/>
        </p:nvSpPr>
        <p:spPr>
          <a:xfrm>
            <a:off x="822960" y="1325880"/>
            <a:ext cx="10728655" cy="457200"/>
          </a:xfrm>
          <a:prstGeom prst="rect">
            <a:avLst/>
          </a:prstGeom>
          <a:noFill/>
          <a:ln/>
        </p:spPr>
        <p:txBody>
          <a:bodyPr wrap="square" lIns="0" tIns="0" rIns="0" bIns="0" rtlCol="0" anchor="ctr"/>
          <a:lstStyle/>
          <a:p>
            <a:pPr indent="0" marL="0">
              <a:buNone/>
            </a:pPr>
            <a:r>
              <a:rPr lang="en-US" sz="2200" b="1" dirty="0">
                <a:solidFill>
                  <a:srgbClr val="0E1426"/>
                </a:solidFill>
                <a:latin typeface="Cambria" pitchFamily="34" charset="0"/>
                <a:ea typeface="Cambria" pitchFamily="34" charset="-122"/>
                <a:cs typeface="Cambria" pitchFamily="34" charset="-120"/>
              </a:rPr>
              <a:t>Kritik açı nereden çıkıyor?</a:t>
            </a:r>
            <a:endParaRPr lang="en-US" sz="2200" dirty="0"/>
          </a:p>
        </p:txBody>
      </p:sp>
      <p:sp>
        <p:nvSpPr>
          <p:cNvPr id="8" name="Text 6"/>
          <p:cNvSpPr txBox="1"/>
          <p:nvPr/>
        </p:nvSpPr>
        <p:spPr>
          <a:xfrm>
            <a:off x="640080" y="1892808"/>
            <a:ext cx="10911535" cy="2942082"/>
          </a:xfrm>
          <a:prstGeom prst="rect">
            <a:avLst/>
          </a:prstGeom>
          <a:noFill/>
          <a:ln/>
        </p:spPr>
        <p:txBody>
          <a:bodyPr wrap="square" lIns="0" tIns="0" rIns="0" bIns="0" rtlCol="0" anchor="t"/>
          <a:lstStyle/>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Dik doğrultu:</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cisim eğime dik yönde hareket etmez; N, ağırlığın dik bileşenini dengeler: N = m·g·cosθ.</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Eşik:</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statik sürtünme en fazla μ</a:t>
            </a:r>
            <a:pPr indent="0" marL="0">
              <a:lnSpc>
                <a:spcPct val="115000"/>
              </a:lnSpc>
              <a:buNone/>
            </a:pPr>
            <a:r>
              <a:rPr lang="en-US" sz="2100" baseline="-40000" dirty="0">
                <a:solidFill>
                  <a:srgbClr val="0E1426"/>
                </a:solidFill>
                <a:latin typeface="Calibri" pitchFamily="34" charset="0"/>
                <a:ea typeface="Calibri" pitchFamily="34" charset="-122"/>
                <a:cs typeface="Calibri" pitchFamily="34" charset="-120"/>
              </a:rPr>
              <a:t>s</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·N = μ</a:t>
            </a:r>
            <a:pPr indent="0" marL="0">
              <a:lnSpc>
                <a:spcPct val="115000"/>
              </a:lnSpc>
              <a:buNone/>
            </a:pPr>
            <a:r>
              <a:rPr lang="en-US" sz="2100" baseline="-40000" dirty="0">
                <a:solidFill>
                  <a:srgbClr val="0E1426"/>
                </a:solidFill>
                <a:latin typeface="Calibri" pitchFamily="34" charset="0"/>
                <a:ea typeface="Calibri" pitchFamily="34" charset="-122"/>
                <a:cs typeface="Calibri" pitchFamily="34" charset="-120"/>
              </a:rPr>
              <a:t>s</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·m·g·cosθ olabilir.</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Kayma koşulu:</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paralel bileşen eşiği geçince cisim kayar: m·g·sinθ &gt; μ</a:t>
            </a:r>
            <a:pPr indent="0" marL="0">
              <a:lnSpc>
                <a:spcPct val="115000"/>
              </a:lnSpc>
              <a:buNone/>
            </a:pPr>
            <a:r>
              <a:rPr lang="en-US" sz="2100" baseline="-40000" dirty="0">
                <a:solidFill>
                  <a:srgbClr val="0E1426"/>
                </a:solidFill>
                <a:latin typeface="Calibri" pitchFamily="34" charset="0"/>
                <a:ea typeface="Calibri" pitchFamily="34" charset="-122"/>
                <a:cs typeface="Calibri" pitchFamily="34" charset="-120"/>
              </a:rPr>
              <a:t>s</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·m·g·cosθ.</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Sadeleştir: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m·g iki yanda da var; sinθ/cosθ = tanθ olduğundan kayma tanθ &gt; μ</a:t>
            </a:r>
            <a:pPr indent="0" marL="0">
              <a:lnSpc>
                <a:spcPct val="115000"/>
              </a:lnSpc>
              <a:buNone/>
            </a:pPr>
            <a:r>
              <a:rPr lang="en-US" sz="2100" baseline="-40000" dirty="0">
                <a:solidFill>
                  <a:srgbClr val="0E1426"/>
                </a:solidFill>
                <a:latin typeface="Calibri" pitchFamily="34" charset="0"/>
                <a:ea typeface="Calibri" pitchFamily="34" charset="-122"/>
                <a:cs typeface="Calibri" pitchFamily="34" charset="-120"/>
              </a:rPr>
              <a:t>s</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iken başlar.</a:t>
            </a:r>
            <a:endParaRPr lang="en-US" sz="2100" dirty="0"/>
          </a:p>
        </p:txBody>
      </p:sp>
      <p:sp>
        <p:nvSpPr>
          <p:cNvPr id="10" name="Shape 7"/>
          <p:cNvSpPr/>
          <p:nvPr/>
        </p:nvSpPr>
        <p:spPr>
          <a:xfrm>
            <a:off x="640080" y="6382512"/>
            <a:ext cx="128016" cy="128016"/>
          </a:xfrm>
          <a:prstGeom prst="roundRect">
            <a:avLst>
              <a:gd name="adj" fmla="val 28571"/>
            </a:avLst>
          </a:prstGeom>
          <a:solidFill>
            <a:srgbClr val="A9E648"/>
          </a:solidFill>
          <a:ln/>
        </p:spPr>
      </p:sp>
      <p:sp>
        <p:nvSpPr>
          <p:cNvPr id="11"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2"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61</a:t>
            </a:r>
            <a:endParaRPr lang="en-US" sz="105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Eğik düzlemde sürtünme</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7</a:t>
            </a:r>
            <a:endParaRPr lang="en-US" sz="950" dirty="0"/>
          </a:p>
        </p:txBody>
      </p:sp>
      <p:sp>
        <p:nvSpPr>
          <p:cNvPr id="6" name="Text 4"/>
          <p:cNvSpPr txBox="1"/>
          <p:nvPr/>
        </p:nvSpPr>
        <p:spPr>
          <a:xfrm>
            <a:off x="640080" y="1325880"/>
            <a:ext cx="10911535" cy="47701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Kütleler sadeleşince geriye çok zarif bir sonuç kalır:</a:t>
            </a:r>
            <a:endParaRPr lang="en-US" sz="2200" dirty="0"/>
          </a:p>
        </p:txBody>
      </p:sp>
      <p:sp>
        <p:nvSpPr>
          <p:cNvPr id="7" name="Shape 5"/>
          <p:cNvSpPr/>
          <p:nvPr/>
        </p:nvSpPr>
        <p:spPr>
          <a:xfrm>
            <a:off x="640080" y="2004060"/>
            <a:ext cx="2633472" cy="585216"/>
          </a:xfrm>
          <a:prstGeom prst="roundRect">
            <a:avLst>
              <a:gd name="adj" fmla="val 18750"/>
            </a:avLst>
          </a:prstGeom>
          <a:solidFill>
            <a:srgbClr val="EEF2FC"/>
          </a:solidFill>
          <a:ln w="9525">
            <a:solidFill>
              <a:srgbClr val="CBD7F4"/>
            </a:solidFill>
            <a:prstDash val="solid"/>
          </a:ln>
        </p:spPr>
      </p:sp>
      <p:sp>
        <p:nvSpPr>
          <p:cNvPr id="8" name="Text 6"/>
          <p:cNvSpPr txBox="1"/>
          <p:nvPr/>
        </p:nvSpPr>
        <p:spPr>
          <a:xfrm>
            <a:off x="640080" y="2004060"/>
            <a:ext cx="2633472"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tanθkritik = μs</a:t>
            </a:r>
            <a:endParaRPr lang="en-US" sz="1800" dirty="0"/>
          </a:p>
        </p:txBody>
      </p:sp>
      <p:sp>
        <p:nvSpPr>
          <p:cNvPr id="10" name="Shape 7"/>
          <p:cNvSpPr/>
          <p:nvPr/>
        </p:nvSpPr>
        <p:spPr>
          <a:xfrm>
            <a:off x="640080" y="6382512"/>
            <a:ext cx="128016" cy="128016"/>
          </a:xfrm>
          <a:prstGeom prst="roundRect">
            <a:avLst>
              <a:gd name="adj" fmla="val 28571"/>
            </a:avLst>
          </a:prstGeom>
          <a:solidFill>
            <a:srgbClr val="A9E648"/>
          </a:solidFill>
          <a:ln/>
        </p:spPr>
      </p:sp>
      <p:sp>
        <p:nvSpPr>
          <p:cNvPr id="11"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2"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62</a:t>
            </a:r>
            <a:endParaRPr lang="en-US" sz="105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Eğik düzlemde sürtünme</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7</a:t>
            </a:r>
            <a:endParaRPr lang="en-US" sz="950" dirty="0"/>
          </a:p>
        </p:txBody>
      </p:sp>
      <p:sp>
        <p:nvSpPr>
          <p:cNvPr id="6" name="Text 4"/>
          <p:cNvSpPr txBox="1"/>
          <p:nvPr/>
        </p:nvSpPr>
        <p:spPr>
          <a:xfrm>
            <a:off x="640080" y="1325880"/>
            <a:ext cx="10911535" cy="2202180"/>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Yani cismin kaymaya başladığı açının tanjantı, doğrudan statik sürtünme katsayısını verir.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Laboratuvarda μ ölçmenin en kolay yolu budur — sayfadaki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02</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numaralı bölüm tam olarak bunu yapıyor.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Oradaki üç yüzeyin kritik açıları:</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63</a:t>
            </a:r>
            <a:endParaRPr lang="en-US" sz="105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Eğik düzlemde sürtünme</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7</a:t>
            </a:r>
            <a:endParaRPr lang="en-US" sz="950" dirty="0"/>
          </a:p>
        </p:txBody>
      </p:sp>
      <p:graphicFrame>
        <p:nvGraphicFramePr>
          <p:cNvPr id="65" name="Table 0"/>
          <p:cNvGraphicFramePr>
            <a:graphicFrameLocks noGrp="1"/>
          </p:cNvGraphicFramePr>
          <p:nvPr>
            <p:extLst>
              <p:ext uri="{D42A27DB-BD31-4B8C-83A1-F6EECF244321}">
                <p14:modId xmlns:p14="http://schemas.microsoft.com/office/powerpoint/2010/main" val="1579011935"/>
              </p:ext>
            </p:extLst>
          </p:nvPr>
        </p:nvGraphicFramePr>
        <p:xfrm>
          <a:off x="640080" y="1325880"/>
          <a:ext cx="10911535" cy="914400"/>
        </p:xfrm>
        <a:graphic>
          <a:graphicData uri="http://schemas.openxmlformats.org/drawingml/2006/table">
            <a:tbl>
              <a:tblPr/>
              <a:tblGrid>
                <a:gridCol w="2975873"/>
                <a:gridCol w="1983915"/>
                <a:gridCol w="5951746"/>
              </a:tblGrid>
              <a:tr h="418338">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Yüzey</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μs</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Kritik açı</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Kaygan</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0,20</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yaklaşık 11°</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Ahşap</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0,50</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yaklaşık 27°</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Kauçuk</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0,80</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yaklaşık 39°</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bl>
          </a:graphicData>
        </a:graphic>
      </p:graphicFrame>
      <p:sp>
        <p:nvSpPr>
          <p:cNvPr id="7" name="Text 4"/>
          <p:cNvSpPr txBox="1"/>
          <p:nvPr/>
        </p:nvSpPr>
        <p:spPr>
          <a:xfrm>
            <a:off x="640080" y="3218688"/>
            <a:ext cx="10911535" cy="47701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Kayma başladıktan sonra sürtünme kinetiğe döner ve ivme şöyle olur:</a:t>
            </a:r>
            <a:endParaRPr lang="en-US" sz="2200" dirty="0"/>
          </a:p>
        </p:txBody>
      </p:sp>
      <p:sp>
        <p:nvSpPr>
          <p:cNvPr id="8" name="Shape 5"/>
          <p:cNvSpPr/>
          <p:nvPr/>
        </p:nvSpPr>
        <p:spPr>
          <a:xfrm>
            <a:off x="640080" y="3896868"/>
            <a:ext cx="3606394" cy="585216"/>
          </a:xfrm>
          <a:prstGeom prst="roundRect">
            <a:avLst>
              <a:gd name="adj" fmla="val 18750"/>
            </a:avLst>
          </a:prstGeom>
          <a:solidFill>
            <a:srgbClr val="EEF2FC"/>
          </a:solidFill>
          <a:ln w="9525">
            <a:solidFill>
              <a:srgbClr val="CBD7F4"/>
            </a:solidFill>
            <a:prstDash val="solid"/>
          </a:ln>
        </p:spPr>
      </p:sp>
      <p:sp>
        <p:nvSpPr>
          <p:cNvPr id="9" name="Text 6"/>
          <p:cNvSpPr txBox="1"/>
          <p:nvPr/>
        </p:nvSpPr>
        <p:spPr>
          <a:xfrm>
            <a:off x="640080" y="3896868"/>
            <a:ext cx="3606394"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a = g·(sinθ − μk·cosθ)</a:t>
            </a:r>
            <a:endParaRPr lang="en-US" sz="1800" dirty="0"/>
          </a:p>
        </p:txBody>
      </p:sp>
      <p:sp>
        <p:nvSpPr>
          <p:cNvPr id="11" name="Shape 7"/>
          <p:cNvSpPr/>
          <p:nvPr/>
        </p:nvSpPr>
        <p:spPr>
          <a:xfrm>
            <a:off x="640080" y="6382512"/>
            <a:ext cx="128016" cy="128016"/>
          </a:xfrm>
          <a:prstGeom prst="roundRect">
            <a:avLst>
              <a:gd name="adj" fmla="val 28571"/>
            </a:avLst>
          </a:prstGeom>
          <a:solidFill>
            <a:srgbClr val="A9E648"/>
          </a:solidFill>
          <a:ln/>
        </p:spPr>
      </p:sp>
      <p:sp>
        <p:nvSpPr>
          <p:cNvPr id="12"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3"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64</a:t>
            </a:r>
            <a:endParaRPr lang="en-US" sz="105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Eğik düzlemde sürtünme</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6 / 7</a:t>
            </a:r>
            <a:endParaRPr lang="en-US" sz="950" dirty="0"/>
          </a:p>
        </p:txBody>
      </p:sp>
      <p:sp>
        <p:nvSpPr>
          <p:cNvPr id="6" name="Text 4"/>
          <p:cNvSpPr txBox="1"/>
          <p:nvPr/>
        </p:nvSpPr>
        <p:spPr>
          <a:xfrm>
            <a:off x="640080" y="1325880"/>
            <a:ext cx="10911535" cy="86258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b="1" dirty="0">
                <a:solidFill>
                  <a:srgbClr val="0E1426"/>
                </a:solidFill>
                <a:latin typeface="Calibri" pitchFamily="34" charset="0"/>
                <a:ea typeface="Calibri" pitchFamily="34" charset="-122"/>
                <a:cs typeface="Calibri" pitchFamily="34" charset="-120"/>
              </a:rPr>
              <a:t>Kütle bu bağıntıların hiçbirinde yoktur:</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ağır da olsa hafif de olsa aynı açıda kayar, aynı ivmeyle iner.</a:t>
            </a:r>
            <a:endParaRPr lang="en-US" sz="2200" dirty="0"/>
          </a:p>
        </p:txBody>
      </p:sp>
      <p:sp>
        <p:nvSpPr>
          <p:cNvPr id="7" name="Shape 5"/>
          <p:cNvSpPr/>
          <p:nvPr/>
        </p:nvSpPr>
        <p:spPr>
          <a:xfrm>
            <a:off x="640080" y="2389632"/>
            <a:ext cx="10911535" cy="1348740"/>
          </a:xfrm>
          <a:prstGeom prst="roundRect">
            <a:avLst>
              <a:gd name="adj" fmla="val 9492"/>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58368" y="2554224"/>
            <a:ext cx="54864" cy="1019556"/>
          </a:xfrm>
          <a:prstGeom prst="rect">
            <a:avLst/>
          </a:prstGeom>
          <a:solidFill>
            <a:srgbClr val="A56209"/>
          </a:solidFill>
          <a:ln/>
        </p:spPr>
      </p:sp>
      <p:sp>
        <p:nvSpPr>
          <p:cNvPr id="9" name="Text 7"/>
          <p:cNvSpPr txBox="1"/>
          <p:nvPr/>
        </p:nvSpPr>
        <p:spPr>
          <a:xfrm>
            <a:off x="950976" y="2517648"/>
            <a:ext cx="10399471" cy="1092708"/>
          </a:xfrm>
          <a:prstGeom prst="rect">
            <a:avLst/>
          </a:prstGeom>
          <a:noFill/>
          <a:ln/>
        </p:spPr>
        <p:txBody>
          <a:bodyPr wrap="square" lIns="0" tIns="0" rIns="0" bIns="0" rtlCol="0" anchor="ctr"/>
          <a:lstStyle/>
          <a:p>
            <a:pPr indent="0" marL="0">
              <a:lnSpc>
                <a:spcPct val="114000"/>
              </a:lnSpc>
              <a:buNone/>
            </a:pPr>
            <a:r>
              <a:rPr lang="en-US" sz="1800" b="1" dirty="0">
                <a:solidFill>
                  <a:srgbClr val="0E1426"/>
                </a:solidFill>
                <a:latin typeface="Calibri" pitchFamily="34" charset="0"/>
                <a:ea typeface="Calibri" pitchFamily="34" charset="-122"/>
                <a:cs typeface="Calibri" pitchFamily="34" charset="-120"/>
              </a:rPr>
              <a:t>Kritik açının altında f ≠ μ</a:t>
            </a:r>
            <a:pPr indent="0" marL="0">
              <a:lnSpc>
                <a:spcPct val="114000"/>
              </a:lnSpc>
              <a:buNone/>
            </a:pPr>
            <a:r>
              <a:rPr lang="en-US" sz="1800" b="1" baseline="-40000" dirty="0">
                <a:solidFill>
                  <a:srgbClr val="0E1426"/>
                </a:solidFill>
                <a:latin typeface="Calibri" pitchFamily="34" charset="0"/>
                <a:ea typeface="Calibri" pitchFamily="34" charset="-122"/>
                <a:cs typeface="Calibri" pitchFamily="34" charset="-120"/>
              </a:rPr>
              <a:t>s</a:t>
            </a:r>
            <a:pPr indent="0" marL="0">
              <a:lnSpc>
                <a:spcPct val="114000"/>
              </a:lnSpc>
              <a:buNone/>
            </a:pPr>
            <a:r>
              <a:rPr lang="en-US" sz="1800" b="1" dirty="0">
                <a:solidFill>
                  <a:srgbClr val="0E1426"/>
                </a:solidFill>
                <a:latin typeface="Calibri" pitchFamily="34" charset="0"/>
                <a:ea typeface="Calibri" pitchFamily="34" charset="-122"/>
                <a:cs typeface="Calibri" pitchFamily="34" charset="-120"/>
              </a:rPr>
              <a:t>·N.</a:t>
            </a:r>
            <a:pPr indent="0" marL="0">
              <a:lnSpc>
                <a:spcPct val="114000"/>
              </a:lnSpc>
              <a:buNone/>
            </a:pPr>
            <a:r>
              <a:rPr lang="en-US" sz="1800" dirty="0">
                <a:solidFill>
                  <a:srgbClr val="0E1426"/>
                </a:solidFill>
                <a:latin typeface="Calibri" pitchFamily="34" charset="0"/>
                <a:ea typeface="Calibri" pitchFamily="34" charset="-122"/>
                <a:cs typeface="Calibri" pitchFamily="34" charset="-120"/>
              </a:rPr>
              <a:t> Cisim eğik düzlemde duruyorsa statik sürtünme, ağırlığın paralel bileşenine eşittir: f = m·g·sinθ. μ</a:t>
            </a:r>
            <a:pPr indent="0" marL="0">
              <a:lnSpc>
                <a:spcPct val="114000"/>
              </a:lnSpc>
              <a:buNone/>
            </a:pPr>
            <a:r>
              <a:rPr lang="en-US" sz="1800" baseline="-40000" dirty="0">
                <a:solidFill>
                  <a:srgbClr val="0E1426"/>
                </a:solidFill>
                <a:latin typeface="Calibri" pitchFamily="34" charset="0"/>
                <a:ea typeface="Calibri" pitchFamily="34" charset="-122"/>
                <a:cs typeface="Calibri" pitchFamily="34" charset="-120"/>
              </a:rPr>
              <a:t>s</a:t>
            </a:r>
            <a:pPr indent="0" marL="0">
              <a:lnSpc>
                <a:spcPct val="114000"/>
              </a:lnSpc>
              <a:buNone/>
            </a:pPr>
            <a:r>
              <a:rPr lang="en-US" sz="1800" dirty="0">
                <a:solidFill>
                  <a:srgbClr val="0E1426"/>
                </a:solidFill>
                <a:latin typeface="Calibri" pitchFamily="34" charset="0"/>
                <a:ea typeface="Calibri" pitchFamily="34" charset="-122"/>
                <a:cs typeface="Calibri" pitchFamily="34" charset="-120"/>
              </a:rPr>
              <a:t>·m·g·cosθ yalnızca bu sürtünmenin çıkabileceği en büyük değerdir.</a:t>
            </a:r>
            <a:endParaRPr lang="en-US" sz="1800" dirty="0"/>
          </a:p>
        </p:txBody>
      </p:sp>
      <p:sp>
        <p:nvSpPr>
          <p:cNvPr id="11" name="Shape 8"/>
          <p:cNvSpPr/>
          <p:nvPr/>
        </p:nvSpPr>
        <p:spPr>
          <a:xfrm>
            <a:off x="640080" y="6382512"/>
            <a:ext cx="128016" cy="128016"/>
          </a:xfrm>
          <a:prstGeom prst="roundRect">
            <a:avLst>
              <a:gd name="adj" fmla="val 28571"/>
            </a:avLst>
          </a:prstGeom>
          <a:solidFill>
            <a:srgbClr val="A9E648"/>
          </a:solidFill>
          <a:ln/>
        </p:spPr>
      </p:sp>
      <p:sp>
        <p:nvSpPr>
          <p:cNvPr id="12"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3"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65</a:t>
            </a:r>
            <a:endParaRPr lang="en-US" sz="105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Eğik düzlemde sürtünme</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7 / 7</a:t>
            </a:r>
            <a:endParaRPr lang="en-US" sz="950" dirty="0"/>
          </a:p>
        </p:txBody>
      </p:sp>
      <p:sp>
        <p:nvSpPr>
          <p:cNvPr id="6" name="Shape 4"/>
          <p:cNvSpPr/>
          <p:nvPr/>
        </p:nvSpPr>
        <p:spPr>
          <a:xfrm>
            <a:off x="2191767" y="1234440"/>
            <a:ext cx="7808161" cy="3643884"/>
          </a:xfrm>
          <a:prstGeom prst="roundRect">
            <a:avLst>
              <a:gd name="adj" fmla="val 401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dersler-sekiller/surtunme-kuvveti-07.png">    </p:cNvPr>
          <p:cNvPicPr>
            <a:picLocks noChangeAspect="1"/>
          </p:cNvPicPr>
          <p:nvPr/>
        </p:nvPicPr>
        <p:blipFill>
          <a:blip r:embed="rId1"/>
          <a:stretch>
            <a:fillRect/>
          </a:stretch>
        </p:blipFill>
        <p:spPr>
          <a:xfrm>
            <a:off x="2420367" y="1325880"/>
            <a:ext cx="7350961" cy="3461004"/>
          </a:xfrm>
          <a:prstGeom prst="rect">
            <a:avLst/>
          </a:prstGeom>
        </p:spPr>
      </p:pic>
      <p:sp>
        <p:nvSpPr>
          <p:cNvPr id="8" name="Text 5"/>
          <p:cNvSpPr txBox="1"/>
          <p:nvPr/>
        </p:nvSpPr>
        <p:spPr>
          <a:xfrm>
            <a:off x="1249528" y="5061204"/>
            <a:ext cx="9692640" cy="1083564"/>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Eğik düzlemde ağırlığı iki bileşene ayırırız: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eğime paralel</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olan G·sinθ cismi aşağı çeker,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eğime dik</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olan G·cosθ ise normal kuvvetle dengelenir. Eğim büyüdükçe birinci büyür, ikinci küçülür — yani kaydırıcı kuvvet artarken sürtünmenin dayanağı azalır. İkisi eşitlendiği anda cisim kayar ve o açıda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tanθ = μs</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olur: eğik düzlem, katsayıyı doğrudan ölçen bir alettir.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66</a:t>
            </a:r>
            <a:endParaRPr lang="en-US" sz="105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Eğik düzlemde sürtünme</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2957D4"/>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2957D4"/>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Eğik düzlemde N = m·g·cosθ olur ve cisim tanθ &gt; μ</a:t>
            </a:r>
            <a:pPr indent="0" marL="0">
              <a:lnSpc>
                <a:spcPct val="125000"/>
              </a:lnSpc>
              <a:buNone/>
            </a:pPr>
            <a:r>
              <a:rPr lang="en-US" sz="2800" baseline="-40000" dirty="0">
                <a:solidFill>
                  <a:srgbClr val="0E1426"/>
                </a:solidFill>
                <a:latin typeface="Cambria" pitchFamily="34" charset="0"/>
                <a:ea typeface="Cambria" pitchFamily="34" charset="-122"/>
                <a:cs typeface="Cambria" pitchFamily="34" charset="-120"/>
              </a:rPr>
              <a:t>s</a:t>
            </a:r>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 olduğunda kaymaya başlar; kayarken ivme a = g·(sinθ − μ</a:t>
            </a:r>
            <a:pPr indent="0" marL="0">
              <a:lnSpc>
                <a:spcPct val="125000"/>
              </a:lnSpc>
              <a:buNone/>
            </a:pPr>
            <a:r>
              <a:rPr lang="en-US" sz="2800" baseline="-40000" dirty="0">
                <a:solidFill>
                  <a:srgbClr val="0E1426"/>
                </a:solidFill>
                <a:latin typeface="Cambria" pitchFamily="34" charset="0"/>
                <a:ea typeface="Cambria" pitchFamily="34" charset="-122"/>
                <a:cs typeface="Cambria" pitchFamily="34" charset="-120"/>
              </a:rPr>
              <a:t>k</a:t>
            </a:r>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·cosθ)'dır. Kütle bu bağıntıların hiçbirinde yoktur.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67</a:t>
            </a:r>
            <a:endParaRPr lang="en-US" sz="105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Eğik düzlemde duran bir kutunun üstüne aynı kütlede ikinci bir kutu koyarsan ikisi kaymaya başlar mı?</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07 · Eğik düzlemde sürtünme</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68</a:t>
            </a:r>
            <a:endParaRPr lang="en-US" sz="105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Eğik düzlemde duran bir kutunun üstüne aynı kütlede ikinci bir kutu koyarsan ikisi kaymaya başlar mı?</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b="1" dirty="0">
                <a:solidFill>
                  <a:srgbClr val="5F4BD8"/>
                </a:solidFill>
                <a:latin typeface="Calibri" pitchFamily="34" charset="0"/>
                <a:ea typeface="Calibri" pitchFamily="34" charset="-122"/>
                <a:cs typeface="Calibri" pitchFamily="34" charset="-120"/>
              </a:rPr>
              <a:t>Hayır.</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Kütle iki katına çıkınca kutuyu aşağı çeken paralel bileşen de iki katına çıkar, sürtünmenin eşiği de; çünkü N de iki katına çıkar. Kayma koşulu tanθ &gt; μ</a:t>
            </a:r>
            <a:pPr indent="0" marL="0">
              <a:lnSpc>
                <a:spcPct val="125000"/>
              </a:lnSpc>
              <a:buNone/>
            </a:pPr>
            <a:r>
              <a:rPr lang="en-US" sz="2400" baseline="-40000" dirty="0">
                <a:solidFill>
                  <a:srgbClr val="0E1426"/>
                </a:solidFill>
                <a:latin typeface="Calibri" pitchFamily="34" charset="0"/>
                <a:ea typeface="Calibri" pitchFamily="34" charset="-122"/>
                <a:cs typeface="Calibri" pitchFamily="34" charset="-120"/>
              </a:rPr>
              <a:t>s</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'de kütle hiç geçmez. Kutuyu kaydırmak istiyorsan açıyı artırman ya da yüzeyi kayganlaştırman gerekir.</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69</a:t>
            </a:r>
            <a:endParaRPr lang="en-US" sz="105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Fren mesafesi ve trafik</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6</a:t>
            </a:r>
            <a:endParaRPr lang="en-US" sz="950" dirty="0"/>
          </a:p>
        </p:txBody>
      </p:sp>
      <p:sp>
        <p:nvSpPr>
          <p:cNvPr id="6" name="Text 4"/>
          <p:cNvSpPr txBox="1"/>
          <p:nvPr/>
        </p:nvSpPr>
        <p:spPr>
          <a:xfrm>
            <a:off x="640080" y="1325880"/>
            <a:ext cx="10911535" cy="1725168"/>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Frenleyen bir araç için sürtünme kuvveti f = μ·m·g, ivme ise a = μ·g'dir (kütle yine sadeleşir).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Bu yavaşlamayı sabit ivmeli hareketin bağıntılarıyla birleştirirsen durma mesafesi adım adım çıkar: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70</a:t>
            </a:r>
            <a:endParaRPr lang="en-US" sz="105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Fren mesafesi ve trafik</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6</a:t>
            </a:r>
            <a:endParaRPr lang="en-US" sz="950" dirty="0"/>
          </a:p>
        </p:txBody>
      </p:sp>
      <p:sp>
        <p:nvSpPr>
          <p:cNvPr id="6" name="Text 4"/>
          <p:cNvSpPr txBox="1"/>
          <p:nvPr/>
        </p:nvSpPr>
        <p:spPr>
          <a:xfrm>
            <a:off x="640080" y="1325880"/>
            <a:ext cx="10911535" cy="2574036"/>
          </a:xfrm>
          <a:prstGeom prst="rect">
            <a:avLst/>
          </a:prstGeom>
          <a:noFill/>
          <a:ln/>
        </p:spPr>
        <p:txBody>
          <a:bodyPr wrap="square" lIns="0" tIns="0" rIns="0" bIns="0" rtlCol="0" anchor="t"/>
          <a:lstStyle/>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Yavaşlama:</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yolun lastiğe uyguladığı sürtünme f = μ·m·g, ivme a = μ·g.</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Zamansız bağıntı:</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sabit ivmeyle yavaşlayıp duran araç için v² = 2·a·d yazılır (son hız sıfır).</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Yerine koy:</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v² = 2·μ·g·d, buradan d</a:t>
            </a:r>
            <a:pPr indent="0" marL="0">
              <a:lnSpc>
                <a:spcPct val="115000"/>
              </a:lnSpc>
              <a:buNone/>
            </a:pPr>
            <a:r>
              <a:rPr lang="en-US" sz="2100" baseline="-40000" dirty="0">
                <a:solidFill>
                  <a:srgbClr val="0E1426"/>
                </a:solidFill>
                <a:latin typeface="Calibri" pitchFamily="34" charset="0"/>
                <a:ea typeface="Calibri" pitchFamily="34" charset="-122"/>
                <a:cs typeface="Calibri" pitchFamily="34" charset="-120"/>
              </a:rPr>
              <a:t>fren</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 v² / (2·μ·g).</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Tepki payını ekle:</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sürücü frene basana kadar araç sabit hızla gider: d</a:t>
            </a:r>
            <a:pPr indent="0" marL="0">
              <a:lnSpc>
                <a:spcPct val="115000"/>
              </a:lnSpc>
              <a:buNone/>
            </a:pPr>
            <a:r>
              <a:rPr lang="en-US" sz="2100" baseline="-40000" dirty="0">
                <a:solidFill>
                  <a:srgbClr val="0E1426"/>
                </a:solidFill>
                <a:latin typeface="Calibri" pitchFamily="34" charset="0"/>
                <a:ea typeface="Calibri" pitchFamily="34" charset="-122"/>
                <a:cs typeface="Calibri" pitchFamily="34" charset="-120"/>
              </a:rPr>
              <a:t>tepki</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 v·t</a:t>
            </a:r>
            <a:pPr indent="0" marL="0">
              <a:lnSpc>
                <a:spcPct val="115000"/>
              </a:lnSpc>
              <a:buNone/>
            </a:pPr>
            <a:r>
              <a:rPr lang="en-US" sz="2100" baseline="-40000" dirty="0">
                <a:solidFill>
                  <a:srgbClr val="0E1426"/>
                </a:solidFill>
                <a:latin typeface="Calibri" pitchFamily="34" charset="0"/>
                <a:ea typeface="Calibri" pitchFamily="34" charset="-122"/>
                <a:cs typeface="Calibri" pitchFamily="34" charset="-120"/>
              </a:rPr>
              <a:t>tepki</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a:t>
            </a:r>
            <a:endParaRPr lang="en-US" sz="2100" dirty="0"/>
          </a:p>
        </p:txBody>
      </p:sp>
      <p:sp>
        <p:nvSpPr>
          <p:cNvPr id="7" name="Shape 5"/>
          <p:cNvSpPr/>
          <p:nvPr/>
        </p:nvSpPr>
        <p:spPr>
          <a:xfrm>
            <a:off x="640080" y="4101084"/>
            <a:ext cx="3328416" cy="585216"/>
          </a:xfrm>
          <a:prstGeom prst="roundRect">
            <a:avLst>
              <a:gd name="adj" fmla="val 18750"/>
            </a:avLst>
          </a:prstGeom>
          <a:solidFill>
            <a:srgbClr val="EEF2FC"/>
          </a:solidFill>
          <a:ln w="9525">
            <a:solidFill>
              <a:srgbClr val="CBD7F4"/>
            </a:solidFill>
            <a:prstDash val="solid"/>
          </a:ln>
        </p:spPr>
      </p:sp>
      <p:sp>
        <p:nvSpPr>
          <p:cNvPr id="8" name="Text 6"/>
          <p:cNvSpPr txBox="1"/>
          <p:nvPr/>
        </p:nvSpPr>
        <p:spPr>
          <a:xfrm>
            <a:off x="640080" y="4101084"/>
            <a:ext cx="3328416"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dfren = v² / (2·μ·g)</a:t>
            </a:r>
            <a:endParaRPr lang="en-US" sz="1800" dirty="0"/>
          </a:p>
        </p:txBody>
      </p:sp>
      <p:sp>
        <p:nvSpPr>
          <p:cNvPr id="9" name="Shape 7"/>
          <p:cNvSpPr/>
          <p:nvPr/>
        </p:nvSpPr>
        <p:spPr>
          <a:xfrm>
            <a:off x="4114800" y="4101084"/>
            <a:ext cx="3189427" cy="585216"/>
          </a:xfrm>
          <a:prstGeom prst="roundRect">
            <a:avLst>
              <a:gd name="adj" fmla="val 18750"/>
            </a:avLst>
          </a:prstGeom>
          <a:solidFill>
            <a:srgbClr val="EEF2FC"/>
          </a:solidFill>
          <a:ln w="9525">
            <a:solidFill>
              <a:srgbClr val="CBD7F4"/>
            </a:solidFill>
            <a:prstDash val="solid"/>
          </a:ln>
        </p:spPr>
      </p:sp>
      <p:sp>
        <p:nvSpPr>
          <p:cNvPr id="10" name="Text 8"/>
          <p:cNvSpPr txBox="1"/>
          <p:nvPr/>
        </p:nvSpPr>
        <p:spPr>
          <a:xfrm>
            <a:off x="4114800" y="4101084"/>
            <a:ext cx="3189427"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dtepki = v · ttepki</a:t>
            </a:r>
            <a:endParaRPr lang="en-US" sz="1800" dirty="0"/>
          </a:p>
        </p:txBody>
      </p:sp>
      <p:sp>
        <p:nvSpPr>
          <p:cNvPr id="11" name="Shape 9"/>
          <p:cNvSpPr/>
          <p:nvPr/>
        </p:nvSpPr>
        <p:spPr>
          <a:xfrm>
            <a:off x="7450531" y="4101084"/>
            <a:ext cx="3884371" cy="585216"/>
          </a:xfrm>
          <a:prstGeom prst="roundRect">
            <a:avLst>
              <a:gd name="adj" fmla="val 18750"/>
            </a:avLst>
          </a:prstGeom>
          <a:solidFill>
            <a:srgbClr val="EEF2FC"/>
          </a:solidFill>
          <a:ln w="9525">
            <a:solidFill>
              <a:srgbClr val="CBD7F4"/>
            </a:solidFill>
            <a:prstDash val="solid"/>
          </a:ln>
        </p:spPr>
      </p:sp>
      <p:sp>
        <p:nvSpPr>
          <p:cNvPr id="12" name="Text 10"/>
          <p:cNvSpPr txBox="1"/>
          <p:nvPr/>
        </p:nvSpPr>
        <p:spPr>
          <a:xfrm>
            <a:off x="7450531" y="4101084"/>
            <a:ext cx="3884371"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dtoplam = dtepki + dfren</a:t>
            </a:r>
            <a:endParaRPr lang="en-US" sz="1800" dirty="0"/>
          </a:p>
        </p:txBody>
      </p:sp>
      <p:sp>
        <p:nvSpPr>
          <p:cNvPr id="14" name="Shape 11"/>
          <p:cNvSpPr/>
          <p:nvPr/>
        </p:nvSpPr>
        <p:spPr>
          <a:xfrm>
            <a:off x="640080" y="6382512"/>
            <a:ext cx="128016" cy="128016"/>
          </a:xfrm>
          <a:prstGeom prst="roundRect">
            <a:avLst>
              <a:gd name="adj" fmla="val 28571"/>
            </a:avLst>
          </a:prstGeom>
          <a:solidFill>
            <a:srgbClr val="A9E648"/>
          </a:solidFill>
          <a:ln/>
        </p:spPr>
      </p:sp>
      <p:sp>
        <p:nvSpPr>
          <p:cNvPr id="15" name="Text 1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6" name="Text 13"/>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71</a:t>
            </a:r>
            <a:endParaRPr lang="en-US" sz="105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Fren mesafesi ve trafik</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6</a:t>
            </a:r>
            <a:endParaRPr lang="en-US" sz="950" dirty="0"/>
          </a:p>
        </p:txBody>
      </p:sp>
      <p:sp>
        <p:nvSpPr>
          <p:cNvPr id="6" name="Text 4"/>
          <p:cNvSpPr txBox="1"/>
          <p:nvPr/>
        </p:nvSpPr>
        <p:spPr>
          <a:xfrm>
            <a:off x="640080" y="1325880"/>
            <a:ext cx="10911535" cy="306476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Fren mesafesi hızın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karesiyle</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artar: hızı iki katına çıkarmak fren mesafesini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dört katına</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çıkarır.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Islak asfaltta μ yarıya inerse mesafe iki katına çıkar.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Tepki mesafesi ise hızla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doğru orantılıdır</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ve frenden önce alınır — sayfadaki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04</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numaralı bölümde ikisini ayrı ayrı görebilirsin.</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Oradaki kuru yol ayarıyla (μ = 0,80, tepki süresi 1,0 s, g = 9,81 m/s²) yuvarlanmış değerler: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72</a:t>
            </a:r>
            <a:endParaRPr lang="en-US" sz="105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Fren mesafesi ve trafik</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6</a:t>
            </a:r>
            <a:endParaRPr lang="en-US" sz="950" dirty="0"/>
          </a:p>
        </p:txBody>
      </p:sp>
      <p:graphicFrame>
        <p:nvGraphicFramePr>
          <p:cNvPr id="74" name="Table 0"/>
          <p:cNvGraphicFramePr>
            <a:graphicFrameLocks noGrp="1"/>
          </p:cNvGraphicFramePr>
          <p:nvPr>
            <p:extLst>
              <p:ext uri="{D42A27DB-BD31-4B8C-83A1-F6EECF244321}">
                <p14:modId xmlns:p14="http://schemas.microsoft.com/office/powerpoint/2010/main" val="1579011935"/>
              </p:ext>
            </p:extLst>
          </p:nvPr>
        </p:nvGraphicFramePr>
        <p:xfrm>
          <a:off x="640080" y="1325880"/>
          <a:ext cx="10911535" cy="914400"/>
        </p:xfrm>
        <a:graphic>
          <a:graphicData uri="http://schemas.openxmlformats.org/drawingml/2006/table">
            <a:tbl>
              <a:tblPr/>
              <a:tblGrid>
                <a:gridCol w="2129080"/>
                <a:gridCol w="3725890"/>
                <a:gridCol w="3459755"/>
                <a:gridCol w="1596810"/>
              </a:tblGrid>
              <a:tr h="418338">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Hız</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Tepki mesafesi</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Fren mesafesi</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Toplam</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50 km/h</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14 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12 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26 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90 km/h</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25 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40 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65 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100 km/h</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28 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49 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77 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120 km/h</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33 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71 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104 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130 km/h</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36 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83 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119 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bl>
          </a:graphicData>
        </a:graphic>
      </p:graphicFrame>
      <p:sp>
        <p:nvSpPr>
          <p:cNvPr id="8" name="Shape 4"/>
          <p:cNvSpPr/>
          <p:nvPr/>
        </p:nvSpPr>
        <p:spPr>
          <a:xfrm>
            <a:off x="640080" y="6382512"/>
            <a:ext cx="128016" cy="128016"/>
          </a:xfrm>
          <a:prstGeom prst="roundRect">
            <a:avLst>
              <a:gd name="adj" fmla="val 28571"/>
            </a:avLst>
          </a:prstGeom>
          <a:solidFill>
            <a:srgbClr val="A9E648"/>
          </a:solidFill>
          <a:ln/>
        </p:spPr>
      </p:sp>
      <p:sp>
        <p:nvSpPr>
          <p:cNvPr id="9" name="Text 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0" name="Text 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73</a:t>
            </a:r>
            <a:endParaRPr lang="en-US" sz="105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Fren mesafesi ve trafik</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6</a:t>
            </a:r>
            <a:endParaRPr lang="en-US" sz="950" dirty="0"/>
          </a:p>
        </p:txBody>
      </p:sp>
      <p:sp>
        <p:nvSpPr>
          <p:cNvPr id="6" name="Text 4"/>
          <p:cNvSpPr txBox="1"/>
          <p:nvPr/>
        </p:nvSpPr>
        <p:spPr>
          <a:xfrm>
            <a:off x="640080" y="1325880"/>
            <a:ext cx="10911535" cy="258775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Düşük hızda durma mesafesinin büyük kısmı tepki payıdır; hız arttıkça fren payı hızla öne geçer.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50'den 100 km/h'ye çıkınca tepki mesafesi 2 katına, fren mesafesi 4 katına, toplam ise yaklaşık 3 katına çıkar.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Yol ıslanınca (μ = 0,50) 90 km/h'deki fren mesafesi 40 m'den yaklaşık 64 m'ye, karda (μ = 0,20) yaklaşık 159 m'ye uzar.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74</a:t>
            </a:r>
            <a:endParaRPr lang="en-US" sz="105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Fren mesafesi ve trafik</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6 / 6</a:t>
            </a:r>
            <a:endParaRPr lang="en-US" sz="950" dirty="0"/>
          </a:p>
        </p:txBody>
      </p:sp>
      <p:sp>
        <p:nvSpPr>
          <p:cNvPr id="6" name="Shape 4"/>
          <p:cNvSpPr/>
          <p:nvPr/>
        </p:nvSpPr>
        <p:spPr>
          <a:xfrm>
            <a:off x="1600682" y="1234440"/>
            <a:ext cx="8990332" cy="3880485"/>
          </a:xfrm>
          <a:prstGeom prst="roundRect">
            <a:avLst>
              <a:gd name="adj" fmla="val 377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dersler-sekiller/surtunme-kuvveti-08.png">    </p:cNvPr>
          <p:cNvPicPr>
            <a:picLocks noChangeAspect="1"/>
          </p:cNvPicPr>
          <p:nvPr/>
        </p:nvPicPr>
        <p:blipFill>
          <a:blip r:embed="rId1"/>
          <a:stretch>
            <a:fillRect/>
          </a:stretch>
        </p:blipFill>
        <p:spPr>
          <a:xfrm>
            <a:off x="1829282" y="1325880"/>
            <a:ext cx="8533132" cy="3697605"/>
          </a:xfrm>
          <a:prstGeom prst="rect">
            <a:avLst/>
          </a:prstGeom>
        </p:spPr>
      </p:pic>
      <p:sp>
        <p:nvSpPr>
          <p:cNvPr id="8" name="Text 5"/>
          <p:cNvSpPr txBox="1"/>
          <p:nvPr/>
        </p:nvSpPr>
        <p:spPr>
          <a:xfrm>
            <a:off x="1249528" y="5297805"/>
            <a:ext cx="9692640" cy="846963"/>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Durma mesafesi iki parçadan oluşur.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Tepki mesafesi</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hızla doğru orantılıdır (d = v·t), ama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fren mesafesi hızın karesiyle</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artar (d = v²/2μg). Bu yüzden hızı iki katına çıkarmak toplam mesafeyi iki değil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üç katına</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çıkarır. Islak yolda μ yarıya inerse fren mesafesi ikiye katlanır — hız sınırlarının sebebi bu karesel terimdir.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75</a:t>
            </a:r>
            <a:endParaRPr lang="en-US" sz="105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Fren mesafesi ve trafik</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2957D4"/>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2957D4"/>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Fren mesafesi v²/(2·μ·g) hızın karesiyle, tepki mesafesi v·t hızla doğru orantılı büyür. Hız iki katına çıkınca fren mesafesi 4, toplam durma mesafesi yaklaşık 3 katına çıkar.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76</a:t>
            </a:r>
            <a:endParaRPr lang="en-US" sz="105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A093FF"/>
                </a:solidFill>
                <a:latin typeface="Cambria" pitchFamily="34" charset="0"/>
                <a:ea typeface="Cambria" pitchFamily="34" charset="-122"/>
                <a:cs typeface="Cambria" pitchFamily="34" charset="-120"/>
              </a:rPr>
              <a:t>3</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A093FF"/>
                </a:solidFill>
                <a:latin typeface="Calibri" pitchFamily="34" charset="0"/>
                <a:ea typeface="Calibri" pitchFamily="34" charset="-122"/>
                <a:cs typeface="Calibri" pitchFamily="34" charset="-120"/>
              </a:rPr>
              <a:t>BASAMAK 3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İleri</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600" dirty="0">
                <a:solidFill>
                  <a:srgbClr val="C3CEE8"/>
                </a:solidFill>
                <a:latin typeface="Calibri" pitchFamily="34" charset="0"/>
                <a:ea typeface="Calibri" pitchFamily="34" charset="-122"/>
                <a:cs typeface="Calibri" pitchFamily="34" charset="-120"/>
              </a:rPr>
              <a:t>Derinleşme: normal kuvvet değişince, tekerlek dönünce ve basit model zorlanınca ne olur; sonra sürtünme gerçek hayatta.</a:t>
            </a:r>
            <a:endParaRPr lang="en-US" sz="1600" dirty="0"/>
          </a:p>
        </p:txBody>
      </p:sp>
      <p:sp>
        <p:nvSpPr>
          <p:cNvPr id="6" name="Text 4"/>
          <p:cNvSpPr txBox="1"/>
          <p:nvPr/>
        </p:nvSpPr>
        <p:spPr>
          <a:xfrm>
            <a:off x="731520" y="4572000"/>
            <a:ext cx="5120640" cy="329184"/>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09   </a:t>
            </a:r>
            <a:pPr indent="0" marL="0">
              <a:buNone/>
            </a:pPr>
            <a:r>
              <a:rPr lang="en-US" sz="1300" dirty="0">
                <a:solidFill>
                  <a:srgbClr val="FFFFFF"/>
                </a:solidFill>
                <a:latin typeface="Calibri" pitchFamily="34" charset="0"/>
                <a:ea typeface="Calibri" pitchFamily="34" charset="-122"/>
                <a:cs typeface="Calibri" pitchFamily="34" charset="-120"/>
              </a:rPr>
              <a:t>Normal kuvvet her zaman m·g değildir</a:t>
            </a:r>
            <a:endParaRPr lang="en-US" sz="1300" dirty="0"/>
          </a:p>
        </p:txBody>
      </p:sp>
      <p:sp>
        <p:nvSpPr>
          <p:cNvPr id="7" name="Text 5"/>
          <p:cNvSpPr txBox="1"/>
          <p:nvPr/>
        </p:nvSpPr>
        <p:spPr>
          <a:xfrm>
            <a:off x="731520" y="4901184"/>
            <a:ext cx="5120640" cy="329184"/>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10   </a:t>
            </a:r>
            <a:pPr indent="0" marL="0">
              <a:buNone/>
            </a:pPr>
            <a:r>
              <a:rPr lang="en-US" sz="1300" dirty="0">
                <a:solidFill>
                  <a:srgbClr val="FFFFFF"/>
                </a:solidFill>
                <a:latin typeface="Calibri" pitchFamily="34" charset="0"/>
                <a:ea typeface="Calibri" pitchFamily="34" charset="-122"/>
                <a:cs typeface="Calibri" pitchFamily="34" charset="-120"/>
              </a:rPr>
              <a:t>Dönen tekerlek, ABS ve modelin sınırları</a:t>
            </a:r>
            <a:endParaRPr lang="en-US" sz="1300" dirty="0"/>
          </a:p>
        </p:txBody>
      </p:sp>
      <p:sp>
        <p:nvSpPr>
          <p:cNvPr id="8" name="Text 6"/>
          <p:cNvSpPr txBox="1"/>
          <p:nvPr/>
        </p:nvSpPr>
        <p:spPr>
          <a:xfrm>
            <a:off x="731520" y="5230368"/>
            <a:ext cx="5120640" cy="329184"/>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11   </a:t>
            </a:r>
            <a:pPr indent="0" marL="0">
              <a:buNone/>
            </a:pPr>
            <a:r>
              <a:rPr lang="en-US" sz="1300" dirty="0">
                <a:solidFill>
                  <a:srgbClr val="FFFFFF"/>
                </a:solidFill>
                <a:latin typeface="Calibri" pitchFamily="34" charset="0"/>
                <a:ea typeface="Calibri" pitchFamily="34" charset="-122"/>
                <a:cs typeface="Calibri" pitchFamily="34" charset="-120"/>
              </a:rPr>
              <a:t>Sürtünme gerçek dünyada</a:t>
            </a:r>
            <a:endParaRPr lang="en-US" sz="1300" dirty="0"/>
          </a:p>
        </p:txBody>
      </p:sp>
      <p:sp>
        <p:nvSpPr>
          <p:cNvPr id="9" name="Shape 7"/>
          <p:cNvSpPr/>
          <p:nvPr/>
        </p:nvSpPr>
        <p:spPr>
          <a:xfrm>
            <a:off x="6117336" y="905256"/>
            <a:ext cx="5489143" cy="3696005"/>
          </a:xfrm>
          <a:prstGeom prst="roundRect">
            <a:avLst>
              <a:gd name="adj" fmla="val 3464"/>
            </a:avLst>
          </a:prstGeom>
          <a:solidFill>
            <a:srgbClr val="1C2542"/>
          </a:solidFill>
          <a:ln w="9525">
            <a:solidFill>
              <a:srgbClr val="2C3860"/>
            </a:solidFill>
            <a:prstDash val="solid"/>
          </a:ln>
        </p:spPr>
      </p:sp>
      <p:pic>
        <p:nvPicPr>
          <p:cNvPr id="10" name="Image 0" descr="/tmp/dersler-sekiller/surtunme-kuvveti-uygulama-kart.jpg">    </p:cNvPr>
          <p:cNvPicPr>
            <a:picLocks noChangeAspect="1"/>
          </p:cNvPicPr>
          <p:nvPr/>
        </p:nvPicPr>
        <p:blipFill>
          <a:blip r:embed="rId1"/>
          <a:stretch>
            <a:fillRect/>
          </a:stretch>
        </p:blipFill>
        <p:spPr>
          <a:xfrm>
            <a:off x="6172200" y="960120"/>
            <a:ext cx="5379415" cy="3586277"/>
          </a:xfrm>
          <a:prstGeom prst="rect">
            <a:avLst/>
          </a:prstGeom>
        </p:spPr>
      </p:pic>
      <p:sp>
        <p:nvSpPr>
          <p:cNvPr id="11" name="Text 8"/>
          <p:cNvSpPr txBox="1"/>
          <p:nvPr/>
        </p:nvSpPr>
        <p:spPr>
          <a:xfrm>
            <a:off x="6172200" y="4774997"/>
            <a:ext cx="5379415" cy="1214323"/>
          </a:xfrm>
          <a:prstGeom prst="rect">
            <a:avLst/>
          </a:prstGeom>
          <a:noFill/>
          <a:ln/>
        </p:spPr>
        <p:txBody>
          <a:bodyPr wrap="square" lIns="0" tIns="0" rIns="0" bIns="0" rtlCol="0" anchor="t"/>
          <a:lstStyle/>
          <a:p>
            <a:pPr indent="0" marL="0">
              <a:lnSpc>
                <a:spcPct val="115000"/>
              </a:lnSpc>
              <a:buNone/>
            </a:pPr>
            <a:r>
              <a:rPr lang="en-US" sz="1150" b="1" dirty="0">
                <a:solidFill>
                  <a:srgbClr val="FFFFFF"/>
                </a:solidFill>
                <a:latin typeface="Calibri" pitchFamily="34" charset="0"/>
                <a:ea typeface="Calibri" pitchFamily="34" charset="-122"/>
                <a:cs typeface="Calibri" pitchFamily="34" charset="-120"/>
              </a:rPr>
              <a:t>Curling, sürtünmeyi ayarlama oyunudur.</a:t>
            </a:r>
            <a:pPr indent="0" marL="0">
              <a:lnSpc>
                <a:spcPct val="115000"/>
              </a:lnSpc>
              <a:buNone/>
            </a:pPr>
            <a:r>
              <a:rPr lang="en-US" sz="1150" dirty="0">
                <a:solidFill>
                  <a:srgbClr val="C3CEE8"/>
                </a:solidFill>
                <a:latin typeface="Calibri" pitchFamily="34" charset="0"/>
                <a:ea typeface="Calibri" pitchFamily="34" charset="-122"/>
                <a:cs typeface="Calibri" pitchFamily="34" charset="-120"/>
              </a:rPr>
              <a:t> Yaklaşık 20 kg'lık granit taş buz üzerinde onlarca metre kayar. Oyuncular taşın yolundaki buzu fırçalayarak sürtünmeyi biraz daha azaltır; böylece taş biraz daha uzağa ve daha düz gider. Taş bırakıldıktan sonra bile yolunu bu küçük sürtünme farkı belirler.</a:t>
            </a:r>
            <a:endParaRPr lang="en-US" sz="1150" dirty="0"/>
          </a:p>
        </p:txBody>
      </p:sp>
      <p:sp>
        <p:nvSpPr>
          <p:cNvPr id="12" name="Shape 9"/>
          <p:cNvSpPr/>
          <p:nvPr/>
        </p:nvSpPr>
        <p:spPr>
          <a:xfrm>
            <a:off x="640080" y="6382512"/>
            <a:ext cx="128016" cy="128016"/>
          </a:xfrm>
          <a:prstGeom prst="roundRect">
            <a:avLst>
              <a:gd name="adj" fmla="val 28571"/>
            </a:avLst>
          </a:prstGeom>
          <a:solidFill>
            <a:srgbClr val="C6F36B"/>
          </a:solidFill>
          <a:ln/>
        </p:spPr>
      </p:sp>
      <p:sp>
        <p:nvSpPr>
          <p:cNvPr id="13" name="Text 10"/>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dersler.perinet.org/surtunme-kuvveti.html</a:t>
            </a:r>
            <a:endParaRPr lang="en-US" sz="1050" dirty="0"/>
          </a:p>
        </p:txBody>
      </p:sp>
      <p:sp>
        <p:nvSpPr>
          <p:cNvPr id="14" name="Text 11"/>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77</a:t>
            </a:r>
            <a:endParaRPr lang="en-US" sz="105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Normal kuvvet her zaman m·g değildir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7</a:t>
            </a:r>
            <a:endParaRPr lang="en-US" sz="950" dirty="0"/>
          </a:p>
        </p:txBody>
      </p:sp>
      <p:sp>
        <p:nvSpPr>
          <p:cNvPr id="6" name="Text 4"/>
          <p:cNvSpPr txBox="1"/>
          <p:nvPr/>
        </p:nvSpPr>
        <p:spPr>
          <a:xfrm>
            <a:off x="640080" y="1325880"/>
            <a:ext cx="10911535" cy="2202180"/>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Şimdiye kadarki örneklerin çoğunda N = m·g aldık.</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Oysa normal kuvvet cismin sabit bir özelliği değildir; zemin, cismi içine batırmamak için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ne kadar gerekiyorsa o kadar</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iter.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Cisme başka düşey kuvvetler etki edince ya da zemin ivmelenince N, onunla birlikte de sürtünmenin eşiği değişir: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78</a:t>
            </a:r>
            <a:endParaRPr lang="en-US" sz="105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Normal kuvvet her zaman m·g değildir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7</a:t>
            </a:r>
            <a:endParaRPr lang="en-US" sz="950" dirty="0"/>
          </a:p>
        </p:txBody>
      </p:sp>
      <p:graphicFrame>
        <p:nvGraphicFramePr>
          <p:cNvPr id="80" name="Table 0"/>
          <p:cNvGraphicFramePr>
            <a:graphicFrameLocks noGrp="1"/>
          </p:cNvGraphicFramePr>
          <p:nvPr>
            <p:extLst>
              <p:ext uri="{D42A27DB-BD31-4B8C-83A1-F6EECF244321}">
                <p14:modId xmlns:p14="http://schemas.microsoft.com/office/powerpoint/2010/main" val="1579011935"/>
              </p:ext>
            </p:extLst>
          </p:nvPr>
        </p:nvGraphicFramePr>
        <p:xfrm>
          <a:off x="640080" y="1325880"/>
          <a:ext cx="10911535" cy="914400"/>
        </p:xfrm>
        <a:graphic>
          <a:graphicData uri="http://schemas.openxmlformats.org/drawingml/2006/table">
            <a:tbl>
              <a:tblPr/>
              <a:tblGrid>
                <a:gridCol w="7793954"/>
                <a:gridCol w="3117581"/>
              </a:tblGrid>
              <a:tr h="418338">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Durum</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Normal kuvvet</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Yatay zemin, başka düşey kuvvet yok</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N = m·g</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Üstten F kuvvetiyle bastırılıyor</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N = m·g + F</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F ile α açısıyla yukarı doğru çekiliyor</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N = m·g − F·sinα</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F ile α açısıyla aşağı doğru itiliyor</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N = m·g + F·sinα</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Yukarı doğru a ivmesiyle hızlanan asansör</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N = m·(g + a)</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bl>
          </a:graphicData>
        </a:graphic>
      </p:graphicFrame>
      <p:sp>
        <p:nvSpPr>
          <p:cNvPr id="8" name="Shape 4"/>
          <p:cNvSpPr/>
          <p:nvPr/>
        </p:nvSpPr>
        <p:spPr>
          <a:xfrm>
            <a:off x="640080" y="6382512"/>
            <a:ext cx="128016" cy="128016"/>
          </a:xfrm>
          <a:prstGeom prst="roundRect">
            <a:avLst>
              <a:gd name="adj" fmla="val 28571"/>
            </a:avLst>
          </a:prstGeom>
          <a:solidFill>
            <a:srgbClr val="A9E648"/>
          </a:solidFill>
          <a:ln/>
        </p:spPr>
      </p:sp>
      <p:sp>
        <p:nvSpPr>
          <p:cNvPr id="9" name="Text 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0" name="Text 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79</a:t>
            </a:r>
            <a:endParaRPr lang="en-US" sz="105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Normal kuvvet her zaman m·g değildir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7</a:t>
            </a:r>
            <a:endParaRPr lang="en-US" sz="950" dirty="0"/>
          </a:p>
        </p:txBody>
      </p:sp>
      <p:sp>
        <p:nvSpPr>
          <p:cNvPr id="6" name="Text 4"/>
          <p:cNvSpPr txBox="1"/>
          <p:nvPr/>
        </p:nvSpPr>
        <p:spPr>
          <a:xfrm>
            <a:off x="640080" y="1325880"/>
            <a:ext cx="10911535" cy="1725168"/>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Eğik düzlemde de N = m·g·cosθ olduğunu görmüştün.</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Kısacası N'yi her soruda yüzeye dik doğrultudaki kuvvetlerden yeniden bul; eğik çekilen kızakla eğik itilen kızak arasındaki farkı çözümlü örneklerde sayılarla göreceksin.</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80</a:t>
            </a:r>
            <a:endParaRPr lang="en-US" sz="105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Normal kuvvet her zaman m·g değildir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7</a:t>
            </a:r>
            <a:endParaRPr lang="en-US" sz="950" dirty="0"/>
          </a:p>
        </p:txBody>
      </p:sp>
      <p:sp>
        <p:nvSpPr>
          <p:cNvPr id="6" name="Shape 4"/>
          <p:cNvSpPr/>
          <p:nvPr/>
        </p:nvSpPr>
        <p:spPr>
          <a:xfrm>
            <a:off x="2672357" y="1234440"/>
            <a:ext cx="6846982" cy="3643884"/>
          </a:xfrm>
          <a:prstGeom prst="roundRect">
            <a:avLst>
              <a:gd name="adj" fmla="val 401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dersler-sekiller/surtunme-kuvveti-09.png">    </p:cNvPr>
          <p:cNvPicPr>
            <a:picLocks noChangeAspect="1"/>
          </p:cNvPicPr>
          <p:nvPr/>
        </p:nvPicPr>
        <p:blipFill>
          <a:blip r:embed="rId1"/>
          <a:stretch>
            <a:fillRect/>
          </a:stretch>
        </p:blipFill>
        <p:spPr>
          <a:xfrm>
            <a:off x="2900957" y="1325880"/>
            <a:ext cx="6389782" cy="3461004"/>
          </a:xfrm>
          <a:prstGeom prst="rect">
            <a:avLst/>
          </a:prstGeom>
        </p:spPr>
      </p:pic>
      <p:sp>
        <p:nvSpPr>
          <p:cNvPr id="8" name="Text 5"/>
          <p:cNvSpPr txBox="1"/>
          <p:nvPr/>
        </p:nvSpPr>
        <p:spPr>
          <a:xfrm>
            <a:off x="1249528" y="5061204"/>
            <a:ext cx="9692640" cy="1083564"/>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Kutunun ağırlığı (sarı) üç karede de aynı, ama zeminin itişi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N</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(mavi) değişiyor. Üstten bastırınca zemin hem ağırlığı hem senin kuvvetini taşır, N büyür. Eğik yukarı çekince ipin düşey parçası yükün bir kısmını alır, N küçülür. Kesikli çizgi m·g düzeyi: sürtünmenin eşiği μs·N olduğundan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N büyürse sürtünme de büyür</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N küçülürse sürtünme de küçülür.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81</a:t>
            </a:r>
            <a:endParaRPr lang="en-US" sz="105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Normal kuvvet her zaman m·g değildir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7</a:t>
            </a:r>
            <a:endParaRPr lang="en-US" sz="950" dirty="0"/>
          </a:p>
        </p:txBody>
      </p:sp>
      <p:sp>
        <p:nvSpPr>
          <p:cNvPr id="6" name="Shape 4"/>
          <p:cNvSpPr/>
          <p:nvPr/>
        </p:nvSpPr>
        <p:spPr>
          <a:xfrm>
            <a:off x="640080" y="1399032"/>
            <a:ext cx="64008" cy="310896"/>
          </a:xfrm>
          <a:prstGeom prst="rect">
            <a:avLst/>
          </a:prstGeom>
          <a:solidFill>
            <a:srgbClr val="5F4BD8"/>
          </a:solidFill>
          <a:ln/>
        </p:spPr>
      </p:sp>
      <p:sp>
        <p:nvSpPr>
          <p:cNvPr id="7" name="Text 5"/>
          <p:cNvSpPr txBox="1"/>
          <p:nvPr/>
        </p:nvSpPr>
        <p:spPr>
          <a:xfrm>
            <a:off x="822960" y="1325880"/>
            <a:ext cx="10728655" cy="457200"/>
          </a:xfrm>
          <a:prstGeom prst="rect">
            <a:avLst/>
          </a:prstGeom>
          <a:noFill/>
          <a:ln/>
        </p:spPr>
        <p:txBody>
          <a:bodyPr wrap="square" lIns="0" tIns="0" rIns="0" bIns="0" rtlCol="0" anchor="ctr"/>
          <a:lstStyle/>
          <a:p>
            <a:pPr indent="0" marL="0">
              <a:buNone/>
            </a:pPr>
            <a:r>
              <a:rPr lang="en-US" sz="2200" b="1" dirty="0">
                <a:solidFill>
                  <a:srgbClr val="0E1426"/>
                </a:solidFill>
                <a:latin typeface="Cambria" pitchFamily="34" charset="0"/>
                <a:ea typeface="Cambria" pitchFamily="34" charset="-122"/>
                <a:cs typeface="Cambria" pitchFamily="34" charset="-120"/>
              </a:rPr>
              <a:t>Duvara bastırılan kitap</a:t>
            </a:r>
            <a:endParaRPr lang="en-US" sz="2200" dirty="0"/>
          </a:p>
        </p:txBody>
      </p:sp>
      <p:sp>
        <p:nvSpPr>
          <p:cNvPr id="8" name="Text 6"/>
          <p:cNvSpPr txBox="1"/>
          <p:nvPr/>
        </p:nvSpPr>
        <p:spPr>
          <a:xfrm>
            <a:off x="640080" y="1892808"/>
            <a:ext cx="10911535" cy="2293620"/>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Bir kitabı elinle duvara yatay olarak bastır: düşmez.</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Burada normal kuvvet yataydır ve senin bastırma kuvvetine eşittir.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Sürtünme ise duvara paralel, yani düşeydir ve kitabın ağırlığını yukarı doğru dengeler.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Kitabın düşmemesi için gereken koşul:</a:t>
            </a:r>
            <a:endParaRPr lang="en-US" sz="2200" dirty="0"/>
          </a:p>
        </p:txBody>
      </p:sp>
      <p:sp>
        <p:nvSpPr>
          <p:cNvPr id="9" name="Shape 7"/>
          <p:cNvSpPr/>
          <p:nvPr/>
        </p:nvSpPr>
        <p:spPr>
          <a:xfrm>
            <a:off x="640080" y="4387596"/>
            <a:ext cx="1243584" cy="585216"/>
          </a:xfrm>
          <a:prstGeom prst="roundRect">
            <a:avLst>
              <a:gd name="adj" fmla="val 18750"/>
            </a:avLst>
          </a:prstGeom>
          <a:solidFill>
            <a:srgbClr val="EEF2FC"/>
          </a:solidFill>
          <a:ln w="9525">
            <a:solidFill>
              <a:srgbClr val="CBD7F4"/>
            </a:solidFill>
            <a:prstDash val="solid"/>
          </a:ln>
        </p:spPr>
      </p:sp>
      <p:sp>
        <p:nvSpPr>
          <p:cNvPr id="10" name="Text 8"/>
          <p:cNvSpPr txBox="1"/>
          <p:nvPr/>
        </p:nvSpPr>
        <p:spPr>
          <a:xfrm>
            <a:off x="640080" y="4387596"/>
            <a:ext cx="1243584"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N = F</a:t>
            </a:r>
            <a:endParaRPr lang="en-US" sz="1800" dirty="0"/>
          </a:p>
        </p:txBody>
      </p:sp>
      <p:sp>
        <p:nvSpPr>
          <p:cNvPr id="11" name="Shape 9"/>
          <p:cNvSpPr/>
          <p:nvPr/>
        </p:nvSpPr>
        <p:spPr>
          <a:xfrm>
            <a:off x="2029968" y="4387596"/>
            <a:ext cx="1938528" cy="585216"/>
          </a:xfrm>
          <a:prstGeom prst="roundRect">
            <a:avLst>
              <a:gd name="adj" fmla="val 18750"/>
            </a:avLst>
          </a:prstGeom>
          <a:solidFill>
            <a:srgbClr val="EEF2FC"/>
          </a:solidFill>
          <a:ln w="9525">
            <a:solidFill>
              <a:srgbClr val="CBD7F4"/>
            </a:solidFill>
            <a:prstDash val="solid"/>
          </a:ln>
        </p:spPr>
      </p:sp>
      <p:sp>
        <p:nvSpPr>
          <p:cNvPr id="12" name="Text 10"/>
          <p:cNvSpPr txBox="1"/>
          <p:nvPr/>
        </p:nvSpPr>
        <p:spPr>
          <a:xfrm>
            <a:off x="2029968" y="4387596"/>
            <a:ext cx="1938528"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m·g ≤ μs·F</a:t>
            </a:r>
            <a:endParaRPr lang="en-US" sz="1800" dirty="0"/>
          </a:p>
        </p:txBody>
      </p:sp>
      <p:sp>
        <p:nvSpPr>
          <p:cNvPr id="13" name="Shape 11"/>
          <p:cNvSpPr/>
          <p:nvPr/>
        </p:nvSpPr>
        <p:spPr>
          <a:xfrm>
            <a:off x="4114800" y="4387596"/>
            <a:ext cx="2216506" cy="585216"/>
          </a:xfrm>
          <a:prstGeom prst="roundRect">
            <a:avLst>
              <a:gd name="adj" fmla="val 18750"/>
            </a:avLst>
          </a:prstGeom>
          <a:solidFill>
            <a:srgbClr val="EEF2FC"/>
          </a:solidFill>
          <a:ln w="9525">
            <a:solidFill>
              <a:srgbClr val="CBD7F4"/>
            </a:solidFill>
            <a:prstDash val="solid"/>
          </a:ln>
        </p:spPr>
      </p:sp>
      <p:sp>
        <p:nvSpPr>
          <p:cNvPr id="14" name="Text 12"/>
          <p:cNvSpPr txBox="1"/>
          <p:nvPr/>
        </p:nvSpPr>
        <p:spPr>
          <a:xfrm>
            <a:off x="4114800" y="4387596"/>
            <a:ext cx="2216506"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F ≥ m·g / μs</a:t>
            </a:r>
            <a:endParaRPr lang="en-US" sz="1800" dirty="0"/>
          </a:p>
        </p:txBody>
      </p:sp>
      <p:sp>
        <p:nvSpPr>
          <p:cNvPr id="16" name="Shape 13"/>
          <p:cNvSpPr/>
          <p:nvPr/>
        </p:nvSpPr>
        <p:spPr>
          <a:xfrm>
            <a:off x="640080" y="6382512"/>
            <a:ext cx="128016" cy="128016"/>
          </a:xfrm>
          <a:prstGeom prst="roundRect">
            <a:avLst>
              <a:gd name="adj" fmla="val 28571"/>
            </a:avLst>
          </a:prstGeom>
          <a:solidFill>
            <a:srgbClr val="A9E648"/>
          </a:solidFill>
          <a:ln/>
        </p:spPr>
      </p:sp>
      <p:sp>
        <p:nvSpPr>
          <p:cNvPr id="17" name="Text 14"/>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8" name="Text 1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82</a:t>
            </a:r>
            <a:endParaRPr lang="en-US" sz="105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Normal kuvvet her zaman m·g değildir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6 / 7</a:t>
            </a:r>
            <a:endParaRPr lang="en-US" sz="950" dirty="0"/>
          </a:p>
        </p:txBody>
      </p:sp>
      <p:sp>
        <p:nvSpPr>
          <p:cNvPr id="6" name="Text 4"/>
          <p:cNvSpPr txBox="1"/>
          <p:nvPr/>
        </p:nvSpPr>
        <p:spPr>
          <a:xfrm>
            <a:off x="640080" y="1325880"/>
            <a:ext cx="10911535" cy="133959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1 kg'lık kitap ve μ</a:t>
            </a:r>
            <a:pPr indent="0" marL="0">
              <a:lnSpc>
                <a:spcPct val="115000"/>
              </a:lnSpc>
              <a:buNone/>
            </a:pPr>
            <a:r>
              <a:rPr lang="en-US" sz="2200" baseline="-40000" dirty="0">
                <a:solidFill>
                  <a:srgbClr val="0E1426"/>
                </a:solidFill>
                <a:latin typeface="Calibri" pitchFamily="34" charset="0"/>
                <a:ea typeface="Calibri" pitchFamily="34" charset="-122"/>
                <a:cs typeface="Calibri" pitchFamily="34" charset="-120"/>
              </a:rPr>
              <a:t>s</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 0,5 için F ≥ 10 / 0,5 =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20 N</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gerekir.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Burada kitabın ağırlığı sürtünmeyi artırmaz, yalnızca taşınması gereken yükü artırır; sürtünmeyi artırmanın tek yolu daha sıkı bastırmaktır.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83</a:t>
            </a:r>
            <a:endParaRPr lang="en-US" sz="105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Normal kuvvet her zaman m·g değildir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7 / 7</a:t>
            </a:r>
            <a:endParaRPr lang="en-US" sz="950" dirty="0"/>
          </a:p>
        </p:txBody>
      </p:sp>
      <p:sp>
        <p:nvSpPr>
          <p:cNvPr id="6" name="Shape 4"/>
          <p:cNvSpPr/>
          <p:nvPr/>
        </p:nvSpPr>
        <p:spPr>
          <a:xfrm>
            <a:off x="3445231" y="1271016"/>
            <a:ext cx="5301234" cy="3570732"/>
          </a:xfrm>
          <a:prstGeom prst="roundRect">
            <a:avLst>
              <a:gd name="adj" fmla="val 358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dersler-sekiller/surtunme-kuvveti-ek1-genis.jpg">    </p:cNvPr>
          <p:cNvPicPr>
            <a:picLocks noChangeAspect="1"/>
          </p:cNvPicPr>
          <p:nvPr/>
        </p:nvPicPr>
        <p:blipFill>
          <a:blip r:embed="rId1"/>
          <a:stretch>
            <a:fillRect/>
          </a:stretch>
        </p:blipFill>
        <p:spPr>
          <a:xfrm>
            <a:off x="3500095" y="1325880"/>
            <a:ext cx="5191506" cy="3461004"/>
          </a:xfrm>
          <a:prstGeom prst="rect">
            <a:avLst/>
          </a:prstGeom>
        </p:spPr>
      </p:pic>
      <p:sp>
        <p:nvSpPr>
          <p:cNvPr id="8" name="Text 5"/>
          <p:cNvSpPr txBox="1"/>
          <p:nvPr/>
        </p:nvSpPr>
        <p:spPr>
          <a:xfrm>
            <a:off x="1249528" y="5024628"/>
            <a:ext cx="9692640" cy="1120140"/>
          </a:xfrm>
          <a:prstGeom prst="rect">
            <a:avLst/>
          </a:prstGeom>
          <a:noFill/>
          <a:ln/>
        </p:spPr>
        <p:txBody>
          <a:bodyPr wrap="square" lIns="0" tIns="0" rIns="0" bIns="0" rtlCol="0" anchor="t"/>
          <a:lstStyle/>
          <a:p>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Benzer yük taşıyan iki kızaktan</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öndeki yukarı doğru eğik bir iple çekiliyor, arkadaki ise aşağı doğru eğik kollarla itiliyor. Eğik ipin düşey bileşeni kızağı biraz kaldırır, N = m·g − F·sinα küçülür ve sürtünme azalır; aşağı doğru eğik itiş ise kızağı kara bastırır, N = m·g + F·sinα büyür ve sürtünme artar. Bu yüzden aynı kızağı çekmek, itmekten daha kolaydır.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84</a:t>
            </a:r>
            <a:endParaRPr lang="en-US" sz="1050"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Normal kuvvet her zaman m·g değildir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5F4BD8"/>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5F4BD8"/>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Normal kuvvet, zeminin gerektiği kadar ittiği bir tepkidir: bastırınca, eğik çekince, asansörde ya da eğik düzlemde değişir. N'yi her soruda yüzeye dik doğrultudaki kuvvetlerden yeniden bul.</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85</a:t>
            </a:r>
            <a:endParaRPr lang="en-US" sz="1050"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Karda bir kızağı ipiyle yukarı doğru eğik çekmek mi, arkadan aşağı doğru eğik itmek mi daha kolaydır?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09 · Normal kuvvet her zaman m·g değildir</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86</a:t>
            </a:r>
            <a:endParaRPr lang="en-US" sz="1050"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Karda bir kızağı ipiyle yukarı doğru eğik çekmek mi, arkadan aşağı doğru eğik itmek mi daha kolaydır?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b="1" dirty="0">
                <a:solidFill>
                  <a:srgbClr val="5F4BD8"/>
                </a:solidFill>
                <a:latin typeface="Calibri" pitchFamily="34" charset="0"/>
                <a:ea typeface="Calibri" pitchFamily="34" charset="-122"/>
                <a:cs typeface="Calibri" pitchFamily="34" charset="-120"/>
              </a:rPr>
              <a:t>Çekmek.</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Eğik çektiğinde kuvvetin düşey bileşeni kızağı biraz kaldırır; N ve dolayısıyla sürtünme küçülür. Aşağı doğru eğik ittiğinde düşey bileşen kızağı kara bastırır; N büyür, sürtünme artar. Kuvvetin yatay bileşeni iki durumda da aynıdır, ama çekerken ona karşı koyan sürtünme daha küçüktür.</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87</a:t>
            </a:r>
            <a:endParaRPr lang="en-US" sz="1050"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Dönen tekerlek, ABS ve modelin sınırları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7</a:t>
            </a:r>
            <a:endParaRPr lang="en-US" sz="950" dirty="0"/>
          </a:p>
        </p:txBody>
      </p:sp>
      <p:sp>
        <p:nvSpPr>
          <p:cNvPr id="6" name="Text 4"/>
          <p:cNvSpPr txBox="1"/>
          <p:nvPr/>
        </p:nvSpPr>
        <p:spPr>
          <a:xfrm>
            <a:off x="640080" y="1325880"/>
            <a:ext cx="10911535" cy="297332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Bir araba yolda kaymadan ilerlerken lastiğin yola değen noktası o an yola göre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durgundur</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tekerleğin dönüşü ile aracın ilerleyişi o noktada birbirini tam olarak götürür.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Bu yüzden yol ile lastik arasındaki sürtünme, araba 100 km/h ile gitse bile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statik</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sürtünmedir.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Araba hızlanırken tekerlek yolu geriye doğru iter, yol da arabayı ileriye iter.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88</a:t>
            </a:r>
            <a:endParaRPr lang="en-US" sz="1050"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Dönen tekerlek, ABS ve modelin sınırları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7</a:t>
            </a:r>
            <a:endParaRPr lang="en-US" sz="950" dirty="0"/>
          </a:p>
        </p:txBody>
      </p:sp>
      <p:sp>
        <p:nvSpPr>
          <p:cNvPr id="6" name="Text 4"/>
          <p:cNvSpPr txBox="1"/>
          <p:nvPr/>
        </p:nvSpPr>
        <p:spPr>
          <a:xfrm>
            <a:off x="640080" y="1325880"/>
            <a:ext cx="10911535" cy="86258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Arabayı hızlandıran, frenlerken durduran ve virajda yolunda tutan kuvvet hep budur.</a:t>
            </a:r>
            <a:endParaRPr lang="en-US" sz="2200" dirty="0"/>
          </a:p>
        </p:txBody>
      </p:sp>
      <p:sp>
        <p:nvSpPr>
          <p:cNvPr id="7" name="Shape 5"/>
          <p:cNvSpPr/>
          <p:nvPr/>
        </p:nvSpPr>
        <p:spPr>
          <a:xfrm>
            <a:off x="640080" y="2389632"/>
            <a:ext cx="10911535" cy="1348740"/>
          </a:xfrm>
          <a:prstGeom prst="roundRect">
            <a:avLst>
              <a:gd name="adj" fmla="val 9492"/>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58368" y="2554224"/>
            <a:ext cx="54864" cy="1019556"/>
          </a:xfrm>
          <a:prstGeom prst="rect">
            <a:avLst/>
          </a:prstGeom>
          <a:solidFill>
            <a:srgbClr val="A56209"/>
          </a:solidFill>
          <a:ln/>
        </p:spPr>
      </p:sp>
      <p:sp>
        <p:nvSpPr>
          <p:cNvPr id="9" name="Text 7"/>
          <p:cNvSpPr txBox="1"/>
          <p:nvPr/>
        </p:nvSpPr>
        <p:spPr>
          <a:xfrm>
            <a:off x="950976" y="2517648"/>
            <a:ext cx="10399471" cy="1092708"/>
          </a:xfrm>
          <a:prstGeom prst="rect">
            <a:avLst/>
          </a:prstGeom>
          <a:noFill/>
          <a:ln/>
        </p:spPr>
        <p:txBody>
          <a:bodyPr wrap="square" lIns="0" tIns="0" rIns="0" bIns="0" rtlCol="0" anchor="ctr"/>
          <a:lstStyle/>
          <a:p>
            <a:pPr indent="0" marL="0">
              <a:lnSpc>
                <a:spcPct val="114000"/>
              </a:lnSpc>
              <a:buNone/>
            </a:pPr>
            <a:r>
              <a:rPr lang="en-US" sz="1800" b="1" dirty="0">
                <a:solidFill>
                  <a:srgbClr val="0E1426"/>
                </a:solidFill>
                <a:latin typeface="Calibri" pitchFamily="34" charset="0"/>
                <a:ea typeface="Calibri" pitchFamily="34" charset="-122"/>
                <a:cs typeface="Calibri" pitchFamily="34" charset="-120"/>
              </a:rPr>
              <a:t>ABS neden var?</a:t>
            </a:r>
            <a:pPr indent="0" marL="0">
              <a:lnSpc>
                <a:spcPct val="114000"/>
              </a:lnSpc>
              <a:buNone/>
            </a:pPr>
            <a:r>
              <a:rPr lang="en-US" sz="1800" dirty="0">
                <a:solidFill>
                  <a:srgbClr val="0E1426"/>
                </a:solidFill>
                <a:latin typeface="Calibri" pitchFamily="34" charset="0"/>
                <a:ea typeface="Calibri" pitchFamily="34" charset="-122"/>
                <a:cs typeface="Calibri" pitchFamily="34" charset="-120"/>
              </a:rPr>
              <a:t> Tekerlek kilitlenip kayarsa devreye </a:t>
            </a:r>
            <a:pPr indent="0" marL="0">
              <a:lnSpc>
                <a:spcPct val="114000"/>
              </a:lnSpc>
              <a:buNone/>
            </a:pPr>
            <a:r>
              <a:rPr lang="en-US" sz="1800" b="1" dirty="0">
                <a:solidFill>
                  <a:srgbClr val="0E1426"/>
                </a:solidFill>
                <a:latin typeface="Calibri" pitchFamily="34" charset="0"/>
                <a:ea typeface="Calibri" pitchFamily="34" charset="-122"/>
                <a:cs typeface="Calibri" pitchFamily="34" charset="-120"/>
              </a:rPr>
              <a:t>kinetik</a:t>
            </a:r>
            <a:pPr indent="0" marL="0">
              <a:lnSpc>
                <a:spcPct val="114000"/>
              </a:lnSpc>
              <a:buNone/>
            </a:pPr>
            <a:r>
              <a:rPr lang="en-US" sz="1800" dirty="0">
                <a:solidFill>
                  <a:srgbClr val="0E1426"/>
                </a:solidFill>
                <a:latin typeface="Calibri" pitchFamily="34" charset="0"/>
                <a:ea typeface="Calibri" pitchFamily="34" charset="-122"/>
                <a:cs typeface="Calibri" pitchFamily="34" charset="-120"/>
              </a:rPr>
              <a:t> sürtünme girer ve μ küçülür. ABS, tekerleği kilitlenme sınırında tutarak daha büyük olan </a:t>
            </a:r>
            <a:pPr indent="0" marL="0">
              <a:lnSpc>
                <a:spcPct val="114000"/>
              </a:lnSpc>
              <a:buNone/>
            </a:pPr>
            <a:r>
              <a:rPr lang="en-US" sz="1800" b="1" dirty="0">
                <a:solidFill>
                  <a:srgbClr val="0E1426"/>
                </a:solidFill>
                <a:latin typeface="Calibri" pitchFamily="34" charset="0"/>
                <a:ea typeface="Calibri" pitchFamily="34" charset="-122"/>
                <a:cs typeface="Calibri" pitchFamily="34" charset="-120"/>
              </a:rPr>
              <a:t>statik</a:t>
            </a:r>
            <a:pPr indent="0" marL="0">
              <a:lnSpc>
                <a:spcPct val="114000"/>
              </a:lnSpc>
              <a:buNone/>
            </a:pPr>
            <a:r>
              <a:rPr lang="en-US" sz="1800" dirty="0">
                <a:solidFill>
                  <a:srgbClr val="0E1426"/>
                </a:solidFill>
                <a:latin typeface="Calibri" pitchFamily="34" charset="0"/>
                <a:ea typeface="Calibri" pitchFamily="34" charset="-122"/>
                <a:cs typeface="Calibri" pitchFamily="34" charset="-120"/>
              </a:rPr>
              <a:t> sürtünmeden yararlanır; ayrıca direksiyon hâkimiyetini korur.</a:t>
            </a:r>
            <a:endParaRPr lang="en-US" sz="1800" dirty="0"/>
          </a:p>
        </p:txBody>
      </p:sp>
      <p:sp>
        <p:nvSpPr>
          <p:cNvPr id="11" name="Shape 8"/>
          <p:cNvSpPr/>
          <p:nvPr/>
        </p:nvSpPr>
        <p:spPr>
          <a:xfrm>
            <a:off x="640080" y="6382512"/>
            <a:ext cx="128016" cy="128016"/>
          </a:xfrm>
          <a:prstGeom prst="roundRect">
            <a:avLst>
              <a:gd name="adj" fmla="val 28571"/>
            </a:avLst>
          </a:prstGeom>
          <a:solidFill>
            <a:srgbClr val="A9E648"/>
          </a:solidFill>
          <a:ln/>
        </p:spPr>
      </p:sp>
      <p:sp>
        <p:nvSpPr>
          <p:cNvPr id="12"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3"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89</a:t>
            </a:r>
            <a:endParaRPr lang="en-US" sz="1050"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Dönen tekerlek, ABS ve modelin sınırları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7</a:t>
            </a:r>
            <a:endParaRPr lang="en-US" sz="950" dirty="0"/>
          </a:p>
        </p:txBody>
      </p:sp>
      <p:sp>
        <p:nvSpPr>
          <p:cNvPr id="6" name="Shape 4"/>
          <p:cNvSpPr/>
          <p:nvPr/>
        </p:nvSpPr>
        <p:spPr>
          <a:xfrm>
            <a:off x="2571053" y="1234440"/>
            <a:ext cx="7049589" cy="3643884"/>
          </a:xfrm>
          <a:prstGeom prst="roundRect">
            <a:avLst>
              <a:gd name="adj" fmla="val 401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dersler-sekiller/surtunme-kuvveti-10.png">    </p:cNvPr>
          <p:cNvPicPr>
            <a:picLocks noChangeAspect="1"/>
          </p:cNvPicPr>
          <p:nvPr/>
        </p:nvPicPr>
        <p:blipFill>
          <a:blip r:embed="rId1"/>
          <a:stretch>
            <a:fillRect/>
          </a:stretch>
        </p:blipFill>
        <p:spPr>
          <a:xfrm>
            <a:off x="2799653" y="1325880"/>
            <a:ext cx="6592389" cy="3461004"/>
          </a:xfrm>
          <a:prstGeom prst="rect">
            <a:avLst/>
          </a:prstGeom>
        </p:spPr>
      </p:pic>
      <p:sp>
        <p:nvSpPr>
          <p:cNvPr id="8" name="Text 5"/>
          <p:cNvSpPr txBox="1"/>
          <p:nvPr/>
        </p:nvSpPr>
        <p:spPr>
          <a:xfrm>
            <a:off x="1249528" y="5061204"/>
            <a:ext cx="9692640" cy="1083564"/>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Kaymadan dönen tekerlekte üst nokta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2v</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merkez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v</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ile gider; yola değen nokta ise o an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durgundur</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Bu yüzden lastikle yol arasındaki sürtünme statiktir. Kilitlenen tekerlek dönmez, her noktası v ile kayar; kinetik sürtünme devreye girer, μ küçülür ve yolda fren izi kalır. ABS tekerleği döndürmeye devam ettirerek soldaki durumu korur.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90</a:t>
            </a:r>
            <a:endParaRPr lang="en-US" sz="1050"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Dönen tekerlek, ABS ve modelin sınırları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7</a:t>
            </a:r>
            <a:endParaRPr lang="en-US" sz="950" dirty="0"/>
          </a:p>
        </p:txBody>
      </p:sp>
      <p:sp>
        <p:nvSpPr>
          <p:cNvPr id="6" name="Text 4"/>
          <p:cNvSpPr txBox="1"/>
          <p:nvPr/>
        </p:nvSpPr>
        <p:spPr>
          <a:xfrm>
            <a:off x="640080" y="1325880"/>
            <a:ext cx="10911535" cy="1633728"/>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Direksiyon hâkimiyeti de sürtünmenin yönüyle ilgilidir: kilitlenmiş tekerlek kayarken kinetik sürtünme kayma yönünün tersine bakar; direksiyonu çevirsen de bu yön değişmez, araç düz gitmeye devam eder. f = μ·N modeli çok kullanışlıdır, ama bir yaklaşımdır: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91</a:t>
            </a:r>
            <a:endParaRPr lang="en-US" sz="1050"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Dönen tekerlek, ABS ve modelin sınırları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7</a:t>
            </a:r>
            <a:endParaRPr lang="en-US" sz="950" dirty="0"/>
          </a:p>
        </p:txBody>
      </p:sp>
      <p:sp>
        <p:nvSpPr>
          <p:cNvPr id="6" name="Text 4"/>
          <p:cNvSpPr txBox="1"/>
          <p:nvPr/>
        </p:nvSpPr>
        <p:spPr>
          <a:xfrm>
            <a:off x="640080" y="1325880"/>
            <a:ext cx="10911535" cy="248259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μ tam sabit değildir: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kayma hızıyla ve sıcaklıkla biraz değişir; uzun yokuş inişinde aşırı ısınan frenler zayıflayabilir.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μ 1'i aşabilir: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yumuşak kauçuk ve silikon gibi malzemelerde yapışma baskındır; sürtünme normal kuvvetten büyük olabilir.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Araya giren sıvı yüzeyleri ayırır: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yağ makinede sürtünmeyi azaltır; ıslak yolda lastik su tabakasının üstüne çıkarsa tutuş neredeyse kaybolur.</a:t>
            </a:r>
            <a:endParaRPr lang="en-US" sz="21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92</a:t>
            </a:r>
            <a:endParaRPr lang="en-US" sz="1050"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Dönen tekerlek, ABS ve modelin sınırları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6 / 7</a:t>
            </a:r>
            <a:endParaRPr lang="en-US" sz="950" dirty="0"/>
          </a:p>
        </p:txBody>
      </p:sp>
      <p:sp>
        <p:nvSpPr>
          <p:cNvPr id="6" name="Text 4"/>
          <p:cNvSpPr txBox="1"/>
          <p:nvPr/>
        </p:nvSpPr>
        <p:spPr>
          <a:xfrm>
            <a:off x="640080" y="1325880"/>
            <a:ext cx="10911535" cy="2023110"/>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Yuvarlanmak kaymaktan çok kolaydır: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yuvarlanma direnci katsayısı araba lastiğinde yaklaşık 0,01'dir, çelik tren tekerleğinde bundan da birkaç kat küçüktür.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Yumuşak malzemede alan biraz etkiler: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kauçuğun katsayısı basınç arttıkça bir miktar düşer; "alan fark etmez" kuralı sert yüzeylerde daha iyi tutar.</a:t>
            </a:r>
            <a:endParaRPr lang="en-US" sz="21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93</a:t>
            </a:r>
            <a:endParaRPr lang="en-US" sz="1050"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Dönen tekerlek, ABS ve modelin sınırları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7 / 7</a:t>
            </a:r>
            <a:endParaRPr lang="en-US" sz="950" dirty="0"/>
          </a:p>
        </p:txBody>
      </p:sp>
      <p:sp>
        <p:nvSpPr>
          <p:cNvPr id="6" name="Shape 4"/>
          <p:cNvSpPr/>
          <p:nvPr/>
        </p:nvSpPr>
        <p:spPr>
          <a:xfrm>
            <a:off x="3445231" y="1271016"/>
            <a:ext cx="5301234" cy="3570732"/>
          </a:xfrm>
          <a:prstGeom prst="roundRect">
            <a:avLst>
              <a:gd name="adj" fmla="val 358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dersler-sekiller/surtunme-kuvveti-ek2-genis.jpg">    </p:cNvPr>
          <p:cNvPicPr>
            <a:picLocks noChangeAspect="1"/>
          </p:cNvPicPr>
          <p:nvPr/>
        </p:nvPicPr>
        <p:blipFill>
          <a:blip r:embed="rId1"/>
          <a:stretch>
            <a:fillRect/>
          </a:stretch>
        </p:blipFill>
        <p:spPr>
          <a:xfrm>
            <a:off x="3500095" y="1325880"/>
            <a:ext cx="5191506" cy="3461004"/>
          </a:xfrm>
          <a:prstGeom prst="rect">
            <a:avLst/>
          </a:prstGeom>
        </p:spPr>
      </p:pic>
      <p:sp>
        <p:nvSpPr>
          <p:cNvPr id="8" name="Text 5"/>
          <p:cNvSpPr txBox="1"/>
          <p:nvPr/>
        </p:nvSpPr>
        <p:spPr>
          <a:xfrm>
            <a:off x="1249528" y="5024628"/>
            <a:ext cx="9692640" cy="1120140"/>
          </a:xfrm>
          <a:prstGeom prst="rect">
            <a:avLst/>
          </a:prstGeom>
          <a:noFill/>
          <a:ln/>
        </p:spPr>
        <p:txBody>
          <a:bodyPr wrap="square" lIns="0" tIns="0" rIns="0" bIns="0" rtlCol="0" anchor="t"/>
          <a:lstStyle/>
          <a:p>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Asfalttaki iki siyah fren izi</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tekerleklerin kilitlenip yol üzerinde kaydığını gösteriyor. Kayan lastikte devreye daha küçük olan kinetik sürtünme girer; sürtünme lastiği ısıtıp aşındırarak yolda iz bırakır, direksiyonu çevirsen de araç düz gitmeyi sürdürür. ABS tekerleği kilitlenme sınırında döndürür; böylece daha büyük olan statik sürtünmeden yararlanılır ve direksiyon hâkimiyeti korunur.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94</a:t>
            </a:r>
            <a:endParaRPr lang="en-US" sz="1050"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Dönen tekerlek, ABS ve modelin sınırları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5F4BD8"/>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5F4BD8"/>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750" dirty="0">
                <a:solidFill>
                  <a:srgbClr val="0E1426"/>
                </a:solidFill>
                <a:latin typeface="Cambria" pitchFamily="34" charset="0"/>
                <a:ea typeface="Cambria" pitchFamily="34" charset="-122"/>
                <a:cs typeface="Cambria" pitchFamily="34" charset="-120"/>
              </a:rPr>
              <a:t>Kaymadan dönen tekerlekte yol ile lastik arasındaki sürtünme statiktir; aracı hızlandıran, durduran ve virajda tutan odur. f = μ·N bir yaklaşımdır: μ sıcaklıkla değişebilir, 1'i aşabilir, araya sıvı girince çok küçülür.</a:t>
            </a:r>
            <a:endParaRPr lang="en-US" sz="275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95</a:t>
            </a:r>
            <a:endParaRPr lang="en-US" sz="1050"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Temas alanı sürtünmeyi değiştirmiyorsa yarış arabalarının lastikleri neden bu kadar geniştir?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10 · Dönen tekerlek, ABS ve modelin sınırları</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96</a:t>
            </a:r>
            <a:endParaRPr lang="en-US" sz="1050"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Temas alanı sürtünmeyi değiştirmiyorsa yarış arabalarının lastikleri neden bu kadar geniştir?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Çünkü kauçuk, f = μ·N modeline tam uymaz. Geniş lastik aynı ağırlığı daha geniş bir alana yayıp basıncı düşürür; kauçuğun katsayısı düşük basınçta biraz daha yüksektir. Ayrıca geniş yüzey, sürtünmenin ürettiği ısıyı ve aşınmayı daha büyük bir alana dağıtır ve lastik aşırı ısınmaz.</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97</a:t>
            </a:r>
            <a:endParaRPr lang="en-US" sz="1050"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Sürtünme gerçek dünyada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6</a:t>
            </a:r>
            <a:endParaRPr lang="en-US" sz="950" dirty="0"/>
          </a:p>
        </p:txBody>
      </p:sp>
      <p:sp>
        <p:nvSpPr>
          <p:cNvPr id="6" name="Text 4"/>
          <p:cNvSpPr txBox="1"/>
          <p:nvPr/>
        </p:nvSpPr>
        <p:spPr>
          <a:xfrm>
            <a:off x="640080" y="1325880"/>
            <a:ext cx="10911535" cy="258775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Mühendislik çoğu zaman sürtünmeyi doğru yerde artırıp doğru yerde azaltma işidir.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İstemediğimiz yerde sürtünmeyi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azaltmak</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için yağ, rulman, hava yastığı; istediğimiz yerde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artırmak</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için tırtıklı yüzey, kışlık lastik, reçine kullanılır.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Bazı sporlar ise tamamen sürtünmenin ince ayarı üzerine kuruludur.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98</a:t>
            </a:r>
            <a:endParaRPr lang="en-US" sz="1050"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Sürtünme gerçek dünyada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6</a:t>
            </a:r>
            <a:endParaRPr lang="en-US" sz="950" dirty="0"/>
          </a:p>
        </p:txBody>
      </p:sp>
      <p:sp>
        <p:nvSpPr>
          <p:cNvPr id="6" name="Text 4"/>
          <p:cNvSpPr txBox="1"/>
          <p:nvPr/>
        </p:nvSpPr>
        <p:spPr>
          <a:xfrm>
            <a:off x="640080" y="1325880"/>
            <a:ext cx="10911535" cy="3310128"/>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Curling:</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2 m/s ile bırakılıp 28 m kayan bir taş varsayarsan μ</a:t>
            </a:r>
            <a:pPr indent="0" marL="0">
              <a:lnSpc>
                <a:spcPct val="115000"/>
              </a:lnSpc>
              <a:buNone/>
            </a:pPr>
            <a:r>
              <a:rPr lang="en-US" sz="2100" baseline="-40000" dirty="0">
                <a:solidFill>
                  <a:srgbClr val="0E1426"/>
                </a:solidFill>
                <a:latin typeface="Calibri" pitchFamily="34" charset="0"/>
                <a:ea typeface="Calibri" pitchFamily="34" charset="-122"/>
                <a:cs typeface="Calibri" pitchFamily="34" charset="-120"/>
              </a:rPr>
              <a:t>k</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 v²/(2·g·d) ≈ 0,007 çıkar; buz–çelikteki 0,03'ün yaklaşık dörtte biri.</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Frenler: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1000 kg'lık bir araç 90 km/h'den durunca yaklaşık 310 kJ kinetik enerji balata–disk sürtünmesiyle ısıya dönüşür.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Kış lastiği ve zincir: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karda μ 0,20'ye iner; 90 km/h'de fren mesafesi kuru yolun 4 katına, yaklaşık 160 m'ye çıkar.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Yağ ve rulman:</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kuru çelik–çelikte 0,6 olan katsayı yağlanınca 0,1 civarına iner; bilyeli rulman kaymayı yuvarlanmaya çevirir.</a:t>
            </a:r>
            <a:endParaRPr lang="en-US" sz="21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99</a:t>
            </a:r>
            <a:endParaRPr lang="en-US" sz="1050"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Sürtünme gerçek dünyada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6</a:t>
            </a:r>
            <a:endParaRPr lang="en-US" sz="950" dirty="0"/>
          </a:p>
        </p:txBody>
      </p:sp>
      <p:sp>
        <p:nvSpPr>
          <p:cNvPr id="6" name="Text 4"/>
          <p:cNvSpPr txBox="1"/>
          <p:nvPr/>
        </p:nvSpPr>
        <p:spPr>
          <a:xfrm>
            <a:off x="640080" y="1325880"/>
            <a:ext cx="10911535" cy="165506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Yürümek:</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adım atan ayak yere eğik basar; buzda μ çok küçük olduğundan kısa adımlarla, ayağı daha dik basarak yürürsün.</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Kibrit:</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kutunun yan yüzeyine sürtülen kibrit başı, sürtünmenin ürettiği ısıyla tutuşma sıcaklığına ulaşır.</a:t>
            </a:r>
            <a:endParaRPr lang="en-US" sz="21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100</a:t>
            </a:r>
            <a:endParaRPr lang="en-US" sz="1050"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Sürtünme gerçek dünyada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6</a:t>
            </a:r>
            <a:endParaRPr lang="en-US" sz="950" dirty="0"/>
          </a:p>
        </p:txBody>
      </p:sp>
      <p:graphicFrame>
        <p:nvGraphicFramePr>
          <p:cNvPr id="102" name="Table 0"/>
          <p:cNvGraphicFramePr>
            <a:graphicFrameLocks noGrp="1"/>
          </p:cNvGraphicFramePr>
          <p:nvPr>
            <p:extLst>
              <p:ext uri="{D42A27DB-BD31-4B8C-83A1-F6EECF244321}">
                <p14:modId xmlns:p14="http://schemas.microsoft.com/office/powerpoint/2010/main" val="1579011935"/>
              </p:ext>
            </p:extLst>
          </p:nvPr>
        </p:nvGraphicFramePr>
        <p:xfrm>
          <a:off x="640080" y="1325880"/>
          <a:ext cx="10911535" cy="914400"/>
        </p:xfrm>
        <a:graphic>
          <a:graphicData uri="http://schemas.openxmlformats.org/drawingml/2006/table">
            <a:tbl>
              <a:tblPr/>
              <a:tblGrid>
                <a:gridCol w="5187451"/>
                <a:gridCol w="5724084"/>
              </a:tblGrid>
              <a:tr h="418338">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Faydalı olduğu yerler</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Zararlı olduğu yerler</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Yürümek, koşmak</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Makine parçalarının aşınması</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Fren yapmak, virajı dönmek</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Isınma ve enerji kaybı</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Vida, çivi ve düğümün tutması</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Verimin düşmesi</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Elimizle bir şey tutabilmek</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Uçak ve araçlarda yakıt tüketimi</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bl>
          </a:graphicData>
        </a:graphic>
      </p:graphicFrame>
      <p:sp>
        <p:nvSpPr>
          <p:cNvPr id="8" name="Shape 4"/>
          <p:cNvSpPr/>
          <p:nvPr/>
        </p:nvSpPr>
        <p:spPr>
          <a:xfrm>
            <a:off x="640080" y="6382512"/>
            <a:ext cx="128016" cy="128016"/>
          </a:xfrm>
          <a:prstGeom prst="roundRect">
            <a:avLst>
              <a:gd name="adj" fmla="val 28571"/>
            </a:avLst>
          </a:prstGeom>
          <a:solidFill>
            <a:srgbClr val="A9E648"/>
          </a:solidFill>
          <a:ln/>
        </p:spPr>
      </p:sp>
      <p:sp>
        <p:nvSpPr>
          <p:cNvPr id="9" name="Text 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0" name="Text 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101</a:t>
            </a:r>
            <a:endParaRPr lang="en-US" sz="1050"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Sürtünme gerçek dünyada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6</a:t>
            </a:r>
            <a:endParaRPr lang="en-US" sz="950" dirty="0"/>
          </a:p>
        </p:txBody>
      </p:sp>
      <p:sp>
        <p:nvSpPr>
          <p:cNvPr id="6" name="Text 4"/>
          <p:cNvSpPr txBox="1"/>
          <p:nvPr/>
        </p:nvSpPr>
        <p:spPr>
          <a:xfrm>
            <a:off x="640080" y="1325880"/>
            <a:ext cx="10911535" cy="2202180"/>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Frenler önceki bölüme bağlanır: araç kaymadan durduğunda lastik ile yol arasındaki sürtünme statiktir ve enerjiyi ısıya çevirmez.</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Isınan, birbirine göre kayan balata ile disktir.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Tekerlek kilitlenirse ısınan lastiğin kendisi olur ve yolda siyah bir iz kalır.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102</a:t>
            </a:r>
            <a:endParaRPr lang="en-US" sz="1050"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Sürtünme gerçek dünyada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6 / 6</a:t>
            </a:r>
            <a:endParaRPr lang="en-US" sz="950" dirty="0"/>
          </a:p>
        </p:txBody>
      </p:sp>
      <p:sp>
        <p:nvSpPr>
          <p:cNvPr id="6" name="Shape 4"/>
          <p:cNvSpPr/>
          <p:nvPr/>
        </p:nvSpPr>
        <p:spPr>
          <a:xfrm>
            <a:off x="2400678" y="1234440"/>
            <a:ext cx="7390340" cy="3880485"/>
          </a:xfrm>
          <a:prstGeom prst="roundRect">
            <a:avLst>
              <a:gd name="adj" fmla="val 377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dersler-sekiller/surtunme-kuvveti-11.png">    </p:cNvPr>
          <p:cNvPicPr>
            <a:picLocks noChangeAspect="1"/>
          </p:cNvPicPr>
          <p:nvPr/>
        </p:nvPicPr>
        <p:blipFill>
          <a:blip r:embed="rId1"/>
          <a:stretch>
            <a:fillRect/>
          </a:stretch>
        </p:blipFill>
        <p:spPr>
          <a:xfrm>
            <a:off x="2629278" y="1325880"/>
            <a:ext cx="6933140" cy="3697605"/>
          </a:xfrm>
          <a:prstGeom prst="rect">
            <a:avLst/>
          </a:prstGeom>
        </p:spPr>
      </p:pic>
      <p:sp>
        <p:nvSpPr>
          <p:cNvPr id="8" name="Text 5"/>
          <p:cNvSpPr txBox="1"/>
          <p:nvPr/>
        </p:nvSpPr>
        <p:spPr>
          <a:xfrm>
            <a:off x="1249528" y="5297805"/>
            <a:ext cx="9692640" cy="846963"/>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Frene basınca iki yerde sürtünme çalışır.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Balata</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dönen diski sıkar; ikisi birbirine göre kaydığı için sürtünme kinetiktir ve hareket enerjisi burada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ısıya</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döner. Lastik ile yol arasında ise temas noktası kaymaz; bu sürtünme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statiktir</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aracı geriye doğru frenler ama lastiği ısıtmaz.</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103</a:t>
            </a:r>
            <a:endParaRPr lang="en-US" sz="1050"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Sürtünme gerçek dünyada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5F4BD8"/>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5F4BD8"/>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750" dirty="0">
                <a:solidFill>
                  <a:srgbClr val="0E1426"/>
                </a:solidFill>
                <a:latin typeface="Cambria" pitchFamily="34" charset="0"/>
                <a:ea typeface="Cambria" pitchFamily="34" charset="-122"/>
                <a:cs typeface="Cambria" pitchFamily="34" charset="-120"/>
              </a:rPr>
              <a:t>Sürtünme mühendislikte bir ayar düğmesidir: frende, lastikte ve yürürken artırılır, makinelerde yağ ve rulmanla azaltılır. Curling'de oyuncular buzu fırçalayarak taşın ne kadar kayacağını değiştirir.</a:t>
            </a:r>
            <a:endParaRPr lang="en-US" sz="275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104</a:t>
            </a:r>
            <a:endParaRPr lang="en-US" sz="1050"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FFCB6B"/>
                </a:solidFill>
                <a:latin typeface="Cambria" pitchFamily="34" charset="0"/>
                <a:ea typeface="Cambria" pitchFamily="34" charset="-122"/>
                <a:cs typeface="Cambria" pitchFamily="34" charset="-120"/>
              </a:rPr>
              <a:t>4</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FFCB6B"/>
                </a:solidFill>
                <a:latin typeface="Calibri" pitchFamily="34" charset="0"/>
                <a:ea typeface="Calibri" pitchFamily="34" charset="-122"/>
                <a:cs typeface="Calibri" pitchFamily="34" charset="-120"/>
              </a:rPr>
              <a:t>BASAMAK 4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Pekiştir</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600" dirty="0">
                <a:solidFill>
                  <a:srgbClr val="C3CEE8"/>
                </a:solidFill>
                <a:latin typeface="Calibri" pitchFamily="34" charset="0"/>
                <a:ea typeface="Calibri" pitchFamily="34" charset="-122"/>
                <a:cs typeface="Calibri" pitchFamily="34" charset="-120"/>
              </a:rPr>
              <a:t>Kolaydan zora çözümlü örnekler ve sürtünme sorularında puan kaybettiren klasik hatalar.</a:t>
            </a:r>
            <a:endParaRPr lang="en-US" sz="1600" dirty="0"/>
          </a:p>
        </p:txBody>
      </p:sp>
      <p:sp>
        <p:nvSpPr>
          <p:cNvPr id="6" name="Text 4"/>
          <p:cNvSpPr txBox="1"/>
          <p:nvPr/>
        </p:nvSpPr>
        <p:spPr>
          <a:xfrm>
            <a:off x="731520" y="4572000"/>
            <a:ext cx="5120640" cy="329184"/>
          </a:xfrm>
          <a:prstGeom prst="rect">
            <a:avLst/>
          </a:prstGeom>
          <a:noFill/>
          <a:ln/>
        </p:spPr>
        <p:txBody>
          <a:bodyPr wrap="square" lIns="0" tIns="0" rIns="0" bIns="0" rtlCol="0" anchor="ctr"/>
          <a:lstStyle/>
          <a:p>
            <a:pPr indent="0" marL="0">
              <a:buNone/>
            </a:pPr>
            <a:r>
              <a:rPr lang="en-US" sz="1300" b="1" dirty="0">
                <a:solidFill>
                  <a:srgbClr val="FFCB6B"/>
                </a:solidFill>
                <a:latin typeface="Calibri" pitchFamily="34" charset="0"/>
                <a:ea typeface="Calibri" pitchFamily="34" charset="-122"/>
                <a:cs typeface="Calibri" pitchFamily="34" charset="-120"/>
              </a:rPr>
              <a:t>12   </a:t>
            </a:r>
            <a:pPr indent="0" marL="0">
              <a:buNone/>
            </a:pPr>
            <a:r>
              <a:rPr lang="en-US" sz="1300" dirty="0">
                <a:solidFill>
                  <a:srgbClr val="FFFFFF"/>
                </a:solidFill>
                <a:latin typeface="Calibri" pitchFamily="34" charset="0"/>
                <a:ea typeface="Calibri" pitchFamily="34" charset="-122"/>
                <a:cs typeface="Calibri" pitchFamily="34" charset="-120"/>
              </a:rPr>
              <a:t>Çözümlü örnekler</a:t>
            </a:r>
            <a:endParaRPr lang="en-US" sz="1300" dirty="0"/>
          </a:p>
        </p:txBody>
      </p:sp>
      <p:sp>
        <p:nvSpPr>
          <p:cNvPr id="7" name="Text 5"/>
          <p:cNvSpPr txBox="1"/>
          <p:nvPr/>
        </p:nvSpPr>
        <p:spPr>
          <a:xfrm>
            <a:off x="731520" y="4901184"/>
            <a:ext cx="5120640" cy="329184"/>
          </a:xfrm>
          <a:prstGeom prst="rect">
            <a:avLst/>
          </a:prstGeom>
          <a:noFill/>
          <a:ln/>
        </p:spPr>
        <p:txBody>
          <a:bodyPr wrap="square" lIns="0" tIns="0" rIns="0" bIns="0" rtlCol="0" anchor="ctr"/>
          <a:lstStyle/>
          <a:p>
            <a:pPr indent="0" marL="0">
              <a:buNone/>
            </a:pPr>
            <a:r>
              <a:rPr lang="en-US" sz="1300" b="1" dirty="0">
                <a:solidFill>
                  <a:srgbClr val="FFCB6B"/>
                </a:solidFill>
                <a:latin typeface="Calibri" pitchFamily="34" charset="0"/>
                <a:ea typeface="Calibri" pitchFamily="34" charset="-122"/>
                <a:cs typeface="Calibri" pitchFamily="34" charset="-120"/>
              </a:rPr>
              <a:t>13   </a:t>
            </a:r>
            <a:pPr indent="0" marL="0">
              <a:buNone/>
            </a:pPr>
            <a:r>
              <a:rPr lang="en-US" sz="1300" dirty="0">
                <a:solidFill>
                  <a:srgbClr val="FFFFFF"/>
                </a:solidFill>
                <a:latin typeface="Calibri" pitchFamily="34" charset="0"/>
                <a:ea typeface="Calibri" pitchFamily="34" charset="-122"/>
                <a:cs typeface="Calibri" pitchFamily="34" charset="-120"/>
              </a:rPr>
              <a:t>Sık yapılan hatalar</a:t>
            </a:r>
            <a:endParaRPr lang="en-US" sz="1300" dirty="0"/>
          </a:p>
        </p:txBody>
      </p:sp>
      <p:sp>
        <p:nvSpPr>
          <p:cNvPr id="8" name="Text 6"/>
          <p:cNvSpPr txBox="1"/>
          <p:nvPr/>
        </p:nvSpPr>
        <p:spPr>
          <a:xfrm>
            <a:off x="6172200" y="1097280"/>
            <a:ext cx="5379415"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KOLAYDAN ZORA 7 ÇÖZÜMLÜ ÖRNEK</a:t>
            </a:r>
            <a:endParaRPr lang="en-US" sz="1050" dirty="0"/>
          </a:p>
        </p:txBody>
      </p:sp>
      <p:sp>
        <p:nvSpPr>
          <p:cNvPr id="9" name="Shape 7"/>
          <p:cNvSpPr/>
          <p:nvPr/>
        </p:nvSpPr>
        <p:spPr>
          <a:xfrm>
            <a:off x="6172200" y="1481328"/>
            <a:ext cx="5379415" cy="512064"/>
          </a:xfrm>
          <a:prstGeom prst="roundRect">
            <a:avLst>
              <a:gd name="adj" fmla="val 17857"/>
            </a:avLst>
          </a:prstGeom>
          <a:solidFill>
            <a:srgbClr val="1C2542"/>
          </a:solidFill>
          <a:ln w="9525">
            <a:solidFill>
              <a:srgbClr val="2C3860"/>
            </a:solidFill>
            <a:prstDash val="solid"/>
          </a:ln>
        </p:spPr>
      </p:sp>
      <p:sp>
        <p:nvSpPr>
          <p:cNvPr id="10" name="Text 8"/>
          <p:cNvSpPr txBox="1"/>
          <p:nvPr/>
        </p:nvSpPr>
        <p:spPr>
          <a:xfrm>
            <a:off x="6400800" y="1481328"/>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1   Kutu hareket eder mi?</a:t>
            </a:r>
            <a:endParaRPr lang="en-US" sz="1300" dirty="0"/>
          </a:p>
        </p:txBody>
      </p:sp>
      <p:sp>
        <p:nvSpPr>
          <p:cNvPr id="11" name="Text 9"/>
          <p:cNvSpPr txBox="1"/>
          <p:nvPr/>
        </p:nvSpPr>
        <p:spPr>
          <a:xfrm>
            <a:off x="10362895" y="1481328"/>
            <a:ext cx="1005840" cy="512064"/>
          </a:xfrm>
          <a:prstGeom prst="rect">
            <a:avLst/>
          </a:prstGeom>
          <a:noFill/>
          <a:ln/>
        </p:spPr>
        <p:txBody>
          <a:bodyPr wrap="square" lIns="0" tIns="0" rIns="0" bIns="0" rtlCol="0" anchor="ctr"/>
          <a:lstStyle/>
          <a:p>
            <a:pPr algn="r" indent="0" marL="0">
              <a:buNone/>
            </a:pPr>
            <a:r>
              <a:rPr lang="en-US" sz="1050" b="1" spc="200" kern="0" dirty="0">
                <a:solidFill>
                  <a:srgbClr val="C6F36B"/>
                </a:solidFill>
                <a:latin typeface="Calibri" pitchFamily="34" charset="0"/>
                <a:ea typeface="Calibri" pitchFamily="34" charset="-122"/>
                <a:cs typeface="Calibri" pitchFamily="34" charset="-120"/>
              </a:rPr>
              <a:t>KOLAY</a:t>
            </a:r>
            <a:endParaRPr lang="en-US" sz="1050" dirty="0"/>
          </a:p>
        </p:txBody>
      </p:sp>
      <p:sp>
        <p:nvSpPr>
          <p:cNvPr id="12" name="Shape 10"/>
          <p:cNvSpPr/>
          <p:nvPr/>
        </p:nvSpPr>
        <p:spPr>
          <a:xfrm>
            <a:off x="6172200" y="2084832"/>
            <a:ext cx="5379415" cy="512064"/>
          </a:xfrm>
          <a:prstGeom prst="roundRect">
            <a:avLst>
              <a:gd name="adj" fmla="val 17857"/>
            </a:avLst>
          </a:prstGeom>
          <a:solidFill>
            <a:srgbClr val="1C2542"/>
          </a:solidFill>
          <a:ln w="9525">
            <a:solidFill>
              <a:srgbClr val="2C3860"/>
            </a:solidFill>
            <a:prstDash val="solid"/>
          </a:ln>
        </p:spPr>
      </p:sp>
      <p:sp>
        <p:nvSpPr>
          <p:cNvPr id="13" name="Text 11"/>
          <p:cNvSpPr txBox="1"/>
          <p:nvPr/>
        </p:nvSpPr>
        <p:spPr>
          <a:xfrm>
            <a:off x="6400800" y="2084832"/>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2   Sabit hızla çekilen kutudan μk ölçmek</a:t>
            </a:r>
            <a:endParaRPr lang="en-US" sz="1300" dirty="0"/>
          </a:p>
        </p:txBody>
      </p:sp>
      <p:sp>
        <p:nvSpPr>
          <p:cNvPr id="14" name="Text 12"/>
          <p:cNvSpPr txBox="1"/>
          <p:nvPr/>
        </p:nvSpPr>
        <p:spPr>
          <a:xfrm>
            <a:off x="10362895" y="2084832"/>
            <a:ext cx="1005840" cy="512064"/>
          </a:xfrm>
          <a:prstGeom prst="rect">
            <a:avLst/>
          </a:prstGeom>
          <a:noFill/>
          <a:ln/>
        </p:spPr>
        <p:txBody>
          <a:bodyPr wrap="square" lIns="0" tIns="0" rIns="0" bIns="0" rtlCol="0" anchor="ctr"/>
          <a:lstStyle/>
          <a:p>
            <a:pPr algn="r" indent="0" marL="0">
              <a:buNone/>
            </a:pPr>
            <a:r>
              <a:rPr lang="en-US" sz="1050" b="1" spc="200" kern="0" dirty="0">
                <a:solidFill>
                  <a:srgbClr val="C6F36B"/>
                </a:solidFill>
                <a:latin typeface="Calibri" pitchFamily="34" charset="0"/>
                <a:ea typeface="Calibri" pitchFamily="34" charset="-122"/>
                <a:cs typeface="Calibri" pitchFamily="34" charset="-120"/>
              </a:rPr>
              <a:t>KOLAY</a:t>
            </a:r>
            <a:endParaRPr lang="en-US" sz="1050" dirty="0"/>
          </a:p>
        </p:txBody>
      </p:sp>
      <p:sp>
        <p:nvSpPr>
          <p:cNvPr id="15" name="Shape 13"/>
          <p:cNvSpPr/>
          <p:nvPr/>
        </p:nvSpPr>
        <p:spPr>
          <a:xfrm>
            <a:off x="6172200" y="2688336"/>
            <a:ext cx="5379415" cy="512064"/>
          </a:xfrm>
          <a:prstGeom prst="roundRect">
            <a:avLst>
              <a:gd name="adj" fmla="val 17857"/>
            </a:avLst>
          </a:prstGeom>
          <a:solidFill>
            <a:srgbClr val="1C2542"/>
          </a:solidFill>
          <a:ln w="9525">
            <a:solidFill>
              <a:srgbClr val="2C3860"/>
            </a:solidFill>
            <a:prstDash val="solid"/>
          </a:ln>
        </p:spPr>
      </p:sp>
      <p:sp>
        <p:nvSpPr>
          <p:cNvPr id="16" name="Text 14"/>
          <p:cNvSpPr txBox="1"/>
          <p:nvPr/>
        </p:nvSpPr>
        <p:spPr>
          <a:xfrm>
            <a:off x="6400800" y="2688336"/>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3   Kayan cismin durması</a:t>
            </a:r>
            <a:endParaRPr lang="en-US" sz="1300" dirty="0"/>
          </a:p>
        </p:txBody>
      </p:sp>
      <p:sp>
        <p:nvSpPr>
          <p:cNvPr id="17" name="Text 15"/>
          <p:cNvSpPr txBox="1"/>
          <p:nvPr/>
        </p:nvSpPr>
        <p:spPr>
          <a:xfrm>
            <a:off x="10362895" y="2688336"/>
            <a:ext cx="1005840" cy="512064"/>
          </a:xfrm>
          <a:prstGeom prst="rect">
            <a:avLst/>
          </a:prstGeom>
          <a:noFill/>
          <a:ln/>
        </p:spPr>
        <p:txBody>
          <a:bodyPr wrap="square" lIns="0" tIns="0" rIns="0" bIns="0" rtlCol="0" anchor="ctr"/>
          <a:lstStyle/>
          <a:p>
            <a:pPr algn="r" indent="0" marL="0">
              <a:buNone/>
            </a:pPr>
            <a:r>
              <a:rPr lang="en-US" sz="1050" b="1" spc="200" kern="0" dirty="0">
                <a:solidFill>
                  <a:srgbClr val="82AAFF"/>
                </a:solidFill>
                <a:latin typeface="Calibri" pitchFamily="34" charset="0"/>
                <a:ea typeface="Calibri" pitchFamily="34" charset="-122"/>
                <a:cs typeface="Calibri" pitchFamily="34" charset="-120"/>
              </a:rPr>
              <a:t>ORTA</a:t>
            </a:r>
            <a:endParaRPr lang="en-US" sz="1050" dirty="0"/>
          </a:p>
        </p:txBody>
      </p:sp>
      <p:sp>
        <p:nvSpPr>
          <p:cNvPr id="18" name="Shape 16"/>
          <p:cNvSpPr/>
          <p:nvPr/>
        </p:nvSpPr>
        <p:spPr>
          <a:xfrm>
            <a:off x="6172200" y="3291840"/>
            <a:ext cx="5379415" cy="512064"/>
          </a:xfrm>
          <a:prstGeom prst="roundRect">
            <a:avLst>
              <a:gd name="adj" fmla="val 17857"/>
            </a:avLst>
          </a:prstGeom>
          <a:solidFill>
            <a:srgbClr val="1C2542"/>
          </a:solidFill>
          <a:ln w="9525">
            <a:solidFill>
              <a:srgbClr val="2C3860"/>
            </a:solidFill>
            <a:prstDash val="solid"/>
          </a:ln>
        </p:spPr>
      </p:sp>
      <p:sp>
        <p:nvSpPr>
          <p:cNvPr id="19" name="Text 17"/>
          <p:cNvSpPr txBox="1"/>
          <p:nvPr/>
        </p:nvSpPr>
        <p:spPr>
          <a:xfrm>
            <a:off x="6400800" y="3291840"/>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4   Kritik açıdan μ bulma</a:t>
            </a:r>
            <a:endParaRPr lang="en-US" sz="1300" dirty="0"/>
          </a:p>
        </p:txBody>
      </p:sp>
      <p:sp>
        <p:nvSpPr>
          <p:cNvPr id="20" name="Text 18"/>
          <p:cNvSpPr txBox="1"/>
          <p:nvPr/>
        </p:nvSpPr>
        <p:spPr>
          <a:xfrm>
            <a:off x="10362895" y="3291840"/>
            <a:ext cx="1005840" cy="512064"/>
          </a:xfrm>
          <a:prstGeom prst="rect">
            <a:avLst/>
          </a:prstGeom>
          <a:noFill/>
          <a:ln/>
        </p:spPr>
        <p:txBody>
          <a:bodyPr wrap="square" lIns="0" tIns="0" rIns="0" bIns="0" rtlCol="0" anchor="ctr"/>
          <a:lstStyle/>
          <a:p>
            <a:pPr algn="r" indent="0" marL="0">
              <a:buNone/>
            </a:pPr>
            <a:r>
              <a:rPr lang="en-US" sz="1050" b="1" spc="200" kern="0" dirty="0">
                <a:solidFill>
                  <a:srgbClr val="82AAFF"/>
                </a:solidFill>
                <a:latin typeface="Calibri" pitchFamily="34" charset="0"/>
                <a:ea typeface="Calibri" pitchFamily="34" charset="-122"/>
                <a:cs typeface="Calibri" pitchFamily="34" charset="-120"/>
              </a:rPr>
              <a:t>ORTA</a:t>
            </a:r>
            <a:endParaRPr lang="en-US" sz="1050" dirty="0"/>
          </a:p>
        </p:txBody>
      </p:sp>
      <p:sp>
        <p:nvSpPr>
          <p:cNvPr id="21" name="Shape 19"/>
          <p:cNvSpPr/>
          <p:nvPr/>
        </p:nvSpPr>
        <p:spPr>
          <a:xfrm>
            <a:off x="6172200" y="3895344"/>
            <a:ext cx="5379415" cy="512064"/>
          </a:xfrm>
          <a:prstGeom prst="roundRect">
            <a:avLst>
              <a:gd name="adj" fmla="val 17857"/>
            </a:avLst>
          </a:prstGeom>
          <a:solidFill>
            <a:srgbClr val="1C2542"/>
          </a:solidFill>
          <a:ln w="9525">
            <a:solidFill>
              <a:srgbClr val="2C3860"/>
            </a:solidFill>
            <a:prstDash val="solid"/>
          </a:ln>
        </p:spPr>
      </p:sp>
      <p:sp>
        <p:nvSpPr>
          <p:cNvPr id="22" name="Text 20"/>
          <p:cNvSpPr txBox="1"/>
          <p:nvPr/>
        </p:nvSpPr>
        <p:spPr>
          <a:xfrm>
            <a:off x="6400800" y="3895344"/>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5   Fren mesafesi ve hız</a:t>
            </a:r>
            <a:endParaRPr lang="en-US" sz="1300" dirty="0"/>
          </a:p>
        </p:txBody>
      </p:sp>
      <p:sp>
        <p:nvSpPr>
          <p:cNvPr id="23" name="Text 21"/>
          <p:cNvSpPr txBox="1"/>
          <p:nvPr/>
        </p:nvSpPr>
        <p:spPr>
          <a:xfrm>
            <a:off x="10362895" y="3895344"/>
            <a:ext cx="1005840" cy="512064"/>
          </a:xfrm>
          <a:prstGeom prst="rect">
            <a:avLst/>
          </a:prstGeom>
          <a:noFill/>
          <a:ln/>
        </p:spPr>
        <p:txBody>
          <a:bodyPr wrap="square" lIns="0" tIns="0" rIns="0" bIns="0" rtlCol="0" anchor="ctr"/>
          <a:lstStyle/>
          <a:p>
            <a:pPr algn="r" indent="0" marL="0">
              <a:buNone/>
            </a:pPr>
            <a:r>
              <a:rPr lang="en-US" sz="1050" b="1" spc="200" kern="0" dirty="0">
                <a:solidFill>
                  <a:srgbClr val="82AAFF"/>
                </a:solidFill>
                <a:latin typeface="Calibri" pitchFamily="34" charset="0"/>
                <a:ea typeface="Calibri" pitchFamily="34" charset="-122"/>
                <a:cs typeface="Calibri" pitchFamily="34" charset="-120"/>
              </a:rPr>
              <a:t>ORTA</a:t>
            </a:r>
            <a:endParaRPr lang="en-US" sz="1050" dirty="0"/>
          </a:p>
        </p:txBody>
      </p:sp>
      <p:sp>
        <p:nvSpPr>
          <p:cNvPr id="24" name="Shape 22"/>
          <p:cNvSpPr/>
          <p:nvPr/>
        </p:nvSpPr>
        <p:spPr>
          <a:xfrm>
            <a:off x="6172200" y="4498848"/>
            <a:ext cx="5379415" cy="512064"/>
          </a:xfrm>
          <a:prstGeom prst="roundRect">
            <a:avLst>
              <a:gd name="adj" fmla="val 17857"/>
            </a:avLst>
          </a:prstGeom>
          <a:solidFill>
            <a:srgbClr val="1C2542"/>
          </a:solidFill>
          <a:ln w="9525">
            <a:solidFill>
              <a:srgbClr val="2C3860"/>
            </a:solidFill>
            <a:prstDash val="solid"/>
          </a:ln>
        </p:spPr>
      </p:sp>
      <p:sp>
        <p:nvSpPr>
          <p:cNvPr id="25" name="Text 23"/>
          <p:cNvSpPr txBox="1"/>
          <p:nvPr/>
        </p:nvSpPr>
        <p:spPr>
          <a:xfrm>
            <a:off x="6400800" y="4498848"/>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6   Kızağı çekmek mi, itmek mi?</a:t>
            </a:r>
            <a:endParaRPr lang="en-US" sz="1300" dirty="0"/>
          </a:p>
        </p:txBody>
      </p:sp>
      <p:sp>
        <p:nvSpPr>
          <p:cNvPr id="26" name="Text 24"/>
          <p:cNvSpPr txBox="1"/>
          <p:nvPr/>
        </p:nvSpPr>
        <p:spPr>
          <a:xfrm>
            <a:off x="10362895" y="4498848"/>
            <a:ext cx="1005840" cy="512064"/>
          </a:xfrm>
          <a:prstGeom prst="rect">
            <a:avLst/>
          </a:prstGeom>
          <a:noFill/>
          <a:ln/>
        </p:spPr>
        <p:txBody>
          <a:bodyPr wrap="square" lIns="0" tIns="0" rIns="0" bIns="0" rtlCol="0" anchor="ctr"/>
          <a:lstStyle/>
          <a:p>
            <a:pPr algn="r" indent="0" marL="0">
              <a:buNone/>
            </a:pPr>
            <a:r>
              <a:rPr lang="en-US" sz="1050" b="1" spc="200" kern="0" dirty="0">
                <a:solidFill>
                  <a:srgbClr val="FF8FA3"/>
                </a:solidFill>
                <a:latin typeface="Calibri" pitchFamily="34" charset="0"/>
                <a:ea typeface="Calibri" pitchFamily="34" charset="-122"/>
                <a:cs typeface="Calibri" pitchFamily="34" charset="-120"/>
              </a:rPr>
              <a:t>ZOR</a:t>
            </a:r>
            <a:endParaRPr lang="en-US" sz="1050" dirty="0"/>
          </a:p>
        </p:txBody>
      </p:sp>
      <p:sp>
        <p:nvSpPr>
          <p:cNvPr id="27" name="Shape 25"/>
          <p:cNvSpPr/>
          <p:nvPr/>
        </p:nvSpPr>
        <p:spPr>
          <a:xfrm>
            <a:off x="6172200" y="5102352"/>
            <a:ext cx="5379415" cy="512064"/>
          </a:xfrm>
          <a:prstGeom prst="roundRect">
            <a:avLst>
              <a:gd name="adj" fmla="val 17857"/>
            </a:avLst>
          </a:prstGeom>
          <a:solidFill>
            <a:srgbClr val="1C2542"/>
          </a:solidFill>
          <a:ln w="9525">
            <a:solidFill>
              <a:srgbClr val="2C3860"/>
            </a:solidFill>
            <a:prstDash val="solid"/>
          </a:ln>
        </p:spPr>
      </p:sp>
      <p:sp>
        <p:nvSpPr>
          <p:cNvPr id="28" name="Text 26"/>
          <p:cNvSpPr txBox="1"/>
          <p:nvPr/>
        </p:nvSpPr>
        <p:spPr>
          <a:xfrm>
            <a:off x="6400800" y="5102352"/>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7   Eğik düzlemde yukarı fırlatılan blok</a:t>
            </a:r>
            <a:endParaRPr lang="en-US" sz="1300" dirty="0"/>
          </a:p>
        </p:txBody>
      </p:sp>
      <p:sp>
        <p:nvSpPr>
          <p:cNvPr id="29" name="Text 27"/>
          <p:cNvSpPr txBox="1"/>
          <p:nvPr/>
        </p:nvSpPr>
        <p:spPr>
          <a:xfrm>
            <a:off x="10362895" y="5102352"/>
            <a:ext cx="1005840" cy="512064"/>
          </a:xfrm>
          <a:prstGeom prst="rect">
            <a:avLst/>
          </a:prstGeom>
          <a:noFill/>
          <a:ln/>
        </p:spPr>
        <p:txBody>
          <a:bodyPr wrap="square" lIns="0" tIns="0" rIns="0" bIns="0" rtlCol="0" anchor="ctr"/>
          <a:lstStyle/>
          <a:p>
            <a:pPr algn="r" indent="0" marL="0">
              <a:buNone/>
            </a:pPr>
            <a:r>
              <a:rPr lang="en-US" sz="1050" b="1" spc="200" kern="0" dirty="0">
                <a:solidFill>
                  <a:srgbClr val="FF8FA3"/>
                </a:solidFill>
                <a:latin typeface="Calibri" pitchFamily="34" charset="0"/>
                <a:ea typeface="Calibri" pitchFamily="34" charset="-122"/>
                <a:cs typeface="Calibri" pitchFamily="34" charset="-120"/>
              </a:rPr>
              <a:t>ZOR</a:t>
            </a:r>
            <a:endParaRPr lang="en-US" sz="1050" dirty="0"/>
          </a:p>
        </p:txBody>
      </p:sp>
      <p:sp>
        <p:nvSpPr>
          <p:cNvPr id="30" name="Shape 28"/>
          <p:cNvSpPr/>
          <p:nvPr/>
        </p:nvSpPr>
        <p:spPr>
          <a:xfrm>
            <a:off x="640080" y="6382512"/>
            <a:ext cx="128016" cy="128016"/>
          </a:xfrm>
          <a:prstGeom prst="roundRect">
            <a:avLst>
              <a:gd name="adj" fmla="val 28571"/>
            </a:avLst>
          </a:prstGeom>
          <a:solidFill>
            <a:srgbClr val="C6F36B"/>
          </a:solidFill>
          <a:ln/>
        </p:spPr>
      </p:sp>
      <p:sp>
        <p:nvSpPr>
          <p:cNvPr id="31" name="Text 2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dersler.perinet.org/surtunme-kuvveti.html</a:t>
            </a:r>
            <a:endParaRPr lang="en-US" sz="1050" dirty="0"/>
          </a:p>
        </p:txBody>
      </p:sp>
      <p:sp>
        <p:nvSpPr>
          <p:cNvPr id="32" name="Text 3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105</a:t>
            </a:r>
            <a:endParaRPr lang="en-US" sz="1050"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1 / 7 · Soru</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Kutu hareket eder mi?</a:t>
            </a:r>
            <a:endParaRPr lang="en-US" sz="1450" dirty="0"/>
          </a:p>
        </p:txBody>
      </p:sp>
      <p:sp>
        <p:nvSpPr>
          <p:cNvPr id="8" name="Shape 6"/>
          <p:cNvSpPr/>
          <p:nvPr/>
        </p:nvSpPr>
        <p:spPr>
          <a:xfrm>
            <a:off x="640080" y="1645920"/>
            <a:ext cx="10911535" cy="1627632"/>
          </a:xfrm>
          <a:prstGeom prst="roundRect">
            <a:avLst>
              <a:gd name="adj" fmla="val 8989"/>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773936"/>
            <a:ext cx="2743200" cy="237744"/>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029968"/>
            <a:ext cx="10271455" cy="1170432"/>
          </a:xfrm>
          <a:prstGeom prst="rect">
            <a:avLst/>
          </a:prstGeom>
          <a:noFill/>
          <a:ln/>
        </p:spPr>
        <p:txBody>
          <a:bodyPr wrap="square" lIns="0" tIns="0" rIns="0" bIns="0" rtlCol="0" anchor="t"/>
          <a:lstStyle/>
          <a:p>
            <a:pPr indent="0" marL="0">
              <a:lnSpc>
                <a:spcPct val="116000"/>
              </a:lnSpc>
              <a:buNone/>
            </a:pPr>
            <a:r>
              <a:rPr lang="en-US" sz="2000" dirty="0">
                <a:solidFill>
                  <a:srgbClr val="0E1426"/>
                </a:solidFill>
                <a:latin typeface="Calibri" pitchFamily="34" charset="0"/>
                <a:ea typeface="Calibri" pitchFamily="34" charset="-122"/>
                <a:cs typeface="Calibri" pitchFamily="34" charset="-120"/>
              </a:rPr>
              <a:t>Yatay zeminde duran 20 kg'lık kutu için μ</a:t>
            </a:r>
            <a:pPr indent="0" marL="0">
              <a:lnSpc>
                <a:spcPct val="116000"/>
              </a:lnSpc>
              <a:buNone/>
            </a:pPr>
            <a:r>
              <a:rPr lang="en-US" sz="2000" baseline="-40000" dirty="0">
                <a:solidFill>
                  <a:srgbClr val="0E1426"/>
                </a:solidFill>
                <a:latin typeface="Calibri" pitchFamily="34" charset="0"/>
                <a:ea typeface="Calibri" pitchFamily="34" charset="-122"/>
                <a:cs typeface="Calibri" pitchFamily="34" charset="-120"/>
              </a:rPr>
              <a:t>s</a:t>
            </a:r>
            <a:pPr indent="0" marL="0">
              <a:lnSpc>
                <a:spcPct val="116000"/>
              </a:lnSpc>
              <a:buNone/>
            </a:pPr>
            <a:r>
              <a:rPr lang="en-US" sz="2000" dirty="0">
                <a:solidFill>
                  <a:srgbClr val="0E1426"/>
                </a:solidFill>
                <a:latin typeface="Calibri" pitchFamily="34" charset="0"/>
                <a:ea typeface="Calibri" pitchFamily="34" charset="-122"/>
                <a:cs typeface="Calibri" pitchFamily="34" charset="-120"/>
              </a:rPr>
              <a:t> = 0,5 ve μ</a:t>
            </a:r>
            <a:pPr indent="0" marL="0">
              <a:lnSpc>
                <a:spcPct val="116000"/>
              </a:lnSpc>
              <a:buNone/>
            </a:pPr>
            <a:r>
              <a:rPr lang="en-US" sz="2000" baseline="-40000" dirty="0">
                <a:solidFill>
                  <a:srgbClr val="0E1426"/>
                </a:solidFill>
                <a:latin typeface="Calibri" pitchFamily="34" charset="0"/>
                <a:ea typeface="Calibri" pitchFamily="34" charset="-122"/>
                <a:cs typeface="Calibri" pitchFamily="34" charset="-120"/>
              </a:rPr>
              <a:t>k</a:t>
            </a:r>
            <a:pPr indent="0" marL="0">
              <a:lnSpc>
                <a:spcPct val="116000"/>
              </a:lnSpc>
              <a:buNone/>
            </a:pPr>
            <a:r>
              <a:rPr lang="en-US" sz="2000" dirty="0">
                <a:solidFill>
                  <a:srgbClr val="0E1426"/>
                </a:solidFill>
                <a:latin typeface="Calibri" pitchFamily="34" charset="0"/>
                <a:ea typeface="Calibri" pitchFamily="34" charset="-122"/>
                <a:cs typeface="Calibri" pitchFamily="34" charset="-120"/>
              </a:rPr>
              <a:t> = 0,4'tür. (a) 80 N'luk yatay kuvvet uygulanırsa kutu hareket eder mi, sürtünme kaç N olur? (b) Kuvvet 120 N'a çıkarılırsa ivme ne olur?</a:t>
            </a:r>
            <a:endParaRPr lang="en-US" sz="2000" dirty="0"/>
          </a:p>
        </p:txBody>
      </p:sp>
      <p:sp>
        <p:nvSpPr>
          <p:cNvPr id="11" name="Shape 9"/>
          <p:cNvSpPr/>
          <p:nvPr/>
        </p:nvSpPr>
        <p:spPr>
          <a:xfrm>
            <a:off x="2732085" y="3474720"/>
            <a:ext cx="6727525" cy="2779776"/>
          </a:xfrm>
          <a:prstGeom prst="roundRect">
            <a:avLst>
              <a:gd name="adj" fmla="val 526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2" name="Image 0" descr="/tmp/dersler-sekiller/surtunme-kuvveti-12.png">    </p:cNvPr>
          <p:cNvPicPr>
            <a:picLocks noChangeAspect="1"/>
          </p:cNvPicPr>
          <p:nvPr/>
        </p:nvPicPr>
        <p:blipFill>
          <a:blip r:embed="rId1"/>
          <a:stretch>
            <a:fillRect/>
          </a:stretch>
        </p:blipFill>
        <p:spPr>
          <a:xfrm>
            <a:off x="2960685" y="3584448"/>
            <a:ext cx="6270325" cy="2560320"/>
          </a:xfrm>
          <a:prstGeom prst="rect">
            <a:avLst/>
          </a:prstGeom>
        </p:spPr>
      </p:pic>
      <p:sp>
        <p:nvSpPr>
          <p:cNvPr id="13" name="Shape 10"/>
          <p:cNvSpPr/>
          <p:nvPr/>
        </p:nvSpPr>
        <p:spPr>
          <a:xfrm>
            <a:off x="640080" y="6382512"/>
            <a:ext cx="128016" cy="128016"/>
          </a:xfrm>
          <a:prstGeom prst="roundRect">
            <a:avLst>
              <a:gd name="adj" fmla="val 28571"/>
            </a:avLst>
          </a:prstGeom>
          <a:solidFill>
            <a:srgbClr val="A9E648"/>
          </a:solidFill>
          <a:ln/>
        </p:spPr>
      </p:sp>
      <p:sp>
        <p:nvSpPr>
          <p:cNvPr id="14" name="Text 1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5" name="Text 12"/>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106</a:t>
            </a:r>
            <a:endParaRPr lang="en-US" sz="1050"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1 / 7 · Verilenler ve istenen</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Kutu hareket eder mi?</a:t>
            </a:r>
            <a:endParaRPr lang="en-US" sz="1450" dirty="0"/>
          </a:p>
        </p:txBody>
      </p:sp>
      <p:sp>
        <p:nvSpPr>
          <p:cNvPr id="8" name="Shape 6"/>
          <p:cNvSpPr/>
          <p:nvPr/>
        </p:nvSpPr>
        <p:spPr>
          <a:xfrm>
            <a:off x="640080" y="1645920"/>
            <a:ext cx="10911535" cy="1764792"/>
          </a:xfrm>
          <a:prstGeom prst="roundRect">
            <a:avLst>
              <a:gd name="adj" fmla="val 8290"/>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810512"/>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121408"/>
            <a:ext cx="10271455" cy="1216152"/>
          </a:xfrm>
          <a:prstGeom prst="rect">
            <a:avLst/>
          </a:prstGeom>
          <a:noFill/>
          <a:ln/>
        </p:spPr>
        <p:txBody>
          <a:bodyPr wrap="square" lIns="0" tIns="0" rIns="0" bIns="0" rtlCol="0" anchor="t"/>
          <a:lstStyle/>
          <a:p>
            <a:pPr indent="0" marL="0">
              <a:lnSpc>
                <a:spcPct val="118000"/>
              </a:lnSpc>
              <a:buNone/>
            </a:pPr>
            <a:r>
              <a:rPr lang="en-US" sz="2000" dirty="0">
                <a:solidFill>
                  <a:srgbClr val="0E1426"/>
                </a:solidFill>
                <a:latin typeface="Calibri" pitchFamily="34" charset="0"/>
                <a:ea typeface="Calibri" pitchFamily="34" charset="-122"/>
                <a:cs typeface="Calibri" pitchFamily="34" charset="-120"/>
              </a:rPr>
              <a:t>Yatay zeminde duran 20 kg'lık kutu için μ</a:t>
            </a:r>
            <a:pPr indent="0" marL="0">
              <a:lnSpc>
                <a:spcPct val="118000"/>
              </a:lnSpc>
              <a:buNone/>
            </a:pPr>
            <a:r>
              <a:rPr lang="en-US" sz="2000" baseline="-40000" dirty="0">
                <a:solidFill>
                  <a:srgbClr val="0E1426"/>
                </a:solidFill>
                <a:latin typeface="Calibri" pitchFamily="34" charset="0"/>
                <a:ea typeface="Calibri" pitchFamily="34" charset="-122"/>
                <a:cs typeface="Calibri" pitchFamily="34" charset="-120"/>
              </a:rPr>
              <a:t>s</a:t>
            </a:r>
            <a:pPr indent="0" marL="0">
              <a:lnSpc>
                <a:spcPct val="118000"/>
              </a:lnSpc>
              <a:buNone/>
            </a:pPr>
            <a:r>
              <a:rPr lang="en-US" sz="2000" dirty="0">
                <a:solidFill>
                  <a:srgbClr val="0E1426"/>
                </a:solidFill>
                <a:latin typeface="Calibri" pitchFamily="34" charset="0"/>
                <a:ea typeface="Calibri" pitchFamily="34" charset="-122"/>
                <a:cs typeface="Calibri" pitchFamily="34" charset="-120"/>
              </a:rPr>
              <a:t> = 0,5 ve μ</a:t>
            </a:r>
            <a:pPr indent="0" marL="0">
              <a:lnSpc>
                <a:spcPct val="118000"/>
              </a:lnSpc>
              <a:buNone/>
            </a:pPr>
            <a:r>
              <a:rPr lang="en-US" sz="2000" baseline="-40000" dirty="0">
                <a:solidFill>
                  <a:srgbClr val="0E1426"/>
                </a:solidFill>
                <a:latin typeface="Calibri" pitchFamily="34" charset="0"/>
                <a:ea typeface="Calibri" pitchFamily="34" charset="-122"/>
                <a:cs typeface="Calibri" pitchFamily="34" charset="-120"/>
              </a:rPr>
              <a:t>k</a:t>
            </a:r>
            <a:pPr indent="0" marL="0">
              <a:lnSpc>
                <a:spcPct val="118000"/>
              </a:lnSpc>
              <a:buNone/>
            </a:pPr>
            <a:r>
              <a:rPr lang="en-US" sz="2000" dirty="0">
                <a:solidFill>
                  <a:srgbClr val="0E1426"/>
                </a:solidFill>
                <a:latin typeface="Calibri" pitchFamily="34" charset="0"/>
                <a:ea typeface="Calibri" pitchFamily="34" charset="-122"/>
                <a:cs typeface="Calibri" pitchFamily="34" charset="-120"/>
              </a:rPr>
              <a:t> = 0,4'tür. (a) 80 N'luk yatay kuvvet uygulanırsa kutu hareket eder mi, sürtünme kaç N olur? (b) Kuvvet 120 N'a çıkarılırsa ivme ne olur?</a:t>
            </a:r>
            <a:endParaRPr lang="en-US" sz="2000" dirty="0"/>
          </a:p>
        </p:txBody>
      </p:sp>
      <p:sp>
        <p:nvSpPr>
          <p:cNvPr id="11" name="Shape 9"/>
          <p:cNvSpPr/>
          <p:nvPr/>
        </p:nvSpPr>
        <p:spPr>
          <a:xfrm>
            <a:off x="640080" y="3611880"/>
            <a:ext cx="5318608" cy="2532888"/>
          </a:xfrm>
          <a:prstGeom prst="roundRect">
            <a:avLst>
              <a:gd name="adj" fmla="val 5776"/>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658368" y="3776472"/>
            <a:ext cx="54864" cy="2203704"/>
          </a:xfrm>
          <a:prstGeom prst="rect">
            <a:avLst/>
          </a:prstGeom>
          <a:solidFill>
            <a:srgbClr val="2957D4"/>
          </a:solidFill>
          <a:ln/>
        </p:spPr>
      </p:sp>
      <p:sp>
        <p:nvSpPr>
          <p:cNvPr id="13" name="Text 11"/>
          <p:cNvSpPr txBox="1"/>
          <p:nvPr/>
        </p:nvSpPr>
        <p:spPr>
          <a:xfrm>
            <a:off x="914400" y="3758184"/>
            <a:ext cx="4861408" cy="256032"/>
          </a:xfrm>
          <a:prstGeom prst="rect">
            <a:avLst/>
          </a:prstGeom>
          <a:noFill/>
          <a:ln/>
        </p:spPr>
        <p:txBody>
          <a:bodyPr wrap="square" lIns="0" tIns="0" rIns="0" bIns="0" rtlCol="0" anchor="ctr"/>
          <a:lstStyle/>
          <a:p>
            <a:pPr indent="0" marL="0">
              <a:buNone/>
            </a:pPr>
            <a:r>
              <a:rPr lang="en-US" sz="1050" b="1" spc="200" kern="0" dirty="0">
                <a:solidFill>
                  <a:srgbClr val="2957D4"/>
                </a:solidFill>
                <a:latin typeface="Calibri" pitchFamily="34" charset="0"/>
                <a:ea typeface="Calibri" pitchFamily="34" charset="-122"/>
                <a:cs typeface="Calibri" pitchFamily="34" charset="-120"/>
              </a:rPr>
              <a:t>VERİLENLER</a:t>
            </a:r>
            <a:endParaRPr lang="en-US" sz="1050" dirty="0"/>
          </a:p>
        </p:txBody>
      </p:sp>
      <p:sp>
        <p:nvSpPr>
          <p:cNvPr id="14" name="Text 12"/>
          <p:cNvSpPr txBox="1"/>
          <p:nvPr/>
        </p:nvSpPr>
        <p:spPr>
          <a:xfrm>
            <a:off x="950976" y="4087368"/>
            <a:ext cx="4769968" cy="1929384"/>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500" dirty="0">
                <a:solidFill>
                  <a:srgbClr val="0E1426"/>
                </a:solidFill>
                <a:latin typeface="Calibri" pitchFamily="34" charset="0"/>
                <a:ea typeface="Calibri" pitchFamily="34" charset="-122"/>
                <a:cs typeface="Calibri" pitchFamily="34" charset="-120"/>
              </a:rPr>
              <a:t>m = 20 kg</a:t>
            </a:r>
            <a:endParaRPr lang="en-US" sz="1500" dirty="0"/>
          </a:p>
          <a:p>
            <a:pPr marL="203200" indent="-203200">
              <a:lnSpc>
                <a:spcPct val="110000"/>
              </a:lnSpc>
              <a:spcAft>
                <a:spcPts val="500"/>
              </a:spcAft>
              <a:buSzPct val="100000"/>
              <a:buChar char="▪"/>
            </a:pPr>
            <a:r>
              <a:rPr lang="en-US" sz="1500" dirty="0">
                <a:solidFill>
                  <a:srgbClr val="0E1426"/>
                </a:solidFill>
                <a:latin typeface="Calibri" pitchFamily="34" charset="0"/>
                <a:ea typeface="Calibri" pitchFamily="34" charset="-122"/>
                <a:cs typeface="Calibri" pitchFamily="34" charset="-120"/>
              </a:rPr>
              <a:t>μs = 0,5</a:t>
            </a:r>
            <a:endParaRPr lang="en-US" sz="1500" dirty="0"/>
          </a:p>
          <a:p>
            <a:pPr marL="203200" indent="-203200">
              <a:lnSpc>
                <a:spcPct val="110000"/>
              </a:lnSpc>
              <a:spcAft>
                <a:spcPts val="500"/>
              </a:spcAft>
              <a:buSzPct val="100000"/>
              <a:buChar char="▪"/>
            </a:pPr>
            <a:r>
              <a:rPr lang="en-US" sz="1500" dirty="0">
                <a:solidFill>
                  <a:srgbClr val="0E1426"/>
                </a:solidFill>
                <a:latin typeface="Calibri" pitchFamily="34" charset="0"/>
                <a:ea typeface="Calibri" pitchFamily="34" charset="-122"/>
                <a:cs typeface="Calibri" pitchFamily="34" charset="-120"/>
              </a:rPr>
              <a:t>μk = 0,4</a:t>
            </a:r>
            <a:endParaRPr lang="en-US" sz="1500" dirty="0"/>
          </a:p>
          <a:p>
            <a:pPr marL="203200" indent="-203200">
              <a:lnSpc>
                <a:spcPct val="110000"/>
              </a:lnSpc>
              <a:spcAft>
                <a:spcPts val="500"/>
              </a:spcAft>
              <a:buSzPct val="100000"/>
              <a:buChar char="▪"/>
            </a:pPr>
            <a:r>
              <a:rPr lang="en-US" sz="1500" dirty="0">
                <a:solidFill>
                  <a:srgbClr val="0E1426"/>
                </a:solidFill>
                <a:latin typeface="Calibri" pitchFamily="34" charset="0"/>
                <a:ea typeface="Calibri" pitchFamily="34" charset="-122"/>
                <a:cs typeface="Calibri" pitchFamily="34" charset="-120"/>
              </a:rPr>
              <a:t>kutu başta duruyor</a:t>
            </a:r>
            <a:endParaRPr lang="en-US" sz="1500" dirty="0"/>
          </a:p>
          <a:p>
            <a:pPr marL="203200" indent="-203200">
              <a:lnSpc>
                <a:spcPct val="110000"/>
              </a:lnSpc>
              <a:spcAft>
                <a:spcPts val="500"/>
              </a:spcAft>
              <a:buSzPct val="100000"/>
              <a:buChar char="▪"/>
            </a:pPr>
            <a:r>
              <a:rPr lang="en-US" sz="1500" dirty="0">
                <a:solidFill>
                  <a:srgbClr val="0E1426"/>
                </a:solidFill>
                <a:latin typeface="Calibri" pitchFamily="34" charset="0"/>
                <a:ea typeface="Calibri" pitchFamily="34" charset="-122"/>
                <a:cs typeface="Calibri" pitchFamily="34" charset="-120"/>
              </a:rPr>
              <a:t>yatay kuvvet (a) F = 80 N, (b) F = 120 N</a:t>
            </a:r>
            <a:endParaRPr lang="en-US" sz="1500" dirty="0"/>
          </a:p>
          <a:p>
            <a:pPr marL="203200" indent="-203200">
              <a:lnSpc>
                <a:spcPct val="110000"/>
              </a:lnSpc>
              <a:spcAft>
                <a:spcPts val="500"/>
              </a:spcAft>
              <a:buSzPct val="100000"/>
              <a:buChar char="▪"/>
            </a:pPr>
            <a:r>
              <a:rPr lang="en-US" sz="1500" dirty="0">
                <a:solidFill>
                  <a:srgbClr val="0E1426"/>
                </a:solidFill>
                <a:latin typeface="Calibri" pitchFamily="34" charset="0"/>
                <a:ea typeface="Calibri" pitchFamily="34" charset="-122"/>
                <a:cs typeface="Calibri" pitchFamily="34" charset="-120"/>
              </a:rPr>
              <a:t>g = 10 m/s²</a:t>
            </a:r>
            <a:endParaRPr lang="en-US" sz="1500" dirty="0"/>
          </a:p>
        </p:txBody>
      </p:sp>
      <p:sp>
        <p:nvSpPr>
          <p:cNvPr id="15" name="Shape 13"/>
          <p:cNvSpPr/>
          <p:nvPr/>
        </p:nvSpPr>
        <p:spPr>
          <a:xfrm>
            <a:off x="6233008" y="3611880"/>
            <a:ext cx="5318608" cy="2532888"/>
          </a:xfrm>
          <a:prstGeom prst="roundRect">
            <a:avLst>
              <a:gd name="adj" fmla="val 5776"/>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6251296" y="3776472"/>
            <a:ext cx="54864" cy="2203704"/>
          </a:xfrm>
          <a:prstGeom prst="rect">
            <a:avLst/>
          </a:prstGeom>
          <a:solidFill>
            <a:srgbClr val="5F4BD8"/>
          </a:solidFill>
          <a:ln/>
        </p:spPr>
      </p:sp>
      <p:sp>
        <p:nvSpPr>
          <p:cNvPr id="17" name="Text 15"/>
          <p:cNvSpPr txBox="1"/>
          <p:nvPr/>
        </p:nvSpPr>
        <p:spPr>
          <a:xfrm>
            <a:off x="6507328" y="3758184"/>
            <a:ext cx="4861408" cy="256032"/>
          </a:xfrm>
          <a:prstGeom prst="rect">
            <a:avLst/>
          </a:prstGeom>
          <a:noFill/>
          <a:ln/>
        </p:spPr>
        <p:txBody>
          <a:bodyPr wrap="square" lIns="0" tIns="0" rIns="0" bIns="0" rtlCol="0" anchor="ctr"/>
          <a:lstStyle/>
          <a:p>
            <a:pPr indent="0" marL="0">
              <a:buNone/>
            </a:pPr>
            <a:r>
              <a:rPr lang="en-US" sz="1050" b="1" spc="200" kern="0" dirty="0">
                <a:solidFill>
                  <a:srgbClr val="5F4BD8"/>
                </a:solidFill>
                <a:latin typeface="Calibri" pitchFamily="34" charset="0"/>
                <a:ea typeface="Calibri" pitchFamily="34" charset="-122"/>
                <a:cs typeface="Calibri" pitchFamily="34" charset="-120"/>
              </a:rPr>
              <a:t>İSTENEN</a:t>
            </a:r>
            <a:endParaRPr lang="en-US" sz="1050" dirty="0"/>
          </a:p>
        </p:txBody>
      </p:sp>
      <p:sp>
        <p:nvSpPr>
          <p:cNvPr id="18" name="Text 16"/>
          <p:cNvSpPr txBox="1"/>
          <p:nvPr/>
        </p:nvSpPr>
        <p:spPr>
          <a:xfrm>
            <a:off x="6543904" y="4087368"/>
            <a:ext cx="4769968" cy="1929384"/>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(a) kutu hareket eder mi, sürtünme f kaç N</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(b) ivme a</a:t>
            </a:r>
            <a:endParaRPr lang="en-US" sz="1800" dirty="0"/>
          </a:p>
        </p:txBody>
      </p:sp>
      <p:sp>
        <p:nvSpPr>
          <p:cNvPr id="19" name="Shape 17"/>
          <p:cNvSpPr/>
          <p:nvPr/>
        </p:nvSpPr>
        <p:spPr>
          <a:xfrm>
            <a:off x="640080" y="6382512"/>
            <a:ext cx="128016" cy="128016"/>
          </a:xfrm>
          <a:prstGeom prst="roundRect">
            <a:avLst>
              <a:gd name="adj" fmla="val 28571"/>
            </a:avLst>
          </a:prstGeom>
          <a:solidFill>
            <a:srgbClr val="A9E648"/>
          </a:solidFill>
          <a:ln/>
        </p:spPr>
      </p:sp>
      <p:sp>
        <p:nvSpPr>
          <p:cNvPr id="20"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21"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107</a:t>
            </a:r>
            <a:endParaRPr lang="en-US" sz="1050"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1 · Çözüm 1 / 2</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Kutu hareket eder mi?</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N = m·g = 200 N, statik eşik: μ</a:t>
            </a:r>
            <a:pPr indent="0" marL="0">
              <a:lnSpc>
                <a:spcPct val="112000"/>
              </a:lnSpc>
              <a:buNone/>
            </a:pPr>
            <a:r>
              <a:rPr lang="en-US" sz="2000" baseline="-40000" dirty="0">
                <a:solidFill>
                  <a:srgbClr val="0E1426"/>
                </a:solidFill>
                <a:latin typeface="Calibri" pitchFamily="34" charset="0"/>
                <a:ea typeface="Calibri" pitchFamily="34" charset="-122"/>
                <a:cs typeface="Calibri" pitchFamily="34" charset="-120"/>
              </a:rPr>
              <a:t>s</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·N = 0,5 · 200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100 N</a:t>
            </a:r>
            <a:endParaRPr lang="en-US" sz="2000" dirty="0"/>
          </a:p>
        </p:txBody>
      </p:sp>
      <p:sp>
        <p:nvSpPr>
          <p:cNvPr id="12" name="Shape 10"/>
          <p:cNvSpPr/>
          <p:nvPr/>
        </p:nvSpPr>
        <p:spPr>
          <a:xfrm>
            <a:off x="640080" y="2883408"/>
            <a:ext cx="10911535" cy="1619098"/>
          </a:xfrm>
          <a:prstGeom prst="roundRect">
            <a:avLst>
              <a:gd name="adj" fmla="val 90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482645"/>
            <a:ext cx="420624" cy="420624"/>
          </a:xfrm>
          <a:prstGeom prst="roundRect">
            <a:avLst>
              <a:gd name="adj" fmla="val 26000"/>
            </a:avLst>
          </a:prstGeom>
          <a:solidFill>
            <a:srgbClr val="A56209"/>
          </a:solidFill>
          <a:ln/>
        </p:spPr>
      </p:sp>
      <p:sp>
        <p:nvSpPr>
          <p:cNvPr id="14" name="Text 12"/>
          <p:cNvSpPr txBox="1"/>
          <p:nvPr/>
        </p:nvSpPr>
        <p:spPr>
          <a:xfrm>
            <a:off x="914400" y="3482645"/>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1508760" y="2938272"/>
            <a:ext cx="9859975" cy="1509370"/>
          </a:xfrm>
          <a:prstGeom prst="rect">
            <a:avLst/>
          </a:prstGeom>
          <a:noFill/>
          <a:ln/>
        </p:spPr>
        <p:txBody>
          <a:bodyPr wrap="square" lIns="0" tIns="0" rIns="0" bIns="0" rtlCol="0" anchor="ctr"/>
          <a:lstStyle/>
          <a:p>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(a)</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80 N &lt; 100 N olduğu için kutu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hareket etmez</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statik sürtünme uygulanan kuvvete eşittir: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f = 80 N</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a = 0.</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108</a:t>
            </a:r>
            <a:endParaRPr lang="en-US" sz="1050"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1 · Çözüm 2 / 2</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Kutu hareket eder mi?</a:t>
            </a:r>
            <a:endParaRPr lang="en-US" sz="1450" dirty="0"/>
          </a:p>
        </p:txBody>
      </p:sp>
      <p:sp>
        <p:nvSpPr>
          <p:cNvPr id="8" name="Shape 6"/>
          <p:cNvSpPr/>
          <p:nvPr/>
        </p:nvSpPr>
        <p:spPr>
          <a:xfrm>
            <a:off x="640080" y="1645920"/>
            <a:ext cx="10911535" cy="1619098"/>
          </a:xfrm>
          <a:prstGeom prst="roundRect">
            <a:avLst>
              <a:gd name="adj" fmla="val 90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2245157"/>
            <a:ext cx="420624" cy="420624"/>
          </a:xfrm>
          <a:prstGeom prst="roundRect">
            <a:avLst>
              <a:gd name="adj" fmla="val 26000"/>
            </a:avLst>
          </a:prstGeom>
          <a:solidFill>
            <a:srgbClr val="A56209"/>
          </a:solidFill>
          <a:ln/>
        </p:spPr>
      </p:sp>
      <p:sp>
        <p:nvSpPr>
          <p:cNvPr id="10" name="Text 8"/>
          <p:cNvSpPr txBox="1"/>
          <p:nvPr/>
        </p:nvSpPr>
        <p:spPr>
          <a:xfrm>
            <a:off x="914400" y="2245157"/>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1" name="Text 9"/>
          <p:cNvSpPr txBox="1"/>
          <p:nvPr/>
        </p:nvSpPr>
        <p:spPr>
          <a:xfrm>
            <a:off x="1508760" y="1700784"/>
            <a:ext cx="9859975" cy="1509370"/>
          </a:xfrm>
          <a:prstGeom prst="rect">
            <a:avLst/>
          </a:prstGeom>
          <a:noFill/>
          <a:ln/>
        </p:spPr>
        <p:txBody>
          <a:bodyPr wrap="square" lIns="0" tIns="0" rIns="0" bIns="0" rtlCol="0" anchor="ctr"/>
          <a:lstStyle/>
          <a:p>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(b)</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120 N &gt; 100 N → kayma başlar. Artık kinetik sürtünme geçerlidir: f = μ</a:t>
            </a:r>
            <a:pPr indent="0" marL="0">
              <a:lnSpc>
                <a:spcPct val="112000"/>
              </a:lnSpc>
              <a:buNone/>
            </a:pPr>
            <a:r>
              <a:rPr lang="en-US" sz="2000" baseline="-40000" dirty="0">
                <a:solidFill>
                  <a:srgbClr val="0E1426"/>
                </a:solidFill>
                <a:latin typeface="Calibri" pitchFamily="34" charset="0"/>
                <a:ea typeface="Calibri" pitchFamily="34" charset="-122"/>
                <a:cs typeface="Calibri" pitchFamily="34" charset="-120"/>
              </a:rPr>
              <a:t>k</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·N = 0,4 · 200 = 80 N</a:t>
            </a:r>
            <a:endParaRPr lang="en-US" sz="2000" dirty="0"/>
          </a:p>
        </p:txBody>
      </p:sp>
      <p:sp>
        <p:nvSpPr>
          <p:cNvPr id="12" name="Shape 10"/>
          <p:cNvSpPr/>
          <p:nvPr/>
        </p:nvSpPr>
        <p:spPr>
          <a:xfrm>
            <a:off x="640080" y="342961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755746"/>
            <a:ext cx="420624" cy="420624"/>
          </a:xfrm>
          <a:prstGeom prst="roundRect">
            <a:avLst>
              <a:gd name="adj" fmla="val 26000"/>
            </a:avLst>
          </a:prstGeom>
          <a:solidFill>
            <a:srgbClr val="A56209"/>
          </a:solidFill>
          <a:ln/>
        </p:spPr>
      </p:sp>
      <p:sp>
        <p:nvSpPr>
          <p:cNvPr id="14" name="Text 12"/>
          <p:cNvSpPr txBox="1"/>
          <p:nvPr/>
        </p:nvSpPr>
        <p:spPr>
          <a:xfrm>
            <a:off x="914400" y="375574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5" name="Text 13"/>
          <p:cNvSpPr txBox="1"/>
          <p:nvPr/>
        </p:nvSpPr>
        <p:spPr>
          <a:xfrm>
            <a:off x="1508760" y="348447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a = (120 − 80) / 20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2 m/s²</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109</a:t>
            </a:r>
            <a:endParaRPr lang="en-US" sz="1050"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2 / 7 · Soru</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Sabit hızla çekilen kutudan μk ölçmek</a:t>
            </a:r>
            <a:endParaRPr lang="en-US" sz="1450" dirty="0"/>
          </a:p>
        </p:txBody>
      </p:sp>
      <p:sp>
        <p:nvSpPr>
          <p:cNvPr id="8" name="Shape 6"/>
          <p:cNvSpPr/>
          <p:nvPr/>
        </p:nvSpPr>
        <p:spPr>
          <a:xfrm>
            <a:off x="640080" y="1645920"/>
            <a:ext cx="10911535" cy="1627632"/>
          </a:xfrm>
          <a:prstGeom prst="roundRect">
            <a:avLst>
              <a:gd name="adj" fmla="val 8989"/>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773936"/>
            <a:ext cx="2743200" cy="237744"/>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029968"/>
            <a:ext cx="10271455" cy="1170432"/>
          </a:xfrm>
          <a:prstGeom prst="rect">
            <a:avLst/>
          </a:prstGeom>
          <a:noFill/>
          <a:ln/>
        </p:spPr>
        <p:txBody>
          <a:bodyPr wrap="square" lIns="0" tIns="0" rIns="0" bIns="0" rtlCol="0" anchor="t"/>
          <a:lstStyle/>
          <a:p>
            <a:pPr indent="0" marL="0">
              <a:lnSpc>
                <a:spcPct val="116000"/>
              </a:lnSpc>
              <a:buNone/>
            </a:pPr>
            <a:r>
              <a:rPr lang="en-US" sz="2000" dirty="0">
                <a:solidFill>
                  <a:srgbClr val="0E1426"/>
                </a:solidFill>
                <a:latin typeface="Calibri" pitchFamily="34" charset="0"/>
                <a:ea typeface="Calibri" pitchFamily="34" charset="-122"/>
                <a:cs typeface="Calibri" pitchFamily="34" charset="-120"/>
              </a:rPr>
              <a:t>5 kg'lık bir kutu, yatay zeminde dinamometreyle sabit hızla çekiliyor; dinamometre 15 N gösteriyor. (a) μ</a:t>
            </a:r>
            <a:pPr indent="0" marL="0">
              <a:lnSpc>
                <a:spcPct val="116000"/>
              </a:lnSpc>
              <a:buNone/>
            </a:pPr>
            <a:r>
              <a:rPr lang="en-US" sz="2000" baseline="-40000" dirty="0">
                <a:solidFill>
                  <a:srgbClr val="0E1426"/>
                </a:solidFill>
                <a:latin typeface="Calibri" pitchFamily="34" charset="0"/>
                <a:ea typeface="Calibri" pitchFamily="34" charset="-122"/>
                <a:cs typeface="Calibri" pitchFamily="34" charset="-120"/>
              </a:rPr>
              <a:t>k</a:t>
            </a:r>
            <a:pPr indent="0" marL="0">
              <a:lnSpc>
                <a:spcPct val="116000"/>
              </a:lnSpc>
              <a:buNone/>
            </a:pPr>
            <a:r>
              <a:rPr lang="en-US" sz="2000" dirty="0">
                <a:solidFill>
                  <a:srgbClr val="0E1426"/>
                </a:solidFill>
                <a:latin typeface="Calibri" pitchFamily="34" charset="0"/>
                <a:ea typeface="Calibri" pitchFamily="34" charset="-122"/>
                <a:cs typeface="Calibri" pitchFamily="34" charset="-120"/>
              </a:rPr>
              <a:t> kaçtır? (b) Kutunun üstüne 5 kg'lık ikinci bir kutu konup ikisi yine sabit hızla çekilirse dinamometre kaç N gösterir?</a:t>
            </a:r>
            <a:endParaRPr lang="en-US" sz="2000" dirty="0"/>
          </a:p>
        </p:txBody>
      </p:sp>
      <p:sp>
        <p:nvSpPr>
          <p:cNvPr id="11" name="Shape 9"/>
          <p:cNvSpPr/>
          <p:nvPr/>
        </p:nvSpPr>
        <p:spPr>
          <a:xfrm>
            <a:off x="3574383" y="3474720"/>
            <a:ext cx="5042930" cy="2779776"/>
          </a:xfrm>
          <a:prstGeom prst="roundRect">
            <a:avLst>
              <a:gd name="adj" fmla="val 526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2" name="Image 0" descr="/tmp/dersler-sekiller/surtunme-kuvveti-13.png">    </p:cNvPr>
          <p:cNvPicPr>
            <a:picLocks noChangeAspect="1"/>
          </p:cNvPicPr>
          <p:nvPr/>
        </p:nvPicPr>
        <p:blipFill>
          <a:blip r:embed="rId1"/>
          <a:stretch>
            <a:fillRect/>
          </a:stretch>
        </p:blipFill>
        <p:spPr>
          <a:xfrm>
            <a:off x="3802983" y="3584448"/>
            <a:ext cx="4585730" cy="2560320"/>
          </a:xfrm>
          <a:prstGeom prst="rect">
            <a:avLst/>
          </a:prstGeom>
        </p:spPr>
      </p:pic>
      <p:sp>
        <p:nvSpPr>
          <p:cNvPr id="13" name="Shape 10"/>
          <p:cNvSpPr/>
          <p:nvPr/>
        </p:nvSpPr>
        <p:spPr>
          <a:xfrm>
            <a:off x="640080" y="6382512"/>
            <a:ext cx="128016" cy="128016"/>
          </a:xfrm>
          <a:prstGeom prst="roundRect">
            <a:avLst>
              <a:gd name="adj" fmla="val 28571"/>
            </a:avLst>
          </a:prstGeom>
          <a:solidFill>
            <a:srgbClr val="A9E648"/>
          </a:solidFill>
          <a:ln/>
        </p:spPr>
      </p:sp>
      <p:sp>
        <p:nvSpPr>
          <p:cNvPr id="14" name="Text 1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5" name="Text 12"/>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110</a:t>
            </a:r>
            <a:endParaRPr lang="en-US" sz="1050"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2 / 7 · Verilenler ve istenen</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Sabit hızla çekilen kutudan μk ölçmek</a:t>
            </a:r>
            <a:endParaRPr lang="en-US" sz="1450" dirty="0"/>
          </a:p>
        </p:txBody>
      </p:sp>
      <p:sp>
        <p:nvSpPr>
          <p:cNvPr id="8" name="Shape 6"/>
          <p:cNvSpPr/>
          <p:nvPr/>
        </p:nvSpPr>
        <p:spPr>
          <a:xfrm>
            <a:off x="640080" y="1645920"/>
            <a:ext cx="10911535" cy="1764792"/>
          </a:xfrm>
          <a:prstGeom prst="roundRect">
            <a:avLst>
              <a:gd name="adj" fmla="val 8290"/>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810512"/>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121408"/>
            <a:ext cx="10271455" cy="1216152"/>
          </a:xfrm>
          <a:prstGeom prst="rect">
            <a:avLst/>
          </a:prstGeom>
          <a:noFill/>
          <a:ln/>
        </p:spPr>
        <p:txBody>
          <a:bodyPr wrap="square" lIns="0" tIns="0" rIns="0" bIns="0" rtlCol="0" anchor="t"/>
          <a:lstStyle/>
          <a:p>
            <a:pPr indent="0" marL="0">
              <a:lnSpc>
                <a:spcPct val="118000"/>
              </a:lnSpc>
              <a:buNone/>
            </a:pPr>
            <a:r>
              <a:rPr lang="en-US" sz="2000" dirty="0">
                <a:solidFill>
                  <a:srgbClr val="0E1426"/>
                </a:solidFill>
                <a:latin typeface="Calibri" pitchFamily="34" charset="0"/>
                <a:ea typeface="Calibri" pitchFamily="34" charset="-122"/>
                <a:cs typeface="Calibri" pitchFamily="34" charset="-120"/>
              </a:rPr>
              <a:t>5 kg'lık bir kutu, yatay zeminde dinamometreyle sabit hızla çekiliyor; dinamometre 15 N gösteriyor. (a) μ</a:t>
            </a:r>
            <a:pPr indent="0" marL="0">
              <a:lnSpc>
                <a:spcPct val="118000"/>
              </a:lnSpc>
              <a:buNone/>
            </a:pPr>
            <a:r>
              <a:rPr lang="en-US" sz="2000" baseline="-40000" dirty="0">
                <a:solidFill>
                  <a:srgbClr val="0E1426"/>
                </a:solidFill>
                <a:latin typeface="Calibri" pitchFamily="34" charset="0"/>
                <a:ea typeface="Calibri" pitchFamily="34" charset="-122"/>
                <a:cs typeface="Calibri" pitchFamily="34" charset="-120"/>
              </a:rPr>
              <a:t>k</a:t>
            </a:r>
            <a:pPr indent="0" marL="0">
              <a:lnSpc>
                <a:spcPct val="118000"/>
              </a:lnSpc>
              <a:buNone/>
            </a:pPr>
            <a:r>
              <a:rPr lang="en-US" sz="2000" dirty="0">
                <a:solidFill>
                  <a:srgbClr val="0E1426"/>
                </a:solidFill>
                <a:latin typeface="Calibri" pitchFamily="34" charset="0"/>
                <a:ea typeface="Calibri" pitchFamily="34" charset="-122"/>
                <a:cs typeface="Calibri" pitchFamily="34" charset="-120"/>
              </a:rPr>
              <a:t> kaçtır? (b) Kutunun üstüne 5 kg'lık ikinci bir kutu konup ikisi yine sabit hızla çekilirse dinamometre kaç N gösterir?</a:t>
            </a:r>
            <a:endParaRPr lang="en-US" sz="2000" dirty="0"/>
          </a:p>
        </p:txBody>
      </p:sp>
      <p:sp>
        <p:nvSpPr>
          <p:cNvPr id="11" name="Shape 9"/>
          <p:cNvSpPr/>
          <p:nvPr/>
        </p:nvSpPr>
        <p:spPr>
          <a:xfrm>
            <a:off x="640080" y="3611880"/>
            <a:ext cx="5318608" cy="2532888"/>
          </a:xfrm>
          <a:prstGeom prst="roundRect">
            <a:avLst>
              <a:gd name="adj" fmla="val 5776"/>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658368" y="3776472"/>
            <a:ext cx="54864" cy="2203704"/>
          </a:xfrm>
          <a:prstGeom prst="rect">
            <a:avLst/>
          </a:prstGeom>
          <a:solidFill>
            <a:srgbClr val="2957D4"/>
          </a:solidFill>
          <a:ln/>
        </p:spPr>
      </p:sp>
      <p:sp>
        <p:nvSpPr>
          <p:cNvPr id="13" name="Text 11"/>
          <p:cNvSpPr txBox="1"/>
          <p:nvPr/>
        </p:nvSpPr>
        <p:spPr>
          <a:xfrm>
            <a:off x="914400" y="3758184"/>
            <a:ext cx="4861408" cy="256032"/>
          </a:xfrm>
          <a:prstGeom prst="rect">
            <a:avLst/>
          </a:prstGeom>
          <a:noFill/>
          <a:ln/>
        </p:spPr>
        <p:txBody>
          <a:bodyPr wrap="square" lIns="0" tIns="0" rIns="0" bIns="0" rtlCol="0" anchor="ctr"/>
          <a:lstStyle/>
          <a:p>
            <a:pPr indent="0" marL="0">
              <a:buNone/>
            </a:pPr>
            <a:r>
              <a:rPr lang="en-US" sz="1050" b="1" spc="200" kern="0" dirty="0">
                <a:solidFill>
                  <a:srgbClr val="2957D4"/>
                </a:solidFill>
                <a:latin typeface="Calibri" pitchFamily="34" charset="0"/>
                <a:ea typeface="Calibri" pitchFamily="34" charset="-122"/>
                <a:cs typeface="Calibri" pitchFamily="34" charset="-120"/>
              </a:rPr>
              <a:t>VERİLENLER</a:t>
            </a:r>
            <a:endParaRPr lang="en-US" sz="1050" dirty="0"/>
          </a:p>
        </p:txBody>
      </p:sp>
      <p:sp>
        <p:nvSpPr>
          <p:cNvPr id="14" name="Text 12"/>
          <p:cNvSpPr txBox="1"/>
          <p:nvPr/>
        </p:nvSpPr>
        <p:spPr>
          <a:xfrm>
            <a:off x="950976" y="4087368"/>
            <a:ext cx="4769968" cy="1929384"/>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m = 5 kg</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sabit hız → a = 0</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dinamometre F = 15 N</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(b) üstüne 5 kg daha → toplam 10 kg</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g = 10 m/s²</a:t>
            </a:r>
            <a:endParaRPr lang="en-US" sz="1800" dirty="0"/>
          </a:p>
        </p:txBody>
      </p:sp>
      <p:sp>
        <p:nvSpPr>
          <p:cNvPr id="15" name="Shape 13"/>
          <p:cNvSpPr/>
          <p:nvPr/>
        </p:nvSpPr>
        <p:spPr>
          <a:xfrm>
            <a:off x="6233008" y="3611880"/>
            <a:ext cx="5318608" cy="2532888"/>
          </a:xfrm>
          <a:prstGeom prst="roundRect">
            <a:avLst>
              <a:gd name="adj" fmla="val 5776"/>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6251296" y="3776472"/>
            <a:ext cx="54864" cy="2203704"/>
          </a:xfrm>
          <a:prstGeom prst="rect">
            <a:avLst/>
          </a:prstGeom>
          <a:solidFill>
            <a:srgbClr val="5F4BD8"/>
          </a:solidFill>
          <a:ln/>
        </p:spPr>
      </p:sp>
      <p:sp>
        <p:nvSpPr>
          <p:cNvPr id="17" name="Text 15"/>
          <p:cNvSpPr txBox="1"/>
          <p:nvPr/>
        </p:nvSpPr>
        <p:spPr>
          <a:xfrm>
            <a:off x="6507328" y="3758184"/>
            <a:ext cx="4861408" cy="256032"/>
          </a:xfrm>
          <a:prstGeom prst="rect">
            <a:avLst/>
          </a:prstGeom>
          <a:noFill/>
          <a:ln/>
        </p:spPr>
        <p:txBody>
          <a:bodyPr wrap="square" lIns="0" tIns="0" rIns="0" bIns="0" rtlCol="0" anchor="ctr"/>
          <a:lstStyle/>
          <a:p>
            <a:pPr indent="0" marL="0">
              <a:buNone/>
            </a:pPr>
            <a:r>
              <a:rPr lang="en-US" sz="1050" b="1" spc="200" kern="0" dirty="0">
                <a:solidFill>
                  <a:srgbClr val="5F4BD8"/>
                </a:solidFill>
                <a:latin typeface="Calibri" pitchFamily="34" charset="0"/>
                <a:ea typeface="Calibri" pitchFamily="34" charset="-122"/>
                <a:cs typeface="Calibri" pitchFamily="34" charset="-120"/>
              </a:rPr>
              <a:t>İSTENEN</a:t>
            </a:r>
            <a:endParaRPr lang="en-US" sz="1050" dirty="0"/>
          </a:p>
        </p:txBody>
      </p:sp>
      <p:sp>
        <p:nvSpPr>
          <p:cNvPr id="18" name="Text 16"/>
          <p:cNvSpPr txBox="1"/>
          <p:nvPr/>
        </p:nvSpPr>
        <p:spPr>
          <a:xfrm>
            <a:off x="6543904" y="4087368"/>
            <a:ext cx="4769968" cy="1929384"/>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(a) kinetik sürtünme katsayısı μk</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(b) iki kutu sabit hızla çekilirken dinamometrenin gösterdiği F</a:t>
            </a:r>
            <a:endParaRPr lang="en-US" sz="1800" dirty="0"/>
          </a:p>
        </p:txBody>
      </p:sp>
      <p:sp>
        <p:nvSpPr>
          <p:cNvPr id="19" name="Shape 17"/>
          <p:cNvSpPr/>
          <p:nvPr/>
        </p:nvSpPr>
        <p:spPr>
          <a:xfrm>
            <a:off x="640080" y="6382512"/>
            <a:ext cx="128016" cy="128016"/>
          </a:xfrm>
          <a:prstGeom prst="roundRect">
            <a:avLst>
              <a:gd name="adj" fmla="val 28571"/>
            </a:avLst>
          </a:prstGeom>
          <a:solidFill>
            <a:srgbClr val="A9E648"/>
          </a:solidFill>
          <a:ln/>
        </p:spPr>
      </p:sp>
      <p:sp>
        <p:nvSpPr>
          <p:cNvPr id="20"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21"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111</a:t>
            </a:r>
            <a:endParaRPr lang="en-US" sz="1050"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2 · Çözüm 1 / 2</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Sabit hızla çekilen kutudan μk ölçmek</a:t>
            </a:r>
            <a:endParaRPr lang="en-US" sz="1450" dirty="0"/>
          </a:p>
        </p:txBody>
      </p:sp>
      <p:sp>
        <p:nvSpPr>
          <p:cNvPr id="8" name="Shape 6"/>
          <p:cNvSpPr/>
          <p:nvPr/>
        </p:nvSpPr>
        <p:spPr>
          <a:xfrm>
            <a:off x="640080" y="1645920"/>
            <a:ext cx="10911535" cy="1619098"/>
          </a:xfrm>
          <a:prstGeom prst="roundRect">
            <a:avLst>
              <a:gd name="adj" fmla="val 90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2245157"/>
            <a:ext cx="420624" cy="420624"/>
          </a:xfrm>
          <a:prstGeom prst="roundRect">
            <a:avLst>
              <a:gd name="adj" fmla="val 26000"/>
            </a:avLst>
          </a:prstGeom>
          <a:solidFill>
            <a:srgbClr val="A56209"/>
          </a:solidFill>
          <a:ln/>
        </p:spPr>
      </p:sp>
      <p:sp>
        <p:nvSpPr>
          <p:cNvPr id="10" name="Text 8"/>
          <p:cNvSpPr txBox="1"/>
          <p:nvPr/>
        </p:nvSpPr>
        <p:spPr>
          <a:xfrm>
            <a:off x="914400" y="2245157"/>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1" name="Text 9"/>
          <p:cNvSpPr txBox="1"/>
          <p:nvPr/>
        </p:nvSpPr>
        <p:spPr>
          <a:xfrm>
            <a:off x="1508760" y="1700784"/>
            <a:ext cx="9859975" cy="1509370"/>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Sabit hız → net kuvvet sıfır → kinetik sürtünme çekme kuvvetine eşit: f = 15 N</a:t>
            </a:r>
            <a:endParaRPr lang="en-US" sz="2000" dirty="0"/>
          </a:p>
        </p:txBody>
      </p:sp>
      <p:sp>
        <p:nvSpPr>
          <p:cNvPr id="12" name="Shape 10"/>
          <p:cNvSpPr/>
          <p:nvPr/>
        </p:nvSpPr>
        <p:spPr>
          <a:xfrm>
            <a:off x="640080" y="342961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755746"/>
            <a:ext cx="420624" cy="420624"/>
          </a:xfrm>
          <a:prstGeom prst="roundRect">
            <a:avLst>
              <a:gd name="adj" fmla="val 26000"/>
            </a:avLst>
          </a:prstGeom>
          <a:solidFill>
            <a:srgbClr val="A56209"/>
          </a:solidFill>
          <a:ln/>
        </p:spPr>
      </p:sp>
      <p:sp>
        <p:nvSpPr>
          <p:cNvPr id="14" name="Text 12"/>
          <p:cNvSpPr txBox="1"/>
          <p:nvPr/>
        </p:nvSpPr>
        <p:spPr>
          <a:xfrm>
            <a:off x="914400" y="375574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1508760" y="348447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N = m·g = 5 · 10 = 50 N</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112</a:t>
            </a:r>
            <a:endParaRPr lang="en-US" sz="1050"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2 · Çözüm 2 / 2</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Sabit hızla çekilen kutudan μk ölçmek</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(a)</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μ</a:t>
            </a:r>
            <a:pPr indent="0" marL="0">
              <a:lnSpc>
                <a:spcPct val="112000"/>
              </a:lnSpc>
              <a:buNone/>
            </a:pPr>
            <a:r>
              <a:rPr lang="en-US" sz="2000" baseline="-40000" dirty="0">
                <a:solidFill>
                  <a:srgbClr val="0E1426"/>
                </a:solidFill>
                <a:latin typeface="Calibri" pitchFamily="34" charset="0"/>
                <a:ea typeface="Calibri" pitchFamily="34" charset="-122"/>
                <a:cs typeface="Calibri" pitchFamily="34" charset="-120"/>
              </a:rPr>
              <a:t>k</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 f / N = 15 / 50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0,3</a:t>
            </a:r>
            <a:endParaRPr lang="en-US" sz="2000" dirty="0"/>
          </a:p>
        </p:txBody>
      </p:sp>
      <p:sp>
        <p:nvSpPr>
          <p:cNvPr id="12" name="Shape 10"/>
          <p:cNvSpPr/>
          <p:nvPr/>
        </p:nvSpPr>
        <p:spPr>
          <a:xfrm>
            <a:off x="640080" y="2883408"/>
            <a:ext cx="10911535" cy="1619098"/>
          </a:xfrm>
          <a:prstGeom prst="roundRect">
            <a:avLst>
              <a:gd name="adj" fmla="val 90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482645"/>
            <a:ext cx="420624" cy="420624"/>
          </a:xfrm>
          <a:prstGeom prst="roundRect">
            <a:avLst>
              <a:gd name="adj" fmla="val 26000"/>
            </a:avLst>
          </a:prstGeom>
          <a:solidFill>
            <a:srgbClr val="A56209"/>
          </a:solidFill>
          <a:ln/>
        </p:spPr>
      </p:sp>
      <p:sp>
        <p:nvSpPr>
          <p:cNvPr id="14" name="Text 12"/>
          <p:cNvSpPr txBox="1"/>
          <p:nvPr/>
        </p:nvSpPr>
        <p:spPr>
          <a:xfrm>
            <a:off x="914400" y="3482645"/>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5" name="Text 13"/>
          <p:cNvSpPr txBox="1"/>
          <p:nvPr/>
        </p:nvSpPr>
        <p:spPr>
          <a:xfrm>
            <a:off x="1508760" y="2938272"/>
            <a:ext cx="9859975" cy="1509370"/>
          </a:xfrm>
          <a:prstGeom prst="rect">
            <a:avLst/>
          </a:prstGeom>
          <a:noFill/>
          <a:ln/>
        </p:spPr>
        <p:txBody>
          <a:bodyPr wrap="square" lIns="0" tIns="0" rIns="0" bIns="0" rtlCol="0" anchor="ctr"/>
          <a:lstStyle/>
          <a:p>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(b)</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N = 10 · 10 = 100 N → f = 0,3 · 100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30 N</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kütle 2 katına çıkınca sürtünme de 2 katına çıktı.</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113</a:t>
            </a:r>
            <a:endParaRPr lang="en-US" sz="1050"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3 / 7 · Soru</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Kayan cismin durması</a:t>
            </a:r>
            <a:endParaRPr lang="en-US" sz="1450" dirty="0"/>
          </a:p>
        </p:txBody>
      </p:sp>
      <p:sp>
        <p:nvSpPr>
          <p:cNvPr id="8" name="Shape 6"/>
          <p:cNvSpPr/>
          <p:nvPr/>
        </p:nvSpPr>
        <p:spPr>
          <a:xfrm>
            <a:off x="640080" y="1645920"/>
            <a:ext cx="10911535" cy="1274064"/>
          </a:xfrm>
          <a:prstGeom prst="roundRect">
            <a:avLst>
              <a:gd name="adj" fmla="val 11483"/>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773936"/>
            <a:ext cx="2743200" cy="237744"/>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029968"/>
            <a:ext cx="10271455" cy="816864"/>
          </a:xfrm>
          <a:prstGeom prst="rect">
            <a:avLst/>
          </a:prstGeom>
          <a:noFill/>
          <a:ln/>
        </p:spPr>
        <p:txBody>
          <a:bodyPr wrap="square" lIns="0" tIns="0" rIns="0" bIns="0" rtlCol="0" anchor="t"/>
          <a:lstStyle/>
          <a:p>
            <a:pPr indent="0" marL="0">
              <a:lnSpc>
                <a:spcPct val="116000"/>
              </a:lnSpc>
              <a:buNone/>
            </a:pPr>
            <a:r>
              <a:rPr lang="en-US" sz="2000" dirty="0">
                <a:solidFill>
                  <a:srgbClr val="0E1426"/>
                </a:solidFill>
                <a:latin typeface="Calibri" pitchFamily="34" charset="0"/>
                <a:ea typeface="Calibri" pitchFamily="34" charset="-122"/>
                <a:cs typeface="Calibri" pitchFamily="34" charset="-120"/>
              </a:rPr>
              <a:t>Yatay zeminde 10 m/s hızla kayan 5 kg'lık cisim, μ</a:t>
            </a:r>
            <a:pPr indent="0" marL="0">
              <a:lnSpc>
                <a:spcPct val="116000"/>
              </a:lnSpc>
              <a:buNone/>
            </a:pPr>
            <a:r>
              <a:rPr lang="en-US" sz="2000" baseline="-40000" dirty="0">
                <a:solidFill>
                  <a:srgbClr val="0E1426"/>
                </a:solidFill>
                <a:latin typeface="Calibri" pitchFamily="34" charset="0"/>
                <a:ea typeface="Calibri" pitchFamily="34" charset="-122"/>
                <a:cs typeface="Calibri" pitchFamily="34" charset="-120"/>
              </a:rPr>
              <a:t>k</a:t>
            </a:r>
            <a:pPr indent="0" marL="0">
              <a:lnSpc>
                <a:spcPct val="116000"/>
              </a:lnSpc>
              <a:buNone/>
            </a:pPr>
            <a:r>
              <a:rPr lang="en-US" sz="2000" dirty="0">
                <a:solidFill>
                  <a:srgbClr val="0E1426"/>
                </a:solidFill>
                <a:latin typeface="Calibri" pitchFamily="34" charset="0"/>
                <a:ea typeface="Calibri" pitchFamily="34" charset="-122"/>
                <a:cs typeface="Calibri" pitchFamily="34" charset="-120"/>
              </a:rPr>
              <a:t> = 0,25 olan yüzeyde yavaşlıyor. Kaç metre sonra ve kaç saniyede durur?</a:t>
            </a:r>
            <a:endParaRPr lang="en-US" sz="2000" dirty="0"/>
          </a:p>
        </p:txBody>
      </p:sp>
      <p:sp>
        <p:nvSpPr>
          <p:cNvPr id="11" name="Shape 9"/>
          <p:cNvSpPr/>
          <p:nvPr/>
        </p:nvSpPr>
        <p:spPr>
          <a:xfrm>
            <a:off x="2299134" y="3121152"/>
            <a:ext cx="7593427" cy="3133344"/>
          </a:xfrm>
          <a:prstGeom prst="roundRect">
            <a:avLst>
              <a:gd name="adj" fmla="val 4669"/>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2" name="Image 0" descr="/tmp/dersler-sekiller/surtunme-kuvveti-14.png">    </p:cNvPr>
          <p:cNvPicPr>
            <a:picLocks noChangeAspect="1"/>
          </p:cNvPicPr>
          <p:nvPr/>
        </p:nvPicPr>
        <p:blipFill>
          <a:blip r:embed="rId1"/>
          <a:stretch>
            <a:fillRect/>
          </a:stretch>
        </p:blipFill>
        <p:spPr>
          <a:xfrm>
            <a:off x="2527734" y="3230880"/>
            <a:ext cx="7136227" cy="2913888"/>
          </a:xfrm>
          <a:prstGeom prst="rect">
            <a:avLst/>
          </a:prstGeom>
        </p:spPr>
      </p:pic>
      <p:sp>
        <p:nvSpPr>
          <p:cNvPr id="13" name="Shape 10"/>
          <p:cNvSpPr/>
          <p:nvPr/>
        </p:nvSpPr>
        <p:spPr>
          <a:xfrm>
            <a:off x="640080" y="6382512"/>
            <a:ext cx="128016" cy="128016"/>
          </a:xfrm>
          <a:prstGeom prst="roundRect">
            <a:avLst>
              <a:gd name="adj" fmla="val 28571"/>
            </a:avLst>
          </a:prstGeom>
          <a:solidFill>
            <a:srgbClr val="A9E648"/>
          </a:solidFill>
          <a:ln/>
        </p:spPr>
      </p:sp>
      <p:sp>
        <p:nvSpPr>
          <p:cNvPr id="14" name="Text 1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5" name="Text 12"/>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114</a:t>
            </a:r>
            <a:endParaRPr lang="en-US" sz="1050"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3 / 7 · Verilenler ve istenen</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Kayan cismin durması</a:t>
            </a:r>
            <a:endParaRPr lang="en-US" sz="1450" dirty="0"/>
          </a:p>
        </p:txBody>
      </p:sp>
      <p:sp>
        <p:nvSpPr>
          <p:cNvPr id="8" name="Shape 6"/>
          <p:cNvSpPr/>
          <p:nvPr/>
        </p:nvSpPr>
        <p:spPr>
          <a:xfrm>
            <a:off x="640080" y="1645920"/>
            <a:ext cx="10911535" cy="1405128"/>
          </a:xfrm>
          <a:prstGeom prst="roundRect">
            <a:avLst>
              <a:gd name="adj" fmla="val 10412"/>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810512"/>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121408"/>
            <a:ext cx="10271455" cy="856488"/>
          </a:xfrm>
          <a:prstGeom prst="rect">
            <a:avLst/>
          </a:prstGeom>
          <a:noFill/>
          <a:ln/>
        </p:spPr>
        <p:txBody>
          <a:bodyPr wrap="square" lIns="0" tIns="0" rIns="0" bIns="0" rtlCol="0" anchor="t"/>
          <a:lstStyle/>
          <a:p>
            <a:pPr indent="0" marL="0">
              <a:lnSpc>
                <a:spcPct val="118000"/>
              </a:lnSpc>
              <a:buNone/>
            </a:pPr>
            <a:r>
              <a:rPr lang="en-US" sz="2000" dirty="0">
                <a:solidFill>
                  <a:srgbClr val="0E1426"/>
                </a:solidFill>
                <a:latin typeface="Calibri" pitchFamily="34" charset="0"/>
                <a:ea typeface="Calibri" pitchFamily="34" charset="-122"/>
                <a:cs typeface="Calibri" pitchFamily="34" charset="-120"/>
              </a:rPr>
              <a:t>Yatay zeminde 10 m/s hızla kayan 5 kg'lık cisim, μ</a:t>
            </a:r>
            <a:pPr indent="0" marL="0">
              <a:lnSpc>
                <a:spcPct val="118000"/>
              </a:lnSpc>
              <a:buNone/>
            </a:pPr>
            <a:r>
              <a:rPr lang="en-US" sz="2000" baseline="-40000" dirty="0">
                <a:solidFill>
                  <a:srgbClr val="0E1426"/>
                </a:solidFill>
                <a:latin typeface="Calibri" pitchFamily="34" charset="0"/>
                <a:ea typeface="Calibri" pitchFamily="34" charset="-122"/>
                <a:cs typeface="Calibri" pitchFamily="34" charset="-120"/>
              </a:rPr>
              <a:t>k</a:t>
            </a:r>
            <a:pPr indent="0" marL="0">
              <a:lnSpc>
                <a:spcPct val="118000"/>
              </a:lnSpc>
              <a:buNone/>
            </a:pPr>
            <a:r>
              <a:rPr lang="en-US" sz="2000" dirty="0">
                <a:solidFill>
                  <a:srgbClr val="0E1426"/>
                </a:solidFill>
                <a:latin typeface="Calibri" pitchFamily="34" charset="0"/>
                <a:ea typeface="Calibri" pitchFamily="34" charset="-122"/>
                <a:cs typeface="Calibri" pitchFamily="34" charset="-120"/>
              </a:rPr>
              <a:t> = 0,25 olan yüzeyde yavaşlıyor. Kaç metre sonra ve kaç saniyede durur?</a:t>
            </a:r>
            <a:endParaRPr lang="en-US" sz="2000" dirty="0"/>
          </a:p>
        </p:txBody>
      </p:sp>
      <p:sp>
        <p:nvSpPr>
          <p:cNvPr id="11" name="Shape 9"/>
          <p:cNvSpPr/>
          <p:nvPr/>
        </p:nvSpPr>
        <p:spPr>
          <a:xfrm>
            <a:off x="640080" y="3252216"/>
            <a:ext cx="5318608" cy="2892552"/>
          </a:xfrm>
          <a:prstGeom prst="roundRect">
            <a:avLst>
              <a:gd name="adj" fmla="val 505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658368" y="3416808"/>
            <a:ext cx="54864" cy="2563368"/>
          </a:xfrm>
          <a:prstGeom prst="rect">
            <a:avLst/>
          </a:prstGeom>
          <a:solidFill>
            <a:srgbClr val="2957D4"/>
          </a:solidFill>
          <a:ln/>
        </p:spPr>
      </p:sp>
      <p:sp>
        <p:nvSpPr>
          <p:cNvPr id="13" name="Text 11"/>
          <p:cNvSpPr txBox="1"/>
          <p:nvPr/>
        </p:nvSpPr>
        <p:spPr>
          <a:xfrm>
            <a:off x="914400" y="3398520"/>
            <a:ext cx="4861408" cy="256032"/>
          </a:xfrm>
          <a:prstGeom prst="rect">
            <a:avLst/>
          </a:prstGeom>
          <a:noFill/>
          <a:ln/>
        </p:spPr>
        <p:txBody>
          <a:bodyPr wrap="square" lIns="0" tIns="0" rIns="0" bIns="0" rtlCol="0" anchor="ctr"/>
          <a:lstStyle/>
          <a:p>
            <a:pPr indent="0" marL="0">
              <a:buNone/>
            </a:pPr>
            <a:r>
              <a:rPr lang="en-US" sz="1050" b="1" spc="200" kern="0" dirty="0">
                <a:solidFill>
                  <a:srgbClr val="2957D4"/>
                </a:solidFill>
                <a:latin typeface="Calibri" pitchFamily="34" charset="0"/>
                <a:ea typeface="Calibri" pitchFamily="34" charset="-122"/>
                <a:cs typeface="Calibri" pitchFamily="34" charset="-120"/>
              </a:rPr>
              <a:t>VERİLENLER</a:t>
            </a:r>
            <a:endParaRPr lang="en-US" sz="1050" dirty="0"/>
          </a:p>
        </p:txBody>
      </p:sp>
      <p:sp>
        <p:nvSpPr>
          <p:cNvPr id="14" name="Text 12"/>
          <p:cNvSpPr txBox="1"/>
          <p:nvPr/>
        </p:nvSpPr>
        <p:spPr>
          <a:xfrm>
            <a:off x="950976" y="3727704"/>
            <a:ext cx="4769968" cy="2289048"/>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v₀ = 10 m/s</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m = 5 kg</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μk = 0,25</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son hız v = 0 (cisim duruyor)</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g = 10 m/s²</a:t>
            </a:r>
            <a:endParaRPr lang="en-US" sz="1800" dirty="0"/>
          </a:p>
        </p:txBody>
      </p:sp>
      <p:sp>
        <p:nvSpPr>
          <p:cNvPr id="15" name="Shape 13"/>
          <p:cNvSpPr/>
          <p:nvPr/>
        </p:nvSpPr>
        <p:spPr>
          <a:xfrm>
            <a:off x="6233008" y="3252216"/>
            <a:ext cx="5318608" cy="2892552"/>
          </a:xfrm>
          <a:prstGeom prst="roundRect">
            <a:avLst>
              <a:gd name="adj" fmla="val 505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6251296" y="3416808"/>
            <a:ext cx="54864" cy="2563368"/>
          </a:xfrm>
          <a:prstGeom prst="rect">
            <a:avLst/>
          </a:prstGeom>
          <a:solidFill>
            <a:srgbClr val="5F4BD8"/>
          </a:solidFill>
          <a:ln/>
        </p:spPr>
      </p:sp>
      <p:sp>
        <p:nvSpPr>
          <p:cNvPr id="17" name="Text 15"/>
          <p:cNvSpPr txBox="1"/>
          <p:nvPr/>
        </p:nvSpPr>
        <p:spPr>
          <a:xfrm>
            <a:off x="6507328" y="3398520"/>
            <a:ext cx="4861408" cy="256032"/>
          </a:xfrm>
          <a:prstGeom prst="rect">
            <a:avLst/>
          </a:prstGeom>
          <a:noFill/>
          <a:ln/>
        </p:spPr>
        <p:txBody>
          <a:bodyPr wrap="square" lIns="0" tIns="0" rIns="0" bIns="0" rtlCol="0" anchor="ctr"/>
          <a:lstStyle/>
          <a:p>
            <a:pPr indent="0" marL="0">
              <a:buNone/>
            </a:pPr>
            <a:r>
              <a:rPr lang="en-US" sz="1050" b="1" spc="200" kern="0" dirty="0">
                <a:solidFill>
                  <a:srgbClr val="5F4BD8"/>
                </a:solidFill>
                <a:latin typeface="Calibri" pitchFamily="34" charset="0"/>
                <a:ea typeface="Calibri" pitchFamily="34" charset="-122"/>
                <a:cs typeface="Calibri" pitchFamily="34" charset="-120"/>
              </a:rPr>
              <a:t>İSTENEN</a:t>
            </a:r>
            <a:endParaRPr lang="en-US" sz="1050" dirty="0"/>
          </a:p>
        </p:txBody>
      </p:sp>
      <p:sp>
        <p:nvSpPr>
          <p:cNvPr id="18" name="Text 16"/>
          <p:cNvSpPr txBox="1"/>
          <p:nvPr/>
        </p:nvSpPr>
        <p:spPr>
          <a:xfrm>
            <a:off x="6543904" y="3727704"/>
            <a:ext cx="4769968" cy="2289048"/>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durma mesafesi d</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durma süresi t</a:t>
            </a:r>
            <a:endParaRPr lang="en-US" sz="1800" dirty="0"/>
          </a:p>
        </p:txBody>
      </p:sp>
      <p:sp>
        <p:nvSpPr>
          <p:cNvPr id="19" name="Shape 17"/>
          <p:cNvSpPr/>
          <p:nvPr/>
        </p:nvSpPr>
        <p:spPr>
          <a:xfrm>
            <a:off x="640080" y="6382512"/>
            <a:ext cx="128016" cy="128016"/>
          </a:xfrm>
          <a:prstGeom prst="roundRect">
            <a:avLst>
              <a:gd name="adj" fmla="val 28571"/>
            </a:avLst>
          </a:prstGeom>
          <a:solidFill>
            <a:srgbClr val="A9E648"/>
          </a:solidFill>
          <a:ln/>
        </p:spPr>
      </p:sp>
      <p:sp>
        <p:nvSpPr>
          <p:cNvPr id="20"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21"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115</a:t>
            </a:r>
            <a:endParaRPr lang="en-US" sz="1050"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3 · Çözüm 1 / 2</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Kayan cismin durması</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Tek yatay kuvvet sürtünmedir: f = μ</a:t>
            </a:r>
            <a:pPr indent="0" marL="0">
              <a:lnSpc>
                <a:spcPct val="112000"/>
              </a:lnSpc>
              <a:buNone/>
            </a:pPr>
            <a:r>
              <a:rPr lang="en-US" sz="2000" baseline="-40000" dirty="0">
                <a:solidFill>
                  <a:srgbClr val="0E1426"/>
                </a:solidFill>
                <a:latin typeface="Calibri" pitchFamily="34" charset="0"/>
                <a:ea typeface="Calibri" pitchFamily="34" charset="-122"/>
                <a:cs typeface="Calibri" pitchFamily="34" charset="-120"/>
              </a:rPr>
              <a:t>k</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·m·g = 0,25 · 5 · 10 = 12,5 N</a:t>
            </a:r>
            <a:endParaRPr lang="en-US" sz="2000" dirty="0"/>
          </a:p>
        </p:txBody>
      </p:sp>
      <p:sp>
        <p:nvSpPr>
          <p:cNvPr id="12" name="Shape 10"/>
          <p:cNvSpPr/>
          <p:nvPr/>
        </p:nvSpPr>
        <p:spPr>
          <a:xfrm>
            <a:off x="640080" y="2883408"/>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209544"/>
            <a:ext cx="420624" cy="420624"/>
          </a:xfrm>
          <a:prstGeom prst="roundRect">
            <a:avLst>
              <a:gd name="adj" fmla="val 26000"/>
            </a:avLst>
          </a:prstGeom>
          <a:solidFill>
            <a:srgbClr val="A56209"/>
          </a:solidFill>
          <a:ln/>
        </p:spPr>
      </p:sp>
      <p:sp>
        <p:nvSpPr>
          <p:cNvPr id="14" name="Text 12"/>
          <p:cNvSpPr txBox="1"/>
          <p:nvPr/>
        </p:nvSpPr>
        <p:spPr>
          <a:xfrm>
            <a:off x="914400" y="320954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1508760" y="2938272"/>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a = −f/m = −2,5 m/s² (yavaşlatıcı)</a:t>
            </a:r>
            <a:endParaRPr lang="en-US" sz="2000" dirty="0"/>
          </a:p>
        </p:txBody>
      </p:sp>
      <p:sp>
        <p:nvSpPr>
          <p:cNvPr id="16" name="Shape 14"/>
          <p:cNvSpPr/>
          <p:nvPr/>
        </p:nvSpPr>
        <p:spPr>
          <a:xfrm>
            <a:off x="640080" y="4120896"/>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7" name="Shape 15"/>
          <p:cNvSpPr/>
          <p:nvPr/>
        </p:nvSpPr>
        <p:spPr>
          <a:xfrm>
            <a:off x="914400" y="4447032"/>
            <a:ext cx="420624" cy="420624"/>
          </a:xfrm>
          <a:prstGeom prst="roundRect">
            <a:avLst>
              <a:gd name="adj" fmla="val 26000"/>
            </a:avLst>
          </a:prstGeom>
          <a:solidFill>
            <a:srgbClr val="A56209"/>
          </a:solidFill>
          <a:ln/>
        </p:spPr>
      </p:sp>
      <p:sp>
        <p:nvSpPr>
          <p:cNvPr id="18" name="Text 16"/>
          <p:cNvSpPr txBox="1"/>
          <p:nvPr/>
        </p:nvSpPr>
        <p:spPr>
          <a:xfrm>
            <a:off x="914400" y="4447032"/>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9" name="Text 17"/>
          <p:cNvSpPr txBox="1"/>
          <p:nvPr/>
        </p:nvSpPr>
        <p:spPr>
          <a:xfrm>
            <a:off x="1508760" y="4175760"/>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Mesafe: v²/(2a) = 100 / 5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20 m</a:t>
            </a:r>
            <a:endParaRPr lang="en-US" sz="2000" dirty="0"/>
          </a:p>
        </p:txBody>
      </p:sp>
      <p:sp>
        <p:nvSpPr>
          <p:cNvPr id="20" name="Shape 18"/>
          <p:cNvSpPr/>
          <p:nvPr/>
        </p:nvSpPr>
        <p:spPr>
          <a:xfrm>
            <a:off x="640080" y="6382512"/>
            <a:ext cx="128016" cy="128016"/>
          </a:xfrm>
          <a:prstGeom prst="roundRect">
            <a:avLst>
              <a:gd name="adj" fmla="val 28571"/>
            </a:avLst>
          </a:prstGeom>
          <a:solidFill>
            <a:srgbClr val="A9E648"/>
          </a:solidFill>
          <a:ln/>
        </p:spPr>
      </p:sp>
      <p:sp>
        <p:nvSpPr>
          <p:cNvPr id="21" name="Text 1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22" name="Text 2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116</a:t>
            </a:r>
            <a:endParaRPr lang="en-US" sz="1050"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3 · Çözüm 2 / 2</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Kayan cismin durması</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Süre: v/a = 10 / 2,5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4 s</a:t>
            </a:r>
            <a:endParaRPr lang="en-US" sz="2000" dirty="0"/>
          </a:p>
        </p:txBody>
      </p:sp>
      <p:sp>
        <p:nvSpPr>
          <p:cNvPr id="12" name="Shape 10"/>
          <p:cNvSpPr/>
          <p:nvPr/>
        </p:nvSpPr>
        <p:spPr>
          <a:xfrm>
            <a:off x="640080" y="2883408"/>
            <a:ext cx="10911535" cy="1619098"/>
          </a:xfrm>
          <a:prstGeom prst="roundRect">
            <a:avLst>
              <a:gd name="adj" fmla="val 90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482645"/>
            <a:ext cx="420624" cy="420624"/>
          </a:xfrm>
          <a:prstGeom prst="roundRect">
            <a:avLst>
              <a:gd name="adj" fmla="val 26000"/>
            </a:avLst>
          </a:prstGeom>
          <a:solidFill>
            <a:srgbClr val="A56209"/>
          </a:solidFill>
          <a:ln/>
        </p:spPr>
      </p:sp>
      <p:sp>
        <p:nvSpPr>
          <p:cNvPr id="14" name="Text 12"/>
          <p:cNvSpPr txBox="1"/>
          <p:nvPr/>
        </p:nvSpPr>
        <p:spPr>
          <a:xfrm>
            <a:off x="914400" y="3482645"/>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15" name="Text 13"/>
          <p:cNvSpPr txBox="1"/>
          <p:nvPr/>
        </p:nvSpPr>
        <p:spPr>
          <a:xfrm>
            <a:off x="1508760" y="2938272"/>
            <a:ext cx="9859975" cy="1509370"/>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Kütle sonuçta görünmez: a = μ·g olduğu için 50 kg'lık cisim de aynı yerde dururdu.</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117</a:t>
            </a:r>
            <a:endParaRPr lang="en-US" sz="1050"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4 / 7 · Soru</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Kritik açıdan μ bulma</a:t>
            </a:r>
            <a:endParaRPr lang="en-US" sz="1450" dirty="0"/>
          </a:p>
        </p:txBody>
      </p:sp>
      <p:sp>
        <p:nvSpPr>
          <p:cNvPr id="8" name="Shape 6"/>
          <p:cNvSpPr/>
          <p:nvPr/>
        </p:nvSpPr>
        <p:spPr>
          <a:xfrm>
            <a:off x="640080" y="1645920"/>
            <a:ext cx="10911535" cy="1627632"/>
          </a:xfrm>
          <a:prstGeom prst="roundRect">
            <a:avLst>
              <a:gd name="adj" fmla="val 8989"/>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773936"/>
            <a:ext cx="2743200" cy="237744"/>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029968"/>
            <a:ext cx="10271455" cy="1170432"/>
          </a:xfrm>
          <a:prstGeom prst="rect">
            <a:avLst/>
          </a:prstGeom>
          <a:noFill/>
          <a:ln/>
        </p:spPr>
        <p:txBody>
          <a:bodyPr wrap="square" lIns="0" tIns="0" rIns="0" bIns="0" rtlCol="0" anchor="t"/>
          <a:lstStyle/>
          <a:p>
            <a:pPr indent="0" marL="0">
              <a:lnSpc>
                <a:spcPct val="116000"/>
              </a:lnSpc>
              <a:buNone/>
            </a:pPr>
            <a:r>
              <a:rPr lang="en-US" sz="2000" dirty="0">
                <a:solidFill>
                  <a:srgbClr val="0E1426"/>
                </a:solidFill>
                <a:latin typeface="Calibri" pitchFamily="34" charset="0"/>
                <a:ea typeface="Calibri" pitchFamily="34" charset="-122"/>
                <a:cs typeface="Calibri" pitchFamily="34" charset="-120"/>
              </a:rPr>
              <a:t>Eğimi yavaşça artırılan bir düzlemde cisim, açı 37° olduğunda kaymaya başlıyor. (a) μ</a:t>
            </a:r>
            <a:pPr indent="0" marL="0">
              <a:lnSpc>
                <a:spcPct val="116000"/>
              </a:lnSpc>
              <a:buNone/>
            </a:pPr>
            <a:r>
              <a:rPr lang="en-US" sz="2000" baseline="-40000" dirty="0">
                <a:solidFill>
                  <a:srgbClr val="0E1426"/>
                </a:solidFill>
                <a:latin typeface="Calibri" pitchFamily="34" charset="0"/>
                <a:ea typeface="Calibri" pitchFamily="34" charset="-122"/>
                <a:cs typeface="Calibri" pitchFamily="34" charset="-120"/>
              </a:rPr>
              <a:t>s</a:t>
            </a:r>
            <a:pPr indent="0" marL="0">
              <a:lnSpc>
                <a:spcPct val="116000"/>
              </a:lnSpc>
              <a:buNone/>
            </a:pPr>
            <a:r>
              <a:rPr lang="en-US" sz="2000" dirty="0">
                <a:solidFill>
                  <a:srgbClr val="0E1426"/>
                </a:solidFill>
                <a:latin typeface="Calibri" pitchFamily="34" charset="0"/>
                <a:ea typeface="Calibri" pitchFamily="34" charset="-122"/>
                <a:cs typeface="Calibri" pitchFamily="34" charset="-120"/>
              </a:rPr>
              <a:t> kaçtır? (b) μ</a:t>
            </a:r>
            <a:pPr indent="0" marL="0">
              <a:lnSpc>
                <a:spcPct val="116000"/>
              </a:lnSpc>
              <a:buNone/>
            </a:pPr>
            <a:r>
              <a:rPr lang="en-US" sz="2000" baseline="-40000" dirty="0">
                <a:solidFill>
                  <a:srgbClr val="0E1426"/>
                </a:solidFill>
                <a:latin typeface="Calibri" pitchFamily="34" charset="0"/>
                <a:ea typeface="Calibri" pitchFamily="34" charset="-122"/>
                <a:cs typeface="Calibri" pitchFamily="34" charset="-120"/>
              </a:rPr>
              <a:t>k</a:t>
            </a:r>
            <a:pPr indent="0" marL="0">
              <a:lnSpc>
                <a:spcPct val="116000"/>
              </a:lnSpc>
              <a:buNone/>
            </a:pPr>
            <a:r>
              <a:rPr lang="en-US" sz="2000" dirty="0">
                <a:solidFill>
                  <a:srgbClr val="0E1426"/>
                </a:solidFill>
                <a:latin typeface="Calibri" pitchFamily="34" charset="0"/>
                <a:ea typeface="Calibri" pitchFamily="34" charset="-122"/>
                <a:cs typeface="Calibri" pitchFamily="34" charset="-120"/>
              </a:rPr>
              <a:t> = 0,5 ise kaymaya başladıktan sonraki ivmesi nedir? (sin37° = 0,6 · cos37° = 0,8)</a:t>
            </a:r>
            <a:endParaRPr lang="en-US" sz="2000" dirty="0"/>
          </a:p>
        </p:txBody>
      </p:sp>
      <p:sp>
        <p:nvSpPr>
          <p:cNvPr id="11" name="Shape 9"/>
          <p:cNvSpPr/>
          <p:nvPr/>
        </p:nvSpPr>
        <p:spPr>
          <a:xfrm>
            <a:off x="3263426" y="3474720"/>
            <a:ext cx="5664843" cy="2779776"/>
          </a:xfrm>
          <a:prstGeom prst="roundRect">
            <a:avLst>
              <a:gd name="adj" fmla="val 526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2" name="Image 0" descr="/tmp/dersler-sekiller/surtunme-kuvveti-15.png">    </p:cNvPr>
          <p:cNvPicPr>
            <a:picLocks noChangeAspect="1"/>
          </p:cNvPicPr>
          <p:nvPr/>
        </p:nvPicPr>
        <p:blipFill>
          <a:blip r:embed="rId1"/>
          <a:stretch>
            <a:fillRect/>
          </a:stretch>
        </p:blipFill>
        <p:spPr>
          <a:xfrm>
            <a:off x="3492026" y="3584448"/>
            <a:ext cx="5207643" cy="2560320"/>
          </a:xfrm>
          <a:prstGeom prst="rect">
            <a:avLst/>
          </a:prstGeom>
        </p:spPr>
      </p:pic>
      <p:sp>
        <p:nvSpPr>
          <p:cNvPr id="13" name="Shape 10"/>
          <p:cNvSpPr/>
          <p:nvPr/>
        </p:nvSpPr>
        <p:spPr>
          <a:xfrm>
            <a:off x="640080" y="6382512"/>
            <a:ext cx="128016" cy="128016"/>
          </a:xfrm>
          <a:prstGeom prst="roundRect">
            <a:avLst>
              <a:gd name="adj" fmla="val 28571"/>
            </a:avLst>
          </a:prstGeom>
          <a:solidFill>
            <a:srgbClr val="A9E648"/>
          </a:solidFill>
          <a:ln/>
        </p:spPr>
      </p:sp>
      <p:sp>
        <p:nvSpPr>
          <p:cNvPr id="14" name="Text 1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5" name="Text 12"/>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118</a:t>
            </a:r>
            <a:endParaRPr lang="en-US" sz="1050"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4 / 7 · Verilenler ve istenen</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Kritik açıdan μ bulma</a:t>
            </a:r>
            <a:endParaRPr lang="en-US" sz="1450" dirty="0"/>
          </a:p>
        </p:txBody>
      </p:sp>
      <p:sp>
        <p:nvSpPr>
          <p:cNvPr id="8" name="Shape 6"/>
          <p:cNvSpPr/>
          <p:nvPr/>
        </p:nvSpPr>
        <p:spPr>
          <a:xfrm>
            <a:off x="640080" y="1645920"/>
            <a:ext cx="10911535" cy="1764792"/>
          </a:xfrm>
          <a:prstGeom prst="roundRect">
            <a:avLst>
              <a:gd name="adj" fmla="val 8290"/>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810512"/>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121408"/>
            <a:ext cx="10271455" cy="1216152"/>
          </a:xfrm>
          <a:prstGeom prst="rect">
            <a:avLst/>
          </a:prstGeom>
          <a:noFill/>
          <a:ln/>
        </p:spPr>
        <p:txBody>
          <a:bodyPr wrap="square" lIns="0" tIns="0" rIns="0" bIns="0" rtlCol="0" anchor="t"/>
          <a:lstStyle/>
          <a:p>
            <a:pPr indent="0" marL="0">
              <a:lnSpc>
                <a:spcPct val="118000"/>
              </a:lnSpc>
              <a:buNone/>
            </a:pPr>
            <a:r>
              <a:rPr lang="en-US" sz="2000" dirty="0">
                <a:solidFill>
                  <a:srgbClr val="0E1426"/>
                </a:solidFill>
                <a:latin typeface="Calibri" pitchFamily="34" charset="0"/>
                <a:ea typeface="Calibri" pitchFamily="34" charset="-122"/>
                <a:cs typeface="Calibri" pitchFamily="34" charset="-120"/>
              </a:rPr>
              <a:t>Eğimi yavaşça artırılan bir düzlemde cisim, açı 37° olduğunda kaymaya başlıyor. (a) μ</a:t>
            </a:r>
            <a:pPr indent="0" marL="0">
              <a:lnSpc>
                <a:spcPct val="118000"/>
              </a:lnSpc>
              <a:buNone/>
            </a:pPr>
            <a:r>
              <a:rPr lang="en-US" sz="2000" baseline="-40000" dirty="0">
                <a:solidFill>
                  <a:srgbClr val="0E1426"/>
                </a:solidFill>
                <a:latin typeface="Calibri" pitchFamily="34" charset="0"/>
                <a:ea typeface="Calibri" pitchFamily="34" charset="-122"/>
                <a:cs typeface="Calibri" pitchFamily="34" charset="-120"/>
              </a:rPr>
              <a:t>s</a:t>
            </a:r>
            <a:pPr indent="0" marL="0">
              <a:lnSpc>
                <a:spcPct val="118000"/>
              </a:lnSpc>
              <a:buNone/>
            </a:pPr>
            <a:r>
              <a:rPr lang="en-US" sz="2000" dirty="0">
                <a:solidFill>
                  <a:srgbClr val="0E1426"/>
                </a:solidFill>
                <a:latin typeface="Calibri" pitchFamily="34" charset="0"/>
                <a:ea typeface="Calibri" pitchFamily="34" charset="-122"/>
                <a:cs typeface="Calibri" pitchFamily="34" charset="-120"/>
              </a:rPr>
              <a:t> kaçtır? (b) μ</a:t>
            </a:r>
            <a:pPr indent="0" marL="0">
              <a:lnSpc>
                <a:spcPct val="118000"/>
              </a:lnSpc>
              <a:buNone/>
            </a:pPr>
            <a:r>
              <a:rPr lang="en-US" sz="2000" baseline="-40000" dirty="0">
                <a:solidFill>
                  <a:srgbClr val="0E1426"/>
                </a:solidFill>
                <a:latin typeface="Calibri" pitchFamily="34" charset="0"/>
                <a:ea typeface="Calibri" pitchFamily="34" charset="-122"/>
                <a:cs typeface="Calibri" pitchFamily="34" charset="-120"/>
              </a:rPr>
              <a:t>k</a:t>
            </a:r>
            <a:pPr indent="0" marL="0">
              <a:lnSpc>
                <a:spcPct val="118000"/>
              </a:lnSpc>
              <a:buNone/>
            </a:pPr>
            <a:r>
              <a:rPr lang="en-US" sz="2000" dirty="0">
                <a:solidFill>
                  <a:srgbClr val="0E1426"/>
                </a:solidFill>
                <a:latin typeface="Calibri" pitchFamily="34" charset="0"/>
                <a:ea typeface="Calibri" pitchFamily="34" charset="-122"/>
                <a:cs typeface="Calibri" pitchFamily="34" charset="-120"/>
              </a:rPr>
              <a:t> = 0,5 ise kaymaya başladıktan sonraki ivmesi nedir? (sin37° = 0,6 · cos37° = 0,8)</a:t>
            </a:r>
            <a:endParaRPr lang="en-US" sz="2000" dirty="0"/>
          </a:p>
        </p:txBody>
      </p:sp>
      <p:sp>
        <p:nvSpPr>
          <p:cNvPr id="11" name="Shape 9"/>
          <p:cNvSpPr/>
          <p:nvPr/>
        </p:nvSpPr>
        <p:spPr>
          <a:xfrm>
            <a:off x="640080" y="3611880"/>
            <a:ext cx="5318608" cy="2532888"/>
          </a:xfrm>
          <a:prstGeom prst="roundRect">
            <a:avLst>
              <a:gd name="adj" fmla="val 5776"/>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658368" y="3776472"/>
            <a:ext cx="54864" cy="2203704"/>
          </a:xfrm>
          <a:prstGeom prst="rect">
            <a:avLst/>
          </a:prstGeom>
          <a:solidFill>
            <a:srgbClr val="2957D4"/>
          </a:solidFill>
          <a:ln/>
        </p:spPr>
      </p:sp>
      <p:sp>
        <p:nvSpPr>
          <p:cNvPr id="13" name="Text 11"/>
          <p:cNvSpPr txBox="1"/>
          <p:nvPr/>
        </p:nvSpPr>
        <p:spPr>
          <a:xfrm>
            <a:off x="914400" y="3758184"/>
            <a:ext cx="4861408" cy="256032"/>
          </a:xfrm>
          <a:prstGeom prst="rect">
            <a:avLst/>
          </a:prstGeom>
          <a:noFill/>
          <a:ln/>
        </p:spPr>
        <p:txBody>
          <a:bodyPr wrap="square" lIns="0" tIns="0" rIns="0" bIns="0" rtlCol="0" anchor="ctr"/>
          <a:lstStyle/>
          <a:p>
            <a:pPr indent="0" marL="0">
              <a:buNone/>
            </a:pPr>
            <a:r>
              <a:rPr lang="en-US" sz="1050" b="1" spc="200" kern="0" dirty="0">
                <a:solidFill>
                  <a:srgbClr val="2957D4"/>
                </a:solidFill>
                <a:latin typeface="Calibri" pitchFamily="34" charset="0"/>
                <a:ea typeface="Calibri" pitchFamily="34" charset="-122"/>
                <a:cs typeface="Calibri" pitchFamily="34" charset="-120"/>
              </a:rPr>
              <a:t>VERİLENLER</a:t>
            </a:r>
            <a:endParaRPr lang="en-US" sz="1050" dirty="0"/>
          </a:p>
        </p:txBody>
      </p:sp>
      <p:sp>
        <p:nvSpPr>
          <p:cNvPr id="14" name="Text 12"/>
          <p:cNvSpPr txBox="1"/>
          <p:nvPr/>
        </p:nvSpPr>
        <p:spPr>
          <a:xfrm>
            <a:off x="950976" y="4087368"/>
            <a:ext cx="4769968" cy="1929384"/>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kaymanın başladığı açı θkritik = 37°</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μk = 0,5</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sin37° = 0,6</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cos37° = 0,8</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g = 10 m/s²</a:t>
            </a:r>
            <a:endParaRPr lang="en-US" sz="1800" dirty="0"/>
          </a:p>
        </p:txBody>
      </p:sp>
      <p:sp>
        <p:nvSpPr>
          <p:cNvPr id="15" name="Shape 13"/>
          <p:cNvSpPr/>
          <p:nvPr/>
        </p:nvSpPr>
        <p:spPr>
          <a:xfrm>
            <a:off x="6233008" y="3611880"/>
            <a:ext cx="5318608" cy="2532888"/>
          </a:xfrm>
          <a:prstGeom prst="roundRect">
            <a:avLst>
              <a:gd name="adj" fmla="val 5776"/>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6251296" y="3776472"/>
            <a:ext cx="54864" cy="2203704"/>
          </a:xfrm>
          <a:prstGeom prst="rect">
            <a:avLst/>
          </a:prstGeom>
          <a:solidFill>
            <a:srgbClr val="5F4BD8"/>
          </a:solidFill>
          <a:ln/>
        </p:spPr>
      </p:sp>
      <p:sp>
        <p:nvSpPr>
          <p:cNvPr id="17" name="Text 15"/>
          <p:cNvSpPr txBox="1"/>
          <p:nvPr/>
        </p:nvSpPr>
        <p:spPr>
          <a:xfrm>
            <a:off x="6507328" y="3758184"/>
            <a:ext cx="4861408" cy="256032"/>
          </a:xfrm>
          <a:prstGeom prst="rect">
            <a:avLst/>
          </a:prstGeom>
          <a:noFill/>
          <a:ln/>
        </p:spPr>
        <p:txBody>
          <a:bodyPr wrap="square" lIns="0" tIns="0" rIns="0" bIns="0" rtlCol="0" anchor="ctr"/>
          <a:lstStyle/>
          <a:p>
            <a:pPr indent="0" marL="0">
              <a:buNone/>
            </a:pPr>
            <a:r>
              <a:rPr lang="en-US" sz="1050" b="1" spc="200" kern="0" dirty="0">
                <a:solidFill>
                  <a:srgbClr val="5F4BD8"/>
                </a:solidFill>
                <a:latin typeface="Calibri" pitchFamily="34" charset="0"/>
                <a:ea typeface="Calibri" pitchFamily="34" charset="-122"/>
                <a:cs typeface="Calibri" pitchFamily="34" charset="-120"/>
              </a:rPr>
              <a:t>İSTENEN</a:t>
            </a:r>
            <a:endParaRPr lang="en-US" sz="1050" dirty="0"/>
          </a:p>
        </p:txBody>
      </p:sp>
      <p:sp>
        <p:nvSpPr>
          <p:cNvPr id="18" name="Text 16"/>
          <p:cNvSpPr txBox="1"/>
          <p:nvPr/>
        </p:nvSpPr>
        <p:spPr>
          <a:xfrm>
            <a:off x="6543904" y="4087368"/>
            <a:ext cx="4769968" cy="1929384"/>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(a) statik sürtünme katsayısı μs</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(b) kaymaya başladıktan sonraki ivme a</a:t>
            </a:r>
            <a:endParaRPr lang="en-US" sz="1800" dirty="0"/>
          </a:p>
        </p:txBody>
      </p:sp>
      <p:sp>
        <p:nvSpPr>
          <p:cNvPr id="19" name="Shape 17"/>
          <p:cNvSpPr/>
          <p:nvPr/>
        </p:nvSpPr>
        <p:spPr>
          <a:xfrm>
            <a:off x="640080" y="6382512"/>
            <a:ext cx="128016" cy="128016"/>
          </a:xfrm>
          <a:prstGeom prst="roundRect">
            <a:avLst>
              <a:gd name="adj" fmla="val 28571"/>
            </a:avLst>
          </a:prstGeom>
          <a:solidFill>
            <a:srgbClr val="A9E648"/>
          </a:solidFill>
          <a:ln/>
        </p:spPr>
      </p:sp>
      <p:sp>
        <p:nvSpPr>
          <p:cNvPr id="20"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21"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119</a:t>
            </a:r>
            <a:endParaRPr lang="en-US" sz="1050"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4 · Çözüm 1 / 2</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Kritik açıdan μ bulma</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(a)</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tanθ = μ</a:t>
            </a:r>
            <a:pPr indent="0" marL="0">
              <a:lnSpc>
                <a:spcPct val="112000"/>
              </a:lnSpc>
              <a:buNone/>
            </a:pPr>
            <a:r>
              <a:rPr lang="en-US" sz="2000" baseline="-40000" dirty="0">
                <a:solidFill>
                  <a:srgbClr val="0E1426"/>
                </a:solidFill>
                <a:latin typeface="Calibri" pitchFamily="34" charset="0"/>
                <a:ea typeface="Calibri" pitchFamily="34" charset="-122"/>
                <a:cs typeface="Calibri" pitchFamily="34" charset="-120"/>
              </a:rPr>
              <a:t>s</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 μ</a:t>
            </a:r>
            <a:pPr indent="0" marL="0">
              <a:lnSpc>
                <a:spcPct val="112000"/>
              </a:lnSpc>
              <a:buNone/>
            </a:pPr>
            <a:r>
              <a:rPr lang="en-US" sz="2000" baseline="-40000" dirty="0">
                <a:solidFill>
                  <a:srgbClr val="0E1426"/>
                </a:solidFill>
                <a:latin typeface="Calibri" pitchFamily="34" charset="0"/>
                <a:ea typeface="Calibri" pitchFamily="34" charset="-122"/>
                <a:cs typeface="Calibri" pitchFamily="34" charset="-120"/>
              </a:rPr>
              <a:t>s</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 tan37° = 0,6/0,8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0,75</a:t>
            </a:r>
            <a:endParaRPr lang="en-US" sz="2000" dirty="0"/>
          </a:p>
        </p:txBody>
      </p:sp>
      <p:sp>
        <p:nvSpPr>
          <p:cNvPr id="12" name="Shape 10"/>
          <p:cNvSpPr/>
          <p:nvPr/>
        </p:nvSpPr>
        <p:spPr>
          <a:xfrm>
            <a:off x="640080" y="2883408"/>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209544"/>
            <a:ext cx="420624" cy="420624"/>
          </a:xfrm>
          <a:prstGeom prst="roundRect">
            <a:avLst>
              <a:gd name="adj" fmla="val 26000"/>
            </a:avLst>
          </a:prstGeom>
          <a:solidFill>
            <a:srgbClr val="A56209"/>
          </a:solidFill>
          <a:ln/>
        </p:spPr>
      </p:sp>
      <p:sp>
        <p:nvSpPr>
          <p:cNvPr id="14" name="Text 12"/>
          <p:cNvSpPr txBox="1"/>
          <p:nvPr/>
        </p:nvSpPr>
        <p:spPr>
          <a:xfrm>
            <a:off x="914400" y="320954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1508760" y="2938272"/>
            <a:ext cx="9859975" cy="963168"/>
          </a:xfrm>
          <a:prstGeom prst="rect">
            <a:avLst/>
          </a:prstGeom>
          <a:noFill/>
          <a:ln/>
        </p:spPr>
        <p:txBody>
          <a:bodyPr wrap="square" lIns="0" tIns="0" rIns="0" bIns="0" rtlCol="0" anchor="ctr"/>
          <a:lstStyle/>
          <a:p>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(b)</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a = g·(sinθ − μ</a:t>
            </a:r>
            <a:pPr indent="0" marL="0">
              <a:lnSpc>
                <a:spcPct val="112000"/>
              </a:lnSpc>
              <a:buNone/>
            </a:pPr>
            <a:r>
              <a:rPr lang="en-US" sz="2000" baseline="-40000" dirty="0">
                <a:solidFill>
                  <a:srgbClr val="0E1426"/>
                </a:solidFill>
                <a:latin typeface="Calibri" pitchFamily="34" charset="0"/>
                <a:ea typeface="Calibri" pitchFamily="34" charset="-122"/>
                <a:cs typeface="Calibri" pitchFamily="34" charset="-120"/>
              </a:rPr>
              <a:t>k</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·cosθ) = 10·(0,6 − 0,5·0,8)</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120</a:t>
            </a:r>
            <a:endParaRPr lang="en-US" sz="1050"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4 · Çözüm 2 / 2</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Kritik açıdan μ bulma</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a = 10 · (0,6 − 0,4)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2 m/s²</a:t>
            </a:r>
            <a:endParaRPr lang="en-US" sz="2000" dirty="0"/>
          </a:p>
        </p:txBody>
      </p:sp>
      <p:sp>
        <p:nvSpPr>
          <p:cNvPr id="12" name="Shape 10"/>
          <p:cNvSpPr/>
          <p:nvPr/>
        </p:nvSpPr>
        <p:spPr>
          <a:xfrm>
            <a:off x="640080" y="2883408"/>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209544"/>
            <a:ext cx="420624" cy="420624"/>
          </a:xfrm>
          <a:prstGeom prst="roundRect">
            <a:avLst>
              <a:gd name="adj" fmla="val 26000"/>
            </a:avLst>
          </a:prstGeom>
          <a:solidFill>
            <a:srgbClr val="A56209"/>
          </a:solidFill>
          <a:ln/>
        </p:spPr>
      </p:sp>
      <p:sp>
        <p:nvSpPr>
          <p:cNvPr id="14" name="Text 12"/>
          <p:cNvSpPr txBox="1"/>
          <p:nvPr/>
        </p:nvSpPr>
        <p:spPr>
          <a:xfrm>
            <a:off x="914400" y="320954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5" name="Text 13"/>
          <p:cNvSpPr txBox="1"/>
          <p:nvPr/>
        </p:nvSpPr>
        <p:spPr>
          <a:xfrm>
            <a:off x="1508760" y="2938272"/>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Kütle hiçbir adımda kullanılmadı; sonuç kütleden bağımsızdır.</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121</a:t>
            </a:r>
            <a:endParaRPr lang="en-US" sz="1050"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5 / 7 · Soru</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Fren mesafesi ve hız</a:t>
            </a:r>
            <a:endParaRPr lang="en-US" sz="1450" dirty="0"/>
          </a:p>
        </p:txBody>
      </p:sp>
      <p:sp>
        <p:nvSpPr>
          <p:cNvPr id="8" name="Shape 6"/>
          <p:cNvSpPr/>
          <p:nvPr/>
        </p:nvSpPr>
        <p:spPr>
          <a:xfrm>
            <a:off x="640080" y="1645920"/>
            <a:ext cx="10911535" cy="1627632"/>
          </a:xfrm>
          <a:prstGeom prst="roundRect">
            <a:avLst>
              <a:gd name="adj" fmla="val 8989"/>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773936"/>
            <a:ext cx="2743200" cy="237744"/>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029968"/>
            <a:ext cx="10271455" cy="1170432"/>
          </a:xfrm>
          <a:prstGeom prst="rect">
            <a:avLst/>
          </a:prstGeom>
          <a:noFill/>
          <a:ln/>
        </p:spPr>
        <p:txBody>
          <a:bodyPr wrap="square" lIns="0" tIns="0" rIns="0" bIns="0" rtlCol="0" anchor="t"/>
          <a:lstStyle/>
          <a:p>
            <a:pPr indent="0" marL="0">
              <a:lnSpc>
                <a:spcPct val="116000"/>
              </a:lnSpc>
              <a:buNone/>
            </a:pPr>
            <a:r>
              <a:rPr lang="en-US" sz="2000" dirty="0">
                <a:solidFill>
                  <a:srgbClr val="0E1426"/>
                </a:solidFill>
                <a:latin typeface="Calibri" pitchFamily="34" charset="0"/>
                <a:ea typeface="Calibri" pitchFamily="34" charset="-122"/>
                <a:cs typeface="Calibri" pitchFamily="34" charset="-120"/>
              </a:rPr>
              <a:t>72 km/h ile giden bir araç, μ = 0,5 olan bir yolda fren yapıyor. Sürücünün tepki süresi 1 s'dir. (a) Toplam durma mesafesi nedir? (b) Hız iki katına çıkarsa fren mesafesi ne olur?</a:t>
            </a:r>
            <a:endParaRPr lang="en-US" sz="2000" dirty="0"/>
          </a:p>
        </p:txBody>
      </p:sp>
      <p:sp>
        <p:nvSpPr>
          <p:cNvPr id="11" name="Shape 9"/>
          <p:cNvSpPr/>
          <p:nvPr/>
        </p:nvSpPr>
        <p:spPr>
          <a:xfrm>
            <a:off x="3263426" y="3474720"/>
            <a:ext cx="5664843" cy="2779776"/>
          </a:xfrm>
          <a:prstGeom prst="roundRect">
            <a:avLst>
              <a:gd name="adj" fmla="val 526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2" name="Image 0" descr="/tmp/dersler-sekiller/surtunme-kuvveti-16.png">    </p:cNvPr>
          <p:cNvPicPr>
            <a:picLocks noChangeAspect="1"/>
          </p:cNvPicPr>
          <p:nvPr/>
        </p:nvPicPr>
        <p:blipFill>
          <a:blip r:embed="rId1"/>
          <a:stretch>
            <a:fillRect/>
          </a:stretch>
        </p:blipFill>
        <p:spPr>
          <a:xfrm>
            <a:off x="3492026" y="3584448"/>
            <a:ext cx="5207643" cy="2560320"/>
          </a:xfrm>
          <a:prstGeom prst="rect">
            <a:avLst/>
          </a:prstGeom>
        </p:spPr>
      </p:pic>
      <p:sp>
        <p:nvSpPr>
          <p:cNvPr id="13" name="Shape 10"/>
          <p:cNvSpPr/>
          <p:nvPr/>
        </p:nvSpPr>
        <p:spPr>
          <a:xfrm>
            <a:off x="640080" y="6382512"/>
            <a:ext cx="128016" cy="128016"/>
          </a:xfrm>
          <a:prstGeom prst="roundRect">
            <a:avLst>
              <a:gd name="adj" fmla="val 28571"/>
            </a:avLst>
          </a:prstGeom>
          <a:solidFill>
            <a:srgbClr val="A9E648"/>
          </a:solidFill>
          <a:ln/>
        </p:spPr>
      </p:sp>
      <p:sp>
        <p:nvSpPr>
          <p:cNvPr id="14" name="Text 1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5" name="Text 12"/>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122</a:t>
            </a:r>
            <a:endParaRPr lang="en-US" sz="1050"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5 / 7 · Verilenler ve istenen</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Fren mesafesi ve hız</a:t>
            </a:r>
            <a:endParaRPr lang="en-US" sz="1450" dirty="0"/>
          </a:p>
        </p:txBody>
      </p:sp>
      <p:sp>
        <p:nvSpPr>
          <p:cNvPr id="8" name="Shape 6"/>
          <p:cNvSpPr/>
          <p:nvPr/>
        </p:nvSpPr>
        <p:spPr>
          <a:xfrm>
            <a:off x="640080" y="1645920"/>
            <a:ext cx="10911535" cy="1764792"/>
          </a:xfrm>
          <a:prstGeom prst="roundRect">
            <a:avLst>
              <a:gd name="adj" fmla="val 8290"/>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810512"/>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121408"/>
            <a:ext cx="10271455" cy="1216152"/>
          </a:xfrm>
          <a:prstGeom prst="rect">
            <a:avLst/>
          </a:prstGeom>
          <a:noFill/>
          <a:ln/>
        </p:spPr>
        <p:txBody>
          <a:bodyPr wrap="square" lIns="0" tIns="0" rIns="0" bIns="0" rtlCol="0" anchor="t"/>
          <a:lstStyle/>
          <a:p>
            <a:pPr indent="0" marL="0">
              <a:lnSpc>
                <a:spcPct val="118000"/>
              </a:lnSpc>
              <a:buNone/>
            </a:pPr>
            <a:r>
              <a:rPr lang="en-US" sz="2000" dirty="0">
                <a:solidFill>
                  <a:srgbClr val="0E1426"/>
                </a:solidFill>
                <a:latin typeface="Calibri" pitchFamily="34" charset="0"/>
                <a:ea typeface="Calibri" pitchFamily="34" charset="-122"/>
                <a:cs typeface="Calibri" pitchFamily="34" charset="-120"/>
              </a:rPr>
              <a:t>72 km/h ile giden bir araç, μ = 0,5 olan bir yolda fren yapıyor. Sürücünün tepki süresi 1 s'dir. (a) Toplam durma mesafesi nedir? (b) Hız iki katına çıkarsa fren mesafesi ne olur?</a:t>
            </a:r>
            <a:endParaRPr lang="en-US" sz="2000" dirty="0"/>
          </a:p>
        </p:txBody>
      </p:sp>
      <p:sp>
        <p:nvSpPr>
          <p:cNvPr id="11" name="Shape 9"/>
          <p:cNvSpPr/>
          <p:nvPr/>
        </p:nvSpPr>
        <p:spPr>
          <a:xfrm>
            <a:off x="640080" y="3611880"/>
            <a:ext cx="5318608" cy="2532888"/>
          </a:xfrm>
          <a:prstGeom prst="roundRect">
            <a:avLst>
              <a:gd name="adj" fmla="val 5776"/>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658368" y="3776472"/>
            <a:ext cx="54864" cy="2203704"/>
          </a:xfrm>
          <a:prstGeom prst="rect">
            <a:avLst/>
          </a:prstGeom>
          <a:solidFill>
            <a:srgbClr val="2957D4"/>
          </a:solidFill>
          <a:ln/>
        </p:spPr>
      </p:sp>
      <p:sp>
        <p:nvSpPr>
          <p:cNvPr id="13" name="Text 11"/>
          <p:cNvSpPr txBox="1"/>
          <p:nvPr/>
        </p:nvSpPr>
        <p:spPr>
          <a:xfrm>
            <a:off x="914400" y="3758184"/>
            <a:ext cx="4861408" cy="256032"/>
          </a:xfrm>
          <a:prstGeom prst="rect">
            <a:avLst/>
          </a:prstGeom>
          <a:noFill/>
          <a:ln/>
        </p:spPr>
        <p:txBody>
          <a:bodyPr wrap="square" lIns="0" tIns="0" rIns="0" bIns="0" rtlCol="0" anchor="ctr"/>
          <a:lstStyle/>
          <a:p>
            <a:pPr indent="0" marL="0">
              <a:buNone/>
            </a:pPr>
            <a:r>
              <a:rPr lang="en-US" sz="1050" b="1" spc="200" kern="0" dirty="0">
                <a:solidFill>
                  <a:srgbClr val="2957D4"/>
                </a:solidFill>
                <a:latin typeface="Calibri" pitchFamily="34" charset="0"/>
                <a:ea typeface="Calibri" pitchFamily="34" charset="-122"/>
                <a:cs typeface="Calibri" pitchFamily="34" charset="-120"/>
              </a:rPr>
              <a:t>VERİLENLER</a:t>
            </a:r>
            <a:endParaRPr lang="en-US" sz="1050" dirty="0"/>
          </a:p>
        </p:txBody>
      </p:sp>
      <p:sp>
        <p:nvSpPr>
          <p:cNvPr id="14" name="Text 12"/>
          <p:cNvSpPr txBox="1"/>
          <p:nvPr/>
        </p:nvSpPr>
        <p:spPr>
          <a:xfrm>
            <a:off x="950976" y="4087368"/>
            <a:ext cx="4769968" cy="1929384"/>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v = 72 km/h</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μ = 0,5</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ttepki = 1 s</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g = 10 m/s²</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(b) hız iki katına çıkıyor</a:t>
            </a:r>
            <a:endParaRPr lang="en-US" sz="1800" dirty="0"/>
          </a:p>
        </p:txBody>
      </p:sp>
      <p:sp>
        <p:nvSpPr>
          <p:cNvPr id="15" name="Shape 13"/>
          <p:cNvSpPr/>
          <p:nvPr/>
        </p:nvSpPr>
        <p:spPr>
          <a:xfrm>
            <a:off x="6233008" y="3611880"/>
            <a:ext cx="5318608" cy="2532888"/>
          </a:xfrm>
          <a:prstGeom prst="roundRect">
            <a:avLst>
              <a:gd name="adj" fmla="val 5776"/>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6251296" y="3776472"/>
            <a:ext cx="54864" cy="2203704"/>
          </a:xfrm>
          <a:prstGeom prst="rect">
            <a:avLst/>
          </a:prstGeom>
          <a:solidFill>
            <a:srgbClr val="5F4BD8"/>
          </a:solidFill>
          <a:ln/>
        </p:spPr>
      </p:sp>
      <p:sp>
        <p:nvSpPr>
          <p:cNvPr id="17" name="Text 15"/>
          <p:cNvSpPr txBox="1"/>
          <p:nvPr/>
        </p:nvSpPr>
        <p:spPr>
          <a:xfrm>
            <a:off x="6507328" y="3758184"/>
            <a:ext cx="4861408" cy="256032"/>
          </a:xfrm>
          <a:prstGeom prst="rect">
            <a:avLst/>
          </a:prstGeom>
          <a:noFill/>
          <a:ln/>
        </p:spPr>
        <p:txBody>
          <a:bodyPr wrap="square" lIns="0" tIns="0" rIns="0" bIns="0" rtlCol="0" anchor="ctr"/>
          <a:lstStyle/>
          <a:p>
            <a:pPr indent="0" marL="0">
              <a:buNone/>
            </a:pPr>
            <a:r>
              <a:rPr lang="en-US" sz="1050" b="1" spc="200" kern="0" dirty="0">
                <a:solidFill>
                  <a:srgbClr val="5F4BD8"/>
                </a:solidFill>
                <a:latin typeface="Calibri" pitchFamily="34" charset="0"/>
                <a:ea typeface="Calibri" pitchFamily="34" charset="-122"/>
                <a:cs typeface="Calibri" pitchFamily="34" charset="-120"/>
              </a:rPr>
              <a:t>İSTENEN</a:t>
            </a:r>
            <a:endParaRPr lang="en-US" sz="1050" dirty="0"/>
          </a:p>
        </p:txBody>
      </p:sp>
      <p:sp>
        <p:nvSpPr>
          <p:cNvPr id="18" name="Text 16"/>
          <p:cNvSpPr txBox="1"/>
          <p:nvPr/>
        </p:nvSpPr>
        <p:spPr>
          <a:xfrm>
            <a:off x="6543904" y="4087368"/>
            <a:ext cx="4769968" cy="1929384"/>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(a) toplam durma mesafesi dtoplam</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(b) iki kat hızda fren mesafesi dfren</a:t>
            </a:r>
            <a:endParaRPr lang="en-US" sz="1800" dirty="0"/>
          </a:p>
        </p:txBody>
      </p:sp>
      <p:sp>
        <p:nvSpPr>
          <p:cNvPr id="19" name="Shape 17"/>
          <p:cNvSpPr/>
          <p:nvPr/>
        </p:nvSpPr>
        <p:spPr>
          <a:xfrm>
            <a:off x="640080" y="6382512"/>
            <a:ext cx="128016" cy="128016"/>
          </a:xfrm>
          <a:prstGeom prst="roundRect">
            <a:avLst>
              <a:gd name="adj" fmla="val 28571"/>
            </a:avLst>
          </a:prstGeom>
          <a:solidFill>
            <a:srgbClr val="A9E648"/>
          </a:solidFill>
          <a:ln/>
        </p:spPr>
      </p:sp>
      <p:sp>
        <p:nvSpPr>
          <p:cNvPr id="20"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21"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123</a:t>
            </a:r>
            <a:endParaRPr lang="en-US" sz="1050"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5 · Çözüm 1 / 2</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Fren mesafesi ve hız</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72 km/h = 72/3,6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20 m/s</a:t>
            </a:r>
            <a:endParaRPr lang="en-US" sz="2000" dirty="0"/>
          </a:p>
        </p:txBody>
      </p:sp>
      <p:sp>
        <p:nvSpPr>
          <p:cNvPr id="12" name="Shape 10"/>
          <p:cNvSpPr/>
          <p:nvPr/>
        </p:nvSpPr>
        <p:spPr>
          <a:xfrm>
            <a:off x="640080" y="2883408"/>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209544"/>
            <a:ext cx="420624" cy="420624"/>
          </a:xfrm>
          <a:prstGeom prst="roundRect">
            <a:avLst>
              <a:gd name="adj" fmla="val 26000"/>
            </a:avLst>
          </a:prstGeom>
          <a:solidFill>
            <a:srgbClr val="A56209"/>
          </a:solidFill>
          <a:ln/>
        </p:spPr>
      </p:sp>
      <p:sp>
        <p:nvSpPr>
          <p:cNvPr id="14" name="Text 12"/>
          <p:cNvSpPr txBox="1"/>
          <p:nvPr/>
        </p:nvSpPr>
        <p:spPr>
          <a:xfrm>
            <a:off x="914400" y="320954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1508760" y="2938272"/>
            <a:ext cx="9859975" cy="963168"/>
          </a:xfrm>
          <a:prstGeom prst="rect">
            <a:avLst/>
          </a:prstGeom>
          <a:noFill/>
          <a:ln/>
        </p:spPr>
        <p:txBody>
          <a:bodyPr wrap="square" lIns="0" tIns="0" rIns="0" bIns="0" rtlCol="0" anchor="ctr"/>
          <a:lstStyle/>
          <a:p>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(a)</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Tepki mesafesi: 20 · 1 = 20 m</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124</a:t>
            </a:r>
            <a:endParaRPr lang="en-US" sz="1050"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5 · Çözüm 2 / 2</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Fren mesafesi ve hız</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Fren mesafesi: v²/(2μg) = 400 / (2·0,5·10) = 40 m → toplam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60 m</a:t>
            </a:r>
            <a:endParaRPr lang="en-US" sz="2000" dirty="0"/>
          </a:p>
        </p:txBody>
      </p:sp>
      <p:sp>
        <p:nvSpPr>
          <p:cNvPr id="12" name="Shape 10"/>
          <p:cNvSpPr/>
          <p:nvPr/>
        </p:nvSpPr>
        <p:spPr>
          <a:xfrm>
            <a:off x="640080" y="2883408"/>
            <a:ext cx="10911535" cy="1619098"/>
          </a:xfrm>
          <a:prstGeom prst="roundRect">
            <a:avLst>
              <a:gd name="adj" fmla="val 90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482645"/>
            <a:ext cx="420624" cy="420624"/>
          </a:xfrm>
          <a:prstGeom prst="roundRect">
            <a:avLst>
              <a:gd name="adj" fmla="val 26000"/>
            </a:avLst>
          </a:prstGeom>
          <a:solidFill>
            <a:srgbClr val="A56209"/>
          </a:solidFill>
          <a:ln/>
        </p:spPr>
      </p:sp>
      <p:sp>
        <p:nvSpPr>
          <p:cNvPr id="14" name="Text 12"/>
          <p:cNvSpPr txBox="1"/>
          <p:nvPr/>
        </p:nvSpPr>
        <p:spPr>
          <a:xfrm>
            <a:off x="914400" y="3482645"/>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5" name="Text 13"/>
          <p:cNvSpPr txBox="1"/>
          <p:nvPr/>
        </p:nvSpPr>
        <p:spPr>
          <a:xfrm>
            <a:off x="1508760" y="2938272"/>
            <a:ext cx="9859975" cy="1509370"/>
          </a:xfrm>
          <a:prstGeom prst="rect">
            <a:avLst/>
          </a:prstGeom>
          <a:noFill/>
          <a:ln/>
        </p:spPr>
        <p:txBody>
          <a:bodyPr wrap="square" lIns="0" tIns="0" rIns="0" bIns="0" rtlCol="0" anchor="ctr"/>
          <a:lstStyle/>
          <a:p>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(b)</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v = 40 m/s için fren mesafesi: 1600/10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160 m</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 hız 2 katına çıkınca fren mesafesi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4 katına</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çıktı.</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125</a:t>
            </a:r>
            <a:endParaRPr lang="en-US" sz="1050"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6 / 7 · Soru</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Kızağı çekmek mi, itmek mi?</a:t>
            </a:r>
            <a:endParaRPr lang="en-US" sz="1450" dirty="0"/>
          </a:p>
        </p:txBody>
      </p:sp>
      <p:sp>
        <p:nvSpPr>
          <p:cNvPr id="8" name="Shape 6"/>
          <p:cNvSpPr/>
          <p:nvPr/>
        </p:nvSpPr>
        <p:spPr>
          <a:xfrm>
            <a:off x="640080" y="1645920"/>
            <a:ext cx="10911535" cy="1737360"/>
          </a:xfrm>
          <a:prstGeom prst="roundRect">
            <a:avLst>
              <a:gd name="adj" fmla="val 8421"/>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773936"/>
            <a:ext cx="2743200" cy="237744"/>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029968"/>
            <a:ext cx="10271455" cy="1280160"/>
          </a:xfrm>
          <a:prstGeom prst="rect">
            <a:avLst/>
          </a:prstGeom>
          <a:noFill/>
          <a:ln/>
        </p:spPr>
        <p:txBody>
          <a:bodyPr wrap="square" lIns="0" tIns="0" rIns="0" bIns="0" rtlCol="0" anchor="t"/>
          <a:lstStyle/>
          <a:p>
            <a:pPr indent="0" marL="0">
              <a:lnSpc>
                <a:spcPct val="116000"/>
              </a:lnSpc>
              <a:buNone/>
            </a:pPr>
            <a:r>
              <a:rPr lang="en-US" sz="1900" dirty="0">
                <a:solidFill>
                  <a:srgbClr val="0E1426"/>
                </a:solidFill>
                <a:latin typeface="Calibri" pitchFamily="34" charset="0"/>
                <a:ea typeface="Calibri" pitchFamily="34" charset="-122"/>
                <a:cs typeface="Calibri" pitchFamily="34" charset="-120"/>
              </a:rPr>
              <a:t>Karda kaymakta olan 20 kg'lık bir kızağa 100 N'luk kuvvet, yatayla 37° açı yapacak biçimde uygulanıyor; μ</a:t>
            </a:r>
            <a:pPr indent="0" marL="0">
              <a:lnSpc>
                <a:spcPct val="116000"/>
              </a:lnSpc>
              <a:buNone/>
            </a:pPr>
            <a:r>
              <a:rPr lang="en-US" sz="1900" baseline="-40000" dirty="0">
                <a:solidFill>
                  <a:srgbClr val="0E1426"/>
                </a:solidFill>
                <a:latin typeface="Calibri" pitchFamily="34" charset="0"/>
                <a:ea typeface="Calibri" pitchFamily="34" charset="-122"/>
                <a:cs typeface="Calibri" pitchFamily="34" charset="-120"/>
              </a:rPr>
              <a:t>k</a:t>
            </a:r>
            <a:pPr indent="0" marL="0">
              <a:lnSpc>
                <a:spcPct val="116000"/>
              </a:lnSpc>
              <a:buNone/>
            </a:pPr>
            <a:r>
              <a:rPr lang="en-US" sz="1900" dirty="0">
                <a:solidFill>
                  <a:srgbClr val="0E1426"/>
                </a:solidFill>
                <a:latin typeface="Calibri" pitchFamily="34" charset="0"/>
                <a:ea typeface="Calibri" pitchFamily="34" charset="-122"/>
                <a:cs typeface="Calibri" pitchFamily="34" charset="-120"/>
              </a:rPr>
              <a:t> = 0,2. Kuvvet (a) yukarı doğru eğik çekerek, (b) aşağı doğru eğik iterek uygulanırsa kızağın ivmesi ne olur? (sin37° = 0,6 · cos37° = 0,8)</a:t>
            </a:r>
            <a:endParaRPr lang="en-US" sz="1900" dirty="0"/>
          </a:p>
        </p:txBody>
      </p:sp>
      <p:sp>
        <p:nvSpPr>
          <p:cNvPr id="11" name="Shape 9"/>
          <p:cNvSpPr/>
          <p:nvPr/>
        </p:nvSpPr>
        <p:spPr>
          <a:xfrm>
            <a:off x="3118858" y="3584448"/>
            <a:ext cx="5953978" cy="2670048"/>
          </a:xfrm>
          <a:prstGeom prst="roundRect">
            <a:avLst>
              <a:gd name="adj" fmla="val 5479"/>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2" name="Image 0" descr="/tmp/dersler-sekiller/surtunme-kuvveti-17.png">    </p:cNvPr>
          <p:cNvPicPr>
            <a:picLocks noChangeAspect="1"/>
          </p:cNvPicPr>
          <p:nvPr/>
        </p:nvPicPr>
        <p:blipFill>
          <a:blip r:embed="rId1"/>
          <a:stretch>
            <a:fillRect/>
          </a:stretch>
        </p:blipFill>
        <p:spPr>
          <a:xfrm>
            <a:off x="3347458" y="3694176"/>
            <a:ext cx="5496778" cy="2450592"/>
          </a:xfrm>
          <a:prstGeom prst="rect">
            <a:avLst/>
          </a:prstGeom>
        </p:spPr>
      </p:pic>
      <p:sp>
        <p:nvSpPr>
          <p:cNvPr id="13" name="Shape 10"/>
          <p:cNvSpPr/>
          <p:nvPr/>
        </p:nvSpPr>
        <p:spPr>
          <a:xfrm>
            <a:off x="640080" y="6382512"/>
            <a:ext cx="128016" cy="128016"/>
          </a:xfrm>
          <a:prstGeom prst="roundRect">
            <a:avLst>
              <a:gd name="adj" fmla="val 28571"/>
            </a:avLst>
          </a:prstGeom>
          <a:solidFill>
            <a:srgbClr val="A9E648"/>
          </a:solidFill>
          <a:ln/>
        </p:spPr>
      </p:sp>
      <p:sp>
        <p:nvSpPr>
          <p:cNvPr id="14" name="Text 1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5" name="Text 12"/>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126</a:t>
            </a:r>
            <a:endParaRPr lang="en-US" sz="1050"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6 / 7 · Verilenler ve istenen</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Kızağı çekmek mi, itmek mi?</a:t>
            </a:r>
            <a:endParaRPr lang="en-US" sz="1450" dirty="0"/>
          </a:p>
        </p:txBody>
      </p:sp>
      <p:sp>
        <p:nvSpPr>
          <p:cNvPr id="8" name="Shape 6"/>
          <p:cNvSpPr/>
          <p:nvPr/>
        </p:nvSpPr>
        <p:spPr>
          <a:xfrm>
            <a:off x="640080" y="1645920"/>
            <a:ext cx="10911535" cy="2124456"/>
          </a:xfrm>
          <a:prstGeom prst="roundRect">
            <a:avLst>
              <a:gd name="adj" fmla="val 6887"/>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810512"/>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121408"/>
            <a:ext cx="10271455" cy="1575816"/>
          </a:xfrm>
          <a:prstGeom prst="rect">
            <a:avLst/>
          </a:prstGeom>
          <a:noFill/>
          <a:ln/>
        </p:spPr>
        <p:txBody>
          <a:bodyPr wrap="square" lIns="0" tIns="0" rIns="0" bIns="0" rtlCol="0" anchor="t"/>
          <a:lstStyle/>
          <a:p>
            <a:pPr indent="0" marL="0">
              <a:lnSpc>
                <a:spcPct val="118000"/>
              </a:lnSpc>
              <a:buNone/>
            </a:pPr>
            <a:r>
              <a:rPr lang="en-US" sz="2000" dirty="0">
                <a:solidFill>
                  <a:srgbClr val="0E1426"/>
                </a:solidFill>
                <a:latin typeface="Calibri" pitchFamily="34" charset="0"/>
                <a:ea typeface="Calibri" pitchFamily="34" charset="-122"/>
                <a:cs typeface="Calibri" pitchFamily="34" charset="-120"/>
              </a:rPr>
              <a:t>Karda kaymakta olan 20 kg'lık bir kızağa 100 N'luk kuvvet, yatayla 37° açı yapacak biçimde uygulanıyor; μ</a:t>
            </a:r>
            <a:pPr indent="0" marL="0">
              <a:lnSpc>
                <a:spcPct val="118000"/>
              </a:lnSpc>
              <a:buNone/>
            </a:pPr>
            <a:r>
              <a:rPr lang="en-US" sz="2000" baseline="-40000" dirty="0">
                <a:solidFill>
                  <a:srgbClr val="0E1426"/>
                </a:solidFill>
                <a:latin typeface="Calibri" pitchFamily="34" charset="0"/>
                <a:ea typeface="Calibri" pitchFamily="34" charset="-122"/>
                <a:cs typeface="Calibri" pitchFamily="34" charset="-120"/>
              </a:rPr>
              <a:t>k</a:t>
            </a:r>
            <a:pPr indent="0" marL="0">
              <a:lnSpc>
                <a:spcPct val="118000"/>
              </a:lnSpc>
              <a:buNone/>
            </a:pPr>
            <a:r>
              <a:rPr lang="en-US" sz="2000" dirty="0">
                <a:solidFill>
                  <a:srgbClr val="0E1426"/>
                </a:solidFill>
                <a:latin typeface="Calibri" pitchFamily="34" charset="0"/>
                <a:ea typeface="Calibri" pitchFamily="34" charset="-122"/>
                <a:cs typeface="Calibri" pitchFamily="34" charset="-120"/>
              </a:rPr>
              <a:t> = 0,2. Kuvvet (a) yukarı doğru eğik çekerek, (b) aşağı doğru eğik iterek uygulanırsa kızağın ivmesi ne olur? (sin37° = 0,6 · cos37° = 0,8)</a:t>
            </a:r>
            <a:endParaRPr lang="en-US" sz="2000" dirty="0"/>
          </a:p>
        </p:txBody>
      </p:sp>
      <p:sp>
        <p:nvSpPr>
          <p:cNvPr id="11" name="Shape 9"/>
          <p:cNvSpPr/>
          <p:nvPr/>
        </p:nvSpPr>
        <p:spPr>
          <a:xfrm>
            <a:off x="640080" y="3971544"/>
            <a:ext cx="5318608" cy="2173224"/>
          </a:xfrm>
          <a:prstGeom prst="roundRect">
            <a:avLst>
              <a:gd name="adj" fmla="val 6732"/>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658368" y="4136136"/>
            <a:ext cx="54864" cy="1844040"/>
          </a:xfrm>
          <a:prstGeom prst="rect">
            <a:avLst/>
          </a:prstGeom>
          <a:solidFill>
            <a:srgbClr val="2957D4"/>
          </a:solidFill>
          <a:ln/>
        </p:spPr>
      </p:sp>
      <p:sp>
        <p:nvSpPr>
          <p:cNvPr id="13" name="Text 11"/>
          <p:cNvSpPr txBox="1"/>
          <p:nvPr/>
        </p:nvSpPr>
        <p:spPr>
          <a:xfrm>
            <a:off x="914400" y="4117848"/>
            <a:ext cx="4861408" cy="256032"/>
          </a:xfrm>
          <a:prstGeom prst="rect">
            <a:avLst/>
          </a:prstGeom>
          <a:noFill/>
          <a:ln/>
        </p:spPr>
        <p:txBody>
          <a:bodyPr wrap="square" lIns="0" tIns="0" rIns="0" bIns="0" rtlCol="0" anchor="ctr"/>
          <a:lstStyle/>
          <a:p>
            <a:pPr indent="0" marL="0">
              <a:buNone/>
            </a:pPr>
            <a:r>
              <a:rPr lang="en-US" sz="1050" b="1" spc="200" kern="0" dirty="0">
                <a:solidFill>
                  <a:srgbClr val="2957D4"/>
                </a:solidFill>
                <a:latin typeface="Calibri" pitchFamily="34" charset="0"/>
                <a:ea typeface="Calibri" pitchFamily="34" charset="-122"/>
                <a:cs typeface="Calibri" pitchFamily="34" charset="-120"/>
              </a:rPr>
              <a:t>VERİLENLER</a:t>
            </a:r>
            <a:endParaRPr lang="en-US" sz="1050" dirty="0"/>
          </a:p>
        </p:txBody>
      </p:sp>
      <p:sp>
        <p:nvSpPr>
          <p:cNvPr id="14" name="Text 12"/>
          <p:cNvSpPr txBox="1"/>
          <p:nvPr/>
        </p:nvSpPr>
        <p:spPr>
          <a:xfrm>
            <a:off x="950976" y="4447032"/>
            <a:ext cx="2339264" cy="1569720"/>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600" dirty="0">
                <a:solidFill>
                  <a:srgbClr val="0E1426"/>
                </a:solidFill>
                <a:latin typeface="Calibri" pitchFamily="34" charset="0"/>
                <a:ea typeface="Calibri" pitchFamily="34" charset="-122"/>
                <a:cs typeface="Calibri" pitchFamily="34" charset="-120"/>
              </a:rPr>
              <a:t>m = 20 kg</a:t>
            </a:r>
            <a:endParaRPr lang="en-US" sz="1600" dirty="0"/>
          </a:p>
          <a:p>
            <a:pPr marL="203200" indent="-203200">
              <a:lnSpc>
                <a:spcPct val="110000"/>
              </a:lnSpc>
              <a:spcAft>
                <a:spcPts val="500"/>
              </a:spcAft>
              <a:buSzPct val="100000"/>
              <a:buChar char="▪"/>
            </a:pPr>
            <a:r>
              <a:rPr lang="en-US" sz="1600" dirty="0">
                <a:solidFill>
                  <a:srgbClr val="0E1426"/>
                </a:solidFill>
                <a:latin typeface="Calibri" pitchFamily="34" charset="0"/>
                <a:ea typeface="Calibri" pitchFamily="34" charset="-122"/>
                <a:cs typeface="Calibri" pitchFamily="34" charset="-120"/>
              </a:rPr>
              <a:t>F = 100 N</a:t>
            </a:r>
            <a:endParaRPr lang="en-US" sz="1600" dirty="0"/>
          </a:p>
          <a:p>
            <a:pPr marL="203200" indent="-203200">
              <a:lnSpc>
                <a:spcPct val="110000"/>
              </a:lnSpc>
              <a:spcAft>
                <a:spcPts val="500"/>
              </a:spcAft>
              <a:buSzPct val="100000"/>
              <a:buChar char="▪"/>
            </a:pPr>
            <a:r>
              <a:rPr lang="en-US" sz="1600" dirty="0">
                <a:solidFill>
                  <a:srgbClr val="0E1426"/>
                </a:solidFill>
                <a:latin typeface="Calibri" pitchFamily="34" charset="0"/>
                <a:ea typeface="Calibri" pitchFamily="34" charset="-122"/>
                <a:cs typeface="Calibri" pitchFamily="34" charset="-120"/>
              </a:rPr>
              <a:t>yatayla açı α = 37°</a:t>
            </a:r>
            <a:endParaRPr lang="en-US" sz="1600" dirty="0"/>
          </a:p>
          <a:p>
            <a:pPr marL="203200" indent="-203200">
              <a:lnSpc>
                <a:spcPct val="110000"/>
              </a:lnSpc>
              <a:spcAft>
                <a:spcPts val="500"/>
              </a:spcAft>
              <a:buSzPct val="100000"/>
              <a:buChar char="▪"/>
            </a:pPr>
            <a:r>
              <a:rPr lang="en-US" sz="1600" dirty="0">
                <a:solidFill>
                  <a:srgbClr val="0E1426"/>
                </a:solidFill>
                <a:latin typeface="Calibri" pitchFamily="34" charset="0"/>
                <a:ea typeface="Calibri" pitchFamily="34" charset="-122"/>
                <a:cs typeface="Calibri" pitchFamily="34" charset="-120"/>
              </a:rPr>
              <a:t>μk = 0,2</a:t>
            </a:r>
            <a:endParaRPr lang="en-US" sz="1600" dirty="0"/>
          </a:p>
        </p:txBody>
      </p:sp>
      <p:sp>
        <p:nvSpPr>
          <p:cNvPr id="15" name="Text 13"/>
          <p:cNvSpPr txBox="1"/>
          <p:nvPr/>
        </p:nvSpPr>
        <p:spPr>
          <a:xfrm>
            <a:off x="3381680" y="4447032"/>
            <a:ext cx="2339264" cy="1569720"/>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600" dirty="0">
                <a:solidFill>
                  <a:srgbClr val="0E1426"/>
                </a:solidFill>
                <a:latin typeface="Calibri" pitchFamily="34" charset="0"/>
                <a:ea typeface="Calibri" pitchFamily="34" charset="-122"/>
                <a:cs typeface="Calibri" pitchFamily="34" charset="-120"/>
              </a:rPr>
              <a:t>kızak zaten kayıyor</a:t>
            </a:r>
            <a:endParaRPr lang="en-US" sz="1600" dirty="0"/>
          </a:p>
          <a:p>
            <a:pPr marL="203200" indent="-203200">
              <a:lnSpc>
                <a:spcPct val="110000"/>
              </a:lnSpc>
              <a:spcAft>
                <a:spcPts val="500"/>
              </a:spcAft>
              <a:buSzPct val="100000"/>
              <a:buChar char="▪"/>
            </a:pPr>
            <a:r>
              <a:rPr lang="en-US" sz="1600" dirty="0">
                <a:solidFill>
                  <a:srgbClr val="0E1426"/>
                </a:solidFill>
                <a:latin typeface="Calibri" pitchFamily="34" charset="0"/>
                <a:ea typeface="Calibri" pitchFamily="34" charset="-122"/>
                <a:cs typeface="Calibri" pitchFamily="34" charset="-120"/>
              </a:rPr>
              <a:t>sin37° = 0,6</a:t>
            </a:r>
            <a:endParaRPr lang="en-US" sz="1600" dirty="0"/>
          </a:p>
          <a:p>
            <a:pPr marL="203200" indent="-203200">
              <a:lnSpc>
                <a:spcPct val="110000"/>
              </a:lnSpc>
              <a:spcAft>
                <a:spcPts val="500"/>
              </a:spcAft>
              <a:buSzPct val="100000"/>
              <a:buChar char="▪"/>
            </a:pPr>
            <a:r>
              <a:rPr lang="en-US" sz="1600" dirty="0">
                <a:solidFill>
                  <a:srgbClr val="0E1426"/>
                </a:solidFill>
                <a:latin typeface="Calibri" pitchFamily="34" charset="0"/>
                <a:ea typeface="Calibri" pitchFamily="34" charset="-122"/>
                <a:cs typeface="Calibri" pitchFamily="34" charset="-120"/>
              </a:rPr>
              <a:t>cos37° = 0,8</a:t>
            </a:r>
            <a:endParaRPr lang="en-US" sz="1600" dirty="0"/>
          </a:p>
          <a:p>
            <a:pPr marL="203200" indent="-203200">
              <a:lnSpc>
                <a:spcPct val="110000"/>
              </a:lnSpc>
              <a:spcAft>
                <a:spcPts val="500"/>
              </a:spcAft>
              <a:buSzPct val="100000"/>
              <a:buChar char="▪"/>
            </a:pPr>
            <a:r>
              <a:rPr lang="en-US" sz="1600" dirty="0">
                <a:solidFill>
                  <a:srgbClr val="0E1426"/>
                </a:solidFill>
                <a:latin typeface="Calibri" pitchFamily="34" charset="0"/>
                <a:ea typeface="Calibri" pitchFamily="34" charset="-122"/>
                <a:cs typeface="Calibri" pitchFamily="34" charset="-120"/>
              </a:rPr>
              <a:t>g = 10 m/s²</a:t>
            </a:r>
            <a:endParaRPr lang="en-US" sz="1600" dirty="0"/>
          </a:p>
        </p:txBody>
      </p:sp>
      <p:sp>
        <p:nvSpPr>
          <p:cNvPr id="16" name="Shape 14"/>
          <p:cNvSpPr/>
          <p:nvPr/>
        </p:nvSpPr>
        <p:spPr>
          <a:xfrm>
            <a:off x="6233008" y="3971544"/>
            <a:ext cx="5318608" cy="2173224"/>
          </a:xfrm>
          <a:prstGeom prst="roundRect">
            <a:avLst>
              <a:gd name="adj" fmla="val 6732"/>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7" name="Shape 15"/>
          <p:cNvSpPr/>
          <p:nvPr/>
        </p:nvSpPr>
        <p:spPr>
          <a:xfrm>
            <a:off x="6251296" y="4136136"/>
            <a:ext cx="54864" cy="1844040"/>
          </a:xfrm>
          <a:prstGeom prst="rect">
            <a:avLst/>
          </a:prstGeom>
          <a:solidFill>
            <a:srgbClr val="5F4BD8"/>
          </a:solidFill>
          <a:ln/>
        </p:spPr>
      </p:sp>
      <p:sp>
        <p:nvSpPr>
          <p:cNvPr id="18" name="Text 16"/>
          <p:cNvSpPr txBox="1"/>
          <p:nvPr/>
        </p:nvSpPr>
        <p:spPr>
          <a:xfrm>
            <a:off x="6507328" y="4117848"/>
            <a:ext cx="4861408" cy="256032"/>
          </a:xfrm>
          <a:prstGeom prst="rect">
            <a:avLst/>
          </a:prstGeom>
          <a:noFill/>
          <a:ln/>
        </p:spPr>
        <p:txBody>
          <a:bodyPr wrap="square" lIns="0" tIns="0" rIns="0" bIns="0" rtlCol="0" anchor="ctr"/>
          <a:lstStyle/>
          <a:p>
            <a:pPr indent="0" marL="0">
              <a:buNone/>
            </a:pPr>
            <a:r>
              <a:rPr lang="en-US" sz="1050" b="1" spc="200" kern="0" dirty="0">
                <a:solidFill>
                  <a:srgbClr val="5F4BD8"/>
                </a:solidFill>
                <a:latin typeface="Calibri" pitchFamily="34" charset="0"/>
                <a:ea typeface="Calibri" pitchFamily="34" charset="-122"/>
                <a:cs typeface="Calibri" pitchFamily="34" charset="-120"/>
              </a:rPr>
              <a:t>İSTENEN</a:t>
            </a:r>
            <a:endParaRPr lang="en-US" sz="1050" dirty="0"/>
          </a:p>
        </p:txBody>
      </p:sp>
      <p:sp>
        <p:nvSpPr>
          <p:cNvPr id="19" name="Text 17"/>
          <p:cNvSpPr txBox="1"/>
          <p:nvPr/>
        </p:nvSpPr>
        <p:spPr>
          <a:xfrm>
            <a:off x="6543904" y="4447032"/>
            <a:ext cx="4769968" cy="1569720"/>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kızağın ivmesi a: (a) yukarı doğru eğik çekerken</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(b) aşağı doğru eğik iterken</a:t>
            </a:r>
            <a:endParaRPr lang="en-US" sz="1800" dirty="0"/>
          </a:p>
        </p:txBody>
      </p:sp>
      <p:sp>
        <p:nvSpPr>
          <p:cNvPr id="20" name="Shape 18"/>
          <p:cNvSpPr/>
          <p:nvPr/>
        </p:nvSpPr>
        <p:spPr>
          <a:xfrm>
            <a:off x="640080" y="6382512"/>
            <a:ext cx="128016" cy="128016"/>
          </a:xfrm>
          <a:prstGeom prst="roundRect">
            <a:avLst>
              <a:gd name="adj" fmla="val 28571"/>
            </a:avLst>
          </a:prstGeom>
          <a:solidFill>
            <a:srgbClr val="A9E648"/>
          </a:solidFill>
          <a:ln/>
        </p:spPr>
      </p:sp>
      <p:sp>
        <p:nvSpPr>
          <p:cNvPr id="21" name="Text 1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22" name="Text 2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127</a:t>
            </a:r>
            <a:endParaRPr lang="en-US" sz="1050"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6 · Çözüm 1 / 2</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Kızağı çekmek mi, itmek mi?</a:t>
            </a:r>
            <a:endParaRPr lang="en-US" sz="1450" dirty="0"/>
          </a:p>
        </p:txBody>
      </p:sp>
      <p:sp>
        <p:nvSpPr>
          <p:cNvPr id="8" name="Shape 6"/>
          <p:cNvSpPr/>
          <p:nvPr/>
        </p:nvSpPr>
        <p:spPr>
          <a:xfrm>
            <a:off x="640080" y="1645920"/>
            <a:ext cx="10911535" cy="1565982"/>
          </a:xfrm>
          <a:prstGeom prst="roundRect">
            <a:avLst>
              <a:gd name="adj" fmla="val 9343"/>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2218599"/>
            <a:ext cx="420624" cy="420624"/>
          </a:xfrm>
          <a:prstGeom prst="roundRect">
            <a:avLst>
              <a:gd name="adj" fmla="val 26000"/>
            </a:avLst>
          </a:prstGeom>
          <a:solidFill>
            <a:srgbClr val="A56209"/>
          </a:solidFill>
          <a:ln/>
        </p:spPr>
      </p:sp>
      <p:sp>
        <p:nvSpPr>
          <p:cNvPr id="10" name="Text 8"/>
          <p:cNvSpPr txBox="1"/>
          <p:nvPr/>
        </p:nvSpPr>
        <p:spPr>
          <a:xfrm>
            <a:off x="914400" y="2218599"/>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1" name="Text 9"/>
          <p:cNvSpPr txBox="1"/>
          <p:nvPr/>
        </p:nvSpPr>
        <p:spPr>
          <a:xfrm>
            <a:off x="1508760" y="1700784"/>
            <a:ext cx="9859975" cy="1456254"/>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Kuvvetin bileşenleri: yatay 100 · 0,8 = 80 N, düşey 100 · 0,6 = 60 N; ağırlık 200 N.</a:t>
            </a:r>
            <a:endParaRPr lang="en-US" sz="2000" dirty="0"/>
          </a:p>
        </p:txBody>
      </p:sp>
      <p:sp>
        <p:nvSpPr>
          <p:cNvPr id="12" name="Shape 10"/>
          <p:cNvSpPr/>
          <p:nvPr/>
        </p:nvSpPr>
        <p:spPr>
          <a:xfrm>
            <a:off x="640080" y="3376494"/>
            <a:ext cx="10911535" cy="1565982"/>
          </a:xfrm>
          <a:prstGeom prst="roundRect">
            <a:avLst>
              <a:gd name="adj" fmla="val 9343"/>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949174"/>
            <a:ext cx="420624" cy="420624"/>
          </a:xfrm>
          <a:prstGeom prst="roundRect">
            <a:avLst>
              <a:gd name="adj" fmla="val 26000"/>
            </a:avLst>
          </a:prstGeom>
          <a:solidFill>
            <a:srgbClr val="A56209"/>
          </a:solidFill>
          <a:ln/>
        </p:spPr>
      </p:sp>
      <p:sp>
        <p:nvSpPr>
          <p:cNvPr id="14" name="Text 12"/>
          <p:cNvSpPr txBox="1"/>
          <p:nvPr/>
        </p:nvSpPr>
        <p:spPr>
          <a:xfrm>
            <a:off x="914400" y="394917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1508760" y="3431358"/>
            <a:ext cx="9859975" cy="1456254"/>
          </a:xfrm>
          <a:prstGeom prst="rect">
            <a:avLst/>
          </a:prstGeom>
          <a:noFill/>
          <a:ln/>
        </p:spPr>
        <p:txBody>
          <a:bodyPr wrap="square" lIns="0" tIns="0" rIns="0" bIns="0" rtlCol="0" anchor="ctr"/>
          <a:lstStyle/>
          <a:p>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(a)</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Çekerken düşey bileşen yukarı: N = 200 − 60 = 140 N → f = 0,2 · 140 = 28 N</a:t>
            </a:r>
            <a:endParaRPr lang="en-US" sz="2000" dirty="0"/>
          </a:p>
        </p:txBody>
      </p:sp>
      <p:sp>
        <p:nvSpPr>
          <p:cNvPr id="16" name="Shape 14"/>
          <p:cNvSpPr/>
          <p:nvPr/>
        </p:nvSpPr>
        <p:spPr>
          <a:xfrm>
            <a:off x="640080" y="5107069"/>
            <a:ext cx="10911535" cy="1037699"/>
          </a:xfrm>
          <a:prstGeom prst="roundRect">
            <a:avLst>
              <a:gd name="adj" fmla="val 14099"/>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7" name="Shape 15"/>
          <p:cNvSpPr/>
          <p:nvPr/>
        </p:nvSpPr>
        <p:spPr>
          <a:xfrm>
            <a:off x="914400" y="5415606"/>
            <a:ext cx="420624" cy="420624"/>
          </a:xfrm>
          <a:prstGeom prst="roundRect">
            <a:avLst>
              <a:gd name="adj" fmla="val 26000"/>
            </a:avLst>
          </a:prstGeom>
          <a:solidFill>
            <a:srgbClr val="A56209"/>
          </a:solidFill>
          <a:ln/>
        </p:spPr>
      </p:sp>
      <p:sp>
        <p:nvSpPr>
          <p:cNvPr id="18" name="Text 16"/>
          <p:cNvSpPr txBox="1"/>
          <p:nvPr/>
        </p:nvSpPr>
        <p:spPr>
          <a:xfrm>
            <a:off x="914400" y="541560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9" name="Text 17"/>
          <p:cNvSpPr txBox="1"/>
          <p:nvPr/>
        </p:nvSpPr>
        <p:spPr>
          <a:xfrm>
            <a:off x="1508760" y="5161933"/>
            <a:ext cx="9859975" cy="927971"/>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a = (80 − 28) / 20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2,6 m/s²</a:t>
            </a:r>
            <a:endParaRPr lang="en-US" sz="2000" dirty="0"/>
          </a:p>
        </p:txBody>
      </p:sp>
      <p:sp>
        <p:nvSpPr>
          <p:cNvPr id="20" name="Shape 18"/>
          <p:cNvSpPr/>
          <p:nvPr/>
        </p:nvSpPr>
        <p:spPr>
          <a:xfrm>
            <a:off x="640080" y="6382512"/>
            <a:ext cx="128016" cy="128016"/>
          </a:xfrm>
          <a:prstGeom prst="roundRect">
            <a:avLst>
              <a:gd name="adj" fmla="val 28571"/>
            </a:avLst>
          </a:prstGeom>
          <a:solidFill>
            <a:srgbClr val="A9E648"/>
          </a:solidFill>
          <a:ln/>
        </p:spPr>
      </p:sp>
      <p:sp>
        <p:nvSpPr>
          <p:cNvPr id="21" name="Text 1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22" name="Text 2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128</a:t>
            </a:r>
            <a:endParaRPr lang="en-US" sz="1050"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6 · Çözüm 2 / 2</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Kızağı çekmek mi, itmek mi?</a:t>
            </a:r>
            <a:endParaRPr lang="en-US" sz="1450" dirty="0"/>
          </a:p>
        </p:txBody>
      </p:sp>
      <p:sp>
        <p:nvSpPr>
          <p:cNvPr id="8" name="Shape 6"/>
          <p:cNvSpPr/>
          <p:nvPr/>
        </p:nvSpPr>
        <p:spPr>
          <a:xfrm>
            <a:off x="640080" y="1645920"/>
            <a:ext cx="10911535" cy="1619098"/>
          </a:xfrm>
          <a:prstGeom prst="roundRect">
            <a:avLst>
              <a:gd name="adj" fmla="val 90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2245157"/>
            <a:ext cx="420624" cy="420624"/>
          </a:xfrm>
          <a:prstGeom prst="roundRect">
            <a:avLst>
              <a:gd name="adj" fmla="val 26000"/>
            </a:avLst>
          </a:prstGeom>
          <a:solidFill>
            <a:srgbClr val="A56209"/>
          </a:solidFill>
          <a:ln/>
        </p:spPr>
      </p:sp>
      <p:sp>
        <p:nvSpPr>
          <p:cNvPr id="10" name="Text 8"/>
          <p:cNvSpPr txBox="1"/>
          <p:nvPr/>
        </p:nvSpPr>
        <p:spPr>
          <a:xfrm>
            <a:off x="914400" y="2245157"/>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1" name="Text 9"/>
          <p:cNvSpPr txBox="1"/>
          <p:nvPr/>
        </p:nvSpPr>
        <p:spPr>
          <a:xfrm>
            <a:off x="1508760" y="1700784"/>
            <a:ext cx="9859975" cy="1509370"/>
          </a:xfrm>
          <a:prstGeom prst="rect">
            <a:avLst/>
          </a:prstGeom>
          <a:noFill/>
          <a:ln/>
        </p:spPr>
        <p:txBody>
          <a:bodyPr wrap="square" lIns="0" tIns="0" rIns="0" bIns="0" rtlCol="0" anchor="ctr"/>
          <a:lstStyle/>
          <a:p>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(b)</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İterken düşey bileşen aşağı: N = 200 + 60 = 260 N → f = 0,2 · 260 = 52 N</a:t>
            </a:r>
            <a:endParaRPr lang="en-US" sz="2000" dirty="0"/>
          </a:p>
        </p:txBody>
      </p:sp>
      <p:sp>
        <p:nvSpPr>
          <p:cNvPr id="12" name="Shape 10"/>
          <p:cNvSpPr/>
          <p:nvPr/>
        </p:nvSpPr>
        <p:spPr>
          <a:xfrm>
            <a:off x="640080" y="3429610"/>
            <a:ext cx="10911535" cy="1619098"/>
          </a:xfrm>
          <a:prstGeom prst="roundRect">
            <a:avLst>
              <a:gd name="adj" fmla="val 90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4028846"/>
            <a:ext cx="420624" cy="420624"/>
          </a:xfrm>
          <a:prstGeom prst="roundRect">
            <a:avLst>
              <a:gd name="adj" fmla="val 26000"/>
            </a:avLst>
          </a:prstGeom>
          <a:solidFill>
            <a:srgbClr val="A56209"/>
          </a:solidFill>
          <a:ln/>
        </p:spPr>
      </p:sp>
      <p:sp>
        <p:nvSpPr>
          <p:cNvPr id="14" name="Text 12"/>
          <p:cNvSpPr txBox="1"/>
          <p:nvPr/>
        </p:nvSpPr>
        <p:spPr>
          <a:xfrm>
            <a:off x="914400" y="402884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15" name="Text 13"/>
          <p:cNvSpPr txBox="1"/>
          <p:nvPr/>
        </p:nvSpPr>
        <p:spPr>
          <a:xfrm>
            <a:off x="1508760" y="3484474"/>
            <a:ext cx="9859975" cy="1509370"/>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a = (80 − 52) / 20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1,4 m/s²</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 aynı kuvvet, çekerken neredeyse iki kat ivme.</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129</a:t>
            </a:r>
            <a:endParaRPr lang="en-US" sz="1050"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7 / 7 · Soru</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Eğik düzlemde yukarı fırlatılan blok</a:t>
            </a:r>
            <a:endParaRPr lang="en-US" sz="1450" dirty="0"/>
          </a:p>
        </p:txBody>
      </p:sp>
      <p:sp>
        <p:nvSpPr>
          <p:cNvPr id="8" name="Shape 6"/>
          <p:cNvSpPr/>
          <p:nvPr/>
        </p:nvSpPr>
        <p:spPr>
          <a:xfrm>
            <a:off x="640080" y="1645920"/>
            <a:ext cx="10911535" cy="1627632"/>
          </a:xfrm>
          <a:prstGeom prst="roundRect">
            <a:avLst>
              <a:gd name="adj" fmla="val 8989"/>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773936"/>
            <a:ext cx="2743200" cy="237744"/>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029968"/>
            <a:ext cx="10271455" cy="1170432"/>
          </a:xfrm>
          <a:prstGeom prst="rect">
            <a:avLst/>
          </a:prstGeom>
          <a:noFill/>
          <a:ln/>
        </p:spPr>
        <p:txBody>
          <a:bodyPr wrap="square" lIns="0" tIns="0" rIns="0" bIns="0" rtlCol="0" anchor="t"/>
          <a:lstStyle/>
          <a:p>
            <a:pPr indent="0" marL="0">
              <a:lnSpc>
                <a:spcPct val="116000"/>
              </a:lnSpc>
              <a:buNone/>
            </a:pPr>
            <a:r>
              <a:rPr lang="en-US" sz="2000" dirty="0">
                <a:solidFill>
                  <a:srgbClr val="0E1426"/>
                </a:solidFill>
                <a:latin typeface="Calibri" pitchFamily="34" charset="0"/>
                <a:ea typeface="Calibri" pitchFamily="34" charset="-122"/>
                <a:cs typeface="Calibri" pitchFamily="34" charset="-120"/>
              </a:rPr>
              <a:t>37°'lik eğik düzlemin altından bir blok, eğim boyunca yukarı 10 m/s hızla fırlatılıyor (μ</a:t>
            </a:r>
            <a:pPr indent="0" marL="0">
              <a:lnSpc>
                <a:spcPct val="116000"/>
              </a:lnSpc>
              <a:buNone/>
            </a:pPr>
            <a:r>
              <a:rPr lang="en-US" sz="2000" baseline="-40000" dirty="0">
                <a:solidFill>
                  <a:srgbClr val="0E1426"/>
                </a:solidFill>
                <a:latin typeface="Calibri" pitchFamily="34" charset="0"/>
                <a:ea typeface="Calibri" pitchFamily="34" charset="-122"/>
                <a:cs typeface="Calibri" pitchFamily="34" charset="-120"/>
              </a:rPr>
              <a:t>s</a:t>
            </a:r>
            <a:pPr indent="0" marL="0">
              <a:lnSpc>
                <a:spcPct val="116000"/>
              </a:lnSpc>
              <a:buNone/>
            </a:pPr>
            <a:r>
              <a:rPr lang="en-US" sz="2000" dirty="0">
                <a:solidFill>
                  <a:srgbClr val="0E1426"/>
                </a:solidFill>
                <a:latin typeface="Calibri" pitchFamily="34" charset="0"/>
                <a:ea typeface="Calibri" pitchFamily="34" charset="-122"/>
                <a:cs typeface="Calibri" pitchFamily="34" charset="-120"/>
              </a:rPr>
              <a:t> = 0,7 · μ</a:t>
            </a:r>
            <a:pPr indent="0" marL="0">
              <a:lnSpc>
                <a:spcPct val="116000"/>
              </a:lnSpc>
              <a:buNone/>
            </a:pPr>
            <a:r>
              <a:rPr lang="en-US" sz="2000" baseline="-40000" dirty="0">
                <a:solidFill>
                  <a:srgbClr val="0E1426"/>
                </a:solidFill>
                <a:latin typeface="Calibri" pitchFamily="34" charset="0"/>
                <a:ea typeface="Calibri" pitchFamily="34" charset="-122"/>
                <a:cs typeface="Calibri" pitchFamily="34" charset="-120"/>
              </a:rPr>
              <a:t>k</a:t>
            </a:r>
            <a:pPr indent="0" marL="0">
              <a:lnSpc>
                <a:spcPct val="116000"/>
              </a:lnSpc>
              <a:buNone/>
            </a:pPr>
            <a:r>
              <a:rPr lang="en-US" sz="2000" dirty="0">
                <a:solidFill>
                  <a:srgbClr val="0E1426"/>
                </a:solidFill>
                <a:latin typeface="Calibri" pitchFamily="34" charset="0"/>
                <a:ea typeface="Calibri" pitchFamily="34" charset="-122"/>
                <a:cs typeface="Calibri" pitchFamily="34" charset="-120"/>
              </a:rPr>
              <a:t> = 0,5). (a) Blok eğim boyunca kaç metre çıkar? (b) Tepede kalır mı? (c) Kalmıyorsa başlangıç noktasına hangi süratle döner?</a:t>
            </a:r>
            <a:endParaRPr lang="en-US" sz="2000" dirty="0"/>
          </a:p>
        </p:txBody>
      </p:sp>
      <p:sp>
        <p:nvSpPr>
          <p:cNvPr id="11" name="Shape 9"/>
          <p:cNvSpPr/>
          <p:nvPr/>
        </p:nvSpPr>
        <p:spPr>
          <a:xfrm>
            <a:off x="3263426" y="3474720"/>
            <a:ext cx="5664843" cy="2779776"/>
          </a:xfrm>
          <a:prstGeom prst="roundRect">
            <a:avLst>
              <a:gd name="adj" fmla="val 526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2" name="Image 0" descr="/tmp/dersler-sekiller/surtunme-kuvveti-18.png">    </p:cNvPr>
          <p:cNvPicPr>
            <a:picLocks noChangeAspect="1"/>
          </p:cNvPicPr>
          <p:nvPr/>
        </p:nvPicPr>
        <p:blipFill>
          <a:blip r:embed="rId1"/>
          <a:stretch>
            <a:fillRect/>
          </a:stretch>
        </p:blipFill>
        <p:spPr>
          <a:xfrm>
            <a:off x="3492026" y="3584448"/>
            <a:ext cx="5207643" cy="2560320"/>
          </a:xfrm>
          <a:prstGeom prst="rect">
            <a:avLst/>
          </a:prstGeom>
        </p:spPr>
      </p:pic>
      <p:sp>
        <p:nvSpPr>
          <p:cNvPr id="13" name="Shape 10"/>
          <p:cNvSpPr/>
          <p:nvPr/>
        </p:nvSpPr>
        <p:spPr>
          <a:xfrm>
            <a:off x="640080" y="6382512"/>
            <a:ext cx="128016" cy="128016"/>
          </a:xfrm>
          <a:prstGeom prst="roundRect">
            <a:avLst>
              <a:gd name="adj" fmla="val 28571"/>
            </a:avLst>
          </a:prstGeom>
          <a:solidFill>
            <a:srgbClr val="A9E648"/>
          </a:solidFill>
          <a:ln/>
        </p:spPr>
      </p:sp>
      <p:sp>
        <p:nvSpPr>
          <p:cNvPr id="14" name="Text 1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5" name="Text 12"/>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130</a:t>
            </a:r>
            <a:endParaRPr lang="en-US" sz="1050"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7 / 7 · Verilenler ve istenen</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Eğik düzlemde yukarı fırlatılan blok</a:t>
            </a:r>
            <a:endParaRPr lang="en-US" sz="1450" dirty="0"/>
          </a:p>
        </p:txBody>
      </p:sp>
      <p:sp>
        <p:nvSpPr>
          <p:cNvPr id="8" name="Shape 6"/>
          <p:cNvSpPr/>
          <p:nvPr/>
        </p:nvSpPr>
        <p:spPr>
          <a:xfrm>
            <a:off x="640080" y="1645920"/>
            <a:ext cx="10911535" cy="1764792"/>
          </a:xfrm>
          <a:prstGeom prst="roundRect">
            <a:avLst>
              <a:gd name="adj" fmla="val 8290"/>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810512"/>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121408"/>
            <a:ext cx="10271455" cy="1216152"/>
          </a:xfrm>
          <a:prstGeom prst="rect">
            <a:avLst/>
          </a:prstGeom>
          <a:noFill/>
          <a:ln/>
        </p:spPr>
        <p:txBody>
          <a:bodyPr wrap="square" lIns="0" tIns="0" rIns="0" bIns="0" rtlCol="0" anchor="t"/>
          <a:lstStyle/>
          <a:p>
            <a:pPr indent="0" marL="0">
              <a:lnSpc>
                <a:spcPct val="118000"/>
              </a:lnSpc>
              <a:buNone/>
            </a:pPr>
            <a:r>
              <a:rPr lang="en-US" sz="2000" dirty="0">
                <a:solidFill>
                  <a:srgbClr val="0E1426"/>
                </a:solidFill>
                <a:latin typeface="Calibri" pitchFamily="34" charset="0"/>
                <a:ea typeface="Calibri" pitchFamily="34" charset="-122"/>
                <a:cs typeface="Calibri" pitchFamily="34" charset="-120"/>
              </a:rPr>
              <a:t>37°'lik eğik düzlemin altından bir blok, eğim boyunca yukarı 10 m/s hızla fırlatılıyor (μ</a:t>
            </a:r>
            <a:pPr indent="0" marL="0">
              <a:lnSpc>
                <a:spcPct val="118000"/>
              </a:lnSpc>
              <a:buNone/>
            </a:pPr>
            <a:r>
              <a:rPr lang="en-US" sz="2000" baseline="-40000" dirty="0">
                <a:solidFill>
                  <a:srgbClr val="0E1426"/>
                </a:solidFill>
                <a:latin typeface="Calibri" pitchFamily="34" charset="0"/>
                <a:ea typeface="Calibri" pitchFamily="34" charset="-122"/>
                <a:cs typeface="Calibri" pitchFamily="34" charset="-120"/>
              </a:rPr>
              <a:t>s</a:t>
            </a:r>
            <a:pPr indent="0" marL="0">
              <a:lnSpc>
                <a:spcPct val="118000"/>
              </a:lnSpc>
              <a:buNone/>
            </a:pPr>
            <a:r>
              <a:rPr lang="en-US" sz="2000" dirty="0">
                <a:solidFill>
                  <a:srgbClr val="0E1426"/>
                </a:solidFill>
                <a:latin typeface="Calibri" pitchFamily="34" charset="0"/>
                <a:ea typeface="Calibri" pitchFamily="34" charset="-122"/>
                <a:cs typeface="Calibri" pitchFamily="34" charset="-120"/>
              </a:rPr>
              <a:t> = 0,7 · μ</a:t>
            </a:r>
            <a:pPr indent="0" marL="0">
              <a:lnSpc>
                <a:spcPct val="118000"/>
              </a:lnSpc>
              <a:buNone/>
            </a:pPr>
            <a:r>
              <a:rPr lang="en-US" sz="2000" baseline="-40000" dirty="0">
                <a:solidFill>
                  <a:srgbClr val="0E1426"/>
                </a:solidFill>
                <a:latin typeface="Calibri" pitchFamily="34" charset="0"/>
                <a:ea typeface="Calibri" pitchFamily="34" charset="-122"/>
                <a:cs typeface="Calibri" pitchFamily="34" charset="-120"/>
              </a:rPr>
              <a:t>k</a:t>
            </a:r>
            <a:pPr indent="0" marL="0">
              <a:lnSpc>
                <a:spcPct val="118000"/>
              </a:lnSpc>
              <a:buNone/>
            </a:pPr>
            <a:r>
              <a:rPr lang="en-US" sz="2000" dirty="0">
                <a:solidFill>
                  <a:srgbClr val="0E1426"/>
                </a:solidFill>
                <a:latin typeface="Calibri" pitchFamily="34" charset="0"/>
                <a:ea typeface="Calibri" pitchFamily="34" charset="-122"/>
                <a:cs typeface="Calibri" pitchFamily="34" charset="-120"/>
              </a:rPr>
              <a:t> = 0,5). (a) Blok eğim boyunca kaç metre çıkar? (b) Tepede kalır mı? (c) Kalmıyorsa başlangıç noktasına hangi süratle döner?</a:t>
            </a:r>
            <a:endParaRPr lang="en-US" sz="2000" dirty="0"/>
          </a:p>
        </p:txBody>
      </p:sp>
      <p:sp>
        <p:nvSpPr>
          <p:cNvPr id="11" name="Shape 9"/>
          <p:cNvSpPr/>
          <p:nvPr/>
        </p:nvSpPr>
        <p:spPr>
          <a:xfrm>
            <a:off x="640080" y="3611880"/>
            <a:ext cx="5318608" cy="2532888"/>
          </a:xfrm>
          <a:prstGeom prst="roundRect">
            <a:avLst>
              <a:gd name="adj" fmla="val 5776"/>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658368" y="3776472"/>
            <a:ext cx="54864" cy="2203704"/>
          </a:xfrm>
          <a:prstGeom prst="rect">
            <a:avLst/>
          </a:prstGeom>
          <a:solidFill>
            <a:srgbClr val="2957D4"/>
          </a:solidFill>
          <a:ln/>
        </p:spPr>
      </p:sp>
      <p:sp>
        <p:nvSpPr>
          <p:cNvPr id="13" name="Text 11"/>
          <p:cNvSpPr txBox="1"/>
          <p:nvPr/>
        </p:nvSpPr>
        <p:spPr>
          <a:xfrm>
            <a:off x="914400" y="3758184"/>
            <a:ext cx="4861408" cy="256032"/>
          </a:xfrm>
          <a:prstGeom prst="rect">
            <a:avLst/>
          </a:prstGeom>
          <a:noFill/>
          <a:ln/>
        </p:spPr>
        <p:txBody>
          <a:bodyPr wrap="square" lIns="0" tIns="0" rIns="0" bIns="0" rtlCol="0" anchor="ctr"/>
          <a:lstStyle/>
          <a:p>
            <a:pPr indent="0" marL="0">
              <a:buNone/>
            </a:pPr>
            <a:r>
              <a:rPr lang="en-US" sz="1050" b="1" spc="200" kern="0" dirty="0">
                <a:solidFill>
                  <a:srgbClr val="2957D4"/>
                </a:solidFill>
                <a:latin typeface="Calibri" pitchFamily="34" charset="0"/>
                <a:ea typeface="Calibri" pitchFamily="34" charset="-122"/>
                <a:cs typeface="Calibri" pitchFamily="34" charset="-120"/>
              </a:rPr>
              <a:t>VERİLENLER</a:t>
            </a:r>
            <a:endParaRPr lang="en-US" sz="1050" dirty="0"/>
          </a:p>
        </p:txBody>
      </p:sp>
      <p:sp>
        <p:nvSpPr>
          <p:cNvPr id="14" name="Text 12"/>
          <p:cNvSpPr txBox="1"/>
          <p:nvPr/>
        </p:nvSpPr>
        <p:spPr>
          <a:xfrm>
            <a:off x="950976" y="4087368"/>
            <a:ext cx="4769968" cy="1929384"/>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250" dirty="0">
                <a:solidFill>
                  <a:srgbClr val="0E1426"/>
                </a:solidFill>
                <a:latin typeface="Calibri" pitchFamily="34" charset="0"/>
                <a:ea typeface="Calibri" pitchFamily="34" charset="-122"/>
                <a:cs typeface="Calibri" pitchFamily="34" charset="-120"/>
              </a:rPr>
              <a:t>θ = 37°</a:t>
            </a:r>
            <a:endParaRPr lang="en-US" sz="1250" dirty="0"/>
          </a:p>
          <a:p>
            <a:pPr marL="203200" indent="-203200">
              <a:lnSpc>
                <a:spcPct val="110000"/>
              </a:lnSpc>
              <a:spcAft>
                <a:spcPts val="500"/>
              </a:spcAft>
              <a:buSzPct val="100000"/>
              <a:buChar char="▪"/>
            </a:pPr>
            <a:r>
              <a:rPr lang="en-US" sz="1250" dirty="0">
                <a:solidFill>
                  <a:srgbClr val="0E1426"/>
                </a:solidFill>
                <a:latin typeface="Calibri" pitchFamily="34" charset="0"/>
                <a:ea typeface="Calibri" pitchFamily="34" charset="-122"/>
                <a:cs typeface="Calibri" pitchFamily="34" charset="-120"/>
              </a:rPr>
              <a:t>v₀ = 10 m/s (eğim boyunca yukarı)</a:t>
            </a:r>
            <a:endParaRPr lang="en-US" sz="1250" dirty="0"/>
          </a:p>
          <a:p>
            <a:pPr marL="203200" indent="-203200">
              <a:lnSpc>
                <a:spcPct val="110000"/>
              </a:lnSpc>
              <a:spcAft>
                <a:spcPts val="500"/>
              </a:spcAft>
              <a:buSzPct val="100000"/>
              <a:buChar char="▪"/>
            </a:pPr>
            <a:r>
              <a:rPr lang="en-US" sz="1250" dirty="0">
                <a:solidFill>
                  <a:srgbClr val="0E1426"/>
                </a:solidFill>
                <a:latin typeface="Calibri" pitchFamily="34" charset="0"/>
                <a:ea typeface="Calibri" pitchFamily="34" charset="-122"/>
                <a:cs typeface="Calibri" pitchFamily="34" charset="-120"/>
              </a:rPr>
              <a:t>μs = 0,7</a:t>
            </a:r>
            <a:endParaRPr lang="en-US" sz="1250" dirty="0"/>
          </a:p>
          <a:p>
            <a:pPr marL="203200" indent="-203200">
              <a:lnSpc>
                <a:spcPct val="110000"/>
              </a:lnSpc>
              <a:spcAft>
                <a:spcPts val="500"/>
              </a:spcAft>
              <a:buSzPct val="100000"/>
              <a:buChar char="▪"/>
            </a:pPr>
            <a:r>
              <a:rPr lang="en-US" sz="1250" dirty="0">
                <a:solidFill>
                  <a:srgbClr val="0E1426"/>
                </a:solidFill>
                <a:latin typeface="Calibri" pitchFamily="34" charset="0"/>
                <a:ea typeface="Calibri" pitchFamily="34" charset="-122"/>
                <a:cs typeface="Calibri" pitchFamily="34" charset="-120"/>
              </a:rPr>
              <a:t>μk = 0,5</a:t>
            </a:r>
            <a:endParaRPr lang="en-US" sz="1250" dirty="0"/>
          </a:p>
          <a:p>
            <a:pPr marL="203200" indent="-203200">
              <a:lnSpc>
                <a:spcPct val="110000"/>
              </a:lnSpc>
              <a:spcAft>
                <a:spcPts val="500"/>
              </a:spcAft>
              <a:buSzPct val="100000"/>
              <a:buChar char="▪"/>
            </a:pPr>
            <a:r>
              <a:rPr lang="en-US" sz="1250" dirty="0">
                <a:solidFill>
                  <a:srgbClr val="0E1426"/>
                </a:solidFill>
                <a:latin typeface="Calibri" pitchFamily="34" charset="0"/>
                <a:ea typeface="Calibri" pitchFamily="34" charset="-122"/>
                <a:cs typeface="Calibri" pitchFamily="34" charset="-120"/>
              </a:rPr>
              <a:t>sin37° = 0,6</a:t>
            </a:r>
            <a:endParaRPr lang="en-US" sz="1250" dirty="0"/>
          </a:p>
          <a:p>
            <a:pPr marL="203200" indent="-203200">
              <a:lnSpc>
                <a:spcPct val="110000"/>
              </a:lnSpc>
              <a:spcAft>
                <a:spcPts val="500"/>
              </a:spcAft>
              <a:buSzPct val="100000"/>
              <a:buChar char="▪"/>
            </a:pPr>
            <a:r>
              <a:rPr lang="en-US" sz="1250" dirty="0">
                <a:solidFill>
                  <a:srgbClr val="0E1426"/>
                </a:solidFill>
                <a:latin typeface="Calibri" pitchFamily="34" charset="0"/>
                <a:ea typeface="Calibri" pitchFamily="34" charset="-122"/>
                <a:cs typeface="Calibri" pitchFamily="34" charset="-120"/>
              </a:rPr>
              <a:t>cos37° = 0,8</a:t>
            </a:r>
            <a:endParaRPr lang="en-US" sz="1250" dirty="0"/>
          </a:p>
          <a:p>
            <a:pPr marL="203200" indent="-203200">
              <a:lnSpc>
                <a:spcPct val="110000"/>
              </a:lnSpc>
              <a:spcAft>
                <a:spcPts val="500"/>
              </a:spcAft>
              <a:buSzPct val="100000"/>
              <a:buChar char="▪"/>
            </a:pPr>
            <a:r>
              <a:rPr lang="en-US" sz="1250" dirty="0">
                <a:solidFill>
                  <a:srgbClr val="0E1426"/>
                </a:solidFill>
                <a:latin typeface="Calibri" pitchFamily="34" charset="0"/>
                <a:ea typeface="Calibri" pitchFamily="34" charset="-122"/>
                <a:cs typeface="Calibri" pitchFamily="34" charset="-120"/>
              </a:rPr>
              <a:t>g = 10 m/s²</a:t>
            </a:r>
            <a:endParaRPr lang="en-US" sz="1250" dirty="0"/>
          </a:p>
        </p:txBody>
      </p:sp>
      <p:sp>
        <p:nvSpPr>
          <p:cNvPr id="15" name="Shape 13"/>
          <p:cNvSpPr/>
          <p:nvPr/>
        </p:nvSpPr>
        <p:spPr>
          <a:xfrm>
            <a:off x="6233008" y="3611880"/>
            <a:ext cx="5318608" cy="2532888"/>
          </a:xfrm>
          <a:prstGeom prst="roundRect">
            <a:avLst>
              <a:gd name="adj" fmla="val 5776"/>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6251296" y="3776472"/>
            <a:ext cx="54864" cy="2203704"/>
          </a:xfrm>
          <a:prstGeom prst="rect">
            <a:avLst/>
          </a:prstGeom>
          <a:solidFill>
            <a:srgbClr val="5F4BD8"/>
          </a:solidFill>
          <a:ln/>
        </p:spPr>
      </p:sp>
      <p:sp>
        <p:nvSpPr>
          <p:cNvPr id="17" name="Text 15"/>
          <p:cNvSpPr txBox="1"/>
          <p:nvPr/>
        </p:nvSpPr>
        <p:spPr>
          <a:xfrm>
            <a:off x="6507328" y="3758184"/>
            <a:ext cx="4861408" cy="256032"/>
          </a:xfrm>
          <a:prstGeom prst="rect">
            <a:avLst/>
          </a:prstGeom>
          <a:noFill/>
          <a:ln/>
        </p:spPr>
        <p:txBody>
          <a:bodyPr wrap="square" lIns="0" tIns="0" rIns="0" bIns="0" rtlCol="0" anchor="ctr"/>
          <a:lstStyle/>
          <a:p>
            <a:pPr indent="0" marL="0">
              <a:buNone/>
            </a:pPr>
            <a:r>
              <a:rPr lang="en-US" sz="1050" b="1" spc="200" kern="0" dirty="0">
                <a:solidFill>
                  <a:srgbClr val="5F4BD8"/>
                </a:solidFill>
                <a:latin typeface="Calibri" pitchFamily="34" charset="0"/>
                <a:ea typeface="Calibri" pitchFamily="34" charset="-122"/>
                <a:cs typeface="Calibri" pitchFamily="34" charset="-120"/>
              </a:rPr>
              <a:t>İSTENEN</a:t>
            </a:r>
            <a:endParaRPr lang="en-US" sz="1050" dirty="0"/>
          </a:p>
        </p:txBody>
      </p:sp>
      <p:sp>
        <p:nvSpPr>
          <p:cNvPr id="18" name="Text 16"/>
          <p:cNvSpPr txBox="1"/>
          <p:nvPr/>
        </p:nvSpPr>
        <p:spPr>
          <a:xfrm>
            <a:off x="6543904" y="4087368"/>
            <a:ext cx="4769968" cy="1929384"/>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(a) eğim boyunca çıkış mesafesi d</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(b) blok tepede kalır mı</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(c) başlangıç noktasına dönüş sürati v</a:t>
            </a:r>
            <a:endParaRPr lang="en-US" sz="1800" dirty="0"/>
          </a:p>
        </p:txBody>
      </p:sp>
      <p:sp>
        <p:nvSpPr>
          <p:cNvPr id="19" name="Shape 17"/>
          <p:cNvSpPr/>
          <p:nvPr/>
        </p:nvSpPr>
        <p:spPr>
          <a:xfrm>
            <a:off x="640080" y="6382512"/>
            <a:ext cx="128016" cy="128016"/>
          </a:xfrm>
          <a:prstGeom prst="roundRect">
            <a:avLst>
              <a:gd name="adj" fmla="val 28571"/>
            </a:avLst>
          </a:prstGeom>
          <a:solidFill>
            <a:srgbClr val="A9E648"/>
          </a:solidFill>
          <a:ln/>
        </p:spPr>
      </p:sp>
      <p:sp>
        <p:nvSpPr>
          <p:cNvPr id="20"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21"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131</a:t>
            </a:r>
            <a:endParaRPr lang="en-US" sz="1050"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7 · Çözüm 1 / 2</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Eğik düzlemde yukarı fırlatılan blok</a:t>
            </a:r>
            <a:endParaRPr lang="en-US" sz="1450" dirty="0"/>
          </a:p>
        </p:txBody>
      </p:sp>
      <p:sp>
        <p:nvSpPr>
          <p:cNvPr id="8" name="Shape 6"/>
          <p:cNvSpPr/>
          <p:nvPr/>
        </p:nvSpPr>
        <p:spPr>
          <a:xfrm>
            <a:off x="640080" y="1645920"/>
            <a:ext cx="10911535" cy="1619098"/>
          </a:xfrm>
          <a:prstGeom prst="roundRect">
            <a:avLst>
              <a:gd name="adj" fmla="val 90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2245157"/>
            <a:ext cx="420624" cy="420624"/>
          </a:xfrm>
          <a:prstGeom prst="roundRect">
            <a:avLst>
              <a:gd name="adj" fmla="val 26000"/>
            </a:avLst>
          </a:prstGeom>
          <a:solidFill>
            <a:srgbClr val="A56209"/>
          </a:solidFill>
          <a:ln/>
        </p:spPr>
      </p:sp>
      <p:sp>
        <p:nvSpPr>
          <p:cNvPr id="10" name="Text 8"/>
          <p:cNvSpPr txBox="1"/>
          <p:nvPr/>
        </p:nvSpPr>
        <p:spPr>
          <a:xfrm>
            <a:off x="914400" y="2245157"/>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1" name="Text 9"/>
          <p:cNvSpPr txBox="1"/>
          <p:nvPr/>
        </p:nvSpPr>
        <p:spPr>
          <a:xfrm>
            <a:off x="1508760" y="1700784"/>
            <a:ext cx="9859975" cy="1509370"/>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Çıkarken sürtünme de ağırlığın paralel bileşeni de aşağı yönlüdür: a = g·(sinθ + μ</a:t>
            </a:r>
            <a:pPr indent="0" marL="0">
              <a:lnSpc>
                <a:spcPct val="112000"/>
              </a:lnSpc>
              <a:buNone/>
            </a:pPr>
            <a:r>
              <a:rPr lang="en-US" sz="2000" baseline="-40000" dirty="0">
                <a:solidFill>
                  <a:srgbClr val="0E1426"/>
                </a:solidFill>
                <a:latin typeface="Calibri" pitchFamily="34" charset="0"/>
                <a:ea typeface="Calibri" pitchFamily="34" charset="-122"/>
                <a:cs typeface="Calibri" pitchFamily="34" charset="-120"/>
              </a:rPr>
              <a:t>k</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·cosθ) = 10·(0,6 + 0,4) = 10 m/s² (yavaşlatıcı)</a:t>
            </a:r>
            <a:endParaRPr lang="en-US" sz="2000" dirty="0"/>
          </a:p>
        </p:txBody>
      </p:sp>
      <p:sp>
        <p:nvSpPr>
          <p:cNvPr id="12" name="Shape 10"/>
          <p:cNvSpPr/>
          <p:nvPr/>
        </p:nvSpPr>
        <p:spPr>
          <a:xfrm>
            <a:off x="640080" y="342961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755746"/>
            <a:ext cx="420624" cy="420624"/>
          </a:xfrm>
          <a:prstGeom prst="roundRect">
            <a:avLst>
              <a:gd name="adj" fmla="val 26000"/>
            </a:avLst>
          </a:prstGeom>
          <a:solidFill>
            <a:srgbClr val="A56209"/>
          </a:solidFill>
          <a:ln/>
        </p:spPr>
      </p:sp>
      <p:sp>
        <p:nvSpPr>
          <p:cNvPr id="14" name="Text 12"/>
          <p:cNvSpPr txBox="1"/>
          <p:nvPr/>
        </p:nvSpPr>
        <p:spPr>
          <a:xfrm>
            <a:off x="914400" y="375574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1508760" y="3484474"/>
            <a:ext cx="9859975" cy="963168"/>
          </a:xfrm>
          <a:prstGeom prst="rect">
            <a:avLst/>
          </a:prstGeom>
          <a:noFill/>
          <a:ln/>
        </p:spPr>
        <p:txBody>
          <a:bodyPr wrap="square" lIns="0" tIns="0" rIns="0" bIns="0" rtlCol="0" anchor="ctr"/>
          <a:lstStyle/>
          <a:p>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(a)</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d = v₀² / (2a) = 100 / 20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5 m</a:t>
            </a:r>
            <a:endParaRPr lang="en-US" sz="2000" dirty="0"/>
          </a:p>
        </p:txBody>
      </p:sp>
      <p:sp>
        <p:nvSpPr>
          <p:cNvPr id="16" name="Shape 14"/>
          <p:cNvSpPr/>
          <p:nvPr/>
        </p:nvSpPr>
        <p:spPr>
          <a:xfrm>
            <a:off x="640080" y="4667098"/>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7" name="Shape 15"/>
          <p:cNvSpPr/>
          <p:nvPr/>
        </p:nvSpPr>
        <p:spPr>
          <a:xfrm>
            <a:off x="914400" y="4993234"/>
            <a:ext cx="420624" cy="420624"/>
          </a:xfrm>
          <a:prstGeom prst="roundRect">
            <a:avLst>
              <a:gd name="adj" fmla="val 26000"/>
            </a:avLst>
          </a:prstGeom>
          <a:solidFill>
            <a:srgbClr val="A56209"/>
          </a:solidFill>
          <a:ln/>
        </p:spPr>
      </p:sp>
      <p:sp>
        <p:nvSpPr>
          <p:cNvPr id="18" name="Text 16"/>
          <p:cNvSpPr txBox="1"/>
          <p:nvPr/>
        </p:nvSpPr>
        <p:spPr>
          <a:xfrm>
            <a:off x="914400" y="499323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9" name="Text 17"/>
          <p:cNvSpPr txBox="1"/>
          <p:nvPr/>
        </p:nvSpPr>
        <p:spPr>
          <a:xfrm>
            <a:off x="1508760" y="4721962"/>
            <a:ext cx="9859975" cy="963168"/>
          </a:xfrm>
          <a:prstGeom prst="rect">
            <a:avLst/>
          </a:prstGeom>
          <a:noFill/>
          <a:ln/>
        </p:spPr>
        <p:txBody>
          <a:bodyPr wrap="square" lIns="0" tIns="0" rIns="0" bIns="0" rtlCol="0" anchor="ctr"/>
          <a:lstStyle/>
          <a:p>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(b)</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tan37° = 0,75 &gt; μ</a:t>
            </a:r>
            <a:pPr indent="0" marL="0">
              <a:lnSpc>
                <a:spcPct val="112000"/>
              </a:lnSpc>
              <a:buNone/>
            </a:pPr>
            <a:r>
              <a:rPr lang="en-US" sz="2000" baseline="-40000" dirty="0">
                <a:solidFill>
                  <a:srgbClr val="0E1426"/>
                </a:solidFill>
                <a:latin typeface="Calibri" pitchFamily="34" charset="0"/>
                <a:ea typeface="Calibri" pitchFamily="34" charset="-122"/>
                <a:cs typeface="Calibri" pitchFamily="34" charset="-120"/>
              </a:rPr>
              <a:t>s</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 0,7 → statik sürtünme yetmez, blok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geri kayar</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a:t>
            </a:r>
            <a:endParaRPr lang="en-US" sz="2000" dirty="0"/>
          </a:p>
        </p:txBody>
      </p:sp>
      <p:sp>
        <p:nvSpPr>
          <p:cNvPr id="20" name="Shape 18"/>
          <p:cNvSpPr/>
          <p:nvPr/>
        </p:nvSpPr>
        <p:spPr>
          <a:xfrm>
            <a:off x="640080" y="6382512"/>
            <a:ext cx="128016" cy="128016"/>
          </a:xfrm>
          <a:prstGeom prst="roundRect">
            <a:avLst>
              <a:gd name="adj" fmla="val 28571"/>
            </a:avLst>
          </a:prstGeom>
          <a:solidFill>
            <a:srgbClr val="A9E648"/>
          </a:solidFill>
          <a:ln/>
        </p:spPr>
      </p:sp>
      <p:sp>
        <p:nvSpPr>
          <p:cNvPr id="21" name="Text 1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22" name="Text 2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132</a:t>
            </a:r>
            <a:endParaRPr lang="en-US" sz="1050"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7 · Çözüm 2 / 2</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Eğik düzlemde yukarı fırlatılan blok</a:t>
            </a:r>
            <a:endParaRPr lang="en-US" sz="1450" dirty="0"/>
          </a:p>
        </p:txBody>
      </p:sp>
      <p:sp>
        <p:nvSpPr>
          <p:cNvPr id="8" name="Shape 6"/>
          <p:cNvSpPr/>
          <p:nvPr/>
        </p:nvSpPr>
        <p:spPr>
          <a:xfrm>
            <a:off x="640080" y="1645920"/>
            <a:ext cx="10911535" cy="1619098"/>
          </a:xfrm>
          <a:prstGeom prst="roundRect">
            <a:avLst>
              <a:gd name="adj" fmla="val 90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2245157"/>
            <a:ext cx="420624" cy="420624"/>
          </a:xfrm>
          <a:prstGeom prst="roundRect">
            <a:avLst>
              <a:gd name="adj" fmla="val 26000"/>
            </a:avLst>
          </a:prstGeom>
          <a:solidFill>
            <a:srgbClr val="A56209"/>
          </a:solidFill>
          <a:ln/>
        </p:spPr>
      </p:sp>
      <p:sp>
        <p:nvSpPr>
          <p:cNvPr id="10" name="Text 8"/>
          <p:cNvSpPr txBox="1"/>
          <p:nvPr/>
        </p:nvSpPr>
        <p:spPr>
          <a:xfrm>
            <a:off x="914400" y="2245157"/>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1" name="Text 9"/>
          <p:cNvSpPr txBox="1"/>
          <p:nvPr/>
        </p:nvSpPr>
        <p:spPr>
          <a:xfrm>
            <a:off x="1508760" y="1700784"/>
            <a:ext cx="9859975" cy="1509370"/>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İnerken sürtünme yukarı yönlüdür: a = g·(sinθ − μ</a:t>
            </a:r>
            <a:pPr indent="0" marL="0">
              <a:lnSpc>
                <a:spcPct val="112000"/>
              </a:lnSpc>
              <a:buNone/>
            </a:pPr>
            <a:r>
              <a:rPr lang="en-US" sz="2000" baseline="-40000" dirty="0">
                <a:solidFill>
                  <a:srgbClr val="0E1426"/>
                </a:solidFill>
                <a:latin typeface="Calibri" pitchFamily="34" charset="0"/>
                <a:ea typeface="Calibri" pitchFamily="34" charset="-122"/>
                <a:cs typeface="Calibri" pitchFamily="34" charset="-120"/>
              </a:rPr>
              <a:t>k</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·cosθ) = 10·(0,6 − 0,4) = 2 m/s²</a:t>
            </a:r>
            <a:endParaRPr lang="en-US" sz="2000" dirty="0"/>
          </a:p>
        </p:txBody>
      </p:sp>
      <p:sp>
        <p:nvSpPr>
          <p:cNvPr id="12" name="Shape 10"/>
          <p:cNvSpPr/>
          <p:nvPr/>
        </p:nvSpPr>
        <p:spPr>
          <a:xfrm>
            <a:off x="640080" y="342961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755746"/>
            <a:ext cx="420624" cy="420624"/>
          </a:xfrm>
          <a:prstGeom prst="roundRect">
            <a:avLst>
              <a:gd name="adj" fmla="val 26000"/>
            </a:avLst>
          </a:prstGeom>
          <a:solidFill>
            <a:srgbClr val="A56209"/>
          </a:solidFill>
          <a:ln/>
        </p:spPr>
      </p:sp>
      <p:sp>
        <p:nvSpPr>
          <p:cNvPr id="14" name="Text 12"/>
          <p:cNvSpPr txBox="1"/>
          <p:nvPr/>
        </p:nvSpPr>
        <p:spPr>
          <a:xfrm>
            <a:off x="914400" y="375574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15" name="Text 13"/>
          <p:cNvSpPr txBox="1"/>
          <p:nvPr/>
        </p:nvSpPr>
        <p:spPr>
          <a:xfrm>
            <a:off x="1508760" y="3484474"/>
            <a:ext cx="9859975" cy="963168"/>
          </a:xfrm>
          <a:prstGeom prst="rect">
            <a:avLst/>
          </a:prstGeom>
          <a:noFill/>
          <a:ln/>
        </p:spPr>
        <p:txBody>
          <a:bodyPr wrap="square" lIns="0" tIns="0" rIns="0" bIns="0" rtlCol="0" anchor="ctr"/>
          <a:lstStyle/>
          <a:p>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(c)</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v² = 2·a·d = 2 · 2 · 5 = 20 → v = √20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4,5 m/s</a:t>
            </a:r>
            <a:endParaRPr lang="en-US" sz="2000" dirty="0"/>
          </a:p>
        </p:txBody>
      </p:sp>
      <p:sp>
        <p:nvSpPr>
          <p:cNvPr id="16" name="Shape 14"/>
          <p:cNvSpPr/>
          <p:nvPr/>
        </p:nvSpPr>
        <p:spPr>
          <a:xfrm>
            <a:off x="640080" y="5175504"/>
            <a:ext cx="10911535" cy="969264"/>
          </a:xfrm>
          <a:prstGeom prst="roundRect">
            <a:avLst>
              <a:gd name="adj" fmla="val 1509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7" name="Text 15"/>
          <p:cNvSpPr txBox="1"/>
          <p:nvPr/>
        </p:nvSpPr>
        <p:spPr>
          <a:xfrm>
            <a:off x="960120" y="5303520"/>
            <a:ext cx="1828800" cy="219456"/>
          </a:xfrm>
          <a:prstGeom prst="rect">
            <a:avLst/>
          </a:prstGeom>
          <a:noFill/>
          <a:ln/>
        </p:spPr>
        <p:txBody>
          <a:bodyPr wrap="square" lIns="0" tIns="0" rIns="0" bIns="0" rtlCol="0" anchor="ctr"/>
          <a:lstStyle/>
          <a:p>
            <a:pPr indent="0" marL="0">
              <a:buNone/>
            </a:pPr>
            <a:r>
              <a:rPr lang="en-US" sz="1000" b="1" spc="200" kern="0" dirty="0">
                <a:solidFill>
                  <a:srgbClr val="7B849E"/>
                </a:solidFill>
                <a:latin typeface="Calibri" pitchFamily="34" charset="0"/>
                <a:ea typeface="Calibri" pitchFamily="34" charset="-122"/>
                <a:cs typeface="Calibri" pitchFamily="34" charset="-120"/>
              </a:rPr>
              <a:t>NOT</a:t>
            </a:r>
            <a:endParaRPr lang="en-US" sz="1000" dirty="0"/>
          </a:p>
        </p:txBody>
      </p:sp>
      <p:sp>
        <p:nvSpPr>
          <p:cNvPr id="18" name="Text 16"/>
          <p:cNvSpPr txBox="1"/>
          <p:nvPr/>
        </p:nvSpPr>
        <p:spPr>
          <a:xfrm>
            <a:off x="960120" y="5541264"/>
            <a:ext cx="10271455" cy="512064"/>
          </a:xfrm>
          <a:prstGeom prst="rect">
            <a:avLst/>
          </a:prstGeom>
          <a:noFill/>
          <a:ln/>
        </p:spPr>
        <p:txBody>
          <a:bodyPr wrap="square" lIns="0" tIns="0" rIns="0" bIns="0" rtlCol="0" anchor="t"/>
          <a:lstStyle/>
          <a:p>
            <a:pPr indent="0" marL="0">
              <a:lnSpc>
                <a:spcPct val="112000"/>
              </a:lnSpc>
              <a:buNone/>
            </a:pPr>
            <a:r>
              <a:rPr lang="en-US" sz="1500" dirty="0">
                <a:solidFill>
                  <a:srgbClr val="4A5470"/>
                </a:solidFill>
                <a:latin typeface="Calibri" pitchFamily="34" charset="0"/>
                <a:ea typeface="Calibri" pitchFamily="34" charset="-122"/>
                <a:cs typeface="Calibri" pitchFamily="34" charset="-120"/>
              </a:rPr>
              <a:t>Serbest düşmedeki simetri burada yoktur: blok 1 s'de çıkar, ama √5 ≈ 2,2 s'de iner ve fırlatıldığı hızın yarısından azıyla döner. Aradaki enerji sürtünmeyle ısıya dönüşmüştür.</a:t>
            </a:r>
            <a:endParaRPr lang="en-US" sz="1500" dirty="0"/>
          </a:p>
        </p:txBody>
      </p:sp>
      <p:sp>
        <p:nvSpPr>
          <p:cNvPr id="19" name="Shape 17"/>
          <p:cNvSpPr/>
          <p:nvPr/>
        </p:nvSpPr>
        <p:spPr>
          <a:xfrm>
            <a:off x="640080" y="6382512"/>
            <a:ext cx="128016" cy="128016"/>
          </a:xfrm>
          <a:prstGeom prst="roundRect">
            <a:avLst>
              <a:gd name="adj" fmla="val 28571"/>
            </a:avLst>
          </a:prstGeom>
          <a:solidFill>
            <a:srgbClr val="A9E648"/>
          </a:solidFill>
          <a:ln/>
        </p:spPr>
      </p:sp>
      <p:sp>
        <p:nvSpPr>
          <p:cNvPr id="20"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21"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133</a:t>
            </a:r>
            <a:endParaRPr lang="en-US" sz="1050"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bg>
      <p:bgPr>
        <a:solidFill>
          <a:srgbClr val="FEF8E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822960" y="2011680"/>
            <a:ext cx="1554480" cy="1554480"/>
          </a:xfrm>
          <a:prstGeom prst="ellipse">
            <a:avLst/>
          </a:prstGeom>
          <a:solidFill>
            <a:srgbClr val="A56209"/>
          </a:solidFill>
          <a:ln/>
          <a:effectLst>
            <a:outerShdw sx="100000" sy="100000" kx="0" ky="0" algn="bl" rotWithShape="0" blurRad="177800" dist="50800" dir="5400000">
              <a:srgbClr val="A56209">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a:t>
            </a:r>
            <a:endParaRPr lang="en-US" sz="6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A56209"/>
                </a:solidFill>
                <a:latin typeface="Calibri" pitchFamily="34" charset="0"/>
                <a:ea typeface="Calibri" pitchFamily="34" charset="-122"/>
                <a:cs typeface="Calibri" pitchFamily="34" charset="-120"/>
              </a:rPr>
              <a:t>SIRA SENDE 1 / 5</a:t>
            </a:r>
            <a:endParaRPr lang="en-US" sz="1300" dirty="0"/>
          </a:p>
        </p:txBody>
      </p:sp>
      <p:sp>
        <p:nvSpPr>
          <p:cNvPr id="6" name="Shape 4"/>
          <p:cNvSpPr/>
          <p:nvPr/>
        </p:nvSpPr>
        <p:spPr>
          <a:xfrm>
            <a:off x="10408615" y="1371600"/>
            <a:ext cx="1143000" cy="384048"/>
          </a:xfrm>
          <a:prstGeom prst="roundRect">
            <a:avLst>
              <a:gd name="adj" fmla="val 50000"/>
            </a:avLst>
          </a:prstGeom>
          <a:solidFill>
            <a:srgbClr val="EAF7DC"/>
          </a:solidFill>
          <a:ln w="9525">
            <a:solidFill>
              <a:srgbClr val="3C8C21"/>
            </a:solidFill>
            <a:prstDash val="solid"/>
          </a:ln>
        </p:spPr>
      </p:sp>
      <p:sp>
        <p:nvSpPr>
          <p:cNvPr id="7" name="Text 5"/>
          <p:cNvSpPr txBox="1"/>
          <p:nvPr/>
        </p:nvSpPr>
        <p:spPr>
          <a:xfrm>
            <a:off x="10408615" y="1371600"/>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8" name="Text 6"/>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Yatay zeminde kayan 10 kg'lık bir kutu için μk = 0,3'tür. Kutuya etki eden kinetik sürtünme kuvveti kaç N'dur?</a:t>
            </a:r>
            <a:endParaRPr lang="en-US" sz="3200" dirty="0"/>
          </a:p>
        </p:txBody>
      </p:sp>
      <p:sp>
        <p:nvSpPr>
          <p:cNvPr id="9" name="Text 7"/>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Önce kendin çöz, sonra cevaba bak. Her soruda önce verilenleri ve isteneni yaz. (g = 10 m/s², sin37° = 0,6 · cos37° = 0,8)</a:t>
            </a:r>
            <a:pPr indent="0" marL="0">
              <a:buNone/>
            </a:pPr>
            <a:r>
              <a:rPr lang="en-US" sz="1200" b="1" dirty="0">
                <a:solidFill>
                  <a:srgbClr val="A56209"/>
                </a:solidFill>
                <a:latin typeface="Calibri" pitchFamily="34" charset="0"/>
                <a:ea typeface="Calibri" pitchFamily="34" charset="-122"/>
                <a:cs typeface="Calibri" pitchFamily="34" charset="-120"/>
              </a:rPr>
              <a:t>     Cevap bir sonraki slaytta</a:t>
            </a:r>
            <a:endParaRPr lang="en-US" sz="1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134</a:t>
            </a:r>
            <a:endParaRPr lang="en-US" sz="1050"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640080" y="457200"/>
            <a:ext cx="493776" cy="493776"/>
          </a:xfrm>
          <a:prstGeom prst="roundRect">
            <a:avLst>
              <a:gd name="adj" fmla="val 25926"/>
            </a:avLst>
          </a:prstGeom>
          <a:solidFill>
            <a:srgbClr val="A56209"/>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Yatay zeminde kayan 10 kg'lık bir kutu için μk = 0,3'tür. Kutuya etki eden kinetik sürtünme kuvveti kaç N'dur?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A56209"/>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Cevap:</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N = m · g = 10 · 10 = 100 N. f</a:t>
            </a:r>
            <a:pPr indent="0" marL="0">
              <a:lnSpc>
                <a:spcPct val="125000"/>
              </a:lnSpc>
              <a:buNone/>
            </a:pPr>
            <a:r>
              <a:rPr lang="en-US" sz="2400" baseline="-40000" dirty="0">
                <a:solidFill>
                  <a:srgbClr val="0E1426"/>
                </a:solidFill>
                <a:latin typeface="Calibri" pitchFamily="34" charset="0"/>
                <a:ea typeface="Calibri" pitchFamily="34" charset="-122"/>
                <a:cs typeface="Calibri" pitchFamily="34" charset="-120"/>
              </a:rPr>
              <a:t>k</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 μ</a:t>
            </a:r>
            <a:pPr indent="0" marL="0">
              <a:lnSpc>
                <a:spcPct val="125000"/>
              </a:lnSpc>
              <a:buNone/>
            </a:pPr>
            <a:r>
              <a:rPr lang="en-US" sz="2400" baseline="-40000" dirty="0">
                <a:solidFill>
                  <a:srgbClr val="0E1426"/>
                </a:solidFill>
                <a:latin typeface="Calibri" pitchFamily="34" charset="0"/>
                <a:ea typeface="Calibri" pitchFamily="34" charset="-122"/>
                <a:cs typeface="Calibri" pitchFamily="34" charset="-120"/>
              </a:rPr>
              <a:t>k</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 N = 0,3 · 100 = </a:t>
            </a:r>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30 N</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135</a:t>
            </a:r>
            <a:endParaRPr lang="en-US" sz="1050"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bg>
      <p:bgPr>
        <a:solidFill>
          <a:srgbClr val="FEF8E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822960" y="2011680"/>
            <a:ext cx="1554480" cy="1554480"/>
          </a:xfrm>
          <a:prstGeom prst="ellipse">
            <a:avLst/>
          </a:prstGeom>
          <a:solidFill>
            <a:srgbClr val="A56209"/>
          </a:solidFill>
          <a:ln/>
          <a:effectLst>
            <a:outerShdw sx="100000" sy="100000" kx="0" ky="0" algn="bl" rotWithShape="0" blurRad="177800" dist="50800" dir="5400000">
              <a:srgbClr val="A56209">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a:t>
            </a:r>
            <a:endParaRPr lang="en-US" sz="6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A56209"/>
                </a:solidFill>
                <a:latin typeface="Calibri" pitchFamily="34" charset="0"/>
                <a:ea typeface="Calibri" pitchFamily="34" charset="-122"/>
                <a:cs typeface="Calibri" pitchFamily="34" charset="-120"/>
              </a:rPr>
              <a:t>SIRA SENDE 2 / 5</a:t>
            </a:r>
            <a:endParaRPr lang="en-US" sz="1300" dirty="0"/>
          </a:p>
        </p:txBody>
      </p:sp>
      <p:sp>
        <p:nvSpPr>
          <p:cNvPr id="6" name="Shape 4"/>
          <p:cNvSpPr/>
          <p:nvPr/>
        </p:nvSpPr>
        <p:spPr>
          <a:xfrm>
            <a:off x="10408615" y="1371600"/>
            <a:ext cx="1143000" cy="384048"/>
          </a:xfrm>
          <a:prstGeom prst="roundRect">
            <a:avLst>
              <a:gd name="adj" fmla="val 50000"/>
            </a:avLst>
          </a:prstGeom>
          <a:solidFill>
            <a:srgbClr val="EAF7DC"/>
          </a:solidFill>
          <a:ln w="9525">
            <a:solidFill>
              <a:srgbClr val="3C8C21"/>
            </a:solidFill>
            <a:prstDash val="solid"/>
          </a:ln>
        </p:spPr>
      </p:sp>
      <p:sp>
        <p:nvSpPr>
          <p:cNvPr id="7" name="Text 5"/>
          <p:cNvSpPr txBox="1"/>
          <p:nvPr/>
        </p:nvSpPr>
        <p:spPr>
          <a:xfrm>
            <a:off x="10408615" y="1371600"/>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8" name="Text 6"/>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Yatay zeminde duran 30 kg'lık bir sandık için μs = 0,4'tür. Sandığı kıpırdatmak için en az kaç N'luk yatay kuvvet gerekir?</a:t>
            </a:r>
            <a:endParaRPr lang="en-US" sz="3200" dirty="0"/>
          </a:p>
        </p:txBody>
      </p:sp>
      <p:sp>
        <p:nvSpPr>
          <p:cNvPr id="9" name="Text 7"/>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Önce kendin çöz, sonra cevaba bak. Her soruda önce verilenleri ve isteneni yaz. (g = 10 m/s², sin37° = 0,6 · cos37° = 0,8)</a:t>
            </a:r>
            <a:pPr indent="0" marL="0">
              <a:buNone/>
            </a:pPr>
            <a:r>
              <a:rPr lang="en-US" sz="1200" b="1" dirty="0">
                <a:solidFill>
                  <a:srgbClr val="A56209"/>
                </a:solidFill>
                <a:latin typeface="Calibri" pitchFamily="34" charset="0"/>
                <a:ea typeface="Calibri" pitchFamily="34" charset="-122"/>
                <a:cs typeface="Calibri" pitchFamily="34" charset="-120"/>
              </a:rPr>
              <a:t>     Cevap bir sonraki slaytta</a:t>
            </a:r>
            <a:endParaRPr lang="en-US" sz="1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136</a:t>
            </a:r>
            <a:endParaRPr lang="en-US" sz="1050"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640080" y="457200"/>
            <a:ext cx="493776" cy="493776"/>
          </a:xfrm>
          <a:prstGeom prst="roundRect">
            <a:avLst>
              <a:gd name="adj" fmla="val 25926"/>
            </a:avLst>
          </a:prstGeom>
          <a:solidFill>
            <a:srgbClr val="A56209"/>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Yatay zeminde duran 30 kg'lık bir sandık için μs = 0,4'tür. Sandığı kıpırdatmak için en az kaç N'luk yatay kuvvet gerekir?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A56209"/>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Cevap:</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N = m · g = 30 · 10 = 300 N. Eşik μ</a:t>
            </a:r>
            <a:pPr indent="0" marL="0">
              <a:lnSpc>
                <a:spcPct val="125000"/>
              </a:lnSpc>
              <a:buNone/>
            </a:pPr>
            <a:r>
              <a:rPr lang="en-US" sz="2400" baseline="-40000" dirty="0">
                <a:solidFill>
                  <a:srgbClr val="0E1426"/>
                </a:solidFill>
                <a:latin typeface="Calibri" pitchFamily="34" charset="0"/>
                <a:ea typeface="Calibri" pitchFamily="34" charset="-122"/>
                <a:cs typeface="Calibri" pitchFamily="34" charset="-120"/>
              </a:rPr>
              <a:t>s</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 N = 0,4 · 300 = </a:t>
            </a:r>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120 N</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kuvvet bunu aşınca sandık kaymaya başlar.</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137</a:t>
            </a:r>
            <a:endParaRPr lang="en-US" sz="1050"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bg>
      <p:bgPr>
        <a:solidFill>
          <a:srgbClr val="FEF8E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822960" y="2011680"/>
            <a:ext cx="1554480" cy="1554480"/>
          </a:xfrm>
          <a:prstGeom prst="ellipse">
            <a:avLst/>
          </a:prstGeom>
          <a:solidFill>
            <a:srgbClr val="A56209"/>
          </a:solidFill>
          <a:ln/>
          <a:effectLst>
            <a:outerShdw sx="100000" sy="100000" kx="0" ky="0" algn="bl" rotWithShape="0" blurRad="177800" dist="50800" dir="5400000">
              <a:srgbClr val="A56209">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a:t>
            </a:r>
            <a:endParaRPr lang="en-US" sz="6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A56209"/>
                </a:solidFill>
                <a:latin typeface="Calibri" pitchFamily="34" charset="0"/>
                <a:ea typeface="Calibri" pitchFamily="34" charset="-122"/>
                <a:cs typeface="Calibri" pitchFamily="34" charset="-120"/>
              </a:rPr>
              <a:t>SIRA SENDE 3 / 5</a:t>
            </a:r>
            <a:endParaRPr lang="en-US" sz="1300" dirty="0"/>
          </a:p>
        </p:txBody>
      </p:sp>
      <p:sp>
        <p:nvSpPr>
          <p:cNvPr id="6" name="Shape 4"/>
          <p:cNvSpPr/>
          <p:nvPr/>
        </p:nvSpPr>
        <p:spPr>
          <a:xfrm>
            <a:off x="10408615" y="1371600"/>
            <a:ext cx="1143000" cy="384048"/>
          </a:xfrm>
          <a:prstGeom prst="roundRect">
            <a:avLst>
              <a:gd name="adj" fmla="val 50000"/>
            </a:avLst>
          </a:prstGeom>
          <a:solidFill>
            <a:srgbClr val="E6EDFB"/>
          </a:solidFill>
          <a:ln w="9525">
            <a:solidFill>
              <a:srgbClr val="2957D4"/>
            </a:solidFill>
            <a:prstDash val="solid"/>
          </a:ln>
        </p:spPr>
      </p:sp>
      <p:sp>
        <p:nvSpPr>
          <p:cNvPr id="7" name="Text 5"/>
          <p:cNvSpPr txBox="1"/>
          <p:nvPr/>
        </p:nvSpPr>
        <p:spPr>
          <a:xfrm>
            <a:off x="10408615" y="1371600"/>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8" name="Text 6"/>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Buz pistinde 6 m/s hızla kaymaya başlayan bir disk için μk = 0,1'dir. Disk kaç metre sonra ve kaç saniyede durur?</a:t>
            </a:r>
            <a:endParaRPr lang="en-US" sz="3200" dirty="0"/>
          </a:p>
        </p:txBody>
      </p:sp>
      <p:sp>
        <p:nvSpPr>
          <p:cNvPr id="9" name="Text 7"/>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Önce kendin çöz, sonra cevaba bak. Her soruda önce verilenleri ve isteneni yaz. (g = 10 m/s², sin37° = 0,6 · cos37° = 0,8)</a:t>
            </a:r>
            <a:pPr indent="0" marL="0">
              <a:buNone/>
            </a:pPr>
            <a:r>
              <a:rPr lang="en-US" sz="1200" b="1" dirty="0">
                <a:solidFill>
                  <a:srgbClr val="A56209"/>
                </a:solidFill>
                <a:latin typeface="Calibri" pitchFamily="34" charset="0"/>
                <a:ea typeface="Calibri" pitchFamily="34" charset="-122"/>
                <a:cs typeface="Calibri" pitchFamily="34" charset="-120"/>
              </a:rPr>
              <a:t>     Cevap bir sonraki slaytta</a:t>
            </a:r>
            <a:endParaRPr lang="en-US" sz="1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138</a:t>
            </a:r>
            <a:endParaRPr lang="en-US" sz="1050"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640080" y="457200"/>
            <a:ext cx="493776" cy="493776"/>
          </a:xfrm>
          <a:prstGeom prst="roundRect">
            <a:avLst>
              <a:gd name="adj" fmla="val 25926"/>
            </a:avLst>
          </a:prstGeom>
          <a:solidFill>
            <a:srgbClr val="A56209"/>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Buz pistinde 6 m/s hızla kaymaya başlayan bir disk için μk = 0,1'dir. Disk kaç metre sonra ve kaç saniyede durur?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A56209"/>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Cevap:</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Tek yatay kuvvet sürtünmedir: a = μ</a:t>
            </a:r>
            <a:pPr indent="0" marL="0">
              <a:lnSpc>
                <a:spcPct val="125000"/>
              </a:lnSpc>
              <a:buNone/>
            </a:pPr>
            <a:r>
              <a:rPr lang="en-US" sz="2400" baseline="-40000" dirty="0">
                <a:solidFill>
                  <a:srgbClr val="0E1426"/>
                </a:solidFill>
                <a:latin typeface="Calibri" pitchFamily="34" charset="0"/>
                <a:ea typeface="Calibri" pitchFamily="34" charset="-122"/>
                <a:cs typeface="Calibri" pitchFamily="34" charset="-120"/>
              </a:rPr>
              <a:t>k</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 g = 0,1 · 10 = 1 m/s² (yavaşlatıcı). Mesafe d = v² / (2a) = 36 / 2 = </a:t>
            </a:r>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18 m</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Süre t = v / a = 6 / 1 = </a:t>
            </a:r>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6 s</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139</a:t>
            </a:r>
            <a:endParaRPr lang="en-US" sz="1050"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bg>
      <p:bgPr>
        <a:solidFill>
          <a:srgbClr val="FEF8E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822960" y="2011680"/>
            <a:ext cx="1554480" cy="1554480"/>
          </a:xfrm>
          <a:prstGeom prst="ellipse">
            <a:avLst/>
          </a:prstGeom>
          <a:solidFill>
            <a:srgbClr val="A56209"/>
          </a:solidFill>
          <a:ln/>
          <a:effectLst>
            <a:outerShdw sx="100000" sy="100000" kx="0" ky="0" algn="bl" rotWithShape="0" blurRad="177800" dist="50800" dir="5400000">
              <a:srgbClr val="A56209">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a:t>
            </a:r>
            <a:endParaRPr lang="en-US" sz="6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A56209"/>
                </a:solidFill>
                <a:latin typeface="Calibri" pitchFamily="34" charset="0"/>
                <a:ea typeface="Calibri" pitchFamily="34" charset="-122"/>
                <a:cs typeface="Calibri" pitchFamily="34" charset="-120"/>
              </a:rPr>
              <a:t>SIRA SENDE 4 / 5</a:t>
            </a:r>
            <a:endParaRPr lang="en-US" sz="1300" dirty="0"/>
          </a:p>
        </p:txBody>
      </p:sp>
      <p:sp>
        <p:nvSpPr>
          <p:cNvPr id="6" name="Shape 4"/>
          <p:cNvSpPr/>
          <p:nvPr/>
        </p:nvSpPr>
        <p:spPr>
          <a:xfrm>
            <a:off x="10408615" y="1371600"/>
            <a:ext cx="1143000" cy="384048"/>
          </a:xfrm>
          <a:prstGeom prst="roundRect">
            <a:avLst>
              <a:gd name="adj" fmla="val 50000"/>
            </a:avLst>
          </a:prstGeom>
          <a:solidFill>
            <a:srgbClr val="E6EDFB"/>
          </a:solidFill>
          <a:ln w="9525">
            <a:solidFill>
              <a:srgbClr val="2957D4"/>
            </a:solidFill>
            <a:prstDash val="solid"/>
          </a:ln>
        </p:spPr>
      </p:sp>
      <p:sp>
        <p:nvSpPr>
          <p:cNvPr id="7" name="Text 5"/>
          <p:cNvSpPr txBox="1"/>
          <p:nvPr/>
        </p:nvSpPr>
        <p:spPr>
          <a:xfrm>
            <a:off x="10408615" y="1371600"/>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8" name="Text 6"/>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37°'lik bir eğik düzlemde aşağı doğru kayan cisim için μk = 0,25'tir. Cismin ivmesi kaç m/s²'dir?</a:t>
            </a:r>
            <a:endParaRPr lang="en-US" sz="3200" dirty="0"/>
          </a:p>
        </p:txBody>
      </p:sp>
      <p:sp>
        <p:nvSpPr>
          <p:cNvPr id="9" name="Text 7"/>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Önce kendin çöz, sonra cevaba bak. Her soruda önce verilenleri ve isteneni yaz. (g = 10 m/s², sin37° = 0,6 · cos37° = 0,8)</a:t>
            </a:r>
            <a:pPr indent="0" marL="0">
              <a:buNone/>
            </a:pPr>
            <a:r>
              <a:rPr lang="en-US" sz="1200" b="1" dirty="0">
                <a:solidFill>
                  <a:srgbClr val="A56209"/>
                </a:solidFill>
                <a:latin typeface="Calibri" pitchFamily="34" charset="0"/>
                <a:ea typeface="Calibri" pitchFamily="34" charset="-122"/>
                <a:cs typeface="Calibri" pitchFamily="34" charset="-120"/>
              </a:rPr>
              <a:t>     Cevap bir sonraki slaytta</a:t>
            </a:r>
            <a:endParaRPr lang="en-US" sz="1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140</a:t>
            </a:r>
            <a:endParaRPr lang="en-US" sz="1050"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640080" y="457200"/>
            <a:ext cx="493776" cy="493776"/>
          </a:xfrm>
          <a:prstGeom prst="roundRect">
            <a:avLst>
              <a:gd name="adj" fmla="val 25926"/>
            </a:avLst>
          </a:prstGeom>
          <a:solidFill>
            <a:srgbClr val="A56209"/>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37°'lik bir eğik düzlemde aşağı doğru kayan cisim için μk = 0,25'tir. Cismin ivmesi kaç m/s²'dir?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A56209"/>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Cevap:</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a = g · (sinθ − μ</a:t>
            </a:r>
            <a:pPr indent="0" marL="0">
              <a:lnSpc>
                <a:spcPct val="125000"/>
              </a:lnSpc>
              <a:buNone/>
            </a:pPr>
            <a:r>
              <a:rPr lang="en-US" sz="2400" baseline="-40000" dirty="0">
                <a:solidFill>
                  <a:srgbClr val="0E1426"/>
                </a:solidFill>
                <a:latin typeface="Calibri" pitchFamily="34" charset="0"/>
                <a:ea typeface="Calibri" pitchFamily="34" charset="-122"/>
                <a:cs typeface="Calibri" pitchFamily="34" charset="-120"/>
              </a:rPr>
              <a:t>k</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 cosθ) = 10 · (0,6 − 0,25 · 0,8) = 10 · (0,6 − 0,2) = </a:t>
            </a:r>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4 m/s²</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Kütle gerekmedi; sonuç her kütle için aynıdır.</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141</a:t>
            </a:r>
            <a:endParaRPr lang="en-US" sz="1050"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bg>
      <p:bgPr>
        <a:solidFill>
          <a:srgbClr val="FEF8E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822960" y="2011680"/>
            <a:ext cx="1554480" cy="1554480"/>
          </a:xfrm>
          <a:prstGeom prst="ellipse">
            <a:avLst/>
          </a:prstGeom>
          <a:solidFill>
            <a:srgbClr val="A56209"/>
          </a:solidFill>
          <a:ln/>
          <a:effectLst>
            <a:outerShdw sx="100000" sy="100000" kx="0" ky="0" algn="bl" rotWithShape="0" blurRad="177800" dist="50800" dir="5400000">
              <a:srgbClr val="A56209">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a:t>
            </a:r>
            <a:endParaRPr lang="en-US" sz="6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A56209"/>
                </a:solidFill>
                <a:latin typeface="Calibri" pitchFamily="34" charset="0"/>
                <a:ea typeface="Calibri" pitchFamily="34" charset="-122"/>
                <a:cs typeface="Calibri" pitchFamily="34" charset="-120"/>
              </a:rPr>
              <a:t>SIRA SENDE 5 / 5</a:t>
            </a:r>
            <a:endParaRPr lang="en-US" sz="1300" dirty="0"/>
          </a:p>
        </p:txBody>
      </p:sp>
      <p:sp>
        <p:nvSpPr>
          <p:cNvPr id="6" name="Shape 4"/>
          <p:cNvSpPr/>
          <p:nvPr/>
        </p:nvSpPr>
        <p:spPr>
          <a:xfrm>
            <a:off x="10408615" y="1371600"/>
            <a:ext cx="1143000" cy="384048"/>
          </a:xfrm>
          <a:prstGeom prst="roundRect">
            <a:avLst>
              <a:gd name="adj" fmla="val 50000"/>
            </a:avLst>
          </a:prstGeom>
          <a:solidFill>
            <a:srgbClr val="FBE9EE"/>
          </a:solidFill>
          <a:ln w="9525">
            <a:solidFill>
              <a:srgbClr val="C53455"/>
            </a:solidFill>
            <a:prstDash val="solid"/>
          </a:ln>
        </p:spPr>
      </p:sp>
      <p:sp>
        <p:nvSpPr>
          <p:cNvPr id="7" name="Text 5"/>
          <p:cNvSpPr txBox="1"/>
          <p:nvPr/>
        </p:nvSpPr>
        <p:spPr>
          <a:xfrm>
            <a:off x="10408615" y="1371600"/>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8" name="Text 6"/>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Yatay zeminde duran 10 kg'lık bir kutu, 60 N'luk yatay kuvvetle 5 s kaydırılıp bırakılıyor (μk = 0,2). Bırakıldıktan sonra kutu kaç metre daha kayar?</a:t>
            </a:r>
            <a:endParaRPr lang="en-US" sz="3200" dirty="0"/>
          </a:p>
        </p:txBody>
      </p:sp>
      <p:sp>
        <p:nvSpPr>
          <p:cNvPr id="9" name="Text 7"/>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Önce kendin çöz, sonra cevaba bak. Her soruda önce verilenleri ve isteneni yaz. (g = 10 m/s², sin37° = 0,6 · cos37° = 0,8)</a:t>
            </a:r>
            <a:pPr indent="0" marL="0">
              <a:buNone/>
            </a:pPr>
            <a:r>
              <a:rPr lang="en-US" sz="1200" b="1" dirty="0">
                <a:solidFill>
                  <a:srgbClr val="A56209"/>
                </a:solidFill>
                <a:latin typeface="Calibri" pitchFamily="34" charset="0"/>
                <a:ea typeface="Calibri" pitchFamily="34" charset="-122"/>
                <a:cs typeface="Calibri" pitchFamily="34" charset="-120"/>
              </a:rPr>
              <a:t>     Cevap bir sonraki slaytta</a:t>
            </a:r>
            <a:endParaRPr lang="en-US" sz="1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142</a:t>
            </a:r>
            <a:endParaRPr lang="en-US" sz="1050"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640080" y="457200"/>
            <a:ext cx="493776" cy="493776"/>
          </a:xfrm>
          <a:prstGeom prst="roundRect">
            <a:avLst>
              <a:gd name="adj" fmla="val 25926"/>
            </a:avLst>
          </a:prstGeom>
          <a:solidFill>
            <a:srgbClr val="A56209"/>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Yatay zeminde duran 10 kg'lık bir kutu, 60 N'luk yatay kuvvetle 5 s kaydırılıp bırakılıyor (μk = 0,2). Bırakıldıktan sonra kutu kaç metre daha kayar?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A56209"/>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Cevap:</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Sürtünme f = μ</a:t>
            </a:r>
            <a:pPr indent="0" marL="0">
              <a:lnSpc>
                <a:spcPct val="125000"/>
              </a:lnSpc>
              <a:buNone/>
            </a:pPr>
            <a:r>
              <a:rPr lang="en-US" sz="2400" baseline="-40000" dirty="0">
                <a:solidFill>
                  <a:srgbClr val="0E1426"/>
                </a:solidFill>
                <a:latin typeface="Calibri" pitchFamily="34" charset="0"/>
                <a:ea typeface="Calibri" pitchFamily="34" charset="-122"/>
                <a:cs typeface="Calibri" pitchFamily="34" charset="-120"/>
              </a:rPr>
              <a:t>k</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 m · g = 0,2 · 100 = 20 N. İtilirken a = (60 − 20) / 10 = 4 m/s²; 5 s sonunda v = 4 · 5 = 20 m/s. Bırakılınca yalnızca sürtünme kalır: yavaşlama μ</a:t>
            </a:r>
            <a:pPr indent="0" marL="0">
              <a:lnSpc>
                <a:spcPct val="125000"/>
              </a:lnSpc>
              <a:buNone/>
            </a:pPr>
            <a:r>
              <a:rPr lang="en-US" sz="2400" baseline="-40000" dirty="0">
                <a:solidFill>
                  <a:srgbClr val="0E1426"/>
                </a:solidFill>
                <a:latin typeface="Calibri" pitchFamily="34" charset="0"/>
                <a:ea typeface="Calibri" pitchFamily="34" charset="-122"/>
                <a:cs typeface="Calibri" pitchFamily="34" charset="-120"/>
              </a:rPr>
              <a:t>k</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 g = 2 m/s². Kayma mesafesi d = v² / (2 · 2) = 400 / 4 = </a:t>
            </a:r>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100 m</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143</a:t>
            </a:r>
            <a:endParaRPr lang="en-US" sz="1050"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C53455"/>
          </a:solidFill>
          <a:ln/>
          <a:effectLst>
            <a:outerShdw sx="100000" sy="100000" kx="0" ky="0" algn="bl" rotWithShape="0" blurRad="101600" dist="25400" dir="5400000">
              <a:srgbClr val="C53455">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Sık yapılan hatalar · 1 / 2</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6" name="Text 4"/>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Sınavda puan kaybettiren klasikler ve doğrusu.</a:t>
            </a:r>
            <a:endParaRPr lang="en-US" sz="1450" dirty="0"/>
          </a:p>
        </p:txBody>
      </p:sp>
      <p:sp>
        <p:nvSpPr>
          <p:cNvPr id="7" name="Shape 5"/>
          <p:cNvSpPr/>
          <p:nvPr/>
        </p:nvSpPr>
        <p:spPr>
          <a:xfrm>
            <a:off x="640080" y="1627632"/>
            <a:ext cx="5346040" cy="2176272"/>
          </a:xfrm>
          <a:prstGeom prst="roundRect">
            <a:avLst>
              <a:gd name="adj" fmla="val 67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841248" y="1792224"/>
            <a:ext cx="310896" cy="310896"/>
          </a:xfrm>
          <a:prstGeom prst="roundRect">
            <a:avLst>
              <a:gd name="adj" fmla="val 26471"/>
            </a:avLst>
          </a:prstGeom>
          <a:solidFill>
            <a:srgbClr val="FBE9EE"/>
          </a:solidFill>
          <a:ln/>
        </p:spPr>
      </p:sp>
      <p:sp>
        <p:nvSpPr>
          <p:cNvPr id="9" name="Text 7"/>
          <p:cNvSpPr txBox="1"/>
          <p:nvPr/>
        </p:nvSpPr>
        <p:spPr>
          <a:xfrm>
            <a:off x="841248" y="1792224"/>
            <a:ext cx="310896" cy="310896"/>
          </a:xfrm>
          <a:prstGeom prst="rect">
            <a:avLst/>
          </a:prstGeom>
          <a:noFill/>
          <a:ln/>
        </p:spPr>
        <p:txBody>
          <a:bodyPr wrap="square" lIns="0" tIns="0" rIns="0" bIns="0" rtlCol="0" anchor="ctr"/>
          <a:lstStyle/>
          <a:p>
            <a:pPr algn="ctr" indent="0" marL="0">
              <a:buNone/>
            </a:pPr>
            <a:r>
              <a:rPr lang="en-US" sz="1400" b="1" dirty="0">
                <a:solidFill>
                  <a:srgbClr val="C53455"/>
                </a:solidFill>
                <a:latin typeface="Calibri" pitchFamily="34" charset="0"/>
                <a:ea typeface="Calibri" pitchFamily="34" charset="-122"/>
                <a:cs typeface="Calibri" pitchFamily="34" charset="-120"/>
              </a:rPr>
              <a:t>✗</a:t>
            </a:r>
            <a:endParaRPr lang="en-US" sz="1400" dirty="0"/>
          </a:p>
        </p:txBody>
      </p:sp>
      <p:sp>
        <p:nvSpPr>
          <p:cNvPr id="10" name="Text 8"/>
          <p:cNvSpPr txBox="1"/>
          <p:nvPr/>
        </p:nvSpPr>
        <p:spPr>
          <a:xfrm>
            <a:off x="1280160" y="1755648"/>
            <a:ext cx="4523080" cy="739140"/>
          </a:xfrm>
          <a:prstGeom prst="rect">
            <a:avLst/>
          </a:prstGeom>
          <a:noFill/>
          <a:ln/>
        </p:spPr>
        <p:txBody>
          <a:bodyPr wrap="square" lIns="0" tIns="0" rIns="0" bIns="0" rtlCol="0" anchor="t"/>
          <a:lstStyle/>
          <a:p>
            <a:pPr indent="0" marL="0">
              <a:lnSpc>
                <a:spcPct val="108000"/>
              </a:lnSpc>
              <a:buNone/>
            </a:pPr>
            <a:r>
              <a:rPr lang="en-US" sz="1900" b="1" dirty="0">
                <a:solidFill>
                  <a:srgbClr val="0E1426"/>
                </a:solidFill>
                <a:latin typeface="Calibri" pitchFamily="34" charset="0"/>
                <a:ea typeface="Calibri" pitchFamily="34" charset="-122"/>
                <a:cs typeface="Calibri" pitchFamily="34" charset="-120"/>
              </a:rPr>
              <a:t>“Sürtünme her zaman hareketi engeller.”</a:t>
            </a:r>
            <a:endParaRPr lang="en-US" sz="1900" dirty="0"/>
          </a:p>
        </p:txBody>
      </p:sp>
      <p:sp>
        <p:nvSpPr>
          <p:cNvPr id="11" name="Shape 9"/>
          <p:cNvSpPr/>
          <p:nvPr/>
        </p:nvSpPr>
        <p:spPr>
          <a:xfrm>
            <a:off x="841248" y="2604516"/>
            <a:ext cx="310896" cy="310896"/>
          </a:xfrm>
          <a:prstGeom prst="roundRect">
            <a:avLst>
              <a:gd name="adj" fmla="val 26471"/>
            </a:avLst>
          </a:prstGeom>
          <a:solidFill>
            <a:srgbClr val="EAF7DC"/>
          </a:solidFill>
          <a:ln/>
        </p:spPr>
      </p:sp>
      <p:sp>
        <p:nvSpPr>
          <p:cNvPr id="12" name="Text 10"/>
          <p:cNvSpPr txBox="1"/>
          <p:nvPr/>
        </p:nvSpPr>
        <p:spPr>
          <a:xfrm>
            <a:off x="841248" y="2604516"/>
            <a:ext cx="310896" cy="310896"/>
          </a:xfrm>
          <a:prstGeom prst="rect">
            <a:avLst/>
          </a:prstGeom>
          <a:noFill/>
          <a:ln/>
        </p:spPr>
        <p:txBody>
          <a:bodyPr wrap="square" lIns="0" tIns="0" rIns="0" bIns="0" rtlCol="0" anchor="ctr"/>
          <a:lstStyle/>
          <a:p>
            <a:pPr algn="ctr" indent="0" marL="0">
              <a:buNone/>
            </a:pPr>
            <a:r>
              <a:rPr lang="en-US" sz="1400" b="1" dirty="0">
                <a:solidFill>
                  <a:srgbClr val="3C8C21"/>
                </a:solidFill>
                <a:latin typeface="Calibri" pitchFamily="34" charset="0"/>
                <a:ea typeface="Calibri" pitchFamily="34" charset="-122"/>
                <a:cs typeface="Calibri" pitchFamily="34" charset="-120"/>
              </a:rPr>
              <a:t>✓</a:t>
            </a:r>
            <a:endParaRPr lang="en-US" sz="1400" dirty="0"/>
          </a:p>
        </p:txBody>
      </p:sp>
      <p:sp>
        <p:nvSpPr>
          <p:cNvPr id="13" name="Text 11"/>
          <p:cNvSpPr txBox="1"/>
          <p:nvPr/>
        </p:nvSpPr>
        <p:spPr>
          <a:xfrm>
            <a:off x="1280160" y="2586228"/>
            <a:ext cx="4523080" cy="1089660"/>
          </a:xfrm>
          <a:prstGeom prst="rect">
            <a:avLst/>
          </a:prstGeom>
          <a:noFill/>
          <a:ln/>
        </p:spPr>
        <p:txBody>
          <a:bodyPr wrap="square" lIns="0" tIns="0" rIns="0" bIns="0" rtlCol="0" anchor="t"/>
          <a:lstStyle/>
          <a:p>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Sürtünme </a:t>
            </a:r>
            <a:pPr indent="0" marL="0">
              <a:lnSpc>
                <a:spcPct val="108000"/>
              </a:lnSpc>
              <a:buNone/>
            </a:pPr>
            <a:r>
              <a:rPr lang="en-US" sz="1700" i="1" dirty="0">
                <a:solidFill>
                  <a:srgbClr val="4A5470"/>
                </a:solidFill>
                <a:latin typeface="Calibri" pitchFamily="34" charset="0"/>
                <a:ea typeface="Calibri" pitchFamily="34" charset="-122"/>
                <a:cs typeface="Calibri" pitchFamily="34" charset="-120"/>
              </a:rPr>
              <a:t>bağıl kaymaya</a:t>
            </a:r>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zıttır; yürümeyi, frenlemeyi ve virajı dönmeyi sağlayan da odur.</a:t>
            </a:r>
            <a:endParaRPr lang="en-US" sz="1700" dirty="0"/>
          </a:p>
        </p:txBody>
      </p:sp>
      <p:sp>
        <p:nvSpPr>
          <p:cNvPr id="14" name="Shape 12"/>
          <p:cNvSpPr/>
          <p:nvPr/>
        </p:nvSpPr>
        <p:spPr>
          <a:xfrm>
            <a:off x="6205576" y="1627632"/>
            <a:ext cx="5346040" cy="2176272"/>
          </a:xfrm>
          <a:prstGeom prst="roundRect">
            <a:avLst>
              <a:gd name="adj" fmla="val 67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5" name="Shape 13"/>
          <p:cNvSpPr/>
          <p:nvPr/>
        </p:nvSpPr>
        <p:spPr>
          <a:xfrm>
            <a:off x="6406744" y="1792224"/>
            <a:ext cx="310896" cy="310896"/>
          </a:xfrm>
          <a:prstGeom prst="roundRect">
            <a:avLst>
              <a:gd name="adj" fmla="val 26471"/>
            </a:avLst>
          </a:prstGeom>
          <a:solidFill>
            <a:srgbClr val="FBE9EE"/>
          </a:solidFill>
          <a:ln/>
        </p:spPr>
      </p:sp>
      <p:sp>
        <p:nvSpPr>
          <p:cNvPr id="16" name="Text 14"/>
          <p:cNvSpPr txBox="1"/>
          <p:nvPr/>
        </p:nvSpPr>
        <p:spPr>
          <a:xfrm>
            <a:off x="6406744" y="1792224"/>
            <a:ext cx="310896" cy="310896"/>
          </a:xfrm>
          <a:prstGeom prst="rect">
            <a:avLst/>
          </a:prstGeom>
          <a:noFill/>
          <a:ln/>
        </p:spPr>
        <p:txBody>
          <a:bodyPr wrap="square" lIns="0" tIns="0" rIns="0" bIns="0" rtlCol="0" anchor="ctr"/>
          <a:lstStyle/>
          <a:p>
            <a:pPr algn="ctr" indent="0" marL="0">
              <a:buNone/>
            </a:pPr>
            <a:r>
              <a:rPr lang="en-US" sz="1400" b="1" dirty="0">
                <a:solidFill>
                  <a:srgbClr val="C53455"/>
                </a:solidFill>
                <a:latin typeface="Calibri" pitchFamily="34" charset="0"/>
                <a:ea typeface="Calibri" pitchFamily="34" charset="-122"/>
                <a:cs typeface="Calibri" pitchFamily="34" charset="-120"/>
              </a:rPr>
              <a:t>✗</a:t>
            </a:r>
            <a:endParaRPr lang="en-US" sz="1400" dirty="0"/>
          </a:p>
        </p:txBody>
      </p:sp>
      <p:sp>
        <p:nvSpPr>
          <p:cNvPr id="17" name="Text 15"/>
          <p:cNvSpPr txBox="1"/>
          <p:nvPr/>
        </p:nvSpPr>
        <p:spPr>
          <a:xfrm>
            <a:off x="6845656" y="1755648"/>
            <a:ext cx="4523080" cy="406146"/>
          </a:xfrm>
          <a:prstGeom prst="rect">
            <a:avLst/>
          </a:prstGeom>
          <a:noFill/>
          <a:ln/>
        </p:spPr>
        <p:txBody>
          <a:bodyPr wrap="square" lIns="0" tIns="0" rIns="0" bIns="0" rtlCol="0" anchor="t"/>
          <a:lstStyle/>
          <a:p>
            <a:pPr indent="0" marL="0">
              <a:lnSpc>
                <a:spcPct val="108000"/>
              </a:lnSpc>
              <a:buNone/>
            </a:pPr>
            <a:r>
              <a:rPr lang="en-US" sz="1900" b="1" dirty="0">
                <a:solidFill>
                  <a:srgbClr val="0E1426"/>
                </a:solidFill>
                <a:latin typeface="Calibri" pitchFamily="34" charset="0"/>
                <a:ea typeface="Calibri" pitchFamily="34" charset="-122"/>
                <a:cs typeface="Calibri" pitchFamily="34" charset="-120"/>
              </a:rPr>
              <a:t>“f = μ·N her durumda geçerlidir.”</a:t>
            </a:r>
            <a:endParaRPr lang="en-US" sz="1900" dirty="0"/>
          </a:p>
        </p:txBody>
      </p:sp>
      <p:sp>
        <p:nvSpPr>
          <p:cNvPr id="18" name="Shape 16"/>
          <p:cNvSpPr/>
          <p:nvPr/>
        </p:nvSpPr>
        <p:spPr>
          <a:xfrm>
            <a:off x="6406744" y="2271522"/>
            <a:ext cx="310896" cy="310896"/>
          </a:xfrm>
          <a:prstGeom prst="roundRect">
            <a:avLst>
              <a:gd name="adj" fmla="val 26471"/>
            </a:avLst>
          </a:prstGeom>
          <a:solidFill>
            <a:srgbClr val="EAF7DC"/>
          </a:solidFill>
          <a:ln/>
        </p:spPr>
      </p:sp>
      <p:sp>
        <p:nvSpPr>
          <p:cNvPr id="19" name="Text 17"/>
          <p:cNvSpPr txBox="1"/>
          <p:nvPr/>
        </p:nvSpPr>
        <p:spPr>
          <a:xfrm>
            <a:off x="6406744" y="2271522"/>
            <a:ext cx="310896" cy="310896"/>
          </a:xfrm>
          <a:prstGeom prst="rect">
            <a:avLst/>
          </a:prstGeom>
          <a:noFill/>
          <a:ln/>
        </p:spPr>
        <p:txBody>
          <a:bodyPr wrap="square" lIns="0" tIns="0" rIns="0" bIns="0" rtlCol="0" anchor="ctr"/>
          <a:lstStyle/>
          <a:p>
            <a:pPr algn="ctr" indent="0" marL="0">
              <a:buNone/>
            </a:pPr>
            <a:r>
              <a:rPr lang="en-US" sz="1400" b="1" dirty="0">
                <a:solidFill>
                  <a:srgbClr val="3C8C21"/>
                </a:solidFill>
                <a:latin typeface="Calibri" pitchFamily="34" charset="0"/>
                <a:ea typeface="Calibri" pitchFamily="34" charset="-122"/>
                <a:cs typeface="Calibri" pitchFamily="34" charset="-120"/>
              </a:rPr>
              <a:t>✓</a:t>
            </a:r>
            <a:endParaRPr lang="en-US" sz="1400" dirty="0"/>
          </a:p>
        </p:txBody>
      </p:sp>
      <p:sp>
        <p:nvSpPr>
          <p:cNvPr id="20" name="Text 18"/>
          <p:cNvSpPr txBox="1"/>
          <p:nvPr/>
        </p:nvSpPr>
        <p:spPr>
          <a:xfrm>
            <a:off x="6845656" y="2253234"/>
            <a:ext cx="4523080" cy="1422654"/>
          </a:xfrm>
          <a:prstGeom prst="rect">
            <a:avLst/>
          </a:prstGeom>
          <a:noFill/>
          <a:ln/>
        </p:spPr>
        <p:txBody>
          <a:bodyPr wrap="square" lIns="0" tIns="0" rIns="0" bIns="0" rtlCol="0" anchor="t"/>
          <a:lstStyle/>
          <a:p>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Statik durumda f, uygulanan kuvvete eşittir; μ</a:t>
            </a:r>
            <a:pPr indent="0" marL="0">
              <a:lnSpc>
                <a:spcPct val="108000"/>
              </a:lnSpc>
              <a:buNone/>
            </a:pPr>
            <a:r>
              <a:rPr lang="en-US" sz="1700" baseline="-40000" dirty="0">
                <a:solidFill>
                  <a:srgbClr val="4A5470"/>
                </a:solidFill>
                <a:latin typeface="Calibri" pitchFamily="34" charset="0"/>
                <a:ea typeface="Calibri" pitchFamily="34" charset="-122"/>
                <a:cs typeface="Calibri" pitchFamily="34" charset="-120"/>
              </a:rPr>
              <a:t>s</a:t>
            </a:r>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·N yalnızca </a:t>
            </a:r>
            <a:pPr indent="0" marL="0">
              <a:lnSpc>
                <a:spcPct val="108000"/>
              </a:lnSpc>
              <a:buNone/>
            </a:pPr>
            <a:r>
              <a:rPr lang="en-US" sz="1700" i="1" dirty="0">
                <a:solidFill>
                  <a:srgbClr val="4A5470"/>
                </a:solidFill>
                <a:latin typeface="Calibri" pitchFamily="34" charset="0"/>
                <a:ea typeface="Calibri" pitchFamily="34" charset="-122"/>
                <a:cs typeface="Calibri" pitchFamily="34" charset="-120"/>
              </a:rPr>
              <a:t>üst sınırdır</a:t>
            </a:r>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a:t>
            </a:r>
            <a:endParaRPr lang="en-US" sz="1700" dirty="0"/>
          </a:p>
        </p:txBody>
      </p:sp>
      <p:sp>
        <p:nvSpPr>
          <p:cNvPr id="21" name="Shape 19"/>
          <p:cNvSpPr/>
          <p:nvPr/>
        </p:nvSpPr>
        <p:spPr>
          <a:xfrm>
            <a:off x="640080" y="3968496"/>
            <a:ext cx="5346040" cy="2176272"/>
          </a:xfrm>
          <a:prstGeom prst="roundRect">
            <a:avLst>
              <a:gd name="adj" fmla="val 67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841248" y="4133088"/>
            <a:ext cx="310896" cy="310896"/>
          </a:xfrm>
          <a:prstGeom prst="roundRect">
            <a:avLst>
              <a:gd name="adj" fmla="val 26471"/>
            </a:avLst>
          </a:prstGeom>
          <a:solidFill>
            <a:srgbClr val="FBE9EE"/>
          </a:solidFill>
          <a:ln/>
        </p:spPr>
      </p:sp>
      <p:sp>
        <p:nvSpPr>
          <p:cNvPr id="23" name="Text 21"/>
          <p:cNvSpPr txBox="1"/>
          <p:nvPr/>
        </p:nvSpPr>
        <p:spPr>
          <a:xfrm>
            <a:off x="841248" y="4133088"/>
            <a:ext cx="310896" cy="310896"/>
          </a:xfrm>
          <a:prstGeom prst="rect">
            <a:avLst/>
          </a:prstGeom>
          <a:noFill/>
          <a:ln/>
        </p:spPr>
        <p:txBody>
          <a:bodyPr wrap="square" lIns="0" tIns="0" rIns="0" bIns="0" rtlCol="0" anchor="ctr"/>
          <a:lstStyle/>
          <a:p>
            <a:pPr algn="ctr" indent="0" marL="0">
              <a:buNone/>
            </a:pPr>
            <a:r>
              <a:rPr lang="en-US" sz="1400" b="1" dirty="0">
                <a:solidFill>
                  <a:srgbClr val="C53455"/>
                </a:solidFill>
                <a:latin typeface="Calibri" pitchFamily="34" charset="0"/>
                <a:ea typeface="Calibri" pitchFamily="34" charset="-122"/>
                <a:cs typeface="Calibri" pitchFamily="34" charset="-120"/>
              </a:rPr>
              <a:t>✗</a:t>
            </a:r>
            <a:endParaRPr lang="en-US" sz="1400" dirty="0"/>
          </a:p>
        </p:txBody>
      </p:sp>
      <p:sp>
        <p:nvSpPr>
          <p:cNvPr id="24" name="Text 22"/>
          <p:cNvSpPr txBox="1"/>
          <p:nvPr/>
        </p:nvSpPr>
        <p:spPr>
          <a:xfrm>
            <a:off x="1280160" y="4096512"/>
            <a:ext cx="4523080" cy="739140"/>
          </a:xfrm>
          <a:prstGeom prst="rect">
            <a:avLst/>
          </a:prstGeom>
          <a:noFill/>
          <a:ln/>
        </p:spPr>
        <p:txBody>
          <a:bodyPr wrap="square" lIns="0" tIns="0" rIns="0" bIns="0" rtlCol="0" anchor="t"/>
          <a:lstStyle/>
          <a:p>
            <a:pPr indent="0" marL="0">
              <a:lnSpc>
                <a:spcPct val="108000"/>
              </a:lnSpc>
              <a:buNone/>
            </a:pPr>
            <a:r>
              <a:rPr lang="en-US" sz="1900" b="1" dirty="0">
                <a:solidFill>
                  <a:srgbClr val="0E1426"/>
                </a:solidFill>
                <a:latin typeface="Calibri" pitchFamily="34" charset="0"/>
                <a:ea typeface="Calibri" pitchFamily="34" charset="-122"/>
                <a:cs typeface="Calibri" pitchFamily="34" charset="-120"/>
              </a:rPr>
              <a:t>“Temas alanı büyükse sürtünme büyüktür.”</a:t>
            </a:r>
            <a:endParaRPr lang="en-US" sz="1900" dirty="0"/>
          </a:p>
        </p:txBody>
      </p:sp>
      <p:sp>
        <p:nvSpPr>
          <p:cNvPr id="25" name="Shape 23"/>
          <p:cNvSpPr/>
          <p:nvPr/>
        </p:nvSpPr>
        <p:spPr>
          <a:xfrm>
            <a:off x="841248" y="4945380"/>
            <a:ext cx="310896" cy="310896"/>
          </a:xfrm>
          <a:prstGeom prst="roundRect">
            <a:avLst>
              <a:gd name="adj" fmla="val 26471"/>
            </a:avLst>
          </a:prstGeom>
          <a:solidFill>
            <a:srgbClr val="EAF7DC"/>
          </a:solidFill>
          <a:ln/>
        </p:spPr>
      </p:sp>
      <p:sp>
        <p:nvSpPr>
          <p:cNvPr id="26" name="Text 24"/>
          <p:cNvSpPr txBox="1"/>
          <p:nvPr/>
        </p:nvSpPr>
        <p:spPr>
          <a:xfrm>
            <a:off x="841248" y="4945380"/>
            <a:ext cx="310896" cy="310896"/>
          </a:xfrm>
          <a:prstGeom prst="rect">
            <a:avLst/>
          </a:prstGeom>
          <a:noFill/>
          <a:ln/>
        </p:spPr>
        <p:txBody>
          <a:bodyPr wrap="square" lIns="0" tIns="0" rIns="0" bIns="0" rtlCol="0" anchor="ctr"/>
          <a:lstStyle/>
          <a:p>
            <a:pPr algn="ctr" indent="0" marL="0">
              <a:buNone/>
            </a:pPr>
            <a:r>
              <a:rPr lang="en-US" sz="1400" b="1" dirty="0">
                <a:solidFill>
                  <a:srgbClr val="3C8C21"/>
                </a:solidFill>
                <a:latin typeface="Calibri" pitchFamily="34" charset="0"/>
                <a:ea typeface="Calibri" pitchFamily="34" charset="-122"/>
                <a:cs typeface="Calibri" pitchFamily="34" charset="-120"/>
              </a:rPr>
              <a:t>✓</a:t>
            </a:r>
            <a:endParaRPr lang="en-US" sz="1400" dirty="0"/>
          </a:p>
        </p:txBody>
      </p:sp>
      <p:sp>
        <p:nvSpPr>
          <p:cNvPr id="27" name="Text 25"/>
          <p:cNvSpPr txBox="1"/>
          <p:nvPr/>
        </p:nvSpPr>
        <p:spPr>
          <a:xfrm>
            <a:off x="1280160" y="4927092"/>
            <a:ext cx="4523080" cy="1089660"/>
          </a:xfrm>
          <a:prstGeom prst="rect">
            <a:avLst/>
          </a:prstGeom>
          <a:noFill/>
          <a:ln/>
        </p:spPr>
        <p:txBody>
          <a:bodyPr wrap="square" lIns="0" tIns="0" rIns="0" bIns="0" rtlCol="0" anchor="t"/>
          <a:lstStyle/>
          <a:p>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Alan bağıntıda yoktur.</a:t>
            </a:r>
            <a:endParaRPr lang="en-US" sz="1700" dirty="0"/>
          </a:p>
        </p:txBody>
      </p:sp>
      <p:sp>
        <p:nvSpPr>
          <p:cNvPr id="28" name="Shape 26"/>
          <p:cNvSpPr/>
          <p:nvPr/>
        </p:nvSpPr>
        <p:spPr>
          <a:xfrm>
            <a:off x="6205576" y="3968496"/>
            <a:ext cx="5346040" cy="2176272"/>
          </a:xfrm>
          <a:prstGeom prst="roundRect">
            <a:avLst>
              <a:gd name="adj" fmla="val 67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9" name="Shape 27"/>
          <p:cNvSpPr/>
          <p:nvPr/>
        </p:nvSpPr>
        <p:spPr>
          <a:xfrm>
            <a:off x="6406744" y="4133088"/>
            <a:ext cx="310896" cy="310896"/>
          </a:xfrm>
          <a:prstGeom prst="roundRect">
            <a:avLst>
              <a:gd name="adj" fmla="val 26471"/>
            </a:avLst>
          </a:prstGeom>
          <a:solidFill>
            <a:srgbClr val="FBE9EE"/>
          </a:solidFill>
          <a:ln/>
        </p:spPr>
      </p:sp>
      <p:sp>
        <p:nvSpPr>
          <p:cNvPr id="30" name="Text 28"/>
          <p:cNvSpPr txBox="1"/>
          <p:nvPr/>
        </p:nvSpPr>
        <p:spPr>
          <a:xfrm>
            <a:off x="6406744" y="4133088"/>
            <a:ext cx="310896" cy="310896"/>
          </a:xfrm>
          <a:prstGeom prst="rect">
            <a:avLst/>
          </a:prstGeom>
          <a:noFill/>
          <a:ln/>
        </p:spPr>
        <p:txBody>
          <a:bodyPr wrap="square" lIns="0" tIns="0" rIns="0" bIns="0" rtlCol="0" anchor="ctr"/>
          <a:lstStyle/>
          <a:p>
            <a:pPr algn="ctr" indent="0" marL="0">
              <a:buNone/>
            </a:pPr>
            <a:r>
              <a:rPr lang="en-US" sz="1400" b="1" dirty="0">
                <a:solidFill>
                  <a:srgbClr val="C53455"/>
                </a:solidFill>
                <a:latin typeface="Calibri" pitchFamily="34" charset="0"/>
                <a:ea typeface="Calibri" pitchFamily="34" charset="-122"/>
                <a:cs typeface="Calibri" pitchFamily="34" charset="-120"/>
              </a:rPr>
              <a:t>✗</a:t>
            </a:r>
            <a:endParaRPr lang="en-US" sz="1400" dirty="0"/>
          </a:p>
        </p:txBody>
      </p:sp>
      <p:sp>
        <p:nvSpPr>
          <p:cNvPr id="31" name="Text 29"/>
          <p:cNvSpPr txBox="1"/>
          <p:nvPr/>
        </p:nvSpPr>
        <p:spPr>
          <a:xfrm>
            <a:off x="6845656" y="4096512"/>
            <a:ext cx="4523080" cy="406146"/>
          </a:xfrm>
          <a:prstGeom prst="rect">
            <a:avLst/>
          </a:prstGeom>
          <a:noFill/>
          <a:ln/>
        </p:spPr>
        <p:txBody>
          <a:bodyPr wrap="square" lIns="0" tIns="0" rIns="0" bIns="0" rtlCol="0" anchor="t"/>
          <a:lstStyle/>
          <a:p>
            <a:pPr indent="0" marL="0">
              <a:lnSpc>
                <a:spcPct val="108000"/>
              </a:lnSpc>
              <a:buNone/>
            </a:pPr>
            <a:r>
              <a:rPr lang="en-US" sz="1900" b="1" dirty="0">
                <a:solidFill>
                  <a:srgbClr val="0E1426"/>
                </a:solidFill>
                <a:latin typeface="Calibri" pitchFamily="34" charset="0"/>
                <a:ea typeface="Calibri" pitchFamily="34" charset="-122"/>
                <a:cs typeface="Calibri" pitchFamily="34" charset="-120"/>
              </a:rPr>
              <a:t>“Kinetik sürtünme hızla artar.”</a:t>
            </a:r>
            <a:endParaRPr lang="en-US" sz="1900" dirty="0"/>
          </a:p>
        </p:txBody>
      </p:sp>
      <p:sp>
        <p:nvSpPr>
          <p:cNvPr id="32" name="Shape 30"/>
          <p:cNvSpPr/>
          <p:nvPr/>
        </p:nvSpPr>
        <p:spPr>
          <a:xfrm>
            <a:off x="6406744" y="4612386"/>
            <a:ext cx="310896" cy="310896"/>
          </a:xfrm>
          <a:prstGeom prst="roundRect">
            <a:avLst>
              <a:gd name="adj" fmla="val 26471"/>
            </a:avLst>
          </a:prstGeom>
          <a:solidFill>
            <a:srgbClr val="EAF7DC"/>
          </a:solidFill>
          <a:ln/>
        </p:spPr>
      </p:sp>
      <p:sp>
        <p:nvSpPr>
          <p:cNvPr id="33" name="Text 31"/>
          <p:cNvSpPr txBox="1"/>
          <p:nvPr/>
        </p:nvSpPr>
        <p:spPr>
          <a:xfrm>
            <a:off x="6406744" y="4612386"/>
            <a:ext cx="310896" cy="310896"/>
          </a:xfrm>
          <a:prstGeom prst="rect">
            <a:avLst/>
          </a:prstGeom>
          <a:noFill/>
          <a:ln/>
        </p:spPr>
        <p:txBody>
          <a:bodyPr wrap="square" lIns="0" tIns="0" rIns="0" bIns="0" rtlCol="0" anchor="ctr"/>
          <a:lstStyle/>
          <a:p>
            <a:pPr algn="ctr" indent="0" marL="0">
              <a:buNone/>
            </a:pPr>
            <a:r>
              <a:rPr lang="en-US" sz="1400" b="1" dirty="0">
                <a:solidFill>
                  <a:srgbClr val="3C8C21"/>
                </a:solidFill>
                <a:latin typeface="Calibri" pitchFamily="34" charset="0"/>
                <a:ea typeface="Calibri" pitchFamily="34" charset="-122"/>
                <a:cs typeface="Calibri" pitchFamily="34" charset="-120"/>
              </a:rPr>
              <a:t>✓</a:t>
            </a:r>
            <a:endParaRPr lang="en-US" sz="1400" dirty="0"/>
          </a:p>
        </p:txBody>
      </p:sp>
      <p:sp>
        <p:nvSpPr>
          <p:cNvPr id="34" name="Text 32"/>
          <p:cNvSpPr txBox="1"/>
          <p:nvPr/>
        </p:nvSpPr>
        <p:spPr>
          <a:xfrm>
            <a:off x="6845656" y="4594098"/>
            <a:ext cx="4523080" cy="1422654"/>
          </a:xfrm>
          <a:prstGeom prst="rect">
            <a:avLst/>
          </a:prstGeom>
          <a:noFill/>
          <a:ln/>
        </p:spPr>
        <p:txBody>
          <a:bodyPr wrap="square" lIns="0" tIns="0" rIns="0" bIns="0" rtlCol="0" anchor="t"/>
          <a:lstStyle/>
          <a:p>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Yaklaşık olarak sabittir; hızla artan kuvvet hava direncidir (bkz. Konu 05).</a:t>
            </a:r>
            <a:endParaRPr lang="en-US" sz="1700" dirty="0"/>
          </a:p>
        </p:txBody>
      </p:sp>
      <p:sp>
        <p:nvSpPr>
          <p:cNvPr id="35" name="Shape 33"/>
          <p:cNvSpPr/>
          <p:nvPr/>
        </p:nvSpPr>
        <p:spPr>
          <a:xfrm>
            <a:off x="640080" y="6382512"/>
            <a:ext cx="128016" cy="128016"/>
          </a:xfrm>
          <a:prstGeom prst="roundRect">
            <a:avLst>
              <a:gd name="adj" fmla="val 28571"/>
            </a:avLst>
          </a:prstGeom>
          <a:solidFill>
            <a:srgbClr val="A9E648"/>
          </a:solidFill>
          <a:ln/>
        </p:spPr>
      </p:sp>
      <p:sp>
        <p:nvSpPr>
          <p:cNvPr id="36" name="Text 34"/>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37" name="Text 3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144</a:t>
            </a:r>
            <a:endParaRPr lang="en-US" sz="1050"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C53455"/>
          </a:solidFill>
          <a:ln/>
          <a:effectLst>
            <a:outerShdw sx="100000" sy="100000" kx="0" ky="0" algn="bl" rotWithShape="0" blurRad="101600" dist="25400" dir="5400000">
              <a:srgbClr val="C53455">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Sık yapılan hatalar · 2 / 2</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6" name="Text 4"/>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Sınavda puan kaybettiren klasikler ve doğrusu.</a:t>
            </a:r>
            <a:endParaRPr lang="en-US" sz="1450" dirty="0"/>
          </a:p>
        </p:txBody>
      </p:sp>
      <p:sp>
        <p:nvSpPr>
          <p:cNvPr id="7" name="Shape 5"/>
          <p:cNvSpPr/>
          <p:nvPr/>
        </p:nvSpPr>
        <p:spPr>
          <a:xfrm>
            <a:off x="640080" y="1627632"/>
            <a:ext cx="5346040" cy="2176272"/>
          </a:xfrm>
          <a:prstGeom prst="roundRect">
            <a:avLst>
              <a:gd name="adj" fmla="val 67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841248" y="1792224"/>
            <a:ext cx="310896" cy="310896"/>
          </a:xfrm>
          <a:prstGeom prst="roundRect">
            <a:avLst>
              <a:gd name="adj" fmla="val 26471"/>
            </a:avLst>
          </a:prstGeom>
          <a:solidFill>
            <a:srgbClr val="FBE9EE"/>
          </a:solidFill>
          <a:ln/>
        </p:spPr>
      </p:sp>
      <p:sp>
        <p:nvSpPr>
          <p:cNvPr id="9" name="Text 7"/>
          <p:cNvSpPr txBox="1"/>
          <p:nvPr/>
        </p:nvSpPr>
        <p:spPr>
          <a:xfrm>
            <a:off x="841248" y="1792224"/>
            <a:ext cx="310896" cy="310896"/>
          </a:xfrm>
          <a:prstGeom prst="rect">
            <a:avLst/>
          </a:prstGeom>
          <a:noFill/>
          <a:ln/>
        </p:spPr>
        <p:txBody>
          <a:bodyPr wrap="square" lIns="0" tIns="0" rIns="0" bIns="0" rtlCol="0" anchor="ctr"/>
          <a:lstStyle/>
          <a:p>
            <a:pPr algn="ctr" indent="0" marL="0">
              <a:buNone/>
            </a:pPr>
            <a:r>
              <a:rPr lang="en-US" sz="1400" b="1" dirty="0">
                <a:solidFill>
                  <a:srgbClr val="C53455"/>
                </a:solidFill>
                <a:latin typeface="Calibri" pitchFamily="34" charset="0"/>
                <a:ea typeface="Calibri" pitchFamily="34" charset="-122"/>
                <a:cs typeface="Calibri" pitchFamily="34" charset="-120"/>
              </a:rPr>
              <a:t>✗</a:t>
            </a:r>
            <a:endParaRPr lang="en-US" sz="1400" dirty="0"/>
          </a:p>
        </p:txBody>
      </p:sp>
      <p:sp>
        <p:nvSpPr>
          <p:cNvPr id="10" name="Text 8"/>
          <p:cNvSpPr txBox="1"/>
          <p:nvPr/>
        </p:nvSpPr>
        <p:spPr>
          <a:xfrm>
            <a:off x="1280160" y="1755648"/>
            <a:ext cx="4523080" cy="397383"/>
          </a:xfrm>
          <a:prstGeom prst="rect">
            <a:avLst/>
          </a:prstGeom>
          <a:noFill/>
          <a:ln/>
        </p:spPr>
        <p:txBody>
          <a:bodyPr wrap="square" lIns="0" tIns="0" rIns="0" bIns="0" rtlCol="0" anchor="t"/>
          <a:lstStyle/>
          <a:p>
            <a:pPr indent="0" marL="0">
              <a:lnSpc>
                <a:spcPct val="108000"/>
              </a:lnSpc>
              <a:buNone/>
            </a:pPr>
            <a:r>
              <a:rPr lang="en-US" sz="1850" b="1" dirty="0">
                <a:solidFill>
                  <a:srgbClr val="0E1426"/>
                </a:solidFill>
                <a:latin typeface="Calibri" pitchFamily="34" charset="0"/>
                <a:ea typeface="Calibri" pitchFamily="34" charset="-122"/>
                <a:cs typeface="Calibri" pitchFamily="34" charset="-120"/>
              </a:rPr>
              <a:t>“N her zaman m·g'dir.”</a:t>
            </a:r>
            <a:endParaRPr lang="en-US" sz="1850" dirty="0"/>
          </a:p>
        </p:txBody>
      </p:sp>
      <p:sp>
        <p:nvSpPr>
          <p:cNvPr id="11" name="Shape 9"/>
          <p:cNvSpPr/>
          <p:nvPr/>
        </p:nvSpPr>
        <p:spPr>
          <a:xfrm>
            <a:off x="841248" y="2262759"/>
            <a:ext cx="310896" cy="310896"/>
          </a:xfrm>
          <a:prstGeom prst="roundRect">
            <a:avLst>
              <a:gd name="adj" fmla="val 26471"/>
            </a:avLst>
          </a:prstGeom>
          <a:solidFill>
            <a:srgbClr val="EAF7DC"/>
          </a:solidFill>
          <a:ln/>
        </p:spPr>
      </p:sp>
      <p:sp>
        <p:nvSpPr>
          <p:cNvPr id="12" name="Text 10"/>
          <p:cNvSpPr txBox="1"/>
          <p:nvPr/>
        </p:nvSpPr>
        <p:spPr>
          <a:xfrm>
            <a:off x="841248" y="2262759"/>
            <a:ext cx="310896" cy="310896"/>
          </a:xfrm>
          <a:prstGeom prst="rect">
            <a:avLst/>
          </a:prstGeom>
          <a:noFill/>
          <a:ln/>
        </p:spPr>
        <p:txBody>
          <a:bodyPr wrap="square" lIns="0" tIns="0" rIns="0" bIns="0" rtlCol="0" anchor="ctr"/>
          <a:lstStyle/>
          <a:p>
            <a:pPr algn="ctr" indent="0" marL="0">
              <a:buNone/>
            </a:pPr>
            <a:r>
              <a:rPr lang="en-US" sz="1400" b="1" dirty="0">
                <a:solidFill>
                  <a:srgbClr val="3C8C21"/>
                </a:solidFill>
                <a:latin typeface="Calibri" pitchFamily="34" charset="0"/>
                <a:ea typeface="Calibri" pitchFamily="34" charset="-122"/>
                <a:cs typeface="Calibri" pitchFamily="34" charset="-120"/>
              </a:rPr>
              <a:t>✓</a:t>
            </a:r>
            <a:endParaRPr lang="en-US" sz="1400" dirty="0"/>
          </a:p>
        </p:txBody>
      </p:sp>
      <p:sp>
        <p:nvSpPr>
          <p:cNvPr id="13" name="Text 11"/>
          <p:cNvSpPr txBox="1"/>
          <p:nvPr/>
        </p:nvSpPr>
        <p:spPr>
          <a:xfrm>
            <a:off x="1280160" y="2244471"/>
            <a:ext cx="4523080" cy="1431417"/>
          </a:xfrm>
          <a:prstGeom prst="rect">
            <a:avLst/>
          </a:prstGeom>
          <a:noFill/>
          <a:ln/>
        </p:spPr>
        <p:txBody>
          <a:bodyPr wrap="square" lIns="0" tIns="0" rIns="0" bIns="0" rtlCol="0" anchor="t"/>
          <a:lstStyle/>
          <a:p>
            <a:pPr indent="0" marL="0">
              <a:lnSpc>
                <a:spcPct val="108000"/>
              </a:lnSpc>
              <a:buNone/>
            </a:pPr>
            <a:r>
              <a:rPr lang="en-US" sz="1650" dirty="0">
                <a:solidFill>
                  <a:srgbClr val="4A5470"/>
                </a:solidFill>
                <a:latin typeface="Calibri" pitchFamily="34" charset="0"/>
                <a:ea typeface="Calibri" pitchFamily="34" charset="-122"/>
                <a:cs typeface="Calibri" pitchFamily="34" charset="-120"/>
              </a:rPr>
              <a:t> Eğik düzlemde N = m·g·cosθ; eğik bir kuvvet uygulandığında ya da asansörde de değişir.</a:t>
            </a:r>
            <a:endParaRPr lang="en-US" sz="1650" dirty="0"/>
          </a:p>
        </p:txBody>
      </p:sp>
      <p:sp>
        <p:nvSpPr>
          <p:cNvPr id="14" name="Shape 12"/>
          <p:cNvSpPr/>
          <p:nvPr/>
        </p:nvSpPr>
        <p:spPr>
          <a:xfrm>
            <a:off x="6205576" y="1627632"/>
            <a:ext cx="5346040" cy="2176272"/>
          </a:xfrm>
          <a:prstGeom prst="roundRect">
            <a:avLst>
              <a:gd name="adj" fmla="val 67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5" name="Shape 13"/>
          <p:cNvSpPr/>
          <p:nvPr/>
        </p:nvSpPr>
        <p:spPr>
          <a:xfrm>
            <a:off x="6406744" y="1792224"/>
            <a:ext cx="310896" cy="310896"/>
          </a:xfrm>
          <a:prstGeom prst="roundRect">
            <a:avLst>
              <a:gd name="adj" fmla="val 26471"/>
            </a:avLst>
          </a:prstGeom>
          <a:solidFill>
            <a:srgbClr val="FBE9EE"/>
          </a:solidFill>
          <a:ln/>
        </p:spPr>
      </p:sp>
      <p:sp>
        <p:nvSpPr>
          <p:cNvPr id="16" name="Text 14"/>
          <p:cNvSpPr txBox="1"/>
          <p:nvPr/>
        </p:nvSpPr>
        <p:spPr>
          <a:xfrm>
            <a:off x="6406744" y="1792224"/>
            <a:ext cx="310896" cy="310896"/>
          </a:xfrm>
          <a:prstGeom prst="rect">
            <a:avLst/>
          </a:prstGeom>
          <a:noFill/>
          <a:ln/>
        </p:spPr>
        <p:txBody>
          <a:bodyPr wrap="square" lIns="0" tIns="0" rIns="0" bIns="0" rtlCol="0" anchor="ctr"/>
          <a:lstStyle/>
          <a:p>
            <a:pPr algn="ctr" indent="0" marL="0">
              <a:buNone/>
            </a:pPr>
            <a:r>
              <a:rPr lang="en-US" sz="1400" b="1" dirty="0">
                <a:solidFill>
                  <a:srgbClr val="C53455"/>
                </a:solidFill>
                <a:latin typeface="Calibri" pitchFamily="34" charset="0"/>
                <a:ea typeface="Calibri" pitchFamily="34" charset="-122"/>
                <a:cs typeface="Calibri" pitchFamily="34" charset="-120"/>
              </a:rPr>
              <a:t>✗</a:t>
            </a:r>
            <a:endParaRPr lang="en-US" sz="1400" dirty="0"/>
          </a:p>
        </p:txBody>
      </p:sp>
      <p:sp>
        <p:nvSpPr>
          <p:cNvPr id="17" name="Text 15"/>
          <p:cNvSpPr txBox="1"/>
          <p:nvPr/>
        </p:nvSpPr>
        <p:spPr>
          <a:xfrm>
            <a:off x="6845656" y="1755648"/>
            <a:ext cx="4523080" cy="721614"/>
          </a:xfrm>
          <a:prstGeom prst="rect">
            <a:avLst/>
          </a:prstGeom>
          <a:noFill/>
          <a:ln/>
        </p:spPr>
        <p:txBody>
          <a:bodyPr wrap="square" lIns="0" tIns="0" rIns="0" bIns="0" rtlCol="0" anchor="t"/>
          <a:lstStyle/>
          <a:p>
            <a:pPr indent="0" marL="0">
              <a:lnSpc>
                <a:spcPct val="108000"/>
              </a:lnSpc>
              <a:buNone/>
            </a:pPr>
            <a:r>
              <a:rPr lang="en-US" sz="1850" b="1" dirty="0">
                <a:solidFill>
                  <a:srgbClr val="0E1426"/>
                </a:solidFill>
                <a:latin typeface="Calibri" pitchFamily="34" charset="0"/>
                <a:ea typeface="Calibri" pitchFamily="34" charset="-122"/>
                <a:cs typeface="Calibri" pitchFamily="34" charset="-120"/>
              </a:rPr>
              <a:t>“Ağır cisim eğik düzlemde daha geç kayar.”</a:t>
            </a:r>
            <a:endParaRPr lang="en-US" sz="1850" dirty="0"/>
          </a:p>
        </p:txBody>
      </p:sp>
      <p:sp>
        <p:nvSpPr>
          <p:cNvPr id="18" name="Shape 16"/>
          <p:cNvSpPr/>
          <p:nvPr/>
        </p:nvSpPr>
        <p:spPr>
          <a:xfrm>
            <a:off x="6406744" y="2586990"/>
            <a:ext cx="310896" cy="310896"/>
          </a:xfrm>
          <a:prstGeom prst="roundRect">
            <a:avLst>
              <a:gd name="adj" fmla="val 26471"/>
            </a:avLst>
          </a:prstGeom>
          <a:solidFill>
            <a:srgbClr val="EAF7DC"/>
          </a:solidFill>
          <a:ln/>
        </p:spPr>
      </p:sp>
      <p:sp>
        <p:nvSpPr>
          <p:cNvPr id="19" name="Text 17"/>
          <p:cNvSpPr txBox="1"/>
          <p:nvPr/>
        </p:nvSpPr>
        <p:spPr>
          <a:xfrm>
            <a:off x="6406744" y="2586990"/>
            <a:ext cx="310896" cy="310896"/>
          </a:xfrm>
          <a:prstGeom prst="rect">
            <a:avLst/>
          </a:prstGeom>
          <a:noFill/>
          <a:ln/>
        </p:spPr>
        <p:txBody>
          <a:bodyPr wrap="square" lIns="0" tIns="0" rIns="0" bIns="0" rtlCol="0" anchor="ctr"/>
          <a:lstStyle/>
          <a:p>
            <a:pPr algn="ctr" indent="0" marL="0">
              <a:buNone/>
            </a:pPr>
            <a:r>
              <a:rPr lang="en-US" sz="1400" b="1" dirty="0">
                <a:solidFill>
                  <a:srgbClr val="3C8C21"/>
                </a:solidFill>
                <a:latin typeface="Calibri" pitchFamily="34" charset="0"/>
                <a:ea typeface="Calibri" pitchFamily="34" charset="-122"/>
                <a:cs typeface="Calibri" pitchFamily="34" charset="-120"/>
              </a:rPr>
              <a:t>✓</a:t>
            </a:r>
            <a:endParaRPr lang="en-US" sz="1400" dirty="0"/>
          </a:p>
        </p:txBody>
      </p:sp>
      <p:sp>
        <p:nvSpPr>
          <p:cNvPr id="20" name="Text 18"/>
          <p:cNvSpPr txBox="1"/>
          <p:nvPr/>
        </p:nvSpPr>
        <p:spPr>
          <a:xfrm>
            <a:off x="6845656" y="2568702"/>
            <a:ext cx="4523080" cy="1107186"/>
          </a:xfrm>
          <a:prstGeom prst="rect">
            <a:avLst/>
          </a:prstGeom>
          <a:noFill/>
          <a:ln/>
        </p:spPr>
        <p:txBody>
          <a:bodyPr wrap="square" lIns="0" tIns="0" rIns="0" bIns="0" rtlCol="0" anchor="t"/>
          <a:lstStyle/>
          <a:p>
            <a:pPr indent="0" marL="0">
              <a:lnSpc>
                <a:spcPct val="108000"/>
              </a:lnSpc>
              <a:buNone/>
            </a:pPr>
            <a:r>
              <a:rPr lang="en-US" sz="1650" dirty="0">
                <a:solidFill>
                  <a:srgbClr val="4A5470"/>
                </a:solidFill>
                <a:latin typeface="Calibri" pitchFamily="34" charset="0"/>
                <a:ea typeface="Calibri" pitchFamily="34" charset="-122"/>
                <a:cs typeface="Calibri" pitchFamily="34" charset="-120"/>
              </a:rPr>
              <a:t> Kritik açı kütleden bağımsızdır.</a:t>
            </a:r>
            <a:endParaRPr lang="en-US" sz="1650" dirty="0"/>
          </a:p>
        </p:txBody>
      </p:sp>
      <p:sp>
        <p:nvSpPr>
          <p:cNvPr id="21" name="Shape 19"/>
          <p:cNvSpPr/>
          <p:nvPr/>
        </p:nvSpPr>
        <p:spPr>
          <a:xfrm>
            <a:off x="640080" y="3968496"/>
            <a:ext cx="5346040" cy="2176272"/>
          </a:xfrm>
          <a:prstGeom prst="roundRect">
            <a:avLst>
              <a:gd name="adj" fmla="val 67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841248" y="4133088"/>
            <a:ext cx="310896" cy="310896"/>
          </a:xfrm>
          <a:prstGeom prst="roundRect">
            <a:avLst>
              <a:gd name="adj" fmla="val 26471"/>
            </a:avLst>
          </a:prstGeom>
          <a:solidFill>
            <a:srgbClr val="FBE9EE"/>
          </a:solidFill>
          <a:ln/>
        </p:spPr>
      </p:sp>
      <p:sp>
        <p:nvSpPr>
          <p:cNvPr id="23" name="Text 21"/>
          <p:cNvSpPr txBox="1"/>
          <p:nvPr/>
        </p:nvSpPr>
        <p:spPr>
          <a:xfrm>
            <a:off x="841248" y="4133088"/>
            <a:ext cx="310896" cy="310896"/>
          </a:xfrm>
          <a:prstGeom prst="rect">
            <a:avLst/>
          </a:prstGeom>
          <a:noFill/>
          <a:ln/>
        </p:spPr>
        <p:txBody>
          <a:bodyPr wrap="square" lIns="0" tIns="0" rIns="0" bIns="0" rtlCol="0" anchor="ctr"/>
          <a:lstStyle/>
          <a:p>
            <a:pPr algn="ctr" indent="0" marL="0">
              <a:buNone/>
            </a:pPr>
            <a:r>
              <a:rPr lang="en-US" sz="1400" b="1" dirty="0">
                <a:solidFill>
                  <a:srgbClr val="C53455"/>
                </a:solidFill>
                <a:latin typeface="Calibri" pitchFamily="34" charset="0"/>
                <a:ea typeface="Calibri" pitchFamily="34" charset="-122"/>
                <a:cs typeface="Calibri" pitchFamily="34" charset="-120"/>
              </a:rPr>
              <a:t>✗</a:t>
            </a:r>
            <a:endParaRPr lang="en-US" sz="1400" dirty="0"/>
          </a:p>
        </p:txBody>
      </p:sp>
      <p:sp>
        <p:nvSpPr>
          <p:cNvPr id="24" name="Text 22"/>
          <p:cNvSpPr txBox="1"/>
          <p:nvPr/>
        </p:nvSpPr>
        <p:spPr>
          <a:xfrm>
            <a:off x="1280160" y="4096512"/>
            <a:ext cx="4523080" cy="721614"/>
          </a:xfrm>
          <a:prstGeom prst="rect">
            <a:avLst/>
          </a:prstGeom>
          <a:noFill/>
          <a:ln/>
        </p:spPr>
        <p:txBody>
          <a:bodyPr wrap="square" lIns="0" tIns="0" rIns="0" bIns="0" rtlCol="0" anchor="t"/>
          <a:lstStyle/>
          <a:p>
            <a:pPr indent="0" marL="0">
              <a:lnSpc>
                <a:spcPct val="108000"/>
              </a:lnSpc>
              <a:buNone/>
            </a:pPr>
            <a:r>
              <a:rPr lang="en-US" sz="1850" b="1" dirty="0">
                <a:solidFill>
                  <a:srgbClr val="0E1426"/>
                </a:solidFill>
                <a:latin typeface="Calibri" pitchFamily="34" charset="0"/>
                <a:ea typeface="Calibri" pitchFamily="34" charset="-122"/>
                <a:cs typeface="Calibri" pitchFamily="34" charset="-120"/>
              </a:rPr>
              <a:t>“Fren mesafesi hızla doğru orantılıdır.”</a:t>
            </a:r>
            <a:endParaRPr lang="en-US" sz="1850" dirty="0"/>
          </a:p>
        </p:txBody>
      </p:sp>
      <p:sp>
        <p:nvSpPr>
          <p:cNvPr id="25" name="Shape 23"/>
          <p:cNvSpPr/>
          <p:nvPr/>
        </p:nvSpPr>
        <p:spPr>
          <a:xfrm>
            <a:off x="841248" y="4927854"/>
            <a:ext cx="310896" cy="310896"/>
          </a:xfrm>
          <a:prstGeom prst="roundRect">
            <a:avLst>
              <a:gd name="adj" fmla="val 26471"/>
            </a:avLst>
          </a:prstGeom>
          <a:solidFill>
            <a:srgbClr val="EAF7DC"/>
          </a:solidFill>
          <a:ln/>
        </p:spPr>
      </p:sp>
      <p:sp>
        <p:nvSpPr>
          <p:cNvPr id="26" name="Text 24"/>
          <p:cNvSpPr txBox="1"/>
          <p:nvPr/>
        </p:nvSpPr>
        <p:spPr>
          <a:xfrm>
            <a:off x="841248" y="4927854"/>
            <a:ext cx="310896" cy="310896"/>
          </a:xfrm>
          <a:prstGeom prst="rect">
            <a:avLst/>
          </a:prstGeom>
          <a:noFill/>
          <a:ln/>
        </p:spPr>
        <p:txBody>
          <a:bodyPr wrap="square" lIns="0" tIns="0" rIns="0" bIns="0" rtlCol="0" anchor="ctr"/>
          <a:lstStyle/>
          <a:p>
            <a:pPr algn="ctr" indent="0" marL="0">
              <a:buNone/>
            </a:pPr>
            <a:r>
              <a:rPr lang="en-US" sz="1400" b="1" dirty="0">
                <a:solidFill>
                  <a:srgbClr val="3C8C21"/>
                </a:solidFill>
                <a:latin typeface="Calibri" pitchFamily="34" charset="0"/>
                <a:ea typeface="Calibri" pitchFamily="34" charset="-122"/>
                <a:cs typeface="Calibri" pitchFamily="34" charset="-120"/>
              </a:rPr>
              <a:t>✓</a:t>
            </a:r>
            <a:endParaRPr lang="en-US" sz="1400" dirty="0"/>
          </a:p>
        </p:txBody>
      </p:sp>
      <p:sp>
        <p:nvSpPr>
          <p:cNvPr id="27" name="Text 25"/>
          <p:cNvSpPr txBox="1"/>
          <p:nvPr/>
        </p:nvSpPr>
        <p:spPr>
          <a:xfrm>
            <a:off x="1280160" y="4909566"/>
            <a:ext cx="4523080" cy="1107186"/>
          </a:xfrm>
          <a:prstGeom prst="rect">
            <a:avLst/>
          </a:prstGeom>
          <a:noFill/>
          <a:ln/>
        </p:spPr>
        <p:txBody>
          <a:bodyPr wrap="square" lIns="0" tIns="0" rIns="0" bIns="0" rtlCol="0" anchor="t"/>
          <a:lstStyle/>
          <a:p>
            <a:pPr indent="0" marL="0">
              <a:lnSpc>
                <a:spcPct val="108000"/>
              </a:lnSpc>
              <a:buNone/>
            </a:pPr>
            <a:r>
              <a:rPr lang="en-US" sz="1650" dirty="0">
                <a:solidFill>
                  <a:srgbClr val="4A5470"/>
                </a:solidFill>
                <a:latin typeface="Calibri" pitchFamily="34" charset="0"/>
                <a:ea typeface="Calibri" pitchFamily="34" charset="-122"/>
                <a:cs typeface="Calibri" pitchFamily="34" charset="-120"/>
              </a:rPr>
              <a:t> Hızın </a:t>
            </a:r>
            <a:pPr indent="0" marL="0">
              <a:lnSpc>
                <a:spcPct val="108000"/>
              </a:lnSpc>
              <a:buNone/>
            </a:pPr>
            <a:r>
              <a:rPr lang="en-US" sz="1650" i="1" dirty="0">
                <a:solidFill>
                  <a:srgbClr val="4A5470"/>
                </a:solidFill>
                <a:latin typeface="Calibri" pitchFamily="34" charset="0"/>
                <a:ea typeface="Calibri" pitchFamily="34" charset="-122"/>
                <a:cs typeface="Calibri" pitchFamily="34" charset="-120"/>
              </a:rPr>
              <a:t>karesiyle</a:t>
            </a:r>
            <a:pPr indent="0" marL="0">
              <a:lnSpc>
                <a:spcPct val="108000"/>
              </a:lnSpc>
              <a:buNone/>
            </a:pPr>
            <a:r>
              <a:rPr lang="en-US" sz="1650" dirty="0">
                <a:solidFill>
                  <a:srgbClr val="4A5470"/>
                </a:solidFill>
                <a:latin typeface="Calibri" pitchFamily="34" charset="0"/>
                <a:ea typeface="Calibri" pitchFamily="34" charset="-122"/>
                <a:cs typeface="Calibri" pitchFamily="34" charset="-120"/>
              </a:rPr>
              <a:t> artar; doğru orantılı olan tepki mesafesidir.</a:t>
            </a:r>
            <a:endParaRPr lang="en-US" sz="1650" dirty="0"/>
          </a:p>
        </p:txBody>
      </p:sp>
      <p:sp>
        <p:nvSpPr>
          <p:cNvPr id="28" name="Shape 26"/>
          <p:cNvSpPr/>
          <p:nvPr/>
        </p:nvSpPr>
        <p:spPr>
          <a:xfrm>
            <a:off x="6205576" y="3968496"/>
            <a:ext cx="5346040" cy="2176272"/>
          </a:xfrm>
          <a:prstGeom prst="roundRect">
            <a:avLst>
              <a:gd name="adj" fmla="val 67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9" name="Shape 27"/>
          <p:cNvSpPr/>
          <p:nvPr/>
        </p:nvSpPr>
        <p:spPr>
          <a:xfrm>
            <a:off x="6406744" y="4133088"/>
            <a:ext cx="310896" cy="310896"/>
          </a:xfrm>
          <a:prstGeom prst="roundRect">
            <a:avLst>
              <a:gd name="adj" fmla="val 26471"/>
            </a:avLst>
          </a:prstGeom>
          <a:solidFill>
            <a:srgbClr val="FBE9EE"/>
          </a:solidFill>
          <a:ln/>
        </p:spPr>
      </p:sp>
      <p:sp>
        <p:nvSpPr>
          <p:cNvPr id="30" name="Text 28"/>
          <p:cNvSpPr txBox="1"/>
          <p:nvPr/>
        </p:nvSpPr>
        <p:spPr>
          <a:xfrm>
            <a:off x="6406744" y="4133088"/>
            <a:ext cx="310896" cy="310896"/>
          </a:xfrm>
          <a:prstGeom prst="rect">
            <a:avLst/>
          </a:prstGeom>
          <a:noFill/>
          <a:ln/>
        </p:spPr>
        <p:txBody>
          <a:bodyPr wrap="square" lIns="0" tIns="0" rIns="0" bIns="0" rtlCol="0" anchor="ctr"/>
          <a:lstStyle/>
          <a:p>
            <a:pPr algn="ctr" indent="0" marL="0">
              <a:buNone/>
            </a:pPr>
            <a:r>
              <a:rPr lang="en-US" sz="1400" b="1" dirty="0">
                <a:solidFill>
                  <a:srgbClr val="C53455"/>
                </a:solidFill>
                <a:latin typeface="Calibri" pitchFamily="34" charset="0"/>
                <a:ea typeface="Calibri" pitchFamily="34" charset="-122"/>
                <a:cs typeface="Calibri" pitchFamily="34" charset="-120"/>
              </a:rPr>
              <a:t>✗</a:t>
            </a:r>
            <a:endParaRPr lang="en-US" sz="1400" dirty="0"/>
          </a:p>
        </p:txBody>
      </p:sp>
      <p:sp>
        <p:nvSpPr>
          <p:cNvPr id="31" name="Text 29"/>
          <p:cNvSpPr txBox="1"/>
          <p:nvPr/>
        </p:nvSpPr>
        <p:spPr>
          <a:xfrm>
            <a:off x="6845656" y="4096512"/>
            <a:ext cx="4523080" cy="721614"/>
          </a:xfrm>
          <a:prstGeom prst="rect">
            <a:avLst/>
          </a:prstGeom>
          <a:noFill/>
          <a:ln/>
        </p:spPr>
        <p:txBody>
          <a:bodyPr wrap="square" lIns="0" tIns="0" rIns="0" bIns="0" rtlCol="0" anchor="t"/>
          <a:lstStyle/>
          <a:p>
            <a:pPr indent="0" marL="0">
              <a:lnSpc>
                <a:spcPct val="108000"/>
              </a:lnSpc>
              <a:buNone/>
            </a:pPr>
            <a:r>
              <a:rPr lang="en-US" sz="1850" b="1" dirty="0">
                <a:solidFill>
                  <a:srgbClr val="0E1426"/>
                </a:solidFill>
                <a:latin typeface="Calibri" pitchFamily="34" charset="0"/>
                <a:ea typeface="Calibri" pitchFamily="34" charset="-122"/>
                <a:cs typeface="Calibri" pitchFamily="34" charset="-120"/>
              </a:rPr>
              <a:t>“Dönen tekerlekteki sürtünme kinetiktir.”</a:t>
            </a:r>
            <a:endParaRPr lang="en-US" sz="1850" dirty="0"/>
          </a:p>
        </p:txBody>
      </p:sp>
      <p:sp>
        <p:nvSpPr>
          <p:cNvPr id="32" name="Shape 30"/>
          <p:cNvSpPr/>
          <p:nvPr/>
        </p:nvSpPr>
        <p:spPr>
          <a:xfrm>
            <a:off x="6406744" y="4927854"/>
            <a:ext cx="310896" cy="310896"/>
          </a:xfrm>
          <a:prstGeom prst="roundRect">
            <a:avLst>
              <a:gd name="adj" fmla="val 26471"/>
            </a:avLst>
          </a:prstGeom>
          <a:solidFill>
            <a:srgbClr val="EAF7DC"/>
          </a:solidFill>
          <a:ln/>
        </p:spPr>
      </p:sp>
      <p:sp>
        <p:nvSpPr>
          <p:cNvPr id="33" name="Text 31"/>
          <p:cNvSpPr txBox="1"/>
          <p:nvPr/>
        </p:nvSpPr>
        <p:spPr>
          <a:xfrm>
            <a:off x="6406744" y="4927854"/>
            <a:ext cx="310896" cy="310896"/>
          </a:xfrm>
          <a:prstGeom prst="rect">
            <a:avLst/>
          </a:prstGeom>
          <a:noFill/>
          <a:ln/>
        </p:spPr>
        <p:txBody>
          <a:bodyPr wrap="square" lIns="0" tIns="0" rIns="0" bIns="0" rtlCol="0" anchor="ctr"/>
          <a:lstStyle/>
          <a:p>
            <a:pPr algn="ctr" indent="0" marL="0">
              <a:buNone/>
            </a:pPr>
            <a:r>
              <a:rPr lang="en-US" sz="1400" b="1" dirty="0">
                <a:solidFill>
                  <a:srgbClr val="3C8C21"/>
                </a:solidFill>
                <a:latin typeface="Calibri" pitchFamily="34" charset="0"/>
                <a:ea typeface="Calibri" pitchFamily="34" charset="-122"/>
                <a:cs typeface="Calibri" pitchFamily="34" charset="-120"/>
              </a:rPr>
              <a:t>✓</a:t>
            </a:r>
            <a:endParaRPr lang="en-US" sz="1400" dirty="0"/>
          </a:p>
        </p:txBody>
      </p:sp>
      <p:sp>
        <p:nvSpPr>
          <p:cNvPr id="34" name="Text 32"/>
          <p:cNvSpPr txBox="1"/>
          <p:nvPr/>
        </p:nvSpPr>
        <p:spPr>
          <a:xfrm>
            <a:off x="6845656" y="4909566"/>
            <a:ext cx="4523080" cy="1107186"/>
          </a:xfrm>
          <a:prstGeom prst="rect">
            <a:avLst/>
          </a:prstGeom>
          <a:noFill/>
          <a:ln/>
        </p:spPr>
        <p:txBody>
          <a:bodyPr wrap="square" lIns="0" tIns="0" rIns="0" bIns="0" rtlCol="0" anchor="t"/>
          <a:lstStyle/>
          <a:p>
            <a:pPr indent="0" marL="0">
              <a:lnSpc>
                <a:spcPct val="108000"/>
              </a:lnSpc>
              <a:buNone/>
            </a:pPr>
            <a:r>
              <a:rPr lang="en-US" sz="1650" dirty="0">
                <a:solidFill>
                  <a:srgbClr val="4A5470"/>
                </a:solidFill>
                <a:latin typeface="Calibri" pitchFamily="34" charset="0"/>
                <a:ea typeface="Calibri" pitchFamily="34" charset="-122"/>
                <a:cs typeface="Calibri" pitchFamily="34" charset="-120"/>
              </a:rPr>
              <a:t> Kaymadan dönen tekerleğin yola değen noktası o an durgundur, sürtünme statiktir; kinetik olan kilitlenip kayan tekerlektir.</a:t>
            </a:r>
            <a:endParaRPr lang="en-US" sz="1650" dirty="0"/>
          </a:p>
        </p:txBody>
      </p:sp>
      <p:sp>
        <p:nvSpPr>
          <p:cNvPr id="35" name="Shape 33"/>
          <p:cNvSpPr/>
          <p:nvPr/>
        </p:nvSpPr>
        <p:spPr>
          <a:xfrm>
            <a:off x="640080" y="6382512"/>
            <a:ext cx="128016" cy="128016"/>
          </a:xfrm>
          <a:prstGeom prst="roundRect">
            <a:avLst>
              <a:gd name="adj" fmla="val 28571"/>
            </a:avLst>
          </a:prstGeom>
          <a:solidFill>
            <a:srgbClr val="A9E648"/>
          </a:solidFill>
          <a:ln/>
        </p:spPr>
      </p:sp>
      <p:sp>
        <p:nvSpPr>
          <p:cNvPr id="36" name="Text 34"/>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37" name="Text 3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145</a:t>
            </a:r>
            <a:endParaRPr lang="en-US" sz="1050"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bg>
      <p:bgPr>
        <a:solidFill>
          <a:srgbClr val="0E1426"/>
        </a:solidFill>
      </p:bgPr>
    </p:bg>
    <p:spTree>
      <p:nvGrpSpPr>
        <p:cNvPr id="1" name=""/>
        <p:cNvGrpSpPr/>
        <p:nvPr/>
      </p:nvGrpSpPr>
      <p:grpSpPr>
        <a:xfrm>
          <a:off x="0" y="0"/>
          <a:ext cx="0" cy="0"/>
          <a:chOff x="0" y="0"/>
          <a:chExt cx="0" cy="0"/>
        </a:xfrm>
      </p:grpSpPr>
      <p:sp>
        <p:nvSpPr>
          <p:cNvPr id="2" name="Shape 0"/>
          <p:cNvSpPr/>
          <p:nvPr/>
        </p:nvSpPr>
        <p:spPr>
          <a:xfrm>
            <a:off x="868680" y="1143000"/>
            <a:ext cx="54864" cy="548640"/>
          </a:xfrm>
          <a:prstGeom prst="rect">
            <a:avLst/>
          </a:prstGeom>
          <a:solidFill>
            <a:srgbClr val="C6F36B"/>
          </a:solidFill>
          <a:ln/>
        </p:spPr>
      </p:sp>
      <p:sp>
        <p:nvSpPr>
          <p:cNvPr id="3" name="Text 1"/>
          <p:cNvSpPr txBox="1"/>
          <p:nvPr/>
        </p:nvSpPr>
        <p:spPr>
          <a:xfrm>
            <a:off x="1097280" y="1005840"/>
            <a:ext cx="5486400" cy="822960"/>
          </a:xfrm>
          <a:prstGeom prst="rect">
            <a:avLst/>
          </a:prstGeom>
          <a:noFill/>
          <a:ln/>
        </p:spPr>
        <p:txBody>
          <a:bodyPr wrap="square" lIns="0" tIns="0" rIns="0" bIns="0" rtlCol="0" anchor="ctr"/>
          <a:lstStyle/>
          <a:p>
            <a:pPr indent="0" marL="0">
              <a:buNone/>
            </a:pPr>
            <a:r>
              <a:rPr lang="en-US" sz="4000" b="1" spc="-100" kern="0" dirty="0">
                <a:solidFill>
                  <a:srgbClr val="FFFFFF"/>
                </a:solidFill>
                <a:latin typeface="Cambria" pitchFamily="34" charset="0"/>
                <a:ea typeface="Cambria" pitchFamily="34" charset="-122"/>
                <a:cs typeface="Cambria" pitchFamily="34" charset="-120"/>
              </a:rPr>
              <a:t>Özetle</a:t>
            </a:r>
            <a:endParaRPr lang="en-US" sz="4000" dirty="0"/>
          </a:p>
        </p:txBody>
      </p:sp>
      <p:sp>
        <p:nvSpPr>
          <p:cNvPr id="4" name="Text 2"/>
          <p:cNvSpPr txBox="1"/>
          <p:nvPr/>
        </p:nvSpPr>
        <p:spPr>
          <a:xfrm>
            <a:off x="868680" y="2057400"/>
            <a:ext cx="4572000"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AKLINDA KALSIN</a:t>
            </a:r>
            <a:endParaRPr lang="en-US" sz="1050" dirty="0"/>
          </a:p>
        </p:txBody>
      </p:sp>
      <p:sp>
        <p:nvSpPr>
          <p:cNvPr id="5" name="Text 3"/>
          <p:cNvSpPr txBox="1"/>
          <p:nvPr/>
        </p:nvSpPr>
        <p:spPr>
          <a:xfrm>
            <a:off x="868680" y="2450592"/>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01</a:t>
            </a:r>
            <a:endParaRPr lang="en-US" sz="1800" dirty="0"/>
          </a:p>
        </p:txBody>
      </p:sp>
      <p:sp>
        <p:nvSpPr>
          <p:cNvPr id="6" name="Text 4"/>
          <p:cNvSpPr txBox="1"/>
          <p:nvPr/>
        </p:nvSpPr>
        <p:spPr>
          <a:xfrm>
            <a:off x="1463040" y="2450592"/>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Statik </a:t>
            </a:r>
            <a:pPr indent="0" marL="0">
              <a:buNone/>
            </a:pPr>
            <a:r>
              <a:rPr lang="en-US" sz="1500" b="1" dirty="0">
                <a:solidFill>
                  <a:srgbClr val="FFFFFF"/>
                </a:solidFill>
                <a:latin typeface="Calibri" pitchFamily="34" charset="0"/>
                <a:ea typeface="Calibri" pitchFamily="34" charset="-122"/>
                <a:cs typeface="Calibri" pitchFamily="34" charset="-120"/>
              </a:rPr>
              <a:t>f ≤ μ</a:t>
            </a:r>
            <a:pPr indent="0" marL="0">
              <a:buNone/>
            </a:pPr>
            <a:r>
              <a:rPr lang="en-US" sz="1500" b="1" baseline="-40000" dirty="0">
                <a:solidFill>
                  <a:srgbClr val="FFFFFF"/>
                </a:solidFill>
                <a:latin typeface="Calibri" pitchFamily="34" charset="0"/>
                <a:ea typeface="Calibri" pitchFamily="34" charset="-122"/>
                <a:cs typeface="Calibri" pitchFamily="34" charset="-120"/>
              </a:rPr>
              <a:t>s</a:t>
            </a:r>
            <a:pPr indent="0" marL="0">
              <a:buNone/>
            </a:pPr>
            <a:r>
              <a:rPr lang="en-US" sz="1500" b="1" dirty="0">
                <a:solidFill>
                  <a:srgbClr val="FFFFFF"/>
                </a:solidFill>
                <a:latin typeface="Calibri" pitchFamily="34" charset="0"/>
                <a:ea typeface="Calibri" pitchFamily="34" charset="-122"/>
                <a:cs typeface="Calibri" pitchFamily="34" charset="-120"/>
              </a:rPr>
              <a:t>·N</a:t>
            </a:r>
            <a:endParaRPr lang="en-US" sz="1500" dirty="0"/>
          </a:p>
        </p:txBody>
      </p:sp>
      <p:sp>
        <p:nvSpPr>
          <p:cNvPr id="7" name="Text 5"/>
          <p:cNvSpPr txBox="1"/>
          <p:nvPr/>
        </p:nvSpPr>
        <p:spPr>
          <a:xfrm>
            <a:off x="868680" y="3236976"/>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02</a:t>
            </a:r>
            <a:endParaRPr lang="en-US" sz="1800" dirty="0"/>
          </a:p>
        </p:txBody>
      </p:sp>
      <p:sp>
        <p:nvSpPr>
          <p:cNvPr id="8" name="Text 6"/>
          <p:cNvSpPr txBox="1"/>
          <p:nvPr/>
        </p:nvSpPr>
        <p:spPr>
          <a:xfrm>
            <a:off x="1463040" y="3236976"/>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Kinetik </a:t>
            </a:r>
            <a:pPr indent="0" marL="0">
              <a:buNone/>
            </a:pPr>
            <a:r>
              <a:rPr lang="en-US" sz="1500" b="1" dirty="0">
                <a:solidFill>
                  <a:srgbClr val="FFFFFF"/>
                </a:solidFill>
                <a:latin typeface="Calibri" pitchFamily="34" charset="0"/>
                <a:ea typeface="Calibri" pitchFamily="34" charset="-122"/>
                <a:cs typeface="Calibri" pitchFamily="34" charset="-120"/>
              </a:rPr>
              <a:t>f = μ</a:t>
            </a:r>
            <a:pPr indent="0" marL="0">
              <a:buNone/>
            </a:pPr>
            <a:r>
              <a:rPr lang="en-US" sz="1500" b="1" baseline="-40000" dirty="0">
                <a:solidFill>
                  <a:srgbClr val="FFFFFF"/>
                </a:solidFill>
                <a:latin typeface="Calibri" pitchFamily="34" charset="0"/>
                <a:ea typeface="Calibri" pitchFamily="34" charset="-122"/>
                <a:cs typeface="Calibri" pitchFamily="34" charset="-120"/>
              </a:rPr>
              <a:t>k</a:t>
            </a:r>
            <a:pPr indent="0" marL="0">
              <a:buNone/>
            </a:pPr>
            <a:r>
              <a:rPr lang="en-US" sz="1500" b="1" dirty="0">
                <a:solidFill>
                  <a:srgbClr val="FFFFFF"/>
                </a:solidFill>
                <a:latin typeface="Calibri" pitchFamily="34" charset="0"/>
                <a:ea typeface="Calibri" pitchFamily="34" charset="-122"/>
                <a:cs typeface="Calibri" pitchFamily="34" charset="-120"/>
              </a:rPr>
              <a:t>·N</a:t>
            </a:r>
            <a:endParaRPr lang="en-US" sz="1500" dirty="0"/>
          </a:p>
        </p:txBody>
      </p:sp>
      <p:sp>
        <p:nvSpPr>
          <p:cNvPr id="9" name="Text 7"/>
          <p:cNvSpPr txBox="1"/>
          <p:nvPr/>
        </p:nvSpPr>
        <p:spPr>
          <a:xfrm>
            <a:off x="868680" y="4023360"/>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03</a:t>
            </a:r>
            <a:endParaRPr lang="en-US" sz="1800" dirty="0"/>
          </a:p>
        </p:txBody>
      </p:sp>
      <p:sp>
        <p:nvSpPr>
          <p:cNvPr id="10" name="Text 8"/>
          <p:cNvSpPr txBox="1"/>
          <p:nvPr/>
        </p:nvSpPr>
        <p:spPr>
          <a:xfrm>
            <a:off x="1463040" y="4023360"/>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Alana </a:t>
            </a:r>
            <a:pPr indent="0" marL="0">
              <a:buNone/>
            </a:pPr>
            <a:r>
              <a:rPr lang="en-US" sz="1500" b="1" dirty="0">
                <a:solidFill>
                  <a:srgbClr val="FFFFFF"/>
                </a:solidFill>
                <a:latin typeface="Calibri" pitchFamily="34" charset="0"/>
                <a:ea typeface="Calibri" pitchFamily="34" charset="-122"/>
                <a:cs typeface="Calibri" pitchFamily="34" charset="-120"/>
              </a:rPr>
              <a:t>bağlı değil</a:t>
            </a:r>
            <a:endParaRPr lang="en-US" sz="1500" dirty="0"/>
          </a:p>
        </p:txBody>
      </p:sp>
      <p:sp>
        <p:nvSpPr>
          <p:cNvPr id="11" name="Text 9"/>
          <p:cNvSpPr txBox="1"/>
          <p:nvPr/>
        </p:nvSpPr>
        <p:spPr>
          <a:xfrm>
            <a:off x="868680" y="4809744"/>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04</a:t>
            </a:r>
            <a:endParaRPr lang="en-US" sz="1800" dirty="0"/>
          </a:p>
        </p:txBody>
      </p:sp>
      <p:sp>
        <p:nvSpPr>
          <p:cNvPr id="12" name="Text 10"/>
          <p:cNvSpPr txBox="1"/>
          <p:nvPr/>
        </p:nvSpPr>
        <p:spPr>
          <a:xfrm>
            <a:off x="1463040" y="4809744"/>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Kritik açı </a:t>
            </a:r>
            <a:pPr indent="0" marL="0">
              <a:buNone/>
            </a:pPr>
            <a:r>
              <a:rPr lang="en-US" sz="1500" b="1" dirty="0">
                <a:solidFill>
                  <a:srgbClr val="FFFFFF"/>
                </a:solidFill>
                <a:latin typeface="Calibri" pitchFamily="34" charset="0"/>
                <a:ea typeface="Calibri" pitchFamily="34" charset="-122"/>
                <a:cs typeface="Calibri" pitchFamily="34" charset="-120"/>
              </a:rPr>
              <a:t>tanθ = μ</a:t>
            </a:r>
            <a:pPr indent="0" marL="0">
              <a:buNone/>
            </a:pPr>
            <a:r>
              <a:rPr lang="en-US" sz="1500" b="1" baseline="-40000" dirty="0">
                <a:solidFill>
                  <a:srgbClr val="FFFFFF"/>
                </a:solidFill>
                <a:latin typeface="Calibri" pitchFamily="34" charset="0"/>
                <a:ea typeface="Calibri" pitchFamily="34" charset="-122"/>
                <a:cs typeface="Calibri" pitchFamily="34" charset="-120"/>
              </a:rPr>
              <a:t>s</a:t>
            </a:r>
            <a:endParaRPr lang="en-US" sz="1500" dirty="0"/>
          </a:p>
        </p:txBody>
      </p:sp>
      <p:sp>
        <p:nvSpPr>
          <p:cNvPr id="13" name="Text 11"/>
          <p:cNvSpPr txBox="1"/>
          <p:nvPr/>
        </p:nvSpPr>
        <p:spPr>
          <a:xfrm>
            <a:off x="6446520" y="2057400"/>
            <a:ext cx="4572000"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TEMEL BAĞINTILAR</a:t>
            </a:r>
            <a:endParaRPr lang="en-US" sz="1050" dirty="0"/>
          </a:p>
        </p:txBody>
      </p:sp>
      <p:sp>
        <p:nvSpPr>
          <p:cNvPr id="14" name="Shape 12"/>
          <p:cNvSpPr/>
          <p:nvPr/>
        </p:nvSpPr>
        <p:spPr>
          <a:xfrm>
            <a:off x="6446520" y="2395728"/>
            <a:ext cx="5105095" cy="694944"/>
          </a:xfrm>
          <a:prstGeom prst="roundRect">
            <a:avLst>
              <a:gd name="adj" fmla="val 13158"/>
            </a:avLst>
          </a:prstGeom>
          <a:solidFill>
            <a:srgbClr val="1C2542"/>
          </a:solidFill>
          <a:ln w="9525">
            <a:solidFill>
              <a:srgbClr val="2C3860"/>
            </a:solidFill>
            <a:prstDash val="solid"/>
          </a:ln>
        </p:spPr>
      </p:sp>
      <p:sp>
        <p:nvSpPr>
          <p:cNvPr id="15" name="Text 13"/>
          <p:cNvSpPr txBox="1"/>
          <p:nvPr/>
        </p:nvSpPr>
        <p:spPr>
          <a:xfrm>
            <a:off x="6647688" y="2395728"/>
            <a:ext cx="1463040"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fs ≤ μs · N</a:t>
            </a:r>
            <a:endParaRPr lang="en-US" sz="1350" dirty="0"/>
          </a:p>
        </p:txBody>
      </p:sp>
      <p:sp>
        <p:nvSpPr>
          <p:cNvPr id="16" name="Text 14"/>
          <p:cNvSpPr txBox="1"/>
          <p:nvPr/>
        </p:nvSpPr>
        <p:spPr>
          <a:xfrm>
            <a:off x="8183880" y="2395728"/>
            <a:ext cx="3184855"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statik: eşiğe kadar dengeler</a:t>
            </a:r>
            <a:endParaRPr lang="en-US" sz="1200" dirty="0"/>
          </a:p>
        </p:txBody>
      </p:sp>
      <p:sp>
        <p:nvSpPr>
          <p:cNvPr id="17" name="Shape 15"/>
          <p:cNvSpPr/>
          <p:nvPr/>
        </p:nvSpPr>
        <p:spPr>
          <a:xfrm>
            <a:off x="6446520" y="3218688"/>
            <a:ext cx="5105095" cy="694944"/>
          </a:xfrm>
          <a:prstGeom prst="roundRect">
            <a:avLst>
              <a:gd name="adj" fmla="val 13158"/>
            </a:avLst>
          </a:prstGeom>
          <a:solidFill>
            <a:srgbClr val="1C2542"/>
          </a:solidFill>
          <a:ln w="9525">
            <a:solidFill>
              <a:srgbClr val="2C3860"/>
            </a:solidFill>
            <a:prstDash val="solid"/>
          </a:ln>
        </p:spPr>
      </p:sp>
      <p:sp>
        <p:nvSpPr>
          <p:cNvPr id="18" name="Text 16"/>
          <p:cNvSpPr txBox="1"/>
          <p:nvPr/>
        </p:nvSpPr>
        <p:spPr>
          <a:xfrm>
            <a:off x="6647688" y="3218688"/>
            <a:ext cx="1463040"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fk = μk · N</a:t>
            </a:r>
            <a:endParaRPr lang="en-US" sz="1350" dirty="0"/>
          </a:p>
        </p:txBody>
      </p:sp>
      <p:sp>
        <p:nvSpPr>
          <p:cNvPr id="19" name="Text 17"/>
          <p:cNvSpPr txBox="1"/>
          <p:nvPr/>
        </p:nvSpPr>
        <p:spPr>
          <a:xfrm>
            <a:off x="8183880" y="3218688"/>
            <a:ext cx="3184855"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kinetik: sabit</a:t>
            </a:r>
            <a:endParaRPr lang="en-US" sz="1200" dirty="0"/>
          </a:p>
        </p:txBody>
      </p:sp>
      <p:sp>
        <p:nvSpPr>
          <p:cNvPr id="20" name="Shape 18"/>
          <p:cNvSpPr/>
          <p:nvPr/>
        </p:nvSpPr>
        <p:spPr>
          <a:xfrm>
            <a:off x="6446520" y="4041648"/>
            <a:ext cx="5105095" cy="694944"/>
          </a:xfrm>
          <a:prstGeom prst="roundRect">
            <a:avLst>
              <a:gd name="adj" fmla="val 13158"/>
            </a:avLst>
          </a:prstGeom>
          <a:solidFill>
            <a:srgbClr val="1C2542"/>
          </a:solidFill>
          <a:ln w="9525">
            <a:solidFill>
              <a:srgbClr val="2C3860"/>
            </a:solidFill>
            <a:prstDash val="solid"/>
          </a:ln>
        </p:spPr>
      </p:sp>
      <p:sp>
        <p:nvSpPr>
          <p:cNvPr id="21" name="Text 19"/>
          <p:cNvSpPr txBox="1"/>
          <p:nvPr/>
        </p:nvSpPr>
        <p:spPr>
          <a:xfrm>
            <a:off x="6647688" y="4041648"/>
            <a:ext cx="1463040"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tanθ = μs</a:t>
            </a:r>
            <a:endParaRPr lang="en-US" sz="1350" dirty="0"/>
          </a:p>
        </p:txBody>
      </p:sp>
      <p:sp>
        <p:nvSpPr>
          <p:cNvPr id="22" name="Text 20"/>
          <p:cNvSpPr txBox="1"/>
          <p:nvPr/>
        </p:nvSpPr>
        <p:spPr>
          <a:xfrm>
            <a:off x="8183880" y="4041648"/>
            <a:ext cx="3184855"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kaymanın başladığı açı</a:t>
            </a:r>
            <a:endParaRPr lang="en-US" sz="1200" dirty="0"/>
          </a:p>
        </p:txBody>
      </p:sp>
      <p:sp>
        <p:nvSpPr>
          <p:cNvPr id="23" name="Shape 21"/>
          <p:cNvSpPr/>
          <p:nvPr/>
        </p:nvSpPr>
        <p:spPr>
          <a:xfrm>
            <a:off x="6446520" y="4864608"/>
            <a:ext cx="5105095" cy="694944"/>
          </a:xfrm>
          <a:prstGeom prst="roundRect">
            <a:avLst>
              <a:gd name="adj" fmla="val 13158"/>
            </a:avLst>
          </a:prstGeom>
          <a:solidFill>
            <a:srgbClr val="1C2542"/>
          </a:solidFill>
          <a:ln w="9525">
            <a:solidFill>
              <a:srgbClr val="2C3860"/>
            </a:solidFill>
            <a:prstDash val="solid"/>
          </a:ln>
        </p:spPr>
      </p:sp>
      <p:sp>
        <p:nvSpPr>
          <p:cNvPr id="24" name="Text 22"/>
          <p:cNvSpPr txBox="1"/>
          <p:nvPr/>
        </p:nvSpPr>
        <p:spPr>
          <a:xfrm>
            <a:off x="6647688" y="4864608"/>
            <a:ext cx="1956816"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d = v² / (2·μ·g)</a:t>
            </a:r>
            <a:endParaRPr lang="en-US" sz="1350" dirty="0"/>
          </a:p>
        </p:txBody>
      </p:sp>
      <p:sp>
        <p:nvSpPr>
          <p:cNvPr id="25" name="Text 23"/>
          <p:cNvSpPr txBox="1"/>
          <p:nvPr/>
        </p:nvSpPr>
        <p:spPr>
          <a:xfrm>
            <a:off x="8677656" y="4864608"/>
            <a:ext cx="2691079"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fren mesafesi</a:t>
            </a:r>
            <a:endParaRPr lang="en-US" sz="1200" dirty="0"/>
          </a:p>
        </p:txBody>
      </p:sp>
      <p:sp>
        <p:nvSpPr>
          <p:cNvPr id="26" name="Shape 24"/>
          <p:cNvSpPr/>
          <p:nvPr/>
        </p:nvSpPr>
        <p:spPr>
          <a:xfrm>
            <a:off x="868680" y="5806440"/>
            <a:ext cx="10058400" cy="566928"/>
          </a:xfrm>
          <a:prstGeom prst="roundRect">
            <a:avLst>
              <a:gd name="adj" fmla="val 16129"/>
            </a:avLst>
          </a:prstGeom>
          <a:solidFill>
            <a:srgbClr val="1C2542"/>
          </a:solidFill>
          <a:ln w="9525">
            <a:solidFill>
              <a:srgbClr val="2C3860"/>
            </a:solidFill>
            <a:prstDash val="solid"/>
          </a:ln>
        </p:spPr>
      </p:sp>
      <p:sp>
        <p:nvSpPr>
          <p:cNvPr id="27" name="Text 25"/>
          <p:cNvSpPr txBox="1"/>
          <p:nvPr/>
        </p:nvSpPr>
        <p:spPr>
          <a:xfrm>
            <a:off x="1188720" y="5806440"/>
            <a:ext cx="9418320" cy="566928"/>
          </a:xfrm>
          <a:prstGeom prst="rect">
            <a:avLst/>
          </a:prstGeom>
          <a:noFill/>
          <a:ln/>
        </p:spPr>
        <p:txBody>
          <a:bodyPr wrap="square" lIns="0" tIns="0" rIns="0" bIns="0" rtlCol="0" anchor="ctr"/>
          <a:lstStyle/>
          <a:p>
            <a:pPr indent="0" marL="0">
              <a:buNone/>
            </a:pPr>
            <a:r>
              <a:rPr lang="en-US" sz="1300" dirty="0">
                <a:solidFill>
                  <a:srgbClr val="AEBBD6"/>
                </a:solidFill>
                <a:latin typeface="Calibri" pitchFamily="34" charset="0"/>
                <a:ea typeface="Calibri" pitchFamily="34" charset="-122"/>
                <a:cs typeface="Calibri" pitchFamily="34" charset="-120"/>
              </a:rPr>
              <a:t>Etkileşimli deneyler, canlı grafikler ve hızlı test:  </a:t>
            </a:r>
            <a:pPr indent="0" marL="0">
              <a:buNone/>
            </a:pPr>
            <a:r>
              <a:rPr lang="en-US" sz="1300" b="1" dirty="0">
                <a:solidFill>
                  <a:srgbClr val="C6F36B"/>
                </a:solidFill>
                <a:latin typeface="Calibri" pitchFamily="34" charset="0"/>
                <a:ea typeface="Calibri" pitchFamily="34" charset="-122"/>
                <a:cs typeface="Calibri" pitchFamily="34" charset="-120"/>
              </a:rPr>
              <a:t>dersler.perinet.org/surtunme-kuvveti.html</a:t>
            </a:r>
            <a:endParaRPr lang="en-US" sz="1300" dirty="0"/>
          </a:p>
        </p:txBody>
      </p:sp>
      <p:sp>
        <p:nvSpPr>
          <p:cNvPr id="28" name="Text 26"/>
          <p:cNvSpPr txBox="1"/>
          <p:nvPr/>
        </p:nvSpPr>
        <p:spPr>
          <a:xfrm>
            <a:off x="5852160" y="1078992"/>
            <a:ext cx="5699455" cy="457200"/>
          </a:xfrm>
          <a:prstGeom prst="rect">
            <a:avLst/>
          </a:prstGeom>
          <a:noFill/>
          <a:ln/>
        </p:spPr>
        <p:txBody>
          <a:bodyPr wrap="square" lIns="0" tIns="0" rIns="0" bIns="0" rtlCol="0" anchor="ctr"/>
          <a:lstStyle/>
          <a:p>
            <a:pPr algn="r" indent="0" marL="0">
              <a:buNone/>
            </a:pPr>
            <a:r>
              <a:rPr lang="en-US" sz="1000" b="1" spc="200" kern="0" dirty="0">
                <a:solidFill>
                  <a:srgbClr val="8D97B5"/>
                </a:solidFill>
                <a:latin typeface="Calibri" pitchFamily="34" charset="0"/>
                <a:ea typeface="Calibri" pitchFamily="34" charset="-122"/>
                <a:cs typeface="Calibri" pitchFamily="34" charset="-120"/>
              </a:rPr>
              <a:t>SIRADAKİ KONU  </a:t>
            </a:r>
            <a:pPr algn="r" indent="0" marL="0">
              <a:buNone/>
            </a:pPr>
            <a:r>
              <a:rPr lang="en-US" sz="1300" b="1" dirty="0">
                <a:solidFill>
                  <a:srgbClr val="FFFFFF"/>
                </a:solidFill>
                <a:latin typeface="Calibri" pitchFamily="34" charset="0"/>
                <a:ea typeface="Calibri" pitchFamily="34" charset="-122"/>
                <a:cs typeface="Calibri" pitchFamily="34" charset="-120"/>
              </a:rPr>
              <a:t>05 · Limit hız</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146</Slides>
  <Notes>146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146</vt:i4>
      </vt:variant>
    </vt:vector>
  </HeadingPairs>
  <TitlesOfParts>
    <vt:vector size="14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vector>
  </TitlesOfParts>
  <Company>dersler.perinet.org</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Sürtünme kuvveti — Dersler</dc:title>
  <dc:subject>Fizik · Kuvvet ve Hareket</dc:subject>
  <dc:creator>Dersler</dc:creator>
  <cp:lastModifiedBy>Dersler</cp:lastModifiedBy>
  <cp:revision>1</cp:revision>
  <dcterms:created xsi:type="dcterms:W3CDTF">2026-09-30T12:21:33Z</dcterms:created>
  <dcterms:modified xsi:type="dcterms:W3CDTF">2026-09-30T12:21:33Z</dcterms:modified>
</cp:coreProperties>
</file>