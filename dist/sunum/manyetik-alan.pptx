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Lst>
  <p:notesMasterIdLst>
    <p:notesMasterId r:id="rId1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notesMaster" Target="notesMasters/notesMaster1.xml"/><Relationship Id="rId137" Type="http://schemas.openxmlformats.org/officeDocument/2006/relationships/presProps" Target="presProps.xml"/><Relationship Id="rId138" Type="http://schemas.openxmlformats.org/officeDocument/2006/relationships/viewProps" Target="viewProps.xml"/><Relationship Id="rId139" Type="http://schemas.openxmlformats.org/officeDocument/2006/relationships/theme" Target="theme/theme1.xml"/><Relationship Id="rId1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Güneş'ten 150 milyon kilometre yol gelen yüklü parçacıklar neden ekvatorun değil de kutupların göğünü aydınlatır? Cevap, pusula iğnesini kuzeye çeviren, elektrik motorunu döndüren ve hoparlörü titreten şeyle aynı: manyetik alan. Üstelik manyetizmanın kaynağı mıknatıslar değil, hareket hâlindeki yüklerdir: bir telden akım geçirdiğin anda çevresinde bir manyetik alan doğar. Bu anlatım dört basamakta ilerliyor: önce alanı demir tozuyla görünür kılıp adını koyacağız ve yönleri sağ elinle bulmayı öğreneceğiz; sonra alanın nereden geldiğini ve içine giren bir akıma ya da yüke ne yaptığını bağıntılarıyla çıkaracağız; ardından paralel tellere, sarmal yörüngelere ve gerçek dünyadaki uygulamalara geçeceğiz. En sonda kolaydan zora sıralanmış örneklerle hepsini birlikte kullanacağız.
Kapak görseli: Kutup ışıkları, Dünya'nın manyetik alanının gökyüzüne çizdiği bir resimdir. Güneş'ten gelen yüklü parçacıklar alan çizgilerine sarılarak kutuplara yakın bölgelerde atmosfere dalar, oradaki atomlara çarpıp onları ışıldatır; yeşil ışığın büyük kısmı oksijenden gelir. Bu parçacıkların yolunu çizen kuvveti ikinci ve üçüncü basamakta adım adım hesaplayacağız.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Güneş'ten 150 milyon kilometre yol gelen yüklü parçacıklar neden ekvatorun değil de kutupların göğünü aydınlatır? Cevap, pusula iğnesini kuzeye çeviren, elektrik motorunu döndüren ve hoparlörü titreten şeyle aynı: manyetik alan. Üstelik manyetizmanın kaynağı mıknatıslar değil, hareket hâlindeki yüklerdir: bir telden akım geçirdiğin anda çevresinde bir manyetik alan doğar. Bu anlatım dört basamakta ilerliyor: önce alanı demir tozuyla görünür kılıp adını koyacağız ve yönleri sağ elinle bulmayı öğreneceğiz; sonra alanın nereden geldiğini ve içine giren bir akıma ya da yüke ne yaptığını bağıntılarıyla çıkaracağız; ardından paralel tellere, sarmal yörüngelere ve gerçek dünyadaki uygulamalara geçeceğiz. En sonda kolaydan zora sıralanmış örneklerle hepsini birlikte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alanı demir tozuyla görünür kıl, kaynağını tanı ve yönleri sağ elinle bulmayı öğren. Bu basamakta hesap yok denecek kadar az.
   01 Önce gözlemle: demir tozu neyi gösterir?
   02 Manyetik alan nedir?
   03 Akım da mıknatıs gibidir: Oersted'in keşfi
   04 Yönleri bulmak: sağ el kuralı
2. Orta — Bağıntılar: telin alanını, tele ve yüke etki eden kuvveti ve çembersel yörüngeyi adım adım çıkar, sayılarla hisset.
   05 Akımın oluşturduğu alan: bağıntılar
   06 Sayılarla hisset: bir tel ne kadar güçlü bir mıknatıstır?
   07 Akım taşıyan tele etki eden kuvvet
   08 Hareketli yüke etki eden kuvvet
   09 Manyetik alanda dairesel hareket
3. İleri — Derinleşme: alanlar üst üste binince, yük alana eğik girince ve manyetizma teknolojiye dönüşünce ne olur?
   10 İki tel yan yana: alanların toplanması ve paralel teller
   11 Eğik giriş, sarmal yörünge ve siklotron
   12 Manyetizma gerçek dünyada
4. Pekiştir — Kolaydan zora çözümlü örnekler ve sınavda puan kaybettiren klasik hatalar.
   13 Çözümlü örnekler
   14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Elektrik akımı: bir telde yüklerin akmasıdır ve amper (A) ile ölçülür. 2 A'lik akım, telin bir kesitinden her saniye 2 coulomb yük geçmesi demektir.
• Elektrik yükü: protonlar pozitif (+), elektronlar negatif (−) yüklüdür; yükün birimi coulomb (C). Bir elektronun yükü çok küçüktür: 1,6·10⁻¹⁹ C.
• Kuvvet ve yön: kuvvet bir itme ya da çekmedir ve newton (N) ile ölçülür. Kuvvetin de hızın da hem büyüklüğü hem yönü vardır; ikisini de okla gösteririz.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Sinüs: formüllerde açının etkisini verir. sin 0° = 0, sin 30° = 0,5, sin 90° = 1; yani dik açıda etki en büyük, sıfır açıda hiç yoktur.
• Çok küçük sayılar: 10⁻⁷ = 0,0000001 demektir (virgülden sonraki 7. basamakta 1). Mikro (µ) milyonda bir demektir: 40 µT = 40·10⁻⁶ T = 4·10⁻⁵ T.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alanı demir tozuyla görünür kıl, kaynağını tanı ve yönleri sağ elinle bulmayı öğren. Bu basamakta hesap yok denecek kadar az.
01 Önce gözlemle: demir tozu neyi gösterir?
02 Manyetik alan nedir?
03 Akım da mıknatıs gibidir: Oersted'in keşfi
04 Yönleri bulmak: sağ el kuralı
Görsel: Kâğıdın altındaki mıknatıs görünmüyor, tozlar da ona değmiyor; yine de demir tozları onun etkisini haritalıyor. Her toz tanesi küçük bir pusula iğnesi gibi o noktadaki etkinin yönüne diziliyor; tozların iki uçta sıklaşması etkinin en güçlü orada olduğunu gösteriyor. Tozların çizdiği bu eğrilere bir sonraki bölümde manyetik alan çizgileri adını vereceğiz.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demir tozu neyi gösterir? — adım 1/4
• Bir çubuk mıknatısın üstüne beyaz bir kâğıt koy, üzerine demir tozu serp ve kâğıda parmağınla hafifçe vur.
• Dağınık tozlar birkaç saniyede düzenli eğriler çizerek sıraya girer: mıknatısın bir ucundan çıkıp geniş yaylarla öbür ucuna dolanan çizgiler.
• Tozlar mıknatısa değmediği hâlde onun etkisini hisseder; demek ki mıknatısın çevresindeki uzay “boş” değildir.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demir tozu neyi gösterir? — adım 2/4
• Kâğıdın üzerinde gerçek bir pusulayı gezdirirsen iğnesinin her yerde tozların çizdiği eğriye teğet durduğunu görürsün.
• İki mıknatısı yaklaştırınca da bir yönde çekiştiklerini, birini ters çevirince itiştiklerini hissedersin.
• Tozların görüntüsünden dört gözlem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demir tozu neyi gösterir? — adım 3/4
• Uçlarda yoğunlaşma: tozlar mıknatısın iki ucunda en sıktır; etki en güçlü orada. Bu uçlara kutup denir.
• Kapalı yaylar: çizgiler bir kutuptan çıkar, mıknatısın çevresinden dolanıp öbür kutba döner.
• Uzakta seyrelme: mıknatıstan uzaklaştıkça çizgiler aralanır, etki zayıflar.
• Kesişme yok: iki çizgi hiçbir yerde birbirini kesmez; her noktada tek bir yön vardır.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demir tozu neyi gösterir? — şekil
Tozların dizilişini şema olarak böyle çizebilirsin: her kesik çizgi, uç uca dizilmiş toz taneleri. Eğriler mıknatısın uçlarında sıklaşır, uzaklaştıkça seyrelir ve hiçbiri bir başkasını kesmez. Eğrilerden birinin üstüne konan pusulanın iğnesi o eğriye teğet durur; tozlar da iğne gibi o noktadaki etkinin doğrultusunu gösterir.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Mıknatısın çevresinde demir tozunu ve pusula iğnesini belli bir yöne çeviren bir etki bölgesi vardır. Tozların çizdiği eğriler kutuplarda sıklaşır, uzakta seyrelir ve birbirini kesmez.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Buzdolabı mıknatısı çelik kapıya yapışıyor da alüminyum tencereye neden yapışmıyor?
Sınıfa sorun, birkaç tahmin alın; sonra cevap slaytına geçin.
Cevap: Mıknatıs yalnızca demir, nikel ve kobalt gibi birkaç maddeyi güçlü biçimde çeker. Bu maddelerde atomların minik mıknatısları, mıknatısın yanında aynı yöne dizilir ve madde geçici bir mıknatısa dönüşür. Alüminyum, bakır, plastik ve cam bunu yapamaz; üzerlerindeki etki gözle fark edilemeyecek kadar küçüktür.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Mıknatıs yalnızca demir, nikel ve kobalt gibi birkaç maddeyi güçlü biçimde çeker. Bu maddelerde atomların minik mıknatısları, mıknatısın yanında aynı yöne dizilir ve madde geçici bir mıknatısa dönüşür. Alüminyum, bakır, plastik ve cam bunu yapamaz; üzerlerindeki etki gözle fark edilemeyecek kadar küçüktür.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Manyetik alan nedir? — adım 1/6
• Mıknatısların ve akım taşıyan iletkenlerin çevresinde, başka mıknatıslara ve hareketli yüklere kuvvet uygulayan bir etki bölgesi oluşur: manyetik alan (B).
• Vektörel bir büyüklüktür, yani her noktada hem bir büyüklüğü hem bir yönü vardır.
• Birimi tesla (T)'dır.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Manyetik alan nedir? — adım 2/6
• Demir tozlarının çizdiği eğrilere manyetik alan çizgileri denir; bir noktadaki alanın yönü, oraya konan pusula iğnesinin N ucunun gösterdiği yöndür.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Manyetik alan nedir? — adım 3/6
• Alan çizgileri mıknatısın N kutbundan çıkar, S kutbunda son bulur; mıknatısın içinde S'ten N'e devam eder, yani kapalı eğrilerdir.
• Çizgiler asla kesişmez; sıklıkları alanın şiddetini gösterir.
• Tek kutup yoktur: bir mıknatıs ikiye bölünürse iki yeni mıknatıs oluşur.
• Aynı kutuplar iter, zıt kutuplar çeker: N ile N, S ile S birbirini iter; N ile S birbirini çeker.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Manyetik alan nedir? — şekil
Manyetik alan çizgileri mıknatısın dışında N'den çıkıp S'ye girer ve içeride devreyi tamamlar — yani elektrik alanının aksine kapalı halkalardır. Bunun doğrudan sonucu şudur: bir mıknatısı ikiye bölersen tek bir kutup elde edemezsin, elinde iki tam mıknatıs kalır. Bugüne kadar hiç tek manyetik kutup gözlenmedi.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Manyetik alan nedir? — adım 5/6
Dünya da bir mıknatıs
• Pusula işe yarar, çünkü Dünya'nın kendisi dev bir mıknatıs gibi davranır; iğnenin kuzeyi gösteren ucuna N kutbu denir.
• Manyetik kutuplar coğrafi kutuplarla tam çakışmaz ve yıllar içinde yavaş yavaş yer değiştirir.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Manyetik alan nedir? — adım 6/6
Ölçek duygusu: Dünya'nın manyetik alanı ≈ 50 µT, buzdolabı mıknatısı ≈ 5 mT, hoparlör mıknatısı ≈ 1 T, MR cihazı 1,5–3 T. Mikrotesla (µT) teslanın milyonda biri, militesla (mT) binde biridir; MR cihazının alanı Dünya'nınkinin 30 000 ile 60 000 katıdır.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Manyetik alan (B), mıknatısların ve akımların çevresinde hareketli yüklere kuvvet uygulayan vektörel bir etkidir; birimi tesladır. Alan çizgileri N'den çıkıp S'ye giren kapalı eğrilerdir ve tek kutup yoktur.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Pusulanın N ucu kuzeyi gösteriyorsa, coğrafi kuzey kutbunun yakınındaki manyetik kutup N mi, S mi?
Sınıfa sorun, birkaç tahmin alın; sonra cevap slaytına geçin.
Cevap: S kutbu. Zıt kutuplar birbirini çeker; pusulanın N ucu kuzeye çekildiğine göre orada bir S kutbu olmalıdır. Bu yüzden Dünya'nın alan çizgileri güney yarım kürede çıkıp kuzey yarım kürede yeniden Dünya'ya girer.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S kutbu. Zıt kutuplar birbirini çeker; pusulanın N ucu kuzeye çekildiğine göre orada bir S kutbu olmalıdır. Bu yüzden Dünya'nın alan çizgileri güney yarım kürede çıkıp kuzey yarım kürede yeniden Dünya'ya girer.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Akım da mıknatıs gibidir: Oersted'in keşfi — adım 1/6
• 1820'de Danimarkalı fizikçi Hans Christian Oersted, akım taşıyan bir telin yanındaki pusula iğnesinin saptığını gördü.
• Akımı kesince iğne yeniden kuzeye döndü; akımın yönünü çevirince ters yöne saptı.
• Bu basit gözlem, o güne kadar ayrı sanılan elektrik ile manyetizmanın aynı olayın iki yüzü olduğunu gösterdi: elektrik akımı manyetik alan oluşturur.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Akım da mıknatıs gibidir: Oersted'in keşfi — adım 2/6
• Akım varken sapar: akım geçince iğne döner, akım kesilince kuzeye geri döner.
• Yön akıma bağlıdır: akımın yönü ters çevrilince iğne de ters yöne sapar.
• Etki akıma ve uzaklığa bağlıdır: akım büyüdükçe sapma artar, pusula telden uzaklaştıkça azalır.
• Çizgiler çemberdir: düz bir telin alan çizgileri teli çevreleyen iç içe çemberlerdir; bu çizgilerin ne başı ne sonu vardır, telin de kutbu yoktur.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Akım da mıknatıs gibidir: Oersted'in keşfi — şekil
Oersted deneyine üstten bakıyorsun: tel, pusulanın hemen üstünden kuzey-güney doğrultusunda geçiyor. Akım yokken iğnenin kırmızı ucu kuzeyi gösterir. Güçlü bir akım geçince iğne tele neredeyse dik olacak kadar döner (Dünya'nın alanı onu hâlâ biraz kuzeye çeker); akımın yönünü çevirince iğne de ters yöne döner. İğneyi çeviren, akımın telin çevresinde oluşturduğu manyetik alandır.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Akım da mıknatıs gibidir: Oersted'in keşfi — adım 4/6
• Aynı teli bir halka biçiminde bükersen halkanın her parçasının alanı merkezde üst üste biner ve alan güçlenir.
• Teli yay gibi çok sayıda halka hâlinde sararsan bir bobin elde edersin; içinde alan güçlü ve hemen her yerde aynıdır, dışarıdan ise bobin bir çubuk mıknatıs gibi davranır: bir ucu N, öbür ucu S.
• İçine demir çekirdek konan bobine elektromıknatıs denir; hurda vinçleri ve elektrikli kilitler, alanı akımla birlikte açılıp kapanabildiği için bunu kullanır.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Akım da mıknatıs gibidir: Oersted'in keşfi — adım 5/6
• Peki çubuk mıknatısın alanı nereden geliyor?
• Onun içinde de yükler var: atomlardaki elektronlar.
• Her elektron minicik bir mıknatıs gibi davranır; demirde bu minik mıknatısların çoğu aynı yöne dizilince etkileri toplanır.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Akım da mıknatıs gibidir: Oersted'in keşfi — şekil
Düğmeye bastığında telden akım geçer ve telin altındaki pusulanın iğnesi tele dik doğrultuya döner. İğneyi çeviren, akımın telin çevresinde oluşturduğu manyetik alandır; düz telin alan çizgileri teli saran çemberler olduğu için telin altında alan yatay ve tele diktir. Düğmeyi bırakıp akımı kesince iğne yeniden kuzeyi gösterir, pilleri ters çevirirsen ters yöne sapar.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Akım taşıyan tel çevresinde manyetik alan oluşturur; düz telde alan çizgileri teli çevreleyen çemberlerdir. Teli bobin hâlinde sarınca alan güçlenir ve bobin bir mıknatıs gibi davranır.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Yönleri bulmak: sağ el kuralı — adım 1/4
• Manyetizmada yönler üç boyutludur ve çoğu zaman sezgiye ters düşer; bu yüzden fizikçiler yön bulmak için ellerini kullanır.
• İki kural bilmen yeter, ikisi de sağ el ile uygulanır.
• Birincisi telin çevresindeki alanın yönünü, ikincisi alanın içinde hareket eden yüke ya da akıma etki eden manyetik kuvvetin yönünü verir.
• Bu kuvvetin şaşırtıcı yanı, yükü alan boyunca itip çekmemesi, ona yandan etki etmesidir: kuvvet hem hıza hem alana diktir.
• Büyüklüğünü ikinci basamakta hesaplayacağız.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Yönleri bulmak: sağ el kuralı — adım 2/4
• Telin alanı için: Sağ elin başparmağı akım yönünü gösterecek şekilde teli kavra; bükülen parmaklar alan çizgilerinin yönünü verir.
• Kuvvet için: Parmaklar hız (ya da akım) yönünden alan yönüne doğru döndürülürken başparmak kuvveti gösterir.
• Negatif yükte kuvvet, bulunan yönün tam tersidir.
Sayfa düzlemi gösterimi: ⊗ sayfaya doğru (içeri), ⊙ sayfadan dışarı anlamına gelir. Uzaklaşan okun tüyü (⊗) ve sana yaklaşan okun ucu (⊙) gibi düşünülebilir.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Yönleri bulmak: sağ el kuralı — şekil
Manyetik kuvvet hem akıma hem alana diktir — yani üç yön bir odanın köşesi gibi birbirine dik durur. Sağ elinin parmaklarını akım (ya da hız) yönüne, çizimde sağa uzat; sonra alan yönüne, sana doğru kıvır: başparmağın kuvveti, burada aşağıyı gösterir. Negatif yükte bulduğun yönün tam tersini alırsın. Sayfa düzleminde çarpı içeri, nokta dışarı demektir: uzaklaşan okun tüyü ve yaklaşan okun ucu.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Yönleri bulmak: sağ el kuralı — adım 4/4
• Hemen dene: sayfaya doğru (⊗) akım taşıyan bir teli sağ elinle kavra.
• Başparmağın sayfanın içini gösterirken parmakların saat yönünde kıvrılır; sayfanın 01 numaralı deneyinde de akım sayfaya doğruyken pusula saat yönünde dizilir.
• Kuvvet kuralını 04 numaralı sağ el kuralı alıştırmasında istediğin kadar deneyebilirsin.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Telin alanında başparmak akımı, kıvrılan parmaklar alanı gösterir; kuvvette parmaklar hızdan alana dönerken başparmak kuvveti verir. Negatif yükte kuvvet ters döner; ⊗ içeri, ⊙ dışarı demektir.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Sayfadan dışarı (⊙) akım taşıyan bir telin alan çizgileri, sayfaya bakan birine göre hangi yönde döner?
Sınıfa sorun, birkaç tahmin alın; sonra cevap slaytına geçin.
Cevap: Başparmağını sana doğru, sayfadan dışarı çevir: parmakların saat yönünün tersine kıvrılır. Akımın yönü ters dönünce alan çizgilerinin dönme yönü de ters döner. Kısaca ⊗ akımda saat yönü, ⊙ akımda saatin tersi yönü.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Başparmağını sana doğru, sayfadan dışarı çevir: parmakların saat yönünün tersine kıvrılır. Akımın yönü ters dönünce alan çizgilerinin dönme yönü de ters döner. Kısaca ⊗ akımda saat yönü, ⊙ akımda saatin tersi yönü.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Bağıntılar: telin alanını, tele ve yüke etki eden kuvveti ve çembersel yörüngeyi adım adım çıkar, sayılarla hisset.
05 Akımın oluşturduğu alan: bağıntılar
06 Sayılarla hisset: bir tel ne kadar güçlü bir mıknatıstır?
07 Akım taşıyan tele etki eden kuvvet
08 Hareketli yüke etki eden kuvvet
09 Manyetik alanda dairesel hareket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Akımın oluşturduğu alan: bağıntılar — adım 1/7
• Oersted'in nitel gözlemini şimdi sayıya dökelim.
• Düz ve çok uzun bir telden I akımı geçiyorsa, telden r uzaklıktaki manyetik alanın büyüklüğü şudur:
B = μ₀·I / (2π·r)   μ₀ / 2π = 2·10⁻⁷ T·m/A   B = 2·10⁻⁷ · I /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Akımın oluşturduğu alan: bağıntılar — adım 2/7
Formüldeki harfler ne anlama geliyor?
Sembol | Anlamı | Birimi
B | telin oluşturduğu manyetik alanın büyüklüğü | T
I | telden geçen akım | A
r | telden, alanı bulmak istediğin noktaya olan uzaklık | m
μ₀ | boşluğun manyetik geçirgenliği; değeri hiç değişmeyen bir sabit (4π·10⁻⁷) | T·m/A
π | pi sayısı, yaklaşık 3,14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Akımın oluşturduğu alan: bağıntılar — adım 3/7
Bağıntı nereden geliyor?
• Akımla orantı: Akımı iki katına çıkarınca ölçülen alan da iki katına çıkar: B ∝ I.
• Simetri: Düz tel her yönden aynı görünür; bu yüzden telden aynı uzaklıktaki her noktada alan aynıdır ve çizgiler tel merkezli çemberlerdir.
• Çevreye yayılma: Akımın etkisi r yarıçaplı çemberin 2π·r uzunluğuna yayılır. Ampère yasası bunu B·2π·r = μ₀·I diye yazar; çevre r ile büyüdükçe alan küçülür.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Akımın oluşturduğu alan: bağıntılar — adım 4/7
• Sabit: Boşluğun manyetik geçirgenliği μ₀ = 4π·10⁻⁷ T·m/A'dir; 2π'ye bölünce 2·10⁻⁷ kalır.
• Alan akımla doğru, uzaklıkla ters orantılıdır.
• Dikkat: burada 1/r vardır, elektrik alandaki gibi 1/r² değil.
• Nokta yükün etkisi bir küre yüzeyine (4π·r²), telin etkisi ise yalnızca bir çember çevresine (2π·r) yayılır.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Akımın oluşturduğu alan: bağıntılar — şekil
Düz bir telden akım geçtiğinde çevresinde, tele dik düzlemlerde duran tel merkezli çemberler hâlinde bir manyetik alan doğar; burada çemberlere hafif yukarıdan baktığın için yassı görünüyorlar. Alanın yönünü sağ el kuralı verir: başparmak akım yönünü gösterecek şekilde teli kavrarsan, parmakların alan çizgilerini izler (önde sağa, arkada sola). Büyüklüğü akımla doğru, uzaklıkla ters orantılıdır — ters kare değil, ters birinci kuvvet.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Akımın oluşturduğu alan: bağıntılar — adım 6/7
Kaynak | Alan bağıntısı | Özellik
Düz tel | B = μ₀I / (2πr) | çembersel çizgiler
Çembersel halka (merkezde) | B = μ₀I / (2r) | halkaya dik
Bobin / solenoid (içinde) | B = μ₀·n·I | düzgün alan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Akımın oluşturduğu alan: bağıntılar — adım 7/7
• Bobin bağıntısındaki n, birim uzunluktaki sarım sayısıdır (n = N/ℓ).
• 20 cm'lik, 200 sarımlı bir bobinde n = 1000 sarım/m olur; 2 A akımla içindeki alan 4π·10⁻⁷ · 1000 · 2 ≈ 2,5 mT'dır, Dünya'nınkinin yaklaşık elli katı.
Birim kontrolü: (T·m/A) · A / m = T ✓. Bağıntıda r'yi santimetre olarak yazarsan sonuç yüz kat küçük çıkar; uzaklığı her zaman metreye çevir (5 cm = 0,05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Düz telin alanı B = 2·10⁻⁷·I/r'dir: akımla doğru, uzaklıkla ters orantılı (1/r, 1/r² değil). Halkanın merkezinde B = μ₀I/(2r), bobinin içinde B = μ₀·n·I olur.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bir tel ne kadar güçlü bir mıknatıstır? — adım 1/5
• Sayıları tanıdık bir ölçüyle, Dünya'nın yaklaşık 50 µT'lık alanıyla karşılaştıralım; pusula, telin alanı buna yaklaştığında belirgin sapar.
• Tabloda tel tek başına düşünülmüştür (B = 2·10⁻⁷·I/r):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bir tel ne kadar güçlü bir mıknatıstır? — adım 2/5
Durum | Akım | Uzaklık | Alan
Pil devresindeki ince tel | 1 A | 1 cm | 20 µT
Sayfadaki 01 deneyi (başlangıç) | 10 A | 5 cm | 40 µT
Kalın bir akü kablosu | 100 A | 10 cm | 200 µT
Yüksek gerilim hattının bir iletkeni | 1000 A | 20 m | 10 µT
Yıldırım kanalı (tipik tepe akımı) | 30 000 A | 100 m | 60 µT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bir tel ne kadar güçlü bir mıknatıstır? — adım 3/5
• Tablodan okunan düzen şu: alan akımın kendisine değil, akımın uzaklığa oranına bağlıdır.
• Akım on katına, uzaklık da on katına çıkarsa alan değişmez; 1 A ile 1 cm ve 10 A ile 10 cm aynı 20 µT'yı verir.
• Bin amperlik bir hattın 20 m altındaki alan Dünya'nınkinin beşte biri kadarken yıldırımın on binlerce amperi 100 m öteden bile Dünya'nın alanını aşar; ama yalnızca çok kısa bir an için.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bir tel ne kadar güçlü bir mıknatıstır? — şekil
Tablodaki alanlar çubuk olarak yan yana. Kesikli çizgi Dünya'nın 50 µT'lık alanı: çubuğu bu çizgiyi geçen kaynak pusulayı belirgin saptırır. En büyük akım en güçlü alanı vermiyor; bin amperlik hat, 20 m uzakta olduğu için pil telinden bile zayıf kalıyor. Alanı belirleyen akımın uzaklığa oranıdır.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bir tel ne kadar güçlü bir mıknatıstır? — adım 5/5
Deneyde dene: Sayfanın 01 numaralı bölümünde “Akım 2 katı” düğmesi alanı 40 µT'dan 80 µT'ya çıkarır, “Uzaklık 2 katı” ise 20 µT'ya indirir. “Tele çok yakın” düğmesi 4 A'i 2 cm'ye getirir ve yine 40 µT verir: oran aynı, alan aynı.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Telin alanı I/r oranına bağlıdır: 1 A'lik bir tel 1 cm'de 20 µT, 1000 A'lik bir hat 20 m'de 10 µT üretir. Pusula ancak bu alan Dünya'nın 50 µT'lık alanıyla kıyaslanabilir olunca belirgin sapar.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Akım taşıyan tele etki eden kuvvet — adım 1/5
• Manyetik alan içindeki bir tel akım taşıyorsa, tele bir kuvvet etki eder:
F = B · I · L · sinα   1 T = 1 N / (A·m)
• Burada α, akım yönü ile alan arasındaki açıdır.
• Kuvvet hem akıma hem alana diktir; yönünü sağ el kuralı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Akım taşıyan tele etki eden kuvvet — adım 2/5
• Bağıntının her parçası ayrı bir deneyle sınanabilir:
• Alan: Alan iki kat güçlüyse kuvvet de iki kat olur: F ∝ B.
• Akım: Akım iki katına çıkınca kuvvet iki katına çıkar: F ∝ I.
• Uzunluk: Alanın içinde kalan tel uzunluğu L iki katına çıkınca kuvvet de iki katına çıkar; her tel parçası kendi payını ekler.
• Açı: Telin alana dik izdüşümü L·sinα'dır; alana paralel kısım hiç kuvvet doğurmaz.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Akım taşıyan tele etki eden kuvvet — adım 3/5
• α = 90° (akım alana dik): kuvvet en büyük, F = B·I·L
• α = 0° veya 180° (akım alana paralel): kuvvet sıfır
• Bu bağıntı teslanın tanımını da verir: 1 T, alana dik duran, 1 m uzunluğunda ve 1 A akım taşıyan bir tele 1 N kuvvet uygulayan alandır.
• Sayfanın 02 numaralı deneyinde 0,5 m'lik tel 5 A akım taşırken 0,4 T'lık alanda 0,4 · 5 · 0,5 = 1 N kuvvet görür; açıyı 30°'ye indirirsen kuvvet yarıya, 0,5 N'a düşer.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Akım taşıyan tele etki eden kuvvet — şekil
Alan içindeki bir tele etkiyen kuvvet, akıma ve alana dik çıkar: çizimde akım sağa, alan sayfadan dışarı olduğu için sağ el kuralı kuvveti aşağı verir. Büyüklüğü aradaki açının sinüsüyle değişir. Tel alana dikken kuvvet en büyüktür (α = 90°, sinα = 1); alana paralelken kuvvet sıfırdır (α = 0 ya da 180°). Elektrik motorunun bütün sırrı bu tek bağıntıda saklıdır.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Akım taşıyan tele etki eden kuvvet — adım 5/5
• Elektrik motorlarının çalışma ilkesi budur: alan içindeki akım çerçevesine etki eden kuvvet çifti, çerçeveyi döndürür.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Alan içindeki akım taşıyan tele F = B·I·L·sinα kuvveti etki eder; α akımla alan arasındaki açıdır. Kuvvet akım alana dikken en büyük, paralelken sıfırdır ve 1 T = 1 N/(A·m)'dir.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Hareketli yüke etki eden kuvvet — adım 1/5
• Akım aslında hareketli yüklerden ibarettir; dolayısıyla tek bir yük için de benzer bir bağıntı geçerlidir:
F = q · v · B · sinα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Hareketli yüke etki eden kuvvet — adım 2/5
Telden tek yüke
• Akımın tanımı: Telin bir kesitinden Δt sürede q yükü geçiyorsa akım I = q / Δt'dir.
• Yolun tanımı: Bu yük aynı sürede v hızıyla L = v·Δt kadar yol alır.
• Çarp: I·L = (q/Δt)·(v·Δt) = q·v; Δt sadeleşir.
• Yerine koy: F = B·I·L·sinα içinde I·L yerine q·v yazınca F = q·v·B·sinα çıkar. Burada α, hız ile alan arasındaki açıdır.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Hareketli yüke etki eden kuvvet — adım 3/5
• Kuvvet hem hıza hem alana diktir.
• Bunun üç önemli sonucu vardır:
• Duran yüke manyetik kuvvet etki etmez (v = 0 ise F = 0).
• Alana paralel giren yük sapmaz (α = 0 ise F = 0).
• Manyetik kuvvet iş yapmaz: kuvvet hıza dik olduğu için cismin kinetik enerjisi değişmez; yalnızca yönü değişir.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Hareketli yüke etki eden kuvvet — şekil
Manyetik kuvvet yalnızca hareket hâlindeki yüke etki eder ve büyüklüğü hız ile alan arasındaki açıya bağlıdır. Alana paralel giren yük hiç sapmaz; dik giren yük ise en büyük kuvveti görür. Çizimdeki yük pozitif: sağa giderken dışarı yönelmiş alanda kuvvet aşağı çıkar, elektron olsaydı yukarı olurdu. Kuvvet hıza daima dik olduğu için yükün süratini asla değiştiremez — manyetik kuvvet iş yapmaz, yalnızca yön değiştirir.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Hareketli yüke etki eden kuvvet — adım 5/5
• Bu kuvvet küçük görünse de parçacığın kütlesine göre devasadır.
• Sayfanın 03 numaralı deneyindeki elektron (v = 10⁷ m/s, B = 1 mT) 1,6·10⁻¹⁵ N kuvvet görür; ağırlığı ise yaklaşık 9·10⁻³⁰ N'dur.
• Manyetik kuvvet ağırlığın 10¹⁴ katından büyüktür; yüklü parçacık problemlerinde yerçekimi bu yüzden hesaba katılmaz.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Alan içinde v hızıyla hareket eden q yüküne F = q·v·B·sinα kuvveti etki eder; bağıntı I·L = q·v eşitliğinden çıkar. Kuvvet hıza dik olduğu için iş yapmaz: sürat değişmez, yalnızca yön değişir.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Manyetik alanda dairesel hareket — adım 1/6
• Alana dik giren bir yük için manyetik kuvvet, sabit büyüklükte ve daima hıza dik olur — yani merkezcil kuvvet rolünü üstlenir:
q·v·B = m·v² / r   r = m·v / (q·B)   T = 2π·m / (q·B)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Manyetik alanda dairesel hareket — adım 2/6
Formüldeki harfler ne anlama geliyor?
Sembol | Anlamı | Birimi
q | parçacığın yükünün büyüklüğü | C
v | parçacığın hızı | m/s
m | parçacığın kütlesi | kg
B | parçacığın içinde döndüğü manyetik alan | T
r | parçacığın çizdiği çemberin yarıçapı (telden uzaklık değil) | m
T | periyot: bir tam turun süresi; alanın birimi olan tesla (T) ile karıştırma |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Manyetik alanda dairesel hareket — adım 3/6
• Kuvvet merkeze yönelir: Büyüklüğü sabit ve hep hıza dik bir kuvvet cismi düzgün çembersel harekete zorlar; bunun için gereken merkezcil kuvvet m·v²/r'dir.
• Eşitle: Bu kuvveti manyetik kuvvet sağlar: q·v·B = m·v²/r.
• Yarıçap: İki taraftaki v'lerden biri sadeleşir: r = m·v/(q·B).
• Periyot: Bir tur 2π·r yoldur, T = 2π·r/v. r'yi yerine koyunca v tamamen sadeleşir: T = 2π·m/(q·B).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Manyetik alanda dairesel hareket — adım 4/6
• Yarıçap hızla doğru, alanla ters orantılıdır.
• Periyot ise hızdan bağımsızdır: hız iki katına çıkarsa yarıçap da iki katına çıkar ve tur süresi değişmez.
• Siklotron hızlandırıcılarının çalışma ilkesi tam olarak budur.
• Pozitif ve negatif yükler aynı alanda zıt yönlerde döner; sayfanın 03 numaralı deneyinde yükün işaretini değiştirip bunu görebilirsin.
• Aynı deneydeki elektron için: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Manyetik alanda dairesel hareket — adım 5/6
Hız | Alan | Yarıçap | Periyot
10·10⁶ m/s | 1,0 mT | 5,7 cm | 3,6·10⁻⁸ s
20·10⁶ m/s | 1,0 mT | 11,4 cm | 3,6·10⁻⁸ s
10·10⁶ m/s | 2,0 mT | 2,8 cm | 1,8·10⁻⁸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Manyetik alanda dairesel hareket — şekil
Alana dik giren yükün gördüğü kuvvet hıza daima dik olduğu için yük çember çizer; merkezcil kuvveti manyetik kuvvet sağlar. Çizimdeki parçacıklar, tablodaki gibi elektron: sayfadan dışarı alanda saat yönünün tersine dönerler (pozitif yük ters yönde dönerdi). Hız iki katına çıkarsa kuvvet de yarıçap da iki katına çıkar; ama periyot hıza hiç bağlı değildir — hızlı parçacık daha büyük çember çizer ama turu aynı sürede tamamlar. Siklotron tam olarak bunu kullanır.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Alana dik giren yük çember çizer: q·v·B = m·v²/r eşitliğinden r = m·v/(q·B) ve T = 2π·m/(q·B) çıkar. Yarıçap hızla büyür, periyot hızdan bağımsızdır.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Hızı iki katına çıkan elektron iki kat büyük çember çiziyorsa, turunu neden aynı sürede tamamlar?
Sınıfa sorun, birkaç tahmin alın; sonra cevap slaytına geçin.
Cevap: Çember iki kat büyüdüğü için bir turun yolu da iki kat uzar, ama elektron bu yolu iki kat hızla alır. Yol ve hız aynı oranda arttığından süre değişmez. Tur süresini yalnızca kütle, yük ve alan belirler: T = 2π·m/(q·B).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Çember iki kat büyüdüğü için bir turun yolu da iki kat uzar, ama elektron bu yolu iki kat hızla alır. Yol ve hız aynı oranda arttığından süre değişmez. Tur süresini yalnızca kütle, yük ve alan belirler: T = 2π·m/(q·B).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Derinleşme: alanlar üst üste binince, yük alana eğik girince ve manyetizma teknolojiye dönüşünce ne olur?
10 İki tel yan yana: alanların toplanması ve paralel teller
11 Eğik giriş, sarmal yörünge ve siklotron
12 Manyetizma gerçek dünyada
Görsel: Manyetik trenler (maglev) raya hiç değmeden yol alır. Güçlü elektromıknatıslar treni raydan küçük bir boşlukla ayırıp havada tutar; raydaki mıknatısların alanı sırayla değiştirilerek tren ileri çekilir. Tekerlek sürtünmesi olmadığı için deneme sürüşlerinde 600 km/h'in üzerine çıkılmıştır.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tel yan yana: alanların toplanması ve paralel teller — adım 1/7
• Birden çok akım varsa bir noktadaki toplam alan, her birinin alanının vektörel toplamıdır (üst üste binme ilkesi): aynı yönlü alanlar toplanır, zıt yönlüler birbirinden çıkarılır.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tel yan yana: alanların toplanması ve paralel teller — adım 2/7
• Aynı yönde akım taşıyan iki tel: aralarındaki bölgede alanları zıt yönlüdür; bir noktada birbirini tam götürür.
• Zıt yönde akım taşıyan iki tel: aralarında alanlar aynı yönlüdür ve toplanır; uzakta ise büyük ölçüde birbirini götürür.
• Evdeki kablo: gidiş ve dönüş telleri milimetrelerle ayrılmış, zıt akımlı iki teldir; alanları kablodan uzaklaştıkça hızla birbirini siler.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tel yan yana: alanların toplanması ve paralel teller — adım 3/7
Paralel teller birbirine kuvvet uygular
• Bir telin alanı, yanındaki telin akımına kuvvet uygular.
• Tel 1'in d uzaklıktaki alanı B₁ = 2·10⁻⁷·I₁/d'dir; bu alan tel 2'nin L uzunluğuna F = B₁·I₂·L kuvvetini uygular.
• Birim uzunluk başına:
F/L = 2·10⁻⁷ · I₁ · I₂ /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tel yan yana: alanların toplanması ve paralel teller — adım 4/7
• Sağ el kuralıyla bakınca şaşırtıcı bir sonuç çıkar: aynı yönde akım taşıyan teller birbirini çeker, zıt yönde akım taşıyanlar iter — elektrikteki “benzer yükler iter” kuralının tam tersi.
• 1948'den 2019'a kadar amper bu kuvvetle tanımlanıyordu: 1 m aralıklı iki uzun paralel telde metre başına 2·10⁻⁷ N kuvvet doğuran akım 1 A'dir.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tel yan yana: alanların toplanması ve paralel teller — şekil
Tellere uçtan bakıyorsun: ⊙ akım sana doğru, ⊗ akım sayfaya doğru; sarı çemberler her telin alanı. Aynı yönlü akımlarda tellerin arasında iki alan zıt yönlüdür ve kuvvetler telleri birbirine yaklaştırır: teller çeker. Zıt yönlü akımlarda aradaki alanlar aynı yöne bakıp toplanır, kuvvetler telleri ayırır: teller 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tel yan yana: alanların toplanması ve paralel teller — adım 6/7
Modelin sınırı: B = 2·10⁻⁷·I/r çok uzun ve ince düz bir tel içindir; kısa tellerde ya da telin uçlarına yakın noktalarda alan farklıdır. Bağıntılar boşluk ve hava içindir; demir gibi maddeler alanı yüzlerce kat güçlendirebilir.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tel yan yana: alanların toplanması ve paralel teller — şekil
İki folyo şerit ortalarından hafifçe birbirine doğru bükülmüş. Pilin kablosu iki şeridin üst ucuna ayrıldığı için akım ikisinde de aynı yönde akar, ve aynı yönde akım taşıyan paralel iletkenler birbirini çeker: F/L = 2·10⁻⁷·I₁·I₂/d. Akımlardan birinin yönünü çevirirsen şeritler bu kez birbirinden uzaklaşır; zıt yönlü akımlar 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Birden çok akımın alanları vektörel olarak toplanır. Paralel teller birbirine F/L = 2·10⁻⁷·I₁·I₂/d kuvveti uygular: aynı yönlü akımlar çeker, zıt yönlü akımlar iter.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Evdeki uzatma kablosundan 10 A geçerken yanına konan pusula neden neredeyse hiç sapmaz?
Sınıfa sorun, birkaç tahmin alın; sonra cevap slaytına geçin.
Cevap: Kablonun içinde aynı akım bir telden gidip öbüründen döner. Birbirine çok yakın bu iki zıt akımın alanları, kablodan biraz uzakta neredeyse eşit büyüklükte ve zıt yönlüdür; toplamları sıfıra yakın çıkar. Teller ayrılsaydı pusula belirgin biçimde sapardı.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Kablonun içinde aynı akım bir telden gidip öbüründen döner. Birbirine çok yakın bu iki zıt akımın alanları, kablodan biraz uzakta neredeyse eşit büyüklükte ve zıt yönlüdür; toplamları sıfıra yakın çıkar. Teller ayrılsaydı pusula belirgin biçimde sapardı.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Eğik giriş, sarmal yörünge ve siklotron — adım 1/6
Bir boyut daha: Yük alana eğik girerse hız iki bileşene ayrılır: alana paralel bileşen sabit kalır, dik bileşen çembersel harekete yol açar. Sonuç sarmal (helis) bir yörüngedir.
v∥ = v · cosα   v⊥ = v · sinα   r = m·v⊥ / (q·B)   adım = v∥ ·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Eğik giriş, sarmal yörünge ve siklotron — adım 2/6
• Paralel bileşen kuvvet görmediği için yük alan boyunca sabit hızla ilerler, dik bileşen ise onu alanın çevresinde döndürür; yük bir yay gibi alan çizgisine sarılır.
• Bir turda alan boyunca alınan yola sarmalın adımı denir.
• Güneş'ten gelen parçacıklar da böyle sarılarak kutup bölgelerine taşınır.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Eğik giriş, sarmal yörünge ve siklotron — şekil
Yük alana eğik girdiği için hızını iki parçaya ayır. Alana dik v⊥ bileşeni yükü alanın çevresinde döndürür; alana paralel v∥ bileşeni hiç kuvvet görmez ve yükü alan boyunca sabit hızla taşır. İkisi birlikte yayı andıran bir sarmal çizer (kesik çizgiler sarmalın arkada kalan kısmı). Bir turda alan boyunca alınan yol adımdır: adım = v∥ ·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Eğik giriş, sarmal yörünge ve siklotron — adım 4/6
Siklotron: periyodun sabitliğinden yararlanmak
• Manyetik kuvvet iş yapmadığı için parçacığı hızlandıramaz; siklotronda bu işi elektrik alan yapar.
• Parçacık iki yarım daire biçimli metal kutunun arasındaki aralıktan her geçişinde bir gerilimle itilir, manyetik alan onu çevirip aralığa geri getirir.
• Parçacık hızlandıkça çemberi büyür, ama tur süresi değişmediği için gerilim sabit bir frekansla yön değiştirebilir: 1 T'lık alanda bir proton için f = q·B/(2π·m) ≈ 15 MHz.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Eğik giriş, sarmal yörünge ve siklotron — adım 5/6
Modelin sınırı: Periyodun hızdan bağımsız olması, ışık hızından çok küçük hızlarda geçerlidir. Parçacık ışık hızına yaklaştıkça tur süresi uzar ve basit siklotron uyumu kaybeder; büyük hızlandırıcılar bu yüzden alanı ya da frekansı hıza göre ayarlar.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Eğik giriş, sarmal yörünge ve siklotron — şekil
Işıldayan sarmal, iki halka bobinin arasındaki alana eğik gönderilen elektron demetinin yoludur: hızın alana dik bileşeni demeti döndürür, alana paralel bileşeni ise onu bobinlerin ekseni boyunca taşır. Yandan baktığın için sarmal bir dalga gibi görünür; her turda eksen boyunca alınan yol sarmalın adımıdır. Güneş'ten gelen parçacıklar da Dünya'nın alan çizgilerine böyle sarılarak kutuplara taşınır.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Alana eğik giren yük, paralel hız bileşeniyle ilerleyip dik bileşeniyle dönerek sarmal çizer. Siklotron, periyodun hızdan bağımsız olmasını kullanarak parçacıkları sabit frekanslı bir gerilimle hızlandırır.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Kutup ışıkları neden ekvatorda değil de kutuplara yakın bölgelerde görülür?
Sınıfa sorun, birkaç tahmin alın; sonra cevap slaytına geçin.
Cevap: Yüklü parçacıklar alan çizgilerine sarılarak onlar boyunca ilerler. Ekvatorun üzerinde alan çizgileri yere neredeyse paraleldir; oraya gelen parçacıklar yana saptırılır ve atmosfere inemez. Kutuplara yakın bölgelerde ise çizgiler atmosfere dalar; parçacıklar da onları izleyerek havaya çarpar ve ışık saçtırır.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Yüklü parçacıklar alan çizgilerine sarılarak onlar boyunca ilerler. Ekvatorun üzerinde alan çizgileri yere neredeyse paraleldir; oraya gelen parçacıklar yana saptırılır ve atmosfere inemez. Kutuplara yakın bölgelerde ise çizgiler atmosfere dalar; parçacıklar da onları izleyerek havaya çarpar ve ışık saçtırır.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Manyetizma gerçek dünyada — adım 1/4
• Manyetik kuvvet günlük hayatın içinde, çoğu zaman görmediğimiz yerlerde çalışıyor.
• Ortak nokta hep aynı üç ilke: akım alan üretir, alan akıma kuvvet uygular, yükler alanda çember ya da sarmal çizer.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Manyetizma gerçek dünyada — adım 2/4
• MR cihazı: süperiletken bobinler 1,5–3 T'lık, Dünya'nınkinin 30 000–60 000 katı bir alan üretir.
• Maglev: raya değmeden, küçük bir boşlukla havada giden tren deneme sürüşlerinde 600 km/h'i aştı.
• Hoparlör: ≈ 1 T'lık alandaki bobinden geçen ses akımı zarı saniyede 20 ile 20 000 kez titretir.
• Siklotron: 1 T'da protonun tur frekansı ≈ 15 MHz; hastanelerde PET için radyoaktif madde üretir.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Manyetizma gerçek dünyada — adım 3/4
• Dünya'nın kalkanı: Güneş'ten gelen parçacıkların çoğu saptırılır; kutuplarda 100 km'nin üzerinde havaya çarpanlar kutup ışığı yakar.
Uygulama | Kullanılan ilke
Elektrik motoru | Alan içindeki akıma etki eden kuvvet
Hoparlör | Değişen akım → değişen kuvvet → titreşen membran
Kütle spektrometresi | r = mv/(qB): farklı kütleler farklı yarıçap
Siklotron | Periyodun hızdan bağımsız olması
Kutup ışıkları | Yüklü parçacıkların alan çizgileri boyunca sarmal hareketi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Manyetizma gerçek dünyada — şekil
Solda çerçeveye önden bakıyorsun: akım sol kenarda yukarı, sağ kenarda aşağı gittiği için sol kenar sayfaya doğru (⊗), sağ kenar sayfadan dışarı (⊙) itilir; kuvvet hem tele hem alana diktir. Sağda aynı çerçeveye üstten bakıyorsun: eşit ve zıt iki kuvvet çerçeveyi bir yere ötelemez, ama eksen çevresinde döndürür. Her yarım turda akımın yönünü çeviren bir komütatör eklenince dönme sürekli hâle gelir: elektrik motoru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Motor, hoparlör, MR, maglev, siklotron ve kutup ışıkları aynı ilkelere dayanır: akım alan üretir, alan akıma kuvvet uygular, yükler alanda çember ya da sarmal çizer.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Manyetik kuvvet iş yapmıyorsa elektrik motoru mekanik işi nereden alır?
Sınıfa sorun, birkaç tahmin alın; sonra cevap slaytına geçin.
Cevap: Enerjiyi alan değil, motoru besleyen pil ya da şebeke verir. Çerçeve dönerken içindeki yüklerin hızı yana doğru da eğilir ve manyetik kuvvetin bir bileşeni akıma ters döner. Kaynak bu karşı etkiyi yenmek için iş yapar; alan yalnızca aracıdır. Bu karşı etki, sıradaki konu olan indüksiyonun konusudur.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Enerjiyi alan değil, motoru besleyen pil ya da şebeke verir. Çerçeve dönerken içindeki yüklerin hızı yana doğru da eğilir ve manyetik kuvvetin bir bileşeni akıma ters döner. Kaynak bu karşı etkiyi yenmek için iş yapar; alan yalnızca aracıdır. Bu karşı etki, sıradaki konu olan indüksiyonun konusudur.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ve sınavda puan kaybettiren klasik hatalar.
13 Çözümlü örnekler
14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Telin alanı
20 A akım taşıyan düz bir telden 10 cm uzaklıktaki manyetik alanın büyüklüğü nedir? Uzaklık iki katına çıkarılırsa alan ne olur?
Durum çizimi: Durum: 20 A akım taşıyan uzun düz telden 10 cm uzaktaki alan B soruluyor. Aynı telden iki kat uzaktaki, 20 cm'deki alan B′ de isteniyor.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Telin alanı
20 A akım taşıyan düz bir telden 10 cm uzaklıktaki manyetik alanın büyüklüğü nedir? Uzaklık iki katına çıkarılırsa alan ne olur?
Verilenler: I = 20 A · r = 10 cm = 0,1 m · μ₀/2π = 2·10⁻⁷ T·m/A
İstenen: 10 cm'deki alan B · uzaklık iki katına (20 cm) çıkınca alan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Telin alanı — çözüm
1. B = 2·10⁻⁷ · I / r = 2·10⁻⁷ · 20 / 0,1
2. B = 4·10⁻⁵ T = 40 µT (Dünya'nın alanı mertebesinde)
3. r iki katına çıkarsa B yarıya iner: 20 µT (1/r bağımlılığı)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Tele etki eden kuvvet
0,5 T'lık düzgün manyetik alana dik olarak yerleştirilmiş 40 cm uzunluğundaki telden 6 A akım geçiyor. Tele etki eden kuvvet nedir? Tel alana 30° açı yapsaydı?
Durum çizimi: Durum: 40 cm'lik tel 6 A akım taşıyor ve 0,5 T'lık düzgün alanın içinde duruyor. Solda tel alana dik, sağda alanla 30° açı yapıyor; iki durumda da tele etki eden kuvvet F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Tele etki eden kuvvet
0,5 T'lık düzgün manyetik alana dik olarak yerleştirilmiş 40 cm uzunluğundaki telden 6 A akım geçiyor. Tele etki eden kuvvet nedir? Tel alana 30° açı yapsaydı?
Verilenler: B = 0,5 T · L = 40 cm = 0,4 m · I = 6 A · tel alana dik: α = 90° (sin90° = 1) · ikinci durumda α = 30° (sin30° = 0,5)
İstenen: tel alana dikken kuvvet F · tel alana 30° açı yaparken kuvvet F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Tele etki eden kuvvet — çözüm
1. Dik durumda: F = B·I·L = 0,5 · 6 · 0,4 = 1,2 N
2. 30° için: F = B·I·L·sin30° = 1,2 · 0,5 = 0,6 N
3. Tel alana paralel olsaydı (0°) kuvvet sıfır olurdu.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Hangi yöne sapar?
Sayfa düzleminde sağa doğru hareket eden bir elektron, sayfaya doğru (⊗) yönelmiş manyetik alana giriyor. Elektron hangi yöne sapar?
Durum çizimi: Durum: elektron sayfa düzleminde sağa giderek sayfaya doğru (⊗) yönelmiş alana giriyor. Yük negatif; alanın içinde ona etki eden kuvvetin, yani sapmanın yönü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Hangi yöne sapar?
Sayfa düzleminde sağa doğru hareket eden bir elektron, sayfaya doğru (⊗) yönelmiş manyetik alana giriyor. Elektron hangi yöne sapar?
Verilenler: yük negatif (elektron) · hız sağa doğru · alan sayfaya doğru (⊗)
İstenen: elektrona etki eden manyetik kuvvetin yönü, yani sapma yönü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Hangi yöne sapar? — çözüm
1. Önce pozitif yük varmış gibi düşün: parmaklar hız (sağa) yönünden alan (sayfaya doğru) yönüne döndürülür; başparmak yukarıyı gösterir.
2. Yük negatif olduğu için kuvvet tersine döner: aşağı.
3. Kuvvet hıza dik olduğu için elektron aşağı doğru bir çember çizmeye başlar; sürati değişmez.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Dairesel yörünge
Kütlesi 9,1·10⁻³¹ kg, yükü 1,6·10⁻¹⁹ C olan bir elektron, 2·10⁷ m/s hızla 1 mT'lık alana dik giriyor. Yörüngenin yarıçapı ve periyodu nedir?
Durum çizimi: Durum: elektron 1 mT'lık alana dik giriyor ve alanın içinde bir çember çiziyor (çizimde alan sayfaya doğru alındı). Çemberin yarıçapı r ve bir turun süresi T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Dairesel yörünge
Kütlesi 9,1·10⁻³¹ kg, yükü 1,6·10⁻¹⁹ C olan bir elektron, 2·10⁷ m/s hızla 1 mT'lık alana dik giriyor. Yörüngenin yarıçapı ve periyodu nedir?
Verilenler: m = 9,1·10⁻³¹ kg · q = 1,6·10⁻¹⁹ C · v = 2·10⁷ m/s · B = 1 mT = 10⁻³ T · hız alana dik · π ≈ 3,14
İstenen: yörüngenin yarıçapı r · periyot T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Dairesel yörünge — çözüm
1. r = m·v/(q·B) = (9,1·10⁻³¹ · 2·10⁷) / (1,6·10⁻¹⁹ · 10⁻³)
2. r = 1,82·10⁻²³ / 1,6·10⁻²² ≈ 0,114 m ≈ 11,4 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Dairesel yörünge — çözüm
3. T = 2πm/(qB) = (6,28 · 9,1·10⁻³¹) / (1,6·10⁻¹⁹ · 10⁻³) ≈ 3,6·10⁻⁸ s
4. Hız iki katına çıksaydı yarıçap iki katına çıkardı, ama periyot değişmezdi.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İki paralel tel
Aralarında 10 cm bulunan iki uzun paralel telden aynı yönde 10 A ve 30 A akım geçiyor. (a) Tellerin tam ortasındaki net manyetik alanı, (b) net alanın sıfır olduğu noktayı, (c) tellerin birbirine uyguladığı birim uzunluk başına kuvveti bulunuz.
Durum çizimi: Durum: tellere uçtan bakıyorsun; iki akım da aynı yönde (çizimde sayfadan dışarı, ⊙). Tam ortadaki M noktasında net alan (a), net alanın sıfır olduğu yer (b) ve tellerin birbirine uyguladığı birim uzunluk başına kuvvet (c)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İki paralel tel
Aralarında 10 cm bulunan iki uzun paralel telden aynı yönde 10 A ve 30 A akım geçiyor. (a) Tellerin tam ortasındaki net manyetik alanı, (b) net alanın sıfır olduğu noktayı, (c) tellerin birbirine uyguladığı birim uzunluk başına kuvveti bulunuz.
Verilenler: teller arası uzaklık d = 10 cm = 0,1 m · I₁ = 10 A · I₂ = 30 A · akımlar aynı yönde · μ₀/2π = 2·10⁻⁷ T·m/A
İstenen: (a) tam ortadaki net alan · (b) net alanın sıfır olduğu nokta · (c) birim uzunluk başına kuvvet F/L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İki paralel tel — çözüm
1. Orta nokta her telden 5 cm uzaktadır: B₁ = 2·10⁻⁷ · 10 / 0,05 = 4·10⁻⁵ T, B₂ = 2·10⁻⁷ · 30 / 0,05 = 1,2·10⁻⁴ T.
2. (a) Akımlar aynı yönlü olduğu için teller arasında alanlar zıt yönlüdür: B = 1,2·10⁻⁴ − 4·10⁻⁵ = 8·10⁻⁵ T = 80 µT, 30 A'lik telin alanı yönünde.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İki paralel tel — çözüm
3. (b) Sıfır noktası teller arasında, zayıf akımlı tele daha yakındır. 10 A'lik telden x uzaklıkta: 10 / x = 30 / (10 − x) → 100 − 10x = 30x → x = 2,5 cm.
4. (c) F/L = 2·10⁻⁷ · 10 · 30 / 0,1 = 6·10⁻⁴ N/m; akımlar aynı yönlü olduğu için teller birbirini çeker.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Kütle spektrometresinde izotoplar
Tek yüklü (q = 1,6·10⁻¹⁹ C) neon-20 ve neon-22 iyonları 1·10⁵ m/s hızla 0,5 T'lık alana dik giriyor, yarım çember çizip giriş noktasıyla aynı hizadaki bir levhaya çarpıyor. Levhadaki iki iz arasındaki uzaklık nedir? (1 u = 1,66·10⁻²⁷ kg; kütleler 20 u ve 22 u)
Durum çizimi: Durum: iki neon iyonu yarıktan aynı hızla alana dik giriyor, yarım çember çizip levhaya dönüyor (çizimde alan sayfadan dışarı alındı). Yükleri ve hızları aynı, yalnızca kütleleri farklı; levhadaki iki iz arasındaki uzaklık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Kütle spektrometresinde izotoplar
Tek yüklü (q = 1,6·10⁻¹⁹ C) neon-20 ve neon-22 iyonları 1·10⁵ m/s hızla 0,5 T'lık alana dik giriyor, yarım çember çizip giriş noktasıyla aynı hizadaki bir levhaya çarpıyor. Levhadaki iki iz arasındaki uzaklık nedir? (1 u = 1,66·10⁻²⁷ kg; kütleler 20 u ve 22 u)
Verilenler: q = 1,6·10⁻¹⁹ C · v = 1·10⁵ m/s · B = 0,5 T · kütleler 20 u ve 22 u · 1 u = 1,66·10⁻²⁷ kg · iyonlar alana dik girip yarım çember çiziyor
İstenen: levhadaki iki iz arasındaki uzaklık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Kütle spektrometresinde izotoplar — çözüm
1. Yarıçap r = m·v/(q·B); hız, yük ve alan ikisi için de aynıdır, yalnızca kütle farklıdır.
2. r₂₀ = (20 · 1,66·10⁻²⁷ · 10⁵) / (1,6·10⁻¹⁹ · 0,5) = 3,32·10⁻²¹ / 8·10⁻²⁰ ≈ 4,15 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Kütle spektrometresinde izotoplar — çözüm
3. r₂₂ = r₂₀ · 22/20 ≈ 4,565 cm
4. Yarım çemberden sonra iyon giriş noktasından 2r uzağa düşer. İzler arası: 2 · (4,565 − 4,15) = 0,83 cm.
Kütledeki %10'luk fark yarıçapta da %10'luk fark yaratır. Neonun iki farklı kütlede atomu olduğu 20. yüzyılın başında bu tür sapma deneyleriyle anlaşıldı.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5 A akım taşıyan düz ve uzun bir telden 2 cm uzaktaki manyetik alan kaç µT'dır?
Öğrencilere 2–3 dakika verin; sonra cevap slaytını açın.
Cevap: Cevap: Uzaklığı metreye çevir: r = 0,02 m. B = 2·10⁻⁷ · I / r = 2·10⁻⁷ · 5 / 0,02 = 5·10⁻⁵ T = 50 µT. Bu, Dünya'nın manyetik alanı kadardır.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Uzaklığı metreye çevir: r = 0,02 m. B = 2·10⁻⁷ · I / r = 2·10⁻⁷ · 5 / 0,02 = 5·10⁻⁵ T = 50 µT. Bu, Dünya'nın manyetik alanı kadardır.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0,2 T'lık düzgün alana dik duran 50 cm'lik telden 4 A akım geçiyor. Tele etki eden kuvvet kaç N'dur?
Öğrencilere 2–3 dakika verin; sonra cevap slaytını açın.
Cevap: Cevap: L = 0,5 m. Tel alana dik olduğu için sinα = 1: F = B · I · L = 0,2 · 4 · 0,5 = 0,4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L = 0,5 m. Tel alana dik olduğu için sinα = 1: F = B · I · L = 0,2 · 4 · 0,5 = 0,4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Bir proton (q = 1,6·10⁻¹⁹ C) 10⁶ m/s hızla 0,5 T'lık alana, alanla 30° açı yapacak biçimde giriyor. Protona etki eden kuvvet kaç N'dur?
Öğrencilere 2–3 dakika verin; sonra cevap slaytını açın.
Cevap: Cevap: F = q · v · B · sinα = 1,6·10⁻¹⁹ · 10⁶ · 0,5 · 0,5 = 4·10⁻¹⁴ N. Önce sayıları çarp (1,6 · 0,5 · 0,5 = 0,4), sonra 10'un kuvvetlerini birleştir (10⁻¹⁹ · 10⁶ = 10⁻¹³): 0,4·10⁻¹³ = 4·10⁻¹⁴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F = q · v · B · sinα = 1,6·10⁻¹⁹ · 10⁶ · 0,5 · 0,5 = 4·10⁻¹⁴ N. Önce sayıları çarp (1,6 · 0,5 · 0,5 = 0,4), sonra 10'un kuvvetlerini birleştir (10⁻¹⁹ · 10⁶ = 10⁻¹³): 0,4·10⁻¹³ = 4·10⁻¹⁴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Uzun bir telden 10 cm uzaktaki alan 60 µT'dır. Telden kaç A akım geçer? Aynı telden 30 cm uzaktaki alan kaç µT olur?
Öğrencilere 2–3 dakika verin; sonra cevap slaytını açın.
Cevap: Cevap: I = B · r / (2·10⁻⁷) = 6·10⁻⁵ · 0,1 / (2·10⁻⁷) = 30 A. Uzaklık 3 katına çıkınca alan 3'te birine iner: 60 / 3 = 20 µT.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I = B · r / (2·10⁻⁷) = 6·10⁻⁵ · 0,1 / (2·10⁻⁷) = 30 A. Uzaklık 3 katına çıkınca alan 3'te birine iner: 60 / 3 = 20 µT.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Kütlesi 8·10⁻²⁷ kg, yükü 3,2·10⁻¹⁹ C olan bir iyon 0,5 T'lık alana 4·10⁵ m/s hızla dik giriyor. Yörünge yarıçapı kaç cm'dir? Hız iki katına çıkarsa yarıçap ve periyot ne olur?
Öğrencilere 2–3 dakika verin; sonra cevap slaytını açın.
Cevap: Cevap: r = m · v / (q · B) = 8·10⁻²⁷ · 4·10⁵ / (3,2·10⁻¹⁹ · 0,5) = 3,2·10⁻²¹ / 1,6·10⁻¹⁹ = 0,02 m = 2 cm. Hız iki katına çıkarsa yarıçap da iki katına çıkar: 4 cm. Periyot T = 2π·m / (q·B) hıza bağlı olmadığı için değişmez.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r = m · v / (q · B) = 8·10⁻²⁷ · 4·10⁵ / (3,2·10⁻¹⁹ · 0,5) = 3,2·10⁻²¹ / 1,6·10⁻¹⁹ = 0,02 m = 2 cm. Hız iki katına çıkarsa yarıçap da iki katına çıkar: 4 cm. Periyot T = 2π·m / (q·B) hıza bağlı olmadığı için değişmez.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“Manyetik kuvvet hız yönündedir.” Kuvvet hıza diktir; bu yüzden sürati değil, yönü değiştirir.
• “Kuvvet alan çizgileri boyuncadır.” Elektrikteki F = q·E alışkanlığı burada işe yaramaz: manyetik kuvvet alan çizgilerine de diktir.
• “Duran yüke de manyetik kuvvet etki eder.” F = qvB·sinα; v = 0 ise F = 0.
• “Manyetik kuvvet iş yapar.” Kuvvet yer değiştirmeye dik olduğu için yaptığı iş sıfırdır; kinetik enerji değişmez.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Telin alanını 1/r² sanmak. Düz telde alan 1/r ile azalır.
• Negatif yükte yönü ters çevirmeyi unutmak. Sağ el kuralı pozitif yük içindir; elektronda sonucu ters çevir.
• “Periyot hıza bağlıdır.” T = 2πm/(qB); hız yalnızca yarıçapı değiştirir.
• Açıyı yanlış almak. α, akım (ya da hız) ile alan arasındaki açıdır; telin yatayla yaptığı açı değil.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Telin alanı 1/r ile azalır · Tele kuvvet B·I·L·sinα · Yüke kuvvet q·v·B·sinα · Yörünge çember
B = μ₀·I / (2π·r) — düz telin alanı
F = B·I·L·sinα — akım taşıyan tele
F = q·v·B·sinα — hareketli yüke
r = m·v / (q·B) — dairesel yörüngenin yarıçapı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jp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jp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dersler-sekiller/manyetik-alan-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fizik</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ELEKTRİK VE MANYETİZMA · KONU 02</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3900" b="1" spc="-100" kern="0" dirty="0">
                <a:solidFill>
                  <a:srgbClr val="FFFFFF"/>
                </a:solidFill>
                <a:latin typeface="Cambria" pitchFamily="34" charset="0"/>
                <a:ea typeface="Cambria" pitchFamily="34" charset="-122"/>
                <a:cs typeface="Cambria" pitchFamily="34" charset="-120"/>
              </a:rPr>
              <a:t>Manyetik alan ve manyetik kuvvet</a:t>
            </a:r>
            <a:endParaRPr lang="en-US" sz="39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400" dirty="0">
                <a:solidFill>
                  <a:srgbClr val="C3CEE8"/>
                </a:solidFill>
                <a:latin typeface="Calibri" pitchFamily="34" charset="0"/>
                <a:ea typeface="Calibri" pitchFamily="34" charset="-122"/>
                <a:cs typeface="Calibri" pitchFamily="34" charset="-120"/>
              </a:rPr>
              <a:t>Hareketli yük, çevresinde manyetik alan oluşturur; başka bir hareketli yük ya da akım bu alanın içinde kuvvet hisseder. Bu kuvvetin en şaşırtıcı yanı, hem hıza hem alana dik olmasıdır — bu yüzden iş yapmaz, yalnızca yön değiştirir.</a:t>
            </a:r>
            <a:endParaRPr lang="en-US" sz="14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640080" y="6382512"/>
            <a:ext cx="128016" cy="128016"/>
          </a:xfrm>
          <a:prstGeom prst="roundRect">
            <a:avLst>
              <a:gd name="adj" fmla="val 28571"/>
            </a:avLst>
          </a:prstGeom>
          <a:solidFill>
            <a:srgbClr val="C6F36B"/>
          </a:solidFill>
          <a:ln/>
        </p:spPr>
      </p:sp>
      <p:sp>
        <p:nvSpPr>
          <p:cNvPr id="22"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dersler.perinet.org/manyetik-alan.html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Güneş'ten 150 milyon kilometre yol gelen yüklü parçacıklar neden ekvatorun değil de kutupların göğünü aydınlatır?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Cevap, pusula iğnesini kuzeye çeviren, elektrik motorunu döndüren ve hoparlörü titreten şeyle aynı: </a:t>
            </a:r>
            <a:pPr indent="0" marL="0">
              <a:lnSpc>
                <a:spcPct val="130000"/>
              </a:lnSpc>
              <a:buNone/>
            </a:pPr>
            <a:r>
              <a:rPr lang="en-US" sz="2200" b="1" dirty="0">
                <a:solidFill>
                  <a:srgbClr val="5F4BD8"/>
                </a:solidFill>
                <a:latin typeface="Cambria" pitchFamily="34" charset="0"/>
                <a:ea typeface="Cambria" pitchFamily="34" charset="-122"/>
                <a:cs typeface="Cambria" pitchFamily="34" charset="-120"/>
              </a:rPr>
              <a:t>manyetik alan</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Üstelik manyetizmanın kaynağı mıknatıslar değil, </a:t>
            </a:r>
            <a:pPr indent="0" marL="0">
              <a:lnSpc>
                <a:spcPct val="130000"/>
              </a:lnSpc>
              <a:buNone/>
            </a:pPr>
            <a:r>
              <a:rPr lang="en-US" sz="2200" b="1" dirty="0">
                <a:solidFill>
                  <a:srgbClr val="5F4BD8"/>
                </a:solidFill>
                <a:latin typeface="Cambria" pitchFamily="34" charset="0"/>
                <a:ea typeface="Cambria" pitchFamily="34" charset="-122"/>
                <a:cs typeface="Cambria" pitchFamily="34" charset="-120"/>
              </a:rPr>
              <a:t>hareket hâlindeki yüklerdir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bir telden akım geçirdiğin anda çevresinde bir manyetik alan doğar.</a:t>
            </a:r>
            <a:endParaRPr lang="en-US" sz="220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Önce sezgi: alanı demir tozuyla görünür kıl, kaynağını tanı ve yönleri sağ elinle bulmayı öğren. Bu basamakta hesap yok denecek kadar az.</a:t>
            </a:r>
            <a:endParaRPr lang="en-US" sz="100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578358"/>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Önce gözlemle: demir tozu neyi gösterir?</a:t>
            </a:r>
            <a:endParaRPr lang="en-US" sz="1200" dirty="0"/>
          </a:p>
        </p:txBody>
      </p:sp>
      <p:sp>
        <p:nvSpPr>
          <p:cNvPr id="15" name="Text 13"/>
          <p:cNvSpPr txBox="1"/>
          <p:nvPr/>
        </p:nvSpPr>
        <p:spPr>
          <a:xfrm>
            <a:off x="859536" y="4199382"/>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Manyetik alan nedir?</a:t>
            </a:r>
            <a:endParaRPr lang="en-US" sz="1250" dirty="0"/>
          </a:p>
        </p:txBody>
      </p:sp>
      <p:sp>
        <p:nvSpPr>
          <p:cNvPr id="17" name="Text 15"/>
          <p:cNvSpPr txBox="1"/>
          <p:nvPr/>
        </p:nvSpPr>
        <p:spPr>
          <a:xfrm>
            <a:off x="859536" y="4832604"/>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32604"/>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Akım da mıknatıs gibidir: Oersted'in keşfi</a:t>
            </a:r>
            <a:endParaRPr lang="en-US" sz="1150" dirty="0"/>
          </a:p>
        </p:txBody>
      </p:sp>
      <p:sp>
        <p:nvSpPr>
          <p:cNvPr id="19" name="Text 17"/>
          <p:cNvSpPr txBox="1"/>
          <p:nvPr/>
        </p:nvSpPr>
        <p:spPr>
          <a:xfrm>
            <a:off x="859536" y="5465826"/>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04</a:t>
            </a:r>
            <a:endParaRPr lang="en-US" sz="1100" dirty="0"/>
          </a:p>
        </p:txBody>
      </p:sp>
      <p:sp>
        <p:nvSpPr>
          <p:cNvPr id="20" name="Text 18"/>
          <p:cNvSpPr txBox="1"/>
          <p:nvPr/>
        </p:nvSpPr>
        <p:spPr>
          <a:xfrm>
            <a:off x="1243584"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Yönleri bulmak: sağ el kuralı</a:t>
            </a:r>
            <a:endParaRPr lang="en-US" sz="1250" dirty="0"/>
          </a:p>
        </p:txBody>
      </p:sp>
      <p:sp>
        <p:nvSpPr>
          <p:cNvPr id="21" name="Shape 19"/>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3601136" y="1645920"/>
            <a:ext cx="2211248" cy="64008"/>
          </a:xfrm>
          <a:prstGeom prst="rect">
            <a:avLst/>
          </a:prstGeom>
          <a:solidFill>
            <a:srgbClr val="2957D4"/>
          </a:solidFill>
          <a:ln/>
        </p:spPr>
      </p:sp>
      <p:sp>
        <p:nvSpPr>
          <p:cNvPr id="23" name="Shape 21"/>
          <p:cNvSpPr/>
          <p:nvPr/>
        </p:nvSpPr>
        <p:spPr>
          <a:xfrm>
            <a:off x="3637712" y="1920240"/>
            <a:ext cx="420624" cy="420624"/>
          </a:xfrm>
          <a:prstGeom prst="roundRect">
            <a:avLst>
              <a:gd name="adj" fmla="val 26000"/>
            </a:avLst>
          </a:prstGeom>
          <a:solidFill>
            <a:srgbClr val="2957D4"/>
          </a:solidFill>
          <a:ln/>
        </p:spPr>
      </p:sp>
      <p:sp>
        <p:nvSpPr>
          <p:cNvPr id="24" name="Text 22"/>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3"/>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6" name="Text 24"/>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1100" dirty="0">
                <a:solidFill>
                  <a:srgbClr val="4A5470"/>
                </a:solidFill>
                <a:latin typeface="Calibri" pitchFamily="34" charset="0"/>
                <a:ea typeface="Calibri" pitchFamily="34" charset="-122"/>
                <a:cs typeface="Calibri" pitchFamily="34" charset="-120"/>
              </a:rPr>
              <a:t>Bağıntılar: telin alanını, tele ve yüke etki eden kuvveti ve çembersel yörüngeyi adım adım çıkar, sayılarla hisset.</a:t>
            </a:r>
            <a:endParaRPr lang="en-US" sz="1100" dirty="0"/>
          </a:p>
        </p:txBody>
      </p:sp>
      <p:sp>
        <p:nvSpPr>
          <p:cNvPr id="27" name="Shape 25"/>
          <p:cNvSpPr/>
          <p:nvPr/>
        </p:nvSpPr>
        <p:spPr>
          <a:xfrm>
            <a:off x="3637712" y="3429000"/>
            <a:ext cx="2138096" cy="0"/>
          </a:xfrm>
          <a:prstGeom prst="line">
            <a:avLst/>
          </a:prstGeom>
          <a:noFill/>
          <a:ln w="9525">
            <a:solidFill>
              <a:srgbClr val="E1E5EE"/>
            </a:solidFill>
            <a:prstDash val="dash"/>
          </a:ln>
        </p:spPr>
      </p:sp>
      <p:sp>
        <p:nvSpPr>
          <p:cNvPr id="28" name="Text 26"/>
          <p:cNvSpPr txBox="1"/>
          <p:nvPr/>
        </p:nvSpPr>
        <p:spPr>
          <a:xfrm>
            <a:off x="3637712" y="3566160"/>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3566160"/>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Akımın oluşturduğu alan: bağıntılar</a:t>
            </a:r>
            <a:endParaRPr lang="en-US" sz="1250" dirty="0"/>
          </a:p>
        </p:txBody>
      </p:sp>
      <p:sp>
        <p:nvSpPr>
          <p:cNvPr id="30" name="Text 28"/>
          <p:cNvSpPr txBox="1"/>
          <p:nvPr/>
        </p:nvSpPr>
        <p:spPr>
          <a:xfrm>
            <a:off x="3637712" y="4072738"/>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072738"/>
            <a:ext cx="1754048" cy="451714"/>
          </a:xfrm>
          <a:prstGeom prst="rect">
            <a:avLst/>
          </a:prstGeom>
          <a:noFill/>
          <a:ln/>
        </p:spPr>
        <p:txBody>
          <a:bodyPr wrap="square" lIns="0" tIns="0" rIns="0" bIns="0" rtlCol="0" anchor="t"/>
          <a:lstStyle/>
          <a:p>
            <a:pPr indent="0" marL="0">
              <a:lnSpc>
                <a:spcPct val="105000"/>
              </a:lnSpc>
              <a:buNone/>
            </a:pPr>
            <a:r>
              <a:rPr lang="en-US" sz="1000" b="1" dirty="0">
                <a:solidFill>
                  <a:srgbClr val="0E1426"/>
                </a:solidFill>
                <a:latin typeface="Calibri" pitchFamily="34" charset="0"/>
                <a:ea typeface="Calibri" pitchFamily="34" charset="-122"/>
                <a:cs typeface="Calibri" pitchFamily="34" charset="-120"/>
              </a:rPr>
              <a:t>Sayılarla hisset: bir tel ne kadar güçlü bir mıknatıstır?</a:t>
            </a:r>
            <a:endParaRPr lang="en-US" sz="1000" dirty="0"/>
          </a:p>
        </p:txBody>
      </p:sp>
      <p:sp>
        <p:nvSpPr>
          <p:cNvPr id="32" name="Text 30"/>
          <p:cNvSpPr txBox="1"/>
          <p:nvPr/>
        </p:nvSpPr>
        <p:spPr>
          <a:xfrm>
            <a:off x="3637712" y="4579315"/>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4579315"/>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Akım taşıyan tele etki eden kuvvet</a:t>
            </a:r>
            <a:endParaRPr lang="en-US" sz="1250" dirty="0"/>
          </a:p>
        </p:txBody>
      </p:sp>
      <p:sp>
        <p:nvSpPr>
          <p:cNvPr id="34" name="Text 32"/>
          <p:cNvSpPr txBox="1"/>
          <p:nvPr/>
        </p:nvSpPr>
        <p:spPr>
          <a:xfrm>
            <a:off x="3637712" y="5085893"/>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08</a:t>
            </a:r>
            <a:endParaRPr lang="en-US" sz="1100" dirty="0"/>
          </a:p>
        </p:txBody>
      </p:sp>
      <p:sp>
        <p:nvSpPr>
          <p:cNvPr id="35" name="Text 33"/>
          <p:cNvSpPr txBox="1"/>
          <p:nvPr/>
        </p:nvSpPr>
        <p:spPr>
          <a:xfrm>
            <a:off x="4021760" y="5085893"/>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Hareketli yüke etki eden kuvvet</a:t>
            </a:r>
            <a:endParaRPr lang="en-US" sz="1250" dirty="0"/>
          </a:p>
        </p:txBody>
      </p:sp>
      <p:sp>
        <p:nvSpPr>
          <p:cNvPr id="36" name="Text 34"/>
          <p:cNvSpPr txBox="1"/>
          <p:nvPr/>
        </p:nvSpPr>
        <p:spPr>
          <a:xfrm>
            <a:off x="3637712" y="5592470"/>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09</a:t>
            </a:r>
            <a:endParaRPr lang="en-US" sz="1100" dirty="0"/>
          </a:p>
        </p:txBody>
      </p:sp>
      <p:sp>
        <p:nvSpPr>
          <p:cNvPr id="37" name="Text 35"/>
          <p:cNvSpPr txBox="1"/>
          <p:nvPr/>
        </p:nvSpPr>
        <p:spPr>
          <a:xfrm>
            <a:off x="4021760" y="5592470"/>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Manyetik alanda dairesel hareket</a:t>
            </a:r>
            <a:endParaRPr lang="en-US" sz="1250" dirty="0"/>
          </a:p>
        </p:txBody>
      </p:sp>
      <p:sp>
        <p:nvSpPr>
          <p:cNvPr id="38" name="Shape 36"/>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9" name="Shape 37"/>
          <p:cNvSpPr/>
          <p:nvPr/>
        </p:nvSpPr>
        <p:spPr>
          <a:xfrm>
            <a:off x="6379312" y="1645920"/>
            <a:ext cx="2211248" cy="64008"/>
          </a:xfrm>
          <a:prstGeom prst="rect">
            <a:avLst/>
          </a:prstGeom>
          <a:solidFill>
            <a:srgbClr val="5F4BD8"/>
          </a:solidFill>
          <a:ln/>
        </p:spPr>
      </p:sp>
      <p:sp>
        <p:nvSpPr>
          <p:cNvPr id="40" name="Shape 38"/>
          <p:cNvSpPr/>
          <p:nvPr/>
        </p:nvSpPr>
        <p:spPr>
          <a:xfrm>
            <a:off x="6415888" y="1920240"/>
            <a:ext cx="420624" cy="420624"/>
          </a:xfrm>
          <a:prstGeom prst="roundRect">
            <a:avLst>
              <a:gd name="adj" fmla="val 26000"/>
            </a:avLst>
          </a:prstGeom>
          <a:solidFill>
            <a:srgbClr val="5F4BD8"/>
          </a:solidFill>
          <a:ln/>
        </p:spPr>
      </p:sp>
      <p:sp>
        <p:nvSpPr>
          <p:cNvPr id="41" name="Text 39"/>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Text 40"/>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43" name="Text 41"/>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Derinleşme: alanlar üst üste binince, yük alana eğik girince ve manyetizma teknolojiye dönüşünce ne olur?</a:t>
            </a:r>
            <a:endParaRPr lang="en-US" sz="1150" dirty="0"/>
          </a:p>
        </p:txBody>
      </p:sp>
      <p:sp>
        <p:nvSpPr>
          <p:cNvPr id="44" name="Shape 42"/>
          <p:cNvSpPr/>
          <p:nvPr/>
        </p:nvSpPr>
        <p:spPr>
          <a:xfrm>
            <a:off x="6415888" y="3429000"/>
            <a:ext cx="2138096" cy="0"/>
          </a:xfrm>
          <a:prstGeom prst="line">
            <a:avLst/>
          </a:prstGeom>
          <a:noFill/>
          <a:ln w="9525">
            <a:solidFill>
              <a:srgbClr val="E1E5EE"/>
            </a:solidFill>
            <a:prstDash val="dash"/>
          </a:ln>
        </p:spPr>
      </p:sp>
      <p:sp>
        <p:nvSpPr>
          <p:cNvPr id="45" name="Text 43"/>
          <p:cNvSpPr txBox="1"/>
          <p:nvPr/>
        </p:nvSpPr>
        <p:spPr>
          <a:xfrm>
            <a:off x="6415888" y="3566160"/>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3566160"/>
            <a:ext cx="1754048" cy="60350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İki tel yan yana: alanların toplanması ve paralel teller</a:t>
            </a:r>
            <a:endParaRPr lang="en-US" sz="1200" dirty="0"/>
          </a:p>
        </p:txBody>
      </p:sp>
      <p:sp>
        <p:nvSpPr>
          <p:cNvPr id="47" name="Text 45"/>
          <p:cNvSpPr txBox="1"/>
          <p:nvPr/>
        </p:nvSpPr>
        <p:spPr>
          <a:xfrm>
            <a:off x="6415888" y="4224528"/>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11</a:t>
            </a:r>
            <a:endParaRPr lang="en-US" sz="1100" dirty="0"/>
          </a:p>
        </p:txBody>
      </p:sp>
      <p:sp>
        <p:nvSpPr>
          <p:cNvPr id="48" name="Text 46"/>
          <p:cNvSpPr txBox="1"/>
          <p:nvPr/>
        </p:nvSpPr>
        <p:spPr>
          <a:xfrm>
            <a:off x="6799936"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Eğik giriş, sarmal yörünge ve siklotron</a:t>
            </a:r>
            <a:endParaRPr lang="en-US" sz="1250" dirty="0"/>
          </a:p>
        </p:txBody>
      </p:sp>
      <p:sp>
        <p:nvSpPr>
          <p:cNvPr id="49" name="Text 47"/>
          <p:cNvSpPr txBox="1"/>
          <p:nvPr/>
        </p:nvSpPr>
        <p:spPr>
          <a:xfrm>
            <a:off x="6415888" y="4882896"/>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12</a:t>
            </a:r>
            <a:endParaRPr lang="en-US" sz="1100" dirty="0"/>
          </a:p>
        </p:txBody>
      </p:sp>
      <p:sp>
        <p:nvSpPr>
          <p:cNvPr id="50" name="Text 48"/>
          <p:cNvSpPr txBox="1"/>
          <p:nvPr/>
        </p:nvSpPr>
        <p:spPr>
          <a:xfrm>
            <a:off x="6799936" y="4882896"/>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Manyetizma gerçek dünyada</a:t>
            </a:r>
            <a:endParaRPr lang="en-US" sz="1250" dirty="0"/>
          </a:p>
        </p:txBody>
      </p:sp>
      <p:sp>
        <p:nvSpPr>
          <p:cNvPr id="51" name="Shape 49"/>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52" name="Shape 50"/>
          <p:cNvSpPr/>
          <p:nvPr/>
        </p:nvSpPr>
        <p:spPr>
          <a:xfrm>
            <a:off x="9157487" y="1645920"/>
            <a:ext cx="2211248" cy="64008"/>
          </a:xfrm>
          <a:prstGeom prst="rect">
            <a:avLst/>
          </a:prstGeom>
          <a:solidFill>
            <a:srgbClr val="A56209"/>
          </a:solidFill>
          <a:ln/>
        </p:spPr>
      </p:sp>
      <p:sp>
        <p:nvSpPr>
          <p:cNvPr id="53" name="Shape 51"/>
          <p:cNvSpPr/>
          <p:nvPr/>
        </p:nvSpPr>
        <p:spPr>
          <a:xfrm>
            <a:off x="9194063" y="1920240"/>
            <a:ext cx="420624" cy="420624"/>
          </a:xfrm>
          <a:prstGeom prst="roundRect">
            <a:avLst>
              <a:gd name="adj" fmla="val 26000"/>
            </a:avLst>
          </a:prstGeom>
          <a:solidFill>
            <a:srgbClr val="A56209"/>
          </a:solidFill>
          <a:ln/>
        </p:spPr>
      </p:sp>
      <p:sp>
        <p:nvSpPr>
          <p:cNvPr id="54" name="Text 52"/>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5" name="Text 53"/>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6" name="Text 54"/>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ve sınavda puan kaybettiren klasik hatalar.</a:t>
            </a:r>
            <a:endParaRPr lang="en-US" sz="1150" dirty="0"/>
          </a:p>
        </p:txBody>
      </p:sp>
      <p:sp>
        <p:nvSpPr>
          <p:cNvPr id="57" name="Shape 55"/>
          <p:cNvSpPr/>
          <p:nvPr/>
        </p:nvSpPr>
        <p:spPr>
          <a:xfrm>
            <a:off x="9194063" y="3429000"/>
            <a:ext cx="2138096" cy="0"/>
          </a:xfrm>
          <a:prstGeom prst="line">
            <a:avLst/>
          </a:prstGeom>
          <a:noFill/>
          <a:ln w="9525">
            <a:solidFill>
              <a:srgbClr val="E1E5EE"/>
            </a:solidFill>
            <a:prstDash val="dash"/>
          </a:ln>
        </p:spPr>
      </p:sp>
      <p:sp>
        <p:nvSpPr>
          <p:cNvPr id="58" name="Text 56"/>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13</a:t>
            </a:r>
            <a:endParaRPr lang="en-US" sz="1100" dirty="0"/>
          </a:p>
        </p:txBody>
      </p:sp>
      <p:sp>
        <p:nvSpPr>
          <p:cNvPr id="59" name="Text 57"/>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60" name="Text 58"/>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14</a:t>
            </a:r>
            <a:endParaRPr lang="en-US" sz="1100" dirty="0"/>
          </a:p>
        </p:txBody>
      </p:sp>
      <p:sp>
        <p:nvSpPr>
          <p:cNvPr id="61" name="Text 59"/>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62" name="Shape 60"/>
          <p:cNvSpPr/>
          <p:nvPr/>
        </p:nvSpPr>
        <p:spPr>
          <a:xfrm>
            <a:off x="640080" y="6382512"/>
            <a:ext cx="128016" cy="128016"/>
          </a:xfrm>
          <a:prstGeom prst="roundRect">
            <a:avLst>
              <a:gd name="adj" fmla="val 28571"/>
            </a:avLst>
          </a:prstGeom>
          <a:solidFill>
            <a:srgbClr val="A9E648"/>
          </a:solidFill>
          <a:ln/>
        </p:spPr>
      </p:sp>
      <p:sp>
        <p:nvSpPr>
          <p:cNvPr id="63" name="Text 6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64" name="Text 6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1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Elektrik akımı:</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bir telde yüklerin akmasıdır ve amper (A) ile ölçülür. 2 A'lik akım, telin bir kesitinden her saniye 2 coulomb yük geçmesi demektir.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Elektrik yükü:</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protonlar pozitif (+), elektronlar negatif (−) yüklüdür; yükün birimi coulomb (C). Bir elektronun yükü çok küçüktür: 1,6·10⁻¹⁹ C.</a:t>
            </a:r>
            <a:endParaRPr lang="en-US" sz="2000" dirty="0"/>
          </a:p>
        </p:txBody>
      </p:sp>
      <p:sp>
        <p:nvSpPr>
          <p:cNvPr id="14" name="Shape 12"/>
          <p:cNvSpPr/>
          <p:nvPr/>
        </p:nvSpPr>
        <p:spPr>
          <a:xfrm>
            <a:off x="640080" y="4779264"/>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914400" y="5233416"/>
            <a:ext cx="457200" cy="457200"/>
          </a:xfrm>
          <a:prstGeom prst="roundRect">
            <a:avLst>
              <a:gd name="adj" fmla="val 26000"/>
            </a:avLst>
          </a:prstGeom>
          <a:solidFill>
            <a:srgbClr val="3C8C21"/>
          </a:solidFill>
          <a:ln/>
        </p:spPr>
      </p:sp>
      <p:sp>
        <p:nvSpPr>
          <p:cNvPr id="16" name="Text 14"/>
          <p:cNvSpPr txBox="1"/>
          <p:nvPr/>
        </p:nvSpPr>
        <p:spPr>
          <a:xfrm>
            <a:off x="914400" y="5233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645920" y="4888992"/>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Kuvvet ve yön:</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kuvvet bir itme ya da çekmedir ve newton (N) ile ölçülür. Kuvvetin de hızın da hem büyüklüğü hem yönü vardır; ikisini de okla gösteririz.</a:t>
            </a:r>
            <a:endParaRPr lang="en-US" sz="2000" dirty="0"/>
          </a:p>
        </p:txBody>
      </p:sp>
      <p:sp>
        <p:nvSpPr>
          <p:cNvPr id="18" name="Shape 16"/>
          <p:cNvSpPr/>
          <p:nvPr/>
        </p:nvSpPr>
        <p:spPr>
          <a:xfrm>
            <a:off x="640080" y="6382512"/>
            <a:ext cx="128016" cy="128016"/>
          </a:xfrm>
          <a:prstGeom prst="roundRect">
            <a:avLst>
              <a:gd name="adj" fmla="val 28571"/>
            </a:avLst>
          </a:prstGeom>
          <a:solidFill>
            <a:srgbClr val="A9E648"/>
          </a:solidFill>
          <a:ln/>
        </p:spPr>
      </p:sp>
      <p:sp>
        <p:nvSpPr>
          <p:cNvPr id="19"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20"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2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Sinüs:</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formüllerde açının etkisini verir. sin 0° = 0, sin 30° = 0,5, sin 90° = 1; yani dik açıda etki en büyük, sıfır açıda hiç yoktur.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Çok küçük sayılar:</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10⁻⁷ = 0,0000001 demektir (virgülden sonraki 7. basamakta 1). Mikro (µ) milyonda bir demektir: 40 µT = 40·10⁻⁶ T = 4·10⁻⁵ T.</a:t>
            </a:r>
            <a:endParaRPr lang="en-US" sz="2000" dirty="0"/>
          </a:p>
        </p:txBody>
      </p:sp>
      <p:sp>
        <p:nvSpPr>
          <p:cNvPr id="14" name="Shape 12"/>
          <p:cNvSpPr/>
          <p:nvPr/>
        </p:nvSpPr>
        <p:spPr>
          <a:xfrm>
            <a:off x="640080" y="6382512"/>
            <a:ext cx="128016" cy="128016"/>
          </a:xfrm>
          <a:prstGeom prst="roundRect">
            <a:avLst>
              <a:gd name="adj" fmla="val 28571"/>
            </a:avLst>
          </a:prstGeom>
          <a:solidFill>
            <a:srgbClr val="A9E648"/>
          </a:solidFill>
          <a:ln/>
        </p:spPr>
      </p:sp>
      <p:sp>
        <p:nvSpPr>
          <p:cNvPr id="15" name="Text 1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6" name="Text 1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Önce sezgi: alanı demir tozuyla görünür kıl, kaynağını tanı ve yönleri sağ elinle bulmayı öğren. Bu basamakta hesap yok denecek kadar az.</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demir tozu neyi gösterir?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Manyetik alan nedir?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Akım da mıknatıs gibidir: Oersted'in keşfi</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Yönleri bulmak: sağ el kuralı</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dersler-sekiller/manyetik-alan-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Text 9"/>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Kâğıdın altındaki mıknatıs görünmüyor, tozlar da ona değmiyor; yine de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demir tozları</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onun etkisini haritalıyor. Her toz tanesi küçük bir pusula iğnesi gibi o noktadaki etkinin yönüne diziliyor; tozların iki uçta sıklaşması etkinin en güçlü orada olduğunu gösteriyor. Tozların çizdiği bu eğrilere bir sonraki bölümde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manyetik alan çizgileri</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adını vereceğiz.</a:t>
            </a:r>
            <a:endParaRPr lang="en-US" sz="1150" dirty="0"/>
          </a:p>
        </p:txBody>
      </p:sp>
      <p:sp>
        <p:nvSpPr>
          <p:cNvPr id="13" name="Shape 10"/>
          <p:cNvSpPr/>
          <p:nvPr/>
        </p:nvSpPr>
        <p:spPr>
          <a:xfrm>
            <a:off x="640080" y="6382512"/>
            <a:ext cx="128016" cy="128016"/>
          </a:xfrm>
          <a:prstGeom prst="roundRect">
            <a:avLst>
              <a:gd name="adj" fmla="val 28571"/>
            </a:avLst>
          </a:prstGeom>
          <a:solidFill>
            <a:srgbClr val="C6F36B"/>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dersler.perinet.org/manyetik-alan.html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demir tozu neyi gösterir?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çubuk mıknatısın üstüne beyaz bir kâğıt koy, üzerine demir tozu serp ve kâğıda parmağınla hafifçe vur.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Dağınık tozlar birkaç saniyede düzenli eğriler çizerek sıraya girer: mıknatısın bir ucundan çıkıp geniş yaylarla öbür ucuna dolanan çizgiler.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Tozlar mıknatısa değmediği hâlde onun etkisini hisseder; demek ki mıknatısın çevresindeki uzay “boş” değildir.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demir tozu neyi gösterir?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Kâğıdın üzerinde gerçek bir pusulayı gezdirirsen iğnesinin her yerde tozların çizdiği eğriye teğet durduğunu görürsün.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 mıknatısı yaklaştırınca da bir yönde çekiştiklerini, birini ters çevirince itiştiklerini hissedersin.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Tozların görüntüsünden dört gözlem çıkar: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demir tozu neyi gösterir?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294208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Uçlarda yoğunlaşma: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tozlar mıknatısın iki ucunda en sıktır; etki en güçlü orada. Bu uçlara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kutup</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denir.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Kapalı yaylar: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çizgiler bir kutuptan çıkar, mıknatısın çevresinden dolanıp öbür kutba döner.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Uzakta seyrelme: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mıknatıstan uzaklaştıkça çizgiler aralanır, etki zayıflar.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Kesişme yok: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iki çizgi hiçbir yerde birbirini kesmez; her noktada tek bir yön vardır.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demir tozu neyi gösterir?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2462914" y="1234440"/>
            <a:ext cx="7265867"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manyetik-alan-01.png">    </p:cNvPr>
          <p:cNvPicPr>
            <a:picLocks noChangeAspect="1"/>
          </p:cNvPicPr>
          <p:nvPr/>
        </p:nvPicPr>
        <p:blipFill>
          <a:blip r:embed="rId1"/>
          <a:stretch>
            <a:fillRect/>
          </a:stretch>
        </p:blipFill>
        <p:spPr>
          <a:xfrm>
            <a:off x="2691514" y="1325880"/>
            <a:ext cx="6808667"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Tozların dizilişini şema olarak böyle çizebilirsin: her kesik çizgi, uç uca dizilmiş toz taneleri. Eğriler mıknatısın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uçlarında sıklaşır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uzaklaştıkça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seyrelir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ve hiçbiri bir başkasını kesmez. Eğrilerden birinin üstüne konan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pusulanın iğnesi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 eğriye teğet durur; tozlar da iğne gibi o noktadaki etkinin doğrultusunu gösterir.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demir tozu neyi gösterir?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Mıknatısın çevresinde demir tozunu ve pusula iğnesini belli bir yöne çeviren bir etki bölgesi vardır. Tozların çizdiği eğriler kutuplarda sıklaşır, uzakta seyrelir ve birbirini kesmez.</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Buzdolabı mıknatısı çelik kapıya yapışıyor da alüminyum tencereye neden yapışmıyor?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demir tozu neyi gösterir?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Buzdolabı mıknatısı çelik kapıya yapışıyor da alüminyum tencereye neden yapışmıyor?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Mıknatıs yalnızca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demir, nikel ve kobalt</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gibi birkaç maddeyi güçlü biçimde çeker. Bu maddelerde atomların minik mıknatısları, mıknatısın yanında aynı yöne dizilir ve madde geçici bir mıknatısa dönüşür. Alüminyum, bakır, plastik ve cam bunu yapamaz; üzerlerindeki etki gözle fark edilemeyecek kadar küçüktür.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Manyetik alan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Mıknatısların ve akım taşıyan iletkenlerin çevresinde, başka mıknatıslara ve hareketli yüklere kuvvet uygulayan bir etki bölgesi oluşur: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manyetik alan (B)</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Vektörel bir büyüklüktür, yani her noktada hem bir büyüklüğü hem bir yönü vardır.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Birimi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tesla (T)</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'dır.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Manyetik alan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124815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Demir tozlarının çizdiği eğrilere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manyetik alan çizgileri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 bir noktadaki alanın yönü, oraya konan pusula iğnesinin N ucunun gösterdiği yöndür.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Manyetik alan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25740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Alan çizgileri mıknatısın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N kutbundan çıkar, S kutbunda son bulur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mıknatısın içinde S'ten N'e devam eder, yani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kapalı eğrilerdir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Çizgiler asla kesişmez; sıklıkları alanın şiddetini gösterir.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Tek kutup yoktur: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bir mıknatıs ikiye bölünürse iki yeni mıknatıs oluşur.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Aynı kutuplar iter, zıt kutuplar çeker: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N ile N, S ile S birbirini iter; N ile S birbirini çeker.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Manyetik alan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Shape 4"/>
          <p:cNvSpPr/>
          <p:nvPr/>
        </p:nvSpPr>
        <p:spPr>
          <a:xfrm>
            <a:off x="1720308" y="1234440"/>
            <a:ext cx="8751080"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manyetik-alan-02.png">    </p:cNvPr>
          <p:cNvPicPr>
            <a:picLocks noChangeAspect="1"/>
          </p:cNvPicPr>
          <p:nvPr/>
        </p:nvPicPr>
        <p:blipFill>
          <a:blip r:embed="rId1"/>
          <a:stretch>
            <a:fillRect/>
          </a:stretch>
        </p:blipFill>
        <p:spPr>
          <a:xfrm>
            <a:off x="1948908" y="1325880"/>
            <a:ext cx="8293880"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Manyetik alan çizgileri mıknatısın dışında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N'den çıkıp S'ye girer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ve içeride devreyi tamamlar — yani elektrik alanının aksine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kapalı halkalardır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Bunun doğrudan sonucu şudur: bir mıknatısı ikiye bölersen tek bir kutup elde edemezsin, elinde iki tam mıknatıs kalır. Bugüne kadar hiç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tek manyetik kutup</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gözlenmedi.</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Manyetik alan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Shape 4"/>
          <p:cNvSpPr/>
          <p:nvPr/>
        </p:nvSpPr>
        <p:spPr>
          <a:xfrm>
            <a:off x="640080" y="1399032"/>
            <a:ext cx="64008" cy="310896"/>
          </a:xfrm>
          <a:prstGeom prst="rect">
            <a:avLst/>
          </a:prstGeom>
          <a:solidFill>
            <a:srgbClr val="3C8C21"/>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Dünya da bir mıknatıs</a:t>
            </a:r>
            <a:endParaRPr lang="en-US" sz="2200" dirty="0"/>
          </a:p>
        </p:txBody>
      </p:sp>
      <p:sp>
        <p:nvSpPr>
          <p:cNvPr id="8" name="Text 6"/>
          <p:cNvSpPr txBox="1"/>
          <p:nvPr/>
        </p:nvSpPr>
        <p:spPr>
          <a:xfrm>
            <a:off x="640080" y="1892808"/>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Pusula işe yarar, çünkü Dünya'nın kendisi dev bir mıknatıs gibi davranır; iğnenin kuzeyi gösteren ucuna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N kutbu</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Manyetik kutuplar coğrafi kutuplarla tam çakışmaz ve yıllar içinde yavaş yavaş yer değiştirir.</a:t>
            </a:r>
            <a:endParaRPr lang="en-US" sz="22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Manyetik alan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640080" y="1325880"/>
            <a:ext cx="10911535" cy="1348740"/>
          </a:xfrm>
          <a:prstGeom prst="roundRect">
            <a:avLst>
              <a:gd name="adj" fmla="val 94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1019556"/>
          </a:xfrm>
          <a:prstGeom prst="rect">
            <a:avLst/>
          </a:prstGeom>
          <a:solidFill>
            <a:srgbClr val="3C8C21"/>
          </a:solidFill>
          <a:ln/>
        </p:spPr>
      </p:sp>
      <p:sp>
        <p:nvSpPr>
          <p:cNvPr id="8" name="Text 6"/>
          <p:cNvSpPr txBox="1"/>
          <p:nvPr/>
        </p:nvSpPr>
        <p:spPr>
          <a:xfrm>
            <a:off x="950976" y="1453896"/>
            <a:ext cx="10399471" cy="1092708"/>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Ölçek duygusu:</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Dünya'nın manyetik alanı ≈ 50 µT, buzdolabı mıknatısı ≈ 5 mT, hoparlör mıknatısı ≈ 1 T, MR cihazı 1,5–3 T. Mikrotesla (µT) teslanın milyonda biri, militesla (mT) binde biridir; MR cihazının alanı Dünya'nınkinin 30 000 ile 60 000 katıdır.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Manyetik alan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Manyetik alan (B), mıknatısların ve akımların çevresinde hareketli yüklere kuvvet uygulayan vektörel bir etkidir; birimi tesladır. Alan çizgileri N'den çıkıp S'ye giren kapalı eğrilerdir ve tek kutup yoktur.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Pusulanın N ucu kuzeyi gösteriyorsa, coğrafi kuzey kutbunun yakınındaki manyetik kutup N mi, S mi?</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02 · Manyetik alan nedir?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Pusulanın N ucu kuzeyi gösteriyorsa, coğrafi kuzey kutbunun yakınındaki manyetik kutup N mi, S mi?</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S kutbu.</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Zıt kutuplar birbirini çeker; pusulanın N ucu kuzeye çekildiğine göre orada bir S kutbu olmalıdır. Bu yüzden Dünya'nın alan çizgileri güney yarım kürede çıkıp kuzey yarım kürede yeniden Dünya'ya girer.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Akım da mıknatıs gibidir: Oersted'in keşfi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1820'de Danimarkalı fizikçi Hans Christian Oersted, akım taşıyan bir telin yanındaki pusula iğnesinin saptığını gördü.</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Akımı kesince iğne yeniden kuzeye döndü; akımın yönünü çevirince ters yöne saptı.</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basit gözlem, o güne kadar ayrı sanılan elektrik ile manyetizmanın aynı olayın iki yüzü olduğunu gösterdi: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elektrik akımı manyetik alan oluşturur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Akım da mıknatıs gibidir: Oersted'in keşfi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294208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Akım varken sapar: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akım geçince iğne döner, akım kesilince kuzeye geri döner.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Yön akıma bağlıdır: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akımın yönü ters çevrilince iğne de ters yöne sapar.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Etki akıma ve uzaklığa bağlıdır: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akım büyüdükçe sapma artar, pusula telden uzaklaştıkça azalır.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Çizgiler çemberdir: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düz bir telin alan çizgileri teli çevreleyen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iç içe çemberlerdir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bu çizgilerin ne başı ne sonu vardır, telin de kutbu yoktur.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Akım da mıknatıs gibidir: Oersted'in keşfi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Shape 4"/>
          <p:cNvSpPr/>
          <p:nvPr/>
        </p:nvSpPr>
        <p:spPr>
          <a:xfrm>
            <a:off x="2406244" y="1234440"/>
            <a:ext cx="7379208"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manyetik-alan-03.png">    </p:cNvPr>
          <p:cNvPicPr>
            <a:picLocks noChangeAspect="1"/>
          </p:cNvPicPr>
          <p:nvPr/>
        </p:nvPicPr>
        <p:blipFill>
          <a:blip r:embed="rId1"/>
          <a:stretch>
            <a:fillRect/>
          </a:stretch>
        </p:blipFill>
        <p:spPr>
          <a:xfrm>
            <a:off x="2634844" y="1325880"/>
            <a:ext cx="6922008"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Oersted deneyine üstten bakıyorsun: tel, pusulanın hemen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üstünden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kuzey-güney doğrultusunda geçiyor. Akım yokken iğnenin kırmızı ucu kuzeyi gösterir. Güçlü bir akım geçince iğne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tele neredeyse dik</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olacak kadar döner (Dünya'nın alanı onu hâlâ biraz kuzeye çeker); akımın yönünü çevirince iğne de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ters yöne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döner. İğneyi çeviren, akımın telin çevresinde oluşturduğu manyetik alandır.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Akım da mıknatıs gibidir: Oersted'in keşfi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33588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teli bir halka biçiminde bükersen halkanın her parçasının alanı merkezde üst üste biner ve alan güçlenir.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Teli yay gibi çok sayıda halka hâlinde sararsan bir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bobin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elde edersin; içinde alan güçlü ve hemen her yerde aynıdır, dışarıdan ise bobin bir çubuk mıknatıs gibi davranır: bir ucu N, öbür ucu S.</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İçine demir çekirdek konan bobine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elektromıknatıs</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 hurda vinçleri ve elektrikli kilitler, alanı akımla birlikte açılıp kapanabildiği için bunu kullanır.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Akım da mıknatıs gibidir: Oersted'in keşfi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Peki çubuk mıknatısın alanı nereden geliyor?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Onun içinde de yükler var: atomlardaki elektronlar.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 elektron minicik bir mıknatıs gibi davranır; demirde bu minik mıknatısların çoğu aynı yöne dizilince etkileri toplanır.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Akım da mıknatıs gibidir: Oersted'in keşfi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3445231" y="1271016"/>
            <a:ext cx="5301234" cy="3570732"/>
          </a:xfrm>
          <a:prstGeom prst="roundRect">
            <a:avLst>
              <a:gd name="adj" fmla="val 358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manyetik-alan-ek1-genis.jpg">    </p:cNvPr>
          <p:cNvPicPr>
            <a:picLocks noChangeAspect="1"/>
          </p:cNvPicPr>
          <p:nvPr/>
        </p:nvPicPr>
        <p:blipFill>
          <a:blip r:embed="rId1"/>
          <a:stretch>
            <a:fillRect/>
          </a:stretch>
        </p:blipFill>
        <p:spPr>
          <a:xfrm>
            <a:off x="3500095" y="1325880"/>
            <a:ext cx="5191506" cy="3461004"/>
          </a:xfrm>
          <a:prstGeom prst="rect">
            <a:avLst/>
          </a:prstGeom>
        </p:spPr>
      </p:pic>
      <p:sp>
        <p:nvSpPr>
          <p:cNvPr id="8" name="Text 5"/>
          <p:cNvSpPr txBox="1"/>
          <p:nvPr/>
        </p:nvSpPr>
        <p:spPr>
          <a:xfrm>
            <a:off x="1249528" y="5024628"/>
            <a:ext cx="9692640" cy="1120140"/>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Düğmeye bastığında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telden akım geçer ve telin altındaki pusulanın iğnesi tele dik doğrultuya döner. İğneyi çeviren, akımın telin çevresinde oluşturduğu manyetik alandır; düz telin alan çizgileri teli saran çemberler olduğu için telin altında alan yatay ve tele diktir. Düğmeyi bırakıp akımı kesince iğne yeniden kuzeyi gösterir, pilleri ters çevirirsen ters yöne sapar.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Akım da mıknatıs gibidir: Oersted'in keşfi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Akım taşıyan tel çevresinde manyetik alan oluşturur; düz telde alan çizgileri teli çevreleyen çemberlerdir. Teli bobin hâlinde sarınca alan güçlenir ve bobin bir mıknatıs gibi davranır.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Yönleri bulmak: sağ el kuralı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Manyetizmada yönler üç boyutludur ve çoğu zaman sezgiye ters düşer; bu yüzden fizikçiler yön bulmak için ellerini kullanır.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 kural bilmen yeter, ikisi de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sağ el</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ile uygulanır.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Birincisi telin çevresindeki alanın yönünü, ikincisi alanın içinde hareket eden yüke ya da akıma etki eden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manyetik kuvvetin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yönünü verir.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kuvvetin şaşırtıcı yanı, yükü alan boyunca itip çekmemesi, ona </a:t>
            </a:r>
            <a:pPr indent="0" marL="0">
              <a:lnSpc>
                <a:spcPct val="115000"/>
              </a:lnSpc>
              <a:buNone/>
            </a:pPr>
            <a:r>
              <a:rPr lang="en-US" sz="2200" i="1" dirty="0">
                <a:solidFill>
                  <a:srgbClr val="0E1426"/>
                </a:solidFill>
                <a:latin typeface="Calibri" pitchFamily="34" charset="0"/>
                <a:ea typeface="Calibri" pitchFamily="34" charset="-122"/>
                <a:cs typeface="Calibri" pitchFamily="34" charset="-120"/>
              </a:rPr>
              <a:t>yandan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etki etmesidir: kuvvet hem hıza hem alana diktir.</a:t>
            </a:r>
            <a:endParaRPr lang="en-US" sz="2200" dirty="0"/>
          </a:p>
        </p:txBody>
      </p:sp>
      <p:sp>
        <p:nvSpPr>
          <p:cNvPr id="7" name="Text 5"/>
          <p:cNvSpPr txBox="1"/>
          <p:nvPr/>
        </p:nvSpPr>
        <p:spPr>
          <a:xfrm>
            <a:off x="640080" y="4591812"/>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Büyüklüğünü ikinci basamakta hesaplayacağız.</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Yönleri bulmak: sağ el kuralı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211455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Telin alanı için: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Sağ elin </a:t>
            </a:r>
            <a:pPr indent="0" marL="0">
              <a:lnSpc>
                <a:spcPct val="115000"/>
              </a:lnSpc>
              <a:buNone/>
            </a:pPr>
            <a:r>
              <a:rPr lang="en-US" sz="2100" i="1" dirty="0">
                <a:solidFill>
                  <a:srgbClr val="0E1426"/>
                </a:solidFill>
                <a:latin typeface="Calibri" pitchFamily="34" charset="0"/>
                <a:ea typeface="Calibri" pitchFamily="34" charset="-122"/>
                <a:cs typeface="Calibri" pitchFamily="34" charset="-120"/>
              </a:rPr>
              <a:t>başparmağı akım yönünü</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gösterecek şekilde teli kavra; </a:t>
            </a:r>
            <a:pPr indent="0" marL="0">
              <a:lnSpc>
                <a:spcPct val="115000"/>
              </a:lnSpc>
              <a:buNone/>
            </a:pPr>
            <a:r>
              <a:rPr lang="en-US" sz="2100" i="1" dirty="0">
                <a:solidFill>
                  <a:srgbClr val="0E1426"/>
                </a:solidFill>
                <a:latin typeface="Calibri" pitchFamily="34" charset="0"/>
                <a:ea typeface="Calibri" pitchFamily="34" charset="-122"/>
                <a:cs typeface="Calibri" pitchFamily="34" charset="-120"/>
              </a:rPr>
              <a:t>bükülen parmaklar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alan çizgilerinin yönünü verir.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Kuvvet için: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Parmaklar </a:t>
            </a:r>
            <a:pPr indent="0" marL="0">
              <a:lnSpc>
                <a:spcPct val="115000"/>
              </a:lnSpc>
              <a:buNone/>
            </a:pPr>
            <a:r>
              <a:rPr lang="en-US" sz="2100" i="1" dirty="0">
                <a:solidFill>
                  <a:srgbClr val="0E1426"/>
                </a:solidFill>
                <a:latin typeface="Calibri" pitchFamily="34" charset="0"/>
                <a:ea typeface="Calibri" pitchFamily="34" charset="-122"/>
                <a:cs typeface="Calibri" pitchFamily="34" charset="-120"/>
              </a:rPr>
              <a:t>hız (ya da akım)</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yönünden </a:t>
            </a:r>
            <a:pPr indent="0" marL="0">
              <a:lnSpc>
                <a:spcPct val="115000"/>
              </a:lnSpc>
              <a:buNone/>
            </a:pPr>
            <a:r>
              <a:rPr lang="en-US" sz="2100" i="1" dirty="0">
                <a:solidFill>
                  <a:srgbClr val="0E1426"/>
                </a:solidFill>
                <a:latin typeface="Calibri" pitchFamily="34" charset="0"/>
                <a:ea typeface="Calibri" pitchFamily="34" charset="-122"/>
                <a:cs typeface="Calibri" pitchFamily="34" charset="-120"/>
              </a:rPr>
              <a:t>alan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yönüne doğru döndürülürken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başparmak kuvveti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gösterir.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Negatif yükte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kuvvet, bulunan yönün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tam tersidir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p:txBody>
      </p:sp>
      <p:sp>
        <p:nvSpPr>
          <p:cNvPr id="7" name="Shape 5"/>
          <p:cNvSpPr/>
          <p:nvPr/>
        </p:nvSpPr>
        <p:spPr>
          <a:xfrm>
            <a:off x="640080" y="3641598"/>
            <a:ext cx="10911535" cy="1033272"/>
          </a:xfrm>
          <a:prstGeom prst="roundRect">
            <a:avLst>
              <a:gd name="adj" fmla="val 1238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58368" y="3806190"/>
            <a:ext cx="54864" cy="704088"/>
          </a:xfrm>
          <a:prstGeom prst="rect">
            <a:avLst/>
          </a:prstGeom>
          <a:solidFill>
            <a:srgbClr val="A56209"/>
          </a:solidFill>
          <a:ln/>
        </p:spPr>
      </p:sp>
      <p:sp>
        <p:nvSpPr>
          <p:cNvPr id="9" name="Text 7"/>
          <p:cNvSpPr txBox="1"/>
          <p:nvPr/>
        </p:nvSpPr>
        <p:spPr>
          <a:xfrm>
            <a:off x="950976" y="3769614"/>
            <a:ext cx="10399471" cy="777240"/>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Sayfa düzlemi gösterimi:</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a:t>
            </a:r>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sayfaya doğru (içeri), </a:t>
            </a:r>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sayfadan dışarı anlamına gelir. Uzaklaşan okun tüyü (⊗) ve sana yaklaşan okun ucu (⊙) gibi düşünülebilir.</a:t>
            </a:r>
            <a:endParaRPr lang="en-US" sz="1800" dirty="0"/>
          </a:p>
        </p:txBody>
      </p:sp>
      <p:sp>
        <p:nvSpPr>
          <p:cNvPr id="11" name="Shape 8"/>
          <p:cNvSpPr/>
          <p:nvPr/>
        </p:nvSpPr>
        <p:spPr>
          <a:xfrm>
            <a:off x="640080" y="6382512"/>
            <a:ext cx="128016" cy="128016"/>
          </a:xfrm>
          <a:prstGeom prst="roundRect">
            <a:avLst>
              <a:gd name="adj" fmla="val 28571"/>
            </a:avLst>
          </a:prstGeom>
          <a:solidFill>
            <a:srgbClr val="A9E648"/>
          </a:solidFill>
          <a:ln/>
        </p:spPr>
      </p:sp>
      <p:sp>
        <p:nvSpPr>
          <p:cNvPr id="12"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3"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Yönleri bulmak: sağ el kuralı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Shape 4"/>
          <p:cNvSpPr/>
          <p:nvPr/>
        </p:nvSpPr>
        <p:spPr>
          <a:xfrm>
            <a:off x="1948952" y="1234440"/>
            <a:ext cx="8293791"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manyetik-alan-04.png">    </p:cNvPr>
          <p:cNvPicPr>
            <a:picLocks noChangeAspect="1"/>
          </p:cNvPicPr>
          <p:nvPr/>
        </p:nvPicPr>
        <p:blipFill>
          <a:blip r:embed="rId1"/>
          <a:stretch>
            <a:fillRect/>
          </a:stretch>
        </p:blipFill>
        <p:spPr>
          <a:xfrm>
            <a:off x="2177552" y="1325880"/>
            <a:ext cx="7836591"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Manyetik kuvvet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hem akıma hem alana diktir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 yani üç yön bir odanın köşesi gibi birbirine dik durur. Sağ elinin parmaklarını akım (ya da hız) yönüne, çizimde sağa uzat; sonra alan yönüne, sana doğru kıvır: başparmağın kuvveti, burada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aşağıyı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gösterir. Negatif yükte bulduğun yönün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tam tersini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alırsın. Sayfa düzleminde çarpı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içeri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nokta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dışarı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demektir: uzaklaşan okun tüyü ve yaklaşan okun ucu.</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Yönleri bulmak: sağ el kuralı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Hemen dene: sayfaya doğru (⊗) akım taşıyan bir teli sağ elinle kavra.</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Başparmağın sayfanın içini gösterirken parmakların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saat yönünde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kıvrılır; sayfanın 01 numaralı deneyinde de akım sayfaya doğruyken pusula saat yönünde dizilir.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Kuvvet kuralını 04 numaralı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sağ el kuralı alıştırmasında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istediğin kadar deneyebilirsin.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Yönleri bulmak: sağ el kuralı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Telin alanında başparmak akımı, kıvrılan parmaklar alanı gösterir; kuvvette parmaklar hızdan alana dönerken başparmak kuvveti verir. Negatif yükte kuvvet ters döner; ⊗ içeri, ⊙ dışarı demektir.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Sayfadan dışarı (⊙) akım taşıyan bir telin alan çizgileri, sayfaya bakan birine göre hangi yönde döner?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04 · Yönleri bulmak: sağ el kuralı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Sayfadan dışarı (⊙) akım taşıyan bir telin alan çizgileri, sayfaya bakan birine göre hangi yönde döner?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Başparmağını sana doğru, sayfadan dışarı çevir: parmakların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saat yönünün tersine</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kıvrılır. Akımın yönü ters dönünce alan çizgilerinin dönme yönü de ters döner. Kısaca ⊗ akımda saat yönü, ⊙ akımda saatin tersi yönü.</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Bağıntılar: telin alanını, tele ve yüke etki eden kuvveti ve çembersel yörüngeyi adım adım çıkar, sayılarla hisset.</a:t>
            </a:r>
            <a:endParaRPr lang="en-US" sz="1600" dirty="0"/>
          </a:p>
        </p:txBody>
      </p:sp>
      <p:sp>
        <p:nvSpPr>
          <p:cNvPr id="6" name="Text 4"/>
          <p:cNvSpPr txBox="1"/>
          <p:nvPr/>
        </p:nvSpPr>
        <p:spPr>
          <a:xfrm>
            <a:off x="731520" y="457200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05   </a:t>
            </a:r>
            <a:pPr indent="0" marL="0">
              <a:buNone/>
            </a:pPr>
            <a:r>
              <a:rPr lang="en-US" sz="1300" dirty="0">
                <a:solidFill>
                  <a:srgbClr val="FFFFFF"/>
                </a:solidFill>
                <a:latin typeface="Calibri" pitchFamily="34" charset="0"/>
                <a:ea typeface="Calibri" pitchFamily="34" charset="-122"/>
                <a:cs typeface="Calibri" pitchFamily="34" charset="-120"/>
              </a:rPr>
              <a:t>Akımın oluşturduğu alan: bağıntılar</a:t>
            </a:r>
            <a:endParaRPr lang="en-US" sz="1300" dirty="0"/>
          </a:p>
        </p:txBody>
      </p:sp>
      <p:sp>
        <p:nvSpPr>
          <p:cNvPr id="7" name="Text 5"/>
          <p:cNvSpPr txBox="1"/>
          <p:nvPr/>
        </p:nvSpPr>
        <p:spPr>
          <a:xfrm>
            <a:off x="731520" y="489204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06   </a:t>
            </a:r>
            <a:pPr indent="0" marL="0">
              <a:buNone/>
            </a:pPr>
            <a:r>
              <a:rPr lang="en-US" sz="1300" dirty="0">
                <a:solidFill>
                  <a:srgbClr val="FFFFFF"/>
                </a:solidFill>
                <a:latin typeface="Calibri" pitchFamily="34" charset="0"/>
                <a:ea typeface="Calibri" pitchFamily="34" charset="-122"/>
                <a:cs typeface="Calibri" pitchFamily="34" charset="-120"/>
              </a:rPr>
              <a:t>Sayılarla hisset: bir tel ne kadar güçlü bir mıknatıstır?</a:t>
            </a:r>
            <a:endParaRPr lang="en-US" sz="1300" dirty="0"/>
          </a:p>
        </p:txBody>
      </p:sp>
      <p:sp>
        <p:nvSpPr>
          <p:cNvPr id="8" name="Text 6"/>
          <p:cNvSpPr txBox="1"/>
          <p:nvPr/>
        </p:nvSpPr>
        <p:spPr>
          <a:xfrm>
            <a:off x="731520" y="521208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07   </a:t>
            </a:r>
            <a:pPr indent="0" marL="0">
              <a:buNone/>
            </a:pPr>
            <a:r>
              <a:rPr lang="en-US" sz="1300" dirty="0">
                <a:solidFill>
                  <a:srgbClr val="FFFFFF"/>
                </a:solidFill>
                <a:latin typeface="Calibri" pitchFamily="34" charset="0"/>
                <a:ea typeface="Calibri" pitchFamily="34" charset="-122"/>
                <a:cs typeface="Calibri" pitchFamily="34" charset="-120"/>
              </a:rPr>
              <a:t>Akım taşıyan tele etki eden kuvvet</a:t>
            </a:r>
            <a:endParaRPr lang="en-US" sz="1300" dirty="0"/>
          </a:p>
        </p:txBody>
      </p:sp>
      <p:sp>
        <p:nvSpPr>
          <p:cNvPr id="9" name="Text 7"/>
          <p:cNvSpPr txBox="1"/>
          <p:nvPr/>
        </p:nvSpPr>
        <p:spPr>
          <a:xfrm>
            <a:off x="731520" y="553212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08   </a:t>
            </a:r>
            <a:pPr indent="0" marL="0">
              <a:buNone/>
            </a:pPr>
            <a:r>
              <a:rPr lang="en-US" sz="1300" dirty="0">
                <a:solidFill>
                  <a:srgbClr val="FFFFFF"/>
                </a:solidFill>
                <a:latin typeface="Calibri" pitchFamily="34" charset="0"/>
                <a:ea typeface="Calibri" pitchFamily="34" charset="-122"/>
                <a:cs typeface="Calibri" pitchFamily="34" charset="-120"/>
              </a:rPr>
              <a:t>Hareketli yüke etki eden kuvvet</a:t>
            </a:r>
            <a:endParaRPr lang="en-US" sz="1300" dirty="0"/>
          </a:p>
        </p:txBody>
      </p:sp>
      <p:sp>
        <p:nvSpPr>
          <p:cNvPr id="10" name="Text 8"/>
          <p:cNvSpPr txBox="1"/>
          <p:nvPr/>
        </p:nvSpPr>
        <p:spPr>
          <a:xfrm>
            <a:off x="731520" y="585216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09   </a:t>
            </a:r>
            <a:pPr indent="0" marL="0">
              <a:buNone/>
            </a:pPr>
            <a:r>
              <a:rPr lang="en-US" sz="1300" dirty="0">
                <a:solidFill>
                  <a:srgbClr val="FFFFFF"/>
                </a:solidFill>
                <a:latin typeface="Calibri" pitchFamily="34" charset="0"/>
                <a:ea typeface="Calibri" pitchFamily="34" charset="-122"/>
                <a:cs typeface="Calibri" pitchFamily="34" charset="-120"/>
              </a:rPr>
              <a:t>Manyetik alanda dairesel hareket</a:t>
            </a:r>
            <a:endParaRPr lang="en-US" sz="1300" dirty="0"/>
          </a:p>
        </p:txBody>
      </p:sp>
      <p:sp>
        <p:nvSpPr>
          <p:cNvPr id="11" name="Text 9"/>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2" name="Shape 10"/>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3" name="Text 11"/>
          <p:cNvSpPr txBox="1"/>
          <p:nvPr/>
        </p:nvSpPr>
        <p:spPr>
          <a:xfrm>
            <a:off x="6400800" y="1481328"/>
            <a:ext cx="2295144"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B = μ₀·I / (2π·r)</a:t>
            </a:r>
            <a:endParaRPr lang="en-US" sz="1500" dirty="0"/>
          </a:p>
        </p:txBody>
      </p:sp>
      <p:sp>
        <p:nvSpPr>
          <p:cNvPr id="14" name="Text 12"/>
          <p:cNvSpPr txBox="1"/>
          <p:nvPr/>
        </p:nvSpPr>
        <p:spPr>
          <a:xfrm>
            <a:off x="8787384" y="1481328"/>
            <a:ext cx="2581351"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düz telin alanı</a:t>
            </a:r>
            <a:endParaRPr lang="en-US" sz="1200" dirty="0"/>
          </a:p>
        </p:txBody>
      </p:sp>
      <p:sp>
        <p:nvSpPr>
          <p:cNvPr id="15" name="Shape 13"/>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6" name="Text 14"/>
          <p:cNvSpPr txBox="1"/>
          <p:nvPr/>
        </p:nvSpPr>
        <p:spPr>
          <a:xfrm>
            <a:off x="6400800" y="2350008"/>
            <a:ext cx="1938528"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F = B·I·L·sinα</a:t>
            </a:r>
            <a:endParaRPr lang="en-US" sz="1500" dirty="0"/>
          </a:p>
        </p:txBody>
      </p:sp>
      <p:sp>
        <p:nvSpPr>
          <p:cNvPr id="17" name="Text 15"/>
          <p:cNvSpPr txBox="1"/>
          <p:nvPr/>
        </p:nvSpPr>
        <p:spPr>
          <a:xfrm>
            <a:off x="8430768" y="2350008"/>
            <a:ext cx="2937967"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akım taşıyan tele</a:t>
            </a:r>
            <a:endParaRPr lang="en-US" sz="1200" dirty="0"/>
          </a:p>
        </p:txBody>
      </p:sp>
      <p:sp>
        <p:nvSpPr>
          <p:cNvPr id="18" name="Shape 16"/>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19" name="Text 17"/>
          <p:cNvSpPr txBox="1"/>
          <p:nvPr/>
        </p:nvSpPr>
        <p:spPr>
          <a:xfrm>
            <a:off x="6400800" y="3218688"/>
            <a:ext cx="1938528"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F = q·v·B·sinα</a:t>
            </a:r>
            <a:endParaRPr lang="en-US" sz="1500" dirty="0"/>
          </a:p>
        </p:txBody>
      </p:sp>
      <p:sp>
        <p:nvSpPr>
          <p:cNvPr id="20" name="Text 18"/>
          <p:cNvSpPr txBox="1"/>
          <p:nvPr/>
        </p:nvSpPr>
        <p:spPr>
          <a:xfrm>
            <a:off x="8430768" y="3218688"/>
            <a:ext cx="2937967"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hareketli yüke</a:t>
            </a:r>
            <a:endParaRPr lang="en-US" sz="1200" dirty="0"/>
          </a:p>
        </p:txBody>
      </p:sp>
      <p:sp>
        <p:nvSpPr>
          <p:cNvPr id="21" name="Shape 19"/>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2" name="Text 20"/>
          <p:cNvSpPr txBox="1"/>
          <p:nvPr/>
        </p:nvSpPr>
        <p:spPr>
          <a:xfrm>
            <a:off x="6400800" y="4087368"/>
            <a:ext cx="205740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r = m·v / (q·B)</a:t>
            </a:r>
            <a:endParaRPr lang="en-US" sz="1500" dirty="0"/>
          </a:p>
        </p:txBody>
      </p:sp>
      <p:sp>
        <p:nvSpPr>
          <p:cNvPr id="23" name="Text 21"/>
          <p:cNvSpPr txBox="1"/>
          <p:nvPr/>
        </p:nvSpPr>
        <p:spPr>
          <a:xfrm>
            <a:off x="8549640" y="4087368"/>
            <a:ext cx="281909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dairesel yörüngenin yarıçapı</a:t>
            </a:r>
            <a:endParaRPr lang="en-US" sz="1200" dirty="0"/>
          </a:p>
        </p:txBody>
      </p:sp>
      <p:sp>
        <p:nvSpPr>
          <p:cNvPr id="24" name="Shape 22"/>
          <p:cNvSpPr/>
          <p:nvPr/>
        </p:nvSpPr>
        <p:spPr>
          <a:xfrm>
            <a:off x="640080" y="6382512"/>
            <a:ext cx="128016" cy="128016"/>
          </a:xfrm>
          <a:prstGeom prst="roundRect">
            <a:avLst>
              <a:gd name="adj" fmla="val 28571"/>
            </a:avLst>
          </a:prstGeom>
          <a:solidFill>
            <a:srgbClr val="C6F36B"/>
          </a:solidFill>
          <a:ln/>
        </p:spPr>
      </p:sp>
      <p:sp>
        <p:nvSpPr>
          <p:cNvPr id="25" name="Text 2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dersler.perinet.org/manyetik-alan.html</a:t>
            </a:r>
            <a:endParaRPr lang="en-US" sz="1050" dirty="0"/>
          </a:p>
        </p:txBody>
      </p:sp>
      <p:sp>
        <p:nvSpPr>
          <p:cNvPr id="26" name="Text 2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Akımın oluşturduğu alan: bağıntılar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7</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Oersted'in nitel gözlemini şimdi sayıya dökelim.</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Düz ve çok uzun bir telden I akımı geçiyorsa, telden r uzaklıktaki manyetik alanın büyüklüğü şudur:</a:t>
            </a:r>
            <a:endParaRPr lang="en-US" sz="2200" dirty="0"/>
          </a:p>
        </p:txBody>
      </p:sp>
      <p:sp>
        <p:nvSpPr>
          <p:cNvPr id="7" name="Shape 5"/>
          <p:cNvSpPr/>
          <p:nvPr/>
        </p:nvSpPr>
        <p:spPr>
          <a:xfrm>
            <a:off x="640080" y="2866644"/>
            <a:ext cx="2911450"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866644"/>
            <a:ext cx="2911450"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B = μ₀·I / (2π·r)</a:t>
            </a:r>
            <a:endParaRPr lang="en-US" sz="1800" dirty="0"/>
          </a:p>
        </p:txBody>
      </p:sp>
      <p:sp>
        <p:nvSpPr>
          <p:cNvPr id="9" name="Shape 7"/>
          <p:cNvSpPr/>
          <p:nvPr/>
        </p:nvSpPr>
        <p:spPr>
          <a:xfrm>
            <a:off x="3697834" y="2866644"/>
            <a:ext cx="3606394"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3697834" y="2866644"/>
            <a:ext cx="36063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μ₀ / 2π = 2·10⁻⁷ T·m/A</a:t>
            </a:r>
            <a:endParaRPr lang="en-US" sz="1800" dirty="0"/>
          </a:p>
        </p:txBody>
      </p:sp>
      <p:sp>
        <p:nvSpPr>
          <p:cNvPr id="11" name="Shape 9"/>
          <p:cNvSpPr/>
          <p:nvPr/>
        </p:nvSpPr>
        <p:spPr>
          <a:xfrm>
            <a:off x="7450531" y="2866644"/>
            <a:ext cx="3050438"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7450531" y="2866644"/>
            <a:ext cx="3050438"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B = 2·10⁻⁷ · I / r</a:t>
            </a:r>
            <a:endParaRPr lang="en-US" sz="180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Akımın oluşturduğu alan: bağıntılar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7</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Formüldeki harfler ne anlama geliyor?</a:t>
            </a:r>
            <a:endParaRPr lang="en-US" sz="2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40080" y="1892808"/>
          <a:ext cx="10911535" cy="914400"/>
        </p:xfrm>
        <a:graphic>
          <a:graphicData uri="http://schemas.openxmlformats.org/drawingml/2006/table">
            <a:tbl>
              <a:tblPr/>
              <a:tblGrid>
                <a:gridCol w="1259023"/>
                <a:gridCol w="8393489"/>
                <a:gridCol w="1259023"/>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Sembol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Anlamı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B</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telin oluşturduğu manyetik alanın büyüklüğü</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telden geçen akım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telden, alanı bulmak istediğin noktaya olan uzaklık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690372">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μ₀</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boşluğun manyetik geçirgenliği; değeri hiç değişmeyen bir sabit (4π·10⁻⁷)</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T·m/A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π</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pi sayısı, yaklaşık 3,14</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39</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Akımın oluşturduğu alan: bağıntılar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7</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Bağıntı nereden geliyor?</a:t>
            </a:r>
            <a:endParaRPr lang="en-US" sz="2200" dirty="0"/>
          </a:p>
        </p:txBody>
      </p:sp>
      <p:sp>
        <p:nvSpPr>
          <p:cNvPr id="8" name="Text 6"/>
          <p:cNvSpPr txBox="1"/>
          <p:nvPr/>
        </p:nvSpPr>
        <p:spPr>
          <a:xfrm>
            <a:off x="640080" y="1892808"/>
            <a:ext cx="10911535" cy="2850642"/>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Akımla orantı: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Akımı iki katına çıkarınca ölçülen alan da iki katına çıkar: B ∝ I.</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Simetri: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Düz tel her yönden aynı görünür; bu yüzden telden aynı uzaklıktaki her noktada alan aynıdır ve çizgiler tel merkezli çemberlerdir.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Çevreye yayılma: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Akımın etkisi r yarıçaplı çemberin 2π·r uzunluğuna yayılır.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Ampère yasası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bunu B·2π·r = μ₀·I diye yazar; çevre r ile büyüdükçe alan küçülür.</a:t>
            </a:r>
            <a:endParaRPr lang="en-US" sz="21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Akımın oluşturduğu alan: bağıntılar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7</a:t>
            </a:r>
            <a:endParaRPr lang="en-US" sz="950" dirty="0"/>
          </a:p>
        </p:txBody>
      </p:sp>
      <p:sp>
        <p:nvSpPr>
          <p:cNvPr id="6" name="Text 4"/>
          <p:cNvSpPr txBox="1"/>
          <p:nvPr/>
        </p:nvSpPr>
        <p:spPr>
          <a:xfrm>
            <a:off x="640080" y="1325880"/>
            <a:ext cx="10911535" cy="827532"/>
          </a:xfrm>
          <a:prstGeom prst="rect">
            <a:avLst/>
          </a:prstGeom>
          <a:noFill/>
          <a:ln/>
        </p:spPr>
        <p:txBody>
          <a:bodyPr wrap="square" lIns="0" tIns="0" rIns="0" bIns="0" rtlCol="0" anchor="t"/>
          <a:lstStyle/>
          <a:p>
            <a:pPr marL="279400" indent="-279400">
              <a:lnSpc>
                <a:spcPct val="115000"/>
              </a:lnSpc>
              <a:spcAft>
                <a:spcPts val="800"/>
              </a:spcAft>
              <a:buSzPct val="100000"/>
              <a:buFont typeface="+mj-lt"/>
              <a:buAutoNum type="arabicPeriod" startAt="4"/>
            </a:pPr>
            <a:r>
              <a:rPr lang="en-US" sz="2100" b="1" dirty="0">
                <a:solidFill>
                  <a:srgbClr val="0E1426"/>
                </a:solidFill>
                <a:latin typeface="Calibri" pitchFamily="34" charset="0"/>
                <a:ea typeface="Calibri" pitchFamily="34" charset="-122"/>
                <a:cs typeface="Calibri" pitchFamily="34" charset="-120"/>
              </a:rPr>
              <a:t>Sabit:</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Boşluğun manyetik geçirgenliği μ₀ = 4π·10⁻⁷ T·m/A'dir; 2π'ye bölünce 2·10⁻⁷ kalır.</a:t>
            </a:r>
            <a:endParaRPr lang="en-US" sz="2100" dirty="0"/>
          </a:p>
        </p:txBody>
      </p:sp>
      <p:sp>
        <p:nvSpPr>
          <p:cNvPr id="7" name="Text 5"/>
          <p:cNvSpPr txBox="1"/>
          <p:nvPr/>
        </p:nvSpPr>
        <p:spPr>
          <a:xfrm>
            <a:off x="640080" y="23545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Alan akımla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doğru</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uzaklıkla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ters</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orantılıdır.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Dikkat: burada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1/r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vardır, elektrik alandaki gibi 1/r² değil.</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Nokta yükün etkisi bir küre yüzeyine (4π·r²), telin etkisi ise yalnızca bir çember çevresine (2π·r) yayılır.</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41</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Akımın oluşturduğu alan: bağıntılar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7</a:t>
            </a:r>
            <a:endParaRPr lang="en-US" sz="950" dirty="0"/>
          </a:p>
        </p:txBody>
      </p:sp>
      <p:sp>
        <p:nvSpPr>
          <p:cNvPr id="6" name="Shape 4"/>
          <p:cNvSpPr/>
          <p:nvPr/>
        </p:nvSpPr>
        <p:spPr>
          <a:xfrm>
            <a:off x="2251013" y="1234440"/>
            <a:ext cx="7689668" cy="3407283"/>
          </a:xfrm>
          <a:prstGeom prst="roundRect">
            <a:avLst>
              <a:gd name="adj" fmla="val 429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manyetik-alan-05.png">    </p:cNvPr>
          <p:cNvPicPr>
            <a:picLocks noChangeAspect="1"/>
          </p:cNvPicPr>
          <p:nvPr/>
        </p:nvPicPr>
        <p:blipFill>
          <a:blip r:embed="rId1"/>
          <a:stretch>
            <a:fillRect/>
          </a:stretch>
        </p:blipFill>
        <p:spPr>
          <a:xfrm>
            <a:off x="2479613" y="1325880"/>
            <a:ext cx="7232468" cy="3224403"/>
          </a:xfrm>
          <a:prstGeom prst="rect">
            <a:avLst/>
          </a:prstGeom>
        </p:spPr>
      </p:pic>
      <p:sp>
        <p:nvSpPr>
          <p:cNvPr id="8" name="Text 5"/>
          <p:cNvSpPr txBox="1"/>
          <p:nvPr/>
        </p:nvSpPr>
        <p:spPr>
          <a:xfrm>
            <a:off x="1249528" y="4824603"/>
            <a:ext cx="9692640" cy="1320165"/>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Düz bir telden akım geçtiğinde çevresinde, tele dik düzlemlerde duran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tel merkezli çemberler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hâlinde bir manyetik alan doğar; burada çemberlere hafif yukarıdan baktığın için yassı görünüyorlar. Alanın yönünü sağ el kuralı verir: başparmak akım yönünü gösterecek şekilde teli kavrarsan,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parmakların alan çizgilerini izler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(önde sağa, arkada sola). Büyüklüğü akımla doğru, uzaklıkla ters orantılıdır — ters kare değil,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ters birinci kuvvet</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42</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Akımın oluşturduğu alan: bağıntılar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7</a:t>
            </a:r>
            <a:endParaRPr lang="en-US" sz="9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4808473"/>
                <a:gridCol w="2774119"/>
                <a:gridCol w="3328943"/>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Kaynak</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Alan bağıntısı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Özellik</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Düz tel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B = μ₀I / (2πr)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çembersel çizgiler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Çembersel halka (merkezde)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B = μ₀I / (2r)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halkaya dik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Bobin / solenoid (içinde)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B = μ₀·n·I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düzgün alan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43</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Akımın oluşturduğu alan: bağıntılar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7 / 7</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Bobin bağıntısındaki 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birim uzunluktaki sarım sayısıdır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(n = N/ℓ).</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20 cm'lik, 200 sarımlı bir bobinde n = 1000 sarım/m olur; 2 A akımla içindeki alan 4π·10⁻⁷ · 1000 · 2 ≈ 2,5 mT'dır, Dünya'nınkinin yaklaşık elli katı.</a:t>
            </a:r>
            <a:endParaRPr lang="en-US" sz="2200" dirty="0"/>
          </a:p>
        </p:txBody>
      </p:sp>
      <p:sp>
        <p:nvSpPr>
          <p:cNvPr id="7" name="Shape 5"/>
          <p:cNvSpPr/>
          <p:nvPr/>
        </p:nvSpPr>
        <p:spPr>
          <a:xfrm>
            <a:off x="640080" y="3252216"/>
            <a:ext cx="10911535" cy="1033272"/>
          </a:xfrm>
          <a:prstGeom prst="roundRect">
            <a:avLst>
              <a:gd name="adj" fmla="val 1238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58368" y="3416808"/>
            <a:ext cx="54864" cy="704088"/>
          </a:xfrm>
          <a:prstGeom prst="rect">
            <a:avLst/>
          </a:prstGeom>
          <a:solidFill>
            <a:srgbClr val="3C8C21"/>
          </a:solidFill>
          <a:ln/>
        </p:spPr>
      </p:sp>
      <p:sp>
        <p:nvSpPr>
          <p:cNvPr id="9" name="Text 7"/>
          <p:cNvSpPr txBox="1"/>
          <p:nvPr/>
        </p:nvSpPr>
        <p:spPr>
          <a:xfrm>
            <a:off x="950976" y="3380232"/>
            <a:ext cx="10399471" cy="777240"/>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Birim kontrolü:</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(T·m/A) · A / m = T ✓. Bağıntıda r'yi santimetre olarak yazarsan sonuç yüz kat küçük çıkar; uzaklığı her zaman metreye çevir (5 cm = 0,05 m).</a:t>
            </a:r>
            <a:endParaRPr lang="en-US" sz="1800" dirty="0"/>
          </a:p>
        </p:txBody>
      </p:sp>
      <p:sp>
        <p:nvSpPr>
          <p:cNvPr id="11" name="Shape 8"/>
          <p:cNvSpPr/>
          <p:nvPr/>
        </p:nvSpPr>
        <p:spPr>
          <a:xfrm>
            <a:off x="640080" y="6382512"/>
            <a:ext cx="128016" cy="128016"/>
          </a:xfrm>
          <a:prstGeom prst="roundRect">
            <a:avLst>
              <a:gd name="adj" fmla="val 28571"/>
            </a:avLst>
          </a:prstGeom>
          <a:solidFill>
            <a:srgbClr val="A9E648"/>
          </a:solidFill>
          <a:ln/>
        </p:spPr>
      </p:sp>
      <p:sp>
        <p:nvSpPr>
          <p:cNvPr id="12"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3"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44</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Akımın oluşturduğu alan: bağıntılar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Düz telin alanı B = 2·10⁻⁷·I/r'dir: akımla doğru, uzaklıkla ters orantılı (1/r, 1/r² değil). Halkanın merkezinde B = μ₀I/(2r), bobinin içinde B = μ₀·n·I olur.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45</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Sayılarla hisset: bir tel ne kadar güçlü bir mıknatıstır?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Sayıları tanıdık bir ölçüyle, Dünya'nın yaklaşık 50 µT'lık alanıyla karşılaştıralım; pusula, telin alanı buna yaklaştığında belirgin sapar.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 tel tek başına düşünülmüştür (B = 2·10⁻⁷·I/r):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46</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Sayılarla hisset: bir tel ne kadar güçlü bir mıknatıstır?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6891496"/>
                <a:gridCol w="1531444"/>
                <a:gridCol w="1340013"/>
                <a:gridCol w="1148583"/>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Durum</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Akım</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Uzaklık</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Alan</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Pil devresindeki ince tel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 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20 µT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Sayfadaki 01 deneyi (başlangıç)</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 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40 µT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Kalın bir akü kablosu</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100 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200 µT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Yüksek gerilim hattının bir iletkeni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1000 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20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 µT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Yıldırım kanalı (tipik tepe akımı)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30 000 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100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60 µT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47</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Sayılarla hisset: bir tel ne kadar güçlü bir mıknatıstır?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Tablodan okunan düzen şu: alan akımın kendisine değil,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akımın uzaklığa oranına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bağlıdır.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Akım on katına, uzaklık da on katına çıkarsa alan değişmez; 1 A ile 1 cm ve 10 A ile 10 cm aynı 20 µT'yı verir.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Bin amperlik bir hattın 20 m altındaki alan Dünya'nınkinin beşte biri kadarken yıldırımın on binlerce amperi 100 m öteden bile Dünya'nın alanını aşar; ama yalnızca çok kısa bir an için.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48</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Sayılarla hisset: bir tel ne kadar güçlü bir mıknatıstır?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2651939" y="1234440"/>
            <a:ext cx="6887817"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manyetik-alan-06.png">    </p:cNvPr>
          <p:cNvPicPr>
            <a:picLocks noChangeAspect="1"/>
          </p:cNvPicPr>
          <p:nvPr/>
        </p:nvPicPr>
        <p:blipFill>
          <a:blip r:embed="rId1"/>
          <a:stretch>
            <a:fillRect/>
          </a:stretch>
        </p:blipFill>
        <p:spPr>
          <a:xfrm>
            <a:off x="2880539" y="1325880"/>
            <a:ext cx="6430617"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Tablodaki alanlar çubuk olarak yan yana. Kesikli çizgi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Dünya'nın 50 µT'lık alanı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çubuğu bu çizgiyi geçen kaynak pusulayı belirgin saptırır. En büyük akım en güçlü alanı vermiyor; bin amperlik hat, 20 m uzakta olduğu için pil telinden bile zayıf kalıyor. Alanı belirleyen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akımın uzaklığa oranıdır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49</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Sayılarla hisset: bir tel ne kadar güçlü bir mıknatıstır?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640080" y="1325880"/>
            <a:ext cx="10911535" cy="1348740"/>
          </a:xfrm>
          <a:prstGeom prst="roundRect">
            <a:avLst>
              <a:gd name="adj" fmla="val 94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1019556"/>
          </a:xfrm>
          <a:prstGeom prst="rect">
            <a:avLst/>
          </a:prstGeom>
          <a:solidFill>
            <a:srgbClr val="3C8C21"/>
          </a:solidFill>
          <a:ln/>
        </p:spPr>
      </p:sp>
      <p:sp>
        <p:nvSpPr>
          <p:cNvPr id="8" name="Text 6"/>
          <p:cNvSpPr txBox="1"/>
          <p:nvPr/>
        </p:nvSpPr>
        <p:spPr>
          <a:xfrm>
            <a:off x="950976" y="1453896"/>
            <a:ext cx="10399471" cy="1092708"/>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Deneyde dene:</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Sayfanın 01 numaralı bölümünde “Akım 2 katı” düğmesi alanı 40 µT'dan 80 µT'ya çıkarır, “Uzaklık 2 katı” ise 20 µT'ya indirir. “Tele çok yakın” düğmesi 4 A'i 2 cm'ye getirir ve yine 40 µT verir: oran aynı, alan aynı.</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50</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Sayılarla hisset: bir tel ne kadar güçlü bir mıknatıstır?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Telin alanı I/r oranına bağlıdır: 1 A'lik bir tel 1 cm'de 20 µT, 1000 A'lik bir hat 20 m'de 10 µT üretir. Pusula ancak bu alan Dünya'nın 50 µT'lık alanıyla kıyaslanabilir olunca belirgin sapar.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51</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Akım taşıyan tele etki eden kuvvet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Manyetik alan içindeki bir tel akım taşıyorsa, tele bir kuvvet etki eder:</a:t>
            </a:r>
            <a:endParaRPr lang="en-US" sz="2200" dirty="0"/>
          </a:p>
        </p:txBody>
      </p:sp>
      <p:sp>
        <p:nvSpPr>
          <p:cNvPr id="7" name="Shape 5"/>
          <p:cNvSpPr/>
          <p:nvPr/>
        </p:nvSpPr>
        <p:spPr>
          <a:xfrm>
            <a:off x="640080" y="2389632"/>
            <a:ext cx="3328416"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389632"/>
            <a:ext cx="3328416"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F = B · I · L · sinα</a:t>
            </a:r>
            <a:endParaRPr lang="en-US" sz="1800" dirty="0"/>
          </a:p>
        </p:txBody>
      </p:sp>
      <p:sp>
        <p:nvSpPr>
          <p:cNvPr id="9" name="Shape 7"/>
          <p:cNvSpPr/>
          <p:nvPr/>
        </p:nvSpPr>
        <p:spPr>
          <a:xfrm>
            <a:off x="4114800" y="2389632"/>
            <a:ext cx="2911450"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4114800" y="2389632"/>
            <a:ext cx="2911450"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1 T = 1 N / (A·m)</a:t>
            </a:r>
            <a:endParaRPr lang="en-US" sz="1800" dirty="0"/>
          </a:p>
        </p:txBody>
      </p:sp>
      <p:sp>
        <p:nvSpPr>
          <p:cNvPr id="11" name="Text 9"/>
          <p:cNvSpPr txBox="1"/>
          <p:nvPr/>
        </p:nvSpPr>
        <p:spPr>
          <a:xfrm>
            <a:off x="640080" y="3212592"/>
            <a:ext cx="10911535" cy="9540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Burada α,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akım yönü ile alan arasındaki açıdır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Kuvvet hem akıma hem alana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diktir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yönünü sağ el kuralı verir.</a:t>
            </a:r>
            <a:endParaRPr lang="en-US" sz="2200" dirty="0"/>
          </a:p>
        </p:txBody>
      </p:sp>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52</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Akım taşıyan tele etki eden kuvvet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Bağıntının her parçası ayrı bir deneyle sınanabilir:</a:t>
            </a:r>
            <a:endParaRPr lang="en-US" sz="2200" dirty="0"/>
          </a:p>
        </p:txBody>
      </p:sp>
      <p:sp>
        <p:nvSpPr>
          <p:cNvPr id="7" name="Text 5"/>
          <p:cNvSpPr txBox="1"/>
          <p:nvPr/>
        </p:nvSpPr>
        <p:spPr>
          <a:xfrm>
            <a:off x="640080" y="2004060"/>
            <a:ext cx="10911535" cy="2574036"/>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Alan: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Alan iki kat güçlüyse kuvvet de iki kat olur: F ∝ B.</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Akım:</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Akım iki katına çıkınca kuvvet iki katına çıkar: F ∝ I.</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Uzunluk: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Alanın içinde kalan tel uzunluğu L iki katına çıkınca kuvvet de iki katına çıkar; her tel parçası kendi payını ekler.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Açı: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Telin alana dik izdüşümü L·sinα'dır; alana paralel kısım hiç kuvvet doğurmaz.</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53</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Akım taşıyan tele etki eden kuvvet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91897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α = 90° (akım alana dik): kuvvet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en büyük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F = B·I·L</a:t>
            </a:r>
            <a:endParaRPr lang="en-US" sz="2100" dirty="0"/>
          </a:p>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α = 0° veya 180° (akım alana paralel): kuvvet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sıfır</a:t>
            </a:r>
            <a:endParaRPr lang="en-US" sz="2100" dirty="0"/>
          </a:p>
        </p:txBody>
      </p:sp>
      <p:sp>
        <p:nvSpPr>
          <p:cNvPr id="7" name="Text 5"/>
          <p:cNvSpPr txBox="1"/>
          <p:nvPr/>
        </p:nvSpPr>
        <p:spPr>
          <a:xfrm>
            <a:off x="640080" y="2446020"/>
            <a:ext cx="10911535" cy="211074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bağıntı teslanın tanımını da verir: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1 T</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alana dik duran, 1 m uzunluğunda ve 1 A akım taşıyan bir tele 1 N kuvvet uygulayan alandır.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02 numaralı deneyinde 0,5 m'lik tel 5 A akım taşırken 0,4 T'lık alanda 0,4 · 5 · 0,5 = 1 N kuvvet görür; açıyı 30°'ye indirirsen kuvvet yarıya, 0,5 N'a düşer.</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54</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Akım taşıyan tele etki eden kuvvet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1873689" y="1234440"/>
            <a:ext cx="8444317"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manyetik-alan-07.png">    </p:cNvPr>
          <p:cNvPicPr>
            <a:picLocks noChangeAspect="1"/>
          </p:cNvPicPr>
          <p:nvPr/>
        </p:nvPicPr>
        <p:blipFill>
          <a:blip r:embed="rId1"/>
          <a:stretch>
            <a:fillRect/>
          </a:stretch>
        </p:blipFill>
        <p:spPr>
          <a:xfrm>
            <a:off x="2102289" y="1325880"/>
            <a:ext cx="7987117"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Alan içindeki bir tele etkiyen kuvvet, akıma ve alana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dik</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çıkar: çizimde akım sağa, alan sayfadan dışarı olduğu için sağ el kuralı kuvveti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aşağı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verir. Büyüklüğü aradaki açının sinüsüyle değişir. Tel alana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dikken kuvvet en büyüktür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(α = 90°, sinα = 1); alana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paralelken kuvvet sıfırdır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(α = 0 ya da 180°). Elektrik motorunun bütün sırrı bu tek bağıntıda saklıdır.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55</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Akım taşıyan tele etki eden kuvvet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Elektrik motorlarının çalışma ilkesi budur: alan içindeki akım çerçevesine etki eden kuvvet çifti, çerçeveyi döndürür.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56</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Akım taşıyan tele etki eden kuvvet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Alan içindeki akım taşıyan tele F = B·I·L·sinα kuvveti etki eder; α akımla alan arasındaki açıdır. Kuvvet akım alana dikken en büyük, paralelken sıfırdır ve 1 T = 1 N/(A·m)'dir.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57</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Hareketli yüke etki eden kuvvet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Akım aslında hareketli yüklerden ibarettir; dolayısıyla tek bir yük için de benzer bir bağıntı geçerlidir:</a:t>
            </a:r>
            <a:endParaRPr lang="en-US" sz="2200" dirty="0"/>
          </a:p>
        </p:txBody>
      </p:sp>
      <p:sp>
        <p:nvSpPr>
          <p:cNvPr id="7" name="Shape 5"/>
          <p:cNvSpPr/>
          <p:nvPr/>
        </p:nvSpPr>
        <p:spPr>
          <a:xfrm>
            <a:off x="640080" y="2389632"/>
            <a:ext cx="3328416"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389632"/>
            <a:ext cx="3328416"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F = q · v · B · sinα</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58</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Hareketli yüke etki eden kuvvet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Telden tek yüke</a:t>
            </a:r>
            <a:endParaRPr lang="en-US" sz="2200" dirty="0"/>
          </a:p>
        </p:txBody>
      </p:sp>
      <p:sp>
        <p:nvSpPr>
          <p:cNvPr id="8" name="Text 6"/>
          <p:cNvSpPr txBox="1"/>
          <p:nvPr/>
        </p:nvSpPr>
        <p:spPr>
          <a:xfrm>
            <a:off x="640080" y="1892808"/>
            <a:ext cx="10911535" cy="2574036"/>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Akımın tanımı: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Telin bir kesitinden Δt sürede q yükü geçiyorsa akım I = q / Δt'dir.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Yolun tanımı: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Bu yük aynı sürede v hızıyla L = v·Δt kadar yol alır.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Çarp:</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I·L = (q/Δt)·(v·Δt) = q·v; Δt sadeleşir.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Yerine koy:</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F = B·I·L·sinα içinde I·L yerine q·v yazınca F = q·v·B·sinα çıkar. Burada α, hız ile alan arasındaki açıdır.</a:t>
            </a:r>
            <a:endParaRPr lang="en-US" sz="21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59</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Hareketli yüke etki eden kuvvet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9540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Kuvvet hem hıza hem alana diktir.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Bunun üç önemli sonucu vardır:</a:t>
            </a:r>
            <a:endParaRPr lang="en-US" sz="2200" dirty="0"/>
          </a:p>
        </p:txBody>
      </p:sp>
      <p:sp>
        <p:nvSpPr>
          <p:cNvPr id="7" name="Text 5"/>
          <p:cNvSpPr txBox="1"/>
          <p:nvPr/>
        </p:nvSpPr>
        <p:spPr>
          <a:xfrm>
            <a:off x="640080" y="2481072"/>
            <a:ext cx="10911535" cy="17465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Duran yüke manyetik kuvvet etki etmez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(v = 0 ise F = 0).</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Alana paralel giren yük sapmaz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(α = 0 ise F = 0).</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Manyetik kuvvet iş yapmaz: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kuvvet hıza dik olduğu için cismin </a:t>
            </a:r>
            <a:pPr indent="0" marL="0">
              <a:lnSpc>
                <a:spcPct val="115000"/>
              </a:lnSpc>
              <a:buNone/>
            </a:pPr>
            <a:r>
              <a:rPr lang="en-US" sz="2100" i="1" dirty="0">
                <a:solidFill>
                  <a:srgbClr val="0E1426"/>
                </a:solidFill>
                <a:latin typeface="Calibri" pitchFamily="34" charset="0"/>
                <a:ea typeface="Calibri" pitchFamily="34" charset="-122"/>
                <a:cs typeface="Calibri" pitchFamily="34" charset="-120"/>
              </a:rPr>
              <a:t>kinetik enerjisi değişmez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yalnızca yönü değişir.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60</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Hareketli yüke etki eden kuvvet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1629180" y="1234440"/>
            <a:ext cx="8933336"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manyetik-alan-08.png">    </p:cNvPr>
          <p:cNvPicPr>
            <a:picLocks noChangeAspect="1"/>
          </p:cNvPicPr>
          <p:nvPr/>
        </p:nvPicPr>
        <p:blipFill>
          <a:blip r:embed="rId1"/>
          <a:stretch>
            <a:fillRect/>
          </a:stretch>
        </p:blipFill>
        <p:spPr>
          <a:xfrm>
            <a:off x="1857780" y="1325880"/>
            <a:ext cx="8476136"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Manyetik kuvvet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yalnızca hareket hâlindeki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yüke etki eder ve büyüklüğü hız ile alan arasındaki açıya bağlıdır. Alana paralel giren yük hiç sapmaz; dik giren yük ise en büyük kuvveti görür. Çizimdeki yük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pozitif</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sağa giderken dışarı yönelmiş alanda kuvvet aşağı çıkar, elektron olsaydı yukarı olurdu. Kuvvet hıza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daima dik</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olduğu için yükün süratini asla değiştiremez — manyetik kuvvet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iş yapmaz</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yalnızca yön değiştirir.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61</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Hareketli yüke etki eden kuvvet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kuvvet küçük görünse de parçacığın kütlesine göre devasadır.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03 numaralı deneyindeki elektron (v = 10⁷ m/s, B = 1 mT) 1,6·10⁻¹⁵ N kuvvet görür; ağırlığı ise yaklaşık 9·10⁻³⁰ N'dur.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Manyetik kuvvet ağırlığın 10¹⁴ katından büyüktür; yüklü parçacık problemlerinde yerçekimi bu yüzden hesaba katılmaz.</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62</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Hareketli yüke etki eden kuvvet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Alan içinde v hızıyla hareket eden q yüküne F = q·v·B·sinα kuvveti etki eder; bağıntı I·L = q·v eşitliğinden çıkar. Kuvvet hıza dik olduğu için iş yapmaz: sürat değişmez, yalnızca yön değişir.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63</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Manyetik alanda dairesel hareket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Alana dik giren bir yük için manyetik kuvvet, sabit büyüklükte ve daima hıza dik olur — yani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merkezcil kuvvet rolünü üstlenir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640080" y="2389632"/>
            <a:ext cx="2772461"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389632"/>
            <a:ext cx="2772461"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q·v·B = m·v² / r</a:t>
            </a:r>
            <a:endParaRPr lang="en-US" sz="1800" dirty="0"/>
          </a:p>
        </p:txBody>
      </p:sp>
      <p:sp>
        <p:nvSpPr>
          <p:cNvPr id="9" name="Shape 7"/>
          <p:cNvSpPr/>
          <p:nvPr/>
        </p:nvSpPr>
        <p:spPr>
          <a:xfrm>
            <a:off x="3558845" y="2389632"/>
            <a:ext cx="2633472"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3558845" y="2389632"/>
            <a:ext cx="263347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r = m·v / (q·B)</a:t>
            </a:r>
            <a:endParaRPr lang="en-US" sz="1800" dirty="0"/>
          </a:p>
        </p:txBody>
      </p:sp>
      <p:sp>
        <p:nvSpPr>
          <p:cNvPr id="11" name="Shape 9"/>
          <p:cNvSpPr/>
          <p:nvPr/>
        </p:nvSpPr>
        <p:spPr>
          <a:xfrm>
            <a:off x="6338621" y="2389632"/>
            <a:ext cx="2772461"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6338621" y="2389632"/>
            <a:ext cx="2772461"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T = 2π·m / (q·B)</a:t>
            </a:r>
            <a:endParaRPr lang="en-US" sz="180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64</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Manyetik alanda dairesel hareket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Formüldeki harfler ne anlama geliyor?</a:t>
            </a:r>
            <a:endParaRPr lang="en-US" sz="22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640080" y="1892808"/>
          <a:ext cx="10911535" cy="914400"/>
        </p:xfrm>
        <a:graphic>
          <a:graphicData uri="http://schemas.openxmlformats.org/drawingml/2006/table">
            <a:tbl>
              <a:tblPr/>
              <a:tblGrid>
                <a:gridCol w="1259023"/>
                <a:gridCol w="8393489"/>
                <a:gridCol w="1259023"/>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Sembol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Anlamı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q</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parçacığın yükünün büyüklüğü</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v</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parçacığın hızı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parçacığın kütlesi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B</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parçacığın içinde döndüğü manyetik alan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parçacığın çizdiği çemberin yarıçapı (telden uzaklık değil)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690372">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periyot: bir tam turun süresi; alanın birimi olan tesla (T) ile karıştırma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65</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Manyetik alanda dairesel hareket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2942082"/>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Kuvvet merkeze yönelir: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Büyüklüğü sabit ve hep hıza dik bir kuvvet cismi düzgün çembersel harekete zorlar; bunun için gereken merkezcil kuvvet m·v²/r'dir.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Eşitle: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Bu kuvveti manyetik kuvvet sağlar: q·v·B = m·v²/r.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Yarıçap:</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İki taraftaki v'lerden biri sadeleşir: r = m·v/(q·B).</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Periyot:</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Bir tur 2π·r yoldur, T = 2π·r/v. r'yi yerine koyunca v tamamen sadeleşir: T = 2π·m/(q·B).</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66</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Manyetik alanda dairesel hareket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31562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Yarıçap hızla doğru, alanla ters orantılıdır.</a:t>
            </a:r>
            <a:endParaRPr lang="en-US" sz="2200" dirty="0"/>
          </a:p>
          <a:p>
            <a:pPr marL="203200" indent="-203200">
              <a:lnSpc>
                <a:spcPct val="115000"/>
              </a:lnSpc>
              <a:spcAft>
                <a:spcPts val="800"/>
              </a:spcAft>
              <a:buSzPct val="100000"/>
              <a:buChar char="▪"/>
            </a:pPr>
            <a:r>
              <a:rPr lang="en-US" sz="2200" b="1" dirty="0">
                <a:solidFill>
                  <a:srgbClr val="0E1426"/>
                </a:solidFill>
                <a:latin typeface="Calibri" pitchFamily="34" charset="0"/>
                <a:ea typeface="Calibri" pitchFamily="34" charset="-122"/>
                <a:cs typeface="Calibri" pitchFamily="34" charset="-120"/>
              </a:rPr>
              <a:t>Periyot ise hızdan bağımsızdır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hız iki katına çıkarsa yarıçap da iki katına çıkar ve tur süresi değişmez.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Siklotron hızlandırıcılarının çalışma ilkesi tam olarak budur.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Pozitif ve negatif yükler aynı alanda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zıt yönlerde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döner; sayfanın 03 numaralı deneyinde yükün işaretini değiştirip bunu görebilirsin.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deneydeki elektron için: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67</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Manyetik alanda dairesel hareket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3306526"/>
                <a:gridCol w="1983915"/>
                <a:gridCol w="2314568"/>
                <a:gridCol w="3306526"/>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Hız</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Alan</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Yarıçap</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Periyot</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10·10⁶ 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 mT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5,7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3,6·10⁻⁸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20·10⁶ 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 mT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11,4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3,6·10⁻⁸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10·10⁶ 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2,0 mT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2,8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1,8·10⁻⁸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68</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Manyetik alanda dairesel hareket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2771761" y="1234440"/>
            <a:ext cx="6648173" cy="3407283"/>
          </a:xfrm>
          <a:prstGeom prst="roundRect">
            <a:avLst>
              <a:gd name="adj" fmla="val 429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manyetik-alan-09.png">    </p:cNvPr>
          <p:cNvPicPr>
            <a:picLocks noChangeAspect="1"/>
          </p:cNvPicPr>
          <p:nvPr/>
        </p:nvPicPr>
        <p:blipFill>
          <a:blip r:embed="rId1"/>
          <a:stretch>
            <a:fillRect/>
          </a:stretch>
        </p:blipFill>
        <p:spPr>
          <a:xfrm>
            <a:off x="3000361" y="1325880"/>
            <a:ext cx="6190973" cy="3224403"/>
          </a:xfrm>
          <a:prstGeom prst="rect">
            <a:avLst/>
          </a:prstGeom>
        </p:spPr>
      </p:pic>
      <p:sp>
        <p:nvSpPr>
          <p:cNvPr id="8" name="Text 5"/>
          <p:cNvSpPr txBox="1"/>
          <p:nvPr/>
        </p:nvSpPr>
        <p:spPr>
          <a:xfrm>
            <a:off x="1249528" y="4824603"/>
            <a:ext cx="9692640" cy="1320165"/>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Alana dik giren yükün gördüğü kuvvet hıza daima dik olduğu için yük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çember çizer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merkezcil kuvveti manyetik kuvvet sağlar. Çizimdeki parçacıklar, tablodaki gibi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elektron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sayfadan dışarı alanda saat yönünün tersine dönerler (pozitif yük ters yönde dönerdi). Hız iki katına çıkarsa kuvvet de yarıçap da iki katına çıkar; ama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periyot hıza hiç bağlı değildir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 hızlı parçacık daha büyük çember çizer ama turu aynı sürede tamamlar. Siklotron tam olarak bunu kullanır.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69</a:t>
            </a:r>
            <a:endParaRPr lang="en-US" sz="10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Manyetik alanda dairesel hareket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Alana dik giren yük çember çizer: q·v·B = m·v²/r eşitliğinden r = m·v/(q·B) ve T = 2π·m/(q·B) çıkar. Yarıçap hızla büyür, periyot hızdan bağımsızdır.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70</a:t>
            </a:r>
            <a:endParaRPr lang="en-US" sz="10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Hızı iki katına çıkan elektron iki kat büyük çember çiziyorsa, turunu neden aynı sürede tamamlar?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09 · Manyetik alanda dairesel hareket</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71</a:t>
            </a:r>
            <a:endParaRPr lang="en-US" sz="10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Hızı iki katına çıkan elektron iki kat büyük çember çiziyorsa, turunu neden aynı sürede tamamlar?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Çember iki kat büyüdüğü için bir turun yolu da iki kat uzar, ama elektron bu yolu iki kat hızla alır. Yol ve hız aynı oranda arttığından süre değişmez. Tur süresini yalnızca kütle, yük ve alan belirler: T = 2π·m/(q·B).</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72</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Derinleşme: alanlar üst üste binince, yük alana eğik girince ve manyetizma teknolojiye dönüşünce ne olur?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İki tel yan yana: alanların toplanması ve paralel teller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Eğik giriş, sarmal yörünge ve siklotron</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Manyetizma gerçek dünyada</a:t>
            </a:r>
            <a:endParaRPr lang="en-US" sz="1300" dirty="0"/>
          </a:p>
        </p:txBody>
      </p:sp>
      <p:sp>
        <p:nvSpPr>
          <p:cNvPr id="9" name="Shape 7"/>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0" name="Image 0" descr="/tmp/dersler-sekiller/manyetik-alan-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1" name="Text 8"/>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Manyetik trenler (maglev)</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raya hiç değmeden yol alır. Güçlü elektromıknatıslar treni raydan küçük bir boşlukla ayırıp havada tutar; raydaki mıknatısların alanı sırayla değiştirilerek tren ileri çekilir. Tekerlek sürtünmesi olmadığı için deneme sürüşlerinde 600 km/h'in üzerine çıkılmıştır.</a:t>
            </a:r>
            <a:endParaRPr lang="en-US" sz="1150" dirty="0"/>
          </a:p>
        </p:txBody>
      </p:sp>
      <p:sp>
        <p:nvSpPr>
          <p:cNvPr id="12" name="Shape 9"/>
          <p:cNvSpPr/>
          <p:nvPr/>
        </p:nvSpPr>
        <p:spPr>
          <a:xfrm>
            <a:off x="640080" y="6382512"/>
            <a:ext cx="128016" cy="128016"/>
          </a:xfrm>
          <a:prstGeom prst="roundRect">
            <a:avLst>
              <a:gd name="adj" fmla="val 28571"/>
            </a:avLst>
          </a:prstGeom>
          <a:solidFill>
            <a:srgbClr val="C6F36B"/>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dersler.perinet.org/manyetik-alan.html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73</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İki tel yan yana: alanların toplanması ve paralel teller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7</a:t>
            </a:r>
            <a:endParaRPr lang="en-US" sz="950" dirty="0"/>
          </a:p>
        </p:txBody>
      </p:sp>
      <p:sp>
        <p:nvSpPr>
          <p:cNvPr id="6" name="Text 4"/>
          <p:cNvSpPr txBox="1"/>
          <p:nvPr/>
        </p:nvSpPr>
        <p:spPr>
          <a:xfrm>
            <a:off x="640080" y="1325880"/>
            <a:ext cx="10911535" cy="124815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Birden çok akım varsa bir noktadaki toplam alan, her birinin alanının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vektörel toplamıdır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üst üste binme ilkesi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aynı yönlü alanlar toplanır, zıt yönlüler birbirinden çıkarılır.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74</a:t>
            </a:r>
            <a:endParaRPr lang="en-US" sz="10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İki tel yan yana: alanların toplanması ve paralel teller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7</a:t>
            </a:r>
            <a:endParaRPr lang="en-US" sz="950" dirty="0"/>
          </a:p>
        </p:txBody>
      </p:sp>
      <p:sp>
        <p:nvSpPr>
          <p:cNvPr id="6" name="Text 4"/>
          <p:cNvSpPr txBox="1"/>
          <p:nvPr/>
        </p:nvSpPr>
        <p:spPr>
          <a:xfrm>
            <a:off x="640080" y="1325880"/>
            <a:ext cx="10911535" cy="2482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Aynı yönde akım taşıyan iki tel:</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aralarındaki bölgede alanları zıt yönlüdür; bir noktada birbirini tam götürür.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Zıt yönde akım taşıyan iki tel:</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aralarında alanlar aynı yönlüdür ve toplanır; uzakta ise büyük ölçüde birbirini götürür.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Evdeki kablo:</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gidiş ve dönüş telleri milimetrelerle ayrılmış, zıt akımlı iki teldir; alanları kablodan uzaklaştıkça hızla birbirini siler.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75</a:t>
            </a:r>
            <a:endParaRPr lang="en-US" sz="10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İki tel yan yana: alanların toplanması ve paralel teller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7</a:t>
            </a:r>
            <a:endParaRPr lang="en-US" sz="950" dirty="0"/>
          </a:p>
        </p:txBody>
      </p:sp>
      <p:sp>
        <p:nvSpPr>
          <p:cNvPr id="6" name="Shape 4"/>
          <p:cNvSpPr/>
          <p:nvPr/>
        </p:nvSpPr>
        <p:spPr>
          <a:xfrm>
            <a:off x="640080" y="1399032"/>
            <a:ext cx="64008" cy="310896"/>
          </a:xfrm>
          <a:prstGeom prst="rect">
            <a:avLst/>
          </a:prstGeom>
          <a:solidFill>
            <a:srgbClr val="5F4BD8"/>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Paralel teller birbirine kuvvet uygular</a:t>
            </a:r>
            <a:endParaRPr lang="en-US" sz="2200" dirty="0"/>
          </a:p>
        </p:txBody>
      </p:sp>
      <p:sp>
        <p:nvSpPr>
          <p:cNvPr id="8" name="Text 6"/>
          <p:cNvSpPr txBox="1"/>
          <p:nvPr/>
        </p:nvSpPr>
        <p:spPr>
          <a:xfrm>
            <a:off x="640080" y="1892808"/>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telin alanı, yanındaki telin akımına kuvvet uygular.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Tel 1'in d uzaklıktaki alanı B₁ = 2·10⁻⁷·I₁/d'dir; bu alan tel 2'nin L uzunluğuna F = B₁·I₂·L kuvvetini uygular.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Birim uzunluk başına:</a:t>
            </a:r>
            <a:endParaRPr lang="en-US" sz="2200" dirty="0"/>
          </a:p>
        </p:txBody>
      </p:sp>
      <p:sp>
        <p:nvSpPr>
          <p:cNvPr id="9" name="Shape 7"/>
          <p:cNvSpPr/>
          <p:nvPr/>
        </p:nvSpPr>
        <p:spPr>
          <a:xfrm>
            <a:off x="640080" y="3910584"/>
            <a:ext cx="4162349"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640080" y="3910584"/>
            <a:ext cx="4162349"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F/L = 2·10⁻⁷ · I₁ · I₂ / d</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76</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İki tel yan yana: alanların toplanması ve paralel teller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7</a:t>
            </a:r>
            <a:endParaRPr lang="en-US" sz="950" dirty="0"/>
          </a:p>
        </p:txBody>
      </p:sp>
      <p:sp>
        <p:nvSpPr>
          <p:cNvPr id="6" name="Text 4"/>
          <p:cNvSpPr txBox="1"/>
          <p:nvPr/>
        </p:nvSpPr>
        <p:spPr>
          <a:xfrm>
            <a:off x="640080" y="1325880"/>
            <a:ext cx="10911535" cy="211074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Sağ el kuralıyla bakınca şaşırtıcı bir sonuç çıkar: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aynı yönde akım taşıyan teller birbirini çeker, zıt yönde akım taşıyanlar iter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 elektrikteki “benzer yükler iter” kuralının tam tersi.</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1948'den 2019'a kadar amper bu kuvvetle tanımlanıyordu: 1 m aralıklı iki uzun paralel telde metre başına 2·10⁻⁷ N kuvvet doğuran akım 1 A'dir.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77</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İki tel yan yana: alanların toplanması ve paralel teller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7</a:t>
            </a:r>
            <a:endParaRPr lang="en-US" sz="950" dirty="0"/>
          </a:p>
        </p:txBody>
      </p:sp>
      <p:sp>
        <p:nvSpPr>
          <p:cNvPr id="6" name="Shape 4"/>
          <p:cNvSpPr/>
          <p:nvPr/>
        </p:nvSpPr>
        <p:spPr>
          <a:xfrm>
            <a:off x="2948040" y="1234440"/>
            <a:ext cx="6295616"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manyetik-alan-10.png">    </p:cNvPr>
          <p:cNvPicPr>
            <a:picLocks noChangeAspect="1"/>
          </p:cNvPicPr>
          <p:nvPr/>
        </p:nvPicPr>
        <p:blipFill>
          <a:blip r:embed="rId1"/>
          <a:stretch>
            <a:fillRect/>
          </a:stretch>
        </p:blipFill>
        <p:spPr>
          <a:xfrm>
            <a:off x="3176640" y="1325880"/>
            <a:ext cx="5838416"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Tellere uçtan bakıyorsun: ⊙ akım sana doğru, ⊗ akım sayfaya doğru; sarı çemberler her telin alanı.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Aynı yönlü</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akımlarda tellerin arasında iki alan zıt yönlüdür ve kuvvetler telleri birbirine yaklaştırır: teller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çeker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Zıt yönlü</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akımlarda aradaki alanlar aynı yöne bakıp toplanır, kuvvetler telleri ayırır: teller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iter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78</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İki tel yan yana: alanların toplanması ve paralel teller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7</a:t>
            </a:r>
            <a:endParaRPr lang="en-US" sz="950" dirty="0"/>
          </a:p>
        </p:txBody>
      </p:sp>
      <p:sp>
        <p:nvSpPr>
          <p:cNvPr id="6" name="Shape 4"/>
          <p:cNvSpPr/>
          <p:nvPr/>
        </p:nvSpPr>
        <p:spPr>
          <a:xfrm>
            <a:off x="640080" y="1325880"/>
            <a:ext cx="10911535" cy="1348740"/>
          </a:xfrm>
          <a:prstGeom prst="roundRect">
            <a:avLst>
              <a:gd name="adj" fmla="val 94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1019556"/>
          </a:xfrm>
          <a:prstGeom prst="rect">
            <a:avLst/>
          </a:prstGeom>
          <a:solidFill>
            <a:srgbClr val="A56209"/>
          </a:solidFill>
          <a:ln/>
        </p:spPr>
      </p:sp>
      <p:sp>
        <p:nvSpPr>
          <p:cNvPr id="8" name="Text 6"/>
          <p:cNvSpPr txBox="1"/>
          <p:nvPr/>
        </p:nvSpPr>
        <p:spPr>
          <a:xfrm>
            <a:off x="950976" y="1453896"/>
            <a:ext cx="10399471" cy="1092708"/>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Modelin sınırı:</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B = 2·10⁻⁷·I/r çok uzun ve ince düz bir tel içindir; kısa tellerde ya da telin uçlarına yakın noktalarda alan farklıdır. Bağıntılar boşluk ve hava içindir; demir gibi maddeler alanı yüzlerce kat güçlendirebilir.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79</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İki tel yan yana: alanların toplanması ve paralel teller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7 / 7</a:t>
            </a:r>
            <a:endParaRPr lang="en-US" sz="950" dirty="0"/>
          </a:p>
        </p:txBody>
      </p:sp>
      <p:sp>
        <p:nvSpPr>
          <p:cNvPr id="6" name="Shape 4"/>
          <p:cNvSpPr/>
          <p:nvPr/>
        </p:nvSpPr>
        <p:spPr>
          <a:xfrm>
            <a:off x="3445231" y="1271016"/>
            <a:ext cx="5301234" cy="3570732"/>
          </a:xfrm>
          <a:prstGeom prst="roundRect">
            <a:avLst>
              <a:gd name="adj" fmla="val 358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manyetik-alan-ek2-genis.jpg">    </p:cNvPr>
          <p:cNvPicPr>
            <a:picLocks noChangeAspect="1"/>
          </p:cNvPicPr>
          <p:nvPr/>
        </p:nvPicPr>
        <p:blipFill>
          <a:blip r:embed="rId1"/>
          <a:stretch>
            <a:fillRect/>
          </a:stretch>
        </p:blipFill>
        <p:spPr>
          <a:xfrm>
            <a:off x="3500095" y="1325880"/>
            <a:ext cx="5191506" cy="3461004"/>
          </a:xfrm>
          <a:prstGeom prst="rect">
            <a:avLst/>
          </a:prstGeom>
        </p:spPr>
      </p:pic>
      <p:sp>
        <p:nvSpPr>
          <p:cNvPr id="8" name="Text 5"/>
          <p:cNvSpPr txBox="1"/>
          <p:nvPr/>
        </p:nvSpPr>
        <p:spPr>
          <a:xfrm>
            <a:off x="1249528" y="5024628"/>
            <a:ext cx="9692640" cy="1120140"/>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İki folyo şerit</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ortalarından hafifçe birbirine doğru bükülmüş. Pilin kablosu iki şeridin üst ucuna ayrıldığı için akım ikisinde de aynı yönde akar, ve aynı yönde akım taşıyan paralel iletkenler birbirini çeker: F/L = 2·10⁻⁷·I₁·I₂/d. Akımlardan birinin yönünü çevirirsen şeritler bu kez birbirinden uzaklaşır; zıt yönlü akımlar iter.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80</a:t>
            </a:r>
            <a:endParaRPr lang="en-US" sz="10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İki tel yan yana: alanların toplanması ve paralel teller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Birden çok akımın alanları vektörel olarak toplanır. Paralel teller birbirine F/L = 2·10⁻⁷·I₁·I₂/d kuvveti uygular: aynı yönlü akımlar çeker, zıt yönlü akımlar iter.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81</a:t>
            </a:r>
            <a:endParaRPr lang="en-US" sz="10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Evdeki uzatma kablosundan 10 A geçerken yanına konan pusula neden neredeyse hiç sapmaz?</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10 · İki tel yan yana: alanların toplanması ve paralel teller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82</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Evdeki uzatma kablosundan 10 A geçerken yanına konan pusula neden neredeyse hiç sapmaz?</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Kablonun içinde aynı akım bir telden gidip öbüründen döner. Birbirine çok yakın bu iki zıt akımın alanları, kablodan biraz uzakta neredeyse eşit büyüklükte ve zıt yönlüdür; toplamları sıfıra yakın çıkar. Teller ayrılsaydı pusula belirgin biçimde sapardı.</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83</a:t>
            </a:r>
            <a:endParaRPr lang="en-US" sz="10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Eğik giriş, sarmal yörünge ve siklotron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Shape 4"/>
          <p:cNvSpPr/>
          <p:nvPr/>
        </p:nvSpPr>
        <p:spPr>
          <a:xfrm>
            <a:off x="640080" y="1325880"/>
            <a:ext cx="10911535" cy="1348740"/>
          </a:xfrm>
          <a:prstGeom prst="roundRect">
            <a:avLst>
              <a:gd name="adj" fmla="val 94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1019556"/>
          </a:xfrm>
          <a:prstGeom prst="rect">
            <a:avLst/>
          </a:prstGeom>
          <a:solidFill>
            <a:srgbClr val="3C8C21"/>
          </a:solidFill>
          <a:ln/>
        </p:spPr>
      </p:sp>
      <p:sp>
        <p:nvSpPr>
          <p:cNvPr id="8" name="Text 6"/>
          <p:cNvSpPr txBox="1"/>
          <p:nvPr/>
        </p:nvSpPr>
        <p:spPr>
          <a:xfrm>
            <a:off x="950976" y="1453896"/>
            <a:ext cx="10399471" cy="1092708"/>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Bir boyut daha:</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Yük alana </a:t>
            </a:r>
            <a:pPr indent="0" marL="0">
              <a:lnSpc>
                <a:spcPct val="114000"/>
              </a:lnSpc>
              <a:buNone/>
            </a:pPr>
            <a:r>
              <a:rPr lang="en-US" sz="1800" i="1" dirty="0">
                <a:solidFill>
                  <a:srgbClr val="0E1426"/>
                </a:solidFill>
                <a:latin typeface="Calibri" pitchFamily="34" charset="0"/>
                <a:ea typeface="Calibri" pitchFamily="34" charset="-122"/>
                <a:cs typeface="Calibri" pitchFamily="34" charset="-120"/>
              </a:rPr>
              <a:t>eğik</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girerse hız iki bileşene ayrılır: alana paralel bileşen sabit kalır, dik bileşen çembersel harekete yol açar. Sonuç </a:t>
            </a:r>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sarmal (helis)</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bir yörüngedir.</a:t>
            </a:r>
            <a:endParaRPr lang="en-US" sz="1800" dirty="0"/>
          </a:p>
        </p:txBody>
      </p:sp>
      <p:sp>
        <p:nvSpPr>
          <p:cNvPr id="9" name="Shape 7"/>
          <p:cNvSpPr/>
          <p:nvPr/>
        </p:nvSpPr>
        <p:spPr>
          <a:xfrm>
            <a:off x="640080" y="2857500"/>
            <a:ext cx="2355494"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640080" y="2857500"/>
            <a:ext cx="23554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v∥ = v · cosα</a:t>
            </a:r>
            <a:endParaRPr lang="en-US" sz="1800" dirty="0"/>
          </a:p>
        </p:txBody>
      </p:sp>
      <p:sp>
        <p:nvSpPr>
          <p:cNvPr id="11" name="Shape 9"/>
          <p:cNvSpPr/>
          <p:nvPr/>
        </p:nvSpPr>
        <p:spPr>
          <a:xfrm>
            <a:off x="3141878" y="2857500"/>
            <a:ext cx="2355494"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3141878" y="2857500"/>
            <a:ext cx="23554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v⊥ = v · sinα</a:t>
            </a:r>
            <a:endParaRPr lang="en-US" sz="1800" dirty="0"/>
          </a:p>
        </p:txBody>
      </p:sp>
      <p:sp>
        <p:nvSpPr>
          <p:cNvPr id="13" name="Shape 11"/>
          <p:cNvSpPr/>
          <p:nvPr/>
        </p:nvSpPr>
        <p:spPr>
          <a:xfrm>
            <a:off x="5643677" y="2857500"/>
            <a:ext cx="2772461" cy="585216"/>
          </a:xfrm>
          <a:prstGeom prst="roundRect">
            <a:avLst>
              <a:gd name="adj" fmla="val 18750"/>
            </a:avLst>
          </a:prstGeom>
          <a:solidFill>
            <a:srgbClr val="EEF2FC"/>
          </a:solidFill>
          <a:ln w="9525">
            <a:solidFill>
              <a:srgbClr val="CBD7F4"/>
            </a:solidFill>
            <a:prstDash val="solid"/>
          </a:ln>
        </p:spPr>
      </p:sp>
      <p:sp>
        <p:nvSpPr>
          <p:cNvPr id="14" name="Text 12"/>
          <p:cNvSpPr txBox="1"/>
          <p:nvPr/>
        </p:nvSpPr>
        <p:spPr>
          <a:xfrm>
            <a:off x="5643677" y="2857500"/>
            <a:ext cx="2772461"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r = m·v⊥ / (q·B)</a:t>
            </a:r>
            <a:endParaRPr lang="en-US" sz="1800" dirty="0"/>
          </a:p>
        </p:txBody>
      </p:sp>
      <p:sp>
        <p:nvSpPr>
          <p:cNvPr id="15" name="Shape 13"/>
          <p:cNvSpPr/>
          <p:nvPr/>
        </p:nvSpPr>
        <p:spPr>
          <a:xfrm>
            <a:off x="8562442" y="2857500"/>
            <a:ext cx="2355494" cy="585216"/>
          </a:xfrm>
          <a:prstGeom prst="roundRect">
            <a:avLst>
              <a:gd name="adj" fmla="val 18750"/>
            </a:avLst>
          </a:prstGeom>
          <a:solidFill>
            <a:srgbClr val="EEF2FC"/>
          </a:solidFill>
          <a:ln w="9525">
            <a:solidFill>
              <a:srgbClr val="CBD7F4"/>
            </a:solidFill>
            <a:prstDash val="solid"/>
          </a:ln>
        </p:spPr>
      </p:sp>
      <p:sp>
        <p:nvSpPr>
          <p:cNvPr id="16" name="Text 14"/>
          <p:cNvSpPr txBox="1"/>
          <p:nvPr/>
        </p:nvSpPr>
        <p:spPr>
          <a:xfrm>
            <a:off x="8562442" y="2857500"/>
            <a:ext cx="23554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adım = v∥ · T</a:t>
            </a:r>
            <a:endParaRPr lang="en-US" sz="1800" dirty="0"/>
          </a:p>
        </p:txBody>
      </p:sp>
      <p:sp>
        <p:nvSpPr>
          <p:cNvPr id="18" name="Shape 15"/>
          <p:cNvSpPr/>
          <p:nvPr/>
        </p:nvSpPr>
        <p:spPr>
          <a:xfrm>
            <a:off x="640080" y="6382512"/>
            <a:ext cx="128016" cy="128016"/>
          </a:xfrm>
          <a:prstGeom prst="roundRect">
            <a:avLst>
              <a:gd name="adj" fmla="val 28571"/>
            </a:avLst>
          </a:prstGeom>
          <a:solidFill>
            <a:srgbClr val="A9E648"/>
          </a:solidFill>
          <a:ln/>
        </p:spPr>
      </p:sp>
      <p:sp>
        <p:nvSpPr>
          <p:cNvPr id="19" name="Text 1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20" name="Text 1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84</a:t>
            </a:r>
            <a:endParaRPr lang="en-US" sz="10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Eğik giriş, sarmal yörünge ve siklotron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Paralel bileşen kuvvet görmediği için yük alan boyunca sabit hızla ilerler, dik bileşen ise onu alanın çevresinde döndürür; yük bir yay gibi alan çizgisine sarılır.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turda alan boyunca alınan yola sarmalın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adımı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Güneş'ten gelen parçacıklar da böyle sarılarak kutup bölgelerine taşınır.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85</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Eğik giriş, sarmal yörünge ve siklotron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Shape 4"/>
          <p:cNvSpPr/>
          <p:nvPr/>
        </p:nvSpPr>
        <p:spPr>
          <a:xfrm>
            <a:off x="2544620" y="1234440"/>
            <a:ext cx="7102455"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manyetik-alan-11.png">    </p:cNvPr>
          <p:cNvPicPr>
            <a:picLocks noChangeAspect="1"/>
          </p:cNvPicPr>
          <p:nvPr/>
        </p:nvPicPr>
        <p:blipFill>
          <a:blip r:embed="rId1"/>
          <a:stretch>
            <a:fillRect/>
          </a:stretch>
        </p:blipFill>
        <p:spPr>
          <a:xfrm>
            <a:off x="2773220" y="1325880"/>
            <a:ext cx="6645255"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Yük alana eğik girdiği için hızını iki parçaya ayır. Alana dik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v⊥</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bileşeni yükü alanın çevresinde döndürür; alana paralel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v∥</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bileşeni hiç kuvvet görmez ve yükü alan boyunca sabit hızla taşır. İkisi birlikte yayı andıran bir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sarmal</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çizer (kesik çizgiler sarmalın arkada kalan kısmı). Bir turda alan boyunca alınan yol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adım</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dır: adım = v∥ · T.</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86</a:t>
            </a:r>
            <a:endParaRPr lang="en-US" sz="10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Eğik giriş, sarmal yörünge ve siklotron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Shape 4"/>
          <p:cNvSpPr/>
          <p:nvPr/>
        </p:nvSpPr>
        <p:spPr>
          <a:xfrm>
            <a:off x="640080" y="1399032"/>
            <a:ext cx="64008" cy="310896"/>
          </a:xfrm>
          <a:prstGeom prst="rect">
            <a:avLst/>
          </a:prstGeom>
          <a:solidFill>
            <a:srgbClr val="5F4BD8"/>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Siklotron: periyodun sabitliğinden yararlanmak</a:t>
            </a:r>
            <a:endParaRPr lang="en-US" sz="2200" dirty="0"/>
          </a:p>
        </p:txBody>
      </p:sp>
      <p:sp>
        <p:nvSpPr>
          <p:cNvPr id="8" name="Text 6"/>
          <p:cNvSpPr txBox="1"/>
          <p:nvPr/>
        </p:nvSpPr>
        <p:spPr>
          <a:xfrm>
            <a:off x="640080" y="1892808"/>
            <a:ext cx="10911535" cy="33588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Manyetik kuvvet iş yapmadığı için parçacığı hızlandıramaz; siklotronda bu işi elektrik alan yapar.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Parçacık iki yarım daire biçimli metal kutunun arasındaki aralıktan her geçişinde bir gerilimle itilir, manyetik alan onu çevirip aralığa geri getirir.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Parçacık hızlandıkça çemberi büyür, ama tur süresi değişmediği için gerilim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sabit bir frekansla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yön değiştirebilir: 1 T'lık alanda bir proton için f = q·B/(2π·m) ≈ 15 MHz.</a:t>
            </a:r>
            <a:endParaRPr lang="en-US" sz="22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87</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Eğik giriş, sarmal yörünge ve siklotron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Shape 4"/>
          <p:cNvSpPr/>
          <p:nvPr/>
        </p:nvSpPr>
        <p:spPr>
          <a:xfrm>
            <a:off x="640080" y="1325880"/>
            <a:ext cx="10911535" cy="1348740"/>
          </a:xfrm>
          <a:prstGeom prst="roundRect">
            <a:avLst>
              <a:gd name="adj" fmla="val 94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1019556"/>
          </a:xfrm>
          <a:prstGeom prst="rect">
            <a:avLst/>
          </a:prstGeom>
          <a:solidFill>
            <a:srgbClr val="A56209"/>
          </a:solidFill>
          <a:ln/>
        </p:spPr>
      </p:sp>
      <p:sp>
        <p:nvSpPr>
          <p:cNvPr id="8" name="Text 6"/>
          <p:cNvSpPr txBox="1"/>
          <p:nvPr/>
        </p:nvSpPr>
        <p:spPr>
          <a:xfrm>
            <a:off x="950976" y="1453896"/>
            <a:ext cx="10399471" cy="1092708"/>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Modelin sınırı:</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Periyodun hızdan bağımsız olması, ışık hızından çok küçük hızlarda geçerlidir. Parçacık ışık hızına yaklaştıkça tur süresi uzar ve basit siklotron uyumu kaybeder; büyük hızlandırıcılar bu yüzden alanı ya da frekansı hıza göre ayarlar.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88</a:t>
            </a:r>
            <a:endParaRPr lang="en-US" sz="10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Eğik giriş, sarmal yörünge ve siklotron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3445231" y="1271016"/>
            <a:ext cx="5301234" cy="3570732"/>
          </a:xfrm>
          <a:prstGeom prst="roundRect">
            <a:avLst>
              <a:gd name="adj" fmla="val 358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manyetik-alan-ek3-genis.jpg">    </p:cNvPr>
          <p:cNvPicPr>
            <a:picLocks noChangeAspect="1"/>
          </p:cNvPicPr>
          <p:nvPr/>
        </p:nvPicPr>
        <p:blipFill>
          <a:blip r:embed="rId1"/>
          <a:stretch>
            <a:fillRect/>
          </a:stretch>
        </p:blipFill>
        <p:spPr>
          <a:xfrm>
            <a:off x="3500095" y="1325880"/>
            <a:ext cx="5191506" cy="3461004"/>
          </a:xfrm>
          <a:prstGeom prst="rect">
            <a:avLst/>
          </a:prstGeom>
        </p:spPr>
      </p:pic>
      <p:sp>
        <p:nvSpPr>
          <p:cNvPr id="8" name="Text 5"/>
          <p:cNvSpPr txBox="1"/>
          <p:nvPr/>
        </p:nvSpPr>
        <p:spPr>
          <a:xfrm>
            <a:off x="1249528" y="5024628"/>
            <a:ext cx="9692640" cy="1120140"/>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Işıldayan sarmal</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iki halka bobinin arasındaki alana eğik gönderilen elektron demetinin yoludur: hızın alana dik bileşeni demeti döndürür, alana paralel bileşeni ise onu bobinlerin ekseni boyunca taşır. Yandan baktığın için sarmal bir dalga gibi görünür; her turda eksen boyunca alınan yol sarmalın adımıdır. Güneş'ten gelen parçacıklar da Dünya'nın alan çizgilerine böyle sarılarak kutuplara taşınır.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89</a:t>
            </a:r>
            <a:endParaRPr lang="en-US" sz="10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Eğik giriş, sarmal yörünge ve siklotron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Alana eğik giren yük, paralel hız bileşeniyle ilerleyip dik bileşeniyle dönerek sarmal çizer. Siklotron, periyodun hızdan bağımsız olmasını kullanarak parçacıkları sabit frekanslı bir gerilimle hızlandırır.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90</a:t>
            </a:r>
            <a:endParaRPr lang="en-US" sz="10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Kutup ışıkları neden ekvatorda değil de kutuplara yakın bölgelerde görülür?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11 · Eğik giriş, sarmal yörünge ve siklotron</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91</a:t>
            </a:r>
            <a:endParaRPr 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Kutup ışıkları neden ekvatorda değil de kutuplara yakın bölgelerde görülür?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Yüklü parçacıklar alan çizgilerine sarılarak onlar boyunca ilerler. Ekvatorun üzerinde alan çizgileri yere neredeyse paraleldir; oraya gelen parçacıklar yana saptırılır ve atmosfere inemez. Kutuplara yakın bölgelerde ise çizgiler atmosfere dalar; parçacıklar da onları izleyerek havaya çarpar ve ışık saçtırır.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92</a:t>
            </a:r>
            <a:endParaRPr lang="en-US" sz="10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Manyetizma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Manyetik kuvvet günlük hayatın içinde, çoğu zaman görmediğimiz yerlerde çalışıyor.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Ortak nokta hep aynı üç ilke: akım alan üretir, alan akıma kuvvet uygular, yükler alanda çember ya da sarmal çizer.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93</a:t>
            </a:r>
            <a:endParaRPr lang="en-US" sz="10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Manyetizma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331012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MR cihazı: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süperiletken bobinler 1,5–3 T'lık, Dünya'nınkinin 30 000–60 000 katı bir alan üretir.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Maglev:</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raya değmeden, küçük bir boşlukla havada giden tren deneme sürüşlerinde 600 km/h'i aştı.</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Hoparlör: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 1 T'lık alandaki bobinden geçen ses akımı zarı saniyede 20 ile 20 000 kez titretir.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Siklotron: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1 T'da protonun tur frekansı ≈ 15 MHz; hastanelerde PET için radyoaktif madde üretir.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94</a:t>
            </a:r>
            <a:endParaRPr lang="en-US" sz="10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Manyetizma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82753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Dünya'nın kalkanı: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Güneş'ten gelen parçacıkların çoğu saptırılır; kutuplarda 100 km'nin üzerinde havaya çarpanlar kutup ışığı yakar.</a:t>
            </a:r>
            <a:endParaRPr lang="en-US" sz="2100" dirty="0"/>
          </a:p>
        </p:txBody>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640080" y="2354580"/>
          <a:ext cx="10911535" cy="914400"/>
        </p:xfrm>
        <a:graphic>
          <a:graphicData uri="http://schemas.openxmlformats.org/drawingml/2006/table">
            <a:tbl>
              <a:tblPr/>
              <a:tblGrid>
                <a:gridCol w="3637178"/>
                <a:gridCol w="7274357"/>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Uygulama</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Kullanılan ilke</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Elektrik motoru</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Alan içindeki akıma etki eden kuvvet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Hoparlör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Değişen akım → değişen kuvvet → titreşen membran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Kütle spektrometresi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r = mv/(qB): farklı kütleler farklı yarıçap</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Siklotron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Periyodun hızdan bağımsız olması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Kutup ışıkları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Yüklü parçacıkların alan çizgileri boyunca sarmal hareketi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9" name="Shape 5"/>
          <p:cNvSpPr/>
          <p:nvPr/>
        </p:nvSpPr>
        <p:spPr>
          <a:xfrm>
            <a:off x="640080" y="6382512"/>
            <a:ext cx="128016" cy="128016"/>
          </a:xfrm>
          <a:prstGeom prst="roundRect">
            <a:avLst>
              <a:gd name="adj" fmla="val 28571"/>
            </a:avLst>
          </a:prstGeom>
          <a:solidFill>
            <a:srgbClr val="A9E648"/>
          </a:solidFill>
          <a:ln/>
        </p:spPr>
      </p:sp>
      <p:sp>
        <p:nvSpPr>
          <p:cNvPr id="10"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1"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95</a:t>
            </a:r>
            <a:endParaRPr lang="en-US" sz="10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Manyetizma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2571053" y="1234440"/>
            <a:ext cx="7049589"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manyetik-alan-12.png">    </p:cNvPr>
          <p:cNvPicPr>
            <a:picLocks noChangeAspect="1"/>
          </p:cNvPicPr>
          <p:nvPr/>
        </p:nvPicPr>
        <p:blipFill>
          <a:blip r:embed="rId1"/>
          <a:stretch>
            <a:fillRect/>
          </a:stretch>
        </p:blipFill>
        <p:spPr>
          <a:xfrm>
            <a:off x="2799653" y="1325880"/>
            <a:ext cx="6592389"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Solda çerçeveye önden bakıyorsun: akım sol kenarda yukarı, sağ kenarda aşağı gittiği için sol kenar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sayfaya doğru (⊗)</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sağ kenar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sayfadan dışarı (⊙)</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itilir; kuvvet hem tele hem alana diktir. Sağda aynı çerçeveye üstten bakıyorsun: eşit ve zıt iki kuvvet çerçeveyi bir yere ötelemez, ama eksen çevresinde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döndürür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Her yarım turda akımın yönünü çeviren bir komütatör eklenince dönme sürekli hâle gelir: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elektrik motoru</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budur.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96</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Manyetizma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Motor, hoparlör, MR, maglev, siklotron ve kutup ışıkları aynı ilkelere dayanır: akım alan üretir, alan akıma kuvvet uygular, yükler alanda çember ya da sarmal çizer.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97</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Manyetik kuvvet iş yapmıyorsa elektrik motoru mekanik işi nereden alır?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12 · Manyetizma gerçek dünyada</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98</a:t>
            </a:r>
            <a:endParaRPr lang="en-US" sz="10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Manyetik kuvvet iş yapmıyorsa elektrik motoru mekanik işi nereden alır?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Enerjiyi alan değil, motoru besleyen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pil ya da şebeke</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verir. Çerçeve dönerken içindeki yüklerin hızı yana doğru da eğilir ve manyetik kuvvetin bir bileşeni akıma ters döner. Kaynak bu karşı etkiyi yenmek için iş yapar; alan yalnızca aracıdır. Bu karşı etki, sıradaki konu olan indüksiyonun konusudur.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99</a:t>
            </a:r>
            <a:endParaRPr lang="en-US" sz="10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ve sınavda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13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14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6 ÇÖZÜMLÜ ÖRNEK</a:t>
            </a:r>
            <a:endParaRPr lang="en-US" sz="1050" dirty="0"/>
          </a:p>
        </p:txBody>
      </p:sp>
      <p:sp>
        <p:nvSpPr>
          <p:cNvPr id="9" name="Shape 7"/>
          <p:cNvSpPr/>
          <p:nvPr/>
        </p:nvSpPr>
        <p:spPr>
          <a:xfrm>
            <a:off x="6172200" y="1481328"/>
            <a:ext cx="5379415" cy="512064"/>
          </a:xfrm>
          <a:prstGeom prst="roundRect">
            <a:avLst>
              <a:gd name="adj" fmla="val 17857"/>
            </a:avLst>
          </a:prstGeom>
          <a:solidFill>
            <a:srgbClr val="1C2542"/>
          </a:solidFill>
          <a:ln w="9525">
            <a:solidFill>
              <a:srgbClr val="2C3860"/>
            </a:solidFill>
            <a:prstDash val="solid"/>
          </a:ln>
        </p:spPr>
      </p:sp>
      <p:sp>
        <p:nvSpPr>
          <p:cNvPr id="10" name="Text 8"/>
          <p:cNvSpPr txBox="1"/>
          <p:nvPr/>
        </p:nvSpPr>
        <p:spPr>
          <a:xfrm>
            <a:off x="6400800" y="148132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Telin alanı</a:t>
            </a:r>
            <a:endParaRPr lang="en-US" sz="1300" dirty="0"/>
          </a:p>
        </p:txBody>
      </p:sp>
      <p:sp>
        <p:nvSpPr>
          <p:cNvPr id="11" name="Text 9"/>
          <p:cNvSpPr txBox="1"/>
          <p:nvPr/>
        </p:nvSpPr>
        <p:spPr>
          <a:xfrm>
            <a:off x="10362895" y="1481328"/>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84832"/>
            <a:ext cx="5379415" cy="512064"/>
          </a:xfrm>
          <a:prstGeom prst="roundRect">
            <a:avLst>
              <a:gd name="adj" fmla="val 17857"/>
            </a:avLst>
          </a:prstGeom>
          <a:solidFill>
            <a:srgbClr val="1C2542"/>
          </a:solidFill>
          <a:ln w="9525">
            <a:solidFill>
              <a:srgbClr val="2C3860"/>
            </a:solidFill>
            <a:prstDash val="solid"/>
          </a:ln>
        </p:spPr>
      </p:sp>
      <p:sp>
        <p:nvSpPr>
          <p:cNvPr id="13" name="Text 11"/>
          <p:cNvSpPr txBox="1"/>
          <p:nvPr/>
        </p:nvSpPr>
        <p:spPr>
          <a:xfrm>
            <a:off x="6400800" y="208483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Tele etki eden kuvvet</a:t>
            </a:r>
            <a:endParaRPr lang="en-US" sz="1300" dirty="0"/>
          </a:p>
        </p:txBody>
      </p:sp>
      <p:sp>
        <p:nvSpPr>
          <p:cNvPr id="14" name="Text 12"/>
          <p:cNvSpPr txBox="1"/>
          <p:nvPr/>
        </p:nvSpPr>
        <p:spPr>
          <a:xfrm>
            <a:off x="10362895" y="2084832"/>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88336"/>
            <a:ext cx="5379415" cy="512064"/>
          </a:xfrm>
          <a:prstGeom prst="roundRect">
            <a:avLst>
              <a:gd name="adj" fmla="val 17857"/>
            </a:avLst>
          </a:prstGeom>
          <a:solidFill>
            <a:srgbClr val="1C2542"/>
          </a:solidFill>
          <a:ln w="9525">
            <a:solidFill>
              <a:srgbClr val="2C3860"/>
            </a:solidFill>
            <a:prstDash val="solid"/>
          </a:ln>
        </p:spPr>
      </p:sp>
      <p:sp>
        <p:nvSpPr>
          <p:cNvPr id="16" name="Text 14"/>
          <p:cNvSpPr txBox="1"/>
          <p:nvPr/>
        </p:nvSpPr>
        <p:spPr>
          <a:xfrm>
            <a:off x="6400800" y="2688336"/>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Hangi yöne sapar?</a:t>
            </a:r>
            <a:endParaRPr lang="en-US" sz="1300" dirty="0"/>
          </a:p>
        </p:txBody>
      </p:sp>
      <p:sp>
        <p:nvSpPr>
          <p:cNvPr id="17" name="Text 15"/>
          <p:cNvSpPr txBox="1"/>
          <p:nvPr/>
        </p:nvSpPr>
        <p:spPr>
          <a:xfrm>
            <a:off x="10362895" y="2688336"/>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18" name="Shape 16"/>
          <p:cNvSpPr/>
          <p:nvPr/>
        </p:nvSpPr>
        <p:spPr>
          <a:xfrm>
            <a:off x="6172200" y="3291840"/>
            <a:ext cx="5379415" cy="512064"/>
          </a:xfrm>
          <a:prstGeom prst="roundRect">
            <a:avLst>
              <a:gd name="adj" fmla="val 17857"/>
            </a:avLst>
          </a:prstGeom>
          <a:solidFill>
            <a:srgbClr val="1C2542"/>
          </a:solidFill>
          <a:ln w="9525">
            <a:solidFill>
              <a:srgbClr val="2C3860"/>
            </a:solidFill>
            <a:prstDash val="solid"/>
          </a:ln>
        </p:spPr>
      </p:sp>
      <p:sp>
        <p:nvSpPr>
          <p:cNvPr id="19" name="Text 17"/>
          <p:cNvSpPr txBox="1"/>
          <p:nvPr/>
        </p:nvSpPr>
        <p:spPr>
          <a:xfrm>
            <a:off x="6400800" y="3291840"/>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Dairesel yörünge</a:t>
            </a:r>
            <a:endParaRPr lang="en-US" sz="1300" dirty="0"/>
          </a:p>
        </p:txBody>
      </p:sp>
      <p:sp>
        <p:nvSpPr>
          <p:cNvPr id="20" name="Text 18"/>
          <p:cNvSpPr txBox="1"/>
          <p:nvPr/>
        </p:nvSpPr>
        <p:spPr>
          <a:xfrm>
            <a:off x="10362895" y="3291840"/>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895344"/>
            <a:ext cx="5379415" cy="512064"/>
          </a:xfrm>
          <a:prstGeom prst="roundRect">
            <a:avLst>
              <a:gd name="adj" fmla="val 17857"/>
            </a:avLst>
          </a:prstGeom>
          <a:solidFill>
            <a:srgbClr val="1C2542"/>
          </a:solidFill>
          <a:ln w="9525">
            <a:solidFill>
              <a:srgbClr val="2C3860"/>
            </a:solidFill>
            <a:prstDash val="solid"/>
          </a:ln>
        </p:spPr>
      </p:sp>
      <p:sp>
        <p:nvSpPr>
          <p:cNvPr id="22" name="Text 20"/>
          <p:cNvSpPr txBox="1"/>
          <p:nvPr/>
        </p:nvSpPr>
        <p:spPr>
          <a:xfrm>
            <a:off x="6400800" y="3895344"/>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İki paralel tel</a:t>
            </a:r>
            <a:endParaRPr lang="en-US" sz="1300" dirty="0"/>
          </a:p>
        </p:txBody>
      </p:sp>
      <p:sp>
        <p:nvSpPr>
          <p:cNvPr id="23" name="Text 21"/>
          <p:cNvSpPr txBox="1"/>
          <p:nvPr/>
        </p:nvSpPr>
        <p:spPr>
          <a:xfrm>
            <a:off x="10362895" y="3895344"/>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4" name="Shape 22"/>
          <p:cNvSpPr/>
          <p:nvPr/>
        </p:nvSpPr>
        <p:spPr>
          <a:xfrm>
            <a:off x="6172200" y="4498848"/>
            <a:ext cx="5379415" cy="512064"/>
          </a:xfrm>
          <a:prstGeom prst="roundRect">
            <a:avLst>
              <a:gd name="adj" fmla="val 17857"/>
            </a:avLst>
          </a:prstGeom>
          <a:solidFill>
            <a:srgbClr val="1C2542"/>
          </a:solidFill>
          <a:ln w="9525">
            <a:solidFill>
              <a:srgbClr val="2C3860"/>
            </a:solidFill>
            <a:prstDash val="solid"/>
          </a:ln>
        </p:spPr>
      </p:sp>
      <p:sp>
        <p:nvSpPr>
          <p:cNvPr id="25" name="Text 23"/>
          <p:cNvSpPr txBox="1"/>
          <p:nvPr/>
        </p:nvSpPr>
        <p:spPr>
          <a:xfrm>
            <a:off x="6400800" y="449884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Kütle spektrometresinde izotoplar</a:t>
            </a:r>
            <a:endParaRPr lang="en-US" sz="1300" dirty="0"/>
          </a:p>
        </p:txBody>
      </p:sp>
      <p:sp>
        <p:nvSpPr>
          <p:cNvPr id="26" name="Text 24"/>
          <p:cNvSpPr txBox="1"/>
          <p:nvPr/>
        </p:nvSpPr>
        <p:spPr>
          <a:xfrm>
            <a:off x="10362895" y="4498848"/>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40080" y="6382512"/>
            <a:ext cx="128016" cy="128016"/>
          </a:xfrm>
          <a:prstGeom prst="roundRect">
            <a:avLst>
              <a:gd name="adj" fmla="val 28571"/>
            </a:avLst>
          </a:prstGeom>
          <a:solidFill>
            <a:srgbClr val="C6F36B"/>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dersler.perinet.org/manyetik-alan.html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100</a:t>
            </a:r>
            <a:endParaRPr lang="en-US" sz="10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6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Telin alanı</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20 A akım taşıyan düz bir telden 10 cm uzaklıktaki manyetik alanın büyüklüğü nedir? Uzaklık iki katına çıkarılırsa alan ne olur?</a:t>
            </a:r>
            <a:endParaRPr lang="en-US" sz="2000" dirty="0"/>
          </a:p>
        </p:txBody>
      </p:sp>
      <p:sp>
        <p:nvSpPr>
          <p:cNvPr id="11" name="Shape 9"/>
          <p:cNvSpPr/>
          <p:nvPr/>
        </p:nvSpPr>
        <p:spPr>
          <a:xfrm>
            <a:off x="2599262" y="3121152"/>
            <a:ext cx="6993170"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manyetik-alan-13.png">    </p:cNvPr>
          <p:cNvPicPr>
            <a:picLocks noChangeAspect="1"/>
          </p:cNvPicPr>
          <p:nvPr/>
        </p:nvPicPr>
        <p:blipFill>
          <a:blip r:embed="rId1"/>
          <a:stretch>
            <a:fillRect/>
          </a:stretch>
        </p:blipFill>
        <p:spPr>
          <a:xfrm>
            <a:off x="2827862" y="3230880"/>
            <a:ext cx="6535970"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101</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6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Telin alanı</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20 A akım taşıyan düz bir telden 10 cm uzaklıktaki manyetik alanın büyüklüğü nedir? Uzaklık iki katına çıkarılırsa alan ne olur?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 = 20 A</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r = 10 cm = 0,1 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μ₀/2π = 2·10⁻⁷ T·m/A</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10 cm'deki alan B</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uzaklık iki katına (20 cm) çıkınca alan</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102</a:t>
            </a:r>
            <a:endParaRPr lang="en-US"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Telin alanı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 2·10⁻⁷ · I / r = 2·10⁻⁷ · 20 / 0,1</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 4·10⁻⁵ T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40 µT</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(Dünya'nın alanı mertebesinde)</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r iki katına çıkarsa B yarıya iner: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20 µT</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(1/r bağımlılığı)</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103</a:t>
            </a:r>
            <a:endParaRPr lang="en-US" sz="10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6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Tele etki eden kuvvet</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0,5 T'lık düzgün manyetik alana dik olarak yerleştirilmiş 40 cm uzunluğundaki telden 6 A akım geçiyor. Tele etki eden kuvvet nedir? Tel alana 30° açı yapsaydı?</a:t>
            </a:r>
            <a:endParaRPr lang="en-US" sz="2000" dirty="0"/>
          </a:p>
        </p:txBody>
      </p:sp>
      <p:sp>
        <p:nvSpPr>
          <p:cNvPr id="11" name="Shape 9"/>
          <p:cNvSpPr/>
          <p:nvPr/>
        </p:nvSpPr>
        <p:spPr>
          <a:xfrm>
            <a:off x="3148266" y="3474720"/>
            <a:ext cx="5895163"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manyetik-alan-14.png">    </p:cNvPr>
          <p:cNvPicPr>
            <a:picLocks noChangeAspect="1"/>
          </p:cNvPicPr>
          <p:nvPr/>
        </p:nvPicPr>
        <p:blipFill>
          <a:blip r:embed="rId1"/>
          <a:stretch>
            <a:fillRect/>
          </a:stretch>
        </p:blipFill>
        <p:spPr>
          <a:xfrm>
            <a:off x="3376866" y="3584448"/>
            <a:ext cx="5437963"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104</a:t>
            </a:r>
            <a:endParaRPr lang="en-US" sz="10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6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Tele etki eden kuvvet</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0,5 T'lık düzgün manyetik alana dik olarak yerleştirilmiş 40 cm uzunluğundaki telden 6 A akım geçiyor. Tele etki eden kuvvet nedir? Tel alana 30° açı yapsaydı?</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 0,5 T</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L = 40 cm = 0,4 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 = 6 A</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tel alana dik: α = 90° (sin90° = 1)</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ikinci durumda α = 30° (sin30° = 0,5)</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tel alana dikken kuvvet F</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tel alana 30° açı yaparken kuvvet F</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105</a:t>
            </a:r>
            <a:endParaRPr lang="en-US"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Tele etki eden kuvvet</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Dik durumda: F = B·I·L = 0,5 · 6 · 0,4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1,2 N</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30° için: F = B·I·L·sin30° = 1,2 · 0,5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0,6 N</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Tel alana paralel olsaydı (0°) kuvvet sıfır olurdu.</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106</a:t>
            </a:r>
            <a:endParaRPr lang="en-US" sz="10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6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Hangi yöne sapar?</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Sayfa düzleminde sağa doğru hareket eden bir elektron, sayfaya doğru (⊗) yönelmiş manyetik alana giriyor. Elektron hangi yöne sapar?</a:t>
            </a:r>
            <a:endParaRPr lang="en-US" sz="2000" dirty="0"/>
          </a:p>
        </p:txBody>
      </p:sp>
      <p:sp>
        <p:nvSpPr>
          <p:cNvPr id="11" name="Shape 9"/>
          <p:cNvSpPr/>
          <p:nvPr/>
        </p:nvSpPr>
        <p:spPr>
          <a:xfrm>
            <a:off x="2568357" y="3121152"/>
            <a:ext cx="7054982"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manyetik-alan-15.png">    </p:cNvPr>
          <p:cNvPicPr>
            <a:picLocks noChangeAspect="1"/>
          </p:cNvPicPr>
          <p:nvPr/>
        </p:nvPicPr>
        <p:blipFill>
          <a:blip r:embed="rId1"/>
          <a:stretch>
            <a:fillRect/>
          </a:stretch>
        </p:blipFill>
        <p:spPr>
          <a:xfrm>
            <a:off x="2796957" y="3230880"/>
            <a:ext cx="6597782"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107</a:t>
            </a:r>
            <a:endParaRPr lang="en-US" sz="10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6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Hangi yöne sapar?</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Sayfa düzleminde sağa doğru hareket eden bir elektron, sayfaya doğru (⊗) yönelmiş manyetik alana giriyor. Elektron hangi yöne sapar?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yük negatif (elektron)</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hız sağa doğru</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alan sayfaya doğru (⊗)</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elektrona etki eden manyetik kuvvetin yönü, yani sapma yönü</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108</a:t>
            </a:r>
            <a:endParaRPr lang="en-US" sz="10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Hangi yöne sapar?</a:t>
            </a:r>
            <a:endParaRPr lang="en-US" sz="1450" dirty="0"/>
          </a:p>
        </p:txBody>
      </p:sp>
      <p:sp>
        <p:nvSpPr>
          <p:cNvPr id="8" name="Shape 6"/>
          <p:cNvSpPr/>
          <p:nvPr/>
        </p:nvSpPr>
        <p:spPr>
          <a:xfrm>
            <a:off x="640080" y="1645920"/>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18599"/>
            <a:ext cx="420624" cy="420624"/>
          </a:xfrm>
          <a:prstGeom prst="roundRect">
            <a:avLst>
              <a:gd name="adj" fmla="val 26000"/>
            </a:avLst>
          </a:prstGeom>
          <a:solidFill>
            <a:srgbClr val="A56209"/>
          </a:solidFill>
          <a:ln/>
        </p:spPr>
      </p:sp>
      <p:sp>
        <p:nvSpPr>
          <p:cNvPr id="10" name="Text 8"/>
          <p:cNvSpPr txBox="1"/>
          <p:nvPr/>
        </p:nvSpPr>
        <p:spPr>
          <a:xfrm>
            <a:off x="914400" y="2218599"/>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Önce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pozitif</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yük varmış gibi düşün: parmaklar hız (sağa) yönünden alan (sayfaya doğru) yönüne döndürülür; başparmak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yukarıyı</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gösterir.</a:t>
            </a:r>
            <a:endParaRPr lang="en-US" sz="2000" dirty="0"/>
          </a:p>
        </p:txBody>
      </p:sp>
      <p:sp>
        <p:nvSpPr>
          <p:cNvPr id="12" name="Shape 10"/>
          <p:cNvSpPr/>
          <p:nvPr/>
        </p:nvSpPr>
        <p:spPr>
          <a:xfrm>
            <a:off x="640080" y="3376494"/>
            <a:ext cx="10911535" cy="1037699"/>
          </a:xfrm>
          <a:prstGeom prst="roundRect">
            <a:avLst>
              <a:gd name="adj" fmla="val 1409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685032"/>
            <a:ext cx="420624" cy="420624"/>
          </a:xfrm>
          <a:prstGeom prst="roundRect">
            <a:avLst>
              <a:gd name="adj" fmla="val 26000"/>
            </a:avLst>
          </a:prstGeom>
          <a:solidFill>
            <a:srgbClr val="A56209"/>
          </a:solidFill>
          <a:ln/>
        </p:spPr>
      </p:sp>
      <p:sp>
        <p:nvSpPr>
          <p:cNvPr id="14" name="Text 12"/>
          <p:cNvSpPr txBox="1"/>
          <p:nvPr/>
        </p:nvSpPr>
        <p:spPr>
          <a:xfrm>
            <a:off x="914400" y="3685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31358"/>
            <a:ext cx="9859975" cy="927971"/>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Yük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negatif</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olduğu için kuvvet tersine döner: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aşağı</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4578786"/>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5151465"/>
            <a:ext cx="420624" cy="420624"/>
          </a:xfrm>
          <a:prstGeom prst="roundRect">
            <a:avLst>
              <a:gd name="adj" fmla="val 26000"/>
            </a:avLst>
          </a:prstGeom>
          <a:solidFill>
            <a:srgbClr val="A56209"/>
          </a:solidFill>
          <a:ln/>
        </p:spPr>
      </p:sp>
      <p:sp>
        <p:nvSpPr>
          <p:cNvPr id="18" name="Text 16"/>
          <p:cNvSpPr txBox="1"/>
          <p:nvPr/>
        </p:nvSpPr>
        <p:spPr>
          <a:xfrm>
            <a:off x="914400" y="515146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633650"/>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Kuvvet hıza dik olduğu için elektron aşağı doğru bir çember çizmeye başlar; sürati değişmez.</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109</a:t>
            </a:r>
            <a:endParaRPr lang="en-US" sz="10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6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Dairesel yörünge</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Kütlesi 9,1·10⁻³¹ kg, yükü 1,6·10⁻¹⁹ C olan bir elektron, 2·10⁷ m/s hızla 1 mT'lık alana dik giriyor. Yörüngenin yarıçapı ve periyodu nedir?</a:t>
            </a:r>
            <a:endParaRPr lang="en-US" sz="2000" dirty="0"/>
          </a:p>
        </p:txBody>
      </p:sp>
      <p:sp>
        <p:nvSpPr>
          <p:cNvPr id="11" name="Shape 9"/>
          <p:cNvSpPr/>
          <p:nvPr/>
        </p:nvSpPr>
        <p:spPr>
          <a:xfrm>
            <a:off x="3113863" y="3121152"/>
            <a:ext cx="5963968"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manyetik-alan-16.png">    </p:cNvPr>
          <p:cNvPicPr>
            <a:picLocks noChangeAspect="1"/>
          </p:cNvPicPr>
          <p:nvPr/>
        </p:nvPicPr>
        <p:blipFill>
          <a:blip r:embed="rId1"/>
          <a:stretch>
            <a:fillRect/>
          </a:stretch>
        </p:blipFill>
        <p:spPr>
          <a:xfrm>
            <a:off x="3342463" y="3230880"/>
            <a:ext cx="5506768"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110</a:t>
            </a:r>
            <a:endParaRPr lang="en-US" sz="10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6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Dairesel yörünge</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Kütlesi 9,1·10⁻³¹ kg, yükü 1,6·10⁻¹⁹ C olan bir elektron, 2·10⁷ m/s hızla 1 mT'lık alana dik giriyor. Yörüngenin yarıçapı ve periyodu nedir?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m = 9,1·10⁻³¹ kg</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q = 1,6·10⁻¹⁹ C</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v = 2·10⁷ m/s</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 1 mT = 10⁻³ T</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hız alana dik</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π ≈ 3,14</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yörüngenin yarıçapı r</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periyot T</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111</a:t>
            </a:r>
            <a:endParaRPr lang="en-US" sz="10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Dairesel yörünge</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r = m·v/(q·B) = (9,1·10⁻³¹ · 2·10⁷) / (1,6·10⁻¹⁹ · 10⁻³)</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r = 1,82·10⁻²³ / 1,6·10⁻²²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0,114 m ≈ 11,4 cm</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112</a:t>
            </a:r>
            <a:endParaRPr lang="en-US" sz="10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Dairesel yörünge</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T = 2πm/(qB) = (6,28 · 9,1·10⁻³¹) / (1,6·10⁻¹⁹ · 10⁻³)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3,6·10⁻⁸ s</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Hız iki katına çıksaydı yarıçap iki katına çıkardı, ama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periyot değişmezdi</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113</a:t>
            </a:r>
            <a:endParaRPr lang="en-US" sz="10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6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İki paralel tel</a:t>
            </a:r>
            <a:endParaRPr lang="en-US" sz="1450" dirty="0"/>
          </a:p>
        </p:txBody>
      </p:sp>
      <p:sp>
        <p:nvSpPr>
          <p:cNvPr id="8" name="Shape 6"/>
          <p:cNvSpPr/>
          <p:nvPr/>
        </p:nvSpPr>
        <p:spPr>
          <a:xfrm>
            <a:off x="640080" y="1645920"/>
            <a:ext cx="10911535" cy="1574597"/>
          </a:xfrm>
          <a:prstGeom prst="roundRect">
            <a:avLst>
              <a:gd name="adj" fmla="val 929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17397"/>
          </a:xfrm>
          <a:prstGeom prst="rect">
            <a:avLst/>
          </a:prstGeom>
          <a:noFill/>
          <a:ln/>
        </p:spPr>
        <p:txBody>
          <a:bodyPr wrap="square" lIns="0" tIns="0" rIns="0" bIns="0" rtlCol="0" anchor="t"/>
          <a:lstStyle/>
          <a:p>
            <a:pPr indent="0" marL="0">
              <a:lnSpc>
                <a:spcPct val="116000"/>
              </a:lnSpc>
              <a:buNone/>
            </a:pPr>
            <a:r>
              <a:rPr lang="en-US" sz="1900" dirty="0">
                <a:solidFill>
                  <a:srgbClr val="0E1426"/>
                </a:solidFill>
                <a:latin typeface="Calibri" pitchFamily="34" charset="0"/>
                <a:ea typeface="Calibri" pitchFamily="34" charset="-122"/>
                <a:cs typeface="Calibri" pitchFamily="34" charset="-120"/>
              </a:rPr>
              <a:t>Aralarında 10 cm bulunan iki uzun paralel telden aynı yönde 10 A ve 30 A akım geçiyor. (a) Tellerin tam ortasındaki net manyetik alanı, (b) net alanın sıfır olduğu noktayı, (c) tellerin birbirine uyguladığı birim uzunluk başına kuvveti bulunuz.</a:t>
            </a:r>
            <a:endParaRPr lang="en-US" sz="1900" dirty="0"/>
          </a:p>
        </p:txBody>
      </p:sp>
      <p:sp>
        <p:nvSpPr>
          <p:cNvPr id="11" name="Shape 9"/>
          <p:cNvSpPr/>
          <p:nvPr/>
        </p:nvSpPr>
        <p:spPr>
          <a:xfrm>
            <a:off x="3041999" y="3421685"/>
            <a:ext cx="6107698" cy="2832811"/>
          </a:xfrm>
          <a:prstGeom prst="roundRect">
            <a:avLst>
              <a:gd name="adj" fmla="val 516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manyetik-alan-17.png">    </p:cNvPr>
          <p:cNvPicPr>
            <a:picLocks noChangeAspect="1"/>
          </p:cNvPicPr>
          <p:nvPr/>
        </p:nvPicPr>
        <p:blipFill>
          <a:blip r:embed="rId1"/>
          <a:stretch>
            <a:fillRect/>
          </a:stretch>
        </p:blipFill>
        <p:spPr>
          <a:xfrm>
            <a:off x="3270599" y="3531413"/>
            <a:ext cx="5650498" cy="2613355"/>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114</a:t>
            </a:r>
            <a:endParaRPr lang="en-US" sz="10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6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İki paralel tel</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Aralarında 10 cm bulunan iki uzun paralel telden aynı yönde 10 A ve 30 A akım geçiyor. (a) Tellerin tam ortasındaki net manyetik alanı, (b) net alanın sıfır olduğu noktayı, (c) tellerin birbirine uyguladığı birim uzunluk başına kuvveti bulunuz.</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teller arası uzaklık d = 10 cm = 0,1 m</a:t>
            </a:r>
            <a:endParaRPr lang="en-US" sz="1450" dirty="0"/>
          </a:p>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I₁ = 10 A</a:t>
            </a:r>
            <a:endParaRPr lang="en-US" sz="1450" dirty="0"/>
          </a:p>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I₂ = 30 A</a:t>
            </a:r>
            <a:endParaRPr lang="en-US" sz="1450" dirty="0"/>
          </a:p>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akımlar aynı yönde</a:t>
            </a:r>
            <a:endParaRPr lang="en-US" sz="1450" dirty="0"/>
          </a:p>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μ₀/2π = 2·10⁻⁷ T·m/A</a:t>
            </a:r>
            <a:endParaRPr lang="en-US" sz="1450" dirty="0"/>
          </a:p>
        </p:txBody>
      </p:sp>
      <p:sp>
        <p:nvSpPr>
          <p:cNvPr id="15" name="Shape 13"/>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136136"/>
            <a:ext cx="54864" cy="1844040"/>
          </a:xfrm>
          <a:prstGeom prst="rect">
            <a:avLst/>
          </a:prstGeom>
          <a:solidFill>
            <a:srgbClr val="5F4BD8"/>
          </a:solidFill>
          <a:ln/>
        </p:spPr>
      </p:sp>
      <p:sp>
        <p:nvSpPr>
          <p:cNvPr id="17" name="Text 15"/>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tam ortadaki net alan</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net alanın sıfır olduğu nokta</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birim uzunluk başına kuvvet F/L</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115</a:t>
            </a:r>
            <a:endParaRPr lang="en-US" sz="10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İki paralel tel</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Orta nokta her telden 5 cm uzaktadır: B₁ = 2·10⁻⁷ · 10 / 0,05 = 4·10⁻⁵ T, B₂ = 2·10⁻⁷ · 30 / 0,05 = 1,2·10⁻⁴ T.</a:t>
            </a:r>
            <a:endParaRPr lang="en-US" sz="2000" dirty="0"/>
          </a:p>
        </p:txBody>
      </p:sp>
      <p:sp>
        <p:nvSpPr>
          <p:cNvPr id="12" name="Shape 10"/>
          <p:cNvSpPr/>
          <p:nvPr/>
        </p:nvSpPr>
        <p:spPr>
          <a:xfrm>
            <a:off x="640080" y="342961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28846"/>
            <a:ext cx="420624" cy="420624"/>
          </a:xfrm>
          <a:prstGeom prst="roundRect">
            <a:avLst>
              <a:gd name="adj" fmla="val 26000"/>
            </a:avLst>
          </a:prstGeom>
          <a:solidFill>
            <a:srgbClr val="A56209"/>
          </a:solidFill>
          <a:ln/>
        </p:spPr>
      </p:sp>
      <p:sp>
        <p:nvSpPr>
          <p:cNvPr id="14" name="Text 12"/>
          <p:cNvSpPr txBox="1"/>
          <p:nvPr/>
        </p:nvSpPr>
        <p:spPr>
          <a:xfrm>
            <a:off x="914400" y="40288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84474"/>
            <a:ext cx="9859975" cy="1509370"/>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Akımlar aynı yönlü olduğu için teller arasında alanlar zıt yönlüdür: B = 1,2·10⁻⁴ − 4·10⁻⁵ = 8·10⁻⁵ T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80 µT</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30 A'lik telin alanı yönünde.</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116</a:t>
            </a:r>
            <a:endParaRPr lang="en-US" sz="10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İki paralel tel</a:t>
            </a:r>
            <a:endParaRPr lang="en-US" sz="1450" dirty="0"/>
          </a:p>
        </p:txBody>
      </p:sp>
      <p:sp>
        <p:nvSpPr>
          <p:cNvPr id="8" name="Shape 6"/>
          <p:cNvSpPr/>
          <p:nvPr/>
        </p:nvSpPr>
        <p:spPr>
          <a:xfrm>
            <a:off x="640080" y="1645920"/>
            <a:ext cx="10911535" cy="2165299"/>
          </a:xfrm>
          <a:prstGeom prst="roundRect">
            <a:avLst>
              <a:gd name="adj" fmla="val 675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518258"/>
            <a:ext cx="420624" cy="420624"/>
          </a:xfrm>
          <a:prstGeom prst="roundRect">
            <a:avLst>
              <a:gd name="adj" fmla="val 26000"/>
            </a:avLst>
          </a:prstGeom>
          <a:solidFill>
            <a:srgbClr val="A56209"/>
          </a:solidFill>
          <a:ln/>
        </p:spPr>
      </p:sp>
      <p:sp>
        <p:nvSpPr>
          <p:cNvPr id="10" name="Text 8"/>
          <p:cNvSpPr txBox="1"/>
          <p:nvPr/>
        </p:nvSpPr>
        <p:spPr>
          <a:xfrm>
            <a:off x="914400" y="251825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2055571"/>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Sıfır noktası teller arasında, zayıf akımlı tele daha yakındır. 10 A'lik telden x uzaklıkta: 10 / x = 30 / (10 − x) → 100 − 10x = 30x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x = 2,5 cm</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3975811"/>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575048"/>
            <a:ext cx="420624" cy="420624"/>
          </a:xfrm>
          <a:prstGeom prst="roundRect">
            <a:avLst>
              <a:gd name="adj" fmla="val 26000"/>
            </a:avLst>
          </a:prstGeom>
          <a:solidFill>
            <a:srgbClr val="A56209"/>
          </a:solidFill>
          <a:ln/>
        </p:spPr>
      </p:sp>
      <p:sp>
        <p:nvSpPr>
          <p:cNvPr id="14" name="Text 12"/>
          <p:cNvSpPr txBox="1"/>
          <p:nvPr/>
        </p:nvSpPr>
        <p:spPr>
          <a:xfrm>
            <a:off x="914400" y="457504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4030675"/>
            <a:ext cx="9859975" cy="1509370"/>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F/L = 2·10⁻⁷ · 10 · 30 / 0,1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6·10⁻⁴ N/m</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akımlar aynı yönlü olduğu için teller birbirini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çeker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117</a:t>
            </a:r>
            <a:endParaRPr lang="en-US" sz="10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6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Kütle spektrometresinde izotoplar</a:t>
            </a:r>
            <a:endParaRPr lang="en-US" sz="1450" dirty="0"/>
          </a:p>
        </p:txBody>
      </p:sp>
      <p:sp>
        <p:nvSpPr>
          <p:cNvPr id="8" name="Shape 6"/>
          <p:cNvSpPr/>
          <p:nvPr/>
        </p:nvSpPr>
        <p:spPr>
          <a:xfrm>
            <a:off x="640080" y="1645920"/>
            <a:ext cx="10911535" cy="1737360"/>
          </a:xfrm>
          <a:prstGeom prst="roundRect">
            <a:avLst>
              <a:gd name="adj" fmla="val 8421"/>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280160"/>
          </a:xfrm>
          <a:prstGeom prst="rect">
            <a:avLst/>
          </a:prstGeom>
          <a:noFill/>
          <a:ln/>
        </p:spPr>
        <p:txBody>
          <a:bodyPr wrap="square" lIns="0" tIns="0" rIns="0" bIns="0" rtlCol="0" anchor="t"/>
          <a:lstStyle/>
          <a:p>
            <a:pPr indent="0" marL="0">
              <a:lnSpc>
                <a:spcPct val="116000"/>
              </a:lnSpc>
              <a:buNone/>
            </a:pPr>
            <a:r>
              <a:rPr lang="en-US" sz="1900" dirty="0">
                <a:solidFill>
                  <a:srgbClr val="0E1426"/>
                </a:solidFill>
                <a:latin typeface="Calibri" pitchFamily="34" charset="0"/>
                <a:ea typeface="Calibri" pitchFamily="34" charset="-122"/>
                <a:cs typeface="Calibri" pitchFamily="34" charset="-120"/>
              </a:rPr>
              <a:t>Tek yüklü (q = 1,6·10⁻¹⁹ C) neon-20 ve neon-22 iyonları 1·10⁵ m/s hızla 0,5 T'lık alana dik giriyor, yarım çember çizip giriş noktasıyla aynı hizadaki bir levhaya çarpıyor. Levhadaki iki iz arasındaki uzaklık nedir? (1 u = 1,66·10⁻²⁷ kg; kütleler 20 u ve 22 u)</a:t>
            </a:r>
            <a:endParaRPr lang="en-US" sz="1900" dirty="0"/>
          </a:p>
        </p:txBody>
      </p:sp>
      <p:sp>
        <p:nvSpPr>
          <p:cNvPr id="11" name="Shape 9"/>
          <p:cNvSpPr/>
          <p:nvPr/>
        </p:nvSpPr>
        <p:spPr>
          <a:xfrm>
            <a:off x="3622389" y="3584448"/>
            <a:ext cx="4946917" cy="2670048"/>
          </a:xfrm>
          <a:prstGeom prst="roundRect">
            <a:avLst>
              <a:gd name="adj" fmla="val 547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manyetik-alan-18.png">    </p:cNvPr>
          <p:cNvPicPr>
            <a:picLocks noChangeAspect="1"/>
          </p:cNvPicPr>
          <p:nvPr/>
        </p:nvPicPr>
        <p:blipFill>
          <a:blip r:embed="rId1"/>
          <a:stretch>
            <a:fillRect/>
          </a:stretch>
        </p:blipFill>
        <p:spPr>
          <a:xfrm>
            <a:off x="3850989" y="3694176"/>
            <a:ext cx="4489717" cy="2450592"/>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118</a:t>
            </a:r>
            <a:endParaRPr lang="en-US" sz="10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6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Kütle spektrometresinde izotoplar</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Tek yüklü (q = 1,6·10⁻¹⁹ C) neon-20 ve neon-22 iyonları 1·10⁵ m/s hızla 0,5 T'lık alana dik giriyor, yarım çember çizip giriş noktasıyla aynı hizadaki bir levhaya çarpıyor. Levhadaki iki iz arasındaki uzaklık nedir? (1 u = 1,66·10⁻²⁷ kg; kütleler 20 u ve 22 u)</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150" dirty="0">
                <a:solidFill>
                  <a:srgbClr val="0E1426"/>
                </a:solidFill>
                <a:latin typeface="Calibri" pitchFamily="34" charset="0"/>
                <a:ea typeface="Calibri" pitchFamily="34" charset="-122"/>
                <a:cs typeface="Calibri" pitchFamily="34" charset="-120"/>
              </a:rPr>
              <a:t>q = 1,6·10⁻¹⁹ C</a:t>
            </a:r>
            <a:endParaRPr lang="en-US" sz="1150" dirty="0"/>
          </a:p>
          <a:p>
            <a:pPr marL="203200" indent="-203200">
              <a:lnSpc>
                <a:spcPct val="110000"/>
              </a:lnSpc>
              <a:spcAft>
                <a:spcPts val="500"/>
              </a:spcAft>
              <a:buSzPct val="100000"/>
              <a:buChar char="▪"/>
            </a:pPr>
            <a:r>
              <a:rPr lang="en-US" sz="1150" dirty="0">
                <a:solidFill>
                  <a:srgbClr val="0E1426"/>
                </a:solidFill>
                <a:latin typeface="Calibri" pitchFamily="34" charset="0"/>
                <a:ea typeface="Calibri" pitchFamily="34" charset="-122"/>
                <a:cs typeface="Calibri" pitchFamily="34" charset="-120"/>
              </a:rPr>
              <a:t>v = 1·10⁵ m/s</a:t>
            </a:r>
            <a:endParaRPr lang="en-US" sz="1150" dirty="0"/>
          </a:p>
          <a:p>
            <a:pPr marL="203200" indent="-203200">
              <a:lnSpc>
                <a:spcPct val="110000"/>
              </a:lnSpc>
              <a:spcAft>
                <a:spcPts val="500"/>
              </a:spcAft>
              <a:buSzPct val="100000"/>
              <a:buChar char="▪"/>
            </a:pPr>
            <a:r>
              <a:rPr lang="en-US" sz="1150" dirty="0">
                <a:solidFill>
                  <a:srgbClr val="0E1426"/>
                </a:solidFill>
                <a:latin typeface="Calibri" pitchFamily="34" charset="0"/>
                <a:ea typeface="Calibri" pitchFamily="34" charset="-122"/>
                <a:cs typeface="Calibri" pitchFamily="34" charset="-120"/>
              </a:rPr>
              <a:t>B = 0,5 T</a:t>
            </a:r>
            <a:endParaRPr lang="en-US" sz="1150" dirty="0"/>
          </a:p>
          <a:p>
            <a:pPr marL="203200" indent="-203200">
              <a:lnSpc>
                <a:spcPct val="110000"/>
              </a:lnSpc>
              <a:spcAft>
                <a:spcPts val="500"/>
              </a:spcAft>
              <a:buSzPct val="100000"/>
              <a:buChar char="▪"/>
            </a:pPr>
            <a:r>
              <a:rPr lang="en-US" sz="1150" dirty="0">
                <a:solidFill>
                  <a:srgbClr val="0E1426"/>
                </a:solidFill>
                <a:latin typeface="Calibri" pitchFamily="34" charset="0"/>
                <a:ea typeface="Calibri" pitchFamily="34" charset="-122"/>
                <a:cs typeface="Calibri" pitchFamily="34" charset="-120"/>
              </a:rPr>
              <a:t>kütleler 20 u ve 22 u</a:t>
            </a:r>
            <a:endParaRPr lang="en-US" sz="1150" dirty="0"/>
          </a:p>
          <a:p>
            <a:pPr marL="203200" indent="-203200">
              <a:lnSpc>
                <a:spcPct val="110000"/>
              </a:lnSpc>
              <a:spcAft>
                <a:spcPts val="500"/>
              </a:spcAft>
              <a:buSzPct val="100000"/>
              <a:buChar char="▪"/>
            </a:pPr>
            <a:r>
              <a:rPr lang="en-US" sz="1150" dirty="0">
                <a:solidFill>
                  <a:srgbClr val="0E1426"/>
                </a:solidFill>
                <a:latin typeface="Calibri" pitchFamily="34" charset="0"/>
                <a:ea typeface="Calibri" pitchFamily="34" charset="-122"/>
                <a:cs typeface="Calibri" pitchFamily="34" charset="-120"/>
              </a:rPr>
              <a:t>1 u = 1,66·10⁻²⁷ kg</a:t>
            </a:r>
            <a:endParaRPr lang="en-US" sz="1150" dirty="0"/>
          </a:p>
          <a:p>
            <a:pPr marL="203200" indent="-203200">
              <a:lnSpc>
                <a:spcPct val="110000"/>
              </a:lnSpc>
              <a:spcAft>
                <a:spcPts val="500"/>
              </a:spcAft>
              <a:buSzPct val="100000"/>
              <a:buChar char="▪"/>
            </a:pPr>
            <a:r>
              <a:rPr lang="en-US" sz="1150" dirty="0">
                <a:solidFill>
                  <a:srgbClr val="0E1426"/>
                </a:solidFill>
                <a:latin typeface="Calibri" pitchFamily="34" charset="0"/>
                <a:ea typeface="Calibri" pitchFamily="34" charset="-122"/>
                <a:cs typeface="Calibri" pitchFamily="34" charset="-120"/>
              </a:rPr>
              <a:t>iyonlar alana dik girip yarım çember çiziyor</a:t>
            </a:r>
            <a:endParaRPr lang="en-US" sz="1150" dirty="0"/>
          </a:p>
        </p:txBody>
      </p:sp>
      <p:sp>
        <p:nvSpPr>
          <p:cNvPr id="15" name="Shape 13"/>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136136"/>
            <a:ext cx="54864" cy="1844040"/>
          </a:xfrm>
          <a:prstGeom prst="rect">
            <a:avLst/>
          </a:prstGeom>
          <a:solidFill>
            <a:srgbClr val="5F4BD8"/>
          </a:solidFill>
          <a:ln/>
        </p:spPr>
      </p:sp>
      <p:sp>
        <p:nvSpPr>
          <p:cNvPr id="17" name="Text 15"/>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levhadaki iki iz arasındaki uzaklık</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119</a:t>
            </a:r>
            <a:endParaRPr lang="en-US" sz="10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Kütle spektrometresinde izotoplar</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Yarıçap r = m·v/(q·B); hız, yük ve alan ikisi için de aynıdır, yalnızca kütle farklıdır.</a:t>
            </a:r>
            <a:endParaRPr lang="en-US" sz="2000" dirty="0"/>
          </a:p>
        </p:txBody>
      </p:sp>
      <p:sp>
        <p:nvSpPr>
          <p:cNvPr id="12" name="Shape 10"/>
          <p:cNvSpPr/>
          <p:nvPr/>
        </p:nvSpPr>
        <p:spPr>
          <a:xfrm>
            <a:off x="640080" y="342961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28846"/>
            <a:ext cx="420624" cy="420624"/>
          </a:xfrm>
          <a:prstGeom prst="roundRect">
            <a:avLst>
              <a:gd name="adj" fmla="val 26000"/>
            </a:avLst>
          </a:prstGeom>
          <a:solidFill>
            <a:srgbClr val="A56209"/>
          </a:solidFill>
          <a:ln/>
        </p:spPr>
      </p:sp>
      <p:sp>
        <p:nvSpPr>
          <p:cNvPr id="14" name="Text 12"/>
          <p:cNvSpPr txBox="1"/>
          <p:nvPr/>
        </p:nvSpPr>
        <p:spPr>
          <a:xfrm>
            <a:off x="914400" y="40288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8447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r₂₀ = (20 · 1,66·10⁻²⁷ · 10⁵) / (1,6·10⁻¹⁹ · 0,5) = 3,32·10⁻²¹ / 8·10⁻²⁰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4,15 cm</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120</a:t>
            </a:r>
            <a:endParaRPr lang="en-US" sz="10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Kütle spektrometresinde izotoplar</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r₂₂ = r₂₀ · 22/20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4,565 cm</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Yarım çemberden sonra iyon giriş noktasından 2r uzağa düşer. İzler arası: 2 · (4,565 − 4,15)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0,83 cm</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5175504"/>
            <a:ext cx="10911535" cy="969264"/>
          </a:xfrm>
          <a:prstGeom prst="roundRect">
            <a:avLst>
              <a:gd name="adj" fmla="val 1509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Text 15"/>
          <p:cNvSpPr txBox="1"/>
          <p:nvPr/>
        </p:nvSpPr>
        <p:spPr>
          <a:xfrm>
            <a:off x="960120" y="5303520"/>
            <a:ext cx="1828800" cy="219456"/>
          </a:xfrm>
          <a:prstGeom prst="rect">
            <a:avLst/>
          </a:prstGeom>
          <a:noFill/>
          <a:ln/>
        </p:spPr>
        <p:txBody>
          <a:bodyPr wrap="square" lIns="0" tIns="0" rIns="0" bIns="0" rtlCol="0" anchor="ctr"/>
          <a:lstStyle/>
          <a:p>
            <a:pPr indent="0" marL="0">
              <a:buNone/>
            </a:pPr>
            <a:r>
              <a:rPr lang="en-US" sz="1000" b="1" spc="200" kern="0" dirty="0">
                <a:solidFill>
                  <a:srgbClr val="7B849E"/>
                </a:solidFill>
                <a:latin typeface="Calibri" pitchFamily="34" charset="0"/>
                <a:ea typeface="Calibri" pitchFamily="34" charset="-122"/>
                <a:cs typeface="Calibri" pitchFamily="34" charset="-120"/>
              </a:rPr>
              <a:t>NOT</a:t>
            </a:r>
            <a:endParaRPr lang="en-US" sz="1000" dirty="0"/>
          </a:p>
        </p:txBody>
      </p:sp>
      <p:sp>
        <p:nvSpPr>
          <p:cNvPr id="18" name="Text 16"/>
          <p:cNvSpPr txBox="1"/>
          <p:nvPr/>
        </p:nvSpPr>
        <p:spPr>
          <a:xfrm>
            <a:off x="960120" y="5541264"/>
            <a:ext cx="10271455" cy="512064"/>
          </a:xfrm>
          <a:prstGeom prst="rect">
            <a:avLst/>
          </a:prstGeom>
          <a:noFill/>
          <a:ln/>
        </p:spPr>
        <p:txBody>
          <a:bodyPr wrap="square" lIns="0" tIns="0" rIns="0" bIns="0" rtlCol="0" anchor="t"/>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Kütledeki %10'luk fark yarıçapta da %10'luk fark yaratır. Neonun iki farklı kütlede atomu olduğu 20. yüzyılın başında bu tür sapma deneyleriyle anlaşıldı.</a:t>
            </a:r>
            <a:endParaRPr lang="en-US" sz="15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121</a:t>
            </a:r>
            <a:endParaRPr lang="en-US" sz="10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1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5 A akım taşıyan düz ve uzun bir telden 2 cm uzaktaki manyetik alan kaç µT'dır?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(μ₀/2π = 2·10⁻⁷ T·m/A, sin30° = 0,5; yüklü parçacıklarda yerçekimini ihmal et.)</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122</a:t>
            </a:r>
            <a:endParaRPr lang="en-US" sz="10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5 A akım taşıyan düz ve uzun bir telden 2 cm uzaktaki manyetik alan kaç µT'dır?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Uzaklığı metreye çevir: r = 0,02 m. B = 2·10⁻⁷ · I / r = 2·10⁻⁷ · 5 / 0,02 = 5·10⁻⁵ T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50 µT</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Bu, Dünya'nın manyetik alanı kadardır.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123</a:t>
            </a:r>
            <a:endParaRPr lang="en-US" sz="10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2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0,2 T'lık düzgün alana dik duran 50 cm'lik telden 4 A akım geçiyor. Tele etki eden kuvvet kaç N'dur?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(μ₀/2π = 2·10⁻⁷ T·m/A, sin30° = 0,5; yüklü parçacıklarda yerçekimini ihmal et.)</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124</a:t>
            </a:r>
            <a:endParaRPr lang="en-US" sz="10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0,2 T'lık düzgün alana dik duran 50 cm'lik telden 4 A akım geçiyor. Tele etki eden kuvvet kaç N'dur?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L = 0,5 m. Tel alana dik olduğu için sinα = 1: F = B · I · L = 0,2 · 4 · 0,5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0,4 N</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125</a:t>
            </a:r>
            <a:endParaRPr lang="en-US" sz="10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3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Bir proton (q = 1,6·10⁻¹⁹ C) 10⁶ m/s hızla 0,5 T'lık alana, alanla 30° açı yapacak biçimde giriyor. Protona etki eden kuvvet kaç N'dur?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(μ₀/2π = 2·10⁻⁷ T·m/A, sin30° = 0,5; yüklü parçacıklarda yerçekimini ihmal et.)</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126</a:t>
            </a:r>
            <a:endParaRPr lang="en-US" sz="10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Bir proton (q = 1,6·10⁻¹⁹ C) 10⁶ m/s hızla 0,5 T'lık alana, alanla 30° açı yapacak biçimde giriyor. Protona etki eden kuvvet kaç N'dur?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F = q · v · B · sinα = 1,6·10⁻¹⁹ · 10⁶ · 0,5 · 0,5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4·10⁻¹⁴ N</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Önce sayıları çarp (1,6 · 0,5 · 0,5 = 0,4), sonra 10'un kuvvetlerini birleştir (10⁻¹⁹ · 10⁶ = 10⁻¹³): 0,4·10⁻¹³ = 4·10⁻¹⁴ N.</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127</a:t>
            </a:r>
            <a:endParaRPr lang="en-US" sz="10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4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Uzun bir telden 10 cm uzaktaki alan 60 µT'dır. Telden kaç A akım geçer? Aynı telden 30 cm uzaktaki alan kaç µT olur?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(μ₀/2π = 2·10⁻⁷ T·m/A, sin30° = 0,5; yüklü parçacıklarda yerçekimini ihmal et.)</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128</a:t>
            </a:r>
            <a:endParaRPr lang="en-US" sz="10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Uzun bir telden 10 cm uzaktaki alan 60 µT'dır. Telden kaç A akım geçer? Aynı telden 30 cm uzaktaki alan kaç µT olur?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I = B · r / (2·10⁻⁷) = 6·10⁻⁵ · 0,1 / (2·10⁻⁷)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30 A</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Uzaklık 3 katına çıkınca alan 3'te birine iner: 60 / 3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20 µT</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129</a:t>
            </a:r>
            <a:endParaRPr lang="en-US" sz="10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5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FBE9EE"/>
          </a:solidFill>
          <a:ln w="9525">
            <a:solidFill>
              <a:srgbClr val="C53455"/>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Kütlesi 8·10⁻²⁷ kg, yükü 3,2·10⁻¹⁹ C olan bir iyon 0,5 T'lık alana 4·10⁵ m/s hızla dik giriyor. Yörünge yarıçapı kaç cm'dir? Hız iki katına çıkarsa yarıçap ve periyot ne olur?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(μ₀/2π = 2·10⁻⁷ T·m/A, sin30° = 0,5; yüklü parçacıklarda yerçekimini ihmal et.)</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130</a:t>
            </a:r>
            <a:endParaRPr lang="en-US" sz="10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Kütlesi 8·10⁻²⁷ kg, yükü 3,2·10⁻¹⁹ C olan bir iyon 0,5 T'lık alana 4·10⁵ m/s hızla dik giriyor. Yörünge yarıçapı kaç cm'dir? Hız iki katına çıkarsa yarıçap ve periyot ne olur?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r = m · v / (q · B) = 8·10⁻²⁷ · 4·10⁵ / (3,2·10⁻¹⁹ · 0,5) = 3,2·10⁻²¹ / 1,6·10⁻¹⁹ = 0,02 m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2 cm</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Hız iki katına çıkarsa yarıçap da iki katına çıkar: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4 cm</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Periyot T = 2π·m / (q·B) hıza bağlı olmadığı için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değişmez</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131</a:t>
            </a:r>
            <a:endParaRPr lang="en-US" sz="10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“Manyetik kuvvet hız yönündedir.”</a:t>
            </a:r>
            <a:endParaRPr lang="en-US" sz="1900" dirty="0"/>
          </a:p>
        </p:txBody>
      </p:sp>
      <p:sp>
        <p:nvSpPr>
          <p:cNvPr id="11" name="Shape 9"/>
          <p:cNvSpPr/>
          <p:nvPr/>
        </p:nvSpPr>
        <p:spPr>
          <a:xfrm>
            <a:off x="841248" y="2271522"/>
            <a:ext cx="310896" cy="310896"/>
          </a:xfrm>
          <a:prstGeom prst="roundRect">
            <a:avLst>
              <a:gd name="adj" fmla="val 26471"/>
            </a:avLst>
          </a:prstGeom>
          <a:solidFill>
            <a:srgbClr val="EAF7DC"/>
          </a:solidFill>
          <a:ln/>
        </p:spPr>
      </p:sp>
      <p:sp>
        <p:nvSpPr>
          <p:cNvPr id="12" name="Text 10"/>
          <p:cNvSpPr txBox="1"/>
          <p:nvPr/>
        </p:nvSpPr>
        <p:spPr>
          <a:xfrm>
            <a:off x="841248" y="227152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253234"/>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Kuvvet hıza </a:t>
            </a:r>
            <a:pPr indent="0" marL="0">
              <a:lnSpc>
                <a:spcPct val="108000"/>
              </a:lnSpc>
              <a:buNone/>
            </a:pPr>
            <a:r>
              <a:rPr lang="en-US" sz="1700" i="1" dirty="0">
                <a:solidFill>
                  <a:srgbClr val="4A5470"/>
                </a:solidFill>
                <a:latin typeface="Calibri" pitchFamily="34" charset="0"/>
                <a:ea typeface="Calibri" pitchFamily="34" charset="-122"/>
                <a:cs typeface="Calibri" pitchFamily="34" charset="-120"/>
              </a:rPr>
              <a:t>diktir</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bu yüzden sürati değil, yönü değiştirir.</a:t>
            </a:r>
            <a:endParaRPr lang="en-US" sz="17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“Kuvvet alan çizgileri boyuncadır.”</a:t>
            </a:r>
            <a:endParaRPr lang="en-US" sz="1900" dirty="0"/>
          </a:p>
        </p:txBody>
      </p:sp>
      <p:sp>
        <p:nvSpPr>
          <p:cNvPr id="18" name="Shape 16"/>
          <p:cNvSpPr/>
          <p:nvPr/>
        </p:nvSpPr>
        <p:spPr>
          <a:xfrm>
            <a:off x="6406744" y="2271522"/>
            <a:ext cx="310896" cy="310896"/>
          </a:xfrm>
          <a:prstGeom prst="roundRect">
            <a:avLst>
              <a:gd name="adj" fmla="val 26471"/>
            </a:avLst>
          </a:prstGeom>
          <a:solidFill>
            <a:srgbClr val="EAF7DC"/>
          </a:solidFill>
          <a:ln/>
        </p:spPr>
      </p:sp>
      <p:sp>
        <p:nvSpPr>
          <p:cNvPr id="19" name="Text 17"/>
          <p:cNvSpPr txBox="1"/>
          <p:nvPr/>
        </p:nvSpPr>
        <p:spPr>
          <a:xfrm>
            <a:off x="6406744" y="227152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253234"/>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Elektrikteki F = q·E alışkanlığı burada işe yaramaz: manyetik kuvvet alan çizgilerine de </a:t>
            </a:r>
            <a:pPr indent="0" marL="0">
              <a:lnSpc>
                <a:spcPct val="108000"/>
              </a:lnSpc>
              <a:buNone/>
            </a:pPr>
            <a:r>
              <a:rPr lang="en-US" sz="1700" i="1" dirty="0">
                <a:solidFill>
                  <a:srgbClr val="4A5470"/>
                </a:solidFill>
                <a:latin typeface="Calibri" pitchFamily="34" charset="0"/>
                <a:ea typeface="Calibri" pitchFamily="34" charset="-122"/>
                <a:cs typeface="Calibri" pitchFamily="34" charset="-120"/>
              </a:rPr>
              <a:t>diktir</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a:t>
            </a:r>
            <a:endParaRPr lang="en-US" sz="17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“Duran yüke de manyetik kuvvet etki eder.”</a:t>
            </a:r>
            <a:endParaRPr lang="en-US" sz="1900" dirty="0"/>
          </a:p>
        </p:txBody>
      </p:sp>
      <p:sp>
        <p:nvSpPr>
          <p:cNvPr id="25" name="Shape 23"/>
          <p:cNvSpPr/>
          <p:nvPr/>
        </p:nvSpPr>
        <p:spPr>
          <a:xfrm>
            <a:off x="841248" y="4945380"/>
            <a:ext cx="310896" cy="310896"/>
          </a:xfrm>
          <a:prstGeom prst="roundRect">
            <a:avLst>
              <a:gd name="adj" fmla="val 26471"/>
            </a:avLst>
          </a:prstGeom>
          <a:solidFill>
            <a:srgbClr val="EAF7DC"/>
          </a:solidFill>
          <a:ln/>
        </p:spPr>
      </p:sp>
      <p:sp>
        <p:nvSpPr>
          <p:cNvPr id="26" name="Text 24"/>
          <p:cNvSpPr txBox="1"/>
          <p:nvPr/>
        </p:nvSpPr>
        <p:spPr>
          <a:xfrm>
            <a:off x="841248"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F = qvB·sinα; v = 0 ise F = 0.</a:t>
            </a:r>
            <a:endParaRPr lang="en-US" sz="17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“Manyetik kuvvet iş yapar.”</a:t>
            </a:r>
            <a:endParaRPr lang="en-US" sz="1900" dirty="0"/>
          </a:p>
        </p:txBody>
      </p:sp>
      <p:sp>
        <p:nvSpPr>
          <p:cNvPr id="32" name="Shape 30"/>
          <p:cNvSpPr/>
          <p:nvPr/>
        </p:nvSpPr>
        <p:spPr>
          <a:xfrm>
            <a:off x="6406744" y="4612386"/>
            <a:ext cx="310896" cy="310896"/>
          </a:xfrm>
          <a:prstGeom prst="roundRect">
            <a:avLst>
              <a:gd name="adj" fmla="val 26471"/>
            </a:avLst>
          </a:prstGeom>
          <a:solidFill>
            <a:srgbClr val="EAF7DC"/>
          </a:solidFill>
          <a:ln/>
        </p:spPr>
      </p:sp>
      <p:sp>
        <p:nvSpPr>
          <p:cNvPr id="33" name="Text 31"/>
          <p:cNvSpPr txBox="1"/>
          <p:nvPr/>
        </p:nvSpPr>
        <p:spPr>
          <a:xfrm>
            <a:off x="6406744" y="461238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594098"/>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Kuvvet yer değiştirmeye dik olduğu için yaptığı iş sıfırdır; kinetik enerji değişmez.</a:t>
            </a:r>
            <a:endParaRPr lang="en-US" sz="17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132</a:t>
            </a:r>
            <a:endParaRPr lang="en-US" sz="10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Telin alanını 1/r² sanmak.</a:t>
            </a:r>
            <a:endParaRPr lang="en-US" sz="1900" dirty="0"/>
          </a:p>
        </p:txBody>
      </p:sp>
      <p:sp>
        <p:nvSpPr>
          <p:cNvPr id="11" name="Shape 9"/>
          <p:cNvSpPr/>
          <p:nvPr/>
        </p:nvSpPr>
        <p:spPr>
          <a:xfrm>
            <a:off x="841248" y="2271522"/>
            <a:ext cx="310896" cy="310896"/>
          </a:xfrm>
          <a:prstGeom prst="roundRect">
            <a:avLst>
              <a:gd name="adj" fmla="val 26471"/>
            </a:avLst>
          </a:prstGeom>
          <a:solidFill>
            <a:srgbClr val="EAF7DC"/>
          </a:solidFill>
          <a:ln/>
        </p:spPr>
      </p:sp>
      <p:sp>
        <p:nvSpPr>
          <p:cNvPr id="12" name="Text 10"/>
          <p:cNvSpPr txBox="1"/>
          <p:nvPr/>
        </p:nvSpPr>
        <p:spPr>
          <a:xfrm>
            <a:off x="841248" y="227152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253234"/>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Düz telde alan </a:t>
            </a:r>
            <a:pPr indent="0" marL="0">
              <a:lnSpc>
                <a:spcPct val="108000"/>
              </a:lnSpc>
              <a:buNone/>
            </a:pPr>
            <a:r>
              <a:rPr lang="en-US" sz="1700" i="1" dirty="0">
                <a:solidFill>
                  <a:srgbClr val="4A5470"/>
                </a:solidFill>
                <a:latin typeface="Calibri" pitchFamily="34" charset="0"/>
                <a:ea typeface="Calibri" pitchFamily="34" charset="-122"/>
                <a:cs typeface="Calibri" pitchFamily="34" charset="-120"/>
              </a:rPr>
              <a:t>1/r</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ile azalır.</a:t>
            </a:r>
            <a:endParaRPr lang="en-US" sz="17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Negatif yükte yönü ters çevirmeyi unutmak.</a:t>
            </a:r>
            <a:endParaRPr lang="en-US" sz="1900" dirty="0"/>
          </a:p>
        </p:txBody>
      </p:sp>
      <p:sp>
        <p:nvSpPr>
          <p:cNvPr id="18" name="Shape 16"/>
          <p:cNvSpPr/>
          <p:nvPr/>
        </p:nvSpPr>
        <p:spPr>
          <a:xfrm>
            <a:off x="6406744" y="2604516"/>
            <a:ext cx="310896" cy="310896"/>
          </a:xfrm>
          <a:prstGeom prst="roundRect">
            <a:avLst>
              <a:gd name="adj" fmla="val 26471"/>
            </a:avLst>
          </a:prstGeom>
          <a:solidFill>
            <a:srgbClr val="EAF7DC"/>
          </a:solidFill>
          <a:ln/>
        </p:spPr>
      </p:sp>
      <p:sp>
        <p:nvSpPr>
          <p:cNvPr id="19" name="Text 17"/>
          <p:cNvSpPr txBox="1"/>
          <p:nvPr/>
        </p:nvSpPr>
        <p:spPr>
          <a:xfrm>
            <a:off x="6406744" y="260451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586228"/>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Sağ el kuralı pozitif yük içindir; elektronda sonucu ters çevir.</a:t>
            </a:r>
            <a:endParaRPr lang="en-US" sz="17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“Periyot hıza bağlıdır.”</a:t>
            </a:r>
            <a:endParaRPr lang="en-US" sz="1900" dirty="0"/>
          </a:p>
        </p:txBody>
      </p:sp>
      <p:sp>
        <p:nvSpPr>
          <p:cNvPr id="25" name="Shape 23"/>
          <p:cNvSpPr/>
          <p:nvPr/>
        </p:nvSpPr>
        <p:spPr>
          <a:xfrm>
            <a:off x="841248" y="4612386"/>
            <a:ext cx="310896" cy="310896"/>
          </a:xfrm>
          <a:prstGeom prst="roundRect">
            <a:avLst>
              <a:gd name="adj" fmla="val 26471"/>
            </a:avLst>
          </a:prstGeom>
          <a:solidFill>
            <a:srgbClr val="EAF7DC"/>
          </a:solidFill>
          <a:ln/>
        </p:spPr>
      </p:sp>
      <p:sp>
        <p:nvSpPr>
          <p:cNvPr id="26" name="Text 24"/>
          <p:cNvSpPr txBox="1"/>
          <p:nvPr/>
        </p:nvSpPr>
        <p:spPr>
          <a:xfrm>
            <a:off x="841248" y="461238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594098"/>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T = 2πm/(qB); hız yalnızca yarıçapı değiştirir.</a:t>
            </a:r>
            <a:endParaRPr lang="en-US" sz="17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Açıyı yanlış almak.</a:t>
            </a:r>
            <a:endParaRPr lang="en-US" sz="1900" dirty="0"/>
          </a:p>
        </p:txBody>
      </p:sp>
      <p:sp>
        <p:nvSpPr>
          <p:cNvPr id="32" name="Shape 30"/>
          <p:cNvSpPr/>
          <p:nvPr/>
        </p:nvSpPr>
        <p:spPr>
          <a:xfrm>
            <a:off x="6406744" y="4612386"/>
            <a:ext cx="310896" cy="310896"/>
          </a:xfrm>
          <a:prstGeom prst="roundRect">
            <a:avLst>
              <a:gd name="adj" fmla="val 26471"/>
            </a:avLst>
          </a:prstGeom>
          <a:solidFill>
            <a:srgbClr val="EAF7DC"/>
          </a:solidFill>
          <a:ln/>
        </p:spPr>
      </p:sp>
      <p:sp>
        <p:nvSpPr>
          <p:cNvPr id="33" name="Text 31"/>
          <p:cNvSpPr txBox="1"/>
          <p:nvPr/>
        </p:nvSpPr>
        <p:spPr>
          <a:xfrm>
            <a:off x="6406744" y="461238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594098"/>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α, akım (ya da hız) ile </a:t>
            </a:r>
            <a:pPr indent="0" marL="0">
              <a:lnSpc>
                <a:spcPct val="108000"/>
              </a:lnSpc>
              <a:buNone/>
            </a:pPr>
            <a:r>
              <a:rPr lang="en-US" sz="1700" i="1" dirty="0">
                <a:solidFill>
                  <a:srgbClr val="4A5470"/>
                </a:solidFill>
                <a:latin typeface="Calibri" pitchFamily="34" charset="0"/>
                <a:ea typeface="Calibri" pitchFamily="34" charset="-122"/>
                <a:cs typeface="Calibri" pitchFamily="34" charset="-120"/>
              </a:rPr>
              <a:t>alan</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arasındaki açıdır; telin yatayla yaptığı açı değil.</a:t>
            </a:r>
            <a:endParaRPr lang="en-US" sz="17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dersler.perinet.org/manyetik-alan.html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133</a:t>
            </a:r>
            <a:endParaRPr lang="en-US" sz="10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Telin alanı </a:t>
            </a:r>
            <a:pPr indent="0" marL="0">
              <a:buNone/>
            </a:pPr>
            <a:r>
              <a:rPr lang="en-US" sz="1500" b="1" dirty="0">
                <a:solidFill>
                  <a:srgbClr val="FFFFFF"/>
                </a:solidFill>
                <a:latin typeface="Calibri" pitchFamily="34" charset="0"/>
                <a:ea typeface="Calibri" pitchFamily="34" charset="-122"/>
                <a:cs typeface="Calibri" pitchFamily="34" charset="-120"/>
              </a:rPr>
              <a:t>1/r ile</a:t>
            </a:r>
            <a:pPr indent="0" marL="0">
              <a:buNone/>
            </a:pPr>
            <a:r>
              <a:rPr lang="en-US" sz="1500" dirty="0">
                <a:solidFill>
                  <a:srgbClr val="C3CEE8"/>
                </a:solidFill>
                <a:latin typeface="Calibri" pitchFamily="34" charset="0"/>
                <a:ea typeface="Calibri" pitchFamily="34" charset="-122"/>
                <a:cs typeface="Calibri" pitchFamily="34" charset="-120"/>
              </a:rPr>
              <a:t> azalır</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Tele kuvvet </a:t>
            </a:r>
            <a:pPr indent="0" marL="0">
              <a:buNone/>
            </a:pPr>
            <a:r>
              <a:rPr lang="en-US" sz="1500" b="1" dirty="0">
                <a:solidFill>
                  <a:srgbClr val="FFFFFF"/>
                </a:solidFill>
                <a:latin typeface="Calibri" pitchFamily="34" charset="0"/>
                <a:ea typeface="Calibri" pitchFamily="34" charset="-122"/>
                <a:cs typeface="Calibri" pitchFamily="34" charset="-120"/>
              </a:rPr>
              <a:t>B·I·L·sinα</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Yüke kuvvet </a:t>
            </a:r>
            <a:pPr indent="0" marL="0">
              <a:buNone/>
            </a:pPr>
            <a:r>
              <a:rPr lang="en-US" sz="1500" b="1" dirty="0">
                <a:solidFill>
                  <a:srgbClr val="FFFFFF"/>
                </a:solidFill>
                <a:latin typeface="Calibri" pitchFamily="34" charset="0"/>
                <a:ea typeface="Calibri" pitchFamily="34" charset="-122"/>
                <a:cs typeface="Calibri" pitchFamily="34" charset="-120"/>
              </a:rPr>
              <a:t>q·v·B·sinα</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Yörünge </a:t>
            </a:r>
            <a:pPr indent="0" marL="0">
              <a:buNone/>
            </a:pPr>
            <a:r>
              <a:rPr lang="en-US" sz="1500" b="1" dirty="0">
                <a:solidFill>
                  <a:srgbClr val="FFFFFF"/>
                </a:solidFill>
                <a:latin typeface="Calibri" pitchFamily="34" charset="0"/>
                <a:ea typeface="Calibri" pitchFamily="34" charset="-122"/>
                <a:cs typeface="Calibri" pitchFamily="34" charset="-120"/>
              </a:rPr>
              <a:t>çember</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2061972"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B = μ₀·I / (2π·r)</a:t>
            </a:r>
            <a:endParaRPr lang="en-US" sz="1350" dirty="0"/>
          </a:p>
        </p:txBody>
      </p:sp>
      <p:sp>
        <p:nvSpPr>
          <p:cNvPr id="16" name="Text 14"/>
          <p:cNvSpPr txBox="1"/>
          <p:nvPr/>
        </p:nvSpPr>
        <p:spPr>
          <a:xfrm>
            <a:off x="8782812" y="2395728"/>
            <a:ext cx="2585923"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düz telin alanı</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1746504"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F = B·I·L·sinα</a:t>
            </a:r>
            <a:endParaRPr lang="en-US" sz="1350" dirty="0"/>
          </a:p>
        </p:txBody>
      </p:sp>
      <p:sp>
        <p:nvSpPr>
          <p:cNvPr id="19" name="Text 17"/>
          <p:cNvSpPr txBox="1"/>
          <p:nvPr/>
        </p:nvSpPr>
        <p:spPr>
          <a:xfrm>
            <a:off x="8467344" y="3218688"/>
            <a:ext cx="2901391"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akım taşıyan tele</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1746504"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F = q·v·B·sinα</a:t>
            </a:r>
            <a:endParaRPr lang="en-US" sz="1350" dirty="0"/>
          </a:p>
        </p:txBody>
      </p:sp>
      <p:sp>
        <p:nvSpPr>
          <p:cNvPr id="22" name="Text 20"/>
          <p:cNvSpPr txBox="1"/>
          <p:nvPr/>
        </p:nvSpPr>
        <p:spPr>
          <a:xfrm>
            <a:off x="8467344" y="4041648"/>
            <a:ext cx="2901391"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hareketli yüke</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185166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r = m·v / (q·B)</a:t>
            </a:r>
            <a:endParaRPr lang="en-US" sz="1350" dirty="0"/>
          </a:p>
        </p:txBody>
      </p:sp>
      <p:sp>
        <p:nvSpPr>
          <p:cNvPr id="25" name="Text 23"/>
          <p:cNvSpPr txBox="1"/>
          <p:nvPr/>
        </p:nvSpPr>
        <p:spPr>
          <a:xfrm>
            <a:off x="8572500" y="4864608"/>
            <a:ext cx="279623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dairesel yörüngenin yarıçapı</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dersler.perinet.org/manyetik-alan.html</a:t>
            </a:r>
            <a:endParaRPr lang="en-US" sz="1300" dirty="0"/>
          </a:p>
        </p:txBody>
      </p:sp>
      <p:sp>
        <p:nvSpPr>
          <p:cNvPr id="28" name="Text 26"/>
          <p:cNvSpPr txBox="1"/>
          <p:nvPr/>
        </p:nvSpPr>
        <p:spPr>
          <a:xfrm>
            <a:off x="5852160" y="1078992"/>
            <a:ext cx="5699455" cy="457200"/>
          </a:xfrm>
          <a:prstGeom prst="rect">
            <a:avLst/>
          </a:prstGeom>
          <a:noFill/>
          <a:ln/>
        </p:spPr>
        <p:txBody>
          <a:bodyPr wrap="square" lIns="0" tIns="0" rIns="0" bIns="0" rtlCol="0" anchor="ctr"/>
          <a:lstStyle/>
          <a:p>
            <a:pPr algn="r" indent="0" marL="0">
              <a:buNone/>
            </a:pPr>
            <a:r>
              <a:rPr lang="en-US" sz="1000" b="1" spc="200" kern="0" dirty="0">
                <a:solidFill>
                  <a:srgbClr val="8D97B5"/>
                </a:solidFill>
                <a:latin typeface="Calibri" pitchFamily="34" charset="0"/>
                <a:ea typeface="Calibri" pitchFamily="34" charset="-122"/>
                <a:cs typeface="Calibri" pitchFamily="34" charset="-120"/>
              </a:rPr>
              <a:t>SIRADAKİ KONU  </a:t>
            </a:r>
            <a:pPr algn="r" indent="0" marL="0">
              <a:buNone/>
            </a:pPr>
            <a:r>
              <a:rPr lang="en-US" sz="1300" b="1" dirty="0">
                <a:solidFill>
                  <a:srgbClr val="FFFFFF"/>
                </a:solidFill>
                <a:latin typeface="Calibri" pitchFamily="34" charset="0"/>
                <a:ea typeface="Calibri" pitchFamily="34" charset="-122"/>
                <a:cs typeface="Calibri" pitchFamily="34" charset="-120"/>
              </a:rPr>
              <a:t>03 · İndüksiyon akımı</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134</Slides>
  <Notes>134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134</vt:i4>
      </vt:variant>
    </vt:vector>
  </HeadingPairs>
  <TitlesOfParts>
    <vt:vector size="1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Manyetik alan ve manyetik kuvvet — Dersler</dc:title>
  <dc:subject>Fizik · Elektrik ve Manyetizma</dc:subject>
  <dc:creator>Dersler</dc:creator>
  <cp:lastModifiedBy>Dersler</cp:lastModifiedBy>
  <cp:revision>1</cp:revision>
  <dcterms:created xsi:type="dcterms:W3CDTF">2026-09-30T13:25:02Z</dcterms:created>
  <dcterms:modified xsi:type="dcterms:W3CDTF">2026-09-30T13:25:02Z</dcterms:modified>
</cp:coreProperties>
</file>