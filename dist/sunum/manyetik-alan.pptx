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Güneş'ten 150 milyon kilometre yol gelen yüklü parçacıklar neden ekvatorun değil de kutupların göğünü aydınlatır? Cevap, pusula iğnesini kuzeye çeviren, elektrik motorunu döndüren ve hoparlörü titreten şeyle aynı: manyetik alan. Üstelik manyetizmanın kaynağı mıknatıslar değil, hareket hâlindeki yüklerdir: bir telden akım geçirdiğin anda çevresinde bir manyetik alan doğar. Bu anlatım dört basamakta ilerliyor: önce alanı demir tozuyla görünür kılıp adını koyacağız ve yönleri sağ elinle bulmayı öğreneceğiz; sonra alanın nereden geldiğini ve içine giren bir akıma ya da yüke ne yaptığını bağıntılarıyla çıkaracağız; ardından paralel tellere, sarmal yörüngelere ve gerçek dünyadaki uygulamalara geçeceğiz. En sonda kolaydan zora sıralanmış örneklerle hepsini birlikte kullanacağız.
Kapak görseli: Kutup ışıkları, Dünya'nın manyetik alanının gökyüzüne çizdiği bir resimdir. Güneş'ten gelen yüklü parçacıklar alan çizgilerine sarılarak kutuplara yakın bölgelerde atmosfere dalar, oradaki atomlara çarpıp onları ışıldatır; yeşil ışığın büyük kısmı oksijenden gelir. Bu parçacıkların yolunu çizen kuvveti ikinci ve üçüncü basamakta adım adım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Güneş'ten 150 milyon kilometre yol gelen yüklü parçacıklar neden ekvatorun değil de kutupların göğünü aydınlatır? Cevap, pusula iğnesini kuzeye çeviren, elektrik motorunu döndüren ve hoparlörü titreten şeyle aynı: manyetik alan. Üstelik manyetizmanın kaynağı mıknatıslar değil, hareket hâlindeki yüklerdir: bir telden akım geçirdiğin anda çevresinde bir manyetik alan doğar. Bu anlatım dört basamakta ilerliyor: önce alanı demir tozuyla görünür kılıp adını koyacağız ve yönleri sağ elinle bulmayı öğreneceğiz; sonra alanın nereden geldiğini ve içine giren bir akıma ya da yüke ne yaptığını bağıntılarıyla çıkaracağız; ardından paralel tellere, sarmal yörüngelere ve gerçek dünyadaki uygulamalara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alanı demir tozuyla görünür kıl, kaynağını tanı ve yönleri sağ elinle bulmayı öğren. Bu basamakta hesap yok denecek kadar az.
   01 Önce gözlemle: demir tozu neyi gösterir?
   02 Manyetik alan nedir?
   03 Akım da mıknatıs gibidir: Oersted'in keşfi
   04 Yönleri bulmak: sağ el kuralı
2. Orta — Bağıntılar: telin alanını, tele ve yüke etki eden kuvveti ve çembersel yörüngeyi adım adım çıkar, sayılarla hisset.
   05 Akımın oluşturduğu alan: bağıntılar
   06 Sayılarla hisset: bir tel ne kadar güçlü bir mıknatıstır?
   07 Akım taşıyan tele etki eden kuvvet
   08 Hareketli yüke etki eden kuvvet
   09 Manyetik alanda dairesel hareket
3. İleri — Derinleşme: alanlar üst üste binince, yük alana eğik girince ve manyetizma teknolojiye dönüşünce ne olur?
   10 İki tel yan yana: alanların toplanması ve paralel teller
   11 Eğik giriş, sarmal yörünge ve siklotron
   12 Manyetizma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alanı demir tozuyla görünür kıl, kaynağını tanı ve yönleri sağ elinle bulmayı öğren. Bu basamakta hesap yok denecek kadar az.
01 Önce gözlemle: demir tozu neyi gösterir?
02 Manyetik alan nedir?
03 Akım da mıknatıs gibidir: Oersted'in keşfi
04 Yönleri bulmak: sağ el kuralı
Görsel: Kâğıdın altındaki mıknatıs görünmüyor, tozlar da ona değmiyor; yine de demir tozları onun etkisini haritalıyor. Her toz tanesi küçük bir pusula iğnesi gibi o noktadaki etkinin yönüne diziliyor; tozların iki uçta sıklaşması etkinin en güçlü orada olduğunu gösteriyor. Tozların çizdiği bu eğrilere bir sonraki bölümde manyetik alan çizgileri adını vereceğiz.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demir tozu neyi gösterir?
Kısaca: Mıknatısın çevresinde demir tozunu ve pusula iğnesini belli bir yöne çeviren bir etki bölgesi vardır. Tozların çizdiği eğriler kutuplarda sıklaşır, uzakta seyrelir ve birbirini kesmez.
Bir çubuk mıknatısın üstüne beyaz bir kâğıt koy, üzerine demir tozu serp ve kâğıda parmağınla hafifçe vur. Dağınık tozlar birkaç saniyede düzenli eğriler çizerek sıraya girer: mıknatısın bir ucundan çıkıp geniş yaylarla öbür ucuna dolanan çizgiler. Tozlar mıknatısa değmediği hâlde onun etkisini hisseder; demek ki mıknatısın çevresindeki uzay “boş” değildir.
Görsel: Kâğıdın altındaki mıknatıs görünmüyor, tozlar da ona değmiyor; yine de demir tozları onun etkisini haritalıyor. Her toz tanesi küçük bir pusula iğnesi gibi o noktadaki etkinin yönüne diziliyor; tozların iki uçta sıklaşması etkinin en güçlü orada olduğunu gösteriyor. Tozların çizdiği bu eğrilere bir sonraki bölümde manyetik alan çizgileri adını vereceğiz.
Kâğıdın üzerinde gerçek bir pusulayı gezdirirsen iğnesinin her yerde tozların çizdiği eğriye teğet durduğunu görürsün. İki mıknatısı yaklaştırınca da bir yönde çekiştiklerini, birini ters çevirince itiştiklerini hissedersin. Tozların görüntüsünden dört gözlem çıkar:
• Uçlarda yoğunlaşma: tozlar mıknatısın iki ucunda en sıktır; etki en güçlü orada. Bu uçlara kutup denir.
• Kapalı yaylar: çizgiler bir kutuptan çıkar, mıknatısın çevresinden dolanıp öbür kutba döner.
• Uzakta seyrelme: mıknatıstan uzaklaştıkça çizgiler aralanır, etki zayıflar.
• Kesişme yok: iki çizgi hiçbir yerde birbirini kesmez; her noktada tek bir yön vardır.
Düşün: Buzdolabı mıknatısı çelik kapıya yapışıyor da alüminyum tencereye neden yapışmıyor?
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Buzdolabı mıknatısı çelik kapıya yapışıyor da alüminyum tencereye neden yapışmıyor?
Sınıfa sorun, birkaç tahmin alın; sonra cevap slaytına geçin.
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Kısaca: Manyetik alan (B), mıknatısların ve akımların çevresinde hareketli yüklere kuvvet uygulayan vektörel bir etkidir; birimi tesladır. Alan çizgileri N'den çıkıp S'ye giren kapalı eğrilerdir ve tek kutup yoktur.
Mıknatısların ve akım taşıyan iletkenlerin çevresinde, başka mıknatıslara ve hareketli yüklere kuvvet uygulayan bir etki bölgesi oluşur: manyetik alan (B). Vektörel bir büyüklüktür, yani her noktada hem bir büyüklüğü hem bir yönü vardır. Birimi tesla (T)'dır. Demir tozlarının çizdiği eğrilere manyetik alan çizgileri denir; bir noktadaki alanın yönü, oraya konan pusula iğnesinin N ucunun gösterdiği yöndür.
• Alan çizgileri mıknatısın N kutbundan çıkar, S kutbunda son bulur; mıknatısın içinde S'ten N'e devam eder, yani kapalı eğrilerdir.
• Çizgiler asla kesişmez; sıklıkları alanın şiddetini gösterir.
• Tek kutup yoktur: bir mıknatıs ikiye bölünürse iki yeni mıknatıs oluşur.
• Aynı kutuplar iter, zıt kutuplar çeker: N ile N, S ile S birbirini iter; N ile S birbirini çeker.
Görsel: Manyetik alan çizgileri mıknatısın dışında N'den çıkıp S'ye girer ve içeride devreyi tamamlar — yani elektrik alanının aksine kapalı halkalardır. Bunun doğrudan sonucu şudur: bir mıknatısı ikiye bölersen tek bir kutup elde edemezsin, elinde iki tam mıknatıs kalır. Bugüne kadar hiç tek manyetik kutup gözlenmedi.
Dünya da bir mıknatıs
Pusula işe yarar, çünkü Dünya'nın kendisi dev bir mıknatıs gibi davranır; iğnenin kuzeyi gösteren ucuna N kutbu denir. Manyetik kutuplar coğrafi kutuplarla tam çakışmaz ve yıllar içinde yavaş yavaş yer değiştirir.
Ölçek duygusu: Dünya'nın manyetik alanı ≈ 50 µT, buzdolabı mıknatısı ≈ 5 mT, hoparlör mıknatısı ≈ 1 T, MR cihazı 1,5–3 T. Mikrotesla (µT) teslanın milyonda biri, militesla (mT) binde biridir; MR cihazının alanı Dünya'nınkinin 30 000 ile 60 000 katıdır.
Düşün: Pusulanın N ucu kuzeyi gösteriyorsa, coğrafi kuzey kutbunun yakınındaki manyetik kutup N mi, S mi?
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Pusulanın N ucu kuzeyi gösteriyorsa, coğrafi kuzey kutbunun yakınındaki manyetik kutup N mi, S mi?
Sınıfa sorun, birkaç tahmin alın; sonra cevap slaytına geçin.
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Kısaca: Akım taşıyan tel çevresinde manyetik alan oluşturur; düz telde alan çizgileri teli çevreleyen çemberlerdir. Teli bobin hâlinde sarınca alan güçlenir ve bobin bir mıknatıs gibi davranır.
1820'de Danimarkalı fizikçi Hans Christian Oersted, akım taşıyan bir telin yanındaki pusula iğnesinin saptığını gördü. Akımı kesince iğne yeniden kuzeye döndü; akımın yönünü çevirince ters yöne saptı. Bu basit gözlem, o güne kadar ayrı sanılan elektrik ile manyetizmanın aynı olayın iki yüzü olduğunu gösterdi: elektrik akımı manyetik alan oluşturur.
• Akım varken sapar: akım geçince iğne döner, akım kesilince kuzeye geri döner.
• Yön akıma bağlıdır: akımın yönü ters çevrilince iğne de ters yöne sapar.
• Etki akıma ve uzaklığa bağlıdır: akım büyüdükçe sapma artar, pusula telden uzaklaştıkça azalır.
• Çizgiler çemberdir: düz bir telin alan çizgileri teli çevreleyen iç içe çemberlerdir; bu çizgilerin ne başı ne sonu vardır, telin de kutbu yoktur.
Aynı teli bir halka biçiminde bükersen halkanın her parçasının alanı merkezde üst üste biner ve alan güçlenir. Teli yay gibi çok sayıda halka hâlinde sararsan bir bobin elde edersin; içinde alan güçlü ve hemen her yerde aynıdır, dışarıdan ise bobin bir çubuk mıknatıs gibi davranır: bir ucu N, öbür ucu S. İçine demir çekirdek konan bobine elektromıknatıs denir; hurda vinçleri ve elektrikli kilitler, alanı akımla birlikte açılıp kapanabildiği için bunu kullanır.
Peki çubuk mıknatısın alanı nereden geliyor? Onun içinde de yükler var: atomlardaki elektronlar. Her elektron minicik bir mıknatıs gibi davranır; demirde bu minik mıknatısların çoğu aynı yöne dizilince etkileri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Yönleri bulmak: sağ el kuralı
Kısaca: Telin alanında başparmak akımı, kıvrılan parmaklar alanı gösterir; kuvvette parmaklar hızdan alana dönerken başparmak kuvveti verir. Negatif yükte kuvvet ters döner; ⊗ içeri, ⊙ dışarı demektir.
Manyetizmada yönler üç boyutludur ve çoğu zaman sezgiye ters düşer; bu yüzden fizikçiler yön bulmak için ellerini kullanır. İki kural bilmen yeter, ikisi de sağ el ile uygulanır. Birincisi telin çevresindeki alanın yönünü, ikincisi alanın içinde hareket eden yüke ya da akıma etki eden manyetik kuvvetin yönünü verir. Bu kuvvetin şaşırtıcı yanı, yükü alan boyunca itip çekmemesi, ona yandan etki etmesidir: kuvvet hem hıza hem alana diktir. Büyüklüğünü ikinci basamakta hesaplayacağız.
• Telin alanı için: Sağ elin başparmağı akım yönünü gösterecek şekilde teli kavra; bükülen parmaklar alan çizgilerinin yönünü verir.
• Kuvvet için: Parmaklar hız (ya da akım) yönünden alan yönüne doğru döndürülürken başparmak kuvveti gösterir.
• Negatif yükte kuvvet, bulunan yönün tam tersidir.
Sayfa düzlemi gösterimi: ⊗ sayfaya doğru (içeri), ⊙ sayfadan dışarı anlamına gelir. Uzaklaşan okun tüyü (⊗) ve sana yaklaşan okun ucu (⊙) gibi düşünülebilir.
Görsel: Manyetik kuvvet hem akıma hem alana diktir — yani üç yön bir odanın köşesi gibi birbirine dik durur. Sağ elini aç, parmaklarını akım (ya da hız) yönüne çevir, sonra alan yönüne doğru kıvır: başparmağın kuvveti gösterir. Negatif yükte bulduğun yönün tam tersini alırsın. Sayfa düzleminde çarpı içeri, nokta dışarı demektir: uzaklaşan okun tüyü ve yaklaşan okun ucu.
Hemen dene: sayfaya doğru (⊗) akım taşıyan bir teli sağ elinle kavra. Başparmağın sayfanın içini gösterirken parmakların saat yönünde kıvrılır; sayfanın 01 numaralı deneyinde de akım sayfaya doğruyken pusula saat yönünde dizilir. Kuvvet kuralını 04 numaralı sağ el kuralı alıştırmasında istediğin kadar deneyebilirsin.
Düşün: Sayfadan dışarı (⊙) akım taşıyan bir telin alan çizgileri, sayfaya bakan birine göre hangi yönde döner?
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Sayfadan dışarı (⊙) akım taşıyan bir telin alan çizgileri, sayfaya bakan birine göre hangi yönde döner?
Sınıfa sorun, birkaç tahmin alın; sonra cevap slaytına geçin.
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telin alanını, tele ve yüke etki eden kuvveti ve çembersel yörüngeyi adım adım çıkar, sayılarla hisset.
05 Akımın oluşturduğu alan: bağıntılar
06 Sayılarla hisset: bir tel ne kadar güçlü bir mıknatıstır?
07 Akım taşıyan tele etki eden kuvvet
08 Hareketli yüke etki eden kuvvet
09 Manyetik alanda dairesel hareket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Kısaca: Düz telin alanı B = 2·10⁻⁷·I/r'dir: akımla doğru, uzaklıkla ters orantılı (1/r, 1/r² değil). Halkanın merkezinde B = μ₀I/(2r), bobinin içinde B = μ₀·n·I olur.
Oersted'in nitel gözlemini şimdi sayıya dökelim. Düz ve çok uzun bir telden I akımı geçiyorsa, telden r uzaklıktaki manyetik alanın büyüklüğü şudur:
B = μ₀·I / (2π·r)   μ₀ / 2π = 2·10⁻⁷ T·m/A   B = 2·10⁻⁷ · I / r
Bağıntı nereden geliyor?
• Akımla orantı: Akımı iki katına çıkarınca ölçülen alan da iki katına çıkar: B ∝ I.
• Simetri: Düz tel her yönden aynı görünür; bu yüzden telden aynı uzaklıktaki her noktada alan aynıdır ve çizgiler tel merkezli çemberlerdir.
• Çevreye yayılma: Akımın etkisi r yarıçaplı çemberin 2π·r uzunluğuna yayılır. Ampère yasası bunu B·2π·r = μ₀·I diye yazar; çevre r ile büyüdükçe alan küçülür.
• Sabit: Boşluğun manyetik geçirgenliği μ₀ = 4π·10⁻⁷ T·m/A'dir; 2π'ye bölünce 2·10⁻⁷ kalır.
Alan akımla doğru, uzaklıkla ters orantılıdır. Dikkat: burada 1/r vardır, elektrik alandaki gibi 1/r² değil. Nokta yükün etkisi bir küre yüzeyine (4π·r²), telin etkisi ise yalnızca bir çember çevresine (2π·r) yayılır.
Görsel: Düz bir telden akım geçtiğinde çevresinde tel merkezli çemberler hâlinde bir manyetik alan doğar. Alanın yönünü sağ el kuralı verir: başparmak akım yönünü gösterecek şekilde teli kavrarsan, parmakların alan çizgilerini izler. Büyüklüğü akımla doğru, uzaklıkla ters orantılıdır — ters kare değil, ters birinci kuvvet.
Kaynak | Alan bağıntısı | Özellik
Düz tel | B = μ₀I / (2πr) | çembersel çizgiler
Çembersel halka (merkezde) | B = μ₀I / (2r) | halkaya dik
Bobin / solenoid (içinde) | B = μ₀·n·I | düzgün alan
Bobin bağıntısındaki n, birim uzunluktaki sarım sayısıdır (n = N/ℓ). 20 cm'lik, 200 sarımlı bir bobinde n = 1000 sarım/m olur; 2 A akımla içindeki alan 4π·10⁻⁷ · 1000 · 2 ≈ 2,5 mT'dır, Dünya'nınkinin yaklaşık elli katı.
Birim kontrolü: (T·m/A) · A / m = T ✓. Bağıntıda r'yi santimetre olarak yazarsan sonuç yüz kat küçük çıkar; uzaklığı her zaman metreye çevir (5 cm = 0,05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bir tel ne kadar güçlü bir mıknatıstır?
Kısaca: Telin alanı I/r oranına bağlıdır: 1 A'lik bir tel 1 cm'de 20 µT, 1000 A'lik bir hat 20 m'de 10 µT üretir. Pusula ancak bu alan Dünya'nın 50 µT'lık alanıyla kıyaslanabilir olunca belirgin sapar.
Sayıları tanıdık bir ölçüyle, Dünya'nın yaklaşık 50 µT'lık alanıyla karşılaştıralım; pusula, telin alanı buna yaklaştığında belirgin sapar. Tabloda tel tek başına düşünülmüştür (B = 2·10⁻⁷·I/r):
Durum | Akım | Uzaklık | Alan
Pil devresindeki ince tel | 1 A | 1 cm | 20 µT
Sayfadaki 01 deneyi (başlangıç) | 10 A | 5 cm | 40 µT
Kalın bir akü kablosu | 100 A | 10 cm | 200 µT
Yüksek gerilim hattının bir iletkeni | 1000 A | 20 m | 10 µT
Yıldırım kanalı (tipik tepe akımı) | 30 000 A | 100 m | 60 µT
Tablodan okunan düzen şu: alan akımın kendisine değil, akımın uzaklığa oranına bağlıdır. Akım on katına, uzaklık da on katına çıkarsa alan değişmez; 1 A ile 1 cm ve 10 A ile 10 cm aynı 20 µT'yı verir. Bin amperlik bir hattın 20 m altındaki alan Dünya'nınkinin beşte biri kadarken yıldırımın on binlerce amperi 100 m öteden bile Dünya'nın alanını aşar; ama yalnızca çok kısa bir an için.
Deneyde dene: Sayfanın 01 numaralı bölümünde “Akım 2 katı” düğmesi alanı 40 µT'dan 80 µT'ya çıkarır, “Uzaklık 2 katı” ise 20 µT'ya indirir. “Tele çok yakın” düğmesi 4 A'i 2 cm'ye getirir ve yine 40 µT verir: oran aynı, alan aynı.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Kısaca: Alan içindeki akım taşıyan tele F = B·I·L·sinα kuvveti etki eder; α akımla alan arasındaki açıdır. Kuvvet akım alana dikken en büyük, paralelken sıfırdır ve 1 T = 1 N/(A·m)'dir.
Manyetik alan içindeki bir tel akım taşıyorsa, tele bir kuvvet etki eder:
F = B · I · L · sinα   1 T = 1 N / (A·m)
Burada α, akım yönü ile alan arasındaki açıdır. Kuvvet hem akıma hem alana diktir; yönünü sağ el kuralı verir. Bağıntının her parçası ayrı bir deneyle sınanabilir:
• Alan: Alan iki kat güçlüyse kuvvet de iki kat olur: F ∝ B.
• Akım: Akım iki katına çıkınca kuvvet iki katına çıkar: F ∝ I.
• Uzunluk: Alanın içinde kalan tel uzunluğu L iki katına çıkınca kuvvet de iki katına çıkar; her tel parçası kendi payını ekler.
• Açı: Telin alana dik izdüşümü L·sinα'dır; alana paralel kısım hiç kuvvet doğurmaz.
• α = 90° (akım alana dik): kuvvet en büyük, F = B·I·L
• α = 0° veya 180° (akım alana paralel): kuvvet sıfır
Bu bağıntı teslanın tanımını da verir: 1 T, alana dik duran, 1 m uzunluğunda ve 1 A akım taşıyan bir tele 1 N kuvvet uygulayan alandır. Sayfanın 02 numaralı deneyinde 0,5 m'lik tel 5 A akım taşırken 0,4 T'lık alanda 0,4 · 5 · 0,5 = 1 N kuvvet görür; açıyı 30°'ye indirirsen kuvvet yarıya, 0,5 N'a düşer.
Görsel: Alan içindeki bir tele etkiyen kuvvet, akıma ve alana dik çıkar; büyüklüğü aradaki açının sinüsüyle değişir. Tel alana dikken kuvvet en büyüktür (α = 90°, sinα = 1); alana paralelken kuvvet sıfırdır (α = 0 ya da 180°). Elektrik motorunun bütün sırrı bu tek bağıntıda saklıdır.
Elektrik motorlarının çalışma ilkesi budur: alan içindeki akım çerçevesine etki eden kuvvet çifti, çerçeveyi döndürür.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Kısaca: Alan içinde v hızıyla hareket eden q yüküne F = q·v·B·sinα kuvveti etki eder; bağıntı I·L = q·v eşitliğinden çıkar. Kuvvet hıza dik olduğu için iş yapmaz: sürat değişmez, yalnızca yön değişir.
Akım aslında hareketli yüklerden ibarettir; dolayısıyla tek bir yük için de benzer bir bağıntı geçerlidir:
F = q · v · B · sinα
Telden tek yüke
• Akımın tanımı: Telin bir kesitinden Δt sürede q yükü geçiyorsa akım I = q / Δt'dir.
• Yolun tanımı: Bu yük aynı sürede v hızıyla L = v·Δt kadar yol alır.
• Çarp: I·L = (q/Δt)·(v·Δt) = q·v; Δt sadeleşir.
• Yerine koy: F = B·I·L·sinα içinde I·L yerine q·v yazınca F = q·v·B·sinα çıkar. Burada α, hız ile alan arasındaki açıdır.
Kuvvet hem hıza hem alana diktir. Bunun üç önemli sonucu vardır:
• Duran yüke manyetik kuvvet etki etmez (v = 0 ise F = 0).
• Alana paralel giren yük sapmaz (α = 0 ise F = 0).
• Manyetik kuvvet iş yapmaz: kuvvet hıza dik olduğu için cismin kinetik enerjisi değişmez; yalnızca yönü değişir.
Görsel: Manyetik kuvvet yalnızca hareket hâlindeki yüke etki eder ve büyüklüğü hız ile alan arasındaki açıya bağlıdır. Alana paralel giren yük hiç sapmaz; dik giren yük ise en büyük kuvveti görür. Kuvvet hıza daima dik olduğu için yükün süratini asla değiştiremez — manyetik kuvvet iş yapmaz, yalnızca yön değiştirir.
Bu kuvvet küçük görünse de parçacığın kütlesine göre devasadır. Sayfanın 03 numaralı deneyindeki elektron (v = 10⁷ m/s, B = 1 mT) 1,6·10⁻¹⁵ N kuvvet görür; ağırlığı ise yaklaşık 9·10⁻³⁰ N'dur. Manyetik kuvvet ağırlığın 10¹⁴ katından büyüktür; yüklü parçacık problemlerinde yerçekimi bu yüzden hesaba katılmaz.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Kısaca: Alana dik giren yük çember çizer: q·v·B = m·v²/r eşitliğinden r = m·v/(q·B) ve T = 2π·m/(q·B) çıkar. Yarıçap hızla büyür, periyot hızdan bağımsızdır.
Alana dik giren bir yük için manyetik kuvvet, sabit büyüklükte ve daima hıza dik olur — yani merkezcil kuvvet rolünü üstlenir:
q·v·B = m·v² / r   r = m·v / (q·B)   T = 2π·m / (q·B)
• Kuvvet merkeze yönelir: Büyüklüğü sabit ve hep hıza dik bir kuvvet cismi düzgün çembersel harekete zorlar; bunun için gereken merkezcil kuvvet m·v²/r'dir.
• Eşitle: Bu kuvveti manyetik kuvvet sağlar: q·v·B = m·v²/r.
• Yarıçap: İki taraftaki v'lerden biri sadeleşir: r = m·v/(q·B).
• Periyot: Bir tur 2π·r yoldur, T = 2π·r/v. r'yi yerine koyunca v tamamen sadeleşir: T = 2π·m/(q·B).
Yarıçap hızla doğru, alanla ters orantılıdır. Periyot ise hızdan bağımsızdır: hız iki katına çıkarsa yarıçap da iki katına çıkar ve tur süresi değişmez. Siklotron hızlandırıcılarının çalışma ilkesi tam olarak budur. Pozitif ve negatif yükler aynı alanda zıt yönlerde döner; sayfanın 03 numaralı deneyinde yükün işaretini değiştirip bunu görebilirsin. Aynı deneydeki elektron için:
Hız | Alan | Yarıçap | Periyot
10·10⁶ m/s | 1,0 mT | 5,7 cm | 3,6·10⁻⁸ s
20·10⁶ m/s | 1,0 mT | 11,4 cm | 3,6·10⁻⁸ s
10·10⁶ m/s | 2,0 mT | 2,8 cm | 1,8·10⁻⁸ s
Görsel: Alana dik giren yükün gördüğü kuvvet hıza daima dik olduğu için yük çember çizer; merkezcil kuvveti manyetik kuvvet sağlar. Hız iki katına çıkarsa yarıçap da iki katına çıkar. Şaşırtıcı olan şu: periyot hıza hiç bağlı değildir — hızlı parçacık daha büyük çember çizer ama turu aynı sürede tamamlar. Siklotron tam olarak bunu kullanır.
Düşün: Hızı iki katına çıkan elektron iki kat büyük çember çiziyorsa, turunu neden aynı sürede tamamlar?
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Hızı iki katına çıkan elektron iki kat büyük çember çiziyorsa, turunu neden aynı sürede tamamlar?
Sınıfa sorun, birkaç tahmin alın; sonra cevap slaytına geçin.
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alanlar üst üste binince, yük alana eğik girince ve manyetizma teknolojiye dönüşünce ne olur?
10 İki tel yan yana: alanların toplanması ve paralel teller
11 Eğik giriş, sarmal yörünge ve siklotron
12 Manyetizma gerçek dünyada
Görsel: Manyetik trenler (maglev)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Kısaca: Birden çok akımın alanları vektörel olarak toplanır. Paralel teller birbirine F/L = 2·10⁻⁷·I₁·I₂/d kuvveti uygular: aynı yönlü akımlar çeker, zıt yönlü akımlar iter.
Birden çok akım varsa bir noktadaki toplam alan, her birinin alanının vektörel toplamıdır (üst üste binme ilkesi): aynı yönlü alanlar toplanır, zıt yönlüler birbirinden çıkarılır.
• Aynı yönde akım taşıyan iki tel: aralarındaki bölgede alanları zıt yönlüdür; bir noktada birbirini tam götürür.
• Zıt yönde akım taşıyan iki tel: aralarında alanlar aynı yönlüdür ve toplanır; uzakta ise büyük ölçüde birbirini götürür.
• Evdeki kablo: gidiş ve dönüş telleri milimetrelerle ayrılmış, zıt akımlı iki teldir; alanları kablodan uzaklaştıkça hızla birbirini siler.
Paralel teller birbirine kuvvet uygular
Bir telin alanı, yanındaki telin akımına kuvvet uygular. Tel 1'in d uzaklıktaki alanı B₁ = 2·10⁻⁷·I₁/d'dir; bu alan tel 2'nin L uzunluğuna F = B₁·I₂·L kuvvetini uygular. Birim uzunluk başına:
F/L = 2·10⁻⁷ · I₁ · I₂ / d
Sağ el kuralıyla bakınca şaşırtıcı bir sonuç çıkar: aynı yönde akım taşıyan teller birbirini çeker, zıt yönde akım taşıyanlar iter — elektrikteki “benzer yükler iter” kuralının tam tersi. 1948'den 2019'a kadar amper bu kuvvetle tanımlanıyordu: 1 m aralıklı iki uzun paralel telde metre başına 2·10⁻⁷ N kuvvet doğuran akım 1 A'dir.
Modelin sınırı: B = 2·10⁻⁷·I/r çok uzun ve ince düz bir tel içindir; kısa tellerde ya da telin uçlarına yakın noktalarda alan farklıdır. Bağıntılar boşluk ve hava içindir; demir gibi maddeler alanı yüzlerce kat güçlendirebilir.
Düşün: Evdeki uzatma kablosundan 10 A geçerken yanına konan pusula neden neredeyse hiç sapmaz?
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Evdeki uzatma kablosundan 10 A geçerken yanına konan pusula neden neredeyse hiç sapmaz?
Sınıfa sorun, birkaç tahmin alın; sonra cevap slaytına geçin.
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Kısaca: Alana eğik giren yük, paralel hız bileşeniyle ilerleyip dik bileşeniyle dönerek sarmal çizer. Siklotron, periyodun hızdan bağımsız olmasını kullanarak parçacıkları sabit frekanslı bir gerilimle hızlandırır.
Bir boyut daha: Yük alana eğik girerse hız iki bileşene ayrılır: alana paralel bileşen sabit kalır, dik bileşen çembersel harekete yol açar. Sonuç sarmal (helis) bir yörüngedir.
v∥ = v · cosα   v⊥ = v · sinα   r = m·v⊥ / (q·B)   adım = v∥ · T
Paralel bileşen kuvvet görmediği için yük alan boyunca sabit hızla ilerler, dik bileşen ise onu alanın çevresinde döndürür; yük bir yay gibi alan çizgisine sarılır. Bir turda alan boyunca alınan yola sarmalın adımı denir. Güneş'ten gelen parçacıklar da böyle sarılarak kutup bölgelerine taşınır.
Siklotron: periyodun sabitliğinden yararlanmak
Manyetik kuvvet iş yapmadığı için parçacığı hızlandıramaz; siklotronda bu işi elektrik alan yapar. Parçacık iki yarım daire biçimli metal kutunun arasındaki aralıktan her geçişinde bir gerilimle itilir, manyetik alan onu çevirip aralığa geri getirir. Parçacık hızlandıkça çemberi büyür, ama tur süresi değişmediği için gerilim sabit bir frekansla yön değiştirebilir: 1 T'lık alanda bir proton için f = q·B/(2π·m) ≈ 15 MHz.
Modelin sınırı: Periyodun hızdan bağımsız olması, ışık hızından çok küçük hızlarda geçerlidir. Parçacık ışık hızına yaklaştıkça tur süresi uzar ve basit siklotron uyumu kaybeder; büyük hızlandırıcılar bu yüzden alanı ya da frekansı hıza göre ayarlar.
Düşün: Kutup ışıkları neden ekvatorda değil de kutuplara yakın bölgelerde görülür?
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Kutup ışıkları neden ekvatorda değil de kutuplara yakın bölgelerde görülür?
Sınıfa sorun, birkaç tahmin alın; sonra cevap slaytına geçin.
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Kısaca: Motor, hoparlör, MR, maglev, siklotron ve kutup ışıkları aynı ilkelere dayanır: akım alan üretir, alan akıma kuvvet uygular, yükler alanda çember ya da sarmal çizer.
Manyetik kuvvet günlük hayatın içinde, çoğu zaman görmediğimiz yerlerde çalışıyor. Ortak nokta hep aynı üç ilke: akım alan üretir, alan akıma kuvvet uygular, yükler alanda çember ya da sarmal çizer.
Görsel: Manyetik trenler (maglev)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
• MR cihazı: süperiletken bobinler 1,5–3 T'lık, Dünya'nınkinin 30 000–60 000 katı bir alan üretir.
• Maglev: raya değmeden, küçük bir boşlukla havada giden tren deneme sürüşlerinde 600 km/h'i aştı.
• Hoparlör: ≈ 1 T'lık alandaki bobinden geçen ses akımı zarı saniyede 20 ile 20 000 kez titretir.
• Siklotron: 1 T'da protonun tur frekansı ≈ 15 MHz; hastanelerde PET için radyoaktif madde üretir.
• Dünya'nın kalkanı: Güneş'ten gelen parçacıkların çoğu saptırılır; kutuplarda 100 km'nin üzerinde havaya çarpanlar kutup ışığı yakar.
Uygulama | Kullanılan ilke
Elektrik motoru | Alan içindeki akıma etki eden kuvvet
Hoparlör | Değişen akım → değişen kuvvet → titreşen membran
Kütle spektrometresi | r = mv/(qB): farklı kütleler farklı yarıçap
Siklotron | Periyodun hızdan bağımsız olması
Kutup ışıkları | Yüklü parçacıkların alan çizgileri boyunca sarmal hareketi
Görsel: Çerçevenin iki kenarından akım zıt yönlerde geçtiği için bu kenarlara etkiyen kuvvetler de zıt yönlü olur. Büyüklükleri eşit olduğundan çerçeve bir yere ötelenmez, ama birlikte bir dönme etkisi yaratırlar. Her yarım turda akımın yönünü çeviren bir komütatör eklenince dönme sürekli hâle gelir: elektrik motoru budur.
Düşün: Manyetik kuvvet iş yapmıyorsa elektrik motoru mekanik işi nereden alır?
Cevap: Enerjiyi alan değil, motoru besleyen pil ya da şebeke verir. Çerçeve dönerken içindeki yüklerin hızı yana doğru da eğilir ve manyetik kuvvetin bir bileşeni akıma ters döner. Kaynak bu karşı etkiyi yenmek için iş yapar; alan yalnızca aracıdır. Bu karşı etki, sıradaki konu olan indüksiyonun konusudur.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Telin alanı (kolay)
Aşağıdaki çözümlerde μ₀/2π = 2·10⁻⁷ T·m/A alınmıştır; yüklü parçacıklarda yerçekimi ihmal edilmiştir.
20 A akım taşıyan düz bir telden 10 cm uzaklıktaki manyetik alanın büyüklüğü nedir? Uzaklık iki katına çıkarılırsa alan ne olur?
1. B = 2·10⁻⁷ · I / r = 2·10⁻⁷ · 20 / 0,1
2. B = 4·10⁻⁵ T = 40 µT (Dünya'nın alanı mertebesinde)
3. r iki katına çıkarsa B yarıya iner: 20 µT (1/r bağımlılığı)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Tele etki eden kuvvet (kolay)
Aşağıdaki çözümlerde μ₀/2π = 2·10⁻⁷ T·m/A alınmıştır; yüklü parçacıklarda yerçekimi ihmal edilmiştir.
0,5 T'lık düzgün manyetik alana dik olarak yerleştirilmiş 40 cm uzunluğundaki telden 6 A akım geçiyor. Tele etki eden kuvvet nedir? Tel alana 30° açı yapsaydı?
1. Dik durumda: F = B·I·L = 0,5 · 6 · 0,4 = 1,2 N
2. 30° için: F = B·I·L·sin30° = 1,2 · 0,5 = 0,6 N
3. Tel alana paralel olsaydı (0°) kuvvet sıfır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Hangi yöne sapar? (orta)
Aşağıdaki çözümlerde μ₀/2π = 2·10⁻⁷ T·m/A alınmıştır; yüklü parçacıklarda yerçekimi ihmal edilmiştir.
Sayfa düzleminde sağa doğru hareket eden bir elektron, sayfaya doğru (⊗) yönelmiş manyetik alana giriyor. Elektron hangi yöne sapar?
1. Önce pozitif yük varmış gibi düşün: parmaklar hız (sağa) yönünden alan (sayfaya doğru) yönüne döndürülür; başparmak yukarıyı gösterir.
2. Yük negatif olduğu için kuvvet tersine döner: aşağı.
3. Kuvvet hıza dik olduğu için elektron aşağı doğru bir çember çizmeye başlar; sürati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Dairesel yörünge (orta)
Aşağıdaki çözümlerde μ₀/2π = 2·10⁻⁷ T·m/A alınmıştır; yüklü parçacıklarda yerçekimi ihmal edilmiştir.
Kütlesi 9,1·10⁻³¹ kg, yükü 1,6·10⁻¹⁹ C olan bir elektron, 2·10⁷ m/s hızla 1 mT'lık alana dik giriyor. Yörüngenin yarıçapı ve periyodu nedir?
1. r = m·v/(q·B) = (9,1·10⁻³¹ · 2·10⁷) / (1,6·10⁻¹⁹ · 10⁻³)
2. r = 1,82·10⁻²³ / 1,6·10⁻²² ≈ 0,114 m ≈ 11,4 cm
3. T = 2πm/(qB) = (6,28 · 9,1·10⁻³¹) / (1,6·10⁻¹⁹ · 10⁻³) ≈ 3,6·10⁻⁸ s
4. Hız iki katına çıksaydı yarıçap iki katına çıkardı, ama periyot değişmezdi.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İki paralel tel (zor)
Aşağıdaki çözümlerde μ₀/2π = 2·10⁻⁷ T·m/A alınmıştır; yüklü parçacıklarda yerçekimi ihmal edilmiştir.
Aralarında 10 cm bulunan iki uzun paralel telden aynı yönde 10 A ve 30 A akım geçiyor. (a) Tellerin tam ortasındaki net manyetik alanı, (b) net alanın sıfır olduğu noktayı, (c) tellerin birbirine uyguladığı birim uzunluk başına kuvveti bulunuz.
1. Orta nokta her telden 5 cm uzaktadır: B₁ = 2·10⁻⁷ · 10 / 0,05 = 4·10⁻⁵ T, B₂ = 2·10⁻⁷ · 30 / 0,05 = 1,2·10⁻⁴ T.
2. (a) Akımlar aynı yönlü olduğu için teller arasında alanlar zıt yönlüdür: B = 1,2·10⁻⁴ − 4·10⁻⁵ = 8·10⁻⁵ T = 80 µT, 30 A'lik telin alanı yönünde.
3. (b) Sıfır noktası teller arasında, zayıf akımlı tele daha yakındır. 10 A'lik telden x uzaklıkta: 10 / x = 30 / (10 − x) → 100 − 10x = 30x → x = 2,5 cm.
4. (c) F/L = 2·10⁻⁷ · 10 · 30 / 0,1 = 6·10⁻⁴ N/m; akımlar aynı yönlü olduğu için teller birbirini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Kütle spektrometresinde izotoplar (zor)
Aşağıdaki çözümlerde μ₀/2π = 2·10⁻⁷ T·m/A alınmıştır; yüklü parçacıklarda yerçekimi ihmal edilmiştir.
Tek yüklü (q = 1,6·10⁻¹⁹ C) neon-20 ve neon-22 iyonları 1·10⁵ m/s hızla 0,5 T'lık alana dik giriyor, yarım çember çizip giriş noktasıyla aynı hizadaki bir levhaya çarpıyor. Levhadaki iki iz arasındaki uzaklık nedir? (1 u = 1,66·10⁻²⁷ kg; kütleler 20 u ve 22 u)
1. Yarıçap r = m·v/(q·B); hız, yük ve alan ikisi için de aynıdır, yalnızca kütle farklıdır.
2. r₂₀ = (20 · 1,66·10⁻²⁷ · 10⁵) / (1,6·10⁻¹⁹ · 0,5) = 3,32·10⁻²¹ / 8·10⁻²⁰ ≈ 4,15 cm
3. r₂₂ = r₂₀ · 22/20 ≈ 4,565 cm
4. Yarım çemberden sonra iyon giriş noktasından 2r uzağa düşer. İzler arası: 2 · (4,565 − 4,15) = 0,83 cm.
Kütledeki %10'luk fark yarıçapta da %10'luk fark yaratır. Neonun iki farklı kütlede atomu olduğu 20. yüzyılın başında bu tür sapma deneyleriyle anlaşıldı.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kuvvet hız yönündedir.” Kuvvet hıza diktir; bu yüzden sürati değil, yönü değiştirir.
• “Kuvvet alan çizgileri boyuncadır.” Elektrikteki F = q·E alışkanlığı burada işe yaramaz: manyetik kuvvet alan çizgilerine de diktir.
• “Duran yüke de manyetik kuvvet etki eder.” F = qvB·sinα; v = 0 ise F = 0.
• “Manyetik kuvvet iş yapar.” Kuvvet yer değiştirmeye dik olduğu için yaptığı iş sıfırdır; kinetik enerji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Telin alanını 1/r² sanmak. Düz telde alan 1/r ile azalır.
• Negatif yükte yönü ters çevirmeyi unutmak. Sağ el kuralı pozitif yük içindir; elektronda sonucu ters çevir.
• “Periyot hıza bağlıdır.” T = 2πm/(qB); hız yalnızca yarıçapı değiştirir.
• Açıyı yanlış almak. α, akım (ya da hız) ile alan arasındaki açıdır; telin yatayla yaptığı açı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Telin alanı 1/r ile azalır · Tele kuvvet B·I·L·sinα · Yüke kuvvet q·v·B·sinα · Yörünge çember
B = μ₀·I / (2π·r) — düz telin alanı
F = B·I·L·sinα — akım taşıyan tele
F = q·v·B·sinα — hareketli yüke
r = m·v / (q·B) — dairesel yörüngenin yarıçapı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manyetik-alan-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Manyetik alan ve manyetik kuvvet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Hareketli yük, çevresinde manyetik alan oluşturur; başka bir hareketli yük ya da akım bu alanın içinde kuvvet hisseder. Bu kuvvetin en şaşırtıcı yanı, hem hıza hem alana dik olmasıdır — bu yüzden iş yapmaz, yalnızca yön değiştirir.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Güneş'ten 150 milyon kilometre yol gelen yüklü parçacıklar neden ekvatorun değil de kutupların göğünü aydınlatır?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Cevap, pusula iğnesini kuzeye çeviren, elektrik motorunu döndüren ve hoparlörü titreten şeyle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manyetik alan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Üstelik manyetizmanın kaynağı mıknatıslar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hareket hâlindeki yüklerdir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telden akım geçirdiğin anda çevresinde bir manyetik alan doğar.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alanı demir tozuyla görünür kıl, kaynağını tanı ve yönleri sağ elinle bulmayı öğren.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demir tozu neyi gösterir?</a:t>
            </a:r>
            <a:endParaRPr lang="en-US" sz="120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alan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Akım da mıknatıs gibidir: Oersted'in keşfi</a:t>
            </a:r>
            <a:endParaRPr lang="en-US" sz="11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Yönleri bulmak: sağ el kuralı</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telin alanını, tele ve yüke etki eden kuvveti ve çembersel yörüngeyi adım adım çıkar, sayılarla hisset.</a:t>
            </a:r>
            <a:endParaRPr lang="en-US" sz="11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Akımın oluşturduğu alan: bağıntılar</a:t>
            </a:r>
            <a:endParaRPr lang="en-US" sz="12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bir tel ne kadar güçlü bir mıknatıstır?</a:t>
            </a:r>
            <a:endParaRPr lang="en-US" sz="100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 taşıyan tele etki eden kuvvet</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Hareketli yüke etki eden kuvvet</a:t>
            </a:r>
            <a:endParaRPr lang="en-US" sz="12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alanda dairesel hareket</a:t>
            </a:r>
            <a:endParaRPr lang="en-US" sz="12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alanlar üst üste binince, yük alana eğik girince ve manyetizma teknolojiye dönüşünce ne olur?</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İki tel yan yana: alanların toplanması ve paralel teller</a:t>
            </a:r>
            <a:endParaRPr lang="en-US" sz="120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giriş, sarmal yörünge ve siklotron</a:t>
            </a:r>
            <a:endParaRPr lang="en-US" sz="125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Manyetizma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alanı demir tozuyla görünür kıl, kaynağını tanı ve yönleri sağ elinle bulmayı öğren.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demir tozu neyi gösterir?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Manyetik alan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Akım da mıknatıs gibidir: Oersted'in keşfi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Yönleri bulmak: sağ el kuralı</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manyetik-alan-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Kâğıdın altındaki mıknatıs görünmüyor, tozlar da ona değmiyor; yine de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demir tozları</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onun etkisini haritalıyor. Her toz tanesi küçük bir pusula iğnesi gibi o noktadaki etkinin yönüne diziliyor; tozların iki uçta sıklaşması etkinin en güçlü orada olduğunu gösteriyor. Tozların çizdiği bu eğrilere bir sonraki bölümde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manyetik alan çizgileri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adını vereceğiz.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demir tozu neyi gösterir?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Mıknatısın çevresinde demir tozunu ve pusula iğnesini belli bir yöne çeviren bir etki bölgesi vardır. Tozların çizdiği eğriler kutuplarda sıklaşır, uzakta seyrelir ve birbirini kesmez.</a:t>
            </a:r>
            <a:endParaRPr lang="en-US" sz="1850" dirty="0"/>
          </a:p>
        </p:txBody>
      </p:sp>
      <p:sp>
        <p:nvSpPr>
          <p:cNvPr id="9" name="Text 7"/>
          <p:cNvSpPr txBox="1"/>
          <p:nvPr/>
        </p:nvSpPr>
        <p:spPr>
          <a:xfrm>
            <a:off x="640080" y="2593238"/>
            <a:ext cx="10911535" cy="174574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Uçlarda yoğunlaşma: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tozlar mıknatısın iki ucunda en sıktır; etki en güçlü orada. Bu uçlara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kutup</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denir.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Kapalı yaylar: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çizgiler bir kutuptan çıkar, mıknatısın çevresinden dolanıp öbür kutba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Uzakta seyrelme: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mıknatıstan uzaklaştıkça çizgiler aralanır, etki zayıflar.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Kesişme yok: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iki çizgi hiçbir yerde birbirini kesmez; her noktada tek bir yön vardır.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Buzdolabı mıknatısı çelik kapıya yapışıyor da alüminyum tencereye neden yapışmıyor?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demir tozu neyi gösterir?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Buzdolabı mıknatısı çelik kapıya yapışıyor da alüminyum tencereye neden yapışmıyor?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Mıknatıs yalnızca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demir, nikel ve kobalt</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Manyetik alan (B), mıknatısların ve akımların çevresinde hareketli yüklere kuvvet uygulayan vektörel bir etkidir; birimi tesladır. Alan çizgileri N'den çıkıp S'ye giren kapalı eğrilerdir ve tek kutup yoktur.</a:t>
            </a:r>
            <a:endParaRPr lang="en-US" sz="1850" dirty="0"/>
          </a:p>
        </p:txBody>
      </p:sp>
      <p:sp>
        <p:nvSpPr>
          <p:cNvPr id="9" name="Text 7"/>
          <p:cNvSpPr txBox="1"/>
          <p:nvPr/>
        </p:nvSpPr>
        <p:spPr>
          <a:xfrm>
            <a:off x="640080" y="2593238"/>
            <a:ext cx="6675120" cy="16230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Alan çizgileri mıknatısın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 kutbundan çıkar, S kutbunda son bulur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mıknatısın içinde S'ten N'e devam eder,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kapalı eğrilerdir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Çizgiler asla kesişmez; sıklıkları alanın şiddetini gösterir.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Tek kutup yoktur: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 mıknatıs ikiye bölünürse iki yeni mıknatıs oluşur.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Aynı kutuplar iter, zıt kutuplar çeker: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N ile N, S ile S birbirini iter; N ile S birbirini çeker.</a:t>
            </a:r>
            <a:endParaRPr lang="en-US" sz="1300" dirty="0"/>
          </a:p>
        </p:txBody>
      </p:sp>
      <p:sp>
        <p:nvSpPr>
          <p:cNvPr id="10" name="Text 8"/>
          <p:cNvSpPr txBox="1"/>
          <p:nvPr/>
        </p:nvSpPr>
        <p:spPr>
          <a:xfrm>
            <a:off x="640080" y="4362602"/>
            <a:ext cx="6675120" cy="274320"/>
          </a:xfrm>
          <a:prstGeom prst="rect">
            <a:avLst/>
          </a:prstGeom>
          <a:noFill/>
          <a:ln/>
        </p:spPr>
        <p:txBody>
          <a:bodyPr wrap="square" lIns="0" tIns="0" rIns="0" bIns="0" rtlCol="0" anchor="ctr"/>
          <a:lstStyle/>
          <a:p>
            <a:pPr indent="0" marL="0">
              <a:buNone/>
            </a:pPr>
            <a:r>
              <a:rPr lang="en-US" sz="1350" b="1" dirty="0">
                <a:solidFill>
                  <a:srgbClr val="3C8C21"/>
                </a:solidFill>
                <a:latin typeface="Calibri" pitchFamily="34" charset="0"/>
                <a:ea typeface="Calibri" pitchFamily="34" charset="-122"/>
                <a:cs typeface="Calibri" pitchFamily="34" charset="-120"/>
              </a:rPr>
              <a:t>Dünya da bir mıknatıs</a:t>
            </a:r>
            <a:endParaRPr lang="en-US" sz="1350" dirty="0"/>
          </a:p>
        </p:txBody>
      </p:sp>
      <p:sp>
        <p:nvSpPr>
          <p:cNvPr id="11" name="Shape 9"/>
          <p:cNvSpPr/>
          <p:nvPr/>
        </p:nvSpPr>
        <p:spPr>
          <a:xfrm>
            <a:off x="640080" y="4673498"/>
            <a:ext cx="6675120"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819802"/>
            <a:ext cx="45720" cy="950976"/>
          </a:xfrm>
          <a:prstGeom prst="rect">
            <a:avLst/>
          </a:prstGeom>
          <a:solidFill>
            <a:srgbClr val="3C8C21"/>
          </a:solidFill>
          <a:ln/>
        </p:spPr>
      </p:sp>
      <p:sp>
        <p:nvSpPr>
          <p:cNvPr id="13" name="Text 11"/>
          <p:cNvSpPr txBox="1"/>
          <p:nvPr/>
        </p:nvSpPr>
        <p:spPr>
          <a:xfrm>
            <a:off x="914400" y="4783226"/>
            <a:ext cx="6217920" cy="1024128"/>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Ölçek duygusu:</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Dünya'nın manyetik alanı ≈ 50 µT, buzdolabı mıknatısı ≈ 5 mT, hoparlör mıknatısı ≈ 1 T, MR cihazı 1,5–3 T. Mikrotesla (µT) teslanın milyonda biri, militesla (mT) binde biridir; MR cihazının alanı Dünya'nınkinin 30 000 ile 60 000 katıdır.</a:t>
            </a:r>
            <a:endParaRPr lang="en-US" sz="1200" dirty="0"/>
          </a:p>
        </p:txBody>
      </p:sp>
      <p:sp>
        <p:nvSpPr>
          <p:cNvPr id="14" name="Shape 12"/>
          <p:cNvSpPr/>
          <p:nvPr/>
        </p:nvSpPr>
        <p:spPr>
          <a:xfrm>
            <a:off x="7607808" y="2593238"/>
            <a:ext cx="3943807" cy="3416662"/>
          </a:xfrm>
          <a:prstGeom prst="roundRect">
            <a:avLst>
              <a:gd name="adj" fmla="val 42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manyetik-alan-01.png">    </p:cNvPr>
          <p:cNvPicPr>
            <a:picLocks noChangeAspect="1"/>
          </p:cNvPicPr>
          <p:nvPr/>
        </p:nvPicPr>
        <p:blipFill>
          <a:blip r:embed="rId1"/>
          <a:stretch>
            <a:fillRect/>
          </a:stretch>
        </p:blipFill>
        <p:spPr>
          <a:xfrm>
            <a:off x="7790688" y="2776118"/>
            <a:ext cx="3578047" cy="1595177"/>
          </a:xfrm>
          <a:prstGeom prst="rect">
            <a:avLst/>
          </a:prstGeom>
        </p:spPr>
      </p:pic>
      <p:sp>
        <p:nvSpPr>
          <p:cNvPr id="16" name="Shape 13"/>
          <p:cNvSpPr/>
          <p:nvPr/>
        </p:nvSpPr>
        <p:spPr>
          <a:xfrm>
            <a:off x="7790688" y="4462735"/>
            <a:ext cx="3578047" cy="0"/>
          </a:xfrm>
          <a:prstGeom prst="line">
            <a:avLst/>
          </a:prstGeom>
          <a:noFill/>
          <a:ln w="9525">
            <a:solidFill>
              <a:srgbClr val="E1E5EE"/>
            </a:solidFill>
            <a:prstDash val="dash"/>
          </a:ln>
        </p:spPr>
      </p:sp>
      <p:sp>
        <p:nvSpPr>
          <p:cNvPr id="17" name="Text 14"/>
          <p:cNvSpPr txBox="1"/>
          <p:nvPr/>
        </p:nvSpPr>
        <p:spPr>
          <a:xfrm>
            <a:off x="7790688" y="4517599"/>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alan çizgileri mıknatısın dışında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N'den çıkıp S'ye girer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içeride devreyi tamamlar — yani elektrik alanının aksine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kapalı halkalardır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Bunun doğrudan sonucu şudur: bir mıknatısı ikiye bölersen tek bir kutup elde edemezsin, elinde iki tam mıknatıs kalır. Bugüne kadar hiç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manyetik kutup</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gözlenmedi.</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Pusulanın N ucu kuzeyi gösteriyorsa, coğrafi kuzey kutbunun yakınındaki manyetik kutup N mi, S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Manyetik alan nedir?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Pusulanın N ucu kuzeyi gösteriyorsa, coğrafi kuzey kutbunun yakınındaki manyetik kutup N mi, S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S kutbu.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Zıt kutuplar birbirini çeker; pusulanın N ucu kuzeye çekildiğine göre orada bir S kutbu olmalıdır. Bu yüzden Dünya'nın alan çizgileri güney yarım kürede çıkıp kuzey yarım kürede yeniden Dünya'ya girer.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Akım taşıyan tel çevresinde manyetik alan oluşturur; düz telde alan çizgileri teli çevreleyen çemberlerdir. Teli bobin hâlinde sarınca alan güçlenir ve bobin bir mıknatıs gibi davranır.</a:t>
            </a:r>
            <a:endParaRPr lang="en-US" sz="1850" dirty="0"/>
          </a:p>
        </p:txBody>
      </p:sp>
      <p:sp>
        <p:nvSpPr>
          <p:cNvPr id="9" name="Text 7"/>
          <p:cNvSpPr txBox="1"/>
          <p:nvPr/>
        </p:nvSpPr>
        <p:spPr>
          <a:xfrm>
            <a:off x="640080" y="2593238"/>
            <a:ext cx="10911535" cy="20436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Akım varken sapar: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akım geçince iğne döner, akım kesilince kuzeye geri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Yön akıma bağlıdır: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akımın yönü ters çevrilince iğne de ters yöne sapar.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Etki akıma ve uzaklığa bağlıdır: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akım büyüdükçe sapma artar, pusula telden uzaklaştıkça azalır.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Çizgiler çemberdir: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düz bir telin alan çizgileri teli çevreleyen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iç içe çemberlerdir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bu çizgilerin ne başı ne sonu vardır, telin de kutbu yoktur.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Telin alanında başparmak akımı, kıvrılan parmaklar alanı gösterir; kuvvette parmaklar hızdan alana dönerken başparmak kuvveti verir. Negatif yükte kuvvet ters döner; ⊗ içeri, ⊙ dışarı demektir.</a:t>
            </a:r>
            <a:endParaRPr lang="en-US" sz="1850" dirty="0"/>
          </a:p>
        </p:txBody>
      </p:sp>
      <p:sp>
        <p:nvSpPr>
          <p:cNvPr id="9" name="Text 7"/>
          <p:cNvSpPr txBox="1"/>
          <p:nvPr/>
        </p:nvSpPr>
        <p:spPr>
          <a:xfrm>
            <a:off x="640080" y="2593238"/>
            <a:ext cx="5852160" cy="17693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Telin alanı için: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Sağ elin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başparmağı akım yönünü</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gösterecek şekilde teli kavra;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bükülen parmaklar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alan çizgilerinin yönünü verir.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Kuvvet için: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Parmaklar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hız (ya da akım)</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yönünden </a:t>
            </a:r>
            <a:pPr indent="0" marL="0">
              <a:lnSpc>
                <a:spcPct val="115000"/>
              </a:lnSpc>
              <a:buNone/>
            </a:pPr>
            <a:r>
              <a:rPr lang="en-US" sz="1500" i="1" dirty="0">
                <a:solidFill>
                  <a:srgbClr val="4A5470"/>
                </a:solidFill>
                <a:latin typeface="Calibri" pitchFamily="34" charset="0"/>
                <a:ea typeface="Calibri" pitchFamily="34" charset="-122"/>
                <a:cs typeface="Calibri" pitchFamily="34" charset="-120"/>
              </a:rPr>
              <a:t>alan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yönüne doğru döndürülürken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başparmak kuvveti</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gösterir.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Negatif yükte</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kuvvet, bulunan yönün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tam tersidir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640080" y="4472330"/>
            <a:ext cx="5852160"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618634"/>
            <a:ext cx="45720" cy="845820"/>
          </a:xfrm>
          <a:prstGeom prst="rect">
            <a:avLst/>
          </a:prstGeom>
          <a:solidFill>
            <a:srgbClr val="A56209"/>
          </a:solidFill>
          <a:ln/>
        </p:spPr>
      </p:sp>
      <p:sp>
        <p:nvSpPr>
          <p:cNvPr id="12" name="Text 10"/>
          <p:cNvSpPr txBox="1"/>
          <p:nvPr/>
        </p:nvSpPr>
        <p:spPr>
          <a:xfrm>
            <a:off x="914400" y="4582058"/>
            <a:ext cx="5394960"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Sayfa düzlemi gösterimi:</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sayfaya doğru (içeri),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sayfadan dışarı anlamına gelir. Uzaklaşan okun tüyü (⊗) ve sana yaklaşan okun ucu (⊙) gibi düşünülebilir.</a:t>
            </a:r>
            <a:endParaRPr lang="en-US" sz="1400" dirty="0"/>
          </a:p>
        </p:txBody>
      </p:sp>
      <p:sp>
        <p:nvSpPr>
          <p:cNvPr id="13" name="Shape 11"/>
          <p:cNvSpPr/>
          <p:nvPr/>
        </p:nvSpPr>
        <p:spPr>
          <a:xfrm>
            <a:off x="6784848" y="2593238"/>
            <a:ext cx="47667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manyetik-alan-02.png">    </p:cNvPr>
          <p:cNvPicPr>
            <a:picLocks noChangeAspect="1"/>
          </p:cNvPicPr>
          <p:nvPr/>
        </p:nvPicPr>
        <p:blipFill>
          <a:blip r:embed="rId1"/>
          <a:stretch>
            <a:fillRect/>
          </a:stretch>
        </p:blipFill>
        <p:spPr>
          <a:xfrm>
            <a:off x="7027403" y="2776118"/>
            <a:ext cx="4281657" cy="1890979"/>
          </a:xfrm>
          <a:prstGeom prst="rect">
            <a:avLst/>
          </a:prstGeom>
        </p:spPr>
      </p:pic>
      <p:sp>
        <p:nvSpPr>
          <p:cNvPr id="15" name="Shape 12"/>
          <p:cNvSpPr/>
          <p:nvPr/>
        </p:nvSpPr>
        <p:spPr>
          <a:xfrm>
            <a:off x="6967728" y="4758538"/>
            <a:ext cx="4401007" cy="0"/>
          </a:xfrm>
          <a:prstGeom prst="line">
            <a:avLst/>
          </a:prstGeom>
          <a:noFill/>
          <a:ln w="9525">
            <a:solidFill>
              <a:srgbClr val="E1E5EE"/>
            </a:solidFill>
            <a:prstDash val="dash"/>
          </a:ln>
        </p:spPr>
      </p:sp>
      <p:sp>
        <p:nvSpPr>
          <p:cNvPr id="16" name="Text 13"/>
          <p:cNvSpPr txBox="1"/>
          <p:nvPr/>
        </p:nvSpPr>
        <p:spPr>
          <a:xfrm>
            <a:off x="6967728" y="4813402"/>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hem akıma hem alana diktir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yani üç yön bir odanın köşesi gibi birbirine dik durur. Sağ elini aç, parmaklarını akım (ya da hız) yönüne çevir, sonra alan yönüne doğru kıvır: başparmağın kuvveti gösterir. Negatif yükte bulduğun yönün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tersini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alırsın. Sayfa düzleminde çarpı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nokta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dışarı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demektir: uzaklaşan okun tüyü ve yaklaşan okun ucu.</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Sayfadan dışarı (⊙) akım taşıyan bir telin alan çizgileri, sayfaya bakan birine göre hangi yönde döner?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Yönleri bulmak: sağ el kuralı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Sayfadan dışarı (⊙) akım taşıyan bir telin alan çizgileri, sayfaya bakan birine göre hangi yönde döner?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Başparmağını sana doğru, sayfadan dışarı çevir: parmakların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saat yönünün tersine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kıvrılır. Akımın yönü ters dönünce alan çizgilerinin dönme yönü de ters döner. Kısaca ⊗ akımda saat yönü, ⊙ akımda saatin tersi yönü.</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telin alanını, tele ve yüke etki eden kuvveti ve çembersel yörüngeyi adım adım çıkar, sayılarla hisset.</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Akımın oluşturduğu alan: bağıntılar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bir tel ne kadar güçlü bir mıknatıstır?</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Akım taşıyan tele etki eden kuvvet</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Hareketli yüke etki eden kuvvet</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Manyetik alanda dairesel hareket</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 μ₀·I / (2π·r)</a:t>
            </a:r>
            <a:endParaRPr lang="en-US" sz="1500" dirty="0"/>
          </a:p>
        </p:txBody>
      </p:sp>
      <p:sp>
        <p:nvSpPr>
          <p:cNvPr id="14" name="Text 12"/>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B·I·L·sinα</a:t>
            </a:r>
            <a:endParaRPr lang="en-US" sz="1500" dirty="0"/>
          </a:p>
        </p:txBody>
      </p:sp>
      <p:sp>
        <p:nvSpPr>
          <p:cNvPr id="17" name="Text 15"/>
          <p:cNvSpPr txBox="1"/>
          <p:nvPr/>
        </p:nvSpPr>
        <p:spPr>
          <a:xfrm>
            <a:off x="8430768" y="235000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q·v·B·sinα</a:t>
            </a:r>
            <a:endParaRPr lang="en-US" sz="1500" dirty="0"/>
          </a:p>
        </p:txBody>
      </p:sp>
      <p:sp>
        <p:nvSpPr>
          <p:cNvPr id="20" name="Text 18"/>
          <p:cNvSpPr txBox="1"/>
          <p:nvPr/>
        </p:nvSpPr>
        <p:spPr>
          <a:xfrm>
            <a:off x="8430768" y="321868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 = m·v / (q·B)</a:t>
            </a:r>
            <a:endParaRPr lang="en-US" sz="1500" dirty="0"/>
          </a:p>
        </p:txBody>
      </p:sp>
      <p:sp>
        <p:nvSpPr>
          <p:cNvPr id="23" name="Text 21"/>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 telin alanı B = 2·10⁻⁷·I/r'dir: akımla doğru, uzaklıkla ters orantılı (1/r, 1/r² değil). Halkanın merkezinde B = μ₀I/(2r), bobinin içinde B = μ₀·n·I olur.</a:t>
            </a:r>
            <a:endParaRPr lang="en-US" sz="1900" dirty="0"/>
          </a:p>
        </p:txBody>
      </p:sp>
      <p:sp>
        <p:nvSpPr>
          <p:cNvPr id="9" name="Shape 7"/>
          <p:cNvSpPr/>
          <p:nvPr/>
        </p:nvSpPr>
        <p:spPr>
          <a:xfrm>
            <a:off x="640080" y="2294534"/>
            <a:ext cx="213603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 = μ₀·I / (2π·r)</a:t>
            </a:r>
            <a:endParaRPr lang="en-US" sz="1300" dirty="0"/>
          </a:p>
        </p:txBody>
      </p:sp>
      <p:sp>
        <p:nvSpPr>
          <p:cNvPr id="11" name="Shape 9"/>
          <p:cNvSpPr/>
          <p:nvPr/>
        </p:nvSpPr>
        <p:spPr>
          <a:xfrm>
            <a:off x="2885846" y="2294534"/>
            <a:ext cx="262981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885846" y="2294534"/>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μ₀ / 2π = 2·10⁻⁷ T·m/A</a:t>
            </a:r>
            <a:endParaRPr lang="en-US" sz="1300" dirty="0"/>
          </a:p>
        </p:txBody>
      </p:sp>
      <p:sp>
        <p:nvSpPr>
          <p:cNvPr id="13" name="Shape 11"/>
          <p:cNvSpPr/>
          <p:nvPr/>
        </p:nvSpPr>
        <p:spPr>
          <a:xfrm>
            <a:off x="640080" y="2861462"/>
            <a:ext cx="2234794"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 = 2·10⁻⁷ · I / r</a:t>
            </a:r>
            <a:endParaRPr lang="en-US" sz="1300" dirty="0"/>
          </a:p>
        </p:txBody>
      </p:sp>
      <p:sp>
        <p:nvSpPr>
          <p:cNvPr id="15" name="Text 13"/>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 nereden geliyor?</a:t>
            </a:r>
            <a:endParaRPr lang="en-US" sz="1350" dirty="0"/>
          </a:p>
        </p:txBody>
      </p:sp>
      <p:sp>
        <p:nvSpPr>
          <p:cNvPr id="16" name="Shape 14"/>
          <p:cNvSpPr/>
          <p:nvPr/>
        </p:nvSpPr>
        <p:spPr>
          <a:xfrm>
            <a:off x="7607808" y="2294534"/>
            <a:ext cx="3943807" cy="3386880"/>
          </a:xfrm>
          <a:prstGeom prst="roundRect">
            <a:avLst>
              <a:gd name="adj" fmla="val 43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manyetik-alan-03.png">    </p:cNvPr>
          <p:cNvPicPr>
            <a:picLocks noChangeAspect="1"/>
          </p:cNvPicPr>
          <p:nvPr/>
        </p:nvPicPr>
        <p:blipFill>
          <a:blip r:embed="rId1"/>
          <a:stretch>
            <a:fillRect/>
          </a:stretch>
        </p:blipFill>
        <p:spPr>
          <a:xfrm>
            <a:off x="7790688" y="2477414"/>
            <a:ext cx="3578047" cy="1565396"/>
          </a:xfrm>
          <a:prstGeom prst="rect">
            <a:avLst/>
          </a:prstGeom>
        </p:spPr>
      </p:pic>
      <p:sp>
        <p:nvSpPr>
          <p:cNvPr id="18" name="Shape 15"/>
          <p:cNvSpPr/>
          <p:nvPr/>
        </p:nvSpPr>
        <p:spPr>
          <a:xfrm>
            <a:off x="7790688" y="4134250"/>
            <a:ext cx="3578047" cy="0"/>
          </a:xfrm>
          <a:prstGeom prst="line">
            <a:avLst/>
          </a:prstGeom>
          <a:noFill/>
          <a:ln w="9525">
            <a:solidFill>
              <a:srgbClr val="E1E5EE"/>
            </a:solidFill>
            <a:prstDash val="dash"/>
          </a:ln>
        </p:spPr>
      </p:sp>
      <p:sp>
        <p:nvSpPr>
          <p:cNvPr id="19" name="Text 16"/>
          <p:cNvSpPr txBox="1"/>
          <p:nvPr/>
        </p:nvSpPr>
        <p:spPr>
          <a:xfrm>
            <a:off x="7790688" y="4189114"/>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Düz bir telden akım geçtiğinde çevresinde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tel merkezli çemberler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hâlinde bir manyetik alan doğar. Alanın yönünü sağ el kuralı verir: başparmak akım yönünü gösterecek şekilde teli kavrarsan,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parmakların alan çizgilerini izler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Büyüklüğü akımla doğru, uzaklıkla ters orantılıdır — ters kare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 birinci kuvvet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6230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Akımla orantı: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Akımı iki katına çıkarınca ölçülen alan da iki katına çıkar: B ∝ I.</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Düz tel her yönden aynı görünür; bu yüzden telden aynı uzaklıktaki her noktada alan aynıdır ve çizgiler tel merkezli çemberlerdir.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Çevreye yayılma: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Akımın etkisi r yarıçaplı çemberin 2π·r uzunluğuna yayılır.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Ampère yasası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bunu B·2π·r = μ₀·I diye yazar; çevre r ile büyüdükçe alan küçülür.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Sabit: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Boşluğun manyetik geçirgenliği μ₀ = 4π·10⁻⁷ T·m/A'dir; 2π'ye bölünce 2·10⁻⁷ kalır.</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3214116"/>
          <a:ext cx="10911535" cy="914400"/>
        </p:xfrm>
        <a:graphic>
          <a:graphicData uri="http://schemas.openxmlformats.org/drawingml/2006/table">
            <a:tbl>
              <a:tblPr/>
              <a:tblGrid>
                <a:gridCol w="4808473"/>
                <a:gridCol w="2774119"/>
                <a:gridCol w="332894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Kaynak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 bağıntısı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Düz tel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μ₀I / (2πr)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çembersel çizgiler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Çembersel halka (merkezde)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μ₀I / (2r)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halkaya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Bobin / solenoid (içinde)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B = μ₀·n·I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düzgün alan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5"/>
          <p:cNvSpPr/>
          <p:nvPr/>
        </p:nvSpPr>
        <p:spPr>
          <a:xfrm>
            <a:off x="640080" y="469544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6"/>
          <p:cNvSpPr/>
          <p:nvPr/>
        </p:nvSpPr>
        <p:spPr>
          <a:xfrm>
            <a:off x="658368" y="4841748"/>
            <a:ext cx="45720" cy="530352"/>
          </a:xfrm>
          <a:prstGeom prst="rect">
            <a:avLst/>
          </a:prstGeom>
          <a:solidFill>
            <a:srgbClr val="3C8C21"/>
          </a:solidFill>
          <a:ln/>
        </p:spPr>
      </p:sp>
      <p:sp>
        <p:nvSpPr>
          <p:cNvPr id="10" name="Text 7"/>
          <p:cNvSpPr txBox="1"/>
          <p:nvPr/>
        </p:nvSpPr>
        <p:spPr>
          <a:xfrm>
            <a:off x="914400" y="480517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(T·m/A) · A / m = T ✓. Bağıntıda r'yi santimetre olarak yazarsan sonuç yüz kat küçük çıkar; uzaklığı her zaman metreye çevir (5 cm = 0,05 m).</a:t>
            </a:r>
            <a:endParaRPr lang="en-US" sz="1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Telin alanı I/r oranına bağlıdır: 1 A'lik bir tel 1 cm'de 20 µT, 1000 A'lik bir hat 20 m'de 10 µT üretir. Pusula ancak bu alan Dünya'nın 50 µT'lık alanıyla kıyaslanabilir olunca belirgin sapar.</a:t>
            </a:r>
            <a:endParaRPr lang="en-US" sz="1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6891496"/>
                <a:gridCol w="1531444"/>
                <a:gridCol w="1340013"/>
                <a:gridCol w="114858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Akım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Uzaklık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Pil devresindeki ince tel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Sayfadaki 01 deneyi (başlangıç)</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Kalın bir akü kablosu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Yüksek gerilim hattının bir iletkeni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Yıldırım kanalı (tipik tepe akımı)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30 000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µT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751222"/>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897526"/>
            <a:ext cx="45720" cy="565404"/>
          </a:xfrm>
          <a:prstGeom prst="rect">
            <a:avLst/>
          </a:prstGeom>
          <a:solidFill>
            <a:srgbClr val="3C8C21"/>
          </a:solidFill>
          <a:ln/>
        </p:spPr>
      </p:sp>
      <p:sp>
        <p:nvSpPr>
          <p:cNvPr id="12" name="Text 9"/>
          <p:cNvSpPr txBox="1"/>
          <p:nvPr/>
        </p:nvSpPr>
        <p:spPr>
          <a:xfrm>
            <a:off x="914400" y="4860950"/>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Deneyde dene: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Sayfanın 01 numaralı bölümünde “Akım 2 katı” düğmesi alanı 40 µT'dan 80 µT'ya çıkarır, “Uzaklık 2 katı” ise 20 µT'ya indirir. “Tele çok yakın” düğmesi 4 A'i 2 cm'ye getirir ve yine 40 µT verir: oran aynı, alan aynı.</a:t>
            </a:r>
            <a:endParaRPr lang="en-US" sz="13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 içindeki akım taşıyan tele F = B·I·L·sinα kuvveti etki eder; α akımla alan arasındaki açıdır. Kuvvet akım alana dikken en büyük, paralelken sıfırdır ve 1 T = 1 N/(A·m)'dir.</a:t>
            </a:r>
            <a:endParaRPr lang="en-US" sz="1850" dirty="0"/>
          </a:p>
        </p:txBody>
      </p:sp>
      <p:sp>
        <p:nvSpPr>
          <p:cNvPr id="9" name="Shape 7"/>
          <p:cNvSpPr/>
          <p:nvPr/>
        </p:nvSpPr>
        <p:spPr>
          <a:xfrm>
            <a:off x="640080" y="2593238"/>
            <a:ext cx="243230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B · I · L · sinα</a:t>
            </a:r>
            <a:endParaRPr lang="en-US" sz="1300" dirty="0"/>
          </a:p>
        </p:txBody>
      </p:sp>
      <p:sp>
        <p:nvSpPr>
          <p:cNvPr id="11" name="Shape 9"/>
          <p:cNvSpPr/>
          <p:nvPr/>
        </p:nvSpPr>
        <p:spPr>
          <a:xfrm>
            <a:off x="3182112" y="2593238"/>
            <a:ext cx="213603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182112" y="259323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T = 1 N / (A·m)</a:t>
            </a:r>
            <a:endParaRPr lang="en-US" sz="1300" dirty="0"/>
          </a:p>
        </p:txBody>
      </p:sp>
      <p:sp>
        <p:nvSpPr>
          <p:cNvPr id="13" name="Text 11"/>
          <p:cNvSpPr txBox="1"/>
          <p:nvPr/>
        </p:nvSpPr>
        <p:spPr>
          <a:xfrm>
            <a:off x="640080" y="3215030"/>
            <a:ext cx="6309360" cy="172821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Alan iki kat güçlüyse kuvvet de iki kat olur: F ∝ B.</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Akım:</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Akım iki katına çıkınca kuvvet iki katına çıkar: F ∝ I.</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Uzunluk: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Alanın içinde kalan tel uzunluğu L iki katına çıkınca kuvvet de iki katına çıkar; her tel parçası kendi payını ekler.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Açı: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Telin alana dik izdüşümü L·sinα'dır; alana paralel kısım hiç kuvvet doğurmaz.</a:t>
            </a:r>
            <a:endParaRPr lang="en-US" sz="1400" dirty="0"/>
          </a:p>
        </p:txBody>
      </p:sp>
      <p:sp>
        <p:nvSpPr>
          <p:cNvPr id="14" name="Text 12"/>
          <p:cNvSpPr txBox="1"/>
          <p:nvPr/>
        </p:nvSpPr>
        <p:spPr>
          <a:xfrm>
            <a:off x="640080" y="5052974"/>
            <a:ext cx="630936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α = 90° (akım alana dik): kuvvet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en büyük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 = B·I·L</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α = 0° veya 180° (akım alana paralel): kuvvet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sıfır</a:t>
            </a:r>
            <a:endParaRPr lang="en-US" sz="1400" dirty="0"/>
          </a:p>
        </p:txBody>
      </p:sp>
      <p:sp>
        <p:nvSpPr>
          <p:cNvPr id="15" name="Shape 13"/>
          <p:cNvSpPr/>
          <p:nvPr/>
        </p:nvSpPr>
        <p:spPr>
          <a:xfrm>
            <a:off x="7242048" y="2593238"/>
            <a:ext cx="4309567" cy="3171984"/>
          </a:xfrm>
          <a:prstGeom prst="roundRect">
            <a:avLst>
              <a:gd name="adj" fmla="val 461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manyetik-alan-04.png">    </p:cNvPr>
          <p:cNvPicPr>
            <a:picLocks noChangeAspect="1"/>
          </p:cNvPicPr>
          <p:nvPr/>
        </p:nvPicPr>
        <p:blipFill>
          <a:blip r:embed="rId1"/>
          <a:stretch>
            <a:fillRect/>
          </a:stretch>
        </p:blipFill>
        <p:spPr>
          <a:xfrm>
            <a:off x="7424928" y="2776118"/>
            <a:ext cx="3943807" cy="1708944"/>
          </a:xfrm>
          <a:prstGeom prst="rect">
            <a:avLst/>
          </a:prstGeom>
        </p:spPr>
      </p:pic>
      <p:sp>
        <p:nvSpPr>
          <p:cNvPr id="17" name="Shape 14"/>
          <p:cNvSpPr/>
          <p:nvPr/>
        </p:nvSpPr>
        <p:spPr>
          <a:xfrm>
            <a:off x="7424928" y="4576502"/>
            <a:ext cx="3943807" cy="0"/>
          </a:xfrm>
          <a:prstGeom prst="line">
            <a:avLst/>
          </a:prstGeom>
          <a:noFill/>
          <a:ln w="9525">
            <a:solidFill>
              <a:srgbClr val="E1E5EE"/>
            </a:solidFill>
            <a:prstDash val="dash"/>
          </a:ln>
        </p:spPr>
      </p:sp>
      <p:sp>
        <p:nvSpPr>
          <p:cNvPr id="18" name="Text 15"/>
          <p:cNvSpPr txBox="1"/>
          <p:nvPr/>
        </p:nvSpPr>
        <p:spPr>
          <a:xfrm>
            <a:off x="7424928" y="4631366"/>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 içindeki bir tele etkiyen kuvvet, akıma ve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 büyüklüğü aradaki açının sinüsüyle değişir. Tel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dikken kuvvet en büyüktür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(α = 90°, sinα = 1); alana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paralelken kuvvet sıfırdır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(α = 0 ya da 180°). Elektrik motorunun bütün sırrı bu tek bağıntıda saklıdır.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 içinde v hızıyla hareket eden q yüküne F = q·v·B·sinα kuvveti etki eder; bağıntı I·L = q·v eşitliğinden çıkar. Kuvvet hıza dik olduğu için iş yapmaz: sürat değişmez, yalnızca yön değişir.</a:t>
            </a:r>
            <a:endParaRPr lang="en-US" sz="1850" dirty="0"/>
          </a:p>
        </p:txBody>
      </p:sp>
      <p:sp>
        <p:nvSpPr>
          <p:cNvPr id="9" name="Shape 7"/>
          <p:cNvSpPr/>
          <p:nvPr/>
        </p:nvSpPr>
        <p:spPr>
          <a:xfrm>
            <a:off x="640080" y="2593238"/>
            <a:ext cx="243230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q · v · B · sinα</a:t>
            </a:r>
            <a:endParaRPr lang="en-US" sz="1300" dirty="0"/>
          </a:p>
        </p:txBody>
      </p:sp>
      <p:sp>
        <p:nvSpPr>
          <p:cNvPr id="11" name="Text 9"/>
          <p:cNvSpPr txBox="1"/>
          <p:nvPr/>
        </p:nvSpPr>
        <p:spPr>
          <a:xfrm>
            <a:off x="640080" y="3251606"/>
            <a:ext cx="7223760" cy="274320"/>
          </a:xfrm>
          <a:prstGeom prst="rect">
            <a:avLst/>
          </a:prstGeom>
          <a:noFill/>
          <a:ln/>
        </p:spPr>
        <p:txBody>
          <a:bodyPr wrap="square" lIns="0" tIns="0" rIns="0" bIns="0" rtlCol="0" anchor="ctr"/>
          <a:lstStyle/>
          <a:p>
            <a:pPr indent="0" marL="0">
              <a:buNone/>
            </a:pPr>
            <a:r>
              <a:rPr lang="en-US" sz="1250" b="1" dirty="0">
                <a:solidFill>
                  <a:srgbClr val="2957D4"/>
                </a:solidFill>
                <a:latin typeface="Calibri" pitchFamily="34" charset="0"/>
                <a:ea typeface="Calibri" pitchFamily="34" charset="-122"/>
                <a:cs typeface="Calibri" pitchFamily="34" charset="-120"/>
              </a:rPr>
              <a:t>Telden tek yüke</a:t>
            </a:r>
            <a:endParaRPr lang="en-US" sz="1250" dirty="0"/>
          </a:p>
        </p:txBody>
      </p:sp>
      <p:sp>
        <p:nvSpPr>
          <p:cNvPr id="12" name="Text 10"/>
          <p:cNvSpPr txBox="1"/>
          <p:nvPr/>
        </p:nvSpPr>
        <p:spPr>
          <a:xfrm>
            <a:off x="640080" y="3562502"/>
            <a:ext cx="7223760" cy="130759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Akımın tanımı: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Telin bir kesitinden Δt sürede q yükü geçiyorsa akım I = q / Δt'dir.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Yolun tanımı: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Bu yük aynı sürede v hızıyla L = v·Δt kadar yol alır.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Çarp:</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I·L = (q/Δt)·(v·Δt) = q·v; Δt sadeleşir.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F = B·I·L·sinα içinde I·L yerine q·v yazınca F = q·v·B·sinα çıkar. Burada α, hız ile alan arasındaki açıdır.</a:t>
            </a:r>
            <a:endParaRPr lang="en-US" sz="1200" dirty="0"/>
          </a:p>
        </p:txBody>
      </p:sp>
      <p:sp>
        <p:nvSpPr>
          <p:cNvPr id="13" name="Text 11"/>
          <p:cNvSpPr txBox="1"/>
          <p:nvPr/>
        </p:nvSpPr>
        <p:spPr>
          <a:xfrm>
            <a:off x="640080" y="4979822"/>
            <a:ext cx="722376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Duran yüke manyetik kuvvet etki etmez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(v = 0 ise F = 0).</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Alana paralel giren yük sapmaz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(α = 0 ise F = 0).</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Manyetik kuvvet iş yapmaz: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kuvvet hıza dik olduğu için cismin </a:t>
            </a:r>
            <a:pPr indent="0" marL="0">
              <a:lnSpc>
                <a:spcPct val="115000"/>
              </a:lnSpc>
              <a:buNone/>
            </a:pPr>
            <a:r>
              <a:rPr lang="en-US" sz="1200" i="1" dirty="0">
                <a:solidFill>
                  <a:srgbClr val="4A5470"/>
                </a:solidFill>
                <a:latin typeface="Calibri" pitchFamily="34" charset="0"/>
                <a:ea typeface="Calibri" pitchFamily="34" charset="-122"/>
                <a:cs typeface="Calibri" pitchFamily="34" charset="-120"/>
              </a:rPr>
              <a:t>kinetik enerjisi değişmez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yalnızca yönü değişir.</a:t>
            </a:r>
            <a:endParaRPr lang="en-US" sz="1200" dirty="0"/>
          </a:p>
        </p:txBody>
      </p:sp>
      <p:sp>
        <p:nvSpPr>
          <p:cNvPr id="14" name="Shape 12"/>
          <p:cNvSpPr/>
          <p:nvPr/>
        </p:nvSpPr>
        <p:spPr>
          <a:xfrm>
            <a:off x="8156448" y="2593238"/>
            <a:ext cx="3395167" cy="3237685"/>
          </a:xfrm>
          <a:prstGeom prst="roundRect">
            <a:avLst>
              <a:gd name="adj" fmla="val 45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5/sek/manyetik-alan-05.png">    </p:cNvPr>
          <p:cNvPicPr>
            <a:picLocks noChangeAspect="1"/>
          </p:cNvPicPr>
          <p:nvPr/>
        </p:nvPicPr>
        <p:blipFill>
          <a:blip r:embed="rId1"/>
          <a:stretch>
            <a:fillRect/>
          </a:stretch>
        </p:blipFill>
        <p:spPr>
          <a:xfrm>
            <a:off x="8339328" y="2776118"/>
            <a:ext cx="3029407" cy="1236978"/>
          </a:xfrm>
          <a:prstGeom prst="rect">
            <a:avLst/>
          </a:prstGeom>
        </p:spPr>
      </p:pic>
      <p:sp>
        <p:nvSpPr>
          <p:cNvPr id="16" name="Shape 13"/>
          <p:cNvSpPr/>
          <p:nvPr/>
        </p:nvSpPr>
        <p:spPr>
          <a:xfrm>
            <a:off x="8339328" y="4104536"/>
            <a:ext cx="3029407" cy="0"/>
          </a:xfrm>
          <a:prstGeom prst="line">
            <a:avLst/>
          </a:prstGeom>
          <a:noFill/>
          <a:ln w="9525">
            <a:solidFill>
              <a:srgbClr val="E1E5EE"/>
            </a:solidFill>
            <a:prstDash val="dash"/>
          </a:ln>
        </p:spPr>
      </p:sp>
      <p:sp>
        <p:nvSpPr>
          <p:cNvPr id="17" name="Text 14"/>
          <p:cNvSpPr txBox="1"/>
          <p:nvPr/>
        </p:nvSpPr>
        <p:spPr>
          <a:xfrm>
            <a:off x="8339328" y="4159400"/>
            <a:ext cx="302940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hareket hâlindeki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yüke etki eder ve büyüklüğü hız ile alan arasındaki açıya bağlıdır. Alana paralel giren yük hiç sapmaz; dik giren yük ise en büyük kuvveti görür. Kuvvet hıza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daima 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 için yükün süratini asla değiştiremez — manyetik kuvvet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 yapmaz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yalnızca yön değiştirir.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Alana dik giren yük çember çizer: q·v·B = m·v²/r eşitliğinden r = m·v/(q·B) ve T = 2π·m/(q·B) çıkar. Yarıçap hızla büyür, periyot hızdan bağımsızdır.</a:t>
            </a:r>
            <a:endParaRPr lang="en-US" sz="1900" dirty="0"/>
          </a:p>
        </p:txBody>
      </p:sp>
      <p:sp>
        <p:nvSpPr>
          <p:cNvPr id="9" name="Shape 7"/>
          <p:cNvSpPr/>
          <p:nvPr/>
        </p:nvSpPr>
        <p:spPr>
          <a:xfrm>
            <a:off x="640080" y="2294534"/>
            <a:ext cx="2037283"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q·v·B = m·v² / r</a:t>
            </a:r>
            <a:endParaRPr lang="en-US" sz="1300" dirty="0"/>
          </a:p>
        </p:txBody>
      </p:sp>
      <p:sp>
        <p:nvSpPr>
          <p:cNvPr id="11" name="Shape 9"/>
          <p:cNvSpPr/>
          <p:nvPr/>
        </p:nvSpPr>
        <p:spPr>
          <a:xfrm>
            <a:off x="2787091" y="2294534"/>
            <a:ext cx="193852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787091"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m·v / (q·B)</a:t>
            </a:r>
            <a:endParaRPr lang="en-US" sz="1300" dirty="0"/>
          </a:p>
        </p:txBody>
      </p:sp>
      <p:sp>
        <p:nvSpPr>
          <p:cNvPr id="13" name="Shape 11"/>
          <p:cNvSpPr/>
          <p:nvPr/>
        </p:nvSpPr>
        <p:spPr>
          <a:xfrm>
            <a:off x="4835347" y="2294534"/>
            <a:ext cx="203728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835347"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2π·m / (q·B)</a:t>
            </a:r>
            <a:endParaRPr lang="en-US" sz="1300" dirty="0"/>
          </a:p>
        </p:txBody>
      </p:sp>
      <p:sp>
        <p:nvSpPr>
          <p:cNvPr id="15" name="Text 13"/>
          <p:cNvSpPr txBox="1"/>
          <p:nvPr/>
        </p:nvSpPr>
        <p:spPr>
          <a:xfrm>
            <a:off x="640080" y="2916326"/>
            <a:ext cx="6949440" cy="157048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Kuvvet merkeze yönelir: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Büyüklüğü sabit ve hep hıza dik bir kuvvet cismi düzgün çembersel harekete zorlar; bunun için gereken merkezcil kuvvet m·v²/r'dir.</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Bu kuvveti manyetik kuvvet sağlar: q·v·B = m·v²/r.</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Yarıçap:</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İki taraftaki v'lerden biri sadeleşir: r = m·v/(q·B).</a:t>
            </a:r>
            <a:endParaRPr lang="en-US" sz="1250" dirty="0"/>
          </a:p>
          <a:p>
            <a:pPr marL="228600" indent="-228600">
              <a:lnSpc>
                <a:spcPct val="115000"/>
              </a:lnSpc>
              <a:spcAft>
                <a:spcPts val="500"/>
              </a:spcAft>
              <a:buSzPct val="100000"/>
              <a:buFont typeface="+mj-lt"/>
              <a:buAutoNum type="arabicPeriod" startAt="1"/>
            </a:pPr>
            <a:r>
              <a:rPr lang="en-US" sz="1250" b="1" dirty="0">
                <a:solidFill>
                  <a:srgbClr val="0E1426"/>
                </a:solidFill>
                <a:latin typeface="Calibri" pitchFamily="34" charset="0"/>
                <a:ea typeface="Calibri" pitchFamily="34" charset="-122"/>
                <a:cs typeface="Calibri" pitchFamily="34" charset="-120"/>
              </a:rPr>
              <a:t>Periyot:</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Bir tur 2π·r yoldur, T = 2π·r/v. r'yi yerine koyunca v tamamen sadeleşir: T = 2π·m/(q·B).</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4596536"/>
          <a:ext cx="6949440" cy="914400"/>
        </p:xfrm>
        <a:graphic>
          <a:graphicData uri="http://schemas.openxmlformats.org/drawingml/2006/table">
            <a:tbl>
              <a:tblPr/>
              <a:tblGrid>
                <a:gridCol w="2105891"/>
                <a:gridCol w="1263535"/>
                <a:gridCol w="1474124"/>
                <a:gridCol w="210589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Yarıçap</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Periyot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10·10⁶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5,7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3,6·10⁻⁸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20·10⁶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11,4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3,6·10⁻⁸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10·10⁶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2,8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1,8·10⁻⁸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7" name="Shape 14"/>
          <p:cNvSpPr/>
          <p:nvPr/>
        </p:nvSpPr>
        <p:spPr>
          <a:xfrm>
            <a:off x="7882128" y="2294534"/>
            <a:ext cx="3669487" cy="3514882"/>
          </a:xfrm>
          <a:prstGeom prst="roundRect">
            <a:avLst>
              <a:gd name="adj" fmla="val 41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5/sek/manyetik-alan-06.png">    </p:cNvPr>
          <p:cNvPicPr>
            <a:picLocks noChangeAspect="1"/>
          </p:cNvPicPr>
          <p:nvPr/>
        </p:nvPicPr>
        <p:blipFill>
          <a:blip r:embed="rId1"/>
          <a:stretch>
            <a:fillRect/>
          </a:stretch>
        </p:blipFill>
        <p:spPr>
          <a:xfrm>
            <a:off x="8065008" y="2477414"/>
            <a:ext cx="3303727" cy="1514175"/>
          </a:xfrm>
          <a:prstGeom prst="rect">
            <a:avLst/>
          </a:prstGeom>
        </p:spPr>
      </p:pic>
      <p:sp>
        <p:nvSpPr>
          <p:cNvPr id="19" name="Shape 15"/>
          <p:cNvSpPr/>
          <p:nvPr/>
        </p:nvSpPr>
        <p:spPr>
          <a:xfrm>
            <a:off x="8065008" y="4083030"/>
            <a:ext cx="3303727" cy="0"/>
          </a:xfrm>
          <a:prstGeom prst="line">
            <a:avLst/>
          </a:prstGeom>
          <a:noFill/>
          <a:ln w="9525">
            <a:solidFill>
              <a:srgbClr val="E1E5EE"/>
            </a:solidFill>
            <a:prstDash val="dash"/>
          </a:ln>
        </p:spPr>
      </p:sp>
      <p:sp>
        <p:nvSpPr>
          <p:cNvPr id="20" name="Text 16"/>
          <p:cNvSpPr txBox="1"/>
          <p:nvPr/>
        </p:nvSpPr>
        <p:spPr>
          <a:xfrm>
            <a:off x="8065008" y="4137894"/>
            <a:ext cx="330372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Alana dik giren yükün gördüğü kuvvet hıza daima dik olduğu için yük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çember çizer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merkezcil kuvveti manyetik kuvvet sağlar. Hız iki katına çıkarsa yarıçap da iki katına çıkar. Şaşırtıcı olan şu: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periyot hıza hiç bağlı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hızlı parçacık daha büyük çember çizer ama turu aynı sürede tamamlar. Siklotron tam olarak bunu kullanır.</a:t>
            </a:r>
            <a:endParaRPr lang="en-US" sz="1050" dirty="0"/>
          </a:p>
        </p:txBody>
      </p:sp>
      <p:sp>
        <p:nvSpPr>
          <p:cNvPr id="21" name="Shape 17"/>
          <p:cNvSpPr/>
          <p:nvPr/>
        </p:nvSpPr>
        <p:spPr>
          <a:xfrm>
            <a:off x="640080" y="6382512"/>
            <a:ext cx="128016" cy="128016"/>
          </a:xfrm>
          <a:prstGeom prst="roundRect">
            <a:avLst>
              <a:gd name="adj" fmla="val 28571"/>
            </a:avLst>
          </a:prstGeom>
          <a:solidFill>
            <a:srgbClr val="A9E648"/>
          </a:solidFill>
          <a:ln/>
        </p:spPr>
      </p:sp>
      <p:sp>
        <p:nvSpPr>
          <p:cNvPr id="22"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3"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Hızı iki katına çıkan elektron iki kat büyük çember çiziyorsa, turunu neden aynı sürede tamamlar?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Manyetik alanda dairesel hareket</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Hızı iki katına çıkan elektron iki kat büyük çember çiziyorsa, turunu neden aynı sürede tamamlar?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Çember iki kat büyüdüğü için bir turun yolu da iki kat uzar, ama elektron bu yolu iki kat hızla alır. Yol ve hız aynı oranda arttığından süre değişmez. Tur süresini yalnızca kütle, yük ve alan belirler: T = 2π·m/(q·B).</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alanlar üst üste binince, yük alana eğik girince ve manyetizma teknolojiye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İki tel yan yana: alanların toplanması ve paralel teller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Eğik giriş, sarmal yörünge ve siklotron</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Manyetizma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manyetik-alan-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Manyetik trenler (maglev)</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Birden çok akımın alanları vektörel olarak toplanır. Paralel teller birbirine F/L = 2·10⁻⁷·I₁·I₂/d kuvveti uygular: aynı yönlü akımlar çeker, zıt yönlü akımlar iter.</a:t>
            </a:r>
            <a:endParaRPr lang="en-US" sz="1900" dirty="0"/>
          </a:p>
        </p:txBody>
      </p:sp>
      <p:sp>
        <p:nvSpPr>
          <p:cNvPr id="9" name="Text 7"/>
          <p:cNvSpPr txBox="1"/>
          <p:nvPr/>
        </p:nvSpPr>
        <p:spPr>
          <a:xfrm>
            <a:off x="640080" y="2294534"/>
            <a:ext cx="10911535" cy="14188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Aynı yönde akım taşıyan iki tel: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aralarındaki bölgede alanları zıt yönlüdür; bir noktada birbirini tam götürür.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Zıt yönde akım taşıyan iki tel:</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aralarında alanlar aynı yönlüdür ve toplanır; uzakta ise büyük ölçüde birbirini götürür.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Evdeki kablo:</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gidiş ve dönüş telleri milimetrelerle ayrılmış, zıt akımlı iki teldir; alanları kablodan uzaklaştıkça hızla birbirini siler.</a:t>
            </a:r>
            <a:endParaRPr lang="en-US" sz="1400" dirty="0"/>
          </a:p>
        </p:txBody>
      </p:sp>
      <p:sp>
        <p:nvSpPr>
          <p:cNvPr id="10" name="Text 8"/>
          <p:cNvSpPr txBox="1"/>
          <p:nvPr/>
        </p:nvSpPr>
        <p:spPr>
          <a:xfrm>
            <a:off x="640080" y="3859682"/>
            <a:ext cx="10911535" cy="274320"/>
          </a:xfrm>
          <a:prstGeom prst="rect">
            <a:avLst/>
          </a:prstGeom>
          <a:noFill/>
          <a:ln/>
        </p:spPr>
        <p:txBody>
          <a:bodyPr wrap="square" lIns="0" tIns="0" rIns="0" bIns="0" rtlCol="0" anchor="ctr"/>
          <a:lstStyle/>
          <a:p>
            <a:pPr indent="0" marL="0">
              <a:buNone/>
            </a:pPr>
            <a:r>
              <a:rPr lang="en-US" sz="1450" b="1" dirty="0">
                <a:solidFill>
                  <a:srgbClr val="5F4BD8"/>
                </a:solidFill>
                <a:latin typeface="Calibri" pitchFamily="34" charset="0"/>
                <a:ea typeface="Calibri" pitchFamily="34" charset="-122"/>
                <a:cs typeface="Calibri" pitchFamily="34" charset="-120"/>
              </a:rPr>
              <a:t>Paralel teller birbirine kuvvet uygular</a:t>
            </a:r>
            <a:endParaRPr lang="en-US" sz="1450" dirty="0"/>
          </a:p>
        </p:txBody>
      </p:sp>
      <p:sp>
        <p:nvSpPr>
          <p:cNvPr id="11" name="Shape 9"/>
          <p:cNvSpPr/>
          <p:nvPr/>
        </p:nvSpPr>
        <p:spPr>
          <a:xfrm>
            <a:off x="640080" y="4170578"/>
            <a:ext cx="302483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640080" y="4170578"/>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F/L = 2·10⁻⁷ · I₁ · I₂ / d</a:t>
            </a:r>
            <a:endParaRPr lang="en-US" sz="1300" dirty="0"/>
          </a:p>
        </p:txBody>
      </p:sp>
      <p:sp>
        <p:nvSpPr>
          <p:cNvPr id="13" name="Shape 11"/>
          <p:cNvSpPr/>
          <p:nvPr/>
        </p:nvSpPr>
        <p:spPr>
          <a:xfrm>
            <a:off x="640080" y="4792370"/>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58368" y="4938674"/>
            <a:ext cx="45720" cy="565404"/>
          </a:xfrm>
          <a:prstGeom prst="rect">
            <a:avLst/>
          </a:prstGeom>
          <a:solidFill>
            <a:srgbClr val="A56209"/>
          </a:solidFill>
          <a:ln/>
        </p:spPr>
      </p:sp>
      <p:sp>
        <p:nvSpPr>
          <p:cNvPr id="15" name="Text 13"/>
          <p:cNvSpPr txBox="1"/>
          <p:nvPr/>
        </p:nvSpPr>
        <p:spPr>
          <a:xfrm>
            <a:off x="914400" y="4902098"/>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B = 2·10⁻⁷·I/r çok uzun ve ince düz bir tel içindir; kısa tellerde ya da telin uçlarına yakın noktalarda alan farklıdır. Bağıntılar boşluk ve hava içindir; demir gibi maddeler alanı yüzlerce kat güçlendirebilir.</a:t>
            </a:r>
            <a:endParaRPr lang="en-US" sz="13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Evdeki uzatma kablosundan 10 A geçerken yanına konan pusula neden neredeyse hiç sapmaz?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İki tel yan yana: alanların toplanması ve paralel teller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Evdeki uzatma kablosundan 10 A geçerken yanına konan pusula neden neredeyse hiç sapmaz?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Alana eğik giren yük, paralel hız bileşeniyle ilerleyip dik bileşeniyle dönerek sarmal çizer. Siklotron, periyodun hızdan bağımsız olmasını kullanarak parçacıkları sabit frekanslı bir gerilimle hızlandırır.</a:t>
            </a:r>
            <a:endParaRPr lang="en-US" sz="1850" dirty="0"/>
          </a:p>
        </p:txBody>
      </p:sp>
      <p:sp>
        <p:nvSpPr>
          <p:cNvPr id="9" name="Shape 7"/>
          <p:cNvSpPr/>
          <p:nvPr/>
        </p:nvSpPr>
        <p:spPr>
          <a:xfrm>
            <a:off x="640080" y="2593238"/>
            <a:ext cx="10911535" cy="893064"/>
          </a:xfrm>
          <a:prstGeom prst="roundRect">
            <a:avLst>
              <a:gd name="adj" fmla="val 122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600456"/>
          </a:xfrm>
          <a:prstGeom prst="rect">
            <a:avLst/>
          </a:prstGeom>
          <a:solidFill>
            <a:srgbClr val="3C8C21"/>
          </a:solidFill>
          <a:ln/>
        </p:spPr>
      </p:sp>
      <p:sp>
        <p:nvSpPr>
          <p:cNvPr id="11" name="Text 9"/>
          <p:cNvSpPr txBox="1"/>
          <p:nvPr/>
        </p:nvSpPr>
        <p:spPr>
          <a:xfrm>
            <a:off x="914400" y="2702966"/>
            <a:ext cx="10454335" cy="673608"/>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Bir boyut daha: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Yük alana </a:t>
            </a:r>
            <a:pPr indent="0" marL="0">
              <a:lnSpc>
                <a:spcPct val="112000"/>
              </a:lnSpc>
              <a:buNone/>
            </a:pPr>
            <a:r>
              <a:rPr lang="en-US" sz="1400" i="1" dirty="0">
                <a:solidFill>
                  <a:srgbClr val="4A5470"/>
                </a:solidFill>
                <a:latin typeface="Calibri" pitchFamily="34" charset="0"/>
                <a:ea typeface="Calibri" pitchFamily="34" charset="-122"/>
                <a:cs typeface="Calibri" pitchFamily="34" charset="-120"/>
              </a:rPr>
              <a:t>eğik</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girerse hız iki bileşene ayrılır: alana paralel bileşen sabit kalır, dik bileşen çembersel harekete yol açar. Sonuç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sarmal (helis)</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bir yörüngedir.</a:t>
            </a:r>
            <a:endParaRPr lang="en-US" sz="1400" dirty="0"/>
          </a:p>
        </p:txBody>
      </p:sp>
      <p:sp>
        <p:nvSpPr>
          <p:cNvPr id="12" name="Shape 10"/>
          <p:cNvSpPr/>
          <p:nvPr/>
        </p:nvSpPr>
        <p:spPr>
          <a:xfrm>
            <a:off x="640080" y="3596030"/>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640080" y="359603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 · cosα</a:t>
            </a:r>
            <a:endParaRPr lang="en-US" sz="1300" dirty="0"/>
          </a:p>
        </p:txBody>
      </p:sp>
      <p:sp>
        <p:nvSpPr>
          <p:cNvPr id="14" name="Shape 12"/>
          <p:cNvSpPr/>
          <p:nvPr/>
        </p:nvSpPr>
        <p:spPr>
          <a:xfrm>
            <a:off x="2490826" y="3596030"/>
            <a:ext cx="1741018"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2490826" y="359603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v · sinα</a:t>
            </a:r>
            <a:endParaRPr lang="en-US" sz="1300" dirty="0"/>
          </a:p>
        </p:txBody>
      </p:sp>
      <p:sp>
        <p:nvSpPr>
          <p:cNvPr id="16" name="Shape 14"/>
          <p:cNvSpPr/>
          <p:nvPr/>
        </p:nvSpPr>
        <p:spPr>
          <a:xfrm>
            <a:off x="4341571" y="3596030"/>
            <a:ext cx="2037283" cy="457200"/>
          </a:xfrm>
          <a:prstGeom prst="roundRect">
            <a:avLst>
              <a:gd name="adj" fmla="val 24000"/>
            </a:avLst>
          </a:prstGeom>
          <a:solidFill>
            <a:srgbClr val="EEF2FC"/>
          </a:solidFill>
          <a:ln w="9525">
            <a:solidFill>
              <a:srgbClr val="CBD7F4"/>
            </a:solidFill>
            <a:prstDash val="solid"/>
          </a:ln>
        </p:spPr>
      </p:sp>
      <p:sp>
        <p:nvSpPr>
          <p:cNvPr id="17" name="Text 15"/>
          <p:cNvSpPr txBox="1"/>
          <p:nvPr/>
        </p:nvSpPr>
        <p:spPr>
          <a:xfrm>
            <a:off x="4341571" y="3596030"/>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 = m·v⊥ / (q·B)</a:t>
            </a:r>
            <a:endParaRPr lang="en-US" sz="1300" dirty="0"/>
          </a:p>
        </p:txBody>
      </p:sp>
      <p:sp>
        <p:nvSpPr>
          <p:cNvPr id="18" name="Shape 16"/>
          <p:cNvSpPr/>
          <p:nvPr/>
        </p:nvSpPr>
        <p:spPr>
          <a:xfrm>
            <a:off x="6488582" y="3596030"/>
            <a:ext cx="1741018" cy="457200"/>
          </a:xfrm>
          <a:prstGeom prst="roundRect">
            <a:avLst>
              <a:gd name="adj" fmla="val 24000"/>
            </a:avLst>
          </a:prstGeom>
          <a:solidFill>
            <a:srgbClr val="EEF2FC"/>
          </a:solidFill>
          <a:ln w="9525">
            <a:solidFill>
              <a:srgbClr val="CBD7F4"/>
            </a:solidFill>
            <a:prstDash val="solid"/>
          </a:ln>
        </p:spPr>
      </p:sp>
      <p:sp>
        <p:nvSpPr>
          <p:cNvPr id="19" name="Text 17"/>
          <p:cNvSpPr txBox="1"/>
          <p:nvPr/>
        </p:nvSpPr>
        <p:spPr>
          <a:xfrm>
            <a:off x="6488582" y="3596030"/>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adım = v∥ · T</a:t>
            </a:r>
            <a:endParaRPr lang="en-US" sz="1300" dirty="0"/>
          </a:p>
        </p:txBody>
      </p:sp>
      <p:sp>
        <p:nvSpPr>
          <p:cNvPr id="20" name="Text 18"/>
          <p:cNvSpPr txBox="1"/>
          <p:nvPr/>
        </p:nvSpPr>
        <p:spPr>
          <a:xfrm>
            <a:off x="640080" y="4254398"/>
            <a:ext cx="10911535" cy="274320"/>
          </a:xfrm>
          <a:prstGeom prst="rect">
            <a:avLst/>
          </a:prstGeom>
          <a:noFill/>
          <a:ln/>
        </p:spPr>
        <p:txBody>
          <a:bodyPr wrap="square" lIns="0" tIns="0" rIns="0" bIns="0" rtlCol="0" anchor="ctr"/>
          <a:lstStyle/>
          <a:p>
            <a:pPr indent="0" marL="0">
              <a:buNone/>
            </a:pPr>
            <a:r>
              <a:rPr lang="en-US" sz="1550" b="1" dirty="0">
                <a:solidFill>
                  <a:srgbClr val="5F4BD8"/>
                </a:solidFill>
                <a:latin typeface="Calibri" pitchFamily="34" charset="0"/>
                <a:ea typeface="Calibri" pitchFamily="34" charset="-122"/>
                <a:cs typeface="Calibri" pitchFamily="34" charset="-120"/>
              </a:rPr>
              <a:t>Siklotron: periyodun sabitliğinden yararlanmak</a:t>
            </a:r>
            <a:endParaRPr lang="en-US" sz="1550" dirty="0"/>
          </a:p>
        </p:txBody>
      </p:sp>
      <p:sp>
        <p:nvSpPr>
          <p:cNvPr id="21" name="Shape 19"/>
          <p:cNvSpPr/>
          <p:nvPr/>
        </p:nvSpPr>
        <p:spPr>
          <a:xfrm>
            <a:off x="640080" y="4565294"/>
            <a:ext cx="10911535"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658368" y="4711598"/>
            <a:ext cx="45720" cy="845820"/>
          </a:xfrm>
          <a:prstGeom prst="rect">
            <a:avLst/>
          </a:prstGeom>
          <a:solidFill>
            <a:srgbClr val="A56209"/>
          </a:solidFill>
          <a:ln/>
        </p:spPr>
      </p:sp>
      <p:sp>
        <p:nvSpPr>
          <p:cNvPr id="23" name="Text 21"/>
          <p:cNvSpPr txBox="1"/>
          <p:nvPr/>
        </p:nvSpPr>
        <p:spPr>
          <a:xfrm>
            <a:off x="914400" y="4675022"/>
            <a:ext cx="10454335"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Modelin sınırı:</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Periyodun hızdan bağımsız olması, ışık hızından çok küçük hızlarda geçerlidir. Parçacık ışık hızına yaklaştıkça tur süresi uzar ve basit siklotron uyumu kaybeder; büyük hızlandırıcılar bu yüzden alanı ya da frekansı hıza göre ayarlar.</a:t>
            </a:r>
            <a:endParaRPr lang="en-US" sz="1400" dirty="0"/>
          </a:p>
        </p:txBody>
      </p:sp>
      <p:sp>
        <p:nvSpPr>
          <p:cNvPr id="24" name="Shape 22"/>
          <p:cNvSpPr/>
          <p:nvPr/>
        </p:nvSpPr>
        <p:spPr>
          <a:xfrm>
            <a:off x="640080" y="6382512"/>
            <a:ext cx="128016" cy="128016"/>
          </a:xfrm>
          <a:prstGeom prst="roundRect">
            <a:avLst>
              <a:gd name="adj" fmla="val 28571"/>
            </a:avLst>
          </a:prstGeom>
          <a:solidFill>
            <a:srgbClr val="A9E648"/>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Kutup ışıkları neden ekvatorda değil de kutuplara yakın bölgelerde görülür?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Eğik giriş, sarmal yörünge ve siklotron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Kutup ışıkları neden ekvatorda değil de kutuplara yakın bölgelerde görülür?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Motor, hoparlör, MR, maglev, siklotron ve kutup ışıkları aynı ilkelere dayanır: akım alan üretir, alan akıma kuvvet uygular, yükler alanda çember ya da sarmal çizer.</a:t>
            </a:r>
            <a:endParaRPr lang="en-US" sz="1900" dirty="0"/>
          </a:p>
        </p:txBody>
      </p:sp>
      <p:sp>
        <p:nvSpPr>
          <p:cNvPr id="9" name="Text 7"/>
          <p:cNvSpPr txBox="1"/>
          <p:nvPr/>
        </p:nvSpPr>
        <p:spPr>
          <a:xfrm>
            <a:off x="640080" y="2294534"/>
            <a:ext cx="6675120" cy="25984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MR cihazı: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süperiletken bobinler 1,5–3 T'lık, Dünya'nınkinin 30 000–60 000 katı bir alan üretir.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Maglev: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raya değmeden, küçük bir boşlukla havada giden tren deneme sürüşlerinde 600 km/h'i aştı.</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Hoparlör: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1 T'lık alandaki bobinden geçen ses akımı zarı saniyede 20 ile 20 000 kez titretir.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Siklotron: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1 T'da protonun tur frekansı ≈ 15 MHz; hastanelerde PET için radyoaktif madde üretir.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Dünya'nın kalkanı: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Güneş'ten gelen parçacıkların çoğu saptırılır; kutuplarda 100 km'nin üzerinde havaya çarpanlar kutup ışığı yakar.</a:t>
            </a:r>
            <a:endParaRPr lang="en-US" sz="1300" dirty="0"/>
          </a:p>
        </p:txBody>
      </p:sp>
      <p:sp>
        <p:nvSpPr>
          <p:cNvPr id="10" name="Shape 8"/>
          <p:cNvSpPr/>
          <p:nvPr/>
        </p:nvSpPr>
        <p:spPr>
          <a:xfrm>
            <a:off x="7607808" y="2294534"/>
            <a:ext cx="3943807" cy="3371936"/>
          </a:xfrm>
          <a:prstGeom prst="roundRect">
            <a:avLst>
              <a:gd name="adj" fmla="val 43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manyetik-alan-07.png">    </p:cNvPr>
          <p:cNvPicPr>
            <a:picLocks noChangeAspect="1"/>
          </p:cNvPicPr>
          <p:nvPr/>
        </p:nvPicPr>
        <p:blipFill>
          <a:blip r:embed="rId1"/>
          <a:stretch>
            <a:fillRect/>
          </a:stretch>
        </p:blipFill>
        <p:spPr>
          <a:xfrm>
            <a:off x="7790688" y="2477414"/>
            <a:ext cx="3578047" cy="1550451"/>
          </a:xfrm>
          <a:prstGeom prst="rect">
            <a:avLst/>
          </a:prstGeom>
        </p:spPr>
      </p:pic>
      <p:sp>
        <p:nvSpPr>
          <p:cNvPr id="12" name="Shape 9"/>
          <p:cNvSpPr/>
          <p:nvPr/>
        </p:nvSpPr>
        <p:spPr>
          <a:xfrm>
            <a:off x="7790688" y="4119306"/>
            <a:ext cx="3578047" cy="0"/>
          </a:xfrm>
          <a:prstGeom prst="line">
            <a:avLst/>
          </a:prstGeom>
          <a:noFill/>
          <a:ln w="9525">
            <a:solidFill>
              <a:srgbClr val="E1E5EE"/>
            </a:solidFill>
            <a:prstDash val="dash"/>
          </a:ln>
        </p:spPr>
      </p:sp>
      <p:sp>
        <p:nvSpPr>
          <p:cNvPr id="13" name="Text 10"/>
          <p:cNvSpPr txBox="1"/>
          <p:nvPr/>
        </p:nvSpPr>
        <p:spPr>
          <a:xfrm>
            <a:off x="7790688" y="4174170"/>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Çerçevenin iki kenarından akım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zıt yönlerde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geçtiği için bu kenarlara etkiyen kuvvetler de zıt yönlü olur. Büyüklükleri eşit olduğundan çerçeve bir yere ötelenmez, ama birlikte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dönme etkisi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yaratırlar. Her yarım turda akımın yönünü çeviren bir komütatör eklenince dönme sürekli hâle gelir: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elektrik motoru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budur.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3637178"/>
                <a:gridCol w="72743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Uygulama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Kullanılan ilke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Elektrik motoru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Alan içindeki akıma etki eden kuvvet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Hoparlör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Değişen akım → değişen kuvvet → titreşen membran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 spektrometresi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r = mv/(qB): farklı kütleler farklı yarıçap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Siklotron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Periyodun hızdan bağımsız olması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Kutup ışıkları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Yüklü parçacıkların alan çizgileri boyunca sarmal hareketi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Telin alanı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Tele etki eden kuvvet</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Hangi yöne sapar?</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Dairesel yörünge</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İki paralel tel</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Kütle spektrometresinde izotoplar</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Telin alanı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20 A akım taşıyan düz bir telden 10 cm uzaklıktaki manyetik alanın büyüklüğü nedir? Uzaklık iki katına çıkarılırsa alan ne olur?</a:t>
            </a:r>
            <a:endParaRPr lang="en-US" sz="1600" dirty="0"/>
          </a:p>
        </p:txBody>
      </p:sp>
      <p:sp>
        <p:nvSpPr>
          <p:cNvPr id="11" name="Shape 9"/>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2358"/>
            <a:ext cx="384048" cy="384048"/>
          </a:xfrm>
          <a:prstGeom prst="roundRect">
            <a:avLst>
              <a:gd name="adj" fmla="val 26000"/>
            </a:avLst>
          </a:prstGeom>
          <a:solidFill>
            <a:srgbClr val="A56209"/>
          </a:solidFill>
          <a:ln/>
        </p:spPr>
      </p:sp>
      <p:sp>
        <p:nvSpPr>
          <p:cNvPr id="13" name="Text 11"/>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2·10⁻⁷ · I / r = 2·10⁻⁷ · 20 / 0,1</a:t>
            </a:r>
            <a:endParaRPr lang="en-US" sz="1600" dirty="0"/>
          </a:p>
        </p:txBody>
      </p:sp>
      <p:sp>
        <p:nvSpPr>
          <p:cNvPr id="15" name="Shape 13"/>
          <p:cNvSpPr/>
          <p:nvPr/>
        </p:nvSpPr>
        <p:spPr>
          <a:xfrm>
            <a:off x="5212080" y="2847437"/>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43170"/>
            <a:ext cx="384048" cy="384048"/>
          </a:xfrm>
          <a:prstGeom prst="roundRect">
            <a:avLst>
              <a:gd name="adj" fmla="val 26000"/>
            </a:avLst>
          </a:prstGeom>
          <a:solidFill>
            <a:srgbClr val="A56209"/>
          </a:solidFill>
          <a:ln/>
        </p:spPr>
      </p:sp>
      <p:sp>
        <p:nvSpPr>
          <p:cNvPr id="17" name="Text 15"/>
          <p:cNvSpPr txBox="1"/>
          <p:nvPr/>
        </p:nvSpPr>
        <p:spPr>
          <a:xfrm>
            <a:off x="5449824" y="34431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02301"/>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4·10⁻⁵ T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µT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(Dünya'nın alanı mertebesinde)</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iki katına çıkarsa B yarıya iner: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µT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(1/r bağımlılığı)</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Tele etki eden kuvvet</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0,5 T'lık düzgün manyetik alana dik olarak yerleştirilmiş 40 cm uzunluğundaki telden 6 A akım geçiyor. Tele etki eden kuvvet nedir? Tel alana 30° açı yapsaydı?</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Dik durumda: F = B·I·L = 0,5 · 6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N</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 için: F = B·I·L·sin30° = 1,2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 N</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Tel alana paralel olsaydı (0°) kuvvet sıfır olurdu.</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Hangi yöne sapar?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Sayfa düzleminde sağa doğru hareket eden bir elektron, sayfaya doğru (⊗) yönelmiş manyetik alana giriyor. Elektron hangi yöne sapar?</a:t>
            </a:r>
            <a:endParaRPr lang="en-US" sz="1600" dirty="0"/>
          </a:p>
        </p:txBody>
      </p:sp>
      <p:sp>
        <p:nvSpPr>
          <p:cNvPr id="11" name="Shape 9"/>
          <p:cNvSpPr/>
          <p:nvPr/>
        </p:nvSpPr>
        <p:spPr>
          <a:xfrm>
            <a:off x="5212080" y="1627632"/>
            <a:ext cx="6339535" cy="1678584"/>
          </a:xfrm>
          <a:prstGeom prst="roundRect">
            <a:avLst>
              <a:gd name="adj" fmla="val 87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74900"/>
            <a:ext cx="384048" cy="384048"/>
          </a:xfrm>
          <a:prstGeom prst="roundRect">
            <a:avLst>
              <a:gd name="adj" fmla="val 26000"/>
            </a:avLst>
          </a:prstGeom>
          <a:solidFill>
            <a:srgbClr val="A56209"/>
          </a:solidFill>
          <a:ln/>
        </p:spPr>
      </p:sp>
      <p:sp>
        <p:nvSpPr>
          <p:cNvPr id="13" name="Text 11"/>
          <p:cNvSpPr txBox="1"/>
          <p:nvPr/>
        </p:nvSpPr>
        <p:spPr>
          <a:xfrm>
            <a:off x="5449824" y="22749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5688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Önce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pozitif</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yük varmış gibi düşün: parmaklar hız (sağa) yönünden alan (sayfaya doğru) yönüne döndürülür; başparmak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yukarıyı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gösterir.</a:t>
            </a:r>
            <a:endParaRPr lang="en-US" sz="1600" dirty="0"/>
          </a:p>
        </p:txBody>
      </p:sp>
      <p:sp>
        <p:nvSpPr>
          <p:cNvPr id="15" name="Shape 13"/>
          <p:cNvSpPr/>
          <p:nvPr/>
        </p:nvSpPr>
        <p:spPr>
          <a:xfrm>
            <a:off x="5212080" y="3452520"/>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896982"/>
            <a:ext cx="384048" cy="384048"/>
          </a:xfrm>
          <a:prstGeom prst="roundRect">
            <a:avLst>
              <a:gd name="adj" fmla="val 26000"/>
            </a:avLst>
          </a:prstGeom>
          <a:solidFill>
            <a:srgbClr val="A56209"/>
          </a:solidFill>
          <a:ln/>
        </p:spPr>
      </p:sp>
      <p:sp>
        <p:nvSpPr>
          <p:cNvPr id="17" name="Text 15"/>
          <p:cNvSpPr txBox="1"/>
          <p:nvPr/>
        </p:nvSpPr>
        <p:spPr>
          <a:xfrm>
            <a:off x="5449824" y="38969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507384"/>
            <a:ext cx="5379415" cy="116324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negatif</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olduğu için kuvvet tersine döner: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aşağı</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4871796"/>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316258"/>
            <a:ext cx="384048" cy="384048"/>
          </a:xfrm>
          <a:prstGeom prst="roundRect">
            <a:avLst>
              <a:gd name="adj" fmla="val 26000"/>
            </a:avLst>
          </a:prstGeom>
          <a:solidFill>
            <a:srgbClr val="A56209"/>
          </a:solidFill>
          <a:ln/>
        </p:spPr>
      </p:sp>
      <p:sp>
        <p:nvSpPr>
          <p:cNvPr id="21" name="Text 19"/>
          <p:cNvSpPr txBox="1"/>
          <p:nvPr/>
        </p:nvSpPr>
        <p:spPr>
          <a:xfrm>
            <a:off x="5449824" y="53162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926660"/>
            <a:ext cx="5379415" cy="116324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Kuvvet hıza dik olduğu için elektron aşağı doğru bir çember çizmeye başlar; sürati değişmez.</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Dairesel yörünge</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Kütlesi 9,1·10⁻³¹ kg, yükü 1,6·10⁻¹⁹ C olan bir elektron, 2·10⁷ m/s hızla 1 mT'lık alana dik giriyor. Yörüngenin yarıçapı ve periyodu nedir?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m·v/(q·B) = (9,1·10⁻³¹ · 2·10⁷) / (1,6·10⁻¹⁹ · 10⁻³)</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1,82·10⁻²³ / 1,6·10⁻²²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0,114 m ≈ 11,4 cm</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2πm/(qB) = (6,28 · 9,1·10⁻³¹) / (1,6·10⁻¹⁹ · 10⁻³)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3,6·10⁻⁸ s</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iki katına çıksaydı yarıçap iki katına çıkardı, ama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periyot değişmezdi</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paralel tel</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10 cm bulunan iki uzun paralel telden aynı yönde 10 A ve 30 A akım geçiyor. (a) Tellerin tam ortasındaki net manyetik alanı, (b) net alanın sıfır olduğu noktayı, (c) tellerin birbirine uyguladığı birim uzunluk başına kuvveti bulunuz.</a:t>
            </a:r>
            <a:endParaRPr lang="en-US" sz="1600" dirty="0"/>
          </a:p>
        </p:txBody>
      </p:sp>
      <p:sp>
        <p:nvSpPr>
          <p:cNvPr id="11" name="Shape 9"/>
          <p:cNvSpPr/>
          <p:nvPr/>
        </p:nvSpPr>
        <p:spPr>
          <a:xfrm>
            <a:off x="5212080" y="1627632"/>
            <a:ext cx="6339535" cy="1083852"/>
          </a:xfrm>
          <a:prstGeom prst="roundRect">
            <a:avLst>
              <a:gd name="adj" fmla="val 134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7534"/>
            <a:ext cx="384048" cy="384048"/>
          </a:xfrm>
          <a:prstGeom prst="roundRect">
            <a:avLst>
              <a:gd name="adj" fmla="val 26000"/>
            </a:avLst>
          </a:prstGeom>
          <a:solidFill>
            <a:srgbClr val="A56209"/>
          </a:solidFill>
          <a:ln/>
        </p:spPr>
      </p:sp>
      <p:sp>
        <p:nvSpPr>
          <p:cNvPr id="13" name="Text 11"/>
          <p:cNvSpPr txBox="1"/>
          <p:nvPr/>
        </p:nvSpPr>
        <p:spPr>
          <a:xfrm>
            <a:off x="5449824" y="19775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74124"/>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Orta nokta her telden 5 cm uzaktadır: B₁ = 2·10⁻⁷ · 10 / 0,05 = 4·10⁻⁵ T, B₂ = 2·10⁻⁷ · 30 / 0,05 = 1,2·10⁻⁴ T.</a:t>
            </a:r>
            <a:endParaRPr lang="en-US" sz="1500" dirty="0"/>
          </a:p>
        </p:txBody>
      </p:sp>
      <p:sp>
        <p:nvSpPr>
          <p:cNvPr id="15" name="Shape 13"/>
          <p:cNvSpPr/>
          <p:nvPr/>
        </p:nvSpPr>
        <p:spPr>
          <a:xfrm>
            <a:off x="5212080" y="2857788"/>
            <a:ext cx="6339535" cy="1083852"/>
          </a:xfrm>
          <a:prstGeom prst="roundRect">
            <a:avLst>
              <a:gd name="adj" fmla="val 134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690"/>
            <a:ext cx="384048" cy="384048"/>
          </a:xfrm>
          <a:prstGeom prst="roundRect">
            <a:avLst>
              <a:gd name="adj" fmla="val 26000"/>
            </a:avLst>
          </a:prstGeom>
          <a:solidFill>
            <a:srgbClr val="A56209"/>
          </a:solidFill>
          <a:ln/>
        </p:spPr>
      </p:sp>
      <p:sp>
        <p:nvSpPr>
          <p:cNvPr id="17" name="Text 15"/>
          <p:cNvSpPr txBox="1"/>
          <p:nvPr/>
        </p:nvSpPr>
        <p:spPr>
          <a:xfrm>
            <a:off x="5449824" y="320769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12652"/>
            <a:ext cx="5379415" cy="974124"/>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Akımlar aynı yönlü olduğu için teller arasında alanlar zıt yönlüdür: B = 1,2·10⁻⁴ − 4·10⁻⁵ = 8·10⁻⁵ T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80 µT</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30 A'lik telin alanı yönünde.</a:t>
            </a:r>
            <a:endParaRPr lang="en-US" sz="1500" dirty="0"/>
          </a:p>
        </p:txBody>
      </p:sp>
      <p:sp>
        <p:nvSpPr>
          <p:cNvPr id="19" name="Shape 17"/>
          <p:cNvSpPr/>
          <p:nvPr/>
        </p:nvSpPr>
        <p:spPr>
          <a:xfrm>
            <a:off x="5212080" y="4087945"/>
            <a:ext cx="6339535" cy="1083852"/>
          </a:xfrm>
          <a:prstGeom prst="roundRect">
            <a:avLst>
              <a:gd name="adj" fmla="val 134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847"/>
            <a:ext cx="384048" cy="384048"/>
          </a:xfrm>
          <a:prstGeom prst="roundRect">
            <a:avLst>
              <a:gd name="adj" fmla="val 26000"/>
            </a:avLst>
          </a:prstGeom>
          <a:solidFill>
            <a:srgbClr val="A56209"/>
          </a:solidFill>
          <a:ln/>
        </p:spPr>
      </p:sp>
      <p:sp>
        <p:nvSpPr>
          <p:cNvPr id="21" name="Text 19"/>
          <p:cNvSpPr txBox="1"/>
          <p:nvPr/>
        </p:nvSpPr>
        <p:spPr>
          <a:xfrm>
            <a:off x="5449824" y="44378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42809"/>
            <a:ext cx="5379415" cy="974124"/>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Sıfır noktası teller arasında, zayıf akımlı tele daha yakındır. 10 A'lik telden x uzaklıkta: 10 / x = 30 / (10 − x) → 100 − 10x = 30x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x = 2,5 cm</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5212080" y="5318101"/>
            <a:ext cx="6339535" cy="826667"/>
          </a:xfrm>
          <a:prstGeom prst="roundRect">
            <a:avLst>
              <a:gd name="adj" fmla="val 1769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39410"/>
            <a:ext cx="384048" cy="384048"/>
          </a:xfrm>
          <a:prstGeom prst="roundRect">
            <a:avLst>
              <a:gd name="adj" fmla="val 26000"/>
            </a:avLst>
          </a:prstGeom>
          <a:solidFill>
            <a:srgbClr val="A56209"/>
          </a:solidFill>
          <a:ln/>
        </p:spPr>
      </p:sp>
      <p:sp>
        <p:nvSpPr>
          <p:cNvPr id="25" name="Text 23"/>
          <p:cNvSpPr txBox="1"/>
          <p:nvPr/>
        </p:nvSpPr>
        <p:spPr>
          <a:xfrm>
            <a:off x="5449824" y="553941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372965"/>
            <a:ext cx="5379415" cy="716939"/>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F/L = 2·10⁻⁷ · 10 · 30 / 0,1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6·10⁻⁴ N/m</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akımlar aynı yönlü olduğu için teller birbirini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çeker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Kütle spektrometresinde izotoplar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Tek yüklü (q = 1,6·10⁻¹⁹ C) neon-20 ve neon-22 iyonları 1·10⁵ m/s hızla 0,5 T'lık alana dik giriyor, yarım çember çizip giriş noktasıyla aynı hizadaki bir levhaya çarpıyor. Levhadaki iki iz arasındaki uzaklık nedir? (1 u = 1,66·10⁻²⁷ kg; kütleler 20 u ve 22 u)</a:t>
            </a:r>
            <a:endParaRPr lang="en-US" sz="1600" dirty="0"/>
          </a:p>
        </p:txBody>
      </p:sp>
      <p:sp>
        <p:nvSpPr>
          <p:cNvPr id="11" name="Text 9"/>
          <p:cNvSpPr txBox="1"/>
          <p:nvPr/>
        </p:nvSpPr>
        <p:spPr>
          <a:xfrm>
            <a:off x="932688" y="4739640"/>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995672"/>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Kütledeki %10'luk fark yarıçapta da %10'luk fark yaratır. Neonun iki farklı kütlede atomu olduğu 20. yüzyılın başında bu tür sapma deneyleriyle anlaşıldı.</a:t>
            </a:r>
            <a:endParaRPr lang="en-US" sz="1150" dirty="0"/>
          </a:p>
        </p:txBody>
      </p:sp>
      <p:sp>
        <p:nvSpPr>
          <p:cNvPr id="13" name="Shape 11"/>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45386"/>
            <a:ext cx="384048" cy="384048"/>
          </a:xfrm>
          <a:prstGeom prst="roundRect">
            <a:avLst>
              <a:gd name="adj" fmla="val 26000"/>
            </a:avLst>
          </a:prstGeom>
          <a:solidFill>
            <a:srgbClr val="A56209"/>
          </a:solidFill>
          <a:ln/>
        </p:spPr>
      </p:sp>
      <p:sp>
        <p:nvSpPr>
          <p:cNvPr id="15" name="Text 13"/>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Yarıçap r = m·v/(q·B); hız, yük ve alan ikisi için de aynıdır, yalnızca kütle farklıdır.</a:t>
            </a:r>
            <a:endParaRPr lang="en-US" sz="1600" dirty="0"/>
          </a:p>
        </p:txBody>
      </p:sp>
      <p:sp>
        <p:nvSpPr>
          <p:cNvPr id="17" name="Shape 15"/>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111246"/>
            <a:ext cx="384048" cy="384048"/>
          </a:xfrm>
          <a:prstGeom prst="roundRect">
            <a:avLst>
              <a:gd name="adj" fmla="val 26000"/>
            </a:avLst>
          </a:prstGeom>
          <a:solidFill>
            <a:srgbClr val="A56209"/>
          </a:solidFill>
          <a:ln/>
        </p:spPr>
      </p:sp>
      <p:sp>
        <p:nvSpPr>
          <p:cNvPr id="19" name="Text 17"/>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r₂₀ = (20 · 1,66·10⁻²⁷ · 10⁵) / (1,6·10⁻¹⁹ · 0,5) = 3,32·10⁻²¹ / 8·10⁻²⁰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4,15 cm</a:t>
            </a:r>
            <a:endParaRPr lang="en-US" sz="1600" dirty="0"/>
          </a:p>
        </p:txBody>
      </p:sp>
      <p:sp>
        <p:nvSpPr>
          <p:cNvPr id="21" name="Shape 19"/>
          <p:cNvSpPr/>
          <p:nvPr/>
        </p:nvSpPr>
        <p:spPr>
          <a:xfrm>
            <a:off x="5212080" y="3959352"/>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114673"/>
            <a:ext cx="384048" cy="384048"/>
          </a:xfrm>
          <a:prstGeom prst="roundRect">
            <a:avLst>
              <a:gd name="adj" fmla="val 26000"/>
            </a:avLst>
          </a:prstGeom>
          <a:solidFill>
            <a:srgbClr val="A56209"/>
          </a:solidFill>
          <a:ln/>
        </p:spPr>
      </p:sp>
      <p:sp>
        <p:nvSpPr>
          <p:cNvPr id="23" name="Text 21"/>
          <p:cNvSpPr txBox="1"/>
          <p:nvPr/>
        </p:nvSpPr>
        <p:spPr>
          <a:xfrm>
            <a:off x="5449824" y="411467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014216"/>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r₂₂ = r₂₀ · 22/20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4,565 cm</a:t>
            </a:r>
            <a:endParaRPr lang="en-US" sz="1600" dirty="0"/>
          </a:p>
        </p:txBody>
      </p:sp>
      <p:sp>
        <p:nvSpPr>
          <p:cNvPr id="25" name="Shape 23"/>
          <p:cNvSpPr/>
          <p:nvPr/>
        </p:nvSpPr>
        <p:spPr>
          <a:xfrm>
            <a:off x="5212080" y="4800346"/>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280533"/>
            <a:ext cx="384048" cy="384048"/>
          </a:xfrm>
          <a:prstGeom prst="roundRect">
            <a:avLst>
              <a:gd name="adj" fmla="val 26000"/>
            </a:avLst>
          </a:prstGeom>
          <a:solidFill>
            <a:srgbClr val="A56209"/>
          </a:solidFill>
          <a:ln/>
        </p:spPr>
      </p:sp>
      <p:sp>
        <p:nvSpPr>
          <p:cNvPr id="27" name="Text 25"/>
          <p:cNvSpPr txBox="1"/>
          <p:nvPr/>
        </p:nvSpPr>
        <p:spPr>
          <a:xfrm>
            <a:off x="5449824" y="52805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855210"/>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Yarım çemberden sonra iyon giriş noktasından 2r uzağa düşer. İzler arası: 2 · (4,565 − 4,15)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0,83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“Manyetik kuvvet hız yönündedir.”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 hıza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yüzden sürati değil, yönü değiştirir.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“Kuvvet alan çizgileri boyuncadır.”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Elektrikteki F = q·E alışkanlığı burada işe yaramaz: manyetik kuvvet alan çizgilerine de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“Duran yüke de manyetik kuvvet etki eder.”</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F = qvB·sinα; v = 0 ise F = 0.</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“Manyetik kuvvet iş yapar.”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 yer değiştirmeye dik olduğu için yaptığı iş sıfırdır; kinetik enerji değişmez.</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Telin alanını 1/r²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Düz telde alan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1/r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ile azalır.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Negatif yükte yönü ters çevirmeyi unutmak.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Sağ el kuralı pozitif yük içindir; elektronda sonucu ters çevir.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“Periyot hıza bağlıdır.”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 = 2πm/(qB); hız yalnızca yarıçapı değiştirir.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Açıyı yanlış almak.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α, akım (ya da hız) ile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alan</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arasındaki açıdır; telin yatayla yaptığı açı değil.</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Telin alanı </a:t>
            </a:r>
            <a:pPr indent="0" marL="0">
              <a:buNone/>
            </a:pPr>
            <a:r>
              <a:rPr lang="en-US" sz="1500" b="1" dirty="0">
                <a:solidFill>
                  <a:srgbClr val="FFFFFF"/>
                </a:solidFill>
                <a:latin typeface="Calibri" pitchFamily="34" charset="0"/>
                <a:ea typeface="Calibri" pitchFamily="34" charset="-122"/>
                <a:cs typeface="Calibri" pitchFamily="34" charset="-120"/>
              </a:rPr>
              <a:t>1/r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Tele kuvvet </a:t>
            </a:r>
            <a:pPr indent="0" marL="0">
              <a:buNone/>
            </a:pPr>
            <a:r>
              <a:rPr lang="en-US" sz="1500" b="1" dirty="0">
                <a:solidFill>
                  <a:srgbClr val="FFFFFF"/>
                </a:solidFill>
                <a:latin typeface="Calibri" pitchFamily="34" charset="0"/>
                <a:ea typeface="Calibri" pitchFamily="34" charset="-122"/>
                <a:cs typeface="Calibri" pitchFamily="34" charset="-120"/>
              </a:rPr>
              <a:t>B·I·L·sinα</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Yüke kuvvet </a:t>
            </a:r>
            <a:pPr indent="0" marL="0">
              <a:buNone/>
            </a:pPr>
            <a:r>
              <a:rPr lang="en-US" sz="1500" b="1" dirty="0">
                <a:solidFill>
                  <a:srgbClr val="FFFFFF"/>
                </a:solidFill>
                <a:latin typeface="Calibri" pitchFamily="34" charset="0"/>
                <a:ea typeface="Calibri" pitchFamily="34" charset="-122"/>
                <a:cs typeface="Calibri" pitchFamily="34" charset="-120"/>
              </a:rPr>
              <a:t>q·v·B·sinα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çember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 μ₀·I / (2π·r)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B·I·L·sinα</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q·v·B·sinα</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m·v / (q·B)</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dersler.perinet.org/manyetik-alan.html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İndüksiyon akımı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Manyetik alan ve manyetik kuvvet — Dersler</dc:title>
  <dc:subject>Fizik · Elektrik ve Manyetizma</dc:subject>
  <dc:creator>Dersler</dc:creator>
  <cp:lastModifiedBy>Dersler</cp:lastModifiedBy>
  <cp:revision>1</cp:revision>
  <dcterms:created xsi:type="dcterms:W3CDTF">2026-09-30T06:40:46Z</dcterms:created>
  <dcterms:modified xsi:type="dcterms:W3CDTF">2026-09-30T06:40:46Z</dcterms:modified>
</cp:coreProperties>
</file>