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I = 10 A için alan – uzaklık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Sheet1!$A$2:$A$40</c:f>
              <c:numCache>
                <c:formatCode>General</c:formatCode>
                <c:ptCount val="3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11</c:v>
                </c:pt>
                <c:pt idx="10">
                  <c:v>12</c:v>
                </c:pt>
                <c:pt idx="11">
                  <c:v>13</c:v>
                </c:pt>
                <c:pt idx="12">
                  <c:v>14</c:v>
                </c:pt>
                <c:pt idx="13">
                  <c:v>15</c:v>
                </c:pt>
                <c:pt idx="14">
                  <c:v>16</c:v>
                </c:pt>
                <c:pt idx="15">
                  <c:v>17</c:v>
                </c:pt>
                <c:pt idx="16">
                  <c:v>18</c:v>
                </c:pt>
                <c:pt idx="17">
                  <c:v>19</c:v>
                </c:pt>
                <c:pt idx="18">
                  <c:v>20</c:v>
                </c:pt>
                <c:pt idx="19">
                  <c:v>21</c:v>
                </c:pt>
                <c:pt idx="20">
                  <c:v>22</c:v>
                </c:pt>
                <c:pt idx="21">
                  <c:v>23</c:v>
                </c:pt>
                <c:pt idx="22">
                  <c:v>24</c:v>
                </c:pt>
                <c:pt idx="23">
                  <c:v>25</c:v>
                </c:pt>
                <c:pt idx="24">
                  <c:v>26</c:v>
                </c:pt>
                <c:pt idx="25">
                  <c:v>27</c:v>
                </c:pt>
                <c:pt idx="26">
                  <c:v>28</c:v>
                </c:pt>
                <c:pt idx="27">
                  <c:v>29</c:v>
                </c:pt>
                <c:pt idx="28">
                  <c:v>30</c:v>
                </c:pt>
                <c:pt idx="29">
                  <c:v>31</c:v>
                </c:pt>
                <c:pt idx="30">
                  <c:v>32</c:v>
                </c:pt>
                <c:pt idx="31">
                  <c:v>33</c:v>
                </c:pt>
                <c:pt idx="32">
                  <c:v>34</c:v>
                </c:pt>
                <c:pt idx="33">
                  <c:v>35</c:v>
                </c:pt>
                <c:pt idx="34">
                  <c:v>36</c:v>
                </c:pt>
                <c:pt idx="35">
                  <c:v>37</c:v>
                </c:pt>
                <c:pt idx="36">
                  <c:v>38</c:v>
                </c:pt>
                <c:pt idx="37">
                  <c:v>39</c:v>
                </c:pt>
                <c:pt idx="38">
                  <c:v>40</c:v>
                </c:pt>
              </c:numCache>
            </c:numRef>
          </c:xVal>
          <c:yVal>
            <c:numRef>
              <c:f>Sheet1!$B$2:$B$40</c:f>
              <c:numCache>
                <c:formatCode>General</c:formatCode>
                <c:ptCount val="39"/>
                <c:pt idx="0">
                  <c:v>100</c:v>
                </c:pt>
                <c:pt idx="1">
                  <c:v>66.7</c:v>
                </c:pt>
                <c:pt idx="2">
                  <c:v>50</c:v>
                </c:pt>
                <c:pt idx="3">
                  <c:v>40</c:v>
                </c:pt>
                <c:pt idx="4">
                  <c:v>33.3</c:v>
                </c:pt>
                <c:pt idx="5">
                  <c:v>28.6</c:v>
                </c:pt>
                <c:pt idx="6">
                  <c:v>25</c:v>
                </c:pt>
                <c:pt idx="7">
                  <c:v>22.2</c:v>
                </c:pt>
                <c:pt idx="8">
                  <c:v>20</c:v>
                </c:pt>
                <c:pt idx="9">
                  <c:v>18.2</c:v>
                </c:pt>
                <c:pt idx="10">
                  <c:v>16.7</c:v>
                </c:pt>
                <c:pt idx="11">
                  <c:v>15.4</c:v>
                </c:pt>
                <c:pt idx="12">
                  <c:v>14.3</c:v>
                </c:pt>
                <c:pt idx="13">
                  <c:v>13.3</c:v>
                </c:pt>
                <c:pt idx="14">
                  <c:v>12.5</c:v>
                </c:pt>
                <c:pt idx="15">
                  <c:v>11.8</c:v>
                </c:pt>
                <c:pt idx="16">
                  <c:v>11.1</c:v>
                </c:pt>
                <c:pt idx="17">
                  <c:v>10.5</c:v>
                </c:pt>
                <c:pt idx="18">
                  <c:v>10</c:v>
                </c:pt>
                <c:pt idx="19">
                  <c:v>9.5</c:v>
                </c:pt>
                <c:pt idx="20">
                  <c:v>9.1</c:v>
                </c:pt>
                <c:pt idx="21">
                  <c:v>8.7</c:v>
                </c:pt>
                <c:pt idx="22">
                  <c:v>8.3</c:v>
                </c:pt>
                <c:pt idx="23">
                  <c:v>8</c:v>
                </c:pt>
                <c:pt idx="24">
                  <c:v>7.7</c:v>
                </c:pt>
                <c:pt idx="25">
                  <c:v>7.4</c:v>
                </c:pt>
                <c:pt idx="26">
                  <c:v>7.1</c:v>
                </c:pt>
                <c:pt idx="27">
                  <c:v>6.9</c:v>
                </c:pt>
                <c:pt idx="28">
                  <c:v>6.7</c:v>
                </c:pt>
                <c:pt idx="29">
                  <c:v>6.5</c:v>
                </c:pt>
                <c:pt idx="30">
                  <c:v>6.2</c:v>
                </c:pt>
                <c:pt idx="31">
                  <c:v>6.1</c:v>
                </c:pt>
                <c:pt idx="32">
                  <c:v>5.9</c:v>
                </c:pt>
                <c:pt idx="33">
                  <c:v>5.7</c:v>
                </c:pt>
                <c:pt idx="34">
                  <c:v>5.6</c:v>
                </c:pt>
                <c:pt idx="35">
                  <c:v>5.4</c:v>
                </c:pt>
                <c:pt idx="36">
                  <c:v>5.3</c:v>
                </c:pt>
                <c:pt idx="37">
                  <c:v>5.1</c:v>
                </c:pt>
                <c:pt idx="38">
                  <c:v>5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telden uzaklık r (cm)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B (µT)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B = 0,5 T · I = 2 A · L = 40 cm için kuvvet – açı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Sheet1!$A$2:$A$62</c:f>
              <c:numCache>
                <c:formatCode>General</c:formatCode>
                <c:ptCount val="6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  <c:pt idx="11">
                  <c:v>33</c:v>
                </c:pt>
                <c:pt idx="12">
                  <c:v>36</c:v>
                </c:pt>
                <c:pt idx="13">
                  <c:v>39</c:v>
                </c:pt>
                <c:pt idx="14">
                  <c:v>42</c:v>
                </c:pt>
                <c:pt idx="15">
                  <c:v>45</c:v>
                </c:pt>
                <c:pt idx="16">
                  <c:v>48</c:v>
                </c:pt>
                <c:pt idx="17">
                  <c:v>51</c:v>
                </c:pt>
                <c:pt idx="18">
                  <c:v>54</c:v>
                </c:pt>
                <c:pt idx="19">
                  <c:v>57</c:v>
                </c:pt>
                <c:pt idx="20">
                  <c:v>60</c:v>
                </c:pt>
                <c:pt idx="21">
                  <c:v>63</c:v>
                </c:pt>
                <c:pt idx="22">
                  <c:v>66</c:v>
                </c:pt>
                <c:pt idx="23">
                  <c:v>69</c:v>
                </c:pt>
                <c:pt idx="24">
                  <c:v>72</c:v>
                </c:pt>
                <c:pt idx="25">
                  <c:v>75</c:v>
                </c:pt>
                <c:pt idx="26">
                  <c:v>78</c:v>
                </c:pt>
                <c:pt idx="27">
                  <c:v>81</c:v>
                </c:pt>
                <c:pt idx="28">
                  <c:v>84</c:v>
                </c:pt>
                <c:pt idx="29">
                  <c:v>87</c:v>
                </c:pt>
                <c:pt idx="30">
                  <c:v>90</c:v>
                </c:pt>
                <c:pt idx="31">
                  <c:v>93</c:v>
                </c:pt>
                <c:pt idx="32">
                  <c:v>96</c:v>
                </c:pt>
                <c:pt idx="33">
                  <c:v>99</c:v>
                </c:pt>
                <c:pt idx="34">
                  <c:v>102</c:v>
                </c:pt>
                <c:pt idx="35">
                  <c:v>105</c:v>
                </c:pt>
                <c:pt idx="36">
                  <c:v>108</c:v>
                </c:pt>
                <c:pt idx="37">
                  <c:v>111</c:v>
                </c:pt>
                <c:pt idx="38">
                  <c:v>114</c:v>
                </c:pt>
                <c:pt idx="39">
                  <c:v>117</c:v>
                </c:pt>
                <c:pt idx="40">
                  <c:v>120</c:v>
                </c:pt>
                <c:pt idx="41">
                  <c:v>123</c:v>
                </c:pt>
                <c:pt idx="42">
                  <c:v>126</c:v>
                </c:pt>
                <c:pt idx="43">
                  <c:v>129</c:v>
                </c:pt>
                <c:pt idx="44">
                  <c:v>132</c:v>
                </c:pt>
                <c:pt idx="45">
                  <c:v>135</c:v>
                </c:pt>
                <c:pt idx="46">
                  <c:v>138</c:v>
                </c:pt>
                <c:pt idx="47">
                  <c:v>141</c:v>
                </c:pt>
                <c:pt idx="48">
                  <c:v>144</c:v>
                </c:pt>
                <c:pt idx="49">
                  <c:v>147</c:v>
                </c:pt>
                <c:pt idx="50">
                  <c:v>150</c:v>
                </c:pt>
                <c:pt idx="51">
                  <c:v>153</c:v>
                </c:pt>
                <c:pt idx="52">
                  <c:v>156</c:v>
                </c:pt>
                <c:pt idx="53">
                  <c:v>159</c:v>
                </c:pt>
                <c:pt idx="54">
                  <c:v>162</c:v>
                </c:pt>
                <c:pt idx="55">
                  <c:v>165</c:v>
                </c:pt>
                <c:pt idx="56">
                  <c:v>168</c:v>
                </c:pt>
                <c:pt idx="57">
                  <c:v>171</c:v>
                </c:pt>
                <c:pt idx="58">
                  <c:v>174</c:v>
                </c:pt>
                <c:pt idx="59">
                  <c:v>177</c:v>
                </c:pt>
                <c:pt idx="60">
                  <c:v>180</c:v>
                </c:pt>
              </c:numCache>
            </c:numRef>
          </c:xVal>
          <c:yVal>
            <c:numRef>
              <c:f>Sheet1!$B$2:$B$62</c:f>
              <c:numCache>
                <c:formatCode>General</c:formatCode>
                <c:ptCount val="61"/>
                <c:pt idx="0">
                  <c:v>0</c:v>
                </c:pt>
                <c:pt idx="1">
                  <c:v>0.021</c:v>
                </c:pt>
                <c:pt idx="2">
                  <c:v>0.042</c:v>
                </c:pt>
                <c:pt idx="3">
                  <c:v>0.063</c:v>
                </c:pt>
                <c:pt idx="4">
                  <c:v>0.083</c:v>
                </c:pt>
                <c:pt idx="5">
                  <c:v>0.104</c:v>
                </c:pt>
                <c:pt idx="6">
                  <c:v>0.124</c:v>
                </c:pt>
                <c:pt idx="7">
                  <c:v>0.143</c:v>
                </c:pt>
                <c:pt idx="8">
                  <c:v>0.163</c:v>
                </c:pt>
                <c:pt idx="9">
                  <c:v>0.182</c:v>
                </c:pt>
                <c:pt idx="10">
                  <c:v>0.2</c:v>
                </c:pt>
                <c:pt idx="11">
                  <c:v>0.218</c:v>
                </c:pt>
                <c:pt idx="12">
                  <c:v>0.235</c:v>
                </c:pt>
                <c:pt idx="13">
                  <c:v>0.252</c:v>
                </c:pt>
                <c:pt idx="14">
                  <c:v>0.268</c:v>
                </c:pt>
                <c:pt idx="15">
                  <c:v>0.283</c:v>
                </c:pt>
                <c:pt idx="16">
                  <c:v>0.297</c:v>
                </c:pt>
                <c:pt idx="17">
                  <c:v>0.311</c:v>
                </c:pt>
                <c:pt idx="18">
                  <c:v>0.324</c:v>
                </c:pt>
                <c:pt idx="19">
                  <c:v>0.335</c:v>
                </c:pt>
                <c:pt idx="20">
                  <c:v>0.346</c:v>
                </c:pt>
                <c:pt idx="21">
                  <c:v>0.356</c:v>
                </c:pt>
                <c:pt idx="22">
                  <c:v>0.365</c:v>
                </c:pt>
                <c:pt idx="23">
                  <c:v>0.373</c:v>
                </c:pt>
                <c:pt idx="24">
                  <c:v>0.38</c:v>
                </c:pt>
                <c:pt idx="25">
                  <c:v>0.386</c:v>
                </c:pt>
                <c:pt idx="26">
                  <c:v>0.391</c:v>
                </c:pt>
                <c:pt idx="27">
                  <c:v>0.395</c:v>
                </c:pt>
                <c:pt idx="28">
                  <c:v>0.398</c:v>
                </c:pt>
                <c:pt idx="29">
                  <c:v>0.399</c:v>
                </c:pt>
                <c:pt idx="30">
                  <c:v>0.4</c:v>
                </c:pt>
                <c:pt idx="31">
                  <c:v>0.399</c:v>
                </c:pt>
                <c:pt idx="32">
                  <c:v>0.398</c:v>
                </c:pt>
                <c:pt idx="33">
                  <c:v>0.395</c:v>
                </c:pt>
                <c:pt idx="34">
                  <c:v>0.391</c:v>
                </c:pt>
                <c:pt idx="35">
                  <c:v>0.386</c:v>
                </c:pt>
                <c:pt idx="36">
                  <c:v>0.38</c:v>
                </c:pt>
                <c:pt idx="37">
                  <c:v>0.373</c:v>
                </c:pt>
                <c:pt idx="38">
                  <c:v>0.365</c:v>
                </c:pt>
                <c:pt idx="39">
                  <c:v>0.356</c:v>
                </c:pt>
                <c:pt idx="40">
                  <c:v>0.346</c:v>
                </c:pt>
                <c:pt idx="41">
                  <c:v>0.335</c:v>
                </c:pt>
                <c:pt idx="42">
                  <c:v>0.324</c:v>
                </c:pt>
                <c:pt idx="43">
                  <c:v>0.311</c:v>
                </c:pt>
                <c:pt idx="44">
                  <c:v>0.297</c:v>
                </c:pt>
                <c:pt idx="45">
                  <c:v>0.283</c:v>
                </c:pt>
                <c:pt idx="46">
                  <c:v>0.268</c:v>
                </c:pt>
                <c:pt idx="47">
                  <c:v>0.252</c:v>
                </c:pt>
                <c:pt idx="48">
                  <c:v>0.235</c:v>
                </c:pt>
                <c:pt idx="49">
                  <c:v>0.218</c:v>
                </c:pt>
                <c:pt idx="50">
                  <c:v>0.2</c:v>
                </c:pt>
                <c:pt idx="51">
                  <c:v>0.182</c:v>
                </c:pt>
                <c:pt idx="52">
                  <c:v>0.163</c:v>
                </c:pt>
                <c:pt idx="53">
                  <c:v>0.143</c:v>
                </c:pt>
                <c:pt idx="54">
                  <c:v>0.124</c:v>
                </c:pt>
                <c:pt idx="55">
                  <c:v>0.104</c:v>
                </c:pt>
                <c:pt idx="56">
                  <c:v>0.083</c:v>
                </c:pt>
                <c:pt idx="57">
                  <c:v>0.063</c:v>
                </c:pt>
                <c:pt idx="58">
                  <c:v>0.042</c:v>
                </c:pt>
                <c:pt idx="59">
                  <c:v>0.021</c:v>
                </c:pt>
                <c:pt idx="6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akım ile alan arasındaki açı α (°)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F (N)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B = 0,2 T'da protonun yarıçapı hızla doğru orantılıdır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4.1</c:v>
                </c:pt>
                <c:pt idx="42">
                  <c:v>4.2</c:v>
                </c:pt>
                <c:pt idx="43">
                  <c:v>4.3</c:v>
                </c:pt>
                <c:pt idx="44">
                  <c:v>4.4</c:v>
                </c:pt>
                <c:pt idx="45">
                  <c:v>4.5</c:v>
                </c:pt>
                <c:pt idx="46">
                  <c:v>4.6</c:v>
                </c:pt>
                <c:pt idx="47">
                  <c:v>4.7</c:v>
                </c:pt>
                <c:pt idx="48">
                  <c:v>4.8</c:v>
                </c:pt>
                <c:pt idx="49">
                  <c:v>4.9</c:v>
                </c:pt>
                <c:pt idx="50">
                  <c:v>5</c:v>
                </c:pt>
              </c:numCache>
            </c:numRef>
          </c:xVal>
          <c:yVal>
            <c:numRef>
              <c:f>Sheet1!$B$2:$B$52</c:f>
              <c:numCache>
                <c:formatCode>General</c:formatCode>
                <c:ptCount val="51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  <c:pt idx="25">
                  <c:v>12.5</c:v>
                </c:pt>
                <c:pt idx="26">
                  <c:v>13</c:v>
                </c:pt>
                <c:pt idx="27">
                  <c:v>13.5</c:v>
                </c:pt>
                <c:pt idx="28">
                  <c:v>14</c:v>
                </c:pt>
                <c:pt idx="29">
                  <c:v>14.5</c:v>
                </c:pt>
                <c:pt idx="30">
                  <c:v>15</c:v>
                </c:pt>
                <c:pt idx="31">
                  <c:v>15.5</c:v>
                </c:pt>
                <c:pt idx="32">
                  <c:v>16</c:v>
                </c:pt>
                <c:pt idx="33">
                  <c:v>16.5</c:v>
                </c:pt>
                <c:pt idx="34">
                  <c:v>17</c:v>
                </c:pt>
                <c:pt idx="35">
                  <c:v>17.5</c:v>
                </c:pt>
                <c:pt idx="36">
                  <c:v>18</c:v>
                </c:pt>
                <c:pt idx="37">
                  <c:v>18.5</c:v>
                </c:pt>
                <c:pt idx="38">
                  <c:v>19</c:v>
                </c:pt>
                <c:pt idx="39">
                  <c:v>19.5</c:v>
                </c:pt>
                <c:pt idx="40">
                  <c:v>20</c:v>
                </c:pt>
                <c:pt idx="41">
                  <c:v>20.5</c:v>
                </c:pt>
                <c:pt idx="42">
                  <c:v>21</c:v>
                </c:pt>
                <c:pt idx="43">
                  <c:v>21.5</c:v>
                </c:pt>
                <c:pt idx="44">
                  <c:v>22</c:v>
                </c:pt>
                <c:pt idx="45">
                  <c:v>22.5</c:v>
                </c:pt>
                <c:pt idx="46">
                  <c:v>23</c:v>
                </c:pt>
                <c:pt idx="47">
                  <c:v>23.5</c:v>
                </c:pt>
                <c:pt idx="48">
                  <c:v>24</c:v>
                </c:pt>
                <c:pt idx="49">
                  <c:v>24.5</c:v>
                </c:pt>
                <c:pt idx="50">
                  <c:v>25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hız (10⁶ m/s)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yarıçap (cm)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Oersted'in 1820'deki kazasını anlat: pusula iğnesi telin yanında sapınca elektrik ve manyetizma birleşti.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konu elektrik yüküyle manyetizmayı birleştirir: ikisi aynı olgunun iki yüzüdür.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Dünya'nın alanı 50 µT: pusulanın çalıştığı ama çok zayıf bir alan. Karşılaştırma öğrenciye ölçek kazandırır.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Elektrik alanı 1/r² ile, telin manyetik alanı 1/r ile azalır: bu farkı vurgula.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Tahtada üç kuralı da elle yaptır; öğrenciler sağ elini kaldırmadan bu konuyu geçemez.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Sinüs eğrisinin iki ucunda kuvvetin sıfırlanması en çok sorulan yer: paralel akım kuvvet görmez.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'Manyetik kuvvet iş yapmaz' cümlesi bu konunun kilit noktası; enerji korunumuyla birlikte anlat.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Kutup ışıkları, manyetik kuvvetin en görsel sonucu: parçacıklar alan çizgileri boyunca kutuplara sürüklenir.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Sonucu Dünya'nın 50 µT'lık alanıyla karşılaştırmak, büyüklük duygusu kazandırır.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(c) şıkkı en sık yanlış yapılan kısım: 'alan var, akım var, kuvvet de vardır' sanılıyor.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satır siklotronun kalbi. İstersen 'hız 2 katı olsa r ve T ne olur?' diye sorup tartıştır.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üç madde aynı yanlış sezgiden geliyor: kuvveti hareketin 'itici gücü' sanmak.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sağ el kuralı alıştırmasını sınıfça çöz: on soruda yön bulma pratiği kazandırıyor.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ELEKTRİK VE MANYETİZMA · KONU 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Manyetik alan ve kuvvet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eden yük manyetik alan üretir; manyetik alan da hareket eden yüke kuvvet uygular. Elektrik motorundan MR cihazına kadar her şey bu iki cümleye dayanır.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2·10⁻⁷ · I / r        F = B·I·L·sinα        F = q·v·B·sinα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195560" y="2286000"/>
            <a:ext cx="0" cy="2377440"/>
          </a:xfrm>
          <a:prstGeom prst="line">
            <a:avLst/>
          </a:prstGeom>
          <a:noFill/>
          <a:ln w="50800">
            <a:solidFill>
              <a:srgbClr val="FF8FA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692640" y="3313786"/>
            <a:ext cx="1005840" cy="321869"/>
          </a:xfrm>
          <a:prstGeom prst="ellipse">
            <a:avLst/>
          </a:prstGeom>
          <a:ln w="22860">
            <a:solidFill>
              <a:srgbClr val="9C8C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0" y="3196742"/>
            <a:ext cx="1737360" cy="555955"/>
          </a:xfrm>
          <a:prstGeom prst="ellipse">
            <a:avLst/>
          </a:prstGeom>
          <a:ln w="22860">
            <a:solidFill>
              <a:srgbClr val="9C8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3079699"/>
            <a:ext cx="2468880" cy="790042"/>
          </a:xfrm>
          <a:prstGeom prst="ellipse">
            <a:avLst/>
          </a:prstGeom>
          <a:ln w="22860">
            <a:solidFill>
              <a:srgbClr val="9C8C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2980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4846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akımın alanı halkalar çizer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dersler.perinet.org/manyetik-alan.html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mıknatıstan siklotrona.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alan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Mıknatısın ve akımın çevresindeki alan; birimi tesla.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Akımın alanı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 telde B = 2·10⁻⁷·I/r; uzaklıkla ters orantılı.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 el kuralı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Alanın ve kuvvetin yönünü bulmanın pratik yolu.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 etkiyen kuvvet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B·I·L·sinα; motorun çalışma ilkesi.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Yüklü parçacık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q·v·B·sinα; alana dik girerse çember çizer.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Uygulamalar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Motor, hoparlör, siklotron, kütle spektrometresi.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Manyetik alan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Mıknatısın ve akımın çevresinde, manyetik etki gösteren bölge.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92240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B'nin birimi tesla (T)        1 T = 1 N / (A·m)        1 T = 10⁴ gauss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6492240" cy="969264"/>
          </a:xfrm>
          <a:prstGeom prst="roundRect">
            <a:avLst>
              <a:gd name="adj" fmla="val 13208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697480"/>
            <a:ext cx="2011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Kutuplar ayrılamaz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843784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 ikiye bölünürse iki yeni mıknatıs oluşur; tek kutuplu mıknatıs (manyetik monopol) bulunamamıştır.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813048"/>
            <a:ext cx="6492240" cy="969264"/>
          </a:xfrm>
          <a:prstGeom prst="roundRect">
            <a:avLst>
              <a:gd name="adj" fmla="val 13208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813048"/>
            <a:ext cx="2011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 kapalıdır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959352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Dışarıda N'den çıkıp S'ye girer, mıknatısın içinde S'den N'ye devam eder: baştan sona kapalı eğrilerdir.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928616"/>
            <a:ext cx="6492240" cy="969264"/>
          </a:xfrm>
          <a:prstGeom prst="roundRect">
            <a:avLst>
              <a:gd name="adj" fmla="val 13208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4928616"/>
            <a:ext cx="2011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Kaynağı harekettir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5074920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alanı hareket eden yükler üretir; atomlardaki elektron hareketleri kalıcı mıknatısların da kaynağıdır.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52360" y="1783080"/>
            <a:ext cx="4099255" cy="4251960"/>
          </a:xfrm>
          <a:prstGeom prst="roundRect">
            <a:avLst>
              <a:gd name="adj" fmla="val 312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Tipik alan şiddetleri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514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Dünya'nın alanı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784080" y="2514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50 µT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0" y="30906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Buzdolabı mıknatısı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0" y="3090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5 mT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36667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Hoparlör mıknatısı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366674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1 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4242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cihazı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424281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 – 3 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4818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Laboratuvar süper iletkeni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481888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20 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5394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Nötron yıldızı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53949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10⁸ T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Akımın manyetik alanı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 telin alanı, teli saran halkalar biçimindedir ve uzaklıkla ters orantılıdır.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2 · 10⁻⁷ · I / r          (sonsuz uzun düz tel)</a:t>
            </a:r>
            <a:endParaRPr lang="en-US" sz="17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03720" y="2697480"/>
            <a:ext cx="4647895" cy="603504"/>
          </a:xfrm>
          <a:prstGeom prst="roundRect">
            <a:avLst>
              <a:gd name="adj" fmla="val 2121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78040" y="269748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Uzaklık 2 katına çıkarsa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418320" y="26974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yarıya iner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903720" y="3410712"/>
            <a:ext cx="4647895" cy="603504"/>
          </a:xfrm>
          <a:prstGeom prst="roundRect">
            <a:avLst>
              <a:gd name="adj" fmla="val 2121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178040" y="341071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 2 katına çıkarsa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0" y="341071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 katına çıkar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903720" y="4123944"/>
            <a:ext cx="4647895" cy="603504"/>
          </a:xfrm>
          <a:prstGeom prst="roundRect">
            <a:avLst>
              <a:gd name="adj" fmla="val 2121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178040" y="412394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Halka merkezinde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41239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2π·10⁻⁷ · I / r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903720" y="4837176"/>
            <a:ext cx="4647895" cy="603504"/>
          </a:xfrm>
          <a:prstGeom prst="roundRect">
            <a:avLst>
              <a:gd name="adj" fmla="val 2121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178040" y="483717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Bobinde (N sarım)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48371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2π·10⁻⁷ · N·I / 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903720" y="5577840"/>
            <a:ext cx="4647895" cy="274320"/>
          </a:xfrm>
          <a:prstGeom prst="roundRect">
            <a:avLst>
              <a:gd name="adj" fmla="val 4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03720" y="5440680"/>
            <a:ext cx="4647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Alan, telden uzaklaştıkça hızla zayıflar: 1 cm'de 200 µT, 20 cm'de 10 µT.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Sağ el kuralları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Yönleri ezberlemek yerine elinle bul: üç durum, üç kural.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3017520"/>
          </a:xfrm>
          <a:prstGeom prst="roundRect">
            <a:avLst>
              <a:gd name="adj" fmla="val 424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011680"/>
            <a:ext cx="457200" cy="457200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 tel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974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Başparmak akım yönünü gösterir; avucun kapanma yönü alan halkalarının yönüdür.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halkaları teli sarar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98264" y="1783080"/>
            <a:ext cx="3392424" cy="3017520"/>
          </a:xfrm>
          <a:prstGeom prst="roundRect">
            <a:avLst>
              <a:gd name="adj" fmla="val 424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72584" y="2011680"/>
            <a:ext cx="457200" cy="457200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7258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Halka ve bobin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72584" y="26974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Parmaklar akım yönünde sarılır; başparmak, halkanın içindeki alanın yönünü — yani kuzey kutbunu — gösterir.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72584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kutbu başparmakta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56448" y="1783080"/>
            <a:ext cx="3392424" cy="3017520"/>
          </a:xfrm>
          <a:prstGeom prst="roundRect">
            <a:avLst>
              <a:gd name="adj" fmla="val 424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30768" y="2011680"/>
            <a:ext cx="457200" cy="457200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307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25128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Kuvvetin yönü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30768" y="26974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 elin parmakları akım yönünden alan yönüne doğru döndürülür; başparmak kuvvetin yönünü verir. Kuvvet hem akıma hem alana diktir.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30768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⟂ I ve F ⟂ B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11535" cy="822960"/>
          </a:xfrm>
          <a:prstGeom prst="roundRect">
            <a:avLst>
              <a:gd name="adj" fmla="val 15556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60120" y="502920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düzlemi gösterimi: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 sayfa düzleminden içeri giren yönü (okun tüyleri), ⊙ ise dışarı çıkan yönü (okun ucu) gösterir. Manyetik alan üç boyutlu olduğu için bu gösterim şarttır.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Akım taşıyan tele etkiyen kuvvet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Kuvvet, akımla alan arasındaki açının sinüsüyle değişir.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943600" cy="731520"/>
          </a:xfrm>
          <a:prstGeom prst="roundRect">
            <a:avLst>
              <a:gd name="adj" fmla="val 12500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B · I · L · sinα</a:t>
            </a:r>
            <a:endParaRPr lang="en-US" sz="1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903720" y="1828800"/>
            <a:ext cx="46478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90° (akım alana dik): kuvvet en büyüktür, F = B·I·L.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0° ya da 180° (akım alana paralel): kuvvet sıfırdır.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Kuvvetin yönü hem akıma hem alana diktir.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 yönü ters çevrilirse kuvvet de ters döner.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motoru, çerçevenin karşılıklı kenarlarına zıt yönde etkiyen bu kuvvetle döner.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03720" y="4526280"/>
            <a:ext cx="4647895" cy="1325880"/>
          </a:xfrm>
          <a:prstGeom prst="roundRect">
            <a:avLst>
              <a:gd name="adj" fmla="val 9655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178040" y="4526280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Amperin tanımı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iki tel, akımları aynı yöndeyse birbirini çeker, zıt yöndeyse iter. Bu kuvvet, uzun yıllar amper biriminin tanımı olarak kullanıldı.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Manyetik alanda yüklü parçacık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Alana dik giren yük, sabit büyüklükte ama sürekli yön değiştiren bir kuvvet görür.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CECF0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q·v·B·sinα        r = m·v / (q·B)        T = 2π·m / (q·B)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903720" y="2697480"/>
            <a:ext cx="46478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hıza dik olduğu için hızın büyüklüğünü değiştiremez: iş yapmaz.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yönü değiştirir; bu yüzden yörünge çemberdir.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arttıkça çemberin yarıçapı büyür.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Periyot hıza bağlı değildir: hızlı parçacık büyük çemberi aynı sürede tamamlar.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alana paralelse (α = 0) hiç kuvvet yoktur; eğik girerse yörünge sarmal olur.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03720" y="5074920"/>
            <a:ext cx="4647895" cy="777240"/>
          </a:xfrm>
          <a:prstGeom prst="roundRect">
            <a:avLst>
              <a:gd name="adj" fmla="val 16471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178040" y="50749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Periyodun hızdan bağımsızlığı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siklotronun çalışma ilkesidir: parçacık hızlansa da tur süresi değişmez.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Nerede karşımıza çıkar?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kuvvet, günlük hayatta hareketin kaynağıdır.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motoru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Alandaki akım çerçevesine etkiyen zıt kuvvetler çifti çerçeveyi döndürür.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B·I·L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72584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Hoparlör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akımı, mıknatısın alanındaki bobini ileri geri iter; koni havayı titretir.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değişken akım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3076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Siklotron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Parçacık her turda hızlanır; periyot değişmediği için hızlandırma uyumlu kalır.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sabit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spektrometresi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hız ve alanda ağır iyon büyük çember çizer; kütleler ayrışır.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∝ 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72584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görüntüleme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alan, vücuttaki hidrojen çekirdeklerini hizalar.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 – 3 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30768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Dünya'nın kalkanı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430768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Manyetosfer, güneş rüzgârındaki yüklü parçacıkları saptırır.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30768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kutup ışıkları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telin alanı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2·10⁻⁷ T·m/A ve proton için m = 1,6·10⁻²⁷ kg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düz bir telden 4 A akım geçiyor.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Telden 20 cm uzaklıktaki manyetik alan kaç T'dır?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Aynı alanı 40 cm uzaklıkta elde etmek için akım ne olmalıdır?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4·10⁻⁶ T · (b) 8 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2·10⁻⁷ · I / r = 2·10⁻⁷ · 4 / 0,2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8·10⁻⁷ / 0,2 = 4·10⁻⁶ T (yani 4 µT)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∝ I/r olduğundan uzaklık 2 katına çıkarsa akım da 2 katına çıkmalıdır: 8 A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değer Dünya'nın alanının onda biri kadardır; pusula iğnesi bunu hisseder.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tele etkiyen kuvvet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2·10⁻⁷ T·m/A ve proton için m = 1,6·10⁻²⁷ kg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0,5 T'lık düzgün alanda, 40 cm uzunluğundaki telden 2 A akım geçiyor.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Tel alana dikken kuvvet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Tel alanla 30° açı yaparsa kuvvet ne olur?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Tel alana paralelse?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0,4 N · (b) 0,2 N · (c) 0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B·I·L·sin90° = 0,5 · 2 · 0,4 · 1 = 0,4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sin30° = 0,5 → F = 0,4 · 0,5 = 0,2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sin0° = 0 → F = 0. Akım alana paralelse kuvvet oluşmaz.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Kuvvetin yönü hem tele hem alana diktir; sağ el kuralıyla bulunur.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dairesel hareket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2·10⁻⁷ T·m/A ve proton için m = 1,6·10⁻²⁷ kg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0,2 T'lık alana, alana dik olarak 2·10⁶ m/s hızla bir proton giriyor.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 = 1,6·10⁻¹⁹ C, m = 1,6·10⁻²⁷ kg)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Yörüngenin yarıçapı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Periyodu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10 cm · (b) ≈ 3,1·10⁻⁷ 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m·v / (q·B) = (1,6·10⁻²⁷ · 2·10⁶) / (1,6·10⁻¹⁹ · 0,2)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3,2·10⁻²¹ / 3,2·10⁻²⁰ = 0,1 m = 10 cm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2π·m / (q·B) = 2π · 1,6·10⁻²⁷ / 3,2·10⁻²⁰ ≈ 3,1·10⁻⁷ 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Periyot hıza bağlı değildir: hız iki katına çıksa yarıçap büyür ama süre aynı kalır.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kuvvet hız yönündedir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hem hıza hem alana diktir.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Durgun yüke de kuvvet etki eder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kuvvet yalnızca hareketli yüke etki eder.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kuvvet hızı artırır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Hıza dik olduğu için iş yapmaz; yalnızca yön değiştirir.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Alana paralel akım kuvvet görür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sinα = 0 olduğu için kuvvet sıfırdır.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Periyot hıza bağlıdır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2πm/qB; hız ve yarıçaptan bağımsızdır.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Mıknatısın tek kutbu olabilir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Bölünen mıknatıs iki yeni mıknatıs verir.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02 · Manyetik alan ve kuvvet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hareket eden yük üretir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20665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 telde B = 2·10⁻⁷·I/r; uzaklıkla ters orantılı.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Yönler sağ elle bulunur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299923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Başparmak akım, parmaklar alan; kuvvet ikisine de dik.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açıya bağlıdır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39319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B·I·L·sinα: dikte en büyük, paralelde sıfır.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Alana dik giren yük çember çizer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486460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mv/qB; periyot T = 2πm/qB hızdan bağımsızdır.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Telin alanı, kuvvet deneyi ve sağ el kuralı alıştırması: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dersler.perinet.org/manyetik-alan.html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Manyetik alan ve manyetik kuvvet</dc:title>
  <dc:subject>Fizik · Elektrik ve Manyetizma</dc:subject>
  <dc:creator>Dersler</dc:creator>
  <cp:lastModifiedBy>Dersler</cp:lastModifiedBy>
  <cp:revision>1</cp:revision>
  <dcterms:created xsi:type="dcterms:W3CDTF">2026-09-18T20:11:35Z</dcterms:created>
  <dcterms:modified xsi:type="dcterms:W3CDTF">2026-09-18T20:11:35Z</dcterms:modified>
</cp:coreProperties>
</file>