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Pusula iğnesini kuzeye çeviren şey, elektrik motorunu döndüren, hoparlörü titreten ve kutup ışıklarını yakan şeyle aynı. Üstelik manyetizmanın kaynağı mıknatıslar değil, hareket hâlindeki yüklerdir: bir telden akım geçirdiğin anda çevresinde bir manyetik alan doğar. Bu konuda önce alanın nereden geldiğini, sonra o alanın içine giren bir akıma ya da yüke ne yaptığını öğreneceğiz.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Pusula iğnesini kuzeye çeviren şey, elektrik motorunu döndüren, hoparlörü titreten ve kutup ışıklarını yakan şeyle aynı. Üstelik manyetizmanın kaynağı mıknatıslar değil, hareket hâlindeki yüklerdir: bir telden akım geçirdiğin anda çevresinde bir manyetik alan doğar. Bu konuda önce alanın nereden geldiğini, sonra o alanın içine giren bir akıma ya da yüke ne yaptığını öğreneceğiz.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Manyetik alan nedir?
2. Akımın oluşturduğu alan
3. Sağ el kuralı
4. Akım taşıyan tele etki eden kuvvet
5. Hareketli yüke etki eden kuvvet
6. Manyetik alanda dairesel hareket
7. Uygulamalar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Mıknatısların ve akım taşıyan iletkenlerin çevresinde, başka mıknatıslara ve hareketli yüklere kuvvet uygulayan bir etki bölgesi oluşur: manyetik alan (B). Vektörel bir büyüklüktür ve birimi tesla (T)'dır.
• Alan çizgileri mıknatısın N kutbundan çıkar, S kutbunda son bulur; mıknatısın içinde S'ten N'e devam eder, yani kapalı eğrilerdir.
• Çizgiler asla kesişmez; sıklıkları alanın şiddetini gösterir.
• Tek kutup yoktur: bir mıknatıs ikiye bölünürse iki yeni mıknatıs oluşur.
Ölçek duygusu: Dünya'nın manyetik alanı ≈ 50 µT, buzdolabı mıknatısı ≈ 5 mT, hoparlör mıknatısı ≈ 1 T, MR cihazı 1,5–3 T.
Çizim: Manyetik alan çizgileri mıknatısın dışında N'den çıkıp S'ye girer ve içeride devreyi tamamlar — yani elektrik alanının aksine kapalı halkalardır. Bunun doğrudan sonucu şudur: bir mıknatısı ikiye bölersen tek bir kutup elde edemezsin, elinde iki tam mıknatıs kalır. Bugüne kadar hiç tek manyetik kutup gözlenmedi.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1820'de Oersted, akım taşıyan telin yanındaki pusula iğnesinin saptığını gördü: elektrik akımı manyetik alan oluşturur. Düz bir tel için alan çizgileri, teli çevreleyen iç içe çemberlerdir.
B = μ₀·I / (2π·r)   μ₀ / 2π = 2·10⁻⁷ T·m/A
Alan akımla doğru, uzaklıkla ters orantılıdır. Dikkat: burada 1/r vardır, elektrik alandaki gibi 1/r² değil.
Kaynak | Alan bağıntısı | Özellik
Düz tel | B = μ₀I / (2πr) | çembersel çizgiler
Çembersel halka (merkezde) | B = μ₀I / (2r) | halkaya dik
Bobin / solenoid (içinde) | B = μ₀·n·I | düzgün alan
Çizim: Düz bir telden akım geçtiğinde çevresinde tel merkezli çemberler hâlinde bir manyetik alan doğar. Alanın yönünü sağ el kuralı verir: başparmak akım yönünü gösterecek şekilde teli kavrarsan, parmakların alan çizgilerini izler. Büyüklüğü akımla doğru, uzaklıkla ters orantılıdır — ters kare değil, ters birinci kuvvet.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 el kuralı
Manyetik olaylarda yön bulmanın anahtarı sağ el kurallarıdır:
• Telin alanı için: Sağ elin başparmağı akım yönünü gösterecek şekilde teli kavra; bükülen parmaklar alan çizgilerinin yönünü verir.
• Kuvvet için: Parmaklar hız (ya da akım) yönünden alan yönüne doğru döndürülürken başparmak kuvveti gösterir.
• Negatif yükte kuvvet, bulunan yönün tam tersidir.
Sayfa düzlemi gösterimi: ⊗ sayfaya doğru (içeri), ⊙ sayfadan dışarı anlamına gelir. Okun ucu ve tüyü gibi düşünülebilir.
Çizim: Manyetik kuvvet hem akıma hem alana diktir — yani üç yön bir odanın köşesi gibi birbirine dik durur. Sağ elini aç, parmaklarını akım (ya da hız) yönüne çevir, sonra alan yönüne doğru kıvır: başparmağın kuvveti gösterir. Negatif yükte bulduğun yönün tam tersini alırsın. Sayfa düzleminde çarpı içeri, nokta dışarı demektir: uzaklaşan okun tüyü ve yaklaşan okun ucu.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Manyetik alan içindeki bir tel akım taşıyorsa, tele bir kuvvet etki eder:
F = B · I · L · sinα
Burada α, akım yönü ile alan arasındaki açıdır. Kuvvet hem akıma hem alana diktir.
• α = 90° (akım alana dik): kuvvet en büyük, F = B·I·L
• α = 0° veya 180° (akım alana paralel): kuvvet sıfır
Elektrik motorlarının çalışma ilkesi budur: alan içindeki akım çerçevesine etki eden kuvvet çifti, çerçeveyi döndürür.
Çizim: Alan içindeki bir tele etkiyen kuvvet, akıma ve alana dik çıkar; büyüklüğü aradaki açının sinüsüyle değişir. Tel alana dikken kuvvet en büyüktür (α = 90°, sinα = 1); alana paralelken kuvvet sıfırdır (α = 0 ya da 180°). Elektrik motorunun bütün sırrı bu tek bağıntıda saklıdır.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Akım aslında hareketli yüklerden ibarettir; dolayısıyla tek bir yük için de benzer bir bağıntı geçerlidir:
F = q · v · B · sinα
Kuvvet hem hıza hem alana diktir. Bunun üç önemli sonucu vardır:
• Duran yüke manyetik kuvvet etki etmez (v = 0 ise F = 0).
• Alana paralel giren yük sapmaz (α = 0 ise F = 0).
• Manyetik kuvvet iş yapmaz: kuvvet hıza dik olduğu için cismin kinetik enerjisi değişmez; yalnızca yönü değişir.
Çizim: Manyetik kuvvet yalnızca hareket hâlindeki yüke etki eder ve büyüklüğü hız ile alan arasındaki açıya bağlıdır. Alana paralel giren yük hiç sapmaz; dik giren yük ise en büyük kuvveti görür. Kuvvet hıza daima dik olduğu için yükün süratini asla değiştiremez — manyetik kuvvet iş yapmaz, yalnızca yön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Alana dik giren bir yük için manyetik kuvvet, sabit büyüklükte ve daima hıza dik olur — yani merkezcil kuvvet rolünü üstlenir:
q·v·B = m·v² / r   r = m·v / (q·B)   T = 2π·m / (q·B)
Yarıçap hızla doğru, alanla ters orantılıdır. Periyot ise hızdan bağımsızdır: hız iki katına çıkarsa yarıçap da iki katına çıkar ve tur süresi değişmez. Siklotron hızlandırıcılarının çalışma ilkesi tam olarak budur.
Bir boyut daha: Yük alana eğik girerse hız iki bileşene ayrılır: alana paralel bileşen sabit kalır, dik bileşen çembersel harekete yol açar. Sonuç sarmal (helis) bir yörüngedir.
Çizim: Alana dik giren yükün gördüğü kuvvet hıza daima dik olduğu için yük çember çizer; merkezcil kuvveti manyetik kuvvet sağlar. Hız iki katına çıkarsa yarıçap da iki katına çıkar. Şaşırtıcı olan şu: periyot hıza hiç bağlı değildir — hızlı parçacık daha büyük çember çizer ama turu aynı sürede tamamlar. Siklotron tam olarak bunu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Uygulamalar
Uygulama | Kullanılan ilke
Elektrik motoru | Alan içindeki akıma etki eden kuvvet
Hoparlör | Değişen akım → değişen kuvvet → titreşen membran
Kütle spektrometresi | r = mv/(qB): farklı kütleler farklı yarıçap
Siklotron | Periyodun hızdan bağımsız olması
Kutup ışıkları | Yüklü parçacıkların alan çizgileri boyunca sarmal hareketi
Çizim: Çerçevenin iki kenarından akım zıt yönlerde geçtiği için bu kenarlara etkiyen kuvvetler de zıt yönlü olur. Büyüklükleri eşit olduğundan çerçeve bir yere ötelenmez, ama birlikte bir dönme etkisi yaratırlar. Her yarım turda akımın yönünü çeviren bir komütatör eklenince dönme sürekli hâle gelir: elektrik motoru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Telin alanı
20 A akım taşıyan düz bir telden 10 cm uzaklıktaki manyetik alanın büyüklüğü nedir? Uzaklık iki katına çıkarılırsa alan ne olur?
1. B = 2·10⁻⁷ · I / r = 2·10⁻⁷ · 20 / 0,1
2. B = 4·10⁻⁵ T = 40 µT (Dünya'nın alanı mertebesinde)
3. r iki katına çıkarsa B yarıya iner: 20 µT (1/r bağımlılığı)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Tele etki eden kuvvet
0,5 T'lık düzgün manyetik alana dik olarak yerleştirilmiş 40 cm uzunluğundaki telden 6 A akım geçiyor. Tele etki eden kuvvet nedir? Tel alana 30° açı yapsaydı?
1. Dik durumda: F = B·I·L = 0,5 · 6 · 0,4 = 1,2 N
2. 30° için: F = B·I·L·sin30° = 1,2 · 0,5 = 0,6 N
3. Tel alana paralel olsaydı (0°) kuvvet sıfır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Dairesel yörünge
Kütlesi 9,1·10⁻³¹ kg, yükü 1,6·10⁻¹⁹ C olan bir elektron, 2·10⁷ m/s hızla 1 mT'lık alana dik giriyor. Yörüngenin yarıçapı ve periyodu nedir?
1. r = m·v/(q·B) = (9,1·10⁻³¹ · 2·10⁷) / (1,6·10⁻¹⁹ · 10⁻³)
2. r = 1,82·10⁻²³ / 1,6·10⁻²² ≈ 0,114 m ≈ 11,4 cm
3. T = 2πm/(qB) = (6,28 · 9,1·10⁻³¹) / (1,6·10⁻¹⁹ · 10⁻³) ≈ 3,6·10⁻⁸ s
4. Hız iki katına çıksaydı yarıçap iki katına çıkardı, ama periyot değişmezdi.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Hangi yöne sapar?
Sayfa düzleminde sağa doğru hareket eden bir elektron, sayfaya doğru (⊗) yönelmiş manyetik alana giriyor. Elektron hangi yöne sapar?
1. Önce pozitif yük varmış gibi düşün: parmaklar hız (sağa) yönünden alan (sayfaya doğru) yönüne döndürülür; başparmak yukarıyı gösterir.
2. Yük negatif olduğu için kuvvet tersine döner: aşağı.
3. Kuvvet hıza dik olduğu için elektron aşağı doğru bir çember çizmeye başlar; sürati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kuvvet hız yönündedir.” Kuvvet hıza diktir; bu yüzden sürati değil, yönü değiştirir.
• “Duran yüke de manyetik kuvvet etki eder.” F = qvB·sinα; v = 0 ise F = 0.
• “Manyetik kuvvet iş yapar.” Kuvvet yer değiştirmeye dik olduğu için yaptığı iş sıfırdır; kinetik enerji değişmez.
• Telin alanını 1/r² sanmak. Düz telde alan 1/r ile azalır.
• Negatif yükte yönü ters çevirmeyi unutmak. Sağ el kuralı pozitif yük içindir; elektronda sonucu ters çevir.
• “Periyot hıza bağlıdır.” T = 2πm/(qB); hız yalnızca yarıçapı değiştirir.
• Açıyı yanlış almak. α, akım (ya da hız) ile alan arasındaki açıdır; telin yatayla yaptığı açı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Telin alanı 1/r ile azalır · Tele kuvvet B·I·L·sinα · Yüke kuvvet q·v·B·sinα · Yörünge çember
B = μ₀·I / (2π·r) — düz telin alanı
F = B·I·L·sinα — akım taşıyan tele
F = q·v·B·sinα — hareketli yüke
r = m·v / (q·B) — dairesel yörüngenin yarıçapı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02</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200" b="1" spc="-100" kern="0" dirty="0">
                <a:solidFill>
                  <a:srgbClr val="FFFFFF"/>
                </a:solidFill>
                <a:latin typeface="Cambria" pitchFamily="34" charset="0"/>
                <a:ea typeface="Cambria" pitchFamily="34" charset="-122"/>
                <a:cs typeface="Cambria" pitchFamily="34" charset="-120"/>
              </a:rPr>
              <a:t>Manyetik alan ve manyetik kuvvet</a:t>
            </a:r>
            <a:endParaRPr lang="en-US" sz="42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Hareketli yük, çevresinde manyetik alan oluşturur; başka bir hareketli yük ya da akım bu alanın içinde kuvvet hisseder. Bu kuvvetin en şaşırtıcı yanı, hem hıza hem alana dik olmasıdır — bu yüzden iş yapmaz, yalnızca yön değiştirir.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 μ₀·I / (2π·r)   ·   F = B·I·L·sinα   ·   F = q·v·B·sinα</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Pusula iğnesini kuzeye çeviren şey, elektrik motorunu döndüren, hoparlörü titreten ve kutup ışıklarını yakan şeyle aynı. Üstelik manyetizmanın kaynağı mıknatıslar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hareket hâlindeki yüklerdir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bir telden akım geçirdiğin anda çevresinde bir manyetik alan doğar. Bu konuda önce alanın nereden geldiğini, sonra o alanın içine giren bir akıma ya da yüke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ne yaptığını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Manyetik alan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Mıknatısların ve akım taşıyan iletkenlerin çevresinde, başka mıknatıslara ve hareketli…</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Akımın oluşturduğu alan</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1820'de Oersted, akım taşıyan telin yanındaki pusula iğnesinin saptığını gördü: elektrik…</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Sağ el kuralı</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Manyetik olaylarda yön bulmanın anahtarı sağ el kurallarıdır: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Akım taşıyan tele etki eden kuvvet</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Manyetik alan içindeki bir tel akım taşıyorsa, tele bir kuvvet etki eder: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Hareketli yüke etki eden kuvvet</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Akım aslında hareketli yüklerden ibarettir; dolayısıyla tek bir yük için de benzer bir…</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Manyetik alanda dairesel hareket</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Alana dik giren bir yük için manyetik kuvvet, sabit büyüklükte ve daima hıza dik olur —…</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Uygulamalar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7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640080" y="1481328"/>
            <a:ext cx="6309360" cy="11094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Mıknatısların ve akım taşıyan iletkenlerin çevresinde, başka mıknatıslara ve hareketli yüklere kuvvet uygulayan bir etki bölgesi oluşur: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manyetik alan (B)</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Vektörel bir büyüklüktür ve birimi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tesla (T)</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'dır.</a:t>
            </a:r>
            <a:endParaRPr lang="en-US" sz="1400" dirty="0"/>
          </a:p>
        </p:txBody>
      </p:sp>
      <p:sp>
        <p:nvSpPr>
          <p:cNvPr id="6" name="Text 4"/>
          <p:cNvSpPr txBox="1"/>
          <p:nvPr/>
        </p:nvSpPr>
        <p:spPr>
          <a:xfrm>
            <a:off x="640080" y="2700528"/>
            <a:ext cx="6309360" cy="16642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Alan çizgileri mıknatısın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N kutbundan çıkar, S kutbunda son bulur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mıknatısın içinde S'ten N'e devam eder, yani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kapalı eğrilerdir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Çizgiler asla kesişmez; sıklıkları alanın şiddetini gösterir.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Tek kutup yoktur: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bir mıknatıs ikiye bölünürse iki yeni mıknatıs oluşur.</a:t>
            </a:r>
            <a:endParaRPr lang="en-US" sz="1400" dirty="0"/>
          </a:p>
        </p:txBody>
      </p:sp>
      <p:sp>
        <p:nvSpPr>
          <p:cNvPr id="7" name="Shape 5"/>
          <p:cNvSpPr/>
          <p:nvPr/>
        </p:nvSpPr>
        <p:spPr>
          <a:xfrm>
            <a:off x="640080" y="4474464"/>
            <a:ext cx="6309360"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620768"/>
            <a:ext cx="45720" cy="565404"/>
          </a:xfrm>
          <a:prstGeom prst="rect">
            <a:avLst/>
          </a:prstGeom>
          <a:solidFill>
            <a:srgbClr val="3C8C21"/>
          </a:solidFill>
          <a:ln/>
        </p:spPr>
      </p:sp>
      <p:sp>
        <p:nvSpPr>
          <p:cNvPr id="9" name="Text 7"/>
          <p:cNvSpPr txBox="1"/>
          <p:nvPr/>
        </p:nvSpPr>
        <p:spPr>
          <a:xfrm>
            <a:off x="914400" y="4584192"/>
            <a:ext cx="5852160"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Ölçek duygusu:</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Dünya'nın manyetik alanı ≈ 50 µT, buzdolabı mıknatısı ≈ 5 mT, hoparlör mıknatısı ≈ 1 T, MR cihazı 1,5–3 T.</a:t>
            </a:r>
            <a:endParaRPr lang="en-US" sz="1300" dirty="0"/>
          </a:p>
        </p:txBody>
      </p:sp>
      <p:sp>
        <p:nvSpPr>
          <p:cNvPr id="10" name="Shape 8"/>
          <p:cNvSpPr/>
          <p:nvPr/>
        </p:nvSpPr>
        <p:spPr>
          <a:xfrm>
            <a:off x="7242048" y="1481328"/>
            <a:ext cx="4309567" cy="3400504"/>
          </a:xfrm>
          <a:prstGeom prst="roundRect">
            <a:avLst>
              <a:gd name="adj" fmla="val 430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manyetik-alan-01.png">    </p:cNvPr>
          <p:cNvPicPr>
            <a:picLocks noChangeAspect="1"/>
          </p:cNvPicPr>
          <p:nvPr/>
        </p:nvPicPr>
        <p:blipFill>
          <a:blip r:embed="rId1"/>
          <a:stretch>
            <a:fillRect/>
          </a:stretch>
        </p:blipFill>
        <p:spPr>
          <a:xfrm>
            <a:off x="7424928" y="1664208"/>
            <a:ext cx="3943807" cy="1758241"/>
          </a:xfrm>
          <a:prstGeom prst="rect">
            <a:avLst/>
          </a:prstGeom>
        </p:spPr>
      </p:pic>
      <p:sp>
        <p:nvSpPr>
          <p:cNvPr id="12" name="Shape 9"/>
          <p:cNvSpPr/>
          <p:nvPr/>
        </p:nvSpPr>
        <p:spPr>
          <a:xfrm>
            <a:off x="7424928" y="3513889"/>
            <a:ext cx="3943807" cy="0"/>
          </a:xfrm>
          <a:prstGeom prst="line">
            <a:avLst/>
          </a:prstGeom>
          <a:noFill/>
          <a:ln w="9525">
            <a:solidFill>
              <a:srgbClr val="E1E5EE"/>
            </a:solidFill>
            <a:prstDash val="dash"/>
          </a:ln>
        </p:spPr>
      </p:sp>
      <p:sp>
        <p:nvSpPr>
          <p:cNvPr id="13" name="Text 10"/>
          <p:cNvSpPr txBox="1"/>
          <p:nvPr/>
        </p:nvSpPr>
        <p:spPr>
          <a:xfrm>
            <a:off x="7424928" y="3568753"/>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alan çizgileri mıknatısın dışında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N'den çıkıp S'ye girer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içeride devreyi tamamlar — yani elektrik alanının aksine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kapalı halkalardır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Bunun doğrudan sonucu şudur: bir mıknatısı ikiye bölersen tek bir kutup elde edemezsin, elinde iki tam mıknatıs kalır. Bugüne kadar hiç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manyetik kutup</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gözlenmedi.</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a:t>
            </a:r>
            <a:endParaRPr lang="en-US" sz="3200" dirty="0"/>
          </a:p>
        </p:txBody>
      </p:sp>
      <p:sp>
        <p:nvSpPr>
          <p:cNvPr id="5" name="Text 3"/>
          <p:cNvSpPr txBox="1"/>
          <p:nvPr/>
        </p:nvSpPr>
        <p:spPr>
          <a:xfrm>
            <a:off x="640080" y="1481328"/>
            <a:ext cx="6309360" cy="11094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1820'de Oersted, akım taşıyan telin yanındaki pusula iğnesinin saptığını gördü: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elektrik akımı manyetik alan oluşturur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Düz bir tel için alan çizgileri, teli çevreleyen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iç içe çemberlerdir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6" name="Shape 4"/>
          <p:cNvSpPr/>
          <p:nvPr/>
        </p:nvSpPr>
        <p:spPr>
          <a:xfrm>
            <a:off x="640080" y="2700528"/>
            <a:ext cx="213603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70052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 = μ₀·I / (2π·r)</a:t>
            </a:r>
            <a:endParaRPr lang="en-US" sz="1300" dirty="0"/>
          </a:p>
        </p:txBody>
      </p:sp>
      <p:sp>
        <p:nvSpPr>
          <p:cNvPr id="8" name="Shape 6"/>
          <p:cNvSpPr/>
          <p:nvPr/>
        </p:nvSpPr>
        <p:spPr>
          <a:xfrm>
            <a:off x="2885846" y="2700528"/>
            <a:ext cx="2629814"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885846" y="270052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μ₀ / 2π = 2·10⁻⁷ T·m/A</a:t>
            </a:r>
            <a:endParaRPr lang="en-US" sz="1300" dirty="0"/>
          </a:p>
        </p:txBody>
      </p:sp>
      <p:sp>
        <p:nvSpPr>
          <p:cNvPr id="10" name="Text 8"/>
          <p:cNvSpPr txBox="1"/>
          <p:nvPr/>
        </p:nvSpPr>
        <p:spPr>
          <a:xfrm>
            <a:off x="640080" y="3322320"/>
            <a:ext cx="6309360" cy="618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Alan akımla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doğru</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uzaklıkla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ters</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orantılıdır.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Dikkat: burada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1/r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vardır, elektrik alandaki gibi 1/r² değil.</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4050792"/>
          <a:ext cx="6309360" cy="914400"/>
        </p:xfrm>
        <a:graphic>
          <a:graphicData uri="http://schemas.openxmlformats.org/drawingml/2006/table">
            <a:tbl>
              <a:tblPr/>
              <a:tblGrid>
                <a:gridCol w="2780396"/>
                <a:gridCol w="1604075"/>
                <a:gridCol w="1924889"/>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Kaynak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 bağıntısı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Düz tel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μ₀I / (2πr)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çembersel çizgiler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Çembersel halka (merkezde)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μ₀I / (2r)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halkaya dik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Bobin / solenoid (içinde)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μ₀·n·I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düzgün alan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2" name="Shape 9"/>
          <p:cNvSpPr/>
          <p:nvPr/>
        </p:nvSpPr>
        <p:spPr>
          <a:xfrm>
            <a:off x="7242048" y="1481328"/>
            <a:ext cx="4309567" cy="3367678"/>
          </a:xfrm>
          <a:prstGeom prst="roundRect">
            <a:avLst>
              <a:gd name="adj" fmla="val 434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manyetik-alan-02.png">    </p:cNvPr>
          <p:cNvPicPr>
            <a:picLocks noChangeAspect="1"/>
          </p:cNvPicPr>
          <p:nvPr/>
        </p:nvPicPr>
        <p:blipFill>
          <a:blip r:embed="rId1"/>
          <a:stretch>
            <a:fillRect/>
          </a:stretch>
        </p:blipFill>
        <p:spPr>
          <a:xfrm>
            <a:off x="7424928" y="1664208"/>
            <a:ext cx="3943807" cy="1725416"/>
          </a:xfrm>
          <a:prstGeom prst="rect">
            <a:avLst/>
          </a:prstGeom>
        </p:spPr>
      </p:pic>
      <p:sp>
        <p:nvSpPr>
          <p:cNvPr id="14" name="Shape 10"/>
          <p:cNvSpPr/>
          <p:nvPr/>
        </p:nvSpPr>
        <p:spPr>
          <a:xfrm>
            <a:off x="7424928" y="3481064"/>
            <a:ext cx="3943807" cy="0"/>
          </a:xfrm>
          <a:prstGeom prst="line">
            <a:avLst/>
          </a:prstGeom>
          <a:noFill/>
          <a:ln w="9525">
            <a:solidFill>
              <a:srgbClr val="E1E5EE"/>
            </a:solidFill>
            <a:prstDash val="dash"/>
          </a:ln>
        </p:spPr>
      </p:sp>
      <p:sp>
        <p:nvSpPr>
          <p:cNvPr id="15" name="Text 11"/>
          <p:cNvSpPr txBox="1"/>
          <p:nvPr/>
        </p:nvSpPr>
        <p:spPr>
          <a:xfrm>
            <a:off x="7424928" y="3535928"/>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Düz bir telden akım geçtiğinde çevresinde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tel merkezli çemberler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hâlinde bir manyetik alan doğar. Alanın yönünü sağ el kuralı verir: başparmak akım yönünü gösterecek şekilde teli kavrarsan,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parmakların alan çizgilerini izler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Büyüklüğü akımla doğru, uzaklıkla ters orantılıdır — ters kare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 birinci kuvvet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Sağ el kuralı</a:t>
            </a:r>
            <a:endParaRPr lang="en-US" sz="3200" dirty="0"/>
          </a:p>
        </p:txBody>
      </p:sp>
      <p:sp>
        <p:nvSpPr>
          <p:cNvPr id="5" name="Text 3"/>
          <p:cNvSpPr txBox="1"/>
          <p:nvPr/>
        </p:nvSpPr>
        <p:spPr>
          <a:xfrm>
            <a:off x="640080" y="1481328"/>
            <a:ext cx="5486400" cy="560832"/>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Manyetik olaylarda yön bulmanın anahtarı sağ el kurallarıdır:</a:t>
            </a:r>
            <a:endParaRPr lang="en-US" sz="1600" dirty="0"/>
          </a:p>
        </p:txBody>
      </p:sp>
      <p:sp>
        <p:nvSpPr>
          <p:cNvPr id="6" name="Text 4"/>
          <p:cNvSpPr txBox="1"/>
          <p:nvPr/>
        </p:nvSpPr>
        <p:spPr>
          <a:xfrm>
            <a:off x="640080" y="2170176"/>
            <a:ext cx="5486400" cy="21549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Telin alanı için: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Sağ elin </a:t>
            </a:r>
            <a:pPr indent="0" marL="0">
              <a:lnSpc>
                <a:spcPct val="115000"/>
              </a:lnSpc>
              <a:buNone/>
            </a:pPr>
            <a:r>
              <a:rPr lang="en-US" sz="1600" i="1" dirty="0">
                <a:solidFill>
                  <a:srgbClr val="4A5470"/>
                </a:solidFill>
                <a:latin typeface="Calibri" pitchFamily="34" charset="0"/>
                <a:ea typeface="Calibri" pitchFamily="34" charset="-122"/>
                <a:cs typeface="Calibri" pitchFamily="34" charset="-120"/>
              </a:rPr>
              <a:t>başparmağı akım yönünü</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gösterecek şekilde teli kavra; </a:t>
            </a:r>
            <a:pPr indent="0" marL="0">
              <a:lnSpc>
                <a:spcPct val="115000"/>
              </a:lnSpc>
              <a:buNone/>
            </a:pPr>
            <a:r>
              <a:rPr lang="en-US" sz="1600" i="1" dirty="0">
                <a:solidFill>
                  <a:srgbClr val="4A5470"/>
                </a:solidFill>
                <a:latin typeface="Calibri" pitchFamily="34" charset="0"/>
                <a:ea typeface="Calibri" pitchFamily="34" charset="-122"/>
                <a:cs typeface="Calibri" pitchFamily="34" charset="-120"/>
              </a:rPr>
              <a:t>bükülen parmaklar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alan çizgilerinin yönünü verir.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Kuvvet için: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Parmaklar </a:t>
            </a:r>
            <a:pPr indent="0" marL="0">
              <a:lnSpc>
                <a:spcPct val="115000"/>
              </a:lnSpc>
              <a:buNone/>
            </a:pPr>
            <a:r>
              <a:rPr lang="en-US" sz="1600" i="1" dirty="0">
                <a:solidFill>
                  <a:srgbClr val="4A5470"/>
                </a:solidFill>
                <a:latin typeface="Calibri" pitchFamily="34" charset="0"/>
                <a:ea typeface="Calibri" pitchFamily="34" charset="-122"/>
                <a:cs typeface="Calibri" pitchFamily="34" charset="-120"/>
              </a:rPr>
              <a:t>hız (ya da akım)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yönünden </a:t>
            </a:r>
            <a:pPr indent="0" marL="0">
              <a:lnSpc>
                <a:spcPct val="115000"/>
              </a:lnSpc>
              <a:buNone/>
            </a:pPr>
            <a:r>
              <a:rPr lang="en-US" sz="1600" i="1" dirty="0">
                <a:solidFill>
                  <a:srgbClr val="4A5470"/>
                </a:solidFill>
                <a:latin typeface="Calibri" pitchFamily="34" charset="0"/>
                <a:ea typeface="Calibri" pitchFamily="34" charset="-122"/>
                <a:cs typeface="Calibri" pitchFamily="34" charset="-120"/>
              </a:rPr>
              <a:t>alan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yönüne doğru döndürülürken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başparmak kuvveti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gösterir.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Negatif yükte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kuvvet, bulunan yönün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tam tersidir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640080" y="4434840"/>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581144"/>
            <a:ext cx="45720" cy="898398"/>
          </a:xfrm>
          <a:prstGeom prst="rect">
            <a:avLst/>
          </a:prstGeom>
          <a:solidFill>
            <a:srgbClr val="A56209"/>
          </a:solidFill>
          <a:ln/>
        </p:spPr>
      </p:sp>
      <p:sp>
        <p:nvSpPr>
          <p:cNvPr id="9" name="Text 7"/>
          <p:cNvSpPr txBox="1"/>
          <p:nvPr/>
        </p:nvSpPr>
        <p:spPr>
          <a:xfrm>
            <a:off x="914400" y="4544568"/>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Sayfa düzlemi gösterimi:</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sayfaya doğru (içeri),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sayfadan dışarı anlamına gelir. Okun ucu ve tüyü gibi düşünülebilir.</a:t>
            </a:r>
            <a:endParaRPr lang="en-US" sz="1500" dirty="0"/>
          </a:p>
        </p:txBody>
      </p:sp>
      <p:sp>
        <p:nvSpPr>
          <p:cNvPr id="10" name="Shape 8"/>
          <p:cNvSpPr/>
          <p:nvPr/>
        </p:nvSpPr>
        <p:spPr>
          <a:xfrm>
            <a:off x="6419088" y="1481328"/>
            <a:ext cx="5132527" cy="3747489"/>
          </a:xfrm>
          <a:prstGeom prst="roundRect">
            <a:avLst>
              <a:gd name="adj" fmla="val 390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manyetik-alan-03.png">    </p:cNvPr>
          <p:cNvPicPr>
            <a:picLocks noChangeAspect="1"/>
          </p:cNvPicPr>
          <p:nvPr/>
        </p:nvPicPr>
        <p:blipFill>
          <a:blip r:embed="rId1"/>
          <a:stretch>
            <a:fillRect/>
          </a:stretch>
        </p:blipFill>
        <p:spPr>
          <a:xfrm>
            <a:off x="6601968" y="1664208"/>
            <a:ext cx="4766767" cy="2105227"/>
          </a:xfrm>
          <a:prstGeom prst="rect">
            <a:avLst/>
          </a:prstGeom>
        </p:spPr>
      </p:pic>
      <p:sp>
        <p:nvSpPr>
          <p:cNvPr id="12" name="Shape 9"/>
          <p:cNvSpPr/>
          <p:nvPr/>
        </p:nvSpPr>
        <p:spPr>
          <a:xfrm>
            <a:off x="6601968" y="3860875"/>
            <a:ext cx="4766767" cy="0"/>
          </a:xfrm>
          <a:prstGeom prst="line">
            <a:avLst/>
          </a:prstGeom>
          <a:noFill/>
          <a:ln w="9525">
            <a:solidFill>
              <a:srgbClr val="E1E5EE"/>
            </a:solidFill>
            <a:prstDash val="dash"/>
          </a:ln>
        </p:spPr>
      </p:sp>
      <p:sp>
        <p:nvSpPr>
          <p:cNvPr id="13" name="Text 10"/>
          <p:cNvSpPr txBox="1"/>
          <p:nvPr/>
        </p:nvSpPr>
        <p:spPr>
          <a:xfrm>
            <a:off x="6601968" y="3915739"/>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hem akıma hem alana diktir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yani üç yön bir odanın köşesi gibi birbirine dik durur. Sağ elini aç, parmaklarını akım (ya da hız) yönüne çevir, sonra alan yönüne doğru kıvır: başparmağın kuvveti gösterir. Negatif yükte bulduğun yönün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tersini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alırsın. Sayfa düzleminde çarpı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nokta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dışarı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demektir: uzaklaşan okun tüyü ve yaklaşan okun ucu.</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640080" y="1481328"/>
            <a:ext cx="5852160" cy="525780"/>
          </a:xfrm>
          <a:prstGeom prst="rect">
            <a:avLst/>
          </a:prstGeom>
          <a:noFill/>
          <a:ln/>
        </p:spPr>
        <p:txBody>
          <a:bodyPr wrap="square" lIns="0" tIns="0" rIns="0" bIns="0" rtlCol="0" anchor="t"/>
          <a:lstStyle/>
          <a:p>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Manyetik alan içindeki bir tel akım taşıyorsa, tele bir kuvvet etki eder:</a:t>
            </a:r>
            <a:endParaRPr lang="en-US" sz="1500" dirty="0"/>
          </a:p>
        </p:txBody>
      </p:sp>
      <p:sp>
        <p:nvSpPr>
          <p:cNvPr id="6" name="Shape 4"/>
          <p:cNvSpPr/>
          <p:nvPr/>
        </p:nvSpPr>
        <p:spPr>
          <a:xfrm>
            <a:off x="640080" y="2135124"/>
            <a:ext cx="243230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35124"/>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B · I · L · sinα</a:t>
            </a:r>
            <a:endParaRPr lang="en-US" sz="1300" dirty="0"/>
          </a:p>
        </p:txBody>
      </p:sp>
      <p:sp>
        <p:nvSpPr>
          <p:cNvPr id="8" name="Text 6"/>
          <p:cNvSpPr txBox="1"/>
          <p:nvPr/>
        </p:nvSpPr>
        <p:spPr>
          <a:xfrm>
            <a:off x="640080" y="2756916"/>
            <a:ext cx="5852160" cy="6537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Burada α,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akım yönü ile alan arasındaki açıdır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Kuvvet hem akıma hem alana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diktir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640080" y="3520440"/>
            <a:ext cx="5852160" cy="6537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α = 90° (akım alana dik): kuvvet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en büyük</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F = B·I·L</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α = 0° veya 180° (akım alana paralel): kuvvet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sıfır</a:t>
            </a:r>
            <a:endParaRPr lang="en-US" sz="1500" dirty="0"/>
          </a:p>
        </p:txBody>
      </p:sp>
      <p:sp>
        <p:nvSpPr>
          <p:cNvPr id="10" name="Text 8"/>
          <p:cNvSpPr txBox="1"/>
          <p:nvPr/>
        </p:nvSpPr>
        <p:spPr>
          <a:xfrm>
            <a:off x="640080" y="4283964"/>
            <a:ext cx="5852160" cy="788670"/>
          </a:xfrm>
          <a:prstGeom prst="rect">
            <a:avLst/>
          </a:prstGeom>
          <a:noFill/>
          <a:ln/>
        </p:spPr>
        <p:txBody>
          <a:bodyPr wrap="square" lIns="0" tIns="0" rIns="0" bIns="0" rtlCol="0" anchor="t"/>
          <a:lstStyle/>
          <a:p>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Elektrik motorlarının çalışma ilkesi budur: alan içindeki akım çerçevesine etki eden kuvvet çifti, çerçeveyi döndürür.</a:t>
            </a:r>
            <a:endParaRPr lang="en-US" sz="1500" dirty="0"/>
          </a:p>
        </p:txBody>
      </p:sp>
      <p:sp>
        <p:nvSpPr>
          <p:cNvPr id="11" name="Shape 9"/>
          <p:cNvSpPr/>
          <p:nvPr/>
        </p:nvSpPr>
        <p:spPr>
          <a:xfrm>
            <a:off x="6784848" y="1481328"/>
            <a:ext cx="4766767" cy="3370099"/>
          </a:xfrm>
          <a:prstGeom prst="roundRect">
            <a:avLst>
              <a:gd name="adj" fmla="val 43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manyetik-alan-04.png">    </p:cNvPr>
          <p:cNvPicPr>
            <a:picLocks noChangeAspect="1"/>
          </p:cNvPicPr>
          <p:nvPr/>
        </p:nvPicPr>
        <p:blipFill>
          <a:blip r:embed="rId1"/>
          <a:stretch>
            <a:fillRect/>
          </a:stretch>
        </p:blipFill>
        <p:spPr>
          <a:xfrm>
            <a:off x="6967728" y="1664208"/>
            <a:ext cx="4401007" cy="1907059"/>
          </a:xfrm>
          <a:prstGeom prst="rect">
            <a:avLst/>
          </a:prstGeom>
        </p:spPr>
      </p:pic>
      <p:sp>
        <p:nvSpPr>
          <p:cNvPr id="13" name="Shape 10"/>
          <p:cNvSpPr/>
          <p:nvPr/>
        </p:nvSpPr>
        <p:spPr>
          <a:xfrm>
            <a:off x="6967728" y="3662707"/>
            <a:ext cx="4401007" cy="0"/>
          </a:xfrm>
          <a:prstGeom prst="line">
            <a:avLst/>
          </a:prstGeom>
          <a:noFill/>
          <a:ln w="9525">
            <a:solidFill>
              <a:srgbClr val="E1E5EE"/>
            </a:solidFill>
            <a:prstDash val="dash"/>
          </a:ln>
        </p:spPr>
      </p:sp>
      <p:sp>
        <p:nvSpPr>
          <p:cNvPr id="14" name="Text 11"/>
          <p:cNvSpPr txBox="1"/>
          <p:nvPr/>
        </p:nvSpPr>
        <p:spPr>
          <a:xfrm>
            <a:off x="6967728" y="3717571"/>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 içindeki bir tele etkiyen kuvvet, akıma ve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 büyüklüğü aradaki açının sinüsüyle değişir. Tel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dikken kuvvet en büyüktür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(α = 90°, sinα = 1);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paralelken kuvvet sıfırdır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(α = 0 ya da 180°). Elektrik motorunun bütün sırrı bu tek bağıntıda saklıdır.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640080" y="1481328"/>
            <a:ext cx="5852160" cy="525780"/>
          </a:xfrm>
          <a:prstGeom prst="rect">
            <a:avLst/>
          </a:prstGeom>
          <a:noFill/>
          <a:ln/>
        </p:spPr>
        <p:txBody>
          <a:bodyPr wrap="square" lIns="0" tIns="0" rIns="0" bIns="0" rtlCol="0" anchor="t"/>
          <a:lstStyle/>
          <a:p>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Akım aslında hareketli yüklerden ibarettir; dolayısıyla tek bir yük için de benzer bir bağıntı geçerlidir:</a:t>
            </a:r>
            <a:endParaRPr lang="en-US" sz="1500" dirty="0"/>
          </a:p>
        </p:txBody>
      </p:sp>
      <p:sp>
        <p:nvSpPr>
          <p:cNvPr id="6" name="Shape 4"/>
          <p:cNvSpPr/>
          <p:nvPr/>
        </p:nvSpPr>
        <p:spPr>
          <a:xfrm>
            <a:off x="640080" y="2135124"/>
            <a:ext cx="243230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35124"/>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q · v · B · sinα</a:t>
            </a:r>
            <a:endParaRPr lang="en-US" sz="1300" dirty="0"/>
          </a:p>
        </p:txBody>
      </p:sp>
      <p:sp>
        <p:nvSpPr>
          <p:cNvPr id="8" name="Text 6"/>
          <p:cNvSpPr txBox="1"/>
          <p:nvPr/>
        </p:nvSpPr>
        <p:spPr>
          <a:xfrm>
            <a:off x="640080" y="2756916"/>
            <a:ext cx="5852160" cy="6537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Kuvvet hem hıza hem alana diktir.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Bunun üç önemli sonucu vardır:</a:t>
            </a:r>
            <a:endParaRPr lang="en-US" sz="1500" dirty="0"/>
          </a:p>
        </p:txBody>
      </p:sp>
      <p:sp>
        <p:nvSpPr>
          <p:cNvPr id="9" name="Text 7"/>
          <p:cNvSpPr txBox="1"/>
          <p:nvPr/>
        </p:nvSpPr>
        <p:spPr>
          <a:xfrm>
            <a:off x="640080" y="3520440"/>
            <a:ext cx="5852160" cy="12435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Duran yüke manyetik kuvvet etki etmez</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(v = 0 ise F = 0).</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Alana paralel giren yük sapmaz</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(α = 0 ise F = 0).</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Manyetik kuvvet iş yapmaz:</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kuvvet hıza dik olduğu için cismin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kinetik enerjisi değişmez</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yalnızca yönü değişir.</a:t>
            </a:r>
            <a:endParaRPr lang="en-US" sz="1500" dirty="0"/>
          </a:p>
        </p:txBody>
      </p:sp>
      <p:sp>
        <p:nvSpPr>
          <p:cNvPr id="10" name="Shape 8"/>
          <p:cNvSpPr/>
          <p:nvPr/>
        </p:nvSpPr>
        <p:spPr>
          <a:xfrm>
            <a:off x="6784848" y="1481328"/>
            <a:ext cx="4766767" cy="3260074"/>
          </a:xfrm>
          <a:prstGeom prst="roundRect">
            <a:avLst>
              <a:gd name="adj" fmla="val 448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manyetik-alan-05.png">    </p:cNvPr>
          <p:cNvPicPr>
            <a:picLocks noChangeAspect="1"/>
          </p:cNvPicPr>
          <p:nvPr/>
        </p:nvPicPr>
        <p:blipFill>
          <a:blip r:embed="rId1"/>
          <a:stretch>
            <a:fillRect/>
          </a:stretch>
        </p:blipFill>
        <p:spPr>
          <a:xfrm>
            <a:off x="6967728" y="1664208"/>
            <a:ext cx="4401007" cy="1797034"/>
          </a:xfrm>
          <a:prstGeom prst="rect">
            <a:avLst/>
          </a:prstGeom>
        </p:spPr>
      </p:pic>
      <p:sp>
        <p:nvSpPr>
          <p:cNvPr id="12" name="Shape 9"/>
          <p:cNvSpPr/>
          <p:nvPr/>
        </p:nvSpPr>
        <p:spPr>
          <a:xfrm>
            <a:off x="6967728" y="3552682"/>
            <a:ext cx="4401007" cy="0"/>
          </a:xfrm>
          <a:prstGeom prst="line">
            <a:avLst/>
          </a:prstGeom>
          <a:noFill/>
          <a:ln w="9525">
            <a:solidFill>
              <a:srgbClr val="E1E5EE"/>
            </a:solidFill>
            <a:prstDash val="dash"/>
          </a:ln>
        </p:spPr>
      </p:sp>
      <p:sp>
        <p:nvSpPr>
          <p:cNvPr id="13" name="Text 10"/>
          <p:cNvSpPr txBox="1"/>
          <p:nvPr/>
        </p:nvSpPr>
        <p:spPr>
          <a:xfrm>
            <a:off x="6967728" y="3607546"/>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hareket hâlindeki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yüke etki eder ve büyüklüğü hız ile alan arasındaki açıya bağlıdır. Alana paralel giren yük hiç sapmaz; dik giren yük ise en büyük kuvveti görür. Kuvvet hıza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daima 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 için yükün süratini asla değiştiremez — 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 yapmaz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yalnızca yön değiştirir.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640080" y="1481328"/>
            <a:ext cx="6309360" cy="490728"/>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Alana dik giren bir yük için manyetik kuvvet, sabit büyüklükte ve daima hıza dik olur — yani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merkezcil kuvvet rolünü üstlenir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6" name="Shape 4"/>
          <p:cNvSpPr/>
          <p:nvPr/>
        </p:nvSpPr>
        <p:spPr>
          <a:xfrm>
            <a:off x="640080" y="2100072"/>
            <a:ext cx="2037283"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00072"/>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q·v·B = m·v² / r</a:t>
            </a:r>
            <a:endParaRPr lang="en-US" sz="1300" dirty="0"/>
          </a:p>
        </p:txBody>
      </p:sp>
      <p:sp>
        <p:nvSpPr>
          <p:cNvPr id="8" name="Shape 6"/>
          <p:cNvSpPr/>
          <p:nvPr/>
        </p:nvSpPr>
        <p:spPr>
          <a:xfrm>
            <a:off x="2787091" y="2100072"/>
            <a:ext cx="193852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787091" y="2100072"/>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m·v / (q·B)</a:t>
            </a:r>
            <a:endParaRPr lang="en-US" sz="1300" dirty="0"/>
          </a:p>
        </p:txBody>
      </p:sp>
      <p:sp>
        <p:nvSpPr>
          <p:cNvPr id="10" name="Shape 8"/>
          <p:cNvSpPr/>
          <p:nvPr/>
        </p:nvSpPr>
        <p:spPr>
          <a:xfrm>
            <a:off x="4835347" y="2100072"/>
            <a:ext cx="2037283"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4835347" y="2100072"/>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2π·m / (q·B)</a:t>
            </a:r>
            <a:endParaRPr lang="en-US" sz="1300" dirty="0"/>
          </a:p>
        </p:txBody>
      </p:sp>
      <p:sp>
        <p:nvSpPr>
          <p:cNvPr id="12" name="Text 10"/>
          <p:cNvSpPr txBox="1"/>
          <p:nvPr/>
        </p:nvSpPr>
        <p:spPr>
          <a:xfrm>
            <a:off x="640080" y="2721864"/>
            <a:ext cx="6309360" cy="11734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Yarıçap hızla doğru, alanla ters orantılıdır.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Periyot ise hızdan bağımsızdır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hız iki katına çıkarsa yarıçap da iki katına çıkar ve tur süresi değişmez.</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Siklotron hızlandırıcılarının çalışma ilkesi tam olarak budur.</a:t>
            </a:r>
            <a:endParaRPr lang="en-US" sz="1400" dirty="0"/>
          </a:p>
        </p:txBody>
      </p:sp>
      <p:sp>
        <p:nvSpPr>
          <p:cNvPr id="13" name="Shape 11"/>
          <p:cNvSpPr/>
          <p:nvPr/>
        </p:nvSpPr>
        <p:spPr>
          <a:xfrm>
            <a:off x="640080" y="4005072"/>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4151376"/>
            <a:ext cx="45720" cy="793242"/>
          </a:xfrm>
          <a:prstGeom prst="rect">
            <a:avLst/>
          </a:prstGeom>
          <a:solidFill>
            <a:srgbClr val="3C8C21"/>
          </a:solidFill>
          <a:ln/>
        </p:spPr>
      </p:sp>
      <p:sp>
        <p:nvSpPr>
          <p:cNvPr id="15" name="Text 13"/>
          <p:cNvSpPr txBox="1"/>
          <p:nvPr/>
        </p:nvSpPr>
        <p:spPr>
          <a:xfrm>
            <a:off x="914400" y="4114800"/>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Bir boyut daha:</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Yük alana </a:t>
            </a:r>
            <a:pPr indent="0" marL="0">
              <a:lnSpc>
                <a:spcPct val="112000"/>
              </a:lnSpc>
              <a:buNone/>
            </a:pPr>
            <a:r>
              <a:rPr lang="en-US" sz="1300" i="1" dirty="0">
                <a:solidFill>
                  <a:srgbClr val="4A5470"/>
                </a:solidFill>
                <a:latin typeface="Calibri" pitchFamily="34" charset="0"/>
                <a:ea typeface="Calibri" pitchFamily="34" charset="-122"/>
                <a:cs typeface="Calibri" pitchFamily="34" charset="-120"/>
              </a:rPr>
              <a:t>eğik</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girerse hız iki bileşene ayrılır: alana paralel bileşen sabit kalır, dik bileşen çembersel harekete yol açar. Sonuç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sarmal (helis)</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bir yörüngedir.</a:t>
            </a:r>
            <a:endParaRPr lang="en-US" sz="1300" dirty="0"/>
          </a:p>
        </p:txBody>
      </p:sp>
      <p:sp>
        <p:nvSpPr>
          <p:cNvPr id="16" name="Shape 14"/>
          <p:cNvSpPr/>
          <p:nvPr/>
        </p:nvSpPr>
        <p:spPr>
          <a:xfrm>
            <a:off x="7242048" y="1481328"/>
            <a:ext cx="4309567" cy="3449801"/>
          </a:xfrm>
          <a:prstGeom prst="roundRect">
            <a:avLst>
              <a:gd name="adj" fmla="val 42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a4dee546-de71-4ec2-8add-be39dd273d29/scratchpad/sekiller/manyetik-alan-06.png">    </p:cNvPr>
          <p:cNvPicPr>
            <a:picLocks noChangeAspect="1"/>
          </p:cNvPicPr>
          <p:nvPr/>
        </p:nvPicPr>
        <p:blipFill>
          <a:blip r:embed="rId1"/>
          <a:stretch>
            <a:fillRect/>
          </a:stretch>
        </p:blipFill>
        <p:spPr>
          <a:xfrm>
            <a:off x="7424928" y="1664208"/>
            <a:ext cx="3943807" cy="1807539"/>
          </a:xfrm>
          <a:prstGeom prst="rect">
            <a:avLst/>
          </a:prstGeom>
        </p:spPr>
      </p:pic>
      <p:sp>
        <p:nvSpPr>
          <p:cNvPr id="18" name="Shape 15"/>
          <p:cNvSpPr/>
          <p:nvPr/>
        </p:nvSpPr>
        <p:spPr>
          <a:xfrm>
            <a:off x="7424928" y="3563187"/>
            <a:ext cx="3943807" cy="0"/>
          </a:xfrm>
          <a:prstGeom prst="line">
            <a:avLst/>
          </a:prstGeom>
          <a:noFill/>
          <a:ln w="9525">
            <a:solidFill>
              <a:srgbClr val="E1E5EE"/>
            </a:solidFill>
            <a:prstDash val="dash"/>
          </a:ln>
        </p:spPr>
      </p:sp>
      <p:sp>
        <p:nvSpPr>
          <p:cNvPr id="19" name="Text 16"/>
          <p:cNvSpPr txBox="1"/>
          <p:nvPr/>
        </p:nvSpPr>
        <p:spPr>
          <a:xfrm>
            <a:off x="7424928" y="3618051"/>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Alana dik giren yükün gördüğü kuvvet hıza daima dik olduğu için yük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çember çizer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merkezcil kuvveti manyetik kuvvet sağlar. Hız iki katına çıkarsa yarıçap da iki katına çıkar. Şaşırtıcı olan şu: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 hıza hiç bağlı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hızlı parçacık daha büyük çember çizer ama turu aynı sürede tamamlar. Siklotron tam olarak bunu kullanır.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Uygulamalar</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5486400" cy="914400"/>
        </p:xfrm>
        <a:graphic>
          <a:graphicData uri="http://schemas.openxmlformats.org/drawingml/2006/table">
            <a:tbl>
              <a:tblPr/>
              <a:tblGrid>
                <a:gridCol w="1828800"/>
                <a:gridCol w="36576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Uygulama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Kullanılan ilke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Elektrik motoru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Alan içindeki akıma etki eden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Hoparlör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Değişen akım → değişen kuvvet → titreşen membran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Kütle spektrometresi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r = mv/(qB): farklı kütleler farklı yarıçap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Siklotron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Periyodun hızdan bağımsız olması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Kutup ışıkları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Yüklü parçacıkların alan çizgileri boyunca sarmal hareketi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6" name="Shape 3"/>
          <p:cNvSpPr/>
          <p:nvPr/>
        </p:nvSpPr>
        <p:spPr>
          <a:xfrm>
            <a:off x="6419088" y="1481328"/>
            <a:ext cx="5132527" cy="3528591"/>
          </a:xfrm>
          <a:prstGeom prst="roundRect">
            <a:avLst>
              <a:gd name="adj" fmla="val 41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manyetik-alan-07.png">    </p:cNvPr>
          <p:cNvPicPr>
            <a:picLocks noChangeAspect="1"/>
          </p:cNvPicPr>
          <p:nvPr/>
        </p:nvPicPr>
        <p:blipFill>
          <a:blip r:embed="rId1"/>
          <a:stretch>
            <a:fillRect/>
          </a:stretch>
        </p:blipFill>
        <p:spPr>
          <a:xfrm>
            <a:off x="6601968" y="1664208"/>
            <a:ext cx="4766767" cy="2065551"/>
          </a:xfrm>
          <a:prstGeom prst="rect">
            <a:avLst/>
          </a:prstGeom>
        </p:spPr>
      </p:pic>
      <p:sp>
        <p:nvSpPr>
          <p:cNvPr id="8" name="Shape 4"/>
          <p:cNvSpPr/>
          <p:nvPr/>
        </p:nvSpPr>
        <p:spPr>
          <a:xfrm>
            <a:off x="6601968" y="3821199"/>
            <a:ext cx="4766767" cy="0"/>
          </a:xfrm>
          <a:prstGeom prst="line">
            <a:avLst/>
          </a:prstGeom>
          <a:noFill/>
          <a:ln w="9525">
            <a:solidFill>
              <a:srgbClr val="E1E5EE"/>
            </a:solidFill>
            <a:prstDash val="dash"/>
          </a:ln>
        </p:spPr>
      </p:sp>
      <p:sp>
        <p:nvSpPr>
          <p:cNvPr id="9" name="Text 5"/>
          <p:cNvSpPr txBox="1"/>
          <p:nvPr/>
        </p:nvSpPr>
        <p:spPr>
          <a:xfrm>
            <a:off x="6601968" y="3876063"/>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Çerçevenin iki kenarından akım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zıt yönlerde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geçtiği için bu kenarlara etkiyen kuvvetler de zıt yönlü olur. Büyüklükleri eşit olduğundan çerçeve bir yere ötelenmez, ama birlikte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dönme etkisi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yaratırlar. Her yarım turda akımın yönünü çeviren bir komütatör eklenince dönme sürekli hâle gelir: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elektrik motoru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budur.</a:t>
            </a:r>
            <a:endParaRPr lang="en-US" sz="10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Telin alanı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A akım taşıyan düz bir telden 10 cm uzaklıktaki manyetik alanın büyüklüğü nedir? Uzaklık iki katına çıkarılırsa alan ne olur?</a:t>
            </a:r>
            <a:endParaRPr lang="en-US" sz="1600" dirty="0"/>
          </a:p>
        </p:txBody>
      </p:sp>
      <p:sp>
        <p:nvSpPr>
          <p:cNvPr id="9" name="Shape 7"/>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72358"/>
            <a:ext cx="384048" cy="384048"/>
          </a:xfrm>
          <a:prstGeom prst="roundRect">
            <a:avLst>
              <a:gd name="adj" fmla="val 26000"/>
            </a:avLst>
          </a:prstGeom>
          <a:solidFill>
            <a:srgbClr val="A56209"/>
          </a:solidFill>
          <a:ln/>
        </p:spPr>
      </p:sp>
      <p:sp>
        <p:nvSpPr>
          <p:cNvPr id="11" name="Text 9"/>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2·10⁻⁷ · I / r = 2·10⁻⁷ · 20 / 0,1</a:t>
            </a:r>
            <a:endParaRPr lang="en-US" sz="1600" dirty="0"/>
          </a:p>
        </p:txBody>
      </p:sp>
      <p:sp>
        <p:nvSpPr>
          <p:cNvPr id="13" name="Shape 11"/>
          <p:cNvSpPr/>
          <p:nvPr/>
        </p:nvSpPr>
        <p:spPr>
          <a:xfrm>
            <a:off x="5212080" y="2847437"/>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43170"/>
            <a:ext cx="384048" cy="384048"/>
          </a:xfrm>
          <a:prstGeom prst="roundRect">
            <a:avLst>
              <a:gd name="adj" fmla="val 26000"/>
            </a:avLst>
          </a:prstGeom>
          <a:solidFill>
            <a:srgbClr val="A56209"/>
          </a:solidFill>
          <a:ln/>
        </p:spPr>
      </p:sp>
      <p:sp>
        <p:nvSpPr>
          <p:cNvPr id="15" name="Text 13"/>
          <p:cNvSpPr txBox="1"/>
          <p:nvPr/>
        </p:nvSpPr>
        <p:spPr>
          <a:xfrm>
            <a:off x="5449824" y="34431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902301"/>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4·10⁻⁵ T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µT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(Dünya'nın alanı mertebesinde)</a:t>
            </a:r>
            <a:endParaRPr lang="en-US" sz="1600" dirty="0"/>
          </a:p>
        </p:txBody>
      </p:sp>
      <p:sp>
        <p:nvSpPr>
          <p:cNvPr id="17" name="Shape 15"/>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164987"/>
            <a:ext cx="384048" cy="384048"/>
          </a:xfrm>
          <a:prstGeom prst="roundRect">
            <a:avLst>
              <a:gd name="adj" fmla="val 26000"/>
            </a:avLst>
          </a:prstGeom>
          <a:solidFill>
            <a:srgbClr val="A56209"/>
          </a:solidFill>
          <a:ln/>
        </p:spPr>
      </p:sp>
      <p:sp>
        <p:nvSpPr>
          <p:cNvPr id="19" name="Text 17"/>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iki katına çıkarsa B yarıya iner: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µT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(1/r bağımlılığı)</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Tele etki eden kuvvet</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T'lık düzgün manyetik alana dik olarak yerleştirilmiş 40 cm uzunluğundaki telden 6 A akım geçiyor. Tele etki eden kuvvet nedir? Tel alana 30° açı yapsaydı?</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Dik durumda: F = B·I·L = 0,5 · 6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 N</a:t>
            </a:r>
            <a:endParaRPr lang="en-US" sz="1600" dirty="0"/>
          </a:p>
        </p:txBody>
      </p:sp>
      <p:sp>
        <p:nvSpPr>
          <p:cNvPr id="13" name="Shape 11"/>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9319"/>
            <a:ext cx="384048" cy="384048"/>
          </a:xfrm>
          <a:prstGeom prst="roundRect">
            <a:avLst>
              <a:gd name="adj" fmla="val 26000"/>
            </a:avLst>
          </a:prstGeom>
          <a:solidFill>
            <a:srgbClr val="A56209"/>
          </a:solidFill>
          <a:ln/>
        </p:spPr>
      </p:sp>
      <p:sp>
        <p:nvSpPr>
          <p:cNvPr id="15" name="Text 13"/>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 için: F = B·I·L·sin30° = 1,2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 N</a:t>
            </a:r>
            <a:endParaRPr lang="en-US" sz="1600" dirty="0"/>
          </a:p>
        </p:txBody>
      </p:sp>
      <p:sp>
        <p:nvSpPr>
          <p:cNvPr id="17" name="Shape 15"/>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58751"/>
            <a:ext cx="384048" cy="384048"/>
          </a:xfrm>
          <a:prstGeom prst="roundRect">
            <a:avLst>
              <a:gd name="adj" fmla="val 26000"/>
            </a:avLst>
          </a:prstGeom>
          <a:solidFill>
            <a:srgbClr val="A56209"/>
          </a:solidFill>
          <a:ln/>
        </p:spPr>
      </p:sp>
      <p:sp>
        <p:nvSpPr>
          <p:cNvPr id="19" name="Text 17"/>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Tel alana paralel olsaydı (0°) kuvvet sıfır olurdu.</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Dairesel yörünge</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Kütlesi 9,1·10⁻³¹ kg, yükü 1,6·10⁻¹⁹ C olan bir elektron, 2·10⁷ m/s hızla 1 mT'lık alana dik giriyor. Yörüngenin yarıçapı ve periyodu nedir?</a:t>
            </a:r>
            <a:endParaRPr lang="en-US" sz="1600" dirty="0"/>
          </a:p>
        </p:txBody>
      </p:sp>
      <p:sp>
        <p:nvSpPr>
          <p:cNvPr id="9" name="Shape 7"/>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89509"/>
            <a:ext cx="384048" cy="384048"/>
          </a:xfrm>
          <a:prstGeom prst="roundRect">
            <a:avLst>
              <a:gd name="adj" fmla="val 26000"/>
            </a:avLst>
          </a:prstGeom>
          <a:solidFill>
            <a:srgbClr val="A56209"/>
          </a:solidFill>
          <a:ln/>
        </p:spPr>
      </p:sp>
      <p:sp>
        <p:nvSpPr>
          <p:cNvPr id="11" name="Text 9"/>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m·v/(q·B) = (9,1·10⁻³¹ · 2·10⁷) / (1,6·10⁻¹⁹ · 10⁻³)</a:t>
            </a:r>
            <a:endParaRPr lang="en-US" sz="1600" dirty="0"/>
          </a:p>
        </p:txBody>
      </p:sp>
      <p:sp>
        <p:nvSpPr>
          <p:cNvPr id="13" name="Shape 11"/>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067123"/>
            <a:ext cx="384048" cy="384048"/>
          </a:xfrm>
          <a:prstGeom prst="roundRect">
            <a:avLst>
              <a:gd name="adj" fmla="val 26000"/>
            </a:avLst>
          </a:prstGeom>
          <a:solidFill>
            <a:srgbClr val="A56209"/>
          </a:solidFill>
          <a:ln/>
        </p:spPr>
      </p:sp>
      <p:sp>
        <p:nvSpPr>
          <p:cNvPr id="15" name="Text 13"/>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1,82·10⁻²³ / 1,6·10⁻²²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0,114 m ≈ 11,4 cm</a:t>
            </a:r>
            <a:endParaRPr lang="en-US" sz="1600" dirty="0"/>
          </a:p>
        </p:txBody>
      </p:sp>
      <p:sp>
        <p:nvSpPr>
          <p:cNvPr id="17" name="Shape 15"/>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44737"/>
            <a:ext cx="384048" cy="384048"/>
          </a:xfrm>
          <a:prstGeom prst="roundRect">
            <a:avLst>
              <a:gd name="adj" fmla="val 26000"/>
            </a:avLst>
          </a:prstGeom>
          <a:solidFill>
            <a:srgbClr val="A56209"/>
          </a:solidFill>
          <a:ln/>
        </p:spPr>
      </p:sp>
      <p:sp>
        <p:nvSpPr>
          <p:cNvPr id="19" name="Text 17"/>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2πm/(qB) = (6,28 · 9,1·10⁻³¹) / (1,6·10⁻¹⁹ · 10⁻³)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3,6·10⁻⁸ s</a:t>
            </a:r>
            <a:endParaRPr lang="en-US" sz="1600" dirty="0"/>
          </a:p>
        </p:txBody>
      </p:sp>
      <p:sp>
        <p:nvSpPr>
          <p:cNvPr id="21" name="Shape 19"/>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98843"/>
            <a:ext cx="384048" cy="384048"/>
          </a:xfrm>
          <a:prstGeom prst="roundRect">
            <a:avLst>
              <a:gd name="adj" fmla="val 26000"/>
            </a:avLst>
          </a:prstGeom>
          <a:solidFill>
            <a:srgbClr val="A56209"/>
          </a:solidFill>
          <a:ln/>
        </p:spPr>
      </p:sp>
      <p:sp>
        <p:nvSpPr>
          <p:cNvPr id="23" name="Text 21"/>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iki katına çıksaydı yarıçap iki katına çıkardı, ama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periyot değişmezdi</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Hangi yöne sapar?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Sayfa düzleminde sağa doğru hareket eden bir elektron, sayfaya doğru (⊗) yönelmiş manyetik alana giriyor. Elektron hangi yöne sapar?</a:t>
            </a:r>
            <a:endParaRPr lang="en-US" sz="1600" dirty="0"/>
          </a:p>
        </p:txBody>
      </p:sp>
      <p:sp>
        <p:nvSpPr>
          <p:cNvPr id="9" name="Shape 7"/>
          <p:cNvSpPr/>
          <p:nvPr/>
        </p:nvSpPr>
        <p:spPr>
          <a:xfrm>
            <a:off x="5212080" y="1627632"/>
            <a:ext cx="6339535" cy="1678584"/>
          </a:xfrm>
          <a:prstGeom prst="roundRect">
            <a:avLst>
              <a:gd name="adj" fmla="val 87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274900"/>
            <a:ext cx="384048" cy="384048"/>
          </a:xfrm>
          <a:prstGeom prst="roundRect">
            <a:avLst>
              <a:gd name="adj" fmla="val 26000"/>
            </a:avLst>
          </a:prstGeom>
          <a:solidFill>
            <a:srgbClr val="A56209"/>
          </a:solidFill>
          <a:ln/>
        </p:spPr>
      </p:sp>
      <p:sp>
        <p:nvSpPr>
          <p:cNvPr id="11" name="Text 9"/>
          <p:cNvSpPr txBox="1"/>
          <p:nvPr/>
        </p:nvSpPr>
        <p:spPr>
          <a:xfrm>
            <a:off x="5449824" y="22749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5688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Önce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pozitif</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yük varmış gibi düşün: parmaklar hız (sağa) yönünden alan (sayfaya doğru) yönüne döndürülür; başparmak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yukarıyı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gösterir.</a:t>
            </a:r>
            <a:endParaRPr lang="en-US" sz="1600" dirty="0"/>
          </a:p>
        </p:txBody>
      </p:sp>
      <p:sp>
        <p:nvSpPr>
          <p:cNvPr id="13" name="Shape 11"/>
          <p:cNvSpPr/>
          <p:nvPr/>
        </p:nvSpPr>
        <p:spPr>
          <a:xfrm>
            <a:off x="5212080" y="3452520"/>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896982"/>
            <a:ext cx="384048" cy="384048"/>
          </a:xfrm>
          <a:prstGeom prst="roundRect">
            <a:avLst>
              <a:gd name="adj" fmla="val 26000"/>
            </a:avLst>
          </a:prstGeom>
          <a:solidFill>
            <a:srgbClr val="A56209"/>
          </a:solidFill>
          <a:ln/>
        </p:spPr>
      </p:sp>
      <p:sp>
        <p:nvSpPr>
          <p:cNvPr id="15" name="Text 13"/>
          <p:cNvSpPr txBox="1"/>
          <p:nvPr/>
        </p:nvSpPr>
        <p:spPr>
          <a:xfrm>
            <a:off x="5449824" y="38969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507384"/>
            <a:ext cx="5379415" cy="116324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negatif</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olduğu için kuvvet tersine döner: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aşağı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5212080" y="4871796"/>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316258"/>
            <a:ext cx="384048" cy="384048"/>
          </a:xfrm>
          <a:prstGeom prst="roundRect">
            <a:avLst>
              <a:gd name="adj" fmla="val 26000"/>
            </a:avLst>
          </a:prstGeom>
          <a:solidFill>
            <a:srgbClr val="A56209"/>
          </a:solidFill>
          <a:ln/>
        </p:spPr>
      </p:sp>
      <p:sp>
        <p:nvSpPr>
          <p:cNvPr id="19" name="Text 17"/>
          <p:cNvSpPr txBox="1"/>
          <p:nvPr/>
        </p:nvSpPr>
        <p:spPr>
          <a:xfrm>
            <a:off x="5449824" y="53162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926660"/>
            <a:ext cx="5379415" cy="116324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Kuvvet hıza dik olduğu için elektron aşağı doğru bir çember çizmeye başlar; sürati değişmez.</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“Manyetik kuvvet hız yönündedir.”</a:t>
            </a:r>
            <a:endParaRPr lang="en-US" sz="1250" dirty="0"/>
          </a:p>
        </p:txBody>
      </p:sp>
      <p:sp>
        <p:nvSpPr>
          <p:cNvPr id="10" name="Shape 8"/>
          <p:cNvSpPr/>
          <p:nvPr/>
        </p:nvSpPr>
        <p:spPr>
          <a:xfrm>
            <a:off x="841248" y="2093595"/>
            <a:ext cx="274320" cy="274320"/>
          </a:xfrm>
          <a:prstGeom prst="roundRect">
            <a:avLst>
              <a:gd name="adj" fmla="val 26667"/>
            </a:avLst>
          </a:prstGeom>
          <a:solidFill>
            <a:srgbClr val="EAF7DC"/>
          </a:solidFill>
          <a:ln/>
        </p:spPr>
      </p:sp>
      <p:sp>
        <p:nvSpPr>
          <p:cNvPr id="11" name="Text 9"/>
          <p:cNvSpPr txBox="1"/>
          <p:nvPr/>
        </p:nvSpPr>
        <p:spPr>
          <a:xfrm>
            <a:off x="841248"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Kuvvet hıza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bu yüzden sürati değil, yönü değiştirir.</a:t>
            </a:r>
            <a:endParaRPr lang="en-US" sz="11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“Duran yüke de manyetik kuvvet etki eder.”</a:t>
            </a:r>
            <a:endParaRPr lang="en-US" sz="1250" dirty="0"/>
          </a:p>
        </p:txBody>
      </p:sp>
      <p:sp>
        <p:nvSpPr>
          <p:cNvPr id="17" name="Shape 15"/>
          <p:cNvSpPr/>
          <p:nvPr/>
        </p:nvSpPr>
        <p:spPr>
          <a:xfrm>
            <a:off x="6406744" y="2093595"/>
            <a:ext cx="274320" cy="274320"/>
          </a:xfrm>
          <a:prstGeom prst="roundRect">
            <a:avLst>
              <a:gd name="adj" fmla="val 26667"/>
            </a:avLst>
          </a:prstGeom>
          <a:solidFill>
            <a:srgbClr val="EAF7DC"/>
          </a:solidFill>
          <a:ln/>
        </p:spPr>
      </p:sp>
      <p:sp>
        <p:nvSpPr>
          <p:cNvPr id="18" name="Text 16"/>
          <p:cNvSpPr txBox="1"/>
          <p:nvPr/>
        </p:nvSpPr>
        <p:spPr>
          <a:xfrm>
            <a:off x="6406744"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F = qvB·sinα; v = 0 ise F = 0.</a:t>
            </a:r>
            <a:endParaRPr lang="en-US" sz="11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“Manyetik kuvvet iş yapar.”</a:t>
            </a:r>
            <a:endParaRPr lang="en-US" sz="1250" dirty="0"/>
          </a:p>
        </p:txBody>
      </p:sp>
      <p:sp>
        <p:nvSpPr>
          <p:cNvPr id="24" name="Shape 22"/>
          <p:cNvSpPr/>
          <p:nvPr/>
        </p:nvSpPr>
        <p:spPr>
          <a:xfrm>
            <a:off x="841248" y="3259455"/>
            <a:ext cx="274320" cy="274320"/>
          </a:xfrm>
          <a:prstGeom prst="roundRect">
            <a:avLst>
              <a:gd name="adj" fmla="val 26667"/>
            </a:avLst>
          </a:prstGeom>
          <a:solidFill>
            <a:srgbClr val="EAF7DC"/>
          </a:solidFill>
          <a:ln/>
        </p:spPr>
      </p:sp>
      <p:sp>
        <p:nvSpPr>
          <p:cNvPr id="25" name="Text 23"/>
          <p:cNvSpPr txBox="1"/>
          <p:nvPr/>
        </p:nvSpPr>
        <p:spPr>
          <a:xfrm>
            <a:off x="841248"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Kuvvet yer değiştirmeye dik olduğu için yaptığı iş sıfırdır; kinetik enerji değişmez.</a:t>
            </a:r>
            <a:endParaRPr lang="en-US" sz="11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Telin alanını 1/r² sanmak.</a:t>
            </a:r>
            <a:endParaRPr lang="en-US" sz="1250" dirty="0"/>
          </a:p>
        </p:txBody>
      </p:sp>
      <p:sp>
        <p:nvSpPr>
          <p:cNvPr id="31" name="Shape 29"/>
          <p:cNvSpPr/>
          <p:nvPr/>
        </p:nvSpPr>
        <p:spPr>
          <a:xfrm>
            <a:off x="6406744" y="3259455"/>
            <a:ext cx="274320" cy="274320"/>
          </a:xfrm>
          <a:prstGeom prst="roundRect">
            <a:avLst>
              <a:gd name="adj" fmla="val 26667"/>
            </a:avLst>
          </a:prstGeom>
          <a:solidFill>
            <a:srgbClr val="EAF7DC"/>
          </a:solidFill>
          <a:ln/>
        </p:spPr>
      </p:sp>
      <p:sp>
        <p:nvSpPr>
          <p:cNvPr id="32" name="Text 30"/>
          <p:cNvSpPr txBox="1"/>
          <p:nvPr/>
        </p:nvSpPr>
        <p:spPr>
          <a:xfrm>
            <a:off x="6406744"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Düz telde alan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1/r</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ile azalır.</a:t>
            </a:r>
            <a:endParaRPr lang="en-US" sz="11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Negatif yükte yönü ters çevirmeyi unutmak.</a:t>
            </a:r>
            <a:endParaRPr lang="en-US" sz="1250" dirty="0"/>
          </a:p>
        </p:txBody>
      </p:sp>
      <p:sp>
        <p:nvSpPr>
          <p:cNvPr id="38" name="Shape 36"/>
          <p:cNvSpPr/>
          <p:nvPr/>
        </p:nvSpPr>
        <p:spPr>
          <a:xfrm>
            <a:off x="841248" y="4425315"/>
            <a:ext cx="274320" cy="274320"/>
          </a:xfrm>
          <a:prstGeom prst="roundRect">
            <a:avLst>
              <a:gd name="adj" fmla="val 26667"/>
            </a:avLst>
          </a:prstGeom>
          <a:solidFill>
            <a:srgbClr val="EAF7DC"/>
          </a:solidFill>
          <a:ln/>
        </p:spPr>
      </p:sp>
      <p:sp>
        <p:nvSpPr>
          <p:cNvPr id="39" name="Text 37"/>
          <p:cNvSpPr txBox="1"/>
          <p:nvPr/>
        </p:nvSpPr>
        <p:spPr>
          <a:xfrm>
            <a:off x="841248"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Sağ el kuralı pozitif yük içindir; elektronda sonucu ters çevir.</a:t>
            </a:r>
            <a:endParaRPr lang="en-US" sz="11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“Periyot hıza bağlıdır.”</a:t>
            </a:r>
            <a:endParaRPr lang="en-US" sz="1250" dirty="0"/>
          </a:p>
        </p:txBody>
      </p:sp>
      <p:sp>
        <p:nvSpPr>
          <p:cNvPr id="45" name="Shape 43"/>
          <p:cNvSpPr/>
          <p:nvPr/>
        </p:nvSpPr>
        <p:spPr>
          <a:xfrm>
            <a:off x="6406744" y="4425315"/>
            <a:ext cx="274320" cy="274320"/>
          </a:xfrm>
          <a:prstGeom prst="roundRect">
            <a:avLst>
              <a:gd name="adj" fmla="val 26667"/>
            </a:avLst>
          </a:prstGeom>
          <a:solidFill>
            <a:srgbClr val="EAF7DC"/>
          </a:solidFill>
          <a:ln/>
        </p:spPr>
      </p:sp>
      <p:sp>
        <p:nvSpPr>
          <p:cNvPr id="46" name="Text 44"/>
          <p:cNvSpPr txBox="1"/>
          <p:nvPr/>
        </p:nvSpPr>
        <p:spPr>
          <a:xfrm>
            <a:off x="6406744"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T = 2πm/(qB); hız yalnızca yarıçapı değiştirir.</a:t>
            </a:r>
            <a:endParaRPr lang="en-US" sz="11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Açıyı yanlış almak.</a:t>
            </a:r>
            <a:endParaRPr lang="en-US" sz="1250" dirty="0"/>
          </a:p>
        </p:txBody>
      </p:sp>
      <p:sp>
        <p:nvSpPr>
          <p:cNvPr id="52" name="Shape 50"/>
          <p:cNvSpPr/>
          <p:nvPr/>
        </p:nvSpPr>
        <p:spPr>
          <a:xfrm>
            <a:off x="841248" y="5591175"/>
            <a:ext cx="274320" cy="274320"/>
          </a:xfrm>
          <a:prstGeom prst="roundRect">
            <a:avLst>
              <a:gd name="adj" fmla="val 26667"/>
            </a:avLst>
          </a:prstGeom>
          <a:solidFill>
            <a:srgbClr val="EAF7DC"/>
          </a:solidFill>
          <a:ln/>
        </p:spPr>
      </p:sp>
      <p:sp>
        <p:nvSpPr>
          <p:cNvPr id="53" name="Text 51"/>
          <p:cNvSpPr txBox="1"/>
          <p:nvPr/>
        </p:nvSpPr>
        <p:spPr>
          <a:xfrm>
            <a:off x="841248" y="559117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57288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α, akım (ya da hız) ile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alan</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arasındaki açıdır; telin yatayla yaptığı açı değil.</a:t>
            </a:r>
            <a:endParaRPr lang="en-US" sz="1150" dirty="0"/>
          </a:p>
        </p:txBody>
      </p:sp>
      <p:sp>
        <p:nvSpPr>
          <p:cNvPr id="55" name="Shape 53"/>
          <p:cNvSpPr/>
          <p:nvPr/>
        </p:nvSpPr>
        <p:spPr>
          <a:xfrm>
            <a:off x="640080" y="6382512"/>
            <a:ext cx="128016" cy="128016"/>
          </a:xfrm>
          <a:prstGeom prst="roundRect">
            <a:avLst>
              <a:gd name="adj" fmla="val 28571"/>
            </a:avLst>
          </a:prstGeom>
          <a:solidFill>
            <a:srgbClr val="A9E648"/>
          </a:solidFill>
          <a:ln/>
        </p:spPr>
      </p:sp>
      <p:sp>
        <p:nvSpPr>
          <p:cNvPr id="56" name="Text 5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57" name="Text 5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Telin alanı </a:t>
            </a:r>
            <a:pPr indent="0" marL="0">
              <a:buNone/>
            </a:pPr>
            <a:r>
              <a:rPr lang="en-US" sz="1500" b="1" dirty="0">
                <a:solidFill>
                  <a:srgbClr val="FFFFFF"/>
                </a:solidFill>
                <a:latin typeface="Calibri" pitchFamily="34" charset="0"/>
                <a:ea typeface="Calibri" pitchFamily="34" charset="-122"/>
                <a:cs typeface="Calibri" pitchFamily="34" charset="-120"/>
              </a:rPr>
              <a:t>1/r ile</a:t>
            </a:r>
            <a:pPr indent="0" marL="0">
              <a:buNone/>
            </a:pPr>
            <a:r>
              <a:rPr lang="en-US" sz="1500" dirty="0">
                <a:solidFill>
                  <a:srgbClr val="C3CEE8"/>
                </a:solidFill>
                <a:latin typeface="Calibri" pitchFamily="34" charset="0"/>
                <a:ea typeface="Calibri" pitchFamily="34" charset="-122"/>
                <a:cs typeface="Calibri" pitchFamily="34" charset="-120"/>
              </a:rPr>
              <a:t> azalır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Tele kuvvet </a:t>
            </a:r>
            <a:pPr indent="0" marL="0">
              <a:buNone/>
            </a:pPr>
            <a:r>
              <a:rPr lang="en-US" sz="1500" b="1" dirty="0">
                <a:solidFill>
                  <a:srgbClr val="FFFFFF"/>
                </a:solidFill>
                <a:latin typeface="Calibri" pitchFamily="34" charset="0"/>
                <a:ea typeface="Calibri" pitchFamily="34" charset="-122"/>
                <a:cs typeface="Calibri" pitchFamily="34" charset="-120"/>
              </a:rPr>
              <a:t>B·I·L·sinα</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Yüke kuvvet </a:t>
            </a:r>
            <a:pPr indent="0" marL="0">
              <a:buNone/>
            </a:pPr>
            <a:r>
              <a:rPr lang="en-US" sz="1500" b="1" dirty="0">
                <a:solidFill>
                  <a:srgbClr val="FFFFFF"/>
                </a:solidFill>
                <a:latin typeface="Calibri" pitchFamily="34" charset="0"/>
                <a:ea typeface="Calibri" pitchFamily="34" charset="-122"/>
                <a:cs typeface="Calibri" pitchFamily="34" charset="-120"/>
              </a:rPr>
              <a:t>q·v·B·sinα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çember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 μ₀·I / (2π·r)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düz telin alanı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B·I·L·sinα</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taşıyan tele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q·v·B·sinα</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yüke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m·v / (q·B)</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dairesel yörüngenin yarıçapı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dersler.perinet.org/manyetik-alan.html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İndüksiyon akımı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Manyetik alan ve manyetik kuvvet — Dersler</dc:title>
  <dc:subject>Fizik · Elektrik ve Manyetizma</dc:subject>
  <dc:creator>Dersler</dc:creator>
  <cp:lastModifiedBy>Dersler</cp:lastModifiedBy>
  <cp:revision>1</cp:revision>
  <dcterms:created xsi:type="dcterms:W3CDTF">2026-09-20T18:42:43Z</dcterms:created>
  <dcterms:modified xsi:type="dcterms:W3CDTF">2026-09-20T18:42:43Z</dcterms:modified>
</cp:coreProperties>
</file>