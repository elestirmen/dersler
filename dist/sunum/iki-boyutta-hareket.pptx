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45 m'den 20 m/s ile yatay atış (g = 10 m/s²)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A56209"/>
            </a:solidFill>
            <a:ln w="3810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45</c:v>
                </c:pt>
                <c:pt idx="1">
                  <c:v>44.97</c:v>
                </c:pt>
                <c:pt idx="2">
                  <c:v>44.89</c:v>
                </c:pt>
                <c:pt idx="3">
                  <c:v>44.75</c:v>
                </c:pt>
                <c:pt idx="4">
                  <c:v>44.55</c:v>
                </c:pt>
                <c:pt idx="5">
                  <c:v>44.3</c:v>
                </c:pt>
                <c:pt idx="6">
                  <c:v>43.99</c:v>
                </c:pt>
                <c:pt idx="7">
                  <c:v>43.62</c:v>
                </c:pt>
                <c:pt idx="8">
                  <c:v>43.2</c:v>
                </c:pt>
                <c:pt idx="9">
                  <c:v>42.72</c:v>
                </c:pt>
                <c:pt idx="10">
                  <c:v>42.19</c:v>
                </c:pt>
                <c:pt idx="11">
                  <c:v>41.6</c:v>
                </c:pt>
                <c:pt idx="12">
                  <c:v>40.95</c:v>
                </c:pt>
                <c:pt idx="13">
                  <c:v>40.25</c:v>
                </c:pt>
                <c:pt idx="14">
                  <c:v>39.49</c:v>
                </c:pt>
                <c:pt idx="15">
                  <c:v>38.67</c:v>
                </c:pt>
                <c:pt idx="16">
                  <c:v>37.8</c:v>
                </c:pt>
                <c:pt idx="17">
                  <c:v>36.87</c:v>
                </c:pt>
                <c:pt idx="18">
                  <c:v>35.89</c:v>
                </c:pt>
                <c:pt idx="19">
                  <c:v>34.85</c:v>
                </c:pt>
                <c:pt idx="20">
                  <c:v>33.75</c:v>
                </c:pt>
                <c:pt idx="21">
                  <c:v>32.6</c:v>
                </c:pt>
                <c:pt idx="22">
                  <c:v>31.39</c:v>
                </c:pt>
                <c:pt idx="23">
                  <c:v>30.12</c:v>
                </c:pt>
                <c:pt idx="24">
                  <c:v>28.8</c:v>
                </c:pt>
                <c:pt idx="25">
                  <c:v>27.42</c:v>
                </c:pt>
                <c:pt idx="26">
                  <c:v>25.99</c:v>
                </c:pt>
                <c:pt idx="27">
                  <c:v>24.5</c:v>
                </c:pt>
                <c:pt idx="28">
                  <c:v>22.95</c:v>
                </c:pt>
                <c:pt idx="29">
                  <c:v>21.35</c:v>
                </c:pt>
                <c:pt idx="30">
                  <c:v>19.69</c:v>
                </c:pt>
                <c:pt idx="31">
                  <c:v>17.97</c:v>
                </c:pt>
                <c:pt idx="32">
                  <c:v>16.2</c:v>
                </c:pt>
                <c:pt idx="33">
                  <c:v>14.37</c:v>
                </c:pt>
                <c:pt idx="34">
                  <c:v>12.49</c:v>
                </c:pt>
                <c:pt idx="35">
                  <c:v>10.55</c:v>
                </c:pt>
                <c:pt idx="36">
                  <c:v>8.55</c:v>
                </c:pt>
                <c:pt idx="37">
                  <c:v>6.5</c:v>
                </c:pt>
                <c:pt idx="38">
                  <c:v>4.39</c:v>
                </c:pt>
                <c:pt idx="39">
                  <c:v>2.22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Yörünge: tepe noktası 20 m, menzil 60 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2A5FD6"/>
            </a:solidFill>
            <a:ln w="3810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Aynı süratle atılan beş cismin yörüngeleri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15°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Sheet1!$B$2:$B$54</c:f>
              <c:numCache>
                <c:formatCode>General</c:formatCode>
                <c:ptCount val="53"/>
                <c:pt idx="0">
                  <c:v>0</c:v>
                </c:pt>
                <c:pt idx="1">
                  <c:v>0.32</c:v>
                </c:pt>
                <c:pt idx="2">
                  <c:v>0.62</c:v>
                </c:pt>
                <c:pt idx="3">
                  <c:v>0.88</c:v>
                </c:pt>
                <c:pt idx="4">
                  <c:v>1.13</c:v>
                </c:pt>
                <c:pt idx="5">
                  <c:v>1.34</c:v>
                </c:pt>
                <c:pt idx="6">
                  <c:v>1.53</c:v>
                </c:pt>
                <c:pt idx="7">
                  <c:v>1.69</c:v>
                </c:pt>
                <c:pt idx="8">
                  <c:v>1.82</c:v>
                </c:pt>
                <c:pt idx="9">
                  <c:v>1.93</c:v>
                </c:pt>
                <c:pt idx="10">
                  <c:v>2.01</c:v>
                </c:pt>
                <c:pt idx="11">
                  <c:v>2.06</c:v>
                </c:pt>
                <c:pt idx="12">
                  <c:v>2.09</c:v>
                </c:pt>
                <c:pt idx="13">
                  <c:v>2.09</c:v>
                </c:pt>
                <c:pt idx="14">
                  <c:v>2.06</c:v>
                </c:pt>
                <c:pt idx="15">
                  <c:v>2.01</c:v>
                </c:pt>
                <c:pt idx="16">
                  <c:v>1.93</c:v>
                </c:pt>
                <c:pt idx="17">
                  <c:v>1.82</c:v>
                </c:pt>
                <c:pt idx="18">
                  <c:v>1.69</c:v>
                </c:pt>
                <c:pt idx="19">
                  <c:v>1.53</c:v>
                </c:pt>
                <c:pt idx="20">
                  <c:v>1.34</c:v>
                </c:pt>
                <c:pt idx="21">
                  <c:v>1.13</c:v>
                </c:pt>
                <c:pt idx="22">
                  <c:v>0.88</c:v>
                </c:pt>
                <c:pt idx="23">
                  <c:v>0.62</c:v>
                </c:pt>
                <c:pt idx="24">
                  <c:v>0.32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30°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Sheet1!$C$2:$C$54</c:f>
              <c:numCache>
                <c:formatCode>General</c:formatCode>
                <c:ptCount val="53"/>
                <c:pt idx="0">
                  <c:v>0</c:v>
                </c:pt>
                <c:pt idx="1">
                  <c:v>0.71</c:v>
                </c:pt>
                <c:pt idx="2">
                  <c:v>1.38</c:v>
                </c:pt>
                <c:pt idx="3">
                  <c:v>2.02</c:v>
                </c:pt>
                <c:pt idx="4">
                  <c:v>2.62</c:v>
                </c:pt>
                <c:pt idx="5">
                  <c:v>3.19</c:v>
                </c:pt>
                <c:pt idx="6">
                  <c:v>3.73</c:v>
                </c:pt>
                <c:pt idx="7">
                  <c:v>4.24</c:v>
                </c:pt>
                <c:pt idx="8">
                  <c:v>4.71</c:v>
                </c:pt>
                <c:pt idx="9">
                  <c:v>5.15</c:v>
                </c:pt>
                <c:pt idx="10">
                  <c:v>5.55</c:v>
                </c:pt>
                <c:pt idx="11">
                  <c:v>5.92</c:v>
                </c:pt>
                <c:pt idx="12">
                  <c:v>6.26</c:v>
                </c:pt>
                <c:pt idx="13">
                  <c:v>6.57</c:v>
                </c:pt>
                <c:pt idx="14">
                  <c:v>6.84</c:v>
                </c:pt>
                <c:pt idx="15">
                  <c:v>7.08</c:v>
                </c:pt>
                <c:pt idx="16">
                  <c:v>7.28</c:v>
                </c:pt>
                <c:pt idx="17">
                  <c:v>7.45</c:v>
                </c:pt>
                <c:pt idx="18">
                  <c:v>7.59</c:v>
                </c:pt>
                <c:pt idx="19">
                  <c:v>7.7</c:v>
                </c:pt>
                <c:pt idx="20">
                  <c:v>7.77</c:v>
                </c:pt>
                <c:pt idx="21">
                  <c:v>7.81</c:v>
                </c:pt>
                <c:pt idx="22">
                  <c:v>7.81</c:v>
                </c:pt>
                <c:pt idx="23">
                  <c:v>7.78</c:v>
                </c:pt>
                <c:pt idx="24">
                  <c:v>7.72</c:v>
                </c:pt>
                <c:pt idx="25">
                  <c:v>7.63</c:v>
                </c:pt>
                <c:pt idx="26">
                  <c:v>7.5</c:v>
                </c:pt>
                <c:pt idx="27">
                  <c:v>7.34</c:v>
                </c:pt>
                <c:pt idx="28">
                  <c:v>7.14</c:v>
                </c:pt>
                <c:pt idx="29">
                  <c:v>6.91</c:v>
                </c:pt>
                <c:pt idx="30">
                  <c:v>6.65</c:v>
                </c:pt>
                <c:pt idx="31">
                  <c:v>6.36</c:v>
                </c:pt>
                <c:pt idx="32">
                  <c:v>6.03</c:v>
                </c:pt>
                <c:pt idx="33">
                  <c:v>5.67</c:v>
                </c:pt>
                <c:pt idx="34">
                  <c:v>5.27</c:v>
                </c:pt>
                <c:pt idx="35">
                  <c:v>4.84</c:v>
                </c:pt>
                <c:pt idx="36">
                  <c:v>4.38</c:v>
                </c:pt>
                <c:pt idx="37">
                  <c:v>3.89</c:v>
                </c:pt>
                <c:pt idx="38">
                  <c:v>3.36</c:v>
                </c:pt>
                <c:pt idx="39">
                  <c:v>2.8</c:v>
                </c:pt>
                <c:pt idx="40">
                  <c:v>2.2</c:v>
                </c:pt>
                <c:pt idx="41">
                  <c:v>1.57</c:v>
                </c:pt>
                <c:pt idx="42">
                  <c:v>0.91</c:v>
                </c:pt>
                <c:pt idx="43">
                  <c:v>0.22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45°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Sheet1!$D$2:$D$54</c:f>
              <c:numCache>
                <c:formatCode>General</c:formatCode>
                <c:ptCount val="53"/>
                <c:pt idx="0">
                  <c:v>0</c:v>
                </c:pt>
                <c:pt idx="1">
                  <c:v>1.22</c:v>
                </c:pt>
                <c:pt idx="2">
                  <c:v>2.4</c:v>
                </c:pt>
                <c:pt idx="3">
                  <c:v>3.52</c:v>
                </c:pt>
                <c:pt idx="4">
                  <c:v>4.6</c:v>
                </c:pt>
                <c:pt idx="5">
                  <c:v>5.62</c:v>
                </c:pt>
                <c:pt idx="6">
                  <c:v>6.6</c:v>
                </c:pt>
                <c:pt idx="7">
                  <c:v>7.52</c:v>
                </c:pt>
                <c:pt idx="8">
                  <c:v>8.4</c:v>
                </c:pt>
                <c:pt idx="9">
                  <c:v>9.22</c:v>
                </c:pt>
                <c:pt idx="10">
                  <c:v>10</c:v>
                </c:pt>
                <c:pt idx="11">
                  <c:v>10.72</c:v>
                </c:pt>
                <c:pt idx="12">
                  <c:v>11.4</c:v>
                </c:pt>
                <c:pt idx="13">
                  <c:v>12.02</c:v>
                </c:pt>
                <c:pt idx="14">
                  <c:v>12.6</c:v>
                </c:pt>
                <c:pt idx="15">
                  <c:v>13.12</c:v>
                </c:pt>
                <c:pt idx="16">
                  <c:v>13.6</c:v>
                </c:pt>
                <c:pt idx="17">
                  <c:v>14.02</c:v>
                </c:pt>
                <c:pt idx="18">
                  <c:v>14.4</c:v>
                </c:pt>
                <c:pt idx="19">
                  <c:v>14.72</c:v>
                </c:pt>
                <c:pt idx="20">
                  <c:v>15</c:v>
                </c:pt>
                <c:pt idx="21">
                  <c:v>15.22</c:v>
                </c:pt>
                <c:pt idx="22">
                  <c:v>15.4</c:v>
                </c:pt>
                <c:pt idx="23">
                  <c:v>15.52</c:v>
                </c:pt>
                <c:pt idx="24">
                  <c:v>15.6</c:v>
                </c:pt>
                <c:pt idx="25">
                  <c:v>15.63</c:v>
                </c:pt>
                <c:pt idx="26">
                  <c:v>15.6</c:v>
                </c:pt>
                <c:pt idx="27">
                  <c:v>15.52</c:v>
                </c:pt>
                <c:pt idx="28">
                  <c:v>15.4</c:v>
                </c:pt>
                <c:pt idx="29">
                  <c:v>15.22</c:v>
                </c:pt>
                <c:pt idx="30">
                  <c:v>15</c:v>
                </c:pt>
                <c:pt idx="31">
                  <c:v>14.72</c:v>
                </c:pt>
                <c:pt idx="32">
                  <c:v>14.4</c:v>
                </c:pt>
                <c:pt idx="33">
                  <c:v>14.02</c:v>
                </c:pt>
                <c:pt idx="34">
                  <c:v>13.6</c:v>
                </c:pt>
                <c:pt idx="35">
                  <c:v>13.13</c:v>
                </c:pt>
                <c:pt idx="36">
                  <c:v>12.6</c:v>
                </c:pt>
                <c:pt idx="37">
                  <c:v>12.02</c:v>
                </c:pt>
                <c:pt idx="38">
                  <c:v>11.4</c:v>
                </c:pt>
                <c:pt idx="39">
                  <c:v>10.73</c:v>
                </c:pt>
                <c:pt idx="40">
                  <c:v>10</c:v>
                </c:pt>
                <c:pt idx="41">
                  <c:v>9.23</c:v>
                </c:pt>
                <c:pt idx="42">
                  <c:v>8.4</c:v>
                </c:pt>
                <c:pt idx="43">
                  <c:v>7.52</c:v>
                </c:pt>
                <c:pt idx="44">
                  <c:v>6.6</c:v>
                </c:pt>
                <c:pt idx="45">
                  <c:v>5.63</c:v>
                </c:pt>
                <c:pt idx="46">
                  <c:v>4.6</c:v>
                </c:pt>
                <c:pt idx="47">
                  <c:v>3.53</c:v>
                </c:pt>
                <c:pt idx="48">
                  <c:v>2.4</c:v>
                </c:pt>
                <c:pt idx="49">
                  <c:v>1.23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60°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Sheet1!$E$2:$E$54</c:f>
              <c:numCache>
                <c:formatCode>General</c:formatCode>
                <c:ptCount val="53"/>
                <c:pt idx="0">
                  <c:v>0</c:v>
                </c:pt>
                <c:pt idx="1">
                  <c:v>2.12</c:v>
                </c:pt>
                <c:pt idx="2">
                  <c:v>4.13</c:v>
                </c:pt>
                <c:pt idx="3">
                  <c:v>6.05</c:v>
                </c:pt>
                <c:pt idx="4">
                  <c:v>7.86</c:v>
                </c:pt>
                <c:pt idx="5">
                  <c:v>9.58</c:v>
                </c:pt>
                <c:pt idx="6">
                  <c:v>11.19</c:v>
                </c:pt>
                <c:pt idx="7">
                  <c:v>12.71</c:v>
                </c:pt>
                <c:pt idx="8">
                  <c:v>14.12</c:v>
                </c:pt>
                <c:pt idx="9">
                  <c:v>15.44</c:v>
                </c:pt>
                <c:pt idx="10">
                  <c:v>16.65</c:v>
                </c:pt>
                <c:pt idx="11">
                  <c:v>17.77</c:v>
                </c:pt>
                <c:pt idx="12">
                  <c:v>18.78</c:v>
                </c:pt>
                <c:pt idx="13">
                  <c:v>19.7</c:v>
                </c:pt>
                <c:pt idx="14">
                  <c:v>20.51</c:v>
                </c:pt>
                <c:pt idx="15">
                  <c:v>21.23</c:v>
                </c:pt>
                <c:pt idx="16">
                  <c:v>21.84</c:v>
                </c:pt>
                <c:pt idx="17">
                  <c:v>22.36</c:v>
                </c:pt>
                <c:pt idx="18">
                  <c:v>22.77</c:v>
                </c:pt>
                <c:pt idx="19">
                  <c:v>23.09</c:v>
                </c:pt>
                <c:pt idx="20">
                  <c:v>23.3</c:v>
                </c:pt>
                <c:pt idx="21">
                  <c:v>23.42</c:v>
                </c:pt>
                <c:pt idx="22">
                  <c:v>23.43</c:v>
                </c:pt>
                <c:pt idx="23">
                  <c:v>23.35</c:v>
                </c:pt>
                <c:pt idx="24">
                  <c:v>23.16</c:v>
                </c:pt>
                <c:pt idx="25">
                  <c:v>22.88</c:v>
                </c:pt>
                <c:pt idx="26">
                  <c:v>22.49</c:v>
                </c:pt>
                <c:pt idx="27">
                  <c:v>22.01</c:v>
                </c:pt>
                <c:pt idx="28">
                  <c:v>21.42</c:v>
                </c:pt>
                <c:pt idx="29">
                  <c:v>20.74</c:v>
                </c:pt>
                <c:pt idx="30">
                  <c:v>19.95</c:v>
                </c:pt>
                <c:pt idx="31">
                  <c:v>19.07</c:v>
                </c:pt>
                <c:pt idx="32">
                  <c:v>18.08</c:v>
                </c:pt>
                <c:pt idx="33">
                  <c:v>17</c:v>
                </c:pt>
                <c:pt idx="34">
                  <c:v>15.81</c:v>
                </c:pt>
                <c:pt idx="35">
                  <c:v>14.53</c:v>
                </c:pt>
                <c:pt idx="36">
                  <c:v>13.14</c:v>
                </c:pt>
                <c:pt idx="37">
                  <c:v>11.66</c:v>
                </c:pt>
                <c:pt idx="38">
                  <c:v>10.07</c:v>
                </c:pt>
                <c:pt idx="39">
                  <c:v>8.39</c:v>
                </c:pt>
                <c:pt idx="40">
                  <c:v>6.6</c:v>
                </c:pt>
                <c:pt idx="41">
                  <c:v>4.72</c:v>
                </c:pt>
                <c:pt idx="42">
                  <c:v>2.73</c:v>
                </c:pt>
                <c:pt idx="43">
                  <c:v>0.65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75°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Sheet1!$F$2:$F$54</c:f>
              <c:numCache>
                <c:formatCode>General</c:formatCode>
                <c:ptCount val="53"/>
                <c:pt idx="0">
                  <c:v>0</c:v>
                </c:pt>
                <c:pt idx="1">
                  <c:v>4.48</c:v>
                </c:pt>
                <c:pt idx="2">
                  <c:v>8.58</c:v>
                </c:pt>
                <c:pt idx="3">
                  <c:v>12.32</c:v>
                </c:pt>
                <c:pt idx="4">
                  <c:v>15.67</c:v>
                </c:pt>
                <c:pt idx="5">
                  <c:v>18.66</c:v>
                </c:pt>
                <c:pt idx="6">
                  <c:v>21.27</c:v>
                </c:pt>
                <c:pt idx="7">
                  <c:v>23.51</c:v>
                </c:pt>
                <c:pt idx="8">
                  <c:v>25.38</c:v>
                </c:pt>
                <c:pt idx="9">
                  <c:v>26.87</c:v>
                </c:pt>
                <c:pt idx="10">
                  <c:v>27.99</c:v>
                </c:pt>
                <c:pt idx="11">
                  <c:v>28.74</c:v>
                </c:pt>
                <c:pt idx="12">
                  <c:v>29.11</c:v>
                </c:pt>
                <c:pt idx="13">
                  <c:v>29.11</c:v>
                </c:pt>
                <c:pt idx="14">
                  <c:v>28.74</c:v>
                </c:pt>
                <c:pt idx="15">
                  <c:v>27.99</c:v>
                </c:pt>
                <c:pt idx="16">
                  <c:v>26.87</c:v>
                </c:pt>
                <c:pt idx="17">
                  <c:v>25.38</c:v>
                </c:pt>
                <c:pt idx="18">
                  <c:v>23.51</c:v>
                </c:pt>
                <c:pt idx="19">
                  <c:v>21.27</c:v>
                </c:pt>
                <c:pt idx="20">
                  <c:v>18.66</c:v>
                </c:pt>
                <c:pt idx="21">
                  <c:v>15.67</c:v>
                </c:pt>
                <c:pt idx="22">
                  <c:v>12.32</c:v>
                </c:pt>
                <c:pt idx="23">
                  <c:v>8.58</c:v>
                </c:pt>
                <c:pt idx="24">
                  <c:v>4.48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menzil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x – t · yatay konum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 – t · yatay konum</c:v>
                </c:pt>
              </c:strCache>
            </c:strRef>
          </c:tx>
          <c:spPr>
            <a:solidFill>
              <a:srgbClr val="2A5FD6"/>
            </a:solidFill>
            <a:ln w="3556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 – t · yükseklik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– t · yükseklik</c:v>
                </c:pt>
              </c:strCache>
            </c:strRef>
          </c:tx>
          <c:spPr>
            <a:solidFill>
              <a:srgbClr val="6348D4"/>
            </a:solidFill>
            <a:ln w="3556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vₓ – t · yatay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vₓ – t · yatay hız</c:v>
                </c:pt>
              </c:strCache>
            </c:strRef>
          </c:tx>
          <c:spPr>
            <a:solidFill>
              <a:srgbClr val="3C8C21"/>
            </a:solidFill>
            <a:ln w="3556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15</c:v>
                </c:pt>
                <c:pt idx="13">
                  <c:v>15</c:v>
                </c:pt>
                <c:pt idx="14">
                  <c:v>15</c:v>
                </c:pt>
                <c:pt idx="15">
                  <c:v>15</c:v>
                </c:pt>
                <c:pt idx="16">
                  <c:v>15</c:v>
                </c:pt>
                <c:pt idx="17">
                  <c:v>15</c:v>
                </c:pt>
                <c:pt idx="18">
                  <c:v>15</c:v>
                </c:pt>
                <c:pt idx="19">
                  <c:v>15</c:v>
                </c:pt>
                <c:pt idx="20">
                  <c:v>15</c:v>
                </c:pt>
                <c:pt idx="21">
                  <c:v>15</c:v>
                </c:pt>
                <c:pt idx="22">
                  <c:v>15</c:v>
                </c:pt>
                <c:pt idx="23">
                  <c:v>15</c:v>
                </c:pt>
                <c:pt idx="24">
                  <c:v>15</c:v>
                </c:pt>
                <c:pt idx="25">
                  <c:v>15</c:v>
                </c:pt>
                <c:pt idx="26">
                  <c:v>15</c:v>
                </c:pt>
                <c:pt idx="27">
                  <c:v>15</c:v>
                </c:pt>
                <c:pt idx="28">
                  <c:v>15</c:v>
                </c:pt>
                <c:pt idx="29">
                  <c:v>15</c:v>
                </c:pt>
                <c:pt idx="30">
                  <c:v>15</c:v>
                </c:pt>
                <c:pt idx="31">
                  <c:v>15</c:v>
                </c:pt>
                <c:pt idx="32">
                  <c:v>15</c:v>
                </c:pt>
                <c:pt idx="33">
                  <c:v>15</c:v>
                </c:pt>
                <c:pt idx="34">
                  <c:v>15</c:v>
                </c:pt>
                <c:pt idx="35">
                  <c:v>15</c:v>
                </c:pt>
                <c:pt idx="36">
                  <c:v>15</c:v>
                </c:pt>
                <c:pt idx="37">
                  <c:v>15</c:v>
                </c:pt>
                <c:pt idx="38">
                  <c:v>15</c:v>
                </c:pt>
                <c:pt idx="39">
                  <c:v>15</c:v>
                </c:pt>
                <c:pt idx="40">
                  <c:v>15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vᵧ – t · düşey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vᵧ – t · düşey hız</c:v>
                </c:pt>
              </c:strCache>
            </c:strRef>
          </c:tx>
          <c:spPr>
            <a:solidFill>
              <a:srgbClr val="A56209"/>
            </a:solidFill>
            <a:ln w="3556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17</c:v>
                </c:pt>
                <c:pt idx="4">
                  <c:v>16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12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8</c:v>
                </c:pt>
                <c:pt idx="13">
                  <c:v>7</c:v>
                </c:pt>
                <c:pt idx="14">
                  <c:v>6</c:v>
                </c:pt>
                <c:pt idx="15">
                  <c:v>5</c:v>
                </c:pt>
                <c:pt idx="16">
                  <c:v>4</c:v>
                </c:pt>
                <c:pt idx="17">
                  <c:v>3</c:v>
                </c:pt>
                <c:pt idx="18">
                  <c:v>2</c:v>
                </c:pt>
                <c:pt idx="19">
                  <c:v>1</c:v>
                </c:pt>
                <c:pt idx="20">
                  <c:v>0</c:v>
                </c:pt>
                <c:pt idx="21">
                  <c:v>-1</c:v>
                </c:pt>
                <c:pt idx="22">
                  <c:v>-2</c:v>
                </c:pt>
                <c:pt idx="23">
                  <c:v>-3</c:v>
                </c:pt>
                <c:pt idx="24">
                  <c:v>-4</c:v>
                </c:pt>
                <c:pt idx="25">
                  <c:v>-5</c:v>
                </c:pt>
                <c:pt idx="26">
                  <c:v>-6</c:v>
                </c:pt>
                <c:pt idx="27">
                  <c:v>-7</c:v>
                </c:pt>
                <c:pt idx="28">
                  <c:v>-8</c:v>
                </c:pt>
                <c:pt idx="29">
                  <c:v>-9</c:v>
                </c:pt>
                <c:pt idx="30">
                  <c:v>-10</c:v>
                </c:pt>
                <c:pt idx="31">
                  <c:v>-11</c:v>
                </c:pt>
                <c:pt idx="32">
                  <c:v>-12</c:v>
                </c:pt>
                <c:pt idx="33">
                  <c:v>-13</c:v>
                </c:pt>
                <c:pt idx="34">
                  <c:v>-14</c:v>
                </c:pt>
                <c:pt idx="35">
                  <c:v>-15</c:v>
                </c:pt>
                <c:pt idx="36">
                  <c:v>-16</c:v>
                </c:pt>
                <c:pt idx="37">
                  <c:v>-17</c:v>
                </c:pt>
                <c:pt idx="38">
                  <c:v>-18</c:v>
                </c:pt>
                <c:pt idx="39">
                  <c:v>-19</c:v>
                </c:pt>
                <c:pt idx="40">
                  <c:v>-20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sorusu: 'Masadan yuvarlanan bilye ile aynı anda bıraktığım bilye hangisi önce yere düşer?' Cevabı 4. slaytta vereceğiz; şimdilik tahmin aldır.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Serbest düşmeyi bilen bir sınıf için bu konu yeni bir hareket değil: bilinen iki hareketin aynı anda çalışması.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tahtaya da çiz: sol sütun yatay, sağ sütun düşey. Bütün problem çözümü bu iki sütunu ayrı ayrı doldurmaktan ibaret.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Mümkünse sınıfta yap: masanın kenarından bir cetvelle iki bozuk parayı aynı anda fırlat. Ses tek gelir — ikisi aynı anda yere düşer.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sık hata sinüs–kosinüs karışması. Kural: açı hangi eksenle ölçülüyorsa, o eksendeki bileşen kosinüslüdür.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Yörünge yarım parabol. Strobo fotoğrafta yatay aralıklar eşit, düşey aralıklar 1:3:5:7 oranında büyür — iki diziyi birlikte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Simetriyi vurgula: çıkış süresi = iniş süresi, iniş açısı = atış açısı, aynı yükseklikte süratler eşit. Son iki formül yalnızca atış ve iniş aynı yükseklikteyse geçerli.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Tümler açılarda menzil eşit ama uçuş süresi değil: 75° ile atılan top 15°'lik atıştan 3,7 kat uzun havada kalır. Basketbol ve top atışı örnekleri buraya çok oturuyor.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grafiği birlikte oku: soldakiler konum, sağdakiler hız. vᵧ–t'nin ekseni kestiği an tepe; o ana kadarki alan çıkılan yükseklik.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Türetmeyi tahtada da yap; öğrenciler 'parabol' kelimesini ezberden söylüyor ama nereden geldiğini bilmiyor.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3-4-5 üçgeni. Öğrenciye 'yatay hız 60 m/s olsaydı süre değişir miydi' diye sor: hayır, yalnızca menzil 240 m olurdu.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bileşenleri yaz, sonra her şey tek boyutlu hâle gelir. Menzil formülünü ezberletmek yerine 'yatay hız × uçuş süresi' olarak kurdur.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madde, konunun sınav yüzü. Her birini bir önceki slayttaki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03 numaralı bölümde beş açıyı sırayla attırıp tümler açıları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chart" Target="/ppt/charts/chart7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FİZİK · KİNEMATİK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sabit ivmeli hareket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86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Havaya fırlatılan bir cisim iki hareketi aynı anda yapar: yatayda hiç hızlanmadan gider, düşeyde serbest düşer. İkisi birbirine karışmaz; tek ortak değişkenleri zamandır.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74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v₀cosα · t      y = v₀sinα · t − ½g·t²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496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68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640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21240" y="2651760"/>
            <a:ext cx="237744" cy="237744"/>
          </a:xfrm>
          <a:prstGeom prst="ellipse">
            <a:avLst/>
          </a:prstGeom>
          <a:solidFill>
            <a:srgbClr val="B9EE63"/>
          </a:solidFill>
          <a:ln/>
        </p:spPr>
      </p:sp>
      <p:sp>
        <p:nvSpPr>
          <p:cNvPr id="10" name="Shape 8"/>
          <p:cNvSpPr/>
          <p:nvPr/>
        </p:nvSpPr>
        <p:spPr>
          <a:xfrm>
            <a:off x="103784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56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928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0" y="5897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 aralıkları · yatayda eşit, düşeyde artan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ilkeden başlayıp çözümlü örneklere kadar.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Bağımsızlık ilkesi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ve düşey hareket birbirini etkilemez.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bağıntılar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ayırma: v₀cosα ve v₀sinα.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atış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yalnızca yüksekliğe bağlıdır.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atış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noktası, uçuş süresi ve simetri.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 ve açı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uzağa atar; tümler açılar eşitlenir.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ve grafikler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Parabolün denklemi ve dört grafik.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 sabit ivmeli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bir düzlemde hareket eder ve ivme vektörü büyüklükçe de yöncede de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eksen (x)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yoktur → düzgün doğrusal hareket.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baştan sona sabittir.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eşit yollar alınır.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25135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eksen (y)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 → serbest düşme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da düşey atışın aynısı.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1 : 3 : 5 oranında yollar alınır.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911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hareket öğrenmiyoruz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5262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Bildiğimiz iki hareketi aynı anda, aynı saatle çalıştırıyoruz. Bu yüzden iki boyutlu bir soru, iki ayrı tek boyutlu soruya bölünür; sonuçlar zaman üzerinden birleştirilir.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0" y="4315968"/>
            <a:ext cx="146304" cy="146304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3524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top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0" y="4736592"/>
            <a:ext cx="146304" cy="146304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35240" y="46268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Fışkıran su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315200" y="5157216"/>
            <a:ext cx="146304" cy="146304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3524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Masadan yuvarlanan bilye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5468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Hepsinde ivme aynı: g, aşağı yönde.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Bağımsızlık ilkesi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 bırakılıyor, diğeri aynı anda yatay fırlatılıyor. Hangisi önce yere iner?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240280"/>
            <a:ext cx="365760" cy="3246120"/>
          </a:xfrm>
          <a:prstGeom prst="rect">
            <a:avLst/>
          </a:prstGeom>
          <a:solidFill>
            <a:srgbClr val="DCE3F2"/>
          </a:solidFill>
          <a:ln w="12700">
            <a:solidFill>
              <a:srgbClr val="C6D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486400"/>
            <a:ext cx="5852160" cy="0"/>
          </a:xfrm>
          <a:prstGeom prst="line">
            <a:avLst/>
          </a:prstGeom>
          <a:noFill/>
          <a:ln w="25400">
            <a:solidFill>
              <a:srgbClr val="3C8C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5296" y="224028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24028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529459"/>
            <a:ext cx="11658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225296" y="242887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82596" y="242887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17320" y="3095244"/>
            <a:ext cx="24231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225296" y="299466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739896" y="299466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17320" y="4038219"/>
            <a:ext cx="36804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225296" y="393763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997196" y="393763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17320" y="5358384"/>
            <a:ext cx="49377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225296" y="5257800"/>
            <a:ext cx="201168" cy="20116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5257800"/>
            <a:ext cx="201168" cy="20116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bırakılan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1874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atılan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504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kesikli çizgiler her an yatay → iki cisim aynı yükseklikte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98080" y="178308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aynı anda iner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423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düşmeyi ne hızlandırır ne yavaşlatır. Düşey hareketi yalnızca g yönetir: t = √(2h / g).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98080" y="393192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818120" y="4133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böyle?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7818120" y="455371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(ağırlık) düşeydir, dolayısıyla ivme de düşeydir. Yatayda kuvvet olmadığı için o doğrultuda hız değişemez. Bir bileşene etki eden kuvvet, diğer bileşeni değiştiremez.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Bileşenlere ayırma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hareketin vektörel denklemleri, her eksende ayrı ayrı yazılır.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08760" y="5257800"/>
            <a:ext cx="2971800" cy="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4251960" y="3383280"/>
            <a:ext cx="0" cy="1874520"/>
          </a:xfrm>
          <a:prstGeom prst="line">
            <a:avLst/>
          </a:prstGeom>
          <a:noFill/>
          <a:ln w="38100">
            <a:solidFill>
              <a:srgbClr val="A562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1508760" y="3383280"/>
            <a:ext cx="2743200" cy="1874520"/>
          </a:xfrm>
          <a:prstGeom prst="line">
            <a:avLst/>
          </a:prstGeom>
          <a:noFill/>
          <a:ln w="4445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508760" y="3383280"/>
            <a:ext cx="2743200" cy="0"/>
          </a:xfrm>
          <a:prstGeom prst="line">
            <a:avLst/>
          </a:prstGeom>
          <a:noFill/>
          <a:ln w="12700">
            <a:solidFill>
              <a:srgbClr val="78829F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2468880" y="3886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349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v₀·cosα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114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v₀·sinα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84248" y="485546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 daima yatayla ölçülür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60120" y="237744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377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√(vₓ² + vᵧ²)   ·   tanθ = vᵧ / vₓ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18288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(x)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(y)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2487168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63640" y="24871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İvme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871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248716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3145536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314553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Hız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31455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vₓ = v₀·cosα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vᵧ = v₀·sinα − g·t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803904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380390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Konum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v₀·cosα·t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3803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y₀ + v₀·sinα·t − ½g·t²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35040" y="4526280"/>
            <a:ext cx="5516575" cy="1325880"/>
          </a:xfrm>
          <a:prstGeom prst="roundRect">
            <a:avLst>
              <a:gd name="adj" fmla="val 9655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55080" y="4526280"/>
            <a:ext cx="48764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 skaler toplanmaz.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= 30 m/s ve vᵧ = 40 m/s ise sürat 70 değil, 50 m/s'dir. Dik üçgen kur.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hız yatay olduğu için v₀ᵧ = 0; düşey hareket tam bir serbest düşmedir.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√(2h / g)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178040" y="2624328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624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 · √(2h / g)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0104120" y="262432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178040" y="3465576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465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√(v₀² + 2gh)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104120" y="34655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çarpma sürati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178040" y="4343400"/>
            <a:ext cx="4373575" cy="1508760"/>
          </a:xfrm>
          <a:prstGeom prst="roundRect">
            <a:avLst>
              <a:gd name="adj" fmla="val 848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 atış hızından bağımsızdır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9377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Topu ister hafifçe it, ister topla fırlat: aynı masadan aynı sürede iner. Değişen tek şey ne kadar uzağa düştüğüdür.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25 m/s, α = 53°, g = 10 m/s² · vₓ = 15 m/s, v₀ᵧ = 20 m/s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t(tepe) = v₀·sinα / 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3327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78040" y="2532888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53288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h(maks) = v₀²sin²α / (2g)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0" y="253288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178040" y="3282696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2826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t(uçuş) = 2·v₀·sinα / 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332720" y="328269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178040" y="4032504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804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0" y="403250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178040" y="4846320"/>
            <a:ext cx="4373575" cy="1005840"/>
          </a:xfrm>
          <a:prstGeom prst="roundRect">
            <a:avLst>
              <a:gd name="adj" fmla="val 1272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0" y="48463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 değil: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vᵧ sıfırlanır, cisim vₓ = 15 m/s ile yatay ilerler.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Menzil ve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sürat (25 m/s), beş farklı açı. Tümler açılar aynı noktaya düşer.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1783080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183880" y="1911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78308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62,5 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uzun menzil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09560" y="2807208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83880" y="2935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 ve 60°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2807208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54,1 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32644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909560" y="3831336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183880" y="39593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15° ve 75°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383133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 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09560" y="4892040"/>
            <a:ext cx="3642055" cy="502920"/>
          </a:xfrm>
          <a:prstGeom prst="roundRect">
            <a:avLst>
              <a:gd name="adj" fmla="val 18182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489204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5486400"/>
            <a:ext cx="364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sin2α en büyük değerini 2α = 90° için alır → α = 45°.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grafik, tek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eğik atışın (v₀ = 25 m/s, α = 53°) zamana bağlı grafikleri.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31520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Doğru: eğimi vₓ, sabit.</a:t>
            </a:r>
            <a:endParaRPr lang="en-US" sz="11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199632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91072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Parabol: eğimi anlık vᵧ.</a:t>
            </a:r>
            <a:endParaRPr lang="en-US" sz="115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40080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731520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doğru: aₓ = 0.</a:t>
            </a:r>
            <a:endParaRPr lang="en-US" sz="1150" dirty="0"/>
          </a:p>
        </p:txBody>
      </p:sp>
      <p:graphicFrame>
        <p:nvGraphicFramePr>
          <p:cNvPr id="12" name="Chart 3" descr=""/>
          <p:cNvGraphicFramePr/>
          <p:nvPr/>
        </p:nvGraphicFramePr>
        <p:xfrm>
          <a:off x="6199632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6291072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Eğimi −g; sıfır kesişimi tepe noktası.</a:t>
            </a:r>
            <a:endParaRPr lang="en-US" sz="115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Yörünge neden parabol?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ve y denklemlerinden zamanı yok edelim.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 · 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78308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yataydaki hareket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(v₀·cosα)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8346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zamanı x cinsinden yaz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x·tanα − g·x² / (2·v₀²·cos²α)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862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denkleminde yerine koy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7863840" cy="868680"/>
          </a:xfrm>
          <a:prstGeom prst="roundRect">
            <a:avLst>
              <a:gd name="adj" fmla="val 1473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0120" y="4983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y = ax − bx² biçiminde.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eksende zamanla doğrusal, diğerinde zamanın karesiyle değişen hareket → parabol.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732520" y="1783080"/>
            <a:ext cx="2819095" cy="4069080"/>
          </a:xfrm>
          <a:prstGeom prst="roundRect">
            <a:avLst>
              <a:gd name="adj" fmla="val 454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0068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okuma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42316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– t doğru, eğimi vₓ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– t parabol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– t zamana paralel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eğimi −g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0 anı tepe noktası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altındaki alan düşey yer değiştirme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 yüksekliğindeki bir kuleden yatay doğrultuda 30 m/s süratle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uçuş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menzili,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yere çarpma süratini bulunuz.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120 m · 50 m/s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hareket serbest düşme:  80 = ½·10·t²  →  t² = 16  →  t = 4 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hız:  x = 30 · 4 = 120 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g·t = 40 m/s, vₓ = 30 m/s  →  v = √(30² + 40²) = 50 m/s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Yerle yaptığı açı: tanθ = 40/30  →  θ ≈ 53°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Yerden 50 m/s süratle, yatayla 53° açı yapacak şekilde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tepe noktasına çıkma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maksimum yüksekliği,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menzili bulunuz.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(sin53° = 0,8 · cos53° = 0,6)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80 m · 240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Bileşenler:  v₀ₓ = 50·0,6 = 30 m/s,  v₀ᵧ = 50·0,8 = 40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Tepede vᵧ = 0:  0 = 40 − 10·t  →  t = 4 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v₀ᵧ² / (2g) = 1600 / 20 = 80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2·4 = 8 s  →  R = 30 · 8 = 240 m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R = v₀²·sin2α/g = 2500·0,96/10 = 240 m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sıfırdır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Sıfırlanan yalnızca vᵧ'dir; vₓ = v₀cosα devam eder.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 süresini etkiler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Etkilemez. Süre yalnızca düşey harekete bağlıdır.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yörüngeye teğettir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Teğet olan hızdır; ivme her noktada düşeydir ve g'dir.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v₀²sin2α/g her zaman geçerli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atış ve iniş aynı yükseklikteyse.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vₓ + vᵧ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Doğrusu v = √(vₓ² + vᵧ²); vektörler skaler toplanmaz.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her koşulda en uzağa atar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Yükseklikten atışta optimum açı 45°'nin altındadır.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boyutta sabit ivmeli hareket · dersler.perinet.org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hareket, tek saat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206654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hız, düşeyde g ivmesi; ortak olan yalnızca zaman.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9992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v₀ₓ = v₀cosα, v₀ᵧ = v₀sinα. Sonrası iki tek boyutlu problem.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paraboldür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39319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x·tanα − g·x²/(2v₀²cos²α)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uzun menzil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486460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aynı menzili verir, ama uçuş süreleri farklıdır.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Atış laboratuvarı, menzil–açı karşılaştırması ve hedef vurma oyunu: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İki boyutta sabit ivmeli hareket</dc:title>
  <dc:subject>Fizik · Kinematik</dc:subject>
  <dc:creator>Dersler</dc:creator>
  <cp:lastModifiedBy>Dersler</cp:lastModifiedBy>
  <cp:revision>1</cp:revision>
  <dcterms:created xsi:type="dcterms:W3CDTF">2026-09-18T15:33:57Z</dcterms:created>
  <dcterms:modified xsi:type="dcterms:W3CDTF">2026-09-18T15:33:57Z</dcterms:modified>
</cp:coreProperties>
</file>