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Bir tüfekten yatay olarak atılan mermi ile namlunun ucundan aynı anda bırakılan bir mermi yere aynı anda iner — mermi yüzlerce metre öteye gitmiş olsa bile. Atış hareketlerinin tamamı bu tek fikrin üzerine kuruludur: yatay hareket ile düşey hareket birbirini hiç etkilemez. Bu anlatım dört basamakta ilerliyor: önce atılan bir cismin çizdiği yolu gözleyip bu ilkeyi sezgiyle kuracağız, sonra onunla yatay atışı, eğik atışı ve menzili bağıntılarıyla çözeceğiz, ardından yüksekten atışa, düşen bir hedefe nişan almaya ve hava direncine geçeceğiz. En sonda kolaydan zora sıralanmış örneklerle hepsini birlikte kullanacağız.
Kapak görseli: Bir şutun yörüngesi. Top elden çıktığı anda üzerinde yalnızca ağırlığı kalır; bu yüzden izlediği yol bir yay, daha doğrusu bir parabol olur. Tepeye yakın görüntülerin yüksekliği neredeyse değişmez: orada düşey hız sıfıra iner ve top bir an yalnızca yatay ilerler. Bu anlatım, bu yayı iki basit harekete ayırarak çözmeyi öğretiyor.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sorusu — sınıfa sorup birkaç cevap alın, sonra konuya geçin.
Bir tüfekten yatay olarak atılan mermi ile namlunun ucundan aynı anda bırakılan bir mermi yere aynı anda iner — mermi yüzlerce metre öteye gitmiş olsa bile. Atış hareketlerinin tamamı bu tek fikrin üzerine kuruludur: yatay hareket ile düşey hareket birbirini hiç etkilemez. Bu anlatım dört basamakta ilerliyor: önce atılan bir cismin çizdiği yolu gözleyip bu ilkeyi sezgiyle kuracağız, sonra onunla yatay atışı, eğik atışı ve menzili bağıntılarıyla çözeceğiz, ardından yüksekten atışa, düşen bir hedefe nişan almaya ve hava direncine geçeceğiz. En sonda kolaydan zora sıralanmış örneklerle hepsini birlikte kullanacağız.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derste:
1. Temel — Önce sezgi: atılan bir cismin yoluna bak, hareketi iki eksene ayır ve iki eksenin neden birbirini etkilemediğini gör. Bu basamakta hesap yok denecek kadar az.
   01 Önce gözlemle: atılan bir cisim nasıl bir yol çizer?
   02 İki boyutta sabit ivmeli hareket nedir?
   03 Bağımsızlık ilkesi
2. Orta — Bağıntılar: hızı bileşenlerine ayır, yatay ve eğik atışı çöz, menzili ve yörüngeyi adım adım türet.
   04 Vektörel bağıntılar ve bileşenlere ayırma
   05 Yatay atış
   06 Sayılarla hisset: ne kadar sürede, ne kadar öteye?
   07 Eğik atış
   08 Menzil, açı ve tümler açılar
   09 Yörünge denklemi ve grafikler
3. İleri — Derinleşme: yüksekten atış, düşen bir hedefe nişan, hava direnci ve atışların gerçek hayattaki yüzü.
   10 Yüksekten atış: 45° artık en iyi değil
   11 Düşen hedefe nişan: bağımsızlığın en şaşırtıcı sonucu
   12 Hava direnci işe karışınca: modelin sınırları
   13 Atışlar gerçek dünyada
4. Pekiştir — Kolaydan zora çözümlü örnekler ve sınavda puan kaybettiren klasik hatalar.
   14 Çözümlü örnekler
   15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1 — Temel: Önce sezgi: atılan bir cismin yoluna bak, hareketi iki eksene ayır ve iki eksenin neden birbirini etkilemediğini gör. Bu basamakta hesap yok denecek kadar az.
01 Önce gözlemle: atılan bir cisim nasıl bir yol çizer?
02 İki boyutta sabit ivmeli hareket nedir?
03 Bağımsızlık ilkesi
Görsel: Hortumdan çıkan su yolun başında yatay gider, sonra giderek dikleşen bir eğriyle aşağı kıvrılır. Damlaların yatay hızı yol boyunca aynı kalır; kıvrılmanın sebebi, her damlanın bir yandan da serbest düşmesidir. Bu yarım parabol, ikinci basamakta çözeceğimiz yatay atışın ta kendisidir.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atılan bir cisim nasıl bir yol çizer?
Kısaca: Atılan bir cisim hem ileri gider hem düşer; iki hareket birleşince yolu giderek dikleşen bir eğri, yani parabol olur. Hortumdan çıkan su bunun günlük bir örneğidir.
Bahçe hortumunun ağzını yere paralel tut ve musluğu aç. Su ağızdan dümdüz ileri çıkar, ama hemen, önce belli belirsiz, aşağı kıvrılmaya başlar; yere yaklaştıkça yolu giderek dikleşir ve sonunda ileride bir noktaya iner. Masanın kenarından yuvarlanıp düşen bir bilye, kaleye doğru havalanan bir top, fıskiyeden fışkıran su da aynı biçimde kıvrılır. Hiçbiri ne dümdüz ileri ne dümdüz aşağı gider; hepsi ikisini aynı anda yapar.
Görsel: Hortumdan çıkan su yolun başında yatay gider, sonra giderek dikleşen bir eğriyle aşağı kıvrılır. Damlaların yatay hızı yol boyunca aynı kalır; kıvrılmanın sebebi, her damlanın bir yandan da serbest düşmesidir. Bu yarım parabol, ikinci basamakta çözeceğimiz yatay atışın ta kendisidir.
Aynı hareketi eşit zaman aralıklarıyla fotoğraflasan (strobo fotoğraf) cismin art arda görüntülerinde şu düzeni görürsün:
• Yol eğridir: cisim hem ileri gider hem aşağı iner; iki hareket birleşince yol kıvrılır.
• Yatay ilerleyiş düzenlidir: eşit sürelerde cisim yatayda hep aynı mesafeyi alır.
• Düşüş giderek hızlanır: eşit sürelerde aşağı doğru alınan yollar gittikçe büyür.
• Eğri gittikçe dikleşir: başta yataya yakın olan yol, yere yaklaştıkça düşeye yaklaşır.
Matematikte bu eğriye parabol denir. Bu anlatımın geri kalanı, bu dört gözlemin nereden geldiğini açıklıyor. İpucu şimdiden listede saklı: yatayda ilerleyiş “sabit hızla giden bir araba” gibi, düşeydeki iniş ise “bırakılan bir taş” gibi davranıyor.
Düşün: Hortumun ağzını yine yatay tutup daha yükseğe kaldırırsan su neden daha uzağa düşer?
Cevap: Su daha yüksekten düştüğü için havada daha uzun kalır. Yatay hızı değişmediğine göre, havada geçirdiği her ek anda biraz daha ileri gider. Suyun ne kadar uzağa düşeceğini yatay hız ile havada kalma süresi birlikte belirler.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Hortumun ağzını yine yatay tutup daha yükseğe kaldırırsan su neden daha uzağa düşer?
Sınıfa sorun, birkaç tahmin alın; sonra cevap slaytına geçin.
Cevap: Su daha yüksekten düştüğü için havada daha uzun kalır. Yatay hızı değişmediğine göre, havada geçirdiği her ek anda biraz daha ileri gider. Suyun ne kadar uzağa düşeceğini yatay hız ile havada kalma süresi birlikte belirler.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Su daha yüksekten düştüğü için havada daha uzun kalır. Yatay hızı değişmediğine göre, havada geçirdiği her ek anda biraz daha ileri gider. Suyun ne kadar uzağa düşeceğini yatay hız ile havada kalma süresi birlikte belirler.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İki boyutta sabit ivmeli hareket nedir?
Kısaca: İki boyutta sabit ivmeli harekette cisim bir düzlemde ve sabit ivmeyle hareket eder. Atışlarda bu ivme g'dir: yatayda ivme yoktur, düşeyde ise serbest düşme ya da düşey atış vardır.
Bir cisim bir düzlem içinde hareket ediyorsa ve ivme vektörü hem büyüklük hem yön olarak değişmiyorsa, bu harekete iki boyutta sabit ivmeli hareket denir. Konum, hız ve ivme artık birer sayı değil, birer vektördür. “İki boyut” demek, cismin yerini söylemek için iki sayının gerekmesi demektir: ne kadar ileride ve ne kadar yukarıda olduğu.
Günlük hayattaki en yaygın örneği atış hareketleridir: atılan bir top, fışkıran su, masadan yuvarlanan bilye. Hepsinde ivme aynıdır — yerçekimi ivmesi g, büyüklüğü sabit, yönü daima aşağı.
Hareketi iki eksene ayırdığımızda ortaya çok tanıdık iki hareket çıkar:
• Yatay eksen (x): ivme yoktur (ax = 0) → düzgün doğrusal hareket.
• Düşey eksen (y): ivme g'dir ve aşağı yöndedir → sabit ivmeli hareket, yani serbest düşme/düşey atış.
Yani yeni bir hareket öğrenmiyorsun: bildiğin iki hareketi aynı anda, aynı saatle çalıştırıyorsun. Bunu iki gölgeyle düşünebilirsin. Güneş tam tepedeyken atılan topun yere düşen gölgesi yalnızca yatay hareketi gösterir ve sabit hızla kayar. Atış doğrultusunda yatay gelen bir ışıkla karşıdaki duvara düşen gölgesi ise yalnızca düşey hareketi gösterir: yukarı çıkıp yavaşlar, durur, sonra hızlanarak iner. Top, bu iki gölgenin aynı anda yaptığı şeyi yapar.
Hava direnci ihmal edilir. Bu derste cisme etki eden tek kuvvet ağırlıktır. Bu yüzden kütle hiçbir bağıntıda görünmez: 50 g'lık top ile 5 kg'lık gülle aynı hız ve açıyla atılırsa aynı yörüngeyi çizer.
Görsel: Aynı hareketin iki ayrı filmi. Yatay gölge eşit zaman aralıklarında eşit yollar alır — o eksende ivme yoktur. Düşey gölge ise 1 : 3 : 5 : 7 ile açılarak iner — o eksende tam bir serbest düşme vardır. İki filmi birbirine bağlayan tek şey aynı saati paylaşmaları; yörüngenin parabol olması da bu iki hareketin toplamıdır.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Bağımsızlık ilkesi
Kısaca: Yatay ve düşey hareketler birbirini etkilemez; tek ortak değişkenleri zamandır. İki boyutlu bir problemi iki tek boyutlu probleme bölüp sonuçları süre üzerinden birleştirirsin.
İki boyutlu hareketin bütün sırrı tek cümlede: yatay hareket ile düşey hareket birbirini etkilemez. Yatay hızın büyük olması cismin düşmesini geciktirmez; düşmesi de yatay hızını azaltmaz. İki hareketin tek ortak yanı aynı zamanı paylaşmalarıdır.
Bunun en çarpıcı kanıtı sayfadaki 02 numaralı deney: aynı yükseklikten biri serbestçe bırakılan, diğeri yatay olarak fırlatılan iki cisim tam olarak aynı anda yere iner. Fırlatılan cisim çok daha uzağa gitmiştir, ama düşey hareketi diğeriyle birebir aynıdır.
Neden böyle? Kuvvet düşeydir (ağırlık), dolayısıyla ivme de düşeydir. Yatay doğrultuda kuvvet olmadığı için o doğrultuda hız değişemez. Bir vektörün bir bileşenine etki eden kuvvet, diğer bileşenini değiştiremez.
Bu ilke problem çözmenin de yöntemidir: iki boyutlu bir soruyu iki ayrı tek boyutlu soruya bölersin, her birini kendi denklemiyle çözersin ve sonuçları zaman üzerinden birleştirirsin.
• Böl: hareketi yatay ve düşey olarak iki ayrı harekete ayır.
• Çöz: yatayı sabit hızla, düşeyi serbest düşme ya da düşey atış gibi çöz.
• Birleştir: iki hareketi bağlayan tek büyüklük olan süreyi kullan.
Görsel: Aynı yükseklikten biri serbestçe bırakılıyor, diğeri yatay olarak fırlatılıyor. Kesikli çizgiler her an ikisini birleştiriyor: düşey hareketleri birebir aynı. Fırlatılan cisim yüzlerce metre öteye gitse de, düşmesi bundan hiç etkilenmiyor. Sayfadaki 02 numaralı deneyde bunu kendi gözünle ölçebilirsin.
Düşün: Sabit hızla giden bir trende elindeki elmayı dümdüz yukarı atarsan elma nereye düşer?
Cevap: Yine eline düşer. Elma atıldığı anda trenin yatay hızına sahiptir ve havadayken bu hız değişmez; sen de aynı hızla ilerlediğin için elma hep elinin üstünde kalır. Perondaki biri ise elmanın yükselip alçalan bir parabol çizdiğini görür.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Sabit hızla giden bir trende elindeki elmayı dümdüz yukarı atarsan elma nereye düşer?
Sınıfa sorun, birkaç tahmin alın; sonra cevap slaytına geçin.
Cevap: Yine eline düşer. Elma atıldığı anda trenin yatay hızına sahiptir ve havadayken bu hız değişmez; sen de aynı hızla ilerlediğin için elma hep elinin üstünde kalır. Perondaki biri ise elmanın yükselip alçalan bir parabol çizdiğini görür.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Yine eline düşer. Elma atıldığı anda trenin yatay hızına sahiptir ve havadayken bu hız değişmez; sen de aynı hızla ilerlediğin için elma hep elinin üstünde kalır. Perondaki biri ise elmanın yükselip alçalan bir parabol çizdiğini görür.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2 — Orta: Bağıntılar: hızı bileşenlerine ayır, yatay ve eğik atışı çöz, menzili ve yörüngeyi adım adım türet.
04 Vektörel bağıntılar ve bileşenlere ayırma
05 Yatay atış
06 Sayılarla hisset: ne kadar sürede, ne kadar öteye?
07 Eğik atış
08 Menzil, açı ve tümler açılar
09 Yörünge denklemi ve grafikler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Vektörel bağıntılar ve bileşenlere ayırma
Kısaca: İlk hızı dik üçgenle bileşenlerine ayır: v₀ₓ = v₀·cosα, v₀ᵧ = v₀·sinα. Yatay bileşen sabit kalır, düşey bileşen g ile değişir; sürat bileşenlerin vektörel toplamıdır.
Sabit ivmeli hareketin denklemleri vektörel olarak da aynen geçerlidir:
v⃗ = v⃗₀ + a⃗·t   r⃗ = r⃗₀ + v⃗₀·t + ½·a⃗·t²
Yukarı yönü pozitif alıp ax = 0, ay = −g yazarsak ve ilk hızı yatayla α açısı yapacak şekilde bileşenlerine ayırırsak:
v₀ₓ = v₀·cosα   v₀ᵧ = v₀·sinα
Bileşenler nereden geliyor?
• Dik üçgen kur: ilk hız vektörü hipotenüstür; yatay ve düşey bileşenler üçgenin iki dik kenarıdır.
• Yatay kenar: α açısının komşusudur; cosα = v₀ₓ / v₀ olduğundan v₀ₓ = v₀·cosα.
• Düşey kenar: α açısının karşısındadır; sinα = v₀ᵧ / v₀ olduğundan v₀ᵧ = v₀·sinα.
• Kontrol: Pisagor bağıntısı v₀ₓ² + v₀ᵧ² = v₀² vermelidir.
 | Yatay (x) | Düşey (y)
İvme | ax = 0 | ay = −g
Hız | vx = v₀·cosα (sabit) | vy = v₀·sinα − g·t
Konum | x = v₀·cosα·t | y = y₀ + v₀·sinα·t − ½g·t²
Herhangi bir anda cismin sürati bileşenlerin vektörel toplamıdır; hız vektörü daima yörüngeye teğettir:
v = √(vx² + vy²)   tanθ = vy / vx
Sorularda en sık kullanılan açıların yaklaşık değerleri aşağıda. 37° ile 53°'nin birbirini tamamladığına dikkat et: birinin sinüsü ötekinin kosinüsüdür. 37°–53° üçgeni kenarları 3 : 4 : 5 oranında olan ünlü dik üçgendir.
Açı | sinα | cosα
30° | 0,5 | 0,87
37° | 0,6 | 0,8
45° | 0,71 | 0,71
53° | 0,8 | 0,6
60° | 0,87 | 0,5
Bileşenler skaler toplanmaz. vx = 30 m/s ve vy = 40 m/s ise sürat 70 m/s değil, 50 m/s'dir. Dik üçgen kurmayı unutma.
Görsel: Solda atış anı: ilk hız, yatayla α açısı yapan bir vektördür ve dik üçgenle bileşenlerine ayrılır. Sağda yörüngenin herhangi bir noktası: yeşil bileşen hiç değişmez, sarı bileşen g yüzünden sürekli değişir, ikisinin vektörel toplamı olan mavi ok ise daima eğriye teğettir. Bu yüzden bileşenler skaler toplanmaz: 30 ve 40 bileşenleri 70 değil 50 verir.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Vektörel bağıntılar ve bileşenlere ayırma (devam)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Vektörel bağıntılar ve bileşenlere ayırma (devam)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Yatay atış
Kısaca: Yatay atışta düşey hareket serbest düşmedir: süre t = √(2h/g) yalnızca yüksekliğe bağlıdır. Menzil x = v₀·t, çarpma sürati v = √(v₀² + 2gh) ile bulunur.
Cisim h yüksekliğinden yatay olarak v₀ süratiyle atılırsa (α = 0 olduğu için) ilk hızın düşey bileşeni sıfırdır: v₀ᵧ = 0. Düşey hareket bu yüzden tam bir serbest düşmedir.
t = √(2h / g)   x = v₀ · √(2h / g)   vy = g·t   v = √(v₀² + 2gh)
Bağıntılar nereden geliyor?
• Düşeyde süre: cisim h yüksekliğinden ilk hızsız düşer, h = ½·g·t² olur; buradan t = √(2h/g).
• Yatayda yol: yatay hız sabit v₀ olduğundan x = v₀·t; süreyi yerine koyunca x = v₀·√(2h/g).
• Düşey hız: serbest düşmedeki gibi vy = g·t; yere değerken vy² = 2gh.
• Sürat: dik bileşenler Pisagor ile birleşir: v² = v₀² + vy² = v₀² + 2gh.
Uçuş süresi v₀'a bağlı değildir. Topu ister hafifçe it, ister topla fırlat; aynı masadan aynı sürede yere iner. Değişen tek şey ne kadar uzağa düştüğüdür.
Yörünge yarım paraboldür. Eşit zaman aralıklarında cisim yatayda eşit yollar alır, düşeyde ise 1 : 3 : 5 : 7 oranında artan yollar alır. Sayfadaki strobo izlerinde bu iki dizi aynı anda görünür; 01 numaralı laboratuvardaki “Yatay atış · 30 m'den” hazır deneyini strobo izleri açıkken çalıştırıp kendin say.
Birim kontrolü: √(2h/g) için √(m ÷ m/s²) = √(s²) = s çıkar, bu bir süredir ✓. v₀·t için (m/s)·s = m çıkar, bu bir uzunluktur ✓. “t = 2h/g” yazsaydın birim s² olurdu; karekökü unuttuğunu birim söyler.
Görsel: İki cisim aynı yükseklikten yatay olarak atılıyor; morun sürati mavinin iki katı. Kesikli çizgiler her an ikisinin aynı yükseklikte olduğunu gösteriyor: uçuş süresi v₀'a hiç bağlı değil, yalnızca h'ye bağlı (t = √(2h/g)). Sürati iki katına çıkarmak yalnızca menzili iki katına çıkarır.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Yatay atış (devam)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ne kadar sürede, ne kadar öteye?
Kısaca: Yatay atışta süre yüksekliğin kareköküyle büyür ve ilk hızdan bağımsızdır; menzil ilk hızla doğru orantılıdır. 4 kat yükseklik 2 kat süre, 2 kat ilk hız 2 kat menzil demektir.
Bağıntılar soyut kalmasın. Aynı topu hep 10 m/s ile yatay olarak, ama farklı yüksekliklerden attığını düşün (g = 10 m/s², hava direnci yok):
Yükseklik | Uçuş süresi | Menzil | Çarpma sürati
0,8 m (masa) | 0,4 s | 4 m | ≈ 10,8 m/s
5 m (balkon) | 1 s | 10 m | ≈ 14,1 m/s
20 m (altı kat) | 2 s | 20 m | ≈ 22,4 m/s
45 m (on beş kat) | 3 s | 30 m | ≈ 31,6 m/s
80 m (kule) | 4 s | 40 m | ≈ 41,2 m/s
Tablodan hemen okunan düzen: yükseklik 4 katına çıkınca süre ve menzil yalnızca 2 katına çıkıyor (5 m → 20 m: 1 s → 2 s, 10 m → 20 m). Çünkü süre yüksekliğin kareköküyle büyür, menzil de süreyle orantılıdır. Son sütun ise başka bir şey söylüyor: alçaktan atışta çarpma sürati neredeyse 10 m/s'lik ilk hız kadardır, yüksekten atışta ise düşey hız baskın çıkar.
İlk hızı değiştirmek tabloyu bambaşka biçimde etkiler. Aynı 20 m'lik binadan 20 m/s ile atarsan süre yine 2 s olur, menzil ise 40 m'ye çıkar: ilk hız yalnızca menzili ölçekler. Bahçe hortumu da böyle: bel hizasında (yaklaşık 0,8 m) tutulan ve suyu 5 m/s ile yatay püskürten bir hortumda su 0,4 s'de yere iner ve 5 · 0,4 = 2 m öteye düşer. Musluğu açıp hızı iki katına çıkarırsan su 4 m öteye gider. Sayfanın 02 numaralı bölümündeki hız sürgüsüyle bunu dene: sarı cisim uzağa gider ama iniş süresi hiç değişmez.
Düşün: 80 m'lik kuleden topu 10 m/s yerine 20 m/s ile yatay atarsan uçuş süresi ve menzil ne olur?
Cevap: Uçuş süresi değişmez, yine 4 s'dir; süreyi yalnızca yükseklik ve g belirler. Menzil ise ilk hızla doğru orantılı olduğu için iki katına çıkar: 20 · 4 = 80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80 m'lik kuleden topu 10 m/s yerine 20 m/s ile yatay atarsan uçuş süresi ve menzil ne olur?
Sınıfa sorun, birkaç tahmin alın; sonra cevap slaytına geçin.
Cevap: Uçuş süresi değişmez, yine 4 s'dir; süreyi yalnızca yükseklik ve g belirler. Menzil ise ilk hızla doğru orantılı olduğu için iki katına çıkar: 20 · 4 = 80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Uçuş süresi değişmez, yine 4 s'dir; süreyi yalnızca yükseklik ve g belirler. Menzil ise ilk hızla doğru orantılı olduğu için iki katına çıkar: 20 · 4 = 80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Eğik atış
Kısaca: Eğik atışta yatay hız sabit kalır, düşey hız tepede sıfırlanır. Tepeye çıkış süresi v₀·sinα/g, tepe yüksekliği v₀²·sin²α/(2g)'dir; hareket tepeye göre simetriktir.
Cisim yatayla α açısı yapacak şekilde v₀ süratiyle atılırsa hareket eğik atış olur. Çıkarken düşey hız azalır, tepe noktada sıfırlanır, sonra artarak aşağı yönelir. Yatay hız ise baştan sona hiç değişmez.
ttepe = v₀·sinα / g   hmaks = v₀²·sin²α / (2g)   tuçuş = 2·v₀·sinα / g   R = v₀²·sin2α / g
Bağıntılar nereden geliyor?
• Tepe anı: tepede vy = 0 olur: 0 = v₀·sinα − g·t, buradan ttepe = v₀·sinα / g.
• Tepe yüksekliği: düşeyde bir düşey atış vardır; vy² = v₀ᵧ² − 2gh ifadesinde vy = 0 alınır.
• Sonuç: hmaks = v₀ᵧ² / (2g) = v₀²·sin²α / (2g).
• Uçuş süresi: iniş çıkışın ayna görüntüsüdür; aynı yüksekliğe dönüş için süre iki katıdır: 2·v₀·sinα / g.
Son iki bağıntı yalnızca atış ve iniş noktaları aynı yükseklikteyse geçerlidir. Bir tepeden ya da kuleden atıldığında uçuş süresini y = 0 denkleminden (ikinci dereceden denklem) çözmen gerekir. Laboratuvarın açılış ayarında (25 m/s, 45°, Dünya) fırlattığında ekrandaki 3,60 s uçuş süresi ve 15,9 m tepe yüksekliği tam olarak bu bağıntılardan çıkar.
Simetri
• Süreler: çıkış süresi iniş süresine eşittir.
• Süratler: aynı yükseklikten geçerken süratler eşit, düşey hızların yönleri terstir.
• Açılar: iniş açısı, atış açısına eşittir.
• Yörünge: tepe noktasından geçen düşey doğruya göre simetriktir.
Tepe noktada hız sıfır değildir. Sıfırlanan yalnızca düşey bileşendir; cisim orada hâlâ v = v₀·cosα süratiyle yatay olarak ilerler. İvme ise hareket boyunca hiç değişmez: her noktada g'dir ve aşağı doğrudur.
Görsel: Eğik atış boyunca yatay bileşen hiç değişmez — yeşil oklar baştan sona aynı boydadır. Düşey bileşen ise her saniye g kadar azalır, tepede sıfırlanır, sonra ters yönde aynı hızla büyür. Tepe noktada hız sıfır değildir: cisim orada hâlâ v₀·cosα süratiyle yatay olarak ilerler.
Düşün: Eğik atışta cismin sürati yörüngenin neresinde en küçüktür? Orada sıfır olur mu?
Cevap: En küçük sürat tepe noktasındadır, çünkü orada düşey bileşen sıfırdır ve geriye yalnızca v₀·cosα kalır. Süratin sıfır olması için yatay bileşenin de sıfır olması, yani cismin dümdüz yukarı (α = 90°) atılması gerekir.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Eğik atış (devam)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Eğik atışta cismin sürati yörüngenin neresinde en küçüktür? Orada sıfır olur mu?
Sınıfa sorun, birkaç tahmin alın; sonra cevap slaytına geçin.
Cevap: En küçük sürat tepe noktasındadır, çünkü orada düşey bileşen sıfırdır ve geriye yalnızca v₀·cosα kalır. Süratin sıfır olması için yatay bileşenin de sıfır olması, yani cismin dümdüz yukarı (α = 90°) atılması gerekir.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En küçük sürat tepe noktasındadır, çünkü orada düşey bileşen sıfırdır ve geriye yalnızca v₀·cosα kalır. Süratin sıfır olması için yatay bileşenin de sıfır olması, yani cismin dümdüz yukarı (α = 90°) atılması gerekir.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Menzil, açı ve tümler açılar
Kısaca: Aynı yükseklikte başlayıp biten atışta menzil R = v₀²·sin2α/g'dir. En uzun menzil 45°'de alınır, tümler açılar aynı menzili verir, menzil ilk süratin karesiyle büyür.
Menzil bağıntısını bileşenlerden türetmek kolaydır: uçuş süresi t = 2v₀sinα / g, yatay yol ise x = v₀cosα · t. İkisini çarpınca
R = 2·v₀²·sinα·cosα / g   R = v₀²·sin2α / g
İkinci satıra geçerken 2·sinα·cosα = sin2α özdeşliği kullanıldı. Bağıntıdan üç sonuç doğrudan okunur:
• En uzun menzil 45°'dedir. sin2α en büyük değerini (1) 2α = 90° için alır.
• Tümler açılar aynı menzili verir. sin2α = sin(180° − 2α) olduğundan α ile 90° − α aynı R'yi verir: 30° ile 60°, 20° ile 70°… Büyük açı daha yükseğe çıkar.
• Menzil süratin karesiyle artar. v₀ iki katına çıkarsa menzil dört katına çıkar.
Aynı topu hep 20 m/s ile, ama beş farklı açıyla attığını düşün (g = 10 m/s²). Menzil, tepe yüksekliği ve uçuş süresi şöyle değişir:
Açı | Menzil | Tepe yüksekliği | Uçuş süresi
15° | 20 m | ≈ 1,3 m | ≈ 1,04 s
30° | ≈ 34,6 m | 5 m | 2 s
45° | 40 m | 10 m | ≈ 2,83 s
60° | ≈ 34,6 m | 15 m | ≈ 3,46 s
75° | 20 m | ≈ 18,7 m | ≈ 3,86 s
Menzil sütunu 45°'ye göre simetrik, tepe yüksekliği ve süre sütunları ise açıyla sürekli artıyor. Sayfanın 03 numaralı bölümünde bu beş açıyı sırayla at ve tümler çiftlerin aynı noktaya düştüğünü izle. 04 numaralı bölümdeki hedef oyunu da aynı gerçeğe dayanır: bir hedefi genellikle biri 45°'nin altında, biri üstünde iki farklı açı vurur.
Yükseklikten atışta 45° en iyi değildir. Bir kuleden atıldığında optimum açı 45°'nin altına iner; yükseklik arttıkça yatay hıza pay ayırmak daha kârlıdır. Gerçek hayatta hava direnci de optimum açıyı küçültür. Gülle atma sporcuları 40° civarında atar; gülleyi omuz yüksekliğinden bırakmaları da açıyı 45°'nin altına çeker.
Görsel: Beş atışın da sürati aynı, yalnızca açıları farklı. Tümler açılar aynı noktaya düşer (aynı renkli iki eğri): sin2α ile sin(180°−2α) eşittir. Büyük açı daha yükseğe çıkar ve havada daha uzun kalır, ama menzili değiştirmez. En uzağa giden, sin2α'yı bire eşitleyen 45°'dir.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Menzil, açı ve tümler açılar (devam)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Yörünge denklemi ve grafikler
Kısaca: Zamanı yok edince yörünge y = x·tanα − k·x² parabolü çıkar. Yatayda x–t doğru ve vₓ–t sabit, düşeyde y–t parabol ve vy–t eğimi −g olan doğrudur.
Yörüngenin denklemini bulmak için zamanı iki denklemin arasından çıkarırız. Adımlar şöyle:
• Süreyi yalnız bırak: x = v₀cosα·t bağıntısından t = x / (v₀cosα).
• Yerine koy: bu t'yi y = v₀sinα·t − ½g·t² denkleminde kullan.
• Sadeleştir: ilk terim x·sinα/cosα = x·tanα olur, ikinci terim x²'li kalır.
y = x·tanα − k·x²   k = g / (2·v₀²·cos²α)
Bu, y = ax − bx² biçiminde bir parabol denklemidir. Yörüngenin parabol olmasının sebebi budur: bir eksende zamanla doğrusal, diğerinde zamanın karesiyle değişen bir hareket.
Grafik | Şekli | Eğimi | Altındaki alan
x – t | Orijinden geçen doğru | vx (sabit) | —
y – t | Aşağı açılan parabol | O andaki vy | —
vx – t | Zaman eksenine paralel doğru | ax = 0 | Yatay yol (x)
vy – t | Azalan doğru | −g | Düşey yer değiştirme
vy – t doğrusunun zaman eksenini kestiği an tepe noktasıdır. O ana kadarki üçgenin alanı çıkılan yüksekliği, sonrasındaki (negatif) alan ise inilen yüksekliği verir. Aynı yükseklikte başlayıp bitiyorsa iki alan eşittir. Sayfadaki laboratuvarın altında bu dört grafik sen izlerken çizilir. “Yatay atış · 30 m'den” hazır deneyinde y – t parabolünün tepesi tam başlangıç anındadır: yatay atış, tepesinden başlayan bir eğik atıştır.
Görsel: Dört grafik, iki bağımsız hareketin dört yüzü. Yatayda x–t doğru, vₓ–t sabittir; düşeyde y–t parabol, vy–t azalan doğrudur. vy–t doğrusunun zaman eksenini kestiği an tam olarak tepe noktasıdır; o ana kadarki üçgenin alanı çıkılan yüksekliği, sonrasındaki alan inilen yüksekliği verir.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3 — İleri: Derinleşme: yüksekten atış, düşen bir hedefe nişan, hava direnci ve atışların gerçek hayattaki yüzü.
10 Yüksekten atış: 45° artık en iyi değil
11 Düşen hedefe nişan: bağımsızlığın en şaşırtıcı sonucu
12 Hava direnci işe karışınca: modelin sınırları
13 Atışlar gerçek dünyada
Görsel: Uzun atlama bir eğik atıştır. Sporcu tahtadan ayrıldığı anda üzerinde yalnızca ağırlığı (ve küçük bir hava direnci) kalır; ağırlık merkezi bir parabol çizer. Havada kollarını ve bacaklarını nasıl savurursa savursun bu yayı değiştiremez: atlayışın uzunluğunu kalkıştaki hız ve açı belirler.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Yüksekten atış: 45° artık en iyi değil
Kısaca: Atış noktası iniş noktasından yüksekse süre ikinci dereceden denklemden bulunur ve en uzun menzil 45°'nin altındaki bir açıda alınır. Yükseklik ilk hıza göre büyüdükçe bu açı küçülür.
Atış noktası iniş noktasından h kadar yüksekse simetri bozulur: cisim atıldığı hizaya döndükten sonra h kadar daha düşer. Bu durumda R = v₀²·sin2α/g kullanılamaz; uçuş süresini cismin yere değdiği an yazılan düşey denklemden bulursun. Yukarıyı pozitif alırsan:
h + v₀ᵧ·t − ½·g·t² = 0   R = v₀ₓ · t
Bu ikinci dereceden denklemin iki kökü çıkar; negatif olanı atıştan önceki bir anı gösterir ve atılır. Şimdi 20 m yükseklikteki bir kuleden topu hep 10 m/s ile, ama farklı açılarla attığını düşün (g = 10 m/s²):
Açı | Uçuş süresi | Menzil
0° (yatay) | 2 s | 20 m
15° | ≈ 2,28 s | ≈ 22,0 m
≈ 24° | ≈ 2,45 s | ≈ 22,4 m (en uzun)
30° | ≈ 2,56 s | ≈ 22,2 m
45° | ≈ 2,83 s | 20 m
Şaşırtıcı bir sonuç: bu kulede 45°'lik atış, yatay atıştan daha uzağa gitmiyor; ikisi de 20 m'ye düşüyor. En uzun menzil yaklaşık 24°'de. Neden? Cisim zaten yüksekten düşeceği için havada kalma süresini artırmaya pek gerek yoktur; hızın büyük kısmını yataya vermek daha kârlıdır. Aynı kuleden 20 m/s ile atınca en iyi açı yaklaşık 35°'ye çıkar: ilk hız yüksekliğe göre büyüdükçe en iyi açı 45°'ye yaklaşır.
Düşün: Bu kulede yatay atış ile 45°'lik atış aynı yere düşüyor. Hangisi yere daha hızlı çarpar?
Cevap: İkisi de aynı süratle çarpar. v² = v₀² + 2gh bağıntısında atış açısı hiç geçmez: v² = 100 + 400 = 500, v ≈ 22,4 m/s. Açı yalnızca çarpma yönünü ve havada kalma süresini değiştirir.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Bu kulede yatay atış ile 45°'lik atış aynı yere düşüyor. Hangisi yere daha hızlı çarpar?
Sınıfa sorun, birkaç tahmin alın; sonra cevap slaytına geçin.
Cevap: İkisi de aynı süratle çarpar. v² = v₀² + 2gh bağıntısında atış açısı hiç geçmez: v² = 100 + 400 = 500, v ≈ 22,4 m/s. Açı yalnızca çarpma yönünü ve havada kalma süresini değiştirir.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İkisi de aynı süratle çarpar. v² = v₀² + 2gh bağıntısında atış açısı hiç geçmez: v² = 100 + 400 = 500, v ≈ 22,4 m/s. Açı yalnızca çarpma yönünü ve havada kalma süresini değiştirir.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Düşen hedefe nişan: bağımsızlığın en şaşırtıcı sonucu
Kısaca: Aynı anda serbest kalan mermi ve hedef, aynı sürede aynı ½·g·t² kadar düşer. Bu yüzden düşen hedefe doğrudan nişan alınırsa mermi, hedef yere değmeden varmak koşuluyla isabet eder.
Fizik derslerinin klasik bir düşünce deneyi: bir avcı, daldan sarkan bir maymuna doğrudan nişan alır. Maymun, silah ateşlendiği anda kendini bırakır. Avcı nişanını düzeltmeli mi? Sezgi “maymun aşağı kaçtığına göre mermi üstünden geçer” der. Oysa mermi yine maymuna isabet eder — yeter ki maymun yere değmeden önce mermi ona ulaşsın.
Sebebi bağımsızlık ilkesidir. Yerçekimi olmasaydı mermi namlunun gösterdiği düz çizgi boyunca gider ve maymunun ilk bulunduğu noktaya varırdı. Yerçekimi, mermiyi bu düz çizginin altına her an ½·g·t² kadar indirir. Maymun da aynı anda serbest düşmeye başladığı için kendi ilk yerinin tam ½·g·t² kadar altındadır. İkisi aynı sürede aynı miktar düştüğünden buluşurlar.
mermi: düz çizgi − ½·g·t²   hedef: ilk yer − ½·g·t²
• Sayılarla: 100 m ötedeki hedefe 200 m/s'lik mermi 0,5 s'de varır; bu sürede ikisi de ½·10·0,5² = 1,25 m düşer.
• Açı fark etmez: nişan eğik de olsa sonuç aynıdır; iki cisim de düz çizgiden aynı miktarda sapar.
• Hız fark etmez: mermi yavaşsa ikisi daha çok düşer ama yine buluşur; yeter ki hedef yere değmeden varsın.
Düşün: Maymun kendini bırakmasaydı, 200 m/s'lik mermi 100 m ötede ona göre nereden geçerdi?
Cevap: Maymunun yaklaşık 1,25 m altından. Mermi 0,5 s içinde düz nişan çizgisinin 1,25 m altına iner; yerinde kalan hedef ise nişan çizgisinin üzerinde durur. Düşen hedefi vuran şey, yerinde kalan hedefi ıskalatan şeyle aynıdır: yerçekimi.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Maymun kendini bırakmasaydı, 200 m/s'lik mermi 100 m ötede ona göre nereden geçerdi?
Sınıfa sorun, birkaç tahmin alın; sonra cevap slaytına geçin.
Cevap: Maymunun yaklaşık 1,25 m altından. Mermi 0,5 s içinde düz nişan çizgisinin 1,25 m altına iner; yerinde kalan hedef ise nişan çizgisinin üzerinde durur. Düşen hedefi vuran şey, yerinde kalan hedefi ıskalatan şeyle aynıdır: yerçekimi.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Maymunun yaklaşık 1,25 m altından. Mermi 0,5 s içinde düz nişan çizgisinin 1,25 m altına iner; yerinde kalan hedef ise nişan çizgisinin üzerinde durur. Düşen hedefi vuran şey, yerinde kalan hedefi ıskalatan şeyle aynıdır: yerçekimi.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Hava direnci işe karışınca: modelin sınırları
Kısaca: Hava direnci yatay hızı da azaltır; menzil kısalır, iniş çıkıştan dik ve uzun olur, en iyi açı 45°'nin altına iner. Ağır ve yavaş cisimlerde parabol modeli yine çok iyi çalışır.
Buraya kadar hava direncini ihmal ettik. Bu, ağır ve yavaş cisimler için çok iyi bir yaklaşımdır: birkaç metreden atılan bir taş ya da bilye, hesapladığımız parabolü neredeyse birebir izler. Ama hız büyüdükçe ya da cisim hafifleyip genişledikçe hava direnci ağırlığın yanında önemli hâle gelir ve yörünge parabolden uzaklaşır. Hava direnci hızla büyüyen ve harekete ters yönlü bir kuvvettir; bu yüzden hem yatay hem düşey hareketi etkiler.
• Yatay hız sabit kalmaz: direnç yatayda da etki ettiği için cisim ileri giderken yavaşlar.
• Menzil kısalır: gerçek top, havasız ortamdaki menzilinin belirgin biçimde altında kalır.
• Simetri bozulur: iniş çıkıştan daha dik olur ve daha uzun sürer.
• En iyi açı küçülür: hızlı ve hafif toplarda en uzun menzil 45°'nin altındaki açılarda alınır.
• Kütle yeniden önem kazanır: aynı boyutta ağır top, direnci ağırlığına oranla daha az hisseder.
Bir örnek fikir versin: havasız bir ortamda 40 m/s ile 45°'de atılan bir top R = 1600/10 = 160 m giderdi. Gerçek bir top bu hızda havayla o kadar güçlü etkileşir ki bu uzaklığın çok gerisinde kalır. Badminton topu ya da pinpon topu gibi hafif cisimlerde fark çok daha büyüktür. Hava direncinin ayrıntıları bu ünitenin “Limit hız” konusunda.
Düşün: Hava direnci varken eğik atılan bir topun çıkışı mı daha uzun sürer, inişi mi?
Cevap: İnişi. Çıkarken ağırlık da direnç de aşağı yönlüdür, top çabuk yavaşlar. İnerken direnç yukarı yönlüdür ve ağırlığın bir kısmını götürür; top daha yavaş hızlanır. Bu yüzden iniş daha uzun sürer ve yörünge inişte dikleşir.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Atışlar gerçek dünyada
Kısaca: Uzun atlamadan havadan yardıma, basketboldan fıskiyelere kadar atışlar yatayda sabit hız, düşeyde sabit ivme kuralıyla çözülür. Gerçek en iyi açıyı hava direnci ve vücudun sınırları da belirler.
Atış hareketi yalnızca ders kitabı problemi değildir; sporda, kurtarma çalışmalarında ve mühendislikte her gün hesaplanır. Hepsinde aynı iki kural işler: yatayda sabit hız, düşeyde sabit ivme. Gerçek sayılar ise modelin nerede yeterli, nerede eksik kaldığını gösterir.
Görsel: Uzun atlama bir eğik atıştır. Sporcu tahtadan ayrıldığı anda üzerinde yalnızca ağırlığı (ve küçük bir hava direnci) kalır; ağırlık merkezi bir parabol çizer. Havada kollarını ve bacaklarını nasıl savurursa savursun bu yayı değiştiremez: atlayışın uzunluğunu kalkıştaki hız ve açı belirler.
• Uzun atlama: sporcular tahtadan yaklaşık 9–10 m/s hızla ama 45° değil, 20° civarında ayrılır; koşudan gelen hızı dikleşerek harcamak kârlı değildir.
• Havadan yardım: 500 m yükseklikte 100 m/s ile uçan uçaktan bırakılan paket 10 s düşer ve yatayda 1 km gider; hedeften 1 km önce bırakılır.
• Basketbol: çember yerden 3,05 m yüksektedir. Yüksek kavisli şut çembere dik iner; çemberin ağzı topa daha geniş görünür, hata payı artar.
• Ay'da atış: Ay'da g yaklaşık altı kat küçüktür; 25 m/s ve 45° ile atılan cismin menzili 63,7 m'den yaklaşık 386 m'ye çıkar.
• Fıskiyeler: su jetleri de birer atıştır. Düşey 10 m/s ile fışkıran su v₀²/(2g) = 5 m yükselir; tasarımcı yüksekliği bu bağıntıyla seçer.
Havadan yardım örneğinde bir ayrıntı daha var: paket yere değdiğinde uçak tam onun üstündedir, çünkü ikisinin yatay hızı hep aynıdır. Ay örneğini laboratuvardaki “Ay'da 45°” hazır deneyiyle kendin görebilirsin; cisim havada yaklaşık 22 saniye kalır.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4 — Pekiştir: Kolaydan zora çözümlü örnekler ve sınavda puan kaybettiren klasik hatalar.
14 Çözümlü örnekler
15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Masadan yuvarlanan bilye (kolay)
Aşağıdaki çözümlerde g = 10 m/s² alınmış, hava direnci ihmal edilmiştir.
0,8 m yüksekliğindeki bir masanın kenarından yatay olarak yuvarlanan bilye, masanın ayağından 1,2 m ötede yere düşüyor. (a) Düşme süresini, (b) bilyenin masadan ayrılma süratini, (c) yere çarpma süratini bulunuz.
1. (a) Düşeyde serbest düşme: 0,8 = ½·10·t² → t² = 0,16 → t = 0,4 s
2. (b) Yatayda sabit hız: v₀ = x / t = 1,2 / 0,4 = 3 m/s
3. (c) vy = g·t = 4 m/s → v = √(3² + 4²) = 5 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80 m yüksekten yatay atış (kolay)
Aşağıdaki çözümlerde g = 10 m/s² alınmış, hava direnci ihmal edilmiştir.
80 m yüksekliğindeki bir kuleden yatay doğrultuda 30 m/s süratle atılan cisim için: (a) uçuş süresini, (b) menzili, (c) yere çarpma süratini bulunuz.
1. (a) Düşey hareket serbest düşmedir: 80 = ½·10·t² → t² = 16 → t = 4 s
2. (b) Yatayda sabit hız: x = 30 · 4 = 120 m
3. (c) vy = g·t = 40 m/s, vx = 30 m/s → v = √(30² + 40²) = 50 m/s. Yerle yaptığı açı: tanθ = 40/30 → θ ≈ 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53° ile eğik atış (orta)
Aşağıdaki çözümlerde g = 10 m/s² alınmış, hava direnci ihmal edilmiştir.
Yerden 50 m/s süratle, yatayla 53° açı yapacak şekilde atılan cisim için: (a) tepe noktasına çıkma süresini, (b) maksimum yüksekliği, (c) menzili bulunuz. (sin53° = 0,8 · cos53° = 0,6)
1. Bileşenler: v₀ₓ = 50·0,6 = 30 m/s, v₀ᵧ = 50·0,8 = 40 m/s
2. (a) Tepede vy = 0 → 0 = 40 − 10·t → t = 4 s
3. (b) h = 40²/(2·10) = 80 m
4. (c) Uçuş süresi 2·4 = 8 s → R = 30 · 8 = 240 m
Kontrol: R = v₀²·sin2α / g = 2500 · sin106° / 10 ≈ 2500 · 0,96 / 10 = 240 m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Aynı süratle farklı açılar (orta)
Aşağıdaki çözümlerde g = 10 m/s² alınmış, hava direnci ihmal edilmiştir.
20 m/s süratle atılan bir cismin 30°, 45° ve 60° için menzillerini karşılaştırınız.
1. R = v₀²·sin2α / g = 400·sin2α / 10 = 40·sin2α
2. 30° → 40·sin60° = 40·0,866 ≈ 34,6 m
3. 45° → 40·sin90° = 40 m (en uzun)
4. 60° → 40·sin120° = 40·0,866 ≈ 34,6 m — 30° ile aynı!
5. Uçuş süreleri farklıdır: 30° için 2 s, 60° için 3,46 s. Aynı yere düşerler, ama biri diğerinden çok daha uzun havada kalır.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Uçaktan bırakılan yardım paketi (orta)
Aşağıdaki çözümlerde g = 10 m/s² alınmış, hava direnci ihmal edilmiştir.
500 m yükseklikte, yatay doğrultuda 100 m/s süratle uçan bir uçak yere bir yardım paketi bırakacak. (a) Paket kaç saniyede yere iner? (b) Uçak, hedefin kaç metre gerisindeyken paketi bırakmalıdır? (c) Paket yere değdiğinde uçak nerededir?
1. Paket bırakıldığı anda uçağın yatay hızına sahiptir: v₀ = 100 m/s, v₀ᵧ = 0 (yatay atış).
2. (a) 500 = ½·10·t² → t² = 100 → t = 10 s
3. (b) x = 100 · 10 = 1000 m; paket hedeften 1 km önce bırakılmalıdır.
4. (c) Uçak da 10 s'de 1000 m gider: paket yere değdiğinde uçak tam üstündedir.
5. Çarpma: vy = 100 m/s → v = √(100² + 100²) ≈ 141 m/s, yerle 45° açıyla.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Top duvarın üstünden geçer mi? (zor)
Aşağıdaki çözümlerde g = 10 m/s² alınmış, hava direnci ihmal edilmiştir.
Yerden 25 m/s süratle, yatayla 37° açıyla atılan bir top, 20 m ötedeki 8 m yüksekliğindeki bir duvara doğru gidiyor. (a) Top duvarı aşar mı? (b) Duvarın hizasından geçerken yükselmekte mi, alçalmakta mıdır? (c) Duvar olmasaydı top nereye düşerdi? (sin37° = 0,6 · cos37° = 0,8)
1. Bileşenler: v₀ₓ = 25·0,8 = 20 m/s, v₀ᵧ = 25·0,6 = 15 m/s
2. Duvara varış: t = 20 / 20 = 1 s
3. (a) O andaki yükseklik: y = 15·1 − 5·1² = 10 m &gt; 8 m → top duvarı 2 m farkla aşar.
4. (b) vy = 15 − 10·1 = +5 m/s &gt; 0 → top hâlâ yükselmektedir (tepeye 1,5 s'de varır).
5. (c) Uçuş süresi 2·15/10 = 3 s → R = 20 · 3 = 60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Yükseklikten eğik atış (zor)
Aşağıdaki çözümlerde g = 10 m/s² alınmış, hava direnci ihmal edilmiştir.
20 m yüksekliğindeki bir çatıdan, yatayla 37° açıyla 25 m/s süratle atılan cisim için: (a) yere çarpma süresini, (b) yatay uzaklığı, (c) çarpma süratini bulunuz. (sin37° = 0,6 · cos37° = 0,8)
1. Bileşenler: v₀ₓ = 25·0,8 = 20 m/s, v₀ᵧ = 25·0,6 = 15 m/s
2. (a) Yere değince y = 0: 20 + 15t − 5t² = 0 → t² − 3t − 4 = 0 → (t − 4)(t + 1) = 0 → t = 4 s
3. (b) x = 20 · 4 = 80 m
4. (c) vy = 15 − 10·4 = −25 m/s (aşağı), vx = 20 m/s → v = √(20² + 25²) = √1025 ≈ 32 m/s
5. Kısa yol: v² = v₀² + 2gh = 625 + 2·10·20 = 1025 ✓ (yükseklik farkı aynıysa atış açısı sürati değiştirmez)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“Tepe noktada hız sıfırdır.” Sıfırlanan yalnızca vy'dir; yatay bileşen v₀cosα devam eder. Yalnızca düşey atışta (α = 90°) hız tümüyle sıfırlanır.
• “Tepe noktada ivme sıfırdır.” İvme hareket boyunca sabittir: g, aşağı yönde.
• “Yatay hız düşme süresini etkiler.” Etkilemez. Süre yalnızca düşey harekete, yani yüksekliğe, v₀ᵧ'ye ve g'ye bağlıdır.
• İvmeyi yörüngeye teğet sanmak. Teğet olan hızdır; ivme her noktada düşeydir.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Menzil formülünü her yerde kullanmak. R = v₀²sin2α/g yalnızca atış ve iniş aynı yükseklikteyse geçerlidir.
• Bileşenleri skaler toplamak. v = √(vx² + vy²); vx + vy değil.
• sinüs ile kosinüsü karıştırmak. Açı yatayla ölçülüyorsa yatay bileşen kosinüslü, düşey bileşen sinüslüdür. Açı düşeyle veriliyorsa tam tersi.
• Kütleyi hesaba katmak. Hiçbir bağıntıda m yoktur; hava direnci ihmal edildiği sürece ağır cisim de hafif cisim de aynı yörüngeyi çizer.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Özet: Yatayda ax = 0 · Düşeyde ay = g · Yörünge parabol · En uzun menzil 45°
x = v₀·cosα · t — yatayda sabit hız
y = v₀·sinα · t − ½g·t² — düşeyde sabit ivme
R = v₀²·sin2α / g — aynı yükseklikte menzil
h = v₀²·sin²α / (2g) — tepe yüksekliği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6"/>
        </a:solidFill>
      </p:bgPr>
    </p:bg>
    <p:spTree>
      <p:nvGrpSpPr>
        <p:cNvPr id="1" name=""/>
        <p:cNvGrpSpPr/>
        <p:nvPr/>
      </p:nvGrpSpPr>
      <p:grpSpPr>
        <a:xfrm>
          <a:off x="0" y="0"/>
          <a:ext cx="0" cy="0"/>
          <a:chOff x="0" y="0"/>
          <a:chExt cx="0" cy="0"/>
        </a:xfrm>
      </p:grpSpPr>
      <p:pic>
        <p:nvPicPr>
          <p:cNvPr id="2" name="Image 0" descr="/tmp/claude-1000/-opt-dersler/8a8328c3-841c-44fa-b76f-82572d338d3d/scratchpad/d5/sek/iki-boyutta-hareket-kapak.jpg">    </p:cNvPr>
          <p:cNvPicPr>
            <a:picLocks noChangeAspect="1"/>
          </p:cNvPicPr>
          <p:nvPr/>
        </p:nvPicPr>
        <p:blipFill>
          <a:blip r:embed="rId1"/>
          <a:stretch>
            <a:fillRect/>
          </a:stretch>
        </p:blipFill>
        <p:spPr>
          <a:xfrm>
            <a:off x="4967935" y="0"/>
            <a:ext cx="7223760" cy="6858000"/>
          </a:xfrm>
          <a:prstGeom prst="rect">
            <a:avLst/>
          </a:prstGeom>
        </p:spPr>
      </p:pic>
      <p:sp>
        <p:nvSpPr>
          <p:cNvPr id="3" name="Shape 0"/>
          <p:cNvSpPr/>
          <p:nvPr/>
        </p:nvSpPr>
        <p:spPr>
          <a:xfrm>
            <a:off x="868680" y="822960"/>
            <a:ext cx="310896" cy="310896"/>
          </a:xfrm>
          <a:prstGeom prst="roundRect">
            <a:avLst>
              <a:gd name="adj" fmla="val 29412"/>
            </a:avLst>
          </a:prstGeom>
          <a:solidFill>
            <a:srgbClr val="A9E648"/>
          </a:solidFill>
          <a:ln/>
        </p:spPr>
      </p:sp>
      <p:sp>
        <p:nvSpPr>
          <p:cNvPr id="4" name="Text 1"/>
          <p:cNvSpPr txBox="1"/>
          <p:nvPr/>
        </p:nvSpPr>
        <p:spPr>
          <a:xfrm>
            <a:off x="1280160" y="822960"/>
            <a:ext cx="365760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Dersler</a:t>
            </a:r>
            <a:pPr indent="0" marL="0">
              <a:buNone/>
            </a:pPr>
            <a:r>
              <a:rPr lang="en-US" sz="1250" dirty="0">
                <a:solidFill>
                  <a:srgbClr val="8D97B5"/>
                </a:solidFill>
                <a:latin typeface="Calibri" pitchFamily="34" charset="0"/>
                <a:ea typeface="Calibri" pitchFamily="34" charset="-122"/>
                <a:cs typeface="Calibri" pitchFamily="34" charset="-120"/>
              </a:rPr>
              <a:t>  ·  fizik</a:t>
            </a:r>
            <a:endParaRPr lang="en-US" sz="1250" dirty="0"/>
          </a:p>
        </p:txBody>
      </p:sp>
      <p:sp>
        <p:nvSpPr>
          <p:cNvPr id="5" name="Shape 2"/>
          <p:cNvSpPr/>
          <p:nvPr/>
        </p:nvSpPr>
        <p:spPr>
          <a:xfrm>
            <a:off x="640080" y="1965960"/>
            <a:ext cx="54864" cy="1097280"/>
          </a:xfrm>
          <a:prstGeom prst="rect">
            <a:avLst/>
          </a:prstGeom>
          <a:solidFill>
            <a:srgbClr val="C6F36B"/>
          </a:solidFill>
          <a:ln/>
        </p:spPr>
      </p:sp>
      <p:sp>
        <p:nvSpPr>
          <p:cNvPr id="6" name="Text 3"/>
          <p:cNvSpPr txBox="1"/>
          <p:nvPr/>
        </p:nvSpPr>
        <p:spPr>
          <a:xfrm>
            <a:off x="868680" y="1554480"/>
            <a:ext cx="5852160" cy="320040"/>
          </a:xfrm>
          <a:prstGeom prst="rect">
            <a:avLst/>
          </a:prstGeom>
          <a:noFill/>
          <a:ln/>
        </p:spPr>
        <p:txBody>
          <a:bodyPr wrap="square" lIns="0" tIns="0" rIns="0" bIns="0" rtlCol="0" anchor="ctr"/>
          <a:lstStyle/>
          <a:p>
            <a:pPr indent="0" marL="0">
              <a:buNone/>
            </a:pPr>
            <a:r>
              <a:rPr lang="en-US" sz="1300" b="1" spc="300" kern="0" dirty="0">
                <a:solidFill>
                  <a:srgbClr val="C6F36B"/>
                </a:solidFill>
                <a:latin typeface="Calibri" pitchFamily="34" charset="0"/>
                <a:ea typeface="Calibri" pitchFamily="34" charset="-122"/>
                <a:cs typeface="Calibri" pitchFamily="34" charset="-120"/>
              </a:rPr>
              <a:t>KUVVET VE HAREKET · KONU 02</a:t>
            </a:r>
            <a:endParaRPr lang="en-US" sz="1300" dirty="0"/>
          </a:p>
        </p:txBody>
      </p:sp>
      <p:sp>
        <p:nvSpPr>
          <p:cNvPr id="7" name="Text 4"/>
          <p:cNvSpPr txBox="1"/>
          <p:nvPr/>
        </p:nvSpPr>
        <p:spPr>
          <a:xfrm>
            <a:off x="822960" y="1920240"/>
            <a:ext cx="5120640" cy="1188720"/>
          </a:xfrm>
          <a:prstGeom prst="rect">
            <a:avLst/>
          </a:prstGeom>
          <a:noFill/>
          <a:ln/>
        </p:spPr>
        <p:txBody>
          <a:bodyPr wrap="square" lIns="0" tIns="0" rIns="0" bIns="0" rtlCol="0" anchor="ctr"/>
          <a:lstStyle/>
          <a:p>
            <a:pPr indent="0" marL="0">
              <a:buNone/>
            </a:pPr>
            <a:r>
              <a:rPr lang="en-US" sz="3900" b="1" spc="-100" kern="0" dirty="0">
                <a:solidFill>
                  <a:srgbClr val="FFFFFF"/>
                </a:solidFill>
                <a:latin typeface="Cambria" pitchFamily="34" charset="0"/>
                <a:ea typeface="Cambria" pitchFamily="34" charset="-122"/>
                <a:cs typeface="Cambria" pitchFamily="34" charset="-120"/>
              </a:rPr>
              <a:t>İki boyutta sabit ivmeli hareket</a:t>
            </a:r>
            <a:endParaRPr lang="en-US" sz="3900" dirty="0"/>
          </a:p>
        </p:txBody>
      </p:sp>
      <p:sp>
        <p:nvSpPr>
          <p:cNvPr id="8" name="Text 5"/>
          <p:cNvSpPr txBox="1"/>
          <p:nvPr/>
        </p:nvSpPr>
        <p:spPr>
          <a:xfrm>
            <a:off x="868680" y="3291840"/>
            <a:ext cx="4754880" cy="1371600"/>
          </a:xfrm>
          <a:prstGeom prst="rect">
            <a:avLst/>
          </a:prstGeom>
          <a:noFill/>
          <a:ln/>
        </p:spPr>
        <p:txBody>
          <a:bodyPr wrap="square" lIns="0" tIns="0" rIns="0" bIns="0" rtlCol="0" anchor="t"/>
          <a:lstStyle/>
          <a:p>
            <a:pPr indent="0" marL="0">
              <a:lnSpc>
                <a:spcPct val="125000"/>
              </a:lnSpc>
              <a:buNone/>
            </a:pPr>
            <a:r>
              <a:rPr lang="en-US" sz="1300" dirty="0">
                <a:solidFill>
                  <a:srgbClr val="C3CEE8"/>
                </a:solidFill>
                <a:latin typeface="Calibri" pitchFamily="34" charset="0"/>
                <a:ea typeface="Calibri" pitchFamily="34" charset="-122"/>
                <a:cs typeface="Calibri" pitchFamily="34" charset="-120"/>
              </a:rPr>
              <a:t>Havaya fırlatılan bir cisim aslında iki hareketi aynı anda yapar: yatayda hiç hızlanmadan gider, düşeyde serbest düşer. İkisi birbirine karışmaz; tek ortak değişkenleri zamandır. Aşağıda bu iki hareketi ayrı ayrı görebilir, sonra birleştirip parabolü elde edebilirsin.</a:t>
            </a:r>
            <a:endParaRPr lang="en-US" sz="1300" dirty="0"/>
          </a:p>
        </p:txBody>
      </p:sp>
      <p:sp>
        <p:nvSpPr>
          <p:cNvPr id="9" name="Shape 6"/>
          <p:cNvSpPr/>
          <p:nvPr/>
        </p:nvSpPr>
        <p:spPr>
          <a:xfrm>
            <a:off x="868680"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0" name="Shape 7"/>
          <p:cNvSpPr/>
          <p:nvPr/>
        </p:nvSpPr>
        <p:spPr>
          <a:xfrm>
            <a:off x="978408" y="5020056"/>
            <a:ext cx="45720" cy="310896"/>
          </a:xfrm>
          <a:prstGeom prst="rect">
            <a:avLst/>
          </a:prstGeom>
          <a:solidFill>
            <a:srgbClr val="C6F36B"/>
          </a:solidFill>
          <a:ln/>
        </p:spPr>
      </p:sp>
      <p:sp>
        <p:nvSpPr>
          <p:cNvPr id="11" name="Text 8"/>
          <p:cNvSpPr txBox="1"/>
          <p:nvPr/>
        </p:nvSpPr>
        <p:spPr>
          <a:xfrm>
            <a:off x="1124712" y="4892040"/>
            <a:ext cx="841248" cy="566928"/>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1  </a:t>
            </a:r>
            <a:pPr indent="0" marL="0">
              <a:buNone/>
            </a:pPr>
            <a:r>
              <a:rPr lang="en-US" sz="1300" b="1" dirty="0">
                <a:solidFill>
                  <a:srgbClr val="FFFFFF"/>
                </a:solidFill>
                <a:latin typeface="Calibri" pitchFamily="34" charset="0"/>
                <a:ea typeface="Calibri" pitchFamily="34" charset="-122"/>
                <a:cs typeface="Calibri" pitchFamily="34" charset="-120"/>
              </a:rPr>
              <a:t>Temel</a:t>
            </a:r>
            <a:endParaRPr lang="en-US" sz="1300" dirty="0"/>
          </a:p>
        </p:txBody>
      </p:sp>
      <p:sp>
        <p:nvSpPr>
          <p:cNvPr id="12" name="Shape 9"/>
          <p:cNvSpPr/>
          <p:nvPr/>
        </p:nvSpPr>
        <p:spPr>
          <a:xfrm>
            <a:off x="2075688"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3" name="Shape 10"/>
          <p:cNvSpPr/>
          <p:nvPr/>
        </p:nvSpPr>
        <p:spPr>
          <a:xfrm>
            <a:off x="2185416" y="5020056"/>
            <a:ext cx="45720" cy="310896"/>
          </a:xfrm>
          <a:prstGeom prst="rect">
            <a:avLst/>
          </a:prstGeom>
          <a:solidFill>
            <a:srgbClr val="82AAFF"/>
          </a:solidFill>
          <a:ln/>
        </p:spPr>
      </p:sp>
      <p:sp>
        <p:nvSpPr>
          <p:cNvPr id="14" name="Text 11"/>
          <p:cNvSpPr txBox="1"/>
          <p:nvPr/>
        </p:nvSpPr>
        <p:spPr>
          <a:xfrm>
            <a:off x="2331720" y="4892040"/>
            <a:ext cx="841248" cy="566928"/>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2  </a:t>
            </a:r>
            <a:pPr indent="0" marL="0">
              <a:buNone/>
            </a:pPr>
            <a:r>
              <a:rPr lang="en-US" sz="1300" b="1" dirty="0">
                <a:solidFill>
                  <a:srgbClr val="FFFFFF"/>
                </a:solidFill>
                <a:latin typeface="Calibri" pitchFamily="34" charset="0"/>
                <a:ea typeface="Calibri" pitchFamily="34" charset="-122"/>
                <a:cs typeface="Calibri" pitchFamily="34" charset="-120"/>
              </a:rPr>
              <a:t>Orta</a:t>
            </a:r>
            <a:endParaRPr lang="en-US" sz="1300" dirty="0"/>
          </a:p>
        </p:txBody>
      </p:sp>
      <p:sp>
        <p:nvSpPr>
          <p:cNvPr id="15" name="Shape 12"/>
          <p:cNvSpPr/>
          <p:nvPr/>
        </p:nvSpPr>
        <p:spPr>
          <a:xfrm>
            <a:off x="3282696"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6" name="Shape 13"/>
          <p:cNvSpPr/>
          <p:nvPr/>
        </p:nvSpPr>
        <p:spPr>
          <a:xfrm>
            <a:off x="3392424" y="5020056"/>
            <a:ext cx="45720" cy="310896"/>
          </a:xfrm>
          <a:prstGeom prst="rect">
            <a:avLst/>
          </a:prstGeom>
          <a:solidFill>
            <a:srgbClr val="A093FF"/>
          </a:solidFill>
          <a:ln/>
        </p:spPr>
      </p:sp>
      <p:sp>
        <p:nvSpPr>
          <p:cNvPr id="17" name="Text 14"/>
          <p:cNvSpPr txBox="1"/>
          <p:nvPr/>
        </p:nvSpPr>
        <p:spPr>
          <a:xfrm>
            <a:off x="3538728" y="4892040"/>
            <a:ext cx="841248" cy="566928"/>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3  </a:t>
            </a:r>
            <a:pPr indent="0" marL="0">
              <a:buNone/>
            </a:pPr>
            <a:r>
              <a:rPr lang="en-US" sz="1300" b="1" dirty="0">
                <a:solidFill>
                  <a:srgbClr val="FFFFFF"/>
                </a:solidFill>
                <a:latin typeface="Calibri" pitchFamily="34" charset="0"/>
                <a:ea typeface="Calibri" pitchFamily="34" charset="-122"/>
                <a:cs typeface="Calibri" pitchFamily="34" charset="-120"/>
              </a:rPr>
              <a:t>İleri</a:t>
            </a:r>
            <a:endParaRPr lang="en-US" sz="1300" dirty="0"/>
          </a:p>
        </p:txBody>
      </p:sp>
      <p:sp>
        <p:nvSpPr>
          <p:cNvPr id="18" name="Shape 15"/>
          <p:cNvSpPr/>
          <p:nvPr/>
        </p:nvSpPr>
        <p:spPr>
          <a:xfrm>
            <a:off x="4489704"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9" name="Shape 16"/>
          <p:cNvSpPr/>
          <p:nvPr/>
        </p:nvSpPr>
        <p:spPr>
          <a:xfrm>
            <a:off x="4599432" y="5020056"/>
            <a:ext cx="45720" cy="310896"/>
          </a:xfrm>
          <a:prstGeom prst="rect">
            <a:avLst/>
          </a:prstGeom>
          <a:solidFill>
            <a:srgbClr val="FFCB6B"/>
          </a:solidFill>
          <a:ln/>
        </p:spPr>
      </p:sp>
      <p:sp>
        <p:nvSpPr>
          <p:cNvPr id="20" name="Text 17"/>
          <p:cNvSpPr txBox="1"/>
          <p:nvPr/>
        </p:nvSpPr>
        <p:spPr>
          <a:xfrm>
            <a:off x="4745736" y="4892040"/>
            <a:ext cx="841248" cy="566928"/>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4  </a:t>
            </a:r>
            <a:pPr indent="0" marL="0">
              <a:buNone/>
            </a:pPr>
            <a:r>
              <a:rPr lang="en-US" sz="1300" b="1" dirty="0">
                <a:solidFill>
                  <a:srgbClr val="FFFFFF"/>
                </a:solidFill>
                <a:latin typeface="Calibri" pitchFamily="34" charset="0"/>
                <a:ea typeface="Calibri" pitchFamily="34" charset="-122"/>
                <a:cs typeface="Calibri" pitchFamily="34" charset="-120"/>
              </a:rPr>
              <a:t>Pekiştir</a:t>
            </a:r>
            <a:endParaRPr lang="en-US" sz="1300" dirty="0"/>
          </a:p>
        </p:txBody>
      </p:sp>
      <p:sp>
        <p:nvSpPr>
          <p:cNvPr id="21" name="Shape 18"/>
          <p:cNvSpPr/>
          <p:nvPr/>
        </p:nvSpPr>
        <p:spPr>
          <a:xfrm>
            <a:off x="640080" y="6382512"/>
            <a:ext cx="128016" cy="128016"/>
          </a:xfrm>
          <a:prstGeom prst="roundRect">
            <a:avLst>
              <a:gd name="adj" fmla="val 28571"/>
            </a:avLst>
          </a:prstGeom>
          <a:solidFill>
            <a:srgbClr val="C6F36B"/>
          </a:solidFill>
          <a:ln/>
        </p:spPr>
      </p:sp>
      <p:sp>
        <p:nvSpPr>
          <p:cNvPr id="22"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dersler.perinet.org/iki-boyutta-hareket.html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Başlarken</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Konuya günlük bir soruyla giriyoruz.</a:t>
            </a:r>
            <a:endParaRPr lang="en-US" sz="1450" dirty="0"/>
          </a:p>
        </p:txBody>
      </p:sp>
      <p:sp>
        <p:nvSpPr>
          <p:cNvPr id="6" name="Shape 4"/>
          <p:cNvSpPr/>
          <p:nvPr/>
        </p:nvSpPr>
        <p:spPr>
          <a:xfrm>
            <a:off x="1188720" y="1828800"/>
            <a:ext cx="9814255" cy="3931920"/>
          </a:xfrm>
          <a:prstGeom prst="roundRect">
            <a:avLst>
              <a:gd name="adj" fmla="val 5116"/>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225296" y="2286000"/>
            <a:ext cx="64008" cy="3017520"/>
          </a:xfrm>
          <a:prstGeom prst="rect">
            <a:avLst/>
          </a:prstGeom>
          <a:solidFill>
            <a:srgbClr val="5F4BD8"/>
          </a:solidFill>
          <a:ln/>
        </p:spPr>
      </p:sp>
      <p:sp>
        <p:nvSpPr>
          <p:cNvPr id="8" name="Text 6"/>
          <p:cNvSpPr txBox="1"/>
          <p:nvPr/>
        </p:nvSpPr>
        <p:spPr>
          <a:xfrm>
            <a:off x="1828800" y="2194560"/>
            <a:ext cx="8534095" cy="3200400"/>
          </a:xfrm>
          <a:prstGeom prst="rect">
            <a:avLst/>
          </a:prstGeom>
          <a:noFill/>
          <a:ln/>
        </p:spPr>
        <p:txBody>
          <a:bodyPr wrap="square" lIns="0" tIns="0" rIns="0" bIns="0" rtlCol="0" anchor="ctr"/>
          <a:lstStyle/>
          <a:p>
            <a:pPr indent="0" marL="0">
              <a:lnSpc>
                <a:spcPct val="130000"/>
              </a:lnSpc>
              <a:buNone/>
            </a:pPr>
            <a:r>
              <a:rPr lang="en-US" sz="2400" dirty="0">
                <a:solidFill>
                  <a:srgbClr val="0E1426"/>
                </a:solidFill>
                <a:latin typeface="Cambria" pitchFamily="34" charset="0"/>
                <a:ea typeface="Cambria" pitchFamily="34" charset="-122"/>
                <a:cs typeface="Cambria" pitchFamily="34" charset="-120"/>
              </a:rPr>
              <a:t>Bir tüfekten yatay olarak atılan mermi ile namlunun ucundan aynı anda bırakılan bir mermi yere </a:t>
            </a:r>
            <a:pPr indent="0" marL="0">
              <a:lnSpc>
                <a:spcPct val="130000"/>
              </a:lnSpc>
              <a:buNone/>
            </a:pPr>
            <a:r>
              <a:rPr lang="en-US" sz="2400" b="1" dirty="0">
                <a:solidFill>
                  <a:srgbClr val="5F4BD8"/>
                </a:solidFill>
                <a:latin typeface="Cambria" pitchFamily="34" charset="0"/>
                <a:ea typeface="Cambria" pitchFamily="34" charset="-122"/>
                <a:cs typeface="Cambria" pitchFamily="34" charset="-120"/>
              </a:rPr>
              <a:t>aynı anda</a:t>
            </a:r>
            <a:pPr indent="0" marL="0">
              <a:lnSpc>
                <a:spcPct val="130000"/>
              </a:lnSpc>
              <a:buNone/>
            </a:pPr>
            <a:r>
              <a:rPr lang="en-US" sz="2400" dirty="0">
                <a:solidFill>
                  <a:srgbClr val="0E1426"/>
                </a:solidFill>
                <a:latin typeface="Cambria" pitchFamily="34" charset="0"/>
                <a:ea typeface="Cambria" pitchFamily="34" charset="-122"/>
                <a:cs typeface="Cambria" pitchFamily="34" charset="-120"/>
              </a:rPr>
              <a:t> iner — mermi yüzlerce metre öteye gitmiş olsa bile.</a:t>
            </a:r>
            <a:pPr indent="0" marL="0">
              <a:lnSpc>
                <a:spcPct val="130000"/>
              </a:lnSpc>
              <a:buNone/>
            </a:pPr>
            <a:r>
              <a:rPr lang="en-US" sz="24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400" dirty="0">
                <a:solidFill>
                  <a:srgbClr val="0E1426"/>
                </a:solidFill>
                <a:latin typeface="Cambria" pitchFamily="34" charset="0"/>
                <a:ea typeface="Cambria" pitchFamily="34" charset="-122"/>
                <a:cs typeface="Cambria" pitchFamily="34" charset="-120"/>
              </a:rPr>
              <a:t>Atış hareketlerinin tamamı bu tek fikrin üzerine kuruludur: </a:t>
            </a:r>
            <a:pPr indent="0" marL="0">
              <a:lnSpc>
                <a:spcPct val="130000"/>
              </a:lnSpc>
              <a:buNone/>
            </a:pPr>
            <a:r>
              <a:rPr lang="en-US" sz="2400" b="1" dirty="0">
                <a:solidFill>
                  <a:srgbClr val="5F4BD8"/>
                </a:solidFill>
                <a:latin typeface="Cambria" pitchFamily="34" charset="0"/>
                <a:ea typeface="Cambria" pitchFamily="34" charset="-122"/>
                <a:cs typeface="Cambria" pitchFamily="34" charset="-120"/>
              </a:rPr>
              <a:t>yatay hareket ile düşey hareket birbirini hiç etkilemez.</a:t>
            </a:r>
            <a:endParaRPr lang="en-US" sz="240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Bu derste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Dört basamak, kolaydan zora: önce sezgi, sonra bağıntılar, sonra derinleşme; en sonda pekiştirme.</a:t>
            </a:r>
            <a:endParaRPr lang="en-US" sz="1450" dirty="0"/>
          </a:p>
        </p:txBody>
      </p:sp>
      <p:sp>
        <p:nvSpPr>
          <p:cNvPr id="6" name="Shape 4"/>
          <p:cNvSpPr/>
          <p:nvPr/>
        </p:nvSpPr>
        <p:spPr>
          <a:xfrm>
            <a:off x="640080"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22960" y="1645920"/>
            <a:ext cx="2211248" cy="64008"/>
          </a:xfrm>
          <a:prstGeom prst="rect">
            <a:avLst/>
          </a:prstGeom>
          <a:solidFill>
            <a:srgbClr val="3C8C21"/>
          </a:solidFill>
          <a:ln/>
        </p:spPr>
      </p:sp>
      <p:sp>
        <p:nvSpPr>
          <p:cNvPr id="8" name="Shape 6"/>
          <p:cNvSpPr/>
          <p:nvPr/>
        </p:nvSpPr>
        <p:spPr>
          <a:xfrm>
            <a:off x="859536" y="1920240"/>
            <a:ext cx="420624" cy="420624"/>
          </a:xfrm>
          <a:prstGeom prst="roundRect">
            <a:avLst>
              <a:gd name="adj" fmla="val 26000"/>
            </a:avLst>
          </a:prstGeom>
          <a:solidFill>
            <a:srgbClr val="3C8C21"/>
          </a:solidFill>
          <a:ln/>
        </p:spPr>
      </p:sp>
      <p:sp>
        <p:nvSpPr>
          <p:cNvPr id="9" name="Text 7"/>
          <p:cNvSpPr txBox="1"/>
          <p:nvPr/>
        </p:nvSpPr>
        <p:spPr>
          <a:xfrm>
            <a:off x="859536"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408176"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Temel</a:t>
            </a:r>
            <a:endParaRPr lang="en-US" sz="1900" dirty="0"/>
          </a:p>
        </p:txBody>
      </p:sp>
      <p:sp>
        <p:nvSpPr>
          <p:cNvPr id="11" name="Text 9"/>
          <p:cNvSpPr txBox="1"/>
          <p:nvPr/>
        </p:nvSpPr>
        <p:spPr>
          <a:xfrm>
            <a:off x="859536" y="2487168"/>
            <a:ext cx="2138096" cy="868680"/>
          </a:xfrm>
          <a:prstGeom prst="rect">
            <a:avLst/>
          </a:prstGeom>
          <a:noFill/>
          <a:ln/>
        </p:spPr>
        <p:txBody>
          <a:bodyPr wrap="square" lIns="0" tIns="0" rIns="0" bIns="0" rtlCol="0" anchor="t"/>
          <a:lstStyle/>
          <a:p>
            <a:pPr indent="0" marL="0">
              <a:lnSpc>
                <a:spcPct val="110000"/>
              </a:lnSpc>
              <a:buNone/>
            </a:pPr>
            <a:r>
              <a:rPr lang="en-US" sz="1000" dirty="0">
                <a:solidFill>
                  <a:srgbClr val="4A5470"/>
                </a:solidFill>
                <a:latin typeface="Calibri" pitchFamily="34" charset="0"/>
                <a:ea typeface="Calibri" pitchFamily="34" charset="-122"/>
                <a:cs typeface="Calibri" pitchFamily="34" charset="-120"/>
              </a:rPr>
              <a:t>Önce sezgi: atılan bir cismin yoluna bak, hareketi iki eksene ayır ve iki eksenin neden birbirini etkilemediğini gör. Bu basamakta hesap yok denecek kadar az.</a:t>
            </a:r>
            <a:endParaRPr lang="en-US" sz="1000" dirty="0"/>
          </a:p>
        </p:txBody>
      </p:sp>
      <p:sp>
        <p:nvSpPr>
          <p:cNvPr id="12" name="Shape 10"/>
          <p:cNvSpPr/>
          <p:nvPr/>
        </p:nvSpPr>
        <p:spPr>
          <a:xfrm>
            <a:off x="859536" y="3429000"/>
            <a:ext cx="2138096" cy="0"/>
          </a:xfrm>
          <a:prstGeom prst="line">
            <a:avLst/>
          </a:prstGeom>
          <a:noFill/>
          <a:ln w="9525">
            <a:solidFill>
              <a:srgbClr val="E1E5EE"/>
            </a:solidFill>
            <a:prstDash val="dash"/>
          </a:ln>
        </p:spPr>
      </p:sp>
      <p:sp>
        <p:nvSpPr>
          <p:cNvPr id="13" name="Text 11"/>
          <p:cNvSpPr txBox="1"/>
          <p:nvPr/>
        </p:nvSpPr>
        <p:spPr>
          <a:xfrm>
            <a:off x="859536" y="3566160"/>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01</a:t>
            </a:r>
            <a:endParaRPr lang="en-US" sz="1100" dirty="0"/>
          </a:p>
        </p:txBody>
      </p:sp>
      <p:sp>
        <p:nvSpPr>
          <p:cNvPr id="14" name="Text 12"/>
          <p:cNvSpPr txBox="1"/>
          <p:nvPr/>
        </p:nvSpPr>
        <p:spPr>
          <a:xfrm>
            <a:off x="1243584" y="3566160"/>
            <a:ext cx="1754048" cy="603504"/>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Önce gözlemle: atılan bir cisim nasıl bir yol çizer?</a:t>
            </a:r>
            <a:endParaRPr lang="en-US" sz="1200" dirty="0"/>
          </a:p>
        </p:txBody>
      </p:sp>
      <p:sp>
        <p:nvSpPr>
          <p:cNvPr id="15" name="Text 13"/>
          <p:cNvSpPr txBox="1"/>
          <p:nvPr/>
        </p:nvSpPr>
        <p:spPr>
          <a:xfrm>
            <a:off x="859536" y="4224528"/>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02</a:t>
            </a:r>
            <a:endParaRPr lang="en-US" sz="1100" dirty="0"/>
          </a:p>
        </p:txBody>
      </p:sp>
      <p:sp>
        <p:nvSpPr>
          <p:cNvPr id="16" name="Text 14"/>
          <p:cNvSpPr txBox="1"/>
          <p:nvPr/>
        </p:nvSpPr>
        <p:spPr>
          <a:xfrm>
            <a:off x="1243584"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İki boyutta sabit ivmeli hareket nedir?</a:t>
            </a:r>
            <a:endParaRPr lang="en-US" sz="1250" dirty="0"/>
          </a:p>
        </p:txBody>
      </p:sp>
      <p:sp>
        <p:nvSpPr>
          <p:cNvPr id="17" name="Text 15"/>
          <p:cNvSpPr txBox="1"/>
          <p:nvPr/>
        </p:nvSpPr>
        <p:spPr>
          <a:xfrm>
            <a:off x="859536" y="4882896"/>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03</a:t>
            </a:r>
            <a:endParaRPr lang="en-US" sz="1100" dirty="0"/>
          </a:p>
        </p:txBody>
      </p:sp>
      <p:sp>
        <p:nvSpPr>
          <p:cNvPr id="18" name="Text 16"/>
          <p:cNvSpPr txBox="1"/>
          <p:nvPr/>
        </p:nvSpPr>
        <p:spPr>
          <a:xfrm>
            <a:off x="1243584" y="4882896"/>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Bağımsızlık ilkesi</a:t>
            </a:r>
            <a:endParaRPr lang="en-US" sz="1250" dirty="0"/>
          </a:p>
        </p:txBody>
      </p:sp>
      <p:sp>
        <p:nvSpPr>
          <p:cNvPr id="19" name="Shape 17"/>
          <p:cNvSpPr/>
          <p:nvPr/>
        </p:nvSpPr>
        <p:spPr>
          <a:xfrm>
            <a:off x="3418256"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3601136" y="1645920"/>
            <a:ext cx="2211248" cy="64008"/>
          </a:xfrm>
          <a:prstGeom prst="rect">
            <a:avLst/>
          </a:prstGeom>
          <a:solidFill>
            <a:srgbClr val="2957D4"/>
          </a:solidFill>
          <a:ln/>
        </p:spPr>
      </p:sp>
      <p:sp>
        <p:nvSpPr>
          <p:cNvPr id="21" name="Shape 19"/>
          <p:cNvSpPr/>
          <p:nvPr/>
        </p:nvSpPr>
        <p:spPr>
          <a:xfrm>
            <a:off x="3637712" y="1920240"/>
            <a:ext cx="420624" cy="420624"/>
          </a:xfrm>
          <a:prstGeom prst="roundRect">
            <a:avLst>
              <a:gd name="adj" fmla="val 26000"/>
            </a:avLst>
          </a:prstGeom>
          <a:solidFill>
            <a:srgbClr val="2957D4"/>
          </a:solidFill>
          <a:ln/>
        </p:spPr>
      </p:sp>
      <p:sp>
        <p:nvSpPr>
          <p:cNvPr id="22" name="Text 20"/>
          <p:cNvSpPr txBox="1"/>
          <p:nvPr/>
        </p:nvSpPr>
        <p:spPr>
          <a:xfrm>
            <a:off x="3637712"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3" name="Text 21"/>
          <p:cNvSpPr txBox="1"/>
          <p:nvPr/>
        </p:nvSpPr>
        <p:spPr>
          <a:xfrm>
            <a:off x="4186352"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Orta</a:t>
            </a:r>
            <a:endParaRPr lang="en-US" sz="1900" dirty="0"/>
          </a:p>
        </p:txBody>
      </p:sp>
      <p:sp>
        <p:nvSpPr>
          <p:cNvPr id="24" name="Text 22"/>
          <p:cNvSpPr txBox="1"/>
          <p:nvPr/>
        </p:nvSpPr>
        <p:spPr>
          <a:xfrm>
            <a:off x="3637712"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Bağıntılar: hızı bileşenlerine ayır, yatay ve eğik atışı çöz, menzili ve yörüngeyi adım adım türet.</a:t>
            </a:r>
            <a:endParaRPr lang="en-US" sz="1150" dirty="0"/>
          </a:p>
        </p:txBody>
      </p:sp>
      <p:sp>
        <p:nvSpPr>
          <p:cNvPr id="25" name="Shape 23"/>
          <p:cNvSpPr/>
          <p:nvPr/>
        </p:nvSpPr>
        <p:spPr>
          <a:xfrm>
            <a:off x="3637712" y="3429000"/>
            <a:ext cx="2138096" cy="0"/>
          </a:xfrm>
          <a:prstGeom prst="line">
            <a:avLst/>
          </a:prstGeom>
          <a:noFill/>
          <a:ln w="9525">
            <a:solidFill>
              <a:srgbClr val="E1E5EE"/>
            </a:solidFill>
            <a:prstDash val="dash"/>
          </a:ln>
        </p:spPr>
      </p:sp>
      <p:sp>
        <p:nvSpPr>
          <p:cNvPr id="26" name="Text 24"/>
          <p:cNvSpPr txBox="1"/>
          <p:nvPr/>
        </p:nvSpPr>
        <p:spPr>
          <a:xfrm>
            <a:off x="3637712" y="3566160"/>
            <a:ext cx="384048" cy="36728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04</a:t>
            </a:r>
            <a:endParaRPr lang="en-US" sz="1100" dirty="0"/>
          </a:p>
        </p:txBody>
      </p:sp>
      <p:sp>
        <p:nvSpPr>
          <p:cNvPr id="27" name="Text 25"/>
          <p:cNvSpPr txBox="1"/>
          <p:nvPr/>
        </p:nvSpPr>
        <p:spPr>
          <a:xfrm>
            <a:off x="4021760" y="3566160"/>
            <a:ext cx="1754048" cy="367284"/>
          </a:xfrm>
          <a:prstGeom prst="rect">
            <a:avLst/>
          </a:prstGeom>
          <a:noFill/>
          <a:ln/>
        </p:spPr>
        <p:txBody>
          <a:bodyPr wrap="square" lIns="0" tIns="0" rIns="0" bIns="0" rtlCol="0" anchor="t"/>
          <a:lstStyle/>
          <a:p>
            <a:pPr indent="0" marL="0">
              <a:lnSpc>
                <a:spcPct val="105000"/>
              </a:lnSpc>
              <a:buNone/>
            </a:pPr>
            <a:r>
              <a:rPr lang="en-US" sz="1050" b="1" dirty="0">
                <a:solidFill>
                  <a:srgbClr val="0E1426"/>
                </a:solidFill>
                <a:latin typeface="Calibri" pitchFamily="34" charset="0"/>
                <a:ea typeface="Calibri" pitchFamily="34" charset="-122"/>
                <a:cs typeface="Calibri" pitchFamily="34" charset="-120"/>
              </a:rPr>
              <a:t>Vektörel bağıntılar ve bileşenlere ayırma</a:t>
            </a:r>
            <a:endParaRPr lang="en-US" sz="1050" dirty="0"/>
          </a:p>
        </p:txBody>
      </p:sp>
      <p:sp>
        <p:nvSpPr>
          <p:cNvPr id="28" name="Text 26"/>
          <p:cNvSpPr txBox="1"/>
          <p:nvPr/>
        </p:nvSpPr>
        <p:spPr>
          <a:xfrm>
            <a:off x="3637712" y="3988308"/>
            <a:ext cx="384048" cy="36728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05</a:t>
            </a:r>
            <a:endParaRPr lang="en-US" sz="1100" dirty="0"/>
          </a:p>
        </p:txBody>
      </p:sp>
      <p:sp>
        <p:nvSpPr>
          <p:cNvPr id="29" name="Text 27"/>
          <p:cNvSpPr txBox="1"/>
          <p:nvPr/>
        </p:nvSpPr>
        <p:spPr>
          <a:xfrm>
            <a:off x="4021760" y="3988308"/>
            <a:ext cx="1754048" cy="36728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Yatay atış</a:t>
            </a:r>
            <a:endParaRPr lang="en-US" sz="1250" dirty="0"/>
          </a:p>
        </p:txBody>
      </p:sp>
      <p:sp>
        <p:nvSpPr>
          <p:cNvPr id="30" name="Text 28"/>
          <p:cNvSpPr txBox="1"/>
          <p:nvPr/>
        </p:nvSpPr>
        <p:spPr>
          <a:xfrm>
            <a:off x="3637712" y="4410456"/>
            <a:ext cx="384048" cy="36728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06</a:t>
            </a:r>
            <a:endParaRPr lang="en-US" sz="1100" dirty="0"/>
          </a:p>
        </p:txBody>
      </p:sp>
      <p:sp>
        <p:nvSpPr>
          <p:cNvPr id="31" name="Text 29"/>
          <p:cNvSpPr txBox="1"/>
          <p:nvPr/>
        </p:nvSpPr>
        <p:spPr>
          <a:xfrm>
            <a:off x="4021760" y="4410456"/>
            <a:ext cx="1754048" cy="367284"/>
          </a:xfrm>
          <a:prstGeom prst="rect">
            <a:avLst/>
          </a:prstGeom>
          <a:noFill/>
          <a:ln/>
        </p:spPr>
        <p:txBody>
          <a:bodyPr wrap="square" lIns="0" tIns="0" rIns="0" bIns="0" rtlCol="0" anchor="t"/>
          <a:lstStyle/>
          <a:p>
            <a:pPr indent="0" marL="0">
              <a:lnSpc>
                <a:spcPct val="105000"/>
              </a:lnSpc>
              <a:buNone/>
            </a:pPr>
            <a:r>
              <a:rPr lang="en-US" sz="1000" b="1" dirty="0">
                <a:solidFill>
                  <a:srgbClr val="0E1426"/>
                </a:solidFill>
                <a:latin typeface="Calibri" pitchFamily="34" charset="0"/>
                <a:ea typeface="Calibri" pitchFamily="34" charset="-122"/>
                <a:cs typeface="Calibri" pitchFamily="34" charset="-120"/>
              </a:rPr>
              <a:t>Sayılarla hisset: ne kadar sürede, ne kadar öteye?</a:t>
            </a:r>
            <a:endParaRPr lang="en-US" sz="1000" dirty="0"/>
          </a:p>
        </p:txBody>
      </p:sp>
      <p:sp>
        <p:nvSpPr>
          <p:cNvPr id="32" name="Text 30"/>
          <p:cNvSpPr txBox="1"/>
          <p:nvPr/>
        </p:nvSpPr>
        <p:spPr>
          <a:xfrm>
            <a:off x="3637712" y="4832604"/>
            <a:ext cx="384048" cy="36728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07</a:t>
            </a:r>
            <a:endParaRPr lang="en-US" sz="1100" dirty="0"/>
          </a:p>
        </p:txBody>
      </p:sp>
      <p:sp>
        <p:nvSpPr>
          <p:cNvPr id="33" name="Text 31"/>
          <p:cNvSpPr txBox="1"/>
          <p:nvPr/>
        </p:nvSpPr>
        <p:spPr>
          <a:xfrm>
            <a:off x="4021760" y="4832604"/>
            <a:ext cx="1754048" cy="36728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Eğik atış</a:t>
            </a:r>
            <a:endParaRPr lang="en-US" sz="1250" dirty="0"/>
          </a:p>
        </p:txBody>
      </p:sp>
      <p:sp>
        <p:nvSpPr>
          <p:cNvPr id="34" name="Text 32"/>
          <p:cNvSpPr txBox="1"/>
          <p:nvPr/>
        </p:nvSpPr>
        <p:spPr>
          <a:xfrm>
            <a:off x="3637712" y="5254752"/>
            <a:ext cx="384048" cy="36728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08</a:t>
            </a:r>
            <a:endParaRPr lang="en-US" sz="1100" dirty="0"/>
          </a:p>
        </p:txBody>
      </p:sp>
      <p:sp>
        <p:nvSpPr>
          <p:cNvPr id="35" name="Text 33"/>
          <p:cNvSpPr txBox="1"/>
          <p:nvPr/>
        </p:nvSpPr>
        <p:spPr>
          <a:xfrm>
            <a:off x="4021760" y="5254752"/>
            <a:ext cx="1754048" cy="367284"/>
          </a:xfrm>
          <a:prstGeom prst="rect">
            <a:avLst/>
          </a:prstGeom>
          <a:noFill/>
          <a:ln/>
        </p:spPr>
        <p:txBody>
          <a:bodyPr wrap="square" lIns="0" tIns="0" rIns="0" bIns="0" rtlCol="0" anchor="t"/>
          <a:lstStyle/>
          <a:p>
            <a:pPr indent="0" marL="0">
              <a:lnSpc>
                <a:spcPct val="105000"/>
              </a:lnSpc>
              <a:buNone/>
            </a:pPr>
            <a:r>
              <a:rPr lang="en-US" sz="1050" b="1" dirty="0">
                <a:solidFill>
                  <a:srgbClr val="0E1426"/>
                </a:solidFill>
                <a:latin typeface="Calibri" pitchFamily="34" charset="0"/>
                <a:ea typeface="Calibri" pitchFamily="34" charset="-122"/>
                <a:cs typeface="Calibri" pitchFamily="34" charset="-120"/>
              </a:rPr>
              <a:t>Menzil, açı ve tümler açılar</a:t>
            </a:r>
            <a:endParaRPr lang="en-US" sz="1050" dirty="0"/>
          </a:p>
        </p:txBody>
      </p:sp>
      <p:sp>
        <p:nvSpPr>
          <p:cNvPr id="36" name="Text 34"/>
          <p:cNvSpPr txBox="1"/>
          <p:nvPr/>
        </p:nvSpPr>
        <p:spPr>
          <a:xfrm>
            <a:off x="3637712" y="5676900"/>
            <a:ext cx="384048" cy="36728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09</a:t>
            </a:r>
            <a:endParaRPr lang="en-US" sz="1100" dirty="0"/>
          </a:p>
        </p:txBody>
      </p:sp>
      <p:sp>
        <p:nvSpPr>
          <p:cNvPr id="37" name="Text 35"/>
          <p:cNvSpPr txBox="1"/>
          <p:nvPr/>
        </p:nvSpPr>
        <p:spPr>
          <a:xfrm>
            <a:off x="4021760" y="5676900"/>
            <a:ext cx="1754048" cy="367284"/>
          </a:xfrm>
          <a:prstGeom prst="rect">
            <a:avLst/>
          </a:prstGeom>
          <a:noFill/>
          <a:ln/>
        </p:spPr>
        <p:txBody>
          <a:bodyPr wrap="square" lIns="0" tIns="0" rIns="0" bIns="0" rtlCol="0" anchor="t"/>
          <a:lstStyle/>
          <a:p>
            <a:pPr indent="0" marL="0">
              <a:lnSpc>
                <a:spcPct val="105000"/>
              </a:lnSpc>
              <a:buNone/>
            </a:pPr>
            <a:r>
              <a:rPr lang="en-US" sz="1050" b="1" dirty="0">
                <a:solidFill>
                  <a:srgbClr val="0E1426"/>
                </a:solidFill>
                <a:latin typeface="Calibri" pitchFamily="34" charset="0"/>
                <a:ea typeface="Calibri" pitchFamily="34" charset="-122"/>
                <a:cs typeface="Calibri" pitchFamily="34" charset="-120"/>
              </a:rPr>
              <a:t>Yörünge denklemi ve grafikler</a:t>
            </a:r>
            <a:endParaRPr lang="en-US" sz="1050" dirty="0"/>
          </a:p>
        </p:txBody>
      </p:sp>
      <p:sp>
        <p:nvSpPr>
          <p:cNvPr id="38" name="Shape 36"/>
          <p:cNvSpPr/>
          <p:nvPr/>
        </p:nvSpPr>
        <p:spPr>
          <a:xfrm>
            <a:off x="6196432"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9" name="Shape 37"/>
          <p:cNvSpPr/>
          <p:nvPr/>
        </p:nvSpPr>
        <p:spPr>
          <a:xfrm>
            <a:off x="6379312" y="1645920"/>
            <a:ext cx="2211248" cy="64008"/>
          </a:xfrm>
          <a:prstGeom prst="rect">
            <a:avLst/>
          </a:prstGeom>
          <a:solidFill>
            <a:srgbClr val="5F4BD8"/>
          </a:solidFill>
          <a:ln/>
        </p:spPr>
      </p:sp>
      <p:sp>
        <p:nvSpPr>
          <p:cNvPr id="40" name="Shape 38"/>
          <p:cNvSpPr/>
          <p:nvPr/>
        </p:nvSpPr>
        <p:spPr>
          <a:xfrm>
            <a:off x="6415888" y="1920240"/>
            <a:ext cx="420624" cy="420624"/>
          </a:xfrm>
          <a:prstGeom prst="roundRect">
            <a:avLst>
              <a:gd name="adj" fmla="val 26000"/>
            </a:avLst>
          </a:prstGeom>
          <a:solidFill>
            <a:srgbClr val="5F4BD8"/>
          </a:solidFill>
          <a:ln/>
        </p:spPr>
      </p:sp>
      <p:sp>
        <p:nvSpPr>
          <p:cNvPr id="41" name="Text 39"/>
          <p:cNvSpPr txBox="1"/>
          <p:nvPr/>
        </p:nvSpPr>
        <p:spPr>
          <a:xfrm>
            <a:off x="6415888"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2" name="Text 40"/>
          <p:cNvSpPr txBox="1"/>
          <p:nvPr/>
        </p:nvSpPr>
        <p:spPr>
          <a:xfrm>
            <a:off x="6964528"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İleri</a:t>
            </a:r>
            <a:endParaRPr lang="en-US" sz="1900" dirty="0"/>
          </a:p>
        </p:txBody>
      </p:sp>
      <p:sp>
        <p:nvSpPr>
          <p:cNvPr id="43" name="Text 41"/>
          <p:cNvSpPr txBox="1"/>
          <p:nvPr/>
        </p:nvSpPr>
        <p:spPr>
          <a:xfrm>
            <a:off x="6415888"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Derinleşme: yüksekten atış, düşen bir hedefe nişan, hava direnci ve atışların gerçek hayattaki yüzü.</a:t>
            </a:r>
            <a:endParaRPr lang="en-US" sz="1150" dirty="0"/>
          </a:p>
        </p:txBody>
      </p:sp>
      <p:sp>
        <p:nvSpPr>
          <p:cNvPr id="44" name="Shape 42"/>
          <p:cNvSpPr/>
          <p:nvPr/>
        </p:nvSpPr>
        <p:spPr>
          <a:xfrm>
            <a:off x="6415888" y="3429000"/>
            <a:ext cx="2138096" cy="0"/>
          </a:xfrm>
          <a:prstGeom prst="line">
            <a:avLst/>
          </a:prstGeom>
          <a:noFill/>
          <a:ln w="9525">
            <a:solidFill>
              <a:srgbClr val="E1E5EE"/>
            </a:solidFill>
            <a:prstDash val="dash"/>
          </a:ln>
        </p:spPr>
      </p:sp>
      <p:sp>
        <p:nvSpPr>
          <p:cNvPr id="45" name="Text 43"/>
          <p:cNvSpPr txBox="1"/>
          <p:nvPr/>
        </p:nvSpPr>
        <p:spPr>
          <a:xfrm>
            <a:off x="6415888" y="3566160"/>
            <a:ext cx="384048" cy="578358"/>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10</a:t>
            </a:r>
            <a:endParaRPr lang="en-US" sz="1100" dirty="0"/>
          </a:p>
        </p:txBody>
      </p:sp>
      <p:sp>
        <p:nvSpPr>
          <p:cNvPr id="46" name="Text 44"/>
          <p:cNvSpPr txBox="1"/>
          <p:nvPr/>
        </p:nvSpPr>
        <p:spPr>
          <a:xfrm>
            <a:off x="6799936" y="3566160"/>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Yüksekten atış: 45° artık en iyi değil</a:t>
            </a:r>
            <a:endParaRPr lang="en-US" sz="1250" dirty="0"/>
          </a:p>
        </p:txBody>
      </p:sp>
      <p:sp>
        <p:nvSpPr>
          <p:cNvPr id="47" name="Text 45"/>
          <p:cNvSpPr txBox="1"/>
          <p:nvPr/>
        </p:nvSpPr>
        <p:spPr>
          <a:xfrm>
            <a:off x="6415888" y="4199382"/>
            <a:ext cx="384048" cy="578358"/>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11</a:t>
            </a:r>
            <a:endParaRPr lang="en-US" sz="1100" dirty="0"/>
          </a:p>
        </p:txBody>
      </p:sp>
      <p:sp>
        <p:nvSpPr>
          <p:cNvPr id="48" name="Text 46"/>
          <p:cNvSpPr txBox="1"/>
          <p:nvPr/>
        </p:nvSpPr>
        <p:spPr>
          <a:xfrm>
            <a:off x="6799936" y="4199382"/>
            <a:ext cx="1754048" cy="578358"/>
          </a:xfrm>
          <a:prstGeom prst="rect">
            <a:avLst/>
          </a:prstGeom>
          <a:noFill/>
          <a:ln/>
        </p:spPr>
        <p:txBody>
          <a:bodyPr wrap="square" lIns="0" tIns="0" rIns="0" bIns="0" rtlCol="0" anchor="t"/>
          <a:lstStyle/>
          <a:p>
            <a:pPr indent="0" marL="0">
              <a:lnSpc>
                <a:spcPct val="105000"/>
              </a:lnSpc>
              <a:buNone/>
            </a:pPr>
            <a:r>
              <a:rPr lang="en-US" sz="1150" b="1" dirty="0">
                <a:solidFill>
                  <a:srgbClr val="0E1426"/>
                </a:solidFill>
                <a:latin typeface="Calibri" pitchFamily="34" charset="0"/>
                <a:ea typeface="Calibri" pitchFamily="34" charset="-122"/>
                <a:cs typeface="Calibri" pitchFamily="34" charset="-120"/>
              </a:rPr>
              <a:t>Düşen hedefe nişan: bağımsızlığın en şaşırtıcı sonucu</a:t>
            </a:r>
            <a:endParaRPr lang="en-US" sz="1150" dirty="0"/>
          </a:p>
        </p:txBody>
      </p:sp>
      <p:sp>
        <p:nvSpPr>
          <p:cNvPr id="49" name="Text 47"/>
          <p:cNvSpPr txBox="1"/>
          <p:nvPr/>
        </p:nvSpPr>
        <p:spPr>
          <a:xfrm>
            <a:off x="6415888" y="4832604"/>
            <a:ext cx="384048" cy="578358"/>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12</a:t>
            </a:r>
            <a:endParaRPr lang="en-US" sz="1100" dirty="0"/>
          </a:p>
        </p:txBody>
      </p:sp>
      <p:sp>
        <p:nvSpPr>
          <p:cNvPr id="50" name="Text 48"/>
          <p:cNvSpPr txBox="1"/>
          <p:nvPr/>
        </p:nvSpPr>
        <p:spPr>
          <a:xfrm>
            <a:off x="6799936" y="4832604"/>
            <a:ext cx="1754048" cy="578358"/>
          </a:xfrm>
          <a:prstGeom prst="rect">
            <a:avLst/>
          </a:prstGeom>
          <a:noFill/>
          <a:ln/>
        </p:spPr>
        <p:txBody>
          <a:bodyPr wrap="square" lIns="0" tIns="0" rIns="0" bIns="0" rtlCol="0" anchor="t"/>
          <a:lstStyle/>
          <a:p>
            <a:pPr indent="0" marL="0">
              <a:lnSpc>
                <a:spcPct val="105000"/>
              </a:lnSpc>
              <a:buNone/>
            </a:pPr>
            <a:r>
              <a:rPr lang="en-US" sz="1150" b="1" dirty="0">
                <a:solidFill>
                  <a:srgbClr val="0E1426"/>
                </a:solidFill>
                <a:latin typeface="Calibri" pitchFamily="34" charset="0"/>
                <a:ea typeface="Calibri" pitchFamily="34" charset="-122"/>
                <a:cs typeface="Calibri" pitchFamily="34" charset="-120"/>
              </a:rPr>
              <a:t>Hava direnci işe karışınca: modelin sınırları</a:t>
            </a:r>
            <a:endParaRPr lang="en-US" sz="1150" dirty="0"/>
          </a:p>
        </p:txBody>
      </p:sp>
      <p:sp>
        <p:nvSpPr>
          <p:cNvPr id="51" name="Text 49"/>
          <p:cNvSpPr txBox="1"/>
          <p:nvPr/>
        </p:nvSpPr>
        <p:spPr>
          <a:xfrm>
            <a:off x="6415888" y="5465826"/>
            <a:ext cx="384048" cy="578358"/>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13</a:t>
            </a:r>
            <a:endParaRPr lang="en-US" sz="1100" dirty="0"/>
          </a:p>
        </p:txBody>
      </p:sp>
      <p:sp>
        <p:nvSpPr>
          <p:cNvPr id="52" name="Text 50"/>
          <p:cNvSpPr txBox="1"/>
          <p:nvPr/>
        </p:nvSpPr>
        <p:spPr>
          <a:xfrm>
            <a:off x="6799936" y="5465826"/>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Atışlar gerçek dünyada</a:t>
            </a:r>
            <a:endParaRPr lang="en-US" sz="1250" dirty="0"/>
          </a:p>
        </p:txBody>
      </p:sp>
      <p:sp>
        <p:nvSpPr>
          <p:cNvPr id="53" name="Shape 51"/>
          <p:cNvSpPr/>
          <p:nvPr/>
        </p:nvSpPr>
        <p:spPr>
          <a:xfrm>
            <a:off x="8974607"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54" name="Shape 52"/>
          <p:cNvSpPr/>
          <p:nvPr/>
        </p:nvSpPr>
        <p:spPr>
          <a:xfrm>
            <a:off x="9157487" y="1645920"/>
            <a:ext cx="2211248" cy="64008"/>
          </a:xfrm>
          <a:prstGeom prst="rect">
            <a:avLst/>
          </a:prstGeom>
          <a:solidFill>
            <a:srgbClr val="A56209"/>
          </a:solidFill>
          <a:ln/>
        </p:spPr>
      </p:sp>
      <p:sp>
        <p:nvSpPr>
          <p:cNvPr id="55" name="Shape 53"/>
          <p:cNvSpPr/>
          <p:nvPr/>
        </p:nvSpPr>
        <p:spPr>
          <a:xfrm>
            <a:off x="9194063" y="1920240"/>
            <a:ext cx="420624" cy="420624"/>
          </a:xfrm>
          <a:prstGeom prst="roundRect">
            <a:avLst>
              <a:gd name="adj" fmla="val 26000"/>
            </a:avLst>
          </a:prstGeom>
          <a:solidFill>
            <a:srgbClr val="A56209"/>
          </a:solidFill>
          <a:ln/>
        </p:spPr>
      </p:sp>
      <p:sp>
        <p:nvSpPr>
          <p:cNvPr id="56" name="Text 54"/>
          <p:cNvSpPr txBox="1"/>
          <p:nvPr/>
        </p:nvSpPr>
        <p:spPr>
          <a:xfrm>
            <a:off x="9194063"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57" name="Text 55"/>
          <p:cNvSpPr txBox="1"/>
          <p:nvPr/>
        </p:nvSpPr>
        <p:spPr>
          <a:xfrm>
            <a:off x="9742703"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Pekiştir</a:t>
            </a:r>
            <a:endParaRPr lang="en-US" sz="1900" dirty="0"/>
          </a:p>
        </p:txBody>
      </p:sp>
      <p:sp>
        <p:nvSpPr>
          <p:cNvPr id="58" name="Text 56"/>
          <p:cNvSpPr txBox="1"/>
          <p:nvPr/>
        </p:nvSpPr>
        <p:spPr>
          <a:xfrm>
            <a:off x="9194063"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Kolaydan zora çözümlü örnekler ve sınavda puan kaybettiren klasik hatalar.</a:t>
            </a:r>
            <a:endParaRPr lang="en-US" sz="1150" dirty="0"/>
          </a:p>
        </p:txBody>
      </p:sp>
      <p:sp>
        <p:nvSpPr>
          <p:cNvPr id="59" name="Shape 57"/>
          <p:cNvSpPr/>
          <p:nvPr/>
        </p:nvSpPr>
        <p:spPr>
          <a:xfrm>
            <a:off x="9194063" y="3429000"/>
            <a:ext cx="2138096" cy="0"/>
          </a:xfrm>
          <a:prstGeom prst="line">
            <a:avLst/>
          </a:prstGeom>
          <a:noFill/>
          <a:ln w="9525">
            <a:solidFill>
              <a:srgbClr val="E1E5EE"/>
            </a:solidFill>
            <a:prstDash val="dash"/>
          </a:ln>
        </p:spPr>
      </p:sp>
      <p:sp>
        <p:nvSpPr>
          <p:cNvPr id="60" name="Text 58"/>
          <p:cNvSpPr txBox="1"/>
          <p:nvPr/>
        </p:nvSpPr>
        <p:spPr>
          <a:xfrm>
            <a:off x="9194063" y="3566160"/>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14</a:t>
            </a:r>
            <a:endParaRPr lang="en-US" sz="1100" dirty="0"/>
          </a:p>
        </p:txBody>
      </p:sp>
      <p:sp>
        <p:nvSpPr>
          <p:cNvPr id="61" name="Text 59"/>
          <p:cNvSpPr txBox="1"/>
          <p:nvPr/>
        </p:nvSpPr>
        <p:spPr>
          <a:xfrm>
            <a:off x="9578111"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Çözümlü örnekler</a:t>
            </a:r>
            <a:endParaRPr lang="en-US" sz="1250" dirty="0"/>
          </a:p>
        </p:txBody>
      </p:sp>
      <p:sp>
        <p:nvSpPr>
          <p:cNvPr id="62" name="Text 60"/>
          <p:cNvSpPr txBox="1"/>
          <p:nvPr/>
        </p:nvSpPr>
        <p:spPr>
          <a:xfrm>
            <a:off x="9194063" y="4224528"/>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15</a:t>
            </a:r>
            <a:endParaRPr lang="en-US" sz="1100" dirty="0"/>
          </a:p>
        </p:txBody>
      </p:sp>
      <p:sp>
        <p:nvSpPr>
          <p:cNvPr id="63" name="Text 61"/>
          <p:cNvSpPr txBox="1"/>
          <p:nvPr/>
        </p:nvSpPr>
        <p:spPr>
          <a:xfrm>
            <a:off x="9578111"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Sık yapılan hatalar</a:t>
            </a:r>
            <a:endParaRPr lang="en-US" sz="1250" dirty="0"/>
          </a:p>
        </p:txBody>
      </p:sp>
      <p:sp>
        <p:nvSpPr>
          <p:cNvPr id="64" name="Shape 62"/>
          <p:cNvSpPr/>
          <p:nvPr/>
        </p:nvSpPr>
        <p:spPr>
          <a:xfrm>
            <a:off x="640080" y="6382512"/>
            <a:ext cx="128016" cy="128016"/>
          </a:xfrm>
          <a:prstGeom prst="roundRect">
            <a:avLst>
              <a:gd name="adj" fmla="val 28571"/>
            </a:avLst>
          </a:prstGeom>
          <a:solidFill>
            <a:srgbClr val="A9E648"/>
          </a:solidFill>
          <a:ln/>
        </p:spPr>
      </p:sp>
      <p:sp>
        <p:nvSpPr>
          <p:cNvPr id="65" name="Text 6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66" name="Text 6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C6F36B"/>
                </a:solidFill>
                <a:latin typeface="Cambria" pitchFamily="34" charset="0"/>
                <a:ea typeface="Cambria" pitchFamily="34" charset="-122"/>
                <a:cs typeface="Cambria" pitchFamily="34" charset="-120"/>
              </a:rPr>
              <a:t>1</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C6F36B"/>
                </a:solidFill>
                <a:latin typeface="Calibri" pitchFamily="34" charset="0"/>
                <a:ea typeface="Calibri" pitchFamily="34" charset="-122"/>
                <a:cs typeface="Calibri" pitchFamily="34" charset="-120"/>
              </a:rPr>
              <a:t>BASAMAK 1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Temel</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350" dirty="0">
                <a:solidFill>
                  <a:srgbClr val="C3CEE8"/>
                </a:solidFill>
                <a:latin typeface="Calibri" pitchFamily="34" charset="0"/>
                <a:ea typeface="Calibri" pitchFamily="34" charset="-122"/>
                <a:cs typeface="Calibri" pitchFamily="34" charset="-120"/>
              </a:rPr>
              <a:t>Önce sezgi: atılan bir cismin yoluna bak, hareketi iki eksene ayır ve iki eksenin neden birbirini etkilemediğini gör. Bu basamakta hesap yok denecek kadar az.</a:t>
            </a:r>
            <a:endParaRPr lang="en-US" sz="135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01   </a:t>
            </a:r>
            <a:pPr indent="0" marL="0">
              <a:buNone/>
            </a:pPr>
            <a:r>
              <a:rPr lang="en-US" sz="1300" dirty="0">
                <a:solidFill>
                  <a:srgbClr val="FFFFFF"/>
                </a:solidFill>
                <a:latin typeface="Calibri" pitchFamily="34" charset="0"/>
                <a:ea typeface="Calibri" pitchFamily="34" charset="-122"/>
                <a:cs typeface="Calibri" pitchFamily="34" charset="-120"/>
              </a:rPr>
              <a:t>Önce gözlemle: atılan bir cisim nasıl bir yol çizer?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02   </a:t>
            </a:r>
            <a:pPr indent="0" marL="0">
              <a:buNone/>
            </a:pPr>
            <a:r>
              <a:rPr lang="en-US" sz="1300" dirty="0">
                <a:solidFill>
                  <a:srgbClr val="FFFFFF"/>
                </a:solidFill>
                <a:latin typeface="Calibri" pitchFamily="34" charset="0"/>
                <a:ea typeface="Calibri" pitchFamily="34" charset="-122"/>
                <a:cs typeface="Calibri" pitchFamily="34" charset="-120"/>
              </a:rPr>
              <a:t>İki boyutta sabit ivmeli hareket nedir?</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03   </a:t>
            </a:r>
            <a:pPr indent="0" marL="0">
              <a:buNone/>
            </a:pPr>
            <a:r>
              <a:rPr lang="en-US" sz="1300" dirty="0">
                <a:solidFill>
                  <a:srgbClr val="FFFFFF"/>
                </a:solidFill>
                <a:latin typeface="Calibri" pitchFamily="34" charset="0"/>
                <a:ea typeface="Calibri" pitchFamily="34" charset="-122"/>
                <a:cs typeface="Calibri" pitchFamily="34" charset="-120"/>
              </a:rPr>
              <a:t>Bağımsızlık ilkesi</a:t>
            </a:r>
            <a:endParaRPr lang="en-US" sz="1300" dirty="0"/>
          </a:p>
        </p:txBody>
      </p:sp>
      <p:sp>
        <p:nvSpPr>
          <p:cNvPr id="9" name="Shape 7"/>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0" name="Image 0" descr="/tmp/claude-1000/-opt-dersler/8a8328c3-841c-44fa-b76f-82572d338d3d/scratchpad/d5/sek/iki-boyutta-hareket-gunluk-kart.jpg">    </p:cNvPr>
          <p:cNvPicPr>
            <a:picLocks noChangeAspect="1"/>
          </p:cNvPicPr>
          <p:nvPr/>
        </p:nvPicPr>
        <p:blipFill>
          <a:blip r:embed="rId1"/>
          <a:stretch>
            <a:fillRect/>
          </a:stretch>
        </p:blipFill>
        <p:spPr>
          <a:xfrm>
            <a:off x="6172200" y="960120"/>
            <a:ext cx="5379415" cy="3586277"/>
          </a:xfrm>
          <a:prstGeom prst="rect">
            <a:avLst/>
          </a:prstGeom>
        </p:spPr>
      </p:pic>
      <p:sp>
        <p:nvSpPr>
          <p:cNvPr id="11" name="Text 8"/>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Hortumdan çıkan su yolun başında </a:t>
            </a:r>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yatay</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gider, sonra giderek dikleşen bir eğriyle aşağı kıvrılır. Damlaların yatay hızı yol boyunca aynı kalır; kıvrılmanın sebebi, her damlanın bir yandan da serbest düşmesidir. Bu yarım parabol, ikinci basamakta çözeceğimiz yatay atışın ta kendisidir.</a:t>
            </a:r>
            <a:endParaRPr lang="en-US" sz="1150" dirty="0"/>
          </a:p>
        </p:txBody>
      </p:sp>
      <p:sp>
        <p:nvSpPr>
          <p:cNvPr id="12" name="Shape 9"/>
          <p:cNvSpPr/>
          <p:nvPr/>
        </p:nvSpPr>
        <p:spPr>
          <a:xfrm>
            <a:off x="640080" y="6382512"/>
            <a:ext cx="128016" cy="128016"/>
          </a:xfrm>
          <a:prstGeom prst="roundRect">
            <a:avLst>
              <a:gd name="adj" fmla="val 28571"/>
            </a:avLst>
          </a:prstGeom>
          <a:solidFill>
            <a:srgbClr val="C6F36B"/>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dersler.perinet.org/iki-boyutta-hareket.html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700" b="1" spc="-50" kern="0" dirty="0">
                <a:solidFill>
                  <a:srgbClr val="0E1426"/>
                </a:solidFill>
                <a:latin typeface="Cambria" pitchFamily="34" charset="0"/>
                <a:ea typeface="Cambria" pitchFamily="34" charset="-122"/>
                <a:cs typeface="Cambria" pitchFamily="34" charset="-120"/>
              </a:rPr>
              <a:t>Önce gözlemle: atılan bir cisim nasıl bir yol çizer?</a:t>
            </a:r>
            <a:endParaRPr lang="en-US" sz="27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3C8C21"/>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Atılan bir cisim hem ileri gider hem düşer; iki hareket birleşince yolu giderek dikleşen bir eğri, yani parabol olur. Hortumdan çıkan su bunun günlük bir örneğidir.</a:t>
            </a:r>
            <a:endParaRPr lang="en-US" sz="1900" dirty="0"/>
          </a:p>
        </p:txBody>
      </p:sp>
      <p:sp>
        <p:nvSpPr>
          <p:cNvPr id="9" name="Text 7"/>
          <p:cNvSpPr txBox="1"/>
          <p:nvPr/>
        </p:nvSpPr>
        <p:spPr>
          <a:xfrm>
            <a:off x="640080" y="2294534"/>
            <a:ext cx="10911535" cy="659892"/>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700" dirty="0">
                <a:solidFill>
                  <a:srgbClr val="4A5470"/>
                </a:solidFill>
                <a:latin typeface="Calibri" pitchFamily="34" charset="0"/>
                <a:ea typeface="Calibri" pitchFamily="34" charset="-122"/>
                <a:cs typeface="Calibri" pitchFamily="34" charset="-120"/>
              </a:rPr>
              <a:t>Aynı hareketi eşit zaman aralıklarıyla fotoğraflasan (strobo fotoğraf) cismin art arda görüntülerinde şu düzeni görürsün:</a:t>
            </a:r>
            <a:endParaRPr lang="en-US" sz="1700" dirty="0"/>
          </a:p>
        </p:txBody>
      </p:sp>
      <p:sp>
        <p:nvSpPr>
          <p:cNvPr id="10" name="Text 8"/>
          <p:cNvSpPr txBox="1"/>
          <p:nvPr/>
        </p:nvSpPr>
        <p:spPr>
          <a:xfrm>
            <a:off x="640080" y="3064154"/>
            <a:ext cx="10911535" cy="144780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Yol eğridir: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cisim hem ileri gider hem aşağı iner; iki hareket birleşince yol kıvrılır.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Yatay ilerleyiş düzenlidir: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eşit sürelerde cisim yatayda hep aynı mesafeyi alır.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Düşüş giderek hızlanır: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eşit sürelerde aşağı doğru alınan yollar gittikçe büyür.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Eğri gittikçe dikleşir: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başta yataya yakın olan yol, yere yaklaştıkça düşeye yaklaşır.</a:t>
            </a:r>
            <a:endParaRPr lang="en-US" sz="1700" dirty="0"/>
          </a:p>
        </p:txBody>
      </p:sp>
      <p:sp>
        <p:nvSpPr>
          <p:cNvPr id="11" name="Shape 9"/>
          <p:cNvSpPr/>
          <p:nvPr/>
        </p:nvSpPr>
        <p:spPr>
          <a:xfrm>
            <a:off x="640080" y="6382512"/>
            <a:ext cx="128016" cy="128016"/>
          </a:xfrm>
          <a:prstGeom prst="roundRect">
            <a:avLst>
              <a:gd name="adj" fmla="val 28571"/>
            </a:avLst>
          </a:prstGeom>
          <a:solidFill>
            <a:srgbClr val="A9E648"/>
          </a:solidFill>
          <a:ln/>
        </p:spPr>
      </p:sp>
      <p:sp>
        <p:nvSpPr>
          <p:cNvPr id="12"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3"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Hortumun ağzını yine yatay tutup daha yükseğe kaldırırsan su neden daha uzağa düşer?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01 · Önce gözlemle: atılan bir cisim nasıl bir yol çizer?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Hortumun ağzını yine yatay tutup daha yükseğe kaldırırsan su neden daha uzağa düşer?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Su daha yüksekten düştüğü için havada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daha uzun kalır</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Yatay hızı değişmediğine göre, havada geçirdiği her ek anda biraz daha ileri gider. Suyun ne kadar uzağa düşeceğini yatay hız ile havada kalma süresi birlikte belirler.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İki boyutta sabit ivmeli hareket nedir?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3C8C21"/>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İki boyutta sabit ivmeli harekette cisim bir düzlemde ve sabit ivmeyle hareket eder. Atışlarda bu ivme g'dir: yatayda ivme yoktur, düşeyde ise serbest düşme ya da düşey atış vardır.</a:t>
            </a:r>
            <a:endParaRPr lang="en-US" sz="1850" dirty="0"/>
          </a:p>
        </p:txBody>
      </p:sp>
      <p:sp>
        <p:nvSpPr>
          <p:cNvPr id="9" name="Text 7"/>
          <p:cNvSpPr txBox="1"/>
          <p:nvPr/>
        </p:nvSpPr>
        <p:spPr>
          <a:xfrm>
            <a:off x="640080" y="2593238"/>
            <a:ext cx="5852160" cy="117957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500" b="1" dirty="0">
                <a:solidFill>
                  <a:srgbClr val="0E1426"/>
                </a:solidFill>
                <a:latin typeface="Calibri" pitchFamily="34" charset="0"/>
                <a:ea typeface="Calibri" pitchFamily="34" charset="-122"/>
                <a:cs typeface="Calibri" pitchFamily="34" charset="-120"/>
              </a:rPr>
              <a:t>Yatay eksen (x):</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ivme yoktur (a</a:t>
            </a:r>
            <a:pPr indent="0" marL="0">
              <a:lnSpc>
                <a:spcPct val="115000"/>
              </a:lnSpc>
              <a:buNone/>
            </a:pPr>
            <a:r>
              <a:rPr lang="en-US" sz="1500" baseline="-40000" dirty="0">
                <a:solidFill>
                  <a:srgbClr val="4A5470"/>
                </a:solidFill>
                <a:latin typeface="Calibri" pitchFamily="34" charset="0"/>
                <a:ea typeface="Calibri" pitchFamily="34" charset="-122"/>
                <a:cs typeface="Calibri" pitchFamily="34" charset="-120"/>
              </a:rPr>
              <a:t>x</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 0) → </a:t>
            </a:r>
            <a:pPr indent="0" marL="0">
              <a:lnSpc>
                <a:spcPct val="115000"/>
              </a:lnSpc>
              <a:buNone/>
            </a:pPr>
            <a:r>
              <a:rPr lang="en-US" sz="1500" b="1" dirty="0">
                <a:solidFill>
                  <a:srgbClr val="0E1426"/>
                </a:solidFill>
                <a:latin typeface="Calibri" pitchFamily="34" charset="0"/>
                <a:ea typeface="Calibri" pitchFamily="34" charset="-122"/>
                <a:cs typeface="Calibri" pitchFamily="34" charset="-120"/>
              </a:rPr>
              <a:t>düzgün doğrusal hareket</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a:t>
            </a:r>
            <a:endParaRPr lang="en-US" sz="1500" dirty="0"/>
          </a:p>
          <a:p>
            <a:pPr marL="203200" indent="-203200">
              <a:lnSpc>
                <a:spcPct val="115000"/>
              </a:lnSpc>
              <a:spcAft>
                <a:spcPts val="500"/>
              </a:spcAft>
              <a:buSzPct val="100000"/>
              <a:buChar char="▪"/>
            </a:pPr>
            <a:r>
              <a:rPr lang="en-US" sz="1500" b="1" dirty="0">
                <a:solidFill>
                  <a:srgbClr val="0E1426"/>
                </a:solidFill>
                <a:latin typeface="Calibri" pitchFamily="34" charset="0"/>
                <a:ea typeface="Calibri" pitchFamily="34" charset="-122"/>
                <a:cs typeface="Calibri" pitchFamily="34" charset="-120"/>
              </a:rPr>
              <a:t>Düşey eksen (y):</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ivme g'dir ve aşağı yöndedir → </a:t>
            </a:r>
            <a:pPr indent="0" marL="0">
              <a:lnSpc>
                <a:spcPct val="115000"/>
              </a:lnSpc>
              <a:buNone/>
            </a:pPr>
            <a:r>
              <a:rPr lang="en-US" sz="1500" b="1" dirty="0">
                <a:solidFill>
                  <a:srgbClr val="0E1426"/>
                </a:solidFill>
                <a:latin typeface="Calibri" pitchFamily="34" charset="0"/>
                <a:ea typeface="Calibri" pitchFamily="34" charset="-122"/>
                <a:cs typeface="Calibri" pitchFamily="34" charset="-120"/>
              </a:rPr>
              <a:t>sabit ivmeli hareket</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yani serbest düşme/düşey atış.</a:t>
            </a:r>
            <a:endParaRPr lang="en-US" sz="1500" dirty="0"/>
          </a:p>
        </p:txBody>
      </p:sp>
      <p:sp>
        <p:nvSpPr>
          <p:cNvPr id="10" name="Shape 8"/>
          <p:cNvSpPr/>
          <p:nvPr/>
        </p:nvSpPr>
        <p:spPr>
          <a:xfrm>
            <a:off x="640080" y="3882542"/>
            <a:ext cx="5852160" cy="1383792"/>
          </a:xfrm>
          <a:prstGeom prst="roundRect">
            <a:avLst>
              <a:gd name="adj" fmla="val 793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658368" y="4028846"/>
            <a:ext cx="45720" cy="1091184"/>
          </a:xfrm>
          <a:prstGeom prst="rect">
            <a:avLst/>
          </a:prstGeom>
          <a:solidFill>
            <a:srgbClr val="3C8C21"/>
          </a:solidFill>
          <a:ln/>
        </p:spPr>
      </p:sp>
      <p:sp>
        <p:nvSpPr>
          <p:cNvPr id="12" name="Text 10"/>
          <p:cNvSpPr txBox="1"/>
          <p:nvPr/>
        </p:nvSpPr>
        <p:spPr>
          <a:xfrm>
            <a:off x="914400" y="3992270"/>
            <a:ext cx="5394960" cy="1164336"/>
          </a:xfrm>
          <a:prstGeom prst="rect">
            <a:avLst/>
          </a:prstGeom>
          <a:noFill/>
          <a:ln/>
        </p:spPr>
        <p:txBody>
          <a:bodyPr wrap="square" lIns="0" tIns="0" rIns="0" bIns="0" rtlCol="0" anchor="ctr"/>
          <a:lstStyle/>
          <a:p>
            <a:pPr indent="0" marL="0">
              <a:lnSpc>
                <a:spcPct val="112000"/>
              </a:lnSpc>
              <a:buNone/>
            </a:pPr>
            <a:r>
              <a:rPr lang="en-US" sz="1400" b="1" dirty="0">
                <a:solidFill>
                  <a:srgbClr val="0E1426"/>
                </a:solidFill>
                <a:latin typeface="Calibri" pitchFamily="34" charset="0"/>
                <a:ea typeface="Calibri" pitchFamily="34" charset="-122"/>
                <a:cs typeface="Calibri" pitchFamily="34" charset="-120"/>
              </a:rPr>
              <a:t>Hava direnci ihmal edilir.</a:t>
            </a:r>
            <a:pPr indent="0" marL="0">
              <a:lnSpc>
                <a:spcPct val="112000"/>
              </a:lnSpc>
              <a:buNone/>
            </a:pPr>
            <a:r>
              <a:rPr lang="en-US" sz="1400" dirty="0">
                <a:solidFill>
                  <a:srgbClr val="4A5470"/>
                </a:solidFill>
                <a:latin typeface="Calibri" pitchFamily="34" charset="0"/>
                <a:ea typeface="Calibri" pitchFamily="34" charset="-122"/>
                <a:cs typeface="Calibri" pitchFamily="34" charset="-120"/>
              </a:rPr>
              <a:t> Bu derste cisme etki eden tek kuvvet ağırlıktır. Bu yüzden kütle hiçbir bağıntıda görünmez: 50 g'lık top ile 5 kg'lık gülle aynı hız ve açıyla atılırsa aynı yörüngeyi çizer.</a:t>
            </a:r>
            <a:endParaRPr lang="en-US" sz="1400" dirty="0"/>
          </a:p>
        </p:txBody>
      </p:sp>
      <p:sp>
        <p:nvSpPr>
          <p:cNvPr id="13" name="Shape 11"/>
          <p:cNvSpPr/>
          <p:nvPr/>
        </p:nvSpPr>
        <p:spPr>
          <a:xfrm>
            <a:off x="6784848" y="2593238"/>
            <a:ext cx="4766767" cy="3533242"/>
          </a:xfrm>
          <a:prstGeom prst="roundRect">
            <a:avLst>
              <a:gd name="adj" fmla="val 4141"/>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4" name="Image 0" descr="/tmp/claude-1000/-opt-dersler/8a8328c3-841c-44fa-b76f-82572d338d3d/scratchpad/d5/sek/iki-boyutta-hareket-01.png">    </p:cNvPr>
          <p:cNvPicPr>
            <a:picLocks noChangeAspect="1"/>
          </p:cNvPicPr>
          <p:nvPr/>
        </p:nvPicPr>
        <p:blipFill>
          <a:blip r:embed="rId1"/>
          <a:stretch>
            <a:fillRect/>
          </a:stretch>
        </p:blipFill>
        <p:spPr>
          <a:xfrm>
            <a:off x="7409181" y="2776118"/>
            <a:ext cx="3518101" cy="1890979"/>
          </a:xfrm>
          <a:prstGeom prst="rect">
            <a:avLst/>
          </a:prstGeom>
        </p:spPr>
      </p:pic>
      <p:sp>
        <p:nvSpPr>
          <p:cNvPr id="15" name="Shape 12"/>
          <p:cNvSpPr/>
          <p:nvPr/>
        </p:nvSpPr>
        <p:spPr>
          <a:xfrm>
            <a:off x="6967728" y="4758538"/>
            <a:ext cx="4401007" cy="0"/>
          </a:xfrm>
          <a:prstGeom prst="line">
            <a:avLst/>
          </a:prstGeom>
          <a:noFill/>
          <a:ln w="9525">
            <a:solidFill>
              <a:srgbClr val="E1E5EE"/>
            </a:solidFill>
            <a:prstDash val="dash"/>
          </a:ln>
        </p:spPr>
      </p:sp>
      <p:sp>
        <p:nvSpPr>
          <p:cNvPr id="16" name="Text 13"/>
          <p:cNvSpPr txBox="1"/>
          <p:nvPr/>
        </p:nvSpPr>
        <p:spPr>
          <a:xfrm>
            <a:off x="6967728" y="4813402"/>
            <a:ext cx="440100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Aynı hareketin iki ayrı filmi.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Yatay gölge</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eşit zaman aralıklarında eşit yollar alır — o eksende ivme yoktur.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Düşey gölge</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ise 1 : 3 : 5 : 7 ile açılarak iner — o eksende tam bir serbest düşme vardır. İki filmi birbirine bağlayan tek şey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aynı saati paylaşmaları</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yörüngenin parabol olması da bu iki hareketin toplamıdır.</a:t>
            </a:r>
            <a:endParaRPr lang="en-US" sz="1050" dirty="0"/>
          </a:p>
        </p:txBody>
      </p:sp>
      <p:sp>
        <p:nvSpPr>
          <p:cNvPr id="17" name="Shape 14"/>
          <p:cNvSpPr/>
          <p:nvPr/>
        </p:nvSpPr>
        <p:spPr>
          <a:xfrm>
            <a:off x="640080" y="6382512"/>
            <a:ext cx="128016" cy="128016"/>
          </a:xfrm>
          <a:prstGeom prst="roundRect">
            <a:avLst>
              <a:gd name="adj" fmla="val 28571"/>
            </a:avLst>
          </a:prstGeom>
          <a:solidFill>
            <a:srgbClr val="A9E648"/>
          </a:solidFill>
          <a:ln/>
        </p:spPr>
      </p:sp>
      <p:sp>
        <p:nvSpPr>
          <p:cNvPr id="18"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9"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Bağımsızlık ilkesi</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3C8C21"/>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Yatay ve düşey hareketler birbirini etkilemez; tek ortak değişkenleri zamandır. İki boyutlu bir problemi iki tek boyutlu probleme bölüp sonuçları süre üzerinden birleştirirsin.</a:t>
            </a:r>
            <a:endParaRPr lang="en-US" sz="1850" dirty="0"/>
          </a:p>
        </p:txBody>
      </p:sp>
      <p:sp>
        <p:nvSpPr>
          <p:cNvPr id="9" name="Shape 7"/>
          <p:cNvSpPr/>
          <p:nvPr/>
        </p:nvSpPr>
        <p:spPr>
          <a:xfrm>
            <a:off x="640080" y="2593238"/>
            <a:ext cx="6309360" cy="1313688"/>
          </a:xfrm>
          <a:prstGeom prst="roundRect">
            <a:avLst>
              <a:gd name="adj" fmla="val 835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658368" y="2739542"/>
            <a:ext cx="45720" cy="1021080"/>
          </a:xfrm>
          <a:prstGeom prst="rect">
            <a:avLst/>
          </a:prstGeom>
          <a:solidFill>
            <a:srgbClr val="3C8C21"/>
          </a:solidFill>
          <a:ln/>
        </p:spPr>
      </p:sp>
      <p:sp>
        <p:nvSpPr>
          <p:cNvPr id="11" name="Text 9"/>
          <p:cNvSpPr txBox="1"/>
          <p:nvPr/>
        </p:nvSpPr>
        <p:spPr>
          <a:xfrm>
            <a:off x="914400" y="2702966"/>
            <a:ext cx="5852160" cy="1094232"/>
          </a:xfrm>
          <a:prstGeom prst="rect">
            <a:avLst/>
          </a:prstGeom>
          <a:noFill/>
          <a:ln/>
        </p:spPr>
        <p:txBody>
          <a:bodyPr wrap="square" lIns="0" tIns="0" rIns="0" bIns="0" rtlCol="0" anchor="ctr"/>
          <a:lstStyle/>
          <a:p>
            <a:pPr indent="0" marL="0">
              <a:lnSpc>
                <a:spcPct val="112000"/>
              </a:lnSpc>
              <a:buNone/>
            </a:pPr>
            <a:r>
              <a:rPr lang="en-US" sz="1300" b="1" dirty="0">
                <a:solidFill>
                  <a:srgbClr val="0E1426"/>
                </a:solidFill>
                <a:latin typeface="Calibri" pitchFamily="34" charset="0"/>
                <a:ea typeface="Calibri" pitchFamily="34" charset="-122"/>
                <a:cs typeface="Calibri" pitchFamily="34" charset="-120"/>
              </a:rPr>
              <a:t>Neden böyle?</a:t>
            </a:r>
            <a:pPr indent="0" marL="0">
              <a:lnSpc>
                <a:spcPct val="112000"/>
              </a:lnSpc>
              <a:buNone/>
            </a:pPr>
            <a:r>
              <a:rPr lang="en-US" sz="1300" dirty="0">
                <a:solidFill>
                  <a:srgbClr val="4A5470"/>
                </a:solidFill>
                <a:latin typeface="Calibri" pitchFamily="34" charset="0"/>
                <a:ea typeface="Calibri" pitchFamily="34" charset="-122"/>
                <a:cs typeface="Calibri" pitchFamily="34" charset="-120"/>
              </a:rPr>
              <a:t> Kuvvet düşeydir (ağırlık), dolayısıyla ivme de düşeydir. Yatay doğrultuda kuvvet olmadığı için o doğrultuda hız değişemez. Bir vektörün bir bileşenine etki eden kuvvet, diğer bileşenini değiştiremez.</a:t>
            </a:r>
            <a:endParaRPr lang="en-US" sz="1300" dirty="0"/>
          </a:p>
        </p:txBody>
      </p:sp>
      <p:sp>
        <p:nvSpPr>
          <p:cNvPr id="12" name="Text 10"/>
          <p:cNvSpPr txBox="1"/>
          <p:nvPr/>
        </p:nvSpPr>
        <p:spPr>
          <a:xfrm>
            <a:off x="640080" y="4016654"/>
            <a:ext cx="6309360" cy="1418844"/>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400" b="1" dirty="0">
                <a:solidFill>
                  <a:srgbClr val="0E1426"/>
                </a:solidFill>
                <a:latin typeface="Calibri" pitchFamily="34" charset="0"/>
                <a:ea typeface="Calibri" pitchFamily="34" charset="-122"/>
                <a:cs typeface="Calibri" pitchFamily="34" charset="-120"/>
              </a:rPr>
              <a:t>Böl:</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hareketi yatay ve düşey olarak iki ayrı harekete ayır.</a:t>
            </a:r>
            <a:endParaRPr lang="en-US" sz="1400" dirty="0"/>
          </a:p>
          <a:p>
            <a:pPr marL="228600" indent="-228600">
              <a:lnSpc>
                <a:spcPct val="115000"/>
              </a:lnSpc>
              <a:spcAft>
                <a:spcPts val="500"/>
              </a:spcAft>
              <a:buSzPct val="100000"/>
              <a:buFont typeface="+mj-lt"/>
              <a:buAutoNum type="arabicPeriod" startAt="1"/>
            </a:pPr>
            <a:r>
              <a:rPr lang="en-US" sz="1400" b="1" dirty="0">
                <a:solidFill>
                  <a:srgbClr val="0E1426"/>
                </a:solidFill>
                <a:latin typeface="Calibri" pitchFamily="34" charset="0"/>
                <a:ea typeface="Calibri" pitchFamily="34" charset="-122"/>
                <a:cs typeface="Calibri" pitchFamily="34" charset="-120"/>
              </a:rPr>
              <a:t>Çöz:</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yatayı sabit hızla, düşeyi serbest düşme ya da düşey atış gibi çöz.</a:t>
            </a:r>
            <a:endParaRPr lang="en-US" sz="1400" dirty="0"/>
          </a:p>
          <a:p>
            <a:pPr marL="228600" indent="-228600">
              <a:lnSpc>
                <a:spcPct val="115000"/>
              </a:lnSpc>
              <a:spcAft>
                <a:spcPts val="500"/>
              </a:spcAft>
              <a:buSzPct val="100000"/>
              <a:buFont typeface="+mj-lt"/>
              <a:buAutoNum type="arabicPeriod" startAt="1"/>
            </a:pPr>
            <a:r>
              <a:rPr lang="en-US" sz="1400" b="1" dirty="0">
                <a:solidFill>
                  <a:srgbClr val="0E1426"/>
                </a:solidFill>
                <a:latin typeface="Calibri" pitchFamily="34" charset="0"/>
                <a:ea typeface="Calibri" pitchFamily="34" charset="-122"/>
                <a:cs typeface="Calibri" pitchFamily="34" charset="-120"/>
              </a:rPr>
              <a:t>Birleştir:</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iki hareketi bağlayan tek büyüklük olan süreyi kullan.</a:t>
            </a:r>
            <a:endParaRPr lang="en-US" sz="1400" dirty="0"/>
          </a:p>
        </p:txBody>
      </p:sp>
      <p:sp>
        <p:nvSpPr>
          <p:cNvPr id="13" name="Shape 11"/>
          <p:cNvSpPr/>
          <p:nvPr/>
        </p:nvSpPr>
        <p:spPr>
          <a:xfrm>
            <a:off x="7242048" y="2593238"/>
            <a:ext cx="4309567" cy="3533242"/>
          </a:xfrm>
          <a:prstGeom prst="roundRect">
            <a:avLst>
              <a:gd name="adj" fmla="val 4141"/>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4" name="Image 0" descr="/tmp/claude-1000/-opt-dersler/8a8328c3-841c-44fa-b76f-82572d338d3d/scratchpad/d5/sek/iki-boyutta-hareket-02.png">    </p:cNvPr>
          <p:cNvPicPr>
            <a:picLocks noChangeAspect="1"/>
          </p:cNvPicPr>
          <p:nvPr/>
        </p:nvPicPr>
        <p:blipFill>
          <a:blip r:embed="rId1"/>
          <a:stretch>
            <a:fillRect/>
          </a:stretch>
        </p:blipFill>
        <p:spPr>
          <a:xfrm>
            <a:off x="7473724" y="2776118"/>
            <a:ext cx="3846216" cy="1890979"/>
          </a:xfrm>
          <a:prstGeom prst="rect">
            <a:avLst/>
          </a:prstGeom>
        </p:spPr>
      </p:pic>
      <p:sp>
        <p:nvSpPr>
          <p:cNvPr id="15" name="Shape 12"/>
          <p:cNvSpPr/>
          <p:nvPr/>
        </p:nvSpPr>
        <p:spPr>
          <a:xfrm>
            <a:off x="7424928" y="4758538"/>
            <a:ext cx="3943807" cy="0"/>
          </a:xfrm>
          <a:prstGeom prst="line">
            <a:avLst/>
          </a:prstGeom>
          <a:noFill/>
          <a:ln w="9525">
            <a:solidFill>
              <a:srgbClr val="E1E5EE"/>
            </a:solidFill>
            <a:prstDash val="dash"/>
          </a:ln>
        </p:spPr>
      </p:sp>
      <p:sp>
        <p:nvSpPr>
          <p:cNvPr id="16" name="Text 13"/>
          <p:cNvSpPr txBox="1"/>
          <p:nvPr/>
        </p:nvSpPr>
        <p:spPr>
          <a:xfrm>
            <a:off x="7424928" y="4813402"/>
            <a:ext cx="394380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Aynı yükseklikten biri serbestçe bırakılıyor, diğeri yatay olarak fırlatılıyor. Kesikli çizgiler her an ikisini birleştiriyor: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düşey hareketleri birebir aynı</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Fırlatılan cisim yüzlerce metre öteye gitse de, düşmesi bundan hiç etkilenmiyor. Sayfadaki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02</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numaralı deneyde bunu kendi gözünle ölçebilirsin.</a:t>
            </a:r>
            <a:endParaRPr lang="en-US" sz="1050" dirty="0"/>
          </a:p>
        </p:txBody>
      </p:sp>
      <p:sp>
        <p:nvSpPr>
          <p:cNvPr id="17" name="Shape 14"/>
          <p:cNvSpPr/>
          <p:nvPr/>
        </p:nvSpPr>
        <p:spPr>
          <a:xfrm>
            <a:off x="640080" y="6382512"/>
            <a:ext cx="128016" cy="128016"/>
          </a:xfrm>
          <a:prstGeom prst="roundRect">
            <a:avLst>
              <a:gd name="adj" fmla="val 28571"/>
            </a:avLst>
          </a:prstGeom>
          <a:solidFill>
            <a:srgbClr val="A9E648"/>
          </a:solidFill>
          <a:ln/>
        </p:spPr>
      </p:sp>
      <p:sp>
        <p:nvSpPr>
          <p:cNvPr id="18"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9"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Sabit hızla giden bir trende elindeki elmayı dümdüz yukarı atarsan elma nereye düşer?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03 · Bağımsızlık ilkesi</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Sabit hızla giden bir trende elindeki elmayı dümdüz yukarı atarsan elma nereye düşer?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Yine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eline</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düşer. Elma atıldığı anda trenin yatay hızına sahiptir ve havadayken bu hız değişmez; sen de aynı hızla ilerlediğin için elma hep elinin üstünde kalır. Perondaki biri ise elmanın yükselip alçalan bir parabol çizdiğini görür.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82AAFF"/>
                </a:solidFill>
                <a:latin typeface="Cambria" pitchFamily="34" charset="0"/>
                <a:ea typeface="Cambria" pitchFamily="34" charset="-122"/>
                <a:cs typeface="Cambria" pitchFamily="34" charset="-120"/>
              </a:rPr>
              <a:t>2</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82AAFF"/>
                </a:solidFill>
                <a:latin typeface="Calibri" pitchFamily="34" charset="0"/>
                <a:ea typeface="Calibri" pitchFamily="34" charset="-122"/>
                <a:cs typeface="Calibri" pitchFamily="34" charset="-120"/>
              </a:rPr>
              <a:t>BASAMAK 2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Orta</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Bağıntılar: hızı bileşenlerine ayır, yatay ve eğik atışı çöz, menzili ve yörüngeyi adım adım türet.</a:t>
            </a:r>
            <a:endParaRPr lang="en-US" sz="1600" dirty="0"/>
          </a:p>
        </p:txBody>
      </p:sp>
      <p:sp>
        <p:nvSpPr>
          <p:cNvPr id="6" name="Text 4"/>
          <p:cNvSpPr txBox="1"/>
          <p:nvPr/>
        </p:nvSpPr>
        <p:spPr>
          <a:xfrm>
            <a:off x="731520" y="4572000"/>
            <a:ext cx="5120640" cy="266700"/>
          </a:xfrm>
          <a:prstGeom prst="rect">
            <a:avLst/>
          </a:prstGeom>
          <a:noFill/>
          <a:ln/>
        </p:spPr>
        <p:txBody>
          <a:bodyPr wrap="square" lIns="0" tIns="0" rIns="0" bIns="0" rtlCol="0" anchor="ctr"/>
          <a:lstStyle/>
          <a:p>
            <a:pPr indent="0" marL="0">
              <a:buNone/>
            </a:pPr>
            <a:r>
              <a:rPr lang="en-US" sz="1150" b="1" dirty="0">
                <a:solidFill>
                  <a:srgbClr val="82AAFF"/>
                </a:solidFill>
                <a:latin typeface="Calibri" pitchFamily="34" charset="0"/>
                <a:ea typeface="Calibri" pitchFamily="34" charset="-122"/>
                <a:cs typeface="Calibri" pitchFamily="34" charset="-120"/>
              </a:rPr>
              <a:t>04   </a:t>
            </a:r>
            <a:pPr indent="0" marL="0">
              <a:buNone/>
            </a:pPr>
            <a:r>
              <a:rPr lang="en-US" sz="1150" dirty="0">
                <a:solidFill>
                  <a:srgbClr val="FFFFFF"/>
                </a:solidFill>
                <a:latin typeface="Calibri" pitchFamily="34" charset="0"/>
                <a:ea typeface="Calibri" pitchFamily="34" charset="-122"/>
                <a:cs typeface="Calibri" pitchFamily="34" charset="-120"/>
              </a:rPr>
              <a:t>Vektörel bağıntılar ve bileşenlere ayırma</a:t>
            </a:r>
            <a:endParaRPr lang="en-US" sz="1150" dirty="0"/>
          </a:p>
        </p:txBody>
      </p:sp>
      <p:sp>
        <p:nvSpPr>
          <p:cNvPr id="7" name="Text 5"/>
          <p:cNvSpPr txBox="1"/>
          <p:nvPr/>
        </p:nvSpPr>
        <p:spPr>
          <a:xfrm>
            <a:off x="731520" y="4838700"/>
            <a:ext cx="5120640" cy="266700"/>
          </a:xfrm>
          <a:prstGeom prst="rect">
            <a:avLst/>
          </a:prstGeom>
          <a:noFill/>
          <a:ln/>
        </p:spPr>
        <p:txBody>
          <a:bodyPr wrap="square" lIns="0" tIns="0" rIns="0" bIns="0" rtlCol="0" anchor="ctr"/>
          <a:lstStyle/>
          <a:p>
            <a:pPr indent="0" marL="0">
              <a:buNone/>
            </a:pPr>
            <a:r>
              <a:rPr lang="en-US" sz="1150" b="1" dirty="0">
                <a:solidFill>
                  <a:srgbClr val="82AAFF"/>
                </a:solidFill>
                <a:latin typeface="Calibri" pitchFamily="34" charset="0"/>
                <a:ea typeface="Calibri" pitchFamily="34" charset="-122"/>
                <a:cs typeface="Calibri" pitchFamily="34" charset="-120"/>
              </a:rPr>
              <a:t>05   </a:t>
            </a:r>
            <a:pPr indent="0" marL="0">
              <a:buNone/>
            </a:pPr>
            <a:r>
              <a:rPr lang="en-US" sz="1150" dirty="0">
                <a:solidFill>
                  <a:srgbClr val="FFFFFF"/>
                </a:solidFill>
                <a:latin typeface="Calibri" pitchFamily="34" charset="0"/>
                <a:ea typeface="Calibri" pitchFamily="34" charset="-122"/>
                <a:cs typeface="Calibri" pitchFamily="34" charset="-120"/>
              </a:rPr>
              <a:t>Yatay atış</a:t>
            </a:r>
            <a:endParaRPr lang="en-US" sz="1150" dirty="0"/>
          </a:p>
        </p:txBody>
      </p:sp>
      <p:sp>
        <p:nvSpPr>
          <p:cNvPr id="8" name="Text 6"/>
          <p:cNvSpPr txBox="1"/>
          <p:nvPr/>
        </p:nvSpPr>
        <p:spPr>
          <a:xfrm>
            <a:off x="731520" y="5105400"/>
            <a:ext cx="5120640" cy="266700"/>
          </a:xfrm>
          <a:prstGeom prst="rect">
            <a:avLst/>
          </a:prstGeom>
          <a:noFill/>
          <a:ln/>
        </p:spPr>
        <p:txBody>
          <a:bodyPr wrap="square" lIns="0" tIns="0" rIns="0" bIns="0" rtlCol="0" anchor="ctr"/>
          <a:lstStyle/>
          <a:p>
            <a:pPr indent="0" marL="0">
              <a:buNone/>
            </a:pPr>
            <a:r>
              <a:rPr lang="en-US" sz="1150" b="1" dirty="0">
                <a:solidFill>
                  <a:srgbClr val="82AAFF"/>
                </a:solidFill>
                <a:latin typeface="Calibri" pitchFamily="34" charset="0"/>
                <a:ea typeface="Calibri" pitchFamily="34" charset="-122"/>
                <a:cs typeface="Calibri" pitchFamily="34" charset="-120"/>
              </a:rPr>
              <a:t>06   </a:t>
            </a:r>
            <a:pPr indent="0" marL="0">
              <a:buNone/>
            </a:pPr>
            <a:r>
              <a:rPr lang="en-US" sz="1150" dirty="0">
                <a:solidFill>
                  <a:srgbClr val="FFFFFF"/>
                </a:solidFill>
                <a:latin typeface="Calibri" pitchFamily="34" charset="0"/>
                <a:ea typeface="Calibri" pitchFamily="34" charset="-122"/>
                <a:cs typeface="Calibri" pitchFamily="34" charset="-120"/>
              </a:rPr>
              <a:t>Sayılarla hisset: ne kadar sürede, ne kadar öteye?</a:t>
            </a:r>
            <a:endParaRPr lang="en-US" sz="1150" dirty="0"/>
          </a:p>
        </p:txBody>
      </p:sp>
      <p:sp>
        <p:nvSpPr>
          <p:cNvPr id="9" name="Text 7"/>
          <p:cNvSpPr txBox="1"/>
          <p:nvPr/>
        </p:nvSpPr>
        <p:spPr>
          <a:xfrm>
            <a:off x="731520" y="5372100"/>
            <a:ext cx="5120640" cy="266700"/>
          </a:xfrm>
          <a:prstGeom prst="rect">
            <a:avLst/>
          </a:prstGeom>
          <a:noFill/>
          <a:ln/>
        </p:spPr>
        <p:txBody>
          <a:bodyPr wrap="square" lIns="0" tIns="0" rIns="0" bIns="0" rtlCol="0" anchor="ctr"/>
          <a:lstStyle/>
          <a:p>
            <a:pPr indent="0" marL="0">
              <a:buNone/>
            </a:pPr>
            <a:r>
              <a:rPr lang="en-US" sz="1150" b="1" dirty="0">
                <a:solidFill>
                  <a:srgbClr val="82AAFF"/>
                </a:solidFill>
                <a:latin typeface="Calibri" pitchFamily="34" charset="0"/>
                <a:ea typeface="Calibri" pitchFamily="34" charset="-122"/>
                <a:cs typeface="Calibri" pitchFamily="34" charset="-120"/>
              </a:rPr>
              <a:t>07   </a:t>
            </a:r>
            <a:pPr indent="0" marL="0">
              <a:buNone/>
            </a:pPr>
            <a:r>
              <a:rPr lang="en-US" sz="1150" dirty="0">
                <a:solidFill>
                  <a:srgbClr val="FFFFFF"/>
                </a:solidFill>
                <a:latin typeface="Calibri" pitchFamily="34" charset="0"/>
                <a:ea typeface="Calibri" pitchFamily="34" charset="-122"/>
                <a:cs typeface="Calibri" pitchFamily="34" charset="-120"/>
              </a:rPr>
              <a:t>Eğik atış</a:t>
            </a:r>
            <a:endParaRPr lang="en-US" sz="1150" dirty="0"/>
          </a:p>
        </p:txBody>
      </p:sp>
      <p:sp>
        <p:nvSpPr>
          <p:cNvPr id="10" name="Text 8"/>
          <p:cNvSpPr txBox="1"/>
          <p:nvPr/>
        </p:nvSpPr>
        <p:spPr>
          <a:xfrm>
            <a:off x="731520" y="5638800"/>
            <a:ext cx="5120640" cy="266700"/>
          </a:xfrm>
          <a:prstGeom prst="rect">
            <a:avLst/>
          </a:prstGeom>
          <a:noFill/>
          <a:ln/>
        </p:spPr>
        <p:txBody>
          <a:bodyPr wrap="square" lIns="0" tIns="0" rIns="0" bIns="0" rtlCol="0" anchor="ctr"/>
          <a:lstStyle/>
          <a:p>
            <a:pPr indent="0" marL="0">
              <a:buNone/>
            </a:pPr>
            <a:r>
              <a:rPr lang="en-US" sz="1150" b="1" dirty="0">
                <a:solidFill>
                  <a:srgbClr val="82AAFF"/>
                </a:solidFill>
                <a:latin typeface="Calibri" pitchFamily="34" charset="0"/>
                <a:ea typeface="Calibri" pitchFamily="34" charset="-122"/>
                <a:cs typeface="Calibri" pitchFamily="34" charset="-120"/>
              </a:rPr>
              <a:t>08   </a:t>
            </a:r>
            <a:pPr indent="0" marL="0">
              <a:buNone/>
            </a:pPr>
            <a:r>
              <a:rPr lang="en-US" sz="1150" dirty="0">
                <a:solidFill>
                  <a:srgbClr val="FFFFFF"/>
                </a:solidFill>
                <a:latin typeface="Calibri" pitchFamily="34" charset="0"/>
                <a:ea typeface="Calibri" pitchFamily="34" charset="-122"/>
                <a:cs typeface="Calibri" pitchFamily="34" charset="-120"/>
              </a:rPr>
              <a:t>Menzil, açı ve tümler açılar</a:t>
            </a:r>
            <a:endParaRPr lang="en-US" sz="1150" dirty="0"/>
          </a:p>
        </p:txBody>
      </p:sp>
      <p:sp>
        <p:nvSpPr>
          <p:cNvPr id="11" name="Text 9"/>
          <p:cNvSpPr txBox="1"/>
          <p:nvPr/>
        </p:nvSpPr>
        <p:spPr>
          <a:xfrm>
            <a:off x="731520" y="5905500"/>
            <a:ext cx="5120640" cy="266700"/>
          </a:xfrm>
          <a:prstGeom prst="rect">
            <a:avLst/>
          </a:prstGeom>
          <a:noFill/>
          <a:ln/>
        </p:spPr>
        <p:txBody>
          <a:bodyPr wrap="square" lIns="0" tIns="0" rIns="0" bIns="0" rtlCol="0" anchor="ctr"/>
          <a:lstStyle/>
          <a:p>
            <a:pPr indent="0" marL="0">
              <a:buNone/>
            </a:pPr>
            <a:r>
              <a:rPr lang="en-US" sz="1150" b="1" dirty="0">
                <a:solidFill>
                  <a:srgbClr val="82AAFF"/>
                </a:solidFill>
                <a:latin typeface="Calibri" pitchFamily="34" charset="0"/>
                <a:ea typeface="Calibri" pitchFamily="34" charset="-122"/>
                <a:cs typeface="Calibri" pitchFamily="34" charset="-120"/>
              </a:rPr>
              <a:t>09   </a:t>
            </a:r>
            <a:pPr indent="0" marL="0">
              <a:buNone/>
            </a:pPr>
            <a:r>
              <a:rPr lang="en-US" sz="1150" dirty="0">
                <a:solidFill>
                  <a:srgbClr val="FFFFFF"/>
                </a:solidFill>
                <a:latin typeface="Calibri" pitchFamily="34" charset="0"/>
                <a:ea typeface="Calibri" pitchFamily="34" charset="-122"/>
                <a:cs typeface="Calibri" pitchFamily="34" charset="-120"/>
              </a:rPr>
              <a:t>Yörünge denklemi ve grafikler</a:t>
            </a:r>
            <a:endParaRPr lang="en-US" sz="1150" dirty="0"/>
          </a:p>
        </p:txBody>
      </p:sp>
      <p:sp>
        <p:nvSpPr>
          <p:cNvPr id="12" name="Text 10"/>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3" name="Shape 11"/>
          <p:cNvSpPr/>
          <p:nvPr/>
        </p:nvSpPr>
        <p:spPr>
          <a:xfrm>
            <a:off x="6172200" y="1481328"/>
            <a:ext cx="5379415" cy="731520"/>
          </a:xfrm>
          <a:prstGeom prst="roundRect">
            <a:avLst>
              <a:gd name="adj" fmla="val 12500"/>
            </a:avLst>
          </a:prstGeom>
          <a:solidFill>
            <a:srgbClr val="1C2542"/>
          </a:solidFill>
          <a:ln w="9525">
            <a:solidFill>
              <a:srgbClr val="2C3860"/>
            </a:solidFill>
            <a:prstDash val="solid"/>
          </a:ln>
        </p:spPr>
      </p:sp>
      <p:sp>
        <p:nvSpPr>
          <p:cNvPr id="14" name="Text 12"/>
          <p:cNvSpPr txBox="1"/>
          <p:nvPr/>
        </p:nvSpPr>
        <p:spPr>
          <a:xfrm>
            <a:off x="6400800" y="1481328"/>
            <a:ext cx="205740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x = v₀·cosα · t</a:t>
            </a:r>
            <a:endParaRPr lang="en-US" sz="1500" dirty="0"/>
          </a:p>
        </p:txBody>
      </p:sp>
      <p:sp>
        <p:nvSpPr>
          <p:cNvPr id="15" name="Text 13"/>
          <p:cNvSpPr txBox="1"/>
          <p:nvPr/>
        </p:nvSpPr>
        <p:spPr>
          <a:xfrm>
            <a:off x="8549640" y="1481328"/>
            <a:ext cx="281909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yatayda sabit hız</a:t>
            </a:r>
            <a:endParaRPr lang="en-US" sz="1200" dirty="0"/>
          </a:p>
        </p:txBody>
      </p:sp>
      <p:sp>
        <p:nvSpPr>
          <p:cNvPr id="16" name="Shape 14"/>
          <p:cNvSpPr/>
          <p:nvPr/>
        </p:nvSpPr>
        <p:spPr>
          <a:xfrm>
            <a:off x="6172200" y="2350008"/>
            <a:ext cx="5379415" cy="731520"/>
          </a:xfrm>
          <a:prstGeom prst="roundRect">
            <a:avLst>
              <a:gd name="adj" fmla="val 12500"/>
            </a:avLst>
          </a:prstGeom>
          <a:solidFill>
            <a:srgbClr val="1C2542"/>
          </a:solidFill>
          <a:ln w="9525">
            <a:solidFill>
              <a:srgbClr val="2C3860"/>
            </a:solidFill>
            <a:prstDash val="solid"/>
          </a:ln>
        </p:spPr>
      </p:sp>
      <p:sp>
        <p:nvSpPr>
          <p:cNvPr id="17" name="Text 15"/>
          <p:cNvSpPr txBox="1"/>
          <p:nvPr/>
        </p:nvSpPr>
        <p:spPr>
          <a:xfrm>
            <a:off x="6400800" y="2350008"/>
            <a:ext cx="3008376"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y = v₀·sinα · t − ½g·t²</a:t>
            </a:r>
            <a:endParaRPr lang="en-US" sz="1500" dirty="0"/>
          </a:p>
        </p:txBody>
      </p:sp>
      <p:sp>
        <p:nvSpPr>
          <p:cNvPr id="18" name="Text 16"/>
          <p:cNvSpPr txBox="1"/>
          <p:nvPr/>
        </p:nvSpPr>
        <p:spPr>
          <a:xfrm>
            <a:off x="9500616" y="2350008"/>
            <a:ext cx="1868119"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düşeyde sabit ivme</a:t>
            </a:r>
            <a:endParaRPr lang="en-US" sz="1200" dirty="0"/>
          </a:p>
        </p:txBody>
      </p:sp>
      <p:sp>
        <p:nvSpPr>
          <p:cNvPr id="19" name="Shape 17"/>
          <p:cNvSpPr/>
          <p:nvPr/>
        </p:nvSpPr>
        <p:spPr>
          <a:xfrm>
            <a:off x="6172200" y="3218688"/>
            <a:ext cx="5379415" cy="731520"/>
          </a:xfrm>
          <a:prstGeom prst="roundRect">
            <a:avLst>
              <a:gd name="adj" fmla="val 12500"/>
            </a:avLst>
          </a:prstGeom>
          <a:solidFill>
            <a:srgbClr val="1C2542"/>
          </a:solidFill>
          <a:ln w="9525">
            <a:solidFill>
              <a:srgbClr val="2C3860"/>
            </a:solidFill>
            <a:prstDash val="solid"/>
          </a:ln>
        </p:spPr>
      </p:sp>
      <p:sp>
        <p:nvSpPr>
          <p:cNvPr id="20" name="Text 18"/>
          <p:cNvSpPr txBox="1"/>
          <p:nvPr/>
        </p:nvSpPr>
        <p:spPr>
          <a:xfrm>
            <a:off x="6400800" y="3218688"/>
            <a:ext cx="2295144"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R = v₀²·sin2α / g</a:t>
            </a:r>
            <a:endParaRPr lang="en-US" sz="1500" dirty="0"/>
          </a:p>
        </p:txBody>
      </p:sp>
      <p:sp>
        <p:nvSpPr>
          <p:cNvPr id="21" name="Text 19"/>
          <p:cNvSpPr txBox="1"/>
          <p:nvPr/>
        </p:nvSpPr>
        <p:spPr>
          <a:xfrm>
            <a:off x="8787384" y="3218688"/>
            <a:ext cx="2581351"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aynı yükseklikte menzil</a:t>
            </a:r>
            <a:endParaRPr lang="en-US" sz="1200" dirty="0"/>
          </a:p>
        </p:txBody>
      </p:sp>
      <p:sp>
        <p:nvSpPr>
          <p:cNvPr id="22" name="Shape 20"/>
          <p:cNvSpPr/>
          <p:nvPr/>
        </p:nvSpPr>
        <p:spPr>
          <a:xfrm>
            <a:off x="6172200" y="4087368"/>
            <a:ext cx="5379415" cy="731520"/>
          </a:xfrm>
          <a:prstGeom prst="roundRect">
            <a:avLst>
              <a:gd name="adj" fmla="val 12500"/>
            </a:avLst>
          </a:prstGeom>
          <a:solidFill>
            <a:srgbClr val="1C2542"/>
          </a:solidFill>
          <a:ln w="9525">
            <a:solidFill>
              <a:srgbClr val="2C3860"/>
            </a:solidFill>
            <a:prstDash val="solid"/>
          </a:ln>
        </p:spPr>
      </p:sp>
      <p:sp>
        <p:nvSpPr>
          <p:cNvPr id="23" name="Text 21"/>
          <p:cNvSpPr txBox="1"/>
          <p:nvPr/>
        </p:nvSpPr>
        <p:spPr>
          <a:xfrm>
            <a:off x="6400800" y="4087368"/>
            <a:ext cx="265176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h = v₀²·sin²α / (2g)</a:t>
            </a:r>
            <a:endParaRPr lang="en-US" sz="1500" dirty="0"/>
          </a:p>
        </p:txBody>
      </p:sp>
      <p:sp>
        <p:nvSpPr>
          <p:cNvPr id="24" name="Text 22"/>
          <p:cNvSpPr txBox="1"/>
          <p:nvPr/>
        </p:nvSpPr>
        <p:spPr>
          <a:xfrm>
            <a:off x="9144000" y="4087368"/>
            <a:ext cx="222473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tepe yüksekliği</a:t>
            </a:r>
            <a:endParaRPr lang="en-US" sz="1200" dirty="0"/>
          </a:p>
        </p:txBody>
      </p:sp>
      <p:sp>
        <p:nvSpPr>
          <p:cNvPr id="25" name="Shape 23"/>
          <p:cNvSpPr/>
          <p:nvPr/>
        </p:nvSpPr>
        <p:spPr>
          <a:xfrm>
            <a:off x="640080" y="6382512"/>
            <a:ext cx="128016" cy="128016"/>
          </a:xfrm>
          <a:prstGeom prst="roundRect">
            <a:avLst>
              <a:gd name="adj" fmla="val 28571"/>
            </a:avLst>
          </a:prstGeom>
          <a:solidFill>
            <a:srgbClr val="C6F36B"/>
          </a:solidFill>
          <a:ln/>
        </p:spPr>
      </p:sp>
      <p:sp>
        <p:nvSpPr>
          <p:cNvPr id="26" name="Text 2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dersler.perinet.org/iki-boyutta-hareket.html</a:t>
            </a:r>
            <a:endParaRPr lang="en-US" sz="1050" dirty="0"/>
          </a:p>
        </p:txBody>
      </p:sp>
      <p:sp>
        <p:nvSpPr>
          <p:cNvPr id="27" name="Text 2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Vektörel bağıntılar ve bileşenlere ayırma</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69290"/>
          </a:xfrm>
          <a:prstGeom prst="roundRect">
            <a:avLst>
              <a:gd name="adj" fmla="val 12623"/>
            </a:avLst>
          </a:prstGeom>
          <a:solidFill>
            <a:srgbClr val="F8F9FC"/>
          </a:solidFill>
          <a:ln w="9525">
            <a:solidFill>
              <a:srgbClr val="E1E5EE"/>
            </a:solidFill>
            <a:prstDash val="solid"/>
          </a:ln>
        </p:spPr>
      </p:sp>
      <p:sp>
        <p:nvSpPr>
          <p:cNvPr id="7" name="Shape 5"/>
          <p:cNvSpPr/>
          <p:nvPr/>
        </p:nvSpPr>
        <p:spPr>
          <a:xfrm>
            <a:off x="658368" y="1298448"/>
            <a:ext cx="54864" cy="649834"/>
          </a:xfrm>
          <a:prstGeom prst="rect">
            <a:avLst/>
          </a:prstGeom>
          <a:solidFill>
            <a:srgbClr val="2957D4"/>
          </a:solidFill>
          <a:ln/>
        </p:spPr>
      </p:sp>
      <p:sp>
        <p:nvSpPr>
          <p:cNvPr id="8" name="Text 6"/>
          <p:cNvSpPr txBox="1"/>
          <p:nvPr/>
        </p:nvSpPr>
        <p:spPr>
          <a:xfrm>
            <a:off x="932688" y="1234440"/>
            <a:ext cx="10454335" cy="777850"/>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İlk hızı dik üçgenle bileşenlerine ayır: v₀ₓ = v₀·cosα, v₀ᵧ = v₀·sinα. Yatay bileşen sabit kalır, düşey bileşen g ile değişir; sürat bileşenlerin vektörel toplamıdır.</a:t>
            </a:r>
            <a:endParaRPr lang="en-US" sz="1850" dirty="0"/>
          </a:p>
        </p:txBody>
      </p:sp>
      <p:sp>
        <p:nvSpPr>
          <p:cNvPr id="9" name="Shape 7"/>
          <p:cNvSpPr/>
          <p:nvPr/>
        </p:nvSpPr>
        <p:spPr>
          <a:xfrm>
            <a:off x="640080" y="2277466"/>
            <a:ext cx="1938528"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277466"/>
            <a:ext cx="193852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v⃗ = v⃗₀ + a⃗·t</a:t>
            </a:r>
            <a:endParaRPr lang="en-US" sz="1300" dirty="0"/>
          </a:p>
        </p:txBody>
      </p:sp>
      <p:sp>
        <p:nvSpPr>
          <p:cNvPr id="11" name="Shape 9"/>
          <p:cNvSpPr/>
          <p:nvPr/>
        </p:nvSpPr>
        <p:spPr>
          <a:xfrm>
            <a:off x="2688336" y="2277466"/>
            <a:ext cx="3024835"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2688336" y="2277466"/>
            <a:ext cx="3024835"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r⃗ = r⃗₀ + v⃗₀·t + ½·a⃗·t²</a:t>
            </a:r>
            <a:endParaRPr lang="en-US" sz="1300" dirty="0"/>
          </a:p>
        </p:txBody>
      </p:sp>
      <p:sp>
        <p:nvSpPr>
          <p:cNvPr id="13" name="Shape 11"/>
          <p:cNvSpPr/>
          <p:nvPr/>
        </p:nvSpPr>
        <p:spPr>
          <a:xfrm>
            <a:off x="640080" y="2899258"/>
            <a:ext cx="1741018" cy="457200"/>
          </a:xfrm>
          <a:prstGeom prst="roundRect">
            <a:avLst>
              <a:gd name="adj" fmla="val 24000"/>
            </a:avLst>
          </a:prstGeom>
          <a:solidFill>
            <a:srgbClr val="EEF2FC"/>
          </a:solidFill>
          <a:ln w="9525">
            <a:solidFill>
              <a:srgbClr val="CBD7F4"/>
            </a:solidFill>
            <a:prstDash val="solid"/>
          </a:ln>
        </p:spPr>
      </p:sp>
      <p:sp>
        <p:nvSpPr>
          <p:cNvPr id="14" name="Text 12"/>
          <p:cNvSpPr txBox="1"/>
          <p:nvPr/>
        </p:nvSpPr>
        <p:spPr>
          <a:xfrm>
            <a:off x="640080" y="2899258"/>
            <a:ext cx="174101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v₀ₓ = v₀·cosα</a:t>
            </a:r>
            <a:endParaRPr lang="en-US" sz="1300" dirty="0"/>
          </a:p>
        </p:txBody>
      </p:sp>
      <p:sp>
        <p:nvSpPr>
          <p:cNvPr id="15" name="Shape 13"/>
          <p:cNvSpPr/>
          <p:nvPr/>
        </p:nvSpPr>
        <p:spPr>
          <a:xfrm>
            <a:off x="2490826" y="2899258"/>
            <a:ext cx="1741018" cy="457200"/>
          </a:xfrm>
          <a:prstGeom prst="roundRect">
            <a:avLst>
              <a:gd name="adj" fmla="val 24000"/>
            </a:avLst>
          </a:prstGeom>
          <a:solidFill>
            <a:srgbClr val="EEF2FC"/>
          </a:solidFill>
          <a:ln w="9525">
            <a:solidFill>
              <a:srgbClr val="CBD7F4"/>
            </a:solidFill>
            <a:prstDash val="solid"/>
          </a:ln>
        </p:spPr>
      </p:sp>
      <p:sp>
        <p:nvSpPr>
          <p:cNvPr id="16" name="Text 14"/>
          <p:cNvSpPr txBox="1"/>
          <p:nvPr/>
        </p:nvSpPr>
        <p:spPr>
          <a:xfrm>
            <a:off x="2490826" y="2899258"/>
            <a:ext cx="174101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v₀ᵧ = v₀·sinα</a:t>
            </a:r>
            <a:endParaRPr lang="en-US" sz="1300" dirty="0"/>
          </a:p>
        </p:txBody>
      </p:sp>
      <p:sp>
        <p:nvSpPr>
          <p:cNvPr id="17" name="Text 15"/>
          <p:cNvSpPr txBox="1"/>
          <p:nvPr/>
        </p:nvSpPr>
        <p:spPr>
          <a:xfrm>
            <a:off x="640080" y="3557626"/>
            <a:ext cx="6675120" cy="274320"/>
          </a:xfrm>
          <a:prstGeom prst="rect">
            <a:avLst/>
          </a:prstGeom>
          <a:noFill/>
          <a:ln/>
        </p:spPr>
        <p:txBody>
          <a:bodyPr wrap="square" lIns="0" tIns="0" rIns="0" bIns="0" rtlCol="0" anchor="ctr"/>
          <a:lstStyle/>
          <a:p>
            <a:pPr indent="0" marL="0">
              <a:buNone/>
            </a:pPr>
            <a:r>
              <a:rPr lang="en-US" sz="1350" b="1" dirty="0">
                <a:solidFill>
                  <a:srgbClr val="2957D4"/>
                </a:solidFill>
                <a:latin typeface="Calibri" pitchFamily="34" charset="0"/>
                <a:ea typeface="Calibri" pitchFamily="34" charset="-122"/>
                <a:cs typeface="Calibri" pitchFamily="34" charset="-120"/>
              </a:rPr>
              <a:t>Bileşenler nereden geliyor?</a:t>
            </a:r>
            <a:endParaRPr lang="en-US" sz="1350" dirty="0"/>
          </a:p>
        </p:txBody>
      </p:sp>
      <p:sp>
        <p:nvSpPr>
          <p:cNvPr id="18" name="Text 16"/>
          <p:cNvSpPr txBox="1"/>
          <p:nvPr/>
        </p:nvSpPr>
        <p:spPr>
          <a:xfrm>
            <a:off x="640080" y="3868522"/>
            <a:ext cx="6675120" cy="1850898"/>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Dik üçgen kur: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ilk hız vektörü hipotenüstür; yatay ve düşey bileşenler üçgenin iki dik kenarıdır.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Yatay kenar: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α açısının komşusudur; cosα = v₀ₓ / v₀ olduğundan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v₀ₓ = v₀·cosα</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Düşey kenar: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α açısının karşısındadır; sinα = v₀ᵧ / v₀ olduğundan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v₀ᵧ = v₀·sinα</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Kontrol:</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Pisagor bağıntısı v₀ₓ² + v₀ᵧ² = v₀² vermelidir.</a:t>
            </a:r>
            <a:endParaRPr lang="en-US" sz="1300" dirty="0"/>
          </a:p>
        </p:txBody>
      </p:sp>
      <p:sp>
        <p:nvSpPr>
          <p:cNvPr id="19" name="Shape 17"/>
          <p:cNvSpPr/>
          <p:nvPr/>
        </p:nvSpPr>
        <p:spPr>
          <a:xfrm>
            <a:off x="7607808" y="2277466"/>
            <a:ext cx="3943807" cy="3550838"/>
          </a:xfrm>
          <a:prstGeom prst="roundRect">
            <a:avLst>
              <a:gd name="adj" fmla="val 412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20" name="Image 0" descr="/tmp/claude-1000/-opt-dersler/8a8328c3-841c-44fa-b76f-82572d338d3d/scratchpad/d5/sek/iki-boyutta-hareket-03.png">    </p:cNvPr>
          <p:cNvPicPr>
            <a:picLocks noChangeAspect="1"/>
          </p:cNvPicPr>
          <p:nvPr/>
        </p:nvPicPr>
        <p:blipFill>
          <a:blip r:embed="rId1"/>
          <a:stretch>
            <a:fillRect/>
          </a:stretch>
        </p:blipFill>
        <p:spPr>
          <a:xfrm>
            <a:off x="7790688" y="2460346"/>
            <a:ext cx="3578047" cy="1729354"/>
          </a:xfrm>
          <a:prstGeom prst="rect">
            <a:avLst/>
          </a:prstGeom>
        </p:spPr>
      </p:pic>
      <p:sp>
        <p:nvSpPr>
          <p:cNvPr id="21" name="Shape 18"/>
          <p:cNvSpPr/>
          <p:nvPr/>
        </p:nvSpPr>
        <p:spPr>
          <a:xfrm>
            <a:off x="7790688" y="4281139"/>
            <a:ext cx="3578047" cy="0"/>
          </a:xfrm>
          <a:prstGeom prst="line">
            <a:avLst/>
          </a:prstGeom>
          <a:noFill/>
          <a:ln w="9525">
            <a:solidFill>
              <a:srgbClr val="E1E5EE"/>
            </a:solidFill>
            <a:prstDash val="dash"/>
          </a:ln>
        </p:spPr>
      </p:sp>
      <p:sp>
        <p:nvSpPr>
          <p:cNvPr id="22" name="Text 19"/>
          <p:cNvSpPr txBox="1"/>
          <p:nvPr/>
        </p:nvSpPr>
        <p:spPr>
          <a:xfrm>
            <a:off x="7790688" y="4336003"/>
            <a:ext cx="3578047" cy="1309421"/>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Solda atış anı: ilk hız, yatayla α açısı yapan bir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vektördür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ve dik üçgenle bileşenlerine ayrılır. Sağda yörüngenin herhangi bir noktası: yeşil bileşen hiç değişmez, sarı bileşen g yüzünden sürekli değişir, ikisinin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vektörel toplamı</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olan mavi ok ise daima eğriye teğettir. Bu yüzden bileşenler skaler toplanmaz: 30 ve 40 bileşenleri 70 değil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50</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verir.</a:t>
            </a:r>
            <a:endParaRPr lang="en-US" sz="1050" dirty="0"/>
          </a:p>
        </p:txBody>
      </p:sp>
      <p:sp>
        <p:nvSpPr>
          <p:cNvPr id="23" name="Shape 20"/>
          <p:cNvSpPr/>
          <p:nvPr/>
        </p:nvSpPr>
        <p:spPr>
          <a:xfrm>
            <a:off x="640080" y="6382512"/>
            <a:ext cx="128016" cy="128016"/>
          </a:xfrm>
          <a:prstGeom prst="roundRect">
            <a:avLst>
              <a:gd name="adj" fmla="val 28571"/>
            </a:avLst>
          </a:prstGeom>
          <a:solidFill>
            <a:srgbClr val="A9E648"/>
          </a:solidFill>
          <a:ln/>
        </p:spPr>
      </p:sp>
      <p:sp>
        <p:nvSpPr>
          <p:cNvPr id="24" name="Text 2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25" name="Text 2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900" b="1" spc="-50" kern="0" dirty="0">
                <a:solidFill>
                  <a:srgbClr val="0E1426"/>
                </a:solidFill>
                <a:latin typeface="Cambria" pitchFamily="34" charset="0"/>
                <a:ea typeface="Cambria" pitchFamily="34" charset="-122"/>
                <a:cs typeface="Cambria" pitchFamily="34" charset="-120"/>
              </a:rPr>
              <a:t>Vektörel bağıntılar ve bileşenlere ayırma · devam</a:t>
            </a:r>
            <a:endParaRPr lang="en-US" sz="29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40080" y="1481328"/>
          <a:ext cx="10911535" cy="914400"/>
        </p:xfrm>
        <a:graphic>
          <a:graphicData uri="http://schemas.openxmlformats.org/drawingml/2006/table">
            <a:tbl>
              <a:tblPr/>
              <a:tblGrid>
                <a:gridCol w="1069758"/>
                <a:gridCol w="4279033"/>
                <a:gridCol w="5562743"/>
              </a:tblGrid>
              <a:tr h="338328">
                <a:tc>
                  <a:txBody>
                    <a:bodyPr/>
                    <a:lstStyle/>
                    <a:p>
                      <a:pPr indent="0" marL="0">
                        <a:buNone/>
                      </a:pP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Yatay (x)</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Düşey (y)</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İvme</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ax = 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ay = −g</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Hız</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vx = v₀·cosα (sabit)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vy = v₀·sinα − g·t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Konum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x = v₀·cosα·t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y = y₀ + v₀·sinα·t − ½g·t²</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7" name="Shape 4"/>
          <p:cNvSpPr/>
          <p:nvPr/>
        </p:nvSpPr>
        <p:spPr>
          <a:xfrm>
            <a:off x="640080" y="2962656"/>
            <a:ext cx="2037283" cy="457200"/>
          </a:xfrm>
          <a:prstGeom prst="roundRect">
            <a:avLst>
              <a:gd name="adj" fmla="val 24000"/>
            </a:avLst>
          </a:prstGeom>
          <a:solidFill>
            <a:srgbClr val="EEF2FC"/>
          </a:solidFill>
          <a:ln w="9525">
            <a:solidFill>
              <a:srgbClr val="CBD7F4"/>
            </a:solidFill>
            <a:prstDash val="solid"/>
          </a:ln>
        </p:spPr>
      </p:sp>
      <p:sp>
        <p:nvSpPr>
          <p:cNvPr id="8" name="Text 5"/>
          <p:cNvSpPr txBox="1"/>
          <p:nvPr/>
        </p:nvSpPr>
        <p:spPr>
          <a:xfrm>
            <a:off x="640080" y="2962656"/>
            <a:ext cx="2037283"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v = √(vx² + vy²)</a:t>
            </a:r>
            <a:endParaRPr lang="en-US" sz="1300" dirty="0"/>
          </a:p>
        </p:txBody>
      </p:sp>
      <p:sp>
        <p:nvSpPr>
          <p:cNvPr id="9" name="Shape 6"/>
          <p:cNvSpPr/>
          <p:nvPr/>
        </p:nvSpPr>
        <p:spPr>
          <a:xfrm>
            <a:off x="2787091" y="2962656"/>
            <a:ext cx="1839773" cy="457200"/>
          </a:xfrm>
          <a:prstGeom prst="roundRect">
            <a:avLst>
              <a:gd name="adj" fmla="val 24000"/>
            </a:avLst>
          </a:prstGeom>
          <a:solidFill>
            <a:srgbClr val="EEF2FC"/>
          </a:solidFill>
          <a:ln w="9525">
            <a:solidFill>
              <a:srgbClr val="CBD7F4"/>
            </a:solidFill>
            <a:prstDash val="solid"/>
          </a:ln>
        </p:spPr>
      </p:sp>
      <p:sp>
        <p:nvSpPr>
          <p:cNvPr id="10" name="Text 7"/>
          <p:cNvSpPr txBox="1"/>
          <p:nvPr/>
        </p:nvSpPr>
        <p:spPr>
          <a:xfrm>
            <a:off x="2787091" y="2962656"/>
            <a:ext cx="1839773"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tanθ = vy / vx</a:t>
            </a:r>
            <a:endParaRPr lang="en-US" sz="1300" dirty="0"/>
          </a:p>
        </p:txBody>
      </p:sp>
      <p:graphicFrame>
        <p:nvGraphicFramePr>
          <p:cNvPr id="29" name="Table 1"/>
          <p:cNvGraphicFramePr>
            <a:graphicFrameLocks noGrp="1"/>
          </p:cNvGraphicFramePr>
          <p:nvPr>
            <p:extLst>
              <p:ext uri="{D42A27DB-BD31-4B8C-83A1-F6EECF244321}">
                <p14:modId xmlns:p14="http://schemas.microsoft.com/office/powerpoint/2010/main" val="1579011935"/>
              </p:ext>
            </p:extLst>
          </p:nvPr>
        </p:nvGraphicFramePr>
        <p:xfrm>
          <a:off x="640080" y="3584448"/>
          <a:ext cx="10911535" cy="914400"/>
        </p:xfrm>
        <a:graphic>
          <a:graphicData uri="http://schemas.openxmlformats.org/drawingml/2006/table">
            <a:tbl>
              <a:tblPr/>
              <a:tblGrid>
                <a:gridCol w="2975873"/>
                <a:gridCol w="3967831"/>
                <a:gridCol w="3967831"/>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Açı</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sinα</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cosα</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0,5</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0,87</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37°</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0,6</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0,8</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45°</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0,71</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0,71</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53°</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0,8</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0,6</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60°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0,87</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0,5</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2" name="Shape 8"/>
          <p:cNvSpPr/>
          <p:nvPr/>
        </p:nvSpPr>
        <p:spPr>
          <a:xfrm>
            <a:off x="640080" y="6382512"/>
            <a:ext cx="128016" cy="128016"/>
          </a:xfrm>
          <a:prstGeom prst="roundRect">
            <a:avLst>
              <a:gd name="adj" fmla="val 28571"/>
            </a:avLst>
          </a:prstGeom>
          <a:solidFill>
            <a:srgbClr val="A9E648"/>
          </a:solidFill>
          <a:ln/>
        </p:spPr>
      </p:sp>
      <p:sp>
        <p:nvSpPr>
          <p:cNvPr id="13"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4"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900" b="1" spc="-50" kern="0" dirty="0">
                <a:solidFill>
                  <a:srgbClr val="0E1426"/>
                </a:solidFill>
                <a:latin typeface="Cambria" pitchFamily="34" charset="0"/>
                <a:ea typeface="Cambria" pitchFamily="34" charset="-122"/>
                <a:cs typeface="Cambria" pitchFamily="34" charset="-120"/>
              </a:rPr>
              <a:t>Vektörel bağıntılar ve bileşenlere ayırma · devam</a:t>
            </a:r>
            <a:endParaRPr lang="en-US" sz="29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481328"/>
            <a:ext cx="10911535" cy="612648"/>
          </a:xfrm>
          <a:prstGeom prst="roundRect">
            <a:avLst>
              <a:gd name="adj" fmla="val 1791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627632"/>
            <a:ext cx="45720" cy="320040"/>
          </a:xfrm>
          <a:prstGeom prst="rect">
            <a:avLst/>
          </a:prstGeom>
          <a:solidFill>
            <a:srgbClr val="A56209"/>
          </a:solidFill>
          <a:ln/>
        </p:spPr>
      </p:sp>
      <p:sp>
        <p:nvSpPr>
          <p:cNvPr id="8" name="Text 6"/>
          <p:cNvSpPr txBox="1"/>
          <p:nvPr/>
        </p:nvSpPr>
        <p:spPr>
          <a:xfrm>
            <a:off x="914400" y="1591056"/>
            <a:ext cx="10454335" cy="393192"/>
          </a:xfrm>
          <a:prstGeom prst="rect">
            <a:avLst/>
          </a:prstGeom>
          <a:noFill/>
          <a:ln/>
        </p:spPr>
        <p:txBody>
          <a:bodyPr wrap="square" lIns="0" tIns="0" rIns="0" bIns="0" rtlCol="0" anchor="ctr"/>
          <a:lstStyle/>
          <a:p>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Bileşenler skaler toplanmaz.</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v</a:t>
            </a:r>
            <a:pPr indent="0" marL="0">
              <a:lnSpc>
                <a:spcPct val="112000"/>
              </a:lnSpc>
              <a:buNone/>
            </a:pPr>
            <a:r>
              <a:rPr lang="en-US" sz="1200" baseline="-40000" dirty="0">
                <a:solidFill>
                  <a:srgbClr val="4A5470"/>
                </a:solidFill>
                <a:latin typeface="Calibri" pitchFamily="34" charset="0"/>
                <a:ea typeface="Calibri" pitchFamily="34" charset="-122"/>
                <a:cs typeface="Calibri" pitchFamily="34" charset="-120"/>
              </a:rPr>
              <a:t>x</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 30 m/s ve v</a:t>
            </a:r>
            <a:pPr indent="0" marL="0">
              <a:lnSpc>
                <a:spcPct val="112000"/>
              </a:lnSpc>
              <a:buNone/>
            </a:pPr>
            <a:r>
              <a:rPr lang="en-US" sz="1200" baseline="-40000" dirty="0">
                <a:solidFill>
                  <a:srgbClr val="4A5470"/>
                </a:solidFill>
                <a:latin typeface="Calibri" pitchFamily="34" charset="0"/>
                <a:ea typeface="Calibri" pitchFamily="34" charset="-122"/>
                <a:cs typeface="Calibri" pitchFamily="34" charset="-120"/>
              </a:rPr>
              <a:t>y</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 40 m/s ise sürat 70 m/s değil, </a:t>
            </a:r>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50 m/s</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'dir. Dik üçgen kurmayı unutma.</a:t>
            </a:r>
            <a:endParaRPr lang="en-US" sz="120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Yatay atış</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2957D4"/>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Yatay atışta düşey hareket serbest düşmedir: süre t = √(2h/g) yalnızca yüksekliğe bağlıdır. Menzil x = v₀·t, çarpma sürati v = √(v₀² + 2gh) ile bulunur.</a:t>
            </a:r>
            <a:endParaRPr lang="en-US" sz="1900" dirty="0"/>
          </a:p>
        </p:txBody>
      </p:sp>
      <p:sp>
        <p:nvSpPr>
          <p:cNvPr id="9" name="Shape 7"/>
          <p:cNvSpPr/>
          <p:nvPr/>
        </p:nvSpPr>
        <p:spPr>
          <a:xfrm>
            <a:off x="640080" y="2294534"/>
            <a:ext cx="1741018"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294534"/>
            <a:ext cx="174101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t = √(2h / g)</a:t>
            </a:r>
            <a:endParaRPr lang="en-US" sz="1300" dirty="0"/>
          </a:p>
        </p:txBody>
      </p:sp>
      <p:sp>
        <p:nvSpPr>
          <p:cNvPr id="11" name="Shape 9"/>
          <p:cNvSpPr/>
          <p:nvPr/>
        </p:nvSpPr>
        <p:spPr>
          <a:xfrm>
            <a:off x="2490826" y="2294534"/>
            <a:ext cx="2234794"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2490826" y="2294534"/>
            <a:ext cx="223479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x = v₀ · √(2h / g)</a:t>
            </a:r>
            <a:endParaRPr lang="en-US" sz="1300" dirty="0"/>
          </a:p>
        </p:txBody>
      </p:sp>
      <p:sp>
        <p:nvSpPr>
          <p:cNvPr id="13" name="Shape 11"/>
          <p:cNvSpPr/>
          <p:nvPr/>
        </p:nvSpPr>
        <p:spPr>
          <a:xfrm>
            <a:off x="4835347" y="2294534"/>
            <a:ext cx="1247242" cy="457200"/>
          </a:xfrm>
          <a:prstGeom prst="roundRect">
            <a:avLst>
              <a:gd name="adj" fmla="val 24000"/>
            </a:avLst>
          </a:prstGeom>
          <a:solidFill>
            <a:srgbClr val="EEF2FC"/>
          </a:solidFill>
          <a:ln w="9525">
            <a:solidFill>
              <a:srgbClr val="CBD7F4"/>
            </a:solidFill>
            <a:prstDash val="solid"/>
          </a:ln>
        </p:spPr>
      </p:sp>
      <p:sp>
        <p:nvSpPr>
          <p:cNvPr id="14" name="Text 12"/>
          <p:cNvSpPr txBox="1"/>
          <p:nvPr/>
        </p:nvSpPr>
        <p:spPr>
          <a:xfrm>
            <a:off x="4835347" y="2294534"/>
            <a:ext cx="1247242"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vy = g·t</a:t>
            </a:r>
            <a:endParaRPr lang="en-US" sz="1300" dirty="0"/>
          </a:p>
        </p:txBody>
      </p:sp>
      <p:sp>
        <p:nvSpPr>
          <p:cNvPr id="15" name="Shape 13"/>
          <p:cNvSpPr/>
          <p:nvPr/>
        </p:nvSpPr>
        <p:spPr>
          <a:xfrm>
            <a:off x="640080" y="2861462"/>
            <a:ext cx="2037283" cy="457200"/>
          </a:xfrm>
          <a:prstGeom prst="roundRect">
            <a:avLst>
              <a:gd name="adj" fmla="val 24000"/>
            </a:avLst>
          </a:prstGeom>
          <a:solidFill>
            <a:srgbClr val="EEF2FC"/>
          </a:solidFill>
          <a:ln w="9525">
            <a:solidFill>
              <a:srgbClr val="CBD7F4"/>
            </a:solidFill>
            <a:prstDash val="solid"/>
          </a:ln>
        </p:spPr>
      </p:sp>
      <p:sp>
        <p:nvSpPr>
          <p:cNvPr id="16" name="Text 14"/>
          <p:cNvSpPr txBox="1"/>
          <p:nvPr/>
        </p:nvSpPr>
        <p:spPr>
          <a:xfrm>
            <a:off x="640080" y="2861462"/>
            <a:ext cx="2037283"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v = √(v₀² + 2gh)</a:t>
            </a:r>
            <a:endParaRPr lang="en-US" sz="1300" dirty="0"/>
          </a:p>
        </p:txBody>
      </p:sp>
      <p:sp>
        <p:nvSpPr>
          <p:cNvPr id="17" name="Text 15"/>
          <p:cNvSpPr txBox="1"/>
          <p:nvPr/>
        </p:nvSpPr>
        <p:spPr>
          <a:xfrm>
            <a:off x="640080" y="3519830"/>
            <a:ext cx="6675120" cy="274320"/>
          </a:xfrm>
          <a:prstGeom prst="rect">
            <a:avLst/>
          </a:prstGeom>
          <a:noFill/>
          <a:ln/>
        </p:spPr>
        <p:txBody>
          <a:bodyPr wrap="square" lIns="0" tIns="0" rIns="0" bIns="0" rtlCol="0" anchor="ctr"/>
          <a:lstStyle/>
          <a:p>
            <a:pPr indent="0" marL="0">
              <a:buNone/>
            </a:pPr>
            <a:r>
              <a:rPr lang="en-US" sz="1350" b="1" dirty="0">
                <a:solidFill>
                  <a:srgbClr val="2957D4"/>
                </a:solidFill>
                <a:latin typeface="Calibri" pitchFamily="34" charset="0"/>
                <a:ea typeface="Calibri" pitchFamily="34" charset="-122"/>
                <a:cs typeface="Calibri" pitchFamily="34" charset="-120"/>
              </a:rPr>
              <a:t>Bağıntılar nereden geliyor?</a:t>
            </a:r>
            <a:endParaRPr lang="en-US" sz="1350" dirty="0"/>
          </a:p>
        </p:txBody>
      </p:sp>
      <p:sp>
        <p:nvSpPr>
          <p:cNvPr id="18" name="Shape 16"/>
          <p:cNvSpPr/>
          <p:nvPr/>
        </p:nvSpPr>
        <p:spPr>
          <a:xfrm>
            <a:off x="7607808" y="2294534"/>
            <a:ext cx="3943807" cy="3490848"/>
          </a:xfrm>
          <a:prstGeom prst="roundRect">
            <a:avLst>
              <a:gd name="adj" fmla="val 4191"/>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9" name="Image 0" descr="/tmp/claude-1000/-opt-dersler/8a8328c3-841c-44fa-b76f-82572d338d3d/scratchpad/d5/sek/iki-boyutta-hareket-04.png">    </p:cNvPr>
          <p:cNvPicPr>
            <a:picLocks noChangeAspect="1"/>
          </p:cNvPicPr>
          <p:nvPr/>
        </p:nvPicPr>
        <p:blipFill>
          <a:blip r:embed="rId1"/>
          <a:stretch>
            <a:fillRect/>
          </a:stretch>
        </p:blipFill>
        <p:spPr>
          <a:xfrm>
            <a:off x="7790688" y="2477414"/>
            <a:ext cx="3578047" cy="1848586"/>
          </a:xfrm>
          <a:prstGeom prst="rect">
            <a:avLst/>
          </a:prstGeom>
        </p:spPr>
      </p:pic>
      <p:sp>
        <p:nvSpPr>
          <p:cNvPr id="20" name="Shape 17"/>
          <p:cNvSpPr/>
          <p:nvPr/>
        </p:nvSpPr>
        <p:spPr>
          <a:xfrm>
            <a:off x="7790688" y="4417440"/>
            <a:ext cx="3578047" cy="0"/>
          </a:xfrm>
          <a:prstGeom prst="line">
            <a:avLst/>
          </a:prstGeom>
          <a:noFill/>
          <a:ln w="9525">
            <a:solidFill>
              <a:srgbClr val="E1E5EE"/>
            </a:solidFill>
            <a:prstDash val="dash"/>
          </a:ln>
        </p:spPr>
      </p:sp>
      <p:sp>
        <p:nvSpPr>
          <p:cNvPr id="21" name="Text 18"/>
          <p:cNvSpPr txBox="1"/>
          <p:nvPr/>
        </p:nvSpPr>
        <p:spPr>
          <a:xfrm>
            <a:off x="7790688" y="4472304"/>
            <a:ext cx="357804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İki cisim aynı yükseklikten yatay olarak atılıyor; morun sürati mavinin iki katı. Kesikli çizgiler her an ikisinin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aynı yükseklikte</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olduğunu gösteriyor: uçuş süresi v₀'a hiç bağlı değil, yalnızca h'ye bağlı (t = √(2h/g)). Sürati iki katına çıkarmak yalnızca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menzili</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iki katına çıkarır.</a:t>
            </a:r>
            <a:endParaRPr lang="en-US" sz="1050" dirty="0"/>
          </a:p>
        </p:txBody>
      </p:sp>
      <p:sp>
        <p:nvSpPr>
          <p:cNvPr id="22" name="Shape 19"/>
          <p:cNvSpPr/>
          <p:nvPr/>
        </p:nvSpPr>
        <p:spPr>
          <a:xfrm>
            <a:off x="640080" y="6382512"/>
            <a:ext cx="128016" cy="128016"/>
          </a:xfrm>
          <a:prstGeom prst="roundRect">
            <a:avLst>
              <a:gd name="adj" fmla="val 28571"/>
            </a:avLst>
          </a:prstGeom>
          <a:solidFill>
            <a:srgbClr val="A9E648"/>
          </a:solidFill>
          <a:ln/>
        </p:spPr>
      </p:sp>
      <p:sp>
        <p:nvSpPr>
          <p:cNvPr id="23" name="Text 2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24" name="Text 2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16</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Yatay atış · devam</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Text 4"/>
          <p:cNvSpPr txBox="1"/>
          <p:nvPr/>
        </p:nvSpPr>
        <p:spPr>
          <a:xfrm>
            <a:off x="640080" y="1481328"/>
            <a:ext cx="10911535" cy="1167384"/>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Düşeyde süre:</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cisim h yüksekliğinden ilk hızsız düşer, h = ½·g·t² olur; buradan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t = √(2h/g)</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Yatayda yol:</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yatay hız sabit v₀ olduğundan x = v₀·t; süreyi yerine koyunca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x = v₀·√(2h/g)</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Düşey hız:</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serbest düşmedeki gibi v</a:t>
            </a:r>
            <a:pPr indent="0" marL="0">
              <a:lnSpc>
                <a:spcPct val="115000"/>
              </a:lnSpc>
              <a:buNone/>
            </a:pPr>
            <a:r>
              <a:rPr lang="en-US" sz="1300" baseline="-40000" dirty="0">
                <a:solidFill>
                  <a:srgbClr val="4A5470"/>
                </a:solidFill>
                <a:latin typeface="Calibri" pitchFamily="34" charset="0"/>
                <a:ea typeface="Calibri" pitchFamily="34" charset="-122"/>
                <a:cs typeface="Calibri" pitchFamily="34" charset="-120"/>
              </a:rPr>
              <a:t>y</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 g·t; yere değerken v</a:t>
            </a:r>
            <a:pPr indent="0" marL="0">
              <a:lnSpc>
                <a:spcPct val="115000"/>
              </a:lnSpc>
              <a:buNone/>
            </a:pPr>
            <a:r>
              <a:rPr lang="en-US" sz="1300" baseline="-40000" dirty="0">
                <a:solidFill>
                  <a:srgbClr val="4A5470"/>
                </a:solidFill>
                <a:latin typeface="Calibri" pitchFamily="34" charset="0"/>
                <a:ea typeface="Calibri" pitchFamily="34" charset="-122"/>
                <a:cs typeface="Calibri" pitchFamily="34" charset="-120"/>
              </a:rPr>
              <a:t>y</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² = 2gh.</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Sürat:</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dik bileşenler Pisagor ile birleşir: v² = v₀² + v</a:t>
            </a:r>
            <a:pPr indent="0" marL="0">
              <a:lnSpc>
                <a:spcPct val="115000"/>
              </a:lnSpc>
              <a:buNone/>
            </a:pPr>
            <a:r>
              <a:rPr lang="en-US" sz="1300" baseline="-40000" dirty="0">
                <a:solidFill>
                  <a:srgbClr val="4A5470"/>
                </a:solidFill>
                <a:latin typeface="Calibri" pitchFamily="34" charset="0"/>
                <a:ea typeface="Calibri" pitchFamily="34" charset="-122"/>
                <a:cs typeface="Calibri" pitchFamily="34" charset="-120"/>
              </a:rPr>
              <a:t>y</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² =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v₀² + 2gh</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a:t>
            </a:r>
            <a:endParaRPr lang="en-US" sz="1300" dirty="0"/>
          </a:p>
        </p:txBody>
      </p:sp>
      <p:sp>
        <p:nvSpPr>
          <p:cNvPr id="7" name="Shape 5"/>
          <p:cNvSpPr/>
          <p:nvPr/>
        </p:nvSpPr>
        <p:spPr>
          <a:xfrm>
            <a:off x="640080" y="2758440"/>
            <a:ext cx="10911535" cy="822960"/>
          </a:xfrm>
          <a:prstGeom prst="roundRect">
            <a:avLst>
              <a:gd name="adj" fmla="val 1333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58368" y="2904744"/>
            <a:ext cx="45720" cy="530352"/>
          </a:xfrm>
          <a:prstGeom prst="rect">
            <a:avLst/>
          </a:prstGeom>
          <a:solidFill>
            <a:srgbClr val="3C8C21"/>
          </a:solidFill>
          <a:ln/>
        </p:spPr>
      </p:sp>
      <p:sp>
        <p:nvSpPr>
          <p:cNvPr id="9" name="Text 7"/>
          <p:cNvSpPr txBox="1"/>
          <p:nvPr/>
        </p:nvSpPr>
        <p:spPr>
          <a:xfrm>
            <a:off x="914400" y="2868168"/>
            <a:ext cx="10454335" cy="603504"/>
          </a:xfrm>
          <a:prstGeom prst="rect">
            <a:avLst/>
          </a:prstGeom>
          <a:noFill/>
          <a:ln/>
        </p:spPr>
        <p:txBody>
          <a:bodyPr wrap="square" lIns="0" tIns="0" rIns="0" bIns="0" rtlCol="0" anchor="ctr"/>
          <a:lstStyle/>
          <a:p>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Birim kontrolü:</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√(2h/g) için √(m ÷ m/s²) = √(s²) = s çıkar, bu bir süredir ✓. v₀·t için (m/s)·s = m çıkar, bu bir uzunluktur ✓. “t = 2h/g” yazsaydın birim s² olurdu; karekökü unuttuğunu birim söyler.</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17</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800" b="1" spc="-50" kern="0" dirty="0">
                <a:solidFill>
                  <a:srgbClr val="0E1426"/>
                </a:solidFill>
                <a:latin typeface="Cambria" pitchFamily="34" charset="0"/>
                <a:ea typeface="Cambria" pitchFamily="34" charset="-122"/>
                <a:cs typeface="Cambria" pitchFamily="34" charset="-120"/>
              </a:rPr>
              <a:t>Sayılarla hisset: ne kadar sürede, ne kadar öteye?</a:t>
            </a:r>
            <a:endParaRPr lang="en-US" sz="28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2957D4"/>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Yatay atışta süre yüksekliğin kareköküyle büyür ve ilk hızdan bağımsızdır; menzil ilk hızla doğru orantılıdır. 4 kat yükseklik 2 kat süre, 2 kat ilk hız 2 kat menzil demektir.</a:t>
            </a:r>
            <a:endParaRPr lang="en-US" sz="18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40080" y="2593238"/>
          <a:ext cx="10911535" cy="914400"/>
        </p:xfrm>
        <a:graphic>
          <a:graphicData uri="http://schemas.openxmlformats.org/drawingml/2006/table">
            <a:tbl>
              <a:tblPr/>
              <a:tblGrid>
                <a:gridCol w="3946725"/>
                <a:gridCol w="2553764"/>
                <a:gridCol w="1392962"/>
                <a:gridCol w="3018084"/>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Yükseklik</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Uçuş süresi</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Menzil</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Çarpma sürati</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0,8 m (masa)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0,4 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4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10,8 m/s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5 m (balkon)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 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10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14,1 m/s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20 m (altı kat)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 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20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22,4 m/s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45 m (on beş kat)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 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30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31,6 m/s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80 m (kule)</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4 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40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41,2 m/s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18</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80 m'lik kuleden topu 10 m/s yerine 20 m/s ile yatay atarsan uçuş süresi ve menzil ne olur?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06 · Sayılarla hisset: ne kadar sürede, ne kadar öteye?</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19</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80 m'lik kuleden topu 10 m/s yerine 20 m/s ile yatay atarsan uçuş süresi ve menzil ne olur?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Uçuş süresi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değişmez</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yine 4 s'dir; süreyi yalnızca yükseklik ve g belirler. Menzil ise ilk hızla doğru orantılı olduğu için iki katına çıkar: 20 · 4 =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80 m</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20</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Eğik atış</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2957D4"/>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Eğik atışta yatay hız sabit kalır, düşey hız tepede sıfırlanır. Tepeye çıkış süresi v₀·sinα/g, tepe yüksekliği v₀²·sin²α/(2g)'dir; hareket tepeye göre simetriktir.</a:t>
            </a:r>
            <a:endParaRPr lang="en-US" sz="1900" dirty="0"/>
          </a:p>
        </p:txBody>
      </p:sp>
      <p:sp>
        <p:nvSpPr>
          <p:cNvPr id="9" name="Shape 7"/>
          <p:cNvSpPr/>
          <p:nvPr/>
        </p:nvSpPr>
        <p:spPr>
          <a:xfrm>
            <a:off x="640080" y="2294534"/>
            <a:ext cx="2333549"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294534"/>
            <a:ext cx="2333549"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ttepe = v₀·sinα / g</a:t>
            </a:r>
            <a:endParaRPr lang="en-US" sz="1300" dirty="0"/>
          </a:p>
        </p:txBody>
      </p:sp>
      <p:sp>
        <p:nvSpPr>
          <p:cNvPr id="11" name="Shape 9"/>
          <p:cNvSpPr/>
          <p:nvPr/>
        </p:nvSpPr>
        <p:spPr>
          <a:xfrm>
            <a:off x="3083357" y="2294534"/>
            <a:ext cx="2827325"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3083357" y="2294534"/>
            <a:ext cx="2827325"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hmaks = v₀²·sin²α / (2g)</a:t>
            </a:r>
            <a:endParaRPr lang="en-US" sz="1300" dirty="0"/>
          </a:p>
        </p:txBody>
      </p:sp>
      <p:sp>
        <p:nvSpPr>
          <p:cNvPr id="13" name="Shape 11"/>
          <p:cNvSpPr/>
          <p:nvPr/>
        </p:nvSpPr>
        <p:spPr>
          <a:xfrm>
            <a:off x="640080" y="2861462"/>
            <a:ext cx="2531059" cy="457200"/>
          </a:xfrm>
          <a:prstGeom prst="roundRect">
            <a:avLst>
              <a:gd name="adj" fmla="val 24000"/>
            </a:avLst>
          </a:prstGeom>
          <a:solidFill>
            <a:srgbClr val="EEF2FC"/>
          </a:solidFill>
          <a:ln w="9525">
            <a:solidFill>
              <a:srgbClr val="CBD7F4"/>
            </a:solidFill>
            <a:prstDash val="solid"/>
          </a:ln>
        </p:spPr>
      </p:sp>
      <p:sp>
        <p:nvSpPr>
          <p:cNvPr id="14" name="Text 12"/>
          <p:cNvSpPr txBox="1"/>
          <p:nvPr/>
        </p:nvSpPr>
        <p:spPr>
          <a:xfrm>
            <a:off x="640080" y="2861462"/>
            <a:ext cx="2531059"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tuçuş = 2·v₀·sinα / g</a:t>
            </a:r>
            <a:endParaRPr lang="en-US" sz="1300" dirty="0"/>
          </a:p>
        </p:txBody>
      </p:sp>
      <p:sp>
        <p:nvSpPr>
          <p:cNvPr id="15" name="Shape 13"/>
          <p:cNvSpPr/>
          <p:nvPr/>
        </p:nvSpPr>
        <p:spPr>
          <a:xfrm>
            <a:off x="3280867" y="2861462"/>
            <a:ext cx="2136038" cy="457200"/>
          </a:xfrm>
          <a:prstGeom prst="roundRect">
            <a:avLst>
              <a:gd name="adj" fmla="val 24000"/>
            </a:avLst>
          </a:prstGeom>
          <a:solidFill>
            <a:srgbClr val="EEF2FC"/>
          </a:solidFill>
          <a:ln w="9525">
            <a:solidFill>
              <a:srgbClr val="CBD7F4"/>
            </a:solidFill>
            <a:prstDash val="solid"/>
          </a:ln>
        </p:spPr>
      </p:sp>
      <p:sp>
        <p:nvSpPr>
          <p:cNvPr id="16" name="Text 14"/>
          <p:cNvSpPr txBox="1"/>
          <p:nvPr/>
        </p:nvSpPr>
        <p:spPr>
          <a:xfrm>
            <a:off x="3280867" y="2861462"/>
            <a:ext cx="213603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R = v₀²·sin2α / g</a:t>
            </a:r>
            <a:endParaRPr lang="en-US" sz="1300" dirty="0"/>
          </a:p>
        </p:txBody>
      </p:sp>
      <p:sp>
        <p:nvSpPr>
          <p:cNvPr id="17" name="Text 15"/>
          <p:cNvSpPr txBox="1"/>
          <p:nvPr/>
        </p:nvSpPr>
        <p:spPr>
          <a:xfrm>
            <a:off x="640080" y="3519830"/>
            <a:ext cx="6675120" cy="274320"/>
          </a:xfrm>
          <a:prstGeom prst="rect">
            <a:avLst/>
          </a:prstGeom>
          <a:noFill/>
          <a:ln/>
        </p:spPr>
        <p:txBody>
          <a:bodyPr wrap="square" lIns="0" tIns="0" rIns="0" bIns="0" rtlCol="0" anchor="ctr"/>
          <a:lstStyle/>
          <a:p>
            <a:pPr indent="0" marL="0">
              <a:buNone/>
            </a:pPr>
            <a:r>
              <a:rPr lang="en-US" sz="1350" b="1" dirty="0">
                <a:solidFill>
                  <a:srgbClr val="2957D4"/>
                </a:solidFill>
                <a:latin typeface="Calibri" pitchFamily="34" charset="0"/>
                <a:ea typeface="Calibri" pitchFamily="34" charset="-122"/>
                <a:cs typeface="Calibri" pitchFamily="34" charset="-120"/>
              </a:rPr>
              <a:t>Bağıntılar nereden geliyor?</a:t>
            </a:r>
            <a:endParaRPr lang="en-US" sz="1350" dirty="0"/>
          </a:p>
        </p:txBody>
      </p:sp>
      <p:sp>
        <p:nvSpPr>
          <p:cNvPr id="18" name="Text 16"/>
          <p:cNvSpPr txBox="1"/>
          <p:nvPr/>
        </p:nvSpPr>
        <p:spPr>
          <a:xfrm>
            <a:off x="640080" y="3830726"/>
            <a:ext cx="6675120" cy="1850898"/>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Tepe anı:</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tepede v</a:t>
            </a:r>
            <a:pPr indent="0" marL="0">
              <a:lnSpc>
                <a:spcPct val="115000"/>
              </a:lnSpc>
              <a:buNone/>
            </a:pPr>
            <a:r>
              <a:rPr lang="en-US" sz="1300" baseline="-40000" dirty="0">
                <a:solidFill>
                  <a:srgbClr val="4A5470"/>
                </a:solidFill>
                <a:latin typeface="Calibri" pitchFamily="34" charset="0"/>
                <a:ea typeface="Calibri" pitchFamily="34" charset="-122"/>
                <a:cs typeface="Calibri" pitchFamily="34" charset="-120"/>
              </a:rPr>
              <a:t>y</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 0 olur: 0 = v₀·sinα − g·t, buradan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t</a:t>
            </a:r>
            <a:pPr indent="0" marL="0">
              <a:lnSpc>
                <a:spcPct val="115000"/>
              </a:lnSpc>
              <a:buNone/>
            </a:pPr>
            <a:r>
              <a:rPr lang="en-US" sz="1300" b="1" baseline="-40000" dirty="0">
                <a:solidFill>
                  <a:srgbClr val="0E1426"/>
                </a:solidFill>
                <a:latin typeface="Calibri" pitchFamily="34" charset="0"/>
                <a:ea typeface="Calibri" pitchFamily="34" charset="-122"/>
                <a:cs typeface="Calibri" pitchFamily="34" charset="-120"/>
              </a:rPr>
              <a:t>tepe</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 = v₀·sinα / g</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Tepe yüksekliği:</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düşeyde bir düşey atış vardır; v</a:t>
            </a:r>
            <a:pPr indent="0" marL="0">
              <a:lnSpc>
                <a:spcPct val="115000"/>
              </a:lnSpc>
              <a:buNone/>
            </a:pPr>
            <a:r>
              <a:rPr lang="en-US" sz="1300" baseline="-40000" dirty="0">
                <a:solidFill>
                  <a:srgbClr val="4A5470"/>
                </a:solidFill>
                <a:latin typeface="Calibri" pitchFamily="34" charset="0"/>
                <a:ea typeface="Calibri" pitchFamily="34" charset="-122"/>
                <a:cs typeface="Calibri" pitchFamily="34" charset="-120"/>
              </a:rPr>
              <a:t>y</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² = v₀ᵧ² − 2gh ifadesinde v</a:t>
            </a:r>
            <a:pPr indent="0" marL="0">
              <a:lnSpc>
                <a:spcPct val="115000"/>
              </a:lnSpc>
              <a:buNone/>
            </a:pPr>
            <a:r>
              <a:rPr lang="en-US" sz="1300" baseline="-40000" dirty="0">
                <a:solidFill>
                  <a:srgbClr val="4A5470"/>
                </a:solidFill>
                <a:latin typeface="Calibri" pitchFamily="34" charset="0"/>
                <a:ea typeface="Calibri" pitchFamily="34" charset="-122"/>
                <a:cs typeface="Calibri" pitchFamily="34" charset="-120"/>
              </a:rPr>
              <a:t>y</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 0 alınır.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Sonuç:</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h</a:t>
            </a:r>
            <a:pPr indent="0" marL="0">
              <a:lnSpc>
                <a:spcPct val="115000"/>
              </a:lnSpc>
              <a:buNone/>
            </a:pPr>
            <a:r>
              <a:rPr lang="en-US" sz="1300" baseline="-40000" dirty="0">
                <a:solidFill>
                  <a:srgbClr val="4A5470"/>
                </a:solidFill>
                <a:latin typeface="Calibri" pitchFamily="34" charset="0"/>
                <a:ea typeface="Calibri" pitchFamily="34" charset="-122"/>
                <a:cs typeface="Calibri" pitchFamily="34" charset="-120"/>
              </a:rPr>
              <a:t>maks</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 v₀ᵧ² / (2g) =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v₀²·sin²α / (2g)</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Uçuş süresi:</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iniş çıkışın ayna görüntüsüdür; aynı yüksekliğe dönüş için süre iki katıdır: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2·v₀·sinα / g</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a:t>
            </a:r>
            <a:endParaRPr lang="en-US" sz="1300" dirty="0"/>
          </a:p>
        </p:txBody>
      </p:sp>
      <p:sp>
        <p:nvSpPr>
          <p:cNvPr id="19" name="Shape 17"/>
          <p:cNvSpPr/>
          <p:nvPr/>
        </p:nvSpPr>
        <p:spPr>
          <a:xfrm>
            <a:off x="7607808" y="2294534"/>
            <a:ext cx="3943807" cy="3431286"/>
          </a:xfrm>
          <a:prstGeom prst="roundRect">
            <a:avLst>
              <a:gd name="adj" fmla="val 426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20" name="Image 0" descr="/tmp/claude-1000/-opt-dersler/8a8328c3-841c-44fa-b76f-82572d338d3d/scratchpad/d5/sek/iki-boyutta-hareket-05.png">    </p:cNvPr>
          <p:cNvPicPr>
            <a:picLocks noChangeAspect="1"/>
          </p:cNvPicPr>
          <p:nvPr/>
        </p:nvPicPr>
        <p:blipFill>
          <a:blip r:embed="rId1"/>
          <a:stretch>
            <a:fillRect/>
          </a:stretch>
        </p:blipFill>
        <p:spPr>
          <a:xfrm>
            <a:off x="7790688" y="2477414"/>
            <a:ext cx="3578047" cy="1789024"/>
          </a:xfrm>
          <a:prstGeom prst="rect">
            <a:avLst/>
          </a:prstGeom>
        </p:spPr>
      </p:pic>
      <p:sp>
        <p:nvSpPr>
          <p:cNvPr id="21" name="Shape 18"/>
          <p:cNvSpPr/>
          <p:nvPr/>
        </p:nvSpPr>
        <p:spPr>
          <a:xfrm>
            <a:off x="7790688" y="4357878"/>
            <a:ext cx="3578047" cy="0"/>
          </a:xfrm>
          <a:prstGeom prst="line">
            <a:avLst/>
          </a:prstGeom>
          <a:noFill/>
          <a:ln w="9525">
            <a:solidFill>
              <a:srgbClr val="E1E5EE"/>
            </a:solidFill>
            <a:prstDash val="dash"/>
          </a:ln>
        </p:spPr>
      </p:sp>
      <p:sp>
        <p:nvSpPr>
          <p:cNvPr id="22" name="Text 19"/>
          <p:cNvSpPr txBox="1"/>
          <p:nvPr/>
        </p:nvSpPr>
        <p:spPr>
          <a:xfrm>
            <a:off x="7790688" y="4412742"/>
            <a:ext cx="357804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Eğik atış boyunca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yatay bileşen hiç değişmez</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 yeşil oklar baştan sona aynı boydadır. Düşey bileşen ise her saniye g kadar azalır, tepede sıfırlanır, sonra ters yönde aynı hızla büyür. Tepe noktada hız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sıfır değildir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cisim orada hâlâ v₀·cosα süratiyle yatay olarak ilerler.</a:t>
            </a:r>
            <a:endParaRPr lang="en-US" sz="1050" dirty="0"/>
          </a:p>
        </p:txBody>
      </p:sp>
      <p:sp>
        <p:nvSpPr>
          <p:cNvPr id="23" name="Shape 20"/>
          <p:cNvSpPr/>
          <p:nvPr/>
        </p:nvSpPr>
        <p:spPr>
          <a:xfrm>
            <a:off x="640080" y="6382512"/>
            <a:ext cx="128016" cy="128016"/>
          </a:xfrm>
          <a:prstGeom prst="roundRect">
            <a:avLst>
              <a:gd name="adj" fmla="val 28571"/>
            </a:avLst>
          </a:prstGeom>
          <a:solidFill>
            <a:srgbClr val="A9E648"/>
          </a:solidFill>
          <a:ln/>
        </p:spPr>
      </p:sp>
      <p:sp>
        <p:nvSpPr>
          <p:cNvPr id="24" name="Text 2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25" name="Text 2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21</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Eğik atış · devam</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Text 4"/>
          <p:cNvSpPr txBox="1"/>
          <p:nvPr/>
        </p:nvSpPr>
        <p:spPr>
          <a:xfrm>
            <a:off x="640080" y="1517904"/>
            <a:ext cx="10911535" cy="274320"/>
          </a:xfrm>
          <a:prstGeom prst="rect">
            <a:avLst/>
          </a:prstGeom>
          <a:noFill/>
          <a:ln/>
        </p:spPr>
        <p:txBody>
          <a:bodyPr wrap="square" lIns="0" tIns="0" rIns="0" bIns="0" rtlCol="0" anchor="ctr"/>
          <a:lstStyle/>
          <a:p>
            <a:pPr indent="0" marL="0">
              <a:buNone/>
            </a:pPr>
            <a:r>
              <a:rPr lang="en-US" sz="1350" b="1" dirty="0">
                <a:solidFill>
                  <a:srgbClr val="2957D4"/>
                </a:solidFill>
                <a:latin typeface="Calibri" pitchFamily="34" charset="0"/>
                <a:ea typeface="Calibri" pitchFamily="34" charset="-122"/>
                <a:cs typeface="Calibri" pitchFamily="34" charset="-120"/>
              </a:rPr>
              <a:t>Simetri</a:t>
            </a:r>
            <a:endParaRPr lang="en-US" sz="1350" dirty="0"/>
          </a:p>
        </p:txBody>
      </p:sp>
      <p:sp>
        <p:nvSpPr>
          <p:cNvPr id="7" name="Text 5"/>
          <p:cNvSpPr txBox="1"/>
          <p:nvPr/>
        </p:nvSpPr>
        <p:spPr>
          <a:xfrm>
            <a:off x="640080" y="1828800"/>
            <a:ext cx="10911535" cy="116738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Süreler: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çıkış süresi iniş süresine eşittir.</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Süratler: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aynı yükseklikten geçerken süratler eşit, düşey hızların yönleri terstir.</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Açılar: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iniş açısı, atış açısına eşittir.</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Yörünge:</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tepe noktasından geçen düşey doğruya göre simetriktir.</a:t>
            </a:r>
            <a:endParaRPr lang="en-US" sz="1300" dirty="0"/>
          </a:p>
        </p:txBody>
      </p:sp>
      <p:sp>
        <p:nvSpPr>
          <p:cNvPr id="8" name="Shape 6"/>
          <p:cNvSpPr/>
          <p:nvPr/>
        </p:nvSpPr>
        <p:spPr>
          <a:xfrm>
            <a:off x="640080" y="3105912"/>
            <a:ext cx="10911535" cy="822960"/>
          </a:xfrm>
          <a:prstGeom prst="roundRect">
            <a:avLst>
              <a:gd name="adj" fmla="val 1333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658368" y="3252216"/>
            <a:ext cx="45720" cy="530352"/>
          </a:xfrm>
          <a:prstGeom prst="rect">
            <a:avLst/>
          </a:prstGeom>
          <a:solidFill>
            <a:srgbClr val="A56209"/>
          </a:solidFill>
          <a:ln/>
        </p:spPr>
      </p:sp>
      <p:sp>
        <p:nvSpPr>
          <p:cNvPr id="10" name="Text 8"/>
          <p:cNvSpPr txBox="1"/>
          <p:nvPr/>
        </p:nvSpPr>
        <p:spPr>
          <a:xfrm>
            <a:off x="914400" y="3215640"/>
            <a:ext cx="10454335" cy="603504"/>
          </a:xfrm>
          <a:prstGeom prst="rect">
            <a:avLst/>
          </a:prstGeom>
          <a:noFill/>
          <a:ln/>
        </p:spPr>
        <p:txBody>
          <a:bodyPr wrap="square" lIns="0" tIns="0" rIns="0" bIns="0" rtlCol="0" anchor="ctr"/>
          <a:lstStyle/>
          <a:p>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Tepe noktada hız sıfır değildir.</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Sıfırlanan yalnızca düşey bileşendir; cisim orada hâlâ </a:t>
            </a:r>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v = v₀·cosα</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süratiyle yatay olarak ilerler. İvme ise hareket boyunca hiç değişmez: her noktada g'dir ve aşağı doğrudur.</a:t>
            </a:r>
            <a:endParaRPr lang="en-US" sz="1200" dirty="0"/>
          </a:p>
        </p:txBody>
      </p:sp>
      <p:sp>
        <p:nvSpPr>
          <p:cNvPr id="11" name="Shape 9"/>
          <p:cNvSpPr/>
          <p:nvPr/>
        </p:nvSpPr>
        <p:spPr>
          <a:xfrm>
            <a:off x="640080" y="6382512"/>
            <a:ext cx="128016" cy="128016"/>
          </a:xfrm>
          <a:prstGeom prst="roundRect">
            <a:avLst>
              <a:gd name="adj" fmla="val 28571"/>
            </a:avLst>
          </a:prstGeom>
          <a:solidFill>
            <a:srgbClr val="A9E648"/>
          </a:solidFill>
          <a:ln/>
        </p:spPr>
      </p:sp>
      <p:sp>
        <p:nvSpPr>
          <p:cNvPr id="12"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3"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22</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Eğik atışta cismin sürati yörüngenin neresinde en küçüktür? Orada sıfır olur mu?</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07 · Eğik atış</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23</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Eğik atışta cismin sürati yörüngenin neresinde en küçüktür? Orada sıfır olur mu?</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En küçük sürat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tepe noktasındadır</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çünkü orada düşey bileşen sıfırdır ve geriye yalnızca v₀·cosα kalır. Süratin sıfır olması için yatay bileşenin de sıfır olması, yani cismin dümdüz yukarı (α = 90°) atılması gerekir.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24</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Menzil, açı ve tümler açılar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69290"/>
          </a:xfrm>
          <a:prstGeom prst="roundRect">
            <a:avLst>
              <a:gd name="adj" fmla="val 12623"/>
            </a:avLst>
          </a:prstGeom>
          <a:solidFill>
            <a:srgbClr val="F8F9FC"/>
          </a:solidFill>
          <a:ln w="9525">
            <a:solidFill>
              <a:srgbClr val="E1E5EE"/>
            </a:solidFill>
            <a:prstDash val="solid"/>
          </a:ln>
        </p:spPr>
      </p:sp>
      <p:sp>
        <p:nvSpPr>
          <p:cNvPr id="7" name="Shape 5"/>
          <p:cNvSpPr/>
          <p:nvPr/>
        </p:nvSpPr>
        <p:spPr>
          <a:xfrm>
            <a:off x="658368" y="1298448"/>
            <a:ext cx="54864" cy="649834"/>
          </a:xfrm>
          <a:prstGeom prst="rect">
            <a:avLst/>
          </a:prstGeom>
          <a:solidFill>
            <a:srgbClr val="2957D4"/>
          </a:solidFill>
          <a:ln/>
        </p:spPr>
      </p:sp>
      <p:sp>
        <p:nvSpPr>
          <p:cNvPr id="8" name="Text 6"/>
          <p:cNvSpPr txBox="1"/>
          <p:nvPr/>
        </p:nvSpPr>
        <p:spPr>
          <a:xfrm>
            <a:off x="932688" y="1234440"/>
            <a:ext cx="10454335" cy="777850"/>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Aynı yükseklikte başlayıp biten atışta menzil R = v₀²·sin2α/g'dir. En uzun menzil 45°'de alınır, tümler açılar aynı menzili verir, menzil ilk süratin karesiyle büyür.</a:t>
            </a:r>
            <a:endParaRPr lang="en-US" sz="1850" dirty="0"/>
          </a:p>
        </p:txBody>
      </p:sp>
      <p:sp>
        <p:nvSpPr>
          <p:cNvPr id="9" name="Shape 7"/>
          <p:cNvSpPr/>
          <p:nvPr/>
        </p:nvSpPr>
        <p:spPr>
          <a:xfrm>
            <a:off x="640080" y="2277466"/>
            <a:ext cx="2728570"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277466"/>
            <a:ext cx="2728570"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R = 2·v₀²·sinα·cosα / g</a:t>
            </a:r>
            <a:endParaRPr lang="en-US" sz="1300" dirty="0"/>
          </a:p>
        </p:txBody>
      </p:sp>
      <p:sp>
        <p:nvSpPr>
          <p:cNvPr id="11" name="Shape 9"/>
          <p:cNvSpPr/>
          <p:nvPr/>
        </p:nvSpPr>
        <p:spPr>
          <a:xfrm>
            <a:off x="3478378" y="2277466"/>
            <a:ext cx="2136038"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3478378" y="2277466"/>
            <a:ext cx="213603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R = v₀²·sin2α / g</a:t>
            </a:r>
            <a:endParaRPr lang="en-US" sz="1300" dirty="0"/>
          </a:p>
        </p:txBody>
      </p:sp>
      <p:sp>
        <p:nvSpPr>
          <p:cNvPr id="13" name="Text 11"/>
          <p:cNvSpPr txBox="1"/>
          <p:nvPr/>
        </p:nvSpPr>
        <p:spPr>
          <a:xfrm>
            <a:off x="640080" y="2899258"/>
            <a:ext cx="6675120" cy="1559052"/>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En uzun menzil 45°'dedir.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sin2α en büyük değerini (1) 2α = 90° için alır.</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Tümler açılar aynı menzili verir.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sin2α = sin(180° − 2α) olduğundan α ile 90° − α aynı R'yi verir: 30° ile 60°, 20° ile 70°… Büyük açı daha yükseğe çıkar.</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Menzil süratin karesiyle artar.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v₀ iki katına çıkarsa menzil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dört katına</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çıkar.</a:t>
            </a:r>
            <a:endParaRPr lang="en-US" sz="1300" dirty="0"/>
          </a:p>
        </p:txBody>
      </p:sp>
      <p:sp>
        <p:nvSpPr>
          <p:cNvPr id="14" name="Shape 12"/>
          <p:cNvSpPr/>
          <p:nvPr/>
        </p:nvSpPr>
        <p:spPr>
          <a:xfrm>
            <a:off x="7607808" y="2277466"/>
            <a:ext cx="3943807" cy="3431286"/>
          </a:xfrm>
          <a:prstGeom prst="roundRect">
            <a:avLst>
              <a:gd name="adj" fmla="val 426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5" name="Image 0" descr="/tmp/claude-1000/-opt-dersler/8a8328c3-841c-44fa-b76f-82572d338d3d/scratchpad/d5/sek/iki-boyutta-hareket-06.png">    </p:cNvPr>
          <p:cNvPicPr>
            <a:picLocks noChangeAspect="1"/>
          </p:cNvPicPr>
          <p:nvPr/>
        </p:nvPicPr>
        <p:blipFill>
          <a:blip r:embed="rId1"/>
          <a:stretch>
            <a:fillRect/>
          </a:stretch>
        </p:blipFill>
        <p:spPr>
          <a:xfrm>
            <a:off x="7790688" y="2460346"/>
            <a:ext cx="3578047" cy="1789024"/>
          </a:xfrm>
          <a:prstGeom prst="rect">
            <a:avLst/>
          </a:prstGeom>
        </p:spPr>
      </p:pic>
      <p:sp>
        <p:nvSpPr>
          <p:cNvPr id="16" name="Shape 13"/>
          <p:cNvSpPr/>
          <p:nvPr/>
        </p:nvSpPr>
        <p:spPr>
          <a:xfrm>
            <a:off x="7790688" y="4340809"/>
            <a:ext cx="3578047" cy="0"/>
          </a:xfrm>
          <a:prstGeom prst="line">
            <a:avLst/>
          </a:prstGeom>
          <a:noFill/>
          <a:ln w="9525">
            <a:solidFill>
              <a:srgbClr val="E1E5EE"/>
            </a:solidFill>
            <a:prstDash val="dash"/>
          </a:ln>
        </p:spPr>
      </p:sp>
      <p:sp>
        <p:nvSpPr>
          <p:cNvPr id="17" name="Text 14"/>
          <p:cNvSpPr txBox="1"/>
          <p:nvPr/>
        </p:nvSpPr>
        <p:spPr>
          <a:xfrm>
            <a:off x="7790688" y="4395673"/>
            <a:ext cx="357804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Beş atışın da sürati aynı, yalnızca açıları farklı.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Tümler açılar aynı noktaya düşer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(aynı renkli iki eğri): sin2α ile sin(180°−2α) eşittir. Büyük açı daha yükseğe çıkar ve havada daha uzun kalır, ama menzili değiştirmez. En uzağa giden, sin2α'yı bire eşitleyen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45°</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'dir.</a:t>
            </a:r>
            <a:endParaRPr lang="en-US" sz="1050" dirty="0"/>
          </a:p>
        </p:txBody>
      </p:sp>
      <p:sp>
        <p:nvSpPr>
          <p:cNvPr id="18" name="Shape 15"/>
          <p:cNvSpPr/>
          <p:nvPr/>
        </p:nvSpPr>
        <p:spPr>
          <a:xfrm>
            <a:off x="640080" y="6382512"/>
            <a:ext cx="128016" cy="128016"/>
          </a:xfrm>
          <a:prstGeom prst="roundRect">
            <a:avLst>
              <a:gd name="adj" fmla="val 28571"/>
            </a:avLst>
          </a:prstGeom>
          <a:solidFill>
            <a:srgbClr val="A9E648"/>
          </a:solidFill>
          <a:ln/>
        </p:spPr>
      </p:sp>
      <p:sp>
        <p:nvSpPr>
          <p:cNvPr id="19" name="Text 1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20" name="Text 1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25</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Menzil, açı ve tümler açılar · devam</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40080" y="1481328"/>
          <a:ext cx="10911535" cy="914400"/>
        </p:xfrm>
        <a:graphic>
          <a:graphicData uri="http://schemas.openxmlformats.org/drawingml/2006/table">
            <a:tbl>
              <a:tblPr/>
              <a:tblGrid>
                <a:gridCol w="994797"/>
                <a:gridCol w="2333350"/>
                <a:gridCol w="4375031"/>
                <a:gridCol w="3208356"/>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Açı</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Menzil</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Tepe yüksekliği</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Uçuş süresi</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15°</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20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1,3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1,04 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34,6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5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 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45°</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40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10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2,83 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60°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34,6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15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3,46 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75°</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20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18,7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3,86 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7" name="Shape 4"/>
          <p:cNvSpPr/>
          <p:nvPr/>
        </p:nvSpPr>
        <p:spPr>
          <a:xfrm>
            <a:off x="640080" y="3639312"/>
            <a:ext cx="10911535" cy="1033272"/>
          </a:xfrm>
          <a:prstGeom prst="roundRect">
            <a:avLst>
              <a:gd name="adj" fmla="val 1061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5"/>
          <p:cNvSpPr/>
          <p:nvPr/>
        </p:nvSpPr>
        <p:spPr>
          <a:xfrm>
            <a:off x="658368" y="3785616"/>
            <a:ext cx="45720" cy="740664"/>
          </a:xfrm>
          <a:prstGeom prst="rect">
            <a:avLst/>
          </a:prstGeom>
          <a:solidFill>
            <a:srgbClr val="3C8C21"/>
          </a:solidFill>
          <a:ln/>
        </p:spPr>
      </p:sp>
      <p:sp>
        <p:nvSpPr>
          <p:cNvPr id="9" name="Text 6"/>
          <p:cNvSpPr txBox="1"/>
          <p:nvPr/>
        </p:nvSpPr>
        <p:spPr>
          <a:xfrm>
            <a:off x="914400" y="3749040"/>
            <a:ext cx="10454335" cy="813816"/>
          </a:xfrm>
          <a:prstGeom prst="rect">
            <a:avLst/>
          </a:prstGeom>
          <a:noFill/>
          <a:ln/>
        </p:spPr>
        <p:txBody>
          <a:bodyPr wrap="square" lIns="0" tIns="0" rIns="0" bIns="0" rtlCol="0" anchor="ctr"/>
          <a:lstStyle/>
          <a:p>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Yükseklikten atışta 45° en iyi değildir.</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Bir kuleden atıldığında optimum açı 45°'nin altına iner; yükseklik arttıkça yatay hıza pay ayırmak daha kârlıdır. Gerçek hayatta hava direnci de optimum açıyı küçültür. Gülle atma sporcuları 40° civarında atar; gülleyi omuz yüksekliğinden bırakmaları da açıyı 45°'nin altına çeker.</a:t>
            </a:r>
            <a:endParaRPr lang="en-US" sz="12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26</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Yörünge denklemi ve grafikler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2957D4"/>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Zamanı yok edince yörünge y = x·tanα − k·x² parabolü çıkar. Yatayda x–t doğru ve vₓ–t sabit, düşeyde y–t parabol ve vy–t eğimi −g olan doğrudur.</a:t>
            </a:r>
            <a:endParaRPr lang="en-US" sz="1900" dirty="0"/>
          </a:p>
        </p:txBody>
      </p:sp>
      <p:sp>
        <p:nvSpPr>
          <p:cNvPr id="9" name="Text 7"/>
          <p:cNvSpPr txBox="1"/>
          <p:nvPr/>
        </p:nvSpPr>
        <p:spPr>
          <a:xfrm>
            <a:off x="640080" y="2294534"/>
            <a:ext cx="6675120" cy="875538"/>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Süreyi yalnız bırak:</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x = v₀cosα·t bağıntısından t = x / (v₀cosα).</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Yerine koy:</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bu t'yi y = v₀sinα·t − ½g·t² denkleminde kullan.</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Sadeleştir: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ilk terim x·sinα/cosα = x·tanα olur, ikinci terim x²'li kalır.</a:t>
            </a:r>
            <a:endParaRPr lang="en-US" sz="1300" dirty="0"/>
          </a:p>
        </p:txBody>
      </p:sp>
      <p:sp>
        <p:nvSpPr>
          <p:cNvPr id="10" name="Shape 8"/>
          <p:cNvSpPr/>
          <p:nvPr/>
        </p:nvSpPr>
        <p:spPr>
          <a:xfrm>
            <a:off x="640080" y="3279800"/>
            <a:ext cx="2136038" cy="457200"/>
          </a:xfrm>
          <a:prstGeom prst="roundRect">
            <a:avLst>
              <a:gd name="adj" fmla="val 24000"/>
            </a:avLst>
          </a:prstGeom>
          <a:solidFill>
            <a:srgbClr val="EEF2FC"/>
          </a:solidFill>
          <a:ln w="9525">
            <a:solidFill>
              <a:srgbClr val="CBD7F4"/>
            </a:solidFill>
            <a:prstDash val="solid"/>
          </a:ln>
        </p:spPr>
      </p:sp>
      <p:sp>
        <p:nvSpPr>
          <p:cNvPr id="11" name="Text 9"/>
          <p:cNvSpPr txBox="1"/>
          <p:nvPr/>
        </p:nvSpPr>
        <p:spPr>
          <a:xfrm>
            <a:off x="640080" y="3279800"/>
            <a:ext cx="213603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y = x·tanα − k·x²</a:t>
            </a:r>
            <a:endParaRPr lang="en-US" sz="1300" dirty="0"/>
          </a:p>
        </p:txBody>
      </p:sp>
      <p:sp>
        <p:nvSpPr>
          <p:cNvPr id="12" name="Shape 10"/>
          <p:cNvSpPr/>
          <p:nvPr/>
        </p:nvSpPr>
        <p:spPr>
          <a:xfrm>
            <a:off x="2885846" y="3279800"/>
            <a:ext cx="2531059" cy="457200"/>
          </a:xfrm>
          <a:prstGeom prst="roundRect">
            <a:avLst>
              <a:gd name="adj" fmla="val 24000"/>
            </a:avLst>
          </a:prstGeom>
          <a:solidFill>
            <a:srgbClr val="EEF2FC"/>
          </a:solidFill>
          <a:ln w="9525">
            <a:solidFill>
              <a:srgbClr val="CBD7F4"/>
            </a:solidFill>
            <a:prstDash val="solid"/>
          </a:ln>
        </p:spPr>
      </p:sp>
      <p:sp>
        <p:nvSpPr>
          <p:cNvPr id="13" name="Text 11"/>
          <p:cNvSpPr txBox="1"/>
          <p:nvPr/>
        </p:nvSpPr>
        <p:spPr>
          <a:xfrm>
            <a:off x="2885846" y="3279800"/>
            <a:ext cx="2531059"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k = g / (2·v₀²·cos²α)</a:t>
            </a:r>
            <a:endParaRPr lang="en-US" sz="13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40080" y="3901592"/>
          <a:ext cx="6675120" cy="914400"/>
        </p:xfrm>
        <a:graphic>
          <a:graphicData uri="http://schemas.openxmlformats.org/drawingml/2006/table">
            <a:tbl>
              <a:tblPr/>
              <a:tblGrid>
                <a:gridCol w="950361"/>
                <a:gridCol w="2716835"/>
                <a:gridCol w="1067328"/>
                <a:gridCol w="1940596"/>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Grafik</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Şekli</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Eğimi</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Altındaki alan</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x – 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Orijinden geçen doğru</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vx (sabit)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y – 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Aşağı açılan parabol</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O andaki vy</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vx – 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Zaman eksenine paralel doğru</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ax = 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Yatay yol (x)</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vy – 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Azalan doğru</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−g</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Düşey yer değiştirme</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15" name="Shape 12"/>
          <p:cNvSpPr/>
          <p:nvPr/>
        </p:nvSpPr>
        <p:spPr>
          <a:xfrm>
            <a:off x="7607808" y="2294534"/>
            <a:ext cx="3943807" cy="3520737"/>
          </a:xfrm>
          <a:prstGeom prst="roundRect">
            <a:avLst>
              <a:gd name="adj" fmla="val 415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6" name="Image 0" descr="/tmp/claude-1000/-opt-dersler/8a8328c3-841c-44fa-b76f-82572d338d3d/scratchpad/d5/sek/iki-boyutta-hareket-07.png">    </p:cNvPr>
          <p:cNvPicPr>
            <a:picLocks noChangeAspect="1"/>
          </p:cNvPicPr>
          <p:nvPr/>
        </p:nvPicPr>
        <p:blipFill>
          <a:blip r:embed="rId1"/>
          <a:stretch>
            <a:fillRect/>
          </a:stretch>
        </p:blipFill>
        <p:spPr>
          <a:xfrm>
            <a:off x="7790688" y="2477414"/>
            <a:ext cx="3578047" cy="1878475"/>
          </a:xfrm>
          <a:prstGeom prst="rect">
            <a:avLst/>
          </a:prstGeom>
        </p:spPr>
      </p:pic>
      <p:sp>
        <p:nvSpPr>
          <p:cNvPr id="17" name="Shape 13"/>
          <p:cNvSpPr/>
          <p:nvPr/>
        </p:nvSpPr>
        <p:spPr>
          <a:xfrm>
            <a:off x="7790688" y="4447329"/>
            <a:ext cx="3578047" cy="0"/>
          </a:xfrm>
          <a:prstGeom prst="line">
            <a:avLst/>
          </a:prstGeom>
          <a:noFill/>
          <a:ln w="9525">
            <a:solidFill>
              <a:srgbClr val="E1E5EE"/>
            </a:solidFill>
            <a:prstDash val="dash"/>
          </a:ln>
        </p:spPr>
      </p:sp>
      <p:sp>
        <p:nvSpPr>
          <p:cNvPr id="18" name="Text 14"/>
          <p:cNvSpPr txBox="1"/>
          <p:nvPr/>
        </p:nvSpPr>
        <p:spPr>
          <a:xfrm>
            <a:off x="7790688" y="4502193"/>
            <a:ext cx="357804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Dört grafik, iki bağımsız hareketin dört yüzü. Yatayda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x–t doğru, vₓ–t sabittir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düşeyde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y–t parabol, v</a:t>
            </a:r>
            <a:pPr indent="0" marL="0">
              <a:lnSpc>
                <a:spcPct val="112000"/>
              </a:lnSpc>
              <a:buNone/>
            </a:pPr>
            <a:r>
              <a:rPr lang="en-US" sz="1050" b="1" baseline="-40000" dirty="0">
                <a:solidFill>
                  <a:srgbClr val="4A5470"/>
                </a:solidFill>
                <a:latin typeface="Calibri" pitchFamily="34" charset="0"/>
                <a:ea typeface="Calibri" pitchFamily="34" charset="-122"/>
                <a:cs typeface="Calibri" pitchFamily="34" charset="-120"/>
              </a:rPr>
              <a:t>y</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–t azalan doğrudur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v</a:t>
            </a:r>
            <a:pPr indent="0" marL="0">
              <a:lnSpc>
                <a:spcPct val="112000"/>
              </a:lnSpc>
              <a:buNone/>
            </a:pPr>
            <a:r>
              <a:rPr lang="en-US" sz="1050" baseline="-40000" dirty="0">
                <a:solidFill>
                  <a:srgbClr val="7B849E"/>
                </a:solidFill>
                <a:latin typeface="Calibri" pitchFamily="34" charset="0"/>
                <a:ea typeface="Calibri" pitchFamily="34" charset="-122"/>
                <a:cs typeface="Calibri" pitchFamily="34" charset="-120"/>
              </a:rPr>
              <a:t>y</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–t doğrusunun zaman eksenini kestiği an tam olarak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tepe noktasıdır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o ana kadarki üçgenin alanı çıkılan yüksekliği, sonrasındaki alan inilen yüksekliği verir.</a:t>
            </a:r>
            <a:endParaRPr lang="en-US" sz="1050" dirty="0"/>
          </a:p>
        </p:txBody>
      </p:sp>
      <p:sp>
        <p:nvSpPr>
          <p:cNvPr id="19" name="Shape 15"/>
          <p:cNvSpPr/>
          <p:nvPr/>
        </p:nvSpPr>
        <p:spPr>
          <a:xfrm>
            <a:off x="640080" y="6382512"/>
            <a:ext cx="128016" cy="128016"/>
          </a:xfrm>
          <a:prstGeom prst="roundRect">
            <a:avLst>
              <a:gd name="adj" fmla="val 28571"/>
            </a:avLst>
          </a:prstGeom>
          <a:solidFill>
            <a:srgbClr val="A9E648"/>
          </a:solidFill>
          <a:ln/>
        </p:spPr>
      </p:sp>
      <p:sp>
        <p:nvSpPr>
          <p:cNvPr id="20" name="Text 1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21" name="Text 1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27</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A093FF"/>
                </a:solidFill>
                <a:latin typeface="Cambria" pitchFamily="34" charset="0"/>
                <a:ea typeface="Cambria" pitchFamily="34" charset="-122"/>
                <a:cs typeface="Cambria" pitchFamily="34" charset="-120"/>
              </a:rPr>
              <a:t>3</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A093FF"/>
                </a:solidFill>
                <a:latin typeface="Calibri" pitchFamily="34" charset="0"/>
                <a:ea typeface="Calibri" pitchFamily="34" charset="-122"/>
                <a:cs typeface="Calibri" pitchFamily="34" charset="-120"/>
              </a:rPr>
              <a:t>BASAMAK 3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İleri</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Derinleşme: yüksekten atış, düşen bir hedefe nişan, hava direnci ve atışların gerçek hayattaki yüzü.</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10   </a:t>
            </a:r>
            <a:pPr indent="0" marL="0">
              <a:buNone/>
            </a:pPr>
            <a:r>
              <a:rPr lang="en-US" sz="1300" dirty="0">
                <a:solidFill>
                  <a:srgbClr val="FFFFFF"/>
                </a:solidFill>
                <a:latin typeface="Calibri" pitchFamily="34" charset="0"/>
                <a:ea typeface="Calibri" pitchFamily="34" charset="-122"/>
                <a:cs typeface="Calibri" pitchFamily="34" charset="-120"/>
              </a:rPr>
              <a:t>Yüksekten atış: 45° artık en iyi değil</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11   </a:t>
            </a:r>
            <a:pPr indent="0" marL="0">
              <a:buNone/>
            </a:pPr>
            <a:r>
              <a:rPr lang="en-US" sz="1300" dirty="0">
                <a:solidFill>
                  <a:srgbClr val="FFFFFF"/>
                </a:solidFill>
                <a:latin typeface="Calibri" pitchFamily="34" charset="0"/>
                <a:ea typeface="Calibri" pitchFamily="34" charset="-122"/>
                <a:cs typeface="Calibri" pitchFamily="34" charset="-120"/>
              </a:rPr>
              <a:t>Düşen hedefe nişan: bağımsızlığın en şaşırtıcı sonucu</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12   </a:t>
            </a:r>
            <a:pPr indent="0" marL="0">
              <a:buNone/>
            </a:pPr>
            <a:r>
              <a:rPr lang="en-US" sz="1300" dirty="0">
                <a:solidFill>
                  <a:srgbClr val="FFFFFF"/>
                </a:solidFill>
                <a:latin typeface="Calibri" pitchFamily="34" charset="0"/>
                <a:ea typeface="Calibri" pitchFamily="34" charset="-122"/>
                <a:cs typeface="Calibri" pitchFamily="34" charset="-120"/>
              </a:rPr>
              <a:t>Hava direnci işe karışınca: modelin sınırları</a:t>
            </a:r>
            <a:endParaRPr lang="en-US" sz="1300" dirty="0"/>
          </a:p>
        </p:txBody>
      </p:sp>
      <p:sp>
        <p:nvSpPr>
          <p:cNvPr id="9" name="Text 7"/>
          <p:cNvSpPr txBox="1"/>
          <p:nvPr/>
        </p:nvSpPr>
        <p:spPr>
          <a:xfrm>
            <a:off x="731520" y="5559552"/>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13   </a:t>
            </a:r>
            <a:pPr indent="0" marL="0">
              <a:buNone/>
            </a:pPr>
            <a:r>
              <a:rPr lang="en-US" sz="1300" dirty="0">
                <a:solidFill>
                  <a:srgbClr val="FFFFFF"/>
                </a:solidFill>
                <a:latin typeface="Calibri" pitchFamily="34" charset="0"/>
                <a:ea typeface="Calibri" pitchFamily="34" charset="-122"/>
                <a:cs typeface="Calibri" pitchFamily="34" charset="-120"/>
              </a:rPr>
              <a:t>Atışlar gerçek dünyada</a:t>
            </a:r>
            <a:endParaRPr lang="en-US" sz="1300" dirty="0"/>
          </a:p>
        </p:txBody>
      </p:sp>
      <p:sp>
        <p:nvSpPr>
          <p:cNvPr id="10" name="Shape 8"/>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1" name="Image 0" descr="/tmp/claude-1000/-opt-dersler/8a8328c3-841c-44fa-b76f-82572d338d3d/scratchpad/d5/sek/iki-boyutta-hareket-uygulama-kart.jpg">    </p:cNvPr>
          <p:cNvPicPr>
            <a:picLocks noChangeAspect="1"/>
          </p:cNvPicPr>
          <p:nvPr/>
        </p:nvPicPr>
        <p:blipFill>
          <a:blip r:embed="rId1"/>
          <a:stretch>
            <a:fillRect/>
          </a:stretch>
        </p:blipFill>
        <p:spPr>
          <a:xfrm>
            <a:off x="6172200" y="960120"/>
            <a:ext cx="5379415" cy="3586277"/>
          </a:xfrm>
          <a:prstGeom prst="rect">
            <a:avLst/>
          </a:prstGeom>
        </p:spPr>
      </p:pic>
      <p:sp>
        <p:nvSpPr>
          <p:cNvPr id="12" name="Text 9"/>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Uzun atlama bir eğik atıştır.</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Sporcu tahtadan ayrıldığı anda üzerinde yalnızca ağırlığı (ve küçük bir hava direnci) kalır; ağırlık merkezi bir parabol çizer. Havada kollarını ve bacaklarını nasıl savurursa savursun bu yayı değiştiremez: atlayışın uzunluğunu kalkıştaki hız ve açı belirler.</a:t>
            </a:r>
            <a:endParaRPr lang="en-US" sz="1150" dirty="0"/>
          </a:p>
        </p:txBody>
      </p:sp>
      <p:sp>
        <p:nvSpPr>
          <p:cNvPr id="13" name="Shape 10"/>
          <p:cNvSpPr/>
          <p:nvPr/>
        </p:nvSpPr>
        <p:spPr>
          <a:xfrm>
            <a:off x="640080" y="6382512"/>
            <a:ext cx="128016" cy="128016"/>
          </a:xfrm>
          <a:prstGeom prst="roundRect">
            <a:avLst>
              <a:gd name="adj" fmla="val 28571"/>
            </a:avLst>
          </a:prstGeom>
          <a:solidFill>
            <a:srgbClr val="C6F36B"/>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dersler.perinet.org/iki-boyutta-hareket.html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28</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Yüksekten atış: 45° artık en iyi değil</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5F4BD8"/>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Atış noktası iniş noktasından yüksekse süre ikinci dereceden denklemden bulunur ve en uzun menzil 45°'nin altındaki bir açıda alınır. Yükseklik ilk hıza göre büyüdükçe bu açı küçülür.</a:t>
            </a:r>
            <a:endParaRPr lang="en-US" sz="1850" dirty="0"/>
          </a:p>
        </p:txBody>
      </p:sp>
      <p:sp>
        <p:nvSpPr>
          <p:cNvPr id="9" name="Shape 7"/>
          <p:cNvSpPr/>
          <p:nvPr/>
        </p:nvSpPr>
        <p:spPr>
          <a:xfrm>
            <a:off x="640080" y="2593238"/>
            <a:ext cx="2629814"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593238"/>
            <a:ext cx="262981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h + v₀ᵧ·t − ½·g·t² = 0</a:t>
            </a:r>
            <a:endParaRPr lang="en-US" sz="1300" dirty="0"/>
          </a:p>
        </p:txBody>
      </p:sp>
      <p:sp>
        <p:nvSpPr>
          <p:cNvPr id="11" name="Shape 9"/>
          <p:cNvSpPr/>
          <p:nvPr/>
        </p:nvSpPr>
        <p:spPr>
          <a:xfrm>
            <a:off x="3379622" y="2593238"/>
            <a:ext cx="1543507"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3379622" y="2593238"/>
            <a:ext cx="1543507"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R = v₀ₓ · t</a:t>
            </a:r>
            <a:endParaRPr lang="en-US" sz="13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40080" y="3215030"/>
          <a:ext cx="10911535" cy="914400"/>
        </p:xfrm>
        <a:graphic>
          <a:graphicData uri="http://schemas.openxmlformats.org/drawingml/2006/table">
            <a:tbl>
              <a:tblPr/>
              <a:tblGrid>
                <a:gridCol w="2797830"/>
                <a:gridCol w="3077612"/>
                <a:gridCol w="5036093"/>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Açı</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Uçuş süresi</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Menzil</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0° (yatay)</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 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20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15°</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2,28 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22,0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 24°</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2,45 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22,4 m (en uzun)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2,56 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22,2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45°</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2,83 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20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29</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Bu kulede yatay atış ile 45°'lik atış aynı yere düşüyor. Hangisi yere daha hızlı çarpar?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10 · Yüksekten atış: 45° artık en iyi değil</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30</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Bu kulede yatay atış ile 45°'lik atış aynı yere düşüyor. Hangisi yere daha hızlı çarpar?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İkisi de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aynı süratle</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çarpar. v² = v₀² + 2gh bağıntısında atış açısı hiç geçmez: v² = 100 + 400 = 500, v ≈ 22,4 m/s. Açı yalnızca çarpma yönünü ve havada kalma süresini değiştirir.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31</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600" b="1" spc="-50" kern="0" dirty="0">
                <a:solidFill>
                  <a:srgbClr val="0E1426"/>
                </a:solidFill>
                <a:latin typeface="Cambria" pitchFamily="34" charset="0"/>
                <a:ea typeface="Cambria" pitchFamily="34" charset="-122"/>
                <a:cs typeface="Cambria" pitchFamily="34" charset="-120"/>
              </a:rPr>
              <a:t>Düşen hedefe nişan: bağımsızlığın en şaşırtıcı sonucu</a:t>
            </a:r>
            <a:endParaRPr lang="en-US" sz="26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5F4BD8"/>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Aynı anda serbest kalan mermi ve hedef, aynı sürede aynı ½·g·t² kadar düşer. Bu yüzden düşen hedefe doğrudan nişan alınırsa mermi, hedef yere değmeden varmak koşuluyla isabet eder.</a:t>
            </a:r>
            <a:endParaRPr lang="en-US" sz="1850" dirty="0"/>
          </a:p>
        </p:txBody>
      </p:sp>
      <p:sp>
        <p:nvSpPr>
          <p:cNvPr id="9" name="Shape 7"/>
          <p:cNvSpPr/>
          <p:nvPr/>
        </p:nvSpPr>
        <p:spPr>
          <a:xfrm>
            <a:off x="640080" y="2593238"/>
            <a:ext cx="2926080"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593238"/>
            <a:ext cx="2926080"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mermi: düz çizgi − ½·g·t²</a:t>
            </a:r>
            <a:endParaRPr lang="en-US" sz="1300" dirty="0"/>
          </a:p>
        </p:txBody>
      </p:sp>
      <p:sp>
        <p:nvSpPr>
          <p:cNvPr id="11" name="Shape 9"/>
          <p:cNvSpPr/>
          <p:nvPr/>
        </p:nvSpPr>
        <p:spPr>
          <a:xfrm>
            <a:off x="3675888" y="2593238"/>
            <a:ext cx="2728570"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3675888" y="2593238"/>
            <a:ext cx="2728570"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hedef: ilk yer − ½·g·t²</a:t>
            </a:r>
            <a:endParaRPr lang="en-US" sz="1300" dirty="0"/>
          </a:p>
        </p:txBody>
      </p:sp>
      <p:sp>
        <p:nvSpPr>
          <p:cNvPr id="13" name="Text 11"/>
          <p:cNvSpPr txBox="1"/>
          <p:nvPr/>
        </p:nvSpPr>
        <p:spPr>
          <a:xfrm>
            <a:off x="640080" y="3215030"/>
            <a:ext cx="10911535" cy="197967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Sayılarla:</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100 m ötedeki hedefe 200 m/s'lik mermi 0,5 s'de varır; bu sürede ikisi de ½·10·0,5² = 1,25 m düşer.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Açı fark etmez:</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nişan eğik de olsa sonuç aynıdır; iki cisim de düz çizgiden aynı miktarda sapar.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Hız fark etmez:</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mermi yavaşsa ikisi daha çok düşer ama yine buluşur; yeter ki hedef yere değmeden varsın.</a:t>
            </a:r>
            <a:endParaRPr lang="en-US" sz="1700" dirty="0"/>
          </a:p>
        </p:txBody>
      </p:sp>
      <p:sp>
        <p:nvSpPr>
          <p:cNvPr id="14" name="Shape 12"/>
          <p:cNvSpPr/>
          <p:nvPr/>
        </p:nvSpPr>
        <p:spPr>
          <a:xfrm>
            <a:off x="640080" y="6382512"/>
            <a:ext cx="128016" cy="128016"/>
          </a:xfrm>
          <a:prstGeom prst="roundRect">
            <a:avLst>
              <a:gd name="adj" fmla="val 28571"/>
            </a:avLst>
          </a:prstGeom>
          <a:solidFill>
            <a:srgbClr val="A9E648"/>
          </a:solidFill>
          <a:ln/>
        </p:spPr>
      </p:sp>
      <p:sp>
        <p:nvSpPr>
          <p:cNvPr id="15"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6"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32</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Maymun kendini bırakmasaydı, 200 m/s'lik mermi 100 m ötede ona göre nereden geçerdi?</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11 · Düşen hedefe nişan: bağımsızlığın en şaşırtıcı sonucu</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33</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Maymun kendini bırakmasaydı, 200 m/s'lik mermi 100 m ötede ona göre nereden geçerdi?</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Maymunun yaklaşık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1,25 m altından</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Mermi 0,5 s içinde düz nişan çizgisinin 1,25 m altına iner; yerinde kalan hedef ise nişan çizgisinin üzerinde durur. Düşen hedefi vuran şey, yerinde kalan hedefi ıskalatan şeyle aynıdır: yerçekimi.</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34</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100" b="1" spc="-50" kern="0" dirty="0">
                <a:solidFill>
                  <a:srgbClr val="0E1426"/>
                </a:solidFill>
                <a:latin typeface="Cambria" pitchFamily="34" charset="0"/>
                <a:ea typeface="Cambria" pitchFamily="34" charset="-122"/>
                <a:cs typeface="Cambria" pitchFamily="34" charset="-120"/>
              </a:rPr>
              <a:t>Hava direnci işe karışınca: modelin sınırları</a:t>
            </a:r>
            <a:endParaRPr lang="en-US" sz="31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5F4BD8"/>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Hava direnci yatay hızı da azaltır; menzil kısalır, iniş çıkıştan dik ve uzun olur, en iyi açı 45°'nin altına iner. Ağır ve yavaş cisimlerde parabol modeli yine çok iyi çalışır.</a:t>
            </a:r>
            <a:endParaRPr lang="en-US" sz="1850" dirty="0"/>
          </a:p>
        </p:txBody>
      </p:sp>
      <p:sp>
        <p:nvSpPr>
          <p:cNvPr id="9" name="Text 7"/>
          <p:cNvSpPr txBox="1"/>
          <p:nvPr/>
        </p:nvSpPr>
        <p:spPr>
          <a:xfrm>
            <a:off x="640080" y="2593238"/>
            <a:ext cx="10911535" cy="180975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Yatay hız sabit kalmaz:</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direnç yatayda da etki ettiği için cisim ileri giderken yavaşlar.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Menzil kısalır: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gerçek top, havasız ortamdaki menzilinin belirgin biçimde altında kalır.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Simetri bozulur: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iniş çıkıştan daha dik olur ve daha uzun sürer.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En iyi açı küçülür: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hızlı ve hafif toplarda en uzun menzil 45°'nin altındaki açılarda alınır.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Kütle yeniden önem kazanır: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aynı boyutta ağır top, direnci ağırlığına oranla daha az hisseder.</a:t>
            </a:r>
            <a:endParaRPr lang="en-US" sz="17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35</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Atışlar gerçek dünyada</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5F4BD8"/>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Uzun atlamadan havadan yardıma, basketboldan fıskiyelere kadar atışlar yatayda sabit hız, düşeyde sabit ivme kuralıyla çözülür. Gerçek en iyi açıyı hava direnci ve vücudun sınırları da belirler.</a:t>
            </a:r>
            <a:endParaRPr lang="en-US" sz="1850" dirty="0"/>
          </a:p>
        </p:txBody>
      </p:sp>
      <p:sp>
        <p:nvSpPr>
          <p:cNvPr id="9" name="Text 7"/>
          <p:cNvSpPr txBox="1"/>
          <p:nvPr/>
        </p:nvSpPr>
        <p:spPr>
          <a:xfrm>
            <a:off x="640080" y="2593238"/>
            <a:ext cx="10911535" cy="312420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Uzun atlama:</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sporcular tahtadan yaklaşık 9–10 m/s hızla ama 45° değil, 20° civarında ayrılır; koşudan gelen hızı dikleşerek harcamak kârlı değildir.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Havadan yardım:</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500 m yükseklikte 100 m/s ile uçan uçaktan bırakılan paket 10 s düşer ve yatayda 1 km gider; hedeften 1 km önce bırakılır.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Basketbol:</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çember yerden 3,05 m yüksektedir. Yüksek kavisli şut çembere dik iner; çemberin ağzı topa daha geniş görünür, hata payı artar.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Ay'da atış:</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Ay'da g yaklaşık altı kat küçüktür; 25 m/s ve 45° ile atılan cismin menzili 63,7 m'den yaklaşık 386 m'ye çıkar.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Fıskiyeler: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su jetleri de birer atıştır. Düşey 10 m/s ile fışkıran su v₀²/(2g) = 5 m yükselir; tasarımcı yüksekliği bu bağıntıyla seçer.</a:t>
            </a:r>
            <a:endParaRPr lang="en-US" sz="16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36</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FFCB6B"/>
                </a:solidFill>
                <a:latin typeface="Cambria" pitchFamily="34" charset="0"/>
                <a:ea typeface="Cambria" pitchFamily="34" charset="-122"/>
                <a:cs typeface="Cambria" pitchFamily="34" charset="-120"/>
              </a:rPr>
              <a:t>4</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FFCB6B"/>
                </a:solidFill>
                <a:latin typeface="Calibri" pitchFamily="34" charset="0"/>
                <a:ea typeface="Calibri" pitchFamily="34" charset="-122"/>
                <a:cs typeface="Calibri" pitchFamily="34" charset="-120"/>
              </a:rPr>
              <a:t>BASAMAK 4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Pekiştir</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Kolaydan zora çözümlü örnekler ve sınavda puan kaybettiren klasik hatalar.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14   </a:t>
            </a:r>
            <a:pPr indent="0" marL="0">
              <a:buNone/>
            </a:pPr>
            <a:r>
              <a:rPr lang="en-US" sz="1300" dirty="0">
                <a:solidFill>
                  <a:srgbClr val="FFFFFF"/>
                </a:solidFill>
                <a:latin typeface="Calibri" pitchFamily="34" charset="0"/>
                <a:ea typeface="Calibri" pitchFamily="34" charset="-122"/>
                <a:cs typeface="Calibri" pitchFamily="34" charset="-120"/>
              </a:rPr>
              <a:t>Çözümlü örnekler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15   </a:t>
            </a:r>
            <a:pPr indent="0" marL="0">
              <a:buNone/>
            </a:pPr>
            <a:r>
              <a:rPr lang="en-US" sz="1300" dirty="0">
                <a:solidFill>
                  <a:srgbClr val="FFFFFF"/>
                </a:solidFill>
                <a:latin typeface="Calibri" pitchFamily="34" charset="0"/>
                <a:ea typeface="Calibri" pitchFamily="34" charset="-122"/>
                <a:cs typeface="Calibri" pitchFamily="34" charset="-120"/>
              </a:rPr>
              <a:t>Sık yapılan hatalar</a:t>
            </a:r>
            <a:endParaRPr lang="en-US" sz="1300" dirty="0"/>
          </a:p>
        </p:txBody>
      </p:sp>
      <p:sp>
        <p:nvSpPr>
          <p:cNvPr id="8" name="Text 6"/>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KOLAYDAN ZORA 7 ÇÖZÜMLÜ ÖRNEK</a:t>
            </a:r>
            <a:endParaRPr lang="en-US" sz="1050" dirty="0"/>
          </a:p>
        </p:txBody>
      </p:sp>
      <p:sp>
        <p:nvSpPr>
          <p:cNvPr id="9" name="Shape 7"/>
          <p:cNvSpPr/>
          <p:nvPr/>
        </p:nvSpPr>
        <p:spPr>
          <a:xfrm>
            <a:off x="6172200" y="1481328"/>
            <a:ext cx="5379415" cy="512064"/>
          </a:xfrm>
          <a:prstGeom prst="roundRect">
            <a:avLst>
              <a:gd name="adj" fmla="val 17857"/>
            </a:avLst>
          </a:prstGeom>
          <a:solidFill>
            <a:srgbClr val="1C2542"/>
          </a:solidFill>
          <a:ln w="9525">
            <a:solidFill>
              <a:srgbClr val="2C3860"/>
            </a:solidFill>
            <a:prstDash val="solid"/>
          </a:ln>
        </p:spPr>
      </p:sp>
      <p:sp>
        <p:nvSpPr>
          <p:cNvPr id="10" name="Text 8"/>
          <p:cNvSpPr txBox="1"/>
          <p:nvPr/>
        </p:nvSpPr>
        <p:spPr>
          <a:xfrm>
            <a:off x="6400800" y="148132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1   Masadan yuvarlanan bilye</a:t>
            </a:r>
            <a:endParaRPr lang="en-US" sz="1300" dirty="0"/>
          </a:p>
        </p:txBody>
      </p:sp>
      <p:sp>
        <p:nvSpPr>
          <p:cNvPr id="11" name="Text 9"/>
          <p:cNvSpPr txBox="1"/>
          <p:nvPr/>
        </p:nvSpPr>
        <p:spPr>
          <a:xfrm>
            <a:off x="10362895" y="1481328"/>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2" name="Shape 10"/>
          <p:cNvSpPr/>
          <p:nvPr/>
        </p:nvSpPr>
        <p:spPr>
          <a:xfrm>
            <a:off x="6172200" y="2084832"/>
            <a:ext cx="5379415" cy="512064"/>
          </a:xfrm>
          <a:prstGeom prst="roundRect">
            <a:avLst>
              <a:gd name="adj" fmla="val 17857"/>
            </a:avLst>
          </a:prstGeom>
          <a:solidFill>
            <a:srgbClr val="1C2542"/>
          </a:solidFill>
          <a:ln w="9525">
            <a:solidFill>
              <a:srgbClr val="2C3860"/>
            </a:solidFill>
            <a:prstDash val="solid"/>
          </a:ln>
        </p:spPr>
      </p:sp>
      <p:sp>
        <p:nvSpPr>
          <p:cNvPr id="13" name="Text 11"/>
          <p:cNvSpPr txBox="1"/>
          <p:nvPr/>
        </p:nvSpPr>
        <p:spPr>
          <a:xfrm>
            <a:off x="6400800" y="208483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2   80 m yüksekten yatay atış</a:t>
            </a:r>
            <a:endParaRPr lang="en-US" sz="1300" dirty="0"/>
          </a:p>
        </p:txBody>
      </p:sp>
      <p:sp>
        <p:nvSpPr>
          <p:cNvPr id="14" name="Text 12"/>
          <p:cNvSpPr txBox="1"/>
          <p:nvPr/>
        </p:nvSpPr>
        <p:spPr>
          <a:xfrm>
            <a:off x="10362895" y="2084832"/>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5" name="Shape 13"/>
          <p:cNvSpPr/>
          <p:nvPr/>
        </p:nvSpPr>
        <p:spPr>
          <a:xfrm>
            <a:off x="6172200" y="2688336"/>
            <a:ext cx="5379415" cy="512064"/>
          </a:xfrm>
          <a:prstGeom prst="roundRect">
            <a:avLst>
              <a:gd name="adj" fmla="val 17857"/>
            </a:avLst>
          </a:prstGeom>
          <a:solidFill>
            <a:srgbClr val="1C2542"/>
          </a:solidFill>
          <a:ln w="9525">
            <a:solidFill>
              <a:srgbClr val="2C3860"/>
            </a:solidFill>
            <a:prstDash val="solid"/>
          </a:ln>
        </p:spPr>
      </p:sp>
      <p:sp>
        <p:nvSpPr>
          <p:cNvPr id="16" name="Text 14"/>
          <p:cNvSpPr txBox="1"/>
          <p:nvPr/>
        </p:nvSpPr>
        <p:spPr>
          <a:xfrm>
            <a:off x="6400800" y="2688336"/>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3   53° ile eğik atış</a:t>
            </a:r>
            <a:endParaRPr lang="en-US" sz="1300" dirty="0"/>
          </a:p>
        </p:txBody>
      </p:sp>
      <p:sp>
        <p:nvSpPr>
          <p:cNvPr id="17" name="Text 15"/>
          <p:cNvSpPr txBox="1"/>
          <p:nvPr/>
        </p:nvSpPr>
        <p:spPr>
          <a:xfrm>
            <a:off x="10362895" y="2688336"/>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18" name="Shape 16"/>
          <p:cNvSpPr/>
          <p:nvPr/>
        </p:nvSpPr>
        <p:spPr>
          <a:xfrm>
            <a:off x="6172200" y="3291840"/>
            <a:ext cx="5379415" cy="512064"/>
          </a:xfrm>
          <a:prstGeom prst="roundRect">
            <a:avLst>
              <a:gd name="adj" fmla="val 17857"/>
            </a:avLst>
          </a:prstGeom>
          <a:solidFill>
            <a:srgbClr val="1C2542"/>
          </a:solidFill>
          <a:ln w="9525">
            <a:solidFill>
              <a:srgbClr val="2C3860"/>
            </a:solidFill>
            <a:prstDash val="solid"/>
          </a:ln>
        </p:spPr>
      </p:sp>
      <p:sp>
        <p:nvSpPr>
          <p:cNvPr id="19" name="Text 17"/>
          <p:cNvSpPr txBox="1"/>
          <p:nvPr/>
        </p:nvSpPr>
        <p:spPr>
          <a:xfrm>
            <a:off x="6400800" y="3291840"/>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4   Aynı süratle farklı açılar</a:t>
            </a:r>
            <a:endParaRPr lang="en-US" sz="1300" dirty="0"/>
          </a:p>
        </p:txBody>
      </p:sp>
      <p:sp>
        <p:nvSpPr>
          <p:cNvPr id="20" name="Text 18"/>
          <p:cNvSpPr txBox="1"/>
          <p:nvPr/>
        </p:nvSpPr>
        <p:spPr>
          <a:xfrm>
            <a:off x="10362895" y="3291840"/>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1" name="Shape 19"/>
          <p:cNvSpPr/>
          <p:nvPr/>
        </p:nvSpPr>
        <p:spPr>
          <a:xfrm>
            <a:off x="6172200" y="3895344"/>
            <a:ext cx="5379415" cy="512064"/>
          </a:xfrm>
          <a:prstGeom prst="roundRect">
            <a:avLst>
              <a:gd name="adj" fmla="val 17857"/>
            </a:avLst>
          </a:prstGeom>
          <a:solidFill>
            <a:srgbClr val="1C2542"/>
          </a:solidFill>
          <a:ln w="9525">
            <a:solidFill>
              <a:srgbClr val="2C3860"/>
            </a:solidFill>
            <a:prstDash val="solid"/>
          </a:ln>
        </p:spPr>
      </p:sp>
      <p:sp>
        <p:nvSpPr>
          <p:cNvPr id="22" name="Text 20"/>
          <p:cNvSpPr txBox="1"/>
          <p:nvPr/>
        </p:nvSpPr>
        <p:spPr>
          <a:xfrm>
            <a:off x="6400800" y="3895344"/>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5   Uçaktan bırakılan yardım paketi</a:t>
            </a:r>
            <a:endParaRPr lang="en-US" sz="1300" dirty="0"/>
          </a:p>
        </p:txBody>
      </p:sp>
      <p:sp>
        <p:nvSpPr>
          <p:cNvPr id="23" name="Text 21"/>
          <p:cNvSpPr txBox="1"/>
          <p:nvPr/>
        </p:nvSpPr>
        <p:spPr>
          <a:xfrm>
            <a:off x="10362895" y="3895344"/>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4" name="Shape 22"/>
          <p:cNvSpPr/>
          <p:nvPr/>
        </p:nvSpPr>
        <p:spPr>
          <a:xfrm>
            <a:off x="6172200" y="4498848"/>
            <a:ext cx="5379415" cy="512064"/>
          </a:xfrm>
          <a:prstGeom prst="roundRect">
            <a:avLst>
              <a:gd name="adj" fmla="val 17857"/>
            </a:avLst>
          </a:prstGeom>
          <a:solidFill>
            <a:srgbClr val="1C2542"/>
          </a:solidFill>
          <a:ln w="9525">
            <a:solidFill>
              <a:srgbClr val="2C3860"/>
            </a:solidFill>
            <a:prstDash val="solid"/>
          </a:ln>
        </p:spPr>
      </p:sp>
      <p:sp>
        <p:nvSpPr>
          <p:cNvPr id="25" name="Text 23"/>
          <p:cNvSpPr txBox="1"/>
          <p:nvPr/>
        </p:nvSpPr>
        <p:spPr>
          <a:xfrm>
            <a:off x="6400800" y="449884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6   Top duvarın üstünden geçer mi?</a:t>
            </a:r>
            <a:endParaRPr lang="en-US" sz="1300" dirty="0"/>
          </a:p>
        </p:txBody>
      </p:sp>
      <p:sp>
        <p:nvSpPr>
          <p:cNvPr id="26" name="Text 24"/>
          <p:cNvSpPr txBox="1"/>
          <p:nvPr/>
        </p:nvSpPr>
        <p:spPr>
          <a:xfrm>
            <a:off x="10362895" y="4498848"/>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27" name="Shape 25"/>
          <p:cNvSpPr/>
          <p:nvPr/>
        </p:nvSpPr>
        <p:spPr>
          <a:xfrm>
            <a:off x="6172200" y="5102352"/>
            <a:ext cx="5379415" cy="512064"/>
          </a:xfrm>
          <a:prstGeom prst="roundRect">
            <a:avLst>
              <a:gd name="adj" fmla="val 17857"/>
            </a:avLst>
          </a:prstGeom>
          <a:solidFill>
            <a:srgbClr val="1C2542"/>
          </a:solidFill>
          <a:ln w="9525">
            <a:solidFill>
              <a:srgbClr val="2C3860"/>
            </a:solidFill>
            <a:prstDash val="solid"/>
          </a:ln>
        </p:spPr>
      </p:sp>
      <p:sp>
        <p:nvSpPr>
          <p:cNvPr id="28" name="Text 26"/>
          <p:cNvSpPr txBox="1"/>
          <p:nvPr/>
        </p:nvSpPr>
        <p:spPr>
          <a:xfrm>
            <a:off x="6400800" y="510235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7   Yükseklikten eğik atış</a:t>
            </a:r>
            <a:endParaRPr lang="en-US" sz="1300" dirty="0"/>
          </a:p>
        </p:txBody>
      </p:sp>
      <p:sp>
        <p:nvSpPr>
          <p:cNvPr id="29" name="Text 27"/>
          <p:cNvSpPr txBox="1"/>
          <p:nvPr/>
        </p:nvSpPr>
        <p:spPr>
          <a:xfrm>
            <a:off x="10362895" y="5102352"/>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30" name="Shape 28"/>
          <p:cNvSpPr/>
          <p:nvPr/>
        </p:nvSpPr>
        <p:spPr>
          <a:xfrm>
            <a:off x="640080" y="6382512"/>
            <a:ext cx="128016" cy="128016"/>
          </a:xfrm>
          <a:prstGeom prst="roundRect">
            <a:avLst>
              <a:gd name="adj" fmla="val 28571"/>
            </a:avLst>
          </a:prstGeom>
          <a:solidFill>
            <a:srgbClr val="C6F36B"/>
          </a:solidFill>
          <a:ln/>
        </p:spPr>
      </p:sp>
      <p:sp>
        <p:nvSpPr>
          <p:cNvPr id="31" name="Text 2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dersler.perinet.org/iki-boyutta-hareket.html</a:t>
            </a:r>
            <a:endParaRPr lang="en-US" sz="1050" dirty="0"/>
          </a:p>
        </p:txBody>
      </p:sp>
      <p:sp>
        <p:nvSpPr>
          <p:cNvPr id="32" name="Text 3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37</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1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Masadan yuvarlanan bilye  ·  Aşağıdaki çözümlerde g = 10 m/s² alınmış, hava direnci ihmal edilmiştir.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2054352"/>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0,8 m yüksekliğindeki bir masanın kenarından yatay olarak yuvarlanan bilye, masanın ayağından 1,2 m ötede yere düşüyor. (a) Düşme süresini, (b) bilyenin masadan ayrılma süratini, (c) yere çarpma süratini bulunuz.</a:t>
            </a:r>
            <a:endParaRPr lang="en-US" sz="1600" dirty="0"/>
          </a:p>
        </p:txBody>
      </p:sp>
      <p:sp>
        <p:nvSpPr>
          <p:cNvPr id="11" name="Shape 9"/>
          <p:cNvSpPr/>
          <p:nvPr/>
        </p:nvSpPr>
        <p:spPr>
          <a:xfrm>
            <a:off x="5212080" y="1627632"/>
            <a:ext cx="6339535" cy="1575514"/>
          </a:xfrm>
          <a:prstGeom prst="roundRect">
            <a:avLst>
              <a:gd name="adj" fmla="val 928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2223365"/>
            <a:ext cx="384048" cy="384048"/>
          </a:xfrm>
          <a:prstGeom prst="roundRect">
            <a:avLst>
              <a:gd name="adj" fmla="val 26000"/>
            </a:avLst>
          </a:prstGeom>
          <a:solidFill>
            <a:srgbClr val="A56209"/>
          </a:solidFill>
          <a:ln/>
        </p:spPr>
      </p:sp>
      <p:sp>
        <p:nvSpPr>
          <p:cNvPr id="13" name="Text 11"/>
          <p:cNvSpPr txBox="1"/>
          <p:nvPr/>
        </p:nvSpPr>
        <p:spPr>
          <a:xfrm>
            <a:off x="5449824" y="2223365"/>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1465786"/>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Düşeyde serbest düşme: 0,8 = ½·10·t² → t² = 0,16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t = 0,4 s</a:t>
            </a:r>
            <a:endParaRPr lang="en-US" sz="1600" dirty="0"/>
          </a:p>
        </p:txBody>
      </p:sp>
      <p:sp>
        <p:nvSpPr>
          <p:cNvPr id="15" name="Shape 13"/>
          <p:cNvSpPr/>
          <p:nvPr/>
        </p:nvSpPr>
        <p:spPr>
          <a:xfrm>
            <a:off x="5212080" y="3349450"/>
            <a:ext cx="6339535" cy="1575514"/>
          </a:xfrm>
          <a:prstGeom prst="roundRect">
            <a:avLst>
              <a:gd name="adj" fmla="val 928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945182"/>
            <a:ext cx="384048" cy="384048"/>
          </a:xfrm>
          <a:prstGeom prst="roundRect">
            <a:avLst>
              <a:gd name="adj" fmla="val 26000"/>
            </a:avLst>
          </a:prstGeom>
          <a:solidFill>
            <a:srgbClr val="A56209"/>
          </a:solidFill>
          <a:ln/>
        </p:spPr>
      </p:sp>
      <p:sp>
        <p:nvSpPr>
          <p:cNvPr id="17" name="Text 15"/>
          <p:cNvSpPr txBox="1"/>
          <p:nvPr/>
        </p:nvSpPr>
        <p:spPr>
          <a:xfrm>
            <a:off x="5449824" y="3945182"/>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3404314"/>
            <a:ext cx="5379415" cy="1465786"/>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Yatayda sabit hız: v₀ = x / t = 1,2 / 0,4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3 m/s</a:t>
            </a:r>
            <a:endParaRPr lang="en-US" sz="1600" dirty="0"/>
          </a:p>
        </p:txBody>
      </p:sp>
      <p:sp>
        <p:nvSpPr>
          <p:cNvPr id="19" name="Shape 17"/>
          <p:cNvSpPr/>
          <p:nvPr/>
        </p:nvSpPr>
        <p:spPr>
          <a:xfrm>
            <a:off x="5212080" y="5071267"/>
            <a:ext cx="6339535" cy="1073501"/>
          </a:xfrm>
          <a:prstGeom prst="roundRect">
            <a:avLst>
              <a:gd name="adj" fmla="val 1362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5415994"/>
            <a:ext cx="384048" cy="384048"/>
          </a:xfrm>
          <a:prstGeom prst="roundRect">
            <a:avLst>
              <a:gd name="adj" fmla="val 26000"/>
            </a:avLst>
          </a:prstGeom>
          <a:solidFill>
            <a:srgbClr val="A56209"/>
          </a:solidFill>
          <a:ln/>
        </p:spPr>
      </p:sp>
      <p:sp>
        <p:nvSpPr>
          <p:cNvPr id="21" name="Text 19"/>
          <p:cNvSpPr txBox="1"/>
          <p:nvPr/>
        </p:nvSpPr>
        <p:spPr>
          <a:xfrm>
            <a:off x="5449824" y="541599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5126131"/>
            <a:ext cx="5379415" cy="963773"/>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v</a:t>
            </a:r>
            <a:pPr indent="0" marL="0">
              <a:lnSpc>
                <a:spcPct val="112000"/>
              </a:lnSpc>
              <a:buNone/>
            </a:pPr>
            <a:r>
              <a:rPr lang="en-US" sz="1600" baseline="-40000" dirty="0">
                <a:solidFill>
                  <a:srgbClr val="4A5470"/>
                </a:solidFill>
                <a:latin typeface="Calibri" pitchFamily="34" charset="0"/>
                <a:ea typeface="Calibri" pitchFamily="34" charset="-122"/>
                <a:cs typeface="Calibri" pitchFamily="34" charset="-120"/>
              </a:rPr>
              <a:t>y</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 g·t = 4 m/s → v = √(3² + 4²)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5 m/s</a:t>
            </a:r>
            <a:endParaRPr lang="en-US" sz="1600" dirty="0"/>
          </a:p>
        </p:txBody>
      </p:sp>
      <p:sp>
        <p:nvSpPr>
          <p:cNvPr id="23" name="Shape 21"/>
          <p:cNvSpPr/>
          <p:nvPr/>
        </p:nvSpPr>
        <p:spPr>
          <a:xfrm>
            <a:off x="640080" y="6382512"/>
            <a:ext cx="128016" cy="128016"/>
          </a:xfrm>
          <a:prstGeom prst="roundRect">
            <a:avLst>
              <a:gd name="adj" fmla="val 28571"/>
            </a:avLst>
          </a:prstGeom>
          <a:solidFill>
            <a:srgbClr val="A9E648"/>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25" name="Text 2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38</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2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80 m yüksekten yatay atış  ·  Aşağıdaki çözümlerde g = 10 m/s² alınmış, hava direnci ihmal edilmiştir.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493520"/>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80 m yüksekliğindeki bir kuleden yatay doğrultuda 30 m/s süratle atılan cisim için: (a) uçuş süresini, (b) menzili, (c) yere çarpma süratini bulunuz.</a:t>
            </a:r>
            <a:endParaRPr lang="en-US" sz="1600" dirty="0"/>
          </a:p>
        </p:txBody>
      </p:sp>
      <p:sp>
        <p:nvSpPr>
          <p:cNvPr id="11" name="Shape 9"/>
          <p:cNvSpPr/>
          <p:nvPr/>
        </p:nvSpPr>
        <p:spPr>
          <a:xfrm>
            <a:off x="5212080" y="1627632"/>
            <a:ext cx="6339535" cy="1408176"/>
          </a:xfrm>
          <a:prstGeom prst="roundRect">
            <a:avLst>
              <a:gd name="adj" fmla="val 1039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2139696"/>
            <a:ext cx="384048" cy="384048"/>
          </a:xfrm>
          <a:prstGeom prst="roundRect">
            <a:avLst>
              <a:gd name="adj" fmla="val 26000"/>
            </a:avLst>
          </a:prstGeom>
          <a:solidFill>
            <a:srgbClr val="A56209"/>
          </a:solidFill>
          <a:ln/>
        </p:spPr>
      </p:sp>
      <p:sp>
        <p:nvSpPr>
          <p:cNvPr id="13" name="Text 11"/>
          <p:cNvSpPr txBox="1"/>
          <p:nvPr/>
        </p:nvSpPr>
        <p:spPr>
          <a:xfrm>
            <a:off x="5449824" y="213969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1298448"/>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Düşey hareket serbest düşmedir: 80 = ½·10·t² → t² = 16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t = 4 s</a:t>
            </a:r>
            <a:endParaRPr lang="en-US" sz="1600" dirty="0"/>
          </a:p>
        </p:txBody>
      </p:sp>
      <p:sp>
        <p:nvSpPr>
          <p:cNvPr id="15" name="Shape 13"/>
          <p:cNvSpPr/>
          <p:nvPr/>
        </p:nvSpPr>
        <p:spPr>
          <a:xfrm>
            <a:off x="5212080" y="3182112"/>
            <a:ext cx="6339535" cy="959483"/>
          </a:xfrm>
          <a:prstGeom prst="roundRect">
            <a:avLst>
              <a:gd name="adj" fmla="val 1524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469829"/>
            <a:ext cx="384048" cy="384048"/>
          </a:xfrm>
          <a:prstGeom prst="roundRect">
            <a:avLst>
              <a:gd name="adj" fmla="val 26000"/>
            </a:avLst>
          </a:prstGeom>
          <a:solidFill>
            <a:srgbClr val="A56209"/>
          </a:solidFill>
          <a:ln/>
        </p:spPr>
      </p:sp>
      <p:sp>
        <p:nvSpPr>
          <p:cNvPr id="17" name="Text 15"/>
          <p:cNvSpPr txBox="1"/>
          <p:nvPr/>
        </p:nvSpPr>
        <p:spPr>
          <a:xfrm>
            <a:off x="5449824" y="346982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3236976"/>
            <a:ext cx="5379415" cy="849755"/>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Yatayda sabit hız: x = 30 · 4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120 m</a:t>
            </a:r>
            <a:endParaRPr lang="en-US" sz="1600" dirty="0"/>
          </a:p>
        </p:txBody>
      </p:sp>
      <p:sp>
        <p:nvSpPr>
          <p:cNvPr id="19" name="Shape 17"/>
          <p:cNvSpPr/>
          <p:nvPr/>
        </p:nvSpPr>
        <p:spPr>
          <a:xfrm>
            <a:off x="5212080" y="4287899"/>
            <a:ext cx="6339535" cy="1856869"/>
          </a:xfrm>
          <a:prstGeom prst="roundRect">
            <a:avLst>
              <a:gd name="adj" fmla="val 787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5024309"/>
            <a:ext cx="384048" cy="384048"/>
          </a:xfrm>
          <a:prstGeom prst="roundRect">
            <a:avLst>
              <a:gd name="adj" fmla="val 26000"/>
            </a:avLst>
          </a:prstGeom>
          <a:solidFill>
            <a:srgbClr val="A56209"/>
          </a:solidFill>
          <a:ln/>
        </p:spPr>
      </p:sp>
      <p:sp>
        <p:nvSpPr>
          <p:cNvPr id="21" name="Text 19"/>
          <p:cNvSpPr txBox="1"/>
          <p:nvPr/>
        </p:nvSpPr>
        <p:spPr>
          <a:xfrm>
            <a:off x="5449824" y="502430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342763"/>
            <a:ext cx="5379415" cy="1747141"/>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v</a:t>
            </a:r>
            <a:pPr indent="0" marL="0">
              <a:lnSpc>
                <a:spcPct val="112000"/>
              </a:lnSpc>
              <a:buNone/>
            </a:pPr>
            <a:r>
              <a:rPr lang="en-US" sz="1600" baseline="-40000" dirty="0">
                <a:solidFill>
                  <a:srgbClr val="4A5470"/>
                </a:solidFill>
                <a:latin typeface="Calibri" pitchFamily="34" charset="0"/>
                <a:ea typeface="Calibri" pitchFamily="34" charset="-122"/>
                <a:cs typeface="Calibri" pitchFamily="34" charset="-120"/>
              </a:rPr>
              <a:t>y</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 g·t = 40 m/s, v</a:t>
            </a:r>
            <a:pPr indent="0" marL="0">
              <a:lnSpc>
                <a:spcPct val="112000"/>
              </a:lnSpc>
              <a:buNone/>
            </a:pPr>
            <a:r>
              <a:rPr lang="en-US" sz="1600" baseline="-40000" dirty="0">
                <a:solidFill>
                  <a:srgbClr val="4A5470"/>
                </a:solidFill>
                <a:latin typeface="Calibri" pitchFamily="34" charset="0"/>
                <a:ea typeface="Calibri" pitchFamily="34" charset="-122"/>
                <a:cs typeface="Calibri" pitchFamily="34" charset="-120"/>
              </a:rPr>
              <a:t>x</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 30 m/s → v = √(30² + 40²)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50 m/s</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Yerle yaptığı açı: tanθ = 40/30 → θ ≈ 53°.</a:t>
            </a:r>
            <a:endParaRPr lang="en-US" sz="1600" dirty="0"/>
          </a:p>
        </p:txBody>
      </p:sp>
      <p:sp>
        <p:nvSpPr>
          <p:cNvPr id="23" name="Shape 21"/>
          <p:cNvSpPr/>
          <p:nvPr/>
        </p:nvSpPr>
        <p:spPr>
          <a:xfrm>
            <a:off x="640080" y="6382512"/>
            <a:ext cx="128016" cy="128016"/>
          </a:xfrm>
          <a:prstGeom prst="roundRect">
            <a:avLst>
              <a:gd name="adj" fmla="val 28571"/>
            </a:avLst>
          </a:prstGeom>
          <a:solidFill>
            <a:srgbClr val="A9E648"/>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25" name="Text 2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39</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3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53° ile eğik atış  ·  Aşağıdaki çözümlerde g = 10 m/s² alınmış, hava direnci ihmal edilmiştir.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773936"/>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Yerden 50 m/s süratle, yatayla 53° açı yapacak şekilde atılan cisim için: (a) tepe noktasına çıkma süresini, (b) maksimum yüksekliği, (c) menzili bulunuz. (sin53° = 0,8 · cos53° = 0,6)</a:t>
            </a:r>
            <a:endParaRPr lang="en-US" sz="1600" dirty="0"/>
          </a:p>
        </p:txBody>
      </p:sp>
      <p:sp>
        <p:nvSpPr>
          <p:cNvPr id="11" name="Text 9"/>
          <p:cNvSpPr txBox="1"/>
          <p:nvPr/>
        </p:nvSpPr>
        <p:spPr>
          <a:xfrm>
            <a:off x="932688" y="4178808"/>
            <a:ext cx="2743200" cy="219456"/>
          </a:xfrm>
          <a:prstGeom prst="rect">
            <a:avLst/>
          </a:prstGeom>
          <a:noFill/>
          <a:ln/>
        </p:spPr>
        <p:txBody>
          <a:bodyPr wrap="square" lIns="0" tIns="0" rIns="0" bIns="0" rtlCol="0" anchor="ctr"/>
          <a:lstStyle/>
          <a:p>
            <a:pPr indent="0" marL="0">
              <a:buNone/>
            </a:pPr>
            <a:r>
              <a:rPr lang="en-US" sz="950" b="1" spc="200" kern="0" dirty="0">
                <a:solidFill>
                  <a:srgbClr val="7B849E"/>
                </a:solidFill>
                <a:latin typeface="Calibri" pitchFamily="34" charset="0"/>
                <a:ea typeface="Calibri" pitchFamily="34" charset="-122"/>
                <a:cs typeface="Calibri" pitchFamily="34" charset="-120"/>
              </a:rPr>
              <a:t>NOT</a:t>
            </a:r>
            <a:endParaRPr lang="en-US" sz="950" dirty="0"/>
          </a:p>
        </p:txBody>
      </p:sp>
      <p:sp>
        <p:nvSpPr>
          <p:cNvPr id="12" name="Text 10"/>
          <p:cNvSpPr txBox="1"/>
          <p:nvPr/>
        </p:nvSpPr>
        <p:spPr>
          <a:xfrm>
            <a:off x="932688" y="4434840"/>
            <a:ext cx="3712464" cy="447446"/>
          </a:xfrm>
          <a:prstGeom prst="rect">
            <a:avLst/>
          </a:prstGeom>
          <a:noFill/>
          <a:ln/>
        </p:spPr>
        <p:txBody>
          <a:bodyPr wrap="square" lIns="0" tIns="0" rIns="0" bIns="0" rtlCol="0" anchor="t"/>
          <a:lstStyle/>
          <a:p>
            <a:pPr indent="0" marL="0">
              <a:lnSpc>
                <a:spcPct val="112000"/>
              </a:lnSpc>
              <a:buNone/>
            </a:pPr>
            <a:r>
              <a:rPr lang="en-US" sz="1150" dirty="0">
                <a:solidFill>
                  <a:srgbClr val="4A5470"/>
                </a:solidFill>
                <a:latin typeface="Calibri" pitchFamily="34" charset="0"/>
                <a:ea typeface="Calibri" pitchFamily="34" charset="-122"/>
                <a:cs typeface="Calibri" pitchFamily="34" charset="-120"/>
              </a:rPr>
              <a:t>Kontrol: R = v₀²·sin2α / g = 2500 · sin106° / 10 ≈ 2500 · 0,96 / 10 = 240 m ✓</a:t>
            </a:r>
            <a:endParaRPr lang="en-US" sz="1150" dirty="0"/>
          </a:p>
        </p:txBody>
      </p:sp>
      <p:sp>
        <p:nvSpPr>
          <p:cNvPr id="13" name="Shape 11"/>
          <p:cNvSpPr/>
          <p:nvPr/>
        </p:nvSpPr>
        <p:spPr>
          <a:xfrm>
            <a:off x="5212080" y="1627632"/>
            <a:ext cx="6339535" cy="1339716"/>
          </a:xfrm>
          <a:prstGeom prst="roundRect">
            <a:avLst>
              <a:gd name="adj" fmla="val 10921"/>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2105466"/>
            <a:ext cx="384048" cy="384048"/>
          </a:xfrm>
          <a:prstGeom prst="roundRect">
            <a:avLst>
              <a:gd name="adj" fmla="val 26000"/>
            </a:avLst>
          </a:prstGeom>
          <a:solidFill>
            <a:srgbClr val="A56209"/>
          </a:solidFill>
          <a:ln/>
        </p:spPr>
      </p:sp>
      <p:sp>
        <p:nvSpPr>
          <p:cNvPr id="15" name="Text 13"/>
          <p:cNvSpPr txBox="1"/>
          <p:nvPr/>
        </p:nvSpPr>
        <p:spPr>
          <a:xfrm>
            <a:off x="5449824" y="210546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6" name="Text 14"/>
          <p:cNvSpPr txBox="1"/>
          <p:nvPr/>
        </p:nvSpPr>
        <p:spPr>
          <a:xfrm>
            <a:off x="5989320" y="1682496"/>
            <a:ext cx="5379415" cy="122998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Bileşenler: v₀ₓ = 50·0,6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30 m/s</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v₀ᵧ = 50·0,8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40 m/s</a:t>
            </a:r>
            <a:endParaRPr lang="en-US" sz="1600" dirty="0"/>
          </a:p>
        </p:txBody>
      </p:sp>
      <p:sp>
        <p:nvSpPr>
          <p:cNvPr id="17" name="Shape 15"/>
          <p:cNvSpPr/>
          <p:nvPr/>
        </p:nvSpPr>
        <p:spPr>
          <a:xfrm>
            <a:off x="5212080" y="311365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3378046"/>
            <a:ext cx="384048" cy="384048"/>
          </a:xfrm>
          <a:prstGeom prst="roundRect">
            <a:avLst>
              <a:gd name="adj" fmla="val 26000"/>
            </a:avLst>
          </a:prstGeom>
          <a:solidFill>
            <a:srgbClr val="A56209"/>
          </a:solidFill>
          <a:ln/>
        </p:spPr>
      </p:sp>
      <p:sp>
        <p:nvSpPr>
          <p:cNvPr id="19" name="Text 17"/>
          <p:cNvSpPr txBox="1"/>
          <p:nvPr/>
        </p:nvSpPr>
        <p:spPr>
          <a:xfrm>
            <a:off x="5449824" y="337804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20" name="Text 18"/>
          <p:cNvSpPr txBox="1"/>
          <p:nvPr/>
        </p:nvSpPr>
        <p:spPr>
          <a:xfrm>
            <a:off x="5989320" y="3168516"/>
            <a:ext cx="5379415" cy="803108"/>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Tepede v</a:t>
            </a:r>
            <a:pPr indent="0" marL="0">
              <a:lnSpc>
                <a:spcPct val="112000"/>
              </a:lnSpc>
              <a:buNone/>
            </a:pPr>
            <a:r>
              <a:rPr lang="en-US" sz="1600" baseline="-40000" dirty="0">
                <a:solidFill>
                  <a:srgbClr val="4A5470"/>
                </a:solidFill>
                <a:latin typeface="Calibri" pitchFamily="34" charset="0"/>
                <a:ea typeface="Calibri" pitchFamily="34" charset="-122"/>
                <a:cs typeface="Calibri" pitchFamily="34" charset="-120"/>
              </a:rPr>
              <a:t>y</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 0 → 0 = 40 − 10·t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t = 4 s</a:t>
            </a:r>
            <a:endParaRPr lang="en-US" sz="1600" dirty="0"/>
          </a:p>
        </p:txBody>
      </p:sp>
      <p:sp>
        <p:nvSpPr>
          <p:cNvPr id="21" name="Shape 19"/>
          <p:cNvSpPr/>
          <p:nvPr/>
        </p:nvSpPr>
        <p:spPr>
          <a:xfrm>
            <a:off x="5212080" y="417279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4437186"/>
            <a:ext cx="384048" cy="384048"/>
          </a:xfrm>
          <a:prstGeom prst="roundRect">
            <a:avLst>
              <a:gd name="adj" fmla="val 26000"/>
            </a:avLst>
          </a:prstGeom>
          <a:solidFill>
            <a:srgbClr val="A56209"/>
          </a:solidFill>
          <a:ln/>
        </p:spPr>
      </p:sp>
      <p:sp>
        <p:nvSpPr>
          <p:cNvPr id="23" name="Text 21"/>
          <p:cNvSpPr txBox="1"/>
          <p:nvPr/>
        </p:nvSpPr>
        <p:spPr>
          <a:xfrm>
            <a:off x="5449824" y="443718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4" name="Text 22"/>
          <p:cNvSpPr txBox="1"/>
          <p:nvPr/>
        </p:nvSpPr>
        <p:spPr>
          <a:xfrm>
            <a:off x="5989320" y="4227656"/>
            <a:ext cx="5379415" cy="803108"/>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h = 40²/(2·10)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80 m</a:t>
            </a:r>
            <a:endParaRPr lang="en-US" sz="1600" dirty="0"/>
          </a:p>
        </p:txBody>
      </p:sp>
      <p:sp>
        <p:nvSpPr>
          <p:cNvPr id="25" name="Shape 23"/>
          <p:cNvSpPr/>
          <p:nvPr/>
        </p:nvSpPr>
        <p:spPr>
          <a:xfrm>
            <a:off x="5212080" y="523193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6" name="Shape 24"/>
          <p:cNvSpPr/>
          <p:nvPr/>
        </p:nvSpPr>
        <p:spPr>
          <a:xfrm>
            <a:off x="5449824" y="5496326"/>
            <a:ext cx="384048" cy="384048"/>
          </a:xfrm>
          <a:prstGeom prst="roundRect">
            <a:avLst>
              <a:gd name="adj" fmla="val 26000"/>
            </a:avLst>
          </a:prstGeom>
          <a:solidFill>
            <a:srgbClr val="A56209"/>
          </a:solidFill>
          <a:ln/>
        </p:spPr>
      </p:sp>
      <p:sp>
        <p:nvSpPr>
          <p:cNvPr id="27" name="Text 25"/>
          <p:cNvSpPr txBox="1"/>
          <p:nvPr/>
        </p:nvSpPr>
        <p:spPr>
          <a:xfrm>
            <a:off x="5449824" y="549632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8" name="Text 26"/>
          <p:cNvSpPr txBox="1"/>
          <p:nvPr/>
        </p:nvSpPr>
        <p:spPr>
          <a:xfrm>
            <a:off x="5989320" y="5286796"/>
            <a:ext cx="5379415" cy="803108"/>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Uçuş süresi 2·4 = 8 s → R = 30 · 8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240 m</a:t>
            </a:r>
            <a:endParaRPr lang="en-US" sz="1600" dirty="0"/>
          </a:p>
        </p:txBody>
      </p:sp>
      <p:sp>
        <p:nvSpPr>
          <p:cNvPr id="29" name="Shape 27"/>
          <p:cNvSpPr/>
          <p:nvPr/>
        </p:nvSpPr>
        <p:spPr>
          <a:xfrm>
            <a:off x="640080" y="6382512"/>
            <a:ext cx="128016" cy="128016"/>
          </a:xfrm>
          <a:prstGeom prst="roundRect">
            <a:avLst>
              <a:gd name="adj" fmla="val 28571"/>
            </a:avLst>
          </a:prstGeom>
          <a:solidFill>
            <a:srgbClr val="A9E648"/>
          </a:solidFill>
          <a:ln/>
        </p:spPr>
      </p:sp>
      <p:sp>
        <p:nvSpPr>
          <p:cNvPr id="30" name="Text 2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31" name="Text 2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40</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4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Aynı süratle farklı açılar  ·  Aşağıdaki çözümlerde g = 10 m/s² alınmış, hava direnci ihmal edilmiştir.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932688"/>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20 m/s süratle atılan bir cismin 30°, 45° ve 60° için menzillerini karşılaştırınız.</a:t>
            </a:r>
            <a:endParaRPr lang="en-US" sz="1600" dirty="0"/>
          </a:p>
        </p:txBody>
      </p:sp>
      <p:sp>
        <p:nvSpPr>
          <p:cNvPr id="11" name="Shape 9"/>
          <p:cNvSpPr/>
          <p:nvPr/>
        </p:nvSpPr>
        <p:spPr>
          <a:xfrm>
            <a:off x="5212080" y="1627632"/>
            <a:ext cx="6339535" cy="614082"/>
          </a:xfrm>
          <a:prstGeom prst="roundRect">
            <a:avLst>
              <a:gd name="adj" fmla="val 2382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742649"/>
            <a:ext cx="384048" cy="384048"/>
          </a:xfrm>
          <a:prstGeom prst="roundRect">
            <a:avLst>
              <a:gd name="adj" fmla="val 26000"/>
            </a:avLst>
          </a:prstGeom>
          <a:solidFill>
            <a:srgbClr val="A56209"/>
          </a:solidFill>
          <a:ln/>
        </p:spPr>
      </p:sp>
      <p:sp>
        <p:nvSpPr>
          <p:cNvPr id="13" name="Text 11"/>
          <p:cNvSpPr txBox="1"/>
          <p:nvPr/>
        </p:nvSpPr>
        <p:spPr>
          <a:xfrm>
            <a:off x="5449824" y="174264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50435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R = v₀²·sin2α / g = 400·sin2α / 10 = 40·sin2α</a:t>
            </a:r>
            <a:endParaRPr lang="en-US" sz="1600" dirty="0"/>
          </a:p>
        </p:txBody>
      </p:sp>
      <p:sp>
        <p:nvSpPr>
          <p:cNvPr id="15" name="Shape 13"/>
          <p:cNvSpPr/>
          <p:nvPr/>
        </p:nvSpPr>
        <p:spPr>
          <a:xfrm>
            <a:off x="5212080" y="2388018"/>
            <a:ext cx="6339535" cy="614082"/>
          </a:xfrm>
          <a:prstGeom prst="roundRect">
            <a:avLst>
              <a:gd name="adj" fmla="val 2382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2503035"/>
            <a:ext cx="384048" cy="384048"/>
          </a:xfrm>
          <a:prstGeom prst="roundRect">
            <a:avLst>
              <a:gd name="adj" fmla="val 26000"/>
            </a:avLst>
          </a:prstGeom>
          <a:solidFill>
            <a:srgbClr val="A56209"/>
          </a:solidFill>
          <a:ln/>
        </p:spPr>
      </p:sp>
      <p:sp>
        <p:nvSpPr>
          <p:cNvPr id="17" name="Text 15"/>
          <p:cNvSpPr txBox="1"/>
          <p:nvPr/>
        </p:nvSpPr>
        <p:spPr>
          <a:xfrm>
            <a:off x="5449824" y="2503035"/>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442882"/>
            <a:ext cx="5379415" cy="50435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30° → 40·sin60° = 40·0,866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34,6 m</a:t>
            </a:r>
            <a:endParaRPr lang="en-US" sz="1600" dirty="0"/>
          </a:p>
        </p:txBody>
      </p:sp>
      <p:sp>
        <p:nvSpPr>
          <p:cNvPr id="19" name="Shape 17"/>
          <p:cNvSpPr/>
          <p:nvPr/>
        </p:nvSpPr>
        <p:spPr>
          <a:xfrm>
            <a:off x="5212080" y="3148404"/>
            <a:ext cx="6339535" cy="614082"/>
          </a:xfrm>
          <a:prstGeom prst="roundRect">
            <a:avLst>
              <a:gd name="adj" fmla="val 2382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3263421"/>
            <a:ext cx="384048" cy="384048"/>
          </a:xfrm>
          <a:prstGeom prst="roundRect">
            <a:avLst>
              <a:gd name="adj" fmla="val 26000"/>
            </a:avLst>
          </a:prstGeom>
          <a:solidFill>
            <a:srgbClr val="A56209"/>
          </a:solidFill>
          <a:ln/>
        </p:spPr>
      </p:sp>
      <p:sp>
        <p:nvSpPr>
          <p:cNvPr id="21" name="Text 19"/>
          <p:cNvSpPr txBox="1"/>
          <p:nvPr/>
        </p:nvSpPr>
        <p:spPr>
          <a:xfrm>
            <a:off x="5449824" y="3263421"/>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3203268"/>
            <a:ext cx="5379415" cy="50435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45° → 40·sin90°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40 m</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(en uzun)</a:t>
            </a:r>
            <a:endParaRPr lang="en-US" sz="1600" dirty="0"/>
          </a:p>
        </p:txBody>
      </p:sp>
      <p:sp>
        <p:nvSpPr>
          <p:cNvPr id="23" name="Shape 21"/>
          <p:cNvSpPr/>
          <p:nvPr/>
        </p:nvSpPr>
        <p:spPr>
          <a:xfrm>
            <a:off x="5212080" y="3908790"/>
            <a:ext cx="6339535" cy="901252"/>
          </a:xfrm>
          <a:prstGeom prst="roundRect">
            <a:avLst>
              <a:gd name="adj" fmla="val 1623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4167392"/>
            <a:ext cx="384048" cy="384048"/>
          </a:xfrm>
          <a:prstGeom prst="roundRect">
            <a:avLst>
              <a:gd name="adj" fmla="val 26000"/>
            </a:avLst>
          </a:prstGeom>
          <a:solidFill>
            <a:srgbClr val="A56209"/>
          </a:solidFill>
          <a:ln/>
        </p:spPr>
      </p:sp>
      <p:sp>
        <p:nvSpPr>
          <p:cNvPr id="25" name="Text 23"/>
          <p:cNvSpPr txBox="1"/>
          <p:nvPr/>
        </p:nvSpPr>
        <p:spPr>
          <a:xfrm>
            <a:off x="5449824" y="4167392"/>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3963654"/>
            <a:ext cx="5379415" cy="79152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60° → 40·sin120° = 40·0,866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34,6 m</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 30° ile aynı!</a:t>
            </a:r>
            <a:endParaRPr lang="en-US" sz="1600" dirty="0"/>
          </a:p>
        </p:txBody>
      </p:sp>
      <p:sp>
        <p:nvSpPr>
          <p:cNvPr id="27" name="Shape 25"/>
          <p:cNvSpPr/>
          <p:nvPr/>
        </p:nvSpPr>
        <p:spPr>
          <a:xfrm>
            <a:off x="5212080" y="4956346"/>
            <a:ext cx="6339535" cy="1188422"/>
          </a:xfrm>
          <a:prstGeom prst="roundRect">
            <a:avLst>
              <a:gd name="adj" fmla="val 12311"/>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8" name="Shape 26"/>
          <p:cNvSpPr/>
          <p:nvPr/>
        </p:nvSpPr>
        <p:spPr>
          <a:xfrm>
            <a:off x="5449824" y="5358533"/>
            <a:ext cx="384048" cy="384048"/>
          </a:xfrm>
          <a:prstGeom prst="roundRect">
            <a:avLst>
              <a:gd name="adj" fmla="val 26000"/>
            </a:avLst>
          </a:prstGeom>
          <a:solidFill>
            <a:srgbClr val="A56209"/>
          </a:solidFill>
          <a:ln/>
        </p:spPr>
      </p:sp>
      <p:sp>
        <p:nvSpPr>
          <p:cNvPr id="29" name="Text 27"/>
          <p:cNvSpPr txBox="1"/>
          <p:nvPr/>
        </p:nvSpPr>
        <p:spPr>
          <a:xfrm>
            <a:off x="5449824" y="535853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30" name="Text 28"/>
          <p:cNvSpPr txBox="1"/>
          <p:nvPr/>
        </p:nvSpPr>
        <p:spPr>
          <a:xfrm>
            <a:off x="5989320" y="5011210"/>
            <a:ext cx="5379415" cy="107869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Uçuş süreleri farklıdır: 30° için 2 s, 60° için 3,46 s. Aynı yere düşerler, ama biri diğerinden çok daha uzun havada kalır.</a:t>
            </a:r>
            <a:endParaRPr lang="en-US" sz="1600" dirty="0"/>
          </a:p>
        </p:txBody>
      </p:sp>
      <p:sp>
        <p:nvSpPr>
          <p:cNvPr id="31" name="Shape 29"/>
          <p:cNvSpPr/>
          <p:nvPr/>
        </p:nvSpPr>
        <p:spPr>
          <a:xfrm>
            <a:off x="640080" y="6382512"/>
            <a:ext cx="128016" cy="128016"/>
          </a:xfrm>
          <a:prstGeom prst="roundRect">
            <a:avLst>
              <a:gd name="adj" fmla="val 28571"/>
            </a:avLst>
          </a:prstGeom>
          <a:solidFill>
            <a:srgbClr val="A9E648"/>
          </a:solidFill>
          <a:ln/>
        </p:spPr>
      </p:sp>
      <p:sp>
        <p:nvSpPr>
          <p:cNvPr id="32" name="Text 3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33" name="Text 3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41</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5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Uçaktan bırakılan yardım paketi</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2054352"/>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500 m yükseklikte, yatay doğrultuda 100 m/s süratle uçan bir uçak yere bir yardım paketi bırakacak. (a) Paket kaç saniyede yere iner? (b) Uçak, hedefin kaç metre gerisindeyken paketi bırakmalıdır? (c) Paket yere değdiğinde uçak nerededir?</a:t>
            </a:r>
            <a:endParaRPr lang="en-US" sz="1600" dirty="0"/>
          </a:p>
        </p:txBody>
      </p:sp>
      <p:sp>
        <p:nvSpPr>
          <p:cNvPr id="11" name="Shape 9"/>
          <p:cNvSpPr/>
          <p:nvPr/>
        </p:nvSpPr>
        <p:spPr>
          <a:xfrm>
            <a:off x="5212080" y="1627632"/>
            <a:ext cx="6339535" cy="838561"/>
          </a:xfrm>
          <a:prstGeom prst="roundRect">
            <a:avLst>
              <a:gd name="adj" fmla="val 1744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854889"/>
            <a:ext cx="384048" cy="384048"/>
          </a:xfrm>
          <a:prstGeom prst="roundRect">
            <a:avLst>
              <a:gd name="adj" fmla="val 26000"/>
            </a:avLst>
          </a:prstGeom>
          <a:solidFill>
            <a:srgbClr val="A56209"/>
          </a:solidFill>
          <a:ln/>
        </p:spPr>
      </p:sp>
      <p:sp>
        <p:nvSpPr>
          <p:cNvPr id="13" name="Text 11"/>
          <p:cNvSpPr txBox="1"/>
          <p:nvPr/>
        </p:nvSpPr>
        <p:spPr>
          <a:xfrm>
            <a:off x="5449824" y="185488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728833"/>
          </a:xfrm>
          <a:prstGeom prst="rect">
            <a:avLst/>
          </a:prstGeom>
          <a:noFill/>
          <a:ln/>
        </p:spPr>
        <p:txBody>
          <a:bodyPr wrap="square" lIns="0" tIns="0" rIns="0" bIns="0" rtlCol="0" anchor="ctr"/>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Paket bırakıldığı anda uçağın yatay hızına sahiptir: v₀ = 100 m/s, v₀ᵧ = 0 (yatay atış).</a:t>
            </a:r>
            <a:endParaRPr lang="en-US" sz="1500" dirty="0"/>
          </a:p>
        </p:txBody>
      </p:sp>
      <p:sp>
        <p:nvSpPr>
          <p:cNvPr id="15" name="Shape 13"/>
          <p:cNvSpPr/>
          <p:nvPr/>
        </p:nvSpPr>
        <p:spPr>
          <a:xfrm>
            <a:off x="5212080" y="2612497"/>
            <a:ext cx="6339535" cy="577675"/>
          </a:xfrm>
          <a:prstGeom prst="roundRect">
            <a:avLst>
              <a:gd name="adj" fmla="val 2532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2709311"/>
            <a:ext cx="384048" cy="384048"/>
          </a:xfrm>
          <a:prstGeom prst="roundRect">
            <a:avLst>
              <a:gd name="adj" fmla="val 26000"/>
            </a:avLst>
          </a:prstGeom>
          <a:solidFill>
            <a:srgbClr val="A56209"/>
          </a:solidFill>
          <a:ln/>
        </p:spPr>
      </p:sp>
      <p:sp>
        <p:nvSpPr>
          <p:cNvPr id="17" name="Text 15"/>
          <p:cNvSpPr txBox="1"/>
          <p:nvPr/>
        </p:nvSpPr>
        <p:spPr>
          <a:xfrm>
            <a:off x="5449824" y="2709311"/>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667361"/>
            <a:ext cx="5379415" cy="467947"/>
          </a:xfrm>
          <a:prstGeom prst="rect">
            <a:avLst/>
          </a:prstGeom>
          <a:noFill/>
          <a:ln/>
        </p:spPr>
        <p:txBody>
          <a:bodyPr wrap="square" lIns="0" tIns="0" rIns="0" bIns="0" rtlCol="0" anchor="ctr"/>
          <a:lstStyle/>
          <a:p>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500 = ½·10·t² → t² = 100 → </a:t>
            </a:r>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t = 10 s</a:t>
            </a:r>
            <a:endParaRPr lang="en-US" sz="1500" dirty="0"/>
          </a:p>
        </p:txBody>
      </p:sp>
      <p:sp>
        <p:nvSpPr>
          <p:cNvPr id="19" name="Shape 17"/>
          <p:cNvSpPr/>
          <p:nvPr/>
        </p:nvSpPr>
        <p:spPr>
          <a:xfrm>
            <a:off x="5212080" y="3336477"/>
            <a:ext cx="6339535" cy="838561"/>
          </a:xfrm>
          <a:prstGeom prst="roundRect">
            <a:avLst>
              <a:gd name="adj" fmla="val 1744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3563733"/>
            <a:ext cx="384048" cy="384048"/>
          </a:xfrm>
          <a:prstGeom prst="roundRect">
            <a:avLst>
              <a:gd name="adj" fmla="val 26000"/>
            </a:avLst>
          </a:prstGeom>
          <a:solidFill>
            <a:srgbClr val="A56209"/>
          </a:solidFill>
          <a:ln/>
        </p:spPr>
      </p:sp>
      <p:sp>
        <p:nvSpPr>
          <p:cNvPr id="21" name="Text 19"/>
          <p:cNvSpPr txBox="1"/>
          <p:nvPr/>
        </p:nvSpPr>
        <p:spPr>
          <a:xfrm>
            <a:off x="5449824" y="356373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3391341"/>
            <a:ext cx="5379415" cy="728833"/>
          </a:xfrm>
          <a:prstGeom prst="rect">
            <a:avLst/>
          </a:prstGeom>
          <a:noFill/>
          <a:ln/>
        </p:spPr>
        <p:txBody>
          <a:bodyPr wrap="square" lIns="0" tIns="0" rIns="0" bIns="0" rtlCol="0" anchor="ctr"/>
          <a:lstStyle/>
          <a:p>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x = 100 · 10 = </a:t>
            </a:r>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1000 m</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paket hedeften 1 km önce bırakılmalıdır.</a:t>
            </a:r>
            <a:endParaRPr lang="en-US" sz="1500" dirty="0"/>
          </a:p>
        </p:txBody>
      </p:sp>
      <p:sp>
        <p:nvSpPr>
          <p:cNvPr id="23" name="Shape 21"/>
          <p:cNvSpPr/>
          <p:nvPr/>
        </p:nvSpPr>
        <p:spPr>
          <a:xfrm>
            <a:off x="5212080" y="4321342"/>
            <a:ext cx="6339535" cy="838561"/>
          </a:xfrm>
          <a:prstGeom prst="roundRect">
            <a:avLst>
              <a:gd name="adj" fmla="val 1744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4548598"/>
            <a:ext cx="384048" cy="384048"/>
          </a:xfrm>
          <a:prstGeom prst="roundRect">
            <a:avLst>
              <a:gd name="adj" fmla="val 26000"/>
            </a:avLst>
          </a:prstGeom>
          <a:solidFill>
            <a:srgbClr val="A56209"/>
          </a:solidFill>
          <a:ln/>
        </p:spPr>
      </p:sp>
      <p:sp>
        <p:nvSpPr>
          <p:cNvPr id="25" name="Text 23"/>
          <p:cNvSpPr txBox="1"/>
          <p:nvPr/>
        </p:nvSpPr>
        <p:spPr>
          <a:xfrm>
            <a:off x="5449824" y="454859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4376206"/>
            <a:ext cx="5379415" cy="728833"/>
          </a:xfrm>
          <a:prstGeom prst="rect">
            <a:avLst/>
          </a:prstGeom>
          <a:noFill/>
          <a:ln/>
        </p:spPr>
        <p:txBody>
          <a:bodyPr wrap="square" lIns="0" tIns="0" rIns="0" bIns="0" rtlCol="0" anchor="ctr"/>
          <a:lstStyle/>
          <a:p>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Uçak da 10 s'de 1000 m gider: paket yere değdiğinde uçak </a:t>
            </a:r>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tam üstündedir</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a:t>
            </a:r>
            <a:endParaRPr lang="en-US" sz="1500" dirty="0"/>
          </a:p>
        </p:txBody>
      </p:sp>
      <p:sp>
        <p:nvSpPr>
          <p:cNvPr id="27" name="Shape 25"/>
          <p:cNvSpPr/>
          <p:nvPr/>
        </p:nvSpPr>
        <p:spPr>
          <a:xfrm>
            <a:off x="5212080" y="5306207"/>
            <a:ext cx="6339535" cy="838561"/>
          </a:xfrm>
          <a:prstGeom prst="roundRect">
            <a:avLst>
              <a:gd name="adj" fmla="val 1744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8" name="Shape 26"/>
          <p:cNvSpPr/>
          <p:nvPr/>
        </p:nvSpPr>
        <p:spPr>
          <a:xfrm>
            <a:off x="5449824" y="5533463"/>
            <a:ext cx="384048" cy="384048"/>
          </a:xfrm>
          <a:prstGeom prst="roundRect">
            <a:avLst>
              <a:gd name="adj" fmla="val 26000"/>
            </a:avLst>
          </a:prstGeom>
          <a:solidFill>
            <a:srgbClr val="A56209"/>
          </a:solidFill>
          <a:ln/>
        </p:spPr>
      </p:sp>
      <p:sp>
        <p:nvSpPr>
          <p:cNvPr id="29" name="Text 27"/>
          <p:cNvSpPr txBox="1"/>
          <p:nvPr/>
        </p:nvSpPr>
        <p:spPr>
          <a:xfrm>
            <a:off x="5449824" y="553346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30" name="Text 28"/>
          <p:cNvSpPr txBox="1"/>
          <p:nvPr/>
        </p:nvSpPr>
        <p:spPr>
          <a:xfrm>
            <a:off x="5989320" y="5361071"/>
            <a:ext cx="5379415" cy="728833"/>
          </a:xfrm>
          <a:prstGeom prst="rect">
            <a:avLst/>
          </a:prstGeom>
          <a:noFill/>
          <a:ln/>
        </p:spPr>
        <p:txBody>
          <a:bodyPr wrap="square" lIns="0" tIns="0" rIns="0" bIns="0" rtlCol="0" anchor="ctr"/>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Çarpma: v</a:t>
            </a:r>
            <a:pPr indent="0" marL="0">
              <a:lnSpc>
                <a:spcPct val="112000"/>
              </a:lnSpc>
              <a:buNone/>
            </a:pPr>
            <a:r>
              <a:rPr lang="en-US" sz="1500" baseline="-40000" dirty="0">
                <a:solidFill>
                  <a:srgbClr val="4A5470"/>
                </a:solidFill>
                <a:latin typeface="Calibri" pitchFamily="34" charset="0"/>
                <a:ea typeface="Calibri" pitchFamily="34" charset="-122"/>
                <a:cs typeface="Calibri" pitchFamily="34" charset="-120"/>
              </a:rPr>
              <a:t>y</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 100 m/s → v = √(100² + 100²) ≈ </a:t>
            </a:r>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141 m/s</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yerle 45° açıyla.</a:t>
            </a:r>
            <a:endParaRPr lang="en-US" sz="1500" dirty="0"/>
          </a:p>
        </p:txBody>
      </p:sp>
      <p:sp>
        <p:nvSpPr>
          <p:cNvPr id="31" name="Shape 29"/>
          <p:cNvSpPr/>
          <p:nvPr/>
        </p:nvSpPr>
        <p:spPr>
          <a:xfrm>
            <a:off x="640080" y="6382512"/>
            <a:ext cx="128016" cy="128016"/>
          </a:xfrm>
          <a:prstGeom prst="roundRect">
            <a:avLst>
              <a:gd name="adj" fmla="val 28571"/>
            </a:avLst>
          </a:prstGeom>
          <a:solidFill>
            <a:srgbClr val="A9E648"/>
          </a:solidFill>
          <a:ln/>
        </p:spPr>
      </p:sp>
      <p:sp>
        <p:nvSpPr>
          <p:cNvPr id="32" name="Text 3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33" name="Text 3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42</a:t>
            </a:r>
            <a:endParaRPr lang="en-US" sz="10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6 / 7</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Top duvarın üstünden geçer mi?</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2334768"/>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Yerden 25 m/s süratle, yatayla 37° açıyla atılan bir top, 20 m ötedeki 8 m yüksekliğindeki bir duvara doğru gidiyor. (a) Top duvarı aşar mı? (b) Duvarın hizasından geçerken yükselmekte mi, alçalmakta mıdır? (c) Duvar olmasaydı top nereye düşerdi? (sin37° = 0,6 · cos37° = 0,8)</a:t>
            </a:r>
            <a:endParaRPr lang="en-US" sz="1600" dirty="0"/>
          </a:p>
        </p:txBody>
      </p:sp>
      <p:sp>
        <p:nvSpPr>
          <p:cNvPr id="11" name="Shape 9"/>
          <p:cNvSpPr/>
          <p:nvPr/>
        </p:nvSpPr>
        <p:spPr>
          <a:xfrm>
            <a:off x="5212080" y="1627632"/>
            <a:ext cx="6339535" cy="901252"/>
          </a:xfrm>
          <a:prstGeom prst="roundRect">
            <a:avLst>
              <a:gd name="adj" fmla="val 1623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886234"/>
            <a:ext cx="384048" cy="384048"/>
          </a:xfrm>
          <a:prstGeom prst="roundRect">
            <a:avLst>
              <a:gd name="adj" fmla="val 26000"/>
            </a:avLst>
          </a:prstGeom>
          <a:solidFill>
            <a:srgbClr val="A56209"/>
          </a:solidFill>
          <a:ln/>
        </p:spPr>
      </p:sp>
      <p:sp>
        <p:nvSpPr>
          <p:cNvPr id="13" name="Text 11"/>
          <p:cNvSpPr txBox="1"/>
          <p:nvPr/>
        </p:nvSpPr>
        <p:spPr>
          <a:xfrm>
            <a:off x="5449824" y="188623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79152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Bileşenler: v₀ₓ = 25·0,8 = 20 m/s, v₀ᵧ = 25·0,6 = 15 m/s</a:t>
            </a:r>
            <a:endParaRPr lang="en-US" sz="1600" dirty="0"/>
          </a:p>
        </p:txBody>
      </p:sp>
      <p:sp>
        <p:nvSpPr>
          <p:cNvPr id="15" name="Shape 13"/>
          <p:cNvSpPr/>
          <p:nvPr/>
        </p:nvSpPr>
        <p:spPr>
          <a:xfrm>
            <a:off x="5212080" y="2675188"/>
            <a:ext cx="6339535" cy="614082"/>
          </a:xfrm>
          <a:prstGeom prst="roundRect">
            <a:avLst>
              <a:gd name="adj" fmla="val 2382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2790205"/>
            <a:ext cx="384048" cy="384048"/>
          </a:xfrm>
          <a:prstGeom prst="roundRect">
            <a:avLst>
              <a:gd name="adj" fmla="val 26000"/>
            </a:avLst>
          </a:prstGeom>
          <a:solidFill>
            <a:srgbClr val="A56209"/>
          </a:solidFill>
          <a:ln/>
        </p:spPr>
      </p:sp>
      <p:sp>
        <p:nvSpPr>
          <p:cNvPr id="17" name="Text 15"/>
          <p:cNvSpPr txBox="1"/>
          <p:nvPr/>
        </p:nvSpPr>
        <p:spPr>
          <a:xfrm>
            <a:off x="5449824" y="2790205"/>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730052"/>
            <a:ext cx="5379415" cy="50435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Duvara varış: t = 20 / 20 = 1 s</a:t>
            </a:r>
            <a:endParaRPr lang="en-US" sz="1600" dirty="0"/>
          </a:p>
        </p:txBody>
      </p:sp>
      <p:sp>
        <p:nvSpPr>
          <p:cNvPr id="19" name="Shape 17"/>
          <p:cNvSpPr/>
          <p:nvPr/>
        </p:nvSpPr>
        <p:spPr>
          <a:xfrm>
            <a:off x="5212080" y="3435574"/>
            <a:ext cx="6339535" cy="901252"/>
          </a:xfrm>
          <a:prstGeom prst="roundRect">
            <a:avLst>
              <a:gd name="adj" fmla="val 1623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3694176"/>
            <a:ext cx="384048" cy="384048"/>
          </a:xfrm>
          <a:prstGeom prst="roundRect">
            <a:avLst>
              <a:gd name="adj" fmla="val 26000"/>
            </a:avLst>
          </a:prstGeom>
          <a:solidFill>
            <a:srgbClr val="A56209"/>
          </a:solidFill>
          <a:ln/>
        </p:spPr>
      </p:sp>
      <p:sp>
        <p:nvSpPr>
          <p:cNvPr id="21" name="Text 19"/>
          <p:cNvSpPr txBox="1"/>
          <p:nvPr/>
        </p:nvSpPr>
        <p:spPr>
          <a:xfrm>
            <a:off x="5449824" y="369417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3490438"/>
            <a:ext cx="5379415" cy="791524"/>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O andaki yükseklik: y = 15·1 − 5·1² = 10 m &gt; 8 m → top duvarı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 m farkla aşar</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t>
            </a:r>
            <a:endParaRPr lang="en-US" sz="1600" dirty="0"/>
          </a:p>
        </p:txBody>
      </p:sp>
      <p:sp>
        <p:nvSpPr>
          <p:cNvPr id="23" name="Shape 21"/>
          <p:cNvSpPr/>
          <p:nvPr/>
        </p:nvSpPr>
        <p:spPr>
          <a:xfrm>
            <a:off x="5212080" y="4483130"/>
            <a:ext cx="6339535" cy="901252"/>
          </a:xfrm>
          <a:prstGeom prst="roundRect">
            <a:avLst>
              <a:gd name="adj" fmla="val 1623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4741732"/>
            <a:ext cx="384048" cy="384048"/>
          </a:xfrm>
          <a:prstGeom prst="roundRect">
            <a:avLst>
              <a:gd name="adj" fmla="val 26000"/>
            </a:avLst>
          </a:prstGeom>
          <a:solidFill>
            <a:srgbClr val="A56209"/>
          </a:solidFill>
          <a:ln/>
        </p:spPr>
      </p:sp>
      <p:sp>
        <p:nvSpPr>
          <p:cNvPr id="25" name="Text 23"/>
          <p:cNvSpPr txBox="1"/>
          <p:nvPr/>
        </p:nvSpPr>
        <p:spPr>
          <a:xfrm>
            <a:off x="5449824" y="4741732"/>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4537994"/>
            <a:ext cx="5379415" cy="791524"/>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v</a:t>
            </a:r>
            <a:pPr indent="0" marL="0">
              <a:lnSpc>
                <a:spcPct val="112000"/>
              </a:lnSpc>
              <a:buNone/>
            </a:pPr>
            <a:r>
              <a:rPr lang="en-US" sz="1600" baseline="-40000" dirty="0">
                <a:solidFill>
                  <a:srgbClr val="4A5470"/>
                </a:solidFill>
                <a:latin typeface="Calibri" pitchFamily="34" charset="0"/>
                <a:ea typeface="Calibri" pitchFamily="34" charset="-122"/>
                <a:cs typeface="Calibri" pitchFamily="34" charset="-120"/>
              </a:rPr>
              <a:t>y</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 15 − 10·1 = +5 m/s &gt; 0 → top hâlâ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yükselmektedir</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(tepeye 1,5 s'de varır).</a:t>
            </a:r>
            <a:endParaRPr lang="en-US" sz="1600" dirty="0"/>
          </a:p>
        </p:txBody>
      </p:sp>
      <p:sp>
        <p:nvSpPr>
          <p:cNvPr id="27" name="Shape 25"/>
          <p:cNvSpPr/>
          <p:nvPr/>
        </p:nvSpPr>
        <p:spPr>
          <a:xfrm>
            <a:off x="5212080" y="5530686"/>
            <a:ext cx="6339535" cy="614082"/>
          </a:xfrm>
          <a:prstGeom prst="roundRect">
            <a:avLst>
              <a:gd name="adj" fmla="val 2382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8" name="Shape 26"/>
          <p:cNvSpPr/>
          <p:nvPr/>
        </p:nvSpPr>
        <p:spPr>
          <a:xfrm>
            <a:off x="5449824" y="5645703"/>
            <a:ext cx="384048" cy="384048"/>
          </a:xfrm>
          <a:prstGeom prst="roundRect">
            <a:avLst>
              <a:gd name="adj" fmla="val 26000"/>
            </a:avLst>
          </a:prstGeom>
          <a:solidFill>
            <a:srgbClr val="A56209"/>
          </a:solidFill>
          <a:ln/>
        </p:spPr>
      </p:sp>
      <p:sp>
        <p:nvSpPr>
          <p:cNvPr id="29" name="Text 27"/>
          <p:cNvSpPr txBox="1"/>
          <p:nvPr/>
        </p:nvSpPr>
        <p:spPr>
          <a:xfrm>
            <a:off x="5449824" y="564570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30" name="Text 28"/>
          <p:cNvSpPr txBox="1"/>
          <p:nvPr/>
        </p:nvSpPr>
        <p:spPr>
          <a:xfrm>
            <a:off x="5989320" y="5585550"/>
            <a:ext cx="5379415" cy="504354"/>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Uçuş süresi 2·15/10 = 3 s → R = 20 · 3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60 m</a:t>
            </a:r>
            <a:endParaRPr lang="en-US" sz="1600" dirty="0"/>
          </a:p>
        </p:txBody>
      </p:sp>
      <p:sp>
        <p:nvSpPr>
          <p:cNvPr id="31" name="Shape 29"/>
          <p:cNvSpPr/>
          <p:nvPr/>
        </p:nvSpPr>
        <p:spPr>
          <a:xfrm>
            <a:off x="640080" y="6382512"/>
            <a:ext cx="128016" cy="128016"/>
          </a:xfrm>
          <a:prstGeom prst="roundRect">
            <a:avLst>
              <a:gd name="adj" fmla="val 28571"/>
            </a:avLst>
          </a:prstGeom>
          <a:solidFill>
            <a:srgbClr val="A9E648"/>
          </a:solidFill>
          <a:ln/>
        </p:spPr>
      </p:sp>
      <p:sp>
        <p:nvSpPr>
          <p:cNvPr id="32" name="Text 3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33" name="Text 3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43</a:t>
            </a:r>
            <a:endParaRPr lang="en-US" sz="10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7 / 7</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Yükseklikten eğik atış  ·  Aşağıdaki çözümlerde g = 10 m/s² alınmış, hava direnci ihmal edilmiştir.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773936"/>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20 m yüksekliğindeki bir çatıdan, yatayla 37° açıyla 25 m/s süratle atılan cisim için: (a) yere çarpma süresini, (b) yatay uzaklığı, (c) çarpma süratini bulunuz. (sin37° = 0,6 · cos37° = 0,8)</a:t>
            </a:r>
            <a:endParaRPr lang="en-US" sz="1600" dirty="0"/>
          </a:p>
        </p:txBody>
      </p:sp>
      <p:sp>
        <p:nvSpPr>
          <p:cNvPr id="11" name="Shape 9"/>
          <p:cNvSpPr/>
          <p:nvPr/>
        </p:nvSpPr>
        <p:spPr>
          <a:xfrm>
            <a:off x="5212080" y="1627632"/>
            <a:ext cx="6339535" cy="838561"/>
          </a:xfrm>
          <a:prstGeom prst="roundRect">
            <a:avLst>
              <a:gd name="adj" fmla="val 1744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854889"/>
            <a:ext cx="384048" cy="384048"/>
          </a:xfrm>
          <a:prstGeom prst="roundRect">
            <a:avLst>
              <a:gd name="adj" fmla="val 26000"/>
            </a:avLst>
          </a:prstGeom>
          <a:solidFill>
            <a:srgbClr val="A56209"/>
          </a:solidFill>
          <a:ln/>
        </p:spPr>
      </p:sp>
      <p:sp>
        <p:nvSpPr>
          <p:cNvPr id="13" name="Text 11"/>
          <p:cNvSpPr txBox="1"/>
          <p:nvPr/>
        </p:nvSpPr>
        <p:spPr>
          <a:xfrm>
            <a:off x="5449824" y="185488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728833"/>
          </a:xfrm>
          <a:prstGeom prst="rect">
            <a:avLst/>
          </a:prstGeom>
          <a:noFill/>
          <a:ln/>
        </p:spPr>
        <p:txBody>
          <a:bodyPr wrap="square" lIns="0" tIns="0" rIns="0" bIns="0" rtlCol="0" anchor="ctr"/>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Bileşenler: v₀ₓ = 25·0,8 = 20 m/s, v₀ᵧ = 25·0,6 = 15 m/s</a:t>
            </a:r>
            <a:endParaRPr lang="en-US" sz="1500" dirty="0"/>
          </a:p>
        </p:txBody>
      </p:sp>
      <p:sp>
        <p:nvSpPr>
          <p:cNvPr id="15" name="Shape 13"/>
          <p:cNvSpPr/>
          <p:nvPr/>
        </p:nvSpPr>
        <p:spPr>
          <a:xfrm>
            <a:off x="5212080" y="2612497"/>
            <a:ext cx="6339535" cy="838561"/>
          </a:xfrm>
          <a:prstGeom prst="roundRect">
            <a:avLst>
              <a:gd name="adj" fmla="val 1744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2839754"/>
            <a:ext cx="384048" cy="384048"/>
          </a:xfrm>
          <a:prstGeom prst="roundRect">
            <a:avLst>
              <a:gd name="adj" fmla="val 26000"/>
            </a:avLst>
          </a:prstGeom>
          <a:solidFill>
            <a:srgbClr val="A56209"/>
          </a:solidFill>
          <a:ln/>
        </p:spPr>
      </p:sp>
      <p:sp>
        <p:nvSpPr>
          <p:cNvPr id="17" name="Text 15"/>
          <p:cNvSpPr txBox="1"/>
          <p:nvPr/>
        </p:nvSpPr>
        <p:spPr>
          <a:xfrm>
            <a:off x="5449824" y="283975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667361"/>
            <a:ext cx="5379415" cy="728833"/>
          </a:xfrm>
          <a:prstGeom prst="rect">
            <a:avLst/>
          </a:prstGeom>
          <a:noFill/>
          <a:ln/>
        </p:spPr>
        <p:txBody>
          <a:bodyPr wrap="square" lIns="0" tIns="0" rIns="0" bIns="0" rtlCol="0" anchor="ctr"/>
          <a:lstStyle/>
          <a:p>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Yere değince y = 0: 20 + 15t − 5t² = 0 → t² − 3t − 4 = 0 → (t − 4)(t + 1) = 0 → </a:t>
            </a:r>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t = 4 s</a:t>
            </a:r>
            <a:endParaRPr lang="en-US" sz="1500" dirty="0"/>
          </a:p>
        </p:txBody>
      </p:sp>
      <p:sp>
        <p:nvSpPr>
          <p:cNvPr id="19" name="Shape 17"/>
          <p:cNvSpPr/>
          <p:nvPr/>
        </p:nvSpPr>
        <p:spPr>
          <a:xfrm>
            <a:off x="5212080" y="3597362"/>
            <a:ext cx="6339535" cy="577675"/>
          </a:xfrm>
          <a:prstGeom prst="roundRect">
            <a:avLst>
              <a:gd name="adj" fmla="val 2532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3694176"/>
            <a:ext cx="384048" cy="384048"/>
          </a:xfrm>
          <a:prstGeom prst="roundRect">
            <a:avLst>
              <a:gd name="adj" fmla="val 26000"/>
            </a:avLst>
          </a:prstGeom>
          <a:solidFill>
            <a:srgbClr val="A56209"/>
          </a:solidFill>
          <a:ln/>
        </p:spPr>
      </p:sp>
      <p:sp>
        <p:nvSpPr>
          <p:cNvPr id="21" name="Text 19"/>
          <p:cNvSpPr txBox="1"/>
          <p:nvPr/>
        </p:nvSpPr>
        <p:spPr>
          <a:xfrm>
            <a:off x="5449824" y="369417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3652226"/>
            <a:ext cx="5379415" cy="467947"/>
          </a:xfrm>
          <a:prstGeom prst="rect">
            <a:avLst/>
          </a:prstGeom>
          <a:noFill/>
          <a:ln/>
        </p:spPr>
        <p:txBody>
          <a:bodyPr wrap="square" lIns="0" tIns="0" rIns="0" bIns="0" rtlCol="0" anchor="ctr"/>
          <a:lstStyle/>
          <a:p>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x = 20 · 4 = </a:t>
            </a:r>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80 m</a:t>
            </a:r>
            <a:endParaRPr lang="en-US" sz="1500" dirty="0"/>
          </a:p>
        </p:txBody>
      </p:sp>
      <p:sp>
        <p:nvSpPr>
          <p:cNvPr id="23" name="Shape 21"/>
          <p:cNvSpPr/>
          <p:nvPr/>
        </p:nvSpPr>
        <p:spPr>
          <a:xfrm>
            <a:off x="5212080" y="4321342"/>
            <a:ext cx="6339535" cy="838561"/>
          </a:xfrm>
          <a:prstGeom prst="roundRect">
            <a:avLst>
              <a:gd name="adj" fmla="val 1744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4548598"/>
            <a:ext cx="384048" cy="384048"/>
          </a:xfrm>
          <a:prstGeom prst="roundRect">
            <a:avLst>
              <a:gd name="adj" fmla="val 26000"/>
            </a:avLst>
          </a:prstGeom>
          <a:solidFill>
            <a:srgbClr val="A56209"/>
          </a:solidFill>
          <a:ln/>
        </p:spPr>
      </p:sp>
      <p:sp>
        <p:nvSpPr>
          <p:cNvPr id="25" name="Text 23"/>
          <p:cNvSpPr txBox="1"/>
          <p:nvPr/>
        </p:nvSpPr>
        <p:spPr>
          <a:xfrm>
            <a:off x="5449824" y="454859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4376206"/>
            <a:ext cx="5379415" cy="728833"/>
          </a:xfrm>
          <a:prstGeom prst="rect">
            <a:avLst/>
          </a:prstGeom>
          <a:noFill/>
          <a:ln/>
        </p:spPr>
        <p:txBody>
          <a:bodyPr wrap="square" lIns="0" tIns="0" rIns="0" bIns="0" rtlCol="0" anchor="ctr"/>
          <a:lstStyle/>
          <a:p>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v</a:t>
            </a:r>
            <a:pPr indent="0" marL="0">
              <a:lnSpc>
                <a:spcPct val="112000"/>
              </a:lnSpc>
              <a:buNone/>
            </a:pPr>
            <a:r>
              <a:rPr lang="en-US" sz="1500" baseline="-40000" dirty="0">
                <a:solidFill>
                  <a:srgbClr val="4A5470"/>
                </a:solidFill>
                <a:latin typeface="Calibri" pitchFamily="34" charset="0"/>
                <a:ea typeface="Calibri" pitchFamily="34" charset="-122"/>
                <a:cs typeface="Calibri" pitchFamily="34" charset="-120"/>
              </a:rPr>
              <a:t>y</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 15 − 10·4 = −25 m/s (aşağı), v</a:t>
            </a:r>
            <a:pPr indent="0" marL="0">
              <a:lnSpc>
                <a:spcPct val="112000"/>
              </a:lnSpc>
              <a:buNone/>
            </a:pPr>
            <a:r>
              <a:rPr lang="en-US" sz="1500" baseline="-40000" dirty="0">
                <a:solidFill>
                  <a:srgbClr val="4A5470"/>
                </a:solidFill>
                <a:latin typeface="Calibri" pitchFamily="34" charset="0"/>
                <a:ea typeface="Calibri" pitchFamily="34" charset="-122"/>
                <a:cs typeface="Calibri" pitchFamily="34" charset="-120"/>
              </a:rPr>
              <a:t>x</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 20 m/s → v = √(20² + 25²) = √1025 ≈ </a:t>
            </a:r>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32 m/s</a:t>
            </a:r>
            <a:endParaRPr lang="en-US" sz="1500" dirty="0"/>
          </a:p>
        </p:txBody>
      </p:sp>
      <p:sp>
        <p:nvSpPr>
          <p:cNvPr id="27" name="Shape 25"/>
          <p:cNvSpPr/>
          <p:nvPr/>
        </p:nvSpPr>
        <p:spPr>
          <a:xfrm>
            <a:off x="5212080" y="5306207"/>
            <a:ext cx="6339535" cy="838561"/>
          </a:xfrm>
          <a:prstGeom prst="roundRect">
            <a:avLst>
              <a:gd name="adj" fmla="val 1744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8" name="Shape 26"/>
          <p:cNvSpPr/>
          <p:nvPr/>
        </p:nvSpPr>
        <p:spPr>
          <a:xfrm>
            <a:off x="5449824" y="5533463"/>
            <a:ext cx="384048" cy="384048"/>
          </a:xfrm>
          <a:prstGeom prst="roundRect">
            <a:avLst>
              <a:gd name="adj" fmla="val 26000"/>
            </a:avLst>
          </a:prstGeom>
          <a:solidFill>
            <a:srgbClr val="A56209"/>
          </a:solidFill>
          <a:ln/>
        </p:spPr>
      </p:sp>
      <p:sp>
        <p:nvSpPr>
          <p:cNvPr id="29" name="Text 27"/>
          <p:cNvSpPr txBox="1"/>
          <p:nvPr/>
        </p:nvSpPr>
        <p:spPr>
          <a:xfrm>
            <a:off x="5449824" y="553346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30" name="Text 28"/>
          <p:cNvSpPr txBox="1"/>
          <p:nvPr/>
        </p:nvSpPr>
        <p:spPr>
          <a:xfrm>
            <a:off x="5989320" y="5361071"/>
            <a:ext cx="5379415" cy="728833"/>
          </a:xfrm>
          <a:prstGeom prst="rect">
            <a:avLst/>
          </a:prstGeom>
          <a:noFill/>
          <a:ln/>
        </p:spPr>
        <p:txBody>
          <a:bodyPr wrap="square" lIns="0" tIns="0" rIns="0" bIns="0" rtlCol="0" anchor="ctr"/>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Kısa yol: v² = v₀² + 2gh = 625 + 2·10·20 = 1025 ✓ (yükseklik farkı aynıysa atış açısı sürati değiştirmez)</a:t>
            </a:r>
            <a:endParaRPr lang="en-US" sz="1500" dirty="0"/>
          </a:p>
        </p:txBody>
      </p:sp>
      <p:sp>
        <p:nvSpPr>
          <p:cNvPr id="31" name="Shape 29"/>
          <p:cNvSpPr/>
          <p:nvPr/>
        </p:nvSpPr>
        <p:spPr>
          <a:xfrm>
            <a:off x="640080" y="6382512"/>
            <a:ext cx="128016" cy="128016"/>
          </a:xfrm>
          <a:prstGeom prst="roundRect">
            <a:avLst>
              <a:gd name="adj" fmla="val 28571"/>
            </a:avLst>
          </a:prstGeom>
          <a:solidFill>
            <a:srgbClr val="A9E648"/>
          </a:solidFill>
          <a:ln/>
        </p:spPr>
      </p:sp>
      <p:sp>
        <p:nvSpPr>
          <p:cNvPr id="32" name="Text 3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33" name="Text 3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44</a:t>
            </a:r>
            <a:endParaRPr lang="en-US" sz="10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1 / 2</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73936"/>
            <a:ext cx="274320" cy="274320"/>
          </a:xfrm>
          <a:prstGeom prst="roundRect">
            <a:avLst>
              <a:gd name="adj" fmla="val 26667"/>
            </a:avLst>
          </a:prstGeom>
          <a:solidFill>
            <a:srgbClr val="FBE9EE"/>
          </a:solidFill>
          <a:ln/>
        </p:spPr>
      </p:sp>
      <p:sp>
        <p:nvSpPr>
          <p:cNvPr id="9" name="Text 7"/>
          <p:cNvSpPr txBox="1"/>
          <p:nvPr/>
        </p:nvSpPr>
        <p:spPr>
          <a:xfrm>
            <a:off x="841248"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0" name="Text 8"/>
          <p:cNvSpPr txBox="1"/>
          <p:nvPr/>
        </p:nvSpPr>
        <p:spPr>
          <a:xfrm>
            <a:off x="1225296"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“Tepe noktada hız sıfırdır.”</a:t>
            </a:r>
            <a:endParaRPr lang="en-US" sz="1600" dirty="0"/>
          </a:p>
        </p:txBody>
      </p:sp>
      <p:sp>
        <p:nvSpPr>
          <p:cNvPr id="11" name="Shape 9"/>
          <p:cNvSpPr/>
          <p:nvPr/>
        </p:nvSpPr>
        <p:spPr>
          <a:xfrm>
            <a:off x="841248" y="2154936"/>
            <a:ext cx="274320" cy="274320"/>
          </a:xfrm>
          <a:prstGeom prst="roundRect">
            <a:avLst>
              <a:gd name="adj" fmla="val 26667"/>
            </a:avLst>
          </a:prstGeom>
          <a:solidFill>
            <a:srgbClr val="EAF7DC"/>
          </a:solidFill>
          <a:ln/>
        </p:spPr>
      </p:sp>
      <p:sp>
        <p:nvSpPr>
          <p:cNvPr id="12" name="Text 10"/>
          <p:cNvSpPr txBox="1"/>
          <p:nvPr/>
        </p:nvSpPr>
        <p:spPr>
          <a:xfrm>
            <a:off x="841248"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3" name="Text 11"/>
          <p:cNvSpPr txBox="1"/>
          <p:nvPr/>
        </p:nvSpPr>
        <p:spPr>
          <a:xfrm>
            <a:off x="1225296"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Sıfırlanan yalnızca v</a:t>
            </a:r>
            <a:pPr indent="0" marL="0">
              <a:lnSpc>
                <a:spcPct val="108000"/>
              </a:lnSpc>
              <a:buNone/>
            </a:pPr>
            <a:r>
              <a:rPr lang="en-US" sz="1500" baseline="-40000" dirty="0">
                <a:solidFill>
                  <a:srgbClr val="4A5470"/>
                </a:solidFill>
                <a:latin typeface="Calibri" pitchFamily="34" charset="0"/>
                <a:ea typeface="Calibri" pitchFamily="34" charset="-122"/>
                <a:cs typeface="Calibri" pitchFamily="34" charset="-120"/>
              </a:rPr>
              <a:t>y</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'dir; yatay bileşen v₀cosα devam eder. Yalnızca düşey atışta (α = 90°) hız tümüyle sıfırlanır.</a:t>
            </a:r>
            <a:endParaRPr lang="en-US" sz="1500" dirty="0"/>
          </a:p>
        </p:txBody>
      </p:sp>
      <p:sp>
        <p:nvSpPr>
          <p:cNvPr id="14" name="Shape 12"/>
          <p:cNvSpPr/>
          <p:nvPr/>
        </p:nvSpPr>
        <p:spPr>
          <a:xfrm>
            <a:off x="6205576"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73936"/>
            <a:ext cx="274320" cy="274320"/>
          </a:xfrm>
          <a:prstGeom prst="roundRect">
            <a:avLst>
              <a:gd name="adj" fmla="val 26667"/>
            </a:avLst>
          </a:prstGeom>
          <a:solidFill>
            <a:srgbClr val="FBE9EE"/>
          </a:solidFill>
          <a:ln/>
        </p:spPr>
      </p:sp>
      <p:sp>
        <p:nvSpPr>
          <p:cNvPr id="16" name="Text 14"/>
          <p:cNvSpPr txBox="1"/>
          <p:nvPr/>
        </p:nvSpPr>
        <p:spPr>
          <a:xfrm>
            <a:off x="6406744"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7" name="Text 15"/>
          <p:cNvSpPr txBox="1"/>
          <p:nvPr/>
        </p:nvSpPr>
        <p:spPr>
          <a:xfrm>
            <a:off x="6790792"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“Tepe noktada ivme sıfırdır.”</a:t>
            </a:r>
            <a:endParaRPr lang="en-US" sz="1600" dirty="0"/>
          </a:p>
        </p:txBody>
      </p:sp>
      <p:sp>
        <p:nvSpPr>
          <p:cNvPr id="18" name="Shape 16"/>
          <p:cNvSpPr/>
          <p:nvPr/>
        </p:nvSpPr>
        <p:spPr>
          <a:xfrm>
            <a:off x="6406744" y="2154936"/>
            <a:ext cx="274320" cy="274320"/>
          </a:xfrm>
          <a:prstGeom prst="roundRect">
            <a:avLst>
              <a:gd name="adj" fmla="val 26667"/>
            </a:avLst>
          </a:prstGeom>
          <a:solidFill>
            <a:srgbClr val="EAF7DC"/>
          </a:solidFill>
          <a:ln/>
        </p:spPr>
      </p:sp>
      <p:sp>
        <p:nvSpPr>
          <p:cNvPr id="19" name="Text 17"/>
          <p:cNvSpPr txBox="1"/>
          <p:nvPr/>
        </p:nvSpPr>
        <p:spPr>
          <a:xfrm>
            <a:off x="6406744"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0" name="Text 18"/>
          <p:cNvSpPr txBox="1"/>
          <p:nvPr/>
        </p:nvSpPr>
        <p:spPr>
          <a:xfrm>
            <a:off x="6790792"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İvme hareket boyunca sabittir: g, aşağı yönde.</a:t>
            </a:r>
            <a:endParaRPr lang="en-US" sz="1500" dirty="0"/>
          </a:p>
        </p:txBody>
      </p:sp>
      <p:sp>
        <p:nvSpPr>
          <p:cNvPr id="21" name="Shape 19"/>
          <p:cNvSpPr/>
          <p:nvPr/>
        </p:nvSpPr>
        <p:spPr>
          <a:xfrm>
            <a:off x="640080"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05656"/>
            <a:ext cx="274320" cy="274320"/>
          </a:xfrm>
          <a:prstGeom prst="roundRect">
            <a:avLst>
              <a:gd name="adj" fmla="val 26667"/>
            </a:avLst>
          </a:prstGeom>
          <a:solidFill>
            <a:srgbClr val="FBE9EE"/>
          </a:solidFill>
          <a:ln/>
        </p:spPr>
      </p:sp>
      <p:sp>
        <p:nvSpPr>
          <p:cNvPr id="23" name="Text 21"/>
          <p:cNvSpPr txBox="1"/>
          <p:nvPr/>
        </p:nvSpPr>
        <p:spPr>
          <a:xfrm>
            <a:off x="841248"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24" name="Text 22"/>
          <p:cNvSpPr txBox="1"/>
          <p:nvPr/>
        </p:nvSpPr>
        <p:spPr>
          <a:xfrm>
            <a:off x="1225296" y="407822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“Yatay hız düşme süresini etkiler.”</a:t>
            </a:r>
            <a:endParaRPr lang="en-US" sz="1600" dirty="0"/>
          </a:p>
        </p:txBody>
      </p:sp>
      <p:sp>
        <p:nvSpPr>
          <p:cNvPr id="25" name="Shape 23"/>
          <p:cNvSpPr/>
          <p:nvPr/>
        </p:nvSpPr>
        <p:spPr>
          <a:xfrm>
            <a:off x="841248" y="4486656"/>
            <a:ext cx="274320" cy="274320"/>
          </a:xfrm>
          <a:prstGeom prst="roundRect">
            <a:avLst>
              <a:gd name="adj" fmla="val 26667"/>
            </a:avLst>
          </a:prstGeom>
          <a:solidFill>
            <a:srgbClr val="EAF7DC"/>
          </a:solidFill>
          <a:ln/>
        </p:spPr>
      </p:sp>
      <p:sp>
        <p:nvSpPr>
          <p:cNvPr id="26" name="Text 24"/>
          <p:cNvSpPr txBox="1"/>
          <p:nvPr/>
        </p:nvSpPr>
        <p:spPr>
          <a:xfrm>
            <a:off x="841248" y="448665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7" name="Text 25"/>
          <p:cNvSpPr txBox="1"/>
          <p:nvPr/>
        </p:nvSpPr>
        <p:spPr>
          <a:xfrm>
            <a:off x="1225296" y="446836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Etkilemez. Süre yalnızca düşey harekete, yani yüksekliğe, v₀ᵧ'ye ve g'ye bağlıdır.</a:t>
            </a:r>
            <a:endParaRPr lang="en-US" sz="1500" dirty="0"/>
          </a:p>
        </p:txBody>
      </p:sp>
      <p:sp>
        <p:nvSpPr>
          <p:cNvPr id="28" name="Shape 26"/>
          <p:cNvSpPr/>
          <p:nvPr/>
        </p:nvSpPr>
        <p:spPr>
          <a:xfrm>
            <a:off x="6205576"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05656"/>
            <a:ext cx="274320" cy="274320"/>
          </a:xfrm>
          <a:prstGeom prst="roundRect">
            <a:avLst>
              <a:gd name="adj" fmla="val 26667"/>
            </a:avLst>
          </a:prstGeom>
          <a:solidFill>
            <a:srgbClr val="FBE9EE"/>
          </a:solidFill>
          <a:ln/>
        </p:spPr>
      </p:sp>
      <p:sp>
        <p:nvSpPr>
          <p:cNvPr id="30" name="Text 28"/>
          <p:cNvSpPr txBox="1"/>
          <p:nvPr/>
        </p:nvSpPr>
        <p:spPr>
          <a:xfrm>
            <a:off x="6406744"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1" name="Text 29"/>
          <p:cNvSpPr txBox="1"/>
          <p:nvPr/>
        </p:nvSpPr>
        <p:spPr>
          <a:xfrm>
            <a:off x="6790792" y="407822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İvmeyi yörüngeye teğet sanmak.</a:t>
            </a:r>
            <a:endParaRPr lang="en-US" sz="1600" dirty="0"/>
          </a:p>
        </p:txBody>
      </p:sp>
      <p:sp>
        <p:nvSpPr>
          <p:cNvPr id="32" name="Shape 30"/>
          <p:cNvSpPr/>
          <p:nvPr/>
        </p:nvSpPr>
        <p:spPr>
          <a:xfrm>
            <a:off x="6406744" y="4486656"/>
            <a:ext cx="274320" cy="274320"/>
          </a:xfrm>
          <a:prstGeom prst="roundRect">
            <a:avLst>
              <a:gd name="adj" fmla="val 26667"/>
            </a:avLst>
          </a:prstGeom>
          <a:solidFill>
            <a:srgbClr val="EAF7DC"/>
          </a:solidFill>
          <a:ln/>
        </p:spPr>
      </p:sp>
      <p:sp>
        <p:nvSpPr>
          <p:cNvPr id="33" name="Text 31"/>
          <p:cNvSpPr txBox="1"/>
          <p:nvPr/>
        </p:nvSpPr>
        <p:spPr>
          <a:xfrm>
            <a:off x="6406744" y="448665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34" name="Text 32"/>
          <p:cNvSpPr txBox="1"/>
          <p:nvPr/>
        </p:nvSpPr>
        <p:spPr>
          <a:xfrm>
            <a:off x="6790792" y="446836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Teğet olan hızdır; ivme her noktada düşeydir.</a:t>
            </a:r>
            <a:endParaRPr lang="en-US" sz="15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45</a:t>
            </a:r>
            <a:endParaRPr lang="en-US" sz="10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2 / 2</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73936"/>
            <a:ext cx="274320" cy="274320"/>
          </a:xfrm>
          <a:prstGeom prst="roundRect">
            <a:avLst>
              <a:gd name="adj" fmla="val 26667"/>
            </a:avLst>
          </a:prstGeom>
          <a:solidFill>
            <a:srgbClr val="FBE9EE"/>
          </a:solidFill>
          <a:ln/>
        </p:spPr>
      </p:sp>
      <p:sp>
        <p:nvSpPr>
          <p:cNvPr id="9" name="Text 7"/>
          <p:cNvSpPr txBox="1"/>
          <p:nvPr/>
        </p:nvSpPr>
        <p:spPr>
          <a:xfrm>
            <a:off x="841248"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0" name="Text 8"/>
          <p:cNvSpPr txBox="1"/>
          <p:nvPr/>
        </p:nvSpPr>
        <p:spPr>
          <a:xfrm>
            <a:off x="1225296"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Menzil formülünü her yerde kullanmak.</a:t>
            </a:r>
            <a:endParaRPr lang="en-US" sz="1600" dirty="0"/>
          </a:p>
        </p:txBody>
      </p:sp>
      <p:sp>
        <p:nvSpPr>
          <p:cNvPr id="11" name="Shape 9"/>
          <p:cNvSpPr/>
          <p:nvPr/>
        </p:nvSpPr>
        <p:spPr>
          <a:xfrm>
            <a:off x="841248" y="2154936"/>
            <a:ext cx="274320" cy="274320"/>
          </a:xfrm>
          <a:prstGeom prst="roundRect">
            <a:avLst>
              <a:gd name="adj" fmla="val 26667"/>
            </a:avLst>
          </a:prstGeom>
          <a:solidFill>
            <a:srgbClr val="EAF7DC"/>
          </a:solidFill>
          <a:ln/>
        </p:spPr>
      </p:sp>
      <p:sp>
        <p:nvSpPr>
          <p:cNvPr id="12" name="Text 10"/>
          <p:cNvSpPr txBox="1"/>
          <p:nvPr/>
        </p:nvSpPr>
        <p:spPr>
          <a:xfrm>
            <a:off x="841248"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3" name="Text 11"/>
          <p:cNvSpPr txBox="1"/>
          <p:nvPr/>
        </p:nvSpPr>
        <p:spPr>
          <a:xfrm>
            <a:off x="1225296"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R = v₀²sin2α/g yalnızca atış ve iniş </a:t>
            </a:r>
            <a:pPr indent="0" marL="0">
              <a:lnSpc>
                <a:spcPct val="108000"/>
              </a:lnSpc>
              <a:buNone/>
            </a:pPr>
            <a:r>
              <a:rPr lang="en-US" sz="1500" i="1" dirty="0">
                <a:solidFill>
                  <a:srgbClr val="4A5470"/>
                </a:solidFill>
                <a:latin typeface="Calibri" pitchFamily="34" charset="0"/>
                <a:ea typeface="Calibri" pitchFamily="34" charset="-122"/>
                <a:cs typeface="Calibri" pitchFamily="34" charset="-120"/>
              </a:rPr>
              <a:t>aynı yükseklikteyse</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geçerlidir.</a:t>
            </a:r>
            <a:endParaRPr lang="en-US" sz="1500" dirty="0"/>
          </a:p>
        </p:txBody>
      </p:sp>
      <p:sp>
        <p:nvSpPr>
          <p:cNvPr id="14" name="Shape 12"/>
          <p:cNvSpPr/>
          <p:nvPr/>
        </p:nvSpPr>
        <p:spPr>
          <a:xfrm>
            <a:off x="6205576"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73936"/>
            <a:ext cx="274320" cy="274320"/>
          </a:xfrm>
          <a:prstGeom prst="roundRect">
            <a:avLst>
              <a:gd name="adj" fmla="val 26667"/>
            </a:avLst>
          </a:prstGeom>
          <a:solidFill>
            <a:srgbClr val="FBE9EE"/>
          </a:solidFill>
          <a:ln/>
        </p:spPr>
      </p:sp>
      <p:sp>
        <p:nvSpPr>
          <p:cNvPr id="16" name="Text 14"/>
          <p:cNvSpPr txBox="1"/>
          <p:nvPr/>
        </p:nvSpPr>
        <p:spPr>
          <a:xfrm>
            <a:off x="6406744"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7" name="Text 15"/>
          <p:cNvSpPr txBox="1"/>
          <p:nvPr/>
        </p:nvSpPr>
        <p:spPr>
          <a:xfrm>
            <a:off x="6790792"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Bileşenleri skaler toplamak.</a:t>
            </a:r>
            <a:endParaRPr lang="en-US" sz="1600" dirty="0"/>
          </a:p>
        </p:txBody>
      </p:sp>
      <p:sp>
        <p:nvSpPr>
          <p:cNvPr id="18" name="Shape 16"/>
          <p:cNvSpPr/>
          <p:nvPr/>
        </p:nvSpPr>
        <p:spPr>
          <a:xfrm>
            <a:off x="6406744" y="2154936"/>
            <a:ext cx="274320" cy="274320"/>
          </a:xfrm>
          <a:prstGeom prst="roundRect">
            <a:avLst>
              <a:gd name="adj" fmla="val 26667"/>
            </a:avLst>
          </a:prstGeom>
          <a:solidFill>
            <a:srgbClr val="EAF7DC"/>
          </a:solidFill>
          <a:ln/>
        </p:spPr>
      </p:sp>
      <p:sp>
        <p:nvSpPr>
          <p:cNvPr id="19" name="Text 17"/>
          <p:cNvSpPr txBox="1"/>
          <p:nvPr/>
        </p:nvSpPr>
        <p:spPr>
          <a:xfrm>
            <a:off x="6406744"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0" name="Text 18"/>
          <p:cNvSpPr txBox="1"/>
          <p:nvPr/>
        </p:nvSpPr>
        <p:spPr>
          <a:xfrm>
            <a:off x="6790792"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v = √(v</a:t>
            </a:r>
            <a:pPr indent="0" marL="0">
              <a:lnSpc>
                <a:spcPct val="108000"/>
              </a:lnSpc>
              <a:buNone/>
            </a:pPr>
            <a:r>
              <a:rPr lang="en-US" sz="1500" baseline="-40000" dirty="0">
                <a:solidFill>
                  <a:srgbClr val="4A5470"/>
                </a:solidFill>
                <a:latin typeface="Calibri" pitchFamily="34" charset="0"/>
                <a:ea typeface="Calibri" pitchFamily="34" charset="-122"/>
                <a:cs typeface="Calibri" pitchFamily="34" charset="-120"/>
              </a:rPr>
              <a:t>x</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² + v</a:t>
            </a:r>
            <a:pPr indent="0" marL="0">
              <a:lnSpc>
                <a:spcPct val="108000"/>
              </a:lnSpc>
              <a:buNone/>
            </a:pPr>
            <a:r>
              <a:rPr lang="en-US" sz="1500" baseline="-40000" dirty="0">
                <a:solidFill>
                  <a:srgbClr val="4A5470"/>
                </a:solidFill>
                <a:latin typeface="Calibri" pitchFamily="34" charset="0"/>
                <a:ea typeface="Calibri" pitchFamily="34" charset="-122"/>
                <a:cs typeface="Calibri" pitchFamily="34" charset="-120"/>
              </a:rPr>
              <a:t>y</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²); v</a:t>
            </a:r>
            <a:pPr indent="0" marL="0">
              <a:lnSpc>
                <a:spcPct val="108000"/>
              </a:lnSpc>
              <a:buNone/>
            </a:pPr>
            <a:r>
              <a:rPr lang="en-US" sz="1500" baseline="-40000" dirty="0">
                <a:solidFill>
                  <a:srgbClr val="4A5470"/>
                </a:solidFill>
                <a:latin typeface="Calibri" pitchFamily="34" charset="0"/>
                <a:ea typeface="Calibri" pitchFamily="34" charset="-122"/>
                <a:cs typeface="Calibri" pitchFamily="34" charset="-120"/>
              </a:rPr>
              <a:t>x</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 v</a:t>
            </a:r>
            <a:pPr indent="0" marL="0">
              <a:lnSpc>
                <a:spcPct val="108000"/>
              </a:lnSpc>
              <a:buNone/>
            </a:pPr>
            <a:r>
              <a:rPr lang="en-US" sz="1500" baseline="-40000" dirty="0">
                <a:solidFill>
                  <a:srgbClr val="4A5470"/>
                </a:solidFill>
                <a:latin typeface="Calibri" pitchFamily="34" charset="0"/>
                <a:ea typeface="Calibri" pitchFamily="34" charset="-122"/>
                <a:cs typeface="Calibri" pitchFamily="34" charset="-120"/>
              </a:rPr>
              <a:t>y</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değil.</a:t>
            </a:r>
            <a:endParaRPr lang="en-US" sz="1500" dirty="0"/>
          </a:p>
        </p:txBody>
      </p:sp>
      <p:sp>
        <p:nvSpPr>
          <p:cNvPr id="21" name="Shape 19"/>
          <p:cNvSpPr/>
          <p:nvPr/>
        </p:nvSpPr>
        <p:spPr>
          <a:xfrm>
            <a:off x="640080"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05656"/>
            <a:ext cx="274320" cy="274320"/>
          </a:xfrm>
          <a:prstGeom prst="roundRect">
            <a:avLst>
              <a:gd name="adj" fmla="val 26667"/>
            </a:avLst>
          </a:prstGeom>
          <a:solidFill>
            <a:srgbClr val="FBE9EE"/>
          </a:solidFill>
          <a:ln/>
        </p:spPr>
      </p:sp>
      <p:sp>
        <p:nvSpPr>
          <p:cNvPr id="23" name="Text 21"/>
          <p:cNvSpPr txBox="1"/>
          <p:nvPr/>
        </p:nvSpPr>
        <p:spPr>
          <a:xfrm>
            <a:off x="841248"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24" name="Text 22"/>
          <p:cNvSpPr txBox="1"/>
          <p:nvPr/>
        </p:nvSpPr>
        <p:spPr>
          <a:xfrm>
            <a:off x="1225296" y="407822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sinüs ile kosinüsü karıştırmak.</a:t>
            </a:r>
            <a:endParaRPr lang="en-US" sz="1600" dirty="0"/>
          </a:p>
        </p:txBody>
      </p:sp>
      <p:sp>
        <p:nvSpPr>
          <p:cNvPr id="25" name="Shape 23"/>
          <p:cNvSpPr/>
          <p:nvPr/>
        </p:nvSpPr>
        <p:spPr>
          <a:xfrm>
            <a:off x="841248" y="4486656"/>
            <a:ext cx="274320" cy="274320"/>
          </a:xfrm>
          <a:prstGeom prst="roundRect">
            <a:avLst>
              <a:gd name="adj" fmla="val 26667"/>
            </a:avLst>
          </a:prstGeom>
          <a:solidFill>
            <a:srgbClr val="EAF7DC"/>
          </a:solidFill>
          <a:ln/>
        </p:spPr>
      </p:sp>
      <p:sp>
        <p:nvSpPr>
          <p:cNvPr id="26" name="Text 24"/>
          <p:cNvSpPr txBox="1"/>
          <p:nvPr/>
        </p:nvSpPr>
        <p:spPr>
          <a:xfrm>
            <a:off x="841248" y="448665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7" name="Text 25"/>
          <p:cNvSpPr txBox="1"/>
          <p:nvPr/>
        </p:nvSpPr>
        <p:spPr>
          <a:xfrm>
            <a:off x="1225296" y="446836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Açı </a:t>
            </a:r>
            <a:pPr indent="0" marL="0">
              <a:lnSpc>
                <a:spcPct val="108000"/>
              </a:lnSpc>
              <a:buNone/>
            </a:pPr>
            <a:r>
              <a:rPr lang="en-US" sz="1500" i="1" dirty="0">
                <a:solidFill>
                  <a:srgbClr val="4A5470"/>
                </a:solidFill>
                <a:latin typeface="Calibri" pitchFamily="34" charset="0"/>
                <a:ea typeface="Calibri" pitchFamily="34" charset="-122"/>
                <a:cs typeface="Calibri" pitchFamily="34" charset="-120"/>
              </a:rPr>
              <a:t>yatayla</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ölçülüyorsa yatay bileşen kosinüslü, düşey bileşen sinüslüdür. Açı düşeyle veriliyorsa tam tersi.</a:t>
            </a:r>
            <a:endParaRPr lang="en-US" sz="1500" dirty="0"/>
          </a:p>
        </p:txBody>
      </p:sp>
      <p:sp>
        <p:nvSpPr>
          <p:cNvPr id="28" name="Shape 26"/>
          <p:cNvSpPr/>
          <p:nvPr/>
        </p:nvSpPr>
        <p:spPr>
          <a:xfrm>
            <a:off x="6205576"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05656"/>
            <a:ext cx="274320" cy="274320"/>
          </a:xfrm>
          <a:prstGeom prst="roundRect">
            <a:avLst>
              <a:gd name="adj" fmla="val 26667"/>
            </a:avLst>
          </a:prstGeom>
          <a:solidFill>
            <a:srgbClr val="FBE9EE"/>
          </a:solidFill>
          <a:ln/>
        </p:spPr>
      </p:sp>
      <p:sp>
        <p:nvSpPr>
          <p:cNvPr id="30" name="Text 28"/>
          <p:cNvSpPr txBox="1"/>
          <p:nvPr/>
        </p:nvSpPr>
        <p:spPr>
          <a:xfrm>
            <a:off x="6406744"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1" name="Text 29"/>
          <p:cNvSpPr txBox="1"/>
          <p:nvPr/>
        </p:nvSpPr>
        <p:spPr>
          <a:xfrm>
            <a:off x="6790792" y="407822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Kütleyi hesaba katmak.</a:t>
            </a:r>
            <a:endParaRPr lang="en-US" sz="1600" dirty="0"/>
          </a:p>
        </p:txBody>
      </p:sp>
      <p:sp>
        <p:nvSpPr>
          <p:cNvPr id="32" name="Shape 30"/>
          <p:cNvSpPr/>
          <p:nvPr/>
        </p:nvSpPr>
        <p:spPr>
          <a:xfrm>
            <a:off x="6406744" y="4486656"/>
            <a:ext cx="274320" cy="274320"/>
          </a:xfrm>
          <a:prstGeom prst="roundRect">
            <a:avLst>
              <a:gd name="adj" fmla="val 26667"/>
            </a:avLst>
          </a:prstGeom>
          <a:solidFill>
            <a:srgbClr val="EAF7DC"/>
          </a:solidFill>
          <a:ln/>
        </p:spPr>
      </p:sp>
      <p:sp>
        <p:nvSpPr>
          <p:cNvPr id="33" name="Text 31"/>
          <p:cNvSpPr txBox="1"/>
          <p:nvPr/>
        </p:nvSpPr>
        <p:spPr>
          <a:xfrm>
            <a:off x="6406744" y="448665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34" name="Text 32"/>
          <p:cNvSpPr txBox="1"/>
          <p:nvPr/>
        </p:nvSpPr>
        <p:spPr>
          <a:xfrm>
            <a:off x="6790792" y="446836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Hiçbir bağıntıda m yoktur; hava direnci ihmal edildiği sürece ağır cisim de hafif cisim de aynı yörüngeyi çizer.</a:t>
            </a:r>
            <a:endParaRPr lang="en-US" sz="15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46</a:t>
            </a:r>
            <a:endParaRPr lang="en-US" sz="10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868680" y="1143000"/>
            <a:ext cx="54864" cy="548640"/>
          </a:xfrm>
          <a:prstGeom prst="rect">
            <a:avLst/>
          </a:prstGeom>
          <a:solidFill>
            <a:srgbClr val="C6F36B"/>
          </a:solidFill>
          <a:ln/>
        </p:spPr>
      </p:sp>
      <p:sp>
        <p:nvSpPr>
          <p:cNvPr id="3" name="Text 1"/>
          <p:cNvSpPr txBox="1"/>
          <p:nvPr/>
        </p:nvSpPr>
        <p:spPr>
          <a:xfrm>
            <a:off x="1097280" y="1005840"/>
            <a:ext cx="5486400" cy="822960"/>
          </a:xfrm>
          <a:prstGeom prst="rect">
            <a:avLst/>
          </a:prstGeom>
          <a:noFill/>
          <a:ln/>
        </p:spPr>
        <p:txBody>
          <a:bodyPr wrap="square" lIns="0" tIns="0" rIns="0" bIns="0" rtlCol="0" anchor="ctr"/>
          <a:lstStyle/>
          <a:p>
            <a:pPr indent="0" marL="0">
              <a:buNone/>
            </a:pPr>
            <a:r>
              <a:rPr lang="en-US" sz="4000" b="1" spc="-100" kern="0" dirty="0">
                <a:solidFill>
                  <a:srgbClr val="FFFFFF"/>
                </a:solidFill>
                <a:latin typeface="Cambria" pitchFamily="34" charset="0"/>
                <a:ea typeface="Cambria" pitchFamily="34" charset="-122"/>
                <a:cs typeface="Cambria" pitchFamily="34" charset="-120"/>
              </a:rPr>
              <a:t>Özetle</a:t>
            </a:r>
            <a:endParaRPr lang="en-US" sz="4000" dirty="0"/>
          </a:p>
        </p:txBody>
      </p:sp>
      <p:sp>
        <p:nvSpPr>
          <p:cNvPr id="4" name="Text 2"/>
          <p:cNvSpPr txBox="1"/>
          <p:nvPr/>
        </p:nvSpPr>
        <p:spPr>
          <a:xfrm>
            <a:off x="86868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AKLINDA KALSIN</a:t>
            </a:r>
            <a:endParaRPr lang="en-US" sz="1050" dirty="0"/>
          </a:p>
        </p:txBody>
      </p:sp>
      <p:sp>
        <p:nvSpPr>
          <p:cNvPr id="5" name="Text 3"/>
          <p:cNvSpPr txBox="1"/>
          <p:nvPr/>
        </p:nvSpPr>
        <p:spPr>
          <a:xfrm>
            <a:off x="868680" y="2450592"/>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01</a:t>
            </a:r>
            <a:endParaRPr lang="en-US" sz="1800" dirty="0"/>
          </a:p>
        </p:txBody>
      </p:sp>
      <p:sp>
        <p:nvSpPr>
          <p:cNvPr id="6" name="Text 4"/>
          <p:cNvSpPr txBox="1"/>
          <p:nvPr/>
        </p:nvSpPr>
        <p:spPr>
          <a:xfrm>
            <a:off x="1463040" y="2450592"/>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Yatayda </a:t>
            </a:r>
            <a:pPr indent="0" marL="0">
              <a:buNone/>
            </a:pPr>
            <a:r>
              <a:rPr lang="en-US" sz="1500" b="1" dirty="0">
                <a:solidFill>
                  <a:srgbClr val="FFFFFF"/>
                </a:solidFill>
                <a:latin typeface="Calibri" pitchFamily="34" charset="0"/>
                <a:ea typeface="Calibri" pitchFamily="34" charset="-122"/>
                <a:cs typeface="Calibri" pitchFamily="34" charset="-120"/>
              </a:rPr>
              <a:t>a</a:t>
            </a:r>
            <a:pPr indent="0" marL="0">
              <a:buNone/>
            </a:pPr>
            <a:r>
              <a:rPr lang="en-US" sz="1500" b="1" baseline="-40000" dirty="0">
                <a:solidFill>
                  <a:srgbClr val="FFFFFF"/>
                </a:solidFill>
                <a:latin typeface="Calibri" pitchFamily="34" charset="0"/>
                <a:ea typeface="Calibri" pitchFamily="34" charset="-122"/>
                <a:cs typeface="Calibri" pitchFamily="34" charset="-120"/>
              </a:rPr>
              <a:t>x</a:t>
            </a:r>
            <a:pPr indent="0" marL="0">
              <a:buNone/>
            </a:pPr>
            <a:r>
              <a:rPr lang="en-US" sz="1500" b="1" dirty="0">
                <a:solidFill>
                  <a:srgbClr val="FFFFFF"/>
                </a:solidFill>
                <a:latin typeface="Calibri" pitchFamily="34" charset="0"/>
                <a:ea typeface="Calibri" pitchFamily="34" charset="-122"/>
                <a:cs typeface="Calibri" pitchFamily="34" charset="-120"/>
              </a:rPr>
              <a:t> = 0</a:t>
            </a:r>
            <a:endParaRPr lang="en-US" sz="1500" dirty="0"/>
          </a:p>
        </p:txBody>
      </p:sp>
      <p:sp>
        <p:nvSpPr>
          <p:cNvPr id="7" name="Text 5"/>
          <p:cNvSpPr txBox="1"/>
          <p:nvPr/>
        </p:nvSpPr>
        <p:spPr>
          <a:xfrm>
            <a:off x="868680" y="3236976"/>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02</a:t>
            </a:r>
            <a:endParaRPr lang="en-US" sz="1800" dirty="0"/>
          </a:p>
        </p:txBody>
      </p:sp>
      <p:sp>
        <p:nvSpPr>
          <p:cNvPr id="8" name="Text 6"/>
          <p:cNvSpPr txBox="1"/>
          <p:nvPr/>
        </p:nvSpPr>
        <p:spPr>
          <a:xfrm>
            <a:off x="1463040" y="3236976"/>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Düşeyde </a:t>
            </a:r>
            <a:pPr indent="0" marL="0">
              <a:buNone/>
            </a:pPr>
            <a:r>
              <a:rPr lang="en-US" sz="1500" b="1" dirty="0">
                <a:solidFill>
                  <a:srgbClr val="FFFFFF"/>
                </a:solidFill>
                <a:latin typeface="Calibri" pitchFamily="34" charset="0"/>
                <a:ea typeface="Calibri" pitchFamily="34" charset="-122"/>
                <a:cs typeface="Calibri" pitchFamily="34" charset="-120"/>
              </a:rPr>
              <a:t>a</a:t>
            </a:r>
            <a:pPr indent="0" marL="0">
              <a:buNone/>
            </a:pPr>
            <a:r>
              <a:rPr lang="en-US" sz="1500" b="1" baseline="-40000" dirty="0">
                <a:solidFill>
                  <a:srgbClr val="FFFFFF"/>
                </a:solidFill>
                <a:latin typeface="Calibri" pitchFamily="34" charset="0"/>
                <a:ea typeface="Calibri" pitchFamily="34" charset="-122"/>
                <a:cs typeface="Calibri" pitchFamily="34" charset="-120"/>
              </a:rPr>
              <a:t>y</a:t>
            </a:r>
            <a:pPr indent="0" marL="0">
              <a:buNone/>
            </a:pPr>
            <a:r>
              <a:rPr lang="en-US" sz="1500" b="1" dirty="0">
                <a:solidFill>
                  <a:srgbClr val="FFFFFF"/>
                </a:solidFill>
                <a:latin typeface="Calibri" pitchFamily="34" charset="0"/>
                <a:ea typeface="Calibri" pitchFamily="34" charset="-122"/>
                <a:cs typeface="Calibri" pitchFamily="34" charset="-120"/>
              </a:rPr>
              <a:t> = g</a:t>
            </a:r>
            <a:endParaRPr lang="en-US" sz="1500" dirty="0"/>
          </a:p>
        </p:txBody>
      </p:sp>
      <p:sp>
        <p:nvSpPr>
          <p:cNvPr id="9" name="Text 7"/>
          <p:cNvSpPr txBox="1"/>
          <p:nvPr/>
        </p:nvSpPr>
        <p:spPr>
          <a:xfrm>
            <a:off x="868680" y="4023360"/>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1463040" y="4023360"/>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Yörünge </a:t>
            </a:r>
            <a:pPr indent="0" marL="0">
              <a:buNone/>
            </a:pPr>
            <a:r>
              <a:rPr lang="en-US" sz="1500" b="1" dirty="0">
                <a:solidFill>
                  <a:srgbClr val="FFFFFF"/>
                </a:solidFill>
                <a:latin typeface="Calibri" pitchFamily="34" charset="0"/>
                <a:ea typeface="Calibri" pitchFamily="34" charset="-122"/>
                <a:cs typeface="Calibri" pitchFamily="34" charset="-120"/>
              </a:rPr>
              <a:t>parabol</a:t>
            </a:r>
            <a:endParaRPr lang="en-US" sz="1500" dirty="0"/>
          </a:p>
        </p:txBody>
      </p:sp>
      <p:sp>
        <p:nvSpPr>
          <p:cNvPr id="11" name="Text 9"/>
          <p:cNvSpPr txBox="1"/>
          <p:nvPr/>
        </p:nvSpPr>
        <p:spPr>
          <a:xfrm>
            <a:off x="868680" y="4809744"/>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04</a:t>
            </a:r>
            <a:endParaRPr lang="en-US" sz="1800" dirty="0"/>
          </a:p>
        </p:txBody>
      </p:sp>
      <p:sp>
        <p:nvSpPr>
          <p:cNvPr id="12" name="Text 10"/>
          <p:cNvSpPr txBox="1"/>
          <p:nvPr/>
        </p:nvSpPr>
        <p:spPr>
          <a:xfrm>
            <a:off x="1463040" y="4809744"/>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En uzun menzil </a:t>
            </a:r>
            <a:pPr indent="0" marL="0">
              <a:buNone/>
            </a:pPr>
            <a:r>
              <a:rPr lang="en-US" sz="1500" b="1" dirty="0">
                <a:solidFill>
                  <a:srgbClr val="FFFFFF"/>
                </a:solidFill>
                <a:latin typeface="Calibri" pitchFamily="34" charset="0"/>
                <a:ea typeface="Calibri" pitchFamily="34" charset="-122"/>
                <a:cs typeface="Calibri" pitchFamily="34" charset="-120"/>
              </a:rPr>
              <a:t>45°</a:t>
            </a:r>
            <a:endParaRPr lang="en-US" sz="1500" dirty="0"/>
          </a:p>
        </p:txBody>
      </p:sp>
      <p:sp>
        <p:nvSpPr>
          <p:cNvPr id="13" name="Text 11"/>
          <p:cNvSpPr txBox="1"/>
          <p:nvPr/>
        </p:nvSpPr>
        <p:spPr>
          <a:xfrm>
            <a:off x="644652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4" name="Shape 12"/>
          <p:cNvSpPr/>
          <p:nvPr/>
        </p:nvSpPr>
        <p:spPr>
          <a:xfrm>
            <a:off x="6446520" y="2395728"/>
            <a:ext cx="5105095" cy="694944"/>
          </a:xfrm>
          <a:prstGeom prst="roundRect">
            <a:avLst>
              <a:gd name="adj" fmla="val 13158"/>
            </a:avLst>
          </a:prstGeom>
          <a:solidFill>
            <a:srgbClr val="1C2542"/>
          </a:solidFill>
          <a:ln w="9525">
            <a:solidFill>
              <a:srgbClr val="2C3860"/>
            </a:solidFill>
            <a:prstDash val="solid"/>
          </a:ln>
        </p:spPr>
      </p:sp>
      <p:sp>
        <p:nvSpPr>
          <p:cNvPr id="15" name="Text 13"/>
          <p:cNvSpPr txBox="1"/>
          <p:nvPr/>
        </p:nvSpPr>
        <p:spPr>
          <a:xfrm>
            <a:off x="6647688" y="2395728"/>
            <a:ext cx="185166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x = v₀·cosα · t</a:t>
            </a:r>
            <a:endParaRPr lang="en-US" sz="1350" dirty="0"/>
          </a:p>
        </p:txBody>
      </p:sp>
      <p:sp>
        <p:nvSpPr>
          <p:cNvPr id="16" name="Text 14"/>
          <p:cNvSpPr txBox="1"/>
          <p:nvPr/>
        </p:nvSpPr>
        <p:spPr>
          <a:xfrm>
            <a:off x="8572500" y="2395728"/>
            <a:ext cx="279623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yatayda sabit hız</a:t>
            </a:r>
            <a:endParaRPr lang="en-US" sz="1200" dirty="0"/>
          </a:p>
        </p:txBody>
      </p:sp>
      <p:sp>
        <p:nvSpPr>
          <p:cNvPr id="17" name="Shape 15"/>
          <p:cNvSpPr/>
          <p:nvPr/>
        </p:nvSpPr>
        <p:spPr>
          <a:xfrm>
            <a:off x="6446520" y="3218688"/>
            <a:ext cx="5105095" cy="694944"/>
          </a:xfrm>
          <a:prstGeom prst="roundRect">
            <a:avLst>
              <a:gd name="adj" fmla="val 13158"/>
            </a:avLst>
          </a:prstGeom>
          <a:solidFill>
            <a:srgbClr val="1C2542"/>
          </a:solidFill>
          <a:ln w="9525">
            <a:solidFill>
              <a:srgbClr val="2C3860"/>
            </a:solidFill>
            <a:prstDash val="solid"/>
          </a:ln>
        </p:spPr>
      </p:sp>
      <p:sp>
        <p:nvSpPr>
          <p:cNvPr id="18" name="Text 16"/>
          <p:cNvSpPr txBox="1"/>
          <p:nvPr/>
        </p:nvSpPr>
        <p:spPr>
          <a:xfrm>
            <a:off x="6647688" y="3218688"/>
            <a:ext cx="2692908"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y = v₀·sinα · t − ½g·t²</a:t>
            </a:r>
            <a:endParaRPr lang="en-US" sz="1350" dirty="0"/>
          </a:p>
        </p:txBody>
      </p:sp>
      <p:sp>
        <p:nvSpPr>
          <p:cNvPr id="19" name="Text 17"/>
          <p:cNvSpPr txBox="1"/>
          <p:nvPr/>
        </p:nvSpPr>
        <p:spPr>
          <a:xfrm>
            <a:off x="9413748" y="3218688"/>
            <a:ext cx="1954987"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düşeyde sabit ivme</a:t>
            </a:r>
            <a:endParaRPr lang="en-US" sz="1200" dirty="0"/>
          </a:p>
        </p:txBody>
      </p:sp>
      <p:sp>
        <p:nvSpPr>
          <p:cNvPr id="20" name="Shape 18"/>
          <p:cNvSpPr/>
          <p:nvPr/>
        </p:nvSpPr>
        <p:spPr>
          <a:xfrm>
            <a:off x="6446520" y="4041648"/>
            <a:ext cx="5105095" cy="694944"/>
          </a:xfrm>
          <a:prstGeom prst="roundRect">
            <a:avLst>
              <a:gd name="adj" fmla="val 13158"/>
            </a:avLst>
          </a:prstGeom>
          <a:solidFill>
            <a:srgbClr val="1C2542"/>
          </a:solidFill>
          <a:ln w="9525">
            <a:solidFill>
              <a:srgbClr val="2C3860"/>
            </a:solidFill>
            <a:prstDash val="solid"/>
          </a:ln>
        </p:spPr>
      </p:sp>
      <p:sp>
        <p:nvSpPr>
          <p:cNvPr id="21" name="Text 19"/>
          <p:cNvSpPr txBox="1"/>
          <p:nvPr/>
        </p:nvSpPr>
        <p:spPr>
          <a:xfrm>
            <a:off x="6647688" y="4041648"/>
            <a:ext cx="2061972"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R = v₀²·sin2α / g</a:t>
            </a:r>
            <a:endParaRPr lang="en-US" sz="1350" dirty="0"/>
          </a:p>
        </p:txBody>
      </p:sp>
      <p:sp>
        <p:nvSpPr>
          <p:cNvPr id="22" name="Text 20"/>
          <p:cNvSpPr txBox="1"/>
          <p:nvPr/>
        </p:nvSpPr>
        <p:spPr>
          <a:xfrm>
            <a:off x="8782812" y="4041648"/>
            <a:ext cx="2585923"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aynı yükseklikte menzil</a:t>
            </a:r>
            <a:endParaRPr lang="en-US" sz="1200" dirty="0"/>
          </a:p>
        </p:txBody>
      </p:sp>
      <p:sp>
        <p:nvSpPr>
          <p:cNvPr id="23" name="Shape 21"/>
          <p:cNvSpPr/>
          <p:nvPr/>
        </p:nvSpPr>
        <p:spPr>
          <a:xfrm>
            <a:off x="6446520" y="4864608"/>
            <a:ext cx="5105095" cy="694944"/>
          </a:xfrm>
          <a:prstGeom prst="roundRect">
            <a:avLst>
              <a:gd name="adj" fmla="val 13158"/>
            </a:avLst>
          </a:prstGeom>
          <a:solidFill>
            <a:srgbClr val="1C2542"/>
          </a:solidFill>
          <a:ln w="9525">
            <a:solidFill>
              <a:srgbClr val="2C3860"/>
            </a:solidFill>
            <a:prstDash val="solid"/>
          </a:ln>
        </p:spPr>
      </p:sp>
      <p:sp>
        <p:nvSpPr>
          <p:cNvPr id="24" name="Text 22"/>
          <p:cNvSpPr txBox="1"/>
          <p:nvPr/>
        </p:nvSpPr>
        <p:spPr>
          <a:xfrm>
            <a:off x="6647688" y="4864608"/>
            <a:ext cx="23774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h = v₀²·sin²α / (2g)</a:t>
            </a:r>
            <a:endParaRPr lang="en-US" sz="1350" dirty="0"/>
          </a:p>
        </p:txBody>
      </p:sp>
      <p:sp>
        <p:nvSpPr>
          <p:cNvPr id="25" name="Text 23"/>
          <p:cNvSpPr txBox="1"/>
          <p:nvPr/>
        </p:nvSpPr>
        <p:spPr>
          <a:xfrm>
            <a:off x="9098280" y="4864608"/>
            <a:ext cx="22704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tepe yüksekliği</a:t>
            </a:r>
            <a:endParaRPr lang="en-US" sz="1200" dirty="0"/>
          </a:p>
        </p:txBody>
      </p:sp>
      <p:sp>
        <p:nvSpPr>
          <p:cNvPr id="26" name="Shape 24"/>
          <p:cNvSpPr/>
          <p:nvPr/>
        </p:nvSpPr>
        <p:spPr>
          <a:xfrm>
            <a:off x="868680" y="5806440"/>
            <a:ext cx="10058400" cy="566928"/>
          </a:xfrm>
          <a:prstGeom prst="roundRect">
            <a:avLst>
              <a:gd name="adj" fmla="val 16129"/>
            </a:avLst>
          </a:prstGeom>
          <a:solidFill>
            <a:srgbClr val="1C2542"/>
          </a:solidFill>
          <a:ln w="9525">
            <a:solidFill>
              <a:srgbClr val="2C3860"/>
            </a:solidFill>
            <a:prstDash val="solid"/>
          </a:ln>
        </p:spPr>
      </p:sp>
      <p:sp>
        <p:nvSpPr>
          <p:cNvPr id="27" name="Text 25"/>
          <p:cNvSpPr txBox="1"/>
          <p:nvPr/>
        </p:nvSpPr>
        <p:spPr>
          <a:xfrm>
            <a:off x="1188720" y="5806440"/>
            <a:ext cx="9418320" cy="566928"/>
          </a:xfrm>
          <a:prstGeom prst="rect">
            <a:avLst/>
          </a:prstGeom>
          <a:noFill/>
          <a:ln/>
        </p:spPr>
        <p:txBody>
          <a:bodyPr wrap="square" lIns="0" tIns="0" rIns="0" bIns="0" rtlCol="0" anchor="ctr"/>
          <a:lstStyle/>
          <a:p>
            <a:pPr indent="0" marL="0">
              <a:buNone/>
            </a:pPr>
            <a:r>
              <a:rPr lang="en-US" sz="1300" dirty="0">
                <a:solidFill>
                  <a:srgbClr val="AEBBD6"/>
                </a:solidFill>
                <a:latin typeface="Calibri" pitchFamily="34" charset="0"/>
                <a:ea typeface="Calibri" pitchFamily="34" charset="-122"/>
                <a:cs typeface="Calibri" pitchFamily="34" charset="-120"/>
              </a:rPr>
              <a:t>Etkileşimli deneyler, canlı grafikler ve hızlı test:  </a:t>
            </a:r>
            <a:pPr indent="0" marL="0">
              <a:buNone/>
            </a:pPr>
            <a:r>
              <a:rPr lang="en-US" sz="1300" b="1" dirty="0">
                <a:solidFill>
                  <a:srgbClr val="C6F36B"/>
                </a:solidFill>
                <a:latin typeface="Calibri" pitchFamily="34" charset="0"/>
                <a:ea typeface="Calibri" pitchFamily="34" charset="-122"/>
                <a:cs typeface="Calibri" pitchFamily="34" charset="-120"/>
              </a:rPr>
              <a:t>dersler.perinet.org/iki-boyutta-hareket.html</a:t>
            </a:r>
            <a:endParaRPr lang="en-US" sz="1300" dirty="0"/>
          </a:p>
        </p:txBody>
      </p:sp>
      <p:sp>
        <p:nvSpPr>
          <p:cNvPr id="28" name="Text 26"/>
          <p:cNvSpPr txBox="1"/>
          <p:nvPr/>
        </p:nvSpPr>
        <p:spPr>
          <a:xfrm>
            <a:off x="5852160" y="1078992"/>
            <a:ext cx="5699455" cy="457200"/>
          </a:xfrm>
          <a:prstGeom prst="rect">
            <a:avLst/>
          </a:prstGeom>
          <a:noFill/>
          <a:ln/>
        </p:spPr>
        <p:txBody>
          <a:bodyPr wrap="square" lIns="0" tIns="0" rIns="0" bIns="0" rtlCol="0" anchor="ctr"/>
          <a:lstStyle/>
          <a:p>
            <a:pPr algn="r" indent="0" marL="0">
              <a:buNone/>
            </a:pPr>
            <a:r>
              <a:rPr lang="en-US" sz="1000" b="1" spc="200" kern="0" dirty="0">
                <a:solidFill>
                  <a:srgbClr val="8D97B5"/>
                </a:solidFill>
                <a:latin typeface="Calibri" pitchFamily="34" charset="0"/>
                <a:ea typeface="Calibri" pitchFamily="34" charset="-122"/>
                <a:cs typeface="Calibri" pitchFamily="34" charset="-120"/>
              </a:rPr>
              <a:t>SIRADAKİ KONU  </a:t>
            </a:r>
            <a:pPr algn="r" indent="0" marL="0">
              <a:buNone/>
            </a:pPr>
            <a:r>
              <a:rPr lang="en-US" sz="1300" b="1" dirty="0">
                <a:solidFill>
                  <a:srgbClr val="FFFFFF"/>
                </a:solidFill>
                <a:latin typeface="Calibri" pitchFamily="34" charset="0"/>
                <a:ea typeface="Calibri" pitchFamily="34" charset="-122"/>
                <a:cs typeface="Calibri" pitchFamily="34" charset="-120"/>
              </a:rPr>
              <a:t>03 · Newton'un hareket yasaları</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dersler.perinet.org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İki boyutta sabit ivmeli hareket — Dersler</dc:title>
  <dc:subject>Fizik · Kuvvet ve Hareket</dc:subject>
  <dc:creator>Dersler</dc:creator>
  <cp:lastModifiedBy>Dersler</cp:lastModifiedBy>
  <cp:revision>1</cp:revision>
  <dcterms:created xsi:type="dcterms:W3CDTF">2026-09-30T06:40:26Z</dcterms:created>
  <dcterms:modified xsi:type="dcterms:W3CDTF">2026-09-30T06:40:26Z</dcterms:modified>
</cp:coreProperties>
</file>