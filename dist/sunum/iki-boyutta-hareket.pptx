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Aşağıda önce bu ilkeyi kuracağız, sonra onunla yatay atışı, eğik atışı ve menzili tek tek çözeceğiz.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Aşağıda önce bu ilkeyi kuracağız, sonra onunla yatay atışı, eğik atışı ve menzili tek tek çözeceğiz.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İki boyutta sabit ivmeli hareket nedir?
2. Bağımsızlık ilkesi
3. Vektörel bağıntılar ve bileşenlere ayırma
4. Yatay atış
5. Eğik atış
6. Menzil, açı ve tümler açılar
7. Yörünge denklemi ve grafikler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Bir cisim bir düzlem içinde hareket ediyorsa ve ivme vektörü hem büyüklük hem yön olarak değişmiyorsa, bu harekete iki boyutta sabit ivmeli hareket denir. Konum, hız ve ivme artık birer sayı değil, birer vektördür.
Günlük hayattaki en yaygın örneği atış hareketleridir: atılan bir top, fışkıran su, masadan yuvarlanan bilye. Hepsinde ivme aynıdır — yerçekimi ivmesi g, büyüklüğü sabit, yönü daima aşağı.
Hareketi iki eksene ayırdığımızda ortaya çok tanıdık iki hareket çıkar:
• Yatay eksen (x): ivme yoktur (ax = 0) → düzgün doğrusal hareket.
• Düşey eksen (y): ivme g'dir ve aşağı yöndedir → sabit ivmeli hareket, yani serbest düşme/düşey atış.
Yani yeni bir hareket öğrenmiyorsun: bildiğin iki hareketi aynı anda, aynı saatle çalıştırıyorsun.
Hava direnci ihmal edilir. Bu derste cisme etki eden tek kuvvet ağırlıktır. Bu yüzden kütle hiçbir bağıntıda görünmez: 50 g'lık top ile 5 kg'lık gülle aynı hız ve açıyla atılırsa aynı yörüngeyi çizer.
Çizim: Aynı hareketin iki ayrı filmi. Yatay gölge eşit zaman aralıklarında eşit yollar alır — o eksende ivme yoktur. Düşey gölge ise 1 : 3 : 5 : 7 ile açılarak iner — o eksende tam bir serbest düşme vardır. İki filmi birbirine bağlayan tek şey aynı saati paylaşmaları; yörüngenin parabol olması da bu iki hareketin toplamıdır.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İki boyutlu hareketin bütün sırrı tek cümlede: yatay hareket ile düşey hareket birbirini etkilemez. Yatay hızın büyük olması cismin düşmesini geciktirmez; düşmesi de yatay hızını azaltmaz. İki hareketin tek ortak yanı aynı zamanı paylaşmalarıdır.
Bunun en çarpıcı kanıtı sayfadaki 02 numaralı deney: aynı yükseklikten biri serbestçe bırakılan, diğeri yatay olarak fırlatılan iki cisim tam olarak aynı anda yere iner. Fırlatılan cisim çok daha uzağa gitmiştir, ama düşey hareketi diğeriyle birebir aynıdır.
Neden böyle? Kuvvet düşeydir (ağırlık), dolayısıyla ivme de düşeydir. Yatay doğrultuda kuvvet olmadığı için o doğrultuda hız değişemez. Bir vektörün bir bileşenine etki eden kuvvet, diğer bileşenini değiştiremez.
Bu ilke problem çözmenin de yöntemidir: iki boyutlu bir soruyu iki ayrı tek boyutlu soruya bölersin, her birini kendi denklemiyle çözersin ve sonuçları zaman üzerinden birleştirirsin.
Çizim: Aynı yükseklikten biri serbestçe bırakılıyor, diğeri yatay olarak fırlatılıyor. Kesikli çizgiler her an ikisini birleştiriyor: düşey hareketleri birebir aynı. Fırlatılan cisim yüzlerce metre öteye gitse de, düşmesi bundan hiç etkilenmiyor. Sayfadaki 02 numaralı deneyde bunu kendi gözünle ölçebilirsin.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Sabit ivmeli hareketin denklemleri vektörel olarak da aynen geçerlidir:
v⃗ = v⃗₀ + a⃗·t   r⃗ = r⃗₀ + v⃗₀·t + ½·a⃗·t²
Yukarı yönü pozitif alıp ax = 0, ay = −g yazarsak ve ilk hızı yatayla α açısı yapacak şekilde bileşenlerine ayırırsak:
v₀ₓ = v₀·cosα   v₀ᵧ = v₀·sinα
Çizim: Solda atış anı: ilk hız, yatayla α açısı yapan bir vektördür ve dik üçgenle bileşenlerine ayrılır. Sağda yörüngenin herhangi bir noktası: yeşil bileşen hiç değişmez, sarı bileşen g yüzünden sürekli değişir, ikisinin vektörel toplamı olan mavi ok ise daima eğriye teğettir. Bu yüzden bileşenler skaler toplanmaz: 30 ve 40 bileşenleri 70 değil 50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Yatay (x) | Düşey (y)
İvme | ax = 0 | ay = −g
Hız | vx = v₀·cosα (sabit) | vy = v₀·sinα − g·t
Konum | x = v₀·cosα·t | y = y₀ + v₀·sinα·t − ½g·t²
Herhangi bir anda cismin sürati bileşenlerin vektörel toplamıdır; hız vektörü daima yörüngeye teğettir:
v = √(vx² + vy²)   tanθ = vy / vx
Bileşenler skaler toplanmaz. vx = 30 m/s ve vy = 40 m/s ise sürat 70 m/s değil, 50 m/s'dir. Dik üçgen kurmayı unutma.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Cisim h yüksekliğinden yatay olarak v₀ süratiyle atılırsa (α = 0 olduğu için) ilk hızın düşey bileşeni sıfırdır: v₀ᵧ = 0. Düşey hareket bu yüzden tam bir serbest düşmedir.
t = √(2h / g)   x = v₀ · √(2h / g)   vy = g·t   v = √(v₀² + 2gh)
Uçuş süresi v₀'a bağlı değildir. Topu ister hafifçe it, ister topla fırlat; aynı masadan aynı sürede yere iner. Değişen tek şey ne kadar uzağa düştüğüdür.
Yörünge yarım paraboldür. Eşit zaman aralıklarında cisim yatayda eşit yollar alır, düşeyde ise 1 : 3 : 5 : 7 oranında artan yollar alır. Sayfadaki strobo izlerinde bu iki dizi aynı anda görünür.
Çizim: İki cisim aynı yükseklikten yatay olarak atılıyor; morun sürati mavinin iki katı. Kesikli çizgiler her an ikisinin aynı yükseklikte olduğunu gösteriyor: uçuş süresi v₀'a hiç bağlı değil, yalnızca h'ye bağlı (t = √(2h/g)). Sürati iki katına çıkarmak yalnızca menzili iki katına çıkarır.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Cisim yatayla α açısı yapacak şekilde v₀ süratiyle atılırsa hareket eğik atış olur. Çıkarken düşey hız azalır, tepe noktada sıfırlanır, sonra artarak aşağı yönelir. Yatay hız ise baştan sona hiç değişmez.
ttepe = v₀·sinα / g   hmaks = v₀²·sin²α / (2g)   tuçuş = 2·v₀·sinα / g   R = v₀²·sin2α / g
Çizim: Eğik atış boyunca yatay bileşen hiç değişmez — yeşil oklar baştan sona aynı boydadır. Düşey bileşen ise her saniye g kadar azalır, tepede sıfırlanır, sonra ters yönde aynı hızla büyür. Tepe noktada hız sıfır değildir: cisim orada hâlâ v₀·cosα süratiyle yatay olarak ilerler.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Son iki bağıntı yalnızca atış ve iniş noktaları aynı yükseklikteyse geçerlidir. Bir tepeden ya da kuleden atıldığında uçuş süresini y = 0 denkleminden (ikinci dereceden denklem) çözmen gerekir.
Simetri
• Çıkış süresi iniş süresine eşittir.
• Aynı yükseklikten geçerken süratler eşit, düşey hızların yönleri terstir.
• İniş açısı, atış açısına eşittir.
• Yörünge tepe noktasından geçen düşey doğruya göre simetriktir.
Tepe noktada hız sıfır değildir. Sıfırlanan yalnızca düşey bileşendir; cisim orada hâlâ v = v₀·cosα süratiyle yatay olarak ilerler. İvme ise hareket boyunca hiç değişmez: her noktada g'dir ve aşağı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Menzil bağıntısını bileşenlerden türetmek kolaydır: uçuş süresi t = 2v₀sinα / g, yatay yol ise x = v₀cosα · t. İkisini çarpınca
R = 2·v₀²·sinα·cosα / g = v₀²·sin2α / g
Bağıntıdan üç sonuç doğrudan okunur:
• En uzun menzil 45°'dedir. sin2α en büyük değerini (1) 2α = 90° için alır.
• Tümler açılar aynı menzili verir. sin2α = sin(180° − 2α) olduğundan α ile 90° − α aynı R'yi verir: 30° ile 60°, 20° ile 70°… Ancak büyük açı daha uzun süre havada kalır ve daha yükseğe çıkar.
• Menzil süratin karesiyle artar. v₀ iki katına çıkarsa menzil dört katına çıkar.
Yükseklikten atışta 45° en iyi değildir. Bir kuleden atıldığında optimum açı 45°'nin altına iner; yükseklik arttıkça yatay hıza pay ayırmak daha kârlıdır. Gerçek hayatta hava direnci de optimum açıyı küçültür — bu yüzden gülle atma sporcuları 40° civarında atar.
Çizim: Beş atışın da sürati aynı, yalnızca açıları farklı. Tümler açılar aynı noktaya düşer (aynı renkli iki eğri): sin2α ile sin(180°−2α) eşittir. Büyük açı daha yükseğe çıkar ve havada daha uzun kalır, ama menzili değiştirmez. En uzağa giden, sin2α'yı bire eşitleyen 45°'dir.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Yörüngenin denklemini bulmak için x = v₀cosα·t bağıntısından t = x / (v₀cosα) çekip y denkleminde yerine koyarız:
y = x·tanα − g·x² / (2·v₀²·cos²α)
Bu, y = ax − bx² biçiminde bir parabol denklemidir. Yörüngenin parabol olmasının sebebi budur: bir eksende zamanla doğrusal, diğerinde zamanın karesiyle değişen bir hareket.
Çizim: Dört grafik, iki bağımsız hareketin dört yüzü. Yatayda x–t doğru, vₓ–t sabittir; düşeyde y–t parabol, vy–t azalan doğrudur. vy–t doğrusunun zaman eksenini kestiği an tam olarak tepe noktasıdır; o ana kadarki üçgenin alanı çıkılan yüksekliği, sonrasındaki alan inilen yüksekliği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Grafik | Şekli | Eğimi | Altındaki alan
x – t | Orijinden geçen doğru | vx (sabit) | —
y – t | Aşağı açılan parabol | O andaki vy | —
vx – t | Zaman eksenine paralel doğru | ax = 0 | Yatay yol (x)
vy – t | Azalan doğru | −g | Düşey yer değiştirme
vy – t doğrusunun zaman eksenini kestiği an tepe noktasıdır. O ana kadarki üçgenin alanı çıkılan yüksekliği, sonrasındaki (negatif) alan ise inilen yüksekliği verir. Aynı yükseklikte başlayıp bitiyorsa iki alan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80 m yüksekten yatay atış
80 m yüksekliğindeki bir kuleden yatay doğrultuda 30 m/s süratle atılan cisim için: (a) uçuş süresini, (b) menzili, (c) yere çarpma süratini bulunuz.
1. (a) Düşey hareket serbest düşmedir: 80 = ½·10·t² → t² = 16 → t = 4 s
2. (b) Yatayda sabit hız: x = 30 · 4 = 120 m
3. (c) vy = g·t = 40 m/s, vx = 30 m/s → v = √(30² + 40²) = 50 m/s. Yerle yaptığı açı: tanθ = 40/30 → θ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53° ile eğik atış
Yerden 50 m/s süratle, yatayla 53° açı yapacak şekilde atılan cisim için: (a) tepe noktasına çıkma süresini, (b) maksimum yüksekliği, (c) menzili bulunuz. (sin53° = 0,8 · cos53° = 0,6)
1. Bileşenler: v₀ₓ = 50·0,6 = 30 m/s, v₀ᵧ = 50·0,8 = 40 m/s
2. (a) Tepede vy = 0 → 0 = 40 − 10·t → t = 4 s
3. (b) h = 40²/(2·10) = 80 m
4. (c) Uçuş süresi 2·4 = 8 s → R = 30 · 8 = 240 m
Kontrol: R = v₀²·sin2α / g = 2500 · sin106° / 10 ≈ 2500 · 0,96 / 10 = 240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süratle farklı açılar
20 m/s süratle atılan bir cismin 30°, 45° ve 60° için menzillerini karşılaştırınız.
1. R = v₀²·sin2α / g = 400·sin2α / 10 = 40·sin2α
2. 30° → 40·sin60° = 40·0,87 = 34,6 m
3. 45° → 40·sin90° = 40 m (en uzun)
4. 60° → 40·sin120° = 40·0,87 = 34,6 m — 30° ile aynı!
5. Uçuş süreleri farklıdır: 30° için 2 s, 60° için 3,46 s. Aynı yere düşerler, ama biri diğerinden çok daha uzun havada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Yükseklikten eğik atış
20 m yüksekliğindeki bir çatıdan, yatayla 37° açıyla 25 m/s süratle atılan cisim için: (a) yere çarpma süresini, (b) yatay uzaklığı, (c) çarpma süratini bulunuz. (sin37° = 0,6 · cos37° = 0,8)
1. Bileşenler: v₀ₓ = 25·0,8 = 20 m/s, v₀ᵧ = 25·0,6 = 15 m/s
2. (a) Yere değince y = 0: 20 + 15t − 5t² = 0 → t² − 3t − 4 = 0 → (t − 4)(t + 1) = 0 → t = 4 s
3. (b) x = 20 · 4 = 80 m
4. (c) vy = 15 − 10·4 = −25 m/s (aşağı), vx = 20 m/s → v = √(20² + 25²) = √1025 ≈ 32 m/s
5. Kısa yol: v² = v₀² + 2gh = 625 + 2·10·20 = 1025 ✓ (yükseklik farkı aynıysa atış açısı süratı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“Tepe noktada hız sıfırdır.” Sıfırlanan yalnızca vy'dir; yatay bileşen v₀cosα devam eder. Yalnızca düşey atışta (α = 90°) hız tümüyle sıfırlanır.
• “Tepe noktada ivme sıfırdır.” İvme hareket boyunca sabittir: g, aşağı yönde.
• “Yatay hız düşme süresini etkiler.” Etkilemez. Süre yalnızca düşey harekete, yani yüksekliğe, v₀ᵧ'ye ve g'ye bağlıdır.
• İvmeyi yörüngeye teğet sanmak. Teğet olan hızdır; ivme her noktada düşeydir.
• Menzil formülünü her yerde kullanmak. R = v₀²sin2α/g yalnızca atış ve iniş aynı yükseklikteyse geçerlidir.
• Bileşenleri skaler toplamak. v = √(vx² + vy²); vx + vy değil.
• sinüs ile kosinüsü karıştırmak. Açı yatayla ölçülüyorsa yatay bileşen kosinüslü, düşey bileşen sinüslüdür. Açı düşeyle veriliyorsa tam tersi.
• Kütleyi hesaba katmak. Hiçbir bağıntıda m yoktur; hava direnci ihmal edildiği sürece ağır cisim de hafif cisim de aynı yörüngeyi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Yatayda ax = 0 · Düşeyde ay = g · Yörünge parabol · En uzun menzil 45°
x = v₀·cosα · t — yatayda sabit hız
y = v₀·sinα · t − ½g·t² — düşeyde sabit ivme
R = v₀²·sin2α / g — aynı yükseklikte menzil
h = v₀²·sin²α / (2g) — tepe yüksekliği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02</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200" b="1" spc="-100" kern="0" dirty="0">
                <a:solidFill>
                  <a:srgbClr val="FFFFFF"/>
                </a:solidFill>
                <a:latin typeface="Cambria" pitchFamily="34" charset="0"/>
                <a:ea typeface="Cambria" pitchFamily="34" charset="-122"/>
                <a:cs typeface="Cambria" pitchFamily="34" charset="-120"/>
              </a:rPr>
              <a:t>İki boyutta sabit ivmeli hareket</a:t>
            </a:r>
            <a:endParaRPr lang="en-US" sz="42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350" dirty="0">
                <a:solidFill>
                  <a:srgbClr val="C3CEE8"/>
                </a:solidFill>
                <a:latin typeface="Calibri" pitchFamily="34" charset="0"/>
                <a:ea typeface="Calibri" pitchFamily="34" charset="-122"/>
                <a:cs typeface="Calibri" pitchFamily="34" charset="-120"/>
              </a:rPr>
              <a:t>Havaya fırlatılan bir cisim aslında iki hareketi aynı anda yapar: yatayda hiç hızlanmadan gider, düşeyde serbest düşer. İkisi birbirine karışmaz; tek ortak değişkenleri zamandır. Aşağıda bu iki hareketi ayrı ayrı görebilir, sonra birleştirip parabolü elde edebilirsin.</a:t>
            </a:r>
            <a:endParaRPr lang="en-US" sz="13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x = v₀·cosα · t   ·   y = v₀·sinα · t − ½g·t²</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Bir tüfekten yatay olarak atılan mermi ile namlunun ucundan aynı anda bırakılan bir mermi yere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aynı anda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iner — mermi yüzlerce metre öteye gitmiş olsa bile. Atış hareketlerinin tamamı bu tek fikrin üzerine kuruludur: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yatay hareket ile düşey hareket birbirini hiç etkilemez.</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Aşağıda önce bu ilkeyi kuracağız, sonra onunla yatay atışı, eğik atışı ve menzili tek tek çözeceğiz.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İki boyutta sabit ivmeli hareket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cisim bir düzlem içinde hareket ediyorsa ve ivme vektörü hem büyüklük hem yön olarak…</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Bağımsızlık ilkesi</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İki boyutlu hareketin bütün sırrı tek cümlede: yatay hareket ile düşey hareket birbirini…</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Vektörel bağıntılar ve bileşenlere ayırma</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Sabit ivmeli hareketin denklemleri vektörel olarak da aynen geçerlidir: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Yatay atış</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h yüksekliğinden yatay olarak v₀ süratiyle atılırsa (α = 0 olduğu için) ilk hızın…</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Eğik atış</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Cisim yatayla α açısı yapacak şekilde v₀ süratiyle atılırsa hareket eğik atış olur.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Menzil, açı ve tümler açılar</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Menzil bağıntısını bileşenlerden türetmek kolaydır: uçuş süresi t = 2v₀sinα / g, yatay yol…</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Yörünge denklemi ve grafikler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Yörüngenin denklemini bulmak için x = v₀cosα·t bağıntısından t = x / (v₀cosα) çekip y…</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8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640080" y="1481328"/>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Bir cisim bir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düzlem içinde</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hareket ediyorsa ve ivme vektörü hem büyüklük hem yön olarak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değişmiyorsa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bu harekete iki boyutta sabit ivmeli hareket denir.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Konum, hız ve ivme artık birer sayı değil, birer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vektördür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640080" y="2350008"/>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Günlük hayattaki en yaygın örneği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atış hareketleridir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atılan bir top, fışkıran su, masadan yuvarlanan bilye.</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Hepsinde ivme aynıdır — yerçekimi ivmesi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büyüklüğü sabit, yönü daima aşağı.</a:t>
            </a:r>
            <a:endParaRPr lang="en-US" sz="1200" dirty="0"/>
          </a:p>
        </p:txBody>
      </p:sp>
      <p:sp>
        <p:nvSpPr>
          <p:cNvPr id="7" name="Text 5"/>
          <p:cNvSpPr txBox="1"/>
          <p:nvPr/>
        </p:nvSpPr>
        <p:spPr>
          <a:xfrm>
            <a:off x="640080" y="3218688"/>
            <a:ext cx="7223760" cy="210312"/>
          </a:xfrm>
          <a:prstGeom prst="rect">
            <a:avLst/>
          </a:prstGeom>
          <a:noFill/>
          <a:ln/>
        </p:spPr>
        <p:txBody>
          <a:bodyPr wrap="square" lIns="0" tIns="0" rIns="0" bIns="0" rtlCol="0" anchor="t"/>
          <a:lstStyle/>
          <a:p>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Hareketi iki eksene ayırdığımızda ortaya çok tanıdık iki hareket çıkar:</a:t>
            </a:r>
            <a:endParaRPr lang="en-US" sz="1200" dirty="0"/>
          </a:p>
        </p:txBody>
      </p:sp>
      <p:sp>
        <p:nvSpPr>
          <p:cNvPr id="8" name="Text 6"/>
          <p:cNvSpPr txBox="1"/>
          <p:nvPr/>
        </p:nvSpPr>
        <p:spPr>
          <a:xfrm>
            <a:off x="640080" y="3557016"/>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Yatay eksen (x):</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ivme yoktur (a</a:t>
            </a:r>
            <a:pPr indent="0" marL="0">
              <a:lnSpc>
                <a:spcPct val="115000"/>
              </a:lnSpc>
              <a:buNone/>
            </a:pPr>
            <a:r>
              <a:rPr lang="en-US" sz="1200" baseline="-40000" dirty="0">
                <a:solidFill>
                  <a:srgbClr val="4A5470"/>
                </a:solidFill>
                <a:latin typeface="Calibri" pitchFamily="34" charset="0"/>
                <a:ea typeface="Calibri" pitchFamily="34" charset="-122"/>
                <a:cs typeface="Calibri" pitchFamily="34" charset="-120"/>
              </a:rPr>
              <a:t>x</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 0) →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düzgün doğrusal hareket</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Düşey eksen (y):</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ivme g'dir ve aşağı yöndedir →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sabit ivmeli hareket</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yani serbest düşme/düşey atış.</a:t>
            </a:r>
            <a:endParaRPr lang="en-US" sz="1200" dirty="0"/>
          </a:p>
        </p:txBody>
      </p:sp>
      <p:sp>
        <p:nvSpPr>
          <p:cNvPr id="9" name="Text 7"/>
          <p:cNvSpPr txBox="1"/>
          <p:nvPr/>
        </p:nvSpPr>
        <p:spPr>
          <a:xfrm>
            <a:off x="640080" y="4425696"/>
            <a:ext cx="7223760" cy="420624"/>
          </a:xfrm>
          <a:prstGeom prst="rect">
            <a:avLst/>
          </a:prstGeom>
          <a:noFill/>
          <a:ln/>
        </p:spPr>
        <p:txBody>
          <a:bodyPr wrap="square" lIns="0" tIns="0" rIns="0" bIns="0" rtlCol="0" anchor="t"/>
          <a:lstStyle/>
          <a:p>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Yani yeni bir hareket öğrenmiyorsun: bildiğin iki hareketi aynı anda, aynı saatle çalıştırıyorsun.</a:t>
            </a:r>
            <a:endParaRPr lang="en-US" sz="1200" dirty="0"/>
          </a:p>
        </p:txBody>
      </p:sp>
      <p:sp>
        <p:nvSpPr>
          <p:cNvPr id="10" name="Shape 8"/>
          <p:cNvSpPr/>
          <p:nvPr/>
        </p:nvSpPr>
        <p:spPr>
          <a:xfrm>
            <a:off x="640080" y="4974336"/>
            <a:ext cx="7223760" cy="980694"/>
          </a:xfrm>
          <a:prstGeom prst="roundRect">
            <a:avLst>
              <a:gd name="adj" fmla="val 111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5120640"/>
            <a:ext cx="45720" cy="688086"/>
          </a:xfrm>
          <a:prstGeom prst="rect">
            <a:avLst/>
          </a:prstGeom>
          <a:solidFill>
            <a:srgbClr val="3C8C21"/>
          </a:solidFill>
          <a:ln/>
        </p:spPr>
      </p:sp>
      <p:sp>
        <p:nvSpPr>
          <p:cNvPr id="12" name="Text 10"/>
          <p:cNvSpPr txBox="1"/>
          <p:nvPr/>
        </p:nvSpPr>
        <p:spPr>
          <a:xfrm>
            <a:off x="914400" y="5084064"/>
            <a:ext cx="6766560" cy="761238"/>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Hava direnci ihmal edilir.</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Bu derste cisme etki eden tek kuvvet ağırlıktır. Bu yüzden kütle hiçbir bağıntıda görünmez: 50 g'lık top ile 5 kg'lık gülle aynı hız ve açıyla atılırsa aynı yörüngeyi çizer.</a:t>
            </a:r>
            <a:endParaRPr lang="en-US" sz="1100" dirty="0"/>
          </a:p>
        </p:txBody>
      </p:sp>
      <p:sp>
        <p:nvSpPr>
          <p:cNvPr id="13" name="Shape 11"/>
          <p:cNvSpPr/>
          <p:nvPr/>
        </p:nvSpPr>
        <p:spPr>
          <a:xfrm>
            <a:off x="8156448" y="1481328"/>
            <a:ext cx="3395167" cy="3629014"/>
          </a:xfrm>
          <a:prstGeom prst="roundRect">
            <a:avLst>
              <a:gd name="adj" fmla="val 430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iki-boyutta-hareket-01.png">    </p:cNvPr>
          <p:cNvPicPr>
            <a:picLocks noChangeAspect="1"/>
          </p:cNvPicPr>
          <p:nvPr/>
        </p:nvPicPr>
        <p:blipFill>
          <a:blip r:embed="rId1"/>
          <a:stretch>
            <a:fillRect/>
          </a:stretch>
        </p:blipFill>
        <p:spPr>
          <a:xfrm>
            <a:off x="8339328" y="1664208"/>
            <a:ext cx="3029407" cy="1628306"/>
          </a:xfrm>
          <a:prstGeom prst="rect">
            <a:avLst/>
          </a:prstGeom>
        </p:spPr>
      </p:pic>
      <p:sp>
        <p:nvSpPr>
          <p:cNvPr id="15" name="Shape 12"/>
          <p:cNvSpPr/>
          <p:nvPr/>
        </p:nvSpPr>
        <p:spPr>
          <a:xfrm>
            <a:off x="8339328" y="3383954"/>
            <a:ext cx="3029407" cy="0"/>
          </a:xfrm>
          <a:prstGeom prst="line">
            <a:avLst/>
          </a:prstGeom>
          <a:noFill/>
          <a:ln w="9525">
            <a:solidFill>
              <a:srgbClr val="E1E5EE"/>
            </a:solidFill>
            <a:prstDash val="dash"/>
          </a:ln>
        </p:spPr>
      </p:sp>
      <p:sp>
        <p:nvSpPr>
          <p:cNvPr id="16" name="Text 13"/>
          <p:cNvSpPr txBox="1"/>
          <p:nvPr/>
        </p:nvSpPr>
        <p:spPr>
          <a:xfrm>
            <a:off x="8339328" y="3438818"/>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hareketin iki ayrı filmi.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 zaman aralıklarında eşit yollar alır — o eksende ivme yoktur.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1 : 3 : 5 : 7 ile açılarak iner — o eksende tam bir serbest düşme vardır. İki filmi birbirine bağlayan tek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saati paylaşmaları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yörüngenin parabol olması da bu iki hareketin toplamıdır.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640080" y="1481328"/>
            <a:ext cx="6949440" cy="128739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İki boyutlu hareketin bütün sırrı tek cümlede: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yatay hareket ile düşey hareket birbirini etkilemez.</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Yatay hızın büyük olması cismin düşmesini geciktirmez; düşmesi de yatay hızını azaltmaz.</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İki hareketin tek ortak yanı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aynı zamanı paylaşmalarıdır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6" name="Text 4"/>
          <p:cNvSpPr txBox="1"/>
          <p:nvPr/>
        </p:nvSpPr>
        <p:spPr>
          <a:xfrm>
            <a:off x="640080" y="2878455"/>
            <a:ext cx="6949440" cy="122339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Bunun en çarpıcı kanıtı sayfadaki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numaralı deney: aynı yükseklikten biri serbestçe bırakılan, diğeri yatay olarak fırlatılan iki cisim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tam olarak aynı anda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yere iner.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Fırlatılan cisim çok daha uzağa gitmiştir, ama düşey hareketi diğeriyle birebir aynıdır.</a:t>
            </a:r>
            <a:endParaRPr lang="en-US" sz="1250" dirty="0"/>
          </a:p>
        </p:txBody>
      </p:sp>
      <p:sp>
        <p:nvSpPr>
          <p:cNvPr id="7" name="Shape 5"/>
          <p:cNvSpPr/>
          <p:nvPr/>
        </p:nvSpPr>
        <p:spPr>
          <a:xfrm>
            <a:off x="640080" y="4211574"/>
            <a:ext cx="6949440" cy="1006983"/>
          </a:xfrm>
          <a:prstGeom prst="roundRect">
            <a:avLst>
              <a:gd name="adj" fmla="val 108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357878"/>
            <a:ext cx="45720" cy="714375"/>
          </a:xfrm>
          <a:prstGeom prst="rect">
            <a:avLst/>
          </a:prstGeom>
          <a:solidFill>
            <a:srgbClr val="3C8C21"/>
          </a:solidFill>
          <a:ln/>
        </p:spPr>
      </p:sp>
      <p:sp>
        <p:nvSpPr>
          <p:cNvPr id="9" name="Text 7"/>
          <p:cNvSpPr txBox="1"/>
          <p:nvPr/>
        </p:nvSpPr>
        <p:spPr>
          <a:xfrm>
            <a:off x="914400" y="4321302"/>
            <a:ext cx="6492240" cy="787527"/>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Neden böyle?</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Kuvvet düşeydir (ağırlık), dolayısıyla ivme de düşeydir. Yatay doğrultuda kuvvet olmadığı için o doğrultuda hız değişemez. Bir vektörün bir bileşenine etki eden kuvvet, diğer bileşenini değiştiremez.</a:t>
            </a:r>
            <a:endParaRPr lang="en-US" sz="1150" dirty="0"/>
          </a:p>
        </p:txBody>
      </p:sp>
      <p:sp>
        <p:nvSpPr>
          <p:cNvPr id="10" name="Text 8"/>
          <p:cNvSpPr txBox="1"/>
          <p:nvPr/>
        </p:nvSpPr>
        <p:spPr>
          <a:xfrm>
            <a:off x="640080" y="5328285"/>
            <a:ext cx="6949440" cy="657225"/>
          </a:xfrm>
          <a:prstGeom prst="rect">
            <a:avLst/>
          </a:prstGeom>
          <a:noFill/>
          <a:ln/>
        </p:spPr>
        <p:txBody>
          <a:bodyPr wrap="square" lIns="0" tIns="0" rIns="0" bIns="0" rtlCol="0" anchor="t"/>
          <a:lstStyle/>
          <a:p>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Bu ilke problem çözmenin de yöntemidir: iki boyutlu bir soruyu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iki ayrı tek boyutlu soruya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bölersin, her birini kendi denklemiyle çözersin ve sonuçları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zaman üzerinden</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birleştirirsin.</a:t>
            </a:r>
            <a:endParaRPr lang="en-US" sz="1250" dirty="0"/>
          </a:p>
        </p:txBody>
      </p:sp>
      <p:sp>
        <p:nvSpPr>
          <p:cNvPr id="11" name="Shape 9"/>
          <p:cNvSpPr/>
          <p:nvPr/>
        </p:nvSpPr>
        <p:spPr>
          <a:xfrm>
            <a:off x="7882128" y="1481328"/>
            <a:ext cx="3669487" cy="3445751"/>
          </a:xfrm>
          <a:prstGeom prst="roundRect">
            <a:avLst>
              <a:gd name="adj" fmla="val 42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iki-boyutta-hareket-02.png">    </p:cNvPr>
          <p:cNvPicPr>
            <a:picLocks noChangeAspect="1"/>
          </p:cNvPicPr>
          <p:nvPr/>
        </p:nvPicPr>
        <p:blipFill>
          <a:blip r:embed="rId1"/>
          <a:stretch>
            <a:fillRect/>
          </a:stretch>
        </p:blipFill>
        <p:spPr>
          <a:xfrm>
            <a:off x="8065008" y="1664208"/>
            <a:ext cx="3303727" cy="1624266"/>
          </a:xfrm>
          <a:prstGeom prst="rect">
            <a:avLst/>
          </a:prstGeom>
        </p:spPr>
      </p:pic>
      <p:sp>
        <p:nvSpPr>
          <p:cNvPr id="13" name="Shape 10"/>
          <p:cNvSpPr/>
          <p:nvPr/>
        </p:nvSpPr>
        <p:spPr>
          <a:xfrm>
            <a:off x="8065008" y="3379914"/>
            <a:ext cx="3303727" cy="0"/>
          </a:xfrm>
          <a:prstGeom prst="line">
            <a:avLst/>
          </a:prstGeom>
          <a:noFill/>
          <a:ln w="9525">
            <a:solidFill>
              <a:srgbClr val="E1E5EE"/>
            </a:solidFill>
            <a:prstDash val="dash"/>
          </a:ln>
        </p:spPr>
      </p:sp>
      <p:sp>
        <p:nvSpPr>
          <p:cNvPr id="14" name="Text 11"/>
          <p:cNvSpPr txBox="1"/>
          <p:nvPr/>
        </p:nvSpPr>
        <p:spPr>
          <a:xfrm>
            <a:off x="8065008" y="3434778"/>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yükseklikten biri serbestçe bırakılıyor, diğeri yatay olarak fırlatılıyor. Kesikli çizgiler her an ikisini birleştiriyor: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düşey hareketleri birebir aynı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Fırlatılan cisim yüzlerce metre öteye gitse de, düşmesi bundan hiç etkilenmiyor. Sayfadaki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02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numaralı deneyde bunu kendi gözünle ölçebilirsin.</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640080" y="1481328"/>
            <a:ext cx="6675120" cy="227838"/>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Sabit ivmeli hareketin denklemleri vektörel olarak da aynen geçerlidir:</a:t>
            </a:r>
            <a:endParaRPr lang="en-US" sz="1300" dirty="0"/>
          </a:p>
        </p:txBody>
      </p:sp>
      <p:sp>
        <p:nvSpPr>
          <p:cNvPr id="6" name="Shape 4"/>
          <p:cNvSpPr/>
          <p:nvPr/>
        </p:nvSpPr>
        <p:spPr>
          <a:xfrm>
            <a:off x="640080" y="1837182"/>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837182"/>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 + a⃗·t</a:t>
            </a:r>
            <a:endParaRPr lang="en-US" sz="1300" dirty="0"/>
          </a:p>
        </p:txBody>
      </p:sp>
      <p:sp>
        <p:nvSpPr>
          <p:cNvPr id="8" name="Shape 6"/>
          <p:cNvSpPr/>
          <p:nvPr/>
        </p:nvSpPr>
        <p:spPr>
          <a:xfrm>
            <a:off x="2688336" y="1837182"/>
            <a:ext cx="3024835"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688336" y="1837182"/>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r⃗₀ + v⃗₀·t + ½·a⃗·t²</a:t>
            </a:r>
            <a:endParaRPr lang="en-US" sz="1300" dirty="0"/>
          </a:p>
        </p:txBody>
      </p:sp>
      <p:sp>
        <p:nvSpPr>
          <p:cNvPr id="10" name="Text 8"/>
          <p:cNvSpPr txBox="1"/>
          <p:nvPr/>
        </p:nvSpPr>
        <p:spPr>
          <a:xfrm>
            <a:off x="640080" y="2458974"/>
            <a:ext cx="6675120" cy="455676"/>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Yukarı yönü pozitif alıp a</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x</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0, a</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−g yazarsak ve ilk hızı yatayla α açısı yapacak şekilde bileşenlerine ayırırsak:</a:t>
            </a:r>
            <a:endParaRPr lang="en-US" sz="1300" dirty="0"/>
          </a:p>
        </p:txBody>
      </p:sp>
      <p:sp>
        <p:nvSpPr>
          <p:cNvPr id="11" name="Shape 9"/>
          <p:cNvSpPr/>
          <p:nvPr/>
        </p:nvSpPr>
        <p:spPr>
          <a:xfrm>
            <a:off x="640080" y="3042666"/>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304266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v₀ₓ = v₀·cosα</a:t>
            </a:r>
            <a:endParaRPr lang="en-US" sz="1300" dirty="0"/>
          </a:p>
        </p:txBody>
      </p:sp>
      <p:sp>
        <p:nvSpPr>
          <p:cNvPr id="13" name="Shape 11"/>
          <p:cNvSpPr/>
          <p:nvPr/>
        </p:nvSpPr>
        <p:spPr>
          <a:xfrm>
            <a:off x="2490826" y="3042666"/>
            <a:ext cx="174101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2490826" y="304266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v₀ᵧ = v₀·sinα</a:t>
            </a:r>
            <a:endParaRPr lang="en-US" sz="1300" dirty="0"/>
          </a:p>
        </p:txBody>
      </p:sp>
      <p:sp>
        <p:nvSpPr>
          <p:cNvPr id="15" name="Shape 13"/>
          <p:cNvSpPr/>
          <p:nvPr/>
        </p:nvSpPr>
        <p:spPr>
          <a:xfrm>
            <a:off x="7607808" y="1481328"/>
            <a:ext cx="3943807" cy="3550838"/>
          </a:xfrm>
          <a:prstGeom prst="roundRect">
            <a:avLst>
              <a:gd name="adj" fmla="val 41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a4dee546-de71-4ec2-8add-be39dd273d29/scratchpad/sekiller/iki-boyutta-hareket-03.png">    </p:cNvPr>
          <p:cNvPicPr>
            <a:picLocks noChangeAspect="1"/>
          </p:cNvPicPr>
          <p:nvPr/>
        </p:nvPicPr>
        <p:blipFill>
          <a:blip r:embed="rId1"/>
          <a:stretch>
            <a:fillRect/>
          </a:stretch>
        </p:blipFill>
        <p:spPr>
          <a:xfrm>
            <a:off x="7790688" y="1664208"/>
            <a:ext cx="3578047" cy="1729354"/>
          </a:xfrm>
          <a:prstGeom prst="rect">
            <a:avLst/>
          </a:prstGeom>
        </p:spPr>
      </p:pic>
      <p:sp>
        <p:nvSpPr>
          <p:cNvPr id="17" name="Shape 14"/>
          <p:cNvSpPr/>
          <p:nvPr/>
        </p:nvSpPr>
        <p:spPr>
          <a:xfrm>
            <a:off x="7790688" y="3485002"/>
            <a:ext cx="3578047" cy="0"/>
          </a:xfrm>
          <a:prstGeom prst="line">
            <a:avLst/>
          </a:prstGeom>
          <a:noFill/>
          <a:ln w="9525">
            <a:solidFill>
              <a:srgbClr val="E1E5EE"/>
            </a:solidFill>
            <a:prstDash val="dash"/>
          </a:ln>
        </p:spPr>
      </p:sp>
      <p:sp>
        <p:nvSpPr>
          <p:cNvPr id="18" name="Text 15"/>
          <p:cNvSpPr txBox="1"/>
          <p:nvPr/>
        </p:nvSpPr>
        <p:spPr>
          <a:xfrm>
            <a:off x="7790688" y="3539866"/>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Solda atış anı: ilk hız, yatayla α açısı yapan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vektördür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dik üçgenle bileşenlerine ayrılır. Sağda yörüngenin herhangi bir noktası: yeşil bileşen hiç değişmez, sarı bileşen g yüzünden sürekli değişir,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vektörel toplamı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mavi ok ise daima eğriye teğettir. Bu yüzden bileşenler skaler toplanmaz: 30 ve 40 bileşenleri 70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50</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verir.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 · devam</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869680" cy="914400"/>
        </p:xfrm>
        <a:graphic>
          <a:graphicData uri="http://schemas.openxmlformats.org/drawingml/2006/table">
            <a:tbl>
              <a:tblPr/>
              <a:tblGrid>
                <a:gridCol w="990621"/>
                <a:gridCol w="3425678"/>
                <a:gridCol w="4453381"/>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Yatay (x)</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Düşey (y)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İvme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 v₀·cosα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vy = v₀·sinα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Konum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x = v₀·cosα·t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 = y₀ + v₀·sinα·t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40080" y="2962656"/>
            <a:ext cx="8869680" cy="455676"/>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Herhangi bir anda cismin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sürati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bileşenlerin vektörel toplamıdır; hız vektörü daima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yörüngeye teğettir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7" name="Shape 4"/>
          <p:cNvSpPr/>
          <p:nvPr/>
        </p:nvSpPr>
        <p:spPr>
          <a:xfrm>
            <a:off x="640080" y="3546348"/>
            <a:ext cx="2037283" cy="457200"/>
          </a:xfrm>
          <a:prstGeom prst="roundRect">
            <a:avLst>
              <a:gd name="adj" fmla="val 24000"/>
            </a:avLst>
          </a:prstGeom>
          <a:solidFill>
            <a:srgbClr val="EEF2FC"/>
          </a:solidFill>
          <a:ln w="9525">
            <a:solidFill>
              <a:srgbClr val="CBD7F4"/>
            </a:solidFill>
            <a:prstDash val="solid"/>
          </a:ln>
        </p:spPr>
      </p:sp>
      <p:sp>
        <p:nvSpPr>
          <p:cNvPr id="8" name="Text 5"/>
          <p:cNvSpPr txBox="1"/>
          <p:nvPr/>
        </p:nvSpPr>
        <p:spPr>
          <a:xfrm>
            <a:off x="640080" y="3546348"/>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√(vx² + vy²)</a:t>
            </a:r>
            <a:endParaRPr lang="en-US" sz="1300" dirty="0"/>
          </a:p>
        </p:txBody>
      </p:sp>
      <p:sp>
        <p:nvSpPr>
          <p:cNvPr id="9" name="Shape 6"/>
          <p:cNvSpPr/>
          <p:nvPr/>
        </p:nvSpPr>
        <p:spPr>
          <a:xfrm>
            <a:off x="2787091" y="3546348"/>
            <a:ext cx="1839773" cy="457200"/>
          </a:xfrm>
          <a:prstGeom prst="roundRect">
            <a:avLst>
              <a:gd name="adj" fmla="val 24000"/>
            </a:avLst>
          </a:prstGeom>
          <a:solidFill>
            <a:srgbClr val="EEF2FC"/>
          </a:solidFill>
          <a:ln w="9525">
            <a:solidFill>
              <a:srgbClr val="CBD7F4"/>
            </a:solidFill>
            <a:prstDash val="solid"/>
          </a:ln>
        </p:spPr>
      </p:sp>
      <p:sp>
        <p:nvSpPr>
          <p:cNvPr id="10" name="Text 7"/>
          <p:cNvSpPr txBox="1"/>
          <p:nvPr/>
        </p:nvSpPr>
        <p:spPr>
          <a:xfrm>
            <a:off x="2787091" y="3546348"/>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tanθ = vy / vx</a:t>
            </a:r>
            <a:endParaRPr lang="en-US" sz="1300" dirty="0"/>
          </a:p>
        </p:txBody>
      </p:sp>
      <p:sp>
        <p:nvSpPr>
          <p:cNvPr id="11" name="Shape 8"/>
          <p:cNvSpPr/>
          <p:nvPr/>
        </p:nvSpPr>
        <p:spPr>
          <a:xfrm>
            <a:off x="640080" y="4168140"/>
            <a:ext cx="886968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9"/>
          <p:cNvSpPr/>
          <p:nvPr/>
        </p:nvSpPr>
        <p:spPr>
          <a:xfrm>
            <a:off x="658368" y="4314444"/>
            <a:ext cx="45720" cy="530352"/>
          </a:xfrm>
          <a:prstGeom prst="rect">
            <a:avLst/>
          </a:prstGeom>
          <a:solidFill>
            <a:srgbClr val="A56209"/>
          </a:solidFill>
          <a:ln/>
        </p:spPr>
      </p:sp>
      <p:sp>
        <p:nvSpPr>
          <p:cNvPr id="13" name="Text 10"/>
          <p:cNvSpPr txBox="1"/>
          <p:nvPr/>
        </p:nvSpPr>
        <p:spPr>
          <a:xfrm>
            <a:off x="914400" y="4277868"/>
            <a:ext cx="841248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Bileşenler skaler toplanmaz.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30 m/s ve v</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 40 m/s ise sürat 70 m/s değil,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Dik üçgen kurmayı unutma.</a:t>
            </a:r>
            <a:endParaRPr lang="en-US" sz="12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h yüksekliğinden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yatay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olarak v₀ süratiyle atılırsa (α = 0 olduğu için) ilk hızın düşey bileşeni sıfırdır: v₀ᵧ = 0.</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Düşey hareket bu yüzden tam bir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serbest düşmedir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6" name="Shape 4"/>
          <p:cNvSpPr/>
          <p:nvPr/>
        </p:nvSpPr>
        <p:spPr>
          <a:xfrm>
            <a:off x="640080" y="2402586"/>
            <a:ext cx="174101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0258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8" name="Shape 6"/>
          <p:cNvSpPr/>
          <p:nvPr/>
        </p:nvSpPr>
        <p:spPr>
          <a:xfrm>
            <a:off x="2490826" y="2402586"/>
            <a:ext cx="2234794"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490826" y="2402586"/>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v₀ · √(2h / g)</a:t>
            </a:r>
            <a:endParaRPr lang="en-US" sz="1300" dirty="0"/>
          </a:p>
        </p:txBody>
      </p:sp>
      <p:sp>
        <p:nvSpPr>
          <p:cNvPr id="10" name="Shape 8"/>
          <p:cNvSpPr/>
          <p:nvPr/>
        </p:nvSpPr>
        <p:spPr>
          <a:xfrm>
            <a:off x="4835347" y="2402586"/>
            <a:ext cx="1247242"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4835347" y="2402586"/>
            <a:ext cx="124724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vy = g·t</a:t>
            </a:r>
            <a:endParaRPr lang="en-US" sz="1300" dirty="0"/>
          </a:p>
        </p:txBody>
      </p:sp>
      <p:sp>
        <p:nvSpPr>
          <p:cNvPr id="12" name="Shape 10"/>
          <p:cNvSpPr/>
          <p:nvPr/>
        </p:nvSpPr>
        <p:spPr>
          <a:xfrm>
            <a:off x="640080" y="2969514"/>
            <a:ext cx="2037283"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296951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√(v₀² + 2gh)</a:t>
            </a:r>
            <a:endParaRPr lang="en-US" sz="1300" dirty="0"/>
          </a:p>
        </p:txBody>
      </p:sp>
      <p:sp>
        <p:nvSpPr>
          <p:cNvPr id="14" name="Text 12"/>
          <p:cNvSpPr txBox="1"/>
          <p:nvPr/>
        </p:nvSpPr>
        <p:spPr>
          <a:xfrm>
            <a:off x="640080" y="3591306"/>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Uçuş süresi v₀'a bağlı değildir.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Topu ister hafifçe it, ister topla fırlat; aynı masadan aynı sürede yere iner.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Değişen tek şey ne kadar uzağa düştüğüdür.</a:t>
            </a:r>
            <a:endParaRPr lang="en-US" sz="1300" dirty="0"/>
          </a:p>
        </p:txBody>
      </p:sp>
      <p:sp>
        <p:nvSpPr>
          <p:cNvPr id="15" name="Text 13"/>
          <p:cNvSpPr txBox="1"/>
          <p:nvPr/>
        </p:nvSpPr>
        <p:spPr>
          <a:xfrm>
            <a:off x="640080" y="4804410"/>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Yörünge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yarım paraboldür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Eşit zaman aralıklarında cisim yatayda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eşit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yollar alır, düşeyde ise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1 : 3 : 5 : 7</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oranında artan yollar alır.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Sayfadaki strobo izlerinde bu iki dizi aynı anda görünür.</a:t>
            </a:r>
            <a:endParaRPr lang="en-US" sz="1300" dirty="0"/>
          </a:p>
        </p:txBody>
      </p:sp>
      <p:sp>
        <p:nvSpPr>
          <p:cNvPr id="16" name="Shape 14"/>
          <p:cNvSpPr/>
          <p:nvPr/>
        </p:nvSpPr>
        <p:spPr>
          <a:xfrm>
            <a:off x="7607808" y="1481328"/>
            <a:ext cx="3943807" cy="3490848"/>
          </a:xfrm>
          <a:prstGeom prst="roundRect">
            <a:avLst>
              <a:gd name="adj" fmla="val 41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a4dee546-de71-4ec2-8add-be39dd273d29/scratchpad/sekiller/iki-boyutta-hareket-04.png">    </p:cNvPr>
          <p:cNvPicPr>
            <a:picLocks noChangeAspect="1"/>
          </p:cNvPicPr>
          <p:nvPr/>
        </p:nvPicPr>
        <p:blipFill>
          <a:blip r:embed="rId1"/>
          <a:stretch>
            <a:fillRect/>
          </a:stretch>
        </p:blipFill>
        <p:spPr>
          <a:xfrm>
            <a:off x="7790688" y="1664208"/>
            <a:ext cx="3578047" cy="1848586"/>
          </a:xfrm>
          <a:prstGeom prst="rect">
            <a:avLst/>
          </a:prstGeom>
        </p:spPr>
      </p:pic>
      <p:sp>
        <p:nvSpPr>
          <p:cNvPr id="18" name="Shape 15"/>
          <p:cNvSpPr/>
          <p:nvPr/>
        </p:nvSpPr>
        <p:spPr>
          <a:xfrm>
            <a:off x="7790688" y="3604234"/>
            <a:ext cx="3578047" cy="0"/>
          </a:xfrm>
          <a:prstGeom prst="line">
            <a:avLst/>
          </a:prstGeom>
          <a:noFill/>
          <a:ln w="9525">
            <a:solidFill>
              <a:srgbClr val="E1E5EE"/>
            </a:solidFill>
            <a:prstDash val="dash"/>
          </a:ln>
        </p:spPr>
      </p:sp>
      <p:sp>
        <p:nvSpPr>
          <p:cNvPr id="19" name="Text 16"/>
          <p:cNvSpPr txBox="1"/>
          <p:nvPr/>
        </p:nvSpPr>
        <p:spPr>
          <a:xfrm>
            <a:off x="7790688" y="3659098"/>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cisim aynı yükseklikten yatay olarak atılıyor; morun sürati mavinin iki katı. Kesikli çizgiler her an ikisinin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yükseklikte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olduğunu gösteriyor: uçuş süresi v₀'a hiç bağlı değil, yalnızca h'ye bağlı (t = √(2h/g)). Sürati iki katına çıkarmak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menzili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iki katına çıkarır.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640080" y="1481328"/>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yatayla α açısı yapacak şekilde v₀ süratiyle atılırsa hareket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eğik atış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Çıkarken düşey hız azalır, tepe noktada sıfırlanır, sonra artarak aşağı yönelir.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Yatay hız ise baştan sona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hiç değişmez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6" name="Shape 4"/>
          <p:cNvSpPr/>
          <p:nvPr/>
        </p:nvSpPr>
        <p:spPr>
          <a:xfrm>
            <a:off x="640080" y="2922270"/>
            <a:ext cx="2333549"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922270"/>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ttepe = v₀·sinα / g</a:t>
            </a:r>
            <a:endParaRPr lang="en-US" sz="1300" dirty="0"/>
          </a:p>
        </p:txBody>
      </p:sp>
      <p:sp>
        <p:nvSpPr>
          <p:cNvPr id="8" name="Shape 6"/>
          <p:cNvSpPr/>
          <p:nvPr/>
        </p:nvSpPr>
        <p:spPr>
          <a:xfrm>
            <a:off x="3083357" y="2922270"/>
            <a:ext cx="2827325"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083357" y="2922270"/>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v₀²·sin²α / (2g)</a:t>
            </a:r>
            <a:endParaRPr lang="en-US" sz="1300" dirty="0"/>
          </a:p>
        </p:txBody>
      </p:sp>
      <p:sp>
        <p:nvSpPr>
          <p:cNvPr id="10" name="Shape 8"/>
          <p:cNvSpPr/>
          <p:nvPr/>
        </p:nvSpPr>
        <p:spPr>
          <a:xfrm>
            <a:off x="640080" y="3489198"/>
            <a:ext cx="253105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48919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tuçuş = 2·v₀·sinα / g</a:t>
            </a:r>
            <a:endParaRPr lang="en-US" sz="1300" dirty="0"/>
          </a:p>
        </p:txBody>
      </p:sp>
      <p:sp>
        <p:nvSpPr>
          <p:cNvPr id="12" name="Shape 10"/>
          <p:cNvSpPr/>
          <p:nvPr/>
        </p:nvSpPr>
        <p:spPr>
          <a:xfrm>
            <a:off x="3280867" y="3489198"/>
            <a:ext cx="213603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280867" y="348919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v₀²·sin2α / g</a:t>
            </a:r>
            <a:endParaRPr lang="en-US" sz="1300" dirty="0"/>
          </a:p>
        </p:txBody>
      </p:sp>
      <p:sp>
        <p:nvSpPr>
          <p:cNvPr id="14" name="Shape 12"/>
          <p:cNvSpPr/>
          <p:nvPr/>
        </p:nvSpPr>
        <p:spPr>
          <a:xfrm>
            <a:off x="7607808" y="1481328"/>
            <a:ext cx="3943807" cy="3431286"/>
          </a:xfrm>
          <a:prstGeom prst="roundRect">
            <a:avLst>
              <a:gd name="adj" fmla="val 426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iki-boyutta-hareket-05.png">    </p:cNvPr>
          <p:cNvPicPr>
            <a:picLocks noChangeAspect="1"/>
          </p:cNvPicPr>
          <p:nvPr/>
        </p:nvPicPr>
        <p:blipFill>
          <a:blip r:embed="rId1"/>
          <a:stretch>
            <a:fillRect/>
          </a:stretch>
        </p:blipFill>
        <p:spPr>
          <a:xfrm>
            <a:off x="7790688" y="1664208"/>
            <a:ext cx="3578047" cy="1789024"/>
          </a:xfrm>
          <a:prstGeom prst="rect">
            <a:avLst/>
          </a:prstGeom>
        </p:spPr>
      </p:pic>
      <p:sp>
        <p:nvSpPr>
          <p:cNvPr id="16" name="Shape 13"/>
          <p:cNvSpPr/>
          <p:nvPr/>
        </p:nvSpPr>
        <p:spPr>
          <a:xfrm>
            <a:off x="7790688" y="3544672"/>
            <a:ext cx="3578047" cy="0"/>
          </a:xfrm>
          <a:prstGeom prst="line">
            <a:avLst/>
          </a:prstGeom>
          <a:noFill/>
          <a:ln w="9525">
            <a:solidFill>
              <a:srgbClr val="E1E5EE"/>
            </a:solidFill>
            <a:prstDash val="dash"/>
          </a:ln>
        </p:spPr>
      </p:sp>
      <p:sp>
        <p:nvSpPr>
          <p:cNvPr id="17" name="Text 14"/>
          <p:cNvSpPr txBox="1"/>
          <p:nvPr/>
        </p:nvSpPr>
        <p:spPr>
          <a:xfrm>
            <a:off x="7790688" y="3599536"/>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Eğik atış boyunca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yatay bileşen hiç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yeşil oklar baştan sona aynı boydadır. Düşey bileşen ise her saniye g kadar azalır, tepede sıfırlanır, sonra ters yönde aynı hızla büyür. Tepe noktada hız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sıfır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cisim orada hâlâ v₀·cosα süratiyle yatay olarak ilerler.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 · devam</a:t>
            </a:r>
            <a:endParaRPr lang="en-US" sz="3200" dirty="0"/>
          </a:p>
        </p:txBody>
      </p:sp>
      <p:sp>
        <p:nvSpPr>
          <p:cNvPr id="5" name="Text 3"/>
          <p:cNvSpPr txBox="1"/>
          <p:nvPr/>
        </p:nvSpPr>
        <p:spPr>
          <a:xfrm>
            <a:off x="640080" y="1481328"/>
            <a:ext cx="886968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Son iki bağıntı yalnızca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atış ve iniş noktaları aynı yükseklikteyse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geçerlidir.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Bir tepeden ya da kuleden atıldığında uçuş süresini y = 0 denkleminden (ikinci dereceden denklem) çözmen gerekir.</a:t>
            </a:r>
            <a:endParaRPr lang="en-US" sz="1300" dirty="0"/>
          </a:p>
        </p:txBody>
      </p:sp>
      <p:sp>
        <p:nvSpPr>
          <p:cNvPr id="6" name="Text 4"/>
          <p:cNvSpPr txBox="1"/>
          <p:nvPr/>
        </p:nvSpPr>
        <p:spPr>
          <a:xfrm>
            <a:off x="640080" y="2439162"/>
            <a:ext cx="886968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Simetri</a:t>
            </a:r>
            <a:endParaRPr lang="en-US" sz="1350" dirty="0"/>
          </a:p>
        </p:txBody>
      </p:sp>
      <p:sp>
        <p:nvSpPr>
          <p:cNvPr id="7" name="Text 5"/>
          <p:cNvSpPr txBox="1"/>
          <p:nvPr/>
        </p:nvSpPr>
        <p:spPr>
          <a:xfrm>
            <a:off x="640080" y="2750058"/>
            <a:ext cx="8869680" cy="11673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Çıkış süresi iniş süresine eşittir.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Aynı yükseklikten geçerken süratler eşit, düşey hızların yönleri terstir.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İniş açısı, atış açısına eşittir.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Yörünge tepe noktasından geçen düşey doğruya göre simetriktir.</a:t>
            </a:r>
            <a:endParaRPr lang="en-US" sz="1300" dirty="0"/>
          </a:p>
        </p:txBody>
      </p:sp>
      <p:sp>
        <p:nvSpPr>
          <p:cNvPr id="8" name="Shape 6"/>
          <p:cNvSpPr/>
          <p:nvPr/>
        </p:nvSpPr>
        <p:spPr>
          <a:xfrm>
            <a:off x="640080" y="4027170"/>
            <a:ext cx="886968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4173474"/>
            <a:ext cx="45720" cy="530352"/>
          </a:xfrm>
          <a:prstGeom prst="rect">
            <a:avLst/>
          </a:prstGeom>
          <a:solidFill>
            <a:srgbClr val="A56209"/>
          </a:solidFill>
          <a:ln/>
        </p:spPr>
      </p:sp>
      <p:sp>
        <p:nvSpPr>
          <p:cNvPr id="10" name="Text 8"/>
          <p:cNvSpPr txBox="1"/>
          <p:nvPr/>
        </p:nvSpPr>
        <p:spPr>
          <a:xfrm>
            <a:off x="914400" y="4136898"/>
            <a:ext cx="841248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Tepe noktada hız sıfır değildir.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Sıfırlanan yalnızca düşey bileşendir; cisim orada hâlâ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v = v₀·cosα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süratiyle yatay olarak ilerler. İvme ise hareket boyunca hiç değişmez: her noktada g'dir ve aşağı doğrudur.</a:t>
            </a:r>
            <a:endParaRPr lang="en-US" sz="12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640080" y="1481328"/>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Menzil bağıntısını bileşenlerden türetmek kolaydır: uçuş süresi t = 2v₀sinα / g, yatay yol ise x = v₀cosα · t.</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İkisini çarpınca</a:t>
            </a:r>
            <a:endParaRPr lang="en-US" sz="1250" dirty="0"/>
          </a:p>
        </p:txBody>
      </p:sp>
      <p:sp>
        <p:nvSpPr>
          <p:cNvPr id="6" name="Shape 4"/>
          <p:cNvSpPr/>
          <p:nvPr/>
        </p:nvSpPr>
        <p:spPr>
          <a:xfrm>
            <a:off x="640080" y="2376297"/>
            <a:ext cx="4308653"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376297"/>
            <a:ext cx="430865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2·v₀²·sinα·cosα / g = v₀²·sin2α / g</a:t>
            </a:r>
            <a:endParaRPr lang="en-US" sz="1300" dirty="0"/>
          </a:p>
        </p:txBody>
      </p:sp>
      <p:sp>
        <p:nvSpPr>
          <p:cNvPr id="8" name="Text 6"/>
          <p:cNvSpPr txBox="1"/>
          <p:nvPr/>
        </p:nvSpPr>
        <p:spPr>
          <a:xfrm>
            <a:off x="640080" y="2998089"/>
            <a:ext cx="6949440" cy="219075"/>
          </a:xfrm>
          <a:prstGeom prst="rect">
            <a:avLst/>
          </a:prstGeom>
          <a:noFill/>
          <a:ln/>
        </p:spPr>
        <p:txBody>
          <a:bodyPr wrap="square" lIns="0" tIns="0" rIns="0" bIns="0" rtlCol="0" anchor="t"/>
          <a:lstStyle/>
          <a:p>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Bağıntıdan üç sonuç doğrudan okunur:</a:t>
            </a:r>
            <a:endParaRPr lang="en-US" sz="1250" dirty="0"/>
          </a:p>
        </p:txBody>
      </p:sp>
      <p:sp>
        <p:nvSpPr>
          <p:cNvPr id="9" name="Text 7"/>
          <p:cNvSpPr txBox="1"/>
          <p:nvPr/>
        </p:nvSpPr>
        <p:spPr>
          <a:xfrm>
            <a:off x="640080" y="3345180"/>
            <a:ext cx="6949440" cy="128739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En uzun menzil 45°'dedir.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sin2α en büyük değerini (1) 2α = 90° için alır.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Tümler açılar aynı menzili verir.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sin2α = sin(180° − 2α) olduğundan α ile 90° − α aynı R'yi verir: 30° ile 60°, 20° ile 70°… Ancak büyük açı daha uzun süre havada kalır ve daha yükseğe çıkar.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Menzil süratin karesiyle artar.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v₀ iki katına çıkarsa menzil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çıkar.</a:t>
            </a:r>
            <a:endParaRPr lang="en-US" sz="1250" dirty="0"/>
          </a:p>
        </p:txBody>
      </p:sp>
      <p:sp>
        <p:nvSpPr>
          <p:cNvPr id="10" name="Shape 8"/>
          <p:cNvSpPr/>
          <p:nvPr/>
        </p:nvSpPr>
        <p:spPr>
          <a:xfrm>
            <a:off x="640080" y="4742307"/>
            <a:ext cx="6949440" cy="1208532"/>
          </a:xfrm>
          <a:prstGeom prst="roundRect">
            <a:avLst>
              <a:gd name="adj" fmla="val 90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888611"/>
            <a:ext cx="45720" cy="915924"/>
          </a:xfrm>
          <a:prstGeom prst="rect">
            <a:avLst/>
          </a:prstGeom>
          <a:solidFill>
            <a:srgbClr val="3C8C21"/>
          </a:solidFill>
          <a:ln/>
        </p:spPr>
      </p:sp>
      <p:sp>
        <p:nvSpPr>
          <p:cNvPr id="12" name="Text 10"/>
          <p:cNvSpPr txBox="1"/>
          <p:nvPr/>
        </p:nvSpPr>
        <p:spPr>
          <a:xfrm>
            <a:off x="914400" y="4852035"/>
            <a:ext cx="6492240" cy="989076"/>
          </a:xfrm>
          <a:prstGeom prst="rect">
            <a:avLst/>
          </a:prstGeom>
          <a:noFill/>
          <a:ln/>
        </p:spPr>
        <p:txBody>
          <a:bodyPr wrap="square" lIns="0" tIns="0" rIns="0" bIns="0" rtlCol="0" anchor="ctr"/>
          <a:lstStyle/>
          <a:p>
            <a:pPr indent="0" marL="0">
              <a:lnSpc>
                <a:spcPct val="112000"/>
              </a:lnSpc>
              <a:buNone/>
            </a:pPr>
            <a:r>
              <a:rPr lang="en-US" sz="1150" b="1" dirty="0">
                <a:solidFill>
                  <a:srgbClr val="0E1426"/>
                </a:solidFill>
                <a:latin typeface="Calibri" pitchFamily="34" charset="0"/>
                <a:ea typeface="Calibri" pitchFamily="34" charset="-122"/>
                <a:cs typeface="Calibri" pitchFamily="34" charset="-120"/>
              </a:rPr>
              <a:t>Yükseklikten atışta 45° en iyi değildir.</a:t>
            </a:r>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 Bir kuleden atıldığında optimum açı 45°'nin altına iner; yükseklik arttıkça yatay hıza pay ayırmak daha kârlıdır. Gerçek hayatta hava direnci de optimum açıyı küçültür — bu yüzden gülle atma sporcuları 40° civarında atar.</a:t>
            </a:r>
            <a:endParaRPr lang="en-US" sz="1150" dirty="0"/>
          </a:p>
        </p:txBody>
      </p:sp>
      <p:sp>
        <p:nvSpPr>
          <p:cNvPr id="13" name="Shape 11"/>
          <p:cNvSpPr/>
          <p:nvPr/>
        </p:nvSpPr>
        <p:spPr>
          <a:xfrm>
            <a:off x="7882128" y="1481328"/>
            <a:ext cx="3669487" cy="3294126"/>
          </a:xfrm>
          <a:prstGeom prst="roundRect">
            <a:avLst>
              <a:gd name="adj" fmla="val 44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iki-boyutta-hareket-06.png">    </p:cNvPr>
          <p:cNvPicPr>
            <a:picLocks noChangeAspect="1"/>
          </p:cNvPicPr>
          <p:nvPr/>
        </p:nvPicPr>
        <p:blipFill>
          <a:blip r:embed="rId1"/>
          <a:stretch>
            <a:fillRect/>
          </a:stretch>
        </p:blipFill>
        <p:spPr>
          <a:xfrm>
            <a:off x="8065008" y="1664208"/>
            <a:ext cx="3303727" cy="1651864"/>
          </a:xfrm>
          <a:prstGeom prst="rect">
            <a:avLst/>
          </a:prstGeom>
        </p:spPr>
      </p:pic>
      <p:sp>
        <p:nvSpPr>
          <p:cNvPr id="15" name="Shape 12"/>
          <p:cNvSpPr/>
          <p:nvPr/>
        </p:nvSpPr>
        <p:spPr>
          <a:xfrm>
            <a:off x="8065008" y="3407512"/>
            <a:ext cx="3303727" cy="0"/>
          </a:xfrm>
          <a:prstGeom prst="line">
            <a:avLst/>
          </a:prstGeom>
          <a:noFill/>
          <a:ln w="9525">
            <a:solidFill>
              <a:srgbClr val="E1E5EE"/>
            </a:solidFill>
            <a:prstDash val="dash"/>
          </a:ln>
        </p:spPr>
      </p:sp>
      <p:sp>
        <p:nvSpPr>
          <p:cNvPr id="16" name="Text 13"/>
          <p:cNvSpPr txBox="1"/>
          <p:nvPr/>
        </p:nvSpPr>
        <p:spPr>
          <a:xfrm>
            <a:off x="8065008" y="3462376"/>
            <a:ext cx="330372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Beş atışın da sürati aynı, yalnızca açıları farklı.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Tümler açılar aynı noktaya düşer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(aynı renkli iki eğri): sin2α ile sin(180°−2α) eşittir. Büyük açı daha yükseğe çıkar ve havada daha uzun kalır, ama menzili değiştirmez. En uzağa giden, sin2α'yı bire eşitleyen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45°</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640080" y="1481328"/>
            <a:ext cx="6675120" cy="455676"/>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Yörüngenin denklemini bulmak için x = v₀cosα·t bağıntısından t = x / (v₀cosα) çekip y denkleminde yerine koyarız:</a:t>
            </a:r>
            <a:endParaRPr lang="en-US" sz="1300" dirty="0"/>
          </a:p>
        </p:txBody>
      </p:sp>
      <p:sp>
        <p:nvSpPr>
          <p:cNvPr id="6" name="Shape 4"/>
          <p:cNvSpPr/>
          <p:nvPr/>
        </p:nvSpPr>
        <p:spPr>
          <a:xfrm>
            <a:off x="640080" y="2065020"/>
            <a:ext cx="371612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065020"/>
            <a:ext cx="371612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 = x·tanα − g·x² / (2·v₀²·cos²α)</a:t>
            </a:r>
            <a:endParaRPr lang="en-US" sz="1300" dirty="0"/>
          </a:p>
        </p:txBody>
      </p:sp>
      <p:sp>
        <p:nvSpPr>
          <p:cNvPr id="8" name="Text 6"/>
          <p:cNvSpPr txBox="1"/>
          <p:nvPr/>
        </p:nvSpPr>
        <p:spPr>
          <a:xfrm>
            <a:off x="640080" y="2686812"/>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y = ax − bx² biçiminde bir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parabol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denklemidir.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Yörüngenin parabol olmasının sebebi budur: bir eksende zamanla doğrusal, diğerinde zamanın karesiyle değişen bir hareket.</a:t>
            </a:r>
            <a:endParaRPr lang="en-US" sz="1300" dirty="0"/>
          </a:p>
        </p:txBody>
      </p:sp>
      <p:sp>
        <p:nvSpPr>
          <p:cNvPr id="9" name="Shape 7"/>
          <p:cNvSpPr/>
          <p:nvPr/>
        </p:nvSpPr>
        <p:spPr>
          <a:xfrm>
            <a:off x="7607808" y="1481328"/>
            <a:ext cx="3943807" cy="3520737"/>
          </a:xfrm>
          <a:prstGeom prst="roundRect">
            <a:avLst>
              <a:gd name="adj" fmla="val 415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iki-boyutta-hareket-07.png">    </p:cNvPr>
          <p:cNvPicPr>
            <a:picLocks noChangeAspect="1"/>
          </p:cNvPicPr>
          <p:nvPr/>
        </p:nvPicPr>
        <p:blipFill>
          <a:blip r:embed="rId1"/>
          <a:stretch>
            <a:fillRect/>
          </a:stretch>
        </p:blipFill>
        <p:spPr>
          <a:xfrm>
            <a:off x="7790688" y="1664208"/>
            <a:ext cx="3578047" cy="1878475"/>
          </a:xfrm>
          <a:prstGeom prst="rect">
            <a:avLst/>
          </a:prstGeom>
        </p:spPr>
      </p:pic>
      <p:sp>
        <p:nvSpPr>
          <p:cNvPr id="11" name="Shape 8"/>
          <p:cNvSpPr/>
          <p:nvPr/>
        </p:nvSpPr>
        <p:spPr>
          <a:xfrm>
            <a:off x="7790688" y="3634123"/>
            <a:ext cx="3578047" cy="0"/>
          </a:xfrm>
          <a:prstGeom prst="line">
            <a:avLst/>
          </a:prstGeom>
          <a:noFill/>
          <a:ln w="9525">
            <a:solidFill>
              <a:srgbClr val="E1E5EE"/>
            </a:solidFill>
            <a:prstDash val="dash"/>
          </a:ln>
        </p:spPr>
      </p:sp>
      <p:sp>
        <p:nvSpPr>
          <p:cNvPr id="12" name="Text 9"/>
          <p:cNvSpPr txBox="1"/>
          <p:nvPr/>
        </p:nvSpPr>
        <p:spPr>
          <a:xfrm>
            <a:off x="7790688" y="3688987"/>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grafik, iki bağımsız hareketin dört yüzü. Yatayda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x–t doğru, vₓ–t sabittir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düşeyde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y–t parabol, v</a:t>
            </a:r>
            <a:pPr indent="0" marL="0">
              <a:lnSpc>
                <a:spcPct val="112000"/>
              </a:lnSpc>
              <a:buNone/>
            </a:pPr>
            <a:r>
              <a:rPr lang="en-US" sz="1050" b="1"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 azalan doğrudur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a:t>
            </a:r>
            <a:pPr indent="0" marL="0">
              <a:lnSpc>
                <a:spcPct val="112000"/>
              </a:lnSpc>
              <a:buNone/>
            </a:pPr>
            <a:r>
              <a:rPr lang="en-US" sz="1050" baseline="-40000" dirty="0">
                <a:solidFill>
                  <a:srgbClr val="7B849E"/>
                </a:solidFill>
                <a:latin typeface="Calibri" pitchFamily="34" charset="0"/>
                <a:ea typeface="Calibri" pitchFamily="34" charset="-122"/>
                <a:cs typeface="Calibri" pitchFamily="34" charset="-120"/>
              </a:rPr>
              <a:t>y</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 doğrusunun zaman eksenini kestiği an tam olarak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noktasıdır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ana kadarki üçgenin alanı çıkılan yüksekliği, sonrasındaki alan inilen yüksekliği verir.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 · devam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869680" cy="914400"/>
        </p:xfrm>
        <a:graphic>
          <a:graphicData uri="http://schemas.openxmlformats.org/drawingml/2006/table">
            <a:tbl>
              <a:tblPr/>
              <a:tblGrid>
                <a:gridCol w="985061"/>
                <a:gridCol w="3741853"/>
                <a:gridCol w="1470014"/>
                <a:gridCol w="267275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vx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Aşağı açılan parabol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vy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vx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ax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Yatay yol (x)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vy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Azalan doğru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Düşey yer değiştirme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300984"/>
            <a:ext cx="886968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v</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t doğrusunun zaman eksenini kestiği 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tepe noktasıdır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O ana kadarki üçgenin alanı çıkılan yüksekliği, sonrasındaki (negatif) alan ise inilen yüksekliği verir.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Aynı yükseklikte başlayıp bitiyorsa iki alan eşittir.</a:t>
            </a:r>
            <a:endParaRPr lang="en-US" sz="1300" dirty="0"/>
          </a:p>
        </p:txBody>
      </p:sp>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80 m yüksekliğindeki bir kuleden yatay doğrultuda 30 m/s süratle atılan cisim için: (a) uçuş süresini, (b) menzili, (c) yere çarpma süratini bulunuz.</a:t>
            </a:r>
            <a:endParaRPr lang="en-US" sz="1600" dirty="0"/>
          </a:p>
        </p:txBody>
      </p:sp>
      <p:sp>
        <p:nvSpPr>
          <p:cNvPr id="9" name="Shape 7"/>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139696"/>
            <a:ext cx="384048" cy="384048"/>
          </a:xfrm>
          <a:prstGeom prst="roundRect">
            <a:avLst>
              <a:gd name="adj" fmla="val 26000"/>
            </a:avLst>
          </a:prstGeom>
          <a:solidFill>
            <a:srgbClr val="A56209"/>
          </a:solidFill>
          <a:ln/>
        </p:spPr>
      </p:sp>
      <p:sp>
        <p:nvSpPr>
          <p:cNvPr id="11" name="Text 9"/>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Düşey hareket serbest düşmedir: 80 = ½·10·t² → t²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13" name="Shape 11"/>
          <p:cNvSpPr/>
          <p:nvPr/>
        </p:nvSpPr>
        <p:spPr>
          <a:xfrm>
            <a:off x="5212080" y="318211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69829"/>
            <a:ext cx="384048" cy="384048"/>
          </a:xfrm>
          <a:prstGeom prst="roundRect">
            <a:avLst>
              <a:gd name="adj" fmla="val 26000"/>
            </a:avLst>
          </a:prstGeom>
          <a:solidFill>
            <a:srgbClr val="A56209"/>
          </a:solidFill>
          <a:ln/>
        </p:spPr>
      </p:sp>
      <p:sp>
        <p:nvSpPr>
          <p:cNvPr id="15" name="Text 13"/>
          <p:cNvSpPr txBox="1"/>
          <p:nvPr/>
        </p:nvSpPr>
        <p:spPr>
          <a:xfrm>
            <a:off x="5449824" y="34698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23697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Yatayda sabit hız: x = 30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120 m</a:t>
            </a:r>
            <a:endParaRPr lang="en-US" sz="1600" dirty="0"/>
          </a:p>
        </p:txBody>
      </p:sp>
      <p:sp>
        <p:nvSpPr>
          <p:cNvPr id="17" name="Shape 15"/>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24309"/>
            <a:ext cx="384048" cy="384048"/>
          </a:xfrm>
          <a:prstGeom prst="roundRect">
            <a:avLst>
              <a:gd name="adj" fmla="val 26000"/>
            </a:avLst>
          </a:prstGeom>
          <a:solidFill>
            <a:srgbClr val="A56209"/>
          </a:solidFill>
          <a:ln/>
        </p:spPr>
      </p:sp>
      <p:sp>
        <p:nvSpPr>
          <p:cNvPr id="19" name="Text 17"/>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g·t = 40 m/s,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m/s → v = √(30² + 40²)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Yerle yaptığı açı: tanθ = 40/30 → θ ≈ 53°.</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50 m/s süratle, yatayla 53° açı yapacak şekilde atılan cisim için: (a) tepe noktasına çıkma süresini, (b) maksimum yüksekliği, (c) menzili bulunuz. (sin53° = 0,8 · cos53° = 0,6)</a:t>
            </a:r>
            <a:endParaRPr lang="en-US" sz="1600" dirty="0"/>
          </a:p>
        </p:txBody>
      </p:sp>
      <p:sp>
        <p:nvSpPr>
          <p:cNvPr id="9" name="Text 7"/>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0" name="Text 8"/>
          <p:cNvSpPr txBox="1"/>
          <p:nvPr/>
        </p:nvSpPr>
        <p:spPr>
          <a:xfrm>
            <a:off x="932688" y="4434840"/>
            <a:ext cx="3712464" cy="457962"/>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Kontrol: R = v₀²·sin2α / g = 2500 · sin106° / 10 ≈ 2500 · 0,96 / 10 = 240 m ✓</a:t>
            </a:r>
            <a:endParaRPr lang="en-US" sz="1150" dirty="0"/>
          </a:p>
        </p:txBody>
      </p:sp>
      <p:sp>
        <p:nvSpPr>
          <p:cNvPr id="11" name="Shape 9"/>
          <p:cNvSpPr/>
          <p:nvPr/>
        </p:nvSpPr>
        <p:spPr>
          <a:xfrm>
            <a:off x="5212080" y="162763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05466"/>
            <a:ext cx="384048" cy="384048"/>
          </a:xfrm>
          <a:prstGeom prst="roundRect">
            <a:avLst>
              <a:gd name="adj" fmla="val 26000"/>
            </a:avLst>
          </a:prstGeom>
          <a:solidFill>
            <a:srgbClr val="A56209"/>
          </a:solidFill>
          <a:ln/>
        </p:spPr>
      </p:sp>
      <p:sp>
        <p:nvSpPr>
          <p:cNvPr id="13" name="Text 11"/>
          <p:cNvSpPr txBox="1"/>
          <p:nvPr/>
        </p:nvSpPr>
        <p:spPr>
          <a:xfrm>
            <a:off x="5449824" y="21054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Bileşenler: v₀ₓ = 50·0,6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v₀ᵧ = 50·0,8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m/s</a:t>
            </a:r>
            <a:endParaRPr lang="en-US" sz="1600" dirty="0"/>
          </a:p>
        </p:txBody>
      </p:sp>
      <p:sp>
        <p:nvSpPr>
          <p:cNvPr id="15" name="Shape 13"/>
          <p:cNvSpPr/>
          <p:nvPr/>
        </p:nvSpPr>
        <p:spPr>
          <a:xfrm>
            <a:off x="5212080" y="311365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378046"/>
            <a:ext cx="384048" cy="384048"/>
          </a:xfrm>
          <a:prstGeom prst="roundRect">
            <a:avLst>
              <a:gd name="adj" fmla="val 26000"/>
            </a:avLst>
          </a:prstGeom>
          <a:solidFill>
            <a:srgbClr val="A56209"/>
          </a:solidFill>
          <a:ln/>
        </p:spPr>
      </p:sp>
      <p:sp>
        <p:nvSpPr>
          <p:cNvPr id="17" name="Text 15"/>
          <p:cNvSpPr txBox="1"/>
          <p:nvPr/>
        </p:nvSpPr>
        <p:spPr>
          <a:xfrm>
            <a:off x="5449824" y="33780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16851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Tepede v</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0 → 0 = 40 − 10·t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4 s</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40²/(2·10)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 m</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Uçuş süresi 2·4 = 8 s → R = 30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240 m</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m/s süratle atılan bir cismin 30°, 45° ve 60° için menzillerini karşılaştırınız.</a:t>
            </a:r>
            <a:endParaRPr lang="en-US" sz="1600" dirty="0"/>
          </a:p>
        </p:txBody>
      </p:sp>
      <p:sp>
        <p:nvSpPr>
          <p:cNvPr id="9" name="Shape 7"/>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742649"/>
            <a:ext cx="384048" cy="384048"/>
          </a:xfrm>
          <a:prstGeom prst="roundRect">
            <a:avLst>
              <a:gd name="adj" fmla="val 26000"/>
            </a:avLst>
          </a:prstGeom>
          <a:solidFill>
            <a:srgbClr val="A56209"/>
          </a:solidFill>
          <a:ln/>
        </p:spPr>
      </p:sp>
      <p:sp>
        <p:nvSpPr>
          <p:cNvPr id="11" name="Text 9"/>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v₀²·sin2α / g = 400·sin2α / 10 = 40·sin2α</a:t>
            </a:r>
            <a:endParaRPr lang="en-US" sz="1600" dirty="0"/>
          </a:p>
        </p:txBody>
      </p:sp>
      <p:sp>
        <p:nvSpPr>
          <p:cNvPr id="13" name="Shape 11"/>
          <p:cNvSpPr/>
          <p:nvPr/>
        </p:nvSpPr>
        <p:spPr>
          <a:xfrm>
            <a:off x="5212080" y="238801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503035"/>
            <a:ext cx="384048" cy="384048"/>
          </a:xfrm>
          <a:prstGeom prst="roundRect">
            <a:avLst>
              <a:gd name="adj" fmla="val 26000"/>
            </a:avLst>
          </a:prstGeom>
          <a:solidFill>
            <a:srgbClr val="A56209"/>
          </a:solidFill>
          <a:ln/>
        </p:spPr>
      </p:sp>
      <p:sp>
        <p:nvSpPr>
          <p:cNvPr id="15" name="Text 13"/>
          <p:cNvSpPr txBox="1"/>
          <p:nvPr/>
        </p:nvSpPr>
        <p:spPr>
          <a:xfrm>
            <a:off x="5449824" y="25030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442882"/>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 40·sin60° = 40·0,87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endParaRPr lang="en-US" sz="1600" dirty="0"/>
          </a:p>
        </p:txBody>
      </p:sp>
      <p:sp>
        <p:nvSpPr>
          <p:cNvPr id="17" name="Shape 15"/>
          <p:cNvSpPr/>
          <p:nvPr/>
        </p:nvSpPr>
        <p:spPr>
          <a:xfrm>
            <a:off x="5212080" y="314840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263421"/>
            <a:ext cx="384048" cy="384048"/>
          </a:xfrm>
          <a:prstGeom prst="roundRect">
            <a:avLst>
              <a:gd name="adj" fmla="val 26000"/>
            </a:avLst>
          </a:prstGeom>
          <a:solidFill>
            <a:srgbClr val="A56209"/>
          </a:solidFill>
          <a:ln/>
        </p:spPr>
      </p:sp>
      <p:sp>
        <p:nvSpPr>
          <p:cNvPr id="19" name="Text 17"/>
          <p:cNvSpPr txBox="1"/>
          <p:nvPr/>
        </p:nvSpPr>
        <p:spPr>
          <a:xfrm>
            <a:off x="5449824" y="32634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20326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45° → 40·sin90°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(en uzun)</a:t>
            </a:r>
            <a:endParaRPr lang="en-US" sz="1600" dirty="0"/>
          </a:p>
        </p:txBody>
      </p:sp>
      <p:sp>
        <p:nvSpPr>
          <p:cNvPr id="21" name="Shape 19"/>
          <p:cNvSpPr/>
          <p:nvPr/>
        </p:nvSpPr>
        <p:spPr>
          <a:xfrm>
            <a:off x="5212080" y="390879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167392"/>
            <a:ext cx="384048" cy="384048"/>
          </a:xfrm>
          <a:prstGeom prst="roundRect">
            <a:avLst>
              <a:gd name="adj" fmla="val 26000"/>
            </a:avLst>
          </a:prstGeom>
          <a:solidFill>
            <a:srgbClr val="A56209"/>
          </a:solidFill>
          <a:ln/>
        </p:spPr>
      </p:sp>
      <p:sp>
        <p:nvSpPr>
          <p:cNvPr id="23" name="Text 21"/>
          <p:cNvSpPr txBox="1"/>
          <p:nvPr/>
        </p:nvSpPr>
        <p:spPr>
          <a:xfrm>
            <a:off x="5449824" y="416739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396365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40·sin120° = 40·0,87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34,6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30° ile aynı!</a:t>
            </a:r>
            <a:endParaRPr lang="en-US" sz="1600" dirty="0"/>
          </a:p>
        </p:txBody>
      </p:sp>
      <p:sp>
        <p:nvSpPr>
          <p:cNvPr id="25" name="Shape 23"/>
          <p:cNvSpPr/>
          <p:nvPr/>
        </p:nvSpPr>
        <p:spPr>
          <a:xfrm>
            <a:off x="5212080" y="4956346"/>
            <a:ext cx="6339535" cy="1188422"/>
          </a:xfrm>
          <a:prstGeom prst="roundRect">
            <a:avLst>
              <a:gd name="adj" fmla="val 123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58533"/>
            <a:ext cx="384048" cy="384048"/>
          </a:xfrm>
          <a:prstGeom prst="roundRect">
            <a:avLst>
              <a:gd name="adj" fmla="val 26000"/>
            </a:avLst>
          </a:prstGeom>
          <a:solidFill>
            <a:srgbClr val="A56209"/>
          </a:solidFill>
          <a:ln/>
        </p:spPr>
      </p:sp>
      <p:sp>
        <p:nvSpPr>
          <p:cNvPr id="27" name="Text 25"/>
          <p:cNvSpPr txBox="1"/>
          <p:nvPr/>
        </p:nvSpPr>
        <p:spPr>
          <a:xfrm>
            <a:off x="5449824" y="5358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txBox="1"/>
          <p:nvPr/>
        </p:nvSpPr>
        <p:spPr>
          <a:xfrm>
            <a:off x="5989320" y="5011210"/>
            <a:ext cx="5379415" cy="1078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Uçuş süreleri farklıdır: 30° için 2 s, 60° için 3,46 s. Aynı yere düşerler, ama biri diğerinden çok daha uzun havada kalır.</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m yüksekliğindeki bir çatıdan, yatayla 37° açıyla 25 m/s süratle atılan cisim için: (a) yere çarpma süresini, (b) yatay uzaklığı, (c) çarpma süratini bulunuz. (sin37° = 0,6 · cos37° = 0,8)</a:t>
            </a:r>
            <a:endParaRPr lang="en-US" sz="1600" dirty="0"/>
          </a:p>
        </p:txBody>
      </p:sp>
      <p:sp>
        <p:nvSpPr>
          <p:cNvPr id="9" name="Shape 7"/>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54889"/>
            <a:ext cx="384048" cy="384048"/>
          </a:xfrm>
          <a:prstGeom prst="roundRect">
            <a:avLst>
              <a:gd name="adj" fmla="val 26000"/>
            </a:avLst>
          </a:prstGeom>
          <a:solidFill>
            <a:srgbClr val="A56209"/>
          </a:solidFill>
          <a:ln/>
        </p:spPr>
      </p:sp>
      <p:sp>
        <p:nvSpPr>
          <p:cNvPr id="11" name="Text 9"/>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Bileşenler: v₀ₓ = 25·0,8 = 20 m/s, v₀ᵧ = 25·0,6 = 15 m/s</a:t>
            </a:r>
            <a:endParaRPr lang="en-US" sz="1500" dirty="0"/>
          </a:p>
        </p:txBody>
      </p:sp>
      <p:sp>
        <p:nvSpPr>
          <p:cNvPr id="13" name="Shape 11"/>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839754"/>
            <a:ext cx="384048" cy="384048"/>
          </a:xfrm>
          <a:prstGeom prst="roundRect">
            <a:avLst>
              <a:gd name="adj" fmla="val 26000"/>
            </a:avLst>
          </a:prstGeom>
          <a:solidFill>
            <a:srgbClr val="A56209"/>
          </a:solidFill>
          <a:ln/>
        </p:spPr>
      </p:sp>
      <p:sp>
        <p:nvSpPr>
          <p:cNvPr id="15" name="Text 13"/>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Yere değince y = 0: 20 + 15t − 5t² = 0 → t² − 3t − 4 = 0 → (t − 4)(t + 1) = 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 = 4 s</a:t>
            </a:r>
            <a:endParaRPr lang="en-US" sz="1500" dirty="0"/>
          </a:p>
        </p:txBody>
      </p:sp>
      <p:sp>
        <p:nvSpPr>
          <p:cNvPr id="17" name="Shape 15"/>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x = 20 · 4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80 m</a:t>
            </a:r>
            <a:endParaRPr lang="en-US" sz="1500" dirty="0"/>
          </a:p>
        </p:txBody>
      </p:sp>
      <p:sp>
        <p:nvSpPr>
          <p:cNvPr id="21" name="Shape 19"/>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548598"/>
            <a:ext cx="384048" cy="384048"/>
          </a:xfrm>
          <a:prstGeom prst="roundRect">
            <a:avLst>
              <a:gd name="adj" fmla="val 26000"/>
            </a:avLst>
          </a:prstGeom>
          <a:solidFill>
            <a:srgbClr val="A56209"/>
          </a:solidFill>
          <a:ln/>
        </p:spPr>
      </p:sp>
      <p:sp>
        <p:nvSpPr>
          <p:cNvPr id="23" name="Text 21"/>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y</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15 − 10·4 = −25 m/s (aşağı), v</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x</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20 m/s → v = √(20² + 25²) = √1025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32 m/s</a:t>
            </a:r>
            <a:endParaRPr lang="en-US" sz="1500" dirty="0"/>
          </a:p>
        </p:txBody>
      </p:sp>
      <p:sp>
        <p:nvSpPr>
          <p:cNvPr id="25" name="Shape 23"/>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33463"/>
            <a:ext cx="384048" cy="384048"/>
          </a:xfrm>
          <a:prstGeom prst="roundRect">
            <a:avLst>
              <a:gd name="adj" fmla="val 26000"/>
            </a:avLst>
          </a:prstGeom>
          <a:solidFill>
            <a:srgbClr val="A56209"/>
          </a:solidFill>
          <a:ln/>
        </p:spPr>
      </p:sp>
      <p:sp>
        <p:nvSpPr>
          <p:cNvPr id="27" name="Text 25"/>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Kısa yol: v² = v₀² + 2gh = 625 + 2·10·20 = 1025 ✓ (yükseklik farkı aynıysa atış açısı süratı değiştirmez)</a:t>
            </a:r>
            <a:endParaRPr lang="en-US" sz="15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“Tepe noktada hız sıfırdır.”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Sıfırlanan yalnızca v</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'dir; yatay bileşen v₀cosα devam eder. Yalnızca düşey atışta (α = 90°) hız tümüyle sıfırlanır.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“Tepe noktada ivme sıfırdır.”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İvme hareket boyunca sabittir: g, aşağı yönde.</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“Yatay hız düşme süresini etkiler.”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Etkilemez. Süre yalnızca düşey harekete, yani yüksekliğe, v₀ᵧ'ye ve g'ye bağlıdır.</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İvmeyi yörüngeye teğet sanmak.</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Teğet olan hızdır; ivme her noktada düşeydir.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Menzil formülünü her yerde kullanmak.</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R = v₀²sin2α/g yalnızca atış ve iniş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aynı yükseklikteyse</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geçerlidir.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Bileşenleri skaler toplamak.</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v = √(v</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² + v</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²); v</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 v</a:t>
            </a:r>
            <a:pPr indent="0" marL="0">
              <a:lnSpc>
                <a:spcPct val="108000"/>
              </a:lnSpc>
              <a:buNone/>
            </a:pPr>
            <a:r>
              <a:rPr lang="en-US" sz="115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değil.</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sinüs ile kosinüsü karıştırmak.</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Açı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yatayla</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ölçülüyorsa yatay bileşen kosinüslü, düşey bileşen sinüslüdür. Açı düşeyle veriliyorsa tam tersi.</a:t>
            </a:r>
            <a:endParaRPr lang="en-US" sz="1150" dirty="0"/>
          </a:p>
        </p:txBody>
      </p:sp>
      <p:sp>
        <p:nvSpPr>
          <p:cNvPr id="55" name="Shape 53"/>
          <p:cNvSpPr/>
          <p:nvPr/>
        </p:nvSpPr>
        <p:spPr>
          <a:xfrm>
            <a:off x="6205576"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6" name="Shape 54"/>
          <p:cNvSpPr/>
          <p:nvPr/>
        </p:nvSpPr>
        <p:spPr>
          <a:xfrm>
            <a:off x="6406744" y="5271516"/>
            <a:ext cx="274320" cy="274320"/>
          </a:xfrm>
          <a:prstGeom prst="roundRect">
            <a:avLst>
              <a:gd name="adj" fmla="val 26667"/>
            </a:avLst>
          </a:prstGeom>
          <a:solidFill>
            <a:srgbClr val="FBE9EE"/>
          </a:solidFill>
          <a:ln/>
        </p:spPr>
      </p:sp>
      <p:sp>
        <p:nvSpPr>
          <p:cNvPr id="57" name="Text 55"/>
          <p:cNvSpPr txBox="1"/>
          <p:nvPr/>
        </p:nvSpPr>
        <p:spPr>
          <a:xfrm>
            <a:off x="6406744"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8" name="Text 56"/>
          <p:cNvSpPr txBox="1"/>
          <p:nvPr/>
        </p:nvSpPr>
        <p:spPr>
          <a:xfrm>
            <a:off x="6790792"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Kütleyi hesaba katmak.</a:t>
            </a:r>
            <a:endParaRPr lang="en-US" sz="1250" dirty="0"/>
          </a:p>
        </p:txBody>
      </p:sp>
      <p:sp>
        <p:nvSpPr>
          <p:cNvPr id="59" name="Shape 57"/>
          <p:cNvSpPr/>
          <p:nvPr/>
        </p:nvSpPr>
        <p:spPr>
          <a:xfrm>
            <a:off x="6406744" y="5591175"/>
            <a:ext cx="274320" cy="274320"/>
          </a:xfrm>
          <a:prstGeom prst="roundRect">
            <a:avLst>
              <a:gd name="adj" fmla="val 26667"/>
            </a:avLst>
          </a:prstGeom>
          <a:solidFill>
            <a:srgbClr val="EAF7DC"/>
          </a:solidFill>
          <a:ln/>
        </p:spPr>
      </p:sp>
      <p:sp>
        <p:nvSpPr>
          <p:cNvPr id="60" name="Text 58"/>
          <p:cNvSpPr txBox="1"/>
          <p:nvPr/>
        </p:nvSpPr>
        <p:spPr>
          <a:xfrm>
            <a:off x="6406744"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61" name="Text 59"/>
          <p:cNvSpPr txBox="1"/>
          <p:nvPr/>
        </p:nvSpPr>
        <p:spPr>
          <a:xfrm>
            <a:off x="6790792"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Hiçbir bağıntıda m yoktur; hava direnci ihmal edildiği sürece ağır cisim de hafif cisim de aynı yörüngeyi çizer.</a:t>
            </a:r>
            <a:endParaRPr lang="en-US" sz="11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Yatayda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x</a:t>
            </a:r>
            <a:pPr indent="0" marL="0">
              <a:buNone/>
            </a:pPr>
            <a:r>
              <a:rPr lang="en-US" sz="1500" b="1" dirty="0">
                <a:solidFill>
                  <a:srgbClr val="FFFFFF"/>
                </a:solidFill>
                <a:latin typeface="Calibri" pitchFamily="34" charset="0"/>
                <a:ea typeface="Calibri" pitchFamily="34" charset="-122"/>
                <a:cs typeface="Calibri" pitchFamily="34" charset="-120"/>
              </a:rPr>
              <a:t> = 0</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Düşeyde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y</a:t>
            </a:r>
            <a:pPr indent="0" marL="0">
              <a:buNone/>
            </a:pPr>
            <a:r>
              <a:rPr lang="en-US" sz="1500" b="1" dirty="0">
                <a:solidFill>
                  <a:srgbClr val="FFFFFF"/>
                </a:solidFill>
                <a:latin typeface="Calibri" pitchFamily="34" charset="0"/>
                <a:ea typeface="Calibri" pitchFamily="34" charset="-122"/>
                <a:cs typeface="Calibri" pitchFamily="34" charset="-120"/>
              </a:rPr>
              <a:t> = g</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En uzun menzil </a:t>
            </a:r>
            <a:pPr indent="0" marL="0">
              <a:buNone/>
            </a:pPr>
            <a:r>
              <a:rPr lang="en-US" sz="1500" b="1" dirty="0">
                <a:solidFill>
                  <a:srgbClr val="FFFFFF"/>
                </a:solidFill>
                <a:latin typeface="Calibri" pitchFamily="34" charset="0"/>
                <a:ea typeface="Calibri" pitchFamily="34" charset="-122"/>
                <a:cs typeface="Calibri" pitchFamily="34" charset="-120"/>
              </a:rPr>
              <a:t>45°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x = v₀·cosα · t</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69290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y = v₀·sinα · t − ½g·t²</a:t>
            </a:r>
            <a:endParaRPr lang="en-US" sz="1350" dirty="0"/>
          </a:p>
        </p:txBody>
      </p:sp>
      <p:sp>
        <p:nvSpPr>
          <p:cNvPr id="19" name="Text 17"/>
          <p:cNvSpPr txBox="1"/>
          <p:nvPr/>
        </p:nvSpPr>
        <p:spPr>
          <a:xfrm>
            <a:off x="9413748" y="3218688"/>
            <a:ext cx="195498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v₀²·sin2α / g</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v₀²·sin²α / (2g)</a:t>
            </a:r>
            <a:endParaRPr lang="en-US" sz="1350" dirty="0"/>
          </a:p>
        </p:txBody>
      </p:sp>
      <p:sp>
        <p:nvSpPr>
          <p:cNvPr id="25" name="Text 23"/>
          <p:cNvSpPr txBox="1"/>
          <p:nvPr/>
        </p:nvSpPr>
        <p:spPr>
          <a:xfrm>
            <a:off x="9098280" y="486460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dersler.perinet.org/iki-boyutta-hareket.html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Newton'un hareket yasaları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İki boyutta sabit ivmeli hareket — Dersler</dc:title>
  <dc:subject>Fizik · Kuvvet ve Hareket</dc:subject>
  <dc:creator>Dersler</dc:creator>
  <cp:lastModifiedBy>Dersler</cp:lastModifiedBy>
  <cp:revision>1</cp:revision>
  <dcterms:created xsi:type="dcterms:W3CDTF">2026-09-20T18:42:31Z</dcterms:created>
  <dcterms:modified xsi:type="dcterms:W3CDTF">2026-09-20T18:42:31Z</dcterms:modified>
</cp:coreProperties>
</file>